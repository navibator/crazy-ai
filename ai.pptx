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handoutMasterIdLst>
    <p:handoutMasterId r:id="rId22"/>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5" r:id="rId16"/>
    <p:sldId id="3485" r:id="rId17"/>
    <p:sldId id="3460" r:id="rId18"/>
    <p:sldId id="3479" r:id="rId19"/>
    <p:sldId id="3467" r:id="rId2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5"/>
            <p14:sldId id="3485"/>
            <p14:sldId id="3460"/>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EC203"/>
    <a:srgbClr val="B7C9E7"/>
    <a:srgbClr val="9E7800"/>
    <a:srgbClr val="DAA600"/>
    <a:srgbClr val="F8D462"/>
    <a:srgbClr val="FDE7DA"/>
    <a:srgbClr val="DDDDDD"/>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35602"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svg"/></Relationships>
</file>

<file path=ppt/slides/_rels/slide14.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8" Type="http://schemas.openxmlformats.org/officeDocument/2006/relationships/image" Target="../media/image200.png"/><Relationship Id="rId13" Type="http://schemas.openxmlformats.org/officeDocument/2006/relationships/image" Target="../media/image28.png"/><Relationship Id="rId3" Type="http://schemas.openxmlformats.org/officeDocument/2006/relationships/image" Target="../media/image22.png"/><Relationship Id="rId7" Type="http://schemas.openxmlformats.org/officeDocument/2006/relationships/image" Target="../media/image190.png"/><Relationship Id="rId12"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0.png"/><Relationship Id="rId11" Type="http://schemas.openxmlformats.org/officeDocument/2006/relationships/image" Target="../media/image23.png"/><Relationship Id="rId5" Type="http://schemas.openxmlformats.org/officeDocument/2006/relationships/image" Target="../media/image170.png"/><Relationship Id="rId10" Type="http://schemas.openxmlformats.org/officeDocument/2006/relationships/image" Target="../media/image220.png"/><Relationship Id="rId4" Type="http://schemas.openxmlformats.org/officeDocument/2006/relationships/image" Target="../media/image160.png"/><Relationship Id="rId9" Type="http://schemas.openxmlformats.org/officeDocument/2006/relationships/image" Target="../media/image210.png"/><Relationship Id="rId1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7.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4.sv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t>
            </a:r>
            <a:r>
              <a:rPr lang="en-US" altLang="zh-TW" sz="1000" b="1" dirty="0">
                <a:solidFill>
                  <a:schemeClr val="bg1">
                    <a:lumMod val="65000"/>
                  </a:schemeClr>
                </a:solidFill>
              </a:rPr>
              <a:t>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Basic Model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8" end="8"/>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9" end="9"/>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2" end="12"/>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13" end="13"/>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21598"/>
            <a:ext cx="7452828" cy="4339650"/>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 (AI Agent, LLM, RAG,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(AI Stack </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Server</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 Framework + Infrastructure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(Stack)</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(SLM, Edge, Algorithm, )</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3</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(Multi</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odal,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Multilingual</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Low-Rank Adaptation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(Efficient LLM Fine-Tuning)</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Gemma4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A1C639E3-E511-933C-E6C6-4C289F817DDD}"/>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childTnLst>
                          </p:cTn>
                        </p:par>
                      </p:childTnLst>
                    </p:cTn>
                  </p:par>
                  <p:par>
                    <p:cTn id="27" fill="hold">
                      <p:stCondLst>
                        <p:cond delay="indefinite"/>
                      </p:stCondLst>
                      <p:childTnLst>
                        <p:par>
                          <p:cTn id="28" fill="hold">
                            <p:stCondLst>
                              <p:cond delay="0"/>
                            </p:stCondLst>
                            <p:childTnLst>
                              <p:par>
                                <p:cTn id="29" presetID="3" presetClass="emph" presetSubtype="2" fill="hold" grpId="0" nodeType="clickEffect">
                                  <p:stCondLst>
                                    <p:cond delay="0"/>
                                  </p:stCondLst>
                                  <p:childTnLst>
                                    <p:animClr clrSpc="rgb" dir="cw">
                                      <p:cBhvr override="childStyle">
                                        <p:cTn id="30"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1" nodeType="withEffect">
                                  <p:stCondLst>
                                    <p:cond delay="0"/>
                                  </p:stCondLst>
                                  <p:childTnLst>
                                    <p:animClr clrSpc="rgb" dir="cw">
                                      <p:cBhvr override="childStyle">
                                        <p:cTn id="32" dur="2000" fill="hold"/>
                                        <p:tgtEl>
                                          <p:spTgt spid="2">
                                            <p:txEl>
                                              <p:pRg st="2" end="2"/>
                                            </p:txEl>
                                          </p:spTgt>
                                        </p:tgtEl>
                                        <p:attrNameLst>
                                          <p:attrName>style.color</p:attrName>
                                        </p:attrNameLst>
                                      </p:cBhvr>
                                      <p:to>
                                        <a:srgbClr val="D8A09C"/>
                                      </p:to>
                                    </p:animClr>
                                  </p:childTnLst>
                                </p:cTn>
                              </p:par>
                              <p:par>
                                <p:cTn id="33" presetID="3" presetClass="emph" presetSubtype="2" fill="hold" grpId="1" nodeType="withEffect">
                                  <p:stCondLst>
                                    <p:cond delay="0"/>
                                  </p:stCondLst>
                                  <p:childTnLst>
                                    <p:animClr clrSpc="rgb" dir="cw">
                                      <p:cBhvr override="childStyle">
                                        <p:cTn id="34" dur="2000" fill="hold"/>
                                        <p:tgtEl>
                                          <p:spTgt spid="2">
                                            <p:txEl>
                                              <p:pRg st="3" end="3"/>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6" end="6"/>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7" end="7"/>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8" end="8"/>
                                            </p:txEl>
                                          </p:spTgt>
                                        </p:tgtEl>
                                        <p:attrNameLst>
                                          <p:attrName>style.color</p:attrName>
                                        </p:attrNameLst>
                                      </p:cBhvr>
                                      <p:to>
                                        <a:srgbClr val="D8A09C"/>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9" end="9"/>
                                            </p:txEl>
                                          </p:spTgt>
                                        </p:tgtEl>
                                        <p:attrNameLst>
                                          <p:attrName>style.color</p:attrName>
                                        </p:attrNameLst>
                                      </p:cBhvr>
                                      <p:to>
                                        <a:srgbClr val="D8A09C"/>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0" nodeType="with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par>
                                <p:cTn id="63" presetID="3" presetClass="emph" presetSubtype="2" fill="hold" grpId="1" nodeType="withEffect">
                                  <p:stCondLst>
                                    <p:cond delay="0"/>
                                  </p:stCondLst>
                                  <p:childTnLst>
                                    <p:animClr clrSpc="rgb" dir="cw">
                                      <p:cBhvr override="childStyle">
                                        <p:cTn id="64" dur="2000" fill="hold"/>
                                        <p:tgtEl>
                                          <p:spTgt spid="2">
                                            <p:txEl>
                                              <p:pRg st="10" end="10"/>
                                            </p:txEl>
                                          </p:spTgt>
                                        </p:tgtEl>
                                        <p:attrNameLst>
                                          <p:attrName>style.color</p:attrName>
                                        </p:attrNameLst>
                                      </p:cBhvr>
                                      <p:to>
                                        <a:srgbClr val="D8A09C"/>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1" end="11"/>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3" end="13"/>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971843943"/>
              </p:ext>
            </p:extLst>
          </p:nvPr>
        </p:nvGraphicFramePr>
        <p:xfrm>
          <a:off x="863588" y="1052736"/>
          <a:ext cx="7416824" cy="4539853"/>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422491">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6809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495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1650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57669">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1891560"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655784"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468581"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283968"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079264"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a:picLocks noChangeAspect="1"/>
          </p:cNvPicPr>
          <p:nvPr/>
        </p:nvPicPr>
        <p:blipFill>
          <a:blip r:embed="rId8"/>
          <a:stretch>
            <a:fillRect/>
          </a:stretch>
        </p:blipFill>
        <p:spPr>
          <a:xfrm>
            <a:off x="5676353" y="2492896"/>
            <a:ext cx="354772" cy="354772"/>
          </a:xfrm>
          <a:prstGeom prst="rect">
            <a:avLst/>
          </a:prstGeom>
        </p:spPr>
      </p:pic>
      <p:pic>
        <p:nvPicPr>
          <p:cNvPr id="7" name="圖片 6">
            <a:extLst>
              <a:ext uri="{FF2B5EF4-FFF2-40B4-BE49-F238E27FC236}">
                <a16:creationId xmlns:a16="http://schemas.microsoft.com/office/drawing/2014/main" id="{4CC92E4B-62B0-C53C-B046-1477C4144B5B}"/>
              </a:ext>
            </a:extLst>
          </p:cNvPr>
          <p:cNvPicPr>
            <a:picLocks noChangeAspect="1"/>
          </p:cNvPicPr>
          <p:nvPr/>
        </p:nvPicPr>
        <p:blipFill>
          <a:blip r:embed="rId9"/>
          <a:stretch>
            <a:fillRect/>
          </a:stretch>
        </p:blipFill>
        <p:spPr>
          <a:xfrm>
            <a:off x="5640350" y="1916832"/>
            <a:ext cx="426779" cy="432047"/>
          </a:xfrm>
          <a:prstGeom prst="rect">
            <a:avLst/>
          </a:prstGeom>
        </p:spPr>
      </p:pic>
      <p:pic>
        <p:nvPicPr>
          <p:cNvPr id="14" name="圖片 13">
            <a:extLst>
              <a:ext uri="{FF2B5EF4-FFF2-40B4-BE49-F238E27FC236}">
                <a16:creationId xmlns:a16="http://schemas.microsoft.com/office/drawing/2014/main" id="{B754938C-EE5B-D3B5-40FD-DD90926074D2}"/>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419859" y="939583"/>
            <a:ext cx="1473207" cy="520102"/>
          </a:xfrm>
          <a:prstGeom prst="rect">
            <a:avLst/>
          </a:prstGeom>
          <a:effectLst>
            <a:glow rad="25400">
              <a:schemeClr val="accent5">
                <a:lumMod val="20000"/>
                <a:lumOff val="80000"/>
                <a:alpha val="40000"/>
              </a:schemeClr>
            </a:glow>
            <a:softEdge rad="50800"/>
          </a:effectLst>
        </p:spPr>
      </p:pic>
      <p:pic>
        <p:nvPicPr>
          <p:cNvPr id="17" name="圖片 16">
            <a:extLst>
              <a:ext uri="{FF2B5EF4-FFF2-40B4-BE49-F238E27FC236}">
                <a16:creationId xmlns:a16="http://schemas.microsoft.com/office/drawing/2014/main" id="{6999AD27-C8C5-8536-54F4-3A22808DE3F9}"/>
              </a:ext>
            </a:extLst>
          </p:cNvPr>
          <p:cNvPicPr>
            <a:picLocks noChangeAspect="1"/>
          </p:cNvPicPr>
          <p:nvPr/>
        </p:nvPicPr>
        <p:blipFill>
          <a:blip r:embed="rId11"/>
          <a:stretch>
            <a:fillRect/>
          </a:stretch>
        </p:blipFill>
        <p:spPr>
          <a:xfrm>
            <a:off x="5676353" y="4365881"/>
            <a:ext cx="354772" cy="359263"/>
          </a:xfrm>
          <a:prstGeom prst="rect">
            <a:avLst/>
          </a:prstGeom>
        </p:spPr>
      </p:pic>
      <p:pic>
        <p:nvPicPr>
          <p:cNvPr id="19" name="圖片 18">
            <a:extLst>
              <a:ext uri="{FF2B5EF4-FFF2-40B4-BE49-F238E27FC236}">
                <a16:creationId xmlns:a16="http://schemas.microsoft.com/office/drawing/2014/main" id="{E2FD6F41-AD98-7CEC-1D2B-AB39C7F5F811}"/>
              </a:ext>
            </a:extLst>
          </p:cNvPr>
          <p:cNvPicPr>
            <a:picLocks noChangeAspect="1"/>
          </p:cNvPicPr>
          <p:nvPr/>
        </p:nvPicPr>
        <p:blipFill>
          <a:blip r:embed="rId12"/>
          <a:stretch>
            <a:fillRect/>
          </a:stretch>
        </p:blipFill>
        <p:spPr>
          <a:xfrm>
            <a:off x="6961978" y="4365880"/>
            <a:ext cx="387580" cy="359263"/>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F21FC563-EC0F-087B-D29C-9F789097AEE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383A5C34-A0BC-03DD-F642-1AD5A295BA5C}"/>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t> Rotary of PE</a:t>
            </a:r>
          </a:p>
          <a:p>
            <a:pPr>
              <a:lnSpc>
                <a:spcPts val="12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solidFill>
                  <a:prstClr val="black"/>
                </a:solidFill>
              </a:rPr>
              <a:t> MCP</a:t>
            </a:r>
          </a:p>
          <a:p>
            <a:pPr marL="111125" lvl="2">
              <a:lnSpc>
                <a:spcPts val="1200"/>
              </a:lnSpc>
              <a:buFont typeface="Arial" panose="020B0604020202020204" pitchFamily="34" charset="0"/>
              <a:buChar char="•"/>
              <a:defRPr/>
            </a:pPr>
            <a:r>
              <a:rPr lang="en-US" altLang="zh-TW" sz="1000" dirty="0">
                <a:solidFill>
                  <a:prstClr val="black"/>
                </a:solidFill>
              </a:rPr>
              <a:t> RAG</a:t>
            </a:r>
          </a:p>
          <a:p>
            <a:pPr marL="111125" lvl="2">
              <a:lnSpc>
                <a:spcPts val="1200"/>
              </a:lnSpc>
              <a:buFont typeface="Arial" panose="020B0604020202020204" pitchFamily="34" charset="0"/>
              <a:buChar char="•"/>
              <a:defRPr/>
            </a:pPr>
            <a:r>
              <a:rPr lang="en-US" altLang="zh-TW" sz="1000" dirty="0">
                <a:solidFill>
                  <a:prstClr val="black"/>
                </a:solidFill>
              </a:rPr>
              <a:t> LLM</a:t>
            </a:r>
          </a:p>
          <a:p>
            <a:pPr marL="111125" lvl="2">
              <a:lnSpc>
                <a:spcPts val="12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solidFill>
                  <a:prstClr val="black"/>
                </a:solidFill>
              </a:rPr>
              <a:t> Supervised FT</a:t>
            </a:r>
          </a:p>
          <a:p>
            <a:pPr marL="111125" lvl="2">
              <a:lnSpc>
                <a:spcPts val="12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solidFill>
                  <a:prstClr val="black"/>
                </a:solidFill>
              </a:rPr>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solidFill>
                  <a:prstClr val="black"/>
                </a:solidFill>
              </a:rPr>
              <a:t> Practices</a:t>
            </a:r>
          </a:p>
        </p:txBody>
      </p:sp>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mc:Choice xmlns:a14="http://schemas.microsoft.com/office/drawing/2010/main"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a:t>RoPE()</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solidFill>
            <a:schemeClr val="bg1"/>
          </a:solidFill>
          <a:ln w="2540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012160" y="1456910"/>
            <a:ext cx="422451" cy="526736"/>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SoftMax to obtain the probability-based weights.</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solidFill>
            <a:schemeClr val="accent1">
              <a:lumMod val="20000"/>
              <a:lumOff val="80000"/>
              <a:alpha val="20000"/>
            </a:schemeClr>
          </a:solidFill>
          <a:ln w="28575">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405568978"/>
              </p:ext>
            </p:extLst>
          </p:nvPr>
        </p:nvGraphicFramePr>
        <p:xfrm>
          <a:off x="6485453" y="1124744"/>
          <a:ext cx="2437328" cy="107232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8721">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stCxn id="10" idx="3"/>
            <a:endCxn id="122" idx="1"/>
          </p:cNvCxnSpPr>
          <p:nvPr/>
        </p:nvCxnSpPr>
        <p:spPr>
          <a:xfrm>
            <a:off x="5974803" y="3623992"/>
            <a:ext cx="646372" cy="1118461"/>
          </a:xfrm>
          <a:prstGeom prst="bentConnector3">
            <a:avLst/>
          </a:prstGeom>
          <a:ln w="28575">
            <a:solidFill>
              <a:schemeClr val="accent1">
                <a:lumMod val="60000"/>
                <a:lumOff val="40000"/>
              </a:schemeClr>
            </a:solidFill>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
        <p:nvSpPr>
          <p:cNvPr id="6" name="文字方塊 5">
            <a:extLst>
              <a:ext uri="{FF2B5EF4-FFF2-40B4-BE49-F238E27FC236}">
                <a16:creationId xmlns:a16="http://schemas.microsoft.com/office/drawing/2014/main" id="{74A6BFFF-3C96-54A3-05EC-1724E7A25791}"/>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200"/>
              </a:lnSpc>
              <a:buFont typeface="Arial" panose="020B0604020202020204" pitchFamily="34" charset="0"/>
              <a:buChar char="•"/>
            </a:pPr>
            <a:r>
              <a:rPr lang="zh-TW" altLang="en-US" sz="1000" dirty="0"/>
              <a:t> </a:t>
            </a:r>
            <a:r>
              <a:rPr lang="en-US" altLang="zh-TW" sz="1000" dirty="0"/>
              <a:t>ML</a:t>
            </a:r>
          </a:p>
          <a:p>
            <a:pPr marL="111125" lvl="2">
              <a:lnSpc>
                <a:spcPts val="12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200"/>
              </a:lnSpc>
              <a:buFont typeface="Wingdings" panose="05000000000000000000" pitchFamily="2" charset="2"/>
              <a:buChar char="Ø"/>
            </a:pPr>
            <a:r>
              <a:rPr lang="en-US" altLang="zh-TW" sz="1000" b="1" dirty="0"/>
              <a:t> Transformer</a:t>
            </a:r>
            <a:endParaRPr lang="en-US" altLang="zh-TW" sz="1000" dirty="0"/>
          </a:p>
          <a:p>
            <a:pPr marL="111125" lvl="2">
              <a:lnSpc>
                <a:spcPts val="1200"/>
              </a:lnSpc>
              <a:buFont typeface="Arial" panose="020B0604020202020204" pitchFamily="34" charset="0"/>
              <a:buChar char="•"/>
            </a:pPr>
            <a:r>
              <a:rPr lang="en-US" altLang="zh-TW" sz="1000" dirty="0"/>
              <a:t> Program Flow</a:t>
            </a:r>
          </a:p>
          <a:p>
            <a:pPr marL="111125" lvl="2">
              <a:lnSpc>
                <a:spcPts val="1200"/>
              </a:lnSpc>
              <a:buFont typeface="Arial" panose="020B0604020202020204" pitchFamily="34" charset="0"/>
              <a:buChar char="•"/>
            </a:pPr>
            <a:r>
              <a:rPr lang="en-US" altLang="zh-TW" sz="1000" dirty="0"/>
              <a:t> Self-Attention</a:t>
            </a:r>
          </a:p>
          <a:p>
            <a:pPr marL="111125" lvl="2">
              <a:lnSpc>
                <a:spcPts val="1200"/>
              </a:lnSpc>
              <a:buFont typeface="Arial" panose="020B0604020202020204" pitchFamily="34" charset="0"/>
              <a:buChar char="•"/>
            </a:pPr>
            <a:r>
              <a:rPr lang="en-US" altLang="zh-TW" sz="1000" dirty="0"/>
              <a:t> FFNN</a:t>
            </a:r>
          </a:p>
          <a:p>
            <a:pPr marL="111125" lvl="2">
              <a:lnSpc>
                <a:spcPts val="1200"/>
              </a:lnSpc>
              <a:buFont typeface="Arial" panose="020B0604020202020204" pitchFamily="34" charset="0"/>
              <a:buChar char="•"/>
            </a:pPr>
            <a:r>
              <a:rPr lang="en-US" altLang="zh-TW" sz="1000" dirty="0"/>
              <a:t> Token Embedding</a:t>
            </a:r>
          </a:p>
          <a:p>
            <a:pPr marL="111125" lvl="2">
              <a:lnSpc>
                <a:spcPts val="1200"/>
              </a:lnSpc>
              <a:buFont typeface="Arial" panose="020B0604020202020204" pitchFamily="34" charset="0"/>
              <a:buChar char="•"/>
            </a:pPr>
            <a:r>
              <a:rPr lang="en-US" altLang="zh-TW" sz="1000" dirty="0">
                <a:solidFill>
                  <a:srgbClr val="FF0000"/>
                </a:solidFill>
              </a:rPr>
              <a:t> Rotary of PE</a:t>
            </a:r>
          </a:p>
          <a:p>
            <a:pPr>
              <a:lnSpc>
                <a:spcPts val="1200"/>
              </a:lnSpc>
              <a:buFont typeface="Wingdings" panose="05000000000000000000" pitchFamily="2" charset="2"/>
              <a:buChar char="Ø"/>
            </a:pPr>
            <a:r>
              <a:rPr lang="en-US" altLang="zh-TW" sz="1000" b="1" dirty="0">
                <a:solidFill>
                  <a:srgbClr val="FF0000"/>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t> AI Runtime</a:t>
            </a:r>
          </a:p>
          <a:p>
            <a:pPr marL="111125" lvl="2">
              <a:lnSpc>
                <a:spcPts val="1200"/>
              </a:lnSpc>
              <a:buFont typeface="Arial" panose="020B0604020202020204" pitchFamily="34" charset="0"/>
              <a:buChar char="•"/>
              <a:defRPr/>
            </a:pPr>
            <a:r>
              <a:rPr lang="en-US" altLang="zh-TW" sz="1000" dirty="0"/>
              <a:t> MCP</a:t>
            </a:r>
          </a:p>
          <a:p>
            <a:pPr marL="111125" lvl="2">
              <a:lnSpc>
                <a:spcPts val="1200"/>
              </a:lnSpc>
              <a:buFont typeface="Arial" panose="020B0604020202020204" pitchFamily="34" charset="0"/>
              <a:buChar char="•"/>
              <a:defRPr/>
            </a:pPr>
            <a:r>
              <a:rPr lang="en-US" altLang="zh-TW" sz="1000" dirty="0"/>
              <a:t> RAG</a:t>
            </a:r>
          </a:p>
          <a:p>
            <a:pPr marL="111125" lvl="2">
              <a:lnSpc>
                <a:spcPts val="1200"/>
              </a:lnSpc>
              <a:buFont typeface="Arial" panose="020B0604020202020204" pitchFamily="34" charset="0"/>
              <a:buChar char="•"/>
              <a:defRPr/>
            </a:pPr>
            <a:r>
              <a:rPr lang="en-US" altLang="zh-TW" sz="1000" dirty="0"/>
              <a:t> LLM</a:t>
            </a:r>
          </a:p>
          <a:p>
            <a:pPr marL="111125" lvl="2">
              <a:lnSpc>
                <a:spcPts val="1200"/>
              </a:lnSpc>
              <a:buFont typeface="Arial" panose="020B0604020202020204" pitchFamily="34" charset="0"/>
              <a:buChar char="•"/>
              <a:defRPr/>
            </a:pPr>
            <a:r>
              <a:rPr lang="en-US" altLang="zh-TW" sz="1000" dirty="0"/>
              <a:t> Trend Analysis </a:t>
            </a:r>
          </a:p>
          <a:p>
            <a:pPr>
              <a:lnSpc>
                <a:spcPts val="1200"/>
              </a:lnSpc>
              <a:buFont typeface="Wingdings" panose="05000000000000000000" pitchFamily="2" charset="2"/>
              <a:buChar char="Ø"/>
            </a:pPr>
            <a:r>
              <a:rPr lang="en-US" altLang="zh-TW" sz="1000" b="1" dirty="0"/>
              <a:t> Gemma 3</a:t>
            </a:r>
          </a:p>
          <a:p>
            <a:pPr marL="111125" lvl="2">
              <a:lnSpc>
                <a:spcPts val="1200"/>
              </a:lnSpc>
              <a:buFont typeface="Arial" panose="020B0604020202020204" pitchFamily="34" charset="0"/>
              <a:buChar char="•"/>
              <a:defRPr/>
            </a:pPr>
            <a:r>
              <a:rPr lang="en-US" altLang="zh-TW" sz="1000" dirty="0"/>
              <a:t> Supervised FT</a:t>
            </a:r>
          </a:p>
          <a:p>
            <a:pPr marL="111125" lvl="2">
              <a:lnSpc>
                <a:spcPts val="1200"/>
              </a:lnSpc>
              <a:buFont typeface="Arial" panose="020B0604020202020204" pitchFamily="34" charset="0"/>
              <a:buChar char="•"/>
              <a:defRPr/>
            </a:pPr>
            <a:r>
              <a:rPr lang="en-US" altLang="zh-TW" sz="1000" dirty="0"/>
              <a:t> LoRA</a:t>
            </a:r>
          </a:p>
          <a:p>
            <a:pPr>
              <a:lnSpc>
                <a:spcPts val="1200"/>
              </a:lnSpc>
              <a:buFont typeface="Wingdings" panose="05000000000000000000" pitchFamily="2" charset="2"/>
              <a:buChar char="Ø"/>
            </a:pPr>
            <a:r>
              <a:rPr lang="en-US" altLang="zh-TW" sz="1000" b="1" dirty="0"/>
              <a:t> Gemma 4</a:t>
            </a:r>
          </a:p>
          <a:p>
            <a:pPr marL="111125" lvl="2">
              <a:lnSpc>
                <a:spcPts val="1200"/>
              </a:lnSpc>
              <a:buFont typeface="Arial" panose="020B0604020202020204" pitchFamily="34" charset="0"/>
              <a:buChar char="•"/>
              <a:defRPr/>
            </a:pPr>
            <a:r>
              <a:rPr lang="en-US" altLang="zh-TW" sz="1000" dirty="0"/>
              <a:t> PLE </a:t>
            </a:r>
          </a:p>
          <a:p>
            <a:pPr marL="111125" lvl="2">
              <a:lnSpc>
                <a:spcPts val="1200"/>
              </a:lnSpc>
              <a:buFont typeface="Arial" panose="020B0604020202020204" pitchFamily="34" charset="0"/>
              <a:buChar char="•"/>
              <a:defRPr/>
            </a:pPr>
            <a:r>
              <a:rPr lang="en-US" altLang="zh-TW" sz="1000" dirty="0"/>
              <a:t> Comparison</a:t>
            </a:r>
          </a:p>
          <a:p>
            <a:pPr>
              <a:lnSpc>
                <a:spcPts val="1200"/>
              </a:lnSpc>
              <a:buFont typeface="Wingdings" panose="05000000000000000000" pitchFamily="2" charset="2"/>
              <a:buChar char="Ø"/>
            </a:pPr>
            <a:r>
              <a:rPr lang="en-US" altLang="zh-TW" sz="1000" b="1" dirty="0"/>
              <a:t> Conclusion</a:t>
            </a:r>
          </a:p>
          <a:p>
            <a:pPr marL="111125" lvl="2">
              <a:lnSpc>
                <a:spcPts val="1200"/>
              </a:lnSpc>
              <a:buFont typeface="Arial" panose="020B0604020202020204" pitchFamily="34" charset="0"/>
              <a:buChar char="•"/>
              <a:defRPr/>
            </a:pPr>
            <a:r>
              <a:rPr lang="en-US" altLang="zh-TW" sz="1000" dirty="0"/>
              <a:t> Frameworks </a:t>
            </a:r>
          </a:p>
          <a:p>
            <a:pPr marL="111125" lvl="2">
              <a:lnSpc>
                <a:spcPts val="1200"/>
              </a:lnSpc>
              <a:buFont typeface="Arial" panose="020B0604020202020204" pitchFamily="34" charset="0"/>
              <a:buChar char="•"/>
              <a:defRPr/>
            </a:pPr>
            <a:r>
              <a:rPr lang="en-US" altLang="zh-TW" sz="1000" dirty="0"/>
              <a:t> Practices</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5B447E22-5A1E-EF0E-F809-322E50BF51C7}"/>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51845" y="1124744"/>
            <a:ext cx="2367698" cy="1299459"/>
          </a:xfrm>
          <a:prstGeom prst="rect">
            <a:avLst/>
          </a:prstGeom>
          <a:effectLst>
            <a:glow rad="63500">
              <a:schemeClr val="accent1">
                <a:satMod val="175000"/>
                <a:alpha val="40000"/>
              </a:schemeClr>
            </a:glow>
          </a:effectLst>
        </p:spPr>
      </p:pic>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Basic 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pic>
        <p:nvPicPr>
          <p:cNvPr id="3" name="圖片 2">
            <a:extLst>
              <a:ext uri="{FF2B5EF4-FFF2-40B4-BE49-F238E27FC236}">
                <a16:creationId xmlns:a16="http://schemas.microsoft.com/office/drawing/2014/main" id="{3B424E2B-1F7B-9BB8-1BA7-327F2237D83E}"/>
              </a:ext>
            </a:extLst>
          </p:cNvPr>
          <p:cNvPicPr>
            <a:picLocks noChangeAspect="1"/>
          </p:cNvPicPr>
          <p:nvPr/>
        </p:nvPicPr>
        <p:blipFill>
          <a:blip r:embed="rId4"/>
          <a:stretch>
            <a:fillRect/>
          </a:stretch>
        </p:blipFill>
        <p:spPr>
          <a:xfrm>
            <a:off x="162372" y="2634995"/>
            <a:ext cx="4578946" cy="1591079"/>
          </a:xfrm>
          <a:prstGeom prst="rect">
            <a:avLst/>
          </a:prstGeom>
        </p:spPr>
      </p:pic>
      <p:sp>
        <p:nvSpPr>
          <p:cNvPr id="5" name="文字方塊 4">
            <a:extLst>
              <a:ext uri="{FF2B5EF4-FFF2-40B4-BE49-F238E27FC236}">
                <a16:creationId xmlns:a16="http://schemas.microsoft.com/office/drawing/2014/main" id="{71AEB47B-29BC-2902-23BF-A4AE3E97C795}"/>
              </a:ext>
            </a:extLst>
          </p:cNvPr>
          <p:cNvSpPr txBox="1"/>
          <p:nvPr/>
        </p:nvSpPr>
        <p:spPr>
          <a:xfrm>
            <a:off x="7848364" y="44624"/>
            <a:ext cx="1214435" cy="4555093"/>
          </a:xfrm>
          <a:prstGeom prst="rect">
            <a:avLst/>
          </a:prstGeom>
          <a:noFill/>
        </p:spPr>
        <p:txBody>
          <a:bodyPr wrap="none" lIns="91440" tIns="91440" rIns="0" bIns="0">
            <a:spAutoFit/>
          </a:bodyPr>
          <a:lstStyle/>
          <a:p>
            <a:pPr defTabSz="1546225">
              <a:lnSpc>
                <a:spcPts val="1200"/>
              </a:lnSpc>
              <a:buFont typeface="Wingdings" panose="05000000000000000000" pitchFamily="2" charset="2"/>
              <a:buChar char="Ø"/>
            </a:pPr>
            <a:r>
              <a:rPr lang="en-US" altLang="zh-TW" sz="1000" b="1" u="none" strike="noStrike" dirty="0">
                <a:solidFill>
                  <a:schemeClr val="bg1">
                    <a:lumMod val="65000"/>
                  </a:schemeClr>
                </a:solidFill>
                <a:effectLst/>
              </a:rPr>
              <a:t> Overview</a:t>
            </a:r>
            <a:endParaRPr lang="en-US" altLang="zh-TW" sz="1000" u="none" strike="noStrike" dirty="0">
              <a:solidFill>
                <a:schemeClr val="bg1">
                  <a:lumMod val="65000"/>
                </a:schemeClr>
              </a:solidFill>
              <a:effectLst/>
            </a:endParaRPr>
          </a:p>
          <a:p>
            <a:pPr marL="111125" lvl="3">
              <a:lnSpc>
                <a:spcPts val="1200"/>
              </a:lnSpc>
              <a:buFont typeface="Arial" panose="020B0604020202020204" pitchFamily="34" charset="0"/>
              <a:buChar char="•"/>
            </a:pPr>
            <a:r>
              <a:rPr lang="zh-TW" altLang="en-US" sz="1000" dirty="0">
                <a:solidFill>
                  <a:schemeClr val="bg1">
                    <a:lumMod val="65000"/>
                  </a:schemeClr>
                </a:solidFill>
              </a:rPr>
              <a:t> </a:t>
            </a:r>
            <a:r>
              <a:rPr lang="en-US" altLang="zh-TW" sz="1000" dirty="0">
                <a:solidFill>
                  <a:schemeClr val="bg1">
                    <a:lumMod val="65000"/>
                  </a:schemeClr>
                </a:solidFill>
              </a:rPr>
              <a:t>ML</a:t>
            </a:r>
          </a:p>
          <a:p>
            <a:pPr marL="111125" lvl="2">
              <a:lnSpc>
                <a:spcPts val="1200"/>
              </a:lnSpc>
              <a:buFont typeface="Arial" panose="020B0604020202020204" pitchFamily="34" charset="0"/>
              <a:buChar char="•"/>
            </a:pPr>
            <a:r>
              <a:rPr lang="en-US" altLang="zh-TW" sz="1000" dirty="0">
                <a:solidFill>
                  <a:schemeClr val="bg1">
                    <a:lumMod val="65000"/>
                  </a:schemeClr>
                </a:solidFill>
              </a:rPr>
              <a:t>Training Stages</a:t>
            </a:r>
            <a:endParaRPr lang="en-US" altLang="zh-TW" sz="1000" u="none" strike="noStrike" dirty="0">
              <a:solidFill>
                <a:schemeClr val="bg1">
                  <a:lumMod val="65000"/>
                </a:schemeClr>
              </a:solidFill>
              <a:effectLst/>
            </a:endParaRPr>
          </a:p>
          <a:p>
            <a:pPr>
              <a:lnSpc>
                <a:spcPts val="1200"/>
              </a:lnSpc>
              <a:buFont typeface="Wingdings" panose="05000000000000000000" pitchFamily="2" charset="2"/>
              <a:buChar char="Ø"/>
            </a:pPr>
            <a:r>
              <a:rPr lang="en-US" altLang="zh-TW" sz="1000" b="1" dirty="0">
                <a:solidFill>
                  <a:schemeClr val="bg1">
                    <a:lumMod val="65000"/>
                  </a:schemeClr>
                </a:solidFill>
              </a:rPr>
              <a:t> Transformer</a:t>
            </a:r>
            <a:endParaRPr lang="en-US" altLang="zh-TW" sz="1000" dirty="0">
              <a:solidFill>
                <a:schemeClr val="bg1">
                  <a:lumMod val="65000"/>
                </a:schemeClr>
              </a:solidFill>
            </a:endParaRPr>
          </a:p>
          <a:p>
            <a:pPr marL="111125" lvl="2">
              <a:lnSpc>
                <a:spcPts val="1200"/>
              </a:lnSpc>
              <a:buFont typeface="Arial" panose="020B0604020202020204" pitchFamily="34" charset="0"/>
              <a:buChar char="•"/>
            </a:pPr>
            <a:r>
              <a:rPr lang="en-US" altLang="zh-TW" sz="1000" dirty="0">
                <a:solidFill>
                  <a:schemeClr val="bg1">
                    <a:lumMod val="65000"/>
                  </a:schemeClr>
                </a:solidFill>
              </a:rPr>
              <a:t> Program Flow</a:t>
            </a:r>
          </a:p>
          <a:p>
            <a:pPr marL="111125" lvl="2">
              <a:lnSpc>
                <a:spcPts val="1200"/>
              </a:lnSpc>
              <a:buFont typeface="Arial" panose="020B0604020202020204" pitchFamily="34" charset="0"/>
              <a:buChar char="•"/>
            </a:pPr>
            <a:r>
              <a:rPr lang="en-US" altLang="zh-TW" sz="1000" dirty="0">
                <a:solidFill>
                  <a:schemeClr val="bg1">
                    <a:lumMod val="65000"/>
                  </a:schemeClr>
                </a:solidFill>
              </a:rPr>
              <a:t> Self-Attention</a:t>
            </a:r>
          </a:p>
          <a:p>
            <a:pPr marL="111125" lvl="2">
              <a:lnSpc>
                <a:spcPts val="1200"/>
              </a:lnSpc>
              <a:buFont typeface="Arial" panose="020B0604020202020204" pitchFamily="34" charset="0"/>
              <a:buChar char="•"/>
            </a:pPr>
            <a:r>
              <a:rPr lang="en-US" altLang="zh-TW" sz="1000" dirty="0">
                <a:solidFill>
                  <a:schemeClr val="bg1">
                    <a:lumMod val="65000"/>
                  </a:schemeClr>
                </a:solidFill>
              </a:rPr>
              <a:t> FFNN</a:t>
            </a:r>
          </a:p>
          <a:p>
            <a:pPr marL="111125" lvl="2">
              <a:lnSpc>
                <a:spcPts val="1200"/>
              </a:lnSpc>
              <a:buFont typeface="Arial" panose="020B0604020202020204" pitchFamily="34" charset="0"/>
              <a:buChar char="•"/>
            </a:pPr>
            <a:r>
              <a:rPr lang="en-US" altLang="zh-TW" sz="1000" dirty="0">
                <a:solidFill>
                  <a:schemeClr val="bg1">
                    <a:lumMod val="65000"/>
                  </a:schemeClr>
                </a:solidFill>
              </a:rPr>
              <a:t> Token Embedding</a:t>
            </a:r>
          </a:p>
          <a:p>
            <a:pPr marL="111125" lvl="2">
              <a:lnSpc>
                <a:spcPts val="1200"/>
              </a:lnSpc>
              <a:buFont typeface="Arial" panose="020B0604020202020204" pitchFamily="34" charset="0"/>
              <a:buChar char="•"/>
            </a:pPr>
            <a:r>
              <a:rPr lang="en-US" altLang="zh-TW" sz="1000" dirty="0">
                <a:solidFill>
                  <a:schemeClr val="bg1">
                    <a:lumMod val="65000"/>
                  </a:schemeClr>
                </a:solidFill>
              </a:rPr>
              <a:t> Rotary of PE</a:t>
            </a:r>
          </a:p>
          <a:p>
            <a:pPr>
              <a:lnSpc>
                <a:spcPts val="1200"/>
              </a:lnSpc>
              <a:buFont typeface="Wingdings" panose="05000000000000000000" pitchFamily="2" charset="2"/>
              <a:buChar char="Ø"/>
            </a:pPr>
            <a:r>
              <a:rPr lang="en-US" altLang="zh-TW" sz="1000" b="1" dirty="0">
                <a:solidFill>
                  <a:schemeClr val="bg1">
                    <a:lumMod val="65000"/>
                  </a:schemeClr>
                </a:solidFill>
              </a:rPr>
              <a:t> GPT</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Pre-Training</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rgbClr val="FF0000"/>
                </a:solidFill>
                <a:latin typeface="Calibri"/>
                <a:ea typeface="新細明體" panose="02020500000000000000" pitchFamily="18" charset="-120"/>
              </a:rPr>
              <a:t> Basic Model</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latin typeface="Calibri"/>
                <a:ea typeface="新細明體" panose="02020500000000000000" pitchFamily="18" charset="-120"/>
              </a:rPr>
              <a:t> Backpropagation</a:t>
            </a:r>
          </a:p>
          <a:p>
            <a:pPr marL="111125" marR="0" lvl="2" algn="l" defTabSz="914400" rtl="0" eaLnBrk="1" fontAlgn="auto" latinLnBrk="0" hangingPunct="1">
              <a:lnSpc>
                <a:spcPts val="1200"/>
              </a:lnSpc>
              <a:buClrTx/>
              <a:buSzTx/>
              <a:buFont typeface="Arial" panose="020B0604020202020204" pitchFamily="34" charset="0"/>
              <a:buChar char="•"/>
              <a:defRPr/>
            </a:pPr>
            <a:r>
              <a:rPr lang="en-US" altLang="zh-TW" sz="1000" dirty="0">
                <a:solidFill>
                  <a:schemeClr val="bg1">
                    <a:lumMod val="65000"/>
                  </a:schemeClr>
                </a:solidFill>
              </a:rPr>
              <a:t> Inference </a:t>
            </a:r>
          </a:p>
          <a:p>
            <a:pPr marL="111125" marR="0" lvl="2" algn="l" defTabSz="914400" rtl="0" eaLnBrk="1" fontAlgn="auto" latinLnBrk="0" hangingPunct="1">
              <a:lnSpc>
                <a:spcPts val="12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schemeClr val="bg1">
                    <a:lumMod val="65000"/>
                  </a:schemeClr>
                </a:solidFill>
                <a:effectLst/>
                <a:uLnTx/>
                <a:uFillTx/>
                <a:latin typeface="Calibri"/>
                <a:ea typeface="新細明體" panose="02020500000000000000" pitchFamily="18" charset="-120"/>
                <a:cs typeface="+mn-cs"/>
              </a:rPr>
              <a:t> Training Cluster</a:t>
            </a:r>
          </a:p>
          <a:p>
            <a:pPr>
              <a:lnSpc>
                <a:spcPts val="1200"/>
              </a:lnSpc>
              <a:buFont typeface="Wingdings" panose="05000000000000000000" pitchFamily="2" charset="2"/>
              <a:buChar char="Ø"/>
            </a:pPr>
            <a:r>
              <a:rPr lang="en-US" altLang="zh-TW" sz="1000" b="1" dirty="0">
                <a:solidFill>
                  <a:schemeClr val="bg1">
                    <a:lumMod val="65000"/>
                  </a:schemeClr>
                </a:solidFill>
              </a:rPr>
              <a:t> AI Runtime</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MCP</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RAG</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LLM</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Trend Analysis </a:t>
            </a:r>
          </a:p>
          <a:p>
            <a:pPr>
              <a:lnSpc>
                <a:spcPts val="1200"/>
              </a:lnSpc>
              <a:buFont typeface="Wingdings" panose="05000000000000000000" pitchFamily="2" charset="2"/>
              <a:buChar char="Ø"/>
            </a:pPr>
            <a:r>
              <a:rPr lang="en-US" altLang="zh-TW" sz="1000" b="1" dirty="0">
                <a:solidFill>
                  <a:schemeClr val="bg1">
                    <a:lumMod val="65000"/>
                  </a:schemeClr>
                </a:solidFill>
              </a:rPr>
              <a:t> Gemma 3</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Supervised FT</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LoRA</a:t>
            </a:r>
          </a:p>
          <a:p>
            <a:pPr>
              <a:lnSpc>
                <a:spcPts val="1200"/>
              </a:lnSpc>
              <a:buFont typeface="Wingdings" panose="05000000000000000000" pitchFamily="2" charset="2"/>
              <a:buChar char="Ø"/>
            </a:pPr>
            <a:r>
              <a:rPr lang="en-US" altLang="zh-TW" sz="1000" b="1" dirty="0">
                <a:solidFill>
                  <a:schemeClr val="bg1">
                    <a:lumMod val="65000"/>
                  </a:schemeClr>
                </a:solidFill>
              </a:rPr>
              <a:t> Gemma 4</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PLE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Comparison</a:t>
            </a:r>
          </a:p>
          <a:p>
            <a:pPr>
              <a:lnSpc>
                <a:spcPts val="1200"/>
              </a:lnSpc>
              <a:buFont typeface="Wingdings" panose="05000000000000000000" pitchFamily="2" charset="2"/>
              <a:buChar char="Ø"/>
            </a:pPr>
            <a:r>
              <a:rPr lang="en-US" altLang="zh-TW" sz="1000" b="1" dirty="0">
                <a:solidFill>
                  <a:schemeClr val="bg1">
                    <a:lumMod val="65000"/>
                  </a:schemeClr>
                </a:solidFill>
              </a:rPr>
              <a:t> Conclusion</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Frameworks </a:t>
            </a:r>
          </a:p>
          <a:p>
            <a:pPr marL="111125" lvl="2">
              <a:lnSpc>
                <a:spcPts val="1200"/>
              </a:lnSpc>
              <a:buFont typeface="Arial" panose="020B0604020202020204" pitchFamily="34" charset="0"/>
              <a:buChar char="•"/>
              <a:defRPr/>
            </a:pPr>
            <a:r>
              <a:rPr lang="en-US" altLang="zh-TW" sz="1000" dirty="0">
                <a:solidFill>
                  <a:schemeClr val="bg1">
                    <a:lumMod val="65000"/>
                  </a:schemeClr>
                </a:solidFill>
              </a:rPr>
              <a:t> Practices</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155852898"/>
              </p:ext>
            </p:extLst>
          </p:nvPr>
        </p:nvGraphicFramePr>
        <p:xfrm>
          <a:off x="293763" y="4372727"/>
          <a:ext cx="1782533" cy="1158201"/>
        </p:xfrm>
        <a:graphic>
          <a:graphicData uri="http://schemas.openxmlformats.org/drawingml/2006/table">
            <a:tbl>
              <a:tblPr firstRow="1" bandRow="1">
                <a:tableStyleId>{5C22544A-7EE6-4342-B048-85BDC9FD1C3A}</a:tableStyleId>
              </a:tblPr>
              <a:tblGrid>
                <a:gridCol w="1782533">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14490171"/>
                  </a:ext>
                </a:extLst>
              </a:tr>
            </a:tbl>
          </a:graphicData>
        </a:graphic>
      </p:graphicFrame>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3688914017"/>
              </p:ext>
            </p:extLst>
          </p:nvPr>
        </p:nvGraphicFramePr>
        <p:xfrm>
          <a:off x="295176" y="2543197"/>
          <a:ext cx="1782533" cy="1568191"/>
        </p:xfrm>
        <a:graphic>
          <a:graphicData uri="http://schemas.openxmlformats.org/drawingml/2006/table">
            <a:tbl>
              <a:tblPr firstRow="1" bandRow="1">
                <a:tableStyleId>{5C22544A-7EE6-4342-B048-85BDC9FD1C3A}</a:tableStyleId>
              </a:tblPr>
              <a:tblGrid>
                <a:gridCol w="1782533">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PCB: 20~30</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HBM</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841383449"/>
                  </a:ext>
                </a:extLst>
              </a:tr>
            </a:tbl>
          </a:graphicData>
        </a:graphic>
      </p:graphicFrame>
      <p:grpSp>
        <p:nvGrpSpPr>
          <p:cNvPr id="70" name="群組 69">
            <a:extLst>
              <a:ext uri="{FF2B5EF4-FFF2-40B4-BE49-F238E27FC236}">
                <a16:creationId xmlns:a16="http://schemas.microsoft.com/office/drawing/2014/main" id="{676B16C7-0EFC-2240-FA31-8A4732ED726D}"/>
              </a:ext>
            </a:extLst>
          </p:cNvPr>
          <p:cNvGrpSpPr/>
          <p:nvPr/>
        </p:nvGrpSpPr>
        <p:grpSpPr>
          <a:xfrm>
            <a:off x="2877931" y="2349699"/>
            <a:ext cx="5286649" cy="3924287"/>
            <a:chOff x="2957759" y="2349699"/>
            <a:chExt cx="5286649" cy="3924287"/>
          </a:xfrm>
        </p:grpSpPr>
        <p:grpSp>
          <p:nvGrpSpPr>
            <p:cNvPr id="56" name="群組 55">
              <a:extLst>
                <a:ext uri="{FF2B5EF4-FFF2-40B4-BE49-F238E27FC236}">
                  <a16:creationId xmlns:a16="http://schemas.microsoft.com/office/drawing/2014/main" id="{7E729EF2-1324-CB02-728B-C79D90667E76}"/>
                </a:ext>
              </a:extLst>
            </p:cNvPr>
            <p:cNvGrpSpPr/>
            <p:nvPr/>
          </p:nvGrpSpPr>
          <p:grpSpPr>
            <a:xfrm>
              <a:off x="2957759" y="3904631"/>
              <a:ext cx="5286649" cy="2369355"/>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88150" y="3926593"/>
                <a:ext cx="610952" cy="610952"/>
              </a:xfrm>
              <a:prstGeom prst="rect">
                <a:avLst/>
              </a:prstGeom>
              <a:effectLst>
                <a:glow rad="127000">
                  <a:schemeClr val="bg2">
                    <a:lumMod val="90000"/>
                    <a:alpha val="80000"/>
                  </a:schemeClr>
                </a:glow>
              </a:effectLst>
            </p:spPr>
          </p:pic>
        </p:grpSp>
        <p:sp>
          <p:nvSpPr>
            <p:cNvPr id="68" name="矩形: 圓角 67">
              <a:extLst>
                <a:ext uri="{FF2B5EF4-FFF2-40B4-BE49-F238E27FC236}">
                  <a16:creationId xmlns:a16="http://schemas.microsoft.com/office/drawing/2014/main" id="{3CF66C3D-095F-45C0-1BFF-5916653C570A}"/>
                </a:ext>
              </a:extLst>
            </p:cNvPr>
            <p:cNvSpPr/>
            <p:nvPr/>
          </p:nvSpPr>
          <p:spPr>
            <a:xfrm>
              <a:off x="3131840" y="2349699"/>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600" b="1" i="0" u="none" strike="noStrike" kern="1200" cap="none" spc="0" normalizeH="0" baseline="0" noProof="0" dirty="0">
                  <a:ln>
                    <a:noFill/>
                  </a:ln>
                  <a:solidFill>
                    <a:srgbClr val="4F81BD">
                      <a:lumMod val="75000"/>
                    </a:srgbClr>
                  </a:solidFill>
                  <a:effectLst/>
                  <a:uLnTx/>
                  <a:uFillTx/>
                  <a:latin typeface="Calibri"/>
                  <a:ea typeface="新細明體" panose="02020500000000000000" pitchFamily="18" charset="-120"/>
                  <a:cs typeface="+mn-cs"/>
                </a:rPr>
                <a:t>Rack</a:t>
              </a:r>
              <a:endParaRPr lang="zh-TW" altLang="en-US" dirty="0"/>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275856" y="2730847"/>
              <a:ext cx="2450420" cy="2526109"/>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275856" y="5301988"/>
              <a:ext cx="2450366" cy="356880"/>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275856" y="5708605"/>
              <a:ext cx="2450366" cy="356880"/>
            </a:xfrm>
            <a:prstGeom prst="rect">
              <a:avLst/>
            </a:prstGeom>
            <a:solidFill>
              <a:schemeClr val="accent1">
                <a:lumMod val="75000"/>
                <a:alpha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200534" y="2892121"/>
              <a:ext cx="607391" cy="1300542"/>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b="1" dirty="0">
                    <a:solidFill>
                      <a:schemeClr val="accent1">
                        <a:lumMod val="75000"/>
                      </a:schemeClr>
                    </a:solidFill>
                  </a:rPr>
                  <a:t>Cooling</a:t>
                </a:r>
              </a:p>
              <a:p>
                <a:pPr algn="ctr">
                  <a:lnSpc>
                    <a:spcPts val="1600"/>
                  </a:lnSpc>
                  <a:buNone/>
                </a:pPr>
                <a:r>
                  <a:rPr lang="en-US" altLang="zh-TW" sz="1200" b="1" dirty="0">
                    <a:solidFill>
                      <a:schemeClr val="accent1">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18942" y="2664529"/>
                <a:ext cx="453502" cy="457948"/>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24645" y="2760203"/>
              <a:ext cx="457625" cy="457625"/>
            </a:xfrm>
            <a:prstGeom prst="rect">
              <a:avLst/>
            </a:prstGeom>
          </p:spPr>
        </p:pic>
        <p:grpSp>
          <p:nvGrpSpPr>
            <p:cNvPr id="55" name="群組 54">
              <a:extLst>
                <a:ext uri="{FF2B5EF4-FFF2-40B4-BE49-F238E27FC236}">
                  <a16:creationId xmlns:a16="http://schemas.microsoft.com/office/drawing/2014/main" id="{4DE2592A-D604-3D0C-91DE-89E097153AD3}"/>
                </a:ext>
              </a:extLst>
            </p:cNvPr>
            <p:cNvGrpSpPr/>
            <p:nvPr/>
          </p:nvGrpSpPr>
          <p:grpSpPr>
            <a:xfrm>
              <a:off x="6042134"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6"/>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6"/>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6"/>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7" name="群組 66">
              <a:extLst>
                <a:ext uri="{FF2B5EF4-FFF2-40B4-BE49-F238E27FC236}">
                  <a16:creationId xmlns:a16="http://schemas.microsoft.com/office/drawing/2014/main" id="{2ACCFAC3-9F0E-E898-1912-FE609FA239D1}"/>
                </a:ext>
              </a:extLst>
            </p:cNvPr>
            <p:cNvGrpSpPr/>
            <p:nvPr/>
          </p:nvGrpSpPr>
          <p:grpSpPr>
            <a:xfrm>
              <a:off x="3391706" y="3213984"/>
              <a:ext cx="1701655" cy="1948060"/>
              <a:chOff x="2959658" y="3137124"/>
              <a:chExt cx="1701655" cy="1948060"/>
            </a:xfrm>
          </p:grpSpPr>
          <p:sp>
            <p:nvSpPr>
              <p:cNvPr id="10" name="文字方塊 9">
                <a:extLst>
                  <a:ext uri="{FF2B5EF4-FFF2-40B4-BE49-F238E27FC236}">
                    <a16:creationId xmlns:a16="http://schemas.microsoft.com/office/drawing/2014/main" id="{B464E9F5-9B40-75AB-DE0A-F06FADB1761B}"/>
                  </a:ext>
                </a:extLst>
              </p:cNvPr>
              <p:cNvSpPr txBox="1"/>
              <p:nvPr/>
            </p:nvSpPr>
            <p:spPr>
              <a:xfrm>
                <a:off x="2959658" y="3137124"/>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089725" y="4437012"/>
                <a:ext cx="860849" cy="576164"/>
              </a:xfrm>
              <a:prstGeom prst="rect">
                <a:avLst/>
              </a:prstGeom>
              <a:solidFill>
                <a:schemeClr val="accent3">
                  <a:lumMod val="20000"/>
                  <a:lumOff val="80000"/>
                </a:schemeClr>
              </a:solidFill>
              <a:ln w="25400">
                <a:solidFill>
                  <a:schemeClr val="bg1">
                    <a:lumMod val="75000"/>
                    <a:alpha val="60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067944" y="4017614"/>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b="1" dirty="0">
                    <a:solidFill>
                      <a:schemeClr val="accent1">
                        <a:lumMod val="75000"/>
                      </a:schemeClr>
                    </a:solidFill>
                  </a:rPr>
                  <a:t>Power</a:t>
                </a:r>
                <a:br>
                  <a:rPr lang="en-US" altLang="zh-TW" sz="1200" b="1" dirty="0">
                    <a:solidFill>
                      <a:schemeClr val="accent1">
                        <a:lumMod val="75000"/>
                      </a:schemeClr>
                    </a:solidFill>
                  </a:rPr>
                </a:br>
                <a:r>
                  <a:rPr lang="en-US" altLang="zh-TW" sz="1200" b="1"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7"/>
              <a:stretch>
                <a:fillRect/>
              </a:stretch>
            </p:blipFill>
            <p:spPr>
              <a:xfrm>
                <a:off x="4149593" y="4519128"/>
                <a:ext cx="435648"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159605" y="4471437"/>
                <a:ext cx="694443" cy="325715"/>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152605" y="3334721"/>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152605" y="3717478"/>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159604" y="4009156"/>
                <a:ext cx="431789"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678214" y="4004964"/>
                <a:ext cx="333552"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gr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3163548910"/>
              </p:ext>
            </p:extLst>
          </p:nvPr>
        </p:nvGraphicFramePr>
        <p:xfrm>
          <a:off x="5989476" y="908720"/>
          <a:ext cx="2088282" cy="1815483"/>
        </p:xfrm>
        <a:graphic>
          <a:graphicData uri="http://schemas.openxmlformats.org/drawingml/2006/table">
            <a:tbl>
              <a:tblPr firstRow="1" bandRow="1">
                <a:tableStyleId>{5C22544A-7EE6-4342-B048-85BDC9FD1C3A}</a:tableStyleId>
              </a:tblPr>
              <a:tblGrid>
                <a:gridCol w="2088282">
                  <a:extLst>
                    <a:ext uri="{9D8B030D-6E8A-4147-A177-3AD203B41FA5}">
                      <a16:colId xmlns:a16="http://schemas.microsoft.com/office/drawing/2014/main" val="4512040"/>
                    </a:ext>
                  </a:extLst>
                </a:gridCol>
              </a:tblGrid>
              <a:tr h="3024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452236196"/>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132145302"/>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584017267"/>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7108361"/>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61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65849749"/>
                  </a:ext>
                </a:extLst>
              </a:tr>
            </a:tbl>
          </a:graphicData>
        </a:graphic>
      </p:graphicFrame>
      <p:sp>
        <p:nvSpPr>
          <p:cNvPr id="71" name="圖說文字: 直線 70">
            <a:extLst>
              <a:ext uri="{FF2B5EF4-FFF2-40B4-BE49-F238E27FC236}">
                <a16:creationId xmlns:a16="http://schemas.microsoft.com/office/drawing/2014/main" id="{08C5454B-5544-DF83-0D81-16F49BC3CFC7}"/>
              </a:ext>
            </a:extLst>
          </p:cNvPr>
          <p:cNvSpPr/>
          <p:nvPr/>
        </p:nvSpPr>
        <p:spPr>
          <a:xfrm flipH="1">
            <a:off x="5933156" y="875476"/>
            <a:ext cx="2232248" cy="1915696"/>
          </a:xfrm>
          <a:prstGeom prst="borderCallout1">
            <a:avLst>
              <a:gd name="adj1" fmla="val 51349"/>
              <a:gd name="adj2" fmla="val 97160"/>
              <a:gd name="adj3" fmla="val 87426"/>
              <a:gd name="adj4" fmla="val 130412"/>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178110"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93" name="箭號: 左-右雙向 92">
            <a:extLst>
              <a:ext uri="{FF2B5EF4-FFF2-40B4-BE49-F238E27FC236}">
                <a16:creationId xmlns:a16="http://schemas.microsoft.com/office/drawing/2014/main" id="{3B4E4F7A-91C2-D010-038A-A5232C7206A6}"/>
              </a:ext>
            </a:extLst>
          </p:cNvPr>
          <p:cNvSpPr/>
          <p:nvPr/>
        </p:nvSpPr>
        <p:spPr>
          <a:xfrm rot="5400000">
            <a:off x="3839417" y="4353117"/>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871445" y="5098268"/>
            <a:ext cx="513385" cy="218152"/>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08" name="群組 107">
            <a:extLst>
              <a:ext uri="{FF2B5EF4-FFF2-40B4-BE49-F238E27FC236}">
                <a16:creationId xmlns:a16="http://schemas.microsoft.com/office/drawing/2014/main" id="{8B856D10-59CD-C186-CB30-9D364A137D47}"/>
              </a:ext>
            </a:extLst>
          </p:cNvPr>
          <p:cNvGrpSpPr/>
          <p:nvPr/>
        </p:nvGrpSpPr>
        <p:grpSpPr>
          <a:xfrm>
            <a:off x="7296515" y="2348880"/>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pSp>
        <p:nvGrpSpPr>
          <p:cNvPr id="121" name="群組 120">
            <a:extLst>
              <a:ext uri="{FF2B5EF4-FFF2-40B4-BE49-F238E27FC236}">
                <a16:creationId xmlns:a16="http://schemas.microsoft.com/office/drawing/2014/main" id="{36983A45-DB7C-E93D-5E70-3FFBBB5E9B31}"/>
              </a:ext>
            </a:extLst>
          </p:cNvPr>
          <p:cNvGrpSpPr/>
          <p:nvPr/>
        </p:nvGrpSpPr>
        <p:grpSpPr>
          <a:xfrm>
            <a:off x="107504" y="1285245"/>
            <a:ext cx="2713240" cy="1064454"/>
            <a:chOff x="478913" y="980728"/>
            <a:chExt cx="2713240" cy="1064454"/>
          </a:xfrm>
        </p:grpSpPr>
        <p:sp>
          <p:nvSpPr>
            <p:cNvPr id="119" name="文字方塊 118">
              <a:extLst>
                <a:ext uri="{FF2B5EF4-FFF2-40B4-BE49-F238E27FC236}">
                  <a16:creationId xmlns:a16="http://schemas.microsoft.com/office/drawing/2014/main" id="{CA381C43-436B-65A1-4841-1037CA2C52E4}"/>
                </a:ext>
              </a:extLst>
            </p:cNvPr>
            <p:cNvSpPr txBox="1"/>
            <p:nvPr/>
          </p:nvSpPr>
          <p:spPr>
            <a:xfrm>
              <a:off x="1316001" y="980728"/>
              <a:ext cx="1757294" cy="874985"/>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r>
                <a:rPr lang="en-US" altLang="zh-TW" sz="1000" dirty="0">
                  <a:solidFill>
                    <a:schemeClr val="bg1"/>
                  </a:solidFill>
                </a:rPr>
                <a:t>GPU</a:t>
              </a: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478913" y="187027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r>
                <a:rPr lang="zh-TW" altLang="en-US" sz="1000" b="1" dirty="0">
                  <a:solidFill>
                    <a:schemeClr val="bg1"/>
                  </a:solidFill>
                </a:rPr>
                <a:t>  </a:t>
              </a:r>
              <a:r>
                <a:rPr lang="en-US" altLang="zh-TW" sz="1000" b="1" dirty="0">
                  <a:solidFill>
                    <a:schemeClr val="bg1"/>
                  </a:solidFill>
                </a:rPr>
                <a:t>(CCL)</a:t>
              </a: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599747" y="980729"/>
              <a:ext cx="605575" cy="874984"/>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dirty="0">
                  <a:solidFill>
                    <a:schemeClr val="bg1"/>
                  </a:solidFill>
                </a:rPr>
                <a:t>Chip</a:t>
              </a: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518153" y="1205189"/>
              <a:ext cx="605575" cy="191921"/>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Logic Die</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2238233" y="1198916"/>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403648" y="1637707"/>
              <a:ext cx="1525631" cy="161193"/>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403647" y="1446256"/>
              <a:ext cx="1525631" cy="161193"/>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699206" y="1404934"/>
              <a:ext cx="452972" cy="382866"/>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Logic</a:t>
              </a:r>
            </a:p>
            <a:p>
              <a:pPr algn="ctr">
                <a:lnSpc>
                  <a:spcPts val="1600"/>
                </a:lnSpc>
                <a:buNone/>
              </a:pPr>
              <a:r>
                <a:rPr lang="en-US" altLang="zh-TW" sz="1000" dirty="0">
                  <a:solidFill>
                    <a:schemeClr val="tx2"/>
                  </a:solidFill>
                </a:rPr>
                <a:t>Die</a:t>
              </a:r>
            </a:p>
          </p:txBody>
        </p:sp>
      </p:gr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463</TotalTime>
  <Words>5296</Words>
  <Application>Microsoft Office PowerPoint</Application>
  <PresentationFormat>如螢幕大小 (4:3)</PresentationFormat>
  <Paragraphs>970</Paragraphs>
  <Slides>19</Slides>
  <Notes>17</Notes>
  <HiddenSlides>0</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19</vt:i4>
      </vt:variant>
    </vt:vector>
  </HeadingPairs>
  <TitlesOfParts>
    <vt:vector size="32"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1658</cp:revision>
  <cp:lastPrinted>2024-07-30T01:44:15Z</cp:lastPrinted>
  <dcterms:created xsi:type="dcterms:W3CDTF">2019-11-08T03:01:47Z</dcterms:created>
  <dcterms:modified xsi:type="dcterms:W3CDTF">2026-07-06T09:04:08Z</dcterms:modified>
</cp:coreProperties>
</file>