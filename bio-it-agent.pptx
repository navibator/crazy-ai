
<file path=[Content_Types].xml><?xml version="1.0" encoding="utf-8"?>
<Types xmlns="http://schemas.openxmlformats.org/package/2006/content-types"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3459" r:id="rId2"/>
    <p:sldId id="3517" r:id="rId3"/>
    <p:sldId id="3472" r:id="rId4"/>
    <p:sldId id="3518" r:id="rId5"/>
    <p:sldId id="3521" r:id="rId6"/>
    <p:sldId id="3519" r:id="rId7"/>
    <p:sldId id="3520" r:id="rId8"/>
  </p:sldIdLst>
  <p:sldSz cx="9144000" cy="6858000" type="screen4x3"/>
  <p:notesSz cx="6797675" cy="992505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emm 3 Technical Report" id="{30F6892D-1922-4A88-A82D-8CD0653C5411}">
          <p14:sldIdLst>
            <p14:sldId id="3459"/>
            <p14:sldId id="3517"/>
            <p14:sldId id="3472"/>
            <p14:sldId id="3518"/>
            <p14:sldId id="3521"/>
            <p14:sldId id="3519"/>
            <p14:sldId id="352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147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EF1DDEA-D49D-B2A5-9D83-8BDFFC6C721F}" name="Allen Ni(倪士凱)" initials="AN" userId="S::ani@centrilliontech.com.tw::64a9ee61-01eb-41d1-8925-9f522fa76fb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E6F2"/>
    <a:srgbClr val="FF0000"/>
    <a:srgbClr val="FFFF99"/>
    <a:srgbClr val="E3C0AB"/>
    <a:srgbClr val="F3E4DB"/>
    <a:srgbClr val="FFCC99"/>
    <a:srgbClr val="CBDCA8"/>
    <a:srgbClr val="C5D8A0"/>
    <a:srgbClr val="CCFF66"/>
    <a:srgbClr val="DBFF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727" autoAdjust="0"/>
    <p:restoredTop sz="38667" autoAdjust="0"/>
  </p:normalViewPr>
  <p:slideViewPr>
    <p:cSldViewPr>
      <p:cViewPr>
        <p:scale>
          <a:sx n="100" d="100"/>
          <a:sy n="100" d="100"/>
        </p:scale>
        <p:origin x="1428" y="594"/>
      </p:cViewPr>
      <p:guideLst>
        <p:guide orient="horz" pos="2160"/>
        <p:guide pos="1474"/>
      </p:guideLst>
    </p:cSldViewPr>
  </p:slideViewPr>
  <p:outlineViewPr>
    <p:cViewPr>
      <p:scale>
        <a:sx n="33" d="100"/>
        <a:sy n="33" d="100"/>
      </p:scale>
      <p:origin x="0" y="-1075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96" d="100"/>
          <a:sy n="96" d="100"/>
        </p:scale>
        <p:origin x="278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8/10/relationships/authors" Target="author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8509AA70-DCA8-F2B3-665C-D289623E162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2" y="0"/>
            <a:ext cx="2945659" cy="497976"/>
          </a:xfrm>
          <a:prstGeom prst="rect">
            <a:avLst/>
          </a:prstGeom>
        </p:spPr>
        <p:txBody>
          <a:bodyPr vert="horz" lIns="91430" tIns="45714" rIns="91430" bIns="45714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60D9017-2A20-36CB-3124-1CE24A164FF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5" y="0"/>
            <a:ext cx="2945659" cy="497976"/>
          </a:xfrm>
          <a:prstGeom prst="rect">
            <a:avLst/>
          </a:prstGeom>
        </p:spPr>
        <p:txBody>
          <a:bodyPr vert="horz" lIns="91430" tIns="45714" rIns="91430" bIns="45714" rtlCol="0"/>
          <a:lstStyle>
            <a:lvl1pPr algn="r">
              <a:defRPr sz="1200"/>
            </a:lvl1pPr>
          </a:lstStyle>
          <a:p>
            <a:fld id="{982F7CBC-87DD-4F69-8F50-7ED68F7FF790}" type="datetimeFigureOut">
              <a:rPr lang="zh-TW" altLang="en-US" smtClean="0"/>
              <a:t>2026/7/22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2E2BC4B-E97F-2930-F9D4-22EF7E0E14E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2" y="9427077"/>
            <a:ext cx="2945659" cy="497975"/>
          </a:xfrm>
          <a:prstGeom prst="rect">
            <a:avLst/>
          </a:prstGeom>
        </p:spPr>
        <p:txBody>
          <a:bodyPr vert="horz" lIns="91430" tIns="45714" rIns="91430" bIns="45714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9105500-21C2-E70A-A08C-9E9E3094A4E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5" y="9427077"/>
            <a:ext cx="2945659" cy="497975"/>
          </a:xfrm>
          <a:prstGeom prst="rect">
            <a:avLst/>
          </a:prstGeom>
        </p:spPr>
        <p:txBody>
          <a:bodyPr vert="horz" lIns="91430" tIns="45714" rIns="91430" bIns="45714" rtlCol="0" anchor="b"/>
          <a:lstStyle>
            <a:lvl1pPr algn="r">
              <a:defRPr sz="1200"/>
            </a:lvl1pPr>
          </a:lstStyle>
          <a:p>
            <a:fld id="{30EF305C-901E-49EC-B839-B172F948820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1901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945659" cy="496253"/>
          </a:xfrm>
          <a:prstGeom prst="rect">
            <a:avLst/>
          </a:prstGeom>
        </p:spPr>
        <p:txBody>
          <a:bodyPr vert="horz" lIns="91430" tIns="45714" rIns="91430" bIns="45714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0445" y="1"/>
            <a:ext cx="2945659" cy="496253"/>
          </a:xfrm>
          <a:prstGeom prst="rect">
            <a:avLst/>
          </a:prstGeom>
        </p:spPr>
        <p:txBody>
          <a:bodyPr vert="horz" lIns="91430" tIns="45714" rIns="91430" bIns="45714" rtlCol="0"/>
          <a:lstStyle>
            <a:lvl1pPr algn="r">
              <a:defRPr sz="1200"/>
            </a:lvl1pPr>
          </a:lstStyle>
          <a:p>
            <a:fld id="{863167AA-796B-4B6A-95ED-1C0BCB3E5802}" type="datetimeFigureOut">
              <a:rPr lang="zh-TW" altLang="en-US" smtClean="0"/>
              <a:t>2026/7/22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0" tIns="45714" rIns="91430" bIns="45714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79768" y="4714400"/>
            <a:ext cx="5438140" cy="4466272"/>
          </a:xfrm>
          <a:prstGeom prst="rect">
            <a:avLst/>
          </a:prstGeom>
        </p:spPr>
        <p:txBody>
          <a:bodyPr vert="horz" lIns="91430" tIns="45714" rIns="91430" bIns="45714" rtlCol="0"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2" y="9427075"/>
            <a:ext cx="2945659" cy="496253"/>
          </a:xfrm>
          <a:prstGeom prst="rect">
            <a:avLst/>
          </a:prstGeom>
        </p:spPr>
        <p:txBody>
          <a:bodyPr vert="horz" lIns="91430" tIns="45714" rIns="91430" bIns="45714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0445" y="9427075"/>
            <a:ext cx="2945659" cy="496253"/>
          </a:xfrm>
          <a:prstGeom prst="rect">
            <a:avLst/>
          </a:prstGeom>
        </p:spPr>
        <p:txBody>
          <a:bodyPr vert="horz" lIns="91430" tIns="45714" rIns="91430" bIns="45714" rtlCol="0" anchor="b"/>
          <a:lstStyle>
            <a:lvl1pPr algn="r">
              <a:defRPr sz="1200"/>
            </a:lvl1pPr>
          </a:lstStyle>
          <a:p>
            <a:fld id="{E3A6CE5E-F349-486D-8749-82EF2AD71F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6009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A6CE5E-F349-486D-8749-82EF2AD71FA8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97421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4B811-902A-94AB-AABB-4CC1382C7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32B768C-5222-29ED-3563-1AFFE32A73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1FC8048-7B6E-7E1E-EC2B-CCC4CC9FF3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4A622D0-F740-070B-33AA-93A0D57A4D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A6CE5E-F349-486D-8749-82EF2AD71FA8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43567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87095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32101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頁尾版面配置區 4">
            <a:extLst>
              <a:ext uri="{FF2B5EF4-FFF2-40B4-BE49-F238E27FC236}">
                <a16:creationId xmlns:a16="http://schemas.microsoft.com/office/drawing/2014/main" id="{F852660B-5776-4457-897C-22F48580809B}"/>
              </a:ext>
            </a:extLst>
          </p:cNvPr>
          <p:cNvSpPr txBox="1">
            <a:spLocks/>
          </p:cNvSpPr>
          <p:nvPr userDrawn="1"/>
        </p:nvSpPr>
        <p:spPr>
          <a:xfrm>
            <a:off x="0" y="6628025"/>
            <a:ext cx="9144000" cy="23521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ctr" defTabSz="914400" rtl="0" eaLnBrk="1" latinLnBrk="0" hangingPunct="1">
              <a:defRPr sz="1200" b="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2" r:id="rId2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  <p:hf hdr="0"/>
  <p:txStyles>
    <p:titleStyle>
      <a:lvl1pPr algn="l" defTabSz="914400" rtl="0" eaLnBrk="1" latinLnBrk="0" hangingPunct="1"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spcBef>
          <a:spcPct val="20000"/>
        </a:spcBef>
        <a:buClr>
          <a:schemeClr val="tx1"/>
        </a:buClr>
        <a:buFont typeface="Calibri" pitchFamily="34" charset="0"/>
        <a:buChar char="●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20000" indent="-360000" algn="l" defTabSz="914400" rtl="0" eaLnBrk="1" latinLnBrk="0" hangingPunct="1">
        <a:spcBef>
          <a:spcPct val="20000"/>
        </a:spcBef>
        <a:buClr>
          <a:schemeClr val="tx1"/>
        </a:buClr>
        <a:buFont typeface="Calibri" pitchFamily="34" charset="0"/>
        <a:buChar char="○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spcBef>
          <a:spcPct val="20000"/>
        </a:spcBef>
        <a:buClr>
          <a:schemeClr val="tx1"/>
        </a:buClr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40000" indent="-360000" algn="l" defTabSz="914400" rtl="0" eaLnBrk="1" latinLnBrk="0" hangingPunct="1">
        <a:spcBef>
          <a:spcPct val="20000"/>
        </a:spcBef>
        <a:buClr>
          <a:schemeClr val="tx1"/>
        </a:buClr>
        <a:buFont typeface="Arial" pitchFamily="34" charset="0"/>
        <a:buChar char="‒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spcBef>
          <a:spcPct val="20000"/>
        </a:spcBef>
        <a:buClr>
          <a:schemeClr val="tx1"/>
        </a:buClr>
        <a:buFont typeface="Arial" pitchFamily="34" charset="0"/>
        <a:buChar char="‒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edskills.qingsonghealth.com/skills/spatial-transcriptomics-agent" TargetMode="External"/><Relationship Id="rId2" Type="http://schemas.openxmlformats.org/officeDocument/2006/relationships/hyperlink" Target="https://github.com/LiuLab-Bioelectronics-Harvard/STAgent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watch?v=aEUop05RINY" TargetMode="External"/><Relationship Id="rId4" Type="http://schemas.openxmlformats.org/officeDocument/2006/relationships/hyperlink" Target="https://www.linkedin.com/posts/zuwan-lin-545b1b214_spatial-transcriptomics-ai-agent-charts-hpsc-pancreas-activity-7314038901742927872-5MGP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html/2607.07467v1" TargetMode="External"/><Relationship Id="rId2" Type="http://schemas.openxmlformats.org/officeDocument/2006/relationships/hyperlink" Target="https://pubmed.ncbi.nlm.nih.gov/40236029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orxiv.org/content/10.64898/2025.12.11.693669" TargetMode="External"/><Relationship Id="rId2" Type="http://schemas.openxmlformats.org/officeDocument/2006/relationships/hyperlink" Target="https://www.insideprecisionmedicine.com/topics/oncology/novel-ai-tool-enables-spatial-quantification-of-tumor-biopsy-images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transgen.med.upenn.edu/research/ai-driven-spatial-omics/" TargetMode="External"/><Relationship Id="rId2" Type="http://schemas.openxmlformats.org/officeDocument/2006/relationships/hyperlink" Target="https://www.nature.com/articles/s41591-025-04060-4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ivicdb.org/" TargetMode="External"/><Relationship Id="rId2" Type="http://schemas.openxmlformats.org/officeDocument/2006/relationships/hyperlink" Target="https://www.oncokb.org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41754-1A01-9656-056C-4B624E45A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96A5153E-BD84-CB21-D566-B888A2F168CC}"/>
              </a:ext>
            </a:extLst>
          </p:cNvPr>
          <p:cNvSpPr txBox="1"/>
          <p:nvPr/>
        </p:nvSpPr>
        <p:spPr>
          <a:xfrm>
            <a:off x="3748825" y="5118283"/>
            <a:ext cx="164634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1200" b="1" dirty="0">
                <a:solidFill>
                  <a:schemeClr val="accent1"/>
                </a:solidFill>
              </a:rPr>
              <a:t>Centrillion Technology </a:t>
            </a:r>
          </a:p>
          <a:p>
            <a:pPr algn="ctr"/>
            <a:r>
              <a:rPr lang="en-US" altLang="zh-TW" sz="1200" b="1" dirty="0">
                <a:solidFill>
                  <a:schemeClr val="accent1"/>
                </a:solidFill>
              </a:rPr>
              <a:t>Bioinformation Dept. </a:t>
            </a:r>
          </a:p>
          <a:p>
            <a:pPr algn="ctr"/>
            <a:r>
              <a:rPr lang="en-US" altLang="zh-TW" sz="1400" dirty="0">
                <a:solidFill>
                  <a:schemeClr val="accent1"/>
                </a:solidFill>
              </a:rPr>
              <a:t>Allen &amp; Felix</a:t>
            </a:r>
          </a:p>
          <a:p>
            <a:pPr algn="ctr"/>
            <a:r>
              <a:rPr lang="en-US" altLang="zh-TW" sz="1000" dirty="0">
                <a:solidFill>
                  <a:schemeClr val="accent1"/>
                </a:solidFill>
              </a:rPr>
              <a:t>2026/05/21</a:t>
            </a:r>
            <a:endParaRPr lang="zh-TW" altLang="en-US" sz="1000" dirty="0">
              <a:solidFill>
                <a:schemeClr val="accent1"/>
              </a:solidFill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18C77BE7-A2CA-16B9-32EC-F267B3A21EBE}"/>
              </a:ext>
            </a:extLst>
          </p:cNvPr>
          <p:cNvSpPr txBox="1"/>
          <p:nvPr/>
        </p:nvSpPr>
        <p:spPr>
          <a:xfrm>
            <a:off x="809581" y="1500267"/>
            <a:ext cx="7524837" cy="1467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b="1" dirty="0"/>
              <a:t>BIO-IT</a:t>
            </a:r>
            <a:r>
              <a:rPr lang="zh-TW" altLang="en-US" sz="4000" b="1" dirty="0"/>
              <a:t> </a:t>
            </a:r>
            <a:r>
              <a:rPr lang="en-US" altLang="zh-TW" sz="4000" b="1" dirty="0"/>
              <a:t>Agent</a:t>
            </a:r>
          </a:p>
          <a:p>
            <a:pPr defTabSz="4857750">
              <a:lnSpc>
                <a:spcPts val="400"/>
              </a:lnSpc>
            </a:pPr>
            <a:r>
              <a:rPr lang="zh-TW" altLang="en-US" sz="1000" b="1" dirty="0"/>
              <a:t> </a:t>
            </a:r>
            <a:r>
              <a:rPr lang="en-US" altLang="zh-TW" sz="1000" b="1" dirty="0"/>
              <a:t>	2026</a:t>
            </a:r>
          </a:p>
          <a:p>
            <a:pPr defTabSz="6727825">
              <a:tabLst>
                <a:tab pos="2332038" algn="l"/>
              </a:tabLst>
            </a:pPr>
            <a:endParaRPr lang="en-US" altLang="zh-TW" sz="1200" b="1" dirty="0"/>
          </a:p>
          <a:p>
            <a:pPr defTabSz="6727825">
              <a:tabLst>
                <a:tab pos="2332038" algn="l"/>
              </a:tabLst>
            </a:pPr>
            <a:endParaRPr lang="en-US" altLang="zh-TW" sz="1200" b="1" dirty="0">
              <a:solidFill>
                <a:schemeClr val="accent1">
                  <a:lumMod val="75000"/>
                </a:schemeClr>
              </a:solidFill>
            </a:endParaRPr>
          </a:p>
          <a:p>
            <a:pPr indent="541338" defTabSz="7269163">
              <a:tabLst>
                <a:tab pos="2955925" algn="l"/>
                <a:tab pos="5470525" algn="l"/>
              </a:tabLst>
            </a:pPr>
            <a:r>
              <a:rPr lang="en-US" altLang="zh-TW" sz="1200" b="1" dirty="0"/>
              <a:t>	</a:t>
            </a:r>
            <a:r>
              <a:rPr lang="en-US" altLang="zh-TW" sz="1200" b="1" dirty="0" err="1">
                <a:sym typeface="Wingdings" panose="05000000000000000000" pitchFamily="2" charset="2"/>
              </a:rPr>
              <a:t>Centrillion</a:t>
            </a:r>
            <a:r>
              <a:rPr lang="en-US" altLang="zh-TW" sz="1200" b="1" dirty="0">
                <a:sym typeface="Wingdings" panose="05000000000000000000" pitchFamily="2" charset="2"/>
              </a:rPr>
              <a:t> Tech	</a:t>
            </a:r>
            <a:r>
              <a:rPr lang="en-US" altLang="zh-TW" sz="1000" dirty="0">
                <a:sym typeface="Wingdings" panose="05000000000000000000" pitchFamily="2" charset="2"/>
              </a:rPr>
              <a:t>	Bio-Info Team</a:t>
            </a:r>
            <a:endParaRPr lang="zh-TW" altLang="en-US" sz="10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7609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EB19A21F-439B-649C-1202-64BBA3D06DB7}"/>
              </a:ext>
            </a:extLst>
          </p:cNvPr>
          <p:cNvSpPr txBox="1"/>
          <p:nvPr/>
        </p:nvSpPr>
        <p:spPr>
          <a:xfrm>
            <a:off x="251520" y="2852936"/>
            <a:ext cx="8640960" cy="3285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1800"/>
              </a:spcBef>
              <a:spcAft>
                <a:spcPts val="900"/>
              </a:spcAft>
              <a:buNone/>
            </a:pPr>
            <a:r>
              <a:rPr lang="zh-TW" altLang="zh-TW" sz="1000" b="1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STAgent 的四大核心運作機制</a:t>
            </a:r>
          </a:p>
          <a:p>
            <a:pPr marL="0" marR="0">
              <a:spcBef>
                <a:spcPts val="900"/>
              </a:spcBef>
              <a:spcAft>
                <a:spcPts val="1200"/>
              </a:spcAft>
              <a:buNone/>
            </a:pPr>
            <a:r>
              <a:rPr lang="zh-TW" altLang="zh-TW" sz="10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STAgent 之所以強大，在於它不是一個單純的聊天機器人，而是一個具備「眼、腦、手、智庫」的完整科學助手：</a:t>
            </a:r>
          </a:p>
          <a:p>
            <a:pPr marL="0" marR="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zh-TW" altLang="zh-TW" sz="1000" b="1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視覺推理（眼 - Visual Reasoning）：</a:t>
            </a:r>
            <a:br>
              <a:rPr lang="zh-TW" altLang="zh-TW" sz="10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zh-TW" sz="10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內建多模態視覺大模型（VLM），它能直接「看懂」空間聚類圖、高解析 H&amp;E 組織照片或細胞分布圖。它能自主識別出圖像中細胞的空間特徵（例如：早期細胞呈散落未組織狀，而後期會緊密聚集成群，重塑成熟的組織結構）。</a:t>
            </a:r>
          </a:p>
          <a:p>
            <a:pPr marL="0" marR="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zh-TW" altLang="zh-TW" sz="1000" b="1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動態程式碼生成與工具呼叫（手 - Code Generation &amp; Tool-Use）：</a:t>
            </a:r>
            <a:br>
              <a:rPr lang="zh-TW" altLang="zh-TW" sz="10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zh-TW" sz="10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當面臨複雜的生物信息任務（如數據預處理、空間鄰近度計算或基因插補）時，它會</a:t>
            </a:r>
            <a:r>
              <a:rPr lang="zh-TW" altLang="zh-TW" sz="1000" b="1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自主編寫 Python 程式碼</a:t>
            </a:r>
            <a:r>
              <a:rPr lang="zh-TW" altLang="zh-TW" sz="10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（調用 Scanpy、Squidpy、Tangram、STAligner 等專業生物資訊工具庫），直接在本機運行分析並產出圖表。 [</a:t>
            </a:r>
            <a:r>
              <a:rPr lang="zh-TW" altLang="zh-TW" sz="10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hlinkClick r:id="rId2"/>
              </a:rPr>
              <a:t>1</a:t>
            </a:r>
            <a:r>
              <a:rPr lang="zh-TW" altLang="zh-TW" sz="10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zh-TW" sz="10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hlinkClick r:id="rId3"/>
              </a:rPr>
              <a:t>2</a:t>
            </a:r>
            <a:r>
              <a:rPr lang="zh-TW" altLang="zh-TW" sz="10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]</a:t>
            </a:r>
          </a:p>
          <a:p>
            <a:pPr marL="0" marR="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zh-TW" altLang="zh-TW" sz="1000" b="1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實時文獻檢索與知識對齊（智庫 - Literature Retrieval &amp; RAG）：</a:t>
            </a:r>
            <a:br>
              <a:rPr lang="zh-TW" altLang="zh-TW" sz="10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zh-TW" sz="10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AI 發現某個空間特徵後，會動態連線至權威醫學資料庫，檢索同行評審（Peer-reviewed）的科學文獻。它能把實驗數據（如某個配體-受體的空間高度集中）與真實世界的醫學研究進行交叉比對，給出具備科學文獻支持的</a:t>
            </a:r>
            <a:r>
              <a:rPr lang="zh-TW" altLang="zh-TW" sz="1000" b="1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機制性解釋</a:t>
            </a:r>
            <a:r>
              <a:rPr lang="zh-TW" altLang="zh-TW" sz="10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。 [</a:t>
            </a:r>
            <a:r>
              <a:rPr lang="zh-TW" altLang="zh-TW" sz="10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hlinkClick r:id="rId4"/>
              </a:rPr>
              <a:t>1</a:t>
            </a:r>
            <a:r>
              <a:rPr lang="zh-TW" altLang="zh-TW" sz="10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zh-TW" sz="10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hlinkClick r:id="rId5"/>
              </a:rPr>
              <a:t>2</a:t>
            </a:r>
            <a:r>
              <a:rPr lang="zh-TW" altLang="zh-TW" sz="10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]</a:t>
            </a:r>
          </a:p>
          <a:p>
            <a:pPr marL="0" marR="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zh-TW" altLang="zh-TW" sz="1000" b="1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端到端報告與決策生成（腦 - End-to-End Automation）：</a:t>
            </a:r>
            <a:br>
              <a:rPr lang="zh-TW" altLang="zh-TW" sz="10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zh-TW" sz="10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最終，它會將上述的影像發現、數據分析圖表、文獻依據，整合提煉成一份具備高度可解釋性的完整科學或臨床診斷報告</a:t>
            </a:r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D0FCB7C8-D55B-C23C-EBA3-E4239EBFE35F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7713554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Architecture</a:t>
            </a:r>
            <a:endParaRPr lang="en-US" altLang="zh-TW" sz="2800" dirty="0"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  <a:sym typeface="Wingdings" panose="05000000000000000000" pitchFamily="2" charset="2"/>
            </a:endParaRPr>
          </a:p>
          <a:p>
            <a:pPr marL="285750" indent="-285750">
              <a:buFontTx/>
              <a:buChar char="-"/>
            </a:pPr>
            <a:endParaRPr lang="en-US" altLang="zh-TW" sz="1400" dirty="0">
              <a:latin typeface="Noto Sans HK" panose="020B0200000000000000" pitchFamily="34" charset="-120"/>
              <a:ea typeface="Noto Sans HK" panose="020B0200000000000000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6711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20B80-B722-2523-9202-3F21EBB14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5B9CD27E-9C1A-3219-6A05-1CA47876AE20}"/>
              </a:ext>
            </a:extLst>
          </p:cNvPr>
          <p:cNvSpPr txBox="1"/>
          <p:nvPr/>
        </p:nvSpPr>
        <p:spPr>
          <a:xfrm>
            <a:off x="845586" y="1120676"/>
            <a:ext cx="7452828" cy="166199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  <a:defRPr/>
            </a:pPr>
            <a:r>
              <a:rPr lang="en-US" altLang="zh-TW" sz="2400" dirty="0">
                <a:latin typeface="Noto Sans HK" panose="020B0200000000000000" pitchFamily="34" charset="-120"/>
                <a:ea typeface="Noto Sans HK" panose="020B0200000000000000" pitchFamily="34" charset="-120"/>
              </a:rPr>
              <a:t>Fine-Tunning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1400" dirty="0">
                <a:latin typeface="Noto Sans HK" panose="020B0200000000000000" pitchFamily="34" charset="-120"/>
                <a:ea typeface="Noto Sans HK" panose="020B0200000000000000" pitchFamily="34" charset="-120"/>
              </a:rPr>
              <a:t>Q&amp;A content: General Medical and Genotyping-Related Consultation.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1400" dirty="0">
                <a:latin typeface="Noto Sans HK" panose="020B0200000000000000" pitchFamily="34" charset="-120"/>
                <a:ea typeface="Noto Sans HK" panose="020B0200000000000000" pitchFamily="34" charset="-120"/>
              </a:rPr>
              <a:t>Format: </a:t>
            </a:r>
            <a:endParaRPr lang="en-US" altLang="zh-TW" dirty="0">
              <a:latin typeface="Noto Sans HK" panose="020B0200000000000000" pitchFamily="34" charset="-120"/>
              <a:ea typeface="Noto Sans HK" panose="020B0200000000000000" pitchFamily="34" charset="-12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TW" dirty="0">
              <a:latin typeface="Noto Sans HK" panose="020B0200000000000000" pitchFamily="34" charset="-120"/>
              <a:ea typeface="Noto Sans HK" panose="020B0200000000000000" pitchFamily="34" charset="-12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TW" sz="1400" dirty="0">
              <a:solidFill>
                <a:schemeClr val="bg1">
                  <a:lumMod val="50000"/>
                </a:schemeClr>
              </a:solidFill>
              <a:latin typeface="Noto Sans HK" panose="020B0200000000000000" pitchFamily="34" charset="-120"/>
              <a:ea typeface="Noto Sans HK" panose="020B0200000000000000" pitchFamily="34" charset="-12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64" name="標題 1">
            <a:extLst>
              <a:ext uri="{FF2B5EF4-FFF2-40B4-BE49-F238E27FC236}">
                <a16:creationId xmlns:a16="http://schemas.microsoft.com/office/drawing/2014/main" id="{94909093-0BFB-B658-A42D-64D3192A2420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7713554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Bio-IT AI Agent (</a:t>
            </a:r>
            <a:r>
              <a:rPr lang="en-US" altLang="zh-TW" sz="2800" dirty="0" err="1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Dr.BioByte</a:t>
            </a:r>
            <a:r>
              <a:rPr lang="en-US" altLang="zh-TW" sz="28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)</a:t>
            </a:r>
          </a:p>
          <a:p>
            <a:pPr marL="285750" indent="-285750">
              <a:buFontTx/>
              <a:buChar char="-"/>
            </a:pPr>
            <a:endParaRPr lang="en-US" altLang="zh-TW" sz="1400" dirty="0">
              <a:latin typeface="Noto Sans HK" panose="020B0200000000000000" pitchFamily="34" charset="-120"/>
              <a:ea typeface="Noto Sans HK" panose="020B0200000000000000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0648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2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A09C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3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5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2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A09C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2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A09C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allAtOnce"/>
      <p:bldP spid="2" grpId="1" uiExpand="1" build="allAtOnce"/>
      <p:bldP spid="2" grpId="2" uiExpand="1" build="allAtOnce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47373A5A-8B35-4E4C-4D4B-0AA5B5D35F64}"/>
              </a:ext>
            </a:extLst>
          </p:cNvPr>
          <p:cNvSpPr txBox="1"/>
          <p:nvPr/>
        </p:nvSpPr>
        <p:spPr>
          <a:xfrm>
            <a:off x="16396" y="0"/>
            <a:ext cx="4572000" cy="1284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900"/>
              </a:spcBef>
              <a:spcAft>
                <a:spcPts val="1200"/>
              </a:spcAft>
              <a:buNone/>
            </a:pPr>
            <a:r>
              <a:rPr lang="zh-TW" altLang="zh-TW" sz="1200" b="0" u="none" strike="noStrike" dirty="0">
                <a:effectLst/>
                <a:latin typeface="Google Sans"/>
              </a:rPr>
              <a:t>2025 年起，科學界已陸續發表了如 </a:t>
            </a:r>
            <a:r>
              <a:rPr lang="zh-TW" altLang="zh-TW" sz="1200" b="0" u="none" strike="noStrike" dirty="0">
                <a:effectLst/>
                <a:latin typeface="Google Sans"/>
                <a:hlinkClick r:id="rId2"/>
              </a:rPr>
              <a:t>STAgent</a:t>
            </a:r>
            <a:r>
              <a:rPr lang="zh-TW" altLang="zh-TW" sz="1200" b="0" u="none" strike="noStrike" dirty="0">
                <a:effectLst/>
                <a:latin typeface="Google Sans"/>
              </a:rPr>
              <a:t>、</a:t>
            </a:r>
            <a:r>
              <a:rPr lang="zh-TW" altLang="zh-TW" sz="1200" b="0" u="none" strike="noStrike" dirty="0">
                <a:effectLst/>
                <a:latin typeface="Google Sans"/>
                <a:hlinkClick r:id="rId3"/>
              </a:rPr>
              <a:t>SpaCellAgent</a:t>
            </a:r>
            <a:r>
              <a:rPr lang="zh-TW" altLang="zh-TW" sz="1200" b="0" u="none" strike="noStrike" dirty="0">
                <a:effectLst/>
                <a:latin typeface="Google Sans"/>
              </a:rPr>
              <a:t> 等突破性模型，證明了利用 AI Agent 自動化分析組織影像與空間定序數據、並給出臨床解讀的架構是完全走得通的。 [</a:t>
            </a:r>
            <a:r>
              <a:rPr lang="zh-TW" altLang="zh-TW" sz="1200" b="0" u="none" strike="noStrike" dirty="0">
                <a:effectLst/>
                <a:latin typeface="Google Sans"/>
                <a:hlinkClick r:id="rId2"/>
              </a:rPr>
              <a:t>1</a:t>
            </a:r>
            <a:r>
              <a:rPr lang="zh-TW" altLang="zh-TW" sz="1200" b="0" u="none" strike="noStrike" dirty="0">
                <a:effectLst/>
                <a:latin typeface="Google Sans"/>
              </a:rPr>
              <a:t>, </a:t>
            </a:r>
            <a:r>
              <a:rPr lang="zh-TW" altLang="zh-TW" sz="1200" b="0" u="none" strike="noStrike" dirty="0">
                <a:effectLst/>
                <a:latin typeface="Google Sans"/>
                <a:hlinkClick r:id="rId3"/>
              </a:rPr>
              <a:t>2</a:t>
            </a:r>
            <a:r>
              <a:rPr lang="zh-TW" altLang="zh-TW" sz="1200" b="0" u="none" strike="noStrike" dirty="0">
                <a:effectLst/>
                <a:latin typeface="Google Sans"/>
              </a:rPr>
              <a:t>]</a:t>
            </a:r>
          </a:p>
          <a:p>
            <a:pPr marL="0" marR="0">
              <a:spcBef>
                <a:spcPts val="900"/>
              </a:spcBef>
              <a:spcAft>
                <a:spcPts val="1200"/>
              </a:spcAft>
              <a:buNone/>
            </a:pPr>
            <a:r>
              <a:rPr lang="zh-TW" altLang="zh-TW" sz="1200" b="0" u="none" strike="noStrike" dirty="0">
                <a:effectLst/>
                <a:latin typeface="Google Sans"/>
              </a:rPr>
              <a:t>要實現這個極具潛力的構想，您的 AI Agent 需要具備以下底層架構，同時也必須克服相應的技術挑戰：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E52BC1B-AF24-9BC0-A0BC-F8E96F42D463}"/>
              </a:ext>
            </a:extLst>
          </p:cNvPr>
          <p:cNvSpPr txBox="1"/>
          <p:nvPr/>
        </p:nvSpPr>
        <p:spPr>
          <a:xfrm>
            <a:off x="395536" y="1518027"/>
            <a:ext cx="4572000" cy="1831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1800"/>
              </a:spcBef>
              <a:spcAft>
                <a:spcPts val="900"/>
              </a:spcAft>
              <a:buNone/>
            </a:pPr>
            <a:r>
              <a:rPr lang="zh-TW" altLang="zh-TW" sz="1500" b="1" u="none" strike="noStrike" dirty="0">
                <a:effectLst/>
                <a:latin typeface="Google Sans"/>
              </a:rPr>
              <a:t>核心架構：AI Agent 如何運作？</a:t>
            </a:r>
          </a:p>
          <a:p>
            <a:pPr marL="0" marR="0">
              <a:spcBef>
                <a:spcPts val="900"/>
              </a:spcBef>
              <a:spcAft>
                <a:spcPts val="1200"/>
              </a:spcAft>
              <a:buNone/>
            </a:pPr>
            <a:r>
              <a:rPr lang="zh-TW" altLang="zh-TW" sz="1200" b="0" u="none" strike="noStrike" dirty="0">
                <a:effectLst/>
                <a:latin typeface="Google Sans"/>
              </a:rPr>
              <a:t>您的問診 AI Agent 不能只靠一個 ChatGPT 類型的純文字模型，它必須是一個</a:t>
            </a:r>
            <a:r>
              <a:rPr lang="zh-TW" altLang="zh-TW" sz="1200" b="1" u="none" strike="noStrike" dirty="0">
                <a:effectLst/>
                <a:latin typeface="Google Sans"/>
              </a:rPr>
              <a:t>多模態的複合系統</a:t>
            </a:r>
            <a:r>
              <a:rPr lang="zh-TW" altLang="zh-TW" sz="1200" b="0" u="none" strike="noStrike" dirty="0">
                <a:effectLst/>
                <a:latin typeface="Google Sans"/>
              </a:rPr>
              <a:t>，通常包含以下三個核心層級</a:t>
            </a:r>
            <a:endParaRPr lang="en-US" altLang="zh-TW" sz="1200" b="0" u="none" strike="noStrike" dirty="0">
              <a:effectLst/>
              <a:latin typeface="Google Sans"/>
            </a:endParaRPr>
          </a:p>
          <a:p>
            <a:pPr marL="0" marR="0">
              <a:spcBef>
                <a:spcPts val="900"/>
              </a:spcBef>
              <a:spcAft>
                <a:spcPts val="1200"/>
              </a:spcAft>
              <a:buNone/>
            </a:pPr>
            <a:endParaRPr lang="en-US" altLang="zh-TW" sz="1200" dirty="0">
              <a:latin typeface="Google Sans"/>
            </a:endParaRPr>
          </a:p>
          <a:p>
            <a:pPr marL="0" marR="0">
              <a:spcBef>
                <a:spcPts val="900"/>
              </a:spcBef>
              <a:spcAft>
                <a:spcPts val="1200"/>
              </a:spcAft>
              <a:buNone/>
            </a:pPr>
            <a:r>
              <a:rPr lang="zh-TW" altLang="en-US" sz="1200" b="0" u="none" strike="noStrike">
                <a:effectLst/>
                <a:latin typeface="Google Sans"/>
              </a:rPr>
              <a:t>已經有的系統</a:t>
            </a:r>
            <a:endParaRPr lang="zh-TW" altLang="zh-TW" sz="1200" b="0" u="none" strike="noStrike" dirty="0">
              <a:effectLst/>
              <a:latin typeface="Google Sans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78FD5A1-81A3-FADA-268B-9B17C5FF48ED}"/>
              </a:ext>
            </a:extLst>
          </p:cNvPr>
          <p:cNvSpPr txBox="1"/>
          <p:nvPr/>
        </p:nvSpPr>
        <p:spPr>
          <a:xfrm>
            <a:off x="251520" y="4093403"/>
            <a:ext cx="3445024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*</a:t>
            </a:r>
            <a:r>
              <a:rPr lang="zh-TW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感知與特徵提取層 (Perception Layer) </a:t>
            </a:r>
            <a:b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*</a:t>
            </a:r>
            <a:r>
              <a:rPr lang="zh-TW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病理大模型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視覺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): </a:t>
            </a:r>
            <a:r>
              <a:rPr lang="zh-TW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提取 H&amp;E 切片微環境特徵</a:t>
            </a:r>
            <a:b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*</a:t>
            </a:r>
            <a:r>
              <a:rPr lang="zh-TW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空間組學模型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數據): 識別細胞聚類與基因矩陣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B0F4FF4A-5E78-A356-45BB-108C224742C8}"/>
              </a:ext>
            </a:extLst>
          </p:cNvPr>
          <p:cNvSpPr txBox="1"/>
          <p:nvPr/>
        </p:nvSpPr>
        <p:spPr>
          <a:xfrm>
            <a:off x="251520" y="5054560"/>
            <a:ext cx="3445024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* </a:t>
            </a:r>
            <a:r>
              <a:rPr lang="zh-TW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思考與規劃大腦 (LLM Agent Brain)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* </a:t>
            </a:r>
            <a:r>
              <a:rPr lang="zh-TW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呼叫計算工具 (如 Scanpy / Seurat 跑分析)</a:t>
            </a:r>
            <a:b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*</a:t>
            </a:r>
            <a:r>
              <a:rPr lang="zh-TW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檢索醫學文獻 (RAG) 尋找特定突變與藥物關係 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BDE8CB52-CE31-2E02-2A59-3B2DE2F0888F}"/>
              </a:ext>
            </a:extLst>
          </p:cNvPr>
          <p:cNvSpPr txBox="1"/>
          <p:nvPr/>
        </p:nvSpPr>
        <p:spPr>
          <a:xfrm>
            <a:off x="713334" y="5848727"/>
            <a:ext cx="2281758" cy="46166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r>
              <a:rPr lang="zh-TW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精準醫療問診解答、腫瘤微環境圖表、治療建議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30D8ED11-C401-96A3-079D-669C4D65EE49}"/>
              </a:ext>
            </a:extLst>
          </p:cNvPr>
          <p:cNvSpPr txBox="1"/>
          <p:nvPr/>
        </p:nvSpPr>
        <p:spPr>
          <a:xfrm>
            <a:off x="745754" y="4768224"/>
            <a:ext cx="16124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zh-TW" sz="1200" dirty="0"/>
              <a:t> (多模態特徵對齊) </a:t>
            </a:r>
            <a:endParaRPr lang="en-US" altLang="zh-TW" sz="1200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D371D88D-D6D1-AB1B-14E0-25D37481F646}"/>
              </a:ext>
            </a:extLst>
          </p:cNvPr>
          <p:cNvSpPr txBox="1"/>
          <p:nvPr/>
        </p:nvSpPr>
        <p:spPr>
          <a:xfrm>
            <a:off x="716807" y="3328447"/>
            <a:ext cx="2278285" cy="46166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r>
              <a:rPr lang="zh-TW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病理圖片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空間定序 CSV/BAM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</a:t>
            </a:r>
            <a:r>
              <a:rPr lang="zh-TW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臨床問題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0300F95D-991D-C471-C060-F16E57122A6A}"/>
              </a:ext>
            </a:extLst>
          </p:cNvPr>
          <p:cNvSpPr txBox="1"/>
          <p:nvPr/>
        </p:nvSpPr>
        <p:spPr>
          <a:xfrm>
            <a:off x="2843808" y="2726055"/>
            <a:ext cx="45767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/>
              <a:t>https://pubmed.ncbi.nlm.nih.gov/40236029/</a:t>
            </a:r>
            <a:endParaRPr lang="zh-TW" altLang="en-US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61E43B6B-E35B-6BDF-36C9-A4EBF6B0DB38}"/>
              </a:ext>
            </a:extLst>
          </p:cNvPr>
          <p:cNvSpPr txBox="1"/>
          <p:nvPr/>
        </p:nvSpPr>
        <p:spPr>
          <a:xfrm>
            <a:off x="3203848" y="3244334"/>
            <a:ext cx="45767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https://arxiv.org/html/2607.07467v1</a:t>
            </a:r>
          </a:p>
        </p:txBody>
      </p:sp>
    </p:spTree>
    <p:extLst>
      <p:ext uri="{BB962C8B-B14F-4D97-AF65-F5344CB8AC3E}">
        <p14:creationId xmlns:p14="http://schemas.microsoft.com/office/powerpoint/2010/main" val="23595964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B98FC580-18F7-3B6C-2674-F6724C62BCE7}"/>
              </a:ext>
            </a:extLst>
          </p:cNvPr>
          <p:cNvSpPr txBox="1"/>
          <p:nvPr/>
        </p:nvSpPr>
        <p:spPr>
          <a:xfrm>
            <a:off x="251520" y="1586032"/>
            <a:ext cx="864096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zh-TW" altLang="zh-TW" sz="1200" b="1" u="none" strike="noStrike" dirty="0">
                <a:effectLst/>
                <a:latin typeface="Google Sans"/>
              </a:rPr>
              <a:t>視覺感知（Vision）：</a:t>
            </a:r>
            <a:r>
              <a:rPr lang="zh-TW" altLang="zh-TW" sz="1200" b="0" u="none" strike="noStrike" dirty="0">
                <a:effectLst/>
                <a:latin typeface="Google Sans"/>
              </a:rPr>
              <a:t> 使用現成的</a:t>
            </a:r>
            <a:r>
              <a:rPr lang="zh-TW" altLang="zh-TW" sz="1200" b="1" u="none" strike="noStrike" dirty="0">
                <a:effectLst/>
                <a:latin typeface="Google Sans"/>
              </a:rPr>
              <a:t>病理學基座大模型（Pathology Foundation Models）</a:t>
            </a:r>
            <a:r>
              <a:rPr lang="zh-TW" altLang="zh-TW" sz="1200" b="0" u="none" strike="noStrike" dirty="0">
                <a:effectLst/>
                <a:latin typeface="Google Sans"/>
              </a:rPr>
              <a:t>（例如百萬級 H&amp;E 切片訓練出的 </a:t>
            </a:r>
            <a:r>
              <a:rPr lang="zh-TW" altLang="zh-TW" sz="1200" b="0" u="none" strike="noStrike" dirty="0">
                <a:effectLst/>
                <a:latin typeface="Google Sans"/>
                <a:hlinkClick r:id="rId2"/>
              </a:rPr>
              <a:t>SMMILe</a:t>
            </a:r>
            <a:r>
              <a:rPr lang="zh-TW" altLang="zh-TW" sz="1200" b="0" u="none" strike="noStrike" dirty="0">
                <a:effectLst/>
                <a:latin typeface="Google Sans"/>
              </a:rPr>
              <a:t> 或 </a:t>
            </a:r>
            <a:r>
              <a:rPr lang="zh-TW" altLang="zh-TW" sz="1200" b="0" u="none" strike="noStrike" dirty="0">
                <a:effectLst/>
                <a:latin typeface="Google Sans"/>
                <a:hlinkClick r:id="rId3"/>
              </a:rPr>
              <a:t>TissueCraftAI</a:t>
            </a:r>
            <a:r>
              <a:rPr lang="zh-TW" altLang="zh-TW" sz="1200" b="0" u="none" strike="noStrike" dirty="0">
                <a:effectLst/>
                <a:latin typeface="Google Sans"/>
              </a:rPr>
              <a:t>），自動辨識組織切片高解析照片中的腫瘤區域、浸潤免疫細胞（如 T 細胞、巨噬細胞）以及基質結構。</a:t>
            </a:r>
            <a:endParaRPr lang="en-US" altLang="zh-TW" dirty="0"/>
          </a:p>
          <a:p>
            <a:pPr marL="228600" indent="-228600">
              <a:buAutoNum type="arabicPeriod"/>
            </a:pPr>
            <a:endParaRPr lang="en-US" altLang="zh-TW" sz="1200" b="1" u="none" strike="noStrike" dirty="0">
              <a:effectLst/>
              <a:latin typeface="Google Sans"/>
            </a:endParaRPr>
          </a:p>
          <a:p>
            <a:pPr marL="228600" indent="-228600">
              <a:buAutoNum type="arabicPeriod"/>
            </a:pPr>
            <a:r>
              <a:rPr lang="zh-TW" altLang="zh-TW" sz="1200" b="1" u="none" strike="noStrike" dirty="0">
                <a:effectLst/>
                <a:latin typeface="Google Sans"/>
              </a:rPr>
              <a:t>空間數據對齊（Spatial Alignment）：</a:t>
            </a:r>
            <a:r>
              <a:rPr lang="zh-TW" altLang="zh-TW" sz="1200" b="0" u="none" strike="noStrike" dirty="0">
                <a:effectLst/>
                <a:latin typeface="Google Sans"/>
              </a:rPr>
              <a:t> 將空間定序（Spatial Transcriptomics, ST）數據與高解析照片進行</a:t>
            </a:r>
            <a:r>
              <a:rPr lang="zh-TW" altLang="zh-TW" sz="1200" b="1" u="none" strike="noStrike" dirty="0">
                <a:effectLst/>
                <a:latin typeface="Google Sans"/>
              </a:rPr>
              <a:t>空間座標對齊（Spatial Registration）</a:t>
            </a:r>
            <a:r>
              <a:rPr lang="zh-TW" altLang="zh-TW" sz="1200" b="0" u="none" strike="noStrike" dirty="0">
                <a:effectLst/>
                <a:latin typeface="Google Sans"/>
              </a:rPr>
              <a:t>。AI 會知道這張照片的哪個細胞「精確對應」哪一組基因表現矩陣（RNA / 蛋白質表現量）。</a:t>
            </a:r>
            <a:endParaRPr lang="en-US" altLang="zh-TW" dirty="0"/>
          </a:p>
          <a:p>
            <a:pPr marL="228600" indent="-228600">
              <a:buAutoNum type="arabicPeriod"/>
            </a:pPr>
            <a:endParaRPr lang="en-US" altLang="zh-TW" sz="1200" b="1" u="none" strike="noStrike" dirty="0">
              <a:effectLst/>
              <a:latin typeface="Google Sans"/>
            </a:endParaRPr>
          </a:p>
          <a:p>
            <a:pPr marL="228600" indent="-228600">
              <a:buAutoNum type="arabicPeriod"/>
            </a:pPr>
            <a:r>
              <a:rPr lang="zh-TW" altLang="zh-TW" sz="1200" b="1" u="none" strike="noStrike" dirty="0">
                <a:effectLst/>
                <a:latin typeface="Google Sans"/>
              </a:rPr>
              <a:t>Agent 規劃與工具呼叫（Tool-Use）：</a:t>
            </a:r>
            <a:r>
              <a:rPr lang="zh-TW" altLang="zh-TW" sz="1200" b="0" u="none" strike="noStrike" dirty="0">
                <a:effectLst/>
                <a:latin typeface="Google Sans"/>
              </a:rPr>
              <a:t> 當醫生問「該患者是否對 PD-1 免疫療法有耐藥性？」時，Agent 大腦會</a:t>
            </a:r>
            <a:r>
              <a:rPr lang="zh-TW" altLang="zh-TW" sz="1200" b="1" u="none" strike="noStrike" dirty="0">
                <a:effectLst/>
                <a:latin typeface="Google Sans"/>
              </a:rPr>
              <a:t>自動生成並執行 R 或 Python 程式碼</a:t>
            </a:r>
            <a:r>
              <a:rPr lang="zh-TW" altLang="zh-TW" sz="1200" b="0" u="none" strike="noStrike" dirty="0">
                <a:effectLst/>
                <a:latin typeface="Google Sans"/>
              </a:rPr>
              <a:t>（利用本機的生物信息工具如 Squidpy/Scanpy），分析腫瘤微環境（TME）中的配體-受體配對（如 PD-L1/PD-1 的空間鄰近距離），並將結果回傳給大模型。</a:t>
            </a:r>
            <a:endParaRPr lang="en-US" altLang="zh-TW" dirty="0"/>
          </a:p>
          <a:p>
            <a:pPr marL="228600" indent="-228600">
              <a:buAutoNum type="arabicPeriod"/>
            </a:pPr>
            <a:endParaRPr lang="en-US" altLang="zh-TW" sz="1200" b="1" u="none" strike="noStrike" dirty="0">
              <a:effectLst/>
              <a:latin typeface="Google Sans"/>
            </a:endParaRPr>
          </a:p>
          <a:p>
            <a:pPr marL="228600" indent="-228600">
              <a:buAutoNum type="arabicPeriod"/>
            </a:pPr>
            <a:r>
              <a:rPr lang="zh-TW" altLang="zh-TW" sz="1200" b="1" u="none" strike="noStrike" dirty="0">
                <a:effectLst/>
                <a:latin typeface="Google Sans"/>
              </a:rPr>
              <a:t>知識檢索（RAG）：</a:t>
            </a:r>
            <a:r>
              <a:rPr lang="zh-TW" altLang="zh-TW" sz="1200" b="0" u="none" strike="noStrike" dirty="0">
                <a:effectLst/>
                <a:latin typeface="Google Sans"/>
              </a:rPr>
              <a:t> Agent 透過文獻檢索系統，比對 FDA 最新批准的靶向藥物與臨床指南，將定序發現的空間特徵（如特定的免疫逃逸生態位）轉化為人類醫生看得懂的</a:t>
            </a:r>
            <a:r>
              <a:rPr lang="zh-TW" altLang="zh-TW" sz="1200" b="1" u="none" strike="noStrike" dirty="0">
                <a:effectLst/>
                <a:latin typeface="Google Sans"/>
              </a:rPr>
              <a:t>問診解答與治療建議</a:t>
            </a:r>
            <a:r>
              <a:rPr lang="zh-TW" altLang="zh-TW" sz="1200" b="0" u="none" strike="noStrike" dirty="0">
                <a:effectLst/>
                <a:latin typeface="Google Sans"/>
              </a:rPr>
              <a:t>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041367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5EF5722E-A223-C66A-1248-5F2D626557BC}"/>
              </a:ext>
            </a:extLst>
          </p:cNvPr>
          <p:cNvSpPr txBox="1"/>
          <p:nvPr/>
        </p:nvSpPr>
        <p:spPr>
          <a:xfrm>
            <a:off x="526579" y="2564904"/>
            <a:ext cx="7992888" cy="3547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1800"/>
              </a:spcBef>
              <a:spcAft>
                <a:spcPts val="900"/>
              </a:spcAft>
              <a:buNone/>
            </a:pPr>
            <a:r>
              <a:rPr lang="zh-TW" altLang="zh-TW" sz="1500" b="1" u="none" strike="noStrike" dirty="0">
                <a:effectLst/>
                <a:latin typeface="Google Sans"/>
              </a:rPr>
              <a:t>三、 開發此系統面臨的重大挑戰</a:t>
            </a:r>
          </a:p>
          <a:p>
            <a:pPr marL="0" marR="0">
              <a:spcBef>
                <a:spcPts val="900"/>
              </a:spcBef>
              <a:spcAft>
                <a:spcPts val="1200"/>
              </a:spcAft>
              <a:buNone/>
            </a:pPr>
            <a:r>
              <a:rPr lang="zh-TW" altLang="zh-TW" sz="1200" b="0" u="none" strike="noStrike" dirty="0">
                <a:effectLst/>
                <a:latin typeface="Google Sans"/>
              </a:rPr>
              <a:t>雖然技術上可行，但在落地為「臨床問診 Agent」時，您必須解決以下四大瓶頸：</a:t>
            </a:r>
          </a:p>
          <a:p>
            <a:pPr marL="0" marR="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TW" altLang="zh-TW" sz="1200" b="1" u="none" strike="noStrike" dirty="0">
                <a:effectLst/>
                <a:latin typeface="Google Sans"/>
              </a:rPr>
              <a:t>數據極度龐大與多模態對齊：</a:t>
            </a:r>
            <a:r>
              <a:rPr lang="zh-TW" altLang="zh-TW" sz="1200" b="0" u="none" strike="noStrike" dirty="0">
                <a:effectLst/>
                <a:latin typeface="Google Sans"/>
              </a:rPr>
              <a:t> 單張 WSI（全切片影像）高達數 GB，空間定序數據更是包含數萬個基因與百萬個空間座標。如何建立輕量化的嵌入向量（Embedding）讓大模型能夠同時「看圖」又「讀矩陣」，需要極高的運算資源與優秀的演算法。</a:t>
            </a:r>
          </a:p>
          <a:p>
            <a:pPr marL="0" marR="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TW" altLang="zh-TW" sz="1200" b="1" u="none" strike="noStrike" dirty="0">
                <a:effectLst/>
                <a:latin typeface="Google Sans"/>
              </a:rPr>
              <a:t>幻覺（Hallucination）與醫療安全：</a:t>
            </a:r>
            <a:r>
              <a:rPr lang="zh-TW" altLang="zh-TW" sz="1200" b="0" u="none" strike="noStrike" dirty="0">
                <a:effectLst/>
                <a:latin typeface="Google Sans"/>
              </a:rPr>
              <a:t> 大語言模型常會胡言亂語（幻覺）。在精準醫療中，一個錯誤的基因解讀可能導致錯誤的用藥建議。系統必須設計</a:t>
            </a:r>
            <a:r>
              <a:rPr lang="zh-TW" altLang="zh-TW" sz="1200" b="1" u="none" strike="noStrike" dirty="0">
                <a:effectLst/>
                <a:latin typeface="Google Sans"/>
              </a:rPr>
              <a:t>嚴格的確定性規則審查（Deterministic Guards）</a:t>
            </a:r>
            <a:r>
              <a:rPr lang="zh-TW" altLang="zh-TW" sz="1200" b="0" u="none" strike="noStrike" dirty="0">
                <a:effectLst/>
                <a:latin typeface="Google Sans"/>
              </a:rPr>
              <a:t>，限制 Agent 只能基於真實分析數據與經核准的臨床指南（如 NCCN Guidelines）進行回答。</a:t>
            </a:r>
          </a:p>
          <a:p>
            <a:pPr marL="0" marR="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TW" altLang="zh-TW" sz="1200" b="1" u="none" strike="noStrike" dirty="0">
                <a:effectLst/>
                <a:latin typeface="Google Sans"/>
              </a:rPr>
              <a:t>黑盒子與可解釋性（Explainability）：</a:t>
            </a:r>
            <a:r>
              <a:rPr lang="zh-TW" altLang="zh-TW" sz="1200" b="0" u="none" strike="noStrike" dirty="0">
                <a:effectLst/>
                <a:latin typeface="Google Sans"/>
              </a:rPr>
              <a:t> 醫生不會盲目相信 AI 給出的診斷。您的 Agent 在回答時，</a:t>
            </a:r>
            <a:r>
              <a:rPr lang="zh-TW" altLang="zh-TW" sz="1200" b="1" u="none" strike="noStrike" dirty="0">
                <a:effectLst/>
                <a:latin typeface="Google Sans"/>
              </a:rPr>
              <a:t>必須標註出「它是基於切片照片的哪一個像素區域」以及「哪一組空間基因群」得出此結論的</a:t>
            </a:r>
            <a:r>
              <a:rPr lang="zh-TW" altLang="zh-TW" sz="1200" b="0" u="none" strike="noStrike" dirty="0">
                <a:effectLst/>
                <a:latin typeface="Google Sans"/>
              </a:rPr>
              <a:t>。</a:t>
            </a:r>
          </a:p>
          <a:p>
            <a:pPr marL="0" marR="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TW" altLang="zh-TW" sz="1200" b="1" u="none" strike="noStrike" dirty="0">
                <a:effectLst/>
                <a:latin typeface="Google Sans"/>
              </a:rPr>
              <a:t>醫療隱私與法規（HIPAA / GDPR）：</a:t>
            </a:r>
            <a:r>
              <a:rPr lang="zh-TW" altLang="zh-TW" sz="1200" b="0" u="none" strike="noStrike" dirty="0">
                <a:effectLst/>
                <a:latin typeface="Google Sans"/>
              </a:rPr>
              <a:t> 基因與病理切片屬於最高級別的隱私。正如前文所述，這個 AI Agent </a:t>
            </a:r>
            <a:r>
              <a:rPr lang="zh-TW" altLang="zh-TW" sz="1200" b="1" u="none" strike="noStrike" dirty="0">
                <a:effectLst/>
                <a:latin typeface="Google Sans"/>
              </a:rPr>
              <a:t>強烈建議部署在 Edge（邊緣端/醫院內網環境）</a:t>
            </a:r>
            <a:r>
              <a:rPr lang="zh-TW" altLang="zh-TW" sz="1200" b="0" u="none" strike="noStrike" dirty="0">
                <a:effectLst/>
                <a:latin typeface="Google Sans"/>
              </a:rPr>
              <a:t>，不可將未去識別化的患者原始數據上傳至公共雲端 API。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4039491-48B6-B08A-DD0A-FF7617DAEE2F}"/>
              </a:ext>
            </a:extLst>
          </p:cNvPr>
          <p:cNvSpPr txBox="1"/>
          <p:nvPr/>
        </p:nvSpPr>
        <p:spPr>
          <a:xfrm>
            <a:off x="539552" y="260648"/>
            <a:ext cx="8352928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1800"/>
              </a:spcBef>
              <a:spcAft>
                <a:spcPts val="900"/>
              </a:spcAft>
              <a:buNone/>
            </a:pPr>
            <a:r>
              <a:rPr lang="zh-TW" altLang="zh-TW" sz="1500" b="1" u="none" strike="noStrike" dirty="0">
                <a:effectLst/>
                <a:latin typeface="Google Sans"/>
              </a:rPr>
              <a:t>二、 目前已實現的技術可行性（您的立足點）</a:t>
            </a:r>
          </a:p>
          <a:p>
            <a:pPr marL="0" marR="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TW" altLang="zh-TW" sz="1200" b="1" u="none" strike="noStrike" dirty="0">
                <a:effectLst/>
                <a:latin typeface="Google Sans"/>
              </a:rPr>
              <a:t>空間虛擬預測（Virtual Proteomics/Transcriptomics）：</a:t>
            </a:r>
            <a:r>
              <a:rPr lang="zh-TW" altLang="zh-TW" sz="1200" b="0" u="none" strike="noStrike" dirty="0">
                <a:effectLst/>
                <a:latin typeface="Google Sans"/>
              </a:rPr>
              <a:t> 2026 最新技術如 Nature 發表的 </a:t>
            </a:r>
            <a:r>
              <a:rPr lang="zh-TW" altLang="zh-TW" sz="1200" b="0" u="none" strike="noStrike" dirty="0">
                <a:effectLst/>
                <a:latin typeface="Google Sans"/>
                <a:hlinkClick r:id="rId2"/>
              </a:rPr>
              <a:t>HEX 模型</a:t>
            </a:r>
            <a:r>
              <a:rPr lang="zh-TW" altLang="zh-TW" sz="1200" b="0" u="none" strike="noStrike" dirty="0">
                <a:effectLst/>
                <a:latin typeface="Google Sans"/>
              </a:rPr>
              <a:t>，已經能做到</a:t>
            </a:r>
            <a:r>
              <a:rPr lang="zh-TW" altLang="zh-TW" sz="1200" b="1" u="none" strike="noStrike" dirty="0">
                <a:effectLst/>
                <a:latin typeface="Google Sans"/>
              </a:rPr>
              <a:t>光看 H&amp;E 影像就預測出 40 種空間蛋白質表現</a:t>
            </a:r>
            <a:r>
              <a:rPr lang="zh-TW" altLang="zh-TW" sz="1200" b="0" u="none" strike="noStrike" dirty="0">
                <a:effectLst/>
                <a:latin typeface="Google Sans"/>
              </a:rPr>
              <a:t>，並提升了 24% 的免疫治療效果預測準確率。這意味著影像與數據的跨模態互補性極高。 [</a:t>
            </a:r>
            <a:r>
              <a:rPr lang="zh-TW" altLang="zh-TW" sz="1200" b="0" u="none" strike="noStrike" dirty="0">
                <a:effectLst/>
                <a:latin typeface="Google Sans"/>
                <a:hlinkClick r:id="rId2"/>
              </a:rPr>
              <a:t>1</a:t>
            </a:r>
            <a:r>
              <a:rPr lang="zh-TW" altLang="zh-TW" sz="1200" b="0" u="none" strike="noStrike" dirty="0">
                <a:effectLst/>
                <a:latin typeface="Google Sans"/>
              </a:rPr>
              <a:t>, </a:t>
            </a:r>
            <a:r>
              <a:rPr lang="zh-TW" altLang="zh-TW" sz="1200" b="0" u="none" strike="noStrike" dirty="0">
                <a:effectLst/>
                <a:latin typeface="Google Sans"/>
                <a:hlinkClick r:id="rId3"/>
              </a:rPr>
              <a:t>2</a:t>
            </a:r>
            <a:r>
              <a:rPr lang="zh-TW" altLang="zh-TW" sz="1200" b="0" u="none" strike="noStrike" dirty="0">
                <a:effectLst/>
                <a:latin typeface="Google Sans"/>
              </a:rPr>
              <a:t>]</a:t>
            </a:r>
          </a:p>
          <a:p>
            <a:pPr marL="0" marR="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TW" altLang="zh-TW" sz="1200" b="1" u="none" strike="noStrike" dirty="0">
                <a:effectLst/>
                <a:latin typeface="Google Sans"/>
              </a:rPr>
              <a:t>自動化科學研究助手：</a:t>
            </a:r>
            <a:r>
              <a:rPr lang="zh-TW" altLang="zh-TW" sz="1200" b="0" u="none" strike="noStrike" dirty="0">
                <a:effectLst/>
                <a:latin typeface="Google Sans"/>
              </a:rPr>
              <a:t> STAgent 的實驗證明，AI Agent 能在幾分鐘內完成人類專家需要花費數週的空間生物學圖譜解讀、富集分析與文獻對齊，大大降低了高門檻數據的使用難度。</a:t>
            </a:r>
          </a:p>
        </p:txBody>
      </p:sp>
    </p:spTree>
    <p:extLst>
      <p:ext uri="{BB962C8B-B14F-4D97-AF65-F5344CB8AC3E}">
        <p14:creationId xmlns:p14="http://schemas.microsoft.com/office/powerpoint/2010/main" val="3928785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字方塊 38">
            <a:extLst>
              <a:ext uri="{FF2B5EF4-FFF2-40B4-BE49-F238E27FC236}">
                <a16:creationId xmlns:a16="http://schemas.microsoft.com/office/drawing/2014/main" id="{BC8BA039-385B-D587-79A1-F21AE63171E1}"/>
              </a:ext>
            </a:extLst>
          </p:cNvPr>
          <p:cNvSpPr txBox="1"/>
          <p:nvPr/>
        </p:nvSpPr>
        <p:spPr>
          <a:xfrm>
            <a:off x="179512" y="260648"/>
            <a:ext cx="4176464" cy="496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1800"/>
              </a:spcBef>
              <a:spcAft>
                <a:spcPts val="900"/>
              </a:spcAft>
              <a:buNone/>
            </a:pPr>
            <a:r>
              <a:rPr lang="zh-TW" altLang="zh-TW" sz="1500" b="1" u="none" strike="noStrike" dirty="0">
                <a:effectLst/>
                <a:latin typeface="Google Sans"/>
              </a:rPr>
              <a:t>四、 建議的切入步驟（How to Start?）</a:t>
            </a:r>
          </a:p>
          <a:p>
            <a:pPr marL="0" marR="0">
              <a:spcBef>
                <a:spcPts val="900"/>
              </a:spcBef>
              <a:spcAft>
                <a:spcPts val="1200"/>
              </a:spcAft>
              <a:buNone/>
            </a:pPr>
            <a:r>
              <a:rPr lang="zh-TW" altLang="zh-TW" sz="1200" b="0" u="none" strike="noStrike" dirty="0">
                <a:effectLst/>
                <a:latin typeface="Google Sans"/>
              </a:rPr>
              <a:t>如果您要動手建立這個 Agent，建議不要從頭訓練大模型，而是採取</a:t>
            </a:r>
            <a:r>
              <a:rPr lang="zh-TW" altLang="zh-TW" sz="1200" b="1" u="none" strike="noStrike" dirty="0">
                <a:effectLst/>
                <a:latin typeface="Google Sans"/>
              </a:rPr>
              <a:t>組合拳策略</a:t>
            </a:r>
            <a:r>
              <a:rPr lang="zh-TW" altLang="zh-TW" sz="1200" b="0" u="none" strike="noStrike" dirty="0">
                <a:effectLst/>
                <a:latin typeface="Google Sans"/>
              </a:rPr>
              <a:t>：</a:t>
            </a:r>
          </a:p>
          <a:p>
            <a:pPr marL="0" marR="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zh-TW" altLang="zh-TW" sz="1200" b="1" u="none" strike="noStrike" dirty="0">
                <a:effectLst/>
                <a:latin typeface="Google Sans"/>
              </a:rPr>
              <a:t>第一步：選用開源病理基礎模型</a:t>
            </a:r>
            <a:br>
              <a:rPr lang="zh-TW" altLang="zh-TW" sz="1200" b="0" u="none" strike="noStrike" dirty="0">
                <a:effectLst/>
                <a:latin typeface="Google Sans"/>
              </a:rPr>
            </a:br>
            <a:r>
              <a:rPr lang="zh-TW" altLang="zh-TW" sz="1200" b="0" u="none" strike="noStrike" dirty="0">
                <a:effectLst/>
                <a:latin typeface="Google Sans"/>
              </a:rPr>
              <a:t>先引入像是 PLAM 或其他醫學影像開源模型，負責將高解析組織照片轉化為 AI 看得懂的特徵向量。</a:t>
            </a:r>
          </a:p>
          <a:p>
            <a:pPr marL="0" marR="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zh-TW" altLang="zh-TW" sz="1200" b="1" u="none" strike="noStrike" dirty="0">
                <a:effectLst/>
                <a:latin typeface="Google Sans"/>
              </a:rPr>
              <a:t>第二步：建立 Tool-Anvil（工具庫）</a:t>
            </a:r>
            <a:br>
              <a:rPr lang="zh-TW" altLang="zh-TW" sz="1200" b="0" u="none" strike="noStrike" dirty="0">
                <a:effectLst/>
                <a:latin typeface="Google Sans"/>
              </a:rPr>
            </a:br>
            <a:r>
              <a:rPr lang="zh-TW" altLang="zh-TW" sz="1200" b="0" u="none" strike="noStrike" dirty="0">
                <a:effectLst/>
                <a:latin typeface="Google Sans"/>
              </a:rPr>
              <a:t>寫好分析空間定序常用的 Python 腳本範本（例如計算細胞鄰近度、空間聚類分析）。讓大模型作為 Agent，學會根據問題去「呼叫」這些腳本。</a:t>
            </a:r>
          </a:p>
          <a:p>
            <a:pPr marL="0" marR="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zh-TW" altLang="zh-TW" sz="1200" b="1" u="none" strike="noStrike" dirty="0">
                <a:effectLst/>
                <a:latin typeface="Google Sans"/>
              </a:rPr>
              <a:t>第三步：精準醫療知識庫建置（RAG）</a:t>
            </a:r>
            <a:br>
              <a:rPr lang="zh-TW" altLang="zh-TW" sz="1200" b="0" u="none" strike="noStrike" dirty="0">
                <a:effectLst/>
                <a:latin typeface="Google Sans"/>
              </a:rPr>
            </a:br>
            <a:r>
              <a:rPr lang="zh-TW" altLang="zh-TW" sz="1200" b="0" u="none" strike="noStrike" dirty="0">
                <a:effectLst/>
                <a:latin typeface="Google Sans"/>
              </a:rPr>
              <a:t>將 </a:t>
            </a:r>
            <a:r>
              <a:rPr lang="zh-TW" altLang="zh-TW" sz="1200" b="0" u="none" strike="noStrike" dirty="0">
                <a:effectLst/>
                <a:latin typeface="Google Sans"/>
                <a:hlinkClick r:id="rId2"/>
              </a:rPr>
              <a:t>OncoKB</a:t>
            </a:r>
            <a:r>
              <a:rPr lang="zh-TW" altLang="zh-TW" sz="1200" b="0" u="none" strike="noStrike" dirty="0">
                <a:effectLst/>
                <a:latin typeface="Google Sans"/>
              </a:rPr>
              <a:t>、</a:t>
            </a:r>
            <a:r>
              <a:rPr lang="zh-TW" altLang="zh-TW" sz="1200" b="0" u="none" strike="noStrike" dirty="0">
                <a:effectLst/>
                <a:latin typeface="Google Sans"/>
                <a:hlinkClick r:id="rId3"/>
              </a:rPr>
              <a:t>Civic</a:t>
            </a:r>
            <a:r>
              <a:rPr lang="zh-TW" altLang="zh-TW" sz="1200" b="0" u="none" strike="noStrike" dirty="0">
                <a:effectLst/>
                <a:latin typeface="Google Sans"/>
              </a:rPr>
              <a:t> 等權威癌症基因治療資料庫以及臨床指南向量化，作為 Agent 的專屬大腦智庫。</a:t>
            </a:r>
          </a:p>
          <a:p>
            <a:pPr marL="0" marR="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zh-TW" altLang="zh-TW" sz="1200" b="1" u="none" strike="noStrike" dirty="0">
                <a:effectLst/>
                <a:latin typeface="Google Sans"/>
              </a:rPr>
              <a:t>第四步：提示詞工程（Prompt Engineering）與多 Agent 協同</a:t>
            </a:r>
            <a:br>
              <a:rPr lang="zh-TW" altLang="zh-TW" sz="1200" b="0" u="none" strike="noStrike" dirty="0">
                <a:effectLst/>
                <a:latin typeface="Google Sans"/>
              </a:rPr>
            </a:br>
            <a:r>
              <a:rPr lang="zh-TW" altLang="zh-TW" sz="1200" b="0" u="none" strike="noStrike" dirty="0">
                <a:effectLst/>
                <a:latin typeface="Google Sans"/>
              </a:rPr>
              <a:t>採用類似 SpaCellAgent 的架構，設計三個 AI 角色互評：</a:t>
            </a:r>
            <a:r>
              <a:rPr lang="zh-TW" altLang="zh-TW" sz="1200" b="1" u="none" strike="noStrike" dirty="0">
                <a:effectLst/>
                <a:latin typeface="Google Sans"/>
              </a:rPr>
              <a:t>「生信分析 Agent」</a:t>
            </a:r>
            <a:r>
              <a:rPr lang="zh-TW" altLang="zh-TW" sz="1200" b="0" u="none" strike="noStrike" dirty="0">
                <a:effectLst/>
                <a:latin typeface="Google Sans"/>
              </a:rPr>
              <a:t>負責跑數據、</a:t>
            </a:r>
            <a:r>
              <a:rPr lang="zh-TW" altLang="zh-TW" sz="1200" b="1" u="none" strike="noStrike" dirty="0">
                <a:effectLst/>
                <a:latin typeface="Google Sans"/>
              </a:rPr>
              <a:t>「病理影像 Agent」</a:t>
            </a:r>
            <a:r>
              <a:rPr lang="zh-TW" altLang="zh-TW" sz="1200" b="0" u="none" strike="noStrike" dirty="0">
                <a:effectLst/>
                <a:latin typeface="Google Sans"/>
              </a:rPr>
              <a:t>負責看圖、</a:t>
            </a:r>
            <a:r>
              <a:rPr lang="zh-TW" altLang="zh-TW" sz="1200" b="1" u="none" strike="noStrike" dirty="0">
                <a:effectLst/>
                <a:latin typeface="Google Sans"/>
              </a:rPr>
              <a:t>「臨床諮詢 Agent」</a:t>
            </a:r>
            <a:r>
              <a:rPr lang="zh-TW" altLang="zh-TW" sz="1200" b="0" u="none" strike="noStrike" dirty="0">
                <a:effectLst/>
                <a:latin typeface="Google Sans"/>
              </a:rPr>
              <a:t>負責整合兩者並用溫和直白的語言回答問診。</a:t>
            </a:r>
          </a:p>
        </p:txBody>
      </p:sp>
    </p:spTree>
    <p:extLst>
      <p:ext uri="{BB962C8B-B14F-4D97-AF65-F5344CB8AC3E}">
        <p14:creationId xmlns:p14="http://schemas.microsoft.com/office/powerpoint/2010/main" val="32378408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theme/theme1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alpha val="70000"/>
          </a:schemeClr>
        </a:solidFill>
        <a:ln w="12700">
          <a:solidFill>
            <a:schemeClr val="bg1">
              <a:lumMod val="75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簡報1" id="{3349570C-DE3B-48BB-8671-1853FC12C45D}" vid="{424F00FA-23EC-402E-8D8B-A6A8EB048657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TM02900688[[fn=多面向]]</Template>
  <TotalTime>182</TotalTime>
  <Words>1777</Words>
  <Application>Microsoft Office PowerPoint</Application>
  <PresentationFormat>如螢幕大小 (4:3)</PresentationFormat>
  <Paragraphs>59</Paragraphs>
  <Slides>7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4" baseType="lpstr">
      <vt:lpstr>Google Sans</vt:lpstr>
      <vt:lpstr>Noto Sans HK</vt:lpstr>
      <vt:lpstr>微軟正黑體</vt:lpstr>
      <vt:lpstr>Arial</vt:lpstr>
      <vt:lpstr>Calibri</vt:lpstr>
      <vt:lpstr>Wingdings</vt:lpstr>
      <vt:lpstr>Default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Report</dc:title>
  <dc:creator>Felix Tien(田慶豐)</dc:creator>
  <cp:lastModifiedBy>Allen Ni(倪士凱)</cp:lastModifiedBy>
  <cp:revision>1776</cp:revision>
  <cp:lastPrinted>2024-07-30T01:44:15Z</cp:lastPrinted>
  <dcterms:created xsi:type="dcterms:W3CDTF">2019-11-08T03:01:47Z</dcterms:created>
  <dcterms:modified xsi:type="dcterms:W3CDTF">2026-07-22T09:31:27Z</dcterms:modified>
</cp:coreProperties>
</file>