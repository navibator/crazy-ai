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561" r:id="rId2"/>
    <p:sldId id="3560" r:id="rId3"/>
    <p:sldId id="3563" r:id="rId4"/>
    <p:sldId id="3565" r:id="rId5"/>
    <p:sldId id="3572" r:id="rId6"/>
    <p:sldId id="3574" r:id="rId7"/>
    <p:sldId id="3566" r:id="rId8"/>
    <p:sldId id="3571" r:id="rId9"/>
    <p:sldId id="3564" r:id="rId10"/>
    <p:sldId id="3573" r:id="rId11"/>
    <p:sldId id="3570" r:id="rId12"/>
    <p:sldId id="3569" r:id="rId13"/>
    <p:sldId id="3568" r:id="rId1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7363-197C-7B45-FA55-45B9238D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CEA96C-8D1D-7C80-76B8-FC279CEAF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491E57-7AA1-6217-1528-27FAD567A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0B9E17-8A5B-7323-A004-9838D9EEC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0711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7" Type="http://schemas.openxmlformats.org/officeDocument/2006/relationships/image" Target="../media/image141.png"/><Relationship Id="rId12" Type="http://schemas.openxmlformats.org/officeDocument/2006/relationships/image" Target="../media/image14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32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openxmlformats.org/officeDocument/2006/relationships/hyperlink" Target="https://www.google.com/search?q=GDN%E8%88%87EDA%2C+%E8%AA%B0%E6%8F%90%E5%87%BA%E7%9A%84%3F&amp;sca_esv=ff747ee1c8df38fc&amp;rlz=1C1KNTJ_zh-TWTW1073TW1073&amp;sxsrf=APpeQnsN9efzRGuJ9OiPcwrgCmELj7BtSQ%3A1792310514629&amp;ei=wXvUauOpFfDQ2roPmKfusQY&amp;biw=1920&amp;bih=945&amp;uact=5&amp;sclient=gws-wiz-serp&amp;fbs=ABfTbFVyMZGZf1hfvX9uKjN_-G8cxpBkeIeqYwoCbfNVc4vKEzfJsZm6euHh2bPtNTAJBYD8HI5K-4_bUf9wsDMuQjv_7v17u85a9_mhuoivOS3lJjYQdwryKQmWssk3Jx4oB_xB3o8hZ4Zcq7a0DP4PBYIT3hoTUUQh4vqswNlUUmqqw8N3uHGGoAVi-dqcUFMTkZA7evE0Aku_K1wTnxr-Qpeza8qFUw&amp;aep=10&amp;ntc=1&amp;mstk=AUtExfC0wt-io3zoro_1-_uiMnkmtMi9-Ut7UbEWV1Q-oYKvvJpHHZ0XxClwltyxY6iC4XAEgDcMjX1sIkcLjdrA20gexSF0-GK-fw1KkuHYR61meP7lIJrkLonaY3a-5kphqorPPOJhLQBC3e7loXDoTqo5fNlH3hMWmlHzKM8-uXCjrpHck7PjazJ3nyt3MoapCnYIFijfP_1W9plfsN98KsVQKwEHq9EqPiuMrkGFWWBv48fwzOZeXuj6M2TU0dta09A38mEdASRVJ7e9-fBw-0Kb-huvFwV2Mq0ivzFkN9eRzysTg9X7RtO-EdyFM0LyBQf3o99R6md1hg&amp;aioh=3&amp;csuir=1&amp;cs=0&amp;mtid=83zUavr3C_jZ1e8PzLmn0QY&amp;udm=50" TargetMode="External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428299" y="4149080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62610" y="2628037"/>
            <a:ext cx="887712" cy="13383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532574-8CED-E976-9B16-86AEF8A21C82}"/>
              </a:ext>
            </a:extLst>
          </p:cNvPr>
          <p:cNvSpPr/>
          <p:nvPr/>
        </p:nvSpPr>
        <p:spPr>
          <a:xfrm>
            <a:off x="5679875" y="4800388"/>
            <a:ext cx="547276" cy="194173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dirty="0">
                <a:solidFill>
                  <a:schemeClr val="accent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aseline="-25000" dirty="0">
                <a:solidFill>
                  <a:schemeClr val="accent2">
                    <a:lumMod val="50000"/>
                  </a:schemeClr>
                </a:solidFill>
                <a:ea typeface="微軟正黑體" panose="020B0604030504040204" pitchFamily="34" charset="-120"/>
              </a:rPr>
              <a:t>t=4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/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6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200" b="0" dirty="0">
                    <a:solidFill>
                      <a:prstClr val="black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altLang="zh-TW" sz="12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m:rPr>
                                <m:nor/>
                              </m:rPr>
                              <a:rPr lang="en-US" altLang="zh-TW" sz="120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a:rPr lang="en-US" altLang="zh-TW" sz="1200" b="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eqArr>
                      </m:e>
                    </m:d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12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TW" sz="1200" baseline="-25000" dirty="0">
                  <a:solidFill>
                    <a:schemeClr val="tx1"/>
                  </a:solidFill>
                  <a:ea typeface="微軟正黑體" panose="020B0604030504040204" pitchFamily="34" charset="-120"/>
                </a:endParaRPr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/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1200" dirty="0"/>
                  <a:t> </a:t>
                </a:r>
                <a14:m>
                  <m:oMath xmlns:m="http://schemas.openxmlformats.org/officeDocument/2006/math"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borderBox>
                      <m:borderBox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  <m:e>
                            <m:r>
                              <a:rPr lang="zh-TW" altLang="en-US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zh-TW" altLang="en-US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borderBox>
                  </m:oMath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blipFill>
                <a:blip r:embed="rId7"/>
                <a:stretch>
                  <a:fillRect t="-82353" r="-2206" b="-1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1973011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RNN Form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52C71AD2-F34A-155E-DCB3-D6AA561DB6C0}"/>
              </a:ext>
            </a:extLst>
          </p:cNvPr>
          <p:cNvSpPr txBox="1"/>
          <p:nvPr/>
        </p:nvSpPr>
        <p:spPr>
          <a:xfrm>
            <a:off x="3923928" y="2047019"/>
            <a:ext cx="169036" cy="1070619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1973011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478247"/>
              </p:ext>
            </p:extLst>
          </p:nvPr>
        </p:nvGraphicFramePr>
        <p:xfrm>
          <a:off x="470843" y="1610897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inear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Eliminates growing KV cache by compressing pass context into a fixed-size state matrix.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326892"/>
              </p:ext>
            </p:extLst>
          </p:nvPr>
        </p:nvGraphicFramePr>
        <p:xfrm>
          <a:off x="161230" y="1610897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250368"/>
              </p:ext>
            </p:extLst>
          </p:nvPr>
        </p:nvGraphicFramePr>
        <p:xfrm>
          <a:off x="4249808" y="2052078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052078"/>
            <a:ext cx="166216" cy="1058435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accent4">
                  <a:lumMod val="20000"/>
                  <a:lumOff val="80000"/>
                  <a:alpha val="80000"/>
                </a:schemeClr>
              </a:gs>
              <a:gs pos="79000">
                <a:schemeClr val="accent2">
                  <a:lumMod val="20000"/>
                  <a:lumOff val="80000"/>
                  <a:alpha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198186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1973011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1648999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25" idx="1"/>
          </p:cNvCxnSpPr>
          <p:nvPr/>
        </p:nvCxnSpPr>
        <p:spPr>
          <a:xfrm>
            <a:off x="1043608" y="2668400"/>
            <a:ext cx="648072" cy="39688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1396971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2525444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146142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1543409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2922827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040661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139694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052078"/>
            <a:ext cx="166215" cy="10635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1740938"/>
            <a:ext cx="1065052" cy="17272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1 .  .  . </a:t>
            </a: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. . . d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926776"/>
              </p:ext>
            </p:extLst>
          </p:nvPr>
        </p:nvGraphicFramePr>
        <p:xfrm>
          <a:off x="2608707" y="2050838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2462020"/>
            <a:ext cx="256577" cy="256577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2416926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2446071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152491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2446675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11607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12478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2446071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11607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322484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2416924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24549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090127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091197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091198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1546356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235523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2668400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1170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2718229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2364921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1849035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324939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177198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1465832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12570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1170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209741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2590309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324939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25" idx="2"/>
            <a:endCxn id="3" idx="2"/>
          </p:cNvCxnSpPr>
          <p:nvPr/>
        </p:nvCxnSpPr>
        <p:spPr>
          <a:xfrm rot="5400000" flipH="1" flipV="1">
            <a:off x="3970206" y="928012"/>
            <a:ext cx="215981" cy="4591155"/>
          </a:xfrm>
          <a:prstGeom prst="curvedConnector3">
            <a:avLst>
              <a:gd name="adj1" fmla="val -105843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3001699" y="175698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9881FD1-E89A-69B3-F9B4-C70476E930ED}"/>
              </a:ext>
            </a:extLst>
          </p:cNvPr>
          <p:cNvSpPr txBox="1"/>
          <p:nvPr/>
        </p:nvSpPr>
        <p:spPr>
          <a:xfrm>
            <a:off x="1691680" y="2798996"/>
            <a:ext cx="181879" cy="532584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DC1205E8-0D90-14E7-BAAA-F590FDBAA6A0}"/>
              </a:ext>
            </a:extLst>
          </p:cNvPr>
          <p:cNvGrpSpPr/>
          <p:nvPr/>
        </p:nvGrpSpPr>
        <p:grpSpPr>
          <a:xfrm>
            <a:off x="735692" y="4036422"/>
            <a:ext cx="3548276" cy="2529572"/>
            <a:chOff x="972637" y="4139788"/>
            <a:chExt cx="3548276" cy="2529572"/>
          </a:xfrm>
        </p:grpSpPr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A76EF11-4673-3706-F320-6369BAA9D5CE}"/>
                </a:ext>
              </a:extLst>
            </p:cNvPr>
            <p:cNvSpPr txBox="1"/>
            <p:nvPr/>
          </p:nvSpPr>
          <p:spPr>
            <a:xfrm>
              <a:off x="2728758" y="5151081"/>
              <a:ext cx="766847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chemeClr val="accent4"/>
              </a:solidFill>
              <a:prstDash val="sysDash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7A3C9C8B-6856-ECA8-57F9-7952B30D100C}"/>
                </a:ext>
              </a:extLst>
            </p:cNvPr>
            <p:cNvSpPr txBox="1"/>
            <p:nvPr/>
          </p:nvSpPr>
          <p:spPr>
            <a:xfrm>
              <a:off x="1731421" y="6009764"/>
              <a:ext cx="752347" cy="653834"/>
            </a:xfrm>
            <a:prstGeom prst="rect">
              <a:avLst/>
            </a:prstGeom>
            <a:noFill/>
            <a:ln w="6350">
              <a:solidFill>
                <a:schemeClr val="accent4"/>
              </a:solidFill>
              <a:prstDash val="sysDash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A0F8FDBD-F57F-A85D-E887-212C105A5BEE}"/>
                </a:ext>
              </a:extLst>
            </p:cNvPr>
            <p:cNvSpPr txBox="1"/>
            <p:nvPr/>
          </p:nvSpPr>
          <p:spPr>
            <a:xfrm>
              <a:off x="2728759" y="5157192"/>
              <a:ext cx="766847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950ED34C-CD37-4726-B581-98340B559A15}"/>
                </a:ext>
              </a:extLst>
            </p:cNvPr>
            <p:cNvSpPr txBox="1"/>
            <p:nvPr/>
          </p:nvSpPr>
          <p:spPr>
            <a:xfrm>
              <a:off x="2728759" y="4934785"/>
              <a:ext cx="766847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t-1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78" name="文字方塊 77">
              <a:extLst>
                <a:ext uri="{FF2B5EF4-FFF2-40B4-BE49-F238E27FC236}">
                  <a16:creationId xmlns:a16="http://schemas.microsoft.com/office/drawing/2014/main" id="{A1CB3067-926E-43EE-A7D2-0AAF1FE29619}"/>
                </a:ext>
              </a:extLst>
            </p:cNvPr>
            <p:cNvSpPr txBox="1"/>
            <p:nvPr/>
          </p:nvSpPr>
          <p:spPr>
            <a:xfrm>
              <a:off x="2728759" y="4365104"/>
              <a:ext cx="766847" cy="185756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r>
                <a:rPr lang="en-US" altLang="zh-TW" sz="1200" baseline="-250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2" name="文字方塊 91">
              <a:extLst>
                <a:ext uri="{FF2B5EF4-FFF2-40B4-BE49-F238E27FC236}">
                  <a16:creationId xmlns:a16="http://schemas.microsoft.com/office/drawing/2014/main" id="{936C4F10-1350-71AF-E355-A3194B83A5A5}"/>
                </a:ext>
              </a:extLst>
            </p:cNvPr>
            <p:cNvSpPr txBox="1"/>
            <p:nvPr/>
          </p:nvSpPr>
          <p:spPr>
            <a:xfrm>
              <a:off x="2728759" y="4612239"/>
              <a:ext cx="766847" cy="290927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vert="eaVert" wrap="none" lIns="9144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…</a:t>
              </a:r>
              <a:endParaRPr lang="zh-TW" altLang="en-US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C929511A-9EEF-4E59-FC85-21E1E8FFD538}"/>
                </a:ext>
              </a:extLst>
            </p:cNvPr>
            <p:cNvSpPr/>
            <p:nvPr/>
          </p:nvSpPr>
          <p:spPr>
            <a:xfrm>
              <a:off x="1016978" y="4383774"/>
              <a:ext cx="766847" cy="653834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1</a:t>
              </a:r>
              <a:endParaRPr lang="zh-TW" altLang="en-US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95BCDCC0-1EC4-EC48-7E06-12F7ABA306ED}"/>
                </a:ext>
              </a:extLst>
            </p:cNvPr>
            <p:cNvSpPr txBox="1"/>
            <p:nvPr/>
          </p:nvSpPr>
          <p:spPr>
            <a:xfrm>
              <a:off x="4380539" y="6014800"/>
              <a:ext cx="140374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06946514-7903-83FC-A8FA-A378C60078E9}"/>
                </a:ext>
              </a:extLst>
            </p:cNvPr>
            <p:cNvSpPr txBox="1"/>
            <p:nvPr/>
          </p:nvSpPr>
          <p:spPr>
            <a:xfrm>
              <a:off x="3635896" y="6015526"/>
              <a:ext cx="140374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0EA98BAB-419A-D12B-443B-3EB91CDBB4C7}"/>
                </a:ext>
              </a:extLst>
            </p:cNvPr>
            <p:cNvSpPr txBox="1"/>
            <p:nvPr/>
          </p:nvSpPr>
          <p:spPr>
            <a:xfrm>
              <a:off x="4171882" y="6014800"/>
              <a:ext cx="140374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q</a:t>
              </a:r>
              <a:r>
                <a:rPr lang="en-US" altLang="zh-TW" sz="1200" baseline="-250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t-1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E306870E-E58D-441E-4790-80588ADAC3EC}"/>
                </a:ext>
              </a:extLst>
            </p:cNvPr>
            <p:cNvSpPr txBox="1"/>
            <p:nvPr/>
          </p:nvSpPr>
          <p:spPr>
            <a:xfrm>
              <a:off x="3812636" y="6015526"/>
              <a:ext cx="293061" cy="653834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2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…</a:t>
              </a:r>
              <a:endParaRPr lang="zh-TW" altLang="en-US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82AAEC48-A8AA-BD3F-42CA-F2D7F66955D9}"/>
                </a:ext>
              </a:extLst>
            </p:cNvPr>
            <p:cNvSpPr txBox="1"/>
            <p:nvPr/>
          </p:nvSpPr>
          <p:spPr>
            <a:xfrm>
              <a:off x="1735063" y="6015526"/>
              <a:ext cx="140374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63F53D7D-C928-788A-5689-52502A87547D}"/>
                </a:ext>
              </a:extLst>
            </p:cNvPr>
            <p:cNvSpPr txBox="1"/>
            <p:nvPr/>
          </p:nvSpPr>
          <p:spPr>
            <a:xfrm>
              <a:off x="975242" y="6009764"/>
              <a:ext cx="140374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7D25203-FF07-FCEA-FCEA-6EA0D7A6F874}"/>
                </a:ext>
              </a:extLst>
            </p:cNvPr>
            <p:cNvSpPr txBox="1"/>
            <p:nvPr/>
          </p:nvSpPr>
          <p:spPr>
            <a:xfrm>
              <a:off x="1528564" y="6015526"/>
              <a:ext cx="140374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r>
                <a:rPr lang="en-US" altLang="zh-TW" sz="1200" baseline="-250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t-1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970B9120-8E23-F7E8-9975-39A719DFDAB7}"/>
                </a:ext>
              </a:extLst>
            </p:cNvPr>
            <p:cNvSpPr txBox="1"/>
            <p:nvPr/>
          </p:nvSpPr>
          <p:spPr>
            <a:xfrm>
              <a:off x="1173020" y="6009764"/>
              <a:ext cx="293061" cy="653834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60000"/>
              </a:schemeClr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200" dirty="0">
                  <a:solidFill>
                    <a:schemeClr val="accent3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…</a:t>
              </a:r>
              <a:endParaRPr lang="zh-TW" altLang="en-US" sz="1200" baseline="-25000" dirty="0">
                <a:solidFill>
                  <a:schemeClr val="accent3"/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8" name="左大括弧 17">
              <a:extLst>
                <a:ext uri="{FF2B5EF4-FFF2-40B4-BE49-F238E27FC236}">
                  <a16:creationId xmlns:a16="http://schemas.microsoft.com/office/drawing/2014/main" id="{BD2D487F-8694-12BA-6A0F-CE48B2D9B58F}"/>
                </a:ext>
              </a:extLst>
            </p:cNvPr>
            <p:cNvSpPr/>
            <p:nvPr/>
          </p:nvSpPr>
          <p:spPr>
            <a:xfrm rot="5400000">
              <a:off x="1350189" y="5482311"/>
              <a:ext cx="121111" cy="876215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左大括弧 26">
              <a:extLst>
                <a:ext uri="{FF2B5EF4-FFF2-40B4-BE49-F238E27FC236}">
                  <a16:creationId xmlns:a16="http://schemas.microsoft.com/office/drawing/2014/main" id="{7070120A-63D2-CE04-2ABF-CACAFD3E2566}"/>
                </a:ext>
              </a:extLst>
            </p:cNvPr>
            <p:cNvSpPr/>
            <p:nvPr/>
          </p:nvSpPr>
          <p:spPr>
            <a:xfrm rot="5400000">
              <a:off x="4022250" y="5489387"/>
              <a:ext cx="121111" cy="876215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4696DE85-35DA-91CB-C34C-6B704A325891}"/>
                </a:ext>
              </a:extLst>
            </p:cNvPr>
            <p:cNvSpPr/>
            <p:nvPr/>
          </p:nvSpPr>
          <p:spPr>
            <a:xfrm rot="10800000">
              <a:off x="3540647" y="4365104"/>
              <a:ext cx="109871" cy="931181"/>
            </a:xfrm>
            <a:prstGeom prst="leftBrace">
              <a:avLst>
                <a:gd name="adj1" fmla="val 41469"/>
                <a:gd name="adj2" fmla="val 50000"/>
              </a:avLst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4A4C3D2F-6006-C780-5829-C4650EA12BE4}"/>
                </a:ext>
              </a:extLst>
            </p:cNvPr>
            <p:cNvSpPr txBox="1"/>
            <p:nvPr/>
          </p:nvSpPr>
          <p:spPr>
            <a:xfrm>
              <a:off x="3669196" y="4739837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</a:t>
              </a:r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*d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85D614CC-C572-DAD0-9E53-4E132793B495}"/>
                </a:ext>
              </a:extLst>
            </p:cNvPr>
            <p:cNvSpPr txBox="1"/>
            <p:nvPr/>
          </p:nvSpPr>
          <p:spPr>
            <a:xfrm>
              <a:off x="3939820" y="569956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</a:t>
              </a:r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*d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1A30A3FF-0319-21ED-4919-8A1BB2258875}"/>
                </a:ext>
              </a:extLst>
            </p:cNvPr>
            <p:cNvSpPr txBox="1"/>
            <p:nvPr/>
          </p:nvSpPr>
          <p:spPr>
            <a:xfrm>
              <a:off x="1267583" y="5697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</a:t>
              </a:r>
              <a:r>
                <a:rPr lang="en-US" altLang="zh-TW" sz="1200" b="1" dirty="0">
                  <a:solidFill>
                    <a:schemeClr val="bg1">
                      <a:lumMod val="50000"/>
                    </a:schemeClr>
                  </a:solidFill>
                </a:rPr>
                <a:t>*d</a:t>
              </a:r>
              <a:endParaRPr lang="zh-TW" altLang="en-US" sz="12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8378D43-7DE9-1F85-DC5D-24C423F9689F}"/>
                </a:ext>
              </a:extLst>
            </p:cNvPr>
            <p:cNvSpPr/>
            <p:nvPr/>
          </p:nvSpPr>
          <p:spPr>
            <a:xfrm>
              <a:off x="1157448" y="4608681"/>
              <a:ext cx="766847" cy="653834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altLang="zh-TW" sz="1200" b="1" baseline="30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 . . .</a:t>
              </a:r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 </a:t>
              </a:r>
              <a:endParaRPr lang="zh-TW" alt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E6E6AA3-812C-66BB-3832-E798F359FAD5}"/>
                </a:ext>
              </a:extLst>
            </p:cNvPr>
            <p:cNvSpPr/>
            <p:nvPr/>
          </p:nvSpPr>
          <p:spPr>
            <a:xfrm>
              <a:off x="1572905" y="4935406"/>
              <a:ext cx="766847" cy="653834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 w="12700">
              <a:solidFill>
                <a:schemeClr val="accent4">
                  <a:lumMod val="40000"/>
                  <a:lumOff val="60000"/>
                  <a:alpha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8288" tIns="18288" rIns="0" bIns="0" rtlCol="0" anchor="t" anchorCtr="0"/>
            <a:lstStyle/>
            <a:p>
              <a:r>
                <a:rPr lang="en-US" altLang="zh-TW" sz="1200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S </a:t>
              </a:r>
              <a:r>
                <a:rPr lang="en-US" altLang="zh-TW" sz="1200" b="1" baseline="-25000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t-1</a:t>
              </a:r>
              <a:endParaRPr lang="zh-TW" altLang="en-US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D77D4486-0911-BBB9-DD84-082FB2A0B81D}"/>
                </a:ext>
              </a:extLst>
            </p:cNvPr>
            <p:cNvSpPr/>
            <p:nvPr/>
          </p:nvSpPr>
          <p:spPr>
            <a:xfrm>
              <a:off x="2728758" y="6008755"/>
              <a:ext cx="777293" cy="653833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75000"/>
                </a:schemeClr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S</a:t>
              </a:r>
              <a:r>
                <a:rPr lang="en-US" altLang="zh-TW" sz="1400" b="1" baseline="-25000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t</a:t>
              </a: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05D1DE29-1680-FF9F-0407-2F913C5C6C7D}"/>
                </a:ext>
              </a:extLst>
            </p:cNvPr>
            <p:cNvSpPr txBox="1"/>
            <p:nvPr/>
          </p:nvSpPr>
          <p:spPr>
            <a:xfrm>
              <a:off x="1003052" y="4139788"/>
              <a:ext cx="204639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Remove vk</a:t>
              </a:r>
              <a:r>
                <a:rPr lang="en-US" altLang="zh-TW" sz="1200" baseline="300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T</a:t>
              </a:r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 loop by </a:t>
              </a:r>
              <a:r>
                <a:rPr lang="en-US" altLang="zh-TW" sz="1200" dirty="0"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  <a:sym typeface="Wingdings" panose="05000000000000000000" pitchFamily="2" charset="2"/>
                </a:rPr>
                <a:t>“</a:t>
              </a:r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qk</a:t>
              </a:r>
              <a:r>
                <a:rPr lang="en-US" altLang="zh-TW" sz="1200" baseline="300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T </a:t>
              </a:r>
              <a:r>
                <a:rPr lang="en-US" altLang="zh-TW" sz="1200" dirty="0">
                  <a:ea typeface="HGGothicE" panose="020B0400000000000000" pitchFamily="49" charset="-128"/>
                  <a:cs typeface="ADLaM Display" panose="02010000000000000000" pitchFamily="2" charset="0"/>
                  <a:sym typeface="Wingdings" panose="05000000000000000000" pitchFamily="2" charset="2"/>
                </a:rPr>
                <a:t>matrix</a:t>
              </a:r>
              <a:r>
                <a:rPr lang="en-US" altLang="zh-TW" sz="1200" dirty="0"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  <a:sym typeface="Wingdings" panose="05000000000000000000" pitchFamily="2" charset="2"/>
                </a:rPr>
                <a:t>”</a:t>
              </a:r>
              <a:endParaRPr lang="zh-TW" altLang="en-US" sz="1200" b="1" dirty="0">
                <a:latin typeface="ADLaM Display" panose="02010000000000000000" pitchFamily="2" charset="0"/>
                <a:ea typeface="HGGothicE" panose="020B0909000000000000" pitchFamily="49" charset="-128"/>
                <a:cs typeface="ADLaM Display" panose="02010000000000000000" pitchFamily="2" charset="0"/>
              </a:endParaRPr>
            </a:p>
          </p:txBody>
        </p:sp>
      </p:grp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898230F-694A-FF83-FE08-E8FBA332359B}"/>
              </a:ext>
            </a:extLst>
          </p:cNvPr>
          <p:cNvGrpSpPr/>
          <p:nvPr/>
        </p:nvGrpSpPr>
        <p:grpSpPr>
          <a:xfrm>
            <a:off x="4892249" y="4221088"/>
            <a:ext cx="4072239" cy="2088232"/>
            <a:chOff x="4860032" y="3861048"/>
            <a:chExt cx="4164554" cy="20882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/>
                <p:nvPr/>
              </p:nvSpPr>
              <p:spPr>
                <a:xfrm>
                  <a:off x="4860033" y="4572500"/>
                  <a:ext cx="1351982" cy="22465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>
                    <a:lnSpc>
                      <a:spcPts val="18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a14:m>
                  <a:r>
                    <a:rPr lang="en-US" altLang="zh-TW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572500"/>
                  <a:ext cx="1351982" cy="224652"/>
                </a:xfrm>
                <a:prstGeom prst="rect">
                  <a:avLst/>
                </a:prstGeom>
                <a:blipFill>
                  <a:blip r:embed="rId3"/>
                  <a:stretch>
                    <a:fillRect l="-4167" b="-135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B2BC8C01-F33E-DDF5-F2EA-8EAA6C0D6CCB}"/>
                </a:ext>
              </a:extLst>
            </p:cNvPr>
            <p:cNvSpPr/>
            <p:nvPr/>
          </p:nvSpPr>
          <p:spPr>
            <a:xfrm>
              <a:off x="4860033" y="5025483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Prefill Initial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71EB7653-2802-CB01-45D4-682F88321E1A}"/>
                </a:ext>
              </a:extLst>
            </p:cNvPr>
            <p:cNvSpPr/>
            <p:nvPr/>
          </p:nvSpPr>
          <p:spPr>
            <a:xfrm>
              <a:off x="4860033" y="3861048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State Memory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/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dxd</m:t>
                          </m:r>
                        </m:sup>
                      </m:sSup>
                    </m:oMath>
                  </a14:m>
                  <a:endParaRPr lang="en-US" altLang="zh-TW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blipFill>
                  <a:blip r:embed="rId4"/>
                  <a:stretch>
                    <a:fillRect l="-3285" b="-225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010B6A77-3EC5-711B-B6F8-E07A5B216265}"/>
                </a:ext>
              </a:extLst>
            </p:cNvPr>
            <p:cNvSpPr/>
            <p:nvPr/>
          </p:nvSpPr>
          <p:spPr>
            <a:xfrm>
              <a:off x="4860033" y="4400938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/>
                <p:nvPr/>
              </p:nvSpPr>
              <p:spPr>
                <a:xfrm>
                  <a:off x="4860032" y="5169107"/>
                  <a:ext cx="4164554" cy="7801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:endParaRPr lang="en-US" altLang="zh-TW" sz="1200" b="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= </a:t>
                  </a:r>
                  <a14:m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Ο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sSup>
                            <m:sSup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⨀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a14:m>
                  <a:r>
                    <a:rPr lang="en-US" altLang="zh-TW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</m:oMath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2" y="5169107"/>
                  <a:ext cx="4164554" cy="780173"/>
                </a:xfrm>
                <a:prstGeom prst="rect">
                  <a:avLst/>
                </a:prstGeom>
                <a:blipFill>
                  <a:blip r:embed="rId5"/>
                  <a:stretch>
                    <a:fillRect l="-1347" t="-33594" b="-257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243586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Chunk-wise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4587682" y="4024031"/>
            <a:ext cx="2651033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943100">
              <a:lnSpc>
                <a:spcPts val="1800"/>
              </a:lnSpc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defTabSz="1943100">
              <a:lnSpc>
                <a:spcPts val="1800"/>
              </a:lnSpc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5679008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4468336" y="2140250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4465070" y="2939014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4670896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4886920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5462984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5102944" y="5065700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6327309" y="4366615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4BFDC0-1ADB-EB3B-BD74-A58FB3732FAE}"/>
              </a:ext>
            </a:extLst>
          </p:cNvPr>
          <p:cNvSpPr txBox="1"/>
          <p:nvPr/>
        </p:nvSpPr>
        <p:spPr>
          <a:xfrm>
            <a:off x="287524" y="980728"/>
            <a:ext cx="586865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53178E-3BCA-AF78-3E30-E31323A389C1}"/>
              </a:ext>
            </a:extLst>
          </p:cNvPr>
          <p:cNvSpPr/>
          <p:nvPr/>
        </p:nvSpPr>
        <p:spPr>
          <a:xfrm>
            <a:off x="4811270" y="108620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875CBFC2-A30E-BF42-6B23-413C3CC24513}"/>
              </a:ext>
            </a:extLst>
          </p:cNvPr>
          <p:cNvGrpSpPr/>
          <p:nvPr/>
        </p:nvGrpSpPr>
        <p:grpSpPr>
          <a:xfrm>
            <a:off x="4811270" y="1342878"/>
            <a:ext cx="4198865" cy="762971"/>
            <a:chOff x="111742" y="2772698"/>
            <a:chExt cx="3904317" cy="7629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11A67DC1-1773-F546-E1CA-8F94F33727FD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6D73826-FBFB-FFE3-2BBD-A92E1B6B5521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97A0-28F3-C545-90BC-B9066CC0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FC6BB0AA-E243-AB5E-7020-6022AB0E0C78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4EECA0-4B2C-B328-327A-D6C4E66DC950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CAC7AF0-6430-FA05-50C0-393AAA34F4F6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94E3A0B-B187-41A3-C357-27FDCED9F1B5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70C13C3-4F53-0D40-AB0D-B4B2A906CEA4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9368FA4-FF3F-3CBB-2B90-9559B1A45B1E}"/>
              </a:ext>
            </a:extLst>
          </p:cNvPr>
          <p:cNvSpPr/>
          <p:nvPr/>
        </p:nvSpPr>
        <p:spPr>
          <a:xfrm>
            <a:off x="2966056" y="4228215"/>
            <a:ext cx="460592" cy="481166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25400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BBA5D83-4938-06D5-7142-BC46FB851ECC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CDEE627-19C9-7F63-65C2-1D351E16DB3D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6A6520-FE1A-1476-18E3-06EDB3D6160D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219E3951-A155-82A0-EF3F-87F7523243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GDN model that evolves blind accumulation into precise erasing and overwriting.</a:t>
            </a:r>
          </a:p>
        </p:txBody>
      </p:sp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753FD0D-7D0C-DAC9-DE3B-C018299A34A2}"/>
              </a:ext>
            </a:extLst>
          </p:cNvPr>
          <p:cNvGraphicFramePr>
            <a:graphicFrameLocks noGrp="1"/>
          </p:cNvGraphicFramePr>
          <p:nvPr/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A1CC36B1-33FB-16EC-6B3A-26F7CF527A74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852B7B4-971C-41B3-0CFF-B456A7A76F17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D8BA48A-A36E-22D6-3594-4DBA9A2CE849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A83373-45E9-0E21-9420-6AA33D96F122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63C6278-ED76-AA86-A35C-9E164B9DB005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68CA0E81-DA85-7B38-2DB1-4D83E5BC1980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465865D7-CA8A-ED69-645E-FEF83FC8165E}"/>
              </a:ext>
            </a:extLst>
          </p:cNvPr>
          <p:cNvGraphicFramePr>
            <a:graphicFrameLocks noGrp="1"/>
          </p:cNvGraphicFramePr>
          <p:nvPr/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70D35E03-0EDB-F23E-F57E-C8CF2EDF02C5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B7549BB-5995-7878-EA55-0B07B2BE1321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AFC255B-C247-B818-B7B8-C1F38080796D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9D29AC25-DBFD-23EC-4DDF-A5E902757FD4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DBB9D24-FF1A-AB42-22B8-03A0C529FB88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8E9E5F58-0691-8D79-433B-90A504486B95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4A6DBCD8-60B7-8013-79F3-352440183DC2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0C87664-0831-93CA-935E-0571475991D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6A8B5E8-2899-7FC4-B029-B48FAB870F67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58AC86B4-9D7E-6FCB-02BE-A765F0CC84A1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A29A16A-94B5-839F-02A1-26D44EB30F2B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79F0D78E-BF6F-E510-248D-8CB3141253AC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1ABCBE7-6616-EF0B-20CB-22972B0B65C5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419F4B-D0B2-8146-DDC3-6367C0589CCE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8FC0356-1209-EB19-D8A9-D9B750931C42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CE87676-8C58-9F50-E973-42FD610B2DB8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A9DAA0E-0A6F-D3D9-30C9-3878A6ADA34D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DA41433-A20B-AE1B-1507-12E8FCE8E319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1A075305-1E21-300E-6DCB-BB2FE8FF52B7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4F198EF-F40E-C333-6AD5-174194E34BE1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B3BFFB55-3254-6308-00AA-2F8798156457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9BB9107-A959-BB7F-1CD4-B3050CA28531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84A4C7E-FA12-B61E-CEC2-024F6174FB26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322BB64-1B5E-24A8-1D4A-5BCC52DAD338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475D7470-C934-3ECA-96A6-437D7CA43208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500717E-3F44-1E49-756C-0A6D9A208A6E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52A7F7D-DA3E-6812-FEDF-8A9AFB93DA4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482CF50-A79E-3412-5B80-5C71F8336E28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D0CD3FF-BDB8-9750-232E-435BBD1AC01D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BFB4FD20-7267-0614-994D-7D4875B9F739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B94A779D-C343-88C4-F6C6-21F83E43D5AC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83A5632D-A468-45CA-A32C-3A6B37AFA430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41329472-5BCF-F575-AE27-046F2384853A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8ACAD3D-9784-2A78-73B9-462F892C7D0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2CBE9CD1-26F5-C55F-757D-9DCF8CADBDD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F93EEC02-E882-A1CC-6B28-CF08CCCB6A00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8369D4C-0200-18C6-8000-368BD55B56A8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8B84A22-2361-294B-DB09-260698E785BE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1BAC99-A13E-2428-D208-AE05560EBAA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848A4B4B-8541-5AF9-C0F6-8FBDFE2A5A7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5BA3CF-EC4B-72B3-5728-B967654A1F2E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EBD249-DE12-7C54-F392-47773F9A7F6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A78D349-60C7-C110-9DBF-FD4000232F1C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4AD385F-9221-902C-6456-A135E9642BF2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74D9BA7D-49D4-2A04-7317-7CBF7491A3E9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1023FA07-069A-1AA6-F3EC-6D438F165700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B66D1CEC-58C4-02CE-7815-5EB3B69FAE53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FE78BF0-EE6B-7548-B58D-C48CA2DF738B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AE5131CD-2300-CBA9-CD43-679F9EBB7FB3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B44D23D8-C4DA-27DE-16C9-6FA9510AECF0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2893BF3-61D7-4986-9F62-F3EB4C1F15E1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4FF48C3-6600-5624-3370-E3B242159EB6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ECECF0D-0EBA-ECCD-71EA-F1DA5D9D4124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A60B9B31-89AE-8198-75D2-2C8AE96D4CEE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15AA0210-756F-9586-38A2-CD4B0BB41304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8C53DB90-EFA7-F026-DF01-F94A8CD56E2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491318D1-A0C3-13AF-AD25-F7EC4B4AEEC5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958B989-83EF-5819-5017-26F792DB1E0A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FE43EB-5A25-C18C-A5B5-76880D82E86F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06C0042-9FF6-2F6D-3F04-831C1A30668E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4377FE-F6FF-3028-5495-493062971939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665B2513-16AC-5394-43A5-9A25E81704AD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37E306FF-E185-9F7E-EB7A-B005FFC8BE53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4588FCA2-C0A8-92EE-765B-A6C1833BD17A}"/>
              </a:ext>
            </a:extLst>
          </p:cNvPr>
          <p:cNvSpPr txBox="1"/>
          <p:nvPr/>
        </p:nvSpPr>
        <p:spPr>
          <a:xfrm>
            <a:off x="2211585" y="169973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EAD3FD-CB49-499E-2E50-54C92F74F050}"/>
              </a:ext>
            </a:extLst>
          </p:cNvPr>
          <p:cNvSpPr/>
          <p:nvPr/>
        </p:nvSpPr>
        <p:spPr>
          <a:xfrm>
            <a:off x="5580110" y="4556849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17B68AC-F0E9-832F-905F-C62938F8743E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5C47415-1EAD-0E24-94AD-96655881A90D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2860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7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4851607" y="512637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607" y="512637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/>
              <p:nvPr/>
            </p:nvSpPr>
            <p:spPr>
              <a:xfrm>
                <a:off x="442078" y="3071366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3071366"/>
                <a:ext cx="2016224" cy="568059"/>
              </a:xfrm>
              <a:prstGeom prst="rect">
                <a:avLst/>
              </a:prstGeom>
              <a:blipFill>
                <a:blip r:embed="rId3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/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blipFill>
                <a:blip r:embed="rId4"/>
                <a:stretch>
                  <a:fillRect l="-2807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EDAC2B7E-BFEA-4AB8-64F6-1FF1E0424D16}"/>
              </a:ext>
            </a:extLst>
          </p:cNvPr>
          <p:cNvSpPr/>
          <p:nvPr/>
        </p:nvSpPr>
        <p:spPr>
          <a:xfrm>
            <a:off x="445476" y="551678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/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blipFill>
                <a:blip r:embed="rId5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EF1F9D10-D41F-6AE3-4161-10453FCEBAEF}"/>
              </a:ext>
            </a:extLst>
          </p:cNvPr>
          <p:cNvSpPr txBox="1"/>
          <p:nvPr/>
        </p:nvSpPr>
        <p:spPr>
          <a:xfrm>
            <a:off x="509648" y="6016175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/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blipFill>
                <a:blip r:embed="rId6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/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blipFill>
                <a:blip r:embed="rId7"/>
                <a:stretch>
                  <a:fillRect l="-3746" t="-1980" b="-742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6F04665F-DD3A-5194-0FC8-B3E35F120982}"/>
              </a:ext>
            </a:extLst>
          </p:cNvPr>
          <p:cNvSpPr/>
          <p:nvPr/>
        </p:nvSpPr>
        <p:spPr>
          <a:xfrm>
            <a:off x="361536" y="37890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/>
              <p:nvPr/>
            </p:nvSpPr>
            <p:spPr>
              <a:xfrm>
                <a:off x="4641869" y="1839095"/>
                <a:ext cx="3917354" cy="70045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d>
                        <m:dPr>
                          <m:ctrlPr>
                            <a:rPr lang="zh-TW" altLang="en-US" sz="1200" b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b="0" i="0" smtClean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2000"/>
                  </a:lnSpc>
                </a:pPr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9" y="1839095"/>
                <a:ext cx="3917354" cy="700452"/>
              </a:xfrm>
              <a:prstGeom prst="rect">
                <a:avLst/>
              </a:prstGeom>
              <a:blipFill>
                <a:blip r:embed="rId8"/>
                <a:stretch>
                  <a:fillRect l="-14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4641868" y="1621339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Kimi Delta Attention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(KDA) 2025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/>
              <p:nvPr/>
            </p:nvSpPr>
            <p:spPr>
              <a:xfrm>
                <a:off x="4641869" y="4013069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9" y="4013069"/>
                <a:ext cx="2016224" cy="568059"/>
              </a:xfrm>
              <a:prstGeom prst="rect">
                <a:avLst/>
              </a:prstGeom>
              <a:blipFill>
                <a:blip r:embed="rId9"/>
                <a:stretch>
                  <a:fillRect l="-3927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4641868" y="2769207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DeltaNet-2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(GDN2) 2026</a:t>
            </a:r>
          </a:p>
        </p:txBody>
      </p:sp>
      <p:sp>
        <p:nvSpPr>
          <p:cNvPr id="6" name="文字方塊 5">
            <a:hlinkClick r:id="rId10"/>
            <a:extLst>
              <a:ext uri="{FF2B5EF4-FFF2-40B4-BE49-F238E27FC236}">
                <a16:creationId xmlns:a16="http://schemas.microsoft.com/office/drawing/2014/main" id="{4084258E-8A70-76CB-0D86-91C8E30521EB}"/>
              </a:ext>
            </a:extLst>
          </p:cNvPr>
          <p:cNvSpPr txBox="1"/>
          <p:nvPr/>
        </p:nvSpPr>
        <p:spPr>
          <a:xfrm>
            <a:off x="184498" y="6456766"/>
            <a:ext cx="111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/>
              <p:nvPr/>
            </p:nvSpPr>
            <p:spPr>
              <a:xfrm>
                <a:off x="4641868" y="5055567"/>
                <a:ext cx="4178603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5055567"/>
                <a:ext cx="4178603" cy="461665"/>
              </a:xfrm>
              <a:prstGeom prst="rect">
                <a:avLst/>
              </a:prstGeom>
              <a:blipFill>
                <a:blip r:embed="rId11"/>
                <a:stretch>
                  <a:fillRect l="-1312" t="-13158" b="-10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A7C35DB0-DB57-E601-5A1C-7A79A28A9D91}"/>
              </a:ext>
            </a:extLst>
          </p:cNvPr>
          <p:cNvSpPr/>
          <p:nvPr/>
        </p:nvSpPr>
        <p:spPr>
          <a:xfrm>
            <a:off x="4641868" y="4837811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Erase-then-Delta Attention (EDA)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2026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F2D8A0F2-D716-5D6D-E75A-E82694D082B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GDN(Delta Rule) KDA(Channel-wise) GND2(Decoupled Intensity) EDA(Decoupled Addresses)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D3C650B-6F27-1A59-0EC2-952E725D1FDF}"/>
                  </a:ext>
                </a:extLst>
              </p:cNvPr>
              <p:cNvSpPr txBox="1"/>
              <p:nvPr/>
            </p:nvSpPr>
            <p:spPr>
              <a:xfrm>
                <a:off x="4641869" y="2986963"/>
                <a:ext cx="3917354" cy="70045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d>
                        <m:d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b="0" i="0" smtClean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2000"/>
                  </a:lnSpc>
                </a:pPr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D3C650B-6F27-1A59-0EC2-952E725D1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9" y="2986963"/>
                <a:ext cx="3917354" cy="700452"/>
              </a:xfrm>
              <a:prstGeom prst="rect">
                <a:avLst/>
              </a:prstGeom>
              <a:blipFill>
                <a:blip r:embed="rId12"/>
                <a:stretch>
                  <a:fillRect l="-14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E757B763-16AC-F21D-51D6-AE05A2B11719}"/>
              </a:ext>
            </a:extLst>
          </p:cNvPr>
          <p:cNvSpPr/>
          <p:nvPr/>
        </p:nvSpPr>
        <p:spPr>
          <a:xfrm>
            <a:off x="6660232" y="3559790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F3EF2503-35EB-AB1F-F9EA-33BACB394A3A}"/>
              </a:ext>
            </a:extLst>
          </p:cNvPr>
          <p:cNvSpPr/>
          <p:nvPr/>
        </p:nvSpPr>
        <p:spPr>
          <a:xfrm>
            <a:off x="2051720" y="3559790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92BE0006-40DE-14FE-A0E1-9223CBC5F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223853"/>
              </p:ext>
            </p:extLst>
          </p:nvPr>
        </p:nvGraphicFramePr>
        <p:xfrm>
          <a:off x="470843" y="3197676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17E62560-AC5B-64FA-A122-9AC8808D60C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06489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Based on KDA 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935AA3A3-C412-61B5-7F59-59220544E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473796"/>
              </p:ext>
            </p:extLst>
          </p:nvPr>
        </p:nvGraphicFramePr>
        <p:xfrm>
          <a:off x="161230" y="3197676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12641E0-2BEB-3E1C-DAEB-A57A92616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490995"/>
              </p:ext>
            </p:extLst>
          </p:nvPr>
        </p:nvGraphicFramePr>
        <p:xfrm>
          <a:off x="4249808" y="363885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11483B9-A137-4554-7851-950C16A9B7B8}"/>
              </a:ext>
            </a:extLst>
          </p:cNvPr>
          <p:cNvSpPr txBox="1"/>
          <p:nvPr/>
        </p:nvSpPr>
        <p:spPr>
          <a:xfrm>
            <a:off x="7039322" y="3638857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8270337D-4B76-A9DA-E873-77B298EC505B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784965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4EC77D9-9815-2C8F-AC1D-DEF420788CEB}"/>
              </a:ext>
            </a:extLst>
          </p:cNvPr>
          <p:cNvSpPr txBox="1"/>
          <p:nvPr/>
        </p:nvSpPr>
        <p:spPr>
          <a:xfrm>
            <a:off x="1691680" y="355979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7493A031-A7F4-3ED0-13C2-35217B6C6E82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3235778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D751BE36-6980-BBE7-F0D9-B196F557AAFF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4255179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2F0F6D2E-613A-4EA7-D47B-E97626E9059B}"/>
              </a:ext>
            </a:extLst>
          </p:cNvPr>
          <p:cNvSpPr txBox="1"/>
          <p:nvPr/>
        </p:nvSpPr>
        <p:spPr>
          <a:xfrm>
            <a:off x="1691680" y="4385775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D9B53C4-CEF2-170C-9696-48E3B2753DA8}"/>
              </a:ext>
            </a:extLst>
          </p:cNvPr>
          <p:cNvSpPr txBox="1"/>
          <p:nvPr/>
        </p:nvSpPr>
        <p:spPr>
          <a:xfrm>
            <a:off x="1691680" y="2983750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7211C77C-3C75-8FEC-AA32-131B35F9456B}"/>
              </a:ext>
            </a:extLst>
          </p:cNvPr>
          <p:cNvSpPr/>
          <p:nvPr/>
        </p:nvSpPr>
        <p:spPr>
          <a:xfrm>
            <a:off x="427469" y="4112223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F646805A-3CF1-5252-0507-B6EB0A11186E}"/>
              </a:ext>
            </a:extLst>
          </p:cNvPr>
          <p:cNvSpPr txBox="1"/>
          <p:nvPr/>
        </p:nvSpPr>
        <p:spPr>
          <a:xfrm>
            <a:off x="287523" y="980728"/>
            <a:ext cx="83516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FG</a:t>
            </a:r>
            <a:r>
              <a:rPr lang="en-US" altLang="zh-TW" sz="1600" b="1" baseline="30000" dirty="0"/>
              <a:t>2</a:t>
            </a:r>
            <a:r>
              <a:rPr lang="en-US" altLang="zh-TW" sz="1600" b="1" dirty="0"/>
              <a:t>-GDN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(2026.04)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GDN-2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  <a:p>
            <a:pPr marL="285750" lvl="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Kimi-K3</a:t>
            </a:r>
            <a:r>
              <a:rPr lang="en-US" altLang="zh-TW" sz="1600" dirty="0">
                <a:solidFill>
                  <a:prstClr val="black"/>
                </a:solidFill>
              </a:rPr>
              <a:t>: Channel-wise Erase Gate b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 and Write Gate </a:t>
            </a:r>
            <a:r>
              <a:rPr lang="en-US" altLang="zh-TW" sz="1600" dirty="0">
                <a:solidFill>
                  <a:prstClr val="black"/>
                </a:solidFill>
                <a:sym typeface="Symbol" panose="05050102010706020507" pitchFamily="18" charset="2"/>
              </a:rPr>
              <a:t>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. (2026.05)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73269E64-4DAB-F9B0-D39D-98EC34292F66}"/>
              </a:ext>
            </a:extLst>
          </p:cNvPr>
          <p:cNvSpPr txBox="1"/>
          <p:nvPr/>
        </p:nvSpPr>
        <p:spPr>
          <a:xfrm>
            <a:off x="606531" y="304820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3C8AA34-72E2-942D-C1D0-8EACE97596CE}"/>
              </a:ext>
            </a:extLst>
          </p:cNvPr>
          <p:cNvSpPr/>
          <p:nvPr/>
        </p:nvSpPr>
        <p:spPr>
          <a:xfrm>
            <a:off x="1259632" y="3130188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F5CA989-9467-8B18-7881-1A86F4CB1E24}"/>
              </a:ext>
            </a:extLst>
          </p:cNvPr>
          <p:cNvSpPr/>
          <p:nvPr/>
        </p:nvSpPr>
        <p:spPr>
          <a:xfrm>
            <a:off x="1259632" y="450960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EFF8956-AA92-6FD9-4696-76A44437D67E}"/>
              </a:ext>
            </a:extLst>
          </p:cNvPr>
          <p:cNvSpPr/>
          <p:nvPr/>
        </p:nvSpPr>
        <p:spPr>
          <a:xfrm>
            <a:off x="1259632" y="362744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E091F4B-CFB7-4FAE-6C91-B4C1B3B441F3}"/>
              </a:ext>
            </a:extLst>
          </p:cNvPr>
          <p:cNvSpPr txBox="1"/>
          <p:nvPr/>
        </p:nvSpPr>
        <p:spPr>
          <a:xfrm>
            <a:off x="1267583" y="2983726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CE5689-4D05-5866-D652-B626E7214014}"/>
              </a:ext>
            </a:extLst>
          </p:cNvPr>
          <p:cNvSpPr txBox="1"/>
          <p:nvPr/>
        </p:nvSpPr>
        <p:spPr>
          <a:xfrm>
            <a:off x="6290667" y="3638857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60590A6-315F-2B69-A3BC-EC0825049283}"/>
              </a:ext>
            </a:extLst>
          </p:cNvPr>
          <p:cNvSpPr txBox="1"/>
          <p:nvPr/>
        </p:nvSpPr>
        <p:spPr>
          <a:xfrm>
            <a:off x="4249808" y="3327717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23B103-F9B2-8401-BCAB-25C144FE6B3F}"/>
              </a:ext>
            </a:extLst>
          </p:cNvPr>
          <p:cNvSpPr txBox="1"/>
          <p:nvPr/>
        </p:nvSpPr>
        <p:spPr>
          <a:xfrm>
            <a:off x="3906361" y="3633798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F012C4F-74F5-A581-9183-EB270F473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229768"/>
              </p:ext>
            </p:extLst>
          </p:nvPr>
        </p:nvGraphicFramePr>
        <p:xfrm>
          <a:off x="2608707" y="363761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1782A8A3-32FE-DC9E-7EDC-6AA3A5314CA5}"/>
              </a:ext>
            </a:extLst>
          </p:cNvPr>
          <p:cNvSpPr txBox="1"/>
          <p:nvPr/>
        </p:nvSpPr>
        <p:spPr>
          <a:xfrm>
            <a:off x="2987824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5D5612E-CEFD-A0E7-193F-29E88E7B9845}"/>
              </a:ext>
            </a:extLst>
          </p:cNvPr>
          <p:cNvSpPr txBox="1"/>
          <p:nvPr/>
        </p:nvSpPr>
        <p:spPr>
          <a:xfrm>
            <a:off x="6714360" y="4048799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D6921EB-F303-3E59-4E77-FDBFF1BC0725}"/>
              </a:ext>
            </a:extLst>
          </p:cNvPr>
          <p:cNvSpPr txBox="1"/>
          <p:nvPr/>
        </p:nvSpPr>
        <p:spPr>
          <a:xfrm>
            <a:off x="3012944" y="400370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DEB85648-EF5C-7D16-7B6F-206D50AD9293}"/>
              </a:ext>
            </a:extLst>
          </p:cNvPr>
          <p:cNvSpPr txBox="1"/>
          <p:nvPr/>
        </p:nvSpPr>
        <p:spPr>
          <a:xfrm>
            <a:off x="3285381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826CB9-4693-DAF4-279D-BDB832543829}"/>
              </a:ext>
            </a:extLst>
          </p:cNvPr>
          <p:cNvSpPr txBox="1"/>
          <p:nvPr/>
        </p:nvSpPr>
        <p:spPr>
          <a:xfrm>
            <a:off x="3707904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A26A112-7548-3BB4-4281-891C94A10A88}"/>
              </a:ext>
            </a:extLst>
          </p:cNvPr>
          <p:cNvSpPr txBox="1"/>
          <p:nvPr/>
        </p:nvSpPr>
        <p:spPr>
          <a:xfrm>
            <a:off x="4630688" y="311169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BD10F79C-096C-BBD6-87A7-2FF2BC04CFBB}"/>
              </a:ext>
            </a:extLst>
          </p:cNvPr>
          <p:cNvGrpSpPr/>
          <p:nvPr/>
        </p:nvGrpSpPr>
        <p:grpSpPr>
          <a:xfrm>
            <a:off x="6694790" y="4957482"/>
            <a:ext cx="1018303" cy="1417314"/>
            <a:chOff x="3109697" y="1329840"/>
            <a:chExt cx="1018303" cy="1417314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A1F37310-C3AB-B938-7891-8DB392B9E945}"/>
                </a:ext>
              </a:extLst>
            </p:cNvPr>
            <p:cNvSpPr/>
            <p:nvPr/>
          </p:nvSpPr>
          <p:spPr>
            <a:xfrm rot="10800000">
              <a:off x="3358740" y="1901351"/>
              <a:ext cx="493177" cy="845803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10B45F94-15F0-49E2-EE39-78ED3F3C6B60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56FDB3A-F91D-5A3A-45E7-CF6B6E6ECA98}"/>
                </a:ext>
              </a:extLst>
            </p:cNvPr>
            <p:cNvSpPr txBox="1"/>
            <p:nvPr/>
          </p:nvSpPr>
          <p:spPr>
            <a:xfrm>
              <a:off x="3109697" y="1329840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545AE5E-4676-8B70-9C32-93BEA8F7FB49}"/>
              </a:ext>
            </a:extLst>
          </p:cNvPr>
          <p:cNvSpPr txBox="1"/>
          <p:nvPr/>
        </p:nvSpPr>
        <p:spPr>
          <a:xfrm>
            <a:off x="5364088" y="4033454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98A72DC2-00F3-1E75-1995-110D8F3F5536}"/>
              </a:ext>
            </a:extLst>
          </p:cNvPr>
          <p:cNvSpPr txBox="1"/>
          <p:nvPr/>
        </p:nvSpPr>
        <p:spPr>
          <a:xfrm>
            <a:off x="3851920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443BE9F-5ECF-018A-BBEF-8947BAD3F500}"/>
              </a:ext>
            </a:extLst>
          </p:cNvPr>
          <p:cNvSpPr txBox="1"/>
          <p:nvPr/>
        </p:nvSpPr>
        <p:spPr>
          <a:xfrm>
            <a:off x="622818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0BF89DB0-539D-BF87-763B-CD62C76C3F69}"/>
              </a:ext>
            </a:extLst>
          </p:cNvPr>
          <p:cNvSpPr txBox="1"/>
          <p:nvPr/>
        </p:nvSpPr>
        <p:spPr>
          <a:xfrm>
            <a:off x="6142932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E41F54C6-444A-BC31-224D-4F7D0B2F7058}"/>
              </a:ext>
            </a:extLst>
          </p:cNvPr>
          <p:cNvSpPr txBox="1"/>
          <p:nvPr/>
        </p:nvSpPr>
        <p:spPr>
          <a:xfrm>
            <a:off x="698044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F1C693-CACD-91D3-6257-7D4108D7AD90}"/>
              </a:ext>
            </a:extLst>
          </p:cNvPr>
          <p:cNvSpPr/>
          <p:nvPr/>
        </p:nvSpPr>
        <p:spPr>
          <a:xfrm>
            <a:off x="5580112" y="3909263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2BBC152-9B1D-FE4E-4B25-BE82677DD778}"/>
              </a:ext>
            </a:extLst>
          </p:cNvPr>
          <p:cNvSpPr txBox="1"/>
          <p:nvPr/>
        </p:nvSpPr>
        <p:spPr>
          <a:xfrm>
            <a:off x="5729741" y="4003703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D3CC4048-0E71-FA16-5DDF-C85B7CFB313C}"/>
              </a:ext>
            </a:extLst>
          </p:cNvPr>
          <p:cNvSpPr txBox="1"/>
          <p:nvPr/>
        </p:nvSpPr>
        <p:spPr>
          <a:xfrm>
            <a:off x="6444208" y="4041750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09A1E33-61AA-7D8D-A36D-C89E775F0E7F}"/>
              </a:ext>
            </a:extLst>
          </p:cNvPr>
          <p:cNvSpPr txBox="1"/>
          <p:nvPr/>
        </p:nvSpPr>
        <p:spPr>
          <a:xfrm>
            <a:off x="587996" y="39456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817757FC-C276-A860-7CE0-BB1B7FCEBDAF}"/>
              </a:ext>
            </a:extLst>
          </p:cNvPr>
          <p:cNvSpPr txBox="1"/>
          <p:nvPr/>
        </p:nvSpPr>
        <p:spPr>
          <a:xfrm>
            <a:off x="216322" y="4676906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46A86253-E28B-B50C-1480-A6134715218F}"/>
              </a:ext>
            </a:extLst>
          </p:cNvPr>
          <p:cNvSpPr txBox="1"/>
          <p:nvPr/>
        </p:nvSpPr>
        <p:spPr>
          <a:xfrm>
            <a:off x="784363" y="4677976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CA6125A2-5C46-3F09-26F3-9056D7CBFAFE}"/>
              </a:ext>
            </a:extLst>
          </p:cNvPr>
          <p:cNvSpPr txBox="1"/>
          <p:nvPr/>
        </p:nvSpPr>
        <p:spPr>
          <a:xfrm>
            <a:off x="496094" y="4677977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EF84F864-E32D-61F0-9B6E-1C16F9615E8C}"/>
              </a:ext>
            </a:extLst>
          </p:cNvPr>
          <p:cNvSpPr/>
          <p:nvPr/>
        </p:nvSpPr>
        <p:spPr>
          <a:xfrm rot="5400000">
            <a:off x="6017552" y="313313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ED70A0-0DFF-0742-3A30-053D1CB5D131}"/>
              </a:ext>
            </a:extLst>
          </p:cNvPr>
          <p:cNvSpPr/>
          <p:nvPr/>
        </p:nvSpPr>
        <p:spPr>
          <a:xfrm>
            <a:off x="7560800" y="394201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14D66DB-FBD0-C700-74E3-1E435484F3AA}"/>
              </a:ext>
            </a:extLst>
          </p:cNvPr>
          <p:cNvSpPr txBox="1"/>
          <p:nvPr/>
        </p:nvSpPr>
        <p:spPr>
          <a:xfrm>
            <a:off x="7249636" y="4255179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7D3B520-412A-2425-0093-698C2510D46D}"/>
              </a:ext>
            </a:extLst>
          </p:cNvPr>
          <p:cNvSpPr txBox="1"/>
          <p:nvPr/>
        </p:nvSpPr>
        <p:spPr>
          <a:xfrm>
            <a:off x="6701937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D42BE59-5156-3DD0-8025-1EB88D45FB3A}"/>
              </a:ext>
            </a:extLst>
          </p:cNvPr>
          <p:cNvSpPr/>
          <p:nvPr/>
        </p:nvSpPr>
        <p:spPr>
          <a:xfrm>
            <a:off x="7528550" y="4305008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C5347614-7FDD-5EBC-A92D-A144E4592844}"/>
              </a:ext>
            </a:extLst>
          </p:cNvPr>
          <p:cNvSpPr/>
          <p:nvPr/>
        </p:nvSpPr>
        <p:spPr>
          <a:xfrm>
            <a:off x="8001706" y="3951700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0D351E8-DD5D-45EC-3D68-1DB03C468311}"/>
              </a:ext>
            </a:extLst>
          </p:cNvPr>
          <p:cNvSpPr/>
          <p:nvPr/>
        </p:nvSpPr>
        <p:spPr>
          <a:xfrm>
            <a:off x="8604448" y="3435814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9448ACD-5DAA-22A4-DFC2-E62C5D0F9C1A}"/>
              </a:ext>
            </a:extLst>
          </p:cNvPr>
          <p:cNvSpPr txBox="1"/>
          <p:nvPr/>
        </p:nvSpPr>
        <p:spPr>
          <a:xfrm>
            <a:off x="8452577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8779BDC-1D93-71FE-F256-50DC84E4ED11}"/>
              </a:ext>
            </a:extLst>
          </p:cNvPr>
          <p:cNvSpPr txBox="1"/>
          <p:nvPr/>
        </p:nvSpPr>
        <p:spPr>
          <a:xfrm>
            <a:off x="8639211" y="335876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F614B991-D199-C540-CBFA-88B519E4D84D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3052611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6B3F63C2-17F9-29AE-391A-D9D9C2850533}"/>
              </a:ext>
            </a:extLst>
          </p:cNvPr>
          <p:cNvSpPr txBox="1"/>
          <p:nvPr/>
        </p:nvSpPr>
        <p:spPr>
          <a:xfrm>
            <a:off x="5724128" y="371247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998D3486-2A70-9920-8ECF-08D75483C498}"/>
              </a:ext>
            </a:extLst>
          </p:cNvPr>
          <p:cNvSpPr txBox="1"/>
          <p:nvPr/>
        </p:nvSpPr>
        <p:spPr>
          <a:xfrm>
            <a:off x="7542059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7B933BE-BF09-ED6C-6EBD-12DEC1D0BFA9}"/>
              </a:ext>
            </a:extLst>
          </p:cNvPr>
          <p:cNvSpPr txBox="1"/>
          <p:nvPr/>
        </p:nvSpPr>
        <p:spPr>
          <a:xfrm>
            <a:off x="5364088" y="2796520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F3449CCA-134C-8FF7-188C-2DE2B5FC05EB}"/>
              </a:ext>
            </a:extLst>
          </p:cNvPr>
          <p:cNvSpPr txBox="1"/>
          <p:nvPr/>
        </p:nvSpPr>
        <p:spPr>
          <a:xfrm>
            <a:off x="2865741" y="5030465"/>
            <a:ext cx="514298" cy="14497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  <a:r>
              <a:rPr lang="zh-TW" altLang="en-US" sz="1000" dirty="0"/>
              <a:t> </a:t>
            </a: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13C6E0BF-586E-B0B2-9386-F9E9E698D407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4177088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3545698-DA0B-E5EE-B245-4ACA40131387}"/>
              </a:ext>
            </a:extLst>
          </p:cNvPr>
          <p:cNvSpPr txBox="1"/>
          <p:nvPr/>
        </p:nvSpPr>
        <p:spPr>
          <a:xfrm>
            <a:off x="7380312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C0759E9-DBA1-83B9-2D84-045743A5A19F}"/>
              </a:ext>
            </a:extLst>
          </p:cNvPr>
          <p:cNvSpPr txBox="1"/>
          <p:nvPr/>
        </p:nvSpPr>
        <p:spPr>
          <a:xfrm>
            <a:off x="4623181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C11669D-5816-29F7-FBBC-2969E292762F}"/>
              </a:ext>
            </a:extLst>
          </p:cNvPr>
          <p:cNvSpPr txBox="1"/>
          <p:nvPr/>
        </p:nvSpPr>
        <p:spPr>
          <a:xfrm>
            <a:off x="4911168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6983CA2-2580-42A5-47DA-A1410471C3D8}"/>
              </a:ext>
            </a:extLst>
          </p:cNvPr>
          <p:cNvSpPr txBox="1"/>
          <p:nvPr/>
        </p:nvSpPr>
        <p:spPr>
          <a:xfrm>
            <a:off x="4447034" y="5026888"/>
            <a:ext cx="606383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  <a:r>
              <a:rPr lang="zh-TW" altLang="en-US" sz="1000" dirty="0"/>
              <a:t> </a:t>
            </a:r>
            <a:r>
              <a:rPr lang="en-US" altLang="zh-TW" sz="1000" dirty="0"/>
              <a:t>Rate</a:t>
            </a:r>
            <a:endParaRPr lang="zh-TW" altLang="en-US" sz="1000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5B9A9A62-1AC6-514A-113F-63EB23177700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2449173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28394B9-085C-B958-FAB6-FFD7C984566B}"/>
              </a:ext>
            </a:extLst>
          </p:cNvPr>
          <p:cNvSpPr txBox="1"/>
          <p:nvPr/>
        </p:nvSpPr>
        <p:spPr>
          <a:xfrm>
            <a:off x="3001699" y="3349701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363</TotalTime>
  <Words>2438</Words>
  <Application>Microsoft Office PowerPoint</Application>
  <PresentationFormat>如螢幕大小 (4:3)</PresentationFormat>
  <Paragraphs>878</Paragraphs>
  <Slides>13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5" baseType="lpstr">
      <vt:lpstr>Google Sans</vt:lpstr>
      <vt:lpstr>HGGothicE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2045</cp:revision>
  <cp:lastPrinted>2024-07-30T01:44:15Z</cp:lastPrinted>
  <dcterms:created xsi:type="dcterms:W3CDTF">2019-11-08T03:01:47Z</dcterms:created>
  <dcterms:modified xsi:type="dcterms:W3CDTF">2026-10-19T09:00:18Z</dcterms:modified>
</cp:coreProperties>
</file>