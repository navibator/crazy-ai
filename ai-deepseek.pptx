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555" r:id="rId4"/>
    <p:sldId id="3554" r:id="rId5"/>
    <p:sldId id="3548" r:id="rId6"/>
    <p:sldId id="3547" r:id="rId7"/>
    <p:sldId id="3570" r:id="rId8"/>
    <p:sldId id="3572" r:id="rId9"/>
    <p:sldId id="3571" r:id="rId10"/>
    <p:sldId id="3577" r:id="rId11"/>
    <p:sldId id="3576" r:id="rId12"/>
    <p:sldId id="3482" r:id="rId13"/>
    <p:sldId id="3573" r:id="rId14"/>
    <p:sldId id="3537" r:id="rId15"/>
    <p:sldId id="3558" r:id="rId16"/>
    <p:sldId id="3564" r:id="rId17"/>
    <p:sldId id="3557" r:id="rId18"/>
    <p:sldId id="3544" r:id="rId19"/>
    <p:sldId id="3540" r:id="rId20"/>
    <p:sldId id="3543" r:id="rId21"/>
    <p:sldId id="3545" r:id="rId22"/>
    <p:sldId id="3539" r:id="rId23"/>
    <p:sldId id="3542" r:id="rId24"/>
    <p:sldId id="3538" r:id="rId25"/>
    <p:sldId id="3560" r:id="rId26"/>
    <p:sldId id="3549"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Attention" id="{F4A70ED6-EB89-4CD0-B015-FE550DC91F1A}">
          <p14:sldIdLst>
            <p14:sldId id="3577"/>
            <p14:sldId id="3576"/>
            <p14:sldId id="3482"/>
            <p14:sldId id="3573"/>
          </p14:sldIdLst>
        </p14:section>
        <p14:section name="Deepseek" id="{8CC3907E-2537-4761-B8B4-20CC1D391E20}">
          <p14:sldIdLst>
            <p14:sldId id="3537"/>
            <p14:sldId id="3558"/>
            <p14:sldId id="3564"/>
            <p14:sldId id="3557"/>
            <p14:sldId id="3544"/>
            <p14:sldId id="3540"/>
            <p14:sldId id="3543"/>
            <p14:sldId id="3545"/>
            <p14:sldId id="3539"/>
            <p14:sldId id="3542"/>
            <p14:sldId id="3538"/>
          </p14:sldIdLst>
        </p14:section>
        <p14:section name="Conclusion" id="{D9E6914C-A73F-4176-B0F8-3F87EAC09119}">
          <p14:sldIdLst>
            <p14:sldId id="3560"/>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887"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D8BFB-7CCD-B713-A0D3-28C17A430CA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75E61F5-F81D-D83E-AAAD-3516131436A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0DB2834-7FDE-5944-2693-19B4C3EA77F8}"/>
              </a:ext>
            </a:extLst>
          </p:cNvPr>
          <p:cNvSpPr>
            <a:spLocks noGrp="1"/>
          </p:cNvSpPr>
          <p:nvPr>
            <p:ph type="body" idx="1"/>
          </p:nvPr>
        </p:nvSpPr>
        <p:spPr/>
        <p:txBody>
          <a:bodyPr/>
          <a:lstStyle/>
          <a:p>
            <a:r>
              <a:rPr lang="zh-TW" altLang="zh-TW" dirty="0"/>
              <a:t>MLA（Multi-head Latent Attention，多頭潛在注意力）是 DeepSeek 在 DeepSeek-V2 和 V3/R1 等模型中推出的核心創新架構，</a:t>
            </a:r>
            <a:endParaRPr lang="en-US" altLang="zh-TW" dirty="0"/>
          </a:p>
          <a:p>
            <a:r>
              <a:rPr lang="zh-TW" altLang="zh-TW" dirty="0"/>
              <a:t>主要用來大幅降低大模型在推理時的 KV 快取（KV Cache）記憶體佔用，同時維持甚至超越傳統多頭注意力（MHA）的效能。</a:t>
            </a:r>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什麼是 KV Cache</a:t>
            </a:r>
            <a:r>
              <a:rPr lang="zh-TW" altLang="zh-TW" dirty="0"/>
              <a:t>：大型語言模型（LLM）在生成文字（推理）</a:t>
            </a:r>
            <a:endParaRPr lang="en-US" altLang="zh-TW" dirty="0"/>
          </a:p>
          <a:p>
            <a:r>
              <a:rPr lang="zh-TW" altLang="zh-TW" dirty="0"/>
              <a:t>時，為了不重複計算前面每個字的特徵，需要把歷史文字的 Key（鍵）和 Value（值）矩陣存放在 GPU 顯存中，這就是 KV Cache。</a:t>
            </a:r>
            <a:endParaRPr lang="en-US" altLang="zh-TW" dirty="0"/>
          </a:p>
          <a:p>
            <a:endParaRPr lang="en-US" altLang="zh-TW" dirty="0"/>
          </a:p>
          <a:p>
            <a:pPr lvl="0"/>
            <a:r>
              <a:rPr lang="zh-TW" altLang="zh-TW" sz="1200" b="1" u="none" strike="noStrike" kern="1200" dirty="0">
                <a:solidFill>
                  <a:schemeClr val="tx1"/>
                </a:solidFill>
                <a:effectLst/>
                <a:latin typeface="+mn-lt"/>
                <a:ea typeface="+mn-ea"/>
                <a:cs typeface="+mn-cs"/>
              </a:rPr>
              <a:t>記憶體爆炸</a:t>
            </a:r>
            <a:r>
              <a:rPr lang="zh-TW" altLang="zh-TW" sz="1200" b="0" u="none" strike="noStrike" kern="1200" dirty="0">
                <a:solidFill>
                  <a:schemeClr val="tx1"/>
                </a:solidFill>
                <a:effectLst/>
                <a:latin typeface="+mn-lt"/>
                <a:ea typeface="+mn-ea"/>
                <a:cs typeface="+mn-cs"/>
              </a:rPr>
              <a:t>：當處理極長文本（例如 128K 甚至更長上下文）或高併發時，KV Cache 的體積會隨著序列長度線性增長，佔滿整個 GPU 顯存，成為系統瓶頸。 </a:t>
            </a:r>
          </a:p>
          <a:p>
            <a:pPr lvl="0"/>
            <a:r>
              <a:rPr lang="zh-TW" altLang="zh-TW" sz="1200" b="1" u="none" strike="noStrike" kern="1200" dirty="0">
                <a:solidFill>
                  <a:schemeClr val="tx1"/>
                </a:solidFill>
                <a:effectLst/>
                <a:latin typeface="+mn-lt"/>
                <a:ea typeface="+mn-ea"/>
                <a:cs typeface="+mn-cs"/>
              </a:rPr>
              <a:t>傳統折衷方案的缺憾</a:t>
            </a:r>
            <a:r>
              <a:rPr lang="zh-TW" altLang="zh-TW" sz="1200" b="0" u="none" strike="noStrike" kern="1200" dirty="0">
                <a:solidFill>
                  <a:schemeClr val="tx1"/>
                </a:solidFill>
                <a:effectLst/>
                <a:latin typeface="+mn-lt"/>
                <a:ea typeface="+mn-ea"/>
                <a:cs typeface="+mn-cs"/>
              </a:rPr>
              <a:t>：過去雖有 MQA（Multi-Query Attention）或 GQA（Grouped-Query Attention）來減少快取，但往往會犧牲模型的表現能力。</a:t>
            </a:r>
          </a:p>
          <a:p>
            <a:endParaRPr lang="zh-TW" altLang="en-US" dirty="0"/>
          </a:p>
        </p:txBody>
      </p:sp>
      <p:sp>
        <p:nvSpPr>
          <p:cNvPr id="4" name="投影片編號版面配置區 3">
            <a:extLst>
              <a:ext uri="{FF2B5EF4-FFF2-40B4-BE49-F238E27FC236}">
                <a16:creationId xmlns:a16="http://schemas.microsoft.com/office/drawing/2014/main" id="{4FFA9E40-5DE7-9C2E-C798-BEA5B8327050}"/>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7524945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FD4D6-7E4D-EDA8-8CE4-F46CB445C38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7E7CACD-0692-25D0-2B6B-1DA20C9113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DB8BAF1-EF90-1822-35FE-6CF042B50F7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MLA 的核心祕密是</a:t>
            </a:r>
            <a:r>
              <a:rPr lang="zh-TW" altLang="zh-TW" sz="1200" b="1" u="none" strike="noStrike" kern="1200" dirty="0">
                <a:solidFill>
                  <a:schemeClr val="tx1"/>
                </a:solidFill>
                <a:effectLst/>
                <a:latin typeface="+mn-lt"/>
                <a:ea typeface="+mn-ea"/>
                <a:cs typeface="+mn-cs"/>
              </a:rPr>
              <a:t>低秩聯合壓縮（Low-rank Joint Compression）</a:t>
            </a:r>
            <a:r>
              <a:rPr lang="zh-TW" altLang="zh-TW" sz="1200" b="0" u="none" strike="noStrike" kern="1200" dirty="0">
                <a:solidFill>
                  <a:schemeClr val="tx1"/>
                </a:solidFill>
                <a:effectLst/>
                <a:latin typeface="+mn-lt"/>
                <a:ea typeface="+mn-ea"/>
                <a:cs typeface="+mn-cs"/>
              </a:rPr>
              <a:t>，概念類似圖像的 JPEG 壓縮 或 LoRA： </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壓縮 KV（降維快取）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傳統模型要把龐大的高維 Key 和 Value 完整存下來。</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MLA 在存儲時，先用一個低秩壓縮矩陣把高維的 KV 資訊投影到一個</a:t>
            </a:r>
            <a:r>
              <a:rPr lang="zh-TW" altLang="zh-TW" sz="1200" b="1" u="none" strike="noStrike" kern="1200" dirty="0">
                <a:solidFill>
                  <a:schemeClr val="tx1"/>
                </a:solidFill>
                <a:effectLst/>
                <a:latin typeface="+mn-lt"/>
                <a:ea typeface="+mn-ea"/>
                <a:cs typeface="+mn-cs"/>
              </a:rPr>
              <a:t>極小的低維潛在空間（Latent Vector）</a:t>
            </a:r>
            <a:r>
              <a:rPr lang="zh-TW" altLang="zh-TW" sz="1200" b="0" u="none" strike="noStrike" kern="1200" dirty="0">
                <a:solidFill>
                  <a:schemeClr val="tx1"/>
                </a:solidFill>
                <a:effectLst/>
                <a:latin typeface="+mn-lt"/>
                <a:ea typeface="+mn-ea"/>
                <a:cs typeface="+mn-cs"/>
              </a:rPr>
              <a:t>中。</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例如將原本高達數千維的特徵壓縮到幾百維，讓 </a:t>
            </a:r>
            <a:r>
              <a:rPr lang="zh-TW" altLang="zh-TW" sz="1200" b="1" u="none" strike="noStrike" kern="1200" dirty="0">
                <a:solidFill>
                  <a:schemeClr val="tx1"/>
                </a:solidFill>
                <a:effectLst/>
                <a:latin typeface="+mn-lt"/>
                <a:ea typeface="+mn-ea"/>
                <a:cs typeface="+mn-cs"/>
              </a:rPr>
              <a:t>KV 顯存佔用直接大降 90% 以上</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矩陣吸收（Matrix Absorption，推理加速）</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當需要進行注意力計算時，再利用上投影矩陣把低維向量還原。更厲害的是，透過</a:t>
            </a:r>
            <a:r>
              <a:rPr lang="zh-TW" altLang="zh-TW" sz="1200" b="1" u="none" strike="noStrike" kern="1200" dirty="0">
                <a:solidFill>
                  <a:schemeClr val="tx1"/>
                </a:solidFill>
                <a:effectLst/>
                <a:latin typeface="+mn-lt"/>
                <a:ea typeface="+mn-ea"/>
                <a:cs typeface="+mn-cs"/>
              </a:rPr>
              <a:t>矩陣乘法的結合律</a:t>
            </a:r>
            <a:r>
              <a:rPr lang="zh-TW" altLang="zh-TW" sz="1200" b="0" u="none" strike="noStrike" kern="1200" dirty="0">
                <a:solidFill>
                  <a:schemeClr val="tx1"/>
                </a:solidFill>
                <a:effectLst/>
                <a:latin typeface="+mn-lt"/>
                <a:ea typeface="+mn-ea"/>
                <a:cs typeface="+mn-cs"/>
              </a:rPr>
              <a:t>，DeepSeek 巧妙地把解壓矩陣「吸收到」相鄰的查詢矩陣 \(W^{Q}\) 或輸出矩陣中，避免了額外的即時解壓計算開銷，讓推理速度更快。</a:t>
            </a:r>
          </a:p>
          <a:p>
            <a:pPr lvl="0"/>
            <a:endParaRPr lang="en-US" altLang="zh-TW" sz="1200" b="1"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解耦旋轉位置編碼（Decoupled RoPE）</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傳統位置編碼會和 Key/Value 綁定在一起，破壞了矩陣壓縮的結構。</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獨立出一小部分專門的維度來處理位置資訊（RoPE），完美兼顧了長文本位置感知與 KV 壓縮。</a:t>
            </a:r>
            <a:endParaRPr lang="en-US" altLang="zh-TW" sz="1200" b="0" u="none" strike="noStrike" kern="1200" dirty="0">
              <a:solidFill>
                <a:schemeClr val="tx1"/>
              </a:solidFill>
              <a:effectLst/>
              <a:latin typeface="+mn-lt"/>
              <a:ea typeface="+mn-ea"/>
              <a:cs typeface="+mn-cs"/>
            </a:endParaRPr>
          </a:p>
          <a:p>
            <a:pPr lvl="1"/>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9240F907-B297-0DEA-8915-E5EF81224F61}"/>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920610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2</a:t>
            </a:r>
            <a:r>
              <a:rPr lang="zh-TW" altLang="zh-TW" sz="1200" b="1" u="none" strike="noStrike" kern="1200" dirty="0">
                <a:solidFill>
                  <a:schemeClr val="tx1"/>
                </a:solidFill>
                <a:effectLst/>
                <a:latin typeface="+mn-lt"/>
                <a:ea typeface="+mn-ea"/>
                <a:cs typeface="+mn-cs"/>
              </a:rPr>
              <a:t>015年 12月ResNet微軟亞洲研究院 (MSRA)</a:t>
            </a:r>
            <a:r>
              <a:rPr lang="zh-TW" altLang="zh-TW" sz="1200" b="0" u="none" strike="noStrike" kern="1200" dirty="0">
                <a:solidFill>
                  <a:schemeClr val="tx1"/>
                </a:solidFill>
                <a:effectLst/>
                <a:latin typeface="+mn-lt"/>
                <a:ea typeface="+mn-ea"/>
                <a:cs typeface="+mn-cs"/>
              </a:rPr>
              <a:t>何愷明、張祥雨、任少卿、孫劍</a:t>
            </a:r>
            <a:r>
              <a:rPr lang="zh-TW" altLang="zh-TW" sz="1200" b="1" u="none" strike="noStrike" kern="1200" dirty="0">
                <a:solidFill>
                  <a:schemeClr val="tx1"/>
                </a:solidFill>
                <a:effectLst/>
                <a:latin typeface="+mn-lt"/>
                <a:ea typeface="+mn-ea"/>
                <a:cs typeface="+mn-cs"/>
              </a:rPr>
              <a:t>奠定基石</a:t>
            </a:r>
            <a:r>
              <a:rPr lang="zh-TW" altLang="zh-TW" sz="1200" b="0" u="none" strike="noStrike" kern="1200" dirty="0">
                <a:solidFill>
                  <a:schemeClr val="tx1"/>
                </a:solidFill>
                <a:effectLst/>
                <a:latin typeface="+mn-lt"/>
                <a:ea typeface="+mn-ea"/>
                <a:cs typeface="+mn-cs"/>
              </a:rPr>
              <a:t>：首次提出標準殘差連接（H(x) = F(x) + x），透過捷徑連接解決深層網路退化與梯度消失問題，沿用至今成為 Transformer 的默認配置。</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2024年 12月HC</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(Hyper-Connections)</a:t>
            </a:r>
            <a:r>
              <a:rPr lang="zh-TW" altLang="zh-TW" sz="1200" b="1" u="none" strike="noStrike" kern="1200" dirty="0">
                <a:solidFill>
                  <a:schemeClr val="tx1"/>
                </a:solidFill>
                <a:effectLst/>
                <a:latin typeface="+mn-lt"/>
                <a:ea typeface="+mn-ea"/>
                <a:cs typeface="+mn-cs"/>
              </a:rPr>
              <a:t>字節跳動 (ByteDance)</a:t>
            </a:r>
            <a:r>
              <a:rPr lang="zh-TW" altLang="zh-TW" sz="1200" b="0" u="none" strike="noStrike" kern="1200" dirty="0">
                <a:solidFill>
                  <a:schemeClr val="tx1"/>
                </a:solidFill>
                <a:effectLst/>
                <a:latin typeface="+mn-lt"/>
                <a:ea typeface="+mn-ea"/>
                <a:cs typeface="+mn-cs"/>
              </a:rPr>
              <a:t>朱等 (Zhu et al.)</a:t>
            </a:r>
            <a:r>
              <a:rPr lang="zh-TW" altLang="zh-TW" sz="1200" b="1" u="none" strike="noStrike" kern="1200" dirty="0">
                <a:solidFill>
                  <a:schemeClr val="tx1"/>
                </a:solidFill>
                <a:effectLst/>
                <a:latin typeface="+mn-lt"/>
                <a:ea typeface="+mn-ea"/>
                <a:cs typeface="+mn-cs"/>
              </a:rPr>
              <a:t>拓寬架構</a:t>
            </a:r>
            <a:r>
              <a:rPr lang="zh-TW" altLang="zh-TW" sz="1200" b="0" u="none" strike="noStrike" kern="1200" dirty="0">
                <a:solidFill>
                  <a:schemeClr val="tx1"/>
                </a:solidFill>
                <a:effectLst/>
                <a:latin typeface="+mn-lt"/>
                <a:ea typeface="+mn-ea"/>
                <a:cs typeface="+mn-cs"/>
              </a:rPr>
              <a:t>：打破單一殘差流限制，提出「多流並行（多通道）混合」，但多通道隨意混合容易破壞恆等映射，導致超深大模型訓練不穩定。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2025年 2月MUDDformer</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北京郵電大學 &amp; 彩雲科技</a:t>
            </a:r>
            <a:r>
              <a:rPr lang="zh-TW" altLang="zh-TW" sz="1200" b="0" u="none" strike="noStrike" kern="1200" dirty="0">
                <a:solidFill>
                  <a:schemeClr val="tx1"/>
                </a:solidFill>
                <a:effectLst/>
                <a:latin typeface="+mn-lt"/>
                <a:ea typeface="+mn-ea"/>
                <a:cs typeface="+mn-cs"/>
              </a:rPr>
              <a:t>肖達 (Da Xiao)、孟慶業、李省平、袁行遠</a:t>
            </a:r>
            <a:r>
              <a:rPr lang="zh-TW" altLang="zh-TW" sz="1200" b="1" u="none" strike="noStrike" kern="1200" dirty="0">
                <a:solidFill>
                  <a:schemeClr val="tx1"/>
                </a:solidFill>
                <a:effectLst/>
                <a:latin typeface="+mn-lt"/>
                <a:ea typeface="+mn-ea"/>
                <a:cs typeface="+mn-cs"/>
              </a:rPr>
              <a:t>引入動態稠密</a:t>
            </a:r>
            <a:r>
              <a:rPr lang="zh-TW" altLang="zh-TW" sz="1200" b="0" u="none" strike="noStrike" kern="1200" dirty="0">
                <a:solidFill>
                  <a:schemeClr val="tx1"/>
                </a:solidFill>
                <a:effectLst/>
                <a:latin typeface="+mn-lt"/>
                <a:ea typeface="+mn-ea"/>
                <a:cs typeface="+mn-cs"/>
              </a:rPr>
              <a:t>：將 Transformer 的輸入切分為 4 個獨立流</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Q</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R</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並利用輕量化 MLP 依據 token 位置</a:t>
            </a:r>
            <a:r>
              <a:rPr lang="zh-TW" altLang="zh-TW" sz="1200" b="1" u="none" strike="noStrike" kern="1200" dirty="0">
                <a:solidFill>
                  <a:schemeClr val="tx1"/>
                </a:solidFill>
                <a:effectLst/>
                <a:latin typeface="+mn-lt"/>
                <a:ea typeface="+mn-ea"/>
                <a:cs typeface="+mn-cs"/>
              </a:rPr>
              <a:t>動態生成跨層稠密連接權重</a:t>
            </a:r>
            <a:r>
              <a:rPr lang="zh-TW" altLang="zh-TW" sz="1200" b="0" u="none" strike="noStrike" kern="1200" dirty="0">
                <a:solidFill>
                  <a:schemeClr val="tx1"/>
                </a:solidFill>
                <a:effectLst/>
                <a:latin typeface="+mn-lt"/>
                <a:ea typeface="+mn-ea"/>
                <a:cs typeface="+mn-cs"/>
              </a:rPr>
              <a:t>。</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1月mHC</a:t>
            </a:r>
            <a:r>
              <a:rPr lang="zh-TW" altLang="zh-TW" sz="1200" b="0" u="none" strike="noStrike" kern="1200" dirty="0">
                <a:solidFill>
                  <a:schemeClr val="tx1"/>
                </a:solidFill>
                <a:effectLst/>
                <a:latin typeface="+mn-lt"/>
                <a:ea typeface="+mn-ea"/>
                <a:cs typeface="+mn-cs"/>
              </a:rPr>
              <a:t> </a:t>
            </a:r>
            <a:r>
              <a:rPr lang="en-US"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(Manifold-Constrained HC)</a:t>
            </a:r>
            <a:r>
              <a:rPr lang="zh-TW" altLang="zh-TW" sz="1200" b="1" u="none" strike="noStrike" kern="1200" dirty="0">
                <a:solidFill>
                  <a:schemeClr val="tx1"/>
                </a:solidFill>
                <a:effectLst/>
                <a:latin typeface="+mn-lt"/>
                <a:ea typeface="+mn-ea"/>
                <a:cs typeface="+mn-cs"/>
              </a:rPr>
              <a:t>深度求索 (DeepSeek)</a:t>
            </a:r>
            <a:r>
              <a:rPr lang="zh-TW" altLang="zh-TW" sz="1200" b="0" u="none" strike="noStrike" kern="1200" dirty="0">
                <a:solidFill>
                  <a:schemeClr val="tx1"/>
                </a:solidFill>
                <a:effectLst/>
                <a:latin typeface="+mn-lt"/>
                <a:ea typeface="+mn-ea"/>
                <a:cs typeface="+mn-cs"/>
              </a:rPr>
              <a:t>謝振達、梁文峰等 (Xie et al.)</a:t>
            </a:r>
            <a:r>
              <a:rPr lang="zh-TW" altLang="zh-TW" sz="1200" b="1" u="none" strike="noStrike" kern="1200" dirty="0">
                <a:solidFill>
                  <a:schemeClr val="tx1"/>
                </a:solidFill>
                <a:effectLst/>
                <a:latin typeface="+mn-lt"/>
                <a:ea typeface="+mn-ea"/>
                <a:cs typeface="+mn-cs"/>
              </a:rPr>
              <a:t>加入數學約束</a:t>
            </a:r>
            <a:r>
              <a:rPr lang="zh-TW" altLang="zh-TW" sz="1200" b="0" u="none" strike="noStrike" kern="1200" dirty="0">
                <a:solidFill>
                  <a:schemeClr val="tx1"/>
                </a:solidFill>
                <a:effectLst/>
                <a:latin typeface="+mn-lt"/>
                <a:ea typeface="+mn-ea"/>
                <a:cs typeface="+mn-cs"/>
              </a:rPr>
              <a:t>：回歸數學本質，利用 Sinkhorn-Knopp 演算法將多流混合矩陣強制約束在一個「雙隨機流形」上，既保留多通道的表達力，又找回了 ResNet 訓練的穩定性。</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2026年 3月AttnRes</a:t>
            </a:r>
            <a:r>
              <a:rPr lang="zh-TW" altLang="zh-TW" sz="1200" b="0" u="none" strike="noStrike" kern="1200" dirty="0">
                <a:solidFill>
                  <a:schemeClr val="tx1"/>
                </a:solidFill>
                <a:effectLst/>
                <a:latin typeface="+mn-lt"/>
                <a:ea typeface="+mn-ea"/>
                <a:cs typeface="+mn-cs"/>
              </a:rPr>
              <a:t> </a:t>
            </a:r>
            <a:r>
              <a:rPr lang="zh-TW" altLang="zh-TW" sz="1200" b="0" i="1" u="none" strike="noStrike" kern="1200" dirty="0">
                <a:solidFill>
                  <a:schemeClr val="tx1"/>
                </a:solidFill>
                <a:effectLst/>
                <a:latin typeface="+mn-lt"/>
                <a:ea typeface="+mn-ea"/>
                <a:cs typeface="+mn-cs"/>
              </a:rPr>
              <a:t>(Attention Residuals)</a:t>
            </a:r>
            <a:r>
              <a:rPr lang="zh-TW" altLang="zh-TW" sz="1200" b="1" u="none" strike="noStrike" kern="1200" dirty="0">
                <a:solidFill>
                  <a:schemeClr val="tx1"/>
                </a:solidFill>
                <a:effectLst/>
                <a:latin typeface="+mn-lt"/>
                <a:ea typeface="+mn-ea"/>
                <a:cs typeface="+mn-cs"/>
              </a:rPr>
              <a:t>月之暗面 (Moonshot AI)</a:t>
            </a:r>
            <a:r>
              <a:rPr lang="zh-TW" altLang="zh-TW" sz="1200" b="0" u="none" strike="noStrike" kern="1200" dirty="0">
                <a:solidFill>
                  <a:schemeClr val="tx1"/>
                </a:solidFill>
                <a:effectLst/>
                <a:latin typeface="+mn-lt"/>
                <a:ea typeface="+mn-ea"/>
                <a:cs typeface="+mn-cs"/>
              </a:rPr>
              <a:t>陳廣宇、張宇、蘇劍林 (Kimi 團隊)</a:t>
            </a:r>
            <a:r>
              <a:rPr lang="zh-TW" altLang="zh-TW" sz="1200" b="1" u="none" strike="noStrike" kern="1200" dirty="0">
                <a:solidFill>
                  <a:schemeClr val="tx1"/>
                </a:solidFill>
                <a:effectLst/>
                <a:latin typeface="+mn-lt"/>
                <a:ea typeface="+mn-ea"/>
                <a:cs typeface="+mn-cs"/>
              </a:rPr>
              <a:t>終極注意力重構</a:t>
            </a:r>
            <a:r>
              <a:rPr lang="zh-TW" altLang="zh-TW" sz="1200" b="0" u="none" strike="noStrike" kern="1200" dirty="0">
                <a:solidFill>
                  <a:schemeClr val="tx1"/>
                </a:solidFill>
                <a:effectLst/>
                <a:latin typeface="+mn-lt"/>
                <a:ea typeface="+mn-ea"/>
                <a:cs typeface="+mn-cs"/>
              </a:rPr>
              <a:t>：提出深度與時間的對偶性，徹底拋棄硬相加，改用 </a:t>
            </a:r>
            <a:r>
              <a:rPr lang="zh-TW" altLang="zh-TW" sz="1200" b="1" u="none" strike="noStrike" kern="1200" dirty="0">
                <a:solidFill>
                  <a:schemeClr val="tx1"/>
                </a:solidFill>
                <a:effectLst/>
                <a:latin typeface="+mn-lt"/>
                <a:ea typeface="+mn-ea"/>
                <a:cs typeface="+mn-cs"/>
              </a:rPr>
              <a:t>Softmax Attention</a:t>
            </a:r>
            <a:r>
              <a:rPr lang="zh-TW" altLang="zh-TW" sz="1200" b="0" u="none" strike="noStrike" kern="1200" dirty="0">
                <a:solidFill>
                  <a:schemeClr val="tx1"/>
                </a:solidFill>
                <a:effectLst/>
                <a:latin typeface="+mn-lt"/>
                <a:ea typeface="+mn-ea"/>
                <a:cs typeface="+mn-cs"/>
              </a:rPr>
              <a:t> 機制，讓深層網路能像翻書查資料一樣，主動且具選擇性地撈取前面任意層的特徵，並以 Block AttnRes 成功商用落地。</a:t>
            </a: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這十年的技術演進，本質上是將殘差連線從</a:t>
            </a:r>
            <a:r>
              <a:rPr lang="zh-TW" altLang="zh-TW" sz="1200" b="1" u="none" strike="noStrike" kern="1200" dirty="0">
                <a:solidFill>
                  <a:schemeClr val="tx1"/>
                </a:solidFill>
                <a:effectLst/>
                <a:latin typeface="+mn-lt"/>
                <a:ea typeface="+mn-ea"/>
                <a:cs typeface="+mn-cs"/>
              </a:rPr>
              <a:t>「靜態、死板的等權重相加」</a:t>
            </a:r>
            <a:r>
              <a:rPr lang="zh-TW" altLang="zh-TW" sz="1200" b="0" u="none" strike="noStrike" kern="1200" dirty="0">
                <a:solidFill>
                  <a:schemeClr val="tx1"/>
                </a:solidFill>
                <a:effectLst/>
                <a:latin typeface="+mn-lt"/>
                <a:ea typeface="+mn-ea"/>
                <a:cs typeface="+mn-cs"/>
              </a:rPr>
              <a:t>逐步轉化為</a:t>
            </a:r>
            <a:r>
              <a:rPr lang="zh-TW" altLang="zh-TW" sz="1200" b="1" u="none" strike="noStrike" kern="1200" dirty="0">
                <a:solidFill>
                  <a:schemeClr val="tx1"/>
                </a:solidFill>
                <a:effectLst/>
                <a:latin typeface="+mn-lt"/>
                <a:ea typeface="+mn-ea"/>
                <a:cs typeface="+mn-cs"/>
              </a:rPr>
              <a:t>「動態、可學習的條件聚合」</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微軟</a:t>
            </a:r>
            <a:r>
              <a:rPr lang="zh-TW" altLang="zh-TW" sz="1200" b="0" u="none" strike="noStrike" kern="1200" dirty="0">
                <a:solidFill>
                  <a:schemeClr val="tx1"/>
                </a:solidFill>
                <a:effectLst/>
                <a:latin typeface="+mn-lt"/>
                <a:ea typeface="+mn-ea"/>
                <a:cs typeface="+mn-cs"/>
              </a:rPr>
              <a:t>給了世界一條不會斷的梯度導線；</a:t>
            </a:r>
          </a:p>
          <a:p>
            <a:pPr lvl="0"/>
            <a:r>
              <a:rPr lang="zh-TW" altLang="zh-TW" sz="1200" b="1" u="none" strike="noStrike" kern="1200" dirty="0">
                <a:solidFill>
                  <a:schemeClr val="tx1"/>
                </a:solidFill>
                <a:effectLst/>
                <a:latin typeface="+mn-lt"/>
                <a:ea typeface="+mn-ea"/>
                <a:cs typeface="+mn-cs"/>
              </a:rPr>
              <a:t>字節跳動</a:t>
            </a:r>
            <a:r>
              <a:rPr lang="zh-TW" altLang="zh-TW" sz="1200" b="0" u="none" strike="noStrike" kern="1200" dirty="0">
                <a:solidFill>
                  <a:schemeClr val="tx1"/>
                </a:solidFill>
                <a:effectLst/>
                <a:latin typeface="+mn-lt"/>
                <a:ea typeface="+mn-ea"/>
                <a:cs typeface="+mn-cs"/>
              </a:rPr>
              <a:t>與</a:t>
            </a:r>
            <a:r>
              <a:rPr lang="zh-TW" altLang="zh-TW" sz="1200" b="1" u="none" strike="noStrike" kern="1200" dirty="0">
                <a:solidFill>
                  <a:schemeClr val="tx1"/>
                </a:solidFill>
                <a:effectLst/>
                <a:latin typeface="+mn-lt"/>
                <a:ea typeface="+mn-ea"/>
                <a:cs typeface="+mn-cs"/>
              </a:rPr>
              <a:t>北郵/彩雲科技</a:t>
            </a:r>
            <a:r>
              <a:rPr lang="zh-TW" altLang="zh-TW" sz="1200" b="0" u="none" strike="noStrike" kern="1200" dirty="0">
                <a:solidFill>
                  <a:schemeClr val="tx1"/>
                </a:solidFill>
                <a:effectLst/>
                <a:latin typeface="+mn-lt"/>
                <a:ea typeface="+mn-ea"/>
                <a:cs typeface="+mn-cs"/>
              </a:rPr>
              <a:t>嘗試把導線變成多條、並加入權重預測；</a:t>
            </a:r>
          </a:p>
          <a:p>
            <a:pPr lvl="0"/>
            <a:r>
              <a:rPr lang="zh-TW" altLang="zh-TW" sz="1200" b="1" u="none" strike="noStrike" kern="1200" dirty="0">
                <a:solidFill>
                  <a:schemeClr val="tx1"/>
                </a:solidFill>
                <a:effectLst/>
                <a:latin typeface="+mn-lt"/>
                <a:ea typeface="+mn-ea"/>
                <a:cs typeface="+mn-cs"/>
              </a:rPr>
              <a:t>DeepSeek</a:t>
            </a:r>
            <a:r>
              <a:rPr lang="zh-TW" altLang="zh-TW" sz="1200" b="0" u="none" strike="noStrike" kern="1200" dirty="0">
                <a:solidFill>
                  <a:schemeClr val="tx1"/>
                </a:solidFill>
                <a:effectLst/>
                <a:latin typeface="+mn-lt"/>
                <a:ea typeface="+mn-ea"/>
                <a:cs typeface="+mn-cs"/>
              </a:rPr>
              <a:t> 透過精妙的數學流形約束確保了這套多線路權重的穩定運作；</a:t>
            </a:r>
          </a:p>
          <a:p>
            <a:pPr lvl="0"/>
            <a:r>
              <a:rPr lang="zh-TW" altLang="zh-TW" sz="1200" b="1" u="none" strike="noStrike" kern="1200" dirty="0">
                <a:solidFill>
                  <a:schemeClr val="tx1"/>
                </a:solidFill>
                <a:effectLst/>
                <a:latin typeface="+mn-lt"/>
                <a:ea typeface="+mn-ea"/>
                <a:cs typeface="+mn-cs"/>
              </a:rPr>
              <a:t>Kimi 團隊</a:t>
            </a:r>
            <a:r>
              <a:rPr lang="zh-TW" altLang="zh-TW" sz="1200" b="0" u="none" strike="noStrike" kern="1200" dirty="0">
                <a:solidFill>
                  <a:schemeClr val="tx1"/>
                </a:solidFill>
                <a:effectLst/>
                <a:latin typeface="+mn-lt"/>
                <a:ea typeface="+mn-ea"/>
                <a:cs typeface="+mn-cs"/>
              </a:rPr>
              <a:t>則巧妙地用 Attention 機制一統江山，完成了殘差架構這十年來最激進也最優雅的一次底層重構。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6669671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hyperlink" Target="https://youtu.be/AIRfT41A89s?si=wd8CxmH65YRXOa75"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8.png"/><Relationship Id="rId7" Type="http://schemas.openxmlformats.org/officeDocument/2006/relationships/image" Target="../media/image44.png"/><Relationship Id="rId12"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41.png"/><Relationship Id="rId9"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D65C6-BEC0-62CB-6358-4B31A25DD0A5}"/>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5FFD0A0B-6A6C-81BA-ECB4-E1FBF4F7B2A4}"/>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rouped-</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uery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DE353E63-4B9E-5328-1910-427015B91579}"/>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a:extLst>
              <a:ext uri="{FF2B5EF4-FFF2-40B4-BE49-F238E27FC236}">
                <a16:creationId xmlns:a16="http://schemas.microsoft.com/office/drawing/2014/main" id="{154C9210-7B99-570B-EC23-2C6884AAFB11}"/>
              </a:ext>
            </a:extLst>
          </p:cNvPr>
          <p:cNvPicPr>
            <a:picLocks noChangeAspect="1"/>
          </p:cNvPicPr>
          <p:nvPr/>
        </p:nvPicPr>
        <p:blipFill>
          <a:blip r:embed="rId3"/>
          <a:stretch>
            <a:fillRect/>
          </a:stretch>
        </p:blipFill>
        <p:spPr>
          <a:xfrm>
            <a:off x="1331640" y="671404"/>
            <a:ext cx="2572109" cy="1991003"/>
          </a:xfrm>
          <a:prstGeom prst="rect">
            <a:avLst/>
          </a:prstGeom>
        </p:spPr>
      </p:pic>
      <p:pic>
        <p:nvPicPr>
          <p:cNvPr id="8" name="圖片 7">
            <a:extLst>
              <a:ext uri="{FF2B5EF4-FFF2-40B4-BE49-F238E27FC236}">
                <a16:creationId xmlns:a16="http://schemas.microsoft.com/office/drawing/2014/main" id="{614D6B63-955B-CF53-9A05-4851EE3038F7}"/>
              </a:ext>
            </a:extLst>
          </p:cNvPr>
          <p:cNvPicPr>
            <a:picLocks noChangeAspect="1"/>
          </p:cNvPicPr>
          <p:nvPr/>
        </p:nvPicPr>
        <p:blipFill>
          <a:blip r:embed="rId4"/>
          <a:stretch>
            <a:fillRect/>
          </a:stretch>
        </p:blipFill>
        <p:spPr>
          <a:xfrm>
            <a:off x="179512" y="1124744"/>
            <a:ext cx="1095528" cy="981212"/>
          </a:xfrm>
          <a:prstGeom prst="rect">
            <a:avLst/>
          </a:prstGeom>
        </p:spPr>
      </p:pic>
      <p:pic>
        <p:nvPicPr>
          <p:cNvPr id="9" name="圖片 8">
            <a:extLst>
              <a:ext uri="{FF2B5EF4-FFF2-40B4-BE49-F238E27FC236}">
                <a16:creationId xmlns:a16="http://schemas.microsoft.com/office/drawing/2014/main" id="{524DCB0E-9E75-C915-F261-ED351656FDDB}"/>
              </a:ext>
            </a:extLst>
          </p:cNvPr>
          <p:cNvPicPr>
            <a:picLocks noChangeAspect="1"/>
          </p:cNvPicPr>
          <p:nvPr/>
        </p:nvPicPr>
        <p:blipFill>
          <a:blip r:embed="rId5"/>
          <a:stretch>
            <a:fillRect/>
          </a:stretch>
        </p:blipFill>
        <p:spPr>
          <a:xfrm>
            <a:off x="5009029" y="1873511"/>
            <a:ext cx="1362265" cy="990738"/>
          </a:xfrm>
          <a:prstGeom prst="rect">
            <a:avLst/>
          </a:prstGeom>
        </p:spPr>
      </p:pic>
      <p:pic>
        <p:nvPicPr>
          <p:cNvPr id="10" name="圖片 9">
            <a:extLst>
              <a:ext uri="{FF2B5EF4-FFF2-40B4-BE49-F238E27FC236}">
                <a16:creationId xmlns:a16="http://schemas.microsoft.com/office/drawing/2014/main" id="{CE95AE4A-5582-541A-F4BC-D1C26309C182}"/>
              </a:ext>
            </a:extLst>
          </p:cNvPr>
          <p:cNvPicPr>
            <a:picLocks noChangeAspect="1"/>
          </p:cNvPicPr>
          <p:nvPr/>
        </p:nvPicPr>
        <p:blipFill>
          <a:blip r:embed="rId6"/>
          <a:stretch>
            <a:fillRect/>
          </a:stretch>
        </p:blipFill>
        <p:spPr>
          <a:xfrm>
            <a:off x="6593205" y="1912715"/>
            <a:ext cx="1124107" cy="695422"/>
          </a:xfrm>
          <a:prstGeom prst="rect">
            <a:avLst/>
          </a:prstGeom>
        </p:spPr>
      </p:pic>
      <p:pic>
        <p:nvPicPr>
          <p:cNvPr id="12" name="圖片 11">
            <a:extLst>
              <a:ext uri="{FF2B5EF4-FFF2-40B4-BE49-F238E27FC236}">
                <a16:creationId xmlns:a16="http://schemas.microsoft.com/office/drawing/2014/main" id="{AEDF6C41-D583-3701-5763-980C3781C62A}"/>
              </a:ext>
            </a:extLst>
          </p:cNvPr>
          <p:cNvPicPr>
            <a:picLocks noChangeAspect="1"/>
          </p:cNvPicPr>
          <p:nvPr/>
        </p:nvPicPr>
        <p:blipFill>
          <a:blip r:embed="rId7"/>
          <a:stretch>
            <a:fillRect/>
          </a:stretch>
        </p:blipFill>
        <p:spPr>
          <a:xfrm>
            <a:off x="3859475" y="1124744"/>
            <a:ext cx="2440718" cy="245657"/>
          </a:xfrm>
          <a:prstGeom prst="rect">
            <a:avLst/>
          </a:prstGeom>
        </p:spPr>
      </p:pic>
      <p:pic>
        <p:nvPicPr>
          <p:cNvPr id="14" name="圖片 13">
            <a:extLst>
              <a:ext uri="{FF2B5EF4-FFF2-40B4-BE49-F238E27FC236}">
                <a16:creationId xmlns:a16="http://schemas.microsoft.com/office/drawing/2014/main" id="{A45D3C7D-2FD7-E69B-2EFF-89BE67A4B4B6}"/>
              </a:ext>
            </a:extLst>
          </p:cNvPr>
          <p:cNvPicPr>
            <a:picLocks noChangeAspect="1"/>
          </p:cNvPicPr>
          <p:nvPr/>
        </p:nvPicPr>
        <p:blipFill>
          <a:blip r:embed="rId8"/>
          <a:stretch>
            <a:fillRect/>
          </a:stretch>
        </p:blipFill>
        <p:spPr>
          <a:xfrm>
            <a:off x="3858617" y="1357225"/>
            <a:ext cx="1996624" cy="309681"/>
          </a:xfrm>
          <a:prstGeom prst="rect">
            <a:avLst/>
          </a:prstGeom>
        </p:spPr>
      </p:pic>
      <p:pic>
        <p:nvPicPr>
          <p:cNvPr id="3" name="圖片 2">
            <a:extLst>
              <a:ext uri="{FF2B5EF4-FFF2-40B4-BE49-F238E27FC236}">
                <a16:creationId xmlns:a16="http://schemas.microsoft.com/office/drawing/2014/main" id="{35F5BC4E-7C6B-0F92-1BAB-5F4B85A909F5}"/>
              </a:ext>
            </a:extLst>
          </p:cNvPr>
          <p:cNvPicPr>
            <a:picLocks noChangeAspect="1"/>
          </p:cNvPicPr>
          <p:nvPr/>
        </p:nvPicPr>
        <p:blipFill>
          <a:blip r:embed="rId9"/>
          <a:stretch>
            <a:fillRect/>
          </a:stretch>
        </p:blipFill>
        <p:spPr>
          <a:xfrm>
            <a:off x="412611" y="2864249"/>
            <a:ext cx="8345065" cy="3439005"/>
          </a:xfrm>
          <a:prstGeom prst="rect">
            <a:avLst/>
          </a:prstGeom>
        </p:spPr>
      </p:pic>
    </p:spTree>
    <p:extLst>
      <p:ext uri="{BB962C8B-B14F-4D97-AF65-F5344CB8AC3E}">
        <p14:creationId xmlns:p14="http://schemas.microsoft.com/office/powerpoint/2010/main" val="14105341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EB38F-DBD1-4342-785A-BDBBB6042DF8}"/>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321A5649-BA9C-F559-3548-66A103753B57}"/>
              </a:ext>
            </a:extLst>
          </p:cNvPr>
          <p:cNvPicPr>
            <a:picLocks noChangeAspect="1"/>
          </p:cNvPicPr>
          <p:nvPr/>
        </p:nvPicPr>
        <p:blipFill>
          <a:blip r:embed="rId3"/>
          <a:stretch>
            <a:fillRect/>
          </a:stretch>
        </p:blipFill>
        <p:spPr>
          <a:xfrm>
            <a:off x="1439652" y="188640"/>
            <a:ext cx="6264696" cy="5271286"/>
          </a:xfrm>
          <a:prstGeom prst="rect">
            <a:avLst/>
          </a:prstGeom>
        </p:spPr>
      </p:pic>
      <p:sp>
        <p:nvSpPr>
          <p:cNvPr id="4" name="標題 1">
            <a:extLst>
              <a:ext uri="{FF2B5EF4-FFF2-40B4-BE49-F238E27FC236}">
                <a16:creationId xmlns:a16="http://schemas.microsoft.com/office/drawing/2014/main" id="{B3D51DA1-2B48-59A5-CB41-A60288819733}"/>
              </a:ext>
            </a:extLst>
          </p:cNvPr>
          <p:cNvSpPr txBox="1">
            <a:spLocks/>
          </p:cNvSpPr>
          <p:nvPr/>
        </p:nvSpPr>
        <p:spPr>
          <a:xfrm>
            <a:off x="179512" y="116632"/>
            <a:ext cx="881126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ulti-head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C…n </a:t>
            </a:r>
          </a:p>
        </p:txBody>
      </p:sp>
      <p:sp>
        <p:nvSpPr>
          <p:cNvPr id="119" name="矩形: 圓角 118">
            <a:extLst>
              <a:ext uri="{FF2B5EF4-FFF2-40B4-BE49-F238E27FC236}">
                <a16:creationId xmlns:a16="http://schemas.microsoft.com/office/drawing/2014/main" id="{0FDC90E7-D9C2-2F2E-D4A4-4E0237237B55}"/>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5" name="圖片 14">
            <a:extLst>
              <a:ext uri="{FF2B5EF4-FFF2-40B4-BE49-F238E27FC236}">
                <a16:creationId xmlns:a16="http://schemas.microsoft.com/office/drawing/2014/main" id="{77C51C42-3081-C424-E6D0-A1E655B2BB30}"/>
              </a:ext>
            </a:extLst>
          </p:cNvPr>
          <p:cNvPicPr>
            <a:picLocks noChangeAspect="1"/>
          </p:cNvPicPr>
          <p:nvPr/>
        </p:nvPicPr>
        <p:blipFill>
          <a:blip r:embed="rId4"/>
          <a:stretch>
            <a:fillRect/>
          </a:stretch>
        </p:blipFill>
        <p:spPr>
          <a:xfrm>
            <a:off x="539552" y="5646646"/>
            <a:ext cx="7840389" cy="1348547"/>
          </a:xfrm>
          <a:prstGeom prst="rect">
            <a:avLst/>
          </a:prstGeom>
        </p:spPr>
      </p:pic>
    </p:spTree>
    <p:extLst>
      <p:ext uri="{BB962C8B-B14F-4D97-AF65-F5344CB8AC3E}">
        <p14:creationId xmlns:p14="http://schemas.microsoft.com/office/powerpoint/2010/main" val="11975631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892899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Hybrid Attention = CSA</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HCA</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Compressed Sparse Attention and Heavily Compressed Attention </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4" name="直線單箭頭接點 13">
            <a:extLst>
              <a:ext uri="{FF2B5EF4-FFF2-40B4-BE49-F238E27FC236}">
                <a16:creationId xmlns:a16="http://schemas.microsoft.com/office/drawing/2014/main" id="{B5EDBE07-C935-4285-720A-13592479DA23}"/>
              </a:ext>
            </a:extLst>
          </p:cNvPr>
          <p:cNvCxnSpPr>
            <a:cxnSpLocks/>
            <a:stCxn id="40" idx="3"/>
            <a:endCxn id="43" idx="1"/>
          </p:cNvCxnSpPr>
          <p:nvPr/>
        </p:nvCxnSpPr>
        <p:spPr>
          <a:xfrm flipV="1">
            <a:off x="2548535" y="3255231"/>
            <a:ext cx="145929" cy="4873"/>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
        <p:nvSpPr>
          <p:cNvPr id="4" name="文字方塊 3">
            <a:extLst>
              <a:ext uri="{FF2B5EF4-FFF2-40B4-BE49-F238E27FC236}">
                <a16:creationId xmlns:a16="http://schemas.microsoft.com/office/drawing/2014/main" id="{7376A68B-DFF6-9E8D-DCCB-37C57C7124D6}"/>
              </a:ext>
            </a:extLst>
          </p:cNvPr>
          <p:cNvSpPr txBox="1"/>
          <p:nvPr/>
        </p:nvSpPr>
        <p:spPr>
          <a:xfrm>
            <a:off x="1560500" y="1976694"/>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PE</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704244"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2021</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3943200"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2023</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016851"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err="1">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2024</a:t>
            </a:r>
          </a:p>
        </p:txBody>
      </p:sp>
      <p:sp>
        <p:nvSpPr>
          <p:cNvPr id="5" name="文字方塊 4">
            <a:extLst>
              <a:ext uri="{FF2B5EF4-FFF2-40B4-BE49-F238E27FC236}">
                <a16:creationId xmlns:a16="http://schemas.microsoft.com/office/drawing/2014/main" id="{06191CB3-2960-1654-BF2A-189F3C55FDCD}"/>
              </a:ext>
            </a:extLst>
          </p:cNvPr>
          <p:cNvSpPr txBox="1"/>
          <p:nvPr/>
        </p:nvSpPr>
        <p:spPr>
          <a:xfrm>
            <a:off x="6092483" y="1971821"/>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0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20" name="文字方塊 19">
            <a:extLst>
              <a:ext uri="{FF2B5EF4-FFF2-40B4-BE49-F238E27FC236}">
                <a16:creationId xmlns:a16="http://schemas.microsoft.com/office/drawing/2014/main" id="{E15CE367-6046-CDD0-D83C-F6F3022F77B0}"/>
              </a:ext>
            </a:extLst>
          </p:cNvPr>
          <p:cNvSpPr txBox="1"/>
          <p:nvPr/>
        </p:nvSpPr>
        <p:spPr>
          <a:xfrm>
            <a:off x="1562482" y="993279"/>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ResNet</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MSRA</a:t>
            </a:r>
            <a:r>
              <a:rPr lang="zh-TW" altLang="en-US" sz="1000" dirty="0">
                <a:latin typeface="Gadugi" panose="020B0502040204020203" pitchFamily="34" charset="0"/>
                <a:ea typeface="Gadugi" panose="020B0502040204020203" pitchFamily="34" charset="0"/>
                <a:cs typeface="ADLaM Display" panose="02010000000000000000" pitchFamily="2" charset="0"/>
              </a:rPr>
              <a:t> 何愷明</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2015</a:t>
            </a:r>
          </a:p>
        </p:txBody>
      </p:sp>
      <p:sp>
        <p:nvSpPr>
          <p:cNvPr id="26" name="文字方塊 25">
            <a:extLst>
              <a:ext uri="{FF2B5EF4-FFF2-40B4-BE49-F238E27FC236}">
                <a16:creationId xmlns:a16="http://schemas.microsoft.com/office/drawing/2014/main" id="{C9FA3F84-C0E4-A3D8-F173-337EA46D5B2E}"/>
              </a:ext>
            </a:extLst>
          </p:cNvPr>
          <p:cNvSpPr txBox="1"/>
          <p:nvPr/>
        </p:nvSpPr>
        <p:spPr>
          <a:xfrm>
            <a:off x="2706226"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H</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yper-</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onnections</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ByteDance </a:t>
            </a:r>
            <a:r>
              <a:rPr lang="zh-TW" altLang="en-US" sz="1000" dirty="0">
                <a:latin typeface="Gadugi" panose="020B0502040204020203" pitchFamily="34" charset="0"/>
                <a:ea typeface="Gadugi" panose="020B0502040204020203" pitchFamily="34" charset="0"/>
                <a:cs typeface="ADLaM Display" panose="02010000000000000000" pitchFamily="2" charset="0"/>
              </a:rPr>
              <a:t>朱等</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2024</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0" name="文字方塊 29">
            <a:extLst>
              <a:ext uri="{FF2B5EF4-FFF2-40B4-BE49-F238E27FC236}">
                <a16:creationId xmlns:a16="http://schemas.microsoft.com/office/drawing/2014/main" id="{7A24F57C-C0B3-6430-0973-C7F9AEF0A25E}"/>
              </a:ext>
            </a:extLst>
          </p:cNvPr>
          <p:cNvSpPr txBox="1"/>
          <p:nvPr/>
        </p:nvSpPr>
        <p:spPr>
          <a:xfrm>
            <a:off x="3945182"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MUDDformer</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肖達 </a:t>
            </a:r>
            <a:r>
              <a:rPr lang="en-US" altLang="zh-TW" sz="1000" dirty="0">
                <a:latin typeface="Gadugi" panose="020B0502040204020203" pitchFamily="34" charset="0"/>
                <a:ea typeface="Gadugi" panose="020B0502040204020203" pitchFamily="34" charset="0"/>
                <a:cs typeface="ADLaM Display" panose="02010000000000000000" pitchFamily="2" charset="0"/>
              </a:rPr>
              <a:t>2025</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2" name="文字方塊 31">
            <a:extLst>
              <a:ext uri="{FF2B5EF4-FFF2-40B4-BE49-F238E27FC236}">
                <a16:creationId xmlns:a16="http://schemas.microsoft.com/office/drawing/2014/main" id="{79A3C581-0C23-4360-A500-B0954FEF59EF}"/>
              </a:ext>
            </a:extLst>
          </p:cNvPr>
          <p:cNvSpPr txBox="1"/>
          <p:nvPr/>
        </p:nvSpPr>
        <p:spPr>
          <a:xfrm>
            <a:off x="5018833"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M</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anifold-</a:t>
            </a:r>
          </a:p>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C</a:t>
            </a: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onstrained </a:t>
            </a:r>
            <a:r>
              <a:rPr lang="en-US" altLang="zh-TW" sz="1000" dirty="0">
                <a:latin typeface="Gadugi" panose="020B0502040204020203" pitchFamily="34" charset="0"/>
                <a:ea typeface="Gadugi" panose="020B0502040204020203" pitchFamily="34" charset="0"/>
                <a:cs typeface="ADLaM Display" panose="02010000000000000000" pitchFamily="2" charset="0"/>
              </a:rPr>
              <a:t>HC</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DeepSeek</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37" name="文字方塊 36">
            <a:extLst>
              <a:ext uri="{FF2B5EF4-FFF2-40B4-BE49-F238E27FC236}">
                <a16:creationId xmlns:a16="http://schemas.microsoft.com/office/drawing/2014/main" id="{F4C10591-94D5-76AB-6BBF-C67348F1A077}"/>
              </a:ext>
            </a:extLst>
          </p:cNvPr>
          <p:cNvSpPr txBox="1"/>
          <p:nvPr/>
        </p:nvSpPr>
        <p:spPr>
          <a:xfrm>
            <a:off x="6094465" y="98840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err="1">
                <a:effectLst/>
                <a:latin typeface="Gadugi" panose="020B0502040204020203" pitchFamily="34" charset="0"/>
                <a:ea typeface="Gadugi" panose="020B0502040204020203" pitchFamily="34" charset="0"/>
                <a:cs typeface="ADLaM Display" panose="02010000000000000000" pitchFamily="2" charset="0"/>
              </a:rPr>
              <a:t>AttnRes</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Moonshot</a:t>
            </a:r>
          </a:p>
          <a:p>
            <a:pPr algn="ctr">
              <a:lnSpc>
                <a:spcPts val="1400"/>
              </a:lnSpc>
              <a:buNone/>
            </a:pPr>
            <a:r>
              <a:rPr lang="zh-TW" altLang="en-US" sz="1000" dirty="0">
                <a:latin typeface="Gadugi" panose="020B0502040204020203" pitchFamily="34" charset="0"/>
                <a:ea typeface="Gadugi" panose="020B0502040204020203" pitchFamily="34" charset="0"/>
                <a:cs typeface="ADLaM Display" panose="02010000000000000000" pitchFamily="2" charset="0"/>
              </a:rPr>
              <a:t>陳廣宇</a:t>
            </a:r>
            <a:endParaRPr lang="en-US" altLang="zh-TW" sz="1000"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
        <p:nvSpPr>
          <p:cNvPr id="40" name="文字方塊 39">
            <a:extLst>
              <a:ext uri="{FF2B5EF4-FFF2-40B4-BE49-F238E27FC236}">
                <a16:creationId xmlns:a16="http://schemas.microsoft.com/office/drawing/2014/main" id="{5E692A24-6738-B7A9-C21A-DEAD8ED389ED}"/>
              </a:ext>
            </a:extLst>
          </p:cNvPr>
          <p:cNvSpPr txBox="1"/>
          <p:nvPr/>
        </p:nvSpPr>
        <p:spPr>
          <a:xfrm>
            <a:off x="1550720" y="2881946"/>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Attention</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2017</a:t>
            </a:r>
          </a:p>
        </p:txBody>
      </p:sp>
      <p:sp>
        <p:nvSpPr>
          <p:cNvPr id="43" name="文字方塊 42">
            <a:extLst>
              <a:ext uri="{FF2B5EF4-FFF2-40B4-BE49-F238E27FC236}">
                <a16:creationId xmlns:a16="http://schemas.microsoft.com/office/drawing/2014/main" id="{8FB87346-DC56-AEF0-342D-D2930905AC7A}"/>
              </a:ext>
            </a:extLst>
          </p:cNvPr>
          <p:cNvSpPr txBox="1"/>
          <p:nvPr/>
        </p:nvSpPr>
        <p:spPr>
          <a:xfrm>
            <a:off x="2694464"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MQA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Query</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2019</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DD7C38EA-B020-84BB-4240-89D9927B5F9D}"/>
              </a:ext>
            </a:extLst>
          </p:cNvPr>
          <p:cNvSpPr txBox="1"/>
          <p:nvPr/>
        </p:nvSpPr>
        <p:spPr>
          <a:xfrm>
            <a:off x="3933420"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GQA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Grouped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2023</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7" name="文字方塊 46">
            <a:extLst>
              <a:ext uri="{FF2B5EF4-FFF2-40B4-BE49-F238E27FC236}">
                <a16:creationId xmlns:a16="http://schemas.microsoft.com/office/drawing/2014/main" id="{4825069F-3E9A-E4EE-E74C-D41403F29A14}"/>
              </a:ext>
            </a:extLst>
          </p:cNvPr>
          <p:cNvSpPr txBox="1"/>
          <p:nvPr/>
        </p:nvSpPr>
        <p:spPr>
          <a:xfrm>
            <a:off x="5007071"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MLA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Latent</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2025</a:t>
            </a:r>
          </a:p>
        </p:txBody>
      </p:sp>
      <p:sp>
        <p:nvSpPr>
          <p:cNvPr id="49" name="文字方塊 48">
            <a:extLst>
              <a:ext uri="{FF2B5EF4-FFF2-40B4-BE49-F238E27FC236}">
                <a16:creationId xmlns:a16="http://schemas.microsoft.com/office/drawing/2014/main" id="{08654FBF-C8C1-0648-464D-6B0A286576BD}"/>
              </a:ext>
            </a:extLst>
          </p:cNvPr>
          <p:cNvSpPr txBox="1"/>
          <p:nvPr/>
        </p:nvSpPr>
        <p:spPr>
          <a:xfrm>
            <a:off x="6082703" y="2877073"/>
            <a:ext cx="997815" cy="756316"/>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KDA</a:t>
            </a:r>
            <a:endParaRPr lang="en-US" altLang="zh-TW" sz="10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Kimi Delta</a:t>
            </a:r>
          </a:p>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34522675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026683719"/>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MLP</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FFN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(Lighten Indexer)</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Shared-KV MQA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prstClr val="black">
                              <a:lumMod val="50000"/>
                              <a:lumOff val="50000"/>
                            </a:prstClr>
                          </a:solidFill>
                          <a:effectLst/>
                          <a:uLnTx/>
                          <a:uFillTx/>
                          <a:latin typeface="+mn-lt"/>
                          <a:ea typeface="+mn-ea"/>
                          <a:cs typeface="+mn-cs"/>
                        </a:rPr>
                        <a:t>(HCA+CSA)</a:t>
                      </a:r>
                      <a:endParaRPr kumimoji="0" lang="zh-TW" altLang="en-US" sz="1000" b="0" i="0" u="none" strike="noStrike" kern="1200" cap="none" spc="0" normalizeH="0" baseline="0" noProof="0" dirty="0">
                        <a:ln w="0"/>
                        <a:solidFill>
                          <a:prstClr val="black">
                            <a:lumMod val="50000"/>
                            <a:lumOff val="50000"/>
                          </a:prst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 DSpark Architecture</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hlinkClick r:id="rId2"/>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2"/>
              </a:rPr>
              <a:t>The insane infrastructure design of DeepSeek V4</a:t>
            </a:r>
            <a:endParaRPr lang="zh-TW" altLang="en-US" dirty="0"/>
          </a:p>
        </p:txBody>
      </p:sp>
      <p:pic>
        <p:nvPicPr>
          <p:cNvPr id="4" name="圖片 3">
            <a:extLst>
              <a:ext uri="{FF2B5EF4-FFF2-40B4-BE49-F238E27FC236}">
                <a16:creationId xmlns:a16="http://schemas.microsoft.com/office/drawing/2014/main" id="{8066917F-E514-1635-588D-7BFDEACF72DF}"/>
              </a:ext>
            </a:extLst>
          </p:cNvPr>
          <p:cNvPicPr>
            <a:picLocks noChangeAspect="1"/>
          </p:cNvPicPr>
          <p:nvPr/>
        </p:nvPicPr>
        <p:blipFill>
          <a:blip r:embed="rId3"/>
          <a:stretch>
            <a:fillRect/>
          </a:stretch>
        </p:blipFill>
        <p:spPr>
          <a:xfrm>
            <a:off x="0" y="1100903"/>
            <a:ext cx="9144000" cy="4656193"/>
          </a:xfrm>
          <a:prstGeom prst="rect">
            <a:avLst/>
          </a:prstGeom>
        </p:spPr>
      </p:pic>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1" y="116632"/>
            <a:ext cx="8782669"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 Hybrid Attention</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391258"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30DED6B7-D27C-7C23-A712-41EDC5A3FF5B}"/>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Open Frontier AI</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Open weights, million-token context, and native re.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0" name="矩形: 圓角 49">
            <a:extLst>
              <a:ext uri="{FF2B5EF4-FFF2-40B4-BE49-F238E27FC236}">
                <a16:creationId xmlns:a16="http://schemas.microsoft.com/office/drawing/2014/main" id="{64DF4748-2563-C95F-CD8B-B23093B217EB}"/>
              </a:ext>
            </a:extLst>
          </p:cNvPr>
          <p:cNvSpPr/>
          <p:nvPr/>
        </p:nvSpPr>
        <p:spPr>
          <a:xfrm>
            <a:off x="3962239"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51" name="文字方塊 50">
            <a:extLst>
              <a:ext uri="{FF2B5EF4-FFF2-40B4-BE49-F238E27FC236}">
                <a16:creationId xmlns:a16="http://schemas.microsoft.com/office/drawing/2014/main" id="{B3B05DFA-C6A5-BD67-089D-8CF63670D2B5}"/>
              </a:ext>
            </a:extLst>
          </p:cNvPr>
          <p:cNvSpPr txBox="1"/>
          <p:nvPr/>
        </p:nvSpPr>
        <p:spPr>
          <a:xfrm>
            <a:off x="4038534"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2" name="文字方塊 51">
            <a:extLst>
              <a:ext uri="{FF2B5EF4-FFF2-40B4-BE49-F238E27FC236}">
                <a16:creationId xmlns:a16="http://schemas.microsoft.com/office/drawing/2014/main" id="{1F0E077F-AD25-CD34-536C-084B5C752214}"/>
              </a:ext>
            </a:extLst>
          </p:cNvPr>
          <p:cNvSpPr txBox="1"/>
          <p:nvPr/>
        </p:nvSpPr>
        <p:spPr>
          <a:xfrm>
            <a:off x="4034246" y="3356993"/>
            <a:ext cx="1086557" cy="374543"/>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CSA + HCA</a:t>
            </a:r>
          </a:p>
        </p:txBody>
      </p:sp>
      <p:cxnSp>
        <p:nvCxnSpPr>
          <p:cNvPr id="53" name="直線單箭頭接點 52">
            <a:extLst>
              <a:ext uri="{FF2B5EF4-FFF2-40B4-BE49-F238E27FC236}">
                <a16:creationId xmlns:a16="http://schemas.microsoft.com/office/drawing/2014/main" id="{E8C5EC6A-81B9-74D1-28B7-F1E70ABAE2AC}"/>
              </a:ext>
            </a:extLst>
          </p:cNvPr>
          <p:cNvCxnSpPr>
            <a:cxnSpLocks/>
            <a:stCxn id="71" idx="0"/>
            <a:endCxn id="72" idx="2"/>
          </p:cNvCxnSpPr>
          <p:nvPr/>
        </p:nvCxnSpPr>
        <p:spPr>
          <a:xfrm flipH="1" flipV="1">
            <a:off x="4564782"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54" name="矩形: 圓角 53">
            <a:extLst>
              <a:ext uri="{FF2B5EF4-FFF2-40B4-BE49-F238E27FC236}">
                <a16:creationId xmlns:a16="http://schemas.microsoft.com/office/drawing/2014/main" id="{F34B9017-7912-F4E2-CEE9-4B3C6886F2F1}"/>
              </a:ext>
            </a:extLst>
          </p:cNvPr>
          <p:cNvSpPr/>
          <p:nvPr/>
        </p:nvSpPr>
        <p:spPr>
          <a:xfrm>
            <a:off x="3962239"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55" name="直線單箭頭接點 54">
            <a:extLst>
              <a:ext uri="{FF2B5EF4-FFF2-40B4-BE49-F238E27FC236}">
                <a16:creationId xmlns:a16="http://schemas.microsoft.com/office/drawing/2014/main" id="{1D29F57F-03E1-E938-4099-F7A0B7A22010}"/>
              </a:ext>
            </a:extLst>
          </p:cNvPr>
          <p:cNvCxnSpPr>
            <a:cxnSpLocks/>
            <a:stCxn id="50" idx="0"/>
            <a:endCxn id="54" idx="2"/>
          </p:cNvCxnSpPr>
          <p:nvPr/>
        </p:nvCxnSpPr>
        <p:spPr>
          <a:xfrm flipV="1">
            <a:off x="4572000"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365D265C-F8B2-9D87-AC16-E42C73620C0F}"/>
              </a:ext>
            </a:extLst>
          </p:cNvPr>
          <p:cNvSpPr txBox="1"/>
          <p:nvPr/>
        </p:nvSpPr>
        <p:spPr>
          <a:xfrm>
            <a:off x="432656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7" name="文字方塊 56">
            <a:extLst>
              <a:ext uri="{FF2B5EF4-FFF2-40B4-BE49-F238E27FC236}">
                <a16:creationId xmlns:a16="http://schemas.microsoft.com/office/drawing/2014/main" id="{045AD4BE-A34F-9A8E-53AA-0140AFFCE8AE}"/>
              </a:ext>
            </a:extLst>
          </p:cNvPr>
          <p:cNvSpPr txBox="1"/>
          <p:nvPr/>
        </p:nvSpPr>
        <p:spPr>
          <a:xfrm>
            <a:off x="4626473"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8" name="文字方塊 57">
            <a:extLst>
              <a:ext uri="{FF2B5EF4-FFF2-40B4-BE49-F238E27FC236}">
                <a16:creationId xmlns:a16="http://schemas.microsoft.com/office/drawing/2014/main" id="{DD0E03D4-9AB6-81D8-469C-ACAA8514179A}"/>
              </a:ext>
            </a:extLst>
          </p:cNvPr>
          <p:cNvSpPr txBox="1"/>
          <p:nvPr/>
        </p:nvSpPr>
        <p:spPr>
          <a:xfrm>
            <a:off x="491310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59" name="文字方塊 58">
            <a:extLst>
              <a:ext uri="{FF2B5EF4-FFF2-40B4-BE49-F238E27FC236}">
                <a16:creationId xmlns:a16="http://schemas.microsoft.com/office/drawing/2014/main" id="{0F969CE1-37C9-DAB8-D4B8-308733DAC810}"/>
              </a:ext>
            </a:extLst>
          </p:cNvPr>
          <p:cNvSpPr txBox="1"/>
          <p:nvPr/>
        </p:nvSpPr>
        <p:spPr>
          <a:xfrm>
            <a:off x="4034247"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0" name="文字方塊 59">
            <a:extLst>
              <a:ext uri="{FF2B5EF4-FFF2-40B4-BE49-F238E27FC236}">
                <a16:creationId xmlns:a16="http://schemas.microsoft.com/office/drawing/2014/main" id="{5EF51C88-F222-CA90-5A36-B7D8DEC4DD70}"/>
              </a:ext>
            </a:extLst>
          </p:cNvPr>
          <p:cNvSpPr txBox="1"/>
          <p:nvPr/>
        </p:nvSpPr>
        <p:spPr>
          <a:xfrm>
            <a:off x="4322279"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1" name="文字方塊 60">
            <a:extLst>
              <a:ext uri="{FF2B5EF4-FFF2-40B4-BE49-F238E27FC236}">
                <a16:creationId xmlns:a16="http://schemas.microsoft.com/office/drawing/2014/main" id="{F8B02B8F-5028-E244-CA64-592C3949819B}"/>
              </a:ext>
            </a:extLst>
          </p:cNvPr>
          <p:cNvSpPr txBox="1"/>
          <p:nvPr/>
        </p:nvSpPr>
        <p:spPr>
          <a:xfrm>
            <a:off x="4622186"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2" name="文字方塊 61">
            <a:extLst>
              <a:ext uri="{FF2B5EF4-FFF2-40B4-BE49-F238E27FC236}">
                <a16:creationId xmlns:a16="http://schemas.microsoft.com/office/drawing/2014/main" id="{78F0D0AE-0108-DDEA-4860-5E1B96DF02FD}"/>
              </a:ext>
            </a:extLst>
          </p:cNvPr>
          <p:cNvSpPr txBox="1"/>
          <p:nvPr/>
        </p:nvSpPr>
        <p:spPr>
          <a:xfrm>
            <a:off x="4913106"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3" name="文字方塊 62">
            <a:extLst>
              <a:ext uri="{FF2B5EF4-FFF2-40B4-BE49-F238E27FC236}">
                <a16:creationId xmlns:a16="http://schemas.microsoft.com/office/drawing/2014/main" id="{CA906424-9A55-41C1-BEBA-09692CE744C5}"/>
              </a:ext>
            </a:extLst>
          </p:cNvPr>
          <p:cNvSpPr txBox="1"/>
          <p:nvPr/>
        </p:nvSpPr>
        <p:spPr>
          <a:xfrm>
            <a:off x="4037582"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4" name="文字方塊 63">
            <a:extLst>
              <a:ext uri="{FF2B5EF4-FFF2-40B4-BE49-F238E27FC236}">
                <a16:creationId xmlns:a16="http://schemas.microsoft.com/office/drawing/2014/main" id="{64C7D059-D9C6-7EEF-0EB4-F88FA8854810}"/>
              </a:ext>
            </a:extLst>
          </p:cNvPr>
          <p:cNvSpPr txBox="1"/>
          <p:nvPr/>
        </p:nvSpPr>
        <p:spPr>
          <a:xfrm>
            <a:off x="432561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5" name="文字方塊 64">
            <a:extLst>
              <a:ext uri="{FF2B5EF4-FFF2-40B4-BE49-F238E27FC236}">
                <a16:creationId xmlns:a16="http://schemas.microsoft.com/office/drawing/2014/main" id="{218CA57D-498E-7AE8-741D-9F77E2164A6A}"/>
              </a:ext>
            </a:extLst>
          </p:cNvPr>
          <p:cNvSpPr txBox="1"/>
          <p:nvPr/>
        </p:nvSpPr>
        <p:spPr>
          <a:xfrm>
            <a:off x="4625521"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6" name="文字方塊 65">
            <a:extLst>
              <a:ext uri="{FF2B5EF4-FFF2-40B4-BE49-F238E27FC236}">
                <a16:creationId xmlns:a16="http://schemas.microsoft.com/office/drawing/2014/main" id="{5BFE4507-D150-03D7-1A07-E3E0CD38DC3E}"/>
              </a:ext>
            </a:extLst>
          </p:cNvPr>
          <p:cNvSpPr txBox="1"/>
          <p:nvPr/>
        </p:nvSpPr>
        <p:spPr>
          <a:xfrm>
            <a:off x="491215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7" name="文字方塊 66">
            <a:extLst>
              <a:ext uri="{FF2B5EF4-FFF2-40B4-BE49-F238E27FC236}">
                <a16:creationId xmlns:a16="http://schemas.microsoft.com/office/drawing/2014/main" id="{5D0204CF-1543-5E7C-6906-222AE9324C6A}"/>
              </a:ext>
            </a:extLst>
          </p:cNvPr>
          <p:cNvSpPr txBox="1"/>
          <p:nvPr/>
        </p:nvSpPr>
        <p:spPr>
          <a:xfrm>
            <a:off x="4033295"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8" name="文字方塊 67">
            <a:extLst>
              <a:ext uri="{FF2B5EF4-FFF2-40B4-BE49-F238E27FC236}">
                <a16:creationId xmlns:a16="http://schemas.microsoft.com/office/drawing/2014/main" id="{595F3025-8E29-677D-3D84-BED5D54557C6}"/>
              </a:ext>
            </a:extLst>
          </p:cNvPr>
          <p:cNvSpPr txBox="1"/>
          <p:nvPr/>
        </p:nvSpPr>
        <p:spPr>
          <a:xfrm>
            <a:off x="4321327"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69" name="文字方塊 68">
            <a:extLst>
              <a:ext uri="{FF2B5EF4-FFF2-40B4-BE49-F238E27FC236}">
                <a16:creationId xmlns:a16="http://schemas.microsoft.com/office/drawing/2014/main" id="{4EC5A79A-5549-12F0-1881-C2E574086591}"/>
              </a:ext>
            </a:extLst>
          </p:cNvPr>
          <p:cNvSpPr txBox="1"/>
          <p:nvPr/>
        </p:nvSpPr>
        <p:spPr>
          <a:xfrm>
            <a:off x="4621234"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70" name="文字方塊 69">
            <a:extLst>
              <a:ext uri="{FF2B5EF4-FFF2-40B4-BE49-F238E27FC236}">
                <a16:creationId xmlns:a16="http://schemas.microsoft.com/office/drawing/2014/main" id="{C0E531C0-E5A9-0F7D-5753-B7A9B4665D18}"/>
              </a:ext>
            </a:extLst>
          </p:cNvPr>
          <p:cNvSpPr txBox="1"/>
          <p:nvPr/>
        </p:nvSpPr>
        <p:spPr>
          <a:xfrm>
            <a:off x="4912154"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71" name="矩形 70">
            <a:extLst>
              <a:ext uri="{FF2B5EF4-FFF2-40B4-BE49-F238E27FC236}">
                <a16:creationId xmlns:a16="http://schemas.microsoft.com/office/drawing/2014/main" id="{A04809F4-8E00-6BEF-716C-2941D33C6476}"/>
              </a:ext>
            </a:extLst>
          </p:cNvPr>
          <p:cNvSpPr/>
          <p:nvPr/>
        </p:nvSpPr>
        <p:spPr>
          <a:xfrm>
            <a:off x="4314824"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矩形: 圓角 71">
            <a:extLst>
              <a:ext uri="{FF2B5EF4-FFF2-40B4-BE49-F238E27FC236}">
                <a16:creationId xmlns:a16="http://schemas.microsoft.com/office/drawing/2014/main" id="{0BADA116-A12B-CD6E-4D46-5C3335CECFD6}"/>
              </a:ext>
            </a:extLst>
          </p:cNvPr>
          <p:cNvSpPr/>
          <p:nvPr/>
        </p:nvSpPr>
        <p:spPr>
          <a:xfrm>
            <a:off x="4312754"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74" name="矩形 73">
            <a:extLst>
              <a:ext uri="{FF2B5EF4-FFF2-40B4-BE49-F238E27FC236}">
                <a16:creationId xmlns:a16="http://schemas.microsoft.com/office/drawing/2014/main" id="{B733907D-99FB-F083-0FEE-E330AC806CD8}"/>
              </a:ext>
            </a:extLst>
          </p:cNvPr>
          <p:cNvSpPr/>
          <p:nvPr/>
        </p:nvSpPr>
        <p:spPr>
          <a:xfrm>
            <a:off x="3851920"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圓角 75">
            <a:extLst>
              <a:ext uri="{FF2B5EF4-FFF2-40B4-BE49-F238E27FC236}">
                <a16:creationId xmlns:a16="http://schemas.microsoft.com/office/drawing/2014/main" id="{EC7F7E31-0D90-2AF4-F161-6D339CA86159}"/>
              </a:ext>
            </a:extLst>
          </p:cNvPr>
          <p:cNvSpPr/>
          <p:nvPr/>
        </p:nvSpPr>
        <p:spPr>
          <a:xfrm>
            <a:off x="1516455"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78" name="文字方塊 77">
            <a:extLst>
              <a:ext uri="{FF2B5EF4-FFF2-40B4-BE49-F238E27FC236}">
                <a16:creationId xmlns:a16="http://schemas.microsoft.com/office/drawing/2014/main" id="{94A32B69-BE89-5B98-38F6-41D3FA7DEE11}"/>
              </a:ext>
            </a:extLst>
          </p:cNvPr>
          <p:cNvSpPr txBox="1"/>
          <p:nvPr/>
        </p:nvSpPr>
        <p:spPr>
          <a:xfrm>
            <a:off x="1588462" y="3356992"/>
            <a:ext cx="1086557" cy="374545"/>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GQA</a:t>
            </a:r>
          </a:p>
        </p:txBody>
      </p:sp>
      <p:cxnSp>
        <p:nvCxnSpPr>
          <p:cNvPr id="79" name="直線單箭頭接點 78">
            <a:extLst>
              <a:ext uri="{FF2B5EF4-FFF2-40B4-BE49-F238E27FC236}">
                <a16:creationId xmlns:a16="http://schemas.microsoft.com/office/drawing/2014/main" id="{8B5581D7-43BA-C117-C44F-C14E5086CFA4}"/>
              </a:ext>
            </a:extLst>
          </p:cNvPr>
          <p:cNvCxnSpPr>
            <a:cxnSpLocks/>
            <a:stCxn id="97" idx="0"/>
            <a:endCxn id="98" idx="2"/>
          </p:cNvCxnSpPr>
          <p:nvPr/>
        </p:nvCxnSpPr>
        <p:spPr>
          <a:xfrm flipH="1" flipV="1">
            <a:off x="2118998"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80" name="矩形: 圓角 79">
            <a:extLst>
              <a:ext uri="{FF2B5EF4-FFF2-40B4-BE49-F238E27FC236}">
                <a16:creationId xmlns:a16="http://schemas.microsoft.com/office/drawing/2014/main" id="{47675949-7FFE-4C14-C94F-4D7EBCF26DEB}"/>
              </a:ext>
            </a:extLst>
          </p:cNvPr>
          <p:cNvSpPr/>
          <p:nvPr/>
        </p:nvSpPr>
        <p:spPr>
          <a:xfrm>
            <a:off x="1516455"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81" name="直線單箭頭接點 80">
            <a:extLst>
              <a:ext uri="{FF2B5EF4-FFF2-40B4-BE49-F238E27FC236}">
                <a16:creationId xmlns:a16="http://schemas.microsoft.com/office/drawing/2014/main" id="{1E62209F-CF70-71C9-9065-DDC602E6087D}"/>
              </a:ext>
            </a:extLst>
          </p:cNvPr>
          <p:cNvCxnSpPr>
            <a:cxnSpLocks/>
            <a:stCxn id="76" idx="0"/>
            <a:endCxn id="80" idx="2"/>
          </p:cNvCxnSpPr>
          <p:nvPr/>
        </p:nvCxnSpPr>
        <p:spPr>
          <a:xfrm flipV="1">
            <a:off x="2126216"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grpSp>
        <p:nvGrpSpPr>
          <p:cNvPr id="130" name="群組 129">
            <a:extLst>
              <a:ext uri="{FF2B5EF4-FFF2-40B4-BE49-F238E27FC236}">
                <a16:creationId xmlns:a16="http://schemas.microsoft.com/office/drawing/2014/main" id="{BBB1D531-C176-5C1C-3AD0-F71804D1548E}"/>
              </a:ext>
            </a:extLst>
          </p:cNvPr>
          <p:cNvGrpSpPr/>
          <p:nvPr/>
        </p:nvGrpSpPr>
        <p:grpSpPr>
          <a:xfrm>
            <a:off x="1587511" y="2190490"/>
            <a:ext cx="1080979" cy="1037001"/>
            <a:chOff x="1587511" y="2190490"/>
            <a:chExt cx="1080979" cy="1037001"/>
          </a:xfrm>
        </p:grpSpPr>
        <p:sp>
          <p:nvSpPr>
            <p:cNvPr id="77" name="文字方塊 76">
              <a:extLst>
                <a:ext uri="{FF2B5EF4-FFF2-40B4-BE49-F238E27FC236}">
                  <a16:creationId xmlns:a16="http://schemas.microsoft.com/office/drawing/2014/main" id="{74B01CD7-ED8A-A9CA-D5C6-302E539691BD}"/>
                </a:ext>
              </a:extLst>
            </p:cNvPr>
            <p:cNvSpPr txBox="1"/>
            <p:nvPr/>
          </p:nvSpPr>
          <p:spPr>
            <a:xfrm>
              <a:off x="1592750"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2" name="文字方塊 81">
              <a:extLst>
                <a:ext uri="{FF2B5EF4-FFF2-40B4-BE49-F238E27FC236}">
                  <a16:creationId xmlns:a16="http://schemas.microsoft.com/office/drawing/2014/main" id="{BB1456DC-A335-5745-AEAB-22D6FE156A8B}"/>
                </a:ext>
              </a:extLst>
            </p:cNvPr>
            <p:cNvSpPr txBox="1"/>
            <p:nvPr/>
          </p:nvSpPr>
          <p:spPr>
            <a:xfrm>
              <a:off x="1880782"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3" name="文字方塊 82">
              <a:extLst>
                <a:ext uri="{FF2B5EF4-FFF2-40B4-BE49-F238E27FC236}">
                  <a16:creationId xmlns:a16="http://schemas.microsoft.com/office/drawing/2014/main" id="{136F4A04-5E0E-5D5A-AB59-7F9EAFA581A0}"/>
                </a:ext>
              </a:extLst>
            </p:cNvPr>
            <p:cNvSpPr txBox="1"/>
            <p:nvPr/>
          </p:nvSpPr>
          <p:spPr>
            <a:xfrm>
              <a:off x="2180689"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4" name="文字方塊 83">
              <a:extLst>
                <a:ext uri="{FF2B5EF4-FFF2-40B4-BE49-F238E27FC236}">
                  <a16:creationId xmlns:a16="http://schemas.microsoft.com/office/drawing/2014/main" id="{8B1C3CAF-004B-BD5C-D316-C6F40DC7F0C0}"/>
                </a:ext>
              </a:extLst>
            </p:cNvPr>
            <p:cNvSpPr txBox="1"/>
            <p:nvPr/>
          </p:nvSpPr>
          <p:spPr>
            <a:xfrm>
              <a:off x="2467322"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5" name="文字方塊 84">
              <a:extLst>
                <a:ext uri="{FF2B5EF4-FFF2-40B4-BE49-F238E27FC236}">
                  <a16:creationId xmlns:a16="http://schemas.microsoft.com/office/drawing/2014/main" id="{D88B91BA-E6FC-DC10-59E8-18EB7C74FA10}"/>
                </a:ext>
              </a:extLst>
            </p:cNvPr>
            <p:cNvSpPr txBox="1"/>
            <p:nvPr/>
          </p:nvSpPr>
          <p:spPr>
            <a:xfrm>
              <a:off x="1588463"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6" name="文字方塊 85">
              <a:extLst>
                <a:ext uri="{FF2B5EF4-FFF2-40B4-BE49-F238E27FC236}">
                  <a16:creationId xmlns:a16="http://schemas.microsoft.com/office/drawing/2014/main" id="{662BC58C-8B8C-365C-28D8-07F92195D9CC}"/>
                </a:ext>
              </a:extLst>
            </p:cNvPr>
            <p:cNvSpPr txBox="1"/>
            <p:nvPr/>
          </p:nvSpPr>
          <p:spPr>
            <a:xfrm>
              <a:off x="1876495"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7" name="文字方塊 86">
              <a:extLst>
                <a:ext uri="{FF2B5EF4-FFF2-40B4-BE49-F238E27FC236}">
                  <a16:creationId xmlns:a16="http://schemas.microsoft.com/office/drawing/2014/main" id="{1DFB06BB-3EDB-FC36-E9BA-6B1EEF975F45}"/>
                </a:ext>
              </a:extLst>
            </p:cNvPr>
            <p:cNvSpPr txBox="1"/>
            <p:nvPr/>
          </p:nvSpPr>
          <p:spPr>
            <a:xfrm>
              <a:off x="2176402"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8" name="文字方塊 87">
              <a:extLst>
                <a:ext uri="{FF2B5EF4-FFF2-40B4-BE49-F238E27FC236}">
                  <a16:creationId xmlns:a16="http://schemas.microsoft.com/office/drawing/2014/main" id="{3D45F22B-5255-B2A3-A8AC-CD335B3F4159}"/>
                </a:ext>
              </a:extLst>
            </p:cNvPr>
            <p:cNvSpPr txBox="1"/>
            <p:nvPr/>
          </p:nvSpPr>
          <p:spPr>
            <a:xfrm>
              <a:off x="2467322"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89" name="文字方塊 88">
              <a:extLst>
                <a:ext uri="{FF2B5EF4-FFF2-40B4-BE49-F238E27FC236}">
                  <a16:creationId xmlns:a16="http://schemas.microsoft.com/office/drawing/2014/main" id="{BE4624AB-D70E-BEEF-F180-2CA25A465E2A}"/>
                </a:ext>
              </a:extLst>
            </p:cNvPr>
            <p:cNvSpPr txBox="1"/>
            <p:nvPr/>
          </p:nvSpPr>
          <p:spPr>
            <a:xfrm>
              <a:off x="1591798"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0" name="文字方塊 89">
              <a:extLst>
                <a:ext uri="{FF2B5EF4-FFF2-40B4-BE49-F238E27FC236}">
                  <a16:creationId xmlns:a16="http://schemas.microsoft.com/office/drawing/2014/main" id="{0263F337-503E-BB2C-EE9F-44421E18241A}"/>
                </a:ext>
              </a:extLst>
            </p:cNvPr>
            <p:cNvSpPr txBox="1"/>
            <p:nvPr/>
          </p:nvSpPr>
          <p:spPr>
            <a:xfrm>
              <a:off x="1879830"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1" name="文字方塊 90">
              <a:extLst>
                <a:ext uri="{FF2B5EF4-FFF2-40B4-BE49-F238E27FC236}">
                  <a16:creationId xmlns:a16="http://schemas.microsoft.com/office/drawing/2014/main" id="{73E9083C-E04B-B635-CB6D-01F920B729BC}"/>
                </a:ext>
              </a:extLst>
            </p:cNvPr>
            <p:cNvSpPr txBox="1"/>
            <p:nvPr/>
          </p:nvSpPr>
          <p:spPr>
            <a:xfrm>
              <a:off x="2179737"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2" name="文字方塊 91">
              <a:extLst>
                <a:ext uri="{FF2B5EF4-FFF2-40B4-BE49-F238E27FC236}">
                  <a16:creationId xmlns:a16="http://schemas.microsoft.com/office/drawing/2014/main" id="{B3AAF0EE-A8A6-6E30-B80B-2B04E1EFA012}"/>
                </a:ext>
              </a:extLst>
            </p:cNvPr>
            <p:cNvSpPr txBox="1"/>
            <p:nvPr/>
          </p:nvSpPr>
          <p:spPr>
            <a:xfrm>
              <a:off x="2466370"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3" name="文字方塊 92">
              <a:extLst>
                <a:ext uri="{FF2B5EF4-FFF2-40B4-BE49-F238E27FC236}">
                  <a16:creationId xmlns:a16="http://schemas.microsoft.com/office/drawing/2014/main" id="{53C73436-22DE-39AE-DBCD-CE73357A76C4}"/>
                </a:ext>
              </a:extLst>
            </p:cNvPr>
            <p:cNvSpPr txBox="1"/>
            <p:nvPr/>
          </p:nvSpPr>
          <p:spPr>
            <a:xfrm>
              <a:off x="1587511"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4" name="文字方塊 93">
              <a:extLst>
                <a:ext uri="{FF2B5EF4-FFF2-40B4-BE49-F238E27FC236}">
                  <a16:creationId xmlns:a16="http://schemas.microsoft.com/office/drawing/2014/main" id="{16978E33-CD5A-F1C7-E1BC-17F68C74CEB8}"/>
                </a:ext>
              </a:extLst>
            </p:cNvPr>
            <p:cNvSpPr txBox="1"/>
            <p:nvPr/>
          </p:nvSpPr>
          <p:spPr>
            <a:xfrm>
              <a:off x="1875543"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5" name="文字方塊 94">
              <a:extLst>
                <a:ext uri="{FF2B5EF4-FFF2-40B4-BE49-F238E27FC236}">
                  <a16:creationId xmlns:a16="http://schemas.microsoft.com/office/drawing/2014/main" id="{C048B525-8194-D44E-57ED-01883E9CC6D8}"/>
                </a:ext>
              </a:extLst>
            </p:cNvPr>
            <p:cNvSpPr txBox="1"/>
            <p:nvPr/>
          </p:nvSpPr>
          <p:spPr>
            <a:xfrm>
              <a:off x="2175450"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96" name="文字方塊 95">
              <a:extLst>
                <a:ext uri="{FF2B5EF4-FFF2-40B4-BE49-F238E27FC236}">
                  <a16:creationId xmlns:a16="http://schemas.microsoft.com/office/drawing/2014/main" id="{9E0E1B3A-BA5F-4161-BB06-BAC34913A187}"/>
                </a:ext>
              </a:extLst>
            </p:cNvPr>
            <p:cNvSpPr txBox="1"/>
            <p:nvPr/>
          </p:nvSpPr>
          <p:spPr>
            <a:xfrm>
              <a:off x="2466370"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grpSp>
      <p:sp>
        <p:nvSpPr>
          <p:cNvPr id="97" name="矩形 96">
            <a:extLst>
              <a:ext uri="{FF2B5EF4-FFF2-40B4-BE49-F238E27FC236}">
                <a16:creationId xmlns:a16="http://schemas.microsoft.com/office/drawing/2014/main" id="{54BD7883-B7AE-8F77-5331-877CD962F605}"/>
              </a:ext>
            </a:extLst>
          </p:cNvPr>
          <p:cNvSpPr/>
          <p:nvPr/>
        </p:nvSpPr>
        <p:spPr>
          <a:xfrm>
            <a:off x="1869040"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98" name="矩形: 圓角 97">
            <a:extLst>
              <a:ext uri="{FF2B5EF4-FFF2-40B4-BE49-F238E27FC236}">
                <a16:creationId xmlns:a16="http://schemas.microsoft.com/office/drawing/2014/main" id="{3871AEDB-3BBB-BC53-5DC3-1EA83C5361E2}"/>
              </a:ext>
            </a:extLst>
          </p:cNvPr>
          <p:cNvSpPr/>
          <p:nvPr/>
        </p:nvSpPr>
        <p:spPr>
          <a:xfrm>
            <a:off x="1866970"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00" name="矩形 99">
            <a:extLst>
              <a:ext uri="{FF2B5EF4-FFF2-40B4-BE49-F238E27FC236}">
                <a16:creationId xmlns:a16="http://schemas.microsoft.com/office/drawing/2014/main" id="{242FE16A-E489-6AE7-4F85-60BD8DBF717D}"/>
              </a:ext>
            </a:extLst>
          </p:cNvPr>
          <p:cNvSpPr/>
          <p:nvPr/>
        </p:nvSpPr>
        <p:spPr>
          <a:xfrm>
            <a:off x="2769252"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02" name="矩形: 圓角 101">
            <a:extLst>
              <a:ext uri="{FF2B5EF4-FFF2-40B4-BE49-F238E27FC236}">
                <a16:creationId xmlns:a16="http://schemas.microsoft.com/office/drawing/2014/main" id="{040E4427-DE33-2834-BCB2-1AB2D9E3A30E}"/>
              </a:ext>
            </a:extLst>
          </p:cNvPr>
          <p:cNvSpPr/>
          <p:nvPr/>
        </p:nvSpPr>
        <p:spPr>
          <a:xfrm>
            <a:off x="6402201" y="2031477"/>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03" name="文字方塊 102">
            <a:extLst>
              <a:ext uri="{FF2B5EF4-FFF2-40B4-BE49-F238E27FC236}">
                <a16:creationId xmlns:a16="http://schemas.microsoft.com/office/drawing/2014/main" id="{64000BD8-4508-3A73-4214-82CE2E864801}"/>
              </a:ext>
            </a:extLst>
          </p:cNvPr>
          <p:cNvSpPr txBox="1"/>
          <p:nvPr/>
        </p:nvSpPr>
        <p:spPr>
          <a:xfrm>
            <a:off x="6478496"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04" name="文字方塊 103">
            <a:extLst>
              <a:ext uri="{FF2B5EF4-FFF2-40B4-BE49-F238E27FC236}">
                <a16:creationId xmlns:a16="http://schemas.microsoft.com/office/drawing/2014/main" id="{EA997A19-2467-71E4-81BD-200A907D457E}"/>
              </a:ext>
            </a:extLst>
          </p:cNvPr>
          <p:cNvSpPr txBox="1"/>
          <p:nvPr/>
        </p:nvSpPr>
        <p:spPr>
          <a:xfrm>
            <a:off x="6474208" y="3356993"/>
            <a:ext cx="1086557" cy="374544"/>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KDA</a:t>
            </a:r>
          </a:p>
        </p:txBody>
      </p:sp>
      <p:cxnSp>
        <p:nvCxnSpPr>
          <p:cNvPr id="105" name="直線單箭頭接點 104">
            <a:extLst>
              <a:ext uri="{FF2B5EF4-FFF2-40B4-BE49-F238E27FC236}">
                <a16:creationId xmlns:a16="http://schemas.microsoft.com/office/drawing/2014/main" id="{C6930ADC-6856-7C59-F035-4CB470A99516}"/>
              </a:ext>
            </a:extLst>
          </p:cNvPr>
          <p:cNvCxnSpPr>
            <a:cxnSpLocks/>
            <a:stCxn id="123" idx="0"/>
            <a:endCxn id="124" idx="2"/>
          </p:cNvCxnSpPr>
          <p:nvPr/>
        </p:nvCxnSpPr>
        <p:spPr>
          <a:xfrm flipH="1" flipV="1">
            <a:off x="7004744" y="4509120"/>
            <a:ext cx="2070" cy="14401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06" name="矩形: 圓角 105">
            <a:extLst>
              <a:ext uri="{FF2B5EF4-FFF2-40B4-BE49-F238E27FC236}">
                <a16:creationId xmlns:a16="http://schemas.microsoft.com/office/drawing/2014/main" id="{C02D6F0F-E79B-44FB-F640-7B0A6DDFB795}"/>
              </a:ext>
            </a:extLst>
          </p:cNvPr>
          <p:cNvSpPr/>
          <p:nvPr/>
        </p:nvSpPr>
        <p:spPr>
          <a:xfrm>
            <a:off x="6402201" y="1514155"/>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07" name="直線單箭頭接點 106">
            <a:extLst>
              <a:ext uri="{FF2B5EF4-FFF2-40B4-BE49-F238E27FC236}">
                <a16:creationId xmlns:a16="http://schemas.microsoft.com/office/drawing/2014/main" id="{78AF7EAB-0D76-BBDB-A84C-2F466379E1C4}"/>
              </a:ext>
            </a:extLst>
          </p:cNvPr>
          <p:cNvCxnSpPr>
            <a:cxnSpLocks/>
            <a:stCxn id="102" idx="0"/>
            <a:endCxn id="106" idx="2"/>
          </p:cNvCxnSpPr>
          <p:nvPr/>
        </p:nvCxnSpPr>
        <p:spPr>
          <a:xfrm flipV="1">
            <a:off x="7011962" y="1859401"/>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08" name="文字方塊 107">
            <a:extLst>
              <a:ext uri="{FF2B5EF4-FFF2-40B4-BE49-F238E27FC236}">
                <a16:creationId xmlns:a16="http://schemas.microsoft.com/office/drawing/2014/main" id="{4B19C6FB-9968-8E9E-2736-CFCF7CC9FB9D}"/>
              </a:ext>
            </a:extLst>
          </p:cNvPr>
          <p:cNvSpPr txBox="1"/>
          <p:nvPr/>
        </p:nvSpPr>
        <p:spPr>
          <a:xfrm>
            <a:off x="6766528"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09" name="文字方塊 108">
            <a:extLst>
              <a:ext uri="{FF2B5EF4-FFF2-40B4-BE49-F238E27FC236}">
                <a16:creationId xmlns:a16="http://schemas.microsoft.com/office/drawing/2014/main" id="{DF6AC513-7A53-92B2-D98E-28A8DD63C5D6}"/>
              </a:ext>
            </a:extLst>
          </p:cNvPr>
          <p:cNvSpPr txBox="1"/>
          <p:nvPr/>
        </p:nvSpPr>
        <p:spPr>
          <a:xfrm>
            <a:off x="7066435"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0" name="文字方塊 109">
            <a:extLst>
              <a:ext uri="{FF2B5EF4-FFF2-40B4-BE49-F238E27FC236}">
                <a16:creationId xmlns:a16="http://schemas.microsoft.com/office/drawing/2014/main" id="{B7DF026E-5511-7264-A394-998888E0B61F}"/>
              </a:ext>
            </a:extLst>
          </p:cNvPr>
          <p:cNvSpPr txBox="1"/>
          <p:nvPr/>
        </p:nvSpPr>
        <p:spPr>
          <a:xfrm>
            <a:off x="7353068" y="219049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1" name="文字方塊 110">
            <a:extLst>
              <a:ext uri="{FF2B5EF4-FFF2-40B4-BE49-F238E27FC236}">
                <a16:creationId xmlns:a16="http://schemas.microsoft.com/office/drawing/2014/main" id="{A1DEBB48-D11F-E7F3-8D59-276FDA561F8F}"/>
              </a:ext>
            </a:extLst>
          </p:cNvPr>
          <p:cNvSpPr txBox="1"/>
          <p:nvPr/>
        </p:nvSpPr>
        <p:spPr>
          <a:xfrm>
            <a:off x="6474209"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2" name="文字方塊 111">
            <a:extLst>
              <a:ext uri="{FF2B5EF4-FFF2-40B4-BE49-F238E27FC236}">
                <a16:creationId xmlns:a16="http://schemas.microsoft.com/office/drawing/2014/main" id="{31B353E1-A67F-BAFA-E196-A0A64CA77D18}"/>
              </a:ext>
            </a:extLst>
          </p:cNvPr>
          <p:cNvSpPr txBox="1"/>
          <p:nvPr/>
        </p:nvSpPr>
        <p:spPr>
          <a:xfrm>
            <a:off x="6762241" y="2459784"/>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3" name="文字方塊 112">
            <a:extLst>
              <a:ext uri="{FF2B5EF4-FFF2-40B4-BE49-F238E27FC236}">
                <a16:creationId xmlns:a16="http://schemas.microsoft.com/office/drawing/2014/main" id="{15AA6591-DA24-DDC1-222E-EE8648836456}"/>
              </a:ext>
            </a:extLst>
          </p:cNvPr>
          <p:cNvSpPr txBox="1"/>
          <p:nvPr/>
        </p:nvSpPr>
        <p:spPr>
          <a:xfrm>
            <a:off x="7062148"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4" name="文字方塊 113">
            <a:extLst>
              <a:ext uri="{FF2B5EF4-FFF2-40B4-BE49-F238E27FC236}">
                <a16:creationId xmlns:a16="http://schemas.microsoft.com/office/drawing/2014/main" id="{69708419-04B6-448C-F682-65B5F07C0D59}"/>
              </a:ext>
            </a:extLst>
          </p:cNvPr>
          <p:cNvSpPr txBox="1"/>
          <p:nvPr/>
        </p:nvSpPr>
        <p:spPr>
          <a:xfrm>
            <a:off x="7353068" y="2459784"/>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5" name="文字方塊 114">
            <a:extLst>
              <a:ext uri="{FF2B5EF4-FFF2-40B4-BE49-F238E27FC236}">
                <a16:creationId xmlns:a16="http://schemas.microsoft.com/office/drawing/2014/main" id="{FC766617-601D-D709-3E63-8EC46723FF2A}"/>
              </a:ext>
            </a:extLst>
          </p:cNvPr>
          <p:cNvSpPr txBox="1"/>
          <p:nvPr/>
        </p:nvSpPr>
        <p:spPr>
          <a:xfrm>
            <a:off x="6477544"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6" name="文字方塊 115">
            <a:extLst>
              <a:ext uri="{FF2B5EF4-FFF2-40B4-BE49-F238E27FC236}">
                <a16:creationId xmlns:a16="http://schemas.microsoft.com/office/drawing/2014/main" id="{3AA7F2FE-D326-A53B-6A3A-323863967FDB}"/>
              </a:ext>
            </a:extLst>
          </p:cNvPr>
          <p:cNvSpPr txBox="1"/>
          <p:nvPr/>
        </p:nvSpPr>
        <p:spPr>
          <a:xfrm>
            <a:off x="6765576"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7" name="文字方塊 116">
            <a:extLst>
              <a:ext uri="{FF2B5EF4-FFF2-40B4-BE49-F238E27FC236}">
                <a16:creationId xmlns:a16="http://schemas.microsoft.com/office/drawing/2014/main" id="{6E9A5426-4C19-D4CD-4C59-9237E2A15B01}"/>
              </a:ext>
            </a:extLst>
          </p:cNvPr>
          <p:cNvSpPr txBox="1"/>
          <p:nvPr/>
        </p:nvSpPr>
        <p:spPr>
          <a:xfrm>
            <a:off x="7065483"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8" name="文字方塊 117">
            <a:extLst>
              <a:ext uri="{FF2B5EF4-FFF2-40B4-BE49-F238E27FC236}">
                <a16:creationId xmlns:a16="http://schemas.microsoft.com/office/drawing/2014/main" id="{A21D560F-D6BE-C58C-3C7F-19CAD132076D}"/>
              </a:ext>
            </a:extLst>
          </p:cNvPr>
          <p:cNvSpPr txBox="1"/>
          <p:nvPr/>
        </p:nvSpPr>
        <p:spPr>
          <a:xfrm>
            <a:off x="7352116" y="2738291"/>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19" name="文字方塊 118">
            <a:extLst>
              <a:ext uri="{FF2B5EF4-FFF2-40B4-BE49-F238E27FC236}">
                <a16:creationId xmlns:a16="http://schemas.microsoft.com/office/drawing/2014/main" id="{7B51F13C-EF3A-9F37-2B08-5D2F567C8CF5}"/>
              </a:ext>
            </a:extLst>
          </p:cNvPr>
          <p:cNvSpPr txBox="1"/>
          <p:nvPr/>
        </p:nvSpPr>
        <p:spPr>
          <a:xfrm>
            <a:off x="6473257"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0" name="文字方塊 119">
            <a:extLst>
              <a:ext uri="{FF2B5EF4-FFF2-40B4-BE49-F238E27FC236}">
                <a16:creationId xmlns:a16="http://schemas.microsoft.com/office/drawing/2014/main" id="{1B4EE5C0-BE31-B967-D734-B52150D33AA4}"/>
              </a:ext>
            </a:extLst>
          </p:cNvPr>
          <p:cNvSpPr txBox="1"/>
          <p:nvPr/>
        </p:nvSpPr>
        <p:spPr>
          <a:xfrm>
            <a:off x="6761289"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1" name="文字方塊 120">
            <a:extLst>
              <a:ext uri="{FF2B5EF4-FFF2-40B4-BE49-F238E27FC236}">
                <a16:creationId xmlns:a16="http://schemas.microsoft.com/office/drawing/2014/main" id="{F60A5691-EF0F-3E7A-7A47-00D8AB158B3F}"/>
              </a:ext>
            </a:extLst>
          </p:cNvPr>
          <p:cNvSpPr txBox="1"/>
          <p:nvPr/>
        </p:nvSpPr>
        <p:spPr>
          <a:xfrm>
            <a:off x="7061196" y="302632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2" name="文字方塊 121">
            <a:extLst>
              <a:ext uri="{FF2B5EF4-FFF2-40B4-BE49-F238E27FC236}">
                <a16:creationId xmlns:a16="http://schemas.microsoft.com/office/drawing/2014/main" id="{8FEDB400-5330-34A4-EF07-C2EF8403C4CA}"/>
              </a:ext>
            </a:extLst>
          </p:cNvPr>
          <p:cNvSpPr txBox="1"/>
          <p:nvPr/>
        </p:nvSpPr>
        <p:spPr>
          <a:xfrm>
            <a:off x="7352116" y="302632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7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23" name="矩形 122">
            <a:extLst>
              <a:ext uri="{FF2B5EF4-FFF2-40B4-BE49-F238E27FC236}">
                <a16:creationId xmlns:a16="http://schemas.microsoft.com/office/drawing/2014/main" id="{79388F6E-B516-8C87-E413-CC0444689A51}"/>
              </a:ext>
            </a:extLst>
          </p:cNvPr>
          <p:cNvSpPr/>
          <p:nvPr/>
        </p:nvSpPr>
        <p:spPr>
          <a:xfrm>
            <a:off x="6754786" y="4653136"/>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24" name="矩形: 圓角 123">
            <a:extLst>
              <a:ext uri="{FF2B5EF4-FFF2-40B4-BE49-F238E27FC236}">
                <a16:creationId xmlns:a16="http://schemas.microsoft.com/office/drawing/2014/main" id="{7258F52B-7A6D-9A4C-72EA-26211231024D}"/>
              </a:ext>
            </a:extLst>
          </p:cNvPr>
          <p:cNvSpPr/>
          <p:nvPr/>
        </p:nvSpPr>
        <p:spPr>
          <a:xfrm>
            <a:off x="6752716" y="4077072"/>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26" name="矩形 125">
            <a:extLst>
              <a:ext uri="{FF2B5EF4-FFF2-40B4-BE49-F238E27FC236}">
                <a16:creationId xmlns:a16="http://schemas.microsoft.com/office/drawing/2014/main" id="{99104673-1EAF-F538-2649-5707198F6CB5}"/>
              </a:ext>
            </a:extLst>
          </p:cNvPr>
          <p:cNvSpPr/>
          <p:nvPr/>
        </p:nvSpPr>
        <p:spPr>
          <a:xfrm>
            <a:off x="6300192" y="4437112"/>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mc:AlternateContent xmlns:mc="http://schemas.openxmlformats.org/markup-compatibility/2006" xmlns:a14="http://schemas.microsoft.com/office/drawing/2010/main">
        <mc:Choice Requires="a14">
          <p:sp>
            <p:nvSpPr>
              <p:cNvPr id="129" name="文字方塊 128">
                <a:extLst>
                  <a:ext uri="{FF2B5EF4-FFF2-40B4-BE49-F238E27FC236}">
                    <a16:creationId xmlns:a16="http://schemas.microsoft.com/office/drawing/2014/main" id="{633791E9-D6C1-495E-EED6-0A3E59AFACF1}"/>
                  </a:ext>
                </a:extLst>
              </p:cNvPr>
              <p:cNvSpPr txBox="1"/>
              <p:nvPr/>
            </p:nvSpPr>
            <p:spPr>
              <a:xfrm>
                <a:off x="1580678" y="2564904"/>
                <a:ext cx="1076640" cy="469103"/>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pPr/>
                <a14:m>
                  <m:oMathPara xmlns:m="http://schemas.openxmlformats.org/officeDocument/2006/math">
                    <m:oMathParaPr>
                      <m:jc m:val="center"/>
                    </m:oMathParaPr>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1+</m:t>
                          </m:r>
                          <m:r>
                            <m:rPr>
                              <m:sty m:val="p"/>
                            </m:rPr>
                            <a:rPr lang="en-US" altLang="zh-TW" b="0" i="1" smtClean="0">
                              <a:latin typeface="Cambria Math" panose="02040503050406030204" pitchFamily="18" charset="0"/>
                            </a:rPr>
                            <m:t>C</m:t>
                          </m:r>
                        </m:e>
                        <m:sub>
                          <m:r>
                            <a:rPr lang="en-US" altLang="zh-TW" b="0" i="1" smtClean="0">
                              <a:latin typeface="Cambria Math" panose="02040503050406030204" pitchFamily="18" charset="0"/>
                            </a:rPr>
                            <m:t>8</m:t>
                          </m:r>
                        </m:sub>
                        <m:sup>
                          <m:r>
                            <a:rPr lang="en-US" altLang="zh-TW" b="0" i="1" smtClean="0">
                              <a:latin typeface="Cambria Math" panose="02040503050406030204" pitchFamily="18" charset="0"/>
                            </a:rPr>
                            <m:t>128</m:t>
                          </m:r>
                        </m:sup>
                      </m:sSubSup>
                    </m:oMath>
                  </m:oMathPara>
                </a14:m>
                <a:endParaRPr lang="zh-TW" altLang="en-US" dirty="0"/>
              </a:p>
            </p:txBody>
          </p:sp>
        </mc:Choice>
        <mc:Fallback xmlns="">
          <p:sp>
            <p:nvSpPr>
              <p:cNvPr id="129" name="文字方塊 128">
                <a:extLst>
                  <a:ext uri="{FF2B5EF4-FFF2-40B4-BE49-F238E27FC236}">
                    <a16:creationId xmlns:a16="http://schemas.microsoft.com/office/drawing/2014/main" id="{633791E9-D6C1-495E-EED6-0A3E59AFACF1}"/>
                  </a:ext>
                </a:extLst>
              </p:cNvPr>
              <p:cNvSpPr txBox="1">
                <a:spLocks noRot="1" noChangeAspect="1" noMove="1" noResize="1" noEditPoints="1" noAdjustHandles="1" noChangeArrowheads="1" noChangeShapeType="1" noTextEdit="1"/>
              </p:cNvSpPr>
              <p:nvPr/>
            </p:nvSpPr>
            <p:spPr>
              <a:xfrm>
                <a:off x="1580678" y="2564904"/>
                <a:ext cx="1076640" cy="469103"/>
              </a:xfrm>
              <a:prstGeom prst="rect">
                <a:avLst/>
              </a:prstGeom>
              <a:blipFill>
                <a:blip r:embed="rId2"/>
                <a:stretch>
                  <a:fillRect/>
                </a:stretch>
              </a:blipFill>
              <a:ln w="15875">
                <a:solidFill>
                  <a:schemeClr val="accent2">
                    <a:lumMod val="60000"/>
                    <a:lumOff val="40000"/>
                  </a:schemeClr>
                </a:solidFill>
              </a:ln>
            </p:spPr>
            <p:txBody>
              <a:bodyPr/>
              <a:lstStyle/>
              <a:p>
                <a:r>
                  <a:rPr lang="zh-TW" altLang="en-US">
                    <a:noFill/>
                  </a:rPr>
                  <a:t> </a:t>
                </a:r>
              </a:p>
            </p:txBody>
          </p:sp>
        </mc:Fallback>
      </mc:AlternateContent>
      <p:sp>
        <p:nvSpPr>
          <p:cNvPr id="132" name="文字方塊 131">
            <a:extLst>
              <a:ext uri="{FF2B5EF4-FFF2-40B4-BE49-F238E27FC236}">
                <a16:creationId xmlns:a16="http://schemas.microsoft.com/office/drawing/2014/main" id="{4638DC10-0395-1941-6558-5FE3FAE0B323}"/>
              </a:ext>
            </a:extLst>
          </p:cNvPr>
          <p:cNvSpPr txBox="1"/>
          <p:nvPr/>
        </p:nvSpPr>
        <p:spPr>
          <a:xfrm>
            <a:off x="4026462" y="2568623"/>
            <a:ext cx="1076640" cy="461665"/>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r>
              <a:rPr lang="en-US" altLang="zh-TW" dirty="0"/>
              <a:t>Top K</a:t>
            </a:r>
            <a:endParaRPr lang="zh-TW" altLang="en-US" dirty="0"/>
          </a:p>
        </p:txBody>
      </p:sp>
      <mc:AlternateContent xmlns:mc="http://schemas.openxmlformats.org/markup-compatibility/2006" xmlns:a14="http://schemas.microsoft.com/office/drawing/2010/main">
        <mc:Choice Requires="a14">
          <p:sp>
            <p:nvSpPr>
              <p:cNvPr id="134" name="文字方塊 133">
                <a:extLst>
                  <a:ext uri="{FF2B5EF4-FFF2-40B4-BE49-F238E27FC236}">
                    <a16:creationId xmlns:a16="http://schemas.microsoft.com/office/drawing/2014/main" id="{48233A5C-EBC4-E6F8-51C6-5C8B28970752}"/>
                  </a:ext>
                </a:extLst>
              </p:cNvPr>
              <p:cNvSpPr txBox="1"/>
              <p:nvPr/>
            </p:nvSpPr>
            <p:spPr>
              <a:xfrm>
                <a:off x="6484125" y="2574616"/>
                <a:ext cx="1076640" cy="466666"/>
              </a:xfrm>
              <a:prstGeom prst="rect">
                <a:avLst/>
              </a:prstGeom>
              <a:solidFill>
                <a:schemeClr val="bg1">
                  <a:alpha val="60000"/>
                </a:schemeClr>
              </a:solidFill>
              <a:ln w="15875">
                <a:solidFill>
                  <a:schemeClr val="accent2">
                    <a:lumMod val="60000"/>
                    <a:lumOff val="40000"/>
                  </a:schemeClr>
                </a:solidFill>
              </a:ln>
            </p:spPr>
            <p:txBody>
              <a:bodyPr wrap="square" lIns="91440" tIns="91440" rIns="91440" bIns="91440" rtlCol="0" anchor="ctr" anchorCtr="1">
                <a:spAutoFit/>
              </a:bodyPr>
              <a:lstStyle/>
              <a:p>
                <a:pPr/>
                <a14:m>
                  <m:oMathPara xmlns:m="http://schemas.openxmlformats.org/officeDocument/2006/math">
                    <m:oMathParaPr>
                      <m:jc m:val="center"/>
                    </m:oMathParaPr>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2+</m:t>
                          </m:r>
                          <m:r>
                            <m:rPr>
                              <m:sty m:val="p"/>
                            </m:rPr>
                            <a:rPr lang="en-US" altLang="zh-TW" b="0" i="1" smtClean="0">
                              <a:latin typeface="Cambria Math" panose="02040503050406030204" pitchFamily="18" charset="0"/>
                            </a:rPr>
                            <m:t>C</m:t>
                          </m:r>
                        </m:e>
                        <m:sub>
                          <m:r>
                            <a:rPr lang="en-US" altLang="zh-TW" b="0" i="1" smtClean="0">
                              <a:latin typeface="Cambria Math" panose="02040503050406030204" pitchFamily="18" charset="0"/>
                            </a:rPr>
                            <m:t>14</m:t>
                          </m:r>
                        </m:sub>
                        <m:sup>
                          <m:r>
                            <a:rPr lang="en-US" altLang="zh-TW" b="0" i="1" smtClean="0">
                              <a:latin typeface="Cambria Math" panose="02040503050406030204" pitchFamily="18" charset="0"/>
                            </a:rPr>
                            <m:t>896</m:t>
                          </m:r>
                        </m:sup>
                      </m:sSubSup>
                    </m:oMath>
                  </m:oMathPara>
                </a14:m>
                <a:endParaRPr lang="zh-TW" altLang="en-US" dirty="0"/>
              </a:p>
            </p:txBody>
          </p:sp>
        </mc:Choice>
        <mc:Fallback xmlns="">
          <p:sp>
            <p:nvSpPr>
              <p:cNvPr id="134" name="文字方塊 133">
                <a:extLst>
                  <a:ext uri="{FF2B5EF4-FFF2-40B4-BE49-F238E27FC236}">
                    <a16:creationId xmlns:a16="http://schemas.microsoft.com/office/drawing/2014/main" id="{48233A5C-EBC4-E6F8-51C6-5C8B28970752}"/>
                  </a:ext>
                </a:extLst>
              </p:cNvPr>
              <p:cNvSpPr txBox="1">
                <a:spLocks noRot="1" noChangeAspect="1" noMove="1" noResize="1" noEditPoints="1" noAdjustHandles="1" noChangeArrowheads="1" noChangeShapeType="1" noTextEdit="1"/>
              </p:cNvSpPr>
              <p:nvPr/>
            </p:nvSpPr>
            <p:spPr>
              <a:xfrm>
                <a:off x="6484125" y="2574616"/>
                <a:ext cx="1076640" cy="466666"/>
              </a:xfrm>
              <a:prstGeom prst="rect">
                <a:avLst/>
              </a:prstGeom>
              <a:blipFill>
                <a:blip r:embed="rId3"/>
                <a:stretch>
                  <a:fillRect/>
                </a:stretch>
              </a:blipFill>
              <a:ln w="15875">
                <a:solidFill>
                  <a:schemeClr val="accent2">
                    <a:lumMod val="60000"/>
                    <a:lumOff val="40000"/>
                  </a:schemeClr>
                </a:solidFill>
              </a:ln>
            </p:spPr>
            <p:txBody>
              <a:bodyPr/>
              <a:lstStyle/>
              <a:p>
                <a:r>
                  <a:rPr lang="zh-TW" altLang="en-US">
                    <a:noFill/>
                  </a:rPr>
                  <a:t> </a:t>
                </a:r>
              </a:p>
            </p:txBody>
          </p:sp>
        </mc:Fallback>
      </mc:AlternateContent>
      <p:sp>
        <p:nvSpPr>
          <p:cNvPr id="136" name="文字方塊 135">
            <a:extLst>
              <a:ext uri="{FF2B5EF4-FFF2-40B4-BE49-F238E27FC236}">
                <a16:creationId xmlns:a16="http://schemas.microsoft.com/office/drawing/2014/main" id="{B8EE6FA7-85FD-B4B2-08A7-16768A9D1EC7}"/>
              </a:ext>
            </a:extLst>
          </p:cNvPr>
          <p:cNvSpPr txBox="1"/>
          <p:nvPr/>
        </p:nvSpPr>
        <p:spPr>
          <a:xfrm>
            <a:off x="1513085" y="1190238"/>
            <a:ext cx="1198917" cy="326474"/>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Gemma 4-26B</a:t>
            </a:r>
          </a:p>
        </p:txBody>
      </p:sp>
      <p:sp>
        <p:nvSpPr>
          <p:cNvPr id="138" name="文字方塊 137">
            <a:extLst>
              <a:ext uri="{FF2B5EF4-FFF2-40B4-BE49-F238E27FC236}">
                <a16:creationId xmlns:a16="http://schemas.microsoft.com/office/drawing/2014/main" id="{C48199EF-CC37-EA27-8FA9-1FFC5365F4EC}"/>
              </a:ext>
            </a:extLst>
          </p:cNvPr>
          <p:cNvSpPr txBox="1"/>
          <p:nvPr/>
        </p:nvSpPr>
        <p:spPr>
          <a:xfrm>
            <a:off x="3995936" y="1190238"/>
            <a:ext cx="1198917" cy="323918"/>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DeepSeek V4-Pro</a:t>
            </a:r>
          </a:p>
        </p:txBody>
      </p:sp>
      <p:sp>
        <p:nvSpPr>
          <p:cNvPr id="142" name="文字方塊 141">
            <a:extLst>
              <a:ext uri="{FF2B5EF4-FFF2-40B4-BE49-F238E27FC236}">
                <a16:creationId xmlns:a16="http://schemas.microsoft.com/office/drawing/2014/main" id="{9CB82173-36E1-D971-4EA0-91947A9CAE15}"/>
              </a:ext>
            </a:extLst>
          </p:cNvPr>
          <p:cNvSpPr txBox="1"/>
          <p:nvPr/>
        </p:nvSpPr>
        <p:spPr>
          <a:xfrm>
            <a:off x="6397419" y="1190238"/>
            <a:ext cx="1198917" cy="323918"/>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Kimi K3</a:t>
            </a:r>
          </a:p>
        </p:txBody>
      </p:sp>
      <p:sp>
        <p:nvSpPr>
          <p:cNvPr id="145" name="文字方塊 144">
            <a:extLst>
              <a:ext uri="{FF2B5EF4-FFF2-40B4-BE49-F238E27FC236}">
                <a16:creationId xmlns:a16="http://schemas.microsoft.com/office/drawing/2014/main" id="{423B0628-88C7-CC1F-CF4B-6992676A56E1}"/>
              </a:ext>
            </a:extLst>
          </p:cNvPr>
          <p:cNvSpPr txBox="1"/>
          <p:nvPr/>
        </p:nvSpPr>
        <p:spPr>
          <a:xfrm>
            <a:off x="6562688" y="2190449"/>
            <a:ext cx="868377" cy="323918"/>
          </a:xfrm>
          <a:prstGeom prst="rect">
            <a:avLst/>
          </a:prstGeom>
          <a:noFill/>
        </p:spPr>
        <p:txBody>
          <a:bodyPr wrap="none" lIns="0" tIns="0" rIns="0" bIns="0" anchor="ctr" anchorCtr="1">
            <a:noAutofit/>
          </a:bodyPr>
          <a:lstStyle/>
          <a:p>
            <a:pPr algn="ctr"/>
            <a:r>
              <a:rPr lang="en-US" altLang="zh-TW" sz="1200" b="1" dirty="0">
                <a:ea typeface="Cambria Math" panose="02040503050406030204" pitchFamily="18" charset="0"/>
              </a:rPr>
              <a:t>Stable </a:t>
            </a:r>
          </a:p>
          <a:p>
            <a:pPr algn="ctr"/>
            <a:r>
              <a:rPr lang="en-US" altLang="zh-TW" sz="1200" b="1" dirty="0">
                <a:ea typeface="Cambria Math" panose="02040503050406030204" pitchFamily="18" charset="0"/>
              </a:rPr>
              <a:t>Latent </a:t>
            </a:r>
            <a:r>
              <a:rPr lang="en-US" altLang="zh-TW" sz="1200" b="1" dirty="0" err="1">
                <a:ea typeface="Cambria Math" panose="02040503050406030204" pitchFamily="18" charset="0"/>
              </a:rPr>
              <a:t>MoE</a:t>
            </a:r>
            <a:endParaRPr lang="en-US" altLang="zh-TW" sz="1200" b="1" dirty="0">
              <a:ea typeface="Cambria Math" panose="02040503050406030204" pitchFamily="18" charset="0"/>
            </a:endParaRPr>
          </a:p>
        </p:txBody>
      </p:sp>
      <p:sp>
        <p:nvSpPr>
          <p:cNvPr id="146" name="箭號: 彎曲 145">
            <a:extLst>
              <a:ext uri="{FF2B5EF4-FFF2-40B4-BE49-F238E27FC236}">
                <a16:creationId xmlns:a16="http://schemas.microsoft.com/office/drawing/2014/main" id="{02C38765-5FCC-0715-78F9-4B4C3544BE0E}"/>
              </a:ext>
            </a:extLst>
          </p:cNvPr>
          <p:cNvSpPr/>
          <p:nvPr/>
        </p:nvSpPr>
        <p:spPr>
          <a:xfrm flipH="1">
            <a:off x="7451798" y="1556362"/>
            <a:ext cx="413456" cy="3554085"/>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48" name="文字方塊 147">
            <a:extLst>
              <a:ext uri="{FF2B5EF4-FFF2-40B4-BE49-F238E27FC236}">
                <a16:creationId xmlns:a16="http://schemas.microsoft.com/office/drawing/2014/main" id="{F870F759-27CB-BCD9-0E67-87C7AF37F2DD}"/>
              </a:ext>
            </a:extLst>
          </p:cNvPr>
          <p:cNvSpPr txBox="1"/>
          <p:nvPr/>
        </p:nvSpPr>
        <p:spPr>
          <a:xfrm>
            <a:off x="7529795" y="3048828"/>
            <a:ext cx="868377" cy="323918"/>
          </a:xfrm>
          <a:prstGeom prst="rect">
            <a:avLst/>
          </a:prstGeom>
          <a:noFill/>
        </p:spPr>
        <p:txBody>
          <a:bodyPr wrap="none" lIns="0" tIns="0" rIns="0" bIns="0" anchor="ctr" anchorCtr="1">
            <a:noAutofit/>
          </a:bodyPr>
          <a:lstStyle/>
          <a:p>
            <a:pPr algn="ctr"/>
            <a:r>
              <a:rPr lang="en-US" altLang="zh-TW" sz="1200" dirty="0">
                <a:ea typeface="Cambria Math" panose="02040503050406030204" pitchFamily="18" charset="0"/>
              </a:rPr>
              <a:t>Attention</a:t>
            </a:r>
          </a:p>
          <a:p>
            <a:pPr algn="ctr"/>
            <a:r>
              <a:rPr lang="en-US" altLang="zh-TW" sz="1200" dirty="0">
                <a:ea typeface="Cambria Math" panose="02040503050406030204" pitchFamily="18" charset="0"/>
              </a:rPr>
              <a:t>Residual</a:t>
            </a:r>
          </a:p>
        </p:txBody>
      </p:sp>
      <p:sp>
        <p:nvSpPr>
          <p:cNvPr id="150" name="箭號: 彎曲 149">
            <a:extLst>
              <a:ext uri="{FF2B5EF4-FFF2-40B4-BE49-F238E27FC236}">
                <a16:creationId xmlns:a16="http://schemas.microsoft.com/office/drawing/2014/main" id="{B3E32E45-2D56-A954-84BE-F4C9FB3CA66F}"/>
              </a:ext>
            </a:extLst>
          </p:cNvPr>
          <p:cNvSpPr/>
          <p:nvPr/>
        </p:nvSpPr>
        <p:spPr>
          <a:xfrm flipH="1">
            <a:off x="5013115" y="1556362"/>
            <a:ext cx="413456" cy="3270161"/>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52" name="文字方塊 151">
            <a:extLst>
              <a:ext uri="{FF2B5EF4-FFF2-40B4-BE49-F238E27FC236}">
                <a16:creationId xmlns:a16="http://schemas.microsoft.com/office/drawing/2014/main" id="{147E54B6-404C-95E3-8AC1-C7632743D62C}"/>
              </a:ext>
            </a:extLst>
          </p:cNvPr>
          <p:cNvSpPr txBox="1"/>
          <p:nvPr/>
        </p:nvSpPr>
        <p:spPr>
          <a:xfrm>
            <a:off x="5091112" y="3048828"/>
            <a:ext cx="868377" cy="323918"/>
          </a:xfrm>
          <a:prstGeom prst="rect">
            <a:avLst/>
          </a:prstGeom>
          <a:noFill/>
        </p:spPr>
        <p:txBody>
          <a:bodyPr wrap="none" lIns="0" tIns="0" rIns="0" bIns="0" anchor="ctr" anchorCtr="1">
            <a:noAutofit/>
          </a:bodyPr>
          <a:lstStyle/>
          <a:p>
            <a:pPr algn="ctr"/>
            <a:r>
              <a:rPr lang="en-US" altLang="zh-TW" sz="1200" dirty="0" err="1">
                <a:ea typeface="Cambria Math" panose="02040503050406030204" pitchFamily="18" charset="0"/>
              </a:rPr>
              <a:t>mHC</a:t>
            </a:r>
            <a:endParaRPr lang="en-US" altLang="zh-TW" sz="1200" dirty="0">
              <a:ea typeface="Cambria Math" panose="02040503050406030204" pitchFamily="18" charset="0"/>
            </a:endParaRPr>
          </a:p>
        </p:txBody>
      </p:sp>
      <p:sp>
        <p:nvSpPr>
          <p:cNvPr id="154" name="箭號: 彎曲 153">
            <a:extLst>
              <a:ext uri="{FF2B5EF4-FFF2-40B4-BE49-F238E27FC236}">
                <a16:creationId xmlns:a16="http://schemas.microsoft.com/office/drawing/2014/main" id="{6F07CC16-A84E-414C-DBCA-09F3EA906016}"/>
              </a:ext>
            </a:extLst>
          </p:cNvPr>
          <p:cNvSpPr/>
          <p:nvPr/>
        </p:nvSpPr>
        <p:spPr>
          <a:xfrm flipH="1">
            <a:off x="2574417" y="1556363"/>
            <a:ext cx="413456" cy="2952758"/>
          </a:xfrm>
          <a:prstGeom prst="bentArrow">
            <a:avLst/>
          </a:prstGeom>
          <a:solidFill>
            <a:schemeClr val="tx2">
              <a:lumMod val="20000"/>
              <a:lumOff val="80000"/>
              <a:alpha val="70000"/>
            </a:schemeClr>
          </a:solid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56" name="文字方塊 155">
            <a:extLst>
              <a:ext uri="{FF2B5EF4-FFF2-40B4-BE49-F238E27FC236}">
                <a16:creationId xmlns:a16="http://schemas.microsoft.com/office/drawing/2014/main" id="{B8B4BFD4-0153-271A-6311-94115AF90769}"/>
              </a:ext>
            </a:extLst>
          </p:cNvPr>
          <p:cNvSpPr txBox="1"/>
          <p:nvPr/>
        </p:nvSpPr>
        <p:spPr>
          <a:xfrm>
            <a:off x="2652414" y="3048828"/>
            <a:ext cx="868377" cy="323918"/>
          </a:xfrm>
          <a:prstGeom prst="rect">
            <a:avLst/>
          </a:prstGeom>
          <a:noFill/>
        </p:spPr>
        <p:txBody>
          <a:bodyPr wrap="none" lIns="0" tIns="0" rIns="0" bIns="0" anchor="ctr" anchorCtr="1">
            <a:noAutofit/>
          </a:bodyPr>
          <a:lstStyle/>
          <a:p>
            <a:pPr algn="ctr"/>
            <a:r>
              <a:rPr lang="en-US" altLang="zh-TW" sz="1200" dirty="0">
                <a:ea typeface="Cambria Math" panose="02040503050406030204" pitchFamily="18" charset="0"/>
              </a:rPr>
              <a:t>Per Layer</a:t>
            </a:r>
          </a:p>
          <a:p>
            <a:pPr algn="ctr"/>
            <a:r>
              <a:rPr lang="en-US" altLang="zh-TW" sz="1200" dirty="0">
                <a:ea typeface="Cambria Math" panose="02040503050406030204" pitchFamily="18" charset="0"/>
              </a:rPr>
              <a:t>Embedding</a:t>
            </a:r>
          </a:p>
        </p:txBody>
      </p:sp>
      <p:sp>
        <p:nvSpPr>
          <p:cNvPr id="158" name="文字方塊 157">
            <a:extLst>
              <a:ext uri="{FF2B5EF4-FFF2-40B4-BE49-F238E27FC236}">
                <a16:creationId xmlns:a16="http://schemas.microsoft.com/office/drawing/2014/main" id="{060FB22B-0BF2-7919-611D-2AE2F80DF17C}"/>
              </a:ext>
            </a:extLst>
          </p:cNvPr>
          <p:cNvSpPr txBox="1"/>
          <p:nvPr/>
        </p:nvSpPr>
        <p:spPr>
          <a:xfrm>
            <a:off x="1588462" y="3814561"/>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160" name="文字方塊 159">
            <a:extLst>
              <a:ext uri="{FF2B5EF4-FFF2-40B4-BE49-F238E27FC236}">
                <a16:creationId xmlns:a16="http://schemas.microsoft.com/office/drawing/2014/main" id="{E47E1660-E2C1-EF19-2063-E1FF5E91AE36}"/>
              </a:ext>
            </a:extLst>
          </p:cNvPr>
          <p:cNvSpPr txBox="1"/>
          <p:nvPr/>
        </p:nvSpPr>
        <p:spPr>
          <a:xfrm>
            <a:off x="4034246" y="3814561"/>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 + </a:t>
            </a: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162" name="文字方塊 161">
            <a:extLst>
              <a:ext uri="{FF2B5EF4-FFF2-40B4-BE49-F238E27FC236}">
                <a16:creationId xmlns:a16="http://schemas.microsoft.com/office/drawing/2014/main" id="{59F83D2C-47FF-9F9E-C060-30A16E931D20}"/>
              </a:ext>
            </a:extLst>
          </p:cNvPr>
          <p:cNvSpPr txBox="1"/>
          <p:nvPr/>
        </p:nvSpPr>
        <p:spPr>
          <a:xfrm>
            <a:off x="6474208" y="3833359"/>
            <a:ext cx="1086557" cy="236797"/>
          </a:xfrm>
          <a:prstGeom prst="rect">
            <a:avLst/>
          </a:prstGeom>
          <a:solidFill>
            <a:schemeClr val="accent1">
              <a:lumMod val="75000"/>
              <a:alpha val="20000"/>
            </a:schemeClr>
          </a:solidFill>
          <a:ln w="15875">
            <a:solidFill>
              <a:schemeClr val="accent1">
                <a:lumMod val="60000"/>
                <a:lumOff val="40000"/>
              </a:schemeClr>
            </a:solidFill>
          </a:ln>
        </p:spPr>
        <p:txBody>
          <a:bodyPr wrap="none" lIns="36000" tIns="36000" rIns="0" bIns="0" anchor="t" anchorCtr="0">
            <a:noAutofit/>
          </a:bodyPr>
          <a:lstStyle/>
          <a:p>
            <a:pPr>
              <a:lnSpc>
                <a:spcPts val="1400"/>
              </a:lnSpc>
              <a:buNone/>
            </a:pPr>
            <a:r>
              <a:rPr lang="en-US" altLang="zh-TW" sz="1000" u="none" strike="noStrike" dirty="0" err="1">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NoPE</a:t>
            </a:r>
            <a:r>
              <a:rPr lang="en-US" altLang="zh-TW" sz="1000"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 everywhere</a:t>
            </a:r>
          </a:p>
        </p:txBody>
      </p:sp>
    </p:spTree>
    <p:extLst>
      <p:ext uri="{BB962C8B-B14F-4D97-AF65-F5344CB8AC3E}">
        <p14:creationId xmlns:p14="http://schemas.microsoft.com/office/powerpoint/2010/main" val="316544642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2045</TotalTime>
  <Words>5619</Words>
  <Application>Microsoft Office PowerPoint</Application>
  <PresentationFormat>如螢幕大小 (4:3)</PresentationFormat>
  <Paragraphs>1057</Paragraphs>
  <Slides>26</Slides>
  <Notes>16</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26</vt:i4>
      </vt:variant>
    </vt:vector>
  </HeadingPairs>
  <TitlesOfParts>
    <vt:vector size="36"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1885</cp:revision>
  <cp:lastPrinted>2024-07-30T01:44:15Z</cp:lastPrinted>
  <dcterms:created xsi:type="dcterms:W3CDTF">2019-11-08T03:01:47Z</dcterms:created>
  <dcterms:modified xsi:type="dcterms:W3CDTF">2026-09-10T06:56:41Z</dcterms:modified>
</cp:coreProperties>
</file>