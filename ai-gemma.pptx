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3459" r:id="rId2"/>
    <p:sldId id="3472" r:id="rId3"/>
    <p:sldId id="3532" r:id="rId4"/>
    <p:sldId id="3499" r:id="rId5"/>
    <p:sldId id="3444" r:id="rId6"/>
    <p:sldId id="3521" r:id="rId7"/>
    <p:sldId id="3520" r:id="rId8"/>
    <p:sldId id="3518" r:id="rId9"/>
    <p:sldId id="3475" r:id="rId10"/>
    <p:sldId id="3465" r:id="rId11"/>
    <p:sldId id="3515" r:id="rId12"/>
    <p:sldId id="3505" r:id="rId13"/>
    <p:sldId id="3514" r:id="rId14"/>
    <p:sldId id="3482" r:id="rId15"/>
    <p:sldId id="3489" r:id="rId16"/>
    <p:sldId id="3519" r:id="rId17"/>
    <p:sldId id="3530" r:id="rId18"/>
    <p:sldId id="257" r:id="rId19"/>
    <p:sldId id="265" r:id="rId20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Edge AI" id="{C5ADF914-F8F1-4215-8A34-A521DDB15BBF}">
          <p14:sldIdLst>
            <p14:sldId id="3532"/>
            <p14:sldId id="3499"/>
            <p14:sldId id="3444"/>
            <p14:sldId id="3521"/>
            <p14:sldId id="3520"/>
            <p14:sldId id="3518"/>
            <p14:sldId id="3475"/>
          </p14:sldIdLst>
        </p14:section>
        <p14:section name="Gemma" id="{5A048767-0D58-44AF-B962-12C29493294F}">
          <p14:sldIdLst>
            <p14:sldId id="3465"/>
            <p14:sldId id="3515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519"/>
            <p14:sldId id="3530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B307"/>
    <a:srgbClr val="EAEAEA"/>
    <a:srgbClr val="DFD8E8"/>
    <a:srgbClr val="FF99FF"/>
    <a:srgbClr val="EBE6F0"/>
    <a:srgbClr val="CCFF66"/>
    <a:srgbClr val="CBDCA8"/>
    <a:srgbClr val="FF0000"/>
    <a:srgbClr val="008000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406" autoAdjust="0"/>
    <p:restoredTop sz="38710" autoAdjust="0"/>
  </p:normalViewPr>
  <p:slideViewPr>
    <p:cSldViewPr>
      <p:cViewPr>
        <p:scale>
          <a:sx n="100" d="100"/>
          <a:sy n="100" d="100"/>
        </p:scale>
        <p:origin x="1446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4917C-4D70-6475-414F-A7F6D7E95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16150E7-79D9-F597-8A7E-5F858DADF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96616FD-FA3A-4DCF-3433-4918F60C4F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F44375-662C-F098-7B49-BC0BFB70AB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43671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81A17-90A7-9331-3F44-AE3CEE56D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054187F-DC36-B286-6A5E-3E08FF7E4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73D078-FC4B-EEEB-EC56-F89C13CBA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5DF597F-45FE-5CE4-D640-6655A52604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92754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FA828-BB81-20B9-F8FF-D51EE5A55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EB7EF0-23BF-7613-C8F0-A77854388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1DE388F-6C85-7B21-1F63-CC5157628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我們可以從以下四個最關鍵的維度，來看各個推理引擎的本質差異：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速度與吞吐量（Throughput）的巨大落差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SGLang（API 伺服器之王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內建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PagedAttention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專為「多人同時使用」設計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單機之王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它沒有高併發優化，如果 100 個人同時連進來，它會排隊排到天荒地老。但如果是「你一個人」在電腦前用，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Time-to-First-Token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非常快。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硬體支援度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底層優化對象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TensorRT-LLM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Nvidia 官方的硬體作弊外掛。它會把 Llama 的矩陣乘法，直接編譯成特定 GPU（如 A100 或 RTX 4090）的最底層硬體指令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是所有引擎中最快的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 / 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：主打「什麼硬體都能跑」。它的底層是用 C++ 寫的，對 Apple Silicon的神經網路引擎和記憶體頻寬做了神級優化。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OpenVINO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Intel 的專屬引擎，專門把 Llama 優化在 Intel Xeon 處理器、Intel Ultra 筆電晶片或 Arc 顯卡上執行。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動態外掛（Multi-LoRA）的支援能力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如果你微調了好多個不同功能的 LoRA 外掛（例如一個負責寫信、一個負責寫程式、一個負責客服）：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：支援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「動態熱插拔 Multi-LoRA」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。伺服器記憶體裡只需要載入一個 Llama 基底模型，當 A 請求需要客服、B 請求需要寫程式時，引擎可以在微秒等級內動態切換計算圖分支。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 / 傳統引擎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：通常不支援或支援得很差。你可能必須為了客服開一個 15GB 的模型服務，為了寫程式又開另一個 15GB 的模型服務，極度浪費顯存（VRAM）。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功能性與生態系（開發便利度）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：主打「零設定」。它把複雜的編譯、權重載入、硬體分配全部包裝起來。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：主打「複雜 Prompt 與 Agent 加速」。SGLang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技術會把那些重複的系統提示詞（System Prompt）永遠快取在顯存裡。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C79EC1-ECFE-2D05-74F8-6C0BB1DEFB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207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 Decay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又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泛化能力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Generalization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。目前 95% 以上的 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LLaMA, GPT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endParaRPr lang="zh-TW" altLang="zh-TW" dirty="0"/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QAT（Quantization-Aware Training，量化感知訓練）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TW" altLang="zh-TW" dirty="0"/>
              <a:t>是一種 AI 模型優化技術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。它在訓練過程中模擬低精度（如 INT8）的誤差，讓神經網路提前「適應」量化損失。相較於直接量化，這能大幅減少精準度下降，常用於邊緣設備。</a:t>
            </a:r>
            <a:b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核心原理與運作方式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偽量化（Fake Quantization）：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在訓練階段，將高精度（通常為 FP32）的權重與激活值壓縮為低精度（如 INT8），計算完後再解壓縮回高精度。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模擬誤差：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讓模型在訓練時就能察覺到量化所產生的噪聲（Noise），並學會自我調整去彌補這些誤差。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權重更新：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為了在不可微分的量化函數下進行反向傳播（Backpropagation），QAT 使用直通估計器（Straight-Through Estimator, STE）來順利更新權重。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STE（Straight-Through Estimator，直通估計器）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是深度學習中用於解決「不可微分函數」反向傳播問題的一種特殊技巧。在模型量化（如 QAT）或二值化神經網路（BNN）中，它是不可或缺的核心機制。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數學困境：</a:t>
            </a:r>
            <a:r>
              <a:rPr lang="zh-TW" altLang="zh-TW" dirty="0"/>
              <a:t> 階梯函數的導數（梯度）在絕大多數地方都是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zh-TW" altLang="zh-TW" dirty="0"/>
              <a:t>，而在跳躍的邊界點則是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無限大（不存在）</a:t>
            </a:r>
            <a:r>
              <a:rPr lang="zh-TW" altLang="zh-TW" dirty="0"/>
              <a:t>。</a:t>
            </a:r>
            <a:br>
              <a:rPr lang="zh-TW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STE 的運作原理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 的核心思想非常直接且「粗暴」：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在正向傳播時使用量化函數，但在反向傳播時，直接假裝量化函數不存在。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正向傳播（Forward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正常執行量化運算（例如將 2.7 四捨五入變成 3），讓模型體驗低精度帶來的誤差與噪聲。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反向傳播（Backward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當梯度傳回來到這個量化節點時，STE 直接將梯度「原封不動」地傳遞過去（相當於假設該節點的導數為 1）。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簡單來說，它就像是在反向傳播時，在不可微分的階梯函數上架了一座「直通橋梁」，讓梯度順利通過並更新前一層的 FP32 權重。</a:t>
            </a:r>
          </a:p>
          <a:p>
            <a:endParaRPr lang="zh-TW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optimizer, 作法</a:t>
            </a:r>
          </a:p>
          <a:p>
            <a:pPr rt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Adam（Adaptive Moment Estimation，自適應動態矩量估計）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結合了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Momentum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動態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RMSprop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均方根傳播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的優點，既能像動態法一樣衝過局部最小值，又能為每個參數獨立調整學習率。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4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0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5" Type="http://schemas.openxmlformats.org/officeDocument/2006/relationships/image" Target="../media/image230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2026/07/21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340768"/>
            <a:ext cx="745282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Agent Skills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Action)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Wiki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(Knowledge base architecture)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Engine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 Engine)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Emerging Trends in AI Systems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PEFT: 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(Memory-efficient tuning via 4-bit quantized base models)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PEFT: DoRA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(Decoupled weight learning matching full fine-tuning performance.)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4: 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Code Intelligence Benchmarking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(LiveCodeBench)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Building a Bio-IT AI Agent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(Select model and FT framework)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Practice: Unsloth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(Fine-Tunning Example)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E851D-74F1-0D10-E4C1-0D67DB2BF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字方塊 24">
            <a:extLst>
              <a:ext uri="{FF2B5EF4-FFF2-40B4-BE49-F238E27FC236}">
                <a16:creationId xmlns:a16="http://schemas.microsoft.com/office/drawing/2014/main" id="{10EE06B5-09A0-C6B0-AEC5-E978463FBBC2}"/>
              </a:ext>
            </a:extLst>
          </p:cNvPr>
          <p:cNvSpPr txBox="1"/>
          <p:nvPr/>
        </p:nvSpPr>
        <p:spPr>
          <a:xfrm>
            <a:off x="2588775" y="4813260"/>
            <a:ext cx="3245348" cy="1329514"/>
          </a:xfrm>
          <a:prstGeom prst="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ysDash"/>
          </a:ln>
        </p:spPr>
        <p:txBody>
          <a:bodyPr wrap="none" lIns="0" tIns="91440" rIns="91440" bIns="0" anchor="t" anchorCtr="0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Agentic</a:t>
            </a:r>
          </a:p>
          <a:p>
            <a:pPr algn="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  <a:endParaRPr lang="en-US" altLang="zh-TW" sz="1400" b="1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51D0CA9D-CF00-4E8A-F3C1-7909D642D02E}"/>
              </a:ext>
            </a:extLst>
          </p:cNvPr>
          <p:cNvSpPr txBox="1"/>
          <p:nvPr/>
        </p:nvSpPr>
        <p:spPr>
          <a:xfrm>
            <a:off x="2953738" y="4493143"/>
            <a:ext cx="1497523" cy="495268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AI Agent</a:t>
            </a:r>
            <a:endParaRPr lang="en-US" altLang="zh-TW" sz="1400" b="1" u="none" strike="noStrike" dirty="0">
              <a:solidFill>
                <a:schemeClr val="accent6">
                  <a:lumMod val="75000"/>
                </a:schemeClr>
              </a:solidFill>
              <a:effectLst/>
            </a:endParaRP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u="none" strike="noStrike" dirty="0">
                <a:effectLst/>
              </a:rPr>
              <a:t>(Router)</a:t>
            </a:r>
          </a:p>
        </p:txBody>
      </p:sp>
      <p:cxnSp>
        <p:nvCxnSpPr>
          <p:cNvPr id="20" name="接點: 肘形 19">
            <a:extLst>
              <a:ext uri="{FF2B5EF4-FFF2-40B4-BE49-F238E27FC236}">
                <a16:creationId xmlns:a16="http://schemas.microsoft.com/office/drawing/2014/main" id="{3A2C6091-BB1A-C34C-2A3F-070C6AE9DAD4}"/>
              </a:ext>
            </a:extLst>
          </p:cNvPr>
          <p:cNvCxnSpPr>
            <a:cxnSpLocks/>
            <a:stCxn id="40" idx="2"/>
            <a:endCxn id="85" idx="2"/>
          </p:cNvCxnSpPr>
          <p:nvPr/>
        </p:nvCxnSpPr>
        <p:spPr>
          <a:xfrm rot="5400000" flipH="1" flipV="1">
            <a:off x="3364719" y="3839980"/>
            <a:ext cx="882008" cy="168240"/>
          </a:xfrm>
          <a:prstGeom prst="bentConnector3">
            <a:avLst>
              <a:gd name="adj1" fmla="val -25918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標題 1">
            <a:extLst>
              <a:ext uri="{FF2B5EF4-FFF2-40B4-BE49-F238E27FC236}">
                <a16:creationId xmlns:a16="http://schemas.microsoft.com/office/drawing/2014/main" id="{CEF95E4D-4041-AEF8-1FC6-6369323FE9C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12968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RAG boosts agent accuracy but adds latency; parallel frameworks like </a:t>
            </a:r>
            <a:r>
              <a:rPr kumimoji="0" lang="en-US" altLang="zh-TW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ReWOO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restore speed.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FAC317C6-4626-1B2B-AEC6-1890A96EE209}"/>
              </a:ext>
            </a:extLst>
          </p:cNvPr>
          <p:cNvGraphicFramePr>
            <a:graphicFrameLocks noGrp="1"/>
          </p:cNvGraphicFramePr>
          <p:nvPr/>
        </p:nvGraphicFramePr>
        <p:xfrm>
          <a:off x="1124810" y="3345031"/>
          <a:ext cx="1070926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09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D8572D84-C893-C9E6-47D7-75D138C833BF}"/>
              </a:ext>
            </a:extLst>
          </p:cNvPr>
          <p:cNvSpPr txBox="1"/>
          <p:nvPr/>
        </p:nvSpPr>
        <p:spPr>
          <a:xfrm>
            <a:off x="2601922" y="2035739"/>
            <a:ext cx="3232202" cy="893822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Reasoning</a:t>
            </a:r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A6F6E1B2-4410-329F-F40B-BF387AFC3185}"/>
              </a:ext>
            </a:extLst>
          </p:cNvPr>
          <p:cNvSpPr txBox="1">
            <a:spLocks/>
          </p:cNvSpPr>
          <p:nvPr/>
        </p:nvSpPr>
        <p:spPr>
          <a:xfrm>
            <a:off x="3478324" y="1273175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3336D256-EDED-4696-A1BB-76862DCD076A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644E5DDD-D891-F4C5-E1BB-EEA8B9117949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4105B411-9718-432D-3492-4CCD58074E49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E4C9916F-526C-2149-B47C-BC4FE91F2F9B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DB8A7D43-44B5-6F11-7DA9-57A063DEE63A}"/>
              </a:ext>
            </a:extLst>
          </p:cNvPr>
          <p:cNvCxnSpPr>
            <a:cxnSpLocks/>
            <a:stCxn id="32" idx="3"/>
            <a:endCxn id="23" idx="1"/>
          </p:cNvCxnSpPr>
          <p:nvPr/>
        </p:nvCxnSpPr>
        <p:spPr>
          <a:xfrm flipV="1">
            <a:off x="1831082" y="2482650"/>
            <a:ext cx="770840" cy="436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95F20FA0-F44A-3E96-8E3A-E2DBBF81ED21}"/>
              </a:ext>
            </a:extLst>
          </p:cNvPr>
          <p:cNvSpPr/>
          <p:nvPr/>
        </p:nvSpPr>
        <p:spPr>
          <a:xfrm rot="10800000">
            <a:off x="2732791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Prompt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79337494-4F56-4972-2B00-13C173F0D061}"/>
              </a:ext>
            </a:extLst>
          </p:cNvPr>
          <p:cNvCxnSpPr>
            <a:cxnSpLocks/>
            <a:stCxn id="114" idx="2"/>
            <a:endCxn id="132" idx="0"/>
          </p:cNvCxnSpPr>
          <p:nvPr/>
        </p:nvCxnSpPr>
        <p:spPr>
          <a:xfrm rot="16200000" flipH="1">
            <a:off x="4914779" y="2832182"/>
            <a:ext cx="936105" cy="365722"/>
          </a:xfrm>
          <a:prstGeom prst="bentConnector3">
            <a:avLst>
              <a:gd name="adj1" fmla="val -2442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578988E3-D386-548F-14BC-26F42CB8F679}"/>
              </a:ext>
            </a:extLst>
          </p:cNvPr>
          <p:cNvSpPr/>
          <p:nvPr/>
        </p:nvSpPr>
        <p:spPr>
          <a:xfrm>
            <a:off x="2267744" y="4365104"/>
            <a:ext cx="825087" cy="882539"/>
          </a:xfrm>
          <a:prstGeom prst="wedgeRoundRectCallout">
            <a:avLst>
              <a:gd name="adj1" fmla="val 56711"/>
              <a:gd name="adj2" fmla="val 59786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TSMC’s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report.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40" name="箭號: 向下 39">
            <a:extLst>
              <a:ext uri="{FF2B5EF4-FFF2-40B4-BE49-F238E27FC236}">
                <a16:creationId xmlns:a16="http://schemas.microsoft.com/office/drawing/2014/main" id="{C71631F2-520D-603B-D24A-C6556F32D4F7}"/>
              </a:ext>
            </a:extLst>
          </p:cNvPr>
          <p:cNvSpPr/>
          <p:nvPr/>
        </p:nvSpPr>
        <p:spPr>
          <a:xfrm>
            <a:off x="3630295" y="3993976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rgbClr val="7030A0"/>
                </a:solidFill>
              </a:rPr>
              <a:t>MCP</a:t>
            </a:r>
            <a:endParaRPr lang="zh-TW" altLang="en-US" sz="1000" b="1" dirty="0">
              <a:solidFill>
                <a:srgbClr val="7030A0"/>
              </a:solidFill>
            </a:endParaRPr>
          </a:p>
        </p:txBody>
      </p:sp>
      <p:sp>
        <p:nvSpPr>
          <p:cNvPr id="45" name="箭號: 向下 44">
            <a:extLst>
              <a:ext uri="{FF2B5EF4-FFF2-40B4-BE49-F238E27FC236}">
                <a16:creationId xmlns:a16="http://schemas.microsoft.com/office/drawing/2014/main" id="{462AE830-760D-0E59-7995-536C09AC9A34}"/>
              </a:ext>
            </a:extLst>
          </p:cNvPr>
          <p:cNvSpPr/>
          <p:nvPr/>
        </p:nvSpPr>
        <p:spPr>
          <a:xfrm>
            <a:off x="4451262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tx1"/>
                </a:solidFill>
              </a:rPr>
              <a:t>Final</a:t>
            </a:r>
          </a:p>
          <a:p>
            <a:pPr algn="ctr"/>
            <a:r>
              <a:rPr lang="en-US" altLang="zh-TW" sz="1000" b="1" dirty="0">
                <a:solidFill>
                  <a:schemeClr val="tx1"/>
                </a:solidFill>
              </a:rPr>
              <a:t>Answer</a:t>
            </a:r>
          </a:p>
        </p:txBody>
      </p:sp>
      <p:sp>
        <p:nvSpPr>
          <p:cNvPr id="43" name="右大括弧 42">
            <a:extLst>
              <a:ext uri="{FF2B5EF4-FFF2-40B4-BE49-F238E27FC236}">
                <a16:creationId xmlns:a16="http://schemas.microsoft.com/office/drawing/2014/main" id="{CE53BF93-8848-AA12-41EA-7817F672E6AC}"/>
              </a:ext>
            </a:extLst>
          </p:cNvPr>
          <p:cNvSpPr/>
          <p:nvPr/>
        </p:nvSpPr>
        <p:spPr>
          <a:xfrm rot="16200000">
            <a:off x="4141501" y="143068"/>
            <a:ext cx="153045" cy="323220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09CE6EAC-0923-2447-ABF3-98900CC49349}"/>
              </a:ext>
            </a:extLst>
          </p:cNvPr>
          <p:cNvSpPr txBox="1"/>
          <p:nvPr/>
        </p:nvSpPr>
        <p:spPr>
          <a:xfrm>
            <a:off x="3403294" y="5671171"/>
            <a:ext cx="588206" cy="37601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u="none" strike="noStrike" dirty="0">
                <a:effectLst/>
              </a:rPr>
              <a:t>(Tools)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BB8462C-5DC9-5929-62DF-BB7A759AFDE2}"/>
              </a:ext>
            </a:extLst>
          </p:cNvPr>
          <p:cNvSpPr txBox="1"/>
          <p:nvPr/>
        </p:nvSpPr>
        <p:spPr>
          <a:xfrm>
            <a:off x="4088801" y="5669254"/>
            <a:ext cx="588206" cy="376017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Skill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u="none" strike="noStrike" dirty="0">
                <a:effectLst/>
              </a:rPr>
              <a:t>(Scripts)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CF2FCA05-8E66-2B4C-465D-BE76C9EE985A}"/>
              </a:ext>
            </a:extLst>
          </p:cNvPr>
          <p:cNvSpPr/>
          <p:nvPr/>
        </p:nvSpPr>
        <p:spPr>
          <a:xfrm>
            <a:off x="4893031" y="5663897"/>
            <a:ext cx="588206" cy="376017"/>
          </a:xfrm>
          <a:prstGeom prst="roundRect">
            <a:avLst>
              <a:gd name="adj" fmla="val 0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4572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Wiki</a:t>
            </a: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68F3F681-A993-A9DB-2D20-7252C481D779}"/>
              </a:ext>
            </a:extLst>
          </p:cNvPr>
          <p:cNvSpPr txBox="1"/>
          <p:nvPr/>
        </p:nvSpPr>
        <p:spPr>
          <a:xfrm>
            <a:off x="2732791" y="5669254"/>
            <a:ext cx="588206" cy="376017"/>
          </a:xfrm>
          <a:prstGeom prst="rect">
            <a:avLst/>
          </a:prstGeom>
          <a:solidFill>
            <a:schemeClr val="accent5">
              <a:lumMod val="20000"/>
              <a:lumOff val="80000"/>
              <a:alpha val="6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200" b="1" u="none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  <a:t>Vector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b="1" u="none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  <a:t>DB</a:t>
            </a:r>
          </a:p>
        </p:txBody>
      </p:sp>
      <p:sp>
        <p:nvSpPr>
          <p:cNvPr id="71" name="箭號: 向下 70">
            <a:extLst>
              <a:ext uri="{FF2B5EF4-FFF2-40B4-BE49-F238E27FC236}">
                <a16:creationId xmlns:a16="http://schemas.microsoft.com/office/drawing/2014/main" id="{9442F65E-5116-38EE-1587-DBACA9C3393E}"/>
              </a:ext>
            </a:extLst>
          </p:cNvPr>
          <p:cNvSpPr/>
          <p:nvPr/>
        </p:nvSpPr>
        <p:spPr>
          <a:xfrm>
            <a:off x="3217938" y="4008314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tx2">
              <a:lumMod val="20000"/>
              <a:lumOff val="80000"/>
              <a:alpha val="8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5">
                    <a:lumMod val="50000"/>
                  </a:schemeClr>
                </a:solidFill>
              </a:rPr>
              <a:t>VDB</a:t>
            </a:r>
            <a:endParaRPr lang="zh-TW" altLang="en-US" sz="10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85" name="箭號: 向上 84">
            <a:extLst>
              <a:ext uri="{FF2B5EF4-FFF2-40B4-BE49-F238E27FC236}">
                <a16:creationId xmlns:a16="http://schemas.microsoft.com/office/drawing/2014/main" id="{DC4667BB-AB07-7189-91BC-32CA1E5573AE}"/>
              </a:ext>
            </a:extLst>
          </p:cNvPr>
          <p:cNvSpPr/>
          <p:nvPr/>
        </p:nvSpPr>
        <p:spPr>
          <a:xfrm>
            <a:off x="3750751" y="2987668"/>
            <a:ext cx="278184" cy="495428"/>
          </a:xfrm>
          <a:prstGeom prst="upArrow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4572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rgbClr val="7030A0"/>
                </a:solidFill>
              </a:rPr>
              <a:t>Result</a:t>
            </a:r>
            <a:endParaRPr lang="zh-TW" altLang="en-US" sz="1000" b="1" dirty="0">
              <a:solidFill>
                <a:srgbClr val="7030A0"/>
              </a:solidFill>
            </a:endParaRPr>
          </a:p>
        </p:txBody>
      </p:sp>
      <p:sp>
        <p:nvSpPr>
          <p:cNvPr id="96" name="箭號: 向上 95">
            <a:extLst>
              <a:ext uri="{FF2B5EF4-FFF2-40B4-BE49-F238E27FC236}">
                <a16:creationId xmlns:a16="http://schemas.microsoft.com/office/drawing/2014/main" id="{6F976072-6E37-DA33-B3EA-65C4240217B7}"/>
              </a:ext>
            </a:extLst>
          </p:cNvPr>
          <p:cNvSpPr/>
          <p:nvPr/>
        </p:nvSpPr>
        <p:spPr>
          <a:xfrm>
            <a:off x="3322402" y="2987668"/>
            <a:ext cx="274485" cy="495428"/>
          </a:xfrm>
          <a:prstGeom prst="upArrow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4572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5">
                    <a:lumMod val="50000"/>
                  </a:schemeClr>
                </a:solidFill>
              </a:rPr>
              <a:t>Result</a:t>
            </a:r>
            <a:endParaRPr lang="zh-TW" altLang="en-US" sz="10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箭號: 向下 113">
            <a:extLst>
              <a:ext uri="{FF2B5EF4-FFF2-40B4-BE49-F238E27FC236}">
                <a16:creationId xmlns:a16="http://schemas.microsoft.com/office/drawing/2014/main" id="{0E8551EA-8796-9BAB-1CD2-F622FB84A8DB}"/>
              </a:ext>
            </a:extLst>
          </p:cNvPr>
          <p:cNvSpPr/>
          <p:nvPr/>
        </p:nvSpPr>
        <p:spPr>
          <a:xfrm rot="10800000">
            <a:off x="5037047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algn="ctr"/>
            <a:r>
              <a:rPr lang="zh-TW" altLang="en-US" sz="1400" b="1" dirty="0">
                <a:solidFill>
                  <a:schemeClr val="tx1"/>
                </a:solidFill>
              </a:rPr>
              <a:t> </a:t>
            </a:r>
            <a:r>
              <a:rPr lang="en-US" altLang="zh-TW" sz="1400" b="1" dirty="0">
                <a:solidFill>
                  <a:schemeClr val="tx1"/>
                </a:solidFill>
              </a:rPr>
              <a:t>…</a:t>
            </a:r>
            <a:r>
              <a:rPr lang="zh-TW" altLang="en-US" sz="1400" b="1" dirty="0">
                <a:solidFill>
                  <a:schemeClr val="tx1"/>
                </a:solidFill>
              </a:rPr>
              <a:t> </a:t>
            </a:r>
          </a:p>
        </p:txBody>
      </p:sp>
      <p:cxnSp>
        <p:nvCxnSpPr>
          <p:cNvPr id="118" name="接點: 肘形 117">
            <a:extLst>
              <a:ext uri="{FF2B5EF4-FFF2-40B4-BE49-F238E27FC236}">
                <a16:creationId xmlns:a16="http://schemas.microsoft.com/office/drawing/2014/main" id="{E27141A3-132B-596A-F5FC-F68639555662}"/>
              </a:ext>
            </a:extLst>
          </p:cNvPr>
          <p:cNvCxnSpPr>
            <a:cxnSpLocks/>
            <a:stCxn id="71" idx="2"/>
            <a:endCxn id="96" idx="2"/>
          </p:cNvCxnSpPr>
          <p:nvPr/>
        </p:nvCxnSpPr>
        <p:spPr>
          <a:xfrm rot="5400000" flipH="1" flipV="1">
            <a:off x="2938519" y="3843978"/>
            <a:ext cx="882008" cy="160244"/>
          </a:xfrm>
          <a:prstGeom prst="bentConnector3">
            <a:avLst>
              <a:gd name="adj1" fmla="val -25918"/>
            </a:avLst>
          </a:prstGeom>
          <a:ln w="15875">
            <a:solidFill>
              <a:schemeClr val="accent3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9099F505-4990-FAA6-06FC-5DD3292E975B}"/>
              </a:ext>
            </a:extLst>
          </p:cNvPr>
          <p:cNvSpPr txBox="1"/>
          <p:nvPr/>
        </p:nvSpPr>
        <p:spPr>
          <a:xfrm>
            <a:off x="3387637" y="5276297"/>
            <a:ext cx="631450" cy="240935"/>
          </a:xfrm>
          <a:prstGeom prst="rect">
            <a:avLst/>
          </a:prstGeom>
          <a:noFill/>
        </p:spPr>
        <p:txBody>
          <a:bodyPr wrap="none" lIns="0" tIns="9144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BD99DD98-B721-F06E-F383-798EFDD6D3D4}"/>
              </a:ext>
            </a:extLst>
          </p:cNvPr>
          <p:cNvCxnSpPr>
            <a:cxnSpLocks/>
            <a:stCxn id="122" idx="0"/>
            <a:endCxn id="111" idx="2"/>
          </p:cNvCxnSpPr>
          <p:nvPr/>
        </p:nvCxnSpPr>
        <p:spPr>
          <a:xfrm flipH="1" flipV="1">
            <a:off x="3702500" y="4988411"/>
            <a:ext cx="862" cy="287886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箭號: 向下 131">
            <a:extLst>
              <a:ext uri="{FF2B5EF4-FFF2-40B4-BE49-F238E27FC236}">
                <a16:creationId xmlns:a16="http://schemas.microsoft.com/office/drawing/2014/main" id="{284919E8-0FB5-84A1-D92F-1402DAF25DE6}"/>
              </a:ext>
            </a:extLst>
          </p:cNvPr>
          <p:cNvSpPr/>
          <p:nvPr/>
        </p:nvSpPr>
        <p:spPr>
          <a:xfrm>
            <a:off x="5416816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tx1"/>
                </a:solidFill>
              </a:rPr>
              <a:t>…</a:t>
            </a:r>
          </a:p>
        </p:txBody>
      </p:sp>
      <p:cxnSp>
        <p:nvCxnSpPr>
          <p:cNvPr id="135" name="接點: 肘形 134">
            <a:extLst>
              <a:ext uri="{FF2B5EF4-FFF2-40B4-BE49-F238E27FC236}">
                <a16:creationId xmlns:a16="http://schemas.microsoft.com/office/drawing/2014/main" id="{0902C794-519F-DC2B-51FE-445A4EFAA5F3}"/>
              </a:ext>
            </a:extLst>
          </p:cNvPr>
          <p:cNvCxnSpPr>
            <a:cxnSpLocks/>
            <a:stCxn id="142" idx="0"/>
            <a:endCxn id="45" idx="0"/>
          </p:cNvCxnSpPr>
          <p:nvPr/>
        </p:nvCxnSpPr>
        <p:spPr>
          <a:xfrm rot="16200000" flipH="1">
            <a:off x="4181939" y="3064896"/>
            <a:ext cx="486144" cy="350256"/>
          </a:xfrm>
          <a:prstGeom prst="bentConnector3">
            <a:avLst>
              <a:gd name="adj1" fmla="val -47023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A3643A1D-79C9-3E68-FB55-1B9D37A913F9}"/>
              </a:ext>
            </a:extLst>
          </p:cNvPr>
          <p:cNvCxnSpPr>
            <a:cxnSpLocks/>
            <a:stCxn id="141" idx="2"/>
            <a:endCxn id="142" idx="2"/>
          </p:cNvCxnSpPr>
          <p:nvPr/>
        </p:nvCxnSpPr>
        <p:spPr>
          <a:xfrm rot="5400000" flipH="1" flipV="1">
            <a:off x="3729683" y="3854188"/>
            <a:ext cx="882008" cy="158392"/>
          </a:xfrm>
          <a:prstGeom prst="bentConnector3">
            <a:avLst>
              <a:gd name="adj1" fmla="val -25918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箭號: 向下 140">
            <a:extLst>
              <a:ext uri="{FF2B5EF4-FFF2-40B4-BE49-F238E27FC236}">
                <a16:creationId xmlns:a16="http://schemas.microsoft.com/office/drawing/2014/main" id="{3C28DCA6-0B63-EEC8-15A7-3073973535EA}"/>
              </a:ext>
            </a:extLst>
          </p:cNvPr>
          <p:cNvSpPr/>
          <p:nvPr/>
        </p:nvSpPr>
        <p:spPr>
          <a:xfrm>
            <a:off x="4000183" y="4003260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Skill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2" name="箭號: 向上 141">
            <a:extLst>
              <a:ext uri="{FF2B5EF4-FFF2-40B4-BE49-F238E27FC236}">
                <a16:creationId xmlns:a16="http://schemas.microsoft.com/office/drawing/2014/main" id="{12EFF3BF-8C1F-06F3-5086-F1AF996CB200}"/>
              </a:ext>
            </a:extLst>
          </p:cNvPr>
          <p:cNvSpPr/>
          <p:nvPr/>
        </p:nvSpPr>
        <p:spPr>
          <a:xfrm>
            <a:off x="4110791" y="2996952"/>
            <a:ext cx="278184" cy="495428"/>
          </a:xfrm>
          <a:prstGeom prst="upArrow">
            <a:avLst/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4572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Done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47" name="接點: 肘形 146">
            <a:extLst>
              <a:ext uri="{FF2B5EF4-FFF2-40B4-BE49-F238E27FC236}">
                <a16:creationId xmlns:a16="http://schemas.microsoft.com/office/drawing/2014/main" id="{E8B0B3F5-0CC1-6272-389E-E91C07607706}"/>
              </a:ext>
            </a:extLst>
          </p:cNvPr>
          <p:cNvCxnSpPr>
            <a:cxnSpLocks/>
            <a:stCxn id="59" idx="2"/>
            <a:endCxn id="71" idx="0"/>
          </p:cNvCxnSpPr>
          <p:nvPr/>
        </p:nvCxnSpPr>
        <p:spPr>
          <a:xfrm rot="16200000" flipH="1">
            <a:off x="2366896" y="3075809"/>
            <a:ext cx="1461323" cy="403686"/>
          </a:xfrm>
          <a:prstGeom prst="bentConnector3">
            <a:avLst>
              <a:gd name="adj1" fmla="val -15643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接點: 肘形 160">
            <a:extLst>
              <a:ext uri="{FF2B5EF4-FFF2-40B4-BE49-F238E27FC236}">
                <a16:creationId xmlns:a16="http://schemas.microsoft.com/office/drawing/2014/main" id="{7FB7F299-EA0D-88C4-EC62-102AA5744D08}"/>
              </a:ext>
            </a:extLst>
          </p:cNvPr>
          <p:cNvCxnSpPr>
            <a:cxnSpLocks/>
            <a:stCxn id="45" idx="2"/>
            <a:endCxn id="122" idx="3"/>
          </p:cNvCxnSpPr>
          <p:nvPr/>
        </p:nvCxnSpPr>
        <p:spPr>
          <a:xfrm rot="5400000">
            <a:off x="3757779" y="4554404"/>
            <a:ext cx="1103669" cy="581052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A81EE32D-9554-29B8-CE12-008BDF9D2985}"/>
              </a:ext>
            </a:extLst>
          </p:cNvPr>
          <p:cNvCxnSpPr>
            <a:cxnSpLocks/>
            <a:stCxn id="6" idx="0"/>
            <a:endCxn id="59" idx="0"/>
          </p:cNvCxnSpPr>
          <p:nvPr/>
        </p:nvCxnSpPr>
        <p:spPr>
          <a:xfrm rot="5400000" flipH="1" flipV="1">
            <a:off x="2283945" y="3753335"/>
            <a:ext cx="1008113" cy="215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E14887DE-633F-6477-C039-CE4DD5F68636}"/>
              </a:ext>
            </a:extLst>
          </p:cNvPr>
          <p:cNvGrpSpPr/>
          <p:nvPr/>
        </p:nvGrpSpPr>
        <p:grpSpPr>
          <a:xfrm>
            <a:off x="6055815" y="1095791"/>
            <a:ext cx="1619672" cy="1326756"/>
            <a:chOff x="6516216" y="4813260"/>
            <a:chExt cx="1512168" cy="1273320"/>
          </a:xfrm>
        </p:grpSpPr>
        <p:sp>
          <p:nvSpPr>
            <p:cNvPr id="184" name="箭號: 圓形 183">
              <a:extLst>
                <a:ext uri="{FF2B5EF4-FFF2-40B4-BE49-F238E27FC236}">
                  <a16:creationId xmlns:a16="http://schemas.microsoft.com/office/drawing/2014/main" id="{3A71D6D5-8EB3-6B9F-72C5-7A6D9DE9D0FF}"/>
                </a:ext>
              </a:extLst>
            </p:cNvPr>
            <p:cNvSpPr/>
            <p:nvPr/>
          </p:nvSpPr>
          <p:spPr>
            <a:xfrm rot="11669204">
              <a:off x="6602932" y="4813260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chemeClr val="bg1">
                <a:lumMod val="95000"/>
                <a:alpha val="70000"/>
              </a:schemeClr>
            </a:solidFill>
            <a:ln w="25400">
              <a:solidFill>
                <a:schemeClr val="bg1">
                  <a:lumMod val="50000"/>
                  <a:alpha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85" name="箭號: 圓形 184">
              <a:extLst>
                <a:ext uri="{FF2B5EF4-FFF2-40B4-BE49-F238E27FC236}">
                  <a16:creationId xmlns:a16="http://schemas.microsoft.com/office/drawing/2014/main" id="{FEA0BF70-7EBD-A742-8CC9-9C300F2E8553}"/>
                </a:ext>
              </a:extLst>
            </p:cNvPr>
            <p:cNvSpPr/>
            <p:nvPr/>
          </p:nvSpPr>
          <p:spPr>
            <a:xfrm rot="4315882">
              <a:off x="6584072" y="4854058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chemeClr val="accent4">
                <a:lumMod val="20000"/>
                <a:lumOff val="80000"/>
                <a:alpha val="90000"/>
              </a:schemeClr>
            </a:solidFill>
            <a:ln w="25400">
              <a:solidFill>
                <a:schemeClr val="accent4">
                  <a:alpha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86" name="標題 1">
              <a:extLst>
                <a:ext uri="{FF2B5EF4-FFF2-40B4-BE49-F238E27FC236}">
                  <a16:creationId xmlns:a16="http://schemas.microsoft.com/office/drawing/2014/main" id="{0FFD7938-CD99-26BD-A957-E32772382223}"/>
                </a:ext>
              </a:extLst>
            </p:cNvPr>
            <p:cNvSpPr txBox="1">
              <a:spLocks/>
            </p:cNvSpPr>
            <p:nvPr/>
          </p:nvSpPr>
          <p:spPr>
            <a:xfrm>
              <a:off x="7364060" y="5405645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7030A0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187" name="標題 1">
              <a:extLst>
                <a:ext uri="{FF2B5EF4-FFF2-40B4-BE49-F238E27FC236}">
                  <a16:creationId xmlns:a16="http://schemas.microsoft.com/office/drawing/2014/main" id="{B6C6F9F4-0E3F-7257-9525-F04F9A2303B1}"/>
                </a:ext>
              </a:extLst>
            </p:cNvPr>
            <p:cNvSpPr txBox="1">
              <a:spLocks/>
            </p:cNvSpPr>
            <p:nvPr/>
          </p:nvSpPr>
          <p:spPr>
            <a:xfrm>
              <a:off x="6516216" y="5693677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188" name="箭號: 圓形 187">
              <a:extLst>
                <a:ext uri="{FF2B5EF4-FFF2-40B4-BE49-F238E27FC236}">
                  <a16:creationId xmlns:a16="http://schemas.microsoft.com/office/drawing/2014/main" id="{16E113E6-FF08-E353-9086-B083C7EDECBD}"/>
                </a:ext>
              </a:extLst>
            </p:cNvPr>
            <p:cNvSpPr/>
            <p:nvPr/>
          </p:nvSpPr>
          <p:spPr>
            <a:xfrm rot="19383568">
              <a:off x="6617398" y="4859814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25400">
              <a:solidFill>
                <a:schemeClr val="accent1">
                  <a:alpha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9" name="標題 1">
              <a:extLst>
                <a:ext uri="{FF2B5EF4-FFF2-40B4-BE49-F238E27FC236}">
                  <a16:creationId xmlns:a16="http://schemas.microsoft.com/office/drawing/2014/main" id="{CC273686-22A7-2490-7447-FE46D2286C97}"/>
                </a:ext>
              </a:extLst>
            </p:cNvPr>
            <p:cNvSpPr txBox="1">
              <a:spLocks/>
            </p:cNvSpPr>
            <p:nvPr/>
          </p:nvSpPr>
          <p:spPr>
            <a:xfrm>
              <a:off x="6661286" y="5002596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chemeClr val="tx2">
                      <a:lumMod val="75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Thought</a:t>
              </a:r>
            </a:p>
          </p:txBody>
        </p:sp>
        <p:sp>
          <p:nvSpPr>
            <p:cNvPr id="12" name="標題 1">
              <a:extLst>
                <a:ext uri="{FF2B5EF4-FFF2-40B4-BE49-F238E27FC236}">
                  <a16:creationId xmlns:a16="http://schemas.microsoft.com/office/drawing/2014/main" id="{7CBBEBFC-BD09-6F35-2DF5-4D1530336BEF}"/>
                </a:ext>
              </a:extLst>
            </p:cNvPr>
            <p:cNvSpPr txBox="1">
              <a:spLocks/>
            </p:cNvSpPr>
            <p:nvPr/>
          </p:nvSpPr>
          <p:spPr>
            <a:xfrm>
              <a:off x="6979236" y="5335033"/>
              <a:ext cx="402608" cy="256770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dirty="0"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ReAct</a:t>
              </a:r>
            </a:p>
          </p:txBody>
        </p:sp>
      </p:grpSp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36C6FF7B-B782-8122-2D06-32325E5B070F}"/>
              </a:ext>
            </a:extLst>
          </p:cNvPr>
          <p:cNvGraphicFramePr>
            <a:graphicFrameLocks noGrp="1"/>
          </p:cNvGraphicFramePr>
          <p:nvPr/>
        </p:nvGraphicFramePr>
        <p:xfrm>
          <a:off x="6486775" y="3208190"/>
          <a:ext cx="2377424" cy="2934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97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97637">
                  <a:extLst>
                    <a:ext uri="{9D8B030D-6E8A-4147-A177-3AD203B41FA5}">
                      <a16:colId xmlns:a16="http://schemas.microsoft.com/office/drawing/2014/main" val="3840409758"/>
                    </a:ext>
                  </a:extLst>
                </a:gridCol>
              </a:tblGrid>
              <a:tr h="5424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Retrieval-Augmented Generation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5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 reasoning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5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Modular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Heuristic rules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471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Early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47117">
                <a:tc row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Agentic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Reflexion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Evaluator node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4711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ReWOO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 without observation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012615"/>
                  </a:ext>
                </a:extLst>
              </a:tr>
              <a:tr h="23485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Tree of thoughts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1169665"/>
                  </a:ext>
                </a:extLst>
              </a:tr>
              <a:tr h="6942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Language Agent Tree Search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LATS =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ReAct + MCTS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310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6801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2535E2FB-B8F7-47F8-662C-1A5AEEF46AF4}"/>
              </a:ext>
            </a:extLst>
          </p:cNvPr>
          <p:cNvSpPr/>
          <p:nvPr/>
        </p:nvSpPr>
        <p:spPr>
          <a:xfrm>
            <a:off x="6942919" y="3144039"/>
            <a:ext cx="1013457" cy="484890"/>
          </a:xfrm>
          <a:prstGeom prst="roundRect">
            <a:avLst>
              <a:gd name="adj" fmla="val 8706"/>
            </a:avLst>
          </a:prstGeom>
          <a:solidFill>
            <a:schemeClr val="bg1">
              <a:lumMod val="95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Skill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Scripts</a:t>
            </a:r>
            <a:endParaRPr lang="zh-TW" altLang="en-US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4" name="矩形: 圓角 93">
            <a:extLst>
              <a:ext uri="{FF2B5EF4-FFF2-40B4-BE49-F238E27FC236}">
                <a16:creationId xmlns:a16="http://schemas.microsoft.com/office/drawing/2014/main" id="{246EBEC3-E2E8-7F76-E461-DF6BA0142B33}"/>
              </a:ext>
            </a:extLst>
          </p:cNvPr>
          <p:cNvSpPr/>
          <p:nvPr/>
        </p:nvSpPr>
        <p:spPr>
          <a:xfrm>
            <a:off x="6943030" y="3822338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bg1">
              <a:lumMod val="95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RAG</a:t>
            </a:r>
            <a:r>
              <a:rPr lang="zh-TW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MCP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Server</a:t>
            </a:r>
            <a:endParaRPr lang="zh-TW" altLang="en-US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9BA05BA6-682F-E714-C62E-DEB3A66638F1}"/>
              </a:ext>
            </a:extLst>
          </p:cNvPr>
          <p:cNvSpPr txBox="1"/>
          <p:nvPr/>
        </p:nvSpPr>
        <p:spPr>
          <a:xfrm>
            <a:off x="2555776" y="2619977"/>
            <a:ext cx="648071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Get Price</a:t>
            </a:r>
            <a:r>
              <a:rPr lang="zh-TW" altLang="zh-TW" sz="10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10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943030" y="2488400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943031" y="1863606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5">
                    <a:lumMod val="50000"/>
                  </a:schemeClr>
                </a:solidFill>
              </a:rPr>
              <a:t>Vector</a:t>
            </a:r>
          </a:p>
          <a:p>
            <a:pPr algn="ctr"/>
            <a:r>
              <a:rPr lang="en-US" altLang="zh-TW" sz="1200" b="1" dirty="0">
                <a:solidFill>
                  <a:schemeClr val="accent5">
                    <a:lumMod val="50000"/>
                  </a:schemeClr>
                </a:solidFill>
              </a:rPr>
              <a:t>DB</a:t>
            </a:r>
            <a:endParaRPr lang="zh-TW" alt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tx1">
              <a:lumMod val="85000"/>
              <a:lumOff val="1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61289" y="1914314"/>
            <a:ext cx="364339" cy="379784"/>
          </a:xfrm>
          <a:prstGeom prst="rect">
            <a:avLst/>
          </a:prstGeom>
          <a:effectLst>
            <a:glow rad="127000">
              <a:schemeClr val="accent5">
                <a:lumMod val="20000"/>
                <a:lumOff val="80000"/>
              </a:schemeClr>
            </a:glow>
          </a:effectLst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8014078" y="2580364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Real-Time</a:t>
            </a:r>
          </a:p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Message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5436096" y="2490721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5436096" y="3140967"/>
            <a:ext cx="504689" cy="487962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940785" y="2104207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>
            <a:off x="5940785" y="2729001"/>
            <a:ext cx="1002245" cy="590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17" idx="1"/>
            <a:endCxn id="92" idx="3"/>
          </p:cNvCxnSpPr>
          <p:nvPr/>
        </p:nvCxnSpPr>
        <p:spPr>
          <a:xfrm flipH="1" flipV="1">
            <a:off x="5940785" y="3384948"/>
            <a:ext cx="1002134" cy="153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6191342" y="1956862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6191342" y="257388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6191342" y="323313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connect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with </a:t>
            </a:r>
            <a:r>
              <a:rPr kumimoji="0" lang="en-US" altLang="zh-TW" sz="1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external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LLM</a:t>
              </a:r>
              <a:endParaRPr lang="en-US" altLang="zh-TW" sz="1200" b="1" dirty="0"/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5436096" y="186360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F42A7713-E02E-4E9D-59E7-AB2551695208}"/>
              </a:ext>
            </a:extLst>
          </p:cNvPr>
          <p:cNvCxnSpPr>
            <a:cxnSpLocks/>
            <a:stCxn id="36" idx="1"/>
            <a:endCxn id="168" idx="3"/>
          </p:cNvCxnSpPr>
          <p:nvPr/>
        </p:nvCxnSpPr>
        <p:spPr>
          <a:xfrm flipH="1">
            <a:off x="3227331" y="2107789"/>
            <a:ext cx="2208765" cy="5942"/>
          </a:xfrm>
          <a:prstGeom prst="straightConnector1">
            <a:avLst/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接點: 肘形 7">
            <a:extLst>
              <a:ext uri="{FF2B5EF4-FFF2-40B4-BE49-F238E27FC236}">
                <a16:creationId xmlns:a16="http://schemas.microsoft.com/office/drawing/2014/main" id="{B55E57A6-6BCE-F3CC-1266-7E54981EF350}"/>
              </a:ext>
            </a:extLst>
          </p:cNvPr>
          <p:cNvCxnSpPr>
            <a:cxnSpLocks/>
            <a:stCxn id="70" idx="1"/>
            <a:endCxn id="74" idx="1"/>
          </p:cNvCxnSpPr>
          <p:nvPr/>
        </p:nvCxnSpPr>
        <p:spPr>
          <a:xfrm rot="10800000" flipV="1">
            <a:off x="2555776" y="2271269"/>
            <a:ext cx="546964" cy="464195"/>
          </a:xfrm>
          <a:prstGeom prst="bentConnector3">
            <a:avLst>
              <a:gd name="adj1" fmla="val 141794"/>
            </a:avLst>
          </a:prstGeom>
          <a:ln w="15875">
            <a:solidFill>
              <a:schemeClr val="accent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圖形 29" descr="統計 以實心填滿">
            <a:extLst>
              <a:ext uri="{FF2B5EF4-FFF2-40B4-BE49-F238E27FC236}">
                <a16:creationId xmlns:a16="http://schemas.microsoft.com/office/drawing/2014/main" id="{2F417CFC-C08D-8AC7-FE07-C2FDB33832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61289" y="2564904"/>
            <a:ext cx="361524" cy="319529"/>
          </a:xfrm>
          <a:prstGeom prst="rect">
            <a:avLst/>
          </a:prstGeom>
          <a:effectLst>
            <a:glow rad="12700">
              <a:schemeClr val="accent4">
                <a:lumMod val="60000"/>
                <a:lumOff val="40000"/>
              </a:schemeClr>
            </a:glow>
          </a:effectLst>
        </p:spPr>
      </p:pic>
      <p:cxnSp>
        <p:nvCxnSpPr>
          <p:cNvPr id="52" name="直線單箭頭接點 51">
            <a:extLst>
              <a:ext uri="{FF2B5EF4-FFF2-40B4-BE49-F238E27FC236}">
                <a16:creationId xmlns:a16="http://schemas.microsoft.com/office/drawing/2014/main" id="{CF35FAE4-219A-F7C6-6930-F22BA619A0E6}"/>
              </a:ext>
            </a:extLst>
          </p:cNvPr>
          <p:cNvCxnSpPr>
            <a:cxnSpLocks/>
            <a:stCxn id="74" idx="3"/>
            <a:endCxn id="89" idx="1"/>
          </p:cNvCxnSpPr>
          <p:nvPr/>
        </p:nvCxnSpPr>
        <p:spPr>
          <a:xfrm flipV="1">
            <a:off x="3203847" y="2734903"/>
            <a:ext cx="2232249" cy="562"/>
          </a:xfrm>
          <a:prstGeom prst="straightConnector1">
            <a:avLst/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AA224E60-31D4-446D-E4BA-7E52EEE0F947}"/>
              </a:ext>
            </a:extLst>
          </p:cNvPr>
          <p:cNvSpPr txBox="1"/>
          <p:nvPr/>
        </p:nvSpPr>
        <p:spPr>
          <a:xfrm>
            <a:off x="3102740" y="2174610"/>
            <a:ext cx="461148" cy="193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u="none" strike="noStrike" dirty="0">
                <a:effectLst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63C9627-CD4E-2780-7259-9B95B68D7DF5}"/>
              </a:ext>
            </a:extLst>
          </p:cNvPr>
          <p:cNvSpPr txBox="1"/>
          <p:nvPr/>
        </p:nvSpPr>
        <p:spPr>
          <a:xfrm>
            <a:off x="8014078" y="1948870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Accurate Data</a:t>
            </a:r>
          </a:p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and Rules</a:t>
            </a:r>
          </a:p>
        </p:txBody>
      </p:sp>
      <p:sp>
        <p:nvSpPr>
          <p:cNvPr id="95" name="矩形: 圓角 94">
            <a:extLst>
              <a:ext uri="{FF2B5EF4-FFF2-40B4-BE49-F238E27FC236}">
                <a16:creationId xmlns:a16="http://schemas.microsoft.com/office/drawing/2014/main" id="{A9F366E9-4DE1-405D-D23C-15394384EFC8}"/>
              </a:ext>
            </a:extLst>
          </p:cNvPr>
          <p:cNvSpPr/>
          <p:nvPr/>
        </p:nvSpPr>
        <p:spPr>
          <a:xfrm>
            <a:off x="5436095" y="3811575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6" name="直線單箭頭接點 95">
            <a:extLst>
              <a:ext uri="{FF2B5EF4-FFF2-40B4-BE49-F238E27FC236}">
                <a16:creationId xmlns:a16="http://schemas.microsoft.com/office/drawing/2014/main" id="{8DA46341-076C-9538-5F65-7772C9BF8E97}"/>
              </a:ext>
            </a:extLst>
          </p:cNvPr>
          <p:cNvCxnSpPr>
            <a:cxnSpLocks/>
            <a:stCxn id="94" idx="1"/>
            <a:endCxn id="95" idx="3"/>
          </p:cNvCxnSpPr>
          <p:nvPr/>
        </p:nvCxnSpPr>
        <p:spPr>
          <a:xfrm flipH="1" flipV="1">
            <a:off x="5940784" y="4055757"/>
            <a:ext cx="1002246" cy="71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5ECE1A84-39B0-E184-406D-098D2F900FB8}"/>
              </a:ext>
            </a:extLst>
          </p:cNvPr>
          <p:cNvSpPr txBox="1"/>
          <p:nvPr/>
        </p:nvSpPr>
        <p:spPr>
          <a:xfrm>
            <a:off x="6191341" y="390841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98" name="圖形 97" descr="放大鏡 以實心填滿">
            <a:extLst>
              <a:ext uri="{FF2B5EF4-FFF2-40B4-BE49-F238E27FC236}">
                <a16:creationId xmlns:a16="http://schemas.microsoft.com/office/drawing/2014/main" id="{ED47DEB0-7937-1899-CCAB-0CF8E52A47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730429" y="4006957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  <a:alpha val="40000"/>
              </a:schemeClr>
            </a:glow>
          </a:effectLst>
        </p:spPr>
      </p:pic>
      <p:pic>
        <p:nvPicPr>
          <p:cNvPr id="103" name="圖形 102" descr="卷軸 以實心填滿">
            <a:extLst>
              <a:ext uri="{FF2B5EF4-FFF2-40B4-BE49-F238E27FC236}">
                <a16:creationId xmlns:a16="http://schemas.microsoft.com/office/drawing/2014/main" id="{667ED03B-A7F7-ACC2-A2B1-E2AFC98610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52160" y="3194165"/>
            <a:ext cx="379782" cy="354089"/>
          </a:xfrm>
          <a:prstGeom prst="rect">
            <a:avLst/>
          </a:prstGeom>
          <a:effectLst>
            <a:glow rad="12700">
              <a:schemeClr val="accent1">
                <a:alpha val="40000"/>
              </a:schemeClr>
            </a:glow>
          </a:effectLst>
        </p:spPr>
      </p:pic>
      <p:pic>
        <p:nvPicPr>
          <p:cNvPr id="119" name="圖形 118" descr="伺服器 以實心填滿">
            <a:extLst>
              <a:ext uri="{FF2B5EF4-FFF2-40B4-BE49-F238E27FC236}">
                <a16:creationId xmlns:a16="http://schemas.microsoft.com/office/drawing/2014/main" id="{71DF6DD6-7BC1-EF37-79EB-6ED391AC9D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82142" y="3902931"/>
            <a:ext cx="318157" cy="318157"/>
          </a:xfrm>
          <a:prstGeom prst="rect">
            <a:avLst/>
          </a:prstGeom>
          <a:effectLst>
            <a:glow rad="12700">
              <a:schemeClr val="accent1">
                <a:alpha val="40000"/>
              </a:schemeClr>
            </a:glow>
          </a:effectLst>
        </p:spPr>
      </p:pic>
      <p:sp>
        <p:nvSpPr>
          <p:cNvPr id="121" name="語音泡泡: 圓角矩形 120">
            <a:extLst>
              <a:ext uri="{FF2B5EF4-FFF2-40B4-BE49-F238E27FC236}">
                <a16:creationId xmlns:a16="http://schemas.microsoft.com/office/drawing/2014/main" id="{E66BF7E8-3B44-838D-11B4-D798918A32E3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cxnSp>
        <p:nvCxnSpPr>
          <p:cNvPr id="125" name="接點: 肘形 124">
            <a:extLst>
              <a:ext uri="{FF2B5EF4-FFF2-40B4-BE49-F238E27FC236}">
                <a16:creationId xmlns:a16="http://schemas.microsoft.com/office/drawing/2014/main" id="{6F975437-D854-70DF-C9D6-44997A400587}"/>
              </a:ext>
            </a:extLst>
          </p:cNvPr>
          <p:cNvCxnSpPr>
            <a:cxnSpLocks/>
            <a:stCxn id="150" idx="1"/>
            <a:endCxn id="181" idx="1"/>
          </p:cNvCxnSpPr>
          <p:nvPr/>
        </p:nvCxnSpPr>
        <p:spPr>
          <a:xfrm rot="10800000" flipV="1">
            <a:off x="2541225" y="2871940"/>
            <a:ext cx="590614" cy="514654"/>
          </a:xfrm>
          <a:prstGeom prst="bentConnector3">
            <a:avLst>
              <a:gd name="adj1" fmla="val 138705"/>
            </a:avLst>
          </a:prstGeom>
          <a:ln w="15875">
            <a:solidFill>
              <a:schemeClr val="accent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617B5F58-14B7-E470-F4D6-CDD08C65DB3F}"/>
              </a:ext>
            </a:extLst>
          </p:cNvPr>
          <p:cNvSpPr txBox="1"/>
          <p:nvPr/>
        </p:nvSpPr>
        <p:spPr>
          <a:xfrm>
            <a:off x="3131839" y="2756452"/>
            <a:ext cx="503257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  <a:endParaRPr lang="en-US" altLang="zh-TW" sz="1000" u="none" strike="noStrike" dirty="0">
              <a:effectLst/>
              <a:highlight>
                <a:srgbClr val="DFD8E8"/>
              </a:highlight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68" name="文字方塊 167">
            <a:extLst>
              <a:ext uri="{FF2B5EF4-FFF2-40B4-BE49-F238E27FC236}">
                <a16:creationId xmlns:a16="http://schemas.microsoft.com/office/drawing/2014/main" id="{8D008D54-BFC3-D132-9E53-A6D533AE9D5C}"/>
              </a:ext>
            </a:extLst>
          </p:cNvPr>
          <p:cNvSpPr txBox="1"/>
          <p:nvPr/>
        </p:nvSpPr>
        <p:spPr>
          <a:xfrm>
            <a:off x="2572827" y="1985896"/>
            <a:ext cx="654504" cy="2556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Retrieve</a:t>
            </a:r>
            <a:endParaRPr lang="en-US" altLang="zh-TW" sz="10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181" name="文字方塊 180">
            <a:extLst>
              <a:ext uri="{FF2B5EF4-FFF2-40B4-BE49-F238E27FC236}">
                <a16:creationId xmlns:a16="http://schemas.microsoft.com/office/drawing/2014/main" id="{01584511-5D98-1263-73AB-4BA7623B0CF5}"/>
              </a:ext>
            </a:extLst>
          </p:cNvPr>
          <p:cNvSpPr txBox="1"/>
          <p:nvPr/>
        </p:nvSpPr>
        <p:spPr>
          <a:xfrm>
            <a:off x="2541225" y="3263641"/>
            <a:ext cx="576064" cy="24590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Action</a:t>
            </a:r>
            <a:endParaRPr lang="en-US" altLang="zh-TW" sz="10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cxnSp>
        <p:nvCxnSpPr>
          <p:cNvPr id="229" name="直線單箭頭接點 228">
            <a:extLst>
              <a:ext uri="{FF2B5EF4-FFF2-40B4-BE49-F238E27FC236}">
                <a16:creationId xmlns:a16="http://schemas.microsoft.com/office/drawing/2014/main" id="{7DCFF79B-1787-2F84-3993-6BF66E06D367}"/>
              </a:ext>
            </a:extLst>
          </p:cNvPr>
          <p:cNvCxnSpPr>
            <a:cxnSpLocks/>
            <a:stCxn id="181" idx="3"/>
            <a:endCxn id="92" idx="1"/>
          </p:cNvCxnSpPr>
          <p:nvPr/>
        </p:nvCxnSpPr>
        <p:spPr>
          <a:xfrm flipV="1">
            <a:off x="3117289" y="3384948"/>
            <a:ext cx="2318807" cy="1646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文字方塊 240">
            <a:extLst>
              <a:ext uri="{FF2B5EF4-FFF2-40B4-BE49-F238E27FC236}">
                <a16:creationId xmlns:a16="http://schemas.microsoft.com/office/drawing/2014/main" id="{2E096F5F-5E59-24B9-A111-67D2FA2A0304}"/>
              </a:ext>
            </a:extLst>
          </p:cNvPr>
          <p:cNvSpPr txBox="1"/>
          <p:nvPr/>
        </p:nvSpPr>
        <p:spPr>
          <a:xfrm>
            <a:off x="8042213" y="3253487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Call</a:t>
            </a:r>
          </a:p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Function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737021F-8894-271D-5352-9DCAAE47870F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B2792205-3AA0-7B75-C71F-40708CACFAD1}"/>
              </a:ext>
            </a:extLst>
          </p:cNvPr>
          <p:cNvCxnSpPr>
            <a:cxnSpLocks/>
            <a:stCxn id="43" idx="1"/>
            <a:endCxn id="39" idx="3"/>
          </p:cNvCxnSpPr>
          <p:nvPr/>
        </p:nvCxnSpPr>
        <p:spPr>
          <a:xfrm flipH="1" flipV="1">
            <a:off x="3110981" y="3377389"/>
            <a:ext cx="2324482" cy="7762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tx1">
                <a:lumMod val="50000"/>
                <a:lumOff val="50000"/>
                <a:alpha val="4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08119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LLM</a:t>
              </a:r>
              <a:endParaRPr lang="en-US" altLang="zh-TW" sz="1200" b="1" dirty="0"/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 Skills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Skills are dynamic, on-demand SOPs that guide agents using tools.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E59D2E4D-FED7-E499-36FC-4B36CAA95705}"/>
              </a:ext>
            </a:extLst>
          </p:cNvPr>
          <p:cNvSpPr/>
          <p:nvPr/>
        </p:nvSpPr>
        <p:spPr>
          <a:xfrm>
            <a:off x="5435463" y="314096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50000"/>
                  </a:schemeClr>
                </a:solidFill>
              </a:rPr>
              <a:t>Skill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50000"/>
                  </a:schemeClr>
                </a:solidFill>
              </a:rPr>
              <a:t>Scripts</a:t>
            </a:r>
            <a:endParaRPr lang="zh-TW" altLang="en-US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46" name="圖形 45" descr="卷軸 以實心填滿">
            <a:extLst>
              <a:ext uri="{FF2B5EF4-FFF2-40B4-BE49-F238E27FC236}">
                <a16:creationId xmlns:a16="http://schemas.microsoft.com/office/drawing/2014/main" id="{57D7CD8C-80CC-F36D-8780-7AF090203F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90987" y="3231323"/>
            <a:ext cx="379782" cy="354089"/>
          </a:xfrm>
          <a:prstGeom prst="rect">
            <a:avLst/>
          </a:prstGeom>
        </p:spPr>
      </p:pic>
      <p:sp>
        <p:nvSpPr>
          <p:cNvPr id="14" name="語音泡泡: 圓角矩形 13">
            <a:extLst>
              <a:ext uri="{FF2B5EF4-FFF2-40B4-BE49-F238E27FC236}">
                <a16:creationId xmlns:a16="http://schemas.microsoft.com/office/drawing/2014/main" id="{CB345992-DE5F-A7FB-7DF7-6DACD25830F6}"/>
              </a:ext>
            </a:extLst>
          </p:cNvPr>
          <p:cNvSpPr/>
          <p:nvPr/>
        </p:nvSpPr>
        <p:spPr>
          <a:xfrm>
            <a:off x="3233339" y="1593282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chemeClr val="bg1">
              <a:alpha val="80000"/>
            </a:schemeClr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schemeClr val="accent1">
                    <a:lumMod val="75000"/>
                  </a:schemeClr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Search TSMC.</a:t>
            </a:r>
          </a:p>
        </p:txBody>
      </p:sp>
      <p:sp>
        <p:nvSpPr>
          <p:cNvPr id="34" name="語音泡泡: 圓角矩形 33">
            <a:extLst>
              <a:ext uri="{FF2B5EF4-FFF2-40B4-BE49-F238E27FC236}">
                <a16:creationId xmlns:a16="http://schemas.microsoft.com/office/drawing/2014/main" id="{C58512F8-827C-6573-B915-D87B2B70F5B7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E177492D-9542-526B-840B-EC616526CF71}"/>
              </a:ext>
            </a:extLst>
          </p:cNvPr>
          <p:cNvGrpSpPr/>
          <p:nvPr/>
        </p:nvGrpSpPr>
        <p:grpSpPr>
          <a:xfrm>
            <a:off x="1996959" y="3159987"/>
            <a:ext cx="1114022" cy="701061"/>
            <a:chOff x="2881914" y="3789040"/>
            <a:chExt cx="1114022" cy="701061"/>
          </a:xfrm>
        </p:grpSpPr>
        <p:sp>
          <p:nvSpPr>
            <p:cNvPr id="39" name="語音泡泡: 圓角矩形 38">
              <a:extLst>
                <a:ext uri="{FF2B5EF4-FFF2-40B4-BE49-F238E27FC236}">
                  <a16:creationId xmlns:a16="http://schemas.microsoft.com/office/drawing/2014/main" id="{2804A24D-B98B-EC9F-CB2F-3D51D45D538F}"/>
                </a:ext>
              </a:extLst>
            </p:cNvPr>
            <p:cNvSpPr/>
            <p:nvPr/>
          </p:nvSpPr>
          <p:spPr>
            <a:xfrm>
              <a:off x="2881914" y="3789040"/>
              <a:ext cx="1114022" cy="434804"/>
            </a:xfrm>
            <a:prstGeom prst="wedgeRoundRectCallout">
              <a:avLst>
                <a:gd name="adj1" fmla="val -61512"/>
                <a:gd name="adj2" fmla="val -50054"/>
                <a:gd name="adj3" fmla="val 16667"/>
              </a:avLst>
            </a:prstGeom>
            <a:solidFill>
              <a:schemeClr val="bg1">
                <a:alpha val="8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i="0" u="none" strike="noStrike" kern="120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Here you </a:t>
              </a:r>
              <a:r>
                <a:rPr lang="en-US" altLang="zh-TW" sz="1200" dirty="0">
                  <a:ln w="0"/>
                  <a:solidFill>
                    <a:prstClr val="black"/>
                  </a:solidFill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are.</a:t>
              </a:r>
            </a:p>
          </p:txBody>
        </p:sp>
        <p:pic>
          <p:nvPicPr>
            <p:cNvPr id="41" name="圖形 40" descr="夾紙板 (徽章) 以實心填滿">
              <a:extLst>
                <a:ext uri="{FF2B5EF4-FFF2-40B4-BE49-F238E27FC236}">
                  <a16:creationId xmlns:a16="http://schemas.microsoft.com/office/drawing/2014/main" id="{A2807007-7BAB-C046-ECEA-75F84A520C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52699" y="4096194"/>
              <a:ext cx="377960" cy="393907"/>
            </a:xfrm>
            <a:prstGeom prst="rect">
              <a:avLst/>
            </a:prstGeom>
            <a:effectLst>
              <a:glow rad="127000">
                <a:schemeClr val="accent4">
                  <a:lumMod val="20000"/>
                  <a:lumOff val="80000"/>
                </a:schemeClr>
              </a:glow>
            </a:effectLst>
          </p:spPr>
        </p:pic>
      </p:grpSp>
      <p:sp>
        <p:nvSpPr>
          <p:cNvPr id="59" name="語音泡泡: 圓角矩形 58">
            <a:extLst>
              <a:ext uri="{FF2B5EF4-FFF2-40B4-BE49-F238E27FC236}">
                <a16:creationId xmlns:a16="http://schemas.microsoft.com/office/drawing/2014/main" id="{D09692F8-BE29-99AB-B0D5-3772513753A3}"/>
              </a:ext>
            </a:extLst>
          </p:cNvPr>
          <p:cNvSpPr/>
          <p:nvPr/>
        </p:nvSpPr>
        <p:spPr>
          <a:xfrm>
            <a:off x="3233339" y="1910511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chemeClr val="bg1">
              <a:alpha val="80000"/>
            </a:schemeClr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schemeClr val="accent1">
                    <a:lumMod val="75000"/>
                  </a:schemeClr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 Trading at?</a:t>
            </a:r>
          </a:p>
        </p:txBody>
      </p:sp>
      <p:sp>
        <p:nvSpPr>
          <p:cNvPr id="62" name="語音泡泡: 圓角矩形 61">
            <a:extLst>
              <a:ext uri="{FF2B5EF4-FFF2-40B4-BE49-F238E27FC236}">
                <a16:creationId xmlns:a16="http://schemas.microsoft.com/office/drawing/2014/main" id="{D93367F2-3AAC-6546-5F9A-45AA23F38EBD}"/>
              </a:ext>
            </a:extLst>
          </p:cNvPr>
          <p:cNvSpPr/>
          <p:nvPr/>
        </p:nvSpPr>
        <p:spPr>
          <a:xfrm>
            <a:off x="3233339" y="2240676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chemeClr val="bg1">
              <a:alpha val="80000"/>
            </a:schemeClr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schemeClr val="accent1">
                    <a:lumMod val="75000"/>
                  </a:schemeClr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Generate the report.</a:t>
            </a:r>
          </a:p>
        </p:txBody>
      </p:sp>
      <p:cxnSp>
        <p:nvCxnSpPr>
          <p:cNvPr id="63" name="接點: 弧形 62">
            <a:extLst>
              <a:ext uri="{FF2B5EF4-FFF2-40B4-BE49-F238E27FC236}">
                <a16:creationId xmlns:a16="http://schemas.microsoft.com/office/drawing/2014/main" id="{DBE7CEED-496C-7C7F-E2E1-F8C58EFE3043}"/>
              </a:ext>
            </a:extLst>
          </p:cNvPr>
          <p:cNvCxnSpPr>
            <a:cxnSpLocks/>
            <a:stCxn id="41" idx="2"/>
            <a:endCxn id="34" idx="1"/>
          </p:cNvCxnSpPr>
          <p:nvPr/>
        </p:nvCxnSpPr>
        <p:spPr>
          <a:xfrm rot="16200000" flipH="1">
            <a:off x="2580295" y="3737477"/>
            <a:ext cx="174515" cy="421656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6EEB10B3-3F35-4FBA-B436-06CC04D539A1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cxnSp>
        <p:nvCxnSpPr>
          <p:cNvPr id="69" name="接點: 肘形 68">
            <a:extLst>
              <a:ext uri="{FF2B5EF4-FFF2-40B4-BE49-F238E27FC236}">
                <a16:creationId xmlns:a16="http://schemas.microsoft.com/office/drawing/2014/main" id="{5110B8D3-3930-64CF-F95F-B0C3AE80881B}"/>
              </a:ext>
            </a:extLst>
          </p:cNvPr>
          <p:cNvCxnSpPr>
            <a:cxnSpLocks/>
            <a:stCxn id="62" idx="3"/>
            <a:endCxn id="43" idx="0"/>
          </p:cNvCxnSpPr>
          <p:nvPr/>
        </p:nvCxnSpPr>
        <p:spPr>
          <a:xfrm>
            <a:off x="5249563" y="2366786"/>
            <a:ext cx="438245" cy="774182"/>
          </a:xfrm>
          <a:prstGeom prst="bentConnector2">
            <a:avLst/>
          </a:prstGeom>
          <a:ln w="15875">
            <a:solidFill>
              <a:schemeClr val="accent4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6" name="圖形 75" descr="科學思想 以實心填滿">
            <a:extLst>
              <a:ext uri="{FF2B5EF4-FFF2-40B4-BE49-F238E27FC236}">
                <a16:creationId xmlns:a16="http://schemas.microsoft.com/office/drawing/2014/main" id="{174E6B0F-BB8A-784D-193F-AA6DE0CFE9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0F2CF-11A7-726A-D27F-288DAEACC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9182C9CB-190C-B5DD-2D63-BF54E7B24615}"/>
              </a:ext>
            </a:extLst>
          </p:cNvPr>
          <p:cNvSpPr/>
          <p:nvPr/>
        </p:nvSpPr>
        <p:spPr>
          <a:xfrm>
            <a:off x="3779912" y="2492897"/>
            <a:ext cx="1224934" cy="1800199"/>
          </a:xfrm>
          <a:prstGeom prst="roundRect">
            <a:avLst>
              <a:gd name="adj" fmla="val 8706"/>
            </a:avLst>
          </a:prstGeom>
          <a:solidFill>
            <a:schemeClr val="accent4">
              <a:lumMod val="5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120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F92D9B42-3B09-1CD3-3E9A-F0CD5AE15C1A}"/>
              </a:ext>
            </a:extLst>
          </p:cNvPr>
          <p:cNvSpPr txBox="1"/>
          <p:nvPr/>
        </p:nvSpPr>
        <p:spPr>
          <a:xfrm>
            <a:off x="512390" y="2445570"/>
            <a:ext cx="1224934" cy="88003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r>
              <a:rPr lang="en-US" altLang="zh-TW" sz="1400" b="1" dirty="0"/>
              <a:t>AI Agent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350211F-8F9D-C9F9-1FDE-5B97D695C1C8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Human-in-the-Loop Framework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Ingest(raw)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/>
              <a:t> Instruct(C/Q/L)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GitHub: </a:t>
            </a:r>
            <a:r>
              <a:rPr lang="en-US" altLang="zh-TW" sz="1600" u="sng" dirty="0">
                <a:solidFill>
                  <a:schemeClr val="accent5">
                    <a:lumMod val="50000"/>
                  </a:schemeClr>
                </a:solidFill>
              </a:rPr>
              <a:t>nashsu/llm_wiki</a:t>
            </a:r>
            <a:r>
              <a:rPr lang="en-US" altLang="zh-TW" sz="1600" dirty="0"/>
              <a:t>, </a:t>
            </a:r>
            <a:r>
              <a:rPr lang="en-US" altLang="zh-TW" sz="1600" u="sng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  <a:t>atomicstrata/llm-wiki-compiler</a:t>
            </a:r>
            <a:r>
              <a:rPr lang="en-US" altLang="zh-TW" sz="1600" u="none" strike="noStrike" dirty="0">
                <a:effectLst/>
              </a:rPr>
              <a:t>, </a:t>
            </a:r>
            <a:r>
              <a:rPr lang="en-US" altLang="zh-TW" sz="1600" u="sng" dirty="0">
                <a:solidFill>
                  <a:schemeClr val="accent5">
                    <a:lumMod val="50000"/>
                  </a:schemeClr>
                </a:solidFill>
              </a:rPr>
              <a:t>Knowledge-vault</a:t>
            </a:r>
            <a:r>
              <a:rPr lang="en-US" altLang="zh-TW" sz="1600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</p:txBody>
      </p:sp>
      <p:sp>
        <p:nvSpPr>
          <p:cNvPr id="28" name="標題 1">
            <a:extLst>
              <a:ext uri="{FF2B5EF4-FFF2-40B4-BE49-F238E27FC236}">
                <a16:creationId xmlns:a16="http://schemas.microsoft.com/office/drawing/2014/main" id="{9F314D84-1AAB-B228-251F-99F15D589F7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kumimoji="0" lang="zh-TW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92738DE3-C538-771F-1E0C-B8B7C3311206}"/>
              </a:ext>
            </a:extLst>
          </p:cNvPr>
          <p:cNvSpPr txBox="1"/>
          <p:nvPr/>
        </p:nvSpPr>
        <p:spPr>
          <a:xfrm>
            <a:off x="713958" y="3640052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4F7827C-F186-7D7D-4FA3-D9FA4AE1A51F}"/>
              </a:ext>
            </a:extLst>
          </p:cNvPr>
          <p:cNvSpPr/>
          <p:nvPr/>
        </p:nvSpPr>
        <p:spPr>
          <a:xfrm>
            <a:off x="1475023" y="3148813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407DB130-C749-D9E8-D70D-CEB8209A0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2862094"/>
              </p:ext>
            </p:extLst>
          </p:nvPr>
        </p:nvGraphicFramePr>
        <p:xfrm>
          <a:off x="5148064" y="2527100"/>
          <a:ext cx="3266106" cy="1731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Karpathy’s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A7F2C415-DBCE-468D-EE83-BADC8BFEB6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033066" y="2968587"/>
            <a:ext cx="718626" cy="676437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96593FAD-CC06-C829-3F7E-087D4EC457BE}"/>
              </a:ext>
            </a:extLst>
          </p:cNvPr>
          <p:cNvCxnSpPr>
            <a:cxnSpLocks/>
            <a:stCxn id="4" idx="1"/>
            <a:endCxn id="105" idx="3"/>
          </p:cNvCxnSpPr>
          <p:nvPr/>
        </p:nvCxnSpPr>
        <p:spPr>
          <a:xfrm flipH="1" flipV="1">
            <a:off x="1979712" y="3392996"/>
            <a:ext cx="180020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圖形 38" descr="科學思想 以實心填滿">
            <a:extLst>
              <a:ext uri="{FF2B5EF4-FFF2-40B4-BE49-F238E27FC236}">
                <a16:creationId xmlns:a16="http://schemas.microsoft.com/office/drawing/2014/main" id="{EA236300-D8AB-566A-3CE5-C7422D3D16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0230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C0CC1A86-0C18-AB72-F5A9-4306189B0A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434079"/>
              </p:ext>
            </p:extLst>
          </p:nvPr>
        </p:nvGraphicFramePr>
        <p:xfrm>
          <a:off x="5179640" y="1259994"/>
          <a:ext cx="2564043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58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</a:rPr>
                        <a:t>Vector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205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BEB54-E13D-0276-16FE-3B8439DAE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78C81D66-7DBF-D198-FAB7-3DFAAD6B2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1323926"/>
              </p:ext>
            </p:extLst>
          </p:nvPr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49B7A46-0ED9-7ED9-7510-EE78F29FE5F5}"/>
              </a:ext>
            </a:extLst>
          </p:cNvPr>
          <p:cNvCxnSpPr>
            <a:cxnSpLocks/>
            <a:stCxn id="15" idx="3"/>
            <a:endCxn id="11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A4DB92DA-78BD-3302-8B24-83FB829FB96B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SFT &amp;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Quantization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(Edge AI)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32786DE-BC20-A5F8-DB31-949D81B2F497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Inference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tx2"/>
                </a:solidFill>
              </a:rPr>
              <a:t>Server</a:t>
            </a:r>
            <a:endParaRPr lang="en-US" altLang="zh-TW" sz="1400" b="1" u="none" strike="noStrike" dirty="0">
              <a:solidFill>
                <a:schemeClr val="tx2"/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solidFill>
                  <a:schemeClr val="tx2"/>
                </a:solidFill>
                <a:effectLst/>
              </a:rPr>
              <a:t>(LLM)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74BD80B-9201-734C-6443-E9C6EDE515F5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85000"/>
              </a:scheme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lvl="0" algn="ctr">
              <a:lnSpc>
                <a:spcPts val="1400"/>
              </a:lnSpc>
              <a:defRPr/>
            </a:pP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AI</a:t>
            </a:r>
            <a:r>
              <a:rPr lang="zh-TW" altLang="en-US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 </a:t>
            </a: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PC</a:t>
            </a:r>
            <a:b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</a:br>
            <a:r>
              <a:rPr lang="en-US" altLang="zh-TW" sz="12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(SLM)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09120A9-3216-3A4D-C130-3BB79B2385CA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Stage</a:t>
            </a:r>
          </a:p>
          <a:p>
            <a:pPr algn="ctr">
              <a:lnSpc>
                <a:spcPts val="1400"/>
              </a:lnSpc>
              <a:buNone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(Cloud)</a:t>
            </a:r>
            <a:endParaRPr lang="en-US" altLang="zh-TW" sz="1400" b="1" u="none" strike="noStrike" dirty="0">
              <a:solidFill>
                <a:schemeClr val="accent2"/>
              </a:solidFill>
              <a:effectLst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A1EF5383-5464-5C40-CD95-1BC634B8A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986763"/>
              </p:ext>
            </p:extLst>
          </p:nvPr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C51F32BB-AF5D-9A70-D14E-236B9B03370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SLM Engine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language models locally and efficiently with minimal hardware resources.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135EA092-B215-BD47-7043-C4AF5B4B4F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chemeClr val="bg1">
                <a:alpha val="40000"/>
              </a:schemeClr>
            </a:glow>
          </a:effectLst>
        </p:spPr>
      </p:pic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DD8956EC-8C58-4EE6-3794-15E7D4F27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629276"/>
              </p:ext>
            </p:extLst>
          </p:nvPr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30" name="圖片 29">
            <a:extLst>
              <a:ext uri="{FF2B5EF4-FFF2-40B4-BE49-F238E27FC236}">
                <a16:creationId xmlns:a16="http://schemas.microsoft.com/office/drawing/2014/main" id="{20DBAEDD-C1F2-2405-DE74-D94FB68D5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AB992DA8-098A-C85A-0E0A-EC2464CCE1A3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Backward Pass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Checkpointing</a:t>
            </a:r>
            <a:endParaRPr lang="zh-TW" altLang="en-US" sz="12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011670A-AD18-D760-4725-AC87CA0E0A6E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Attention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KV-Cache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662A56FC-70A6-FA2D-9DC3-8EDA197AAAA4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Throughput,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PEFT</a:t>
            </a:r>
            <a:endParaRPr lang="zh-TW" altLang="en-US" sz="1200" dirty="0"/>
          </a:p>
        </p:txBody>
      </p: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FEB0228A-4144-BC54-6225-6205E276FBE3}"/>
              </a:ext>
            </a:extLst>
          </p:cNvPr>
          <p:cNvCxnSpPr>
            <a:cxnSpLocks/>
            <a:stCxn id="3" idx="3"/>
            <a:endCxn id="13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ln w="25400">
            <a:solidFill>
              <a:schemeClr val="bg1">
                <a:lumMod val="75000"/>
              </a:schemeClr>
            </a:solidFill>
            <a:headEnd w="med" len="lg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圖片 13">
            <a:extLst>
              <a:ext uri="{FF2B5EF4-FFF2-40B4-BE49-F238E27FC236}">
                <a16:creationId xmlns:a16="http://schemas.microsoft.com/office/drawing/2014/main" id="{6A19A26D-0595-B833-26F8-539F4EB87F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C1A9147E-F72B-ADB6-4DA8-0242A9E1BF56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Latency, TTFT,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Operator Fusion</a:t>
            </a:r>
            <a:endParaRPr lang="zh-TW" altLang="en-US" sz="1200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F3B204E8-9E74-B3D1-6886-09D4188A55E7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chemeClr val="bg1">
              <a:lumMod val="85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</a:rPr>
              <a:t>Model File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dirty="0"/>
              <a:t>(GGUF, ONNX)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400FAA8A-4147-8B00-9580-A50FE9BFA505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Framework:</a:t>
            </a:r>
            <a:r>
              <a:rPr lang="en-US" altLang="zh-TW" sz="1600" dirty="0"/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Optimizes</a:t>
            </a:r>
            <a:r>
              <a:rPr lang="en-US" altLang="zh-TW" sz="1600" dirty="0"/>
              <a:t> model weights using gradients.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Inference Engine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Runs</a:t>
            </a:r>
            <a:r>
              <a:rPr lang="en-US" altLang="zh-TW" sz="1600" dirty="0"/>
              <a:t> trained models to generate predictions.</a:t>
            </a:r>
          </a:p>
        </p:txBody>
      </p: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4250BB2F-3E2E-142D-8E2C-0C55A2542BDA}"/>
              </a:ext>
            </a:extLst>
          </p:cNvPr>
          <p:cNvCxnSpPr>
            <a:cxnSpLocks/>
            <a:stCxn id="102" idx="2"/>
            <a:endCxn id="9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58CF7F8B-C53A-57E9-4723-186600068448}"/>
              </a:ext>
            </a:extLst>
          </p:cNvPr>
          <p:cNvCxnSpPr>
            <a:cxnSpLocks/>
            <a:stCxn id="13" idx="2"/>
            <a:endCxn id="22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C75B7D8C-9A37-CC8D-DAA6-3D999E4C7378}"/>
              </a:ext>
            </a:extLst>
          </p:cNvPr>
          <p:cNvCxnSpPr>
            <a:cxnSpLocks/>
            <a:stCxn id="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4291EA9-298A-7ADF-0020-17EE71DA7083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CA014519-788B-AB92-B84F-36E7C69222BC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Cloud</a:t>
            </a:r>
          </a:p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Edge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79498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97A6AF-A59A-D8E8-D402-8B80C8509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C0694D5-25AF-678F-4839-D5482C6055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464103"/>
              </p:ext>
            </p:extLst>
          </p:nvPr>
        </p:nvGraphicFramePr>
        <p:xfrm>
          <a:off x="827584" y="2132856"/>
          <a:ext cx="7694238" cy="2851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2373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5124889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20499132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795597008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04260209"/>
                    </a:ext>
                  </a:extLst>
                </a:gridCol>
              </a:tblGrid>
              <a:tr h="62836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LLaMA-Factory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/ˈlɑː.mə/</a:t>
                      </a:r>
                      <a:r>
                        <a:rPr lang="zh-TW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小羊駝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Axolotl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/ˈæk.sə.lɑ.təl/</a:t>
                      </a:r>
                      <a:r>
                        <a:rPr lang="zh-TW" altLang="zh-TW" sz="1000" b="1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美西螈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Unsloth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/ʌn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slɑːθ/</a:t>
                      </a:r>
                      <a:r>
                        <a:rPr lang="zh-TW" altLang="zh-TW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樹懶</a:t>
                      </a:r>
                      <a:endParaRPr lang="en-US" altLang="zh-TW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</a:t>
                      </a: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/ˈʌl.trə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ˈlɪt.ɪks/</a:t>
                      </a:r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WebUI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HF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YAML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Disruptive Tech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Offline Dominator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 11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Easy-to-use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(Low-code)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Flexible,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config-driven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Ultra-fast,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Low-memory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High-performance,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real-time object detection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PyTorch FSDP2,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 TRL,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lashAttention-3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Multipack, xFormers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Triton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Megatron-LM, CUDA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3E4BF44D-72A8-155F-5FEF-FF52AE983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173" y="1571103"/>
            <a:ext cx="468845" cy="61218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5AB2B3A-E1D8-12EC-C70D-F1D3314C8D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324" y="1630331"/>
            <a:ext cx="511322" cy="51132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8FE807A9-33DB-3107-644A-5FA5F14046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00" y="1609550"/>
            <a:ext cx="798718" cy="53529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5C6322F9-E94E-0EA9-1F00-B7B8D7619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1292" y="1642124"/>
            <a:ext cx="511320" cy="51132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17769C83-A1FB-75F4-4253-A03E2A898C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8578" y="1621837"/>
            <a:ext cx="584846" cy="56145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9192D10-9C29-66BC-B2D1-87AFD7FFA8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8171" y="1608689"/>
            <a:ext cx="610836" cy="57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682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643606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D26C871-0A6F-156B-6741-2D1BCEF1AF39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6" name="右大括弧 5">
            <a:extLst>
              <a:ext uri="{FF2B5EF4-FFF2-40B4-BE49-F238E27FC236}">
                <a16:creationId xmlns:a16="http://schemas.microsoft.com/office/drawing/2014/main" id="{9E7BBFE7-8CE2-0E13-D1DA-41B96806AD58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EBDAFB9-FF64-AF0E-65A2-88DBF5A1232D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Code Intelligence Benchmarking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21D0682F-D0D5-3FEB-FA02-4B5EAE7E36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995762"/>
              </p:ext>
            </p:extLst>
          </p:nvPr>
        </p:nvGraphicFramePr>
        <p:xfrm>
          <a:off x="2334256" y="4034730"/>
          <a:ext cx="1432386" cy="205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F014465A-7992-6D2B-0ED2-2EFC285D37EC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 Solution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Support QLoRA</a:t>
            </a:r>
            <a:r>
              <a:rPr lang="en-US" altLang="zh-TW" sz="1600" dirty="0"/>
              <a:t>. (Unsloth,</a:t>
            </a:r>
            <a:r>
              <a:rPr lang="zh-TW" altLang="en-US" sz="1600" dirty="0"/>
              <a:t> </a:t>
            </a:r>
            <a:r>
              <a:rPr lang="en-US" altLang="zh-TW" sz="1600" dirty="0"/>
              <a:t>Hugging Face TRL)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Engine</a:t>
            </a:r>
            <a:r>
              <a:rPr lang="en-US" altLang="zh-TW" sz="1600" dirty="0"/>
              <a:t>: Freeze base weight. ( llama, Gemma 4)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Agent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OpenClaw and bio-python library.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A6861017-B894-8BC1-F162-75F3B0AC580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agents will collaborate with Summit Spatial sequencers to complete tasks.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45B540ED-60EE-58A7-8070-E5C33AF10E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432599"/>
              </p:ext>
            </p:extLst>
          </p:nvPr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" name="圖片 3">
            <a:extLst>
              <a:ext uri="{FF2B5EF4-FFF2-40B4-BE49-F238E27FC236}">
                <a16:creationId xmlns:a16="http://schemas.microsoft.com/office/drawing/2014/main" id="{F9EE3A7A-38B4-D1E9-5799-C8A7D35B9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cxnSp>
        <p:nvCxnSpPr>
          <p:cNvPr id="42" name="接點: 肘形 41">
            <a:extLst>
              <a:ext uri="{FF2B5EF4-FFF2-40B4-BE49-F238E27FC236}">
                <a16:creationId xmlns:a16="http://schemas.microsoft.com/office/drawing/2014/main" id="{FC7173A3-FD52-3361-7E1C-CBD7A5EB8814}"/>
              </a:ext>
            </a:extLst>
          </p:cNvPr>
          <p:cNvCxnSpPr>
            <a:cxnSpLocks/>
            <a:stCxn id="8" idx="2"/>
            <a:endCxn id="46" idx="1"/>
          </p:cNvCxnSpPr>
          <p:nvPr/>
        </p:nvCxnSpPr>
        <p:spPr>
          <a:xfrm rot="16200000" flipH="1">
            <a:off x="3519681" y="3964968"/>
            <a:ext cx="262708" cy="1206994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>
            <a:extLst>
              <a:ext uri="{FF2B5EF4-FFF2-40B4-BE49-F238E27FC236}">
                <a16:creationId xmlns:a16="http://schemas.microsoft.com/office/drawing/2014/main" id="{063E6162-D5C9-01FE-BA92-C6CBDE280172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AD71FA00-73CF-96E2-DB9D-29D266518612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chemeClr val="accent1">
                <a:lumMod val="20000"/>
                <a:lumOff val="80000"/>
                <a:alpha val="20000"/>
              </a:schemeClr>
            </a:glow>
          </a:effectLst>
        </p:grpSpPr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DBE13760-C824-72A8-0F6C-52D418E9F327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39" name="圖片 38">
              <a:extLst>
                <a:ext uri="{FF2B5EF4-FFF2-40B4-BE49-F238E27FC236}">
                  <a16:creationId xmlns:a16="http://schemas.microsoft.com/office/drawing/2014/main" id="{BDD586E3-E3B0-BBF3-6C2C-F304D5C0DC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effectLst>
              <a:glow rad="76200">
                <a:schemeClr val="accent1">
                  <a:lumMod val="20000"/>
                  <a:lumOff val="80000"/>
                  <a:alpha val="40000"/>
                </a:schemeClr>
              </a:glow>
              <a:softEdge rad="25400"/>
            </a:effectLst>
          </p:spPr>
        </p:pic>
      </p:grpSp>
      <p:sp>
        <p:nvSpPr>
          <p:cNvPr id="51" name="矩形 50">
            <a:extLst>
              <a:ext uri="{FF2B5EF4-FFF2-40B4-BE49-F238E27FC236}">
                <a16:creationId xmlns:a16="http://schemas.microsoft.com/office/drawing/2014/main" id="{BD9F5FA8-DF10-F8FD-719D-E220A101592C}"/>
              </a:ext>
            </a:extLst>
          </p:cNvPr>
          <p:cNvSpPr/>
          <p:nvPr/>
        </p:nvSpPr>
        <p:spPr>
          <a:xfrm>
            <a:off x="6350708" y="3880539"/>
            <a:ext cx="534601" cy="39720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38100">
            <a:solidFill>
              <a:schemeClr val="accent3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Bio-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Python</a:t>
            </a:r>
            <a:endParaRPr lang="zh-TW" altLang="en-US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7F5AA83-B63F-1EB5-698E-7FFF4D222A30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2000"/>
              </a:lnSpc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496B558-57D1-8B0F-DD92-B32AFC3E6647}"/>
              </a:ext>
            </a:extLst>
          </p:cNvPr>
          <p:cNvCxnSpPr>
            <a:cxnSpLocks/>
            <a:stCxn id="61" idx="2"/>
            <a:endCxn id="4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DA424801-F801-7754-6900-FA56043A9135}"/>
              </a:ext>
            </a:extLst>
          </p:cNvPr>
          <p:cNvCxnSpPr>
            <a:cxnSpLocks/>
            <a:stCxn id="4" idx="3"/>
            <a:endCxn id="12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箭號: 向下 121">
            <a:extLst>
              <a:ext uri="{FF2B5EF4-FFF2-40B4-BE49-F238E27FC236}">
                <a16:creationId xmlns:a16="http://schemas.microsoft.com/office/drawing/2014/main" id="{33B733D2-7161-33F4-79FD-E649F748C48C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23" name="接點: 肘形 122">
            <a:extLst>
              <a:ext uri="{FF2B5EF4-FFF2-40B4-BE49-F238E27FC236}">
                <a16:creationId xmlns:a16="http://schemas.microsoft.com/office/drawing/2014/main" id="{86FF8C34-7087-86E9-F333-164B1E3A395E}"/>
              </a:ext>
            </a:extLst>
          </p:cNvPr>
          <p:cNvCxnSpPr>
            <a:cxnSpLocks/>
            <a:stCxn id="4" idx="2"/>
            <a:endCxn id="46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805C6CFD-1267-A5F6-F337-D02B15A18DC9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BioByte,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gut biopsy.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5" name="語音泡泡: 圓角矩形 14">
            <a:extLst>
              <a:ext uri="{FF2B5EF4-FFF2-40B4-BE49-F238E27FC236}">
                <a16:creationId xmlns:a16="http://schemas.microsoft.com/office/drawing/2014/main" id="{7646EECD-3620-7195-6E62-42B29BED12D2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BEE719D-AA9B-D04C-EC5E-E63F70E1E4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4005064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A157AB89-C11C-9FF7-93B3-94697A292BC9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Unsloth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5702545-0EF5-72BF-9149-DBDB7D6270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2102" y="4811708"/>
            <a:ext cx="411308" cy="386908"/>
          </a:xfrm>
          <a:prstGeom prst="rect">
            <a:avLst/>
          </a:prstGeom>
          <a:effectLst>
            <a:glow rad="76200">
              <a:schemeClr val="accent6">
                <a:lumMod val="20000"/>
                <a:lumOff val="80000"/>
              </a:schemeClr>
            </a:glow>
            <a:softEdge rad="50800"/>
          </a:effectLst>
        </p:spPr>
      </p:pic>
    </p:spTree>
    <p:extLst>
      <p:ext uri="{BB962C8B-B14F-4D97-AF65-F5344CB8AC3E}">
        <p14:creationId xmlns:p14="http://schemas.microsoft.com/office/powerpoint/2010/main" val="1245551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C2FA1-D71C-1571-5DF7-FBBBA4385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18753B56-4876-526F-D548-E446B615A4E6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torch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unsloth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FastLanguageModel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transformers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TrainingArguments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trl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SFTTrainer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Load Initialized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 and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Tokenizer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ax_seq_length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2048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# Context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Length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tokenizer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FastLanguageModel.from_pretrained(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model_name=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"unsloth/gemma-2-9b-it"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Init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max_seq_length=max_seq_length,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load_in_4bit=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                  # 4-bit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2.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Unsloth PEFT(QLoRA) 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FastLanguageModel.get_peft_model(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r=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lora_alpha=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target_modules=[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"q_proj"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"k_proj"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"v_proj"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br>
              <a:rPr lang="en-US" altLang="zh-TW" sz="1000" b="0" u="none" strike="noStrike" dirty="0">
                <a:effectLst/>
                <a:latin typeface="Consolas" panose="020B0609020204030204" pitchFamily="49" charset="0"/>
              </a:rPr>
            </a:b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	      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"o_proj"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"gate_proj"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"up_proj"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"down_proj"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],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lora_dropout=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Best performance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bias=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"none"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"unsloth"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Ultra-low 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VRAM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random_state=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3407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200"/>
              </a:lnSpc>
            </a:pPr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8F3D1BD-FEA1-1267-FF02-F5C2BD90F822}"/>
              </a:ext>
            </a:extLst>
          </p:cNvPr>
          <p:cNvSpPr txBox="1"/>
          <p:nvPr/>
        </p:nvSpPr>
        <p:spPr>
          <a:xfrm>
            <a:off x="5076056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3.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Setup Unsloth Optimizer</a:t>
            </a:r>
            <a:endParaRPr lang="zh-TW" altLang="zh-TW" sz="1000" b="0" i="1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training_args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output_dir=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"./gemma-unsloth-output"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per_device_train_batch_size=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gradient_accumulation_steps=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warmup_steps=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  <a:r>
              <a:rPr lang="en-US" altLang="zh-TW" sz="1000" dirty="0">
                <a:latin typeface="Consolas" panose="020B0609020204030204" pitchFamily="49" charset="0"/>
              </a:rPr>
              <a:t>	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learning_rate=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2e-4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fp16=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torch.cuda.is_bf16_supported(),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bf16=torch.cuda.is_bf16_supported(),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logging_steps=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optim=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"adamw_8bit"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4.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Start Training</a:t>
            </a:r>
            <a:endParaRPr lang="zh-TW" altLang="zh-TW" sz="1000" b="0" i="1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trainer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SFTTrainer(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model=model,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tokenizer=tokenizer,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train_dataset=dataset,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Aligned Data!!</a:t>
            </a:r>
            <a:endParaRPr lang="zh-TW" altLang="zh-TW" sz="1000" b="0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dataset_text_field=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"text"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max_seq_length=max_seq_length,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dataset_num_proc=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args=training_args,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trainer_stats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trainer.train()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3593BEC-05A3-F409-07AD-D3589DE96DAB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Save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tuned weights into compressed Ollama GGUF format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"my_gemma_model"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"q4_k_m"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0F9639B6-9ABE-ADFD-AEF2-698F1687076E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u="none" strike="noStrike" dirty="0">
                <a:effectLst/>
                <a:latin typeface="Consolas" panose="020B0609020204030204" pitchFamily="49" charset="0"/>
              </a:rPr>
              <a:t>Exporting GGUF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1888078C-AAFD-6A92-647D-145F9C7F622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848" y="134693"/>
            <a:ext cx="576064" cy="576063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7" name="標題 1">
            <a:extLst>
              <a:ext uri="{FF2B5EF4-FFF2-40B4-BE49-F238E27FC236}">
                <a16:creationId xmlns:a16="http://schemas.microsoft.com/office/drawing/2014/main" id="{E8992558-65AA-3F88-CC28-82D9C3224E1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Practice: Unsloth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2231952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215</TotalTime>
  <Words>9240</Words>
  <Application>Microsoft Office PowerPoint</Application>
  <PresentationFormat>如螢幕大小 (4:3)</PresentationFormat>
  <Paragraphs>1275</Paragraphs>
  <Slides>19</Slides>
  <Notes>16</Notes>
  <HiddenSlides>1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32" baseType="lpstr">
      <vt:lpstr>Meiryo</vt:lpstr>
      <vt:lpstr>Noto Sans HK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1834</cp:revision>
  <cp:lastPrinted>2024-07-30T01:44:15Z</cp:lastPrinted>
  <dcterms:created xsi:type="dcterms:W3CDTF">2019-11-08T03:01:47Z</dcterms:created>
  <dcterms:modified xsi:type="dcterms:W3CDTF">2026-07-28T06:21:46Z</dcterms:modified>
</cp:coreProperties>
</file>