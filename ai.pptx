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7"/>
  </p:notesMasterIdLst>
  <p:handoutMasterIdLst>
    <p:handoutMasterId r:id="rId58"/>
  </p:handoutMasterIdLst>
  <p:sldIdLst>
    <p:sldId id="3459" r:id="rId2"/>
    <p:sldId id="3472" r:id="rId3"/>
    <p:sldId id="3511" r:id="rId4"/>
    <p:sldId id="3504" r:id="rId5"/>
    <p:sldId id="3427" r:id="rId6"/>
    <p:sldId id="3503" r:id="rId7"/>
    <p:sldId id="3550" r:id="rId8"/>
    <p:sldId id="3470" r:id="rId9"/>
    <p:sldId id="3471" r:id="rId10"/>
    <p:sldId id="3482" r:id="rId11"/>
    <p:sldId id="3483" r:id="rId12"/>
    <p:sldId id="3428" r:id="rId13"/>
    <p:sldId id="3451" r:id="rId14"/>
    <p:sldId id="3465" r:id="rId15"/>
    <p:sldId id="3484" r:id="rId16"/>
    <p:sldId id="3508" r:id="rId17"/>
    <p:sldId id="3505" r:id="rId18"/>
    <p:sldId id="3507" r:id="rId19"/>
    <p:sldId id="3460" r:id="rId20"/>
    <p:sldId id="3509" r:id="rId21"/>
    <p:sldId id="3479" r:id="rId22"/>
    <p:sldId id="3467" r:id="rId23"/>
    <p:sldId id="3531" r:id="rId24"/>
    <p:sldId id="3499" r:id="rId25"/>
    <p:sldId id="3444" r:id="rId26"/>
    <p:sldId id="3532" r:id="rId27"/>
    <p:sldId id="3520" r:id="rId28"/>
    <p:sldId id="3518" r:id="rId29"/>
    <p:sldId id="3475" r:id="rId30"/>
    <p:sldId id="3527" r:id="rId31"/>
    <p:sldId id="3515" r:id="rId32"/>
    <p:sldId id="3528" r:id="rId33"/>
    <p:sldId id="3514" r:id="rId34"/>
    <p:sldId id="3529" r:id="rId35"/>
    <p:sldId id="3533" r:id="rId36"/>
    <p:sldId id="3544" r:id="rId37"/>
    <p:sldId id="3537" r:id="rId38"/>
    <p:sldId id="3540" r:id="rId39"/>
    <p:sldId id="3543" r:id="rId40"/>
    <p:sldId id="3542" r:id="rId41"/>
    <p:sldId id="3545" r:id="rId42"/>
    <p:sldId id="3539" r:id="rId43"/>
    <p:sldId id="3538" r:id="rId44"/>
    <p:sldId id="3534" r:id="rId45"/>
    <p:sldId id="3536" r:id="rId46"/>
    <p:sldId id="3535" r:id="rId47"/>
    <p:sldId id="3548" r:id="rId48"/>
    <p:sldId id="3547" r:id="rId49"/>
    <p:sldId id="3549" r:id="rId50"/>
    <p:sldId id="3519" r:id="rId51"/>
    <p:sldId id="3530" r:id="rId52"/>
    <p:sldId id="269" r:id="rId53"/>
    <p:sldId id="270" r:id="rId54"/>
    <p:sldId id="257" r:id="rId55"/>
    <p:sldId id="265" r:id="rId56"/>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 id="3550"/>
          </p14:sldIdLst>
        </p14:section>
        <p14:section name="Transformer" id="{91BFD2B5-A843-4933-9519-5889D1D7895D}">
          <p14:sldIdLst>
            <p14:sldId id="3470"/>
            <p14:sldId id="3471"/>
            <p14:sldId id="3482"/>
            <p14:sldId id="3483"/>
            <p14:sldId id="3428"/>
            <p14:sldId id="3451"/>
          </p14:sldIdLst>
        </p14:section>
        <p14:section name="OpenAI-GPT" id="{5A048767-0D58-44AF-B962-12C29493294F}">
          <p14:sldIdLst>
            <p14:sldId id="3465"/>
            <p14:sldId id="3484"/>
            <p14:sldId id="3508"/>
            <p14:sldId id="3505"/>
            <p14:sldId id="3507"/>
          </p14:sldIdLst>
        </p14:section>
        <p14:section name="Hardware" id="{69C35067-BEF2-4B7C-9B54-B6977EB05C72}">
          <p14:sldIdLst>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15"/>
            <p14:sldId id="3528"/>
            <p14:sldId id="3514"/>
            <p14:sldId id="3529"/>
            <p14:sldId id="3533"/>
          </p14:sldIdLst>
        </p14:section>
        <p14:section name="Deepseek-DSMoE" id="{8CC3907E-2537-4761-B8B4-20CC1D391E20}">
          <p14:sldIdLst>
            <p14:sldId id="3544"/>
            <p14:sldId id="3537"/>
            <p14:sldId id="3540"/>
            <p14:sldId id="3543"/>
            <p14:sldId id="3542"/>
            <p14:sldId id="3545"/>
            <p14:sldId id="3539"/>
            <p14:sldId id="3538"/>
          </p14:sldIdLst>
        </p14:section>
        <p14:section name="Moonshot-Kimi" id="{7C2BE5B2-C507-46C7-871E-C935EB653EC3}">
          <p14:sldIdLst>
            <p14:sldId id="3534"/>
            <p14:sldId id="3536"/>
            <p14:sldId id="3535"/>
          </p14:sldIdLst>
        </p14:section>
        <p14:section name="Distillation" id="{7EB38C31-A2B8-4354-A21C-A4C807EDE2C4}">
          <p14:sldIdLst>
            <p14:sldId id="3548"/>
            <p14:sldId id="3547"/>
          </p14:sldIdLst>
        </p14:section>
        <p14:section name="Conclusion" id="{D9E6914C-A73F-4176-B0F8-3F87EAC09119}">
          <p14:sldIdLst>
            <p14:sldId id="3549"/>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958" autoAdjust="0"/>
  </p:normalViewPr>
  <p:slideViewPr>
    <p:cSldViewPr>
      <p:cViewPr>
        <p:scale>
          <a:sx n="100" d="100"/>
          <a:sy n="100" d="100"/>
        </p:scale>
        <p:origin x="900" y="234"/>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2026/8/15</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2026/8/15</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0.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E89AF-F2A2-F9DF-BD6A-49D7779363C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02AB12DF-8319-18DD-A9CA-7A337F7554FB}"/>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E4A5F17-64C8-ADA6-DA00-0F5940464BB8}"/>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D63F60DF-4BB2-7AE4-117C-3A47EBD5CB1A}"/>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40856483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MLA</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V2, V3KV Cache 顯存大小橫向：壓縮</a:t>
            </a:r>
            <a:r>
              <a:rPr lang="zh-TW" altLang="zh-TW" sz="1200" b="1" u="none" strike="noStrike" kern="1200" dirty="0">
                <a:solidFill>
                  <a:schemeClr val="tx1"/>
                </a:solidFill>
                <a:effectLst/>
                <a:latin typeface="+mn-lt"/>
                <a:ea typeface="+mn-ea"/>
                <a:cs typeface="+mn-cs"/>
              </a:rPr>
              <a:t>特徵維度</a:t>
            </a:r>
            <a:r>
              <a:rPr lang="zh-TW" altLang="zh-TW" sz="1200" b="0" u="none" strike="noStrike" kern="1200" dirty="0">
                <a:solidFill>
                  <a:schemeClr val="tx1"/>
                </a:solidFill>
                <a:effectLst/>
                <a:latin typeface="+mn-lt"/>
                <a:ea typeface="+mn-ea"/>
                <a:cs typeface="+mn-cs"/>
              </a:rPr>
              <a:t> (Dim 8192 → 512) </a:t>
            </a:r>
          </a:p>
          <a:p>
            <a:r>
              <a:rPr lang="zh-TW" altLang="zh-TW" sz="1200" b="1" u="none" strike="noStrike" kern="1200" dirty="0">
                <a:solidFill>
                  <a:schemeClr val="tx1"/>
                </a:solidFill>
                <a:effectLst/>
                <a:latin typeface="+mn-lt"/>
                <a:ea typeface="+mn-ea"/>
                <a:cs typeface="+mn-cs"/>
              </a:rPr>
              <a:t>DSA</a:t>
            </a:r>
            <a:r>
              <a:rPr lang="zh-TW" altLang="zh-TW" sz="1200" b="0" u="none" strike="noStrike" kern="1200" dirty="0">
                <a:solidFill>
                  <a:schemeClr val="tx1"/>
                </a:solidFill>
                <a:effectLst/>
                <a:latin typeface="+mn-lt"/>
                <a:ea typeface="+mn-ea"/>
                <a:cs typeface="+mn-cs"/>
              </a:rPr>
              <a:t>V3.2運算量複雜度 (O(N²))縱向：動態篩選</a:t>
            </a:r>
            <a:r>
              <a:rPr lang="zh-TW" altLang="zh-TW" sz="1200" b="1" u="none" strike="noStrike" kern="1200" dirty="0">
                <a:solidFill>
                  <a:schemeClr val="tx1"/>
                </a:solidFill>
                <a:effectLst/>
                <a:latin typeface="+mn-lt"/>
                <a:ea typeface="+mn-ea"/>
                <a:cs typeface="+mn-cs"/>
              </a:rPr>
              <a:t>單個 Token</a:t>
            </a:r>
            <a:r>
              <a:rPr lang="zh-TW" altLang="zh-TW" sz="1200" b="0" u="none" strike="noStrike" kern="1200" dirty="0">
                <a:solidFill>
                  <a:schemeClr val="tx1"/>
                </a:solidFill>
                <a:effectLst/>
                <a:latin typeface="+mn-lt"/>
                <a:ea typeface="+mn-ea"/>
                <a:cs typeface="+mn-cs"/>
              </a:rPr>
              <a:t> (Top-K)</a:t>
            </a:r>
          </a:p>
          <a:p>
            <a:r>
              <a:rPr lang="zh-TW" altLang="zh-TW" sz="1200" b="1" u="none" strike="noStrike" kern="1200" dirty="0">
                <a:solidFill>
                  <a:schemeClr val="tx1"/>
                </a:solidFill>
                <a:effectLst/>
                <a:latin typeface="+mn-lt"/>
                <a:ea typeface="+mn-ea"/>
                <a:cs typeface="+mn-cs"/>
              </a:rPr>
              <a:t>HCA</a:t>
            </a:r>
            <a:r>
              <a:rPr lang="zh-TW" altLang="zh-TW" sz="1200" b="0" u="none" strike="noStrike" kern="1200" dirty="0">
                <a:solidFill>
                  <a:schemeClr val="tx1"/>
                </a:solidFill>
                <a:effectLst/>
                <a:latin typeface="+mn-lt"/>
                <a:ea typeface="+mn-ea"/>
                <a:cs typeface="+mn-cs"/>
              </a:rPr>
              <a:t>V41M 長文本的宏觀視野縱向：重度聚合</a:t>
            </a:r>
            <a:r>
              <a:rPr lang="zh-TW" altLang="zh-TW" sz="1200" b="1" u="none" strike="noStrike" kern="1200" dirty="0">
                <a:solidFill>
                  <a:schemeClr val="tx1"/>
                </a:solidFill>
                <a:effectLst/>
                <a:latin typeface="+mn-lt"/>
                <a:ea typeface="+mn-ea"/>
                <a:cs typeface="+mn-cs"/>
              </a:rPr>
              <a:t>時間區間</a:t>
            </a:r>
            <a:r>
              <a:rPr lang="zh-TW" altLang="zh-TW" sz="1200" b="0" u="none" strike="noStrike" kern="1200" dirty="0">
                <a:solidFill>
                  <a:schemeClr val="tx1"/>
                </a:solidFill>
                <a:effectLst/>
                <a:latin typeface="+mn-lt"/>
                <a:ea typeface="+mn-ea"/>
                <a:cs typeface="+mn-cs"/>
              </a:rPr>
              <a:t> (128 → 1) </a:t>
            </a:r>
          </a:p>
          <a:p>
            <a:r>
              <a:rPr lang="zh-TW" altLang="zh-TW" sz="1200" b="1" u="none" strike="noStrike" kern="1200" dirty="0">
                <a:solidFill>
                  <a:schemeClr val="tx1"/>
                </a:solidFill>
                <a:effectLst/>
                <a:latin typeface="+mn-lt"/>
                <a:ea typeface="+mn-ea"/>
                <a:cs typeface="+mn-cs"/>
              </a:rPr>
              <a:t>CSA</a:t>
            </a:r>
            <a:r>
              <a:rPr lang="zh-TW" altLang="zh-TW" sz="1200" b="0" u="none" strike="noStrike" kern="1200" dirty="0">
                <a:solidFill>
                  <a:schemeClr val="tx1"/>
                </a:solidFill>
                <a:effectLst/>
                <a:latin typeface="+mn-lt"/>
                <a:ea typeface="+mn-ea"/>
                <a:cs typeface="+mn-cs"/>
              </a:rPr>
              <a:t>V41M 長文本的細粒度檢索縱橫結合：先 </a:t>
            </a:r>
            <a:r>
              <a:rPr lang="zh-TW" altLang="zh-TW" sz="1200" b="1" u="none" strike="noStrike" kern="1200" dirty="0">
                <a:solidFill>
                  <a:schemeClr val="tx1"/>
                </a:solidFill>
                <a:effectLst/>
                <a:latin typeface="+mn-lt"/>
                <a:ea typeface="+mn-ea"/>
                <a:cs typeface="+mn-cs"/>
              </a:rPr>
              <a:t>4:1 壓縮</a:t>
            </a:r>
            <a:r>
              <a:rPr lang="zh-TW" altLang="zh-TW" sz="1200" b="0" u="none" strike="noStrike" kern="1200" dirty="0">
                <a:solidFill>
                  <a:schemeClr val="tx1"/>
                </a:solidFill>
                <a:effectLst/>
                <a:latin typeface="+mn-lt"/>
                <a:ea typeface="+mn-ea"/>
                <a:cs typeface="+mn-cs"/>
              </a:rPr>
              <a:t>再做 </a:t>
            </a:r>
            <a:r>
              <a:rPr lang="zh-TW" altLang="zh-TW" sz="1200" b="1" u="none" strike="noStrike" kern="1200" dirty="0">
                <a:solidFill>
                  <a:schemeClr val="tx1"/>
                </a:solidFill>
                <a:effectLst/>
                <a:latin typeface="+mn-lt"/>
                <a:ea typeface="+mn-ea"/>
                <a:cs typeface="+mn-cs"/>
              </a:rPr>
              <a:t>Top-K 塊篩選</a:t>
            </a:r>
            <a:r>
              <a:rPr lang="zh-TW" altLang="zh-TW" sz="1200" b="0" u="none" strike="noStrike" kern="1200" dirty="0">
                <a:solidFill>
                  <a:schemeClr val="tx1"/>
                </a:solidFill>
                <a:effectLst/>
                <a:latin typeface="+mn-lt"/>
                <a:ea typeface="+mn-ea"/>
                <a:cs typeface="+mn-cs"/>
              </a:rPr>
              <a:t> </a:t>
            </a: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43</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44</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45</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46</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47</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48</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49</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54</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55</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2026/8/15</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2026/8/15</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1.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5.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6.png"/><Relationship Id="rId4" Type="http://schemas.openxmlformats.org/officeDocument/2006/relationships/image" Target="../media/image45.png"/></Relationships>
</file>

<file path=ppt/slides/_rels/slide19.xml.rels><?xml version="1.0" encoding="UTF-8" standalone="yes"?>
<Relationships xmlns="http://schemas.openxmlformats.org/package/2006/relationships"><Relationship Id="rId3" Type="http://schemas.openxmlformats.org/officeDocument/2006/relationships/image" Target="../media/image47.svg"/><Relationship Id="rId7" Type="http://schemas.openxmlformats.org/officeDocument/2006/relationships/image" Target="../media/image51.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50.png"/><Relationship Id="rId5" Type="http://schemas.openxmlformats.org/officeDocument/2006/relationships/image" Target="../media/image49.svg"/><Relationship Id="rId4" Type="http://schemas.openxmlformats.org/officeDocument/2006/relationships/image" Target="../media/image48.png"/></Relationships>
</file>

<file path=ppt/slides/_rels/slide2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3.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5.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8.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9.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7.svg"/></Relationships>
</file>

<file path=ppt/slides/_rels/slide30.xml.rels><?xml version="1.0" encoding="UTF-8" standalone="yes"?>
<Relationships xmlns="http://schemas.openxmlformats.org/package/2006/relationships"><Relationship Id="rId3" Type="http://schemas.openxmlformats.org/officeDocument/2006/relationships/image" Target="../media/image78.svg"/><Relationship Id="rId7" Type="http://schemas.openxmlformats.org/officeDocument/2006/relationships/image" Target="../media/image82.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81.svg"/><Relationship Id="rId5" Type="http://schemas.openxmlformats.org/officeDocument/2006/relationships/image" Target="../media/image80.svg"/><Relationship Id="rId4" Type="http://schemas.openxmlformats.org/officeDocument/2006/relationships/image" Target="../media/image79.sv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34.xml"/><Relationship Id="rId1" Type="http://schemas.openxmlformats.org/officeDocument/2006/relationships/slideLayout" Target="../slideLayouts/slideLayout3.xml"/><Relationship Id="rId4" Type="http://schemas.openxmlformats.org/officeDocument/2006/relationships/image" Target="../media/image84.png"/></Relationships>
</file>

<file path=ppt/slides/_rels/slide3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35.xml"/><Relationship Id="rId1" Type="http://schemas.openxmlformats.org/officeDocument/2006/relationships/slideLayout" Target="../slideLayouts/slideLayout3.xml"/><Relationship Id="rId4" Type="http://schemas.openxmlformats.org/officeDocument/2006/relationships/image" Target="../media/image86.png"/></Relationships>
</file>

<file path=ppt/slides/_rels/slide39.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92.png"/></Relationships>
</file>

<file path=ppt/slides/_rels/slide49.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98.png"/><Relationship Id="rId2" Type="http://schemas.openxmlformats.org/officeDocument/2006/relationships/notesSlide" Target="../notesSlides/notesSlide42.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7.png"/><Relationship Id="rId5" Type="http://schemas.openxmlformats.org/officeDocument/2006/relationships/image" Target="../media/image3.png"/><Relationship Id="rId10" Type="http://schemas.openxmlformats.org/officeDocument/2006/relationships/image" Target="../media/image96.png"/><Relationship Id="rId4" Type="http://schemas.openxmlformats.org/officeDocument/2006/relationships/image" Target="../media/image2.png"/><Relationship Id="rId9" Type="http://schemas.openxmlformats.org/officeDocument/2006/relationships/image" Target="../media/image95.png"/></Relationships>
</file>

<file path=ppt/slides/_rels/slide50.xml.rels><?xml version="1.0" encoding="UTF-8" standalone="yes"?>
<Relationships xmlns="http://schemas.openxmlformats.org/package/2006/relationships"><Relationship Id="rId3" Type="http://schemas.openxmlformats.org/officeDocument/2006/relationships/image" Target="../media/image100.png"/><Relationship Id="rId7" Type="http://schemas.openxmlformats.org/officeDocument/2006/relationships/image" Target="../media/image68.png"/><Relationship Id="rId2" Type="http://schemas.openxmlformats.org/officeDocument/2006/relationships/image" Target="../media/image99.png"/><Relationship Id="rId1" Type="http://schemas.openxmlformats.org/officeDocument/2006/relationships/slideLayout" Target="../slideLayouts/slideLayout3.xml"/><Relationship Id="rId6" Type="http://schemas.openxmlformats.org/officeDocument/2006/relationships/image" Target="../media/image69.jpeg"/><Relationship Id="rId5" Type="http://schemas.openxmlformats.org/officeDocument/2006/relationships/image" Target="../media/image58.png"/><Relationship Id="rId4" Type="http://schemas.openxmlformats.org/officeDocument/2006/relationships/image" Target="../media/image101.png"/></Relationships>
</file>

<file path=ppt/slides/_rels/slide51.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4.xml"/><Relationship Id="rId5" Type="http://schemas.openxmlformats.org/officeDocument/2006/relationships/image" Target="../media/image105.png"/><Relationship Id="rId4" Type="http://schemas.openxmlformats.org/officeDocument/2006/relationships/image" Target="../media/image104.png"/></Relationships>
</file>

<file path=ppt/slides/_rels/slide53.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4.xml"/><Relationship Id="rId5" Type="http://schemas.openxmlformats.org/officeDocument/2006/relationships/image" Target="../media/image109.png"/><Relationship Id="rId4" Type="http://schemas.openxmlformats.org/officeDocument/2006/relationships/image" Target="../media/image108.png"/></Relationships>
</file>

<file path=ppt/slides/_rels/slide54.xml.rels><?xml version="1.0" encoding="UTF-8" standalone="yes"?>
<Relationships xmlns="http://schemas.openxmlformats.org/package/2006/relationships"><Relationship Id="rId8" Type="http://schemas.openxmlformats.org/officeDocument/2006/relationships/image" Target="../media/image114.png"/><Relationship Id="rId3" Type="http://schemas.openxmlformats.org/officeDocument/2006/relationships/image" Target="../media/image110.png"/><Relationship Id="rId7" Type="http://schemas.openxmlformats.org/officeDocument/2006/relationships/image" Target="../media/image113.png"/><Relationship Id="rId2" Type="http://schemas.openxmlformats.org/officeDocument/2006/relationships/notesSlide" Target="../notesSlides/notesSlide43.xml"/><Relationship Id="rId1" Type="http://schemas.openxmlformats.org/officeDocument/2006/relationships/slideLayout" Target="../slideLayouts/slideLayout4.xml"/><Relationship Id="rId6" Type="http://schemas.openxmlformats.org/officeDocument/2006/relationships/image" Target="../media/image112.png"/><Relationship Id="rId5" Type="http://schemas.openxmlformats.org/officeDocument/2006/relationships/image" Target="../media/image2300.png"/><Relationship Id="rId4" Type="http://schemas.openxmlformats.org/officeDocument/2006/relationships/image" Target="../media/image111.png"/></Relationships>
</file>

<file path=ppt/slides/_rels/slide55.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image" Target="../media/image115.png"/><Relationship Id="rId7" Type="http://schemas.openxmlformats.org/officeDocument/2006/relationships/image" Target="../media/image119.png"/><Relationship Id="rId2" Type="http://schemas.openxmlformats.org/officeDocument/2006/relationships/notesSlide" Target="../notesSlides/notesSlide44.xml"/><Relationship Id="rId1" Type="http://schemas.openxmlformats.org/officeDocument/2006/relationships/slideLayout" Target="../slideLayouts/slideLayout4.xml"/><Relationship Id="rId6" Type="http://schemas.openxmlformats.org/officeDocument/2006/relationships/image" Target="../media/image118.png"/><Relationship Id="rId5" Type="http://schemas.openxmlformats.org/officeDocument/2006/relationships/image" Target="../media/image117.png"/><Relationship Id="rId4" Type="http://schemas.openxmlformats.org/officeDocument/2006/relationships/image" Target="../media/image116.png"/><Relationship Id="rId9" Type="http://schemas.openxmlformats.org/officeDocument/2006/relationships/image" Target="../media/image12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E31EE-6863-F904-4B60-DEE5CB4C690E}"/>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085B6215-D755-9673-E5BE-2B7F4E7910D9}"/>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5DD18BFA-843B-CE10-1395-66ECD6218C54}"/>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31ADE238-C960-1A9B-1492-21DB019C257B}"/>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9970ED2A-6D65-B280-4835-DA4D73BDBD42}"/>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5F0EECB3-B55C-F1A9-E679-6DB49D0A6D03}"/>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36BC043-55DA-DEBA-7E92-AB3DB6CF6EF3}"/>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A1C52298-0D10-DB87-BF39-D6C975EB31BC}"/>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82814CA4-14EB-9F30-A426-1073EB064485}"/>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D0FEA24F-F289-4A44-1999-85CADC7D4947}"/>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579A633E-2BBC-C599-87D4-CD7F672FA5BF}"/>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5059A7C1-0516-B750-DB2E-1EAB7BEA3AB7}"/>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7C8B64B9-81CF-6C6C-FCC5-C407C080458B}"/>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3AEC5B30-CEF2-449E-1AF4-9AEF823C0214}"/>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ECD006CF-28DD-CF8B-099E-B03D7017348C}"/>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3EA9346F-1340-74CE-2279-E6AF98D1EEC9}"/>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4B16DC87-88FC-0D34-5C40-C3F40B76CF42}"/>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2168DD0E-99F7-60E2-AE8E-4A52A7749114}"/>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386EE2B5-8EBC-15D5-A9FA-49C4D3A3D84B}"/>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02E77F71-519F-6ED3-58C8-B61E5104E9A6}"/>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AB6415DE-98E0-D833-11D6-C83404576D0F}"/>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820BCC5F-7B30-66A8-E8B8-44B37556FBBC}"/>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62C0BE21-8152-E30A-6EA7-37A0583F9F8A}"/>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C161A452-982A-9947-D4A7-2249480ED5E7}"/>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9CEB99C6-A446-F705-8ABC-F6DC355D0732}"/>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57A05BB4-B003-F44B-0E90-3C489B7F40B5}"/>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B4D74B1F-DF7A-88DC-8992-AF95EC64B8F4}"/>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4A5C7E75-A60B-633D-EDFA-26E204270802}"/>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46345C6D-0947-5674-2634-DAAB6AF02437}"/>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F10F86CE-A85B-694C-2CAE-39CB21F050E2}"/>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B4ED2677-DEC7-94B3-E1DC-77EAE8ED2388}"/>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C35161E8-BB06-6587-4B86-06795DE092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D48A7D01-A347-227A-E5D7-0327F8C6C820}"/>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B9244B96-7597-11BE-3E9F-E030B457EED6}"/>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05BF3213-DCD6-71DE-6BE2-4CF21FF43198}"/>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F7A6B71B-ED48-E91E-1CE3-ED2FE19A3C0C}"/>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F1F60B6C-83A6-CD71-0F20-C5020F4C2FB2}"/>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46CF3076-2985-8620-6009-EA8722FC4D80}"/>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F86908D6-2A73-0F1F-66EC-EAD8AD13B407}"/>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D1007C0E-E88C-0558-F49F-2A523C546C52}"/>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2B437AE2-96BB-E1D4-E696-E164E80380F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36AB3BEB-28F8-2642-B1BF-5CE9C064800C}"/>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Muon.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74DF7B2E-D6DA-F621-D00B-850DA7FD3BFC}"/>
              </a:ext>
            </a:extLst>
          </p:cNvPr>
          <p:cNvSpPr txBox="1"/>
          <p:nvPr/>
        </p:nvSpPr>
        <p:spPr>
          <a:xfrm>
            <a:off x="236725" y="1440646"/>
            <a:ext cx="8280922" cy="27084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Group Relative Policy Optimization(</a:t>
            </a:r>
            <a:r>
              <a:rPr lang="en-US" altLang="zh-TW" sz="1600" b="1" dirty="0"/>
              <a:t>GPRO</a:t>
            </a:r>
            <a:r>
              <a:rPr lang="en-US" altLang="zh-TW" sz="1600" dirty="0"/>
              <a:t>):</a:t>
            </a:r>
            <a:r>
              <a:rPr lang="zh-TW" altLang="en-US" sz="1600" dirty="0"/>
              <a:t> </a:t>
            </a:r>
            <a:r>
              <a:rPr lang="en-US" altLang="zh-TW" sz="1600" dirty="0"/>
              <a:t>Deep reasoning and self-correction.</a:t>
            </a:r>
          </a:p>
          <a:p>
            <a:pPr marL="742950" lvl="1" indent="-285750">
              <a:lnSpc>
                <a:spcPts val="1800"/>
              </a:lnSpc>
              <a:spcBef>
                <a:spcPts val="600"/>
              </a:spcBef>
              <a:buFont typeface="Arial" panose="020B0604020202020204" pitchFamily="34" charset="0"/>
              <a:buChar char="•"/>
            </a:pPr>
            <a:r>
              <a:rPr lang="en-US" altLang="zh-TW" sz="1600" dirty="0"/>
              <a:t>Momentum Orthogonalized by Newton-Schulz(</a:t>
            </a:r>
            <a:r>
              <a:rPr lang="en-US" altLang="zh-TW" sz="1600" b="1" dirty="0"/>
              <a:t>Muon</a:t>
            </a:r>
            <a:r>
              <a:rPr lang="en-US" altLang="zh-TW" sz="1600" dirty="0"/>
              <a:t>): Matrix orthogonalization.</a:t>
            </a:r>
          </a:p>
          <a:p>
            <a:pPr marL="742950" lvl="1" indent="-285750">
              <a:lnSpc>
                <a:spcPts val="1800"/>
              </a:lnSpc>
              <a:spcBef>
                <a:spcPts val="600"/>
              </a:spcBef>
              <a:buFont typeface="Arial" panose="020B0604020202020204" pitchFamily="34" charset="0"/>
              <a:buChar char="•"/>
            </a:pPr>
            <a:r>
              <a:rPr lang="en-US" altLang="zh-TW" sz="1600" dirty="0"/>
              <a:t>Hybrid Compressed Attention (</a:t>
            </a:r>
            <a:r>
              <a:rPr lang="en-US" altLang="zh-TW" sz="1600" b="1" dirty="0"/>
              <a:t>HCA</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Manifold-Constrained Hyper-Connections (</a:t>
            </a:r>
            <a:r>
              <a:rPr lang="en-US" altLang="zh-TW" sz="1600" b="1" dirty="0"/>
              <a:t>mHC</a:t>
            </a:r>
            <a:r>
              <a:rPr lang="en-US" altLang="zh-TW" sz="1600" dirty="0"/>
              <a:t>): Replacing residual.</a:t>
            </a:r>
          </a:p>
        </p:txBody>
      </p:sp>
    </p:spTree>
    <p:extLst>
      <p:ext uri="{BB962C8B-B14F-4D97-AF65-F5344CB8AC3E}">
        <p14:creationId xmlns:p14="http://schemas.microsoft.com/office/powerpoint/2010/main" val="292586569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err="1">
                <a:solidFill>
                  <a:schemeClr val="tx2"/>
                </a:solidFill>
              </a:rPr>
              <a:t>CoPoS</a:t>
            </a:r>
            <a:endParaRPr lang="en-US" altLang="zh-TW" sz="1000" b="1" dirty="0">
              <a:solidFill>
                <a:schemeClr val="tx2"/>
              </a:solidFill>
            </a:endParaRP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74B215B5-D7AE-C67F-E334-F68F81553A28}"/>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Multi-head Latent Attention (</a:t>
            </a:r>
            <a:r>
              <a:rPr lang="en-US" altLang="zh-TW" sz="1600" b="1" dirty="0">
                <a:solidFill>
                  <a:schemeClr val="accent6">
                    <a:lumMod val="75000"/>
                  </a:schemeClr>
                </a:solidFill>
              </a:rPr>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Group Relative Policy Optimization (</a:t>
            </a:r>
            <a:r>
              <a:rPr lang="en-US" altLang="zh-TW" sz="1600" b="1" dirty="0">
                <a:solidFill>
                  <a:schemeClr val="accent6">
                    <a:lumMod val="75000"/>
                  </a:schemeClr>
                </a:solidFill>
              </a:rPr>
              <a:t>GRPO</a:t>
            </a:r>
            <a:r>
              <a:rPr lang="en-US" altLang="zh-TW" sz="1600" dirty="0"/>
              <a:t>): Deep reasoning and self-correction.</a:t>
            </a:r>
          </a:p>
          <a:p>
            <a:pPr marL="742950" lvl="1" indent="-285750">
              <a:lnSpc>
                <a:spcPts val="1800"/>
              </a:lnSpc>
              <a:spcBef>
                <a:spcPts val="600"/>
              </a:spcBef>
              <a:buFont typeface="Arial" panose="020B0604020202020204" pitchFamily="34" charset="0"/>
              <a:buChar char="•"/>
            </a:pPr>
            <a:r>
              <a:rPr lang="en-US" altLang="zh-TW" sz="1600" dirty="0"/>
              <a:t>DeepSeek MoE: The first 3 layers use hash routing, sqrt(Softplus(•)), anticipatory routing.</a:t>
            </a:r>
          </a:p>
          <a:p>
            <a:pPr marL="742950" lvl="1" indent="-285750">
              <a:lnSpc>
                <a:spcPts val="1800"/>
              </a:lnSpc>
              <a:spcBef>
                <a:spcPts val="600"/>
              </a:spcBef>
              <a:buFont typeface="Arial" panose="020B0604020202020204" pitchFamily="34" charset="0"/>
              <a:buChar char="•"/>
            </a:pPr>
            <a:r>
              <a:rPr lang="en-US" altLang="zh-TW" sz="1600" dirty="0"/>
              <a:t>Dual Pipe</a:t>
            </a:r>
            <a:r>
              <a:rPr lang="zh-TW" altLang="en-US" sz="1600" dirty="0"/>
              <a:t> </a:t>
            </a:r>
            <a:r>
              <a:rPr lang="en-US" altLang="zh-TW" sz="1600" dirty="0"/>
              <a:t>/</a:t>
            </a:r>
            <a:r>
              <a:rPr lang="zh-TW" altLang="en-US" sz="1600" dirty="0"/>
              <a:t> </a:t>
            </a:r>
            <a:endParaRPr lang="en-US" altLang="zh-TW" sz="1600" dirty="0"/>
          </a:p>
        </p:txBody>
      </p:sp>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87463339"/>
              </p:ext>
            </p:extLst>
          </p:nvPr>
        </p:nvGraphicFramePr>
        <p:xfrm>
          <a:off x="5524096" y="1025679"/>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07263971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8"/>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Group Relative Policy Optimization(</a:t>
            </a:r>
            <a:r>
              <a:rPr lang="en-US" altLang="zh-TW" sz="1600" b="1" dirty="0"/>
              <a:t>GRPO</a:t>
            </a:r>
            <a:r>
              <a:rPr lang="en-US" altLang="zh-TW" sz="1600" dirty="0"/>
              <a:t>):</a:t>
            </a:r>
            <a:r>
              <a:rPr lang="zh-TW" altLang="en-US" sz="1600" dirty="0"/>
              <a:t> </a:t>
            </a:r>
            <a:r>
              <a:rPr lang="en-US" altLang="zh-TW" sz="1600" dirty="0"/>
              <a:t>Deep reasoning and self-correction.</a:t>
            </a:r>
          </a:p>
          <a:p>
            <a:pPr marL="742950" lvl="1" indent="-285750">
              <a:lnSpc>
                <a:spcPts val="1800"/>
              </a:lnSpc>
              <a:spcBef>
                <a:spcPts val="600"/>
              </a:spcBef>
              <a:buFont typeface="Arial" panose="020B0604020202020204" pitchFamily="34" charset="0"/>
              <a:buChar char="•"/>
            </a:pPr>
            <a:r>
              <a:rPr lang="en-US" altLang="zh-TW" sz="1600" dirty="0"/>
              <a:t>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9792" y="1700808"/>
            <a:ext cx="740352" cy="56446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08347"/>
            <a:ext cx="564469" cy="564469"/>
          </a:xfrm>
          <a:prstGeom prst="rect">
            <a:avLst/>
          </a:prstGeom>
        </p:spPr>
      </p:pic>
      <p:graphicFrame>
        <p:nvGraphicFramePr>
          <p:cNvPr id="4" name="表格 3">
            <a:extLst>
              <a:ext uri="{FF2B5EF4-FFF2-40B4-BE49-F238E27FC236}">
                <a16:creationId xmlns:a16="http://schemas.microsoft.com/office/drawing/2014/main" id="{5F4DDCA3-590A-2397-1FA3-9F00C50E3A4F}"/>
              </a:ext>
            </a:extLst>
          </p:cNvPr>
          <p:cNvGraphicFramePr>
            <a:graphicFrameLocks noGrp="1"/>
          </p:cNvGraphicFramePr>
          <p:nvPr>
            <p:extLst>
              <p:ext uri="{D42A27DB-BD31-4B8C-83A1-F6EECF244321}">
                <p14:modId xmlns:p14="http://schemas.microsoft.com/office/powerpoint/2010/main" val="3164626011"/>
              </p:ext>
            </p:extLst>
          </p:nvPr>
        </p:nvGraphicFramePr>
        <p:xfrm>
          <a:off x="431538" y="4365104"/>
          <a:ext cx="8280925" cy="2077608"/>
        </p:xfrm>
        <a:graphic>
          <a:graphicData uri="http://schemas.openxmlformats.org/drawingml/2006/table">
            <a:tbl>
              <a:tblPr firstRow="1" bandRow="1">
                <a:tableStyleId>{5C22544A-7EE6-4342-B048-85BDC9FD1C3A}</a:tableStyleId>
              </a:tblPr>
              <a:tblGrid>
                <a:gridCol w="425655">
                  <a:extLst>
                    <a:ext uri="{9D8B030D-6E8A-4147-A177-3AD203B41FA5}">
                      <a16:colId xmlns:a16="http://schemas.microsoft.com/office/drawing/2014/main" val="4198244561"/>
                    </a:ext>
                  </a:extLst>
                </a:gridCol>
                <a:gridCol w="696526">
                  <a:extLst>
                    <a:ext uri="{9D8B030D-6E8A-4147-A177-3AD203B41FA5}">
                      <a16:colId xmlns:a16="http://schemas.microsoft.com/office/drawing/2014/main" val="2211145501"/>
                    </a:ext>
                  </a:extLst>
                </a:gridCol>
                <a:gridCol w="527050">
                  <a:extLst>
                    <a:ext uri="{9D8B030D-6E8A-4147-A177-3AD203B41FA5}">
                      <a16:colId xmlns:a16="http://schemas.microsoft.com/office/drawing/2014/main" val="767948712"/>
                    </a:ext>
                  </a:extLst>
                </a:gridCol>
                <a:gridCol w="527050">
                  <a:extLst>
                    <a:ext uri="{9D8B030D-6E8A-4147-A177-3AD203B41FA5}">
                      <a16:colId xmlns:a16="http://schemas.microsoft.com/office/drawing/2014/main" val="2420987057"/>
                    </a:ext>
                  </a:extLst>
                </a:gridCol>
                <a:gridCol w="1054099">
                  <a:extLst>
                    <a:ext uri="{9D8B030D-6E8A-4147-A177-3AD203B41FA5}">
                      <a16:colId xmlns:a16="http://schemas.microsoft.com/office/drawing/2014/main" val="3715013544"/>
                    </a:ext>
                  </a:extLst>
                </a:gridCol>
                <a:gridCol w="1054099">
                  <a:extLst>
                    <a:ext uri="{9D8B030D-6E8A-4147-A177-3AD203B41FA5}">
                      <a16:colId xmlns:a16="http://schemas.microsoft.com/office/drawing/2014/main" val="3328686525"/>
                    </a:ext>
                  </a:extLst>
                </a:gridCol>
                <a:gridCol w="504056">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6044">
                  <a:extLst>
                    <a:ext uri="{9D8B030D-6E8A-4147-A177-3AD203B41FA5}">
                      <a16:colId xmlns:a16="http://schemas.microsoft.com/office/drawing/2014/main" val="3722446267"/>
                    </a:ext>
                  </a:extLst>
                </a:gridCol>
                <a:gridCol w="396044">
                  <a:extLst>
                    <a:ext uri="{9D8B030D-6E8A-4147-A177-3AD203B41FA5}">
                      <a16:colId xmlns:a16="http://schemas.microsoft.com/office/drawing/2014/main" val="61819001"/>
                    </a:ext>
                  </a:extLst>
                </a:gridCol>
                <a:gridCol w="1206135">
                  <a:extLst>
                    <a:ext uri="{9D8B030D-6E8A-4147-A177-3AD203B41FA5}">
                      <a16:colId xmlns:a16="http://schemas.microsoft.com/office/drawing/2014/main" val="2746565255"/>
                    </a:ext>
                  </a:extLst>
                </a:gridCol>
                <a:gridCol w="990111">
                  <a:extLst>
                    <a:ext uri="{9D8B030D-6E8A-4147-A177-3AD203B41FA5}">
                      <a16:colId xmlns:a16="http://schemas.microsoft.com/office/drawing/2014/main" val="1920063261"/>
                    </a:ext>
                  </a:extLst>
                </a:gridCol>
              </a:tblGrid>
              <a:tr h="187440">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6">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87440">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Layers</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Parameters</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09428">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Attention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Model</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Dense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329349">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p>
                    <a:p>
                      <a:pPr algn="ctr"/>
                      <a:r>
                        <a:rPr lang="en-US" altLang="zh-TW" sz="1000" b="0" cap="none" spc="0" dirty="0">
                          <a:ln w="0"/>
                          <a:solidFill>
                            <a:schemeClr val="tx1">
                              <a:lumMod val="50000"/>
                              <a:lumOff val="50000"/>
                            </a:schemeClr>
                          </a:solidFill>
                          <a:effectLst/>
                        </a:rPr>
                        <a:t>(Multi-head Latent)</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32k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5120</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59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21B / 236B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23008">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DSA</a:t>
                      </a:r>
                    </a:p>
                    <a:p>
                      <a:pPr algn="ctr"/>
                      <a:r>
                        <a:rPr lang="en-US" altLang="zh-TW" sz="1000" b="0" cap="none" spc="0" dirty="0">
                          <a:ln w="0"/>
                          <a:solidFill>
                            <a:schemeClr val="tx1">
                              <a:lumMod val="50000"/>
                              <a:lumOff val="50000"/>
                            </a:schemeClr>
                          </a:solidFill>
                          <a:effectLst/>
                        </a:rPr>
                        <a:t>(DeepSeek Sparse)</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58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37B</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a:t>
                      </a:r>
                      <a:r>
                        <a:rPr lang="zh-TW" altLang="en-US" sz="1200" b="0" cap="none" spc="0" dirty="0">
                          <a:ln w="0"/>
                          <a:solidFill>
                            <a:schemeClr val="tx1"/>
                          </a:solidFill>
                          <a:effectLst/>
                        </a:rPr>
                        <a:t> </a:t>
                      </a:r>
                      <a:r>
                        <a:rPr lang="en-US" altLang="zh-TW" sz="12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411370">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Hybrid MHA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(SWA, HCA,</a:t>
                      </a:r>
                      <a:r>
                        <a:rPr kumimoji="0" lang="zh-TW" altLang="en-US" sz="1000" b="0" i="0" u="none" strike="noStrike" kern="1200" cap="none" spc="0" normalizeH="0" baseline="0" noProof="0" dirty="0">
                          <a:ln w="0"/>
                          <a:solidFill>
                            <a:schemeClr val="tx1">
                              <a:lumMod val="50000"/>
                              <a:lumOff val="50000"/>
                            </a:schemeClr>
                          </a:solidFill>
                          <a:effectLst/>
                          <a:uLnTx/>
                          <a:uFillTx/>
                          <a:latin typeface="+mn-lt"/>
                          <a:ea typeface="+mn-ea"/>
                          <a:cs typeface="+mn-cs"/>
                        </a:rPr>
                        <a:t> </a:t>
                      </a: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CSA)</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DSMoE</a:t>
                      </a:r>
                      <a:r>
                        <a:rPr kumimoji="0" lang="en-US" altLang="zh-TW" sz="1200" b="0" i="0" u="none" strike="noStrike" kern="1200" cap="none" spc="0" normalizeH="0" baseline="0" noProof="0" dirty="0">
                          <a:ln w="0"/>
                          <a:solidFill>
                            <a:prstClr val="black"/>
                          </a:solidFill>
                          <a:effectLst/>
                          <a:uLnTx/>
                          <a:uFillTx/>
                          <a:latin typeface="+mn-lt"/>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 MHC</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&lt;4096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58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49B / 1.6T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AI clusters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41137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&gt;8192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13B / 284B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a:t>
                      </a:r>
                      <a:r>
                        <a:rPr lang="zh-TW" altLang="en-US" sz="1200" b="0" cap="none" spc="0" dirty="0">
                          <a:ln w="0"/>
                          <a:solidFill>
                            <a:schemeClr val="tx1"/>
                          </a:solidFill>
                          <a:effectLst/>
                        </a:rPr>
                        <a:t> </a:t>
                      </a:r>
                      <a:r>
                        <a:rPr lang="en-US" altLang="zh-TW" sz="12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pic>
        <p:nvPicPr>
          <p:cNvPr id="4" name="圖片 3">
            <a:extLst>
              <a:ext uri="{FF2B5EF4-FFF2-40B4-BE49-F238E27FC236}">
                <a16:creationId xmlns:a16="http://schemas.microsoft.com/office/drawing/2014/main" id="{84C33BD5-7652-4F84-45F0-421A7731CA56}"/>
              </a:ext>
            </a:extLst>
          </p:cNvPr>
          <p:cNvPicPr>
            <a:picLocks noChangeAspect="1"/>
          </p:cNvPicPr>
          <p:nvPr/>
        </p:nvPicPr>
        <p:blipFill>
          <a:blip r:embed="rId4"/>
          <a:stretch>
            <a:fillRect/>
          </a:stretch>
        </p:blipFill>
        <p:spPr>
          <a:xfrm>
            <a:off x="-612576" y="692696"/>
            <a:ext cx="10051736" cy="5362487"/>
          </a:xfrm>
          <a:prstGeom prst="rect">
            <a:avLst/>
          </a:prstGeom>
        </p:spPr>
      </p:pic>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966153" y="59604"/>
            <a:ext cx="4901991" cy="6781255"/>
          </a:xfrm>
          <a:prstGeom prst="rect">
            <a:avLst/>
          </a:prstGeom>
          <a:solidFill>
            <a:schemeClr val="bg1"/>
          </a:solidFill>
        </p:spPr>
      </p:pic>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7" name="文字方塊 26">
            <a:extLst>
              <a:ext uri="{FF2B5EF4-FFF2-40B4-BE49-F238E27FC236}">
                <a16:creationId xmlns:a16="http://schemas.microsoft.com/office/drawing/2014/main" id="{1518336E-A416-D90F-A9D4-59E288FC7015}"/>
              </a:ext>
            </a:extLst>
          </p:cNvPr>
          <p:cNvSpPr txBox="1"/>
          <p:nvPr/>
        </p:nvSpPr>
        <p:spPr>
          <a:xfrm>
            <a:off x="535220" y="2002310"/>
            <a:ext cx="1086557" cy="1018454"/>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HCA + CSA + SWA</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矩形: 圓角 2">
            <a:extLst>
              <a:ext uri="{FF2B5EF4-FFF2-40B4-BE49-F238E27FC236}">
                <a16:creationId xmlns:a16="http://schemas.microsoft.com/office/drawing/2014/main" id="{AB4273AF-A4C6-DD3C-DF7B-6600921A4991}"/>
              </a:ext>
            </a:extLst>
          </p:cNvPr>
          <p:cNvSpPr/>
          <p:nvPr/>
        </p:nvSpPr>
        <p:spPr>
          <a:xfrm>
            <a:off x="3352196" y="5016478"/>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Layer</a:t>
            </a:r>
          </a:p>
        </p:txBody>
      </p:sp>
      <p:sp>
        <p:nvSpPr>
          <p:cNvPr id="5" name="矩形: 圓角 4">
            <a:extLst>
              <a:ext uri="{FF2B5EF4-FFF2-40B4-BE49-F238E27FC236}">
                <a16:creationId xmlns:a16="http://schemas.microsoft.com/office/drawing/2014/main" id="{9D3946E5-6619-B00B-6F2B-318E4FFDDBFF}"/>
              </a:ext>
            </a:extLst>
          </p:cNvPr>
          <p:cNvSpPr/>
          <p:nvPr/>
        </p:nvSpPr>
        <p:spPr>
          <a:xfrm>
            <a:off x="3352478" y="1846598"/>
            <a:ext cx="1219522" cy="2795046"/>
          </a:xfrm>
          <a:prstGeom prst="roundRect">
            <a:avLst>
              <a:gd name="adj" fmla="val 10053"/>
            </a:avLst>
          </a:prstGeom>
          <a:solidFill>
            <a:schemeClr val="bg1">
              <a:lumMod val="95000"/>
              <a:alpha val="40000"/>
            </a:schemeClr>
          </a:solidFill>
          <a:ln w="1587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10" name="直線單箭頭接點 9">
            <a:extLst>
              <a:ext uri="{FF2B5EF4-FFF2-40B4-BE49-F238E27FC236}">
                <a16:creationId xmlns:a16="http://schemas.microsoft.com/office/drawing/2014/main" id="{66CD6BA5-C714-3982-95C5-9F54EB190B25}"/>
              </a:ext>
            </a:extLst>
          </p:cNvPr>
          <p:cNvCxnSpPr>
            <a:cxnSpLocks/>
            <a:stCxn id="3" idx="0"/>
            <a:endCxn id="5" idx="2"/>
          </p:cNvCxnSpPr>
          <p:nvPr/>
        </p:nvCxnSpPr>
        <p:spPr>
          <a:xfrm flipV="1">
            <a:off x="3961957" y="4641644"/>
            <a:ext cx="282" cy="374834"/>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矩形: 圓角 15">
            <a:extLst>
              <a:ext uri="{FF2B5EF4-FFF2-40B4-BE49-F238E27FC236}">
                <a16:creationId xmlns:a16="http://schemas.microsoft.com/office/drawing/2014/main" id="{03AF971C-A9FC-598A-0B06-5CF72E8CE55C}"/>
              </a:ext>
            </a:extLst>
          </p:cNvPr>
          <p:cNvSpPr/>
          <p:nvPr/>
        </p:nvSpPr>
        <p:spPr>
          <a:xfrm>
            <a:off x="3352196" y="132927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Layer</a:t>
            </a:r>
          </a:p>
        </p:txBody>
      </p:sp>
      <p:cxnSp>
        <p:nvCxnSpPr>
          <p:cNvPr id="17" name="直線單箭頭接點 16">
            <a:extLst>
              <a:ext uri="{FF2B5EF4-FFF2-40B4-BE49-F238E27FC236}">
                <a16:creationId xmlns:a16="http://schemas.microsoft.com/office/drawing/2014/main" id="{ECA6FA32-B08E-0AC6-BB60-7F13E024D8E7}"/>
              </a:ext>
            </a:extLst>
          </p:cNvPr>
          <p:cNvCxnSpPr>
            <a:cxnSpLocks/>
            <a:stCxn id="5" idx="0"/>
            <a:endCxn id="16" idx="2"/>
          </p:cNvCxnSpPr>
          <p:nvPr/>
        </p:nvCxnSpPr>
        <p:spPr>
          <a:xfrm flipH="1" flipV="1">
            <a:off x="3961957" y="1674522"/>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39FACF2C-0169-0192-DCE3-698E839EEE88}"/>
              </a:ext>
            </a:extLst>
          </p:cNvPr>
          <p:cNvSpPr/>
          <p:nvPr/>
        </p:nvSpPr>
        <p:spPr>
          <a:xfrm>
            <a:off x="4304039" y="5594981"/>
            <a:ext cx="362588" cy="283154"/>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p:txBody>
      </p:sp>
      <p:sp>
        <p:nvSpPr>
          <p:cNvPr id="40" name="矩形 39">
            <a:extLst>
              <a:ext uri="{FF2B5EF4-FFF2-40B4-BE49-F238E27FC236}">
                <a16:creationId xmlns:a16="http://schemas.microsoft.com/office/drawing/2014/main" id="{9C145AB5-B694-BD39-7472-655FD31D71DE}"/>
              </a:ext>
            </a:extLst>
          </p:cNvPr>
          <p:cNvSpPr/>
          <p:nvPr/>
        </p:nvSpPr>
        <p:spPr>
          <a:xfrm>
            <a:off x="3167532" y="5232673"/>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 name="矩形: 圓角 43">
            <a:extLst>
              <a:ext uri="{FF2B5EF4-FFF2-40B4-BE49-F238E27FC236}">
                <a16:creationId xmlns:a16="http://schemas.microsoft.com/office/drawing/2014/main" id="{229ED7FB-E018-28E8-1D53-38224D99611A}"/>
              </a:ext>
            </a:extLst>
          </p:cNvPr>
          <p:cNvSpPr/>
          <p:nvPr/>
        </p:nvSpPr>
        <p:spPr>
          <a:xfrm>
            <a:off x="4122785" y="3403940"/>
            <a:ext cx="1008112" cy="1142915"/>
          </a:xfrm>
          <a:prstGeom prst="roundRect">
            <a:avLst>
              <a:gd name="adj" fmla="val 3585"/>
            </a:avLst>
          </a:prstGeom>
          <a:solidFill>
            <a:schemeClr val="bg1">
              <a:lumMod val="85000"/>
              <a:alpha val="6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576" tIns="36576" rIns="0" bIns="0" rtlCol="0" anchor="t" anchorCtr="0"/>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Hybrid</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Attention</a:t>
            </a:r>
          </a:p>
        </p:txBody>
      </p:sp>
      <p:sp>
        <p:nvSpPr>
          <p:cNvPr id="59" name="矩形: 圓角 58">
            <a:extLst>
              <a:ext uri="{FF2B5EF4-FFF2-40B4-BE49-F238E27FC236}">
                <a16:creationId xmlns:a16="http://schemas.microsoft.com/office/drawing/2014/main" id="{D4492F42-9A48-7559-B09C-CD68BBB98673}"/>
              </a:ext>
            </a:extLst>
          </p:cNvPr>
          <p:cNvSpPr/>
          <p:nvPr/>
        </p:nvSpPr>
        <p:spPr>
          <a:xfrm>
            <a:off x="2963906" y="3396449"/>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2963907" y="3838128"/>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 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2963907" y="4279807"/>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2847778" y="283621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7" name="矩形: 圓角 66">
            <a:extLst>
              <a:ext uri="{FF2B5EF4-FFF2-40B4-BE49-F238E27FC236}">
                <a16:creationId xmlns:a16="http://schemas.microsoft.com/office/drawing/2014/main" id="{0062D4B4-5B11-01B8-0A56-9256045910D7}"/>
              </a:ext>
            </a:extLst>
          </p:cNvPr>
          <p:cNvSpPr/>
          <p:nvPr/>
        </p:nvSpPr>
        <p:spPr>
          <a:xfrm>
            <a:off x="6218896" y="2666334"/>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 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9" name="矩形: 圓角 68">
            <a:extLst>
              <a:ext uri="{FF2B5EF4-FFF2-40B4-BE49-F238E27FC236}">
                <a16:creationId xmlns:a16="http://schemas.microsoft.com/office/drawing/2014/main" id="{9FC8BB49-1875-29AD-E3DB-F0F13915E38B}"/>
              </a:ext>
            </a:extLst>
          </p:cNvPr>
          <p:cNvSpPr/>
          <p:nvPr/>
        </p:nvSpPr>
        <p:spPr>
          <a:xfrm>
            <a:off x="6210812" y="3161588"/>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a:endCxn id="15" idx="2"/>
          </p:cNvCxnSpPr>
          <p:nvPr/>
        </p:nvCxnSpPr>
        <p:spPr>
          <a:xfrm flipH="1" flipV="1">
            <a:off x="1075281"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2936582"/>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17293" y="2420888"/>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0" name="文字方塊 19">
            <a:extLst>
              <a:ext uri="{FF2B5EF4-FFF2-40B4-BE49-F238E27FC236}">
                <a16:creationId xmlns:a16="http://schemas.microsoft.com/office/drawing/2014/main" id="{F09E3AB6-8232-731F-78BF-BEB213DCDE60}"/>
              </a:ext>
            </a:extLst>
          </p:cNvPr>
          <p:cNvSpPr txBox="1"/>
          <p:nvPr/>
        </p:nvSpPr>
        <p:spPr>
          <a:xfrm>
            <a:off x="1734973" y="2468359"/>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3" name="文字方塊 22">
            <a:extLst>
              <a:ext uri="{FF2B5EF4-FFF2-40B4-BE49-F238E27FC236}">
                <a16:creationId xmlns:a16="http://schemas.microsoft.com/office/drawing/2014/main" id="{5FB36156-6910-00FA-51C9-7CE40422925C}"/>
              </a:ext>
            </a:extLst>
          </p:cNvPr>
          <p:cNvSpPr txBox="1"/>
          <p:nvPr/>
        </p:nvSpPr>
        <p:spPr>
          <a:xfrm>
            <a:off x="2133215" y="21523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5" name="文字方塊 24">
            <a:extLst>
              <a:ext uri="{FF2B5EF4-FFF2-40B4-BE49-F238E27FC236}">
                <a16:creationId xmlns:a16="http://schemas.microsoft.com/office/drawing/2014/main" id="{D9F71498-2E52-A52D-5BE5-D5F583CD369F}"/>
              </a:ext>
            </a:extLst>
          </p:cNvPr>
          <p:cNvSpPr txBox="1"/>
          <p:nvPr/>
        </p:nvSpPr>
        <p:spPr>
          <a:xfrm>
            <a:off x="4960289" y="873253"/>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矩形: 圓角 28">
            <a:extLst>
              <a:ext uri="{FF2B5EF4-FFF2-40B4-BE49-F238E27FC236}">
                <a16:creationId xmlns:a16="http://schemas.microsoft.com/office/drawing/2014/main" id="{E8C71BCF-5A28-2127-74C1-6329D70233A1}"/>
              </a:ext>
            </a:extLst>
          </p:cNvPr>
          <p:cNvSpPr/>
          <p:nvPr/>
        </p:nvSpPr>
        <p:spPr>
          <a:xfrm>
            <a:off x="1817454" y="3168693"/>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31" name="矩形: 圓角 30">
            <a:extLst>
              <a:ext uri="{FF2B5EF4-FFF2-40B4-BE49-F238E27FC236}">
                <a16:creationId xmlns:a16="http://schemas.microsoft.com/office/drawing/2014/main" id="{17447780-11DA-9D99-E75A-F3F94ED81FAE}"/>
              </a:ext>
            </a:extLst>
          </p:cNvPr>
          <p:cNvSpPr/>
          <p:nvPr/>
        </p:nvSpPr>
        <p:spPr>
          <a:xfrm>
            <a:off x="1188653" y="2431376"/>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pic>
        <p:nvPicPr>
          <p:cNvPr id="27" name="圖片 26">
            <a:extLst>
              <a:ext uri="{FF2B5EF4-FFF2-40B4-BE49-F238E27FC236}">
                <a16:creationId xmlns:a16="http://schemas.microsoft.com/office/drawing/2014/main" id="{A51DF9BD-7D31-8D66-7F4A-B7645A594777}"/>
              </a:ext>
            </a:extLst>
          </p:cNvPr>
          <p:cNvPicPr>
            <a:picLocks noChangeAspect="1"/>
          </p:cNvPicPr>
          <p:nvPr/>
        </p:nvPicPr>
        <p:blipFill>
          <a:blip r:embed="rId2"/>
          <a:stretch>
            <a:fillRect/>
          </a:stretch>
        </p:blipFill>
        <p:spPr>
          <a:xfrm>
            <a:off x="495743" y="441496"/>
            <a:ext cx="6858000" cy="4263716"/>
          </a:xfrm>
          <a:prstGeom prst="rect">
            <a:avLst/>
          </a:prstGeom>
        </p:spPr>
      </p:pic>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(Flash/Pro)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5400000">
            <a:off x="3154669" y="2527032"/>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 name="文字方塊 1">
            <a:extLst>
              <a:ext uri="{FF2B5EF4-FFF2-40B4-BE49-F238E27FC236}">
                <a16:creationId xmlns:a16="http://schemas.microsoft.com/office/drawing/2014/main" id="{626DBC5C-2A26-90CA-C557-79A504820052}"/>
              </a:ext>
            </a:extLst>
          </p:cNvPr>
          <p:cNvSpPr txBox="1"/>
          <p:nvPr/>
        </p:nvSpPr>
        <p:spPr>
          <a:xfrm>
            <a:off x="2250420" y="3284647"/>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9" name="文字方塊 8">
            <a:extLst>
              <a:ext uri="{FF2B5EF4-FFF2-40B4-BE49-F238E27FC236}">
                <a16:creationId xmlns:a16="http://schemas.microsoft.com/office/drawing/2014/main" id="{07C167B6-49FC-7213-BEAC-0093C4EBA0F8}"/>
              </a:ext>
            </a:extLst>
          </p:cNvPr>
          <p:cNvSpPr txBox="1"/>
          <p:nvPr/>
        </p:nvSpPr>
        <p:spPr>
          <a:xfrm>
            <a:off x="1187624" y="3288444"/>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2" name="直線單箭頭接點 21">
            <a:extLst>
              <a:ext uri="{FF2B5EF4-FFF2-40B4-BE49-F238E27FC236}">
                <a16:creationId xmlns:a16="http://schemas.microsoft.com/office/drawing/2014/main" id="{BFBEC447-F76A-CB0C-60B2-2CBEC782C80C}"/>
              </a:ext>
            </a:extLst>
          </p:cNvPr>
          <p:cNvCxnSpPr>
            <a:cxnSpLocks/>
            <a:stCxn id="9" idx="3"/>
            <a:endCxn id="2" idx="1"/>
          </p:cNvCxnSpPr>
          <p:nvPr/>
        </p:nvCxnSpPr>
        <p:spPr>
          <a:xfrm flipV="1">
            <a:off x="2069044" y="3662805"/>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20660</Words>
  <Application>Microsoft Office PowerPoint</Application>
  <PresentationFormat>如螢幕大小 (4:3)</PresentationFormat>
  <Paragraphs>3293</Paragraphs>
  <Slides>55</Slides>
  <Notes>44</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55</vt:i4>
      </vt:variant>
    </vt:vector>
  </HeadingPairs>
  <TitlesOfParts>
    <vt:vector size="73"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1848</cp:revision>
  <cp:lastPrinted>2024-07-30T01:44:15Z</cp:lastPrinted>
  <dcterms:created xsi:type="dcterms:W3CDTF">2019-11-08T03:01:47Z</dcterms:created>
  <dcterms:modified xsi:type="dcterms:W3CDTF">2026-08-15T07:23:09Z</dcterms:modified>
</cp:coreProperties>
</file>