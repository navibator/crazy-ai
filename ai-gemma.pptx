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0" r:id="rId9"/>
    <p:sldId id="3471" r:id="rId10"/>
    <p:sldId id="3496" r:id="rId11"/>
    <p:sldId id="3495" r:id="rId12"/>
    <p:sldId id="3477" r:id="rId13"/>
    <p:sldId id="3465" r:id="rId14"/>
    <p:sldId id="3482" r:id="rId15"/>
    <p:sldId id="3489" r:id="rId16"/>
    <p:sldId id="3503" r:id="rId17"/>
    <p:sldId id="3460" r:id="rId18"/>
    <p:sldId id="3504" r:id="rId19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75"/>
          </p14:sldIdLst>
        </p14:section>
        <p14:section name="Gemma 3" id="{91BFD2B5-A843-4933-9519-5889D1D7895D}">
          <p14:sldIdLst>
            <p14:sldId id="3470"/>
            <p14:sldId id="3471"/>
            <p14:sldId id="3496"/>
            <p14:sldId id="3495"/>
            <p14:sldId id="3477"/>
          </p14:sldIdLst>
        </p14:section>
        <p14:section name="Gemma 4" id="{5A048767-0D58-44AF-B962-12C29493294F}">
          <p14:sldIdLst>
            <p14:sldId id="3465"/>
            <p14:sldId id="3482"/>
            <p14:sldId id="3489"/>
          </p14:sldIdLst>
        </p14:section>
        <p14:section name="Conclusion" id="{69C35067-BEF2-4B7C-9B54-B6977EB05C72}">
          <p14:sldIdLst>
            <p14:sldId id="3503"/>
            <p14:sldId id="3460"/>
            <p14:sldId id="35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67944" autoAdjust="0"/>
  </p:normalViewPr>
  <p:slideViewPr>
    <p:cSldViewPr>
      <p:cViewPr>
        <p:scale>
          <a:sx n="100" d="100"/>
          <a:sy n="100" d="100"/>
        </p:scale>
        <p:origin x="1428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0699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「Data gravity」（數據引力 / 資料引力）</a:t>
            </a:r>
            <a:r>
              <a:rPr lang="zh-TW" altLang="zh-TW" dirty="0"/>
              <a:t> 是一個著名的科技與雲端運算架構術語，核心意思為：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「隨著資料的體積（規模）越來越大，它會像物理學中的質量一樣產生引力，吸引周圍的應用程式（Applications）、軟體服務與算力（Compute）向資料靠攏。」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延遲（Latency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頻寬（Bandwidth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/ Cloud Egress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雲端服務商（如 AWS、Azure）通常實施「資料移入免費，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資料移出（Egress）大幅收費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」的策略。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這加劇了引力效應，讓資料一旦落地就形同被「鎖定（Lock-in）」。</a:t>
            </a:r>
          </a:p>
          <a:p>
            <a:endParaRPr lang="zh-TW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SLM 容器（小型語言模型，如 3B 到 14B 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「輕量化、去中心化、邊緣運算（Edge）」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：通常會將模型推理引擎（如 Ollama、vLLM、Llama.cpp）與模型權重檔（如 GGUF 格式）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直接打包在同一個 Container 镜像（Image）中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：對硬體極度友善。可以用 Docker 部署在一般的 Mac mini、邊緣裝置（如 NVIDIA Jetson）、或一般內建消費級顯示卡（如 RTX 4060）的個人電腦上。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：啟動速度極快。在 AI Agent Container 架構中，SLM 容器通常被當作「微服務（Microservices）」。例如：你可以同時開 5 個不同的 Docker Container，裡面各跑一個 8B 的小模型，分別擔任客服、翻譯、程式審查等不同角色的 Agent，彼此互不干擾。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LLM 容器（大型語言模型，如 70B 到 405B 以上參數）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「高併發、極致吞吐量、企業級叢集（Cluster）」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：Container 內通常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只裝推理框架的程式碼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vLLM、TensorRT-LLM、TGI），而高達幾百 GB 的模型權重檔（Weights）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絕對不會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打包進 Image，而是透過網路掛載（如雲端儲存、NFS、或高速快取磁碟）的方式動態載入。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：極度依賴重型基礎設施。需要透過 NVIDIA Container Toolkit 將多張企業級 GPU（如 H100、A100）對應進 Container 內。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：通常部署在 Kubernetes (K8s) 叢集或大廠的雲端環境中（如 AWS, Google Cloud）。在 Agent 架構中，這類 LLM 容器通常被當作「中央大腦 API」，多個 Agent 容器會同時發送請求給這個大型 LLM 容器來索取高難度的推理結果。</a:t>
            </a:r>
          </a:p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20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</a:t>
            </a:r>
            <a:r>
              <a:rPr lang="en-US" altLang="zh-TW" sz="1200" dirty="0" err="1">
                <a:solidFill>
                  <a:prstClr val="black"/>
                </a:solidFill>
              </a:rPr>
              <a:t>eXchange</a:t>
            </a:r>
            <a:r>
              <a:rPr lang="en-US" altLang="zh-TW" sz="1200" dirty="0">
                <a:solidFill>
                  <a:prstClr val="black"/>
                </a:solidFill>
              </a:rPr>
              <a:t>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3396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Environment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(Train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Run-Time&lt;LLM + RAG + MCP&gt;)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(SLM, Edge, Algorithm, 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(Multi-Modal,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Open Weight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Parameter Efficient Fine-Tuning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(FEFT&lt;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LoRA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QLoRA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DoRA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&gt;)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Framework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(What is Model Engine 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Model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D22EBD9-E3FC-5E44-CA96-0F576D5899F6}"/>
              </a:ext>
            </a:extLst>
          </p:cNvPr>
          <p:cNvSpPr txBox="1"/>
          <p:nvPr/>
        </p:nvSpPr>
        <p:spPr>
          <a:xfrm>
            <a:off x="7380312" y="116632"/>
            <a:ext cx="1694681" cy="1531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 Unsupervised</a:t>
            </a:r>
            <a:endParaRPr lang="en-US" altLang="zh-TW" sz="1400" u="none" strike="noStrike" dirty="0">
              <a:effectLst/>
            </a:endParaRP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en-US" sz="1200" dirty="0"/>
              <a:t> </a:t>
            </a:r>
            <a:r>
              <a:rPr lang="en-US" altLang="zh-TW" sz="1200" dirty="0"/>
              <a:t>Reduction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Clustering</a:t>
            </a:r>
            <a:endParaRPr lang="en-US" altLang="zh-TW" sz="1200" u="none" strike="noStrike" dirty="0">
              <a:effectLst/>
            </a:endParaRP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Supervised</a:t>
            </a:r>
            <a:endParaRPr lang="en-US" altLang="zh-TW" sz="1400" dirty="0"/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Semi-Supervised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Self-Supervised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Reinforcement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Summary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 Environment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L-----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zh-TW" altLang="en-US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個階段的技術重點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927CD03-F351-526B-29F0-570A907DC4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8720900"/>
              </p:ext>
            </p:extLst>
          </p:nvPr>
        </p:nvGraphicFramePr>
        <p:xfrm>
          <a:off x="8244408" y="4296407"/>
          <a:ext cx="1106202" cy="1212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2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904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Real-time retrieval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77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810736"/>
              </p:ext>
            </p:extLst>
          </p:nvPr>
        </p:nvGraphicFramePr>
        <p:xfrm>
          <a:off x="4714589" y="-294919"/>
          <a:ext cx="4595539" cy="1847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9553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Run Time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Goal: Smarter AI Agent)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Processing: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Templating, RAG, Context Assembly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Routing, Parameter Tuning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(Temperature, Max Tokens, Stop Sequences)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Detection, Execution, Result Feeding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Format enforcement, type casting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3EC1ECB0-9DF6-8F71-8D98-4F1CB861B3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555590"/>
              </p:ext>
            </p:extLst>
          </p:nvPr>
        </p:nvGraphicFramePr>
        <p:xfrm>
          <a:off x="5220071" y="4998822"/>
          <a:ext cx="1818591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(Hugging Face)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B6E63704-EFDF-5CEB-7F1B-CB86BCA498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578318"/>
              </p:ext>
            </p:extLst>
          </p:nvPr>
        </p:nvGraphicFramePr>
        <p:xfrm>
          <a:off x="150687" y="1184528"/>
          <a:ext cx="1440160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6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TS/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15D59D6-D5D3-E101-CC48-7BCD24B8F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9205854"/>
              </p:ext>
            </p:extLst>
          </p:nvPr>
        </p:nvGraphicFramePr>
        <p:xfrm>
          <a:off x="2626357" y="5104238"/>
          <a:ext cx="2088232" cy="11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000" b="0" cap="none" spc="0" dirty="0">
                        <a:ln w="0"/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4" name="語音泡泡: 圓角矩形 33">
            <a:extLst>
              <a:ext uri="{FF2B5EF4-FFF2-40B4-BE49-F238E27FC236}">
                <a16:creationId xmlns:a16="http://schemas.microsoft.com/office/drawing/2014/main" id="{51BCB3F6-7956-9792-AB5F-CC4178F78330}"/>
              </a:ext>
            </a:extLst>
          </p:cNvPr>
          <p:cNvSpPr/>
          <p:nvPr/>
        </p:nvSpPr>
        <p:spPr>
          <a:xfrm>
            <a:off x="7668344" y="5232581"/>
            <a:ext cx="865417" cy="720080"/>
          </a:xfrm>
          <a:prstGeom prst="wedgeRoundRectCallout">
            <a:avLst>
              <a:gd name="adj1" fmla="val -73370"/>
              <a:gd name="adj2" fmla="val -19513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  <a:ea typeface="新細明體" panose="02020500000000000000" pitchFamily="18" charset="-120"/>
              </a:rPr>
              <a:t>Context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Protocol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4F81BD">
                  <a:lumMod val="60000"/>
                  <a:lumOff val="4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2275CF53-1D43-5A21-3A07-8A742D0F7F13}"/>
              </a:ext>
            </a:extLst>
          </p:cNvPr>
          <p:cNvSpPr txBox="1"/>
          <p:nvPr/>
        </p:nvSpPr>
        <p:spPr>
          <a:xfrm>
            <a:off x="52819" y="4376726"/>
            <a:ext cx="2999429" cy="143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Google Sans"/>
              </a:rPr>
              <a:t>Engineering Stack:</a:t>
            </a:r>
            <a:r>
              <a:rPr lang="zh-TW" altLang="zh-TW" sz="1200" b="0" u="none" strike="noStrike" dirty="0">
                <a:effectLst/>
                <a:latin typeface="Google Sans"/>
              </a:rPr>
              <a:t> Real-world implementation using orchestration frameworks and vector infrastructure.</a:t>
            </a:r>
          </a:p>
          <a:p>
            <a:pPr marL="0" marR="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Google Sans"/>
              </a:rPr>
              <a:t>Deploy Obstacles:</a:t>
            </a:r>
            <a:r>
              <a:rPr lang="zh-TW" altLang="zh-TW" sz="1200" b="0" u="none" strike="noStrike" dirty="0">
                <a:effectLst/>
                <a:latin typeface="Google Sans"/>
              </a:rPr>
              <a:t> Managing the core technical friction of compute costs, latency, and data privacy.</a:t>
            </a:r>
          </a:p>
        </p:txBody>
      </p: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5953C6CC-38E1-CDFC-F45E-FB51F5480EE6}"/>
              </a:ext>
            </a:extLst>
          </p:cNvPr>
          <p:cNvGrpSpPr/>
          <p:nvPr/>
        </p:nvGrpSpPr>
        <p:grpSpPr>
          <a:xfrm>
            <a:off x="1331640" y="2170555"/>
            <a:ext cx="5688632" cy="2410573"/>
            <a:chOff x="1331640" y="2170555"/>
            <a:chExt cx="5688632" cy="2410573"/>
          </a:xfrm>
        </p:grpSpPr>
        <p:grpSp>
          <p:nvGrpSpPr>
            <p:cNvPr id="39" name="群組 38">
              <a:extLst>
                <a:ext uri="{FF2B5EF4-FFF2-40B4-BE49-F238E27FC236}">
                  <a16:creationId xmlns:a16="http://schemas.microsoft.com/office/drawing/2014/main" id="{7F53BEE9-FD96-BE84-67E0-77554F79CC5E}"/>
                </a:ext>
              </a:extLst>
            </p:cNvPr>
            <p:cNvGrpSpPr/>
            <p:nvPr/>
          </p:nvGrpSpPr>
          <p:grpSpPr>
            <a:xfrm>
              <a:off x="3707904" y="2170555"/>
              <a:ext cx="3312368" cy="2410573"/>
              <a:chOff x="3707904" y="2170555"/>
              <a:chExt cx="3312368" cy="2410573"/>
            </a:xfrm>
          </p:grpSpPr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E0A41338-6FF6-3FD5-520C-C25BBAECA635}"/>
                  </a:ext>
                </a:extLst>
              </p:cNvPr>
              <p:cNvSpPr txBox="1"/>
              <p:nvPr/>
            </p:nvSpPr>
            <p:spPr>
              <a:xfrm>
                <a:off x="3707905" y="2867302"/>
                <a:ext cx="881419" cy="756316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  <a:alpha val="80000"/>
                </a:schemeClr>
              </a:solidFill>
              <a:ln w="2540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none" lIns="0" tIns="72000" rIns="0" bIns="36000" anchor="t" anchorCtr="1">
                <a:noAutofit/>
              </a:bodyPr>
              <a:lstStyle/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400" b="1" u="none" strike="noStrike" dirty="0">
                    <a:solidFill>
                      <a:schemeClr val="accent5">
                        <a:lumMod val="75000"/>
                      </a:schemeClr>
                    </a:solidFill>
                    <a:effectLst/>
                  </a:rPr>
                  <a:t>LLM</a:t>
                </a:r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200" dirty="0"/>
                  <a:t>Foundation </a:t>
                </a:r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200" u="none" strike="noStrike" dirty="0">
                    <a:effectLst/>
                  </a:rPr>
                  <a:t>(Reasoning)</a:t>
                </a:r>
              </a:p>
            </p:txBody>
          </p:sp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A35867F2-C1D1-B5A8-4A34-A85DFFA9F207}"/>
                  </a:ext>
                </a:extLst>
              </p:cNvPr>
              <p:cNvSpPr txBox="1"/>
              <p:nvPr/>
            </p:nvSpPr>
            <p:spPr>
              <a:xfrm>
                <a:off x="4914717" y="2867302"/>
                <a:ext cx="881419" cy="756316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  <a:alpha val="80000"/>
                </a:schemeClr>
              </a:solidFill>
              <a:ln w="2540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none" lIns="0" tIns="72000" rIns="0" bIns="36000" anchor="t" anchorCtr="1">
                <a:noAutofit/>
              </a:bodyPr>
              <a:lstStyle/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400" b="1" u="none" strike="noStrike" dirty="0">
                    <a:solidFill>
                      <a:schemeClr val="accent3">
                        <a:lumMod val="50000"/>
                      </a:schemeClr>
                    </a:solidFill>
                    <a:effectLst/>
                  </a:rPr>
                  <a:t>RAG</a:t>
                </a:r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200" dirty="0"/>
                  <a:t>Knowledge</a:t>
                </a:r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200" u="none" strike="noStrike" dirty="0">
                    <a:effectLst/>
                  </a:rPr>
                  <a:t>(Anti-hallucination)</a:t>
                </a:r>
              </a:p>
            </p:txBody>
          </p:sp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17651556-23BC-0DDD-07E7-364BC774FADB}"/>
                  </a:ext>
                </a:extLst>
              </p:cNvPr>
              <p:cNvSpPr txBox="1"/>
              <p:nvPr/>
            </p:nvSpPr>
            <p:spPr>
              <a:xfrm>
                <a:off x="6138853" y="2867302"/>
                <a:ext cx="881419" cy="756316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80000"/>
                </a:schemeClr>
              </a:solidFill>
              <a:ln w="2540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none" lIns="0" tIns="72000" rIns="0" bIns="36000" anchor="t" anchorCtr="1">
                <a:noAutofit/>
              </a:bodyPr>
              <a:lstStyle/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400" b="1" u="none" strike="noStrike" dirty="0">
                    <a:solidFill>
                      <a:schemeClr val="accent4">
                        <a:lumMod val="75000"/>
                      </a:schemeClr>
                    </a:solidFill>
                    <a:effectLst/>
                  </a:rPr>
                  <a:t>MCP</a:t>
                </a:r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200" dirty="0"/>
                  <a:t>Action </a:t>
                </a:r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200" u="none" strike="noStrike" dirty="0">
                    <a:effectLst/>
                  </a:rPr>
                  <a:t>(External tools)</a:t>
                </a:r>
              </a:p>
            </p:txBody>
          </p:sp>
          <p:cxnSp>
            <p:nvCxnSpPr>
              <p:cNvPr id="27" name="直線單箭頭接點 26">
                <a:extLst>
                  <a:ext uri="{FF2B5EF4-FFF2-40B4-BE49-F238E27FC236}">
                    <a16:creationId xmlns:a16="http://schemas.microsoft.com/office/drawing/2014/main" id="{978899A1-FBD5-7632-C399-E1601597C0CA}"/>
                  </a:ext>
                </a:extLst>
              </p:cNvPr>
              <p:cNvCxnSpPr>
                <a:cxnSpLocks/>
                <a:stCxn id="23" idx="3"/>
                <a:endCxn id="25" idx="1"/>
              </p:cNvCxnSpPr>
              <p:nvPr/>
            </p:nvCxnSpPr>
            <p:spPr>
              <a:xfrm>
                <a:off x="4589324" y="3245460"/>
                <a:ext cx="325393" cy="0"/>
              </a:xfrm>
              <a:prstGeom prst="straightConnector1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headEnd w="med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單箭頭接點 29">
                <a:extLst>
                  <a:ext uri="{FF2B5EF4-FFF2-40B4-BE49-F238E27FC236}">
                    <a16:creationId xmlns:a16="http://schemas.microsoft.com/office/drawing/2014/main" id="{D56C6C98-33E6-85B9-402F-84C3D75B4803}"/>
                  </a:ext>
                </a:extLst>
              </p:cNvPr>
              <p:cNvCxnSpPr>
                <a:cxnSpLocks/>
                <a:stCxn id="25" idx="3"/>
                <a:endCxn id="26" idx="1"/>
              </p:cNvCxnSpPr>
              <p:nvPr/>
            </p:nvCxnSpPr>
            <p:spPr>
              <a:xfrm>
                <a:off x="5796136" y="3245460"/>
                <a:ext cx="342717" cy="0"/>
              </a:xfrm>
              <a:prstGeom prst="straightConnector1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headEnd w="med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727C079F-0143-0F0C-F3B8-220CDDAD12FF}"/>
                  </a:ext>
                </a:extLst>
              </p:cNvPr>
              <p:cNvSpPr txBox="1"/>
              <p:nvPr/>
            </p:nvSpPr>
            <p:spPr>
              <a:xfrm>
                <a:off x="3707904" y="3824812"/>
                <a:ext cx="881419" cy="756316"/>
              </a:xfrm>
              <a:prstGeom prst="rect">
                <a:avLst/>
              </a:prstGeom>
              <a:solidFill>
                <a:schemeClr val="tx2">
                  <a:lumMod val="20000"/>
                  <a:lumOff val="80000"/>
                  <a:alpha val="20000"/>
                </a:schemeClr>
              </a:solidFill>
              <a:ln w="2540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none" lIns="0" tIns="72000" rIns="0" bIns="36000" anchor="t" anchorCtr="1">
                <a:noAutofit/>
              </a:bodyPr>
              <a:lstStyle/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400" b="1" u="none" strike="noStrike" dirty="0">
                    <a:solidFill>
                      <a:schemeClr val="accent5">
                        <a:lumMod val="75000"/>
                      </a:schemeClr>
                    </a:solidFill>
                    <a:effectLst/>
                  </a:rPr>
                  <a:t>AI Agent</a:t>
                </a:r>
                <a:endParaRPr lang="en-US" altLang="zh-TW" sz="1200" dirty="0"/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200" u="none" strike="noStrike" dirty="0">
                    <a:effectLst/>
                  </a:rPr>
                  <a:t>(Inference)</a:t>
                </a:r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200" dirty="0"/>
                  <a:t>(Instruction)</a:t>
                </a:r>
                <a:endParaRPr lang="en-US" altLang="zh-TW" sz="1200" u="none" strike="noStrike" dirty="0">
                  <a:effectLst/>
                </a:endParaRPr>
              </a:p>
            </p:txBody>
          </p:sp>
          <p:sp>
            <p:nvSpPr>
              <p:cNvPr id="33" name="右大括弧 32">
                <a:extLst>
                  <a:ext uri="{FF2B5EF4-FFF2-40B4-BE49-F238E27FC236}">
                    <a16:creationId xmlns:a16="http://schemas.microsoft.com/office/drawing/2014/main" id="{85617580-DE52-B14E-49D6-B4987ACE2E74}"/>
                  </a:ext>
                </a:extLst>
              </p:cNvPr>
              <p:cNvSpPr/>
              <p:nvPr/>
            </p:nvSpPr>
            <p:spPr>
              <a:xfrm rot="16200000">
                <a:off x="5215462" y="1623438"/>
                <a:ext cx="153042" cy="2149582"/>
              </a:xfrm>
              <a:prstGeom prst="righ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標題 1">
                <a:extLst>
                  <a:ext uri="{FF2B5EF4-FFF2-40B4-BE49-F238E27FC236}">
                    <a16:creationId xmlns:a16="http://schemas.microsoft.com/office/drawing/2014/main" id="{712111BD-605F-4F9A-B096-4D0A2B6211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52284" y="2170555"/>
                <a:ext cx="1479398" cy="433217"/>
              </a:xfrm>
              <a:prstGeom prst="rect">
                <a:avLst/>
              </a:prstGeom>
            </p:spPr>
            <p:txBody>
              <a:bodyPr wrap="none" lIns="91440" tIns="0" rIns="0" bIns="0" anchor="ctr" anchorCtr="1"/>
              <a:lstStyle>
                <a:lvl1pPr algn="l" defTabSz="914400" rtl="0" eaLnBrk="1" latinLnBrk="0" hangingPunct="1">
                  <a:spcBef>
                    <a:spcPct val="0"/>
                  </a:spcBef>
                  <a:buNone/>
                  <a:defRPr sz="2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en-US" altLang="zh-TW" sz="1200" dirty="0">
                    <a:latin typeface="Noto Sans HK" panose="020B0200000000000000" pitchFamily="34" charset="-120"/>
                    <a:ea typeface="Noto Sans HK" panose="020B0200000000000000" pitchFamily="34" charset="-120"/>
                    <a:cs typeface="Arial" panose="020B0604020202020204" pitchFamily="34" charset="0"/>
                  </a:rPr>
                  <a:t>Runtime</a:t>
                </a:r>
              </a:p>
              <a:p>
                <a:pPr algn="ctr"/>
                <a:r>
                  <a:rPr lang="en-US" altLang="zh-TW" sz="1000" dirty="0">
                    <a:latin typeface="Noto Sans HK" panose="020B0200000000000000" pitchFamily="34" charset="-120"/>
                    <a:ea typeface="Noto Sans HK" panose="020B0200000000000000" pitchFamily="34" charset="-120"/>
                    <a:cs typeface="Arial" panose="020B0604020202020204" pitchFamily="34" charset="0"/>
                  </a:rPr>
                  <a:t>(Goal: Smarter AI Agent)</a:t>
                </a:r>
              </a:p>
            </p:txBody>
          </p:sp>
        </p:grpSp>
        <p:grpSp>
          <p:nvGrpSpPr>
            <p:cNvPr id="38" name="群組 37">
              <a:extLst>
                <a:ext uri="{FF2B5EF4-FFF2-40B4-BE49-F238E27FC236}">
                  <a16:creationId xmlns:a16="http://schemas.microsoft.com/office/drawing/2014/main" id="{6C4189AF-8414-40CC-60A0-54BF0A6CA583}"/>
                </a:ext>
              </a:extLst>
            </p:cNvPr>
            <p:cNvGrpSpPr/>
            <p:nvPr/>
          </p:nvGrpSpPr>
          <p:grpSpPr>
            <a:xfrm>
              <a:off x="1331640" y="2203695"/>
              <a:ext cx="1219522" cy="1756213"/>
              <a:chOff x="1331640" y="2203695"/>
              <a:chExt cx="1219522" cy="1756213"/>
            </a:xfrm>
          </p:grpSpPr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FC3EE967-B2E4-1D42-F11F-68E5F269497C}"/>
                  </a:ext>
                </a:extLst>
              </p:cNvPr>
              <p:cNvSpPr txBox="1"/>
              <p:nvPr/>
            </p:nvSpPr>
            <p:spPr>
              <a:xfrm>
                <a:off x="1331640" y="2867302"/>
                <a:ext cx="1219522" cy="109260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2540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none" lIns="0" tIns="72000" rIns="0" bIns="36000" anchor="ctr" anchorCtr="1">
                <a:noAutofit/>
              </a:bodyPr>
              <a:lstStyle/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400" b="1" u="none" strike="noStrike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  <a:effectLst/>
                  </a:rPr>
                  <a:t>Pre-Training</a:t>
                </a:r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400" b="1" u="none" strike="noStrike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  <a:effectLst/>
                  </a:rPr>
                  <a:t>&amp; SFT</a:t>
                </a:r>
              </a:p>
            </p:txBody>
          </p:sp>
          <p:sp>
            <p:nvSpPr>
              <p:cNvPr id="36" name="標題 1">
                <a:extLst>
                  <a:ext uri="{FF2B5EF4-FFF2-40B4-BE49-F238E27FC236}">
                    <a16:creationId xmlns:a16="http://schemas.microsoft.com/office/drawing/2014/main" id="{975BBE30-A6EE-B2AC-1910-5B401203FF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399" y="2203695"/>
                <a:ext cx="1100369" cy="433217"/>
              </a:xfrm>
              <a:prstGeom prst="rect">
                <a:avLst/>
              </a:prstGeom>
            </p:spPr>
            <p:txBody>
              <a:bodyPr wrap="none" lIns="0" tIns="0" rIns="0" bIns="0" anchor="ctr" anchorCtr="1"/>
              <a:lstStyle>
                <a:lvl1pPr algn="l" defTabSz="914400" rtl="0" eaLnBrk="1" latinLnBrk="0" hangingPunct="1">
                  <a:spcBef>
                    <a:spcPct val="0"/>
                  </a:spcBef>
                  <a:buNone/>
                  <a:defRPr sz="2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en-US" altLang="zh-TW" sz="12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Noto Sans HK" panose="020B0200000000000000" pitchFamily="34" charset="-120"/>
                    <a:ea typeface="Noto Sans HK" panose="020B0200000000000000" pitchFamily="34" charset="-120"/>
                    <a:cs typeface="Arial" panose="020B0604020202020204" pitchFamily="34" charset="0"/>
                  </a:rPr>
                  <a:t>Training Stage </a:t>
                </a:r>
              </a:p>
              <a:p>
                <a:pPr algn="ctr"/>
                <a:r>
                  <a:rPr lang="en-US" altLang="zh-TW" sz="10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Noto Sans HK" panose="020B0200000000000000" pitchFamily="34" charset="-120"/>
                    <a:ea typeface="Noto Sans HK" panose="020B0200000000000000" pitchFamily="34" charset="-120"/>
                    <a:cs typeface="Arial" panose="020B0604020202020204" pitchFamily="34" charset="0"/>
                  </a:rPr>
                  <a:t>(Goal: Alignment)</a:t>
                </a:r>
              </a:p>
            </p:txBody>
          </p:sp>
          <p:sp>
            <p:nvSpPr>
              <p:cNvPr id="37" name="右大括弧 36">
                <a:extLst>
                  <a:ext uri="{FF2B5EF4-FFF2-40B4-BE49-F238E27FC236}">
                    <a16:creationId xmlns:a16="http://schemas.microsoft.com/office/drawing/2014/main" id="{D20F47B1-9D0B-3FB0-F3F1-472019ABA4C9}"/>
                  </a:ext>
                </a:extLst>
              </p:cNvPr>
              <p:cNvSpPr/>
              <p:nvPr/>
            </p:nvSpPr>
            <p:spPr>
              <a:xfrm rot="16200000">
                <a:off x="1855526" y="2139505"/>
                <a:ext cx="153043" cy="1100372"/>
              </a:xfrm>
              <a:prstGeom prst="righ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C568CF16-4A37-5624-67CF-A6CC452A3223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“What is the 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temperature today?”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“It’s a mild 20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°C today.”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429309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[20]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429309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RAG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Naive RAG</a:t>
            </a:r>
            <a:r>
              <a:rPr lang="en-US" altLang="zh-TW" sz="1600" b="0" u="none" strike="noStrike" dirty="0">
                <a:effectLst/>
              </a:rPr>
              <a:t>: </a:t>
            </a:r>
            <a:r>
              <a:rPr lang="zh-TW" altLang="zh-TW" sz="1600" dirty="0"/>
              <a:t>Uses basic document chunking and vector similarity for rapid context retrieval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Advanced RAG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zh-TW" altLang="zh-TW" sz="1600" dirty="0"/>
              <a:t>Incorporates query rewriting and post-retrieval reranking to optimize fact accuracy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Graph RAG</a:t>
            </a:r>
            <a:r>
              <a:rPr lang="en-US" altLang="zh-TW" sz="1600" dirty="0"/>
              <a:t>: Pre-built knowledge graphs to enable deep reasoning and global document insights.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07E4F4-7B8F-779F-0A8F-5C94EA976056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“Is a full refund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possible?”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C7A1EB3-A3BB-190C-1D24-F68F841EBA6C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“Rule1: Not after opening”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[Rule...]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3572940" y="3621363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9222" y="320665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-Ecosystem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365181"/>
              </p:ext>
            </p:extLst>
          </p:nvPr>
        </p:nvGraphicFramePr>
        <p:xfrm>
          <a:off x="4283968" y="1124744"/>
          <a:ext cx="2255758" cy="4867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6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3120676184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18100739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50952796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4138318693"/>
                    </a:ext>
                  </a:extLst>
                </a:gridCol>
              </a:tblGrid>
              <a:tr h="69894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Application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End User Experience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 / API Gateway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12875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Pretraining, FT, Inference, ...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2275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877055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 / DB / OS /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Docker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  <a:tr h="55040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 / TPU / NPU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623425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92D1482-83E4-1510-CBFB-7BEDF0A247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173168"/>
              </p:ext>
            </p:extLst>
          </p:nvPr>
        </p:nvGraphicFramePr>
        <p:xfrm>
          <a:off x="7115359" y="4248512"/>
          <a:ext cx="14488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8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</a:t>
                      </a:r>
                      <a:r>
                        <a:rPr lang="zh-TW" altLang="en-US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Tools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 compose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Kubernetes (K8s)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961311" y="610091"/>
            <a:ext cx="1723897" cy="1594773"/>
          </a:xfrm>
          <a:prstGeom prst="borderCallout1">
            <a:avLst>
              <a:gd name="adj1" fmla="val 9931"/>
              <a:gd name="adj2" fmla="val 95337"/>
              <a:gd name="adj3" fmla="val 50724"/>
              <a:gd name="adj4" fmla="val 147806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B75E2A6-347A-761E-AB56-2780620EB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641694"/>
              </p:ext>
            </p:extLst>
          </p:nvPr>
        </p:nvGraphicFramePr>
        <p:xfrm>
          <a:off x="7092280" y="2746943"/>
          <a:ext cx="1471935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93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Format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ONNX: YOLO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GGUF: Llama,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SeepSeek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F91AC911-0D1C-DF7D-DA5F-71B189376E62}"/>
              </a:ext>
            </a:extLst>
          </p:cNvPr>
          <p:cNvSpPr/>
          <p:nvPr/>
        </p:nvSpPr>
        <p:spPr>
          <a:xfrm>
            <a:off x="4597470" y="2996952"/>
            <a:ext cx="1728192" cy="922876"/>
          </a:xfrm>
          <a:prstGeom prst="wedgeRoundRectCallout">
            <a:avLst>
              <a:gd name="adj1" fmla="val 37566"/>
              <a:gd name="adj2" fmla="val 75285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Engine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      </a:t>
            </a:r>
            <a:r>
              <a:rPr lang="en-US" altLang="zh-TW" dirty="0" err="1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Ollama</a:t>
            </a:r>
            <a:endParaRPr lang="en-US" altLang="zh-TW" dirty="0">
              <a:ln w="0"/>
              <a:solidFill>
                <a:schemeClr val="tx1">
                  <a:lumMod val="75000"/>
                  <a:lumOff val="25000"/>
                </a:scheme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6B8D1C9-885A-C7D6-D6F8-41B511FE9362}"/>
              </a:ext>
            </a:extLst>
          </p:cNvPr>
          <p:cNvSpPr/>
          <p:nvPr/>
        </p:nvSpPr>
        <p:spPr>
          <a:xfrm>
            <a:off x="2654776" y="4320814"/>
            <a:ext cx="864096" cy="205172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TensorFlow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PyTorch</a:t>
            </a:r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/JAX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</a:t>
            </a:r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MXNet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40D6DF-8092-DAF1-E32B-210128618EB9}"/>
              </a:ext>
            </a:extLst>
          </p:cNvPr>
          <p:cNvSpPr/>
          <p:nvPr/>
        </p:nvSpPr>
        <p:spPr>
          <a:xfrm>
            <a:off x="3148298" y="3429000"/>
            <a:ext cx="864096" cy="410149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NV CUDA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cuDNN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21" name="圖說文字: 直線 20">
            <a:extLst>
              <a:ext uri="{FF2B5EF4-FFF2-40B4-BE49-F238E27FC236}">
                <a16:creationId xmlns:a16="http://schemas.microsoft.com/office/drawing/2014/main" id="{467D3037-6025-92CE-DBAB-7435C0B86405}"/>
              </a:ext>
            </a:extLst>
          </p:cNvPr>
          <p:cNvSpPr/>
          <p:nvPr/>
        </p:nvSpPr>
        <p:spPr>
          <a:xfrm>
            <a:off x="7020272" y="4189817"/>
            <a:ext cx="1617091" cy="679343"/>
          </a:xfrm>
          <a:prstGeom prst="borderCallout1">
            <a:avLst>
              <a:gd name="adj1" fmla="val 42531"/>
              <a:gd name="adj2" fmla="val 5691"/>
              <a:gd name="adj3" fmla="val 42590"/>
              <a:gd name="adj4" fmla="val -38605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圖說文字: 直線 18">
            <a:extLst>
              <a:ext uri="{FF2B5EF4-FFF2-40B4-BE49-F238E27FC236}">
                <a16:creationId xmlns:a16="http://schemas.microsoft.com/office/drawing/2014/main" id="{6E9F0E88-06B8-549D-1043-D6DE870C893F}"/>
              </a:ext>
            </a:extLst>
          </p:cNvPr>
          <p:cNvSpPr/>
          <p:nvPr/>
        </p:nvSpPr>
        <p:spPr>
          <a:xfrm>
            <a:off x="7020272" y="2677649"/>
            <a:ext cx="1617091" cy="679343"/>
          </a:xfrm>
          <a:prstGeom prst="borderCallout1">
            <a:avLst>
              <a:gd name="adj1" fmla="val 21037"/>
              <a:gd name="adj2" fmla="val 5288"/>
              <a:gd name="adj3" fmla="val 77462"/>
              <a:gd name="adj4" fmla="val -3635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722DED-500A-A9D0-30DC-6C8AD7A0F4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6178329"/>
              </p:ext>
            </p:extLst>
          </p:nvPr>
        </p:nvGraphicFramePr>
        <p:xfrm>
          <a:off x="251520" y="4797152"/>
          <a:ext cx="1617092" cy="15072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IDE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AI-Native Code Editor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Cursor IDE (X)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Antigravity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Claude Code (Anthropic)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Windsurf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GitHub Copilot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6B66FE31-56D0-615F-C95B-C507AA169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709693"/>
              </p:ext>
            </p:extLst>
          </p:nvPr>
        </p:nvGraphicFramePr>
        <p:xfrm>
          <a:off x="7020272" y="707903"/>
          <a:ext cx="1617091" cy="14240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Orchestrator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developer framework, it connects models, manages data, and links APIs.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LangChain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AutoGen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D67C80FD-0DC2-FE55-1D7A-B8F10A940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070440"/>
              </p:ext>
            </p:extLst>
          </p:nvPr>
        </p:nvGraphicFramePr>
        <p:xfrm>
          <a:off x="356988" y="1054136"/>
          <a:ext cx="2088232" cy="20060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Agent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complete software system. It autonomously operates browsers or tools.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OpenAI Operator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Cognition Devin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Salesforce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Agentforce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Microsoft Copilot Studio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822006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0DC669C9-090D-C2F1-218E-4D83E975D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561820"/>
              </p:ext>
            </p:extLst>
          </p:nvPr>
        </p:nvGraphicFramePr>
        <p:xfrm>
          <a:off x="400020" y="3153623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02" y="3284984"/>
            <a:ext cx="434378" cy="42675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1E805634-D2E9-1604-FA38-7D6F2A6C0B07}"/>
              </a:ext>
            </a:extLst>
          </p:cNvPr>
          <p:cNvSpPr txBox="1"/>
          <p:nvPr/>
        </p:nvSpPr>
        <p:spPr>
          <a:xfrm>
            <a:off x="2866805" y="1054136"/>
            <a:ext cx="1200165" cy="633966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003DB57-1F0F-8602-1A3D-159B9B7E1FEE}"/>
              </a:ext>
            </a:extLst>
          </p:cNvPr>
          <p:cNvSpPr txBox="1"/>
          <p:nvPr/>
        </p:nvSpPr>
        <p:spPr>
          <a:xfrm>
            <a:off x="2738741" y="1145416"/>
            <a:ext cx="1610682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Open Data 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Stock, Weather ...</a:t>
            </a:r>
            <a:endParaRPr lang="en-US" altLang="zh-TW" sz="1200" u="none" strike="noStrike" dirty="0">
              <a:effectLst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02643EBF-5FF2-E72A-9330-D584FB13C6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497" y="867261"/>
            <a:ext cx="480102" cy="533446"/>
          </a:xfrm>
          <a:prstGeom prst="rect">
            <a:avLst/>
          </a:prstGeom>
          <a:effectLst>
            <a:glow rad="25400">
              <a:schemeClr val="accent2">
                <a:lumMod val="20000"/>
                <a:lumOff val="80000"/>
                <a:alpha val="2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4308689"/>
              </p:ext>
            </p:extLst>
          </p:nvPr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75A6AA55-396E-4357-7D46-8E6D0A5F803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Overview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8568952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174800"/>
              </p:ext>
            </p:extLst>
          </p:nvPr>
        </p:nvGraphicFramePr>
        <p:xfrm>
          <a:off x="351199" y="422108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CB412F-F717-D1EC-5B0B-39785D3D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154D0B0-A012-FFE2-DEEF-581261754A22}"/>
              </a:ext>
            </a:extLst>
          </p:cNvPr>
          <p:cNvSpPr/>
          <p:nvPr/>
        </p:nvSpPr>
        <p:spPr>
          <a:xfrm>
            <a:off x="5236384" y="3015780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44238F-2DC9-5FA9-584F-4533B0CABD7E}"/>
              </a:ext>
            </a:extLst>
          </p:cNvPr>
          <p:cNvSpPr/>
          <p:nvPr/>
        </p:nvSpPr>
        <p:spPr>
          <a:xfrm>
            <a:off x="5236650" y="2024726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52DF09C-7533-45DB-660C-A8780AFB42C0}"/>
              </a:ext>
            </a:extLst>
          </p:cNvPr>
          <p:cNvSpPr/>
          <p:nvPr/>
        </p:nvSpPr>
        <p:spPr>
          <a:xfrm>
            <a:off x="934674" y="5938621"/>
            <a:ext cx="1152128" cy="425944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accent1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Embedding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F717D9E-49DD-2DF8-CCAA-FAC8D83212F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Architecture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B4CF8F-ADD7-749F-F88E-30C143A060E6}"/>
              </a:ext>
            </a:extLst>
          </p:cNvPr>
          <p:cNvSpPr/>
          <p:nvPr/>
        </p:nvSpPr>
        <p:spPr>
          <a:xfrm>
            <a:off x="243254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506C56-61B8-5016-4607-0FD7296D2DCA}"/>
              </a:ext>
            </a:extLst>
          </p:cNvPr>
          <p:cNvSpPr/>
          <p:nvPr/>
        </p:nvSpPr>
        <p:spPr>
          <a:xfrm>
            <a:off x="4294261" y="5637736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C08E9BC-5B6C-7908-7A50-E33D930F12DC}"/>
              </a:ext>
            </a:extLst>
          </p:cNvPr>
          <p:cNvSpPr/>
          <p:nvPr/>
        </p:nvSpPr>
        <p:spPr>
          <a:xfrm>
            <a:off x="4932040" y="5637737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3" name="左右中括弧 32">
            <a:extLst>
              <a:ext uri="{FF2B5EF4-FFF2-40B4-BE49-F238E27FC236}">
                <a16:creationId xmlns:a16="http://schemas.microsoft.com/office/drawing/2014/main" id="{42E18961-4B5B-FC8A-9271-806682CB96B8}"/>
              </a:ext>
            </a:extLst>
          </p:cNvPr>
          <p:cNvSpPr/>
          <p:nvPr/>
        </p:nvSpPr>
        <p:spPr>
          <a:xfrm>
            <a:off x="4197966" y="563773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左右中括弧 34">
            <a:extLst>
              <a:ext uri="{FF2B5EF4-FFF2-40B4-BE49-F238E27FC236}">
                <a16:creationId xmlns:a16="http://schemas.microsoft.com/office/drawing/2014/main" id="{7DB31623-6821-547C-AA7C-B0681736BBD2}"/>
              </a:ext>
            </a:extLst>
          </p:cNvPr>
          <p:cNvSpPr/>
          <p:nvPr/>
        </p:nvSpPr>
        <p:spPr>
          <a:xfrm>
            <a:off x="4837027" y="564301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504929F-03B8-06AA-32AF-AFCF77AE7069}"/>
              </a:ext>
            </a:extLst>
          </p:cNvPr>
          <p:cNvSpPr/>
          <p:nvPr/>
        </p:nvSpPr>
        <p:spPr>
          <a:xfrm>
            <a:off x="2354191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Multimodal 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3BE6F5-3EED-E1FB-33FD-61B2D5004C98}"/>
              </a:ext>
            </a:extLst>
          </p:cNvPr>
          <p:cNvSpPr/>
          <p:nvPr/>
        </p:nvSpPr>
        <p:spPr>
          <a:xfrm>
            <a:off x="5334681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DEAEBD-C019-403B-289D-A6622F3E7FFD}"/>
              </a:ext>
            </a:extLst>
          </p:cNvPr>
          <p:cNvSpPr/>
          <p:nvPr/>
        </p:nvSpPr>
        <p:spPr>
          <a:xfrm>
            <a:off x="5910745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9856AD-0FAE-A713-FA44-C50A6566D00C}"/>
              </a:ext>
            </a:extLst>
          </p:cNvPr>
          <p:cNvSpPr/>
          <p:nvPr/>
        </p:nvSpPr>
        <p:spPr>
          <a:xfrm>
            <a:off x="6486809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6" name="右中括弧 15">
            <a:extLst>
              <a:ext uri="{FF2B5EF4-FFF2-40B4-BE49-F238E27FC236}">
                <a16:creationId xmlns:a16="http://schemas.microsoft.com/office/drawing/2014/main" id="{95E6BF77-2E61-8EC4-CBD0-EC6D36CA4F66}"/>
              </a:ext>
            </a:extLst>
          </p:cNvPr>
          <p:cNvSpPr/>
          <p:nvPr/>
        </p:nvSpPr>
        <p:spPr>
          <a:xfrm>
            <a:off x="7088362" y="2024726"/>
            <a:ext cx="85903" cy="61218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7329472-7D7F-C2B8-2D65-200565BBFC38}"/>
              </a:ext>
            </a:extLst>
          </p:cNvPr>
          <p:cNvSpPr txBox="1"/>
          <p:nvPr/>
        </p:nvSpPr>
        <p:spPr>
          <a:xfrm>
            <a:off x="7133147" y="2276753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  <p:sp>
        <p:nvSpPr>
          <p:cNvPr id="18" name="右中括弧 17">
            <a:extLst>
              <a:ext uri="{FF2B5EF4-FFF2-40B4-BE49-F238E27FC236}">
                <a16:creationId xmlns:a16="http://schemas.microsoft.com/office/drawing/2014/main" id="{7362D288-3BCB-CABC-83B0-3C13F34344AF}"/>
              </a:ext>
            </a:extLst>
          </p:cNvPr>
          <p:cNvSpPr/>
          <p:nvPr/>
        </p:nvSpPr>
        <p:spPr>
          <a:xfrm>
            <a:off x="7092280" y="3032957"/>
            <a:ext cx="81985" cy="1749902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A26E87E-7C29-6F00-FBCD-E71644C90FAD}"/>
              </a:ext>
            </a:extLst>
          </p:cNvPr>
          <p:cNvSpPr txBox="1"/>
          <p:nvPr/>
        </p:nvSpPr>
        <p:spPr>
          <a:xfrm>
            <a:off x="7133147" y="4005064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Decoder</a:t>
            </a:r>
            <a:endParaRPr lang="zh-TW" altLang="en-US" sz="12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B90CFA3-C618-D7BB-6CC6-0F59509E57D2}"/>
              </a:ext>
            </a:extLst>
          </p:cNvPr>
          <p:cNvSpPr/>
          <p:nvPr/>
        </p:nvSpPr>
        <p:spPr>
          <a:xfrm>
            <a:off x="5236384" y="3761040"/>
            <a:ext cx="1826222" cy="1021818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2F468A7-1820-9A81-4393-E17EDDD2F8CC}"/>
              </a:ext>
            </a:extLst>
          </p:cNvPr>
          <p:cNvSpPr/>
          <p:nvPr/>
        </p:nvSpPr>
        <p:spPr>
          <a:xfrm>
            <a:off x="5622713" y="3879758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Multi-Head</a:t>
            </a:r>
          </a:p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Attention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466C18A-8DBF-C0B5-D0AA-F4A8778DADD0}"/>
              </a:ext>
            </a:extLst>
          </p:cNvPr>
          <p:cNvSpPr/>
          <p:nvPr/>
        </p:nvSpPr>
        <p:spPr>
          <a:xfrm>
            <a:off x="5622713" y="4475470"/>
            <a:ext cx="1152128" cy="2496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FFN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DE3C5BA-B285-945D-3883-425368E5B507}"/>
              </a:ext>
            </a:extLst>
          </p:cNvPr>
          <p:cNvSpPr/>
          <p:nvPr/>
        </p:nvSpPr>
        <p:spPr>
          <a:xfrm>
            <a:off x="5622713" y="5398873"/>
            <a:ext cx="1152128" cy="1903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Linear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139155D-0E18-F31A-4BD0-2ACDA46C5655}"/>
              </a:ext>
            </a:extLst>
          </p:cNvPr>
          <p:cNvSpPr/>
          <p:nvPr/>
        </p:nvSpPr>
        <p:spPr>
          <a:xfrm>
            <a:off x="5619054" y="3236095"/>
            <a:ext cx="1152128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TE + 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9B0BC2E-8926-89A3-5C06-95AACD85563D}"/>
              </a:ext>
            </a:extLst>
          </p:cNvPr>
          <p:cNvSpPr/>
          <p:nvPr/>
        </p:nvSpPr>
        <p:spPr>
          <a:xfrm>
            <a:off x="5910478" y="2227983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10313E0-E91F-DA74-7004-459B37469F28}"/>
              </a:ext>
            </a:extLst>
          </p:cNvPr>
          <p:cNvSpPr/>
          <p:nvPr/>
        </p:nvSpPr>
        <p:spPr>
          <a:xfrm>
            <a:off x="533015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Sub-word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65C46A5-FA75-B980-D193-F7FFDDFB7C08}"/>
              </a:ext>
            </a:extLst>
          </p:cNvPr>
          <p:cNvSpPr/>
          <p:nvPr/>
        </p:nvSpPr>
        <p:spPr>
          <a:xfrm>
            <a:off x="591074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Visual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60727C0-C806-4AD6-A445-AA466FB2249F}"/>
              </a:ext>
            </a:extLst>
          </p:cNvPr>
          <p:cNvSpPr/>
          <p:nvPr/>
        </p:nvSpPr>
        <p:spPr>
          <a:xfrm>
            <a:off x="6486809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Audio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1728A9D2-9290-72CA-E53C-590A14723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083152"/>
            <a:ext cx="1290487" cy="64524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7DDD8DD2-093E-6E40-6CD2-B34CA8E5C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27" y="1052752"/>
            <a:ext cx="2019582" cy="72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Fine Tunning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A9EF1A9-2994-2037-52D0-3B7B603D7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94157"/>
              </p:ext>
            </p:extLst>
          </p:nvPr>
        </p:nvGraphicFramePr>
        <p:xfrm>
          <a:off x="166935" y="3429000"/>
          <a:ext cx="2866653" cy="17510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41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057241">
                  <a:extLst>
                    <a:ext uri="{9D8B030D-6E8A-4147-A177-3AD203B41FA5}">
                      <a16:colId xmlns:a16="http://schemas.microsoft.com/office/drawing/2014/main" val="2539720991"/>
                    </a:ext>
                  </a:extLst>
                </a:gridCol>
              </a:tblGrid>
              <a:tr h="196486">
                <a:tc gridSpan="2"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 Adjust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648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0408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5658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041651"/>
                  </a:ext>
                </a:extLst>
              </a:tr>
              <a:tr h="26081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Prefix 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897546"/>
                  </a:ext>
                </a:extLst>
              </a:tr>
              <a:tr h="13040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Tuning,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434728"/>
                  </a:ext>
                </a:extLst>
              </a:tr>
              <a:tr h="58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Preference Alignment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ORPO,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072172"/>
                  </a:ext>
                </a:extLst>
              </a:tr>
              <a:tr h="1770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6952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218381" y="1124744"/>
            <a:ext cx="85689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AI Model Format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 Framework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Clarify some terminology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183658"/>
              </p:ext>
            </p:extLst>
          </p:nvPr>
        </p:nvGraphicFramePr>
        <p:xfrm>
          <a:off x="351199" y="2708920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弧形 3">
            <a:extLst>
              <a:ext uri="{FF2B5EF4-FFF2-40B4-BE49-F238E27FC236}">
                <a16:creationId xmlns:a16="http://schemas.microsoft.com/office/drawing/2014/main" id="{93287DC2-DA04-D695-F422-FDB7BB72DE67}"/>
              </a:ext>
            </a:extLst>
          </p:cNvPr>
          <p:cNvSpPr/>
          <p:nvPr/>
        </p:nvSpPr>
        <p:spPr>
          <a:xfrm>
            <a:off x="1050655" y="2869831"/>
            <a:ext cx="2055103" cy="2096591"/>
          </a:xfrm>
          <a:prstGeom prst="arc">
            <a:avLst>
              <a:gd name="adj1" fmla="val 16400852"/>
              <a:gd name="adj2" fmla="val 12348078"/>
            </a:avLst>
          </a:prstGeom>
          <a:solidFill>
            <a:schemeClr val="accent1">
              <a:lumMod val="20000"/>
              <a:lumOff val="80000"/>
              <a:alpha val="40000"/>
            </a:schemeClr>
          </a:solidFill>
          <a:ln w="25400">
            <a:solidFill>
              <a:schemeClr val="accent1">
                <a:lumMod val="40000"/>
                <a:lumOff val="60000"/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lIns="1097280" tIns="0" rIns="0" bIns="91440" rtlCol="0" anchor="b" anchorCtr="1"/>
          <a:lstStyle/>
          <a:p>
            <a:pPr algn="ctr"/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雲朵形 23">
            <a:extLst>
              <a:ext uri="{FF2B5EF4-FFF2-40B4-BE49-F238E27FC236}">
                <a16:creationId xmlns:a16="http://schemas.microsoft.com/office/drawing/2014/main" id="{A2450BE4-C96A-0E60-C30C-CAC65E95D7BE}"/>
              </a:ext>
            </a:extLst>
          </p:cNvPr>
          <p:cNvSpPr/>
          <p:nvPr/>
        </p:nvSpPr>
        <p:spPr>
          <a:xfrm>
            <a:off x="873775" y="2755997"/>
            <a:ext cx="1400005" cy="8185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2D1C961-4E28-F296-9539-2C5F5E7AC30E}"/>
              </a:ext>
            </a:extLst>
          </p:cNvPr>
          <p:cNvSpPr txBox="1"/>
          <p:nvPr/>
        </p:nvSpPr>
        <p:spPr>
          <a:xfrm>
            <a:off x="218381" y="1124744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Considerations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Ultra-Low Latency: </a:t>
            </a:r>
            <a:r>
              <a:rPr lang="en-US" altLang="zh-TW" sz="1600" dirty="0">
                <a:solidFill>
                  <a:prstClr val="black"/>
                </a:solidFill>
              </a:rPr>
              <a:t>Real-time decision-making.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Enhanced Data Privacy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Business security or regulations.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Data Gravity: </a:t>
            </a:r>
            <a:r>
              <a:rPr lang="en-US" altLang="zh-TW" sz="1600" dirty="0">
                <a:solidFill>
                  <a:prstClr val="black"/>
                </a:solidFill>
              </a:rPr>
              <a:t>Applications move forward to data makes lower cost. 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E3F7584-0AE7-4BD1-9075-F3E554300E9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Trends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cloud service to edge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5751DDB-B860-1672-0DF1-16AB4FF404FC}"/>
              </a:ext>
            </a:extLst>
          </p:cNvPr>
          <p:cNvSpPr txBox="1"/>
          <p:nvPr/>
        </p:nvSpPr>
        <p:spPr>
          <a:xfrm>
            <a:off x="1799741" y="429151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Edge AI</a:t>
            </a: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739BFD83-E302-63D0-BBF7-C1B75A1332F1}"/>
              </a:ext>
            </a:extLst>
          </p:cNvPr>
          <p:cNvCxnSpPr>
            <a:cxnSpLocks/>
            <a:stCxn id="36" idx="2"/>
            <a:endCxn id="8" idx="0"/>
          </p:cNvCxnSpPr>
          <p:nvPr/>
        </p:nvCxnSpPr>
        <p:spPr>
          <a:xfrm>
            <a:off x="1502483" y="3310240"/>
            <a:ext cx="809578" cy="981277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B47FD78C-1D85-5ACB-D30D-99945D9AA03E}"/>
              </a:ext>
            </a:extLst>
          </p:cNvPr>
          <p:cNvSpPr txBox="1"/>
          <p:nvPr/>
        </p:nvSpPr>
        <p:spPr>
          <a:xfrm>
            <a:off x="2815971" y="3193648"/>
            <a:ext cx="1195691" cy="548640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Client AI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Chat robots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LangGraph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Dify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381DA9F-7B36-5F29-C52E-28C317E29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14647"/>
              </p:ext>
            </p:extLst>
          </p:nvPr>
        </p:nvGraphicFramePr>
        <p:xfrm>
          <a:off x="1800606" y="4723565"/>
          <a:ext cx="2195330" cy="1291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Enterprise private server for data processing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51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PC/NB, cellphone, wearables, car could inference by offline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7F35C6A6-D95D-574A-7D2E-26A43FD04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416023"/>
              </p:ext>
            </p:extLst>
          </p:nvPr>
        </p:nvGraphicFramePr>
        <p:xfrm>
          <a:off x="690419" y="3568034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AWS/MS Azure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B296D-38F2-A2B6-139A-924E0DFA5FDB}"/>
              </a:ext>
            </a:extLst>
          </p:cNvPr>
          <p:cNvSpPr txBox="1"/>
          <p:nvPr/>
        </p:nvSpPr>
        <p:spPr>
          <a:xfrm>
            <a:off x="990163" y="2940908"/>
            <a:ext cx="1024639" cy="369332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AI</a:t>
            </a:r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016880E8-FD26-EA78-5E86-F0A6F20802E7}"/>
              </a:ext>
            </a:extLst>
          </p:cNvPr>
          <p:cNvGrpSpPr/>
          <p:nvPr/>
        </p:nvGrpSpPr>
        <p:grpSpPr>
          <a:xfrm>
            <a:off x="4427984" y="4288274"/>
            <a:ext cx="4104456" cy="1397427"/>
            <a:chOff x="4427984" y="5174286"/>
            <a:chExt cx="4104456" cy="1397427"/>
          </a:xfrm>
        </p:grpSpPr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A5F76A86-5F43-1EBC-56D3-3CA8E8450047}"/>
                </a:ext>
              </a:extLst>
            </p:cNvPr>
            <p:cNvSpPr txBox="1"/>
            <p:nvPr/>
          </p:nvSpPr>
          <p:spPr>
            <a:xfrm>
              <a:off x="4427984" y="5174286"/>
              <a:ext cx="1188092" cy="756316"/>
            </a:xfrm>
            <a:prstGeom prst="rect">
              <a:avLst/>
            </a:prstGeom>
            <a:solidFill>
              <a:schemeClr val="tx2">
                <a:lumMod val="20000"/>
                <a:lumOff val="8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5">
                      <a:lumMod val="75000"/>
                    </a:schemeClr>
                  </a:solidFill>
                  <a:effectLst/>
                </a:rPr>
                <a:t>LLM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Foundation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(Reasoning)</a:t>
              </a: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549B6BB7-EEAE-D29A-5D19-C4E1927BF87E}"/>
                </a:ext>
              </a:extLst>
            </p:cNvPr>
            <p:cNvSpPr txBox="1"/>
            <p:nvPr/>
          </p:nvSpPr>
          <p:spPr>
            <a:xfrm>
              <a:off x="5878106" y="5174286"/>
              <a:ext cx="1188092" cy="756316"/>
            </a:xfrm>
            <a:prstGeom prst="rect">
              <a:avLst/>
            </a:prstGeom>
            <a:solidFill>
              <a:schemeClr val="accent3">
                <a:lumMod val="60000"/>
                <a:lumOff val="4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3">
                      <a:lumMod val="50000"/>
                    </a:schemeClr>
                  </a:solidFill>
                  <a:effectLst/>
                </a:rPr>
                <a:t>RAG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Knowledge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(Anti-hallucination)</a:t>
              </a: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B44283F5-0EAA-1282-E70B-A5A5BD30B2BB}"/>
                </a:ext>
              </a:extLst>
            </p:cNvPr>
            <p:cNvSpPr txBox="1"/>
            <p:nvPr/>
          </p:nvSpPr>
          <p:spPr>
            <a:xfrm>
              <a:off x="7344348" y="5174286"/>
              <a:ext cx="1188092" cy="756316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4">
                      <a:lumMod val="75000"/>
                    </a:schemeClr>
                  </a:solidFill>
                  <a:effectLst/>
                </a:rPr>
                <a:t>MCP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Action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(External tools)</a:t>
              </a:r>
            </a:p>
          </p:txBody>
        </p:sp>
        <p:cxnSp>
          <p:nvCxnSpPr>
            <p:cNvPr id="37" name="直線單箭頭接點 36">
              <a:extLst>
                <a:ext uri="{FF2B5EF4-FFF2-40B4-BE49-F238E27FC236}">
                  <a16:creationId xmlns:a16="http://schemas.microsoft.com/office/drawing/2014/main" id="{0D1F6744-9ED5-9649-0B12-25E6334C3F53}"/>
                </a:ext>
              </a:extLst>
            </p:cNvPr>
            <p:cNvCxnSpPr>
              <a:cxnSpLocks/>
              <a:stCxn id="28" idx="3"/>
              <a:endCxn id="33" idx="1"/>
            </p:cNvCxnSpPr>
            <p:nvPr/>
          </p:nvCxnSpPr>
          <p:spPr>
            <a:xfrm>
              <a:off x="5616076" y="5552444"/>
              <a:ext cx="26203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20588D8B-8517-475C-227C-2B8DF7A4026D}"/>
                </a:ext>
              </a:extLst>
            </p:cNvPr>
            <p:cNvCxnSpPr>
              <a:cxnSpLocks/>
              <a:stCxn id="33" idx="3"/>
              <a:endCxn id="35" idx="1"/>
            </p:cNvCxnSpPr>
            <p:nvPr/>
          </p:nvCxnSpPr>
          <p:spPr>
            <a:xfrm>
              <a:off x="7066198" y="5552444"/>
              <a:ext cx="27815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標題 1">
              <a:extLst>
                <a:ext uri="{FF2B5EF4-FFF2-40B4-BE49-F238E27FC236}">
                  <a16:creationId xmlns:a16="http://schemas.microsoft.com/office/drawing/2014/main" id="{B019CEDD-FF6F-48AF-98DA-0C6C30CB0755}"/>
                </a:ext>
              </a:extLst>
            </p:cNvPr>
            <p:cNvSpPr txBox="1">
              <a:spLocks/>
            </p:cNvSpPr>
            <p:nvPr/>
          </p:nvSpPr>
          <p:spPr>
            <a:xfrm>
              <a:off x="4427984" y="6045806"/>
              <a:ext cx="3168352" cy="525907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The 3-Layer Architecture for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Building Smarter, More Reliable AI Agents.</a:t>
              </a:r>
              <a:endPara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endParaRPr>
            </a:p>
          </p:txBody>
        </p:sp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458F7AA-EE06-5C6B-B354-A8D2D27F265E}"/>
              </a:ext>
            </a:extLst>
          </p:cNvPr>
          <p:cNvSpPr txBox="1"/>
          <p:nvPr/>
        </p:nvSpPr>
        <p:spPr>
          <a:xfrm>
            <a:off x="4676026" y="2692506"/>
            <a:ext cx="377755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ML Operations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Automates and standardizes the lifecycle of ML models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Core Components of the Lifecycle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Data Management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Training &amp; Experimentation: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CI/CD: 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Continuous Integration/ Delivery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Monitoring &amp; Governance: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67D60A5-922D-DF00-5312-41C8696E12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4828354"/>
              </p:ext>
            </p:extLst>
          </p:nvPr>
        </p:nvGraphicFramePr>
        <p:xfrm>
          <a:off x="6350217" y="348509"/>
          <a:ext cx="2380806" cy="2252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40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190403">
                  <a:extLst>
                    <a:ext uri="{9D8B030D-6E8A-4147-A177-3AD203B41FA5}">
                      <a16:colId xmlns:a16="http://schemas.microsoft.com/office/drawing/2014/main" val="88639405"/>
                    </a:ext>
                  </a:extLst>
                </a:gridCol>
              </a:tblGrid>
              <a:tr h="4071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Service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(70~400B)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(3~14B)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Local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Business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GPU/TPU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56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24GB VRAM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RTX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3510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1A7D37EB-7260-5EE5-CFCC-9F3D3BBA2B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Overview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FAA0BB-7779-DF55-C2B5-6A404772F154}"/>
              </a:ext>
            </a:extLst>
          </p:cNvPr>
          <p:cNvSpPr txBox="1"/>
          <p:nvPr/>
        </p:nvSpPr>
        <p:spPr>
          <a:xfrm>
            <a:off x="7380312" y="116632"/>
            <a:ext cx="1694681" cy="117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Alignment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Cloud vs Edge</a:t>
            </a:r>
            <a:endParaRPr lang="en-US" altLang="zh-TW" sz="14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BD65641-EFAA-0505-2571-9011F9849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2638385"/>
              </p:ext>
            </p:extLst>
          </p:nvPr>
        </p:nvGraphicFramePr>
        <p:xfrm>
          <a:off x="7240645" y="1764457"/>
          <a:ext cx="130484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Microsoft Phi-3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Gemma 4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 3 (8B)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(7B)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315238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327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2829812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6719590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899592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0F530714-EF5B-2630-007A-ABFDBA3A4E70}"/>
              </a:ext>
            </a:extLst>
          </p:cNvPr>
          <p:cNvGrpSpPr/>
          <p:nvPr/>
        </p:nvGrpSpPr>
        <p:grpSpPr>
          <a:xfrm>
            <a:off x="4536583" y="1202493"/>
            <a:ext cx="1310140" cy="4405650"/>
            <a:chOff x="3849298" y="1201393"/>
            <a:chExt cx="1310140" cy="4405650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8B6B9FF-7B9F-2491-3FC2-CF8C7AD3DBC1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-</a:t>
              </a:r>
              <a:endParaRPr lang="zh-TW" altLang="en-US" dirty="0"/>
            </a:p>
          </p:txBody>
        </p:sp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D054E660-EF42-CBD8-2FA6-2E3298DC2C2D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E0AFB556-52A6-E2AB-18CD-3ADA72D0E04B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5113E01A-30B8-BA91-6D84-593ABFD3736D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6AA99DBC-4A93-596D-730B-1CC8507C53A0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75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247504F2-BFF7-EA0D-04C9-B86B5B3A52E0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2226900-3C29-08A8-EAD2-7664F85C95AE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接點: 肘形 18">
                <a:extLst>
                  <a:ext uri="{FF2B5EF4-FFF2-40B4-BE49-F238E27FC236}">
                    <a16:creationId xmlns:a16="http://schemas.microsoft.com/office/drawing/2014/main" id="{777694FA-BA48-0FF7-8034-2CD9926E19F6}"/>
                  </a:ext>
                </a:extLst>
              </p:cNvPr>
              <p:cNvCxnSpPr>
                <a:cxnSpLocks/>
                <a:stCxn id="13" idx="2"/>
                <a:endCxn id="18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>
                <a:extLst>
                  <a:ext uri="{FF2B5EF4-FFF2-40B4-BE49-F238E27FC236}">
                    <a16:creationId xmlns:a16="http://schemas.microsoft.com/office/drawing/2014/main" id="{7B6BA61C-9084-7884-5020-CEFFC7798120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單箭頭接點 20">
                <a:extLst>
                  <a:ext uri="{FF2B5EF4-FFF2-40B4-BE49-F238E27FC236}">
                    <a16:creationId xmlns:a16="http://schemas.microsoft.com/office/drawing/2014/main" id="{01FBAED6-2D73-EBDC-830A-9878D0105A6B}"/>
                  </a:ext>
                </a:extLst>
              </p:cNvPr>
              <p:cNvCxnSpPr>
                <a:cxnSpLocks/>
                <a:stCxn id="18" idx="0"/>
                <a:endCxn id="12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: 圓角 21">
                <a:extLst>
                  <a:ext uri="{FF2B5EF4-FFF2-40B4-BE49-F238E27FC236}">
                    <a16:creationId xmlns:a16="http://schemas.microsoft.com/office/drawing/2014/main" id="{CB537D79-E32D-F0DE-65D0-E7A6483C7552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3" name="矩形: 圓角 22">
                <a:extLst>
                  <a:ext uri="{FF2B5EF4-FFF2-40B4-BE49-F238E27FC236}">
                    <a16:creationId xmlns:a16="http://schemas.microsoft.com/office/drawing/2014/main" id="{0D7E242E-1815-7182-58FA-019B7787C553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0DD3497E-0FD2-388D-087A-F837807E9DBD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D807B372-9E93-7CCA-D200-CCCF76E64231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AD46D94-09CD-F9AA-F2B7-BEACFE4A0E73}"/>
              </a:ext>
            </a:extLst>
          </p:cNvPr>
          <p:cNvSpPr/>
          <p:nvPr/>
        </p:nvSpPr>
        <p:spPr>
          <a:xfrm>
            <a:off x="5724128" y="4027493"/>
            <a:ext cx="547318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 err="1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CB7A355-21C0-3E1F-35BD-27A7F03ADA4C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7A70D1FA-9A45-DEEF-A1FB-75E8F1210807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C1846BB8-47A0-5E9B-C645-70DD2BBC568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How to evaluate the performance of a model?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78689" y="1268760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CBCC476-64C9-2C91-8842-93864C2E3BD1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 err="1">
                <a:solidFill>
                  <a:prstClr val="black"/>
                </a:solidFill>
              </a:rPr>
              <a:t>Ollama</a:t>
            </a:r>
            <a:r>
              <a:rPr lang="en-US" altLang="zh-TW" sz="1600" dirty="0">
                <a:solidFill>
                  <a:prstClr val="black"/>
                </a:solidFill>
              </a:rPr>
              <a:t>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</a:t>
            </a:r>
            <a:r>
              <a:rPr lang="en-US" altLang="zh-TW" sz="1400" dirty="0" err="1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Ollama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E398316F-479D-A20F-C893-5346923EDC18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428</TotalTime>
  <Words>7025</Words>
  <Application>Microsoft Office PowerPoint</Application>
  <PresentationFormat>如螢幕大小 (4:3)</PresentationFormat>
  <Paragraphs>878</Paragraphs>
  <Slides>18</Slides>
  <Notes>17</Notes>
  <HiddenSlides>1</HiddenSlides>
  <MMClips>0</MMClips>
  <ScaleCrop>false</ScaleCrop>
  <HeadingPairs>
    <vt:vector size="6" baseType="variant">
      <vt:variant>
        <vt:lpstr>使用字型</vt:lpstr>
      </vt:variant>
      <vt:variant>
        <vt:i4>11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30" baseType="lpstr">
      <vt:lpstr>Google Sans</vt:lpstr>
      <vt:lpstr>Meiryo</vt:lpstr>
      <vt:lpstr>Noto Sans HK</vt:lpstr>
      <vt:lpstr>Noto Sans TC</vt:lpstr>
      <vt:lpstr>微軟正黑體</vt:lpstr>
      <vt:lpstr>ADLaM Display</vt:lpstr>
      <vt:lpstr>Arial</vt:lpstr>
      <vt:lpstr>Calibri</vt:lpstr>
      <vt:lpstr>Comic Sans MS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1636</cp:revision>
  <cp:lastPrinted>2024-07-30T01:44:15Z</cp:lastPrinted>
  <dcterms:created xsi:type="dcterms:W3CDTF">2019-11-08T03:01:47Z</dcterms:created>
  <dcterms:modified xsi:type="dcterms:W3CDTF">2026-07-03T09:41:14Z</dcterms:modified>
</cp:coreProperties>
</file>