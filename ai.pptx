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079EF"/>
    <a:srgbClr val="2260DC"/>
    <a:srgbClr val="FF9900"/>
    <a:srgbClr val="B8EACA"/>
    <a:srgbClr val="FF0000"/>
    <a:srgbClr val="FEC203"/>
    <a:srgbClr val="F8D462"/>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252" y="73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Lower Parameter, Lower Computing Requirement.</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2988557815"/>
              </p:ext>
            </p:extLst>
          </p:nvPr>
        </p:nvGraphicFramePr>
        <p:xfrm>
          <a:off x="5794558" y="5101251"/>
          <a:ext cx="2377842" cy="992045"/>
        </p:xfrm>
        <a:graphic>
          <a:graphicData uri="http://schemas.openxmlformats.org/drawingml/2006/table">
            <a:tbl>
              <a:tblPr firstRow="1" bandRow="1">
                <a:tableStyleId>{5C22544A-7EE6-4342-B048-85BDC9FD1C3A}</a:tableStyleId>
              </a:tblPr>
              <a:tblGrid>
                <a:gridCol w="2377842">
                  <a:extLst>
                    <a:ext uri="{9D8B030D-6E8A-4147-A177-3AD203B41FA5}">
                      <a16:colId xmlns:a16="http://schemas.microsoft.com/office/drawing/2014/main" val="4512040"/>
                    </a:ext>
                  </a:extLst>
                </a:gridCol>
              </a:tblGrid>
              <a:tr h="2605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in HW (NPU)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646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Alchip, Kneron, Neuchip,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3646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HiSillicon, Cambricon,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953429" y="1412776"/>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2390788741"/>
              </p:ext>
            </p:extLst>
          </p:nvPr>
        </p:nvGraphicFramePr>
        <p:xfrm>
          <a:off x="5794558" y="1268760"/>
          <a:ext cx="2377842" cy="1440158"/>
        </p:xfrm>
        <a:graphic>
          <a:graphicData uri="http://schemas.openxmlformats.org/drawingml/2006/table">
            <a:tbl>
              <a:tblPr firstRow="1" bandRow="1">
                <a:tableStyleId>{5C22544A-7EE6-4342-B048-85BDC9FD1C3A}</a:tableStyleId>
              </a:tblPr>
              <a:tblGrid>
                <a:gridCol w="2377842">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4331556"/>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636808352"/>
              </p:ext>
            </p:extLst>
          </p:nvPr>
        </p:nvGraphicFramePr>
        <p:xfrm>
          <a:off x="5794558" y="2945519"/>
          <a:ext cx="2377842" cy="1851633"/>
        </p:xfrm>
        <a:graphic>
          <a:graphicData uri="http://schemas.openxmlformats.org/drawingml/2006/table">
            <a:tbl>
              <a:tblPr firstRow="1" bandRow="1">
                <a:tableStyleId>{5C22544A-7EE6-4342-B048-85BDC9FD1C3A}</a:tableStyleId>
              </a:tblPr>
              <a:tblGrid>
                <a:gridCol w="2377842">
                  <a:extLst>
                    <a:ext uri="{9D8B030D-6E8A-4147-A177-3AD203B41FA5}">
                      <a16:colId xmlns:a16="http://schemas.microsoft.com/office/drawing/2014/main" val="4512040"/>
                    </a:ext>
                  </a:extLst>
                </a:gridCol>
              </a:tblGrid>
              <a:tr h="41147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PEFT, Agent Inference (Intention)</a:t>
                      </a:r>
                      <a:endParaRPr kumimoji="0" lang="en-US" altLang="zh-TW" sz="1000" b="1" i="0" u="none" strike="noStrike" kern="1200" cap="none" spc="0" normalizeH="0" baseline="0" noProof="0" dirty="0">
                        <a:ln w="0"/>
                        <a:solidFill>
                          <a:schemeClr val="tx2"/>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GeForce,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tx2"/>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tx2"/>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tx2"/>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tx2"/>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cxnSp>
        <p:nvCxnSpPr>
          <p:cNvPr id="13" name="直線單箭頭接點 12">
            <a:extLst>
              <a:ext uri="{FF2B5EF4-FFF2-40B4-BE49-F238E27FC236}">
                <a16:creationId xmlns:a16="http://schemas.microsoft.com/office/drawing/2014/main" id="{556D14DB-8003-93B0-D26D-472ACFA463E7}"/>
              </a:ext>
            </a:extLst>
          </p:cNvPr>
          <p:cNvCxnSpPr>
            <a:cxnSpLocks/>
            <a:stCxn id="9" idx="2"/>
            <a:endCxn id="12" idx="0"/>
          </p:cNvCxnSpPr>
          <p:nvPr/>
        </p:nvCxnSpPr>
        <p:spPr>
          <a:xfrm>
            <a:off x="6983479" y="2708918"/>
            <a:ext cx="0" cy="236601"/>
          </a:xfrm>
          <a:prstGeom prst="straightConnector1">
            <a:avLst/>
          </a:prstGeom>
          <a:ln w="25400">
            <a:solidFill>
              <a:srgbClr val="FF9900"/>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66" name="直線單箭頭接點 65">
            <a:extLst>
              <a:ext uri="{FF2B5EF4-FFF2-40B4-BE49-F238E27FC236}">
                <a16:creationId xmlns:a16="http://schemas.microsoft.com/office/drawing/2014/main" id="{A9337095-C4D3-2743-D396-1AB311C20850}"/>
              </a:ext>
            </a:extLst>
          </p:cNvPr>
          <p:cNvCxnSpPr>
            <a:cxnSpLocks/>
            <a:stCxn id="12" idx="2"/>
            <a:endCxn id="15" idx="0"/>
          </p:cNvCxnSpPr>
          <p:nvPr/>
        </p:nvCxnSpPr>
        <p:spPr>
          <a:xfrm>
            <a:off x="6983479" y="4797152"/>
            <a:ext cx="0" cy="304099"/>
          </a:xfrm>
          <a:prstGeom prst="straightConnector1">
            <a:avLst/>
          </a:prstGeom>
          <a:ln w="25400">
            <a:solidFill>
              <a:srgbClr val="FF9900"/>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3321527409"/>
              </p:ext>
            </p:extLst>
          </p:nvPr>
        </p:nvGraphicFramePr>
        <p:xfrm>
          <a:off x="2633171" y="2636912"/>
          <a:ext cx="2507928" cy="1134149"/>
        </p:xfrm>
        <a:graphic>
          <a:graphicData uri="http://schemas.openxmlformats.org/drawingml/2006/table">
            <a:tbl>
              <a:tblPr firstRow="1" bandRow="1">
                <a:tableStyleId>{5C22544A-7EE6-4342-B048-85BDC9FD1C3A}</a:tableStyleId>
              </a:tblPr>
              <a:tblGrid>
                <a:gridCol w="626982">
                  <a:extLst>
                    <a:ext uri="{9D8B030D-6E8A-4147-A177-3AD203B41FA5}">
                      <a16:colId xmlns:a16="http://schemas.microsoft.com/office/drawing/2014/main" val="4512040"/>
                    </a:ext>
                  </a:extLst>
                </a:gridCol>
                <a:gridCol w="626982">
                  <a:extLst>
                    <a:ext uri="{9D8B030D-6E8A-4147-A177-3AD203B41FA5}">
                      <a16:colId xmlns:a16="http://schemas.microsoft.com/office/drawing/2014/main" val="684415633"/>
                    </a:ext>
                  </a:extLst>
                </a:gridCol>
                <a:gridCol w="626982">
                  <a:extLst>
                    <a:ext uri="{9D8B030D-6E8A-4147-A177-3AD203B41FA5}">
                      <a16:colId xmlns:a16="http://schemas.microsoft.com/office/drawing/2014/main" val="2477666515"/>
                    </a:ext>
                  </a:extLst>
                </a:gridCol>
                <a:gridCol w="626982">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LLM</a:t>
                      </a:r>
                      <a:r>
                        <a:rPr lang="zh-TW" altLang="en-US" sz="1400" b="1" cap="none" spc="0" dirty="0">
                          <a:ln w="0"/>
                          <a:solidFill>
                            <a:schemeClr val="tx1"/>
                          </a:solidFill>
                          <a:effectLst/>
                        </a:rPr>
                        <a:t> </a:t>
                      </a:r>
                      <a:r>
                        <a:rPr lang="en-US" altLang="zh-TW" sz="1400" b="1" cap="none" spc="0" dirty="0">
                          <a:ln w="0"/>
                          <a:solidFill>
                            <a:schemeClr val="tx1"/>
                          </a:solidFill>
                          <a:effectLst/>
                        </a:rPr>
                        <a:t>Stack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err="1">
                          <a:ln w="0"/>
                          <a:solidFill>
                            <a:schemeClr val="tx1"/>
                          </a:solidFill>
                          <a:effectLst/>
                        </a:rPr>
                        <a:t>TorchTitan</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err="1">
                          <a:ln w="0"/>
                          <a:solidFill>
                            <a:schemeClr val="tx1"/>
                          </a:solidFill>
                          <a:effectLst/>
                        </a:rPr>
                        <a:t>DeepSpeed</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err="1">
                          <a:ln w="0"/>
                          <a:solidFill>
                            <a:schemeClr val="tx1"/>
                          </a:solidFill>
                          <a:effectLst/>
                        </a:rPr>
                        <a:t>MCore</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err="1">
                          <a:ln w="0"/>
                          <a:solidFill>
                            <a:schemeClr val="tx1"/>
                          </a:solidFill>
                          <a:effectLst/>
                        </a:rPr>
                        <a:t>MaxText</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09305361"/>
              </p:ext>
            </p:extLst>
          </p:nvPr>
        </p:nvGraphicFramePr>
        <p:xfrm>
          <a:off x="561904" y="3893039"/>
          <a:ext cx="1598614" cy="1280160"/>
        </p:xfrm>
        <a:graphic>
          <a:graphicData uri="http://schemas.openxmlformats.org/drawingml/2006/table">
            <a:tbl>
              <a:tblPr firstRow="1" bandRow="1">
                <a:tableStyleId>{5C22544A-7EE6-4342-B048-85BDC9FD1C3A}</a:tableStyleId>
              </a:tblPr>
              <a:tblGrid>
                <a:gridCol w="1598614">
                  <a:extLst>
                    <a:ext uri="{9D8B030D-6E8A-4147-A177-3AD203B41FA5}">
                      <a16:colId xmlns:a16="http://schemas.microsoft.com/office/drawing/2014/main" val="4512040"/>
                    </a:ext>
                  </a:extLst>
                </a:gridCol>
              </a:tblGrid>
              <a:tr h="2860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(Latency, KV-Cache)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14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UC Berkeley: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 SGLang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514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schemeClr val="tx1"/>
                          </a:solidFill>
                          <a:effectLst/>
                          <a:uLnTx/>
                          <a:uFillTx/>
                          <a:latin typeface="+mn-lt"/>
                          <a:ea typeface="+mn-ea"/>
                          <a:cs typeface="+mn-cs"/>
                        </a:rPr>
                        <a:t>TensorRT</a:t>
                      </a:r>
                      <a:r>
                        <a:rPr kumimoji="0" lang="en-US" altLang="zh-TW" sz="1200" b="0" i="0" u="none" strike="noStrike" kern="1200" cap="none" spc="0" normalizeH="0" baseline="0" noProof="0" dirty="0">
                          <a:ln w="0"/>
                          <a:solidFill>
                            <a:schemeClr val="tx1"/>
                          </a:solidFill>
                          <a:effectLst/>
                          <a:uLnTx/>
                          <a:uFillTx/>
                          <a:latin typeface="+mn-lt"/>
                          <a:ea typeface="+mn-ea"/>
                          <a:cs typeface="+mn-cs"/>
                        </a:rPr>
                        <a:t>-LLM (C++)</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514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MaxText (Google)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758377364"/>
                  </a:ext>
                </a:extLst>
              </a:tr>
              <a:tr h="1514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TGI (Hugging Face)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082851002"/>
                  </a:ext>
                </a:extLst>
              </a:tr>
            </a:tbl>
          </a:graphicData>
        </a:graphic>
      </p:graphicFrame>
      <p:grpSp>
        <p:nvGrpSpPr>
          <p:cNvPr id="18" name="群組 17">
            <a:extLst>
              <a:ext uri="{FF2B5EF4-FFF2-40B4-BE49-F238E27FC236}">
                <a16:creationId xmlns:a16="http://schemas.microsoft.com/office/drawing/2014/main" id="{17334F2F-8B5D-EBF9-DB20-B60E091221B2}"/>
              </a:ext>
            </a:extLst>
          </p:cNvPr>
          <p:cNvGrpSpPr/>
          <p:nvPr/>
        </p:nvGrpSpPr>
        <p:grpSpPr>
          <a:xfrm>
            <a:off x="671676" y="5276253"/>
            <a:ext cx="1236028" cy="174241"/>
            <a:chOff x="4025994" y="2562276"/>
            <a:chExt cx="1236028" cy="174241"/>
          </a:xfrm>
        </p:grpSpPr>
        <p:pic>
          <p:nvPicPr>
            <p:cNvPr id="19" name="圖片 18">
              <a:extLst>
                <a:ext uri="{FF2B5EF4-FFF2-40B4-BE49-F238E27FC236}">
                  <a16:creationId xmlns:a16="http://schemas.microsoft.com/office/drawing/2014/main" id="{0DD4377D-CE9D-F467-5985-81C328DE483B}"/>
                </a:ext>
              </a:extLst>
            </p:cNvPr>
            <p:cNvPicPr>
              <a:picLocks noChangeAspect="1"/>
            </p:cNvPicPr>
            <p:nvPr/>
          </p:nvPicPr>
          <p:blipFill>
            <a:blip r:embed="rId4"/>
            <a:stretch>
              <a:fillRect/>
            </a:stretch>
          </p:blipFill>
          <p:spPr>
            <a:xfrm>
              <a:off x="4025994" y="2566852"/>
              <a:ext cx="546006" cy="169665"/>
            </a:xfrm>
            <a:prstGeom prst="rect">
              <a:avLst/>
            </a:prstGeom>
          </p:spPr>
        </p:pic>
        <p:pic>
          <p:nvPicPr>
            <p:cNvPr id="20" name="圖片 19">
              <a:extLst>
                <a:ext uri="{FF2B5EF4-FFF2-40B4-BE49-F238E27FC236}">
                  <a16:creationId xmlns:a16="http://schemas.microsoft.com/office/drawing/2014/main" id="{2AC8F212-F957-CB48-94EC-838735B08D2C}"/>
                </a:ext>
              </a:extLst>
            </p:cNvPr>
            <p:cNvPicPr>
              <a:picLocks noChangeAspect="1"/>
            </p:cNvPicPr>
            <p:nvPr/>
          </p:nvPicPr>
          <p:blipFill>
            <a:blip r:embed="rId5"/>
            <a:stretch>
              <a:fillRect/>
            </a:stretch>
          </p:blipFill>
          <p:spPr>
            <a:xfrm>
              <a:off x="4716016" y="2562276"/>
              <a:ext cx="546006" cy="163694"/>
            </a:xfrm>
            <a:prstGeom prst="rect">
              <a:avLst/>
            </a:prstGeom>
          </p:spPr>
        </p:pic>
      </p:grpSp>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978616319"/>
              </p:ext>
            </p:extLst>
          </p:nvPr>
        </p:nvGraphicFramePr>
        <p:xfrm>
          <a:off x="561904" y="1255419"/>
          <a:ext cx="1598616" cy="2194560"/>
        </p:xfrm>
        <a:graphic>
          <a:graphicData uri="http://schemas.openxmlformats.org/drawingml/2006/table">
            <a:tbl>
              <a:tblPr firstRow="1" bandRow="1">
                <a:tableStyleId>{5C22544A-7EE6-4342-B048-85BDC9FD1C3A}</a:tableStyleId>
              </a:tblPr>
              <a:tblGrid>
                <a:gridCol w="1598616">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TTFT)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457</TotalTime>
  <Words>7686</Words>
  <Application>Microsoft Office PowerPoint</Application>
  <PresentationFormat>如螢幕大小 (4:3)</PresentationFormat>
  <Paragraphs>1288</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1771</cp:revision>
  <cp:lastPrinted>2024-07-30T01:44:15Z</cp:lastPrinted>
  <dcterms:created xsi:type="dcterms:W3CDTF">2019-11-08T03:01:47Z</dcterms:created>
  <dcterms:modified xsi:type="dcterms:W3CDTF">2026-07-20T10:25:45Z</dcterms:modified>
</cp:coreProperties>
</file>