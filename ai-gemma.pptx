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71" r:id="rId10"/>
    <p:sldId id="3496" r:id="rId11"/>
    <p:sldId id="3495" r:id="rId12"/>
    <p:sldId id="3477" r:id="rId13"/>
    <p:sldId id="3465" r:id="rId14"/>
    <p:sldId id="3482" r:id="rId15"/>
    <p:sldId id="3489" r:id="rId16"/>
    <p:sldId id="3503" r:id="rId17"/>
    <p:sldId id="3460" r:id="rId18"/>
    <p:sldId id="3504" r:id="rId1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96"/>
            <p14:sldId id="3495"/>
            <p14:sldId id="3477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67944" autoAdjust="0"/>
  </p:normalViewPr>
  <p:slideViewPr>
    <p:cSldViewPr>
      <p:cViewPr varScale="1">
        <p:scale>
          <a:sx n="107" d="100"/>
          <a:sy n="107" d="100"/>
        </p:scale>
        <p:origin x="1248" y="10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1295636" y="1120676"/>
            <a:ext cx="6552728" cy="461664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(Train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Run-Time&lt;LLM + RAG + MCP&gt;)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(Stack, Model Engie: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Ollama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(Future)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Fine-Tuning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(&lt;PPO, DPO&gt;, &lt;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Full&gt;)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Framework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Ll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Model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2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9874F25-7ABB-161C-F98E-6F5A79B9D916}"/>
              </a:ext>
            </a:extLst>
          </p:cNvPr>
          <p:cNvSpPr txBox="1"/>
          <p:nvPr/>
        </p:nvSpPr>
        <p:spPr>
          <a:xfrm>
            <a:off x="556058" y="2888708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Massive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Data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2673DE9-E1DA-1BC0-C354-0BA00FE84EA6}"/>
              </a:ext>
            </a:extLst>
          </p:cNvPr>
          <p:cNvSpPr txBox="1"/>
          <p:nvPr/>
        </p:nvSpPr>
        <p:spPr>
          <a:xfrm>
            <a:off x="189038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Compact and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resource-efficient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 model.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39B58CA-5527-9A2C-83D7-C2DB75063432}"/>
              </a:ext>
            </a:extLst>
          </p:cNvPr>
          <p:cNvSpPr txBox="1"/>
          <p:nvPr/>
        </p:nvSpPr>
        <p:spPr>
          <a:xfrm>
            <a:off x="297050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SFT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E7D5B07-0C81-3829-646F-BE3581FDD6C8}"/>
              </a:ext>
            </a:extLst>
          </p:cNvPr>
          <p:cNvSpPr txBox="1"/>
          <p:nvPr/>
        </p:nvSpPr>
        <p:spPr>
          <a:xfrm>
            <a:off x="405062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RLHF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knowledge.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DPO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8" name="右大括弧 17">
            <a:extLst>
              <a:ext uri="{FF2B5EF4-FFF2-40B4-BE49-F238E27FC236}">
                <a16:creationId xmlns:a16="http://schemas.microsoft.com/office/drawing/2014/main" id="{88A7DCEE-72D3-E97E-75B4-E98392FD0AF8}"/>
              </a:ext>
            </a:extLst>
          </p:cNvPr>
          <p:cNvSpPr/>
          <p:nvPr/>
        </p:nvSpPr>
        <p:spPr>
          <a:xfrm rot="16200000">
            <a:off x="3438731" y="1516010"/>
            <a:ext cx="153045" cy="240152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9073DEBF-201F-5054-4A3D-D53D81C644C4}"/>
              </a:ext>
            </a:extLst>
          </p:cNvPr>
          <p:cNvSpPr txBox="1">
            <a:spLocks/>
          </p:cNvSpPr>
          <p:nvPr/>
        </p:nvSpPr>
        <p:spPr>
          <a:xfrm>
            <a:off x="2711564" y="2164297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Fine-Tuning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28" name="右大括弧 27">
            <a:extLst>
              <a:ext uri="{FF2B5EF4-FFF2-40B4-BE49-F238E27FC236}">
                <a16:creationId xmlns:a16="http://schemas.microsoft.com/office/drawing/2014/main" id="{A0803DCC-BE11-9775-D2EC-55EDCF477CAA}"/>
              </a:ext>
            </a:extLst>
          </p:cNvPr>
          <p:cNvSpPr/>
          <p:nvPr/>
        </p:nvSpPr>
        <p:spPr>
          <a:xfrm rot="16200000">
            <a:off x="6688390" y="1813344"/>
            <a:ext cx="153043" cy="180686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標題 1">
            <a:extLst>
              <a:ext uri="{FF2B5EF4-FFF2-40B4-BE49-F238E27FC236}">
                <a16:creationId xmlns:a16="http://schemas.microsoft.com/office/drawing/2014/main" id="{4020646C-B721-C297-5226-9CE964FEC92D}"/>
              </a:ext>
            </a:extLst>
          </p:cNvPr>
          <p:cNvSpPr txBox="1">
            <a:spLocks/>
          </p:cNvSpPr>
          <p:nvPr/>
        </p:nvSpPr>
        <p:spPr>
          <a:xfrm>
            <a:off x="6228036" y="2207037"/>
            <a:ext cx="953575" cy="38718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ACCCCD-B493-7A49-8A6E-E6C3BDEC9493}"/>
              </a:ext>
            </a:extLst>
          </p:cNvPr>
          <p:cNvSpPr txBox="1"/>
          <p:nvPr/>
        </p:nvSpPr>
        <p:spPr>
          <a:xfrm>
            <a:off x="5274757" y="2894387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92E34F1-083D-891A-1461-CDE50DD701A2}"/>
              </a:ext>
            </a:extLst>
          </p:cNvPr>
          <p:cNvSpPr txBox="1"/>
          <p:nvPr/>
        </p:nvSpPr>
        <p:spPr>
          <a:xfrm>
            <a:off x="6418126" y="2894387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29225F6-6EA6-52CD-D02A-BDA0A1CE5733}"/>
              </a:ext>
            </a:extLst>
          </p:cNvPr>
          <p:cNvSpPr txBox="1"/>
          <p:nvPr/>
        </p:nvSpPr>
        <p:spPr>
          <a:xfrm>
            <a:off x="7524328" y="2894387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B4914E9-8593-EAB8-1F27-A2A748C0FCE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156176" y="3272545"/>
            <a:ext cx="261950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9014D0C-00DA-7A1C-70C6-DE13B46D2353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7299545" y="3272545"/>
            <a:ext cx="22478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927CD03-F351-526B-29F0-570A907DC495}"/>
              </a:ext>
            </a:extLst>
          </p:cNvPr>
          <p:cNvGraphicFramePr>
            <a:graphicFrameLocks noGrp="1"/>
          </p:cNvGraphicFramePr>
          <p:nvPr/>
        </p:nvGraphicFramePr>
        <p:xfrm>
          <a:off x="6418126" y="3791331"/>
          <a:ext cx="1106202" cy="10634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6793673"/>
              </p:ext>
            </p:extLst>
          </p:nvPr>
        </p:nvGraphicFramePr>
        <p:xfrm>
          <a:off x="4548461" y="107590"/>
          <a:ext cx="4595539" cy="1847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955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Run Time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Goal: Smarter AI Agent)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Processing: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Templating, RAG, Context Assembly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Routing, Parameter Tuning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(Temperature, Max Tokens, Stop Sequences)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Detection, Execution, Result Feeding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Format enforcement, type casting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BB783C0A-0EA4-68C4-8BBB-B62183E29FB3}"/>
              </a:ext>
            </a:extLst>
          </p:cNvPr>
          <p:cNvSpPr txBox="1"/>
          <p:nvPr/>
        </p:nvSpPr>
        <p:spPr>
          <a:xfrm>
            <a:off x="5274756" y="3851897"/>
            <a:ext cx="881419" cy="75631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AI Agent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(Inference)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3EC1ECB0-9DF6-8F71-8D98-4F1CB861B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555590"/>
              </p:ext>
            </p:extLst>
          </p:nvPr>
        </p:nvGraphicFramePr>
        <p:xfrm>
          <a:off x="5220071" y="4998822"/>
          <a:ext cx="1818591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(Hugging Face)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6E63704-EFDF-5CEB-7F1B-CB86BCA498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606702"/>
              </p:ext>
            </p:extLst>
          </p:nvPr>
        </p:nvGraphicFramePr>
        <p:xfrm>
          <a:off x="438400" y="1100123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15D59D6-D5D3-E101-CC48-7BCD24B8F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205854"/>
              </p:ext>
            </p:extLst>
          </p:nvPr>
        </p:nvGraphicFramePr>
        <p:xfrm>
          <a:off x="2626357" y="5104238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51BCB3F6-7956-9792-AB5F-CC4178F78330}"/>
              </a:ext>
            </a:extLst>
          </p:cNvPr>
          <p:cNvSpPr/>
          <p:nvPr/>
        </p:nvSpPr>
        <p:spPr>
          <a:xfrm>
            <a:off x="7668344" y="5232581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62C8B83-32F1-7439-8A84-15E854760B07}"/>
              </a:ext>
            </a:extLst>
          </p:cNvPr>
          <p:cNvSpPr txBox="1"/>
          <p:nvPr/>
        </p:nvSpPr>
        <p:spPr>
          <a:xfrm>
            <a:off x="556058" y="4015729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Continual</a:t>
            </a:r>
            <a:b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</a:b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D</a:t>
            </a:r>
            <a:r>
              <a:rPr lang="en-US" altLang="zh-TW" sz="1200" dirty="0"/>
              <a:t>ata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8691106B-C8CB-5D41-A92D-38B13B364035}"/>
              </a:ext>
            </a:extLst>
          </p:cNvPr>
          <p:cNvSpPr txBox="1">
            <a:spLocks/>
          </p:cNvSpPr>
          <p:nvPr/>
        </p:nvSpPr>
        <p:spPr>
          <a:xfrm>
            <a:off x="212281" y="2263990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Pre-Training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Base Model)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275CF53-1D43-5A21-3A07-8A742D0F7F13}"/>
              </a:ext>
            </a:extLst>
          </p:cNvPr>
          <p:cNvSpPr txBox="1"/>
          <p:nvPr/>
        </p:nvSpPr>
        <p:spPr>
          <a:xfrm>
            <a:off x="1529364" y="742520"/>
            <a:ext cx="2999429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Engineering Stack:</a:t>
            </a:r>
            <a:r>
              <a:rPr lang="zh-TW" altLang="zh-TW" sz="1200" b="0" u="none" strike="noStrike" dirty="0">
                <a:effectLst/>
                <a:latin typeface="Google Sans"/>
              </a:rPr>
              <a:t> Real-world implementation using orchestration frameworks and vector infrastructure.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Deploy Obstacles:</a:t>
            </a:r>
            <a:r>
              <a:rPr lang="zh-TW" altLang="zh-TW" sz="1200" b="0" u="none" strike="noStrike" dirty="0">
                <a:effectLst/>
                <a:latin typeface="Google Sans"/>
              </a:rPr>
              <a:t> Managing the core technical friction of compute costs, latency, and data privacy.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365181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4597470" y="2996952"/>
            <a:ext cx="1728192" cy="922876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429000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178329"/>
              </p:ext>
            </p:extLst>
          </p:nvPr>
        </p:nvGraphicFramePr>
        <p:xfrm>
          <a:off x="251520" y="4797152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070440"/>
              </p:ext>
            </p:extLst>
          </p:nvPr>
        </p:nvGraphicFramePr>
        <p:xfrm>
          <a:off x="356988" y="1054136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02" y="328498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2866805" y="1054136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2738741" y="1145416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497" y="867261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088362" y="2024726"/>
            <a:ext cx="85903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092280" y="3032957"/>
            <a:ext cx="81985" cy="1749902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021818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249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83658"/>
              </p:ext>
            </p:extLst>
          </p:nvPr>
        </p:nvGraphicFramePr>
        <p:xfrm>
          <a:off x="351199" y="2708920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676026" y="2692506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828354"/>
              </p:ext>
            </p:extLst>
          </p:nvPr>
        </p:nvGraphicFramePr>
        <p:xfrm>
          <a:off x="6350217" y="348509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2638385"/>
              </p:ext>
            </p:extLst>
          </p:nvPr>
        </p:nvGraphicFramePr>
        <p:xfrm>
          <a:off x="7240645" y="17644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7A70D1FA-9A45-DEEF-A1FB-75E8F1210807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1846BB8-47A0-5E9B-C645-70DD2BBC568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How to evaluate the performance of a model?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78689" y="1268760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 err="1">
                <a:solidFill>
                  <a:prstClr val="black"/>
                </a:solidFill>
              </a:rPr>
              <a:t>Ollama</a:t>
            </a:r>
            <a:r>
              <a:rPr lang="en-US" altLang="zh-TW" sz="1600" dirty="0">
                <a:solidFill>
                  <a:prstClr val="black"/>
                </a:solidFill>
              </a:rPr>
              <a:t>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</a:t>
            </a:r>
            <a:r>
              <a:rPr lang="en-US" altLang="zh-TW" sz="1400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Ollama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E398316F-479D-A20F-C893-5346923EDC18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7043</Words>
  <Application>Microsoft Office PowerPoint</Application>
  <PresentationFormat>如螢幕大小 (4:3)</PresentationFormat>
  <Paragraphs>885</Paragraphs>
  <Slides>18</Slides>
  <Notes>17</Notes>
  <HiddenSlides>1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0" baseType="lpstr">
      <vt:lpstr>Google Sans</vt:lpstr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1632</cp:revision>
  <cp:lastPrinted>2024-07-30T01:44:15Z</cp:lastPrinted>
  <dcterms:created xsi:type="dcterms:W3CDTF">2019-11-08T03:01:47Z</dcterms:created>
  <dcterms:modified xsi:type="dcterms:W3CDTF">2026-07-02T13:59:36Z</dcterms:modified>
</cp:coreProperties>
</file>