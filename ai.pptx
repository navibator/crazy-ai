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0"/>
  </p:notesMasterIdLst>
  <p:handoutMasterIdLst>
    <p:handoutMasterId r:id="rId41"/>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 id="3531" r:id="rId23"/>
    <p:sldId id="3499" r:id="rId24"/>
    <p:sldId id="3444" r:id="rId25"/>
    <p:sldId id="3521" r:id="rId26"/>
    <p:sldId id="3520" r:id="rId27"/>
    <p:sldId id="3518" r:id="rId28"/>
    <p:sldId id="3475" r:id="rId29"/>
    <p:sldId id="3527" r:id="rId30"/>
    <p:sldId id="3515" r:id="rId31"/>
    <p:sldId id="3528" r:id="rId32"/>
    <p:sldId id="3514" r:id="rId33"/>
    <p:sldId id="3529" r:id="rId34"/>
    <p:sldId id="3489" r:id="rId35"/>
    <p:sldId id="3519" r:id="rId36"/>
    <p:sldId id="3530" r:id="rId37"/>
    <p:sldId id="257" r:id="rId38"/>
    <p:sldId id="265" r:id="rId3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 name="Edge AI" id="{53FF88DE-B3A4-42C9-8839-DDE9CA6AA9E3}">
          <p14:sldIdLst>
            <p14:sldId id="3531"/>
            <p14:sldId id="3499"/>
            <p14:sldId id="3444"/>
            <p14:sldId id="3521"/>
            <p14:sldId id="3520"/>
            <p14:sldId id="3518"/>
            <p14:sldId id="3475"/>
          </p14:sldIdLst>
        </p14:section>
        <p14:section name="Gemma" id="{4AE07F0F-1A3A-4225-AACF-3E87DCBDDC1F}">
          <p14:sldIdLst>
            <p14:sldId id="3527"/>
            <p14:sldId id="3515"/>
            <p14:sldId id="3528"/>
            <p14:sldId id="3514"/>
            <p14:sldId id="3529"/>
            <p14:sldId id="3489"/>
          </p14:sldIdLst>
        </p14:section>
        <p14:section name="Conclusion" id="{D9E6914C-A73F-4176-B0F8-3F87EAC09119}">
          <p14:sldIdLst>
            <p14:sldId id="3519"/>
            <p14:sldId id="353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EC203"/>
    <a:srgbClr val="F8D462"/>
    <a:srgbClr val="3079EF"/>
    <a:srgbClr val="2260DC"/>
    <a:srgbClr val="B8EACA"/>
    <a:srgbClr val="FF0000"/>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196" autoAdjust="0"/>
  </p:normalViewPr>
  <p:slideViewPr>
    <p:cSldViewPr>
      <p:cViewPr>
        <p:scale>
          <a:sx n="100" d="100"/>
          <a:sy n="100" d="100"/>
        </p:scale>
        <p:origin x="828" y="59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8/10/relationships/authors" Target="authors.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2026/7/27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2026/7/27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2cm.com.tw/2cm/zh-tw/market/0B0A1A53F59840AA83761E4A97E37E6B"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143513366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2026/7/27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2026/7/27</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9.svg"/><Relationship Id="rId5" Type="http://schemas.openxmlformats.org/officeDocument/2006/relationships/image" Target="../media/image78.svg"/><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81.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85.png"/><Relationship Id="rId1" Type="http://schemas.openxmlformats.org/officeDocument/2006/relationships/slideLayout" Target="../slideLayouts/slideLayout3.xml"/><Relationship Id="rId5" Type="http://schemas.openxmlformats.org/officeDocument/2006/relationships/image" Target="../media/image68.png"/><Relationship Id="rId4" Type="http://schemas.openxmlformats.org/officeDocument/2006/relationships/image" Target="../media/image69.jpeg"/></Relationships>
</file>

<file path=ppt/slides/_rels/slide36.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4.xml"/><Relationship Id="rId6" Type="http://schemas.openxmlformats.org/officeDocument/2006/relationships/image" Target="../media/image88.png"/><Relationship Id="rId5" Type="http://schemas.openxmlformats.org/officeDocument/2006/relationships/image" Target="../media/image2300.png"/><Relationship Id="rId4" Type="http://schemas.openxmlformats.org/officeDocument/2006/relationships/image" Target="../media/image87.png"/></Relationships>
</file>

<file path=ppt/slides/_rels/slide38.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notesSlide" Target="../notesSlides/notesSlide33.xml"/><Relationship Id="rId1" Type="http://schemas.openxmlformats.org/officeDocument/2006/relationships/slideLayout" Target="../slideLayouts/slideLayout4.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 Id="rId9" Type="http://schemas.openxmlformats.org/officeDocument/2006/relationships/image" Target="../media/image9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Skill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 Skill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047990997"/>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843808"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a:p>
            <a:pPr algn="r">
              <a:lnSpc>
                <a:spcPts val="1400"/>
              </a:lnSpc>
              <a:buNone/>
            </a:pPr>
            <a:r>
              <a:rPr lang="en-US" altLang="zh-TW" sz="1400" b="1" u="none" strike="noStrike" dirty="0">
                <a:solidFill>
                  <a:schemeClr val="accent3">
                    <a:lumMod val="50000"/>
                  </a:schemeClr>
                </a:solidFill>
                <a:effectLst/>
              </a:rPr>
              <a:t>Environment</a:t>
            </a:r>
            <a:endParaRPr lang="en-US" altLang="zh-TW" sz="1400" u="none" strike="noStrike" dirty="0">
              <a:solidFill>
                <a:schemeClr val="accent3">
                  <a:lumMod val="50000"/>
                </a:schemeClr>
              </a:solidFill>
              <a:effectLst/>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3208771"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619752"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Agents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use</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LLM brains, RAG  knowledge, and  MCP skills to work. </a:t>
            </a:r>
            <a:r>
              <a:rPr lang="zh-TW" altLang="zh-TW" sz="1400" dirty="0"/>
              <a:t>➔</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856955"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733357"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1025873"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987824"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5169812"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522777"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5" name="文字方塊 4">
            <a:extLst>
              <a:ext uri="{FF2B5EF4-FFF2-40B4-BE49-F238E27FC236}">
                <a16:creationId xmlns:a16="http://schemas.microsoft.com/office/drawing/2014/main" id="{6DED4096-EC87-5FA0-C284-9B53560B41F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
        <p:nvSpPr>
          <p:cNvPr id="40" name="箭號: 向下 39">
            <a:extLst>
              <a:ext uri="{FF2B5EF4-FFF2-40B4-BE49-F238E27FC236}">
                <a16:creationId xmlns:a16="http://schemas.microsoft.com/office/drawing/2014/main" id="{C71631F2-520D-603B-D24A-C6556F32D4F7}"/>
              </a:ext>
            </a:extLst>
          </p:cNvPr>
          <p:cNvSpPr/>
          <p:nvPr/>
        </p:nvSpPr>
        <p:spPr>
          <a:xfrm>
            <a:off x="3885328"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706295"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396534"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658327"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343834"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5148064"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987824"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472971"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4005784"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577435"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292080"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3193552"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642670"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957533"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671849"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436972"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984716"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255216"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365824"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621929"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4012812"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183" name="群組 182">
            <a:extLst>
              <a:ext uri="{FF2B5EF4-FFF2-40B4-BE49-F238E27FC236}">
                <a16:creationId xmlns:a16="http://schemas.microsoft.com/office/drawing/2014/main" id="{EC23AE7C-B5C8-B4F7-9E86-055D60AEFBC7}"/>
              </a:ext>
            </a:extLst>
          </p:cNvPr>
          <p:cNvGrpSpPr/>
          <p:nvPr/>
        </p:nvGrpSpPr>
        <p:grpSpPr>
          <a:xfrm>
            <a:off x="6516216" y="4813260"/>
            <a:ext cx="1512168" cy="1273320"/>
            <a:chOff x="5292080" y="1036415"/>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5378796" y="1036415"/>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5359936" y="1077213"/>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6139924" y="1628800"/>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5292080" y="1916832"/>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5393262" y="1082969"/>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5437150" y="1225751"/>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grp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538978"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Skill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770205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1058349" y="1193012"/>
            <a:ext cx="2094003" cy="2114742"/>
            <a:chOff x="1011755" y="2851680"/>
            <a:chExt cx="2094003" cy="2114742"/>
          </a:xfrm>
        </p:grpSpPr>
        <p:sp>
          <p:nvSpPr>
            <p:cNvPr id="7" name="弧形 6">
              <a:extLst>
                <a:ext uri="{FF2B5EF4-FFF2-40B4-BE49-F238E27FC236}">
                  <a16:creationId xmlns:a16="http://schemas.microsoft.com/office/drawing/2014/main" id="{ADE78692-DD87-A403-B53B-072E2A6E9BC6}"/>
                </a:ext>
              </a:extLst>
            </p:cNvPr>
            <p:cNvSpPr/>
            <p:nvPr/>
          </p:nvSpPr>
          <p:spPr>
            <a:xfrm>
              <a:off x="1050655" y="2869831"/>
              <a:ext cx="2055103"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1011755" y="2851680"/>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909740" y="4318350"/>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620496" y="3434549"/>
              <a:ext cx="801564" cy="88380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1108176" y="3065217"/>
              <a:ext cx="1024639" cy="369332"/>
            </a:xfrm>
            <a:prstGeom prst="rect">
              <a:avLst/>
            </a:prstGeom>
            <a:noFill/>
          </p:spPr>
          <p:txBody>
            <a:bodyPr wrap="none" tIns="0" rIns="0" bIns="0" anchor="ctr" anchorCtr="0">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nvGraphicFramePr>
        <p:xfrm>
          <a:off x="6012160" y="2204863"/>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nvGraphicFramePr>
        <p:xfrm>
          <a:off x="1865763" y="3095134"/>
          <a:ext cx="2195330" cy="621898"/>
        </p:xfrm>
        <a:graphic>
          <a:graphicData uri="http://schemas.openxmlformats.org/drawingml/2006/table">
            <a:tbl>
              <a:tblPr firstRow="1" bandRow="1">
                <a:tableStyleId>{5C22544A-7EE6-4342-B048-85BDC9FD1C3A}</a:tableStyleId>
              </a:tblPr>
              <a:tblGrid>
                <a:gridCol w="2195330">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nvGraphicFramePr>
        <p:xfrm>
          <a:off x="262039" y="2030859"/>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bl>
          </a:graphicData>
        </a:graphic>
      </p:graphicFrame>
      <p:pic>
        <p:nvPicPr>
          <p:cNvPr id="16" name="圖形 15" descr="上升趨勢的橫條圖 以實心填滿">
            <a:extLst>
              <a:ext uri="{FF2B5EF4-FFF2-40B4-BE49-F238E27FC236}">
                <a16:creationId xmlns:a16="http://schemas.microsoft.com/office/drawing/2014/main" id="{00E2A0E3-F313-B0E4-4656-A3E57C0C814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64288" y="1772814"/>
            <a:ext cx="432049" cy="432049"/>
          </a:xfrm>
          <a:prstGeom prst="rect">
            <a:avLst/>
          </a:prstGeom>
        </p:spPr>
      </p:pic>
      <p:pic>
        <p:nvPicPr>
          <p:cNvPr id="26" name="圖形 25" descr="細菌 以實心填滿">
            <a:extLst>
              <a:ext uri="{FF2B5EF4-FFF2-40B4-BE49-F238E27FC236}">
                <a16:creationId xmlns:a16="http://schemas.microsoft.com/office/drawing/2014/main" id="{7FB8FBF8-1C70-5BC8-E2E1-86A8F4DD36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2428" y="1365419"/>
            <a:ext cx="431917" cy="413783"/>
          </a:xfrm>
          <a:prstGeom prst="rect">
            <a:avLst/>
          </a:prstGeom>
        </p:spPr>
      </p:pic>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00392" y="1767553"/>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6951680" y="1212288"/>
            <a:ext cx="432049" cy="412785"/>
          </a:xfrm>
          <a:prstGeom prst="rect">
            <a:avLst/>
          </a:prstGeom>
        </p:spPr>
      </p:pic>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Number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8B (4.5+3.5)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5B (2.3+2.8)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1" y="1377042"/>
            <a:ext cx="647084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FD26C871-0A6F-156B-6741-2D1BCEF1AF39}"/>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solidFill>
                  <a:srgbClr val="FF0000"/>
                </a:solidFill>
              </a:rPr>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105008" cy="2271474"/>
            <a:chOff x="3971048" y="1140776"/>
            <a:chExt cx="1105008"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94886"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07" name="矩形: 圓角 106">
              <a:extLst>
                <a:ext uri="{FF2B5EF4-FFF2-40B4-BE49-F238E27FC236}">
                  <a16:creationId xmlns:a16="http://schemas.microsoft.com/office/drawing/2014/main" id="{B9D231FB-B9CF-9880-E698-8380D24C64B4}"/>
                </a:ext>
              </a:extLst>
            </p:cNvPr>
            <p:cNvSpPr/>
            <p:nvPr/>
          </p:nvSpPr>
          <p:spPr>
            <a:xfrm>
              <a:off x="4716016" y="3222501"/>
              <a:ext cx="345765" cy="174616"/>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stCxn id="107" idx="3"/>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60000"/>
            </a:schemeClr>
          </a:solidFill>
          <a:ln w="19050">
            <a:solidFill>
              <a:schemeClr val="bg2">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A7115C8-56FB-C1E8-48CB-42F4B251C3ED}"/>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A44451E-FF02-AF4A-2290-C616F7E8860B}"/>
              </a:ext>
            </a:extLst>
          </p:cNvPr>
          <p:cNvGraphicFramePr>
            <a:graphicFrameLocks noGrp="1"/>
          </p:cNvGraphicFramePr>
          <p:nvPr/>
        </p:nvGraphicFramePr>
        <p:xfrm>
          <a:off x="683568" y="1317641"/>
          <a:ext cx="7560839" cy="49684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l"/>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p>
                    <a:p>
                      <a:r>
                        <a:rPr lang="en-US" altLang="zh-TW" sz="1200" b="0" cap="none" spc="0" dirty="0">
                          <a:ln w="0"/>
                          <a:solidFill>
                            <a:schemeClr val="tx1"/>
                          </a:solidFill>
                          <a:effectLst/>
                        </a:rPr>
                        <a:t>Preview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Cloud-based</a:t>
                      </a:r>
                    </a:p>
                    <a:p>
                      <a:r>
                        <a:rPr lang="en-US" altLang="zh-TW" sz="1200" b="0" cap="none" spc="0" dirty="0">
                          <a:ln w="0"/>
                          <a:solidFill>
                            <a:schemeClr val="tx1"/>
                          </a:solidFill>
                          <a:effectLst/>
                        </a:rPr>
                        <a:t>Closed source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96.2%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zh-TW" sz="1100" b="0" dirty="0">
                          <a:latin typeface="微軟正黑體" panose="020B0604030504040204" pitchFamily="34" charset="-120"/>
                          <a:ea typeface="微軟正黑體" panose="020B0604030504040204" pitchFamily="34" charset="-120"/>
                        </a:rPr>
                        <a:t>目前最強的雲端閉源模型之一</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l"/>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zh-TW" sz="1100" b="0" dirty="0">
                          <a:latin typeface="微軟正黑體" panose="020B0604030504040204" pitchFamily="34" charset="-120"/>
                          <a:ea typeface="微軟正黑體" panose="020B0604030504040204" pitchFamily="34" charset="-120"/>
                        </a:rPr>
                        <a:t>高速推理的頂級代表</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l"/>
                      <a:r>
                        <a:rPr lang="en-US" altLang="zh-TW" sz="1200" b="0" cap="none" spc="0" dirty="0">
                          <a:ln w="0"/>
                          <a:solidFill>
                            <a:schemeClr val="tx1"/>
                          </a:solidFill>
                          <a:effectLst/>
                        </a:rPr>
                        <a:t>3_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3.8B/25.2B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開源模型</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極省電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(24GB 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l"/>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a:t>
                      </a:r>
                      <a:r>
                        <a:rPr lang="zh-TW" altLang="en-US" sz="1200" b="0" cap="none" spc="0" dirty="0">
                          <a:ln w="0"/>
                          <a:solidFill>
                            <a:schemeClr val="tx1"/>
                          </a:solidFill>
                          <a:effectLst/>
                        </a:rPr>
                        <a:t> </a:t>
                      </a:r>
                      <a:r>
                        <a:rPr lang="en-US" altLang="zh-TW" sz="1200" b="0" cap="none" spc="0" dirty="0">
                          <a:ln w="0"/>
                          <a:solidFill>
                            <a:schemeClr val="tx1"/>
                          </a:solidFill>
                          <a:effectLst/>
                        </a:rPr>
                        <a:t>GPT-5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的主力旗艦模型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l"/>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具備深度思考推理</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(Reasoning)</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能力</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l"/>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o4-mini</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輕量化推理模型的代表</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l"/>
                      <a:r>
                        <a:rPr lang="en-US" altLang="zh-TW" sz="1200" b="0" cap="none" spc="0" dirty="0">
                          <a:ln w="0"/>
                          <a:solidFill>
                            <a:schemeClr val="tx1"/>
                          </a:solidFill>
                          <a:effectLst/>
                        </a:rPr>
                        <a:t>7_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51B/685B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89.6%~73%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MoE, Local 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l"/>
                      <a:r>
                        <a:rPr lang="en-US" altLang="zh-TW" sz="1200" b="0" cap="none" spc="0" dirty="0">
                          <a:ln w="0"/>
                          <a:solidFill>
                            <a:schemeClr val="tx1"/>
                          </a:solidFill>
                          <a:effectLst/>
                        </a:rPr>
                        <a:t>8_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88.9%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旗艦模型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l"/>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 premium Agent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l"/>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87.1%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雲端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：本地無硬體要求，經典初代大文本思考模型。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l"/>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Opus 4.5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87.1%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深度邏輯強悍但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成本較高。</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l"/>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3.5 Sonnet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雲端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：本地無硬體要求，企業最愛用的長青高性價比模型。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l"/>
                      <a:r>
                        <a:rPr lang="en-US" altLang="zh-TW" sz="1200" b="0" cap="none" spc="0" dirty="0">
                          <a:ln w="0"/>
                          <a:solidFill>
                            <a:schemeClr val="tx1"/>
                          </a:solidFill>
                          <a:effectLst/>
                        </a:rPr>
                        <a:t>13_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V3.1 Terminus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超大</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MoE (160GB+VRAM)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l"/>
                      <a:r>
                        <a:rPr lang="en-US" altLang="zh-TW" sz="1200" b="0" cap="none" spc="0" dirty="0">
                          <a:ln w="0"/>
                          <a:solidFill>
                            <a:schemeClr val="tx1"/>
                          </a:solidFill>
                          <a:effectLst/>
                        </a:rPr>
                        <a:t>14_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Llama 3 Nemotron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49B/49B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48GB 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l"/>
                      <a:r>
                        <a:rPr lang="en-US" altLang="zh-TW" sz="1200" b="0" cap="none" spc="0" dirty="0">
                          <a:ln w="0"/>
                          <a:solidFill>
                            <a:schemeClr val="tx1"/>
                          </a:solidFill>
                          <a:effectLst/>
                        </a:rPr>
                        <a:t>15_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Llama 4 Maverick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~70B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~72.0%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48GB VRAM x 2</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2684705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2"/>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3"/>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51" name="矩形 50">
            <a:extLst>
              <a:ext uri="{FF2B5EF4-FFF2-40B4-BE49-F238E27FC236}">
                <a16:creationId xmlns:a16="http://schemas.microsoft.com/office/drawing/2014/main" id="{BD9F5FA8-DF10-F8FD-719D-E220A101592C}"/>
              </a:ext>
            </a:extLst>
          </p:cNvPr>
          <p:cNvSpPr/>
          <p:nvPr/>
        </p:nvSpPr>
        <p:spPr>
          <a:xfrm>
            <a:off x="6350708" y="3880539"/>
            <a:ext cx="534601" cy="397207"/>
          </a:xfrm>
          <a:prstGeom prst="rect">
            <a:avLst/>
          </a:prstGeom>
          <a:solidFill>
            <a:schemeClr val="accent4">
              <a:lumMod val="20000"/>
              <a:lumOff val="80000"/>
              <a:alpha val="80000"/>
            </a:schemeClr>
          </a:solidFill>
          <a:ln w="38100">
            <a:solidFill>
              <a:schemeClr val="accent3">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accent4">
                    <a:lumMod val="75000"/>
                  </a:schemeClr>
                </a:solidFill>
              </a:rPr>
              <a:t>Bio-</a:t>
            </a:r>
          </a:p>
          <a:p>
            <a:pPr algn="ctr">
              <a:lnSpc>
                <a:spcPts val="1200"/>
              </a:lnSpc>
            </a:pPr>
            <a:r>
              <a:rPr lang="en-US" altLang="zh-TW" sz="1200" dirty="0">
                <a:solidFill>
                  <a:schemeClr val="accent4">
                    <a:lumMod val="75000"/>
                  </a:schemeClr>
                </a:solidFill>
              </a:rPr>
              <a:t>Python</a:t>
            </a:r>
            <a:endParaRPr lang="zh-TW" altLang="en-US" sz="1200" dirty="0">
              <a:solidFill>
                <a:schemeClr val="accent4">
                  <a:lumMod val="75000"/>
                </a:schemeClr>
              </a:solidFill>
            </a:endParaRPr>
          </a:p>
        </p:txBody>
      </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5"/>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037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m:t>
                      </m:r>
                      <m:r>
                        <m:rPr>
                          <m:nor/>
                        </m:rPr>
                        <a:rPr lang="zh-TW" altLang="en-US" sz="900" i="0">
                          <a:latin typeface="微軟正黑體 Light" panose="020B0304030504040204" pitchFamily="34" charset="-120"/>
                          <a:ea typeface="微軟正黑體 Light" panose="020B0304030504040204" pitchFamily="34" charset="-120"/>
                        </a:rPr>
                        <m:t>256</m:t>
                      </m:r>
                      <m:d>
                        <m:dPr>
                          <m:ctrlPr>
                            <a:rPr lang="zh-TW" altLang="en-US" sz="900" i="1">
                              <a:latin typeface="Cambria Math" panose="02040503050406030204" pitchFamily="18" charset="0"/>
                            </a:rPr>
                          </m:ctrlPr>
                        </m:dPr>
                        <m:e>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 的內容</m:t>
                          </m:r>
                        </m:e>
                      </m:d>
                    </m:oMath>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305</TotalTime>
  <Words>16722</Words>
  <Application>Microsoft Office PowerPoint</Application>
  <PresentationFormat>如螢幕大小 (4:3)</PresentationFormat>
  <Paragraphs>2525</Paragraphs>
  <Slides>38</Slides>
  <Notes>33</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38</vt:i4>
      </vt:variant>
    </vt:vector>
  </HeadingPairs>
  <TitlesOfParts>
    <vt:vector size="5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1792</cp:revision>
  <cp:lastPrinted>2024-07-30T01:44:15Z</cp:lastPrinted>
  <dcterms:created xsi:type="dcterms:W3CDTF">2019-11-08T03:01:47Z</dcterms:created>
  <dcterms:modified xsi:type="dcterms:W3CDTF">2026-07-27T07:31:59Z</dcterms:modified>
</cp:coreProperties>
</file>