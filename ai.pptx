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1"/>
  </p:notesMasterIdLst>
  <p:handoutMasterIdLst>
    <p:handoutMasterId r:id="rId52"/>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507" r:id="rId18"/>
    <p:sldId id="3460" r:id="rId19"/>
    <p:sldId id="3509" r:id="rId20"/>
    <p:sldId id="3479" r:id="rId21"/>
    <p:sldId id="3467" r:id="rId22"/>
    <p:sldId id="3531" r:id="rId23"/>
    <p:sldId id="3499" r:id="rId24"/>
    <p:sldId id="3444" r:id="rId25"/>
    <p:sldId id="3532" r:id="rId26"/>
    <p:sldId id="3520" r:id="rId27"/>
    <p:sldId id="3518" r:id="rId28"/>
    <p:sldId id="3475" r:id="rId29"/>
    <p:sldId id="3527" r:id="rId30"/>
    <p:sldId id="3515" r:id="rId31"/>
    <p:sldId id="3528" r:id="rId32"/>
    <p:sldId id="3514" r:id="rId33"/>
    <p:sldId id="3529" r:id="rId34"/>
    <p:sldId id="3533" r:id="rId35"/>
    <p:sldId id="3537" r:id="rId36"/>
    <p:sldId id="3540" r:id="rId37"/>
    <p:sldId id="3542" r:id="rId38"/>
    <p:sldId id="3543" r:id="rId39"/>
    <p:sldId id="3539" r:id="rId40"/>
    <p:sldId id="3538" r:id="rId41"/>
    <p:sldId id="3534" r:id="rId42"/>
    <p:sldId id="3536" r:id="rId43"/>
    <p:sldId id="3535" r:id="rId44"/>
    <p:sldId id="3519" r:id="rId45"/>
    <p:sldId id="3530" r:id="rId46"/>
    <p:sldId id="269" r:id="rId47"/>
    <p:sldId id="270" r:id="rId48"/>
    <p:sldId id="257" r:id="rId49"/>
    <p:sldId id="265" r:id="rId50"/>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07"/>
          </p14:sldIdLst>
        </p14:section>
        <p14:section name="Hardware" id="{69C35067-BEF2-4B7C-9B54-B6977EB05C72}">
          <p14:sldIdLst>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Deepseek-DSMoE" id="{8CC3907E-2537-4761-B8B4-20CC1D391E20}">
          <p14:sldIdLst>
            <p14:sldId id="3537"/>
            <p14:sldId id="3540"/>
            <p14:sldId id="3542"/>
            <p14:sldId id="3543"/>
            <p14:sldId id="3539"/>
            <p14:sldId id="3538"/>
          </p14:sldIdLst>
        </p14:section>
        <p14:section name="Moonshot-Kimi" id="{7C2BE5B2-C507-46C7-871E-C935EB653EC3}">
          <p14:sldIdLst>
            <p14:sldId id="3534"/>
            <p14:sldId id="3536"/>
            <p14:sldId id="3535"/>
          </p14:sldIdLst>
        </p14:section>
        <p14:section name="Conclusion" id="{D9E6914C-A73F-4176-B0F8-3F87EAC09119}">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C6BFF"/>
    <a:srgbClr val="FF9900"/>
    <a:srgbClr val="FEC203"/>
    <a:srgbClr val="F8D462"/>
    <a:srgbClr val="3079EF"/>
    <a:srgbClr val="2260DC"/>
    <a:srgbClr val="B8EACA"/>
    <a:srgbClr val="FF0000"/>
    <a:srgbClr val="FEF1E9"/>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45060" autoAdjust="0"/>
  </p:normalViewPr>
  <p:slideViewPr>
    <p:cSldViewPr>
      <p:cViewPr>
        <p:scale>
          <a:sx n="100" d="100"/>
          <a:sy n="100" d="100"/>
        </p:scale>
        <p:origin x="888"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8/10/relationships/authors" Targe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2026/8/6</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2026/8/6</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以下為 DeepSeek 最核心的五大底層技術突破：</a:t>
            </a:r>
          </a:p>
          <a:p>
            <a:r>
              <a:rPr lang="zh-TW" altLang="zh-TW" sz="1200" b="1" u="none" strike="noStrike" kern="1200" dirty="0">
                <a:solidFill>
                  <a:schemeClr val="tx1"/>
                </a:solidFill>
                <a:effectLst/>
                <a:latin typeface="+mn-lt"/>
                <a:ea typeface="+mn-ea"/>
                <a:cs typeface="+mn-cs"/>
              </a:rPr>
              <a:t>1. MLA（Multi-head Latent Attention，多頭潛在注意力機制）</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：傳統大模型在大規模並發推理時，需要消耗海量的記憶體來儲存 </a:t>
            </a:r>
            <a:r>
              <a:rPr lang="zh-TW" altLang="zh-TW" sz="1200" b="1" u="none" strike="noStrike" kern="1200" dirty="0">
                <a:solidFill>
                  <a:schemeClr val="tx1"/>
                </a:solidFill>
                <a:effectLst/>
                <a:latin typeface="+mn-lt"/>
                <a:ea typeface="+mn-ea"/>
                <a:cs typeface="+mn-cs"/>
              </a:rPr>
              <a:t>KV Cache（鍵值快取）</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MLA 創新地採用了</a:t>
            </a:r>
            <a:r>
              <a:rPr lang="zh-TW" altLang="zh-TW" sz="1200" b="1" u="none" strike="noStrike" kern="1200" dirty="0">
                <a:solidFill>
                  <a:schemeClr val="tx1"/>
                </a:solidFill>
                <a:effectLst/>
                <a:latin typeface="+mn-lt"/>
                <a:ea typeface="+mn-ea"/>
                <a:cs typeface="+mn-cs"/>
              </a:rPr>
              <a:t>低秩聯合壓縮技術</a:t>
            </a:r>
            <a:r>
              <a:rPr lang="zh-TW" altLang="zh-TW" sz="1200" b="0" u="none" strike="noStrike" kern="1200" dirty="0">
                <a:solidFill>
                  <a:schemeClr val="tx1"/>
                </a:solidFill>
                <a:effectLst/>
                <a:latin typeface="+mn-lt"/>
                <a:ea typeface="+mn-ea"/>
                <a:cs typeface="+mn-cs"/>
              </a:rPr>
              <a:t>，將 Key 和 Value 向量壓縮成一個極小的潛在向量。</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：在保持頂尖性能的同時，</a:t>
            </a:r>
            <a:r>
              <a:rPr lang="zh-TW" altLang="zh-TW" sz="1200" b="1" u="none" strike="noStrike" kern="1200" dirty="0">
                <a:solidFill>
                  <a:schemeClr val="tx1"/>
                </a:solidFill>
                <a:effectLst/>
                <a:latin typeface="+mn-lt"/>
                <a:ea typeface="+mn-ea"/>
                <a:cs typeface="+mn-cs"/>
              </a:rPr>
              <a:t>大幅降低了 93.3% 的 KV Cache 記憶體佔用</a:t>
            </a:r>
            <a:r>
              <a:rPr lang="zh-TW" altLang="zh-TW" sz="1200" b="0" u="none" strike="noStrike" kern="1200" dirty="0">
                <a:solidFill>
                  <a:schemeClr val="tx1"/>
                </a:solidFill>
                <a:effectLst/>
                <a:latin typeface="+mn-lt"/>
                <a:ea typeface="+mn-ea"/>
                <a:cs typeface="+mn-cs"/>
              </a:rPr>
              <a:t>，讓單張顯卡可以同時處理更多用戶的請求（提高吞吐量），顯著降低推理成本。</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DeepSeekMoE</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：與普通的 MoE（如 GPT-4）不同，DeepSeek 將專家網路進行了</a:t>
            </a:r>
            <a:r>
              <a:rPr lang="zh-TW" altLang="zh-TW" sz="1200" b="1" u="none" strike="noStrike" kern="1200" dirty="0">
                <a:solidFill>
                  <a:schemeClr val="tx1"/>
                </a:solidFill>
                <a:effectLst/>
                <a:latin typeface="+mn-lt"/>
                <a:ea typeface="+mn-ea"/>
                <a:cs typeface="+mn-cs"/>
              </a:rPr>
              <a:t>細粒度分割</a:t>
            </a:r>
            <a:r>
              <a:rPr lang="zh-TW" altLang="zh-TW" sz="1200" b="0" u="none" strike="noStrike" kern="1200" dirty="0">
                <a:solidFill>
                  <a:schemeClr val="tx1"/>
                </a:solidFill>
                <a:effectLst/>
                <a:latin typeface="+mn-lt"/>
                <a:ea typeface="+mn-ea"/>
                <a:cs typeface="+mn-cs"/>
              </a:rPr>
              <a:t>，劃分為「共享專家」與「路由專家」。</a:t>
            </a:r>
          </a:p>
          <a:p>
            <a:pPr lvl="1"/>
            <a:r>
              <a:rPr lang="zh-TW" altLang="zh-TW" sz="1200" b="1" u="none" strike="noStrike" kern="1200" dirty="0">
                <a:solidFill>
                  <a:schemeClr val="tx1"/>
                </a:solidFill>
                <a:effectLst/>
                <a:latin typeface="+mn-lt"/>
                <a:ea typeface="+mn-ea"/>
                <a:cs typeface="+mn-cs"/>
              </a:rPr>
              <a:t>共享專家（Shared Expert）</a:t>
            </a:r>
            <a:r>
              <a:rPr lang="zh-TW" altLang="zh-TW" sz="1200" b="0" u="none" strike="noStrike" kern="1200" dirty="0">
                <a:solidFill>
                  <a:schemeClr val="tx1"/>
                </a:solidFill>
                <a:effectLst/>
                <a:latin typeface="+mn-lt"/>
                <a:ea typeface="+mn-ea"/>
                <a:cs typeface="+mn-cs"/>
              </a:rPr>
              <a:t>：專門負責捕獲所有任務共同的通用知識。</a:t>
            </a:r>
          </a:p>
          <a:p>
            <a:pPr lvl="1"/>
            <a:r>
              <a:rPr lang="zh-TW" altLang="zh-TW" sz="1200" b="1" u="none" strike="noStrike" kern="1200" dirty="0">
                <a:solidFill>
                  <a:schemeClr val="tx1"/>
                </a:solidFill>
                <a:effectLst/>
                <a:latin typeface="+mn-lt"/>
                <a:ea typeface="+mn-ea"/>
                <a:cs typeface="+mn-cs"/>
              </a:rPr>
              <a:t>路由專家（Routed Experts）</a:t>
            </a:r>
            <a:r>
              <a:rPr lang="zh-TW" altLang="zh-TW" sz="1200" b="0" u="none" strike="noStrike" kern="1200" dirty="0">
                <a:solidFill>
                  <a:schemeClr val="tx1"/>
                </a:solidFill>
                <a:effectLst/>
                <a:latin typeface="+mn-lt"/>
                <a:ea typeface="+mn-ea"/>
                <a:cs typeface="+mn-cs"/>
              </a:rPr>
              <a:t>：進一步細分，被動激活來處理特定專業領域的任務。</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：避免了專家之間的知識冗餘，並研發出「無輔助損失的負載均衡策略」，解決了以往 MoE 模型訓練不均勻的難題，達到</a:t>
            </a:r>
            <a:r>
              <a:rPr lang="zh-TW" altLang="zh-TW" sz="1200" b="1" u="none" strike="noStrike" kern="1200" dirty="0">
                <a:solidFill>
                  <a:schemeClr val="tx1"/>
                </a:solidFill>
                <a:effectLst/>
                <a:latin typeface="+mn-lt"/>
                <a:ea typeface="+mn-ea"/>
                <a:cs typeface="+mn-cs"/>
              </a:rPr>
              <a:t>高參數總量、低激活計算量</a:t>
            </a:r>
            <a:r>
              <a:rPr lang="zh-TW" altLang="zh-TW" sz="1200" b="0" u="none" strike="noStrike" kern="1200" dirty="0">
                <a:solidFill>
                  <a:schemeClr val="tx1"/>
                </a:solidFill>
                <a:effectLst/>
                <a:latin typeface="+mn-lt"/>
                <a:ea typeface="+mn-ea"/>
                <a:cs typeface="+mn-cs"/>
              </a:rPr>
              <a:t>的完美平衡。</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GRPO（Group Relative Policy Optimization，廣義相對策略優化）</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：在進行強化學習（RL）訓練時，傳統的 PPO 演算法需要佈署一個體積龐大、耗費算力的「評論家模型（Critic Model）」來打分。而 </a:t>
            </a:r>
            <a:r>
              <a:rPr lang="zh-TW" altLang="zh-TW" sz="1200" b="1" u="none" strike="noStrike" kern="1200" dirty="0">
                <a:solidFill>
                  <a:schemeClr val="tx1"/>
                </a:solidFill>
                <a:effectLst/>
                <a:latin typeface="+mn-lt"/>
                <a:ea typeface="+mn-ea"/>
                <a:cs typeface="+mn-cs"/>
              </a:rPr>
              <a:t>GRPO 直接取消了 Critic 模型</a:t>
            </a:r>
            <a:r>
              <a:rPr lang="zh-TW" altLang="zh-TW" sz="1200" b="0" u="none" strike="noStrike" kern="1200" dirty="0">
                <a:solidFill>
                  <a:schemeClr val="tx1"/>
                </a:solidFill>
                <a:effectLst/>
                <a:latin typeface="+mn-lt"/>
                <a:ea typeface="+mn-ea"/>
                <a:cs typeface="+mn-cs"/>
              </a:rPr>
              <a:t>，改為讓模型同時生成一組回答（Group），並透過這一組回答之間的</a:t>
            </a:r>
            <a:r>
              <a:rPr lang="zh-TW" altLang="zh-TW" sz="1200" b="1" u="none" strike="noStrike" kern="1200" dirty="0">
                <a:solidFill>
                  <a:schemeClr val="tx1"/>
                </a:solidFill>
                <a:effectLst/>
                <a:latin typeface="+mn-lt"/>
                <a:ea typeface="+mn-ea"/>
                <a:cs typeface="+mn-cs"/>
              </a:rPr>
              <a:t>相對好壞</a:t>
            </a:r>
            <a:r>
              <a:rPr lang="zh-TW" altLang="zh-TW" sz="1200" b="0" u="none" strike="noStrike" kern="1200" dirty="0">
                <a:solidFill>
                  <a:schemeClr val="tx1"/>
                </a:solidFill>
                <a:effectLst/>
                <a:latin typeface="+mn-lt"/>
                <a:ea typeface="+mn-ea"/>
                <a:cs typeface="+mn-cs"/>
              </a:rPr>
              <a:t>來進行自我修正與學習。</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節省了大量的訓練記憶體與算力</a:t>
            </a:r>
            <a:r>
              <a:rPr lang="zh-TW" altLang="zh-TW" sz="1200" b="0" u="none" strike="noStrike" kern="1200" dirty="0">
                <a:solidFill>
                  <a:schemeClr val="tx1"/>
                </a:solidFill>
                <a:effectLst/>
                <a:latin typeface="+mn-lt"/>
                <a:ea typeface="+mn-ea"/>
                <a:cs typeface="+mn-cs"/>
              </a:rPr>
              <a:t>，這是 DeepSeek-R1 模型能夠在不依賴大量人工微調（SFT）的情況下，自我湧現出強大邏輯思考與「思維鏈（CoT）」能力的關鍵演算法。</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MTP（Multi-Token Prediction，多 Token 預測技術）</a:t>
            </a:r>
          </a:p>
          <a:p>
            <a:pPr lvl="0"/>
            <a:r>
              <a:rPr lang="zh-TW" altLang="zh-TW" sz="1200" b="1" u="none" strike="noStrike" kern="1200" dirty="0">
                <a:solidFill>
                  <a:schemeClr val="tx1"/>
                </a:solidFill>
                <a:effectLst/>
                <a:latin typeface="+mn-lt"/>
                <a:ea typeface="+mn-ea"/>
                <a:cs typeface="+mn-cs"/>
              </a:rPr>
              <a:t>技術原理</a:t>
            </a:r>
            <a:r>
              <a:rPr lang="zh-TW" altLang="zh-TW" sz="1200" b="0" u="none" strike="noStrike" kern="1200" dirty="0">
                <a:solidFill>
                  <a:schemeClr val="tx1"/>
                </a:solidFill>
                <a:effectLst/>
                <a:latin typeface="+mn-lt"/>
                <a:ea typeface="+mn-ea"/>
                <a:cs typeface="+mn-cs"/>
              </a:rPr>
              <a:t>：傳統大模型在訓練時，每次只預測下一個字（Next-Token Prediction）。DeepSeek 引入了 MTP，在每個訓練位置上</a:t>
            </a:r>
            <a:r>
              <a:rPr lang="zh-TW" altLang="zh-TW" sz="1200" b="1" u="none" strike="noStrike" kern="1200" dirty="0">
                <a:solidFill>
                  <a:schemeClr val="tx1"/>
                </a:solidFill>
                <a:effectLst/>
                <a:latin typeface="+mn-lt"/>
                <a:ea typeface="+mn-ea"/>
                <a:cs typeface="+mn-cs"/>
              </a:rPr>
              <a:t>一次性並行或順序預測多個未來的 Token</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核心優勢</a:t>
            </a:r>
            <a:r>
              <a:rPr lang="zh-TW" altLang="zh-TW" sz="1200" b="0" u="none" strike="noStrike" kern="1200" dirty="0">
                <a:solidFill>
                  <a:schemeClr val="tx1"/>
                </a:solidFill>
                <a:effectLst/>
                <a:latin typeface="+mn-lt"/>
                <a:ea typeface="+mn-ea"/>
                <a:cs typeface="+mn-cs"/>
              </a:rPr>
              <a:t>：大幅提升了模型在訓練時的數據利用效率，讓模型對上下文的長文本演進具有更強的規劃能力，進一步優化了程式碼與邏輯推理的表現。</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5. 極致的硬體與通訊工程優化</a:t>
            </a:r>
          </a:p>
          <a:p>
            <a:pPr lvl="0"/>
            <a:r>
              <a:rPr lang="zh-TW" altLang="zh-TW" sz="1200" b="1" u="none" strike="noStrike" kern="1200" dirty="0">
                <a:solidFill>
                  <a:schemeClr val="tx1"/>
                </a:solidFill>
                <a:effectLst/>
                <a:latin typeface="+mn-lt"/>
                <a:ea typeface="+mn-ea"/>
                <a:cs typeface="+mn-cs"/>
              </a:rPr>
              <a:t>DualPipe 流水線並行</a:t>
            </a:r>
            <a:r>
              <a:rPr lang="zh-TW" altLang="zh-TW" sz="1200" b="0" u="none" strike="noStrike" kern="1200" dirty="0">
                <a:solidFill>
                  <a:schemeClr val="tx1"/>
                </a:solidFill>
                <a:effectLst/>
                <a:latin typeface="+mn-lt"/>
                <a:ea typeface="+mn-ea"/>
                <a:cs typeface="+mn-cs"/>
              </a:rPr>
              <a:t>：自研的高效並行演算法，成功讓 GPU 在進行跨節點通訊時「重疊」計算與數據傳輸，</a:t>
            </a:r>
            <a:r>
              <a:rPr lang="zh-TW" altLang="zh-TW" sz="1200" b="1" u="none" strike="noStrike" kern="1200" dirty="0">
                <a:solidFill>
                  <a:schemeClr val="tx1"/>
                </a:solidFill>
                <a:effectLst/>
                <a:latin typeface="+mn-lt"/>
                <a:ea typeface="+mn-ea"/>
                <a:cs typeface="+mn-cs"/>
              </a:rPr>
              <a:t>消除了 GPU 等待通訊的空閒時間（Bubble）</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FP8 低精度訓練</a:t>
            </a:r>
            <a:r>
              <a:rPr lang="zh-TW" altLang="zh-TW" sz="1200" b="0" u="none" strike="noStrike" kern="1200" dirty="0">
                <a:solidFill>
                  <a:schemeClr val="tx1"/>
                </a:solidFill>
                <a:effectLst/>
                <a:latin typeface="+mn-lt"/>
                <a:ea typeface="+mn-ea"/>
                <a:cs typeface="+mn-cs"/>
              </a:rPr>
              <a:t>：大規模在模型中採用 FP8（8位浮點數）精度進行計算，在極少損失精確度的情況下，將記憶體頻寬與計算速度逼近硬體極限。</a:t>
            </a:r>
          </a:p>
          <a:p>
            <a:pPr lvl="0"/>
            <a:r>
              <a:rPr lang="zh-TW" altLang="zh-TW" sz="1200" b="1" u="none" strike="noStrike" kern="1200" dirty="0">
                <a:solidFill>
                  <a:schemeClr val="tx1"/>
                </a:solidFill>
                <a:effectLst/>
                <a:latin typeface="+mn-lt"/>
                <a:ea typeface="+mn-ea"/>
                <a:cs typeface="+mn-cs"/>
              </a:rPr>
              <a:t>3FS（Fire-Flyer 檔案系統）</a:t>
            </a:r>
            <a:r>
              <a:rPr lang="zh-TW" altLang="zh-TW" sz="1200" b="0" u="none" strike="noStrike" kern="1200" dirty="0">
                <a:solidFill>
                  <a:schemeClr val="tx1"/>
                </a:solidFill>
                <a:effectLst/>
                <a:latin typeface="+mn-lt"/>
                <a:ea typeface="+mn-ea"/>
                <a:cs typeface="+mn-cs"/>
              </a:rPr>
              <a:t>：因應自建的算力集群開發的分布式並行檔案系統，專為大模型訓練中的隨機高頻讀取量身打造。 </a:t>
            </a: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49</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2026/8/6</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4.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7.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8.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29.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6.xml.rels><?xml version="1.0" encoding="UTF-8" standalone="yes"?>
<Relationships xmlns="http://schemas.openxmlformats.org/package/2006/relationships"><Relationship Id="rId3" Type="http://schemas.openxmlformats.org/officeDocument/2006/relationships/hyperlink" Target="https://www.youtube.com/watch?v=67HgFsUQ32o" TargetMode="External"/><Relationship Id="rId2" Type="http://schemas.openxmlformats.org/officeDocument/2006/relationships/image" Target="../media/image85.png"/><Relationship Id="rId1" Type="http://schemas.openxmlformats.org/officeDocument/2006/relationships/slideLayout" Target="../slideLayouts/slideLayout3.xml"/><Relationship Id="rId4" Type="http://schemas.openxmlformats.org/officeDocument/2006/relationships/hyperlink" Target="https://blog.csdn.net/Rocky6688/article/details/163498344" TargetMode="External"/></Relationships>
</file>

<file path=ppt/slides/_rels/slide37.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92.png"/><Relationship Id="rId7" Type="http://schemas.openxmlformats.org/officeDocument/2006/relationships/image" Target="../media/image68.png"/><Relationship Id="rId2" Type="http://schemas.openxmlformats.org/officeDocument/2006/relationships/image" Target="../media/image91.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93.png"/></Relationships>
</file>

<file path=ppt/slides/_rels/slide45.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4.xml"/><Relationship Id="rId5" Type="http://schemas.openxmlformats.org/officeDocument/2006/relationships/image" Target="../media/image97.png"/><Relationship Id="rId4" Type="http://schemas.openxmlformats.org/officeDocument/2006/relationships/image" Target="../media/image96.png"/></Relationships>
</file>

<file path=ppt/slides/_rels/slide47.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image" Target="../media/image98.png"/><Relationship Id="rId1" Type="http://schemas.openxmlformats.org/officeDocument/2006/relationships/slideLayout" Target="../slideLayouts/slideLayout4.xml"/><Relationship Id="rId5" Type="http://schemas.openxmlformats.org/officeDocument/2006/relationships/image" Target="../media/image101.png"/><Relationship Id="rId4" Type="http://schemas.openxmlformats.org/officeDocument/2006/relationships/image" Target="../media/image100.png"/></Relationships>
</file>

<file path=ppt/slides/_rels/slide48.xml.rels><?xml version="1.0" encoding="UTF-8" standalone="yes"?>
<Relationships xmlns="http://schemas.openxmlformats.org/package/2006/relationships"><Relationship Id="rId8" Type="http://schemas.openxmlformats.org/officeDocument/2006/relationships/image" Target="../media/image106.png"/><Relationship Id="rId3" Type="http://schemas.openxmlformats.org/officeDocument/2006/relationships/image" Target="../media/image102.png"/><Relationship Id="rId7" Type="http://schemas.openxmlformats.org/officeDocument/2006/relationships/image" Target="../media/image105.png"/><Relationship Id="rId2" Type="http://schemas.openxmlformats.org/officeDocument/2006/relationships/notesSlide" Target="../notesSlides/notesSlide37.xml"/><Relationship Id="rId1" Type="http://schemas.openxmlformats.org/officeDocument/2006/relationships/slideLayout" Target="../slideLayouts/slideLayout4.xml"/><Relationship Id="rId6" Type="http://schemas.openxmlformats.org/officeDocument/2006/relationships/image" Target="../media/image104.png"/><Relationship Id="rId5" Type="http://schemas.openxmlformats.org/officeDocument/2006/relationships/image" Target="../media/image2300.png"/><Relationship Id="rId4" Type="http://schemas.openxmlformats.org/officeDocument/2006/relationships/image" Target="../media/image103.png"/></Relationships>
</file>

<file path=ppt/slides/_rels/slide49.xml.rels><?xml version="1.0" encoding="UTF-8" standalone="yes"?>
<Relationships xmlns="http://schemas.openxmlformats.org/package/2006/relationships"><Relationship Id="rId8" Type="http://schemas.openxmlformats.org/officeDocument/2006/relationships/image" Target="../media/image112.png"/><Relationship Id="rId3" Type="http://schemas.openxmlformats.org/officeDocument/2006/relationships/image" Target="../media/image107.png"/><Relationship Id="rId7" Type="http://schemas.openxmlformats.org/officeDocument/2006/relationships/image" Target="../media/image111.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10.png"/><Relationship Id="rId5" Type="http://schemas.openxmlformats.org/officeDocument/2006/relationships/image" Target="../media/image109.png"/><Relationship Id="rId4" Type="http://schemas.openxmlformats.org/officeDocument/2006/relationships/image" Target="../media/image108.png"/><Relationship Id="rId9" Type="http://schemas.openxmlformats.org/officeDocument/2006/relationships/image" Target="../media/image1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a:t>
            </a:r>
            <a:r>
              <a:rPr lang="en-US" altLang="zh-TW" sz="1000" dirty="0" err="1">
                <a:solidFill>
                  <a:prstClr val="black"/>
                </a:solidFill>
              </a:rPr>
              <a:t>Unsloth</a:t>
            </a:r>
            <a:endParaRPr lang="en-US" altLang="zh-TW" sz="1000" dirty="0">
              <a:solidFill>
                <a:prstClr val="black"/>
              </a:solidFill>
            </a:endParaRP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123905210"/>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a:t>
            </a:r>
            <a:r>
              <a:rPr kumimoji="0" lang="en-US" altLang="zh-TW" sz="1400" b="0" i="0" u="none" strike="noStrike" kern="1200" cap="none" spc="0" normalizeH="0" baseline="0" noProof="0" dirty="0" err="1">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ReWOO</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Reflexion</a:t>
                      </a:r>
                      <a:r>
                        <a:rPr kumimoji="0" lang="en-US" altLang="zh-TW" sz="1200" b="0" i="0" u="none" strike="noStrike" kern="1200" cap="none" spc="0" normalizeH="0" baseline="0" noProof="0" dirty="0">
                          <a:ln w="0"/>
                          <a:solidFill>
                            <a:prstClr val="black"/>
                          </a:solidFill>
                          <a:effectLst/>
                          <a:uLnTx/>
                          <a:uFillTx/>
                          <a:latin typeface="+mn-lt"/>
                          <a:ea typeface="+mn-ea"/>
                          <a:cs typeface="+mn-cs"/>
                        </a:rPr>
                        <a:t>: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ReWOO</a:t>
                      </a:r>
                      <a:r>
                        <a:rPr kumimoji="0" lang="en-US" altLang="zh-TW" sz="1200" b="0" i="0" u="none" strike="noStrike" kern="1200" cap="none" spc="0" normalizeH="0" baseline="0" noProof="0" dirty="0">
                          <a:ln w="0"/>
                          <a:solidFill>
                            <a:prstClr val="black"/>
                          </a:solidFill>
                          <a:effectLst/>
                          <a:uLnTx/>
                          <a:uFillTx/>
                          <a:latin typeface="+mn-lt"/>
                          <a:ea typeface="+mn-ea"/>
                          <a:cs typeface="+mn-cs"/>
                        </a:rPr>
                        <a: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3580833052"/>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Number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8B (4.5+3.5)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5B (2.3+2.8)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1" y="1377042"/>
            <a:ext cx="647084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(Flash/Pro)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862322"/>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Multi-head Latent Attention (</a:t>
            </a:r>
            <a:r>
              <a:rPr lang="en-US" altLang="zh-TW" sz="1600" b="1" dirty="0">
                <a:solidFill>
                  <a:schemeClr val="accent6">
                    <a:lumMod val="75000"/>
                  </a:schemeClr>
                </a:solidFill>
              </a:rPr>
              <a:t>MLA</a:t>
            </a:r>
            <a:r>
              <a:rPr lang="en-US" altLang="zh-TW" sz="1600" dirty="0"/>
              <a:t>): Reduced KV cache usage by 90%.</a:t>
            </a:r>
          </a:p>
          <a:p>
            <a:pPr marL="742950" lvl="1" indent="-285750">
              <a:lnSpc>
                <a:spcPts val="1800"/>
              </a:lnSpc>
              <a:spcBef>
                <a:spcPts val="600"/>
              </a:spcBef>
              <a:spcAft>
                <a:spcPts val="600"/>
              </a:spcAft>
              <a:buFont typeface="Arial" panose="020B0604020202020204" pitchFamily="34" charset="0"/>
              <a:buChar char="•"/>
            </a:pPr>
            <a:r>
              <a:rPr lang="en-US" altLang="zh-TW" sz="1600" dirty="0"/>
              <a:t>Group Relative Policy Optimization (</a:t>
            </a:r>
            <a:r>
              <a:rPr lang="en-US" altLang="zh-TW" sz="1600" b="1" dirty="0">
                <a:solidFill>
                  <a:schemeClr val="accent6">
                    <a:lumMod val="75000"/>
                  </a:schemeClr>
                </a:solidFill>
              </a:rPr>
              <a:t>GPRO</a:t>
            </a:r>
            <a:r>
              <a:rPr lang="en-US" altLang="zh-TW" sz="1600" dirty="0"/>
              <a:t>): Deep reasoning and self-correction.</a:t>
            </a:r>
          </a:p>
          <a:p>
            <a:pPr marL="742950" lvl="1" indent="-285750">
              <a:lnSpc>
                <a:spcPts val="1800"/>
              </a:lnSpc>
              <a:spcBef>
                <a:spcPts val="600"/>
              </a:spcBef>
              <a:spcAft>
                <a:spcPts val="600"/>
              </a:spcAft>
              <a:buFont typeface="Arial" panose="020B0604020202020204" pitchFamily="34" charset="0"/>
              <a:buChar char="•"/>
            </a:pPr>
            <a:r>
              <a:rPr lang="en-US" altLang="zh-TW" sz="1600" dirty="0"/>
              <a:t>DeepSeek </a:t>
            </a:r>
            <a:r>
              <a:rPr lang="en-US" altLang="zh-TW" sz="1600" dirty="0" err="1"/>
              <a:t>MoE</a:t>
            </a:r>
            <a:r>
              <a:rPr lang="en-US" altLang="zh-TW" sz="1600" dirty="0"/>
              <a:t>: The first 3 layers use hash routing, sqrt(</a:t>
            </a:r>
            <a:r>
              <a:rPr lang="en-US" altLang="zh-TW" sz="1600" dirty="0" err="1"/>
              <a:t>Softplus</a:t>
            </a:r>
            <a:r>
              <a:rPr lang="en-US" altLang="zh-TW" sz="1600" dirty="0"/>
              <a:t>(•)), anticipatory routing.</a:t>
            </a:r>
          </a:p>
          <a:p>
            <a:pPr marL="742950" lvl="1" indent="-285750">
              <a:lnSpc>
                <a:spcPts val="1800"/>
              </a:lnSpc>
              <a:spcBef>
                <a:spcPts val="600"/>
              </a:spcBef>
              <a:spcAft>
                <a:spcPts val="600"/>
              </a:spcAft>
              <a:buFont typeface="Arial" panose="020B0604020202020204" pitchFamily="34" charset="0"/>
              <a:buChar char="•"/>
            </a:pPr>
            <a:r>
              <a:rPr lang="en-US" altLang="zh-TW" sz="1600" dirty="0"/>
              <a:t>Dual Pipe achieves near-perfect overlap between forward/backward computations and inter-GPU communication.</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30" name="表格 29">
            <a:extLst>
              <a:ext uri="{FF2B5EF4-FFF2-40B4-BE49-F238E27FC236}">
                <a16:creationId xmlns:a16="http://schemas.microsoft.com/office/drawing/2014/main" id="{BB81A1FD-BF6F-9C58-48F1-55CC868D284B}"/>
              </a:ext>
            </a:extLst>
          </p:cNvPr>
          <p:cNvGraphicFramePr>
            <a:graphicFrameLocks noGrp="1"/>
          </p:cNvGraphicFramePr>
          <p:nvPr>
            <p:extLst>
              <p:ext uri="{D42A27DB-BD31-4B8C-83A1-F6EECF244321}">
                <p14:modId xmlns:p14="http://schemas.microsoft.com/office/powerpoint/2010/main" val="3977407485"/>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2"/>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 \(m\) 個 Token（例如 4 個）的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r>
              <a:rPr lang="zh-TW" altLang="zh-TW" sz="1100" b="0" u="none" strike="noStrike" dirty="0">
                <a:effectLst/>
                <a:latin typeface="微軟正黑體" panose="020B0604030504040204" pitchFamily="34" charset="-120"/>
                <a:ea typeface="微軟正黑體" panose="020B0604030504040204" pitchFamily="34" charset="-120"/>
                <a:hlinkClick r:id="rId3"/>
              </a:rPr>
              <a:t>1</a:t>
            </a:r>
            <a:r>
              <a:rPr lang="zh-TW"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hlinkClick r:id="rId4"/>
              </a:rPr>
              <a:t>2</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hlinkClick r:id="rId4"/>
              </a:rPr>
              <a:t>1</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r>
              <a:rPr lang="zh-TW" altLang="zh-TW" sz="1100" b="0" u="none" strike="noStrike" dirty="0">
                <a:effectLst/>
                <a:latin typeface="微軟正黑體" panose="020B0604030504040204" pitchFamily="34" charset="-120"/>
                <a:ea typeface="微軟正黑體" panose="020B0604030504040204" pitchFamily="34" charset="-120"/>
                <a:hlinkClick r:id="rId4"/>
              </a:rPr>
              <a:t>1</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7EF4FC27-0BF9-6E26-60E7-7D67E7774B50}"/>
              </a:ext>
            </a:extLst>
          </p:cNvPr>
          <p:cNvPicPr>
            <a:picLocks noChangeAspect="1"/>
          </p:cNvPicPr>
          <p:nvPr/>
        </p:nvPicPr>
        <p:blipFill>
          <a:blip r:embed="rId2"/>
          <a:stretch>
            <a:fillRect/>
          </a:stretch>
        </p:blipFill>
        <p:spPr>
          <a:xfrm>
            <a:off x="1691680" y="856984"/>
            <a:ext cx="5931288" cy="5719747"/>
          </a:xfrm>
          <a:prstGeom prst="rect">
            <a:avLst/>
          </a:prstGeom>
        </p:spPr>
      </p:pic>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2364760" y="634520"/>
            <a:ext cx="4310375" cy="5962832"/>
          </a:xfrm>
          <a:prstGeom prst="rect">
            <a:avLst/>
          </a:prstGeom>
        </p:spPr>
      </p:pic>
      <p:sp>
        <p:nvSpPr>
          <p:cNvPr id="6" name="標題 1">
            <a:extLst>
              <a:ext uri="{FF2B5EF4-FFF2-40B4-BE49-F238E27FC236}">
                <a16:creationId xmlns:a16="http://schemas.microsoft.com/office/drawing/2014/main" id="{2DCB68E9-8DA3-5172-2398-EEF1F9E21177}"/>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934CCFB2-3555-3DD4-A6B0-3DDAD38C8B93}"/>
              </a:ext>
            </a:extLst>
          </p:cNvPr>
          <p:cNvSpPr txBox="1">
            <a:spLocks/>
          </p:cNvSpPr>
          <p:nvPr/>
        </p:nvSpPr>
        <p:spPr>
          <a:xfrm>
            <a:off x="6269100" y="116499"/>
            <a:ext cx="2842877" cy="1080120"/>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multi-Head Compression</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Experts</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Mog = Mixture of Groups</a:t>
            </a:r>
          </a:p>
          <a:p>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MoFA</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Mixture of Fine-grain Attention</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3347864" y="6683052"/>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(Flash/Pro)</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err="1"/>
              <a:t>AttnRes</a:t>
            </a:r>
            <a:r>
              <a:rPr lang="en-US" altLang="zh-TW" sz="1600" dirty="0"/>
              <a:t> reduces layers (</a:t>
            </a:r>
            <a:r>
              <a:rPr lang="en-US" altLang="zh-TW" sz="1600" b="1" dirty="0" err="1">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a:t>
            </a:r>
            <a:r>
              <a:rPr lang="en-US" altLang="zh-TW" sz="1600" dirty="0" err="1"/>
              <a:t>MoE</a:t>
            </a:r>
            <a:r>
              <a:rPr lang="en-US" altLang="zh-TW" sz="1600" dirty="0"/>
              <a:t>: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a:t>
            </a:r>
            <a:r>
              <a:rPr lang="en-US" altLang="zh-TW" sz="14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err="1">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m:t>
                      </m:r>
                      <m:r>
                        <m:rPr>
                          <m:nor/>
                        </m:rPr>
                        <a:rPr lang="zh-TW" altLang="en-US" sz="900" i="0">
                          <a:latin typeface="微軟正黑體 Light" panose="020B0304030504040204" pitchFamily="34" charset="-120"/>
                          <a:ea typeface="微軟正黑體 Light" panose="020B0304030504040204" pitchFamily="34" charset="-120"/>
                        </a:rPr>
                        <m:t>256</m:t>
                      </m:r>
                      <m:d>
                        <m:dPr>
                          <m:ctrlPr>
                            <a:rPr lang="zh-TW" altLang="en-US" sz="900" i="1">
                              <a:latin typeface="Cambria Math" panose="02040503050406030204" pitchFamily="18" charset="0"/>
                            </a:rPr>
                          </m:ctrlPr>
                        </m:dPr>
                        <m:e>
                          <m:r>
                            <m:rPr>
                              <m:nor/>
                            </m:rPr>
                            <a:rPr lang="zh-TW" altLang="en-US" sz="900" i="0">
                              <a:latin typeface="微軟正黑體 Light" panose="020B0304030504040204" pitchFamily="34" charset="-120"/>
                              <a:ea typeface="微軟正黑體 Light" panose="020B0304030504040204" pitchFamily="34" charset="-120"/>
                            </a:rPr>
                            <m:t>Hash</m:t>
                          </m:r>
                          <m:r>
                            <m:rPr>
                              <m:nor/>
                            </m:rPr>
                            <a:rPr lang="zh-TW" altLang="en-US" sz="900" i="0">
                              <a:latin typeface="微軟正黑體 Light" panose="020B0304030504040204" pitchFamily="34" charset="-120"/>
                              <a:ea typeface="微軟正黑體 Light" panose="020B0304030504040204" pitchFamily="34" charset="-12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m:t>
                          </m:r>
                          <m:r>
                            <m:rPr>
                              <m:nor/>
                            </m:rPr>
                            <a:rPr lang="zh-TW" altLang="en-US" sz="900" i="0">
                              <a:latin typeface="微軟正黑體 Light" panose="020B0304030504040204" pitchFamily="34" charset="-120"/>
                              <a:ea typeface="微軟正黑體 Light" panose="020B0304030504040204" pitchFamily="34" charset="-120"/>
                            </a:rPr>
                            <m:t> 1 的內容</m:t>
                          </m:r>
                        </m:e>
                      </m:d>
                    </m:oMath>
                    <m:oMath xmlns:m="http://schemas.openxmlformats.org/officeDocument/2006/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2186</TotalTime>
  <Words>19266</Words>
  <Application>Microsoft Office PowerPoint</Application>
  <PresentationFormat>如螢幕大小 (4:3)</PresentationFormat>
  <Paragraphs>2913</Paragraphs>
  <Slides>49</Slides>
  <Notes>38</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49</vt:i4>
      </vt:variant>
    </vt:vector>
  </HeadingPairs>
  <TitlesOfParts>
    <vt:vector size="67"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1816</cp:revision>
  <cp:lastPrinted>2024-07-30T01:44:15Z</cp:lastPrinted>
  <dcterms:created xsi:type="dcterms:W3CDTF">2019-11-08T03:01:47Z</dcterms:created>
  <dcterms:modified xsi:type="dcterms:W3CDTF">2026-08-06T09:13:19Z</dcterms:modified>
</cp:coreProperties>
</file>