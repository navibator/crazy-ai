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0"/>
  </p:notesMasterIdLst>
  <p:handoutMasterIdLst>
    <p:handoutMasterId r:id="rId31"/>
  </p:handoutMasterIdLst>
  <p:sldIdLst>
    <p:sldId id="3459" r:id="rId2"/>
    <p:sldId id="3472" r:id="rId3"/>
    <p:sldId id="3573" r:id="rId4"/>
    <p:sldId id="3465" r:id="rId5"/>
    <p:sldId id="3574" r:id="rId6"/>
    <p:sldId id="3566" r:id="rId7"/>
    <p:sldId id="3563" r:id="rId8"/>
    <p:sldId id="3562" r:id="rId9"/>
    <p:sldId id="3556" r:id="rId10"/>
    <p:sldId id="3551" r:id="rId11"/>
    <p:sldId id="3559" r:id="rId12"/>
    <p:sldId id="3570" r:id="rId13"/>
    <p:sldId id="3571" r:id="rId14"/>
    <p:sldId id="3576" r:id="rId15"/>
    <p:sldId id="3572" r:id="rId16"/>
    <p:sldId id="3575" r:id="rId17"/>
    <p:sldId id="3567" r:id="rId18"/>
    <p:sldId id="3568" r:id="rId19"/>
    <p:sldId id="3561" r:id="rId20"/>
    <p:sldId id="3534" r:id="rId21"/>
    <p:sldId id="3565" r:id="rId22"/>
    <p:sldId id="3451" r:id="rId23"/>
    <p:sldId id="3560" r:id="rId24"/>
    <p:sldId id="3564" r:id="rId25"/>
    <p:sldId id="3536" r:id="rId26"/>
    <p:sldId id="3569" r:id="rId27"/>
    <p:sldId id="3535" r:id="rId28"/>
    <p:sldId id="3549" r:id="rId2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LSTM" id="{EE40A592-26E0-44D5-B20C-08484E6740F4}">
          <p14:sldIdLst>
            <p14:sldId id="3573"/>
            <p14:sldId id="3465"/>
            <p14:sldId id="3574"/>
            <p14:sldId id="3566"/>
          </p14:sldIdLst>
        </p14:section>
        <p14:section name="Optimizer-MuON" id="{D96295E3-C59A-456D-AE59-C3D5699A4263}">
          <p14:sldIdLst>
            <p14:sldId id="3563"/>
            <p14:sldId id="3562"/>
            <p14:sldId id="3556"/>
            <p14:sldId id="3551"/>
          </p14:sldIdLst>
        </p14:section>
        <p14:section name="Moonshot-Kimi" id="{7C2BE5B2-C507-46C7-871E-C935EB653EC3}">
          <p14:sldIdLst>
            <p14:sldId id="3559"/>
            <p14:sldId id="3570"/>
            <p14:sldId id="3571"/>
            <p14:sldId id="3576"/>
            <p14:sldId id="3572"/>
            <p14:sldId id="3575"/>
            <p14:sldId id="3567"/>
            <p14:sldId id="3568"/>
            <p14:sldId id="3561"/>
            <p14:sldId id="3534"/>
            <p14:sldId id="3565"/>
            <p14:sldId id="3451"/>
            <p14:sldId id="3560"/>
            <p14:sldId id="3564"/>
            <p14:sldId id="3536"/>
            <p14:sldId id="3569"/>
          </p14:sldIdLst>
        </p14:section>
        <p14:section name="Conclusion" id="{D9E6914C-A73F-4176-B0F8-3F87EAC09119}">
          <p14:sldIdLst>
            <p14:sldId id="3535"/>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F9900"/>
    <a:srgbClr val="FDF3DB"/>
    <a:srgbClr val="2260DC"/>
    <a:srgbClr val="F0F0F0"/>
    <a:srgbClr val="F8D462"/>
    <a:srgbClr val="4C6BFF"/>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59738" autoAdjust="0"/>
  </p:normalViewPr>
  <p:slideViewPr>
    <p:cSldViewPr>
      <p:cViewPr>
        <p:scale>
          <a:sx n="100" d="100"/>
          <a:sy n="100" d="100"/>
        </p:scale>
        <p:origin x="1080" y="58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2026/9/2</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2026/9/2</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itntnews.com/newDetail.html?newId=21495" TargetMode="External"/><Relationship Id="rId2" Type="http://schemas.openxmlformats.org/officeDocument/2006/relationships/slide" Target="../slides/slide6.xml"/><Relationship Id="rId1" Type="http://schemas.openxmlformats.org/officeDocument/2006/relationships/notesMaster" Target="../notesMasters/notesMaster1.xml"/><Relationship Id="rId4" Type="http://schemas.openxmlformats.org/officeDocument/2006/relationships/hyperlink" Target="https://hao.cnyes.com/post/262066"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AC8A5-7208-42FD-4AB1-69FB94E8C31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E50C716-EBED-7B37-B89E-FE33A365325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3A44D22-12E4-0B2B-0CE3-74F0B4E51A5B}"/>
              </a:ext>
            </a:extLst>
          </p:cNvPr>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53B19BF4-B58A-E05F-89B6-8578AAFD9E4C}"/>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34364148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0B52B-AE4C-4051-C3F5-0DE813B4CE9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8850CCC-3A19-9090-B62D-D6F6158F0B4B}"/>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0644453-D979-7592-6351-6937AA22A0DF}"/>
              </a:ext>
            </a:extLst>
          </p:cNvPr>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95DC47D7-CF20-0354-B2A3-FE46E998FD7E}"/>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15428810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Kimi（月之暗面團隊）的大模型架構與傳統的 </a:t>
            </a:r>
            <a:r>
              <a:rPr lang="zh-TW" altLang="zh-TW" sz="1200" b="1" u="none" strike="noStrike" kern="1200" dirty="0">
                <a:solidFill>
                  <a:schemeClr val="tx1"/>
                </a:solidFill>
                <a:effectLst/>
                <a:latin typeface="+mn-lt"/>
                <a:ea typeface="+mn-ea"/>
                <a:cs typeface="+mn-cs"/>
              </a:rPr>
              <a:t>LSTM（長短期記憶網路）</a:t>
            </a:r>
            <a:r>
              <a:rPr lang="zh-TW" altLang="zh-TW" sz="1200" b="0" u="none" strike="noStrike" kern="1200" dirty="0">
                <a:solidFill>
                  <a:schemeClr val="tx1"/>
                </a:solidFill>
                <a:effectLst/>
                <a:latin typeface="+mn-lt"/>
                <a:ea typeface="+mn-ea"/>
                <a:cs typeface="+mn-cs"/>
              </a:rPr>
              <a:t> 之間，存在著深刻的</a:t>
            </a:r>
            <a:r>
              <a:rPr lang="zh-TW" altLang="zh-TW" sz="1200" b="1" u="none" strike="noStrike" kern="1200" dirty="0">
                <a:solidFill>
                  <a:schemeClr val="tx1"/>
                </a:solidFill>
                <a:effectLst/>
                <a:latin typeface="+mn-lt"/>
                <a:ea typeface="+mn-ea"/>
                <a:cs typeface="+mn-cs"/>
              </a:rPr>
              <a:t>技術演進與「旋轉」概念的傳承</a:t>
            </a:r>
            <a:r>
              <a:rPr lang="zh-TW" altLang="zh-TW" sz="1200" b="0" u="none" strike="noStrike" kern="1200" dirty="0">
                <a:solidFill>
                  <a:schemeClr val="tx1"/>
                </a:solidFill>
                <a:effectLst/>
                <a:latin typeface="+mn-lt"/>
                <a:ea typeface="+mn-ea"/>
                <a:cs typeface="+mn-cs"/>
              </a:rPr>
              <a:t>關係。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在早期，處理序列資料主要依賴像 LSTM 這樣的循環神經網絡</a:t>
            </a:r>
            <a:r>
              <a:rPr lang="en-US" altLang="zh-TW" sz="1200" b="0" u="none" strike="noStrike" kern="1200" dirty="0">
                <a:solidFill>
                  <a:schemeClr val="tx1"/>
                </a:solidFill>
                <a:effectLst/>
                <a:latin typeface="+mn-lt"/>
                <a:ea typeface="+mn-ea"/>
                <a:cs typeface="+mn-cs"/>
              </a:rPr>
              <a:t>(RNN)</a:t>
            </a:r>
            <a:r>
              <a:rPr lang="zh-TW" altLang="zh-TW" sz="1200" b="0" u="none" strike="noStrike" kern="1200" dirty="0">
                <a:solidFill>
                  <a:schemeClr val="tx1"/>
                </a:solidFill>
                <a:effectLst/>
                <a:latin typeface="+mn-lt"/>
                <a:ea typeface="+mn-ea"/>
                <a:cs typeface="+mn-cs"/>
              </a:rPr>
              <a:t>，但它必須像單行道一樣依序排隊處理，速度較慢且容易遺忘長文本。後來以 Transformer 為主的「注意力機制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」成為主流。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而 Kimi 團隊在近年</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Kimi Linear 與 KDA 等新架構研究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對底層技術進行突破時，借鑒並延伸了 LSTM 的核心精神</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pPr lvl="0"/>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將概念「旋轉 90 度」</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OpenAI 創辦人</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Ilya Sutskever 曾提出設想，把按時間序列處理資料的 LSTM「旋轉 90 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將時間軸換成深度軸</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就會變成殘差網路</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ResNet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Kimi 團隊進一步思考：既然時間上的 LSTM 能對應深度上的殘差，那注意力機制也可以如法炮製，推出 </a:t>
            </a:r>
            <a:r>
              <a:rPr lang="zh-TW" altLang="zh-TW" sz="1200" b="1" u="none" strike="noStrike" kern="1200" dirty="0">
                <a:solidFill>
                  <a:schemeClr val="tx1"/>
                </a:solidFill>
                <a:effectLst/>
                <a:latin typeface="+mn-lt"/>
                <a:ea typeface="+mn-ea"/>
                <a:cs typeface="+mn-cs"/>
              </a:rPr>
              <a:t>Attention Residuals（注意力殘差）</a:t>
            </a:r>
            <a:r>
              <a:rPr lang="zh-TW" altLang="zh-TW" sz="1200" b="0" u="none" strike="noStrike" kern="1200" dirty="0">
                <a:solidFill>
                  <a:schemeClr val="tx1"/>
                </a:solidFill>
                <a:effectLst/>
                <a:latin typeface="+mn-lt"/>
                <a:ea typeface="+mn-ea"/>
                <a:cs typeface="+mn-cs"/>
              </a:rPr>
              <a:t> 等技術，讓模型在深度方向也能像 LSTM 處理上下文一樣「回頭看」。 </a:t>
            </a:r>
          </a:p>
          <a:p>
            <a:pPr lvl="0"/>
            <a:endParaRPr lang="en-US" altLang="zh-TW" sz="1200" b="1" u="none" strike="noStrike" kern="1200" dirty="0">
              <a:solidFill>
                <a:schemeClr val="tx1"/>
              </a:solidFill>
              <a:effectLst/>
              <a:latin typeface="+mn-lt"/>
              <a:ea typeface="+mn-ea"/>
              <a:cs typeface="+mn-cs"/>
            </a:endParaRPr>
          </a:p>
          <a:p>
            <a:pPr lvl="0"/>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借鏡遺忘門與記憶衰減</a:t>
            </a:r>
            <a:r>
              <a:rPr lang="zh-TW" altLang="zh-TW" sz="1200" b="0" u="none" strike="noStrike" kern="1200" dirty="0">
                <a:solidFill>
                  <a:schemeClr val="tx1"/>
                </a:solidFill>
                <a:effectLst/>
                <a:latin typeface="+mn-lt"/>
                <a:ea typeface="+mn-ea"/>
                <a:cs typeface="+mn-cs"/>
              </a:rPr>
              <a:t>：在 Kimi 的新型線性注意力機制與記憶架構（如 Kimi Linear/KDA 演算法）中，為了在超長文本（如百萬級上下文）中兼顧速度與記憶能力，他們引入了類似 LSTM「遺忘門（Forget Gate）」的概念，將權重衰減擴展為更精細的對角化矩陣，用來精準控制過去的資訊或記憶要保留多久、何時淡出。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2</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簡單來說，Kimi 並非直接使用古老的 LSTM 來建構現今的千億級大模型，而是</a:t>
            </a:r>
            <a:r>
              <a:rPr lang="zh-TW" altLang="zh-TW" sz="1200" b="1" u="none" strike="noStrike" kern="1200" dirty="0">
                <a:solidFill>
                  <a:schemeClr val="tx1"/>
                </a:solidFill>
                <a:effectLst/>
                <a:latin typeface="+mn-lt"/>
                <a:ea typeface="+mn-ea"/>
                <a:cs typeface="+mn-cs"/>
              </a:rPr>
              <a:t>從 LSTM 的「門控與記憶衰減」機制中汲取靈感</a:t>
            </a:r>
            <a:r>
              <a:rPr lang="zh-TW" altLang="zh-TW" sz="1200" b="0" u="none" strike="noStrike" kern="1200" dirty="0">
                <a:solidFill>
                  <a:schemeClr val="tx1"/>
                </a:solidFill>
                <a:effectLst/>
                <a:latin typeface="+mn-lt"/>
                <a:ea typeface="+mn-ea"/>
                <a:cs typeface="+mn-cs"/>
              </a:rPr>
              <a:t>，將其與現代的注意力機制結合，改良並創造出能高效處理超長文本的新一代線性架構。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784148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a:t>
            </a:r>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dirty="0"/>
              <a:t>1.</a:t>
            </a:r>
            <a:r>
              <a:rPr lang="zh-TW" altLang="en-US" dirty="0"/>
              <a:t> </a:t>
            </a:r>
            <a:r>
              <a:rPr lang="en-US" altLang="zh-TW" dirty="0"/>
              <a:t>token</a:t>
            </a:r>
            <a:r>
              <a:rPr lang="zh-TW" altLang="en-US" dirty="0"/>
              <a:t>效率</a:t>
            </a:r>
            <a:r>
              <a:rPr lang="en-US" altLang="zh-TW" dirty="0">
                <a:sym typeface="Wingdings" panose="05000000000000000000" pitchFamily="2" charset="2"/>
              </a:rPr>
              <a:t></a:t>
            </a:r>
            <a:r>
              <a:rPr lang="zh-TW" altLang="en-US" dirty="0">
                <a:sym typeface="Wingdings" panose="05000000000000000000" pitchFamily="2" charset="2"/>
              </a:rPr>
              <a:t> </a:t>
            </a:r>
            <a:r>
              <a:rPr lang="zh-TW" altLang="en-US" dirty="0"/>
              <a:t>更強的先驗知識</a:t>
            </a:r>
            <a:r>
              <a:rPr lang="en-US" altLang="zh-TW" dirty="0"/>
              <a:t>,</a:t>
            </a:r>
            <a:r>
              <a:rPr lang="zh-TW" altLang="en-US" dirty="0"/>
              <a:t> 讓智能體在做</a:t>
            </a:r>
            <a:r>
              <a:rPr lang="en-US" altLang="zh-TW" dirty="0"/>
              <a:t>RLHF</a:t>
            </a:r>
            <a:r>
              <a:rPr lang="zh-TW" altLang="en-US" dirty="0"/>
              <a:t>時</a:t>
            </a:r>
            <a:r>
              <a:rPr lang="en-US" altLang="zh-TW" dirty="0"/>
              <a:t>,</a:t>
            </a:r>
            <a:r>
              <a:rPr lang="zh-TW" altLang="en-US" dirty="0"/>
              <a:t>能更有效率的搜尋答案</a:t>
            </a:r>
            <a:endParaRPr lang="en-US" altLang="zh-TW" dirty="0"/>
          </a:p>
          <a:p>
            <a:r>
              <a:rPr lang="en-US" altLang="zh-TW" dirty="0"/>
              <a:t>2.</a:t>
            </a:r>
            <a:r>
              <a:rPr lang="zh-TW" altLang="en-US" dirty="0"/>
              <a:t> 長上下文</a:t>
            </a:r>
            <a:r>
              <a:rPr lang="en-US" altLang="zh-TW" dirty="0">
                <a:sym typeface="Wingdings" panose="05000000000000000000" pitchFamily="2" charset="2"/>
              </a:rPr>
              <a:t></a:t>
            </a:r>
            <a:r>
              <a:rPr lang="zh-TW" altLang="en-US" dirty="0">
                <a:sym typeface="Wingdings" panose="05000000000000000000" pitchFamily="2" charset="2"/>
              </a:rPr>
              <a:t> 能持續運作更久的</a:t>
            </a:r>
            <a:r>
              <a:rPr lang="en-US" altLang="zh-TW" dirty="0">
                <a:sym typeface="Wingdings" panose="05000000000000000000" pitchFamily="2" charset="2"/>
              </a:rPr>
              <a:t>Agent, </a:t>
            </a:r>
            <a:r>
              <a:rPr lang="zh-TW" altLang="en-US" dirty="0">
                <a:sym typeface="Wingdings" panose="05000000000000000000" pitchFamily="2" charset="2"/>
              </a:rPr>
              <a:t>能連續執行幾個月</a:t>
            </a:r>
            <a:r>
              <a:rPr lang="en-US" altLang="zh-TW" dirty="0">
                <a:sym typeface="Wingdings" panose="05000000000000000000" pitchFamily="2" charset="2"/>
              </a:rPr>
              <a:t>,</a:t>
            </a:r>
            <a:r>
              <a:rPr lang="zh-TW" altLang="en-US" dirty="0">
                <a:sym typeface="Wingdings" panose="05000000000000000000" pitchFamily="2" charset="2"/>
              </a:rPr>
              <a:t> 完成複雜任務</a:t>
            </a:r>
            <a:r>
              <a:rPr lang="en-US" altLang="zh-TW" dirty="0">
                <a:sym typeface="Wingdings" panose="05000000000000000000" pitchFamily="2" charset="2"/>
              </a:rPr>
              <a:t>.</a:t>
            </a:r>
          </a:p>
          <a:p>
            <a:r>
              <a:rPr lang="en-US" altLang="zh-TW" dirty="0">
                <a:sym typeface="Wingdings" panose="05000000000000000000" pitchFamily="2" charset="2"/>
              </a:rPr>
              <a:t>3.</a:t>
            </a:r>
            <a:r>
              <a:rPr lang="zh-TW" altLang="en-US" dirty="0">
                <a:sym typeface="Wingdings" panose="05000000000000000000" pitchFamily="2" charset="2"/>
              </a:rPr>
              <a:t> </a:t>
            </a:r>
            <a:r>
              <a:rPr lang="en-US" altLang="zh-TW" dirty="0">
                <a:sym typeface="Wingdings" panose="05000000000000000000" pitchFamily="2" charset="2"/>
              </a:rPr>
              <a:t>Agent</a:t>
            </a:r>
            <a:r>
              <a:rPr lang="zh-TW" altLang="en-US" dirty="0">
                <a:sym typeface="Wingdings" panose="05000000000000000000" pitchFamily="2" charset="2"/>
              </a:rPr>
              <a:t>蜂群</a:t>
            </a:r>
            <a:r>
              <a:rPr lang="en-US" altLang="zh-TW" dirty="0">
                <a:sym typeface="Wingdings" panose="05000000000000000000" pitchFamily="2" charset="2"/>
              </a:rPr>
              <a:t></a:t>
            </a:r>
            <a:r>
              <a:rPr lang="zh-TW" altLang="en-US" dirty="0">
                <a:sym typeface="Wingdings" panose="05000000000000000000" pitchFamily="2" charset="2"/>
              </a:rPr>
              <a:t> 疊加前兩者</a:t>
            </a:r>
            <a:r>
              <a:rPr lang="en-US" altLang="zh-TW" dirty="0">
                <a:sym typeface="Wingdings" panose="05000000000000000000" pitchFamily="2" charset="2"/>
              </a:rPr>
              <a:t>.</a:t>
            </a:r>
          </a:p>
          <a:p>
            <a:endParaRPr lang="en-US" altLang="zh-TW" dirty="0">
              <a:sym typeface="Wingdings" panose="05000000000000000000" pitchFamily="2" charset="2"/>
            </a:endParaRPr>
          </a:p>
          <a:p>
            <a:r>
              <a:rPr lang="zh-TW" altLang="en-US" dirty="0"/>
              <a:t>一、 </a:t>
            </a:r>
            <a:r>
              <a:rPr lang="en-US" altLang="zh-TW" dirty="0"/>
              <a:t>Kimi </a:t>
            </a:r>
            <a:r>
              <a:rPr lang="zh-TW" altLang="en-US" dirty="0"/>
              <a:t>的「三板斧」策略</a:t>
            </a:r>
          </a:p>
          <a:p>
            <a:r>
              <a:rPr lang="zh-TW" altLang="en-US" dirty="0"/>
              <a:t>很多大模型只會硬砸錢、堆機器、瘋狂吞資料。但月之暗面（</a:t>
            </a:r>
            <a:r>
              <a:rPr lang="en-US" altLang="zh-TW" dirty="0"/>
              <a:t>Moonshot</a:t>
            </a:r>
            <a:r>
              <a:rPr lang="zh-TW" altLang="en-US" dirty="0"/>
              <a:t>）創辦人楊植麟認為，光靠硬砸不行，得在三個維度上搞創新：</a:t>
            </a:r>
          </a:p>
          <a:p>
            <a:r>
              <a:rPr lang="zh-TW" altLang="en-US" dirty="0"/>
              <a:t>* 讓每一字（</a:t>
            </a:r>
            <a:r>
              <a:rPr lang="en-US" altLang="zh-TW" dirty="0"/>
              <a:t>Token</a:t>
            </a:r>
            <a:r>
              <a:rPr lang="zh-TW" altLang="en-US" dirty="0"/>
              <a:t>）更值錢：不靠乾嗑數據，而是換更好的“發動機”，用同樣的數據練出更聰明的模型。 </a:t>
            </a:r>
          </a:p>
          <a:p>
            <a:r>
              <a:rPr lang="zh-TW" altLang="en-US" dirty="0"/>
              <a:t>* 把記憶拉得極長：讓 </a:t>
            </a:r>
            <a:r>
              <a:rPr lang="en-US" altLang="zh-TW" dirty="0"/>
              <a:t>AI </a:t>
            </a:r>
            <a:r>
              <a:rPr lang="zh-TW" altLang="en-US" dirty="0"/>
              <a:t>能連續工作幾天甚至幾個月，能一口氣讀懂一整個軟體程式碼庫。 </a:t>
            </a:r>
          </a:p>
          <a:p>
            <a:pPr marL="0" indent="0">
              <a:buFont typeface="Arial" panose="020B0604020202020204" pitchFamily="34" charset="0"/>
              <a:buNone/>
            </a:pPr>
            <a:r>
              <a:rPr lang="en-US" altLang="zh-TW" dirty="0"/>
              <a:t>* </a:t>
            </a:r>
            <a:r>
              <a:rPr lang="zh-TW" altLang="en-US" dirty="0"/>
              <a:t>讓 </a:t>
            </a:r>
            <a:r>
              <a:rPr lang="en-US" altLang="zh-TW" dirty="0"/>
              <a:t>AI</a:t>
            </a:r>
            <a:r>
              <a:rPr lang="zh-TW" altLang="en-US" dirty="0"/>
              <a:t>「組團群毆」：不再靠單一 </a:t>
            </a:r>
            <a:r>
              <a:rPr lang="en-US" altLang="zh-TW" dirty="0"/>
              <a:t>AI </a:t>
            </a:r>
            <a:r>
              <a:rPr lang="zh-TW" altLang="en-US" dirty="0"/>
              <a:t>硬抗，而是成立「</a:t>
            </a:r>
            <a:r>
              <a:rPr lang="en-US" altLang="zh-TW" dirty="0"/>
              <a:t>AI </a:t>
            </a:r>
            <a:r>
              <a:rPr lang="zh-TW" altLang="en-US" dirty="0"/>
              <a:t>小分隊」分工合作。</a:t>
            </a:r>
            <a:endParaRPr lang="en-US" altLang="zh-TW" dirty="0"/>
          </a:p>
          <a:p>
            <a:pPr marL="171450" indent="-171450">
              <a:buFont typeface="Arial" panose="020B0604020202020204" pitchFamily="34" charset="0"/>
              <a:buChar char="•"/>
            </a:pPr>
            <a:endParaRPr lang="zh-TW" altLang="en-US" dirty="0"/>
          </a:p>
          <a:p>
            <a:r>
              <a:rPr lang="zh-TW" altLang="en-US" dirty="0"/>
              <a:t>二、 技術大突破：換引擎與防爆倉</a:t>
            </a:r>
          </a:p>
          <a:p>
            <a:r>
              <a:rPr lang="zh-TW" altLang="en-US" dirty="0"/>
              <a:t>* 換上黑科技引擎（</a:t>
            </a:r>
            <a:r>
              <a:rPr lang="en-US" altLang="zh-TW" dirty="0"/>
              <a:t>Muon </a:t>
            </a:r>
            <a:r>
              <a:rPr lang="zh-TW" altLang="en-US" dirty="0"/>
              <a:t>優化器）：他們是全球第一個把這種高階演算法用到萬億參數模型上的團隊。效果極度拔群</a:t>
            </a:r>
            <a:r>
              <a:rPr lang="en-US" altLang="zh-TW" dirty="0"/>
              <a:t>——</a:t>
            </a:r>
            <a:r>
              <a:rPr lang="zh-TW" altLang="en-US" dirty="0"/>
              <a:t>相當於把手裡現有的高品質資料翻了一倍。 </a:t>
            </a:r>
          </a:p>
          <a:p>
            <a:pPr marL="0" indent="0">
              <a:buFont typeface="Arial" panose="020B0604020202020204" pitchFamily="34" charset="0"/>
              <a:buNone/>
            </a:pPr>
            <a:r>
              <a:rPr lang="en-US" altLang="zh-TW" dirty="0"/>
              <a:t>* </a:t>
            </a:r>
            <a:r>
              <a:rPr lang="zh-TW" altLang="en-US" dirty="0"/>
              <a:t>解決 </a:t>
            </a:r>
            <a:r>
              <a:rPr lang="en-US" altLang="zh-TW" dirty="0"/>
              <a:t>AI </a:t>
            </a:r>
            <a:r>
              <a:rPr lang="zh-TW" altLang="en-US" dirty="0"/>
              <a:t>訓練炸機：模型越大，訓練時越容易「走火入魔」把程式搞崩。他們發明了個叫 </a:t>
            </a:r>
            <a:r>
              <a:rPr lang="en-US" altLang="zh-TW" dirty="0"/>
              <a:t>QK Clip </a:t>
            </a:r>
            <a:r>
              <a:rPr lang="zh-TW" altLang="en-US" dirty="0"/>
              <a:t>的小裝置，成功把訓練風險壓住了，破紀錄地讓模型吃了 </a:t>
            </a:r>
            <a:r>
              <a:rPr lang="en-US" altLang="zh-TW" dirty="0"/>
              <a:t>30 </a:t>
            </a:r>
            <a:r>
              <a:rPr lang="zh-TW" altLang="en-US" dirty="0"/>
              <a:t>兆的數據，全程沒崩過一次。</a:t>
            </a:r>
            <a:endParaRPr lang="en-US" altLang="zh-TW" dirty="0"/>
          </a:p>
          <a:p>
            <a:pPr marL="171450" indent="-171450">
              <a:buFont typeface="Arial" panose="020B0604020202020204" pitchFamily="34" charset="0"/>
              <a:buChar char="•"/>
            </a:pPr>
            <a:endParaRPr lang="zh-TW" altLang="en-US" dirty="0"/>
          </a:p>
          <a:p>
            <a:r>
              <a:rPr lang="zh-TW" altLang="en-US" dirty="0"/>
              <a:t>三、 架構進化：長記憶與“把演算法旋轉</a:t>
            </a:r>
            <a:r>
              <a:rPr lang="en-US" altLang="zh-TW" dirty="0"/>
              <a:t>90</a:t>
            </a:r>
            <a:r>
              <a:rPr lang="zh-TW" altLang="en-US" dirty="0"/>
              <a:t>度”</a:t>
            </a:r>
          </a:p>
          <a:p>
            <a:r>
              <a:rPr lang="zh-TW" altLang="en-US" dirty="0"/>
              <a:t>* </a:t>
            </a:r>
            <a:r>
              <a:rPr lang="en-US" altLang="zh-TW" dirty="0"/>
              <a:t>Kimi Linear </a:t>
            </a:r>
            <a:r>
              <a:rPr lang="zh-TW" altLang="en-US" dirty="0"/>
              <a:t>架構</a:t>
            </a:r>
            <a:r>
              <a:rPr lang="en-US" altLang="zh-TW" dirty="0"/>
              <a:t>:</a:t>
            </a:r>
            <a:r>
              <a:rPr lang="zh-TW" altLang="en-US" dirty="0"/>
              <a:t>以前的 </a:t>
            </a:r>
            <a:r>
              <a:rPr lang="en-US" altLang="zh-TW" dirty="0"/>
              <a:t>AI </a:t>
            </a:r>
            <a:r>
              <a:rPr lang="zh-TW" altLang="en-US" dirty="0"/>
              <a:t>要嘛是個「近視眼」</a:t>
            </a:r>
            <a:r>
              <a:rPr lang="en-US" altLang="zh-TW" dirty="0"/>
              <a:t>(</a:t>
            </a:r>
            <a:r>
              <a:rPr lang="zh-TW" altLang="en-US" dirty="0"/>
              <a:t>長文記不住</a:t>
            </a:r>
            <a:r>
              <a:rPr lang="en-US" altLang="zh-TW" dirty="0"/>
              <a:t>), </a:t>
            </a:r>
            <a:r>
              <a:rPr lang="zh-TW" altLang="en-US" dirty="0"/>
              <a:t>要嘛是個「死記硬背狂」</a:t>
            </a:r>
            <a:r>
              <a:rPr lang="en-US" altLang="zh-TW" dirty="0"/>
              <a:t>(</a:t>
            </a:r>
            <a:r>
              <a:rPr lang="zh-TW" altLang="en-US" dirty="0"/>
              <a:t>啥都記</a:t>
            </a:r>
            <a:r>
              <a:rPr lang="en-US" altLang="zh-TW" dirty="0"/>
              <a:t>,</a:t>
            </a:r>
            <a:r>
              <a:rPr lang="zh-TW" altLang="en-US" dirty="0"/>
              <a:t>腦子亂了</a:t>
            </a:r>
            <a:r>
              <a:rPr lang="en-US" altLang="zh-TW" dirty="0"/>
              <a:t>).</a:t>
            </a:r>
            <a:r>
              <a:rPr lang="zh-TW" altLang="en-US" dirty="0"/>
              <a:t> </a:t>
            </a:r>
            <a:r>
              <a:rPr lang="en-US" altLang="zh-TW" dirty="0"/>
              <a:t>Kimi </a:t>
            </a:r>
            <a:r>
              <a:rPr lang="zh-TW" altLang="en-US" dirty="0"/>
              <a:t>換了新結構，學會了像人一樣有選擇地忘記廢話留下精髓</a:t>
            </a:r>
            <a:r>
              <a:rPr lang="en-US" altLang="zh-TW" dirty="0"/>
              <a:t>, </a:t>
            </a:r>
            <a:r>
              <a:rPr lang="zh-TW" altLang="en-US" dirty="0"/>
              <a:t>而且短任務和超長任務都很強。 </a:t>
            </a:r>
          </a:p>
          <a:p>
            <a:pPr marL="0" indent="0">
              <a:buFont typeface="Arial" panose="020B0604020202020204" pitchFamily="34" charset="0"/>
              <a:buNone/>
            </a:pPr>
            <a:r>
              <a:rPr lang="en-US" altLang="zh-TW" dirty="0"/>
              <a:t>* </a:t>
            </a:r>
            <a:r>
              <a:rPr lang="zh-TW" altLang="en-US" dirty="0"/>
              <a:t>注意力殘差：他們做了一個大膽嘗試，把原來用來做「前後記憶」的演算法旋轉了 </a:t>
            </a:r>
            <a:r>
              <a:rPr lang="en-US" altLang="zh-TW" dirty="0"/>
              <a:t>90 </a:t>
            </a:r>
            <a:r>
              <a:rPr lang="zh-TW" altLang="en-US" dirty="0"/>
              <a:t>度用到「網路深度」上，讓 </a:t>
            </a:r>
            <a:r>
              <a:rPr lang="en-US" altLang="zh-TW" dirty="0"/>
              <a:t>AI </a:t>
            </a:r>
            <a:r>
              <a:rPr lang="zh-TW" altLang="en-US" dirty="0"/>
              <a:t>的學習效率又額外提升了 </a:t>
            </a:r>
            <a:r>
              <a:rPr lang="en-US" altLang="zh-TW" dirty="0"/>
              <a:t>24%</a:t>
            </a:r>
            <a:r>
              <a:rPr lang="zh-TW" altLang="en-US" dirty="0"/>
              <a:t>。</a:t>
            </a:r>
            <a:endParaRPr lang="en-US" altLang="zh-TW" dirty="0"/>
          </a:p>
          <a:p>
            <a:pPr marL="171450" indent="-171450">
              <a:buFont typeface="Arial" panose="020B0604020202020204" pitchFamily="34" charset="0"/>
              <a:buChar char="•"/>
            </a:pPr>
            <a:endParaRPr lang="zh-TW" altLang="en-US" dirty="0"/>
          </a:p>
          <a:p>
            <a:r>
              <a:rPr lang="zh-TW" altLang="en-US" dirty="0"/>
              <a:t>四、 </a:t>
            </a:r>
            <a:r>
              <a:rPr lang="en-US" altLang="zh-TW" dirty="0"/>
              <a:t>AI </a:t>
            </a:r>
            <a:r>
              <a:rPr lang="zh-TW" altLang="en-US" dirty="0"/>
              <a:t>小分隊（智能體蜂群）</a:t>
            </a:r>
          </a:p>
          <a:p>
            <a:r>
              <a:rPr lang="zh-TW" altLang="en-US" dirty="0"/>
              <a:t>*  </a:t>
            </a:r>
            <a:r>
              <a:rPr lang="en-US" altLang="zh-TW" dirty="0"/>
              <a:t>AI </a:t>
            </a:r>
            <a:r>
              <a:rPr lang="zh-TW" altLang="en-US" dirty="0"/>
              <a:t>當 </a:t>
            </a:r>
            <a:r>
              <a:rPr lang="en-US" altLang="zh-TW" dirty="0"/>
              <a:t>CEO</a:t>
            </a:r>
            <a:r>
              <a:rPr lang="zh-TW" altLang="en-US" dirty="0"/>
              <a:t>：以前是你跟一個 </a:t>
            </a:r>
            <a:r>
              <a:rPr lang="en-US" altLang="zh-TW" dirty="0"/>
              <a:t>AI </a:t>
            </a:r>
            <a:r>
              <a:rPr lang="zh-TW" altLang="en-US" dirty="0"/>
              <a:t>對話；現在是一個「主控 </a:t>
            </a:r>
            <a:r>
              <a:rPr lang="en-US" altLang="zh-TW" dirty="0"/>
              <a:t>AI</a:t>
            </a:r>
            <a:r>
              <a:rPr lang="zh-TW" altLang="en-US" dirty="0"/>
              <a:t>」當老闆，自動把大任務拆成好幾個小任務，分發給手下一堆「子 </a:t>
            </a:r>
            <a:r>
              <a:rPr lang="en-US" altLang="zh-TW" dirty="0"/>
              <a:t>AI</a:t>
            </a:r>
            <a:r>
              <a:rPr lang="zh-TW" altLang="en-US" dirty="0"/>
              <a:t>」（例如一個去查資料、一個去寫程式碼、一個去審核）。 </a:t>
            </a:r>
          </a:p>
          <a:p>
            <a:pPr marL="0" indent="0">
              <a:buFont typeface="Arial" panose="020B0604020202020204" pitchFamily="34" charset="0"/>
              <a:buNone/>
            </a:pPr>
            <a:r>
              <a:rPr lang="en-US" altLang="zh-TW" dirty="0"/>
              <a:t>* </a:t>
            </a:r>
            <a:r>
              <a:rPr lang="zh-TW" altLang="en-US" dirty="0"/>
              <a:t>防止 </a:t>
            </a:r>
            <a:r>
              <a:rPr lang="en-US" altLang="zh-TW" dirty="0"/>
              <a:t>AI </a:t>
            </a:r>
            <a:r>
              <a:rPr lang="zh-TW" altLang="en-US" dirty="0"/>
              <a:t>磨洋工：為了防止子 </a:t>
            </a:r>
            <a:r>
              <a:rPr lang="en-US" altLang="zh-TW" dirty="0"/>
              <a:t>AI </a:t>
            </a:r>
            <a:r>
              <a:rPr lang="zh-TW" altLang="en-US" dirty="0"/>
              <a:t>亂造假工時，他們設計了一套極其精細的獎懲機制，幹得好有賞，偷懶不完成任務就扣分，讓整支 </a:t>
            </a:r>
            <a:r>
              <a:rPr lang="en-US" altLang="zh-TW" dirty="0"/>
              <a:t>AI </a:t>
            </a:r>
            <a:r>
              <a:rPr lang="zh-TW" altLang="en-US" dirty="0"/>
              <a:t>團隊幹活又快又準。</a:t>
            </a:r>
            <a:endParaRPr lang="en-US" altLang="zh-TW" dirty="0"/>
          </a:p>
          <a:p>
            <a:pPr marL="171450" indent="-171450">
              <a:buFont typeface="Arial" panose="020B0604020202020204" pitchFamily="34" charset="0"/>
              <a:buChar char="•"/>
            </a:pPr>
            <a:endParaRPr lang="zh-TW" altLang="en-US" dirty="0"/>
          </a:p>
          <a:p>
            <a:r>
              <a:rPr lang="zh-TW" altLang="en-US" dirty="0"/>
              <a:t>五、 圖文同修：打破產業的“老偏見”</a:t>
            </a:r>
          </a:p>
          <a:p>
            <a:r>
              <a:rPr lang="zh-TW" altLang="en-US" dirty="0"/>
              <a:t>* 打娘胎裡就圖文雙修：傳統 </a:t>
            </a:r>
            <a:r>
              <a:rPr lang="en-US" altLang="zh-TW" dirty="0"/>
              <a:t>AI </a:t>
            </a:r>
            <a:r>
              <a:rPr lang="zh-TW" altLang="en-US" dirty="0"/>
              <a:t>是先學完文字，再去補習看圖（效果很差）。 </a:t>
            </a:r>
            <a:r>
              <a:rPr lang="en-US" altLang="zh-TW" dirty="0"/>
              <a:t>Kimi </a:t>
            </a:r>
            <a:r>
              <a:rPr lang="zh-TW" altLang="en-US" dirty="0"/>
              <a:t>是從訓練第一天起就把文字和圖片放在一起學習。 </a:t>
            </a:r>
          </a:p>
          <a:p>
            <a:r>
              <a:rPr lang="zh-TW" altLang="en-US" dirty="0"/>
              <a:t>* 出人意料的互相促進：過去行業裡都覺得“讓 </a:t>
            </a:r>
            <a:r>
              <a:rPr lang="en-US" altLang="zh-TW" dirty="0"/>
              <a:t>AI </a:t>
            </a:r>
            <a:r>
              <a:rPr lang="zh-TW" altLang="en-US" dirty="0"/>
              <a:t>學看圖會把文字變蠢”，但 </a:t>
            </a:r>
            <a:r>
              <a:rPr lang="en-US" altLang="zh-TW" dirty="0"/>
              <a:t>Kimi </a:t>
            </a:r>
            <a:r>
              <a:rPr lang="zh-TW" altLang="en-US" dirty="0"/>
              <a:t>證明了看圖能讓 </a:t>
            </a:r>
            <a:r>
              <a:rPr lang="en-US" altLang="zh-TW" dirty="0"/>
              <a:t>AI </a:t>
            </a:r>
            <a:r>
              <a:rPr lang="zh-TW" altLang="en-US" dirty="0"/>
              <a:t>的邏輯推理更強，而文字功底深了，看圖能力也會被順帶拔高！</a:t>
            </a: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14382478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1. </a:t>
            </a:r>
            <a:r>
              <a:rPr lang="zh-TW" altLang="zh-TW" sz="1200" b="1" u="none" strike="noStrike" kern="1200" dirty="0">
                <a:solidFill>
                  <a:schemeClr val="tx1"/>
                </a:solidFill>
                <a:effectLst/>
                <a:latin typeface="+mn-lt"/>
                <a:ea typeface="+mn-ea"/>
                <a:cs typeface="+mn-cs"/>
              </a:rPr>
              <a:t>理論基礎的奠定者（2022年）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特拉維夫大學（Tel Aviv University）與 Meta AI</a:t>
            </a:r>
            <a:r>
              <a:rPr lang="zh-TW" altLang="zh-TW" sz="1200" b="0" u="none" strike="noStrike" kern="1200" dirty="0">
                <a:solidFill>
                  <a:schemeClr val="tx1"/>
                </a:solidFill>
                <a:effectLst/>
                <a:latin typeface="+mn-lt"/>
                <a:ea typeface="+mn-ea"/>
                <a:cs typeface="+mn-cs"/>
              </a:rPr>
              <a:t>（由 Adi Haviv、Ori Ram、Ofir Press、Peter Izsak 和 Omer Levy 等人組成）。 </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EMNLP 2022 的 </a:t>
            </a:r>
            <a:r>
              <a:rPr lang="zh-TW" altLang="zh-TW" sz="1200" b="0" i="1" u="none" strike="noStrike" kern="1200" dirty="0">
                <a:solidFill>
                  <a:schemeClr val="tx1"/>
                </a:solidFill>
                <a:effectLst/>
                <a:latin typeface="+mn-lt"/>
                <a:ea typeface="+mn-ea"/>
                <a:cs typeface="+mn-cs"/>
              </a:rPr>
              <a:t>《Transformer Language Models without Positional Encodings Still Learn Positional Information》</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：他們首度證實，自迴歸（Decoder-only）架構中的</a:t>
            </a:r>
            <a:r>
              <a:rPr lang="zh-TW" altLang="zh-TW" sz="1200" b="1" u="none" strike="noStrike" kern="1200" dirty="0">
                <a:solidFill>
                  <a:schemeClr val="tx1"/>
                </a:solidFill>
                <a:effectLst/>
                <a:latin typeface="+mn-lt"/>
                <a:ea typeface="+mn-ea"/>
                <a:cs typeface="+mn-cs"/>
              </a:rPr>
              <a:t>因果遮罩（Causal Mask）本身就會漏出時序訊號</a:t>
            </a:r>
            <a:r>
              <a:rPr lang="zh-TW" altLang="zh-TW" sz="1200" b="0" u="none" strike="noStrike" kern="1200" dirty="0">
                <a:solidFill>
                  <a:schemeClr val="tx1"/>
                </a:solidFill>
                <a:effectLst/>
                <a:latin typeface="+mn-lt"/>
                <a:ea typeface="+mn-ea"/>
                <a:cs typeface="+mn-cs"/>
              </a:rPr>
              <a:t>。即使完全不加位置編碼，模型也能隱式學會絕對位置，打破了「Transformer 必須依賴顯式位置編碼」的傳統工程思維。</a:t>
            </a:r>
          </a:p>
          <a:p>
            <a:r>
              <a:rPr lang="zh-TW" altLang="zh-TW" sz="1200" b="1" u="none" strike="noStrike" kern="1200" dirty="0">
                <a:solidFill>
                  <a:schemeClr val="tx1"/>
                </a:solidFill>
                <a:effectLst/>
                <a:latin typeface="+mn-lt"/>
                <a:ea typeface="+mn-ea"/>
                <a:cs typeface="+mn-cs"/>
              </a:rPr>
              <a:t>2. 「NoPE」縮寫的明確定義與實證（2023年）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阿姆斯特丹大學（University of Amsterdam）</a:t>
            </a:r>
            <a:r>
              <a:rPr lang="zh-TW" altLang="zh-TW" sz="1200" b="0" u="none" strike="noStrike" kern="1200" dirty="0">
                <a:solidFill>
                  <a:schemeClr val="tx1"/>
                </a:solidFill>
                <a:effectLst/>
                <a:latin typeface="+mn-lt"/>
                <a:ea typeface="+mn-ea"/>
                <a:cs typeface="+mn-cs"/>
              </a:rPr>
              <a:t>（Amir Kazemnejad 等人）。</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NeurIPS 2023 的 </a:t>
            </a:r>
            <a:r>
              <a:rPr lang="zh-TW" altLang="zh-TW" sz="1200" b="0" i="1" u="none" strike="noStrike" kern="1200" dirty="0">
                <a:solidFill>
                  <a:schemeClr val="tx1"/>
                </a:solidFill>
                <a:effectLst/>
                <a:latin typeface="+mn-lt"/>
                <a:ea typeface="+mn-ea"/>
                <a:cs typeface="+mn-cs"/>
              </a:rPr>
              <a:t>《The Impact of Positional Encoding on Length Generalization in Transformers》</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：這篇論文在社群中</a:t>
            </a:r>
            <a:r>
              <a:rPr lang="zh-TW" altLang="zh-TW" sz="1200" b="1" u="none" strike="noStrike" kern="1200" dirty="0">
                <a:solidFill>
                  <a:schemeClr val="tx1"/>
                </a:solidFill>
                <a:effectLst/>
                <a:latin typeface="+mn-lt"/>
                <a:ea typeface="+mn-ea"/>
                <a:cs typeface="+mn-cs"/>
              </a:rPr>
              <a:t>正式將此架構命名為「NoPE」</a:t>
            </a:r>
            <a:r>
              <a:rPr lang="zh-TW" altLang="zh-TW" sz="1200" b="0" u="none" strike="noStrike" kern="1200" dirty="0">
                <a:solidFill>
                  <a:schemeClr val="tx1"/>
                </a:solidFill>
                <a:effectLst/>
                <a:latin typeface="+mn-lt"/>
                <a:ea typeface="+mn-ea"/>
                <a:cs typeface="+mn-cs"/>
              </a:rPr>
              <a:t>。研究人員透過嚴格的控制變因實驗發現，NoPE 在長度外推（Length Extrapolation）和長文本泛化上的表現，竟然優於當時主流的 ALiBi 或旋轉位置編碼（RoPE），奠定了今日大模型大規模導入的工程信心。</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簡單來說，</a:t>
            </a:r>
            <a:r>
              <a:rPr lang="zh-TW" altLang="zh-TW" sz="1200" b="1" u="none" strike="noStrike" kern="1200" dirty="0">
                <a:solidFill>
                  <a:schemeClr val="tx1"/>
                </a:solidFill>
                <a:effectLst/>
                <a:latin typeface="+mn-lt"/>
                <a:ea typeface="+mn-ea"/>
                <a:cs typeface="+mn-cs"/>
              </a:rPr>
              <a:t>Meta AI 與特拉維夫大學</a:t>
            </a:r>
            <a:r>
              <a:rPr lang="zh-TW" altLang="zh-TW" sz="1200" b="0" u="none" strike="noStrike" kern="1200" dirty="0">
                <a:solidFill>
                  <a:schemeClr val="tx1"/>
                </a:solidFill>
                <a:effectLst/>
                <a:latin typeface="+mn-lt"/>
                <a:ea typeface="+mn-ea"/>
                <a:cs typeface="+mn-cs"/>
              </a:rPr>
              <a:t>率先發現了「不加位置編碼模型也能運作」的隱式科學現象，而</a:t>
            </a:r>
            <a:r>
              <a:rPr lang="zh-TW" altLang="zh-TW" sz="1200" b="1" u="none" strike="noStrike" kern="1200" dirty="0">
                <a:solidFill>
                  <a:schemeClr val="tx1"/>
                </a:solidFill>
                <a:effectLst/>
                <a:latin typeface="+mn-lt"/>
                <a:ea typeface="+mn-ea"/>
                <a:cs typeface="+mn-cs"/>
              </a:rPr>
              <a:t>阿姆斯特丹大學</a:t>
            </a:r>
            <a:r>
              <a:rPr lang="zh-TW" altLang="zh-TW" sz="1200" b="0" u="none" strike="noStrike" kern="1200" dirty="0">
                <a:solidFill>
                  <a:schemeClr val="tx1"/>
                </a:solidFill>
                <a:effectLst/>
                <a:latin typeface="+mn-lt"/>
                <a:ea typeface="+mn-ea"/>
                <a:cs typeface="+mn-cs"/>
              </a:rPr>
              <a:t>則正式將其定義為「NoPE」技術，並證明了它在長文本上的驚人潛力，進而引發了 Kimi K3、</a:t>
            </a:r>
            <a:r>
              <a:rPr lang="en-US" altLang="zh-TW" sz="1200" b="0" u="none" strike="noStrike" kern="1200" dirty="0">
                <a:solidFill>
                  <a:schemeClr val="tx1"/>
                </a:solidFill>
                <a:effectLst/>
                <a:latin typeface="+mn-lt"/>
                <a:ea typeface="+mn-ea"/>
                <a:cs typeface="+mn-cs"/>
              </a:rPr>
              <a:t>IBM</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Granite 4.0 等新一代前沿大模型架構的革新。</a:t>
            </a:r>
          </a:p>
          <a:p>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C2ADC-2C95-ABF7-695A-C98BD6E65DB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9C820AD-EC54-39E5-1D26-41BCCC7488E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2C0D158-E6C6-9BA9-5A56-BF3DE1E85E9F}"/>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D41D6B82-61C8-3A08-1F2F-D94DBF3D6EE5}"/>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274291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1.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11.png"/><Relationship Id="rId16"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5" Type="http://schemas.openxmlformats.org/officeDocument/2006/relationships/image" Target="../media/image23.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15.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1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350.png"/></Relationships>
</file>

<file path=ppt/slides/_rels/slide2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55.png"/><Relationship Id="rId7" Type="http://schemas.openxmlformats.org/officeDocument/2006/relationships/image" Target="../media/image59.png"/><Relationship Id="rId12" Type="http://schemas.openxmlformats.org/officeDocument/2006/relationships/image" Target="../media/image63.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8.png"/><Relationship Id="rId11" Type="http://schemas.openxmlformats.org/officeDocument/2006/relationships/image" Target="../media/image62.png"/><Relationship Id="rId5" Type="http://schemas.openxmlformats.org/officeDocument/2006/relationships/image" Target="../media/image57.png"/><Relationship Id="rId10" Type="http://schemas.openxmlformats.org/officeDocument/2006/relationships/image" Target="../media/image61.png"/><Relationship Id="rId4" Type="http://schemas.openxmlformats.org/officeDocument/2006/relationships/image" Target="../media/image56.png"/><Relationship Id="rId9" Type="http://schemas.openxmlformats.org/officeDocument/2006/relationships/image" Target="../media/image6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713290"/>
          </a:xfrm>
          <a:prstGeom prst="rect">
            <a:avLst/>
          </a:prstGeom>
          <a:noFill/>
        </p:spPr>
        <p:txBody>
          <a:bodyPr wrap="square" rtlCol="0">
            <a:spAutoFit/>
          </a:bodyPr>
          <a:lstStyle/>
          <a:p>
            <a:pPr algn="ctr"/>
            <a:r>
              <a:rPr lang="en-US" altLang="zh-TW" sz="4000" b="1" dirty="0"/>
              <a:t>Kimi K3:</a:t>
            </a:r>
          </a:p>
          <a:p>
            <a:pPr algn="ctr"/>
            <a:r>
              <a:rPr lang="en-US" altLang="zh-TW" sz="4000" b="1" dirty="0"/>
              <a:t>Open Frontier Intelligence</a:t>
            </a:r>
          </a:p>
          <a:p>
            <a:pPr defTabSz="5467350">
              <a:lnSpc>
                <a:spcPts val="400"/>
              </a:lnSpc>
            </a:pPr>
            <a:r>
              <a:rPr lang="zh-TW" altLang="en-US" sz="1000" b="1" dirty="0"/>
              <a:t> </a:t>
            </a:r>
            <a:r>
              <a:rPr lang="en-US" altLang="zh-TW" sz="1000" b="1" dirty="0"/>
              <a:t>	July  2026</a:t>
            </a: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Moonshot</a:t>
            </a:r>
            <a:r>
              <a:rPr lang="zh-TW" altLang="en-US" sz="1200" b="1" dirty="0">
                <a:sym typeface="Wingdings" panose="05000000000000000000" pitchFamily="2" charset="2"/>
              </a:rPr>
              <a:t> </a:t>
            </a:r>
            <a:r>
              <a:rPr lang="en-US" altLang="zh-TW" sz="1200" b="1" dirty="0">
                <a:sym typeface="Wingdings" panose="05000000000000000000" pitchFamily="2" charset="2"/>
              </a:rPr>
              <a:t>Kimi Team	</a:t>
            </a:r>
            <a:r>
              <a:rPr lang="en-US" altLang="zh-TW" sz="1000" dirty="0">
                <a:sym typeface="Wingdings" panose="05000000000000000000" pitchFamily="2" charset="2"/>
              </a:rPr>
              <a:t>	</a:t>
            </a:r>
            <a:r>
              <a:rPr lang="en-US" altLang="zh-TW" sz="1000" dirty="0" err="1">
                <a:sym typeface="Wingdings" panose="05000000000000000000" pitchFamily="2" charset="2"/>
              </a:rPr>
              <a:t>Tongtong</a:t>
            </a:r>
            <a:r>
              <a:rPr lang="en-US" altLang="zh-TW" sz="1000" dirty="0">
                <a:sym typeface="Wingdings" panose="05000000000000000000" pitchFamily="2" charset="2"/>
              </a:rPr>
              <a:t> Bai and 400 other authors</a:t>
            </a:r>
            <a:endParaRPr lang="zh-TW" altLang="en-US" sz="1000" dirty="0">
              <a:solidFill>
                <a:schemeClr val="accent1">
                  <a:lumMod val="75000"/>
                </a:schemeClr>
              </a:solidFill>
            </a:endParaRPr>
          </a:p>
        </p:txBody>
      </p:sp>
      <p:sp>
        <p:nvSpPr>
          <p:cNvPr id="9" name="文字方塊 8">
            <a:extLst>
              <a:ext uri="{FF2B5EF4-FFF2-40B4-BE49-F238E27FC236}">
                <a16:creationId xmlns:a16="http://schemas.microsoft.com/office/drawing/2014/main" id="{FB98A5CE-C6BF-E5C2-A315-6E118FCEFA4D}"/>
              </a:ext>
            </a:extLst>
          </p:cNvPr>
          <p:cNvSpPr txBox="1"/>
          <p:nvPr/>
        </p:nvSpPr>
        <p:spPr>
          <a:xfrm>
            <a:off x="809581" y="476672"/>
            <a:ext cx="7524837" cy="1313180"/>
          </a:xfrm>
          <a:prstGeom prst="rect">
            <a:avLst/>
          </a:prstGeom>
          <a:noFill/>
        </p:spPr>
        <p:txBody>
          <a:bodyPr wrap="square" rtlCol="0">
            <a:spAutoFit/>
          </a:bodyPr>
          <a:lstStyle/>
          <a:p>
            <a:pPr algn="ctr"/>
            <a:r>
              <a:rPr lang="en-US" altLang="zh-TW" sz="3200" b="1" dirty="0">
                <a:solidFill>
                  <a:schemeClr val="bg1">
                    <a:lumMod val="65000"/>
                  </a:schemeClr>
                </a:solidFill>
              </a:rPr>
              <a:t>Kimi K2.5:</a:t>
            </a:r>
          </a:p>
          <a:p>
            <a:pPr algn="ctr"/>
            <a:r>
              <a:rPr lang="en-US" altLang="zh-TW" sz="3200" b="1" dirty="0">
                <a:solidFill>
                  <a:schemeClr val="bg1">
                    <a:lumMod val="65000"/>
                  </a:schemeClr>
                </a:solidFill>
              </a:rPr>
              <a:t>Visual Agentic Intelligence</a:t>
            </a:r>
          </a:p>
          <a:p>
            <a:pPr defTabSz="54673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February  2026</a:t>
            </a:r>
          </a:p>
          <a:p>
            <a:pPr indent="541338" defTabSz="7269163">
              <a:tabLst>
                <a:tab pos="2955925" algn="l"/>
                <a:tab pos="5470525" algn="l"/>
              </a:tabLst>
            </a:pPr>
            <a:r>
              <a:rPr lang="en-US" altLang="zh-TW" sz="1200" b="1" dirty="0">
                <a:solidFill>
                  <a:schemeClr val="bg1">
                    <a:lumMod val="50000"/>
                  </a:schemeClr>
                </a:solidFill>
              </a:rPr>
              <a:t> 	</a:t>
            </a:r>
            <a:r>
              <a:rPr lang="en-US" altLang="zh-TW" sz="1200" b="1" dirty="0">
                <a:solidFill>
                  <a:schemeClr val="bg1">
                    <a:lumMod val="50000"/>
                  </a:schemeClr>
                </a:solidFill>
                <a:sym typeface="Wingdings" panose="05000000000000000000" pitchFamily="2" charset="2"/>
              </a:rPr>
              <a:t>Moonshot Kimi Team 	</a:t>
            </a:r>
          </a:p>
        </p:txBody>
      </p:sp>
      <p:sp>
        <p:nvSpPr>
          <p:cNvPr id="11" name="箭號: 向下 10">
            <a:extLst>
              <a:ext uri="{FF2B5EF4-FFF2-40B4-BE49-F238E27FC236}">
                <a16:creationId xmlns:a16="http://schemas.microsoft.com/office/drawing/2014/main" id="{95BFB3E6-E9A0-BA95-8A5C-3CBFA1A3A37C}"/>
              </a:ext>
            </a:extLst>
          </p:cNvPr>
          <p:cNvSpPr/>
          <p:nvPr/>
        </p:nvSpPr>
        <p:spPr>
          <a:xfrm>
            <a:off x="4355975" y="1850247"/>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2CAD1-8507-9886-51B1-A666941BA121}"/>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9E9524A1-5728-0389-B76D-B76D05DA4637}"/>
              </a:ext>
            </a:extLst>
          </p:cNvPr>
          <p:cNvSpPr txBox="1"/>
          <p:nvPr/>
        </p:nvSpPr>
        <p:spPr>
          <a:xfrm>
            <a:off x="179512" y="1447616"/>
            <a:ext cx="7992888" cy="1477328"/>
          </a:xfrm>
          <a:prstGeom prst="rect">
            <a:avLst/>
          </a:prstGeom>
          <a:noFill/>
        </p:spPr>
        <p:txBody>
          <a:bodyPr wrap="square">
            <a:spAutoFit/>
          </a:bodyPr>
          <a:lstStyle/>
          <a:p>
            <a:pPr>
              <a:lnSpc>
                <a:spcPts val="1800"/>
              </a:lnSpc>
              <a:spcBef>
                <a:spcPts val="600"/>
              </a:spcBef>
              <a:spcAft>
                <a:spcPts val="600"/>
              </a:spcAft>
            </a:pPr>
            <a:r>
              <a:rPr lang="en-US" altLang="zh-TW" sz="2000" b="1" dirty="0"/>
              <a:t>An RNN is simply an FCN with a</a:t>
            </a:r>
            <a:r>
              <a:rPr lang="zh-TW" altLang="en-US" sz="2000" b="1" dirty="0"/>
              <a:t> </a:t>
            </a:r>
            <a:r>
              <a:rPr lang="en-US" altLang="zh-TW" sz="2000" b="1" dirty="0"/>
              <a:t>temporal memory loop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FCN</a:t>
            </a:r>
            <a:r>
              <a:rPr lang="en-US" altLang="zh-TW" sz="1600" dirty="0"/>
              <a:t>: Fully Connection Network.</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LSA</a:t>
            </a:r>
            <a:r>
              <a:rPr lang="en-US" altLang="zh-TW" sz="1600" u="none" strike="noStrike" dirty="0">
                <a:effectLst/>
              </a:rPr>
              <a:t>: Latent semantic analysis </a:t>
            </a:r>
            <a:r>
              <a:rPr lang="en-US" altLang="zh-TW" sz="1600" u="none" strike="noStrike" dirty="0">
                <a:effectLst/>
                <a:sym typeface="Wingdings" panose="05000000000000000000" pitchFamily="2" charset="2"/>
              </a:rPr>
              <a:t> LDA  </a:t>
            </a:r>
            <a:endParaRPr lang="en-US" altLang="zh-TW" sz="160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dirty="0" err="1"/>
              <a:t>pLSA</a:t>
            </a:r>
            <a:r>
              <a:rPr lang="en-US" altLang="zh-TW" sz="1600" dirty="0"/>
              <a:t>: LDA.</a:t>
            </a:r>
          </a:p>
        </p:txBody>
      </p:sp>
      <p:sp>
        <p:nvSpPr>
          <p:cNvPr id="11" name="標題 1">
            <a:extLst>
              <a:ext uri="{FF2B5EF4-FFF2-40B4-BE49-F238E27FC236}">
                <a16:creationId xmlns:a16="http://schemas.microsoft.com/office/drawing/2014/main" id="{18284B0B-93FC-DFA6-2CC8-F67455FF7187}"/>
              </a:ext>
            </a:extLst>
          </p:cNvPr>
          <p:cNvSpPr txBox="1">
            <a:spLocks/>
          </p:cNvSpPr>
          <p:nvPr/>
        </p:nvSpPr>
        <p:spPr>
          <a:xfrm>
            <a:off x="179512" y="116632"/>
            <a:ext cx="8856984"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ecurrent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eural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RNN is simply an FCN(Fully Connection NN) with a temporal memory loop.</a:t>
            </a:r>
          </a:p>
        </p:txBody>
      </p:sp>
      <p:sp>
        <p:nvSpPr>
          <p:cNvPr id="111" name="文字方塊 110">
            <a:extLst>
              <a:ext uri="{FF2B5EF4-FFF2-40B4-BE49-F238E27FC236}">
                <a16:creationId xmlns:a16="http://schemas.microsoft.com/office/drawing/2014/main" id="{5B934F34-585C-6669-7CC4-CE328B45ABF8}"/>
              </a:ext>
            </a:extLst>
          </p:cNvPr>
          <p:cNvSpPr txBox="1"/>
          <p:nvPr/>
        </p:nvSpPr>
        <p:spPr>
          <a:xfrm>
            <a:off x="1399859" y="4786191"/>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CC6169BB-285E-EDB3-6344-B8208C2C9611}"/>
              </a:ext>
            </a:extLst>
          </p:cNvPr>
          <p:cNvGraphicFramePr>
            <a:graphicFrameLocks noGrp="1"/>
          </p:cNvGraphicFramePr>
          <p:nvPr>
            <p:extLst>
              <p:ext uri="{D42A27DB-BD31-4B8C-83A1-F6EECF244321}">
                <p14:modId xmlns:p14="http://schemas.microsoft.com/office/powerpoint/2010/main" val="64919338"/>
              </p:ext>
            </p:extLst>
          </p:nvPr>
        </p:nvGraphicFramePr>
        <p:xfrm>
          <a:off x="3016227" y="4426290"/>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8" name="文字方塊 7">
            <a:extLst>
              <a:ext uri="{FF2B5EF4-FFF2-40B4-BE49-F238E27FC236}">
                <a16:creationId xmlns:a16="http://schemas.microsoft.com/office/drawing/2014/main" id="{99BBD11D-7E3B-48DD-DF53-6501A8604960}"/>
              </a:ext>
            </a:extLst>
          </p:cNvPr>
          <p:cNvSpPr txBox="1"/>
          <p:nvPr/>
        </p:nvSpPr>
        <p:spPr>
          <a:xfrm>
            <a:off x="821811" y="3809991"/>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pic>
        <p:nvPicPr>
          <p:cNvPr id="20" name="圖片 19">
            <a:extLst>
              <a:ext uri="{FF2B5EF4-FFF2-40B4-BE49-F238E27FC236}">
                <a16:creationId xmlns:a16="http://schemas.microsoft.com/office/drawing/2014/main" id="{CE3E1628-182E-8997-D5C4-ECDCF581F249}"/>
              </a:ext>
            </a:extLst>
          </p:cNvPr>
          <p:cNvPicPr>
            <a:picLocks noChangeAspect="1"/>
          </p:cNvPicPr>
          <p:nvPr/>
        </p:nvPicPr>
        <p:blipFill>
          <a:blip r:embed="rId3"/>
          <a:stretch>
            <a:fillRect/>
          </a:stretch>
        </p:blipFill>
        <p:spPr>
          <a:xfrm>
            <a:off x="4252656" y="3809991"/>
            <a:ext cx="4099125" cy="2360260"/>
          </a:xfrm>
          <a:prstGeom prst="rect">
            <a:avLst/>
          </a:prstGeom>
        </p:spPr>
      </p:pic>
    </p:spTree>
    <p:extLst>
      <p:ext uri="{BB962C8B-B14F-4D97-AF65-F5344CB8AC3E}">
        <p14:creationId xmlns:p14="http://schemas.microsoft.com/office/powerpoint/2010/main" val="37004583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179512" y="1447616"/>
            <a:ext cx="8721352" cy="1477328"/>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ong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hort-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emory</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pic>
        <p:nvPicPr>
          <p:cNvPr id="8" name="圖片 7">
            <a:extLst>
              <a:ext uri="{FF2B5EF4-FFF2-40B4-BE49-F238E27FC236}">
                <a16:creationId xmlns:a16="http://schemas.microsoft.com/office/drawing/2014/main" id="{169773E7-B30A-794E-28AC-8FD1CB0E3323}"/>
              </a:ext>
            </a:extLst>
          </p:cNvPr>
          <p:cNvPicPr>
            <a:picLocks noChangeAspect="1"/>
          </p:cNvPicPr>
          <p:nvPr/>
        </p:nvPicPr>
        <p:blipFill>
          <a:blip r:embed="rId3"/>
          <a:stretch>
            <a:fillRect/>
          </a:stretch>
        </p:blipFill>
        <p:spPr>
          <a:xfrm>
            <a:off x="6660232" y="44624"/>
            <a:ext cx="2412268" cy="2880320"/>
          </a:xfrm>
          <a:prstGeom prst="rect">
            <a:avLst/>
          </a:prstGeom>
        </p:spPr>
      </p:pic>
      <p:pic>
        <p:nvPicPr>
          <p:cNvPr id="20" name="圖片 19">
            <a:extLst>
              <a:ext uri="{FF2B5EF4-FFF2-40B4-BE49-F238E27FC236}">
                <a16:creationId xmlns:a16="http://schemas.microsoft.com/office/drawing/2014/main" id="{EA6D820A-9145-B84E-0551-974ECABF6384}"/>
              </a:ext>
            </a:extLst>
          </p:cNvPr>
          <p:cNvPicPr>
            <a:picLocks noChangeAspect="1"/>
          </p:cNvPicPr>
          <p:nvPr/>
        </p:nvPicPr>
        <p:blipFill>
          <a:blip r:embed="rId4"/>
          <a:stretch>
            <a:fillRect/>
          </a:stretch>
        </p:blipFill>
        <p:spPr>
          <a:xfrm>
            <a:off x="283493" y="2945184"/>
            <a:ext cx="6808787" cy="3563339"/>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23217-625E-805F-5AEB-67F8FBD9E70C}"/>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12200328-F543-0FFF-9CEC-73F749406B50}"/>
              </a:ext>
            </a:extLst>
          </p:cNvPr>
          <p:cNvSpPr txBox="1"/>
          <p:nvPr/>
        </p:nvSpPr>
        <p:spPr>
          <a:xfrm>
            <a:off x="899592" y="947302"/>
            <a:ext cx="2664296" cy="1473586"/>
          </a:xfrm>
          <a:prstGeom prst="rect">
            <a:avLst/>
          </a:prstGeom>
          <a:solidFill>
            <a:srgbClr val="FEC203">
              <a:alpha val="40000"/>
            </a:srgbClr>
          </a:solidFill>
          <a:ln w="15875">
            <a:solidFill>
              <a:schemeClr val="bg1">
                <a:lumMod val="65000"/>
              </a:schemeClr>
            </a:solidFill>
          </a:ln>
        </p:spPr>
        <p:txBody>
          <a:bodyPr wrap="none" lIns="0" tIns="18288" rIns="0" bIns="0" anchor="t"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LSTM Memory Cell</a:t>
            </a:r>
          </a:p>
        </p:txBody>
      </p:sp>
      <p:sp>
        <p:nvSpPr>
          <p:cNvPr id="100" name="文字方塊 99">
            <a:extLst>
              <a:ext uri="{FF2B5EF4-FFF2-40B4-BE49-F238E27FC236}">
                <a16:creationId xmlns:a16="http://schemas.microsoft.com/office/drawing/2014/main" id="{068B1AC4-1D4A-0E7B-6991-41083D30C0F0}"/>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06ABD774-6A1D-EFFF-A1FB-05FEF4238262}"/>
              </a:ext>
            </a:extLst>
          </p:cNvPr>
          <p:cNvGraphicFramePr>
            <a:graphicFrameLocks noGrp="1"/>
          </p:cNvGraphicFramePr>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5C00DBFB-4EE6-2BD2-AC77-1593E82FD52C}"/>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5C9E2D2A-C2E9-8210-B437-9A4DC26146A7}"/>
              </a:ext>
            </a:extLst>
          </p:cNvPr>
          <p:cNvGraphicFramePr>
            <a:graphicFrameLocks noGrp="1"/>
          </p:cNvGraphicFramePr>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C1A6C5B2-083E-5F60-62AD-39D3D058A654}"/>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FC6E02AE-7229-E5CA-8217-64EE8B5FA96A}"/>
              </a:ext>
            </a:extLst>
          </p:cNvPr>
          <p:cNvGraphicFramePr>
            <a:graphicFrameLocks noGrp="1"/>
          </p:cNvGraphicFramePr>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797DB904-DE44-6CCE-20E2-23B451A0EE91}"/>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ABB1FFFE-8A62-292A-9DC8-40526C0EE43D}"/>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31FB7D69-604B-BAD7-055D-8362D8471E69}"/>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69492AF6-68A8-7483-E082-F9118B3C1DA9}"/>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F35B03DF-C661-E7F4-132F-B3954CEC0E6A}"/>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圓角 14">
            <a:extLst>
              <a:ext uri="{FF2B5EF4-FFF2-40B4-BE49-F238E27FC236}">
                <a16:creationId xmlns:a16="http://schemas.microsoft.com/office/drawing/2014/main" id="{E625F811-10EE-A736-270A-F307424E81CD}"/>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C6F17E19-E804-BF89-0930-EB1457F4E72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4AEAC62-A051-C385-365D-BA63201F89C2}"/>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08767653-CF05-F52D-0116-607BA1CF251E}"/>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BA0F4A55-06D6-1B6B-BBC9-2EB74CC463CA}"/>
              </a:ext>
            </a:extLst>
          </p:cNvPr>
          <p:cNvSpPr txBox="1"/>
          <p:nvPr/>
        </p:nvSpPr>
        <p:spPr>
          <a:xfrm>
            <a:off x="6119882" y="3489920"/>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874CF8E5-3026-F7AE-B806-0F8445829B06}"/>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B3698059-07ED-BC5D-78EA-D67B9CD843E5}"/>
              </a:ext>
            </a:extLst>
          </p:cNvPr>
          <p:cNvSpPr txBox="1"/>
          <p:nvPr/>
        </p:nvSpPr>
        <p:spPr>
          <a:xfrm>
            <a:off x="423730" y="2911048"/>
            <a:ext cx="762724" cy="517951"/>
          </a:xfrm>
          <a:prstGeom prst="rect">
            <a:avLst/>
          </a:prstGeom>
          <a:noFill/>
          <a:ln w="15875">
            <a:noFill/>
          </a:ln>
        </p:spPr>
        <p:txBody>
          <a:bodyPr wrap="none" lIns="0" tIns="0" rIns="0" bIns="0" anchor="ctr" anchorCtr="1">
            <a:noAutofit/>
          </a:bodyPr>
          <a:lstStyle/>
          <a:p>
            <a:pPr algn="ctr">
              <a:lnSpc>
                <a:spcPts val="12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Hyperbolic</a:t>
            </a:r>
          </a:p>
          <a:p>
            <a:pPr algn="ctr">
              <a:lnSpc>
                <a:spcPts val="12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Tangent</a:t>
            </a:r>
          </a:p>
          <a:p>
            <a:pPr algn="ctr">
              <a:lnSpc>
                <a:spcPts val="12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Function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C3D8C5D0-B31D-8C57-F8BC-9FA0DDDFD2DF}"/>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39C5AEEC-B235-C7C0-7865-04F87FBF5CAE}"/>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5" name="直線單箭頭接點 24">
            <a:extLst>
              <a:ext uri="{FF2B5EF4-FFF2-40B4-BE49-F238E27FC236}">
                <a16:creationId xmlns:a16="http://schemas.microsoft.com/office/drawing/2014/main" id="{3C0182C2-37AA-8C62-9D0E-C4B1A5BF94B1}"/>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1E5DA509-B255-A4F2-F267-C83B2CE3052B}"/>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6FD8331D-1572-0AD4-2103-AAEDEEAA04FC}"/>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E0483849-D7DC-431A-1B52-57F228AE6EA6}"/>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CD6E85D7-AE92-4AD0-4986-1C8C1EDA47DD}"/>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B13320E2-99BC-252A-016B-ECD56C232498}"/>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1DB39A2A-57D1-33FD-6721-26FDE2F27EFF}"/>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8351ACD9-669B-C8B6-C2B5-B93E4E5CFC35}"/>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31D06E7-DC9D-E210-3CAC-52B5DC0227FD}"/>
              </a:ext>
            </a:extLst>
          </p:cNvPr>
          <p:cNvCxnSpPr>
            <a:cxnSpLocks/>
            <a:stCxn id="14" idx="0"/>
            <a:endCxn id="13" idx="2"/>
          </p:cNvCxnSpPr>
          <p:nvPr/>
        </p:nvCxnSpPr>
        <p:spPr>
          <a:xfrm flipV="1">
            <a:off x="6695946" y="3334388"/>
            <a:ext cx="245882" cy="1555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D80B795B-47F3-2DE8-C9BB-4BABAA455F8B}"/>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EA3386DC-00AE-9700-5760-C55E6411DC06}"/>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5F1DB198-B8B2-90EB-DDB3-303794112C26}"/>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2E01AFC0-1264-6AB6-8213-A8062A689522}"/>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BEAD8D78-7F2D-8CAC-41CF-D2C63C70AEB9}"/>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4E18B4D0-18B6-D36E-B92D-A99DFF9A3A96}"/>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22" name="圖形 21" descr="使用者 外框">
            <a:extLst>
              <a:ext uri="{FF2B5EF4-FFF2-40B4-BE49-F238E27FC236}">
                <a16:creationId xmlns:a16="http://schemas.microsoft.com/office/drawing/2014/main" id="{7F2E2D3F-C058-8BDD-F0B9-53CE6D831EB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50436" y="5407653"/>
            <a:ext cx="387816" cy="387816"/>
          </a:xfrm>
          <a:prstGeom prst="rect">
            <a:avLst/>
          </a:prstGeom>
        </p:spPr>
      </p:pic>
      <p:pic>
        <p:nvPicPr>
          <p:cNvPr id="9" name="圖片 8">
            <a:extLst>
              <a:ext uri="{FF2B5EF4-FFF2-40B4-BE49-F238E27FC236}">
                <a16:creationId xmlns:a16="http://schemas.microsoft.com/office/drawing/2014/main" id="{60AEE403-B0C0-681C-F446-ECF031FD751E}"/>
              </a:ext>
            </a:extLst>
          </p:cNvPr>
          <p:cNvPicPr>
            <a:picLocks noChangeAspect="1"/>
          </p:cNvPicPr>
          <p:nvPr/>
        </p:nvPicPr>
        <p:blipFill>
          <a:blip r:embed="rId4"/>
          <a:stretch>
            <a:fillRect/>
          </a:stretch>
        </p:blipFill>
        <p:spPr>
          <a:xfrm>
            <a:off x="61064" y="3766931"/>
            <a:ext cx="4436729" cy="2626846"/>
          </a:xfrm>
          <a:prstGeom prst="rect">
            <a:avLst/>
          </a:prstGeom>
        </p:spPr>
      </p:pic>
      <p:sp>
        <p:nvSpPr>
          <p:cNvPr id="92" name="文字方塊 91">
            <a:extLst>
              <a:ext uri="{FF2B5EF4-FFF2-40B4-BE49-F238E27FC236}">
                <a16:creationId xmlns:a16="http://schemas.microsoft.com/office/drawing/2014/main" id="{3B7CFB88-4432-804D-D91E-55B20A946B6A}"/>
              </a:ext>
            </a:extLst>
          </p:cNvPr>
          <p:cNvSpPr txBox="1"/>
          <p:nvPr/>
        </p:nvSpPr>
        <p:spPr>
          <a:xfrm>
            <a:off x="1023042" y="1204970"/>
            <a:ext cx="580256"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Forget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文字方塊 25">
            <a:extLst>
              <a:ext uri="{FF2B5EF4-FFF2-40B4-BE49-F238E27FC236}">
                <a16:creationId xmlns:a16="http://schemas.microsoft.com/office/drawing/2014/main" id="{4622BC11-D7B6-AEAA-43B9-D44111A21737}"/>
              </a:ext>
            </a:extLst>
          </p:cNvPr>
          <p:cNvSpPr txBox="1"/>
          <p:nvPr/>
        </p:nvSpPr>
        <p:spPr>
          <a:xfrm>
            <a:off x="1726748" y="1204970"/>
            <a:ext cx="973892"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Input</a:t>
            </a:r>
            <a:r>
              <a:rPr lang="zh-TW" altLang="en-US" sz="1000"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1" name="文字方塊 30">
            <a:extLst>
              <a:ext uri="{FF2B5EF4-FFF2-40B4-BE49-F238E27FC236}">
                <a16:creationId xmlns:a16="http://schemas.microsoft.com/office/drawing/2014/main" id="{51BEF5BC-506C-BAA4-21B5-F70E94D4FF1F}"/>
              </a:ext>
            </a:extLst>
          </p:cNvPr>
          <p:cNvSpPr txBox="1"/>
          <p:nvPr/>
        </p:nvSpPr>
        <p:spPr>
          <a:xfrm>
            <a:off x="2911624" y="1196752"/>
            <a:ext cx="580256"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Output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橢圓 32">
            <a:extLst>
              <a:ext uri="{FF2B5EF4-FFF2-40B4-BE49-F238E27FC236}">
                <a16:creationId xmlns:a16="http://schemas.microsoft.com/office/drawing/2014/main" id="{7A7A9FE4-3CA5-0521-13AB-0B6CB004D617}"/>
              </a:ext>
            </a:extLst>
          </p:cNvPr>
          <p:cNvSpPr/>
          <p:nvPr/>
        </p:nvSpPr>
        <p:spPr>
          <a:xfrm>
            <a:off x="1241008" y="14809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900"/>
              </a:lnSpc>
            </a:pPr>
            <a:r>
              <a:rPr lang="en-US" altLang="zh-TW" dirty="0">
                <a:solidFill>
                  <a:schemeClr val="tx1"/>
                </a:solidFill>
              </a:rPr>
              <a:t>x</a:t>
            </a:r>
            <a:endParaRPr lang="zh-TW" altLang="en-US" dirty="0">
              <a:solidFill>
                <a:schemeClr val="tx1"/>
              </a:solidFill>
            </a:endParaRPr>
          </a:p>
        </p:txBody>
      </p:sp>
      <p:sp>
        <p:nvSpPr>
          <p:cNvPr id="39" name="文字方塊 38">
            <a:extLst>
              <a:ext uri="{FF2B5EF4-FFF2-40B4-BE49-F238E27FC236}">
                <a16:creationId xmlns:a16="http://schemas.microsoft.com/office/drawing/2014/main" id="{E9FE29A2-DA20-679A-1C26-83E93D55A60F}"/>
              </a:ext>
            </a:extLst>
          </p:cNvPr>
          <p:cNvSpPr txBox="1"/>
          <p:nvPr/>
        </p:nvSpPr>
        <p:spPr>
          <a:xfrm>
            <a:off x="1238732"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50" name="直線單箭頭接點 49">
            <a:extLst>
              <a:ext uri="{FF2B5EF4-FFF2-40B4-BE49-F238E27FC236}">
                <a16:creationId xmlns:a16="http://schemas.microsoft.com/office/drawing/2014/main" id="{01B6C39D-DEFC-BEBA-3AFF-9A8AE6F8AD09}"/>
              </a:ext>
            </a:extLst>
          </p:cNvPr>
          <p:cNvCxnSpPr>
            <a:cxnSpLocks/>
            <a:stCxn id="39" idx="0"/>
            <a:endCxn id="33" idx="4"/>
          </p:cNvCxnSpPr>
          <p:nvPr/>
        </p:nvCxnSpPr>
        <p:spPr>
          <a:xfrm flipV="1">
            <a:off x="1314932" y="1624990"/>
            <a:ext cx="2276" cy="435858"/>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8" name="文字方塊 47">
            <a:extLst>
              <a:ext uri="{FF2B5EF4-FFF2-40B4-BE49-F238E27FC236}">
                <a16:creationId xmlns:a16="http://schemas.microsoft.com/office/drawing/2014/main" id="{AB8889CD-C78C-A5A0-D303-EF8C6E09336F}"/>
              </a:ext>
            </a:extLst>
          </p:cNvPr>
          <p:cNvSpPr txBox="1"/>
          <p:nvPr/>
        </p:nvSpPr>
        <p:spPr>
          <a:xfrm>
            <a:off x="1899320"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51" name="文字方塊 50">
            <a:extLst>
              <a:ext uri="{FF2B5EF4-FFF2-40B4-BE49-F238E27FC236}">
                <a16:creationId xmlns:a16="http://schemas.microsoft.com/office/drawing/2014/main" id="{1A732318-4D7E-87B0-D821-EC6E083EB099}"/>
              </a:ext>
            </a:extLst>
          </p:cNvPr>
          <p:cNvSpPr txBox="1"/>
          <p:nvPr/>
        </p:nvSpPr>
        <p:spPr>
          <a:xfrm>
            <a:off x="2195333" y="2124732"/>
            <a:ext cx="432451" cy="121776"/>
          </a:xfrm>
          <a:prstGeom prst="rect">
            <a:avLst/>
          </a:prstGeom>
          <a:noFill/>
          <a:ln w="3175">
            <a:noFill/>
          </a:ln>
        </p:spPr>
        <p:txBody>
          <a:bodyPr wrap="none" lIns="0" tIns="0" rIns="0" bIns="0" anchor="ctr" anchorCtr="1">
            <a:noAutofit/>
          </a:bodyPr>
          <a:lstStyle/>
          <a:p>
            <a:pPr algn="ctr">
              <a:lnSpc>
                <a:spcPts val="2000"/>
              </a:lnSpc>
              <a:buNone/>
            </a:pPr>
            <a:r>
              <a:rPr lang="en-US" altLang="zh-TW" sz="1400" u="none" strike="noStrike" dirty="0">
                <a:effectLst/>
                <a:latin typeface="ADLaM Display" panose="02010000000000000000" pitchFamily="2" charset="0"/>
                <a:ea typeface="ADLaM Display" panose="02010000000000000000" pitchFamily="2" charset="0"/>
                <a:cs typeface="ADLaM Display" panose="02010000000000000000" pitchFamily="2" charset="0"/>
              </a:rPr>
              <a:t>tanh</a:t>
            </a:r>
          </a:p>
        </p:txBody>
      </p:sp>
      <p:sp>
        <p:nvSpPr>
          <p:cNvPr id="55" name="文字方塊 54">
            <a:extLst>
              <a:ext uri="{FF2B5EF4-FFF2-40B4-BE49-F238E27FC236}">
                <a16:creationId xmlns:a16="http://schemas.microsoft.com/office/drawing/2014/main" id="{3200B7B1-C3E2-407B-B6D2-74D42CFAE87E}"/>
              </a:ext>
            </a:extLst>
          </p:cNvPr>
          <p:cNvSpPr txBox="1"/>
          <p:nvPr/>
        </p:nvSpPr>
        <p:spPr>
          <a:xfrm>
            <a:off x="3140164"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0" name="橢圓 19">
            <a:extLst>
              <a:ext uri="{FF2B5EF4-FFF2-40B4-BE49-F238E27FC236}">
                <a16:creationId xmlns:a16="http://schemas.microsoft.com/office/drawing/2014/main" id="{0305871E-B55F-FEB4-5354-3C955255ED17}"/>
              </a:ext>
            </a:extLst>
          </p:cNvPr>
          <p:cNvSpPr/>
          <p:nvPr/>
        </p:nvSpPr>
        <p:spPr>
          <a:xfrm>
            <a:off x="2340893" y="148478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2000"/>
              </a:lnSpc>
            </a:pPr>
            <a:r>
              <a:rPr lang="en-US" altLang="zh-TW"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dirty="0">
              <a:solidFill>
                <a:schemeClr val="tx1"/>
              </a:solidFill>
            </a:endParaRPr>
          </a:p>
        </p:txBody>
      </p:sp>
      <p:sp>
        <p:nvSpPr>
          <p:cNvPr id="58" name="橢圓 57">
            <a:extLst>
              <a:ext uri="{FF2B5EF4-FFF2-40B4-BE49-F238E27FC236}">
                <a16:creationId xmlns:a16="http://schemas.microsoft.com/office/drawing/2014/main" id="{C62D1443-FDAD-41D8-E71D-4F1C4FF88C78}"/>
              </a:ext>
            </a:extLst>
          </p:cNvPr>
          <p:cNvSpPr/>
          <p:nvPr/>
        </p:nvSpPr>
        <p:spPr>
          <a:xfrm>
            <a:off x="2339446" y="1810916"/>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900"/>
              </a:lnSpc>
            </a:pPr>
            <a:r>
              <a:rPr lang="en-US" altLang="zh-TW" dirty="0">
                <a:solidFill>
                  <a:schemeClr val="tx1"/>
                </a:solidFill>
              </a:rPr>
              <a:t>x</a:t>
            </a:r>
            <a:endParaRPr lang="zh-TW" altLang="en-US" dirty="0">
              <a:solidFill>
                <a:schemeClr val="tx1"/>
              </a:solidFill>
            </a:endParaRPr>
          </a:p>
        </p:txBody>
      </p:sp>
      <p:cxnSp>
        <p:nvCxnSpPr>
          <p:cNvPr id="59" name="直線單箭頭接點 58">
            <a:extLst>
              <a:ext uri="{FF2B5EF4-FFF2-40B4-BE49-F238E27FC236}">
                <a16:creationId xmlns:a16="http://schemas.microsoft.com/office/drawing/2014/main" id="{230AB2D2-2E3B-10D0-7E7B-56F180A3BFBC}"/>
              </a:ext>
            </a:extLst>
          </p:cNvPr>
          <p:cNvCxnSpPr>
            <a:cxnSpLocks/>
            <a:stCxn id="51" idx="0"/>
            <a:endCxn id="58" idx="4"/>
          </p:cNvCxnSpPr>
          <p:nvPr/>
        </p:nvCxnSpPr>
        <p:spPr>
          <a:xfrm flipV="1">
            <a:off x="2411559" y="1954932"/>
            <a:ext cx="4087" cy="169800"/>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直線單箭頭接點 63">
            <a:extLst>
              <a:ext uri="{FF2B5EF4-FFF2-40B4-BE49-F238E27FC236}">
                <a16:creationId xmlns:a16="http://schemas.microsoft.com/office/drawing/2014/main" id="{F5C052F5-CA49-3CC7-324D-8A1237AD62C5}"/>
              </a:ext>
            </a:extLst>
          </p:cNvPr>
          <p:cNvCxnSpPr>
            <a:cxnSpLocks/>
            <a:stCxn id="58" idx="0"/>
            <a:endCxn id="20" idx="4"/>
          </p:cNvCxnSpPr>
          <p:nvPr/>
        </p:nvCxnSpPr>
        <p:spPr>
          <a:xfrm flipV="1">
            <a:off x="2415646" y="1628800"/>
            <a:ext cx="1447" cy="182116"/>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接點: 肘形 22">
            <a:extLst>
              <a:ext uri="{FF2B5EF4-FFF2-40B4-BE49-F238E27FC236}">
                <a16:creationId xmlns:a16="http://schemas.microsoft.com/office/drawing/2014/main" id="{FB5C4BBF-079F-0ED7-1300-8A84B44C9232}"/>
              </a:ext>
            </a:extLst>
          </p:cNvPr>
          <p:cNvCxnSpPr>
            <a:cxnSpLocks/>
            <a:stCxn id="48" idx="0"/>
            <a:endCxn id="58" idx="2"/>
          </p:cNvCxnSpPr>
          <p:nvPr/>
        </p:nvCxnSpPr>
        <p:spPr>
          <a:xfrm rot="5400000" flipH="1" flipV="1">
            <a:off x="2068521" y="1789923"/>
            <a:ext cx="177924" cy="363926"/>
          </a:xfrm>
          <a:prstGeom prst="bentConnector2">
            <a:avLst/>
          </a:prstGeom>
          <a:ln w="19050">
            <a:solidFill>
              <a:schemeClr val="tx1"/>
            </a:solidFill>
            <a:headEnd type="none" w="sm" len="sm"/>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75958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7B754B0-027A-B652-8298-85EFEE70CADF}"/>
              </a:ext>
            </a:extLst>
          </p:cNvPr>
          <p:cNvPicPr>
            <a:picLocks noChangeAspect="1"/>
          </p:cNvPicPr>
          <p:nvPr/>
        </p:nvPicPr>
        <p:blipFill>
          <a:blip r:embed="rId3"/>
          <a:stretch>
            <a:fillRect/>
          </a:stretch>
        </p:blipFill>
        <p:spPr>
          <a:xfrm>
            <a:off x="0" y="0"/>
            <a:ext cx="6382641" cy="3829584"/>
          </a:xfrm>
          <a:prstGeom prst="rect">
            <a:avLst/>
          </a:prstGeom>
        </p:spPr>
      </p:pic>
      <p:pic>
        <p:nvPicPr>
          <p:cNvPr id="5" name="圖片 4">
            <a:extLst>
              <a:ext uri="{FF2B5EF4-FFF2-40B4-BE49-F238E27FC236}">
                <a16:creationId xmlns:a16="http://schemas.microsoft.com/office/drawing/2014/main" id="{22F1C41D-3687-518E-0C70-4B97661137E2}"/>
              </a:ext>
            </a:extLst>
          </p:cNvPr>
          <p:cNvPicPr>
            <a:picLocks noChangeAspect="1"/>
          </p:cNvPicPr>
          <p:nvPr/>
        </p:nvPicPr>
        <p:blipFill>
          <a:blip r:embed="rId4"/>
          <a:stretch>
            <a:fillRect/>
          </a:stretch>
        </p:blipFill>
        <p:spPr>
          <a:xfrm>
            <a:off x="179512" y="3933056"/>
            <a:ext cx="5496692" cy="1276528"/>
          </a:xfrm>
          <a:prstGeom prst="rect">
            <a:avLst/>
          </a:prstGeom>
        </p:spPr>
      </p:pic>
      <p:pic>
        <p:nvPicPr>
          <p:cNvPr id="7" name="圖片 6">
            <a:extLst>
              <a:ext uri="{FF2B5EF4-FFF2-40B4-BE49-F238E27FC236}">
                <a16:creationId xmlns:a16="http://schemas.microsoft.com/office/drawing/2014/main" id="{296D0F34-BC94-6A8B-1050-24E9A84D2DA9}"/>
              </a:ext>
            </a:extLst>
          </p:cNvPr>
          <p:cNvPicPr>
            <a:picLocks noChangeAspect="1"/>
          </p:cNvPicPr>
          <p:nvPr/>
        </p:nvPicPr>
        <p:blipFill>
          <a:blip r:embed="rId5"/>
          <a:stretch>
            <a:fillRect/>
          </a:stretch>
        </p:blipFill>
        <p:spPr>
          <a:xfrm>
            <a:off x="184845" y="5313056"/>
            <a:ext cx="5944430" cy="1343212"/>
          </a:xfrm>
          <a:prstGeom prst="rect">
            <a:avLst/>
          </a:prstGeom>
        </p:spPr>
      </p:pic>
      <p:pic>
        <p:nvPicPr>
          <p:cNvPr id="9" name="圖片 8">
            <a:extLst>
              <a:ext uri="{FF2B5EF4-FFF2-40B4-BE49-F238E27FC236}">
                <a16:creationId xmlns:a16="http://schemas.microsoft.com/office/drawing/2014/main" id="{C7768AC6-198F-0B95-D652-44F0E96315F3}"/>
              </a:ext>
            </a:extLst>
          </p:cNvPr>
          <p:cNvPicPr>
            <a:picLocks noChangeAspect="1"/>
          </p:cNvPicPr>
          <p:nvPr/>
        </p:nvPicPr>
        <p:blipFill>
          <a:blip r:embed="rId6"/>
          <a:stretch>
            <a:fillRect/>
          </a:stretch>
        </p:blipFill>
        <p:spPr>
          <a:xfrm>
            <a:off x="2904254" y="201757"/>
            <a:ext cx="6239746" cy="1571844"/>
          </a:xfrm>
          <a:prstGeom prst="rect">
            <a:avLst/>
          </a:prstGeom>
        </p:spPr>
      </p:pic>
      <p:pic>
        <p:nvPicPr>
          <p:cNvPr id="11" name="圖片 10">
            <a:extLst>
              <a:ext uri="{FF2B5EF4-FFF2-40B4-BE49-F238E27FC236}">
                <a16:creationId xmlns:a16="http://schemas.microsoft.com/office/drawing/2014/main" id="{31CA6E19-EF8D-DA11-2613-B8697BCC083E}"/>
              </a:ext>
            </a:extLst>
          </p:cNvPr>
          <p:cNvPicPr>
            <a:picLocks noChangeAspect="1"/>
          </p:cNvPicPr>
          <p:nvPr/>
        </p:nvPicPr>
        <p:blipFill>
          <a:blip r:embed="rId7"/>
          <a:stretch>
            <a:fillRect/>
          </a:stretch>
        </p:blipFill>
        <p:spPr>
          <a:xfrm>
            <a:off x="3762900" y="1877073"/>
            <a:ext cx="5239481" cy="1352739"/>
          </a:xfrm>
          <a:prstGeom prst="rect">
            <a:avLst/>
          </a:prstGeom>
        </p:spPr>
      </p:pic>
      <p:sp>
        <p:nvSpPr>
          <p:cNvPr id="15" name="文字方塊 14">
            <a:extLst>
              <a:ext uri="{FF2B5EF4-FFF2-40B4-BE49-F238E27FC236}">
                <a16:creationId xmlns:a16="http://schemas.microsoft.com/office/drawing/2014/main" id="{08DA9942-5A75-91F2-0080-CBB4DCE111B0}"/>
              </a:ext>
            </a:extLst>
          </p:cNvPr>
          <p:cNvSpPr txBox="1"/>
          <p:nvPr/>
        </p:nvSpPr>
        <p:spPr>
          <a:xfrm>
            <a:off x="6684565" y="4101698"/>
            <a:ext cx="2342149" cy="2554545"/>
          </a:xfrm>
          <a:prstGeom prst="rect">
            <a:avLst/>
          </a:prstGeom>
          <a:noFill/>
        </p:spPr>
        <p:txBody>
          <a:bodyPr wrap="square">
            <a:spAutoFit/>
          </a:bodyPr>
          <a:lstStyle/>
          <a:p>
            <a:pPr>
              <a:lnSpc>
                <a:spcPts val="1200"/>
              </a:lnSpc>
            </a:pPr>
            <a:r>
              <a:rPr lang="zh-TW" altLang="en-US" sz="1000" dirty="0">
                <a:latin typeface="微軟正黑體" panose="020B0604030504040204" pitchFamily="34" charset="-120"/>
                <a:ea typeface="微軟正黑體" panose="020B0604030504040204" pitchFamily="34" charset="-120"/>
              </a:rPr>
              <a:t>💡 實務運作的核心痛點（為什麼要排隊？）</a:t>
            </a:r>
          </a:p>
          <a:p>
            <a:pPr>
              <a:lnSpc>
                <a:spcPts val="1200"/>
              </a:lnSpc>
            </a:pPr>
            <a:r>
              <a:rPr lang="zh-TW" altLang="en-US" sz="1000" dirty="0">
                <a:latin typeface="微軟正黑體" panose="020B0604030504040204" pitchFamily="34" charset="-120"/>
                <a:ea typeface="微軟正黑體" panose="020B0604030504040204" pitchFamily="34" charset="-120"/>
              </a:rPr>
              <a:t>從上述的「作法」中你可以發現，計算第 </a:t>
            </a:r>
            <a:r>
              <a:rPr lang="en-US" altLang="zh-TW" sz="1000" dirty="0">
                <a:latin typeface="微軟正黑體" panose="020B0604030504040204" pitchFamily="34" charset="-120"/>
                <a:ea typeface="微軟正黑體" panose="020B0604030504040204" pitchFamily="34" charset="-120"/>
              </a:rPr>
              <a:t>2 </a:t>
            </a:r>
            <a:r>
              <a:rPr lang="zh-TW" altLang="en-US" sz="1000" dirty="0">
                <a:latin typeface="微軟正黑體" panose="020B0604030504040204" pitchFamily="34" charset="-120"/>
                <a:ea typeface="微軟正黑體" panose="020B0604030504040204" pitchFamily="34" charset="-120"/>
              </a:rPr>
              <a:t>個字時，公式裡必須代入上一步的 </a:t>
            </a:r>
            <a:r>
              <a:rPr lang="en-US" altLang="zh-TW" sz="1000" dirty="0">
                <a:latin typeface="微軟正黑體" panose="020B0604030504040204" pitchFamily="34" charset="-120"/>
                <a:ea typeface="微軟正黑體" panose="020B0604030504040204" pitchFamily="34" charset="-120"/>
              </a:rPr>
              <a:t>h{t-1} </a:t>
            </a:r>
            <a:r>
              <a:rPr lang="zh-TW" altLang="en-US" sz="1000" dirty="0">
                <a:latin typeface="微軟正黑體" panose="020B0604030504040204" pitchFamily="34" charset="-120"/>
                <a:ea typeface="微軟正黑體" panose="020B0604030504040204" pitchFamily="34" charset="-120"/>
              </a:rPr>
              <a:t>和 </a:t>
            </a:r>
            <a:r>
              <a:rPr lang="en-US" altLang="zh-TW" sz="1000" dirty="0">
                <a:latin typeface="微軟正黑體" panose="020B0604030504040204" pitchFamily="34" charset="-120"/>
                <a:ea typeface="微軟正黑體" panose="020B0604030504040204" pitchFamily="34" charset="-120"/>
              </a:rPr>
              <a:t>C_{t-1}</a:t>
            </a:r>
            <a:r>
              <a:rPr lang="zh-TW" altLang="en-US" sz="1000" dirty="0">
                <a:latin typeface="微軟正黑體" panose="020B0604030504040204" pitchFamily="34" charset="-120"/>
                <a:ea typeface="微軟正黑體" panose="020B0604030504040204" pitchFamily="34" charset="-120"/>
              </a:rPr>
              <a:t>。</a:t>
            </a:r>
            <a:br>
              <a:rPr lang="zh-TW" altLang="en-US" sz="1000" dirty="0">
                <a:latin typeface="微軟正黑體" panose="020B0604030504040204" pitchFamily="34" charset="-120"/>
                <a:ea typeface="微軟正黑體" panose="020B0604030504040204" pitchFamily="34" charset="-120"/>
              </a:rPr>
            </a:br>
            <a:r>
              <a:rPr lang="zh-TW" altLang="en-US" sz="1000" dirty="0">
                <a:latin typeface="微軟正黑體" panose="020B0604030504040204" pitchFamily="34" charset="-120"/>
                <a:ea typeface="微軟正黑體" panose="020B0604030504040204" pitchFamily="34" charset="-120"/>
              </a:rPr>
              <a:t>這意味著：</a:t>
            </a:r>
          </a:p>
          <a:p>
            <a:pPr>
              <a:lnSpc>
                <a:spcPts val="1200"/>
              </a:lnSpc>
            </a:pPr>
            <a:r>
              <a:rPr lang="zh-TW" altLang="en-US" sz="1000" dirty="0">
                <a:latin typeface="微軟正黑體" panose="020B0604030504040204" pitchFamily="34" charset="-120"/>
                <a:ea typeface="微軟正黑體" panose="020B0604030504040204" pitchFamily="34" charset="-120"/>
              </a:rPr>
              <a:t>你無法同時計算第 </a:t>
            </a:r>
            <a:r>
              <a:rPr lang="en-US" altLang="zh-TW" sz="1000" dirty="0">
                <a:latin typeface="微軟正黑體" panose="020B0604030504040204" pitchFamily="34" charset="-120"/>
                <a:ea typeface="微軟正黑體" panose="020B0604030504040204" pitchFamily="34" charset="-120"/>
              </a:rPr>
              <a:t>1 </a:t>
            </a:r>
            <a:r>
              <a:rPr lang="zh-TW" altLang="en-US" sz="1000" dirty="0">
                <a:latin typeface="微軟正黑體" panose="020B0604030504040204" pitchFamily="34" charset="-120"/>
                <a:ea typeface="微軟正黑體" panose="020B0604030504040204" pitchFamily="34" charset="-120"/>
              </a:rPr>
              <a:t>個字和第 </a:t>
            </a:r>
            <a:r>
              <a:rPr lang="en-US" altLang="zh-TW" sz="1000" dirty="0">
                <a:latin typeface="微軟正黑體" panose="020B0604030504040204" pitchFamily="34" charset="-120"/>
                <a:ea typeface="微軟正黑體" panose="020B0604030504040204" pitchFamily="34" charset="-120"/>
              </a:rPr>
              <a:t>100 </a:t>
            </a:r>
            <a:r>
              <a:rPr lang="zh-TW" altLang="en-US" sz="1000" dirty="0">
                <a:latin typeface="微軟正黑體" panose="020B0604030504040204" pitchFamily="34" charset="-120"/>
                <a:ea typeface="微軟正黑體" panose="020B0604030504040204" pitchFamily="34" charset="-120"/>
              </a:rPr>
              <a:t>個字。</a:t>
            </a:r>
          </a:p>
          <a:p>
            <a:pPr>
              <a:lnSpc>
                <a:spcPts val="1200"/>
              </a:lnSpc>
            </a:pPr>
            <a:r>
              <a:rPr lang="zh-TW" altLang="en-US" sz="1000" dirty="0">
                <a:latin typeface="微軟正黑體" panose="020B0604030504040204" pitchFamily="34" charset="-120"/>
                <a:ea typeface="微軟正黑體" panose="020B0604030504040204" pitchFamily="34" charset="-120"/>
              </a:rPr>
              <a:t>顯示卡（</a:t>
            </a:r>
            <a:r>
              <a:rPr lang="en-US" altLang="zh-TW" sz="1000" dirty="0">
                <a:latin typeface="微軟正黑體" panose="020B0604030504040204" pitchFamily="34" charset="-120"/>
                <a:ea typeface="微軟正黑體" panose="020B0604030504040204" pitchFamily="34" charset="-120"/>
              </a:rPr>
              <a:t>GPU</a:t>
            </a:r>
            <a:r>
              <a:rPr lang="zh-TW" altLang="en-US" sz="1000" dirty="0">
                <a:latin typeface="微軟正黑體" panose="020B0604030504040204" pitchFamily="34" charset="-120"/>
                <a:ea typeface="微軟正黑體" panose="020B0604030504040204" pitchFamily="34" charset="-120"/>
              </a:rPr>
              <a:t>）有幾千個核心可以並行運算，但在跑 </a:t>
            </a:r>
            <a:r>
              <a:rPr lang="en-US" altLang="zh-TW" sz="1000" dirty="0">
                <a:latin typeface="微軟正黑體" panose="020B0604030504040204" pitchFamily="34" charset="-120"/>
                <a:ea typeface="微軟正黑體" panose="020B0604030504040204" pitchFamily="34" charset="-120"/>
              </a:rPr>
              <a:t>LSTM </a:t>
            </a:r>
            <a:r>
              <a:rPr lang="zh-TW" altLang="en-US" sz="1000" dirty="0">
                <a:latin typeface="微軟正黑體" panose="020B0604030504040204" pitchFamily="34" charset="-120"/>
                <a:ea typeface="微軟正黑體" panose="020B0604030504040204" pitchFamily="34" charset="-120"/>
              </a:rPr>
              <a:t>時，只能逼它們乖乖「排隊」等前一個字算完。</a:t>
            </a:r>
          </a:p>
          <a:p>
            <a:pPr>
              <a:lnSpc>
                <a:spcPts val="1200"/>
              </a:lnSpc>
            </a:pPr>
            <a:r>
              <a:rPr lang="zh-TW" altLang="en-US" sz="1000" dirty="0">
                <a:latin typeface="微軟正黑體" panose="020B0604030504040204" pitchFamily="34" charset="-120"/>
                <a:ea typeface="微軟正黑體" panose="020B0604030504040204" pitchFamily="34" charset="-120"/>
              </a:rPr>
              <a:t>這也是為什麼當前 </a:t>
            </a:r>
            <a:r>
              <a:rPr lang="en-US" altLang="zh-TW" sz="1000" dirty="0">
                <a:latin typeface="微軟正黑體" panose="020B0604030504040204" pitchFamily="34" charset="-120"/>
                <a:ea typeface="微軟正黑體" panose="020B0604030504040204" pitchFamily="34" charset="-120"/>
              </a:rPr>
              <a:t>AI </a:t>
            </a:r>
            <a:r>
              <a:rPr lang="zh-TW" altLang="en-US" sz="1000" dirty="0">
                <a:latin typeface="微軟正黑體" panose="020B0604030504040204" pitchFamily="34" charset="-120"/>
                <a:ea typeface="微軟正黑體" panose="020B0604030504040204" pitchFamily="34" charset="-120"/>
              </a:rPr>
              <a:t>業界全面轉向 </a:t>
            </a:r>
            <a:r>
              <a:rPr lang="en-US" altLang="zh-TW" sz="1000" dirty="0">
                <a:latin typeface="微軟正黑體" panose="020B0604030504040204" pitchFamily="34" charset="-120"/>
                <a:ea typeface="微軟正黑體" panose="020B0604030504040204" pitchFamily="34" charset="-120"/>
              </a:rPr>
              <a:t>Transformer</a:t>
            </a:r>
            <a:r>
              <a:rPr lang="zh-TW" altLang="en-US" sz="1000" dirty="0">
                <a:latin typeface="微軟正黑體" panose="020B0604030504040204" pitchFamily="34" charset="-120"/>
                <a:ea typeface="微軟正黑體" panose="020B0604030504040204" pitchFamily="34" charset="-120"/>
              </a:rPr>
              <a:t>，因為 </a:t>
            </a:r>
            <a:r>
              <a:rPr lang="en-US" altLang="zh-TW" sz="1000" dirty="0">
                <a:latin typeface="微軟正黑體" panose="020B0604030504040204" pitchFamily="34" charset="-120"/>
                <a:ea typeface="微軟正黑體" panose="020B0604030504040204" pitchFamily="34" charset="-120"/>
              </a:rPr>
              <a:t>Transformer </a:t>
            </a:r>
            <a:r>
              <a:rPr lang="zh-TW" altLang="en-US" sz="1000" dirty="0">
                <a:latin typeface="微軟正黑體" panose="020B0604030504040204" pitchFamily="34" charset="-120"/>
                <a:ea typeface="微軟正黑體" panose="020B0604030504040204" pitchFamily="34" charset="-120"/>
              </a:rPr>
              <a:t>的作法是把所有字一次全部丟進去算（</a:t>
            </a:r>
            <a:r>
              <a:rPr lang="en-US" altLang="zh-TW" sz="1000" dirty="0">
                <a:latin typeface="微軟正黑體" panose="020B0604030504040204" pitchFamily="34" charset="-120"/>
                <a:ea typeface="微軟正黑體" panose="020B0604030504040204" pitchFamily="34" charset="-120"/>
              </a:rPr>
              <a:t>Self-Attention</a:t>
            </a:r>
            <a:r>
              <a:rPr lang="zh-TW" altLang="en-US" sz="1000" dirty="0">
                <a:latin typeface="微軟正黑體" panose="020B0604030504040204" pitchFamily="34" charset="-120"/>
                <a:ea typeface="微軟正黑體" panose="020B0604030504040204" pitchFamily="34" charset="-120"/>
              </a:rPr>
              <a:t>），徹底解放了 </a:t>
            </a:r>
            <a:r>
              <a:rPr lang="en-US" altLang="zh-TW" sz="1000" dirty="0">
                <a:latin typeface="微軟正黑體" panose="020B0604030504040204" pitchFamily="34" charset="-120"/>
                <a:ea typeface="微軟正黑體" panose="020B0604030504040204" pitchFamily="34" charset="-120"/>
              </a:rPr>
              <a:t>GPU </a:t>
            </a:r>
            <a:r>
              <a:rPr lang="zh-TW" altLang="en-US" sz="1000" dirty="0">
                <a:latin typeface="微軟正黑體" panose="020B0604030504040204" pitchFamily="34" charset="-120"/>
                <a:ea typeface="微軟正黑體" panose="020B0604030504040204" pitchFamily="34" charset="-120"/>
              </a:rPr>
              <a:t>的並行算力。</a:t>
            </a:r>
          </a:p>
        </p:txBody>
      </p:sp>
    </p:spTree>
    <p:extLst>
      <p:ext uri="{BB962C8B-B14F-4D97-AF65-F5344CB8AC3E}">
        <p14:creationId xmlns:p14="http://schemas.microsoft.com/office/powerpoint/2010/main" val="34978532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pic>
        <p:nvPicPr>
          <p:cNvPr id="3" name="圖片 2">
            <a:extLst>
              <a:ext uri="{FF2B5EF4-FFF2-40B4-BE49-F238E27FC236}">
                <a16:creationId xmlns:a16="http://schemas.microsoft.com/office/drawing/2014/main" id="{2F35AD2E-ABB4-9F25-94C4-94B8A15A67CE}"/>
              </a:ext>
            </a:extLst>
          </p:cNvPr>
          <p:cNvPicPr>
            <a:picLocks noChangeAspect="1"/>
          </p:cNvPicPr>
          <p:nvPr/>
        </p:nvPicPr>
        <p:blipFill>
          <a:blip r:embed="rId5"/>
          <a:stretch>
            <a:fillRect/>
          </a:stretch>
        </p:blipFill>
        <p:spPr>
          <a:xfrm>
            <a:off x="1793042" y="116632"/>
            <a:ext cx="7308304" cy="2682172"/>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3"/>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4"/>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5"/>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3938287"/>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6"/>
          <a:stretch>
            <a:fillRect/>
          </a:stretch>
        </p:blipFill>
        <p:spPr>
          <a:xfrm>
            <a:off x="956590" y="4485621"/>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7"/>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8"/>
          <a:stretch>
            <a:fillRect/>
          </a:stretch>
        </p:blipFill>
        <p:spPr>
          <a:xfrm>
            <a:off x="4138615"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sym typeface="Wingdings" panose="05000000000000000000" pitchFamily="2" charset="2"/>
              </a:rPr>
              <a:t>MuonClip</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Optimizer</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Delta Attention</a:t>
            </a:r>
          </a:p>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Paradigm RL for</a:t>
            </a:r>
          </a:p>
          <a:p>
            <a:pPr algn="ctr"/>
            <a:r>
              <a:rPr lang="en-US" altLang="zh-TW" sz="1200" dirty="0">
                <a:solidFill>
                  <a:prstClr val="black"/>
                </a:solidFill>
                <a:ea typeface="Cambria Math" panose="02040503050406030204" pitchFamily="18" charset="0"/>
                <a:sym typeface="Wingdings" panose="05000000000000000000" pitchFamily="2" charset="2"/>
              </a:rPr>
              <a:t>Agents Swarms</a:t>
            </a:r>
            <a:endParaRPr lang="en-US" altLang="zh-TW" sz="1200" dirty="0">
              <a:solidFill>
                <a:prstClr val="black"/>
              </a:solidFill>
              <a:ea typeface="Cambria Math" panose="02040503050406030204" pitchFamily="18" charset="0"/>
            </a:endParaRPr>
          </a:p>
        </p:txBody>
      </p:sp>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B936BAD-3CA1-5A93-68D0-18D4749B896D}"/>
              </a:ext>
            </a:extLst>
          </p:cNvPr>
          <p:cNvPicPr>
            <a:picLocks noChangeAspect="1"/>
          </p:cNvPicPr>
          <p:nvPr/>
        </p:nvPicPr>
        <p:blipFill>
          <a:blip r:embed="rId2"/>
          <a:stretch>
            <a:fillRect/>
          </a:stretch>
        </p:blipFill>
        <p:spPr>
          <a:xfrm>
            <a:off x="445394" y="0"/>
            <a:ext cx="8253211" cy="6858000"/>
          </a:xfrm>
          <a:prstGeom prst="rect">
            <a:avLst/>
          </a:prstGeom>
        </p:spPr>
      </p:pic>
      <p:sp>
        <p:nvSpPr>
          <p:cNvPr id="5" name="標題 1">
            <a:extLst>
              <a:ext uri="{FF2B5EF4-FFF2-40B4-BE49-F238E27FC236}">
                <a16:creationId xmlns:a16="http://schemas.microsoft.com/office/drawing/2014/main" id="{EA642F90-58F9-AC4E-23F9-20D780B8B74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Tree>
    <p:extLst>
      <p:ext uri="{BB962C8B-B14F-4D97-AF65-F5344CB8AC3E}">
        <p14:creationId xmlns:p14="http://schemas.microsoft.com/office/powerpoint/2010/main" val="2211158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505DD-CDA6-FE4C-F217-AF444E3CACA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EB04A97-81D2-A052-5744-4D29BE61D10B}"/>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K</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imi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elta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hybrid linear attention technique created to render the context window of 1M tokens feasible instead of quadratic.</a:t>
            </a:r>
          </a:p>
        </p:txBody>
      </p:sp>
      <p:pic>
        <p:nvPicPr>
          <p:cNvPr id="7" name="圖片 6">
            <a:extLst>
              <a:ext uri="{FF2B5EF4-FFF2-40B4-BE49-F238E27FC236}">
                <a16:creationId xmlns:a16="http://schemas.microsoft.com/office/drawing/2014/main" id="{0A39CAF0-2B6E-920B-22F1-4CB97C3BB504}"/>
              </a:ext>
            </a:extLst>
          </p:cNvPr>
          <p:cNvPicPr>
            <a:picLocks noChangeAspect="1"/>
          </p:cNvPicPr>
          <p:nvPr/>
        </p:nvPicPr>
        <p:blipFill>
          <a:blip r:embed="rId2"/>
          <a:stretch>
            <a:fillRect/>
          </a:stretch>
        </p:blipFill>
        <p:spPr>
          <a:xfrm>
            <a:off x="213047" y="1916832"/>
            <a:ext cx="3839111" cy="4496427"/>
          </a:xfrm>
          <a:prstGeom prst="rect">
            <a:avLst/>
          </a:prstGeom>
        </p:spPr>
      </p:pic>
      <p:pic>
        <p:nvPicPr>
          <p:cNvPr id="4" name="圖片 3">
            <a:extLst>
              <a:ext uri="{FF2B5EF4-FFF2-40B4-BE49-F238E27FC236}">
                <a16:creationId xmlns:a16="http://schemas.microsoft.com/office/drawing/2014/main" id="{C7D648D9-ABFB-3579-6CC8-D919C5327F82}"/>
              </a:ext>
            </a:extLst>
          </p:cNvPr>
          <p:cNvPicPr>
            <a:picLocks noChangeAspect="1"/>
          </p:cNvPicPr>
          <p:nvPr/>
        </p:nvPicPr>
        <p:blipFill>
          <a:blip r:embed="rId3"/>
          <a:stretch>
            <a:fillRect/>
          </a:stretch>
        </p:blipFill>
        <p:spPr>
          <a:xfrm>
            <a:off x="2555776" y="980728"/>
            <a:ext cx="4210638" cy="1419423"/>
          </a:xfrm>
          <a:prstGeom prst="rect">
            <a:avLst/>
          </a:prstGeom>
        </p:spPr>
      </p:pic>
      <p:sp>
        <p:nvSpPr>
          <p:cNvPr id="9" name="文字方塊 8">
            <a:extLst>
              <a:ext uri="{FF2B5EF4-FFF2-40B4-BE49-F238E27FC236}">
                <a16:creationId xmlns:a16="http://schemas.microsoft.com/office/drawing/2014/main" id="{C0DFBAC6-426F-03B3-9FFE-A154CE87BBA1}"/>
              </a:ext>
            </a:extLst>
          </p:cNvPr>
          <p:cNvSpPr txBox="1"/>
          <p:nvPr/>
        </p:nvSpPr>
        <p:spPr>
          <a:xfrm>
            <a:off x="899592" y="164266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KDA</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Kimi Delta Attention</a:t>
            </a:r>
          </a:p>
        </p:txBody>
      </p:sp>
      <p:cxnSp>
        <p:nvCxnSpPr>
          <p:cNvPr id="12" name="直線單箭頭接點 11">
            <a:extLst>
              <a:ext uri="{FF2B5EF4-FFF2-40B4-BE49-F238E27FC236}">
                <a16:creationId xmlns:a16="http://schemas.microsoft.com/office/drawing/2014/main" id="{0436543E-3072-40B4-782F-95CFF0F582CB}"/>
              </a:ext>
            </a:extLst>
          </p:cNvPr>
          <p:cNvCxnSpPr>
            <a:cxnSpLocks/>
            <a:stCxn id="16" idx="2"/>
            <a:endCxn id="17"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矩形 12">
            <a:extLst>
              <a:ext uri="{FF2B5EF4-FFF2-40B4-BE49-F238E27FC236}">
                <a16:creationId xmlns:a16="http://schemas.microsoft.com/office/drawing/2014/main" id="{B10808CA-1DF2-8265-C178-CEF922F916DD}"/>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14" name="矩形 13">
            <a:extLst>
              <a:ext uri="{FF2B5EF4-FFF2-40B4-BE49-F238E27FC236}">
                <a16:creationId xmlns:a16="http://schemas.microsoft.com/office/drawing/2014/main" id="{ED887128-0066-C7E3-0AFA-E38FC88A04B6}"/>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MQA</a:t>
            </a:r>
          </a:p>
        </p:txBody>
      </p:sp>
      <p:sp>
        <p:nvSpPr>
          <p:cNvPr id="15" name="矩形 14">
            <a:extLst>
              <a:ext uri="{FF2B5EF4-FFF2-40B4-BE49-F238E27FC236}">
                <a16:creationId xmlns:a16="http://schemas.microsoft.com/office/drawing/2014/main" id="{C33BCE02-7E6C-1470-3C10-7B11AA3BFD50}"/>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16" name="矩形 15">
            <a:extLst>
              <a:ext uri="{FF2B5EF4-FFF2-40B4-BE49-F238E27FC236}">
                <a16:creationId xmlns:a16="http://schemas.microsoft.com/office/drawing/2014/main" id="{EC8518F6-35AB-08B9-2B5E-27F751E4F1A5}"/>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17" name="矩形 16">
            <a:extLst>
              <a:ext uri="{FF2B5EF4-FFF2-40B4-BE49-F238E27FC236}">
                <a16:creationId xmlns:a16="http://schemas.microsoft.com/office/drawing/2014/main" id="{7459CB1D-35A3-2F99-5B4F-5668C50E7067}"/>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40046117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A62AFD0E-C1ED-8EF9-8931-FE992ECFE360}"/>
              </a:ext>
            </a:extLst>
          </p:cNvPr>
          <p:cNvPicPr>
            <a:picLocks noChangeAspect="1"/>
          </p:cNvPicPr>
          <p:nvPr/>
        </p:nvPicPr>
        <p:blipFill>
          <a:blip r:embed="rId2"/>
          <a:stretch>
            <a:fillRect/>
          </a:stretch>
        </p:blipFill>
        <p:spPr>
          <a:xfrm>
            <a:off x="6480959" y="909286"/>
            <a:ext cx="2652796" cy="3167786"/>
          </a:xfrm>
          <a:prstGeom prst="rect">
            <a:avLst/>
          </a:prstGeom>
        </p:spPr>
      </p:pic>
      <p:pic>
        <p:nvPicPr>
          <p:cNvPr id="5" name="圖片 4">
            <a:extLst>
              <a:ext uri="{FF2B5EF4-FFF2-40B4-BE49-F238E27FC236}">
                <a16:creationId xmlns:a16="http://schemas.microsoft.com/office/drawing/2014/main" id="{A3528C1D-E092-82D2-3C40-0A205A29EAC1}"/>
              </a:ext>
            </a:extLst>
          </p:cNvPr>
          <p:cNvPicPr>
            <a:picLocks noChangeAspect="1"/>
          </p:cNvPicPr>
          <p:nvPr/>
        </p:nvPicPr>
        <p:blipFill>
          <a:blip r:embed="rId3"/>
          <a:stretch>
            <a:fillRect/>
          </a:stretch>
        </p:blipFill>
        <p:spPr>
          <a:xfrm>
            <a:off x="539553" y="692696"/>
            <a:ext cx="5182086" cy="2027773"/>
          </a:xfrm>
          <a:prstGeom prst="rect">
            <a:avLst/>
          </a:prstGeom>
        </p:spPr>
      </p:pic>
      <p:pic>
        <p:nvPicPr>
          <p:cNvPr id="7" name="圖片 6">
            <a:extLst>
              <a:ext uri="{FF2B5EF4-FFF2-40B4-BE49-F238E27FC236}">
                <a16:creationId xmlns:a16="http://schemas.microsoft.com/office/drawing/2014/main" id="{01371016-9EE6-C53F-CA8E-A255B222469D}"/>
              </a:ext>
            </a:extLst>
          </p:cNvPr>
          <p:cNvPicPr>
            <a:picLocks noChangeAspect="1"/>
          </p:cNvPicPr>
          <p:nvPr/>
        </p:nvPicPr>
        <p:blipFill>
          <a:blip r:embed="rId4"/>
          <a:stretch>
            <a:fillRect/>
          </a:stretch>
        </p:blipFill>
        <p:spPr>
          <a:xfrm>
            <a:off x="323528" y="4110842"/>
            <a:ext cx="4608512" cy="735631"/>
          </a:xfrm>
          <a:prstGeom prst="rect">
            <a:avLst/>
          </a:prstGeom>
        </p:spPr>
      </p:pic>
      <p:pic>
        <p:nvPicPr>
          <p:cNvPr id="9" name="圖片 8">
            <a:extLst>
              <a:ext uri="{FF2B5EF4-FFF2-40B4-BE49-F238E27FC236}">
                <a16:creationId xmlns:a16="http://schemas.microsoft.com/office/drawing/2014/main" id="{1578BD67-A721-1F6B-11BD-E62D94B9368A}"/>
              </a:ext>
            </a:extLst>
          </p:cNvPr>
          <p:cNvPicPr>
            <a:picLocks noChangeAspect="1"/>
          </p:cNvPicPr>
          <p:nvPr/>
        </p:nvPicPr>
        <p:blipFill>
          <a:blip r:embed="rId5"/>
          <a:stretch>
            <a:fillRect/>
          </a:stretch>
        </p:blipFill>
        <p:spPr>
          <a:xfrm>
            <a:off x="1115616" y="3361453"/>
            <a:ext cx="1936839" cy="715619"/>
          </a:xfrm>
          <a:prstGeom prst="rect">
            <a:avLst/>
          </a:prstGeom>
        </p:spPr>
      </p:pic>
    </p:spTree>
    <p:extLst>
      <p:ext uri="{BB962C8B-B14F-4D97-AF65-F5344CB8AC3E}">
        <p14:creationId xmlns:p14="http://schemas.microsoft.com/office/powerpoint/2010/main" val="37769020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949EC-1316-A85B-5F0E-AEEC5553A7D3}"/>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BF2F72E6-93F4-5D0A-183F-078808B83F1F}"/>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 Residuals</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complete substitute for standard residual connections that Moonshot claims lead to more consistent results as the model grows lager.</a:t>
            </a:r>
          </a:p>
        </p:txBody>
      </p:sp>
      <p:pic>
        <p:nvPicPr>
          <p:cNvPr id="3" name="圖片 2">
            <a:extLst>
              <a:ext uri="{FF2B5EF4-FFF2-40B4-BE49-F238E27FC236}">
                <a16:creationId xmlns:a16="http://schemas.microsoft.com/office/drawing/2014/main" id="{6DD31490-34C9-88AB-BC5D-2B5A1DAE6804}"/>
              </a:ext>
            </a:extLst>
          </p:cNvPr>
          <p:cNvPicPr>
            <a:picLocks noChangeAspect="1"/>
          </p:cNvPicPr>
          <p:nvPr/>
        </p:nvPicPr>
        <p:blipFill>
          <a:blip r:embed="rId2"/>
          <a:stretch>
            <a:fillRect/>
          </a:stretch>
        </p:blipFill>
        <p:spPr>
          <a:xfrm>
            <a:off x="0" y="1124744"/>
            <a:ext cx="3920761" cy="2167605"/>
          </a:xfrm>
          <a:prstGeom prst="rect">
            <a:avLst/>
          </a:prstGeom>
        </p:spPr>
      </p:pic>
      <p:pic>
        <p:nvPicPr>
          <p:cNvPr id="6" name="圖片 5">
            <a:extLst>
              <a:ext uri="{FF2B5EF4-FFF2-40B4-BE49-F238E27FC236}">
                <a16:creationId xmlns:a16="http://schemas.microsoft.com/office/drawing/2014/main" id="{27B08812-6FDF-E638-B897-C816AAA52387}"/>
              </a:ext>
            </a:extLst>
          </p:cNvPr>
          <p:cNvPicPr>
            <a:picLocks noChangeAspect="1"/>
          </p:cNvPicPr>
          <p:nvPr/>
        </p:nvPicPr>
        <p:blipFill>
          <a:blip r:embed="rId3"/>
          <a:stretch>
            <a:fillRect/>
          </a:stretch>
        </p:blipFill>
        <p:spPr>
          <a:xfrm>
            <a:off x="827584" y="3269397"/>
            <a:ext cx="2453030" cy="938344"/>
          </a:xfrm>
          <a:prstGeom prst="rect">
            <a:avLst/>
          </a:prstGeom>
        </p:spPr>
      </p:pic>
      <p:pic>
        <p:nvPicPr>
          <p:cNvPr id="8" name="圖片 7">
            <a:extLst>
              <a:ext uri="{FF2B5EF4-FFF2-40B4-BE49-F238E27FC236}">
                <a16:creationId xmlns:a16="http://schemas.microsoft.com/office/drawing/2014/main" id="{0FDF98A3-572D-416F-04D9-7F22D1E922F7}"/>
              </a:ext>
            </a:extLst>
          </p:cNvPr>
          <p:cNvPicPr>
            <a:picLocks noChangeAspect="1"/>
          </p:cNvPicPr>
          <p:nvPr/>
        </p:nvPicPr>
        <p:blipFill>
          <a:blip r:embed="rId4"/>
          <a:stretch>
            <a:fillRect/>
          </a:stretch>
        </p:blipFill>
        <p:spPr>
          <a:xfrm>
            <a:off x="1384874" y="4207741"/>
            <a:ext cx="1895740" cy="381053"/>
          </a:xfrm>
          <a:prstGeom prst="rect">
            <a:avLst/>
          </a:prstGeom>
        </p:spPr>
      </p:pic>
      <p:pic>
        <p:nvPicPr>
          <p:cNvPr id="10" name="圖片 9">
            <a:extLst>
              <a:ext uri="{FF2B5EF4-FFF2-40B4-BE49-F238E27FC236}">
                <a16:creationId xmlns:a16="http://schemas.microsoft.com/office/drawing/2014/main" id="{8D122126-F323-96A2-2B0F-862455C74E2D}"/>
              </a:ext>
            </a:extLst>
          </p:cNvPr>
          <p:cNvPicPr>
            <a:picLocks noChangeAspect="1"/>
          </p:cNvPicPr>
          <p:nvPr/>
        </p:nvPicPr>
        <p:blipFill>
          <a:blip r:embed="rId5"/>
          <a:stretch>
            <a:fillRect/>
          </a:stretch>
        </p:blipFill>
        <p:spPr>
          <a:xfrm>
            <a:off x="7090929" y="1085523"/>
            <a:ext cx="2053071" cy="3279581"/>
          </a:xfrm>
          <a:prstGeom prst="rect">
            <a:avLst/>
          </a:prstGeom>
        </p:spPr>
      </p:pic>
      <p:pic>
        <p:nvPicPr>
          <p:cNvPr id="12" name="圖片 11">
            <a:extLst>
              <a:ext uri="{FF2B5EF4-FFF2-40B4-BE49-F238E27FC236}">
                <a16:creationId xmlns:a16="http://schemas.microsoft.com/office/drawing/2014/main" id="{07003AB1-8B39-6ADC-7F03-DDF41CC54083}"/>
              </a:ext>
            </a:extLst>
          </p:cNvPr>
          <p:cNvPicPr>
            <a:picLocks noChangeAspect="1"/>
          </p:cNvPicPr>
          <p:nvPr/>
        </p:nvPicPr>
        <p:blipFill>
          <a:blip r:embed="rId6"/>
          <a:stretch>
            <a:fillRect/>
          </a:stretch>
        </p:blipFill>
        <p:spPr>
          <a:xfrm>
            <a:off x="4959630" y="1085522"/>
            <a:ext cx="2017149" cy="3279582"/>
          </a:xfrm>
          <a:prstGeom prst="rect">
            <a:avLst/>
          </a:prstGeom>
        </p:spPr>
      </p:pic>
      <p:pic>
        <p:nvPicPr>
          <p:cNvPr id="14" name="圖片 13">
            <a:extLst>
              <a:ext uri="{FF2B5EF4-FFF2-40B4-BE49-F238E27FC236}">
                <a16:creationId xmlns:a16="http://schemas.microsoft.com/office/drawing/2014/main" id="{584326FD-949B-C14B-9D60-AC6A38703B7B}"/>
              </a:ext>
            </a:extLst>
          </p:cNvPr>
          <p:cNvPicPr>
            <a:picLocks noChangeAspect="1"/>
          </p:cNvPicPr>
          <p:nvPr/>
        </p:nvPicPr>
        <p:blipFill>
          <a:blip r:embed="rId7"/>
          <a:stretch>
            <a:fillRect/>
          </a:stretch>
        </p:blipFill>
        <p:spPr>
          <a:xfrm>
            <a:off x="4499993" y="4478486"/>
            <a:ext cx="3672408" cy="2322131"/>
          </a:xfrm>
          <a:prstGeom prst="rect">
            <a:avLst/>
          </a:prstGeom>
        </p:spPr>
      </p:pic>
    </p:spTree>
    <p:extLst>
      <p:ext uri="{BB962C8B-B14F-4D97-AF65-F5344CB8AC3E}">
        <p14:creationId xmlns:p14="http://schemas.microsoft.com/office/powerpoint/2010/main" val="33605181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29C7219-C4CF-C21F-F08B-3CA6B0AE6462}"/>
              </a:ext>
            </a:extLst>
          </p:cNvPr>
          <p:cNvPicPr>
            <a:picLocks noChangeAspect="1"/>
          </p:cNvPicPr>
          <p:nvPr/>
        </p:nvPicPr>
        <p:blipFill>
          <a:blip r:embed="rId2"/>
          <a:stretch>
            <a:fillRect/>
          </a:stretch>
        </p:blipFill>
        <p:spPr>
          <a:xfrm>
            <a:off x="1357312" y="0"/>
            <a:ext cx="6429375" cy="6858000"/>
          </a:xfrm>
          <a:prstGeom prst="rect">
            <a:avLst/>
          </a:prstGeom>
        </p:spPr>
      </p:pic>
    </p:spTree>
    <p:extLst>
      <p:ext uri="{BB962C8B-B14F-4D97-AF65-F5344CB8AC3E}">
        <p14:creationId xmlns:p14="http://schemas.microsoft.com/office/powerpoint/2010/main" val="7449065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 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 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407707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 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5"/>
          <a:stretch>
            <a:fillRect/>
          </a:stretch>
        </p:blipFill>
        <p:spPr>
          <a:xfrm>
            <a:off x="251520" y="4485622"/>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6"/>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7"/>
          <a:stretch>
            <a:fillRect/>
          </a:stretch>
        </p:blipFill>
        <p:spPr>
          <a:xfrm>
            <a:off x="3213630"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QK-Clip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f agents</a:t>
            </a:r>
            <a:endParaRPr lang="en-US" altLang="zh-TW" sz="1200" dirty="0">
              <a:solidFill>
                <a:prstClr val="black"/>
              </a:solidFill>
              <a:ea typeface="Cambria Math" panose="02040503050406030204" pitchFamily="18" charset="0"/>
            </a:endParaRPr>
          </a:p>
        </p:txBody>
      </p:sp>
      <p:pic>
        <p:nvPicPr>
          <p:cNvPr id="49" name="圖片 48">
            <a:extLst>
              <a:ext uri="{FF2B5EF4-FFF2-40B4-BE49-F238E27FC236}">
                <a16:creationId xmlns:a16="http://schemas.microsoft.com/office/drawing/2014/main" id="{D3F610A2-6BA4-F8DE-E41D-DA2B1DA00336}"/>
              </a:ext>
            </a:extLst>
          </p:cNvPr>
          <p:cNvPicPr>
            <a:picLocks noChangeAspect="1"/>
          </p:cNvPicPr>
          <p:nvPr/>
        </p:nvPicPr>
        <p:blipFill>
          <a:blip r:embed="rId8"/>
          <a:stretch>
            <a:fillRect/>
          </a:stretch>
        </p:blipFill>
        <p:spPr>
          <a:xfrm>
            <a:off x="1804704" y="4485620"/>
            <a:ext cx="1316743" cy="1065935"/>
          </a:xfrm>
          <a:prstGeom prst="rect">
            <a:avLst/>
          </a:prstGeom>
        </p:spPr>
      </p:pic>
    </p:spTree>
    <p:extLst>
      <p:ext uri="{BB962C8B-B14F-4D97-AF65-F5344CB8AC3E}">
        <p14:creationId xmlns:p14="http://schemas.microsoft.com/office/powerpoint/2010/main" val="834322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4010217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68678-8819-BF86-96FB-0D6B0474C460}"/>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C2D5DB0-B13E-CC8D-BEAD-3CFE1FC01260}"/>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pic>
        <p:nvPicPr>
          <p:cNvPr id="9" name="圖片 8">
            <a:extLst>
              <a:ext uri="{FF2B5EF4-FFF2-40B4-BE49-F238E27FC236}">
                <a16:creationId xmlns:a16="http://schemas.microsoft.com/office/drawing/2014/main" id="{C89A2E64-CE39-0D5A-90FD-BC77BBEBB409}"/>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41C0F3C9-5B35-EEAA-5410-9C94A52BB987}"/>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22971B65-9602-76A3-B159-4A6787C8241C}"/>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3449EE38-D2F0-6E65-391C-051BDCC290D1}"/>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917CB614-9D91-6082-E732-C1EB9B94CBB2}"/>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873A4A8C-4DB5-C8E4-8137-40158A09AA46}"/>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Tree>
    <p:extLst>
      <p:ext uri="{BB962C8B-B14F-4D97-AF65-F5344CB8AC3E}">
        <p14:creationId xmlns:p14="http://schemas.microsoft.com/office/powerpoint/2010/main" val="132851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011E9-ADCA-8AD3-5955-8B4CFF50F99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E4DF5537-7767-3FE2-DF63-AAEA1B1D639C}"/>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C1B77582-7129-1481-6EC8-8A0D8D78D952}"/>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27EB0C08-FFAC-265A-35FC-9352AF083829}"/>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31827620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461876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4618766"/>
                <a:ext cx="3816421" cy="1018760"/>
              </a:xfrm>
              <a:prstGeom prst="rect">
                <a:avLst/>
              </a:prstGeom>
              <a:blipFill>
                <a:blip r:embed="rId3"/>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450912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4509120"/>
                <a:ext cx="2111120" cy="1018764"/>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567053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5670532"/>
                <a:ext cx="3068084" cy="712549"/>
              </a:xfrm>
              <a:prstGeom prst="rect">
                <a:avLst/>
              </a:prstGeom>
              <a:blipFill>
                <a:blip r:embed="rId5"/>
                <a:stretch>
                  <a:fillRect/>
                </a:stretch>
              </a:blipFill>
            </p:spPr>
            <p:txBody>
              <a:bodyPr/>
              <a:lstStyle/>
              <a:p>
                <a:r>
                  <a:rPr lang="zh-TW" altLang="en-US">
                    <a:noFill/>
                  </a:rPr>
                  <a:t> </a:t>
                </a:r>
              </a:p>
            </p:txBody>
          </p:sp>
        </mc:Fallback>
      </mc:AlternateContent>
      <p:sp>
        <p:nvSpPr>
          <p:cNvPr id="7" name="文字方塊 6">
            <a:extLst>
              <a:ext uri="{FF2B5EF4-FFF2-40B4-BE49-F238E27FC236}">
                <a16:creationId xmlns:a16="http://schemas.microsoft.com/office/drawing/2014/main" id="{406D497E-F14A-9F07-6A01-416E0160ED6A}"/>
              </a:ext>
            </a:extLst>
          </p:cNvPr>
          <p:cNvSpPr txBox="1"/>
          <p:nvPr/>
        </p:nvSpPr>
        <p:spPr>
          <a:xfrm>
            <a:off x="4788024" y="333735"/>
            <a:ext cx="4176461" cy="1107996"/>
          </a:xfrm>
          <a:prstGeom prst="rect">
            <a:avLst/>
          </a:prstGeom>
          <a:solidFill>
            <a:schemeClr val="accent6">
              <a:lumMod val="20000"/>
              <a:lumOff val="80000"/>
            </a:schemeClr>
          </a:solidFill>
        </p:spPr>
        <p:txBody>
          <a:bodyPr wrap="square">
            <a:spAutoFit/>
          </a:bodyPr>
          <a:lstStyle/>
          <a:p>
            <a:r>
              <a:rPr lang="zh-TW" altLang="zh-TW" sz="1100" b="0" u="none" strike="noStrike" dirty="0">
                <a:effectLst/>
                <a:latin typeface="微軟正黑體" panose="020B0604030504040204" pitchFamily="34" charset="-120"/>
                <a:ea typeface="微軟正黑體" panose="020B0604030504040204" pitchFamily="34" charset="-120"/>
              </a:rPr>
              <a:t>NoPE（No Positional Embedding，無位置編碼）技術在近年（2025-2026年）的大型語言模型架構中受到重視，它完全捨棄傳統的 RoPE 旋轉位置編碼，改由因果注意力遮罩（Causal Mask）或混合線性注意力機制的衰減門控來隱式攜帶時序與位置資訊</a:t>
            </a:r>
            <a:r>
              <a:rPr lang="zh-TW" altLang="zh-TW" sz="1100" dirty="0">
                <a:latin typeface="微軟正黑體" panose="020B0604030504040204" pitchFamily="34" charset="-120"/>
                <a:ea typeface="微軟正黑體" panose="020B0604030504040204" pitchFamily="34" charset="-120"/>
              </a:rPr>
              <a:t>。目前採用或實驗 NoPE 技術的知名模型包含：</a:t>
            </a:r>
            <a:endParaRPr lang="en-US" altLang="zh-TW" sz="1100" dirty="0">
              <a:latin typeface="微軟正黑體" panose="020B0604030504040204" pitchFamily="34" charset="-120"/>
              <a:ea typeface="微軟正黑體" panose="020B0604030504040204" pitchFamily="34" charset="-120"/>
            </a:endParaRPr>
          </a:p>
          <a:p>
            <a:r>
              <a:rPr lang="en-US" altLang="zh-TW" sz="1100" dirty="0">
                <a:latin typeface="微軟正黑體" panose="020B0604030504040204" pitchFamily="34" charset="-120"/>
                <a:ea typeface="微軟正黑體" panose="020B0604030504040204" pitchFamily="34" charset="-120"/>
              </a:rPr>
              <a:t>K-EXAONE 2.0, SmolLM3, IBM Granite 4.0 …</a:t>
            </a:r>
            <a:endParaRPr lang="zh-TW" altLang="en-US" sz="1100" dirty="0">
              <a:latin typeface="微軟正黑體" panose="020B0604030504040204" pitchFamily="34" charset="-120"/>
              <a:ea typeface="微軟正黑體" panose="020B0604030504040204" pitchFamily="34" charset="-120"/>
            </a:endParaRPr>
          </a:p>
        </p:txBody>
      </p:sp>
      <p:sp>
        <p:nvSpPr>
          <p:cNvPr id="12" name="文字方塊 11">
            <a:extLst>
              <a:ext uri="{FF2B5EF4-FFF2-40B4-BE49-F238E27FC236}">
                <a16:creationId xmlns:a16="http://schemas.microsoft.com/office/drawing/2014/main" id="{ACF86D5B-7F2D-D2EE-FB5E-D5D9C77FE2AE}"/>
              </a:ext>
            </a:extLst>
          </p:cNvPr>
          <p:cNvSpPr txBox="1"/>
          <p:nvPr/>
        </p:nvSpPr>
        <p:spPr>
          <a:xfrm>
            <a:off x="4788024" y="1551872"/>
            <a:ext cx="4215949" cy="1157048"/>
          </a:xfrm>
          <a:prstGeom prst="rect">
            <a:avLst/>
          </a:prstGeom>
          <a:solidFill>
            <a:schemeClr val="accent6">
              <a:lumMod val="20000"/>
              <a:lumOff val="80000"/>
            </a:schemeClr>
          </a:solidFill>
        </p:spPr>
        <p:txBody>
          <a:bodyPr wrap="square">
            <a:spAutoFit/>
          </a:bodyPr>
          <a:lstStyle/>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記憶體釋放</a:t>
            </a:r>
            <a:r>
              <a:rPr lang="zh-TW" altLang="zh-TW" sz="1100" b="0" u="none" strike="noStrike" dirty="0">
                <a:effectLst/>
                <a:latin typeface="微軟正黑體" panose="020B0604030504040204" pitchFamily="34" charset="-120"/>
                <a:ea typeface="微軟正黑體" panose="020B0604030504040204" pitchFamily="34" charset="-120"/>
              </a:rPr>
              <a:t>：省去 RoPE 的旋轉矩陣運算，KV Cache 的傳輸與儲存成本顯著降低。</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外推上限解鎖</a:t>
            </a:r>
            <a:r>
              <a:rPr lang="zh-TW" altLang="zh-TW" sz="1100" b="0" u="none" strike="noStrike" dirty="0">
                <a:effectLst/>
                <a:latin typeface="微軟正黑體" panose="020B0604030504040204" pitchFamily="34" charset="-120"/>
                <a:ea typeface="微軟正黑體" panose="020B0604030504040204" pitchFamily="34" charset="-120"/>
              </a:rPr>
              <a:t>：不受 RoPE 頻率基底（Base Frequency）的理論限制，突破長文本的硬性天花板。</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訓練吞吐量提升</a:t>
            </a:r>
            <a:r>
              <a:rPr lang="zh-TW" altLang="zh-TW" sz="1100" b="0" u="none" strike="noStrike" dirty="0">
                <a:effectLst/>
                <a:latin typeface="微軟正黑體" panose="020B0604030504040204" pitchFamily="34" charset="-120"/>
                <a:ea typeface="微軟正黑體" panose="020B0604030504040204" pitchFamily="34" charset="-120"/>
              </a:rPr>
              <a:t>：移除序列長度相關的複數運算，硬體算力（FLOPs）利用率更高。</a:t>
            </a:r>
          </a:p>
        </p:txBody>
      </p:sp>
      <p:sp>
        <p:nvSpPr>
          <p:cNvPr id="16" name="文字方塊 15">
            <a:extLst>
              <a:ext uri="{FF2B5EF4-FFF2-40B4-BE49-F238E27FC236}">
                <a16:creationId xmlns:a16="http://schemas.microsoft.com/office/drawing/2014/main" id="{52E62E83-F6E9-D9DC-EA96-D78887ED8270}"/>
              </a:ext>
            </a:extLst>
          </p:cNvPr>
          <p:cNvSpPr txBox="1"/>
          <p:nvPr/>
        </p:nvSpPr>
        <p:spPr>
          <a:xfrm>
            <a:off x="261350" y="2965450"/>
            <a:ext cx="8784971" cy="1329161"/>
          </a:xfrm>
          <a:prstGeom prst="rect">
            <a:avLst/>
          </a:prstGeom>
          <a:solidFill>
            <a:schemeClr val="accent2">
              <a:lumMod val="20000"/>
              <a:lumOff val="80000"/>
            </a:schemeClr>
          </a:solidFill>
        </p:spPr>
        <p:txBody>
          <a:bodyPr wrap="none" lIns="0" tIns="0" rIns="0" bIns="0">
            <a:no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長度外推原理</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RoPE 的外推失敗，是因為測試長度超過訓練長度時，旋轉角度會進入模型</a:t>
            </a:r>
            <a:r>
              <a:rPr lang="zh-TW" altLang="zh-TW" sz="1100" b="1" u="none" strike="noStrike" dirty="0">
                <a:effectLst/>
                <a:latin typeface="微軟正黑體" panose="020B0604030504040204" pitchFamily="34" charset="-120"/>
                <a:ea typeface="微軟正黑體" panose="020B0604030504040204" pitchFamily="34" charset="-120"/>
              </a:rPr>
              <a:t>從未見過的極端頻率區間</a:t>
            </a:r>
            <a:r>
              <a:rPr lang="zh-TW" altLang="zh-TW" sz="1100" b="0" u="none" strike="noStrike" dirty="0">
                <a:effectLst/>
                <a:latin typeface="微軟正黑體" panose="020B0604030504040204" pitchFamily="34" charset="-120"/>
                <a:ea typeface="微軟正黑體" panose="020B0604030504040204" pitchFamily="34" charset="-120"/>
              </a:rPr>
              <a:t>，導致注意力機制崩潰。</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NoPE 能夠成功外推的關鍵在於：</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因果遮罩的邊界效應</a:t>
            </a:r>
            <a:r>
              <a:rPr lang="zh-TW" altLang="zh-TW" sz="1100" b="0" u="none" strike="noStrike" dirty="0">
                <a:effectLst/>
                <a:latin typeface="微軟正黑體" panose="020B0604030504040204" pitchFamily="34" charset="-120"/>
                <a:ea typeface="微軟正黑體" panose="020B0604030504040204" pitchFamily="34" charset="-120"/>
              </a:rPr>
              <a:t>：在自迴歸模型中，第 \(N\) 個 Token 只能看到前 \(N-1\) 個 Token。</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這種 Causal Mask 形成了一個天然的「階梯狀」資訊流。模型透過矩陣乘法，能隱式學會「距離當前 Token 多遠」的相對概念。</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注意力梯度的自然衰減</a:t>
            </a:r>
            <a:r>
              <a:rPr lang="zh-TW" altLang="zh-TW" sz="1100" b="0" u="none" strike="noStrike" dirty="0">
                <a:effectLst/>
                <a:latin typeface="微軟正黑體" panose="020B0604030504040204" pitchFamily="34" charset="-120"/>
                <a:ea typeface="微軟正黑體" panose="020B0604030504040204" pitchFamily="34" charset="-120"/>
              </a:rPr>
              <a:t>：隨着序列變長，Softmax 分配給每個 Token 的權重會隨距離自然攤薄。</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NoPE 轉而依賴這種「距離越遠、影響越弱」的隱式物理規律，而非硬性規定的數學公式，因此在文本無限延伸時，注意力矩陣不會產生突變。</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4DE73-845E-56B1-338E-79BD8AD2BA71}"/>
            </a:ext>
          </a:extLst>
        </p:cNvPr>
        <p:cNvGrpSpPr/>
        <p:nvPr/>
      </p:nvGrpSpPr>
      <p:grpSpPr>
        <a:xfrm>
          <a:off x="0" y="0"/>
          <a:ext cx="0" cy="0"/>
          <a:chOff x="0" y="0"/>
          <a:chExt cx="0" cy="0"/>
        </a:xfrm>
      </p:grpSpPr>
      <p:sp>
        <p:nvSpPr>
          <p:cNvPr id="16" name="標題 1">
            <a:extLst>
              <a:ext uri="{FF2B5EF4-FFF2-40B4-BE49-F238E27FC236}">
                <a16:creationId xmlns:a16="http://schemas.microsoft.com/office/drawing/2014/main" id="{31387CC2-AA34-BD9A-1D10-662C2C0E7AC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Linear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Expressive, Efficient Attention, Architecture</a:t>
            </a:r>
          </a:p>
        </p:txBody>
      </p:sp>
      <p:sp>
        <p:nvSpPr>
          <p:cNvPr id="9" name="文字方塊 8">
            <a:extLst>
              <a:ext uri="{FF2B5EF4-FFF2-40B4-BE49-F238E27FC236}">
                <a16:creationId xmlns:a16="http://schemas.microsoft.com/office/drawing/2014/main" id="{9F0C7E82-DA95-DF79-29A5-3FC58C092FFC}"/>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pic>
        <p:nvPicPr>
          <p:cNvPr id="14" name="圖片 13">
            <a:extLst>
              <a:ext uri="{FF2B5EF4-FFF2-40B4-BE49-F238E27FC236}">
                <a16:creationId xmlns:a16="http://schemas.microsoft.com/office/drawing/2014/main" id="{BA39B5A4-81BC-B102-0C1A-F8CFC8E9AE98}"/>
              </a:ext>
            </a:extLst>
          </p:cNvPr>
          <p:cNvPicPr>
            <a:picLocks noChangeAspect="1"/>
          </p:cNvPicPr>
          <p:nvPr/>
        </p:nvPicPr>
        <p:blipFill>
          <a:blip r:embed="rId3"/>
          <a:stretch>
            <a:fillRect/>
          </a:stretch>
        </p:blipFill>
        <p:spPr>
          <a:xfrm>
            <a:off x="0" y="2472698"/>
            <a:ext cx="9144000" cy="1912603"/>
          </a:xfrm>
          <a:prstGeom prst="rect">
            <a:avLst/>
          </a:prstGeom>
        </p:spPr>
      </p:pic>
    </p:spTree>
    <p:extLst>
      <p:ext uri="{BB962C8B-B14F-4D97-AF65-F5344CB8AC3E}">
        <p14:creationId xmlns:p14="http://schemas.microsoft.com/office/powerpoint/2010/main" val="371834071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7414699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DFCF731C-6331-9A7E-69D1-E08908ECDFC7}"/>
              </a:ext>
            </a:extLst>
          </p:cNvPr>
          <p:cNvPicPr>
            <a:picLocks noChangeAspect="1"/>
          </p:cNvPicPr>
          <p:nvPr/>
        </p:nvPicPr>
        <p:blipFill>
          <a:blip r:embed="rId3"/>
          <a:stretch>
            <a:fillRect/>
          </a:stretch>
        </p:blipFill>
        <p:spPr>
          <a:xfrm>
            <a:off x="0" y="1090587"/>
            <a:ext cx="9144000" cy="4676825"/>
          </a:xfrm>
          <a:prstGeom prst="rect">
            <a:avLst/>
          </a:prstGeom>
        </p:spPr>
      </p:pic>
      <p:sp>
        <p:nvSpPr>
          <p:cNvPr id="6" name="標題 1">
            <a:extLst>
              <a:ext uri="{FF2B5EF4-FFF2-40B4-BE49-F238E27FC236}">
                <a16:creationId xmlns:a16="http://schemas.microsoft.com/office/drawing/2014/main" id="{C1DFD697-19B0-D518-76E0-8B069936C6F5}"/>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HW Requirement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627</TotalTime>
  <Words>4867</Words>
  <Application>Microsoft Office PowerPoint</Application>
  <PresentationFormat>如螢幕大小 (4:3)</PresentationFormat>
  <Paragraphs>634</Paragraphs>
  <Slides>28</Slides>
  <Notes>16</Notes>
  <HiddenSlides>0</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28</vt:i4>
      </vt:variant>
    </vt:vector>
  </HeadingPairs>
  <TitlesOfParts>
    <vt:vector size="38" baseType="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1885</cp:revision>
  <cp:lastPrinted>2024-07-30T01:44:15Z</cp:lastPrinted>
  <dcterms:created xsi:type="dcterms:W3CDTF">2019-11-08T03:01:47Z</dcterms:created>
  <dcterms:modified xsi:type="dcterms:W3CDTF">2026-09-02T09:12:57Z</dcterms:modified>
</cp:coreProperties>
</file>