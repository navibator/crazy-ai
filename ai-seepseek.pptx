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handoutMasterIdLst>
    <p:handoutMasterId r:id="rId31"/>
  </p:handoutMasterIdLst>
  <p:sldIdLst>
    <p:sldId id="3459" r:id="rId2"/>
    <p:sldId id="3472" r:id="rId3"/>
    <p:sldId id="3555" r:id="rId4"/>
    <p:sldId id="3554" r:id="rId5"/>
    <p:sldId id="3551" r:id="rId6"/>
    <p:sldId id="3556" r:id="rId7"/>
    <p:sldId id="3537" r:id="rId8"/>
    <p:sldId id="3557" r:id="rId9"/>
    <p:sldId id="3544" r:id="rId10"/>
    <p:sldId id="3540" r:id="rId11"/>
    <p:sldId id="3543" r:id="rId12"/>
    <p:sldId id="3553" r:id="rId13"/>
    <p:sldId id="3545" r:id="rId14"/>
    <p:sldId id="3539" r:id="rId15"/>
    <p:sldId id="3542" r:id="rId16"/>
    <p:sldId id="3538" r:id="rId17"/>
    <p:sldId id="3534" r:id="rId18"/>
    <p:sldId id="3536" r:id="rId19"/>
    <p:sldId id="3535" r:id="rId20"/>
    <p:sldId id="3548" r:id="rId21"/>
    <p:sldId id="3547" r:id="rId22"/>
    <p:sldId id="3549" r:id="rId23"/>
    <p:sldId id="3519" r:id="rId24"/>
    <p:sldId id="3530" r:id="rId25"/>
    <p:sldId id="269" r:id="rId26"/>
    <p:sldId id="270" r:id="rId27"/>
    <p:sldId id="257" r:id="rId28"/>
    <p:sldId id="265" r:id="rId29"/>
  </p:sldIdLst>
  <p:sldSz cx="9144000" cy="6858000" type="screen4x3"/>
  <p:notesSz cx="6797675" cy="99250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id="{30F6892D-1922-4A88-A82D-8CD0653C5411}">
          <p14:sldIdLst>
            <p14:sldId id="3459"/>
            <p14:sldId id="3472"/>
          </p14:sldIdLst>
        </p14:section>
        <p14:section name="Reinforcement Learning" id="{6A51FF52-3944-402B-A9B9-75E228335DE4}">
          <p14:sldIdLst>
            <p14:sldId id="3555"/>
            <p14:sldId id="3554"/>
            <p14:sldId id="3551"/>
            <p14:sldId id="3556"/>
          </p14:sldIdLst>
        </p14:section>
        <p14:section name="Deepseek" id="{8CC3907E-2537-4761-B8B4-20CC1D391E20}">
          <p14:sldIdLst>
            <p14:sldId id="3537"/>
            <p14:sldId id="3557"/>
            <p14:sldId id="3544"/>
            <p14:sldId id="3540"/>
            <p14:sldId id="3543"/>
            <p14:sldId id="3553"/>
            <p14:sldId id="3545"/>
            <p14:sldId id="3539"/>
            <p14:sldId id="3542"/>
            <p14:sldId id="3538"/>
          </p14:sldIdLst>
        </p14:section>
        <p14:section name="Moonshot-Kimi" id="{7C2BE5B2-C507-46C7-871E-C935EB653EC3}">
          <p14:sldIdLst>
            <p14:sldId id="3534"/>
            <p14:sldId id="3536"/>
            <p14:sldId id="3535"/>
          </p14:sldIdLst>
        </p14:section>
        <p14:section name="Distillation" id="{7EB38C31-A2B8-4354-A21C-A4C807EDE2C4}">
          <p14:sldIdLst>
            <p14:sldId id="3548"/>
            <p14:sldId id="3547"/>
          </p14:sldIdLst>
        </p14:section>
        <p14:section name="Conclusion" id="{D9E6914C-A73F-4176-B0F8-3F87EAC09119}">
          <p14:sldIdLst>
            <p14:sldId id="3549"/>
            <p14:sldId id="3519"/>
            <p14:sldId id="3530"/>
            <p14:sldId id="269"/>
            <p14:sldId id="270"/>
            <p14:sldId id="257"/>
            <p14:sldId id="265"/>
          </p14:sldIdLst>
        </p14:section>
      </p14:sectionLst>
    </p:ext>
    <p:ext uri="{EFAFB233-063F-42B5-8137-9DF3F51BA10A}">
      <p15:sldGuideLst xmlns:p15="http://schemas.microsoft.com/office/powerpoint/2012/main">
        <p15:guide id="1" orient="horz" pos="2160">
          <p15:clr>
            <a:srgbClr val="A4A3A4"/>
          </p15:clr>
        </p15:guide>
        <p15:guide id="2" pos="14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F1DDEA-D49D-B2A5-9D83-8BDFFC6C721F}" name="Allen Ni(倪士凱)" initials="AN" userId="S::ani@centrilliontech.com.tw::64a9ee61-01eb-41d1-8925-9f522fa76fb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DB"/>
    <a:srgbClr val="2260DC"/>
    <a:srgbClr val="F0F0F0"/>
    <a:srgbClr val="F8D462"/>
    <a:srgbClr val="4C6BFF"/>
    <a:srgbClr val="FF9900"/>
    <a:srgbClr val="FEC203"/>
    <a:srgbClr val="3079EF"/>
    <a:srgbClr val="B8EAC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0" autoAdjust="0"/>
    <p:restoredTop sz="71958" autoAdjust="0"/>
  </p:normalViewPr>
  <p:slideViewPr>
    <p:cSldViewPr>
      <p:cViewPr>
        <p:scale>
          <a:sx n="100" d="100"/>
          <a:sy n="100" d="100"/>
        </p:scale>
        <p:origin x="1584" y="738"/>
      </p:cViewPr>
      <p:guideLst>
        <p:guide orient="horz" pos="2160"/>
        <p:guide pos="1474"/>
      </p:guideLst>
    </p:cSldViewPr>
  </p:slideViewPr>
  <p:outlineViewPr>
    <p:cViewPr>
      <p:scale>
        <a:sx n="33" d="100"/>
        <a:sy n="33" d="100"/>
      </p:scale>
      <p:origin x="0" y="-1075"/>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278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509AA70-DCA8-F2B3-665C-D289623E1626}"/>
              </a:ext>
            </a:extLst>
          </p:cNvPr>
          <p:cNvSpPr>
            <a:spLocks noGrp="1"/>
          </p:cNvSpPr>
          <p:nvPr>
            <p:ph type="hdr" sz="quarter"/>
          </p:nvPr>
        </p:nvSpPr>
        <p:spPr>
          <a:xfrm>
            <a:off x="2" y="0"/>
            <a:ext cx="2945659" cy="497976"/>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260D9017-2A20-36CB-3124-1CE24A164FFA}"/>
              </a:ext>
            </a:extLst>
          </p:cNvPr>
          <p:cNvSpPr>
            <a:spLocks noGrp="1"/>
          </p:cNvSpPr>
          <p:nvPr>
            <p:ph type="dt" sz="quarter" idx="1"/>
          </p:nvPr>
        </p:nvSpPr>
        <p:spPr>
          <a:xfrm>
            <a:off x="3850445" y="0"/>
            <a:ext cx="2945659" cy="497976"/>
          </a:xfrm>
          <a:prstGeom prst="rect">
            <a:avLst/>
          </a:prstGeom>
        </p:spPr>
        <p:txBody>
          <a:bodyPr vert="horz" lIns="91430" tIns="45714" rIns="91430" bIns="45714" rtlCol="0"/>
          <a:lstStyle>
            <a:lvl1pPr algn="r">
              <a:defRPr sz="1200"/>
            </a:lvl1pPr>
          </a:lstStyle>
          <a:p>
            <a:fld id="{982F7CBC-87DD-4F69-8F50-7ED68F7FF790}" type="datetimeFigureOut">
              <a:rPr lang="zh-TW" altLang="en-US" smtClean="0"/>
              <a:t>2026/8/17</a:t>
            </a:fld>
            <a:endParaRPr lang="zh-TW" altLang="en-US"/>
          </a:p>
        </p:txBody>
      </p:sp>
      <p:sp>
        <p:nvSpPr>
          <p:cNvPr id="4" name="頁尾版面配置區 3">
            <a:extLst>
              <a:ext uri="{FF2B5EF4-FFF2-40B4-BE49-F238E27FC236}">
                <a16:creationId xmlns:a16="http://schemas.microsoft.com/office/drawing/2014/main" id="{72E2BC4B-E97F-2930-F9D4-22EF7E0E14E0}"/>
              </a:ext>
            </a:extLst>
          </p:cNvPr>
          <p:cNvSpPr>
            <a:spLocks noGrp="1"/>
          </p:cNvSpPr>
          <p:nvPr>
            <p:ph type="ftr" sz="quarter" idx="2"/>
          </p:nvPr>
        </p:nvSpPr>
        <p:spPr>
          <a:xfrm>
            <a:off x="2" y="9427077"/>
            <a:ext cx="2945659" cy="497975"/>
          </a:xfrm>
          <a:prstGeom prst="rect">
            <a:avLst/>
          </a:prstGeom>
        </p:spPr>
        <p:txBody>
          <a:bodyPr vert="horz" lIns="91430" tIns="45714" rIns="91430" bIns="45714"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F9105500-21C2-E70A-A08C-9E9E3094A4E0}"/>
              </a:ext>
            </a:extLst>
          </p:cNvPr>
          <p:cNvSpPr>
            <a:spLocks noGrp="1"/>
          </p:cNvSpPr>
          <p:nvPr>
            <p:ph type="sldNum" sz="quarter" idx="3"/>
          </p:nvPr>
        </p:nvSpPr>
        <p:spPr>
          <a:xfrm>
            <a:off x="3850445" y="9427077"/>
            <a:ext cx="2945659" cy="497975"/>
          </a:xfrm>
          <a:prstGeom prst="rect">
            <a:avLst/>
          </a:prstGeom>
        </p:spPr>
        <p:txBody>
          <a:bodyPr vert="horz" lIns="91430" tIns="45714" rIns="91430" bIns="45714" rtlCol="0" anchor="b"/>
          <a:lstStyle>
            <a:lvl1pPr algn="r">
              <a:defRPr sz="1200"/>
            </a:lvl1pPr>
          </a:lstStyle>
          <a:p>
            <a:fld id="{30EF305C-901E-49EC-B839-B172F9488209}" type="slidenum">
              <a:rPr lang="zh-TW" altLang="en-US" smtClean="0"/>
              <a:t>‹#›</a:t>
            </a:fld>
            <a:endParaRPr lang="zh-TW" altLang="en-US"/>
          </a:p>
        </p:txBody>
      </p:sp>
    </p:spTree>
    <p:extLst>
      <p:ext uri="{BB962C8B-B14F-4D97-AF65-F5344CB8AC3E}">
        <p14:creationId xmlns:p14="http://schemas.microsoft.com/office/powerpoint/2010/main" val="19519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1"/>
            <a:ext cx="2945659" cy="496253"/>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p:cNvSpPr>
            <a:spLocks noGrp="1"/>
          </p:cNvSpPr>
          <p:nvPr>
            <p:ph type="dt" idx="1"/>
          </p:nvPr>
        </p:nvSpPr>
        <p:spPr>
          <a:xfrm>
            <a:off x="3850445" y="1"/>
            <a:ext cx="2945659" cy="496253"/>
          </a:xfrm>
          <a:prstGeom prst="rect">
            <a:avLst/>
          </a:prstGeom>
        </p:spPr>
        <p:txBody>
          <a:bodyPr vert="horz" lIns="91430" tIns="45714" rIns="91430" bIns="45714" rtlCol="0"/>
          <a:lstStyle>
            <a:lvl1pPr algn="r">
              <a:defRPr sz="1200"/>
            </a:lvl1pPr>
          </a:lstStyle>
          <a:p>
            <a:fld id="{863167AA-796B-4B6A-95ED-1C0BCB3E5802}" type="datetimeFigureOut">
              <a:rPr lang="zh-TW" altLang="en-US" smtClean="0"/>
              <a:t>2026/8/17</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0" tIns="45714" rIns="91430" bIns="45714" rtlCol="0" anchor="ctr"/>
          <a:lstStyle/>
          <a:p>
            <a:endParaRPr lang="zh-TW" altLang="en-US"/>
          </a:p>
        </p:txBody>
      </p:sp>
      <p:sp>
        <p:nvSpPr>
          <p:cNvPr id="5" name="備忘稿版面配置區 4"/>
          <p:cNvSpPr>
            <a:spLocks noGrp="1"/>
          </p:cNvSpPr>
          <p:nvPr>
            <p:ph type="body" sz="quarter" idx="3"/>
          </p:nvPr>
        </p:nvSpPr>
        <p:spPr>
          <a:xfrm>
            <a:off x="679768" y="4714400"/>
            <a:ext cx="5438140" cy="4466272"/>
          </a:xfrm>
          <a:prstGeom prst="rect">
            <a:avLst/>
          </a:prstGeom>
        </p:spPr>
        <p:txBody>
          <a:bodyPr vert="horz" lIns="91430" tIns="45714" rIns="91430" bIns="45714" rtlCol="0"/>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2" y="9427075"/>
            <a:ext cx="2945659" cy="496253"/>
          </a:xfrm>
          <a:prstGeom prst="rect">
            <a:avLst/>
          </a:prstGeom>
        </p:spPr>
        <p:txBody>
          <a:bodyPr vert="horz" lIns="91430" tIns="45714" rIns="91430" bIns="4571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7075"/>
            <a:ext cx="2945659" cy="496253"/>
          </a:xfrm>
          <a:prstGeom prst="rect">
            <a:avLst/>
          </a:prstGeom>
        </p:spPr>
        <p:txBody>
          <a:bodyPr vert="horz" lIns="91430" tIns="45714" rIns="91430" bIns="45714" rtlCol="0" anchor="b"/>
          <a:lstStyle>
            <a:lvl1pPr algn="r">
              <a:defRPr sz="1200"/>
            </a:lvl1pPr>
          </a:lstStyle>
          <a:p>
            <a:fld id="{E3A6CE5E-F349-486D-8749-82EF2AD71FA8}" type="slidenum">
              <a:rPr lang="zh-TW" altLang="en-US" smtClean="0"/>
              <a:t>‹#›</a:t>
            </a:fld>
            <a:endParaRPr lang="zh-TW" altLang="en-US"/>
          </a:p>
        </p:txBody>
      </p:sp>
    </p:spTree>
    <p:extLst>
      <p:ext uri="{BB962C8B-B14F-4D97-AF65-F5344CB8AC3E}">
        <p14:creationId xmlns:p14="http://schemas.microsoft.com/office/powerpoint/2010/main" val="333600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a:t>
            </a:fld>
            <a:endParaRPr lang="zh-TW" altLang="en-US"/>
          </a:p>
        </p:txBody>
      </p:sp>
    </p:spTree>
    <p:extLst>
      <p:ext uri="{BB962C8B-B14F-4D97-AF65-F5344CB8AC3E}">
        <p14:creationId xmlns:p14="http://schemas.microsoft.com/office/powerpoint/2010/main" val="141974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2</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CEB95-4B28-36E7-87CA-1F30261B4E5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C62F1D8-6DF7-73D8-C9BE-87163917B31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B09A24C-06FD-8BD3-CE5A-4D77584C67AC}"/>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Momentum Orthogonalized by Newton-Schulz</a:t>
            </a:r>
            <a:r>
              <a:rPr lang="zh-TW" altLang="zh-TW" sz="1200" b="0" u="none" strike="noStrike" kern="1200" dirty="0">
                <a:solidFill>
                  <a:schemeClr val="tx1"/>
                </a:solidFill>
                <a:effectLst/>
                <a:latin typeface="+mn-lt"/>
                <a:ea typeface="+mn-ea"/>
                <a:cs typeface="+mn-cs"/>
              </a:rPr>
              <a:t>（利用牛頓-舒爾茨方法進行動量正交化）是 LLM</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訓練中非常前沿的優化器技術，也是知名優化器 </a:t>
            </a:r>
            <a:r>
              <a:rPr lang="zh-TW" altLang="zh-TW" sz="1200" b="1" u="none" strike="noStrike" kern="1200" dirty="0">
                <a:solidFill>
                  <a:schemeClr val="tx1"/>
                </a:solidFill>
                <a:effectLst/>
                <a:latin typeface="+mn-lt"/>
                <a:ea typeface="+mn-ea"/>
                <a:cs typeface="+mn-cs"/>
              </a:rPr>
              <a:t>Muon</a:t>
            </a:r>
            <a:r>
              <a:rPr lang="zh-TW" altLang="zh-TW" sz="1200" b="0" u="none" strike="noStrike" kern="1200" dirty="0">
                <a:solidFill>
                  <a:schemeClr val="tx1"/>
                </a:solidFill>
                <a:effectLst/>
                <a:latin typeface="+mn-lt"/>
                <a:ea typeface="+mn-ea"/>
                <a:cs typeface="+mn-cs"/>
              </a:rPr>
              <a:t> 的核心運作機制 。</a:t>
            </a:r>
          </a:p>
          <a:p>
            <a:r>
              <a:rPr lang="zh-TW" altLang="zh-TW" sz="1200" b="0" u="none" strike="noStrike" kern="1200" dirty="0">
                <a:solidFill>
                  <a:schemeClr val="tx1"/>
                </a:solidFill>
                <a:effectLst/>
                <a:latin typeface="+mn-lt"/>
                <a:ea typeface="+mn-ea"/>
                <a:cs typeface="+mn-cs"/>
              </a:rPr>
              <a:t>簡單來說，它的核心目的是：</a:t>
            </a:r>
            <a:r>
              <a:rPr lang="zh-TW" altLang="zh-TW" sz="1200" b="1" u="none" strike="noStrike" kern="1200" dirty="0">
                <a:solidFill>
                  <a:schemeClr val="tx1"/>
                </a:solidFill>
                <a:effectLst/>
                <a:latin typeface="+mn-lt"/>
                <a:ea typeface="+mn-ea"/>
                <a:cs typeface="+mn-cs"/>
              </a:rPr>
              <a:t>在模型更新參數時，利用 Newton-Schulz 數學迭代法，將原本帶有方向偏誤的「動量（Momentum）」，強行轉換為一個「嚴格正交且基底均勻」的矩陣。</a:t>
            </a:r>
            <a:r>
              <a:rPr lang="zh-TW" altLang="zh-TW" sz="1200" b="0" u="none" strike="noStrike" kern="1200" dirty="0">
                <a:solidFill>
                  <a:schemeClr val="tx1"/>
                </a:solidFill>
                <a:effectLst/>
                <a:latin typeface="+mn-lt"/>
                <a:ea typeface="+mn-ea"/>
                <a:cs typeface="+mn-cs"/>
              </a:rPr>
              <a:t> 這樣做可以確保模型在各個維度上的學習速度完全一致，大幅加快極大模型的收斂速度。</a:t>
            </a:r>
          </a:p>
          <a:p>
            <a:endParaRPr lang="zh-TW" altLang="en-US" dirty="0"/>
          </a:p>
        </p:txBody>
      </p:sp>
      <p:sp>
        <p:nvSpPr>
          <p:cNvPr id="4" name="投影片編號版面配置區 3">
            <a:extLst>
              <a:ext uri="{FF2B5EF4-FFF2-40B4-BE49-F238E27FC236}">
                <a16:creationId xmlns:a16="http://schemas.microsoft.com/office/drawing/2014/main" id="{C5A4A188-00BE-20FA-2048-87C75C2A4CBE}"/>
              </a:ext>
            </a:extLst>
          </p:cNvPr>
          <p:cNvSpPr>
            <a:spLocks noGrp="1"/>
          </p:cNvSpPr>
          <p:nvPr>
            <p:ph type="sldNum" sz="quarter" idx="5"/>
          </p:nvPr>
        </p:nvSpPr>
        <p:spPr/>
        <p:txBody>
          <a:bodyPr/>
          <a:lstStyle/>
          <a:p>
            <a:fld id="{E3A6CE5E-F349-486D-8749-82EF2AD71FA8}" type="slidenum">
              <a:rPr lang="zh-TW" altLang="en-US" smtClean="0"/>
              <a:t>5</a:t>
            </a:fld>
            <a:endParaRPr lang="zh-TW" altLang="en-US"/>
          </a:p>
        </p:txBody>
      </p:sp>
    </p:spTree>
    <p:extLst>
      <p:ext uri="{BB962C8B-B14F-4D97-AF65-F5344CB8AC3E}">
        <p14:creationId xmlns:p14="http://schemas.microsoft.com/office/powerpoint/2010/main" val="766998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E1B50-36C2-3AAC-6195-6D6290F49D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4C3EB0F-8828-273B-A955-F1294176FE80}"/>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94844179-B599-DDBE-54BC-B8D96AEF4A45}"/>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Momentum Orthogonalized by Newton-Schulz</a:t>
            </a:r>
            <a:r>
              <a:rPr lang="zh-TW" altLang="zh-TW" sz="1200" b="0" u="none" strike="noStrike" kern="1200" dirty="0">
                <a:solidFill>
                  <a:schemeClr val="tx1"/>
                </a:solidFill>
                <a:effectLst/>
                <a:latin typeface="+mn-lt"/>
                <a:ea typeface="+mn-ea"/>
                <a:cs typeface="+mn-cs"/>
              </a:rPr>
              <a:t>（利用牛頓-舒爾茨方法進行動量正交化）是 LLM</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訓練中非常前沿的優化器技術，也是知名優化器 </a:t>
            </a:r>
            <a:r>
              <a:rPr lang="zh-TW" altLang="zh-TW" sz="1200" b="1" u="none" strike="noStrike" kern="1200" dirty="0">
                <a:solidFill>
                  <a:schemeClr val="tx1"/>
                </a:solidFill>
                <a:effectLst/>
                <a:latin typeface="+mn-lt"/>
                <a:ea typeface="+mn-ea"/>
                <a:cs typeface="+mn-cs"/>
              </a:rPr>
              <a:t>Muon</a:t>
            </a:r>
            <a:r>
              <a:rPr lang="zh-TW" altLang="zh-TW" sz="1200" b="0" u="none" strike="noStrike" kern="1200" dirty="0">
                <a:solidFill>
                  <a:schemeClr val="tx1"/>
                </a:solidFill>
                <a:effectLst/>
                <a:latin typeface="+mn-lt"/>
                <a:ea typeface="+mn-ea"/>
                <a:cs typeface="+mn-cs"/>
              </a:rPr>
              <a:t> 的核心運作機制 。</a:t>
            </a:r>
          </a:p>
          <a:p>
            <a:r>
              <a:rPr lang="zh-TW" altLang="zh-TW" sz="1200" b="0" u="none" strike="noStrike" kern="1200" dirty="0">
                <a:solidFill>
                  <a:schemeClr val="tx1"/>
                </a:solidFill>
                <a:effectLst/>
                <a:latin typeface="+mn-lt"/>
                <a:ea typeface="+mn-ea"/>
                <a:cs typeface="+mn-cs"/>
              </a:rPr>
              <a:t>簡單來說，它的核心目的是：</a:t>
            </a:r>
            <a:r>
              <a:rPr lang="zh-TW" altLang="zh-TW" sz="1200" b="1" u="none" strike="noStrike" kern="1200" dirty="0">
                <a:solidFill>
                  <a:schemeClr val="tx1"/>
                </a:solidFill>
                <a:effectLst/>
                <a:latin typeface="+mn-lt"/>
                <a:ea typeface="+mn-ea"/>
                <a:cs typeface="+mn-cs"/>
              </a:rPr>
              <a:t>在模型更新參數時，利用 Newton-Schulz 數學迭代法，將原本帶有方向偏誤的「動量（Momentum）」，強行轉換為一個「嚴格正交且基底均勻」的矩陣。</a:t>
            </a:r>
            <a:r>
              <a:rPr lang="zh-TW" altLang="zh-TW" sz="1200" b="0" u="none" strike="noStrike" kern="1200" dirty="0">
                <a:solidFill>
                  <a:schemeClr val="tx1"/>
                </a:solidFill>
                <a:effectLst/>
                <a:latin typeface="+mn-lt"/>
                <a:ea typeface="+mn-ea"/>
                <a:cs typeface="+mn-cs"/>
              </a:rPr>
              <a:t> 這樣做可以確保模型在各個維度上的學習速度完全一致，大幅加快極大模型的收斂速度。</a:t>
            </a:r>
          </a:p>
          <a:p>
            <a:endParaRPr lang="zh-TW" altLang="en-US" dirty="0"/>
          </a:p>
        </p:txBody>
      </p:sp>
      <p:sp>
        <p:nvSpPr>
          <p:cNvPr id="4" name="投影片編號版面配置區 3">
            <a:extLst>
              <a:ext uri="{FF2B5EF4-FFF2-40B4-BE49-F238E27FC236}">
                <a16:creationId xmlns:a16="http://schemas.microsoft.com/office/drawing/2014/main" id="{EDF9E040-D292-65E0-F09A-F6C500D2C282}"/>
              </a:ext>
            </a:extLst>
          </p:cNvPr>
          <p:cNvSpPr>
            <a:spLocks noGrp="1"/>
          </p:cNvSpPr>
          <p:nvPr>
            <p:ph type="sldNum" sz="quarter" idx="5"/>
          </p:nvPr>
        </p:nvSpPr>
        <p:spPr/>
        <p:txBody>
          <a:bodyPr/>
          <a:lstStyle/>
          <a:p>
            <a:fld id="{E3A6CE5E-F349-486D-8749-82EF2AD71FA8}" type="slidenum">
              <a:rPr lang="zh-TW" altLang="en-US" smtClean="0"/>
              <a:t>6</a:t>
            </a:fld>
            <a:endParaRPr lang="zh-TW" altLang="en-US"/>
          </a:p>
        </p:txBody>
      </p:sp>
    </p:spTree>
    <p:extLst>
      <p:ext uri="{BB962C8B-B14F-4D97-AF65-F5344CB8AC3E}">
        <p14:creationId xmlns:p14="http://schemas.microsoft.com/office/powerpoint/2010/main" val="1199653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FFFF6-2CBF-8300-113B-EC3DDABCDE2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9BDCECB-4022-305D-2A1D-EB19C4980CE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45B8918-8C92-3358-81A2-2E68D560F7D9}"/>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MLA</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V2, V3KV Cache 顯存大小橫向：壓縮</a:t>
            </a:r>
            <a:r>
              <a:rPr lang="zh-TW" altLang="zh-TW" sz="1200" b="1" u="none" strike="noStrike" kern="1200" dirty="0">
                <a:solidFill>
                  <a:schemeClr val="tx1"/>
                </a:solidFill>
                <a:effectLst/>
                <a:latin typeface="+mn-lt"/>
                <a:ea typeface="+mn-ea"/>
                <a:cs typeface="+mn-cs"/>
              </a:rPr>
              <a:t>特徵維度</a:t>
            </a:r>
            <a:r>
              <a:rPr lang="zh-TW" altLang="zh-TW" sz="1200" b="0" u="none" strike="noStrike" kern="1200" dirty="0">
                <a:solidFill>
                  <a:schemeClr val="tx1"/>
                </a:solidFill>
                <a:effectLst/>
                <a:latin typeface="+mn-lt"/>
                <a:ea typeface="+mn-ea"/>
                <a:cs typeface="+mn-cs"/>
              </a:rPr>
              <a:t> (Dim 8192 → 512) </a:t>
            </a:r>
          </a:p>
          <a:p>
            <a:r>
              <a:rPr lang="zh-TW" altLang="zh-TW" sz="1200" b="1" u="none" strike="noStrike" kern="1200" dirty="0">
                <a:solidFill>
                  <a:schemeClr val="tx1"/>
                </a:solidFill>
                <a:effectLst/>
                <a:latin typeface="+mn-lt"/>
                <a:ea typeface="+mn-ea"/>
                <a:cs typeface="+mn-cs"/>
              </a:rPr>
              <a:t>DSA</a:t>
            </a:r>
            <a:r>
              <a:rPr lang="zh-TW" altLang="zh-TW" sz="1200" b="0" u="none" strike="noStrike" kern="1200" dirty="0">
                <a:solidFill>
                  <a:schemeClr val="tx1"/>
                </a:solidFill>
                <a:effectLst/>
                <a:latin typeface="+mn-lt"/>
                <a:ea typeface="+mn-ea"/>
                <a:cs typeface="+mn-cs"/>
              </a:rPr>
              <a:t>V3.2運算量複雜度 (O(N²))縱向：動態篩選</a:t>
            </a:r>
            <a:r>
              <a:rPr lang="zh-TW" altLang="zh-TW" sz="1200" b="1" u="none" strike="noStrike" kern="1200" dirty="0">
                <a:solidFill>
                  <a:schemeClr val="tx1"/>
                </a:solidFill>
                <a:effectLst/>
                <a:latin typeface="+mn-lt"/>
                <a:ea typeface="+mn-ea"/>
                <a:cs typeface="+mn-cs"/>
              </a:rPr>
              <a:t>單個 Token</a:t>
            </a:r>
            <a:r>
              <a:rPr lang="zh-TW" altLang="zh-TW" sz="1200" b="0" u="none" strike="noStrike" kern="1200" dirty="0">
                <a:solidFill>
                  <a:schemeClr val="tx1"/>
                </a:solidFill>
                <a:effectLst/>
                <a:latin typeface="+mn-lt"/>
                <a:ea typeface="+mn-ea"/>
                <a:cs typeface="+mn-cs"/>
              </a:rPr>
              <a:t> (Top-K)</a:t>
            </a:r>
          </a:p>
          <a:p>
            <a:r>
              <a:rPr lang="zh-TW" altLang="zh-TW" sz="1200" b="1" u="none" strike="noStrike" kern="1200" dirty="0">
                <a:solidFill>
                  <a:schemeClr val="tx1"/>
                </a:solidFill>
                <a:effectLst/>
                <a:latin typeface="+mn-lt"/>
                <a:ea typeface="+mn-ea"/>
                <a:cs typeface="+mn-cs"/>
              </a:rPr>
              <a:t>HCA</a:t>
            </a:r>
            <a:r>
              <a:rPr lang="zh-TW" altLang="zh-TW" sz="1200" b="0" u="none" strike="noStrike" kern="1200" dirty="0">
                <a:solidFill>
                  <a:schemeClr val="tx1"/>
                </a:solidFill>
                <a:effectLst/>
                <a:latin typeface="+mn-lt"/>
                <a:ea typeface="+mn-ea"/>
                <a:cs typeface="+mn-cs"/>
              </a:rPr>
              <a:t>V41M 長文本的宏觀視野縱向：重度聚合</a:t>
            </a:r>
            <a:r>
              <a:rPr lang="zh-TW" altLang="zh-TW" sz="1200" b="1" u="none" strike="noStrike" kern="1200" dirty="0">
                <a:solidFill>
                  <a:schemeClr val="tx1"/>
                </a:solidFill>
                <a:effectLst/>
                <a:latin typeface="+mn-lt"/>
                <a:ea typeface="+mn-ea"/>
                <a:cs typeface="+mn-cs"/>
              </a:rPr>
              <a:t>時間區間</a:t>
            </a:r>
            <a:r>
              <a:rPr lang="zh-TW" altLang="zh-TW" sz="1200" b="0" u="none" strike="noStrike" kern="1200" dirty="0">
                <a:solidFill>
                  <a:schemeClr val="tx1"/>
                </a:solidFill>
                <a:effectLst/>
                <a:latin typeface="+mn-lt"/>
                <a:ea typeface="+mn-ea"/>
                <a:cs typeface="+mn-cs"/>
              </a:rPr>
              <a:t> (128 → 1) </a:t>
            </a:r>
          </a:p>
          <a:p>
            <a:r>
              <a:rPr lang="zh-TW" altLang="zh-TW" sz="1200" b="1" u="none" strike="noStrike" kern="1200" dirty="0">
                <a:solidFill>
                  <a:schemeClr val="tx1"/>
                </a:solidFill>
                <a:effectLst/>
                <a:latin typeface="+mn-lt"/>
                <a:ea typeface="+mn-ea"/>
                <a:cs typeface="+mn-cs"/>
              </a:rPr>
              <a:t>CSA</a:t>
            </a:r>
            <a:r>
              <a:rPr lang="zh-TW" altLang="zh-TW" sz="1200" b="0" u="none" strike="noStrike" kern="1200" dirty="0">
                <a:solidFill>
                  <a:schemeClr val="tx1"/>
                </a:solidFill>
                <a:effectLst/>
                <a:latin typeface="+mn-lt"/>
                <a:ea typeface="+mn-ea"/>
                <a:cs typeface="+mn-cs"/>
              </a:rPr>
              <a:t>V41M 長文本的細粒度檢索縱橫結合：先 </a:t>
            </a:r>
            <a:r>
              <a:rPr lang="zh-TW" altLang="zh-TW" sz="1200" b="1" u="none" strike="noStrike" kern="1200" dirty="0">
                <a:solidFill>
                  <a:schemeClr val="tx1"/>
                </a:solidFill>
                <a:effectLst/>
                <a:latin typeface="+mn-lt"/>
                <a:ea typeface="+mn-ea"/>
                <a:cs typeface="+mn-cs"/>
              </a:rPr>
              <a:t>4:1 壓縮</a:t>
            </a:r>
            <a:r>
              <a:rPr lang="zh-TW" altLang="zh-TW" sz="1200" b="0" u="none" strike="noStrike" kern="1200" dirty="0">
                <a:solidFill>
                  <a:schemeClr val="tx1"/>
                </a:solidFill>
                <a:effectLst/>
                <a:latin typeface="+mn-lt"/>
                <a:ea typeface="+mn-ea"/>
                <a:cs typeface="+mn-cs"/>
              </a:rPr>
              <a:t>再做 </a:t>
            </a:r>
            <a:r>
              <a:rPr lang="zh-TW" altLang="zh-TW" sz="1200" b="1" u="none" strike="noStrike" kern="1200" dirty="0">
                <a:solidFill>
                  <a:schemeClr val="tx1"/>
                </a:solidFill>
                <a:effectLst/>
                <a:latin typeface="+mn-lt"/>
                <a:ea typeface="+mn-ea"/>
                <a:cs typeface="+mn-cs"/>
              </a:rPr>
              <a:t>Top-K 塊篩選</a:t>
            </a:r>
            <a:r>
              <a:rPr lang="zh-TW" altLang="zh-TW" sz="1200" b="0" u="none" strike="noStrike" kern="1200" dirty="0">
                <a:solidFill>
                  <a:schemeClr val="tx1"/>
                </a:solidFill>
                <a:effectLst/>
                <a:latin typeface="+mn-lt"/>
                <a:ea typeface="+mn-ea"/>
                <a:cs typeface="+mn-cs"/>
              </a:rPr>
              <a:t> </a:t>
            </a:r>
          </a:p>
          <a:p>
            <a:pPr lvl="0"/>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10192911-3471-19CB-5ED9-6FC7027DB73E}"/>
              </a:ext>
            </a:extLst>
          </p:cNvPr>
          <p:cNvSpPr>
            <a:spLocks noGrp="1"/>
          </p:cNvSpPr>
          <p:nvPr>
            <p:ph type="sldNum" sz="quarter" idx="5"/>
          </p:nvPr>
        </p:nvSpPr>
        <p:spPr/>
        <p:txBody>
          <a:bodyPr/>
          <a:lstStyle/>
          <a:p>
            <a:fld id="{E3A6CE5E-F349-486D-8749-82EF2AD71FA8}" type="slidenum">
              <a:rPr lang="zh-TW" altLang="en-US" smtClean="0"/>
              <a:t>7</a:t>
            </a:fld>
            <a:endParaRPr lang="zh-TW" altLang="en-US"/>
          </a:p>
        </p:txBody>
      </p:sp>
    </p:spTree>
    <p:extLst>
      <p:ext uri="{BB962C8B-B14F-4D97-AF65-F5344CB8AC3E}">
        <p14:creationId xmlns:p14="http://schemas.microsoft.com/office/powerpoint/2010/main" val="3022944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148A7-E727-1876-EEC2-EE1FF967761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8CDA593-F947-4F86-E4E2-84C334DA1432}"/>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C6618D0F-A824-BF63-762D-700713FACC9C}"/>
              </a:ext>
            </a:extLst>
          </p:cNvPr>
          <p:cNvSpPr>
            <a:spLocks noGrp="1"/>
          </p:cNvSpPr>
          <p:nvPr>
            <p:ph type="body" idx="1"/>
          </p:nvPr>
        </p:nvSpPr>
        <p:spPr/>
        <p:txBody>
          <a:bodyPr/>
          <a:lstStyle/>
          <a:p>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A96DCFCD-5664-3FB0-02E6-0DE7A8DF9D26}"/>
              </a:ext>
            </a:extLst>
          </p:cNvPr>
          <p:cNvSpPr>
            <a:spLocks noGrp="1"/>
          </p:cNvSpPr>
          <p:nvPr>
            <p:ph type="sldNum" sz="quarter" idx="5"/>
          </p:nvPr>
        </p:nvSpPr>
        <p:spPr/>
        <p:txBody>
          <a:bodyPr/>
          <a:lstStyle/>
          <a:p>
            <a:fld id="{E3A6CE5E-F349-486D-8749-82EF2AD71FA8}" type="slidenum">
              <a:rPr lang="zh-TW" altLang="en-US" smtClean="0"/>
              <a:t>9</a:t>
            </a:fld>
            <a:endParaRPr lang="zh-TW" altLang="en-US"/>
          </a:p>
        </p:txBody>
      </p:sp>
    </p:spTree>
    <p:extLst>
      <p:ext uri="{BB962C8B-B14F-4D97-AF65-F5344CB8AC3E}">
        <p14:creationId xmlns:p14="http://schemas.microsoft.com/office/powerpoint/2010/main" val="2418190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10</a:t>
            </a:fld>
            <a:endParaRPr lang="zh-TW" altLang="en-US"/>
          </a:p>
        </p:txBody>
      </p:sp>
    </p:spTree>
    <p:extLst>
      <p:ext uri="{BB962C8B-B14F-4D97-AF65-F5344CB8AC3E}">
        <p14:creationId xmlns:p14="http://schemas.microsoft.com/office/powerpoint/2010/main" val="255728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529A-4EF9-2EEE-5A60-C291D7D7775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C0779BF-F829-C373-BE62-F8275D55A9B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B531954-A0C7-0F67-E78A-CBF9608AE9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en-US" altLang="zh-TW" dirty="0"/>
              <a:t>Gemma</a:t>
            </a:r>
            <a:r>
              <a:rPr lang="zh-TW" altLang="en-US" dirty="0"/>
              <a:t> </a:t>
            </a:r>
            <a:r>
              <a:rPr lang="en-US" altLang="zh-TW" dirty="0"/>
              <a:t>4</a:t>
            </a:r>
            <a:r>
              <a:rPr lang="zh-TW" altLang="en-US" dirty="0"/>
              <a:t> </a:t>
            </a:r>
            <a:r>
              <a:rPr lang="en-US" altLang="zh-TW" dirty="0"/>
              <a:t>12B</a:t>
            </a:r>
            <a:r>
              <a:rPr lang="zh-TW" altLang="en-US" dirty="0"/>
              <a:t> 統一架構</a:t>
            </a:r>
            <a:r>
              <a:rPr lang="en-US" altLang="zh-TW" dirty="0"/>
              <a:t>,</a:t>
            </a:r>
            <a:r>
              <a:rPr lang="zh-TW" altLang="en-US" dirty="0"/>
              <a:t> </a:t>
            </a:r>
            <a:r>
              <a:rPr lang="zh-TW" altLang="zh-TW" dirty="0"/>
              <a:t>層級嵌入 PLE</a:t>
            </a:r>
            <a:endParaRPr lang="zh-TW" altLang="en-US" dirty="0"/>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多模態 AI 的架構簡介（從傳統到現代）</a:t>
            </a:r>
            <a:r>
              <a:rPr lang="zh-TW" altLang="zh-TW" sz="1200" b="0" u="none" strike="noStrike" kern="1200" dirty="0">
                <a:solidFill>
                  <a:schemeClr val="tx1"/>
                </a:solidFill>
                <a:effectLst/>
                <a:latin typeface="+mn-lt"/>
                <a:ea typeface="+mn-ea"/>
                <a:cs typeface="+mn-cs"/>
              </a:rPr>
              <a:t>要在同一個 AI 模型裡同時塞入「文字、圖片、聲音」</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技術架構經歷了兩個世代演變：</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傳統架構：橋接法 (Encoder-based Architecture)</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以往的 LLaVA 或舊型多模態模型，就像是「拼裝車」：</a:t>
            </a:r>
          </a:p>
          <a:p>
            <a:r>
              <a:rPr lang="zh-TW" altLang="zh-TW" sz="1200" b="1" u="none" strike="noStrike" kern="1200" dirty="0">
                <a:solidFill>
                  <a:schemeClr val="tx1"/>
                </a:solidFill>
                <a:effectLst/>
                <a:latin typeface="+mn-lt"/>
                <a:ea typeface="+mn-ea"/>
                <a:cs typeface="+mn-cs"/>
              </a:rPr>
              <a:t>外掛多個編編碼器 (Encoders)</a:t>
            </a:r>
            <a:r>
              <a:rPr lang="zh-TW" altLang="zh-TW" sz="1200" b="0" u="none" strike="noStrike" kern="1200" dirty="0">
                <a:solidFill>
                  <a:schemeClr val="tx1"/>
                </a:solidFill>
                <a:effectLst/>
                <a:latin typeface="+mn-lt"/>
                <a:ea typeface="+mn-ea"/>
                <a:cs typeface="+mn-cs"/>
              </a:rPr>
              <a:t>：文字有文字的處理器、圖片有專屬的視覺編碼器（如 CLIP）、聲音有語音編碼器。</a:t>
            </a:r>
          </a:p>
          <a:p>
            <a:r>
              <a:rPr lang="zh-TW" altLang="zh-TW" sz="1200" b="1" u="none" strike="noStrike" kern="1200" dirty="0">
                <a:solidFill>
                  <a:schemeClr val="tx1"/>
                </a:solidFill>
                <a:effectLst/>
                <a:latin typeface="+mn-lt"/>
                <a:ea typeface="+mn-ea"/>
                <a:cs typeface="+mn-cs"/>
              </a:rPr>
              <a:t>對齊層 (Projection Layer)</a:t>
            </a:r>
            <a:r>
              <a:rPr lang="zh-TW" altLang="zh-TW" sz="1200" b="0" u="none" strike="noStrike" kern="1200" dirty="0">
                <a:solidFill>
                  <a:schemeClr val="tx1"/>
                </a:solidFill>
                <a:effectLst/>
                <a:latin typeface="+mn-lt"/>
                <a:ea typeface="+mn-ea"/>
                <a:cs typeface="+mn-cs"/>
              </a:rPr>
              <a:t>：中間用一個轉換層，把圖片和聲音的訊號「強行翻譯」成文字看得懂的向量。</a:t>
            </a:r>
          </a:p>
          <a:p>
            <a:r>
              <a:rPr lang="zh-TW" altLang="zh-TW" sz="1200" b="1" u="none" strike="noStrike" kern="1200" dirty="0">
                <a:solidFill>
                  <a:schemeClr val="tx1"/>
                </a:solidFill>
                <a:effectLst/>
                <a:latin typeface="+mn-lt"/>
                <a:ea typeface="+mn-ea"/>
                <a:cs typeface="+mn-cs"/>
              </a:rPr>
              <a:t>丟入 LLM</a:t>
            </a:r>
            <a:r>
              <a:rPr lang="zh-TW" altLang="zh-TW" sz="1200" b="0" u="none" strike="noStrike" kern="1200" dirty="0">
                <a:solidFill>
                  <a:schemeClr val="tx1"/>
                </a:solidFill>
                <a:effectLst/>
                <a:latin typeface="+mn-lt"/>
                <a:ea typeface="+mn-ea"/>
                <a:cs typeface="+mn-cs"/>
              </a:rPr>
              <a:t>：最後才餵給主要的大型語言模型。 </a:t>
            </a:r>
            <a:endParaRPr lang="en-US" altLang="zh-TW" sz="1200" b="0" u="none" strike="noStrike" kern="1200" dirty="0">
              <a:solidFill>
                <a:schemeClr val="tx1"/>
              </a:solidFill>
              <a:effectLst/>
              <a:latin typeface="+mn-lt"/>
              <a:ea typeface="+mn-ea"/>
              <a:cs typeface="+mn-cs"/>
            </a:endParaRPr>
          </a:p>
          <a:p>
            <a:r>
              <a:rPr lang="zh-TW" altLang="zh-TW" sz="1200" b="0" i="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：編碼器體積龐大</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數億參數</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、會卡死微調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Fine-tuning</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的彈性</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且在轉換過程中容易漏掉細節。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現代/未來架構：原生統一法 (Native Unified / Encoder-Free Architecture)</a:t>
            </a:r>
          </a:p>
          <a:p>
            <a:r>
              <a:rPr lang="zh-TW" altLang="zh-TW" sz="1200" b="0" u="none" strike="noStrike" kern="1200" dirty="0">
                <a:solidFill>
                  <a:schemeClr val="tx1"/>
                </a:solidFill>
                <a:effectLst/>
                <a:latin typeface="+mn-lt"/>
                <a:ea typeface="+mn-ea"/>
                <a:cs typeface="+mn-cs"/>
              </a:rPr>
              <a:t>這也是 </a:t>
            </a:r>
            <a:r>
              <a:rPr lang="zh-TW" altLang="zh-TW" sz="1200" b="1" u="none" strike="noStrike" kern="1200" dirty="0">
                <a:solidFill>
                  <a:schemeClr val="tx1"/>
                </a:solidFill>
                <a:effectLst/>
                <a:latin typeface="+mn-lt"/>
                <a:ea typeface="+mn-ea"/>
                <a:cs typeface="+mn-cs"/>
              </a:rPr>
              <a:t>Gemma 4 的核心突破</a:t>
            </a:r>
            <a:r>
              <a:rPr lang="zh-TW" altLang="zh-TW" sz="1200" b="0" u="none" strike="noStrike" kern="1200" dirty="0">
                <a:solidFill>
                  <a:schemeClr val="tx1"/>
                </a:solidFill>
                <a:effectLst/>
                <a:latin typeface="+mn-lt"/>
                <a:ea typeface="+mn-ea"/>
                <a:cs typeface="+mn-cs"/>
              </a:rPr>
              <a:t>！科學家發現，不需要外掛這麼多編碼器，主要的大腦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本質上就夠聰明了。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直接線性投影 (Linear Projection)</a:t>
            </a:r>
            <a:r>
              <a:rPr lang="zh-TW" altLang="zh-TW" sz="1200" b="0" u="none" strike="noStrike" kern="1200" dirty="0">
                <a:solidFill>
                  <a:schemeClr val="tx1"/>
                </a:solidFill>
                <a:effectLst/>
                <a:latin typeface="+mn-lt"/>
                <a:ea typeface="+mn-ea"/>
                <a:cs typeface="+mn-cs"/>
              </a:rPr>
              <a:t>：圖片或聲音不經過外部編碼器加工，直接切碎並透過一個極輕量的線性模組轉成標記（Tokens）。</a:t>
            </a:r>
          </a:p>
          <a:p>
            <a:r>
              <a:rPr lang="zh-TW" altLang="zh-TW" sz="1200" b="1" u="none" strike="noStrike" kern="1200" dirty="0">
                <a:solidFill>
                  <a:schemeClr val="tx1"/>
                </a:solidFill>
                <a:effectLst/>
                <a:latin typeface="+mn-lt"/>
                <a:ea typeface="+mn-ea"/>
                <a:cs typeface="+mn-cs"/>
              </a:rPr>
              <a:t>一體化推論</a:t>
            </a:r>
            <a:r>
              <a:rPr lang="zh-TW" altLang="zh-TW" sz="1200" b="0" u="none" strike="noStrike" kern="1200" dirty="0">
                <a:solidFill>
                  <a:schemeClr val="tx1"/>
                </a:solidFill>
                <a:effectLst/>
                <a:latin typeface="+mn-lt"/>
                <a:ea typeface="+mn-ea"/>
                <a:cs typeface="+mn-cs"/>
              </a:rPr>
              <a:t>：多種模態的資料直接在同一個核心架構（Backbone）裡混合、計算。 </a:t>
            </a:r>
          </a:p>
          <a:p>
            <a:r>
              <a:rPr lang="zh-TW" altLang="zh-TW" sz="1200" b="0" i="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：推論速度極快、模型體積大幅縮小，而且文字、圖片、音訊可以完美融合在同一個資料流中，大幅降低硬體門檻。</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memory</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用量</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計算用電</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如何知道級距</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 用雲端服務建立準線。</a:t>
            </a:r>
            <a:endPar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294B2211-4D24-D0CD-E8B5-6DAC6082A825}"/>
              </a:ext>
            </a:extLst>
          </p:cNvPr>
          <p:cNvSpPr>
            <a:spLocks noGrp="1"/>
          </p:cNvSpPr>
          <p:nvPr>
            <p:ph type="sldNum" sz="quarter" idx="5"/>
          </p:nvPr>
        </p:nvSpPr>
        <p:spPr/>
        <p:txBody>
          <a:bodyPr/>
          <a:lstStyle/>
          <a:p>
            <a:fld id="{E3A6CE5E-F349-486D-8749-82EF2AD71FA8}" type="slidenum">
              <a:rPr lang="zh-TW" altLang="en-US" smtClean="0"/>
              <a:t>16</a:t>
            </a:fld>
            <a:endParaRPr lang="zh-TW" altLang="en-US"/>
          </a:p>
        </p:txBody>
      </p:sp>
    </p:spTree>
    <p:extLst>
      <p:ext uri="{BB962C8B-B14F-4D97-AF65-F5344CB8AC3E}">
        <p14:creationId xmlns:p14="http://schemas.microsoft.com/office/powerpoint/2010/main" val="4137754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55B09-3B3A-04FC-B910-FD514564E8D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97D7B1-3963-C2C0-8936-531A5502EA3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2D87AC4C-85F7-140D-7FC7-B8BF07EEF986}"/>
              </a:ext>
            </a:extLst>
          </p:cNvPr>
          <p:cNvSpPr>
            <a:spLocks noGrp="1"/>
          </p:cNvSpPr>
          <p:nvPr>
            <p:ph type="body" idx="1"/>
          </p:nvPr>
        </p:nvSpPr>
        <p:spPr/>
        <p:txBody>
          <a:bodyPr/>
          <a:lstStyle/>
          <a:p>
            <a:r>
              <a:rPr lang="zh-TW" altLang="zh-TW" dirty="0"/>
              <a:t>在傳統的 Transformer 架構中，模型運作會面臨兩個維度的資訊損耗：</a:t>
            </a:r>
            <a:endParaRPr lang="en-US" altLang="zh-TW" dirty="0"/>
          </a:p>
          <a:p>
            <a:r>
              <a:rPr lang="zh-TW" altLang="zh-TW" dirty="0"/>
              <a:t>一個是文字序列越長，記憶體越容易爆掉（水平瓶頸）；</a:t>
            </a:r>
            <a:endParaRPr lang="en-US" altLang="zh-TW" dirty="0"/>
          </a:p>
          <a:p>
            <a:r>
              <a:rPr lang="zh-TW" altLang="zh-TW" dirty="0"/>
              <a:t>另一個是神經網路層數越深，早期的重要訊號越容易被後面的層沖淡（垂直瓶頸）。</a:t>
            </a:r>
            <a:endParaRPr lang="en-US" altLang="zh-TW" dirty="0"/>
          </a:p>
          <a:p>
            <a:r>
              <a:rPr lang="zh-TW" altLang="zh-TW" dirty="0"/>
              <a:t>Kimi 的解法是將「注意力機制」同時應用在這兩個維度：</a:t>
            </a:r>
            <a:endParaRPr lang="zh-TW" altLang="en-US" dirty="0"/>
          </a:p>
        </p:txBody>
      </p:sp>
      <p:sp>
        <p:nvSpPr>
          <p:cNvPr id="4" name="投影片編號版面配置區 3">
            <a:extLst>
              <a:ext uri="{FF2B5EF4-FFF2-40B4-BE49-F238E27FC236}">
                <a16:creationId xmlns:a16="http://schemas.microsoft.com/office/drawing/2014/main" id="{72BCDD50-3061-C594-041C-9330E755B76F}"/>
              </a:ext>
            </a:extLst>
          </p:cNvPr>
          <p:cNvSpPr>
            <a:spLocks noGrp="1"/>
          </p:cNvSpPr>
          <p:nvPr>
            <p:ph type="sldNum" sz="quarter" idx="5"/>
          </p:nvPr>
        </p:nvSpPr>
        <p:spPr/>
        <p:txBody>
          <a:bodyPr/>
          <a:lstStyle/>
          <a:p>
            <a:fld id="{E3A6CE5E-F349-486D-8749-82EF2AD71FA8}" type="slidenum">
              <a:rPr lang="zh-TW" altLang="en-US" smtClean="0"/>
              <a:t>17</a:t>
            </a:fld>
            <a:endParaRPr lang="zh-TW" altLang="en-US"/>
          </a:p>
        </p:txBody>
      </p:sp>
    </p:spTree>
    <p:extLst>
      <p:ext uri="{BB962C8B-B14F-4D97-AF65-F5344CB8AC3E}">
        <p14:creationId xmlns:p14="http://schemas.microsoft.com/office/powerpoint/2010/main" val="3402247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AF9E9-CC83-DF27-E397-155D3F2D0B0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C573ED-4303-C760-C0E6-466DBCFD019D}"/>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9555CB64-0641-AE5C-0077-6CD2BA1E2E47}"/>
              </a:ext>
            </a:extLst>
          </p:cNvPr>
          <p:cNvSpPr>
            <a:spLocks noGrp="1"/>
          </p:cNvSpPr>
          <p:nvPr>
            <p:ph type="body" idx="1"/>
          </p:nvPr>
        </p:nvSpPr>
        <p:spPr/>
        <p:txBody>
          <a:bodyPr/>
          <a:lstStyle/>
          <a:p>
            <a:pPr lvl="0"/>
            <a:r>
              <a:rPr lang="en-US" altLang="zh-TW" sz="1200" b="0" u="none" strike="noStrike" kern="1200" dirty="0">
                <a:solidFill>
                  <a:schemeClr val="tx1"/>
                </a:solidFill>
                <a:effectLst/>
                <a:latin typeface="+mn-lt"/>
                <a:ea typeface="+mn-ea"/>
                <a:cs typeface="+mn-cs"/>
              </a:rPr>
              <a:t>KDA</a:t>
            </a:r>
            <a:r>
              <a:rPr lang="zh-TW" altLang="zh-TW" sz="1200" b="1" u="none" strike="noStrike" kern="1200" dirty="0">
                <a:solidFill>
                  <a:schemeClr val="tx1"/>
                </a:solidFill>
                <a:effectLst/>
                <a:latin typeface="+mn-lt"/>
                <a:ea typeface="+mn-ea"/>
                <a:cs typeface="+mn-cs"/>
              </a:rPr>
              <a:t>技術原理</a:t>
            </a:r>
            <a:r>
              <a:rPr lang="zh-TW" altLang="zh-TW" dirty="0"/>
              <a:t>：</a:t>
            </a:r>
            <a:r>
              <a:rPr lang="zh-TW" altLang="zh-TW" sz="1200" b="0" u="none" strike="noStrike" kern="1200" dirty="0">
                <a:solidFill>
                  <a:schemeClr val="tx1"/>
                </a:solidFill>
                <a:effectLst/>
                <a:latin typeface="+mn-lt"/>
                <a:ea typeface="+mn-ea"/>
                <a:cs typeface="+mn-cs"/>
              </a:rPr>
              <a:t>：傳統的 Transformer 架構在處理百萬級 Token 時，KV Cache（鍵值快取）會耗盡所有顯存。</a:t>
            </a:r>
            <a:endParaRPr lang="en-US" altLang="zh-TW" sz="1200" b="0" u="none" strike="noStrike" kern="1200" dirty="0">
              <a:solidFill>
                <a:schemeClr val="tx1"/>
              </a:solidFill>
              <a:effectLst/>
              <a:latin typeface="+mn-lt"/>
              <a:ea typeface="+mn-ea"/>
              <a:cs typeface="+mn-cs"/>
            </a:endParaRPr>
          </a:p>
          <a:p>
            <a:pPr lvl="0"/>
            <a:r>
              <a:rPr lang="zh-TW" altLang="zh-TW" sz="1200" b="0" u="none" strike="noStrike" kern="1200" dirty="0">
                <a:solidFill>
                  <a:schemeClr val="tx1"/>
                </a:solidFill>
                <a:effectLst/>
                <a:latin typeface="+mn-lt"/>
                <a:ea typeface="+mn-ea"/>
                <a:cs typeface="+mn-cs"/>
              </a:rPr>
              <a:t>KDA 是一種</a:t>
            </a:r>
            <a:r>
              <a:rPr lang="zh-TW" altLang="zh-TW" sz="1200" b="1" u="none" strike="noStrike" kern="1200" dirty="0">
                <a:solidFill>
                  <a:schemeClr val="tx1"/>
                </a:solidFill>
                <a:effectLst/>
                <a:latin typeface="+mn-lt"/>
                <a:ea typeface="+mn-ea"/>
                <a:cs typeface="+mn-cs"/>
              </a:rPr>
              <a:t>混合線性注意力機制</a:t>
            </a:r>
            <a:r>
              <a:rPr lang="zh-TW" altLang="zh-TW" sz="1200" b="0" u="none" strike="noStrike" kern="1200" dirty="0">
                <a:solidFill>
                  <a:schemeClr val="tx1"/>
                </a:solidFill>
                <a:effectLst/>
                <a:latin typeface="+mn-lt"/>
                <a:ea typeface="+mn-ea"/>
                <a:cs typeface="+mn-cs"/>
              </a:rPr>
              <a:t>，它在不損失長文本脈絡的前提下，引入了循環狀態快取（Recurrent State Caches），大幅縮減了每一步解碼需要保留的常規 KV 對。</a:t>
            </a:r>
          </a:p>
          <a:p>
            <a:pPr lvl="0"/>
            <a:r>
              <a:rPr lang="zh-TW" altLang="zh-TW" sz="1200" b="1" u="none" strike="noStrike" kern="1200" dirty="0">
                <a:solidFill>
                  <a:schemeClr val="tx1"/>
                </a:solidFill>
                <a:effectLst/>
                <a:latin typeface="+mn-lt"/>
                <a:ea typeface="+mn-ea"/>
                <a:cs typeface="+mn-cs"/>
              </a:rPr>
              <a:t>擅長效果</a:t>
            </a:r>
            <a:r>
              <a:rPr lang="zh-TW" altLang="zh-TW" sz="1200" b="0" u="none" strike="noStrike" kern="1200" dirty="0">
                <a:solidFill>
                  <a:schemeClr val="tx1"/>
                </a:solidFill>
                <a:effectLst/>
                <a:latin typeface="+mn-lt"/>
                <a:ea typeface="+mn-ea"/>
                <a:cs typeface="+mn-cs"/>
              </a:rPr>
              <a:t>：實現高達 </a:t>
            </a:r>
            <a:r>
              <a:rPr lang="zh-TW" altLang="zh-TW" sz="1200" b="1" u="none" strike="noStrike" kern="1200" dirty="0">
                <a:solidFill>
                  <a:schemeClr val="tx1"/>
                </a:solidFill>
                <a:effectLst/>
                <a:latin typeface="+mn-lt"/>
                <a:ea typeface="+mn-ea"/>
                <a:cs typeface="+mn-cs"/>
              </a:rPr>
              <a:t>100 萬 Token 的超長上下文視窗</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B66461CB-AAFB-8D6B-0436-EE1377E4AB5B}"/>
              </a:ext>
            </a:extLst>
          </p:cNvPr>
          <p:cNvSpPr>
            <a:spLocks noGrp="1"/>
          </p:cNvSpPr>
          <p:nvPr>
            <p:ph type="sldNum" sz="quarter" idx="5"/>
          </p:nvPr>
        </p:nvSpPr>
        <p:spPr/>
        <p:txBody>
          <a:bodyPr/>
          <a:lstStyle/>
          <a:p>
            <a:fld id="{E3A6CE5E-F349-486D-8749-82EF2AD71FA8}" type="slidenum">
              <a:rPr lang="zh-TW" altLang="en-US" smtClean="0"/>
              <a:t>18</a:t>
            </a:fld>
            <a:endParaRPr lang="zh-TW" altLang="en-US"/>
          </a:p>
        </p:txBody>
      </p:sp>
    </p:spTree>
    <p:extLst>
      <p:ext uri="{BB962C8B-B14F-4D97-AF65-F5344CB8AC3E}">
        <p14:creationId xmlns:p14="http://schemas.microsoft.com/office/powerpoint/2010/main" val="3939899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E6667-2A85-FF53-8F83-A2A48D7CC89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29B604A-8ED3-03F5-03F9-DAF0CCD5B826}"/>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72D3A238-5F41-23FE-BADB-1E35C342E214}"/>
              </a:ext>
            </a:extLst>
          </p:cNvPr>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Kimi K3 基于 Kimi Delta Attention（KDA）和 Attention Residuals（AttnRes）构建。</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Mixture of Experts（MoE）的稀疏度</a:t>
            </a:r>
            <a:r>
              <a:rPr lang="en-US" altLang="zh-TW" sz="1200" b="0" i="0" kern="1200" dirty="0">
                <a:solidFill>
                  <a:schemeClr val="tx1"/>
                </a:solidFill>
                <a:effectLst/>
                <a:latin typeface="+mn-lt"/>
                <a:ea typeface="+mn-ea"/>
                <a:cs typeface="+mn-cs"/>
              </a:rPr>
              <a:t>(16/896</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=1.8%)</a:t>
            </a:r>
            <a:r>
              <a:rPr lang="zh-TW" altLang="zh-TW"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Stable Latent</a:t>
            </a:r>
            <a:r>
              <a:rPr lang="zh-TW" altLang="en-US" sz="1200" b="0" i="0" kern="1200" dirty="0">
                <a:solidFill>
                  <a:schemeClr val="tx1"/>
                </a:solidFill>
                <a:effectLst/>
                <a:latin typeface="+mn-lt"/>
                <a:ea typeface="+mn-ea"/>
                <a:cs typeface="+mn-cs"/>
              </a:rPr>
              <a:t> </a:t>
            </a:r>
            <a:r>
              <a:rPr lang="zh-TW" altLang="zh-TW" sz="1200" b="0" i="0" kern="1200" dirty="0">
                <a:solidFill>
                  <a:schemeClr val="tx1"/>
                </a:solidFill>
                <a:effectLst/>
                <a:latin typeface="+mn-lt"/>
                <a:ea typeface="+mn-ea"/>
                <a:cs typeface="+mn-cs"/>
              </a:rPr>
              <a:t>MoE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 由</a:t>
            </a:r>
            <a:r>
              <a:rPr lang="en-US" altLang="zh-TW" sz="1200" b="0" i="0" kern="1200" dirty="0">
                <a:solidFill>
                  <a:schemeClr val="tx1"/>
                </a:solidFill>
                <a:effectLst/>
                <a:latin typeface="+mn-lt"/>
                <a:ea typeface="+mn-ea"/>
                <a:cs typeface="+mn-cs"/>
              </a:rPr>
              <a:t>896</a:t>
            </a:r>
            <a:r>
              <a:rPr lang="zh-TW" altLang="en-US" sz="1200" b="0" i="0" kern="1200" dirty="0">
                <a:solidFill>
                  <a:schemeClr val="tx1"/>
                </a:solidFill>
                <a:effectLst/>
                <a:latin typeface="+mn-lt"/>
                <a:ea typeface="+mn-ea"/>
                <a:cs typeface="+mn-cs"/>
              </a:rPr>
              <a:t>個專家</a:t>
            </a:r>
            <a:r>
              <a:rPr lang="zh-TW" altLang="zh-TW" sz="1200" b="0" i="0" kern="1200" dirty="0">
                <a:solidFill>
                  <a:schemeClr val="tx1"/>
                </a:solidFill>
                <a:effectLst/>
                <a:latin typeface="+mn-lt"/>
                <a:ea typeface="+mn-ea"/>
                <a:cs typeface="+mn-cs"/>
              </a:rPr>
              <a:t>模型</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 </a:t>
            </a:r>
            <a:r>
              <a:rPr lang="zh-TW" altLang="zh-TW" sz="1200" b="0" i="0" kern="1200" dirty="0">
                <a:solidFill>
                  <a:schemeClr val="tx1"/>
                </a:solidFill>
                <a:effectLst/>
                <a:latin typeface="+mn-lt"/>
                <a:ea typeface="+mn-ea"/>
                <a:cs typeface="+mn-cs"/>
              </a:rPr>
              <a:t>高效激活16</a:t>
            </a:r>
            <a:r>
              <a:rPr lang="zh-TW" altLang="en-US" sz="1200" b="0" i="0" kern="1200" dirty="0">
                <a:solidFill>
                  <a:schemeClr val="tx1"/>
                </a:solidFill>
                <a:effectLst/>
                <a:latin typeface="+mn-lt"/>
                <a:ea typeface="+mn-ea"/>
                <a:cs typeface="+mn-cs"/>
              </a:rPr>
              <a:t>個</a:t>
            </a:r>
            <a:r>
              <a:rPr lang="zh-TW" altLang="zh-TW"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(2</a:t>
            </a:r>
            <a:r>
              <a:rPr lang="zh-TW" altLang="en-US" sz="1200" b="0" i="0" kern="1200" dirty="0">
                <a:solidFill>
                  <a:schemeClr val="tx1"/>
                </a:solidFill>
                <a:effectLst/>
                <a:latin typeface="+mn-lt"/>
                <a:ea typeface="+mn-ea"/>
                <a:cs typeface="+mn-cs"/>
              </a:rPr>
              <a:t>常駐分享</a:t>
            </a:r>
            <a:r>
              <a:rPr lang="en-US" altLang="zh-TW" sz="1200" b="0" i="0" kern="1200" dirty="0">
                <a:solidFill>
                  <a:schemeClr val="tx1"/>
                </a:solidFill>
                <a:effectLst/>
                <a:latin typeface="+mn-lt"/>
                <a:ea typeface="+mn-ea"/>
                <a:cs typeface="+mn-cs"/>
              </a:rPr>
              <a:t>+14</a:t>
            </a:r>
            <a:r>
              <a:rPr lang="zh-TW" altLang="en-US" sz="1200" b="0" i="0" kern="1200" dirty="0">
                <a:solidFill>
                  <a:schemeClr val="tx1"/>
                </a:solidFill>
                <a:effectLst/>
                <a:latin typeface="+mn-lt"/>
                <a:ea typeface="+mn-ea"/>
                <a:cs typeface="+mn-cs"/>
              </a:rPr>
              <a:t>動態選取</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b="0" i="0" kern="1200" dirty="0">
                <a:solidFill>
                  <a:schemeClr val="tx1"/>
                </a:solidFill>
                <a:effectLst/>
                <a:latin typeface="+mn-lt"/>
                <a:ea typeface="+mn-ea"/>
                <a:cs typeface="+mn-cs"/>
              </a:rPr>
              <a:t>再加上训练方法和数据配方的优化，这些结构性改进让 Kimi K3 相比 K2 的整体扩展效率提升约 2.5 倍，能更有效地把算力转化为能力。</a:t>
            </a:r>
            <a:endParaRPr lang="zh-TW" altLang="en-US" dirty="0"/>
          </a:p>
        </p:txBody>
      </p:sp>
      <p:sp>
        <p:nvSpPr>
          <p:cNvPr id="4" name="投影片編號版面配置區 3">
            <a:extLst>
              <a:ext uri="{FF2B5EF4-FFF2-40B4-BE49-F238E27FC236}">
                <a16:creationId xmlns:a16="http://schemas.microsoft.com/office/drawing/2014/main" id="{12179625-06B8-3D73-D2D4-34D86FEE2A0A}"/>
              </a:ext>
            </a:extLst>
          </p:cNvPr>
          <p:cNvSpPr>
            <a:spLocks noGrp="1"/>
          </p:cNvSpPr>
          <p:nvPr>
            <p:ph type="sldNum" sz="quarter" idx="5"/>
          </p:nvPr>
        </p:nvSpPr>
        <p:spPr/>
        <p:txBody>
          <a:bodyPr/>
          <a:lstStyle/>
          <a:p>
            <a:fld id="{E3A6CE5E-F349-486D-8749-82EF2AD71FA8}" type="slidenum">
              <a:rPr lang="zh-TW" altLang="en-US" smtClean="0"/>
              <a:t>19</a:t>
            </a:fld>
            <a:endParaRPr lang="zh-TW" altLang="en-US"/>
          </a:p>
        </p:txBody>
      </p:sp>
    </p:spTree>
    <p:extLst>
      <p:ext uri="{BB962C8B-B14F-4D97-AF65-F5344CB8AC3E}">
        <p14:creationId xmlns:p14="http://schemas.microsoft.com/office/powerpoint/2010/main" val="4065119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A0C2-F10F-41F2-4901-D00B23DA82B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309C615-DC37-D33D-FC81-B6B7E8E5162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24B19ED-2691-D788-2378-E6045F29620F}"/>
              </a:ext>
            </a:extLst>
          </p:cNvPr>
          <p:cNvSpPr>
            <a:spLocks noGrp="1"/>
          </p:cNvSpPr>
          <p:nvPr>
            <p:ph type="body" idx="1"/>
          </p:nvPr>
        </p:nvSpPr>
        <p:spPr/>
        <p:txBody>
          <a:bodyPr/>
          <a:lstStyle/>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Pre-Training</a:t>
            </a:r>
            <a:r>
              <a:rPr lang="zh-TW" altLang="zh-TW" sz="1200" b="0" u="none" strike="noStrike" kern="1200" dirty="0">
                <a:solidFill>
                  <a:schemeClr val="tx1"/>
                </a:solidFill>
                <a:effectLst/>
                <a:latin typeface="+mn-lt"/>
                <a:ea typeface="+mn-ea"/>
                <a:cs typeface="+mn-cs"/>
              </a:rPr>
              <a:t>：自監督（機器自己幫資料打標籤）。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Distillation</a:t>
            </a:r>
            <a:r>
              <a:rPr lang="zh-TW" altLang="zh-TW" sz="1200" b="0" u="none" strike="noStrike" kern="1200" dirty="0">
                <a:solidFill>
                  <a:schemeClr val="tx1"/>
                </a:solidFill>
                <a:effectLst/>
                <a:latin typeface="+mn-lt"/>
                <a:ea typeface="+mn-ea"/>
                <a:cs typeface="+mn-cs"/>
              </a:rPr>
              <a:t>：師徒監督（小模型模仿大模型的標籤）。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SFT</a:t>
            </a:r>
            <a:r>
              <a:rPr lang="zh-TW" altLang="zh-TW" sz="1200" b="0" u="none" strike="noStrike" kern="1200" dirty="0">
                <a:solidFill>
                  <a:schemeClr val="tx1"/>
                </a:solidFill>
                <a:effectLst/>
                <a:latin typeface="+mn-lt"/>
                <a:ea typeface="+mn-ea"/>
                <a:cs typeface="+mn-cs"/>
              </a:rPr>
              <a:t>：黃金監督（模型模仿人類專家的標籤）。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RLHF</a:t>
            </a:r>
            <a:r>
              <a:rPr lang="zh-TW" altLang="zh-TW" sz="1200" b="0" u="none" strike="noStrike" kern="1200" dirty="0">
                <a:solidFill>
                  <a:schemeClr val="tx1"/>
                </a:solidFill>
                <a:effectLst/>
                <a:latin typeface="+mn-lt"/>
                <a:ea typeface="+mn-ea"/>
                <a:cs typeface="+mn-cs"/>
              </a:rPr>
              <a:t>：偏好引導（不給標準答案，只給讚和倒讚）。</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dirty="0"/>
              <a:t>Continual Pre-Training：也是「自監督學習」的延伸（領域專家養成）</a:t>
            </a:r>
            <a:endParaRPr lang="en-US" altLang="zh-TW" dirty="0"/>
          </a:p>
          <a:p>
            <a:pPr marL="0" marR="0">
              <a:spcBef>
                <a:spcPts val="1800"/>
              </a:spcBef>
              <a:spcAft>
                <a:spcPts val="900"/>
              </a:spcAft>
              <a:buNone/>
            </a:pPr>
            <a:endParaRPr lang="en-US" altLang="zh-TW" dirty="0"/>
          </a:p>
          <a:p>
            <a:pPr marL="0" marR="0">
              <a:spcBef>
                <a:spcPts val="1800"/>
              </a:spcBef>
              <a:spcAft>
                <a:spcPts val="900"/>
              </a:spcAft>
              <a:buNone/>
            </a:pPr>
            <a:br>
              <a:rPr lang="en-US" altLang="zh-TW" sz="1200" dirty="0"/>
            </a:br>
            <a:r>
              <a:rPr lang="en-US" altLang="zh-TW" sz="1200" b="1" u="none" strike="noStrike" dirty="0">
                <a:effectLst/>
                <a:latin typeface="Google Sans"/>
              </a:rPr>
              <a:t>1.</a:t>
            </a:r>
            <a:r>
              <a:rPr lang="zh-TW" altLang="en-US" sz="1200" b="1" u="none" strike="noStrike" dirty="0">
                <a:effectLst/>
                <a:latin typeface="Google Sans"/>
              </a:rPr>
              <a:t> </a:t>
            </a:r>
            <a:r>
              <a:rPr lang="zh-TW" altLang="zh-TW" sz="1200" b="1" u="none" strike="noStrike" dirty="0">
                <a:effectLst/>
                <a:latin typeface="Google Sans"/>
              </a:rPr>
              <a:t>強化學習陣營 (Reinforcement Learning)</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RLHF (人類反饋強化學習)：</a:t>
            </a:r>
            <a:r>
              <a:rPr lang="zh-TW" altLang="zh-TW" sz="1200" b="0" u="none" strike="noStrike" dirty="0">
                <a:effectLst/>
                <a:latin typeface="Google Sans"/>
              </a:rPr>
              <a:t> </a:t>
            </a:r>
            <a:r>
              <a:rPr lang="zh-TW" altLang="zh-TW" sz="1200" b="1" u="none" strike="noStrike" dirty="0">
                <a:effectLst/>
                <a:latin typeface="Google Sans"/>
              </a:rPr>
              <a:t>絕對屬於強化學習</a:t>
            </a:r>
            <a:r>
              <a:rPr lang="zh-TW" altLang="zh-TW" sz="1200" b="0" u="none" strike="noStrike" dirty="0">
                <a:effectLst/>
                <a:latin typeface="Google Sans"/>
              </a:rPr>
              <a:t>。它使用獎勵模型（Reward Model）來引導策略模型（Policy Model）優化，背後運行的是 PPO 等強化學習演算法。</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DPO (直接偏好最佳化)：</a:t>
            </a:r>
            <a:r>
              <a:rPr lang="zh-TW" altLang="zh-TW" sz="1200" b="0" u="none" strike="noStrike" dirty="0">
                <a:effectLst/>
                <a:latin typeface="Google Sans"/>
              </a:rPr>
              <a:t> 雖然在數學上繞過了傳統強化學習的獎勵模型與採樣步驟，直接用二元交叉熵損失來訓練，但它的</a:t>
            </a:r>
            <a:r>
              <a:rPr lang="zh-TW" altLang="zh-TW" sz="1200" b="1" u="none" strike="noStrike" dirty="0">
                <a:effectLst/>
                <a:latin typeface="Google Sans"/>
              </a:rPr>
              <a:t>核心本質與目標仍然是強化學習（對齊人類偏好）</a:t>
            </a:r>
            <a:endParaRPr lang="en-US" altLang="zh-TW" sz="1200" b="1" u="none" strike="noStrike" dirty="0">
              <a:effectLst/>
              <a:latin typeface="Google Sans"/>
            </a:endParaRPr>
          </a:p>
          <a:p>
            <a:pPr marL="0" marR="0">
              <a:spcBef>
                <a:spcPts val="900"/>
              </a:spcBef>
              <a:spcAft>
                <a:spcPts val="900"/>
              </a:spcAft>
              <a:buFont typeface="Arial" panose="020B0604020202020204" pitchFamily="34" charset="0"/>
              <a:buNone/>
            </a:pPr>
            <a:br>
              <a:rPr lang="en-US" altLang="zh-TW" sz="1200" dirty="0"/>
            </a:br>
            <a:r>
              <a:rPr lang="en-US" altLang="zh-TW" sz="1200" dirty="0"/>
              <a:t>2. </a:t>
            </a:r>
            <a:r>
              <a:rPr lang="zh-TW" altLang="en-US" sz="1200" dirty="0"/>
              <a:t>監督式學習陣營 </a:t>
            </a:r>
            <a:r>
              <a:rPr lang="en-US" altLang="zh-TW" sz="1200" dirty="0"/>
              <a:t>(Supervised Learning)</a:t>
            </a:r>
            <a:r>
              <a:rPr lang="zh-TW" altLang="en-US" sz="1200" dirty="0"/>
              <a:t>在微調階段，</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許多技術雖然使用的是無標籤文本生成的底層邏輯，</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但因為資料集已經被人類高度結構化（有明確的 </a:t>
            </a:r>
            <a:r>
              <a:rPr lang="en-US" altLang="zh-TW" sz="1200" dirty="0"/>
              <a:t>Prompt </a:t>
            </a:r>
            <a:r>
              <a:rPr lang="zh-TW" altLang="en-US" sz="1200" dirty="0"/>
              <a:t>與對應的 </a:t>
            </a:r>
            <a:r>
              <a:rPr lang="en-US" altLang="zh-TW" sz="1200" dirty="0"/>
              <a:t>Target Answer</a:t>
            </a:r>
            <a:r>
              <a:rPr lang="zh-TW" altLang="en-US" sz="1200" dirty="0"/>
              <a:t>），</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因此在實務上被歸類為監督式學習：</a:t>
            </a:r>
            <a:r>
              <a:rPr lang="en-US" altLang="zh-TW" sz="1200" dirty="0"/>
              <a:t>SFT (</a:t>
            </a:r>
            <a:r>
              <a:rPr lang="zh-TW" altLang="en-US" sz="1200" dirty="0"/>
              <a:t>監督式微調</a:t>
            </a:r>
            <a:r>
              <a:rPr lang="en-US" altLang="zh-TW" sz="1200" dirty="0"/>
              <a:t>)</a:t>
            </a:r>
            <a:r>
              <a:rPr lang="zh-TW" altLang="en-US" sz="1200" dirty="0"/>
              <a:t>： 屬於監督式學習。它是用標準的「問題</a:t>
            </a:r>
            <a:r>
              <a:rPr lang="en-US" altLang="zh-TW" sz="1200" dirty="0"/>
              <a:t>-</a:t>
            </a:r>
            <a:r>
              <a:rPr lang="zh-TW" altLang="en-US" sz="1200" dirty="0"/>
              <a:t>正確答案」對來訓練模型。</a:t>
            </a:r>
            <a:endParaRPr lang="en-US" altLang="zh-TW" sz="1200" dirty="0"/>
          </a:p>
          <a:p>
            <a:endParaRPr lang="en-US" altLang="zh-TW" dirty="0"/>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PPO </a:t>
            </a:r>
            <a:r>
              <a:rPr lang="en-US" altLang="zh-TW" dirty="0">
                <a:sym typeface="Wingdings" panose="05000000000000000000" pitchFamily="2" charset="2"/>
              </a:rPr>
              <a:t> </a:t>
            </a:r>
            <a:r>
              <a:rPr lang="en-US" altLang="zh-TW" dirty="0"/>
              <a:t>DPO (“</a:t>
            </a:r>
            <a:r>
              <a:rPr lang="zh-TW" altLang="en-US" dirty="0"/>
              <a:t>獎勵模型</a:t>
            </a:r>
            <a:r>
              <a:rPr lang="en-US" altLang="zh-TW" dirty="0"/>
              <a:t>” </a:t>
            </a:r>
            <a:r>
              <a:rPr lang="zh-TW" altLang="en-US" dirty="0"/>
              <a:t>看起來就痛苦得不得了</a:t>
            </a:r>
            <a:r>
              <a:rPr lang="en-US" altLang="zh-TW" dirty="0"/>
              <a:t>, </a:t>
            </a:r>
            <a:r>
              <a:rPr lang="zh-TW" altLang="en-US" dirty="0"/>
              <a:t>一定要改善</a:t>
            </a:r>
            <a:r>
              <a:rPr lang="en-US" altLang="zh-TW" dirty="0"/>
              <a:t>)</a:t>
            </a:r>
            <a:br>
              <a:rPr lang="en-US" altLang="zh-TW" dirty="0"/>
            </a:br>
            <a:r>
              <a:rPr lang="zh-TW" altLang="zh-TW" dirty="0"/>
              <a:t>1. PPO（Proximal Policy Optimization，近端策略優化）</a:t>
            </a:r>
            <a:r>
              <a:rPr lang="en-US" altLang="zh-TW" dirty="0"/>
              <a:t>2017OpenAI</a:t>
            </a:r>
            <a:br>
              <a:rPr lang="en-US" altLang="zh-TW" dirty="0"/>
            </a:br>
            <a:r>
              <a:rPr lang="zh-TW" altLang="zh-TW" sz="1200" b="0" u="none" strike="noStrike" kern="1200" dirty="0">
                <a:solidFill>
                  <a:schemeClr val="tx1"/>
                </a:solidFill>
                <a:effectLst/>
                <a:latin typeface="+mn-lt"/>
                <a:ea typeface="+mn-ea"/>
                <a:cs typeface="+mn-cs"/>
              </a:rPr>
              <a:t>PPO 原本是通用強化學習演算法。2022 年 OpenAI 將其應用於 </a:t>
            </a:r>
            <a:r>
              <a:rPr lang="zh-TW" altLang="zh-TW" sz="1200" b="1" u="none" strike="noStrike" kern="1200" dirty="0">
                <a:solidFill>
                  <a:schemeClr val="tx1"/>
                </a:solidFill>
                <a:effectLst/>
                <a:latin typeface="+mn-lt"/>
                <a:ea typeface="+mn-ea"/>
                <a:cs typeface="+mn-cs"/>
              </a:rPr>
              <a:t>InstructGPT / ChatGPT</a:t>
            </a:r>
            <a:r>
              <a:rPr lang="zh-TW" altLang="zh-TW" sz="1200" b="0" u="none" strike="noStrike" kern="1200" dirty="0">
                <a:solidFill>
                  <a:schemeClr val="tx1"/>
                </a:solidFill>
                <a:effectLst/>
                <a:latin typeface="+mn-lt"/>
                <a:ea typeface="+mn-ea"/>
                <a:cs typeface="+mn-cs"/>
              </a:rPr>
              <a:t> 中，成為 </a:t>
            </a:r>
            <a:r>
              <a:rPr lang="zh-TW" altLang="zh-TW" sz="1200" b="1" u="none" strike="noStrike" kern="1200" dirty="0">
                <a:solidFill>
                  <a:schemeClr val="tx1"/>
                </a:solidFill>
                <a:effectLst/>
                <a:latin typeface="+mn-lt"/>
                <a:ea typeface="+mn-ea"/>
                <a:cs typeface="+mn-cs"/>
              </a:rPr>
              <a:t>RLHF（從人類反饋中進行強化學習）</a:t>
            </a:r>
            <a:r>
              <a:rPr lang="zh-TW" altLang="zh-TW" sz="1200" b="0" u="none" strike="noStrike" kern="1200" dirty="0">
                <a:solidFill>
                  <a:schemeClr val="tx1"/>
                </a:solidFill>
                <a:effectLst/>
                <a:latin typeface="+mn-lt"/>
                <a:ea typeface="+mn-ea"/>
                <a:cs typeface="+mn-cs"/>
              </a:rPr>
              <a:t> 的核心後端演算法，因而名聲大噪。</a:t>
            </a:r>
          </a:p>
          <a:p>
            <a:r>
              <a:rPr lang="zh-TW" altLang="zh-TW" sz="1200" b="0" u="none" strike="noStrike" kern="1200" dirty="0">
                <a:solidFill>
                  <a:schemeClr val="tx1"/>
                </a:solidFill>
                <a:effectLst/>
                <a:latin typeface="+mn-lt"/>
                <a:ea typeface="+mn-ea"/>
                <a:cs typeface="+mn-cs"/>
              </a:rPr>
              <a:t>它包含四個同時運作的模型：</a:t>
            </a:r>
            <a:r>
              <a:rPr lang="en-US" altLang="zh-TW" sz="1200" b="0" u="none" strike="noStrike" kern="1200" dirty="0">
                <a:solidFill>
                  <a:schemeClr val="tx1"/>
                </a:solidFill>
                <a:effectLst/>
                <a:latin typeface="+mn-lt"/>
                <a:ea typeface="+mn-ea"/>
                <a:cs typeface="+mn-cs"/>
              </a:rPr>
              <a:t> ====</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Actor（演員）</a:t>
            </a:r>
            <a:r>
              <a:rPr lang="zh-TW" altLang="zh-TW" sz="1200" b="0" u="none" strike="noStrike" kern="1200" dirty="0">
                <a:solidFill>
                  <a:schemeClr val="tx1"/>
                </a:solidFill>
                <a:effectLst/>
                <a:latin typeface="+mn-lt"/>
                <a:ea typeface="+mn-ea"/>
                <a:cs typeface="+mn-cs"/>
              </a:rPr>
              <a:t>：正在被訓練的 LLM，負責回答問題。</a:t>
            </a:r>
          </a:p>
          <a:p>
            <a:r>
              <a:rPr lang="zh-TW" altLang="zh-TW" sz="1200" b="1" u="none" strike="noStrike" kern="1200" dirty="0">
                <a:solidFill>
                  <a:schemeClr val="tx1"/>
                </a:solidFill>
                <a:effectLst/>
                <a:latin typeface="+mn-lt"/>
                <a:ea typeface="+mn-ea"/>
                <a:cs typeface="+mn-cs"/>
              </a:rPr>
              <a:t>Reference（參考）</a:t>
            </a:r>
            <a:r>
              <a:rPr lang="zh-TW" altLang="zh-TW" sz="1200" b="0" u="none" strike="noStrike" kern="1200" dirty="0">
                <a:solidFill>
                  <a:schemeClr val="tx1"/>
                </a:solidFill>
                <a:effectLst/>
                <a:latin typeface="+mn-lt"/>
                <a:ea typeface="+mn-ea"/>
                <a:cs typeface="+mn-cs"/>
              </a:rPr>
              <a:t>：剛做完 SFT 的原始 LLM，用來當作對照組，確保 Actor 不要「改得太誇張（獎勵作弊）」。</a:t>
            </a:r>
          </a:p>
          <a:p>
            <a:r>
              <a:rPr lang="zh-TW" altLang="zh-TW" sz="1200" b="1" u="none" strike="noStrike" kern="1200" dirty="0">
                <a:solidFill>
                  <a:schemeClr val="tx1"/>
                </a:solidFill>
                <a:effectLst/>
                <a:latin typeface="+mn-lt"/>
                <a:ea typeface="+mn-ea"/>
                <a:cs typeface="+mn-cs"/>
              </a:rPr>
              <a:t>Reward Model（獎勵模型）</a:t>
            </a:r>
            <a:r>
              <a:rPr lang="zh-TW" altLang="zh-TW" sz="1200" b="0" u="none" strike="noStrike" kern="1200" dirty="0">
                <a:solidFill>
                  <a:schemeClr val="tx1"/>
                </a:solidFill>
                <a:effectLst/>
                <a:latin typeface="+mn-lt"/>
                <a:ea typeface="+mn-ea"/>
                <a:cs typeface="+mn-cs"/>
              </a:rPr>
              <a:t>：模擬人類偏好的「裁判」，Actor 講得好就給高分，講得差（如髒話、偏見）就扣分。</a:t>
            </a:r>
          </a:p>
          <a:p>
            <a:r>
              <a:rPr lang="zh-TW" altLang="zh-TW" sz="1200" b="1" u="none" strike="noStrike" kern="1200" dirty="0">
                <a:solidFill>
                  <a:schemeClr val="tx1"/>
                </a:solidFill>
                <a:effectLst/>
                <a:latin typeface="+mn-lt"/>
                <a:ea typeface="+mn-ea"/>
                <a:cs typeface="+mn-cs"/>
              </a:rPr>
              <a:t>Critic（評論員）</a:t>
            </a:r>
            <a:r>
              <a:rPr lang="zh-TW" altLang="zh-TW" sz="1200" b="0" u="none" strike="noStrike" kern="1200" dirty="0">
                <a:solidFill>
                  <a:schemeClr val="tx1"/>
                </a:solidFill>
                <a:effectLst/>
                <a:latin typeface="+mn-lt"/>
                <a:ea typeface="+mn-ea"/>
                <a:cs typeface="+mn-cs"/>
              </a:rPr>
              <a:t>：負責評估當前局勢與預期得分的「教練」。</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核心機制</a:t>
            </a:r>
            <a:r>
              <a:rPr lang="zh-TW" altLang="zh-TW" sz="1200" b="0" u="none" strike="noStrike" kern="1200" dirty="0">
                <a:solidFill>
                  <a:schemeClr val="tx1"/>
                </a:solidFill>
                <a:effectLst/>
                <a:latin typeface="+mn-lt"/>
                <a:ea typeface="+mn-ea"/>
                <a:cs typeface="+mn-cs"/>
              </a:rPr>
              <a:t>：PPO 透過「剪裁機制（Clipping）」限制每次權重更新的幅度。這能防止模型因為某一次拿到極高分或極低分，而導致整個模型「練壞或崩潰」。</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極度消耗顯存與算力</a:t>
            </a:r>
            <a:r>
              <a:rPr lang="zh-TW" altLang="zh-TW" sz="1200" b="0" u="none" strike="noStrike" kern="1200" dirty="0">
                <a:solidFill>
                  <a:schemeClr val="tx1"/>
                </a:solidFill>
                <a:effectLst/>
                <a:latin typeface="+mn-lt"/>
                <a:ea typeface="+mn-ea"/>
                <a:cs typeface="+mn-cs"/>
              </a:rPr>
              <a:t>。因為 GPU 必須同時加載 4 個大模型，且訓練過程極不穩定，調參非常痛苦。</a:t>
            </a:r>
          </a:p>
          <a:p>
            <a:br>
              <a:rPr lang="zh-TW" altLang="zh-TW" dirty="0"/>
            </a:br>
            <a:r>
              <a:rPr lang="en-US" altLang="zh-TW" dirty="0"/>
              <a:t>2.</a:t>
            </a:r>
            <a:r>
              <a:rPr lang="zh-TW" altLang="en-US" dirty="0"/>
              <a:t> </a:t>
            </a:r>
            <a:r>
              <a:rPr lang="zh-TW" altLang="zh-TW" dirty="0"/>
              <a:t>DPO（Direct Preference Optimization，直接偏好優化）</a:t>
            </a:r>
            <a:r>
              <a:rPr lang="en-US" altLang="zh-TW" dirty="0"/>
              <a:t>2023</a:t>
            </a:r>
            <a:r>
              <a:rPr lang="zh-TW" altLang="en-US" dirty="0"/>
              <a:t>史丹佛大學</a:t>
            </a:r>
            <a:br>
              <a:rPr lang="en-US" altLang="zh-TW" dirty="0"/>
            </a:br>
            <a:r>
              <a:rPr lang="zh-TW" altLang="zh-TW" dirty="0"/>
              <a:t>DPO 的出現是一場</a:t>
            </a:r>
            <a:r>
              <a:rPr lang="zh-TW" altLang="zh-TW" sz="1200" b="1" u="none" strike="noStrike" kern="1200" dirty="0">
                <a:solidFill>
                  <a:schemeClr val="tx1"/>
                </a:solidFill>
                <a:effectLst/>
                <a:latin typeface="+mn-lt"/>
                <a:ea typeface="+mn-ea"/>
                <a:cs typeface="+mn-cs"/>
              </a:rPr>
              <a:t>顛覆性的數學簡化</a:t>
            </a:r>
            <a:r>
              <a:rPr lang="zh-TW" altLang="zh-TW" dirty="0"/>
              <a:t>。它的核心思想是：「既然 PPO 繞了這麼大一圈（先訓獎勵模型，再用強化學習去對齊），</a:t>
            </a:r>
            <a:endParaRPr lang="en-US" altLang="zh-TW" dirty="0"/>
          </a:p>
          <a:p>
            <a:r>
              <a:rPr lang="zh-TW" altLang="zh-TW" dirty="0"/>
              <a:t>我們為什麼不直接用數學公式，把人類的偏好直接套在 LLM 上微調？」</a:t>
            </a:r>
          </a:p>
          <a:p>
            <a:endParaRPr lang="zh-TW"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a. </a:t>
            </a:r>
            <a:r>
              <a:rPr lang="zh-TW" altLang="zh-TW" sz="1200" b="1" u="none" strike="noStrike" kern="1200" dirty="0">
                <a:solidFill>
                  <a:schemeClr val="tx1"/>
                </a:solidFill>
                <a:effectLst/>
                <a:latin typeface="+mn-lt"/>
                <a:ea typeface="+mn-ea"/>
                <a:cs typeface="+mn-cs"/>
              </a:rPr>
              <a:t>數學替代</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DPO 的作者證明了恆等式</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「大語言模型本身的生成機率，其實就可以直接推導出隱含的獎勵分數」</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b. </a:t>
            </a:r>
            <a:r>
              <a:rPr lang="zh-TW" altLang="zh-TW" sz="1200" b="1" u="none" strike="noStrike" kern="1200" dirty="0">
                <a:solidFill>
                  <a:schemeClr val="tx1"/>
                </a:solidFill>
                <a:effectLst/>
                <a:latin typeface="+mn-lt"/>
                <a:ea typeface="+mn-ea"/>
                <a:cs typeface="+mn-cs"/>
              </a:rPr>
              <a:t>拋棄傳統強化學習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因為上述發現，DPO </a:t>
            </a:r>
            <a:r>
              <a:rPr lang="zh-TW" altLang="zh-TW" sz="1200" b="1" u="none" strike="noStrike" kern="1200" dirty="0">
                <a:solidFill>
                  <a:schemeClr val="tx1"/>
                </a:solidFill>
                <a:effectLst/>
                <a:latin typeface="+mn-lt"/>
                <a:ea typeface="+mn-ea"/>
                <a:cs typeface="+mn-cs"/>
              </a:rPr>
              <a:t>直接砍掉了「獎勵模型」與「評論員模型」</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c. </a:t>
            </a:r>
            <a:r>
              <a:rPr lang="zh-TW" altLang="zh-TW" sz="1200" b="1" u="none" strike="noStrike" kern="1200" dirty="0">
                <a:solidFill>
                  <a:schemeClr val="tx1"/>
                </a:solidFill>
                <a:effectLst/>
                <a:latin typeface="+mn-lt"/>
                <a:ea typeface="+mn-ea"/>
                <a:cs typeface="+mn-cs"/>
              </a:rPr>
              <a:t>直接分類學習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訓練資料只需要成對的偏好數據：一個提示詞（Prompt），搭配一個好回答（Chosen）與一個壞回答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Rejected</a:t>
            </a: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效果</a:t>
            </a:r>
            <a:r>
              <a:rPr lang="zh-TW" altLang="zh-TW" sz="1200" b="0" u="none" strike="noStrike" kern="1200" dirty="0">
                <a:solidFill>
                  <a:schemeClr val="tx1"/>
                </a:solidFill>
                <a:effectLst/>
                <a:latin typeface="+mn-lt"/>
                <a:ea typeface="+mn-ea"/>
                <a:cs typeface="+mn-cs"/>
              </a:rPr>
              <a:t>：將複雜的強化學習，直接簡化為普通的</a:t>
            </a:r>
            <a:r>
              <a:rPr lang="zh-TW" altLang="zh-TW" sz="1200" b="1" u="none" strike="noStrike" kern="1200" dirty="0">
                <a:solidFill>
                  <a:schemeClr val="tx1"/>
                </a:solidFill>
                <a:effectLst/>
                <a:latin typeface="+mn-lt"/>
                <a:ea typeface="+mn-ea"/>
                <a:cs typeface="+mn-cs"/>
              </a:rPr>
              <a:t>監督式二元分類任務（Binary Classification）</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74594A81-2AB8-1C7D-0016-4C3AEAD9A2B0}"/>
              </a:ext>
            </a:extLst>
          </p:cNvPr>
          <p:cNvSpPr>
            <a:spLocks noGrp="1"/>
          </p:cNvSpPr>
          <p:nvPr>
            <p:ph type="sldNum" sz="quarter" idx="5"/>
          </p:nvPr>
        </p:nvSpPr>
        <p:spPr/>
        <p:txBody>
          <a:bodyPr/>
          <a:lstStyle/>
          <a:p>
            <a:fld id="{E3A6CE5E-F349-486D-8749-82EF2AD71FA8}" type="slidenum">
              <a:rPr lang="zh-TW" altLang="en-US" smtClean="0"/>
              <a:t>20</a:t>
            </a:fld>
            <a:endParaRPr lang="zh-TW" altLang="en-US"/>
          </a:p>
        </p:txBody>
      </p:sp>
    </p:spTree>
    <p:extLst>
      <p:ext uri="{BB962C8B-B14F-4D97-AF65-F5344CB8AC3E}">
        <p14:creationId xmlns:p14="http://schemas.microsoft.com/office/powerpoint/2010/main" val="2553433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926C-9EED-C470-ED03-7E77F76569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7F5C9E-88DB-47B1-6582-F37455330CF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42B8BCA-D2D3-D8F3-5EF4-B9A54DB6AD62}"/>
              </a:ext>
            </a:extLst>
          </p:cNvPr>
          <p:cNvSpPr>
            <a:spLocks noGrp="1"/>
          </p:cNvSpPr>
          <p:nvPr>
            <p:ph type="body" idx="1"/>
          </p:nvPr>
        </p:nvSpPr>
        <p:spPr/>
        <p:txBody>
          <a:bodyPr/>
          <a:lstStyle/>
          <a:p>
            <a:r>
              <a:rPr lang="zh-TW" altLang="zh-TW" dirty="0"/>
              <a:t>在傳統的 Transformer 架構中，模型運作會面臨兩個維度的資訊損耗：</a:t>
            </a:r>
            <a:endParaRPr lang="en-US" altLang="zh-TW" dirty="0"/>
          </a:p>
          <a:p>
            <a:r>
              <a:rPr lang="zh-TW" altLang="zh-TW" dirty="0"/>
              <a:t>一個是文字序列越長，記憶體越容易爆掉（水平瓶頸）；</a:t>
            </a:r>
            <a:endParaRPr lang="en-US" altLang="zh-TW" dirty="0"/>
          </a:p>
          <a:p>
            <a:r>
              <a:rPr lang="zh-TW" altLang="zh-TW" dirty="0"/>
              <a:t>另一個是神經網路層數越深，早期的重要訊號越容易被後面的層沖淡（垂直瓶頸）。</a:t>
            </a:r>
            <a:endParaRPr lang="en-US" altLang="zh-TW" dirty="0"/>
          </a:p>
          <a:p>
            <a:r>
              <a:rPr lang="zh-TW" altLang="zh-TW" dirty="0"/>
              <a:t>Kimi 的解法是將「注意力機制」同時應用在這兩個維度：</a:t>
            </a:r>
            <a:endParaRPr lang="zh-TW" altLang="en-US" dirty="0"/>
          </a:p>
        </p:txBody>
      </p:sp>
      <p:sp>
        <p:nvSpPr>
          <p:cNvPr id="4" name="投影片編號版面配置區 3">
            <a:extLst>
              <a:ext uri="{FF2B5EF4-FFF2-40B4-BE49-F238E27FC236}">
                <a16:creationId xmlns:a16="http://schemas.microsoft.com/office/drawing/2014/main" id="{3B417082-2C85-C436-A2CB-60D654461411}"/>
              </a:ext>
            </a:extLst>
          </p:cNvPr>
          <p:cNvSpPr>
            <a:spLocks noGrp="1"/>
          </p:cNvSpPr>
          <p:nvPr>
            <p:ph type="sldNum" sz="quarter" idx="5"/>
          </p:nvPr>
        </p:nvSpPr>
        <p:spPr/>
        <p:txBody>
          <a:bodyPr/>
          <a:lstStyle/>
          <a:p>
            <a:fld id="{E3A6CE5E-F349-486D-8749-82EF2AD71FA8}" type="slidenum">
              <a:rPr lang="zh-TW" altLang="en-US" smtClean="0"/>
              <a:t>21</a:t>
            </a:fld>
            <a:endParaRPr lang="zh-TW" altLang="en-US"/>
          </a:p>
        </p:txBody>
      </p:sp>
    </p:spTree>
    <p:extLst>
      <p:ext uri="{BB962C8B-B14F-4D97-AF65-F5344CB8AC3E}">
        <p14:creationId xmlns:p14="http://schemas.microsoft.com/office/powerpoint/2010/main" val="3879601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DBA0-5016-15B9-B336-967BC65044C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8CEE158-7518-B36E-6B39-A56DF4E6EB9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AE68B9F-F26F-17C6-19AE-499CDA9202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E5C4B865-7765-C3FC-A6C5-674D1B923E08}"/>
              </a:ext>
            </a:extLst>
          </p:cNvPr>
          <p:cNvSpPr>
            <a:spLocks noGrp="1"/>
          </p:cNvSpPr>
          <p:nvPr>
            <p:ph type="sldNum" sz="quarter" idx="5"/>
          </p:nvPr>
        </p:nvSpPr>
        <p:spPr/>
        <p:txBody>
          <a:bodyPr/>
          <a:lstStyle/>
          <a:p>
            <a:fld id="{E3A6CE5E-F349-486D-8749-82EF2AD71FA8}" type="slidenum">
              <a:rPr lang="zh-TW" altLang="en-US" smtClean="0"/>
              <a:t>22</a:t>
            </a:fld>
            <a:endParaRPr lang="zh-TW" altLang="en-US"/>
          </a:p>
        </p:txBody>
      </p:sp>
    </p:spTree>
    <p:extLst>
      <p:ext uri="{BB962C8B-B14F-4D97-AF65-F5344CB8AC3E}">
        <p14:creationId xmlns:p14="http://schemas.microsoft.com/office/powerpoint/2010/main" val="803191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dirty="0"/>
              <a:t>以下為你將所有與 AI Agent 相關的專有名詞，由原本的表格形式全部改為</a:t>
            </a:r>
            <a:r>
              <a:rPr lang="zh-TW" altLang="zh-TW" b="1" dirty="0"/>
              <a:t>純文字列表</a:t>
            </a:r>
            <a:r>
              <a:rPr lang="zh-TW" altLang="zh-TW" dirty="0"/>
              <a:t>呈現。</a:t>
            </a:r>
          </a:p>
          <a:p>
            <a:r>
              <a:rPr lang="zh-TW" altLang="zh-TW" dirty="0"/>
              <a:t>每個項目均嚴格包含：</a:t>
            </a:r>
            <a:r>
              <a:rPr lang="zh-TW" altLang="zh-TW" b="1" dirty="0"/>
              <a:t>縮寫 / 名詞、英文全稱、繁體中文、中文說明</a:t>
            </a:r>
            <a:r>
              <a:rPr lang="zh-TW" altLang="zh-TW" dirty="0"/>
              <a:t>，並透過區塊與粗體維持極佳的 scannability（可讀性），方便你直接複製使用。</a:t>
            </a:r>
          </a:p>
          <a:p>
            <a:r>
              <a:rPr lang="zh-TW" altLang="zh-TW" b="1" dirty="0"/>
              <a:t>一、 核心架構與模型層 (Core Architecture &amp; Models)</a:t>
            </a:r>
          </a:p>
          <a:p>
            <a:r>
              <a:rPr lang="zh-TW" altLang="zh-TW" b="1" dirty="0"/>
              <a:t>Agent</a:t>
            </a:r>
            <a:r>
              <a:rPr lang="zh-TW" altLang="zh-TW" dirty="0"/>
              <a:t> (AI Agent / Autonomous Agent) —— 人工智慧代理 / 自主代理</a:t>
            </a:r>
          </a:p>
          <a:p>
            <a:pPr lvl="1"/>
            <a:r>
              <a:rPr lang="zh-TW" altLang="zh-TW" b="1" dirty="0"/>
              <a:t>說明：</a:t>
            </a:r>
            <a:r>
              <a:rPr lang="zh-TW" altLang="zh-TW" dirty="0"/>
              <a:t> 具備感知、思考、自主規劃並能調用工具操作現實的 AI 實體。</a:t>
            </a:r>
          </a:p>
          <a:p>
            <a:r>
              <a:rPr lang="zh-TW" altLang="zh-TW" b="1" dirty="0"/>
              <a:t>LLM</a:t>
            </a:r>
            <a:r>
              <a:rPr lang="zh-TW" altLang="zh-TW" dirty="0"/>
              <a:t> (Large Language Model) —— 大型語言模型</a:t>
            </a:r>
          </a:p>
          <a:p>
            <a:pPr lvl="1"/>
            <a:r>
              <a:rPr lang="zh-TW" altLang="zh-TW" b="1" dirty="0"/>
              <a:t>說明：</a:t>
            </a:r>
            <a:r>
              <a:rPr lang="zh-TW" altLang="zh-TW" dirty="0"/>
              <a:t> Agent 的核心大腦，負責語言理解、常識推理與決策。</a:t>
            </a:r>
          </a:p>
          <a:p>
            <a:r>
              <a:rPr lang="zh-TW" altLang="zh-TW" b="1" dirty="0"/>
              <a:t>VLM / MLLM</a:t>
            </a:r>
            <a:r>
              <a:rPr lang="zh-TW" altLang="zh-TW" dirty="0"/>
              <a:t> (Vision-Language Model / Multi-modal LLM) —— 視覺語言模型 / 多模態大模型</a:t>
            </a:r>
          </a:p>
          <a:p>
            <a:pPr lvl="1"/>
            <a:r>
              <a:rPr lang="zh-TW" altLang="zh-TW" b="1" dirty="0"/>
              <a:t>說明：</a:t>
            </a:r>
            <a:r>
              <a:rPr lang="zh-TW" altLang="zh-TW" dirty="0"/>
              <a:t> 賦予 Agent 眼睛（看懂螢幕截圖、網頁 UI 或真實世界影像）的大腦。</a:t>
            </a:r>
          </a:p>
          <a:p>
            <a:r>
              <a:rPr lang="zh-TW" altLang="zh-TW" b="1" dirty="0"/>
              <a:t>SLM</a:t>
            </a:r>
            <a:r>
              <a:rPr lang="zh-TW" altLang="zh-TW" dirty="0"/>
              <a:t> (Small Language Model) —— 小型語言模型</a:t>
            </a:r>
          </a:p>
          <a:p>
            <a:pPr lvl="1"/>
            <a:r>
              <a:rPr lang="zh-TW" altLang="zh-TW" b="1" dirty="0"/>
              <a:t>說明：</a:t>
            </a:r>
            <a:r>
              <a:rPr lang="zh-TW" altLang="zh-TW" dirty="0"/>
              <a:t> 輕量化模型，常用於端點設備（Edge）或專職執行單一工具的邊緣 Agent。</a:t>
            </a:r>
          </a:p>
          <a:p>
            <a:r>
              <a:rPr lang="zh-TW" altLang="zh-TW" b="1" dirty="0"/>
              <a:t>HITL</a:t>
            </a:r>
            <a:r>
              <a:rPr lang="zh-TW" altLang="zh-TW" dirty="0"/>
              <a:t> (Human-in-the-Loop) —— 人類在環 / 人機協同</a:t>
            </a:r>
          </a:p>
          <a:p>
            <a:pPr lvl="1"/>
            <a:r>
              <a:rPr lang="zh-TW" altLang="zh-TW" b="1" dirty="0"/>
              <a:t>說明：</a:t>
            </a:r>
            <a:r>
              <a:rPr lang="zh-TW" altLang="zh-TW" dirty="0"/>
              <a:t> 在 Agent 循環中加入人工作為審查、確認或中斷的防禦機制。</a:t>
            </a:r>
          </a:p>
          <a:p>
            <a:r>
              <a:rPr lang="zh-TW" altLang="zh-TW" b="1" dirty="0"/>
              <a:t>Embodied AI</a:t>
            </a:r>
            <a:r>
              <a:rPr lang="zh-TW" altLang="zh-TW" dirty="0"/>
              <a:t> (Embodied Artificial Intelligence) —— 具身智能</a:t>
            </a:r>
          </a:p>
          <a:p>
            <a:pPr lvl="1"/>
            <a:r>
              <a:rPr lang="zh-TW" altLang="zh-TW" b="1" dirty="0"/>
              <a:t>說明：</a:t>
            </a:r>
            <a:r>
              <a:rPr lang="zh-TW" altLang="zh-TW" dirty="0"/>
              <a:t> 將 Agent 大腦注入到物理實體（如機器人、無人機）中，使其具備操作物理世界的能力。</a:t>
            </a:r>
          </a:p>
          <a:p>
            <a:r>
              <a:rPr lang="zh-TW" altLang="zh-TW" b="1" dirty="0"/>
              <a:t>Substrate</a:t>
            </a:r>
            <a:r>
              <a:rPr lang="zh-TW" altLang="zh-TW" dirty="0"/>
              <a:t> (Substrate) —— 底層載體 / 介質</a:t>
            </a:r>
          </a:p>
          <a:p>
            <a:pPr lvl="1"/>
            <a:r>
              <a:rPr lang="zh-TW" altLang="zh-TW" b="1" dirty="0"/>
              <a:t>說明：</a:t>
            </a:r>
            <a:r>
              <a:rPr lang="zh-TW" altLang="zh-TW" dirty="0"/>
              <a:t> 指 AI 運行的環境基礎（如「碳基」代表人類肉身、「矽基」代表數位電腦晶片）。</a:t>
            </a:r>
          </a:p>
          <a:p>
            <a:r>
              <a:rPr lang="zh-TW" altLang="zh-TW" b="1" dirty="0"/>
              <a:t>二、 自主規劃與推理框架 (Planning &amp; Reasoning)</a:t>
            </a:r>
          </a:p>
          <a:p>
            <a:r>
              <a:rPr lang="zh-TW" altLang="zh-TW" b="1" dirty="0"/>
              <a:t>ReAct</a:t>
            </a:r>
            <a:r>
              <a:rPr lang="zh-TW" altLang="zh-TW" dirty="0"/>
              <a:t> (Reasoning and Acting) —— 推理與行動框架</a:t>
            </a:r>
          </a:p>
          <a:p>
            <a:pPr lvl="1"/>
            <a:r>
              <a:rPr lang="zh-TW" altLang="zh-TW" b="1" dirty="0"/>
              <a:t>說明：</a:t>
            </a:r>
            <a:r>
              <a:rPr lang="zh-TW" altLang="zh-TW" dirty="0"/>
              <a:t> Agent 最經典的底層邏輯——交替進行「思考（Thought）」➔「行動（Action）」➔「觀察反饋（Observation）」。</a:t>
            </a:r>
          </a:p>
          <a:p>
            <a:r>
              <a:rPr lang="zh-TW" altLang="zh-TW" b="1" dirty="0"/>
              <a:t>CoT</a:t>
            </a:r>
            <a:r>
              <a:rPr lang="zh-TW" altLang="zh-TW" dirty="0"/>
              <a:t> (Chain of Thought) —— 思維鏈</a:t>
            </a:r>
          </a:p>
          <a:p>
            <a:pPr lvl="1"/>
            <a:r>
              <a:rPr lang="zh-TW" altLang="zh-TW" b="1" dirty="0"/>
              <a:t>說明：</a:t>
            </a:r>
            <a:r>
              <a:rPr lang="zh-TW" altLang="zh-TW" dirty="0"/>
              <a:t> 引導大腦將複雜問題拆解，一步步寫出推理過程（"Let's think step by step"）。</a:t>
            </a:r>
          </a:p>
          <a:p>
            <a:r>
              <a:rPr lang="zh-TW" altLang="zh-TW" b="1" dirty="0"/>
              <a:t>ToT</a:t>
            </a:r>
            <a:r>
              <a:rPr lang="zh-TW" altLang="zh-TW" dirty="0"/>
              <a:t> (Tree of Thoughts) —— 思維樹</a:t>
            </a:r>
          </a:p>
          <a:p>
            <a:pPr lvl="1"/>
            <a:r>
              <a:rPr lang="zh-TW" altLang="zh-TW" b="1" dirty="0"/>
              <a:t>說明：</a:t>
            </a:r>
            <a:r>
              <a:rPr lang="zh-TW" altLang="zh-TW" dirty="0"/>
              <a:t> 大腦在規劃時探索多條可能的決策路徑，並具備回溯（Backtracking）與評估能力。</a:t>
            </a:r>
          </a:p>
          <a:p>
            <a:r>
              <a:rPr lang="zh-TW" altLang="zh-TW" b="1" dirty="0"/>
              <a:t>GoT</a:t>
            </a:r>
            <a:r>
              <a:rPr lang="zh-TW" altLang="zh-TW" dirty="0"/>
              <a:t> (Graph of Thoughts) —— 思維圖</a:t>
            </a:r>
          </a:p>
          <a:p>
            <a:pPr lvl="1"/>
            <a:r>
              <a:rPr lang="zh-TW" altLang="zh-TW" b="1" dirty="0"/>
              <a:t>說明：</a:t>
            </a:r>
            <a:r>
              <a:rPr lang="zh-TW" altLang="zh-TW" dirty="0"/>
              <a:t> 允許不同的思維網絡互相交織、結合或分岔，模擬人類大腦更複雜的非線性思考。</a:t>
            </a:r>
          </a:p>
          <a:p>
            <a:r>
              <a:rPr lang="zh-TW" altLang="zh-TW" b="1" dirty="0"/>
              <a:t>Reflexion</a:t>
            </a:r>
            <a:r>
              <a:rPr lang="zh-TW" altLang="zh-TW" dirty="0"/>
              <a:t> (Reflexion Framework) —— 自我反思架構</a:t>
            </a:r>
          </a:p>
          <a:p>
            <a:pPr lvl="1"/>
            <a:r>
              <a:rPr lang="zh-TW" altLang="zh-TW" b="1" dirty="0"/>
              <a:t>說明：</a:t>
            </a:r>
            <a:r>
              <a:rPr lang="zh-TW" altLang="zh-TW" dirty="0"/>
              <a:t> Agent 執行失敗時，透過評估模塊自我批判（Self-Criticism），將失敗轉化為記憶以修正下一次的規劃。</a:t>
            </a:r>
          </a:p>
          <a:p>
            <a:r>
              <a:rPr lang="zh-TW" altLang="zh-TW" b="1" dirty="0"/>
              <a:t>Task Decomposition</a:t>
            </a:r>
            <a:r>
              <a:rPr lang="zh-TW" altLang="zh-TW" dirty="0"/>
              <a:t> (Task Decomposition) —— 任務拆解</a:t>
            </a:r>
          </a:p>
          <a:p>
            <a:pPr lvl="1"/>
            <a:r>
              <a:rPr lang="zh-TW" altLang="zh-TW" b="1" dirty="0"/>
              <a:t>說明：</a:t>
            </a:r>
            <a:r>
              <a:rPr lang="zh-TW" altLang="zh-TW" dirty="0"/>
              <a:t> 大腦將一個宏大的終極目標（Goal），細分為多個可執行的子任務（Sub-tasks）。</a:t>
            </a:r>
          </a:p>
          <a:p>
            <a:r>
              <a:rPr lang="zh-TW" altLang="zh-TW" b="1" dirty="0"/>
              <a:t>Plan-and-Solve</a:t>
            </a:r>
            <a:r>
              <a:rPr lang="zh-TW" altLang="zh-TW" dirty="0"/>
              <a:t> (Plan-and-Solve Prompting) —— 計畫與解決</a:t>
            </a:r>
          </a:p>
          <a:p>
            <a:pPr lvl="1"/>
            <a:r>
              <a:rPr lang="zh-TW" altLang="zh-TW" b="1" dirty="0"/>
              <a:t>說明：</a:t>
            </a:r>
            <a:r>
              <a:rPr lang="zh-TW" altLang="zh-TW" dirty="0"/>
              <a:t> 先宏觀制定完整計畫，再依序執行，用以減少 CoT 過程中因走一步算一步而產生的計算偏差。</a:t>
            </a:r>
          </a:p>
          <a:p>
            <a:r>
              <a:rPr lang="zh-TW" altLang="zh-TW" b="1" dirty="0"/>
              <a:t>三、 記憶與脈絡工程 (Memory &amp; Context)</a:t>
            </a:r>
          </a:p>
          <a:p>
            <a:r>
              <a:rPr lang="zh-TW" altLang="zh-TW" b="1" dirty="0"/>
              <a:t>RAG</a:t>
            </a:r>
            <a:r>
              <a:rPr lang="zh-TW" altLang="zh-TW" dirty="0"/>
              <a:t> (Retrieval-Augmented Generation) —— 檢索增強生成</a:t>
            </a:r>
          </a:p>
          <a:p>
            <a:pPr lvl="1"/>
            <a:r>
              <a:rPr lang="zh-TW" altLang="zh-TW" b="1" dirty="0"/>
              <a:t>說明：</a:t>
            </a:r>
            <a:r>
              <a:rPr lang="zh-TW" altLang="zh-TW" dirty="0"/>
              <a:t> Agent 從外部知識庫動態撈取資料注入 Context，解決幻覺與長時記憶不足的問題。</a:t>
            </a:r>
          </a:p>
          <a:p>
            <a:r>
              <a:rPr lang="zh-TW" altLang="zh-TW" b="1" dirty="0"/>
              <a:t>Vector DB</a:t>
            </a:r>
            <a:r>
              <a:rPr lang="zh-TW" altLang="zh-TW" dirty="0"/>
              <a:t> (Vector Database) —— 向量資料庫</a:t>
            </a:r>
          </a:p>
          <a:p>
            <a:pPr lvl="1"/>
            <a:r>
              <a:rPr lang="zh-TW" altLang="zh-TW" b="1" dirty="0"/>
              <a:t>說明：</a:t>
            </a:r>
            <a:r>
              <a:rPr lang="zh-TW" altLang="zh-TW" dirty="0"/>
              <a:t> 將文字轉為高維度向量，用於 Agent 的長期記憶（Long-term Memory）檢索。</a:t>
            </a:r>
          </a:p>
          <a:p>
            <a:r>
              <a:rPr lang="zh-TW" altLang="zh-TW" b="1" dirty="0"/>
              <a:t>Embedding</a:t>
            </a:r>
            <a:r>
              <a:rPr lang="zh-TW" altLang="zh-TW" dirty="0"/>
              <a:t> (Semantic Embedding) —— 語意嵌入</a:t>
            </a:r>
          </a:p>
          <a:p>
            <a:pPr lvl="1"/>
            <a:r>
              <a:rPr lang="zh-TW" altLang="zh-TW" b="1" dirty="0"/>
              <a:t>說明：</a:t>
            </a:r>
            <a:r>
              <a:rPr lang="zh-TW" altLang="zh-TW" dirty="0"/>
              <a:t> 將文字、圖片轉化為數學向量的技術，是 Agent 進行「相似度查找」的底層基礎。</a:t>
            </a:r>
          </a:p>
          <a:p>
            <a:r>
              <a:rPr lang="zh-TW" altLang="zh-TW" b="1" dirty="0"/>
              <a:t>Short-term Memory</a:t>
            </a:r>
            <a:r>
              <a:rPr lang="zh-TW" altLang="zh-TW" dirty="0"/>
              <a:t> (Short-term Memory) —— 短期記憶</a:t>
            </a:r>
          </a:p>
          <a:p>
            <a:pPr lvl="1"/>
            <a:r>
              <a:rPr lang="zh-TW" altLang="zh-TW" b="1" dirty="0"/>
              <a:t>說明：</a:t>
            </a:r>
            <a:r>
              <a:rPr lang="zh-TW" altLang="zh-TW" dirty="0"/>
              <a:t> 當前會話（Session）的對話歷史與中途狀態，隨著 Context 視窗滿載會被丟棄。</a:t>
            </a:r>
          </a:p>
          <a:p>
            <a:r>
              <a:rPr lang="zh-TW" altLang="zh-TW" b="1" dirty="0"/>
              <a:t>Long-term Memory</a:t>
            </a:r>
            <a:r>
              <a:rPr lang="zh-TW" altLang="zh-TW" dirty="0"/>
              <a:t> (Long-term Memory) —— 長期記憶</a:t>
            </a:r>
          </a:p>
          <a:p>
            <a:pPr lvl="1"/>
            <a:r>
              <a:rPr lang="zh-TW" altLang="zh-TW" b="1" dirty="0"/>
              <a:t>說明：</a:t>
            </a:r>
            <a:r>
              <a:rPr lang="zh-TW" altLang="zh-TW" dirty="0"/>
              <a:t> 跨越不同對話、長久保存的用戶偏好、公司規章與過去的成功 SOP。</a:t>
            </a:r>
          </a:p>
          <a:p>
            <a:r>
              <a:rPr lang="zh-TW" altLang="zh-TW" b="1" dirty="0"/>
              <a:t>Context Window</a:t>
            </a:r>
            <a:r>
              <a:rPr lang="zh-TW" altLang="zh-TW" dirty="0"/>
              <a:t> (Context Window) —— 上下文視窗 / 脈絡空間</a:t>
            </a:r>
          </a:p>
          <a:p>
            <a:pPr lvl="1"/>
            <a:r>
              <a:rPr lang="zh-TW" altLang="zh-TW" b="1" dirty="0"/>
              <a:t>說明：</a:t>
            </a:r>
            <a:r>
              <a:rPr lang="zh-TW" altLang="zh-TW" dirty="0"/>
              <a:t> 模型單次運算能讀取的最大 Token 限制（大腦的 RAM 限制）。</a:t>
            </a:r>
          </a:p>
          <a:p>
            <a:r>
              <a:rPr lang="zh-TW" altLang="zh-TW" b="1" dirty="0"/>
              <a:t>Prompt Caching</a:t>
            </a:r>
            <a:r>
              <a:rPr lang="zh-TW" altLang="zh-TW" dirty="0"/>
              <a:t> (Prompt Caching) —— 提示詞快取</a:t>
            </a:r>
          </a:p>
          <a:p>
            <a:pPr lvl="1"/>
            <a:r>
              <a:rPr lang="zh-TW" altLang="zh-TW" b="1" dirty="0"/>
              <a:t>說明：</a:t>
            </a:r>
            <a:r>
              <a:rPr lang="zh-TW" altLang="zh-TW" dirty="0"/>
              <a:t> 將重複的系統提示或長期記憶鎖在伺服器記憶體中，降低 Agent 頻繁刷新的費用與延遲。</a:t>
            </a:r>
          </a:p>
          <a:p>
            <a:r>
              <a:rPr lang="zh-TW" altLang="zh-TW" b="1" dirty="0"/>
              <a:t>Lost in the Middle</a:t>
            </a:r>
            <a:r>
              <a:rPr lang="zh-TW" altLang="zh-TW" dirty="0"/>
              <a:t> (Lost in the Middle Effect) —— 迷失在中央</a:t>
            </a:r>
          </a:p>
          <a:p>
            <a:pPr lvl="1"/>
            <a:r>
              <a:rPr lang="zh-TW" altLang="zh-TW" b="1" dirty="0"/>
              <a:t>說明：</a:t>
            </a:r>
            <a:r>
              <a:rPr lang="zh-TW" altLang="zh-TW" dirty="0"/>
              <a:t> 長文本模型的通病——AI 容易注意到開頭和結尾，卻忽略埋在 Context 正中間的記憶資訊。</a:t>
            </a:r>
          </a:p>
          <a:p>
            <a:r>
              <a:rPr lang="zh-TW" altLang="zh-TW" b="1" dirty="0"/>
              <a:t>四、 工具呼叫與環境執行 (Tools &amp; Action)</a:t>
            </a:r>
          </a:p>
          <a:p>
            <a:r>
              <a:rPr lang="zh-TW" altLang="zh-TW" b="1" dirty="0"/>
              <a:t>Function Calling</a:t>
            </a:r>
            <a:r>
              <a:rPr lang="zh-TW" altLang="zh-TW" dirty="0"/>
              <a:t> (Function Calling / Tool Calling) —— 函數呼叫 / 工具調用</a:t>
            </a:r>
          </a:p>
          <a:p>
            <a:pPr lvl="1"/>
            <a:r>
              <a:rPr lang="zh-TW" altLang="zh-TW" b="1" dirty="0"/>
              <a:t>說明：</a:t>
            </a:r>
            <a:r>
              <a:rPr lang="zh-TW" altLang="zh-TW" dirty="0"/>
              <a:t> 模型識別意圖後，不輸出聊天文字，而是輸出標準結構化 JSON 參數的能力。</a:t>
            </a:r>
          </a:p>
          <a:p>
            <a:r>
              <a:rPr lang="zh-TW" altLang="zh-TW" b="1" dirty="0"/>
              <a:t>MCP</a:t>
            </a:r>
            <a:r>
              <a:rPr lang="zh-TW" altLang="zh-TW" dirty="0"/>
              <a:t> (Model Context Protocol) —— 模型上下文協議</a:t>
            </a:r>
          </a:p>
          <a:p>
            <a:pPr lvl="1"/>
            <a:r>
              <a:rPr lang="zh-TW" altLang="zh-TW" b="1" dirty="0"/>
              <a:t>說明：</a:t>
            </a:r>
            <a:r>
              <a:rPr lang="zh-TW" altLang="zh-TW" dirty="0"/>
              <a:t> Anthropic 倡導的開源標準，充當 AI 的統一 USB 接口，無縫連接各種資料與工具。</a:t>
            </a:r>
          </a:p>
          <a:p>
            <a:r>
              <a:rPr lang="zh-TW" altLang="zh-TW" b="1" dirty="0"/>
              <a:t>REPL</a:t>
            </a:r>
            <a:r>
              <a:rPr lang="zh-TW" altLang="zh-TW" dirty="0"/>
              <a:t> (Read-Eval-Print Loop) —— 互動式程式碼解譯器</a:t>
            </a:r>
          </a:p>
          <a:p>
            <a:pPr lvl="1"/>
            <a:r>
              <a:rPr lang="zh-TW" altLang="zh-TW" b="1" dirty="0"/>
              <a:t>說明：</a:t>
            </a:r>
            <a:r>
              <a:rPr lang="zh-TW" altLang="zh-TW" dirty="0"/>
              <a:t> Agent 自我撰寫 Python/JS 代碼後，直接在系統中執行、看結果並 debug 的工具。</a:t>
            </a:r>
          </a:p>
          <a:p>
            <a:r>
              <a:rPr lang="zh-TW" altLang="zh-TW" b="1" dirty="0"/>
              <a:t>Sandbox</a:t>
            </a:r>
            <a:r>
              <a:rPr lang="zh-TW" altLang="zh-TW" dirty="0"/>
              <a:t> (Secure Sandbox) —— 安全沙盒</a:t>
            </a:r>
          </a:p>
          <a:p>
            <a:pPr lvl="1"/>
            <a:r>
              <a:rPr lang="zh-TW" altLang="zh-TW" b="1" dirty="0"/>
              <a:t>說明：</a:t>
            </a:r>
            <a:r>
              <a:rPr lang="zh-TW" altLang="zh-TW" dirty="0"/>
              <a:t> 與核心系統物理隔離的虛擬環境（如 E2B），防止 Agent 執行的程式碼帶有病毒或寫入敏感檔案。</a:t>
            </a:r>
          </a:p>
          <a:p>
            <a:r>
              <a:rPr lang="zh-TW" altLang="zh-TW" b="1" dirty="0"/>
              <a:t>RPA</a:t>
            </a:r>
            <a:r>
              <a:rPr lang="zh-TW" altLang="zh-TW" dirty="0"/>
              <a:t> (Robotic Process Automation) —— 機器人流程自動化</a:t>
            </a:r>
          </a:p>
          <a:p>
            <a:pPr lvl="1"/>
            <a:r>
              <a:rPr lang="zh-TW" altLang="zh-TW" b="1" dirty="0"/>
              <a:t>說明：</a:t>
            </a:r>
            <a:r>
              <a:rPr lang="zh-TW" altLang="zh-TW" dirty="0"/>
              <a:t> 傳統寫死路徑的自動化腳本，現常作為 Agent 操作網頁、滑鼠與鍵盤的「手腳」。</a:t>
            </a:r>
          </a:p>
          <a:p>
            <a:r>
              <a:rPr lang="zh-TW" altLang="zh-TW" b="1" dirty="0"/>
              <a:t>BaaS</a:t>
            </a:r>
            <a:r>
              <a:rPr lang="zh-TW" altLang="zh-TW" dirty="0"/>
              <a:t> (Browser as a Service) —— 瀏覽器即服務</a:t>
            </a:r>
          </a:p>
          <a:p>
            <a:pPr lvl="1"/>
            <a:r>
              <a:rPr lang="zh-TW" altLang="zh-TW" b="1" dirty="0"/>
              <a:t>說明：</a:t>
            </a:r>
            <a:r>
              <a:rPr lang="zh-TW" altLang="zh-TW" dirty="0"/>
              <a:t> 雲端群控的無頭瀏覽器技術（如 Browserbase），提供 Agent 防封鎖、過驗證碼的上網環境。</a:t>
            </a:r>
          </a:p>
          <a:p>
            <a:r>
              <a:rPr lang="zh-TW" altLang="zh-TW" b="1" dirty="0"/>
              <a:t>Grounding</a:t>
            </a:r>
            <a:r>
              <a:rPr lang="zh-TW" altLang="zh-TW" dirty="0"/>
              <a:t> (UI Grounding / Semantic Grounding) —— 介面定位 / 語意落地</a:t>
            </a:r>
          </a:p>
          <a:p>
            <a:pPr lvl="1"/>
            <a:r>
              <a:rPr lang="zh-TW" altLang="zh-TW" b="1" dirty="0"/>
              <a:t>說明：</a:t>
            </a:r>
            <a:r>
              <a:rPr lang="zh-TW" altLang="zh-TW" dirty="0"/>
              <a:t> 多模態 Agent 將大腦理解的按鈕（如「購物車」），精確對齊到網頁上真實座標（X, Y）的技術。</a:t>
            </a:r>
          </a:p>
          <a:p>
            <a:r>
              <a:rPr lang="zh-TW" altLang="zh-TW" b="1" dirty="0"/>
              <a:t>Computer Use</a:t>
            </a:r>
            <a:r>
              <a:rPr lang="zh-TW" altLang="zh-TW" dirty="0"/>
              <a:t> (Computer Use API) —— 電腦操作 API</a:t>
            </a:r>
          </a:p>
          <a:p>
            <a:pPr lvl="1"/>
            <a:r>
              <a:rPr lang="zh-TW" altLang="zh-TW" b="1" dirty="0"/>
              <a:t>說明：</a:t>
            </a:r>
            <a:r>
              <a:rPr lang="zh-TW" altLang="zh-TW" dirty="0"/>
              <a:t> AI 直接看著作業系統的截圖，主動移動滑鼠、點擊與輸入，像真人一樣操作整台電腦。</a:t>
            </a:r>
          </a:p>
          <a:p>
            <a:r>
              <a:rPr lang="zh-TW" altLang="zh-TW" b="1" dirty="0"/>
              <a:t>五、 多代理協同與生態層 (Multi-Agent &amp; Ecosystem)</a:t>
            </a:r>
          </a:p>
          <a:p>
            <a:r>
              <a:rPr lang="zh-TW" altLang="zh-TW" b="1" dirty="0"/>
              <a:t>MAS</a:t>
            </a:r>
            <a:r>
              <a:rPr lang="zh-TW" altLang="zh-TW" dirty="0"/>
              <a:t> (Multi-Agent System) —— 多代理人系統</a:t>
            </a:r>
          </a:p>
          <a:p>
            <a:pPr lvl="1"/>
            <a:r>
              <a:rPr lang="zh-TW" altLang="zh-TW" b="1" dirty="0"/>
              <a:t>說明：</a:t>
            </a:r>
            <a:r>
              <a:rPr lang="zh-TW" altLang="zh-TW" dirty="0"/>
              <a:t> 由多個專職、不同分工的 Agent（如：經理、工程師、測試員）共同協同完成複雜任務的系統。</a:t>
            </a:r>
          </a:p>
          <a:p>
            <a:r>
              <a:rPr lang="zh-TW" altLang="zh-TW" b="1" dirty="0"/>
              <a:t>Orchestrator</a:t>
            </a:r>
            <a:r>
              <a:rPr lang="zh-TW" altLang="zh-TW" dirty="0"/>
              <a:t> (Orchestrator Pattern) —— 編排器模式</a:t>
            </a:r>
          </a:p>
          <a:p>
            <a:pPr lvl="1"/>
            <a:r>
              <a:rPr lang="zh-TW" altLang="zh-TW" b="1" dirty="0"/>
              <a:t>說明：</a:t>
            </a:r>
            <a:r>
              <a:rPr lang="zh-TW" altLang="zh-TW" dirty="0"/>
              <a:t> 由一個核心的主 Agent 負責統籌、分派任務給多個底層的子 Agent（Workers）。</a:t>
            </a:r>
          </a:p>
          <a:p>
            <a:r>
              <a:rPr lang="zh-TW" altLang="zh-TW" b="1" dirty="0"/>
              <a:t>Choreography</a:t>
            </a:r>
            <a:r>
              <a:rPr lang="zh-TW" altLang="zh-TW" dirty="0"/>
              <a:t> (Choreography Pattern) —— 編排舞蹈模式</a:t>
            </a:r>
          </a:p>
          <a:p>
            <a:pPr lvl="1"/>
            <a:r>
              <a:rPr lang="zh-TW" altLang="zh-TW" b="1" dirty="0"/>
              <a:t>說明：</a:t>
            </a:r>
            <a:r>
              <a:rPr lang="zh-TW" altLang="zh-TW" dirty="0"/>
              <a:t> Agent 之間沒有絕對的主導者，而是各自遵循 SOP 協議，自發性地互相傳遞接棒工作。</a:t>
            </a:r>
          </a:p>
          <a:p>
            <a:r>
              <a:rPr lang="zh-TW" altLang="zh-TW" b="1" dirty="0"/>
              <a:t>Router</a:t>
            </a:r>
            <a:r>
              <a:rPr lang="zh-TW" altLang="zh-TW" dirty="0"/>
              <a:t> (Agentic Router) —— 智慧型路由</a:t>
            </a:r>
          </a:p>
          <a:p>
            <a:pPr lvl="1"/>
            <a:r>
              <a:rPr lang="zh-TW" altLang="zh-TW" b="1" dirty="0"/>
              <a:t>說明：</a:t>
            </a:r>
            <a:r>
              <a:rPr lang="zh-TW" altLang="zh-TW" dirty="0"/>
              <a:t> 大腦根據用戶的輸入輸入，自動將任務導向最適合處理該問題的專用 Agent 或工具。</a:t>
            </a:r>
          </a:p>
          <a:p>
            <a:r>
              <a:rPr lang="zh-TW" altLang="zh-TW" b="1" dirty="0"/>
              <a:t>SOP</a:t>
            </a:r>
            <a:r>
              <a:rPr lang="zh-TW" altLang="zh-TW" dirty="0"/>
              <a:t> (Standard Operating Procedure) —— 標準作業程序</a:t>
            </a:r>
          </a:p>
          <a:p>
            <a:pPr lvl="1"/>
            <a:r>
              <a:rPr lang="zh-TW" altLang="zh-TW" b="1" dirty="0"/>
              <a:t>說明：</a:t>
            </a:r>
            <a:r>
              <a:rPr lang="zh-TW" altLang="zh-TW" dirty="0"/>
              <a:t> 寫在 Agent 框架中、硬性限制 Agents 之間溝通與執行順序的商務邏輯規則。</a:t>
            </a:r>
          </a:p>
          <a:p>
            <a:r>
              <a:rPr lang="zh-TW" altLang="zh-TW" b="1" dirty="0"/>
              <a:t>Swarm</a:t>
            </a:r>
            <a:r>
              <a:rPr lang="zh-TW" altLang="zh-TW" dirty="0"/>
              <a:t> (Swarm Intelligence) —— 群體智能</a:t>
            </a:r>
          </a:p>
          <a:p>
            <a:pPr lvl="1"/>
            <a:r>
              <a:rPr lang="zh-TW" altLang="zh-TW" b="1" dirty="0"/>
              <a:t>說明：</a:t>
            </a:r>
            <a:r>
              <a:rPr lang="zh-TW" altLang="zh-TW" dirty="0"/>
              <a:t> 大量微型、輕量化的 Agent 透過簡單的群體溝通協議，集體湧現出解決龐大問題的能力。</a:t>
            </a:r>
          </a:p>
          <a:p>
            <a:r>
              <a:rPr lang="zh-TW" altLang="zh-TW" b="1" dirty="0"/>
              <a:t>六、 資安、評估與對齊層 (Safety, Evaluation &amp; Alignment)</a:t>
            </a:r>
          </a:p>
          <a:p>
            <a:r>
              <a:rPr lang="zh-TW" altLang="zh-TW" b="1" dirty="0"/>
              <a:t>Guardrails</a:t>
            </a:r>
            <a:r>
              <a:rPr lang="zh-TW" altLang="zh-TW" dirty="0"/>
              <a:t> (LLM Guardrails) —— 護欄機制</a:t>
            </a:r>
          </a:p>
          <a:p>
            <a:pPr lvl="1"/>
            <a:r>
              <a:rPr lang="zh-TW" altLang="zh-TW" b="1" dirty="0"/>
              <a:t>說明：</a:t>
            </a:r>
            <a:r>
              <a:rPr lang="zh-TW" altLang="zh-TW" dirty="0"/>
              <a:t> 在 Agent 的輸入端與輸出端架設的安全過濾網（如 Llama Guard），硬性攔截不合規言論。</a:t>
            </a:r>
          </a:p>
          <a:p>
            <a:r>
              <a:rPr lang="zh-TW" altLang="zh-TW" b="1" dirty="0"/>
              <a:t>Prompt Injection</a:t>
            </a:r>
            <a:r>
              <a:rPr lang="zh-TW" altLang="zh-TW" dirty="0"/>
              <a:t> (Prompt Injection Attack) —— 提示詞注入攻擊</a:t>
            </a:r>
          </a:p>
          <a:p>
            <a:pPr lvl="1"/>
            <a:r>
              <a:rPr lang="zh-TW" altLang="zh-TW" b="1" dirty="0"/>
              <a:t>說明：</a:t>
            </a:r>
            <a:r>
              <a:rPr lang="zh-TW" altLang="zh-TW" dirty="0"/>
              <a:t> 黑客透過惡意文字欺騙 Agent 大腦，使其忽視原本的 System Prompt 規範，進而執行越權操作。</a:t>
            </a:r>
          </a:p>
          <a:p>
            <a:r>
              <a:rPr lang="zh-TW" altLang="zh-TW" b="1" dirty="0"/>
              <a:t>Jailbreaking</a:t>
            </a:r>
            <a:r>
              <a:rPr lang="zh-TW" altLang="zh-TW" dirty="0"/>
              <a:t> (Jailbreaking) —— 越獄</a:t>
            </a:r>
          </a:p>
          <a:p>
            <a:pPr lvl="1"/>
            <a:r>
              <a:rPr lang="zh-TW" altLang="zh-TW" b="1" dirty="0"/>
              <a:t>說明：</a:t>
            </a:r>
            <a:r>
              <a:rPr lang="zh-TW" altLang="zh-TW" dirty="0"/>
              <a:t> 利用特定話術或繞過技巧，解開模型原本內建的安全道德限制，使其產出有害或不合規的內容。</a:t>
            </a:r>
          </a:p>
          <a:p>
            <a:r>
              <a:rPr lang="zh-TW" altLang="zh-TW" b="1" dirty="0"/>
              <a:t>Alignment</a:t>
            </a:r>
            <a:r>
              <a:rPr lang="zh-TW" altLang="zh-TW" dirty="0"/>
              <a:t> (AI Alignment) —— 人工智慧對齊</a:t>
            </a:r>
          </a:p>
          <a:p>
            <a:pPr lvl="1"/>
            <a:r>
              <a:rPr lang="zh-TW" altLang="zh-TW" b="1" dirty="0"/>
              <a:t>說明：</a:t>
            </a:r>
            <a:r>
              <a:rPr lang="zh-TW" altLang="zh-TW" dirty="0"/>
              <a:t> 確保 Agent 的價值觀、決策意圖、行為結果，完全符合人類的利益、道德與安全規範。</a:t>
            </a:r>
          </a:p>
          <a:p>
            <a:r>
              <a:rPr lang="zh-TW" altLang="zh-TW" b="1" dirty="0"/>
              <a:t>Alignment Tax</a:t>
            </a:r>
            <a:r>
              <a:rPr lang="zh-TW" altLang="zh-TW" dirty="0"/>
              <a:t> (Alignment Tax) —— 對齊稅</a:t>
            </a:r>
          </a:p>
          <a:p>
            <a:pPr lvl="1"/>
            <a:r>
              <a:rPr lang="zh-TW" altLang="zh-TW" b="1" dirty="0"/>
              <a:t>說明：</a:t>
            </a:r>
            <a:r>
              <a:rPr lang="zh-TW" altLang="zh-TW" dirty="0"/>
              <a:t> 為了讓 AI 更安全、更聽話而進行的安全對齊微調，往往會導致模型失去部分原始推理能力或創造力的代價。</a:t>
            </a:r>
          </a:p>
          <a:p>
            <a:r>
              <a:rPr lang="zh-TW" altLang="zh-TW" b="1" dirty="0"/>
              <a:t>SWE-bench</a:t>
            </a:r>
            <a:r>
              <a:rPr lang="zh-TW" altLang="zh-TW" dirty="0"/>
              <a:t> (Software Engineering Benchmark) —— 軟體工程基準測試</a:t>
            </a:r>
          </a:p>
          <a:p>
            <a:pPr lvl="1"/>
            <a:r>
              <a:rPr lang="zh-TW" altLang="zh-TW" b="1" dirty="0"/>
              <a:t>說明：</a:t>
            </a:r>
            <a:r>
              <a:rPr lang="zh-TW" altLang="zh-TW" dirty="0"/>
              <a:t> 目前業界評估「代碼研發 Agent（如 Devin）」自主解決真實 GitHub Issue 能力的權威標準。</a:t>
            </a:r>
          </a:p>
          <a:p>
            <a:r>
              <a:rPr lang="zh-TW" altLang="zh-TW" b="1" dirty="0"/>
              <a:t>GAIA</a:t>
            </a:r>
            <a:r>
              <a:rPr lang="zh-TW" altLang="zh-TW" dirty="0"/>
              <a:t> (General AI Assistants Benchmark) —— 通用 AI 助手基準測試</a:t>
            </a:r>
          </a:p>
          <a:p>
            <a:pPr lvl="1"/>
            <a:r>
              <a:rPr lang="zh-TW" altLang="zh-TW" b="1" dirty="0"/>
              <a:t>說明：</a:t>
            </a:r>
            <a:r>
              <a:rPr lang="zh-TW" altLang="zh-TW" dirty="0"/>
              <a:t> 用來評估 Agent 在面對需要跨工具、多模態、長程規劃等複雜現實任務時的綜合得分。</a:t>
            </a:r>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27</a:t>
            </a:fld>
            <a:endParaRPr lang="zh-TW" altLang="en-US"/>
          </a:p>
        </p:txBody>
      </p:sp>
    </p:spTree>
    <p:extLst>
      <p:ext uri="{BB962C8B-B14F-4D97-AF65-F5344CB8AC3E}">
        <p14:creationId xmlns:p14="http://schemas.microsoft.com/office/powerpoint/2010/main" val="1315873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分詞器組件（</a:t>
            </a:r>
            <a:r>
              <a:rPr lang="en-US" altLang="zh-TW" dirty="0"/>
              <a:t>Tokenizer Files</a:t>
            </a:r>
            <a:r>
              <a:rPr lang="zh-TW" altLang="en-US" dirty="0"/>
              <a:t>）：</a:t>
            </a:r>
            <a:endParaRPr lang="en-US" altLang="zh-TW" dirty="0"/>
          </a:p>
          <a:p>
            <a:pPr marL="342900" indent="-342900">
              <a:buAutoNum type="arabicPeriod"/>
            </a:pPr>
            <a:r>
              <a:rPr lang="en-US" altLang="zh-TW" dirty="0"/>
              <a:t>tokenizer_config.json</a:t>
            </a:r>
            <a:r>
              <a:rPr lang="zh-TW" altLang="en-US" dirty="0"/>
              <a:t>：記錄分詞器的控制面板參數與 </a:t>
            </a:r>
            <a:r>
              <a:rPr lang="en-US" altLang="zh-TW" dirty="0"/>
              <a:t>Jinja </a:t>
            </a:r>
            <a:r>
              <a:rPr lang="zh-TW" altLang="en-US" dirty="0"/>
              <a:t>對話模板，用來決定文字如何套用原廠角色格式。</a:t>
            </a:r>
            <a:endParaRPr lang="en-US" altLang="zh-TW" dirty="0"/>
          </a:p>
          <a:p>
            <a:pPr marL="342900" indent="-342900">
              <a:buAutoNum type="arabicPeriod"/>
            </a:pPr>
            <a:r>
              <a:rPr lang="en-US" altLang="zh-TW" dirty="0"/>
              <a:t>vocab.json</a:t>
            </a:r>
            <a:r>
              <a:rPr lang="zh-TW" altLang="en-US" dirty="0"/>
              <a:t>：字詞與數位識別代號（</a:t>
            </a:r>
            <a:r>
              <a:rPr lang="en-US" altLang="zh-TW" dirty="0"/>
              <a:t>ID</a:t>
            </a:r>
            <a:r>
              <a:rPr lang="zh-TW" altLang="en-US" dirty="0"/>
              <a:t>）的對照字典，負責將切碎的字母字串翻譯成模型認得的密碼。</a:t>
            </a:r>
            <a:endParaRPr lang="en-US" altLang="zh-TW" dirty="0"/>
          </a:p>
          <a:p>
            <a:pPr marL="342900" indent="-342900">
              <a:buAutoNum type="arabicPeriod"/>
            </a:pPr>
            <a:r>
              <a:rPr lang="en-US" altLang="zh-TW" dirty="0"/>
              <a:t>merges.txt</a:t>
            </a:r>
            <a:r>
              <a:rPr lang="zh-TW" altLang="en-US" dirty="0"/>
              <a:t>：記錄 </a:t>
            </a:r>
            <a:r>
              <a:rPr lang="en-US" altLang="zh-TW" dirty="0"/>
              <a:t>BPE </a:t>
            </a:r>
            <a:r>
              <a:rPr lang="zh-TW" altLang="en-US" dirty="0"/>
              <a:t>演算法的字詞合併規則表，引導分詞器如何有邏輯地將基礎字元組合成高階詞彙。</a:t>
            </a:r>
            <a:endParaRPr lang="en-US" altLang="zh-TW" dirty="0"/>
          </a:p>
          <a:p>
            <a:pPr marL="342900" indent="-342900">
              <a:buAutoNum type="arabicPeriod"/>
            </a:pPr>
            <a:r>
              <a:rPr lang="en-US" altLang="zh-TW" dirty="0"/>
              <a:t>tokenizer.json</a:t>
            </a:r>
            <a:r>
              <a:rPr lang="zh-TW" altLang="en-US" dirty="0"/>
              <a:t>：現代內建 </a:t>
            </a:r>
            <a:r>
              <a:rPr lang="en-US" altLang="zh-TW" dirty="0"/>
              <a:t>Rust </a:t>
            </a:r>
            <a:r>
              <a:rPr lang="zh-TW" altLang="en-US" dirty="0"/>
              <a:t>高速核心的完全體分詞本體，將上述所有分詞與合併規則打包以達成高效編碼。</a:t>
            </a:r>
            <a:endParaRPr lang="en-US" altLang="zh-TW" dirty="0"/>
          </a:p>
          <a:p>
            <a:pPr marL="342900" indent="-342900">
              <a:buAutoNum type="arabicPeriod"/>
            </a:pPr>
            <a:r>
              <a:rPr lang="en-US" altLang="zh-TW" dirty="0"/>
              <a:t> special_tokens_map.json</a:t>
            </a:r>
            <a:r>
              <a:rPr lang="zh-TW" altLang="en-US" dirty="0"/>
              <a:t>：特殊符號對照表，用來定義與強制規範哪些數位代號代表文章開頭、結束或填補空白。</a:t>
            </a:r>
            <a:endParaRPr lang="en-US" altLang="zh-TW" dirty="0"/>
          </a:p>
          <a:p>
            <a:r>
              <a:rPr lang="zh-TW" altLang="en-US" dirty="0"/>
              <a:t>模型大腦組件（</a:t>
            </a:r>
            <a:r>
              <a:rPr lang="en-US" altLang="zh-TW" dirty="0"/>
              <a:t>Model Files</a:t>
            </a:r>
            <a:r>
              <a:rPr lang="zh-TW" altLang="en-US" dirty="0"/>
              <a:t>）：</a:t>
            </a:r>
            <a:endParaRPr lang="en-US" altLang="zh-TW" dirty="0"/>
          </a:p>
          <a:p>
            <a:pPr marL="342900" indent="-342900">
              <a:buAutoNum type="arabicPeriod"/>
            </a:pPr>
            <a:r>
              <a:rPr lang="en-US" altLang="zh-TW" dirty="0"/>
              <a:t> config.json</a:t>
            </a:r>
            <a:r>
              <a:rPr lang="zh-TW" altLang="en-US" dirty="0"/>
              <a:t>：大模型的神經網路結構藍圖，用來指引系統記憶體在開機時精準搭建出大腦的幾何骨架。</a:t>
            </a:r>
            <a:endParaRPr lang="en-US" altLang="zh-TW" dirty="0"/>
          </a:p>
          <a:p>
            <a:pPr marL="342900" indent="-342900">
              <a:buAutoNum type="arabicPeriod"/>
            </a:pPr>
            <a:r>
              <a:rPr lang="en-US" altLang="zh-TW" dirty="0"/>
              <a:t> model.safetensors</a:t>
            </a:r>
            <a:r>
              <a:rPr lang="zh-TW" altLang="en-US" dirty="0"/>
              <a:t>：大模型的實體大腦數字權重矩陣，負責在微調時被寫入與修改，永久保存所有的私有知識記憶。</a:t>
            </a:r>
            <a:endParaRPr lang="en-US" altLang="zh-TW" dirty="0"/>
          </a:p>
          <a:p>
            <a:pPr marL="342900" indent="-342900">
              <a:buAutoNum type="arabicPeriod"/>
            </a:pPr>
            <a:r>
              <a:rPr lang="en-US" altLang="zh-TW" dirty="0"/>
              <a:t> generation_config.json</a:t>
            </a:r>
            <a:r>
              <a:rPr lang="zh-TW" altLang="en-US" dirty="0"/>
              <a:t>：文本生成控制台，用來決定模型在正式上線聊天接龍時的預設隨機度與說話語氣。</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28</a:t>
            </a:fld>
            <a:endParaRPr lang="zh-TW" altLang="en-US"/>
          </a:p>
        </p:txBody>
      </p:sp>
    </p:spTree>
    <p:extLst>
      <p:ext uri="{BB962C8B-B14F-4D97-AF65-F5344CB8AC3E}">
        <p14:creationId xmlns:p14="http://schemas.microsoft.com/office/powerpoint/2010/main" val="3051069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870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1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EB8F32-D6CA-1096-5F7F-634DD383125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4FB77DC-1F1A-EDE3-202F-AD35BA11132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AA7D4-40C2-30FA-EF1C-009BF097844D}"/>
              </a:ext>
            </a:extLst>
          </p:cNvPr>
          <p:cNvSpPr>
            <a:spLocks noGrp="1"/>
          </p:cNvSpPr>
          <p:nvPr>
            <p:ph type="dt" sz="half" idx="10"/>
          </p:nvPr>
        </p:nvSpPr>
        <p:spPr/>
        <p:txBody>
          <a:bodyPr/>
          <a:lstStyle/>
          <a:p>
            <a:fld id="{19D5AE9D-E316-4C75-862D-9EBD6D1B334B}" type="datetimeFigureOut">
              <a:rPr lang="zh-TW" altLang="en-US" smtClean="0"/>
              <a:t>2026/8/17</a:t>
            </a:fld>
            <a:endParaRPr lang="zh-TW" altLang="en-US"/>
          </a:p>
        </p:txBody>
      </p:sp>
      <p:sp>
        <p:nvSpPr>
          <p:cNvPr id="5" name="頁尾版面配置區 4">
            <a:extLst>
              <a:ext uri="{FF2B5EF4-FFF2-40B4-BE49-F238E27FC236}">
                <a16:creationId xmlns:a16="http://schemas.microsoft.com/office/drawing/2014/main" id="{C79E40CA-DAB8-F94E-65BD-7E947BD0760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982315-D0D5-22A2-3A7C-183FFB19C770}"/>
              </a:ext>
            </a:extLst>
          </p:cNvPr>
          <p:cNvSpPr>
            <a:spLocks noGrp="1"/>
          </p:cNvSpPr>
          <p:nvPr>
            <p:ph type="sldNum" sz="quarter" idx="12"/>
          </p:nvPr>
        </p:nvSpPr>
        <p:spPr/>
        <p:txBody>
          <a:bodyPr/>
          <a:lstStyle/>
          <a:p>
            <a:fld id="{59C4967A-F914-4D6D-AEDD-D79048CFF0C0}" type="slidenum">
              <a:rPr lang="zh-TW" altLang="en-US" smtClean="0"/>
              <a:t>‹#›</a:t>
            </a:fld>
            <a:endParaRPr lang="zh-TW" altLang="en-US"/>
          </a:p>
        </p:txBody>
      </p:sp>
    </p:spTree>
    <p:extLst>
      <p:ext uri="{BB962C8B-B14F-4D97-AF65-F5344CB8AC3E}">
        <p14:creationId xmlns:p14="http://schemas.microsoft.com/office/powerpoint/2010/main" val="2274205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F25E997-4179-402B-B045-C290473E86F3}" type="datetimeFigureOut">
              <a:rPr lang="zh-TW" altLang="en-US" smtClean="0"/>
              <a:t>2026/8/17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204A4CC-0142-4D0E-B207-47A74A717BFD}" type="slidenum">
              <a:rPr lang="zh-TW" altLang="en-US" smtClean="0"/>
              <a:t>‹#›</a:t>
            </a:fld>
            <a:endParaRPr lang="zh-TW" altLang="en-US"/>
          </a:p>
        </p:txBody>
      </p:sp>
    </p:spTree>
    <p:extLst>
      <p:ext uri="{BB962C8B-B14F-4D97-AF65-F5344CB8AC3E}">
        <p14:creationId xmlns:p14="http://schemas.microsoft.com/office/powerpoint/2010/main" val="516468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userDrawn="1"/>
        </p:nvSpPr>
        <p:spPr>
          <a:xfrm>
            <a:off x="0" y="6628025"/>
            <a:ext cx="9144000" cy="235219"/>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2" r:id="rId2"/>
    <p:sldLayoutId id="2147483663" r:id="rId3"/>
    <p:sldLayoutId id="2147483664" r:id="rId4"/>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hdr="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8.png"/><Relationship Id="rId5" Type="http://schemas.openxmlformats.org/officeDocument/2006/relationships/image" Target="../media/image23.png"/><Relationship Id="rId10" Type="http://schemas.openxmlformats.org/officeDocument/2006/relationships/image" Target="../media/image27.png"/><Relationship Id="rId4" Type="http://schemas.openxmlformats.org/officeDocument/2006/relationships/image" Target="../media/image22.png"/><Relationship Id="rId9"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2300.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1754-1A01-9656-056C-4B624E45A90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6A5153E-BD84-CB21-D566-B888A2F168CC}"/>
              </a:ext>
            </a:extLst>
          </p:cNvPr>
          <p:cNvSpPr txBox="1"/>
          <p:nvPr/>
        </p:nvSpPr>
        <p:spPr>
          <a:xfrm>
            <a:off x="3748825" y="5118283"/>
            <a:ext cx="1646348" cy="830997"/>
          </a:xfrm>
          <a:prstGeom prst="rect">
            <a:avLst/>
          </a:prstGeom>
          <a:noFill/>
        </p:spPr>
        <p:txBody>
          <a:bodyPr wrap="none" rtlCol="0">
            <a:spAutoFit/>
          </a:bodyPr>
          <a:lstStyle/>
          <a:p>
            <a:pPr algn="ctr"/>
            <a:r>
              <a:rPr lang="en-US" altLang="zh-TW" sz="1200" b="1" dirty="0">
                <a:solidFill>
                  <a:schemeClr val="accent1"/>
                </a:solidFill>
              </a:rPr>
              <a:t>Centrillion Technology </a:t>
            </a:r>
          </a:p>
          <a:p>
            <a:pPr algn="ctr"/>
            <a:r>
              <a:rPr lang="en-US" altLang="zh-TW" sz="1200" b="1" dirty="0">
                <a:solidFill>
                  <a:schemeClr val="accent1"/>
                </a:solidFill>
              </a:rPr>
              <a:t>Bioinformation Dept. </a:t>
            </a:r>
          </a:p>
          <a:p>
            <a:pPr algn="ctr"/>
            <a:r>
              <a:rPr lang="en-US" altLang="zh-TW" sz="1400" dirty="0">
                <a:solidFill>
                  <a:schemeClr val="accent1"/>
                </a:solidFill>
              </a:rPr>
              <a:t>Allen &amp; Felix</a:t>
            </a:r>
          </a:p>
          <a:p>
            <a:pPr algn="ctr"/>
            <a:r>
              <a:rPr lang="en-US" altLang="zh-TW" sz="1000" dirty="0">
                <a:solidFill>
                  <a:schemeClr val="accent1"/>
                </a:solidFill>
              </a:rPr>
              <a:t>2026/09/03</a:t>
            </a:r>
            <a:endParaRPr lang="zh-TW" altLang="en-US" sz="1000" dirty="0">
              <a:solidFill>
                <a:schemeClr val="accent1"/>
              </a:solidFill>
            </a:endParaRPr>
          </a:p>
        </p:txBody>
      </p:sp>
      <p:sp>
        <p:nvSpPr>
          <p:cNvPr id="5" name="文字方塊 4">
            <a:extLst>
              <a:ext uri="{FF2B5EF4-FFF2-40B4-BE49-F238E27FC236}">
                <a16:creationId xmlns:a16="http://schemas.microsoft.com/office/drawing/2014/main" id="{04CB84FD-A5FC-F21A-B4BF-263FCA334053}"/>
              </a:ext>
            </a:extLst>
          </p:cNvPr>
          <p:cNvSpPr txBox="1"/>
          <p:nvPr/>
        </p:nvSpPr>
        <p:spPr>
          <a:xfrm>
            <a:off x="809581" y="2177956"/>
            <a:ext cx="7524837" cy="2082621"/>
          </a:xfrm>
          <a:prstGeom prst="rect">
            <a:avLst/>
          </a:prstGeom>
          <a:noFill/>
        </p:spPr>
        <p:txBody>
          <a:bodyPr wrap="square" rtlCol="0">
            <a:spAutoFit/>
          </a:bodyPr>
          <a:lstStyle/>
          <a:p>
            <a:pPr algn="ctr"/>
            <a:r>
              <a:rPr lang="en-US" altLang="zh-TW" sz="4000" b="1" dirty="0"/>
              <a:t>DeepSeek</a:t>
            </a:r>
          </a:p>
          <a:p>
            <a:pPr algn="ctr"/>
            <a:r>
              <a:rPr lang="en-US" altLang="zh-TW" sz="4000" b="1" dirty="0" err="1"/>
              <a:t>MoE</a:t>
            </a:r>
            <a:r>
              <a:rPr lang="en-US" altLang="zh-TW" sz="4000" b="1" dirty="0"/>
              <a:t> v4</a:t>
            </a:r>
          </a:p>
          <a:p>
            <a:pPr defTabSz="4689475">
              <a:lnSpc>
                <a:spcPts val="400"/>
              </a:lnSpc>
            </a:pPr>
            <a:r>
              <a:rPr lang="zh-TW" altLang="en-US" sz="1000" b="1" dirty="0"/>
              <a:t> </a:t>
            </a:r>
            <a:r>
              <a:rPr lang="en-US" altLang="zh-TW" sz="1000" b="1" dirty="0"/>
              <a:t>	2026</a:t>
            </a:r>
          </a:p>
          <a:p>
            <a:pPr defTabSz="6727825">
              <a:tabLst>
                <a:tab pos="2332038" algn="l"/>
              </a:tabLst>
            </a:pPr>
            <a:endParaRPr lang="en-US" altLang="zh-TW" sz="1200" b="1" dirty="0"/>
          </a:p>
          <a:p>
            <a:pPr defTabSz="6727825">
              <a:tabLst>
                <a:tab pos="2332038" algn="l"/>
              </a:tabLst>
            </a:pPr>
            <a:endParaRPr lang="en-US" altLang="zh-TW" sz="1200" b="1" dirty="0">
              <a:solidFill>
                <a:schemeClr val="accent1">
                  <a:lumMod val="75000"/>
                </a:schemeClr>
              </a:solidFill>
            </a:endParaRPr>
          </a:p>
          <a:p>
            <a:pPr indent="541338" defTabSz="7269163">
              <a:tabLst>
                <a:tab pos="2955925" algn="l"/>
                <a:tab pos="5470525" algn="l"/>
              </a:tabLst>
            </a:pPr>
            <a:r>
              <a:rPr lang="en-US" altLang="zh-TW" sz="1200" b="1" dirty="0"/>
              <a:t>	</a:t>
            </a:r>
            <a:r>
              <a:rPr lang="en-US" altLang="zh-TW" sz="1200" b="1" dirty="0">
                <a:sym typeface="Wingdings" panose="05000000000000000000" pitchFamily="2" charset="2"/>
              </a:rPr>
              <a:t>DeepSeek	</a:t>
            </a:r>
            <a:r>
              <a:rPr lang="en-US" altLang="zh-TW" sz="1000" dirty="0">
                <a:sym typeface="Wingdings" panose="05000000000000000000" pitchFamily="2" charset="2"/>
              </a:rPr>
              <a:t>	R&amp;D Team</a:t>
            </a:r>
            <a:endParaRPr lang="zh-TW" altLang="en-US" sz="1000" dirty="0">
              <a:solidFill>
                <a:schemeClr val="accent1">
                  <a:lumMod val="75000"/>
                </a:schemeClr>
              </a:solidFill>
            </a:endParaRPr>
          </a:p>
        </p:txBody>
      </p:sp>
    </p:spTree>
    <p:extLst>
      <p:ext uri="{BB962C8B-B14F-4D97-AF65-F5344CB8AC3E}">
        <p14:creationId xmlns:p14="http://schemas.microsoft.com/office/powerpoint/2010/main" val="32676095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5B9CD27E-9C1A-3219-6A05-1CA47876AE20}"/>
              </a:ext>
            </a:extLst>
          </p:cNvPr>
          <p:cNvSpPr txBox="1"/>
          <p:nvPr/>
        </p:nvSpPr>
        <p:spPr>
          <a:xfrm>
            <a:off x="845586" y="1268760"/>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p:txBody>
      </p:sp>
      <p:sp>
        <p:nvSpPr>
          <p:cNvPr id="5" name="文字方塊 4">
            <a:extLst>
              <a:ext uri="{FF2B5EF4-FFF2-40B4-BE49-F238E27FC236}">
                <a16:creationId xmlns:a16="http://schemas.microsoft.com/office/drawing/2014/main" id="{3786730F-13DC-7C8B-152D-46A041A29A8E}"/>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4506484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
                                            <p:txEl>
                                              <p:pRg st="0" end="0"/>
                                            </p:txEl>
                                          </p:spTgt>
                                        </p:tgtEl>
                                        <p:attrNameLst>
                                          <p:attrName>style.color</p:attrName>
                                        </p:attrNameLst>
                                      </p:cBhvr>
                                      <p:to>
                                        <a:srgbClr val="FF0000"/>
                                      </p:to>
                                    </p:animClr>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7" presetID="3" presetClass="emph" presetSubtype="2" fill="hold" grpId="0" nodeType="withEffect">
                                  <p:stCondLst>
                                    <p:cond delay="0"/>
                                  </p:stCondLst>
                                  <p:childTnLst>
                                    <p:animClr clrSpc="rgb" dir="cw">
                                      <p:cBhvr override="childStyle">
                                        <p:cTn id="8" dur="500" fill="hold"/>
                                        <p:tgtEl>
                                          <p:spTgt spid="2">
                                            <p:txEl>
                                              <p:pRg st="1" end="1"/>
                                            </p:txEl>
                                          </p:spTgt>
                                        </p:tgtEl>
                                        <p:attrNameLst>
                                          <p:attrName>style.color</p:attrName>
                                        </p:attrNameLst>
                                      </p:cBhvr>
                                      <p:to>
                                        <a:srgbClr val="FF0000"/>
                                      </p:to>
                                    </p:animClr>
                                  </p:childTnLst>
                                  <p:subTnLst>
                                    <p:audio>
                                      <p:cMediaNode>
                                        <p:cTn display="0" masterRel="sameClick">
                                          <p:stCondLst>
                                            <p:cond evt="begin" delay="0">
                                              <p:tn val="7"/>
                                            </p:cond>
                                          </p:stCondLst>
                                          <p:endCondLst>
                                            <p:cond evt="onStopAudio" delay="0">
                                              <p:tgtEl>
                                                <p:sldTgt/>
                                              </p:tgtEl>
                                            </p:cond>
                                          </p:endCondLst>
                                        </p:cTn>
                                        <p:tgtEl>
                                          <p:sndTgt r:embed="rId3" name="type.wav"/>
                                        </p:tgtEl>
                                      </p:cMediaNode>
                                    </p:audio>
                                  </p:subTnLst>
                                </p:cTn>
                              </p:par>
                              <p:par>
                                <p:cTn id="9" presetID="3" presetClass="emph" presetSubtype="2" fill="hold" grpId="0" nodeType="withEffect">
                                  <p:stCondLst>
                                    <p:cond delay="0"/>
                                  </p:stCondLst>
                                  <p:childTnLst>
                                    <p:animClr clrSpc="rgb" dir="cw">
                                      <p:cBhvr override="childStyle">
                                        <p:cTn id="10" dur="500" fill="hold"/>
                                        <p:tgtEl>
                                          <p:spTgt spid="2">
                                            <p:txEl>
                                              <p:pRg st="2" end="2"/>
                                            </p:txEl>
                                          </p:spTgt>
                                        </p:tgtEl>
                                        <p:attrNameLst>
                                          <p:attrName>style.color</p:attrName>
                                        </p:attrNameLst>
                                      </p:cBhvr>
                                      <p:to>
                                        <a:srgbClr val="FF0000"/>
                                      </p:to>
                                    </p:animClr>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1" presetID="3" presetClass="emph" presetSubtype="2" fill="hold" grpId="1" nodeType="withEffect">
                                  <p:stCondLst>
                                    <p:cond delay="0"/>
                                  </p:stCondLst>
                                  <p:childTnLst>
                                    <p:animClr clrSpc="rgb" dir="cw">
                                      <p:cBhvr override="childStyle">
                                        <p:cTn id="12" dur="2000" fill="hold"/>
                                        <p:tgtEl>
                                          <p:spTgt spid="2">
                                            <p:txEl>
                                              <p:pRg st="0" end="0"/>
                                            </p:txEl>
                                          </p:spTgt>
                                        </p:tgtEl>
                                        <p:attrNameLst>
                                          <p:attrName>style.color</p:attrName>
                                        </p:attrNameLst>
                                      </p:cBhvr>
                                      <p:to>
                                        <a:srgbClr val="4D4D4D"/>
                                      </p:to>
                                    </p:animClr>
                                  </p:childTnLst>
                                </p:cTn>
                              </p:par>
                              <p:par>
                                <p:cTn id="13" presetID="3" presetClass="emph" presetSubtype="2" fill="hold" grpId="1" nodeType="withEffect">
                                  <p:stCondLst>
                                    <p:cond delay="0"/>
                                  </p:stCondLst>
                                  <p:childTnLst>
                                    <p:animClr clrSpc="rgb" dir="cw">
                                      <p:cBhvr override="childStyle">
                                        <p:cTn id="14" dur="2000" fill="hold"/>
                                        <p:tgtEl>
                                          <p:spTgt spid="2">
                                            <p:txEl>
                                              <p:pRg st="1" end="1"/>
                                            </p:txEl>
                                          </p:spTgt>
                                        </p:tgtEl>
                                        <p:attrNameLst>
                                          <p:attrName>style.color</p:attrName>
                                        </p:attrNameLst>
                                      </p:cBhvr>
                                      <p:to>
                                        <a:srgbClr val="4D4D4D"/>
                                      </p:to>
                                    </p:animClr>
                                  </p:childTnLst>
                                </p:cTn>
                              </p:par>
                              <p:par>
                                <p:cTn id="15" presetID="3" presetClass="emph" presetSubtype="2" fill="hold" grpId="1" nodeType="withEffect">
                                  <p:stCondLst>
                                    <p:cond delay="0"/>
                                  </p:stCondLst>
                                  <p:childTnLst>
                                    <p:animClr clrSpc="rgb" dir="cw">
                                      <p:cBhvr override="childStyle">
                                        <p:cTn id="16" dur="2000" fill="hold"/>
                                        <p:tgtEl>
                                          <p:spTgt spid="2">
                                            <p:txEl>
                                              <p:pRg st="2" end="2"/>
                                            </p:txEl>
                                          </p:spTgt>
                                        </p:tgtEl>
                                        <p:attrNameLst>
                                          <p:attrName>style.color</p:attrName>
                                        </p:attrNameLst>
                                      </p:cBhvr>
                                      <p:to>
                                        <a:srgbClr val="4D4D4D"/>
                                      </p:to>
                                    </p:animClr>
                                  </p:childTnLst>
                                </p:cTn>
                              </p:par>
                            </p:childTnLst>
                          </p:cTn>
                        </p:par>
                      </p:childTnLst>
                    </p:cTn>
                  </p:par>
                  <p:par>
                    <p:cTn id="17" fill="hold">
                      <p:stCondLst>
                        <p:cond delay="indefinite"/>
                      </p:stCondLst>
                      <p:childTnLst>
                        <p:par>
                          <p:cTn id="18" fill="hold">
                            <p:stCondLst>
                              <p:cond delay="0"/>
                            </p:stCondLst>
                            <p:childTnLst>
                              <p:par>
                                <p:cTn id="19" presetID="3" presetClass="emph" presetSubtype="2" fill="hold" grpId="0" nodeType="clickEffect">
                                  <p:stCondLst>
                                    <p:cond delay="0"/>
                                  </p:stCondLst>
                                  <p:childTnLst>
                                    <p:animClr clrSpc="rgb" dir="cw">
                                      <p:cBhvr override="childStyle">
                                        <p:cTn id="20" dur="500" fill="hold"/>
                                        <p:tgtEl>
                                          <p:spTgt spid="2">
                                            <p:txEl>
                                              <p:pRg st="3" end="3"/>
                                            </p:txEl>
                                          </p:spTgt>
                                        </p:tgtEl>
                                        <p:attrNameLst>
                                          <p:attrName>style.color</p:attrName>
                                        </p:attrNameLst>
                                      </p:cBhvr>
                                      <p:to>
                                        <a:srgbClr val="FF0000"/>
                                      </p:to>
                                    </p:animClr>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childTnLst>
                          </p:cTn>
                        </p:par>
                      </p:childTnLst>
                    </p:cTn>
                  </p:par>
                  <p:par>
                    <p:cTn id="21" fill="hold">
                      <p:stCondLst>
                        <p:cond delay="indefinite"/>
                      </p:stCondLst>
                      <p:childTnLst>
                        <p:par>
                          <p:cTn id="22" fill="hold">
                            <p:stCondLst>
                              <p:cond delay="0"/>
                            </p:stCondLst>
                            <p:childTnLst>
                              <p:par>
                                <p:cTn id="23" presetID="3" presetClass="emph" presetSubtype="2" fill="hold" grpId="0" nodeType="clickEffect">
                                  <p:stCondLst>
                                    <p:cond delay="0"/>
                                  </p:stCondLst>
                                  <p:childTnLst>
                                    <p:animClr clrSpc="rgb" dir="cw">
                                      <p:cBhvr override="childStyle">
                                        <p:cTn id="24" dur="500" fill="hold"/>
                                        <p:tgtEl>
                                          <p:spTgt spid="2">
                                            <p:txEl>
                                              <p:pRg st="4" end="4"/>
                                            </p:txEl>
                                          </p:spTgt>
                                        </p:tgtEl>
                                        <p:attrNameLst>
                                          <p:attrName>style.color</p:attrName>
                                        </p:attrNameLst>
                                      </p:cBhvr>
                                      <p:to>
                                        <a:srgbClr val="FF0000"/>
                                      </p:to>
                                    </p:animClr>
                                  </p:childTnLst>
                                  <p:subTnLst>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par>
                                <p:cTn id="25" presetID="3" presetClass="emph" presetSubtype="2" fill="hold" grpId="1" nodeType="withEffect">
                                  <p:stCondLst>
                                    <p:cond delay="0"/>
                                  </p:stCondLst>
                                  <p:childTnLst>
                                    <p:animClr clrSpc="rgb" dir="cw">
                                      <p:cBhvr override="childStyle">
                                        <p:cTn id="26" dur="2000" fill="hold"/>
                                        <p:tgtEl>
                                          <p:spTgt spid="2">
                                            <p:txEl>
                                              <p:pRg st="3" end="3"/>
                                            </p:txEl>
                                          </p:spTgt>
                                        </p:tgtEl>
                                        <p:attrNameLst>
                                          <p:attrName>style.color</p:attrName>
                                        </p:attrNameLst>
                                      </p:cBhvr>
                                      <p:to>
                                        <a:srgbClr val="4D4D4D"/>
                                      </p:to>
                                    </p:animClr>
                                  </p:childTnLst>
                                </p:cTn>
                              </p:par>
                              <p:par>
                                <p:cTn id="27" presetID="3" presetClass="emph" presetSubtype="2" fill="hold" grpId="1" nodeType="withEffect">
                                  <p:stCondLst>
                                    <p:cond delay="0"/>
                                  </p:stCondLst>
                                  <p:childTnLst>
                                    <p:animClr clrSpc="rgb" dir="cw">
                                      <p:cBhvr override="childStyle">
                                        <p:cTn id="28" dur="2000" fill="hold"/>
                                        <p:tgtEl>
                                          <p:spTgt spid="2">
                                            <p:txEl>
                                              <p:pRg st="4" end="4"/>
                                            </p:txEl>
                                          </p:spTgt>
                                        </p:tgtEl>
                                        <p:attrNameLst>
                                          <p:attrName>style.color</p:attrName>
                                        </p:attrNameLst>
                                      </p:cBhvr>
                                      <p:to>
                                        <a:srgbClr val="4D4D4D"/>
                                      </p:to>
                                    </p:animClr>
                                  </p:childTnLst>
                                </p:cTn>
                              </p:par>
                            </p:childTnLst>
                          </p:cTn>
                        </p:par>
                      </p:childTnLst>
                    </p:cTn>
                  </p:par>
                  <p:par>
                    <p:cTn id="29" fill="hold">
                      <p:stCondLst>
                        <p:cond delay="indefinite"/>
                      </p:stCondLst>
                      <p:childTnLst>
                        <p:par>
                          <p:cTn id="30" fill="hold">
                            <p:stCondLst>
                              <p:cond delay="0"/>
                            </p:stCondLst>
                            <p:childTnLst>
                              <p:par>
                                <p:cTn id="31" presetID="3" presetClass="emph" presetSubtype="2" fill="hold" grpId="0" nodeType="clickEffect">
                                  <p:stCondLst>
                                    <p:cond delay="0"/>
                                  </p:stCondLst>
                                  <p:childTnLst>
                                    <p:animClr clrSpc="rgb" dir="cw">
                                      <p:cBhvr override="childStyle">
                                        <p:cTn id="32" dur="500" fill="hold"/>
                                        <p:tgtEl>
                                          <p:spTgt spid="2">
                                            <p:txEl>
                                              <p:pRg st="5" end="5"/>
                                            </p:txEl>
                                          </p:spTgt>
                                        </p:tgtEl>
                                        <p:attrNameLst>
                                          <p:attrName>style.color</p:attrName>
                                        </p:attrNameLst>
                                      </p:cBhvr>
                                      <p:to>
                                        <a:srgbClr val="FF0000"/>
                                      </p:to>
                                    </p:animClr>
                                  </p:childTnLst>
                                  <p:subTnLst>
                                    <p:audio>
                                      <p:cMediaNode>
                                        <p:cTn display="0" masterRel="sameClick">
                                          <p:stCondLst>
                                            <p:cond evt="begin" delay="0">
                                              <p:tn val="31"/>
                                            </p:cond>
                                          </p:stCondLst>
                                          <p:endCondLst>
                                            <p:cond evt="onStopAudio" delay="0">
                                              <p:tgtEl>
                                                <p:sldTgt/>
                                              </p:tgtEl>
                                            </p:cond>
                                          </p:endCondLst>
                                        </p:cTn>
                                        <p:tgtEl>
                                          <p:sndTgt r:embed="rId3" name="type.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mph" presetSubtype="2" fill="hold" grpId="0" nodeType="clickEffect">
                                  <p:stCondLst>
                                    <p:cond delay="0"/>
                                  </p:stCondLst>
                                  <p:childTnLst>
                                    <p:animClr clrSpc="rgb" dir="cw">
                                      <p:cBhvr override="childStyle">
                                        <p:cTn id="36" dur="500" fill="hold"/>
                                        <p:tgtEl>
                                          <p:spTgt spid="2">
                                            <p:txEl>
                                              <p:pRg st="6" end="6"/>
                                            </p:txEl>
                                          </p:spTgt>
                                        </p:tgtEl>
                                        <p:attrNameLst>
                                          <p:attrName>style.color</p:attrName>
                                        </p:attrNameLst>
                                      </p:cBhvr>
                                      <p:to>
                                        <a:srgbClr val="FF0000"/>
                                      </p:to>
                                    </p:animClr>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par>
                                <p:cTn id="37" presetID="3" presetClass="emph" presetSubtype="2" fill="hold" grpId="1" nodeType="withEffect">
                                  <p:stCondLst>
                                    <p:cond delay="0"/>
                                  </p:stCondLst>
                                  <p:childTnLst>
                                    <p:animClr clrSpc="rgb" dir="cw">
                                      <p:cBhvr override="childStyle">
                                        <p:cTn id="38" dur="2000" fill="hold"/>
                                        <p:tgtEl>
                                          <p:spTgt spid="2">
                                            <p:txEl>
                                              <p:pRg st="5" end="5"/>
                                            </p:txEl>
                                          </p:spTgt>
                                        </p:tgtEl>
                                        <p:attrNameLst>
                                          <p:attrName>style.color</p:attrName>
                                        </p:attrNameLst>
                                      </p:cBhvr>
                                      <p:to>
                                        <a:srgbClr val="4D4D4D"/>
                                      </p:to>
                                    </p:animClr>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grpId="0" nodeType="clickEffect">
                                  <p:stCondLst>
                                    <p:cond delay="0"/>
                                  </p:stCondLst>
                                  <p:childTnLst>
                                    <p:animClr clrSpc="rgb" dir="cw">
                                      <p:cBhvr override="childStyle">
                                        <p:cTn id="42" dur="500" fill="hold"/>
                                        <p:tgtEl>
                                          <p:spTgt spid="2">
                                            <p:txEl>
                                              <p:pRg st="7" end="7"/>
                                            </p:txEl>
                                          </p:spTgt>
                                        </p:tgtEl>
                                        <p:attrNameLst>
                                          <p:attrName>style.color</p:attrName>
                                        </p:attrNameLst>
                                      </p:cBhvr>
                                      <p:to>
                                        <a:srgbClr val="FF0000"/>
                                      </p:to>
                                    </p:animClr>
                                  </p:childTnLst>
                                  <p:subTnLst>
                                    <p:audio>
                                      <p:cMediaNode>
                                        <p:cTn display="0" masterRel="sameClick">
                                          <p:stCondLst>
                                            <p:cond evt="begin" delay="0">
                                              <p:tn val="41"/>
                                            </p:cond>
                                          </p:stCondLst>
                                          <p:endCondLst>
                                            <p:cond evt="onStopAudio" delay="0">
                                              <p:tgtEl>
                                                <p:sldTgt/>
                                              </p:tgtEl>
                                            </p:cond>
                                          </p:endCondLst>
                                        </p:cTn>
                                        <p:tgtEl>
                                          <p:sndTgt r:embed="rId3" name="type.wav"/>
                                        </p:tgtEl>
                                      </p:cMediaNode>
                                    </p:audio>
                                  </p:subTnLst>
                                </p:cTn>
                              </p:par>
                              <p:par>
                                <p:cTn id="43" presetID="3" presetClass="emph" presetSubtype="2" fill="hold" grpId="1" nodeType="withEffect">
                                  <p:stCondLst>
                                    <p:cond delay="0"/>
                                  </p:stCondLst>
                                  <p:childTnLst>
                                    <p:animClr clrSpc="rgb" dir="cw">
                                      <p:cBhvr override="childStyle">
                                        <p:cTn id="44" dur="2000" fill="hold"/>
                                        <p:tgtEl>
                                          <p:spTgt spid="2">
                                            <p:txEl>
                                              <p:pRg st="6" end="6"/>
                                            </p:txEl>
                                          </p:spTgt>
                                        </p:tgtEl>
                                        <p:attrNameLst>
                                          <p:attrName>style.color</p:attrName>
                                        </p:attrNameLst>
                                      </p:cBhvr>
                                      <p:to>
                                        <a:srgbClr val="4D4D4D"/>
                                      </p:to>
                                    </p:animClr>
                                  </p:childTnLst>
                                </p:cTn>
                              </p:par>
                            </p:childTnLst>
                          </p:cTn>
                        </p:par>
                      </p:childTnLst>
                    </p:cTn>
                  </p:par>
                  <p:par>
                    <p:cTn id="45" fill="hold">
                      <p:stCondLst>
                        <p:cond delay="indefinite"/>
                      </p:stCondLst>
                      <p:childTnLst>
                        <p:par>
                          <p:cTn id="46" fill="hold">
                            <p:stCondLst>
                              <p:cond delay="0"/>
                            </p:stCondLst>
                            <p:childTnLst>
                              <p:par>
                                <p:cTn id="47" presetID="3" presetClass="emph" presetSubtype="2" fill="hold" grpId="0" nodeType="clickEffect">
                                  <p:stCondLst>
                                    <p:cond delay="0"/>
                                  </p:stCondLst>
                                  <p:childTnLst>
                                    <p:animClr clrSpc="rgb" dir="cw">
                                      <p:cBhvr override="childStyle">
                                        <p:cTn id="48"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47"/>
                                            </p:cond>
                                          </p:stCondLst>
                                          <p:endCondLst>
                                            <p:cond evt="onStopAudio" delay="0">
                                              <p:tgtEl>
                                                <p:sldTgt/>
                                              </p:tgtEl>
                                            </p:cond>
                                          </p:endCondLst>
                                        </p:cTn>
                                        <p:tgtEl>
                                          <p:sndTgt r:embed="rId3" name="type.wav"/>
                                        </p:tgtEl>
                                      </p:cMediaNode>
                                    </p:audio>
                                  </p:subTnLst>
                                </p:cTn>
                              </p:par>
                              <p:par>
                                <p:cTn id="49" presetID="3" presetClass="emph" presetSubtype="2" fill="hold" grpId="1" nodeType="withEffect">
                                  <p:stCondLst>
                                    <p:cond delay="0"/>
                                  </p:stCondLst>
                                  <p:childTnLst>
                                    <p:animClr clrSpc="rgb" dir="cw">
                                      <p:cBhvr override="childStyle">
                                        <p:cTn id="50" dur="2000" fill="hold"/>
                                        <p:tgtEl>
                                          <p:spTgt spid="2">
                                            <p:txEl>
                                              <p:pRg st="7" end="7"/>
                                            </p:txEl>
                                          </p:spTgt>
                                        </p:tgtEl>
                                        <p:attrNameLst>
                                          <p:attrName>style.color</p:attrName>
                                        </p:attrNameLst>
                                      </p:cBhvr>
                                      <p:to>
                                        <a:srgbClr val="4D4D4D"/>
                                      </p:to>
                                    </p:animClr>
                                  </p:childTnLst>
                                </p:cTn>
                              </p:par>
                            </p:childTnLst>
                          </p:cTn>
                        </p:par>
                      </p:childTnLst>
                    </p:cTn>
                  </p:par>
                  <p:par>
                    <p:cTn id="51" fill="hold">
                      <p:stCondLst>
                        <p:cond delay="indefinite"/>
                      </p:stCondLst>
                      <p:childTnLst>
                        <p:par>
                          <p:cTn id="52" fill="hold">
                            <p:stCondLst>
                              <p:cond delay="0"/>
                            </p:stCondLst>
                            <p:childTnLst>
                              <p:par>
                                <p:cTn id="53" presetID="3" presetClass="emph" presetSubtype="2" fill="hold" grpId="0" nodeType="clickEffect">
                                  <p:stCondLst>
                                    <p:cond delay="0"/>
                                  </p:stCondLst>
                                  <p:childTnLst>
                                    <p:animClr clrSpc="rgb" dir="cw">
                                      <p:cBhvr override="childStyle">
                                        <p:cTn id="54"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53"/>
                                            </p:cond>
                                          </p:stCondLst>
                                          <p:endCondLst>
                                            <p:cond evt="onStopAudio" delay="0">
                                              <p:tgtEl>
                                                <p:sldTgt/>
                                              </p:tgtEl>
                                            </p:cond>
                                          </p:endCondLst>
                                        </p:cTn>
                                        <p:tgtEl>
                                          <p:sndTgt r:embed="rId3" name="type.wav"/>
                                        </p:tgtEl>
                                      </p:cMediaNode>
                                    </p:audio>
                                  </p:subTnLst>
                                </p:cTn>
                              </p:par>
                              <p:par>
                                <p:cTn id="55" presetID="3" presetClass="emph" presetSubtype="2" fill="hold" grpId="0" nodeType="withEffect">
                                  <p:stCondLst>
                                    <p:cond delay="0"/>
                                  </p:stCondLst>
                                  <p:childTnLst>
                                    <p:animClr clrSpc="rgb" dir="cw">
                                      <p:cBhvr override="childStyle">
                                        <p:cTn id="56"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55"/>
                                            </p:cond>
                                          </p:stCondLst>
                                          <p:endCondLst>
                                            <p:cond evt="onStopAudio" delay="0">
                                              <p:tgtEl>
                                                <p:sldTgt/>
                                              </p:tgtEl>
                                            </p:cond>
                                          </p:endCondLst>
                                        </p:cTn>
                                        <p:tgtEl>
                                          <p:sndTgt r:embed="rId3" name="type.wav"/>
                                        </p:tgtEl>
                                      </p:cMediaNode>
                                    </p:audio>
                                  </p:subTnLst>
                                </p:cTn>
                              </p:par>
                              <p:par>
                                <p:cTn id="57" presetID="3" presetClass="emph" presetSubtype="2" fill="hold" grpId="0" nodeType="withEffect">
                                  <p:stCondLst>
                                    <p:cond delay="0"/>
                                  </p:stCondLst>
                                  <p:childTnLst>
                                    <p:animClr clrSpc="rgb" dir="cw">
                                      <p:cBhvr override="childStyle">
                                        <p:cTn id="58"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57"/>
                                            </p:cond>
                                          </p:stCondLst>
                                          <p:endCondLst>
                                            <p:cond evt="onStopAudio" delay="0">
                                              <p:tgtEl>
                                                <p:sldTgt/>
                                              </p:tgtEl>
                                            </p:cond>
                                          </p:endCondLst>
                                        </p:cTn>
                                        <p:tgtEl>
                                          <p:sndTgt r:embed="rId3" name="type.wav"/>
                                        </p:tgtEl>
                                      </p:cMediaNode>
                                    </p:audio>
                                  </p:subTnLst>
                                </p:cTn>
                              </p:par>
                              <p:par>
                                <p:cTn id="59" presetID="3" presetClass="emph" presetSubtype="2" fill="hold" grpId="0" nodeType="withEffect">
                                  <p:stCondLst>
                                    <p:cond delay="0"/>
                                  </p:stCondLst>
                                  <p:childTnLst>
                                    <p:animClr clrSpc="rgb" dir="cw">
                                      <p:cBhvr override="childStyle">
                                        <p:cTn id="60"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59"/>
                                            </p:cond>
                                          </p:stCondLst>
                                          <p:endCondLst>
                                            <p:cond evt="onStopAudio" delay="0">
                                              <p:tgtEl>
                                                <p:sldTgt/>
                                              </p:tgtEl>
                                            </p:cond>
                                          </p:endCondLst>
                                        </p:cTn>
                                        <p:tgtEl>
                                          <p:sndTgt r:embed="rId3" name="type.wav"/>
                                        </p:tgtEl>
                                      </p:cMediaNode>
                                    </p:audio>
                                  </p:subTnLst>
                                </p:cTn>
                              </p:par>
                              <p:par>
                                <p:cTn id="61" presetID="3" presetClass="emph" presetSubtype="2" fill="hold" grpId="1" nodeType="withEffect">
                                  <p:stCondLst>
                                    <p:cond delay="0"/>
                                  </p:stCondLst>
                                  <p:childTnLst>
                                    <p:animClr clrSpc="rgb" dir="cw">
                                      <p:cBhvr override="childStyle">
                                        <p:cTn id="62" dur="2000" fill="hold"/>
                                        <p:tgtEl>
                                          <p:spTgt spid="2">
                                            <p:txEl>
                                              <p:pRg st="8" end="8"/>
                                            </p:txEl>
                                          </p:spTgt>
                                        </p:tgtEl>
                                        <p:attrNameLst>
                                          <p:attrName>style.color</p:attrName>
                                        </p:attrNameLst>
                                      </p:cBhvr>
                                      <p:to>
                                        <a:srgbClr val="4D4D4D"/>
                                      </p:to>
                                    </p:animClr>
                                  </p:childTnLst>
                                </p:cTn>
                              </p:par>
                              <p:par>
                                <p:cTn id="63" presetID="3" presetClass="emph" presetSubtype="2" fill="hold" grpId="1" nodeType="withEffect">
                                  <p:stCondLst>
                                    <p:cond delay="0"/>
                                  </p:stCondLst>
                                  <p:childTnLst>
                                    <p:animClr clrSpc="rgb" dir="cw">
                                      <p:cBhvr override="childStyle">
                                        <p:cTn id="64" dur="2000" fill="hold"/>
                                        <p:tgtEl>
                                          <p:spTgt spid="2">
                                            <p:txEl>
                                              <p:pRg st="9" end="9"/>
                                            </p:txEl>
                                          </p:spTgt>
                                        </p:tgtEl>
                                        <p:attrNameLst>
                                          <p:attrName>style.color</p:attrName>
                                        </p:attrNameLst>
                                      </p:cBhvr>
                                      <p:to>
                                        <a:srgbClr val="4D4D4D"/>
                                      </p:to>
                                    </p:animClr>
                                  </p:childTnLst>
                                </p:cTn>
                              </p:par>
                              <p:par>
                                <p:cTn id="65" presetID="3" presetClass="emph" presetSubtype="2" fill="hold" grpId="1" nodeType="withEffect">
                                  <p:stCondLst>
                                    <p:cond delay="0"/>
                                  </p:stCondLst>
                                  <p:childTnLst>
                                    <p:animClr clrSpc="rgb" dir="cw">
                                      <p:cBhvr override="childStyle">
                                        <p:cTn id="66" dur="2000" fill="hold"/>
                                        <p:tgtEl>
                                          <p:spTgt spid="2">
                                            <p:txEl>
                                              <p:pRg st="10" end="10"/>
                                            </p:txEl>
                                          </p:spTgt>
                                        </p:tgtEl>
                                        <p:attrNameLst>
                                          <p:attrName>style.color</p:attrName>
                                        </p:attrNameLst>
                                      </p:cBhvr>
                                      <p:to>
                                        <a:srgbClr val="4D4D4D"/>
                                      </p:to>
                                    </p:animClr>
                                  </p:childTnLst>
                                </p:cTn>
                              </p:par>
                              <p:par>
                                <p:cTn id="67" presetID="3" presetClass="emph" presetSubtype="2" fill="hold" grpId="1" nodeType="withEffect">
                                  <p:stCondLst>
                                    <p:cond delay="0"/>
                                  </p:stCondLst>
                                  <p:childTnLst>
                                    <p:animClr clrSpc="rgb" dir="cw">
                                      <p:cBhvr override="childStyle">
                                        <p:cTn id="68" dur="2000" fill="hold"/>
                                        <p:tgtEl>
                                          <p:spTgt spid="2">
                                            <p:txEl>
                                              <p:pRg st="11" end="11"/>
                                            </p:txEl>
                                          </p:spTgt>
                                        </p:tgtEl>
                                        <p:attrNameLst>
                                          <p:attrName>style.color</p:attrName>
                                        </p:attrNameLst>
                                      </p:cBhvr>
                                      <p:to>
                                        <a:srgbClr val="4D4D4D"/>
                                      </p:to>
                                    </p:animClr>
                                  </p:childTnLst>
                                </p:cTn>
                              </p:par>
                              <p:par>
                                <p:cTn id="69" presetID="3" presetClass="emph" presetSubtype="2" fill="hold" grpId="1" nodeType="withEffect">
                                  <p:stCondLst>
                                    <p:cond delay="0"/>
                                  </p:stCondLst>
                                  <p:childTnLst>
                                    <p:animClr clrSpc="rgb" dir="cw">
                                      <p:cBhvr override="childStyle">
                                        <p:cTn id="70" dur="2000" fill="hold"/>
                                        <p:tgtEl>
                                          <p:spTgt spid="2">
                                            <p:txEl>
                                              <p:pRg st="12" end="12"/>
                                            </p:txEl>
                                          </p:spTgt>
                                        </p:tgtEl>
                                        <p:attrNameLst>
                                          <p:attrName>style.color</p:attrName>
                                        </p:attrNameLst>
                                      </p:cBhvr>
                                      <p:to>
                                        <a:srgbClr val="4D4D4D"/>
                                      </p:to>
                                    </p:animClr>
                                  </p:childTnLst>
                                </p:cTn>
                              </p:par>
                              <p:par>
                                <p:cTn id="71" presetID="3" presetClass="emph" presetSubtype="2" fill="hold" grpId="0" nodeType="withEffect">
                                  <p:stCondLst>
                                    <p:cond delay="0"/>
                                  </p:stCondLst>
                                  <p:childTnLst>
                                    <p:animClr clrSpc="rgb" dir="cw">
                                      <p:cBhvr override="childStyle">
                                        <p:cTn id="72" dur="500" fill="hold"/>
                                        <p:tgtEl>
                                          <p:spTgt spid="2">
                                            <p:txEl>
                                              <p:pRg st="13" end="13"/>
                                            </p:txEl>
                                          </p:spTgt>
                                        </p:tgtEl>
                                        <p:attrNameLst>
                                          <p:attrName>style.color</p:attrName>
                                        </p:attrNameLst>
                                      </p:cBhvr>
                                      <p:to>
                                        <a:srgbClr val="FF0000"/>
                                      </p:to>
                                    </p:animClr>
                                  </p:childTnLst>
                                  <p:subTnLst>
                                    <p:audio>
                                      <p:cMediaNode>
                                        <p:cTn display="0" masterRel="sameClick">
                                          <p:stCondLst>
                                            <p:cond evt="begin" delay="0">
                                              <p:tn val="71"/>
                                            </p:cond>
                                          </p:stCondLst>
                                          <p:endCondLst>
                                            <p:cond evt="onStopAudio" delay="0">
                                              <p:tgtEl>
                                                <p:sldTgt/>
                                              </p:tgtEl>
                                            </p:cond>
                                          </p:endCondLst>
                                        </p:cTn>
                                        <p:tgtEl>
                                          <p:sndTgt r:embed="rId3" name="type.wav"/>
                                        </p:tgtEl>
                                      </p:cMediaNode>
                                    </p:audio>
                                  </p:subTnLst>
                                </p:cTn>
                              </p:par>
                              <p:par>
                                <p:cTn id="73" presetID="3" presetClass="emph" presetSubtype="2" fill="hold" grpId="0" nodeType="withEffect">
                                  <p:stCondLst>
                                    <p:cond delay="0"/>
                                  </p:stCondLst>
                                  <p:childTnLst>
                                    <p:animClr clrSpc="rgb" dir="cw">
                                      <p:cBhvr override="childStyle">
                                        <p:cTn id="74" dur="500" fill="hold"/>
                                        <p:tgtEl>
                                          <p:spTgt spid="2">
                                            <p:txEl>
                                              <p:pRg st="14" end="14"/>
                                            </p:txEl>
                                          </p:spTgt>
                                        </p:tgtEl>
                                        <p:attrNameLst>
                                          <p:attrName>style.color</p:attrName>
                                        </p:attrNameLst>
                                      </p:cBhvr>
                                      <p:to>
                                        <a:srgbClr val="FF0000"/>
                                      </p:to>
                                    </p:animClr>
                                  </p:childTnLst>
                                  <p:subTnLst>
                                    <p:audio>
                                      <p:cMediaNode>
                                        <p:cTn display="0" masterRel="sameClick">
                                          <p:stCondLst>
                                            <p:cond evt="begin" delay="0">
                                              <p:tn val="73"/>
                                            </p:cond>
                                          </p:stCondLst>
                                          <p:endCondLst>
                                            <p:cond evt="onStopAudio" delay="0">
                                              <p:tgtEl>
                                                <p:sldTgt/>
                                              </p:tgtEl>
                                            </p:cond>
                                          </p:endCondLst>
                                        </p:cTn>
                                        <p:tgtEl>
                                          <p:sndTgt r:embed="rId3" name="type.wav"/>
                                        </p:tgtEl>
                                      </p:cMediaNode>
                                    </p:audio>
                                  </p:subTnLst>
                                </p:cTn>
                              </p:par>
                              <p:par>
                                <p:cTn id="75" presetID="3" presetClass="emph" presetSubtype="2" fill="hold" grpId="1" nodeType="withEffect">
                                  <p:stCondLst>
                                    <p:cond delay="0"/>
                                  </p:stCondLst>
                                  <p:childTnLst>
                                    <p:animClr clrSpc="rgb" dir="cw">
                                      <p:cBhvr override="childStyle">
                                        <p:cTn id="76" dur="2000" fill="hold"/>
                                        <p:tgtEl>
                                          <p:spTgt spid="2">
                                            <p:txEl>
                                              <p:pRg st="13" end="13"/>
                                            </p:txEl>
                                          </p:spTgt>
                                        </p:tgtEl>
                                        <p:attrNameLst>
                                          <p:attrName>style.color</p:attrName>
                                        </p:attrNameLst>
                                      </p:cBhvr>
                                      <p:to>
                                        <a:srgbClr val="4D4D4D"/>
                                      </p:to>
                                    </p:animClr>
                                  </p:childTnLst>
                                </p:cTn>
                              </p:par>
                              <p:par>
                                <p:cTn id="77" presetID="3" presetClass="emph" presetSubtype="2" fill="hold" grpId="1" nodeType="withEffect">
                                  <p:stCondLst>
                                    <p:cond delay="0"/>
                                  </p:stCondLst>
                                  <p:childTnLst>
                                    <p:animClr clrSpc="rgb" dir="cw">
                                      <p:cBhvr override="childStyle">
                                        <p:cTn id="78" dur="2000" fill="hold"/>
                                        <p:tgtEl>
                                          <p:spTgt spid="2">
                                            <p:txEl>
                                              <p:pRg st="14" end="14"/>
                                            </p:txEl>
                                          </p:spTgt>
                                        </p:tgtEl>
                                        <p:attrNameLst>
                                          <p:attrName>style.color</p:attrName>
                                        </p:attrNameLst>
                                      </p:cBhvr>
                                      <p:to>
                                        <a:srgbClr val="4D4D4D"/>
                                      </p:to>
                                    </p:animClr>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2" nodeType="clickEffect">
                                  <p:stCondLst>
                                    <p:cond delay="0"/>
                                  </p:stCondLst>
                                  <p:childTnLst>
                                    <p:set>
                                      <p:cBhvr>
                                        <p:cTn id="82" dur="1" fill="hold">
                                          <p:stCondLst>
                                            <p:cond delay="0"/>
                                          </p:stCondLst>
                                        </p:cTn>
                                        <p:tgtEl>
                                          <p:spTgt spid="2">
                                            <p:bg/>
                                          </p:spTgt>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mph" presetSubtype="2" fill="hold" grpId="0" nodeType="clickEffect">
                                  <p:stCondLst>
                                    <p:cond delay="0"/>
                                  </p:stCondLst>
                                  <p:childTnLst>
                                    <p:animClr clrSpc="rgb" dir="cw">
                                      <p:cBhvr override="childStyle">
                                        <p:cTn id="86"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85"/>
                                            </p:cond>
                                          </p:stCondLst>
                                          <p:endCondLst>
                                            <p:cond evt="onStopAudio" delay="0">
                                              <p:tgtEl>
                                                <p:sldTgt/>
                                              </p:tgtEl>
                                            </p:cond>
                                          </p:endCondLst>
                                        </p:cTn>
                                        <p:tgtEl>
                                          <p:sndTgt r:embed="rId3" name="type.wav"/>
                                        </p:tgtEl>
                                      </p:cMediaNode>
                                    </p:audio>
                                  </p:subTnLst>
                                </p:cTn>
                              </p:par>
                            </p:childTnLst>
                          </p:cTn>
                        </p:par>
                      </p:childTnLst>
                    </p:cTn>
                  </p:par>
                  <p:par>
                    <p:cTn id="87" fill="hold">
                      <p:stCondLst>
                        <p:cond delay="indefinite"/>
                      </p:stCondLst>
                      <p:childTnLst>
                        <p:par>
                          <p:cTn id="88" fill="hold">
                            <p:stCondLst>
                              <p:cond delay="0"/>
                            </p:stCondLst>
                            <p:childTnLst>
                              <p:par>
                                <p:cTn id="89" presetID="3" presetClass="emph" presetSubtype="2" fill="hold" grpId="0" nodeType="clickEffect">
                                  <p:stCondLst>
                                    <p:cond delay="0"/>
                                  </p:stCondLst>
                                  <p:childTnLst>
                                    <p:animClr clrSpc="rgb" dir="cw">
                                      <p:cBhvr override="childStyle">
                                        <p:cTn id="90"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89"/>
                                            </p:cond>
                                          </p:stCondLst>
                                          <p:endCondLst>
                                            <p:cond evt="onStopAudio" delay="0">
                                              <p:tgtEl>
                                                <p:sldTgt/>
                                              </p:tgtEl>
                                            </p:cond>
                                          </p:endCondLst>
                                        </p:cTn>
                                        <p:tgtEl>
                                          <p:sndTgt r:embed="rId3" name="type.wav"/>
                                        </p:tgtEl>
                                      </p:cMediaNode>
                                    </p:audio>
                                  </p:subTnLst>
                                </p:cTn>
                              </p:par>
                              <p:par>
                                <p:cTn id="91" presetID="3" presetClass="emph" presetSubtype="2" fill="hold" grpId="0" nodeType="withEffect">
                                  <p:stCondLst>
                                    <p:cond delay="0"/>
                                  </p:stCondLst>
                                  <p:childTnLst>
                                    <p:animClr clrSpc="rgb" dir="cw">
                                      <p:cBhvr override="childStyle">
                                        <p:cTn id="92"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91"/>
                                            </p:cond>
                                          </p:stCondLst>
                                          <p:endCondLst>
                                            <p:cond evt="onStopAudio" delay="0">
                                              <p:tgtEl>
                                                <p:sldTgt/>
                                              </p:tgtEl>
                                            </p:cond>
                                          </p:endCondLst>
                                        </p:cTn>
                                        <p:tgtEl>
                                          <p:sndTgt r:embed="rId3" name="type.wav"/>
                                        </p:tgtEl>
                                      </p:cMediaNode>
                                    </p:audio>
                                  </p:subTnLst>
                                </p:cTn>
                              </p:par>
                              <p:par>
                                <p:cTn id="93" presetID="3" presetClass="emph" presetSubtype="2" fill="hold" grpId="0" nodeType="withEffect">
                                  <p:stCondLst>
                                    <p:cond delay="0"/>
                                  </p:stCondLst>
                                  <p:childTnLst>
                                    <p:animClr clrSpc="rgb" dir="cw">
                                      <p:cBhvr override="childStyle">
                                        <p:cTn id="94"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93"/>
                                            </p:cond>
                                          </p:stCondLst>
                                          <p:endCondLst>
                                            <p:cond evt="onStopAudio" delay="0">
                                              <p:tgtEl>
                                                <p:sldTgt/>
                                              </p:tgtEl>
                                            </p:cond>
                                          </p:endCondLst>
                                        </p:cTn>
                                        <p:tgtEl>
                                          <p:sndTgt r:embed="rId3" name="type.wav"/>
                                        </p:tgtEl>
                                      </p:cMediaNode>
                                    </p:audio>
                                  </p:subTnLst>
                                </p:cTn>
                              </p:par>
                              <p:par>
                                <p:cTn id="95" presetID="3" presetClass="emph" presetSubtype="2" fill="hold" grpId="0" nodeType="withEffect">
                                  <p:stCondLst>
                                    <p:cond delay="0"/>
                                  </p:stCondLst>
                                  <p:childTnLst>
                                    <p:animClr clrSpc="rgb" dir="cw">
                                      <p:cBhvr override="childStyle">
                                        <p:cTn id="96"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95"/>
                                            </p:cond>
                                          </p:stCondLst>
                                          <p:endCondLst>
                                            <p:cond evt="onStopAudio" delay="0">
                                              <p:tgtEl>
                                                <p:sldTgt/>
                                              </p:tgtEl>
                                            </p:cond>
                                          </p:endCondLst>
                                        </p:cTn>
                                        <p:tgtEl>
                                          <p:sndTgt r:embed="rId3" name="type.wav"/>
                                        </p:tgtEl>
                                      </p:cMediaNode>
                                    </p:audio>
                                  </p:subTnLst>
                                </p:cTn>
                              </p:par>
                              <p:par>
                                <p:cTn id="97" presetID="3" presetClass="emph" presetSubtype="2" fill="hold" grpId="1" nodeType="withEffect">
                                  <p:stCondLst>
                                    <p:cond delay="0"/>
                                  </p:stCondLst>
                                  <p:childTnLst>
                                    <p:animClr clrSpc="rgb" dir="cw">
                                      <p:cBhvr override="childStyle">
                                        <p:cTn id="98" dur="2000" fill="hold"/>
                                        <p:tgtEl>
                                          <p:spTgt spid="2">
                                            <p:txEl>
                                              <p:pRg st="7" end="7"/>
                                            </p:txEl>
                                          </p:spTgt>
                                        </p:tgtEl>
                                        <p:attrNameLst>
                                          <p:attrName>style.color</p:attrName>
                                        </p:attrNameLst>
                                      </p:cBhvr>
                                      <p:to>
                                        <a:srgbClr val="4D4D4D"/>
                                      </p:to>
                                    </p:animClr>
                                  </p:childTnLst>
                                </p:cTn>
                              </p:par>
                              <p:par>
                                <p:cTn id="99" presetID="3" presetClass="emph" presetSubtype="2" fill="hold" grpId="1" nodeType="withEffect">
                                  <p:stCondLst>
                                    <p:cond delay="0"/>
                                  </p:stCondLst>
                                  <p:childTnLst>
                                    <p:animClr clrSpc="rgb" dir="cw">
                                      <p:cBhvr override="childStyle">
                                        <p:cTn id="100" dur="2000" fill="hold"/>
                                        <p:tgtEl>
                                          <p:spTgt spid="2">
                                            <p:txEl>
                                              <p:pRg st="9" end="9"/>
                                            </p:txEl>
                                          </p:spTgt>
                                        </p:tgtEl>
                                        <p:attrNameLst>
                                          <p:attrName>style.color</p:attrName>
                                        </p:attrNameLst>
                                      </p:cBhvr>
                                      <p:to>
                                        <a:srgbClr val="4D4D4D"/>
                                      </p:to>
                                    </p:animClr>
                                  </p:childTnLst>
                                </p:cTn>
                              </p:par>
                              <p:par>
                                <p:cTn id="101" presetID="3" presetClass="emph" presetSubtype="2" fill="hold" grpId="1" nodeType="withEffect">
                                  <p:stCondLst>
                                    <p:cond delay="0"/>
                                  </p:stCondLst>
                                  <p:childTnLst>
                                    <p:animClr clrSpc="rgb" dir="cw">
                                      <p:cBhvr override="childStyle">
                                        <p:cTn id="102" dur="2000" fill="hold"/>
                                        <p:tgtEl>
                                          <p:spTgt spid="2">
                                            <p:txEl>
                                              <p:pRg st="10" end="10"/>
                                            </p:txEl>
                                          </p:spTgt>
                                        </p:tgtEl>
                                        <p:attrNameLst>
                                          <p:attrName>style.color</p:attrName>
                                        </p:attrNameLst>
                                      </p:cBhvr>
                                      <p:to>
                                        <a:srgbClr val="4D4D4D"/>
                                      </p:to>
                                    </p:animClr>
                                  </p:childTnLst>
                                </p:cTn>
                              </p:par>
                              <p:par>
                                <p:cTn id="103" presetID="3" presetClass="emph" presetSubtype="2" fill="hold" grpId="1" nodeType="withEffect">
                                  <p:stCondLst>
                                    <p:cond delay="0"/>
                                  </p:stCondLst>
                                  <p:childTnLst>
                                    <p:animClr clrSpc="rgb" dir="cw">
                                      <p:cBhvr override="childStyle">
                                        <p:cTn id="104" dur="2000" fill="hold"/>
                                        <p:tgtEl>
                                          <p:spTgt spid="2">
                                            <p:txEl>
                                              <p:pRg st="11" end="11"/>
                                            </p:txEl>
                                          </p:spTgt>
                                        </p:tgtEl>
                                        <p:attrNameLst>
                                          <p:attrName>style.color</p:attrName>
                                        </p:attrNameLst>
                                      </p:cBhvr>
                                      <p:to>
                                        <a:srgbClr val="4D4D4D"/>
                                      </p:to>
                                    </p:animClr>
                                  </p:childTnLst>
                                </p:cTn>
                              </p:par>
                              <p:par>
                                <p:cTn id="105" presetID="3" presetClass="emph" presetSubtype="2" fill="hold" grpId="1" nodeType="withEffect">
                                  <p:stCondLst>
                                    <p:cond delay="0"/>
                                  </p:stCondLst>
                                  <p:childTnLst>
                                    <p:animClr clrSpc="rgb" dir="cw">
                                      <p:cBhvr override="childStyle">
                                        <p:cTn id="106" dur="2000" fill="hold"/>
                                        <p:tgtEl>
                                          <p:spTgt spid="2">
                                            <p:txEl>
                                              <p:pRg st="12" end="12"/>
                                            </p:txEl>
                                          </p:spTgt>
                                        </p:tgtEl>
                                        <p:attrNameLst>
                                          <p:attrName>style.color</p:attrName>
                                        </p:attrNameLst>
                                      </p:cBhvr>
                                      <p:to>
                                        <a:srgbClr val="4D4D4D"/>
                                      </p:to>
                                    </p:animClr>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2" nodeType="clickEffect">
                                  <p:stCondLst>
                                    <p:cond delay="0"/>
                                  </p:stCondLst>
                                  <p:childTnLst>
                                    <p:set>
                                      <p:cBhvr>
                                        <p:cTn id="110" dur="1" fill="hold">
                                          <p:stCondLst>
                                            <p:cond delay="0"/>
                                          </p:stCondLst>
                                        </p:cTn>
                                        <p:tgtEl>
                                          <p:spTgt spid="2">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P spid="2" grpId="1" uiExpand="1" build="allAtOnce"/>
      <p:bldP spid="2" grpId="2" uiExpand="1" build="allAtOnce"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F3F95152-7A6B-16A4-22A0-4CC9A08A28E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8" name="文字方塊 7">
            <a:extLst>
              <a:ext uri="{FF2B5EF4-FFF2-40B4-BE49-F238E27FC236}">
                <a16:creationId xmlns:a16="http://schemas.microsoft.com/office/drawing/2014/main" id="{1240326B-602C-CDBB-C0E5-72CA3E8DB14E}"/>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9" name="文字方塊 8">
            <a:extLst>
              <a:ext uri="{FF2B5EF4-FFF2-40B4-BE49-F238E27FC236}">
                <a16:creationId xmlns:a16="http://schemas.microsoft.com/office/drawing/2014/main" id="{B13425BD-8E63-0EFC-AD98-38638AC090BD}"/>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10" name="文字方塊 9">
            <a:extLst>
              <a:ext uri="{FF2B5EF4-FFF2-40B4-BE49-F238E27FC236}">
                <a16:creationId xmlns:a16="http://schemas.microsoft.com/office/drawing/2014/main" id="{8A849B28-DFA9-FA7E-9B5D-244D9BBAD51A}"/>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11" name="文字方塊 10">
            <a:extLst>
              <a:ext uri="{FF2B5EF4-FFF2-40B4-BE49-F238E27FC236}">
                <a16:creationId xmlns:a16="http://schemas.microsoft.com/office/drawing/2014/main" id="{D0A09D4C-6DE8-BDCA-C5C0-FBA86CD4368C}"/>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12" name="右大括弧 11">
            <a:extLst>
              <a:ext uri="{FF2B5EF4-FFF2-40B4-BE49-F238E27FC236}">
                <a16:creationId xmlns:a16="http://schemas.microsoft.com/office/drawing/2014/main" id="{F7D623D8-E3EB-A23D-405F-B7C4DC6B3B36}"/>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13" name="箭號: 向下 12">
            <a:extLst>
              <a:ext uri="{FF2B5EF4-FFF2-40B4-BE49-F238E27FC236}">
                <a16:creationId xmlns:a16="http://schemas.microsoft.com/office/drawing/2014/main" id="{9FAB91AB-9BC1-A45A-BFFD-61E028EE4A03}"/>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a:extLst>
              <a:ext uri="{FF2B5EF4-FFF2-40B4-BE49-F238E27FC236}">
                <a16:creationId xmlns:a16="http://schemas.microsoft.com/office/drawing/2014/main" id="{B5EDBE07-C935-4285-720A-13592479DA23}"/>
              </a:ext>
            </a:extLst>
          </p:cNvPr>
          <p:cNvCxnSpPr>
            <a:cxnSpLocks/>
            <a:stCxn id="11" idx="3"/>
            <a:endCxn id="7"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表格 14">
            <a:extLst>
              <a:ext uri="{FF2B5EF4-FFF2-40B4-BE49-F238E27FC236}">
                <a16:creationId xmlns:a16="http://schemas.microsoft.com/office/drawing/2014/main" id="{77D26E76-0878-4BEA-0864-D931E8EE767B}"/>
              </a:ext>
            </a:extLst>
          </p:cNvPr>
          <p:cNvGraphicFramePr>
            <a:graphicFrameLocks noGrp="1"/>
          </p:cNvGraphicFramePr>
          <p:nvPr>
            <p:extLst>
              <p:ext uri="{D42A27DB-BD31-4B8C-83A1-F6EECF244321}">
                <p14:modId xmlns:p14="http://schemas.microsoft.com/office/powerpoint/2010/main" val="2344033630"/>
              </p:ext>
            </p:extLst>
          </p:nvPr>
        </p:nvGraphicFramePr>
        <p:xfrm>
          <a:off x="5490780" y="4797152"/>
          <a:ext cx="2249568" cy="788874"/>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GRPO aligns via self-correction.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071062206"/>
                  </a:ext>
                </a:extLst>
              </a:tr>
            </a:tbl>
          </a:graphicData>
        </a:graphic>
      </p:graphicFrame>
      <p:sp>
        <p:nvSpPr>
          <p:cNvPr id="17" name="標題 1">
            <a:extLst>
              <a:ext uri="{FF2B5EF4-FFF2-40B4-BE49-F238E27FC236}">
                <a16:creationId xmlns:a16="http://schemas.microsoft.com/office/drawing/2014/main" id="{D8E85CF9-1642-8F1D-8E65-50C63D95EB53}"/>
              </a:ext>
            </a:extLst>
          </p:cNvPr>
          <p:cNvSpPr txBox="1">
            <a:spLocks/>
          </p:cNvSpPr>
          <p:nvPr/>
        </p:nvSpPr>
        <p:spPr>
          <a:xfrm>
            <a:off x="5490780" y="3840781"/>
            <a:ext cx="881420" cy="30829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Reinforcement</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cxnSp>
        <p:nvCxnSpPr>
          <p:cNvPr id="18" name="直線接點 17">
            <a:extLst>
              <a:ext uri="{FF2B5EF4-FFF2-40B4-BE49-F238E27FC236}">
                <a16:creationId xmlns:a16="http://schemas.microsoft.com/office/drawing/2014/main" id="{FDCA2822-E0DA-5603-D3BF-22B5933F51F7}"/>
              </a:ext>
            </a:extLst>
          </p:cNvPr>
          <p:cNvCxnSpPr>
            <a:cxnSpLocks/>
            <a:stCxn id="17" idx="2"/>
          </p:cNvCxnSpPr>
          <p:nvPr/>
        </p:nvCxnSpPr>
        <p:spPr>
          <a:xfrm>
            <a:off x="5931490" y="4149080"/>
            <a:ext cx="0" cy="64807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sp>
        <p:nvSpPr>
          <p:cNvPr id="3" name="標題 1">
            <a:extLst>
              <a:ext uri="{FF2B5EF4-FFF2-40B4-BE49-F238E27FC236}">
                <a16:creationId xmlns:a16="http://schemas.microsoft.com/office/drawing/2014/main" id="{86D655F9-6A67-F151-59CE-818F721614E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einforcement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earning with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H</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uman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F</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eedback</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G- Optimizer</a:t>
            </a:r>
          </a:p>
        </p:txBody>
      </p:sp>
    </p:spTree>
    <p:extLst>
      <p:ext uri="{BB962C8B-B14F-4D97-AF65-F5344CB8AC3E}">
        <p14:creationId xmlns:p14="http://schemas.microsoft.com/office/powerpoint/2010/main" val="2390606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D1FF4C-B981-02EC-4D4A-C61F69393A52}"/>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41B5D38C-07B4-9DDC-B79C-00F7D93127CD}"/>
              </a:ext>
            </a:extLst>
          </p:cNvPr>
          <p:cNvPicPr>
            <a:picLocks noChangeAspect="1"/>
          </p:cNvPicPr>
          <p:nvPr/>
        </p:nvPicPr>
        <p:blipFill>
          <a:blip r:embed="rId2"/>
          <a:stretch>
            <a:fillRect/>
          </a:stretch>
        </p:blipFill>
        <p:spPr>
          <a:xfrm>
            <a:off x="323528" y="1199814"/>
            <a:ext cx="8485396" cy="1725130"/>
          </a:xfrm>
          <a:prstGeom prst="rect">
            <a:avLst/>
          </a:prstGeom>
        </p:spPr>
      </p:pic>
      <p:pic>
        <p:nvPicPr>
          <p:cNvPr id="12" name="圖片 11">
            <a:extLst>
              <a:ext uri="{FF2B5EF4-FFF2-40B4-BE49-F238E27FC236}">
                <a16:creationId xmlns:a16="http://schemas.microsoft.com/office/drawing/2014/main" id="{9D135FEB-D49D-FDDE-1182-90BEDA1FC772}"/>
              </a:ext>
            </a:extLst>
          </p:cNvPr>
          <p:cNvPicPr>
            <a:picLocks noChangeAspect="1"/>
          </p:cNvPicPr>
          <p:nvPr/>
        </p:nvPicPr>
        <p:blipFill>
          <a:blip r:embed="rId3"/>
          <a:stretch>
            <a:fillRect/>
          </a:stretch>
        </p:blipFill>
        <p:spPr>
          <a:xfrm>
            <a:off x="167538" y="1772816"/>
            <a:ext cx="8808924" cy="30963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圖片 13">
            <a:extLst>
              <a:ext uri="{FF2B5EF4-FFF2-40B4-BE49-F238E27FC236}">
                <a16:creationId xmlns:a16="http://schemas.microsoft.com/office/drawing/2014/main" id="{8EE5E8E2-2325-4F12-1CBF-DFE4507E3F00}"/>
              </a:ext>
            </a:extLst>
          </p:cNvPr>
          <p:cNvPicPr>
            <a:picLocks noChangeAspect="1"/>
          </p:cNvPicPr>
          <p:nvPr/>
        </p:nvPicPr>
        <p:blipFill>
          <a:blip r:embed="rId4"/>
          <a:stretch>
            <a:fillRect/>
          </a:stretch>
        </p:blipFill>
        <p:spPr>
          <a:xfrm>
            <a:off x="6444208" y="1556792"/>
            <a:ext cx="1852871" cy="523948"/>
          </a:xfrm>
          <a:prstGeom prst="rect">
            <a:avLst/>
          </a:prstGeom>
        </p:spPr>
      </p:pic>
      <p:pic>
        <p:nvPicPr>
          <p:cNvPr id="16" name="圖片 15">
            <a:extLst>
              <a:ext uri="{FF2B5EF4-FFF2-40B4-BE49-F238E27FC236}">
                <a16:creationId xmlns:a16="http://schemas.microsoft.com/office/drawing/2014/main" id="{A340BEF9-9477-0B08-52EF-5A3DFCCDF2F7}"/>
              </a:ext>
            </a:extLst>
          </p:cNvPr>
          <p:cNvPicPr>
            <a:picLocks noChangeAspect="1"/>
          </p:cNvPicPr>
          <p:nvPr/>
        </p:nvPicPr>
        <p:blipFill>
          <a:blip r:embed="rId5"/>
          <a:stretch>
            <a:fillRect/>
          </a:stretch>
        </p:blipFill>
        <p:spPr>
          <a:xfrm>
            <a:off x="329233" y="5192779"/>
            <a:ext cx="4848902" cy="1476581"/>
          </a:xfrm>
          <a:prstGeom prst="rect">
            <a:avLst/>
          </a:prstGeom>
          <a:effectLst>
            <a:glow rad="63500">
              <a:schemeClr val="accent3">
                <a:alpha val="40000"/>
              </a:schemeClr>
            </a:glow>
          </a:effectLst>
        </p:spPr>
      </p:pic>
      <p:sp>
        <p:nvSpPr>
          <p:cNvPr id="18" name="標題 1">
            <a:extLst>
              <a:ext uri="{FF2B5EF4-FFF2-40B4-BE49-F238E27FC236}">
                <a16:creationId xmlns:a16="http://schemas.microsoft.com/office/drawing/2014/main" id="{ADE035A4-1862-F0B7-2203-B17B6499E268}"/>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G</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roup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elative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olicy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ptimizer</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A 2D-matrix optimizer updating strictly by orthogonalized direction, completely ignoring gradient scale.</a:t>
            </a:r>
          </a:p>
        </p:txBody>
      </p:sp>
      <p:pic>
        <p:nvPicPr>
          <p:cNvPr id="20" name="圖片 19">
            <a:extLst>
              <a:ext uri="{FF2B5EF4-FFF2-40B4-BE49-F238E27FC236}">
                <a16:creationId xmlns:a16="http://schemas.microsoft.com/office/drawing/2014/main" id="{770B7F26-EB81-3FCB-3A31-F0EFA81CC01C}"/>
              </a:ext>
            </a:extLst>
          </p:cNvPr>
          <p:cNvPicPr>
            <a:picLocks noChangeAspect="1"/>
          </p:cNvPicPr>
          <p:nvPr/>
        </p:nvPicPr>
        <p:blipFill>
          <a:blip r:embed="rId6"/>
          <a:stretch>
            <a:fillRect/>
          </a:stretch>
        </p:blipFill>
        <p:spPr>
          <a:xfrm>
            <a:off x="5022463" y="1156809"/>
            <a:ext cx="1254207" cy="454198"/>
          </a:xfrm>
          <a:prstGeom prst="rect">
            <a:avLst/>
          </a:prstGeom>
        </p:spPr>
      </p:pic>
    </p:spTree>
    <p:extLst>
      <p:ext uri="{BB962C8B-B14F-4D97-AF65-F5344CB8AC3E}">
        <p14:creationId xmlns:p14="http://schemas.microsoft.com/office/powerpoint/2010/main" val="1801011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F4DC-2C5D-1DF8-C13C-2A98212F622C}"/>
            </a:ext>
          </a:extLst>
        </p:cNvPr>
        <p:cNvGrpSpPr/>
        <p:nvPr/>
      </p:nvGrpSpPr>
      <p:grpSpPr>
        <a:xfrm>
          <a:off x="0" y="0"/>
          <a:ext cx="0" cy="0"/>
          <a:chOff x="0" y="0"/>
          <a:chExt cx="0" cy="0"/>
        </a:xfrm>
      </p:grpSpPr>
      <p:sp>
        <p:nvSpPr>
          <p:cNvPr id="56" name="矩形 55">
            <a:extLst>
              <a:ext uri="{FF2B5EF4-FFF2-40B4-BE49-F238E27FC236}">
                <a16:creationId xmlns:a16="http://schemas.microsoft.com/office/drawing/2014/main" id="{B2E63910-F253-E2D5-02E7-340A2EF7AD10}"/>
              </a:ext>
            </a:extLst>
          </p:cNvPr>
          <p:cNvSpPr/>
          <p:nvPr/>
        </p:nvSpPr>
        <p:spPr>
          <a:xfrm>
            <a:off x="1979712" y="5085185"/>
            <a:ext cx="465295" cy="825514"/>
          </a:xfrm>
          <a:prstGeom prst="rect">
            <a:avLst/>
          </a:prstGeom>
          <a:solidFill>
            <a:schemeClr val="bg1"/>
          </a:solid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b="1" dirty="0">
                <a:solidFill>
                  <a:schemeClr val="bg1">
                    <a:lumMod val="75000"/>
                  </a:schemeClr>
                </a:solidFill>
                <a:ea typeface="微軟正黑體" panose="020B0604030504040204" pitchFamily="34" charset="-120"/>
              </a:rPr>
              <a:t>X</a:t>
            </a:r>
          </a:p>
        </p:txBody>
      </p:sp>
      <p:sp>
        <p:nvSpPr>
          <p:cNvPr id="2" name="矩形 1">
            <a:extLst>
              <a:ext uri="{FF2B5EF4-FFF2-40B4-BE49-F238E27FC236}">
                <a16:creationId xmlns:a16="http://schemas.microsoft.com/office/drawing/2014/main" id="{C8628D0A-2F53-019D-FCF4-A5336008FAE8}"/>
              </a:ext>
            </a:extLst>
          </p:cNvPr>
          <p:cNvSpPr/>
          <p:nvPr/>
        </p:nvSpPr>
        <p:spPr>
          <a:xfrm>
            <a:off x="6227799" y="6022050"/>
            <a:ext cx="1119629"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FFN(x)*k1</a:t>
            </a:r>
          </a:p>
        </p:txBody>
      </p:sp>
      <p:sp>
        <p:nvSpPr>
          <p:cNvPr id="3" name="矩形 2">
            <a:extLst>
              <a:ext uri="{FF2B5EF4-FFF2-40B4-BE49-F238E27FC236}">
                <a16:creationId xmlns:a16="http://schemas.microsoft.com/office/drawing/2014/main" id="{CEF6F19A-3451-58E8-8697-318AD268074F}"/>
              </a:ext>
            </a:extLst>
          </p:cNvPr>
          <p:cNvSpPr/>
          <p:nvPr/>
        </p:nvSpPr>
        <p:spPr>
          <a:xfrm>
            <a:off x="7515292" y="6022050"/>
            <a:ext cx="771031"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FFN(x)*k2</a:t>
            </a:r>
          </a:p>
        </p:txBody>
      </p:sp>
      <p:sp>
        <p:nvSpPr>
          <p:cNvPr id="4" name="矩形 3">
            <a:extLst>
              <a:ext uri="{FF2B5EF4-FFF2-40B4-BE49-F238E27FC236}">
                <a16:creationId xmlns:a16="http://schemas.microsoft.com/office/drawing/2014/main" id="{6EC1F963-38FF-4FBD-3078-667B65632C89}"/>
              </a:ext>
            </a:extLst>
          </p:cNvPr>
          <p:cNvSpPr/>
          <p:nvPr/>
        </p:nvSpPr>
        <p:spPr>
          <a:xfrm>
            <a:off x="6202530" y="4194205"/>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5" name="文字方塊 4">
            <a:extLst>
              <a:ext uri="{FF2B5EF4-FFF2-40B4-BE49-F238E27FC236}">
                <a16:creationId xmlns:a16="http://schemas.microsoft.com/office/drawing/2014/main" id="{D1D9E7ED-1DF4-40AD-9D0C-D6915E579097}"/>
              </a:ext>
            </a:extLst>
          </p:cNvPr>
          <p:cNvSpPr txBox="1"/>
          <p:nvPr/>
        </p:nvSpPr>
        <p:spPr>
          <a:xfrm>
            <a:off x="6575500" y="4848653"/>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6" name="矩形 5">
            <a:extLst>
              <a:ext uri="{FF2B5EF4-FFF2-40B4-BE49-F238E27FC236}">
                <a16:creationId xmlns:a16="http://schemas.microsoft.com/office/drawing/2014/main" id="{9445F788-701C-5DAD-09BD-5CA5D7C867F2}"/>
              </a:ext>
            </a:extLst>
          </p:cNvPr>
          <p:cNvSpPr/>
          <p:nvPr/>
        </p:nvSpPr>
        <p:spPr>
          <a:xfrm>
            <a:off x="7307919" y="4653898"/>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S</a:t>
            </a:r>
            <a:endParaRPr lang="en-US" altLang="zh-TW" sz="1200" b="1" baseline="-25000" dirty="0">
              <a:solidFill>
                <a:schemeClr val="tx1"/>
              </a:solidFill>
              <a:ea typeface="微軟正黑體" panose="020B0604030504040204" pitchFamily="34" charset="-120"/>
            </a:endParaRPr>
          </a:p>
        </p:txBody>
      </p:sp>
      <p:sp>
        <p:nvSpPr>
          <p:cNvPr id="7" name="文字方塊 6">
            <a:extLst>
              <a:ext uri="{FF2B5EF4-FFF2-40B4-BE49-F238E27FC236}">
                <a16:creationId xmlns:a16="http://schemas.microsoft.com/office/drawing/2014/main" id="{3B63411C-6DA9-0FE1-5F23-BBF61E870E87}"/>
              </a:ext>
            </a:extLst>
          </p:cNvPr>
          <p:cNvSpPr txBox="1"/>
          <p:nvPr/>
        </p:nvSpPr>
        <p:spPr>
          <a:xfrm>
            <a:off x="6202530" y="3180361"/>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sp>
        <p:nvSpPr>
          <p:cNvPr id="8" name="矩形 7">
            <a:extLst>
              <a:ext uri="{FF2B5EF4-FFF2-40B4-BE49-F238E27FC236}">
                <a16:creationId xmlns:a16="http://schemas.microsoft.com/office/drawing/2014/main" id="{4874F186-A394-A464-D06A-F6A652491053}"/>
              </a:ext>
            </a:extLst>
          </p:cNvPr>
          <p:cNvSpPr/>
          <p:nvPr/>
        </p:nvSpPr>
        <p:spPr>
          <a:xfrm>
            <a:off x="6291195" y="4653898"/>
            <a:ext cx="254168"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9" name="文字方塊 8">
            <a:extLst>
              <a:ext uri="{FF2B5EF4-FFF2-40B4-BE49-F238E27FC236}">
                <a16:creationId xmlns:a16="http://schemas.microsoft.com/office/drawing/2014/main" id="{32C1A8D9-CAFD-E4F4-8D02-ADEA733E6149}"/>
              </a:ext>
            </a:extLst>
          </p:cNvPr>
          <p:cNvSpPr txBox="1"/>
          <p:nvPr/>
        </p:nvSpPr>
        <p:spPr>
          <a:xfrm>
            <a:off x="7235911"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10" name="矩形 9">
            <a:extLst>
              <a:ext uri="{FF2B5EF4-FFF2-40B4-BE49-F238E27FC236}">
                <a16:creationId xmlns:a16="http://schemas.microsoft.com/office/drawing/2014/main" id="{05A6D66F-7CED-134C-314F-DEC02544ED1A}"/>
              </a:ext>
            </a:extLst>
          </p:cNvPr>
          <p:cNvSpPr/>
          <p:nvPr/>
        </p:nvSpPr>
        <p:spPr>
          <a:xfrm>
            <a:off x="8030793" y="4653898"/>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11" name="文字方塊 10">
            <a:extLst>
              <a:ext uri="{FF2B5EF4-FFF2-40B4-BE49-F238E27FC236}">
                <a16:creationId xmlns:a16="http://schemas.microsoft.com/office/drawing/2014/main" id="{B804B385-B965-5CA8-8DA3-69535C503F33}"/>
              </a:ext>
            </a:extLst>
          </p:cNvPr>
          <p:cNvSpPr txBox="1"/>
          <p:nvPr/>
        </p:nvSpPr>
        <p:spPr>
          <a:xfrm>
            <a:off x="7481468" y="4749435"/>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cxnSp>
        <p:nvCxnSpPr>
          <p:cNvPr id="13" name="接點: 肘形 12">
            <a:extLst>
              <a:ext uri="{FF2B5EF4-FFF2-40B4-BE49-F238E27FC236}">
                <a16:creationId xmlns:a16="http://schemas.microsoft.com/office/drawing/2014/main" id="{DC29F3AB-B500-75AB-675F-A38424FFE5C6}"/>
              </a:ext>
            </a:extLst>
          </p:cNvPr>
          <p:cNvCxnSpPr>
            <a:cxnSpLocks/>
            <a:endCxn id="2" idx="1"/>
          </p:cNvCxnSpPr>
          <p:nvPr/>
        </p:nvCxnSpPr>
        <p:spPr>
          <a:xfrm>
            <a:off x="5736151" y="4720547"/>
            <a:ext cx="491648" cy="1412155"/>
          </a:xfrm>
          <a:prstGeom prst="bentConnector3">
            <a:avLst/>
          </a:prstGeom>
          <a:ln w="2540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接點: 弧形 13">
            <a:extLst>
              <a:ext uri="{FF2B5EF4-FFF2-40B4-BE49-F238E27FC236}">
                <a16:creationId xmlns:a16="http://schemas.microsoft.com/office/drawing/2014/main" id="{7B5A1F59-FF04-E7F3-8768-6C7C30E5B17D}"/>
              </a:ext>
            </a:extLst>
          </p:cNvPr>
          <p:cNvCxnSpPr>
            <a:cxnSpLocks/>
            <a:stCxn id="20" idx="2"/>
            <a:endCxn id="3" idx="0"/>
          </p:cNvCxnSpPr>
          <p:nvPr/>
        </p:nvCxnSpPr>
        <p:spPr>
          <a:xfrm rot="5400000">
            <a:off x="7694508" y="5609695"/>
            <a:ext cx="618656" cy="206055"/>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接點: 弧形 14">
            <a:extLst>
              <a:ext uri="{FF2B5EF4-FFF2-40B4-BE49-F238E27FC236}">
                <a16:creationId xmlns:a16="http://schemas.microsoft.com/office/drawing/2014/main" id="{CC95F26D-0321-50C1-3115-620FE90B80E6}"/>
              </a:ext>
            </a:extLst>
          </p:cNvPr>
          <p:cNvCxnSpPr>
            <a:cxnSpLocks/>
            <a:stCxn id="20" idx="2"/>
            <a:endCxn id="2" idx="0"/>
          </p:cNvCxnSpPr>
          <p:nvPr/>
        </p:nvCxnSpPr>
        <p:spPr>
          <a:xfrm rot="5400000">
            <a:off x="7137911" y="5053098"/>
            <a:ext cx="618656" cy="131924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025D3E59-2745-2449-AEE0-997279C9B25A}"/>
              </a:ext>
            </a:extLst>
          </p:cNvPr>
          <p:cNvSpPr txBox="1">
            <a:spLocks/>
          </p:cNvSpPr>
          <p:nvPr/>
        </p:nvSpPr>
        <p:spPr>
          <a:xfrm>
            <a:off x="7059396" y="5806026"/>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0.08</a:t>
            </a:r>
          </a:p>
        </p:txBody>
      </p:sp>
      <p:sp>
        <p:nvSpPr>
          <p:cNvPr id="17" name="標題 1">
            <a:extLst>
              <a:ext uri="{FF2B5EF4-FFF2-40B4-BE49-F238E27FC236}">
                <a16:creationId xmlns:a16="http://schemas.microsoft.com/office/drawing/2014/main" id="{A4284123-137F-AA66-EE9F-C1CFB6687A68}"/>
              </a:ext>
            </a:extLst>
          </p:cNvPr>
          <p:cNvSpPr txBox="1">
            <a:spLocks/>
          </p:cNvSpPr>
          <p:nvPr/>
        </p:nvSpPr>
        <p:spPr>
          <a:xfrm>
            <a:off x="7947340" y="5806026"/>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0.92</a:t>
            </a:r>
          </a:p>
        </p:txBody>
      </p:sp>
      <p:sp>
        <p:nvSpPr>
          <p:cNvPr id="18" name="文字方塊 17">
            <a:extLst>
              <a:ext uri="{FF2B5EF4-FFF2-40B4-BE49-F238E27FC236}">
                <a16:creationId xmlns:a16="http://schemas.microsoft.com/office/drawing/2014/main" id="{F4923270-95EE-CF10-BCEA-9FE2711BEAA5}"/>
              </a:ext>
            </a:extLst>
          </p:cNvPr>
          <p:cNvSpPr txBox="1"/>
          <p:nvPr/>
        </p:nvSpPr>
        <p:spPr>
          <a:xfrm>
            <a:off x="6910766" y="4797914"/>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9" name="文字方塊 18">
            <a:extLst>
              <a:ext uri="{FF2B5EF4-FFF2-40B4-BE49-F238E27FC236}">
                <a16:creationId xmlns:a16="http://schemas.microsoft.com/office/drawing/2014/main" id="{89F130E7-8EAC-E63E-8462-7F4E5C65E062}"/>
              </a:ext>
            </a:extLst>
          </p:cNvPr>
          <p:cNvSpPr txBox="1"/>
          <p:nvPr/>
        </p:nvSpPr>
        <p:spPr>
          <a:xfrm>
            <a:off x="7558838" y="4855196"/>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20" name="文字方塊 19">
            <a:extLst>
              <a:ext uri="{FF2B5EF4-FFF2-40B4-BE49-F238E27FC236}">
                <a16:creationId xmlns:a16="http://schemas.microsoft.com/office/drawing/2014/main" id="{851C5A25-C498-87F0-20B6-134567B329D4}"/>
              </a:ext>
            </a:extLst>
          </p:cNvPr>
          <p:cNvSpPr txBox="1"/>
          <p:nvPr/>
        </p:nvSpPr>
        <p:spPr>
          <a:xfrm>
            <a:off x="7969703"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21" name="文字方塊 20">
            <a:extLst>
              <a:ext uri="{FF2B5EF4-FFF2-40B4-BE49-F238E27FC236}">
                <a16:creationId xmlns:a16="http://schemas.microsoft.com/office/drawing/2014/main" id="{E3BA1CF8-4363-84CF-7131-B5149DB372E7}"/>
              </a:ext>
            </a:extLst>
          </p:cNvPr>
          <p:cNvSpPr txBox="1"/>
          <p:nvPr/>
        </p:nvSpPr>
        <p:spPr>
          <a:xfrm>
            <a:off x="6712616"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22" name="文字方塊 21">
            <a:extLst>
              <a:ext uri="{FF2B5EF4-FFF2-40B4-BE49-F238E27FC236}">
                <a16:creationId xmlns:a16="http://schemas.microsoft.com/office/drawing/2014/main" id="{F84A7D28-E74C-28E0-CCA6-D8A7B0EB32C4}"/>
              </a:ext>
            </a:extLst>
          </p:cNvPr>
          <p:cNvSpPr txBox="1"/>
          <p:nvPr/>
        </p:nvSpPr>
        <p:spPr>
          <a:xfrm>
            <a:off x="6280384"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23" name="文字方塊 22">
            <a:extLst>
              <a:ext uri="{FF2B5EF4-FFF2-40B4-BE49-F238E27FC236}">
                <a16:creationId xmlns:a16="http://schemas.microsoft.com/office/drawing/2014/main" id="{8DF98174-18D8-EDDC-0456-7FD2312C53DF}"/>
              </a:ext>
            </a:extLst>
          </p:cNvPr>
          <p:cNvSpPr txBox="1"/>
          <p:nvPr/>
        </p:nvSpPr>
        <p:spPr>
          <a:xfrm>
            <a:off x="6905979" y="4749435"/>
            <a:ext cx="382683"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24" name="矩形 23">
            <a:extLst>
              <a:ext uri="{FF2B5EF4-FFF2-40B4-BE49-F238E27FC236}">
                <a16:creationId xmlns:a16="http://schemas.microsoft.com/office/drawing/2014/main" id="{66ECF8BB-490B-F72E-5FD9-D4358EA484AD}"/>
              </a:ext>
            </a:extLst>
          </p:cNvPr>
          <p:cNvSpPr/>
          <p:nvPr/>
        </p:nvSpPr>
        <p:spPr>
          <a:xfrm>
            <a:off x="6731855" y="4767977"/>
            <a:ext cx="135693" cy="317969"/>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25" name="矩形 24">
            <a:extLst>
              <a:ext uri="{FF2B5EF4-FFF2-40B4-BE49-F238E27FC236}">
                <a16:creationId xmlns:a16="http://schemas.microsoft.com/office/drawing/2014/main" id="{F05F8148-2C2C-3C2A-5DF1-8C61473F068F}"/>
              </a:ext>
            </a:extLst>
          </p:cNvPr>
          <p:cNvSpPr/>
          <p:nvPr/>
        </p:nvSpPr>
        <p:spPr>
          <a:xfrm>
            <a:off x="6525371" y="3920828"/>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26" name="矩形 25">
            <a:extLst>
              <a:ext uri="{FF2B5EF4-FFF2-40B4-BE49-F238E27FC236}">
                <a16:creationId xmlns:a16="http://schemas.microsoft.com/office/drawing/2014/main" id="{E0075763-0FA1-6974-9030-BC3E7AEC24D6}"/>
              </a:ext>
            </a:extLst>
          </p:cNvPr>
          <p:cNvSpPr/>
          <p:nvPr/>
        </p:nvSpPr>
        <p:spPr>
          <a:xfrm>
            <a:off x="6227502" y="6318182"/>
            <a:ext cx="2058821" cy="22130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lumMod val="75000"/>
                  </a:schemeClr>
                </a:solidFill>
                <a:effectLst/>
                <a:uLnTx/>
                <a:uFillTx/>
                <a:latin typeface="Calibri"/>
                <a:ea typeface="微軟正黑體" panose="020B0604030504040204" pitchFamily="34" charset="-120"/>
                <a:cs typeface="+mn-cs"/>
              </a:rPr>
              <a:t>… other Experts</a:t>
            </a:r>
          </a:p>
        </p:txBody>
      </p:sp>
      <p:sp>
        <p:nvSpPr>
          <p:cNvPr id="28" name="矩形 27">
            <a:extLst>
              <a:ext uri="{FF2B5EF4-FFF2-40B4-BE49-F238E27FC236}">
                <a16:creationId xmlns:a16="http://schemas.microsoft.com/office/drawing/2014/main" id="{31FDDE85-1FC4-D0AA-D6A7-E1D2FEF71F2A}"/>
              </a:ext>
            </a:extLst>
          </p:cNvPr>
          <p:cNvSpPr/>
          <p:nvPr/>
        </p:nvSpPr>
        <p:spPr>
          <a:xfrm>
            <a:off x="163939" y="5085185"/>
            <a:ext cx="1219699" cy="308828"/>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ctr"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Attention</a:t>
            </a:r>
          </a:p>
        </p:txBody>
      </p:sp>
      <p:sp>
        <p:nvSpPr>
          <p:cNvPr id="30" name="文字方塊 29">
            <a:extLst>
              <a:ext uri="{FF2B5EF4-FFF2-40B4-BE49-F238E27FC236}">
                <a16:creationId xmlns:a16="http://schemas.microsoft.com/office/drawing/2014/main" id="{5C942AA1-598E-1CB8-3AA6-F41D2096B280}"/>
              </a:ext>
            </a:extLst>
          </p:cNvPr>
          <p:cNvSpPr txBox="1"/>
          <p:nvPr/>
        </p:nvSpPr>
        <p:spPr>
          <a:xfrm>
            <a:off x="2476661" y="5757472"/>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32" name="矩形 31">
            <a:extLst>
              <a:ext uri="{FF2B5EF4-FFF2-40B4-BE49-F238E27FC236}">
                <a16:creationId xmlns:a16="http://schemas.microsoft.com/office/drawing/2014/main" id="{9F11D9F9-B6CD-E546-ADD8-3F00F91DF769}"/>
              </a:ext>
            </a:extLst>
          </p:cNvPr>
          <p:cNvSpPr/>
          <p:nvPr/>
        </p:nvSpPr>
        <p:spPr>
          <a:xfrm>
            <a:off x="4139952" y="5781516"/>
            <a:ext cx="237234" cy="104777"/>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6</a:t>
            </a:r>
          </a:p>
        </p:txBody>
      </p:sp>
      <p:sp>
        <p:nvSpPr>
          <p:cNvPr id="36" name="文字方塊 35">
            <a:extLst>
              <a:ext uri="{FF2B5EF4-FFF2-40B4-BE49-F238E27FC236}">
                <a16:creationId xmlns:a16="http://schemas.microsoft.com/office/drawing/2014/main" id="{214BFF97-6CF7-4E5D-3C8D-6D4F67E0E62C}"/>
              </a:ext>
            </a:extLst>
          </p:cNvPr>
          <p:cNvSpPr txBox="1"/>
          <p:nvPr/>
        </p:nvSpPr>
        <p:spPr>
          <a:xfrm>
            <a:off x="3289568" y="591041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1x16</a:t>
            </a:r>
          </a:p>
        </p:txBody>
      </p:sp>
      <p:sp>
        <p:nvSpPr>
          <p:cNvPr id="38" name="矩形 37">
            <a:extLst>
              <a:ext uri="{FF2B5EF4-FFF2-40B4-BE49-F238E27FC236}">
                <a16:creationId xmlns:a16="http://schemas.microsoft.com/office/drawing/2014/main" id="{E518082B-8CA0-A754-ED86-66DAF216D56B}"/>
              </a:ext>
            </a:extLst>
          </p:cNvPr>
          <p:cNvSpPr/>
          <p:nvPr/>
        </p:nvSpPr>
        <p:spPr>
          <a:xfrm>
            <a:off x="5146979" y="5517232"/>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40" name="文字方塊 39">
            <a:extLst>
              <a:ext uri="{FF2B5EF4-FFF2-40B4-BE49-F238E27FC236}">
                <a16:creationId xmlns:a16="http://schemas.microsoft.com/office/drawing/2014/main" id="{E42CE9FA-6ECA-5905-7B4C-C42239015DB9}"/>
              </a:ext>
            </a:extLst>
          </p:cNvPr>
          <p:cNvSpPr txBox="1"/>
          <p:nvPr/>
        </p:nvSpPr>
        <p:spPr>
          <a:xfrm>
            <a:off x="3618690" y="5612769"/>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sp>
        <p:nvSpPr>
          <p:cNvPr id="42" name="文字方塊 41">
            <a:extLst>
              <a:ext uri="{FF2B5EF4-FFF2-40B4-BE49-F238E27FC236}">
                <a16:creationId xmlns:a16="http://schemas.microsoft.com/office/drawing/2014/main" id="{5FA89319-50A3-8440-10F7-4A3F407DE94F}"/>
              </a:ext>
            </a:extLst>
          </p:cNvPr>
          <p:cNvSpPr txBox="1"/>
          <p:nvPr/>
        </p:nvSpPr>
        <p:spPr>
          <a:xfrm>
            <a:off x="2895777" y="5690024"/>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4" name="文字方塊 43">
            <a:extLst>
              <a:ext uri="{FF2B5EF4-FFF2-40B4-BE49-F238E27FC236}">
                <a16:creationId xmlns:a16="http://schemas.microsoft.com/office/drawing/2014/main" id="{82C72F52-F19B-0A34-03EB-4A2A70AA916E}"/>
              </a:ext>
            </a:extLst>
          </p:cNvPr>
          <p:cNvSpPr txBox="1"/>
          <p:nvPr/>
        </p:nvSpPr>
        <p:spPr>
          <a:xfrm>
            <a:off x="3696060" y="5718530"/>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6" name="文字方塊 45">
            <a:extLst>
              <a:ext uri="{FF2B5EF4-FFF2-40B4-BE49-F238E27FC236}">
                <a16:creationId xmlns:a16="http://schemas.microsoft.com/office/drawing/2014/main" id="{D388D900-9F41-46B8-725D-0A536108080E}"/>
              </a:ext>
            </a:extLst>
          </p:cNvPr>
          <p:cNvSpPr txBox="1"/>
          <p:nvPr/>
        </p:nvSpPr>
        <p:spPr>
          <a:xfrm>
            <a:off x="5085889" y="608384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48" name="文字方塊 47">
            <a:extLst>
              <a:ext uri="{FF2B5EF4-FFF2-40B4-BE49-F238E27FC236}">
                <a16:creationId xmlns:a16="http://schemas.microsoft.com/office/drawing/2014/main" id="{F7B40193-515B-FCC1-E915-8F0C4ED51DB6}"/>
              </a:ext>
            </a:extLst>
          </p:cNvPr>
          <p:cNvSpPr txBox="1"/>
          <p:nvPr/>
        </p:nvSpPr>
        <p:spPr>
          <a:xfrm>
            <a:off x="2621457" y="609357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50" name="文字方塊 49">
            <a:extLst>
              <a:ext uri="{FF2B5EF4-FFF2-40B4-BE49-F238E27FC236}">
                <a16:creationId xmlns:a16="http://schemas.microsoft.com/office/drawing/2014/main" id="{42FADD3E-703E-579D-C1B3-9EACEF69BD6C}"/>
              </a:ext>
            </a:extLst>
          </p:cNvPr>
          <p:cNvSpPr txBox="1"/>
          <p:nvPr/>
        </p:nvSpPr>
        <p:spPr>
          <a:xfrm>
            <a:off x="2070980" y="591069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1xd</a:t>
            </a:r>
          </a:p>
        </p:txBody>
      </p:sp>
      <p:sp>
        <p:nvSpPr>
          <p:cNvPr id="52" name="文字方塊 51">
            <a:extLst>
              <a:ext uri="{FF2B5EF4-FFF2-40B4-BE49-F238E27FC236}">
                <a16:creationId xmlns:a16="http://schemas.microsoft.com/office/drawing/2014/main" id="{66BE22EB-DC5F-E4C7-7860-C939E8EDD621}"/>
              </a:ext>
            </a:extLst>
          </p:cNvPr>
          <p:cNvSpPr txBox="1"/>
          <p:nvPr/>
        </p:nvSpPr>
        <p:spPr>
          <a:xfrm>
            <a:off x="2903792" y="5644960"/>
            <a:ext cx="382683" cy="145147"/>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54" name="矩形 53">
            <a:extLst>
              <a:ext uri="{FF2B5EF4-FFF2-40B4-BE49-F238E27FC236}">
                <a16:creationId xmlns:a16="http://schemas.microsoft.com/office/drawing/2014/main" id="{D26FDE2C-F4F2-FE38-33E0-27AAAAA64D85}"/>
              </a:ext>
            </a:extLst>
          </p:cNvPr>
          <p:cNvSpPr/>
          <p:nvPr/>
        </p:nvSpPr>
        <p:spPr>
          <a:xfrm>
            <a:off x="2627783" y="5617141"/>
            <a:ext cx="222611" cy="467344"/>
          </a:xfrm>
          <a:prstGeom prst="rect">
            <a:avLst/>
          </a:prstGeom>
          <a:solidFill>
            <a:schemeClr val="accent6">
              <a:lumMod val="40000"/>
              <a:lumOff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34" name="矩形 33">
            <a:extLst>
              <a:ext uri="{FF2B5EF4-FFF2-40B4-BE49-F238E27FC236}">
                <a16:creationId xmlns:a16="http://schemas.microsoft.com/office/drawing/2014/main" id="{55476094-BF32-F393-1BBC-026A5A1F44E9}"/>
              </a:ext>
            </a:extLst>
          </p:cNvPr>
          <p:cNvSpPr/>
          <p:nvPr/>
        </p:nvSpPr>
        <p:spPr>
          <a:xfrm>
            <a:off x="1979712" y="5780347"/>
            <a:ext cx="466030" cy="121967"/>
          </a:xfrm>
          <a:prstGeom prst="rect">
            <a:avLst/>
          </a:prstGeom>
          <a:solidFill>
            <a:schemeClr val="accent2">
              <a:lumMod val="75000"/>
              <a:alpha val="20000"/>
            </a:schemeClr>
          </a:solidFill>
          <a:ln w="25400">
            <a:solidFill>
              <a:schemeClr val="accent2">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58" name="矩形 57">
            <a:extLst>
              <a:ext uri="{FF2B5EF4-FFF2-40B4-BE49-F238E27FC236}">
                <a16:creationId xmlns:a16="http://schemas.microsoft.com/office/drawing/2014/main" id="{CAA82C02-1CA5-E9C0-EE5E-2CF011A36A19}"/>
              </a:ext>
            </a:extLst>
          </p:cNvPr>
          <p:cNvSpPr/>
          <p:nvPr/>
        </p:nvSpPr>
        <p:spPr>
          <a:xfrm>
            <a:off x="3318052" y="5784269"/>
            <a:ext cx="215174" cy="104777"/>
          </a:xfrm>
          <a:prstGeom prst="rect">
            <a:avLst/>
          </a:prstGeom>
          <a:solidFill>
            <a:schemeClr val="accent6">
              <a:lumMod val="75000"/>
              <a:alpha val="20000"/>
            </a:schemeClr>
          </a:solidFill>
          <a:ln w="38100">
            <a:solidFill>
              <a:schemeClr val="accent2">
                <a:lumMod val="60000"/>
                <a:lumOff val="4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S</a:t>
            </a:r>
          </a:p>
        </p:txBody>
      </p:sp>
      <p:sp>
        <p:nvSpPr>
          <p:cNvPr id="31" name="標題 1">
            <a:extLst>
              <a:ext uri="{FF2B5EF4-FFF2-40B4-BE49-F238E27FC236}">
                <a16:creationId xmlns:a16="http://schemas.microsoft.com/office/drawing/2014/main" id="{F34D51B4-CFFC-D6DB-2D03-A832CBED1EFD}"/>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oment</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u</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m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rthogonalized by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N</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ewton-Schulz</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ultra-fast optimizer for 2D matrices that updates exclusively via Newton-Schulz orthogonalized direction while completely discarding gradient scale.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5" name="文字方塊 34">
            <a:extLst>
              <a:ext uri="{FF2B5EF4-FFF2-40B4-BE49-F238E27FC236}">
                <a16:creationId xmlns:a16="http://schemas.microsoft.com/office/drawing/2014/main" id="{5BA32CFF-C0F6-6F4E-C291-A0AF22B3A19D}"/>
              </a:ext>
            </a:extLst>
          </p:cNvPr>
          <p:cNvSpPr txBox="1"/>
          <p:nvPr/>
        </p:nvSpPr>
        <p:spPr>
          <a:xfrm>
            <a:off x="236725" y="1440646"/>
            <a:ext cx="8280922" cy="1477328"/>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DeepSeek : </a:t>
            </a:r>
            <a:r>
              <a:rPr lang="en-US" altLang="zh-TW" sz="1600" dirty="0"/>
              <a:t>F-</a:t>
            </a:r>
          </a:p>
          <a:p>
            <a:pPr marL="285750" indent="-285750">
              <a:lnSpc>
                <a:spcPts val="1800"/>
              </a:lnSpc>
              <a:spcBef>
                <a:spcPts val="600"/>
              </a:spcBef>
              <a:spcAft>
                <a:spcPts val="600"/>
              </a:spcAft>
              <a:buFont typeface="Wingdings" panose="05000000000000000000" pitchFamily="2" charset="2"/>
              <a:buChar char="Ø"/>
            </a:pPr>
            <a:r>
              <a:rPr lang="en-US" altLang="zh-TW" sz="1600" b="1" dirty="0"/>
              <a:t>Key Technology:</a:t>
            </a:r>
            <a:r>
              <a:rPr lang="en-US" altLang="zh-TW" sz="1600" dirty="0"/>
              <a:t> </a:t>
            </a:r>
          </a:p>
          <a:p>
            <a:pPr marL="742950" lvl="1" indent="-285750">
              <a:lnSpc>
                <a:spcPts val="1800"/>
              </a:lnSpc>
              <a:spcBef>
                <a:spcPts val="600"/>
              </a:spcBef>
              <a:buFont typeface="Arial" panose="020B0604020202020204" pitchFamily="34" charset="0"/>
              <a:buChar char="•"/>
            </a:pPr>
            <a:r>
              <a:rPr lang="en-US" altLang="zh-TW" sz="1600" dirty="0"/>
              <a:t>Mu</a:t>
            </a:r>
          </a:p>
        </p:txBody>
      </p:sp>
    </p:spTree>
    <p:extLst>
      <p:ext uri="{BB962C8B-B14F-4D97-AF65-F5344CB8AC3E}">
        <p14:creationId xmlns:p14="http://schemas.microsoft.com/office/powerpoint/2010/main" val="12605517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53FB2-FFFD-E6EE-95FE-18E3B114936D}"/>
            </a:ext>
          </a:extLst>
        </p:cNvPr>
        <p:cNvGrpSpPr/>
        <p:nvPr/>
      </p:nvGrpSpPr>
      <p:grpSpPr>
        <a:xfrm>
          <a:off x="0" y="0"/>
          <a:ext cx="0" cy="0"/>
          <a:chOff x="0" y="0"/>
          <a:chExt cx="0" cy="0"/>
        </a:xfrm>
      </p:grpSpPr>
      <p:sp>
        <p:nvSpPr>
          <p:cNvPr id="56" name="矩形 55">
            <a:extLst>
              <a:ext uri="{FF2B5EF4-FFF2-40B4-BE49-F238E27FC236}">
                <a16:creationId xmlns:a16="http://schemas.microsoft.com/office/drawing/2014/main" id="{EF4CF63F-298C-E5F6-65A4-53806A694550}"/>
              </a:ext>
            </a:extLst>
          </p:cNvPr>
          <p:cNvSpPr/>
          <p:nvPr/>
        </p:nvSpPr>
        <p:spPr>
          <a:xfrm>
            <a:off x="1979712" y="5085185"/>
            <a:ext cx="465295" cy="825514"/>
          </a:xfrm>
          <a:prstGeom prst="rect">
            <a:avLst/>
          </a:prstGeom>
          <a:solidFill>
            <a:schemeClr val="bg1"/>
          </a:solid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b="1" dirty="0">
                <a:solidFill>
                  <a:schemeClr val="bg1">
                    <a:lumMod val="75000"/>
                  </a:schemeClr>
                </a:solidFill>
                <a:ea typeface="微軟正黑體" panose="020B0604030504040204" pitchFamily="34" charset="-120"/>
              </a:rPr>
              <a:t>X</a:t>
            </a:r>
          </a:p>
        </p:txBody>
      </p:sp>
      <p:sp>
        <p:nvSpPr>
          <p:cNvPr id="2" name="矩形 1">
            <a:extLst>
              <a:ext uri="{FF2B5EF4-FFF2-40B4-BE49-F238E27FC236}">
                <a16:creationId xmlns:a16="http://schemas.microsoft.com/office/drawing/2014/main" id="{30B7A68F-2C27-8CD7-3F28-3A6222FAE057}"/>
              </a:ext>
            </a:extLst>
          </p:cNvPr>
          <p:cNvSpPr/>
          <p:nvPr/>
        </p:nvSpPr>
        <p:spPr>
          <a:xfrm>
            <a:off x="6227799" y="6022050"/>
            <a:ext cx="1119629"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FFN(x)*k1</a:t>
            </a:r>
          </a:p>
        </p:txBody>
      </p:sp>
      <p:sp>
        <p:nvSpPr>
          <p:cNvPr id="3" name="矩形 2">
            <a:extLst>
              <a:ext uri="{FF2B5EF4-FFF2-40B4-BE49-F238E27FC236}">
                <a16:creationId xmlns:a16="http://schemas.microsoft.com/office/drawing/2014/main" id="{C9D9E8C0-255B-F8B4-CE7B-95CCB63C99C0}"/>
              </a:ext>
            </a:extLst>
          </p:cNvPr>
          <p:cNvSpPr/>
          <p:nvPr/>
        </p:nvSpPr>
        <p:spPr>
          <a:xfrm>
            <a:off x="7515292" y="6022050"/>
            <a:ext cx="771031"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FFN(x)*k2</a:t>
            </a:r>
          </a:p>
        </p:txBody>
      </p:sp>
      <p:sp>
        <p:nvSpPr>
          <p:cNvPr id="4" name="矩形 3">
            <a:extLst>
              <a:ext uri="{FF2B5EF4-FFF2-40B4-BE49-F238E27FC236}">
                <a16:creationId xmlns:a16="http://schemas.microsoft.com/office/drawing/2014/main" id="{BCD56B9F-3CB5-4823-F9B1-6960FDBC0FB5}"/>
              </a:ext>
            </a:extLst>
          </p:cNvPr>
          <p:cNvSpPr/>
          <p:nvPr/>
        </p:nvSpPr>
        <p:spPr>
          <a:xfrm>
            <a:off x="6202530" y="4194205"/>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5" name="文字方塊 4">
            <a:extLst>
              <a:ext uri="{FF2B5EF4-FFF2-40B4-BE49-F238E27FC236}">
                <a16:creationId xmlns:a16="http://schemas.microsoft.com/office/drawing/2014/main" id="{E91D3EF4-718E-43D3-6A68-4D65ABAEAE94}"/>
              </a:ext>
            </a:extLst>
          </p:cNvPr>
          <p:cNvSpPr txBox="1"/>
          <p:nvPr/>
        </p:nvSpPr>
        <p:spPr>
          <a:xfrm>
            <a:off x="6575500" y="4848653"/>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6" name="矩形 5">
            <a:extLst>
              <a:ext uri="{FF2B5EF4-FFF2-40B4-BE49-F238E27FC236}">
                <a16:creationId xmlns:a16="http://schemas.microsoft.com/office/drawing/2014/main" id="{F60B48F6-4AD3-FDBE-6D45-BD5090544A0F}"/>
              </a:ext>
            </a:extLst>
          </p:cNvPr>
          <p:cNvSpPr/>
          <p:nvPr/>
        </p:nvSpPr>
        <p:spPr>
          <a:xfrm>
            <a:off x="7307919" y="4653898"/>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S</a:t>
            </a:r>
            <a:endParaRPr lang="en-US" altLang="zh-TW" sz="1200" b="1" baseline="-25000" dirty="0">
              <a:solidFill>
                <a:schemeClr val="tx1"/>
              </a:solidFill>
              <a:ea typeface="微軟正黑體" panose="020B0604030504040204" pitchFamily="34" charset="-120"/>
            </a:endParaRPr>
          </a:p>
        </p:txBody>
      </p:sp>
      <p:sp>
        <p:nvSpPr>
          <p:cNvPr id="7" name="文字方塊 6">
            <a:extLst>
              <a:ext uri="{FF2B5EF4-FFF2-40B4-BE49-F238E27FC236}">
                <a16:creationId xmlns:a16="http://schemas.microsoft.com/office/drawing/2014/main" id="{38FFBB7D-B5BC-429C-4E65-9D6DC1233F28}"/>
              </a:ext>
            </a:extLst>
          </p:cNvPr>
          <p:cNvSpPr txBox="1"/>
          <p:nvPr/>
        </p:nvSpPr>
        <p:spPr>
          <a:xfrm>
            <a:off x="6202530" y="3180361"/>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sp>
        <p:nvSpPr>
          <p:cNvPr id="8" name="矩形 7">
            <a:extLst>
              <a:ext uri="{FF2B5EF4-FFF2-40B4-BE49-F238E27FC236}">
                <a16:creationId xmlns:a16="http://schemas.microsoft.com/office/drawing/2014/main" id="{35A31170-318B-D58C-C215-E0CD0FCD99FE}"/>
              </a:ext>
            </a:extLst>
          </p:cNvPr>
          <p:cNvSpPr/>
          <p:nvPr/>
        </p:nvSpPr>
        <p:spPr>
          <a:xfrm>
            <a:off x="6291195" y="4653898"/>
            <a:ext cx="254168"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9" name="文字方塊 8">
            <a:extLst>
              <a:ext uri="{FF2B5EF4-FFF2-40B4-BE49-F238E27FC236}">
                <a16:creationId xmlns:a16="http://schemas.microsoft.com/office/drawing/2014/main" id="{9C09900E-1DED-6E3E-EA25-EA3C64BC214D}"/>
              </a:ext>
            </a:extLst>
          </p:cNvPr>
          <p:cNvSpPr txBox="1"/>
          <p:nvPr/>
        </p:nvSpPr>
        <p:spPr>
          <a:xfrm>
            <a:off x="7235911"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10" name="矩形 9">
            <a:extLst>
              <a:ext uri="{FF2B5EF4-FFF2-40B4-BE49-F238E27FC236}">
                <a16:creationId xmlns:a16="http://schemas.microsoft.com/office/drawing/2014/main" id="{FF0E46EC-89B8-24B6-E892-4D08DC3DBAAE}"/>
              </a:ext>
            </a:extLst>
          </p:cNvPr>
          <p:cNvSpPr/>
          <p:nvPr/>
        </p:nvSpPr>
        <p:spPr>
          <a:xfrm>
            <a:off x="8030793" y="4653898"/>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11" name="文字方塊 10">
            <a:extLst>
              <a:ext uri="{FF2B5EF4-FFF2-40B4-BE49-F238E27FC236}">
                <a16:creationId xmlns:a16="http://schemas.microsoft.com/office/drawing/2014/main" id="{D585F32F-A502-408B-7DEE-FEA9BA964AF6}"/>
              </a:ext>
            </a:extLst>
          </p:cNvPr>
          <p:cNvSpPr txBox="1"/>
          <p:nvPr/>
        </p:nvSpPr>
        <p:spPr>
          <a:xfrm>
            <a:off x="7481468" y="4749435"/>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cxnSp>
        <p:nvCxnSpPr>
          <p:cNvPr id="13" name="接點: 肘形 12">
            <a:extLst>
              <a:ext uri="{FF2B5EF4-FFF2-40B4-BE49-F238E27FC236}">
                <a16:creationId xmlns:a16="http://schemas.microsoft.com/office/drawing/2014/main" id="{5AB074D7-3E7D-11C6-9321-750F6C36C057}"/>
              </a:ext>
            </a:extLst>
          </p:cNvPr>
          <p:cNvCxnSpPr>
            <a:cxnSpLocks/>
            <a:endCxn id="2" idx="1"/>
          </p:cNvCxnSpPr>
          <p:nvPr/>
        </p:nvCxnSpPr>
        <p:spPr>
          <a:xfrm>
            <a:off x="5736151" y="4720547"/>
            <a:ext cx="491648" cy="1412155"/>
          </a:xfrm>
          <a:prstGeom prst="bentConnector3">
            <a:avLst/>
          </a:prstGeom>
          <a:ln w="2540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接點: 弧形 13">
            <a:extLst>
              <a:ext uri="{FF2B5EF4-FFF2-40B4-BE49-F238E27FC236}">
                <a16:creationId xmlns:a16="http://schemas.microsoft.com/office/drawing/2014/main" id="{F1AD2B78-2C9A-A675-387C-88CE3529E05E}"/>
              </a:ext>
            </a:extLst>
          </p:cNvPr>
          <p:cNvCxnSpPr>
            <a:cxnSpLocks/>
            <a:stCxn id="20" idx="2"/>
            <a:endCxn id="3" idx="0"/>
          </p:cNvCxnSpPr>
          <p:nvPr/>
        </p:nvCxnSpPr>
        <p:spPr>
          <a:xfrm rot="5400000">
            <a:off x="7694508" y="5609695"/>
            <a:ext cx="618656" cy="206055"/>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接點: 弧形 14">
            <a:extLst>
              <a:ext uri="{FF2B5EF4-FFF2-40B4-BE49-F238E27FC236}">
                <a16:creationId xmlns:a16="http://schemas.microsoft.com/office/drawing/2014/main" id="{62B6F707-3B3C-CE48-E8BC-1F3EC56750C5}"/>
              </a:ext>
            </a:extLst>
          </p:cNvPr>
          <p:cNvCxnSpPr>
            <a:cxnSpLocks/>
            <a:stCxn id="20" idx="2"/>
            <a:endCxn id="2" idx="0"/>
          </p:cNvCxnSpPr>
          <p:nvPr/>
        </p:nvCxnSpPr>
        <p:spPr>
          <a:xfrm rot="5400000">
            <a:off x="7137911" y="5053098"/>
            <a:ext cx="618656" cy="131924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988AD252-6AAC-12D3-6A54-384E435AB021}"/>
              </a:ext>
            </a:extLst>
          </p:cNvPr>
          <p:cNvSpPr txBox="1">
            <a:spLocks/>
          </p:cNvSpPr>
          <p:nvPr/>
        </p:nvSpPr>
        <p:spPr>
          <a:xfrm>
            <a:off x="7059396" y="5806026"/>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0.08</a:t>
            </a:r>
          </a:p>
        </p:txBody>
      </p:sp>
      <p:sp>
        <p:nvSpPr>
          <p:cNvPr id="17" name="標題 1">
            <a:extLst>
              <a:ext uri="{FF2B5EF4-FFF2-40B4-BE49-F238E27FC236}">
                <a16:creationId xmlns:a16="http://schemas.microsoft.com/office/drawing/2014/main" id="{37CCDACD-CE3A-ABBC-7F87-D14425849903}"/>
              </a:ext>
            </a:extLst>
          </p:cNvPr>
          <p:cNvSpPr txBox="1">
            <a:spLocks/>
          </p:cNvSpPr>
          <p:nvPr/>
        </p:nvSpPr>
        <p:spPr>
          <a:xfrm>
            <a:off x="7947340" y="5806026"/>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0.92</a:t>
            </a:r>
          </a:p>
        </p:txBody>
      </p:sp>
      <p:sp>
        <p:nvSpPr>
          <p:cNvPr id="18" name="文字方塊 17">
            <a:extLst>
              <a:ext uri="{FF2B5EF4-FFF2-40B4-BE49-F238E27FC236}">
                <a16:creationId xmlns:a16="http://schemas.microsoft.com/office/drawing/2014/main" id="{EBD0AAF9-3F83-3A4B-6993-F26188955CB3}"/>
              </a:ext>
            </a:extLst>
          </p:cNvPr>
          <p:cNvSpPr txBox="1"/>
          <p:nvPr/>
        </p:nvSpPr>
        <p:spPr>
          <a:xfrm>
            <a:off x="6910766" y="4797914"/>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9" name="文字方塊 18">
            <a:extLst>
              <a:ext uri="{FF2B5EF4-FFF2-40B4-BE49-F238E27FC236}">
                <a16:creationId xmlns:a16="http://schemas.microsoft.com/office/drawing/2014/main" id="{23B7FA2A-6E1D-8436-2695-AB694CBC01E5}"/>
              </a:ext>
            </a:extLst>
          </p:cNvPr>
          <p:cNvSpPr txBox="1"/>
          <p:nvPr/>
        </p:nvSpPr>
        <p:spPr>
          <a:xfrm>
            <a:off x="7558838" y="4855196"/>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20" name="文字方塊 19">
            <a:extLst>
              <a:ext uri="{FF2B5EF4-FFF2-40B4-BE49-F238E27FC236}">
                <a16:creationId xmlns:a16="http://schemas.microsoft.com/office/drawing/2014/main" id="{2DDE61CA-7857-ACD8-4BA5-1837949360DF}"/>
              </a:ext>
            </a:extLst>
          </p:cNvPr>
          <p:cNvSpPr txBox="1"/>
          <p:nvPr/>
        </p:nvSpPr>
        <p:spPr>
          <a:xfrm>
            <a:off x="7969703"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21" name="文字方塊 20">
            <a:extLst>
              <a:ext uri="{FF2B5EF4-FFF2-40B4-BE49-F238E27FC236}">
                <a16:creationId xmlns:a16="http://schemas.microsoft.com/office/drawing/2014/main" id="{D56AD42F-F5A0-5368-4353-9E57881FA6E5}"/>
              </a:ext>
            </a:extLst>
          </p:cNvPr>
          <p:cNvSpPr txBox="1"/>
          <p:nvPr/>
        </p:nvSpPr>
        <p:spPr>
          <a:xfrm>
            <a:off x="6712616"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22" name="文字方塊 21">
            <a:extLst>
              <a:ext uri="{FF2B5EF4-FFF2-40B4-BE49-F238E27FC236}">
                <a16:creationId xmlns:a16="http://schemas.microsoft.com/office/drawing/2014/main" id="{CF0AD642-CBF1-EFBA-CC80-09161963EEE7}"/>
              </a:ext>
            </a:extLst>
          </p:cNvPr>
          <p:cNvSpPr txBox="1"/>
          <p:nvPr/>
        </p:nvSpPr>
        <p:spPr>
          <a:xfrm>
            <a:off x="6280384" y="5220514"/>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23" name="文字方塊 22">
            <a:extLst>
              <a:ext uri="{FF2B5EF4-FFF2-40B4-BE49-F238E27FC236}">
                <a16:creationId xmlns:a16="http://schemas.microsoft.com/office/drawing/2014/main" id="{963FA891-12E0-B6CB-B4B8-F2D4EA82BC34}"/>
              </a:ext>
            </a:extLst>
          </p:cNvPr>
          <p:cNvSpPr txBox="1"/>
          <p:nvPr/>
        </p:nvSpPr>
        <p:spPr>
          <a:xfrm>
            <a:off x="6905979" y="4749435"/>
            <a:ext cx="382683"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24" name="矩形 23">
            <a:extLst>
              <a:ext uri="{FF2B5EF4-FFF2-40B4-BE49-F238E27FC236}">
                <a16:creationId xmlns:a16="http://schemas.microsoft.com/office/drawing/2014/main" id="{51A8739A-B1BC-CF60-2045-EE0CD80942DE}"/>
              </a:ext>
            </a:extLst>
          </p:cNvPr>
          <p:cNvSpPr/>
          <p:nvPr/>
        </p:nvSpPr>
        <p:spPr>
          <a:xfrm>
            <a:off x="6731855" y="4767977"/>
            <a:ext cx="135693" cy="317969"/>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25" name="矩形 24">
            <a:extLst>
              <a:ext uri="{FF2B5EF4-FFF2-40B4-BE49-F238E27FC236}">
                <a16:creationId xmlns:a16="http://schemas.microsoft.com/office/drawing/2014/main" id="{C67B062C-DD24-E639-4308-97680E62C416}"/>
              </a:ext>
            </a:extLst>
          </p:cNvPr>
          <p:cNvSpPr/>
          <p:nvPr/>
        </p:nvSpPr>
        <p:spPr>
          <a:xfrm>
            <a:off x="6525371" y="3920828"/>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26" name="矩形 25">
            <a:extLst>
              <a:ext uri="{FF2B5EF4-FFF2-40B4-BE49-F238E27FC236}">
                <a16:creationId xmlns:a16="http://schemas.microsoft.com/office/drawing/2014/main" id="{10B2BC11-1E5F-41EC-AC1A-D17A516F9D53}"/>
              </a:ext>
            </a:extLst>
          </p:cNvPr>
          <p:cNvSpPr/>
          <p:nvPr/>
        </p:nvSpPr>
        <p:spPr>
          <a:xfrm>
            <a:off x="6227502" y="6318182"/>
            <a:ext cx="2058821" cy="22130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lumMod val="75000"/>
                  </a:schemeClr>
                </a:solidFill>
                <a:effectLst/>
                <a:uLnTx/>
                <a:uFillTx/>
                <a:latin typeface="Calibri"/>
                <a:ea typeface="微軟正黑體" panose="020B0604030504040204" pitchFamily="34" charset="-120"/>
                <a:cs typeface="+mn-cs"/>
              </a:rPr>
              <a:t>… other Experts</a:t>
            </a:r>
          </a:p>
        </p:txBody>
      </p:sp>
      <p:sp>
        <p:nvSpPr>
          <p:cNvPr id="28" name="矩形 27">
            <a:extLst>
              <a:ext uri="{FF2B5EF4-FFF2-40B4-BE49-F238E27FC236}">
                <a16:creationId xmlns:a16="http://schemas.microsoft.com/office/drawing/2014/main" id="{C40958A2-B6F8-C15F-A408-2391FE127946}"/>
              </a:ext>
            </a:extLst>
          </p:cNvPr>
          <p:cNvSpPr/>
          <p:nvPr/>
        </p:nvSpPr>
        <p:spPr>
          <a:xfrm>
            <a:off x="163939" y="5085185"/>
            <a:ext cx="1219699" cy="308828"/>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ctr"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Attention</a:t>
            </a:r>
          </a:p>
        </p:txBody>
      </p:sp>
      <p:sp>
        <p:nvSpPr>
          <p:cNvPr id="30" name="文字方塊 29">
            <a:extLst>
              <a:ext uri="{FF2B5EF4-FFF2-40B4-BE49-F238E27FC236}">
                <a16:creationId xmlns:a16="http://schemas.microsoft.com/office/drawing/2014/main" id="{8F4C6418-8998-8FE3-6A7B-64FA8F82A6B3}"/>
              </a:ext>
            </a:extLst>
          </p:cNvPr>
          <p:cNvSpPr txBox="1"/>
          <p:nvPr/>
        </p:nvSpPr>
        <p:spPr>
          <a:xfrm>
            <a:off x="2476661" y="5757472"/>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32" name="矩形 31">
            <a:extLst>
              <a:ext uri="{FF2B5EF4-FFF2-40B4-BE49-F238E27FC236}">
                <a16:creationId xmlns:a16="http://schemas.microsoft.com/office/drawing/2014/main" id="{0373013C-8B67-9741-763C-0B12EBCE06DB}"/>
              </a:ext>
            </a:extLst>
          </p:cNvPr>
          <p:cNvSpPr/>
          <p:nvPr/>
        </p:nvSpPr>
        <p:spPr>
          <a:xfrm>
            <a:off x="4139952" y="5781516"/>
            <a:ext cx="237234" cy="104777"/>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6</a:t>
            </a:r>
          </a:p>
        </p:txBody>
      </p:sp>
      <p:sp>
        <p:nvSpPr>
          <p:cNvPr id="36" name="文字方塊 35">
            <a:extLst>
              <a:ext uri="{FF2B5EF4-FFF2-40B4-BE49-F238E27FC236}">
                <a16:creationId xmlns:a16="http://schemas.microsoft.com/office/drawing/2014/main" id="{3D2F62BA-F010-0488-4844-EC55BDB986CD}"/>
              </a:ext>
            </a:extLst>
          </p:cNvPr>
          <p:cNvSpPr txBox="1"/>
          <p:nvPr/>
        </p:nvSpPr>
        <p:spPr>
          <a:xfrm>
            <a:off x="3289568" y="591041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1x16</a:t>
            </a:r>
          </a:p>
        </p:txBody>
      </p:sp>
      <p:sp>
        <p:nvSpPr>
          <p:cNvPr id="38" name="矩形 37">
            <a:extLst>
              <a:ext uri="{FF2B5EF4-FFF2-40B4-BE49-F238E27FC236}">
                <a16:creationId xmlns:a16="http://schemas.microsoft.com/office/drawing/2014/main" id="{45B14785-C6A4-B1C5-24AE-992CFE5659FA}"/>
              </a:ext>
            </a:extLst>
          </p:cNvPr>
          <p:cNvSpPr/>
          <p:nvPr/>
        </p:nvSpPr>
        <p:spPr>
          <a:xfrm>
            <a:off x="5146979" y="5517232"/>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40" name="文字方塊 39">
            <a:extLst>
              <a:ext uri="{FF2B5EF4-FFF2-40B4-BE49-F238E27FC236}">
                <a16:creationId xmlns:a16="http://schemas.microsoft.com/office/drawing/2014/main" id="{987CD78A-D1B8-7019-4BA5-AB8D626DB688}"/>
              </a:ext>
            </a:extLst>
          </p:cNvPr>
          <p:cNvSpPr txBox="1"/>
          <p:nvPr/>
        </p:nvSpPr>
        <p:spPr>
          <a:xfrm>
            <a:off x="3618690" y="5612769"/>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sp>
        <p:nvSpPr>
          <p:cNvPr id="42" name="文字方塊 41">
            <a:extLst>
              <a:ext uri="{FF2B5EF4-FFF2-40B4-BE49-F238E27FC236}">
                <a16:creationId xmlns:a16="http://schemas.microsoft.com/office/drawing/2014/main" id="{EB942EEC-3934-C852-76CB-1FA43A3AD8B7}"/>
              </a:ext>
            </a:extLst>
          </p:cNvPr>
          <p:cNvSpPr txBox="1"/>
          <p:nvPr/>
        </p:nvSpPr>
        <p:spPr>
          <a:xfrm>
            <a:off x="2895777" y="5690024"/>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4" name="文字方塊 43">
            <a:extLst>
              <a:ext uri="{FF2B5EF4-FFF2-40B4-BE49-F238E27FC236}">
                <a16:creationId xmlns:a16="http://schemas.microsoft.com/office/drawing/2014/main" id="{A15CDD8B-AEA9-0B19-BAFF-5F6F8D6D0034}"/>
              </a:ext>
            </a:extLst>
          </p:cNvPr>
          <p:cNvSpPr txBox="1"/>
          <p:nvPr/>
        </p:nvSpPr>
        <p:spPr>
          <a:xfrm>
            <a:off x="3696060" y="5718530"/>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6" name="文字方塊 45">
            <a:extLst>
              <a:ext uri="{FF2B5EF4-FFF2-40B4-BE49-F238E27FC236}">
                <a16:creationId xmlns:a16="http://schemas.microsoft.com/office/drawing/2014/main" id="{648AA5D1-F0A1-6492-49D6-AA447F98958C}"/>
              </a:ext>
            </a:extLst>
          </p:cNvPr>
          <p:cNvSpPr txBox="1"/>
          <p:nvPr/>
        </p:nvSpPr>
        <p:spPr>
          <a:xfrm>
            <a:off x="5085889" y="608384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48" name="文字方塊 47">
            <a:extLst>
              <a:ext uri="{FF2B5EF4-FFF2-40B4-BE49-F238E27FC236}">
                <a16:creationId xmlns:a16="http://schemas.microsoft.com/office/drawing/2014/main" id="{022D2868-93FE-C4EE-F632-DDFE0801E8DA}"/>
              </a:ext>
            </a:extLst>
          </p:cNvPr>
          <p:cNvSpPr txBox="1"/>
          <p:nvPr/>
        </p:nvSpPr>
        <p:spPr>
          <a:xfrm>
            <a:off x="2621457" y="609357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50" name="文字方塊 49">
            <a:extLst>
              <a:ext uri="{FF2B5EF4-FFF2-40B4-BE49-F238E27FC236}">
                <a16:creationId xmlns:a16="http://schemas.microsoft.com/office/drawing/2014/main" id="{A61551E6-B1F1-188D-F847-727557FAC397}"/>
              </a:ext>
            </a:extLst>
          </p:cNvPr>
          <p:cNvSpPr txBox="1"/>
          <p:nvPr/>
        </p:nvSpPr>
        <p:spPr>
          <a:xfrm>
            <a:off x="2070980" y="591069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1xd</a:t>
            </a:r>
          </a:p>
        </p:txBody>
      </p:sp>
      <p:sp>
        <p:nvSpPr>
          <p:cNvPr id="52" name="文字方塊 51">
            <a:extLst>
              <a:ext uri="{FF2B5EF4-FFF2-40B4-BE49-F238E27FC236}">
                <a16:creationId xmlns:a16="http://schemas.microsoft.com/office/drawing/2014/main" id="{8E9F3E85-D9B1-854A-6767-4576DDCE3A9D}"/>
              </a:ext>
            </a:extLst>
          </p:cNvPr>
          <p:cNvSpPr txBox="1"/>
          <p:nvPr/>
        </p:nvSpPr>
        <p:spPr>
          <a:xfrm>
            <a:off x="2903792" y="5644960"/>
            <a:ext cx="382683" cy="145147"/>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54" name="矩形 53">
            <a:extLst>
              <a:ext uri="{FF2B5EF4-FFF2-40B4-BE49-F238E27FC236}">
                <a16:creationId xmlns:a16="http://schemas.microsoft.com/office/drawing/2014/main" id="{DA2D575E-21FF-543B-50A3-3F9CBF7C57A0}"/>
              </a:ext>
            </a:extLst>
          </p:cNvPr>
          <p:cNvSpPr/>
          <p:nvPr/>
        </p:nvSpPr>
        <p:spPr>
          <a:xfrm>
            <a:off x="2627783" y="5617141"/>
            <a:ext cx="222611" cy="467344"/>
          </a:xfrm>
          <a:prstGeom prst="rect">
            <a:avLst/>
          </a:prstGeom>
          <a:solidFill>
            <a:schemeClr val="accent6">
              <a:lumMod val="40000"/>
              <a:lumOff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34" name="矩形 33">
            <a:extLst>
              <a:ext uri="{FF2B5EF4-FFF2-40B4-BE49-F238E27FC236}">
                <a16:creationId xmlns:a16="http://schemas.microsoft.com/office/drawing/2014/main" id="{00BB627C-9C7B-229D-4348-5243254E944E}"/>
              </a:ext>
            </a:extLst>
          </p:cNvPr>
          <p:cNvSpPr/>
          <p:nvPr/>
        </p:nvSpPr>
        <p:spPr>
          <a:xfrm>
            <a:off x="1979712" y="5780347"/>
            <a:ext cx="466030" cy="121967"/>
          </a:xfrm>
          <a:prstGeom prst="rect">
            <a:avLst/>
          </a:prstGeom>
          <a:solidFill>
            <a:schemeClr val="accent2">
              <a:lumMod val="75000"/>
              <a:alpha val="20000"/>
            </a:schemeClr>
          </a:solidFill>
          <a:ln w="25400">
            <a:solidFill>
              <a:schemeClr val="accent2">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58" name="矩形 57">
            <a:extLst>
              <a:ext uri="{FF2B5EF4-FFF2-40B4-BE49-F238E27FC236}">
                <a16:creationId xmlns:a16="http://schemas.microsoft.com/office/drawing/2014/main" id="{BA04D4F6-4DAA-AB3A-5188-3B18E65B8171}"/>
              </a:ext>
            </a:extLst>
          </p:cNvPr>
          <p:cNvSpPr/>
          <p:nvPr/>
        </p:nvSpPr>
        <p:spPr>
          <a:xfrm>
            <a:off x="3318052" y="5784269"/>
            <a:ext cx="215174" cy="104777"/>
          </a:xfrm>
          <a:prstGeom prst="rect">
            <a:avLst/>
          </a:prstGeom>
          <a:solidFill>
            <a:schemeClr val="accent6">
              <a:lumMod val="75000"/>
              <a:alpha val="20000"/>
            </a:schemeClr>
          </a:solidFill>
          <a:ln w="38100">
            <a:solidFill>
              <a:schemeClr val="accent2">
                <a:lumMod val="60000"/>
                <a:lumOff val="4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S</a:t>
            </a:r>
          </a:p>
        </p:txBody>
      </p:sp>
      <p:sp>
        <p:nvSpPr>
          <p:cNvPr id="31" name="標題 1">
            <a:extLst>
              <a:ext uri="{FF2B5EF4-FFF2-40B4-BE49-F238E27FC236}">
                <a16:creationId xmlns:a16="http://schemas.microsoft.com/office/drawing/2014/main" id="{2D66367A-4E82-77C6-1B8A-1A8EC1990F34}"/>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Newton-Schulz</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5" name="文字方塊 34">
            <a:extLst>
              <a:ext uri="{FF2B5EF4-FFF2-40B4-BE49-F238E27FC236}">
                <a16:creationId xmlns:a16="http://schemas.microsoft.com/office/drawing/2014/main" id="{69C77415-596C-9F0A-13A0-E973BFADAA86}"/>
              </a:ext>
            </a:extLst>
          </p:cNvPr>
          <p:cNvSpPr txBox="1"/>
          <p:nvPr/>
        </p:nvSpPr>
        <p:spPr>
          <a:xfrm>
            <a:off x="236725" y="1440646"/>
            <a:ext cx="8280922" cy="1477328"/>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DeepSeek : </a:t>
            </a:r>
            <a:r>
              <a:rPr lang="en-US" altLang="zh-TW" sz="1600" dirty="0"/>
              <a:t>F-</a:t>
            </a:r>
          </a:p>
          <a:p>
            <a:pPr marL="285750" indent="-285750">
              <a:lnSpc>
                <a:spcPts val="1800"/>
              </a:lnSpc>
              <a:spcBef>
                <a:spcPts val="600"/>
              </a:spcBef>
              <a:spcAft>
                <a:spcPts val="600"/>
              </a:spcAft>
              <a:buFont typeface="Wingdings" panose="05000000000000000000" pitchFamily="2" charset="2"/>
              <a:buChar char="Ø"/>
            </a:pPr>
            <a:r>
              <a:rPr lang="en-US" altLang="zh-TW" sz="1600" b="1" dirty="0"/>
              <a:t>Key Technology:</a:t>
            </a:r>
            <a:r>
              <a:rPr lang="en-US" altLang="zh-TW" sz="1600" dirty="0"/>
              <a:t> </a:t>
            </a:r>
          </a:p>
          <a:p>
            <a:pPr marL="742950" lvl="1" indent="-285750">
              <a:lnSpc>
                <a:spcPts val="1800"/>
              </a:lnSpc>
              <a:spcBef>
                <a:spcPts val="600"/>
              </a:spcBef>
              <a:buFont typeface="Arial" panose="020B0604020202020204" pitchFamily="34" charset="0"/>
              <a:buChar char="•"/>
            </a:pPr>
            <a:r>
              <a:rPr lang="en-US" altLang="zh-TW" sz="1600" dirty="0"/>
              <a:t>Mu</a:t>
            </a:r>
          </a:p>
        </p:txBody>
      </p:sp>
    </p:spTree>
    <p:extLst>
      <p:ext uri="{BB962C8B-B14F-4D97-AF65-F5344CB8AC3E}">
        <p14:creationId xmlns:p14="http://schemas.microsoft.com/office/powerpoint/2010/main" val="6693863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38658-2B3C-8DE5-45DA-23737A42A4AD}"/>
            </a:ext>
          </a:extLst>
        </p:cNvPr>
        <p:cNvGrpSpPr/>
        <p:nvPr/>
      </p:nvGrpSpPr>
      <p:grpSpPr>
        <a:xfrm>
          <a:off x="0" y="0"/>
          <a:ext cx="0" cy="0"/>
          <a:chOff x="0" y="0"/>
          <a:chExt cx="0" cy="0"/>
        </a:xfrm>
      </p:grpSpPr>
      <p:pic>
        <p:nvPicPr>
          <p:cNvPr id="2" name="圖片 1">
            <a:extLst>
              <a:ext uri="{FF2B5EF4-FFF2-40B4-BE49-F238E27FC236}">
                <a16:creationId xmlns:a16="http://schemas.microsoft.com/office/drawing/2014/main" id="{EC336CA0-741B-90B5-2048-06767EC967D4}"/>
              </a:ext>
            </a:extLst>
          </p:cNvPr>
          <p:cNvPicPr>
            <a:picLocks noChangeAspect="1"/>
          </p:cNvPicPr>
          <p:nvPr/>
        </p:nvPicPr>
        <p:blipFill>
          <a:blip r:embed="rId3"/>
          <a:stretch>
            <a:fillRect/>
          </a:stretch>
        </p:blipFill>
        <p:spPr>
          <a:xfrm>
            <a:off x="8224137" y="37246"/>
            <a:ext cx="740352" cy="740352"/>
          </a:xfrm>
          <a:prstGeom prst="rect">
            <a:avLst/>
          </a:prstGeom>
        </p:spPr>
      </p:pic>
      <p:sp>
        <p:nvSpPr>
          <p:cNvPr id="5" name="標題 1">
            <a:extLst>
              <a:ext uri="{FF2B5EF4-FFF2-40B4-BE49-F238E27FC236}">
                <a16:creationId xmlns:a16="http://schemas.microsoft.com/office/drawing/2014/main" id="{960A8EDD-0A24-CE7E-CD63-1B7D075BCAA1}"/>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Family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ultra-cost-efficient hardware maximizer that slashes KV cache memory by over 90% through shared and fine-grained expert architectures. </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6" name="標題 1">
            <a:extLst>
              <a:ext uri="{FF2B5EF4-FFF2-40B4-BE49-F238E27FC236}">
                <a16:creationId xmlns:a16="http://schemas.microsoft.com/office/drawing/2014/main" id="{533B2B92-2B9A-4E68-37FC-4D4796F63F0C}"/>
              </a:ext>
            </a:extLst>
          </p:cNvPr>
          <p:cNvSpPr txBox="1">
            <a:spLocks/>
          </p:cNvSpPr>
          <p:nvPr/>
        </p:nvSpPr>
        <p:spPr>
          <a:xfrm>
            <a:off x="8224137" y="620688"/>
            <a:ext cx="740352" cy="42522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solidFill>
                  <a:srgbClr val="4C6BFF"/>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DeepSeek</a:t>
            </a:r>
          </a:p>
          <a:p>
            <a:pPr algn="ctr"/>
            <a:r>
              <a:rPr lang="zh-TW" altLang="en-US" sz="1000" dirty="0">
                <a:solidFill>
                  <a:srgbClr val="4C6BFF"/>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深度求索</a:t>
            </a:r>
            <a:endParaRPr lang="en-US" altLang="zh-TW" sz="1000" dirty="0">
              <a:solidFill>
                <a:srgbClr val="4C6BFF"/>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sp>
        <p:nvSpPr>
          <p:cNvPr id="7" name="文字方塊 6">
            <a:extLst>
              <a:ext uri="{FF2B5EF4-FFF2-40B4-BE49-F238E27FC236}">
                <a16:creationId xmlns:a16="http://schemas.microsoft.com/office/drawing/2014/main" id="{1887142E-F390-F7B5-0F57-E6099827F1D5}"/>
              </a:ext>
            </a:extLst>
          </p:cNvPr>
          <p:cNvSpPr txBox="1"/>
          <p:nvPr/>
        </p:nvSpPr>
        <p:spPr>
          <a:xfrm>
            <a:off x="179510" y="1377042"/>
            <a:ext cx="8280922" cy="2400657"/>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DeepSeek : </a:t>
            </a:r>
            <a:r>
              <a:rPr lang="en-US" altLang="zh-TW" sz="1600" dirty="0"/>
              <a:t>Funded by High-Flyer Quant, </a:t>
            </a:r>
          </a:p>
          <a:p>
            <a:pPr marL="285750" indent="-285750">
              <a:lnSpc>
                <a:spcPts val="1800"/>
              </a:lnSpc>
              <a:spcBef>
                <a:spcPts val="600"/>
              </a:spcBef>
              <a:spcAft>
                <a:spcPts val="600"/>
              </a:spcAft>
              <a:buFont typeface="Wingdings" panose="05000000000000000000" pitchFamily="2" charset="2"/>
              <a:buChar char="Ø"/>
            </a:pPr>
            <a:r>
              <a:rPr lang="en-US" altLang="zh-TW" sz="1600" b="1" dirty="0"/>
              <a:t>Key Technology:</a:t>
            </a:r>
            <a:r>
              <a:rPr lang="en-US" altLang="zh-TW" sz="1600" dirty="0"/>
              <a:t> </a:t>
            </a:r>
          </a:p>
          <a:p>
            <a:pPr marL="742950" lvl="1" indent="-285750">
              <a:lnSpc>
                <a:spcPts val="1800"/>
              </a:lnSpc>
              <a:spcBef>
                <a:spcPts val="600"/>
              </a:spcBef>
              <a:buFont typeface="Arial" panose="020B0604020202020204" pitchFamily="34" charset="0"/>
              <a:buChar char="•"/>
            </a:pPr>
            <a:r>
              <a:rPr lang="en-US" altLang="zh-TW" sz="1600" dirty="0"/>
              <a:t>V2 Multi-head Latent Attention(</a:t>
            </a:r>
            <a:r>
              <a:rPr lang="en-US" altLang="zh-TW" sz="1600" b="1" dirty="0"/>
              <a:t>MLA</a:t>
            </a:r>
            <a:r>
              <a:rPr lang="en-US" altLang="zh-TW" sz="1600" dirty="0"/>
              <a:t>): Reduced KV cache usage by 90%.</a:t>
            </a:r>
          </a:p>
          <a:p>
            <a:pPr marL="742950" lvl="1" indent="-285750">
              <a:lnSpc>
                <a:spcPts val="1800"/>
              </a:lnSpc>
              <a:spcBef>
                <a:spcPts val="600"/>
              </a:spcBef>
              <a:buFont typeface="Arial" panose="020B0604020202020204" pitchFamily="34" charset="0"/>
              <a:buChar char="•"/>
            </a:pPr>
            <a:r>
              <a:rPr lang="en-US" altLang="zh-TW" sz="1600" dirty="0"/>
              <a:t>V3 </a:t>
            </a:r>
            <a:r>
              <a:rPr lang="en-US" altLang="zh-TW" sz="1600" b="1" dirty="0"/>
              <a:t>DSA</a:t>
            </a:r>
            <a:r>
              <a:rPr lang="en-US" altLang="zh-TW" sz="1600" dirty="0"/>
              <a:t>: Select Top-K token via lighting Indexer.</a:t>
            </a:r>
          </a:p>
          <a:p>
            <a:pPr marL="742950" lvl="1" indent="-285750">
              <a:lnSpc>
                <a:spcPts val="1800"/>
              </a:lnSpc>
              <a:spcBef>
                <a:spcPts val="600"/>
              </a:spcBef>
              <a:buFont typeface="Arial" panose="020B0604020202020204" pitchFamily="34" charset="0"/>
              <a:buChar char="•"/>
            </a:pPr>
            <a:r>
              <a:rPr lang="en-US" altLang="zh-TW" sz="1600" dirty="0"/>
              <a:t>V4 Hybrid MHA: Sliding Window(</a:t>
            </a:r>
            <a:r>
              <a:rPr lang="en-US" altLang="zh-TW" sz="1600" b="1" dirty="0"/>
              <a:t>SWA</a:t>
            </a:r>
            <a:r>
              <a:rPr lang="en-US" altLang="zh-TW" sz="1600" dirty="0"/>
              <a:t>), Heavily(</a:t>
            </a:r>
            <a:r>
              <a:rPr lang="en-US" altLang="zh-TW" sz="1600" b="1" dirty="0"/>
              <a:t>HCA</a:t>
            </a:r>
            <a:r>
              <a:rPr lang="en-US" altLang="zh-TW" sz="1600" dirty="0"/>
              <a:t>), Compressed Sparse(</a:t>
            </a:r>
            <a:r>
              <a:rPr lang="en-US" altLang="zh-TW" sz="1600" b="1" dirty="0"/>
              <a:t>CSA</a:t>
            </a:r>
            <a:r>
              <a:rPr lang="en-US" altLang="zh-TW" sz="1600" dirty="0"/>
              <a:t>).</a:t>
            </a:r>
          </a:p>
          <a:p>
            <a:pPr marL="742950" lvl="1" indent="-285750">
              <a:lnSpc>
                <a:spcPts val="1800"/>
              </a:lnSpc>
              <a:spcBef>
                <a:spcPts val="600"/>
              </a:spcBef>
              <a:buFont typeface="Arial" panose="020B0604020202020204" pitchFamily="34" charset="0"/>
              <a:buChar char="•"/>
            </a:pPr>
            <a:r>
              <a:rPr lang="en-US" altLang="zh-TW" sz="1600" dirty="0"/>
              <a:t>V4 Manifold-constrained Hyper-Connections (</a:t>
            </a:r>
            <a:r>
              <a:rPr lang="en-US" altLang="zh-TW" sz="1600" b="1" dirty="0" err="1"/>
              <a:t>M</a:t>
            </a:r>
            <a:r>
              <a:rPr lang="en-US" altLang="zh-TW" sz="1600" dirty="0" err="1">
                <a:solidFill>
                  <a:schemeClr val="tx1">
                    <a:lumMod val="50000"/>
                    <a:lumOff val="50000"/>
                  </a:schemeClr>
                </a:solidFill>
              </a:rPr>
              <a:t>c</a:t>
            </a:r>
            <a:r>
              <a:rPr lang="en-US" altLang="zh-TW" sz="1600" b="1" dirty="0" err="1"/>
              <a:t>HC</a:t>
            </a:r>
            <a:r>
              <a:rPr lang="en-US" altLang="zh-TW" sz="1600" dirty="0"/>
              <a:t>): Replacing residual stream.</a:t>
            </a:r>
          </a:p>
        </p:txBody>
      </p:sp>
      <p:sp>
        <p:nvSpPr>
          <p:cNvPr id="24" name="標題 1">
            <a:extLst>
              <a:ext uri="{FF2B5EF4-FFF2-40B4-BE49-F238E27FC236}">
                <a16:creationId xmlns:a16="http://schemas.microsoft.com/office/drawing/2014/main" id="{1EAB493B-DEBA-4B6C-68E5-EBAB1AC6BF46}"/>
              </a:ext>
            </a:extLst>
          </p:cNvPr>
          <p:cNvSpPr txBox="1">
            <a:spLocks/>
          </p:cNvSpPr>
          <p:nvPr/>
        </p:nvSpPr>
        <p:spPr>
          <a:xfrm>
            <a:off x="8229792" y="1700808"/>
            <a:ext cx="740352" cy="56446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High-Flyer</a:t>
            </a:r>
          </a:p>
          <a:p>
            <a:pPr algn="ct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Quant</a:t>
            </a:r>
          </a:p>
          <a:p>
            <a:pPr algn="ctr"/>
            <a:r>
              <a:rPr lang="zh-TW" altLang="en-US"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幻方量化</a:t>
            </a:r>
            <a:endPar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pic>
        <p:nvPicPr>
          <p:cNvPr id="25" name="圖片 24">
            <a:extLst>
              <a:ext uri="{FF2B5EF4-FFF2-40B4-BE49-F238E27FC236}">
                <a16:creationId xmlns:a16="http://schemas.microsoft.com/office/drawing/2014/main" id="{E7B9DB21-ADDA-F8F3-EE59-DFABC84DD3AA}"/>
              </a:ext>
            </a:extLst>
          </p:cNvPr>
          <p:cNvPicPr>
            <a:picLocks noChangeAspect="1"/>
          </p:cNvPicPr>
          <p:nvPr/>
        </p:nvPicPr>
        <p:blipFill>
          <a:blip r:embed="rId4"/>
          <a:stretch>
            <a:fillRect/>
          </a:stretch>
        </p:blipFill>
        <p:spPr>
          <a:xfrm>
            <a:off x="8312078" y="1208347"/>
            <a:ext cx="564469" cy="564469"/>
          </a:xfrm>
          <a:prstGeom prst="rect">
            <a:avLst/>
          </a:prstGeom>
        </p:spPr>
      </p:pic>
      <p:graphicFrame>
        <p:nvGraphicFramePr>
          <p:cNvPr id="8" name="表格 7">
            <a:extLst>
              <a:ext uri="{FF2B5EF4-FFF2-40B4-BE49-F238E27FC236}">
                <a16:creationId xmlns:a16="http://schemas.microsoft.com/office/drawing/2014/main" id="{764D7129-E992-939D-352F-5A96D493C7CE}"/>
              </a:ext>
            </a:extLst>
          </p:cNvPr>
          <p:cNvGraphicFramePr>
            <a:graphicFrameLocks noGrp="1"/>
          </p:cNvGraphicFramePr>
          <p:nvPr>
            <p:extLst>
              <p:ext uri="{D42A27DB-BD31-4B8C-83A1-F6EECF244321}">
                <p14:modId xmlns:p14="http://schemas.microsoft.com/office/powerpoint/2010/main" val="3528904632"/>
              </p:ext>
            </p:extLst>
          </p:nvPr>
        </p:nvGraphicFramePr>
        <p:xfrm>
          <a:off x="505166" y="4005064"/>
          <a:ext cx="8133668" cy="2465708"/>
        </p:xfrm>
        <a:graphic>
          <a:graphicData uri="http://schemas.openxmlformats.org/drawingml/2006/table">
            <a:tbl>
              <a:tblPr firstRow="1" bandRow="1">
                <a:tableStyleId>{5C22544A-7EE6-4342-B048-85BDC9FD1C3A}</a:tableStyleId>
              </a:tblPr>
              <a:tblGrid>
                <a:gridCol w="322418">
                  <a:extLst>
                    <a:ext uri="{9D8B030D-6E8A-4147-A177-3AD203B41FA5}">
                      <a16:colId xmlns:a16="http://schemas.microsoft.com/office/drawing/2014/main" val="4198244561"/>
                    </a:ext>
                  </a:extLst>
                </a:gridCol>
                <a:gridCol w="576064">
                  <a:extLst>
                    <a:ext uri="{9D8B030D-6E8A-4147-A177-3AD203B41FA5}">
                      <a16:colId xmlns:a16="http://schemas.microsoft.com/office/drawing/2014/main" val="2211145501"/>
                    </a:ext>
                  </a:extLst>
                </a:gridCol>
                <a:gridCol w="648072">
                  <a:extLst>
                    <a:ext uri="{9D8B030D-6E8A-4147-A177-3AD203B41FA5}">
                      <a16:colId xmlns:a16="http://schemas.microsoft.com/office/drawing/2014/main" val="767948712"/>
                    </a:ext>
                  </a:extLst>
                </a:gridCol>
                <a:gridCol w="432048">
                  <a:extLst>
                    <a:ext uri="{9D8B030D-6E8A-4147-A177-3AD203B41FA5}">
                      <a16:colId xmlns:a16="http://schemas.microsoft.com/office/drawing/2014/main" val="2420987057"/>
                    </a:ext>
                  </a:extLst>
                </a:gridCol>
                <a:gridCol w="1106952">
                  <a:extLst>
                    <a:ext uri="{9D8B030D-6E8A-4147-A177-3AD203B41FA5}">
                      <a16:colId xmlns:a16="http://schemas.microsoft.com/office/drawing/2014/main" val="3715013544"/>
                    </a:ext>
                  </a:extLst>
                </a:gridCol>
                <a:gridCol w="909273">
                  <a:extLst>
                    <a:ext uri="{9D8B030D-6E8A-4147-A177-3AD203B41FA5}">
                      <a16:colId xmlns:a16="http://schemas.microsoft.com/office/drawing/2014/main" val="3639967230"/>
                    </a:ext>
                  </a:extLst>
                </a:gridCol>
                <a:gridCol w="865719">
                  <a:extLst>
                    <a:ext uri="{9D8B030D-6E8A-4147-A177-3AD203B41FA5}">
                      <a16:colId xmlns:a16="http://schemas.microsoft.com/office/drawing/2014/main" val="3328686525"/>
                    </a:ext>
                  </a:extLst>
                </a:gridCol>
                <a:gridCol w="288032">
                  <a:extLst>
                    <a:ext uri="{9D8B030D-6E8A-4147-A177-3AD203B41FA5}">
                      <a16:colId xmlns:a16="http://schemas.microsoft.com/office/drawing/2014/main" val="3752581630"/>
                    </a:ext>
                  </a:extLst>
                </a:gridCol>
                <a:gridCol w="504056">
                  <a:extLst>
                    <a:ext uri="{9D8B030D-6E8A-4147-A177-3AD203B41FA5}">
                      <a16:colId xmlns:a16="http://schemas.microsoft.com/office/drawing/2014/main" val="40210933"/>
                    </a:ext>
                  </a:extLst>
                </a:gridCol>
                <a:gridCol w="394420">
                  <a:extLst>
                    <a:ext uri="{9D8B030D-6E8A-4147-A177-3AD203B41FA5}">
                      <a16:colId xmlns:a16="http://schemas.microsoft.com/office/drawing/2014/main" val="3722446267"/>
                    </a:ext>
                  </a:extLst>
                </a:gridCol>
                <a:gridCol w="394420">
                  <a:extLst>
                    <a:ext uri="{9D8B030D-6E8A-4147-A177-3AD203B41FA5}">
                      <a16:colId xmlns:a16="http://schemas.microsoft.com/office/drawing/2014/main" val="3159408052"/>
                    </a:ext>
                  </a:extLst>
                </a:gridCol>
                <a:gridCol w="846097">
                  <a:extLst>
                    <a:ext uri="{9D8B030D-6E8A-4147-A177-3AD203B41FA5}">
                      <a16:colId xmlns:a16="http://schemas.microsoft.com/office/drawing/2014/main" val="2746565255"/>
                    </a:ext>
                  </a:extLst>
                </a:gridCol>
                <a:gridCol w="846097">
                  <a:extLst>
                    <a:ext uri="{9D8B030D-6E8A-4147-A177-3AD203B41FA5}">
                      <a16:colId xmlns:a16="http://schemas.microsoft.com/office/drawing/2014/main" val="1920063261"/>
                    </a:ext>
                  </a:extLst>
                </a:gridCol>
              </a:tblGrid>
              <a:tr h="333543">
                <a:tc rowSpan="3">
                  <a:txBody>
                    <a:bodyPr/>
                    <a:lstStyle/>
                    <a:p>
                      <a:pPr algn="ctr"/>
                      <a:endParaRPr lang="zh-TW" altLang="en-US" sz="1200" b="0" cap="none" spc="0" dirty="0">
                        <a:ln w="0"/>
                        <a:solidFill>
                          <a:schemeClr val="tx1"/>
                        </a:solidFill>
                        <a:effectLst/>
                        <a:latin typeface="+mn-l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ADLaM Display" panose="02010000000000000000" pitchFamily="2" charset="0"/>
                          <a:cs typeface="ADLaM Display" panose="02010000000000000000" pitchFamily="2" charset="0"/>
                        </a:rPr>
                        <a:t>Version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ADLaM Display" panose="02010000000000000000" pitchFamily="2" charset="0"/>
                          <a:cs typeface="ADLaM Display" panose="02010000000000000000" pitchFamily="2" charset="0"/>
                        </a:rPr>
                        <a:t>Type</a:t>
                      </a:r>
                      <a:endParaRPr kumimoji="0" lang="zh-TW" altLang="en-US" sz="1200" b="0" i="0" u="none" strike="noStrike" kern="1200" cap="none" spc="0" normalizeH="0" baseline="0" noProof="0" dirty="0">
                        <a:ln w="0"/>
                        <a:solidFill>
                          <a:prstClr val="black"/>
                        </a:solidFill>
                        <a:effectLst/>
                        <a:uLnTx/>
                        <a:uFillTx/>
                        <a:latin typeface="+mn-lt"/>
                        <a:ea typeface="+mn-ea"/>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ADLaM Display" panose="02010000000000000000" pitchFamily="2" charset="0"/>
                          <a:cs typeface="ADLaM Display" panose="02010000000000000000" pitchFamily="2" charset="0"/>
                        </a:rPr>
                        <a:t>Key Technology</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Memory consumption</a:t>
                      </a: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solidFill>
                      <a:schemeClr val="accent2">
                        <a:lumMod val="40000"/>
                        <a:lumOff val="60000"/>
                        <a:alpha val="40000"/>
                      </a:schemeClr>
                    </a:solidFill>
                  </a:tcPr>
                </a:tc>
                <a:tc h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solidFill>
                      <a:schemeClr val="accent2">
                        <a:lumMod val="20000"/>
                        <a:lumOff val="80000"/>
                      </a:schemeClr>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lnL w="12700" cmpd="sng">
                      <a:noFill/>
                    </a:lnL>
                  </a:tcPr>
                </a:tc>
                <a:tc hMerge="1">
                  <a:txBody>
                    <a:bodyPr/>
                    <a:lstStyle/>
                    <a:p>
                      <a:endParaRPr lang="zh-TW" altLang="en-US"/>
                    </a:p>
                  </a:txBody>
                  <a:tcPr/>
                </a:tc>
                <a:tc h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4132">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gridSpan="2">
                  <a:txBody>
                    <a:bodyPr/>
                    <a:lstStyle/>
                    <a:p>
                      <a:pPr algn="ctr"/>
                      <a:r>
                        <a:rPr kumimoji="0" lang="en-US" altLang="zh-TW" sz="1200" b="0" i="0" u="none" strike="noStrike" kern="1200" cap="none" spc="0" normalizeH="0" baseline="0" noProof="0" dirty="0">
                          <a:ln w="0"/>
                          <a:solidFill>
                            <a:schemeClr val="tx1"/>
                          </a:solidFill>
                          <a:effectLst/>
                          <a:uLnTx/>
                          <a:uFillTx/>
                          <a:latin typeface="+mn-lt"/>
                          <a:ea typeface="ADLaM Display" panose="02010000000000000000" pitchFamily="2" charset="0"/>
                          <a:cs typeface="ADLaM Display" panose="02010000000000000000" pitchFamily="2" charset="0"/>
                        </a:rPr>
                        <a:t>Training</a:t>
                      </a:r>
                      <a:endPar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hMerge="1">
                  <a:txBody>
                    <a:bodyPr/>
                    <a:lstStyle/>
                    <a:p>
                      <a:endParaRPr lang="zh-TW" altLang="en-US"/>
                    </a:p>
                  </a:txBody>
                  <a:tcPr/>
                </a:tc>
                <a:tc gridSpan="2">
                  <a:txBody>
                    <a:bodyPr/>
                    <a:lstStyle/>
                    <a:p>
                      <a:pPr algn="ctr"/>
                      <a:r>
                        <a:rPr kumimoji="0" lang="en-US" altLang="zh-TW" sz="1200" b="0" i="0" u="none" strike="noStrike" kern="1200" cap="none" spc="0" normalizeH="0" baseline="0" noProof="0" dirty="0">
                          <a:ln w="0"/>
                          <a:solidFill>
                            <a:schemeClr val="tx1"/>
                          </a:solidFill>
                          <a:effectLst/>
                          <a:uLnTx/>
                          <a:uFillTx/>
                          <a:latin typeface="+mn-lt"/>
                          <a:ea typeface="ADLaM Display" panose="02010000000000000000" pitchFamily="2" charset="0"/>
                          <a:cs typeface="ADLaM Display" panose="02010000000000000000" pitchFamily="2" charset="0"/>
                        </a:rPr>
                        <a:t>Core Technology</a:t>
                      </a:r>
                      <a:endParaRPr sz="1200" b="0" dirty="0">
                        <a:solidFill>
                          <a:schemeClr val="tx1"/>
                        </a:solidFill>
                        <a:latin typeface="+mn-lt"/>
                        <a:ea typeface="ADLaM Display" panose="02010000000000000000" pitchFamily="2" charset="0"/>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hMerge="1">
                  <a:txBody>
                    <a:bodyPr/>
                    <a:lstStyle/>
                    <a:p>
                      <a:endParaRPr lang="zh-TW" altLang="en-US"/>
                    </a:p>
                  </a:txBody>
                  <a:tcPr/>
                </a:tc>
                <a:tc>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gridSpan="2">
                  <a:txBody>
                    <a:bodyPr/>
                    <a:lstStyle/>
                    <a:p>
                      <a:pPr algn="ct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Context</a:t>
                      </a: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hMerge="1">
                  <a:txBody>
                    <a:bodyPr/>
                    <a:lstStyle/>
                    <a:p>
                      <a:pPr algn="ct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gridSpan="2">
                  <a:txBody>
                    <a:bodyPr/>
                    <a:lstStyle/>
                    <a:p>
                      <a:pPr algn="ct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FFN Layer</a:t>
                      </a: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hMerge="1">
                  <a:txBody>
                    <a:bodyPr/>
                    <a:lstStyle/>
                    <a:p>
                      <a:endParaRPr lang="zh-TW" altLang="en-US"/>
                    </a:p>
                  </a:txBody>
                  <a:tcPr>
                    <a:lnL w="12700" cmpd="sng">
                      <a:noFill/>
                    </a:lnL>
                  </a:tcPr>
                </a:tc>
                <a:tc>
                  <a:txBody>
                    <a:bodyPr/>
                    <a:lstStyle/>
                    <a:p>
                      <a:pPr algn="ct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Para.</a:t>
                      </a: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Requirement</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extLst>
                  <a:ext uri="{0D108BD9-81ED-4DB2-BD59-A6C34878D82A}">
                    <a16:rowId xmlns:a16="http://schemas.microsoft.com/office/drawing/2014/main" val="2581155207"/>
                  </a:ext>
                </a:extLst>
              </a:tr>
              <a:tr h="235532">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lumMod val="75000"/>
                              <a:lumOff val="25000"/>
                            </a:schemeClr>
                          </a:solidFill>
                          <a:effectLst/>
                          <a:latin typeface="+mn-lt"/>
                          <a:ea typeface="ADLaM Display" panose="02010000000000000000" pitchFamily="2" charset="0"/>
                          <a:cs typeface="ADLaM Display" panose="02010000000000000000" pitchFamily="2" charset="0"/>
                        </a:rPr>
                        <a:t>Pre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ea typeface="ADLaM Display" panose="02010000000000000000" pitchFamily="2" charset="0"/>
                          <a:cs typeface="ADLaM Display" panose="02010000000000000000" pitchFamily="2" charset="0"/>
                        </a:rPr>
                        <a:t>Post/RL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gridSpan="2">
                  <a:txBody>
                    <a:bodyPr/>
                    <a:lstStyle/>
                    <a:p>
                      <a:pPr algn="ctr"/>
                      <a:r>
                        <a:rPr lang="en-US" altLang="zh-TW" sz="1000" b="0" cap="none" spc="0" dirty="0">
                          <a:ln w="0"/>
                          <a:solidFill>
                            <a:schemeClr val="tx1"/>
                          </a:solidFill>
                          <a:effectLst/>
                          <a:latin typeface="+mn-lt"/>
                          <a:ea typeface="ADLaM Display" panose="02010000000000000000" pitchFamily="2" charset="0"/>
                          <a:cs typeface="ADLaM Display" panose="02010000000000000000" pitchFamily="2" charset="0"/>
                        </a:rPr>
                        <a:t>Model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hMerge="1">
                  <a:txBody>
                    <a:bodyPr/>
                    <a:lstStyle/>
                    <a:p>
                      <a:endParaRPr lang="zh-TW" altLang="en-US"/>
                    </a:p>
                  </a:txBody>
                  <a:tcPr/>
                </a:tc>
                <a:tc>
                  <a:txBody>
                    <a:bodyPr/>
                    <a:lstStyle/>
                    <a:p>
                      <a:pPr algn="ctr"/>
                      <a:r>
                        <a:rPr lang="en-US" sz="1000" b="0" dirty="0">
                          <a:solidFill>
                            <a:schemeClr val="tx1"/>
                          </a:solidFill>
                          <a:latin typeface="+mn-lt"/>
                          <a:ea typeface="ADLaM Display" panose="02010000000000000000" pitchFamily="2" charset="0"/>
                          <a:cs typeface="ADLaM Display" panose="02010000000000000000" pitchFamily="2" charset="0"/>
                        </a:rPr>
                        <a:t>Attention</a:t>
                      </a:r>
                      <a:endParaRPr sz="1000" b="0" dirty="0">
                        <a:solidFill>
                          <a:schemeClr val="tx1"/>
                        </a:solidFill>
                        <a:latin typeface="+mn-lt"/>
                        <a:ea typeface="ADLaM Display" panose="02010000000000000000" pitchFamily="2" charset="0"/>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cs typeface="ADLaM Display" panose="02010000000000000000" pitchFamily="2" charset="0"/>
                        </a:rPr>
                        <a:t>Len</a:t>
                      </a:r>
                      <a:endParaRPr lang="zh-TW" altLang="en-US" sz="1000" b="0" cap="none" spc="0" dirty="0">
                        <a:ln w="0"/>
                        <a:solidFill>
                          <a:schemeClr val="tx1">
                            <a:lumMod val="75000"/>
                            <a:lumOff val="25000"/>
                          </a:schemeClr>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cs typeface="ADLaM Display" panose="02010000000000000000" pitchFamily="2" charset="0"/>
                        </a:rPr>
                        <a:t>Dim</a:t>
                      </a:r>
                      <a:endParaRPr lang="zh-TW" altLang="en-US" sz="1000" b="0" cap="none" spc="0" dirty="0">
                        <a:ln w="0"/>
                        <a:solidFill>
                          <a:schemeClr val="tx1">
                            <a:lumMod val="75000"/>
                            <a:lumOff val="25000"/>
                          </a:schemeClr>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ea typeface="ADLaM Display" panose="02010000000000000000" pitchFamily="2" charset="0"/>
                          <a:cs typeface="ADLaM Display" panose="02010000000000000000" pitchFamily="2" charset="0"/>
                        </a:rPr>
                        <a:t>Dense</a:t>
                      </a:r>
                      <a:endParaRPr lang="zh-TW" altLang="en-US" sz="1000" b="0" cap="none" spc="0" dirty="0">
                        <a:ln w="0"/>
                        <a:solidFill>
                          <a:schemeClr val="tx1">
                            <a:lumMod val="75000"/>
                            <a:lumOff val="25000"/>
                          </a:schemeClr>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ea typeface="ADLaM Display" panose="02010000000000000000" pitchFamily="2" charset="0"/>
                          <a:cs typeface="ADLaM Display" panose="02010000000000000000" pitchFamily="2" charset="0"/>
                        </a:rPr>
                        <a:t>MoE</a:t>
                      </a:r>
                      <a:endParaRPr lang="zh-TW" altLang="en-US" sz="1000" b="0" cap="none" spc="0" dirty="0">
                        <a:ln w="0"/>
                        <a:solidFill>
                          <a:schemeClr val="tx1">
                            <a:lumMod val="75000"/>
                            <a:lumOff val="25000"/>
                          </a:schemeClr>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endParaRPr lang="zh-TW" altLang="en-US" sz="10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endParaRPr lang="en-US" altLang="zh-TW" sz="1000" b="0" cap="none" spc="0" dirty="0">
                        <a:ln w="0"/>
                        <a:solidFill>
                          <a:schemeClr val="tx1"/>
                        </a:solidFill>
                        <a:effectLst/>
                        <a:latin typeface="+mn-lt"/>
                        <a:ea typeface="ADLaM Display" panose="02010000000000000000" pitchFamily="2" charset="0"/>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extLst>
                  <a:ext uri="{0D108BD9-81ED-4DB2-BD59-A6C34878D82A}">
                    <a16:rowId xmlns:a16="http://schemas.microsoft.com/office/drawing/2014/main" val="533882152"/>
                  </a:ext>
                </a:extLst>
              </a:tr>
              <a:tr h="407691">
                <a:tc>
                  <a:txBody>
                    <a:bodyPr/>
                    <a:lstStyle/>
                    <a:p>
                      <a:pPr algn="l"/>
                      <a:r>
                        <a:rPr lang="en-US" altLang="zh-TW" sz="1200" b="0" cap="none" spc="0" dirty="0">
                          <a:ln w="0"/>
                          <a:solidFill>
                            <a:schemeClr val="tx1"/>
                          </a:solidFill>
                          <a:effectLst/>
                        </a:rPr>
                        <a:t>V2</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V2.5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AdamW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GRPO</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MLA</a:t>
                      </a:r>
                    </a:p>
                    <a:p>
                      <a:pPr algn="ctr"/>
                      <a:r>
                        <a:rPr lang="en-US" altLang="zh-TW" sz="1000" b="0" cap="none" spc="0" dirty="0">
                          <a:ln w="0"/>
                          <a:solidFill>
                            <a:schemeClr val="tx1">
                              <a:lumMod val="50000"/>
                              <a:lumOff val="50000"/>
                            </a:schemeClr>
                          </a:solidFill>
                          <a:effectLst/>
                        </a:rPr>
                        <a:t>(Multi-head Latent)</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err="1">
                          <a:ln w="0"/>
                          <a:solidFill>
                            <a:schemeClr val="tx1"/>
                          </a:solidFill>
                          <a:effectLst/>
                        </a:rPr>
                        <a:t>DSMoE</a:t>
                      </a:r>
                      <a:br>
                        <a:rPr lang="en-US" altLang="zh-TW" sz="1200" b="0" cap="none" spc="0" dirty="0">
                          <a:ln w="0"/>
                          <a:solidFill>
                            <a:schemeClr val="tx1"/>
                          </a:solidFill>
                          <a:effectLst/>
                        </a:rPr>
                      </a:br>
                      <a:r>
                        <a:rPr lang="en-US" altLang="zh-TW" sz="1000" b="0" cap="none" spc="0" dirty="0">
                          <a:ln w="0"/>
                          <a:solidFill>
                            <a:schemeClr val="tx1">
                              <a:lumMod val="50000"/>
                              <a:lumOff val="50000"/>
                            </a:schemeClr>
                          </a:solidFill>
                          <a:effectLst/>
                        </a:rPr>
                        <a:t>(Fine-Grained)</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1~60</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32k</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5120</a:t>
                      </a:r>
                      <a:br>
                        <a:rPr lang="en-US" altLang="zh-TW" sz="1000" b="0" cap="none" spc="0" dirty="0">
                          <a:ln w="0"/>
                          <a:solidFill>
                            <a:schemeClr val="tx1"/>
                          </a:solidFill>
                          <a:effectLst/>
                        </a:rPr>
                      </a:br>
                      <a:r>
                        <a:rPr lang="en-US" altLang="zh-TW" sz="1000" b="0" cap="none" spc="0" dirty="0">
                          <a:ln w="0"/>
                          <a:solidFill>
                            <a:schemeClr val="tx1">
                              <a:lumMod val="50000"/>
                              <a:lumOff val="50000"/>
                            </a:schemeClr>
                          </a:solidFill>
                          <a:effectLst/>
                        </a:rPr>
                        <a:t>(512)</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2~60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21B / 236B</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 PC</a:t>
                      </a:r>
                    </a:p>
                    <a:p>
                      <a:pPr algn="ctr"/>
                      <a:r>
                        <a:rPr lang="en-US" altLang="zh-TW" sz="1000" b="0" cap="none" spc="0" dirty="0">
                          <a:ln w="0"/>
                          <a:solidFill>
                            <a:schemeClr val="tx1">
                              <a:lumMod val="50000"/>
                              <a:lumOff val="50000"/>
                            </a:schemeClr>
                          </a:solidFill>
                          <a:effectLst/>
                        </a:rPr>
                        <a:t>(8 x A100 80G)</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38843">
                <a:tc>
                  <a:txBody>
                    <a:bodyPr/>
                    <a:lstStyle/>
                    <a:p>
                      <a:pPr algn="l"/>
                      <a:r>
                        <a:rPr lang="en-US" altLang="zh-TW" sz="1200" b="0" cap="none" spc="0" dirty="0">
                          <a:ln w="0"/>
                          <a:solidFill>
                            <a:schemeClr val="tx1"/>
                          </a:solidFill>
                          <a:effectLst/>
                        </a:rPr>
                        <a:t>V3</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V3.2</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AdamW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GRPO</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DSA</a:t>
                      </a:r>
                    </a:p>
                    <a:p>
                      <a:pPr algn="ctr"/>
                      <a:r>
                        <a:rPr lang="en-US" altLang="zh-TW" sz="1000" b="0" cap="none" spc="0" dirty="0">
                          <a:ln w="0"/>
                          <a:solidFill>
                            <a:schemeClr val="tx1">
                              <a:lumMod val="50000"/>
                              <a:lumOff val="50000"/>
                            </a:schemeClr>
                          </a:solidFill>
                          <a:effectLst/>
                        </a:rPr>
                        <a:t>(DeepSeek Sparse)</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Dual Pipe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1~61</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128k</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7168</a:t>
                      </a:r>
                    </a:p>
                    <a:p>
                      <a:pPr algn="ctr"/>
                      <a:r>
                        <a:rPr lang="en-US" altLang="zh-TW" sz="1000" b="0" cap="none" spc="0" dirty="0">
                          <a:ln w="0"/>
                          <a:solidFill>
                            <a:schemeClr val="tx1">
                              <a:lumMod val="50000"/>
                              <a:lumOff val="50000"/>
                            </a:schemeClr>
                          </a:solidFill>
                          <a:effectLst/>
                        </a:rPr>
                        <a:t>(512)</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1~3</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4~61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37B</a:t>
                      </a:r>
                      <a:r>
                        <a:rPr lang="zh-TW" altLang="en-US" sz="1000" b="0" cap="none" spc="0" dirty="0">
                          <a:ln w="0"/>
                          <a:solidFill>
                            <a:schemeClr val="tx1"/>
                          </a:solidFill>
                          <a:effectLst/>
                        </a:rPr>
                        <a:t> </a:t>
                      </a:r>
                      <a:r>
                        <a:rPr lang="en-US" altLang="zh-TW" sz="1000" b="0" cap="none" spc="0" dirty="0">
                          <a:ln w="0"/>
                          <a:solidFill>
                            <a:schemeClr val="tx1"/>
                          </a:solidFill>
                          <a:effectLst/>
                        </a:rPr>
                        <a:t>/</a:t>
                      </a:r>
                      <a:r>
                        <a:rPr lang="zh-TW" altLang="en-US" sz="1000" b="0" cap="none" spc="0" dirty="0">
                          <a:ln w="0"/>
                          <a:solidFill>
                            <a:schemeClr val="tx1"/>
                          </a:solidFill>
                          <a:effectLst/>
                        </a:rPr>
                        <a:t> </a:t>
                      </a:r>
                      <a:r>
                        <a:rPr lang="en-US" altLang="zh-TW" sz="1000" b="0" cap="none" spc="0" dirty="0">
                          <a:ln w="0"/>
                          <a:solidFill>
                            <a:schemeClr val="tx1"/>
                          </a:solidFill>
                          <a:effectLst/>
                        </a:rPr>
                        <a:t>671B</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4</a:t>
                      </a:r>
                      <a:r>
                        <a:rPr lang="zh-TW" altLang="en-US" sz="1000" b="0" cap="none" spc="0" dirty="0">
                          <a:ln w="0"/>
                          <a:solidFill>
                            <a:schemeClr val="tx1"/>
                          </a:solidFill>
                          <a:effectLst/>
                        </a:rPr>
                        <a:t> </a:t>
                      </a:r>
                      <a:r>
                        <a:rPr lang="en-US" altLang="zh-TW" sz="1000" b="0" cap="none" spc="0" dirty="0">
                          <a:ln w="0"/>
                          <a:solidFill>
                            <a:schemeClr val="tx1"/>
                          </a:solidFill>
                          <a:effectLst/>
                        </a:rPr>
                        <a:t>PC with</a:t>
                      </a:r>
                    </a:p>
                    <a:p>
                      <a:pPr algn="ctr"/>
                      <a:r>
                        <a:rPr lang="en-US" altLang="zh-TW" sz="1000" b="0" cap="none" spc="0" dirty="0">
                          <a:ln w="0"/>
                          <a:solidFill>
                            <a:schemeClr val="tx1">
                              <a:lumMod val="50000"/>
                              <a:lumOff val="50000"/>
                            </a:schemeClr>
                          </a:solidFill>
                          <a:effectLst/>
                        </a:rPr>
                        <a:t>(8 x A100 80G)</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2327442"/>
                  </a:ext>
                </a:extLst>
              </a:tr>
              <a:tr h="282369">
                <a:tc rowSpan="2">
                  <a:txBody>
                    <a:bodyPr/>
                    <a:lstStyle/>
                    <a:p>
                      <a:pPr algn="l"/>
                      <a:r>
                        <a:rPr lang="en-US" altLang="zh-TW" sz="1200" b="0" cap="none" spc="0" dirty="0">
                          <a:ln w="0"/>
                          <a:solidFill>
                            <a:schemeClr val="tx1"/>
                          </a:solidFill>
                          <a:effectLst/>
                        </a:rPr>
                        <a:t>V4</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Pro</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rowSpan="2">
                  <a:txBody>
                    <a:bodyPr/>
                    <a:lstStyle/>
                    <a:p>
                      <a:pPr algn="ctr"/>
                      <a:r>
                        <a:rPr lang="en-US" sz="1200" dirty="0"/>
                        <a:t>Muon</a:t>
                      </a:r>
                      <a:endParaRPr sz="1200"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rowSpan="2">
                  <a:txBody>
                    <a:bodyPr/>
                    <a:lstStyle/>
                    <a:p>
                      <a:pPr algn="ctr"/>
                      <a:r>
                        <a:rPr lang="en-US" sz="1200" dirty="0"/>
                        <a:t>GRPO</a:t>
                      </a:r>
                      <a:endParaRPr sz="1200"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Hybrid MHA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1">
                              <a:lumMod val="50000"/>
                              <a:lumOff val="50000"/>
                            </a:schemeClr>
                          </a:solidFill>
                          <a:effectLst/>
                          <a:uLnTx/>
                          <a:uFillTx/>
                          <a:latin typeface="+mn-lt"/>
                          <a:ea typeface="+mn-ea"/>
                          <a:cs typeface="+mn-cs"/>
                        </a:rPr>
                        <a:t>(SWA, HCA,</a:t>
                      </a:r>
                      <a:r>
                        <a:rPr kumimoji="0" lang="zh-TW" altLang="en-US" sz="1000" b="0" i="0" u="none" strike="noStrike" kern="1200" cap="none" spc="0" normalizeH="0" baseline="0" noProof="0" dirty="0">
                          <a:ln w="0"/>
                          <a:solidFill>
                            <a:schemeClr val="tx1">
                              <a:lumMod val="50000"/>
                              <a:lumOff val="50000"/>
                            </a:schemeClr>
                          </a:solidFill>
                          <a:effectLst/>
                          <a:uLnTx/>
                          <a:uFillTx/>
                          <a:latin typeface="+mn-lt"/>
                          <a:ea typeface="+mn-ea"/>
                          <a:cs typeface="+mn-cs"/>
                        </a:rPr>
                        <a:t> </a:t>
                      </a:r>
                      <a:r>
                        <a:rPr kumimoji="0" lang="en-US" altLang="zh-TW" sz="1000" b="0" i="0" u="none" strike="noStrike" kern="1200" cap="none" spc="0" normalizeH="0" baseline="0" noProof="0" dirty="0">
                          <a:ln w="0"/>
                          <a:solidFill>
                            <a:schemeClr val="tx1">
                              <a:lumMod val="50000"/>
                              <a:lumOff val="50000"/>
                            </a:schemeClr>
                          </a:solidFill>
                          <a:effectLst/>
                          <a:uLnTx/>
                          <a:uFillTx/>
                          <a:latin typeface="+mn-lt"/>
                          <a:ea typeface="+mn-ea"/>
                          <a:cs typeface="+mn-cs"/>
                        </a:rPr>
                        <a:t>CSA)</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DSA+MHC</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r>
                        <a:rPr lang="en-US" altLang="zh-TW" sz="1000" b="0" cap="none" spc="0" dirty="0">
                          <a:ln w="0"/>
                          <a:solidFill>
                            <a:schemeClr val="tx1"/>
                          </a:solidFill>
                          <a:effectLst/>
                        </a:rPr>
                        <a:t>1~</a:t>
                      </a:r>
                      <a:r>
                        <a:rPr lang="en-US" altLang="zh-TW" sz="1000" b="0" cap="none" spc="0" dirty="0">
                          <a:ln w="0"/>
                          <a:solidFill>
                            <a:schemeClr val="bg2"/>
                          </a:solidFill>
                          <a:effectLst/>
                        </a:rPr>
                        <a:t>0</a:t>
                      </a:r>
                      <a:r>
                        <a:rPr lang="en-US" altLang="zh-TW" sz="1000" b="0" cap="none" spc="0" dirty="0">
                          <a:ln w="0"/>
                          <a:solidFill>
                            <a:schemeClr val="tx1"/>
                          </a:solidFill>
                          <a:effectLst/>
                        </a:rPr>
                        <a:t>2 HCA</a:t>
                      </a:r>
                    </a:p>
                    <a:p>
                      <a:pPr algn="l"/>
                      <a:r>
                        <a:rPr lang="en-US" altLang="zh-TW" sz="1000" b="0" cap="none" spc="0" dirty="0">
                          <a:ln w="0"/>
                          <a:solidFill>
                            <a:schemeClr val="tx1"/>
                          </a:solidFill>
                          <a:effectLst/>
                        </a:rPr>
                        <a:t>3~61 CSA/HCA</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1M</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&lt;4096</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0</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1~61</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49B / 1.6T</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AI clusters</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282369">
                <a:tc vMerge="1">
                  <a:txBody>
                    <a:bodyPr/>
                    <a:lstStyle/>
                    <a:p>
                      <a:pPr algn="l"/>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Flash</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vMerge="1">
                  <a:txBody>
                    <a:bodyPr/>
                    <a:lstStyle/>
                    <a:p>
                      <a:pPr algn="ctr"/>
                      <a:endParaRPr sz="1200"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no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1"/>
                          </a:solidFill>
                          <a:effectLst/>
                          <a:uLnTx/>
                          <a:uFillTx/>
                          <a:latin typeface="+mn-lt"/>
                          <a:ea typeface="+mn-ea"/>
                          <a:cs typeface="+mn-cs"/>
                        </a:rPr>
                        <a:t>1~</a:t>
                      </a:r>
                      <a:r>
                        <a:rPr kumimoji="0" lang="en-US" altLang="zh-TW" sz="1000" b="0" i="0" u="none" strike="noStrike" kern="1200" cap="none" spc="0" normalizeH="0" baseline="0" noProof="0" dirty="0">
                          <a:ln w="0"/>
                          <a:solidFill>
                            <a:schemeClr val="bg2"/>
                          </a:solidFill>
                          <a:effectLst/>
                          <a:uLnTx/>
                          <a:uFillTx/>
                          <a:latin typeface="+mn-lt"/>
                          <a:ea typeface="+mn-ea"/>
                          <a:cs typeface="+mn-cs"/>
                        </a:rPr>
                        <a:t>0</a:t>
                      </a:r>
                      <a:r>
                        <a:rPr kumimoji="0" lang="en-US" altLang="zh-TW" sz="1000" b="0" i="0" u="none" strike="noStrike" kern="1200" cap="none" spc="0" normalizeH="0" baseline="0" noProof="0" dirty="0">
                          <a:ln w="0"/>
                          <a:solidFill>
                            <a:schemeClr val="tx1"/>
                          </a:solidFill>
                          <a:effectLst/>
                          <a:uLnTx/>
                          <a:uFillTx/>
                          <a:latin typeface="+mn-lt"/>
                          <a:ea typeface="+mn-ea"/>
                          <a:cs typeface="+mn-cs"/>
                        </a:rPr>
                        <a:t>2 SWA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1"/>
                          </a:solidFill>
                          <a:effectLst/>
                          <a:uLnTx/>
                          <a:uFillTx/>
                          <a:latin typeface="+mn-lt"/>
                          <a:ea typeface="+mn-ea"/>
                          <a:cs typeface="+mn-cs"/>
                        </a:rPr>
                        <a:t>3~43 CSA/HCA</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1M</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&gt;8192</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0</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1~43</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13B / 284B </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a:t>
                      </a:r>
                      <a:r>
                        <a:rPr lang="zh-TW" altLang="en-US" sz="1000" b="0" cap="none" spc="0" dirty="0">
                          <a:ln w="0"/>
                          <a:solidFill>
                            <a:schemeClr val="tx1"/>
                          </a:solidFill>
                          <a:effectLst/>
                        </a:rPr>
                        <a:t> </a:t>
                      </a:r>
                      <a:r>
                        <a:rPr lang="en-US" altLang="zh-TW" sz="1000" b="0" cap="none" spc="0" dirty="0">
                          <a:ln w="0"/>
                          <a:solidFill>
                            <a:schemeClr val="tx1"/>
                          </a:solidFill>
                          <a:effectLst/>
                        </a:rPr>
                        <a:t>PC</a:t>
                      </a:r>
                    </a:p>
                    <a:p>
                      <a:pPr algn="ctr"/>
                      <a:r>
                        <a:rPr lang="en-US" altLang="zh-TW" sz="1000" b="0" cap="none" spc="0" dirty="0">
                          <a:ln w="0"/>
                          <a:solidFill>
                            <a:schemeClr val="tx1">
                              <a:lumMod val="50000"/>
                              <a:lumOff val="50000"/>
                            </a:schemeClr>
                          </a:solidFill>
                          <a:effectLst/>
                        </a:rPr>
                        <a:t>(8</a:t>
                      </a:r>
                      <a:r>
                        <a:rPr lang="zh-TW" altLang="en-US" sz="1000" b="0" cap="none" spc="0" dirty="0">
                          <a:ln w="0"/>
                          <a:solidFill>
                            <a:schemeClr val="tx1">
                              <a:lumMod val="50000"/>
                              <a:lumOff val="50000"/>
                            </a:schemeClr>
                          </a:solidFill>
                          <a:effectLst/>
                        </a:rPr>
                        <a:t> </a:t>
                      </a:r>
                      <a:r>
                        <a:rPr lang="en-US" altLang="zh-TW" sz="1000" b="0" cap="none" spc="0" dirty="0">
                          <a:ln w="0"/>
                          <a:solidFill>
                            <a:schemeClr val="tx1">
                              <a:lumMod val="50000"/>
                              <a:lumOff val="50000"/>
                            </a:schemeClr>
                          </a:solidFill>
                          <a:effectLst/>
                        </a:rPr>
                        <a:t>x H800)</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65565795"/>
                  </a:ext>
                </a:extLst>
              </a:tr>
              <a:tr h="266179">
                <a:tc>
                  <a:txBody>
                    <a:bodyPr/>
                    <a:lstStyle/>
                    <a:p>
                      <a:pPr algn="l"/>
                      <a:r>
                        <a:rPr lang="en-US" altLang="zh-TW" sz="1200" b="0" cap="none" spc="0" dirty="0">
                          <a:ln w="0"/>
                          <a:solidFill>
                            <a:schemeClr val="tx1">
                              <a:lumMod val="50000"/>
                              <a:lumOff val="50000"/>
                            </a:schemeClr>
                          </a:solidFill>
                          <a:effectLst/>
                        </a:rPr>
                        <a:t>V5</a:t>
                      </a:r>
                      <a:endParaRPr lang="zh-TW" altLang="en-US" sz="1200" b="0" cap="none" spc="0" dirty="0">
                        <a:ln w="0"/>
                        <a:solidFill>
                          <a:schemeClr val="tx1">
                            <a:lumMod val="50000"/>
                            <a:lumOff val="50000"/>
                          </a:schemeClr>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lumMod val="50000"/>
                              <a:lumOff val="50000"/>
                            </a:schemeClr>
                          </a:solidFill>
                          <a:effectLst/>
                        </a:rPr>
                        <a:t>-</a:t>
                      </a:r>
                      <a:endParaRPr lang="zh-TW" altLang="en-US" sz="12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r>
                        <a:rPr lang="en-US" sz="1200" dirty="0">
                          <a:solidFill>
                            <a:schemeClr val="tx1">
                              <a:lumMod val="50000"/>
                              <a:lumOff val="50000"/>
                            </a:schemeClr>
                          </a:solidFill>
                        </a:rPr>
                        <a:t>-</a:t>
                      </a:r>
                      <a:endParaRPr sz="1200" dirty="0">
                        <a:solidFill>
                          <a:schemeClr val="tx1">
                            <a:lumMod val="50000"/>
                            <a:lumOff val="50000"/>
                          </a:schemeClr>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r>
                        <a:rPr lang="en-US" sz="1200" dirty="0">
                          <a:solidFill>
                            <a:schemeClr val="tx1">
                              <a:lumMod val="50000"/>
                              <a:lumOff val="50000"/>
                            </a:schemeClr>
                          </a:solidFill>
                        </a:rPr>
                        <a:t>-</a:t>
                      </a:r>
                      <a:endParaRPr sz="1200" dirty="0">
                        <a:solidFill>
                          <a:schemeClr val="tx1">
                            <a:lumMod val="50000"/>
                            <a:lumOff val="50000"/>
                          </a:schemeClr>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1">
                              <a:lumMod val="50000"/>
                              <a:lumOff val="50000"/>
                            </a:schemeClr>
                          </a:solidFill>
                          <a:effectLst/>
                          <a:uLnTx/>
                          <a:uFillTx/>
                          <a:latin typeface="+mn-lt"/>
                          <a:ea typeface="+mn-ea"/>
                          <a:cs typeface="+mn-cs"/>
                        </a:rPr>
                        <a:t>-</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Engram</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0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endParaRPr lang="zh-TW" altLang="en-US" sz="12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096539059"/>
                  </a:ext>
                </a:extLst>
              </a:tr>
            </a:tbl>
          </a:graphicData>
        </a:graphic>
      </p:graphicFrame>
    </p:spTree>
    <p:extLst>
      <p:ext uri="{BB962C8B-B14F-4D97-AF65-F5344CB8AC3E}">
        <p14:creationId xmlns:p14="http://schemas.microsoft.com/office/powerpoint/2010/main" val="21842132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99331EB-D564-30D4-7D91-3356C901B2BA}"/>
              </a:ext>
            </a:extLst>
          </p:cNvPr>
          <p:cNvPicPr>
            <a:picLocks noChangeAspect="1"/>
          </p:cNvPicPr>
          <p:nvPr/>
        </p:nvPicPr>
        <p:blipFill>
          <a:blip r:embed="rId2"/>
          <a:stretch>
            <a:fillRect/>
          </a:stretch>
        </p:blipFill>
        <p:spPr>
          <a:xfrm>
            <a:off x="683568" y="1124744"/>
            <a:ext cx="4728470" cy="4218767"/>
          </a:xfrm>
          <a:prstGeom prst="rect">
            <a:avLst/>
          </a:prstGeom>
        </p:spPr>
      </p:pic>
      <p:pic>
        <p:nvPicPr>
          <p:cNvPr id="5" name="圖片 4">
            <a:extLst>
              <a:ext uri="{FF2B5EF4-FFF2-40B4-BE49-F238E27FC236}">
                <a16:creationId xmlns:a16="http://schemas.microsoft.com/office/drawing/2014/main" id="{20C34C73-3672-2E31-B9B9-AA8920D87083}"/>
              </a:ext>
            </a:extLst>
          </p:cNvPr>
          <p:cNvPicPr>
            <a:picLocks noChangeAspect="1"/>
          </p:cNvPicPr>
          <p:nvPr/>
        </p:nvPicPr>
        <p:blipFill>
          <a:blip r:embed="rId3"/>
          <a:stretch>
            <a:fillRect/>
          </a:stretch>
        </p:blipFill>
        <p:spPr>
          <a:xfrm>
            <a:off x="0" y="1628800"/>
            <a:ext cx="1971950" cy="2629267"/>
          </a:xfrm>
          <a:prstGeom prst="rect">
            <a:avLst/>
          </a:prstGeom>
        </p:spPr>
      </p:pic>
    </p:spTree>
    <p:extLst>
      <p:ext uri="{BB962C8B-B14F-4D97-AF65-F5344CB8AC3E}">
        <p14:creationId xmlns:p14="http://schemas.microsoft.com/office/powerpoint/2010/main" val="2459535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2E03E-7F2E-4C1D-BDC3-5AD0B8F50ACC}"/>
            </a:ext>
          </a:extLst>
        </p:cNvPr>
        <p:cNvGrpSpPr/>
        <p:nvPr/>
      </p:nvGrpSpPr>
      <p:grpSpPr>
        <a:xfrm>
          <a:off x="0" y="0"/>
          <a:ext cx="0" cy="0"/>
          <a:chOff x="0" y="0"/>
          <a:chExt cx="0" cy="0"/>
        </a:xfrm>
      </p:grpSpPr>
      <p:graphicFrame>
        <p:nvGraphicFramePr>
          <p:cNvPr id="30" name="表格 29">
            <a:extLst>
              <a:ext uri="{FF2B5EF4-FFF2-40B4-BE49-F238E27FC236}">
                <a16:creationId xmlns:a16="http://schemas.microsoft.com/office/drawing/2014/main" id="{FDF88A93-8C0E-D76F-97D3-A2772646F624}"/>
              </a:ext>
            </a:extLst>
          </p:cNvPr>
          <p:cNvGraphicFramePr>
            <a:graphicFrameLocks noGrp="1"/>
          </p:cNvGraphicFramePr>
          <p:nvPr>
            <p:extLst>
              <p:ext uri="{D42A27DB-BD31-4B8C-83A1-F6EECF244321}">
                <p14:modId xmlns:p14="http://schemas.microsoft.com/office/powerpoint/2010/main" val="945139990"/>
              </p:ext>
            </p:extLst>
          </p:nvPr>
        </p:nvGraphicFramePr>
        <p:xfrm>
          <a:off x="539552" y="4278208"/>
          <a:ext cx="8208911" cy="210312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4198244561"/>
                    </a:ext>
                  </a:extLst>
                </a:gridCol>
                <a:gridCol w="1573424">
                  <a:extLst>
                    <a:ext uri="{9D8B030D-6E8A-4147-A177-3AD203B41FA5}">
                      <a16:colId xmlns:a16="http://schemas.microsoft.com/office/drawing/2014/main" val="2094346223"/>
                    </a:ext>
                  </a:extLst>
                </a:gridCol>
                <a:gridCol w="822561">
                  <a:extLst>
                    <a:ext uri="{9D8B030D-6E8A-4147-A177-3AD203B41FA5}">
                      <a16:colId xmlns:a16="http://schemas.microsoft.com/office/drawing/2014/main" val="2211145501"/>
                    </a:ext>
                  </a:extLst>
                </a:gridCol>
                <a:gridCol w="1297705">
                  <a:extLst>
                    <a:ext uri="{9D8B030D-6E8A-4147-A177-3AD203B41FA5}">
                      <a16:colId xmlns:a16="http://schemas.microsoft.com/office/drawing/2014/main" val="3328686525"/>
                    </a:ext>
                  </a:extLst>
                </a:gridCol>
                <a:gridCol w="1068698">
                  <a:extLst>
                    <a:ext uri="{9D8B030D-6E8A-4147-A177-3AD203B41FA5}">
                      <a16:colId xmlns:a16="http://schemas.microsoft.com/office/drawing/2014/main" val="962102743"/>
                    </a:ext>
                  </a:extLst>
                </a:gridCol>
                <a:gridCol w="1286284">
                  <a:extLst>
                    <a:ext uri="{9D8B030D-6E8A-4147-A177-3AD203B41FA5}">
                      <a16:colId xmlns:a16="http://schemas.microsoft.com/office/drawing/2014/main" val="3731412889"/>
                    </a:ext>
                  </a:extLst>
                </a:gridCol>
                <a:gridCol w="633770">
                  <a:extLst>
                    <a:ext uri="{9D8B030D-6E8A-4147-A177-3AD203B41FA5}">
                      <a16:colId xmlns:a16="http://schemas.microsoft.com/office/drawing/2014/main" val="2130031722"/>
                    </a:ext>
                  </a:extLst>
                </a:gridCol>
                <a:gridCol w="446349">
                  <a:extLst>
                    <a:ext uri="{9D8B030D-6E8A-4147-A177-3AD203B41FA5}">
                      <a16:colId xmlns:a16="http://schemas.microsoft.com/office/drawing/2014/main" val="3832649198"/>
                    </a:ext>
                  </a:extLst>
                </a:gridCol>
              </a:tblGrid>
              <a:tr h="178887">
                <a:tc rowSpan="2">
                  <a:txBody>
                    <a:bodyPr/>
                    <a:lstStyle/>
                    <a:p>
                      <a:pPr algn="ctr"/>
                      <a:endParaRPr lang="zh-TW" altLang="en-US"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Description</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Context</a:t>
                      </a:r>
                    </a:p>
                    <a:p>
                      <a:pPr algn="ctr"/>
                      <a:r>
                        <a:rPr lang="en-US" altLang="zh-TW" sz="1200" b="0" cap="none" spc="0" dirty="0">
                          <a:ln w="0"/>
                          <a:solidFill>
                            <a:schemeClr val="tx1"/>
                          </a:solidFill>
                          <a:effectLst/>
                        </a:rPr>
                        <a:t>Window</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2">
                  <a:txBody>
                    <a:bodyPr/>
                    <a:lstStyle/>
                    <a:p>
                      <a:pPr algn="ctr"/>
                      <a:r>
                        <a:rPr lang="en-US" altLang="zh-TW" sz="1200" b="0" cap="none" spc="0" dirty="0">
                          <a:ln w="0"/>
                          <a:solidFill>
                            <a:schemeClr val="tx1"/>
                          </a:solidFill>
                          <a:effectLst/>
                        </a:rPr>
                        <a:t>Memory consumption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rowSpan="2">
                  <a:txBody>
                    <a:bodyPr/>
                    <a:lstStyle/>
                    <a:p>
                      <a:pPr algn="ctr"/>
                      <a:r>
                        <a:rPr lang="en-US" altLang="zh-TW" sz="1200" b="0" cap="none" spc="0" dirty="0">
                          <a:ln w="0"/>
                          <a:solidFill>
                            <a:schemeClr val="tx1"/>
                          </a:solidFill>
                          <a:effectLst/>
                        </a:rPr>
                        <a:t>License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API Cost</a:t>
                      </a:r>
                      <a:r>
                        <a:rPr lang="en-US" altLang="zh-TW" sz="1200" b="0" cap="none" spc="0" dirty="0">
                          <a:ln w="0"/>
                          <a:solidFill>
                            <a:schemeClr val="accent1"/>
                          </a:solidFill>
                          <a:effectLst/>
                        </a:rPr>
                        <a:t> </a:t>
                      </a:r>
                      <a:r>
                        <a:rPr lang="en-US" altLang="zh-TW" sz="1000" b="0" cap="none" spc="0" dirty="0">
                          <a:ln w="0"/>
                          <a:solidFill>
                            <a:schemeClr val="accent1"/>
                          </a:solidFill>
                          <a:effectLst/>
                        </a:rPr>
                        <a:t>$/Token</a:t>
                      </a:r>
                      <a:endParaRPr lang="zh-TW" altLang="en-US" sz="1000" b="0" cap="none" spc="0" dirty="0">
                        <a:ln w="0"/>
                        <a:solidFill>
                          <a:schemeClr val="accent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78887">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algn="ctr"/>
                      <a:r>
                        <a:rPr lang="en-US" altLang="zh-TW" sz="1200" b="0" cap="none" spc="0" dirty="0">
                          <a:ln w="0"/>
                          <a:solidFill>
                            <a:schemeClr val="tx1"/>
                          </a:solidFill>
                          <a:effectLst/>
                        </a:rPr>
                        <a:t>Parameters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HBM/VRAM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267223550"/>
                  </a:ext>
                </a:extLst>
              </a:tr>
              <a:tr h="357773">
                <a:tc>
                  <a:txBody>
                    <a:bodyPr/>
                    <a:lstStyle/>
                    <a:p>
                      <a:pPr algn="l"/>
                      <a:r>
                        <a:rPr lang="en-US" altLang="zh-TW" sz="1200" b="0" cap="none" spc="0" dirty="0">
                          <a:ln w="0"/>
                          <a:solidFill>
                            <a:schemeClr val="tx1"/>
                          </a:solidFill>
                          <a:effectLst/>
                        </a:rPr>
                        <a:t>Kimi K3</a:t>
                      </a:r>
                    </a:p>
                    <a:p>
                      <a:pPr algn="l"/>
                      <a:r>
                        <a:rPr lang="en-US" altLang="zh-TW" sz="1000" b="0" cap="none" spc="0" dirty="0">
                          <a:ln w="0"/>
                          <a:solidFill>
                            <a:schemeClr val="accent1"/>
                          </a:solidFill>
                          <a:effectLst/>
                        </a:rPr>
                        <a:t>Moonshot</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r>
                        <a:rPr lang="en-US" altLang="zh-TW" sz="1200" b="0" cap="none" spc="0" dirty="0">
                          <a:ln w="0"/>
                          <a:solidFill>
                            <a:schemeClr val="tx1"/>
                          </a:solidFill>
                          <a:effectLst/>
                        </a:rPr>
                        <a:t>KDA, </a:t>
                      </a:r>
                      <a:r>
                        <a:rPr lang="en-US" altLang="zh-TW" sz="1200" b="0" u="sng" cap="none" spc="0" dirty="0">
                          <a:ln w="0"/>
                          <a:solidFill>
                            <a:schemeClr val="tx1"/>
                          </a:solidFill>
                          <a:effectLst/>
                        </a:rPr>
                        <a:t>Arena.ai</a:t>
                      </a:r>
                      <a:r>
                        <a:rPr lang="en-US" altLang="zh-TW" sz="1200" b="0" cap="none" spc="0" dirty="0">
                          <a:ln w="0"/>
                          <a:solidFill>
                            <a:schemeClr val="tx1"/>
                          </a:solidFill>
                          <a:effectLst/>
                        </a:rPr>
                        <a:t>,</a:t>
                      </a:r>
                      <a:r>
                        <a:rPr lang="zh-TW" altLang="en-US" sz="1200" b="0" cap="none" spc="0" dirty="0">
                          <a:ln w="0"/>
                          <a:solidFill>
                            <a:schemeClr val="tx1"/>
                          </a:solidFill>
                          <a:effectLst/>
                        </a:rPr>
                        <a:t> </a:t>
                      </a:r>
                      <a:r>
                        <a:rPr lang="en-US" altLang="zh-TW" sz="1200" b="0" cap="none" spc="0" dirty="0">
                          <a:ln w="0"/>
                          <a:solidFill>
                            <a:schemeClr val="tx1"/>
                          </a:solidFill>
                          <a:effectLst/>
                        </a:rPr>
                        <a:t>Native Multimodal Agent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2.8T (104B)</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20*H100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100G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0.86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577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V4 Pro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solidFill>
                          <a:effectLst/>
                          <a:uLnTx/>
                          <a:uFillTx/>
                          <a:latin typeface="+mn-lt"/>
                          <a:ea typeface="+mn-ea"/>
                          <a:cs typeface="+mn-cs"/>
                        </a:rPr>
                        <a:t>DeepSeek</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r>
                        <a:rPr lang="en-US" altLang="zh-TW" sz="1200" b="0" cap="none" spc="0" dirty="0">
                          <a:ln w="0"/>
                          <a:solidFill>
                            <a:schemeClr val="tx1"/>
                          </a:solidFill>
                          <a:effectLst/>
                        </a:rPr>
                        <a:t>C/P,</a:t>
                      </a:r>
                      <a:r>
                        <a:rPr lang="zh-TW" altLang="en-US" sz="1200" b="0" cap="none" spc="0" dirty="0">
                          <a:ln w="0"/>
                          <a:solidFill>
                            <a:schemeClr val="tx1"/>
                          </a:solidFill>
                          <a:effectLst/>
                        </a:rPr>
                        <a:t> </a:t>
                      </a:r>
                      <a:r>
                        <a:rPr lang="en-US" altLang="zh-TW" sz="1200" b="0" u="sng" cap="none" spc="0" dirty="0">
                          <a:ln w="0"/>
                          <a:solidFill>
                            <a:schemeClr val="tx1"/>
                          </a:solidFill>
                          <a:effectLst/>
                        </a:rPr>
                        <a:t>STEM</a:t>
                      </a:r>
                      <a:r>
                        <a:rPr lang="en-US" altLang="zh-TW" sz="1200" b="0" cap="none" spc="0" dirty="0">
                          <a:ln w="0"/>
                          <a:solidFill>
                            <a:schemeClr val="tx1"/>
                          </a:solidFill>
                          <a:effectLst/>
                        </a:rPr>
                        <a:t>,</a:t>
                      </a:r>
                      <a:r>
                        <a:rPr lang="zh-TW" altLang="en-US" sz="1200" b="0" cap="none" spc="0" dirty="0">
                          <a:ln w="0"/>
                          <a:solidFill>
                            <a:schemeClr val="tx1"/>
                          </a:solidFill>
                          <a:effectLst/>
                        </a:rPr>
                        <a:t> </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1.6T (49B)</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10*H100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80G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0.35~0.87</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327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Claude Fable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solidFill>
                          <a:effectLst/>
                          <a:uLnTx/>
                          <a:uFillTx/>
                          <a:latin typeface="+mn-lt"/>
                          <a:ea typeface="+mn-ea"/>
                          <a:cs typeface="+mn-cs"/>
                        </a:rPr>
                        <a:t>Anthropic</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Cloud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Closed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3.15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59758637"/>
                  </a:ext>
                </a:extLst>
              </a:tr>
              <a:tr h="327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GPT-5.6 Sol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solidFill>
                          <a:effectLst/>
                          <a:uLnTx/>
                          <a:uFillTx/>
                          <a:latin typeface="+mn-lt"/>
                          <a:ea typeface="+mn-ea"/>
                          <a:cs typeface="+mn-cs"/>
                        </a:rPr>
                        <a:t>OpenAI</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Cloud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Closed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1.86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837431638"/>
                  </a:ext>
                </a:extLst>
              </a:tr>
              <a:tr h="327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Gemini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solidFill>
                          <a:effectLst/>
                          <a:uLnTx/>
                          <a:uFillTx/>
                          <a:latin typeface="+mn-lt"/>
                          <a:ea typeface="+mn-ea"/>
                          <a:cs typeface="+mn-cs"/>
                        </a:rPr>
                        <a:t>Google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l"/>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Cloud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Closed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~9</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5058973"/>
                  </a:ext>
                </a:extLst>
              </a:tr>
            </a:tbl>
          </a:graphicData>
        </a:graphic>
      </p:graphicFrame>
      <p:graphicFrame>
        <p:nvGraphicFramePr>
          <p:cNvPr id="3" name="表格 2">
            <a:extLst>
              <a:ext uri="{FF2B5EF4-FFF2-40B4-BE49-F238E27FC236}">
                <a16:creationId xmlns:a16="http://schemas.microsoft.com/office/drawing/2014/main" id="{20CF8D57-F62C-C701-EBBE-20B8CF002C59}"/>
              </a:ext>
            </a:extLst>
          </p:cNvPr>
          <p:cNvGraphicFramePr>
            <a:graphicFrameLocks noGrp="1"/>
          </p:cNvGraphicFramePr>
          <p:nvPr>
            <p:extLst>
              <p:ext uri="{D42A27DB-BD31-4B8C-83A1-F6EECF244321}">
                <p14:modId xmlns:p14="http://schemas.microsoft.com/office/powerpoint/2010/main" val="2715771664"/>
              </p:ext>
            </p:extLst>
          </p:nvPr>
        </p:nvGraphicFramePr>
        <p:xfrm>
          <a:off x="7157852" y="2218649"/>
          <a:ext cx="1090401" cy="788874"/>
        </p:xfrm>
        <a:graphic>
          <a:graphicData uri="http://schemas.openxmlformats.org/drawingml/2006/table">
            <a:tbl>
              <a:tblPr firstRow="1" bandRow="1">
                <a:tableStyleId>{5C22544A-7EE6-4342-B048-85BDC9FD1C3A}</a:tableStyleId>
              </a:tblPr>
              <a:tblGrid>
                <a:gridCol w="1090401">
                  <a:extLst>
                    <a:ext uri="{9D8B030D-6E8A-4147-A177-3AD203B41FA5}">
                      <a16:colId xmlns:a16="http://schemas.microsoft.com/office/drawing/2014/main" val="4072639710"/>
                    </a:ext>
                  </a:extLst>
                </a:gridCol>
              </a:tblGrid>
              <a:tr h="207498">
                <a:tc>
                  <a:txBody>
                    <a:bodyPr/>
                    <a:lstStyle/>
                    <a:p>
                      <a:pPr algn="l"/>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2304923032"/>
                  </a:ext>
                </a:extLst>
              </a:tr>
              <a:tr h="207498">
                <a:tc>
                  <a:txBody>
                    <a:bodyPr/>
                    <a:lstStyle/>
                    <a:p>
                      <a:pPr algn="l"/>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639812515"/>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81341950"/>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953988682"/>
                  </a:ext>
                </a:extLst>
              </a:tr>
            </a:tbl>
          </a:graphicData>
        </a:graphic>
      </p:graphicFrame>
      <p:sp>
        <p:nvSpPr>
          <p:cNvPr id="4" name="標題 1">
            <a:extLst>
              <a:ext uri="{FF2B5EF4-FFF2-40B4-BE49-F238E27FC236}">
                <a16:creationId xmlns:a16="http://schemas.microsoft.com/office/drawing/2014/main" id="{05340D84-CC47-CC3E-B3DE-7A987EFDD6B9}"/>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err="1">
                <a:latin typeface="Noto Sans HK" panose="020B0200000000000000" pitchFamily="34" charset="-120"/>
                <a:ea typeface="Noto Sans HK" panose="020B0200000000000000" pitchFamily="34" charset="-120"/>
                <a:cs typeface="Aharoni" panose="020F0502020204030204" pitchFamily="2" charset="-79"/>
              </a:rPr>
              <a:t>MoE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 Architecture</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ultra-cost-efficient hardware maximizer that slashes KV cache memory by over 90% through shared and fine-grained expert architectures. </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6" name="圖片 5">
            <a:extLst>
              <a:ext uri="{FF2B5EF4-FFF2-40B4-BE49-F238E27FC236}">
                <a16:creationId xmlns:a16="http://schemas.microsoft.com/office/drawing/2014/main" id="{BA1A6188-F624-3C12-AEF8-4B9C71957B0D}"/>
              </a:ext>
            </a:extLst>
          </p:cNvPr>
          <p:cNvPicPr>
            <a:picLocks noChangeAspect="1"/>
          </p:cNvPicPr>
          <p:nvPr/>
        </p:nvPicPr>
        <p:blipFill>
          <a:blip r:embed="rId3"/>
          <a:stretch>
            <a:fillRect/>
          </a:stretch>
        </p:blipFill>
        <p:spPr>
          <a:xfrm>
            <a:off x="532120" y="-1035496"/>
            <a:ext cx="5413480" cy="7488832"/>
          </a:xfrm>
          <a:prstGeom prst="rect">
            <a:avLst/>
          </a:prstGeom>
          <a:solidFill>
            <a:schemeClr val="bg1"/>
          </a:solidFill>
        </p:spPr>
      </p:pic>
      <p:graphicFrame>
        <p:nvGraphicFramePr>
          <p:cNvPr id="9" name="表格 8">
            <a:extLst>
              <a:ext uri="{FF2B5EF4-FFF2-40B4-BE49-F238E27FC236}">
                <a16:creationId xmlns:a16="http://schemas.microsoft.com/office/drawing/2014/main" id="{D46908ED-3C05-75B7-C1BC-37F95757A753}"/>
              </a:ext>
            </a:extLst>
          </p:cNvPr>
          <p:cNvGraphicFramePr>
            <a:graphicFrameLocks noGrp="1"/>
          </p:cNvGraphicFramePr>
          <p:nvPr>
            <p:extLst>
              <p:ext uri="{D42A27DB-BD31-4B8C-83A1-F6EECF244321}">
                <p14:modId xmlns:p14="http://schemas.microsoft.com/office/powerpoint/2010/main" val="4236154462"/>
              </p:ext>
            </p:extLst>
          </p:nvPr>
        </p:nvGraphicFramePr>
        <p:xfrm>
          <a:off x="6474897" y="856984"/>
          <a:ext cx="2249568" cy="788874"/>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GRPO aligns via self-correction.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071062206"/>
                  </a:ext>
                </a:extLst>
              </a:tr>
            </a:tbl>
          </a:graphicData>
        </a:graphic>
      </p:graphicFrame>
    </p:spTree>
    <p:extLst>
      <p:ext uri="{BB962C8B-B14F-4D97-AF65-F5344CB8AC3E}">
        <p14:creationId xmlns:p14="http://schemas.microsoft.com/office/powerpoint/2010/main" val="31562355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1D7DEF31-767A-9F8F-B0E4-8C2CE6788F28}"/>
              </a:ext>
            </a:extLst>
          </p:cNvPr>
          <p:cNvSpPr txBox="1"/>
          <p:nvPr/>
        </p:nvSpPr>
        <p:spPr>
          <a:xfrm>
            <a:off x="251520" y="260648"/>
            <a:ext cx="3384376" cy="4809009"/>
          </a:xfrm>
          <a:prstGeom prst="rect">
            <a:avLst/>
          </a:prstGeom>
          <a:noFill/>
        </p:spPr>
        <p:txBody>
          <a:bodyPr wrap="square">
            <a:spAutoFit/>
          </a:bodyPr>
          <a:lstStyle/>
          <a:p>
            <a:pPr marL="0" marR="0">
              <a:spcBef>
                <a:spcPts val="1800"/>
              </a:spcBef>
              <a:spcAft>
                <a:spcPts val="900"/>
              </a:spcAft>
              <a:buNone/>
            </a:pPr>
            <a:r>
              <a:rPr lang="zh-TW" altLang="zh-TW" sz="1100" b="1" u="none" strike="noStrike" dirty="0">
                <a:effectLst/>
                <a:latin typeface="微軟正黑體" panose="020B0604030504040204" pitchFamily="34" charset="-120"/>
                <a:ea typeface="微軟正黑體" panose="020B0604030504040204" pitchFamily="34" charset="-120"/>
              </a:rPr>
              <a:t>一、 解密路由激活函數：Sqrt(Softplus(·))</a:t>
            </a:r>
          </a:p>
          <a:p>
            <a:pPr marL="0" marR="0">
              <a:spcBef>
                <a:spcPts val="900"/>
              </a:spcBef>
              <a:spcAft>
                <a:spcPts val="1200"/>
              </a:spcAft>
              <a:buNone/>
            </a:pPr>
            <a:r>
              <a:rPr lang="zh-TW" altLang="zh-TW" sz="1100" b="0" u="none" strike="noStrike" dirty="0">
                <a:effectLst/>
                <a:latin typeface="微軟正黑體" panose="020B0604030504040204" pitchFamily="34" charset="-120"/>
                <a:ea typeface="微軟正黑體" panose="020B0604030504040204" pitchFamily="34" charset="-120"/>
              </a:rPr>
              <a:t>在傳統的混合專家模型（MoE）中，計算「Token 與專家的契合親和度」通常會使用 Sigmoid 或 Softmax。但 DeepSeek-V4 徹底將其替換為 </a:t>
            </a:r>
            <a:r>
              <a:rPr lang="zh-TW" altLang="zh-TW" sz="1100" b="1" u="none" strike="noStrike" dirty="0">
                <a:effectLst/>
                <a:latin typeface="微軟正黑體" panose="020B0604030504040204" pitchFamily="34" charset="-120"/>
                <a:ea typeface="微軟正黑體" panose="020B0604030504040204" pitchFamily="34" charset="-120"/>
              </a:rPr>
              <a:t>Sqrt(Softplus(·))</a:t>
            </a:r>
            <a:r>
              <a:rPr lang="zh-TW" altLang="zh-TW" sz="1100" b="0" u="none" strike="noStrike" dirty="0">
                <a:effectLst/>
                <a:latin typeface="微軟正黑體" panose="020B0604030504040204" pitchFamily="34" charset="-120"/>
                <a:ea typeface="微軟正黑體" panose="020B0604030504040204" pitchFamily="34" charset="-120"/>
              </a:rPr>
              <a:t>，其數學公式為： </a:t>
            </a:r>
            <a:endParaRPr lang="en-US" altLang="zh-TW" sz="1100" b="0" u="none" strike="noStrike" dirty="0">
              <a:effectLst/>
              <a:latin typeface="微軟正黑體" panose="020B0604030504040204" pitchFamily="34" charset="-120"/>
              <a:ea typeface="微軟正黑體" panose="020B0604030504040204" pitchFamily="34" charset="-120"/>
            </a:endParaRPr>
          </a:p>
          <a:p>
            <a:pPr marL="0" marR="0">
              <a:spcBef>
                <a:spcPts val="900"/>
              </a:spcBef>
              <a:spcAft>
                <a:spcPts val="1200"/>
              </a:spcAft>
              <a:buNone/>
            </a:pPr>
            <a:r>
              <a:rPr lang="en-US" altLang="zh-TW" sz="1100" dirty="0">
                <a:latin typeface="微軟正黑體" panose="020B0604030504040204" pitchFamily="34" charset="-120"/>
                <a:ea typeface="微軟正黑體" panose="020B0604030504040204" pitchFamily="34" charset="-120"/>
              </a:rPr>
              <a:t>Score(x) = Sqrt[ ln(1+e^x) ]</a:t>
            </a:r>
            <a:endParaRPr lang="zh-TW" altLang="zh-TW" sz="1100" b="0" u="none" strike="noStrike" dirty="0">
              <a:effectLst/>
              <a:latin typeface="微軟正黑體" panose="020B0604030504040204" pitchFamily="34" charset="-120"/>
              <a:ea typeface="微軟正黑體" panose="020B0604030504040204" pitchFamily="34" charset="-120"/>
            </a:endParaRPr>
          </a:p>
          <a:p>
            <a:pPr marL="0" marR="0">
              <a:spcBef>
                <a:spcPts val="900"/>
              </a:spcBef>
              <a:spcAft>
                <a:spcPts val="1200"/>
              </a:spcAft>
              <a:buNone/>
            </a:pPr>
            <a:r>
              <a:rPr lang="zh-TW" altLang="zh-TW" sz="1100" b="0" u="none" strike="noStrike" dirty="0">
                <a:effectLst/>
                <a:latin typeface="微軟正黑體" panose="020B0604030504040204" pitchFamily="34" charset="-120"/>
                <a:ea typeface="微軟正黑體" panose="020B0604030504040204" pitchFamily="34" charset="-120"/>
              </a:rPr>
              <a:t>這個改動帶來了三大關鍵優勢：</a:t>
            </a:r>
          </a:p>
          <a:p>
            <a:pPr marL="342900" marR="0" lvl="0" indent="-342900">
              <a:spcBef>
                <a:spcPts val="900"/>
              </a:spcBef>
              <a:spcAft>
                <a:spcPts val="900"/>
              </a:spcAft>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獨立評分不互相拉扯</a:t>
            </a:r>
            <a:r>
              <a:rPr lang="zh-TW" altLang="zh-TW" sz="1100" b="0" u="none" strike="noStrike" dirty="0">
                <a:effectLst/>
                <a:latin typeface="微軟正黑體" panose="020B0604030504040204" pitchFamily="34" charset="-120"/>
                <a:ea typeface="微軟正黑體" panose="020B0604030504040204" pitchFamily="34" charset="-120"/>
              </a:rPr>
              <a:t>：與 Softmax 不同，每個專家的分數是單獨計算的，這意味著某一個專家分數暴增時，不會強行壓低其他潛在適用專家的機率。 </a:t>
            </a:r>
            <a:endParaRPr lang="en-US" altLang="zh-TW" sz="1100" dirty="0">
              <a:latin typeface="微軟正黑體" panose="020B0604030504040204" pitchFamily="34" charset="-120"/>
              <a:ea typeface="微軟正黑體" panose="020B0604030504040204" pitchFamily="34" charset="-120"/>
            </a:endParaRPr>
          </a:p>
          <a:p>
            <a:pPr marL="342900" marR="0" lvl="0" indent="-342900">
              <a:spcBef>
                <a:spcPts val="900"/>
              </a:spcBef>
              <a:spcAft>
                <a:spcPts val="900"/>
              </a:spcAft>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平滑緩解極端路由</a:t>
            </a:r>
            <a:r>
              <a:rPr lang="zh-TW" altLang="zh-TW" sz="1100" b="0" u="none" strike="noStrike" dirty="0">
                <a:effectLst/>
                <a:latin typeface="微軟正黑體" panose="020B0604030504040204" pitchFamily="34" charset="-120"/>
                <a:ea typeface="微軟正黑體" panose="020B0604030504040204" pitchFamily="34" charset="-120"/>
              </a:rPr>
              <a:t>：Softplus 能提供平滑的漸進激活，而外層的</a:t>
            </a:r>
            <a:r>
              <a:rPr lang="zh-TW" altLang="zh-TW" sz="1100" b="1" u="none" strike="noStrike" dirty="0">
                <a:effectLst/>
                <a:latin typeface="微軟正黑體" panose="020B0604030504040204" pitchFamily="34" charset="-120"/>
                <a:ea typeface="微軟正黑體" panose="020B0604030504040204" pitchFamily="34" charset="-120"/>
              </a:rPr>
              <a:t>平方根（Sqrt）操作能進一步壓縮分數的極端範圍</a:t>
            </a:r>
            <a:r>
              <a:rPr lang="zh-TW" altLang="zh-TW" sz="1100" b="0" u="none" strike="noStrike" dirty="0">
                <a:effectLst/>
                <a:latin typeface="微軟正黑體" panose="020B0604030504040204" pitchFamily="34" charset="-120"/>
                <a:ea typeface="微軟正黑體" panose="020B0604030504040204" pitchFamily="34" charset="-120"/>
              </a:rPr>
              <a:t>，防止少數專家被「過度熱捧」而導致其他專家失業。 </a:t>
            </a:r>
          </a:p>
          <a:p>
            <a:pPr marL="342900" marR="0" lvl="0" indent="-342900">
              <a:spcBef>
                <a:spcPts val="900"/>
              </a:spcBef>
              <a:spcAft>
                <a:spcPts val="900"/>
              </a:spcAft>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有利於天然負載均衡</a:t>
            </a:r>
            <a:r>
              <a:rPr lang="zh-TW" altLang="zh-TW" sz="1100" b="0" u="none" strike="noStrike" dirty="0">
                <a:effectLst/>
                <a:latin typeface="微軟正黑體" panose="020B0604030504040204" pitchFamily="34" charset="-120"/>
                <a:ea typeface="微軟正黑體" panose="020B0604030504040204" pitchFamily="34" charset="-120"/>
              </a:rPr>
              <a:t>：路由分布更為平緩，模型在不需要僵硬的「輔助損失（Auxiliary Loss）」強迫制約下，就能自主實現極佳的專家分配均衡。</a:t>
            </a:r>
          </a:p>
        </p:txBody>
      </p:sp>
      <p:pic>
        <p:nvPicPr>
          <p:cNvPr id="5" name="圖片 4">
            <a:extLst>
              <a:ext uri="{FF2B5EF4-FFF2-40B4-BE49-F238E27FC236}">
                <a16:creationId xmlns:a16="http://schemas.microsoft.com/office/drawing/2014/main" id="{24B15496-A7F0-B40B-64D7-2E69EEF5EED0}"/>
              </a:ext>
            </a:extLst>
          </p:cNvPr>
          <p:cNvPicPr>
            <a:picLocks noChangeAspect="1"/>
          </p:cNvPicPr>
          <p:nvPr/>
        </p:nvPicPr>
        <p:blipFill>
          <a:blip r:embed="rId3"/>
          <a:stretch>
            <a:fillRect/>
          </a:stretch>
        </p:blipFill>
        <p:spPr>
          <a:xfrm>
            <a:off x="216496" y="1412776"/>
            <a:ext cx="2429214" cy="581106"/>
          </a:xfrm>
          <a:prstGeom prst="rect">
            <a:avLst/>
          </a:prstGeom>
        </p:spPr>
      </p:pic>
      <p:sp>
        <p:nvSpPr>
          <p:cNvPr id="7" name="文字方塊 6">
            <a:extLst>
              <a:ext uri="{FF2B5EF4-FFF2-40B4-BE49-F238E27FC236}">
                <a16:creationId xmlns:a16="http://schemas.microsoft.com/office/drawing/2014/main" id="{5DACEE6A-7394-9489-F6F8-35DC8A5AC10E}"/>
              </a:ext>
            </a:extLst>
          </p:cNvPr>
          <p:cNvSpPr txBox="1"/>
          <p:nvPr/>
        </p:nvSpPr>
        <p:spPr>
          <a:xfrm>
            <a:off x="3995936" y="188640"/>
            <a:ext cx="4572000" cy="5613396"/>
          </a:xfrm>
          <a:prstGeom prst="rect">
            <a:avLst/>
          </a:prstGeom>
          <a:noFill/>
        </p:spPr>
        <p:txBody>
          <a:bodyPr wrap="square">
            <a:spAutoFit/>
          </a:bodyPr>
          <a:lstStyle/>
          <a:p>
            <a:pPr marR="0">
              <a:lnSpc>
                <a:spcPts val="1600"/>
              </a:lnSpc>
              <a:buNone/>
            </a:pPr>
            <a:r>
              <a:rPr lang="zh-TW" altLang="zh-TW" sz="1100" b="1" u="none" strike="noStrike" dirty="0">
                <a:effectLst/>
                <a:latin typeface="微軟正黑體" panose="020B0604030504040204" pitchFamily="34" charset="-120"/>
                <a:ea typeface="微軟正黑體" panose="020B0604030504040204" pitchFamily="34" charset="-120"/>
              </a:rPr>
              <a:t>二、 什麼是 DeepSeek-V4 的「混合注意力架構」？</a:t>
            </a:r>
          </a:p>
          <a:p>
            <a:pPr marR="0">
              <a:lnSpc>
                <a:spcPts val="1600"/>
              </a:lnSpc>
              <a:buNone/>
            </a:pPr>
            <a:r>
              <a:rPr lang="zh-TW" altLang="zh-TW" sz="1100" b="0" u="none" strike="noStrike" dirty="0">
                <a:effectLst/>
                <a:latin typeface="微軟正黑體" panose="020B0604030504040204" pitchFamily="34" charset="-120"/>
                <a:ea typeface="微軟正黑體" panose="020B0604030504040204" pitchFamily="34" charset="-120"/>
              </a:rPr>
              <a:t>在過去的 V2/V3 中，DeepSeek 著名的是 Multi-head Latent Attention (MLA) 技術。然而到了 V4，為了解決 100 萬 Token 帶來的恐怖 </a:t>
            </a:r>
            <a:r>
              <a:rPr lang="zh-TW" altLang="zh-TW" sz="1100" b="1" u="none" strike="noStrike" dirty="0">
                <a:effectLst/>
                <a:latin typeface="微軟正黑體" panose="020B0604030504040204" pitchFamily="34" charset="-120"/>
                <a:ea typeface="微軟正黑體" panose="020B0604030504040204" pitchFamily="34" charset="-120"/>
              </a:rPr>
              <a:t>KV Cache（鍵值快取）記憶體爆炸問題</a:t>
            </a:r>
            <a:r>
              <a:rPr lang="zh-TW" altLang="zh-TW" sz="1100" b="0" u="none" strike="noStrike" dirty="0">
                <a:effectLst/>
                <a:latin typeface="微軟正黑體" panose="020B0604030504040204" pitchFamily="34" charset="-120"/>
                <a:ea typeface="微軟正黑體" panose="020B0604030504040204" pitchFamily="34" charset="-120"/>
              </a:rPr>
              <a:t>，官方開發出了由 </a:t>
            </a:r>
            <a:r>
              <a:rPr lang="zh-TW" altLang="zh-TW" sz="1100" b="1" u="none" strike="noStrike" dirty="0">
                <a:effectLst/>
                <a:latin typeface="微軟正黑體" panose="020B0604030504040204" pitchFamily="34" charset="-120"/>
                <a:ea typeface="微軟正黑體" panose="020B0604030504040204" pitchFamily="34" charset="-120"/>
              </a:rPr>
              <a:t>CSA</a:t>
            </a:r>
            <a:r>
              <a:rPr lang="zh-TW" altLang="zh-TW" sz="1100" b="0" u="none" strike="noStrike" dirty="0">
                <a:effectLst/>
                <a:latin typeface="微軟正黑體" panose="020B0604030504040204" pitchFamily="34" charset="-120"/>
                <a:ea typeface="微軟正黑體" panose="020B0604030504040204" pitchFamily="34" charset="-120"/>
              </a:rPr>
              <a:t> 與 </a:t>
            </a:r>
            <a:r>
              <a:rPr lang="zh-TW" altLang="zh-TW" sz="1100" b="1" u="none" strike="noStrike" dirty="0">
                <a:effectLst/>
                <a:latin typeface="微軟正黑體" panose="020B0604030504040204" pitchFamily="34" charset="-120"/>
                <a:ea typeface="微軟正黑體" panose="020B0604030504040204" pitchFamily="34" charset="-120"/>
              </a:rPr>
              <a:t>HCA</a:t>
            </a:r>
            <a:r>
              <a:rPr lang="zh-TW" altLang="zh-TW" sz="1100" b="0" u="none" strike="noStrike" dirty="0">
                <a:effectLst/>
                <a:latin typeface="微軟正黑體" panose="020B0604030504040204" pitchFamily="34" charset="-120"/>
                <a:ea typeface="微軟正黑體" panose="020B0604030504040204" pitchFamily="34" charset="-120"/>
              </a:rPr>
              <a:t> 交替層疊（Interleaved）組成的</a:t>
            </a:r>
            <a:r>
              <a:rPr lang="zh-TW" altLang="zh-TW" sz="1100" b="1" u="none" strike="noStrike" dirty="0">
                <a:effectLst/>
                <a:latin typeface="微軟正黑體" panose="020B0604030504040204" pitchFamily="34" charset="-120"/>
                <a:ea typeface="微軟正黑體" panose="020B0604030504040204" pitchFamily="34" charset="-120"/>
              </a:rPr>
              <a:t>混合注意力架構</a:t>
            </a:r>
            <a:r>
              <a:rPr lang="zh-TW" altLang="zh-TW" sz="1100" b="0" u="none" strike="noStrike" dirty="0">
                <a:effectLst/>
                <a:latin typeface="微軟正黑體" panose="020B0604030504040204" pitchFamily="34" charset="-120"/>
                <a:ea typeface="微軟正黑體" panose="020B0604030504040204" pitchFamily="34" charset="-120"/>
              </a:rPr>
              <a:t>。 </a:t>
            </a:r>
          </a:p>
          <a:p>
            <a:pPr marR="0">
              <a:lnSpc>
                <a:spcPts val="1600"/>
              </a:lnSpc>
              <a:buNone/>
            </a:pPr>
            <a:r>
              <a:rPr lang="zh-TW" altLang="zh-TW" sz="1100" b="0" u="none" strike="noStrike" dirty="0">
                <a:effectLst/>
                <a:latin typeface="微軟正黑體" panose="020B0604030504040204" pitchFamily="34" charset="-120"/>
                <a:ea typeface="微軟正黑體" panose="020B0604030504040204" pitchFamily="34" charset="-120"/>
              </a:rPr>
              <a:t>它拋棄了「每個 Token 都必須精確記錄 KV 狀態」的傳統教條，改採</a:t>
            </a:r>
            <a:r>
              <a:rPr lang="zh-TW" altLang="zh-TW" sz="1100" b="1" u="none" strike="noStrike" dirty="0">
                <a:effectLst/>
                <a:latin typeface="微軟正黑體" panose="020B0604030504040204" pitchFamily="34" charset="-120"/>
                <a:ea typeface="微軟正黑體" panose="020B0604030504040204" pitchFamily="34" charset="-120"/>
              </a:rPr>
              <a:t>分層儲存、按需訪問</a:t>
            </a:r>
            <a:r>
              <a:rPr lang="zh-TW" altLang="zh-TW" sz="1100" b="0" u="none" strike="noStrike" dirty="0">
                <a:effectLst/>
                <a:latin typeface="微軟正黑體" panose="020B0604030504040204" pitchFamily="34" charset="-120"/>
                <a:ea typeface="微軟正黑體" panose="020B0604030504040204" pitchFamily="34" charset="-120"/>
              </a:rPr>
              <a:t>的策略，成功將 </a:t>
            </a:r>
            <a:r>
              <a:rPr lang="zh-TW" altLang="zh-TW" sz="1100" b="1" u="none" strike="noStrike" dirty="0">
                <a:effectLst/>
                <a:latin typeface="微軟正黑體" panose="020B0604030504040204" pitchFamily="34" charset="-120"/>
                <a:ea typeface="微軟正黑體" panose="020B0604030504040204" pitchFamily="34" charset="-120"/>
              </a:rPr>
              <a:t>KV Cache 暴減 90%，單 Token 推理算力（FLOPs）降低 73%</a:t>
            </a:r>
            <a:r>
              <a:rPr lang="zh-TW" altLang="zh-TW" sz="1100" b="0" u="none" strike="noStrike" dirty="0">
                <a:effectLst/>
                <a:latin typeface="微軟正黑體" panose="020B0604030504040204" pitchFamily="34" charset="-120"/>
                <a:ea typeface="微軟正黑體" panose="020B0604030504040204" pitchFamily="34" charset="-120"/>
              </a:rPr>
              <a:t>。</a:t>
            </a:r>
          </a:p>
          <a:p>
            <a:pPr marR="0">
              <a:lnSpc>
                <a:spcPts val="1600"/>
              </a:lnSpc>
              <a:buNone/>
            </a:pPr>
            <a:r>
              <a:rPr lang="zh-TW" altLang="zh-TW" sz="1100" b="0" u="none" strike="noStrike" dirty="0">
                <a:effectLst/>
                <a:latin typeface="微軟正黑體" panose="020B0604030504040204" pitchFamily="34" charset="-120"/>
                <a:ea typeface="微軟正黑體" panose="020B0604030504040204" pitchFamily="34" charset="-120"/>
              </a:rPr>
              <a:t>這一架構由以下兩大機制交織而成：</a:t>
            </a:r>
            <a:endParaRPr lang="en-US" altLang="zh-TW" sz="1100" b="0" u="none" strike="noStrike" dirty="0">
              <a:effectLst/>
              <a:latin typeface="微軟正黑體" panose="020B0604030504040204" pitchFamily="34" charset="-120"/>
              <a:ea typeface="微軟正黑體" panose="020B0604030504040204" pitchFamily="34" charset="-120"/>
            </a:endParaRPr>
          </a:p>
          <a:p>
            <a:pPr marR="0">
              <a:lnSpc>
                <a:spcPts val="1600"/>
              </a:lnSpc>
              <a:buNone/>
            </a:pPr>
            <a:endParaRPr lang="zh-TW" altLang="zh-TW" sz="1100" b="0" u="none" strike="noStrike" dirty="0">
              <a:effectLst/>
              <a:latin typeface="微軟正黑體" panose="020B0604030504040204" pitchFamily="34" charset="-120"/>
              <a:ea typeface="微軟正黑體" panose="020B0604030504040204" pitchFamily="34" charset="-120"/>
            </a:endParaRPr>
          </a:p>
          <a:p>
            <a:pPr marR="0">
              <a:lnSpc>
                <a:spcPts val="1600"/>
              </a:lnSpc>
              <a:buNone/>
            </a:pPr>
            <a:r>
              <a:rPr lang="zh-TW" altLang="zh-TW" sz="1100" b="1" u="none" strike="noStrike" dirty="0">
                <a:effectLst/>
                <a:latin typeface="微軟正黑體" panose="020B0604030504040204" pitchFamily="34" charset="-120"/>
                <a:ea typeface="微軟正黑體" panose="020B0604030504040204" pitchFamily="34" charset="-120"/>
              </a:rPr>
              <a:t>1. 壓縮稀疏注意力（Compressed Sparse Attention, CSA）</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運作機制</a:t>
            </a:r>
            <a:r>
              <a:rPr lang="zh-TW" altLang="zh-TW" sz="1100" b="0" u="none" strike="noStrike" dirty="0">
                <a:effectLst/>
                <a:latin typeface="微軟正黑體" panose="020B0604030504040204" pitchFamily="34" charset="-120"/>
                <a:ea typeface="微軟正黑體" panose="020B0604030504040204" pitchFamily="34" charset="-120"/>
              </a:rPr>
              <a:t>：將歷史脈絡每m</a:t>
            </a:r>
            <a:r>
              <a:rPr lang="en-US" altLang="zh-TW" sz="1100" b="0" u="none" strike="noStrike" dirty="0">
                <a:effectLst/>
                <a:latin typeface="微軟正黑體" panose="020B0604030504040204" pitchFamily="34" charset="-120"/>
                <a:ea typeface="微軟正黑體" panose="020B0604030504040204" pitchFamily="34" charset="-120"/>
              </a:rPr>
              <a:t>(4)</a:t>
            </a:r>
            <a:r>
              <a:rPr lang="zh-TW" altLang="zh-TW" sz="1100" b="0" u="none" strike="noStrike" dirty="0">
                <a:effectLst/>
                <a:latin typeface="微軟正黑體" panose="020B0604030504040204" pitchFamily="34" charset="-120"/>
                <a:ea typeface="微軟正黑體" panose="020B0604030504040204" pitchFamily="34" charset="-120"/>
              </a:rPr>
              <a:t>個Token的 KV 狀態，透過學習好的權重</a:t>
            </a:r>
            <a:r>
              <a:rPr lang="zh-TW" altLang="zh-TW" sz="1100" b="1" u="none" strike="noStrike" dirty="0">
                <a:effectLst/>
                <a:latin typeface="微軟正黑體" panose="020B0604030504040204" pitchFamily="34" charset="-120"/>
                <a:ea typeface="微軟正黑體" panose="020B0604030504040204" pitchFamily="34" charset="-120"/>
              </a:rPr>
              <a:t>數學壓縮</a:t>
            </a:r>
            <a:r>
              <a:rPr lang="zh-TW" altLang="zh-TW" sz="1100" b="0" u="none" strike="noStrike" dirty="0">
                <a:effectLst/>
                <a:latin typeface="微軟正黑體" panose="020B0604030504040204" pitchFamily="34" charset="-120"/>
                <a:ea typeface="微軟正黑體" panose="020B0604030504040204" pitchFamily="34" charset="-120"/>
              </a:rPr>
              <a:t>鎖定成一個合併表徵。接著，由 Lightning Indexer 快速動態檢索出最相關的 Top-K 個壓縮記憶條目。</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角色定位</a:t>
            </a:r>
            <a:r>
              <a:rPr lang="zh-TW" altLang="zh-TW" sz="1100" b="0" u="none" strike="noStrike" dirty="0">
                <a:effectLst/>
                <a:latin typeface="微軟正黑體" panose="020B0604030504040204" pitchFamily="34" charset="-120"/>
                <a:ea typeface="微軟正黑體" panose="020B0604030504040204" pitchFamily="34" charset="-120"/>
              </a:rPr>
              <a:t>：它就像是</a:t>
            </a:r>
            <a:r>
              <a:rPr lang="en-US" altLang="zh-TW" sz="1100" b="1" u="none" strike="noStrike" dirty="0">
                <a:effectLst/>
                <a:latin typeface="微軟正黑體" panose="020B0604030504040204" pitchFamily="34" charset="-120"/>
                <a:ea typeface="微軟正黑體" panose="020B0604030504040204" pitchFamily="34" charset="-120"/>
              </a:rPr>
              <a:t>(</a:t>
            </a:r>
            <a:r>
              <a:rPr lang="zh-TW" altLang="zh-TW" sz="1100" b="1" u="none" strike="noStrike" dirty="0">
                <a:effectLst/>
                <a:latin typeface="微軟正黑體" panose="020B0604030504040204" pitchFamily="34" charset="-120"/>
                <a:ea typeface="微軟正黑體" panose="020B0604030504040204" pitchFamily="34" charset="-120"/>
              </a:rPr>
              <a:t>中等解析度的檢索器</a:t>
            </a:r>
            <a:r>
              <a:rPr lang="en-US" altLang="zh-TW" sz="1100" b="1" u="none" strike="noStrike" dirty="0">
                <a:effectLst/>
                <a:latin typeface="微軟正黑體" panose="020B0604030504040204" pitchFamily="34" charset="-120"/>
                <a:ea typeface="微軟正黑體" panose="020B0604030504040204" pitchFamily="34" charset="-120"/>
              </a:rPr>
              <a:t>),</a:t>
            </a:r>
            <a:r>
              <a:rPr lang="zh-TW" altLang="en-US" sz="1100" b="1"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不全量掃描百萬上下文，只找出跟當前問題最相關的歷史片段。 </a:t>
            </a:r>
          </a:p>
          <a:p>
            <a:pPr marR="0">
              <a:lnSpc>
                <a:spcPts val="1600"/>
              </a:lnSpc>
              <a:buNone/>
            </a:pPr>
            <a:r>
              <a:rPr lang="zh-TW" altLang="zh-TW" sz="1100" b="1" u="none" strike="noStrike" dirty="0">
                <a:effectLst/>
                <a:latin typeface="微軟正黑體" panose="020B0604030504040204" pitchFamily="34" charset="-120"/>
                <a:ea typeface="微軟正黑體" panose="020B0604030504040204" pitchFamily="34" charset="-120"/>
              </a:rPr>
              <a:t>2. 重度壓縮注意力（Heavily Compressed Attention, HCA）</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運作機制</a:t>
            </a:r>
            <a:r>
              <a:rPr lang="zh-TW" altLang="zh-TW" sz="1100" b="0" u="none" strike="noStrike" dirty="0">
                <a:effectLst/>
                <a:latin typeface="微軟正黑體" panose="020B0604030504040204" pitchFamily="34" charset="-120"/>
                <a:ea typeface="微軟正黑體" panose="020B0604030504040204" pitchFamily="34" charset="-120"/>
              </a:rPr>
              <a:t>：採用更激進的重度壓縮比（例如每 128 個 Token 壓縮成一條全局 KV 狀態），然後對這些高度壓縮的狀態進行</a:t>
            </a:r>
            <a:r>
              <a:rPr lang="zh-TW" altLang="zh-TW" sz="1100" b="1" u="none" strike="noStrike" dirty="0">
                <a:effectLst/>
                <a:latin typeface="微軟正黑體" panose="020B0604030504040204" pitchFamily="34" charset="-120"/>
                <a:ea typeface="微軟正黑體" panose="020B0604030504040204" pitchFamily="34" charset="-120"/>
              </a:rPr>
              <a:t>密集的全局注意力計算</a:t>
            </a:r>
            <a:r>
              <a:rPr lang="zh-TW" altLang="zh-TW" sz="1100" b="0" u="none" strike="noStrike" dirty="0">
                <a:effectLst/>
                <a:latin typeface="微軟正黑體" panose="020B0604030504040204" pitchFamily="34" charset="-120"/>
                <a:ea typeface="微軟正黑體" panose="020B0604030504040204" pitchFamily="34" charset="-120"/>
              </a:rPr>
              <a:t>。</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角色定位</a:t>
            </a:r>
            <a:r>
              <a:rPr lang="zh-TW" altLang="zh-TW" sz="1100" b="0" u="none" strike="noStrike" dirty="0">
                <a:effectLst/>
                <a:latin typeface="微軟正黑體" panose="020B0604030504040204" pitchFamily="34" charset="-120"/>
                <a:ea typeface="微軟正黑體" panose="020B0604030504040204" pitchFamily="34" charset="-120"/>
              </a:rPr>
              <a:t>：它就像是</a:t>
            </a:r>
            <a:r>
              <a:rPr lang="zh-TW" altLang="zh-TW" sz="1100" b="1" u="none" strike="noStrike" dirty="0">
                <a:effectLst/>
                <a:latin typeface="微軟正黑體" panose="020B0604030504040204" pitchFamily="34" charset="-120"/>
                <a:ea typeface="微軟正黑體" panose="020B0604030504040204" pitchFamily="34" charset="-120"/>
              </a:rPr>
              <a:t>「低解析度的全局老地圖」</a:t>
            </a:r>
            <a:r>
              <a:rPr lang="zh-TW" altLang="zh-TW" sz="1100" b="0" u="none" strike="noStrike" dirty="0">
                <a:effectLst/>
                <a:latin typeface="微軟正黑體" panose="020B0604030504040204" pitchFamily="34" charset="-120"/>
                <a:ea typeface="微軟正黑體" panose="020B0604030504040204" pitchFamily="34" charset="-120"/>
              </a:rPr>
              <a:t>。雖然細節被模糊了，但它確保模型不會因為稀疏檢索而徹底切碎整體文章結構，依然看得見故事的宏觀輪廓。 </a:t>
            </a:r>
          </a:p>
          <a:p>
            <a:pPr marR="0">
              <a:lnSpc>
                <a:spcPts val="1600"/>
              </a:lnSpc>
              <a:buNone/>
            </a:pPr>
            <a:r>
              <a:rPr lang="zh-TW" altLang="zh-TW" sz="1100" b="1" u="none" strike="noStrike" dirty="0">
                <a:effectLst/>
                <a:latin typeface="微軟正黑體" panose="020B0604030504040204" pitchFamily="34" charset="-120"/>
                <a:ea typeface="微軟正黑體" panose="020B0604030504040204" pitchFamily="34" charset="-120"/>
              </a:rPr>
              <a:t>3. 滑動窗口（Sliding Window）</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運作機制</a:t>
            </a:r>
            <a:r>
              <a:rPr lang="zh-TW" altLang="zh-TW" sz="1100" b="0" u="none" strike="noStrike" dirty="0">
                <a:effectLst/>
                <a:latin typeface="微軟正黑體" panose="020B0604030504040204" pitchFamily="34" charset="-120"/>
                <a:ea typeface="微軟正黑體" panose="020B0604030504040204" pitchFamily="34" charset="-120"/>
              </a:rPr>
              <a:t>：不論 CSA 還是 HCA，對於「當前最新、最鄰近」的上下文（例如最新的 128 個 Token），都依然保持 100% 完整且精確的精細注意力。</a:t>
            </a:r>
          </a:p>
        </p:txBody>
      </p:sp>
      <p:graphicFrame>
        <p:nvGraphicFramePr>
          <p:cNvPr id="6" name="表格 5">
            <a:extLst>
              <a:ext uri="{FF2B5EF4-FFF2-40B4-BE49-F238E27FC236}">
                <a16:creationId xmlns:a16="http://schemas.microsoft.com/office/drawing/2014/main" id="{73A2FB69-DDF4-9EAC-D7D6-632FE413F84A}"/>
              </a:ext>
            </a:extLst>
          </p:cNvPr>
          <p:cNvGraphicFramePr>
            <a:graphicFrameLocks noGrp="1"/>
          </p:cNvGraphicFramePr>
          <p:nvPr>
            <p:extLst>
              <p:ext uri="{D42A27DB-BD31-4B8C-83A1-F6EECF244321}">
                <p14:modId xmlns:p14="http://schemas.microsoft.com/office/powerpoint/2010/main" val="1317161879"/>
              </p:ext>
            </p:extLst>
          </p:nvPr>
        </p:nvGraphicFramePr>
        <p:xfrm>
          <a:off x="1691680" y="5661248"/>
          <a:ext cx="1944216" cy="78887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4072639710"/>
                    </a:ext>
                  </a:extLst>
                </a:gridCol>
                <a:gridCol w="1440160">
                  <a:extLst>
                    <a:ext uri="{9D8B030D-6E8A-4147-A177-3AD203B41FA5}">
                      <a16:colId xmlns:a16="http://schemas.microsoft.com/office/drawing/2014/main" val="4106879781"/>
                    </a:ext>
                  </a:extLst>
                </a:gridCol>
              </a:tblGrid>
              <a:tr h="207498">
                <a:tc>
                  <a:txBody>
                    <a:bodyPr/>
                    <a:lstStyle/>
                    <a:p>
                      <a:pPr algn="l"/>
                      <a:r>
                        <a:rPr lang="en-US" altLang="zh-TW" sz="1200" b="1" cap="none" spc="0" dirty="0">
                          <a:ln w="0"/>
                          <a:solidFill>
                            <a:schemeClr val="tx1"/>
                          </a:solidFill>
                          <a:effectLst/>
                        </a:rPr>
                        <a:t>CSA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tc>
                  <a:txBody>
                    <a:bodyPr/>
                    <a:lstStyle/>
                    <a:p>
                      <a:pPr algn="l"/>
                      <a:r>
                        <a:rPr lang="en-US" altLang="zh-TW" sz="1200" b="0" cap="none" spc="0" dirty="0" err="1">
                          <a:ln w="0"/>
                          <a:solidFill>
                            <a:schemeClr val="tx1"/>
                          </a:solidFill>
                          <a:effectLst/>
                        </a:rPr>
                        <a:t>xadsf</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2304923032"/>
                  </a:ext>
                </a:extLst>
              </a:tr>
              <a:tr h="207498">
                <a:tc>
                  <a:txBody>
                    <a:bodyPr/>
                    <a:lstStyle/>
                    <a:p>
                      <a:pPr algn="l"/>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tc>
                  <a:txBody>
                    <a:bodyPr/>
                    <a:lstStyle/>
                    <a:p>
                      <a:pPr algn="l"/>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639812515"/>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81341950"/>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953988682"/>
                  </a:ext>
                </a:extLst>
              </a:tr>
            </a:tbl>
          </a:graphicData>
        </a:graphic>
      </p:graphicFrame>
      <p:pic>
        <p:nvPicPr>
          <p:cNvPr id="4" name="圖片 3">
            <a:extLst>
              <a:ext uri="{FF2B5EF4-FFF2-40B4-BE49-F238E27FC236}">
                <a16:creationId xmlns:a16="http://schemas.microsoft.com/office/drawing/2014/main" id="{C769F52B-0531-C9AC-626B-6D6332C197AD}"/>
              </a:ext>
            </a:extLst>
          </p:cNvPr>
          <p:cNvPicPr>
            <a:picLocks noChangeAspect="1"/>
          </p:cNvPicPr>
          <p:nvPr/>
        </p:nvPicPr>
        <p:blipFill>
          <a:blip r:embed="rId4"/>
          <a:stretch>
            <a:fillRect/>
          </a:stretch>
        </p:blipFill>
        <p:spPr>
          <a:xfrm>
            <a:off x="2886375" y="536354"/>
            <a:ext cx="3362794" cy="1457528"/>
          </a:xfrm>
          <a:prstGeom prst="rect">
            <a:avLst/>
          </a:prstGeom>
          <a:effectLst>
            <a:glow rad="50800">
              <a:schemeClr val="accent5"/>
            </a:glow>
          </a:effectLst>
        </p:spPr>
      </p:pic>
    </p:spTree>
    <p:extLst>
      <p:ext uri="{BB962C8B-B14F-4D97-AF65-F5344CB8AC3E}">
        <p14:creationId xmlns:p14="http://schemas.microsoft.com/office/powerpoint/2010/main" val="3145395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16EEC-6C42-09B9-F859-79359689D7A7}"/>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2DCB68E9-8DA3-5172-2398-EEF1F9E21177}"/>
              </a:ext>
            </a:extLst>
          </p:cNvPr>
          <p:cNvSpPr txBox="1">
            <a:spLocks/>
          </p:cNvSpPr>
          <p:nvPr/>
        </p:nvSpPr>
        <p:spPr>
          <a:xfrm>
            <a:off x="-367479" y="1297753"/>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DeepSeek-V4 Flash</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Parameters is 284B.</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7" name="標題 1">
            <a:extLst>
              <a:ext uri="{FF2B5EF4-FFF2-40B4-BE49-F238E27FC236}">
                <a16:creationId xmlns:a16="http://schemas.microsoft.com/office/drawing/2014/main" id="{C4591A5C-3125-91C4-210F-A6EA5099E439}"/>
              </a:ext>
            </a:extLst>
          </p:cNvPr>
          <p:cNvSpPr txBox="1">
            <a:spLocks/>
          </p:cNvSpPr>
          <p:nvPr/>
        </p:nvSpPr>
        <p:spPr>
          <a:xfrm>
            <a:off x="1792025" y="4367791"/>
            <a:ext cx="1102112" cy="576064"/>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 dimension of 4096</a:t>
            </a:r>
            <a:endParaRPr lang="en-US" altLang="zh-TW" sz="10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2" name="標題 1">
            <a:extLst>
              <a:ext uri="{FF2B5EF4-FFF2-40B4-BE49-F238E27FC236}">
                <a16:creationId xmlns:a16="http://schemas.microsoft.com/office/drawing/2014/main" id="{5CD8287F-FC84-6024-A406-47CC8DDD1F8C}"/>
              </a:ext>
            </a:extLst>
          </p:cNvPr>
          <p:cNvSpPr txBox="1">
            <a:spLocks/>
          </p:cNvSpPr>
          <p:nvPr/>
        </p:nvSpPr>
        <p:spPr>
          <a:xfrm>
            <a:off x="7144904" y="5723144"/>
            <a:ext cx="1224136" cy="116632"/>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Tokenized text</a:t>
            </a:r>
          </a:p>
        </p:txBody>
      </p:sp>
      <p:pic>
        <p:nvPicPr>
          <p:cNvPr id="3" name="圖片 2">
            <a:extLst>
              <a:ext uri="{FF2B5EF4-FFF2-40B4-BE49-F238E27FC236}">
                <a16:creationId xmlns:a16="http://schemas.microsoft.com/office/drawing/2014/main" id="{4847F2FE-A7D1-1C7A-9A41-E11D98AA70E1}"/>
              </a:ext>
            </a:extLst>
          </p:cNvPr>
          <p:cNvPicPr>
            <a:picLocks noChangeAspect="1"/>
          </p:cNvPicPr>
          <p:nvPr/>
        </p:nvPicPr>
        <p:blipFill>
          <a:blip r:embed="rId2"/>
          <a:stretch>
            <a:fillRect/>
          </a:stretch>
        </p:blipFill>
        <p:spPr>
          <a:xfrm>
            <a:off x="1691680" y="1265195"/>
            <a:ext cx="4901991" cy="6781255"/>
          </a:xfrm>
          <a:prstGeom prst="rect">
            <a:avLst/>
          </a:prstGeom>
          <a:solidFill>
            <a:schemeClr val="bg1"/>
          </a:solidFill>
        </p:spPr>
      </p:pic>
      <p:sp>
        <p:nvSpPr>
          <p:cNvPr id="4" name="標題 1">
            <a:extLst>
              <a:ext uri="{FF2B5EF4-FFF2-40B4-BE49-F238E27FC236}">
                <a16:creationId xmlns:a16="http://schemas.microsoft.com/office/drawing/2014/main" id="{301070FD-10B6-59FE-9BB5-16870A81BE8B}"/>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Attention</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7D23CA4D-74B5-B838-0C16-D0A3B68E32D7}"/>
              </a:ext>
            </a:extLst>
          </p:cNvPr>
          <p:cNvPicPr>
            <a:picLocks noChangeAspect="1"/>
          </p:cNvPicPr>
          <p:nvPr/>
        </p:nvPicPr>
        <p:blipFill>
          <a:blip r:embed="rId3"/>
          <a:stretch>
            <a:fillRect/>
          </a:stretch>
        </p:blipFill>
        <p:spPr>
          <a:xfrm>
            <a:off x="-907736" y="626705"/>
            <a:ext cx="10051736" cy="5362487"/>
          </a:xfrm>
          <a:prstGeom prst="rect">
            <a:avLst/>
          </a:prstGeom>
        </p:spPr>
      </p:pic>
      <p:sp>
        <p:nvSpPr>
          <p:cNvPr id="5" name="文字方塊 4">
            <a:extLst>
              <a:ext uri="{FF2B5EF4-FFF2-40B4-BE49-F238E27FC236}">
                <a16:creationId xmlns:a16="http://schemas.microsoft.com/office/drawing/2014/main" id="{17F30396-DC7F-E655-B68F-0E042D1DCC88}"/>
              </a:ext>
            </a:extLst>
          </p:cNvPr>
          <p:cNvSpPr txBox="1"/>
          <p:nvPr/>
        </p:nvSpPr>
        <p:spPr>
          <a:xfrm>
            <a:off x="7282756" y="1020198"/>
            <a:ext cx="948432" cy="369332"/>
          </a:xfrm>
          <a:prstGeom prst="rect">
            <a:avLst/>
          </a:prstGeom>
          <a:noFill/>
        </p:spPr>
        <p:txBody>
          <a:bodyPr wrap="square">
            <a:spAutoFit/>
          </a:bodyPr>
          <a:lstStyle/>
          <a:p>
            <a:r>
              <a:rPr lang="zh-TW" altLang="zh-TW" dirty="0"/>
              <a:t>Top-512 </a:t>
            </a:r>
            <a:endParaRPr lang="zh-TW" altLang="en-US" dirty="0"/>
          </a:p>
        </p:txBody>
      </p:sp>
    </p:spTree>
    <p:extLst>
      <p:ext uri="{BB962C8B-B14F-4D97-AF65-F5344CB8AC3E}">
        <p14:creationId xmlns:p14="http://schemas.microsoft.com/office/powerpoint/2010/main" val="977470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D113-4CF9-E69D-FAB3-54656BEC3B51}"/>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DE898186-7DCE-3EBE-FDE7-B0534DB6DD62}"/>
              </a:ext>
            </a:extLst>
          </p:cNvPr>
          <p:cNvSpPr txBox="1">
            <a:spLocks/>
          </p:cNvSpPr>
          <p:nvPr/>
        </p:nvSpPr>
        <p:spPr>
          <a:xfrm>
            <a:off x="-367479" y="1297753"/>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DeepSeek-V4 Flash</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Parameters is 284B.</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7" name="標題 1">
            <a:extLst>
              <a:ext uri="{FF2B5EF4-FFF2-40B4-BE49-F238E27FC236}">
                <a16:creationId xmlns:a16="http://schemas.microsoft.com/office/drawing/2014/main" id="{52FA1EEE-129C-BCE0-312C-9A0C6BD408CF}"/>
              </a:ext>
            </a:extLst>
          </p:cNvPr>
          <p:cNvSpPr txBox="1">
            <a:spLocks/>
          </p:cNvSpPr>
          <p:nvPr/>
        </p:nvSpPr>
        <p:spPr>
          <a:xfrm>
            <a:off x="1792025" y="4367791"/>
            <a:ext cx="1102112" cy="576064"/>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 dimension of 4096</a:t>
            </a:r>
            <a:endParaRPr lang="en-US" altLang="zh-TW" sz="10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2" name="標題 1">
            <a:extLst>
              <a:ext uri="{FF2B5EF4-FFF2-40B4-BE49-F238E27FC236}">
                <a16:creationId xmlns:a16="http://schemas.microsoft.com/office/drawing/2014/main" id="{5E20E731-3577-FBD9-280F-7CD599EDA8C9}"/>
              </a:ext>
            </a:extLst>
          </p:cNvPr>
          <p:cNvSpPr txBox="1">
            <a:spLocks/>
          </p:cNvSpPr>
          <p:nvPr/>
        </p:nvSpPr>
        <p:spPr>
          <a:xfrm>
            <a:off x="7144904" y="5723144"/>
            <a:ext cx="1224136" cy="116632"/>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Tokenized text</a:t>
            </a:r>
          </a:p>
        </p:txBody>
      </p:sp>
      <p:sp>
        <p:nvSpPr>
          <p:cNvPr id="4" name="標題 1">
            <a:extLst>
              <a:ext uri="{FF2B5EF4-FFF2-40B4-BE49-F238E27FC236}">
                <a16:creationId xmlns:a16="http://schemas.microsoft.com/office/drawing/2014/main" id="{7C029B32-8896-76A3-8D5C-A08D91C43953}"/>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Attention</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Tree>
    <p:extLst>
      <p:ext uri="{BB962C8B-B14F-4D97-AF65-F5344CB8AC3E}">
        <p14:creationId xmlns:p14="http://schemas.microsoft.com/office/powerpoint/2010/main" val="3369391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D12A1-524B-7809-BD36-D84446C462E5}"/>
            </a:ext>
          </a:extLst>
        </p:cNvPr>
        <p:cNvGrpSpPr/>
        <p:nvPr/>
      </p:nvGrpSpPr>
      <p:grpSpPr>
        <a:xfrm>
          <a:off x="0" y="0"/>
          <a:ext cx="0" cy="0"/>
          <a:chOff x="0" y="0"/>
          <a:chExt cx="0" cy="0"/>
        </a:xfrm>
      </p:grpSpPr>
      <p:sp>
        <p:nvSpPr>
          <p:cNvPr id="4" name="矩形: 圓角 3">
            <a:extLst>
              <a:ext uri="{FF2B5EF4-FFF2-40B4-BE49-F238E27FC236}">
                <a16:creationId xmlns:a16="http://schemas.microsoft.com/office/drawing/2014/main" id="{7EFE7C6C-3BA3-27DD-300E-DA8C0A20DC7A}"/>
              </a:ext>
            </a:extLst>
          </p:cNvPr>
          <p:cNvSpPr/>
          <p:nvPr/>
        </p:nvSpPr>
        <p:spPr>
          <a:xfrm>
            <a:off x="467826" y="1922626"/>
            <a:ext cx="1219522" cy="2795046"/>
          </a:xfrm>
          <a:prstGeom prst="roundRect">
            <a:avLst>
              <a:gd name="adj" fmla="val 10053"/>
            </a:avLst>
          </a:prstGeom>
          <a:solidFill>
            <a:schemeClr val="bg1">
              <a:lumMod val="95000"/>
              <a:alpha val="4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7" name="文字方塊 26">
            <a:extLst>
              <a:ext uri="{FF2B5EF4-FFF2-40B4-BE49-F238E27FC236}">
                <a16:creationId xmlns:a16="http://schemas.microsoft.com/office/drawing/2014/main" id="{1518336E-A416-D90F-A9D4-59E288FC7015}"/>
              </a:ext>
            </a:extLst>
          </p:cNvPr>
          <p:cNvSpPr txBox="1"/>
          <p:nvPr/>
        </p:nvSpPr>
        <p:spPr>
          <a:xfrm>
            <a:off x="535220" y="2002310"/>
            <a:ext cx="1086557" cy="895026"/>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DeepSeek </a:t>
            </a:r>
            <a:r>
              <a:rPr lang="en-US" altLang="zh-TW" sz="1000" b="1" dirty="0" err="1">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MoE</a:t>
            </a:r>
            <a:endPar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6" name="標題 1">
            <a:extLst>
              <a:ext uri="{FF2B5EF4-FFF2-40B4-BE49-F238E27FC236}">
                <a16:creationId xmlns:a16="http://schemas.microsoft.com/office/drawing/2014/main" id="{4C96685B-48C1-5AE8-649A-AE7D8CEC7A46}"/>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 </a:t>
            </a:r>
            <a:r>
              <a:rPr lang="en-US" altLang="zh-TW" sz="2800" dirty="0" err="1">
                <a:latin typeface="Noto Sans HK" panose="020B0200000000000000" pitchFamily="34" charset="-120"/>
                <a:ea typeface="Noto Sans HK" panose="020B0200000000000000" pitchFamily="34" charset="-120"/>
                <a:cs typeface="Aharoni" panose="020F0502020204030204" pitchFamily="2" charset="-79"/>
              </a:rPr>
              <a:t>MoE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 Architecture</a:t>
            </a:r>
          </a:p>
          <a:p>
            <a:r>
              <a:rPr lang="en-US" altLang="zh-TW" sz="1600" dirty="0">
                <a:latin typeface="Noto Sans HK" panose="020B0200000000000000" pitchFamily="34" charset="-120"/>
                <a:ea typeface="Noto Sans HK" panose="020B0200000000000000" pitchFamily="34" charset="-120"/>
                <a:cs typeface="Aharoni" panose="020F0502020204030204" pitchFamily="2" charset="-79"/>
              </a:rPr>
              <a:t>HCA + CSA + SWA)</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59" name="矩形: 圓角 58">
            <a:extLst>
              <a:ext uri="{FF2B5EF4-FFF2-40B4-BE49-F238E27FC236}">
                <a16:creationId xmlns:a16="http://schemas.microsoft.com/office/drawing/2014/main" id="{D4492F42-9A48-7559-B09C-CD68BBB98673}"/>
              </a:ext>
            </a:extLst>
          </p:cNvPr>
          <p:cNvSpPr/>
          <p:nvPr/>
        </p:nvSpPr>
        <p:spPr>
          <a:xfrm>
            <a:off x="4371483" y="3971785"/>
            <a:ext cx="388290" cy="945571"/>
          </a:xfrm>
          <a:prstGeom prst="roundRect">
            <a:avLst/>
          </a:prstGeom>
          <a:solidFill>
            <a:schemeClr val="bg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HCA</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Heavily</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Compressed</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Attention</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61" name="矩形: 圓角 60">
            <a:extLst>
              <a:ext uri="{FF2B5EF4-FFF2-40B4-BE49-F238E27FC236}">
                <a16:creationId xmlns:a16="http://schemas.microsoft.com/office/drawing/2014/main" id="{E0FE9C50-9ED4-EEF1-DB11-313983973D80}"/>
              </a:ext>
            </a:extLst>
          </p:cNvPr>
          <p:cNvSpPr/>
          <p:nvPr/>
        </p:nvSpPr>
        <p:spPr>
          <a:xfrm>
            <a:off x="5025287" y="3971785"/>
            <a:ext cx="388290" cy="945571"/>
          </a:xfrm>
          <a:prstGeom prst="roundRect">
            <a:avLst/>
          </a:prstGeom>
          <a:solidFill>
            <a:schemeClr val="bg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CSA</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Compressed</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Sparse</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schemeClr val="tx1">
                    <a:lumMod val="50000"/>
                    <a:lumOff val="50000"/>
                  </a:schemeClr>
                </a:solidFill>
                <a:latin typeface="Calibri"/>
                <a:ea typeface="微軟正黑體" panose="020B0604030504040204" pitchFamily="34" charset="-120"/>
              </a:rPr>
              <a:t>Attention</a:t>
            </a:r>
            <a:endParaRPr kumimoji="0" lang="en-US" altLang="zh-TW" sz="1000" b="0"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endParaRPr>
          </a:p>
        </p:txBody>
      </p:sp>
      <p:sp>
        <p:nvSpPr>
          <p:cNvPr id="63" name="矩形: 圓角 62">
            <a:extLst>
              <a:ext uri="{FF2B5EF4-FFF2-40B4-BE49-F238E27FC236}">
                <a16:creationId xmlns:a16="http://schemas.microsoft.com/office/drawing/2014/main" id="{D1CFA22C-FC0A-8BFB-7CFC-89120D4B60FA}"/>
              </a:ext>
            </a:extLst>
          </p:cNvPr>
          <p:cNvSpPr/>
          <p:nvPr/>
        </p:nvSpPr>
        <p:spPr>
          <a:xfrm>
            <a:off x="3717680" y="3964468"/>
            <a:ext cx="388290" cy="945571"/>
          </a:xfrm>
          <a:prstGeom prst="roundRect">
            <a:avLst/>
          </a:prstGeom>
          <a:solidFill>
            <a:schemeClr val="bg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SWA</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Sliding </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Window</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Attention</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65" name="矩形: 圓角 64">
            <a:extLst>
              <a:ext uri="{FF2B5EF4-FFF2-40B4-BE49-F238E27FC236}">
                <a16:creationId xmlns:a16="http://schemas.microsoft.com/office/drawing/2014/main" id="{4D656499-B9B9-165F-E9C0-82F2383D8243}"/>
              </a:ext>
            </a:extLst>
          </p:cNvPr>
          <p:cNvSpPr/>
          <p:nvPr/>
        </p:nvSpPr>
        <p:spPr>
          <a:xfrm>
            <a:off x="6394691" y="1121022"/>
            <a:ext cx="1085551" cy="416508"/>
          </a:xfrm>
          <a:prstGeom prst="roundRect">
            <a:avLst/>
          </a:prstGeom>
          <a:solidFill>
            <a:schemeClr val="bg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SLUI</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Heavily Compressed</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Attention</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2" name="矩形: 圓角 1">
            <a:extLst>
              <a:ext uri="{FF2B5EF4-FFF2-40B4-BE49-F238E27FC236}">
                <a16:creationId xmlns:a16="http://schemas.microsoft.com/office/drawing/2014/main" id="{9E34D9C9-7AF3-64E8-B6D4-198AFA476069}"/>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9" name="文字方塊 8">
            <a:extLst>
              <a:ext uri="{FF2B5EF4-FFF2-40B4-BE49-F238E27FC236}">
                <a16:creationId xmlns:a16="http://schemas.microsoft.com/office/drawing/2014/main" id="{354432FE-9D7B-376D-0444-6C59BF1FD1A3}"/>
              </a:ext>
            </a:extLst>
          </p:cNvPr>
          <p:cNvSpPr txBox="1"/>
          <p:nvPr/>
        </p:nvSpPr>
        <p:spPr>
          <a:xfrm>
            <a:off x="535220" y="3192840"/>
            <a:ext cx="1086557" cy="442008"/>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Hybrid Attention</a:t>
            </a:r>
          </a:p>
        </p:txBody>
      </p:sp>
      <p:cxnSp>
        <p:nvCxnSpPr>
          <p:cNvPr id="11" name="直線單箭頭接點 10">
            <a:extLst>
              <a:ext uri="{FF2B5EF4-FFF2-40B4-BE49-F238E27FC236}">
                <a16:creationId xmlns:a16="http://schemas.microsoft.com/office/drawing/2014/main" id="{F48A2720-B141-FB41-BD97-3F355EAE3956}"/>
              </a:ext>
            </a:extLst>
          </p:cNvPr>
          <p:cNvCxnSpPr>
            <a:cxnSpLocks/>
          </p:cNvCxnSpPr>
          <p:nvPr/>
        </p:nvCxnSpPr>
        <p:spPr>
          <a:xfrm flipH="1" flipV="1">
            <a:off x="1894726" y="4653136"/>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 name="矩形: 圓角 11">
            <a:extLst>
              <a:ext uri="{FF2B5EF4-FFF2-40B4-BE49-F238E27FC236}">
                <a16:creationId xmlns:a16="http://schemas.microsoft.com/office/drawing/2014/main" id="{2A274430-BA32-BDBA-A446-8671AC7B71EA}"/>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3" name="直線單箭頭接點 12">
            <a:extLst>
              <a:ext uri="{FF2B5EF4-FFF2-40B4-BE49-F238E27FC236}">
                <a16:creationId xmlns:a16="http://schemas.microsoft.com/office/drawing/2014/main" id="{FC3B1CE7-C165-5379-2ED8-9927C6396A9B}"/>
              </a:ext>
            </a:extLst>
          </p:cNvPr>
          <p:cNvCxnSpPr>
            <a:cxnSpLocks/>
            <a:stCxn id="4" idx="0"/>
            <a:endCxn id="12"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FA516C7-44C4-1332-E4AD-0CA52CC66035}"/>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5" name="矩形: 圓角 14">
            <a:extLst>
              <a:ext uri="{FF2B5EF4-FFF2-40B4-BE49-F238E27FC236}">
                <a16:creationId xmlns:a16="http://schemas.microsoft.com/office/drawing/2014/main" id="{2335679A-9B2B-8055-0E8E-46782CEE3A87}"/>
              </a:ext>
            </a:extLst>
          </p:cNvPr>
          <p:cNvSpPr/>
          <p:nvPr/>
        </p:nvSpPr>
        <p:spPr>
          <a:xfrm>
            <a:off x="607229" y="4221088"/>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d</a:t>
            </a:r>
          </a:p>
        </p:txBody>
      </p:sp>
      <p:sp>
        <p:nvSpPr>
          <p:cNvPr id="18" name="矩形: 圓角 17">
            <a:extLst>
              <a:ext uri="{FF2B5EF4-FFF2-40B4-BE49-F238E27FC236}">
                <a16:creationId xmlns:a16="http://schemas.microsoft.com/office/drawing/2014/main" id="{29EC67BF-89F1-105F-3B8B-A551D25FD336}"/>
              </a:ext>
            </a:extLst>
          </p:cNvPr>
          <p:cNvSpPr/>
          <p:nvPr/>
        </p:nvSpPr>
        <p:spPr>
          <a:xfrm>
            <a:off x="607229" y="2792566"/>
            <a:ext cx="936104" cy="194669"/>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endParaRPr kumimoji="0" lang="en-US" altLang="zh-TW" sz="120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19" name="矩形 18">
            <a:extLst>
              <a:ext uri="{FF2B5EF4-FFF2-40B4-BE49-F238E27FC236}">
                <a16:creationId xmlns:a16="http://schemas.microsoft.com/office/drawing/2014/main" id="{90C2D88B-3674-95E2-8F7F-233223E9E978}"/>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21" name="矩形: 圓角 20">
            <a:extLst>
              <a:ext uri="{FF2B5EF4-FFF2-40B4-BE49-F238E27FC236}">
                <a16:creationId xmlns:a16="http://schemas.microsoft.com/office/drawing/2014/main" id="{1716F293-6CBB-7C5E-E9EC-7BA318FFE883}"/>
              </a:ext>
            </a:extLst>
          </p:cNvPr>
          <p:cNvSpPr/>
          <p:nvPr/>
        </p:nvSpPr>
        <p:spPr>
          <a:xfrm>
            <a:off x="617293" y="2276872"/>
            <a:ext cx="516929" cy="436010"/>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Export</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20" name="文字方塊 19">
            <a:extLst>
              <a:ext uri="{FF2B5EF4-FFF2-40B4-BE49-F238E27FC236}">
                <a16:creationId xmlns:a16="http://schemas.microsoft.com/office/drawing/2014/main" id="{F09E3AB6-8232-731F-78BF-BEB213DCDE60}"/>
              </a:ext>
            </a:extLst>
          </p:cNvPr>
          <p:cNvSpPr txBox="1"/>
          <p:nvPr/>
        </p:nvSpPr>
        <p:spPr>
          <a:xfrm>
            <a:off x="3788259" y="1204136"/>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3" name="文字方塊 22">
            <a:extLst>
              <a:ext uri="{FF2B5EF4-FFF2-40B4-BE49-F238E27FC236}">
                <a16:creationId xmlns:a16="http://schemas.microsoft.com/office/drawing/2014/main" id="{5FB36156-6910-00FA-51C9-7CE40422925C}"/>
              </a:ext>
            </a:extLst>
          </p:cNvPr>
          <p:cNvSpPr txBox="1"/>
          <p:nvPr/>
        </p:nvSpPr>
        <p:spPr>
          <a:xfrm>
            <a:off x="4083128" y="1204136"/>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5" name="文字方塊 24">
            <a:extLst>
              <a:ext uri="{FF2B5EF4-FFF2-40B4-BE49-F238E27FC236}">
                <a16:creationId xmlns:a16="http://schemas.microsoft.com/office/drawing/2014/main" id="{D9F71498-2E52-A52D-5BE5-D5F583CD369F}"/>
              </a:ext>
            </a:extLst>
          </p:cNvPr>
          <p:cNvSpPr txBox="1"/>
          <p:nvPr/>
        </p:nvSpPr>
        <p:spPr>
          <a:xfrm>
            <a:off x="4960289" y="873253"/>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9" name="矩形: 圓角 28">
            <a:extLst>
              <a:ext uri="{FF2B5EF4-FFF2-40B4-BE49-F238E27FC236}">
                <a16:creationId xmlns:a16="http://schemas.microsoft.com/office/drawing/2014/main" id="{E8C71BCF-5A28-2127-74C1-6329D70233A1}"/>
              </a:ext>
            </a:extLst>
          </p:cNvPr>
          <p:cNvSpPr/>
          <p:nvPr/>
        </p:nvSpPr>
        <p:spPr>
          <a:xfrm>
            <a:off x="2832394" y="655248"/>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sp>
        <p:nvSpPr>
          <p:cNvPr id="7" name="文字方塊 6">
            <a:extLst>
              <a:ext uri="{FF2B5EF4-FFF2-40B4-BE49-F238E27FC236}">
                <a16:creationId xmlns:a16="http://schemas.microsoft.com/office/drawing/2014/main" id="{3AA1FBC2-4C5D-A7B2-547E-ABD5383F7A9E}"/>
              </a:ext>
            </a:extLst>
          </p:cNvPr>
          <p:cNvSpPr txBox="1"/>
          <p:nvPr/>
        </p:nvSpPr>
        <p:spPr>
          <a:xfrm>
            <a:off x="535220" y="3711944"/>
            <a:ext cx="1086557" cy="432048"/>
          </a:xfrm>
          <a:prstGeom prst="rect">
            <a:avLst/>
          </a:prstGeom>
          <a:solidFill>
            <a:schemeClr val="accent1">
              <a:lumMod val="20000"/>
              <a:lumOff val="80000"/>
              <a:alpha val="6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Engram</a:t>
            </a:r>
          </a:p>
        </p:txBody>
      </p:sp>
      <p:sp>
        <p:nvSpPr>
          <p:cNvPr id="31" name="矩形: 圓角 30">
            <a:extLst>
              <a:ext uri="{FF2B5EF4-FFF2-40B4-BE49-F238E27FC236}">
                <a16:creationId xmlns:a16="http://schemas.microsoft.com/office/drawing/2014/main" id="{17447780-11DA-9D99-E75A-F3F94ED81FAE}"/>
              </a:ext>
            </a:extLst>
          </p:cNvPr>
          <p:cNvSpPr/>
          <p:nvPr/>
        </p:nvSpPr>
        <p:spPr>
          <a:xfrm>
            <a:off x="1187624" y="2290763"/>
            <a:ext cx="516929" cy="436010"/>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Shared</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Export</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22" name="矩形: 圓角 21">
            <a:extLst>
              <a:ext uri="{FF2B5EF4-FFF2-40B4-BE49-F238E27FC236}">
                <a16:creationId xmlns:a16="http://schemas.microsoft.com/office/drawing/2014/main" id="{B575657B-6422-4836-4BD9-E9A5A22401DF}"/>
              </a:ext>
            </a:extLst>
          </p:cNvPr>
          <p:cNvSpPr/>
          <p:nvPr/>
        </p:nvSpPr>
        <p:spPr>
          <a:xfrm>
            <a:off x="2128038" y="1922626"/>
            <a:ext cx="1219522" cy="2795046"/>
          </a:xfrm>
          <a:prstGeom prst="roundRect">
            <a:avLst>
              <a:gd name="adj" fmla="val 10053"/>
            </a:avLst>
          </a:prstGeom>
          <a:solidFill>
            <a:schemeClr val="bg1">
              <a:lumMod val="95000"/>
              <a:alpha val="4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4" name="文字方塊 23">
            <a:extLst>
              <a:ext uri="{FF2B5EF4-FFF2-40B4-BE49-F238E27FC236}">
                <a16:creationId xmlns:a16="http://schemas.microsoft.com/office/drawing/2014/main" id="{EC76EEDB-820C-47F8-E6D6-B61AD0478603}"/>
              </a:ext>
            </a:extLst>
          </p:cNvPr>
          <p:cNvSpPr txBox="1"/>
          <p:nvPr/>
        </p:nvSpPr>
        <p:spPr>
          <a:xfrm>
            <a:off x="2195432" y="2002310"/>
            <a:ext cx="1086557" cy="895026"/>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DeepSeek </a:t>
            </a:r>
            <a:r>
              <a:rPr lang="en-US" altLang="zh-TW" sz="1000" b="1" dirty="0" err="1">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MoE</a:t>
            </a:r>
            <a:endPar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26" name="矩形: 圓角 25">
            <a:extLst>
              <a:ext uri="{FF2B5EF4-FFF2-40B4-BE49-F238E27FC236}">
                <a16:creationId xmlns:a16="http://schemas.microsoft.com/office/drawing/2014/main" id="{4A193FB5-77BF-9261-EE9C-AF49B58ACA5D}"/>
              </a:ext>
            </a:extLst>
          </p:cNvPr>
          <p:cNvSpPr/>
          <p:nvPr/>
        </p:nvSpPr>
        <p:spPr>
          <a:xfrm>
            <a:off x="2127756"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8" name="文字方塊 27">
            <a:extLst>
              <a:ext uri="{FF2B5EF4-FFF2-40B4-BE49-F238E27FC236}">
                <a16:creationId xmlns:a16="http://schemas.microsoft.com/office/drawing/2014/main" id="{D8D41319-3849-4C5C-B81B-F65F8A0E51BE}"/>
              </a:ext>
            </a:extLst>
          </p:cNvPr>
          <p:cNvSpPr txBox="1"/>
          <p:nvPr/>
        </p:nvSpPr>
        <p:spPr>
          <a:xfrm>
            <a:off x="2195432" y="3192840"/>
            <a:ext cx="1086557" cy="442008"/>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Hybrid Attention</a:t>
            </a:r>
          </a:p>
        </p:txBody>
      </p:sp>
      <p:cxnSp>
        <p:nvCxnSpPr>
          <p:cNvPr id="30" name="直線單箭頭接點 29">
            <a:extLst>
              <a:ext uri="{FF2B5EF4-FFF2-40B4-BE49-F238E27FC236}">
                <a16:creationId xmlns:a16="http://schemas.microsoft.com/office/drawing/2014/main" id="{DE1F102C-BA8F-E1D9-CA99-27D68435D0B0}"/>
              </a:ext>
            </a:extLst>
          </p:cNvPr>
          <p:cNvCxnSpPr>
            <a:cxnSpLocks/>
            <a:endCxn id="36" idx="2"/>
          </p:cNvCxnSpPr>
          <p:nvPr/>
        </p:nvCxnSpPr>
        <p:spPr>
          <a:xfrm flipH="1" flipV="1">
            <a:off x="2735493" y="4653136"/>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32" name="矩形: 圓角 31">
            <a:extLst>
              <a:ext uri="{FF2B5EF4-FFF2-40B4-BE49-F238E27FC236}">
                <a16:creationId xmlns:a16="http://schemas.microsoft.com/office/drawing/2014/main" id="{E7071F06-3B95-BBF0-8D31-403260190A10}"/>
              </a:ext>
            </a:extLst>
          </p:cNvPr>
          <p:cNvSpPr/>
          <p:nvPr/>
        </p:nvSpPr>
        <p:spPr>
          <a:xfrm>
            <a:off x="2127756"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33" name="直線單箭頭接點 32">
            <a:extLst>
              <a:ext uri="{FF2B5EF4-FFF2-40B4-BE49-F238E27FC236}">
                <a16:creationId xmlns:a16="http://schemas.microsoft.com/office/drawing/2014/main" id="{E8BA514B-DB76-CB7C-BABF-F30EA1823778}"/>
              </a:ext>
            </a:extLst>
          </p:cNvPr>
          <p:cNvCxnSpPr>
            <a:cxnSpLocks/>
            <a:stCxn id="22" idx="0"/>
            <a:endCxn id="32" idx="2"/>
          </p:cNvCxnSpPr>
          <p:nvPr/>
        </p:nvCxnSpPr>
        <p:spPr>
          <a:xfrm flipH="1" flipV="1">
            <a:off x="2737517"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F0F6B94A-C1E9-D2D7-0479-3D31C5008924}"/>
              </a:ext>
            </a:extLst>
          </p:cNvPr>
          <p:cNvSpPr/>
          <p:nvPr/>
        </p:nvSpPr>
        <p:spPr>
          <a:xfrm>
            <a:off x="2267441"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36" name="矩形: 圓角 35">
            <a:extLst>
              <a:ext uri="{FF2B5EF4-FFF2-40B4-BE49-F238E27FC236}">
                <a16:creationId xmlns:a16="http://schemas.microsoft.com/office/drawing/2014/main" id="{10A57304-B977-6DDF-AB79-940F415DCD67}"/>
              </a:ext>
            </a:extLst>
          </p:cNvPr>
          <p:cNvSpPr/>
          <p:nvPr/>
        </p:nvSpPr>
        <p:spPr>
          <a:xfrm>
            <a:off x="2267441" y="4221088"/>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d</a:t>
            </a:r>
          </a:p>
        </p:txBody>
      </p:sp>
      <p:sp>
        <p:nvSpPr>
          <p:cNvPr id="37" name="矩形: 圓角 36">
            <a:extLst>
              <a:ext uri="{FF2B5EF4-FFF2-40B4-BE49-F238E27FC236}">
                <a16:creationId xmlns:a16="http://schemas.microsoft.com/office/drawing/2014/main" id="{BAA62BC7-8970-5EAC-91BE-AFA753C2EB9A}"/>
              </a:ext>
            </a:extLst>
          </p:cNvPr>
          <p:cNvSpPr/>
          <p:nvPr/>
        </p:nvSpPr>
        <p:spPr>
          <a:xfrm>
            <a:off x="2267441" y="2792566"/>
            <a:ext cx="936104" cy="194669"/>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endParaRPr kumimoji="0" lang="en-US" altLang="zh-TW" sz="120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8" name="矩形 37">
            <a:extLst>
              <a:ext uri="{FF2B5EF4-FFF2-40B4-BE49-F238E27FC236}">
                <a16:creationId xmlns:a16="http://schemas.microsoft.com/office/drawing/2014/main" id="{BE84C5AA-7941-045B-0FBC-E68694445AFC}"/>
              </a:ext>
            </a:extLst>
          </p:cNvPr>
          <p:cNvSpPr/>
          <p:nvPr/>
        </p:nvSpPr>
        <p:spPr>
          <a:xfrm>
            <a:off x="1943092"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9" name="矩形: 圓角 38">
            <a:extLst>
              <a:ext uri="{FF2B5EF4-FFF2-40B4-BE49-F238E27FC236}">
                <a16:creationId xmlns:a16="http://schemas.microsoft.com/office/drawing/2014/main" id="{0DA5E329-7389-18B3-3FF9-BFDB18807177}"/>
              </a:ext>
            </a:extLst>
          </p:cNvPr>
          <p:cNvSpPr/>
          <p:nvPr/>
        </p:nvSpPr>
        <p:spPr>
          <a:xfrm>
            <a:off x="2277505" y="2276872"/>
            <a:ext cx="516929" cy="436010"/>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Export</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1" name="文字方塊 40">
            <a:extLst>
              <a:ext uri="{FF2B5EF4-FFF2-40B4-BE49-F238E27FC236}">
                <a16:creationId xmlns:a16="http://schemas.microsoft.com/office/drawing/2014/main" id="{381260DC-1D9A-8A2A-9143-702BB37EF0AC}"/>
              </a:ext>
            </a:extLst>
          </p:cNvPr>
          <p:cNvSpPr txBox="1"/>
          <p:nvPr/>
        </p:nvSpPr>
        <p:spPr>
          <a:xfrm>
            <a:off x="2195432" y="3711944"/>
            <a:ext cx="1086557" cy="432048"/>
          </a:xfrm>
          <a:prstGeom prst="rect">
            <a:avLst/>
          </a:prstGeom>
          <a:solidFill>
            <a:schemeClr val="accent1">
              <a:lumMod val="20000"/>
              <a:lumOff val="80000"/>
              <a:alpha val="6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Engram</a:t>
            </a:r>
          </a:p>
        </p:txBody>
      </p:sp>
      <p:sp>
        <p:nvSpPr>
          <p:cNvPr id="42" name="矩形: 圓角 41">
            <a:extLst>
              <a:ext uri="{FF2B5EF4-FFF2-40B4-BE49-F238E27FC236}">
                <a16:creationId xmlns:a16="http://schemas.microsoft.com/office/drawing/2014/main" id="{CB17FF31-7B4E-1DB9-4928-C09524069C4F}"/>
              </a:ext>
            </a:extLst>
          </p:cNvPr>
          <p:cNvSpPr/>
          <p:nvPr/>
        </p:nvSpPr>
        <p:spPr>
          <a:xfrm>
            <a:off x="2848865" y="2287360"/>
            <a:ext cx="516929" cy="436010"/>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Shared</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Export</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pic>
        <p:nvPicPr>
          <p:cNvPr id="5" name="圖片 4">
            <a:extLst>
              <a:ext uri="{FF2B5EF4-FFF2-40B4-BE49-F238E27FC236}">
                <a16:creationId xmlns:a16="http://schemas.microsoft.com/office/drawing/2014/main" id="{76885F05-0DA8-CE70-AA25-3ADBB1FDA917}"/>
              </a:ext>
            </a:extLst>
          </p:cNvPr>
          <p:cNvPicPr>
            <a:picLocks noChangeAspect="1"/>
          </p:cNvPicPr>
          <p:nvPr/>
        </p:nvPicPr>
        <p:blipFill>
          <a:blip r:embed="rId2"/>
          <a:stretch>
            <a:fillRect/>
          </a:stretch>
        </p:blipFill>
        <p:spPr>
          <a:xfrm>
            <a:off x="6046846" y="2833597"/>
            <a:ext cx="2549271" cy="1190806"/>
          </a:xfrm>
          <a:prstGeom prst="rect">
            <a:avLst/>
          </a:prstGeom>
        </p:spPr>
      </p:pic>
      <p:pic>
        <p:nvPicPr>
          <p:cNvPr id="10" name="圖片 9">
            <a:extLst>
              <a:ext uri="{FF2B5EF4-FFF2-40B4-BE49-F238E27FC236}">
                <a16:creationId xmlns:a16="http://schemas.microsoft.com/office/drawing/2014/main" id="{E535C448-D1CC-9527-76B8-C6DC51DEC44A}"/>
              </a:ext>
            </a:extLst>
          </p:cNvPr>
          <p:cNvPicPr>
            <a:picLocks noChangeAspect="1"/>
          </p:cNvPicPr>
          <p:nvPr/>
        </p:nvPicPr>
        <p:blipFill>
          <a:blip r:embed="rId3"/>
          <a:stretch>
            <a:fillRect/>
          </a:stretch>
        </p:blipFill>
        <p:spPr>
          <a:xfrm>
            <a:off x="6046846" y="1693716"/>
            <a:ext cx="2429214" cy="581106"/>
          </a:xfrm>
          <a:prstGeom prst="rect">
            <a:avLst/>
          </a:prstGeom>
        </p:spPr>
      </p:pic>
    </p:spTree>
    <p:extLst>
      <p:ext uri="{BB962C8B-B14F-4D97-AF65-F5344CB8AC3E}">
        <p14:creationId xmlns:p14="http://schemas.microsoft.com/office/powerpoint/2010/main" val="3386941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BB38A453-3D28-0325-2F31-2B4E4DAB387B}"/>
              </a:ext>
            </a:extLst>
          </p:cNvPr>
          <p:cNvSpPr/>
          <p:nvPr/>
        </p:nvSpPr>
        <p:spPr>
          <a:xfrm>
            <a:off x="1979712" y="5085185"/>
            <a:ext cx="465295" cy="825514"/>
          </a:xfrm>
          <a:prstGeom prst="rect">
            <a:avLst/>
          </a:prstGeom>
          <a:solidFill>
            <a:schemeClr val="bg1"/>
          </a:solid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b="1" dirty="0">
                <a:solidFill>
                  <a:schemeClr val="bg1">
                    <a:lumMod val="75000"/>
                  </a:schemeClr>
                </a:solidFill>
                <a:ea typeface="微軟正黑體" panose="020B0604030504040204" pitchFamily="34" charset="-120"/>
              </a:rPr>
              <a:t>X</a:t>
            </a:r>
          </a:p>
        </p:txBody>
      </p:sp>
      <p:sp>
        <p:nvSpPr>
          <p:cNvPr id="2" name="矩形 1">
            <a:extLst>
              <a:ext uri="{FF2B5EF4-FFF2-40B4-BE49-F238E27FC236}">
                <a16:creationId xmlns:a16="http://schemas.microsoft.com/office/drawing/2014/main" id="{F8A10819-F5AF-ACA1-0022-E7314F64193D}"/>
              </a:ext>
            </a:extLst>
          </p:cNvPr>
          <p:cNvSpPr/>
          <p:nvPr/>
        </p:nvSpPr>
        <p:spPr>
          <a:xfrm>
            <a:off x="6228184" y="4077072"/>
            <a:ext cx="1119629"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FFN(x)*k1</a:t>
            </a:r>
          </a:p>
        </p:txBody>
      </p:sp>
      <p:sp>
        <p:nvSpPr>
          <p:cNvPr id="3" name="矩形 2">
            <a:extLst>
              <a:ext uri="{FF2B5EF4-FFF2-40B4-BE49-F238E27FC236}">
                <a16:creationId xmlns:a16="http://schemas.microsoft.com/office/drawing/2014/main" id="{A7D842CA-B031-7BC9-9D27-3CEA5E3F9AA7}"/>
              </a:ext>
            </a:extLst>
          </p:cNvPr>
          <p:cNvSpPr/>
          <p:nvPr/>
        </p:nvSpPr>
        <p:spPr>
          <a:xfrm>
            <a:off x="7515677" y="4077072"/>
            <a:ext cx="771031"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FFN(x)*k2</a:t>
            </a:r>
          </a:p>
        </p:txBody>
      </p:sp>
      <p:sp>
        <p:nvSpPr>
          <p:cNvPr id="4" name="矩形 3">
            <a:extLst>
              <a:ext uri="{FF2B5EF4-FFF2-40B4-BE49-F238E27FC236}">
                <a16:creationId xmlns:a16="http://schemas.microsoft.com/office/drawing/2014/main" id="{D0BFBC04-025D-8C73-BE49-A627F4466BCB}"/>
              </a:ext>
            </a:extLst>
          </p:cNvPr>
          <p:cNvSpPr/>
          <p:nvPr/>
        </p:nvSpPr>
        <p:spPr>
          <a:xfrm>
            <a:off x="6202915" y="2249227"/>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5" name="文字方塊 4">
            <a:extLst>
              <a:ext uri="{FF2B5EF4-FFF2-40B4-BE49-F238E27FC236}">
                <a16:creationId xmlns:a16="http://schemas.microsoft.com/office/drawing/2014/main" id="{2CC5FF0F-E658-B872-6D5E-F29F0993AFDD}"/>
              </a:ext>
            </a:extLst>
          </p:cNvPr>
          <p:cNvSpPr txBox="1"/>
          <p:nvPr/>
        </p:nvSpPr>
        <p:spPr>
          <a:xfrm>
            <a:off x="6575885" y="2903675"/>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6" name="矩形 5">
            <a:extLst>
              <a:ext uri="{FF2B5EF4-FFF2-40B4-BE49-F238E27FC236}">
                <a16:creationId xmlns:a16="http://schemas.microsoft.com/office/drawing/2014/main" id="{ABEE450B-382F-9ADE-4AEA-42F8E753641D}"/>
              </a:ext>
            </a:extLst>
          </p:cNvPr>
          <p:cNvSpPr/>
          <p:nvPr/>
        </p:nvSpPr>
        <p:spPr>
          <a:xfrm>
            <a:off x="7308304" y="2708920"/>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S</a:t>
            </a:r>
            <a:endParaRPr lang="en-US" altLang="zh-TW" sz="1200" b="1" baseline="-25000" dirty="0">
              <a:solidFill>
                <a:schemeClr val="tx1"/>
              </a:solidFill>
              <a:ea typeface="微軟正黑體" panose="020B0604030504040204" pitchFamily="34" charset="-120"/>
            </a:endParaRPr>
          </a:p>
        </p:txBody>
      </p:sp>
      <p:sp>
        <p:nvSpPr>
          <p:cNvPr id="7" name="文字方塊 6">
            <a:extLst>
              <a:ext uri="{FF2B5EF4-FFF2-40B4-BE49-F238E27FC236}">
                <a16:creationId xmlns:a16="http://schemas.microsoft.com/office/drawing/2014/main" id="{7B124EE1-6EDF-2A18-A848-F4B235E38A56}"/>
              </a:ext>
            </a:extLst>
          </p:cNvPr>
          <p:cNvSpPr txBox="1"/>
          <p:nvPr/>
        </p:nvSpPr>
        <p:spPr>
          <a:xfrm>
            <a:off x="6202915" y="1235383"/>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sp>
        <p:nvSpPr>
          <p:cNvPr id="8" name="矩形 7">
            <a:extLst>
              <a:ext uri="{FF2B5EF4-FFF2-40B4-BE49-F238E27FC236}">
                <a16:creationId xmlns:a16="http://schemas.microsoft.com/office/drawing/2014/main" id="{65A40987-9A4B-9628-363E-E43C9DF051DE}"/>
              </a:ext>
            </a:extLst>
          </p:cNvPr>
          <p:cNvSpPr/>
          <p:nvPr/>
        </p:nvSpPr>
        <p:spPr>
          <a:xfrm>
            <a:off x="6291580" y="2708920"/>
            <a:ext cx="254168"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9" name="文字方塊 8">
            <a:extLst>
              <a:ext uri="{FF2B5EF4-FFF2-40B4-BE49-F238E27FC236}">
                <a16:creationId xmlns:a16="http://schemas.microsoft.com/office/drawing/2014/main" id="{726627E9-00F3-15C7-EF11-3FD71F12CF73}"/>
              </a:ext>
            </a:extLst>
          </p:cNvPr>
          <p:cNvSpPr txBox="1"/>
          <p:nvPr/>
        </p:nvSpPr>
        <p:spPr>
          <a:xfrm>
            <a:off x="7236296"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10" name="矩形 9">
            <a:extLst>
              <a:ext uri="{FF2B5EF4-FFF2-40B4-BE49-F238E27FC236}">
                <a16:creationId xmlns:a16="http://schemas.microsoft.com/office/drawing/2014/main" id="{6CD0255E-B788-5AB2-2870-9E64450DC63E}"/>
              </a:ext>
            </a:extLst>
          </p:cNvPr>
          <p:cNvSpPr/>
          <p:nvPr/>
        </p:nvSpPr>
        <p:spPr>
          <a:xfrm>
            <a:off x="8031178" y="2708920"/>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11" name="文字方塊 10">
            <a:extLst>
              <a:ext uri="{FF2B5EF4-FFF2-40B4-BE49-F238E27FC236}">
                <a16:creationId xmlns:a16="http://schemas.microsoft.com/office/drawing/2014/main" id="{72F722C5-137F-FBAD-F834-8D6A708F8BA7}"/>
              </a:ext>
            </a:extLst>
          </p:cNvPr>
          <p:cNvSpPr txBox="1"/>
          <p:nvPr/>
        </p:nvSpPr>
        <p:spPr>
          <a:xfrm>
            <a:off x="7481853" y="2804457"/>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graphicFrame>
        <p:nvGraphicFramePr>
          <p:cNvPr id="12" name="表格 11">
            <a:extLst>
              <a:ext uri="{FF2B5EF4-FFF2-40B4-BE49-F238E27FC236}">
                <a16:creationId xmlns:a16="http://schemas.microsoft.com/office/drawing/2014/main" id="{B6FA776E-1819-3370-4A74-9F50E3812556}"/>
              </a:ext>
            </a:extLst>
          </p:cNvPr>
          <p:cNvGraphicFramePr>
            <a:graphicFrameLocks noGrp="1"/>
          </p:cNvGraphicFramePr>
          <p:nvPr>
            <p:extLst>
              <p:ext uri="{D42A27DB-BD31-4B8C-83A1-F6EECF244321}">
                <p14:modId xmlns:p14="http://schemas.microsoft.com/office/powerpoint/2010/main" val="676806986"/>
              </p:ext>
            </p:extLst>
          </p:nvPr>
        </p:nvGraphicFramePr>
        <p:xfrm>
          <a:off x="6575885" y="1227404"/>
          <a:ext cx="2437328" cy="91440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0.08</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0.92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cxnSp>
        <p:nvCxnSpPr>
          <p:cNvPr id="13" name="接點: 肘形 12">
            <a:extLst>
              <a:ext uri="{FF2B5EF4-FFF2-40B4-BE49-F238E27FC236}">
                <a16:creationId xmlns:a16="http://schemas.microsoft.com/office/drawing/2014/main" id="{60F43318-2182-1CD4-9726-499CB69A803D}"/>
              </a:ext>
            </a:extLst>
          </p:cNvPr>
          <p:cNvCxnSpPr>
            <a:cxnSpLocks/>
            <a:endCxn id="2" idx="1"/>
          </p:cNvCxnSpPr>
          <p:nvPr/>
        </p:nvCxnSpPr>
        <p:spPr>
          <a:xfrm>
            <a:off x="5736536" y="2775569"/>
            <a:ext cx="491648" cy="1412155"/>
          </a:xfrm>
          <a:prstGeom prst="bentConnector3">
            <a:avLst/>
          </a:prstGeom>
          <a:ln w="2540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接點: 弧形 13">
            <a:extLst>
              <a:ext uri="{FF2B5EF4-FFF2-40B4-BE49-F238E27FC236}">
                <a16:creationId xmlns:a16="http://schemas.microsoft.com/office/drawing/2014/main" id="{8853950E-29C7-78C3-D378-6D0928B43713}"/>
              </a:ext>
            </a:extLst>
          </p:cNvPr>
          <p:cNvCxnSpPr>
            <a:cxnSpLocks/>
            <a:stCxn id="20" idx="2"/>
            <a:endCxn id="3" idx="0"/>
          </p:cNvCxnSpPr>
          <p:nvPr/>
        </p:nvCxnSpPr>
        <p:spPr>
          <a:xfrm rot="5400000">
            <a:off x="7694893" y="3664717"/>
            <a:ext cx="618656" cy="206055"/>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接點: 弧形 14">
            <a:extLst>
              <a:ext uri="{FF2B5EF4-FFF2-40B4-BE49-F238E27FC236}">
                <a16:creationId xmlns:a16="http://schemas.microsoft.com/office/drawing/2014/main" id="{5710DACF-22E1-1B21-E4BE-C20EB2931F82}"/>
              </a:ext>
            </a:extLst>
          </p:cNvPr>
          <p:cNvCxnSpPr>
            <a:cxnSpLocks/>
            <a:stCxn id="20" idx="2"/>
            <a:endCxn id="2" idx="0"/>
          </p:cNvCxnSpPr>
          <p:nvPr/>
        </p:nvCxnSpPr>
        <p:spPr>
          <a:xfrm rot="5400000">
            <a:off x="7138296" y="3108120"/>
            <a:ext cx="618656" cy="131924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06562D03-BD19-56DC-1D5F-F830948D13D5}"/>
              </a:ext>
            </a:extLst>
          </p:cNvPr>
          <p:cNvSpPr txBox="1">
            <a:spLocks/>
          </p:cNvSpPr>
          <p:nvPr/>
        </p:nvSpPr>
        <p:spPr>
          <a:xfrm>
            <a:off x="7059781" y="3861048"/>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0.08</a:t>
            </a:r>
          </a:p>
        </p:txBody>
      </p:sp>
      <p:sp>
        <p:nvSpPr>
          <p:cNvPr id="17" name="標題 1">
            <a:extLst>
              <a:ext uri="{FF2B5EF4-FFF2-40B4-BE49-F238E27FC236}">
                <a16:creationId xmlns:a16="http://schemas.microsoft.com/office/drawing/2014/main" id="{0C266A20-0E19-B9A0-E2FE-846970EAD969}"/>
              </a:ext>
            </a:extLst>
          </p:cNvPr>
          <p:cNvSpPr txBox="1">
            <a:spLocks/>
          </p:cNvSpPr>
          <p:nvPr/>
        </p:nvSpPr>
        <p:spPr>
          <a:xfrm>
            <a:off x="7947725" y="3861048"/>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0.92</a:t>
            </a:r>
          </a:p>
        </p:txBody>
      </p:sp>
      <p:sp>
        <p:nvSpPr>
          <p:cNvPr id="18" name="文字方塊 17">
            <a:extLst>
              <a:ext uri="{FF2B5EF4-FFF2-40B4-BE49-F238E27FC236}">
                <a16:creationId xmlns:a16="http://schemas.microsoft.com/office/drawing/2014/main" id="{A0C37EF4-FA43-87A1-4753-71E61251FEE4}"/>
              </a:ext>
            </a:extLst>
          </p:cNvPr>
          <p:cNvSpPr txBox="1"/>
          <p:nvPr/>
        </p:nvSpPr>
        <p:spPr>
          <a:xfrm>
            <a:off x="6911151" y="2852936"/>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9" name="文字方塊 18">
            <a:extLst>
              <a:ext uri="{FF2B5EF4-FFF2-40B4-BE49-F238E27FC236}">
                <a16:creationId xmlns:a16="http://schemas.microsoft.com/office/drawing/2014/main" id="{27C4484E-373A-8FDF-9B40-2DC53B0A7E4E}"/>
              </a:ext>
            </a:extLst>
          </p:cNvPr>
          <p:cNvSpPr txBox="1"/>
          <p:nvPr/>
        </p:nvSpPr>
        <p:spPr>
          <a:xfrm>
            <a:off x="7559223" y="2910218"/>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20" name="文字方塊 19">
            <a:extLst>
              <a:ext uri="{FF2B5EF4-FFF2-40B4-BE49-F238E27FC236}">
                <a16:creationId xmlns:a16="http://schemas.microsoft.com/office/drawing/2014/main" id="{60CAF8F3-CCE3-B3DE-3877-42647427EB85}"/>
              </a:ext>
            </a:extLst>
          </p:cNvPr>
          <p:cNvSpPr txBox="1"/>
          <p:nvPr/>
        </p:nvSpPr>
        <p:spPr>
          <a:xfrm>
            <a:off x="7970088"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21" name="文字方塊 20">
            <a:extLst>
              <a:ext uri="{FF2B5EF4-FFF2-40B4-BE49-F238E27FC236}">
                <a16:creationId xmlns:a16="http://schemas.microsoft.com/office/drawing/2014/main" id="{99CEEB46-479A-2598-ADE5-FED8D570B687}"/>
              </a:ext>
            </a:extLst>
          </p:cNvPr>
          <p:cNvSpPr txBox="1"/>
          <p:nvPr/>
        </p:nvSpPr>
        <p:spPr>
          <a:xfrm>
            <a:off x="6713001"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22" name="文字方塊 21">
            <a:extLst>
              <a:ext uri="{FF2B5EF4-FFF2-40B4-BE49-F238E27FC236}">
                <a16:creationId xmlns:a16="http://schemas.microsoft.com/office/drawing/2014/main" id="{424D3889-6497-A3C9-E904-6EBA0EB3570F}"/>
              </a:ext>
            </a:extLst>
          </p:cNvPr>
          <p:cNvSpPr txBox="1"/>
          <p:nvPr/>
        </p:nvSpPr>
        <p:spPr>
          <a:xfrm>
            <a:off x="6280769"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23" name="文字方塊 22">
            <a:extLst>
              <a:ext uri="{FF2B5EF4-FFF2-40B4-BE49-F238E27FC236}">
                <a16:creationId xmlns:a16="http://schemas.microsoft.com/office/drawing/2014/main" id="{FC4F69D0-FA4F-C08C-F949-8F8E40C8E9C4}"/>
              </a:ext>
            </a:extLst>
          </p:cNvPr>
          <p:cNvSpPr txBox="1"/>
          <p:nvPr/>
        </p:nvSpPr>
        <p:spPr>
          <a:xfrm>
            <a:off x="6906364" y="2804457"/>
            <a:ext cx="382683"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24" name="矩形 23">
            <a:extLst>
              <a:ext uri="{FF2B5EF4-FFF2-40B4-BE49-F238E27FC236}">
                <a16:creationId xmlns:a16="http://schemas.microsoft.com/office/drawing/2014/main" id="{723B206B-48AD-603F-CBBA-C1500D93B4EE}"/>
              </a:ext>
            </a:extLst>
          </p:cNvPr>
          <p:cNvSpPr/>
          <p:nvPr/>
        </p:nvSpPr>
        <p:spPr>
          <a:xfrm>
            <a:off x="6732240" y="2822999"/>
            <a:ext cx="135693" cy="317969"/>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25" name="矩形 24">
            <a:extLst>
              <a:ext uri="{FF2B5EF4-FFF2-40B4-BE49-F238E27FC236}">
                <a16:creationId xmlns:a16="http://schemas.microsoft.com/office/drawing/2014/main" id="{E0EAB839-282D-1C77-20C5-298F58967F50}"/>
              </a:ext>
            </a:extLst>
          </p:cNvPr>
          <p:cNvSpPr/>
          <p:nvPr/>
        </p:nvSpPr>
        <p:spPr>
          <a:xfrm>
            <a:off x="6525756" y="1975850"/>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26" name="矩形 25">
            <a:extLst>
              <a:ext uri="{FF2B5EF4-FFF2-40B4-BE49-F238E27FC236}">
                <a16:creationId xmlns:a16="http://schemas.microsoft.com/office/drawing/2014/main" id="{60FA643A-0D8E-DD24-E66B-17638C4E908A}"/>
              </a:ext>
            </a:extLst>
          </p:cNvPr>
          <p:cNvSpPr/>
          <p:nvPr/>
        </p:nvSpPr>
        <p:spPr>
          <a:xfrm>
            <a:off x="6227887" y="4373204"/>
            <a:ext cx="2058821" cy="22130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lumMod val="75000"/>
                  </a:schemeClr>
                </a:solidFill>
                <a:effectLst/>
                <a:uLnTx/>
                <a:uFillTx/>
                <a:latin typeface="Calibri"/>
                <a:ea typeface="微軟正黑體" panose="020B0604030504040204" pitchFamily="34" charset="-120"/>
                <a:cs typeface="+mn-cs"/>
              </a:rPr>
              <a:t>… other Experts</a:t>
            </a:r>
          </a:p>
        </p:txBody>
      </p:sp>
      <p:sp>
        <p:nvSpPr>
          <p:cNvPr id="28" name="矩形 27">
            <a:extLst>
              <a:ext uri="{FF2B5EF4-FFF2-40B4-BE49-F238E27FC236}">
                <a16:creationId xmlns:a16="http://schemas.microsoft.com/office/drawing/2014/main" id="{8D681E31-3A79-48B0-2633-DB51B92F15F8}"/>
              </a:ext>
            </a:extLst>
          </p:cNvPr>
          <p:cNvSpPr/>
          <p:nvPr/>
        </p:nvSpPr>
        <p:spPr>
          <a:xfrm>
            <a:off x="2160291" y="3095083"/>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30" name="文字方塊 29">
            <a:extLst>
              <a:ext uri="{FF2B5EF4-FFF2-40B4-BE49-F238E27FC236}">
                <a16:creationId xmlns:a16="http://schemas.microsoft.com/office/drawing/2014/main" id="{1A888E01-DD7E-A6C8-8231-EBAABF1F15C4}"/>
              </a:ext>
            </a:extLst>
          </p:cNvPr>
          <p:cNvSpPr txBox="1"/>
          <p:nvPr/>
        </p:nvSpPr>
        <p:spPr>
          <a:xfrm>
            <a:off x="2476661" y="5757472"/>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32" name="矩形 31">
            <a:extLst>
              <a:ext uri="{FF2B5EF4-FFF2-40B4-BE49-F238E27FC236}">
                <a16:creationId xmlns:a16="http://schemas.microsoft.com/office/drawing/2014/main" id="{E1B7B873-7BC8-7C09-C2E3-FD22BB5D6199}"/>
              </a:ext>
            </a:extLst>
          </p:cNvPr>
          <p:cNvSpPr/>
          <p:nvPr/>
        </p:nvSpPr>
        <p:spPr>
          <a:xfrm>
            <a:off x="4139952" y="5781516"/>
            <a:ext cx="237234" cy="104777"/>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6</a:t>
            </a:r>
          </a:p>
        </p:txBody>
      </p:sp>
      <p:sp>
        <p:nvSpPr>
          <p:cNvPr id="36" name="文字方塊 35">
            <a:extLst>
              <a:ext uri="{FF2B5EF4-FFF2-40B4-BE49-F238E27FC236}">
                <a16:creationId xmlns:a16="http://schemas.microsoft.com/office/drawing/2014/main" id="{5A358190-96BD-1746-3803-B26C763BE1EF}"/>
              </a:ext>
            </a:extLst>
          </p:cNvPr>
          <p:cNvSpPr txBox="1"/>
          <p:nvPr/>
        </p:nvSpPr>
        <p:spPr>
          <a:xfrm>
            <a:off x="3289568" y="591041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1x16</a:t>
            </a:r>
          </a:p>
        </p:txBody>
      </p:sp>
      <p:sp>
        <p:nvSpPr>
          <p:cNvPr id="38" name="矩形 37">
            <a:extLst>
              <a:ext uri="{FF2B5EF4-FFF2-40B4-BE49-F238E27FC236}">
                <a16:creationId xmlns:a16="http://schemas.microsoft.com/office/drawing/2014/main" id="{297D67DD-DCF9-BEA0-4C40-CA834955B86E}"/>
              </a:ext>
            </a:extLst>
          </p:cNvPr>
          <p:cNvSpPr/>
          <p:nvPr/>
        </p:nvSpPr>
        <p:spPr>
          <a:xfrm>
            <a:off x="5146979" y="5517232"/>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40" name="文字方塊 39">
            <a:extLst>
              <a:ext uri="{FF2B5EF4-FFF2-40B4-BE49-F238E27FC236}">
                <a16:creationId xmlns:a16="http://schemas.microsoft.com/office/drawing/2014/main" id="{90D8FB53-3346-EE84-CDD8-2102CB97751D}"/>
              </a:ext>
            </a:extLst>
          </p:cNvPr>
          <p:cNvSpPr txBox="1"/>
          <p:nvPr/>
        </p:nvSpPr>
        <p:spPr>
          <a:xfrm>
            <a:off x="3618690" y="5612769"/>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sp>
        <p:nvSpPr>
          <p:cNvPr id="42" name="文字方塊 41">
            <a:extLst>
              <a:ext uri="{FF2B5EF4-FFF2-40B4-BE49-F238E27FC236}">
                <a16:creationId xmlns:a16="http://schemas.microsoft.com/office/drawing/2014/main" id="{A8E2AD79-66FB-7241-A632-4BF58E4069B3}"/>
              </a:ext>
            </a:extLst>
          </p:cNvPr>
          <p:cNvSpPr txBox="1"/>
          <p:nvPr/>
        </p:nvSpPr>
        <p:spPr>
          <a:xfrm>
            <a:off x="2895777" y="5690024"/>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4" name="文字方塊 43">
            <a:extLst>
              <a:ext uri="{FF2B5EF4-FFF2-40B4-BE49-F238E27FC236}">
                <a16:creationId xmlns:a16="http://schemas.microsoft.com/office/drawing/2014/main" id="{D72E37A8-84E7-DA88-23B7-7C4800E673E3}"/>
              </a:ext>
            </a:extLst>
          </p:cNvPr>
          <p:cNvSpPr txBox="1"/>
          <p:nvPr/>
        </p:nvSpPr>
        <p:spPr>
          <a:xfrm>
            <a:off x="3696060" y="5718530"/>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6" name="文字方塊 45">
            <a:extLst>
              <a:ext uri="{FF2B5EF4-FFF2-40B4-BE49-F238E27FC236}">
                <a16:creationId xmlns:a16="http://schemas.microsoft.com/office/drawing/2014/main" id="{F021E952-3992-6F26-26E6-87AF63CCDDDC}"/>
              </a:ext>
            </a:extLst>
          </p:cNvPr>
          <p:cNvSpPr txBox="1"/>
          <p:nvPr/>
        </p:nvSpPr>
        <p:spPr>
          <a:xfrm>
            <a:off x="5085889" y="608384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48" name="文字方塊 47">
            <a:extLst>
              <a:ext uri="{FF2B5EF4-FFF2-40B4-BE49-F238E27FC236}">
                <a16:creationId xmlns:a16="http://schemas.microsoft.com/office/drawing/2014/main" id="{3744CD2F-0C22-6181-013E-4B5BB6DE0153}"/>
              </a:ext>
            </a:extLst>
          </p:cNvPr>
          <p:cNvSpPr txBox="1"/>
          <p:nvPr/>
        </p:nvSpPr>
        <p:spPr>
          <a:xfrm>
            <a:off x="2621457" y="609357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50" name="文字方塊 49">
            <a:extLst>
              <a:ext uri="{FF2B5EF4-FFF2-40B4-BE49-F238E27FC236}">
                <a16:creationId xmlns:a16="http://schemas.microsoft.com/office/drawing/2014/main" id="{E965FDCB-3A4F-B67B-0CFF-2F6FA8F81773}"/>
              </a:ext>
            </a:extLst>
          </p:cNvPr>
          <p:cNvSpPr txBox="1"/>
          <p:nvPr/>
        </p:nvSpPr>
        <p:spPr>
          <a:xfrm>
            <a:off x="2070980" y="591069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1xd</a:t>
            </a:r>
          </a:p>
        </p:txBody>
      </p:sp>
      <p:sp>
        <p:nvSpPr>
          <p:cNvPr id="52" name="文字方塊 51">
            <a:extLst>
              <a:ext uri="{FF2B5EF4-FFF2-40B4-BE49-F238E27FC236}">
                <a16:creationId xmlns:a16="http://schemas.microsoft.com/office/drawing/2014/main" id="{53085541-C475-E98B-10E6-F268F9B380F4}"/>
              </a:ext>
            </a:extLst>
          </p:cNvPr>
          <p:cNvSpPr txBox="1"/>
          <p:nvPr/>
        </p:nvSpPr>
        <p:spPr>
          <a:xfrm>
            <a:off x="2903792" y="5644960"/>
            <a:ext cx="382683" cy="145147"/>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54" name="矩形 53">
            <a:extLst>
              <a:ext uri="{FF2B5EF4-FFF2-40B4-BE49-F238E27FC236}">
                <a16:creationId xmlns:a16="http://schemas.microsoft.com/office/drawing/2014/main" id="{11238E18-5895-CBBF-2FBB-758622E96283}"/>
              </a:ext>
            </a:extLst>
          </p:cNvPr>
          <p:cNvSpPr/>
          <p:nvPr/>
        </p:nvSpPr>
        <p:spPr>
          <a:xfrm>
            <a:off x="2627783" y="5617141"/>
            <a:ext cx="222611" cy="467344"/>
          </a:xfrm>
          <a:prstGeom prst="rect">
            <a:avLst/>
          </a:prstGeom>
          <a:solidFill>
            <a:schemeClr val="accent6">
              <a:lumMod val="40000"/>
              <a:lumOff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34" name="矩形 33">
            <a:extLst>
              <a:ext uri="{FF2B5EF4-FFF2-40B4-BE49-F238E27FC236}">
                <a16:creationId xmlns:a16="http://schemas.microsoft.com/office/drawing/2014/main" id="{F0AF7A70-8CC9-C125-C92A-7461F4875FE6}"/>
              </a:ext>
            </a:extLst>
          </p:cNvPr>
          <p:cNvSpPr/>
          <p:nvPr/>
        </p:nvSpPr>
        <p:spPr>
          <a:xfrm>
            <a:off x="1979712" y="5780347"/>
            <a:ext cx="466030" cy="121967"/>
          </a:xfrm>
          <a:prstGeom prst="rect">
            <a:avLst/>
          </a:prstGeom>
          <a:solidFill>
            <a:schemeClr val="accent2">
              <a:lumMod val="75000"/>
              <a:alpha val="20000"/>
            </a:schemeClr>
          </a:solidFill>
          <a:ln w="25400">
            <a:solidFill>
              <a:schemeClr val="accent2">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58" name="矩形 57">
            <a:extLst>
              <a:ext uri="{FF2B5EF4-FFF2-40B4-BE49-F238E27FC236}">
                <a16:creationId xmlns:a16="http://schemas.microsoft.com/office/drawing/2014/main" id="{8815CA8D-7E68-95A6-276F-62636D2BC7EE}"/>
              </a:ext>
            </a:extLst>
          </p:cNvPr>
          <p:cNvSpPr/>
          <p:nvPr/>
        </p:nvSpPr>
        <p:spPr>
          <a:xfrm>
            <a:off x="3318052" y="5784269"/>
            <a:ext cx="215174" cy="104777"/>
          </a:xfrm>
          <a:prstGeom prst="rect">
            <a:avLst/>
          </a:prstGeom>
          <a:solidFill>
            <a:schemeClr val="accent6">
              <a:lumMod val="75000"/>
              <a:alpha val="20000"/>
            </a:schemeClr>
          </a:solidFill>
          <a:ln w="38100">
            <a:solidFill>
              <a:schemeClr val="accent2">
                <a:lumMod val="60000"/>
                <a:lumOff val="4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S</a:t>
            </a:r>
          </a:p>
        </p:txBody>
      </p:sp>
      <p:pic>
        <p:nvPicPr>
          <p:cNvPr id="27" name="圖片 26">
            <a:extLst>
              <a:ext uri="{FF2B5EF4-FFF2-40B4-BE49-F238E27FC236}">
                <a16:creationId xmlns:a16="http://schemas.microsoft.com/office/drawing/2014/main" id="{A51DF9BD-7D31-8D66-7F4A-B7645A594777}"/>
              </a:ext>
            </a:extLst>
          </p:cNvPr>
          <p:cNvPicPr>
            <a:picLocks noChangeAspect="1"/>
          </p:cNvPicPr>
          <p:nvPr/>
        </p:nvPicPr>
        <p:blipFill>
          <a:blip r:embed="rId2"/>
          <a:stretch>
            <a:fillRect/>
          </a:stretch>
        </p:blipFill>
        <p:spPr>
          <a:xfrm>
            <a:off x="495743" y="441496"/>
            <a:ext cx="6858000" cy="4263716"/>
          </a:xfrm>
          <a:prstGeom prst="rect">
            <a:avLst/>
          </a:prstGeom>
        </p:spPr>
      </p:pic>
    </p:spTree>
    <p:extLst>
      <p:ext uri="{BB962C8B-B14F-4D97-AF65-F5344CB8AC3E}">
        <p14:creationId xmlns:p14="http://schemas.microsoft.com/office/powerpoint/2010/main" val="185644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464BD-5194-0315-7A89-E8C884C6AB6A}"/>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60940C7C-1A29-271B-CC3C-3E960225E0D0}"/>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DeepSeek-V4 Pro/Flash</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Parameters is 1.6T.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8" name="標題 1">
            <a:extLst>
              <a:ext uri="{FF2B5EF4-FFF2-40B4-BE49-F238E27FC236}">
                <a16:creationId xmlns:a16="http://schemas.microsoft.com/office/drawing/2014/main" id="{397E2CE4-D75C-D567-8091-71DAC2642649}"/>
              </a:ext>
            </a:extLst>
          </p:cNvPr>
          <p:cNvSpPr txBox="1">
            <a:spLocks/>
          </p:cNvSpPr>
          <p:nvPr/>
        </p:nvSpPr>
        <p:spPr>
          <a:xfrm>
            <a:off x="5004048" y="116499"/>
            <a:ext cx="4107929" cy="144871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CSA = Cross-Attention (Sparse)</a:t>
            </a:r>
          </a:p>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HCA = Hybrid-Attention (Compressed)</a:t>
            </a:r>
          </a:p>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mHC = </a:t>
            </a:r>
            <a:r>
              <a:rPr lang="en-US" altLang="zh-TW" sz="1000" dirty="0" err="1">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Mainfold</a:t>
            </a: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-Constrained Hyper-Connections</a:t>
            </a:r>
          </a:p>
          <a:p>
            <a:endPar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DS </a:t>
            </a:r>
            <a:r>
              <a:rPr lang="en-US" altLang="zh-TW" sz="1000" dirty="0" err="1">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MoE</a:t>
            </a:r>
            <a:endPar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171450" indent="-171450">
              <a:buFontTx/>
              <a:buChar char="-"/>
            </a:pP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Fine-Grained Expert Segmentation</a:t>
            </a:r>
          </a:p>
          <a:p>
            <a:pPr marL="171450" indent="-171450">
              <a:buFontTx/>
              <a:buChar char="-"/>
            </a:pP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Auxiliary-Loss-Free Load Balancing</a:t>
            </a:r>
          </a:p>
          <a:p>
            <a:pPr marL="171450" indent="-171450">
              <a:buFontTx/>
              <a:buChar char="-"/>
            </a:pP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Shared Experts Isolation</a:t>
            </a:r>
          </a:p>
          <a:p>
            <a:pPr marL="171450" indent="-171450">
              <a:buFontTx/>
              <a:buChar char="-"/>
            </a:pPr>
            <a:endParaRPr lang="en-US" altLang="zh-TW" sz="10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3" name="圖片 2">
            <a:extLst>
              <a:ext uri="{FF2B5EF4-FFF2-40B4-BE49-F238E27FC236}">
                <a16:creationId xmlns:a16="http://schemas.microsoft.com/office/drawing/2014/main" id="{CF985EB1-5D4F-5FCC-6DCC-380A04F3F017}"/>
              </a:ext>
            </a:extLst>
          </p:cNvPr>
          <p:cNvPicPr>
            <a:picLocks noChangeAspect="1"/>
          </p:cNvPicPr>
          <p:nvPr/>
        </p:nvPicPr>
        <p:blipFill>
          <a:blip r:embed="rId2"/>
          <a:stretch>
            <a:fillRect/>
          </a:stretch>
        </p:blipFill>
        <p:spPr>
          <a:xfrm>
            <a:off x="2111380" y="943893"/>
            <a:ext cx="2469258" cy="5321829"/>
          </a:xfrm>
          <a:prstGeom prst="rect">
            <a:avLst/>
          </a:prstGeom>
        </p:spPr>
      </p:pic>
      <p:pic>
        <p:nvPicPr>
          <p:cNvPr id="5" name="圖片 4">
            <a:extLst>
              <a:ext uri="{FF2B5EF4-FFF2-40B4-BE49-F238E27FC236}">
                <a16:creationId xmlns:a16="http://schemas.microsoft.com/office/drawing/2014/main" id="{B06F7ADF-4A96-EDBF-862F-863AC4125B88}"/>
              </a:ext>
            </a:extLst>
          </p:cNvPr>
          <p:cNvPicPr>
            <a:picLocks noChangeAspect="1"/>
          </p:cNvPicPr>
          <p:nvPr/>
        </p:nvPicPr>
        <p:blipFill>
          <a:blip r:embed="rId3"/>
          <a:stretch>
            <a:fillRect/>
          </a:stretch>
        </p:blipFill>
        <p:spPr>
          <a:xfrm>
            <a:off x="4864113" y="1916832"/>
            <a:ext cx="3215919" cy="3375953"/>
          </a:xfrm>
          <a:prstGeom prst="rect">
            <a:avLst/>
          </a:prstGeom>
        </p:spPr>
      </p:pic>
    </p:spTree>
    <p:extLst>
      <p:ext uri="{BB962C8B-B14F-4D97-AF65-F5344CB8AC3E}">
        <p14:creationId xmlns:p14="http://schemas.microsoft.com/office/powerpoint/2010/main" val="3708773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FF128-321E-5C30-B370-FCDDA7245B18}"/>
            </a:ext>
          </a:extLst>
        </p:cNvPr>
        <p:cNvGrpSpPr/>
        <p:nvPr/>
      </p:nvGrpSpPr>
      <p:grpSpPr>
        <a:xfrm>
          <a:off x="0" y="0"/>
          <a:ext cx="0" cy="0"/>
          <a:chOff x="0" y="0"/>
          <a:chExt cx="0" cy="0"/>
        </a:xfrm>
      </p:grpSpPr>
      <p:sp>
        <p:nvSpPr>
          <p:cNvPr id="170" name="矩形: 圓角 169">
            <a:extLst>
              <a:ext uri="{FF2B5EF4-FFF2-40B4-BE49-F238E27FC236}">
                <a16:creationId xmlns:a16="http://schemas.microsoft.com/office/drawing/2014/main" id="{585A6862-1BD1-5468-95ED-66DAAA0CADEA}"/>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72" name="矩形: 圓角 171">
            <a:extLst>
              <a:ext uri="{FF2B5EF4-FFF2-40B4-BE49-F238E27FC236}">
                <a16:creationId xmlns:a16="http://schemas.microsoft.com/office/drawing/2014/main" id="{2900FC30-DA63-EEEA-6468-DCABA47C35C3}"/>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EE036A56-D3B9-BA00-1B5F-933BBC025591}"/>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0287AC9D-CF1C-E982-7DA3-0EB24C210137}"/>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8916746C-AE20-3DA7-4C4C-C15F24F24A4A}"/>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725C0A5E-FC09-98EE-5215-72074A893203}"/>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9" name="矩形: 圓角 18">
            <a:extLst>
              <a:ext uri="{FF2B5EF4-FFF2-40B4-BE49-F238E27FC236}">
                <a16:creationId xmlns:a16="http://schemas.microsoft.com/office/drawing/2014/main" id="{55591602-8B8C-3AFE-5774-030C5AD14364}"/>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99748040-B74F-8C9F-410D-0764CB965FC2}"/>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3C2E7FC2-3F14-86EB-B361-B54E5E74D9C7}"/>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MLA</a:t>
            </a:r>
          </a:p>
        </p:txBody>
      </p:sp>
      <p:cxnSp>
        <p:nvCxnSpPr>
          <p:cNvPr id="23" name="直線單箭頭接點 22">
            <a:extLst>
              <a:ext uri="{FF2B5EF4-FFF2-40B4-BE49-F238E27FC236}">
                <a16:creationId xmlns:a16="http://schemas.microsoft.com/office/drawing/2014/main" id="{67490BC5-9494-E8A8-3D36-562B7338B616}"/>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56BD2F7A-E8BC-F753-6C1E-D153DC182D32}"/>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sp>
        <p:nvSpPr>
          <p:cNvPr id="116" name="矩形: 圓角 115">
            <a:extLst>
              <a:ext uri="{FF2B5EF4-FFF2-40B4-BE49-F238E27FC236}">
                <a16:creationId xmlns:a16="http://schemas.microsoft.com/office/drawing/2014/main" id="{A37680C0-5523-DB1C-FF62-260EC8CBC5E0}"/>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D06E7E9A-D338-F203-F404-0131A070A6E9}"/>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B0184A23-3710-2816-6164-DC3354C2C1B0}"/>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235F7005-FAD9-D837-ADA8-DB421911E493}"/>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AB879A8F-CA3C-305E-BF3E-1D73137507F2}"/>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944BDAFC-3502-CB3C-E397-50F635AD29C7}"/>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790E5853-F222-0C2E-0BC5-C35D97B16DB2}"/>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E73A6B5A-070E-6C48-0415-D8D3A0D060B6}"/>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47EC2506-3B10-D847-4047-DEF10FA85863}"/>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75C33A86-7837-D2CC-E40E-046EBDE48273}"/>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CA4082C9-E5D4-F3F8-A7C6-7D94C97CD7E2}"/>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09220340-997F-BCEB-F888-401078B5233C}"/>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1813AF4A-7BA8-2782-BAF6-8C906B25ADA3}"/>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B978F426-9B27-D209-12A2-7244731E3E8C}"/>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54D9FE03-DA3A-7B22-12C0-F0CF495AAF72}"/>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C855BB6E-A7CA-F9A6-3804-2D03A63331BF}"/>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8341776D-C4B2-FB24-47F8-AEDBFF6B8BAD}"/>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B127A9DD-8FE3-3E97-DC51-2017300EB766}"/>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8" name="矩形 167">
            <a:extLst>
              <a:ext uri="{FF2B5EF4-FFF2-40B4-BE49-F238E27FC236}">
                <a16:creationId xmlns:a16="http://schemas.microsoft.com/office/drawing/2014/main" id="{E8236D44-E788-7884-CB7F-7964E41D58A7}"/>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6" name="矩形 175">
            <a:extLst>
              <a:ext uri="{FF2B5EF4-FFF2-40B4-BE49-F238E27FC236}">
                <a16:creationId xmlns:a16="http://schemas.microsoft.com/office/drawing/2014/main" id="{B4CAB320-BDEC-C2AA-F436-9F1884A89520}"/>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22E3C78D-C200-3BD2-196E-72559D9427C4}"/>
              </a:ext>
            </a:extLst>
          </p:cNvPr>
          <p:cNvSpPr/>
          <p:nvPr/>
        </p:nvSpPr>
        <p:spPr>
          <a:xfrm>
            <a:off x="2474243" y="4069600"/>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1048</a:t>
            </a:r>
          </a:p>
        </p:txBody>
      </p:sp>
      <p:sp>
        <p:nvSpPr>
          <p:cNvPr id="179" name="矩形: 圓角 178">
            <a:extLst>
              <a:ext uri="{FF2B5EF4-FFF2-40B4-BE49-F238E27FC236}">
                <a16:creationId xmlns:a16="http://schemas.microsoft.com/office/drawing/2014/main" id="{63C06AC4-64D1-B55E-4148-67DB01FA1277}"/>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0819D04C-6608-2C50-F8C2-C455CE59B835}"/>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43" name="矩形: 圓角 242">
            <a:extLst>
              <a:ext uri="{FF2B5EF4-FFF2-40B4-BE49-F238E27FC236}">
                <a16:creationId xmlns:a16="http://schemas.microsoft.com/office/drawing/2014/main" id="{41BFEAF1-95B0-3550-8FEA-30B254B92844}"/>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graphicFrame>
        <p:nvGraphicFramePr>
          <p:cNvPr id="247" name="表格 246">
            <a:extLst>
              <a:ext uri="{FF2B5EF4-FFF2-40B4-BE49-F238E27FC236}">
                <a16:creationId xmlns:a16="http://schemas.microsoft.com/office/drawing/2014/main" id="{273489FC-ECA0-0753-047B-79B4616DDCCC}"/>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8222C8ED-A1B0-C08B-2EB5-B84C32F06C26}"/>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291E65D5-EE8D-2E44-3AC5-2BFE5281B550}"/>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AB596806-C22D-1ADA-4139-8486A10BAD5D}"/>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77" name="接點: 肘形 276">
            <a:extLst>
              <a:ext uri="{FF2B5EF4-FFF2-40B4-BE49-F238E27FC236}">
                <a16:creationId xmlns:a16="http://schemas.microsoft.com/office/drawing/2014/main" id="{A8387998-1975-8674-4EBF-72F297E07577}"/>
              </a:ext>
            </a:extLst>
          </p:cNvPr>
          <p:cNvCxnSpPr>
            <a:cxnSpLocks/>
            <a:stCxn id="247" idx="1"/>
          </p:cNvCxnSpPr>
          <p:nvPr/>
        </p:nvCxnSpPr>
        <p:spPr>
          <a:xfrm rot="10800000" flipV="1">
            <a:off x="5148064" y="1908071"/>
            <a:ext cx="504336" cy="175749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C6307A26-F189-AB3D-6F74-783BF95C7F10}"/>
              </a:ext>
            </a:extLst>
          </p:cNvPr>
          <p:cNvCxnSpPr>
            <a:cxnSpLocks/>
            <a:endCxn id="261" idx="1"/>
          </p:cNvCxnSpPr>
          <p:nvPr/>
        </p:nvCxnSpPr>
        <p:spPr>
          <a:xfrm>
            <a:off x="5148064" y="3789373"/>
            <a:ext cx="504056" cy="162688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4D35A4DB-5505-3BA7-AA9B-75F94A875DD7}"/>
              </a:ext>
            </a:extLst>
          </p:cNvPr>
          <p:cNvSpPr txBox="1"/>
          <p:nvPr/>
        </p:nvSpPr>
        <p:spPr>
          <a:xfrm>
            <a:off x="5652120" y="5069655"/>
            <a:ext cx="899391" cy="209704"/>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 Expert</a:t>
            </a:r>
          </a:p>
        </p:txBody>
      </p:sp>
      <p:sp>
        <p:nvSpPr>
          <p:cNvPr id="363" name="文字方塊 362">
            <a:extLst>
              <a:ext uri="{FF2B5EF4-FFF2-40B4-BE49-F238E27FC236}">
                <a16:creationId xmlns:a16="http://schemas.microsoft.com/office/drawing/2014/main" id="{893794DC-31E3-4257-E693-790683EF6BD3}"/>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379" name="矩形: 圓角 378">
            <a:extLst>
              <a:ext uri="{FF2B5EF4-FFF2-40B4-BE49-F238E27FC236}">
                <a16:creationId xmlns:a16="http://schemas.microsoft.com/office/drawing/2014/main" id="{5D7C8B80-BA46-4D8C-F02D-D045A0C5685D}"/>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F0E46714-1E9B-EC55-8158-5918CAAB137B}"/>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283B3667-663B-D000-4FC0-64C6452E2C4A}"/>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C152E6B8-B2A8-1458-4C5C-CB945E0D4F14}"/>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FEF4DBA8-8A61-29F3-F772-B9E20697288B}"/>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2CD424B4-D781-066A-AA82-5B1D7C173188}"/>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D620125A-2C57-6A0F-E0FD-4F9D30D787A7}"/>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217E2122-45A9-A144-4DC3-8F6B407AD7D6}"/>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35" name="矩形 434">
            <a:extLst>
              <a:ext uri="{FF2B5EF4-FFF2-40B4-BE49-F238E27FC236}">
                <a16:creationId xmlns:a16="http://schemas.microsoft.com/office/drawing/2014/main" id="{93C22FB2-90C1-F53F-B011-B636863DE760}"/>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37" name="矩形 436">
            <a:extLst>
              <a:ext uri="{FF2B5EF4-FFF2-40B4-BE49-F238E27FC236}">
                <a16:creationId xmlns:a16="http://schemas.microsoft.com/office/drawing/2014/main" id="{BEAB8542-2686-4514-E959-9EA174D19FBC}"/>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448" name="接點: 肘形 447">
            <a:extLst>
              <a:ext uri="{FF2B5EF4-FFF2-40B4-BE49-F238E27FC236}">
                <a16:creationId xmlns:a16="http://schemas.microsoft.com/office/drawing/2014/main" id="{86BDD8D5-6E1C-36F0-C470-332C3C95F5EA}"/>
              </a:ext>
            </a:extLst>
          </p:cNvPr>
          <p:cNvCxnSpPr>
            <a:cxnSpLocks/>
            <a:stCxn id="363" idx="3"/>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601CD636-6C2B-D4B4-38E8-3B3134827941}"/>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BA3675A3-5AB0-EB59-4310-B69F2FF8546E}"/>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7839B24F-E8C9-FA65-5AE0-8708806FC5CF}"/>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AEC15D6B-8F12-7274-D8CA-BBA776A2A819}"/>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9CD13066-2E3A-1DE9-04D9-DE7950BD9F3B}"/>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00BD9021-2B8C-8502-E177-B440F5AB8AD1}"/>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98857429-EF92-0990-6978-5031DB735A89}"/>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FFB0C882-736B-3D0F-5CA2-57A6C262E225}"/>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右大括弧 5">
            <a:extLst>
              <a:ext uri="{FF2B5EF4-FFF2-40B4-BE49-F238E27FC236}">
                <a16:creationId xmlns:a16="http://schemas.microsoft.com/office/drawing/2014/main" id="{9A46D70C-1717-CAF4-6D18-D4C0564FAB2C}"/>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ACE49DA1-6208-1E69-1C0F-930C8428F673}"/>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
        <p:nvSpPr>
          <p:cNvPr id="8" name="標題 1">
            <a:extLst>
              <a:ext uri="{FF2B5EF4-FFF2-40B4-BE49-F238E27FC236}">
                <a16:creationId xmlns:a16="http://schemas.microsoft.com/office/drawing/2014/main" id="{0B62D1D7-7CA2-48B3-1C24-713F566C49BE}"/>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DeepSeek-V4</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ultra-cost-efficient hardware maximizer that slashes KV cache memory by over 90% through shared and fine-grained expert architectures. </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1" name="文字方塊 10">
            <a:extLst>
              <a:ext uri="{FF2B5EF4-FFF2-40B4-BE49-F238E27FC236}">
                <a16:creationId xmlns:a16="http://schemas.microsoft.com/office/drawing/2014/main" id="{950C84E0-E5F5-49C5-73CB-91FBAFA3FE1F}"/>
              </a:ext>
            </a:extLst>
          </p:cNvPr>
          <p:cNvSpPr txBox="1"/>
          <p:nvPr/>
        </p:nvSpPr>
        <p:spPr>
          <a:xfrm>
            <a:off x="5290094" y="5891739"/>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graphicFrame>
        <p:nvGraphicFramePr>
          <p:cNvPr id="13" name="表格 12">
            <a:extLst>
              <a:ext uri="{FF2B5EF4-FFF2-40B4-BE49-F238E27FC236}">
                <a16:creationId xmlns:a16="http://schemas.microsoft.com/office/drawing/2014/main" id="{59FD9172-2C29-6298-FF54-BEFC9E35BB57}"/>
              </a:ext>
            </a:extLst>
          </p:cNvPr>
          <p:cNvGraphicFramePr>
            <a:graphicFrameLocks noGrp="1"/>
          </p:cNvGraphicFramePr>
          <p:nvPr>
            <p:extLst>
              <p:ext uri="{D42A27DB-BD31-4B8C-83A1-F6EECF244321}">
                <p14:modId xmlns:p14="http://schemas.microsoft.com/office/powerpoint/2010/main" val="3033043750"/>
              </p:ext>
            </p:extLst>
          </p:nvPr>
        </p:nvGraphicFramePr>
        <p:xfrm>
          <a:off x="5663064" y="5883760"/>
          <a:ext cx="2437328" cy="91440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0.08</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0.92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sp>
        <p:nvSpPr>
          <p:cNvPr id="15" name="矩形 14">
            <a:extLst>
              <a:ext uri="{FF2B5EF4-FFF2-40B4-BE49-F238E27FC236}">
                <a16:creationId xmlns:a16="http://schemas.microsoft.com/office/drawing/2014/main" id="{4CCC2FF0-43AF-EF10-28C3-11AE9B336B2B}"/>
              </a:ext>
            </a:extLst>
          </p:cNvPr>
          <p:cNvSpPr/>
          <p:nvPr/>
        </p:nvSpPr>
        <p:spPr>
          <a:xfrm>
            <a:off x="5612935" y="5893917"/>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Tree>
    <p:extLst>
      <p:ext uri="{BB962C8B-B14F-4D97-AF65-F5344CB8AC3E}">
        <p14:creationId xmlns:p14="http://schemas.microsoft.com/office/powerpoint/2010/main" val="4276069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6153A-3295-7DB2-C1BA-6B1E69F8BC78}"/>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71575A03-C679-3AD3-2F44-6BE10B57902E}"/>
              </a:ext>
            </a:extLst>
          </p:cNvPr>
          <p:cNvSpPr txBox="1"/>
          <p:nvPr/>
        </p:nvSpPr>
        <p:spPr>
          <a:xfrm>
            <a:off x="179510" y="1377042"/>
            <a:ext cx="7560841" cy="2477601"/>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Moonshot AI: </a:t>
            </a:r>
            <a:r>
              <a:rPr lang="en-US" altLang="zh-TW" sz="1600" dirty="0"/>
              <a:t>Founded in March 2023.</a:t>
            </a:r>
          </a:p>
          <a:p>
            <a:pPr marL="285750" indent="-285750">
              <a:lnSpc>
                <a:spcPts val="1800"/>
              </a:lnSpc>
              <a:spcBef>
                <a:spcPts val="600"/>
              </a:spcBef>
              <a:spcAft>
                <a:spcPts val="600"/>
              </a:spcAft>
              <a:buFont typeface="Wingdings" panose="05000000000000000000" pitchFamily="2" charset="2"/>
              <a:buChar char="Ø"/>
            </a:pPr>
            <a:r>
              <a:rPr lang="en-US" altLang="zh-TW" sz="1600" b="1" dirty="0"/>
              <a:t>Key Technology:</a:t>
            </a:r>
            <a:r>
              <a:rPr lang="en-US" altLang="zh-TW" sz="1600" dirty="0"/>
              <a:t> </a:t>
            </a:r>
          </a:p>
          <a:p>
            <a:pPr marL="742950" lvl="1" indent="-285750">
              <a:lnSpc>
                <a:spcPts val="1800"/>
              </a:lnSpc>
              <a:spcBef>
                <a:spcPts val="600"/>
              </a:spcBef>
              <a:spcAft>
                <a:spcPts val="600"/>
              </a:spcAft>
              <a:buFont typeface="Arial" panose="020B0604020202020204" pitchFamily="34" charset="0"/>
              <a:buChar char="•"/>
            </a:pPr>
            <a:r>
              <a:rPr lang="en-US" altLang="zh-TW" sz="1600" dirty="0"/>
              <a:t>Kimi delta attention (</a:t>
            </a:r>
            <a:r>
              <a:rPr lang="en-US" altLang="zh-TW" sz="1600" b="1" dirty="0">
                <a:solidFill>
                  <a:schemeClr val="accent6">
                    <a:lumMod val="75000"/>
                  </a:schemeClr>
                </a:solidFill>
              </a:rPr>
              <a:t>KDA</a:t>
            </a:r>
            <a:r>
              <a:rPr lang="en-US" altLang="zh-TW" sz="1600" dirty="0"/>
              <a:t>): </a:t>
            </a:r>
            <a:r>
              <a:rPr lang="zh-TW" altLang="en-US" sz="1600" dirty="0"/>
              <a:t>水平方向優化</a:t>
            </a:r>
            <a:r>
              <a:rPr lang="en-US" altLang="zh-TW" sz="1600" dirty="0"/>
              <a:t>(</a:t>
            </a:r>
            <a:r>
              <a:rPr lang="zh-TW" altLang="en-US" sz="1600" dirty="0"/>
              <a:t>序列長度</a:t>
            </a:r>
            <a:r>
              <a:rPr lang="en-US" altLang="zh-TW" sz="1600" dirty="0"/>
              <a:t>).</a:t>
            </a:r>
          </a:p>
          <a:p>
            <a:pPr marL="742950" lvl="1" indent="-285750">
              <a:lnSpc>
                <a:spcPts val="1800"/>
              </a:lnSpc>
              <a:spcBef>
                <a:spcPts val="600"/>
              </a:spcBef>
              <a:spcAft>
                <a:spcPts val="600"/>
              </a:spcAft>
              <a:buFont typeface="Arial" panose="020B0604020202020204" pitchFamily="34" charset="0"/>
              <a:buChar char="•"/>
            </a:pPr>
            <a:r>
              <a:rPr lang="en-US" altLang="zh-TW" sz="1600" dirty="0"/>
              <a:t>AttnRes reduces layers (</a:t>
            </a:r>
            <a:r>
              <a:rPr lang="en-US" altLang="zh-TW" sz="1600" b="1" dirty="0">
                <a:solidFill>
                  <a:schemeClr val="accent6">
                    <a:lumMod val="75000"/>
                  </a:schemeClr>
                </a:solidFill>
              </a:rPr>
              <a:t>AttnRes</a:t>
            </a:r>
            <a:r>
              <a:rPr lang="en-US" altLang="zh-TW" sz="1600" dirty="0"/>
              <a:t>): </a:t>
            </a:r>
            <a:r>
              <a:rPr lang="zh-TW" altLang="en-US" sz="1600" dirty="0"/>
              <a:t>垂直方向優化</a:t>
            </a:r>
            <a:r>
              <a:rPr lang="en-US" altLang="zh-TW" sz="1600" dirty="0"/>
              <a:t>(</a:t>
            </a:r>
            <a:r>
              <a:rPr lang="zh-TW" altLang="en-US" sz="1600" dirty="0"/>
              <a:t>模型深度</a:t>
            </a:r>
            <a:r>
              <a:rPr lang="en-US" altLang="zh-TW" sz="1600" dirty="0"/>
              <a:t>).</a:t>
            </a:r>
          </a:p>
          <a:p>
            <a:pPr marL="742950" lvl="1" indent="-285750">
              <a:lnSpc>
                <a:spcPts val="1800"/>
              </a:lnSpc>
              <a:spcBef>
                <a:spcPts val="600"/>
              </a:spcBef>
              <a:spcAft>
                <a:spcPts val="600"/>
              </a:spcAft>
              <a:buFont typeface="Arial" panose="020B0604020202020204" pitchFamily="34" charset="0"/>
              <a:buChar char="•"/>
            </a:pPr>
            <a:r>
              <a:rPr lang="en-US" altLang="zh-TW" sz="1600" dirty="0"/>
              <a:t>Stable Latent MoE: has</a:t>
            </a:r>
            <a:r>
              <a:rPr lang="zh-TW" altLang="en-US" sz="1600" dirty="0"/>
              <a:t> </a:t>
            </a:r>
            <a:r>
              <a:rPr lang="en-US" altLang="zh-TW" sz="1600" dirty="0"/>
              <a:t>2 shared, and 14 selected export from 896 fine-grained experts.</a:t>
            </a:r>
          </a:p>
        </p:txBody>
      </p:sp>
      <p:sp>
        <p:nvSpPr>
          <p:cNvPr id="5" name="標題 1">
            <a:extLst>
              <a:ext uri="{FF2B5EF4-FFF2-40B4-BE49-F238E27FC236}">
                <a16:creationId xmlns:a16="http://schemas.microsoft.com/office/drawing/2014/main" id="{9451D045-C073-695F-6BAB-9A162FB85C82}"/>
              </a:ext>
            </a:extLst>
          </p:cNvPr>
          <p:cNvSpPr txBox="1">
            <a:spLocks/>
          </p:cNvSpPr>
          <p:nvPr/>
        </p:nvSpPr>
        <p:spPr>
          <a:xfrm>
            <a:off x="179511" y="116632"/>
            <a:ext cx="6768753"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Kimi K3 (2.8T)</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 frontier intelligence colossus specializing in lossless long-context memory and high-end autonomous agentic reasoning.</a:t>
            </a:r>
          </a:p>
        </p:txBody>
      </p:sp>
      <p:pic>
        <p:nvPicPr>
          <p:cNvPr id="31" name="圖片 30">
            <a:extLst>
              <a:ext uri="{FF2B5EF4-FFF2-40B4-BE49-F238E27FC236}">
                <a16:creationId xmlns:a16="http://schemas.microsoft.com/office/drawing/2014/main" id="{BB38B373-E827-B78E-6E07-1DF4B2799A74}"/>
              </a:ext>
            </a:extLst>
          </p:cNvPr>
          <p:cNvPicPr>
            <a:picLocks noChangeAspect="1"/>
          </p:cNvPicPr>
          <p:nvPr/>
        </p:nvPicPr>
        <p:blipFill>
          <a:blip r:embed="rId3"/>
          <a:stretch>
            <a:fillRect/>
          </a:stretch>
        </p:blipFill>
        <p:spPr>
          <a:xfrm>
            <a:off x="8406510" y="116632"/>
            <a:ext cx="552628" cy="548681"/>
          </a:xfrm>
          <a:prstGeom prst="rect">
            <a:avLst/>
          </a:prstGeom>
        </p:spPr>
      </p:pic>
      <p:sp>
        <p:nvSpPr>
          <p:cNvPr id="37" name="標題 1">
            <a:extLst>
              <a:ext uri="{FF2B5EF4-FFF2-40B4-BE49-F238E27FC236}">
                <a16:creationId xmlns:a16="http://schemas.microsoft.com/office/drawing/2014/main" id="{1926B4C0-13E0-523A-9940-67A0C3295914}"/>
              </a:ext>
            </a:extLst>
          </p:cNvPr>
          <p:cNvSpPr txBox="1">
            <a:spLocks/>
          </p:cNvSpPr>
          <p:nvPr/>
        </p:nvSpPr>
        <p:spPr>
          <a:xfrm>
            <a:off x="8312648" y="692696"/>
            <a:ext cx="740352" cy="42522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Moonshot</a:t>
            </a:r>
          </a:p>
          <a:p>
            <a:pPr algn="ctr"/>
            <a:r>
              <a:rPr lang="zh-TW" altLang="en-US"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月之暗面</a:t>
            </a:r>
            <a:endParaRPr lang="en-US" altLang="zh-TW"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spTree>
    <p:extLst>
      <p:ext uri="{BB962C8B-B14F-4D97-AF65-F5344CB8AC3E}">
        <p14:creationId xmlns:p14="http://schemas.microsoft.com/office/powerpoint/2010/main" val="32009686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F6746-9142-1125-6596-6627093E8340}"/>
            </a:ext>
          </a:extLst>
        </p:cNvPr>
        <p:cNvGrpSpPr/>
        <p:nvPr/>
      </p:nvGrpSpPr>
      <p:grpSpPr>
        <a:xfrm>
          <a:off x="0" y="0"/>
          <a:ext cx="0" cy="0"/>
          <a:chOff x="0" y="0"/>
          <a:chExt cx="0" cy="0"/>
        </a:xfrm>
      </p:grpSpPr>
      <p:sp>
        <p:nvSpPr>
          <p:cNvPr id="454" name="矩形 453">
            <a:extLst>
              <a:ext uri="{FF2B5EF4-FFF2-40B4-BE49-F238E27FC236}">
                <a16:creationId xmlns:a16="http://schemas.microsoft.com/office/drawing/2014/main" id="{A53C3235-4FD1-1D38-82A6-F6BEDB811571}"/>
              </a:ext>
            </a:extLst>
          </p:cNvPr>
          <p:cNvSpPr/>
          <p:nvPr/>
        </p:nvSpPr>
        <p:spPr>
          <a:xfrm>
            <a:off x="8244408" y="2883915"/>
            <a:ext cx="648072" cy="1041669"/>
          </a:xfrm>
          <a:prstGeom prst="rect">
            <a:avLst/>
          </a:prstGeom>
          <a:solidFill>
            <a:schemeClr val="bg1">
              <a:lumMod val="95000"/>
            </a:schemeClr>
          </a:solidFill>
          <a:ln w="19050">
            <a:solidFill>
              <a:schemeClr val="bg2">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5" name="矩形 444">
            <a:extLst>
              <a:ext uri="{FF2B5EF4-FFF2-40B4-BE49-F238E27FC236}">
                <a16:creationId xmlns:a16="http://schemas.microsoft.com/office/drawing/2014/main" id="{FCBAE47A-1424-F040-2145-DC1D97F7D804}"/>
              </a:ext>
            </a:extLst>
          </p:cNvPr>
          <p:cNvSpPr/>
          <p:nvPr/>
        </p:nvSpPr>
        <p:spPr>
          <a:xfrm>
            <a:off x="8367367" y="2883915"/>
            <a:ext cx="241412" cy="1041669"/>
          </a:xfrm>
          <a:prstGeom prst="rect">
            <a:avLst/>
          </a:prstGeom>
          <a:solidFill>
            <a:schemeClr val="bg2">
              <a:lumMod val="90000"/>
              <a:alpha val="40000"/>
            </a:schemeClr>
          </a:solidFill>
          <a:ln w="1905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ADLaM Display" panose="02010000000000000000" pitchFamily="2" charset="0"/>
                <a:cs typeface="ADLaM Display" panose="02010000000000000000" pitchFamily="2" charset="0"/>
              </a:rPr>
              <a:t>VC</a:t>
            </a:r>
          </a:p>
          <a:p>
            <a:pPr algn="ctr">
              <a:lnSpc>
                <a:spcPts val="1000"/>
              </a:lnSpc>
            </a:pPr>
            <a:r>
              <a:rPr lang="en-US" altLang="zh-TW" sz="1000" dirty="0">
                <a:solidFill>
                  <a:schemeClr val="tx1"/>
                </a:solidFill>
                <a:ea typeface="ADLaM Display" panose="02010000000000000000" pitchFamily="2" charset="0"/>
                <a:cs typeface="ADLaM Display" panose="02010000000000000000" pitchFamily="2" charset="0"/>
              </a:rPr>
              <a:t>PLE</a:t>
            </a:r>
          </a:p>
          <a:p>
            <a:pPr algn="ctr">
              <a:lnSpc>
                <a:spcPts val="1000"/>
              </a:lnSpc>
            </a:pPr>
            <a:endParaRPr lang="en-US" altLang="zh-TW" sz="1000" dirty="0">
              <a:solidFill>
                <a:schemeClr val="tx1"/>
              </a:solidFill>
              <a:ea typeface="ADLaM Display" panose="02010000000000000000" pitchFamily="2" charset="0"/>
              <a:cs typeface="ADLaM Display" panose="02010000000000000000" pitchFamily="2" charset="0"/>
            </a:endParaRPr>
          </a:p>
        </p:txBody>
      </p:sp>
      <p:sp>
        <p:nvSpPr>
          <p:cNvPr id="170" name="矩形: 圓角 169">
            <a:extLst>
              <a:ext uri="{FF2B5EF4-FFF2-40B4-BE49-F238E27FC236}">
                <a16:creationId xmlns:a16="http://schemas.microsoft.com/office/drawing/2014/main" id="{BE0A9E20-F836-F032-C9F1-D0C844445195}"/>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72" name="矩形: 圓角 171">
            <a:extLst>
              <a:ext uri="{FF2B5EF4-FFF2-40B4-BE49-F238E27FC236}">
                <a16:creationId xmlns:a16="http://schemas.microsoft.com/office/drawing/2014/main" id="{BC1948D7-B839-0028-27CE-1E2CF5281DD8}"/>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8729D631-BF91-8BC3-4BEA-1E529F12C632}"/>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C1B96EB9-3086-F91B-B6F4-AF62653FE4F5}"/>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F5B4EA22-18C0-D52E-F2FC-7D1EE09C7763}"/>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EC440B47-022A-4F2E-ADB9-9E340AE7B99A}"/>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8DB9693A-E2A1-CCD2-2F2F-2065D8528EA2}"/>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Stable Latent MoE </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NVIDIA Latent MoE + Kimi Quantile Balancing</a:t>
            </a:r>
          </a:p>
        </p:txBody>
      </p:sp>
      <p:sp>
        <p:nvSpPr>
          <p:cNvPr id="19" name="矩形: 圓角 18">
            <a:extLst>
              <a:ext uri="{FF2B5EF4-FFF2-40B4-BE49-F238E27FC236}">
                <a16:creationId xmlns:a16="http://schemas.microsoft.com/office/drawing/2014/main" id="{7C5DF3DB-0A46-D193-F5D9-6C5336E76BA5}"/>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8CB62931-0116-4F8D-48BF-62F2DE049D2C}"/>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F9783ACE-7D1B-5C7C-1112-A1423E5FEFF2}"/>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 name="直線單箭頭接點 22">
            <a:extLst>
              <a:ext uri="{FF2B5EF4-FFF2-40B4-BE49-F238E27FC236}">
                <a16:creationId xmlns:a16="http://schemas.microsoft.com/office/drawing/2014/main" id="{8A882AA6-6867-F830-42C6-244BEB4AE9AF}"/>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5A324B73-A2B0-2068-6311-5BD0FDC1B00D}"/>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sp>
        <p:nvSpPr>
          <p:cNvPr id="116" name="矩形: 圓角 115">
            <a:extLst>
              <a:ext uri="{FF2B5EF4-FFF2-40B4-BE49-F238E27FC236}">
                <a16:creationId xmlns:a16="http://schemas.microsoft.com/office/drawing/2014/main" id="{1BD8915E-AF1F-5982-35FD-A8CA9A3E8CDE}"/>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4A3F95B3-680D-D78C-8853-E6B590C190E6}"/>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E0551D9F-0AA6-4035-F927-8873E0FD90C7}"/>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7FE9C879-E200-EB5A-2CC2-69A71AB1713D}"/>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4CD21E97-532C-B0C9-5963-6BC07711A17A}"/>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A8972DAD-5FD1-C633-ACF7-462CB437C21A}"/>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BB162BC8-55DA-04F0-BAB2-1C519A2BAF87}"/>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5FC666CF-592D-7189-C114-4A4C013CBF6D}"/>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5F702349-7BBE-30ED-CD8A-023983F6269E}"/>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A825FE45-C6B6-3543-95E6-B3D894125747}"/>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34DE2255-C248-2104-FB4C-A40919921807}"/>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1E786C9A-A13F-E064-4286-D1DCEB6C8DB8}"/>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D23A0C5C-F1CC-6596-6168-20098B665F56}"/>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646733A6-99E9-0F50-04BB-6514E8205CBA}"/>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75BA3559-BA09-08D0-D330-6ED320E54702}"/>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527EA4F8-BFCB-0AD7-1C54-E92FD7002C82}"/>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4C6FC89D-BBC7-8090-5F91-BE74A60B32CB}"/>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5A29A6E7-12E3-7EAD-3445-6D9A8D6C0427}"/>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8" name="矩形 167">
            <a:extLst>
              <a:ext uri="{FF2B5EF4-FFF2-40B4-BE49-F238E27FC236}">
                <a16:creationId xmlns:a16="http://schemas.microsoft.com/office/drawing/2014/main" id="{9D8A1084-9F03-ADF1-38BA-A040AD80E8B6}"/>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6" name="矩形 175">
            <a:extLst>
              <a:ext uri="{FF2B5EF4-FFF2-40B4-BE49-F238E27FC236}">
                <a16:creationId xmlns:a16="http://schemas.microsoft.com/office/drawing/2014/main" id="{8D498E4C-5D51-7DB9-17CF-CACB40A7A705}"/>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820663F9-B5F4-81B3-0343-D1B5EA59C156}"/>
              </a:ext>
            </a:extLst>
          </p:cNvPr>
          <p:cNvSpPr/>
          <p:nvPr/>
        </p:nvSpPr>
        <p:spPr>
          <a:xfrm>
            <a:off x="2474243" y="4069600"/>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179" name="矩形: 圓角 178">
            <a:extLst>
              <a:ext uri="{FF2B5EF4-FFF2-40B4-BE49-F238E27FC236}">
                <a16:creationId xmlns:a16="http://schemas.microsoft.com/office/drawing/2014/main" id="{E35675A0-647C-6987-3E01-AA861C9B4DA7}"/>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03933175-BA42-F91B-94EA-358EEE0391FF}"/>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14" name="矩形: 圓角 213">
            <a:extLst>
              <a:ext uri="{FF2B5EF4-FFF2-40B4-BE49-F238E27FC236}">
                <a16:creationId xmlns:a16="http://schemas.microsoft.com/office/drawing/2014/main" id="{031B7DF6-9439-AFF2-1A7A-A362C47B3B0F}"/>
              </a:ext>
            </a:extLst>
          </p:cNvPr>
          <p:cNvSpPr/>
          <p:nvPr/>
        </p:nvSpPr>
        <p:spPr>
          <a:xfrm>
            <a:off x="3779912" y="1393059"/>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sp>
        <p:nvSpPr>
          <p:cNvPr id="243" name="矩形: 圓角 242">
            <a:extLst>
              <a:ext uri="{FF2B5EF4-FFF2-40B4-BE49-F238E27FC236}">
                <a16:creationId xmlns:a16="http://schemas.microsoft.com/office/drawing/2014/main" id="{CC01AD58-2464-AD52-928D-A7DA560B113A}"/>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graphicFrame>
        <p:nvGraphicFramePr>
          <p:cNvPr id="247" name="表格 246">
            <a:extLst>
              <a:ext uri="{FF2B5EF4-FFF2-40B4-BE49-F238E27FC236}">
                <a16:creationId xmlns:a16="http://schemas.microsoft.com/office/drawing/2014/main" id="{C0C92457-E1D1-AE97-4DED-9FF74D4517D8}"/>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EAA610AB-467F-98F8-8DA1-4BB70E001F9F}"/>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DD5C0867-1792-B2D3-EC75-F0E6FAF0173C}"/>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014ABB89-C3D2-52CD-CFF3-58D9388A97DC}"/>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93" name="直線接點 292">
            <a:extLst>
              <a:ext uri="{FF2B5EF4-FFF2-40B4-BE49-F238E27FC236}">
                <a16:creationId xmlns:a16="http://schemas.microsoft.com/office/drawing/2014/main" id="{1E2D3E8D-0452-7E25-9998-74A6AE18F4D9}"/>
              </a:ext>
            </a:extLst>
          </p:cNvPr>
          <p:cNvCxnSpPr>
            <a:cxnSpLocks/>
            <a:stCxn id="447" idx="1"/>
            <a:endCxn id="253" idx="3"/>
          </p:cNvCxnSpPr>
          <p:nvPr/>
        </p:nvCxnSpPr>
        <p:spPr>
          <a:xfrm flipH="1">
            <a:off x="8087494" y="3537181"/>
            <a:ext cx="275854" cy="0"/>
          </a:xfrm>
          <a:prstGeom prst="line">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CA57806C-ACF6-8983-1D97-6B31CC1CB11E}"/>
              </a:ext>
            </a:extLst>
          </p:cNvPr>
          <p:cNvSpPr txBox="1"/>
          <p:nvPr/>
        </p:nvSpPr>
        <p:spPr>
          <a:xfrm>
            <a:off x="5652120" y="5069655"/>
            <a:ext cx="899391" cy="209704"/>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Gating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a:t>
            </a:r>
          </a:p>
        </p:txBody>
      </p:sp>
      <p:sp>
        <p:nvSpPr>
          <p:cNvPr id="363" name="文字方塊 362">
            <a:extLst>
              <a:ext uri="{FF2B5EF4-FFF2-40B4-BE49-F238E27FC236}">
                <a16:creationId xmlns:a16="http://schemas.microsoft.com/office/drawing/2014/main" id="{620D659A-7991-4FAE-8590-B03AAC3BB088}"/>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379" name="矩形: 圓角 378">
            <a:extLst>
              <a:ext uri="{FF2B5EF4-FFF2-40B4-BE49-F238E27FC236}">
                <a16:creationId xmlns:a16="http://schemas.microsoft.com/office/drawing/2014/main" id="{2F1EACE9-6C4F-E6A2-7E9C-5369AFF3D3C7}"/>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4E0A9FAE-29B1-816E-5483-771F675B8989}"/>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8B1C2571-5A79-380C-3907-98FA7100E4FD}"/>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8D8F4C6C-B285-EE2B-06C3-512A8855AB4D}"/>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2F583315-4FA0-6602-451D-ABD98885CC2D}"/>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8AFDE857-C413-DD9E-F7EB-6C906CA3FCFF}"/>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6E3D035F-6702-C057-0997-E88CF58E6154}"/>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47F05608-923F-2B14-01AF-B4581090A390}"/>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35" name="矩形 434">
            <a:extLst>
              <a:ext uri="{FF2B5EF4-FFF2-40B4-BE49-F238E27FC236}">
                <a16:creationId xmlns:a16="http://schemas.microsoft.com/office/drawing/2014/main" id="{4EF0C082-B586-2A83-3CC7-FCEA141E4164}"/>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37" name="矩形 436">
            <a:extLst>
              <a:ext uri="{FF2B5EF4-FFF2-40B4-BE49-F238E27FC236}">
                <a16:creationId xmlns:a16="http://schemas.microsoft.com/office/drawing/2014/main" id="{2A83D4DC-A1FC-D379-0B41-0FC0453F77E9}"/>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7" name="矩形: 圓角 446">
            <a:extLst>
              <a:ext uri="{FF2B5EF4-FFF2-40B4-BE49-F238E27FC236}">
                <a16:creationId xmlns:a16="http://schemas.microsoft.com/office/drawing/2014/main" id="{46AAE791-BF66-906B-21D6-002C7F24A655}"/>
              </a:ext>
            </a:extLst>
          </p:cNvPr>
          <p:cNvSpPr/>
          <p:nvPr/>
        </p:nvSpPr>
        <p:spPr>
          <a:xfrm>
            <a:off x="8363348" y="3501266"/>
            <a:ext cx="257333" cy="71829"/>
          </a:xfrm>
          <a:prstGeom prst="roundRect">
            <a:avLst>
              <a:gd name="adj" fmla="val 13748"/>
            </a:avLst>
          </a:prstGeom>
          <a:solidFill>
            <a:schemeClr val="accent6">
              <a:lumMod val="60000"/>
              <a:lumOff val="4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448" name="接點: 肘形 447">
            <a:extLst>
              <a:ext uri="{FF2B5EF4-FFF2-40B4-BE49-F238E27FC236}">
                <a16:creationId xmlns:a16="http://schemas.microsoft.com/office/drawing/2014/main" id="{4FAEA13E-A6B7-AAFC-7E5C-1333363380E8}"/>
              </a:ext>
            </a:extLst>
          </p:cNvPr>
          <p:cNvCxnSpPr>
            <a:cxnSpLocks/>
            <a:stCxn id="363" idx="3"/>
            <a:endCxn id="447" idx="2"/>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92279F43-B2F2-FB04-5344-62A9C2F8EA11}"/>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AAEF32EF-4601-2FFE-31D1-4EB5DB72B456}"/>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EFE93AF7-E38D-1AE6-A6F5-7DC949647DC6}"/>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1613D734-D7EE-8469-5327-8CD37D8B38AF}"/>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AF300427-60AB-270B-7DD2-3C93CCD7650F}"/>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7" name="文字方塊 256">
            <a:extLst>
              <a:ext uri="{FF2B5EF4-FFF2-40B4-BE49-F238E27FC236}">
                <a16:creationId xmlns:a16="http://schemas.microsoft.com/office/drawing/2014/main" id="{2FB0E5F6-49B7-D8E2-93FB-7F7FD78EA55A}"/>
              </a:ext>
            </a:extLst>
          </p:cNvPr>
          <p:cNvSpPr txBox="1"/>
          <p:nvPr/>
        </p:nvSpPr>
        <p:spPr>
          <a:xfrm>
            <a:off x="7936010" y="3839925"/>
            <a:ext cx="313421"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5041D6AD-1103-86B9-C9AA-C8E731758846}"/>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7D95342C-48CE-3428-8BAF-56C02A6A28FB}"/>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068BEFDE-A54C-E48C-D788-F5D0D3C87A15}"/>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右大括弧 5">
            <a:extLst>
              <a:ext uri="{FF2B5EF4-FFF2-40B4-BE49-F238E27FC236}">
                <a16:creationId xmlns:a16="http://schemas.microsoft.com/office/drawing/2014/main" id="{05D3A30A-23B5-89E0-3314-62B741022036}"/>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4CAF5C0C-9699-33DC-CAC5-64503391EF41}"/>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
        <p:nvSpPr>
          <p:cNvPr id="3" name="矩形: 圓角 2">
            <a:extLst>
              <a:ext uri="{FF2B5EF4-FFF2-40B4-BE49-F238E27FC236}">
                <a16:creationId xmlns:a16="http://schemas.microsoft.com/office/drawing/2014/main" id="{5A833C20-E34A-794E-C38B-514B6ED5B13C}"/>
              </a:ext>
            </a:extLst>
          </p:cNvPr>
          <p:cNvSpPr/>
          <p:nvPr/>
        </p:nvSpPr>
        <p:spPr>
          <a:xfrm>
            <a:off x="3774439"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8" name="矩形: 圓角 7">
            <a:extLst>
              <a:ext uri="{FF2B5EF4-FFF2-40B4-BE49-F238E27FC236}">
                <a16:creationId xmlns:a16="http://schemas.microsoft.com/office/drawing/2014/main" id="{8A0E9DEC-6BB0-B86B-39F0-F6F279A4E191}"/>
              </a:ext>
            </a:extLst>
          </p:cNvPr>
          <p:cNvSpPr/>
          <p:nvPr/>
        </p:nvSpPr>
        <p:spPr>
          <a:xfrm>
            <a:off x="3774439"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 name="文字方塊 10">
            <a:extLst>
              <a:ext uri="{FF2B5EF4-FFF2-40B4-BE49-F238E27FC236}">
                <a16:creationId xmlns:a16="http://schemas.microsoft.com/office/drawing/2014/main" id="{E4B4E782-C4A9-9E49-E107-64014F5CE375}"/>
              </a:ext>
            </a:extLst>
          </p:cNvPr>
          <p:cNvSpPr txBox="1"/>
          <p:nvPr/>
        </p:nvSpPr>
        <p:spPr>
          <a:xfrm>
            <a:off x="3846446"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12" name="直線單箭頭接點 11">
            <a:extLst>
              <a:ext uri="{FF2B5EF4-FFF2-40B4-BE49-F238E27FC236}">
                <a16:creationId xmlns:a16="http://schemas.microsoft.com/office/drawing/2014/main" id="{7991A0C8-F4D0-EF0A-8800-0DEA97697164}"/>
              </a:ext>
            </a:extLst>
          </p:cNvPr>
          <p:cNvCxnSpPr>
            <a:cxnSpLocks/>
            <a:stCxn id="34" idx="0"/>
            <a:endCxn id="35" idx="2"/>
          </p:cNvCxnSpPr>
          <p:nvPr/>
        </p:nvCxnSpPr>
        <p:spPr>
          <a:xfrm flipH="1" flipV="1">
            <a:off x="4250989" y="4501648"/>
            <a:ext cx="128063"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5F2CBFB4-0982-E8DC-7CDD-9EB6C336CAAE}"/>
              </a:ext>
            </a:extLst>
          </p:cNvPr>
          <p:cNvCxnSpPr>
            <a:cxnSpLocks/>
            <a:stCxn id="8" idx="0"/>
            <a:endCxn id="214" idx="2"/>
          </p:cNvCxnSpPr>
          <p:nvPr/>
        </p:nvCxnSpPr>
        <p:spPr>
          <a:xfrm flipV="1">
            <a:off x="4384200" y="1738305"/>
            <a:ext cx="5473" cy="184321"/>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9FEB499D-2C2E-3B44-A165-2519817D9658}"/>
              </a:ext>
            </a:extLst>
          </p:cNvPr>
          <p:cNvSpPr txBox="1"/>
          <p:nvPr/>
        </p:nvSpPr>
        <p:spPr>
          <a:xfrm>
            <a:off x="3867272" y="2433529"/>
            <a:ext cx="139424" cy="11519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200"/>
              </a:lnSpc>
              <a:buNone/>
            </a:pPr>
            <a:r>
              <a:rPr lang="en-US" altLang="zh-TW" sz="1200" b="1" dirty="0">
                <a:solidFill>
                  <a:schemeClr val="bg1">
                    <a:lumMod val="50000"/>
                  </a:schemeClr>
                </a:solidFill>
                <a:latin typeface="Gadugi" panose="020B0502040204020203" pitchFamily="34" charset="0"/>
                <a:ea typeface="Gadugi" panose="020B0502040204020203" pitchFamily="34" charset="0"/>
                <a:cs typeface="ADLaM Display" panose="02010000000000000000" pitchFamily="2" charset="0"/>
              </a:rPr>
              <a:t>e</a:t>
            </a:r>
            <a:endPar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22" name="文字方塊 21">
            <a:extLst>
              <a:ext uri="{FF2B5EF4-FFF2-40B4-BE49-F238E27FC236}">
                <a16:creationId xmlns:a16="http://schemas.microsoft.com/office/drawing/2014/main" id="{51D08741-5391-21D3-C63C-01DEAD6BA47A}"/>
              </a:ext>
            </a:extLst>
          </p:cNvPr>
          <p:cNvSpPr txBox="1"/>
          <p:nvPr/>
        </p:nvSpPr>
        <p:spPr>
          <a:xfrm>
            <a:off x="3867271" y="2587760"/>
            <a:ext cx="128666" cy="95048"/>
          </a:xfrm>
          <a:prstGeom prst="rect">
            <a:avLst/>
          </a:prstGeom>
          <a:solidFill>
            <a:schemeClr val="accent2">
              <a:lumMod val="40000"/>
              <a:lumOff val="6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200" b="1" dirty="0">
                <a:solidFill>
                  <a:schemeClr val="tx1">
                    <a:lumMod val="95000"/>
                    <a:lumOff val="5000"/>
                  </a:schemeClr>
                </a:solidFill>
                <a:latin typeface="Gadugi" panose="020B0502040204020203" pitchFamily="34" charset="0"/>
                <a:ea typeface="Gadugi" panose="020B0502040204020203" pitchFamily="34" charset="0"/>
                <a:cs typeface="ADLaM Display" panose="02010000000000000000" pitchFamily="2" charset="0"/>
              </a:rPr>
              <a:t>e</a:t>
            </a:r>
            <a:endPar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34" name="矩形 33">
            <a:extLst>
              <a:ext uri="{FF2B5EF4-FFF2-40B4-BE49-F238E27FC236}">
                <a16:creationId xmlns:a16="http://schemas.microsoft.com/office/drawing/2014/main" id="{5635B5C8-ED48-859A-7297-1A969AF1BD0D}"/>
              </a:ext>
            </a:extLst>
          </p:cNvPr>
          <p:cNvSpPr/>
          <p:nvPr/>
        </p:nvSpPr>
        <p:spPr>
          <a:xfrm>
            <a:off x="4127024"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35" name="矩形: 圓角 34">
            <a:extLst>
              <a:ext uri="{FF2B5EF4-FFF2-40B4-BE49-F238E27FC236}">
                <a16:creationId xmlns:a16="http://schemas.microsoft.com/office/drawing/2014/main" id="{89CF481E-9E76-E131-29F0-867FDAB83382}"/>
              </a:ext>
            </a:extLst>
          </p:cNvPr>
          <p:cNvSpPr/>
          <p:nvPr/>
        </p:nvSpPr>
        <p:spPr>
          <a:xfrm>
            <a:off x="4124954" y="4069600"/>
            <a:ext cx="252070"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36" name="矩形: 圓角 35">
            <a:extLst>
              <a:ext uri="{FF2B5EF4-FFF2-40B4-BE49-F238E27FC236}">
                <a16:creationId xmlns:a16="http://schemas.microsoft.com/office/drawing/2014/main" id="{B4CFC56D-9909-C54C-EB39-58E0216E1164}"/>
              </a:ext>
            </a:extLst>
          </p:cNvPr>
          <p:cNvSpPr/>
          <p:nvPr/>
        </p:nvSpPr>
        <p:spPr>
          <a:xfrm>
            <a:off x="4118625"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sp>
        <p:nvSpPr>
          <p:cNvPr id="37" name="矩形 36">
            <a:extLst>
              <a:ext uri="{FF2B5EF4-FFF2-40B4-BE49-F238E27FC236}">
                <a16:creationId xmlns:a16="http://schemas.microsoft.com/office/drawing/2014/main" id="{700D4D76-B6B2-CDF3-F006-413140F97FC7}"/>
              </a:ext>
            </a:extLst>
          </p:cNvPr>
          <p:cNvSpPr/>
          <p:nvPr/>
        </p:nvSpPr>
        <p:spPr>
          <a:xfrm>
            <a:off x="3589775"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1" name="文字方塊 40">
            <a:extLst>
              <a:ext uri="{FF2B5EF4-FFF2-40B4-BE49-F238E27FC236}">
                <a16:creationId xmlns:a16="http://schemas.microsoft.com/office/drawing/2014/main" id="{52F424F2-C2DC-704B-3F67-BE4A7763F979}"/>
              </a:ext>
            </a:extLst>
          </p:cNvPr>
          <p:cNvSpPr txBox="1"/>
          <p:nvPr/>
        </p:nvSpPr>
        <p:spPr>
          <a:xfrm>
            <a:off x="3867270" y="2719894"/>
            <a:ext cx="126133" cy="108574"/>
          </a:xfrm>
          <a:prstGeom prst="rect">
            <a:avLst/>
          </a:prstGeom>
          <a:solidFill>
            <a:schemeClr val="accent2">
              <a:lumMod val="40000"/>
              <a:lumOff val="6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200" b="1" dirty="0">
                <a:solidFill>
                  <a:schemeClr val="tx1">
                    <a:lumMod val="95000"/>
                    <a:lumOff val="5000"/>
                  </a:schemeClr>
                </a:solidFill>
                <a:latin typeface="Gadugi" panose="020B0502040204020203" pitchFamily="34" charset="0"/>
                <a:ea typeface="Gadugi" panose="020B0502040204020203" pitchFamily="34" charset="0"/>
                <a:cs typeface="ADLaM Display" panose="02010000000000000000" pitchFamily="2" charset="0"/>
              </a:rPr>
              <a:t>e</a:t>
            </a:r>
            <a:endPar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Tree>
    <p:extLst>
      <p:ext uri="{BB962C8B-B14F-4D97-AF65-F5344CB8AC3E}">
        <p14:creationId xmlns:p14="http://schemas.microsoft.com/office/powerpoint/2010/main" val="5462127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B2A54-6427-97B5-1E87-2A9EB5F61F81}"/>
            </a:ext>
          </a:extLst>
        </p:cNvPr>
        <p:cNvGrpSpPr/>
        <p:nvPr/>
      </p:nvGrpSpPr>
      <p:grpSpPr>
        <a:xfrm>
          <a:off x="0" y="0"/>
          <a:ext cx="0" cy="0"/>
          <a:chOff x="0" y="0"/>
          <a:chExt cx="0" cy="0"/>
        </a:xfrm>
      </p:grpSpPr>
      <p:pic>
        <p:nvPicPr>
          <p:cNvPr id="3" name="圖片 2" descr="Kimi K3 架构">
            <a:extLst>
              <a:ext uri="{FF2B5EF4-FFF2-40B4-BE49-F238E27FC236}">
                <a16:creationId xmlns:a16="http://schemas.microsoft.com/office/drawing/2014/main" id="{98621101-8A38-BE97-2C19-3040C57E8430}"/>
              </a:ext>
            </a:extLst>
          </p:cNvPr>
          <p:cNvPicPr>
            <a:picLocks noChangeAspect="1"/>
          </p:cNvPicPr>
          <p:nvPr/>
        </p:nvPicPr>
        <p:blipFill>
          <a:blip r:embed="rId3"/>
          <a:stretch>
            <a:fillRect/>
          </a:stretch>
        </p:blipFill>
        <p:spPr>
          <a:xfrm>
            <a:off x="976102" y="0"/>
            <a:ext cx="7191796" cy="6858000"/>
          </a:xfrm>
          <a:prstGeom prst="rect">
            <a:avLst/>
          </a:prstGeom>
        </p:spPr>
      </p:pic>
    </p:spTree>
    <p:extLst>
      <p:ext uri="{BB962C8B-B14F-4D97-AF65-F5344CB8AC3E}">
        <p14:creationId xmlns:p14="http://schemas.microsoft.com/office/powerpoint/2010/main" val="16638491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1C088-C29C-CFDD-0766-AA0BE977073D}"/>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48C5EFCD-973E-3362-6BEC-2BABEB772E5E}"/>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Distillation</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Injecting domain knowledge an.</a:t>
            </a:r>
          </a:p>
        </p:txBody>
      </p:sp>
      <p:sp>
        <p:nvSpPr>
          <p:cNvPr id="34" name="文字方塊 33">
            <a:extLst>
              <a:ext uri="{FF2B5EF4-FFF2-40B4-BE49-F238E27FC236}">
                <a16:creationId xmlns:a16="http://schemas.microsoft.com/office/drawing/2014/main" id="{1781F852-2D98-9DA7-ED98-B7E70CCD70A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35" name="文字方塊 34">
            <a:extLst>
              <a:ext uri="{FF2B5EF4-FFF2-40B4-BE49-F238E27FC236}">
                <a16:creationId xmlns:a16="http://schemas.microsoft.com/office/drawing/2014/main" id="{26F1D28A-E25F-0DBE-6A0F-1F0258A77F0C}"/>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36" name="文字方塊 35">
            <a:extLst>
              <a:ext uri="{FF2B5EF4-FFF2-40B4-BE49-F238E27FC236}">
                <a16:creationId xmlns:a16="http://schemas.microsoft.com/office/drawing/2014/main" id="{0AFB4BE5-D051-0641-2C31-9200688EF3AD}"/>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38" name="文字方塊 37">
            <a:extLst>
              <a:ext uri="{FF2B5EF4-FFF2-40B4-BE49-F238E27FC236}">
                <a16:creationId xmlns:a16="http://schemas.microsoft.com/office/drawing/2014/main" id="{3FA24F76-E7DA-FED8-A954-D229BCDBA889}"/>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46" name="文字方塊 45">
            <a:extLst>
              <a:ext uri="{FF2B5EF4-FFF2-40B4-BE49-F238E27FC236}">
                <a16:creationId xmlns:a16="http://schemas.microsoft.com/office/drawing/2014/main" id="{A4EB4070-0F17-DC28-5D50-AB16E3B247C9}"/>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4" name="文字方塊 3">
            <a:extLst>
              <a:ext uri="{FF2B5EF4-FFF2-40B4-BE49-F238E27FC236}">
                <a16:creationId xmlns:a16="http://schemas.microsoft.com/office/drawing/2014/main" id="{F3E988E6-CAF1-E8EE-5F9F-4BCC50E551D1}"/>
              </a:ext>
            </a:extLst>
          </p:cNvPr>
          <p:cNvSpPr txBox="1"/>
          <p:nvPr/>
        </p:nvSpPr>
        <p:spPr>
          <a:xfrm>
            <a:off x="7092280" y="2852936"/>
            <a:ext cx="1219522" cy="1092606"/>
          </a:xfrm>
          <a:prstGeom prst="rect">
            <a:avLst/>
          </a:prstGeom>
          <a:solidFill>
            <a:schemeClr val="accent1">
              <a:lumMod val="20000"/>
              <a:lumOff val="80000"/>
              <a:alpha val="9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1">
                    <a:lumMod val="60000"/>
                    <a:lumOff val="40000"/>
                  </a:schemeClr>
                </a:solidFill>
                <a:effectLst/>
              </a:rPr>
              <a:t>LLM, RAG</a:t>
            </a:r>
          </a:p>
          <a:p>
            <a:pPr algn="ctr">
              <a:lnSpc>
                <a:spcPts val="1400"/>
              </a:lnSpc>
              <a:buNone/>
            </a:pPr>
            <a:r>
              <a:rPr lang="en-US" altLang="zh-TW" sz="1400" b="1" u="none" strike="noStrike" dirty="0">
                <a:solidFill>
                  <a:schemeClr val="accent1">
                    <a:lumMod val="60000"/>
                    <a:lumOff val="40000"/>
                  </a:schemeClr>
                </a:solidFill>
                <a:effectLst/>
              </a:rPr>
              <a:t>&amp; MCP</a:t>
            </a:r>
          </a:p>
        </p:txBody>
      </p:sp>
      <p:sp>
        <p:nvSpPr>
          <p:cNvPr id="48" name="右大括弧 47">
            <a:extLst>
              <a:ext uri="{FF2B5EF4-FFF2-40B4-BE49-F238E27FC236}">
                <a16:creationId xmlns:a16="http://schemas.microsoft.com/office/drawing/2014/main" id="{2C29EDAD-2399-6787-451D-1B76A1ECD0E1}"/>
              </a:ext>
            </a:extLst>
          </p:cNvPr>
          <p:cNvSpPr/>
          <p:nvPr/>
        </p:nvSpPr>
        <p:spPr>
          <a:xfrm rot="5400000">
            <a:off x="7618632" y="3478714"/>
            <a:ext cx="166822"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0" name="標題 1">
            <a:extLst>
              <a:ext uri="{FF2B5EF4-FFF2-40B4-BE49-F238E27FC236}">
                <a16:creationId xmlns:a16="http://schemas.microsoft.com/office/drawing/2014/main" id="{083DAC72-685D-C5C6-6BD2-4F20B57F24BD}"/>
              </a:ext>
            </a:extLst>
          </p:cNvPr>
          <p:cNvSpPr txBox="1">
            <a:spLocks/>
          </p:cNvSpPr>
          <p:nvPr/>
        </p:nvSpPr>
        <p:spPr>
          <a:xfrm>
            <a:off x="7207330" y="4198282"/>
            <a:ext cx="989422" cy="166822"/>
          </a:xfrm>
          <a:prstGeom prst="rect">
            <a:avLst/>
          </a:prstGeom>
          <a:solidFill>
            <a:schemeClr val="bg1">
              <a:alpha val="9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AI Runtime</a:t>
            </a:r>
          </a:p>
        </p:txBody>
      </p:sp>
      <p:sp>
        <p:nvSpPr>
          <p:cNvPr id="56" name="標題 1">
            <a:extLst>
              <a:ext uri="{FF2B5EF4-FFF2-40B4-BE49-F238E27FC236}">
                <a16:creationId xmlns:a16="http://schemas.microsoft.com/office/drawing/2014/main" id="{5CB4D389-23EC-5032-9BAE-F1757CE2E800}"/>
              </a:ext>
            </a:extLst>
          </p:cNvPr>
          <p:cNvSpPr txBox="1">
            <a:spLocks/>
          </p:cNvSpPr>
          <p:nvPr/>
        </p:nvSpPr>
        <p:spPr>
          <a:xfrm>
            <a:off x="5436096" y="5250965"/>
            <a:ext cx="1219522" cy="306155"/>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Soft</a:t>
            </a:r>
            <a:r>
              <a:rPr lang="zh-TW" altLang="en-US" sz="1000" dirty="0">
                <a:latin typeface="Noto Sans HK" panose="020B0200000000000000" pitchFamily="34" charset="-120"/>
                <a:ea typeface="Noto Sans HK" panose="020B0200000000000000" pitchFamily="34" charset="-120"/>
                <a:cs typeface="Arial" panose="020B0604020202020204" pitchFamily="34" charset="0"/>
              </a:rPr>
              <a:t> </a:t>
            </a:r>
            <a:r>
              <a:rPr lang="en-US" altLang="zh-TW" sz="1000" dirty="0">
                <a:latin typeface="Noto Sans HK" panose="020B0200000000000000" pitchFamily="34" charset="-120"/>
                <a:ea typeface="Noto Sans HK" panose="020B0200000000000000" pitchFamily="34" charset="-120"/>
                <a:cs typeface="Arial" panose="020B0604020202020204" pitchFamily="34" charset="0"/>
              </a:rPr>
              <a:t>Label</a:t>
            </a:r>
          </a:p>
        </p:txBody>
      </p:sp>
      <p:sp>
        <p:nvSpPr>
          <p:cNvPr id="63" name="右大括弧 62">
            <a:extLst>
              <a:ext uri="{FF2B5EF4-FFF2-40B4-BE49-F238E27FC236}">
                <a16:creationId xmlns:a16="http://schemas.microsoft.com/office/drawing/2014/main" id="{C9DE5F9A-05EB-4691-A387-184904320C08}"/>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64" name="箭號: 向下 63">
            <a:extLst>
              <a:ext uri="{FF2B5EF4-FFF2-40B4-BE49-F238E27FC236}">
                <a16:creationId xmlns:a16="http://schemas.microsoft.com/office/drawing/2014/main" id="{4223F807-D83D-59D5-DF24-6DF252EE825F}"/>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標題 1">
            <a:extLst>
              <a:ext uri="{FF2B5EF4-FFF2-40B4-BE49-F238E27FC236}">
                <a16:creationId xmlns:a16="http://schemas.microsoft.com/office/drawing/2014/main" id="{EA45D83D-FA42-9110-2F49-53618A9ECE91}"/>
              </a:ext>
            </a:extLst>
          </p:cNvPr>
          <p:cNvSpPr txBox="1">
            <a:spLocks/>
          </p:cNvSpPr>
          <p:nvPr/>
        </p:nvSpPr>
        <p:spPr>
          <a:xfrm>
            <a:off x="5055186" y="1027015"/>
            <a:ext cx="1752607" cy="68103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Preference</a:t>
            </a:r>
            <a:r>
              <a:rPr kumimoji="0" lang="zh-TW" altLang="en-US"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Pair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solidFill>
                  <a:prstClr val="black"/>
                </a:solidFill>
              </a:rPr>
              <a:t>T</a:t>
            </a:r>
            <a:r>
              <a:rPr lang="zh-TW" altLang="zh-TW" sz="1200" dirty="0">
                <a:solidFill>
                  <a:prstClr val="black"/>
                </a:solidFill>
              </a:rPr>
              <a:t>he capital of France</a:t>
            </a:r>
            <a:r>
              <a:rPr lang="en-US" altLang="zh-TW" sz="1200" dirty="0">
                <a:solidFill>
                  <a:prstClr val="black"/>
                </a:solidFill>
              </a:rPr>
              <a:t>?</a:t>
            </a:r>
            <a:endPar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endParaRPr>
          </a:p>
          <a:p>
            <a:pPr lvl="0" algn="ctr">
              <a:spcBef>
                <a:spcPts val="0"/>
              </a:spcBef>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lang="en-US" altLang="zh-TW" sz="1200" dirty="0">
                <a:solidFill>
                  <a:prstClr val="black"/>
                </a:solidFill>
                <a:latin typeface="+mn-lt"/>
                <a:ea typeface="新細明體" panose="02020500000000000000" pitchFamily="18" charset="-120"/>
                <a:cs typeface="+mn-cs"/>
              </a:rPr>
              <a:t>.</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lang="zh-TW" altLang="zh-TW" sz="1200" dirty="0"/>
              <a:t>👍</a:t>
            </a:r>
            <a:r>
              <a:rPr lang="en-US" altLang="zh-TW" sz="1200" dirty="0"/>
              <a:t>,</a:t>
            </a:r>
            <a:r>
              <a:rPr lang="en-US" altLang="zh-TW" sz="1200" dirty="0">
                <a:solidFill>
                  <a:prstClr val="black"/>
                </a:solidFill>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“Bonjour!“ </a:t>
            </a:r>
            <a:r>
              <a:rPr lang="zh-TW" altLang="zh-TW" sz="1200" dirty="0"/>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cxnSp>
        <p:nvCxnSpPr>
          <p:cNvPr id="83" name="直線接點 82">
            <a:extLst>
              <a:ext uri="{FF2B5EF4-FFF2-40B4-BE49-F238E27FC236}">
                <a16:creationId xmlns:a16="http://schemas.microsoft.com/office/drawing/2014/main" id="{49C9B6FC-E00B-B93C-9597-0EFA3EC02D21}"/>
              </a:ext>
            </a:extLst>
          </p:cNvPr>
          <p:cNvCxnSpPr>
            <a:cxnSpLocks/>
            <a:stCxn id="75" idx="2"/>
            <a:endCxn id="64" idx="0"/>
          </p:cNvCxnSpPr>
          <p:nvPr/>
        </p:nvCxnSpPr>
        <p:spPr>
          <a:xfrm>
            <a:off x="5931490" y="1708051"/>
            <a:ext cx="0" cy="899919"/>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2" name="直線單箭頭接點 1">
            <a:extLst>
              <a:ext uri="{FF2B5EF4-FFF2-40B4-BE49-F238E27FC236}">
                <a16:creationId xmlns:a16="http://schemas.microsoft.com/office/drawing/2014/main" id="{13B89021-46D2-B5A3-28F6-29345C4576EC}"/>
              </a:ext>
            </a:extLst>
          </p:cNvPr>
          <p:cNvCxnSpPr>
            <a:cxnSpLocks/>
            <a:stCxn id="46" idx="3"/>
            <a:endCxn id="34"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CA5802EE-F207-7922-1CC3-BC212577E690}"/>
              </a:ext>
            </a:extLst>
          </p:cNvPr>
          <p:cNvGraphicFramePr>
            <a:graphicFrameLocks noGrp="1"/>
          </p:cNvGraphicFramePr>
          <p:nvPr/>
        </p:nvGraphicFramePr>
        <p:xfrm>
          <a:off x="1884140" y="4365104"/>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Teacher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cxnSp>
        <p:nvCxnSpPr>
          <p:cNvPr id="8" name="直線接點 7">
            <a:extLst>
              <a:ext uri="{FF2B5EF4-FFF2-40B4-BE49-F238E27FC236}">
                <a16:creationId xmlns:a16="http://schemas.microsoft.com/office/drawing/2014/main" id="{060607E6-1136-A62E-557F-AF305E737CB5}"/>
              </a:ext>
            </a:extLst>
          </p:cNvPr>
          <p:cNvCxnSpPr>
            <a:cxnSpLocks/>
          </p:cNvCxnSpPr>
          <p:nvPr/>
        </p:nvCxnSpPr>
        <p:spPr>
          <a:xfrm>
            <a:off x="1724506" y="1455268"/>
            <a:ext cx="0" cy="502037"/>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表格 10">
            <a:extLst>
              <a:ext uri="{FF2B5EF4-FFF2-40B4-BE49-F238E27FC236}">
                <a16:creationId xmlns:a16="http://schemas.microsoft.com/office/drawing/2014/main" id="{7416325E-8B29-6B3E-B545-D3E65BB3E00D}"/>
              </a:ext>
            </a:extLst>
          </p:cNvPr>
          <p:cNvGraphicFramePr>
            <a:graphicFrameLocks noGrp="1"/>
          </p:cNvGraphicFramePr>
          <p:nvPr/>
        </p:nvGraphicFramePr>
        <p:xfrm>
          <a:off x="3352478" y="4365103"/>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Student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spTree>
    <p:extLst>
      <p:ext uri="{BB962C8B-B14F-4D97-AF65-F5344CB8AC3E}">
        <p14:creationId xmlns:p14="http://schemas.microsoft.com/office/powerpoint/2010/main" val="29508231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25999-7ECD-BA35-43AC-72ECFEE0427F}"/>
            </a:ext>
          </a:extLst>
        </p:cNvPr>
        <p:cNvGrpSpPr/>
        <p:nvPr/>
      </p:nvGrpSpPr>
      <p:grpSpPr>
        <a:xfrm>
          <a:off x="0" y="0"/>
          <a:ext cx="0" cy="0"/>
          <a:chOff x="0" y="0"/>
          <a:chExt cx="0" cy="0"/>
        </a:xfrm>
      </p:grpSpPr>
      <p:pic>
        <p:nvPicPr>
          <p:cNvPr id="11" name="圖片 10">
            <a:extLst>
              <a:ext uri="{FF2B5EF4-FFF2-40B4-BE49-F238E27FC236}">
                <a16:creationId xmlns:a16="http://schemas.microsoft.com/office/drawing/2014/main" id="{4C128F37-80EC-5B99-BE58-397074A208EE}"/>
              </a:ext>
            </a:extLst>
          </p:cNvPr>
          <p:cNvPicPr>
            <a:picLocks noChangeAspect="1"/>
          </p:cNvPicPr>
          <p:nvPr/>
        </p:nvPicPr>
        <p:blipFill>
          <a:blip r:embed="rId3"/>
          <a:stretch>
            <a:fillRect/>
          </a:stretch>
        </p:blipFill>
        <p:spPr>
          <a:xfrm>
            <a:off x="5409862" y="3788511"/>
            <a:ext cx="3676252" cy="2398497"/>
          </a:xfrm>
          <a:prstGeom prst="rect">
            <a:avLst/>
          </a:prstGeom>
        </p:spPr>
      </p:pic>
      <p:sp>
        <p:nvSpPr>
          <p:cNvPr id="8" name="文字方塊 7">
            <a:extLst>
              <a:ext uri="{FF2B5EF4-FFF2-40B4-BE49-F238E27FC236}">
                <a16:creationId xmlns:a16="http://schemas.microsoft.com/office/drawing/2014/main" id="{7EA2DA36-50F0-1369-B59B-C6FD52E9E4E0}"/>
              </a:ext>
            </a:extLst>
          </p:cNvPr>
          <p:cNvSpPr txBox="1"/>
          <p:nvPr/>
        </p:nvSpPr>
        <p:spPr>
          <a:xfrm>
            <a:off x="179510" y="1196752"/>
            <a:ext cx="7632850" cy="938719"/>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Model Extraction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Goal:</a:t>
            </a:r>
            <a:r>
              <a:rPr lang="en-US" altLang="zh-TW" sz="1600" dirty="0"/>
              <a:t> Duplicate a functional clone model at a minimal cost purely through API queries, without accessing its weights.</a:t>
            </a:r>
          </a:p>
        </p:txBody>
      </p:sp>
      <p:sp>
        <p:nvSpPr>
          <p:cNvPr id="5" name="標題 1">
            <a:extLst>
              <a:ext uri="{FF2B5EF4-FFF2-40B4-BE49-F238E27FC236}">
                <a16:creationId xmlns:a16="http://schemas.microsoft.com/office/drawing/2014/main" id="{A309682D-9AD4-069E-1FFF-B4F842C47A94}"/>
              </a:ext>
            </a:extLst>
          </p:cNvPr>
          <p:cNvSpPr txBox="1">
            <a:spLocks/>
          </p:cNvSpPr>
          <p:nvPr/>
        </p:nvSpPr>
        <p:spPr>
          <a:xfrm>
            <a:off x="179511" y="116632"/>
            <a:ext cx="7920881"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Distillation Attack</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No LLM is safe, if it can be prompted.</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Involve extracting knowledge, from a LLM, extensively, querying it, through prompts.</a:t>
            </a:r>
          </a:p>
        </p:txBody>
      </p:sp>
      <p:pic>
        <p:nvPicPr>
          <p:cNvPr id="31" name="圖片 30">
            <a:extLst>
              <a:ext uri="{FF2B5EF4-FFF2-40B4-BE49-F238E27FC236}">
                <a16:creationId xmlns:a16="http://schemas.microsoft.com/office/drawing/2014/main" id="{AC21CB44-2E1A-CB98-7935-56713A15F8A8}"/>
              </a:ext>
            </a:extLst>
          </p:cNvPr>
          <p:cNvPicPr>
            <a:picLocks noChangeAspect="1"/>
          </p:cNvPicPr>
          <p:nvPr/>
        </p:nvPicPr>
        <p:blipFill>
          <a:blip r:embed="rId4"/>
          <a:stretch>
            <a:fillRect/>
          </a:stretch>
        </p:blipFill>
        <p:spPr>
          <a:xfrm>
            <a:off x="8406510" y="116632"/>
            <a:ext cx="552628" cy="548681"/>
          </a:xfrm>
          <a:prstGeom prst="rect">
            <a:avLst/>
          </a:prstGeom>
        </p:spPr>
      </p:pic>
      <p:sp>
        <p:nvSpPr>
          <p:cNvPr id="37" name="標題 1">
            <a:extLst>
              <a:ext uri="{FF2B5EF4-FFF2-40B4-BE49-F238E27FC236}">
                <a16:creationId xmlns:a16="http://schemas.microsoft.com/office/drawing/2014/main" id="{2B255F5A-4477-D36C-0620-7FB608BCB205}"/>
              </a:ext>
            </a:extLst>
          </p:cNvPr>
          <p:cNvSpPr txBox="1">
            <a:spLocks/>
          </p:cNvSpPr>
          <p:nvPr/>
        </p:nvSpPr>
        <p:spPr>
          <a:xfrm>
            <a:off x="8312648" y="692696"/>
            <a:ext cx="740352" cy="42522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Moonshot</a:t>
            </a:r>
          </a:p>
          <a:p>
            <a:pPr algn="ctr"/>
            <a:r>
              <a:rPr lang="zh-TW" altLang="en-US"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月之暗面</a:t>
            </a:r>
            <a:endParaRPr lang="en-US" altLang="zh-TW"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sp>
        <p:nvSpPr>
          <p:cNvPr id="6" name="文字方塊 5">
            <a:extLst>
              <a:ext uri="{FF2B5EF4-FFF2-40B4-BE49-F238E27FC236}">
                <a16:creationId xmlns:a16="http://schemas.microsoft.com/office/drawing/2014/main" id="{B68066DC-B3C7-0B14-5687-E982E2B40C61}"/>
              </a:ext>
            </a:extLst>
          </p:cNvPr>
          <p:cNvSpPr txBox="1"/>
          <p:nvPr/>
        </p:nvSpPr>
        <p:spPr>
          <a:xfrm>
            <a:off x="192111" y="4976008"/>
            <a:ext cx="8767027" cy="1477328"/>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Counter Measures (Increase Attack’s Cost)</a:t>
            </a:r>
          </a:p>
          <a:p>
            <a:pPr marL="285750" indent="-285750">
              <a:lnSpc>
                <a:spcPts val="1800"/>
              </a:lnSpc>
              <a:spcBef>
                <a:spcPts val="600"/>
              </a:spcBef>
              <a:spcAft>
                <a:spcPts val="600"/>
              </a:spcAft>
              <a:buFont typeface="Wingdings" panose="05000000000000000000" pitchFamily="2" charset="2"/>
              <a:buChar char="Ø"/>
            </a:pPr>
            <a:r>
              <a:rPr lang="en-US" altLang="zh-TW" sz="1600" b="1" dirty="0"/>
              <a:t>Traffic Detection:</a:t>
            </a:r>
            <a:r>
              <a:rPr lang="en-US" altLang="zh-TW" sz="1600" dirty="0"/>
              <a:t> Semantic-space analysis, behavioral fingerprinting, metadata attribution.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Model Controls:</a:t>
            </a:r>
            <a:r>
              <a:rPr lang="en-US" altLang="zh-TW" sz="1600" dirty="0"/>
              <a:t> CoT removal, output perturbation, statistical watermarking.</a:t>
            </a:r>
          </a:p>
          <a:p>
            <a:pPr marL="285750" indent="-285750">
              <a:lnSpc>
                <a:spcPts val="1800"/>
              </a:lnSpc>
              <a:spcBef>
                <a:spcPts val="600"/>
              </a:spcBef>
              <a:spcAft>
                <a:spcPts val="600"/>
              </a:spcAft>
              <a:buFont typeface="Wingdings" panose="05000000000000000000" pitchFamily="2" charset="2"/>
              <a:buChar char="Ø"/>
            </a:pPr>
            <a:r>
              <a:rPr lang="en-US" altLang="zh-TW" sz="1600" b="1" dirty="0"/>
              <a:t>Verified Access:</a:t>
            </a:r>
            <a:r>
              <a:rPr lang="en-US" altLang="zh-TW" sz="1600" dirty="0"/>
              <a:t> Know Your Customer(KYC),</a:t>
            </a:r>
            <a:r>
              <a:rPr lang="zh-TW" altLang="en-US" sz="1600" dirty="0"/>
              <a:t> </a:t>
            </a:r>
            <a:r>
              <a:rPr lang="en-US" altLang="zh-TW" sz="1600" dirty="0"/>
              <a:t>Adaptive Verification, .</a:t>
            </a:r>
          </a:p>
        </p:txBody>
      </p:sp>
      <p:sp>
        <p:nvSpPr>
          <p:cNvPr id="12" name="文字方塊 11">
            <a:extLst>
              <a:ext uri="{FF2B5EF4-FFF2-40B4-BE49-F238E27FC236}">
                <a16:creationId xmlns:a16="http://schemas.microsoft.com/office/drawing/2014/main" id="{AD68F64B-4C1A-FFB2-F8B6-E5C3BC02DFF1}"/>
              </a:ext>
            </a:extLst>
          </p:cNvPr>
          <p:cNvSpPr txBox="1"/>
          <p:nvPr/>
        </p:nvSpPr>
        <p:spPr>
          <a:xfrm>
            <a:off x="2250420" y="2276872"/>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13" name="文字方塊 12">
            <a:extLst>
              <a:ext uri="{FF2B5EF4-FFF2-40B4-BE49-F238E27FC236}">
                <a16:creationId xmlns:a16="http://schemas.microsoft.com/office/drawing/2014/main" id="{CC7F5601-2E80-AC25-95B4-F7E7BEC74B21}"/>
              </a:ext>
            </a:extLst>
          </p:cNvPr>
          <p:cNvSpPr txBox="1"/>
          <p:nvPr/>
        </p:nvSpPr>
        <p:spPr>
          <a:xfrm>
            <a:off x="3347864" y="2276872"/>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14" name="文字方塊 13">
            <a:extLst>
              <a:ext uri="{FF2B5EF4-FFF2-40B4-BE49-F238E27FC236}">
                <a16:creationId xmlns:a16="http://schemas.microsoft.com/office/drawing/2014/main" id="{4CB5AFF6-8B07-F6E7-440D-1E3D64014E59}"/>
              </a:ext>
            </a:extLst>
          </p:cNvPr>
          <p:cNvSpPr txBox="1"/>
          <p:nvPr/>
        </p:nvSpPr>
        <p:spPr>
          <a:xfrm>
            <a:off x="4410660" y="2276872"/>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15" name="文字方塊 14">
            <a:extLst>
              <a:ext uri="{FF2B5EF4-FFF2-40B4-BE49-F238E27FC236}">
                <a16:creationId xmlns:a16="http://schemas.microsoft.com/office/drawing/2014/main" id="{6F8D15F0-F013-D9A3-EAA6-42797542C242}"/>
              </a:ext>
            </a:extLst>
          </p:cNvPr>
          <p:cNvSpPr txBox="1"/>
          <p:nvPr/>
        </p:nvSpPr>
        <p:spPr>
          <a:xfrm>
            <a:off x="5490780" y="2276872"/>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16" name="文字方塊 15">
            <a:extLst>
              <a:ext uri="{FF2B5EF4-FFF2-40B4-BE49-F238E27FC236}">
                <a16:creationId xmlns:a16="http://schemas.microsoft.com/office/drawing/2014/main" id="{289ADC5C-E475-83A1-2BFE-D74030E59EAA}"/>
              </a:ext>
            </a:extLst>
          </p:cNvPr>
          <p:cNvSpPr txBox="1"/>
          <p:nvPr/>
        </p:nvSpPr>
        <p:spPr>
          <a:xfrm>
            <a:off x="1187624" y="2280669"/>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17" name="右大括弧 16">
            <a:extLst>
              <a:ext uri="{FF2B5EF4-FFF2-40B4-BE49-F238E27FC236}">
                <a16:creationId xmlns:a16="http://schemas.microsoft.com/office/drawing/2014/main" id="{C76DBFF7-5BC4-34FB-B75B-C5F62F6D1CB2}"/>
              </a:ext>
            </a:extLst>
          </p:cNvPr>
          <p:cNvSpPr/>
          <p:nvPr/>
        </p:nvSpPr>
        <p:spPr>
          <a:xfrm rot="5400000">
            <a:off x="3154669" y="2527032"/>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21" name="直線單箭頭接點 20">
            <a:extLst>
              <a:ext uri="{FF2B5EF4-FFF2-40B4-BE49-F238E27FC236}">
                <a16:creationId xmlns:a16="http://schemas.microsoft.com/office/drawing/2014/main" id="{947BD5A8-BFD6-CEA1-275F-0CDDC5F60F07}"/>
              </a:ext>
            </a:extLst>
          </p:cNvPr>
          <p:cNvCxnSpPr>
            <a:cxnSpLocks/>
            <a:stCxn id="16" idx="3"/>
            <a:endCxn id="12" idx="1"/>
          </p:cNvCxnSpPr>
          <p:nvPr/>
        </p:nvCxnSpPr>
        <p:spPr>
          <a:xfrm flipV="1">
            <a:off x="2069044" y="2655030"/>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2" name="文字方塊 1">
            <a:extLst>
              <a:ext uri="{FF2B5EF4-FFF2-40B4-BE49-F238E27FC236}">
                <a16:creationId xmlns:a16="http://schemas.microsoft.com/office/drawing/2014/main" id="{626DBC5C-2A26-90CA-C557-79A504820052}"/>
              </a:ext>
            </a:extLst>
          </p:cNvPr>
          <p:cNvSpPr txBox="1"/>
          <p:nvPr/>
        </p:nvSpPr>
        <p:spPr>
          <a:xfrm>
            <a:off x="2250420" y="3284647"/>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3" name="文字方塊 2">
            <a:extLst>
              <a:ext uri="{FF2B5EF4-FFF2-40B4-BE49-F238E27FC236}">
                <a16:creationId xmlns:a16="http://schemas.microsoft.com/office/drawing/2014/main" id="{4BD454AD-B65F-F8DD-468A-876DEE2E1BC9}"/>
              </a:ext>
            </a:extLst>
          </p:cNvPr>
          <p:cNvSpPr txBox="1"/>
          <p:nvPr/>
        </p:nvSpPr>
        <p:spPr>
          <a:xfrm>
            <a:off x="3347864" y="3284647"/>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4" name="文字方塊 3">
            <a:extLst>
              <a:ext uri="{FF2B5EF4-FFF2-40B4-BE49-F238E27FC236}">
                <a16:creationId xmlns:a16="http://schemas.microsoft.com/office/drawing/2014/main" id="{B5F82238-D902-CFE3-4CE5-E39555787C98}"/>
              </a:ext>
            </a:extLst>
          </p:cNvPr>
          <p:cNvSpPr txBox="1"/>
          <p:nvPr/>
        </p:nvSpPr>
        <p:spPr>
          <a:xfrm>
            <a:off x="4410660" y="3284647"/>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7" name="文字方塊 6">
            <a:extLst>
              <a:ext uri="{FF2B5EF4-FFF2-40B4-BE49-F238E27FC236}">
                <a16:creationId xmlns:a16="http://schemas.microsoft.com/office/drawing/2014/main" id="{DB702051-151F-B5C4-3443-6931F47A642F}"/>
              </a:ext>
            </a:extLst>
          </p:cNvPr>
          <p:cNvSpPr txBox="1"/>
          <p:nvPr/>
        </p:nvSpPr>
        <p:spPr>
          <a:xfrm>
            <a:off x="5490780" y="3284647"/>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9" name="文字方塊 8">
            <a:extLst>
              <a:ext uri="{FF2B5EF4-FFF2-40B4-BE49-F238E27FC236}">
                <a16:creationId xmlns:a16="http://schemas.microsoft.com/office/drawing/2014/main" id="{07C167B6-49FC-7213-BEAC-0093C4EBA0F8}"/>
              </a:ext>
            </a:extLst>
          </p:cNvPr>
          <p:cNvSpPr txBox="1"/>
          <p:nvPr/>
        </p:nvSpPr>
        <p:spPr>
          <a:xfrm>
            <a:off x="1187624" y="3288444"/>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10" name="右大括弧 9">
            <a:extLst>
              <a:ext uri="{FF2B5EF4-FFF2-40B4-BE49-F238E27FC236}">
                <a16:creationId xmlns:a16="http://schemas.microsoft.com/office/drawing/2014/main" id="{F5E88D55-1D29-981A-61C9-848487682A89}"/>
              </a:ext>
            </a:extLst>
          </p:cNvPr>
          <p:cNvSpPr/>
          <p:nvPr/>
        </p:nvSpPr>
        <p:spPr>
          <a:xfrm rot="5400000">
            <a:off x="3154669" y="3534807"/>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22" name="直線單箭頭接點 21">
            <a:extLst>
              <a:ext uri="{FF2B5EF4-FFF2-40B4-BE49-F238E27FC236}">
                <a16:creationId xmlns:a16="http://schemas.microsoft.com/office/drawing/2014/main" id="{BFBEC447-F76A-CB0C-60B2-2CBEC782C80C}"/>
              </a:ext>
            </a:extLst>
          </p:cNvPr>
          <p:cNvCxnSpPr>
            <a:cxnSpLocks/>
            <a:stCxn id="9" idx="3"/>
            <a:endCxn id="2" idx="1"/>
          </p:cNvCxnSpPr>
          <p:nvPr/>
        </p:nvCxnSpPr>
        <p:spPr>
          <a:xfrm flipV="1">
            <a:off x="2069044" y="3662805"/>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6873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6CC2-BDE4-965A-84C4-C8CEAFC9885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28CCEC3-1387-0743-9796-8CCF90C0AE03}"/>
              </a:ext>
            </a:extLst>
          </p:cNvPr>
          <p:cNvGraphicFramePr>
            <a:graphicFrameLocks noGrp="1"/>
          </p:cNvGraphicFramePr>
          <p:nvPr>
            <p:extLst>
              <p:ext uri="{D42A27DB-BD31-4B8C-83A1-F6EECF244321}">
                <p14:modId xmlns:p14="http://schemas.microsoft.com/office/powerpoint/2010/main" val="141976597"/>
              </p:ext>
            </p:extLst>
          </p:nvPr>
        </p:nvGraphicFramePr>
        <p:xfrm>
          <a:off x="300657" y="1084161"/>
          <a:ext cx="8542691" cy="4276923"/>
        </p:xfrm>
        <a:graphic>
          <a:graphicData uri="http://schemas.openxmlformats.org/drawingml/2006/table">
            <a:tbl>
              <a:tblPr firstRow="1" bandRow="1">
                <a:tableStyleId>{5C22544A-7EE6-4342-B048-85BDC9FD1C3A}</a:tableStyleId>
              </a:tblPr>
              <a:tblGrid>
                <a:gridCol w="382911">
                  <a:extLst>
                    <a:ext uri="{9D8B030D-6E8A-4147-A177-3AD203B41FA5}">
                      <a16:colId xmlns:a16="http://schemas.microsoft.com/office/drawing/2014/main" val="3115215194"/>
                    </a:ext>
                  </a:extLst>
                </a:gridCol>
                <a:gridCol w="766178">
                  <a:extLst>
                    <a:ext uri="{9D8B030D-6E8A-4147-A177-3AD203B41FA5}">
                      <a16:colId xmlns:a16="http://schemas.microsoft.com/office/drawing/2014/main" val="4024420245"/>
                    </a:ext>
                  </a:extLst>
                </a:gridCol>
                <a:gridCol w="766178">
                  <a:extLst>
                    <a:ext uri="{9D8B030D-6E8A-4147-A177-3AD203B41FA5}">
                      <a16:colId xmlns:a16="http://schemas.microsoft.com/office/drawing/2014/main" val="2857999959"/>
                    </a:ext>
                  </a:extLst>
                </a:gridCol>
                <a:gridCol w="766178">
                  <a:extLst>
                    <a:ext uri="{9D8B030D-6E8A-4147-A177-3AD203B41FA5}">
                      <a16:colId xmlns:a16="http://schemas.microsoft.com/office/drawing/2014/main" val="310011697"/>
                    </a:ext>
                  </a:extLst>
                </a:gridCol>
                <a:gridCol w="766178">
                  <a:extLst>
                    <a:ext uri="{9D8B030D-6E8A-4147-A177-3AD203B41FA5}">
                      <a16:colId xmlns:a16="http://schemas.microsoft.com/office/drawing/2014/main" val="932094440"/>
                    </a:ext>
                  </a:extLst>
                </a:gridCol>
                <a:gridCol w="1039744">
                  <a:extLst>
                    <a:ext uri="{9D8B030D-6E8A-4147-A177-3AD203B41FA5}">
                      <a16:colId xmlns:a16="http://schemas.microsoft.com/office/drawing/2014/main" val="1885199976"/>
                    </a:ext>
                  </a:extLst>
                </a:gridCol>
                <a:gridCol w="1080120">
                  <a:extLst>
                    <a:ext uri="{9D8B030D-6E8A-4147-A177-3AD203B41FA5}">
                      <a16:colId xmlns:a16="http://schemas.microsoft.com/office/drawing/2014/main" val="2502900903"/>
                    </a:ext>
                  </a:extLst>
                </a:gridCol>
                <a:gridCol w="743801">
                  <a:extLst>
                    <a:ext uri="{9D8B030D-6E8A-4147-A177-3AD203B41FA5}">
                      <a16:colId xmlns:a16="http://schemas.microsoft.com/office/drawing/2014/main" val="2600189719"/>
                    </a:ext>
                  </a:extLst>
                </a:gridCol>
                <a:gridCol w="743801">
                  <a:extLst>
                    <a:ext uri="{9D8B030D-6E8A-4147-A177-3AD203B41FA5}">
                      <a16:colId xmlns:a16="http://schemas.microsoft.com/office/drawing/2014/main" val="217543664"/>
                    </a:ext>
                  </a:extLst>
                </a:gridCol>
                <a:gridCol w="743801">
                  <a:extLst>
                    <a:ext uri="{9D8B030D-6E8A-4147-A177-3AD203B41FA5}">
                      <a16:colId xmlns:a16="http://schemas.microsoft.com/office/drawing/2014/main" val="2209626822"/>
                    </a:ext>
                  </a:extLst>
                </a:gridCol>
                <a:gridCol w="743801">
                  <a:extLst>
                    <a:ext uri="{9D8B030D-6E8A-4147-A177-3AD203B41FA5}">
                      <a16:colId xmlns:a16="http://schemas.microsoft.com/office/drawing/2014/main" val="2727600684"/>
                    </a:ext>
                  </a:extLst>
                </a:gridCol>
              </a:tblGrid>
              <a:tr h="668032">
                <a:tc>
                  <a:txBody>
                    <a:bodyPr/>
                    <a:lstStyle/>
                    <a:p>
                      <a:pPr algn="l"/>
                      <a:endParaRPr lang="en-US" altLang="zh-TW" sz="1200" b="1" cap="none" spc="0" dirty="0">
                        <a:ln w="0"/>
                        <a:solidFill>
                          <a:schemeClr val="tx1"/>
                        </a:solidFill>
                        <a:effectLst/>
                        <a:latin typeface="+mn-lt"/>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Modern Open-Source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Backbone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Cross-Border Academic Collaboration</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Community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-Driven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Pioneers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Independent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Native Pillars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latin typeface="+mn-lt"/>
                      </a:endParaRPr>
                    </a:p>
                  </a:txBody>
                  <a:tcPr marL="0" marR="0" marT="0" marB="0" anchor="ctr" anchorCtr="1">
                    <a:lnL w="6350" cap="flat" cmpd="sng" algn="ctr">
                      <a:solidFill>
                        <a:schemeClr val="accent4">
                          <a:lumMod val="75000"/>
                        </a:schemeClr>
                      </a:solidFill>
                      <a:prstDash val="solid"/>
                      <a:round/>
                      <a:headEnd type="none" w="med" len="med"/>
                      <a:tailEnd type="none" w="med" len="med"/>
                    </a:lnL>
                    <a:lnR w="6350" cap="flat" cmpd="sng" algn="ctr">
                      <a:solidFill>
                        <a:schemeClr val="accent4">
                          <a:lumMod val="75000"/>
                        </a:schemeClr>
                      </a:solidFill>
                      <a:prstDash val="solid"/>
                      <a:round/>
                      <a:headEnd type="none" w="med" len="med"/>
                      <a:tailEnd type="none" w="med" len="med"/>
                    </a:lnR>
                    <a:lnT w="6350" cap="flat" cmpd="sng" algn="ctr">
                      <a:solidFill>
                        <a:schemeClr val="accent4">
                          <a:lumMod val="75000"/>
                        </a:schemeClr>
                      </a:solidFill>
                      <a:prstDash val="solid"/>
                      <a:round/>
                      <a:headEnd type="none" w="med" len="med"/>
                      <a:tailEnd type="none" w="med" len="med"/>
                    </a:lnT>
                    <a:lnB w="63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13515898"/>
                  </a:ext>
                </a:extLst>
              </a:tr>
              <a:tr h="757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DeepMind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(Google)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Phi</a:t>
                      </a:r>
                      <a:br>
                        <a:rPr kumimoji="0" lang="en-US" altLang="zh-TW" sz="1200" b="1" i="0" u="none" strike="noStrike" kern="1200" cap="none" spc="0" normalizeH="0" baseline="0" noProof="0" dirty="0">
                          <a:ln w="0"/>
                          <a:solidFill>
                            <a:schemeClr val="tx2"/>
                          </a:solidFill>
                          <a:effectLst/>
                          <a:uLnTx/>
                          <a:uFillTx/>
                          <a:latin typeface="+mn-lt"/>
                          <a:ea typeface="+mn-ea"/>
                          <a:cs typeface="+mn-cs"/>
                        </a:rPr>
                      </a:br>
                      <a:r>
                        <a:rPr kumimoji="0" lang="en-US" altLang="zh-TW" sz="1000" b="0" i="0" u="none" strike="noStrike" kern="1200" cap="none" spc="0" normalizeH="0" baseline="0" noProof="0" dirty="0">
                          <a:ln w="0"/>
                          <a:solidFill>
                            <a:schemeClr val="tx2"/>
                          </a:solidFill>
                          <a:effectLst/>
                          <a:uLnTx/>
                          <a:uFillTx/>
                          <a:latin typeface="+mn-lt"/>
                          <a:ea typeface="+mn-ea"/>
                          <a:cs typeface="+mn-cs"/>
                        </a:rPr>
                        <a:t>(Microsoft)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(FAIR)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(Europe)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BigScience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France</a:t>
                      </a:r>
                      <a:r>
                        <a:rPr kumimoji="0" lang="zh-TW" altLang="en-US" sz="1000" b="0" i="0" u="none" strike="noStrike" kern="1200" cap="none" spc="0" normalizeH="0" baseline="0" noProof="0" dirty="0">
                          <a:ln w="0"/>
                          <a:solidFill>
                            <a:schemeClr val="tx2"/>
                          </a:solidFill>
                          <a:effectLst/>
                          <a:uLnTx/>
                          <a:uFillTx/>
                          <a:latin typeface="+mn-lt"/>
                          <a:ea typeface="+mn-ea"/>
                          <a:cs typeface="+mn-cs"/>
                        </a:rPr>
                        <a:t> </a:t>
                      </a:r>
                      <a:r>
                        <a:rPr kumimoji="0" lang="en-US" altLang="zh-TW" sz="1000" b="0" i="0" u="none" strike="noStrike" kern="1200" cap="none" spc="0" normalizeH="0" baseline="0" noProof="0" dirty="0">
                          <a:ln w="0"/>
                          <a:solidFill>
                            <a:schemeClr val="tx2"/>
                          </a:solidFill>
                          <a:effectLst/>
                          <a:uLnTx/>
                          <a:uFillTx/>
                          <a:latin typeface="+mn-lt"/>
                          <a:ea typeface="+mn-ea"/>
                          <a:cs typeface="+mn-cs"/>
                        </a:rPr>
                        <a:t> and 1000+ scientists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EleutherAI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CoreWeave,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Stability AI,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Technology Innovation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Institute </a:t>
                      </a:r>
                      <a:r>
                        <a:rPr kumimoji="0" lang="en-US" altLang="zh-TW" sz="1000" b="0" i="0" u="none" strike="noStrike" kern="1200" cap="none" spc="0" normalizeH="0" baseline="0" noProof="0" dirty="0">
                          <a:ln w="0"/>
                          <a:solidFill>
                            <a:schemeClr val="tx2"/>
                          </a:solidFill>
                          <a:effectLst/>
                          <a:uLnTx/>
                          <a:uFillTx/>
                          <a:latin typeface="+mn-lt"/>
                          <a:ea typeface="+mn-ea"/>
                          <a:cs typeface="+mn-cs"/>
                        </a:rPr>
                        <a:t>(NV)</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(Alibaba)</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MoE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(DeepSeek)</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(Moonshot)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03224414"/>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GPT-Neo</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41340391"/>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GPT-J</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49642222"/>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bg2">
                              <a:lumMod val="50000"/>
                            </a:schemeClr>
                          </a:solidFill>
                          <a:effectLst/>
                          <a:uLnTx/>
                          <a:uFillTx/>
                          <a:latin typeface="+mn-lt"/>
                          <a:ea typeface="+mn-ea"/>
                          <a:cs typeface="+mn-cs"/>
                        </a:rPr>
                        <a:t>BLOOM</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r>
                        <a:rPr kumimoji="0" lang="en-US" altLang="zh-TW" sz="1200" b="0" i="0" u="none" strike="noStrike" kern="1200" cap="none" spc="0" normalizeH="0" baseline="0" noProof="0" dirty="0" err="1">
                          <a:ln w="0"/>
                          <a:solidFill>
                            <a:prstClr val="black"/>
                          </a:solidFill>
                          <a:effectLst/>
                          <a:uLnTx/>
                          <a:uFillTx/>
                          <a:latin typeface="+mn-lt"/>
                          <a:ea typeface="+mn-ea"/>
                          <a:cs typeface="+mn-cs"/>
                        </a:rPr>
                        <a:t>NeoX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4832629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7B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Mixtral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LLeMA</a:t>
                      </a: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14491690"/>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2.5</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5925935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Large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The Common Pile</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H1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3.0</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2492193"/>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Vision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Muse 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Small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LM-Evaluation-Harness</a:t>
                      </a:r>
                      <a:endParaRPr kumimoji="0" lang="zh-TW" altLang="en-US" sz="12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H1R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024983"/>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451293"/>
                  </a:ext>
                </a:extLst>
              </a:tr>
            </a:tbl>
          </a:graphicData>
        </a:graphic>
      </p:graphicFrame>
      <p:sp>
        <p:nvSpPr>
          <p:cNvPr id="6" name="標題 1">
            <a:extLst>
              <a:ext uri="{FF2B5EF4-FFF2-40B4-BE49-F238E27FC236}">
                <a16:creationId xmlns:a16="http://schemas.microsoft.com/office/drawing/2014/main" id="{2584B682-80DC-5350-E199-F653A8484A51}"/>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The Evolution of Open-Source LLMs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From 2020 to 2026.</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9C034926-36B1-924C-1E61-4CBCD515102C}"/>
              </a:ext>
            </a:extLst>
          </p:cNvPr>
          <p:cNvPicPr>
            <a:picLocks noChangeAspect="1"/>
          </p:cNvPicPr>
          <p:nvPr/>
        </p:nvPicPr>
        <p:blipFill>
          <a:blip r:embed="rId3"/>
          <a:stretch>
            <a:fillRect/>
          </a:stretch>
        </p:blipFill>
        <p:spPr>
          <a:xfrm>
            <a:off x="6807316" y="521637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B49E799F-C565-ABB2-F1E1-804D95D1669C}"/>
              </a:ext>
            </a:extLst>
          </p:cNvPr>
          <p:cNvPicPr>
            <a:picLocks noChangeAspect="1"/>
          </p:cNvPicPr>
          <p:nvPr/>
        </p:nvPicPr>
        <p:blipFill>
          <a:blip r:embed="rId4"/>
          <a:stretch>
            <a:fillRect/>
          </a:stretch>
        </p:blipFill>
        <p:spPr>
          <a:xfrm>
            <a:off x="7533826" y="5208414"/>
            <a:ext cx="350542" cy="284964"/>
          </a:xfrm>
          <a:prstGeom prst="rect">
            <a:avLst/>
          </a:prstGeom>
        </p:spPr>
      </p:pic>
      <p:pic>
        <p:nvPicPr>
          <p:cNvPr id="16" name="圖片 15">
            <a:extLst>
              <a:ext uri="{FF2B5EF4-FFF2-40B4-BE49-F238E27FC236}">
                <a16:creationId xmlns:a16="http://schemas.microsoft.com/office/drawing/2014/main" id="{37610F10-8CC5-F71E-FB14-609A88EA39AD}"/>
              </a:ext>
            </a:extLst>
          </p:cNvPr>
          <p:cNvPicPr>
            <a:picLocks noChangeAspect="1"/>
          </p:cNvPicPr>
          <p:nvPr/>
        </p:nvPicPr>
        <p:blipFill>
          <a:blip r:embed="rId5"/>
          <a:stretch>
            <a:fillRect/>
          </a:stretch>
        </p:blipFill>
        <p:spPr>
          <a:xfrm>
            <a:off x="3275856" y="5184697"/>
            <a:ext cx="284964" cy="284964"/>
          </a:xfrm>
          <a:prstGeom prst="rect">
            <a:avLst/>
          </a:prstGeom>
        </p:spPr>
      </p:pic>
      <p:pic>
        <p:nvPicPr>
          <p:cNvPr id="20" name="圖片 19">
            <a:extLst>
              <a:ext uri="{FF2B5EF4-FFF2-40B4-BE49-F238E27FC236}">
                <a16:creationId xmlns:a16="http://schemas.microsoft.com/office/drawing/2014/main" id="{3C663D43-268C-53AE-455E-FD0977CCE05C}"/>
              </a:ext>
            </a:extLst>
          </p:cNvPr>
          <p:cNvPicPr>
            <a:picLocks noChangeAspect="1"/>
          </p:cNvPicPr>
          <p:nvPr/>
        </p:nvPicPr>
        <p:blipFill>
          <a:blip r:embed="rId6"/>
          <a:stretch>
            <a:fillRect/>
          </a:stretch>
        </p:blipFill>
        <p:spPr>
          <a:xfrm>
            <a:off x="879223" y="5151468"/>
            <a:ext cx="380409" cy="380409"/>
          </a:xfrm>
          <a:prstGeom prst="rect">
            <a:avLst/>
          </a:prstGeom>
          <a:effectLst>
            <a:glow rad="25400">
              <a:schemeClr val="accent5">
                <a:lumMod val="40000"/>
                <a:lumOff val="60000"/>
                <a:alpha val="40000"/>
              </a:schemeClr>
            </a:glow>
            <a:softEdge rad="12700"/>
          </a:effectLst>
        </p:spPr>
      </p:pic>
      <p:pic>
        <p:nvPicPr>
          <p:cNvPr id="9" name="圖片 8">
            <a:extLst>
              <a:ext uri="{FF2B5EF4-FFF2-40B4-BE49-F238E27FC236}">
                <a16:creationId xmlns:a16="http://schemas.microsoft.com/office/drawing/2014/main" id="{F5012F1A-6F0A-97DF-CC14-7D190C26E4F0}"/>
              </a:ext>
            </a:extLst>
          </p:cNvPr>
          <p:cNvPicPr>
            <a:picLocks noChangeAspect="1"/>
          </p:cNvPicPr>
          <p:nvPr/>
        </p:nvPicPr>
        <p:blipFill>
          <a:blip r:embed="rId7"/>
          <a:stretch>
            <a:fillRect/>
          </a:stretch>
        </p:blipFill>
        <p:spPr>
          <a:xfrm>
            <a:off x="2483768" y="5240323"/>
            <a:ext cx="284964" cy="225568"/>
          </a:xfrm>
          <a:prstGeom prst="rect">
            <a:avLst/>
          </a:prstGeom>
        </p:spPr>
      </p:pic>
      <p:pic>
        <p:nvPicPr>
          <p:cNvPr id="22" name="圖片 21">
            <a:extLst>
              <a:ext uri="{FF2B5EF4-FFF2-40B4-BE49-F238E27FC236}">
                <a16:creationId xmlns:a16="http://schemas.microsoft.com/office/drawing/2014/main" id="{3D4C8B4F-8579-798A-BD81-2A9ED45B4E54}"/>
              </a:ext>
            </a:extLst>
          </p:cNvPr>
          <p:cNvPicPr>
            <a:picLocks noChangeAspect="1"/>
          </p:cNvPicPr>
          <p:nvPr/>
        </p:nvPicPr>
        <p:blipFill>
          <a:blip r:embed="rId8"/>
          <a:stretch>
            <a:fillRect/>
          </a:stretch>
        </p:blipFill>
        <p:spPr>
          <a:xfrm>
            <a:off x="8317433" y="5208413"/>
            <a:ext cx="287015" cy="284965"/>
          </a:xfrm>
          <a:prstGeom prst="rect">
            <a:avLst/>
          </a:prstGeom>
        </p:spPr>
      </p:pic>
      <p:pic>
        <p:nvPicPr>
          <p:cNvPr id="30" name="圖片 29">
            <a:extLst>
              <a:ext uri="{FF2B5EF4-FFF2-40B4-BE49-F238E27FC236}">
                <a16:creationId xmlns:a16="http://schemas.microsoft.com/office/drawing/2014/main" id="{46A64EA5-8F7A-E610-5F8F-CE72FAA64EBE}"/>
              </a:ext>
            </a:extLst>
          </p:cNvPr>
          <p:cNvPicPr>
            <a:picLocks noChangeAspect="1"/>
          </p:cNvPicPr>
          <p:nvPr/>
        </p:nvPicPr>
        <p:blipFill>
          <a:blip r:embed="rId9"/>
          <a:stretch>
            <a:fillRect/>
          </a:stretch>
        </p:blipFill>
        <p:spPr>
          <a:xfrm>
            <a:off x="3779912" y="2942072"/>
            <a:ext cx="980309" cy="265437"/>
          </a:xfrm>
          <a:prstGeom prst="rect">
            <a:avLst/>
          </a:prstGeom>
          <a:effectLst>
            <a:glow rad="50800">
              <a:schemeClr val="tx1">
                <a:alpha val="20000"/>
              </a:schemeClr>
            </a:glow>
            <a:softEdge rad="0"/>
          </a:effectLst>
        </p:spPr>
      </p:pic>
      <p:pic>
        <p:nvPicPr>
          <p:cNvPr id="31" name="圖片 30" descr="EleutherAI">
            <a:extLst>
              <a:ext uri="{FF2B5EF4-FFF2-40B4-BE49-F238E27FC236}">
                <a16:creationId xmlns:a16="http://schemas.microsoft.com/office/drawing/2014/main" id="{B9927168-FE93-7A1D-D637-FBC5D13D256E}"/>
              </a:ext>
            </a:extLst>
          </p:cNvPr>
          <p:cNvPicPr>
            <a:picLocks noChangeAspect="1"/>
          </p:cNvPicPr>
          <p:nvPr/>
        </p:nvPicPr>
        <p:blipFill>
          <a:blip r:embed="rId10"/>
          <a:stretch>
            <a:fillRect/>
          </a:stretch>
        </p:blipFill>
        <p:spPr>
          <a:xfrm>
            <a:off x="4355976" y="3915928"/>
            <a:ext cx="1595502" cy="331066"/>
          </a:xfrm>
          <a:prstGeom prst="rect">
            <a:avLst/>
          </a:prstGeom>
          <a:effectLst>
            <a:glow rad="76200">
              <a:schemeClr val="tx1">
                <a:alpha val="80000"/>
              </a:schemeClr>
            </a:glow>
            <a:softEdge rad="0"/>
          </a:effectLst>
        </p:spPr>
      </p:pic>
      <p:pic>
        <p:nvPicPr>
          <p:cNvPr id="34" name="圖片 33">
            <a:extLst>
              <a:ext uri="{FF2B5EF4-FFF2-40B4-BE49-F238E27FC236}">
                <a16:creationId xmlns:a16="http://schemas.microsoft.com/office/drawing/2014/main" id="{736F2CD2-8368-1411-CDA1-CD7BED977C1D}"/>
              </a:ext>
            </a:extLst>
          </p:cNvPr>
          <p:cNvPicPr>
            <a:picLocks noChangeAspect="1"/>
          </p:cNvPicPr>
          <p:nvPr/>
        </p:nvPicPr>
        <p:blipFill>
          <a:blip r:embed="rId11"/>
          <a:stretch>
            <a:fillRect/>
          </a:stretch>
        </p:blipFill>
        <p:spPr>
          <a:xfrm>
            <a:off x="6084168" y="5184558"/>
            <a:ext cx="272407" cy="332674"/>
          </a:xfrm>
          <a:prstGeom prst="rect">
            <a:avLst/>
          </a:prstGeom>
        </p:spPr>
      </p:pic>
      <p:pic>
        <p:nvPicPr>
          <p:cNvPr id="36" name="圖片 35">
            <a:extLst>
              <a:ext uri="{FF2B5EF4-FFF2-40B4-BE49-F238E27FC236}">
                <a16:creationId xmlns:a16="http://schemas.microsoft.com/office/drawing/2014/main" id="{19738192-72EC-1EEB-D2CA-5EDC92128DB0}"/>
              </a:ext>
            </a:extLst>
          </p:cNvPr>
          <p:cNvPicPr>
            <a:picLocks noChangeAspect="1"/>
          </p:cNvPicPr>
          <p:nvPr/>
        </p:nvPicPr>
        <p:blipFill>
          <a:blip r:embed="rId12"/>
          <a:stretch>
            <a:fillRect/>
          </a:stretch>
        </p:blipFill>
        <p:spPr>
          <a:xfrm>
            <a:off x="1715117" y="5184558"/>
            <a:ext cx="288546" cy="281333"/>
          </a:xfrm>
          <a:prstGeom prst="rect">
            <a:avLst/>
          </a:prstGeom>
        </p:spPr>
      </p:pic>
    </p:spTree>
    <p:extLst>
      <p:ext uri="{BB962C8B-B14F-4D97-AF65-F5344CB8AC3E}">
        <p14:creationId xmlns:p14="http://schemas.microsoft.com/office/powerpoint/2010/main" val="23005067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0AD4ABC-CD64-231B-FB43-9435DC0B2782}"/>
              </a:ext>
            </a:extLst>
          </p:cNvPr>
          <p:cNvSpPr/>
          <p:nvPr/>
        </p:nvSpPr>
        <p:spPr>
          <a:xfrm>
            <a:off x="6327074" y="3870792"/>
            <a:ext cx="1653476" cy="1132637"/>
          </a:xfrm>
          <a:prstGeom prst="rect">
            <a:avLst/>
          </a:prstGeom>
          <a:noFill/>
          <a:ln w="381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t" anchorCtr="0"/>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BioMCP</a:t>
            </a:r>
          </a:p>
          <a:p>
            <a:pPr algn="ctr">
              <a:lnSpc>
                <a:spcPts val="1600"/>
              </a:lnSpc>
            </a:pPr>
            <a:r>
              <a:rPr lang="en-US" altLang="zh-TW" sz="1000" dirty="0">
                <a:solidFill>
                  <a:schemeClr val="tx2"/>
                </a:solidFill>
                <a:ea typeface="ADLaM Display" panose="02010000000000000000" pitchFamily="2" charset="0"/>
                <a:cs typeface="ADLaM Display" panose="02010000000000000000" pitchFamily="2" charset="0"/>
              </a:rPr>
              <a:t>(GenomOncology)</a:t>
            </a:r>
          </a:p>
        </p:txBody>
      </p:sp>
      <p:pic>
        <p:nvPicPr>
          <p:cNvPr id="10" name="圖片 9">
            <a:extLst>
              <a:ext uri="{FF2B5EF4-FFF2-40B4-BE49-F238E27FC236}">
                <a16:creationId xmlns:a16="http://schemas.microsoft.com/office/drawing/2014/main" id="{E4147E76-B7BC-90E2-7BFF-C06ADDA56766}"/>
              </a:ext>
            </a:extLst>
          </p:cNvPr>
          <p:cNvPicPr preferRelativeResize="0">
            <a:picLocks/>
          </p:cNvPicPr>
          <p:nvPr/>
        </p:nvPicPr>
        <p:blipFill>
          <a:blip r:embed="rId2"/>
          <a:stretch>
            <a:fillRect/>
          </a:stretch>
        </p:blipFill>
        <p:spPr>
          <a:xfrm>
            <a:off x="7773142" y="3775247"/>
            <a:ext cx="337313" cy="341304"/>
          </a:xfrm>
          <a:prstGeom prst="rect">
            <a:avLst/>
          </a:prstGeom>
          <a:solidFill>
            <a:schemeClr val="accent4">
              <a:lumMod val="20000"/>
              <a:lumOff val="80000"/>
            </a:schemeClr>
          </a:solidFill>
          <a:ln w="19050">
            <a:solidFill>
              <a:schemeClr val="bg1">
                <a:lumMod val="95000"/>
              </a:schemeClr>
            </a:solidFill>
          </a:ln>
          <a:effectLst>
            <a:glow rad="50800">
              <a:schemeClr val="bg1">
                <a:lumMod val="95000"/>
                <a:alpha val="60000"/>
              </a:schemeClr>
            </a:glow>
            <a:softEdge rad="25400"/>
          </a:effectLst>
        </p:spPr>
      </p:pic>
      <p:sp>
        <p:nvSpPr>
          <p:cNvPr id="13" name="矩形 12">
            <a:extLst>
              <a:ext uri="{FF2B5EF4-FFF2-40B4-BE49-F238E27FC236}">
                <a16:creationId xmlns:a16="http://schemas.microsoft.com/office/drawing/2014/main" id="{B0DD0BED-91C0-BCE7-310E-4C34D250658A}"/>
              </a:ext>
            </a:extLst>
          </p:cNvPr>
          <p:cNvSpPr/>
          <p:nvPr/>
        </p:nvSpPr>
        <p:spPr>
          <a:xfrm>
            <a:off x="6416947" y="4429360"/>
            <a:ext cx="1473729" cy="450859"/>
          </a:xfrm>
          <a:prstGeom prst="rect">
            <a:avLst/>
          </a:prstGeom>
          <a:solidFill>
            <a:schemeClr val="accent3">
              <a:lumMod val="20000"/>
              <a:lumOff val="80000"/>
            </a:schemeClr>
          </a:solidFill>
          <a:ln w="254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18288" rIns="0" bIns="0" rtlCol="0" anchor="t" anchorCtr="0"/>
          <a:lstStyle/>
          <a:p>
            <a:pPr algn="ctr">
              <a:lnSpc>
                <a:spcPts val="1600"/>
              </a:lnSpc>
            </a:pP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MyVariant.info</a:t>
            </a:r>
            <a:b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altLang="zh-TW" sz="1000" dirty="0">
                <a:solidFill>
                  <a:schemeClr val="tx2"/>
                </a:solidFill>
                <a:ea typeface="ADLaM Display" panose="02010000000000000000" pitchFamily="2" charset="0"/>
                <a:cs typeface="ADLaM Display" panose="02010000000000000000" pitchFamily="2" charset="0"/>
              </a:rPr>
              <a:t>(Scripps Research Institute)</a:t>
            </a:r>
          </a:p>
        </p:txBody>
      </p:sp>
      <p:pic>
        <p:nvPicPr>
          <p:cNvPr id="21" name="圖片 20">
            <a:extLst>
              <a:ext uri="{FF2B5EF4-FFF2-40B4-BE49-F238E27FC236}">
                <a16:creationId xmlns:a16="http://schemas.microsoft.com/office/drawing/2014/main" id="{2B983750-F74C-B5C1-10D1-73369C6FD831}"/>
              </a:ext>
            </a:extLst>
          </p:cNvPr>
          <p:cNvPicPr>
            <a:picLocks noChangeAspect="1"/>
          </p:cNvPicPr>
          <p:nvPr/>
        </p:nvPicPr>
        <p:blipFill>
          <a:blip r:embed="rId3"/>
          <a:stretch>
            <a:fillRect/>
          </a:stretch>
        </p:blipFill>
        <p:spPr>
          <a:xfrm>
            <a:off x="7795844" y="4283349"/>
            <a:ext cx="314611" cy="341305"/>
          </a:xfrm>
          <a:prstGeom prst="rect">
            <a:avLst/>
          </a:prstGeom>
          <a:effectLst>
            <a:glow rad="50800">
              <a:schemeClr val="tx1">
                <a:lumMod val="95000"/>
                <a:lumOff val="5000"/>
                <a:alpha val="60000"/>
              </a:schemeClr>
            </a:glow>
            <a:softEdge rad="25400"/>
          </a:effectLst>
        </p:spPr>
      </p:pic>
      <p:graphicFrame>
        <p:nvGraphicFramePr>
          <p:cNvPr id="109" name="表格 108">
            <a:extLst>
              <a:ext uri="{FF2B5EF4-FFF2-40B4-BE49-F238E27FC236}">
                <a16:creationId xmlns:a16="http://schemas.microsoft.com/office/drawing/2014/main" id="{21D0682F-D0D5-3FEB-FA02-4B5EAE7E36DD}"/>
              </a:ext>
            </a:extLst>
          </p:cNvPr>
          <p:cNvGraphicFramePr>
            <a:graphicFrameLocks noGrp="1"/>
          </p:cNvGraphicFramePr>
          <p:nvPr/>
        </p:nvGraphicFramePr>
        <p:xfrm>
          <a:off x="2334256" y="4034730"/>
          <a:ext cx="1432386" cy="2050040"/>
        </p:xfrm>
        <a:graphic>
          <a:graphicData uri="http://schemas.openxmlformats.org/drawingml/2006/table">
            <a:tbl>
              <a:tblPr firstRow="1" bandRow="1">
                <a:tableStyleId>{5C22544A-7EE6-4342-B048-85BDC9FD1C3A}</a:tableStyleId>
              </a:tblPr>
              <a:tblGrid>
                <a:gridCol w="1432386">
                  <a:extLst>
                    <a:ext uri="{9D8B030D-6E8A-4147-A177-3AD203B41FA5}">
                      <a16:colId xmlns:a16="http://schemas.microsoft.com/office/drawing/2014/main" val="2211145501"/>
                    </a:ext>
                  </a:extLst>
                </a:gridCol>
              </a:tblGrid>
              <a:tr h="122704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Fine-Tunning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Environment</a:t>
                      </a:r>
                    </a:p>
                  </a:txBody>
                  <a:tcPr marL="0" marR="72000" marT="0" marB="72000" anchor="b">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28507786"/>
                  </a:ext>
                </a:extLst>
              </a:tr>
              <a:tr h="822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GPU</a:t>
                      </a:r>
                    </a:p>
                  </a:txBody>
                  <a:tcPr marL="0" marR="0" marT="0" marB="0" anchor="ctr" anchorCtr="1">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60000"/>
                      </a:schemeClr>
                    </a:solidFill>
                  </a:tcPr>
                </a:tc>
                <a:extLst>
                  <a:ext uri="{0D108BD9-81ED-4DB2-BD59-A6C34878D82A}">
                    <a16:rowId xmlns:a16="http://schemas.microsoft.com/office/drawing/2014/main" val="1228831162"/>
                  </a:ext>
                </a:extLst>
              </a:tr>
            </a:tbl>
          </a:graphicData>
        </a:graphic>
      </p:graphicFrame>
      <p:sp>
        <p:nvSpPr>
          <p:cNvPr id="3" name="文字方塊 2">
            <a:extLst>
              <a:ext uri="{FF2B5EF4-FFF2-40B4-BE49-F238E27FC236}">
                <a16:creationId xmlns:a16="http://schemas.microsoft.com/office/drawing/2014/main" id="{F014465A-7992-6D2B-0ED2-2EFC285D37EC}"/>
              </a:ext>
            </a:extLst>
          </p:cNvPr>
          <p:cNvSpPr txBox="1"/>
          <p:nvPr/>
        </p:nvSpPr>
        <p:spPr>
          <a:xfrm>
            <a:off x="213023" y="1052736"/>
            <a:ext cx="8751465" cy="1477328"/>
          </a:xfrm>
          <a:prstGeom prst="rect">
            <a:avLst/>
          </a:prstGeom>
          <a:noFill/>
        </p:spPr>
        <p:txBody>
          <a:bodyPr wrap="square">
            <a:spAutoFit/>
          </a:bodyPr>
          <a:lstStyle/>
          <a:p>
            <a:pPr>
              <a:lnSpc>
                <a:spcPts val="1800"/>
              </a:lnSpc>
              <a:spcBef>
                <a:spcPts val="600"/>
              </a:spcBef>
              <a:spcAft>
                <a:spcPts val="600"/>
              </a:spcAft>
              <a:buNone/>
            </a:pPr>
            <a:r>
              <a:rPr lang="en-US" altLang="zh-TW" sz="2000" b="1" dirty="0"/>
              <a:t>Buildup</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Fine-Tuning Solution</a:t>
            </a:r>
            <a:r>
              <a:rPr lang="en-US" altLang="zh-TW" sz="1600" b="0" u="none" strike="noStrike" dirty="0">
                <a:effectLst/>
              </a:rPr>
              <a:t>:</a:t>
            </a:r>
            <a:r>
              <a:rPr lang="zh-TW" altLang="en-US" sz="1600" b="0" u="none" strike="noStrike" dirty="0">
                <a:effectLst/>
              </a:rPr>
              <a:t> </a:t>
            </a:r>
            <a:r>
              <a:rPr lang="en-US" altLang="zh-TW" sz="1600" b="0" u="none" strike="noStrike" dirty="0">
                <a:effectLst/>
              </a:rPr>
              <a:t>Support QLoRA</a:t>
            </a:r>
            <a:r>
              <a:rPr lang="en-US" altLang="zh-TW" sz="1600" dirty="0"/>
              <a:t>. (Unsloth,</a:t>
            </a:r>
            <a:r>
              <a:rPr lang="zh-TW" altLang="en-US" sz="1600" dirty="0"/>
              <a:t> </a:t>
            </a:r>
            <a:r>
              <a:rPr lang="en-US" altLang="zh-TW" sz="1600" dirty="0"/>
              <a:t>Hugging Face TRL)</a:t>
            </a:r>
          </a:p>
          <a:p>
            <a:pPr marL="285750" indent="-285750">
              <a:lnSpc>
                <a:spcPts val="1800"/>
              </a:lnSpc>
              <a:spcBef>
                <a:spcPts val="600"/>
              </a:spcBef>
              <a:spcAft>
                <a:spcPts val="600"/>
              </a:spcAft>
              <a:buFont typeface="Wingdings" panose="05000000000000000000" pitchFamily="2" charset="2"/>
              <a:buChar char="Ø"/>
            </a:pPr>
            <a:r>
              <a:rPr lang="en-US" altLang="zh-TW" sz="1600" b="1" dirty="0"/>
              <a:t>Model Engine</a:t>
            </a:r>
            <a:r>
              <a:rPr lang="en-US" altLang="zh-TW" sz="1600" dirty="0"/>
              <a:t>: Freeze base weight. ( llama, Gemma 4)</a:t>
            </a:r>
          </a:p>
          <a:p>
            <a:pPr marL="285750" indent="-285750">
              <a:lnSpc>
                <a:spcPts val="1800"/>
              </a:lnSpc>
              <a:spcBef>
                <a:spcPts val="600"/>
              </a:spcBef>
              <a:spcAft>
                <a:spcPts val="600"/>
              </a:spcAft>
              <a:buFont typeface="Wingdings" panose="05000000000000000000" pitchFamily="2" charset="2"/>
              <a:buChar char="Ø"/>
            </a:pPr>
            <a:r>
              <a:rPr lang="en-US" altLang="zh-TW" sz="1600" b="1" dirty="0"/>
              <a:t>Agent</a:t>
            </a:r>
            <a:r>
              <a:rPr lang="en-US" altLang="zh-TW" sz="1600" dirty="0"/>
              <a:t>:</a:t>
            </a:r>
            <a:r>
              <a:rPr lang="zh-TW" altLang="en-US" sz="1600" dirty="0"/>
              <a:t> </a:t>
            </a:r>
            <a:r>
              <a:rPr lang="en-US" altLang="zh-TW" sz="1600" dirty="0"/>
              <a:t>OpenClaw and bio-python library.</a:t>
            </a:r>
          </a:p>
        </p:txBody>
      </p:sp>
      <p:sp>
        <p:nvSpPr>
          <p:cNvPr id="5" name="標題 1">
            <a:extLst>
              <a:ext uri="{FF2B5EF4-FFF2-40B4-BE49-F238E27FC236}">
                <a16:creationId xmlns:a16="http://schemas.microsoft.com/office/drawing/2014/main" id="{A6861017-B894-8BC1-F162-75F3B0AC580D}"/>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Building the Bio-IT AI</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Agent</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AI agents will collaborate with Summit Spatial sequencers to complete tasks.</a:t>
            </a:r>
          </a:p>
        </p:txBody>
      </p:sp>
      <p:graphicFrame>
        <p:nvGraphicFramePr>
          <p:cNvPr id="20" name="表格 19">
            <a:extLst>
              <a:ext uri="{FF2B5EF4-FFF2-40B4-BE49-F238E27FC236}">
                <a16:creationId xmlns:a16="http://schemas.microsoft.com/office/drawing/2014/main" id="{45B540ED-60EE-58A7-8070-E5C33AF10E99}"/>
              </a:ext>
            </a:extLst>
          </p:cNvPr>
          <p:cNvGraphicFramePr>
            <a:graphicFrameLocks noGrp="1"/>
          </p:cNvGraphicFramePr>
          <p:nvPr/>
        </p:nvGraphicFramePr>
        <p:xfrm>
          <a:off x="4826419" y="4019587"/>
          <a:ext cx="1217339" cy="2050041"/>
        </p:xfrm>
        <a:graphic>
          <a:graphicData uri="http://schemas.openxmlformats.org/drawingml/2006/table">
            <a:tbl>
              <a:tblPr firstRow="1" bandRow="1">
                <a:tableStyleId>{5C22544A-7EE6-4342-B048-85BDC9FD1C3A}</a:tableStyleId>
              </a:tblPr>
              <a:tblGrid>
                <a:gridCol w="1217339">
                  <a:extLst>
                    <a:ext uri="{9D8B030D-6E8A-4147-A177-3AD203B41FA5}">
                      <a16:colId xmlns:a16="http://schemas.microsoft.com/office/drawing/2014/main" val="2211145501"/>
                    </a:ext>
                  </a:extLst>
                </a:gridCol>
              </a:tblGrid>
              <a:tr h="42944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 </a:t>
                      </a:r>
                    </a:p>
                  </a:txBody>
                  <a:tcPr marL="0" marR="72000" marT="0" marB="36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28575" cap="flat" cmpd="sng" algn="ctr">
                      <a:solidFill>
                        <a:schemeClr val="accent1">
                          <a:lumMod val="20000"/>
                          <a:lumOff val="8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8507786"/>
                  </a:ext>
                </a:extLst>
              </a:tr>
              <a:tr h="79470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Inference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Environment</a:t>
                      </a:r>
                    </a:p>
                  </a:txBody>
                  <a:tcPr marL="0" marR="72000" marT="0" marB="72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426438"/>
                  </a:ext>
                </a:extLst>
              </a:tr>
              <a:tr h="825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PC/NB</a:t>
                      </a:r>
                    </a:p>
                  </a:txBody>
                  <a:tcPr marL="0" marR="0" marT="0" marB="0" anchor="ctr" anchorCtr="1">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2857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1">
                        <a:lumMod val="95000"/>
                        <a:alpha val="60000"/>
                      </a:schemeClr>
                    </a:solidFill>
                  </a:tcPr>
                </a:tc>
                <a:extLst>
                  <a:ext uri="{0D108BD9-81ED-4DB2-BD59-A6C34878D82A}">
                    <a16:rowId xmlns:a16="http://schemas.microsoft.com/office/drawing/2014/main" val="4002830567"/>
                  </a:ext>
                </a:extLst>
              </a:tr>
            </a:tbl>
          </a:graphicData>
        </a:graphic>
      </p:graphicFrame>
      <p:pic>
        <p:nvPicPr>
          <p:cNvPr id="4" name="圖片 3">
            <a:extLst>
              <a:ext uri="{FF2B5EF4-FFF2-40B4-BE49-F238E27FC236}">
                <a16:creationId xmlns:a16="http://schemas.microsoft.com/office/drawing/2014/main" id="{F9EE3A7A-38B4-D1E9-5799-C8A7D35B9777}"/>
              </a:ext>
            </a:extLst>
          </p:cNvPr>
          <p:cNvPicPr>
            <a:picLocks noChangeAspect="1"/>
          </p:cNvPicPr>
          <p:nvPr/>
        </p:nvPicPr>
        <p:blipFill>
          <a:blip r:embed="rId4"/>
          <a:stretch>
            <a:fillRect/>
          </a:stretch>
        </p:blipFill>
        <p:spPr>
          <a:xfrm>
            <a:off x="5114451" y="3845698"/>
            <a:ext cx="432048" cy="432048"/>
          </a:xfrm>
          <a:prstGeom prst="rect">
            <a:avLst/>
          </a:prstGeom>
          <a:effectLst>
            <a:glow rad="25400">
              <a:schemeClr val="accent1">
                <a:lumMod val="20000"/>
                <a:lumOff val="80000"/>
                <a:alpha val="40000"/>
              </a:schemeClr>
            </a:glow>
            <a:softEdge rad="50800"/>
          </a:effectLst>
        </p:spPr>
      </p:pic>
      <p:cxnSp>
        <p:nvCxnSpPr>
          <p:cNvPr id="42" name="接點: 肘形 41">
            <a:extLst>
              <a:ext uri="{FF2B5EF4-FFF2-40B4-BE49-F238E27FC236}">
                <a16:creationId xmlns:a16="http://schemas.microsoft.com/office/drawing/2014/main" id="{FC7173A3-FD52-3361-7E1C-CBD7A5EB8814}"/>
              </a:ext>
            </a:extLst>
          </p:cNvPr>
          <p:cNvCxnSpPr>
            <a:cxnSpLocks/>
            <a:stCxn id="8" idx="2"/>
            <a:endCxn id="46" idx="1"/>
          </p:cNvCxnSpPr>
          <p:nvPr/>
        </p:nvCxnSpPr>
        <p:spPr>
          <a:xfrm rot="16200000" flipH="1">
            <a:off x="3519681" y="3964968"/>
            <a:ext cx="262708" cy="120699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063E6162-D5C9-01FE-BA92-C6CBDE280172}"/>
              </a:ext>
            </a:extLst>
          </p:cNvPr>
          <p:cNvSpPr/>
          <p:nvPr/>
        </p:nvSpPr>
        <p:spPr>
          <a:xfrm>
            <a:off x="4254532" y="4545827"/>
            <a:ext cx="859919" cy="307983"/>
          </a:xfrm>
          <a:prstGeom prst="rect">
            <a:avLst/>
          </a:prstGeom>
          <a:solidFill>
            <a:schemeClr val="accent1">
              <a:lumMod val="20000"/>
              <a:lumOff val="80000"/>
              <a:alpha val="40000"/>
            </a:schemeClr>
          </a:solidFill>
          <a:ln w="38100">
            <a:solidFill>
              <a:schemeClr val="tx2">
                <a:lumMod val="60000"/>
                <a:lumOff val="4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b="1" dirty="0">
                <a:solidFill>
                  <a:schemeClr val="tx2"/>
                </a:solidFill>
              </a:rPr>
              <a:t>Gemma 4</a:t>
            </a:r>
            <a:endParaRPr lang="zh-TW" altLang="en-US" dirty="0"/>
          </a:p>
        </p:txBody>
      </p:sp>
      <p:grpSp>
        <p:nvGrpSpPr>
          <p:cNvPr id="37" name="群組 36">
            <a:extLst>
              <a:ext uri="{FF2B5EF4-FFF2-40B4-BE49-F238E27FC236}">
                <a16:creationId xmlns:a16="http://schemas.microsoft.com/office/drawing/2014/main" id="{AD71FA00-73CF-96E2-DB9D-29D266518612}"/>
              </a:ext>
            </a:extLst>
          </p:cNvPr>
          <p:cNvGrpSpPr/>
          <p:nvPr/>
        </p:nvGrpSpPr>
        <p:grpSpPr>
          <a:xfrm>
            <a:off x="4484767" y="4781802"/>
            <a:ext cx="396274" cy="465099"/>
            <a:chOff x="283951" y="1194723"/>
            <a:chExt cx="487696" cy="626385"/>
          </a:xfrm>
          <a:effectLst>
            <a:glow rad="76200">
              <a:schemeClr val="accent1">
                <a:lumMod val="20000"/>
                <a:lumOff val="80000"/>
                <a:alpha val="20000"/>
              </a:schemeClr>
            </a:glow>
          </a:effectLst>
        </p:grpSpPr>
        <p:sp>
          <p:nvSpPr>
            <p:cNvPr id="38" name="文字方塊 37">
              <a:extLst>
                <a:ext uri="{FF2B5EF4-FFF2-40B4-BE49-F238E27FC236}">
                  <a16:creationId xmlns:a16="http://schemas.microsoft.com/office/drawing/2014/main" id="{DBE13760-C824-72A8-0F6C-52D418E9F327}"/>
                </a:ext>
              </a:extLst>
            </p:cNvPr>
            <p:cNvSpPr txBox="1"/>
            <p:nvPr/>
          </p:nvSpPr>
          <p:spPr>
            <a:xfrm>
              <a:off x="283951" y="1573740"/>
              <a:ext cx="487696" cy="247368"/>
            </a:xfrm>
            <a:prstGeom prst="rect">
              <a:avLst/>
            </a:prstGeom>
            <a:solidFill>
              <a:schemeClr val="bg1">
                <a:lumMod val="95000"/>
                <a:alpha val="40000"/>
              </a:schemeClr>
            </a:solidFill>
            <a:ln>
              <a:noFill/>
            </a:ln>
            <a:effectLst>
              <a:glow rad="25400">
                <a:schemeClr val="bg1">
                  <a:lumMod val="95000"/>
                  <a:alpha val="40000"/>
                </a:schemeClr>
              </a:glow>
              <a:softEdge rad="50800"/>
            </a:effectLst>
          </p:spPr>
          <p:txBody>
            <a:bodyPr wrap="none" lIns="0" tIns="0" rIns="0" bIns="0" anchor="ctr" anchorCtr="1">
              <a:noAutofit/>
            </a:bodyPr>
            <a:lstStyle/>
            <a:p>
              <a:r>
                <a:rPr lang="en-US" altLang="zh-TW" sz="1200" dirty="0">
                  <a:ln w="0"/>
                  <a:solidFill>
                    <a:schemeClr val="accent1">
                      <a:lumMod val="75000"/>
                    </a:schemeClr>
                  </a:solidFill>
                  <a:latin typeface="Calibri"/>
                  <a:ea typeface="新細明體" panose="02020500000000000000" pitchFamily="18" charset="-120"/>
                </a:rPr>
                <a:t>O</a:t>
              </a:r>
              <a:r>
                <a:rPr lang="en-US" altLang="zh-TW" sz="1200" dirty="0">
                  <a:ln w="0"/>
                  <a:solidFill>
                    <a:schemeClr val="tx1">
                      <a:lumMod val="95000"/>
                      <a:lumOff val="5000"/>
                    </a:schemeClr>
                  </a:solidFill>
                  <a:latin typeface="Calibri"/>
                  <a:ea typeface="新細明體" panose="02020500000000000000" pitchFamily="18" charset="-120"/>
                </a:rPr>
                <a:t>llama</a:t>
              </a:r>
            </a:p>
          </p:txBody>
        </p:sp>
        <p:pic>
          <p:nvPicPr>
            <p:cNvPr id="39" name="圖片 38">
              <a:extLst>
                <a:ext uri="{FF2B5EF4-FFF2-40B4-BE49-F238E27FC236}">
                  <a16:creationId xmlns:a16="http://schemas.microsoft.com/office/drawing/2014/main" id="{BDD586E3-E3B0-BBF3-6C2C-F304D5C0DCF3}"/>
                </a:ext>
              </a:extLst>
            </p:cNvPr>
            <p:cNvPicPr>
              <a:picLocks noChangeAspect="1"/>
            </p:cNvPicPr>
            <p:nvPr/>
          </p:nvPicPr>
          <p:blipFill>
            <a:blip r:embed="rId5"/>
            <a:stretch>
              <a:fillRect/>
            </a:stretch>
          </p:blipFill>
          <p:spPr>
            <a:xfrm>
              <a:off x="355960" y="1194723"/>
              <a:ext cx="337951" cy="390669"/>
            </a:xfrm>
            <a:prstGeom prst="rect">
              <a:avLst/>
            </a:prstGeom>
            <a:solidFill>
              <a:schemeClr val="bg1">
                <a:alpha val="20000"/>
              </a:schemeClr>
            </a:solidFill>
            <a:effectLst>
              <a:glow rad="76200">
                <a:schemeClr val="accent1">
                  <a:lumMod val="20000"/>
                  <a:lumOff val="80000"/>
                  <a:alpha val="40000"/>
                </a:schemeClr>
              </a:glow>
              <a:softEdge rad="25400"/>
            </a:effectLst>
          </p:spPr>
        </p:pic>
      </p:grpSp>
      <p:sp>
        <p:nvSpPr>
          <p:cNvPr id="61" name="文字方塊 60">
            <a:extLst>
              <a:ext uri="{FF2B5EF4-FFF2-40B4-BE49-F238E27FC236}">
                <a16:creationId xmlns:a16="http://schemas.microsoft.com/office/drawing/2014/main" id="{67F5AA83-B63F-1EB5-698E-7FFF4D222A30}"/>
              </a:ext>
            </a:extLst>
          </p:cNvPr>
          <p:cNvSpPr txBox="1"/>
          <p:nvPr/>
        </p:nvSpPr>
        <p:spPr>
          <a:xfrm>
            <a:off x="5010741" y="2981602"/>
            <a:ext cx="646161" cy="284703"/>
          </a:xfrm>
          <a:prstGeom prst="rect">
            <a:avLst/>
          </a:prstGeom>
          <a:noFill/>
        </p:spPr>
        <p:txBody>
          <a:bodyPr wrap="none" lIns="0" tIns="0" rIns="0" bIns="0" anchor="ctr" anchorCtr="1">
            <a:noAutofit/>
          </a:bodyPr>
          <a:lstStyle/>
          <a:p>
            <a:pPr algn="ctr">
              <a:lnSpc>
                <a:spcPts val="2000"/>
              </a:lnSpc>
              <a:buNone/>
            </a:pPr>
            <a:r>
              <a:rPr lang="en-US" altLang="zh-TW" sz="2000" b="1" u="none" strike="noStrike" dirty="0">
                <a:effectLst/>
              </a:rPr>
              <a:t>User</a:t>
            </a:r>
          </a:p>
        </p:txBody>
      </p:sp>
      <p:cxnSp>
        <p:nvCxnSpPr>
          <p:cNvPr id="62" name="直線單箭頭接點 61">
            <a:extLst>
              <a:ext uri="{FF2B5EF4-FFF2-40B4-BE49-F238E27FC236}">
                <a16:creationId xmlns:a16="http://schemas.microsoft.com/office/drawing/2014/main" id="{A496B558-57D1-8B0F-DD92-B32AFC3E6647}"/>
              </a:ext>
            </a:extLst>
          </p:cNvPr>
          <p:cNvCxnSpPr>
            <a:cxnSpLocks/>
            <a:stCxn id="61" idx="2"/>
            <a:endCxn id="4" idx="0"/>
          </p:cNvCxnSpPr>
          <p:nvPr/>
        </p:nvCxnSpPr>
        <p:spPr>
          <a:xfrm flipH="1">
            <a:off x="5330475" y="3266305"/>
            <a:ext cx="3347" cy="579393"/>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DA424801-F801-7754-6900-FA56043A9135}"/>
              </a:ext>
            </a:extLst>
          </p:cNvPr>
          <p:cNvCxnSpPr>
            <a:cxnSpLocks/>
            <a:stCxn id="4" idx="3"/>
            <a:endCxn id="122" idx="0"/>
          </p:cNvCxnSpPr>
          <p:nvPr/>
        </p:nvCxnSpPr>
        <p:spPr>
          <a:xfrm flipV="1">
            <a:off x="5546499" y="4061721"/>
            <a:ext cx="390288" cy="1"/>
          </a:xfrm>
          <a:prstGeom prst="straightConnector1">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2" name="箭號: 向下 121">
            <a:extLst>
              <a:ext uri="{FF2B5EF4-FFF2-40B4-BE49-F238E27FC236}">
                <a16:creationId xmlns:a16="http://schemas.microsoft.com/office/drawing/2014/main" id="{33B733D2-7161-33F4-79FD-E649F748C48C}"/>
              </a:ext>
            </a:extLst>
          </p:cNvPr>
          <p:cNvSpPr/>
          <p:nvPr/>
        </p:nvSpPr>
        <p:spPr>
          <a:xfrm rot="16200000">
            <a:off x="6003799" y="3831784"/>
            <a:ext cx="325849" cy="459874"/>
          </a:xfrm>
          <a:prstGeom prst="downArrow">
            <a:avLst>
              <a:gd name="adj1" fmla="val 62892"/>
              <a:gd name="adj2" fmla="val 52184"/>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72000" rIns="0" bIns="0" rtlCol="0" anchor="ctr" anchorCtr="1"/>
          <a:lstStyle/>
          <a:p>
            <a:pPr algn="ctr"/>
            <a:r>
              <a:rPr lang="en-US" altLang="zh-TW" sz="1200" b="1" dirty="0">
                <a:solidFill>
                  <a:schemeClr val="accent4">
                    <a:lumMod val="75000"/>
                  </a:schemeClr>
                </a:solidFill>
              </a:rPr>
              <a:t>MCP</a:t>
            </a:r>
            <a:endParaRPr lang="zh-TW" altLang="en-US" sz="1200" b="1" dirty="0">
              <a:solidFill>
                <a:schemeClr val="accent4">
                  <a:lumMod val="75000"/>
                </a:schemeClr>
              </a:solidFill>
            </a:endParaRPr>
          </a:p>
        </p:txBody>
      </p:sp>
      <p:cxnSp>
        <p:nvCxnSpPr>
          <p:cNvPr id="123" name="接點: 肘形 122">
            <a:extLst>
              <a:ext uri="{FF2B5EF4-FFF2-40B4-BE49-F238E27FC236}">
                <a16:creationId xmlns:a16="http://schemas.microsoft.com/office/drawing/2014/main" id="{86FF8C34-7087-86E9-F333-164B1E3A395E}"/>
              </a:ext>
            </a:extLst>
          </p:cNvPr>
          <p:cNvCxnSpPr>
            <a:cxnSpLocks/>
            <a:stCxn id="4" idx="2"/>
            <a:endCxn id="46" idx="3"/>
          </p:cNvCxnSpPr>
          <p:nvPr/>
        </p:nvCxnSpPr>
        <p:spPr>
          <a:xfrm rot="5400000">
            <a:off x="5011427" y="4380770"/>
            <a:ext cx="422073" cy="216024"/>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語音泡泡: 圓角矩形 11">
            <a:extLst>
              <a:ext uri="{FF2B5EF4-FFF2-40B4-BE49-F238E27FC236}">
                <a16:creationId xmlns:a16="http://schemas.microsoft.com/office/drawing/2014/main" id="{805C6CFD-1267-A5F6-F337-D02B15A18DC9}"/>
              </a:ext>
            </a:extLst>
          </p:cNvPr>
          <p:cNvSpPr/>
          <p:nvPr/>
        </p:nvSpPr>
        <p:spPr>
          <a:xfrm>
            <a:off x="5690515" y="2864864"/>
            <a:ext cx="1329757" cy="636144"/>
          </a:xfrm>
          <a:prstGeom prst="wedgeRoundRectCallout">
            <a:avLst>
              <a:gd name="adj1" fmla="val -68885"/>
              <a:gd name="adj2" fmla="val 585"/>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Dr. BioByte,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Please interpret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My </a:t>
            </a: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gut biopsy.</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15" name="語音泡泡: 圓角矩形 14">
            <a:extLst>
              <a:ext uri="{FF2B5EF4-FFF2-40B4-BE49-F238E27FC236}">
                <a16:creationId xmlns:a16="http://schemas.microsoft.com/office/drawing/2014/main" id="{7646EECD-3620-7195-6E62-42B29BED12D2}"/>
              </a:ext>
            </a:extLst>
          </p:cNvPr>
          <p:cNvSpPr/>
          <p:nvPr/>
        </p:nvSpPr>
        <p:spPr>
          <a:xfrm>
            <a:off x="3895382" y="3269634"/>
            <a:ext cx="1219070" cy="610905"/>
          </a:xfrm>
          <a:prstGeom prst="wedgeRoundRectCallout">
            <a:avLst>
              <a:gd name="adj1" fmla="val 59020"/>
              <a:gd name="adj2" fmla="val 57509"/>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Terrible, </a:t>
            </a:r>
            <a:b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b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Zero fast food.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Eat real grass.</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pic>
        <p:nvPicPr>
          <p:cNvPr id="8" name="圖片 7">
            <a:extLst>
              <a:ext uri="{FF2B5EF4-FFF2-40B4-BE49-F238E27FC236}">
                <a16:creationId xmlns:a16="http://schemas.microsoft.com/office/drawing/2014/main" id="{6BEE719D-AA9B-D04C-EC5E-E63F70E1E42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31514" y="4005064"/>
            <a:ext cx="432048" cy="432047"/>
          </a:xfrm>
          <a:prstGeom prst="rect">
            <a:avLst/>
          </a:prstGeom>
          <a:effectLst>
            <a:glow rad="76200">
              <a:srgbClr val="00B050">
                <a:alpha val="40000"/>
              </a:srgbClr>
            </a:glow>
          </a:effectLst>
        </p:spPr>
      </p:pic>
      <p:sp>
        <p:nvSpPr>
          <p:cNvPr id="114" name="文字方塊 113">
            <a:extLst>
              <a:ext uri="{FF2B5EF4-FFF2-40B4-BE49-F238E27FC236}">
                <a16:creationId xmlns:a16="http://schemas.microsoft.com/office/drawing/2014/main" id="{A157AB89-C11C-9FF7-93B3-94697A292BC9}"/>
              </a:ext>
            </a:extLst>
          </p:cNvPr>
          <p:cNvSpPr txBox="1"/>
          <p:nvPr/>
        </p:nvSpPr>
        <p:spPr>
          <a:xfrm>
            <a:off x="2843808" y="4477776"/>
            <a:ext cx="432048" cy="247368"/>
          </a:xfrm>
          <a:prstGeom prst="rect">
            <a:avLst/>
          </a:prstGeom>
          <a:solidFill>
            <a:schemeClr val="bg1">
              <a:lumMod val="95000"/>
              <a:alpha val="40000"/>
            </a:schemeClr>
          </a:solidFill>
          <a:ln>
            <a:noFill/>
          </a:ln>
          <a:effectLst/>
        </p:spPr>
        <p:txBody>
          <a:bodyPr wrap="none" lIns="0" tIns="0" rIns="0" bIns="0" anchor="ctr" anchorCtr="1">
            <a:noAutofit/>
          </a:bodyPr>
          <a:lstStyle/>
          <a:p>
            <a:r>
              <a:rPr lang="en-US" altLang="zh-TW" sz="1200" dirty="0">
                <a:ln w="0"/>
                <a:latin typeface="Calibri"/>
                <a:ea typeface="新細明體" panose="02020500000000000000" pitchFamily="18" charset="-120"/>
              </a:rPr>
              <a:t>Unsloth</a:t>
            </a:r>
            <a:endParaRPr lang="en-US" altLang="zh-TW" sz="1200" dirty="0">
              <a:ln w="0"/>
              <a:solidFill>
                <a:schemeClr val="tx1">
                  <a:lumMod val="95000"/>
                  <a:lumOff val="5000"/>
                </a:schemeClr>
              </a:solidFill>
              <a:latin typeface="Calibri"/>
              <a:ea typeface="新細明體" panose="02020500000000000000" pitchFamily="18" charset="-120"/>
            </a:endParaRPr>
          </a:p>
        </p:txBody>
      </p:sp>
      <p:pic>
        <p:nvPicPr>
          <p:cNvPr id="7" name="圖片 6">
            <a:extLst>
              <a:ext uri="{FF2B5EF4-FFF2-40B4-BE49-F238E27FC236}">
                <a16:creationId xmlns:a16="http://schemas.microsoft.com/office/drawing/2014/main" id="{65702545-0EF5-72BF-9149-DBDB7D6270A6}"/>
              </a:ext>
            </a:extLst>
          </p:cNvPr>
          <p:cNvPicPr>
            <a:picLocks noChangeAspect="1"/>
          </p:cNvPicPr>
          <p:nvPr/>
        </p:nvPicPr>
        <p:blipFill>
          <a:blip r:embed="rId7"/>
          <a:stretch>
            <a:fillRect/>
          </a:stretch>
        </p:blipFill>
        <p:spPr>
          <a:xfrm>
            <a:off x="2402102" y="4811708"/>
            <a:ext cx="411308" cy="386908"/>
          </a:xfrm>
          <a:prstGeom prst="rect">
            <a:avLst/>
          </a:prstGeom>
          <a:effectLst>
            <a:glow rad="76200">
              <a:schemeClr val="accent6">
                <a:lumMod val="20000"/>
                <a:lumOff val="80000"/>
              </a:schemeClr>
            </a:glow>
            <a:softEdge rad="50800"/>
          </a:effectLst>
        </p:spPr>
      </p:pic>
    </p:spTree>
    <p:extLst>
      <p:ext uri="{BB962C8B-B14F-4D97-AF65-F5344CB8AC3E}">
        <p14:creationId xmlns:p14="http://schemas.microsoft.com/office/powerpoint/2010/main" val="12455514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2FA1-D71C-1571-5DF7-FBBBA4385E46}"/>
            </a:ext>
          </a:extLst>
        </p:cNvPr>
        <p:cNvGrpSpPr/>
        <p:nvPr/>
      </p:nvGrpSpPr>
      <p:grpSpPr>
        <a:xfrm>
          <a:off x="0" y="0"/>
          <a:ext cx="0" cy="0"/>
          <a:chOff x="0" y="0"/>
          <a:chExt cx="0" cy="0"/>
        </a:xfrm>
      </p:grpSpPr>
      <p:sp>
        <p:nvSpPr>
          <p:cNvPr id="6" name="文字方塊 5">
            <a:extLst>
              <a:ext uri="{FF2B5EF4-FFF2-40B4-BE49-F238E27FC236}">
                <a16:creationId xmlns:a16="http://schemas.microsoft.com/office/drawing/2014/main" id="{18753B56-4876-526F-D548-E446B615A4E6}"/>
              </a:ext>
            </a:extLst>
          </p:cNvPr>
          <p:cNvSpPr txBox="1"/>
          <p:nvPr/>
        </p:nvSpPr>
        <p:spPr>
          <a:xfrm>
            <a:off x="179512" y="1196752"/>
            <a:ext cx="4824536" cy="4267058"/>
          </a:xfrm>
          <a:prstGeom prst="rect">
            <a:avLst/>
          </a:prstGeom>
          <a:solidFill>
            <a:srgbClr val="EAEAEA"/>
          </a:solidFill>
        </p:spPr>
        <p:txBody>
          <a:bodyPr wrap="none">
            <a:noAutofit/>
          </a:bodyPr>
          <a:lstStyle/>
          <a:p>
            <a:pPr marL="0" marR="0" rtl="0">
              <a:lnSpc>
                <a:spcPts val="1200"/>
              </a:lnSpc>
              <a:buNone/>
            </a:pP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torch</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unsloth</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FastLanguageModel</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transformers</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TrainingArguments</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trl</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SFTTrainer</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1. </a:t>
            </a:r>
            <a:r>
              <a:rPr lang="en-US" altLang="zh-TW" sz="1000" b="0" i="1" u="none" strike="noStrike" dirty="0">
                <a:solidFill>
                  <a:schemeClr val="bg1">
                    <a:lumMod val="50000"/>
                  </a:schemeClr>
                </a:solidFill>
                <a:effectLst/>
                <a:latin typeface="Consolas" panose="020B0609020204030204" pitchFamily="49" charset="0"/>
              </a:rPr>
              <a:t>Load Initialized</a:t>
            </a:r>
            <a:r>
              <a:rPr lang="zh-TW" altLang="zh-TW" sz="1000" b="0" i="1" u="none" strike="noStrike" dirty="0">
                <a:solidFill>
                  <a:schemeClr val="bg1">
                    <a:lumMod val="50000"/>
                  </a:schemeClr>
                </a:solidFill>
                <a:effectLst/>
                <a:latin typeface="Consolas" panose="020B0609020204030204" pitchFamily="49" charset="0"/>
              </a:rPr>
              <a:t> </a:t>
            </a:r>
            <a:r>
              <a:rPr lang="en-US" altLang="zh-TW" sz="1000" b="0" i="1" u="none" strike="noStrike" dirty="0">
                <a:solidFill>
                  <a:schemeClr val="bg1">
                    <a:lumMod val="50000"/>
                  </a:schemeClr>
                </a:solidFill>
                <a:effectLst/>
                <a:latin typeface="Consolas" panose="020B0609020204030204" pitchFamily="49" charset="0"/>
              </a:rPr>
              <a:t>Model and</a:t>
            </a:r>
            <a:r>
              <a:rPr lang="zh-TW" altLang="zh-TW" sz="1000" b="0" i="1" u="none" strike="noStrike" dirty="0">
                <a:solidFill>
                  <a:schemeClr val="bg1">
                    <a:lumMod val="50000"/>
                  </a:schemeClr>
                </a:solidFill>
                <a:effectLst/>
                <a:latin typeface="Consolas" panose="020B0609020204030204" pitchFamily="49" charset="0"/>
              </a:rPr>
              <a:t> Tokenizer</a:t>
            </a: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a:t>
            </a:r>
            <a:r>
              <a:rPr lang="zh-TW" altLang="zh-TW" sz="1000" b="0" u="none" strike="noStrike" dirty="0">
                <a:solidFill>
                  <a:schemeClr val="accent6">
                    <a:lumMod val="50000"/>
                  </a:schemeClr>
                </a:solidFill>
                <a:effectLst/>
                <a:latin typeface="Consolas" panose="020B0609020204030204" pitchFamily="49" charset="0"/>
              </a:rPr>
              <a:t>ax_seq_length</a:t>
            </a:r>
            <a:r>
              <a:rPr lang="zh-TW" altLang="zh-TW" sz="1000" b="0" u="none" strike="noStrike" dirty="0">
                <a:effectLst/>
                <a:latin typeface="Consolas" panose="020B0609020204030204" pitchFamily="49" charset="0"/>
              </a:rPr>
              <a:t> = </a:t>
            </a:r>
            <a:r>
              <a:rPr lang="zh-TW" altLang="zh-TW" sz="1000" b="0" u="none" strike="noStrike" dirty="0">
                <a:solidFill>
                  <a:schemeClr val="accent6">
                    <a:lumMod val="50000"/>
                  </a:schemeClr>
                </a:solidFill>
                <a:effectLst/>
                <a:latin typeface="Consolas" panose="020B0609020204030204" pitchFamily="49" charset="0"/>
              </a:rPr>
              <a:t>2048</a:t>
            </a:r>
            <a:r>
              <a:rPr lang="zh-TW" altLang="zh-TW" sz="1000" b="0" u="none" strike="noStrike" dirty="0">
                <a:effectLst/>
                <a:latin typeface="Consolas" panose="020B0609020204030204" pitchFamily="49" charset="0"/>
              </a:rPr>
              <a:t>  # Context </a:t>
            </a:r>
            <a:r>
              <a:rPr lang="en-US" altLang="zh-TW" sz="1000" b="0" u="none" strike="noStrike" dirty="0">
                <a:effectLst/>
                <a:latin typeface="Consolas" panose="020B0609020204030204" pitchFamily="49" charset="0"/>
              </a:rPr>
              <a:t>Length</a:t>
            </a:r>
            <a:endParaRPr lang="zh-TW" altLang="zh-TW" sz="1000" b="0" u="none" strike="noStrike" dirty="0">
              <a:effectLst/>
              <a:latin typeface="Consolas" panose="020B0609020204030204" pitchFamily="49" charset="0"/>
            </a:endParaRP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model</a:t>
            </a:r>
            <a:r>
              <a:rPr lang="en-US"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tokenizer</a:t>
            </a:r>
            <a:r>
              <a:rPr lang="zh-TW" altLang="zh-TW" sz="1000" b="0" u="none" strike="noStrike" dirty="0">
                <a:effectLst/>
                <a:latin typeface="Consolas" panose="020B0609020204030204" pitchFamily="49" charset="0"/>
              </a:rPr>
              <a:t> = FastLanguageModel.from_pretrained(</a:t>
            </a:r>
          </a:p>
          <a:p>
            <a:pPr marL="0" marR="0" rtl="0">
              <a:lnSpc>
                <a:spcPts val="1200"/>
              </a:lnSpc>
              <a:buNone/>
            </a:pPr>
            <a:r>
              <a:rPr lang="zh-TW" altLang="zh-TW" sz="1000" b="0" u="none" strike="noStrike" dirty="0">
                <a:effectLst/>
                <a:latin typeface="Consolas" panose="020B0609020204030204" pitchFamily="49" charset="0"/>
              </a:rPr>
              <a:t>    model_name=</a:t>
            </a:r>
            <a:r>
              <a:rPr lang="zh-TW" altLang="zh-TW" sz="1000" b="0" u="none" strike="noStrike" dirty="0">
                <a:solidFill>
                  <a:srgbClr val="008000"/>
                </a:solidFill>
                <a:effectLst/>
                <a:latin typeface="Consolas" panose="020B0609020204030204" pitchFamily="49" charset="0"/>
              </a:rPr>
              <a:t>"unsloth/gemma-2-9b-it"</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Init</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load_in_4bit=</a:t>
            </a:r>
            <a:r>
              <a:rPr lang="zh-TW" altLang="zh-TW" sz="1000" b="0" u="none" strike="noStrike" dirty="0">
                <a:solidFill>
                  <a:srgbClr val="7030A0"/>
                </a:solidFill>
                <a:effectLst/>
                <a:latin typeface="Consolas" panose="020B0609020204030204" pitchFamily="49" charset="0"/>
              </a:rPr>
              <a:t>True</a:t>
            </a:r>
            <a:r>
              <a:rPr lang="zh-TW" altLang="zh-TW" sz="1000" b="0" u="none" strike="noStrike" dirty="0">
                <a:effectLst/>
                <a:latin typeface="Consolas" panose="020B0609020204030204" pitchFamily="49" charset="0"/>
              </a:rPr>
              <a:t>,                   # 4-bit</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2. </a:t>
            </a:r>
            <a:r>
              <a:rPr lang="en-US" altLang="zh-TW" sz="1000" b="0" i="1" u="none" strike="noStrike" dirty="0">
                <a:solidFill>
                  <a:schemeClr val="bg1">
                    <a:lumMod val="50000"/>
                  </a:schemeClr>
                </a:solidFill>
                <a:effectLst/>
                <a:latin typeface="Consolas" panose="020B0609020204030204" pitchFamily="49" charset="0"/>
              </a:rPr>
              <a:t>Setup</a:t>
            </a:r>
            <a:r>
              <a:rPr lang="zh-TW" altLang="zh-TW" sz="1000" b="0" i="1" u="none" strike="noStrike" dirty="0">
                <a:solidFill>
                  <a:schemeClr val="bg1">
                    <a:lumMod val="50000"/>
                  </a:schemeClr>
                </a:solidFill>
                <a:effectLst/>
                <a:latin typeface="Consolas" panose="020B0609020204030204" pitchFamily="49" charset="0"/>
              </a:rPr>
              <a:t> Unsloth PEFT(QLoRA) </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model</a:t>
            </a:r>
            <a:r>
              <a:rPr lang="zh-TW" altLang="zh-TW" sz="1000" b="0" u="none" strike="noStrike" dirty="0">
                <a:effectLst/>
                <a:latin typeface="Consolas" panose="020B0609020204030204" pitchFamily="49" charset="0"/>
              </a:rPr>
              <a:t> = FastLanguageModel.get_peft_model(</a:t>
            </a:r>
          </a:p>
          <a:p>
            <a:pPr marL="0" marR="0" rtl="0">
              <a:lnSpc>
                <a:spcPts val="1200"/>
              </a:lnSpc>
              <a:buNone/>
            </a:pPr>
            <a:r>
              <a:rPr lang="zh-TW" altLang="zh-TW" sz="1000" b="0" u="none" strike="noStrike" dirty="0">
                <a:effectLst/>
                <a:latin typeface="Consolas" panose="020B0609020204030204" pitchFamily="49" charset="0"/>
              </a:rPr>
              <a:t>    model,</a:t>
            </a:r>
          </a:p>
          <a:p>
            <a:pPr marL="0" marR="0" rtl="0">
              <a:lnSpc>
                <a:spcPts val="1200"/>
              </a:lnSpc>
              <a:buNone/>
            </a:pPr>
            <a:r>
              <a:rPr lang="zh-TW" altLang="zh-TW" sz="1000" b="0" u="none" strike="noStrike" dirty="0">
                <a:effectLst/>
                <a:latin typeface="Consolas" panose="020B0609020204030204" pitchFamily="49" charset="0"/>
              </a:rPr>
              <a:t>    r=</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lora_alpha=</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target_modules=[</a:t>
            </a:r>
            <a:r>
              <a:rPr lang="zh-TW" altLang="zh-TW" sz="1000" b="0" u="none" strike="noStrike" dirty="0">
                <a:solidFill>
                  <a:srgbClr val="008000"/>
                </a:solidFill>
                <a:effectLst/>
                <a:latin typeface="Consolas" panose="020B0609020204030204" pitchFamily="49" charset="0"/>
              </a:rPr>
              <a:t>"q_proj"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"k_proj"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"v_proj"</a:t>
            </a:r>
            <a:r>
              <a:rPr lang="zh-TW" altLang="zh-TW" sz="1000" b="0" u="none" strike="noStrike" dirty="0">
                <a:effectLst/>
                <a:latin typeface="Consolas" panose="020B0609020204030204" pitchFamily="49" charset="0"/>
              </a:rPr>
              <a:t>, </a:t>
            </a:r>
            <a:br>
              <a:rPr lang="en-US" altLang="zh-TW" sz="1000" b="0" u="none" strike="noStrike" dirty="0">
                <a:effectLst/>
                <a:latin typeface="Consolas" panose="020B0609020204030204" pitchFamily="49" charset="0"/>
              </a:rPr>
            </a:br>
            <a:r>
              <a:rPr lang="en-US"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"o_proj"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"gate_proj"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"up_proj"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"down_proj"</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lora_dropout=</a:t>
            </a:r>
            <a:r>
              <a:rPr lang="zh-TW" altLang="zh-TW" sz="1000" b="0" u="none" strike="noStrike" dirty="0">
                <a:solidFill>
                  <a:schemeClr val="accent6">
                    <a:lumMod val="50000"/>
                  </a:schemeClr>
                </a:solidFill>
                <a:effectLst/>
                <a:latin typeface="Consolas" panose="020B0609020204030204" pitchFamily="49" charset="0"/>
              </a:rPr>
              <a:t>0</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Best performance</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bias=</a:t>
            </a:r>
            <a:r>
              <a:rPr lang="zh-TW" altLang="zh-TW" sz="1000" b="0" u="none" strike="noStrike" dirty="0">
                <a:solidFill>
                  <a:srgbClr val="008000"/>
                </a:solidFill>
                <a:effectLst/>
                <a:latin typeface="Consolas" panose="020B0609020204030204" pitchFamily="49" charset="0"/>
              </a:rPr>
              <a:t>"none"</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use_gradient_checkpointing=</a:t>
            </a:r>
            <a:r>
              <a:rPr lang="zh-TW" altLang="zh-TW" sz="1000" b="0" u="none" strike="noStrike" dirty="0">
                <a:solidFill>
                  <a:srgbClr val="008000"/>
                </a:solidFill>
                <a:effectLst/>
                <a:latin typeface="Consolas" panose="020B0609020204030204" pitchFamily="49" charset="0"/>
              </a:rPr>
              <a:t>"unsloth"</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Ultra-low </a:t>
            </a:r>
            <a:r>
              <a:rPr lang="zh-TW" altLang="zh-TW" sz="1000" b="0" u="none" strike="noStrike" dirty="0">
                <a:effectLst/>
                <a:latin typeface="Consolas" panose="020B0609020204030204" pitchFamily="49" charset="0"/>
              </a:rPr>
              <a:t>VRAM</a:t>
            </a:r>
          </a:p>
          <a:p>
            <a:pPr marL="0" marR="0" rtl="0">
              <a:lnSpc>
                <a:spcPts val="1200"/>
              </a:lnSpc>
              <a:buNone/>
            </a:pPr>
            <a:r>
              <a:rPr lang="zh-TW" altLang="zh-TW" sz="1000" b="0" u="none" strike="noStrike" dirty="0">
                <a:effectLst/>
                <a:latin typeface="Consolas" panose="020B0609020204030204" pitchFamily="49" charset="0"/>
              </a:rPr>
              <a:t>    random_state=</a:t>
            </a:r>
            <a:r>
              <a:rPr lang="zh-TW" altLang="zh-TW" sz="1000" b="0" u="none" strike="noStrike" dirty="0">
                <a:solidFill>
                  <a:schemeClr val="accent6">
                    <a:lumMod val="50000"/>
                  </a:schemeClr>
                </a:solidFill>
                <a:effectLst/>
                <a:latin typeface="Consolas" panose="020B0609020204030204" pitchFamily="49" charset="0"/>
              </a:rPr>
              <a:t>3407</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a:t>
            </a:r>
          </a:p>
          <a:p>
            <a:pPr>
              <a:lnSpc>
                <a:spcPts val="1200"/>
              </a:lnSpc>
            </a:pPr>
            <a:endParaRPr lang="zh-TW" altLang="en-US" sz="1000" dirty="0">
              <a:latin typeface="Consolas" panose="020B0609020204030204" pitchFamily="49" charset="0"/>
            </a:endParaRPr>
          </a:p>
        </p:txBody>
      </p:sp>
      <p:sp>
        <p:nvSpPr>
          <p:cNvPr id="11" name="文字方塊 10">
            <a:extLst>
              <a:ext uri="{FF2B5EF4-FFF2-40B4-BE49-F238E27FC236}">
                <a16:creationId xmlns:a16="http://schemas.microsoft.com/office/drawing/2014/main" id="{18F3D1BD-FEA1-1267-FF02-F5C2BD90F822}"/>
              </a:ext>
            </a:extLst>
          </p:cNvPr>
          <p:cNvSpPr txBox="1"/>
          <p:nvPr/>
        </p:nvSpPr>
        <p:spPr>
          <a:xfrm>
            <a:off x="5076056" y="1196752"/>
            <a:ext cx="3288080" cy="4267058"/>
          </a:xfrm>
          <a:prstGeom prst="rect">
            <a:avLst/>
          </a:prstGeom>
          <a:solidFill>
            <a:srgbClr val="EAEAEA"/>
          </a:solidFill>
        </p:spPr>
        <p:txBody>
          <a:bodyPr wrap="none">
            <a:noAutofit/>
          </a:bodyPr>
          <a:lstStyle/>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3. </a:t>
            </a:r>
            <a:r>
              <a:rPr lang="en-US" altLang="zh-TW" sz="1000" b="0" i="1" u="none" strike="noStrike" dirty="0">
                <a:solidFill>
                  <a:schemeClr val="bg1">
                    <a:lumMod val="50000"/>
                  </a:schemeClr>
                </a:solidFill>
                <a:effectLst/>
                <a:latin typeface="Consolas" panose="020B0609020204030204" pitchFamily="49" charset="0"/>
              </a:rPr>
              <a:t>Setup Unsloth Optimizer</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training_args</a:t>
            </a:r>
            <a:r>
              <a:rPr lang="zh-TW" altLang="zh-TW" sz="1000" b="0" u="none" strike="noStrike" dirty="0">
                <a:effectLst/>
                <a:latin typeface="Consolas" panose="020B0609020204030204" pitchFamily="49" charset="0"/>
              </a:rPr>
              <a:t> = TrainingArguments(</a:t>
            </a:r>
          </a:p>
          <a:p>
            <a:pPr marL="0" marR="0" rtl="0">
              <a:lnSpc>
                <a:spcPts val="1200"/>
              </a:lnSpc>
              <a:buNone/>
            </a:pPr>
            <a:r>
              <a:rPr lang="zh-TW" altLang="zh-TW" sz="1000" b="0" u="none" strike="noStrike" dirty="0">
                <a:effectLst/>
                <a:latin typeface="Consolas" panose="020B0609020204030204" pitchFamily="49" charset="0"/>
              </a:rPr>
              <a:t>    output_dir=</a:t>
            </a:r>
            <a:r>
              <a:rPr lang="zh-TW" altLang="zh-TW" sz="1000" b="0" u="none" strike="noStrike" dirty="0">
                <a:solidFill>
                  <a:srgbClr val="008000"/>
                </a:solidFill>
                <a:effectLst/>
                <a:latin typeface="Consolas" panose="020B0609020204030204" pitchFamily="49" charset="0"/>
              </a:rPr>
              <a:t>"./gemma-unsloth-output"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per_device_train_batch_size=</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gradient_accumulation_steps=</a:t>
            </a:r>
            <a:r>
              <a:rPr lang="zh-TW" altLang="zh-TW" sz="1000" b="0" u="none" strike="noStrike" dirty="0">
                <a:solidFill>
                  <a:schemeClr val="accent6">
                    <a:lumMod val="50000"/>
                  </a:schemeClr>
                </a:solidFill>
                <a:effectLst/>
                <a:latin typeface="Consolas" panose="020B0609020204030204" pitchFamily="49" charset="0"/>
              </a:rPr>
              <a:t>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warmup_steps=</a:t>
            </a:r>
            <a:r>
              <a:rPr lang="zh-TW" altLang="zh-TW" sz="1000" b="0" u="none" strike="noStrike" dirty="0">
                <a:solidFill>
                  <a:schemeClr val="accent6">
                    <a:lumMod val="50000"/>
                  </a:schemeClr>
                </a:solidFill>
                <a:effectLst/>
                <a:latin typeface="Consolas" panose="020B0609020204030204" pitchFamily="49" charset="0"/>
              </a:rPr>
              <a:t>5</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max_steps=</a:t>
            </a:r>
            <a:r>
              <a:rPr lang="zh-TW" altLang="zh-TW" sz="1000" b="0" u="none" strike="noStrike" dirty="0">
                <a:solidFill>
                  <a:schemeClr val="accent6">
                    <a:lumMod val="50000"/>
                  </a:schemeClr>
                </a:solidFill>
                <a:effectLst/>
                <a:latin typeface="Consolas" panose="020B0609020204030204" pitchFamily="49" charset="0"/>
              </a:rPr>
              <a:t>60</a:t>
            </a:r>
            <a:r>
              <a:rPr lang="zh-TW" altLang="zh-TW" sz="1000" b="0" u="none" strike="noStrike" dirty="0">
                <a:effectLst/>
                <a:latin typeface="Consolas" panose="020B0609020204030204" pitchFamily="49" charset="0"/>
              </a:rPr>
              <a:t>,</a:t>
            </a:r>
            <a:r>
              <a:rPr lang="en-US" altLang="zh-TW" sz="1000" dirty="0">
                <a:latin typeface="Consolas" panose="020B0609020204030204" pitchFamily="49" charset="0"/>
              </a:rPr>
              <a:t>	</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learning_rate=</a:t>
            </a:r>
            <a:r>
              <a:rPr lang="zh-TW" altLang="zh-TW" sz="1000" b="0" u="none" strike="noStrike" dirty="0">
                <a:solidFill>
                  <a:schemeClr val="accent6">
                    <a:lumMod val="50000"/>
                  </a:schemeClr>
                </a:solidFill>
                <a:effectLst/>
                <a:latin typeface="Consolas" panose="020B0609020204030204" pitchFamily="49" charset="0"/>
              </a:rPr>
              <a:t>2e-4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fp16=</a:t>
            </a:r>
            <a:r>
              <a:rPr lang="zh-TW" altLang="zh-TW" sz="1000" b="0" u="none" strike="noStrike" dirty="0">
                <a:solidFill>
                  <a:srgbClr val="7030A0"/>
                </a:solidFill>
                <a:effectLst/>
                <a:latin typeface="Consolas" panose="020B0609020204030204" pitchFamily="49" charset="0"/>
              </a:rPr>
              <a:t>not</a:t>
            </a:r>
            <a:r>
              <a:rPr lang="zh-TW" altLang="zh-TW" sz="1000" b="0" u="none" strike="noStrike" dirty="0">
                <a:effectLst/>
                <a:latin typeface="Consolas" panose="020B0609020204030204" pitchFamily="49" charset="0"/>
              </a:rPr>
              <a:t> torch.cuda.is_bf16_supported(),</a:t>
            </a:r>
          </a:p>
          <a:p>
            <a:pPr marL="0" marR="0" rtl="0">
              <a:lnSpc>
                <a:spcPts val="1200"/>
              </a:lnSpc>
              <a:buNone/>
            </a:pPr>
            <a:r>
              <a:rPr lang="zh-TW" altLang="zh-TW" sz="1000" b="0" u="none" strike="noStrike" dirty="0">
                <a:effectLst/>
                <a:latin typeface="Consolas" panose="020B0609020204030204" pitchFamily="49" charset="0"/>
              </a:rPr>
              <a:t>    bf16=torch.cuda.is_bf16_supported(),</a:t>
            </a:r>
          </a:p>
          <a:p>
            <a:pPr marL="0" marR="0" rtl="0">
              <a:lnSpc>
                <a:spcPts val="1200"/>
              </a:lnSpc>
              <a:buNone/>
            </a:pPr>
            <a:r>
              <a:rPr lang="zh-TW" altLang="zh-TW" sz="1000" b="0" u="none" strike="noStrike" dirty="0">
                <a:effectLst/>
                <a:latin typeface="Consolas" panose="020B0609020204030204" pitchFamily="49" charset="0"/>
              </a:rPr>
              <a:t>    logging_steps=</a:t>
            </a:r>
            <a:r>
              <a:rPr lang="zh-TW" altLang="zh-TW" sz="1000" b="0" u="none" strike="noStrike" dirty="0">
                <a:solidFill>
                  <a:schemeClr val="accent6">
                    <a:lumMod val="50000"/>
                  </a:schemeClr>
                </a:solidFill>
                <a:effectLst/>
                <a:latin typeface="Consolas" panose="020B0609020204030204" pitchFamily="49" charset="0"/>
              </a:rPr>
              <a:t>1</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optim=</a:t>
            </a:r>
            <a:r>
              <a:rPr lang="zh-TW" altLang="zh-TW" sz="1000" b="0" u="none" strike="noStrike" dirty="0">
                <a:solidFill>
                  <a:srgbClr val="008000"/>
                </a:solidFill>
                <a:effectLst/>
                <a:latin typeface="Consolas" panose="020B0609020204030204" pitchFamily="49" charset="0"/>
              </a:rPr>
              <a:t>"adamw_8bit"</a:t>
            </a:r>
            <a:r>
              <a:rPr lang="zh-TW" altLang="zh-TW" sz="1000" b="0" u="none" strike="noStrike" dirty="0">
                <a:effectLst/>
                <a:latin typeface="Consolas" panose="020B0609020204030204" pitchFamily="49" charset="0"/>
              </a:rPr>
              <a:t>, </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4. </a:t>
            </a:r>
            <a:r>
              <a:rPr lang="en-US" altLang="zh-TW" sz="1000" b="0" i="1" u="none" strike="noStrike" dirty="0">
                <a:solidFill>
                  <a:schemeClr val="bg1">
                    <a:lumMod val="50000"/>
                  </a:schemeClr>
                </a:solidFill>
                <a:effectLst/>
                <a:latin typeface="Consolas" panose="020B0609020204030204" pitchFamily="49" charset="0"/>
              </a:rPr>
              <a:t>Start Training</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a:t>
            </a:r>
            <a:r>
              <a:rPr lang="zh-TW" altLang="zh-TW" sz="1000" b="0" u="none" strike="noStrike" dirty="0">
                <a:effectLst/>
                <a:latin typeface="Consolas" panose="020B0609020204030204" pitchFamily="49" charset="0"/>
              </a:rPr>
              <a:t> = SFTTrainer(</a:t>
            </a:r>
          </a:p>
          <a:p>
            <a:pPr marL="0" marR="0" rtl="0">
              <a:lnSpc>
                <a:spcPts val="1200"/>
              </a:lnSpc>
              <a:buNone/>
            </a:pPr>
            <a:r>
              <a:rPr lang="zh-TW" altLang="zh-TW" sz="1000" b="0" u="none" strike="noStrike" dirty="0">
                <a:effectLst/>
                <a:latin typeface="Consolas" panose="020B0609020204030204" pitchFamily="49" charset="0"/>
              </a:rPr>
              <a:t>    model=model,</a:t>
            </a:r>
          </a:p>
          <a:p>
            <a:pPr marL="0" marR="0" rtl="0">
              <a:lnSpc>
                <a:spcPts val="1200"/>
              </a:lnSpc>
              <a:buNone/>
            </a:pPr>
            <a:r>
              <a:rPr lang="zh-TW" altLang="zh-TW" sz="1000" b="0" u="none" strike="noStrike" dirty="0">
                <a:effectLst/>
                <a:latin typeface="Consolas" panose="020B0609020204030204" pitchFamily="49" charset="0"/>
              </a:rPr>
              <a:t>    tokenizer=tokenizer,</a:t>
            </a:r>
          </a:p>
          <a:p>
            <a:pPr marL="0" marR="0" rtl="0">
              <a:lnSpc>
                <a:spcPts val="1200"/>
              </a:lnSpc>
              <a:buNone/>
            </a:pPr>
            <a:r>
              <a:rPr lang="zh-TW" altLang="zh-TW" sz="1000" b="0" u="none" strike="noStrike" dirty="0">
                <a:effectLst/>
                <a:latin typeface="Consolas" panose="020B0609020204030204" pitchFamily="49" charset="0"/>
              </a:rPr>
              <a:t>    train_dataset=dataset,</a:t>
            </a:r>
            <a:r>
              <a:rPr lang="en-US" altLang="zh-TW" sz="1000" b="0" u="none" strike="noStrike" dirty="0">
                <a:effectLst/>
                <a:latin typeface="Consolas" panose="020B0609020204030204" pitchFamily="49" charset="0"/>
              </a:rPr>
              <a:t> </a:t>
            </a:r>
            <a:r>
              <a:rPr lang="zh-TW" altLang="zh-TW" sz="1000" b="0" u="none" strike="noStrike" dirty="0">
                <a:solidFill>
                  <a:schemeClr val="bg1">
                    <a:lumMod val="50000"/>
                  </a:schemeClr>
                </a:solidFill>
                <a:effectLst/>
                <a:latin typeface="Consolas" panose="020B0609020204030204" pitchFamily="49" charset="0"/>
              </a:rPr>
              <a:t>#</a:t>
            </a:r>
            <a:r>
              <a:rPr lang="en-US" altLang="zh-TW" sz="1000" b="0" u="none" strike="noStrike" dirty="0">
                <a:solidFill>
                  <a:schemeClr val="bg1">
                    <a:lumMod val="50000"/>
                  </a:schemeClr>
                </a:solidFill>
                <a:effectLst/>
                <a:latin typeface="Consolas" panose="020B0609020204030204" pitchFamily="49" charset="0"/>
              </a:rPr>
              <a:t> Aligned Data!!</a:t>
            </a:r>
            <a:endParaRPr lang="zh-TW" altLang="zh-TW" sz="1000" b="0"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dataset_text_field=</a:t>
            </a:r>
            <a:r>
              <a:rPr lang="zh-TW" altLang="zh-TW" sz="1000" b="0" u="none" strike="noStrike" dirty="0">
                <a:solidFill>
                  <a:srgbClr val="008000"/>
                </a:solidFill>
                <a:effectLst/>
                <a:latin typeface="Consolas" panose="020B0609020204030204" pitchFamily="49" charset="0"/>
              </a:rPr>
              <a:t>"text"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dataset_num_proc=</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args=training_args,</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trainer_stats</a:t>
            </a:r>
            <a:r>
              <a:rPr lang="zh-TW" altLang="zh-TW" sz="1000" b="0" u="none" strike="noStrike" dirty="0">
                <a:effectLst/>
                <a:latin typeface="Consolas" panose="020B0609020204030204" pitchFamily="49" charset="0"/>
              </a:rPr>
              <a:t> = trainer.train()</a:t>
            </a:r>
          </a:p>
        </p:txBody>
      </p:sp>
      <p:sp>
        <p:nvSpPr>
          <p:cNvPr id="19" name="文字方塊 18">
            <a:extLst>
              <a:ext uri="{FF2B5EF4-FFF2-40B4-BE49-F238E27FC236}">
                <a16:creationId xmlns:a16="http://schemas.microsoft.com/office/drawing/2014/main" id="{23593BEC-05A3-F409-07AD-D3589DE96DAB}"/>
              </a:ext>
            </a:extLst>
          </p:cNvPr>
          <p:cNvSpPr txBox="1"/>
          <p:nvPr/>
        </p:nvSpPr>
        <p:spPr>
          <a:xfrm>
            <a:off x="179512" y="5877272"/>
            <a:ext cx="8184624" cy="440429"/>
          </a:xfrm>
          <a:prstGeom prst="rect">
            <a:avLst/>
          </a:prstGeom>
          <a:solidFill>
            <a:srgbClr val="EAEAEA"/>
          </a:solidFill>
        </p:spPr>
        <p:txBody>
          <a:bodyPr wrap="none">
            <a:noAutofit/>
          </a:bodyPr>
          <a:lstStyle/>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a:t>
            </a:r>
            <a:r>
              <a:rPr lang="en-US" altLang="zh-TW" sz="1000" i="1" dirty="0">
                <a:solidFill>
                  <a:schemeClr val="bg1">
                    <a:lumMod val="50000"/>
                  </a:schemeClr>
                </a:solidFill>
                <a:latin typeface="Consolas" panose="020B0609020204030204" pitchFamily="49" charset="0"/>
              </a:rPr>
              <a:t>Save</a:t>
            </a:r>
            <a:r>
              <a:rPr lang="en-US" altLang="zh-TW" sz="1000" b="0" i="1" u="none" strike="noStrike" dirty="0">
                <a:solidFill>
                  <a:schemeClr val="bg1">
                    <a:lumMod val="50000"/>
                  </a:schemeClr>
                </a:solidFill>
                <a:effectLst/>
                <a:latin typeface="Consolas" panose="020B0609020204030204" pitchFamily="49" charset="0"/>
              </a:rPr>
              <a:t> tuned weights into compressed Ollama GGUF format</a:t>
            </a:r>
            <a:r>
              <a:rPr lang="zh-TW" altLang="zh-TW" sz="1000" b="0" i="1" u="none" strike="noStrike" dirty="0">
                <a:solidFill>
                  <a:schemeClr val="bg1">
                    <a:lumMod val="50000"/>
                  </a:schemeClr>
                </a:solidFill>
                <a:effectLst/>
                <a:latin typeface="Consolas" panose="020B0609020204030204" pitchFamily="49" charset="0"/>
              </a:rPr>
              <a:t> </a:t>
            </a:r>
          </a:p>
          <a:p>
            <a:pPr>
              <a:lnSpc>
                <a:spcPts val="1200"/>
              </a:lnSpc>
            </a:pPr>
            <a:r>
              <a:rPr lang="en-US" altLang="zh-TW" sz="1000" dirty="0">
                <a:latin typeface="Consolas" panose="020B0609020204030204" pitchFamily="49" charset="0"/>
              </a:rPr>
              <a:t>model.save_pretrained_gguf(</a:t>
            </a:r>
            <a:r>
              <a:rPr lang="en-US" altLang="zh-TW" sz="1000" b="0" u="none" strike="noStrike" dirty="0">
                <a:solidFill>
                  <a:srgbClr val="008000"/>
                </a:solidFill>
                <a:effectLst/>
                <a:latin typeface="Consolas" panose="020B0609020204030204" pitchFamily="49" charset="0"/>
              </a:rPr>
              <a:t>"my_gemma_model"</a:t>
            </a:r>
            <a:r>
              <a:rPr lang="en-US" altLang="zh-TW" sz="1000" b="0" u="none" strike="noStrike" dirty="0">
                <a:effectLst/>
                <a:latin typeface="Consolas" panose="020B0609020204030204" pitchFamily="49" charset="0"/>
              </a:rPr>
              <a:t>, tokenizer, quantization_method=</a:t>
            </a:r>
            <a:r>
              <a:rPr lang="en-US" altLang="zh-TW" sz="1000" b="0" u="none" strike="noStrike" dirty="0">
                <a:solidFill>
                  <a:srgbClr val="008000"/>
                </a:solidFill>
                <a:effectLst/>
                <a:latin typeface="Consolas" panose="020B0609020204030204" pitchFamily="49" charset="0"/>
              </a:rPr>
              <a:t>"q4_k_m"</a:t>
            </a:r>
            <a:r>
              <a:rPr lang="en-US" altLang="zh-TW" sz="1000" b="0" u="none" strike="noStrike" dirty="0">
                <a:effectLst/>
                <a:latin typeface="Consolas" panose="020B0609020204030204" pitchFamily="49" charset="0"/>
              </a:rPr>
              <a:t>)</a:t>
            </a:r>
            <a:endParaRPr lang="zh-TW" altLang="en-US" sz="1000" dirty="0">
              <a:latin typeface="Consolas" panose="020B0609020204030204" pitchFamily="49" charset="0"/>
            </a:endParaRPr>
          </a:p>
        </p:txBody>
      </p:sp>
      <p:sp>
        <p:nvSpPr>
          <p:cNvPr id="21" name="文字方塊 20">
            <a:extLst>
              <a:ext uri="{FF2B5EF4-FFF2-40B4-BE49-F238E27FC236}">
                <a16:creationId xmlns:a16="http://schemas.microsoft.com/office/drawing/2014/main" id="{0F9639B6-9ABE-ADFD-AEF2-698F1687076E}"/>
              </a:ext>
            </a:extLst>
          </p:cNvPr>
          <p:cNvSpPr txBox="1"/>
          <p:nvPr/>
        </p:nvSpPr>
        <p:spPr>
          <a:xfrm>
            <a:off x="179512" y="5661248"/>
            <a:ext cx="2304256" cy="247312"/>
          </a:xfrm>
          <a:prstGeom prst="rect">
            <a:avLst/>
          </a:prstGeom>
          <a:noFill/>
        </p:spPr>
        <p:txBody>
          <a:bodyPr wrap="square">
            <a:spAutoFit/>
          </a:bodyPr>
          <a:lstStyle/>
          <a:p>
            <a:pPr marL="0" marR="0">
              <a:lnSpc>
                <a:spcPts val="1200"/>
              </a:lnSpc>
              <a:buNone/>
            </a:pPr>
            <a:r>
              <a:rPr lang="en-US" altLang="zh-TW" sz="1200" b="1" u="none" strike="noStrike" dirty="0">
                <a:effectLst/>
                <a:latin typeface="Consolas" panose="020B0609020204030204" pitchFamily="49" charset="0"/>
              </a:rPr>
              <a:t>Exporting GGUF</a:t>
            </a:r>
            <a:endParaRPr lang="zh-TW" altLang="zh-TW" sz="1200" b="1" u="none" strike="noStrike" dirty="0">
              <a:effectLst/>
              <a:latin typeface="Consolas" panose="020B0609020204030204" pitchFamily="49" charset="0"/>
            </a:endParaRPr>
          </a:p>
        </p:txBody>
      </p:sp>
      <p:pic>
        <p:nvPicPr>
          <p:cNvPr id="23" name="圖片 22">
            <a:extLst>
              <a:ext uri="{FF2B5EF4-FFF2-40B4-BE49-F238E27FC236}">
                <a16:creationId xmlns:a16="http://schemas.microsoft.com/office/drawing/2014/main" id="{7DE70DD2-16BF-ECEA-19B3-80072208A0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3848" y="134693"/>
            <a:ext cx="576064" cy="576063"/>
          </a:xfrm>
          <a:prstGeom prst="rect">
            <a:avLst/>
          </a:prstGeom>
          <a:effectLst>
            <a:glow rad="76200">
              <a:srgbClr val="00B050">
                <a:alpha val="40000"/>
              </a:srgbClr>
            </a:glow>
          </a:effectLst>
        </p:spPr>
      </p:pic>
      <p:sp>
        <p:nvSpPr>
          <p:cNvPr id="4" name="標題 1">
            <a:extLst>
              <a:ext uri="{FF2B5EF4-FFF2-40B4-BE49-F238E27FC236}">
                <a16:creationId xmlns:a16="http://schemas.microsoft.com/office/drawing/2014/main" id="{8D3514BD-B7B4-ADB3-173D-B32B3B7287E0}"/>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Practice: Unsloth</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2319526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874E382E-8463-3FA5-C6AE-276888641807}"/>
              </a:ext>
            </a:extLst>
          </p:cNvPr>
          <p:cNvPicPr>
            <a:picLocks noChangeAspect="1"/>
          </p:cNvPicPr>
          <p:nvPr/>
        </p:nvPicPr>
        <p:blipFill>
          <a:blip r:embed="rId2"/>
          <a:stretch>
            <a:fillRect/>
          </a:stretch>
        </p:blipFill>
        <p:spPr>
          <a:xfrm>
            <a:off x="782056" y="1526047"/>
            <a:ext cx="4770416" cy="4408106"/>
          </a:xfrm>
          <a:prstGeom prst="rect">
            <a:avLst/>
          </a:prstGeom>
          <a:ln>
            <a:noFill/>
          </a:ln>
          <a:effectLst>
            <a:outerShdw blurRad="292100" dist="139700" dir="2700000" algn="tl" rotWithShape="0">
              <a:srgbClr val="333333">
                <a:alpha val="65000"/>
              </a:srgbClr>
            </a:outerShdw>
          </a:effectLst>
        </p:spPr>
      </p:pic>
      <p:pic>
        <p:nvPicPr>
          <p:cNvPr id="9" name="圖片 8">
            <a:extLst>
              <a:ext uri="{FF2B5EF4-FFF2-40B4-BE49-F238E27FC236}">
                <a16:creationId xmlns:a16="http://schemas.microsoft.com/office/drawing/2014/main" id="{F90169FB-75A6-2D94-5957-D0CCC6555136}"/>
              </a:ext>
            </a:extLst>
          </p:cNvPr>
          <p:cNvPicPr>
            <a:picLocks noChangeAspect="1"/>
          </p:cNvPicPr>
          <p:nvPr/>
        </p:nvPicPr>
        <p:blipFill>
          <a:blip r:embed="rId3"/>
          <a:stretch>
            <a:fillRect/>
          </a:stretch>
        </p:blipFill>
        <p:spPr>
          <a:xfrm>
            <a:off x="5628113" y="3123411"/>
            <a:ext cx="3379206" cy="1334437"/>
          </a:xfrm>
          <a:prstGeom prst="rect">
            <a:avLst/>
          </a:prstGeom>
          <a:ln>
            <a:noFill/>
          </a:ln>
          <a:effectLst>
            <a:outerShdw blurRad="292100" dist="139700" dir="2700000" algn="tl" rotWithShape="0">
              <a:srgbClr val="333333">
                <a:alpha val="65000"/>
              </a:srgbClr>
            </a:outerShdw>
          </a:effectLst>
        </p:spPr>
      </p:pic>
      <p:sp>
        <p:nvSpPr>
          <p:cNvPr id="4" name="矩形 3">
            <a:extLst>
              <a:ext uri="{FF2B5EF4-FFF2-40B4-BE49-F238E27FC236}">
                <a16:creationId xmlns:a16="http://schemas.microsoft.com/office/drawing/2014/main" id="{3C007AF6-603A-629B-A06B-2CD59422F789}"/>
              </a:ext>
            </a:extLst>
          </p:cNvPr>
          <p:cNvSpPr/>
          <p:nvPr/>
        </p:nvSpPr>
        <p:spPr>
          <a:xfrm>
            <a:off x="1093866" y="2299698"/>
            <a:ext cx="2811213"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6" name="矩形 5">
            <a:extLst>
              <a:ext uri="{FF2B5EF4-FFF2-40B4-BE49-F238E27FC236}">
                <a16:creationId xmlns:a16="http://schemas.microsoft.com/office/drawing/2014/main" id="{78C7F387-EE91-5D4B-E5AC-0E1E77536445}"/>
              </a:ext>
            </a:extLst>
          </p:cNvPr>
          <p:cNvSpPr/>
          <p:nvPr/>
        </p:nvSpPr>
        <p:spPr>
          <a:xfrm>
            <a:off x="1091173" y="1980201"/>
            <a:ext cx="4461299"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0" name="接點: 肘形 9">
            <a:extLst>
              <a:ext uri="{FF2B5EF4-FFF2-40B4-BE49-F238E27FC236}">
                <a16:creationId xmlns:a16="http://schemas.microsoft.com/office/drawing/2014/main" id="{6754D68A-EB7F-2542-2C66-96A76E5D917E}"/>
              </a:ext>
            </a:extLst>
          </p:cNvPr>
          <p:cNvCxnSpPr>
            <a:cxnSpLocks/>
            <a:stCxn id="6" idx="1"/>
            <a:endCxn id="15" idx="1"/>
          </p:cNvCxnSpPr>
          <p:nvPr/>
        </p:nvCxnSpPr>
        <p:spPr>
          <a:xfrm rot="10800000" flipV="1">
            <a:off x="858692" y="2121895"/>
            <a:ext cx="232483" cy="2835586"/>
          </a:xfrm>
          <a:prstGeom prst="bentConnector3">
            <a:avLst>
              <a:gd name="adj1" fmla="val 173747"/>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5" name="矩形 14">
            <a:extLst>
              <a:ext uri="{FF2B5EF4-FFF2-40B4-BE49-F238E27FC236}">
                <a16:creationId xmlns:a16="http://schemas.microsoft.com/office/drawing/2014/main" id="{B4154CAD-822E-9E5F-F445-E88460BEDF4E}"/>
              </a:ext>
            </a:extLst>
          </p:cNvPr>
          <p:cNvSpPr/>
          <p:nvPr/>
        </p:nvSpPr>
        <p:spPr>
          <a:xfrm>
            <a:off x="858691" y="3980809"/>
            <a:ext cx="4610420" cy="1953344"/>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2" name="矩形 21">
            <a:extLst>
              <a:ext uri="{FF2B5EF4-FFF2-40B4-BE49-F238E27FC236}">
                <a16:creationId xmlns:a16="http://schemas.microsoft.com/office/drawing/2014/main" id="{61F2C084-1F28-FEEC-1632-B2048A615545}"/>
              </a:ext>
            </a:extLst>
          </p:cNvPr>
          <p:cNvSpPr/>
          <p:nvPr/>
        </p:nvSpPr>
        <p:spPr>
          <a:xfrm>
            <a:off x="1166817" y="3247351"/>
            <a:ext cx="3905836" cy="40241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4" name="矩形 23">
            <a:extLst>
              <a:ext uri="{FF2B5EF4-FFF2-40B4-BE49-F238E27FC236}">
                <a16:creationId xmlns:a16="http://schemas.microsoft.com/office/drawing/2014/main" id="{7378C543-AF30-55F2-D518-30A35928F329}"/>
              </a:ext>
            </a:extLst>
          </p:cNvPr>
          <p:cNvSpPr/>
          <p:nvPr/>
        </p:nvSpPr>
        <p:spPr>
          <a:xfrm>
            <a:off x="5824057" y="3623554"/>
            <a:ext cx="3183263" cy="521282"/>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5" name="文字方塊 24">
            <a:extLst>
              <a:ext uri="{FF2B5EF4-FFF2-40B4-BE49-F238E27FC236}">
                <a16:creationId xmlns:a16="http://schemas.microsoft.com/office/drawing/2014/main" id="{F3FF24D6-C98B-AED6-E8B3-C355AE7C4946}"/>
              </a:ext>
            </a:extLst>
          </p:cNvPr>
          <p:cNvSpPr txBox="1"/>
          <p:nvPr/>
        </p:nvSpPr>
        <p:spPr>
          <a:xfrm>
            <a:off x="247843" y="1316969"/>
            <a:ext cx="5270995"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1.</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傳出使用者的問話（</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）包含工具的資訊給大模型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57EC669B-7AE9-2B92-0DD9-2197E6373F03}"/>
              </a:ext>
            </a:extLst>
          </p:cNvPr>
          <p:cNvSpPr txBox="1"/>
          <p:nvPr/>
        </p:nvSpPr>
        <p:spPr>
          <a:xfrm>
            <a:off x="321382" y="906789"/>
            <a:ext cx="2565126" cy="230832"/>
          </a:xfrm>
          <a:prstGeom prst="rect">
            <a:avLst/>
          </a:prstGeom>
          <a:noFill/>
        </p:spPr>
        <p:txBody>
          <a:bodyPr wrap="none" rtlCol="0">
            <a:spAutoFit/>
          </a:bodyPr>
          <a:lstStyle/>
          <a:p>
            <a:r>
              <a:rPr lang="en-US" altLang="zh-CN" sz="900" dirty="0">
                <a:solidFill>
                  <a:schemeClr val="accent1"/>
                </a:solidFill>
                <a:latin typeface="微軟正黑體" panose="020B0604030504040204" pitchFamily="34" charset="-120"/>
                <a:ea typeface="微軟正黑體" panose="020B0604030504040204" pitchFamily="34" charset="-120"/>
              </a:rPr>
              <a:t>AI Agent</a:t>
            </a:r>
            <a:r>
              <a:rPr lang="zh-CN" altLang="en-US" sz="900" dirty="0">
                <a:solidFill>
                  <a:schemeClr val="accent1"/>
                </a:solidFill>
                <a:latin typeface="微軟正黑體" panose="020B0604030504040204" pitchFamily="34" charset="-120"/>
                <a:ea typeface="微軟正黑體" panose="020B0604030504040204" pitchFamily="34" charset="-120"/>
              </a:rPr>
              <a:t>如何操作工具（</a:t>
            </a:r>
            <a:r>
              <a:rPr lang="en-US" altLang="zh-CN" sz="900" dirty="0">
                <a:solidFill>
                  <a:schemeClr val="accent1"/>
                </a:solidFill>
                <a:latin typeface="微軟正黑體" panose="020B0604030504040204" pitchFamily="34" charset="-120"/>
                <a:ea typeface="微軟正黑體" panose="020B0604030504040204" pitchFamily="34" charset="-120"/>
              </a:rPr>
              <a:t>openclaw</a:t>
            </a:r>
            <a:r>
              <a:rPr lang="zh-CN" altLang="en-US" sz="900" dirty="0">
                <a:solidFill>
                  <a:schemeClr val="accent1"/>
                </a:solidFill>
                <a:latin typeface="微軟正黑體" panose="020B0604030504040204" pitchFamily="34" charset="-120"/>
                <a:ea typeface="微軟正黑體" panose="020B0604030504040204" pitchFamily="34" charset="-120"/>
              </a:rPr>
              <a:t>具體實例）</a:t>
            </a:r>
            <a:endParaRPr lang="zh-TW" altLang="en-US" sz="900" dirty="0">
              <a:solidFill>
                <a:schemeClr val="accent1"/>
              </a:solidFill>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C5473FF9-5F65-496C-3E4D-6739B7ACC249}"/>
              </a:ext>
            </a:extLst>
          </p:cNvPr>
          <p:cNvSpPr txBox="1"/>
          <p:nvPr/>
        </p:nvSpPr>
        <p:spPr>
          <a:xfrm>
            <a:off x="2945361" y="4263294"/>
            <a:ext cx="1627369" cy="207749"/>
          </a:xfrm>
          <a:prstGeom prst="rect">
            <a:avLst/>
          </a:prstGeom>
          <a:noFill/>
          <a:ln>
            <a:noFill/>
          </a:ln>
        </p:spPr>
        <p:txBody>
          <a:bodyPr wrap="none" rtlCol="0">
            <a:spAutoFit/>
          </a:bodyPr>
          <a:lstStyle/>
          <a:p>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系統提示詞中也有工具的使用提示</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3" name="矩形 32">
            <a:extLst>
              <a:ext uri="{FF2B5EF4-FFF2-40B4-BE49-F238E27FC236}">
                <a16:creationId xmlns:a16="http://schemas.microsoft.com/office/drawing/2014/main" id="{F241F81F-5AC4-0B8A-5FA4-F469FCBDE7ED}"/>
              </a:ext>
            </a:extLst>
          </p:cNvPr>
          <p:cNvSpPr/>
          <p:nvPr/>
        </p:nvSpPr>
        <p:spPr>
          <a:xfrm>
            <a:off x="929514" y="4450616"/>
            <a:ext cx="3865418" cy="10594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35" name="文字方塊 34">
            <a:extLst>
              <a:ext uri="{FF2B5EF4-FFF2-40B4-BE49-F238E27FC236}">
                <a16:creationId xmlns:a16="http://schemas.microsoft.com/office/drawing/2014/main" id="{0A6F5C07-5BDE-1968-4F1C-A6163A18180A}"/>
              </a:ext>
            </a:extLst>
          </p:cNvPr>
          <p:cNvSpPr txBox="1"/>
          <p:nvPr/>
        </p:nvSpPr>
        <p:spPr>
          <a:xfrm>
            <a:off x="2814048" y="3325125"/>
            <a:ext cx="1106393"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有工具的使用説明</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419F0917-D6D2-0663-28D0-87F98AF03E1A}"/>
              </a:ext>
            </a:extLst>
          </p:cNvPr>
          <p:cNvSpPr txBox="1"/>
          <p:nvPr/>
        </p:nvSpPr>
        <p:spPr>
          <a:xfrm>
            <a:off x="5809130" y="1789052"/>
            <a:ext cx="3049233"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2.</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收到大模型要求執行工具調用，本地執行這個工具指令</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pic>
        <p:nvPicPr>
          <p:cNvPr id="40" name="圖片 39">
            <a:extLst>
              <a:ext uri="{FF2B5EF4-FFF2-40B4-BE49-F238E27FC236}">
                <a16:creationId xmlns:a16="http://schemas.microsoft.com/office/drawing/2014/main" id="{C99635CC-FB5F-D773-BB77-E2A84660D4D1}"/>
              </a:ext>
            </a:extLst>
          </p:cNvPr>
          <p:cNvPicPr>
            <a:picLocks noChangeAspect="1"/>
          </p:cNvPicPr>
          <p:nvPr/>
        </p:nvPicPr>
        <p:blipFill>
          <a:blip r:embed="rId4"/>
          <a:stretch>
            <a:fillRect/>
          </a:stretch>
        </p:blipFill>
        <p:spPr>
          <a:xfrm>
            <a:off x="3058272" y="934820"/>
            <a:ext cx="2014380" cy="358957"/>
          </a:xfrm>
          <a:prstGeom prst="rect">
            <a:avLst/>
          </a:prstGeom>
          <a:ln>
            <a:noFill/>
          </a:ln>
          <a:effectLst>
            <a:outerShdw blurRad="292100" dist="139700" dir="2700000" algn="tl" rotWithShape="0">
              <a:srgbClr val="333333">
                <a:alpha val="65000"/>
              </a:srgbClr>
            </a:outerShdw>
          </a:effectLst>
        </p:spPr>
      </p:pic>
      <p:pic>
        <p:nvPicPr>
          <p:cNvPr id="45" name="圖片 44">
            <a:extLst>
              <a:ext uri="{FF2B5EF4-FFF2-40B4-BE49-F238E27FC236}">
                <a16:creationId xmlns:a16="http://schemas.microsoft.com/office/drawing/2014/main" id="{5E224571-6F7C-786B-B247-433971A9BD44}"/>
              </a:ext>
            </a:extLst>
          </p:cNvPr>
          <p:cNvPicPr>
            <a:picLocks noChangeAspect="1"/>
          </p:cNvPicPr>
          <p:nvPr/>
        </p:nvPicPr>
        <p:blipFill>
          <a:blip r:embed="rId5"/>
          <a:stretch>
            <a:fillRect/>
          </a:stretch>
        </p:blipFill>
        <p:spPr>
          <a:xfrm>
            <a:off x="5613186" y="2121895"/>
            <a:ext cx="3488703" cy="876422"/>
          </a:xfrm>
          <a:prstGeom prst="rect">
            <a:avLst/>
          </a:prstGeom>
          <a:ln>
            <a:noFill/>
          </a:ln>
          <a:effectLst>
            <a:outerShdw blurRad="292100" dist="139700" dir="2700000" algn="tl" rotWithShape="0">
              <a:srgbClr val="333333">
                <a:alpha val="65000"/>
              </a:srgbClr>
            </a:outerShdw>
          </a:effectLst>
        </p:spPr>
      </p:pic>
      <p:sp>
        <p:nvSpPr>
          <p:cNvPr id="48" name="文字方塊 47">
            <a:extLst>
              <a:ext uri="{FF2B5EF4-FFF2-40B4-BE49-F238E27FC236}">
                <a16:creationId xmlns:a16="http://schemas.microsoft.com/office/drawing/2014/main" id="{D323B715-0111-E94B-9337-93E4D794CF1E}"/>
              </a:ext>
            </a:extLst>
          </p:cNvPr>
          <p:cNvSpPr txBox="1"/>
          <p:nvPr/>
        </p:nvSpPr>
        <p:spPr>
          <a:xfrm>
            <a:off x="3862664" y="2356299"/>
            <a:ext cx="744114"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662F09A1-E287-B0DF-2A9D-D0B4BD7C336A}"/>
              </a:ext>
            </a:extLst>
          </p:cNvPr>
          <p:cNvSpPr txBox="1"/>
          <p:nvPr/>
        </p:nvSpPr>
        <p:spPr>
          <a:xfrm>
            <a:off x="3446766" y="1794207"/>
            <a:ext cx="867545" cy="207749"/>
          </a:xfrm>
          <a:prstGeom prst="rect">
            <a:avLst/>
          </a:prstGeom>
          <a:noFill/>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05241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856B6AA2-2CF4-DEEE-F773-18D1F3B9B267}"/>
              </a:ext>
            </a:extLst>
          </p:cNvPr>
          <p:cNvPicPr>
            <a:picLocks noChangeAspect="1"/>
          </p:cNvPicPr>
          <p:nvPr/>
        </p:nvPicPr>
        <p:blipFill>
          <a:blip r:embed="rId2"/>
          <a:stretch>
            <a:fillRect/>
          </a:stretch>
        </p:blipFill>
        <p:spPr>
          <a:xfrm>
            <a:off x="168393" y="2627209"/>
            <a:ext cx="4663905" cy="3181339"/>
          </a:xfrm>
          <a:prstGeom prst="rect">
            <a:avLst/>
          </a:prstGeom>
          <a:ln>
            <a:noFill/>
          </a:ln>
          <a:effectLst>
            <a:outerShdw blurRad="292100" dist="139700" dir="2700000" algn="tl" rotWithShape="0">
              <a:srgbClr val="333333">
                <a:alpha val="65000"/>
              </a:srgbClr>
            </a:outerShdw>
          </a:effectLst>
        </p:spPr>
      </p:pic>
      <p:pic>
        <p:nvPicPr>
          <p:cNvPr id="6" name="圖片 5">
            <a:extLst>
              <a:ext uri="{FF2B5EF4-FFF2-40B4-BE49-F238E27FC236}">
                <a16:creationId xmlns:a16="http://schemas.microsoft.com/office/drawing/2014/main" id="{C39014E0-7321-A89C-6FF8-1E27C5ABD1C9}"/>
              </a:ext>
            </a:extLst>
          </p:cNvPr>
          <p:cNvPicPr>
            <a:picLocks noChangeAspect="1"/>
          </p:cNvPicPr>
          <p:nvPr/>
        </p:nvPicPr>
        <p:blipFill>
          <a:blip r:embed="rId3"/>
          <a:stretch>
            <a:fillRect/>
          </a:stretch>
        </p:blipFill>
        <p:spPr>
          <a:xfrm>
            <a:off x="5080707" y="3429001"/>
            <a:ext cx="3894900" cy="615203"/>
          </a:xfrm>
          <a:prstGeom prst="rect">
            <a:avLst/>
          </a:prstGeom>
          <a:ln>
            <a:noFill/>
          </a:ln>
          <a:effectLst>
            <a:outerShdw blurRad="292100" dist="139700" dir="2700000" algn="tl" rotWithShape="0">
              <a:srgbClr val="333333">
                <a:alpha val="65000"/>
              </a:srgbClr>
            </a:outerShdw>
          </a:effectLst>
        </p:spPr>
      </p:pic>
      <p:sp>
        <p:nvSpPr>
          <p:cNvPr id="10" name="文字方塊 9">
            <a:extLst>
              <a:ext uri="{FF2B5EF4-FFF2-40B4-BE49-F238E27FC236}">
                <a16:creationId xmlns:a16="http://schemas.microsoft.com/office/drawing/2014/main" id="{14DD395C-3F44-7ADF-58F1-CEF8AC2ECA22}"/>
              </a:ext>
            </a:extLst>
          </p:cNvPr>
          <p:cNvSpPr txBox="1"/>
          <p:nvPr/>
        </p:nvSpPr>
        <p:spPr>
          <a:xfrm>
            <a:off x="391945" y="1011600"/>
            <a:ext cx="2507418"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3.</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傳出歷史記錄</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工具執行的結果給大模型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51B4FDFE-4508-79C3-B679-B1C07E9802C0}"/>
              </a:ext>
            </a:extLst>
          </p:cNvPr>
          <p:cNvSpPr/>
          <p:nvPr/>
        </p:nvSpPr>
        <p:spPr>
          <a:xfrm>
            <a:off x="368475" y="4090928"/>
            <a:ext cx="4514483" cy="16712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18" name="矩形 17">
            <a:extLst>
              <a:ext uri="{FF2B5EF4-FFF2-40B4-BE49-F238E27FC236}">
                <a16:creationId xmlns:a16="http://schemas.microsoft.com/office/drawing/2014/main" id="{72ED081B-26E6-2AE6-20BF-EE441A86696D}"/>
              </a:ext>
            </a:extLst>
          </p:cNvPr>
          <p:cNvSpPr/>
          <p:nvPr/>
        </p:nvSpPr>
        <p:spPr>
          <a:xfrm>
            <a:off x="368475" y="4712751"/>
            <a:ext cx="1901738" cy="1176241"/>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9" name="接點: 肘形 18">
            <a:extLst>
              <a:ext uri="{FF2B5EF4-FFF2-40B4-BE49-F238E27FC236}">
                <a16:creationId xmlns:a16="http://schemas.microsoft.com/office/drawing/2014/main" id="{9819C47E-C4F2-31B0-EC48-456E95AB83F6}"/>
              </a:ext>
            </a:extLst>
          </p:cNvPr>
          <p:cNvCxnSpPr>
            <a:cxnSpLocks/>
            <a:stCxn id="12" idx="1"/>
            <a:endCxn id="18" idx="1"/>
          </p:cNvCxnSpPr>
          <p:nvPr/>
        </p:nvCxnSpPr>
        <p:spPr>
          <a:xfrm rot="10800000" flipV="1">
            <a:off x="368474" y="4174492"/>
            <a:ext cx="9525" cy="1126379"/>
          </a:xfrm>
          <a:prstGeom prst="bentConnector3">
            <a:avLst>
              <a:gd name="adj1" fmla="val 180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3" name="文字方塊 22">
            <a:extLst>
              <a:ext uri="{FF2B5EF4-FFF2-40B4-BE49-F238E27FC236}">
                <a16:creationId xmlns:a16="http://schemas.microsoft.com/office/drawing/2014/main" id="{CF7B9993-F344-4E09-33FE-02603F8D4814}"/>
              </a:ext>
            </a:extLst>
          </p:cNvPr>
          <p:cNvSpPr txBox="1"/>
          <p:nvPr/>
        </p:nvSpPr>
        <p:spPr>
          <a:xfrm>
            <a:off x="5454386" y="1392913"/>
            <a:ext cx="1433406"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4.</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收到大模型最後的回答</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7" name="矩形 26">
            <a:extLst>
              <a:ext uri="{FF2B5EF4-FFF2-40B4-BE49-F238E27FC236}">
                <a16:creationId xmlns:a16="http://schemas.microsoft.com/office/drawing/2014/main" id="{693D411A-A3F0-8EA7-33DA-7D7C47F26E44}"/>
              </a:ext>
            </a:extLst>
          </p:cNvPr>
          <p:cNvSpPr/>
          <p:nvPr/>
        </p:nvSpPr>
        <p:spPr>
          <a:xfrm>
            <a:off x="5306845" y="3774343"/>
            <a:ext cx="3758393" cy="1718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pic>
        <p:nvPicPr>
          <p:cNvPr id="31" name="圖片 30">
            <a:extLst>
              <a:ext uri="{FF2B5EF4-FFF2-40B4-BE49-F238E27FC236}">
                <a16:creationId xmlns:a16="http://schemas.microsoft.com/office/drawing/2014/main" id="{DDB4C16D-8CD8-AF4E-9E8D-79BAC4650F83}"/>
              </a:ext>
            </a:extLst>
          </p:cNvPr>
          <p:cNvPicPr>
            <a:picLocks noChangeAspect="1"/>
          </p:cNvPicPr>
          <p:nvPr/>
        </p:nvPicPr>
        <p:blipFill>
          <a:blip r:embed="rId4"/>
          <a:stretch>
            <a:fillRect/>
          </a:stretch>
        </p:blipFill>
        <p:spPr>
          <a:xfrm>
            <a:off x="253573" y="1196537"/>
            <a:ext cx="2996696" cy="1350228"/>
          </a:xfrm>
          <a:prstGeom prst="rect">
            <a:avLst/>
          </a:prstGeom>
          <a:ln>
            <a:noFill/>
          </a:ln>
          <a:effectLst>
            <a:outerShdw blurRad="292100" dist="139700" dir="2700000" algn="tl" rotWithShape="0">
              <a:srgbClr val="333333">
                <a:alpha val="65000"/>
              </a:srgbClr>
            </a:outerShdw>
          </a:effectLst>
        </p:spPr>
      </p:pic>
      <p:pic>
        <p:nvPicPr>
          <p:cNvPr id="33" name="圖片 32">
            <a:extLst>
              <a:ext uri="{FF2B5EF4-FFF2-40B4-BE49-F238E27FC236}">
                <a16:creationId xmlns:a16="http://schemas.microsoft.com/office/drawing/2014/main" id="{CEF825C6-2C65-FED4-92C7-EAC8092EE9B4}"/>
              </a:ext>
            </a:extLst>
          </p:cNvPr>
          <p:cNvPicPr>
            <a:picLocks noChangeAspect="1"/>
          </p:cNvPicPr>
          <p:nvPr/>
        </p:nvPicPr>
        <p:blipFill>
          <a:blip r:embed="rId5"/>
          <a:stretch>
            <a:fillRect/>
          </a:stretch>
        </p:blipFill>
        <p:spPr>
          <a:xfrm>
            <a:off x="5127678" y="1705413"/>
            <a:ext cx="3553078" cy="15509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00906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7D88264F-8D27-8E9F-CBF6-F61243BD5B41}"/>
              </a:ext>
            </a:extLst>
          </p:cNvPr>
          <p:cNvSpPr/>
          <p:nvPr/>
        </p:nvSpPr>
        <p:spPr>
          <a:xfrm>
            <a:off x="5918111" y="1933659"/>
            <a:ext cx="2764248" cy="333300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solidFill>
                  <a:schemeClr val="bg1"/>
                </a:solidFill>
                <a:latin typeface="微軟正黑體 Light" panose="020B0304030504040204" pitchFamily="34" charset="-120"/>
                <a:ea typeface="微軟正黑體 Light" panose="020B0304030504040204" pitchFamily="34" charset="-120"/>
              </a:rPr>
              <a:t>Thought</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13" name="矩形 12">
            <a:extLst>
              <a:ext uri="{FF2B5EF4-FFF2-40B4-BE49-F238E27FC236}">
                <a16:creationId xmlns:a16="http://schemas.microsoft.com/office/drawing/2014/main" id="{E70AF1FB-ED05-70F0-4DB3-6127255BC839}"/>
              </a:ext>
            </a:extLst>
          </p:cNvPr>
          <p:cNvSpPr/>
          <p:nvPr/>
        </p:nvSpPr>
        <p:spPr>
          <a:xfrm>
            <a:off x="6228599" y="2908192"/>
            <a:ext cx="2138553" cy="2350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System Prompt </a:t>
            </a:r>
            <a:endParaRPr lang="zh-TW" altLang="en-US" sz="900" dirty="0">
              <a:latin typeface="微軟正黑體 Light" panose="020B0304030504040204" pitchFamily="34" charset="-120"/>
              <a:ea typeface="微軟正黑體 Light" panose="020B0304030504040204" pitchFamily="34" charset="-120"/>
            </a:endParaRPr>
          </a:p>
        </p:txBody>
      </p:sp>
      <p:sp>
        <p:nvSpPr>
          <p:cNvPr id="15" name="矩形 14">
            <a:extLst>
              <a:ext uri="{FF2B5EF4-FFF2-40B4-BE49-F238E27FC236}">
                <a16:creationId xmlns:a16="http://schemas.microsoft.com/office/drawing/2014/main" id="{C07BA97E-C56E-E7DA-9BCB-13829BFBAF71}"/>
              </a:ext>
            </a:extLst>
          </p:cNvPr>
          <p:cNvSpPr/>
          <p:nvPr/>
        </p:nvSpPr>
        <p:spPr>
          <a:xfrm>
            <a:off x="6228599" y="2354902"/>
            <a:ext cx="2138553" cy="45396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zh-TW" sz="900" dirty="0">
                <a:latin typeface="微軟正黑體 Light" panose="020B0304030504040204" pitchFamily="34" charset="-120"/>
                <a:ea typeface="微軟正黑體 Light" panose="020B0304030504040204" pitchFamily="34" charset="-120"/>
              </a:rPr>
              <a:t>User Prompt</a:t>
            </a:r>
            <a:endParaRPr lang="en-US" altLang="zh-TW" sz="900" dirty="0">
              <a:latin typeface="微軟正黑體 Light" panose="020B0304030504040204" pitchFamily="34" charset="-120"/>
              <a:ea typeface="微軟正黑體 Light" panose="020B0304030504040204" pitchFamily="34" charset="-120"/>
            </a:endParaRPr>
          </a:p>
          <a:p>
            <a:pPr algn="ctr"/>
            <a:r>
              <a:rPr lang="zh-CN" altLang="en-US" sz="900" dirty="0">
                <a:latin typeface="微軟正黑體 Light" panose="020B0304030504040204" pitchFamily="34" charset="-120"/>
                <a:ea typeface="微軟正黑體 Light" panose="020B0304030504040204" pitchFamily="34" charset="-120"/>
              </a:rPr>
              <a:t>問話、檔案、圖片、聲音、影片</a:t>
            </a:r>
            <a:endParaRPr lang="zh-TW" altLang="en-US" sz="900" dirty="0">
              <a:latin typeface="微軟正黑體 Light" panose="020B0304030504040204" pitchFamily="34" charset="-120"/>
              <a:ea typeface="微軟正黑體 Light" panose="020B0304030504040204" pitchFamily="34" charset="-120"/>
            </a:endParaRPr>
          </a:p>
        </p:txBody>
      </p:sp>
      <p:sp>
        <p:nvSpPr>
          <p:cNvPr id="19" name="矩形 18">
            <a:extLst>
              <a:ext uri="{FF2B5EF4-FFF2-40B4-BE49-F238E27FC236}">
                <a16:creationId xmlns:a16="http://schemas.microsoft.com/office/drawing/2014/main" id="{DEFB6727-F3BA-A57C-3144-6772B21B5D15}"/>
              </a:ext>
            </a:extLst>
          </p:cNvPr>
          <p:cNvSpPr/>
          <p:nvPr/>
        </p:nvSpPr>
        <p:spPr>
          <a:xfrm>
            <a:off x="6211295" y="4334356"/>
            <a:ext cx="2138553" cy="5569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dirty="0">
                <a:latin typeface="微軟正黑體 Light" panose="020B0304030504040204" pitchFamily="34" charset="-120"/>
                <a:ea typeface="微軟正黑體 Light" panose="020B0304030504040204" pitchFamily="34" charset="-120"/>
              </a:rPr>
              <a:t>Block Hashing</a:t>
            </a:r>
            <a:br>
              <a:rPr lang="en-US" altLang="zh-TW"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KV Cache</a:t>
            </a:r>
            <a:endParaRPr lang="zh-TW" altLang="en-US" sz="900" dirty="0">
              <a:latin typeface="微軟正黑體 Light" panose="020B0304030504040204" pitchFamily="34" charset="-120"/>
              <a:ea typeface="微軟正黑體 Light" panose="020B0304030504040204" pitchFamily="34" charset="-120"/>
            </a:endParaRPr>
          </a:p>
        </p:txBody>
      </p:sp>
      <p:sp>
        <p:nvSpPr>
          <p:cNvPr id="23" name="矩形 22">
            <a:extLst>
              <a:ext uri="{FF2B5EF4-FFF2-40B4-BE49-F238E27FC236}">
                <a16:creationId xmlns:a16="http://schemas.microsoft.com/office/drawing/2014/main" id="{E032344B-9D17-C577-54A3-35184C84F7A8}"/>
              </a:ext>
            </a:extLst>
          </p:cNvPr>
          <p:cNvSpPr/>
          <p:nvPr/>
        </p:nvSpPr>
        <p:spPr>
          <a:xfrm>
            <a:off x="6225468" y="3644907"/>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Prompt Templating</a:t>
            </a:r>
            <a:endParaRPr lang="zh-TW" altLang="en-US" sz="900" dirty="0">
              <a:latin typeface="微軟正黑體 Light" panose="020B0304030504040204" pitchFamily="34" charset="-120"/>
              <a:ea typeface="微軟正黑體 Light" panose="020B0304030504040204" pitchFamily="34" charset="-120"/>
            </a:endParaRPr>
          </a:p>
        </p:txBody>
      </p:sp>
      <p:sp>
        <p:nvSpPr>
          <p:cNvPr id="31" name="矩形 30">
            <a:extLst>
              <a:ext uri="{FF2B5EF4-FFF2-40B4-BE49-F238E27FC236}">
                <a16:creationId xmlns:a16="http://schemas.microsoft.com/office/drawing/2014/main" id="{2AD862E8-6E61-CCD5-92B1-19DF3C04E057}"/>
              </a:ext>
            </a:extLst>
          </p:cNvPr>
          <p:cNvSpPr/>
          <p:nvPr/>
        </p:nvSpPr>
        <p:spPr>
          <a:xfrm>
            <a:off x="6211295" y="3995768"/>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Tokenization</a:t>
            </a:r>
            <a:endParaRPr lang="zh-TW" altLang="en-US" sz="900" dirty="0">
              <a:latin typeface="微軟正黑體 Light" panose="020B0304030504040204" pitchFamily="34" charset="-120"/>
              <a:ea typeface="微軟正黑體 Light" panose="020B0304030504040204" pitchFamily="34" charset="-120"/>
            </a:endParaRPr>
          </a:p>
        </p:txBody>
      </p:sp>
      <p:sp>
        <p:nvSpPr>
          <p:cNvPr id="39" name="文字方塊 38">
            <a:extLst>
              <a:ext uri="{FF2B5EF4-FFF2-40B4-BE49-F238E27FC236}">
                <a16:creationId xmlns:a16="http://schemas.microsoft.com/office/drawing/2014/main" id="{DFCD5701-21B1-1F5E-2482-B310571D001E}"/>
              </a:ext>
            </a:extLst>
          </p:cNvPr>
          <p:cNvSpPr txBox="1"/>
          <p:nvPr/>
        </p:nvSpPr>
        <p:spPr>
          <a:xfrm>
            <a:off x="3932018" y="1840642"/>
            <a:ext cx="1652125" cy="300082"/>
          </a:xfrm>
          <a:prstGeom prst="rect">
            <a:avLst/>
          </a:prstGeom>
          <a:noFill/>
        </p:spPr>
        <p:txBody>
          <a:bodyPr wrap="square">
            <a:spAutoFit/>
          </a:bodyPr>
          <a:lstStyle/>
          <a:p>
            <a:r>
              <a:rPr lang="en-US" altLang="zh-CN" sz="1350" b="1" dirty="0">
                <a:solidFill>
                  <a:schemeClr val="accent1"/>
                </a:solidFill>
                <a:latin typeface="微軟正黑體 Light" panose="020B0304030504040204" pitchFamily="34" charset="-120"/>
                <a:ea typeface="微軟正黑體 Light" panose="020B0304030504040204" pitchFamily="34" charset="-120"/>
              </a:rPr>
              <a:t>Agent (ReAct)</a:t>
            </a:r>
            <a:endParaRPr lang="zh-TW" altLang="en-US" sz="1350" b="1" dirty="0">
              <a:solidFill>
                <a:schemeClr val="accent1"/>
              </a:solidFill>
              <a:latin typeface="微軟正黑體 Light" panose="020B0304030504040204" pitchFamily="34" charset="-120"/>
              <a:ea typeface="微軟正黑體 Light" panose="020B0304030504040204" pitchFamily="34" charset="-120"/>
            </a:endParaRPr>
          </a:p>
        </p:txBody>
      </p:sp>
      <p:sp>
        <p:nvSpPr>
          <p:cNvPr id="41" name="矩形 40">
            <a:extLst>
              <a:ext uri="{FF2B5EF4-FFF2-40B4-BE49-F238E27FC236}">
                <a16:creationId xmlns:a16="http://schemas.microsoft.com/office/drawing/2014/main" id="{0CD72146-64C0-38AB-C94D-DB29869A769A}"/>
              </a:ext>
            </a:extLst>
          </p:cNvPr>
          <p:cNvSpPr/>
          <p:nvPr/>
        </p:nvSpPr>
        <p:spPr>
          <a:xfrm>
            <a:off x="5020175" y="3385045"/>
            <a:ext cx="8031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Action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 name="矩形 6">
            <a:extLst>
              <a:ext uri="{FF2B5EF4-FFF2-40B4-BE49-F238E27FC236}">
                <a16:creationId xmlns:a16="http://schemas.microsoft.com/office/drawing/2014/main" id="{C397712A-50F4-F6E5-E88D-87EF4557CA99}"/>
              </a:ext>
            </a:extLst>
          </p:cNvPr>
          <p:cNvSpPr/>
          <p:nvPr/>
        </p:nvSpPr>
        <p:spPr>
          <a:xfrm>
            <a:off x="6063577" y="3415248"/>
            <a:ext cx="2462339" cy="1568706"/>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大模型</a:t>
            </a:r>
            <a:endParaRPr lang="zh-TW" altLang="en-US" sz="900" dirty="0">
              <a:latin typeface="微軟正黑體 Light" panose="020B0304030504040204" pitchFamily="34" charset="-120"/>
              <a:ea typeface="微軟正黑體 Light" panose="020B0304030504040204" pitchFamily="34" charset="-120"/>
            </a:endParaRPr>
          </a:p>
        </p:txBody>
      </p:sp>
      <p:sp>
        <p:nvSpPr>
          <p:cNvPr id="9" name="矩形 8">
            <a:extLst>
              <a:ext uri="{FF2B5EF4-FFF2-40B4-BE49-F238E27FC236}">
                <a16:creationId xmlns:a16="http://schemas.microsoft.com/office/drawing/2014/main" id="{4B79AF00-F49A-7AF2-43C3-191C63509881}"/>
              </a:ext>
            </a:extLst>
          </p:cNvPr>
          <p:cNvSpPr/>
          <p:nvPr/>
        </p:nvSpPr>
        <p:spPr>
          <a:xfrm>
            <a:off x="6063576" y="2124619"/>
            <a:ext cx="2462339" cy="1078430"/>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上下文管理</a:t>
            </a:r>
            <a:endParaRPr lang="zh-TW" altLang="en-US" sz="900" dirty="0">
              <a:latin typeface="微軟正黑體 Light" panose="020B0304030504040204" pitchFamily="34" charset="-120"/>
              <a:ea typeface="微軟正黑體 Light" panose="020B0304030504040204" pitchFamily="34" charset="-120"/>
            </a:endParaRPr>
          </a:p>
        </p:txBody>
      </p:sp>
      <p:sp>
        <p:nvSpPr>
          <p:cNvPr id="43" name="矩形 42">
            <a:extLst>
              <a:ext uri="{FF2B5EF4-FFF2-40B4-BE49-F238E27FC236}">
                <a16:creationId xmlns:a16="http://schemas.microsoft.com/office/drawing/2014/main" id="{71E3A592-835A-8275-6406-486816C11202}"/>
              </a:ext>
            </a:extLst>
          </p:cNvPr>
          <p:cNvSpPr/>
          <p:nvPr/>
        </p:nvSpPr>
        <p:spPr>
          <a:xfrm>
            <a:off x="5020175" y="2708017"/>
            <a:ext cx="803151"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Observation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45" name="接點: 肘形 44">
            <a:extLst>
              <a:ext uri="{FF2B5EF4-FFF2-40B4-BE49-F238E27FC236}">
                <a16:creationId xmlns:a16="http://schemas.microsoft.com/office/drawing/2014/main" id="{FCF97746-0406-AF7D-A163-C26DD130A6D2}"/>
              </a:ext>
            </a:extLst>
          </p:cNvPr>
          <p:cNvCxnSpPr>
            <a:cxnSpLocks/>
            <a:stCxn id="11" idx="2"/>
            <a:endCxn id="41" idx="2"/>
          </p:cNvCxnSpPr>
          <p:nvPr/>
        </p:nvCxnSpPr>
        <p:spPr>
          <a:xfrm rot="5400000" flipH="1">
            <a:off x="5535601" y="3502028"/>
            <a:ext cx="1650785" cy="1878485"/>
          </a:xfrm>
          <a:prstGeom prst="bentConnector3">
            <a:avLst>
              <a:gd name="adj1" fmla="val -59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接點: 肘形 45">
            <a:extLst>
              <a:ext uri="{FF2B5EF4-FFF2-40B4-BE49-F238E27FC236}">
                <a16:creationId xmlns:a16="http://schemas.microsoft.com/office/drawing/2014/main" id="{2766C5AD-18D5-9375-0DD2-00BA9204801A}"/>
              </a:ext>
            </a:extLst>
          </p:cNvPr>
          <p:cNvCxnSpPr>
            <a:cxnSpLocks/>
            <a:stCxn id="43" idx="0"/>
            <a:endCxn id="15" idx="0"/>
          </p:cNvCxnSpPr>
          <p:nvPr/>
        </p:nvCxnSpPr>
        <p:spPr>
          <a:xfrm rot="5400000" flipH="1" flipV="1">
            <a:off x="6183255" y="1593397"/>
            <a:ext cx="353115" cy="1876125"/>
          </a:xfrm>
          <a:prstGeom prst="bentConnector3">
            <a:avLst>
              <a:gd name="adj1" fmla="val 19017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接點: 肘形 49">
            <a:extLst>
              <a:ext uri="{FF2B5EF4-FFF2-40B4-BE49-F238E27FC236}">
                <a16:creationId xmlns:a16="http://schemas.microsoft.com/office/drawing/2014/main" id="{49FD5CB2-9F5D-592A-DAEE-72750F2C19A6}"/>
              </a:ext>
            </a:extLst>
          </p:cNvPr>
          <p:cNvCxnSpPr>
            <a:cxnSpLocks/>
            <a:stCxn id="41" idx="0"/>
            <a:endCxn id="43" idx="2"/>
          </p:cNvCxnSpPr>
          <p:nvPr/>
        </p:nvCxnSpPr>
        <p:spPr>
          <a:xfrm rot="16200000" flipV="1">
            <a:off x="5198653" y="3161947"/>
            <a:ext cx="446195"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文字方塊 61">
            <a:extLst>
              <a:ext uri="{FF2B5EF4-FFF2-40B4-BE49-F238E27FC236}">
                <a16:creationId xmlns:a16="http://schemas.microsoft.com/office/drawing/2014/main" id="{C4933434-E99C-ACA0-C643-C8FD37F2A477}"/>
              </a:ext>
            </a:extLst>
          </p:cNvPr>
          <p:cNvSpPr txBox="1"/>
          <p:nvPr/>
        </p:nvSpPr>
        <p:spPr>
          <a:xfrm>
            <a:off x="3974512" y="3377636"/>
            <a:ext cx="777098" cy="253916"/>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工具執行</a:t>
            </a:r>
            <a:endParaRPr lang="zh-TW" altLang="en-US" sz="1050" dirty="0">
              <a:latin typeface="微軟正黑體 Light" panose="020B0304030504040204" pitchFamily="34" charset="-120"/>
              <a:ea typeface="微軟正黑體 Light" panose="020B0304030504040204" pitchFamily="34" charset="-120"/>
            </a:endParaRPr>
          </a:p>
        </p:txBody>
      </p:sp>
      <p:sp>
        <p:nvSpPr>
          <p:cNvPr id="64" name="文字方塊 63">
            <a:extLst>
              <a:ext uri="{FF2B5EF4-FFF2-40B4-BE49-F238E27FC236}">
                <a16:creationId xmlns:a16="http://schemas.microsoft.com/office/drawing/2014/main" id="{9D8D8E31-9F9C-C709-59F8-96561CA4DFD3}"/>
              </a:ext>
            </a:extLst>
          </p:cNvPr>
          <p:cNvSpPr txBox="1"/>
          <p:nvPr/>
        </p:nvSpPr>
        <p:spPr>
          <a:xfrm>
            <a:off x="3958684" y="2686622"/>
            <a:ext cx="978980" cy="415498"/>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執行</a:t>
            </a:r>
            <a:r>
              <a:rPr lang="zh-CN" altLang="en-US" sz="1050" dirty="0">
                <a:latin typeface="微軟正黑體 Light" panose="020B0304030504040204" pitchFamily="34" charset="-120"/>
                <a:ea typeface="微軟正黑體 Light" panose="020B0304030504040204" pitchFamily="34" charset="-120"/>
              </a:rPr>
              <a:t>結果反饋</a:t>
            </a:r>
            <a:endParaRPr lang="zh-TW" altLang="en-US" sz="1050" dirty="0">
              <a:latin typeface="微軟正黑體 Light" panose="020B0304030504040204" pitchFamily="34" charset="-120"/>
              <a:ea typeface="微軟正黑體 Light" panose="020B0304030504040204" pitchFamily="34" charset="-120"/>
            </a:endParaRPr>
          </a:p>
        </p:txBody>
      </p:sp>
      <p:sp>
        <p:nvSpPr>
          <p:cNvPr id="70" name="矩形 69">
            <a:extLst>
              <a:ext uri="{FF2B5EF4-FFF2-40B4-BE49-F238E27FC236}">
                <a16:creationId xmlns:a16="http://schemas.microsoft.com/office/drawing/2014/main" id="{E4E60699-5A1E-65BD-C11D-3D1653332DA6}"/>
              </a:ext>
            </a:extLst>
          </p:cNvPr>
          <p:cNvSpPr/>
          <p:nvPr/>
        </p:nvSpPr>
        <p:spPr>
          <a:xfrm>
            <a:off x="6939459" y="5709871"/>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Answer</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8" name="矩形 77">
            <a:extLst>
              <a:ext uri="{FF2B5EF4-FFF2-40B4-BE49-F238E27FC236}">
                <a16:creationId xmlns:a16="http://schemas.microsoft.com/office/drawing/2014/main" id="{A0FB29B3-449C-CA85-0143-4D39CE832474}"/>
              </a:ext>
            </a:extLst>
          </p:cNvPr>
          <p:cNvSpPr/>
          <p:nvPr/>
        </p:nvSpPr>
        <p:spPr>
          <a:xfrm>
            <a:off x="6937100" y="1426796"/>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b="1" dirty="0">
                <a:solidFill>
                  <a:schemeClr val="bg1"/>
                </a:solidFill>
                <a:latin typeface="微軟正黑體 Light" panose="020B0304030504040204" pitchFamily="34" charset="-120"/>
                <a:ea typeface="微軟正黑體 Light" panose="020B0304030504040204" pitchFamily="34" charset="-120"/>
              </a:rPr>
              <a:t>Question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81" name="接點: 肘形 80">
            <a:extLst>
              <a:ext uri="{FF2B5EF4-FFF2-40B4-BE49-F238E27FC236}">
                <a16:creationId xmlns:a16="http://schemas.microsoft.com/office/drawing/2014/main" id="{B4677D52-B7BF-A2F3-BD7C-A3CE3D5BC62F}"/>
              </a:ext>
            </a:extLst>
          </p:cNvPr>
          <p:cNvCxnSpPr>
            <a:cxnSpLocks/>
            <a:stCxn id="78" idx="2"/>
            <a:endCxn id="15" idx="0"/>
          </p:cNvCxnSpPr>
          <p:nvPr/>
        </p:nvCxnSpPr>
        <p:spPr>
          <a:xfrm rot="5400000">
            <a:off x="6949240" y="2006266"/>
            <a:ext cx="697272"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接點: 肘形 84">
            <a:extLst>
              <a:ext uri="{FF2B5EF4-FFF2-40B4-BE49-F238E27FC236}">
                <a16:creationId xmlns:a16="http://schemas.microsoft.com/office/drawing/2014/main" id="{14C197BB-FF95-3F9F-2CF1-D8A0F38FABC2}"/>
              </a:ext>
            </a:extLst>
          </p:cNvPr>
          <p:cNvCxnSpPr>
            <a:cxnSpLocks/>
            <a:stCxn id="11" idx="2"/>
            <a:endCxn id="70" idx="0"/>
          </p:cNvCxnSpPr>
          <p:nvPr/>
        </p:nvCxnSpPr>
        <p:spPr>
          <a:xfrm rot="5400000">
            <a:off x="7078632" y="5488267"/>
            <a:ext cx="443209" cy="952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文字方塊 99">
            <a:extLst>
              <a:ext uri="{FF2B5EF4-FFF2-40B4-BE49-F238E27FC236}">
                <a16:creationId xmlns:a16="http://schemas.microsoft.com/office/drawing/2014/main" id="{E3159AEA-8130-A12D-8992-26D88711C085}"/>
              </a:ext>
            </a:extLst>
          </p:cNvPr>
          <p:cNvSpPr txBox="1"/>
          <p:nvPr/>
        </p:nvSpPr>
        <p:spPr>
          <a:xfrm>
            <a:off x="7340751" y="5288079"/>
            <a:ext cx="777098" cy="253916"/>
          </a:xfrm>
          <a:prstGeom prst="rect">
            <a:avLst/>
          </a:prstGeom>
          <a:noFill/>
        </p:spPr>
        <p:txBody>
          <a:bodyPr wrap="square">
            <a:spAutoFit/>
          </a:bodyPr>
          <a:lstStyle/>
          <a:p>
            <a:r>
              <a:rPr lang="zh-CN" altLang="en-US" sz="1050" dirty="0">
                <a:latin typeface="微軟正黑體 Light" panose="020B0304030504040204" pitchFamily="34" charset="-120"/>
                <a:ea typeface="微軟正黑體 Light" panose="020B0304030504040204" pitchFamily="34" charset="-120"/>
              </a:rPr>
              <a:t>規劃回應</a:t>
            </a:r>
            <a:endParaRPr lang="zh-TW" altLang="en-US" sz="1050" dirty="0">
              <a:latin typeface="微軟正黑體 Light" panose="020B0304030504040204" pitchFamily="34" charset="-120"/>
              <a:ea typeface="微軟正黑體 Light" panose="020B0304030504040204" pitchFamily="34" charset="-120"/>
            </a:endParaRPr>
          </a:p>
        </p:txBody>
      </p:sp>
      <p:sp>
        <p:nvSpPr>
          <p:cNvPr id="114" name="矩形 113">
            <a:extLst>
              <a:ext uri="{FF2B5EF4-FFF2-40B4-BE49-F238E27FC236}">
                <a16:creationId xmlns:a16="http://schemas.microsoft.com/office/drawing/2014/main" id="{D0BC473B-D15A-A468-6E2B-BBDD3F162373}"/>
              </a:ext>
            </a:extLst>
          </p:cNvPr>
          <p:cNvSpPr/>
          <p:nvPr/>
        </p:nvSpPr>
        <p:spPr>
          <a:xfrm>
            <a:off x="3927022" y="1748523"/>
            <a:ext cx="4911308" cy="3770389"/>
          </a:xfrm>
          <a:prstGeom prst="rect">
            <a:avLst/>
          </a:prstGeom>
          <a:no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noFill/>
                <a:latin typeface="微軟正黑體 Light" panose="020B0304030504040204" pitchFamily="34" charset="-120"/>
                <a:ea typeface="微軟正黑體 Light" panose="020B0304030504040204" pitchFamily="34" charset="-120"/>
              </a:rPr>
              <a:t>Thought</a:t>
            </a:r>
            <a:endParaRPr lang="zh-TW" altLang="en-US" sz="900" b="1" dirty="0">
              <a:noFill/>
              <a:latin typeface="微軟正黑體 Light" panose="020B0304030504040204" pitchFamily="34" charset="-120"/>
              <a:ea typeface="微軟正黑體 Light" panose="020B0304030504040204" pitchFamily="34" charset="-120"/>
            </a:endParaRPr>
          </a:p>
        </p:txBody>
      </p:sp>
      <p:sp>
        <p:nvSpPr>
          <p:cNvPr id="117" name="文字方塊 116">
            <a:extLst>
              <a:ext uri="{FF2B5EF4-FFF2-40B4-BE49-F238E27FC236}">
                <a16:creationId xmlns:a16="http://schemas.microsoft.com/office/drawing/2014/main" id="{30CFBF44-512D-8D83-A5D7-53A882A9823F}"/>
              </a:ext>
            </a:extLst>
          </p:cNvPr>
          <p:cNvSpPr txBox="1"/>
          <p:nvPr/>
        </p:nvSpPr>
        <p:spPr>
          <a:xfrm>
            <a:off x="4049780" y="980045"/>
            <a:ext cx="4632579" cy="300082"/>
          </a:xfrm>
          <a:prstGeom prst="rect">
            <a:avLst/>
          </a:prstGeom>
          <a:noFill/>
        </p:spPr>
        <p:txBody>
          <a:bodyPr wrap="square">
            <a:spAutoFit/>
          </a:bodyPr>
          <a:lstStyle/>
          <a:p>
            <a:pPr>
              <a:buNone/>
            </a:pPr>
            <a:r>
              <a:rPr lang="zh-TW" altLang="zh-TW" sz="1350" dirty="0"/>
              <a:t>Agent 的上限由大模型決定，但下限由上下文管理決定。</a:t>
            </a:r>
          </a:p>
        </p:txBody>
      </p:sp>
      <p:sp>
        <p:nvSpPr>
          <p:cNvPr id="119" name="文字方塊 118">
            <a:extLst>
              <a:ext uri="{FF2B5EF4-FFF2-40B4-BE49-F238E27FC236}">
                <a16:creationId xmlns:a16="http://schemas.microsoft.com/office/drawing/2014/main" id="{DD4EBD5C-159C-4264-4591-18EC61B9DBA4}"/>
              </a:ext>
            </a:extLst>
          </p:cNvPr>
          <p:cNvSpPr txBox="1"/>
          <p:nvPr/>
        </p:nvSpPr>
        <p:spPr>
          <a:xfrm>
            <a:off x="3998628" y="3663028"/>
            <a:ext cx="1757590" cy="1892826"/>
          </a:xfrm>
          <a:prstGeom prst="rect">
            <a:avLst/>
          </a:prstGeom>
          <a:noFill/>
        </p:spPr>
        <p:txBody>
          <a:bodyPr wrap="square" rtlCol="0">
            <a:spAutoFit/>
          </a:bodyPr>
          <a:lstStyle/>
          <a:p>
            <a:r>
              <a:rPr lang="zh-TW" altLang="zh-TW" sz="900" dirty="0">
                <a:latin typeface="微軟正黑體 Light" panose="020B0304030504040204" pitchFamily="34" charset="-120"/>
                <a:ea typeface="微軟正黑體 Light" panose="020B0304030504040204" pitchFamily="34" charset="-120"/>
              </a:rPr>
              <a:t>Function Calling</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MCP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skill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A2A</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Ephemeral Agent</a:t>
            </a:r>
            <a:r>
              <a:rPr lang="zh-CN" altLang="en-US" sz="900" dirty="0">
                <a:latin typeface="微軟正黑體 Light" panose="020B0304030504040204" pitchFamily="34" charset="-120"/>
                <a:ea typeface="微軟正黑體 Light" panose="020B0304030504040204" pitchFamily="34" charset="-120"/>
              </a:rPr>
              <a:t>（</a:t>
            </a:r>
            <a:r>
              <a:rPr lang="en-US" altLang="zh-CN" sz="900" dirty="0">
                <a:latin typeface="微軟正黑體 Light" panose="020B0304030504040204" pitchFamily="34" charset="-120"/>
                <a:ea typeface="微軟正黑體 Light" panose="020B0304030504040204" pitchFamily="34" charset="-120"/>
              </a:rPr>
              <a:t>Sub-agent</a:t>
            </a:r>
            <a:r>
              <a:rPr lang="zh-CN" altLang="en-US" sz="900" dirty="0">
                <a:latin typeface="微軟正黑體 Light" panose="020B0304030504040204" pitchFamily="34" charset="-120"/>
                <a:ea typeface="微軟正黑體 Light" panose="020B0304030504040204" pitchFamily="34" charset="-120"/>
              </a:rPr>
              <a:t>）</a:t>
            </a:r>
            <a:br>
              <a:rPr lang="en-US" altLang="zh-CN" sz="900" dirty="0">
                <a:latin typeface="微軟正黑體 Light" panose="020B0304030504040204" pitchFamily="34" charset="-120"/>
                <a:ea typeface="微軟正黑體 Light" panose="020B0304030504040204" pitchFamily="34" charset="-120"/>
              </a:rPr>
            </a:b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HITL</a:t>
            </a:r>
          </a:p>
          <a:p>
            <a:r>
              <a:rPr lang="en-US" altLang="zh-CN" sz="900" dirty="0">
                <a:latin typeface="微軟正黑體 Light" panose="020B0304030504040204" pitchFamily="34" charset="-120"/>
                <a:ea typeface="微軟正黑體 Light" panose="020B0304030504040204" pitchFamily="34" charset="-120"/>
              </a:rPr>
              <a:t>REPL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Sandbox</a:t>
            </a:r>
          </a:p>
          <a:p>
            <a:r>
              <a:rPr lang="en-US" altLang="zh-CN" sz="900" dirty="0">
                <a:latin typeface="微軟正黑體 Light" panose="020B0304030504040204" pitchFamily="34" charset="-120"/>
                <a:ea typeface="微軟正黑體 Light" panose="020B0304030504040204" pitchFamily="34" charset="-120"/>
              </a:rPr>
              <a:t>Vision-Based Operation</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Computer Use</a:t>
            </a:r>
          </a:p>
          <a:p>
            <a:endParaRPr lang="zh-TW" altLang="en-US" sz="900" dirty="0">
              <a:latin typeface="微軟正黑體 Light" panose="020B0304030504040204" pitchFamily="34" charset="-120"/>
              <a:ea typeface="微軟正黑體 Light" panose="020B0304030504040204" pitchFamily="34" charset="-120"/>
            </a:endParaRPr>
          </a:p>
        </p:txBody>
      </p:sp>
      <p:pic>
        <p:nvPicPr>
          <p:cNvPr id="163" name="圖片 162">
            <a:extLst>
              <a:ext uri="{FF2B5EF4-FFF2-40B4-BE49-F238E27FC236}">
                <a16:creationId xmlns:a16="http://schemas.microsoft.com/office/drawing/2014/main" id="{B441A2AC-9804-55D0-23BA-CBE712AD29E5}"/>
              </a:ext>
            </a:extLst>
          </p:cNvPr>
          <p:cNvPicPr>
            <a:picLocks noChangeAspect="1"/>
          </p:cNvPicPr>
          <p:nvPr/>
        </p:nvPicPr>
        <p:blipFill>
          <a:blip r:embed="rId3"/>
          <a:stretch>
            <a:fillRect/>
          </a:stretch>
        </p:blipFill>
        <p:spPr>
          <a:xfrm>
            <a:off x="121989" y="1565392"/>
            <a:ext cx="3340335" cy="2687707"/>
          </a:xfrm>
          <a:prstGeom prst="rect">
            <a:avLst/>
          </a:prstGeom>
        </p:spPr>
      </p:pic>
      <p:pic>
        <p:nvPicPr>
          <p:cNvPr id="165" name="圖片 164">
            <a:extLst>
              <a:ext uri="{FF2B5EF4-FFF2-40B4-BE49-F238E27FC236}">
                <a16:creationId xmlns:a16="http://schemas.microsoft.com/office/drawing/2014/main" id="{5753F105-B0A1-0CA7-1F31-A462F5FFDF72}"/>
              </a:ext>
            </a:extLst>
          </p:cNvPr>
          <p:cNvPicPr>
            <a:picLocks noChangeAspect="1"/>
          </p:cNvPicPr>
          <p:nvPr/>
        </p:nvPicPr>
        <p:blipFill>
          <a:blip r:embed="rId4"/>
          <a:stretch>
            <a:fillRect/>
          </a:stretch>
        </p:blipFill>
        <p:spPr>
          <a:xfrm>
            <a:off x="400237" y="4313131"/>
            <a:ext cx="3018275" cy="1040924"/>
          </a:xfrm>
          <a:prstGeom prst="rect">
            <a:avLst/>
          </a:prstGeom>
        </p:spPr>
      </p:pic>
      <mc:AlternateContent xmlns:mc="http://schemas.openxmlformats.org/markup-compatibility/2006" xmlns:a14="http://schemas.microsoft.com/office/drawing/2010/main">
        <mc:Choice Requires="a14">
          <p:sp>
            <p:nvSpPr>
              <p:cNvPr id="167" name="文字方塊 166">
                <a:extLst>
                  <a:ext uri="{FF2B5EF4-FFF2-40B4-BE49-F238E27FC236}">
                    <a16:creationId xmlns:a16="http://schemas.microsoft.com/office/drawing/2014/main" id="{68428BF5-E137-79A2-9A22-6D73F9A159E5}"/>
                  </a:ext>
                </a:extLst>
              </p:cNvPr>
              <p:cNvSpPr txBox="1"/>
              <p:nvPr/>
            </p:nvSpPr>
            <p:spPr>
              <a:xfrm>
                <a:off x="214080" y="5403495"/>
                <a:ext cx="3332021" cy="369460"/>
              </a:xfrm>
              <a:prstGeom prst="rect">
                <a:avLst/>
              </a:prstGeom>
              <a:noFill/>
            </p:spPr>
            <p:txBody>
              <a:bodyPr wrap="square">
                <a:spAutoFit/>
              </a:bodyPr>
              <a:lstStyle/>
              <a:p>
                <a:pPr/>
                <a14:m>
                  <m:oMathPara xmlns:m="http://schemas.openxmlformats.org/officeDocument/2006/math">
                    <m:oMath>
                      <m:r>
                        <m:rPr>
                          <m:nor/>
                        </m:rPr>
                        <a:rPr lang="zh-TW" altLang="en-US" sz="900" i="0">
                          <a:latin typeface="微軟正黑體 Light" panose="020B0304030504040204" pitchFamily="34" charset="-120"/>
                          <a:ea typeface="微軟正黑體 Light" panose="020B0304030504040204" pitchFamily="34" charset="-120"/>
                        </a:rPr>
                        <m:t>Hash(Block 1)</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SHA256</m:t>
                      </m:r>
                      <m:d>
                        <m:dPr>
                          <m:ctrlPr>
                            <a:rPr lang="zh-TW" altLang="en-US" sz="900" i="0">
                              <a:latin typeface="微軟正黑體 Light" panose="020B0304030504040204" pitchFamily="34" charset="-120"/>
                              <a:ea typeface="微軟正黑體 Light" panose="020B0304030504040204" pitchFamily="34" charset="-120"/>
                            </a:rPr>
                          </m:ctrlPr>
                        </m:dPr>
                        <m:e>
                          <m:r>
                            <m:rPr>
                              <m:nor/>
                            </m:rPr>
                            <a:rPr lang="zh-TW" altLang="en-US" sz="900" i="0">
                              <a:latin typeface="微軟正黑體 Light" panose="020B0304030504040204" pitchFamily="34" charset="-120"/>
                              <a:ea typeface="微軟正黑體 Light" panose="020B0304030504040204" pitchFamily="34" charset="-120"/>
                            </a:rPr>
                            <m:t>Hash(Block 0)</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Block 1 的內容</m:t>
                          </m:r>
                        </m:e>
                      </m:d>
                    </m:oMath>
                    <m:oMath>
                      <m:r>
                        <m:rPr>
                          <m:nor/>
                        </m:rPr>
                        <a:rPr lang="zh-TW" altLang="en-US" sz="900" i="0">
                          <a:latin typeface="微軟正黑體 Light" panose="020B0304030504040204" pitchFamily="34" charset="-120"/>
                          <a:ea typeface="微軟正黑體 Light" panose="020B0304030504040204" pitchFamily="34" charset="-120"/>
                        </a:rPr>
                        <m:t>靜態在頂，動態在底；由穩入變，線性追加</m:t>
                      </m:r>
                    </m:oMath>
                  </m:oMathPara>
                </a14:m>
                <a:endParaRPr lang="zh-TW" altLang="en-US" sz="900" dirty="0">
                  <a:latin typeface="微軟正黑體 Light" panose="020B0304030504040204" pitchFamily="34" charset="-120"/>
                  <a:ea typeface="微軟正黑體 Light" panose="020B0304030504040204" pitchFamily="34" charset="-120"/>
                </a:endParaRPr>
              </a:p>
            </p:txBody>
          </p:sp>
        </mc:Choice>
        <mc:Fallback xmlns="">
          <p:sp>
            <p:nvSpPr>
              <p:cNvPr id="167" name="文字方塊 166">
                <a:extLst>
                  <a:ext uri="{FF2B5EF4-FFF2-40B4-BE49-F238E27FC236}">
                    <a16:creationId xmlns:a16="http://schemas.microsoft.com/office/drawing/2014/main" id="{68428BF5-E137-79A2-9A22-6D73F9A159E5}"/>
                  </a:ext>
                </a:extLst>
              </p:cNvPr>
              <p:cNvSpPr txBox="1">
                <a:spLocks noRot="1" noChangeAspect="1" noMove="1" noResize="1" noEditPoints="1" noAdjustHandles="1" noChangeArrowheads="1" noChangeShapeType="1" noTextEdit="1"/>
              </p:cNvSpPr>
              <p:nvPr/>
            </p:nvSpPr>
            <p:spPr>
              <a:xfrm>
                <a:off x="214080" y="5403495"/>
                <a:ext cx="3332021" cy="369460"/>
              </a:xfrm>
              <a:prstGeom prst="rect">
                <a:avLst/>
              </a:prstGeom>
              <a:blipFill>
                <a:blip r:embed="rId5"/>
                <a:stretch>
                  <a:fillRect b="-1639"/>
                </a:stretch>
              </a:blipFill>
            </p:spPr>
            <p:txBody>
              <a:bodyPr/>
              <a:lstStyle/>
              <a:p>
                <a:r>
                  <a:rPr lang="zh-TW" altLang="en-US">
                    <a:noFill/>
                  </a:rPr>
                  <a:t> </a:t>
                </a:r>
              </a:p>
            </p:txBody>
          </p:sp>
        </mc:Fallback>
      </mc:AlternateContent>
      <p:cxnSp>
        <p:nvCxnSpPr>
          <p:cNvPr id="171" name="直線單箭頭接點 170">
            <a:extLst>
              <a:ext uri="{FF2B5EF4-FFF2-40B4-BE49-F238E27FC236}">
                <a16:creationId xmlns:a16="http://schemas.microsoft.com/office/drawing/2014/main" id="{441632E2-FB6B-F197-DF26-1CCC2A6D969E}"/>
              </a:ext>
            </a:extLst>
          </p:cNvPr>
          <p:cNvCxnSpPr>
            <a:cxnSpLocks/>
            <a:stCxn id="161" idx="3"/>
          </p:cNvCxnSpPr>
          <p:nvPr/>
        </p:nvCxnSpPr>
        <p:spPr>
          <a:xfrm>
            <a:off x="3303820" y="1614323"/>
            <a:ext cx="4001179" cy="1756863"/>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2" name="直線單箭頭接點 171">
            <a:extLst>
              <a:ext uri="{FF2B5EF4-FFF2-40B4-BE49-F238E27FC236}">
                <a16:creationId xmlns:a16="http://schemas.microsoft.com/office/drawing/2014/main" id="{4F8379A8-E312-AAAB-0305-5F21D7A48075}"/>
              </a:ext>
            </a:extLst>
          </p:cNvPr>
          <p:cNvCxnSpPr>
            <a:cxnSpLocks/>
            <a:endCxn id="23" idx="1"/>
          </p:cNvCxnSpPr>
          <p:nvPr/>
        </p:nvCxnSpPr>
        <p:spPr>
          <a:xfrm>
            <a:off x="3080424" y="2908191"/>
            <a:ext cx="3145044" cy="86150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9" name="直線單箭頭接點 178">
            <a:extLst>
              <a:ext uri="{FF2B5EF4-FFF2-40B4-BE49-F238E27FC236}">
                <a16:creationId xmlns:a16="http://schemas.microsoft.com/office/drawing/2014/main" id="{CB0339C0-FB3B-E9D5-6168-023B9B26187C}"/>
              </a:ext>
            </a:extLst>
          </p:cNvPr>
          <p:cNvCxnSpPr>
            <a:cxnSpLocks/>
            <a:stCxn id="165" idx="3"/>
            <a:endCxn id="31" idx="1"/>
          </p:cNvCxnSpPr>
          <p:nvPr/>
        </p:nvCxnSpPr>
        <p:spPr>
          <a:xfrm flipV="1">
            <a:off x="3418511" y="4120558"/>
            <a:ext cx="2792784" cy="71303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2" name="直線單箭頭接點 181">
            <a:extLst>
              <a:ext uri="{FF2B5EF4-FFF2-40B4-BE49-F238E27FC236}">
                <a16:creationId xmlns:a16="http://schemas.microsoft.com/office/drawing/2014/main" id="{C2C124A4-03BF-CCAC-C4D6-0AB57500B2E6}"/>
              </a:ext>
            </a:extLst>
          </p:cNvPr>
          <p:cNvCxnSpPr>
            <a:cxnSpLocks/>
            <a:endCxn id="19" idx="1"/>
          </p:cNvCxnSpPr>
          <p:nvPr/>
        </p:nvCxnSpPr>
        <p:spPr>
          <a:xfrm flipV="1">
            <a:off x="3563977" y="4612810"/>
            <a:ext cx="2647319" cy="973959"/>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88" name="圖片 187">
            <a:extLst>
              <a:ext uri="{FF2B5EF4-FFF2-40B4-BE49-F238E27FC236}">
                <a16:creationId xmlns:a16="http://schemas.microsoft.com/office/drawing/2014/main" id="{A3436026-A169-47CF-A377-C870212F410A}"/>
              </a:ext>
            </a:extLst>
          </p:cNvPr>
          <p:cNvPicPr>
            <a:picLocks noChangeAspect="1"/>
          </p:cNvPicPr>
          <p:nvPr/>
        </p:nvPicPr>
        <p:blipFill>
          <a:blip r:embed="rId6"/>
          <a:stretch>
            <a:fillRect/>
          </a:stretch>
        </p:blipFill>
        <p:spPr>
          <a:xfrm>
            <a:off x="5185283" y="1426112"/>
            <a:ext cx="1697483" cy="139280"/>
          </a:xfrm>
          <a:prstGeom prst="rect">
            <a:avLst/>
          </a:prstGeom>
        </p:spPr>
      </p:pic>
      <p:pic>
        <p:nvPicPr>
          <p:cNvPr id="192" name="圖片 191">
            <a:extLst>
              <a:ext uri="{FF2B5EF4-FFF2-40B4-BE49-F238E27FC236}">
                <a16:creationId xmlns:a16="http://schemas.microsoft.com/office/drawing/2014/main" id="{DD6667E5-60F6-0869-8A1E-E007756D8E43}"/>
              </a:ext>
            </a:extLst>
          </p:cNvPr>
          <p:cNvPicPr>
            <a:picLocks noChangeAspect="1"/>
          </p:cNvPicPr>
          <p:nvPr/>
        </p:nvPicPr>
        <p:blipFill>
          <a:blip r:embed="rId7"/>
          <a:stretch>
            <a:fillRect/>
          </a:stretch>
        </p:blipFill>
        <p:spPr>
          <a:xfrm>
            <a:off x="6916478" y="2819990"/>
            <a:ext cx="1677644" cy="153246"/>
          </a:xfrm>
          <a:prstGeom prst="rect">
            <a:avLst/>
          </a:prstGeom>
        </p:spPr>
      </p:pic>
      <p:pic>
        <p:nvPicPr>
          <p:cNvPr id="161" name="圖片 160">
            <a:extLst>
              <a:ext uri="{FF2B5EF4-FFF2-40B4-BE49-F238E27FC236}">
                <a16:creationId xmlns:a16="http://schemas.microsoft.com/office/drawing/2014/main" id="{846CFD46-7FB4-E8C7-BCB8-ACCB38DC590D}"/>
              </a:ext>
            </a:extLst>
          </p:cNvPr>
          <p:cNvPicPr>
            <a:picLocks noChangeAspect="1"/>
          </p:cNvPicPr>
          <p:nvPr/>
        </p:nvPicPr>
        <p:blipFill>
          <a:blip r:embed="rId8"/>
          <a:stretch>
            <a:fillRect/>
          </a:stretch>
        </p:blipFill>
        <p:spPr>
          <a:xfrm>
            <a:off x="285545" y="1138729"/>
            <a:ext cx="3018275" cy="951188"/>
          </a:xfrm>
          <a:prstGeom prst="rect">
            <a:avLst/>
          </a:prstGeom>
        </p:spPr>
      </p:pic>
      <p:cxnSp>
        <p:nvCxnSpPr>
          <p:cNvPr id="4" name="接點: 肘形 3">
            <a:extLst>
              <a:ext uri="{FF2B5EF4-FFF2-40B4-BE49-F238E27FC236}">
                <a16:creationId xmlns:a16="http://schemas.microsoft.com/office/drawing/2014/main" id="{4EA7BBDC-7B61-EC8B-3736-ACD5249C1E37}"/>
              </a:ext>
            </a:extLst>
          </p:cNvPr>
          <p:cNvCxnSpPr>
            <a:cxnSpLocks/>
            <a:stCxn id="9" idx="2"/>
          </p:cNvCxnSpPr>
          <p:nvPr/>
        </p:nvCxnSpPr>
        <p:spPr>
          <a:xfrm rot="5400000">
            <a:off x="7099096" y="3398699"/>
            <a:ext cx="391299"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字方塊 11">
            <a:extLst>
              <a:ext uri="{FF2B5EF4-FFF2-40B4-BE49-F238E27FC236}">
                <a16:creationId xmlns:a16="http://schemas.microsoft.com/office/drawing/2014/main" id="{A500A213-6C42-2B9F-F559-C623686766CC}"/>
              </a:ext>
            </a:extLst>
          </p:cNvPr>
          <p:cNvSpPr txBox="1"/>
          <p:nvPr/>
        </p:nvSpPr>
        <p:spPr>
          <a:xfrm>
            <a:off x="932451" y="1129909"/>
            <a:ext cx="4570821" cy="230832"/>
          </a:xfrm>
          <a:prstGeom prst="rect">
            <a:avLst/>
          </a:prstGeom>
          <a:noFill/>
        </p:spPr>
        <p:txBody>
          <a:bodyPr wrap="square">
            <a:spAutoFit/>
          </a:bodyPr>
          <a:lstStyle/>
          <a:p>
            <a:pPr>
              <a:buNone/>
            </a:pPr>
            <a:r>
              <a:rPr lang="zh-TW" altLang="zh-TW" sz="900" dirty="0">
                <a:solidFill>
                  <a:schemeClr val="bg1"/>
                </a:solidFill>
              </a:rPr>
              <a:t>OpenAI Chat Completions API 格式</a:t>
            </a:r>
          </a:p>
        </p:txBody>
      </p:sp>
      <p:sp>
        <p:nvSpPr>
          <p:cNvPr id="3" name="標題 1">
            <a:extLst>
              <a:ext uri="{FF2B5EF4-FFF2-40B4-BE49-F238E27FC236}">
                <a16:creationId xmlns:a16="http://schemas.microsoft.com/office/drawing/2014/main" id="{4549DA9B-39B4-7A51-A4AA-F9B9E6C6D9F2}"/>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570576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D871E9EB-038B-1CAB-C8C1-9B3E44316CC7}"/>
              </a:ext>
            </a:extLst>
          </p:cNvPr>
          <p:cNvSpPr txBox="1"/>
          <p:nvPr/>
        </p:nvSpPr>
        <p:spPr>
          <a:xfrm>
            <a:off x="3406032" y="926707"/>
            <a:ext cx="852563"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下載來源</a:t>
            </a:r>
            <a:r>
              <a:rPr lang="en-US" altLang="zh-CN" sz="600" dirty="0">
                <a:latin typeface="微軟正黑體 Light" panose="020B0304030504040204" pitchFamily="34" charset="-120"/>
                <a:ea typeface="微軟正黑體 Light" panose="020B0304030504040204" pitchFamily="34" charset="-120"/>
              </a:rPr>
              <a: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Hugging Face Hub</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Civitai </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Kaggle Models</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ModelScope </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latin typeface="微軟正黑體 Light" panose="020B0304030504040204" pitchFamily="34" charset="-120"/>
                <a:ea typeface="微軟正黑體 Light" panose="020B0304030504040204" pitchFamily="34" charset="-120"/>
              </a:rPr>
              <a:t>WiseModel </a:t>
            </a:r>
            <a:endParaRPr lang="zh-TW" altLang="en-US" sz="600" dirty="0">
              <a:latin typeface="微軟正黑體 Light" panose="020B0304030504040204" pitchFamily="34" charset="-120"/>
              <a:ea typeface="微軟正黑體 Light" panose="020B0304030504040204" pitchFamily="34" charset="-120"/>
            </a:endParaRPr>
          </a:p>
        </p:txBody>
      </p:sp>
      <p:sp>
        <p:nvSpPr>
          <p:cNvPr id="10" name="矩形 9">
            <a:extLst>
              <a:ext uri="{FF2B5EF4-FFF2-40B4-BE49-F238E27FC236}">
                <a16:creationId xmlns:a16="http://schemas.microsoft.com/office/drawing/2014/main" id="{D81F8168-4847-CF7D-8F9D-2111C391C931}"/>
              </a:ext>
            </a:extLst>
          </p:cNvPr>
          <p:cNvSpPr/>
          <p:nvPr/>
        </p:nvSpPr>
        <p:spPr>
          <a:xfrm>
            <a:off x="4533243" y="933330"/>
            <a:ext cx="852563"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下載模型</a:t>
            </a:r>
            <a:endParaRPr lang="zh-TW" altLang="en-US" sz="750" dirty="0">
              <a:latin typeface="微軟正黑體 Light" panose="020B0304030504040204" pitchFamily="34" charset="-120"/>
              <a:ea typeface="微軟正黑體 Light" panose="020B0304030504040204" pitchFamily="34" charset="-120"/>
            </a:endParaRPr>
          </a:p>
        </p:txBody>
      </p:sp>
      <p:sp>
        <p:nvSpPr>
          <p:cNvPr id="12" name="文字方塊 11">
            <a:extLst>
              <a:ext uri="{FF2B5EF4-FFF2-40B4-BE49-F238E27FC236}">
                <a16:creationId xmlns:a16="http://schemas.microsoft.com/office/drawing/2014/main" id="{D29966B9-F7E5-0499-6A5C-D6A8D2DE7588}"/>
              </a:ext>
            </a:extLst>
          </p:cNvPr>
          <p:cNvSpPr txBox="1"/>
          <p:nvPr/>
        </p:nvSpPr>
        <p:spPr>
          <a:xfrm>
            <a:off x="4937155" y="1193886"/>
            <a:ext cx="924021" cy="553998"/>
          </a:xfrm>
          <a:prstGeom prst="rect">
            <a:avLst/>
          </a:prstGeom>
          <a:noFill/>
          <a:ln w="12700">
            <a:noFill/>
          </a:ln>
        </p:spPr>
        <p:txBody>
          <a:bodyPr wrap="square">
            <a:spAutoFit/>
          </a:bodyPr>
          <a:lstStyle/>
          <a:p>
            <a:br>
              <a:rPr lang="en-US" altLang="zh-CN" sz="600" dirty="0">
                <a:latin typeface="微軟正黑體 Light" panose="020B0304030504040204" pitchFamily="34" charset="-120"/>
                <a:ea typeface="微軟正黑體 Light" panose="020B0304030504040204" pitchFamily="34" charset="-120"/>
              </a:rPr>
            </a:br>
            <a:r>
              <a:rPr lang="en-US" altLang="zh-TW" sz="600" dirty="0">
                <a:latin typeface="微軟正黑體 Light" panose="020B0304030504040204" pitchFamily="34" charset="-120"/>
                <a:ea typeface="微軟正黑體 Light" panose="020B0304030504040204" pitchFamily="34" charset="-120"/>
              </a:rPr>
              <a:t>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model.safetensors</a:t>
            </a:r>
          </a:p>
          <a:p>
            <a:r>
              <a:rPr lang="en-US" altLang="zh-TW" sz="600" dirty="0">
                <a:latin typeface="微軟正黑體 Light" panose="020B0304030504040204" pitchFamily="34" charset="-120"/>
                <a:ea typeface="微軟正黑體 Light" panose="020B0304030504040204" pitchFamily="34" charset="-120"/>
              </a:rPr>
              <a:t>generation_config.json</a:t>
            </a:r>
            <a:endParaRPr lang="zh-TW" altLang="en-US" sz="600" dirty="0">
              <a:latin typeface="微軟正黑體 Light" panose="020B0304030504040204" pitchFamily="34" charset="-120"/>
              <a:ea typeface="微軟正黑體 Light" panose="020B0304030504040204" pitchFamily="34" charset="-120"/>
            </a:endParaRPr>
          </a:p>
        </p:txBody>
      </p:sp>
      <p:sp>
        <p:nvSpPr>
          <p:cNvPr id="14" name="矩形 13">
            <a:extLst>
              <a:ext uri="{FF2B5EF4-FFF2-40B4-BE49-F238E27FC236}">
                <a16:creationId xmlns:a16="http://schemas.microsoft.com/office/drawing/2014/main" id="{3520C49D-79FC-6920-1D5C-7808103E61EB}"/>
              </a:ext>
            </a:extLst>
          </p:cNvPr>
          <p:cNvSpPr/>
          <p:nvPr/>
        </p:nvSpPr>
        <p:spPr>
          <a:xfrm>
            <a:off x="7288922" y="934573"/>
            <a:ext cx="1032487"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下載或自定訓練資料</a:t>
            </a:r>
            <a:endParaRPr lang="zh-TW" altLang="en-US" sz="750" dirty="0">
              <a:latin typeface="微軟正黑體 Light" panose="020B0304030504040204" pitchFamily="34" charset="-120"/>
              <a:ea typeface="微軟正黑體 Light" panose="020B0304030504040204" pitchFamily="34" charset="-120"/>
            </a:endParaRPr>
          </a:p>
        </p:txBody>
      </p:sp>
      <p:sp>
        <p:nvSpPr>
          <p:cNvPr id="20" name="矩形 19">
            <a:extLst>
              <a:ext uri="{FF2B5EF4-FFF2-40B4-BE49-F238E27FC236}">
                <a16:creationId xmlns:a16="http://schemas.microsoft.com/office/drawing/2014/main" id="{3B7527AD-8CB3-9AE3-62DC-06B905D9F352}"/>
              </a:ext>
            </a:extLst>
          </p:cNvPr>
          <p:cNvSpPr/>
          <p:nvPr/>
        </p:nvSpPr>
        <p:spPr>
          <a:xfrm>
            <a:off x="7109102" y="2284877"/>
            <a:ext cx="1392126"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訓練資料物件</a:t>
            </a:r>
            <a:br>
              <a:rPr lang="en-US" altLang="zh-CN" sz="750" dirty="0">
                <a:latin typeface="微軟正黑體 Light" panose="020B0304030504040204" pitchFamily="34" charset="-120"/>
                <a:ea typeface="微軟正黑體 Light" panose="020B0304030504040204" pitchFamily="34" charset="-120"/>
              </a:rPr>
            </a:br>
            <a:r>
              <a:rPr lang="zh-CN" altLang="en-US" sz="750" dirty="0">
                <a:latin typeface="微軟正黑體 Light" panose="020B0304030504040204" pitchFamily="34" charset="-120"/>
                <a:ea typeface="微軟正黑體 Light" panose="020B0304030504040204" pitchFamily="34" charset="-120"/>
              </a:rPr>
              <a:t>（</a:t>
            </a:r>
            <a:r>
              <a:rPr lang="zh-TW" altLang="zh-TW" sz="750" dirty="0">
                <a:latin typeface="微軟正黑體 Light" panose="020B0304030504040204" pitchFamily="34" charset="-120"/>
                <a:ea typeface="微軟正黑體 Light" panose="020B0304030504040204" pitchFamily="34" charset="-120"/>
              </a:rPr>
              <a:t> Apache Arrow 二進位矩陣</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22" name="矩形 21">
            <a:extLst>
              <a:ext uri="{FF2B5EF4-FFF2-40B4-BE49-F238E27FC236}">
                <a16:creationId xmlns:a16="http://schemas.microsoft.com/office/drawing/2014/main" id="{19C03F95-903A-6223-6AFC-6B304CCF2901}"/>
              </a:ext>
            </a:extLst>
          </p:cNvPr>
          <p:cNvSpPr/>
          <p:nvPr/>
        </p:nvSpPr>
        <p:spPr>
          <a:xfrm>
            <a:off x="1289137" y="1942016"/>
            <a:ext cx="7319657" cy="96942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CN" altLang="en-US" sz="750" dirty="0">
                <a:latin typeface="微軟正黑體 Light" panose="020B0304030504040204" pitchFamily="34" charset="-120"/>
                <a:ea typeface="微軟正黑體 Light" panose="020B0304030504040204" pitchFamily="34" charset="-120"/>
              </a:rPr>
              <a:t>訓練物件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24" name="矩形 23">
            <a:extLst>
              <a:ext uri="{FF2B5EF4-FFF2-40B4-BE49-F238E27FC236}">
                <a16:creationId xmlns:a16="http://schemas.microsoft.com/office/drawing/2014/main" id="{894B8F03-7160-0260-331E-43923BD264A3}"/>
              </a:ext>
            </a:extLst>
          </p:cNvPr>
          <p:cNvSpPr/>
          <p:nvPr/>
        </p:nvSpPr>
        <p:spPr>
          <a:xfrm>
            <a:off x="4572000" y="4155133"/>
            <a:ext cx="777946" cy="16063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模型測試</a:t>
            </a:r>
            <a:endParaRPr lang="zh-TW" altLang="en-US" sz="750" dirty="0">
              <a:latin typeface="微軟正黑體 Light" panose="020B0304030504040204" pitchFamily="34" charset="-120"/>
              <a:ea typeface="微軟正黑體 Light" panose="020B0304030504040204" pitchFamily="34" charset="-120"/>
            </a:endParaRPr>
          </a:p>
        </p:txBody>
      </p:sp>
      <p:sp>
        <p:nvSpPr>
          <p:cNvPr id="26" name="矩形 25">
            <a:extLst>
              <a:ext uri="{FF2B5EF4-FFF2-40B4-BE49-F238E27FC236}">
                <a16:creationId xmlns:a16="http://schemas.microsoft.com/office/drawing/2014/main" id="{2AFD015C-1F9D-2D95-AEDC-C02433CEBE33}"/>
              </a:ext>
            </a:extLst>
          </p:cNvPr>
          <p:cNvSpPr/>
          <p:nvPr/>
        </p:nvSpPr>
        <p:spPr>
          <a:xfrm>
            <a:off x="4572000" y="4449047"/>
            <a:ext cx="777946" cy="17367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模型產出</a:t>
            </a:r>
            <a:endParaRPr lang="zh-TW" altLang="en-US" sz="750" dirty="0">
              <a:latin typeface="微軟正黑體 Light" panose="020B0304030504040204" pitchFamily="34" charset="-120"/>
              <a:ea typeface="微軟正黑體 Light" panose="020B0304030504040204" pitchFamily="34" charset="-120"/>
            </a:endParaRPr>
          </a:p>
        </p:txBody>
      </p:sp>
      <p:pic>
        <p:nvPicPr>
          <p:cNvPr id="28" name="圖片 27">
            <a:extLst>
              <a:ext uri="{FF2B5EF4-FFF2-40B4-BE49-F238E27FC236}">
                <a16:creationId xmlns:a16="http://schemas.microsoft.com/office/drawing/2014/main" id="{CA67325C-624F-32CA-327A-EC0F55815353}"/>
              </a:ext>
            </a:extLst>
          </p:cNvPr>
          <p:cNvPicPr>
            <a:picLocks noChangeAspect="1"/>
          </p:cNvPicPr>
          <p:nvPr/>
        </p:nvPicPr>
        <p:blipFill>
          <a:blip r:embed="rId3"/>
          <a:stretch>
            <a:fillRect/>
          </a:stretch>
        </p:blipFill>
        <p:spPr>
          <a:xfrm>
            <a:off x="1410453" y="2152343"/>
            <a:ext cx="1879627" cy="719795"/>
          </a:xfrm>
          <a:prstGeom prst="rect">
            <a:avLst/>
          </a:prstGeom>
          <a:ln w="12700">
            <a:solidFill>
              <a:schemeClr val="tx1"/>
            </a:solidFill>
          </a:ln>
        </p:spPr>
      </p:pic>
      <p:pic>
        <p:nvPicPr>
          <p:cNvPr id="30" name="圖片 29">
            <a:extLst>
              <a:ext uri="{FF2B5EF4-FFF2-40B4-BE49-F238E27FC236}">
                <a16:creationId xmlns:a16="http://schemas.microsoft.com/office/drawing/2014/main" id="{16BF6715-9287-EC26-3307-4DDCD97FDC2E}"/>
              </a:ext>
            </a:extLst>
          </p:cNvPr>
          <p:cNvPicPr>
            <a:picLocks noChangeAspect="1"/>
          </p:cNvPicPr>
          <p:nvPr/>
        </p:nvPicPr>
        <p:blipFill>
          <a:blip r:embed="rId4"/>
          <a:stretch>
            <a:fillRect/>
          </a:stretch>
        </p:blipFill>
        <p:spPr>
          <a:xfrm>
            <a:off x="253425" y="2204471"/>
            <a:ext cx="983534" cy="476558"/>
          </a:xfrm>
          <a:prstGeom prst="rect">
            <a:avLst/>
          </a:prstGeom>
          <a:ln w="12700">
            <a:solidFill>
              <a:schemeClr val="tx1"/>
            </a:solidFill>
          </a:ln>
        </p:spPr>
      </p:pic>
      <p:pic>
        <p:nvPicPr>
          <p:cNvPr id="32" name="圖片 31">
            <a:extLst>
              <a:ext uri="{FF2B5EF4-FFF2-40B4-BE49-F238E27FC236}">
                <a16:creationId xmlns:a16="http://schemas.microsoft.com/office/drawing/2014/main" id="{83457B68-7A59-7497-577E-E94876509A9D}"/>
              </a:ext>
            </a:extLst>
          </p:cNvPr>
          <p:cNvPicPr>
            <a:picLocks noChangeAspect="1"/>
          </p:cNvPicPr>
          <p:nvPr/>
        </p:nvPicPr>
        <p:blipFill>
          <a:blip r:embed="rId5"/>
          <a:stretch>
            <a:fillRect/>
          </a:stretch>
        </p:blipFill>
        <p:spPr>
          <a:xfrm>
            <a:off x="5518268" y="3015979"/>
            <a:ext cx="2786069" cy="753353"/>
          </a:xfrm>
          <a:prstGeom prst="rect">
            <a:avLst/>
          </a:prstGeom>
          <a:ln w="12700">
            <a:solidFill>
              <a:schemeClr val="tx1"/>
            </a:solidFill>
          </a:ln>
        </p:spPr>
      </p:pic>
      <p:sp>
        <p:nvSpPr>
          <p:cNvPr id="34" name="矩形 33">
            <a:extLst>
              <a:ext uri="{FF2B5EF4-FFF2-40B4-BE49-F238E27FC236}">
                <a16:creationId xmlns:a16="http://schemas.microsoft.com/office/drawing/2014/main" id="{7E6842AC-5B91-0E0F-E4A9-D56BD2012DA0}"/>
              </a:ext>
            </a:extLst>
          </p:cNvPr>
          <p:cNvSpPr/>
          <p:nvPr/>
        </p:nvSpPr>
        <p:spPr>
          <a:xfrm>
            <a:off x="4240630" y="2041934"/>
            <a:ext cx="1429394" cy="78412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algn="ctr"/>
            <a:r>
              <a:rPr lang="zh-CN" altLang="en-US" sz="750" dirty="0">
                <a:latin typeface="微軟正黑體 Light" panose="020B0304030504040204" pitchFamily="34" charset="-120"/>
                <a:ea typeface="微軟正黑體 Light" panose="020B0304030504040204" pitchFamily="34" charset="-120"/>
              </a:rPr>
              <a:t>模型物件（</a:t>
            </a:r>
            <a:r>
              <a:rPr lang="en-US" altLang="zh-CN" sz="750" dirty="0">
                <a:latin typeface="微軟正黑體 Light" panose="020B0304030504040204" pitchFamily="34" charset="-120"/>
                <a:ea typeface="微軟正黑體 Light" panose="020B0304030504040204" pitchFamily="34" charset="-120"/>
              </a:rPr>
              <a:t>PyTorch</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36" name="矩形 35">
            <a:extLst>
              <a:ext uri="{FF2B5EF4-FFF2-40B4-BE49-F238E27FC236}">
                <a16:creationId xmlns:a16="http://schemas.microsoft.com/office/drawing/2014/main" id="{F252C65C-D672-5C68-794F-E0925F999210}"/>
              </a:ext>
            </a:extLst>
          </p:cNvPr>
          <p:cNvSpPr/>
          <p:nvPr/>
        </p:nvSpPr>
        <p:spPr>
          <a:xfrm>
            <a:off x="3333734" y="2351430"/>
            <a:ext cx="808909" cy="16081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訓練的參數物件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38" name="矩形 37">
            <a:extLst>
              <a:ext uri="{FF2B5EF4-FFF2-40B4-BE49-F238E27FC236}">
                <a16:creationId xmlns:a16="http://schemas.microsoft.com/office/drawing/2014/main" id="{D9A29691-5DC4-2523-0848-4376079D4EEA}"/>
              </a:ext>
            </a:extLst>
          </p:cNvPr>
          <p:cNvSpPr/>
          <p:nvPr/>
        </p:nvSpPr>
        <p:spPr>
          <a:xfrm>
            <a:off x="5936391" y="941546"/>
            <a:ext cx="852562"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下載分詞 </a:t>
            </a:r>
            <a:endParaRPr lang="zh-TW" altLang="en-US" sz="750" dirty="0">
              <a:latin typeface="微軟正黑體 Light" panose="020B0304030504040204" pitchFamily="34" charset="-120"/>
              <a:ea typeface="微軟正黑體 Light" panose="020B0304030504040204" pitchFamily="34" charset="-120"/>
            </a:endParaRPr>
          </a:p>
        </p:txBody>
      </p:sp>
      <p:sp>
        <p:nvSpPr>
          <p:cNvPr id="40" name="矩形 39">
            <a:extLst>
              <a:ext uri="{FF2B5EF4-FFF2-40B4-BE49-F238E27FC236}">
                <a16:creationId xmlns:a16="http://schemas.microsoft.com/office/drawing/2014/main" id="{BA7E9471-E2FD-7314-ED18-B23A9B912B1C}"/>
              </a:ext>
            </a:extLst>
          </p:cNvPr>
          <p:cNvSpPr/>
          <p:nvPr/>
        </p:nvSpPr>
        <p:spPr>
          <a:xfrm>
            <a:off x="5943002" y="1761251"/>
            <a:ext cx="852562" cy="12267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分詞物件 </a:t>
            </a:r>
            <a:endParaRPr lang="zh-TW" altLang="en-US" sz="750" dirty="0">
              <a:latin typeface="微軟正黑體 Light" panose="020B0304030504040204" pitchFamily="34" charset="-120"/>
              <a:ea typeface="微軟正黑體 Light" panose="020B0304030504040204" pitchFamily="34" charset="-120"/>
            </a:endParaRPr>
          </a:p>
        </p:txBody>
      </p:sp>
      <p:sp>
        <p:nvSpPr>
          <p:cNvPr id="42" name="矩形 41">
            <a:extLst>
              <a:ext uri="{FF2B5EF4-FFF2-40B4-BE49-F238E27FC236}">
                <a16:creationId xmlns:a16="http://schemas.microsoft.com/office/drawing/2014/main" id="{1AF69022-FE0D-1F1B-3379-9209ADAC26DA}"/>
              </a:ext>
            </a:extLst>
          </p:cNvPr>
          <p:cNvSpPr/>
          <p:nvPr/>
        </p:nvSpPr>
        <p:spPr>
          <a:xfrm>
            <a:off x="5777589" y="2284877"/>
            <a:ext cx="852563"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資料核排物件</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48" name="接點: 肘形 47">
            <a:extLst>
              <a:ext uri="{FF2B5EF4-FFF2-40B4-BE49-F238E27FC236}">
                <a16:creationId xmlns:a16="http://schemas.microsoft.com/office/drawing/2014/main" id="{42A5639D-869E-B09B-00DF-F40598C0B66F}"/>
              </a:ext>
            </a:extLst>
          </p:cNvPr>
          <p:cNvCxnSpPr>
            <a:cxnSpLocks/>
            <a:stCxn id="40" idx="2"/>
            <a:endCxn id="20" idx="0"/>
          </p:cNvCxnSpPr>
          <p:nvPr/>
        </p:nvCxnSpPr>
        <p:spPr>
          <a:xfrm rot="16200000" flipH="1">
            <a:off x="6886748" y="1366459"/>
            <a:ext cx="400953" cy="143588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51" name="接點: 肘形 50">
            <a:extLst>
              <a:ext uri="{FF2B5EF4-FFF2-40B4-BE49-F238E27FC236}">
                <a16:creationId xmlns:a16="http://schemas.microsoft.com/office/drawing/2014/main" id="{E8184D6F-1194-89A9-2EBE-106D9054DF3D}"/>
              </a:ext>
            </a:extLst>
          </p:cNvPr>
          <p:cNvCxnSpPr>
            <a:cxnSpLocks/>
            <a:stCxn id="40" idx="2"/>
            <a:endCxn id="42" idx="0"/>
          </p:cNvCxnSpPr>
          <p:nvPr/>
        </p:nvCxnSpPr>
        <p:spPr>
          <a:xfrm rot="5400000">
            <a:off x="6086100" y="2001694"/>
            <a:ext cx="400953" cy="16541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78" name="矩形 77">
            <a:extLst>
              <a:ext uri="{FF2B5EF4-FFF2-40B4-BE49-F238E27FC236}">
                <a16:creationId xmlns:a16="http://schemas.microsoft.com/office/drawing/2014/main" id="{E6C627EB-BF7F-9B14-B1F3-37E0A9AA5181}"/>
              </a:ext>
            </a:extLst>
          </p:cNvPr>
          <p:cNvSpPr/>
          <p:nvPr/>
        </p:nvSpPr>
        <p:spPr>
          <a:xfrm>
            <a:off x="4572000" y="3289905"/>
            <a:ext cx="772150"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啓動模型訓練</a:t>
            </a:r>
            <a:endParaRPr lang="zh-TW" altLang="en-US" sz="750" dirty="0">
              <a:latin typeface="微軟正黑體 Light" panose="020B0304030504040204" pitchFamily="34" charset="-120"/>
              <a:ea typeface="微軟正黑體 Light" panose="020B0304030504040204" pitchFamily="34" charset="-120"/>
            </a:endParaRPr>
          </a:p>
        </p:txBody>
      </p:sp>
      <p:sp>
        <p:nvSpPr>
          <p:cNvPr id="105" name="矩形 104">
            <a:extLst>
              <a:ext uri="{FF2B5EF4-FFF2-40B4-BE49-F238E27FC236}">
                <a16:creationId xmlns:a16="http://schemas.microsoft.com/office/drawing/2014/main" id="{3EC90861-398C-5499-A9B4-38CA12520ACD}"/>
              </a:ext>
            </a:extLst>
          </p:cNvPr>
          <p:cNvSpPr/>
          <p:nvPr/>
        </p:nvSpPr>
        <p:spPr>
          <a:xfrm>
            <a:off x="185739" y="4999033"/>
            <a:ext cx="8815387" cy="7047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zh-CN" altLang="en-US" sz="750" dirty="0">
                <a:latin typeface="微軟正黑體 Light" panose="020B0304030504040204" pitchFamily="34" charset="-120"/>
                <a:ea typeface="微軟正黑體 Light" panose="020B0304030504040204" pitchFamily="34" charset="-120"/>
              </a:rPr>
              <a:t>模型執行環境</a:t>
            </a:r>
            <a:endParaRPr lang="zh-TW" altLang="en-US" sz="750" dirty="0">
              <a:latin typeface="微軟正黑體 Light" panose="020B0304030504040204" pitchFamily="34" charset="-120"/>
              <a:ea typeface="微軟正黑體 Light" panose="020B0304030504040204" pitchFamily="34" charset="-120"/>
            </a:endParaRPr>
          </a:p>
        </p:txBody>
      </p:sp>
      <p:sp>
        <p:nvSpPr>
          <p:cNvPr id="110" name="矩形 109">
            <a:extLst>
              <a:ext uri="{FF2B5EF4-FFF2-40B4-BE49-F238E27FC236}">
                <a16:creationId xmlns:a16="http://schemas.microsoft.com/office/drawing/2014/main" id="{85109683-EDE3-2485-97C7-7F230C99D909}"/>
              </a:ext>
            </a:extLst>
          </p:cNvPr>
          <p:cNvSpPr/>
          <p:nvPr/>
        </p:nvSpPr>
        <p:spPr>
          <a:xfrm>
            <a:off x="185739" y="1679168"/>
            <a:ext cx="8815387" cy="22852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TW" altLang="en-US" sz="750" dirty="0">
                <a:latin typeface="微軟正黑體 Light" panose="020B0304030504040204" pitchFamily="34" charset="-120"/>
                <a:ea typeface="微軟正黑體 Light" panose="020B0304030504040204" pitchFamily="34" charset="-120"/>
              </a:rPr>
              <a:t>用 </a:t>
            </a:r>
            <a:r>
              <a:rPr lang="en-US" altLang="zh-TW" sz="750" dirty="0">
                <a:latin typeface="微軟正黑體 Light" panose="020B0304030504040204" pitchFamily="34" charset="-120"/>
                <a:ea typeface="微軟正黑體 Light" panose="020B0304030504040204" pitchFamily="34" charset="-120"/>
              </a:rPr>
              <a:t>PyTorch </a:t>
            </a:r>
            <a:r>
              <a:rPr lang="zh-TW" altLang="en-US" sz="750" dirty="0">
                <a:latin typeface="微軟正黑體 Light" panose="020B0304030504040204" pitchFamily="34" charset="-120"/>
                <a:ea typeface="微軟正黑體 Light" panose="020B0304030504040204" pitchFamily="34" charset="-120"/>
              </a:rPr>
              <a:t>從頭寫 </a:t>
            </a:r>
            <a:r>
              <a:rPr lang="en-US" altLang="zh-TW" sz="750" dirty="0">
                <a:latin typeface="微軟正黑體 Light" panose="020B0304030504040204" pitchFamily="34" charset="-120"/>
                <a:ea typeface="微軟正黑體 Light" panose="020B0304030504040204" pitchFamily="34" charset="-120"/>
              </a:rPr>
              <a:t>code </a:t>
            </a:r>
            <a:r>
              <a:rPr lang="zh-TW" altLang="en-US" sz="750" dirty="0">
                <a:latin typeface="微軟正黑體 Light" panose="020B0304030504040204" pitchFamily="34" charset="-120"/>
                <a:ea typeface="微軟正黑體 Light" panose="020B0304030504040204" pitchFamily="34" charset="-120"/>
              </a:rPr>
              <a:t>微調</a:t>
            </a:r>
          </a:p>
        </p:txBody>
      </p:sp>
      <p:cxnSp>
        <p:nvCxnSpPr>
          <p:cNvPr id="114" name="直線單箭頭接點 113">
            <a:extLst>
              <a:ext uri="{FF2B5EF4-FFF2-40B4-BE49-F238E27FC236}">
                <a16:creationId xmlns:a16="http://schemas.microsoft.com/office/drawing/2014/main" id="{E4ADABD1-954E-F32A-757A-287F2D9844C5}"/>
              </a:ext>
            </a:extLst>
          </p:cNvPr>
          <p:cNvCxnSpPr>
            <a:cxnSpLocks/>
            <a:stCxn id="10" idx="2"/>
            <a:endCxn id="34" idx="0"/>
          </p:cNvCxnSpPr>
          <p:nvPr/>
        </p:nvCxnSpPr>
        <p:spPr>
          <a:xfrm flipH="1">
            <a:off x="4955327" y="1108749"/>
            <a:ext cx="4198" cy="93318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8" name="直線單箭頭接點 117">
            <a:extLst>
              <a:ext uri="{FF2B5EF4-FFF2-40B4-BE49-F238E27FC236}">
                <a16:creationId xmlns:a16="http://schemas.microsoft.com/office/drawing/2014/main" id="{785C6C88-C610-04FC-BF45-F4DAD511E4BD}"/>
              </a:ext>
            </a:extLst>
          </p:cNvPr>
          <p:cNvCxnSpPr>
            <a:cxnSpLocks/>
            <a:stCxn id="38" idx="2"/>
            <a:endCxn id="40" idx="0"/>
          </p:cNvCxnSpPr>
          <p:nvPr/>
        </p:nvCxnSpPr>
        <p:spPr>
          <a:xfrm>
            <a:off x="6362672" y="1116965"/>
            <a:ext cx="6611" cy="64428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1" name="直線單箭頭接點 120">
            <a:extLst>
              <a:ext uri="{FF2B5EF4-FFF2-40B4-BE49-F238E27FC236}">
                <a16:creationId xmlns:a16="http://schemas.microsoft.com/office/drawing/2014/main" id="{7C0638DC-7015-38BE-4FEE-43D8B83328C7}"/>
              </a:ext>
            </a:extLst>
          </p:cNvPr>
          <p:cNvCxnSpPr>
            <a:cxnSpLocks/>
            <a:stCxn id="14" idx="2"/>
            <a:endCxn id="20" idx="0"/>
          </p:cNvCxnSpPr>
          <p:nvPr/>
        </p:nvCxnSpPr>
        <p:spPr>
          <a:xfrm>
            <a:off x="7805165" y="1109992"/>
            <a:ext cx="0" cy="117488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8" name="直線單箭頭接點 127">
            <a:extLst>
              <a:ext uri="{FF2B5EF4-FFF2-40B4-BE49-F238E27FC236}">
                <a16:creationId xmlns:a16="http://schemas.microsoft.com/office/drawing/2014/main" id="{72A1A04D-60AD-D17B-5905-3D7A6E87482F}"/>
              </a:ext>
            </a:extLst>
          </p:cNvPr>
          <p:cNvCxnSpPr>
            <a:cxnSpLocks/>
            <a:stCxn id="20" idx="1"/>
            <a:endCxn id="42" idx="3"/>
          </p:cNvCxnSpPr>
          <p:nvPr/>
        </p:nvCxnSpPr>
        <p:spPr>
          <a:xfrm flipH="1">
            <a:off x="6630152" y="2431835"/>
            <a:ext cx="478951" cy="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3" name="直線單箭頭接點 132">
            <a:extLst>
              <a:ext uri="{FF2B5EF4-FFF2-40B4-BE49-F238E27FC236}">
                <a16:creationId xmlns:a16="http://schemas.microsoft.com/office/drawing/2014/main" id="{F8859C5C-E641-D46A-0DB8-C5E6FAD38385}"/>
              </a:ext>
            </a:extLst>
          </p:cNvPr>
          <p:cNvCxnSpPr>
            <a:cxnSpLocks/>
            <a:stCxn id="42" idx="1"/>
            <a:endCxn id="34" idx="3"/>
          </p:cNvCxnSpPr>
          <p:nvPr/>
        </p:nvCxnSpPr>
        <p:spPr>
          <a:xfrm flipH="1">
            <a:off x="5670023" y="2431834"/>
            <a:ext cx="107565" cy="2162"/>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7" name="直線單箭頭接點 136">
            <a:extLst>
              <a:ext uri="{FF2B5EF4-FFF2-40B4-BE49-F238E27FC236}">
                <a16:creationId xmlns:a16="http://schemas.microsoft.com/office/drawing/2014/main" id="{0F9F68E0-7684-F86B-A00C-A00298B706D2}"/>
              </a:ext>
            </a:extLst>
          </p:cNvPr>
          <p:cNvCxnSpPr>
            <a:cxnSpLocks/>
            <a:stCxn id="36" idx="3"/>
            <a:endCxn id="34" idx="1"/>
          </p:cNvCxnSpPr>
          <p:nvPr/>
        </p:nvCxnSpPr>
        <p:spPr>
          <a:xfrm>
            <a:off x="4142642" y="2431836"/>
            <a:ext cx="97988" cy="2161"/>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46" name="矩形 145">
            <a:extLst>
              <a:ext uri="{FF2B5EF4-FFF2-40B4-BE49-F238E27FC236}">
                <a16:creationId xmlns:a16="http://schemas.microsoft.com/office/drawing/2014/main" id="{7CC0C207-7DCD-90A4-3CEE-B5686A84904A}"/>
              </a:ext>
            </a:extLst>
          </p:cNvPr>
          <p:cNvSpPr/>
          <p:nvPr/>
        </p:nvSpPr>
        <p:spPr>
          <a:xfrm>
            <a:off x="4461654" y="2240520"/>
            <a:ext cx="852563" cy="1483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微調</a:t>
            </a:r>
            <a:r>
              <a:rPr lang="zh-CN" altLang="en-US" sz="750" dirty="0">
                <a:latin typeface="微軟正黑體 Light" panose="020B0304030504040204" pitchFamily="34" charset="-120"/>
                <a:ea typeface="微軟正黑體 Light" panose="020B0304030504040204" pitchFamily="34" charset="-120"/>
              </a:rPr>
              <a:t>手段</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163" name="直線單箭頭接點 162">
            <a:extLst>
              <a:ext uri="{FF2B5EF4-FFF2-40B4-BE49-F238E27FC236}">
                <a16:creationId xmlns:a16="http://schemas.microsoft.com/office/drawing/2014/main" id="{5A8FECF0-ECFE-CF5E-6405-F2FB24E48054}"/>
              </a:ext>
            </a:extLst>
          </p:cNvPr>
          <p:cNvCxnSpPr>
            <a:cxnSpLocks/>
            <a:stCxn id="34" idx="2"/>
            <a:endCxn id="78" idx="0"/>
          </p:cNvCxnSpPr>
          <p:nvPr/>
        </p:nvCxnSpPr>
        <p:spPr>
          <a:xfrm>
            <a:off x="4955327" y="2826058"/>
            <a:ext cx="2749" cy="46384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66" name="直線單箭頭接點 165">
            <a:extLst>
              <a:ext uri="{FF2B5EF4-FFF2-40B4-BE49-F238E27FC236}">
                <a16:creationId xmlns:a16="http://schemas.microsoft.com/office/drawing/2014/main" id="{3B95A4BC-289B-F123-E3F9-4A3D68D3C9D9}"/>
              </a:ext>
            </a:extLst>
          </p:cNvPr>
          <p:cNvCxnSpPr>
            <a:cxnSpLocks/>
            <a:stCxn id="78" idx="2"/>
            <a:endCxn id="24" idx="0"/>
          </p:cNvCxnSpPr>
          <p:nvPr/>
        </p:nvCxnSpPr>
        <p:spPr>
          <a:xfrm>
            <a:off x="4958075" y="3583819"/>
            <a:ext cx="2898" cy="571313"/>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71" name="直線單箭頭接點 170">
            <a:extLst>
              <a:ext uri="{FF2B5EF4-FFF2-40B4-BE49-F238E27FC236}">
                <a16:creationId xmlns:a16="http://schemas.microsoft.com/office/drawing/2014/main" id="{2EB35435-5FF8-4324-BF98-F63774C09651}"/>
              </a:ext>
            </a:extLst>
          </p:cNvPr>
          <p:cNvCxnSpPr>
            <a:cxnSpLocks/>
            <a:stCxn id="24" idx="2"/>
            <a:endCxn id="26" idx="0"/>
          </p:cNvCxnSpPr>
          <p:nvPr/>
        </p:nvCxnSpPr>
        <p:spPr>
          <a:xfrm>
            <a:off x="4960973" y="4315767"/>
            <a:ext cx="0" cy="13328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75" name="文字方塊 174">
            <a:extLst>
              <a:ext uri="{FF2B5EF4-FFF2-40B4-BE49-F238E27FC236}">
                <a16:creationId xmlns:a16="http://schemas.microsoft.com/office/drawing/2014/main" id="{DC63F816-AC5B-9D01-4FA4-51AFBA0D6F6E}"/>
              </a:ext>
            </a:extLst>
          </p:cNvPr>
          <p:cNvSpPr txBox="1"/>
          <p:nvPr/>
        </p:nvSpPr>
        <p:spPr>
          <a:xfrm>
            <a:off x="4266801" y="2370255"/>
            <a:ext cx="1382548" cy="553998"/>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開旁支：</a:t>
            </a:r>
            <a:r>
              <a:rPr lang="zh-TW" altLang="zh-TW" sz="600" dirty="0">
                <a:latin typeface="微軟正黑體 Light" panose="020B0304030504040204" pitchFamily="34" charset="-120"/>
                <a:ea typeface="微軟正黑體 Light" panose="020B0304030504040204" pitchFamily="34" charset="-120"/>
              </a:rPr>
              <a:t>LoRA / QLoRA / DoRA</a:t>
            </a:r>
          </a:p>
          <a:p>
            <a:r>
              <a:rPr lang="zh-CN" altLang="en-US" sz="600" dirty="0">
                <a:latin typeface="微軟正黑體 Light" panose="020B0304030504040204" pitchFamily="34" charset="-120"/>
                <a:ea typeface="微軟正黑體 Light" panose="020B0304030504040204" pitchFamily="34" charset="-120"/>
              </a:rPr>
              <a:t>層凍結：</a:t>
            </a:r>
            <a:r>
              <a:rPr lang="zh-TW" altLang="zh-TW" sz="600" dirty="0">
                <a:latin typeface="微軟正黑體 Light" panose="020B0304030504040204" pitchFamily="34" charset="-120"/>
                <a:ea typeface="微軟正黑體 Light" panose="020B0304030504040204" pitchFamily="34" charset="-120"/>
              </a:rPr>
              <a:t>Freeze</a:t>
            </a:r>
            <a:br>
              <a:rPr lang="en-US" altLang="zh-TW" sz="600" dirty="0">
                <a:latin typeface="微軟正黑體 Light" panose="020B0304030504040204" pitchFamily="34" charset="-120"/>
                <a:ea typeface="微軟正黑體 Light" panose="020B0304030504040204" pitchFamily="34" charset="-120"/>
              </a:rPr>
            </a:br>
            <a:r>
              <a:rPr lang="zh-TW" altLang="en-US" sz="600" dirty="0">
                <a:latin typeface="微軟正黑體 Light" panose="020B0304030504040204" pitchFamily="34" charset="-120"/>
                <a:ea typeface="微軟正黑體 Light" panose="020B0304030504040204" pitchFamily="34" charset="-120"/>
              </a:rPr>
              <a:t>虛擬 </a:t>
            </a:r>
            <a:r>
              <a:rPr lang="en-US" altLang="zh-TW" sz="600" dirty="0">
                <a:latin typeface="微軟正黑體 Light" panose="020B0304030504040204" pitchFamily="34" charset="-120"/>
                <a:ea typeface="微軟正黑體 Light" panose="020B0304030504040204" pitchFamily="34" charset="-120"/>
              </a:rPr>
              <a:t>Token</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Prefix / Prompt Tuning</a:t>
            </a:r>
          </a:p>
          <a:p>
            <a:r>
              <a:rPr lang="zh-TW" altLang="en-US" sz="600" dirty="0">
                <a:latin typeface="微軟正黑體 Light" panose="020B0304030504040204" pitchFamily="34" charset="-120"/>
                <a:ea typeface="微軟正黑體 Light" panose="020B0304030504040204" pitchFamily="34" charset="-120"/>
              </a:rPr>
              <a:t>微調 </a:t>
            </a:r>
            <a:r>
              <a:rPr lang="en-US" altLang="zh-TW" sz="600" dirty="0">
                <a:latin typeface="微軟正黑體 Light" panose="020B0304030504040204" pitchFamily="34" charset="-120"/>
                <a:ea typeface="微軟正黑體 Light" panose="020B0304030504040204" pitchFamily="34" charset="-120"/>
              </a:rPr>
              <a:t>Bias</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BitFit</a:t>
            </a:r>
          </a:p>
        </p:txBody>
      </p:sp>
      <p:sp>
        <p:nvSpPr>
          <p:cNvPr id="191" name="文字方塊 190">
            <a:extLst>
              <a:ext uri="{FF2B5EF4-FFF2-40B4-BE49-F238E27FC236}">
                <a16:creationId xmlns:a16="http://schemas.microsoft.com/office/drawing/2014/main" id="{5D76B831-1B92-6132-F84C-703420D62D33}"/>
              </a:ext>
            </a:extLst>
          </p:cNvPr>
          <p:cNvSpPr txBox="1"/>
          <p:nvPr/>
        </p:nvSpPr>
        <p:spPr>
          <a:xfrm>
            <a:off x="6369282" y="1116147"/>
            <a:ext cx="1274688" cy="553998"/>
          </a:xfrm>
          <a:prstGeom prst="rect">
            <a:avLst/>
          </a:prstGeom>
          <a:noFill/>
          <a:ln w="12700">
            <a:noFill/>
          </a:ln>
        </p:spPr>
        <p:txBody>
          <a:bodyPr wrap="square">
            <a:spAutoFit/>
          </a:bodyPr>
          <a:lstStyle/>
          <a:p>
            <a:r>
              <a:rPr lang="en-US" altLang="zh-TW" sz="600" dirty="0">
                <a:latin typeface="微軟正黑體 Light" panose="020B0304030504040204" pitchFamily="34" charset="-120"/>
                <a:ea typeface="微軟正黑體 Light" panose="020B0304030504040204" pitchFamily="34" charset="-120"/>
              </a:rPr>
              <a:t>tokenizer_config.json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vocab.json</a:t>
            </a:r>
          </a:p>
          <a:p>
            <a:r>
              <a:rPr lang="en-US" altLang="zh-TW" sz="600" dirty="0">
                <a:latin typeface="微軟正黑體 Light" panose="020B0304030504040204" pitchFamily="34" charset="-120"/>
                <a:ea typeface="微軟正黑體 Light" panose="020B0304030504040204" pitchFamily="34" charset="-120"/>
              </a:rPr>
              <a:t>merges.txt</a:t>
            </a:r>
          </a:p>
          <a:p>
            <a:r>
              <a:rPr lang="en-US" altLang="zh-TW" sz="600" dirty="0">
                <a:latin typeface="微軟正黑體 Light" panose="020B0304030504040204" pitchFamily="34" charset="-120"/>
                <a:ea typeface="微軟正黑體 Light" panose="020B0304030504040204" pitchFamily="34" charset="-120"/>
              </a:rPr>
              <a:t>tokenizer.json</a:t>
            </a:r>
          </a:p>
          <a:p>
            <a:r>
              <a:rPr lang="en-US" altLang="zh-TW" sz="600" dirty="0">
                <a:latin typeface="微軟正黑體 Light" panose="020B0304030504040204" pitchFamily="34" charset="-120"/>
                <a:ea typeface="微軟正黑體 Light" panose="020B0304030504040204" pitchFamily="34" charset="-120"/>
              </a:rPr>
              <a:t>special_tokens_map.json</a:t>
            </a:r>
          </a:p>
        </p:txBody>
      </p:sp>
      <p:sp>
        <p:nvSpPr>
          <p:cNvPr id="202" name="文字方塊 201">
            <a:extLst>
              <a:ext uri="{FF2B5EF4-FFF2-40B4-BE49-F238E27FC236}">
                <a16:creationId xmlns:a16="http://schemas.microsoft.com/office/drawing/2014/main" id="{86C78B19-240D-1AE5-CE33-34433538B3A6}"/>
              </a:ext>
            </a:extLst>
          </p:cNvPr>
          <p:cNvSpPr txBox="1"/>
          <p:nvPr/>
        </p:nvSpPr>
        <p:spPr>
          <a:xfrm>
            <a:off x="7788181" y="1164677"/>
            <a:ext cx="1212944" cy="369332"/>
          </a:xfrm>
          <a:prstGeom prst="rect">
            <a:avLst/>
          </a:prstGeom>
          <a:noFill/>
          <a:ln w="12700">
            <a:noFill/>
          </a:ln>
        </p:spPr>
        <p:txBody>
          <a:bodyPr wrap="square">
            <a:spAutoFit/>
          </a:bodyPr>
          <a:lstStyle/>
          <a:p>
            <a:r>
              <a:rPr lang="zh-TW" altLang="zh-TW" sz="600" dirty="0">
                <a:latin typeface="微軟正黑體 Light" panose="020B0304030504040204" pitchFamily="34" charset="-120"/>
                <a:ea typeface="微軟正黑體 Light" panose="020B0304030504040204" pitchFamily="34" charset="-120"/>
              </a:rPr>
              <a:t>README.md</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solidFill>
                  <a:srgbClr val="FF0000"/>
                </a:solidFill>
                <a:latin typeface="微軟正黑體 Light" panose="020B0304030504040204" pitchFamily="34" charset="-120"/>
                <a:ea typeface="微軟正黑體 Light" panose="020B0304030504040204" pitchFamily="34" charset="-120"/>
              </a:rPr>
              <a:t>train-00000-of-00001.parquet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test-00000-of-00001.parquet</a:t>
            </a:r>
            <a:endParaRPr lang="en-US" altLang="zh-TW" sz="600" dirty="0">
              <a:solidFill>
                <a:srgbClr val="FF0000"/>
              </a:solidFill>
              <a:latin typeface="微軟正黑體 Light" panose="020B0304030504040204" pitchFamily="34" charset="-120"/>
              <a:ea typeface="微軟正黑體 Light" panose="020B0304030504040204" pitchFamily="34" charset="-120"/>
            </a:endParaRPr>
          </a:p>
        </p:txBody>
      </p:sp>
      <p:sp>
        <p:nvSpPr>
          <p:cNvPr id="247" name="文字方塊 246">
            <a:extLst>
              <a:ext uri="{FF2B5EF4-FFF2-40B4-BE49-F238E27FC236}">
                <a16:creationId xmlns:a16="http://schemas.microsoft.com/office/drawing/2014/main" id="{A5C640EF-71D1-9954-00E7-1DCD265E0930}"/>
              </a:ext>
            </a:extLst>
          </p:cNvPr>
          <p:cNvSpPr txBox="1"/>
          <p:nvPr/>
        </p:nvSpPr>
        <p:spPr>
          <a:xfrm>
            <a:off x="253425" y="926707"/>
            <a:ext cx="1081211"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直接可使用得微調工具</a:t>
            </a:r>
            <a:r>
              <a:rPr lang="en-US" altLang="zh-CN" sz="600" dirty="0">
                <a:latin typeface="微軟正黑體 Light" panose="020B0304030504040204" pitchFamily="34" charset="-120"/>
                <a:ea typeface="微軟正黑體 Light" panose="020B0304030504040204" pitchFamily="34" charset="-120"/>
              </a:rPr>
              <a:t>]</a:t>
            </a:r>
            <a:r>
              <a:rPr lang="zh-TW" altLang="zh-TW" sz="600" dirty="0"/>
              <a:t> </a:t>
            </a:r>
            <a:br>
              <a:rPr lang="en-US" altLang="zh-TW" sz="600" dirty="0"/>
            </a:br>
            <a:r>
              <a:rPr lang="zh-TW" altLang="zh-TW" sz="600" dirty="0"/>
              <a:t>Axolotl </a:t>
            </a:r>
            <a:endParaRPr lang="en-US" altLang="zh-TW" sz="600" dirty="0"/>
          </a:p>
          <a:p>
            <a:r>
              <a:rPr lang="zh-TW" altLang="zh-TW" sz="600" dirty="0">
                <a:solidFill>
                  <a:srgbClr val="FF0000"/>
                </a:solidFill>
              </a:rPr>
              <a:t>LLaMA Factory</a:t>
            </a:r>
            <a:endParaRPr lang="en-US" altLang="zh-TW" sz="600" dirty="0">
              <a:solidFill>
                <a:srgbClr val="FF0000"/>
              </a:solidFill>
            </a:endParaRPr>
          </a:p>
          <a:p>
            <a:r>
              <a:rPr lang="zh-TW" altLang="zh-TW" sz="600" dirty="0"/>
              <a:t>Unsloth </a:t>
            </a:r>
            <a:endParaRPr lang="en-US" altLang="zh-TW" sz="600" dirty="0"/>
          </a:p>
          <a:p>
            <a:r>
              <a:rPr lang="zh-TW" altLang="zh-TW" sz="600" dirty="0"/>
              <a:t>Torchtune </a:t>
            </a:r>
            <a:endParaRPr lang="en-US" altLang="zh-TW" sz="600" dirty="0"/>
          </a:p>
          <a:p>
            <a:r>
              <a:rPr lang="zh-TW" altLang="zh-TW" sz="600" dirty="0"/>
              <a:t>ModelScope SWIFT</a:t>
            </a:r>
          </a:p>
        </p:txBody>
      </p:sp>
      <p:sp>
        <p:nvSpPr>
          <p:cNvPr id="252" name="矩形 251">
            <a:extLst>
              <a:ext uri="{FF2B5EF4-FFF2-40B4-BE49-F238E27FC236}">
                <a16:creationId xmlns:a16="http://schemas.microsoft.com/office/drawing/2014/main" id="{9A6FC049-1187-D7E5-0630-C64F63C4816F}"/>
              </a:ext>
            </a:extLst>
          </p:cNvPr>
          <p:cNvSpPr/>
          <p:nvPr/>
        </p:nvSpPr>
        <p:spPr>
          <a:xfrm>
            <a:off x="1990764" y="514305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S</a:t>
            </a:r>
            <a:r>
              <a:rPr lang="zh-TW" altLang="zh-TW" sz="750" dirty="0">
                <a:latin typeface="微軟正黑體 Light" panose="020B0304030504040204" pitchFamily="34" charset="-120"/>
                <a:ea typeface="微軟正黑體 Light" panose="020B0304030504040204" pitchFamily="34" charset="-120"/>
              </a:rPr>
              <a:t>afetensors</a:t>
            </a:r>
            <a:endParaRPr lang="zh-TW" altLang="en-US" sz="750" dirty="0">
              <a:latin typeface="微軟正黑體 Light" panose="020B0304030504040204" pitchFamily="34" charset="-120"/>
              <a:ea typeface="微軟正黑體 Light" panose="020B0304030504040204" pitchFamily="34" charset="-120"/>
            </a:endParaRPr>
          </a:p>
        </p:txBody>
      </p:sp>
      <p:sp>
        <p:nvSpPr>
          <p:cNvPr id="258" name="矩形 257">
            <a:extLst>
              <a:ext uri="{FF2B5EF4-FFF2-40B4-BE49-F238E27FC236}">
                <a16:creationId xmlns:a16="http://schemas.microsoft.com/office/drawing/2014/main" id="{1ADAF727-5FDF-2842-C7DB-D8C277D46F95}"/>
              </a:ext>
            </a:extLst>
          </p:cNvPr>
          <p:cNvSpPr/>
          <p:nvPr/>
        </p:nvSpPr>
        <p:spPr>
          <a:xfrm>
            <a:off x="6935619" y="5139160"/>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GGUF</a:t>
            </a:r>
            <a:endParaRPr lang="zh-TW" altLang="en-US" sz="750" dirty="0">
              <a:latin typeface="微軟正黑體 Light" panose="020B0304030504040204" pitchFamily="34" charset="-120"/>
              <a:ea typeface="微軟正黑體 Light" panose="020B0304030504040204" pitchFamily="34" charset="-120"/>
            </a:endParaRPr>
          </a:p>
        </p:txBody>
      </p:sp>
      <p:sp>
        <p:nvSpPr>
          <p:cNvPr id="260" name="矩形 259">
            <a:extLst>
              <a:ext uri="{FF2B5EF4-FFF2-40B4-BE49-F238E27FC236}">
                <a16:creationId xmlns:a16="http://schemas.microsoft.com/office/drawing/2014/main" id="{231D6C02-3483-2589-2E13-924E757F37B9}"/>
              </a:ext>
            </a:extLst>
          </p:cNvPr>
          <p:cNvSpPr/>
          <p:nvPr/>
        </p:nvSpPr>
        <p:spPr>
          <a:xfrm>
            <a:off x="5155490" y="513456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MLX</a:t>
            </a:r>
            <a:endParaRPr lang="zh-TW" altLang="en-US" sz="750" dirty="0">
              <a:latin typeface="微軟正黑體 Light" panose="020B0304030504040204" pitchFamily="34" charset="-120"/>
              <a:ea typeface="微軟正黑體 Light" panose="020B0304030504040204" pitchFamily="34" charset="-120"/>
            </a:endParaRPr>
          </a:p>
        </p:txBody>
      </p:sp>
      <p:sp>
        <p:nvSpPr>
          <p:cNvPr id="262" name="矩形 261">
            <a:extLst>
              <a:ext uri="{FF2B5EF4-FFF2-40B4-BE49-F238E27FC236}">
                <a16:creationId xmlns:a16="http://schemas.microsoft.com/office/drawing/2014/main" id="{B2B955B9-2D46-C93F-B50E-EFFFE9188B34}"/>
              </a:ext>
            </a:extLst>
          </p:cNvPr>
          <p:cNvSpPr/>
          <p:nvPr/>
        </p:nvSpPr>
        <p:spPr>
          <a:xfrm>
            <a:off x="3395131" y="514177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ONNX</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265" name="接點: 肘形 264">
            <a:extLst>
              <a:ext uri="{FF2B5EF4-FFF2-40B4-BE49-F238E27FC236}">
                <a16:creationId xmlns:a16="http://schemas.microsoft.com/office/drawing/2014/main" id="{42D552B2-437C-65F9-520E-189C69CC693A}"/>
              </a:ext>
            </a:extLst>
          </p:cNvPr>
          <p:cNvCxnSpPr>
            <a:cxnSpLocks/>
            <a:stCxn id="26" idx="2"/>
            <a:endCxn id="252" idx="0"/>
          </p:cNvCxnSpPr>
          <p:nvPr/>
        </p:nvCxnSpPr>
        <p:spPr>
          <a:xfrm rot="5400000">
            <a:off x="3428842" y="3610922"/>
            <a:ext cx="520336" cy="254392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68" name="接點: 肘形 267">
            <a:extLst>
              <a:ext uri="{FF2B5EF4-FFF2-40B4-BE49-F238E27FC236}">
                <a16:creationId xmlns:a16="http://schemas.microsoft.com/office/drawing/2014/main" id="{0D4B1183-3F84-40E9-3BF3-22D2AECBA622}"/>
              </a:ext>
            </a:extLst>
          </p:cNvPr>
          <p:cNvCxnSpPr>
            <a:cxnSpLocks/>
            <a:stCxn id="26" idx="2"/>
            <a:endCxn id="258" idx="0"/>
          </p:cNvCxnSpPr>
          <p:nvPr/>
        </p:nvCxnSpPr>
        <p:spPr>
          <a:xfrm rot="16200000" flipH="1">
            <a:off x="5903217" y="3680476"/>
            <a:ext cx="516442" cy="2400927"/>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2" name="接點: 肘形 271">
            <a:extLst>
              <a:ext uri="{FF2B5EF4-FFF2-40B4-BE49-F238E27FC236}">
                <a16:creationId xmlns:a16="http://schemas.microsoft.com/office/drawing/2014/main" id="{68D0530A-C47E-1270-2FAA-27D23EC81278}"/>
              </a:ext>
            </a:extLst>
          </p:cNvPr>
          <p:cNvCxnSpPr>
            <a:cxnSpLocks/>
            <a:stCxn id="26" idx="2"/>
            <a:endCxn id="260" idx="0"/>
          </p:cNvCxnSpPr>
          <p:nvPr/>
        </p:nvCxnSpPr>
        <p:spPr>
          <a:xfrm rot="16200000" flipH="1">
            <a:off x="5015450" y="4568242"/>
            <a:ext cx="511846" cy="62079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5" name="接點: 肘形 274">
            <a:extLst>
              <a:ext uri="{FF2B5EF4-FFF2-40B4-BE49-F238E27FC236}">
                <a16:creationId xmlns:a16="http://schemas.microsoft.com/office/drawing/2014/main" id="{19DE8891-6873-FDD2-E2BA-E7D41F288E63}"/>
              </a:ext>
            </a:extLst>
          </p:cNvPr>
          <p:cNvCxnSpPr>
            <a:cxnSpLocks/>
            <a:stCxn id="26" idx="2"/>
            <a:endCxn id="262" idx="0"/>
          </p:cNvCxnSpPr>
          <p:nvPr/>
        </p:nvCxnSpPr>
        <p:spPr>
          <a:xfrm rot="5400000">
            <a:off x="4131665" y="4312467"/>
            <a:ext cx="519056" cy="1139561"/>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283" name="文字方塊 282">
            <a:extLst>
              <a:ext uri="{FF2B5EF4-FFF2-40B4-BE49-F238E27FC236}">
                <a16:creationId xmlns:a16="http://schemas.microsoft.com/office/drawing/2014/main" id="{E73DAF14-0EDE-066F-1C03-22F3F7D00913}"/>
              </a:ext>
            </a:extLst>
          </p:cNvPr>
          <p:cNvSpPr txBox="1"/>
          <p:nvPr/>
        </p:nvSpPr>
        <p:spPr>
          <a:xfrm>
            <a:off x="1942286" y="5279398"/>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 vLLM</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5" name="文字方塊 284">
            <a:extLst>
              <a:ext uri="{FF2B5EF4-FFF2-40B4-BE49-F238E27FC236}">
                <a16:creationId xmlns:a16="http://schemas.microsoft.com/office/drawing/2014/main" id="{FD0685BF-B94F-4A9B-9E8A-4034E88D406B}"/>
              </a:ext>
            </a:extLst>
          </p:cNvPr>
          <p:cNvSpPr txBox="1"/>
          <p:nvPr/>
        </p:nvSpPr>
        <p:spPr>
          <a:xfrm>
            <a:off x="6952602" y="5249248"/>
            <a:ext cx="852563" cy="276999"/>
          </a:xfrm>
          <a:prstGeom prst="rect">
            <a:avLst/>
          </a:prstGeom>
          <a:noFill/>
          <a:ln w="12700">
            <a:noFill/>
          </a:ln>
        </p:spPr>
        <p:txBody>
          <a:bodyPr wrap="square">
            <a:spAutoFit/>
          </a:bodyPr>
          <a:lstStyle/>
          <a:p>
            <a:r>
              <a:rPr lang="en-US" altLang="zh-CN" sz="600" dirty="0">
                <a:solidFill>
                  <a:srgbClr val="FF0000"/>
                </a:solidFill>
                <a:latin typeface="微軟正黑體 Light" panose="020B0304030504040204" pitchFamily="34" charset="-120"/>
                <a:ea typeface="微軟正黑體 Light" panose="020B0304030504040204" pitchFamily="34" charset="-120"/>
              </a:rPr>
              <a:t> Ollama </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7" name="文字方塊 286">
            <a:extLst>
              <a:ext uri="{FF2B5EF4-FFF2-40B4-BE49-F238E27FC236}">
                <a16:creationId xmlns:a16="http://schemas.microsoft.com/office/drawing/2014/main" id="{4B269E56-C728-6787-8E81-1981A87157F9}"/>
              </a:ext>
            </a:extLst>
          </p:cNvPr>
          <p:cNvSpPr txBox="1"/>
          <p:nvPr/>
        </p:nvSpPr>
        <p:spPr>
          <a:xfrm>
            <a:off x="5137010" y="5300545"/>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mlx-lm</a:t>
            </a:r>
          </a:p>
          <a:p>
            <a:r>
              <a:rPr lang="en-US" altLang="zh-TW" sz="600" dirty="0">
                <a:latin typeface="微軟正黑體 Light" panose="020B0304030504040204" pitchFamily="34" charset="-120"/>
                <a:ea typeface="微軟正黑體 Light" panose="020B0304030504040204" pitchFamily="34" charset="-120"/>
              </a:rPr>
              <a:t>LLM Farm </a:t>
            </a:r>
            <a:endParaRPr lang="zh-TW" altLang="zh-TW" sz="600" dirty="0">
              <a:latin typeface="微軟正黑體 Light" panose="020B0304030504040204" pitchFamily="34" charset="-120"/>
              <a:ea typeface="微軟正黑體 Light" panose="020B0304030504040204" pitchFamily="34" charset="-120"/>
            </a:endParaRPr>
          </a:p>
        </p:txBody>
      </p:sp>
      <p:sp>
        <p:nvSpPr>
          <p:cNvPr id="289" name="文字方塊 288">
            <a:extLst>
              <a:ext uri="{FF2B5EF4-FFF2-40B4-BE49-F238E27FC236}">
                <a16:creationId xmlns:a16="http://schemas.microsoft.com/office/drawing/2014/main" id="{2941C4EB-ADCA-39E4-0A07-CA423DBA4878}"/>
              </a:ext>
            </a:extLst>
          </p:cNvPr>
          <p:cNvSpPr txBox="1"/>
          <p:nvPr/>
        </p:nvSpPr>
        <p:spPr>
          <a:xfrm>
            <a:off x="3495632" y="5270701"/>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ONNX Runtime </a:t>
            </a:r>
            <a:endParaRPr lang="zh-TW" altLang="zh-TW" sz="600" dirty="0">
              <a:latin typeface="微軟正黑體 Light" panose="020B0304030504040204" pitchFamily="34" charset="-120"/>
              <a:ea typeface="微軟正黑體 Light" panose="020B0304030504040204" pitchFamily="34" charset="-120"/>
            </a:endParaRPr>
          </a:p>
        </p:txBody>
      </p:sp>
      <p:sp>
        <p:nvSpPr>
          <p:cNvPr id="291" name="文字方塊 290">
            <a:extLst>
              <a:ext uri="{FF2B5EF4-FFF2-40B4-BE49-F238E27FC236}">
                <a16:creationId xmlns:a16="http://schemas.microsoft.com/office/drawing/2014/main" id="{38A2098C-65B1-BAEA-F313-AF7DEA58FB71}"/>
              </a:ext>
            </a:extLst>
          </p:cNvPr>
          <p:cNvSpPr txBox="1"/>
          <p:nvPr/>
        </p:nvSpPr>
        <p:spPr>
          <a:xfrm>
            <a:off x="1980422" y="5506129"/>
            <a:ext cx="852563" cy="184666"/>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雲端、開發階段</a:t>
            </a:r>
            <a:endParaRPr lang="zh-TW" altLang="zh-TW" sz="600" dirty="0">
              <a:latin typeface="微軟正黑體 Light" panose="020B0304030504040204" pitchFamily="34" charset="-120"/>
              <a:ea typeface="微軟正黑體 Light" panose="020B0304030504040204" pitchFamily="34" charset="-120"/>
            </a:endParaRPr>
          </a:p>
        </p:txBody>
      </p:sp>
      <p:sp>
        <p:nvSpPr>
          <p:cNvPr id="293" name="文字方塊 292">
            <a:extLst>
              <a:ext uri="{FF2B5EF4-FFF2-40B4-BE49-F238E27FC236}">
                <a16:creationId xmlns:a16="http://schemas.microsoft.com/office/drawing/2014/main" id="{F156262B-FBDE-F4B9-3888-D43495A0DCCB}"/>
              </a:ext>
            </a:extLst>
          </p:cNvPr>
          <p:cNvSpPr txBox="1"/>
          <p:nvPr/>
        </p:nvSpPr>
        <p:spPr>
          <a:xfrm>
            <a:off x="7056293" y="5489959"/>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pc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5" name="文字方塊 294">
            <a:extLst>
              <a:ext uri="{FF2B5EF4-FFF2-40B4-BE49-F238E27FC236}">
                <a16:creationId xmlns:a16="http://schemas.microsoft.com/office/drawing/2014/main" id="{43DD308C-3610-EE5B-A0AC-865CAC18D067}"/>
              </a:ext>
            </a:extLst>
          </p:cNvPr>
          <p:cNvSpPr txBox="1"/>
          <p:nvPr/>
        </p:nvSpPr>
        <p:spPr>
          <a:xfrm>
            <a:off x="5213282" y="5533312"/>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mac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7" name="文字方塊 296">
            <a:extLst>
              <a:ext uri="{FF2B5EF4-FFF2-40B4-BE49-F238E27FC236}">
                <a16:creationId xmlns:a16="http://schemas.microsoft.com/office/drawing/2014/main" id="{8AB96CAE-778C-04C3-758E-EA80F7D02DEC}"/>
              </a:ext>
            </a:extLst>
          </p:cNvPr>
          <p:cNvSpPr txBox="1"/>
          <p:nvPr/>
        </p:nvSpPr>
        <p:spPr>
          <a:xfrm>
            <a:off x="3648084" y="5510651"/>
            <a:ext cx="852563" cy="184666"/>
          </a:xfrm>
          <a:prstGeom prst="rect">
            <a:avLst/>
          </a:prstGeom>
          <a:noFill/>
          <a:ln w="12700">
            <a:noFill/>
          </a:ln>
        </p:spPr>
        <p:txBody>
          <a:bodyPr wrap="square">
            <a:spAutoFit/>
          </a:bodyPr>
          <a:lstStyle/>
          <a:p>
            <a:r>
              <a:rPr lang="zh-TW" altLang="en-US" sz="600" dirty="0">
                <a:latin typeface="微軟正黑體 Light" panose="020B0304030504040204" pitchFamily="34" charset="-120"/>
                <a:ea typeface="微軟正黑體 Light" panose="020B0304030504040204" pitchFamily="34" charset="-120"/>
              </a:rPr>
              <a:t>跨平台</a:t>
            </a:r>
            <a:endParaRPr lang="zh-TW" altLang="zh-TW" sz="600" dirty="0">
              <a:latin typeface="微軟正黑體 Light" panose="020B0304030504040204" pitchFamily="34" charset="-120"/>
              <a:ea typeface="微軟正黑體 Light" panose="020B0304030504040204" pitchFamily="34" charset="-120"/>
            </a:endParaRPr>
          </a:p>
        </p:txBody>
      </p:sp>
      <p:pic>
        <p:nvPicPr>
          <p:cNvPr id="299" name="圖片 298">
            <a:extLst>
              <a:ext uri="{FF2B5EF4-FFF2-40B4-BE49-F238E27FC236}">
                <a16:creationId xmlns:a16="http://schemas.microsoft.com/office/drawing/2014/main" id="{3068F5DA-67C4-16D0-25EA-B8EC477900A9}"/>
              </a:ext>
            </a:extLst>
          </p:cNvPr>
          <p:cNvPicPr>
            <a:picLocks noChangeAspect="1"/>
          </p:cNvPicPr>
          <p:nvPr/>
        </p:nvPicPr>
        <p:blipFill>
          <a:blip r:embed="rId6"/>
          <a:stretch>
            <a:fillRect/>
          </a:stretch>
        </p:blipFill>
        <p:spPr>
          <a:xfrm>
            <a:off x="3768385" y="3408287"/>
            <a:ext cx="619157" cy="90492"/>
          </a:xfrm>
          <a:prstGeom prst="rect">
            <a:avLst/>
          </a:prstGeom>
        </p:spPr>
      </p:pic>
      <p:pic>
        <p:nvPicPr>
          <p:cNvPr id="301" name="圖片 300">
            <a:extLst>
              <a:ext uri="{FF2B5EF4-FFF2-40B4-BE49-F238E27FC236}">
                <a16:creationId xmlns:a16="http://schemas.microsoft.com/office/drawing/2014/main" id="{10C7C000-FE46-F822-B7E7-CAB6A7324674}"/>
              </a:ext>
            </a:extLst>
          </p:cNvPr>
          <p:cNvPicPr>
            <a:picLocks noChangeAspect="1"/>
          </p:cNvPicPr>
          <p:nvPr/>
        </p:nvPicPr>
        <p:blipFill>
          <a:blip r:embed="rId7"/>
          <a:stretch>
            <a:fillRect/>
          </a:stretch>
        </p:blipFill>
        <p:spPr>
          <a:xfrm>
            <a:off x="3847853" y="4182410"/>
            <a:ext cx="519140" cy="133357"/>
          </a:xfrm>
          <a:prstGeom prst="rect">
            <a:avLst/>
          </a:prstGeom>
        </p:spPr>
      </p:pic>
      <p:pic>
        <p:nvPicPr>
          <p:cNvPr id="303" name="圖片 302">
            <a:extLst>
              <a:ext uri="{FF2B5EF4-FFF2-40B4-BE49-F238E27FC236}">
                <a16:creationId xmlns:a16="http://schemas.microsoft.com/office/drawing/2014/main" id="{92A525C8-3860-AAFC-0292-5954D4D603D8}"/>
              </a:ext>
            </a:extLst>
          </p:cNvPr>
          <p:cNvPicPr>
            <a:picLocks noChangeAspect="1"/>
          </p:cNvPicPr>
          <p:nvPr/>
        </p:nvPicPr>
        <p:blipFill>
          <a:blip r:embed="rId8"/>
          <a:stretch>
            <a:fillRect/>
          </a:stretch>
        </p:blipFill>
        <p:spPr>
          <a:xfrm>
            <a:off x="1144584" y="4582336"/>
            <a:ext cx="1519316" cy="190510"/>
          </a:xfrm>
          <a:prstGeom prst="rect">
            <a:avLst/>
          </a:prstGeom>
        </p:spPr>
      </p:pic>
      <p:pic>
        <p:nvPicPr>
          <p:cNvPr id="309" name="圖片 308">
            <a:extLst>
              <a:ext uri="{FF2B5EF4-FFF2-40B4-BE49-F238E27FC236}">
                <a16:creationId xmlns:a16="http://schemas.microsoft.com/office/drawing/2014/main" id="{53B8548D-F084-A213-2F4D-C298EC54CB47}"/>
              </a:ext>
            </a:extLst>
          </p:cNvPr>
          <p:cNvPicPr>
            <a:picLocks noChangeAspect="1"/>
          </p:cNvPicPr>
          <p:nvPr/>
        </p:nvPicPr>
        <p:blipFill>
          <a:blip r:embed="rId9"/>
          <a:stretch>
            <a:fillRect/>
          </a:stretch>
        </p:blipFill>
        <p:spPr>
          <a:xfrm>
            <a:off x="6847244" y="4345355"/>
            <a:ext cx="1761549" cy="463336"/>
          </a:xfrm>
          <a:prstGeom prst="rect">
            <a:avLst/>
          </a:prstGeom>
        </p:spPr>
      </p:pic>
      <p:sp>
        <p:nvSpPr>
          <p:cNvPr id="350" name="文字方塊 349">
            <a:extLst>
              <a:ext uri="{FF2B5EF4-FFF2-40B4-BE49-F238E27FC236}">
                <a16:creationId xmlns:a16="http://schemas.microsoft.com/office/drawing/2014/main" id="{39FF7848-8229-04D6-551E-93C8BD91D235}"/>
              </a:ext>
            </a:extLst>
          </p:cNvPr>
          <p:cNvSpPr txBox="1"/>
          <p:nvPr/>
        </p:nvSpPr>
        <p:spPr>
          <a:xfrm>
            <a:off x="4937155" y="1108277"/>
            <a:ext cx="1217945" cy="363882"/>
          </a:xfrm>
          <a:prstGeom prst="rect">
            <a:avLst/>
          </a:prstGeom>
          <a:noFill/>
        </p:spPr>
        <p:txBody>
          <a:bodyPr wrap="square">
            <a:spAutoFit/>
          </a:bodyPr>
          <a:lstStyle/>
          <a:p>
            <a:pPr>
              <a:lnSpc>
                <a:spcPts val="1069"/>
              </a:lnSpc>
            </a:pPr>
            <a:r>
              <a:rPr lang="zh-TW" altLang="zh-TW" sz="750" dirty="0">
                <a:solidFill>
                  <a:srgbClr val="CE9178"/>
                </a:solidFill>
                <a:latin typeface="Consolas" panose="020B0609020204030204" pitchFamily="49" charset="0"/>
              </a:rPr>
              <a:t>gemma-4-E2B-it</a:t>
            </a:r>
            <a:r>
              <a:rPr lang="en-US" altLang="zh-TW" sz="750" dirty="0">
                <a:solidFill>
                  <a:srgbClr val="CE9178"/>
                </a:solidFill>
                <a:latin typeface="Consolas" panose="020B0609020204030204" pitchFamily="49" charset="0"/>
              </a:rPr>
              <a:t> 10.2</a:t>
            </a:r>
            <a:r>
              <a:rPr lang="en-US" altLang="zh-CN" sz="750" dirty="0">
                <a:solidFill>
                  <a:srgbClr val="CE9178"/>
                </a:solidFill>
                <a:latin typeface="Consolas" panose="020B0609020204030204" pitchFamily="49" charset="0"/>
              </a:rPr>
              <a:t>G</a:t>
            </a:r>
            <a:endParaRPr lang="zh-TW" altLang="zh-TW" sz="750"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24906059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alpha val="70000"/>
          </a:schemeClr>
        </a:solidFill>
        <a:ln w="12700">
          <a:solidFill>
            <a:schemeClr val="bg1">
              <a:lumMod val="7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簡報1" id="{3349570C-DE3B-48BB-8671-1853FC12C45D}" vid="{424F00FA-23EC-402E-8D8B-A6A8EB04865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TM02900688[[fn=多面向]]</Template>
  <TotalTime>343</TotalTime>
  <Words>7616</Words>
  <Application>Microsoft Office PowerPoint</Application>
  <PresentationFormat>如螢幕大小 (4:3)</PresentationFormat>
  <Paragraphs>1247</Paragraphs>
  <Slides>28</Slides>
  <Notes>16</Notes>
  <HiddenSlides>1</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28</vt:i4>
      </vt:variant>
    </vt:vector>
  </HeadingPairs>
  <TitlesOfParts>
    <vt:vector size="41" baseType="lpstr">
      <vt:lpstr>Google Sans</vt:lpstr>
      <vt:lpstr>Noto Sans HK</vt:lpstr>
      <vt:lpstr>微軟正黑體</vt:lpstr>
      <vt:lpstr>微軟正黑體 Light</vt:lpstr>
      <vt:lpstr>ADLaM Display</vt:lpstr>
      <vt:lpstr>Arial</vt:lpstr>
      <vt:lpstr>Calibri</vt:lpstr>
      <vt:lpstr>Cambria Math</vt:lpstr>
      <vt:lpstr>Comic Sans MS</vt:lpstr>
      <vt:lpstr>Consolas</vt:lpstr>
      <vt:lpstr>Gadugi</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Felix Tien(田慶豐)</dc:creator>
  <cp:lastModifiedBy>Allen Ni(倪士凱)</cp:lastModifiedBy>
  <cp:revision>1860</cp:revision>
  <cp:lastPrinted>2024-07-30T01:44:15Z</cp:lastPrinted>
  <dcterms:created xsi:type="dcterms:W3CDTF">2019-11-08T03:01:47Z</dcterms:created>
  <dcterms:modified xsi:type="dcterms:W3CDTF">2026-08-17T08:38:43Z</dcterms:modified>
</cp:coreProperties>
</file>