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509" r:id="rId8"/>
    <p:sldId id="3475" r:id="rId9"/>
    <p:sldId id="3470" r:id="rId10"/>
    <p:sldId id="3465" r:id="rId11"/>
    <p:sldId id="3515" r:id="rId12"/>
    <p:sldId id="3512" r:id="rId13"/>
    <p:sldId id="3508" r:id="rId14"/>
    <p:sldId id="3505" r:id="rId15"/>
    <p:sldId id="3514" r:id="rId16"/>
    <p:sldId id="3482" r:id="rId17"/>
    <p:sldId id="3507" r:id="rId18"/>
    <p:sldId id="3510" r:id="rId19"/>
    <p:sldId id="3489" r:id="rId20"/>
    <p:sldId id="3495" r:id="rId21"/>
    <p:sldId id="3503" r:id="rId22"/>
    <p:sldId id="3460" r:id="rId23"/>
    <p:sldId id="3504" r:id="rId24"/>
    <p:sldId id="257" r:id="rId25"/>
    <p:sldId id="265" r:id="rId26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509"/>
            <p14:sldId id="3475"/>
          </p14:sldIdLst>
        </p14:section>
        <p14:section name="Gemma" id="{5A048767-0D58-44AF-B962-12C29493294F}">
          <p14:sldIdLst>
            <p14:sldId id="3470"/>
            <p14:sldId id="3465"/>
            <p14:sldId id="3515"/>
            <p14:sldId id="3512"/>
            <p14:sldId id="3508"/>
            <p14:sldId id="3505"/>
            <p14:sldId id="3514"/>
            <p14:sldId id="3482"/>
            <p14:sldId id="3507"/>
            <p14:sldId id="3510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C0AB"/>
    <a:srgbClr val="F3E4DB"/>
    <a:srgbClr val="FFCC99"/>
    <a:srgbClr val="FF0000"/>
    <a:srgbClr val="CBDCA8"/>
    <a:srgbClr val="C5D8A0"/>
    <a:srgbClr val="CCFF66"/>
    <a:srgbClr val="DBFF94"/>
    <a:srgbClr val="DCE6F2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80529" autoAdjust="0"/>
  </p:normalViewPr>
  <p:slideViewPr>
    <p:cSldViewPr>
      <p:cViewPr>
        <p:scale>
          <a:sx n="100" d="100"/>
          <a:sy n="100" d="100"/>
        </p:scale>
        <p:origin x="76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9EE7-D198-3E86-7261-1EC23BEE6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E37E5C-0304-42CA-3A77-EACC25DB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E296902-1C32-C9C1-23F9-AA0A460A7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FAAD4B-36D3-89B7-CA5D-20CDFA507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72261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35A63-1F05-BE35-5E13-B3A3999C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46AC000-B44B-7302-0955-04C9F1765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1B94F7D-E714-7BBA-99A5-DED233F44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：如果各參數的梯度尺度差異很大（例如 LLM 這種巨型網絡），固定學習率很難收斂，調參非常痛苦。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正規化（Weight Decay）時，其數學公式會把權重衰減與梯度放在一起計算，導致權重並未如預期般衰減，容易過擬合。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快速收斂的特性，又大幅提升了模型的泛化能力（Generalization）。目前 95% 以上的 LLM（如 LLaMA, GPT 系列）預訓練預設都用它。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12914AF-2576-0CFB-E0DF-B86101C5A9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178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4F47-EB16-CF9A-FCFF-DF2AD4D51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C17BE60-1458-7CB6-6A3B-0C2306A6A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3776AC-C5C8-7B6F-7DF3-8766D0147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D1C7-02E8-655A-2FFA-6E583B237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39955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28A26-A7E8-D5C0-AE42-858A1A4A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75C3146-6C14-ADE0-D10D-F395043FF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829DC5B-9C1C-7C3E-50C5-CB12EFDA4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7DDA03-C392-EE78-26FB-6162975848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71440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2026/7/14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svg"/><Relationship Id="rId5" Type="http://schemas.openxmlformats.org/officeDocument/2006/relationships/image" Target="../media/image30.svg"/><Relationship Id="rId4" Type="http://schemas.openxmlformats.org/officeDocument/2006/relationships/image" Target="../media/image29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23.png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52431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Edge AI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 Family was born for Edge AI!)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QAD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(Quantization-Aware Distillation)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(LoRA, QLoRA,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DoRA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2" dur="20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Environment is subject to SLM, SFT Framework, Agents and  AI Orchestrator. 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601315"/>
              </p:ext>
            </p:extLst>
          </p:nvPr>
        </p:nvGraphicFramePr>
        <p:xfrm>
          <a:off x="4067942" y="1868362"/>
          <a:ext cx="2160242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03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2882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438197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619864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10199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258317"/>
              </p:ext>
            </p:extLst>
          </p:nvPr>
        </p:nvGraphicFramePr>
        <p:xfrm>
          <a:off x="6752510" y="1868362"/>
          <a:ext cx="1733619" cy="752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361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n8n, Zapier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6818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3963" y="136956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1873" y="1475823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16" y="1525480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5869" y="1475823"/>
            <a:ext cx="360260" cy="334586"/>
          </a:xfrm>
          <a:prstGeom prst="rect">
            <a:avLst/>
          </a:prstGeom>
        </p:spPr>
      </p:pic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7582075-B8F6-F21C-A8E2-79D5FC457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351392"/>
              </p:ext>
            </p:extLst>
          </p:nvPr>
        </p:nvGraphicFramePr>
        <p:xfrm>
          <a:off x="971600" y="1944250"/>
          <a:ext cx="1261264" cy="28049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6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80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6779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10333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99667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995690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3083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6415898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478787"/>
                  </a:ext>
                </a:extLst>
              </a:tr>
              <a:tr h="1938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Torchtune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5311677"/>
                  </a:ext>
                </a:extLst>
              </a:tr>
            </a:tbl>
          </a:graphicData>
        </a:graphic>
      </p:graphicFrame>
      <p:sp>
        <p:nvSpPr>
          <p:cNvPr id="24" name="文字方塊 23">
            <a:extLst>
              <a:ext uri="{FF2B5EF4-FFF2-40B4-BE49-F238E27FC236}">
                <a16:creationId xmlns:a16="http://schemas.microsoft.com/office/drawing/2014/main" id="{69C780C3-624C-359F-C75B-6C9EAFC58A69}"/>
              </a:ext>
            </a:extLst>
          </p:cNvPr>
          <p:cNvSpPr txBox="1"/>
          <p:nvPr/>
        </p:nvSpPr>
        <p:spPr>
          <a:xfrm>
            <a:off x="213023" y="504801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Infra</a:t>
            </a:r>
            <a:r>
              <a:rPr lang="en-US" altLang="zh-TW" sz="1600" b="1" dirty="0"/>
              <a:t>structure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GPU, </a:t>
            </a:r>
            <a:r>
              <a:rPr lang="en-US" altLang="zh-TW" sz="1600" dirty="0"/>
              <a:t>Python, and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base model </a:t>
            </a:r>
            <a:r>
              <a:rPr lang="en-US" altLang="zh-TW" sz="1600" dirty="0"/>
              <a:t>(GGUF) deployment by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Design Architecture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Agent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r>
              <a:rPr lang="en-US" altLang="zh-TW" sz="1600" dirty="0"/>
              <a:t> and some AI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agents</a:t>
            </a:r>
            <a:r>
              <a:rPr lang="en-US" altLang="zh-TW" sz="1600" dirty="0"/>
              <a:t>. (Open Claw / Hermes) 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Run SFT.py to update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QLoRA</a:t>
            </a:r>
            <a:r>
              <a:rPr lang="en-US" altLang="zh-TW" sz="1600" dirty="0"/>
              <a:t> adapter weights, then save merged model into GGUF. </a:t>
            </a: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5AAAC09-6243-904E-B0BB-2CB1EB349C59}"/>
              </a:ext>
            </a:extLst>
          </p:cNvPr>
          <p:cNvSpPr/>
          <p:nvPr/>
        </p:nvSpPr>
        <p:spPr>
          <a:xfrm>
            <a:off x="2507393" y="3770564"/>
            <a:ext cx="815380" cy="4003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Training</a:t>
            </a:r>
          </a:p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Framework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10B9AE8-D1E6-4B56-BE7C-1436B062E89F}"/>
              </a:ext>
            </a:extLst>
          </p:cNvPr>
          <p:cNvSpPr txBox="1"/>
          <p:nvPr/>
        </p:nvSpPr>
        <p:spPr>
          <a:xfrm>
            <a:off x="2507393" y="2996952"/>
            <a:ext cx="805937" cy="377045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(.GGUF)</a:t>
            </a:r>
          </a:p>
        </p:txBody>
      </p:sp>
      <p:sp>
        <p:nvSpPr>
          <p:cNvPr id="32" name="圖說文字: 直線 31">
            <a:extLst>
              <a:ext uri="{FF2B5EF4-FFF2-40B4-BE49-F238E27FC236}">
                <a16:creationId xmlns:a16="http://schemas.microsoft.com/office/drawing/2014/main" id="{C3636D81-AB12-A99A-6E5A-1F225035C3F1}"/>
              </a:ext>
            </a:extLst>
          </p:cNvPr>
          <p:cNvSpPr/>
          <p:nvPr/>
        </p:nvSpPr>
        <p:spPr>
          <a:xfrm flipH="1">
            <a:off x="6661889" y="1369566"/>
            <a:ext cx="1930538" cy="1355955"/>
          </a:xfrm>
          <a:prstGeom prst="borderCallout1">
            <a:avLst>
              <a:gd name="adj1" fmla="val 52923"/>
              <a:gd name="adj2" fmla="val 96722"/>
              <a:gd name="adj3" fmla="val 52799"/>
              <a:gd name="adj4" fmla="val 131288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65AA6843-DD4C-3853-E9EF-7E01BFE82BFB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313330" y="3185474"/>
            <a:ext cx="753434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50D3B039-32B3-41BE-226C-8D772D82279A}"/>
              </a:ext>
            </a:extLst>
          </p:cNvPr>
          <p:cNvCxnSpPr>
            <a:cxnSpLocks/>
            <a:stCxn id="25" idx="0"/>
            <a:endCxn id="29" idx="2"/>
          </p:cNvCxnSpPr>
          <p:nvPr/>
        </p:nvCxnSpPr>
        <p:spPr>
          <a:xfrm flipH="1" flipV="1">
            <a:off x="2910362" y="3373997"/>
            <a:ext cx="4721" cy="396567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圖說文字: 直線 44">
            <a:extLst>
              <a:ext uri="{FF2B5EF4-FFF2-40B4-BE49-F238E27FC236}">
                <a16:creationId xmlns:a16="http://schemas.microsoft.com/office/drawing/2014/main" id="{65E28DCF-B83B-ACA4-72D7-450129FDDF62}"/>
              </a:ext>
            </a:extLst>
          </p:cNvPr>
          <p:cNvSpPr/>
          <p:nvPr/>
        </p:nvSpPr>
        <p:spPr>
          <a:xfrm flipH="1">
            <a:off x="899592" y="1873860"/>
            <a:ext cx="1381609" cy="2923292"/>
          </a:xfrm>
          <a:prstGeom prst="borderCallout1">
            <a:avLst>
              <a:gd name="adj1" fmla="val 57186"/>
              <a:gd name="adj2" fmla="val 19046"/>
              <a:gd name="adj3" fmla="val 57222"/>
              <a:gd name="adj4" fmla="val -1553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D4098A93-C42F-CCFC-ED41-D7918E93E7E9}"/>
              </a:ext>
            </a:extLst>
          </p:cNvPr>
          <p:cNvSpPr txBox="1"/>
          <p:nvPr/>
        </p:nvSpPr>
        <p:spPr>
          <a:xfrm>
            <a:off x="3422344" y="3212976"/>
            <a:ext cx="628698" cy="12521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Deploy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9DCEA1B-F211-4C67-8EC6-BC680482505C}"/>
              </a:ext>
            </a:extLst>
          </p:cNvPr>
          <p:cNvSpPr txBox="1"/>
          <p:nvPr/>
        </p:nvSpPr>
        <p:spPr>
          <a:xfrm>
            <a:off x="2492817" y="3541826"/>
            <a:ext cx="829956" cy="17520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Fine-Tuning</a:t>
            </a:r>
            <a:endParaRPr lang="zh-TW" altLang="en-US" sz="1200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52788"/>
              </p:ext>
            </p:extLst>
          </p:nvPr>
        </p:nvGraphicFramePr>
        <p:xfrm>
          <a:off x="4066764" y="2678753"/>
          <a:ext cx="2160243" cy="21313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8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72008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344141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31407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740306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7200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73284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C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7EAB9C57-35D1-B219-F12E-346B907EEA10}"/>
              </a:ext>
            </a:extLst>
          </p:cNvPr>
          <p:cNvSpPr txBox="1"/>
          <p:nvPr/>
        </p:nvSpPr>
        <p:spPr>
          <a:xfrm>
            <a:off x="3398520" y="2852936"/>
            <a:ext cx="62869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>
            <a:glow rad="25400">
              <a:schemeClr val="bg1">
                <a:lumMod val="95000"/>
                <a:alpha val="40000"/>
              </a:schemeClr>
            </a:glow>
            <a:softEdge rad="50800"/>
          </a:effectLst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 err="1">
                <a:ln w="0"/>
                <a:solidFill>
                  <a:schemeClr val="accent1">
                    <a:lumMod val="75000"/>
                  </a:schemeClr>
                </a:solidFill>
                <a:latin typeface="Calibri"/>
                <a:ea typeface="新細明體" panose="02020500000000000000" pitchFamily="18" charset="-120"/>
              </a:rPr>
              <a:t>O</a:t>
            </a:r>
            <a:r>
              <a:rPr lang="en-US" altLang="zh-TW" sz="1200" dirty="0" err="1">
                <a:ln w="0"/>
                <a:solidFill>
                  <a:schemeClr val="tx1">
                    <a:lumMod val="95000"/>
                    <a:lumOff val="5000"/>
                  </a:schemeClr>
                </a:solidFill>
                <a:latin typeface="Calibri"/>
                <a:ea typeface="新細明體" panose="02020500000000000000" pitchFamily="18" charset="-120"/>
              </a:rPr>
              <a:t>llama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0115" y="2534275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47E5DF0-3960-36B0-9254-B5A63E01B49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4077072"/>
            <a:ext cx="457201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B8B6F72-A549-B220-DCA7-DC1B7241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67FC8883-BB6F-5C4D-A5C4-A1F589A907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286262"/>
              </p:ext>
            </p:extLst>
          </p:nvPr>
        </p:nvGraphicFramePr>
        <p:xfrm>
          <a:off x="455461" y="5182334"/>
          <a:ext cx="3890222" cy="98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02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LoRA, QLoRA,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QLRA/DRA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| Unsloth, LLaMA-Factory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Standard LoRA | Hugging Face TRL, Axolotl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Full FT + DeepSpeed | Megatron-LM, PyTorch FSDP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D28A7E10-EFB7-39EF-8E60-7B6E9EE83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6615885"/>
              </p:ext>
            </p:extLst>
          </p:nvPr>
        </p:nvGraphicFramePr>
        <p:xfrm>
          <a:off x="1187624" y="1491606"/>
          <a:ext cx="4578552" cy="3451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393">
                  <a:extLst>
                    <a:ext uri="{9D8B030D-6E8A-4147-A177-3AD203B41FA5}">
                      <a16:colId xmlns:a16="http://schemas.microsoft.com/office/drawing/2014/main" val="102433470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1801316647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3014040376"/>
                    </a:ext>
                  </a:extLst>
                </a:gridCol>
                <a:gridCol w="1126855">
                  <a:extLst>
                    <a:ext uri="{9D8B030D-6E8A-4147-A177-3AD203B41FA5}">
                      <a16:colId xmlns:a16="http://schemas.microsoft.com/office/drawing/2014/main" val="2413039513"/>
                    </a:ext>
                  </a:extLst>
                </a:gridCol>
              </a:tblGrid>
              <a:tr h="418266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Home Server/PC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Computer Vision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55569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Gemma4, Mistral,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DeepSeek, Qwen3-4B-Instruct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YOLO11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69343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Axolotl,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Face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TRL,</a:t>
                      </a:r>
                    </a:p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Torchtune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1200" dirty="0"/>
                        <a:t>Ultralytics 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5003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 Data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ShareGPT</a:t>
                      </a:r>
                      <a:endParaRPr kumimoji="0" lang="zh-TW" altLang="en-US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246566"/>
                  </a:ext>
                </a:extLst>
              </a:tr>
              <a:tr h="648072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Optimizer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Quantization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32-bit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 8-bit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Llama.cpp (GGUF)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OpenVINO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Toolkit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895739"/>
                  </a:ext>
                </a:extLst>
              </a:tr>
              <a:tr h="373434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Inference Engines</a:t>
                      </a:r>
                      <a:endParaRPr dirty="0"/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Runtime</a:t>
                      </a:r>
                      <a:endParaRPr lang="en-US" altLang="zh-TW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dirty="0"/>
                        <a:t>Megatron-LM / </a:t>
                      </a:r>
                      <a:r>
                        <a:rPr lang="en-US" altLang="zh-TW" sz="1200" dirty="0" err="1"/>
                        <a:t>DeepSpeed</a:t>
                      </a:r>
                      <a:endParaRPr lang="zh-TW" altLang="en-US" sz="1200" dirty="0"/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1705614"/>
                  </a:ext>
                </a:extLst>
              </a:tr>
              <a:tr h="36678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/>
                        <a:t>Hardware</a:t>
                      </a:r>
                    </a:p>
                  </a:txBody>
                  <a:tcPr marL="0" marR="0" marT="0" marB="0" anchor="ctr" anchorCtr="1"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TW" sz="1200" dirty="0"/>
                        <a:t>NPU / Raspberry Pi 5 / ARM  </a:t>
                      </a:r>
                    </a:p>
                    <a:p>
                      <a:pPr algn="ctr"/>
                      <a:r>
                        <a:rPr lang="zh-TW" altLang="zh-TW" sz="1200" dirty="0"/>
                        <a:t>CUDA / </a:t>
                      </a:r>
                      <a:r>
                        <a:rPr lang="en-US" altLang="zh-TW" sz="1200" dirty="0"/>
                        <a:t>Mac / NPU / PC</a:t>
                      </a:r>
                      <a:endParaRPr lang="zh-TW" altLang="en-US" dirty="0"/>
                    </a:p>
                  </a:txBody>
                  <a:tcPr marL="0" marR="0" marT="0" marB="0" anchor="ctr" anchorCtr="1"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3800420"/>
                  </a:ext>
                </a:extLst>
              </a:tr>
            </a:tbl>
          </a:graphicData>
        </a:graphic>
      </p:graphicFrame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32BC9FF3-428B-38B9-3E4F-FE9C15D111C8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4" name="圖片 13">
            <a:extLst>
              <a:ext uri="{FF2B5EF4-FFF2-40B4-BE49-F238E27FC236}">
                <a16:creationId xmlns:a16="http://schemas.microsoft.com/office/drawing/2014/main" id="{146713C1-67D6-2E22-3902-942D138E8D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17" y="2540149"/>
            <a:ext cx="457201" cy="457200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32BA665D-B867-F673-A622-0D7CB8CAB1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914" y="2276872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103562D-0073-D14F-640B-21B57C017310}"/>
              </a:ext>
            </a:extLst>
          </p:cNvPr>
          <p:cNvSpPr txBox="1"/>
          <p:nvPr/>
        </p:nvSpPr>
        <p:spPr>
          <a:xfrm>
            <a:off x="179512" y="3351241"/>
            <a:ext cx="333637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3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Gemma Terms of Use/</a:t>
            </a:r>
          </a:p>
          <a:p>
            <a:pPr lvl="0"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Multimodal, Context Window 128K, multilingual,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en-US" altLang="zh-TW" dirty="0"/>
              <a:t>Gemma 4</a:t>
            </a:r>
            <a:r>
              <a:rPr lang="en-US" altLang="zh-TW" sz="1200" dirty="0"/>
              <a:t>: apache 2.0</a:t>
            </a:r>
          </a:p>
          <a:p>
            <a:r>
              <a:rPr lang="en-US" altLang="zh-TW" sz="1200" dirty="0"/>
              <a:t>/ tag&lt;think&gt;/ </a:t>
            </a:r>
          </a:p>
          <a:p>
            <a:endParaRPr lang="en-US" altLang="zh-TW" sz="1200" dirty="0"/>
          </a:p>
          <a:p>
            <a:r>
              <a:rPr lang="en-US" altLang="zh-TW" sz="1200" dirty="0"/>
              <a:t>Native Multimodal: text, image, table, … AV(E2B)</a:t>
            </a:r>
          </a:p>
          <a:p>
            <a:endParaRPr lang="zh-TW" altLang="en-US" sz="1200" dirty="0"/>
          </a:p>
        </p:txBody>
      </p:sp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A803B05C-8DDD-E678-CEC2-9DA93E6186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18313"/>
              </p:ext>
            </p:extLst>
          </p:nvPr>
        </p:nvGraphicFramePr>
        <p:xfrm>
          <a:off x="351199" y="4970863"/>
          <a:ext cx="822557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24161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143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45267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4522079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797152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1" y="512978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60DF6B-6461-AA6F-E2BC-B9036A02165F}"/>
              </a:ext>
            </a:extLst>
          </p:cNvPr>
          <p:cNvGrpSpPr/>
          <p:nvPr/>
        </p:nvGrpSpPr>
        <p:grpSpPr>
          <a:xfrm>
            <a:off x="6804248" y="476672"/>
            <a:ext cx="1871696" cy="3240360"/>
            <a:chOff x="6804248" y="476672"/>
            <a:chExt cx="1871696" cy="3240360"/>
          </a:xfrm>
        </p:grpSpPr>
        <p:sp>
          <p:nvSpPr>
            <p:cNvPr id="58" name="文字方塊 57">
              <a:extLst>
                <a:ext uri="{FF2B5EF4-FFF2-40B4-BE49-F238E27FC236}">
                  <a16:creationId xmlns:a16="http://schemas.microsoft.com/office/drawing/2014/main" id="{2FA5271A-6251-9F6D-E4BF-8C7BBF6BE8DB}"/>
                </a:ext>
              </a:extLst>
            </p:cNvPr>
            <p:cNvSpPr txBox="1"/>
            <p:nvPr/>
          </p:nvSpPr>
          <p:spPr>
            <a:xfrm>
              <a:off x="7299516" y="2702530"/>
              <a:ext cx="872480" cy="222414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TE + PE</a:t>
              </a:r>
              <a:endPara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sp>
          <p:nvSpPr>
            <p:cNvPr id="55" name="矩形: 圓角 54">
              <a:extLst>
                <a:ext uri="{FF2B5EF4-FFF2-40B4-BE49-F238E27FC236}">
                  <a16:creationId xmlns:a16="http://schemas.microsoft.com/office/drawing/2014/main" id="{F544B70C-E4B4-1CCF-D188-78F665C0D6F8}"/>
                </a:ext>
              </a:extLst>
            </p:cNvPr>
            <p:cNvSpPr/>
            <p:nvPr/>
          </p:nvSpPr>
          <p:spPr>
            <a:xfrm>
              <a:off x="7013835" y="1412776"/>
              <a:ext cx="1440160" cy="1185341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C6653E2-E464-B67F-542C-626C1C49F7FF}"/>
                </a:ext>
              </a:extLst>
            </p:cNvPr>
            <p:cNvSpPr txBox="1"/>
            <p:nvPr/>
          </p:nvSpPr>
          <p:spPr>
            <a:xfrm>
              <a:off x="7157851" y="1571086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lang="zh-TW" altLang="en-US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A4DA872E-47D3-7A6D-BE96-70A23B1006A7}"/>
                </a:ext>
              </a:extLst>
            </p:cNvPr>
            <p:cNvSpPr txBox="1"/>
            <p:nvPr/>
          </p:nvSpPr>
          <p:spPr>
            <a:xfrm>
              <a:off x="7157851" y="1940154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1FE51C67-71A2-A3A5-E1FA-B717129CA894}"/>
                </a:ext>
              </a:extLst>
            </p:cNvPr>
            <p:cNvSpPr txBox="1"/>
            <p:nvPr/>
          </p:nvSpPr>
          <p:spPr>
            <a:xfrm>
              <a:off x="7157851" y="98071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F5D3F3E7-E4F3-965F-8F04-7A64D5D57113}"/>
                </a:ext>
              </a:extLst>
            </p:cNvPr>
            <p:cNvSpPr txBox="1"/>
            <p:nvPr/>
          </p:nvSpPr>
          <p:spPr>
            <a:xfrm>
              <a:off x="7157851" y="47667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Token</a:t>
              </a:r>
              <a:endPara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cxnSp>
          <p:nvCxnSpPr>
            <p:cNvPr id="61" name="直線單箭頭接點 60">
              <a:extLst>
                <a:ext uri="{FF2B5EF4-FFF2-40B4-BE49-F238E27FC236}">
                  <a16:creationId xmlns:a16="http://schemas.microsoft.com/office/drawing/2014/main" id="{329C200D-76D7-0142-2C84-0D0C4C97F4FA}"/>
                </a:ext>
              </a:extLst>
            </p:cNvPr>
            <p:cNvCxnSpPr>
              <a:cxnSpLocks/>
              <a:stCxn id="59" idx="0"/>
              <a:endCxn id="60" idx="2"/>
            </p:cNvCxnSpPr>
            <p:nvPr/>
          </p:nvCxnSpPr>
          <p:spPr>
            <a:xfrm flipV="1">
              <a:off x="7733915" y="836712"/>
              <a:ext cx="0" cy="144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線單箭頭接點 61">
              <a:extLst>
                <a:ext uri="{FF2B5EF4-FFF2-40B4-BE49-F238E27FC236}">
                  <a16:creationId xmlns:a16="http://schemas.microsoft.com/office/drawing/2014/main" id="{C5B3142A-D863-64FB-0BC8-59567C7436B5}"/>
                </a:ext>
              </a:extLst>
            </p:cNvPr>
            <p:cNvCxnSpPr>
              <a:cxnSpLocks/>
              <a:stCxn id="56" idx="0"/>
              <a:endCxn id="59" idx="2"/>
            </p:cNvCxnSpPr>
            <p:nvPr/>
          </p:nvCxnSpPr>
          <p:spPr>
            <a:xfrm flipV="1">
              <a:off x="7733915" y="1205765"/>
              <a:ext cx="0" cy="36532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線單箭頭接點 62">
              <a:extLst>
                <a:ext uri="{FF2B5EF4-FFF2-40B4-BE49-F238E27FC236}">
                  <a16:creationId xmlns:a16="http://schemas.microsoft.com/office/drawing/2014/main" id="{BB7C1B6D-A99F-B1F2-96FB-F86F15FE3897}"/>
                </a:ext>
              </a:extLst>
            </p:cNvPr>
            <p:cNvCxnSpPr>
              <a:cxnSpLocks/>
              <a:stCxn id="58" idx="0"/>
              <a:endCxn id="57" idx="2"/>
            </p:cNvCxnSpPr>
            <p:nvPr/>
          </p:nvCxnSpPr>
          <p:spPr>
            <a:xfrm flipH="1" flipV="1">
              <a:off x="7733915" y="2463376"/>
              <a:ext cx="1841" cy="23915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單箭頭接點 63">
              <a:extLst>
                <a:ext uri="{FF2B5EF4-FFF2-40B4-BE49-F238E27FC236}">
                  <a16:creationId xmlns:a16="http://schemas.microsoft.com/office/drawing/2014/main" id="{8AE4B4AE-55F0-3C44-8DE4-E9D5AECED94B}"/>
                </a:ext>
              </a:extLst>
            </p:cNvPr>
            <p:cNvCxnSpPr>
              <a:cxnSpLocks/>
              <a:stCxn id="57" idx="0"/>
              <a:endCxn id="56" idx="2"/>
            </p:cNvCxnSpPr>
            <p:nvPr/>
          </p:nvCxnSpPr>
          <p:spPr>
            <a:xfrm flipV="1">
              <a:off x="7733915" y="1796138"/>
              <a:ext cx="0" cy="14401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接點: 肘形 64">
              <a:extLst>
                <a:ext uri="{FF2B5EF4-FFF2-40B4-BE49-F238E27FC236}">
                  <a16:creationId xmlns:a16="http://schemas.microsoft.com/office/drawing/2014/main" id="{2BCF499F-4098-D851-5556-9E6FCE276555}"/>
                </a:ext>
              </a:extLst>
            </p:cNvPr>
            <p:cNvCxnSpPr>
              <a:cxnSpLocks/>
              <a:stCxn id="60" idx="3"/>
              <a:endCxn id="58" idx="3"/>
            </p:cNvCxnSpPr>
            <p:nvPr/>
          </p:nvCxnSpPr>
          <p:spPr>
            <a:xfrm flipH="1">
              <a:off x="8171996" y="656692"/>
              <a:ext cx="137983" cy="2157045"/>
            </a:xfrm>
            <a:prstGeom prst="bentConnector3">
              <a:avLst>
                <a:gd name="adj1" fmla="val -165673"/>
              </a:avLst>
            </a:prstGeom>
            <a:ln w="19050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7C584174-AADE-F778-38AE-FBDA33DA3A7B}"/>
                </a:ext>
              </a:extLst>
            </p:cNvPr>
            <p:cNvSpPr txBox="1"/>
            <p:nvPr/>
          </p:nvSpPr>
          <p:spPr>
            <a:xfrm>
              <a:off x="6848657" y="2152607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lang="en-US" altLang="zh-TW" sz="1000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  <a:endParaRPr lang="en-US" altLang="zh-TW" sz="1000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endParaRPr>
            </a:p>
          </p:txBody>
        </p:sp>
        <p:grpSp>
          <p:nvGrpSpPr>
            <p:cNvPr id="74" name="群組 73">
              <a:extLst>
                <a:ext uri="{FF2B5EF4-FFF2-40B4-BE49-F238E27FC236}">
                  <a16:creationId xmlns:a16="http://schemas.microsoft.com/office/drawing/2014/main" id="{31EED9A3-C9D5-7E2A-5423-072BCC118A22}"/>
                </a:ext>
              </a:extLst>
            </p:cNvPr>
            <p:cNvGrpSpPr/>
            <p:nvPr/>
          </p:nvGrpSpPr>
          <p:grpSpPr>
            <a:xfrm>
              <a:off x="6804248" y="3167464"/>
              <a:ext cx="1871696" cy="549568"/>
              <a:chOff x="6804248" y="2996952"/>
              <a:chExt cx="1871696" cy="549568"/>
            </a:xfrm>
          </p:grpSpPr>
          <p:sp>
            <p:nvSpPr>
              <p:cNvPr id="54" name="矩形 53">
                <a:extLst>
                  <a:ext uri="{FF2B5EF4-FFF2-40B4-BE49-F238E27FC236}">
                    <a16:creationId xmlns:a16="http://schemas.microsoft.com/office/drawing/2014/main" id="{AE893425-E4F6-96F7-4CC3-98302DF5C655}"/>
                  </a:ext>
                </a:extLst>
              </p:cNvPr>
              <p:cNvSpPr/>
              <p:nvPr/>
            </p:nvSpPr>
            <p:spPr>
              <a:xfrm>
                <a:off x="6804248" y="2996952"/>
                <a:ext cx="1871696" cy="549568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  <a:ln w="19050">
                <a:solidFill>
                  <a:schemeClr val="accent5">
                    <a:lumMod val="75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36000" rIns="36000" bIns="0" rtlCol="0" anchor="t" anchorCtr="0"/>
              <a:lstStyle/>
              <a:p>
                <a:pPr algn="r">
                  <a:lnSpc>
                    <a:spcPts val="1000"/>
                  </a:lnSpc>
                </a:pPr>
                <a:r>
                  <a:rPr lang="en-US" altLang="zh-TW" sz="1000" dirty="0">
                    <a:solidFill>
                      <a:schemeClr val="tx1"/>
                    </a:solidFill>
                    <a:ea typeface="微軟正黑體" panose="020B0604030504040204" pitchFamily="34" charset="-120"/>
                  </a:rPr>
                  <a:t>Native Multimodal</a:t>
                </a:r>
              </a:p>
            </p:txBody>
          </p:sp>
          <p:sp>
            <p:nvSpPr>
              <p:cNvPr id="67" name="矩形 66">
                <a:extLst>
                  <a:ext uri="{FF2B5EF4-FFF2-40B4-BE49-F238E27FC236}">
                    <a16:creationId xmlns:a16="http://schemas.microsoft.com/office/drawing/2014/main" id="{E82C9A1B-ACF3-0F81-4569-541E1B66A86C}"/>
                  </a:ext>
                </a:extLst>
              </p:cNvPr>
              <p:cNvSpPr/>
              <p:nvPr/>
            </p:nvSpPr>
            <p:spPr>
              <a:xfrm>
                <a:off x="6876255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Text</a:t>
                </a: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9168C702-BEE1-C784-FD87-4E5F14C79BC3}"/>
                  </a:ext>
                </a:extLst>
              </p:cNvPr>
              <p:cNvSpPr/>
              <p:nvPr/>
            </p:nvSpPr>
            <p:spPr>
              <a:xfrm>
                <a:off x="7481887" y="3202232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Image</a:t>
                </a: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2B1AA674-C134-9D92-4758-2D986FC6D4ED}"/>
                  </a:ext>
                </a:extLst>
              </p:cNvPr>
              <p:cNvSpPr/>
              <p:nvPr/>
            </p:nvSpPr>
            <p:spPr>
              <a:xfrm>
                <a:off x="8083837" y="3187755"/>
                <a:ext cx="504056" cy="268224"/>
              </a:xfrm>
              <a:prstGeom prst="rect">
                <a:avLst/>
              </a:prstGeom>
              <a:solidFill>
                <a:schemeClr val="bg1">
                  <a:alpha val="90000"/>
                </a:schemeClr>
              </a:solidFill>
              <a:ln w="38100"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>
                  <a:lnSpc>
                    <a:spcPts val="1000"/>
                  </a:lnSpc>
                </a:pPr>
                <a:r>
                  <a:rPr lang="en-US" altLang="zh-TW" sz="1400" b="1" baseline="-25000" dirty="0">
                    <a:solidFill>
                      <a:schemeClr val="tx1"/>
                    </a:solidFill>
                    <a:latin typeface="微軟正黑體" panose="020B0604030504040204" pitchFamily="34" charset="-120"/>
                    <a:ea typeface="微軟正黑體" panose="020B0604030504040204" pitchFamily="34" charset="-120"/>
                  </a:rPr>
                  <a:t>Audio</a:t>
                </a:r>
              </a:p>
            </p:txBody>
          </p:sp>
        </p:grpSp>
        <p:cxnSp>
          <p:nvCxnSpPr>
            <p:cNvPr id="71" name="直線單箭頭接點 70">
              <a:extLst>
                <a:ext uri="{FF2B5EF4-FFF2-40B4-BE49-F238E27FC236}">
                  <a16:creationId xmlns:a16="http://schemas.microsoft.com/office/drawing/2014/main" id="{FCC31C36-5B68-C944-0E8A-4FECFFB9EB3D}"/>
                </a:ext>
              </a:extLst>
            </p:cNvPr>
            <p:cNvCxnSpPr>
              <a:cxnSpLocks/>
              <a:stCxn id="54" idx="0"/>
              <a:endCxn id="58" idx="2"/>
            </p:cNvCxnSpPr>
            <p:nvPr/>
          </p:nvCxnSpPr>
          <p:spPr>
            <a:xfrm flipH="1" flipV="1">
              <a:off x="7735756" y="2924944"/>
              <a:ext cx="4340" cy="24252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072574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endParaRPr lang="en-US" altLang="zh-TW" sz="1000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072574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 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A73F4B-F6D5-D6A8-3D63-B5B2B052D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4928086E-C57B-CFD8-E24B-4BEE16E549AE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D1C7F93-BED0-BD63-3058-B9779172DA6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FE2DAF5-F4B3-4E3C-D9A4-186F750E2771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7CB97D8A-008F-A17E-ABCD-A5F03CC103EE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2168BB19-0CE7-C14B-A0E9-DE6B080FA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976AB3B6-6FB0-A420-1C88-B1C5B9652D4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F55F07FA-0178-637C-C21A-E7E010B31F8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3" name="右大括弧 82">
            <a:extLst>
              <a:ext uri="{FF2B5EF4-FFF2-40B4-BE49-F238E27FC236}">
                <a16:creationId xmlns:a16="http://schemas.microsoft.com/office/drawing/2014/main" id="{78E195F4-AC8C-9656-0261-19089CDFC37A}"/>
              </a:ext>
            </a:extLst>
          </p:cNvPr>
          <p:cNvSpPr/>
          <p:nvPr/>
        </p:nvSpPr>
        <p:spPr>
          <a:xfrm rot="5400000">
            <a:off x="4896673" y="3475067"/>
            <a:ext cx="174616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5" name="標題 1">
            <a:extLst>
              <a:ext uri="{FF2B5EF4-FFF2-40B4-BE49-F238E27FC236}">
                <a16:creationId xmlns:a16="http://schemas.microsoft.com/office/drawing/2014/main" id="{E9A03960-058B-2CB8-2C60-45E910202458}"/>
              </a:ext>
            </a:extLst>
          </p:cNvPr>
          <p:cNvSpPr txBox="1">
            <a:spLocks/>
          </p:cNvSpPr>
          <p:nvPr/>
        </p:nvSpPr>
        <p:spPr>
          <a:xfrm>
            <a:off x="4046601" y="3790008"/>
            <a:ext cx="496133" cy="225143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Full-FT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4B59C877-B523-3595-7DC8-BF6CE185AA2E}"/>
              </a:ext>
            </a:extLst>
          </p:cNvPr>
          <p:cNvSpPr/>
          <p:nvPr/>
        </p:nvSpPr>
        <p:spPr>
          <a:xfrm>
            <a:off x="2471724" y="217179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6893B6E1-7D78-7FC0-5CF9-80CE7CCC3F9D}"/>
              </a:ext>
            </a:extLst>
          </p:cNvPr>
          <p:cNvSpPr txBox="1"/>
          <p:nvPr/>
        </p:nvSpPr>
        <p:spPr>
          <a:xfrm>
            <a:off x="2539118" y="223552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2AEDE1F3-B28E-D40E-7AAE-184448BD5887}"/>
              </a:ext>
            </a:extLst>
          </p:cNvPr>
          <p:cNvSpPr txBox="1"/>
          <p:nvPr/>
        </p:nvSpPr>
        <p:spPr>
          <a:xfrm>
            <a:off x="2539118" y="270696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33D1A3B3-6E0C-56F1-303D-64C258B2A34D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864664"/>
            <a:ext cx="2" cy="37085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9D3BDDE6-9F86-9B08-A3E0-E1B6FEF50B9B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307782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08F38121-E97B-5C72-59F8-584A1DACE066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AC6F89D-9DDE-C6B1-B8D4-091FD6E91DE4}"/>
              </a:ext>
            </a:extLst>
          </p:cNvPr>
          <p:cNvSpPr txBox="1"/>
          <p:nvPr/>
        </p:nvSpPr>
        <p:spPr>
          <a:xfrm>
            <a:off x="2651259" y="329872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CAA15A2-2C82-7EC5-D818-A6325C0C4EB8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4EEBD5D0-F0A5-4D13-81E1-6F52D5F64607}"/>
              </a:ext>
            </a:extLst>
          </p:cNvPr>
          <p:cNvSpPr txBox="1"/>
          <p:nvPr/>
        </p:nvSpPr>
        <p:spPr>
          <a:xfrm>
            <a:off x="2539118" y="1486748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cxnSp>
        <p:nvCxnSpPr>
          <p:cNvPr id="144" name="接點: 肘形 143">
            <a:extLst>
              <a:ext uri="{FF2B5EF4-FFF2-40B4-BE49-F238E27FC236}">
                <a16:creationId xmlns:a16="http://schemas.microsoft.com/office/drawing/2014/main" id="{93F4892F-BD86-06A2-4D59-865B71745F2D}"/>
              </a:ext>
            </a:extLst>
          </p:cNvPr>
          <p:cNvCxnSpPr>
            <a:cxnSpLocks/>
            <a:stCxn id="139" idx="3"/>
            <a:endCxn id="135" idx="3"/>
          </p:cNvCxnSpPr>
          <p:nvPr/>
        </p:nvCxnSpPr>
        <p:spPr>
          <a:xfrm>
            <a:off x="3470701" y="1675706"/>
            <a:ext cx="108652" cy="950562"/>
          </a:xfrm>
          <a:prstGeom prst="bentConnector3">
            <a:avLst>
              <a:gd name="adj1" fmla="val 310396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接點: 肘形 146">
            <a:extLst>
              <a:ext uri="{FF2B5EF4-FFF2-40B4-BE49-F238E27FC236}">
                <a16:creationId xmlns:a16="http://schemas.microsoft.com/office/drawing/2014/main" id="{418D1EB1-3D02-619E-CCD1-EFA2AFDEA83D}"/>
              </a:ext>
            </a:extLst>
          </p:cNvPr>
          <p:cNvCxnSpPr>
            <a:cxnSpLocks/>
            <a:stCxn id="137" idx="3"/>
            <a:endCxn id="379" idx="3"/>
          </p:cNvCxnSpPr>
          <p:nvPr/>
        </p:nvCxnSpPr>
        <p:spPr>
          <a:xfrm>
            <a:off x="1606488" y="1320066"/>
            <a:ext cx="272973" cy="1246657"/>
          </a:xfrm>
          <a:prstGeom prst="bentConnector3">
            <a:avLst>
              <a:gd name="adj1" fmla="val 148652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矩形: 圓角 230">
            <a:extLst>
              <a:ext uri="{FF2B5EF4-FFF2-40B4-BE49-F238E27FC236}">
                <a16:creationId xmlns:a16="http://schemas.microsoft.com/office/drawing/2014/main" id="{A2518113-6553-AA3F-2F21-6672C01DB5A5}"/>
              </a:ext>
            </a:extLst>
          </p:cNvPr>
          <p:cNvSpPr/>
          <p:nvPr/>
        </p:nvSpPr>
        <p:spPr>
          <a:xfrm>
            <a:off x="3967587" y="217179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2" name="文字方塊 231">
            <a:extLst>
              <a:ext uri="{FF2B5EF4-FFF2-40B4-BE49-F238E27FC236}">
                <a16:creationId xmlns:a16="http://schemas.microsoft.com/office/drawing/2014/main" id="{8238E81A-BF63-7018-BB35-37510B2097A2}"/>
              </a:ext>
            </a:extLst>
          </p:cNvPr>
          <p:cNvSpPr txBox="1"/>
          <p:nvPr/>
        </p:nvSpPr>
        <p:spPr>
          <a:xfrm>
            <a:off x="4034981" y="223552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D8AA9854-6650-14F6-7194-1F2BA46C15AA}"/>
              </a:ext>
            </a:extLst>
          </p:cNvPr>
          <p:cNvSpPr txBox="1"/>
          <p:nvPr/>
        </p:nvSpPr>
        <p:spPr>
          <a:xfrm>
            <a:off x="4034981" y="270696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4" name="直線單箭頭接點 233">
            <a:extLst>
              <a:ext uri="{FF2B5EF4-FFF2-40B4-BE49-F238E27FC236}">
                <a16:creationId xmlns:a16="http://schemas.microsoft.com/office/drawing/2014/main" id="{1CE1F568-9AF0-FDD0-8BDC-B0404C25ABFD}"/>
              </a:ext>
            </a:extLst>
          </p:cNvPr>
          <p:cNvCxnSpPr>
            <a:cxnSpLocks/>
            <a:stCxn id="232" idx="0"/>
            <a:endCxn id="238" idx="2"/>
          </p:cNvCxnSpPr>
          <p:nvPr/>
        </p:nvCxnSpPr>
        <p:spPr>
          <a:xfrm flipH="1" flipV="1">
            <a:off x="4296524" y="1874865"/>
            <a:ext cx="1" cy="3606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78555B27-050E-6D09-9209-95456926B4E8}"/>
              </a:ext>
            </a:extLst>
          </p:cNvPr>
          <p:cNvCxnSpPr>
            <a:cxnSpLocks/>
            <a:stCxn id="237" idx="0"/>
            <a:endCxn id="233" idx="2"/>
          </p:cNvCxnSpPr>
          <p:nvPr/>
        </p:nvCxnSpPr>
        <p:spPr>
          <a:xfrm flipV="1">
            <a:off x="4294668" y="307782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線單箭頭接點 235">
            <a:extLst>
              <a:ext uri="{FF2B5EF4-FFF2-40B4-BE49-F238E27FC236}">
                <a16:creationId xmlns:a16="http://schemas.microsoft.com/office/drawing/2014/main" id="{F52FCB81-009B-A3DE-6E4C-EA1C22CED224}"/>
              </a:ext>
            </a:extLst>
          </p:cNvPr>
          <p:cNvCxnSpPr>
            <a:cxnSpLocks/>
            <a:stCxn id="233" idx="0"/>
            <a:endCxn id="232" idx="2"/>
          </p:cNvCxnSpPr>
          <p:nvPr/>
        </p:nvCxnSpPr>
        <p:spPr>
          <a:xfrm flipV="1">
            <a:off x="4296525" y="260638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文字方塊 236">
            <a:extLst>
              <a:ext uri="{FF2B5EF4-FFF2-40B4-BE49-F238E27FC236}">
                <a16:creationId xmlns:a16="http://schemas.microsoft.com/office/drawing/2014/main" id="{447FA1F8-2B57-5506-DA2A-EA056337303C}"/>
              </a:ext>
            </a:extLst>
          </p:cNvPr>
          <p:cNvSpPr txBox="1"/>
          <p:nvPr/>
        </p:nvSpPr>
        <p:spPr>
          <a:xfrm>
            <a:off x="4078644" y="329872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38" name="文字方塊 237">
            <a:extLst>
              <a:ext uri="{FF2B5EF4-FFF2-40B4-BE49-F238E27FC236}">
                <a16:creationId xmlns:a16="http://schemas.microsoft.com/office/drawing/2014/main" id="{09077A5C-56B1-48A7-B132-39266F22E51F}"/>
              </a:ext>
            </a:extLst>
          </p:cNvPr>
          <p:cNvSpPr txBox="1"/>
          <p:nvPr/>
        </p:nvSpPr>
        <p:spPr>
          <a:xfrm>
            <a:off x="3899040" y="1496949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239" name="接點: 肘形 238">
            <a:extLst>
              <a:ext uri="{FF2B5EF4-FFF2-40B4-BE49-F238E27FC236}">
                <a16:creationId xmlns:a16="http://schemas.microsoft.com/office/drawing/2014/main" id="{5E43A6DC-032E-5EDA-92AE-19A6DC7665B4}"/>
              </a:ext>
            </a:extLst>
          </p:cNvPr>
          <p:cNvCxnSpPr>
            <a:cxnSpLocks/>
            <a:stCxn id="238" idx="3"/>
            <a:endCxn id="300" idx="3"/>
          </p:cNvCxnSpPr>
          <p:nvPr/>
        </p:nvCxnSpPr>
        <p:spPr>
          <a:xfrm flipH="1">
            <a:off x="4651286" y="1685907"/>
            <a:ext cx="42722" cy="943870"/>
          </a:xfrm>
          <a:prstGeom prst="bentConnector3">
            <a:avLst>
              <a:gd name="adj1" fmla="val -535087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矩形: 圓角 299">
            <a:extLst>
              <a:ext uri="{FF2B5EF4-FFF2-40B4-BE49-F238E27FC236}">
                <a16:creationId xmlns:a16="http://schemas.microsoft.com/office/drawing/2014/main" id="{71E57E49-05C6-FC3D-E7B0-E01D33C9B182}"/>
              </a:ext>
            </a:extLst>
          </p:cNvPr>
          <p:cNvSpPr/>
          <p:nvPr/>
        </p:nvSpPr>
        <p:spPr>
          <a:xfrm>
            <a:off x="3904878" y="2062812"/>
            <a:ext cx="746408" cy="1133929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3" name="矩形: 圓角 302">
            <a:extLst>
              <a:ext uri="{FF2B5EF4-FFF2-40B4-BE49-F238E27FC236}">
                <a16:creationId xmlns:a16="http://schemas.microsoft.com/office/drawing/2014/main" id="{E56FF762-98A6-05A5-C664-098F47F03575}"/>
              </a:ext>
            </a:extLst>
          </p:cNvPr>
          <p:cNvSpPr/>
          <p:nvPr/>
        </p:nvSpPr>
        <p:spPr>
          <a:xfrm>
            <a:off x="5346213" y="2170828"/>
            <a:ext cx="88141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4" name="文字方塊 303">
            <a:extLst>
              <a:ext uri="{FF2B5EF4-FFF2-40B4-BE49-F238E27FC236}">
                <a16:creationId xmlns:a16="http://schemas.microsoft.com/office/drawing/2014/main" id="{03C040A2-8548-6161-7FA9-A766B9DB7A7B}"/>
              </a:ext>
            </a:extLst>
          </p:cNvPr>
          <p:cNvSpPr txBox="1"/>
          <p:nvPr/>
        </p:nvSpPr>
        <p:spPr>
          <a:xfrm>
            <a:off x="5413607" y="2234552"/>
            <a:ext cx="523087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05" name="文字方塊 304">
            <a:extLst>
              <a:ext uri="{FF2B5EF4-FFF2-40B4-BE49-F238E27FC236}">
                <a16:creationId xmlns:a16="http://schemas.microsoft.com/office/drawing/2014/main" id="{C44D0204-C2D8-698D-5A2F-359E1DBFD495}"/>
              </a:ext>
            </a:extLst>
          </p:cNvPr>
          <p:cNvSpPr txBox="1"/>
          <p:nvPr/>
        </p:nvSpPr>
        <p:spPr>
          <a:xfrm>
            <a:off x="5413607" y="2705994"/>
            <a:ext cx="5230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6" name="直線單箭頭接點 305">
            <a:extLst>
              <a:ext uri="{FF2B5EF4-FFF2-40B4-BE49-F238E27FC236}">
                <a16:creationId xmlns:a16="http://schemas.microsoft.com/office/drawing/2014/main" id="{BBB80449-19F8-1466-7D83-E56ADE739BB9}"/>
              </a:ext>
            </a:extLst>
          </p:cNvPr>
          <p:cNvCxnSpPr>
            <a:cxnSpLocks/>
            <a:stCxn id="304" idx="0"/>
            <a:endCxn id="310" idx="2"/>
          </p:cNvCxnSpPr>
          <p:nvPr/>
        </p:nvCxnSpPr>
        <p:spPr>
          <a:xfrm flipH="1" flipV="1">
            <a:off x="5675150" y="2134820"/>
            <a:ext cx="1" cy="9973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線單箭頭接點 306">
            <a:extLst>
              <a:ext uri="{FF2B5EF4-FFF2-40B4-BE49-F238E27FC236}">
                <a16:creationId xmlns:a16="http://schemas.microsoft.com/office/drawing/2014/main" id="{8891154A-4E2A-C42E-E97C-6967CF03D0C2}"/>
              </a:ext>
            </a:extLst>
          </p:cNvPr>
          <p:cNvCxnSpPr>
            <a:cxnSpLocks/>
            <a:stCxn id="309" idx="0"/>
            <a:endCxn id="305" idx="2"/>
          </p:cNvCxnSpPr>
          <p:nvPr/>
        </p:nvCxnSpPr>
        <p:spPr>
          <a:xfrm flipV="1">
            <a:off x="5673294" y="3076852"/>
            <a:ext cx="1857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線單箭頭接點 307">
            <a:extLst>
              <a:ext uri="{FF2B5EF4-FFF2-40B4-BE49-F238E27FC236}">
                <a16:creationId xmlns:a16="http://schemas.microsoft.com/office/drawing/2014/main" id="{664FE641-7A4B-43C0-571D-60C3357A6F56}"/>
              </a:ext>
            </a:extLst>
          </p:cNvPr>
          <p:cNvCxnSpPr>
            <a:cxnSpLocks/>
            <a:stCxn id="305" idx="0"/>
            <a:endCxn id="304" idx="2"/>
          </p:cNvCxnSpPr>
          <p:nvPr/>
        </p:nvCxnSpPr>
        <p:spPr>
          <a:xfrm flipV="1">
            <a:off x="5675151" y="260541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9" name="文字方塊 308">
            <a:extLst>
              <a:ext uri="{FF2B5EF4-FFF2-40B4-BE49-F238E27FC236}">
                <a16:creationId xmlns:a16="http://schemas.microsoft.com/office/drawing/2014/main" id="{1B7EEA07-5236-B0CB-DF53-EBDAD1352252}"/>
              </a:ext>
            </a:extLst>
          </p:cNvPr>
          <p:cNvSpPr txBox="1"/>
          <p:nvPr/>
        </p:nvSpPr>
        <p:spPr>
          <a:xfrm>
            <a:off x="5457270" y="3297757"/>
            <a:ext cx="432048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200" b="1" u="sng" dirty="0">
                <a:solidFill>
                  <a:srgbClr val="000000"/>
                </a:solidFill>
                <a:latin typeface="Consolas" panose="020B0609020204030204" pitchFamily="49" charset="0"/>
              </a:rPr>
              <a:t>Q&amp;A</a:t>
            </a:r>
            <a:r>
              <a:rPr lang="en-US" altLang="zh-TW" sz="1200" b="1" u="sng" strike="noStrike" kern="1200" spc="0" dirty="0">
                <a:ln>
                  <a:noFill/>
                </a:ln>
                <a:effectLst/>
                <a:latin typeface="Consolas" panose="020B0609020204030204" pitchFamily="49" charset="0"/>
              </a:rPr>
              <a:t> </a:t>
            </a:r>
            <a:endParaRPr lang="en-US" altLang="zh-TW" sz="1200" u="sng" strike="noStrike" kern="1200" spc="0" dirty="0">
              <a:ln>
                <a:noFill/>
              </a:ln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0" name="文字方塊 309">
            <a:extLst>
              <a:ext uri="{FF2B5EF4-FFF2-40B4-BE49-F238E27FC236}">
                <a16:creationId xmlns:a16="http://schemas.microsoft.com/office/drawing/2014/main" id="{86FD164C-4839-ECC6-D3B2-828B5EC3E5DA}"/>
              </a:ext>
            </a:extLst>
          </p:cNvPr>
          <p:cNvSpPr txBox="1"/>
          <p:nvPr/>
        </p:nvSpPr>
        <p:spPr>
          <a:xfrm>
            <a:off x="5277666" y="1756904"/>
            <a:ext cx="794968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Answer</a:t>
            </a:r>
          </a:p>
        </p:txBody>
      </p:sp>
      <p:cxnSp>
        <p:nvCxnSpPr>
          <p:cNvPr id="311" name="接點: 肘形 310">
            <a:extLst>
              <a:ext uri="{FF2B5EF4-FFF2-40B4-BE49-F238E27FC236}">
                <a16:creationId xmlns:a16="http://schemas.microsoft.com/office/drawing/2014/main" id="{ED60DC25-DDD7-2411-38C4-366D7CBDFF4B}"/>
              </a:ext>
            </a:extLst>
          </p:cNvPr>
          <p:cNvCxnSpPr>
            <a:cxnSpLocks/>
            <a:stCxn id="310" idx="3"/>
            <a:endCxn id="314" idx="3"/>
          </p:cNvCxnSpPr>
          <p:nvPr/>
        </p:nvCxnSpPr>
        <p:spPr>
          <a:xfrm>
            <a:off x="6072634" y="1945862"/>
            <a:ext cx="155550" cy="719434"/>
          </a:xfrm>
          <a:prstGeom prst="bentConnector3">
            <a:avLst>
              <a:gd name="adj1" fmla="val 246962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文字方塊 311">
            <a:extLst>
              <a:ext uri="{FF2B5EF4-FFF2-40B4-BE49-F238E27FC236}">
                <a16:creationId xmlns:a16="http://schemas.microsoft.com/office/drawing/2014/main" id="{A8B9269E-7FBF-3E42-97B2-335290142724}"/>
              </a:ext>
            </a:extLst>
          </p:cNvPr>
          <p:cNvSpPr txBox="1"/>
          <p:nvPr/>
        </p:nvSpPr>
        <p:spPr>
          <a:xfrm>
            <a:off x="5995972" y="2234552"/>
            <a:ext cx="189751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3" name="文字方塊 312">
            <a:extLst>
              <a:ext uri="{FF2B5EF4-FFF2-40B4-BE49-F238E27FC236}">
                <a16:creationId xmlns:a16="http://schemas.microsoft.com/office/drawing/2014/main" id="{1085CC75-5575-6210-66EA-84D9B0F6D001}"/>
              </a:ext>
            </a:extLst>
          </p:cNvPr>
          <p:cNvSpPr txBox="1"/>
          <p:nvPr/>
        </p:nvSpPr>
        <p:spPr>
          <a:xfrm>
            <a:off x="5995972" y="2705994"/>
            <a:ext cx="19876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Adapter</a:t>
            </a:r>
          </a:p>
        </p:txBody>
      </p:sp>
      <p:sp>
        <p:nvSpPr>
          <p:cNvPr id="314" name="矩形: 圓角 313">
            <a:extLst>
              <a:ext uri="{FF2B5EF4-FFF2-40B4-BE49-F238E27FC236}">
                <a16:creationId xmlns:a16="http://schemas.microsoft.com/office/drawing/2014/main" id="{802CC4AE-7A3A-BB48-2FEE-0B3EF73F2D66}"/>
              </a:ext>
            </a:extLst>
          </p:cNvPr>
          <p:cNvSpPr/>
          <p:nvPr/>
        </p:nvSpPr>
        <p:spPr>
          <a:xfrm>
            <a:off x="5934837" y="2134820"/>
            <a:ext cx="293347" cy="106095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2B7827D6-EC5A-7D11-B6E2-F17E4B871D68}"/>
              </a:ext>
            </a:extLst>
          </p:cNvPr>
          <p:cNvSpPr/>
          <p:nvPr/>
        </p:nvSpPr>
        <p:spPr>
          <a:xfrm>
            <a:off x="2422005" y="2056764"/>
            <a:ext cx="1157348" cy="113900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AB38B9BB-4AC4-B112-A435-4F9A60610A38}"/>
              </a:ext>
            </a:extLst>
          </p:cNvPr>
          <p:cNvSpPr/>
          <p:nvPr/>
        </p:nvSpPr>
        <p:spPr>
          <a:xfrm>
            <a:off x="6729360" y="2170828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ECA351F7-1427-FEFB-C8AA-E5FBD7A4090F}"/>
              </a:ext>
            </a:extLst>
          </p:cNvPr>
          <p:cNvSpPr txBox="1"/>
          <p:nvPr/>
        </p:nvSpPr>
        <p:spPr>
          <a:xfrm>
            <a:off x="6806458" y="2234552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1CD1F429-5C8E-E739-47FB-816E10B6C5DC}"/>
              </a:ext>
            </a:extLst>
          </p:cNvPr>
          <p:cNvSpPr txBox="1"/>
          <p:nvPr/>
        </p:nvSpPr>
        <p:spPr>
          <a:xfrm>
            <a:off x="6806458" y="2705994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04C496F6-ABD8-EFF6-C621-DDF60E6942D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7012825" y="2072676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EA38E3ED-AE34-7105-5ED2-00698176F1A4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7014674" y="3076852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9CA200CA-E02A-A925-2198-43CACB2AC030}"/>
              </a:ext>
            </a:extLst>
          </p:cNvPr>
          <p:cNvSpPr txBox="1"/>
          <p:nvPr/>
        </p:nvSpPr>
        <p:spPr>
          <a:xfrm>
            <a:off x="6798650" y="3214940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1FECA35E-3096-BFA2-1F7E-A7FFCE7DDE3A}"/>
              </a:ext>
            </a:extLst>
          </p:cNvPr>
          <p:cNvSpPr txBox="1"/>
          <p:nvPr/>
        </p:nvSpPr>
        <p:spPr>
          <a:xfrm>
            <a:off x="6789353" y="1772816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988D470B-5B31-AF94-45D7-CB5C8933B818}"/>
              </a:ext>
            </a:extLst>
          </p:cNvPr>
          <p:cNvSpPr txBox="1"/>
          <p:nvPr/>
        </p:nvSpPr>
        <p:spPr>
          <a:xfrm>
            <a:off x="7256498" y="2234552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71813641-9200-346F-AD71-EED07E9F1993}"/>
              </a:ext>
            </a:extLst>
          </p:cNvPr>
          <p:cNvSpPr txBox="1"/>
          <p:nvPr/>
        </p:nvSpPr>
        <p:spPr>
          <a:xfrm>
            <a:off x="7256498" y="2705994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C04A9F6E-8A3F-0D84-60DF-6A02C063D7AB}"/>
              </a:ext>
            </a:extLst>
          </p:cNvPr>
          <p:cNvSpPr/>
          <p:nvPr/>
        </p:nvSpPr>
        <p:spPr>
          <a:xfrm>
            <a:off x="5076056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</a:rPr>
              <a:t>VRAM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278B883E-9F6A-A28A-B853-98CA5AE0DE0D}"/>
              </a:ext>
            </a:extLst>
          </p:cNvPr>
          <p:cNvSpPr/>
          <p:nvPr/>
        </p:nvSpPr>
        <p:spPr>
          <a:xfrm>
            <a:off x="7881488" y="2170744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1728371D-45C5-71FE-1F03-2EDCD1376F78}"/>
              </a:ext>
            </a:extLst>
          </p:cNvPr>
          <p:cNvSpPr txBox="1"/>
          <p:nvPr/>
        </p:nvSpPr>
        <p:spPr>
          <a:xfrm>
            <a:off x="7958586" y="2234468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9CF4E00-6200-A5E8-4AE1-660018F85101}"/>
              </a:ext>
            </a:extLst>
          </p:cNvPr>
          <p:cNvSpPr txBox="1"/>
          <p:nvPr/>
        </p:nvSpPr>
        <p:spPr>
          <a:xfrm>
            <a:off x="7958586" y="2705910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90F8056D-85C2-E8CB-6386-B2EADCC38127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8164953" y="2072676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65FE4540-4158-04B3-E5DA-5E74A5863289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8166802" y="3076768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6FE43CFD-FA01-02F3-77F5-A953F48DE1FE}"/>
              </a:ext>
            </a:extLst>
          </p:cNvPr>
          <p:cNvSpPr txBox="1"/>
          <p:nvPr/>
        </p:nvSpPr>
        <p:spPr>
          <a:xfrm>
            <a:off x="7950778" y="3214940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BC219423-8993-03DA-30F1-AFCD25DA716A}"/>
              </a:ext>
            </a:extLst>
          </p:cNvPr>
          <p:cNvSpPr txBox="1"/>
          <p:nvPr/>
        </p:nvSpPr>
        <p:spPr>
          <a:xfrm>
            <a:off x="8408626" y="2234468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A57E7F44-94F8-2AC6-C74C-6FA17FD3EDD8}"/>
              </a:ext>
            </a:extLst>
          </p:cNvPr>
          <p:cNvSpPr txBox="1"/>
          <p:nvPr/>
        </p:nvSpPr>
        <p:spPr>
          <a:xfrm>
            <a:off x="8408626" y="2705910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8DFDE55-4F92-32C8-8BE9-BB08A270C399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84B1396-ACFF-7810-6884-BD9293CF749F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endParaRPr lang="en-US" altLang="zh-TW" sz="1000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0" name="標題 1">
            <a:extLst>
              <a:ext uri="{FF2B5EF4-FFF2-40B4-BE49-F238E27FC236}">
                <a16:creationId xmlns:a16="http://schemas.microsoft.com/office/drawing/2014/main" id="{1A01C226-30E3-018E-C8CC-4202EA4D94F7}"/>
              </a:ext>
            </a:extLst>
          </p:cNvPr>
          <p:cNvSpPr txBox="1">
            <a:spLocks/>
          </p:cNvSpPr>
          <p:nvPr/>
        </p:nvSpPr>
        <p:spPr>
          <a:xfrm>
            <a:off x="5423060" y="3798789"/>
            <a:ext cx="496134" cy="2251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PEFT</a:t>
            </a:r>
            <a:endParaRPr lang="en-US" altLang="zh-TW" sz="1000" dirty="0">
              <a:latin typeface="+mn-lt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9C4CA2D4-51D6-F7AB-131D-BD5F323A0571}"/>
              </a:ext>
            </a:extLst>
          </p:cNvPr>
          <p:cNvSpPr txBox="1">
            <a:spLocks/>
          </p:cNvSpPr>
          <p:nvPr/>
        </p:nvSpPr>
        <p:spPr>
          <a:xfrm>
            <a:off x="2760419" y="379372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B6D84648-9566-293F-B46D-98BCB889FD4D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rgbClr val="FF0000"/>
                </a:solidFill>
              </a:rPr>
              <a:t>Time</a:t>
            </a:r>
            <a:endParaRPr lang="zh-TW" altLang="en-US" sz="1200" b="1" dirty="0">
              <a:solidFill>
                <a:srgbClr val="FF0000"/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A485BE6F-329C-9384-5DFC-A9C360AA78B5}"/>
              </a:ext>
            </a:extLst>
          </p:cNvPr>
          <p:cNvSpPr txBox="1">
            <a:spLocks/>
          </p:cNvSpPr>
          <p:nvPr/>
        </p:nvSpPr>
        <p:spPr>
          <a:xfrm>
            <a:off x="7844708" y="3708378"/>
            <a:ext cx="640487" cy="200481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400"/>
              </a:lnSpc>
              <a:spcBef>
                <a:spcPts val="0"/>
              </a:spcBef>
              <a:defRPr/>
            </a:pPr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2E64644B-E722-5EEA-225D-1B538ADCA096}"/>
              </a:ext>
            </a:extLst>
          </p:cNvPr>
          <p:cNvSpPr txBox="1">
            <a:spLocks/>
          </p:cNvSpPr>
          <p:nvPr/>
        </p:nvSpPr>
        <p:spPr>
          <a:xfrm>
            <a:off x="6739825" y="3717032"/>
            <a:ext cx="640487" cy="200481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4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3E2284D3-25E4-981C-B0C6-3F85D5FB5BC8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3DCDD983-79AC-3654-B683-45C3C199BEB7}"/>
              </a:ext>
            </a:extLst>
          </p:cNvPr>
          <p:cNvSpPr txBox="1"/>
          <p:nvPr/>
        </p:nvSpPr>
        <p:spPr>
          <a:xfrm>
            <a:off x="2574130" y="232289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DFC49980-804A-63C3-404B-87AE1B38CDC9}"/>
              </a:ext>
            </a:extLst>
          </p:cNvPr>
          <p:cNvSpPr txBox="1"/>
          <p:nvPr/>
        </p:nvSpPr>
        <p:spPr>
          <a:xfrm>
            <a:off x="213023" y="5360729"/>
            <a:ext cx="5583113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SFT Focuses on Alignment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Data</a:t>
            </a:r>
            <a:r>
              <a:rPr lang="en-US" altLang="zh-TW" sz="1600" dirty="0"/>
              <a:t>: Structured, high-quality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QA pairs</a:t>
            </a:r>
            <a:r>
              <a:rPr lang="en-US" altLang="zh-TW" sz="1600" dirty="0"/>
              <a:t>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Loss</a:t>
            </a:r>
            <a:r>
              <a:rPr lang="en-US" altLang="zh-TW" sz="1600" dirty="0"/>
              <a:t>: Model calculates loss on the response tokens.</a:t>
            </a:r>
          </a:p>
        </p:txBody>
      </p:sp>
      <p:graphicFrame>
        <p:nvGraphicFramePr>
          <p:cNvPr id="38" name="表格 37">
            <a:extLst>
              <a:ext uri="{FF2B5EF4-FFF2-40B4-BE49-F238E27FC236}">
                <a16:creationId xmlns:a16="http://schemas.microsoft.com/office/drawing/2014/main" id="{ECEFD60B-3038-47B1-2353-8EFC9339CE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197645"/>
              </p:ext>
            </p:extLst>
          </p:nvPr>
        </p:nvGraphicFramePr>
        <p:xfrm>
          <a:off x="4078644" y="4581128"/>
          <a:ext cx="1840550" cy="635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055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90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0" lang="zh-TW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+mn-cs"/>
                          <a:sym typeface="Wingdings" panose="05000000000000000000" pitchFamily="2" charset="2"/>
                        </a:rPr>
                        <a:t>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l"/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 FT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163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LoRA, QLoRA,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DoRA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8E88D75E-F7F8-E7F3-278C-264172E60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242602"/>
              </p:ext>
            </p:extLst>
          </p:nvPr>
        </p:nvGraphicFramePr>
        <p:xfrm>
          <a:off x="6511866" y="4530602"/>
          <a:ext cx="2251422" cy="14906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14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320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Score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algn="l"/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Apply LLM-as-a-Judge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204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Factual Accuracy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Following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429548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 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&amp; Logic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3344986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Generation Integrity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4487830"/>
                  </a:ext>
                </a:extLst>
              </a:tr>
              <a:tr h="21363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Time to First Token &amp; Throughput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80545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59947BEA-C312-B208-A02B-BC8F4734E675}"/>
              </a:ext>
            </a:extLst>
          </p:cNvPr>
          <p:cNvSpPr txBox="1"/>
          <p:nvPr/>
        </p:nvSpPr>
        <p:spPr>
          <a:xfrm>
            <a:off x="7941481" y="1772816"/>
            <a:ext cx="446943" cy="299860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  <a:p>
            <a:pPr algn="ctr">
              <a:lnSpc>
                <a:spcPts val="10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  <a:endParaRPr lang="en-US" altLang="zh-TW" sz="10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59" name="右大括弧 58">
            <a:extLst>
              <a:ext uri="{FF2B5EF4-FFF2-40B4-BE49-F238E27FC236}">
                <a16:creationId xmlns:a16="http://schemas.microsoft.com/office/drawing/2014/main" id="{DCE153E2-99F5-F7AA-E66E-08077C5821D3}"/>
              </a:ext>
            </a:extLst>
          </p:cNvPr>
          <p:cNvSpPr/>
          <p:nvPr/>
        </p:nvSpPr>
        <p:spPr>
          <a:xfrm rot="5400000">
            <a:off x="7550269" y="3475067"/>
            <a:ext cx="174616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cxnSp>
        <p:nvCxnSpPr>
          <p:cNvPr id="61" name="直線接點 60">
            <a:extLst>
              <a:ext uri="{FF2B5EF4-FFF2-40B4-BE49-F238E27FC236}">
                <a16:creationId xmlns:a16="http://schemas.microsoft.com/office/drawing/2014/main" id="{25C2D031-3808-A9B4-B759-FAC748D08302}"/>
              </a:ext>
            </a:extLst>
          </p:cNvPr>
          <p:cNvCxnSpPr>
            <a:cxnSpLocks/>
            <a:stCxn id="59" idx="1"/>
            <a:endCxn id="45" idx="0"/>
          </p:cNvCxnSpPr>
          <p:nvPr/>
        </p:nvCxnSpPr>
        <p:spPr>
          <a:xfrm>
            <a:off x="7637577" y="4251688"/>
            <a:ext cx="0" cy="2789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664A935E-3EA5-06E8-3816-E849988A8208}"/>
              </a:ext>
            </a:extLst>
          </p:cNvPr>
          <p:cNvCxnSpPr>
            <a:cxnSpLocks/>
            <a:stCxn id="83" idx="1"/>
            <a:endCxn id="38" idx="0"/>
          </p:cNvCxnSpPr>
          <p:nvPr/>
        </p:nvCxnSpPr>
        <p:spPr>
          <a:xfrm>
            <a:off x="4983981" y="4251688"/>
            <a:ext cx="14938" cy="32944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標題 1">
            <a:extLst>
              <a:ext uri="{FF2B5EF4-FFF2-40B4-BE49-F238E27FC236}">
                <a16:creationId xmlns:a16="http://schemas.microsoft.com/office/drawing/2014/main" id="{94EBD9FB-3543-897F-7263-CAB4CC68BB3B}"/>
              </a:ext>
            </a:extLst>
          </p:cNvPr>
          <p:cNvSpPr txBox="1">
            <a:spLocks/>
          </p:cNvSpPr>
          <p:nvPr/>
        </p:nvSpPr>
        <p:spPr>
          <a:xfrm>
            <a:off x="4456916" y="3800739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QAT</a:t>
            </a:r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AB187F0B-0805-7839-E2EA-75BABDF83900}"/>
              </a:ext>
            </a:extLst>
          </p:cNvPr>
          <p:cNvSpPr txBox="1">
            <a:spLocks/>
          </p:cNvSpPr>
          <p:nvPr/>
        </p:nvSpPr>
        <p:spPr>
          <a:xfrm>
            <a:off x="7748275" y="84036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008AA80C-E344-E737-03EC-CDDCD0F3D756}"/>
              </a:ext>
            </a:extLst>
          </p:cNvPr>
          <p:cNvSpPr txBox="1">
            <a:spLocks/>
          </p:cNvSpPr>
          <p:nvPr/>
        </p:nvSpPr>
        <p:spPr>
          <a:xfrm>
            <a:off x="7780317" y="120907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F0B5F486-99F4-C511-7B1B-9EA05638171F}"/>
              </a:ext>
            </a:extLst>
          </p:cNvPr>
          <p:cNvSpPr txBox="1">
            <a:spLocks/>
          </p:cNvSpPr>
          <p:nvPr/>
        </p:nvSpPr>
        <p:spPr>
          <a:xfrm>
            <a:off x="5673295" y="3717032"/>
            <a:ext cx="570744" cy="203670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QAT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5CA7C4A-1A00-6AED-087B-457315B6ED81}"/>
              </a:ext>
            </a:extLst>
          </p:cNvPr>
          <p:cNvSpPr txBox="1"/>
          <p:nvPr/>
        </p:nvSpPr>
        <p:spPr>
          <a:xfrm>
            <a:off x="2548012" y="69217"/>
            <a:ext cx="881420" cy="756316"/>
          </a:xfrm>
          <a:prstGeom prst="rect">
            <a:avLst/>
          </a:prstGeom>
          <a:gradFill flip="none" rotWithShape="1">
            <a:gsLst>
              <a:gs pos="20000">
                <a:schemeClr val="accent6">
                  <a:lumMod val="20000"/>
                  <a:lumOff val="80000"/>
                </a:schemeClr>
              </a:gs>
              <a:gs pos="0">
                <a:schemeClr val="accent2">
                  <a:lumMod val="20000"/>
                  <a:lumOff val="80000"/>
                </a:schemeClr>
              </a:gs>
              <a:gs pos="0">
                <a:schemeClr val="accent2">
                  <a:lumMod val="40000"/>
                  <a:lumOff val="60000"/>
                </a:schemeClr>
              </a:gs>
              <a:gs pos="100000">
                <a:schemeClr val="accent6">
                  <a:lumMod val="20000"/>
                  <a:lumOff val="80000"/>
                </a:schemeClr>
              </a:gs>
            </a:gsLst>
            <a:lin ang="0" scaled="0"/>
            <a:tileRect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Architecture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Compression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2073A2C-0639-E064-602A-B1D8D9B9B149}"/>
              </a:ext>
            </a:extLst>
          </p:cNvPr>
          <p:cNvSpPr txBox="1"/>
          <p:nvPr/>
        </p:nvSpPr>
        <p:spPr>
          <a:xfrm>
            <a:off x="4651286" y="82741"/>
            <a:ext cx="881420" cy="756316"/>
          </a:xfrm>
          <a:prstGeom prst="rect">
            <a:avLst/>
          </a:prstGeom>
          <a:gradFill>
            <a:gsLst>
              <a:gs pos="15000">
                <a:schemeClr val="accent6">
                  <a:lumMod val="20000"/>
                  <a:lumOff val="8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  <a:gs pos="0">
                <a:schemeClr val="accent6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Deployment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8E3EF4B-FF1A-E455-1439-04B31734837C}"/>
              </a:ext>
            </a:extLst>
          </p:cNvPr>
          <p:cNvSpPr txBox="1"/>
          <p:nvPr/>
        </p:nvSpPr>
        <p:spPr>
          <a:xfrm>
            <a:off x="3654979" y="69217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FT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/>
              <a:t>Alignment</a:t>
            </a:r>
            <a:br>
              <a:rPr lang="en-US" altLang="zh-TW" sz="1200" dirty="0"/>
            </a:br>
            <a:r>
              <a:rPr lang="en-US" altLang="zh-TW" sz="1200" dirty="0"/>
              <a:t>Dimension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br>
              <a:rPr lang="en-US" altLang="zh-TW" sz="1200" dirty="0"/>
            </a:br>
            <a:r>
              <a:rPr lang="en-US" altLang="zh-TW" sz="1200" dirty="0"/>
              <a:t>Precision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↓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764406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C411E7-B83B-AA93-CDBD-221DCB5EF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手繪多邊形: 圖案 75">
            <a:extLst>
              <a:ext uri="{FF2B5EF4-FFF2-40B4-BE49-F238E27FC236}">
                <a16:creationId xmlns:a16="http://schemas.microsoft.com/office/drawing/2014/main" id="{DB142420-44DD-614C-6C4A-F91FF53DC750}"/>
              </a:ext>
            </a:extLst>
          </p:cNvPr>
          <p:cNvSpPr/>
          <p:nvPr/>
        </p:nvSpPr>
        <p:spPr>
          <a:xfrm>
            <a:off x="2246735" y="3191153"/>
            <a:ext cx="5128892" cy="1496852"/>
          </a:xfrm>
          <a:custGeom>
            <a:avLst/>
            <a:gdLst>
              <a:gd name="csX0" fmla="*/ 0 w 5086350"/>
              <a:gd name="csY0" fmla="*/ 0 h 1476375"/>
              <a:gd name="csX1" fmla="*/ 1238250 w 5086350"/>
              <a:gd name="csY1" fmla="*/ 1028700 h 1476375"/>
              <a:gd name="csX2" fmla="*/ 5086350 w 5086350"/>
              <a:gd name="csY2" fmla="*/ 1476375 h 1476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86350" h="1476375">
                <a:moveTo>
                  <a:pt x="0" y="0"/>
                </a:moveTo>
                <a:cubicBezTo>
                  <a:pt x="195262" y="391319"/>
                  <a:pt x="390525" y="782638"/>
                  <a:pt x="1238250" y="1028700"/>
                </a:cubicBezTo>
                <a:cubicBezTo>
                  <a:pt x="2085975" y="1274762"/>
                  <a:pt x="3586162" y="1375568"/>
                  <a:pt x="5086350" y="1476375"/>
                </a:cubicBezTo>
              </a:path>
            </a:pathLst>
          </a:custGeom>
          <a:noFill/>
          <a:ln w="38100">
            <a:solidFill>
              <a:schemeClr val="tx2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83469DEE-4DD1-FF18-FCEF-304AF609048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What Google want to do?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4F5097B7-39E3-97CA-28D8-B0E83482DCB4}"/>
              </a:ext>
            </a:extLst>
          </p:cNvPr>
          <p:cNvGrpSpPr/>
          <p:nvPr/>
        </p:nvGrpSpPr>
        <p:grpSpPr>
          <a:xfrm>
            <a:off x="1058349" y="1124744"/>
            <a:ext cx="2094003" cy="2114742"/>
            <a:chOff x="1011755" y="2851680"/>
            <a:chExt cx="2094003" cy="2114742"/>
          </a:xfrm>
        </p:grpSpPr>
        <p:sp>
          <p:nvSpPr>
            <p:cNvPr id="29" name="弧形 28">
              <a:extLst>
                <a:ext uri="{FF2B5EF4-FFF2-40B4-BE49-F238E27FC236}">
                  <a16:creationId xmlns:a16="http://schemas.microsoft.com/office/drawing/2014/main" id="{49EF012B-3245-8F87-241B-8358826C1259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3" name="雲朵形 32">
              <a:extLst>
                <a:ext uri="{FF2B5EF4-FFF2-40B4-BE49-F238E27FC236}">
                  <a16:creationId xmlns:a16="http://schemas.microsoft.com/office/drawing/2014/main" id="{258F741E-A400-B1A1-C0E1-E40141FB3D6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05798D8D-12C9-BD74-7833-15AA3D8351CD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Gemma 4</a:t>
              </a:r>
            </a:p>
          </p:txBody>
        </p:sp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6692E3A9-BA79-89AF-BC80-BAD6C797C311}"/>
                </a:ext>
              </a:extLst>
            </p:cNvPr>
            <p:cNvCxnSpPr>
              <a:cxnSpLocks/>
              <a:stCxn id="36" idx="2"/>
              <a:endCxn id="34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BDEF055A-79F3-3A97-FAEC-090DB3769A9E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Gemini 3</a:t>
              </a:r>
            </a:p>
          </p:txBody>
        </p:sp>
      </p:grp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66FC74-B5BA-659F-37FA-5E1165A34614}"/>
              </a:ext>
            </a:extLst>
          </p:cNvPr>
          <p:cNvCxnSpPr>
            <a:cxnSpLocks/>
          </p:cNvCxnSpPr>
          <p:nvPr/>
        </p:nvCxnSpPr>
        <p:spPr>
          <a:xfrm>
            <a:off x="827584" y="6237312"/>
            <a:ext cx="6120680" cy="0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413BE016-3CE1-4054-E1EB-B017E354E072}"/>
              </a:ext>
            </a:extLst>
          </p:cNvPr>
          <p:cNvCxnSpPr>
            <a:cxnSpLocks/>
          </p:cNvCxnSpPr>
          <p:nvPr/>
        </p:nvCxnSpPr>
        <p:spPr>
          <a:xfrm flipV="1">
            <a:off x="1043608" y="4448937"/>
            <a:ext cx="0" cy="2076407"/>
          </a:xfrm>
          <a:prstGeom prst="straightConnector1">
            <a:avLst/>
          </a:prstGeom>
          <a:ln w="254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圖形 44" descr="伺服器 以實心填滿">
            <a:extLst>
              <a:ext uri="{FF2B5EF4-FFF2-40B4-BE49-F238E27FC236}">
                <a16:creationId xmlns:a16="http://schemas.microsoft.com/office/drawing/2014/main" id="{1761E6E9-6064-2BD8-5AB2-BDE406B6BC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59438" y="3318741"/>
            <a:ext cx="412362" cy="412362"/>
          </a:xfrm>
          <a:prstGeom prst="rect">
            <a:avLst/>
          </a:prstGeom>
        </p:spPr>
      </p:pic>
      <p:pic>
        <p:nvPicPr>
          <p:cNvPr id="50" name="圖形 49" descr="筆記型電腦 以實心填滿">
            <a:extLst>
              <a:ext uri="{FF2B5EF4-FFF2-40B4-BE49-F238E27FC236}">
                <a16:creationId xmlns:a16="http://schemas.microsoft.com/office/drawing/2014/main" id="{FC8941A7-B999-BD19-CBDF-074195E5E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79721" y="4240777"/>
            <a:ext cx="412359" cy="412359"/>
          </a:xfrm>
          <a:prstGeom prst="rect">
            <a:avLst/>
          </a:prstGeom>
        </p:spPr>
      </p:pic>
      <p:pic>
        <p:nvPicPr>
          <p:cNvPr id="56" name="圖形 55" descr="電腦 以實心填滿">
            <a:extLst>
              <a:ext uri="{FF2B5EF4-FFF2-40B4-BE49-F238E27FC236}">
                <a16:creationId xmlns:a16="http://schemas.microsoft.com/office/drawing/2014/main" id="{B20B6238-EF3A-CC7E-1B8B-6CF785CB1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03655" y="4149080"/>
            <a:ext cx="412361" cy="412361"/>
          </a:xfrm>
          <a:prstGeom prst="rect">
            <a:avLst/>
          </a:prstGeom>
        </p:spPr>
      </p:pic>
      <p:pic>
        <p:nvPicPr>
          <p:cNvPr id="58" name="圖形 57" descr="智慧型手機 以實心填滿">
            <a:extLst>
              <a:ext uri="{FF2B5EF4-FFF2-40B4-BE49-F238E27FC236}">
                <a16:creationId xmlns:a16="http://schemas.microsoft.com/office/drawing/2014/main" id="{EB3ADAE3-7512-56C4-A2A2-2A0EFEB9D1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28526" y="4496127"/>
            <a:ext cx="320867" cy="320867"/>
          </a:xfrm>
          <a:prstGeom prst="rect">
            <a:avLst/>
          </a:prstGeom>
        </p:spPr>
      </p:pic>
      <p:pic>
        <p:nvPicPr>
          <p:cNvPr id="71" name="圖形 70" descr="頭戴式耳機 以實心填滿">
            <a:extLst>
              <a:ext uri="{FF2B5EF4-FFF2-40B4-BE49-F238E27FC236}">
                <a16:creationId xmlns:a16="http://schemas.microsoft.com/office/drawing/2014/main" id="{364AD835-DAD7-5A21-2ADD-7A073E6586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78698" y="4548293"/>
            <a:ext cx="320867" cy="320867"/>
          </a:xfrm>
          <a:prstGeom prst="rect">
            <a:avLst/>
          </a:prstGeom>
        </p:spPr>
      </p:pic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5A4DA4C2-8EC2-84D7-9604-8A29C4852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3617566"/>
              </p:ext>
            </p:extLst>
          </p:nvPr>
        </p:nvGraphicFramePr>
        <p:xfrm>
          <a:off x="2051720" y="3754450"/>
          <a:ext cx="864096" cy="635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616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31B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699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4AB55D63-30D9-29E2-2723-1288B1F5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34528"/>
              </p:ext>
            </p:extLst>
          </p:nvPr>
        </p:nvGraphicFramePr>
        <p:xfrm>
          <a:off x="6199498" y="4927838"/>
          <a:ext cx="864096" cy="769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09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299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Mobile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E2B/E4B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PLE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Voice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846459"/>
                  </a:ext>
                </a:extLst>
              </a:tr>
            </a:tbl>
          </a:graphicData>
        </a:graphic>
      </p:graphicFrame>
      <p:graphicFrame>
        <p:nvGraphicFramePr>
          <p:cNvPr id="81" name="表格 80">
            <a:extLst>
              <a:ext uri="{FF2B5EF4-FFF2-40B4-BE49-F238E27FC236}">
                <a16:creationId xmlns:a16="http://schemas.microsoft.com/office/drawing/2014/main" id="{83E82528-E38F-18DE-857D-8461D99B5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3969370"/>
              </p:ext>
            </p:extLst>
          </p:nvPr>
        </p:nvGraphicFramePr>
        <p:xfrm>
          <a:off x="2983972" y="3754450"/>
          <a:ext cx="1081330" cy="639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5755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Server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26B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740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MoE, Diffusion</a:t>
                      </a: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6AFA87CF-9971-8AF2-D97F-3BA29264E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6454588"/>
              </p:ext>
            </p:extLst>
          </p:nvPr>
        </p:nvGraphicFramePr>
        <p:xfrm>
          <a:off x="4283969" y="4562300"/>
          <a:ext cx="1008111" cy="815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811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747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201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925369"/>
                  </a:ext>
                </a:extLst>
              </a:tr>
            </a:tbl>
          </a:graphicData>
        </a:graphic>
      </p:graphicFrame>
      <p:sp>
        <p:nvSpPr>
          <p:cNvPr id="85" name="文字方塊 84">
            <a:extLst>
              <a:ext uri="{FF2B5EF4-FFF2-40B4-BE49-F238E27FC236}">
                <a16:creationId xmlns:a16="http://schemas.microsoft.com/office/drawing/2014/main" id="{80F6C765-5847-BC8F-B37A-A0795E539CB8}"/>
              </a:ext>
            </a:extLst>
          </p:cNvPr>
          <p:cNvSpPr txBox="1"/>
          <p:nvPr/>
        </p:nvSpPr>
        <p:spPr>
          <a:xfrm>
            <a:off x="6053350" y="6006479"/>
            <a:ext cx="577970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r>
              <a:rPr lang="en-US" altLang="zh-TW" sz="1200" dirty="0"/>
              <a:t>Efficient</a:t>
            </a:r>
          </a:p>
          <a:p>
            <a:r>
              <a:rPr lang="en-US" altLang="zh-TW" sz="1200" dirty="0"/>
              <a:t>Index</a:t>
            </a:r>
            <a:endParaRPr lang="zh-TW" altLang="en-US" sz="1200" dirty="0"/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CF1356-865F-6B6D-1590-5D8CDEBDE812}"/>
              </a:ext>
            </a:extLst>
          </p:cNvPr>
          <p:cNvSpPr txBox="1"/>
          <p:nvPr/>
        </p:nvSpPr>
        <p:spPr>
          <a:xfrm>
            <a:off x="230251" y="4638728"/>
            <a:ext cx="784052" cy="442035"/>
          </a:xfrm>
          <a:prstGeom prst="rect">
            <a:avLst/>
          </a:prstGeom>
          <a:noFill/>
        </p:spPr>
        <p:txBody>
          <a:bodyPr wrap="none" lIns="36000" tIns="36000" rIns="36000" bIns="36000" anchor="ctr" anchorCtr="1">
            <a:spAutoFit/>
          </a:bodyPr>
          <a:lstStyle/>
          <a:p>
            <a:pPr algn="r"/>
            <a:r>
              <a:rPr lang="en-US" altLang="zh-TW" sz="1200" dirty="0"/>
              <a:t>Total</a:t>
            </a:r>
          </a:p>
          <a:p>
            <a:pPr algn="r"/>
            <a:r>
              <a:rPr lang="en-US" altLang="zh-TW" sz="1200" dirty="0"/>
              <a:t>Parameters</a:t>
            </a:r>
            <a:endParaRPr lang="zh-TW" altLang="en-US" sz="1200" dirty="0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66D44867-B104-0903-3C45-F2EE647DC6BB}"/>
              </a:ext>
            </a:extLst>
          </p:cNvPr>
          <p:cNvSpPr/>
          <p:nvPr/>
        </p:nvSpPr>
        <p:spPr>
          <a:xfrm>
            <a:off x="4932040" y="3171520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36000" bIns="0" rtlCol="0" anchor="t" anchorCtr="0"/>
          <a:lstStyle/>
          <a:p>
            <a:pPr algn="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微軟正黑體" panose="020B0604030504040204" pitchFamily="34" charset="-120"/>
              </a:rPr>
              <a:t>Encoder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A67646C1-DFD8-BA2A-CC5C-10161CA7ED57}"/>
              </a:ext>
            </a:extLst>
          </p:cNvPr>
          <p:cNvSpPr/>
          <p:nvPr/>
        </p:nvSpPr>
        <p:spPr>
          <a:xfrm>
            <a:off x="5141627" y="119675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7B06E165-4491-05E6-B78B-ADFDDA1CA64B}"/>
              </a:ext>
            </a:extLst>
          </p:cNvPr>
          <p:cNvSpPr txBox="1"/>
          <p:nvPr/>
        </p:nvSpPr>
        <p:spPr>
          <a:xfrm>
            <a:off x="5285643" y="135506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531DF2AD-7FF2-0714-6E36-CC446DC962D7}"/>
              </a:ext>
            </a:extLst>
          </p:cNvPr>
          <p:cNvSpPr txBox="1"/>
          <p:nvPr/>
        </p:nvSpPr>
        <p:spPr>
          <a:xfrm>
            <a:off x="5285643" y="172413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53636687-8688-A018-4D23-3B2298645024}"/>
              </a:ext>
            </a:extLst>
          </p:cNvPr>
          <p:cNvSpPr txBox="1"/>
          <p:nvPr/>
        </p:nvSpPr>
        <p:spPr>
          <a:xfrm>
            <a:off x="5427308" y="2492896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B2FA206B-CCA6-5B6B-0DDA-4A5DA5DD2D31}"/>
              </a:ext>
            </a:extLst>
          </p:cNvPr>
          <p:cNvSpPr txBox="1"/>
          <p:nvPr/>
        </p:nvSpPr>
        <p:spPr>
          <a:xfrm>
            <a:off x="5285643" y="76468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A80255E-6A51-A36C-13DA-748ABF412402}"/>
              </a:ext>
            </a:extLst>
          </p:cNvPr>
          <p:cNvSpPr txBox="1"/>
          <p:nvPr/>
        </p:nvSpPr>
        <p:spPr>
          <a:xfrm>
            <a:off x="5285643" y="26064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95" name="直線單箭頭接點 94">
            <a:extLst>
              <a:ext uri="{FF2B5EF4-FFF2-40B4-BE49-F238E27FC236}">
                <a16:creationId xmlns:a16="http://schemas.microsoft.com/office/drawing/2014/main" id="{91D7B9D4-C75D-7168-5B92-3A5D3B7E8968}"/>
              </a:ext>
            </a:extLst>
          </p:cNvPr>
          <p:cNvCxnSpPr>
            <a:cxnSpLocks/>
            <a:stCxn id="93" idx="0"/>
            <a:endCxn id="94" idx="2"/>
          </p:cNvCxnSpPr>
          <p:nvPr/>
        </p:nvCxnSpPr>
        <p:spPr>
          <a:xfrm flipV="1">
            <a:off x="5861707" y="62068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單箭頭接點 95">
            <a:extLst>
              <a:ext uri="{FF2B5EF4-FFF2-40B4-BE49-F238E27FC236}">
                <a16:creationId xmlns:a16="http://schemas.microsoft.com/office/drawing/2014/main" id="{366C12DE-A733-013A-DA7F-FBA2F3F240AD}"/>
              </a:ext>
            </a:extLst>
          </p:cNvPr>
          <p:cNvCxnSpPr>
            <a:cxnSpLocks/>
            <a:stCxn id="90" idx="0"/>
            <a:endCxn id="93" idx="2"/>
          </p:cNvCxnSpPr>
          <p:nvPr/>
        </p:nvCxnSpPr>
        <p:spPr>
          <a:xfrm flipV="1">
            <a:off x="5861707" y="98974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線單箭頭接點 96">
            <a:extLst>
              <a:ext uri="{FF2B5EF4-FFF2-40B4-BE49-F238E27FC236}">
                <a16:creationId xmlns:a16="http://schemas.microsoft.com/office/drawing/2014/main" id="{E1B614CD-EAA5-A65F-1486-35B7067BAAB1}"/>
              </a:ext>
            </a:extLst>
          </p:cNvPr>
          <p:cNvCxnSpPr>
            <a:cxnSpLocks/>
            <a:stCxn id="92" idx="0"/>
            <a:endCxn id="91" idx="2"/>
          </p:cNvCxnSpPr>
          <p:nvPr/>
        </p:nvCxnSpPr>
        <p:spPr>
          <a:xfrm flipH="1" flipV="1">
            <a:off x="5861707" y="2247352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單箭頭接點 97">
            <a:extLst>
              <a:ext uri="{FF2B5EF4-FFF2-40B4-BE49-F238E27FC236}">
                <a16:creationId xmlns:a16="http://schemas.microsoft.com/office/drawing/2014/main" id="{AEC67D09-AD6D-62E5-FCA1-0F6CF3D46809}"/>
              </a:ext>
            </a:extLst>
          </p:cNvPr>
          <p:cNvCxnSpPr>
            <a:cxnSpLocks/>
            <a:stCxn id="91" idx="0"/>
            <a:endCxn id="90" idx="2"/>
          </p:cNvCxnSpPr>
          <p:nvPr/>
        </p:nvCxnSpPr>
        <p:spPr>
          <a:xfrm flipV="1">
            <a:off x="5861707" y="158011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9B08A6DE-A377-77D1-5DD4-7409B52E3897}"/>
              </a:ext>
            </a:extLst>
          </p:cNvPr>
          <p:cNvCxnSpPr>
            <a:cxnSpLocks/>
            <a:stCxn id="94" idx="3"/>
            <a:endCxn id="92" idx="3"/>
          </p:cNvCxnSpPr>
          <p:nvPr/>
        </p:nvCxnSpPr>
        <p:spPr>
          <a:xfrm flipH="1">
            <a:off x="6299788" y="440668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1E0A4E05-E325-2637-A47F-1D8FF2CC0FA5}"/>
              </a:ext>
            </a:extLst>
          </p:cNvPr>
          <p:cNvSpPr txBox="1"/>
          <p:nvPr/>
        </p:nvSpPr>
        <p:spPr>
          <a:xfrm>
            <a:off x="4976449" y="193658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BC1401-1DE3-C764-AF4D-A2BF9B2F7228}"/>
              </a:ext>
            </a:extLst>
          </p:cNvPr>
          <p:cNvSpPr/>
          <p:nvPr/>
        </p:nvSpPr>
        <p:spPr>
          <a:xfrm>
            <a:off x="5004047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9071FAD8-0CEC-725C-9676-098EBAC796B3}"/>
              </a:ext>
            </a:extLst>
          </p:cNvPr>
          <p:cNvSpPr/>
          <p:nvPr/>
        </p:nvSpPr>
        <p:spPr>
          <a:xfrm>
            <a:off x="5609679" y="3376800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FC9067F6-B2B5-670E-AABD-C5ABC823BB6F}"/>
              </a:ext>
            </a:extLst>
          </p:cNvPr>
          <p:cNvSpPr/>
          <p:nvPr/>
        </p:nvSpPr>
        <p:spPr>
          <a:xfrm>
            <a:off x="6211629" y="3362323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6ABC4AA5-E4C2-CEC2-EEF7-C105FE51C7E7}"/>
              </a:ext>
            </a:extLst>
          </p:cNvPr>
          <p:cNvSpPr/>
          <p:nvPr/>
        </p:nvSpPr>
        <p:spPr>
          <a:xfrm>
            <a:off x="5609679" y="3048232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105" name="直線單箭頭接點 104">
            <a:extLst>
              <a:ext uri="{FF2B5EF4-FFF2-40B4-BE49-F238E27FC236}">
                <a16:creationId xmlns:a16="http://schemas.microsoft.com/office/drawing/2014/main" id="{F898A930-BFD8-4B17-CFB1-BA5A7A05B59F}"/>
              </a:ext>
            </a:extLst>
          </p:cNvPr>
          <p:cNvCxnSpPr>
            <a:cxnSpLocks/>
            <a:stCxn id="104" idx="0"/>
            <a:endCxn id="92" idx="2"/>
          </p:cNvCxnSpPr>
          <p:nvPr/>
        </p:nvCxnSpPr>
        <p:spPr>
          <a:xfrm flipV="1">
            <a:off x="5861707" y="2852936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4074C773-32EF-2149-BF9B-C163F6A3AC92}"/>
              </a:ext>
            </a:extLst>
          </p:cNvPr>
          <p:cNvSpPr txBox="1"/>
          <p:nvPr/>
        </p:nvSpPr>
        <p:spPr>
          <a:xfrm>
            <a:off x="7516052" y="2706586"/>
            <a:ext cx="872480" cy="22241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07" name="矩形: 圓角 106">
            <a:extLst>
              <a:ext uri="{FF2B5EF4-FFF2-40B4-BE49-F238E27FC236}">
                <a16:creationId xmlns:a16="http://schemas.microsoft.com/office/drawing/2014/main" id="{7D5A19BA-5BDB-D5B5-B349-9B3613AFAB39}"/>
              </a:ext>
            </a:extLst>
          </p:cNvPr>
          <p:cNvSpPr/>
          <p:nvPr/>
        </p:nvSpPr>
        <p:spPr>
          <a:xfrm>
            <a:off x="7230371" y="1416832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848F292F-5DE9-0670-9B75-D483B8039D26}"/>
              </a:ext>
            </a:extLst>
          </p:cNvPr>
          <p:cNvSpPr txBox="1"/>
          <p:nvPr/>
        </p:nvSpPr>
        <p:spPr>
          <a:xfrm>
            <a:off x="7374387" y="157514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99DA5433-5392-AE5B-C267-5D6301EE6FE0}"/>
              </a:ext>
            </a:extLst>
          </p:cNvPr>
          <p:cNvSpPr txBox="1"/>
          <p:nvPr/>
        </p:nvSpPr>
        <p:spPr>
          <a:xfrm>
            <a:off x="7374387" y="1944210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  <a:endParaRPr lang="en-US" altLang="zh-TW" sz="11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D08B7E08-92EC-A514-8EB6-C323D312A077}"/>
              </a:ext>
            </a:extLst>
          </p:cNvPr>
          <p:cNvSpPr txBox="1"/>
          <p:nvPr/>
        </p:nvSpPr>
        <p:spPr>
          <a:xfrm>
            <a:off x="7374387" y="984769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B6D8FC1-B38B-518A-B858-E57AE7E9B3D8}"/>
              </a:ext>
            </a:extLst>
          </p:cNvPr>
          <p:cNvSpPr txBox="1"/>
          <p:nvPr/>
        </p:nvSpPr>
        <p:spPr>
          <a:xfrm>
            <a:off x="7374387" y="480728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9948E076-CE45-13AB-F630-C00E9453FC83}"/>
              </a:ext>
            </a:extLst>
          </p:cNvPr>
          <p:cNvCxnSpPr>
            <a:cxnSpLocks/>
            <a:stCxn id="110" idx="0"/>
            <a:endCxn id="111" idx="2"/>
          </p:cNvCxnSpPr>
          <p:nvPr/>
        </p:nvCxnSpPr>
        <p:spPr>
          <a:xfrm flipV="1">
            <a:off x="7950451" y="840768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68200668-477E-79B5-4960-6FB63CC9CF14}"/>
              </a:ext>
            </a:extLst>
          </p:cNvPr>
          <p:cNvCxnSpPr>
            <a:cxnSpLocks/>
            <a:stCxn id="108" idx="0"/>
            <a:endCxn id="110" idx="2"/>
          </p:cNvCxnSpPr>
          <p:nvPr/>
        </p:nvCxnSpPr>
        <p:spPr>
          <a:xfrm flipV="1">
            <a:off x="7950451" y="1209821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C2191D50-F93F-130E-2197-A22449C979C2}"/>
              </a:ext>
            </a:extLst>
          </p:cNvPr>
          <p:cNvCxnSpPr>
            <a:cxnSpLocks/>
            <a:stCxn id="106" idx="0"/>
            <a:endCxn id="109" idx="2"/>
          </p:cNvCxnSpPr>
          <p:nvPr/>
        </p:nvCxnSpPr>
        <p:spPr>
          <a:xfrm flipH="1" flipV="1">
            <a:off x="7950451" y="2467432"/>
            <a:ext cx="1841" cy="23915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9BD8B6B8-D7D3-B30D-EEC1-C99BC1D28A55}"/>
              </a:ext>
            </a:extLst>
          </p:cNvPr>
          <p:cNvCxnSpPr>
            <a:cxnSpLocks/>
            <a:stCxn id="109" idx="0"/>
            <a:endCxn id="108" idx="2"/>
          </p:cNvCxnSpPr>
          <p:nvPr/>
        </p:nvCxnSpPr>
        <p:spPr>
          <a:xfrm flipV="1">
            <a:off x="7950451" y="1800194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接點: 肘形 115">
            <a:extLst>
              <a:ext uri="{FF2B5EF4-FFF2-40B4-BE49-F238E27FC236}">
                <a16:creationId xmlns:a16="http://schemas.microsoft.com/office/drawing/2014/main" id="{CD88E199-E3E9-5C4D-5C8C-14F862F8B467}"/>
              </a:ext>
            </a:extLst>
          </p:cNvPr>
          <p:cNvCxnSpPr>
            <a:cxnSpLocks/>
            <a:stCxn id="111" idx="3"/>
            <a:endCxn id="106" idx="3"/>
          </p:cNvCxnSpPr>
          <p:nvPr/>
        </p:nvCxnSpPr>
        <p:spPr>
          <a:xfrm flipH="1">
            <a:off x="8388532" y="660748"/>
            <a:ext cx="137983" cy="2157045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A9BCC390-1CB4-B606-50BE-F1082AFEB90E}"/>
              </a:ext>
            </a:extLst>
          </p:cNvPr>
          <p:cNvSpPr txBox="1"/>
          <p:nvPr/>
        </p:nvSpPr>
        <p:spPr>
          <a:xfrm>
            <a:off x="7065193" y="2156663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3D3235DB-D7A3-AF21-6256-5ED75BE4F067}"/>
              </a:ext>
            </a:extLst>
          </p:cNvPr>
          <p:cNvGrpSpPr/>
          <p:nvPr/>
        </p:nvGrpSpPr>
        <p:grpSpPr>
          <a:xfrm>
            <a:off x="7020784" y="3171520"/>
            <a:ext cx="1871696" cy="549568"/>
            <a:chOff x="6804248" y="2996952"/>
            <a:chExt cx="1871696" cy="549568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DC4E76C3-7063-2B12-39ED-1D88633D9EDA}"/>
                </a:ext>
              </a:extLst>
            </p:cNvPr>
            <p:cNvSpPr/>
            <p:nvPr/>
          </p:nvSpPr>
          <p:spPr>
            <a:xfrm>
              <a:off x="6804248" y="2996952"/>
              <a:ext cx="1871696" cy="549568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19050">
              <a:solidFill>
                <a:schemeClr val="accent5">
                  <a:lumMod val="7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6000" rIns="36000" bIns="0" rtlCol="0" anchor="t" anchorCtr="0"/>
            <a:lstStyle/>
            <a:p>
              <a:pPr algn="r">
                <a:lnSpc>
                  <a:spcPts val="1000"/>
                </a:lnSpc>
              </a:pPr>
              <a:r>
                <a:rPr lang="en-US" altLang="zh-TW" sz="1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Native Multimodal</a:t>
              </a:r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C4108C46-E728-18A2-5F4E-11E4C1ED8E31}"/>
                </a:ext>
              </a:extLst>
            </p:cNvPr>
            <p:cNvSpPr/>
            <p:nvPr/>
          </p:nvSpPr>
          <p:spPr>
            <a:xfrm>
              <a:off x="6876255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Text</a:t>
              </a:r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55E58BF6-7C3A-F867-D229-D8757DB3DF93}"/>
                </a:ext>
              </a:extLst>
            </p:cNvPr>
            <p:cNvSpPr/>
            <p:nvPr/>
          </p:nvSpPr>
          <p:spPr>
            <a:xfrm>
              <a:off x="7481887" y="3202232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Image</a:t>
              </a:r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6BDFC74E-E570-27D4-6725-51B5DBD17852}"/>
                </a:ext>
              </a:extLst>
            </p:cNvPr>
            <p:cNvSpPr/>
            <p:nvPr/>
          </p:nvSpPr>
          <p:spPr>
            <a:xfrm>
              <a:off x="8083837" y="3187755"/>
              <a:ext cx="504056" cy="268224"/>
            </a:xfrm>
            <a:prstGeom prst="rect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000"/>
                </a:lnSpc>
              </a:pPr>
              <a:r>
                <a:rPr lang="en-US" altLang="zh-TW" sz="1400" b="1" baseline="-25000" dirty="0">
                  <a:solidFill>
                    <a:schemeClr val="tx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Audio</a:t>
              </a:r>
            </a:p>
          </p:txBody>
        </p:sp>
      </p:grp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A08988D8-C571-8AE8-6E9F-78F5E5F4E179}"/>
              </a:ext>
            </a:extLst>
          </p:cNvPr>
          <p:cNvCxnSpPr>
            <a:cxnSpLocks/>
            <a:stCxn id="119" idx="0"/>
            <a:endCxn id="106" idx="2"/>
          </p:cNvCxnSpPr>
          <p:nvPr/>
        </p:nvCxnSpPr>
        <p:spPr>
          <a:xfrm flipH="1" flipV="1">
            <a:off x="7952292" y="2929000"/>
            <a:ext cx="4340" cy="242520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306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553493" y="256490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Quantization Low-Rank Adaptation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475392"/>
              </p:ext>
            </p:extLst>
          </p:nvPr>
        </p:nvGraphicFramePr>
        <p:xfrm>
          <a:off x="2650027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059722"/>
              </p:ext>
            </p:extLst>
          </p:nvPr>
        </p:nvGraphicFramePr>
        <p:xfrm>
          <a:off x="5297552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176571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84314"/>
              </p:ext>
            </p:extLst>
          </p:nvPr>
        </p:nvGraphicFramePr>
        <p:xfrm>
          <a:off x="3370108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760653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2955032"/>
              </p:ext>
            </p:extLst>
          </p:nvPr>
        </p:nvGraphicFramePr>
        <p:xfrm>
          <a:off x="467544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110618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7757456"/>
              </p:ext>
            </p:extLst>
          </p:nvPr>
        </p:nvGraphicFramePr>
        <p:xfrm>
          <a:off x="680972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1763688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590506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192150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6473261"/>
              </p:ext>
            </p:extLst>
          </p:nvPr>
        </p:nvGraphicFramePr>
        <p:xfrm>
          <a:off x="1259632" y="399144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330104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1103756"/>
              </p:ext>
            </p:extLst>
          </p:nvPr>
        </p:nvGraphicFramePr>
        <p:xfrm>
          <a:off x="4040401" y="4239642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166479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062763" y="4418292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651828"/>
              </p:ext>
            </p:extLst>
          </p:nvPr>
        </p:nvGraphicFramePr>
        <p:xfrm>
          <a:off x="3601912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604635"/>
              </p:ext>
            </p:extLst>
          </p:nvPr>
        </p:nvGraphicFramePr>
        <p:xfrm>
          <a:off x="4757025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249984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15816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788945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635896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3800059" y="2237867"/>
            <a:ext cx="133373" cy="1887040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5821791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3119395"/>
              </p:ext>
            </p:extLst>
          </p:nvPr>
        </p:nvGraphicFramePr>
        <p:xfrm>
          <a:off x="5605340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637260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078341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145971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2913721" y="4136343"/>
            <a:ext cx="133373" cy="1887040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F80362FF-E84D-5C1E-FE38-2E46F52A6734}"/>
              </a:ext>
            </a:extLst>
          </p:cNvPr>
          <p:cNvSpPr txBox="1"/>
          <p:nvPr/>
        </p:nvSpPr>
        <p:spPr>
          <a:xfrm>
            <a:off x="2779871" y="513767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 err="1"/>
              <a:t>DoRA</a:t>
            </a:r>
            <a:endParaRPr lang="zh-TW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55DD5BF6-207B-493C-CCFD-2C1D36DEEC2B}"/>
              </a:ext>
            </a:extLst>
          </p:cNvPr>
          <p:cNvCxnSpPr>
            <a:cxnSpLocks/>
            <a:stCxn id="4" idx="0"/>
            <a:endCxn id="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stCxn id="9" idx="0"/>
            <a:endCxn id="5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02E8EC7-0A86-283A-6E78-46AE0686BF9A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字方塊 8">
            <a:extLst>
              <a:ext uri="{FF2B5EF4-FFF2-40B4-BE49-F238E27FC236}">
                <a16:creationId xmlns:a16="http://schemas.microsoft.com/office/drawing/2014/main" id="{2BB04445-D4DE-BD9B-8C29-1C152D22E97F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7E129B3-E14F-1441-BAFA-0BA1FDE90F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6D4FE969-5F51-4FB4-D319-4D4C1A478D0C}"/>
              </a:ext>
            </a:extLst>
          </p:cNvPr>
          <p:cNvCxnSpPr>
            <a:cxnSpLocks/>
            <a:stCxn id="10" idx="3"/>
            <a:endCxn id="12" idx="3"/>
          </p:cNvCxnSpPr>
          <p:nvPr/>
        </p:nvCxnSpPr>
        <p:spPr>
          <a:xfrm>
            <a:off x="1606488" y="1320066"/>
            <a:ext cx="272973" cy="1246657"/>
          </a:xfrm>
          <a:prstGeom prst="bentConnector3">
            <a:avLst>
              <a:gd name="adj1" fmla="val 148652"/>
            </a:avLst>
          </a:prstGeom>
          <a:ln w="19050">
            <a:solidFill>
              <a:schemeClr val="accent2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D8E568AD-430A-B704-96EF-D049EBC4AA29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2BEE3D5-2087-E0BE-419D-FECEE2EF6107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</a:t>
            </a:r>
            <a:r>
              <a:rPr lang="en-US" altLang="zh-TW" sz="1000" dirty="0" err="1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</a:t>
            </a:r>
            <a:endParaRPr lang="en-US" altLang="zh-TW" sz="1000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標題 1">
            <a:extLst>
              <a:ext uri="{FF2B5EF4-FFF2-40B4-BE49-F238E27FC236}">
                <a16:creationId xmlns:a16="http://schemas.microsoft.com/office/drawing/2014/main" id="{502FE421-311F-EFCB-01D3-F6E8CF4B1C2F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Per Layer Embeddings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 E4B/E2B 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C23B966-DAD7-D6A0-A67D-B7E01C053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7848F0AA-C765-223A-D17B-03AD40C1A72B}"/>
              </a:ext>
            </a:extLst>
          </p:cNvPr>
          <p:cNvSpPr txBox="1"/>
          <p:nvPr/>
        </p:nvSpPr>
        <p:spPr>
          <a:xfrm>
            <a:off x="3213685" y="12013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-</a:t>
            </a:r>
            <a:endParaRPr lang="zh-TW" altLang="en-US" dirty="0"/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985A520D-1AF7-D8E5-3EBE-B1B8FBD2B96E}"/>
              </a:ext>
            </a:extLst>
          </p:cNvPr>
          <p:cNvSpPr/>
          <p:nvPr/>
        </p:nvSpPr>
        <p:spPr>
          <a:xfrm>
            <a:off x="3036994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8" name="群組 147">
            <a:extLst>
              <a:ext uri="{FF2B5EF4-FFF2-40B4-BE49-F238E27FC236}">
                <a16:creationId xmlns:a16="http://schemas.microsoft.com/office/drawing/2014/main" id="{F0F10065-7F6A-5FBA-E0D3-BF81B7BEEE60}"/>
              </a:ext>
            </a:extLst>
          </p:cNvPr>
          <p:cNvGrpSpPr/>
          <p:nvPr/>
        </p:nvGrpSpPr>
        <p:grpSpPr>
          <a:xfrm>
            <a:off x="2829812" y="2060848"/>
            <a:ext cx="1310140" cy="3245081"/>
            <a:chOff x="3849298" y="2060848"/>
            <a:chExt cx="1310140" cy="3245081"/>
          </a:xfrm>
        </p:grpSpPr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D643863D-085A-066E-8198-08703870C38B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4E862151-984A-C3BE-EC5B-2248E9CECF59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69B682F6-3C5D-383C-B8DC-520CF6FA4FB2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84B9CC40-C29D-2BCE-EBA4-BBE4925DD80A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13" name="接點: 肘形 112">
              <a:extLst>
                <a:ext uri="{FF2B5EF4-FFF2-40B4-BE49-F238E27FC236}">
                  <a16:creationId xmlns:a16="http://schemas.microsoft.com/office/drawing/2014/main" id="{7B52A5C3-5576-DC05-9419-E40D36779C02}"/>
                </a:ext>
              </a:extLst>
            </p:cNvPr>
            <p:cNvCxnSpPr>
              <a:cxnSpLocks/>
              <a:stCxn id="110" idx="2"/>
              <a:endCxn id="112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單箭頭接點 113">
              <a:extLst>
                <a:ext uri="{FF2B5EF4-FFF2-40B4-BE49-F238E27FC236}">
                  <a16:creationId xmlns:a16="http://schemas.microsoft.com/office/drawing/2014/main" id="{3E4763E1-156B-EAB3-1482-BB26BC82972F}"/>
                </a:ext>
              </a:extLst>
            </p:cNvPr>
            <p:cNvCxnSpPr>
              <a:cxnSpLocks/>
              <a:stCxn id="109" idx="2"/>
              <a:endCxn id="111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直線單箭頭接點 114">
              <a:extLst>
                <a:ext uri="{FF2B5EF4-FFF2-40B4-BE49-F238E27FC236}">
                  <a16:creationId xmlns:a16="http://schemas.microsoft.com/office/drawing/2014/main" id="{12235F2D-CEE7-296E-755A-F5D4ABF441D6}"/>
                </a:ext>
              </a:extLst>
            </p:cNvPr>
            <p:cNvCxnSpPr>
              <a:cxnSpLocks/>
              <a:stCxn id="112" idx="0"/>
              <a:endCxn id="109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D4BC95E7-25DF-7E07-A536-0CD77848BD43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8A5DE2C4-9779-763F-DA77-D4BF53E10E2C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64A7F151-25BB-C919-1E94-322290C66BA7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2" name="矩形: 圓角 131">
            <a:extLst>
              <a:ext uri="{FF2B5EF4-FFF2-40B4-BE49-F238E27FC236}">
                <a16:creationId xmlns:a16="http://schemas.microsoft.com/office/drawing/2014/main" id="{E3FBFF97-BA32-5455-8C0B-EC5A4A4EB5EE}"/>
              </a:ext>
            </a:extLst>
          </p:cNvPr>
          <p:cNvSpPr/>
          <p:nvPr/>
        </p:nvSpPr>
        <p:spPr>
          <a:xfrm>
            <a:off x="2831158" y="16288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911F230-2352-C760-C7B8-EB21486E2995}"/>
              </a:ext>
            </a:extLst>
          </p:cNvPr>
          <p:cNvSpPr txBox="1"/>
          <p:nvPr/>
        </p:nvSpPr>
        <p:spPr>
          <a:xfrm>
            <a:off x="6879590" y="1196752"/>
            <a:ext cx="971741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31B</a:t>
            </a:r>
            <a:endParaRPr lang="zh-TW" altLang="en-US" dirty="0"/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492045BB-025A-DBF5-021F-09A185662DA5}"/>
              </a:ext>
            </a:extLst>
          </p:cNvPr>
          <p:cNvGrpSpPr/>
          <p:nvPr/>
        </p:nvGrpSpPr>
        <p:grpSpPr>
          <a:xfrm>
            <a:off x="6719590" y="2060848"/>
            <a:ext cx="1308794" cy="3245081"/>
            <a:chOff x="6802972" y="2060848"/>
            <a:chExt cx="1308794" cy="3245081"/>
          </a:xfrm>
        </p:grpSpPr>
        <p:sp>
          <p:nvSpPr>
            <p:cNvPr id="120" name="矩形: 圓角 119">
              <a:extLst>
                <a:ext uri="{FF2B5EF4-FFF2-40B4-BE49-F238E27FC236}">
                  <a16:creationId xmlns:a16="http://schemas.microsoft.com/office/drawing/2014/main" id="{9BB6CEB6-EC7D-8920-62F1-3E8C5BFC0D19}"/>
                </a:ext>
              </a:extLst>
            </p:cNvPr>
            <p:cNvSpPr/>
            <p:nvPr/>
          </p:nvSpPr>
          <p:spPr>
            <a:xfrm>
              <a:off x="6935547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1" name="矩形: 圓角 120">
              <a:extLst>
                <a:ext uri="{FF2B5EF4-FFF2-40B4-BE49-F238E27FC236}">
                  <a16:creationId xmlns:a16="http://schemas.microsoft.com/office/drawing/2014/main" id="{8A063924-3EA4-657A-3B56-20C06C7F0EAC}"/>
                </a:ext>
              </a:extLst>
            </p:cNvPr>
            <p:cNvSpPr/>
            <p:nvPr/>
          </p:nvSpPr>
          <p:spPr>
            <a:xfrm>
              <a:off x="6935547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50000"/>
                    </a:schemeClr>
                  </a:solidFill>
                </a:rPr>
                <a:t>Dense</a:t>
              </a:r>
              <a:endParaRPr lang="zh-TW" altLang="en-US" sz="1400" b="1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122" name="矩形: 圓角 121">
              <a:extLst>
                <a:ext uri="{FF2B5EF4-FFF2-40B4-BE49-F238E27FC236}">
                  <a16:creationId xmlns:a16="http://schemas.microsoft.com/office/drawing/2014/main" id="{8CA98DBE-9624-B211-9684-3542C8EC83D3}"/>
                </a:ext>
              </a:extLst>
            </p:cNvPr>
            <p:cNvSpPr/>
            <p:nvPr/>
          </p:nvSpPr>
          <p:spPr>
            <a:xfrm>
              <a:off x="6935547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395E25C7-B234-15C9-9564-594466778E51}"/>
                </a:ext>
              </a:extLst>
            </p:cNvPr>
            <p:cNvSpPr/>
            <p:nvPr/>
          </p:nvSpPr>
          <p:spPr>
            <a:xfrm>
              <a:off x="6802972" y="2614483"/>
              <a:ext cx="1308794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24" name="接點: 肘形 123">
              <a:extLst>
                <a:ext uri="{FF2B5EF4-FFF2-40B4-BE49-F238E27FC236}">
                  <a16:creationId xmlns:a16="http://schemas.microsoft.com/office/drawing/2014/main" id="{467F7384-4627-CCB5-B01A-E21DD3DC2F6D}"/>
                </a:ext>
              </a:extLst>
            </p:cNvPr>
            <p:cNvCxnSpPr>
              <a:cxnSpLocks/>
              <a:stCxn id="121" idx="2"/>
              <a:endCxn id="123" idx="0"/>
            </p:cNvCxnSpPr>
            <p:nvPr/>
          </p:nvCxnSpPr>
          <p:spPr>
            <a:xfrm rot="5400000" flipH="1" flipV="1">
              <a:off x="6625442" y="3438740"/>
              <a:ext cx="1656184" cy="7670"/>
            </a:xfrm>
            <a:prstGeom prst="bentConnector5">
              <a:avLst>
                <a:gd name="adj1" fmla="val -13803"/>
                <a:gd name="adj2" fmla="val 11612347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直線單箭頭接點 124">
              <a:extLst>
                <a:ext uri="{FF2B5EF4-FFF2-40B4-BE49-F238E27FC236}">
                  <a16:creationId xmlns:a16="http://schemas.microsoft.com/office/drawing/2014/main" id="{2BD2BC9A-2875-A636-B0C9-45E38F5B3E1D}"/>
                </a:ext>
              </a:extLst>
            </p:cNvPr>
            <p:cNvCxnSpPr>
              <a:cxnSpLocks/>
              <a:stCxn id="120" idx="2"/>
              <a:endCxn id="122" idx="0"/>
            </p:cNvCxnSpPr>
            <p:nvPr/>
          </p:nvCxnSpPr>
          <p:spPr>
            <a:xfrm>
              <a:off x="7449699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單箭頭接點 125">
              <a:extLst>
                <a:ext uri="{FF2B5EF4-FFF2-40B4-BE49-F238E27FC236}">
                  <a16:creationId xmlns:a16="http://schemas.microsoft.com/office/drawing/2014/main" id="{D80856AF-CFBA-835A-690A-F2C50D2D6158}"/>
                </a:ext>
              </a:extLst>
            </p:cNvPr>
            <p:cNvCxnSpPr>
              <a:cxnSpLocks/>
              <a:stCxn id="123" idx="0"/>
              <a:endCxn id="120" idx="0"/>
            </p:cNvCxnSpPr>
            <p:nvPr/>
          </p:nvCxnSpPr>
          <p:spPr>
            <a:xfrm flipH="1">
              <a:off x="7449699" y="2614483"/>
              <a:ext cx="7670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0B2DBBD7-B36E-8BBC-E735-E8890E35910E}"/>
                </a:ext>
              </a:extLst>
            </p:cNvPr>
            <p:cNvSpPr/>
            <p:nvPr/>
          </p:nvSpPr>
          <p:spPr>
            <a:xfrm>
              <a:off x="694826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8FDC4DB7-CE2F-1ECE-223F-7865F36AA0BF}"/>
                </a:ext>
              </a:extLst>
            </p:cNvPr>
            <p:cNvSpPr/>
            <p:nvPr/>
          </p:nvSpPr>
          <p:spPr>
            <a:xfrm>
              <a:off x="694321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Linear/SM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94298CA8-2710-91AD-8843-EA502879EDD9}"/>
                </a:ext>
              </a:extLst>
            </p:cNvPr>
            <p:cNvSpPr/>
            <p:nvPr/>
          </p:nvSpPr>
          <p:spPr>
            <a:xfrm>
              <a:off x="6935547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33" name="矩形: 圓角 132">
            <a:extLst>
              <a:ext uri="{FF2B5EF4-FFF2-40B4-BE49-F238E27FC236}">
                <a16:creationId xmlns:a16="http://schemas.microsoft.com/office/drawing/2014/main" id="{9092F2FC-C1F2-242D-5C89-5D336FE7F22D}"/>
              </a:ext>
            </a:extLst>
          </p:cNvPr>
          <p:cNvSpPr/>
          <p:nvPr/>
        </p:nvSpPr>
        <p:spPr>
          <a:xfrm>
            <a:off x="6719590" y="1630144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D3DE2044-614E-2FC4-5C0E-BB995E43E930}"/>
              </a:ext>
            </a:extLst>
          </p:cNvPr>
          <p:cNvSpPr/>
          <p:nvPr/>
        </p:nvSpPr>
        <p:spPr>
          <a:xfrm>
            <a:off x="6908372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incredible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9641B5A-6D76-20E0-5E2F-A2BBBC1E5DDF}"/>
              </a:ext>
            </a:extLst>
          </p:cNvPr>
          <p:cNvSpPr txBox="1"/>
          <p:nvPr/>
        </p:nvSpPr>
        <p:spPr>
          <a:xfrm>
            <a:off x="1005772" y="1196752"/>
            <a:ext cx="1104790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zh-TW" altLang="zh-TW" dirty="0"/>
              <a:t>E</a:t>
            </a:r>
            <a:r>
              <a:rPr lang="en-US" altLang="zh-TW" dirty="0"/>
              <a:t>2B</a:t>
            </a:r>
            <a:r>
              <a:rPr lang="zh-TW" altLang="en-US" dirty="0"/>
              <a:t> </a:t>
            </a:r>
            <a:r>
              <a:rPr lang="en-US" altLang="zh-TW" dirty="0"/>
              <a:t>|</a:t>
            </a:r>
            <a:r>
              <a:rPr lang="zh-TW" altLang="en-US" dirty="0"/>
              <a:t> </a:t>
            </a:r>
            <a:r>
              <a:rPr lang="en-US" altLang="zh-TW" dirty="0"/>
              <a:t>E4B</a:t>
            </a:r>
            <a:endParaRPr lang="zh-TW" altLang="en-US" dirty="0"/>
          </a:p>
        </p:txBody>
      </p: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A4B6551-DFE9-5AFB-73A0-96CBDFE6F370}"/>
              </a:ext>
            </a:extLst>
          </p:cNvPr>
          <p:cNvSpPr/>
          <p:nvPr/>
        </p:nvSpPr>
        <p:spPr>
          <a:xfrm>
            <a:off x="900938" y="1628800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69F2BA7C-EC26-AE4B-266C-E1FFCF3F56BB}"/>
              </a:ext>
            </a:extLst>
          </p:cNvPr>
          <p:cNvSpPr/>
          <p:nvPr/>
        </p:nvSpPr>
        <p:spPr>
          <a:xfrm>
            <a:off x="1046230" y="2060848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Tokenizer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2" name="矩形: 圓角 101">
            <a:extLst>
              <a:ext uri="{FF2B5EF4-FFF2-40B4-BE49-F238E27FC236}">
                <a16:creationId xmlns:a16="http://schemas.microsoft.com/office/drawing/2014/main" id="{D6F902D6-7962-950C-CA01-D0444021D2AE}"/>
              </a:ext>
            </a:extLst>
          </p:cNvPr>
          <p:cNvSpPr/>
          <p:nvPr/>
        </p:nvSpPr>
        <p:spPr>
          <a:xfrm>
            <a:off x="1041183" y="5062755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Linear, SM</a:t>
            </a:r>
            <a:endParaRPr lang="zh-TW" altLang="en-US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106" name="矩形: 圓角 105">
            <a:extLst>
              <a:ext uri="{FF2B5EF4-FFF2-40B4-BE49-F238E27FC236}">
                <a16:creationId xmlns:a16="http://schemas.microsoft.com/office/drawing/2014/main" id="{F40A9B2A-A730-C0E4-28DA-C0D300705B20}"/>
              </a:ext>
            </a:extLst>
          </p:cNvPr>
          <p:cNvSpPr/>
          <p:nvPr/>
        </p:nvSpPr>
        <p:spPr>
          <a:xfrm>
            <a:off x="1090577" y="54012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efficient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03C6B755-D05C-27BD-79B2-55678CBEAC6F}"/>
              </a:ext>
            </a:extLst>
          </p:cNvPr>
          <p:cNvSpPr/>
          <p:nvPr/>
        </p:nvSpPr>
        <p:spPr>
          <a:xfrm>
            <a:off x="1033513" y="2851682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8FCA1082-371A-761C-F724-53E92C3F12F2}"/>
              </a:ext>
            </a:extLst>
          </p:cNvPr>
          <p:cNvSpPr/>
          <p:nvPr/>
        </p:nvSpPr>
        <p:spPr>
          <a:xfrm>
            <a:off x="1033513" y="3694603"/>
            <a:ext cx="1028304" cy="24317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RMS Norm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E60D6D68-B2C2-5EB2-AC78-92CE09C22B85}"/>
              </a:ext>
            </a:extLst>
          </p:cNvPr>
          <p:cNvSpPr/>
          <p:nvPr/>
        </p:nvSpPr>
        <p:spPr>
          <a:xfrm>
            <a:off x="899592" y="2614483"/>
            <a:ext cx="1310140" cy="1797695"/>
          </a:xfrm>
          <a:prstGeom prst="rect">
            <a:avLst/>
          </a:prstGeom>
          <a:noFill/>
          <a:ln w="19050">
            <a:solidFill>
              <a:schemeClr val="accent5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91440" bIns="0" rtlCol="0" anchor="t" anchorCtr="0"/>
          <a:lstStyle/>
          <a:p>
            <a:pPr algn="r"/>
            <a:r>
              <a:rPr lang="en-US" altLang="zh-TW" sz="1200" b="1" dirty="0">
                <a:solidFill>
                  <a:schemeClr val="tx1"/>
                </a:solidFill>
              </a:rPr>
              <a:t>Decoder</a:t>
            </a:r>
            <a:endParaRPr lang="zh-TW" altLang="en-US" sz="1200" b="1" dirty="0">
              <a:solidFill>
                <a:schemeClr val="tx1"/>
              </a:solidFill>
            </a:endParaRPr>
          </a:p>
        </p:txBody>
      </p:sp>
      <p:cxnSp>
        <p:nvCxnSpPr>
          <p:cNvPr id="73" name="接點: 肘形 72">
            <a:extLst>
              <a:ext uri="{FF2B5EF4-FFF2-40B4-BE49-F238E27FC236}">
                <a16:creationId xmlns:a16="http://schemas.microsoft.com/office/drawing/2014/main" id="{D5EBFD55-44DF-2BD0-FF01-1E7CDAED5AAE}"/>
              </a:ext>
            </a:extLst>
          </p:cNvPr>
          <p:cNvCxnSpPr>
            <a:cxnSpLocks/>
            <a:stCxn id="31" idx="2"/>
            <a:endCxn id="68" idx="0"/>
          </p:cNvCxnSpPr>
          <p:nvPr/>
        </p:nvCxnSpPr>
        <p:spPr>
          <a:xfrm rot="5400000" flipH="1" flipV="1">
            <a:off x="693062" y="3431497"/>
            <a:ext cx="1678613" cy="44585"/>
          </a:xfrm>
          <a:prstGeom prst="bentConnector5">
            <a:avLst>
              <a:gd name="adj1" fmla="val -13618"/>
              <a:gd name="adj2" fmla="val 2081989"/>
              <a:gd name="adj3" fmla="val 11361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02F4D24C-78DB-E2F4-0758-81A1AEC7219B}"/>
              </a:ext>
            </a:extLst>
          </p:cNvPr>
          <p:cNvCxnSpPr>
            <a:cxnSpLocks/>
            <a:stCxn id="61" idx="2"/>
            <a:endCxn id="67" idx="0"/>
          </p:cNvCxnSpPr>
          <p:nvPr/>
        </p:nvCxnSpPr>
        <p:spPr>
          <a:xfrm>
            <a:off x="1547665" y="3094856"/>
            <a:ext cx="0" cy="599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21B7025B-C134-F076-4EE5-931D6E6ECD32}"/>
              </a:ext>
            </a:extLst>
          </p:cNvPr>
          <p:cNvCxnSpPr>
            <a:cxnSpLocks/>
            <a:stCxn id="68" idx="0"/>
            <a:endCxn id="61" idx="0"/>
          </p:cNvCxnSpPr>
          <p:nvPr/>
        </p:nvCxnSpPr>
        <p:spPr>
          <a:xfrm flipH="1">
            <a:off x="1547665" y="2614483"/>
            <a:ext cx="6997" cy="2371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9A25F266-A98D-3C03-5F01-207FF628D10E}"/>
              </a:ext>
            </a:extLst>
          </p:cNvPr>
          <p:cNvSpPr/>
          <p:nvPr/>
        </p:nvSpPr>
        <p:spPr>
          <a:xfrm>
            <a:off x="1653593" y="3146727"/>
            <a:ext cx="410174" cy="47336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Static</a:t>
            </a:r>
          </a:p>
          <a:p>
            <a:pPr algn="ctr"/>
            <a:r>
              <a:rPr lang="en-US" altLang="zh-TW" sz="1000" b="1" dirty="0">
                <a:solidFill>
                  <a:schemeClr val="accent2">
                    <a:lumMod val="50000"/>
                  </a:schemeClr>
                </a:solidFill>
              </a:rPr>
              <a:t>Lookup</a:t>
            </a:r>
            <a:endParaRPr lang="zh-TW" altLang="en-US" sz="10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A9B62857-6CDE-ED55-4D34-58DBE864A80C}"/>
              </a:ext>
            </a:extLst>
          </p:cNvPr>
          <p:cNvSpPr/>
          <p:nvPr/>
        </p:nvSpPr>
        <p:spPr>
          <a:xfrm>
            <a:off x="1033513" y="3169369"/>
            <a:ext cx="487505" cy="235949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75000"/>
                  </a:schemeClr>
                </a:solidFill>
              </a:rPr>
              <a:t>QKV</a:t>
            </a:r>
            <a:endParaRPr lang="zh-TW" altLang="en-US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6261674-D437-3D2E-A642-52CEA22B9E02}"/>
              </a:ext>
            </a:extLst>
          </p:cNvPr>
          <p:cNvSpPr txBox="1"/>
          <p:nvPr/>
        </p:nvSpPr>
        <p:spPr>
          <a:xfrm>
            <a:off x="4920456" y="1202493"/>
            <a:ext cx="543739" cy="2808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>
            <a:noAutofit/>
          </a:bodyPr>
          <a:lstStyle/>
          <a:p>
            <a:pPr algn="ctr"/>
            <a:r>
              <a:rPr lang="en-US" altLang="zh-TW" dirty="0"/>
              <a:t>26B</a:t>
            </a:r>
            <a:r>
              <a:rPr lang="zh-TW" altLang="en-US" dirty="0"/>
              <a:t> </a:t>
            </a:r>
            <a:r>
              <a:rPr lang="en-US" altLang="zh-TW" dirty="0"/>
              <a:t>A4B</a:t>
            </a:r>
            <a:endParaRPr lang="zh-TW" altLang="en-US" dirty="0"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CC1ABE0A-F445-EDD2-303C-73794F7E75E0}"/>
              </a:ext>
            </a:extLst>
          </p:cNvPr>
          <p:cNvSpPr/>
          <p:nvPr/>
        </p:nvSpPr>
        <p:spPr>
          <a:xfrm>
            <a:off x="4743765" y="5402399"/>
            <a:ext cx="914176" cy="205744"/>
          </a:xfrm>
          <a:prstGeom prst="roundRect">
            <a:avLst>
              <a:gd name="adj" fmla="val 29689"/>
            </a:avLst>
          </a:prstGeom>
          <a:solidFill>
            <a:srgbClr val="FFFF00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rPr>
              <a:t>strong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F7321815-2BBC-4AE3-793C-5D03DBC3953A}"/>
              </a:ext>
            </a:extLst>
          </p:cNvPr>
          <p:cNvGrpSpPr/>
          <p:nvPr/>
        </p:nvGrpSpPr>
        <p:grpSpPr>
          <a:xfrm>
            <a:off x="4536583" y="2061948"/>
            <a:ext cx="1310140" cy="3245081"/>
            <a:chOff x="3849298" y="2060848"/>
            <a:chExt cx="1310140" cy="3245081"/>
          </a:xfrm>
        </p:grpSpPr>
        <p:sp>
          <p:nvSpPr>
            <p:cNvPr id="12" name="矩形: 圓角 11">
              <a:extLst>
                <a:ext uri="{FF2B5EF4-FFF2-40B4-BE49-F238E27FC236}">
                  <a16:creationId xmlns:a16="http://schemas.microsoft.com/office/drawing/2014/main" id="{D454C187-244C-4D88-2AAD-41E84C47FCC0}"/>
                </a:ext>
              </a:extLst>
            </p:cNvPr>
            <p:cNvSpPr/>
            <p:nvPr/>
          </p:nvSpPr>
          <p:spPr>
            <a:xfrm>
              <a:off x="3983219" y="2851682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78C3F4AC-2CFC-3CCA-5032-F0F2E1A55FBE}"/>
                </a:ext>
              </a:extLst>
            </p:cNvPr>
            <p:cNvSpPr/>
            <p:nvPr/>
          </p:nvSpPr>
          <p:spPr>
            <a:xfrm>
              <a:off x="3983219" y="4027493"/>
              <a:ext cx="1028304" cy="24317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2">
                      <a:lumMod val="75000"/>
                    </a:schemeClr>
                  </a:solidFill>
                </a:rPr>
                <a:t>MoE 128</a:t>
              </a:r>
              <a:endParaRPr lang="zh-TW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14" name="矩形: 圓角 13">
              <a:extLst>
                <a:ext uri="{FF2B5EF4-FFF2-40B4-BE49-F238E27FC236}">
                  <a16:creationId xmlns:a16="http://schemas.microsoft.com/office/drawing/2014/main" id="{DB5D64DD-ACA9-5A13-082A-755DD5163747}"/>
                </a:ext>
              </a:extLst>
            </p:cNvPr>
            <p:cNvSpPr/>
            <p:nvPr/>
          </p:nvSpPr>
          <p:spPr>
            <a:xfrm>
              <a:off x="3983219" y="3694603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RMS Norm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CC360D91-74C6-D362-A60C-2792997F5353}"/>
                </a:ext>
              </a:extLst>
            </p:cNvPr>
            <p:cNvSpPr/>
            <p:nvPr/>
          </p:nvSpPr>
          <p:spPr>
            <a:xfrm>
              <a:off x="3849298" y="2614483"/>
              <a:ext cx="1310140" cy="1797695"/>
            </a:xfrm>
            <a:prstGeom prst="rect">
              <a:avLst/>
            </a:prstGeom>
            <a:noFill/>
            <a:ln w="19050">
              <a:solidFill>
                <a:schemeClr val="accent5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91440" bIns="0" rtlCol="0" anchor="t" anchorCtr="0"/>
            <a:lstStyle/>
            <a:p>
              <a:pPr algn="r"/>
              <a:r>
                <a:rPr lang="en-US" altLang="zh-TW" sz="1200" b="1" dirty="0">
                  <a:solidFill>
                    <a:schemeClr val="tx1"/>
                  </a:solidFill>
                </a:rPr>
                <a:t>Decoder</a:t>
              </a:r>
              <a:endParaRPr lang="zh-TW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接點: 肘形 18">
              <a:extLst>
                <a:ext uri="{FF2B5EF4-FFF2-40B4-BE49-F238E27FC236}">
                  <a16:creationId xmlns:a16="http://schemas.microsoft.com/office/drawing/2014/main" id="{A6880EE1-7A75-B6A1-BD2E-6EA6A9E540AD}"/>
                </a:ext>
              </a:extLst>
            </p:cNvPr>
            <p:cNvCxnSpPr>
              <a:cxnSpLocks/>
              <a:stCxn id="13" idx="2"/>
              <a:endCxn id="18" idx="0"/>
            </p:cNvCxnSpPr>
            <p:nvPr/>
          </p:nvCxnSpPr>
          <p:spPr>
            <a:xfrm rot="5400000" flipH="1" flipV="1">
              <a:off x="3672777" y="3439076"/>
              <a:ext cx="1656184" cy="6997"/>
            </a:xfrm>
            <a:prstGeom prst="bentConnector5">
              <a:avLst>
                <a:gd name="adj1" fmla="val -13803"/>
                <a:gd name="adj2" fmla="val 12729270"/>
                <a:gd name="adj3" fmla="val 113803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FBFF6502-70E1-6BBD-2AC8-EAA5D38815D6}"/>
                </a:ext>
              </a:extLst>
            </p:cNvPr>
            <p:cNvCxnSpPr>
              <a:cxnSpLocks/>
              <a:stCxn id="12" idx="2"/>
              <a:endCxn id="14" idx="0"/>
            </p:cNvCxnSpPr>
            <p:nvPr/>
          </p:nvCxnSpPr>
          <p:spPr>
            <a:xfrm>
              <a:off x="4497371" y="3094856"/>
              <a:ext cx="0" cy="5997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3AD69EE-5BCF-B82E-5B77-00541605CF4E}"/>
                </a:ext>
              </a:extLst>
            </p:cNvPr>
            <p:cNvCxnSpPr>
              <a:cxnSpLocks/>
              <a:stCxn id="18" idx="0"/>
              <a:endCxn id="12" idx="0"/>
            </p:cNvCxnSpPr>
            <p:nvPr/>
          </p:nvCxnSpPr>
          <p:spPr>
            <a:xfrm flipH="1">
              <a:off x="4497371" y="2614483"/>
              <a:ext cx="6997" cy="23719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994AB774-6412-AD8D-A060-1FF0717D4A11}"/>
                </a:ext>
              </a:extLst>
            </p:cNvPr>
            <p:cNvSpPr/>
            <p:nvPr/>
          </p:nvSpPr>
          <p:spPr>
            <a:xfrm>
              <a:off x="3995936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3" name="矩形: 圓角 22">
              <a:extLst>
                <a:ext uri="{FF2B5EF4-FFF2-40B4-BE49-F238E27FC236}">
                  <a16:creationId xmlns:a16="http://schemas.microsoft.com/office/drawing/2014/main" id="{89C79542-04A7-9209-8AB1-05F980A6215F}"/>
                </a:ext>
              </a:extLst>
            </p:cNvPr>
            <p:cNvSpPr/>
            <p:nvPr/>
          </p:nvSpPr>
          <p:spPr>
            <a:xfrm>
              <a:off x="3990889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24" name="矩形: 圓角 23">
              <a:extLst>
                <a:ext uri="{FF2B5EF4-FFF2-40B4-BE49-F238E27FC236}">
                  <a16:creationId xmlns:a16="http://schemas.microsoft.com/office/drawing/2014/main" id="{B9589719-EB9F-F081-329F-6A3ABC557418}"/>
                </a:ext>
              </a:extLst>
            </p:cNvPr>
            <p:cNvSpPr/>
            <p:nvPr/>
          </p:nvSpPr>
          <p:spPr>
            <a:xfrm>
              <a:off x="3983219" y="3163397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accent1">
                      <a:lumMod val="75000"/>
                    </a:schemeClr>
                  </a:solidFill>
                </a:rPr>
                <a:t>Attention</a:t>
              </a:r>
              <a:endParaRPr lang="zh-TW" altLang="en-US" sz="14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E36C2DC-F629-157A-34F2-03A63B2290DC}"/>
              </a:ext>
            </a:extLst>
          </p:cNvPr>
          <p:cNvSpPr/>
          <p:nvPr/>
        </p:nvSpPr>
        <p:spPr>
          <a:xfrm>
            <a:off x="4537929" y="1629901"/>
            <a:ext cx="1308794" cy="205743"/>
          </a:xfrm>
          <a:prstGeom prst="roundRect">
            <a:avLst/>
          </a:prstGeom>
          <a:solidFill>
            <a:srgbClr val="FFFF00"/>
          </a:solidFill>
          <a:ln w="31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Tiny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models</a:t>
            </a:r>
            <a:r>
              <a:rPr lang="en-US" altLang="zh-TW" sz="1400" dirty="0">
                <a:solidFill>
                  <a:schemeClr val="bg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 </a:t>
            </a:r>
            <a:r>
              <a:rPr lang="en-US" altLang="zh-TW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are</a:t>
            </a:r>
            <a:endParaRPr lang="zh-TW" altLang="en-US" sz="1400" dirty="0">
              <a:solidFill>
                <a:schemeClr val="bg1"/>
              </a:solidFill>
              <a:highlight>
                <a:srgbClr val="000000"/>
              </a:highlight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40547C6-8256-A648-ACDB-FEEEC1125790}"/>
              </a:ext>
            </a:extLst>
          </p:cNvPr>
          <p:cNvSpPr/>
          <p:nvPr/>
        </p:nvSpPr>
        <p:spPr>
          <a:xfrm>
            <a:off x="3036994" y="154246"/>
            <a:ext cx="547318" cy="267208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B6DFF5E6-3953-CA90-E2B9-5BA098DA0891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47CF019-CA5A-4262-E603-F0DD19E4210E}"/>
              </a:ext>
            </a:extLst>
          </p:cNvPr>
          <p:cNvSpPr txBox="1"/>
          <p:nvPr/>
        </p:nvSpPr>
        <p:spPr>
          <a:xfrm>
            <a:off x="4678173" y="398556"/>
            <a:ext cx="1168549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RoLA for all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  <p:sp>
        <p:nvSpPr>
          <p:cNvPr id="31" name="矩形: 圓角 30">
            <a:extLst>
              <a:ext uri="{FF2B5EF4-FFF2-40B4-BE49-F238E27FC236}">
                <a16:creationId xmlns:a16="http://schemas.microsoft.com/office/drawing/2014/main" id="{F96FF19D-1DBD-E165-FA63-703753A558E6}"/>
              </a:ext>
            </a:extLst>
          </p:cNvPr>
          <p:cNvSpPr/>
          <p:nvPr/>
        </p:nvSpPr>
        <p:spPr>
          <a:xfrm>
            <a:off x="1250141" y="4049922"/>
            <a:ext cx="519872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</a:rPr>
              <a:t>D+PLE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2344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4086AF1C-9AF9-050B-5F63-E4F091EB7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476672"/>
            <a:ext cx="4596152" cy="4307251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E6066CE6-2A4A-B14D-B71E-0B7D1DF8B5A6}"/>
              </a:ext>
            </a:extLst>
          </p:cNvPr>
          <p:cNvSpPr txBox="1"/>
          <p:nvPr/>
        </p:nvSpPr>
        <p:spPr>
          <a:xfrm>
            <a:off x="3347864" y="27459"/>
            <a:ext cx="4908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/>
              <a:t>https://ai.google.dev/gemma/docs/diffusiongemma/explained?hl=zh-tw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01D6A66-814C-907F-51F0-047ABE8E28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132856"/>
            <a:ext cx="5057095" cy="3979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185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676490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 (py)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DeepSpeed/FSDP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1038</TotalTime>
  <Words>10490</Words>
  <Application>Microsoft Office PowerPoint</Application>
  <PresentationFormat>如螢幕大小 (4:3)</PresentationFormat>
  <Paragraphs>1429</Paragraphs>
  <Slides>25</Slides>
  <Notes>23</Notes>
  <HiddenSlides>6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41" baseType="lpstr">
      <vt:lpstr>Google Sans</vt:lpstr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1746</cp:revision>
  <cp:lastPrinted>2024-07-30T01:44:15Z</cp:lastPrinted>
  <dcterms:created xsi:type="dcterms:W3CDTF">2019-11-08T03:01:47Z</dcterms:created>
  <dcterms:modified xsi:type="dcterms:W3CDTF">2026-07-14T09:40:42Z</dcterms:modified>
</cp:coreProperties>
</file>