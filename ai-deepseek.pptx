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4"/>
  </p:notesMasterIdLst>
  <p:handoutMasterIdLst>
    <p:handoutMasterId r:id="rId25"/>
  </p:handoutMasterIdLst>
  <p:sldIdLst>
    <p:sldId id="3459" r:id="rId2"/>
    <p:sldId id="3472" r:id="rId3"/>
    <p:sldId id="3555" r:id="rId4"/>
    <p:sldId id="3554" r:id="rId5"/>
    <p:sldId id="3548" r:id="rId6"/>
    <p:sldId id="3547" r:id="rId7"/>
    <p:sldId id="3570" r:id="rId8"/>
    <p:sldId id="3572" r:id="rId9"/>
    <p:sldId id="3571" r:id="rId10"/>
    <p:sldId id="3537" r:id="rId11"/>
    <p:sldId id="3558" r:id="rId12"/>
    <p:sldId id="3564" r:id="rId13"/>
    <p:sldId id="3557" r:id="rId14"/>
    <p:sldId id="3544" r:id="rId15"/>
    <p:sldId id="3540" r:id="rId16"/>
    <p:sldId id="3543" r:id="rId17"/>
    <p:sldId id="3545" r:id="rId18"/>
    <p:sldId id="3553" r:id="rId19"/>
    <p:sldId id="3539" r:id="rId20"/>
    <p:sldId id="3542" r:id="rId21"/>
    <p:sldId id="3538" r:id="rId22"/>
    <p:sldId id="3549" r:id="rId23"/>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genda" id="{30F6892D-1922-4A88-A82D-8CD0653C5411}">
          <p14:sldIdLst>
            <p14:sldId id="3459"/>
            <p14:sldId id="3472"/>
          </p14:sldIdLst>
        </p14:section>
        <p14:section name="Reinforcement Learning" id="{6A51FF52-3944-402B-A9B9-75E228335DE4}">
          <p14:sldIdLst>
            <p14:sldId id="3555"/>
            <p14:sldId id="3554"/>
          </p14:sldIdLst>
        </p14:section>
        <p14:section name="Distillation" id="{7EB38C31-A2B8-4354-A21C-A4C807EDE2C4}">
          <p14:sldIdLst>
            <p14:sldId id="3548"/>
            <p14:sldId id="3547"/>
          </p14:sldIdLst>
        </p14:section>
        <p14:section name="Position Encoding" id="{23BF021E-8044-46FD-9989-ED85BB2577B3}">
          <p14:sldIdLst>
            <p14:sldId id="3570"/>
            <p14:sldId id="3572"/>
            <p14:sldId id="3571"/>
          </p14:sldIdLst>
        </p14:section>
        <p14:section name="Deepseek" id="{8CC3907E-2537-4761-B8B4-20CC1D391E20}">
          <p14:sldIdLst>
            <p14:sldId id="3537"/>
            <p14:sldId id="3558"/>
            <p14:sldId id="3564"/>
            <p14:sldId id="3557"/>
            <p14:sldId id="3544"/>
            <p14:sldId id="3540"/>
            <p14:sldId id="3543"/>
            <p14:sldId id="3545"/>
            <p14:sldId id="3553"/>
            <p14:sldId id="3539"/>
            <p14:sldId id="3542"/>
            <p14:sldId id="3538"/>
          </p14:sldIdLst>
        </p14:section>
        <p14:section name="Conclusion" id="{D9E6914C-A73F-4176-B0F8-3F87EAC09119}">
          <p14:sldIdLst>
            <p14:sldId id="3549"/>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3DB"/>
    <a:srgbClr val="2260DC"/>
    <a:srgbClr val="F0F0F0"/>
    <a:srgbClr val="F8D462"/>
    <a:srgbClr val="4C6BFF"/>
    <a:srgbClr val="FF9900"/>
    <a:srgbClr val="FEC203"/>
    <a:srgbClr val="3079EF"/>
    <a:srgbClr val="B8EACA"/>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0010" autoAdjust="0"/>
    <p:restoredTop sz="35887" autoAdjust="0"/>
  </p:normalViewPr>
  <p:slideViewPr>
    <p:cSldViewPr>
      <p:cViewPr>
        <p:scale>
          <a:sx n="100" d="100"/>
          <a:sy n="100" d="100"/>
        </p:scale>
        <p:origin x="396" y="588"/>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 Id="rId30" Type="http://schemas.microsoft.com/office/2018/10/relationships/authors" Targe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2026/8/28</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2026/8/28</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98A0C2-F10F-41F2-4901-D00B23DA82B0}"/>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309C615-DC37-D33D-FC81-B6B7E8E5162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24B19ED-2691-D788-2378-E6045F29620F}"/>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模型初始化與蒸餾階段（Initialization / Knowledge Distillation）── </a:t>
            </a:r>
            <a:r>
              <a:rPr lang="zh-TW" altLang="zh-TW" sz="1200" b="1" i="1" u="none" strike="noStrike" kern="1200" dirty="0">
                <a:solidFill>
                  <a:schemeClr val="tx1"/>
                </a:solidFill>
                <a:effectLst/>
                <a:latin typeface="+mn-lt"/>
                <a:ea typeface="+mn-ea"/>
                <a:cs typeface="+mn-cs"/>
              </a:rPr>
              <a:t>非必須，可選</a:t>
            </a:r>
            <a:endParaRPr lang="zh-TW" altLang="zh-TW" sz="1200" b="1"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當科學家研發出一個像 Kimi Linear 這樣的架構時，如果從頭開始盲目訓練（Train from scratch），會消耗巨額的算力成本。 </a:t>
            </a:r>
          </a:p>
          <a:p>
            <a:pPr lvl="0"/>
            <a:r>
              <a:rPr lang="zh-TW" altLang="zh-TW" sz="1200" b="1" u="none" strike="noStrike" kern="1200" dirty="0">
                <a:solidFill>
                  <a:schemeClr val="tx1"/>
                </a:solidFill>
                <a:effectLst/>
                <a:latin typeface="+mn-lt"/>
                <a:ea typeface="+mn-ea"/>
                <a:cs typeface="+mn-cs"/>
              </a:rPr>
              <a:t>作法</a:t>
            </a:r>
            <a:r>
              <a:rPr lang="zh-TW" altLang="zh-TW" sz="1200" b="0" u="none" strike="noStrike" kern="1200" dirty="0">
                <a:solidFill>
                  <a:schemeClr val="tx1"/>
                </a:solidFill>
                <a:effectLst/>
                <a:latin typeface="+mn-lt"/>
                <a:ea typeface="+mn-ea"/>
                <a:cs typeface="+mn-cs"/>
              </a:rPr>
              <a:t>：工程師會希望把一個現成的、已經訓好的</a:t>
            </a:r>
            <a:r>
              <a:rPr lang="zh-TW" altLang="zh-TW" sz="1200" b="1" u="none" strike="noStrike" kern="1200" dirty="0">
                <a:solidFill>
                  <a:schemeClr val="tx1"/>
                </a:solidFill>
                <a:effectLst/>
                <a:latin typeface="+mn-lt"/>
                <a:ea typeface="+mn-ea"/>
                <a:cs typeface="+mn-cs"/>
              </a:rPr>
              <a:t>標準 Transformer（Full Attention，擁有 </a:t>
            </a:r>
            <a:r>
              <a:rPr lang="zh-TW" altLang="zh-TW" sz="1200" b="0" u="none" strike="noStrike" kern="1200" dirty="0">
                <a:solidFill>
                  <a:schemeClr val="tx1"/>
                </a:solidFill>
                <a:effectLst/>
                <a:latin typeface="+mn-lt"/>
                <a:ea typeface="+mn-ea"/>
                <a:cs typeface="+mn-cs"/>
              </a:rPr>
              <a:t>\(\mathcal{O}(L^2)\)</a:t>
            </a:r>
            <a:r>
              <a:rPr lang="zh-TW" altLang="zh-TW" sz="1200" b="1" u="none" strike="noStrike" kern="1200" dirty="0">
                <a:solidFill>
                  <a:schemeClr val="tx1"/>
                </a:solidFill>
                <a:effectLst/>
                <a:latin typeface="+mn-lt"/>
                <a:ea typeface="+mn-ea"/>
                <a:cs typeface="+mn-cs"/>
              </a:rPr>
              <a:t> 的大權重矩陣 </a:t>
            </a:r>
            <a:r>
              <a:rPr lang="zh-TW" altLang="zh-TW" sz="1200" b="0" u="none" strike="noStrike" kern="1200" dirty="0">
                <a:solidFill>
                  <a:schemeClr val="tx1"/>
                </a:solidFill>
                <a:effectLst/>
                <a:latin typeface="+mn-lt"/>
                <a:ea typeface="+mn-ea"/>
                <a:cs typeface="+mn-cs"/>
              </a:rPr>
              <a:t>\(W\)</a:t>
            </a:r>
            <a:r>
              <a:rPr lang="zh-TW"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直接「瘦身」轉化為線性注意力模型。 </a:t>
            </a:r>
          </a:p>
          <a:p>
            <a:pPr lvl="0"/>
            <a:r>
              <a:rPr lang="zh-TW" altLang="zh-TW" sz="1200" b="1" u="none" strike="noStrike" kern="1200" dirty="0">
                <a:solidFill>
                  <a:schemeClr val="tx1"/>
                </a:solidFill>
                <a:effectLst/>
                <a:latin typeface="+mn-lt"/>
                <a:ea typeface="+mn-ea"/>
                <a:cs typeface="+mn-cs"/>
              </a:rPr>
              <a:t>SVD 登場</a:t>
            </a:r>
            <a:r>
              <a:rPr lang="zh-TW" altLang="zh-TW" sz="1200" b="0" u="none" strike="noStrike" kern="1200" dirty="0">
                <a:solidFill>
                  <a:schemeClr val="tx1"/>
                </a:solidFill>
                <a:effectLst/>
                <a:latin typeface="+mn-lt"/>
                <a:ea typeface="+mn-ea"/>
                <a:cs typeface="+mn-cs"/>
              </a:rPr>
              <a:t>：在這個</a:t>
            </a:r>
            <a:r>
              <a:rPr lang="zh-TW" altLang="zh-TW" sz="1200" b="1" u="none" strike="noStrike" kern="1200" dirty="0">
                <a:solidFill>
                  <a:schemeClr val="tx1"/>
                </a:solidFill>
                <a:effectLst/>
                <a:latin typeface="+mn-lt"/>
                <a:ea typeface="+mn-ea"/>
                <a:cs typeface="+mn-cs"/>
              </a:rPr>
              <a:t>初始化轉換階段</a:t>
            </a:r>
            <a:r>
              <a:rPr lang="zh-TW" altLang="zh-TW" sz="1200" b="0" u="none" strike="noStrike" kern="1200" dirty="0">
                <a:solidFill>
                  <a:schemeClr val="tx1"/>
                </a:solidFill>
                <a:effectLst/>
                <a:latin typeface="+mn-lt"/>
                <a:ea typeface="+mn-ea"/>
                <a:cs typeface="+mn-cs"/>
              </a:rPr>
              <a:t>，會對原始模型的 \(W_q, W_k\) 矩陣執行 </a:t>
            </a:r>
            <a:r>
              <a:rPr lang="zh-TW" altLang="zh-TW" sz="1200" b="1" u="none" strike="noStrike" kern="1200" dirty="0">
                <a:solidFill>
                  <a:schemeClr val="tx1"/>
                </a:solidFill>
                <a:effectLst/>
                <a:latin typeface="+mn-lt"/>
                <a:ea typeface="+mn-ea"/>
                <a:cs typeface="+mn-cs"/>
              </a:rPr>
              <a:t>SVD 分解並進行低秩截斷</a:t>
            </a:r>
            <a:r>
              <a:rPr lang="zh-TW" altLang="zh-TW" sz="1200" b="0" u="none" strike="noStrike" kern="1200" dirty="0">
                <a:solidFill>
                  <a:schemeClr val="tx1"/>
                </a:solidFill>
                <a:effectLst/>
                <a:latin typeface="+mn-lt"/>
                <a:ea typeface="+mn-ea"/>
                <a:cs typeface="+mn-cs"/>
              </a:rPr>
              <a:t>，將提煉出來的正交基底向量（Orthogonal Bases）當作線性注意力層的</a:t>
            </a:r>
            <a:r>
              <a:rPr lang="zh-TW" altLang="zh-TW" sz="1200" b="1" u="none" strike="noStrike" kern="1200" dirty="0">
                <a:solidFill>
                  <a:schemeClr val="tx1"/>
                </a:solidFill>
                <a:effectLst/>
                <a:latin typeface="+mn-lt"/>
                <a:ea typeface="+mn-ea"/>
                <a:cs typeface="+mn-cs"/>
              </a:rPr>
              <a:t>權重初始值</a:t>
            </a:r>
            <a:r>
              <a:rPr lang="zh-TW" altLang="zh-TW" sz="1200" b="0" u="none" strike="noStrike" kern="1200" dirty="0">
                <a:solidFill>
                  <a:schemeClr val="tx1"/>
                </a:solidFill>
                <a:effectLst/>
                <a:latin typeface="+mn-lt"/>
                <a:ea typeface="+mn-ea"/>
                <a:cs typeface="+mn-cs"/>
              </a:rPr>
              <a:t>，讓新模型在起跑點就繼承舊模型的知識。</a:t>
            </a:r>
            <a:br>
              <a:rPr lang="zh-TW" altLang="zh-TW" sz="1200" b="0" u="none" strike="noStrike" kern="1200" dirty="0">
                <a:solidFill>
                  <a:schemeClr val="tx1"/>
                </a:solidFill>
                <a:effectLst/>
                <a:latin typeface="+mn-lt"/>
                <a:ea typeface="+mn-ea"/>
                <a:cs typeface="+mn-cs"/>
              </a:rPr>
            </a:br>
            <a:r>
              <a:rPr lang="zh-TW" altLang="zh-TW" sz="1200" b="0" i="1" u="none" strike="noStrike" kern="1200" dirty="0">
                <a:solidFill>
                  <a:schemeClr val="tx1"/>
                </a:solidFill>
                <a:effectLst/>
                <a:latin typeface="+mn-lt"/>
                <a:ea typeface="+mn-ea"/>
                <a:cs typeface="+mn-cs"/>
              </a:rPr>
              <a:t>(註：有些最新的實驗發現，直接用隨機初始化配合 Warmup 也能達到類似效果，因此這屬於可選方案)。</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74594A81-2AB8-1C7D-0016-4C3AEAD9A2B0}"/>
              </a:ext>
            </a:extLst>
          </p:cNvPr>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5534335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4926C-9EED-C470-ED03-7E77F765696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57F5C9E-88DB-47B1-6582-F37455330CF3}"/>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42B8BCA-D2D3-D8F3-5EF4-B9A54DB6AD62}"/>
              </a:ext>
            </a:extLst>
          </p:cNvPr>
          <p:cNvSpPr>
            <a:spLocks noGrp="1"/>
          </p:cNvSpPr>
          <p:nvPr>
            <p:ph type="body" idx="1"/>
          </p:nvPr>
        </p:nvSpPr>
        <p:spPr/>
        <p:txBody>
          <a:bodyPr/>
          <a:lstStyle/>
          <a:p>
            <a:r>
              <a:rPr lang="zh-TW" altLang="zh-TW" dirty="0"/>
              <a:t>在傳統的 Transformer 架構中，模型運作會面臨兩個維度的資訊損耗：</a:t>
            </a:r>
            <a:endParaRPr lang="en-US" altLang="zh-TW" dirty="0"/>
          </a:p>
          <a:p>
            <a:r>
              <a:rPr lang="zh-TW" altLang="zh-TW" dirty="0"/>
              <a:t>一個是文字序列越長，記憶體越容易爆掉（水平瓶頸）；</a:t>
            </a:r>
            <a:endParaRPr lang="en-US" altLang="zh-TW" dirty="0"/>
          </a:p>
          <a:p>
            <a:r>
              <a:rPr lang="zh-TW" altLang="zh-TW" dirty="0"/>
              <a:t>另一個是神經網路層數越深，早期的重要訊號越容易被後面的層沖淡（垂直瓶頸）。</a:t>
            </a:r>
            <a:endParaRPr lang="en-US" altLang="zh-TW" dirty="0"/>
          </a:p>
          <a:p>
            <a:r>
              <a:rPr lang="zh-TW" altLang="zh-TW" dirty="0"/>
              <a:t>Kimi 的解法是將「注意力機制」同時應用在這兩個維度：</a:t>
            </a:r>
            <a:endParaRPr lang="zh-TW" altLang="en-US" dirty="0"/>
          </a:p>
        </p:txBody>
      </p:sp>
      <p:sp>
        <p:nvSpPr>
          <p:cNvPr id="4" name="投影片編號版面配置區 3">
            <a:extLst>
              <a:ext uri="{FF2B5EF4-FFF2-40B4-BE49-F238E27FC236}">
                <a16:creationId xmlns:a16="http://schemas.microsoft.com/office/drawing/2014/main" id="{3B417082-2C85-C436-A2CB-60D654461411}"/>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38796012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C94C72-3F7C-A81E-DCEF-653ECFCB864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4664BBAE-1168-DF55-9F20-9F753A35251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8F66A29-70F1-323F-DEF0-7A4209ED44EB}"/>
              </a:ext>
            </a:extLst>
          </p:cNvPr>
          <p:cNvSpPr>
            <a:spLocks noGrp="1"/>
          </p:cNvSpPr>
          <p:nvPr>
            <p:ph type="body" idx="1"/>
          </p:nvPr>
        </p:nvSpPr>
        <p:spPr/>
        <p:txBody>
          <a:bodyPr/>
          <a:lstStyle/>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A00D6A9-87C4-54F6-5ADC-206C1A2E6B32}"/>
              </a:ext>
            </a:extLst>
          </p:cNvPr>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327547660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CC3C77-88E5-55AA-094A-F389F8660C72}"/>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88DF128-2C66-7F55-1842-68AEC209BF1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462F23B-7F71-0367-8D5F-C3566848B944}"/>
              </a:ext>
            </a:extLst>
          </p:cNvPr>
          <p:cNvSpPr>
            <a:spLocks noGrp="1"/>
          </p:cNvSpPr>
          <p:nvPr>
            <p:ph type="body" idx="1"/>
          </p:nvPr>
        </p:nvSpPr>
        <p:spPr/>
        <p:txBody>
          <a:bodyPr/>
          <a:lstStyle/>
          <a:p>
            <a:pPr marL="0" marR="0">
              <a:lnSpc>
                <a:spcPts val="1400"/>
              </a:lnSpc>
              <a:buNone/>
            </a:pPr>
            <a:r>
              <a:rPr lang="zh-TW" altLang="zh-TW" sz="1200" b="0" u="none" strike="noStrike" dirty="0">
                <a:effectLst/>
                <a:latin typeface="+mn-lt"/>
              </a:rPr>
              <a:t>DeepSeek 的 </a:t>
            </a:r>
            <a:r>
              <a:rPr lang="zh-TW" altLang="zh-TW" sz="1200" b="1" u="none" strike="noStrike" dirty="0">
                <a:effectLst/>
                <a:latin typeface="+mn-lt"/>
              </a:rPr>
              <a:t>NoPE（No Positional Embedding）</a:t>
            </a:r>
            <a:r>
              <a:rPr lang="zh-TW" altLang="zh-TW" sz="1200" b="0" u="none" strike="noStrike" dirty="0">
                <a:effectLst/>
                <a:latin typeface="+mn-lt"/>
              </a:rPr>
              <a:t> 運作原理，核心在於</a:t>
            </a:r>
            <a:r>
              <a:rPr lang="zh-TW" altLang="zh-TW" sz="1200" b="1" u="none" strike="noStrike" dirty="0">
                <a:effectLst/>
                <a:latin typeface="+mn-lt"/>
              </a:rPr>
              <a:t>「解耦（Decoupling）」</a:t>
            </a:r>
            <a:r>
              <a:rPr lang="zh-TW" altLang="zh-TW" sz="1200" b="0" u="none" strike="noStrike" dirty="0">
                <a:effectLst/>
                <a:latin typeface="+mn-lt"/>
              </a:rPr>
              <a:t>。</a:t>
            </a:r>
          </a:p>
          <a:p>
            <a:pPr marL="0" marR="0">
              <a:lnSpc>
                <a:spcPts val="1400"/>
              </a:lnSpc>
              <a:buNone/>
            </a:pPr>
            <a:r>
              <a:rPr lang="zh-TW" altLang="zh-TW" sz="1200" b="0" u="none" strike="noStrike" dirty="0">
                <a:effectLst/>
                <a:latin typeface="+mn-lt"/>
              </a:rPr>
              <a:t>傳統 Transformer（如 LLaMA）會把位置資訊（RoPE）直接融入到 Query（Q）和 Key（K）的每一個維度中。</a:t>
            </a:r>
            <a:endParaRPr lang="en-US" altLang="zh-TW" sz="1200" b="0" u="none" strike="noStrike" dirty="0">
              <a:effectLst/>
              <a:latin typeface="+mn-lt"/>
            </a:endParaRPr>
          </a:p>
          <a:p>
            <a:pPr marL="0" marR="0">
              <a:lnSpc>
                <a:spcPts val="1400"/>
              </a:lnSpc>
              <a:buNone/>
            </a:pPr>
            <a:r>
              <a:rPr lang="zh-TW" altLang="zh-TW" sz="1200" b="0" u="none" strike="noStrike" dirty="0">
                <a:effectLst/>
                <a:latin typeface="+mn-lt"/>
              </a:rPr>
              <a:t>但 DeepSeek 為了大幅壓縮 KV 快取（KV Cache），開發了 MLA</a:t>
            </a:r>
            <a:r>
              <a:rPr lang="en-US" altLang="zh-TW" sz="1200" b="0" u="none" strike="noStrike" dirty="0">
                <a:effectLst/>
                <a:latin typeface="+mn-lt"/>
              </a:rPr>
              <a:t>(</a:t>
            </a:r>
            <a:r>
              <a:rPr lang="zh-TW" altLang="zh-TW" sz="1200" b="0" u="none" strike="noStrike" dirty="0">
                <a:effectLst/>
                <a:latin typeface="+mn-lt"/>
              </a:rPr>
              <a:t>Multi-head Latent Attention</a:t>
            </a:r>
            <a:r>
              <a:rPr lang="en-US" altLang="zh-TW" sz="1200" b="0" u="none" strike="noStrike" dirty="0">
                <a:effectLst/>
                <a:latin typeface="+mn-lt"/>
              </a:rPr>
              <a:t>)</a:t>
            </a:r>
            <a:r>
              <a:rPr lang="zh-TW" altLang="zh-TW" sz="1200" b="0" u="none" strike="noStrike" dirty="0">
                <a:effectLst/>
                <a:latin typeface="+mn-lt"/>
              </a:rPr>
              <a:t>架構。</a:t>
            </a:r>
            <a:endParaRPr lang="en-US" altLang="zh-TW" sz="1200" b="0" u="none" strike="noStrike" dirty="0">
              <a:effectLst/>
              <a:latin typeface="+mn-lt"/>
            </a:endParaRPr>
          </a:p>
          <a:p>
            <a:pPr marL="0" marR="0">
              <a:lnSpc>
                <a:spcPts val="1400"/>
              </a:lnSpc>
              <a:buNone/>
            </a:pPr>
            <a:endParaRPr lang="zh-TW" altLang="zh-TW" sz="1200" b="0" u="none" strike="noStrike" dirty="0">
              <a:effectLst/>
              <a:latin typeface="+mn-lt"/>
            </a:endParaRPr>
          </a:p>
          <a:p>
            <a:pPr marL="0" marR="0">
              <a:lnSpc>
                <a:spcPts val="1400"/>
              </a:lnSpc>
              <a:buNone/>
            </a:pPr>
            <a:r>
              <a:rPr lang="zh-TW" altLang="zh-TW" sz="1200" b="0" u="none" strike="noStrike" dirty="0">
                <a:effectLst/>
                <a:latin typeface="+mn-lt"/>
              </a:rPr>
              <a:t>在 MLA 中，RoPE 如果與壓縮矩陣混在一起，會破壞矩陣乘法的優化（無法進行吸收）。因此，DeepSeek 選擇將 Q 和 K 的維度</a:t>
            </a:r>
            <a:r>
              <a:rPr lang="zh-TW" altLang="zh-TW" sz="1200" b="1" u="none" strike="noStrike" dirty="0">
                <a:effectLst/>
                <a:latin typeface="+mn-lt"/>
              </a:rPr>
              <a:t>拆成兩部分</a:t>
            </a:r>
            <a:r>
              <a:rPr lang="en-US" altLang="zh-TW" sz="1200" b="1" u="none" strike="noStrike" dirty="0">
                <a:effectLst/>
                <a:latin typeface="+mn-lt"/>
              </a:rPr>
              <a:t>:</a:t>
            </a:r>
          </a:p>
          <a:p>
            <a:pPr marL="0" marR="0">
              <a:lnSpc>
                <a:spcPts val="1400"/>
              </a:lnSpc>
              <a:buNone/>
            </a:pPr>
            <a:r>
              <a:rPr lang="zh-TW" altLang="zh-TW" sz="1200" b="0" u="none" strike="noStrike" dirty="0">
                <a:effectLst/>
                <a:latin typeface="+mn-lt"/>
              </a:rPr>
              <a:t>一部分</a:t>
            </a:r>
            <a:r>
              <a:rPr lang="zh-TW" altLang="zh-TW" sz="1200" b="1" u="none" strike="noStrike" dirty="0">
                <a:effectLst/>
                <a:latin typeface="+mn-lt"/>
              </a:rPr>
              <a:t>完全不帶位置資訊（NoPE）</a:t>
            </a:r>
            <a:r>
              <a:rPr lang="zh-TW" altLang="zh-TW" sz="1200" b="0" u="none" strike="noStrike" dirty="0">
                <a:effectLst/>
                <a:latin typeface="+mn-lt"/>
              </a:rPr>
              <a:t>，另一部分</a:t>
            </a:r>
            <a:r>
              <a:rPr lang="zh-TW" altLang="zh-TW" sz="1200" b="1" u="none" strike="noStrike" dirty="0">
                <a:effectLst/>
                <a:latin typeface="+mn-lt"/>
              </a:rPr>
              <a:t>專門用來帶位置資訊（RoPE）</a:t>
            </a:r>
            <a:r>
              <a:rPr lang="zh-TW" altLang="zh-TW" sz="1200" b="0" u="none" strike="noStrike" dirty="0">
                <a:effectLst/>
                <a:latin typeface="+mn-lt"/>
              </a:rPr>
              <a:t>。</a:t>
            </a:r>
            <a:endParaRPr lang="en-US" altLang="zh-TW" sz="1200" b="0" u="none" strike="noStrike" dirty="0">
              <a:effectLst/>
              <a:latin typeface="+mn-lt"/>
            </a:endParaRPr>
          </a:p>
          <a:p>
            <a:pPr marL="0" marR="0">
              <a:lnSpc>
                <a:spcPts val="1400"/>
              </a:lnSpc>
              <a:buNone/>
            </a:pPr>
            <a:endParaRPr lang="zh-TW" altLang="zh-TW" sz="1200" b="0" u="none" strike="noStrike" dirty="0">
              <a:effectLst/>
              <a:latin typeface="+mn-lt"/>
            </a:endParaRPr>
          </a:p>
          <a:p>
            <a:pPr marL="0" marR="0">
              <a:lnSpc>
                <a:spcPts val="1400"/>
              </a:lnSpc>
              <a:buNone/>
            </a:pPr>
            <a:r>
              <a:rPr lang="zh-TW" altLang="zh-TW" sz="1200" b="0" u="none" strike="noStrike" dirty="0">
                <a:effectLst/>
                <a:latin typeface="+mn-lt"/>
              </a:rPr>
              <a:t>以下是 NoPE 在注意力機制中的核心運作步驟：</a:t>
            </a:r>
          </a:p>
          <a:p>
            <a:pPr marL="0" marR="0">
              <a:lnSpc>
                <a:spcPts val="1400"/>
              </a:lnSpc>
              <a:buNone/>
            </a:pPr>
            <a:r>
              <a:rPr lang="zh-TW" altLang="zh-TW" sz="1200" b="1" u="none" strike="noStrike" dirty="0">
                <a:effectLst/>
                <a:latin typeface="+mn-lt"/>
              </a:rPr>
              <a:t>1. 維度拆分（Splitting）</a:t>
            </a:r>
          </a:p>
          <a:p>
            <a:pPr marL="0" marR="0">
              <a:lnSpc>
                <a:spcPts val="1400"/>
              </a:lnSpc>
              <a:buNone/>
            </a:pPr>
            <a:r>
              <a:rPr lang="zh-TW" altLang="zh-TW" sz="1200" b="0" u="none" strike="noStrike" dirty="0">
                <a:effectLst/>
                <a:latin typeface="+mn-lt"/>
              </a:rPr>
              <a:t>當模型生成 Query (q) 和 Key (k) 時，它們的向量維度被強制拆分為兩個獨立的口袋：</a:t>
            </a:r>
          </a:p>
          <a:p>
            <a:pPr marL="342900" marR="0" lvl="0" indent="-342900">
              <a:lnSpc>
                <a:spcPts val="1400"/>
              </a:lnSpc>
              <a:buFont typeface="Arial" panose="020B0604020202020204" pitchFamily="34" charset="0"/>
              <a:buChar char="•"/>
            </a:pPr>
            <a:r>
              <a:rPr lang="en-US" altLang="zh-TW" sz="1200" b="1" u="none" strike="noStrike" dirty="0">
                <a:effectLst/>
                <a:latin typeface="+mn-lt"/>
              </a:rPr>
              <a:t>q_</a:t>
            </a:r>
            <a:r>
              <a:rPr lang="zh-TW" altLang="zh-TW" sz="1200" b="1" u="none" strike="noStrike" dirty="0">
                <a:effectLst/>
                <a:latin typeface="+mn-lt"/>
              </a:rPr>
              <a:t>NoPE</a:t>
            </a:r>
            <a:r>
              <a:rPr lang="en-US" altLang="zh-TW" sz="1200" b="1" u="none" strike="noStrike" dirty="0">
                <a:effectLst/>
                <a:latin typeface="+mn-lt"/>
              </a:rPr>
              <a:t>, k_</a:t>
            </a:r>
            <a:r>
              <a:rPr lang="zh-TW" altLang="zh-TW" sz="1200" b="1" u="none" strike="noStrike" dirty="0">
                <a:effectLst/>
                <a:latin typeface="+mn-lt"/>
              </a:rPr>
              <a:t>NoPE</a:t>
            </a:r>
            <a:r>
              <a:rPr lang="zh-TW" altLang="zh-TW" sz="1200" b="0" u="none" strike="noStrike" dirty="0">
                <a:effectLst/>
                <a:latin typeface="+mn-lt"/>
              </a:rPr>
              <a:t>：佔絕大部分維度（例如 128 維中的 64 或 96 維）。這裡</a:t>
            </a:r>
            <a:r>
              <a:rPr lang="zh-TW" altLang="zh-TW" sz="1200" b="1" u="none" strike="noStrike" dirty="0">
                <a:effectLst/>
                <a:latin typeface="+mn-lt"/>
              </a:rPr>
              <a:t>只包含純粹的語義資訊</a:t>
            </a:r>
            <a:r>
              <a:rPr lang="zh-TW" altLang="zh-TW" sz="1200" b="0" u="none" strike="noStrike" dirty="0">
                <a:effectLst/>
                <a:latin typeface="+mn-lt"/>
              </a:rPr>
              <a:t>，完全不注入任何位置編碼。</a:t>
            </a:r>
            <a:endParaRPr lang="en-US" altLang="zh-TW" sz="1200" b="0" u="none" strike="noStrike" dirty="0">
              <a:effectLst/>
              <a:latin typeface="+mn-lt"/>
            </a:endParaRPr>
          </a:p>
          <a:p>
            <a:pPr marL="342900" marR="0" lvl="0" indent="-342900">
              <a:lnSpc>
                <a:spcPts val="1400"/>
              </a:lnSpc>
              <a:buFont typeface="Arial" panose="020B0604020202020204" pitchFamily="34" charset="0"/>
              <a:buChar char="•"/>
            </a:pPr>
            <a:r>
              <a:rPr lang="en-US" altLang="zh-TW" sz="1200" b="1" u="none" strike="noStrike" dirty="0">
                <a:effectLst/>
                <a:latin typeface="+mn-lt"/>
              </a:rPr>
              <a:t>Q_R</a:t>
            </a:r>
            <a:r>
              <a:rPr lang="zh-TW" altLang="zh-TW" sz="1200" b="1" u="none" strike="noStrike" dirty="0">
                <a:effectLst/>
                <a:latin typeface="+mn-lt"/>
              </a:rPr>
              <a:t>oPE</a:t>
            </a:r>
            <a:r>
              <a:rPr lang="en-US" altLang="zh-TW" sz="1200" b="1" u="none" strike="noStrike" dirty="0">
                <a:effectLst/>
                <a:latin typeface="+mn-lt"/>
              </a:rPr>
              <a:t>, </a:t>
            </a:r>
            <a:r>
              <a:rPr lang="zh-TW" altLang="zh-TW" sz="1200" b="1" u="none" strike="noStrike" dirty="0">
                <a:effectLst/>
                <a:latin typeface="+mn-lt"/>
              </a:rPr>
              <a:t>k</a:t>
            </a:r>
            <a:r>
              <a:rPr lang="en-US" altLang="zh-TW" sz="1200" b="1" u="none" strike="noStrike" dirty="0">
                <a:effectLst/>
                <a:latin typeface="+mn-lt"/>
              </a:rPr>
              <a:t>_</a:t>
            </a:r>
            <a:r>
              <a:rPr lang="zh-TW" altLang="zh-TW" sz="1200" b="1" u="none" strike="noStrike" dirty="0">
                <a:effectLst/>
                <a:latin typeface="+mn-lt"/>
              </a:rPr>
              <a:t>RoPE</a:t>
            </a:r>
            <a:r>
              <a:rPr lang="zh-TW" altLang="zh-TW" sz="1200" b="0" u="none" strike="noStrike" dirty="0">
                <a:effectLst/>
                <a:latin typeface="+mn-lt"/>
              </a:rPr>
              <a:t>：佔極小的維度（例如 32 維或 64 維）。這裡</a:t>
            </a:r>
            <a:r>
              <a:rPr lang="zh-TW" altLang="zh-TW" sz="1200" b="1" u="none" strike="noStrike" dirty="0">
                <a:effectLst/>
                <a:latin typeface="+mn-lt"/>
              </a:rPr>
              <a:t>專門注入旋轉位置編碼</a:t>
            </a:r>
            <a:r>
              <a:rPr lang="en-US" altLang="zh-TW" sz="1200" b="1" u="none" strike="noStrike" dirty="0">
                <a:effectLst/>
                <a:latin typeface="+mn-lt"/>
              </a:rPr>
              <a:t>(</a:t>
            </a:r>
            <a:r>
              <a:rPr lang="zh-TW" altLang="zh-TW" sz="1200" b="1" u="none" strike="noStrike" dirty="0">
                <a:effectLst/>
                <a:latin typeface="+mn-lt"/>
              </a:rPr>
              <a:t>RoPE</a:t>
            </a:r>
            <a:r>
              <a:rPr lang="en-US" altLang="zh-TW" sz="1200" b="1" u="none" strike="noStrike" dirty="0">
                <a:effectLst/>
                <a:latin typeface="+mn-lt"/>
              </a:rPr>
              <a:t>)</a:t>
            </a:r>
            <a:r>
              <a:rPr lang="zh-TW" altLang="zh-TW" sz="1200" b="0" u="none" strike="noStrike" dirty="0">
                <a:effectLst/>
                <a:latin typeface="+mn-lt"/>
              </a:rPr>
              <a:t>。</a:t>
            </a:r>
            <a:endParaRPr lang="en-US" altLang="zh-TW" sz="1200" b="0" u="none" strike="noStrike" dirty="0">
              <a:effectLst/>
              <a:latin typeface="+mn-lt"/>
            </a:endParaRPr>
          </a:p>
          <a:p>
            <a:pPr marL="342900" marR="0" lvl="0" indent="-342900">
              <a:lnSpc>
                <a:spcPts val="1400"/>
              </a:lnSpc>
              <a:buFont typeface="Arial" panose="020B0604020202020204" pitchFamily="34" charset="0"/>
              <a:buChar char="•"/>
            </a:pPr>
            <a:endParaRPr lang="zh-TW" altLang="zh-TW" sz="1200" b="0" u="none" strike="noStrike" dirty="0">
              <a:effectLst/>
              <a:latin typeface="+mn-lt"/>
            </a:endParaRPr>
          </a:p>
          <a:p>
            <a:pPr marL="0" marR="0">
              <a:lnSpc>
                <a:spcPts val="1400"/>
              </a:lnSpc>
              <a:buNone/>
            </a:pPr>
            <a:r>
              <a:rPr lang="zh-TW" altLang="zh-TW" sz="1200" b="1" u="none" strike="noStrike" dirty="0">
                <a:effectLst/>
                <a:latin typeface="+mn-lt"/>
              </a:rPr>
              <a:t>2. 獨立進行 KV 快取壓縮</a:t>
            </a:r>
          </a:p>
          <a:p>
            <a:pPr marL="0" marR="0">
              <a:lnSpc>
                <a:spcPts val="1400"/>
              </a:lnSpc>
              <a:buNone/>
            </a:pPr>
            <a:r>
              <a:rPr lang="zh-TW" altLang="zh-TW" sz="1200" b="0" u="none" strike="noStrike" dirty="0">
                <a:effectLst/>
                <a:latin typeface="+mn-lt"/>
              </a:rPr>
              <a:t>因為</a:t>
            </a:r>
            <a:r>
              <a:rPr lang="en-US" altLang="zh-TW" sz="1200" b="0" u="none" strike="noStrike" dirty="0">
                <a:effectLst/>
                <a:latin typeface="+mn-lt"/>
              </a:rPr>
              <a:t> </a:t>
            </a:r>
            <a:r>
              <a:rPr lang="zh-TW" altLang="zh-TW" sz="1200" b="0" u="none" strike="noStrike" dirty="0">
                <a:effectLst/>
                <a:latin typeface="+mn-lt"/>
              </a:rPr>
              <a:t>k</a:t>
            </a:r>
            <a:r>
              <a:rPr lang="en-US" altLang="zh-TW" sz="1200" b="0" u="none" strike="noStrike" dirty="0">
                <a:effectLst/>
                <a:latin typeface="+mn-lt"/>
              </a:rPr>
              <a:t>_</a:t>
            </a:r>
            <a:r>
              <a:rPr lang="zh-TW" altLang="zh-TW" sz="1200" b="0" u="none" strike="noStrike" dirty="0">
                <a:effectLst/>
                <a:latin typeface="+mn-lt"/>
              </a:rPr>
              <a:t>NoPE 裡面沒有位置干擾，它是純粹的語義特徵，DeepSeek 就可以放心地使用低秩矩陣</a:t>
            </a:r>
            <a:r>
              <a:rPr lang="en-US" altLang="zh-TW" sz="1200" b="0" u="none" strike="noStrike" dirty="0">
                <a:effectLst/>
                <a:latin typeface="+mn-lt"/>
              </a:rPr>
              <a:t>(</a:t>
            </a:r>
            <a:r>
              <a:rPr lang="zh-TW" altLang="zh-TW" sz="1200" b="0" u="none" strike="noStrike" dirty="0">
                <a:effectLst/>
                <a:latin typeface="+mn-lt"/>
              </a:rPr>
              <a:t>Low-rank Projection</a:t>
            </a:r>
            <a:r>
              <a:rPr lang="en-US" altLang="zh-TW" sz="1200" b="0" u="none" strike="noStrike" dirty="0">
                <a:effectLst/>
                <a:latin typeface="+mn-lt"/>
              </a:rPr>
              <a:t>)</a:t>
            </a:r>
            <a:r>
              <a:rPr lang="zh-TW" altLang="zh-TW" sz="1200" b="0" u="none" strike="noStrike" dirty="0">
                <a:effectLst/>
                <a:latin typeface="+mn-lt"/>
              </a:rPr>
              <a:t>將所有 Token 的 NoPE 特徵壓縮成一個極小的潛在向量Latent Vector c_t</a:t>
            </a:r>
            <a:r>
              <a:rPr lang="en-US" altLang="zh-TW" sz="1200" b="0" u="none" strike="noStrike" dirty="0">
                <a:effectLst/>
                <a:latin typeface="+mn-lt"/>
              </a:rPr>
              <a:t> </a:t>
            </a:r>
            <a:r>
              <a:rPr lang="zh-TW" altLang="zh-TW" sz="1200" b="0" u="none" strike="noStrike" dirty="0">
                <a:effectLst/>
                <a:latin typeface="+mn-lt"/>
              </a:rPr>
              <a:t>存入 KV Cache。</a:t>
            </a:r>
          </a:p>
          <a:p>
            <a:pPr marL="342900" marR="0" lvl="0" indent="-342900">
              <a:lnSpc>
                <a:spcPts val="1400"/>
              </a:lnSpc>
              <a:buFont typeface="Arial" panose="020B0604020202020204" pitchFamily="34" charset="0"/>
              <a:buChar char="•"/>
            </a:pPr>
            <a:r>
              <a:rPr lang="zh-TW" altLang="zh-TW" sz="1200" b="1" u="none" strike="noStrike" dirty="0">
                <a:effectLst/>
                <a:latin typeface="+mn-lt"/>
              </a:rPr>
              <a:t>好處</a:t>
            </a:r>
            <a:r>
              <a:rPr lang="zh-TW" altLang="zh-TW" sz="1200" b="0" u="none" strike="noStrike" dirty="0">
                <a:effectLst/>
                <a:latin typeface="+mn-lt"/>
              </a:rPr>
              <a:t>：KV 快取體積暴減至原本的數分之一。</a:t>
            </a:r>
          </a:p>
          <a:p>
            <a:pPr marL="342900" marR="0" lvl="0" indent="-342900">
              <a:lnSpc>
                <a:spcPts val="1400"/>
              </a:lnSpc>
              <a:buFont typeface="Arial" panose="020B0604020202020204" pitchFamily="34" charset="0"/>
              <a:buChar char="•"/>
            </a:pPr>
            <a:r>
              <a:rPr lang="zh-TW" altLang="zh-TW" sz="1200" b="1" u="none" strike="noStrike" dirty="0">
                <a:effectLst/>
                <a:latin typeface="+mn-lt"/>
              </a:rPr>
              <a:t>位置怎麼辦？</a:t>
            </a:r>
            <a:r>
              <a:rPr lang="zh-TW" altLang="zh-TW" sz="1200" b="0" u="none" strike="noStrike" dirty="0">
                <a:effectLst/>
                <a:latin typeface="+mn-lt"/>
              </a:rPr>
              <a:t>：只有那部分小小的 k</a:t>
            </a:r>
            <a:r>
              <a:rPr lang="en-US" altLang="zh-TW" sz="1200" b="0" u="none" strike="noStrike" dirty="0">
                <a:effectLst/>
                <a:latin typeface="+mn-lt"/>
              </a:rPr>
              <a:t>_R</a:t>
            </a:r>
            <a:r>
              <a:rPr lang="zh-TW" altLang="zh-TW" sz="1200" b="0" u="none" strike="noStrike" dirty="0">
                <a:effectLst/>
                <a:latin typeface="+mn-lt"/>
              </a:rPr>
              <a:t>oPE 需要被獨立記錄位置並存下來，兩者互不干擾。</a:t>
            </a:r>
            <a:endParaRPr lang="en-US" altLang="zh-TW" sz="1200" b="0" u="none" strike="noStrike" dirty="0">
              <a:effectLst/>
              <a:latin typeface="+mn-lt"/>
            </a:endParaRPr>
          </a:p>
          <a:p>
            <a:pPr marL="342900" marR="0" lvl="0" indent="-342900">
              <a:lnSpc>
                <a:spcPts val="1400"/>
              </a:lnSpc>
              <a:buFont typeface="Arial" panose="020B0604020202020204" pitchFamily="34" charset="0"/>
              <a:buChar char="•"/>
            </a:pPr>
            <a:endParaRPr lang="zh-TW" altLang="zh-TW" sz="1200" b="0" u="none" strike="noStrike" dirty="0">
              <a:effectLst/>
              <a:latin typeface="+mn-lt"/>
            </a:endParaRPr>
          </a:p>
          <a:p>
            <a:pPr marL="0" marR="0">
              <a:lnSpc>
                <a:spcPts val="1400"/>
              </a:lnSpc>
              <a:buNone/>
            </a:pPr>
            <a:r>
              <a:rPr lang="zh-TW" altLang="zh-TW" sz="1200" b="1" u="none" strike="noStrike" dirty="0">
                <a:effectLst/>
                <a:latin typeface="+mn-lt"/>
              </a:rPr>
              <a:t>3. 注意力分數計算（解耦注意力）</a:t>
            </a:r>
          </a:p>
          <a:p>
            <a:pPr marL="0" marR="0">
              <a:lnSpc>
                <a:spcPts val="1400"/>
              </a:lnSpc>
              <a:buNone/>
            </a:pPr>
            <a:r>
              <a:rPr lang="zh-TW" altLang="zh-TW" sz="1200" b="0" u="none" strike="noStrike" dirty="0">
                <a:effectLst/>
                <a:latin typeface="+mn-lt"/>
              </a:rPr>
              <a:t>在計算 Query 和 Key 的點積（Attention Score）時，運作公式變成了</a:t>
            </a:r>
            <a:r>
              <a:rPr lang="zh-TW" altLang="zh-TW" sz="1200" b="1" u="none" strike="noStrike" dirty="0">
                <a:effectLst/>
                <a:latin typeface="+mn-lt"/>
              </a:rPr>
              <a:t>兩部分相加</a:t>
            </a:r>
            <a:r>
              <a:rPr lang="zh-TW" altLang="zh-TW" sz="1200" b="0" u="none" strike="noStrike" dirty="0">
                <a:effectLst/>
                <a:latin typeface="+mn-lt"/>
              </a:rPr>
              <a:t>：Attention</a:t>
            </a:r>
            <a:r>
              <a:rPr lang="en-US" altLang="zh-TW" sz="1200" b="0" u="none" strike="noStrike" dirty="0">
                <a:effectLst/>
                <a:latin typeface="+mn-lt"/>
              </a:rPr>
              <a:t>_</a:t>
            </a:r>
            <a:r>
              <a:rPr lang="zh-TW" altLang="zh-TW" sz="1200" b="0" u="none" strike="noStrike" dirty="0">
                <a:effectLst/>
                <a:latin typeface="+mn-lt"/>
              </a:rPr>
              <a:t>Score</a:t>
            </a:r>
            <a:r>
              <a:rPr lang="en-US" altLang="zh-TW" sz="1200" b="0" u="none" strike="noStrike" dirty="0">
                <a:effectLst/>
                <a:latin typeface="+mn-lt"/>
              </a:rPr>
              <a:t> </a:t>
            </a:r>
            <a:r>
              <a:rPr lang="zh-TW" altLang="zh-TW" sz="1200" b="0" u="none" strike="noStrike" dirty="0">
                <a:effectLst/>
                <a:latin typeface="+mn-lt"/>
              </a:rPr>
              <a:t>=</a:t>
            </a:r>
            <a:r>
              <a:rPr lang="en-US" altLang="zh-TW" sz="1200" b="0" u="none" strike="noStrike" dirty="0">
                <a:effectLst/>
                <a:latin typeface="+mn-lt"/>
              </a:rPr>
              <a:t> </a:t>
            </a:r>
            <a:r>
              <a:rPr lang="zh-TW" altLang="zh-TW" sz="1200" b="0" u="none" strike="noStrike" dirty="0">
                <a:effectLst/>
                <a:latin typeface="+mn-lt"/>
              </a:rPr>
              <a:t>(q</a:t>
            </a:r>
            <a:r>
              <a:rPr lang="en-US" altLang="zh-TW" sz="1200" b="0" u="none" strike="noStrike" dirty="0">
                <a:effectLst/>
                <a:latin typeface="+mn-lt"/>
              </a:rPr>
              <a:t>_</a:t>
            </a:r>
            <a:r>
              <a:rPr lang="zh-TW" altLang="zh-TW" sz="1200" b="0" u="none" strike="noStrike" dirty="0">
                <a:effectLst/>
                <a:latin typeface="+mn-lt"/>
              </a:rPr>
              <a:t>NoPE</a:t>
            </a:r>
            <a:r>
              <a:rPr lang="en-US" altLang="zh-TW" sz="1200" b="0" u="none" strike="noStrike" dirty="0">
                <a:effectLst/>
                <a:latin typeface="+mn-lt"/>
              </a:rPr>
              <a:t> *</a:t>
            </a:r>
            <a:r>
              <a:rPr lang="zh-TW" altLang="zh-TW" sz="1200" b="0" u="none" strike="noStrike" dirty="0">
                <a:effectLst/>
                <a:latin typeface="+mn-lt"/>
              </a:rPr>
              <a:t> k</a:t>
            </a:r>
            <a:r>
              <a:rPr lang="en-US" altLang="zh-TW" sz="1200" b="0" u="none" strike="noStrike" dirty="0">
                <a:effectLst/>
                <a:latin typeface="+mn-lt"/>
              </a:rPr>
              <a:t>_</a:t>
            </a:r>
            <a:r>
              <a:rPr lang="zh-TW" altLang="zh-TW" sz="1200" b="0" u="none" strike="noStrike" dirty="0">
                <a:effectLst/>
                <a:latin typeface="+mn-lt"/>
              </a:rPr>
              <a:t>NoPE)</a:t>
            </a:r>
            <a:r>
              <a:rPr lang="en-US" altLang="zh-TW" sz="1200" b="0" u="none" strike="noStrike" dirty="0">
                <a:effectLst/>
                <a:latin typeface="+mn-lt"/>
              </a:rPr>
              <a:t> </a:t>
            </a:r>
            <a:r>
              <a:rPr lang="zh-TW" altLang="zh-TW" sz="1200" b="0" u="none" strike="noStrike" dirty="0">
                <a:effectLst/>
                <a:latin typeface="+mn-lt"/>
              </a:rPr>
              <a:t>+</a:t>
            </a:r>
            <a:r>
              <a:rPr lang="en-US" altLang="zh-TW" sz="1200" b="0" u="none" strike="noStrike" dirty="0">
                <a:effectLst/>
                <a:latin typeface="+mn-lt"/>
              </a:rPr>
              <a:t> </a:t>
            </a:r>
            <a:r>
              <a:rPr lang="zh-TW" altLang="zh-TW" sz="1200" b="0" u="none" strike="noStrike" dirty="0">
                <a:effectLst/>
                <a:latin typeface="+mn-lt"/>
              </a:rPr>
              <a:t>(q</a:t>
            </a:r>
            <a:r>
              <a:rPr lang="en-US" altLang="zh-TW" sz="1200" b="0" u="none" strike="noStrike" dirty="0">
                <a:effectLst/>
                <a:latin typeface="+mn-lt"/>
              </a:rPr>
              <a:t>_</a:t>
            </a:r>
            <a:r>
              <a:rPr lang="zh-TW" altLang="zh-TW" sz="1200" b="0" u="none" strike="noStrike" dirty="0">
                <a:effectLst/>
                <a:latin typeface="+mn-lt"/>
              </a:rPr>
              <a:t>RoPE</a:t>
            </a:r>
            <a:r>
              <a:rPr lang="en-US" altLang="zh-TW" sz="1200" b="0" u="none" strike="noStrike" dirty="0">
                <a:effectLst/>
                <a:latin typeface="+mn-lt"/>
              </a:rPr>
              <a:t> * k_</a:t>
            </a:r>
            <a:r>
              <a:rPr lang="zh-TW" altLang="zh-TW" sz="1200" b="0" u="none" strike="noStrike" dirty="0">
                <a:effectLst/>
                <a:latin typeface="+mn-lt"/>
              </a:rPr>
              <a:t>RoPE)</a:t>
            </a:r>
            <a:endParaRPr lang="en-US" altLang="zh-TW" sz="1200" b="0" u="none" strike="noStrike" dirty="0">
              <a:effectLst/>
              <a:latin typeface="+mn-lt"/>
            </a:endParaRPr>
          </a:p>
          <a:p>
            <a:pPr marL="0" marR="0">
              <a:lnSpc>
                <a:spcPts val="1400"/>
              </a:lnSpc>
              <a:buNone/>
            </a:pPr>
            <a:endParaRPr lang="zh-TW" altLang="zh-TW" sz="1200" b="0" u="none" strike="noStrike" dirty="0">
              <a:effectLst/>
              <a:latin typeface="+mn-lt"/>
            </a:endParaRPr>
          </a:p>
          <a:p>
            <a:pPr marL="342900" marR="0" lvl="0" indent="-342900">
              <a:lnSpc>
                <a:spcPts val="1400"/>
              </a:lnSpc>
              <a:buFont typeface="+mj-lt"/>
              <a:buAutoNum type="arabicPeriod"/>
            </a:pPr>
            <a:r>
              <a:rPr lang="zh-TW" altLang="zh-TW" sz="1200" b="1" u="none" strike="noStrike" dirty="0">
                <a:effectLst/>
                <a:latin typeface="+mn-lt"/>
              </a:rPr>
              <a:t>語義比對</a:t>
            </a:r>
            <a:r>
              <a:rPr lang="en-US" altLang="zh-TW" sz="1200" b="1" u="none" strike="noStrike" dirty="0">
                <a:effectLst/>
                <a:latin typeface="+mn-lt"/>
              </a:rPr>
              <a:t>(</a:t>
            </a:r>
            <a:r>
              <a:rPr lang="zh-TW" altLang="zh-TW" sz="1200" b="1" u="none" strike="noStrike" dirty="0">
                <a:effectLst/>
                <a:latin typeface="+mn-lt"/>
              </a:rPr>
              <a:t>NoPE 部分</a:t>
            </a:r>
            <a:r>
              <a:rPr lang="en-US" altLang="zh-TW" sz="1200" b="1" u="none" strike="noStrike" dirty="0">
                <a:effectLst/>
                <a:latin typeface="+mn-lt"/>
              </a:rPr>
              <a:t>): </a:t>
            </a:r>
            <a:r>
              <a:rPr lang="zh-TW" altLang="zh-TW" sz="1200" b="0" u="none" strike="noStrike" dirty="0">
                <a:effectLst/>
                <a:latin typeface="+mn-lt"/>
              </a:rPr>
              <a:t>「這兩個字的意思像不像」</a:t>
            </a:r>
            <a:r>
              <a:rPr lang="en-US" altLang="zh-TW" sz="1200" b="0" u="none" strike="noStrike" dirty="0">
                <a:effectLst/>
                <a:latin typeface="+mn-lt"/>
              </a:rPr>
              <a:t>, </a:t>
            </a:r>
            <a:r>
              <a:rPr lang="zh-TW" altLang="zh-TW" sz="1200" b="0" u="none" strike="noStrike" dirty="0">
                <a:effectLst/>
                <a:latin typeface="+mn-lt"/>
              </a:rPr>
              <a:t>並在推理時透過矩陣變換直接與壓縮快取計算，速度極快。</a:t>
            </a:r>
          </a:p>
          <a:p>
            <a:pPr marL="342900" marR="0" lvl="0" indent="-342900">
              <a:lnSpc>
                <a:spcPts val="1400"/>
              </a:lnSpc>
              <a:buFont typeface="+mj-lt"/>
              <a:buAutoNum type="arabicPeriod"/>
            </a:pPr>
            <a:r>
              <a:rPr lang="zh-TW" altLang="zh-TW" sz="1200" b="1" u="none" strike="noStrike" dirty="0">
                <a:effectLst/>
                <a:latin typeface="+mn-lt"/>
              </a:rPr>
              <a:t>位置比對</a:t>
            </a:r>
            <a:r>
              <a:rPr lang="en-US" altLang="zh-TW" sz="1200" b="1" u="none" strike="noStrike" dirty="0">
                <a:effectLst/>
                <a:latin typeface="+mn-lt"/>
              </a:rPr>
              <a:t>(</a:t>
            </a:r>
            <a:r>
              <a:rPr lang="zh-TW" altLang="zh-TW" sz="1200" b="1" u="none" strike="noStrike" dirty="0">
                <a:effectLst/>
                <a:latin typeface="+mn-lt"/>
              </a:rPr>
              <a:t>RoPE 部分</a:t>
            </a:r>
            <a:r>
              <a:rPr lang="en-US" altLang="zh-TW" sz="1200" b="1" u="none" strike="noStrike" dirty="0">
                <a:effectLst/>
                <a:latin typeface="+mn-lt"/>
              </a:rPr>
              <a:t>)</a:t>
            </a:r>
            <a:r>
              <a:rPr lang="en-US" altLang="zh-TW" sz="1200" b="0" u="none" strike="noStrike" dirty="0">
                <a:effectLst/>
                <a:latin typeface="+mn-lt"/>
              </a:rPr>
              <a:t>: </a:t>
            </a:r>
            <a:r>
              <a:rPr lang="zh-TW" altLang="zh-TW" sz="1200" b="0" u="none" strike="noStrike" dirty="0">
                <a:effectLst/>
                <a:latin typeface="+mn-lt"/>
              </a:rPr>
              <a:t>專門計算「這兩個字在空間/時間上的距離與相對關係」。</a:t>
            </a:r>
            <a:endParaRPr lang="zh-TW" altLang="zh-TW" sz="1200" b="0" u="none" strike="noStrike" dirty="0">
              <a:effectLst/>
              <a:latin typeface="Google Sans"/>
            </a:endParaRP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總結</a:t>
            </a:r>
          </a:p>
          <a:p>
            <a:r>
              <a:rPr lang="zh-TW" altLang="zh-TW" sz="1200" b="0" u="none" strike="noStrike" kern="1200" dirty="0">
                <a:solidFill>
                  <a:schemeClr val="tx1"/>
                </a:solidFill>
                <a:effectLst/>
                <a:latin typeface="+mn-lt"/>
                <a:ea typeface="+mn-ea"/>
                <a:cs typeface="+mn-cs"/>
              </a:rPr>
              <a:t>NoPE 的原理就是</a:t>
            </a:r>
            <a:r>
              <a:rPr lang="zh-TW" altLang="zh-TW" sz="1200" b="1" u="none" strike="noStrike" kern="1200" dirty="0">
                <a:solidFill>
                  <a:schemeClr val="tx1"/>
                </a:solidFill>
                <a:effectLst/>
                <a:latin typeface="+mn-lt"/>
                <a:ea typeface="+mn-ea"/>
                <a:cs typeface="+mn-cs"/>
              </a:rPr>
              <a:t>「讓上帝的歸上帝，凱撒的歸凱撒」</a:t>
            </a:r>
            <a:r>
              <a:rPr lang="zh-TW" altLang="zh-TW" sz="1200" b="0" u="none" strike="noStrike" kern="1200" dirty="0">
                <a:solidFill>
                  <a:schemeClr val="tx1"/>
                </a:solidFill>
                <a:effectLst/>
                <a:latin typeface="+mn-lt"/>
                <a:ea typeface="+mn-ea"/>
                <a:cs typeface="+mn-cs"/>
              </a:rPr>
              <a:t>。語義歸語義（NoPE），位置歸位置（RoPE）。</a:t>
            </a:r>
          </a:p>
          <a:p>
            <a:r>
              <a:rPr lang="zh-TW" altLang="zh-TW" sz="1200" b="0" u="none" strike="noStrike" kern="1200" dirty="0">
                <a:solidFill>
                  <a:schemeClr val="tx1"/>
                </a:solidFill>
                <a:effectLst/>
                <a:latin typeface="+mn-lt"/>
                <a:ea typeface="+mn-ea"/>
                <a:cs typeface="+mn-cs"/>
              </a:rPr>
              <a:t>透過這種解耦方式，DeepSeek 既保留了 RoPE 強大的長文本位置感知能力，又成功把語義部分徹底壓縮，達成了極高的推理效率與超低的記憶體佔用。</a:t>
            </a:r>
          </a:p>
        </p:txBody>
      </p:sp>
      <p:sp>
        <p:nvSpPr>
          <p:cNvPr id="4" name="投影片編號版面配置區 3">
            <a:extLst>
              <a:ext uri="{FF2B5EF4-FFF2-40B4-BE49-F238E27FC236}">
                <a16:creationId xmlns:a16="http://schemas.microsoft.com/office/drawing/2014/main" id="{A7B670E2-071D-C48E-BF2C-3BA92B3B94A9}"/>
              </a:ext>
            </a:extLst>
          </p:cNvPr>
          <p:cNvSpPr>
            <a:spLocks noGrp="1"/>
          </p:cNvSpPr>
          <p:nvPr>
            <p:ph type="sldNum" sz="quarter" idx="5"/>
          </p:nvPr>
        </p:nvSpPr>
        <p:spPr/>
        <p:txBody>
          <a:bodyPr/>
          <a:lstStyle/>
          <a:p>
            <a:fld id="{E3A6CE5E-F349-486D-8749-82EF2AD71FA8}" type="slidenum">
              <a:rPr lang="zh-TW" altLang="en-US" smtClean="0"/>
              <a:t>8</a:t>
            </a:fld>
            <a:endParaRPr lang="zh-TW" altLang="en-US"/>
          </a:p>
        </p:txBody>
      </p:sp>
    </p:spTree>
    <p:extLst>
      <p:ext uri="{BB962C8B-B14F-4D97-AF65-F5344CB8AC3E}">
        <p14:creationId xmlns:p14="http://schemas.microsoft.com/office/powerpoint/2010/main" val="162049125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解耦並存派</a:t>
            </a:r>
            <a:endParaRPr lang="en-US" altLang="zh-TW" sz="1200" b="1"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DeepSeek 在 </a:t>
            </a:r>
            <a:r>
              <a:rPr lang="zh-TW" altLang="zh-TW" sz="1200" b="1" u="none" strike="noStrike" kern="1200" dirty="0">
                <a:solidFill>
                  <a:schemeClr val="tx1"/>
                </a:solidFill>
                <a:effectLst/>
                <a:latin typeface="+mn-lt"/>
                <a:ea typeface="+mn-ea"/>
                <a:cs typeface="+mn-cs"/>
              </a:rPr>
              <a:t>2024 年 5 月</a:t>
            </a:r>
            <a:r>
              <a:rPr lang="zh-TW" altLang="zh-TW" sz="1200" b="0" u="none" strike="noStrike" kern="1200" dirty="0">
                <a:solidFill>
                  <a:schemeClr val="tx1"/>
                </a:solidFill>
                <a:effectLst/>
                <a:latin typeface="+mn-lt"/>
                <a:ea typeface="+mn-ea"/>
                <a:cs typeface="+mn-cs"/>
              </a:rPr>
              <a:t> 發表了 </a:t>
            </a:r>
            <a:r>
              <a:rPr lang="zh-TW" altLang="zh-TW" sz="1200" b="1" u="none" strike="noStrike" kern="1200" dirty="0">
                <a:solidFill>
                  <a:schemeClr val="tx1"/>
                </a:solidFill>
                <a:effectLst/>
                <a:latin typeface="+mn-lt"/>
                <a:ea typeface="+mn-ea"/>
                <a:cs typeface="+mn-cs"/>
              </a:rPr>
              <a:t>DeepSeek-V2</a:t>
            </a:r>
            <a:r>
              <a:rPr lang="zh-TW" altLang="zh-TW" sz="1200" b="0" u="none" strike="noStrike" kern="1200" dirty="0">
                <a:solidFill>
                  <a:schemeClr val="tx1"/>
                </a:solidFill>
                <a:effectLst/>
                <a:latin typeface="+mn-lt"/>
                <a:ea typeface="+mn-ea"/>
                <a:cs typeface="+mn-cs"/>
              </a:rPr>
              <a:t> 論文</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率先將 NoPE 的概念與其完整架構引入大語言模型中。</a:t>
            </a:r>
          </a:p>
          <a:p>
            <a:pPr lvl="0"/>
            <a:r>
              <a:rPr lang="zh-TW" altLang="zh-TW" sz="1200" b="1" u="none" strike="noStrike" kern="1200" dirty="0">
                <a:solidFill>
                  <a:schemeClr val="tx1"/>
                </a:solidFill>
                <a:effectLst/>
                <a:latin typeface="+mn-lt"/>
                <a:ea typeface="+mn-ea"/>
                <a:cs typeface="+mn-cs"/>
              </a:rPr>
              <a:t>首創概念：</a:t>
            </a:r>
            <a:r>
              <a:rPr lang="zh-TW" altLang="zh-TW" sz="1200" b="0" u="none" strike="noStrike" kern="1200" dirty="0">
                <a:solidFill>
                  <a:schemeClr val="tx1"/>
                </a:solidFill>
                <a:effectLst/>
                <a:latin typeface="+mn-lt"/>
                <a:ea typeface="+mn-ea"/>
                <a:cs typeface="+mn-cs"/>
              </a:rPr>
              <a:t> 為了實現革命性的 </a:t>
            </a:r>
            <a:r>
              <a:rPr lang="zh-TW" altLang="zh-TW" sz="1200" b="1" u="none" strike="noStrike" kern="1200" dirty="0">
                <a:solidFill>
                  <a:schemeClr val="tx1"/>
                </a:solidFill>
                <a:effectLst/>
                <a:latin typeface="+mn-lt"/>
                <a:ea typeface="+mn-ea"/>
                <a:cs typeface="+mn-cs"/>
              </a:rPr>
              <a:t>MLA（Multi-head Latent Attention）</a:t>
            </a:r>
            <a:r>
              <a:rPr lang="zh-TW" altLang="zh-TW" sz="1200" b="0" u="none" strike="noStrike" kern="1200" dirty="0">
                <a:solidFill>
                  <a:schemeClr val="tx1"/>
                </a:solidFill>
                <a:effectLst/>
                <a:latin typeface="+mn-lt"/>
                <a:ea typeface="+mn-ea"/>
                <a:cs typeface="+mn-cs"/>
              </a:rPr>
              <a:t> 架構，</a:t>
            </a:r>
            <a:endParaRPr lang="en-US" altLang="zh-TW" sz="1200" b="0" u="none" strike="noStrike" kern="1200" dirty="0">
              <a:solidFill>
                <a:schemeClr val="tx1"/>
              </a:solidFill>
              <a:effectLst/>
              <a:latin typeface="+mn-lt"/>
              <a:ea typeface="+mn-ea"/>
              <a:cs typeface="+mn-cs"/>
            </a:endParaRPr>
          </a:p>
          <a:p>
            <a:pPr lvl="1"/>
            <a:r>
              <a:rPr lang="zh-TW" altLang="zh-TW" sz="1200" b="1" u="none" strike="noStrike" kern="1200" dirty="0">
                <a:solidFill>
                  <a:schemeClr val="tx1"/>
                </a:solidFill>
                <a:effectLst/>
                <a:latin typeface="+mn-lt"/>
                <a:ea typeface="+mn-ea"/>
                <a:cs typeface="+mn-cs"/>
              </a:rPr>
              <a:t>做法：</a:t>
            </a:r>
            <a:r>
              <a:rPr lang="zh-TW" altLang="zh-TW" sz="1200" b="0" u="none" strike="noStrike" kern="1200" dirty="0">
                <a:solidFill>
                  <a:schemeClr val="tx1"/>
                </a:solidFill>
                <a:effectLst/>
                <a:latin typeface="+mn-lt"/>
                <a:ea typeface="+mn-ea"/>
                <a:cs typeface="+mn-cs"/>
              </a:rPr>
              <a:t> 在同一個注意力（Attention）層內，將 Query 和 Key 的維度拆開。</a:t>
            </a:r>
          </a:p>
          <a:p>
            <a:pPr lvl="1"/>
            <a:r>
              <a:rPr lang="zh-TW" altLang="zh-TW" sz="1200" b="1" u="none" strike="noStrike" kern="1200" dirty="0">
                <a:solidFill>
                  <a:schemeClr val="tx1"/>
                </a:solidFill>
                <a:effectLst/>
                <a:latin typeface="+mn-lt"/>
                <a:ea typeface="+mn-ea"/>
                <a:cs typeface="+mn-cs"/>
              </a:rPr>
              <a:t>邏輯：</a:t>
            </a:r>
            <a:r>
              <a:rPr lang="zh-TW" altLang="zh-TW" sz="1200" b="0" u="none" strike="noStrike" kern="1200" dirty="0">
                <a:solidFill>
                  <a:schemeClr val="tx1"/>
                </a:solidFill>
                <a:effectLst/>
                <a:latin typeface="+mn-lt"/>
                <a:ea typeface="+mn-ea"/>
                <a:cs typeface="+mn-cs"/>
              </a:rPr>
              <a:t> 大部分維度是 </a:t>
            </a:r>
            <a:r>
              <a:rPr lang="zh-TW" altLang="zh-TW" sz="1200" b="1" u="none" strike="noStrike" kern="1200" dirty="0">
                <a:solidFill>
                  <a:schemeClr val="tx1"/>
                </a:solidFill>
                <a:effectLst/>
                <a:latin typeface="+mn-lt"/>
                <a:ea typeface="+mn-ea"/>
                <a:cs typeface="+mn-cs"/>
              </a:rPr>
              <a:t>NoPE</a:t>
            </a:r>
            <a:r>
              <a:rPr lang="zh-TW" altLang="zh-TW" sz="1200" b="0" u="none" strike="noStrike" kern="1200" dirty="0">
                <a:solidFill>
                  <a:schemeClr val="tx1"/>
                </a:solidFill>
                <a:effectLst/>
                <a:latin typeface="+mn-lt"/>
                <a:ea typeface="+mn-ea"/>
                <a:cs typeface="+mn-cs"/>
              </a:rPr>
              <a:t>（不帶位置，用來做低秩矩陣壓縮 KV Cache），小部分維度是 </a:t>
            </a:r>
            <a:r>
              <a:rPr lang="zh-TW" altLang="zh-TW" sz="1200" b="1" u="none" strike="noStrike" kern="1200" dirty="0">
                <a:solidFill>
                  <a:schemeClr val="tx1"/>
                </a:solidFill>
                <a:effectLst/>
                <a:latin typeface="+mn-lt"/>
                <a:ea typeface="+mn-ea"/>
                <a:cs typeface="+mn-cs"/>
              </a:rPr>
              <a:t>RoPE</a:t>
            </a:r>
            <a:r>
              <a:rPr lang="zh-TW" altLang="zh-TW" sz="1200" b="0" u="none" strike="noStrike" kern="1200" dirty="0">
                <a:solidFill>
                  <a:schemeClr val="tx1"/>
                </a:solidFill>
                <a:effectLst/>
                <a:latin typeface="+mn-lt"/>
                <a:ea typeface="+mn-ea"/>
                <a:cs typeface="+mn-cs"/>
              </a:rPr>
              <a:t>（專門用來旋轉帶入位置資訊）。兩者在同一層內點積相加。</a:t>
            </a:r>
          </a:p>
          <a:p>
            <a:pPr lvl="1"/>
            <a:r>
              <a:rPr lang="zh-TW" altLang="zh-TW" sz="1200" b="1" u="none" strike="noStrike" kern="1200" dirty="0">
                <a:solidFill>
                  <a:schemeClr val="tx1"/>
                </a:solidFill>
                <a:effectLst/>
                <a:latin typeface="+mn-lt"/>
                <a:ea typeface="+mn-ea"/>
                <a:cs typeface="+mn-cs"/>
              </a:rPr>
              <a:t>定位：</a:t>
            </a:r>
            <a:r>
              <a:rPr lang="zh-TW" altLang="zh-TW" sz="1200" b="0" u="none" strike="noStrike" kern="1200" dirty="0">
                <a:solidFill>
                  <a:schemeClr val="tx1"/>
                </a:solidFill>
                <a:effectLst/>
                <a:latin typeface="+mn-lt"/>
                <a:ea typeface="+mn-ea"/>
                <a:cs typeface="+mn-cs"/>
              </a:rPr>
              <a:t> NoPE 在 DeepSeek 裡是</a:t>
            </a:r>
            <a:r>
              <a:rPr lang="zh-TW" altLang="zh-TW" sz="1200" b="1" u="none" strike="noStrike" kern="1200" dirty="0">
                <a:solidFill>
                  <a:schemeClr val="tx1"/>
                </a:solidFill>
                <a:effectLst/>
                <a:latin typeface="+mn-lt"/>
                <a:ea typeface="+mn-ea"/>
                <a:cs typeface="+mn-cs"/>
              </a:rPr>
              <a:t>為了「輔助 KV 壓縮」而生</a:t>
            </a:r>
            <a:r>
              <a:rPr lang="zh-TW" altLang="zh-TW" sz="1200" b="0" u="none" strike="noStrike" kern="1200" dirty="0">
                <a:solidFill>
                  <a:schemeClr val="tx1"/>
                </a:solidFill>
                <a:effectLst/>
                <a:latin typeface="+mn-lt"/>
                <a:ea typeface="+mn-ea"/>
                <a:cs typeface="+mn-cs"/>
              </a:rPr>
              <a:t>的手段。</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全面替代派</a:t>
            </a:r>
            <a:endParaRPr lang="en-US" altLang="zh-TW" sz="1200" b="0" u="none" strike="noStrike"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Moonshot 在 </a:t>
            </a:r>
            <a:r>
              <a:rPr lang="zh-TW" altLang="zh-TW" sz="1200" b="1" u="none" strike="noStrike" kern="1200" dirty="0">
                <a:solidFill>
                  <a:schemeClr val="tx1"/>
                </a:solidFill>
                <a:effectLst/>
                <a:latin typeface="+mn-lt"/>
                <a:ea typeface="+mn-ea"/>
                <a:cs typeface="+mn-cs"/>
              </a:rPr>
              <a:t>2025 年 10 月</a:t>
            </a:r>
            <a:r>
              <a:rPr lang="zh-TW" altLang="zh-TW" sz="1200" b="0" u="none" strike="noStrike" kern="1200" dirty="0">
                <a:solidFill>
                  <a:schemeClr val="tx1"/>
                </a:solidFill>
                <a:effectLst/>
                <a:latin typeface="+mn-lt"/>
                <a:ea typeface="+mn-ea"/>
                <a:cs typeface="+mn-cs"/>
              </a:rPr>
              <a:t> 發表關於 </a:t>
            </a:r>
            <a:r>
              <a:rPr lang="zh-TW" altLang="zh-TW" sz="1200" b="1" u="none" strike="noStrike" kern="1200" dirty="0">
                <a:solidFill>
                  <a:schemeClr val="tx1"/>
                </a:solidFill>
                <a:effectLst/>
                <a:latin typeface="+mn-lt"/>
                <a:ea typeface="+mn-ea"/>
                <a:cs typeface="+mn-cs"/>
              </a:rPr>
              <a:t>Kimi Linear</a:t>
            </a:r>
            <a:r>
              <a:rPr lang="zh-TW" altLang="zh-TW" sz="1200" b="0" u="none" strike="noStrike" kern="1200" dirty="0">
                <a:solidFill>
                  <a:schemeClr val="tx1"/>
                </a:solidFill>
                <a:effectLst/>
                <a:latin typeface="+mn-lt"/>
                <a:ea typeface="+mn-ea"/>
                <a:cs typeface="+mn-cs"/>
              </a:rPr>
              <a:t> 的技術論文。</a:t>
            </a:r>
            <a:r>
              <a:rPr lang="zh-TW" altLang="zh-TW" dirty="0"/>
              <a:t>將 NoPE 概念推向了更極致的 Everywhere 階段。</a:t>
            </a:r>
            <a:endParaRPr lang="zh-TW" altLang="zh-TW" sz="1200" b="0" u="none" strike="noStrike" kern="1200" dirty="0">
              <a:solidFill>
                <a:schemeClr val="tx1"/>
              </a:solidFill>
              <a:effectLst/>
              <a:latin typeface="+mn-lt"/>
              <a:ea typeface="+mn-ea"/>
              <a:cs typeface="+mn-cs"/>
            </a:endParaRPr>
          </a:p>
          <a:p>
            <a:pPr lvl="0"/>
            <a:r>
              <a:rPr lang="zh-TW" altLang="zh-TW" sz="1200" b="1" u="none" strike="noStrike" kern="1200" dirty="0">
                <a:solidFill>
                  <a:schemeClr val="tx1"/>
                </a:solidFill>
                <a:effectLst/>
                <a:latin typeface="+mn-lt"/>
                <a:ea typeface="+mn-ea"/>
                <a:cs typeface="+mn-cs"/>
              </a:rPr>
              <a:t>承接與進化：</a:t>
            </a:r>
            <a:r>
              <a:rPr lang="zh-TW" altLang="zh-TW" sz="1200" b="0" u="none" strike="noStrike" kern="1200" dirty="0">
                <a:solidFill>
                  <a:schemeClr val="tx1"/>
                </a:solidFill>
                <a:effectLst/>
                <a:latin typeface="+mn-lt"/>
                <a:ea typeface="+mn-ea"/>
                <a:cs typeface="+mn-cs"/>
              </a:rPr>
              <a:t> Kimi 在設計其線性注意力（Linear Attention）時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Kimi 研發了全新的 KDA</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Kimi Delta Attention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機制來隱式處理位置資訊，他們在部分層中直接將位置編碼完全剝離，實現了比 DeepSeek 更激進的「全 NoPE」設計（NoPE for MLA layers）。</a:t>
            </a:r>
          </a:p>
          <a:p>
            <a:endParaRPr lang="en-US" altLang="zh-TW" dirty="0"/>
          </a:p>
          <a:p>
            <a:pPr lvl="0"/>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Kimi / Moonshot：做法：</a:t>
            </a:r>
            <a:r>
              <a:rPr lang="zh-TW" altLang="zh-TW" sz="1200" b="0" u="none" strike="noStrike" kern="1200" dirty="0">
                <a:solidFill>
                  <a:schemeClr val="tx1"/>
                </a:solidFill>
                <a:effectLst/>
                <a:latin typeface="+mn-lt"/>
                <a:ea typeface="+mn-ea"/>
                <a:cs typeface="+mn-cs"/>
              </a:rPr>
              <a:t> 在 </a:t>
            </a:r>
            <a:r>
              <a:rPr lang="zh-TW" altLang="zh-TW" sz="1200" b="1" u="none" strike="noStrike" kern="1200" dirty="0">
                <a:solidFill>
                  <a:schemeClr val="tx1"/>
                </a:solidFill>
                <a:effectLst/>
                <a:latin typeface="+mn-lt"/>
                <a:ea typeface="+mn-ea"/>
                <a:cs typeface="+mn-cs"/>
              </a:rPr>
              <a:t>Kimi Linear</a:t>
            </a:r>
            <a:r>
              <a:rPr lang="zh-TW" altLang="zh-TW" sz="1200" b="0" u="none" strike="noStrike" kern="1200" dirty="0">
                <a:solidFill>
                  <a:schemeClr val="tx1"/>
                </a:solidFill>
                <a:effectLst/>
                <a:latin typeface="+mn-lt"/>
                <a:ea typeface="+mn-ea"/>
                <a:cs typeface="+mn-cs"/>
              </a:rPr>
              <a:t> 或最新的旗艦 </a:t>
            </a:r>
            <a:r>
              <a:rPr lang="zh-TW" altLang="zh-TW" sz="1200" b="1" u="none" strike="noStrike" kern="1200" dirty="0">
                <a:solidFill>
                  <a:schemeClr val="tx1"/>
                </a:solidFill>
                <a:effectLst/>
                <a:latin typeface="+mn-lt"/>
                <a:ea typeface="+mn-ea"/>
                <a:cs typeface="+mn-cs"/>
              </a:rPr>
              <a:t>Kimi K3</a:t>
            </a:r>
            <a:r>
              <a:rPr lang="zh-TW" altLang="zh-TW" sz="1200" b="0" u="none" strike="noStrike" kern="1200" dirty="0">
                <a:solidFill>
                  <a:schemeClr val="tx1"/>
                </a:solidFill>
                <a:effectLst/>
                <a:latin typeface="+mn-lt"/>
                <a:ea typeface="+mn-ea"/>
                <a:cs typeface="+mn-cs"/>
              </a:rPr>
              <a:t> 中，直接徹底拔除了傳統的 RoPE 旋轉位置編碼層，大膽做到 </a:t>
            </a:r>
            <a:r>
              <a:rPr lang="zh-TW" altLang="zh-TW" sz="1200" b="1" u="none" strike="noStrike" kern="1200" dirty="0">
                <a:solidFill>
                  <a:schemeClr val="tx1"/>
                </a:solidFill>
                <a:effectLst/>
                <a:latin typeface="+mn-lt"/>
                <a:ea typeface="+mn-ea"/>
                <a:cs typeface="+mn-cs"/>
              </a:rPr>
              <a:t>NoPE Everywhere</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全模型或全全域層皆為 NoPE</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邏輯：</a:t>
            </a:r>
            <a:r>
              <a:rPr lang="zh-TW" altLang="zh-TW" sz="1200" b="0" u="none" strike="noStrike" kern="1200" dirty="0">
                <a:solidFill>
                  <a:schemeClr val="tx1"/>
                </a:solidFill>
                <a:effectLst/>
                <a:latin typeface="+mn-lt"/>
                <a:ea typeface="+mn-ea"/>
                <a:cs typeface="+mn-cs"/>
              </a:rPr>
              <a:t> 既然叫 NoPE，這幾層就真的</a:t>
            </a:r>
            <a:r>
              <a:rPr lang="zh-TW" altLang="zh-TW" sz="1200" b="1" u="none" strike="noStrike" kern="1200" dirty="0">
                <a:solidFill>
                  <a:schemeClr val="tx1"/>
                </a:solidFill>
                <a:effectLst/>
                <a:latin typeface="+mn-lt"/>
                <a:ea typeface="+mn-ea"/>
                <a:cs typeface="+mn-cs"/>
              </a:rPr>
              <a:t>完全沒有任何顯式的位置編碼</a:t>
            </a:r>
            <a:r>
              <a:rPr lang="zh-TW" altLang="zh-TW" sz="1200" b="0" u="none" strike="noStrike" kern="1200" dirty="0">
                <a:solidFill>
                  <a:schemeClr val="tx1"/>
                </a:solidFill>
                <a:effectLst/>
                <a:latin typeface="+mn-lt"/>
                <a:ea typeface="+mn-ea"/>
                <a:cs typeface="+mn-cs"/>
              </a:rPr>
              <a:t>。Kimi 改用自研的 </a:t>
            </a:r>
            <a:r>
              <a:rPr lang="zh-TW" altLang="zh-TW" sz="1200" b="1" u="none" strike="noStrike" kern="1200" dirty="0">
                <a:solidFill>
                  <a:schemeClr val="tx1"/>
                </a:solidFill>
                <a:effectLst/>
                <a:latin typeface="+mn-lt"/>
                <a:ea typeface="+mn-ea"/>
                <a:cs typeface="+mn-cs"/>
              </a:rPr>
              <a:t>KDA（Kimi Delta Attention）</a:t>
            </a:r>
            <a:r>
              <a:rPr lang="zh-TW" altLang="zh-TW" sz="1200" b="0" u="none" strike="noStrike" kern="1200" dirty="0">
                <a:solidFill>
                  <a:schemeClr val="tx1"/>
                </a:solidFill>
                <a:effectLst/>
                <a:latin typeface="+mn-lt"/>
                <a:ea typeface="+mn-ea"/>
                <a:cs typeface="+mn-cs"/>
              </a:rPr>
              <a:t> 機制。KDA 具有種類似循環神經網絡（RNN）的衰減閘門</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Decay Gate</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會隨著序列長度動態調整時間尺度（Timescales）。</a:t>
            </a:r>
          </a:p>
          <a:p>
            <a:pPr lvl="0"/>
            <a:r>
              <a:rPr lang="zh-TW" altLang="zh-TW" sz="1200" b="1" u="none" strike="noStrike" kern="1200" dirty="0">
                <a:solidFill>
                  <a:schemeClr val="tx1"/>
                </a:solidFill>
                <a:effectLst/>
                <a:latin typeface="+mn-lt"/>
                <a:ea typeface="+mn-ea"/>
                <a:cs typeface="+mn-cs"/>
              </a:rPr>
              <a:t>定位：</a:t>
            </a:r>
            <a:r>
              <a:rPr lang="zh-TW" altLang="zh-TW" sz="1200" b="0" u="none" strike="noStrike" kern="1200" dirty="0">
                <a:solidFill>
                  <a:schemeClr val="tx1"/>
                </a:solidFill>
                <a:effectLst/>
                <a:latin typeface="+mn-lt"/>
                <a:ea typeface="+mn-ea"/>
                <a:cs typeface="+mn-cs"/>
              </a:rPr>
              <a:t> Kimi 的 NoPE 是一場</a:t>
            </a:r>
            <a:r>
              <a:rPr lang="zh-TW" altLang="zh-TW" sz="1200" b="1" u="none" strike="noStrike" kern="1200" dirty="0">
                <a:solidFill>
                  <a:schemeClr val="tx1"/>
                </a:solidFill>
                <a:effectLst/>
                <a:latin typeface="+mn-lt"/>
                <a:ea typeface="+mn-ea"/>
                <a:cs typeface="+mn-cs"/>
              </a:rPr>
              <a:t>對注意力機制的根本性簡化</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34932880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BFFFF6-2CBF-8300-113B-EC3DDABCDE2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9BDCECB-4022-305D-2A1D-EB19C4980CE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45B8918-8C92-3358-81A2-2E68D560F7D9}"/>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MLA</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V2, V3KV Cache 顯存大小橫向：壓縮</a:t>
            </a:r>
            <a:r>
              <a:rPr lang="zh-TW" altLang="zh-TW" sz="1200" b="1" u="none" strike="noStrike" kern="1200" dirty="0">
                <a:solidFill>
                  <a:schemeClr val="tx1"/>
                </a:solidFill>
                <a:effectLst/>
                <a:latin typeface="+mn-lt"/>
                <a:ea typeface="+mn-ea"/>
                <a:cs typeface="+mn-cs"/>
              </a:rPr>
              <a:t>特徵維度</a:t>
            </a:r>
            <a:r>
              <a:rPr lang="zh-TW" altLang="zh-TW" sz="1200" b="0" u="none" strike="noStrike" kern="1200" dirty="0">
                <a:solidFill>
                  <a:schemeClr val="tx1"/>
                </a:solidFill>
                <a:effectLst/>
                <a:latin typeface="+mn-lt"/>
                <a:ea typeface="+mn-ea"/>
                <a:cs typeface="+mn-cs"/>
              </a:rPr>
              <a:t> (Dim 8192 → 512) </a:t>
            </a:r>
          </a:p>
          <a:p>
            <a:r>
              <a:rPr lang="zh-TW" altLang="zh-TW" sz="1200" b="1" u="none" strike="noStrike" kern="1200" dirty="0">
                <a:solidFill>
                  <a:schemeClr val="tx1"/>
                </a:solidFill>
                <a:effectLst/>
                <a:latin typeface="+mn-lt"/>
                <a:ea typeface="+mn-ea"/>
                <a:cs typeface="+mn-cs"/>
              </a:rPr>
              <a:t>DSA</a:t>
            </a:r>
            <a:r>
              <a:rPr lang="zh-TW" altLang="zh-TW" sz="1200" b="0" u="none" strike="noStrike" kern="1200" dirty="0">
                <a:solidFill>
                  <a:schemeClr val="tx1"/>
                </a:solidFill>
                <a:effectLst/>
                <a:latin typeface="+mn-lt"/>
                <a:ea typeface="+mn-ea"/>
                <a:cs typeface="+mn-cs"/>
              </a:rPr>
              <a:t>V3.2運算量複雜度 (O(N²))縱向：動態篩選</a:t>
            </a:r>
            <a:r>
              <a:rPr lang="zh-TW" altLang="zh-TW" sz="1200" b="1" u="none" strike="noStrike" kern="1200" dirty="0">
                <a:solidFill>
                  <a:schemeClr val="tx1"/>
                </a:solidFill>
                <a:effectLst/>
                <a:latin typeface="+mn-lt"/>
                <a:ea typeface="+mn-ea"/>
                <a:cs typeface="+mn-cs"/>
              </a:rPr>
              <a:t>單個 Token</a:t>
            </a:r>
            <a:r>
              <a:rPr lang="zh-TW" altLang="zh-TW" sz="1200" b="0" u="none" strike="noStrike" kern="1200" dirty="0">
                <a:solidFill>
                  <a:schemeClr val="tx1"/>
                </a:solidFill>
                <a:effectLst/>
                <a:latin typeface="+mn-lt"/>
                <a:ea typeface="+mn-ea"/>
                <a:cs typeface="+mn-cs"/>
              </a:rPr>
              <a:t> (Top-K)</a:t>
            </a:r>
          </a:p>
          <a:p>
            <a:r>
              <a:rPr lang="zh-TW" altLang="zh-TW" sz="1200" b="1" u="none" strike="noStrike" kern="1200" dirty="0">
                <a:solidFill>
                  <a:schemeClr val="tx1"/>
                </a:solidFill>
                <a:effectLst/>
                <a:latin typeface="+mn-lt"/>
                <a:ea typeface="+mn-ea"/>
                <a:cs typeface="+mn-cs"/>
              </a:rPr>
              <a:t>HCA</a:t>
            </a:r>
            <a:r>
              <a:rPr lang="zh-TW" altLang="zh-TW" sz="1200" b="0" u="none" strike="noStrike" kern="1200" dirty="0">
                <a:solidFill>
                  <a:schemeClr val="tx1"/>
                </a:solidFill>
                <a:effectLst/>
                <a:latin typeface="+mn-lt"/>
                <a:ea typeface="+mn-ea"/>
                <a:cs typeface="+mn-cs"/>
              </a:rPr>
              <a:t>V41M 長文本的宏觀視野縱向：重度聚合</a:t>
            </a:r>
            <a:r>
              <a:rPr lang="zh-TW" altLang="zh-TW" sz="1200" b="1" u="none" strike="noStrike" kern="1200" dirty="0">
                <a:solidFill>
                  <a:schemeClr val="tx1"/>
                </a:solidFill>
                <a:effectLst/>
                <a:latin typeface="+mn-lt"/>
                <a:ea typeface="+mn-ea"/>
                <a:cs typeface="+mn-cs"/>
              </a:rPr>
              <a:t>時間區間</a:t>
            </a:r>
            <a:r>
              <a:rPr lang="zh-TW" altLang="zh-TW" sz="1200" b="0" u="none" strike="noStrike" kern="1200" dirty="0">
                <a:solidFill>
                  <a:schemeClr val="tx1"/>
                </a:solidFill>
                <a:effectLst/>
                <a:latin typeface="+mn-lt"/>
                <a:ea typeface="+mn-ea"/>
                <a:cs typeface="+mn-cs"/>
              </a:rPr>
              <a:t> (128 → 1) </a:t>
            </a:r>
          </a:p>
          <a:p>
            <a:r>
              <a:rPr lang="zh-TW" altLang="zh-TW" sz="1200" b="1" u="none" strike="noStrike" kern="1200" dirty="0">
                <a:solidFill>
                  <a:schemeClr val="tx1"/>
                </a:solidFill>
                <a:effectLst/>
                <a:latin typeface="+mn-lt"/>
                <a:ea typeface="+mn-ea"/>
                <a:cs typeface="+mn-cs"/>
              </a:rPr>
              <a:t>CSA</a:t>
            </a:r>
            <a:r>
              <a:rPr lang="zh-TW" altLang="zh-TW" sz="1200" b="0" u="none" strike="noStrike" kern="1200" dirty="0">
                <a:solidFill>
                  <a:schemeClr val="tx1"/>
                </a:solidFill>
                <a:effectLst/>
                <a:latin typeface="+mn-lt"/>
                <a:ea typeface="+mn-ea"/>
                <a:cs typeface="+mn-cs"/>
              </a:rPr>
              <a:t>V41M 長文本的細粒度檢索縱橫結合：先 </a:t>
            </a:r>
            <a:r>
              <a:rPr lang="zh-TW" altLang="zh-TW" sz="1200" b="1" u="none" strike="noStrike" kern="1200" dirty="0">
                <a:solidFill>
                  <a:schemeClr val="tx1"/>
                </a:solidFill>
                <a:effectLst/>
                <a:latin typeface="+mn-lt"/>
                <a:ea typeface="+mn-ea"/>
                <a:cs typeface="+mn-cs"/>
              </a:rPr>
              <a:t>4:1 壓縮</a:t>
            </a:r>
            <a:r>
              <a:rPr lang="zh-TW" altLang="zh-TW" sz="1200" b="0" u="none" strike="noStrike" kern="1200" dirty="0">
                <a:solidFill>
                  <a:schemeClr val="tx1"/>
                </a:solidFill>
                <a:effectLst/>
                <a:latin typeface="+mn-lt"/>
                <a:ea typeface="+mn-ea"/>
                <a:cs typeface="+mn-cs"/>
              </a:rPr>
              <a:t>再做 </a:t>
            </a:r>
            <a:r>
              <a:rPr lang="zh-TW" altLang="zh-TW" sz="1200" b="1" u="none" strike="noStrike" kern="1200" dirty="0">
                <a:solidFill>
                  <a:schemeClr val="tx1"/>
                </a:solidFill>
                <a:effectLst/>
                <a:latin typeface="+mn-lt"/>
                <a:ea typeface="+mn-ea"/>
                <a:cs typeface="+mn-cs"/>
              </a:rPr>
              <a:t>Top-K 塊篩選</a:t>
            </a:r>
            <a:r>
              <a:rPr lang="zh-TW" altLang="zh-TW" sz="1200" b="0" u="none" strike="noStrike" kern="1200" dirty="0">
                <a:solidFill>
                  <a:schemeClr val="tx1"/>
                </a:solidFill>
                <a:effectLst/>
                <a:latin typeface="+mn-lt"/>
                <a:ea typeface="+mn-ea"/>
                <a:cs typeface="+mn-cs"/>
              </a:rPr>
              <a:t> </a:t>
            </a: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10192911-3471-19CB-5ED9-6FC7027DB73E}"/>
              </a:ext>
            </a:extLst>
          </p:cNvPr>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302294458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A148A7-E727-1876-EEC2-EE1FF967761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8CDA593-F947-4F86-E4E2-84C334DA1432}"/>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C6618D0F-A824-BF63-762D-700713FACC9C}"/>
              </a:ext>
            </a:extLst>
          </p:cNvPr>
          <p:cNvSpPr>
            <a:spLocks noGrp="1"/>
          </p:cNvSpPr>
          <p:nvPr>
            <p:ph type="body" idx="1"/>
          </p:nvPr>
        </p:nvSpPr>
        <p:spPr/>
        <p:txBody>
          <a:bodyPr/>
          <a:lstStyle/>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A96DCFCD-5664-3FB0-02E6-0DE7A8DF9D26}"/>
              </a:ext>
            </a:extLst>
          </p:cNvPr>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241819012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25572861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529A-4EF9-2EEE-5A60-C291D7D7775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C0779BF-F829-C373-BE62-F8275D55A9B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B531954-A0C7-0F67-E78A-CBF9608AE9E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294B2211-4D24-D0CD-E8B5-6DAC6082A825}"/>
              </a:ext>
            </a:extLst>
          </p:cNvPr>
          <p:cNvSpPr>
            <a:spLocks noGrp="1"/>
          </p:cNvSpPr>
          <p:nvPr>
            <p:ph type="sldNum" sz="quarter" idx="5"/>
          </p:nvPr>
        </p:nvSpPr>
        <p:spPr/>
        <p:txBody>
          <a:bodyPr/>
          <a:lstStyle/>
          <a:p>
            <a:fld id="{E3A6CE5E-F349-486D-8749-82EF2AD71FA8}" type="slidenum">
              <a:rPr lang="zh-TW" altLang="en-US" smtClean="0"/>
              <a:t>21</a:t>
            </a:fld>
            <a:endParaRPr lang="zh-TW" altLang="en-US"/>
          </a:p>
        </p:txBody>
      </p:sp>
    </p:spTree>
    <p:extLst>
      <p:ext uri="{BB962C8B-B14F-4D97-AF65-F5344CB8AC3E}">
        <p14:creationId xmlns:p14="http://schemas.microsoft.com/office/powerpoint/2010/main" val="413775462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DBA0-5016-15B9-B336-967BC65044C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8CEE158-7518-B36E-6B39-A56DF4E6EB9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AE68B9F-F26F-17C6-19AE-499CDA9202C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a:extLst>
              <a:ext uri="{FF2B5EF4-FFF2-40B4-BE49-F238E27FC236}">
                <a16:creationId xmlns:a16="http://schemas.microsoft.com/office/drawing/2014/main" id="{E5C4B865-7765-C3FC-A6C5-674D1B923E08}"/>
              </a:ext>
            </a:extLst>
          </p:cNvPr>
          <p:cNvSpPr>
            <a:spLocks noGrp="1"/>
          </p:cNvSpPr>
          <p:nvPr>
            <p:ph type="sldNum" sz="quarter" idx="5"/>
          </p:nvPr>
        </p:nvSpPr>
        <p:spPr/>
        <p:txBody>
          <a:bodyPr/>
          <a:lstStyle/>
          <a:p>
            <a:fld id="{E3A6CE5E-F349-486D-8749-82EF2AD71FA8}" type="slidenum">
              <a:rPr lang="zh-TW" altLang="en-US" smtClean="0"/>
              <a:t>22</a:t>
            </a:fld>
            <a:endParaRPr lang="zh-TW" altLang="en-US"/>
          </a:p>
        </p:txBody>
      </p:sp>
    </p:spTree>
    <p:extLst>
      <p:ext uri="{BB962C8B-B14F-4D97-AF65-F5344CB8AC3E}">
        <p14:creationId xmlns:p14="http://schemas.microsoft.com/office/powerpoint/2010/main" val="8031918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2026/8/28</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5164688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2" r:id="rId2"/>
    <p:sldLayoutId id="2147483664" r:id="rId3"/>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3.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hyperlink" Target="https://youtu.be/AIRfT41A89s?si=wd8CxmH65YRXOa75" TargetMode="External"/><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1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30.png"/><Relationship Id="rId7" Type="http://schemas.openxmlformats.org/officeDocument/2006/relationships/image" Target="../media/image34.png"/><Relationship Id="rId12" Type="http://schemas.openxmlformats.org/officeDocument/2006/relationships/image" Target="../media/image38.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33.png"/><Relationship Id="rId11" Type="http://schemas.openxmlformats.org/officeDocument/2006/relationships/image" Target="../media/image37.png"/><Relationship Id="rId5" Type="http://schemas.openxmlformats.org/officeDocument/2006/relationships/image" Target="../media/image32.png"/><Relationship Id="rId10" Type="http://schemas.openxmlformats.org/officeDocument/2006/relationships/image" Target="../media/image36.png"/><Relationship Id="rId4" Type="http://schemas.openxmlformats.org/officeDocument/2006/relationships/image" Target="../media/image31.png"/><Relationship Id="rId9" Type="http://schemas.openxmlformats.org/officeDocument/2006/relationships/image" Target="../media/image3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2026/09/03</a:t>
            </a:r>
            <a:endParaRPr lang="zh-TW" altLang="en-US" sz="1000" dirty="0">
              <a:solidFill>
                <a:schemeClr val="accent1"/>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1467068"/>
          </a:xfrm>
          <a:prstGeom prst="rect">
            <a:avLst/>
          </a:prstGeom>
          <a:noFill/>
        </p:spPr>
        <p:txBody>
          <a:bodyPr wrap="square" rtlCol="0">
            <a:spAutoFit/>
          </a:bodyPr>
          <a:lstStyle/>
          <a:p>
            <a:pPr algn="ctr"/>
            <a:r>
              <a:rPr lang="en-US" altLang="zh-TW" sz="4000" b="1" dirty="0"/>
              <a:t>DeepSeek</a:t>
            </a:r>
            <a:r>
              <a:rPr lang="zh-TW" altLang="en-US" sz="4000" b="1" dirty="0"/>
              <a:t> </a:t>
            </a:r>
            <a:r>
              <a:rPr lang="en-US" altLang="zh-TW" sz="4000" b="1" dirty="0" err="1"/>
              <a:t>MoE</a:t>
            </a:r>
            <a:endParaRPr lang="en-US" altLang="zh-TW" sz="4000" b="1" dirty="0"/>
          </a:p>
          <a:p>
            <a:pPr defTabSz="4689475">
              <a:lnSpc>
                <a:spcPts val="400"/>
              </a:lnSpc>
            </a:pPr>
            <a:r>
              <a:rPr lang="zh-TW" altLang="en-US" sz="1000" b="1" dirty="0"/>
              <a:t> </a:t>
            </a:r>
            <a:r>
              <a:rPr lang="en-US" altLang="zh-TW" sz="1000" b="1" dirty="0"/>
              <a:t>	2026</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DeepSeek	</a:t>
            </a:r>
            <a:r>
              <a:rPr lang="en-US" altLang="zh-TW" sz="1000" dirty="0">
                <a:sym typeface="Wingdings" panose="05000000000000000000" pitchFamily="2" charset="2"/>
              </a:rPr>
              <a:t>	R&amp;D Team</a:t>
            </a:r>
            <a:endParaRPr lang="zh-TW" altLang="en-US" sz="1000" dirty="0">
              <a:solidFill>
                <a:schemeClr val="accent1">
                  <a:lumMod val="75000"/>
                </a:schemeClr>
              </a:solidFill>
            </a:endParaRPr>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par>
                                <p:cTn id="71" presetID="3" presetClass="emph" presetSubtype="2" fill="hold" grpId="0" nodeType="withEffect">
                                  <p:stCondLst>
                                    <p:cond delay="0"/>
                                  </p:stCondLst>
                                  <p:childTnLst>
                                    <p:animClr clrSpc="rgb" dir="cw">
                                      <p:cBhvr override="childStyle">
                                        <p:cTn id="7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1"/>
                                            </p:cond>
                                          </p:stCondLst>
                                          <p:endCondLst>
                                            <p:cond evt="onStopAudio" delay="0">
                                              <p:tgtEl>
                                                <p:sldTgt/>
                                              </p:tgtEl>
                                            </p:cond>
                                          </p:endCondLst>
                                        </p:cTn>
                                        <p:tgtEl>
                                          <p:sndTgt r:embed="rId3" name="type.wav"/>
                                        </p:tgtEl>
                                      </p:cMediaNode>
                                    </p:audio>
                                  </p:subTnLst>
                                </p:cTn>
                              </p:par>
                              <p:par>
                                <p:cTn id="73" presetID="3" presetClass="emph" presetSubtype="2" fill="hold" grpId="0" nodeType="withEffect">
                                  <p:stCondLst>
                                    <p:cond delay="0"/>
                                  </p:stCondLst>
                                  <p:childTnLst>
                                    <p:animClr clrSpc="rgb" dir="cw">
                                      <p:cBhvr override="childStyle">
                                        <p:cTn id="74"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3" end="13"/>
                                            </p:txEl>
                                          </p:spTgt>
                                        </p:tgtEl>
                                        <p:attrNameLst>
                                          <p:attrName>style.color</p:attrName>
                                        </p:attrNameLst>
                                      </p:cBhvr>
                                      <p:to>
                                        <a:srgbClr val="4D4D4D"/>
                                      </p:to>
                                    </p:animClr>
                                  </p:childTnLst>
                                </p:cTn>
                              </p:par>
                              <p:par>
                                <p:cTn id="77" presetID="3" presetClass="emph" presetSubtype="2" fill="hold" grpId="1" nodeType="withEffect">
                                  <p:stCondLst>
                                    <p:cond delay="0"/>
                                  </p:stCondLst>
                                  <p:childTnLst>
                                    <p:animClr clrSpc="rgb" dir="cw">
                                      <p:cBhvr override="childStyle">
                                        <p:cTn id="78" dur="2000" fill="hold"/>
                                        <p:tgtEl>
                                          <p:spTgt spid="2">
                                            <p:txEl>
                                              <p:pRg st="14" end="14"/>
                                            </p:txEl>
                                          </p:spTgt>
                                        </p:tgtEl>
                                        <p:attrNameLst>
                                          <p:attrName>style.color</p:attrName>
                                        </p:attrNameLst>
                                      </p:cBhvr>
                                      <p:to>
                                        <a:srgbClr val="4D4D4D"/>
                                      </p:to>
                                    </p:animClr>
                                  </p:childTnLst>
                                </p:cTn>
                              </p:par>
                            </p:childTnLst>
                          </p:cTn>
                        </p:par>
                      </p:childTnLst>
                    </p:cTn>
                  </p:par>
                  <p:par>
                    <p:cTn id="79" fill="hold">
                      <p:stCondLst>
                        <p:cond delay="indefinite"/>
                      </p:stCondLst>
                      <p:childTnLst>
                        <p:par>
                          <p:cTn id="80" fill="hold">
                            <p:stCondLst>
                              <p:cond delay="0"/>
                            </p:stCondLst>
                            <p:childTnLst>
                              <p:par>
                                <p:cTn id="81" presetID="1" presetClass="exit" presetSubtype="0" fill="hold" grpId="2" nodeType="clickEffect">
                                  <p:stCondLst>
                                    <p:cond delay="0"/>
                                  </p:stCondLst>
                                  <p:childTnLst>
                                    <p:set>
                                      <p:cBhvr>
                                        <p:cTn id="82" dur="1" fill="hold">
                                          <p:stCondLst>
                                            <p:cond delay="0"/>
                                          </p:stCondLst>
                                        </p:cTn>
                                        <p:tgtEl>
                                          <p:spTgt spid="2">
                                            <p:bg/>
                                          </p:spTgt>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3" presetClass="emph" presetSubtype="2" fill="hold" grpId="0" nodeType="clickEffect">
                                  <p:stCondLst>
                                    <p:cond delay="0"/>
                                  </p:stCondLst>
                                  <p:childTnLst>
                                    <p:animClr clrSpc="rgb" dir="cw">
                                      <p:cBhvr override="childStyle">
                                        <p:cTn id="86"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5"/>
                                            </p:cond>
                                          </p:stCondLst>
                                          <p:endCondLst>
                                            <p:cond evt="onStopAudio" delay="0">
                                              <p:tgtEl>
                                                <p:sldTgt/>
                                              </p:tgtEl>
                                            </p:cond>
                                          </p:endCondLst>
                                        </p:cTn>
                                        <p:tgtEl>
                                          <p:sndTgt r:embed="rId3" name="type.wav"/>
                                        </p:tgtEl>
                                      </p:cMediaNode>
                                    </p:audio>
                                  </p:subTnLst>
                                </p:cTn>
                              </p:par>
                            </p:childTnLst>
                          </p:cTn>
                        </p:par>
                      </p:childTnLst>
                    </p:cTn>
                  </p:par>
                  <p:par>
                    <p:cTn id="87" fill="hold">
                      <p:stCondLst>
                        <p:cond delay="indefinite"/>
                      </p:stCondLst>
                      <p:childTnLst>
                        <p:par>
                          <p:cTn id="88" fill="hold">
                            <p:stCondLst>
                              <p:cond delay="0"/>
                            </p:stCondLst>
                            <p:childTnLst>
                              <p:par>
                                <p:cTn id="89" presetID="3" presetClass="emph" presetSubtype="2" fill="hold" grpId="0" nodeType="clickEffect">
                                  <p:stCondLst>
                                    <p:cond delay="0"/>
                                  </p:stCondLst>
                                  <p:childTnLst>
                                    <p:animClr clrSpc="rgb" dir="cw">
                                      <p:cBhvr override="childStyle">
                                        <p:cTn id="9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0" nodeType="withEffect">
                                  <p:stCondLst>
                                    <p:cond delay="0"/>
                                  </p:stCondLst>
                                  <p:childTnLst>
                                    <p:animClr clrSpc="rgb" dir="cw">
                                      <p:cBhvr override="childStyle">
                                        <p:cTn id="9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5"/>
                                            </p:cond>
                                          </p:stCondLst>
                                          <p:endCondLst>
                                            <p:cond evt="onStopAudio" delay="0">
                                              <p:tgtEl>
                                                <p:sldTgt/>
                                              </p:tgtEl>
                                            </p:cond>
                                          </p:endCondLst>
                                        </p:cTn>
                                        <p:tgtEl>
                                          <p:sndTgt r:embed="rId3" name="type.wav"/>
                                        </p:tgtEl>
                                      </p:cMediaNode>
                                    </p:audio>
                                  </p:subTnLst>
                                </p:cTn>
                              </p:par>
                              <p:par>
                                <p:cTn id="97" presetID="3" presetClass="emph" presetSubtype="2" fill="hold" grpId="1" nodeType="withEffect">
                                  <p:stCondLst>
                                    <p:cond delay="0"/>
                                  </p:stCondLst>
                                  <p:childTnLst>
                                    <p:animClr clrSpc="rgb" dir="cw">
                                      <p:cBhvr override="childStyle">
                                        <p:cTn id="98" dur="2000" fill="hold"/>
                                        <p:tgtEl>
                                          <p:spTgt spid="2">
                                            <p:txEl>
                                              <p:pRg st="7" end="7"/>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9" end="9"/>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0" end="10"/>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1" end="11"/>
                                            </p:txEl>
                                          </p:spTgt>
                                        </p:tgtEl>
                                        <p:attrNameLst>
                                          <p:attrName>style.color</p:attrName>
                                        </p:attrNameLst>
                                      </p:cBhvr>
                                      <p:to>
                                        <a:srgbClr val="4D4D4D"/>
                                      </p:to>
                                    </p:animClr>
                                  </p:childTnLst>
                                </p:cTn>
                              </p:par>
                              <p:par>
                                <p:cTn id="105" presetID="3" presetClass="emph" presetSubtype="2" fill="hold" grpId="1" nodeType="withEffect">
                                  <p:stCondLst>
                                    <p:cond delay="0"/>
                                  </p:stCondLst>
                                  <p:childTnLst>
                                    <p:animClr clrSpc="rgb" dir="cw">
                                      <p:cBhvr override="childStyle">
                                        <p:cTn id="106" dur="2000" fill="hold"/>
                                        <p:tgtEl>
                                          <p:spTgt spid="2">
                                            <p:txEl>
                                              <p:pRg st="12" end="12"/>
                                            </p:txEl>
                                          </p:spTgt>
                                        </p:tgtEl>
                                        <p:attrNameLst>
                                          <p:attrName>style.color</p:attrName>
                                        </p:attrNameLst>
                                      </p:cBhvr>
                                      <p:to>
                                        <a:srgbClr val="4D4D4D"/>
                                      </p:to>
                                    </p:animClr>
                                  </p:childTnLst>
                                </p:cTn>
                              </p:par>
                            </p:childTnLst>
                          </p:cTn>
                        </p:par>
                      </p:childTnLst>
                    </p:cTn>
                  </p:par>
                  <p:par>
                    <p:cTn id="107" fill="hold">
                      <p:stCondLst>
                        <p:cond delay="indefinite"/>
                      </p:stCondLst>
                      <p:childTnLst>
                        <p:par>
                          <p:cTn id="108" fill="hold">
                            <p:stCondLst>
                              <p:cond delay="0"/>
                            </p:stCondLst>
                            <p:childTnLst>
                              <p:par>
                                <p:cTn id="109" presetID="1" presetClass="exit" presetSubtype="0" fill="hold" grpId="2" nodeType="clickEffect">
                                  <p:stCondLst>
                                    <p:cond delay="0"/>
                                  </p:stCondLst>
                                  <p:childTnLst>
                                    <p:set>
                                      <p:cBhvr>
                                        <p:cTn id="110"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F3F95152-7A6B-16A4-22A0-4CC9A08A28E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8" name="文字方塊 7">
            <a:extLst>
              <a:ext uri="{FF2B5EF4-FFF2-40B4-BE49-F238E27FC236}">
                <a16:creationId xmlns:a16="http://schemas.microsoft.com/office/drawing/2014/main" id="{1240326B-602C-CDBB-C0E5-72CA3E8DB14E}"/>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9" name="文字方塊 8">
            <a:extLst>
              <a:ext uri="{FF2B5EF4-FFF2-40B4-BE49-F238E27FC236}">
                <a16:creationId xmlns:a16="http://schemas.microsoft.com/office/drawing/2014/main" id="{B13425BD-8E63-0EFC-AD98-38638AC090BD}"/>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10" name="文字方塊 9">
            <a:extLst>
              <a:ext uri="{FF2B5EF4-FFF2-40B4-BE49-F238E27FC236}">
                <a16:creationId xmlns:a16="http://schemas.microsoft.com/office/drawing/2014/main" id="{8A849B28-DFA9-FA7E-9B5D-244D9BBAD51A}"/>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11" name="文字方塊 10">
            <a:extLst>
              <a:ext uri="{FF2B5EF4-FFF2-40B4-BE49-F238E27FC236}">
                <a16:creationId xmlns:a16="http://schemas.microsoft.com/office/drawing/2014/main" id="{D0A09D4C-6DE8-BDCA-C5C0-FBA86CD4368C}"/>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12" name="右大括弧 11">
            <a:extLst>
              <a:ext uri="{FF2B5EF4-FFF2-40B4-BE49-F238E27FC236}">
                <a16:creationId xmlns:a16="http://schemas.microsoft.com/office/drawing/2014/main" id="{F7D623D8-E3EB-A23D-405F-B7C4DC6B3B36}"/>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13" name="箭號: 向下 12">
            <a:extLst>
              <a:ext uri="{FF2B5EF4-FFF2-40B4-BE49-F238E27FC236}">
                <a16:creationId xmlns:a16="http://schemas.microsoft.com/office/drawing/2014/main" id="{9FAB91AB-9BC1-A45A-BFFD-61E028EE4A03}"/>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14" name="直線單箭頭接點 13">
            <a:extLst>
              <a:ext uri="{FF2B5EF4-FFF2-40B4-BE49-F238E27FC236}">
                <a16:creationId xmlns:a16="http://schemas.microsoft.com/office/drawing/2014/main" id="{B5EDBE07-C935-4285-720A-13592479DA23}"/>
              </a:ext>
            </a:extLst>
          </p:cNvPr>
          <p:cNvCxnSpPr>
            <a:cxnSpLocks/>
            <a:stCxn id="11" idx="3"/>
            <a:endCxn id="7"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15" name="表格 14">
            <a:extLst>
              <a:ext uri="{FF2B5EF4-FFF2-40B4-BE49-F238E27FC236}">
                <a16:creationId xmlns:a16="http://schemas.microsoft.com/office/drawing/2014/main" id="{77D26E76-0878-4BEA-0864-D931E8EE767B}"/>
              </a:ext>
            </a:extLst>
          </p:cNvPr>
          <p:cNvGraphicFramePr>
            <a:graphicFrameLocks noGrp="1"/>
          </p:cNvGraphicFramePr>
          <p:nvPr>
            <p:extLst>
              <p:ext uri="{D42A27DB-BD31-4B8C-83A1-F6EECF244321}">
                <p14:modId xmlns:p14="http://schemas.microsoft.com/office/powerpoint/2010/main" val="2344033630"/>
              </p:ext>
            </p:extLst>
          </p:nvPr>
        </p:nvGraphicFramePr>
        <p:xfrm>
          <a:off x="5490780" y="4797152"/>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
        <p:nvSpPr>
          <p:cNvPr id="17" name="標題 1">
            <a:extLst>
              <a:ext uri="{FF2B5EF4-FFF2-40B4-BE49-F238E27FC236}">
                <a16:creationId xmlns:a16="http://schemas.microsoft.com/office/drawing/2014/main" id="{D8E85CF9-1642-8F1D-8E65-50C63D95EB53}"/>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cxnSp>
        <p:nvCxnSpPr>
          <p:cNvPr id="18" name="直線接點 17">
            <a:extLst>
              <a:ext uri="{FF2B5EF4-FFF2-40B4-BE49-F238E27FC236}">
                <a16:creationId xmlns:a16="http://schemas.microsoft.com/office/drawing/2014/main" id="{FDCA2822-E0DA-5603-D3BF-22B5933F51F7}"/>
              </a:ext>
            </a:extLst>
          </p:cNvPr>
          <p:cNvCxnSpPr>
            <a:cxnSpLocks/>
            <a:stCxn id="17" idx="2"/>
          </p:cNvCxnSpPr>
          <p:nvPr/>
        </p:nvCxnSpPr>
        <p:spPr>
          <a:xfrm>
            <a:off x="5931490" y="4149080"/>
            <a:ext cx="0" cy="64807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
        <p:nvSpPr>
          <p:cNvPr id="3" name="標題 1">
            <a:extLst>
              <a:ext uri="{FF2B5EF4-FFF2-40B4-BE49-F238E27FC236}">
                <a16:creationId xmlns:a16="http://schemas.microsoft.com/office/drawing/2014/main" id="{86D655F9-6A67-F151-59CE-818F721614E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einforcement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earning with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H</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uman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F</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eedback</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G- Optimizer</a:t>
            </a:r>
          </a:p>
        </p:txBody>
      </p:sp>
    </p:spTree>
    <p:extLst>
      <p:ext uri="{BB962C8B-B14F-4D97-AF65-F5344CB8AC3E}">
        <p14:creationId xmlns:p14="http://schemas.microsoft.com/office/powerpoint/2010/main" val="23906063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7D1FF4C-B981-02EC-4D4A-C61F69393A52}"/>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41B5D38C-07B4-9DDC-B79C-00F7D93127CD}"/>
              </a:ext>
            </a:extLst>
          </p:cNvPr>
          <p:cNvPicPr>
            <a:picLocks noChangeAspect="1"/>
          </p:cNvPicPr>
          <p:nvPr/>
        </p:nvPicPr>
        <p:blipFill>
          <a:blip r:embed="rId2"/>
          <a:stretch>
            <a:fillRect/>
          </a:stretch>
        </p:blipFill>
        <p:spPr>
          <a:xfrm>
            <a:off x="323528" y="1199814"/>
            <a:ext cx="8485396" cy="1725130"/>
          </a:xfrm>
          <a:prstGeom prst="rect">
            <a:avLst/>
          </a:prstGeom>
        </p:spPr>
      </p:pic>
      <p:pic>
        <p:nvPicPr>
          <p:cNvPr id="12" name="圖片 11">
            <a:extLst>
              <a:ext uri="{FF2B5EF4-FFF2-40B4-BE49-F238E27FC236}">
                <a16:creationId xmlns:a16="http://schemas.microsoft.com/office/drawing/2014/main" id="{9D135FEB-D49D-FDDE-1182-90BEDA1FC772}"/>
              </a:ext>
            </a:extLst>
          </p:cNvPr>
          <p:cNvPicPr>
            <a:picLocks noChangeAspect="1"/>
          </p:cNvPicPr>
          <p:nvPr/>
        </p:nvPicPr>
        <p:blipFill>
          <a:blip r:embed="rId3"/>
          <a:stretch>
            <a:fillRect/>
          </a:stretch>
        </p:blipFill>
        <p:spPr>
          <a:xfrm>
            <a:off x="167538" y="1772816"/>
            <a:ext cx="8808924" cy="3096344"/>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4" name="圖片 13">
            <a:extLst>
              <a:ext uri="{FF2B5EF4-FFF2-40B4-BE49-F238E27FC236}">
                <a16:creationId xmlns:a16="http://schemas.microsoft.com/office/drawing/2014/main" id="{8EE5E8E2-2325-4F12-1CBF-DFE4507E3F00}"/>
              </a:ext>
            </a:extLst>
          </p:cNvPr>
          <p:cNvPicPr>
            <a:picLocks noChangeAspect="1"/>
          </p:cNvPicPr>
          <p:nvPr/>
        </p:nvPicPr>
        <p:blipFill>
          <a:blip r:embed="rId4"/>
          <a:stretch>
            <a:fillRect/>
          </a:stretch>
        </p:blipFill>
        <p:spPr>
          <a:xfrm>
            <a:off x="6444208" y="1556792"/>
            <a:ext cx="1852871" cy="523948"/>
          </a:xfrm>
          <a:prstGeom prst="rect">
            <a:avLst/>
          </a:prstGeom>
        </p:spPr>
      </p:pic>
      <p:pic>
        <p:nvPicPr>
          <p:cNvPr id="16" name="圖片 15">
            <a:extLst>
              <a:ext uri="{FF2B5EF4-FFF2-40B4-BE49-F238E27FC236}">
                <a16:creationId xmlns:a16="http://schemas.microsoft.com/office/drawing/2014/main" id="{A340BEF9-9477-0B08-52EF-5A3DFCCDF2F7}"/>
              </a:ext>
            </a:extLst>
          </p:cNvPr>
          <p:cNvPicPr>
            <a:picLocks noChangeAspect="1"/>
          </p:cNvPicPr>
          <p:nvPr/>
        </p:nvPicPr>
        <p:blipFill>
          <a:blip r:embed="rId5"/>
          <a:stretch>
            <a:fillRect/>
          </a:stretch>
        </p:blipFill>
        <p:spPr>
          <a:xfrm>
            <a:off x="329233" y="5192779"/>
            <a:ext cx="4848902" cy="1476581"/>
          </a:xfrm>
          <a:prstGeom prst="rect">
            <a:avLst/>
          </a:prstGeom>
          <a:effectLst>
            <a:glow rad="63500">
              <a:schemeClr val="accent3">
                <a:alpha val="40000"/>
              </a:schemeClr>
            </a:glow>
          </a:effectLst>
        </p:spPr>
      </p:pic>
      <p:sp>
        <p:nvSpPr>
          <p:cNvPr id="18" name="標題 1">
            <a:extLst>
              <a:ext uri="{FF2B5EF4-FFF2-40B4-BE49-F238E27FC236}">
                <a16:creationId xmlns:a16="http://schemas.microsoft.com/office/drawing/2014/main" id="{ADE035A4-1862-F0B7-2203-B17B6499E268}"/>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G</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roup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elative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olicy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ptimizer</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A 2D-matrix optimizer updating strictly by orthogonalized direction, completely ignoring gradient scale.</a:t>
            </a:r>
          </a:p>
        </p:txBody>
      </p:sp>
      <p:pic>
        <p:nvPicPr>
          <p:cNvPr id="20" name="圖片 19">
            <a:extLst>
              <a:ext uri="{FF2B5EF4-FFF2-40B4-BE49-F238E27FC236}">
                <a16:creationId xmlns:a16="http://schemas.microsoft.com/office/drawing/2014/main" id="{770B7F26-EB81-3FCB-3A31-F0EFA81CC01C}"/>
              </a:ext>
            </a:extLst>
          </p:cNvPr>
          <p:cNvPicPr>
            <a:picLocks noChangeAspect="1"/>
          </p:cNvPicPr>
          <p:nvPr/>
        </p:nvPicPr>
        <p:blipFill>
          <a:blip r:embed="rId6"/>
          <a:stretch>
            <a:fillRect/>
          </a:stretch>
        </p:blipFill>
        <p:spPr>
          <a:xfrm>
            <a:off x="5022463" y="1156809"/>
            <a:ext cx="1254207" cy="454198"/>
          </a:xfrm>
          <a:prstGeom prst="rect">
            <a:avLst/>
          </a:prstGeom>
        </p:spPr>
      </p:pic>
    </p:spTree>
    <p:extLst>
      <p:ext uri="{BB962C8B-B14F-4D97-AF65-F5344CB8AC3E}">
        <p14:creationId xmlns:p14="http://schemas.microsoft.com/office/powerpoint/2010/main" val="180101126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E1C088-C29C-CFDD-0766-AA0BE977073D}"/>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48C5EFCD-973E-3362-6BEC-2BABEB772E5E}"/>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Distillation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a:t>
            </a:r>
          </a:p>
        </p:txBody>
      </p:sp>
      <p:sp>
        <p:nvSpPr>
          <p:cNvPr id="34" name="文字方塊 33">
            <a:extLst>
              <a:ext uri="{FF2B5EF4-FFF2-40B4-BE49-F238E27FC236}">
                <a16:creationId xmlns:a16="http://schemas.microsoft.com/office/drawing/2014/main" id="{1781F852-2D98-9DA7-ED98-B7E70CCD70A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26F1D28A-E25F-0DBE-6A0F-1F0258A77F0C}"/>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0AFB4BE5-D051-0641-2C31-9200688EF3AD}"/>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3FA24F76-E7DA-FED8-A954-D229BCDBA889}"/>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6" name="文字方塊 45">
            <a:extLst>
              <a:ext uri="{FF2B5EF4-FFF2-40B4-BE49-F238E27FC236}">
                <a16:creationId xmlns:a16="http://schemas.microsoft.com/office/drawing/2014/main" id="{A4EB4070-0F17-DC28-5D50-AB16E3B247C9}"/>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F3E988E6-CAF1-E8EE-5F9F-4BCC50E551D1}"/>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2C29EDAD-2399-6787-451D-1B76A1ECD0E1}"/>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083DAC72-685D-C5C6-6BD2-4F20B57F24BD}"/>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5CB4D389-23EC-5032-9BAE-F1757CE2E800}"/>
              </a:ext>
            </a:extLst>
          </p:cNvPr>
          <p:cNvSpPr txBox="1">
            <a:spLocks/>
          </p:cNvSpPr>
          <p:nvPr/>
        </p:nvSpPr>
        <p:spPr>
          <a:xfrm>
            <a:off x="5436096" y="525096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Soft</a:t>
            </a:r>
            <a:r>
              <a:rPr lang="zh-TW" altLang="en-US" sz="1000" dirty="0">
                <a:latin typeface="Noto Sans HK" panose="020B0200000000000000" pitchFamily="34" charset="-120"/>
                <a:ea typeface="Noto Sans HK" panose="020B0200000000000000" pitchFamily="34" charset="-120"/>
                <a:cs typeface="Arial" panose="020B0604020202020204" pitchFamily="34" charset="0"/>
              </a:rPr>
              <a:t> </a:t>
            </a:r>
            <a:r>
              <a:rPr lang="en-US" altLang="zh-TW" sz="1000" dirty="0">
                <a:latin typeface="Noto Sans HK" panose="020B0200000000000000" pitchFamily="34" charset="-120"/>
                <a:ea typeface="Noto Sans HK" panose="020B0200000000000000" pitchFamily="34" charset="-120"/>
                <a:cs typeface="Arial" panose="020B0604020202020204" pitchFamily="34" charset="0"/>
              </a:rPr>
              <a:t>Label</a:t>
            </a:r>
          </a:p>
        </p:txBody>
      </p:sp>
      <p:sp>
        <p:nvSpPr>
          <p:cNvPr id="63" name="右大括弧 62">
            <a:extLst>
              <a:ext uri="{FF2B5EF4-FFF2-40B4-BE49-F238E27FC236}">
                <a16:creationId xmlns:a16="http://schemas.microsoft.com/office/drawing/2014/main" id="{C9DE5F9A-05EB-4691-A387-184904320C08}"/>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4223F807-D83D-59D5-DF24-6DF252EE825F}"/>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5" name="標題 1">
            <a:extLst>
              <a:ext uri="{FF2B5EF4-FFF2-40B4-BE49-F238E27FC236}">
                <a16:creationId xmlns:a16="http://schemas.microsoft.com/office/drawing/2014/main" id="{EA45D83D-FA42-9110-2F49-53618A9ECE91}"/>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83" name="直線接點 82">
            <a:extLst>
              <a:ext uri="{FF2B5EF4-FFF2-40B4-BE49-F238E27FC236}">
                <a16:creationId xmlns:a16="http://schemas.microsoft.com/office/drawing/2014/main" id="{49C9B6FC-E00B-B93C-9597-0EFA3EC02D21}"/>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13B89021-46D2-B5A3-28F6-29345C4576EC}"/>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CA5802EE-F207-7922-1CC3-BC212577E690}"/>
              </a:ext>
            </a:extLst>
          </p:cNvPr>
          <p:cNvGraphicFramePr>
            <a:graphicFrameLocks noGrp="1"/>
          </p:cNvGraphicFramePr>
          <p:nvPr/>
        </p:nvGraphicFramePr>
        <p:xfrm>
          <a:off x="1884140" y="4365104"/>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Teacher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060607E6-1136-A62E-557F-AF305E737CB5}"/>
              </a:ext>
            </a:extLst>
          </p:cNvPr>
          <p:cNvCxnSpPr>
            <a:cxnSpLocks/>
          </p:cNvCxnSpPr>
          <p:nvPr/>
        </p:nvCxnSpPr>
        <p:spPr>
          <a:xfrm>
            <a:off x="1724506" y="1455268"/>
            <a:ext cx="0" cy="502037"/>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graphicFrame>
        <p:nvGraphicFramePr>
          <p:cNvPr id="11" name="表格 10">
            <a:extLst>
              <a:ext uri="{FF2B5EF4-FFF2-40B4-BE49-F238E27FC236}">
                <a16:creationId xmlns:a16="http://schemas.microsoft.com/office/drawing/2014/main" id="{7416325E-8B29-6B3E-B545-D3E65BB3E00D}"/>
              </a:ext>
            </a:extLst>
          </p:cNvPr>
          <p:cNvGraphicFramePr>
            <a:graphicFrameLocks noGrp="1"/>
          </p:cNvGraphicFramePr>
          <p:nvPr/>
        </p:nvGraphicFramePr>
        <p:xfrm>
          <a:off x="3352478" y="436510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Student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spTree>
    <p:extLst>
      <p:ext uri="{BB962C8B-B14F-4D97-AF65-F5344CB8AC3E}">
        <p14:creationId xmlns:p14="http://schemas.microsoft.com/office/powerpoint/2010/main" val="295082313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A25999-7ECD-BA35-43AC-72ECFEE0427F}"/>
            </a:ext>
          </a:extLst>
        </p:cNvPr>
        <p:cNvGrpSpPr/>
        <p:nvPr/>
      </p:nvGrpSpPr>
      <p:grpSpPr>
        <a:xfrm>
          <a:off x="0" y="0"/>
          <a:ext cx="0" cy="0"/>
          <a:chOff x="0" y="0"/>
          <a:chExt cx="0" cy="0"/>
        </a:xfrm>
      </p:grpSpPr>
      <p:pic>
        <p:nvPicPr>
          <p:cNvPr id="11" name="圖片 10">
            <a:extLst>
              <a:ext uri="{FF2B5EF4-FFF2-40B4-BE49-F238E27FC236}">
                <a16:creationId xmlns:a16="http://schemas.microsoft.com/office/drawing/2014/main" id="{4C128F37-80EC-5B99-BE58-397074A208EE}"/>
              </a:ext>
            </a:extLst>
          </p:cNvPr>
          <p:cNvPicPr>
            <a:picLocks noChangeAspect="1"/>
          </p:cNvPicPr>
          <p:nvPr/>
        </p:nvPicPr>
        <p:blipFill>
          <a:blip r:embed="rId3"/>
          <a:stretch>
            <a:fillRect/>
          </a:stretch>
        </p:blipFill>
        <p:spPr>
          <a:xfrm>
            <a:off x="5409862" y="3788511"/>
            <a:ext cx="3676252" cy="2398497"/>
          </a:xfrm>
          <a:prstGeom prst="rect">
            <a:avLst/>
          </a:prstGeom>
        </p:spPr>
      </p:pic>
      <p:sp>
        <p:nvSpPr>
          <p:cNvPr id="8" name="文字方塊 7">
            <a:extLst>
              <a:ext uri="{FF2B5EF4-FFF2-40B4-BE49-F238E27FC236}">
                <a16:creationId xmlns:a16="http://schemas.microsoft.com/office/drawing/2014/main" id="{7EA2DA36-50F0-1369-B59B-C6FD52E9E4E0}"/>
              </a:ext>
            </a:extLst>
          </p:cNvPr>
          <p:cNvSpPr txBox="1"/>
          <p:nvPr/>
        </p:nvSpPr>
        <p:spPr>
          <a:xfrm>
            <a:off x="179510" y="1196752"/>
            <a:ext cx="7632850" cy="93871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Model Extraction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Goal:</a:t>
            </a:r>
            <a:r>
              <a:rPr lang="en-US" altLang="zh-TW" sz="1600" dirty="0"/>
              <a:t> Duplicate a functional clone model at a minimal cost purely through API queries, without accessing its weights.</a:t>
            </a:r>
          </a:p>
        </p:txBody>
      </p:sp>
      <p:sp>
        <p:nvSpPr>
          <p:cNvPr id="5" name="標題 1">
            <a:extLst>
              <a:ext uri="{FF2B5EF4-FFF2-40B4-BE49-F238E27FC236}">
                <a16:creationId xmlns:a16="http://schemas.microsoft.com/office/drawing/2014/main" id="{A309682D-9AD4-069E-1FFF-B4F842C47A94}"/>
              </a:ext>
            </a:extLst>
          </p:cNvPr>
          <p:cNvSpPr txBox="1">
            <a:spLocks/>
          </p:cNvSpPr>
          <p:nvPr/>
        </p:nvSpPr>
        <p:spPr>
          <a:xfrm>
            <a:off x="179511" y="116632"/>
            <a:ext cx="7920881"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Distillation Attack</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No LLM is safe, if it can be prompted.</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Involve extracting knowledge, from a LLM, extensively, querying it, through prompts.</a:t>
            </a:r>
          </a:p>
        </p:txBody>
      </p:sp>
      <p:pic>
        <p:nvPicPr>
          <p:cNvPr id="31" name="圖片 30">
            <a:extLst>
              <a:ext uri="{FF2B5EF4-FFF2-40B4-BE49-F238E27FC236}">
                <a16:creationId xmlns:a16="http://schemas.microsoft.com/office/drawing/2014/main" id="{AC21CB44-2E1A-CB98-7935-56713A15F8A8}"/>
              </a:ext>
            </a:extLst>
          </p:cNvPr>
          <p:cNvPicPr>
            <a:picLocks noChangeAspect="1"/>
          </p:cNvPicPr>
          <p:nvPr/>
        </p:nvPicPr>
        <p:blipFill>
          <a:blip r:embed="rId4"/>
          <a:stretch>
            <a:fillRect/>
          </a:stretch>
        </p:blipFill>
        <p:spPr>
          <a:xfrm>
            <a:off x="8406510" y="116632"/>
            <a:ext cx="552628" cy="548681"/>
          </a:xfrm>
          <a:prstGeom prst="rect">
            <a:avLst/>
          </a:prstGeom>
        </p:spPr>
      </p:pic>
      <p:sp>
        <p:nvSpPr>
          <p:cNvPr id="37" name="標題 1">
            <a:extLst>
              <a:ext uri="{FF2B5EF4-FFF2-40B4-BE49-F238E27FC236}">
                <a16:creationId xmlns:a16="http://schemas.microsoft.com/office/drawing/2014/main" id="{2B255F5A-4477-D36C-0620-7FB608BCB205}"/>
              </a:ext>
            </a:extLst>
          </p:cNvPr>
          <p:cNvSpPr txBox="1">
            <a:spLocks/>
          </p:cNvSpPr>
          <p:nvPr/>
        </p:nvSpPr>
        <p:spPr>
          <a:xfrm>
            <a:off x="8312648" y="692696"/>
            <a:ext cx="740352" cy="42522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Moonshot</a:t>
            </a:r>
          </a:p>
          <a:p>
            <a:pPr algn="ctr"/>
            <a:r>
              <a:rPr lang="zh-TW" altLang="en-US"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月之暗面</a:t>
            </a:r>
            <a:endPar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
        <p:nvSpPr>
          <p:cNvPr id="6" name="文字方塊 5">
            <a:extLst>
              <a:ext uri="{FF2B5EF4-FFF2-40B4-BE49-F238E27FC236}">
                <a16:creationId xmlns:a16="http://schemas.microsoft.com/office/drawing/2014/main" id="{B68066DC-B3C7-0B14-5687-E982E2B40C61}"/>
              </a:ext>
            </a:extLst>
          </p:cNvPr>
          <p:cNvSpPr txBox="1"/>
          <p:nvPr/>
        </p:nvSpPr>
        <p:spPr>
          <a:xfrm>
            <a:off x="192111" y="4976008"/>
            <a:ext cx="8767027" cy="1477328"/>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Counter Measures (Increase Attack’s Cost)</a:t>
            </a:r>
          </a:p>
          <a:p>
            <a:pPr marL="285750" indent="-285750">
              <a:lnSpc>
                <a:spcPts val="1800"/>
              </a:lnSpc>
              <a:spcBef>
                <a:spcPts val="600"/>
              </a:spcBef>
              <a:spcAft>
                <a:spcPts val="600"/>
              </a:spcAft>
              <a:buFont typeface="Wingdings" panose="05000000000000000000" pitchFamily="2" charset="2"/>
              <a:buChar char="Ø"/>
            </a:pPr>
            <a:r>
              <a:rPr lang="en-US" altLang="zh-TW" sz="1600" b="1" dirty="0"/>
              <a:t>Traffic Detection:</a:t>
            </a:r>
            <a:r>
              <a:rPr lang="en-US" altLang="zh-TW" sz="1600" dirty="0"/>
              <a:t> Semantic-space analysis, behavioral fingerprinting, metadata attribution.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Model Controls:</a:t>
            </a:r>
            <a:r>
              <a:rPr lang="en-US" altLang="zh-TW" sz="1600" dirty="0"/>
              <a:t> CoT removal, output perturbation, statistical watermarking.</a:t>
            </a:r>
          </a:p>
          <a:p>
            <a:pPr marL="285750" indent="-285750">
              <a:lnSpc>
                <a:spcPts val="1800"/>
              </a:lnSpc>
              <a:spcBef>
                <a:spcPts val="600"/>
              </a:spcBef>
              <a:spcAft>
                <a:spcPts val="600"/>
              </a:spcAft>
              <a:buFont typeface="Wingdings" panose="05000000000000000000" pitchFamily="2" charset="2"/>
              <a:buChar char="Ø"/>
            </a:pPr>
            <a:r>
              <a:rPr lang="en-US" altLang="zh-TW" sz="1600" b="1" dirty="0"/>
              <a:t>Verified Access:</a:t>
            </a:r>
            <a:r>
              <a:rPr lang="en-US" altLang="zh-TW" sz="1600" dirty="0"/>
              <a:t> Know Your Customer(KYC),</a:t>
            </a:r>
            <a:r>
              <a:rPr lang="zh-TW" altLang="en-US" sz="1600" dirty="0"/>
              <a:t> </a:t>
            </a:r>
            <a:r>
              <a:rPr lang="en-US" altLang="zh-TW" sz="1600" dirty="0"/>
              <a:t>Adaptive Verification, .</a:t>
            </a:r>
          </a:p>
        </p:txBody>
      </p:sp>
      <p:sp>
        <p:nvSpPr>
          <p:cNvPr id="12" name="文字方塊 11">
            <a:extLst>
              <a:ext uri="{FF2B5EF4-FFF2-40B4-BE49-F238E27FC236}">
                <a16:creationId xmlns:a16="http://schemas.microsoft.com/office/drawing/2014/main" id="{AD68F64B-4C1A-FFB2-F8B6-E5C3BC02DFF1}"/>
              </a:ext>
            </a:extLst>
          </p:cNvPr>
          <p:cNvSpPr txBox="1"/>
          <p:nvPr/>
        </p:nvSpPr>
        <p:spPr>
          <a:xfrm>
            <a:off x="2250420" y="2276872"/>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13" name="文字方塊 12">
            <a:extLst>
              <a:ext uri="{FF2B5EF4-FFF2-40B4-BE49-F238E27FC236}">
                <a16:creationId xmlns:a16="http://schemas.microsoft.com/office/drawing/2014/main" id="{CC7F5601-2E80-AC25-95B4-F7E7BEC74B21}"/>
              </a:ext>
            </a:extLst>
          </p:cNvPr>
          <p:cNvSpPr txBox="1"/>
          <p:nvPr/>
        </p:nvSpPr>
        <p:spPr>
          <a:xfrm>
            <a:off x="3347864" y="2276872"/>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14" name="文字方塊 13">
            <a:extLst>
              <a:ext uri="{FF2B5EF4-FFF2-40B4-BE49-F238E27FC236}">
                <a16:creationId xmlns:a16="http://schemas.microsoft.com/office/drawing/2014/main" id="{4CB5AFF6-8B07-F6E7-440D-1E3D64014E59}"/>
              </a:ext>
            </a:extLst>
          </p:cNvPr>
          <p:cNvSpPr txBox="1"/>
          <p:nvPr/>
        </p:nvSpPr>
        <p:spPr>
          <a:xfrm>
            <a:off x="4410660" y="2276872"/>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15" name="文字方塊 14">
            <a:extLst>
              <a:ext uri="{FF2B5EF4-FFF2-40B4-BE49-F238E27FC236}">
                <a16:creationId xmlns:a16="http://schemas.microsoft.com/office/drawing/2014/main" id="{6F8D15F0-F013-D9A3-EAA6-42797542C242}"/>
              </a:ext>
            </a:extLst>
          </p:cNvPr>
          <p:cNvSpPr txBox="1"/>
          <p:nvPr/>
        </p:nvSpPr>
        <p:spPr>
          <a:xfrm>
            <a:off x="5490780" y="2276872"/>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16" name="文字方塊 15">
            <a:extLst>
              <a:ext uri="{FF2B5EF4-FFF2-40B4-BE49-F238E27FC236}">
                <a16:creationId xmlns:a16="http://schemas.microsoft.com/office/drawing/2014/main" id="{289ADC5C-E475-83A1-2BFE-D74030E59EAA}"/>
              </a:ext>
            </a:extLst>
          </p:cNvPr>
          <p:cNvSpPr txBox="1"/>
          <p:nvPr/>
        </p:nvSpPr>
        <p:spPr>
          <a:xfrm>
            <a:off x="1187624" y="2280669"/>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17" name="右大括弧 16">
            <a:extLst>
              <a:ext uri="{FF2B5EF4-FFF2-40B4-BE49-F238E27FC236}">
                <a16:creationId xmlns:a16="http://schemas.microsoft.com/office/drawing/2014/main" id="{C76DBFF7-5BC4-34FB-B75B-C5F62F6D1CB2}"/>
              </a:ext>
            </a:extLst>
          </p:cNvPr>
          <p:cNvSpPr/>
          <p:nvPr/>
        </p:nvSpPr>
        <p:spPr>
          <a:xfrm rot="16200000">
            <a:off x="3667387" y="868541"/>
            <a:ext cx="153042" cy="453650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cxnSp>
        <p:nvCxnSpPr>
          <p:cNvPr id="21" name="直線單箭頭接點 20">
            <a:extLst>
              <a:ext uri="{FF2B5EF4-FFF2-40B4-BE49-F238E27FC236}">
                <a16:creationId xmlns:a16="http://schemas.microsoft.com/office/drawing/2014/main" id="{947BD5A8-BFD6-CEA1-275F-0CDDC5F60F07}"/>
              </a:ext>
            </a:extLst>
          </p:cNvPr>
          <p:cNvCxnSpPr>
            <a:cxnSpLocks/>
            <a:stCxn id="16" idx="3"/>
            <a:endCxn id="12" idx="1"/>
          </p:cNvCxnSpPr>
          <p:nvPr/>
        </p:nvCxnSpPr>
        <p:spPr>
          <a:xfrm flipV="1">
            <a:off x="2069044" y="2655030"/>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3" name="文字方塊 2">
            <a:extLst>
              <a:ext uri="{FF2B5EF4-FFF2-40B4-BE49-F238E27FC236}">
                <a16:creationId xmlns:a16="http://schemas.microsoft.com/office/drawing/2014/main" id="{4BD454AD-B65F-F8DD-468A-876DEE2E1BC9}"/>
              </a:ext>
            </a:extLst>
          </p:cNvPr>
          <p:cNvSpPr txBox="1"/>
          <p:nvPr/>
        </p:nvSpPr>
        <p:spPr>
          <a:xfrm>
            <a:off x="3347864" y="3284647"/>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4" name="文字方塊 3">
            <a:extLst>
              <a:ext uri="{FF2B5EF4-FFF2-40B4-BE49-F238E27FC236}">
                <a16:creationId xmlns:a16="http://schemas.microsoft.com/office/drawing/2014/main" id="{B5F82238-D902-CFE3-4CE5-E39555787C98}"/>
              </a:ext>
            </a:extLst>
          </p:cNvPr>
          <p:cNvSpPr txBox="1"/>
          <p:nvPr/>
        </p:nvSpPr>
        <p:spPr>
          <a:xfrm>
            <a:off x="4410660" y="3284647"/>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7" name="文字方塊 6">
            <a:extLst>
              <a:ext uri="{FF2B5EF4-FFF2-40B4-BE49-F238E27FC236}">
                <a16:creationId xmlns:a16="http://schemas.microsoft.com/office/drawing/2014/main" id="{DB702051-151F-B5C4-3443-6931F47A642F}"/>
              </a:ext>
            </a:extLst>
          </p:cNvPr>
          <p:cNvSpPr txBox="1"/>
          <p:nvPr/>
        </p:nvSpPr>
        <p:spPr>
          <a:xfrm>
            <a:off x="5490780" y="3284647"/>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10" name="右大括弧 9">
            <a:extLst>
              <a:ext uri="{FF2B5EF4-FFF2-40B4-BE49-F238E27FC236}">
                <a16:creationId xmlns:a16="http://schemas.microsoft.com/office/drawing/2014/main" id="{F5E88D55-1D29-981A-61C9-848487682A89}"/>
              </a:ext>
            </a:extLst>
          </p:cNvPr>
          <p:cNvSpPr/>
          <p:nvPr/>
        </p:nvSpPr>
        <p:spPr>
          <a:xfrm rot="5400000">
            <a:off x="3154669" y="3534807"/>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Tree>
    <p:extLst>
      <p:ext uri="{BB962C8B-B14F-4D97-AF65-F5344CB8AC3E}">
        <p14:creationId xmlns:p14="http://schemas.microsoft.com/office/powerpoint/2010/main" val="426768731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D6B827-3C5A-0C6D-82A1-0A51AF39DEC9}"/>
            </a:ext>
          </a:extLst>
        </p:cNvPr>
        <p:cNvGrpSpPr/>
        <p:nvPr/>
      </p:nvGrpSpPr>
      <p:grpSpPr>
        <a:xfrm>
          <a:off x="0" y="0"/>
          <a:ext cx="0" cy="0"/>
          <a:chOff x="0" y="0"/>
          <a:chExt cx="0" cy="0"/>
        </a:xfrm>
      </p:grpSpPr>
      <p:sp>
        <p:nvSpPr>
          <p:cNvPr id="7" name="文字方塊 6">
            <a:extLst>
              <a:ext uri="{FF2B5EF4-FFF2-40B4-BE49-F238E27FC236}">
                <a16:creationId xmlns:a16="http://schemas.microsoft.com/office/drawing/2014/main" id="{7F9FF304-1DDA-660D-42C3-2383214BEC52}"/>
              </a:ext>
            </a:extLst>
          </p:cNvPr>
          <p:cNvSpPr txBox="1"/>
          <p:nvPr/>
        </p:nvSpPr>
        <p:spPr>
          <a:xfrm>
            <a:off x="179512" y="1447616"/>
            <a:ext cx="5877058" cy="1708160"/>
          </a:xfrm>
          <a:prstGeom prst="rect">
            <a:avLst/>
          </a:prstGeom>
          <a:noFill/>
        </p:spPr>
        <p:txBody>
          <a:bodyPr wrap="square">
            <a:spAutoFit/>
          </a:bodyPr>
          <a:lstStyle/>
          <a:p>
            <a:pPr>
              <a:lnSpc>
                <a:spcPts val="1800"/>
              </a:lnSpc>
              <a:spcBef>
                <a:spcPts val="600"/>
              </a:spcBef>
              <a:spcAft>
                <a:spcPts val="600"/>
              </a:spcAft>
            </a:pPr>
            <a:r>
              <a:rPr lang="en-US" altLang="zh-TW" sz="2000" b="1" dirty="0"/>
              <a:t>These Gates</a:t>
            </a:r>
            <a:r>
              <a:rPr lang="zh-TW" altLang="en-US" sz="2000" b="1" dirty="0"/>
              <a:t> </a:t>
            </a:r>
            <a:r>
              <a:rPr lang="en-US" altLang="zh-TW" sz="2000" b="1" dirty="0"/>
              <a:t>regulate how information flows</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Forget Gate</a:t>
            </a:r>
            <a:r>
              <a:rPr lang="en-US" altLang="zh-TW" sz="1600" u="none" strike="noStrike" dirty="0">
                <a:effectLst/>
              </a:rPr>
              <a:t>: </a:t>
            </a:r>
            <a:r>
              <a:rPr lang="en-US" altLang="zh-TW" sz="1600" dirty="0"/>
              <a:t>D</a:t>
            </a:r>
            <a:r>
              <a:rPr lang="en-US" altLang="zh-TW" sz="1600" u="none" strike="noStrike" dirty="0">
                <a:effectLst/>
              </a:rPr>
              <a:t>ecides which past information to discard.</a:t>
            </a:r>
          </a:p>
          <a:p>
            <a:pPr marL="285750" indent="-285750">
              <a:lnSpc>
                <a:spcPts val="1800"/>
              </a:lnSpc>
              <a:spcBef>
                <a:spcPts val="600"/>
              </a:spcBef>
              <a:spcAft>
                <a:spcPts val="600"/>
              </a:spcAft>
              <a:buFont typeface="Wingdings" panose="05000000000000000000" pitchFamily="2" charset="2"/>
              <a:buChar char="Ø"/>
            </a:pPr>
            <a:r>
              <a:rPr lang="en-US" altLang="zh-TW" sz="1600" b="1" dirty="0"/>
              <a:t>Input Gate</a:t>
            </a:r>
            <a:r>
              <a:rPr lang="en-US" altLang="zh-TW" sz="1600" dirty="0"/>
              <a:t>: Controls the relevance of new information.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Output Gate</a:t>
            </a:r>
            <a:r>
              <a:rPr lang="en-US" altLang="zh-TW" sz="1600" dirty="0"/>
              <a:t>: Manages what information the LSTM unit should pass to the next time stamp.</a:t>
            </a:r>
          </a:p>
        </p:txBody>
      </p:sp>
      <p:sp>
        <p:nvSpPr>
          <p:cNvPr id="11" name="標題 1">
            <a:extLst>
              <a:ext uri="{FF2B5EF4-FFF2-40B4-BE49-F238E27FC236}">
                <a16:creationId xmlns:a16="http://schemas.microsoft.com/office/drawing/2014/main" id="{25055423-510F-6B54-91E6-4A5C3B129874}"/>
              </a:ext>
            </a:extLst>
          </p:cNvPr>
          <p:cNvSpPr txBox="1">
            <a:spLocks/>
          </p:cNvSpPr>
          <p:nvPr/>
        </p:nvSpPr>
        <p:spPr>
          <a:xfrm>
            <a:off x="179512" y="116632"/>
            <a:ext cx="8721352" cy="10905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ositional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ncoding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L</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p>
        </p:txBody>
      </p:sp>
      <p:sp>
        <p:nvSpPr>
          <p:cNvPr id="111" name="文字方塊 110">
            <a:extLst>
              <a:ext uri="{FF2B5EF4-FFF2-40B4-BE49-F238E27FC236}">
                <a16:creationId xmlns:a16="http://schemas.microsoft.com/office/drawing/2014/main" id="{5F3145DB-2AB6-E48C-CF45-AE37E8439159}"/>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8AD9189E-86F6-F113-C084-DB9CFA1ECEAB}"/>
              </a:ext>
            </a:extLst>
          </p:cNvPr>
          <p:cNvGraphicFramePr>
            <a:graphicFrameLocks noGrp="1"/>
          </p:cNvGraphicFramePr>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6" name="箭號: 向下 115">
            <a:extLst>
              <a:ext uri="{FF2B5EF4-FFF2-40B4-BE49-F238E27FC236}">
                <a16:creationId xmlns:a16="http://schemas.microsoft.com/office/drawing/2014/main" id="{60D2A9A5-D914-99FD-7230-FE8F481C9B25}"/>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矩形: 圓角 14">
            <a:extLst>
              <a:ext uri="{FF2B5EF4-FFF2-40B4-BE49-F238E27FC236}">
                <a16:creationId xmlns:a16="http://schemas.microsoft.com/office/drawing/2014/main" id="{5309D66F-393B-61F1-5ABA-2A95E1A60044}"/>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3C384C9D-E38C-B3F2-5A8E-6CCF9748AC87}"/>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8A9A2003-7F56-318B-5ECA-840E3AEC7CD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9FC26424-CF28-C126-AD62-BD56D03B5BA1}"/>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FABEA046-D813-5AA6-09CC-5A7E08C57319}"/>
              </a:ext>
            </a:extLst>
          </p:cNvPr>
          <p:cNvSpPr txBox="1"/>
          <p:nvPr/>
        </p:nvSpPr>
        <p:spPr>
          <a:xfrm>
            <a:off x="1259632" y="4297969"/>
            <a:ext cx="728464" cy="588210"/>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400" b="1" u="none" strike="noStrike" dirty="0">
                <a:effectLst/>
                <a:latin typeface="Gadugi" panose="020B0502040204020203" pitchFamily="34" charset="0"/>
                <a:ea typeface="Gadugi" panose="020B0502040204020203" pitchFamily="34" charset="0"/>
                <a:cs typeface="ADLaM Display" panose="02010000000000000000" pitchFamily="2" charset="0"/>
              </a:rPr>
              <a:t>SPE</a:t>
            </a:r>
          </a:p>
          <a:p>
            <a:pPr algn="ctr">
              <a:lnSpc>
                <a:spcPts val="1400"/>
              </a:lnSpc>
              <a:buNone/>
            </a:pPr>
            <a:r>
              <a:rPr lang="en-US" altLang="zh-TW" sz="1200" dirty="0">
                <a:latin typeface="Gadugi" panose="020B0502040204020203" pitchFamily="34" charset="0"/>
                <a:ea typeface="Gadugi" panose="020B0502040204020203" pitchFamily="34" charset="0"/>
                <a:cs typeface="ADLaM Display" panose="02010000000000000000" pitchFamily="2" charset="0"/>
              </a:rPr>
              <a:t>Sinusoidal</a:t>
            </a:r>
          </a:p>
        </p:txBody>
      </p:sp>
      <p:sp>
        <p:nvSpPr>
          <p:cNvPr id="18" name="文字方塊 17">
            <a:extLst>
              <a:ext uri="{FF2B5EF4-FFF2-40B4-BE49-F238E27FC236}">
                <a16:creationId xmlns:a16="http://schemas.microsoft.com/office/drawing/2014/main" id="{5C00EC41-1F49-57EC-70E4-CA737D6660A3}"/>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8B0D5418-C89E-4F45-E00A-61B05D299A5E}"/>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sp>
        <p:nvSpPr>
          <p:cNvPr id="28" name="文字方塊 27">
            <a:extLst>
              <a:ext uri="{FF2B5EF4-FFF2-40B4-BE49-F238E27FC236}">
                <a16:creationId xmlns:a16="http://schemas.microsoft.com/office/drawing/2014/main" id="{EC39264B-02B4-34B1-88B0-25644E4FEA06}"/>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8D97DBDB-40A5-B54E-3CB7-471311F434C5}"/>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C451E27D-EDC7-6CDC-E068-D8157F0F92AD}"/>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3AAB39FA-7DE5-6A30-EC56-ABE86FDDFD49}"/>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6BFC1626-0B48-FD81-8732-FF7961FAB391}"/>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B2FCB297-A73A-AFE8-8142-1340F17E8ABA}"/>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FF15A0C-BBA2-796B-9446-776B94FC23B4}"/>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8" name="文字方塊 7">
            <a:extLst>
              <a:ext uri="{FF2B5EF4-FFF2-40B4-BE49-F238E27FC236}">
                <a16:creationId xmlns:a16="http://schemas.microsoft.com/office/drawing/2014/main" id="{2BD819E8-714A-ABF7-E8C8-8341CC13E86E}"/>
              </a:ext>
            </a:extLst>
          </p:cNvPr>
          <p:cNvSpPr txBox="1"/>
          <p:nvPr/>
        </p:nvSpPr>
        <p:spPr>
          <a:xfrm>
            <a:off x="2403376" y="4293096"/>
            <a:ext cx="728464" cy="588210"/>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400" b="1" u="none" strike="noStrike" dirty="0" err="1">
                <a:effectLst/>
                <a:latin typeface="Gadugi" panose="020B0502040204020203" pitchFamily="34" charset="0"/>
                <a:ea typeface="Gadugi" panose="020B0502040204020203" pitchFamily="34" charset="0"/>
                <a:cs typeface="ADLaM Display" panose="02010000000000000000" pitchFamily="2" charset="0"/>
              </a:rPr>
              <a:t>Ro</a:t>
            </a:r>
            <a:r>
              <a:rPr lang="en-US" altLang="zh-TW" sz="1400" b="1" dirty="0" err="1">
                <a:latin typeface="Gadugi" panose="020B0502040204020203" pitchFamily="34" charset="0"/>
                <a:ea typeface="Gadugi" panose="020B0502040204020203" pitchFamily="34" charset="0"/>
                <a:cs typeface="ADLaM Display" panose="02010000000000000000" pitchFamily="2" charset="0"/>
              </a:rPr>
              <a:t>PE</a:t>
            </a:r>
            <a:endParaRPr lang="en-US" altLang="zh-TW" sz="1400" b="1" dirty="0">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200" u="none" strike="noStrike" dirty="0">
                <a:effectLst/>
                <a:latin typeface="Gadugi" panose="020B0502040204020203" pitchFamily="34" charset="0"/>
                <a:ea typeface="Gadugi" panose="020B0502040204020203" pitchFamily="34" charset="0"/>
                <a:cs typeface="ADLaM Display" panose="02010000000000000000" pitchFamily="2" charset="0"/>
              </a:rPr>
              <a:t>Rotary</a:t>
            </a:r>
          </a:p>
        </p:txBody>
      </p:sp>
      <p:sp>
        <p:nvSpPr>
          <p:cNvPr id="3" name="文字方塊 2">
            <a:extLst>
              <a:ext uri="{FF2B5EF4-FFF2-40B4-BE49-F238E27FC236}">
                <a16:creationId xmlns:a16="http://schemas.microsoft.com/office/drawing/2014/main" id="{3A75B14B-45FF-6974-21BD-63E2710FC699}"/>
              </a:ext>
            </a:extLst>
          </p:cNvPr>
          <p:cNvSpPr txBox="1"/>
          <p:nvPr/>
        </p:nvSpPr>
        <p:spPr>
          <a:xfrm>
            <a:off x="3642332" y="4293096"/>
            <a:ext cx="728464" cy="588210"/>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400" b="1" u="none" strike="noStrike" dirty="0" err="1">
                <a:effectLst/>
                <a:latin typeface="Gadugi" panose="020B0502040204020203" pitchFamily="34" charset="0"/>
                <a:ea typeface="Gadugi" panose="020B0502040204020203" pitchFamily="34" charset="0"/>
                <a:cs typeface="ADLaM Display" panose="02010000000000000000" pitchFamily="2" charset="0"/>
              </a:rPr>
              <a:t>No</a:t>
            </a:r>
            <a:r>
              <a:rPr lang="en-US" altLang="zh-TW" sz="1400" b="1" dirty="0" err="1">
                <a:latin typeface="Gadugi" panose="020B0502040204020203" pitchFamily="34" charset="0"/>
                <a:ea typeface="Gadugi" panose="020B0502040204020203" pitchFamily="34" charset="0"/>
                <a:cs typeface="ADLaM Display" panose="02010000000000000000" pitchFamily="2" charset="0"/>
              </a:rPr>
              <a:t>PE</a:t>
            </a:r>
            <a:endParaRPr lang="en-US" altLang="zh-TW" sz="1400" b="1" dirty="0">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200" u="none" strike="noStrike" dirty="0">
                <a:effectLst/>
                <a:latin typeface="Gadugi" panose="020B0502040204020203" pitchFamily="34" charset="0"/>
                <a:ea typeface="Gadugi" panose="020B0502040204020203" pitchFamily="34" charset="0"/>
                <a:cs typeface="ADLaM Display" panose="02010000000000000000" pitchFamily="2" charset="0"/>
              </a:rPr>
              <a:t>+</a:t>
            </a:r>
            <a:r>
              <a:rPr lang="en-US" altLang="zh-TW" sz="1200" u="none" strike="noStrike" dirty="0" err="1">
                <a:effectLst/>
                <a:latin typeface="Gadugi" panose="020B0502040204020203" pitchFamily="34" charset="0"/>
                <a:ea typeface="Gadugi" panose="020B0502040204020203" pitchFamily="34" charset="0"/>
                <a:cs typeface="ADLaM Display" panose="02010000000000000000" pitchFamily="2" charset="0"/>
              </a:rPr>
              <a:t>RoPE</a:t>
            </a:r>
            <a:endParaRPr lang="en-US" altLang="zh-TW" sz="12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5" name="文字方塊 4">
            <a:extLst>
              <a:ext uri="{FF2B5EF4-FFF2-40B4-BE49-F238E27FC236}">
                <a16:creationId xmlns:a16="http://schemas.microsoft.com/office/drawing/2014/main" id="{F05B033D-66DB-B80C-07C1-053F40DC83E8}"/>
              </a:ext>
            </a:extLst>
          </p:cNvPr>
          <p:cNvSpPr txBox="1"/>
          <p:nvPr/>
        </p:nvSpPr>
        <p:spPr>
          <a:xfrm>
            <a:off x="4878051" y="4293096"/>
            <a:ext cx="728464" cy="588210"/>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400" b="1" u="none" strike="noStrike" dirty="0" err="1">
                <a:effectLst/>
                <a:latin typeface="Gadugi" panose="020B0502040204020203" pitchFamily="34" charset="0"/>
                <a:ea typeface="Gadugi" panose="020B0502040204020203" pitchFamily="34" charset="0"/>
                <a:cs typeface="ADLaM Display" panose="02010000000000000000" pitchFamily="2" charset="0"/>
              </a:rPr>
              <a:t>No</a:t>
            </a:r>
            <a:r>
              <a:rPr lang="en-US" altLang="zh-TW" sz="1400" b="1" dirty="0" err="1">
                <a:latin typeface="Gadugi" panose="020B0502040204020203" pitchFamily="34" charset="0"/>
                <a:ea typeface="Gadugi" panose="020B0502040204020203" pitchFamily="34" charset="0"/>
                <a:cs typeface="ADLaM Display" panose="02010000000000000000" pitchFamily="2" charset="0"/>
              </a:rPr>
              <a:t>PE</a:t>
            </a:r>
            <a:endParaRPr lang="en-US" altLang="zh-TW" sz="1400" b="1" dirty="0">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200" dirty="0">
                <a:latin typeface="Gadugi" panose="020B0502040204020203" pitchFamily="34" charset="0"/>
                <a:ea typeface="Gadugi" panose="020B0502040204020203" pitchFamily="34" charset="0"/>
                <a:cs typeface="ADLaM Display" panose="02010000000000000000" pitchFamily="2" charset="0"/>
              </a:rPr>
              <a:t>Everywhere</a:t>
            </a:r>
            <a:endParaRPr lang="en-US" altLang="zh-TW" sz="12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Tree>
    <p:extLst>
      <p:ext uri="{BB962C8B-B14F-4D97-AF65-F5344CB8AC3E}">
        <p14:creationId xmlns:p14="http://schemas.microsoft.com/office/powerpoint/2010/main" val="103034474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5CC3DF-70C2-522A-0FDF-2582632E1FB9}"/>
            </a:ext>
          </a:extLst>
        </p:cNvPr>
        <p:cNvGrpSpPr/>
        <p:nvPr/>
      </p:nvGrpSpPr>
      <p:grpSpPr>
        <a:xfrm>
          <a:off x="0" y="0"/>
          <a:ext cx="0" cy="0"/>
          <a:chOff x="0" y="0"/>
          <a:chExt cx="0" cy="0"/>
        </a:xfrm>
      </p:grpSpPr>
      <p:sp>
        <p:nvSpPr>
          <p:cNvPr id="11" name="標題 1">
            <a:extLst>
              <a:ext uri="{FF2B5EF4-FFF2-40B4-BE49-F238E27FC236}">
                <a16:creationId xmlns:a16="http://schemas.microsoft.com/office/drawing/2014/main" id="{747548ED-9990-3C5B-8C16-2521E06BE428}"/>
              </a:ext>
            </a:extLst>
          </p:cNvPr>
          <p:cNvSpPr txBox="1">
            <a:spLocks/>
          </p:cNvSpPr>
          <p:nvPr/>
        </p:nvSpPr>
        <p:spPr>
          <a:xfrm>
            <a:off x="179512" y="116632"/>
            <a:ext cx="8721352" cy="10905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No 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ositional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ncoding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L</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p>
        </p:txBody>
      </p:sp>
      <p:pic>
        <p:nvPicPr>
          <p:cNvPr id="5" name="圖片 4">
            <a:extLst>
              <a:ext uri="{FF2B5EF4-FFF2-40B4-BE49-F238E27FC236}">
                <a16:creationId xmlns:a16="http://schemas.microsoft.com/office/drawing/2014/main" id="{8095A884-8EAC-6F06-810B-C83343A15BDA}"/>
              </a:ext>
            </a:extLst>
          </p:cNvPr>
          <p:cNvPicPr>
            <a:picLocks noChangeAspect="1"/>
          </p:cNvPicPr>
          <p:nvPr/>
        </p:nvPicPr>
        <p:blipFill>
          <a:blip r:embed="rId3"/>
          <a:stretch>
            <a:fillRect/>
          </a:stretch>
        </p:blipFill>
        <p:spPr>
          <a:xfrm>
            <a:off x="0" y="1196752"/>
            <a:ext cx="4956040" cy="2304256"/>
          </a:xfrm>
          <a:prstGeom prst="rect">
            <a:avLst/>
          </a:prstGeom>
        </p:spPr>
      </p:pic>
      <p:pic>
        <p:nvPicPr>
          <p:cNvPr id="10" name="圖片 9">
            <a:extLst>
              <a:ext uri="{FF2B5EF4-FFF2-40B4-BE49-F238E27FC236}">
                <a16:creationId xmlns:a16="http://schemas.microsoft.com/office/drawing/2014/main" id="{DD86CA32-970D-2496-47EF-AAFC418ABEFB}"/>
              </a:ext>
            </a:extLst>
          </p:cNvPr>
          <p:cNvPicPr>
            <a:picLocks noChangeAspect="1"/>
          </p:cNvPicPr>
          <p:nvPr/>
        </p:nvPicPr>
        <p:blipFill>
          <a:blip r:embed="rId4"/>
          <a:stretch>
            <a:fillRect/>
          </a:stretch>
        </p:blipFill>
        <p:spPr>
          <a:xfrm>
            <a:off x="1" y="4331484"/>
            <a:ext cx="4956040" cy="2121852"/>
          </a:xfrm>
          <a:prstGeom prst="rect">
            <a:avLst/>
          </a:prstGeom>
        </p:spPr>
      </p:pic>
      <p:pic>
        <p:nvPicPr>
          <p:cNvPr id="17" name="圖片 16">
            <a:extLst>
              <a:ext uri="{FF2B5EF4-FFF2-40B4-BE49-F238E27FC236}">
                <a16:creationId xmlns:a16="http://schemas.microsoft.com/office/drawing/2014/main" id="{37162C3A-7B4F-0FFF-EF3C-FCB377ACAEDC}"/>
              </a:ext>
            </a:extLst>
          </p:cNvPr>
          <p:cNvPicPr>
            <a:picLocks noChangeAspect="1"/>
          </p:cNvPicPr>
          <p:nvPr/>
        </p:nvPicPr>
        <p:blipFill>
          <a:blip r:embed="rId5"/>
          <a:stretch>
            <a:fillRect/>
          </a:stretch>
        </p:blipFill>
        <p:spPr>
          <a:xfrm>
            <a:off x="4001637" y="24780"/>
            <a:ext cx="5125570" cy="1848950"/>
          </a:xfrm>
          <a:prstGeom prst="rect">
            <a:avLst/>
          </a:prstGeom>
        </p:spPr>
      </p:pic>
      <p:pic>
        <p:nvPicPr>
          <p:cNvPr id="22" name="圖片 21">
            <a:extLst>
              <a:ext uri="{FF2B5EF4-FFF2-40B4-BE49-F238E27FC236}">
                <a16:creationId xmlns:a16="http://schemas.microsoft.com/office/drawing/2014/main" id="{7E69E454-371F-867B-3720-89CEABC1F2BC}"/>
              </a:ext>
            </a:extLst>
          </p:cNvPr>
          <p:cNvPicPr>
            <a:picLocks noChangeAspect="1"/>
          </p:cNvPicPr>
          <p:nvPr/>
        </p:nvPicPr>
        <p:blipFill>
          <a:blip r:embed="rId6"/>
          <a:stretch>
            <a:fillRect/>
          </a:stretch>
        </p:blipFill>
        <p:spPr>
          <a:xfrm>
            <a:off x="4018429" y="3068960"/>
            <a:ext cx="5125571" cy="2215620"/>
          </a:xfrm>
          <a:prstGeom prst="rect">
            <a:avLst/>
          </a:prstGeom>
        </p:spPr>
      </p:pic>
      <p:pic>
        <p:nvPicPr>
          <p:cNvPr id="24" name="圖片 23">
            <a:extLst>
              <a:ext uri="{FF2B5EF4-FFF2-40B4-BE49-F238E27FC236}">
                <a16:creationId xmlns:a16="http://schemas.microsoft.com/office/drawing/2014/main" id="{734FBE87-E2F9-CC6D-45DC-14DA7E8ACD75}"/>
              </a:ext>
            </a:extLst>
          </p:cNvPr>
          <p:cNvPicPr>
            <a:picLocks noChangeAspect="1"/>
          </p:cNvPicPr>
          <p:nvPr/>
        </p:nvPicPr>
        <p:blipFill>
          <a:blip r:embed="rId7"/>
          <a:stretch>
            <a:fillRect/>
          </a:stretch>
        </p:blipFill>
        <p:spPr>
          <a:xfrm>
            <a:off x="3275856" y="6324113"/>
            <a:ext cx="5851351" cy="480202"/>
          </a:xfrm>
          <a:prstGeom prst="rect">
            <a:avLst/>
          </a:prstGeom>
        </p:spPr>
      </p:pic>
    </p:spTree>
    <p:extLst>
      <p:ext uri="{BB962C8B-B14F-4D97-AF65-F5344CB8AC3E}">
        <p14:creationId xmlns:p14="http://schemas.microsoft.com/office/powerpoint/2010/main" val="31877690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56F9624E-C0C3-0C2E-AA84-84A132024A6C}"/>
              </a:ext>
            </a:extLst>
          </p:cNvPr>
          <p:cNvPicPr>
            <a:picLocks noChangeAspect="1"/>
          </p:cNvPicPr>
          <p:nvPr/>
        </p:nvPicPr>
        <p:blipFill>
          <a:blip r:embed="rId3"/>
          <a:stretch>
            <a:fillRect/>
          </a:stretch>
        </p:blipFill>
        <p:spPr>
          <a:xfrm>
            <a:off x="683568" y="3573016"/>
            <a:ext cx="6096851" cy="2724530"/>
          </a:xfrm>
          <a:prstGeom prst="rect">
            <a:avLst/>
          </a:prstGeom>
        </p:spPr>
      </p:pic>
      <p:sp>
        <p:nvSpPr>
          <p:cNvPr id="5" name="文字方塊 4">
            <a:extLst>
              <a:ext uri="{FF2B5EF4-FFF2-40B4-BE49-F238E27FC236}">
                <a16:creationId xmlns:a16="http://schemas.microsoft.com/office/drawing/2014/main" id="{FFEF965C-25D3-1E87-CB7E-E818BAC49D4D}"/>
              </a:ext>
            </a:extLst>
          </p:cNvPr>
          <p:cNvSpPr txBox="1"/>
          <p:nvPr/>
        </p:nvSpPr>
        <p:spPr>
          <a:xfrm>
            <a:off x="467544" y="560454"/>
            <a:ext cx="8424936" cy="553998"/>
          </a:xfrm>
          <a:prstGeom prst="rect">
            <a:avLst/>
          </a:prstGeom>
          <a:noFill/>
        </p:spPr>
        <p:txBody>
          <a:bodyPr wrap="square">
            <a:spAutoFit/>
          </a:bodyPr>
          <a:lstStyle/>
          <a:p>
            <a:r>
              <a:rPr lang="zh-TW" altLang="zh-TW" sz="1200" b="1" u="none" strike="noStrike" dirty="0">
                <a:effectLst/>
                <a:latin typeface="+mn-lt"/>
              </a:rPr>
              <a:t>DeepSeek 是把 NoPE 與 RoPE 做「同層拆分」；而 Kimi 則是走得更極端，在特定層（或全模型）直接全面拔除 RoPE，改用別的機制來遞補位置資訊</a:t>
            </a:r>
            <a:r>
              <a:rPr lang="zh-TW" altLang="zh-TW" dirty="0"/>
              <a:t>。</a:t>
            </a:r>
            <a:endParaRPr lang="zh-TW" altLang="en-US" dirty="0"/>
          </a:p>
        </p:txBody>
      </p:sp>
    </p:spTree>
    <p:extLst>
      <p:ext uri="{BB962C8B-B14F-4D97-AF65-F5344CB8AC3E}">
        <p14:creationId xmlns:p14="http://schemas.microsoft.com/office/powerpoint/2010/main" val="24500021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A38658-2B3C-8DE5-45DA-23737A42A4AD}"/>
            </a:ext>
          </a:extLst>
        </p:cNvPr>
        <p:cNvGrpSpPr/>
        <p:nvPr/>
      </p:nvGrpSpPr>
      <p:grpSpPr>
        <a:xfrm>
          <a:off x="0" y="0"/>
          <a:ext cx="0" cy="0"/>
          <a:chOff x="0" y="0"/>
          <a:chExt cx="0" cy="0"/>
        </a:xfrm>
      </p:grpSpPr>
      <p:pic>
        <p:nvPicPr>
          <p:cNvPr id="2" name="圖片 1">
            <a:extLst>
              <a:ext uri="{FF2B5EF4-FFF2-40B4-BE49-F238E27FC236}">
                <a16:creationId xmlns:a16="http://schemas.microsoft.com/office/drawing/2014/main" id="{EC336CA0-741B-90B5-2048-06767EC967D4}"/>
              </a:ext>
            </a:extLst>
          </p:cNvPr>
          <p:cNvPicPr>
            <a:picLocks noChangeAspect="1"/>
          </p:cNvPicPr>
          <p:nvPr/>
        </p:nvPicPr>
        <p:blipFill>
          <a:blip r:embed="rId3"/>
          <a:stretch>
            <a:fillRect/>
          </a:stretch>
        </p:blipFill>
        <p:spPr>
          <a:xfrm>
            <a:off x="8224137" y="37246"/>
            <a:ext cx="740352" cy="740352"/>
          </a:xfrm>
          <a:prstGeom prst="rect">
            <a:avLst/>
          </a:prstGeom>
        </p:spPr>
      </p:pic>
      <p:sp>
        <p:nvSpPr>
          <p:cNvPr id="5" name="標題 1">
            <a:extLst>
              <a:ext uri="{FF2B5EF4-FFF2-40B4-BE49-F238E27FC236}">
                <a16:creationId xmlns:a16="http://schemas.microsoft.com/office/drawing/2014/main" id="{960A8EDD-0A24-CE7E-CD63-1B7D075BCAA1}"/>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6" name="標題 1">
            <a:extLst>
              <a:ext uri="{FF2B5EF4-FFF2-40B4-BE49-F238E27FC236}">
                <a16:creationId xmlns:a16="http://schemas.microsoft.com/office/drawing/2014/main" id="{533B2B92-2B9A-4E68-37FC-4D4796F63F0C}"/>
              </a:ext>
            </a:extLst>
          </p:cNvPr>
          <p:cNvSpPr txBox="1">
            <a:spLocks/>
          </p:cNvSpPr>
          <p:nvPr/>
        </p:nvSpPr>
        <p:spPr>
          <a:xfrm>
            <a:off x="8224137" y="620689"/>
            <a:ext cx="740352" cy="5040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DeepSeek</a:t>
            </a:r>
          </a:p>
          <a:p>
            <a:pPr algn="ctr"/>
            <a:r>
              <a:rPr lang="zh-TW" altLang="en-US"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深度求索</a:t>
            </a:r>
            <a:endPar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algn="ctr"/>
            <a:r>
              <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2023</a:t>
            </a:r>
          </a:p>
        </p:txBody>
      </p:sp>
      <p:sp>
        <p:nvSpPr>
          <p:cNvPr id="7" name="文字方塊 6">
            <a:extLst>
              <a:ext uri="{FF2B5EF4-FFF2-40B4-BE49-F238E27FC236}">
                <a16:creationId xmlns:a16="http://schemas.microsoft.com/office/drawing/2014/main" id="{1887142E-F390-F7B5-0F57-E6099827F1D5}"/>
              </a:ext>
            </a:extLst>
          </p:cNvPr>
          <p:cNvSpPr txBox="1"/>
          <p:nvPr/>
        </p:nvSpPr>
        <p:spPr>
          <a:xfrm>
            <a:off x="179510" y="1377042"/>
            <a:ext cx="8280922" cy="2400657"/>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DeepSeek : </a:t>
            </a:r>
            <a:r>
              <a:rPr lang="en-US" altLang="zh-TW" sz="1600" dirty="0"/>
              <a:t>Funded by High-Flyer Quant, CEO(</a:t>
            </a:r>
            <a:r>
              <a:rPr lang="zh-TW" altLang="en-US" sz="1400" dirty="0">
                <a:solidFill>
                  <a:prstClr val="black"/>
                </a:solidFill>
                <a:latin typeface="微軟正黑體" panose="020B0604030504040204" pitchFamily="34" charset="-120"/>
                <a:ea typeface="微軟正黑體" panose="020B0604030504040204" pitchFamily="34" charset="-120"/>
              </a:rPr>
              <a:t>梁文鋒</a:t>
            </a:r>
            <a:r>
              <a:rPr lang="en-US" altLang="zh-TW" sz="1400" dirty="0">
                <a:solidFill>
                  <a:prstClr val="black"/>
                </a:solidFill>
                <a:latin typeface="微軟正黑體" panose="020B0604030504040204" pitchFamily="34" charset="-120"/>
                <a:ea typeface="微軟正黑體" panose="020B0604030504040204" pitchFamily="34" charset="-120"/>
              </a:rPr>
              <a:t>1985</a:t>
            </a:r>
            <a:r>
              <a:rPr lang="zh-TW" altLang="en-US" sz="1400" dirty="0">
                <a:solidFill>
                  <a:prstClr val="black"/>
                </a:solidFill>
                <a:latin typeface="微軟正黑體" panose="020B0604030504040204" pitchFamily="34" charset="-120"/>
                <a:ea typeface="微軟正黑體" panose="020B0604030504040204" pitchFamily="34" charset="-120"/>
              </a:rPr>
              <a:t>浙江大學</a:t>
            </a:r>
            <a:r>
              <a:rPr lang="en-US" altLang="zh-TW" sz="1400" dirty="0">
                <a:solidFill>
                  <a:prstClr val="black"/>
                </a:solidFill>
                <a:latin typeface="微軟正黑體" panose="020B0604030504040204" pitchFamily="34" charset="-120"/>
                <a:ea typeface="微軟正黑體" panose="020B0604030504040204" pitchFamily="34" charset="-120"/>
              </a:rPr>
              <a:t>-</a:t>
            </a:r>
            <a:r>
              <a:rPr lang="en-US" altLang="zh-TW" sz="1600" dirty="0"/>
              <a:t>).</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buFont typeface="Arial" panose="020B0604020202020204" pitchFamily="34" charset="0"/>
              <a:buChar char="•"/>
            </a:pPr>
            <a:r>
              <a:rPr lang="en-US" altLang="zh-TW" sz="1600" dirty="0"/>
              <a:t>V2 Multi-head Latent Attention(</a:t>
            </a:r>
            <a:r>
              <a:rPr lang="en-US" altLang="zh-TW" sz="1600" b="1" dirty="0"/>
              <a:t>MLA</a:t>
            </a:r>
            <a:r>
              <a:rPr lang="en-US" altLang="zh-TW" sz="1600" dirty="0"/>
              <a:t>): Reduced KV cache usage by 90%.</a:t>
            </a:r>
          </a:p>
          <a:p>
            <a:pPr marL="742950" lvl="1" indent="-285750">
              <a:lnSpc>
                <a:spcPts val="1800"/>
              </a:lnSpc>
              <a:spcBef>
                <a:spcPts val="600"/>
              </a:spcBef>
              <a:buFont typeface="Arial" panose="020B0604020202020204" pitchFamily="34" charset="0"/>
              <a:buChar char="•"/>
            </a:pPr>
            <a:r>
              <a:rPr lang="en-US" altLang="zh-TW" sz="1600" dirty="0"/>
              <a:t>V3 </a:t>
            </a:r>
            <a:r>
              <a:rPr lang="en-US" altLang="zh-TW" sz="1600" b="1" dirty="0"/>
              <a:t>DSA</a:t>
            </a:r>
            <a:r>
              <a:rPr lang="en-US" altLang="zh-TW" sz="1600" dirty="0"/>
              <a:t>: Select Top-K token via lighting Indexer.</a:t>
            </a:r>
          </a:p>
          <a:p>
            <a:pPr marL="742950" lvl="1" indent="-285750">
              <a:lnSpc>
                <a:spcPts val="1800"/>
              </a:lnSpc>
              <a:spcBef>
                <a:spcPts val="600"/>
              </a:spcBef>
              <a:buFont typeface="Arial" panose="020B0604020202020204" pitchFamily="34" charset="0"/>
              <a:buChar char="•"/>
            </a:pPr>
            <a:r>
              <a:rPr lang="en-US" altLang="zh-TW" sz="1600" dirty="0"/>
              <a:t>V4 Hybrid MHA: Sliding Window(</a:t>
            </a:r>
            <a:r>
              <a:rPr lang="en-US" altLang="zh-TW" sz="1600" b="1" dirty="0"/>
              <a:t>SWA</a:t>
            </a:r>
            <a:r>
              <a:rPr lang="en-US" altLang="zh-TW" sz="1600" dirty="0"/>
              <a:t>), Heavily(</a:t>
            </a:r>
            <a:r>
              <a:rPr lang="en-US" altLang="zh-TW" sz="1600" b="1" dirty="0"/>
              <a:t>HCA</a:t>
            </a:r>
            <a:r>
              <a:rPr lang="en-US" altLang="zh-TW" sz="1600" dirty="0"/>
              <a:t>), Compressed Sparse(</a:t>
            </a:r>
            <a:r>
              <a:rPr lang="en-US" altLang="zh-TW" sz="1600" b="1" dirty="0"/>
              <a:t>CSA</a:t>
            </a:r>
            <a:r>
              <a:rPr lang="en-US" altLang="zh-TW" sz="1600" dirty="0"/>
              <a:t>).</a:t>
            </a:r>
          </a:p>
          <a:p>
            <a:pPr marL="742950" lvl="1" indent="-285750">
              <a:lnSpc>
                <a:spcPts val="1800"/>
              </a:lnSpc>
              <a:spcBef>
                <a:spcPts val="600"/>
              </a:spcBef>
              <a:buFont typeface="Arial" panose="020B0604020202020204" pitchFamily="34" charset="0"/>
              <a:buChar char="•"/>
            </a:pPr>
            <a:r>
              <a:rPr lang="en-US" altLang="zh-TW" sz="1600" dirty="0"/>
              <a:t>V4 Manifold-constrained Hyper-Connections (</a:t>
            </a:r>
            <a:r>
              <a:rPr lang="en-US" altLang="zh-TW" sz="1600" b="1" dirty="0" err="1"/>
              <a:t>M</a:t>
            </a:r>
            <a:r>
              <a:rPr lang="en-US" altLang="zh-TW" sz="1600" dirty="0" err="1">
                <a:solidFill>
                  <a:schemeClr val="tx1">
                    <a:lumMod val="50000"/>
                    <a:lumOff val="50000"/>
                  </a:schemeClr>
                </a:solidFill>
              </a:rPr>
              <a:t>c</a:t>
            </a:r>
            <a:r>
              <a:rPr lang="en-US" altLang="zh-TW" sz="1600" b="1" dirty="0" err="1"/>
              <a:t>HC</a:t>
            </a:r>
            <a:r>
              <a:rPr lang="en-US" altLang="zh-TW" sz="1600" dirty="0"/>
              <a:t>): Replacing residual stream.</a:t>
            </a:r>
          </a:p>
        </p:txBody>
      </p:sp>
      <p:sp>
        <p:nvSpPr>
          <p:cNvPr id="24" name="標題 1">
            <a:extLst>
              <a:ext uri="{FF2B5EF4-FFF2-40B4-BE49-F238E27FC236}">
                <a16:creationId xmlns:a16="http://schemas.microsoft.com/office/drawing/2014/main" id="{1EAB493B-DEBA-4B6C-68E5-EBAB1AC6BF46}"/>
              </a:ext>
            </a:extLst>
          </p:cNvPr>
          <p:cNvSpPr txBox="1">
            <a:spLocks/>
          </p:cNvSpPr>
          <p:nvPr/>
        </p:nvSpPr>
        <p:spPr>
          <a:xfrm>
            <a:off x="8224137" y="1844824"/>
            <a:ext cx="740352" cy="56446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High-Flyer</a:t>
            </a:r>
          </a:p>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Quant</a:t>
            </a:r>
          </a:p>
          <a:p>
            <a:pPr algn="ctr"/>
            <a:r>
              <a:rPr lang="zh-TW" altLang="en-US"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幻方量化</a:t>
            </a:r>
            <a:endPar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2015</a:t>
            </a:r>
          </a:p>
        </p:txBody>
      </p:sp>
      <p:pic>
        <p:nvPicPr>
          <p:cNvPr id="25" name="圖片 24">
            <a:extLst>
              <a:ext uri="{FF2B5EF4-FFF2-40B4-BE49-F238E27FC236}">
                <a16:creationId xmlns:a16="http://schemas.microsoft.com/office/drawing/2014/main" id="{E7B9DB21-ADDA-F8F3-EE59-DFABC84DD3AA}"/>
              </a:ext>
            </a:extLst>
          </p:cNvPr>
          <p:cNvPicPr>
            <a:picLocks noChangeAspect="1"/>
          </p:cNvPicPr>
          <p:nvPr/>
        </p:nvPicPr>
        <p:blipFill>
          <a:blip r:embed="rId4"/>
          <a:stretch>
            <a:fillRect/>
          </a:stretch>
        </p:blipFill>
        <p:spPr>
          <a:xfrm>
            <a:off x="8312078" y="1280355"/>
            <a:ext cx="564469" cy="564469"/>
          </a:xfrm>
          <a:prstGeom prst="rect">
            <a:avLst/>
          </a:prstGeom>
        </p:spPr>
      </p:pic>
      <p:graphicFrame>
        <p:nvGraphicFramePr>
          <p:cNvPr id="8" name="表格 7">
            <a:extLst>
              <a:ext uri="{FF2B5EF4-FFF2-40B4-BE49-F238E27FC236}">
                <a16:creationId xmlns:a16="http://schemas.microsoft.com/office/drawing/2014/main" id="{764D7129-E992-939D-352F-5A96D493C7CE}"/>
              </a:ext>
            </a:extLst>
          </p:cNvPr>
          <p:cNvGraphicFramePr>
            <a:graphicFrameLocks noGrp="1"/>
          </p:cNvGraphicFramePr>
          <p:nvPr>
            <p:extLst>
              <p:ext uri="{D42A27DB-BD31-4B8C-83A1-F6EECF244321}">
                <p14:modId xmlns:p14="http://schemas.microsoft.com/office/powerpoint/2010/main" val="940432488"/>
              </p:ext>
            </p:extLst>
          </p:nvPr>
        </p:nvGraphicFramePr>
        <p:xfrm>
          <a:off x="505166" y="4005064"/>
          <a:ext cx="8133668" cy="2465708"/>
        </p:xfrm>
        <a:graphic>
          <a:graphicData uri="http://schemas.openxmlformats.org/drawingml/2006/table">
            <a:tbl>
              <a:tblPr firstRow="1" bandRow="1">
                <a:tableStyleId>{5C22544A-7EE6-4342-B048-85BDC9FD1C3A}</a:tableStyleId>
              </a:tblPr>
              <a:tblGrid>
                <a:gridCol w="322418">
                  <a:extLst>
                    <a:ext uri="{9D8B030D-6E8A-4147-A177-3AD203B41FA5}">
                      <a16:colId xmlns:a16="http://schemas.microsoft.com/office/drawing/2014/main" val="4198244561"/>
                    </a:ext>
                  </a:extLst>
                </a:gridCol>
                <a:gridCol w="576064">
                  <a:extLst>
                    <a:ext uri="{9D8B030D-6E8A-4147-A177-3AD203B41FA5}">
                      <a16:colId xmlns:a16="http://schemas.microsoft.com/office/drawing/2014/main" val="2211145501"/>
                    </a:ext>
                  </a:extLst>
                </a:gridCol>
                <a:gridCol w="648072">
                  <a:extLst>
                    <a:ext uri="{9D8B030D-6E8A-4147-A177-3AD203B41FA5}">
                      <a16:colId xmlns:a16="http://schemas.microsoft.com/office/drawing/2014/main" val="767948712"/>
                    </a:ext>
                  </a:extLst>
                </a:gridCol>
                <a:gridCol w="432048">
                  <a:extLst>
                    <a:ext uri="{9D8B030D-6E8A-4147-A177-3AD203B41FA5}">
                      <a16:colId xmlns:a16="http://schemas.microsoft.com/office/drawing/2014/main" val="2420987057"/>
                    </a:ext>
                  </a:extLst>
                </a:gridCol>
                <a:gridCol w="1106952">
                  <a:extLst>
                    <a:ext uri="{9D8B030D-6E8A-4147-A177-3AD203B41FA5}">
                      <a16:colId xmlns:a16="http://schemas.microsoft.com/office/drawing/2014/main" val="3715013544"/>
                    </a:ext>
                  </a:extLst>
                </a:gridCol>
                <a:gridCol w="837264">
                  <a:extLst>
                    <a:ext uri="{9D8B030D-6E8A-4147-A177-3AD203B41FA5}">
                      <a16:colId xmlns:a16="http://schemas.microsoft.com/office/drawing/2014/main" val="3639967230"/>
                    </a:ext>
                  </a:extLst>
                </a:gridCol>
                <a:gridCol w="937728">
                  <a:extLst>
                    <a:ext uri="{9D8B030D-6E8A-4147-A177-3AD203B41FA5}">
                      <a16:colId xmlns:a16="http://schemas.microsoft.com/office/drawing/2014/main" val="3328686525"/>
                    </a:ext>
                  </a:extLst>
                </a:gridCol>
                <a:gridCol w="288032">
                  <a:extLst>
                    <a:ext uri="{9D8B030D-6E8A-4147-A177-3AD203B41FA5}">
                      <a16:colId xmlns:a16="http://schemas.microsoft.com/office/drawing/2014/main" val="3752581630"/>
                    </a:ext>
                  </a:extLst>
                </a:gridCol>
                <a:gridCol w="504056">
                  <a:extLst>
                    <a:ext uri="{9D8B030D-6E8A-4147-A177-3AD203B41FA5}">
                      <a16:colId xmlns:a16="http://schemas.microsoft.com/office/drawing/2014/main" val="40210933"/>
                    </a:ext>
                  </a:extLst>
                </a:gridCol>
                <a:gridCol w="394420">
                  <a:extLst>
                    <a:ext uri="{9D8B030D-6E8A-4147-A177-3AD203B41FA5}">
                      <a16:colId xmlns:a16="http://schemas.microsoft.com/office/drawing/2014/main" val="3722446267"/>
                    </a:ext>
                  </a:extLst>
                </a:gridCol>
                <a:gridCol w="394420">
                  <a:extLst>
                    <a:ext uri="{9D8B030D-6E8A-4147-A177-3AD203B41FA5}">
                      <a16:colId xmlns:a16="http://schemas.microsoft.com/office/drawing/2014/main" val="3159408052"/>
                    </a:ext>
                  </a:extLst>
                </a:gridCol>
                <a:gridCol w="846097">
                  <a:extLst>
                    <a:ext uri="{9D8B030D-6E8A-4147-A177-3AD203B41FA5}">
                      <a16:colId xmlns:a16="http://schemas.microsoft.com/office/drawing/2014/main" val="2746565255"/>
                    </a:ext>
                  </a:extLst>
                </a:gridCol>
                <a:gridCol w="846097">
                  <a:extLst>
                    <a:ext uri="{9D8B030D-6E8A-4147-A177-3AD203B41FA5}">
                      <a16:colId xmlns:a16="http://schemas.microsoft.com/office/drawing/2014/main" val="1920063261"/>
                    </a:ext>
                  </a:extLst>
                </a:gridCol>
              </a:tblGrid>
              <a:tr h="333543">
                <a:tc rowSpan="3">
                  <a:txBody>
                    <a:bodyPr/>
                    <a:lstStyle/>
                    <a:p>
                      <a:pPr algn="ctr"/>
                      <a:endParaRPr lang="zh-TW" altLang="en-US" sz="1200" b="0" cap="none" spc="0" dirty="0">
                        <a:ln w="0"/>
                        <a:solidFill>
                          <a:schemeClr val="tx1"/>
                        </a:solidFill>
                        <a:effectLst/>
                        <a:latin typeface="+mn-l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row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ADLaM Display" panose="02010000000000000000" pitchFamily="2" charset="0"/>
                          <a:cs typeface="ADLaM Display" panose="02010000000000000000" pitchFamily="2" charset="0"/>
                        </a:rPr>
                        <a:t>Version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ADLaM Display" panose="02010000000000000000" pitchFamily="2" charset="0"/>
                          <a:cs typeface="ADLaM Display" panose="02010000000000000000" pitchFamily="2" charset="0"/>
                        </a:rPr>
                        <a:t>Type</a:t>
                      </a:r>
                      <a:endParaRPr kumimoji="0" lang="zh-TW" altLang="en-US" sz="1200" b="0" i="0" u="none" strike="noStrike" kern="1200" cap="none" spc="0" normalizeH="0" baseline="0" noProof="0" dirty="0">
                        <a:ln w="0"/>
                        <a:solidFill>
                          <a:prstClr val="black"/>
                        </a:solidFill>
                        <a:effectLst/>
                        <a:uLnTx/>
                        <a:uFillTx/>
                        <a:latin typeface="+mn-lt"/>
                        <a:ea typeface="+mn-ea"/>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ADLaM Display" panose="02010000000000000000" pitchFamily="2" charset="0"/>
                          <a:cs typeface="ADLaM Display" panose="02010000000000000000" pitchFamily="2" charset="0"/>
                        </a:rPr>
                        <a:t>Key Technology</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gridSpan="7">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Memory consumption</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solidFill>
                      <a:schemeClr val="accent2">
                        <a:lumMod val="40000"/>
                        <a:lumOff val="60000"/>
                        <a:alpha val="40000"/>
                      </a:schemeClr>
                    </a:solidFill>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solidFill>
                      <a:schemeClr val="accent2">
                        <a:lumMod val="20000"/>
                        <a:lumOff val="80000"/>
                      </a:schemeClr>
                    </a:solid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lnL w="12700" cmpd="sng">
                      <a:noFill/>
                    </a:lnL>
                  </a:tcPr>
                </a:tc>
                <a:tc hMerge="1">
                  <a:txBody>
                    <a:bodyPr/>
                    <a:lstStyle/>
                    <a:p>
                      <a:endParaRPr lang="zh-TW" altLang="en-US"/>
                    </a:p>
                  </a:txBody>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4132">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gridSpan="2">
                  <a:txBody>
                    <a:bodyPr/>
                    <a:lstStyle/>
                    <a:p>
                      <a:pPr algn="ctr"/>
                      <a:r>
                        <a:rPr kumimoji="0" lang="en-US" altLang="zh-TW" sz="1200" b="0" i="0" u="none" strike="noStrike" kern="1200" cap="none" spc="0" normalizeH="0" baseline="0" noProof="0" dirty="0">
                          <a:ln w="0"/>
                          <a:solidFill>
                            <a:schemeClr val="tx1"/>
                          </a:solidFill>
                          <a:effectLst/>
                          <a:uLnTx/>
                          <a:uFillTx/>
                          <a:latin typeface="+mn-lt"/>
                          <a:ea typeface="ADLaM Display" panose="02010000000000000000" pitchFamily="2" charset="0"/>
                          <a:cs typeface="ADLaM Display" panose="02010000000000000000" pitchFamily="2" charset="0"/>
                        </a:rPr>
                        <a:t>Training</a:t>
                      </a:r>
                      <a:endPar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hMerge="1">
                  <a:txBody>
                    <a:bodyPr/>
                    <a:lstStyle/>
                    <a:p>
                      <a:endParaRPr lang="zh-TW" altLang="en-US"/>
                    </a:p>
                  </a:txBody>
                  <a:tcPr/>
                </a:tc>
                <a:tc gridSpan="2">
                  <a:txBody>
                    <a:bodyPr/>
                    <a:lstStyle/>
                    <a:p>
                      <a:pPr algn="ctr"/>
                      <a:r>
                        <a:rPr kumimoji="0" lang="en-US" altLang="zh-TW" sz="1200" b="0" i="0" u="none" strike="noStrike" kern="1200" cap="none" spc="0" normalizeH="0" baseline="0" noProof="0" dirty="0">
                          <a:ln w="0"/>
                          <a:solidFill>
                            <a:schemeClr val="tx1"/>
                          </a:solidFill>
                          <a:effectLst/>
                          <a:uLnTx/>
                          <a:uFillTx/>
                          <a:latin typeface="+mn-lt"/>
                          <a:ea typeface="ADLaM Display" panose="02010000000000000000" pitchFamily="2" charset="0"/>
                          <a:cs typeface="ADLaM Display" panose="02010000000000000000" pitchFamily="2" charset="0"/>
                        </a:rPr>
                        <a:t>Core Technology</a:t>
                      </a:r>
                      <a:endParaRPr sz="1200" b="0" dirty="0">
                        <a:solidFill>
                          <a:schemeClr val="tx1"/>
                        </a:solidFill>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hMerge="1">
                  <a:txBody>
                    <a:bodyPr/>
                    <a:lstStyle/>
                    <a:p>
                      <a:endParaRPr lang="zh-TW" altLang="en-US"/>
                    </a:p>
                  </a:txBody>
                  <a:tcPr/>
                </a:tc>
                <a:tc>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gridSpan="2">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Context</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hMerge="1">
                  <a:txBody>
                    <a:bodyPr/>
                    <a:lstStyle/>
                    <a:p>
                      <a:pPr algn="ct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gridSpan="2">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FFN Layer</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hMerge="1">
                  <a:txBody>
                    <a:bodyPr/>
                    <a:lstStyle/>
                    <a:p>
                      <a:endParaRPr lang="zh-TW" altLang="en-US"/>
                    </a:p>
                  </a:txBody>
                  <a:tcPr>
                    <a:lnL w="12700" cmpd="sng">
                      <a:noFill/>
                    </a:lnL>
                  </a:tcPr>
                </a:tc>
                <a:tc>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Para.</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Requirement</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extLst>
                  <a:ext uri="{0D108BD9-81ED-4DB2-BD59-A6C34878D82A}">
                    <a16:rowId xmlns:a16="http://schemas.microsoft.com/office/drawing/2014/main" val="2581155207"/>
                  </a:ext>
                </a:extLst>
              </a:tr>
              <a:tr h="235532">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Pre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Post/RL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gridSpan="2">
                  <a:txBody>
                    <a:bodyPr/>
                    <a:lstStyle/>
                    <a:p>
                      <a:pPr algn="ctr"/>
                      <a:r>
                        <a:rPr lang="en-US" altLang="zh-TW" sz="1000" b="0" cap="none" spc="0" dirty="0">
                          <a:ln w="0"/>
                          <a:solidFill>
                            <a:schemeClr val="tx1"/>
                          </a:solidFill>
                          <a:effectLst/>
                          <a:latin typeface="+mn-lt"/>
                          <a:ea typeface="ADLaM Display" panose="02010000000000000000" pitchFamily="2" charset="0"/>
                          <a:cs typeface="ADLaM Display" panose="02010000000000000000" pitchFamily="2" charset="0"/>
                        </a:rPr>
                        <a:t>Model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hMerge="1">
                  <a:txBody>
                    <a:bodyPr/>
                    <a:lstStyle/>
                    <a:p>
                      <a:endParaRPr lang="zh-TW" altLang="en-US"/>
                    </a:p>
                  </a:txBody>
                  <a:tcPr/>
                </a:tc>
                <a:tc>
                  <a:txBody>
                    <a:bodyPr/>
                    <a:lstStyle/>
                    <a:p>
                      <a:pPr algn="ctr"/>
                      <a:r>
                        <a:rPr lang="en-US" sz="1000" b="0" dirty="0">
                          <a:solidFill>
                            <a:schemeClr val="tx1"/>
                          </a:solidFill>
                          <a:latin typeface="+mn-lt"/>
                          <a:ea typeface="ADLaM Display" panose="02010000000000000000" pitchFamily="2" charset="0"/>
                          <a:cs typeface="ADLaM Display" panose="02010000000000000000" pitchFamily="2" charset="0"/>
                        </a:rPr>
                        <a:t>Attention</a:t>
                      </a:r>
                      <a:endParaRPr sz="1000" b="0" dirty="0">
                        <a:solidFill>
                          <a:schemeClr val="tx1"/>
                        </a:solidFill>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cs typeface="ADLaM Display" panose="02010000000000000000" pitchFamily="2" charset="0"/>
                        </a:rPr>
                        <a:t>Len</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cs typeface="ADLaM Display" panose="02010000000000000000" pitchFamily="2" charset="0"/>
                        </a:rPr>
                        <a:t>Dim</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Dense</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MoE</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endParaRPr lang="zh-TW" altLang="en-US" sz="10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endParaRPr lang="en-US" altLang="zh-TW" sz="1000" b="0" cap="none" spc="0" dirty="0">
                        <a:ln w="0"/>
                        <a:solidFill>
                          <a:schemeClr val="tx1"/>
                        </a:solidFill>
                        <a:effectLst/>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extLst>
                  <a:ext uri="{0D108BD9-81ED-4DB2-BD59-A6C34878D82A}">
                    <a16:rowId xmlns:a16="http://schemas.microsoft.com/office/drawing/2014/main" val="533882152"/>
                  </a:ext>
                </a:extLst>
              </a:tr>
              <a:tr h="407691">
                <a:tc>
                  <a:txBody>
                    <a:bodyPr/>
                    <a:lstStyle/>
                    <a:p>
                      <a:pPr algn="l"/>
                      <a:r>
                        <a:rPr lang="en-US" altLang="zh-TW" sz="1200" b="0" cap="none" spc="0" dirty="0">
                          <a:ln w="0"/>
                          <a:solidFill>
                            <a:schemeClr val="tx1"/>
                          </a:solidFill>
                          <a:effectLst/>
                        </a:rPr>
                        <a:t>V2</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V2.5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AdamW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GRPO</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MLA</a:t>
                      </a:r>
                    </a:p>
                    <a:p>
                      <a:pPr algn="ctr"/>
                      <a:r>
                        <a:rPr lang="en-US" altLang="zh-TW" sz="1000" b="0" cap="none" spc="0" dirty="0">
                          <a:ln w="0"/>
                          <a:solidFill>
                            <a:schemeClr val="tx1">
                              <a:lumMod val="50000"/>
                              <a:lumOff val="50000"/>
                            </a:schemeClr>
                          </a:solidFill>
                          <a:effectLst/>
                        </a:rPr>
                        <a:t>(Multi-head Latent)</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err="1">
                          <a:ln w="0"/>
                          <a:solidFill>
                            <a:schemeClr val="tx1"/>
                          </a:solidFill>
                          <a:effectLst/>
                        </a:rPr>
                        <a:t>DSMoE</a:t>
                      </a:r>
                      <a:br>
                        <a:rPr lang="en-US" altLang="zh-TW" sz="1200" b="0" cap="none" spc="0" dirty="0">
                          <a:ln w="0"/>
                          <a:solidFill>
                            <a:schemeClr val="tx1"/>
                          </a:solidFill>
                          <a:effectLst/>
                        </a:rPr>
                      </a:br>
                      <a:r>
                        <a:rPr lang="en-US" altLang="zh-TW" sz="1000" b="0" cap="none" spc="0" dirty="0">
                          <a:ln w="0"/>
                          <a:solidFill>
                            <a:schemeClr val="tx1">
                              <a:lumMod val="50000"/>
                              <a:lumOff val="50000"/>
                            </a:schemeClr>
                          </a:solidFill>
                          <a:effectLst/>
                        </a:rPr>
                        <a:t>(Fine-Grained)</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1~60</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32k</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5120</a:t>
                      </a:r>
                      <a:br>
                        <a:rPr lang="en-US" altLang="zh-TW" sz="1000" b="0" cap="none" spc="0" dirty="0">
                          <a:ln w="0"/>
                          <a:solidFill>
                            <a:schemeClr val="tx1"/>
                          </a:solidFill>
                          <a:effectLst/>
                        </a:rPr>
                      </a:br>
                      <a:r>
                        <a:rPr lang="en-US" altLang="zh-TW" sz="1000" b="0" cap="none" spc="0" dirty="0">
                          <a:ln w="0"/>
                          <a:solidFill>
                            <a:schemeClr val="tx1">
                              <a:lumMod val="50000"/>
                              <a:lumOff val="50000"/>
                            </a:schemeClr>
                          </a:solidFill>
                          <a:effectLst/>
                        </a:rPr>
                        <a:t>(512)</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2~60</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21B / 236B</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 PC</a:t>
                      </a:r>
                    </a:p>
                    <a:p>
                      <a:pPr algn="ctr"/>
                      <a:r>
                        <a:rPr lang="en-US" altLang="zh-TW" sz="1000" b="0" cap="none" spc="0" dirty="0">
                          <a:ln w="0"/>
                          <a:solidFill>
                            <a:schemeClr val="tx1">
                              <a:lumMod val="50000"/>
                              <a:lumOff val="50000"/>
                            </a:schemeClr>
                          </a:solidFill>
                          <a:effectLst/>
                        </a:rPr>
                        <a:t>(8 x A100 80G)</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38843">
                <a:tc>
                  <a:txBody>
                    <a:bodyPr/>
                    <a:lstStyle/>
                    <a:p>
                      <a:pPr algn="l"/>
                      <a:r>
                        <a:rPr lang="en-US" altLang="zh-TW" sz="1200" b="0" cap="none" spc="0" dirty="0">
                          <a:ln w="0"/>
                          <a:solidFill>
                            <a:schemeClr val="tx1"/>
                          </a:solidFill>
                          <a:effectLst/>
                        </a:rPr>
                        <a:t>V3</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V3.2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AdamW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GRPO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DSA</a:t>
                      </a:r>
                    </a:p>
                    <a:p>
                      <a:pPr algn="ctr"/>
                      <a:r>
                        <a:rPr lang="en-US" altLang="zh-TW" sz="1000" b="0" cap="none" spc="0" dirty="0">
                          <a:ln w="0"/>
                          <a:solidFill>
                            <a:schemeClr val="tx1">
                              <a:lumMod val="50000"/>
                              <a:lumOff val="50000"/>
                            </a:schemeClr>
                          </a:solidFill>
                          <a:effectLst/>
                        </a:rPr>
                        <a:t>(DeepSeek Sparse)</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Dual Pipe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1~61</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128k</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7168</a:t>
                      </a:r>
                    </a:p>
                    <a:p>
                      <a:pPr algn="ctr"/>
                      <a:r>
                        <a:rPr lang="en-US" altLang="zh-TW" sz="1000" b="0" cap="none" spc="0" dirty="0">
                          <a:ln w="0"/>
                          <a:solidFill>
                            <a:schemeClr val="tx1">
                              <a:lumMod val="50000"/>
                              <a:lumOff val="50000"/>
                            </a:schemeClr>
                          </a:solidFill>
                          <a:effectLst/>
                        </a:rPr>
                        <a:t>(512)</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1~3</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4~61</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37B</a:t>
                      </a:r>
                      <a:r>
                        <a:rPr lang="zh-TW" altLang="en-US" sz="1000" b="0" cap="none" spc="0" dirty="0">
                          <a:ln w="0"/>
                          <a:solidFill>
                            <a:schemeClr val="tx1"/>
                          </a:solidFill>
                          <a:effectLst/>
                        </a:rPr>
                        <a:t> </a:t>
                      </a:r>
                      <a:r>
                        <a:rPr lang="en-US" altLang="zh-TW" sz="1000" b="0" cap="none" spc="0" dirty="0">
                          <a:ln w="0"/>
                          <a:solidFill>
                            <a:schemeClr val="tx1"/>
                          </a:solidFill>
                          <a:effectLst/>
                        </a:rPr>
                        <a:t>/</a:t>
                      </a:r>
                      <a:r>
                        <a:rPr lang="zh-TW" altLang="en-US" sz="1000" b="0" cap="none" spc="0" dirty="0">
                          <a:ln w="0"/>
                          <a:solidFill>
                            <a:schemeClr val="tx1"/>
                          </a:solidFill>
                          <a:effectLst/>
                        </a:rPr>
                        <a:t> </a:t>
                      </a:r>
                      <a:r>
                        <a:rPr lang="en-US" altLang="zh-TW" sz="1000" b="0" cap="none" spc="0" dirty="0">
                          <a:ln w="0"/>
                          <a:solidFill>
                            <a:schemeClr val="tx1"/>
                          </a:solidFill>
                          <a:effectLst/>
                        </a:rPr>
                        <a:t>671B</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4</a:t>
                      </a:r>
                      <a:r>
                        <a:rPr lang="zh-TW" altLang="en-US" sz="1000" b="0" cap="none" spc="0" dirty="0">
                          <a:ln w="0"/>
                          <a:solidFill>
                            <a:schemeClr val="tx1"/>
                          </a:solidFill>
                          <a:effectLst/>
                        </a:rPr>
                        <a:t> </a:t>
                      </a:r>
                      <a:r>
                        <a:rPr lang="en-US" altLang="zh-TW" sz="1000" b="0" cap="none" spc="0" dirty="0">
                          <a:ln w="0"/>
                          <a:solidFill>
                            <a:schemeClr val="tx1"/>
                          </a:solidFill>
                          <a:effectLst/>
                        </a:rPr>
                        <a:t>PC with</a:t>
                      </a:r>
                    </a:p>
                    <a:p>
                      <a:pPr algn="ctr"/>
                      <a:r>
                        <a:rPr lang="en-US" altLang="zh-TW" sz="1000" b="0" cap="none" spc="0" dirty="0">
                          <a:ln w="0"/>
                          <a:solidFill>
                            <a:schemeClr val="tx1">
                              <a:lumMod val="50000"/>
                              <a:lumOff val="50000"/>
                            </a:schemeClr>
                          </a:solidFill>
                          <a:effectLst/>
                        </a:rPr>
                        <a:t>(8 x A100 80G)</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282369">
                <a:tc rowSpan="2">
                  <a:txBody>
                    <a:bodyPr/>
                    <a:lstStyle/>
                    <a:p>
                      <a:pPr algn="l"/>
                      <a:r>
                        <a:rPr lang="en-US" altLang="zh-TW" sz="1200" b="0" cap="none" spc="0" dirty="0">
                          <a:ln w="0"/>
                          <a:solidFill>
                            <a:schemeClr val="tx1"/>
                          </a:solidFill>
                          <a:effectLst/>
                        </a:rPr>
                        <a:t>V4</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rowSpan="2">
                  <a:txBody>
                    <a:bodyPr/>
                    <a:lstStyle/>
                    <a:p>
                      <a:pPr algn="ctr"/>
                      <a:r>
                        <a:rPr lang="en-US" sz="1200" dirty="0"/>
                        <a:t>Muon</a:t>
                      </a:r>
                      <a:endParaRPr sz="1200"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rowSpan="2">
                  <a:txBody>
                    <a:bodyPr/>
                    <a:lstStyle/>
                    <a:p>
                      <a:pPr algn="ctr"/>
                      <a:r>
                        <a:rPr lang="en-US" sz="1200" dirty="0"/>
                        <a:t>GRPO</a:t>
                      </a:r>
                      <a:endParaRPr sz="1200"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SWA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Hybrid MHA</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1">
                              <a:lumMod val="50000"/>
                              <a:lumOff val="50000"/>
                            </a:schemeClr>
                          </a:solidFill>
                          <a:effectLst/>
                          <a:uLnTx/>
                          <a:uFillTx/>
                          <a:latin typeface="+mn-lt"/>
                          <a:ea typeface="+mn-ea"/>
                          <a:cs typeface="+mn-cs"/>
                        </a:rPr>
                        <a:t>(HCA,</a:t>
                      </a:r>
                      <a:r>
                        <a:rPr kumimoji="0" lang="zh-TW" altLang="en-US" sz="1000" b="0" i="0" u="none" strike="noStrike" kern="1200" cap="none" spc="0" normalizeH="0" baseline="0" noProof="0" dirty="0">
                          <a:ln w="0"/>
                          <a:solidFill>
                            <a:schemeClr val="tx1">
                              <a:lumMod val="50000"/>
                              <a:lumOff val="50000"/>
                            </a:schemeClr>
                          </a:solidFill>
                          <a:effectLst/>
                          <a:uLnTx/>
                          <a:uFillTx/>
                          <a:latin typeface="+mn-lt"/>
                          <a:ea typeface="+mn-ea"/>
                          <a:cs typeface="+mn-cs"/>
                        </a:rPr>
                        <a:t> </a:t>
                      </a:r>
                      <a:r>
                        <a:rPr kumimoji="0" lang="en-US" altLang="zh-TW" sz="1000" b="0" i="0" u="none" strike="noStrike" kern="1200" cap="none" spc="0" normalizeH="0" baseline="0" noProof="0" dirty="0">
                          <a:ln w="0"/>
                          <a:solidFill>
                            <a:schemeClr val="tx1">
                              <a:lumMod val="50000"/>
                              <a:lumOff val="50000"/>
                            </a:schemeClr>
                          </a:solidFill>
                          <a:effectLst/>
                          <a:uLnTx/>
                          <a:uFillTx/>
                          <a:latin typeface="+mn-lt"/>
                          <a:ea typeface="+mn-ea"/>
                          <a:cs typeface="+mn-cs"/>
                        </a:rPr>
                        <a:t>CSA)</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DSA+MHC</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r>
                        <a:rPr lang="en-US" altLang="zh-TW" sz="1000" b="0" cap="none" spc="0" dirty="0">
                          <a:ln w="0"/>
                          <a:solidFill>
                            <a:schemeClr val="tx1"/>
                          </a:solidFill>
                          <a:effectLst/>
                        </a:rPr>
                        <a:t>H: 1,2,3,5…61</a:t>
                      </a:r>
                    </a:p>
                    <a:p>
                      <a:pPr algn="l"/>
                      <a:r>
                        <a:rPr lang="en-US" altLang="zh-TW" sz="1000" b="0" cap="none" spc="0" dirty="0">
                          <a:ln w="0"/>
                          <a:solidFill>
                            <a:schemeClr val="tx1"/>
                          </a:solidFill>
                          <a:effectLst/>
                        </a:rPr>
                        <a:t>C: 4…60</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1M</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&lt;4096</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0</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1~61</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49B / 1.6T</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AI clusters</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282369">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Flash</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vMerge="1">
                  <a:txBody>
                    <a:bodyPr/>
                    <a:lstStyle/>
                    <a:p>
                      <a:pPr algn="ctr"/>
                      <a:endParaRPr sz="1200"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1"/>
                          </a:solidFill>
                          <a:effectLst/>
                          <a:uLnTx/>
                          <a:uFillTx/>
                          <a:latin typeface="+mn-lt"/>
                          <a:ea typeface="+mn-ea"/>
                          <a:cs typeface="+mn-cs"/>
                        </a:rPr>
                        <a:t>H: 1,2,3,5…43</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1"/>
                          </a:solidFill>
                          <a:effectLst/>
                          <a:uLnTx/>
                          <a:uFillTx/>
                          <a:latin typeface="+mn-lt"/>
                          <a:ea typeface="+mn-ea"/>
                          <a:cs typeface="+mn-cs"/>
                        </a:rPr>
                        <a:t>C:  4…42</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1M</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&gt;8192</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0</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1~43</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13B / 284B </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a:t>
                      </a:r>
                      <a:r>
                        <a:rPr lang="zh-TW" altLang="en-US" sz="1000" b="0" cap="none" spc="0" dirty="0">
                          <a:ln w="0"/>
                          <a:solidFill>
                            <a:schemeClr val="tx1"/>
                          </a:solidFill>
                          <a:effectLst/>
                        </a:rPr>
                        <a:t> </a:t>
                      </a:r>
                      <a:r>
                        <a:rPr lang="en-US" altLang="zh-TW" sz="1000" b="0" cap="none" spc="0" dirty="0">
                          <a:ln w="0"/>
                          <a:solidFill>
                            <a:schemeClr val="tx1"/>
                          </a:solidFill>
                          <a:effectLst/>
                        </a:rPr>
                        <a:t>PC</a:t>
                      </a:r>
                    </a:p>
                    <a:p>
                      <a:pPr algn="ctr"/>
                      <a:r>
                        <a:rPr lang="en-US" altLang="zh-TW" sz="1000" b="0" cap="none" spc="0" dirty="0">
                          <a:ln w="0"/>
                          <a:solidFill>
                            <a:schemeClr val="tx1">
                              <a:lumMod val="50000"/>
                              <a:lumOff val="50000"/>
                            </a:schemeClr>
                          </a:solidFill>
                          <a:effectLst/>
                        </a:rPr>
                        <a:t>(8</a:t>
                      </a:r>
                      <a:r>
                        <a:rPr lang="zh-TW" altLang="en-US" sz="1000" b="0" cap="none" spc="0" dirty="0">
                          <a:ln w="0"/>
                          <a:solidFill>
                            <a:schemeClr val="tx1">
                              <a:lumMod val="50000"/>
                              <a:lumOff val="50000"/>
                            </a:schemeClr>
                          </a:solidFill>
                          <a:effectLst/>
                        </a:rPr>
                        <a:t> </a:t>
                      </a:r>
                      <a:r>
                        <a:rPr lang="en-US" altLang="zh-TW" sz="1000" b="0" cap="none" spc="0" dirty="0">
                          <a:ln w="0"/>
                          <a:solidFill>
                            <a:schemeClr val="tx1">
                              <a:lumMod val="50000"/>
                              <a:lumOff val="50000"/>
                            </a:schemeClr>
                          </a:solidFill>
                          <a:effectLst/>
                        </a:rPr>
                        <a:t>x H800)</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r h="266179">
                <a:tc>
                  <a:txBody>
                    <a:bodyPr/>
                    <a:lstStyle/>
                    <a:p>
                      <a:pPr algn="l"/>
                      <a:r>
                        <a:rPr lang="en-US" altLang="zh-TW" sz="1200" b="0" cap="none" spc="0" dirty="0">
                          <a:ln w="0"/>
                          <a:solidFill>
                            <a:schemeClr val="tx1">
                              <a:lumMod val="50000"/>
                              <a:lumOff val="50000"/>
                            </a:schemeClr>
                          </a:solidFill>
                          <a:effectLst/>
                        </a:rPr>
                        <a:t>V5</a:t>
                      </a:r>
                      <a:endParaRPr lang="zh-TW" altLang="en-US" sz="1200" b="0" cap="none" spc="0" dirty="0">
                        <a:ln w="0"/>
                        <a:solidFill>
                          <a:schemeClr val="tx1">
                            <a:lumMod val="50000"/>
                            <a:lumOff val="50000"/>
                          </a:schemeClr>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lumMod val="50000"/>
                              <a:lumOff val="50000"/>
                            </a:schemeClr>
                          </a:solidFill>
                          <a:effectLst/>
                        </a:rPr>
                        <a:t>-</a:t>
                      </a:r>
                      <a:endParaRPr lang="zh-TW" altLang="en-US" sz="12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r>
                        <a:rPr lang="en-US" sz="1200" dirty="0">
                          <a:solidFill>
                            <a:schemeClr val="tx1">
                              <a:lumMod val="50000"/>
                              <a:lumOff val="50000"/>
                            </a:schemeClr>
                          </a:solidFill>
                        </a:rPr>
                        <a:t>-</a:t>
                      </a:r>
                      <a:endParaRPr sz="1200" dirty="0">
                        <a:solidFill>
                          <a:schemeClr val="tx1">
                            <a:lumMod val="50000"/>
                            <a:lumOff val="50000"/>
                          </a:schemeClr>
                        </a:solidFill>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r>
                        <a:rPr lang="en-US" sz="1200" dirty="0">
                          <a:solidFill>
                            <a:schemeClr val="tx1">
                              <a:lumMod val="50000"/>
                              <a:lumOff val="50000"/>
                            </a:schemeClr>
                          </a:solidFill>
                        </a:rPr>
                        <a:t>-</a:t>
                      </a:r>
                      <a:endParaRPr sz="1200" dirty="0">
                        <a:solidFill>
                          <a:schemeClr val="tx1">
                            <a:lumMod val="50000"/>
                            <a:lumOff val="50000"/>
                          </a:schemeClr>
                        </a:solidFill>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1">
                              <a:lumMod val="50000"/>
                              <a:lumOff val="50000"/>
                            </a:schemeClr>
                          </a:solidFill>
                          <a:effectLst/>
                          <a:uLnTx/>
                          <a:uFillTx/>
                          <a:latin typeface="+mn-lt"/>
                          <a:ea typeface="+mn-ea"/>
                          <a:cs typeface="+mn-cs"/>
                        </a:rPr>
                        <a:t>-</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Engram</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0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endParaRPr lang="zh-TW" altLang="en-US" sz="12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096539059"/>
                  </a:ext>
                </a:extLst>
              </a:tr>
            </a:tbl>
          </a:graphicData>
        </a:graphic>
      </p:graphicFrame>
    </p:spTree>
    <p:extLst>
      <p:ext uri="{BB962C8B-B14F-4D97-AF65-F5344CB8AC3E}">
        <p14:creationId xmlns:p14="http://schemas.microsoft.com/office/powerpoint/2010/main" val="218421321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圖片 1">
            <a:extLst>
              <a:ext uri="{FF2B5EF4-FFF2-40B4-BE49-F238E27FC236}">
                <a16:creationId xmlns:a16="http://schemas.microsoft.com/office/drawing/2014/main" id="{F420C80E-37D4-372F-D96E-78D501C55D12}"/>
              </a:ext>
            </a:extLst>
          </p:cNvPr>
          <p:cNvPicPr>
            <a:picLocks noChangeAspect="1"/>
          </p:cNvPicPr>
          <p:nvPr/>
        </p:nvPicPr>
        <p:blipFill>
          <a:blip r:embed="rId2"/>
          <a:stretch>
            <a:fillRect/>
          </a:stretch>
        </p:blipFill>
        <p:spPr>
          <a:xfrm>
            <a:off x="1143000" y="1025937"/>
            <a:ext cx="6093296" cy="3094789"/>
          </a:xfrm>
          <a:prstGeom prst="rect">
            <a:avLst/>
          </a:prstGeom>
        </p:spPr>
      </p:pic>
      <p:sp>
        <p:nvSpPr>
          <p:cNvPr id="4" name="標題 1">
            <a:extLst>
              <a:ext uri="{FF2B5EF4-FFF2-40B4-BE49-F238E27FC236}">
                <a16:creationId xmlns:a16="http://schemas.microsoft.com/office/drawing/2014/main" id="{A2245D14-54E3-79E0-6651-0F4BA441EEF2}"/>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MTP</a:t>
            </a:r>
          </a:p>
          <a:p>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https://zhuanlan.zhihu.com/p/18056041194</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7" name="圖片 6">
            <a:extLst>
              <a:ext uri="{FF2B5EF4-FFF2-40B4-BE49-F238E27FC236}">
                <a16:creationId xmlns:a16="http://schemas.microsoft.com/office/drawing/2014/main" id="{5E0CC9C3-4045-3D30-8145-8B0342428755}"/>
              </a:ext>
            </a:extLst>
          </p:cNvPr>
          <p:cNvPicPr>
            <a:picLocks noChangeAspect="1"/>
          </p:cNvPicPr>
          <p:nvPr/>
        </p:nvPicPr>
        <p:blipFill>
          <a:blip r:embed="rId3"/>
          <a:stretch>
            <a:fillRect/>
          </a:stretch>
        </p:blipFill>
        <p:spPr>
          <a:xfrm>
            <a:off x="-310743" y="2348880"/>
            <a:ext cx="8311743" cy="4248472"/>
          </a:xfrm>
          <a:prstGeom prst="rect">
            <a:avLst/>
          </a:prstGeom>
        </p:spPr>
      </p:pic>
    </p:spTree>
    <p:extLst>
      <p:ext uri="{BB962C8B-B14F-4D97-AF65-F5344CB8AC3E}">
        <p14:creationId xmlns:p14="http://schemas.microsoft.com/office/powerpoint/2010/main" val="37931568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B834BE8E-F60D-7BB0-3E16-E44E3984BCCF}"/>
              </a:ext>
            </a:extLst>
          </p:cNvPr>
          <p:cNvPicPr>
            <a:picLocks noChangeAspect="1"/>
          </p:cNvPicPr>
          <p:nvPr/>
        </p:nvPicPr>
        <p:blipFill>
          <a:blip r:embed="rId2"/>
          <a:stretch>
            <a:fillRect/>
          </a:stretch>
        </p:blipFill>
        <p:spPr>
          <a:xfrm>
            <a:off x="781063" y="1700808"/>
            <a:ext cx="7581874" cy="4308295"/>
          </a:xfrm>
          <a:prstGeom prst="rect">
            <a:avLst/>
          </a:prstGeom>
        </p:spPr>
      </p:pic>
      <p:sp>
        <p:nvSpPr>
          <p:cNvPr id="5" name="文字方塊 4">
            <a:hlinkClick r:id="rId3"/>
            <a:extLst>
              <a:ext uri="{FF2B5EF4-FFF2-40B4-BE49-F238E27FC236}">
                <a16:creationId xmlns:a16="http://schemas.microsoft.com/office/drawing/2014/main" id="{E72E6D05-B98B-FC30-961B-737C8D09D445}"/>
              </a:ext>
            </a:extLst>
          </p:cNvPr>
          <p:cNvSpPr txBox="1"/>
          <p:nvPr/>
        </p:nvSpPr>
        <p:spPr>
          <a:xfrm>
            <a:off x="323528" y="33974"/>
            <a:ext cx="5112568" cy="369332"/>
          </a:xfrm>
          <a:prstGeom prst="rect">
            <a:avLst/>
          </a:prstGeom>
          <a:noFill/>
        </p:spPr>
        <p:txBody>
          <a:bodyPr wrap="square">
            <a:spAutoFit/>
          </a:bodyPr>
          <a:lstStyle/>
          <a:p>
            <a:r>
              <a:rPr lang="en-US" altLang="zh-TW" dirty="0">
                <a:hlinkClick r:id="rId3"/>
              </a:rPr>
              <a:t>The insane infrastructure design of DeepSeek V4</a:t>
            </a:r>
            <a:endParaRPr lang="zh-TW" altLang="en-US" dirty="0"/>
          </a:p>
        </p:txBody>
      </p:sp>
    </p:spTree>
    <p:extLst>
      <p:ext uri="{BB962C8B-B14F-4D97-AF65-F5344CB8AC3E}">
        <p14:creationId xmlns:p14="http://schemas.microsoft.com/office/powerpoint/2010/main" val="220729761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699331EB-D564-30D4-7D91-3356C901B2BA}"/>
              </a:ext>
            </a:extLst>
          </p:cNvPr>
          <p:cNvPicPr>
            <a:picLocks noChangeAspect="1"/>
          </p:cNvPicPr>
          <p:nvPr/>
        </p:nvPicPr>
        <p:blipFill>
          <a:blip r:embed="rId2"/>
          <a:stretch>
            <a:fillRect/>
          </a:stretch>
        </p:blipFill>
        <p:spPr>
          <a:xfrm>
            <a:off x="72467" y="2072368"/>
            <a:ext cx="4715558" cy="4207247"/>
          </a:xfrm>
          <a:prstGeom prst="rect">
            <a:avLst/>
          </a:prstGeom>
        </p:spPr>
      </p:pic>
      <p:pic>
        <p:nvPicPr>
          <p:cNvPr id="5" name="圖片 4">
            <a:extLst>
              <a:ext uri="{FF2B5EF4-FFF2-40B4-BE49-F238E27FC236}">
                <a16:creationId xmlns:a16="http://schemas.microsoft.com/office/drawing/2014/main" id="{20C34C73-3672-2E31-B9B9-AA8920D87083}"/>
              </a:ext>
            </a:extLst>
          </p:cNvPr>
          <p:cNvPicPr>
            <a:picLocks noChangeAspect="1"/>
          </p:cNvPicPr>
          <p:nvPr/>
        </p:nvPicPr>
        <p:blipFill>
          <a:blip r:embed="rId3"/>
          <a:stretch>
            <a:fillRect/>
          </a:stretch>
        </p:blipFill>
        <p:spPr>
          <a:xfrm>
            <a:off x="22137" y="332656"/>
            <a:ext cx="1971950" cy="2629267"/>
          </a:xfrm>
          <a:prstGeom prst="rect">
            <a:avLst/>
          </a:prstGeom>
        </p:spPr>
      </p:pic>
      <p:sp>
        <p:nvSpPr>
          <p:cNvPr id="4" name="文字方塊 3">
            <a:extLst>
              <a:ext uri="{FF2B5EF4-FFF2-40B4-BE49-F238E27FC236}">
                <a16:creationId xmlns:a16="http://schemas.microsoft.com/office/drawing/2014/main" id="{8077AF21-1770-2EC5-BA5E-8B86C2DCC98A}"/>
              </a:ext>
            </a:extLst>
          </p:cNvPr>
          <p:cNvSpPr txBox="1"/>
          <p:nvPr/>
        </p:nvSpPr>
        <p:spPr>
          <a:xfrm>
            <a:off x="2771800" y="1099468"/>
            <a:ext cx="6048672" cy="1336584"/>
          </a:xfrm>
          <a:prstGeom prst="rect">
            <a:avLst/>
          </a:prstGeom>
          <a:noFill/>
        </p:spPr>
        <p:txBody>
          <a:bodyPr wrap="square">
            <a:spAutoFit/>
          </a:bodyPr>
          <a:lstStyle/>
          <a:p>
            <a:pPr marL="0" marR="0">
              <a:lnSpc>
                <a:spcPts val="1400"/>
              </a:lnSpc>
              <a:buNone/>
            </a:pPr>
            <a:r>
              <a:rPr lang="zh-TW" altLang="zh-TW" sz="1100" b="1" u="none" strike="noStrike" dirty="0">
                <a:effectLst/>
                <a:latin typeface="微軟正黑體" panose="020B0604030504040204" pitchFamily="34" charset="-120"/>
                <a:ea typeface="微軟正黑體" panose="020B0604030504040204" pitchFamily="34" charset="-120"/>
              </a:rPr>
              <a:t>矩陣維度演變全景總結</a:t>
            </a:r>
          </a:p>
          <a:p>
            <a:pPr marL="171450" marR="0" indent="-171450">
              <a:lnSpc>
                <a:spcPts val="1400"/>
              </a:lnSpc>
              <a:buFont typeface="Wingdings" panose="05000000000000000000" pitchFamily="2" charset="2"/>
              <a:buChar char="à"/>
            </a:pPr>
            <a:r>
              <a:rPr lang="zh-TW" altLang="zh-TW" sz="1100" b="0" u="none" strike="noStrike" dirty="0">
                <a:effectLst/>
                <a:latin typeface="微軟正黑體" panose="020B0604030504040204" pitchFamily="34" charset="-120"/>
                <a:ea typeface="微軟正黑體" panose="020B0604030504040204" pitchFamily="34" charset="-120"/>
              </a:rPr>
              <a:t>原始多通道資料</a:t>
            </a:r>
            <a:r>
              <a:rPr lang="zh-TW" altLang="en-US"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X</a:t>
            </a:r>
            <a:r>
              <a:rPr lang="zh-TW" altLang="en-US"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[N,d]</a:t>
            </a:r>
            <a:endParaRPr lang="en-US" altLang="zh-TW" sz="1100" b="0" u="none" strike="noStrike" dirty="0">
              <a:effectLst/>
              <a:latin typeface="微軟正黑體" panose="020B0604030504040204" pitchFamily="34" charset="-120"/>
              <a:ea typeface="微軟正黑體" panose="020B0604030504040204" pitchFamily="34" charset="-120"/>
            </a:endParaRPr>
          </a:p>
          <a:p>
            <a:pPr marL="171450" marR="0" indent="-171450">
              <a:lnSpc>
                <a:spcPts val="1400"/>
              </a:lnSpc>
              <a:buFont typeface="Wingdings" panose="05000000000000000000" pitchFamily="2" charset="2"/>
              <a:buChar char="à"/>
            </a:pPr>
            <a:r>
              <a:rPr lang="zh-TW" altLang="zh-TW" sz="1100" b="0" u="none" strike="noStrike" dirty="0">
                <a:effectLst/>
                <a:latin typeface="微軟正黑體" panose="020B0604030504040204" pitchFamily="34" charset="-120"/>
                <a:ea typeface="微軟正黑體" panose="020B0604030504040204" pitchFamily="34" charset="-120"/>
              </a:rPr>
              <a:t>步驟1: 壓縮</a:t>
            </a:r>
            <a:r>
              <a:rPr lang="zh-TW" altLang="en-US"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通道特徵向量</a:t>
            </a:r>
            <a:r>
              <a:rPr lang="en-US" altLang="zh-TW"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x_compressed</a:t>
            </a:r>
            <a:r>
              <a:rPr lang="zh-TW" altLang="en-US" sz="1100" b="0" u="none" strike="noStrike" dirty="0">
                <a:effectLst/>
                <a:latin typeface="微軟正黑體" panose="020B0604030504040204" pitchFamily="34" charset="-120"/>
                <a:ea typeface="微軟正黑體" panose="020B0604030504040204" pitchFamily="34" charset="-120"/>
              </a:rPr>
              <a:t> </a:t>
            </a:r>
            <a:r>
              <a:rPr lang="en-US" altLang="zh-TW" sz="1100" b="0" u="none" strike="noStrike" dirty="0">
                <a:effectLst/>
                <a:latin typeface="微軟正黑體" panose="020B0604030504040204" pitchFamily="34" charset="-120"/>
                <a:ea typeface="微軟正黑體" panose="020B0604030504040204" pitchFamily="34" charset="-120"/>
              </a:rPr>
              <a:t>[</a:t>
            </a:r>
            <a:r>
              <a:rPr lang="zh-TW" altLang="zh-TW" sz="1100" b="0" u="none" strike="noStrike" dirty="0">
                <a:effectLst/>
                <a:latin typeface="微軟正黑體" panose="020B0604030504040204" pitchFamily="34" charset="-120"/>
                <a:ea typeface="微軟正黑體" panose="020B0604030504040204" pitchFamily="34" charset="-120"/>
              </a:rPr>
              <a:t>N,1]</a:t>
            </a:r>
            <a:endParaRPr lang="en-US" altLang="zh-TW" sz="1100" b="0" u="none" strike="noStrike" dirty="0">
              <a:effectLst/>
              <a:latin typeface="微軟正黑體" panose="020B0604030504040204" pitchFamily="34" charset="-120"/>
              <a:ea typeface="微軟正黑體" panose="020B0604030504040204" pitchFamily="34" charset="-120"/>
            </a:endParaRPr>
          </a:p>
          <a:p>
            <a:pPr marL="171450" marR="0" indent="-171450">
              <a:lnSpc>
                <a:spcPts val="1400"/>
              </a:lnSpc>
              <a:buFont typeface="Wingdings" panose="05000000000000000000" pitchFamily="2" charset="2"/>
              <a:buChar char="à"/>
            </a:pPr>
            <a:r>
              <a:rPr lang="zh-TW" altLang="zh-TW" sz="1100" b="0" u="none" strike="noStrike" dirty="0">
                <a:effectLst/>
                <a:latin typeface="微軟正黑體" panose="020B0604030504040204" pitchFamily="34" charset="-120"/>
                <a:ea typeface="微軟正黑體" panose="020B0604030504040204" pitchFamily="34" charset="-120"/>
              </a:rPr>
              <a:t>步驟2: 映射粗糙意圖矩陣</a:t>
            </a:r>
            <a:r>
              <a:rPr lang="zh-TW" altLang="en-US" sz="1100" dirty="0">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H_res</a:t>
            </a:r>
            <a:r>
              <a:rPr lang="zh-TW" altLang="en-US"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[N,N]</a:t>
            </a:r>
            <a:r>
              <a:rPr lang="zh-TW" altLang="en-US" sz="1100" b="0" u="none" strike="noStrike" dirty="0">
                <a:effectLst/>
                <a:latin typeface="微軟正黑體" panose="020B0604030504040204" pitchFamily="34" charset="-120"/>
                <a:ea typeface="微軟正黑體" panose="020B0604030504040204" pitchFamily="34" charset="-120"/>
              </a:rPr>
              <a:t> </a:t>
            </a:r>
            <a:r>
              <a:rPr lang="en-US" altLang="zh-TW" sz="1100" b="0" u="none" strike="noStrike" dirty="0">
                <a:effectLst/>
                <a:latin typeface="微軟正黑體" panose="020B0604030504040204" pitchFamily="34" charset="-120"/>
                <a:ea typeface="微軟正黑體" panose="020B0604030504040204" pitchFamily="34" charset="-120"/>
                <a:sym typeface="Wingdings" panose="05000000000000000000" pitchFamily="2" charset="2"/>
              </a:rPr>
              <a:t></a:t>
            </a:r>
          </a:p>
          <a:p>
            <a:pPr marL="171450" marR="0" indent="-171450">
              <a:lnSpc>
                <a:spcPts val="1400"/>
              </a:lnSpc>
              <a:buFont typeface="Wingdings" panose="05000000000000000000" pitchFamily="2" charset="2"/>
              <a:buChar char="à"/>
            </a:pPr>
            <a:r>
              <a:rPr lang="zh-TW" altLang="zh-TW" sz="1100" b="0" u="none" strike="noStrike" dirty="0">
                <a:effectLst/>
                <a:latin typeface="微軟正黑體" panose="020B0604030504040204" pitchFamily="34" charset="-120"/>
                <a:ea typeface="微軟正黑體" panose="020B0604030504040204" pitchFamily="34" charset="-120"/>
              </a:rPr>
              <a:t>步驟3: 非負化</a:t>
            </a:r>
            <a:r>
              <a:rPr lang="zh-TW" altLang="en-US" sz="1100" b="0" u="none" strike="noStrike" dirty="0">
                <a:effectLst/>
                <a:latin typeface="微軟正黑體" panose="020B0604030504040204" pitchFamily="34" charset="-120"/>
                <a:ea typeface="微軟正黑體" panose="020B0604030504040204" pitchFamily="34" charset="-120"/>
              </a:rPr>
              <a:t> </a:t>
            </a:r>
            <a:r>
              <a:rPr lang="en-US" altLang="zh-TW" sz="1100" b="0" u="none" strike="noStrike" dirty="0">
                <a:effectLst/>
                <a:latin typeface="微軟正黑體" panose="020B0604030504040204" pitchFamily="34" charset="-120"/>
                <a:ea typeface="微軟正黑體" panose="020B0604030504040204" pitchFamily="34" charset="-120"/>
                <a:sym typeface="Wingdings" panose="05000000000000000000" pitchFamily="2" charset="2"/>
              </a:rPr>
              <a:t></a:t>
            </a:r>
            <a:r>
              <a:rPr lang="zh-TW" altLang="en-US" sz="1100" b="0" u="none" strike="noStrike" dirty="0">
                <a:effectLst/>
                <a:latin typeface="微軟正黑體" panose="020B0604030504040204" pitchFamily="34" charset="-120"/>
                <a:ea typeface="微軟正黑體" panose="020B0604030504040204" pitchFamily="34" charset="-120"/>
                <a:sym typeface="Wingdings" panose="05000000000000000000" pitchFamily="2" charset="2"/>
              </a:rPr>
              <a:t> </a:t>
            </a:r>
            <a:r>
              <a:rPr lang="zh-TW" altLang="zh-TW" sz="1100" b="0" u="none" strike="noStrike" dirty="0">
                <a:effectLst/>
                <a:latin typeface="微軟正黑體" panose="020B0604030504040204" pitchFamily="34" charset="-120"/>
                <a:ea typeface="微軟正黑體" panose="020B0604030504040204" pitchFamily="34" charset="-120"/>
              </a:rPr>
              <a:t>正能量矩陣</a:t>
            </a:r>
            <a:r>
              <a:rPr lang="zh-TW" altLang="en-US"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A</a:t>
            </a:r>
            <a:r>
              <a:rPr lang="zh-TW" altLang="en-US"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[N,N]</a:t>
            </a:r>
            <a:endParaRPr lang="en-US" altLang="zh-TW" sz="1100" b="0" u="none" strike="noStrike" dirty="0">
              <a:effectLst/>
              <a:latin typeface="微軟正黑體" panose="020B0604030504040204" pitchFamily="34" charset="-120"/>
              <a:ea typeface="微軟正黑體" panose="020B0604030504040204" pitchFamily="34" charset="-120"/>
            </a:endParaRPr>
          </a:p>
          <a:p>
            <a:pPr marL="171450" marR="0" indent="-171450">
              <a:lnSpc>
                <a:spcPts val="1400"/>
              </a:lnSpc>
              <a:buFont typeface="Wingdings" panose="05000000000000000000" pitchFamily="2" charset="2"/>
              <a:buChar char="à"/>
            </a:pPr>
            <a:r>
              <a:rPr lang="zh-TW" altLang="zh-TW" sz="1100" b="0" u="none" strike="noStrike" dirty="0">
                <a:effectLst/>
                <a:latin typeface="微軟正黑體" panose="020B0604030504040204" pitchFamily="34" charset="-120"/>
                <a:ea typeface="微軟正黑體" panose="020B0604030504040204" pitchFamily="34" charset="-120"/>
              </a:rPr>
              <a:t>步驟4: Sinkhorn</a:t>
            </a:r>
            <a:r>
              <a:rPr lang="zh-TW" altLang="en-US" sz="1100" b="0" u="none" strike="noStrike" dirty="0">
                <a:effectLst/>
                <a:latin typeface="微軟正黑體" panose="020B0604030504040204" pitchFamily="34" charset="-120"/>
                <a:ea typeface="微軟正黑體" panose="020B0604030504040204" pitchFamily="34" charset="-120"/>
              </a:rPr>
              <a:t> </a:t>
            </a:r>
            <a:r>
              <a:rPr lang="en-US" altLang="zh-TW" sz="1100" b="0" u="none" strike="noStrike" dirty="0">
                <a:effectLst/>
                <a:latin typeface="微軟正黑體" panose="020B0604030504040204" pitchFamily="34" charset="-120"/>
                <a:ea typeface="微軟正黑體" panose="020B0604030504040204" pitchFamily="34" charset="-120"/>
                <a:sym typeface="Wingdings" panose="05000000000000000000" pitchFamily="2" charset="2"/>
              </a:rPr>
              <a:t></a:t>
            </a:r>
            <a:r>
              <a:rPr lang="zh-TW" altLang="en-US" sz="1100" b="0" u="none" strike="noStrike" dirty="0">
                <a:effectLst/>
                <a:latin typeface="微軟正黑體" panose="020B0604030504040204" pitchFamily="34" charset="-120"/>
                <a:ea typeface="微軟正黑體" panose="020B0604030504040204" pitchFamily="34" charset="-120"/>
                <a:sym typeface="Wingdings" panose="05000000000000000000" pitchFamily="2" charset="2"/>
              </a:rPr>
              <a:t> </a:t>
            </a:r>
            <a:r>
              <a:rPr lang="zh-TW" altLang="zh-TW" sz="1100" b="0" u="none" strike="noStrike" dirty="0">
                <a:effectLst/>
                <a:latin typeface="微軟正黑體" panose="020B0604030504040204" pitchFamily="34" charset="-120"/>
                <a:ea typeface="微軟正黑體" panose="020B0604030504040204" pitchFamily="34" charset="-120"/>
              </a:rPr>
              <a:t>動態流形矩陣</a:t>
            </a:r>
            <a:r>
              <a:rPr lang="en-US" altLang="zh-TW"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H_res</a:t>
            </a:r>
            <a:r>
              <a:rPr lang="en-US" altLang="zh-TW"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N,N]</a:t>
            </a: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當這 4 個步驟在幾微秒內完成後</a:t>
            </a:r>
          </a:p>
        </p:txBody>
      </p:sp>
    </p:spTree>
    <p:extLst>
      <p:ext uri="{BB962C8B-B14F-4D97-AF65-F5344CB8AC3E}">
        <p14:creationId xmlns:p14="http://schemas.microsoft.com/office/powerpoint/2010/main" val="24595359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02E03E-7F2E-4C1D-BDC3-5AD0B8F50ACC}"/>
            </a:ext>
          </a:extLst>
        </p:cNvPr>
        <p:cNvGrpSpPr/>
        <p:nvPr/>
      </p:nvGrpSpPr>
      <p:grpSpPr>
        <a:xfrm>
          <a:off x="0" y="0"/>
          <a:ext cx="0" cy="0"/>
          <a:chOff x="0" y="0"/>
          <a:chExt cx="0" cy="0"/>
        </a:xfrm>
      </p:grpSpPr>
      <p:graphicFrame>
        <p:nvGraphicFramePr>
          <p:cNvPr id="30" name="表格 29">
            <a:extLst>
              <a:ext uri="{FF2B5EF4-FFF2-40B4-BE49-F238E27FC236}">
                <a16:creationId xmlns:a16="http://schemas.microsoft.com/office/drawing/2014/main" id="{FDF88A93-8C0E-D76F-97D3-A2772646F624}"/>
              </a:ext>
            </a:extLst>
          </p:cNvPr>
          <p:cNvGraphicFramePr>
            <a:graphicFrameLocks noGrp="1"/>
          </p:cNvGraphicFramePr>
          <p:nvPr>
            <p:extLst>
              <p:ext uri="{D42A27DB-BD31-4B8C-83A1-F6EECF244321}">
                <p14:modId xmlns:p14="http://schemas.microsoft.com/office/powerpoint/2010/main" val="945139990"/>
              </p:ext>
            </p:extLst>
          </p:nvPr>
        </p:nvGraphicFramePr>
        <p:xfrm>
          <a:off x="539552" y="4278208"/>
          <a:ext cx="8208911" cy="2103120"/>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1573424">
                  <a:extLst>
                    <a:ext uri="{9D8B030D-6E8A-4147-A177-3AD203B41FA5}">
                      <a16:colId xmlns:a16="http://schemas.microsoft.com/office/drawing/2014/main" val="2094346223"/>
                    </a:ext>
                  </a:extLst>
                </a:gridCol>
                <a:gridCol w="822561">
                  <a:extLst>
                    <a:ext uri="{9D8B030D-6E8A-4147-A177-3AD203B41FA5}">
                      <a16:colId xmlns:a16="http://schemas.microsoft.com/office/drawing/2014/main" val="2211145501"/>
                    </a:ext>
                  </a:extLst>
                </a:gridCol>
                <a:gridCol w="1297705">
                  <a:extLst>
                    <a:ext uri="{9D8B030D-6E8A-4147-A177-3AD203B41FA5}">
                      <a16:colId xmlns:a16="http://schemas.microsoft.com/office/drawing/2014/main" val="3328686525"/>
                    </a:ext>
                  </a:extLst>
                </a:gridCol>
                <a:gridCol w="1068698">
                  <a:extLst>
                    <a:ext uri="{9D8B030D-6E8A-4147-A177-3AD203B41FA5}">
                      <a16:colId xmlns:a16="http://schemas.microsoft.com/office/drawing/2014/main" val="962102743"/>
                    </a:ext>
                  </a:extLst>
                </a:gridCol>
                <a:gridCol w="1286284">
                  <a:extLst>
                    <a:ext uri="{9D8B030D-6E8A-4147-A177-3AD203B41FA5}">
                      <a16:colId xmlns:a16="http://schemas.microsoft.com/office/drawing/2014/main" val="3731412889"/>
                    </a:ext>
                  </a:extLst>
                </a:gridCol>
                <a:gridCol w="633770">
                  <a:extLst>
                    <a:ext uri="{9D8B030D-6E8A-4147-A177-3AD203B41FA5}">
                      <a16:colId xmlns:a16="http://schemas.microsoft.com/office/drawing/2014/main" val="2130031722"/>
                    </a:ext>
                  </a:extLst>
                </a:gridCol>
                <a:gridCol w="446349">
                  <a:extLst>
                    <a:ext uri="{9D8B030D-6E8A-4147-A177-3AD203B41FA5}">
                      <a16:colId xmlns:a16="http://schemas.microsoft.com/office/drawing/2014/main" val="3832649198"/>
                    </a:ext>
                  </a:extLst>
                </a:gridCol>
              </a:tblGrid>
              <a:tr h="178887">
                <a:tc rowSpan="2">
                  <a:txBody>
                    <a:bodyPr/>
                    <a:lstStyle/>
                    <a:p>
                      <a:pPr algn="ctr"/>
                      <a:endParaRPr lang="zh-TW" altLang="en-US"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Description</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2">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rowSpan="2">
                  <a:txBody>
                    <a:bodyPr/>
                    <a:lstStyle/>
                    <a:p>
                      <a:pPr algn="ctr"/>
                      <a:r>
                        <a:rPr lang="en-US" altLang="zh-TW" sz="1200" b="0" cap="none" spc="0" dirty="0">
                          <a:ln w="0"/>
                          <a:solidFill>
                            <a:schemeClr val="tx1"/>
                          </a:solidFill>
                          <a:effectLst/>
                        </a:rPr>
                        <a:t>License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API Cost</a:t>
                      </a:r>
                      <a:r>
                        <a:rPr lang="en-US" altLang="zh-TW" sz="1200" b="0" cap="none" spc="0" dirty="0">
                          <a:ln w="0"/>
                          <a:solidFill>
                            <a:schemeClr val="accent1"/>
                          </a:solidFill>
                          <a:effectLst/>
                        </a:rPr>
                        <a:t> </a:t>
                      </a:r>
                      <a:r>
                        <a:rPr lang="en-US" altLang="zh-TW" sz="1000" b="0" cap="none" spc="0" dirty="0">
                          <a:ln w="0"/>
                          <a:solidFill>
                            <a:schemeClr val="accent1"/>
                          </a:solidFill>
                          <a:effectLst/>
                        </a:rPr>
                        <a:t>$/Token</a:t>
                      </a:r>
                      <a:endParaRPr lang="zh-TW" altLang="en-US" sz="1000" b="0" cap="none" spc="0" dirty="0">
                        <a:ln w="0"/>
                        <a:solidFill>
                          <a:schemeClr val="accent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78887">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HBM/VRAM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267223550"/>
                  </a:ext>
                </a:extLst>
              </a:tr>
              <a:tr h="357773">
                <a:tc>
                  <a:txBody>
                    <a:bodyPr/>
                    <a:lstStyle/>
                    <a:p>
                      <a:pPr algn="l"/>
                      <a:r>
                        <a:rPr lang="en-US" altLang="zh-TW" sz="1200" b="0" cap="none" spc="0" dirty="0">
                          <a:ln w="0"/>
                          <a:solidFill>
                            <a:schemeClr val="tx1"/>
                          </a:solidFill>
                          <a:effectLst/>
                        </a:rPr>
                        <a:t>Kimi K3</a:t>
                      </a:r>
                    </a:p>
                    <a:p>
                      <a:pPr algn="l"/>
                      <a:r>
                        <a:rPr lang="en-US" altLang="zh-TW" sz="1000" b="0" cap="none" spc="0" dirty="0">
                          <a:ln w="0"/>
                          <a:solidFill>
                            <a:schemeClr val="accent1"/>
                          </a:solidFill>
                          <a:effectLst/>
                        </a:rPr>
                        <a:t>Moonshot</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r>
                        <a:rPr lang="en-US" altLang="zh-TW" sz="1200" b="0" cap="none" spc="0" dirty="0">
                          <a:ln w="0"/>
                          <a:solidFill>
                            <a:schemeClr val="tx1"/>
                          </a:solidFill>
                          <a:effectLst/>
                        </a:rPr>
                        <a:t>KDA, </a:t>
                      </a:r>
                      <a:r>
                        <a:rPr lang="en-US" altLang="zh-TW" sz="1200" b="0" u="sng" cap="none" spc="0" dirty="0">
                          <a:ln w="0"/>
                          <a:solidFill>
                            <a:schemeClr val="tx1"/>
                          </a:solidFill>
                          <a:effectLst/>
                        </a:rPr>
                        <a:t>Arena.ai</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Native Multimodal Agent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2.8T (104B)</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20*H100</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100G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0.86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577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V4 Pro</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DeepSeek</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r>
                        <a:rPr lang="en-US" altLang="zh-TW" sz="1200" b="0" cap="none" spc="0" dirty="0">
                          <a:ln w="0"/>
                          <a:solidFill>
                            <a:schemeClr val="tx1"/>
                          </a:solidFill>
                          <a:effectLst/>
                        </a:rPr>
                        <a:t>C/P,</a:t>
                      </a:r>
                      <a:r>
                        <a:rPr lang="zh-TW" altLang="en-US" sz="1200" b="0" cap="none" spc="0" dirty="0">
                          <a:ln w="0"/>
                          <a:solidFill>
                            <a:schemeClr val="tx1"/>
                          </a:solidFill>
                          <a:effectLst/>
                        </a:rPr>
                        <a:t> </a:t>
                      </a:r>
                      <a:r>
                        <a:rPr lang="en-US" altLang="zh-TW" sz="1200" b="0" u="sng" cap="none" spc="0" dirty="0">
                          <a:ln w="0"/>
                          <a:solidFill>
                            <a:schemeClr val="tx1"/>
                          </a:solidFill>
                          <a:effectLst/>
                        </a:rPr>
                        <a:t>STEM</a:t>
                      </a:r>
                      <a:r>
                        <a:rPr lang="en-US" altLang="zh-TW" sz="1200" b="0" cap="none" spc="0" dirty="0">
                          <a:ln w="0"/>
                          <a:solidFill>
                            <a:schemeClr val="tx1"/>
                          </a:solidFill>
                          <a:effectLst/>
                        </a:rPr>
                        <a:t>,</a:t>
                      </a:r>
                      <a:r>
                        <a:rPr lang="zh-TW" altLang="en-US" sz="1200" b="0" cap="none" spc="0" dirty="0">
                          <a:ln w="0"/>
                          <a:solidFill>
                            <a:schemeClr val="tx1"/>
                          </a:solidFill>
                          <a:effectLst/>
                        </a:rPr>
                        <a:t> </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1.6T (49B)</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10*H100</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80G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0.35~0.87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Claude Fable 5</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Anthropic</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3.15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59758637"/>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GPT-5.6 Sol</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OpenAI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1.86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837431638"/>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Gemini</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Google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5058973"/>
                  </a:ext>
                </a:extLst>
              </a:tr>
            </a:tbl>
          </a:graphicData>
        </a:graphic>
      </p:graphicFrame>
      <p:graphicFrame>
        <p:nvGraphicFramePr>
          <p:cNvPr id="3" name="表格 2">
            <a:extLst>
              <a:ext uri="{FF2B5EF4-FFF2-40B4-BE49-F238E27FC236}">
                <a16:creationId xmlns:a16="http://schemas.microsoft.com/office/drawing/2014/main" id="{20CF8D57-F62C-C701-EBBE-20B8CF002C59}"/>
              </a:ext>
            </a:extLst>
          </p:cNvPr>
          <p:cNvGraphicFramePr>
            <a:graphicFrameLocks noGrp="1"/>
          </p:cNvGraphicFramePr>
          <p:nvPr>
            <p:extLst>
              <p:ext uri="{D42A27DB-BD31-4B8C-83A1-F6EECF244321}">
                <p14:modId xmlns:p14="http://schemas.microsoft.com/office/powerpoint/2010/main" val="2715771664"/>
              </p:ext>
            </p:extLst>
          </p:nvPr>
        </p:nvGraphicFramePr>
        <p:xfrm>
          <a:off x="7157852" y="2218649"/>
          <a:ext cx="1090401" cy="788874"/>
        </p:xfrm>
        <a:graphic>
          <a:graphicData uri="http://schemas.openxmlformats.org/drawingml/2006/table">
            <a:tbl>
              <a:tblPr firstRow="1" bandRow="1">
                <a:tableStyleId>{5C22544A-7EE6-4342-B048-85BDC9FD1C3A}</a:tableStyleId>
              </a:tblPr>
              <a:tblGrid>
                <a:gridCol w="1090401">
                  <a:extLst>
                    <a:ext uri="{9D8B030D-6E8A-4147-A177-3AD203B41FA5}">
                      <a16:colId xmlns:a16="http://schemas.microsoft.com/office/drawing/2014/main" val="4072639710"/>
                    </a:ext>
                  </a:extLst>
                </a:gridCol>
              </a:tblGrid>
              <a:tr h="207498">
                <a:tc>
                  <a:txBody>
                    <a:bodyPr/>
                    <a:lstStyle/>
                    <a:p>
                      <a:pPr algn="l"/>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2304923032"/>
                  </a:ext>
                </a:extLst>
              </a:tr>
              <a:tr h="207498">
                <a:tc>
                  <a:txBody>
                    <a:bodyPr/>
                    <a:lstStyle/>
                    <a:p>
                      <a:pPr algn="l"/>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639812515"/>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81341950"/>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953988682"/>
                  </a:ext>
                </a:extLst>
              </a:tr>
            </a:tbl>
          </a:graphicData>
        </a:graphic>
      </p:graphicFrame>
      <p:sp>
        <p:nvSpPr>
          <p:cNvPr id="4" name="標題 1">
            <a:extLst>
              <a:ext uri="{FF2B5EF4-FFF2-40B4-BE49-F238E27FC236}">
                <a16:creationId xmlns:a16="http://schemas.microsoft.com/office/drawing/2014/main" id="{05340D84-CC47-CC3E-B3DE-7A987EFDD6B9}"/>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err="1">
                <a:latin typeface="Noto Sans HK" panose="020B0200000000000000" pitchFamily="34" charset="-120"/>
                <a:ea typeface="Noto Sans HK" panose="020B0200000000000000" pitchFamily="34" charset="-120"/>
                <a:cs typeface="Aharoni" panose="020F0502020204030204" pitchFamily="2" charset="-79"/>
              </a:rPr>
              <a:t>MoE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 Architecture</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6" name="圖片 5">
            <a:extLst>
              <a:ext uri="{FF2B5EF4-FFF2-40B4-BE49-F238E27FC236}">
                <a16:creationId xmlns:a16="http://schemas.microsoft.com/office/drawing/2014/main" id="{BA1A6188-F624-3C12-AEF8-4B9C71957B0D}"/>
              </a:ext>
            </a:extLst>
          </p:cNvPr>
          <p:cNvPicPr>
            <a:picLocks noChangeAspect="1"/>
          </p:cNvPicPr>
          <p:nvPr/>
        </p:nvPicPr>
        <p:blipFill>
          <a:blip r:embed="rId3"/>
          <a:stretch>
            <a:fillRect/>
          </a:stretch>
        </p:blipFill>
        <p:spPr>
          <a:xfrm>
            <a:off x="532120" y="-1035496"/>
            <a:ext cx="5413480" cy="7488832"/>
          </a:xfrm>
          <a:prstGeom prst="rect">
            <a:avLst/>
          </a:prstGeom>
          <a:solidFill>
            <a:schemeClr val="bg1"/>
          </a:solidFill>
        </p:spPr>
      </p:pic>
      <p:graphicFrame>
        <p:nvGraphicFramePr>
          <p:cNvPr id="9" name="表格 8">
            <a:extLst>
              <a:ext uri="{FF2B5EF4-FFF2-40B4-BE49-F238E27FC236}">
                <a16:creationId xmlns:a16="http://schemas.microsoft.com/office/drawing/2014/main" id="{D46908ED-3C05-75B7-C1BC-37F95757A753}"/>
              </a:ext>
            </a:extLst>
          </p:cNvPr>
          <p:cNvGraphicFramePr>
            <a:graphicFrameLocks noGrp="1"/>
          </p:cNvGraphicFramePr>
          <p:nvPr>
            <p:extLst>
              <p:ext uri="{D42A27DB-BD31-4B8C-83A1-F6EECF244321}">
                <p14:modId xmlns:p14="http://schemas.microsoft.com/office/powerpoint/2010/main" val="4236154462"/>
              </p:ext>
            </p:extLst>
          </p:nvPr>
        </p:nvGraphicFramePr>
        <p:xfrm>
          <a:off x="6474897" y="856984"/>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Tree>
    <p:extLst>
      <p:ext uri="{BB962C8B-B14F-4D97-AF65-F5344CB8AC3E}">
        <p14:creationId xmlns:p14="http://schemas.microsoft.com/office/powerpoint/2010/main" val="31562355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字方塊 2">
            <a:extLst>
              <a:ext uri="{FF2B5EF4-FFF2-40B4-BE49-F238E27FC236}">
                <a16:creationId xmlns:a16="http://schemas.microsoft.com/office/drawing/2014/main" id="{1D7DEF31-767A-9F8F-B0E4-8C2CE6788F28}"/>
              </a:ext>
            </a:extLst>
          </p:cNvPr>
          <p:cNvSpPr txBox="1"/>
          <p:nvPr/>
        </p:nvSpPr>
        <p:spPr>
          <a:xfrm>
            <a:off x="251520" y="260648"/>
            <a:ext cx="3384376" cy="4809009"/>
          </a:xfrm>
          <a:prstGeom prst="rect">
            <a:avLst/>
          </a:prstGeom>
          <a:noFill/>
        </p:spPr>
        <p:txBody>
          <a:bodyPr wrap="square">
            <a:spAutoFit/>
          </a:bodyPr>
          <a:lstStyle/>
          <a:p>
            <a:pPr marL="0" marR="0">
              <a:spcBef>
                <a:spcPts val="1800"/>
              </a:spcBef>
              <a:spcAft>
                <a:spcPts val="900"/>
              </a:spcAft>
              <a:buNone/>
            </a:pPr>
            <a:r>
              <a:rPr lang="zh-TW" altLang="zh-TW" sz="1100" b="1" u="none" strike="noStrike" dirty="0">
                <a:effectLst/>
                <a:latin typeface="微軟正黑體" panose="020B0604030504040204" pitchFamily="34" charset="-120"/>
                <a:ea typeface="微軟正黑體" panose="020B0604030504040204" pitchFamily="34" charset="-120"/>
              </a:rPr>
              <a:t>一、 解密路由激活函數：Sqrt(Softplus(·))</a:t>
            </a:r>
          </a:p>
          <a:p>
            <a:pPr marL="0" marR="0">
              <a:spcBef>
                <a:spcPts val="900"/>
              </a:spcBef>
              <a:spcAft>
                <a:spcPts val="1200"/>
              </a:spcAft>
              <a:buNone/>
            </a:pPr>
            <a:r>
              <a:rPr lang="zh-TW" altLang="zh-TW" sz="1100" b="0" u="none" strike="noStrike" dirty="0">
                <a:effectLst/>
                <a:latin typeface="微軟正黑體" panose="020B0604030504040204" pitchFamily="34" charset="-120"/>
                <a:ea typeface="微軟正黑體" panose="020B0604030504040204" pitchFamily="34" charset="-120"/>
              </a:rPr>
              <a:t>在傳統的混合專家模型（MoE）中，計算「Token 與專家的契合親和度」通常會使用 Sigmoid 或 Softmax。但 DeepSeek-V4 徹底將其替換為 </a:t>
            </a:r>
            <a:r>
              <a:rPr lang="zh-TW" altLang="zh-TW" sz="1100" b="1" u="none" strike="noStrike" dirty="0">
                <a:effectLst/>
                <a:latin typeface="微軟正黑體" panose="020B0604030504040204" pitchFamily="34" charset="-120"/>
                <a:ea typeface="微軟正黑體" panose="020B0604030504040204" pitchFamily="34" charset="-120"/>
              </a:rPr>
              <a:t>Sqrt(Softplus(·))</a:t>
            </a:r>
            <a:r>
              <a:rPr lang="zh-TW" altLang="zh-TW" sz="1100" b="0" u="none" strike="noStrike" dirty="0">
                <a:effectLst/>
                <a:latin typeface="微軟正黑體" panose="020B0604030504040204" pitchFamily="34" charset="-120"/>
                <a:ea typeface="微軟正黑體" panose="020B0604030504040204" pitchFamily="34" charset="-120"/>
              </a:rPr>
              <a:t>，其數學公式為： </a:t>
            </a:r>
            <a:endParaRPr lang="en-US" altLang="zh-TW" sz="1100" b="0" u="none" strike="noStrike" dirty="0">
              <a:effectLst/>
              <a:latin typeface="微軟正黑體" panose="020B0604030504040204" pitchFamily="34" charset="-120"/>
              <a:ea typeface="微軟正黑體" panose="020B0604030504040204" pitchFamily="34" charset="-120"/>
            </a:endParaRPr>
          </a:p>
          <a:p>
            <a:pPr marL="0" marR="0">
              <a:spcBef>
                <a:spcPts val="900"/>
              </a:spcBef>
              <a:spcAft>
                <a:spcPts val="1200"/>
              </a:spcAft>
              <a:buNone/>
            </a:pPr>
            <a:r>
              <a:rPr lang="en-US" altLang="zh-TW" sz="1100" dirty="0">
                <a:latin typeface="微軟正黑體" panose="020B0604030504040204" pitchFamily="34" charset="-120"/>
                <a:ea typeface="微軟正黑體" panose="020B0604030504040204" pitchFamily="34" charset="-120"/>
              </a:rPr>
              <a:t>Score(x) = Sqrt[ ln(1+e^x) ]</a:t>
            </a:r>
            <a:endParaRPr lang="zh-TW" altLang="zh-TW" sz="1100" b="0" u="none" strike="noStrike" dirty="0">
              <a:effectLst/>
              <a:latin typeface="微軟正黑體" panose="020B0604030504040204" pitchFamily="34" charset="-120"/>
              <a:ea typeface="微軟正黑體" panose="020B0604030504040204" pitchFamily="34" charset="-120"/>
            </a:endParaRPr>
          </a:p>
          <a:p>
            <a:pPr marL="0" marR="0">
              <a:spcBef>
                <a:spcPts val="900"/>
              </a:spcBef>
              <a:spcAft>
                <a:spcPts val="1200"/>
              </a:spcAft>
              <a:buNone/>
            </a:pPr>
            <a:r>
              <a:rPr lang="zh-TW" altLang="zh-TW" sz="1100" b="0" u="none" strike="noStrike" dirty="0">
                <a:effectLst/>
                <a:latin typeface="微軟正黑體" panose="020B0604030504040204" pitchFamily="34" charset="-120"/>
                <a:ea typeface="微軟正黑體" panose="020B0604030504040204" pitchFamily="34" charset="-120"/>
              </a:rPr>
              <a:t>這個改動帶來了三大關鍵優勢：</a:t>
            </a: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獨立評分不互相拉扯</a:t>
            </a:r>
            <a:r>
              <a:rPr lang="zh-TW" altLang="zh-TW" sz="1100" b="0" u="none" strike="noStrike" dirty="0">
                <a:effectLst/>
                <a:latin typeface="微軟正黑體" panose="020B0604030504040204" pitchFamily="34" charset="-120"/>
                <a:ea typeface="微軟正黑體" panose="020B0604030504040204" pitchFamily="34" charset="-120"/>
              </a:rPr>
              <a:t>：與 Softmax 不同，每個專家的分數是單獨計算的，這意味著某一個專家分數暴增時，不會強行壓低其他潛在適用專家的機率。 </a:t>
            </a:r>
            <a:endParaRPr lang="en-US" altLang="zh-TW" sz="1100" dirty="0">
              <a:latin typeface="微軟正黑體" panose="020B0604030504040204" pitchFamily="34" charset="-120"/>
              <a:ea typeface="微軟正黑體" panose="020B0604030504040204" pitchFamily="34" charset="-120"/>
            </a:endParaRP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平滑緩解極端路由</a:t>
            </a:r>
            <a:r>
              <a:rPr lang="zh-TW" altLang="zh-TW" sz="1100" b="0" u="none" strike="noStrike" dirty="0">
                <a:effectLst/>
                <a:latin typeface="微軟正黑體" panose="020B0604030504040204" pitchFamily="34" charset="-120"/>
                <a:ea typeface="微軟正黑體" panose="020B0604030504040204" pitchFamily="34" charset="-120"/>
              </a:rPr>
              <a:t>：Softplus 能提供平滑的漸進激活，而外層的</a:t>
            </a:r>
            <a:r>
              <a:rPr lang="zh-TW" altLang="zh-TW" sz="1100" b="1" u="none" strike="noStrike" dirty="0">
                <a:effectLst/>
                <a:latin typeface="微軟正黑體" panose="020B0604030504040204" pitchFamily="34" charset="-120"/>
                <a:ea typeface="微軟正黑體" panose="020B0604030504040204" pitchFamily="34" charset="-120"/>
              </a:rPr>
              <a:t>平方根（Sqrt）操作能進一步壓縮分數的極端範圍</a:t>
            </a:r>
            <a:r>
              <a:rPr lang="zh-TW" altLang="zh-TW" sz="1100" b="0" u="none" strike="noStrike" dirty="0">
                <a:effectLst/>
                <a:latin typeface="微軟正黑體" panose="020B0604030504040204" pitchFamily="34" charset="-120"/>
                <a:ea typeface="微軟正黑體" panose="020B0604030504040204" pitchFamily="34" charset="-120"/>
              </a:rPr>
              <a:t>，防止少數專家被「過度熱捧」而導致其他專家失業。 </a:t>
            </a: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有利於天然負載均衡</a:t>
            </a:r>
            <a:r>
              <a:rPr lang="zh-TW" altLang="zh-TW" sz="1100" b="0" u="none" strike="noStrike" dirty="0">
                <a:effectLst/>
                <a:latin typeface="微軟正黑體" panose="020B0604030504040204" pitchFamily="34" charset="-120"/>
                <a:ea typeface="微軟正黑體" panose="020B0604030504040204" pitchFamily="34" charset="-120"/>
              </a:rPr>
              <a:t>：路由分布更為平緩，模型在不需要僵硬的「輔助損失（Auxiliary Loss）」強迫制約下，就能自主實現極佳的專家分配均衡。</a:t>
            </a:r>
          </a:p>
        </p:txBody>
      </p:sp>
      <p:pic>
        <p:nvPicPr>
          <p:cNvPr id="5" name="圖片 4">
            <a:extLst>
              <a:ext uri="{FF2B5EF4-FFF2-40B4-BE49-F238E27FC236}">
                <a16:creationId xmlns:a16="http://schemas.microsoft.com/office/drawing/2014/main" id="{24B15496-A7F0-B40B-64D7-2E69EEF5EED0}"/>
              </a:ext>
            </a:extLst>
          </p:cNvPr>
          <p:cNvPicPr>
            <a:picLocks noChangeAspect="1"/>
          </p:cNvPicPr>
          <p:nvPr/>
        </p:nvPicPr>
        <p:blipFill>
          <a:blip r:embed="rId3"/>
          <a:stretch>
            <a:fillRect/>
          </a:stretch>
        </p:blipFill>
        <p:spPr>
          <a:xfrm>
            <a:off x="216496" y="1412776"/>
            <a:ext cx="2429214" cy="581106"/>
          </a:xfrm>
          <a:prstGeom prst="rect">
            <a:avLst/>
          </a:prstGeom>
        </p:spPr>
      </p:pic>
      <p:sp>
        <p:nvSpPr>
          <p:cNvPr id="7" name="文字方塊 6">
            <a:extLst>
              <a:ext uri="{FF2B5EF4-FFF2-40B4-BE49-F238E27FC236}">
                <a16:creationId xmlns:a16="http://schemas.microsoft.com/office/drawing/2014/main" id="{5DACEE6A-7394-9489-F6F8-35DC8A5AC10E}"/>
              </a:ext>
            </a:extLst>
          </p:cNvPr>
          <p:cNvSpPr txBox="1"/>
          <p:nvPr/>
        </p:nvSpPr>
        <p:spPr>
          <a:xfrm>
            <a:off x="3995936" y="188640"/>
            <a:ext cx="4572000" cy="5613396"/>
          </a:xfrm>
          <a:prstGeom prst="rect">
            <a:avLst/>
          </a:prstGeom>
          <a:noFill/>
        </p:spPr>
        <p:txBody>
          <a:bodyPr wrap="square">
            <a:spAutoFit/>
          </a:bodyPr>
          <a:lstStyle/>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二、 什麼是 DeepSeek-V4 的「混合注意力架構」？</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在過去的 V2/V3 中，DeepSeek 著名的是 Multi-head Latent Attention (MLA) 技術。然而到了 V4，為了解決 100 萬 Token 帶來的恐怖 </a:t>
            </a:r>
            <a:r>
              <a:rPr lang="zh-TW" altLang="zh-TW" sz="1100" b="1" u="none" strike="noStrike" dirty="0">
                <a:effectLst/>
                <a:latin typeface="微軟正黑體" panose="020B0604030504040204" pitchFamily="34" charset="-120"/>
                <a:ea typeface="微軟正黑體" panose="020B0604030504040204" pitchFamily="34" charset="-120"/>
              </a:rPr>
              <a:t>KV Cache（鍵值快取）記憶體爆炸問題</a:t>
            </a:r>
            <a:r>
              <a:rPr lang="zh-TW" altLang="zh-TW" sz="1100" b="0" u="none" strike="noStrike" dirty="0">
                <a:effectLst/>
                <a:latin typeface="微軟正黑體" panose="020B0604030504040204" pitchFamily="34" charset="-120"/>
                <a:ea typeface="微軟正黑體" panose="020B0604030504040204" pitchFamily="34" charset="-120"/>
              </a:rPr>
              <a:t>，官方開發出了由 </a:t>
            </a:r>
            <a:r>
              <a:rPr lang="zh-TW" altLang="zh-TW" sz="1100" b="1" u="none" strike="noStrike" dirty="0">
                <a:effectLst/>
                <a:latin typeface="微軟正黑體" panose="020B0604030504040204" pitchFamily="34" charset="-120"/>
                <a:ea typeface="微軟正黑體" panose="020B0604030504040204" pitchFamily="34" charset="-120"/>
              </a:rPr>
              <a:t>CSA</a:t>
            </a:r>
            <a:r>
              <a:rPr lang="zh-TW" altLang="zh-TW" sz="1100" b="0" u="none" strike="noStrike" dirty="0">
                <a:effectLst/>
                <a:latin typeface="微軟正黑體" panose="020B0604030504040204" pitchFamily="34" charset="-120"/>
                <a:ea typeface="微軟正黑體" panose="020B0604030504040204" pitchFamily="34" charset="-120"/>
              </a:rPr>
              <a:t> 與 </a:t>
            </a:r>
            <a:r>
              <a:rPr lang="zh-TW" altLang="zh-TW" sz="1100" b="1" u="none" strike="noStrike" dirty="0">
                <a:effectLst/>
                <a:latin typeface="微軟正黑體" panose="020B0604030504040204" pitchFamily="34" charset="-120"/>
                <a:ea typeface="微軟正黑體" panose="020B0604030504040204" pitchFamily="34" charset="-120"/>
              </a:rPr>
              <a:t>HCA</a:t>
            </a:r>
            <a:r>
              <a:rPr lang="zh-TW" altLang="zh-TW" sz="1100" b="0" u="none" strike="noStrike" dirty="0">
                <a:effectLst/>
                <a:latin typeface="微軟正黑體" panose="020B0604030504040204" pitchFamily="34" charset="-120"/>
                <a:ea typeface="微軟正黑體" panose="020B0604030504040204" pitchFamily="34" charset="-120"/>
              </a:rPr>
              <a:t> 交替層疊（Interleaved）組成的</a:t>
            </a:r>
            <a:r>
              <a:rPr lang="zh-TW" altLang="zh-TW" sz="1100" b="1" u="none" strike="noStrike" dirty="0">
                <a:effectLst/>
                <a:latin typeface="微軟正黑體" panose="020B0604030504040204" pitchFamily="34" charset="-120"/>
                <a:ea typeface="微軟正黑體" panose="020B0604030504040204" pitchFamily="34" charset="-120"/>
              </a:rPr>
              <a:t>混合注意力架構</a:t>
            </a:r>
            <a:r>
              <a:rPr lang="zh-TW" altLang="zh-TW" sz="1100" b="0" u="none" strike="noStrike" dirty="0">
                <a:effectLst/>
                <a:latin typeface="微軟正黑體" panose="020B0604030504040204" pitchFamily="34" charset="-120"/>
                <a:ea typeface="微軟正黑體" panose="020B0604030504040204" pitchFamily="34" charset="-120"/>
              </a:rPr>
              <a:t>。 </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它拋棄了「每個 Token 都必須精確記錄 KV 狀態」的傳統教條，改採</a:t>
            </a:r>
            <a:r>
              <a:rPr lang="zh-TW" altLang="zh-TW" sz="1100" b="1" u="none" strike="noStrike" dirty="0">
                <a:effectLst/>
                <a:latin typeface="微軟正黑體" panose="020B0604030504040204" pitchFamily="34" charset="-120"/>
                <a:ea typeface="微軟正黑體" panose="020B0604030504040204" pitchFamily="34" charset="-120"/>
              </a:rPr>
              <a:t>分層儲存、按需訪問</a:t>
            </a:r>
            <a:r>
              <a:rPr lang="zh-TW" altLang="zh-TW" sz="1100" b="0" u="none" strike="noStrike" dirty="0">
                <a:effectLst/>
                <a:latin typeface="微軟正黑體" panose="020B0604030504040204" pitchFamily="34" charset="-120"/>
                <a:ea typeface="微軟正黑體" panose="020B0604030504040204" pitchFamily="34" charset="-120"/>
              </a:rPr>
              <a:t>的策略，成功將 </a:t>
            </a:r>
            <a:r>
              <a:rPr lang="zh-TW" altLang="zh-TW" sz="1100" b="1" u="none" strike="noStrike" dirty="0">
                <a:effectLst/>
                <a:latin typeface="微軟正黑體" panose="020B0604030504040204" pitchFamily="34" charset="-120"/>
                <a:ea typeface="微軟正黑體" panose="020B0604030504040204" pitchFamily="34" charset="-120"/>
              </a:rPr>
              <a:t>KV Cache 暴減 90%，單 Token 推理算力（FLOPs）降低 73%</a:t>
            </a:r>
            <a:r>
              <a:rPr lang="zh-TW" altLang="zh-TW" sz="1100" b="0" u="none" strike="noStrike" dirty="0">
                <a:effectLst/>
                <a:latin typeface="微軟正黑體" panose="020B0604030504040204" pitchFamily="34" charset="-120"/>
                <a:ea typeface="微軟正黑體" panose="020B0604030504040204" pitchFamily="34" charset="-120"/>
              </a:rPr>
              <a:t>。</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這一架構由以下兩大機制交織而成：</a:t>
            </a:r>
            <a:endParaRPr lang="en-US" altLang="zh-TW" sz="1100" b="0" u="none" strike="noStrike" dirty="0">
              <a:effectLst/>
              <a:latin typeface="微軟正黑體" panose="020B0604030504040204" pitchFamily="34" charset="-120"/>
              <a:ea typeface="微軟正黑體" panose="020B0604030504040204" pitchFamily="34" charset="-120"/>
            </a:endParaRPr>
          </a:p>
          <a:p>
            <a:pPr marR="0">
              <a:lnSpc>
                <a:spcPts val="1600"/>
              </a:lnSpc>
              <a:buNone/>
            </a:pPr>
            <a:endParaRPr lang="zh-TW" altLang="zh-TW" sz="1100" b="0" u="none" strike="noStrike" dirty="0">
              <a:effectLst/>
              <a:latin typeface="微軟正黑體" panose="020B0604030504040204" pitchFamily="34" charset="-120"/>
              <a:ea typeface="微軟正黑體" panose="020B0604030504040204" pitchFamily="34" charset="-120"/>
            </a:endParaRP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1. 壓縮稀疏注意力（Compressed Sparse Attention, CSA）</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：將歷史脈絡每m</a:t>
            </a:r>
            <a:r>
              <a:rPr lang="en-US" altLang="zh-TW" sz="1100" b="0" u="none" strike="noStrike" dirty="0">
                <a:effectLst/>
                <a:latin typeface="微軟正黑體" panose="020B0604030504040204" pitchFamily="34" charset="-120"/>
                <a:ea typeface="微軟正黑體" panose="020B0604030504040204" pitchFamily="34" charset="-120"/>
              </a:rPr>
              <a:t>(4)</a:t>
            </a:r>
            <a:r>
              <a:rPr lang="zh-TW" altLang="zh-TW" sz="1100" b="0" u="none" strike="noStrike" dirty="0">
                <a:effectLst/>
                <a:latin typeface="微軟正黑體" panose="020B0604030504040204" pitchFamily="34" charset="-120"/>
                <a:ea typeface="微軟正黑體" panose="020B0604030504040204" pitchFamily="34" charset="-120"/>
              </a:rPr>
              <a:t>個Token的 KV 狀態，透過學習好的權重</a:t>
            </a:r>
            <a:r>
              <a:rPr lang="zh-TW" altLang="zh-TW" sz="1100" b="1" u="none" strike="noStrike" dirty="0">
                <a:effectLst/>
                <a:latin typeface="微軟正黑體" panose="020B0604030504040204" pitchFamily="34" charset="-120"/>
                <a:ea typeface="微軟正黑體" panose="020B0604030504040204" pitchFamily="34" charset="-120"/>
              </a:rPr>
              <a:t>數學壓縮</a:t>
            </a:r>
            <a:r>
              <a:rPr lang="zh-TW" altLang="zh-TW" sz="1100" b="0" u="none" strike="noStrike" dirty="0">
                <a:effectLst/>
                <a:latin typeface="微軟正黑體" panose="020B0604030504040204" pitchFamily="34" charset="-120"/>
                <a:ea typeface="微軟正黑體" panose="020B0604030504040204" pitchFamily="34" charset="-120"/>
              </a:rPr>
              <a:t>鎖定成一個合併表徵。接著，由 Lightning Indexer 快速動態檢索出最相關的 Top-K 個壓縮記憶條目。</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角色定位</a:t>
            </a:r>
            <a:r>
              <a:rPr lang="zh-TW" altLang="zh-TW" sz="1100" b="0" u="none" strike="noStrike" dirty="0">
                <a:effectLst/>
                <a:latin typeface="微軟正黑體" panose="020B0604030504040204" pitchFamily="34" charset="-120"/>
                <a:ea typeface="微軟正黑體" panose="020B0604030504040204" pitchFamily="34" charset="-120"/>
              </a:rPr>
              <a:t>：它就像是</a:t>
            </a:r>
            <a:r>
              <a:rPr lang="en-US" altLang="zh-TW" sz="1100" b="1" u="none" strike="noStrike" dirty="0">
                <a:effectLst/>
                <a:latin typeface="微軟正黑體" panose="020B0604030504040204" pitchFamily="34" charset="-120"/>
                <a:ea typeface="微軟正黑體" panose="020B0604030504040204" pitchFamily="34" charset="-120"/>
              </a:rPr>
              <a:t>(</a:t>
            </a:r>
            <a:r>
              <a:rPr lang="zh-TW" altLang="zh-TW" sz="1100" b="1" u="none" strike="noStrike" dirty="0">
                <a:effectLst/>
                <a:latin typeface="微軟正黑體" panose="020B0604030504040204" pitchFamily="34" charset="-120"/>
                <a:ea typeface="微軟正黑體" panose="020B0604030504040204" pitchFamily="34" charset="-120"/>
              </a:rPr>
              <a:t>中等解析度的檢索器</a:t>
            </a:r>
            <a:r>
              <a:rPr lang="en-US" altLang="zh-TW" sz="1100" b="1" u="none" strike="noStrike" dirty="0">
                <a:effectLst/>
                <a:latin typeface="微軟正黑體" panose="020B0604030504040204" pitchFamily="34" charset="-120"/>
                <a:ea typeface="微軟正黑體" panose="020B0604030504040204" pitchFamily="34" charset="-120"/>
              </a:rPr>
              <a:t>),</a:t>
            </a:r>
            <a:r>
              <a:rPr lang="zh-TW" altLang="en-US" sz="1100" b="1"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不全量掃描百萬上下文，只找出跟當前問題最相關的歷史片段。 </a:t>
            </a: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2. 重度壓縮注意力（Heavily Compressed Attention, HCA）</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：採用更激進的重度壓縮比（例如每 128 個 Token 壓縮成一條全局 KV 狀態），然後對這些高度壓縮的狀態進行</a:t>
            </a:r>
            <a:r>
              <a:rPr lang="zh-TW" altLang="zh-TW" sz="1100" b="1" u="none" strike="noStrike" dirty="0">
                <a:effectLst/>
                <a:latin typeface="微軟正黑體" panose="020B0604030504040204" pitchFamily="34" charset="-120"/>
                <a:ea typeface="微軟正黑體" panose="020B0604030504040204" pitchFamily="34" charset="-120"/>
              </a:rPr>
              <a:t>密集的全局注意力計算</a:t>
            </a:r>
            <a:r>
              <a:rPr lang="zh-TW" altLang="zh-TW" sz="1100" b="0" u="none" strike="noStrike" dirty="0">
                <a:effectLst/>
                <a:latin typeface="微軟正黑體" panose="020B0604030504040204" pitchFamily="34" charset="-120"/>
                <a:ea typeface="微軟正黑體" panose="020B0604030504040204" pitchFamily="34" charset="-120"/>
              </a:rPr>
              <a:t>。</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角色定位</a:t>
            </a:r>
            <a:r>
              <a:rPr lang="zh-TW" altLang="zh-TW" sz="1100" b="0" u="none" strike="noStrike" dirty="0">
                <a:effectLst/>
                <a:latin typeface="微軟正黑體" panose="020B0604030504040204" pitchFamily="34" charset="-120"/>
                <a:ea typeface="微軟正黑體" panose="020B0604030504040204" pitchFamily="34" charset="-120"/>
              </a:rPr>
              <a:t>：它就像是</a:t>
            </a:r>
            <a:r>
              <a:rPr lang="zh-TW" altLang="zh-TW" sz="1100" b="1" u="none" strike="noStrike" dirty="0">
                <a:effectLst/>
                <a:latin typeface="微軟正黑體" panose="020B0604030504040204" pitchFamily="34" charset="-120"/>
                <a:ea typeface="微軟正黑體" panose="020B0604030504040204" pitchFamily="34" charset="-120"/>
              </a:rPr>
              <a:t>「低解析度的全局老地圖」</a:t>
            </a:r>
            <a:r>
              <a:rPr lang="zh-TW" altLang="zh-TW" sz="1100" b="0" u="none" strike="noStrike" dirty="0">
                <a:effectLst/>
                <a:latin typeface="微軟正黑體" panose="020B0604030504040204" pitchFamily="34" charset="-120"/>
                <a:ea typeface="微軟正黑體" panose="020B0604030504040204" pitchFamily="34" charset="-120"/>
              </a:rPr>
              <a:t>。雖然細節被模糊了，但它確保模型不會因為稀疏檢索而徹底切碎整體文章結構，依然看得見故事的宏觀輪廓。 </a:t>
            </a: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3. 滑動窗口（Sliding Window）</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：不論 CSA 還是 HCA，對於「當前最新、最鄰近」的上下文（例如最新的 128 個 Token），都依然保持 100% 完整且精確的精細注意力。</a:t>
            </a:r>
          </a:p>
        </p:txBody>
      </p:sp>
      <p:graphicFrame>
        <p:nvGraphicFramePr>
          <p:cNvPr id="6" name="表格 5">
            <a:extLst>
              <a:ext uri="{FF2B5EF4-FFF2-40B4-BE49-F238E27FC236}">
                <a16:creationId xmlns:a16="http://schemas.microsoft.com/office/drawing/2014/main" id="{73A2FB69-DDF4-9EAC-D7D6-632FE413F84A}"/>
              </a:ext>
            </a:extLst>
          </p:cNvPr>
          <p:cNvGraphicFramePr>
            <a:graphicFrameLocks noGrp="1"/>
          </p:cNvGraphicFramePr>
          <p:nvPr>
            <p:extLst>
              <p:ext uri="{D42A27DB-BD31-4B8C-83A1-F6EECF244321}">
                <p14:modId xmlns:p14="http://schemas.microsoft.com/office/powerpoint/2010/main" val="1317161879"/>
              </p:ext>
            </p:extLst>
          </p:nvPr>
        </p:nvGraphicFramePr>
        <p:xfrm>
          <a:off x="1691680" y="5661248"/>
          <a:ext cx="1944216" cy="788874"/>
        </p:xfrm>
        <a:graphic>
          <a:graphicData uri="http://schemas.openxmlformats.org/drawingml/2006/table">
            <a:tbl>
              <a:tblPr firstRow="1" bandRow="1">
                <a:tableStyleId>{5C22544A-7EE6-4342-B048-85BDC9FD1C3A}</a:tableStyleId>
              </a:tblPr>
              <a:tblGrid>
                <a:gridCol w="504056">
                  <a:extLst>
                    <a:ext uri="{9D8B030D-6E8A-4147-A177-3AD203B41FA5}">
                      <a16:colId xmlns:a16="http://schemas.microsoft.com/office/drawing/2014/main" val="4072639710"/>
                    </a:ext>
                  </a:extLst>
                </a:gridCol>
                <a:gridCol w="1440160">
                  <a:extLst>
                    <a:ext uri="{9D8B030D-6E8A-4147-A177-3AD203B41FA5}">
                      <a16:colId xmlns:a16="http://schemas.microsoft.com/office/drawing/2014/main" val="4106879781"/>
                    </a:ext>
                  </a:extLst>
                </a:gridCol>
              </a:tblGrid>
              <a:tr h="207498">
                <a:tc>
                  <a:txBody>
                    <a:bodyPr/>
                    <a:lstStyle/>
                    <a:p>
                      <a:pPr algn="l"/>
                      <a:r>
                        <a:rPr lang="en-US" altLang="zh-TW" sz="1200" b="1" cap="none" spc="0" dirty="0">
                          <a:ln w="0"/>
                          <a:solidFill>
                            <a:schemeClr val="tx1"/>
                          </a:solidFill>
                          <a:effectLst/>
                        </a:rPr>
                        <a:t>CSA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algn="l"/>
                      <a:r>
                        <a:rPr lang="en-US" altLang="zh-TW" sz="1200" b="0" cap="none" spc="0" dirty="0" err="1">
                          <a:ln w="0"/>
                          <a:solidFill>
                            <a:schemeClr val="tx1"/>
                          </a:solidFill>
                          <a:effectLst/>
                        </a:rPr>
                        <a:t>xadsf</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2304923032"/>
                  </a:ext>
                </a:extLst>
              </a:tr>
              <a:tr h="207498">
                <a:tc>
                  <a:txBody>
                    <a:bodyPr/>
                    <a:lstStyle/>
                    <a:p>
                      <a:pPr algn="l"/>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algn="l"/>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639812515"/>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81341950"/>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953988682"/>
                  </a:ext>
                </a:extLst>
              </a:tr>
            </a:tbl>
          </a:graphicData>
        </a:graphic>
      </p:graphicFrame>
      <p:pic>
        <p:nvPicPr>
          <p:cNvPr id="4" name="圖片 3">
            <a:extLst>
              <a:ext uri="{FF2B5EF4-FFF2-40B4-BE49-F238E27FC236}">
                <a16:creationId xmlns:a16="http://schemas.microsoft.com/office/drawing/2014/main" id="{C769F52B-0531-C9AC-626B-6D6332C197AD}"/>
              </a:ext>
            </a:extLst>
          </p:cNvPr>
          <p:cNvPicPr>
            <a:picLocks noChangeAspect="1"/>
          </p:cNvPicPr>
          <p:nvPr/>
        </p:nvPicPr>
        <p:blipFill>
          <a:blip r:embed="rId4"/>
          <a:stretch>
            <a:fillRect/>
          </a:stretch>
        </p:blipFill>
        <p:spPr>
          <a:xfrm>
            <a:off x="2886375" y="536354"/>
            <a:ext cx="3362794" cy="1457528"/>
          </a:xfrm>
          <a:prstGeom prst="rect">
            <a:avLst/>
          </a:prstGeom>
          <a:effectLst>
            <a:glow rad="50800">
              <a:schemeClr val="accent5"/>
            </a:glow>
          </a:effectLst>
        </p:spPr>
      </p:pic>
    </p:spTree>
    <p:extLst>
      <p:ext uri="{BB962C8B-B14F-4D97-AF65-F5344CB8AC3E}">
        <p14:creationId xmlns:p14="http://schemas.microsoft.com/office/powerpoint/2010/main" val="314539505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A16EEC-6C42-09B9-F859-79359689D7A7}"/>
            </a:ext>
          </a:extLst>
        </p:cNvPr>
        <p:cNvGrpSpPr/>
        <p:nvPr/>
      </p:nvGrpSpPr>
      <p:grpSpPr>
        <a:xfrm>
          <a:off x="0" y="0"/>
          <a:ext cx="0" cy="0"/>
          <a:chOff x="0" y="0"/>
          <a:chExt cx="0" cy="0"/>
        </a:xfrm>
      </p:grpSpPr>
      <p:sp>
        <p:nvSpPr>
          <p:cNvPr id="6" name="標題 1">
            <a:extLst>
              <a:ext uri="{FF2B5EF4-FFF2-40B4-BE49-F238E27FC236}">
                <a16:creationId xmlns:a16="http://schemas.microsoft.com/office/drawing/2014/main" id="{2DCB68E9-8DA3-5172-2398-EEF1F9E21177}"/>
              </a:ext>
            </a:extLst>
          </p:cNvPr>
          <p:cNvSpPr txBox="1">
            <a:spLocks/>
          </p:cNvSpPr>
          <p:nvPr/>
        </p:nvSpPr>
        <p:spPr>
          <a:xfrm>
            <a:off x="-367479" y="1297753"/>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Flash</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284B.</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7" name="標題 1">
            <a:extLst>
              <a:ext uri="{FF2B5EF4-FFF2-40B4-BE49-F238E27FC236}">
                <a16:creationId xmlns:a16="http://schemas.microsoft.com/office/drawing/2014/main" id="{C4591A5C-3125-91C4-210F-A6EA5099E439}"/>
              </a:ext>
            </a:extLst>
          </p:cNvPr>
          <p:cNvSpPr txBox="1">
            <a:spLocks/>
          </p:cNvSpPr>
          <p:nvPr/>
        </p:nvSpPr>
        <p:spPr>
          <a:xfrm>
            <a:off x="1792025" y="4367791"/>
            <a:ext cx="1102112" cy="576064"/>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 dimension of 4096</a:t>
            </a: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2" name="標題 1">
            <a:extLst>
              <a:ext uri="{FF2B5EF4-FFF2-40B4-BE49-F238E27FC236}">
                <a16:creationId xmlns:a16="http://schemas.microsoft.com/office/drawing/2014/main" id="{5CD8287F-FC84-6024-A406-47CC8DDD1F8C}"/>
              </a:ext>
            </a:extLst>
          </p:cNvPr>
          <p:cNvSpPr txBox="1">
            <a:spLocks/>
          </p:cNvSpPr>
          <p:nvPr/>
        </p:nvSpPr>
        <p:spPr>
          <a:xfrm>
            <a:off x="7144904" y="5723144"/>
            <a:ext cx="1224136" cy="116632"/>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Tokenized text</a:t>
            </a:r>
          </a:p>
        </p:txBody>
      </p:sp>
      <p:pic>
        <p:nvPicPr>
          <p:cNvPr id="3" name="圖片 2">
            <a:extLst>
              <a:ext uri="{FF2B5EF4-FFF2-40B4-BE49-F238E27FC236}">
                <a16:creationId xmlns:a16="http://schemas.microsoft.com/office/drawing/2014/main" id="{4847F2FE-A7D1-1C7A-9A41-E11D98AA70E1}"/>
              </a:ext>
            </a:extLst>
          </p:cNvPr>
          <p:cNvPicPr>
            <a:picLocks noChangeAspect="1"/>
          </p:cNvPicPr>
          <p:nvPr/>
        </p:nvPicPr>
        <p:blipFill>
          <a:blip r:embed="rId2"/>
          <a:stretch>
            <a:fillRect/>
          </a:stretch>
        </p:blipFill>
        <p:spPr>
          <a:xfrm>
            <a:off x="1691680" y="1265195"/>
            <a:ext cx="4901991" cy="6781255"/>
          </a:xfrm>
          <a:prstGeom prst="rect">
            <a:avLst/>
          </a:prstGeom>
          <a:solidFill>
            <a:schemeClr val="bg1"/>
          </a:solidFill>
        </p:spPr>
      </p:pic>
      <p:sp>
        <p:nvSpPr>
          <p:cNvPr id="4" name="標題 1">
            <a:extLst>
              <a:ext uri="{FF2B5EF4-FFF2-40B4-BE49-F238E27FC236}">
                <a16:creationId xmlns:a16="http://schemas.microsoft.com/office/drawing/2014/main" id="{301070FD-10B6-59FE-9BB5-16870A81BE8B}"/>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Attention</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7D23CA4D-74B5-B838-0C16-D0A3B68E32D7}"/>
              </a:ext>
            </a:extLst>
          </p:cNvPr>
          <p:cNvPicPr>
            <a:picLocks noChangeAspect="1"/>
          </p:cNvPicPr>
          <p:nvPr/>
        </p:nvPicPr>
        <p:blipFill>
          <a:blip r:embed="rId3"/>
          <a:stretch>
            <a:fillRect/>
          </a:stretch>
        </p:blipFill>
        <p:spPr>
          <a:xfrm>
            <a:off x="-907736" y="626705"/>
            <a:ext cx="10051736" cy="5362487"/>
          </a:xfrm>
          <a:prstGeom prst="rect">
            <a:avLst/>
          </a:prstGeom>
        </p:spPr>
      </p:pic>
      <p:sp>
        <p:nvSpPr>
          <p:cNvPr id="5" name="文字方塊 4">
            <a:extLst>
              <a:ext uri="{FF2B5EF4-FFF2-40B4-BE49-F238E27FC236}">
                <a16:creationId xmlns:a16="http://schemas.microsoft.com/office/drawing/2014/main" id="{17F30396-DC7F-E655-B68F-0E042D1DCC88}"/>
              </a:ext>
            </a:extLst>
          </p:cNvPr>
          <p:cNvSpPr txBox="1"/>
          <p:nvPr/>
        </p:nvSpPr>
        <p:spPr>
          <a:xfrm>
            <a:off x="7282756" y="1020198"/>
            <a:ext cx="948432" cy="369332"/>
          </a:xfrm>
          <a:prstGeom prst="rect">
            <a:avLst/>
          </a:prstGeom>
          <a:noFill/>
        </p:spPr>
        <p:txBody>
          <a:bodyPr wrap="square">
            <a:spAutoFit/>
          </a:bodyPr>
          <a:lstStyle/>
          <a:p>
            <a:r>
              <a:rPr lang="zh-TW" altLang="zh-TW" dirty="0"/>
              <a:t>Top-512 </a:t>
            </a:r>
            <a:endParaRPr lang="zh-TW" altLang="en-US" dirty="0"/>
          </a:p>
        </p:txBody>
      </p:sp>
    </p:spTree>
    <p:extLst>
      <p:ext uri="{BB962C8B-B14F-4D97-AF65-F5344CB8AC3E}">
        <p14:creationId xmlns:p14="http://schemas.microsoft.com/office/powerpoint/2010/main" val="97747055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D12A1-524B-7809-BD36-D84446C462E5}"/>
            </a:ext>
          </a:extLst>
        </p:cNvPr>
        <p:cNvGrpSpPr/>
        <p:nvPr/>
      </p:nvGrpSpPr>
      <p:grpSpPr>
        <a:xfrm>
          <a:off x="0" y="0"/>
          <a:ext cx="0" cy="0"/>
          <a:chOff x="0" y="0"/>
          <a:chExt cx="0" cy="0"/>
        </a:xfrm>
      </p:grpSpPr>
      <p:sp>
        <p:nvSpPr>
          <p:cNvPr id="4" name="矩形: 圓角 3">
            <a:extLst>
              <a:ext uri="{FF2B5EF4-FFF2-40B4-BE49-F238E27FC236}">
                <a16:creationId xmlns:a16="http://schemas.microsoft.com/office/drawing/2014/main" id="{7EFE7C6C-3BA3-27DD-300E-DA8C0A20DC7A}"/>
              </a:ext>
            </a:extLst>
          </p:cNvPr>
          <p:cNvSpPr/>
          <p:nvPr/>
        </p:nvSpPr>
        <p:spPr>
          <a:xfrm>
            <a:off x="467826" y="1922626"/>
            <a:ext cx="1219522" cy="2795046"/>
          </a:xfrm>
          <a:prstGeom prst="roundRect">
            <a:avLst>
              <a:gd name="adj" fmla="val 10053"/>
            </a:avLst>
          </a:prstGeom>
          <a:solidFill>
            <a:schemeClr val="bg1">
              <a:lumMod val="95000"/>
              <a:alpha val="4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7" name="文字方塊 26">
            <a:extLst>
              <a:ext uri="{FF2B5EF4-FFF2-40B4-BE49-F238E27FC236}">
                <a16:creationId xmlns:a16="http://schemas.microsoft.com/office/drawing/2014/main" id="{1518336E-A416-D90F-A9D4-59E288FC7015}"/>
              </a:ext>
            </a:extLst>
          </p:cNvPr>
          <p:cNvSpPr txBox="1"/>
          <p:nvPr/>
        </p:nvSpPr>
        <p:spPr>
          <a:xfrm>
            <a:off x="535220" y="2002310"/>
            <a:ext cx="1086557" cy="895026"/>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DeepSeek </a:t>
            </a:r>
            <a:r>
              <a:rPr lang="en-US" altLang="zh-TW" sz="1000" b="1" dirty="0" err="1">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MoE</a:t>
            </a:r>
            <a:endPar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6" name="標題 1">
            <a:extLst>
              <a:ext uri="{FF2B5EF4-FFF2-40B4-BE49-F238E27FC236}">
                <a16:creationId xmlns:a16="http://schemas.microsoft.com/office/drawing/2014/main" id="{4C96685B-48C1-5AE8-649A-AE7D8CEC7A46}"/>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 </a:t>
            </a:r>
            <a:r>
              <a:rPr lang="en-US" altLang="zh-TW" sz="2800" dirty="0" err="1">
                <a:latin typeface="Noto Sans HK" panose="020B0200000000000000" pitchFamily="34" charset="-120"/>
                <a:ea typeface="Noto Sans HK" panose="020B0200000000000000" pitchFamily="34" charset="-120"/>
                <a:cs typeface="Aharoni" panose="020F0502020204030204" pitchFamily="2" charset="-79"/>
              </a:rPr>
              <a:t>MoE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 Architecture</a:t>
            </a:r>
          </a:p>
          <a:p>
            <a:r>
              <a:rPr lang="en-US" altLang="zh-TW" sz="1600" dirty="0">
                <a:latin typeface="Noto Sans HK" panose="020B0200000000000000" pitchFamily="34" charset="-120"/>
                <a:ea typeface="Noto Sans HK" panose="020B0200000000000000" pitchFamily="34" charset="-120"/>
                <a:cs typeface="Aharoni" panose="020F0502020204030204" pitchFamily="2" charset="-79"/>
              </a:rPr>
              <a:t>HCA + CSA + SWA)</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59" name="矩形: 圓角 58">
            <a:extLst>
              <a:ext uri="{FF2B5EF4-FFF2-40B4-BE49-F238E27FC236}">
                <a16:creationId xmlns:a16="http://schemas.microsoft.com/office/drawing/2014/main" id="{D4492F42-9A48-7559-B09C-CD68BBB98673}"/>
              </a:ext>
            </a:extLst>
          </p:cNvPr>
          <p:cNvSpPr/>
          <p:nvPr/>
        </p:nvSpPr>
        <p:spPr>
          <a:xfrm>
            <a:off x="4371483" y="3971785"/>
            <a:ext cx="388290" cy="945571"/>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HCA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Heavily</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Compressed</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1" name="矩形: 圓角 60">
            <a:extLst>
              <a:ext uri="{FF2B5EF4-FFF2-40B4-BE49-F238E27FC236}">
                <a16:creationId xmlns:a16="http://schemas.microsoft.com/office/drawing/2014/main" id="{E0FE9C50-9ED4-EEF1-DB11-313983973D80}"/>
              </a:ext>
            </a:extLst>
          </p:cNvPr>
          <p:cNvSpPr/>
          <p:nvPr/>
        </p:nvSpPr>
        <p:spPr>
          <a:xfrm>
            <a:off x="5025287" y="3971785"/>
            <a:ext cx="388290" cy="945571"/>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CSA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rPr>
              <a:t>Compressed</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rPr>
              <a:t>Sparse</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schemeClr val="tx1">
                    <a:lumMod val="50000"/>
                    <a:lumOff val="50000"/>
                  </a:schemeClr>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endParaRPr>
          </a:p>
        </p:txBody>
      </p:sp>
      <p:sp>
        <p:nvSpPr>
          <p:cNvPr id="63" name="矩形: 圓角 62">
            <a:extLst>
              <a:ext uri="{FF2B5EF4-FFF2-40B4-BE49-F238E27FC236}">
                <a16:creationId xmlns:a16="http://schemas.microsoft.com/office/drawing/2014/main" id="{D1CFA22C-FC0A-8BFB-7CFC-89120D4B60FA}"/>
              </a:ext>
            </a:extLst>
          </p:cNvPr>
          <p:cNvSpPr/>
          <p:nvPr/>
        </p:nvSpPr>
        <p:spPr>
          <a:xfrm>
            <a:off x="3717680" y="3964468"/>
            <a:ext cx="388290" cy="945571"/>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SWA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Sliding </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Window</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5" name="矩形: 圓角 64">
            <a:extLst>
              <a:ext uri="{FF2B5EF4-FFF2-40B4-BE49-F238E27FC236}">
                <a16:creationId xmlns:a16="http://schemas.microsoft.com/office/drawing/2014/main" id="{4D656499-B9B9-165F-E9C0-82F2383D8243}"/>
              </a:ext>
            </a:extLst>
          </p:cNvPr>
          <p:cNvSpPr/>
          <p:nvPr/>
        </p:nvSpPr>
        <p:spPr>
          <a:xfrm>
            <a:off x="6394691" y="1121022"/>
            <a:ext cx="1085551" cy="416508"/>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SLUI</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Heavily Compressed</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2" name="矩形: 圓角 1">
            <a:extLst>
              <a:ext uri="{FF2B5EF4-FFF2-40B4-BE49-F238E27FC236}">
                <a16:creationId xmlns:a16="http://schemas.microsoft.com/office/drawing/2014/main" id="{9E34D9C9-7AF3-64E8-B6D4-198AFA476069}"/>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9" name="文字方塊 8">
            <a:extLst>
              <a:ext uri="{FF2B5EF4-FFF2-40B4-BE49-F238E27FC236}">
                <a16:creationId xmlns:a16="http://schemas.microsoft.com/office/drawing/2014/main" id="{354432FE-9D7B-376D-0444-6C59BF1FD1A3}"/>
              </a:ext>
            </a:extLst>
          </p:cNvPr>
          <p:cNvSpPr txBox="1"/>
          <p:nvPr/>
        </p:nvSpPr>
        <p:spPr>
          <a:xfrm>
            <a:off x="535220" y="3192840"/>
            <a:ext cx="1086557" cy="442008"/>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Hybrid Attention</a:t>
            </a:r>
          </a:p>
        </p:txBody>
      </p:sp>
      <p:cxnSp>
        <p:nvCxnSpPr>
          <p:cNvPr id="11" name="直線單箭頭接點 10">
            <a:extLst>
              <a:ext uri="{FF2B5EF4-FFF2-40B4-BE49-F238E27FC236}">
                <a16:creationId xmlns:a16="http://schemas.microsoft.com/office/drawing/2014/main" id="{F48A2720-B141-FB41-BD97-3F355EAE3956}"/>
              </a:ext>
            </a:extLst>
          </p:cNvPr>
          <p:cNvCxnSpPr>
            <a:cxnSpLocks/>
          </p:cNvCxnSpPr>
          <p:nvPr/>
        </p:nvCxnSpPr>
        <p:spPr>
          <a:xfrm flipH="1" flipV="1">
            <a:off x="1894726" y="4653136"/>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 name="矩形: 圓角 11">
            <a:extLst>
              <a:ext uri="{FF2B5EF4-FFF2-40B4-BE49-F238E27FC236}">
                <a16:creationId xmlns:a16="http://schemas.microsoft.com/office/drawing/2014/main" id="{2A274430-BA32-BDBA-A446-8671AC7B71EA}"/>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3" name="直線單箭頭接點 12">
            <a:extLst>
              <a:ext uri="{FF2B5EF4-FFF2-40B4-BE49-F238E27FC236}">
                <a16:creationId xmlns:a16="http://schemas.microsoft.com/office/drawing/2014/main" id="{FC3B1CE7-C165-5379-2ED8-9927C6396A9B}"/>
              </a:ext>
            </a:extLst>
          </p:cNvPr>
          <p:cNvCxnSpPr>
            <a:cxnSpLocks/>
            <a:stCxn id="4" idx="0"/>
            <a:endCxn id="12"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4" name="矩形 13">
            <a:extLst>
              <a:ext uri="{FF2B5EF4-FFF2-40B4-BE49-F238E27FC236}">
                <a16:creationId xmlns:a16="http://schemas.microsoft.com/office/drawing/2014/main" id="{AFA516C7-44C4-1332-E4AD-0CA52CC66035}"/>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5" name="矩形: 圓角 14">
            <a:extLst>
              <a:ext uri="{FF2B5EF4-FFF2-40B4-BE49-F238E27FC236}">
                <a16:creationId xmlns:a16="http://schemas.microsoft.com/office/drawing/2014/main" id="{2335679A-9B2B-8055-0E8E-46782CEE3A87}"/>
              </a:ext>
            </a:extLst>
          </p:cNvPr>
          <p:cNvSpPr/>
          <p:nvPr/>
        </p:nvSpPr>
        <p:spPr>
          <a:xfrm>
            <a:off x="607229" y="4221088"/>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d</a:t>
            </a:r>
          </a:p>
        </p:txBody>
      </p:sp>
      <p:sp>
        <p:nvSpPr>
          <p:cNvPr id="18" name="矩形: 圓角 17">
            <a:extLst>
              <a:ext uri="{FF2B5EF4-FFF2-40B4-BE49-F238E27FC236}">
                <a16:creationId xmlns:a16="http://schemas.microsoft.com/office/drawing/2014/main" id="{29EC67BF-89F1-105F-3B8B-A551D25FD336}"/>
              </a:ext>
            </a:extLst>
          </p:cNvPr>
          <p:cNvSpPr/>
          <p:nvPr/>
        </p:nvSpPr>
        <p:spPr>
          <a:xfrm>
            <a:off x="607229" y="2792566"/>
            <a:ext cx="936104" cy="194669"/>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endParaRPr kumimoji="0" lang="en-US" altLang="zh-TW" sz="120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19" name="矩形 18">
            <a:extLst>
              <a:ext uri="{FF2B5EF4-FFF2-40B4-BE49-F238E27FC236}">
                <a16:creationId xmlns:a16="http://schemas.microsoft.com/office/drawing/2014/main" id="{90C2D88B-3674-95E2-8F7F-233223E9E978}"/>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21" name="矩形: 圓角 20">
            <a:extLst>
              <a:ext uri="{FF2B5EF4-FFF2-40B4-BE49-F238E27FC236}">
                <a16:creationId xmlns:a16="http://schemas.microsoft.com/office/drawing/2014/main" id="{1716F293-6CBB-7C5E-E9EC-7BA318FFE883}"/>
              </a:ext>
            </a:extLst>
          </p:cNvPr>
          <p:cNvSpPr/>
          <p:nvPr/>
        </p:nvSpPr>
        <p:spPr>
          <a:xfrm>
            <a:off x="617293" y="2276872"/>
            <a:ext cx="516929" cy="436010"/>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Export</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20" name="文字方塊 19">
            <a:extLst>
              <a:ext uri="{FF2B5EF4-FFF2-40B4-BE49-F238E27FC236}">
                <a16:creationId xmlns:a16="http://schemas.microsoft.com/office/drawing/2014/main" id="{F09E3AB6-8232-731F-78BF-BEB213DCDE60}"/>
              </a:ext>
            </a:extLst>
          </p:cNvPr>
          <p:cNvSpPr txBox="1"/>
          <p:nvPr/>
        </p:nvSpPr>
        <p:spPr>
          <a:xfrm>
            <a:off x="3788259" y="1204136"/>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3" name="文字方塊 22">
            <a:extLst>
              <a:ext uri="{FF2B5EF4-FFF2-40B4-BE49-F238E27FC236}">
                <a16:creationId xmlns:a16="http://schemas.microsoft.com/office/drawing/2014/main" id="{5FB36156-6910-00FA-51C9-7CE40422925C}"/>
              </a:ext>
            </a:extLst>
          </p:cNvPr>
          <p:cNvSpPr txBox="1"/>
          <p:nvPr/>
        </p:nvSpPr>
        <p:spPr>
          <a:xfrm>
            <a:off x="4083128" y="1204136"/>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5" name="文字方塊 24">
            <a:extLst>
              <a:ext uri="{FF2B5EF4-FFF2-40B4-BE49-F238E27FC236}">
                <a16:creationId xmlns:a16="http://schemas.microsoft.com/office/drawing/2014/main" id="{D9F71498-2E52-A52D-5BE5-D5F583CD369F}"/>
              </a:ext>
            </a:extLst>
          </p:cNvPr>
          <p:cNvSpPr txBox="1"/>
          <p:nvPr/>
        </p:nvSpPr>
        <p:spPr>
          <a:xfrm>
            <a:off x="4960289" y="873253"/>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9" name="矩形: 圓角 28">
            <a:extLst>
              <a:ext uri="{FF2B5EF4-FFF2-40B4-BE49-F238E27FC236}">
                <a16:creationId xmlns:a16="http://schemas.microsoft.com/office/drawing/2014/main" id="{E8C71BCF-5A28-2127-74C1-6329D70233A1}"/>
              </a:ext>
            </a:extLst>
          </p:cNvPr>
          <p:cNvSpPr/>
          <p:nvPr/>
        </p:nvSpPr>
        <p:spPr>
          <a:xfrm>
            <a:off x="2832394" y="655248"/>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sp>
        <p:nvSpPr>
          <p:cNvPr id="7" name="文字方塊 6">
            <a:extLst>
              <a:ext uri="{FF2B5EF4-FFF2-40B4-BE49-F238E27FC236}">
                <a16:creationId xmlns:a16="http://schemas.microsoft.com/office/drawing/2014/main" id="{3AA1FBC2-4C5D-A7B2-547E-ABD5383F7A9E}"/>
              </a:ext>
            </a:extLst>
          </p:cNvPr>
          <p:cNvSpPr txBox="1"/>
          <p:nvPr/>
        </p:nvSpPr>
        <p:spPr>
          <a:xfrm>
            <a:off x="535220" y="3711944"/>
            <a:ext cx="1086557" cy="432048"/>
          </a:xfrm>
          <a:prstGeom prst="rect">
            <a:avLst/>
          </a:prstGeom>
          <a:solidFill>
            <a:schemeClr val="accent1">
              <a:lumMod val="20000"/>
              <a:lumOff val="80000"/>
              <a:alpha val="6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Engram</a:t>
            </a:r>
          </a:p>
        </p:txBody>
      </p:sp>
      <p:sp>
        <p:nvSpPr>
          <p:cNvPr id="31" name="矩形: 圓角 30">
            <a:extLst>
              <a:ext uri="{FF2B5EF4-FFF2-40B4-BE49-F238E27FC236}">
                <a16:creationId xmlns:a16="http://schemas.microsoft.com/office/drawing/2014/main" id="{17447780-11DA-9D99-E75A-F3F94ED81FAE}"/>
              </a:ext>
            </a:extLst>
          </p:cNvPr>
          <p:cNvSpPr/>
          <p:nvPr/>
        </p:nvSpPr>
        <p:spPr>
          <a:xfrm>
            <a:off x="1187624" y="2290763"/>
            <a:ext cx="516929" cy="436010"/>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Shared</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Export</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22" name="矩形: 圓角 21">
            <a:extLst>
              <a:ext uri="{FF2B5EF4-FFF2-40B4-BE49-F238E27FC236}">
                <a16:creationId xmlns:a16="http://schemas.microsoft.com/office/drawing/2014/main" id="{B575657B-6422-4836-4BD9-E9A5A22401DF}"/>
              </a:ext>
            </a:extLst>
          </p:cNvPr>
          <p:cNvSpPr/>
          <p:nvPr/>
        </p:nvSpPr>
        <p:spPr>
          <a:xfrm>
            <a:off x="2128038" y="1922626"/>
            <a:ext cx="1219522" cy="2795046"/>
          </a:xfrm>
          <a:prstGeom prst="roundRect">
            <a:avLst>
              <a:gd name="adj" fmla="val 10053"/>
            </a:avLst>
          </a:prstGeom>
          <a:solidFill>
            <a:schemeClr val="bg1">
              <a:lumMod val="95000"/>
              <a:alpha val="4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4" name="文字方塊 23">
            <a:extLst>
              <a:ext uri="{FF2B5EF4-FFF2-40B4-BE49-F238E27FC236}">
                <a16:creationId xmlns:a16="http://schemas.microsoft.com/office/drawing/2014/main" id="{EC76EEDB-820C-47F8-E6D6-B61AD0478603}"/>
              </a:ext>
            </a:extLst>
          </p:cNvPr>
          <p:cNvSpPr txBox="1"/>
          <p:nvPr/>
        </p:nvSpPr>
        <p:spPr>
          <a:xfrm>
            <a:off x="2195432" y="2002310"/>
            <a:ext cx="1086557" cy="895026"/>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DeepSeek </a:t>
            </a:r>
            <a:r>
              <a:rPr lang="en-US" altLang="zh-TW" sz="1000" b="1" dirty="0" err="1">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MoE</a:t>
            </a:r>
            <a:endPar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26" name="矩形: 圓角 25">
            <a:extLst>
              <a:ext uri="{FF2B5EF4-FFF2-40B4-BE49-F238E27FC236}">
                <a16:creationId xmlns:a16="http://schemas.microsoft.com/office/drawing/2014/main" id="{4A193FB5-77BF-9261-EE9C-AF49B58ACA5D}"/>
              </a:ext>
            </a:extLst>
          </p:cNvPr>
          <p:cNvSpPr/>
          <p:nvPr/>
        </p:nvSpPr>
        <p:spPr>
          <a:xfrm>
            <a:off x="2127756"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8" name="文字方塊 27">
            <a:extLst>
              <a:ext uri="{FF2B5EF4-FFF2-40B4-BE49-F238E27FC236}">
                <a16:creationId xmlns:a16="http://schemas.microsoft.com/office/drawing/2014/main" id="{D8D41319-3849-4C5C-B81B-F65F8A0E51BE}"/>
              </a:ext>
            </a:extLst>
          </p:cNvPr>
          <p:cNvSpPr txBox="1"/>
          <p:nvPr/>
        </p:nvSpPr>
        <p:spPr>
          <a:xfrm>
            <a:off x="2195432" y="3192840"/>
            <a:ext cx="1086557" cy="442008"/>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Hybrid Attention</a:t>
            </a:r>
          </a:p>
        </p:txBody>
      </p:sp>
      <p:cxnSp>
        <p:nvCxnSpPr>
          <p:cNvPr id="30" name="直線單箭頭接點 29">
            <a:extLst>
              <a:ext uri="{FF2B5EF4-FFF2-40B4-BE49-F238E27FC236}">
                <a16:creationId xmlns:a16="http://schemas.microsoft.com/office/drawing/2014/main" id="{DE1F102C-BA8F-E1D9-CA99-27D68435D0B0}"/>
              </a:ext>
            </a:extLst>
          </p:cNvPr>
          <p:cNvCxnSpPr>
            <a:cxnSpLocks/>
            <a:endCxn id="36" idx="2"/>
          </p:cNvCxnSpPr>
          <p:nvPr/>
        </p:nvCxnSpPr>
        <p:spPr>
          <a:xfrm flipH="1" flipV="1">
            <a:off x="2735493" y="4653136"/>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32" name="矩形: 圓角 31">
            <a:extLst>
              <a:ext uri="{FF2B5EF4-FFF2-40B4-BE49-F238E27FC236}">
                <a16:creationId xmlns:a16="http://schemas.microsoft.com/office/drawing/2014/main" id="{E7071F06-3B95-BBF0-8D31-403260190A10}"/>
              </a:ext>
            </a:extLst>
          </p:cNvPr>
          <p:cNvSpPr/>
          <p:nvPr/>
        </p:nvSpPr>
        <p:spPr>
          <a:xfrm>
            <a:off x="2127756"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33" name="直線單箭頭接點 32">
            <a:extLst>
              <a:ext uri="{FF2B5EF4-FFF2-40B4-BE49-F238E27FC236}">
                <a16:creationId xmlns:a16="http://schemas.microsoft.com/office/drawing/2014/main" id="{E8BA514B-DB76-CB7C-BABF-F30EA1823778}"/>
              </a:ext>
            </a:extLst>
          </p:cNvPr>
          <p:cNvCxnSpPr>
            <a:cxnSpLocks/>
            <a:stCxn id="22" idx="0"/>
            <a:endCxn id="32" idx="2"/>
          </p:cNvCxnSpPr>
          <p:nvPr/>
        </p:nvCxnSpPr>
        <p:spPr>
          <a:xfrm flipH="1" flipV="1">
            <a:off x="2737517"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35" name="矩形 34">
            <a:extLst>
              <a:ext uri="{FF2B5EF4-FFF2-40B4-BE49-F238E27FC236}">
                <a16:creationId xmlns:a16="http://schemas.microsoft.com/office/drawing/2014/main" id="{F0F6B94A-C1E9-D2D7-0479-3D31C5008924}"/>
              </a:ext>
            </a:extLst>
          </p:cNvPr>
          <p:cNvSpPr/>
          <p:nvPr/>
        </p:nvSpPr>
        <p:spPr>
          <a:xfrm>
            <a:off x="2267441"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36" name="矩形: 圓角 35">
            <a:extLst>
              <a:ext uri="{FF2B5EF4-FFF2-40B4-BE49-F238E27FC236}">
                <a16:creationId xmlns:a16="http://schemas.microsoft.com/office/drawing/2014/main" id="{10A57304-B977-6DDF-AB79-940F415DCD67}"/>
              </a:ext>
            </a:extLst>
          </p:cNvPr>
          <p:cNvSpPr/>
          <p:nvPr/>
        </p:nvSpPr>
        <p:spPr>
          <a:xfrm>
            <a:off x="2267441" y="4221088"/>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d</a:t>
            </a:r>
          </a:p>
        </p:txBody>
      </p:sp>
      <p:sp>
        <p:nvSpPr>
          <p:cNvPr id="37" name="矩形: 圓角 36">
            <a:extLst>
              <a:ext uri="{FF2B5EF4-FFF2-40B4-BE49-F238E27FC236}">
                <a16:creationId xmlns:a16="http://schemas.microsoft.com/office/drawing/2014/main" id="{BAA62BC7-8970-5EAC-91BE-AFA753C2EB9A}"/>
              </a:ext>
            </a:extLst>
          </p:cNvPr>
          <p:cNvSpPr/>
          <p:nvPr/>
        </p:nvSpPr>
        <p:spPr>
          <a:xfrm>
            <a:off x="2267441" y="2792566"/>
            <a:ext cx="936104" cy="194669"/>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endParaRPr kumimoji="0" lang="en-US" altLang="zh-TW" sz="120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8" name="矩形 37">
            <a:extLst>
              <a:ext uri="{FF2B5EF4-FFF2-40B4-BE49-F238E27FC236}">
                <a16:creationId xmlns:a16="http://schemas.microsoft.com/office/drawing/2014/main" id="{BE84C5AA-7941-045B-0FBC-E68694445AFC}"/>
              </a:ext>
            </a:extLst>
          </p:cNvPr>
          <p:cNvSpPr/>
          <p:nvPr/>
        </p:nvSpPr>
        <p:spPr>
          <a:xfrm>
            <a:off x="1943092"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39" name="矩形: 圓角 38">
            <a:extLst>
              <a:ext uri="{FF2B5EF4-FFF2-40B4-BE49-F238E27FC236}">
                <a16:creationId xmlns:a16="http://schemas.microsoft.com/office/drawing/2014/main" id="{0DA5E329-7389-18B3-3FF9-BFDB18807177}"/>
              </a:ext>
            </a:extLst>
          </p:cNvPr>
          <p:cNvSpPr/>
          <p:nvPr/>
        </p:nvSpPr>
        <p:spPr>
          <a:xfrm>
            <a:off x="2277505" y="2276872"/>
            <a:ext cx="516929" cy="436010"/>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Export</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1" name="文字方塊 40">
            <a:extLst>
              <a:ext uri="{FF2B5EF4-FFF2-40B4-BE49-F238E27FC236}">
                <a16:creationId xmlns:a16="http://schemas.microsoft.com/office/drawing/2014/main" id="{381260DC-1D9A-8A2A-9143-702BB37EF0AC}"/>
              </a:ext>
            </a:extLst>
          </p:cNvPr>
          <p:cNvSpPr txBox="1"/>
          <p:nvPr/>
        </p:nvSpPr>
        <p:spPr>
          <a:xfrm>
            <a:off x="2195432" y="3711944"/>
            <a:ext cx="1086557" cy="432048"/>
          </a:xfrm>
          <a:prstGeom prst="rect">
            <a:avLst/>
          </a:prstGeom>
          <a:solidFill>
            <a:schemeClr val="accent1">
              <a:lumMod val="20000"/>
              <a:lumOff val="80000"/>
              <a:alpha val="6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Engram</a:t>
            </a:r>
          </a:p>
        </p:txBody>
      </p:sp>
      <p:sp>
        <p:nvSpPr>
          <p:cNvPr id="42" name="矩形: 圓角 41">
            <a:extLst>
              <a:ext uri="{FF2B5EF4-FFF2-40B4-BE49-F238E27FC236}">
                <a16:creationId xmlns:a16="http://schemas.microsoft.com/office/drawing/2014/main" id="{CB17FF31-7B4E-1DB9-4928-C09524069C4F}"/>
              </a:ext>
            </a:extLst>
          </p:cNvPr>
          <p:cNvSpPr/>
          <p:nvPr/>
        </p:nvSpPr>
        <p:spPr>
          <a:xfrm>
            <a:off x="2848865" y="2287360"/>
            <a:ext cx="516929" cy="436010"/>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Shared</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Export</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pic>
        <p:nvPicPr>
          <p:cNvPr id="5" name="圖片 4">
            <a:extLst>
              <a:ext uri="{FF2B5EF4-FFF2-40B4-BE49-F238E27FC236}">
                <a16:creationId xmlns:a16="http://schemas.microsoft.com/office/drawing/2014/main" id="{76885F05-0DA8-CE70-AA25-3ADBB1FDA917}"/>
              </a:ext>
            </a:extLst>
          </p:cNvPr>
          <p:cNvPicPr>
            <a:picLocks noChangeAspect="1"/>
          </p:cNvPicPr>
          <p:nvPr/>
        </p:nvPicPr>
        <p:blipFill>
          <a:blip r:embed="rId2"/>
          <a:stretch>
            <a:fillRect/>
          </a:stretch>
        </p:blipFill>
        <p:spPr>
          <a:xfrm>
            <a:off x="6046846" y="2833597"/>
            <a:ext cx="2549271" cy="1190806"/>
          </a:xfrm>
          <a:prstGeom prst="rect">
            <a:avLst/>
          </a:prstGeom>
        </p:spPr>
      </p:pic>
      <p:pic>
        <p:nvPicPr>
          <p:cNvPr id="10" name="圖片 9">
            <a:extLst>
              <a:ext uri="{FF2B5EF4-FFF2-40B4-BE49-F238E27FC236}">
                <a16:creationId xmlns:a16="http://schemas.microsoft.com/office/drawing/2014/main" id="{E535C448-D1CC-9527-76B8-C6DC51DEC44A}"/>
              </a:ext>
            </a:extLst>
          </p:cNvPr>
          <p:cNvPicPr>
            <a:picLocks noChangeAspect="1"/>
          </p:cNvPicPr>
          <p:nvPr/>
        </p:nvPicPr>
        <p:blipFill>
          <a:blip r:embed="rId3"/>
          <a:stretch>
            <a:fillRect/>
          </a:stretch>
        </p:blipFill>
        <p:spPr>
          <a:xfrm>
            <a:off x="6046846" y="1693716"/>
            <a:ext cx="2429214" cy="581106"/>
          </a:xfrm>
          <a:prstGeom prst="rect">
            <a:avLst/>
          </a:prstGeom>
        </p:spPr>
      </p:pic>
    </p:spTree>
    <p:extLst>
      <p:ext uri="{BB962C8B-B14F-4D97-AF65-F5344CB8AC3E}">
        <p14:creationId xmlns:p14="http://schemas.microsoft.com/office/powerpoint/2010/main" val="338694157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FED113-4CF9-E69D-FAB3-54656BEC3B51}"/>
            </a:ext>
          </a:extLst>
        </p:cNvPr>
        <p:cNvGrpSpPr/>
        <p:nvPr/>
      </p:nvGrpSpPr>
      <p:grpSpPr>
        <a:xfrm>
          <a:off x="0" y="0"/>
          <a:ext cx="0" cy="0"/>
          <a:chOff x="0" y="0"/>
          <a:chExt cx="0" cy="0"/>
        </a:xfrm>
      </p:grpSpPr>
      <p:sp>
        <p:nvSpPr>
          <p:cNvPr id="6" name="標題 1">
            <a:extLst>
              <a:ext uri="{FF2B5EF4-FFF2-40B4-BE49-F238E27FC236}">
                <a16:creationId xmlns:a16="http://schemas.microsoft.com/office/drawing/2014/main" id="{DE898186-7DCE-3EBE-FDE7-B0534DB6DD62}"/>
              </a:ext>
            </a:extLst>
          </p:cNvPr>
          <p:cNvSpPr txBox="1">
            <a:spLocks/>
          </p:cNvSpPr>
          <p:nvPr/>
        </p:nvSpPr>
        <p:spPr>
          <a:xfrm>
            <a:off x="323528" y="104072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Flash</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284B.</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7" name="標題 1">
            <a:extLst>
              <a:ext uri="{FF2B5EF4-FFF2-40B4-BE49-F238E27FC236}">
                <a16:creationId xmlns:a16="http://schemas.microsoft.com/office/drawing/2014/main" id="{52FA1EEE-129C-BCE0-312C-9A0C6BD408CF}"/>
              </a:ext>
            </a:extLst>
          </p:cNvPr>
          <p:cNvSpPr txBox="1">
            <a:spLocks/>
          </p:cNvSpPr>
          <p:nvPr/>
        </p:nvSpPr>
        <p:spPr>
          <a:xfrm>
            <a:off x="1792025" y="4367791"/>
            <a:ext cx="1102112" cy="576064"/>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 dimension of 4096</a:t>
            </a: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2" name="標題 1">
            <a:extLst>
              <a:ext uri="{FF2B5EF4-FFF2-40B4-BE49-F238E27FC236}">
                <a16:creationId xmlns:a16="http://schemas.microsoft.com/office/drawing/2014/main" id="{5E20E731-3577-FBD9-280F-7CD599EDA8C9}"/>
              </a:ext>
            </a:extLst>
          </p:cNvPr>
          <p:cNvSpPr txBox="1">
            <a:spLocks/>
          </p:cNvSpPr>
          <p:nvPr/>
        </p:nvSpPr>
        <p:spPr>
          <a:xfrm>
            <a:off x="7144904" y="5723144"/>
            <a:ext cx="1224136" cy="116632"/>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Tokenized text</a:t>
            </a:r>
          </a:p>
        </p:txBody>
      </p:sp>
      <p:sp>
        <p:nvSpPr>
          <p:cNvPr id="4" name="標題 1">
            <a:extLst>
              <a:ext uri="{FF2B5EF4-FFF2-40B4-BE49-F238E27FC236}">
                <a16:creationId xmlns:a16="http://schemas.microsoft.com/office/drawing/2014/main" id="{7C029B32-8896-76A3-8D5C-A08D91C43953}"/>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Attention</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2" name="圖片 1">
            <a:extLst>
              <a:ext uri="{FF2B5EF4-FFF2-40B4-BE49-F238E27FC236}">
                <a16:creationId xmlns:a16="http://schemas.microsoft.com/office/drawing/2014/main" id="{AA52D455-78A1-F135-F70C-8D9547FFE8A8}"/>
              </a:ext>
            </a:extLst>
          </p:cNvPr>
          <p:cNvPicPr>
            <a:picLocks noChangeAspect="1"/>
          </p:cNvPicPr>
          <p:nvPr/>
        </p:nvPicPr>
        <p:blipFill>
          <a:blip r:embed="rId2"/>
          <a:stretch>
            <a:fillRect/>
          </a:stretch>
        </p:blipFill>
        <p:spPr>
          <a:xfrm>
            <a:off x="2890837" y="3305175"/>
            <a:ext cx="3362325" cy="257175"/>
          </a:xfrm>
          <a:prstGeom prst="rect">
            <a:avLst/>
          </a:prstGeom>
        </p:spPr>
      </p:pic>
    </p:spTree>
    <p:extLst>
      <p:ext uri="{BB962C8B-B14F-4D97-AF65-F5344CB8AC3E}">
        <p14:creationId xmlns:p14="http://schemas.microsoft.com/office/powerpoint/2010/main" val="336939123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 name="矩形 55">
            <a:extLst>
              <a:ext uri="{FF2B5EF4-FFF2-40B4-BE49-F238E27FC236}">
                <a16:creationId xmlns:a16="http://schemas.microsoft.com/office/drawing/2014/main" id="{BB38A453-3D28-0325-2F31-2B4E4DAB387B}"/>
              </a:ext>
            </a:extLst>
          </p:cNvPr>
          <p:cNvSpPr/>
          <p:nvPr/>
        </p:nvSpPr>
        <p:spPr>
          <a:xfrm>
            <a:off x="1979712" y="5085185"/>
            <a:ext cx="465295" cy="825514"/>
          </a:xfrm>
          <a:prstGeom prst="rect">
            <a:avLst/>
          </a:prstGeom>
          <a:solidFill>
            <a:schemeClr val="bg1"/>
          </a:solidFill>
          <a:ln w="38100">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b="1" dirty="0">
                <a:solidFill>
                  <a:schemeClr val="bg1">
                    <a:lumMod val="75000"/>
                  </a:schemeClr>
                </a:solidFill>
                <a:ea typeface="微軟正黑體" panose="020B0604030504040204" pitchFamily="34" charset="-120"/>
              </a:rPr>
              <a:t>X</a:t>
            </a:r>
          </a:p>
        </p:txBody>
      </p:sp>
      <p:sp>
        <p:nvSpPr>
          <p:cNvPr id="2" name="矩形 1">
            <a:extLst>
              <a:ext uri="{FF2B5EF4-FFF2-40B4-BE49-F238E27FC236}">
                <a16:creationId xmlns:a16="http://schemas.microsoft.com/office/drawing/2014/main" id="{F8A10819-F5AF-ACA1-0022-E7314F64193D}"/>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3" name="矩形 2">
            <a:extLst>
              <a:ext uri="{FF2B5EF4-FFF2-40B4-BE49-F238E27FC236}">
                <a16:creationId xmlns:a16="http://schemas.microsoft.com/office/drawing/2014/main" id="{A7D842CA-B031-7BC9-9D27-3CEA5E3F9AA7}"/>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4" name="矩形 3">
            <a:extLst>
              <a:ext uri="{FF2B5EF4-FFF2-40B4-BE49-F238E27FC236}">
                <a16:creationId xmlns:a16="http://schemas.microsoft.com/office/drawing/2014/main" id="{D0BFBC04-025D-8C73-BE49-A627F4466BCB}"/>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5" name="文字方塊 4">
            <a:extLst>
              <a:ext uri="{FF2B5EF4-FFF2-40B4-BE49-F238E27FC236}">
                <a16:creationId xmlns:a16="http://schemas.microsoft.com/office/drawing/2014/main" id="{2CC5FF0F-E658-B872-6D5E-F29F0993AFDD}"/>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 name="矩形 5">
            <a:extLst>
              <a:ext uri="{FF2B5EF4-FFF2-40B4-BE49-F238E27FC236}">
                <a16:creationId xmlns:a16="http://schemas.microsoft.com/office/drawing/2014/main" id="{ABEE450B-382F-9ADE-4AEA-42F8E753641D}"/>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7" name="文字方塊 6">
            <a:extLst>
              <a:ext uri="{FF2B5EF4-FFF2-40B4-BE49-F238E27FC236}">
                <a16:creationId xmlns:a16="http://schemas.microsoft.com/office/drawing/2014/main" id="{7B124EE1-6EDF-2A18-A848-F4B235E38A56}"/>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8" name="矩形 7">
            <a:extLst>
              <a:ext uri="{FF2B5EF4-FFF2-40B4-BE49-F238E27FC236}">
                <a16:creationId xmlns:a16="http://schemas.microsoft.com/office/drawing/2014/main" id="{65A40987-9A4B-9628-363E-E43C9DF051DE}"/>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9" name="文字方塊 8">
            <a:extLst>
              <a:ext uri="{FF2B5EF4-FFF2-40B4-BE49-F238E27FC236}">
                <a16:creationId xmlns:a16="http://schemas.microsoft.com/office/drawing/2014/main" id="{726627E9-00F3-15C7-EF11-3FD71F12CF73}"/>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0" name="矩形 9">
            <a:extLst>
              <a:ext uri="{FF2B5EF4-FFF2-40B4-BE49-F238E27FC236}">
                <a16:creationId xmlns:a16="http://schemas.microsoft.com/office/drawing/2014/main" id="{6CD0255E-B788-5AB2-2870-9E64450DC63E}"/>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11" name="文字方塊 10">
            <a:extLst>
              <a:ext uri="{FF2B5EF4-FFF2-40B4-BE49-F238E27FC236}">
                <a16:creationId xmlns:a16="http://schemas.microsoft.com/office/drawing/2014/main" id="{72F722C5-137F-FBAD-F834-8D6A708F8BA7}"/>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graphicFrame>
        <p:nvGraphicFramePr>
          <p:cNvPr id="12" name="表格 11">
            <a:extLst>
              <a:ext uri="{FF2B5EF4-FFF2-40B4-BE49-F238E27FC236}">
                <a16:creationId xmlns:a16="http://schemas.microsoft.com/office/drawing/2014/main" id="{B6FA776E-1819-3370-4A74-9F50E3812556}"/>
              </a:ext>
            </a:extLst>
          </p:cNvPr>
          <p:cNvGraphicFramePr>
            <a:graphicFrameLocks noGrp="1"/>
          </p:cNvGraphicFramePr>
          <p:nvPr>
            <p:extLst>
              <p:ext uri="{D42A27DB-BD31-4B8C-83A1-F6EECF244321}">
                <p14:modId xmlns:p14="http://schemas.microsoft.com/office/powerpoint/2010/main" val="67680698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3" name="接點: 肘形 12">
            <a:extLst>
              <a:ext uri="{FF2B5EF4-FFF2-40B4-BE49-F238E27FC236}">
                <a16:creationId xmlns:a16="http://schemas.microsoft.com/office/drawing/2014/main" id="{60F43318-2182-1CD4-9726-499CB69A803D}"/>
              </a:ext>
            </a:extLst>
          </p:cNvPr>
          <p:cNvCxnSpPr>
            <a:cxnSpLocks/>
            <a:endCxn id="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接點: 弧形 13">
            <a:extLst>
              <a:ext uri="{FF2B5EF4-FFF2-40B4-BE49-F238E27FC236}">
                <a16:creationId xmlns:a16="http://schemas.microsoft.com/office/drawing/2014/main" id="{8853950E-29C7-78C3-D378-6D0928B43713}"/>
              </a:ext>
            </a:extLst>
          </p:cNvPr>
          <p:cNvCxnSpPr>
            <a:cxnSpLocks/>
            <a:stCxn id="20" idx="2"/>
            <a:endCxn id="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5" name="接點: 弧形 14">
            <a:extLst>
              <a:ext uri="{FF2B5EF4-FFF2-40B4-BE49-F238E27FC236}">
                <a16:creationId xmlns:a16="http://schemas.microsoft.com/office/drawing/2014/main" id="{5710DACF-22E1-1B21-E4BE-C20EB2931F82}"/>
              </a:ext>
            </a:extLst>
          </p:cNvPr>
          <p:cNvCxnSpPr>
            <a:cxnSpLocks/>
            <a:stCxn id="20" idx="2"/>
            <a:endCxn id="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06562D03-BD19-56DC-1D5F-F830948D13D5}"/>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7" name="標題 1">
            <a:extLst>
              <a:ext uri="{FF2B5EF4-FFF2-40B4-BE49-F238E27FC236}">
                <a16:creationId xmlns:a16="http://schemas.microsoft.com/office/drawing/2014/main" id="{0C266A20-0E19-B9A0-E2FE-846970EAD969}"/>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8" name="文字方塊 17">
            <a:extLst>
              <a:ext uri="{FF2B5EF4-FFF2-40B4-BE49-F238E27FC236}">
                <a16:creationId xmlns:a16="http://schemas.microsoft.com/office/drawing/2014/main" id="{A0C37EF4-FA43-87A1-4753-71E61251FEE4}"/>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9" name="文字方塊 18">
            <a:extLst>
              <a:ext uri="{FF2B5EF4-FFF2-40B4-BE49-F238E27FC236}">
                <a16:creationId xmlns:a16="http://schemas.microsoft.com/office/drawing/2014/main" id="{27C4484E-373A-8FDF-9B40-2DC53B0A7E4E}"/>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20" name="文字方塊 19">
            <a:extLst>
              <a:ext uri="{FF2B5EF4-FFF2-40B4-BE49-F238E27FC236}">
                <a16:creationId xmlns:a16="http://schemas.microsoft.com/office/drawing/2014/main" id="{60CAF8F3-CCE3-B3DE-3877-42647427EB85}"/>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21" name="文字方塊 20">
            <a:extLst>
              <a:ext uri="{FF2B5EF4-FFF2-40B4-BE49-F238E27FC236}">
                <a16:creationId xmlns:a16="http://schemas.microsoft.com/office/drawing/2014/main" id="{99CEEB46-479A-2598-ADE5-FED8D570B687}"/>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22" name="文字方塊 21">
            <a:extLst>
              <a:ext uri="{FF2B5EF4-FFF2-40B4-BE49-F238E27FC236}">
                <a16:creationId xmlns:a16="http://schemas.microsoft.com/office/drawing/2014/main" id="{424D3889-6497-A3C9-E904-6EBA0EB3570F}"/>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23" name="文字方塊 22">
            <a:extLst>
              <a:ext uri="{FF2B5EF4-FFF2-40B4-BE49-F238E27FC236}">
                <a16:creationId xmlns:a16="http://schemas.microsoft.com/office/drawing/2014/main" id="{FC4F69D0-FA4F-C08C-F949-8F8E40C8E9C4}"/>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24" name="矩形 23">
            <a:extLst>
              <a:ext uri="{FF2B5EF4-FFF2-40B4-BE49-F238E27FC236}">
                <a16:creationId xmlns:a16="http://schemas.microsoft.com/office/drawing/2014/main" id="{723B206B-48AD-603F-CBBA-C1500D93B4EE}"/>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25" name="矩形 24">
            <a:extLst>
              <a:ext uri="{FF2B5EF4-FFF2-40B4-BE49-F238E27FC236}">
                <a16:creationId xmlns:a16="http://schemas.microsoft.com/office/drawing/2014/main" id="{E0EAB839-282D-1C77-20C5-298F58967F50}"/>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26" name="矩形 25">
            <a:extLst>
              <a:ext uri="{FF2B5EF4-FFF2-40B4-BE49-F238E27FC236}">
                <a16:creationId xmlns:a16="http://schemas.microsoft.com/office/drawing/2014/main" id="{60FA643A-0D8E-DD24-E66B-17638C4E908A}"/>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
        <p:nvSpPr>
          <p:cNvPr id="28" name="矩形 27">
            <a:extLst>
              <a:ext uri="{FF2B5EF4-FFF2-40B4-BE49-F238E27FC236}">
                <a16:creationId xmlns:a16="http://schemas.microsoft.com/office/drawing/2014/main" id="{8D681E31-3A79-48B0-2633-DB51B92F15F8}"/>
              </a:ext>
            </a:extLst>
          </p:cNvPr>
          <p:cNvSpPr/>
          <p:nvPr/>
        </p:nvSpPr>
        <p:spPr>
          <a:xfrm>
            <a:off x="2160291" y="3095083"/>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30" name="文字方塊 29">
            <a:extLst>
              <a:ext uri="{FF2B5EF4-FFF2-40B4-BE49-F238E27FC236}">
                <a16:creationId xmlns:a16="http://schemas.microsoft.com/office/drawing/2014/main" id="{1A888E01-DD7E-A6C8-8231-EBAABF1F15C4}"/>
              </a:ext>
            </a:extLst>
          </p:cNvPr>
          <p:cNvSpPr txBox="1"/>
          <p:nvPr/>
        </p:nvSpPr>
        <p:spPr>
          <a:xfrm>
            <a:off x="2476661" y="5757472"/>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32" name="矩形 31">
            <a:extLst>
              <a:ext uri="{FF2B5EF4-FFF2-40B4-BE49-F238E27FC236}">
                <a16:creationId xmlns:a16="http://schemas.microsoft.com/office/drawing/2014/main" id="{E1B7B873-7BC8-7C09-C2E3-FD22BB5D6199}"/>
              </a:ext>
            </a:extLst>
          </p:cNvPr>
          <p:cNvSpPr/>
          <p:nvPr/>
        </p:nvSpPr>
        <p:spPr>
          <a:xfrm>
            <a:off x="4139952" y="5781516"/>
            <a:ext cx="237234" cy="104777"/>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6</a:t>
            </a:r>
          </a:p>
        </p:txBody>
      </p:sp>
      <p:sp>
        <p:nvSpPr>
          <p:cNvPr id="36" name="文字方塊 35">
            <a:extLst>
              <a:ext uri="{FF2B5EF4-FFF2-40B4-BE49-F238E27FC236}">
                <a16:creationId xmlns:a16="http://schemas.microsoft.com/office/drawing/2014/main" id="{5A358190-96BD-1746-3803-B26C763BE1EF}"/>
              </a:ext>
            </a:extLst>
          </p:cNvPr>
          <p:cNvSpPr txBox="1"/>
          <p:nvPr/>
        </p:nvSpPr>
        <p:spPr>
          <a:xfrm>
            <a:off x="3289568" y="591041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1x16</a:t>
            </a:r>
          </a:p>
        </p:txBody>
      </p:sp>
      <p:sp>
        <p:nvSpPr>
          <p:cNvPr id="38" name="矩形 37">
            <a:extLst>
              <a:ext uri="{FF2B5EF4-FFF2-40B4-BE49-F238E27FC236}">
                <a16:creationId xmlns:a16="http://schemas.microsoft.com/office/drawing/2014/main" id="{297D67DD-DCF9-BEA0-4C40-CA834955B86E}"/>
              </a:ext>
            </a:extLst>
          </p:cNvPr>
          <p:cNvSpPr/>
          <p:nvPr/>
        </p:nvSpPr>
        <p:spPr>
          <a:xfrm>
            <a:off x="5146979" y="5517232"/>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40" name="文字方塊 39">
            <a:extLst>
              <a:ext uri="{FF2B5EF4-FFF2-40B4-BE49-F238E27FC236}">
                <a16:creationId xmlns:a16="http://schemas.microsoft.com/office/drawing/2014/main" id="{90D8FB53-3346-EE84-CDD8-2102CB97751D}"/>
              </a:ext>
            </a:extLst>
          </p:cNvPr>
          <p:cNvSpPr txBox="1"/>
          <p:nvPr/>
        </p:nvSpPr>
        <p:spPr>
          <a:xfrm>
            <a:off x="3618690" y="5612769"/>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42" name="文字方塊 41">
            <a:extLst>
              <a:ext uri="{FF2B5EF4-FFF2-40B4-BE49-F238E27FC236}">
                <a16:creationId xmlns:a16="http://schemas.microsoft.com/office/drawing/2014/main" id="{A8E2AD79-66FB-7241-A632-4BF58E4069B3}"/>
              </a:ext>
            </a:extLst>
          </p:cNvPr>
          <p:cNvSpPr txBox="1"/>
          <p:nvPr/>
        </p:nvSpPr>
        <p:spPr>
          <a:xfrm>
            <a:off x="2895777" y="569002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4" name="文字方塊 43">
            <a:extLst>
              <a:ext uri="{FF2B5EF4-FFF2-40B4-BE49-F238E27FC236}">
                <a16:creationId xmlns:a16="http://schemas.microsoft.com/office/drawing/2014/main" id="{D72E37A8-84E7-DA88-23B7-7C4800E673E3}"/>
              </a:ext>
            </a:extLst>
          </p:cNvPr>
          <p:cNvSpPr txBox="1"/>
          <p:nvPr/>
        </p:nvSpPr>
        <p:spPr>
          <a:xfrm>
            <a:off x="3696060" y="5718530"/>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6" name="文字方塊 45">
            <a:extLst>
              <a:ext uri="{FF2B5EF4-FFF2-40B4-BE49-F238E27FC236}">
                <a16:creationId xmlns:a16="http://schemas.microsoft.com/office/drawing/2014/main" id="{F021E952-3992-6F26-26E6-87AF63CCDDDC}"/>
              </a:ext>
            </a:extLst>
          </p:cNvPr>
          <p:cNvSpPr txBox="1"/>
          <p:nvPr/>
        </p:nvSpPr>
        <p:spPr>
          <a:xfrm>
            <a:off x="5085889" y="608384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48" name="文字方塊 47">
            <a:extLst>
              <a:ext uri="{FF2B5EF4-FFF2-40B4-BE49-F238E27FC236}">
                <a16:creationId xmlns:a16="http://schemas.microsoft.com/office/drawing/2014/main" id="{3744CD2F-0C22-6181-013E-4B5BB6DE0153}"/>
              </a:ext>
            </a:extLst>
          </p:cNvPr>
          <p:cNvSpPr txBox="1"/>
          <p:nvPr/>
        </p:nvSpPr>
        <p:spPr>
          <a:xfrm>
            <a:off x="2621457" y="609357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50" name="文字方塊 49">
            <a:extLst>
              <a:ext uri="{FF2B5EF4-FFF2-40B4-BE49-F238E27FC236}">
                <a16:creationId xmlns:a16="http://schemas.microsoft.com/office/drawing/2014/main" id="{E965FDCB-3A4F-B67B-0CFF-2F6FA8F81773}"/>
              </a:ext>
            </a:extLst>
          </p:cNvPr>
          <p:cNvSpPr txBox="1"/>
          <p:nvPr/>
        </p:nvSpPr>
        <p:spPr>
          <a:xfrm>
            <a:off x="2070980" y="591069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1xd</a:t>
            </a:r>
          </a:p>
        </p:txBody>
      </p:sp>
      <p:sp>
        <p:nvSpPr>
          <p:cNvPr id="52" name="文字方塊 51">
            <a:extLst>
              <a:ext uri="{FF2B5EF4-FFF2-40B4-BE49-F238E27FC236}">
                <a16:creationId xmlns:a16="http://schemas.microsoft.com/office/drawing/2014/main" id="{53085541-C475-E98B-10E6-F268F9B380F4}"/>
              </a:ext>
            </a:extLst>
          </p:cNvPr>
          <p:cNvSpPr txBox="1"/>
          <p:nvPr/>
        </p:nvSpPr>
        <p:spPr>
          <a:xfrm>
            <a:off x="2903792" y="5644960"/>
            <a:ext cx="382683" cy="145147"/>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54" name="矩形 53">
            <a:extLst>
              <a:ext uri="{FF2B5EF4-FFF2-40B4-BE49-F238E27FC236}">
                <a16:creationId xmlns:a16="http://schemas.microsoft.com/office/drawing/2014/main" id="{11238E18-5895-CBBF-2FBB-758622E96283}"/>
              </a:ext>
            </a:extLst>
          </p:cNvPr>
          <p:cNvSpPr/>
          <p:nvPr/>
        </p:nvSpPr>
        <p:spPr>
          <a:xfrm>
            <a:off x="2627783" y="5617141"/>
            <a:ext cx="222611" cy="467344"/>
          </a:xfrm>
          <a:prstGeom prst="rect">
            <a:avLst/>
          </a:prstGeom>
          <a:solidFill>
            <a:schemeClr val="accent6">
              <a:lumMod val="40000"/>
              <a:lumOff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34" name="矩形 33">
            <a:extLst>
              <a:ext uri="{FF2B5EF4-FFF2-40B4-BE49-F238E27FC236}">
                <a16:creationId xmlns:a16="http://schemas.microsoft.com/office/drawing/2014/main" id="{F0AF7A70-8CC9-C125-C92A-7461F4875FE6}"/>
              </a:ext>
            </a:extLst>
          </p:cNvPr>
          <p:cNvSpPr/>
          <p:nvPr/>
        </p:nvSpPr>
        <p:spPr>
          <a:xfrm>
            <a:off x="1979712" y="5780347"/>
            <a:ext cx="466030" cy="121967"/>
          </a:xfrm>
          <a:prstGeom prst="rect">
            <a:avLst/>
          </a:prstGeom>
          <a:solidFill>
            <a:schemeClr val="accent2">
              <a:lumMod val="75000"/>
              <a:alpha val="20000"/>
            </a:schemeClr>
          </a:solidFill>
          <a:ln w="25400">
            <a:solidFill>
              <a:schemeClr val="accent2">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58" name="矩形 57">
            <a:extLst>
              <a:ext uri="{FF2B5EF4-FFF2-40B4-BE49-F238E27FC236}">
                <a16:creationId xmlns:a16="http://schemas.microsoft.com/office/drawing/2014/main" id="{8815CA8D-7E68-95A6-276F-62636D2BC7EE}"/>
              </a:ext>
            </a:extLst>
          </p:cNvPr>
          <p:cNvSpPr/>
          <p:nvPr/>
        </p:nvSpPr>
        <p:spPr>
          <a:xfrm>
            <a:off x="3318052" y="5784269"/>
            <a:ext cx="215174" cy="104777"/>
          </a:xfrm>
          <a:prstGeom prst="rect">
            <a:avLst/>
          </a:prstGeom>
          <a:solidFill>
            <a:schemeClr val="accent6">
              <a:lumMod val="75000"/>
              <a:alpha val="20000"/>
            </a:schemeClr>
          </a:solidFill>
          <a:ln w="38100">
            <a:solidFill>
              <a:schemeClr val="accent2">
                <a:lumMod val="60000"/>
                <a:lumOff val="4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S</a:t>
            </a:r>
          </a:p>
        </p:txBody>
      </p:sp>
      <p:pic>
        <p:nvPicPr>
          <p:cNvPr id="27" name="圖片 26">
            <a:extLst>
              <a:ext uri="{FF2B5EF4-FFF2-40B4-BE49-F238E27FC236}">
                <a16:creationId xmlns:a16="http://schemas.microsoft.com/office/drawing/2014/main" id="{A51DF9BD-7D31-8D66-7F4A-B7645A594777}"/>
              </a:ext>
            </a:extLst>
          </p:cNvPr>
          <p:cNvPicPr>
            <a:picLocks noChangeAspect="1"/>
          </p:cNvPicPr>
          <p:nvPr/>
        </p:nvPicPr>
        <p:blipFill>
          <a:blip r:embed="rId2"/>
          <a:stretch>
            <a:fillRect/>
          </a:stretch>
        </p:blipFill>
        <p:spPr>
          <a:xfrm>
            <a:off x="495743" y="441496"/>
            <a:ext cx="6858000" cy="4263716"/>
          </a:xfrm>
          <a:prstGeom prst="rect">
            <a:avLst/>
          </a:prstGeom>
        </p:spPr>
      </p:pic>
    </p:spTree>
    <p:extLst>
      <p:ext uri="{BB962C8B-B14F-4D97-AF65-F5344CB8AC3E}">
        <p14:creationId xmlns:p14="http://schemas.microsoft.com/office/powerpoint/2010/main" val="18564458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1464BD-5194-0315-7A89-E8C884C6AB6A}"/>
            </a:ext>
          </a:extLst>
        </p:cNvPr>
        <p:cNvGrpSpPr/>
        <p:nvPr/>
      </p:nvGrpSpPr>
      <p:grpSpPr>
        <a:xfrm>
          <a:off x="0" y="0"/>
          <a:ext cx="0" cy="0"/>
          <a:chOff x="0" y="0"/>
          <a:chExt cx="0" cy="0"/>
        </a:xfrm>
      </p:grpSpPr>
      <p:sp>
        <p:nvSpPr>
          <p:cNvPr id="6" name="標題 1">
            <a:extLst>
              <a:ext uri="{FF2B5EF4-FFF2-40B4-BE49-F238E27FC236}">
                <a16:creationId xmlns:a16="http://schemas.microsoft.com/office/drawing/2014/main" id="{60940C7C-1A29-271B-CC3C-3E960225E0D0}"/>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Pro/Flash</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1.6T.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8" name="標題 1">
            <a:extLst>
              <a:ext uri="{FF2B5EF4-FFF2-40B4-BE49-F238E27FC236}">
                <a16:creationId xmlns:a16="http://schemas.microsoft.com/office/drawing/2014/main" id="{397E2CE4-D75C-D567-8091-71DAC2642649}"/>
              </a:ext>
            </a:extLst>
          </p:cNvPr>
          <p:cNvSpPr txBox="1">
            <a:spLocks/>
          </p:cNvSpPr>
          <p:nvPr/>
        </p:nvSpPr>
        <p:spPr>
          <a:xfrm>
            <a:off x="5004048" y="116499"/>
            <a:ext cx="4107929" cy="144871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CSA = Cross-Attention (Sparse)</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HCA = Hybrid-Attention (Compressed)</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mHC = </a:t>
            </a:r>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Mainfold</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-Constrained Hyper-Connections</a:t>
            </a:r>
          </a:p>
          <a:p>
            <a:endPar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DS </a:t>
            </a:r>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MoE</a:t>
            </a:r>
            <a:endPar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171450" indent="-171450">
              <a:buFontTx/>
              <a:buChar char="-"/>
            </a:pP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Fine-Grained Expert Segmentation</a:t>
            </a:r>
          </a:p>
          <a:p>
            <a:pPr marL="171450" indent="-171450">
              <a:buFontTx/>
              <a:buChar char="-"/>
            </a:pP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Auxiliary-Loss-Free Load Balancing</a:t>
            </a:r>
          </a:p>
          <a:p>
            <a:pPr marL="171450" indent="-171450">
              <a:buFontTx/>
              <a:buChar char="-"/>
            </a:pP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Shared Experts Isolation</a:t>
            </a:r>
          </a:p>
          <a:p>
            <a:pPr marL="171450" indent="-171450">
              <a:buFontTx/>
              <a:buChar char="-"/>
            </a:pP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CF985EB1-5D4F-5FCC-6DCC-380A04F3F017}"/>
              </a:ext>
            </a:extLst>
          </p:cNvPr>
          <p:cNvPicPr>
            <a:picLocks noChangeAspect="1"/>
          </p:cNvPicPr>
          <p:nvPr/>
        </p:nvPicPr>
        <p:blipFill>
          <a:blip r:embed="rId2"/>
          <a:stretch>
            <a:fillRect/>
          </a:stretch>
        </p:blipFill>
        <p:spPr>
          <a:xfrm>
            <a:off x="2111380" y="943893"/>
            <a:ext cx="2469258" cy="5321829"/>
          </a:xfrm>
          <a:prstGeom prst="rect">
            <a:avLst/>
          </a:prstGeom>
        </p:spPr>
      </p:pic>
      <p:pic>
        <p:nvPicPr>
          <p:cNvPr id="5" name="圖片 4">
            <a:extLst>
              <a:ext uri="{FF2B5EF4-FFF2-40B4-BE49-F238E27FC236}">
                <a16:creationId xmlns:a16="http://schemas.microsoft.com/office/drawing/2014/main" id="{B06F7ADF-4A96-EDBF-862F-863AC4125B88}"/>
              </a:ext>
            </a:extLst>
          </p:cNvPr>
          <p:cNvPicPr>
            <a:picLocks noChangeAspect="1"/>
          </p:cNvPicPr>
          <p:nvPr/>
        </p:nvPicPr>
        <p:blipFill>
          <a:blip r:embed="rId3"/>
          <a:stretch>
            <a:fillRect/>
          </a:stretch>
        </p:blipFill>
        <p:spPr>
          <a:xfrm>
            <a:off x="4864113" y="1916832"/>
            <a:ext cx="3215919" cy="3375953"/>
          </a:xfrm>
          <a:prstGeom prst="rect">
            <a:avLst/>
          </a:prstGeom>
        </p:spPr>
      </p:pic>
    </p:spTree>
    <p:extLst>
      <p:ext uri="{BB962C8B-B14F-4D97-AF65-F5344CB8AC3E}">
        <p14:creationId xmlns:p14="http://schemas.microsoft.com/office/powerpoint/2010/main" val="370877343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FF128-321E-5C30-B370-FCDDA7245B18}"/>
            </a:ext>
          </a:extLst>
        </p:cNvPr>
        <p:cNvGrpSpPr/>
        <p:nvPr/>
      </p:nvGrpSpPr>
      <p:grpSpPr>
        <a:xfrm>
          <a:off x="0" y="0"/>
          <a:ext cx="0" cy="0"/>
          <a:chOff x="0" y="0"/>
          <a:chExt cx="0" cy="0"/>
        </a:xfrm>
      </p:grpSpPr>
      <p:sp>
        <p:nvSpPr>
          <p:cNvPr id="170" name="矩形: 圓角 169">
            <a:extLst>
              <a:ext uri="{FF2B5EF4-FFF2-40B4-BE49-F238E27FC236}">
                <a16:creationId xmlns:a16="http://schemas.microsoft.com/office/drawing/2014/main" id="{585A6862-1BD1-5468-95ED-66DAAA0CADEA}"/>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2900FC30-DA63-EEEA-6468-DCABA47C35C3}"/>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EE036A56-D3B9-BA00-1B5F-933BBC025591}"/>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0287AC9D-CF1C-E982-7DA3-0EB24C210137}"/>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8916746C-AE20-3DA7-4C4C-C15F24F24A4A}"/>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725C0A5E-FC09-98EE-5215-72074A893203}"/>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9" name="矩形: 圓角 18">
            <a:extLst>
              <a:ext uri="{FF2B5EF4-FFF2-40B4-BE49-F238E27FC236}">
                <a16:creationId xmlns:a16="http://schemas.microsoft.com/office/drawing/2014/main" id="{55591602-8B8C-3AFE-5774-030C5AD14364}"/>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99748040-B74F-8C9F-410D-0764CB965FC2}"/>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3C2E7FC2-3F14-86EB-B361-B54E5E74D9C7}"/>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MLA</a:t>
            </a:r>
          </a:p>
        </p:txBody>
      </p:sp>
      <p:cxnSp>
        <p:nvCxnSpPr>
          <p:cNvPr id="23" name="直線單箭頭接點 22">
            <a:extLst>
              <a:ext uri="{FF2B5EF4-FFF2-40B4-BE49-F238E27FC236}">
                <a16:creationId xmlns:a16="http://schemas.microsoft.com/office/drawing/2014/main" id="{67490BC5-9494-E8A8-3D36-562B7338B61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56BD2F7A-E8BC-F753-6C1E-D153DC182D32}"/>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A37680C0-5523-DB1C-FF62-260EC8CBC5E0}"/>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D06E7E9A-D338-F203-F404-0131A070A6E9}"/>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B0184A23-3710-2816-6164-DC3354C2C1B0}"/>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235F7005-FAD9-D837-ADA8-DB421911E493}"/>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AB879A8F-CA3C-305E-BF3E-1D73137507F2}"/>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944BDAFC-3502-CB3C-E397-50F635AD29C7}"/>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90E5853-F222-0C2E-0BC5-C35D97B16DB2}"/>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E73A6B5A-070E-6C48-0415-D8D3A0D060B6}"/>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7EC2506-3B10-D847-4047-DEF10FA85863}"/>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75C33A86-7837-D2CC-E40E-046EBDE4827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CA4082C9-E5D4-F3F8-A7C6-7D94C97CD7E2}"/>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09220340-997F-BCEB-F888-401078B5233C}"/>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1813AF4A-7BA8-2782-BAF6-8C906B25ADA3}"/>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B978F426-9B27-D209-12A2-7244731E3E8C}"/>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54D9FE03-DA3A-7B22-12C0-F0CF495AAF72}"/>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C855BB6E-A7CA-F9A6-3804-2D03A63331BF}"/>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8341776D-C4B2-FB24-47F8-AEDBFF6B8BAD}"/>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B127A9DD-8FE3-3E97-DC51-2017300EB766}"/>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E8236D44-E788-7884-CB7F-7964E41D58A7}"/>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B4CAB320-BDEC-C2AA-F436-9F1884A89520}"/>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22E3C78D-C200-3BD2-196E-72559D9427C4}"/>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1048</a:t>
            </a:r>
          </a:p>
        </p:txBody>
      </p:sp>
      <p:sp>
        <p:nvSpPr>
          <p:cNvPr id="179" name="矩形: 圓角 178">
            <a:extLst>
              <a:ext uri="{FF2B5EF4-FFF2-40B4-BE49-F238E27FC236}">
                <a16:creationId xmlns:a16="http://schemas.microsoft.com/office/drawing/2014/main" id="{63C06AC4-64D1-B55E-4148-67DB01FA1277}"/>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0819D04C-6608-2C50-F8C2-C455CE59B835}"/>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43" name="矩形: 圓角 242">
            <a:extLst>
              <a:ext uri="{FF2B5EF4-FFF2-40B4-BE49-F238E27FC236}">
                <a16:creationId xmlns:a16="http://schemas.microsoft.com/office/drawing/2014/main" id="{41BFEAF1-95B0-3550-8FEA-30B254B9284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273489FC-ECA0-0753-047B-79B4616DDCCC}"/>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8222C8ED-A1B0-C08B-2EB5-B84C32F06C26}"/>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291E65D5-EE8D-2E44-3AC5-2BFE5281B550}"/>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AB596806-C22D-1ADA-4139-8486A10BAD5D}"/>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A8387998-1975-8674-4EBF-72F297E07577}"/>
              </a:ext>
            </a:extLst>
          </p:cNvPr>
          <p:cNvCxnSpPr>
            <a:cxnSpLocks/>
            <a:stCxn id="247" idx="1"/>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C6307A26-F189-AB3D-6F74-783BF95C7F10}"/>
              </a:ext>
            </a:extLst>
          </p:cNvPr>
          <p:cNvCxnSpPr>
            <a:cxnSpLocks/>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4D35A4DB-5505-3BA7-AA9B-75F94A875DD7}"/>
              </a:ext>
            </a:extLst>
          </p:cNvPr>
          <p:cNvSpPr txBox="1"/>
          <p:nvPr/>
        </p:nvSpPr>
        <p:spPr>
          <a:xfrm>
            <a:off x="5652120" y="5069655"/>
            <a:ext cx="899391" cy="209704"/>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 Expert</a:t>
            </a:r>
          </a:p>
        </p:txBody>
      </p:sp>
      <p:sp>
        <p:nvSpPr>
          <p:cNvPr id="363" name="文字方塊 362">
            <a:extLst>
              <a:ext uri="{FF2B5EF4-FFF2-40B4-BE49-F238E27FC236}">
                <a16:creationId xmlns:a16="http://schemas.microsoft.com/office/drawing/2014/main" id="{893794DC-31E3-4257-E693-790683EF6BD3}"/>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379" name="矩形: 圓角 378">
            <a:extLst>
              <a:ext uri="{FF2B5EF4-FFF2-40B4-BE49-F238E27FC236}">
                <a16:creationId xmlns:a16="http://schemas.microsoft.com/office/drawing/2014/main" id="{5D7C8B80-BA46-4D8C-F02D-D045A0C5685D}"/>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F0E46714-1E9B-EC55-8158-5918CAAB137B}"/>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283B3667-663B-D000-4FC0-64C6452E2C4A}"/>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C152E6B8-B2A8-1458-4C5C-CB945E0D4F14}"/>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FEF4DBA8-8A61-29F3-F772-B9E20697288B}"/>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2CD424B4-D781-066A-AA82-5B1D7C17318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D620125A-2C57-6A0F-E0FD-4F9D30D787A7}"/>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217E2122-45A9-A144-4DC3-8F6B407AD7D6}"/>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93C22FB2-90C1-F53F-B011-B636863DE760}"/>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BEAB8542-2686-4514-E959-9EA174D19FBC}"/>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448" name="接點: 肘形 447">
            <a:extLst>
              <a:ext uri="{FF2B5EF4-FFF2-40B4-BE49-F238E27FC236}">
                <a16:creationId xmlns:a16="http://schemas.microsoft.com/office/drawing/2014/main" id="{86BDD8D5-6E1C-36F0-C470-332C3C95F5EA}"/>
              </a:ext>
            </a:extLst>
          </p:cNvPr>
          <p:cNvCxnSpPr>
            <a:cxnSpLocks/>
            <a:stCxn id="363" idx="3"/>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601CD636-6C2B-D4B4-38E8-3B3134827941}"/>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BA3675A3-5AB0-EB59-4310-B69F2FF8546E}"/>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7839B24F-E8C9-FA65-5AE0-8708806FC5CF}"/>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EC15D6B-8F12-7274-D8CA-BBA776A2A819}"/>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9CD13066-2E3A-1DE9-04D9-DE7950BD9F3B}"/>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00BD9021-2B8C-8502-E177-B440F5AB8AD1}"/>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98857429-EF92-0990-6978-5031DB735A89}"/>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FFB0C882-736B-3D0F-5CA2-57A6C262E225}"/>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右大括弧 5">
            <a:extLst>
              <a:ext uri="{FF2B5EF4-FFF2-40B4-BE49-F238E27FC236}">
                <a16:creationId xmlns:a16="http://schemas.microsoft.com/office/drawing/2014/main" id="{9A46D70C-1717-CAF4-6D18-D4C0564FAB2C}"/>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ACE49DA1-6208-1E69-1C0F-930C8428F673}"/>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
        <p:nvSpPr>
          <p:cNvPr id="8" name="標題 1">
            <a:extLst>
              <a:ext uri="{FF2B5EF4-FFF2-40B4-BE49-F238E27FC236}">
                <a16:creationId xmlns:a16="http://schemas.microsoft.com/office/drawing/2014/main" id="{0B62D1D7-7CA2-48B3-1C24-713F566C49BE}"/>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 name="文字方塊 10">
            <a:extLst>
              <a:ext uri="{FF2B5EF4-FFF2-40B4-BE49-F238E27FC236}">
                <a16:creationId xmlns:a16="http://schemas.microsoft.com/office/drawing/2014/main" id="{950C84E0-E5F5-49C5-73CB-91FBAFA3FE1F}"/>
              </a:ext>
            </a:extLst>
          </p:cNvPr>
          <p:cNvSpPr txBox="1"/>
          <p:nvPr/>
        </p:nvSpPr>
        <p:spPr>
          <a:xfrm>
            <a:off x="5290094" y="5891739"/>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graphicFrame>
        <p:nvGraphicFramePr>
          <p:cNvPr id="13" name="表格 12">
            <a:extLst>
              <a:ext uri="{FF2B5EF4-FFF2-40B4-BE49-F238E27FC236}">
                <a16:creationId xmlns:a16="http://schemas.microsoft.com/office/drawing/2014/main" id="{59FD9172-2C29-6298-FF54-BEFC9E35BB57}"/>
              </a:ext>
            </a:extLst>
          </p:cNvPr>
          <p:cNvGraphicFramePr>
            <a:graphicFrameLocks noGrp="1"/>
          </p:cNvGraphicFramePr>
          <p:nvPr>
            <p:extLst>
              <p:ext uri="{D42A27DB-BD31-4B8C-83A1-F6EECF244321}">
                <p14:modId xmlns:p14="http://schemas.microsoft.com/office/powerpoint/2010/main" val="3033043750"/>
              </p:ext>
            </p:extLst>
          </p:nvPr>
        </p:nvGraphicFramePr>
        <p:xfrm>
          <a:off x="5663064" y="5883760"/>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sp>
        <p:nvSpPr>
          <p:cNvPr id="15" name="矩形 14">
            <a:extLst>
              <a:ext uri="{FF2B5EF4-FFF2-40B4-BE49-F238E27FC236}">
                <a16:creationId xmlns:a16="http://schemas.microsoft.com/office/drawing/2014/main" id="{4CCC2FF0-43AF-EF10-28C3-11AE9B336B2B}"/>
              </a:ext>
            </a:extLst>
          </p:cNvPr>
          <p:cNvSpPr/>
          <p:nvPr/>
        </p:nvSpPr>
        <p:spPr>
          <a:xfrm>
            <a:off x="5612935" y="5893917"/>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Tree>
    <p:extLst>
      <p:ext uri="{BB962C8B-B14F-4D97-AF65-F5344CB8AC3E}">
        <p14:creationId xmlns:p14="http://schemas.microsoft.com/office/powerpoint/2010/main" val="42760692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A6CC2-BDE4-965A-84C4-C8CEAFC9885E}"/>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F28CCEC3-1387-0743-9796-8CCF90C0AE03}"/>
              </a:ext>
            </a:extLst>
          </p:cNvPr>
          <p:cNvGraphicFramePr>
            <a:graphicFrameLocks noGrp="1"/>
          </p:cNvGraphicFramePr>
          <p:nvPr>
            <p:extLst>
              <p:ext uri="{D42A27DB-BD31-4B8C-83A1-F6EECF244321}">
                <p14:modId xmlns:p14="http://schemas.microsoft.com/office/powerpoint/2010/main" val="141976597"/>
              </p:ext>
            </p:extLst>
          </p:nvPr>
        </p:nvGraphicFramePr>
        <p:xfrm>
          <a:off x="300657" y="1084161"/>
          <a:ext cx="8542691" cy="4276923"/>
        </p:xfrm>
        <a:graphic>
          <a:graphicData uri="http://schemas.openxmlformats.org/drawingml/2006/table">
            <a:tbl>
              <a:tblPr firstRow="1" bandRow="1">
                <a:tableStyleId>{5C22544A-7EE6-4342-B048-85BDC9FD1C3A}</a:tableStyleId>
              </a:tblPr>
              <a:tblGrid>
                <a:gridCol w="382911">
                  <a:extLst>
                    <a:ext uri="{9D8B030D-6E8A-4147-A177-3AD203B41FA5}">
                      <a16:colId xmlns:a16="http://schemas.microsoft.com/office/drawing/2014/main" val="3115215194"/>
                    </a:ext>
                  </a:extLst>
                </a:gridCol>
                <a:gridCol w="766178">
                  <a:extLst>
                    <a:ext uri="{9D8B030D-6E8A-4147-A177-3AD203B41FA5}">
                      <a16:colId xmlns:a16="http://schemas.microsoft.com/office/drawing/2014/main" val="4024420245"/>
                    </a:ext>
                  </a:extLst>
                </a:gridCol>
                <a:gridCol w="766178">
                  <a:extLst>
                    <a:ext uri="{9D8B030D-6E8A-4147-A177-3AD203B41FA5}">
                      <a16:colId xmlns:a16="http://schemas.microsoft.com/office/drawing/2014/main" val="2857999959"/>
                    </a:ext>
                  </a:extLst>
                </a:gridCol>
                <a:gridCol w="766178">
                  <a:extLst>
                    <a:ext uri="{9D8B030D-6E8A-4147-A177-3AD203B41FA5}">
                      <a16:colId xmlns:a16="http://schemas.microsoft.com/office/drawing/2014/main" val="310011697"/>
                    </a:ext>
                  </a:extLst>
                </a:gridCol>
                <a:gridCol w="766178">
                  <a:extLst>
                    <a:ext uri="{9D8B030D-6E8A-4147-A177-3AD203B41FA5}">
                      <a16:colId xmlns:a16="http://schemas.microsoft.com/office/drawing/2014/main" val="932094440"/>
                    </a:ext>
                  </a:extLst>
                </a:gridCol>
                <a:gridCol w="1039744">
                  <a:extLst>
                    <a:ext uri="{9D8B030D-6E8A-4147-A177-3AD203B41FA5}">
                      <a16:colId xmlns:a16="http://schemas.microsoft.com/office/drawing/2014/main" val="1885199976"/>
                    </a:ext>
                  </a:extLst>
                </a:gridCol>
                <a:gridCol w="1080120">
                  <a:extLst>
                    <a:ext uri="{9D8B030D-6E8A-4147-A177-3AD203B41FA5}">
                      <a16:colId xmlns:a16="http://schemas.microsoft.com/office/drawing/2014/main" val="2502900903"/>
                    </a:ext>
                  </a:extLst>
                </a:gridCol>
                <a:gridCol w="743801">
                  <a:extLst>
                    <a:ext uri="{9D8B030D-6E8A-4147-A177-3AD203B41FA5}">
                      <a16:colId xmlns:a16="http://schemas.microsoft.com/office/drawing/2014/main" val="2600189719"/>
                    </a:ext>
                  </a:extLst>
                </a:gridCol>
                <a:gridCol w="743801">
                  <a:extLst>
                    <a:ext uri="{9D8B030D-6E8A-4147-A177-3AD203B41FA5}">
                      <a16:colId xmlns:a16="http://schemas.microsoft.com/office/drawing/2014/main" val="217543664"/>
                    </a:ext>
                  </a:extLst>
                </a:gridCol>
                <a:gridCol w="743801">
                  <a:extLst>
                    <a:ext uri="{9D8B030D-6E8A-4147-A177-3AD203B41FA5}">
                      <a16:colId xmlns:a16="http://schemas.microsoft.com/office/drawing/2014/main" val="2209626822"/>
                    </a:ext>
                  </a:extLst>
                </a:gridCol>
                <a:gridCol w="743801">
                  <a:extLst>
                    <a:ext uri="{9D8B030D-6E8A-4147-A177-3AD203B41FA5}">
                      <a16:colId xmlns:a16="http://schemas.microsoft.com/office/drawing/2014/main" val="2727600684"/>
                    </a:ext>
                  </a:extLst>
                </a:gridCol>
              </a:tblGrid>
              <a:tr h="668032">
                <a:tc>
                  <a:txBody>
                    <a:bodyPr/>
                    <a:lstStyle/>
                    <a:p>
                      <a:pPr algn="l"/>
                      <a:endParaRPr lang="en-US" altLang="zh-TW" sz="1200" b="1" cap="none" spc="0" dirty="0">
                        <a:ln w="0"/>
                        <a:solidFill>
                          <a:schemeClr val="tx1"/>
                        </a:solidFill>
                        <a:effectLst/>
                        <a:latin typeface="+mn-lt"/>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Modern Open-Source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Backbone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Cross-Border Academic Collaboration</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Community</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-Driven</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Pioneers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Independent &amp;</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Native Pillars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latin typeface="+mn-lt"/>
                      </a:endParaRPr>
                    </a:p>
                  </a:txBody>
                  <a:tcPr marL="0" marR="0" marT="0" marB="0" anchor="ctr" anchorCtr="1">
                    <a:lnL w="6350" cap="flat" cmpd="sng" algn="ctr">
                      <a:solidFill>
                        <a:schemeClr val="accent4">
                          <a:lumMod val="75000"/>
                        </a:schemeClr>
                      </a:solidFill>
                      <a:prstDash val="solid"/>
                      <a:round/>
                      <a:headEnd type="none" w="med" len="med"/>
                      <a:tailEnd type="none" w="med" len="med"/>
                    </a:lnL>
                    <a:lnR w="6350" cap="flat" cmpd="sng" algn="ctr">
                      <a:solidFill>
                        <a:schemeClr val="accent4">
                          <a:lumMod val="75000"/>
                        </a:schemeClr>
                      </a:solidFill>
                      <a:prstDash val="solid"/>
                      <a:round/>
                      <a:headEnd type="none" w="med" len="med"/>
                      <a:tailEnd type="none" w="med" len="med"/>
                    </a:lnR>
                    <a:lnT w="6350" cap="flat" cmpd="sng" algn="ctr">
                      <a:solidFill>
                        <a:schemeClr val="accent4">
                          <a:lumMod val="75000"/>
                        </a:schemeClr>
                      </a:solidFill>
                      <a:prstDash val="solid"/>
                      <a:round/>
                      <a:headEnd type="none" w="med" len="med"/>
                      <a:tailEnd type="none" w="med" len="med"/>
                    </a:lnT>
                    <a:lnB w="635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3213515898"/>
                  </a:ext>
                </a:extLst>
              </a:tr>
              <a:tr h="75780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DeepMind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(Google)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Phi</a:t>
                      </a:r>
                      <a:br>
                        <a:rPr kumimoji="0" lang="en-US" altLang="zh-TW" sz="1200" b="1" i="0" u="none" strike="noStrike" kern="1200" cap="none" spc="0" normalizeH="0" baseline="0" noProof="0" dirty="0">
                          <a:ln w="0"/>
                          <a:solidFill>
                            <a:schemeClr val="tx2"/>
                          </a:solidFill>
                          <a:effectLst/>
                          <a:uLnTx/>
                          <a:uFillTx/>
                          <a:latin typeface="+mn-lt"/>
                          <a:ea typeface="+mn-ea"/>
                          <a:cs typeface="+mn-cs"/>
                        </a:rPr>
                      </a:br>
                      <a:r>
                        <a:rPr kumimoji="0" lang="en-US" altLang="zh-TW" sz="1000" b="0" i="0" u="none" strike="noStrike" kern="1200" cap="none" spc="0" normalizeH="0" baseline="0" noProof="0" dirty="0">
                          <a:ln w="0"/>
                          <a:solidFill>
                            <a:schemeClr val="tx2"/>
                          </a:solidFill>
                          <a:effectLst/>
                          <a:uLnTx/>
                          <a:uFillTx/>
                          <a:latin typeface="+mn-lt"/>
                          <a:ea typeface="+mn-ea"/>
                          <a:cs typeface="+mn-cs"/>
                        </a:rPr>
                        <a:t>(Microsoft)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(FAIR)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(Europe)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BigScience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France</a:t>
                      </a:r>
                      <a:r>
                        <a:rPr kumimoji="0" lang="zh-TW" altLang="en-US" sz="1000" b="0" i="0" u="none" strike="noStrike" kern="1200" cap="none" spc="0" normalizeH="0" baseline="0" noProof="0" dirty="0">
                          <a:ln w="0"/>
                          <a:solidFill>
                            <a:schemeClr val="tx2"/>
                          </a:solidFill>
                          <a:effectLst/>
                          <a:uLnTx/>
                          <a:uFillTx/>
                          <a:latin typeface="+mn-lt"/>
                          <a:ea typeface="+mn-ea"/>
                          <a:cs typeface="+mn-cs"/>
                        </a:rPr>
                        <a:t> </a:t>
                      </a:r>
                      <a:r>
                        <a:rPr kumimoji="0" lang="en-US" altLang="zh-TW" sz="1000" b="0" i="0" u="none" strike="noStrike" kern="1200" cap="none" spc="0" normalizeH="0" baseline="0" noProof="0" dirty="0">
                          <a:ln w="0"/>
                          <a:solidFill>
                            <a:schemeClr val="tx2"/>
                          </a:solidFill>
                          <a:effectLst/>
                          <a:uLnTx/>
                          <a:uFillTx/>
                          <a:latin typeface="+mn-lt"/>
                          <a:ea typeface="+mn-ea"/>
                          <a:cs typeface="+mn-cs"/>
                        </a:rPr>
                        <a:t> and 1000+ scientists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EleutherAI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CoreWeave,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Stability AI,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Technology Innovation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Institute </a:t>
                      </a:r>
                      <a:r>
                        <a:rPr kumimoji="0" lang="en-US" altLang="zh-TW" sz="1000" b="0" i="0" u="none" strike="noStrike" kern="1200" cap="none" spc="0" normalizeH="0" baseline="0" noProof="0" dirty="0">
                          <a:ln w="0"/>
                          <a:solidFill>
                            <a:schemeClr val="tx2"/>
                          </a:solidFill>
                          <a:effectLst/>
                          <a:uLnTx/>
                          <a:uFillTx/>
                          <a:latin typeface="+mn-lt"/>
                          <a:ea typeface="+mn-ea"/>
                          <a:cs typeface="+mn-cs"/>
                        </a:rPr>
                        <a:t>(NV)</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(Alibaba)</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MoE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(DeepSeek)</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(Moonshot)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603224414"/>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GPT-Neo</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341340391"/>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GPT-J</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49642222"/>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bg2">
                              <a:lumMod val="50000"/>
                            </a:schemeClr>
                          </a:solidFill>
                          <a:effectLst/>
                          <a:uLnTx/>
                          <a:uFillTx/>
                          <a:latin typeface="+mn-lt"/>
                          <a:ea typeface="+mn-ea"/>
                          <a:cs typeface="+mn-cs"/>
                        </a:rPr>
                        <a:t>BLOOM</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NeoX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14832629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7B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Mixtral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LLeMA</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714491690"/>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2.5</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55925935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Large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The Common Pile</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H1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3.0</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772492193"/>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Vision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Muse 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Small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20000"/>
                          <a:lumOff val="8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LM-Evaluation-Harness</a:t>
                      </a:r>
                      <a:endParaRPr kumimoji="0" lang="zh-TW" altLang="en-US" sz="12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H1R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0024983"/>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20000"/>
                          <a:lumOff val="8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22451293"/>
                  </a:ext>
                </a:extLst>
              </a:tr>
            </a:tbl>
          </a:graphicData>
        </a:graphic>
      </p:graphicFrame>
      <p:sp>
        <p:nvSpPr>
          <p:cNvPr id="6" name="標題 1">
            <a:extLst>
              <a:ext uri="{FF2B5EF4-FFF2-40B4-BE49-F238E27FC236}">
                <a16:creationId xmlns:a16="http://schemas.microsoft.com/office/drawing/2014/main" id="{2584B682-80DC-5350-E199-F653A8484A51}"/>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The Evolution of Open-Source LLMs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From 2020 to 2026.</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9C034926-36B1-924C-1E61-4CBCD515102C}"/>
              </a:ext>
            </a:extLst>
          </p:cNvPr>
          <p:cNvPicPr>
            <a:picLocks noChangeAspect="1"/>
          </p:cNvPicPr>
          <p:nvPr/>
        </p:nvPicPr>
        <p:blipFill>
          <a:blip r:embed="rId3"/>
          <a:stretch>
            <a:fillRect/>
          </a:stretch>
        </p:blipFill>
        <p:spPr>
          <a:xfrm>
            <a:off x="6807316" y="521637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B49E799F-C565-ABB2-F1E1-804D95D1669C}"/>
              </a:ext>
            </a:extLst>
          </p:cNvPr>
          <p:cNvPicPr>
            <a:picLocks noChangeAspect="1"/>
          </p:cNvPicPr>
          <p:nvPr/>
        </p:nvPicPr>
        <p:blipFill>
          <a:blip r:embed="rId4"/>
          <a:stretch>
            <a:fillRect/>
          </a:stretch>
        </p:blipFill>
        <p:spPr>
          <a:xfrm>
            <a:off x="7533826" y="5208414"/>
            <a:ext cx="350542" cy="284964"/>
          </a:xfrm>
          <a:prstGeom prst="rect">
            <a:avLst/>
          </a:prstGeom>
        </p:spPr>
      </p:pic>
      <p:pic>
        <p:nvPicPr>
          <p:cNvPr id="16" name="圖片 15">
            <a:extLst>
              <a:ext uri="{FF2B5EF4-FFF2-40B4-BE49-F238E27FC236}">
                <a16:creationId xmlns:a16="http://schemas.microsoft.com/office/drawing/2014/main" id="{37610F10-8CC5-F71E-FB14-609A88EA39AD}"/>
              </a:ext>
            </a:extLst>
          </p:cNvPr>
          <p:cNvPicPr>
            <a:picLocks noChangeAspect="1"/>
          </p:cNvPicPr>
          <p:nvPr/>
        </p:nvPicPr>
        <p:blipFill>
          <a:blip r:embed="rId5"/>
          <a:stretch>
            <a:fillRect/>
          </a:stretch>
        </p:blipFill>
        <p:spPr>
          <a:xfrm>
            <a:off x="3275856" y="5184697"/>
            <a:ext cx="284964" cy="284964"/>
          </a:xfrm>
          <a:prstGeom prst="rect">
            <a:avLst/>
          </a:prstGeom>
        </p:spPr>
      </p:pic>
      <p:pic>
        <p:nvPicPr>
          <p:cNvPr id="20" name="圖片 19">
            <a:extLst>
              <a:ext uri="{FF2B5EF4-FFF2-40B4-BE49-F238E27FC236}">
                <a16:creationId xmlns:a16="http://schemas.microsoft.com/office/drawing/2014/main" id="{3C663D43-268C-53AE-455E-FD0977CCE05C}"/>
              </a:ext>
            </a:extLst>
          </p:cNvPr>
          <p:cNvPicPr>
            <a:picLocks noChangeAspect="1"/>
          </p:cNvPicPr>
          <p:nvPr/>
        </p:nvPicPr>
        <p:blipFill>
          <a:blip r:embed="rId6"/>
          <a:stretch>
            <a:fillRect/>
          </a:stretch>
        </p:blipFill>
        <p:spPr>
          <a:xfrm>
            <a:off x="879223" y="5151468"/>
            <a:ext cx="380409" cy="380409"/>
          </a:xfrm>
          <a:prstGeom prst="rect">
            <a:avLst/>
          </a:prstGeom>
          <a:effectLst>
            <a:glow rad="25400">
              <a:schemeClr val="accent5">
                <a:lumMod val="40000"/>
                <a:lumOff val="60000"/>
                <a:alpha val="40000"/>
              </a:schemeClr>
            </a:glow>
            <a:softEdge rad="12700"/>
          </a:effectLst>
        </p:spPr>
      </p:pic>
      <p:pic>
        <p:nvPicPr>
          <p:cNvPr id="9" name="圖片 8">
            <a:extLst>
              <a:ext uri="{FF2B5EF4-FFF2-40B4-BE49-F238E27FC236}">
                <a16:creationId xmlns:a16="http://schemas.microsoft.com/office/drawing/2014/main" id="{F5012F1A-6F0A-97DF-CC14-7D190C26E4F0}"/>
              </a:ext>
            </a:extLst>
          </p:cNvPr>
          <p:cNvPicPr>
            <a:picLocks noChangeAspect="1"/>
          </p:cNvPicPr>
          <p:nvPr/>
        </p:nvPicPr>
        <p:blipFill>
          <a:blip r:embed="rId7"/>
          <a:stretch>
            <a:fillRect/>
          </a:stretch>
        </p:blipFill>
        <p:spPr>
          <a:xfrm>
            <a:off x="2483768" y="5240323"/>
            <a:ext cx="284964" cy="225568"/>
          </a:xfrm>
          <a:prstGeom prst="rect">
            <a:avLst/>
          </a:prstGeom>
        </p:spPr>
      </p:pic>
      <p:pic>
        <p:nvPicPr>
          <p:cNvPr id="22" name="圖片 21">
            <a:extLst>
              <a:ext uri="{FF2B5EF4-FFF2-40B4-BE49-F238E27FC236}">
                <a16:creationId xmlns:a16="http://schemas.microsoft.com/office/drawing/2014/main" id="{3D4C8B4F-8579-798A-BD81-2A9ED45B4E54}"/>
              </a:ext>
            </a:extLst>
          </p:cNvPr>
          <p:cNvPicPr>
            <a:picLocks noChangeAspect="1"/>
          </p:cNvPicPr>
          <p:nvPr/>
        </p:nvPicPr>
        <p:blipFill>
          <a:blip r:embed="rId8"/>
          <a:stretch>
            <a:fillRect/>
          </a:stretch>
        </p:blipFill>
        <p:spPr>
          <a:xfrm>
            <a:off x="8317433" y="5208413"/>
            <a:ext cx="287015" cy="284965"/>
          </a:xfrm>
          <a:prstGeom prst="rect">
            <a:avLst/>
          </a:prstGeom>
        </p:spPr>
      </p:pic>
      <p:pic>
        <p:nvPicPr>
          <p:cNvPr id="30" name="圖片 29">
            <a:extLst>
              <a:ext uri="{FF2B5EF4-FFF2-40B4-BE49-F238E27FC236}">
                <a16:creationId xmlns:a16="http://schemas.microsoft.com/office/drawing/2014/main" id="{46A64EA5-8F7A-E610-5F8F-CE72FAA64EBE}"/>
              </a:ext>
            </a:extLst>
          </p:cNvPr>
          <p:cNvPicPr>
            <a:picLocks noChangeAspect="1"/>
          </p:cNvPicPr>
          <p:nvPr/>
        </p:nvPicPr>
        <p:blipFill>
          <a:blip r:embed="rId9"/>
          <a:stretch>
            <a:fillRect/>
          </a:stretch>
        </p:blipFill>
        <p:spPr>
          <a:xfrm>
            <a:off x="3779912" y="2942072"/>
            <a:ext cx="980309" cy="265437"/>
          </a:xfrm>
          <a:prstGeom prst="rect">
            <a:avLst/>
          </a:prstGeom>
          <a:effectLst>
            <a:glow rad="50800">
              <a:schemeClr val="tx1">
                <a:alpha val="20000"/>
              </a:schemeClr>
            </a:glow>
            <a:softEdge rad="0"/>
          </a:effectLst>
        </p:spPr>
      </p:pic>
      <p:pic>
        <p:nvPicPr>
          <p:cNvPr id="31" name="圖片 30" descr="EleutherAI">
            <a:extLst>
              <a:ext uri="{FF2B5EF4-FFF2-40B4-BE49-F238E27FC236}">
                <a16:creationId xmlns:a16="http://schemas.microsoft.com/office/drawing/2014/main" id="{B9927168-FE93-7A1D-D637-FBC5D13D256E}"/>
              </a:ext>
            </a:extLst>
          </p:cNvPr>
          <p:cNvPicPr>
            <a:picLocks noChangeAspect="1"/>
          </p:cNvPicPr>
          <p:nvPr/>
        </p:nvPicPr>
        <p:blipFill>
          <a:blip r:embed="rId10"/>
          <a:stretch>
            <a:fillRect/>
          </a:stretch>
        </p:blipFill>
        <p:spPr>
          <a:xfrm>
            <a:off x="4355976" y="3915928"/>
            <a:ext cx="1595502" cy="331066"/>
          </a:xfrm>
          <a:prstGeom prst="rect">
            <a:avLst/>
          </a:prstGeom>
          <a:effectLst>
            <a:glow rad="76200">
              <a:schemeClr val="tx1">
                <a:alpha val="80000"/>
              </a:schemeClr>
            </a:glow>
            <a:softEdge rad="0"/>
          </a:effectLst>
        </p:spPr>
      </p:pic>
      <p:pic>
        <p:nvPicPr>
          <p:cNvPr id="34" name="圖片 33">
            <a:extLst>
              <a:ext uri="{FF2B5EF4-FFF2-40B4-BE49-F238E27FC236}">
                <a16:creationId xmlns:a16="http://schemas.microsoft.com/office/drawing/2014/main" id="{736F2CD2-8368-1411-CDA1-CD7BED977C1D}"/>
              </a:ext>
            </a:extLst>
          </p:cNvPr>
          <p:cNvPicPr>
            <a:picLocks noChangeAspect="1"/>
          </p:cNvPicPr>
          <p:nvPr/>
        </p:nvPicPr>
        <p:blipFill>
          <a:blip r:embed="rId11"/>
          <a:stretch>
            <a:fillRect/>
          </a:stretch>
        </p:blipFill>
        <p:spPr>
          <a:xfrm>
            <a:off x="6084168" y="5184558"/>
            <a:ext cx="272407" cy="332674"/>
          </a:xfrm>
          <a:prstGeom prst="rect">
            <a:avLst/>
          </a:prstGeom>
        </p:spPr>
      </p:pic>
      <p:pic>
        <p:nvPicPr>
          <p:cNvPr id="36" name="圖片 35">
            <a:extLst>
              <a:ext uri="{FF2B5EF4-FFF2-40B4-BE49-F238E27FC236}">
                <a16:creationId xmlns:a16="http://schemas.microsoft.com/office/drawing/2014/main" id="{19738192-72EC-1EEB-D2CA-5EDC92128DB0}"/>
              </a:ext>
            </a:extLst>
          </p:cNvPr>
          <p:cNvPicPr>
            <a:picLocks noChangeAspect="1"/>
          </p:cNvPicPr>
          <p:nvPr/>
        </p:nvPicPr>
        <p:blipFill>
          <a:blip r:embed="rId12"/>
          <a:stretch>
            <a:fillRect/>
          </a:stretch>
        </p:blipFill>
        <p:spPr>
          <a:xfrm>
            <a:off x="1715117" y="5184558"/>
            <a:ext cx="288546" cy="281333"/>
          </a:xfrm>
          <a:prstGeom prst="rect">
            <a:avLst/>
          </a:prstGeom>
        </p:spPr>
      </p:pic>
    </p:spTree>
    <p:extLst>
      <p:ext uri="{BB962C8B-B14F-4D97-AF65-F5344CB8AC3E}">
        <p14:creationId xmlns:p14="http://schemas.microsoft.com/office/powerpoint/2010/main" val="230050673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851</TotalTime>
  <Words>4321</Words>
  <Application>Microsoft Office PowerPoint</Application>
  <PresentationFormat>如螢幕大小 (4:3)</PresentationFormat>
  <Paragraphs>807</Paragraphs>
  <Slides>22</Slides>
  <Notes>12</Notes>
  <HiddenSlides>1</HiddenSlides>
  <MMClips>0</MMClips>
  <ScaleCrop>false</ScaleCrop>
  <HeadingPairs>
    <vt:vector size="6" baseType="variant">
      <vt:variant>
        <vt:lpstr>使用字型</vt:lpstr>
      </vt:variant>
      <vt:variant>
        <vt:i4>9</vt:i4>
      </vt:variant>
      <vt:variant>
        <vt:lpstr>佈景主題</vt:lpstr>
      </vt:variant>
      <vt:variant>
        <vt:i4>1</vt:i4>
      </vt:variant>
      <vt:variant>
        <vt:lpstr>投影片標題</vt:lpstr>
      </vt:variant>
      <vt:variant>
        <vt:i4>22</vt:i4>
      </vt:variant>
    </vt:vector>
  </HeadingPairs>
  <TitlesOfParts>
    <vt:vector size="32" baseType="lpstr">
      <vt:lpstr>Google Sans</vt:lpstr>
      <vt:lpstr>Noto Sans HK</vt:lpstr>
      <vt:lpstr>微軟正黑體</vt:lpstr>
      <vt:lpstr>ADLaM Display</vt:lpstr>
      <vt:lpstr>Arial</vt:lpstr>
      <vt:lpstr>Calibri</vt:lpstr>
      <vt:lpstr>Cambria Math</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1874</cp:revision>
  <cp:lastPrinted>2024-07-30T01:44:15Z</cp:lastPrinted>
  <dcterms:created xsi:type="dcterms:W3CDTF">2019-11-08T03:01:47Z</dcterms:created>
  <dcterms:modified xsi:type="dcterms:W3CDTF">2026-08-28T09:27:50Z</dcterms:modified>
</cp:coreProperties>
</file>