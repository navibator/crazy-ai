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65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2" autoAdjust="0"/>
    <p:restoredTop sz="95873" autoAdjust="0"/>
  </p:normalViewPr>
  <p:slideViewPr>
    <p:cSldViewPr snapToGrid="0">
      <p:cViewPr varScale="1">
        <p:scale>
          <a:sx n="127" d="100"/>
          <a:sy n="127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3B9C-1C56-4419-935F-39029FB15C40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E597D-D1E7-4522-AA27-1BB1118612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72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以下為你將所有與 AI Agent 相關的專有名詞，由原本的表格形式全部改為</a:t>
            </a:r>
            <a:r>
              <a:rPr lang="zh-TW" altLang="zh-TW" b="1" dirty="0"/>
              <a:t>純文字列表</a:t>
            </a:r>
            <a:r>
              <a:rPr lang="zh-TW" altLang="zh-TW" dirty="0"/>
              <a:t>呈現。</a:t>
            </a:r>
          </a:p>
          <a:p>
            <a:r>
              <a:rPr lang="zh-TW" altLang="zh-TW" dirty="0"/>
              <a:t>每個項目均嚴格包含：</a:t>
            </a:r>
            <a:r>
              <a:rPr lang="zh-TW" altLang="zh-TW" b="1" dirty="0"/>
              <a:t>縮寫 / 名詞、英文全稱、繁體中文、中文說明</a:t>
            </a:r>
            <a:r>
              <a:rPr lang="zh-TW" altLang="zh-TW" dirty="0"/>
              <a:t>，並透過區塊與粗體維持極佳的 scannability（可讀性），方便你直接複製使用。</a:t>
            </a:r>
          </a:p>
          <a:p>
            <a:r>
              <a:rPr lang="zh-TW" altLang="zh-TW" b="1" dirty="0"/>
              <a:t>一、 核心架構與模型層 (Core Architecture &amp; Models)</a:t>
            </a:r>
          </a:p>
          <a:p>
            <a:r>
              <a:rPr lang="zh-TW" altLang="zh-TW" b="1" dirty="0"/>
              <a:t>Agent</a:t>
            </a:r>
            <a:r>
              <a:rPr lang="zh-TW" altLang="zh-TW" dirty="0"/>
              <a:t> (AI Agent / Autonomous Agent) —— 人工智慧代理 / 自主代理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具備感知、思考、自主規劃並能調用工具操作現實的 AI 實體。</a:t>
            </a:r>
          </a:p>
          <a:p>
            <a:r>
              <a:rPr lang="zh-TW" altLang="zh-TW" b="1" dirty="0"/>
              <a:t>LLM</a:t>
            </a:r>
            <a:r>
              <a:rPr lang="zh-TW" altLang="zh-TW" dirty="0"/>
              <a:t> (Large Language Model) —— 大型語言模型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的核心大腦，負責語言理解、常識推理與決策。</a:t>
            </a:r>
          </a:p>
          <a:p>
            <a:r>
              <a:rPr lang="zh-TW" altLang="zh-TW" b="1" dirty="0"/>
              <a:t>VLM / MLLM</a:t>
            </a:r>
            <a:r>
              <a:rPr lang="zh-TW" altLang="zh-TW" dirty="0"/>
              <a:t> (Vision-Language Model / Multi-modal LLM) —— 視覺語言模型 / 多模態大模型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賦予 Agent 眼睛（看懂螢幕截圖、網頁 UI 或真實世界影像）的大腦。</a:t>
            </a:r>
          </a:p>
          <a:p>
            <a:r>
              <a:rPr lang="zh-TW" altLang="zh-TW" b="1" dirty="0"/>
              <a:t>SLM</a:t>
            </a:r>
            <a:r>
              <a:rPr lang="zh-TW" altLang="zh-TW" dirty="0"/>
              <a:t> (Small Language Model) —— 小型語言模型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輕量化模型，常用於端點設備（Edge）或專職執行單一工具的邊緣 Agent。</a:t>
            </a:r>
          </a:p>
          <a:p>
            <a:r>
              <a:rPr lang="zh-TW" altLang="zh-TW" b="1" dirty="0"/>
              <a:t>HITL</a:t>
            </a:r>
            <a:r>
              <a:rPr lang="zh-TW" altLang="zh-TW" dirty="0"/>
              <a:t> (Human-in-the-Loop) —— 人類在環 / 人機協同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循環中加入人工作為審查、確認或中斷的防禦機制。</a:t>
            </a:r>
          </a:p>
          <a:p>
            <a:r>
              <a:rPr lang="zh-TW" altLang="zh-TW" b="1" dirty="0"/>
              <a:t>Embodied AI</a:t>
            </a:r>
            <a:r>
              <a:rPr lang="zh-TW" altLang="zh-TW" dirty="0"/>
              <a:t> (Embodied Artificial Intelligence) —— 具身智能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 Agent 大腦注入到物理實體（如機器人、無人機）中，使其具備操作物理世界的能力。</a:t>
            </a:r>
          </a:p>
          <a:p>
            <a:r>
              <a:rPr lang="zh-TW" altLang="zh-TW" b="1" dirty="0"/>
              <a:t>Substrate</a:t>
            </a:r>
            <a:r>
              <a:rPr lang="zh-TW" altLang="zh-TW" dirty="0"/>
              <a:t> (Substrate) —— 底層載體 / 介質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指 AI 運行的環境基礎（如「碳基」代表人類肉身、「矽基」代表數位電腦晶片）。</a:t>
            </a:r>
          </a:p>
          <a:p>
            <a:r>
              <a:rPr lang="zh-TW" altLang="zh-TW" b="1" dirty="0"/>
              <a:t>二、 自主規劃與推理框架 (Planning &amp; Reasoning)</a:t>
            </a:r>
          </a:p>
          <a:p>
            <a:r>
              <a:rPr lang="zh-TW" altLang="zh-TW" b="1" dirty="0"/>
              <a:t>ReAct</a:t>
            </a:r>
            <a:r>
              <a:rPr lang="zh-TW" altLang="zh-TW" dirty="0"/>
              <a:t> (Reasoning and Acting) —— 推理與行動框架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最經典的底層邏輯——交替進行「思考（Thought）」➔「行動（Action）」➔「觀察反饋（Observation）」。</a:t>
            </a:r>
          </a:p>
          <a:p>
            <a:r>
              <a:rPr lang="zh-TW" altLang="zh-TW" b="1" dirty="0"/>
              <a:t>CoT</a:t>
            </a:r>
            <a:r>
              <a:rPr lang="zh-TW" altLang="zh-TW" dirty="0"/>
              <a:t> (Chain of Thought) —— 思維鏈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引導大腦將複雜問題拆解，一步步寫出推理過程（"Let's think step by step"）。</a:t>
            </a:r>
          </a:p>
          <a:p>
            <a:r>
              <a:rPr lang="zh-TW" altLang="zh-TW" b="1" dirty="0"/>
              <a:t>ToT</a:t>
            </a:r>
            <a:r>
              <a:rPr lang="zh-TW" altLang="zh-TW" dirty="0"/>
              <a:t> (Tree of Thoughts) —— 思維樹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大腦在規劃時探索多條可能的決策路徑，並具備回溯（Backtracking）與評估能力。</a:t>
            </a:r>
          </a:p>
          <a:p>
            <a:r>
              <a:rPr lang="zh-TW" altLang="zh-TW" b="1" dirty="0"/>
              <a:t>GoT</a:t>
            </a:r>
            <a:r>
              <a:rPr lang="zh-TW" altLang="zh-TW" dirty="0"/>
              <a:t> (Graph of Thoughts) —— 思維圖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允許不同的思維網絡互相交織、結合或分岔，模擬人類大腦更複雜的非線性思考。</a:t>
            </a:r>
          </a:p>
          <a:p>
            <a:r>
              <a:rPr lang="zh-TW" altLang="zh-TW" b="1" dirty="0"/>
              <a:t>Reflexion</a:t>
            </a:r>
            <a:r>
              <a:rPr lang="zh-TW" altLang="zh-TW" dirty="0"/>
              <a:t> (Reflexion Framework) —— 自我反思架構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執行失敗時，透過評估模塊自我批判（Self-Criticism），將失敗轉化為記憶以修正下一次的規劃。</a:t>
            </a:r>
          </a:p>
          <a:p>
            <a:r>
              <a:rPr lang="zh-TW" altLang="zh-TW" b="1" dirty="0"/>
              <a:t>Task Decomposition</a:t>
            </a:r>
            <a:r>
              <a:rPr lang="zh-TW" altLang="zh-TW" dirty="0"/>
              <a:t> (Task Decomposition) —— 任務拆解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大腦將一個宏大的終極目標（Goal），細分為多個可執行的子任務（Sub-tasks）。</a:t>
            </a:r>
          </a:p>
          <a:p>
            <a:r>
              <a:rPr lang="zh-TW" altLang="zh-TW" b="1" dirty="0"/>
              <a:t>Plan-and-Solve</a:t>
            </a:r>
            <a:r>
              <a:rPr lang="zh-TW" altLang="zh-TW" dirty="0"/>
              <a:t> (Plan-and-Solve Prompting) —— 計畫與解決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先宏觀制定完整計畫，再依序執行，用以減少 CoT 過程中因走一步算一步而產生的計算偏差。</a:t>
            </a:r>
          </a:p>
          <a:p>
            <a:r>
              <a:rPr lang="zh-TW" altLang="zh-TW" b="1" dirty="0"/>
              <a:t>三、 記憶與脈絡工程 (Memory &amp; Context)</a:t>
            </a:r>
          </a:p>
          <a:p>
            <a:r>
              <a:rPr lang="zh-TW" altLang="zh-TW" b="1" dirty="0"/>
              <a:t>RAG</a:t>
            </a:r>
            <a:r>
              <a:rPr lang="zh-TW" altLang="zh-TW" dirty="0"/>
              <a:t> (Retrieval-Augmented Generation) —— 檢索增強生成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從外部知識庫動態撈取資料注入 Context，解決幻覺與長時記憶不足的問題。</a:t>
            </a:r>
          </a:p>
          <a:p>
            <a:r>
              <a:rPr lang="zh-TW" altLang="zh-TW" b="1" dirty="0"/>
              <a:t>Vector DB</a:t>
            </a:r>
            <a:r>
              <a:rPr lang="zh-TW" altLang="zh-TW" dirty="0"/>
              <a:t> (Vector Database) —— 向量資料庫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將文字轉為高維度向量，用於 Agent 的長期記憶（Long-term Memory）檢索。</a:t>
            </a:r>
          </a:p>
          <a:p>
            <a:r>
              <a:rPr lang="zh-TW" altLang="zh-TW" b="1" dirty="0"/>
              <a:t>Embedding</a:t>
            </a:r>
            <a:r>
              <a:rPr lang="zh-TW" altLang="zh-TW" dirty="0"/>
              <a:t> (Semantic Embedding) —— 語意嵌入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將文字、圖片轉化為數學向量的技術，是 Agent 進行「相似度查找」的底層基礎。</a:t>
            </a:r>
          </a:p>
          <a:p>
            <a:r>
              <a:rPr lang="zh-TW" altLang="zh-TW" b="1" dirty="0"/>
              <a:t>Short-term Memory</a:t>
            </a:r>
            <a:r>
              <a:rPr lang="zh-TW" altLang="zh-TW" dirty="0"/>
              <a:t> (Short-term Memory) —— 短期記憶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當前會話（Session）的對話歷史與中途狀態，隨著 Context 視窗滿載會被丟棄。</a:t>
            </a:r>
          </a:p>
          <a:p>
            <a:r>
              <a:rPr lang="zh-TW" altLang="zh-TW" b="1" dirty="0"/>
              <a:t>Long-term Memory</a:t>
            </a:r>
            <a:r>
              <a:rPr lang="zh-TW" altLang="zh-TW" dirty="0"/>
              <a:t> (Long-term Memory) —— 長期記憶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跨越不同對話、長久保存的用戶偏好、公司規章與過去的成功 SOP。</a:t>
            </a:r>
          </a:p>
          <a:p>
            <a:r>
              <a:rPr lang="zh-TW" altLang="zh-TW" b="1" dirty="0"/>
              <a:t>Context Window</a:t>
            </a:r>
            <a:r>
              <a:rPr lang="zh-TW" altLang="zh-TW" dirty="0"/>
              <a:t> (Context Window) —— 上下文視窗 / 脈絡空間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模型單次運算能讀取的最大 Token 限制（大腦的 RAM 限制）。</a:t>
            </a:r>
          </a:p>
          <a:p>
            <a:r>
              <a:rPr lang="zh-TW" altLang="zh-TW" b="1" dirty="0"/>
              <a:t>Prompt Caching</a:t>
            </a:r>
            <a:r>
              <a:rPr lang="zh-TW" altLang="zh-TW" dirty="0"/>
              <a:t> (Prompt Caching) —— 提示詞快取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將重複的系統提示或長期記憶鎖在伺服器記憶體中，降低 Agent 頻繁刷新的費用與延遲。</a:t>
            </a:r>
          </a:p>
          <a:p>
            <a:r>
              <a:rPr lang="zh-TW" altLang="zh-TW" b="1" dirty="0"/>
              <a:t>Lost in the Middle</a:t>
            </a:r>
            <a:r>
              <a:rPr lang="zh-TW" altLang="zh-TW" dirty="0"/>
              <a:t> (Lost in the Middle Effect) —— 迷失在中央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長文本模型的通病——AI 容易注意到開頭和結尾，卻忽略埋在 Context 正中間的記憶資訊。</a:t>
            </a:r>
          </a:p>
          <a:p>
            <a:r>
              <a:rPr lang="zh-TW" altLang="zh-TW" b="1" dirty="0"/>
              <a:t>四、 工具呼叫與環境執行 (Tools &amp; Action)</a:t>
            </a:r>
          </a:p>
          <a:p>
            <a:r>
              <a:rPr lang="zh-TW" altLang="zh-TW" b="1" dirty="0"/>
              <a:t>Function Calling</a:t>
            </a:r>
            <a:r>
              <a:rPr lang="zh-TW" altLang="zh-TW" dirty="0"/>
              <a:t> (Function Calling / Tool Calling) —— 函數呼叫 / 工具調用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模型識別意圖後，不輸出聊天文字，而是輸出標準結構化 JSON 參數的能力。</a:t>
            </a:r>
          </a:p>
          <a:p>
            <a:r>
              <a:rPr lang="zh-TW" altLang="zh-TW" b="1" dirty="0"/>
              <a:t>MCP</a:t>
            </a:r>
            <a:r>
              <a:rPr lang="zh-TW" altLang="zh-TW" dirty="0"/>
              <a:t> (Model Context Protocol) —— 模型上下文協議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Anthropic 倡導的開源標準，充當 AI 的統一 USB 接口，無縫連接各種資料與工具。</a:t>
            </a:r>
          </a:p>
          <a:p>
            <a:r>
              <a:rPr lang="zh-TW" altLang="zh-TW" b="1" dirty="0"/>
              <a:t>REPL</a:t>
            </a:r>
            <a:r>
              <a:rPr lang="zh-TW" altLang="zh-TW" dirty="0"/>
              <a:t> (Read-Eval-Print Loop) —— 互動式程式碼解譯器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自我撰寫 Python/JS 代碼後，直接在系統中執行、看結果並 debug 的工具。</a:t>
            </a:r>
          </a:p>
          <a:p>
            <a:r>
              <a:rPr lang="zh-TW" altLang="zh-TW" b="1" dirty="0"/>
              <a:t>Sandbox</a:t>
            </a:r>
            <a:r>
              <a:rPr lang="zh-TW" altLang="zh-TW" dirty="0"/>
              <a:t> (Secure Sandbox) —— 安全沙盒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與核心系統物理隔離的虛擬環境（如 E2B），防止 Agent 執行的程式碼帶有病毒或寫入敏感檔案。</a:t>
            </a:r>
          </a:p>
          <a:p>
            <a:r>
              <a:rPr lang="zh-TW" altLang="zh-TW" b="1" dirty="0"/>
              <a:t>RPA</a:t>
            </a:r>
            <a:r>
              <a:rPr lang="zh-TW" altLang="zh-TW" dirty="0"/>
              <a:t> (Robotic Process Automation) —— 機器人流程自動化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傳統寫死路徑的自動化腳本，現常作為 Agent 操作網頁、滑鼠與鍵盤的「手腳」。</a:t>
            </a:r>
          </a:p>
          <a:p>
            <a:r>
              <a:rPr lang="zh-TW" altLang="zh-TW" b="1" dirty="0"/>
              <a:t>BaaS</a:t>
            </a:r>
            <a:r>
              <a:rPr lang="zh-TW" altLang="zh-TW" dirty="0"/>
              <a:t> (Browser as a Service) —— 瀏覽器即服務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雲端群控的無頭瀏覽器技術（如 Browserbase），提供 Agent 防封鎖、過驗證碼的上網環境。</a:t>
            </a:r>
          </a:p>
          <a:p>
            <a:r>
              <a:rPr lang="zh-TW" altLang="zh-TW" b="1" dirty="0"/>
              <a:t>Grounding</a:t>
            </a:r>
            <a:r>
              <a:rPr lang="zh-TW" altLang="zh-TW" dirty="0"/>
              <a:t> (UI Grounding / Semantic Grounding) —— 介面定位 / 語意落地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多模態 Agent 將大腦理解的按鈕（如「購物車」），精確對齊到網頁上真實座標（X, Y）的技術。</a:t>
            </a:r>
          </a:p>
          <a:p>
            <a:r>
              <a:rPr lang="zh-TW" altLang="zh-TW" b="1" dirty="0"/>
              <a:t>Computer Use</a:t>
            </a:r>
            <a:r>
              <a:rPr lang="zh-TW" altLang="zh-TW" dirty="0"/>
              <a:t> (Computer Use API) —— 電腦操作 API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AI 直接看著作業系統的截圖，主動移動滑鼠、點擊與輸入，像真人一樣操作整台電腦。</a:t>
            </a:r>
          </a:p>
          <a:p>
            <a:r>
              <a:rPr lang="zh-TW" altLang="zh-TW" b="1" dirty="0"/>
              <a:t>五、 多代理協同與生態層 (Multi-Agent &amp; Ecosystem)</a:t>
            </a:r>
          </a:p>
          <a:p>
            <a:r>
              <a:rPr lang="zh-TW" altLang="zh-TW" b="1" dirty="0"/>
              <a:t>MAS</a:t>
            </a:r>
            <a:r>
              <a:rPr lang="zh-TW" altLang="zh-TW" dirty="0"/>
              <a:t> (Multi-Agent System) —— 多代理人系統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由多個專職、不同分工的 Agent（如：經理、工程師、測試員）共同協同完成複雜任務的系統。</a:t>
            </a:r>
          </a:p>
          <a:p>
            <a:r>
              <a:rPr lang="zh-TW" altLang="zh-TW" b="1" dirty="0"/>
              <a:t>Orchestrator</a:t>
            </a:r>
            <a:r>
              <a:rPr lang="zh-TW" altLang="zh-TW" dirty="0"/>
              <a:t> (Orchestrator Pattern) —— 編排器模式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由一個核心的主 Agent 負責統籌、分派任務給多個底層的子 Agent（Workers）。</a:t>
            </a:r>
          </a:p>
          <a:p>
            <a:r>
              <a:rPr lang="zh-TW" altLang="zh-TW" b="1" dirty="0"/>
              <a:t>Choreography</a:t>
            </a:r>
            <a:r>
              <a:rPr lang="zh-TW" altLang="zh-TW" dirty="0"/>
              <a:t> (Choreography Pattern) —— 編排舞蹈模式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之間沒有絕對的主導者，而是各自遵循 SOP 協議，自發性地互相傳遞接棒工作。</a:t>
            </a:r>
          </a:p>
          <a:p>
            <a:r>
              <a:rPr lang="zh-TW" altLang="zh-TW" b="1" dirty="0"/>
              <a:t>Router</a:t>
            </a:r>
            <a:r>
              <a:rPr lang="zh-TW" altLang="zh-TW" dirty="0"/>
              <a:t> (Agentic Router) —— 智慧型路由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大腦根據用戶的輸入輸入，自動將任務導向最適合處理該問題的專用 Agent 或工具。</a:t>
            </a:r>
          </a:p>
          <a:p>
            <a:r>
              <a:rPr lang="zh-TW" altLang="zh-TW" b="1" dirty="0"/>
              <a:t>SOP</a:t>
            </a:r>
            <a:r>
              <a:rPr lang="zh-TW" altLang="zh-TW" dirty="0"/>
              <a:t> (Standard Operating Procedure) —— 標準作業程序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寫在 Agent 框架中、硬性限制 Agents 之間溝通與執行順序的商務邏輯規則。</a:t>
            </a:r>
          </a:p>
          <a:p>
            <a:r>
              <a:rPr lang="zh-TW" altLang="zh-TW" b="1" dirty="0"/>
              <a:t>Swarm</a:t>
            </a:r>
            <a:r>
              <a:rPr lang="zh-TW" altLang="zh-TW" dirty="0"/>
              <a:t> (Swarm Intelligence) —— 群體智能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大量微型、輕量化的 Agent 透過簡單的群體溝通協議，集體湧現出解決龐大問題的能力。</a:t>
            </a:r>
          </a:p>
          <a:p>
            <a:r>
              <a:rPr lang="zh-TW" altLang="zh-TW" b="1" dirty="0"/>
              <a:t>六、 資安、評估與對齊層 (Safety, Evaluation &amp; Alignment)</a:t>
            </a:r>
          </a:p>
          <a:p>
            <a:r>
              <a:rPr lang="zh-TW" altLang="zh-TW" b="1" dirty="0"/>
              <a:t>Guardrails</a:t>
            </a:r>
            <a:r>
              <a:rPr lang="zh-TW" altLang="zh-TW" dirty="0"/>
              <a:t> (LLM Guardrails) —— 護欄機制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的輸入端與輸出端架設的安全過濾網（如 Llama Guard），硬性攔截不合規言論。</a:t>
            </a:r>
          </a:p>
          <a:p>
            <a:r>
              <a:rPr lang="zh-TW" altLang="zh-TW" b="1" dirty="0"/>
              <a:t>Prompt Injection</a:t>
            </a:r>
            <a:r>
              <a:rPr lang="zh-TW" altLang="zh-TW" dirty="0"/>
              <a:t> (Prompt Injection Attack) —— 提示詞注入攻擊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黑客透過惡意文字欺騙 Agent 大腦，使其忽視原本的 System Prompt 規範，進而執行越權操作。</a:t>
            </a:r>
          </a:p>
          <a:p>
            <a:r>
              <a:rPr lang="zh-TW" altLang="zh-TW" b="1" dirty="0"/>
              <a:t>Jailbreaking</a:t>
            </a:r>
            <a:r>
              <a:rPr lang="zh-TW" altLang="zh-TW" dirty="0"/>
              <a:t> (Jailbreaking) —— 越獄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利用特定話術或繞過技巧，解開模型原本內建的安全道德限制，使其產出有害或不合規的內容。</a:t>
            </a:r>
          </a:p>
          <a:p>
            <a:r>
              <a:rPr lang="zh-TW" altLang="zh-TW" b="1" dirty="0"/>
              <a:t>Alignment</a:t>
            </a:r>
            <a:r>
              <a:rPr lang="zh-TW" altLang="zh-TW" dirty="0"/>
              <a:t> (AI Alignment) —— 人工智慧對齊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確保 Agent 的價值觀、決策意圖、行為結果，完全符合人類的利益、道德與安全規範。</a:t>
            </a:r>
          </a:p>
          <a:p>
            <a:r>
              <a:rPr lang="zh-TW" altLang="zh-TW" b="1" dirty="0"/>
              <a:t>Alignment Tax</a:t>
            </a:r>
            <a:r>
              <a:rPr lang="zh-TW" altLang="zh-TW" dirty="0"/>
              <a:t> (Alignment Tax) —— 對齊稅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為了讓 AI 更安全、更聽話而進行的安全對齊微調，往往會導致模型失去部分原始推理能力或創造力的代價。</a:t>
            </a:r>
          </a:p>
          <a:p>
            <a:r>
              <a:rPr lang="zh-TW" altLang="zh-TW" b="1" dirty="0"/>
              <a:t>SWE-bench</a:t>
            </a:r>
            <a:r>
              <a:rPr lang="zh-TW" altLang="zh-TW" dirty="0"/>
              <a:t> (Software Engineering Benchmark) —— 軟體工程基準測試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目前業界評估「代碼研發 Agent（如 Devin）」自主解決真實 GitHub Issue 能力的權威標準。</a:t>
            </a:r>
          </a:p>
          <a:p>
            <a:r>
              <a:rPr lang="zh-TW" altLang="zh-TW" b="1" dirty="0"/>
              <a:t>GAIA</a:t>
            </a:r>
            <a:r>
              <a:rPr lang="zh-TW" altLang="zh-TW" dirty="0"/>
              <a:t> (General AI Assistants Benchmark) —— 通用 AI 助手基準測試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用來評估 Agent 在面對需要跨工具、多模態、長程規劃等複雜現實任務時的綜合得分。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87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分詞器組件（</a:t>
            </a:r>
            <a:r>
              <a:rPr lang="en-US" altLang="zh-TW" dirty="0"/>
              <a:t>Tokenizer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 err="1"/>
              <a:t>tokenizer_config.json</a:t>
            </a:r>
            <a:r>
              <a:rPr lang="zh-TW" altLang="en-US" dirty="0"/>
              <a:t>：記錄分詞器的控制面板參數與 </a:t>
            </a:r>
            <a:r>
              <a:rPr lang="en-US" altLang="zh-TW" dirty="0"/>
              <a:t>Jinja </a:t>
            </a:r>
            <a:r>
              <a:rPr lang="zh-TW" altLang="en-US" dirty="0"/>
              <a:t>對話模板，用來決定文字如何套用原廠角色格式。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 err="1"/>
              <a:t>vocab.json</a:t>
            </a:r>
            <a:r>
              <a:rPr lang="zh-TW" altLang="en-US" dirty="0"/>
              <a:t>：字詞與數位識別代號（</a:t>
            </a:r>
            <a:r>
              <a:rPr lang="en-US" altLang="zh-TW" dirty="0"/>
              <a:t>ID</a:t>
            </a:r>
            <a:r>
              <a:rPr lang="zh-TW" altLang="en-US" dirty="0"/>
              <a:t>）的對照字典，負責將切碎的字母字串翻譯成模型認得的密碼。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merges.txt</a:t>
            </a:r>
            <a:r>
              <a:rPr lang="zh-TW" altLang="en-US" dirty="0"/>
              <a:t>：記錄 </a:t>
            </a:r>
            <a:r>
              <a:rPr lang="en-US" altLang="zh-TW" dirty="0"/>
              <a:t>BPE </a:t>
            </a:r>
            <a:r>
              <a:rPr lang="zh-TW" altLang="en-US" dirty="0"/>
              <a:t>演算法的字詞合併規則表，引導分詞器如何有邏輯地將基礎字元組合成高階詞彙。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 err="1"/>
              <a:t>tokenizer.json</a:t>
            </a:r>
            <a:r>
              <a:rPr lang="zh-TW" altLang="en-US" dirty="0"/>
              <a:t>：現代內建 </a:t>
            </a:r>
            <a:r>
              <a:rPr lang="en-US" altLang="zh-TW" dirty="0"/>
              <a:t>Rust </a:t>
            </a:r>
            <a:r>
              <a:rPr lang="zh-TW" altLang="en-US" dirty="0"/>
              <a:t>高速核心的完全體分詞本體，將上述所有分詞與合併規則打包以達成高效編碼。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</a:t>
            </a:r>
            <a:r>
              <a:rPr lang="en-US" altLang="zh-TW" dirty="0" err="1"/>
              <a:t>special_tokens_map.json</a:t>
            </a:r>
            <a:r>
              <a:rPr lang="zh-TW" altLang="en-US" dirty="0"/>
              <a:t>：特殊符號對照表，用來定義與強制規範哪些數位代號代表文章開頭、結束或填補空白。</a:t>
            </a:r>
            <a:endParaRPr lang="en-US" altLang="zh-TW" dirty="0"/>
          </a:p>
          <a:p>
            <a:r>
              <a:rPr lang="zh-TW" altLang="en-US" dirty="0"/>
              <a:t>模型大腦組件（</a:t>
            </a:r>
            <a:r>
              <a:rPr lang="en-US" altLang="zh-TW" dirty="0"/>
              <a:t>Model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</a:t>
            </a:r>
            <a:r>
              <a:rPr lang="en-US" altLang="zh-TW" dirty="0" err="1"/>
              <a:t>config.json</a:t>
            </a:r>
            <a:r>
              <a:rPr lang="zh-TW" altLang="en-US" dirty="0"/>
              <a:t>：大模型的神經網路結構藍圖，用來指引系統記憶體在開機時精準搭建出大腦的幾何骨架。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</a:t>
            </a:r>
            <a:r>
              <a:rPr lang="en-US" altLang="zh-TW" dirty="0" err="1"/>
              <a:t>model.safetensors</a:t>
            </a:r>
            <a:r>
              <a:rPr lang="zh-TW" altLang="en-US" dirty="0"/>
              <a:t>：大模型的實體大腦數字權重矩陣，負責在微調時被寫入與修改，永久保存所有的私有知識記憶。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</a:t>
            </a:r>
            <a:r>
              <a:rPr lang="en-US" altLang="zh-TW" dirty="0" err="1"/>
              <a:t>generation_config.json</a:t>
            </a:r>
            <a:r>
              <a:rPr lang="zh-TW" altLang="en-US" dirty="0"/>
              <a:t>：文本生成控制台，用來決定模型在正式上線聊天接龍時的預設隨機度與說話語氣。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06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AC39A-39EB-3866-58A1-31CED7101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78351B-E8BF-1F94-C274-9331612BA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1D6CEA-42B1-8EE2-BC2B-ED6143E6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F6955-58D9-68CC-6B97-D33B51BC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19DA96-DB4A-B807-18A9-57027B84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0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EB8F32-D6CA-1096-5F7F-634DD383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FB77DC-1F1A-EDE3-202F-AD35BA111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AA7D4-40C2-30FA-EF1C-009BF097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9E40CA-DAB8-F94E-65BD-7E947BD0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982315-D0D5-22A2-3A7C-183FFB19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00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7A57C-489F-EA62-FE07-34DE48CF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F1F786-9D3A-B5F0-5C00-23177B1E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EDFF92-7109-4C86-213D-85C19A30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DE91E7-9E44-8CD8-7E64-3EC35490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0F6AB5-BFE1-3C41-37EA-8C962FDB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53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485FC-5067-7DA2-B242-ECEED908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5C3525-50E5-4F2A-06F1-2CE5B8793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53C6CB-4C78-506F-03D3-3064CBFA3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892511-2439-CB17-E388-1034C964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BE9116-9CF5-CF18-443F-7C5FE076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5B0023-491F-B7DE-64A8-A8F9260C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15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F1AC06-591C-7A18-51A8-D8E5CBD8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27446C-9302-91A5-E274-7D1F3B265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56A1EE-9BAC-57E3-6223-280ED240C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0968BC5-62CB-3315-F19B-91B17FEB8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2AFC27-53DA-C98C-E2B8-6C13A173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982EA1-79B1-786E-3480-0FCA5F88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372296C-6C13-3402-5BAB-7C46C37F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BE2E11-6000-75CB-56D0-4128B9E1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74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BFB97-73F7-8D4A-4B51-CC780612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5D055-3008-AED5-32B9-0C9DB385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BB1A043-60D1-050C-C59C-26E5BF6AB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15850F-97EE-2620-E201-FAD2ED4A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28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27F5899-EFCE-F7AC-642E-753AE50C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4383E5-6F42-4349-B1D6-0A78533C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5A7869-D3AE-6606-C123-F31FEB98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66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D6017A-1878-FCA4-C1F8-69FAA8FE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C71DCA-D4F6-955F-CB5E-957163C93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B1CB69-D307-83D8-C8F0-F6AB1B6D2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295BBD-B21B-C30D-1EC9-C37CD558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870736-6FB0-9587-A4CF-6F7FF5A9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1BB3B-0493-7FF7-EF07-7EBDD90D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10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B0FFCA-7DB5-C1CB-1038-1882F023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4B90DBF-6098-2846-BFDF-D1F8F968C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E5BB67-6408-AA33-31F6-32FC0BC98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12AE3E-790D-1404-3373-75241971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9C0678-A68D-771C-8FEC-B8067B8C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D255B6-CCE3-2AA5-6377-C9459F40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30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E0DBE6-D22E-AEF8-FA83-483159AA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DA3021-C1AA-8271-4BBD-0D904F2BB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C4F38A-AB88-024F-D531-D85D611E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159BF2-F2A6-E907-A18D-FE92227D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825058-775F-19FA-DA8A-AB766A64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67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E8AA6DA-A59D-7776-A60D-E96234CB5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14C058-2DDD-AB45-E8D5-D10B5141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782390-27A6-729F-6F4F-E3814146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A347F4-A87D-4FCD-C0BB-D8A5CBAE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A23C5C-884C-7644-DE6A-94D16F5A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77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477D41-63BE-E813-F79A-47E9E0F9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6AE57D-D05B-0D3C-C4DD-9024CD11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5C0DBB-0E05-A008-BE1D-3728A1640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5AE9D-E316-4C75-862D-9EBD6D1B334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A1D375-9D41-7420-A59C-A8A4EAADC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EF0CBF-0E5F-D12B-8701-CD9ADD23D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4967A-F914-4D6D-AEDD-D79048CFF0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76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D88264F-8D27-8E9F-CBF6-F61243BD5B41}"/>
              </a:ext>
            </a:extLst>
          </p:cNvPr>
          <p:cNvSpPr/>
          <p:nvPr/>
        </p:nvSpPr>
        <p:spPr>
          <a:xfrm>
            <a:off x="7890815" y="1435212"/>
            <a:ext cx="3685664" cy="44440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12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0AF1FB-ED05-70F0-4DB3-6127255BC839}"/>
              </a:ext>
            </a:extLst>
          </p:cNvPr>
          <p:cNvSpPr/>
          <p:nvPr/>
        </p:nvSpPr>
        <p:spPr>
          <a:xfrm>
            <a:off x="8304798" y="2734588"/>
            <a:ext cx="2851404" cy="3134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System Prompt 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7BA97E-C56E-E7DA-9BCB-13829BFBAF71}"/>
              </a:ext>
            </a:extLst>
          </p:cNvPr>
          <p:cNvSpPr/>
          <p:nvPr/>
        </p:nvSpPr>
        <p:spPr>
          <a:xfrm>
            <a:off x="8304798" y="1996869"/>
            <a:ext cx="2851404" cy="605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User Prompt</a:t>
            </a: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zh-CN" altLang="en-US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問話、檔案、圖片、聲音、影片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FB6727-F3BA-A57C-3144-6772B21B5D15}"/>
              </a:ext>
            </a:extLst>
          </p:cNvPr>
          <p:cNvSpPr/>
          <p:nvPr/>
        </p:nvSpPr>
        <p:spPr>
          <a:xfrm>
            <a:off x="8281727" y="4636141"/>
            <a:ext cx="2851404" cy="7425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Block Hashing</a:t>
            </a:r>
            <a:br>
              <a:rPr lang="en-US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KV Cache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32344B-9D17-C577-54A3-35184C84F7A8}"/>
              </a:ext>
            </a:extLst>
          </p:cNvPr>
          <p:cNvSpPr/>
          <p:nvPr/>
        </p:nvSpPr>
        <p:spPr>
          <a:xfrm>
            <a:off x="8300624" y="3716876"/>
            <a:ext cx="2851404" cy="3327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Prompt Templating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D862E8-6E61-CCD5-92B1-19DF3C04E057}"/>
              </a:ext>
            </a:extLst>
          </p:cNvPr>
          <p:cNvSpPr/>
          <p:nvPr/>
        </p:nvSpPr>
        <p:spPr>
          <a:xfrm>
            <a:off x="8281727" y="4184690"/>
            <a:ext cx="2851404" cy="3327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Tokenization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FCD5701-21B1-1F5E-2482-B310571D001E}"/>
              </a:ext>
            </a:extLst>
          </p:cNvPr>
          <p:cNvSpPr txBox="1"/>
          <p:nvPr/>
        </p:nvSpPr>
        <p:spPr>
          <a:xfrm>
            <a:off x="5242690" y="1311190"/>
            <a:ext cx="2202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Agent (</a:t>
            </a:r>
            <a:r>
              <a:rPr lang="en-US" altLang="zh-CN" b="1" dirty="0" err="1">
                <a:solidFill>
                  <a:schemeClr val="accent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ReAct</a:t>
            </a:r>
            <a:r>
              <a:rPr lang="en-US" altLang="zh-CN" b="1" dirty="0">
                <a:solidFill>
                  <a:schemeClr val="accent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zh-TW" altLang="en-US" b="1" dirty="0">
              <a:solidFill>
                <a:schemeClr val="accent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D72146-64C0-38AB-C94D-DB29869A769A}"/>
              </a:ext>
            </a:extLst>
          </p:cNvPr>
          <p:cNvSpPr/>
          <p:nvPr/>
        </p:nvSpPr>
        <p:spPr>
          <a:xfrm>
            <a:off x="6693566" y="3370393"/>
            <a:ext cx="1070869" cy="3077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Action</a:t>
            </a:r>
            <a:endParaRPr lang="zh-TW" altLang="en-US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97712A-50F4-F6E5-E88D-87EF4557CA99}"/>
              </a:ext>
            </a:extLst>
          </p:cNvPr>
          <p:cNvSpPr/>
          <p:nvPr/>
        </p:nvSpPr>
        <p:spPr>
          <a:xfrm>
            <a:off x="8084769" y="3410664"/>
            <a:ext cx="3283118" cy="209160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大模型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9AF00-F49A-7AF2-43C3-191C63509881}"/>
              </a:ext>
            </a:extLst>
          </p:cNvPr>
          <p:cNvSpPr/>
          <p:nvPr/>
        </p:nvSpPr>
        <p:spPr>
          <a:xfrm>
            <a:off x="8084767" y="1689825"/>
            <a:ext cx="3283119" cy="143790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上下文管理</a:t>
            </a:r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E3A592-835A-8275-6406-486816C11202}"/>
              </a:ext>
            </a:extLst>
          </p:cNvPr>
          <p:cNvSpPr/>
          <p:nvPr/>
        </p:nvSpPr>
        <p:spPr>
          <a:xfrm>
            <a:off x="6693566" y="2467689"/>
            <a:ext cx="1070868" cy="3077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Observation</a:t>
            </a:r>
            <a:endParaRPr lang="zh-TW" altLang="en-US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FCF97746-0406-AF7D-A163-C26DD130A6D2}"/>
              </a:ext>
            </a:extLst>
          </p:cNvPr>
          <p:cNvCxnSpPr>
            <a:cxnSpLocks/>
            <a:stCxn id="11" idx="2"/>
            <a:endCxn id="41" idx="2"/>
          </p:cNvCxnSpPr>
          <p:nvPr/>
        </p:nvCxnSpPr>
        <p:spPr>
          <a:xfrm rot="5400000" flipH="1">
            <a:off x="7380801" y="3526371"/>
            <a:ext cx="2201046" cy="2504646"/>
          </a:xfrm>
          <a:prstGeom prst="bentConnector3">
            <a:avLst>
              <a:gd name="adj1" fmla="val -59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2766C5AD-18D5-9375-0DD2-00BA9204801A}"/>
              </a:ext>
            </a:extLst>
          </p:cNvPr>
          <p:cNvCxnSpPr>
            <a:cxnSpLocks/>
            <a:stCxn id="43" idx="0"/>
            <a:endCxn id="15" idx="0"/>
          </p:cNvCxnSpPr>
          <p:nvPr/>
        </p:nvCxnSpPr>
        <p:spPr>
          <a:xfrm rot="5400000" flipH="1" flipV="1">
            <a:off x="8244340" y="981529"/>
            <a:ext cx="470820" cy="2501500"/>
          </a:xfrm>
          <a:prstGeom prst="bentConnector3">
            <a:avLst>
              <a:gd name="adj1" fmla="val 190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49FD5CB2-9F5D-592A-DAEE-72750F2C19A6}"/>
              </a:ext>
            </a:extLst>
          </p:cNvPr>
          <p:cNvCxnSpPr>
            <a:cxnSpLocks/>
            <a:stCxn id="41" idx="0"/>
            <a:endCxn id="43" idx="2"/>
          </p:cNvCxnSpPr>
          <p:nvPr/>
        </p:nvCxnSpPr>
        <p:spPr>
          <a:xfrm rot="16200000" flipV="1">
            <a:off x="6931538" y="3072929"/>
            <a:ext cx="59492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4933434-E99C-ACA0-C643-C8FD37F2A477}"/>
              </a:ext>
            </a:extLst>
          </p:cNvPr>
          <p:cNvSpPr txBox="1"/>
          <p:nvPr/>
        </p:nvSpPr>
        <p:spPr>
          <a:xfrm>
            <a:off x="5299349" y="3360514"/>
            <a:ext cx="1036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工具執行</a:t>
            </a:r>
            <a:endParaRPr lang="zh-TW" altLang="en-US" sz="14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D8D8E31-9F9C-C709-59F8-96561CA4DFD3}"/>
              </a:ext>
            </a:extLst>
          </p:cNvPr>
          <p:cNvSpPr txBox="1"/>
          <p:nvPr/>
        </p:nvSpPr>
        <p:spPr>
          <a:xfrm>
            <a:off x="5278245" y="2439163"/>
            <a:ext cx="1305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執行</a:t>
            </a:r>
            <a:r>
              <a:rPr lang="zh-CN" altLang="en-US" sz="14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結果反饋</a:t>
            </a:r>
            <a:endParaRPr lang="zh-TW" altLang="en-US" sz="14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4E60699-5A1E-65BD-C11D-3D1653332DA6}"/>
              </a:ext>
            </a:extLst>
          </p:cNvPr>
          <p:cNvSpPr/>
          <p:nvPr/>
        </p:nvSpPr>
        <p:spPr>
          <a:xfrm>
            <a:off x="9252612" y="6470162"/>
            <a:ext cx="962069" cy="3077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Answer</a:t>
            </a:r>
            <a:endParaRPr lang="zh-TW" altLang="en-US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0FB29B3-449C-CA85-0143-4D39CE832474}"/>
              </a:ext>
            </a:extLst>
          </p:cNvPr>
          <p:cNvSpPr/>
          <p:nvPr/>
        </p:nvSpPr>
        <p:spPr>
          <a:xfrm>
            <a:off x="9249466" y="759395"/>
            <a:ext cx="962069" cy="3077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Question</a:t>
            </a:r>
            <a:endParaRPr lang="zh-TW" altLang="en-US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77D52-B7BF-A2F3-BD7C-A3CE3D5BC62F}"/>
              </a:ext>
            </a:extLst>
          </p:cNvPr>
          <p:cNvCxnSpPr>
            <a:cxnSpLocks/>
            <a:stCxn id="78" idx="2"/>
            <a:endCxn id="15" idx="0"/>
          </p:cNvCxnSpPr>
          <p:nvPr/>
        </p:nvCxnSpPr>
        <p:spPr>
          <a:xfrm rot="5400000">
            <a:off x="9265653" y="1532021"/>
            <a:ext cx="92969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14C197BB-FF95-3F9F-2CF1-D8A0F38FABC2}"/>
              </a:ext>
            </a:extLst>
          </p:cNvPr>
          <p:cNvCxnSpPr>
            <a:cxnSpLocks/>
            <a:stCxn id="11" idx="2"/>
            <a:endCxn id="70" idx="0"/>
          </p:cNvCxnSpPr>
          <p:nvPr/>
        </p:nvCxnSpPr>
        <p:spPr>
          <a:xfrm rot="5400000">
            <a:off x="9438175" y="6174689"/>
            <a:ext cx="590945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E3159AEA-8130-A12D-8992-26D88711C085}"/>
              </a:ext>
            </a:extLst>
          </p:cNvPr>
          <p:cNvSpPr txBox="1"/>
          <p:nvPr/>
        </p:nvSpPr>
        <p:spPr>
          <a:xfrm>
            <a:off x="9787668" y="5907772"/>
            <a:ext cx="1036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規劃回應</a:t>
            </a:r>
            <a:endParaRPr lang="zh-TW" altLang="en-US" sz="14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0BC473B-D15A-A468-6E2B-BBDD3F162373}"/>
              </a:ext>
            </a:extLst>
          </p:cNvPr>
          <p:cNvSpPr/>
          <p:nvPr/>
        </p:nvSpPr>
        <p:spPr>
          <a:xfrm>
            <a:off x="5236029" y="1188364"/>
            <a:ext cx="6548410" cy="502718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1200" b="1" dirty="0">
                <a:noFill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1200" b="1" dirty="0">
              <a:noFill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30CFBF44-512D-8D83-A5D7-53A882A9823F}"/>
              </a:ext>
            </a:extLst>
          </p:cNvPr>
          <p:cNvSpPr txBox="1"/>
          <p:nvPr/>
        </p:nvSpPr>
        <p:spPr>
          <a:xfrm>
            <a:off x="5399707" y="163727"/>
            <a:ext cx="617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Agent 的上限由大模型決定，但下限由上下文管理決定。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DD4EBD5C-159C-4264-4591-18EC61B9DBA4}"/>
              </a:ext>
            </a:extLst>
          </p:cNvPr>
          <p:cNvSpPr txBox="1"/>
          <p:nvPr/>
        </p:nvSpPr>
        <p:spPr>
          <a:xfrm>
            <a:off x="5331503" y="3741037"/>
            <a:ext cx="23434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Function Calling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MCP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skill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A2A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ACP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Ephemeral Agent</a:t>
            </a:r>
            <a:r>
              <a:rPr lang="zh-CN" altLang="en-US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Sub-agent</a:t>
            </a:r>
            <a:r>
              <a:rPr lang="zh-CN" altLang="en-US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HITL</a:t>
            </a:r>
          </a:p>
          <a:p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REPL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Sandbox</a:t>
            </a:r>
          </a:p>
          <a:p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Vision-Based Operation</a:t>
            </a:r>
            <a:b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Computer Use</a:t>
            </a:r>
          </a:p>
          <a:p>
            <a:endParaRPr lang="zh-TW" altLang="en-US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163" name="圖片 162">
            <a:extLst>
              <a:ext uri="{FF2B5EF4-FFF2-40B4-BE49-F238E27FC236}">
                <a16:creationId xmlns:a16="http://schemas.microsoft.com/office/drawing/2014/main" id="{B441A2AC-9804-55D0-23BA-CBE712AD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2" y="944189"/>
            <a:ext cx="4453780" cy="3583609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5753F105-B0A1-0CA7-1F31-A462F5FFD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49" y="4607842"/>
            <a:ext cx="4024366" cy="1387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/>
              <p:nvPr/>
            </p:nvSpPr>
            <p:spPr>
              <a:xfrm>
                <a:off x="285439" y="6061660"/>
                <a:ext cx="4442695" cy="461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200" i="0" smtClean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Hash</m:t>
                      </m:r>
                      <m:r>
                        <m:rPr>
                          <m:nor/>
                        </m:rPr>
                        <a:rPr lang="zh-TW" altLang="en-US" sz="1200" i="0" smtClean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zh-TW" altLang="en-US" sz="1200" i="0" smtClean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Block</m:t>
                      </m:r>
                      <m:r>
                        <m:rPr>
                          <m:nor/>
                        </m:rPr>
                        <a:rPr lang="zh-TW" altLang="en-US" sz="1200" i="0" smtClean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 1)</m:t>
                      </m:r>
                      <m:r>
                        <a:rPr lang="zh-TW" alt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TW" altLang="en-US" sz="12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SHA</m:t>
                      </m:r>
                      <m:r>
                        <m:rPr>
                          <m:nor/>
                        </m:rPr>
                        <a:rPr lang="zh-TW" altLang="en-US" sz="12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256</m:t>
                      </m:r>
                      <m:d>
                        <m:dPr>
                          <m:ctrlPr>
                            <a:rPr lang="zh-TW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Hash</m:t>
                          </m:r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Block</m:t>
                          </m:r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 0)</m:t>
                          </m:r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Block</m:t>
                          </m:r>
                          <m:r>
                            <m:rPr>
                              <m:nor/>
                            </m:rPr>
                            <a:rPr lang="zh-TW" altLang="en-US" sz="12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 1 的內容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20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靜態在頂，動態在底；由穩入變，線性追加</m:t>
                      </m:r>
                    </m:oMath>
                  </m:oMathPara>
                </a14:m>
                <a:endParaRPr lang="zh-TW" altLang="en-US" sz="1200" dirty="0">
                  <a:latin typeface="微軟正黑體 Light" panose="020B0304030504040204" pitchFamily="34" charset="-120"/>
                  <a:ea typeface="微軟正黑體 Light" panose="020B0304030504040204" pitchFamily="34" charset="-120"/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9" y="6061660"/>
                <a:ext cx="4442695" cy="461793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441632E2-FB6B-F197-DF26-1CCC2A6D969E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4405093" y="1009431"/>
            <a:ext cx="5334905" cy="2342484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4F8379A8-E312-AAAB-0305-5F21D7A4807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107232" y="2734588"/>
            <a:ext cx="4193392" cy="1148674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CB0339C0-FB3B-E9D5-6168-023B9B26187C}"/>
              </a:ext>
            </a:extLst>
          </p:cNvPr>
          <p:cNvCxnSpPr>
            <a:cxnSpLocks/>
            <a:stCxn id="165" idx="3"/>
            <a:endCxn id="31" idx="1"/>
          </p:cNvCxnSpPr>
          <p:nvPr/>
        </p:nvCxnSpPr>
        <p:spPr>
          <a:xfrm flipV="1">
            <a:off x="4558015" y="4351076"/>
            <a:ext cx="3723712" cy="95071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C2C124A4-03BF-CCAC-C4D6-0AB57500B2E6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751969" y="5007413"/>
            <a:ext cx="3529758" cy="1298612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8" name="圖片 187">
            <a:extLst>
              <a:ext uri="{FF2B5EF4-FFF2-40B4-BE49-F238E27FC236}">
                <a16:creationId xmlns:a16="http://schemas.microsoft.com/office/drawing/2014/main" id="{A3436026-A169-47CF-A377-C870212F4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3711" y="758482"/>
            <a:ext cx="2263310" cy="185707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DD6667E5-60F6-0869-8A1E-E007756D8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1971" y="2616987"/>
            <a:ext cx="2236858" cy="204328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846CFD46-7FB4-E8C7-BCB8-ACCB38DC5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727" y="375305"/>
            <a:ext cx="4024366" cy="1268251"/>
          </a:xfrm>
          <a:prstGeom prst="rect">
            <a:avLst/>
          </a:prstGeom>
        </p:spPr>
      </p:pic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4EA7BBDC-7B61-EC8B-3736-ACD5249C1E37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9465461" y="3388598"/>
            <a:ext cx="52173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00A213-6C42-2B9F-F559-C623686766CC}"/>
              </a:ext>
            </a:extLst>
          </p:cNvPr>
          <p:cNvSpPr txBox="1"/>
          <p:nvPr/>
        </p:nvSpPr>
        <p:spPr>
          <a:xfrm>
            <a:off x="1243268" y="363545"/>
            <a:ext cx="6094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200" dirty="0">
                <a:solidFill>
                  <a:schemeClr val="bg1"/>
                </a:solidFill>
              </a:rPr>
              <a:t>OpenAI Chat Completions API 格式</a:t>
            </a:r>
          </a:p>
        </p:txBody>
      </p:sp>
    </p:spTree>
    <p:extLst>
      <p:ext uri="{BB962C8B-B14F-4D97-AF65-F5344CB8AC3E}">
        <p14:creationId xmlns:p14="http://schemas.microsoft.com/office/powerpoint/2010/main" val="257057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D871E9EB-038B-1CAB-C8C1-9B3E44316CC7}"/>
              </a:ext>
            </a:extLst>
          </p:cNvPr>
          <p:cNvSpPr txBox="1"/>
          <p:nvPr/>
        </p:nvSpPr>
        <p:spPr>
          <a:xfrm>
            <a:off x="4541376" y="92608"/>
            <a:ext cx="1136750" cy="830997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下載來源</a:t>
            </a:r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br>
              <a:rPr lang="en-US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Hugging Face Hub</a:t>
            </a:r>
            <a:br>
              <a:rPr lang="en-US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Civitai </a:t>
            </a:r>
            <a:b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Kaggle Models</a:t>
            </a:r>
            <a:b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ModelScope 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WiseModel </a:t>
            </a:r>
            <a:endParaRPr lang="zh-TW" altLang="en-US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1F8168-4847-CF7D-8F9D-2111C391C931}"/>
              </a:ext>
            </a:extLst>
          </p:cNvPr>
          <p:cNvSpPr/>
          <p:nvPr/>
        </p:nvSpPr>
        <p:spPr>
          <a:xfrm>
            <a:off x="6044324" y="101440"/>
            <a:ext cx="1136750" cy="2338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下載模型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9966B9-F7E5-0499-6A5C-D6A8D2DE7588}"/>
              </a:ext>
            </a:extLst>
          </p:cNvPr>
          <p:cNvSpPr txBox="1"/>
          <p:nvPr/>
        </p:nvSpPr>
        <p:spPr>
          <a:xfrm>
            <a:off x="6582873" y="448847"/>
            <a:ext cx="1232028" cy="58477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b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TW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config.json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 err="1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model.safetensors</a:t>
            </a:r>
            <a:endParaRPr lang="en-US" altLang="zh-TW" sz="800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generation_config.json</a:t>
            </a:r>
            <a:endParaRPr lang="zh-TW" altLang="en-US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20C49D-79FC-6920-1D5C-7808103E61EB}"/>
              </a:ext>
            </a:extLst>
          </p:cNvPr>
          <p:cNvSpPr/>
          <p:nvPr/>
        </p:nvSpPr>
        <p:spPr>
          <a:xfrm>
            <a:off x="9718562" y="103097"/>
            <a:ext cx="1376649" cy="2338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下載或自定訓練資料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7527AD-8CB3-9AE3-62DC-06B905D9F352}"/>
              </a:ext>
            </a:extLst>
          </p:cNvPr>
          <p:cNvSpPr/>
          <p:nvPr/>
        </p:nvSpPr>
        <p:spPr>
          <a:xfrm>
            <a:off x="9478803" y="1903503"/>
            <a:ext cx="1856168" cy="391886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訓練資料物件</a:t>
            </a:r>
            <a:br>
              <a:rPr lang="en-US" altLang="zh-CN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Apache Arrow 二進位矩陣</a:t>
            </a:r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C03F95-903A-6223-6AFC-6B304CCF2901}"/>
              </a:ext>
            </a:extLst>
          </p:cNvPr>
          <p:cNvSpPr/>
          <p:nvPr/>
        </p:nvSpPr>
        <p:spPr>
          <a:xfrm>
            <a:off x="1718848" y="1446355"/>
            <a:ext cx="9759543" cy="129257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訓練物件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4B8F03-7160-0260-331E-43923BD264A3}"/>
              </a:ext>
            </a:extLst>
          </p:cNvPr>
          <p:cNvSpPr/>
          <p:nvPr/>
        </p:nvSpPr>
        <p:spPr>
          <a:xfrm>
            <a:off x="6096000" y="4397176"/>
            <a:ext cx="1037261" cy="2141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模型測試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FD015C-1F9D-2D95-AEDC-C02433CEBE33}"/>
              </a:ext>
            </a:extLst>
          </p:cNvPr>
          <p:cNvSpPr/>
          <p:nvPr/>
        </p:nvSpPr>
        <p:spPr>
          <a:xfrm>
            <a:off x="6096000" y="4789062"/>
            <a:ext cx="1037261" cy="23156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模型產出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A67325C-624F-32CA-327A-EC0F5581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03" y="1726790"/>
            <a:ext cx="2506169" cy="9597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6BF6715-9287-EC26-3307-4DDCD97F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00" y="1796295"/>
            <a:ext cx="1311378" cy="63541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83457B68-7A59-7497-577E-E94876509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691" y="2878305"/>
            <a:ext cx="3714758" cy="10044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E6842AC-5B91-0E0F-E4A9-D56BD2012DA0}"/>
              </a:ext>
            </a:extLst>
          </p:cNvPr>
          <p:cNvSpPr/>
          <p:nvPr/>
        </p:nvSpPr>
        <p:spPr>
          <a:xfrm>
            <a:off x="5654173" y="1579578"/>
            <a:ext cx="1905858" cy="104550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模型物件（</a:t>
            </a:r>
            <a:r>
              <a:rPr lang="en-US" altLang="zh-CN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</a:t>
            </a:r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52C65C-D672-5C68-794F-E0925F999210}"/>
              </a:ext>
            </a:extLst>
          </p:cNvPr>
          <p:cNvSpPr/>
          <p:nvPr/>
        </p:nvSpPr>
        <p:spPr>
          <a:xfrm>
            <a:off x="4444978" y="1992239"/>
            <a:ext cx="1078545" cy="2144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訓練的參數物件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A29691-5DC4-2523-0848-4376079D4EEA}"/>
              </a:ext>
            </a:extLst>
          </p:cNvPr>
          <p:cNvSpPr/>
          <p:nvPr/>
        </p:nvSpPr>
        <p:spPr>
          <a:xfrm>
            <a:off x="7915187" y="112394"/>
            <a:ext cx="1136749" cy="2338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下載分詞 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A7E9471-E2FD-7314-ED18-B23A9B912B1C}"/>
              </a:ext>
            </a:extLst>
          </p:cNvPr>
          <p:cNvSpPr/>
          <p:nvPr/>
        </p:nvSpPr>
        <p:spPr>
          <a:xfrm>
            <a:off x="7924002" y="1205335"/>
            <a:ext cx="1136749" cy="163564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分詞物件 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F69022-FE0D-1F1B-3379-9209ADAC26DA}"/>
              </a:ext>
            </a:extLst>
          </p:cNvPr>
          <p:cNvSpPr/>
          <p:nvPr/>
        </p:nvSpPr>
        <p:spPr>
          <a:xfrm>
            <a:off x="7703451" y="1903503"/>
            <a:ext cx="1136751" cy="391886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資料核排物件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42A5639D-869E-B09B-00DF-F40598C0B66F}"/>
              </a:ext>
            </a:extLst>
          </p:cNvPr>
          <p:cNvCxnSpPr>
            <a:cxnSpLocks/>
            <a:stCxn id="40" idx="2"/>
            <a:endCxn id="20" idx="0"/>
          </p:cNvCxnSpPr>
          <p:nvPr/>
        </p:nvCxnSpPr>
        <p:spPr>
          <a:xfrm rot="16200000" flipH="1">
            <a:off x="9182330" y="678946"/>
            <a:ext cx="534604" cy="191451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E8184D6F-1194-89A9-2EBE-106D9054DF3D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5400000">
            <a:off x="8114800" y="1525926"/>
            <a:ext cx="534604" cy="22055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E6C627EB-BF7F-9B14-B1F3-37E0A9AA5181}"/>
              </a:ext>
            </a:extLst>
          </p:cNvPr>
          <p:cNvSpPr/>
          <p:nvPr/>
        </p:nvSpPr>
        <p:spPr>
          <a:xfrm>
            <a:off x="6096000" y="3243540"/>
            <a:ext cx="1029533" cy="391886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啓動模型訓練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EC90861-398C-5499-A9B4-38CA12520ACD}"/>
              </a:ext>
            </a:extLst>
          </p:cNvPr>
          <p:cNvSpPr/>
          <p:nvPr/>
        </p:nvSpPr>
        <p:spPr>
          <a:xfrm>
            <a:off x="247651" y="5522377"/>
            <a:ext cx="11753849" cy="939654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模型執行環境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109683-EDE3-2485-97C7-7F230C99D909}"/>
              </a:ext>
            </a:extLst>
          </p:cNvPr>
          <p:cNvSpPr/>
          <p:nvPr/>
        </p:nvSpPr>
        <p:spPr>
          <a:xfrm>
            <a:off x="247651" y="1095891"/>
            <a:ext cx="11753849" cy="304698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TW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用 </a:t>
            </a:r>
            <a:r>
              <a:rPr lang="en-US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 </a:t>
            </a:r>
            <a:r>
              <a:rPr lang="zh-TW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從頭寫 </a:t>
            </a:r>
            <a:r>
              <a:rPr lang="en-US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code </a:t>
            </a:r>
            <a:r>
              <a:rPr lang="zh-TW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E4ADABD1-954E-F32A-757A-287F2D9844C5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 flipH="1">
            <a:off x="6607102" y="335332"/>
            <a:ext cx="5597" cy="124424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785C6C88-C610-04FC-BF45-F4DAD511E4BD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8483562" y="346286"/>
            <a:ext cx="8815" cy="85904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7C0638DC-7015-38BE-4FEE-43D8B83328C7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10406887" y="336989"/>
            <a:ext cx="0" cy="156651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72A1A04D-60AD-D17B-5905-3D7A6E87482F}"/>
              </a:ext>
            </a:extLst>
          </p:cNvPr>
          <p:cNvCxnSpPr>
            <a:cxnSpLocks/>
            <a:stCxn id="20" idx="1"/>
            <a:endCxn id="42" idx="3"/>
          </p:cNvCxnSpPr>
          <p:nvPr/>
        </p:nvCxnSpPr>
        <p:spPr>
          <a:xfrm flipH="1">
            <a:off x="8840202" y="2099446"/>
            <a:ext cx="63860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F8859C5C-E641-D46A-0DB8-C5E6FAD38385}"/>
              </a:ext>
            </a:extLst>
          </p:cNvPr>
          <p:cNvCxnSpPr>
            <a:cxnSpLocks/>
            <a:stCxn id="42" idx="1"/>
            <a:endCxn id="34" idx="3"/>
          </p:cNvCxnSpPr>
          <p:nvPr/>
        </p:nvCxnSpPr>
        <p:spPr>
          <a:xfrm flipH="1">
            <a:off x="7560031" y="2099446"/>
            <a:ext cx="143420" cy="288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0F9F68E0-7684-F86B-A00C-A00298B706D2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>
            <a:off x="5523523" y="2099447"/>
            <a:ext cx="130650" cy="288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7CC0C207-7DCD-90A4-3CEE-B5686A84904A}"/>
              </a:ext>
            </a:extLst>
          </p:cNvPr>
          <p:cNvSpPr/>
          <p:nvPr/>
        </p:nvSpPr>
        <p:spPr>
          <a:xfrm>
            <a:off x="5948872" y="1844359"/>
            <a:ext cx="1136750" cy="19783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  <a:r>
              <a:rPr lang="zh-CN" altLang="en-US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手段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5A8FECF0-ECFE-CF5E-6405-F2FB24E48054}"/>
              </a:ext>
            </a:extLst>
          </p:cNvPr>
          <p:cNvCxnSpPr>
            <a:cxnSpLocks/>
            <a:stCxn id="34" idx="2"/>
            <a:endCxn id="78" idx="0"/>
          </p:cNvCxnSpPr>
          <p:nvPr/>
        </p:nvCxnSpPr>
        <p:spPr>
          <a:xfrm>
            <a:off x="6607102" y="2625078"/>
            <a:ext cx="3665" cy="61846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3B95A4BC-289B-F123-E3F9-4A3D68D3C9D9}"/>
              </a:ext>
            </a:extLst>
          </p:cNvPr>
          <p:cNvCxnSpPr>
            <a:cxnSpLocks/>
            <a:stCxn id="78" idx="2"/>
            <a:endCxn id="24" idx="0"/>
          </p:cNvCxnSpPr>
          <p:nvPr/>
        </p:nvCxnSpPr>
        <p:spPr>
          <a:xfrm>
            <a:off x="6610767" y="3635426"/>
            <a:ext cx="3864" cy="76175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2EB35435-5FF8-4324-BF98-F63774C0965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6614631" y="4611355"/>
            <a:ext cx="0" cy="17770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DC63F816-AC5B-9D01-4FA4-51AFBA0D6F6E}"/>
              </a:ext>
            </a:extLst>
          </p:cNvPr>
          <p:cNvSpPr txBox="1"/>
          <p:nvPr/>
        </p:nvSpPr>
        <p:spPr>
          <a:xfrm>
            <a:off x="5689067" y="2017339"/>
            <a:ext cx="1843397" cy="58477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開旁支：</a:t>
            </a: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LoRA / QLoRA / DoRA</a:t>
            </a:r>
          </a:p>
          <a:p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層凍結：</a:t>
            </a: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Freeze</a:t>
            </a:r>
            <a:b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虛擬 </a:t>
            </a:r>
            <a: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Prefix / Prompt Tuning</a:t>
            </a:r>
          </a:p>
          <a:p>
            <a:r>
              <a:rPr lang="zh-TW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 </a:t>
            </a:r>
            <a: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Bias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BitFit</a:t>
            </a: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5D76B831-1B92-6132-F84C-703420D62D33}"/>
              </a:ext>
            </a:extLst>
          </p:cNvPr>
          <p:cNvSpPr txBox="1"/>
          <p:nvPr/>
        </p:nvSpPr>
        <p:spPr>
          <a:xfrm>
            <a:off x="8492376" y="345196"/>
            <a:ext cx="1699584" cy="70788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TW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tokenizer_config.json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 err="1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vocab.json</a:t>
            </a:r>
            <a:endParaRPr lang="en-US" altLang="zh-TW" sz="800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merges.txt</a:t>
            </a:r>
          </a:p>
          <a:p>
            <a:r>
              <a:rPr lang="en-US" altLang="zh-TW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tokenizer.json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special_tokens_map.json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02" name="文字方塊 201">
            <a:extLst>
              <a:ext uri="{FF2B5EF4-FFF2-40B4-BE49-F238E27FC236}">
                <a16:creationId xmlns:a16="http://schemas.microsoft.com/office/drawing/2014/main" id="{86C78B19-240D-1AE5-CE33-34433538B3A6}"/>
              </a:ext>
            </a:extLst>
          </p:cNvPr>
          <p:cNvSpPr txBox="1"/>
          <p:nvPr/>
        </p:nvSpPr>
        <p:spPr>
          <a:xfrm>
            <a:off x="10384242" y="409903"/>
            <a:ext cx="1617258" cy="4616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README.md</a:t>
            </a:r>
            <a:endParaRPr lang="en-US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train-00000-of-00001.parquet</a:t>
            </a:r>
            <a:br>
              <a:rPr lang="en-US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test-00000-of-00001.parquet</a:t>
            </a:r>
            <a:endParaRPr lang="en-US" altLang="zh-TW" sz="800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7" name="文字方塊 246">
            <a:extLst>
              <a:ext uri="{FF2B5EF4-FFF2-40B4-BE49-F238E27FC236}">
                <a16:creationId xmlns:a16="http://schemas.microsoft.com/office/drawing/2014/main" id="{A5C640EF-71D1-9954-00E7-1DCD265E0930}"/>
              </a:ext>
            </a:extLst>
          </p:cNvPr>
          <p:cNvSpPr txBox="1"/>
          <p:nvPr/>
        </p:nvSpPr>
        <p:spPr>
          <a:xfrm>
            <a:off x="337899" y="92608"/>
            <a:ext cx="1441615" cy="830997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直接可使用得微調工具</a:t>
            </a:r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r>
              <a:rPr lang="zh-TW" altLang="zh-TW" sz="800" dirty="0"/>
              <a:t> </a:t>
            </a:r>
            <a:br>
              <a:rPr lang="en-US" altLang="zh-TW" sz="800" dirty="0"/>
            </a:br>
            <a:r>
              <a:rPr lang="zh-TW" altLang="zh-TW" sz="800" dirty="0"/>
              <a:t>Axolotl </a:t>
            </a:r>
            <a:endParaRPr lang="en-US" altLang="zh-TW" sz="800" dirty="0"/>
          </a:p>
          <a:p>
            <a:r>
              <a:rPr lang="zh-TW" altLang="zh-TW" sz="800" dirty="0">
                <a:solidFill>
                  <a:srgbClr val="FF0000"/>
                </a:solidFill>
              </a:rPr>
              <a:t>LLaMA Factory</a:t>
            </a:r>
            <a:endParaRPr lang="en-US" altLang="zh-TW" sz="800" dirty="0">
              <a:solidFill>
                <a:srgbClr val="FF0000"/>
              </a:solidFill>
            </a:endParaRPr>
          </a:p>
          <a:p>
            <a:r>
              <a:rPr lang="zh-TW" altLang="zh-TW" sz="800" dirty="0"/>
              <a:t>Unsloth </a:t>
            </a:r>
            <a:endParaRPr lang="en-US" altLang="zh-TW" sz="800" dirty="0"/>
          </a:p>
          <a:p>
            <a:r>
              <a:rPr lang="zh-TW" altLang="zh-TW" sz="800" dirty="0"/>
              <a:t>Torchtune </a:t>
            </a:r>
            <a:endParaRPr lang="en-US" altLang="zh-TW" sz="800" dirty="0"/>
          </a:p>
          <a:p>
            <a:r>
              <a:rPr lang="zh-TW" altLang="zh-TW" sz="800" dirty="0"/>
              <a:t>ModelScope SWIFT</a:t>
            </a: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9A6FC049-1187-D7E5-0630-C64F63C4816F}"/>
              </a:ext>
            </a:extLst>
          </p:cNvPr>
          <p:cNvSpPr/>
          <p:nvPr/>
        </p:nvSpPr>
        <p:spPr>
          <a:xfrm>
            <a:off x="2654351" y="5714406"/>
            <a:ext cx="1136751" cy="15903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</a:t>
            </a:r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afetensors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ADAF727-5FDF-2842-C7DB-D8C277D46F95}"/>
              </a:ext>
            </a:extLst>
          </p:cNvPr>
          <p:cNvSpPr/>
          <p:nvPr/>
        </p:nvSpPr>
        <p:spPr>
          <a:xfrm>
            <a:off x="9247491" y="5709214"/>
            <a:ext cx="1136751" cy="15903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GGUF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231D6C02-3483-2589-2E13-924E757F37B9}"/>
              </a:ext>
            </a:extLst>
          </p:cNvPr>
          <p:cNvSpPr/>
          <p:nvPr/>
        </p:nvSpPr>
        <p:spPr>
          <a:xfrm>
            <a:off x="6873986" y="5703086"/>
            <a:ext cx="1136751" cy="15903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2B955B9-2D46-C93F-B50E-EFFFE9188B34}"/>
              </a:ext>
            </a:extLst>
          </p:cNvPr>
          <p:cNvSpPr/>
          <p:nvPr/>
        </p:nvSpPr>
        <p:spPr>
          <a:xfrm>
            <a:off x="4526840" y="5712699"/>
            <a:ext cx="1136751" cy="15903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</a:t>
            </a:r>
            <a:endParaRPr lang="zh-TW" altLang="en-US" sz="1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265" name="接點: 肘形 264">
            <a:extLst>
              <a:ext uri="{FF2B5EF4-FFF2-40B4-BE49-F238E27FC236}">
                <a16:creationId xmlns:a16="http://schemas.microsoft.com/office/drawing/2014/main" id="{42D552B2-437C-65F9-520E-189C69CC693A}"/>
              </a:ext>
            </a:extLst>
          </p:cNvPr>
          <p:cNvCxnSpPr>
            <a:cxnSpLocks/>
            <a:stCxn id="26" idx="2"/>
            <a:endCxn id="252" idx="0"/>
          </p:cNvCxnSpPr>
          <p:nvPr/>
        </p:nvCxnSpPr>
        <p:spPr>
          <a:xfrm rot="5400000">
            <a:off x="4571789" y="3671563"/>
            <a:ext cx="693781" cy="339190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接點: 肘形 267">
            <a:extLst>
              <a:ext uri="{FF2B5EF4-FFF2-40B4-BE49-F238E27FC236}">
                <a16:creationId xmlns:a16="http://schemas.microsoft.com/office/drawing/2014/main" id="{0D4B1183-3F84-40E9-3BF3-22D2AECBA622}"/>
              </a:ext>
            </a:extLst>
          </p:cNvPr>
          <p:cNvCxnSpPr>
            <a:cxnSpLocks/>
            <a:stCxn id="26" idx="2"/>
            <a:endCxn id="258" idx="0"/>
          </p:cNvCxnSpPr>
          <p:nvPr/>
        </p:nvCxnSpPr>
        <p:spPr>
          <a:xfrm rot="16200000" flipH="1">
            <a:off x="7870955" y="3764301"/>
            <a:ext cx="688589" cy="320123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接點: 肘形 271">
            <a:extLst>
              <a:ext uri="{FF2B5EF4-FFF2-40B4-BE49-F238E27FC236}">
                <a16:creationId xmlns:a16="http://schemas.microsoft.com/office/drawing/2014/main" id="{68D0530A-C47E-1270-2FAA-27D23EC81278}"/>
              </a:ext>
            </a:extLst>
          </p:cNvPr>
          <p:cNvCxnSpPr>
            <a:cxnSpLocks/>
            <a:stCxn id="26" idx="2"/>
            <a:endCxn id="260" idx="0"/>
          </p:cNvCxnSpPr>
          <p:nvPr/>
        </p:nvCxnSpPr>
        <p:spPr>
          <a:xfrm rot="16200000" flipH="1">
            <a:off x="6687266" y="4947989"/>
            <a:ext cx="682461" cy="82773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接點: 肘形 274">
            <a:extLst>
              <a:ext uri="{FF2B5EF4-FFF2-40B4-BE49-F238E27FC236}">
                <a16:creationId xmlns:a16="http://schemas.microsoft.com/office/drawing/2014/main" id="{19DE8891-6873-FDD2-E2BA-E7D41F288E63}"/>
              </a:ext>
            </a:extLst>
          </p:cNvPr>
          <p:cNvCxnSpPr>
            <a:cxnSpLocks/>
            <a:stCxn id="26" idx="2"/>
            <a:endCxn id="262" idx="0"/>
          </p:cNvCxnSpPr>
          <p:nvPr/>
        </p:nvCxnSpPr>
        <p:spPr>
          <a:xfrm rot="5400000">
            <a:off x="5508887" y="4606955"/>
            <a:ext cx="692074" cy="151941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文字方塊 282">
            <a:extLst>
              <a:ext uri="{FF2B5EF4-FFF2-40B4-BE49-F238E27FC236}">
                <a16:creationId xmlns:a16="http://schemas.microsoft.com/office/drawing/2014/main" id="{E73DAF14-0EDE-066F-1C03-22F3F7D00913}"/>
              </a:ext>
            </a:extLst>
          </p:cNvPr>
          <p:cNvSpPr txBox="1"/>
          <p:nvPr/>
        </p:nvSpPr>
        <p:spPr>
          <a:xfrm>
            <a:off x="2589715" y="5896196"/>
            <a:ext cx="11367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vLLM</a:t>
            </a:r>
            <a:b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FD0685BF-B94F-4A9B-9E8A-4034E88D406B}"/>
              </a:ext>
            </a:extLst>
          </p:cNvPr>
          <p:cNvSpPr txBox="1"/>
          <p:nvPr/>
        </p:nvSpPr>
        <p:spPr>
          <a:xfrm>
            <a:off x="9270136" y="5855996"/>
            <a:ext cx="11367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CN" sz="800" dirty="0" err="1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Ollama</a:t>
            </a:r>
            <a:r>
              <a:rPr lang="en-US" altLang="zh-CN" sz="8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b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7" name="文字方塊 286">
            <a:extLst>
              <a:ext uri="{FF2B5EF4-FFF2-40B4-BE49-F238E27FC236}">
                <a16:creationId xmlns:a16="http://schemas.microsoft.com/office/drawing/2014/main" id="{4B269E56-C728-6787-8E81-1981A87157F9}"/>
              </a:ext>
            </a:extLst>
          </p:cNvPr>
          <p:cNvSpPr txBox="1"/>
          <p:nvPr/>
        </p:nvSpPr>
        <p:spPr>
          <a:xfrm>
            <a:off x="6849347" y="5924393"/>
            <a:ext cx="11367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mlx-</a:t>
            </a:r>
            <a:r>
              <a:rPr lang="en-US" altLang="zh-CN" sz="8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lm</a:t>
            </a:r>
            <a:endParaRPr lang="en-US" altLang="zh-CN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LLM Farm 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9" name="文字方塊 288">
            <a:extLst>
              <a:ext uri="{FF2B5EF4-FFF2-40B4-BE49-F238E27FC236}">
                <a16:creationId xmlns:a16="http://schemas.microsoft.com/office/drawing/2014/main" id="{2941C4EB-ADCA-39E4-0A07-CA423DBA4878}"/>
              </a:ext>
            </a:extLst>
          </p:cNvPr>
          <p:cNvSpPr txBox="1"/>
          <p:nvPr/>
        </p:nvSpPr>
        <p:spPr>
          <a:xfrm>
            <a:off x="4660843" y="5884602"/>
            <a:ext cx="113675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 Runtime 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1" name="文字方塊 290">
            <a:extLst>
              <a:ext uri="{FF2B5EF4-FFF2-40B4-BE49-F238E27FC236}">
                <a16:creationId xmlns:a16="http://schemas.microsoft.com/office/drawing/2014/main" id="{38A2098C-65B1-BAEA-F313-AF7DEA58FB71}"/>
              </a:ext>
            </a:extLst>
          </p:cNvPr>
          <p:cNvSpPr txBox="1"/>
          <p:nvPr/>
        </p:nvSpPr>
        <p:spPr>
          <a:xfrm>
            <a:off x="2640563" y="6198505"/>
            <a:ext cx="113675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雲端、開發階段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F156262B-FBDE-F4B9-3888-D43495A0DCCB}"/>
              </a:ext>
            </a:extLst>
          </p:cNvPr>
          <p:cNvSpPr txBox="1"/>
          <p:nvPr/>
        </p:nvSpPr>
        <p:spPr>
          <a:xfrm>
            <a:off x="9408391" y="6176945"/>
            <a:ext cx="113675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pc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43DD308C-3610-EE5B-A0AC-865CAC18D067}"/>
              </a:ext>
            </a:extLst>
          </p:cNvPr>
          <p:cNvSpPr txBox="1"/>
          <p:nvPr/>
        </p:nvSpPr>
        <p:spPr>
          <a:xfrm>
            <a:off x="6951043" y="6234750"/>
            <a:ext cx="113675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mac</a:t>
            </a:r>
            <a:r>
              <a:rPr lang="zh-CN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7" name="文字方塊 296">
            <a:extLst>
              <a:ext uri="{FF2B5EF4-FFF2-40B4-BE49-F238E27FC236}">
                <a16:creationId xmlns:a16="http://schemas.microsoft.com/office/drawing/2014/main" id="{8AB96CAE-778C-04C3-758E-EA80F7D02DEC}"/>
              </a:ext>
            </a:extLst>
          </p:cNvPr>
          <p:cNvSpPr txBox="1"/>
          <p:nvPr/>
        </p:nvSpPr>
        <p:spPr>
          <a:xfrm>
            <a:off x="4864112" y="6204535"/>
            <a:ext cx="113675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en-US" sz="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跨平台</a:t>
            </a:r>
            <a:endParaRPr lang="zh-TW" altLang="zh-TW" sz="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99" name="圖片 298">
            <a:extLst>
              <a:ext uri="{FF2B5EF4-FFF2-40B4-BE49-F238E27FC236}">
                <a16:creationId xmlns:a16="http://schemas.microsoft.com/office/drawing/2014/main" id="{3068F5DA-67C4-16D0-25EA-B8EC47790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513" y="3401383"/>
            <a:ext cx="825542" cy="120656"/>
          </a:xfrm>
          <a:prstGeom prst="rect">
            <a:avLst/>
          </a:prstGeom>
        </p:spPr>
      </p:pic>
      <p:pic>
        <p:nvPicPr>
          <p:cNvPr id="301" name="圖片 300">
            <a:extLst>
              <a:ext uri="{FF2B5EF4-FFF2-40B4-BE49-F238E27FC236}">
                <a16:creationId xmlns:a16="http://schemas.microsoft.com/office/drawing/2014/main" id="{10C7C000-FE46-F822-B7E7-CAB6A7324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471" y="4433546"/>
            <a:ext cx="692186" cy="177809"/>
          </a:xfrm>
          <a:prstGeom prst="rect">
            <a:avLst/>
          </a:prstGeom>
        </p:spPr>
      </p:pic>
      <p:pic>
        <p:nvPicPr>
          <p:cNvPr id="303" name="圖片 302">
            <a:extLst>
              <a:ext uri="{FF2B5EF4-FFF2-40B4-BE49-F238E27FC236}">
                <a16:creationId xmlns:a16="http://schemas.microsoft.com/office/drawing/2014/main" id="{92A525C8-3860-AAFC-0292-5954D4D60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6112" y="4966781"/>
            <a:ext cx="2025754" cy="254013"/>
          </a:xfrm>
          <a:prstGeom prst="rect">
            <a:avLst/>
          </a:prstGeom>
        </p:spPr>
      </p:pic>
      <p:pic>
        <p:nvPicPr>
          <p:cNvPr id="309" name="圖片 308">
            <a:extLst>
              <a:ext uri="{FF2B5EF4-FFF2-40B4-BE49-F238E27FC236}">
                <a16:creationId xmlns:a16="http://schemas.microsoft.com/office/drawing/2014/main" id="{53B8548D-F084-A213-2F4D-C298EC54CB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9659" y="4650806"/>
            <a:ext cx="2348732" cy="617781"/>
          </a:xfrm>
          <a:prstGeom prst="rect">
            <a:avLst/>
          </a:prstGeom>
        </p:spPr>
      </p:pic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39FF7848-8229-04D6-551E-93C8BD91D235}"/>
              </a:ext>
            </a:extLst>
          </p:cNvPr>
          <p:cNvSpPr txBox="1"/>
          <p:nvPr/>
        </p:nvSpPr>
        <p:spPr>
          <a:xfrm>
            <a:off x="6582873" y="334703"/>
            <a:ext cx="1623926" cy="25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TW" altLang="zh-TW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gemma-4-E2B-it</a:t>
            </a:r>
            <a:r>
              <a:rPr lang="en-US" altLang="zh-TW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10.2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</a:t>
            </a:r>
            <a:endParaRPr lang="zh-TW" altLang="zh-TW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60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24854</TotalTime>
  <Words>2425</Words>
  <Application>Microsoft Office PowerPoint</Application>
  <PresentationFormat>寬螢幕</PresentationFormat>
  <Paragraphs>179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微軟正黑體 Light</vt:lpstr>
      <vt:lpstr>Aptos</vt:lpstr>
      <vt:lpstr>Aptos Display</vt:lpstr>
      <vt:lpstr>Arial</vt:lpstr>
      <vt:lpstr>Cambria Math</vt:lpstr>
      <vt:lpstr>Consolas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tien</dc:creator>
  <cp:lastModifiedBy>felix tien</cp:lastModifiedBy>
  <cp:revision>27</cp:revision>
  <dcterms:created xsi:type="dcterms:W3CDTF">2026-04-29T02:49:25Z</dcterms:created>
  <dcterms:modified xsi:type="dcterms:W3CDTF">2026-07-08T09:19:40Z</dcterms:modified>
</cp:coreProperties>
</file>