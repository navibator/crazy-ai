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handoutMasterIdLst>
    <p:handoutMasterId r:id="rId33"/>
  </p:handoutMasterIdLst>
  <p:sldIdLst>
    <p:sldId id="3459" r:id="rId2"/>
    <p:sldId id="3472" r:id="rId3"/>
    <p:sldId id="3573" r:id="rId4"/>
    <p:sldId id="3465" r:id="rId5"/>
    <p:sldId id="3574" r:id="rId6"/>
    <p:sldId id="3566" r:id="rId7"/>
    <p:sldId id="3563" r:id="rId8"/>
    <p:sldId id="3562" r:id="rId9"/>
    <p:sldId id="3556" r:id="rId10"/>
    <p:sldId id="3551" r:id="rId11"/>
    <p:sldId id="3561" r:id="rId12"/>
    <p:sldId id="3577" r:id="rId13"/>
    <p:sldId id="3559" r:id="rId14"/>
    <p:sldId id="3578" r:id="rId15"/>
    <p:sldId id="3570" r:id="rId16"/>
    <p:sldId id="3571" r:id="rId17"/>
    <p:sldId id="3576" r:id="rId18"/>
    <p:sldId id="3572" r:id="rId19"/>
    <p:sldId id="3575" r:id="rId20"/>
    <p:sldId id="3567" r:id="rId21"/>
    <p:sldId id="3568" r:id="rId22"/>
    <p:sldId id="3534" r:id="rId23"/>
    <p:sldId id="3565" r:id="rId24"/>
    <p:sldId id="3451" r:id="rId25"/>
    <p:sldId id="3560" r:id="rId26"/>
    <p:sldId id="3564" r:id="rId27"/>
    <p:sldId id="3536" r:id="rId28"/>
    <p:sldId id="3569" r:id="rId29"/>
    <p:sldId id="3535" r:id="rId30"/>
    <p:sldId id="3549" r:id="rId3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Optimizer-MuON" id="{D96295E3-C59A-456D-AE59-C3D5699A4263}">
          <p14:sldIdLst>
            <p14:sldId id="3563"/>
            <p14:sldId id="3562"/>
            <p14:sldId id="3556"/>
            <p14:sldId id="3551"/>
          </p14:sldIdLst>
        </p14:section>
        <p14:section name="Scaling Laws" id="{D8A0A845-B83A-4610-8E4F-071F07C07C23}">
          <p14:sldIdLst>
            <p14:sldId id="3561"/>
            <p14:sldId id="3577"/>
            <p14:sldId id="3559"/>
          </p14:sldIdLst>
        </p14:section>
        <p14:section name="Moonshot-Kimi" id="{7C2BE5B2-C507-46C7-871E-C935EB653EC3}">
          <p14:sldIdLst>
            <p14:sldId id="3578"/>
            <p14:sldId id="3570"/>
            <p14:sldId id="3571"/>
            <p14:sldId id="3576"/>
            <p14:sldId id="3572"/>
            <p14:sldId id="3575"/>
            <p14:sldId id="3567"/>
            <p14:sldId id="3568"/>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59738"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en.wikipedia.org/wiki/Chinchilla_(language_model)" TargetMode="External"/><Relationship Id="rId2" Type="http://schemas.openxmlformats.org/officeDocument/2006/relationships/slide" Target="../slides/slide12.xml"/><Relationship Id="rId1" Type="http://schemas.openxmlformats.org/officeDocument/2006/relationships/notesMaster" Target="../notesMasters/notesMaster1.xml"/><Relationship Id="rId5" Type="http://schemas.openxmlformats.org/officeDocument/2006/relationships/hyperlink" Target="https://ai.meta.com/blog/large-language-model-llama-meta-ai/" TargetMode="External"/><Relationship Id="rId4" Type="http://schemas.openxmlformats.org/officeDocument/2006/relationships/hyperlink" Target="https://arxiv.org/abs/2203.15556"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lvl="0"/>
            <a:r>
              <a:rPr lang="zh-TW" altLang="zh-TW" sz="1200" b="1" u="none" strike="noStrike" kern="1200" dirty="0">
                <a:solidFill>
                  <a:schemeClr val="tx1"/>
                </a:solidFill>
                <a:effectLst/>
                <a:latin typeface="+mn-lt"/>
                <a:ea typeface="+mn-ea"/>
                <a:cs typeface="+mn-cs"/>
              </a:rPr>
              <a:t>Chinchilla 定律</a:t>
            </a:r>
            <a:r>
              <a:rPr lang="zh-TW" altLang="zh-TW" sz="1200" b="0" u="none" strike="noStrike" kern="1200" dirty="0">
                <a:solidFill>
                  <a:schemeClr val="tx1"/>
                </a:solidFill>
                <a:effectLst/>
                <a:latin typeface="+mn-lt"/>
                <a:ea typeface="+mn-ea"/>
                <a:cs typeface="+mn-cs"/>
              </a:rPr>
              <a:t>：在最優化配置下，</a:t>
            </a:r>
            <a:r>
              <a:rPr lang="zh-TW" altLang="zh-TW" sz="1200" b="1" u="none" strike="noStrike" kern="1200" dirty="0">
                <a:solidFill>
                  <a:schemeClr val="tx1"/>
                </a:solidFill>
                <a:effectLst/>
                <a:latin typeface="+mn-lt"/>
                <a:ea typeface="+mn-ea"/>
                <a:cs typeface="+mn-cs"/>
              </a:rPr>
              <a:t>模型參數量（N）和訓練數據量（D）應該要以 1:1 的比例均等增長</a:t>
            </a:r>
            <a:r>
              <a:rPr lang="zh-TW" altLang="zh-TW" sz="1200" b="0" u="none" strike="noStrike" kern="1200" dirty="0">
                <a:solidFill>
                  <a:schemeClr val="tx1"/>
                </a:solidFill>
                <a:effectLst/>
                <a:latin typeface="+mn-lt"/>
                <a:ea typeface="+mn-ea"/>
                <a:cs typeface="+mn-cs"/>
              </a:rPr>
              <a:t>。粗略換算下來，</a:t>
            </a:r>
            <a:r>
              <a:rPr lang="zh-TW" altLang="zh-TW" sz="1200" b="1" u="none" strike="noStrike" kern="1200" dirty="0">
                <a:solidFill>
                  <a:schemeClr val="tx1"/>
                </a:solidFill>
                <a:effectLst/>
                <a:latin typeface="+mn-lt"/>
                <a:ea typeface="+mn-ea"/>
                <a:cs typeface="+mn-cs"/>
              </a:rPr>
              <a:t>每增加 1 個參數，大約就需要配上 20 個 Token 的數據量。</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對後來的 AI 發展有什麼驚人影響？</a:t>
            </a:r>
          </a:p>
          <a:p>
            <a:r>
              <a:rPr lang="zh-TW" altLang="zh-TW" sz="1200" b="0" u="none" strike="noStrike" kern="1200" dirty="0">
                <a:solidFill>
                  <a:schemeClr val="tx1"/>
                </a:solidFill>
                <a:effectLst/>
                <a:latin typeface="+mn-lt"/>
                <a:ea typeface="+mn-ea"/>
                <a:cs typeface="+mn-cs"/>
              </a:rPr>
              <a:t>自從 Chinchilla 縮放定律被驗證後，整個 AI 工業界的風向徹底改變了：</a:t>
            </a:r>
          </a:p>
          <a:p>
            <a:pPr lvl="0"/>
            <a:r>
              <a:rPr lang="zh-TW" altLang="zh-TW" sz="1200" b="1" u="none" strike="noStrike" kern="1200" dirty="0">
                <a:solidFill>
                  <a:schemeClr val="tx1"/>
                </a:solidFill>
                <a:effectLst/>
                <a:latin typeface="+mn-lt"/>
                <a:ea typeface="+mn-ea"/>
                <a:cs typeface="+mn-cs"/>
              </a:rPr>
              <a:t>精簡高效模型的誕生</a:t>
            </a:r>
            <a:r>
              <a:rPr lang="zh-TW" altLang="zh-TW" sz="1200" b="0" u="none" strike="noStrike" kern="1200" dirty="0">
                <a:solidFill>
                  <a:schemeClr val="tx1"/>
                </a:solidFill>
                <a:effectLst/>
                <a:latin typeface="+mn-lt"/>
                <a:ea typeface="+mn-ea"/>
                <a:cs typeface="+mn-cs"/>
              </a:rPr>
              <a:t>：Meta 後來推出的 </a:t>
            </a:r>
            <a:r>
              <a:rPr lang="zh-TW" altLang="zh-TW" sz="1200" b="1" u="none" strike="noStrike" kern="1200" dirty="0">
                <a:solidFill>
                  <a:schemeClr val="tx1"/>
                </a:solidFill>
                <a:effectLst/>
                <a:latin typeface="+mn-lt"/>
                <a:ea typeface="+mn-ea"/>
                <a:cs typeface="+mn-cs"/>
              </a:rPr>
              <a:t>LLaMA</a:t>
            </a:r>
            <a:r>
              <a:rPr lang="zh-TW" altLang="zh-TW" sz="1200" b="0" u="none" strike="noStrike" kern="1200" dirty="0">
                <a:solidFill>
                  <a:schemeClr val="tx1"/>
                </a:solidFill>
                <a:effectLst/>
                <a:latin typeface="+mn-lt"/>
                <a:ea typeface="+mn-ea"/>
                <a:cs typeface="+mn-cs"/>
              </a:rPr>
              <a:t> 系列、法國的 </a:t>
            </a:r>
            <a:r>
              <a:rPr lang="zh-TW" altLang="zh-TW" sz="1200" b="1" u="none" strike="noStrike" kern="1200" dirty="0">
                <a:solidFill>
                  <a:schemeClr val="tx1"/>
                </a:solidFill>
                <a:effectLst/>
                <a:latin typeface="+mn-lt"/>
                <a:ea typeface="+mn-ea"/>
                <a:cs typeface="+mn-cs"/>
              </a:rPr>
              <a:t>Mistral</a:t>
            </a:r>
            <a:r>
              <a:rPr lang="zh-TW" altLang="zh-TW" sz="1200" b="0" u="none" strike="noStrike" kern="1200" dirty="0">
                <a:solidFill>
                  <a:schemeClr val="tx1"/>
                </a:solidFill>
                <a:effectLst/>
                <a:latin typeface="+mn-lt"/>
                <a:ea typeface="+mn-ea"/>
                <a:cs typeface="+mn-cs"/>
              </a:rPr>
              <a:t>、甚至是 Google 的 </a:t>
            </a:r>
            <a:r>
              <a:rPr lang="zh-TW" altLang="zh-TW" sz="1200" b="1" u="none" strike="noStrike" kern="1200" dirty="0">
                <a:solidFill>
                  <a:schemeClr val="tx1"/>
                </a:solidFill>
                <a:effectLst/>
                <a:latin typeface="+mn-lt"/>
                <a:ea typeface="+mn-ea"/>
                <a:cs typeface="+mn-cs"/>
              </a:rPr>
              <a:t>Gemma</a:t>
            </a:r>
            <a:r>
              <a:rPr lang="zh-TW" altLang="zh-TW" sz="1200" b="0" u="none" strike="noStrike" kern="1200" dirty="0">
                <a:solidFill>
                  <a:schemeClr val="tx1"/>
                </a:solidFill>
                <a:effectLst/>
                <a:latin typeface="+mn-lt"/>
                <a:ea typeface="+mn-ea"/>
                <a:cs typeface="+mn-cs"/>
              </a:rPr>
              <a:t>，全都繼承了 Chinchilla 的精神——</a:t>
            </a:r>
            <a:r>
              <a:rPr lang="zh-TW" altLang="zh-TW" sz="1200" b="1" u="none" strike="noStrike" kern="1200" dirty="0">
                <a:solidFill>
                  <a:schemeClr val="tx1"/>
                </a:solidFill>
                <a:effectLst/>
                <a:latin typeface="+mn-lt"/>
                <a:ea typeface="+mn-ea"/>
                <a:cs typeface="+mn-cs"/>
              </a:rPr>
              <a:t>寧可把模型參數控制在 7B、8B、70B，也要瘋狂餵入 2 兆、3 兆甚至 15 兆的 Token 來把模型「訓練到極致」（Overtrained）</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推理成本大幅降低</a:t>
            </a:r>
            <a:r>
              <a:rPr lang="zh-TW" altLang="zh-TW" sz="1200" b="0" u="none" strike="noStrike" kern="1200" dirty="0">
                <a:solidFill>
                  <a:schemeClr val="tx1"/>
                </a:solidFill>
                <a:effectLst/>
                <a:latin typeface="+mn-lt"/>
                <a:ea typeface="+mn-ea"/>
                <a:cs typeface="+mn-cs"/>
              </a:rPr>
              <a:t>：對我們使用者和企業來說，模型體積小，意味著部署在顯示卡上的成本極低、速度極快，這才真正開啟了開源 AI 大爆發的時代。</a:t>
            </a:r>
          </a:p>
          <a:p>
            <a:endParaRPr lang="en-US" altLang="zh-TW" dirty="0"/>
          </a:p>
          <a:p>
            <a:r>
              <a:rPr lang="zh-TW" altLang="zh-TW" sz="1200" b="0" u="none" strike="noStrike" kern="1200" dirty="0">
                <a:solidFill>
                  <a:schemeClr val="tx1"/>
                </a:solidFill>
                <a:effectLst/>
                <a:latin typeface="+mn-lt"/>
                <a:ea typeface="+mn-ea"/>
                <a:cs typeface="+mn-cs"/>
              </a:rPr>
              <a:t>1. 生物領域：絨鼠（俗稱「龍貓」）</a:t>
            </a:r>
          </a:p>
          <a:p>
            <a:r>
              <a:rPr lang="zh-TW" altLang="zh-TW" sz="1200" b="0" u="none" strike="noStrike" kern="1200" dirty="0">
                <a:solidFill>
                  <a:schemeClr val="tx1"/>
                </a:solidFill>
                <a:effectLst/>
                <a:latin typeface="+mn-lt"/>
                <a:ea typeface="+mn-ea"/>
                <a:cs typeface="+mn-cs"/>
              </a:rPr>
              <a:t>在生物學上，Chinchilla 是原產於南美洲安地斯山脈的小型齧齒目哺乳動物，中文正式名稱為</a:t>
            </a:r>
            <a:r>
              <a:rPr lang="zh-TW" altLang="zh-TW" sz="1200" b="1" u="none" strike="noStrike" kern="1200" dirty="0">
                <a:solidFill>
                  <a:schemeClr val="tx1"/>
                </a:solidFill>
                <a:effectLst/>
                <a:latin typeface="+mn-lt"/>
                <a:ea typeface="+mn-ea"/>
                <a:cs typeface="+mn-cs"/>
              </a:rPr>
              <a:t>絨鼠</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毛絲鼠</a:t>
            </a:r>
            <a:r>
              <a:rPr lang="zh-TW" altLang="zh-TW" sz="1200" b="0" u="none" strike="noStrike" kern="1200" dirty="0">
                <a:solidFill>
                  <a:schemeClr val="tx1"/>
                </a:solidFill>
                <a:effectLst/>
                <a:latin typeface="+mn-lt"/>
                <a:ea typeface="+mn-ea"/>
                <a:cs typeface="+mn-cs"/>
              </a:rPr>
              <a:t>或</a:t>
            </a:r>
            <a:r>
              <a:rPr lang="zh-TW" altLang="zh-TW" sz="1200" b="1" u="none" strike="noStrike" kern="1200" dirty="0">
                <a:solidFill>
                  <a:schemeClr val="tx1"/>
                </a:solidFill>
                <a:effectLst/>
                <a:latin typeface="+mn-lt"/>
                <a:ea typeface="+mn-ea"/>
                <a:cs typeface="+mn-cs"/>
              </a:rPr>
              <a:t>栗鼠</a:t>
            </a:r>
            <a:r>
              <a:rPr lang="zh-TW" altLang="zh-TW" sz="1200" b="0" u="none" strike="noStrike" kern="1200" dirty="0">
                <a:solidFill>
                  <a:schemeClr val="tx1"/>
                </a:solidFill>
                <a:effectLst/>
                <a:latin typeface="+mn-lt"/>
                <a:ea typeface="+mn-ea"/>
                <a:cs typeface="+mn-cs"/>
              </a:rPr>
              <a:t>，在華語圈因為外型酷似宮崎駿動畫角色，常被俗稱為「</a:t>
            </a:r>
            <a:r>
              <a:rPr lang="zh-TW" altLang="zh-TW" sz="1200" b="1" u="none" strike="noStrike" kern="1200" dirty="0">
                <a:solidFill>
                  <a:schemeClr val="tx1"/>
                </a:solidFill>
                <a:effectLst/>
                <a:latin typeface="+mn-lt"/>
                <a:ea typeface="+mn-ea"/>
                <a:cs typeface="+mn-cs"/>
              </a:rPr>
              <a:t>龍貓</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陸地上最濃密的毛皮</a:t>
            </a:r>
            <a:r>
              <a:rPr lang="zh-TW" altLang="zh-TW" sz="1200" b="0" u="none" strike="noStrike" kern="1200" dirty="0">
                <a:solidFill>
                  <a:schemeClr val="tx1"/>
                </a:solidFill>
                <a:effectLst/>
                <a:latin typeface="+mn-lt"/>
                <a:ea typeface="+mn-ea"/>
                <a:cs typeface="+mn-cs"/>
              </a:rPr>
              <a:t>：牠們為了在寒冷的高山生存，演化出極其細軟綿密的毛髮，一個毛囊可以長出 60～80 根細毛（人類只有 1 根）。</a:t>
            </a:r>
          </a:p>
          <a:p>
            <a:pPr lvl="0"/>
            <a:r>
              <a:rPr lang="zh-TW" altLang="zh-TW" sz="1200" b="1" u="none" strike="noStrike" kern="1200" dirty="0">
                <a:solidFill>
                  <a:schemeClr val="tx1"/>
                </a:solidFill>
                <a:effectLst/>
                <a:latin typeface="+mn-lt"/>
                <a:ea typeface="+mn-ea"/>
                <a:cs typeface="+mn-cs"/>
              </a:rPr>
              <a:t>不能用水洗澡</a:t>
            </a:r>
            <a:r>
              <a:rPr lang="zh-TW" altLang="zh-TW" sz="1200" b="0" u="none" strike="noStrike" kern="1200" dirty="0">
                <a:solidFill>
                  <a:schemeClr val="tx1"/>
                </a:solidFill>
                <a:effectLst/>
                <a:latin typeface="+mn-lt"/>
                <a:ea typeface="+mn-ea"/>
                <a:cs typeface="+mn-cs"/>
              </a:rPr>
              <a:t>：因為毛髮太密，碰水極難乾且容易發霉感染，牠們必須使用專用的火山灰或細砂進行「砂浴（火山灰洗澡）」來去除皮脂。</a:t>
            </a:r>
          </a:p>
          <a:p>
            <a:pPr lvl="0"/>
            <a:r>
              <a:rPr lang="zh-TW" altLang="zh-TW" sz="1200" b="1" u="none" strike="noStrike" kern="1200" dirty="0">
                <a:solidFill>
                  <a:schemeClr val="tx1"/>
                </a:solidFill>
                <a:effectLst/>
                <a:latin typeface="+mn-lt"/>
                <a:ea typeface="+mn-ea"/>
                <a:cs typeface="+mn-cs"/>
              </a:rPr>
              <a:t>高壽與跳躍力</a:t>
            </a:r>
            <a:r>
              <a:rPr lang="zh-TW" altLang="zh-TW" sz="1200" b="0" u="none" strike="noStrike" kern="1200" dirty="0">
                <a:solidFill>
                  <a:schemeClr val="tx1"/>
                </a:solidFill>
                <a:effectLst/>
                <a:latin typeface="+mn-lt"/>
                <a:ea typeface="+mn-ea"/>
                <a:cs typeface="+mn-cs"/>
              </a:rPr>
              <a:t>：牠們身手極其敏捷，最高可跳躍超過 1.8 公尺，且在人工悉心飼養下壽命可長達 15～20 年。</a:t>
            </a:r>
          </a:p>
          <a:p>
            <a:endParaRPr lang="en-US" altLang="zh-TW" dirty="0"/>
          </a:p>
          <a:p>
            <a:r>
              <a:rPr lang="zh-TW" altLang="zh-TW" sz="1200" b="0" u="none" strike="noStrike" kern="1200" dirty="0">
                <a:solidFill>
                  <a:schemeClr val="tx1"/>
                </a:solidFill>
                <a:effectLst/>
                <a:latin typeface="+mn-lt"/>
                <a:ea typeface="+mn-ea"/>
                <a:cs typeface="+mn-cs"/>
              </a:rPr>
              <a:t>1. 2021 年 12 月：前身 Gopher 發表</a:t>
            </a:r>
          </a:p>
          <a:p>
            <a:r>
              <a:rPr lang="zh-TW" altLang="zh-TW" sz="1200" b="0" u="none" strike="noStrike" kern="1200" dirty="0">
                <a:solidFill>
                  <a:schemeClr val="tx1"/>
                </a:solidFill>
                <a:effectLst/>
                <a:latin typeface="+mn-lt"/>
                <a:ea typeface="+mn-ea"/>
                <a:cs typeface="+mn-cs"/>
              </a:rPr>
              <a:t>Google DeepMind 發表了擁有 2800 億參數的巨型模型 </a:t>
            </a:r>
            <a:r>
              <a:rPr lang="zh-TW" altLang="zh-TW" sz="1200" b="0" u="none" strike="noStrike" kern="1200" dirty="0">
                <a:solidFill>
                  <a:schemeClr val="tx1"/>
                </a:solidFill>
                <a:effectLst/>
                <a:latin typeface="+mn-lt"/>
                <a:ea typeface="+mn-ea"/>
                <a:cs typeface="+mn-cs"/>
                <a:hlinkClick r:id="rId3"/>
              </a:rPr>
              <a:t>Gopher</a:t>
            </a:r>
            <a:r>
              <a:rPr lang="zh-TW" altLang="zh-TW" sz="1200" b="0" u="none" strike="noStrike" kern="1200" dirty="0">
                <a:solidFill>
                  <a:schemeClr val="tx1"/>
                </a:solidFill>
                <a:effectLst/>
                <a:latin typeface="+mn-lt"/>
                <a:ea typeface="+mn-ea"/>
                <a:cs typeface="+mn-cs"/>
              </a:rPr>
              <a:t>。雖然表現優異，但科學家在後續幾個月的成本效益與矩陣分析中，發現了嚴重的「訓練不足」盲點。 </a:t>
            </a:r>
          </a:p>
          <a:p>
            <a:r>
              <a:rPr lang="zh-TW" altLang="zh-TW" sz="1200" b="0" u="none" strike="noStrike" kern="1200" dirty="0">
                <a:solidFill>
                  <a:schemeClr val="tx1"/>
                </a:solidFill>
                <a:effectLst/>
                <a:latin typeface="+mn-lt"/>
                <a:ea typeface="+mn-ea"/>
                <a:cs typeface="+mn-cs"/>
              </a:rPr>
              <a:t>2. 2022 年 3 月 29 日：Chinchilla 正式發表（劃時代的分水嶺）</a:t>
            </a:r>
          </a:p>
          <a:p>
            <a:r>
              <a:rPr lang="zh-TW" altLang="zh-TW" sz="1200" b="0" u="none" strike="noStrike" kern="1200" dirty="0">
                <a:solidFill>
                  <a:schemeClr val="tx1"/>
                </a:solidFill>
                <a:effectLst/>
                <a:latin typeface="+mn-lt"/>
                <a:ea typeface="+mn-ea"/>
                <a:cs typeface="+mn-cs"/>
              </a:rPr>
              <a:t>DeepMind 正式發布了名為《</a:t>
            </a:r>
            <a:r>
              <a:rPr lang="zh-TW" altLang="zh-TW" sz="1200" b="0" u="none" strike="noStrike" kern="1200" dirty="0">
                <a:solidFill>
                  <a:schemeClr val="tx1"/>
                </a:solidFill>
                <a:effectLst/>
                <a:latin typeface="+mn-lt"/>
                <a:ea typeface="+mn-ea"/>
                <a:cs typeface="+mn-cs"/>
                <a:hlinkClick r:id="rId4"/>
              </a:rPr>
              <a:t>Training Compute-Optimal Large Language Models</a:t>
            </a:r>
            <a:r>
              <a:rPr lang="zh-TW" altLang="zh-TW" sz="1200" b="0" u="none" strike="noStrike" kern="1200" dirty="0">
                <a:solidFill>
                  <a:schemeClr val="tx1"/>
                </a:solidFill>
                <a:effectLst/>
                <a:latin typeface="+mn-lt"/>
                <a:ea typeface="+mn-ea"/>
                <a:cs typeface="+mn-cs"/>
              </a:rPr>
              <a:t>》的里程碑論文，正式推出 </a:t>
            </a:r>
            <a:r>
              <a:rPr lang="zh-TW" altLang="zh-TW" sz="1200" b="1" u="none" strike="noStrike" kern="1200" dirty="0">
                <a:solidFill>
                  <a:schemeClr val="tx1"/>
                </a:solidFill>
                <a:effectLst/>
                <a:latin typeface="+mn-lt"/>
                <a:ea typeface="+mn-ea"/>
                <a:cs typeface="+mn-cs"/>
              </a:rPr>
              <a:t>Chinchilla（70B）模型</a:t>
            </a:r>
            <a:r>
              <a:rPr lang="zh-TW" altLang="zh-TW" sz="1200" b="0" u="none" strike="noStrike" kern="1200" dirty="0">
                <a:solidFill>
                  <a:schemeClr val="tx1"/>
                </a:solidFill>
                <a:effectLst/>
                <a:latin typeface="+mn-lt"/>
                <a:ea typeface="+mn-ea"/>
                <a:cs typeface="+mn-cs"/>
              </a:rPr>
              <a:t>並確立了 </a:t>
            </a:r>
            <a:r>
              <a:rPr lang="zh-TW" altLang="zh-TW" sz="1200" b="1" u="none" strike="noStrike" kern="1200" dirty="0">
                <a:solidFill>
                  <a:schemeClr val="tx1"/>
                </a:solidFill>
                <a:effectLst/>
                <a:latin typeface="+mn-lt"/>
                <a:ea typeface="+mn-ea"/>
                <a:cs typeface="+mn-cs"/>
              </a:rPr>
              <a:t>Chinchilla 縮放定律</a:t>
            </a:r>
            <a:r>
              <a:rPr lang="zh-TW" altLang="zh-TW" sz="1200" b="0" u="none" strike="noStrike" kern="1200" dirty="0">
                <a:solidFill>
                  <a:schemeClr val="tx1"/>
                </a:solidFill>
                <a:effectLst/>
                <a:latin typeface="+mn-lt"/>
                <a:ea typeface="+mn-ea"/>
                <a:cs typeface="+mn-cs"/>
              </a:rPr>
              <a:t>。 </a:t>
            </a:r>
          </a:p>
          <a:p>
            <a:r>
              <a:rPr lang="zh-TW" altLang="zh-TW" sz="1200" b="0" u="none" strike="noStrike" kern="1200" dirty="0">
                <a:solidFill>
                  <a:schemeClr val="tx1"/>
                </a:solidFill>
                <a:effectLst/>
                <a:latin typeface="+mn-lt"/>
                <a:ea typeface="+mn-ea"/>
                <a:cs typeface="+mn-cs"/>
              </a:rPr>
              <a:t>3. 2023 年至今：定律的全面實踐與「過度訓練」時代</a:t>
            </a:r>
          </a:p>
          <a:p>
            <a:pPr lvl="0"/>
            <a:r>
              <a:rPr lang="zh-TW" altLang="zh-TW" sz="1200" b="1" u="none" strike="noStrike" kern="1200" dirty="0">
                <a:solidFill>
                  <a:schemeClr val="tx1"/>
                </a:solidFill>
                <a:effectLst/>
                <a:latin typeface="+mn-lt"/>
                <a:ea typeface="+mn-ea"/>
                <a:cs typeface="+mn-cs"/>
              </a:rPr>
              <a:t>2023 年</a:t>
            </a:r>
            <a:r>
              <a:rPr lang="zh-TW" altLang="zh-TW" sz="1200" b="0" u="none" strike="noStrike" kern="1200" dirty="0">
                <a:solidFill>
                  <a:schemeClr val="tx1"/>
                </a:solidFill>
                <a:effectLst/>
                <a:latin typeface="+mn-lt"/>
                <a:ea typeface="+mn-ea"/>
                <a:cs typeface="+mn-cs"/>
              </a:rPr>
              <a:t>：Meta 推出 </a:t>
            </a:r>
            <a:r>
              <a:rPr lang="zh-TW" altLang="zh-TW" sz="1200" b="0" u="none" strike="noStrike" kern="1200" dirty="0">
                <a:solidFill>
                  <a:schemeClr val="tx1"/>
                </a:solidFill>
                <a:effectLst/>
                <a:latin typeface="+mn-lt"/>
                <a:ea typeface="+mn-ea"/>
                <a:cs typeface="+mn-cs"/>
                <a:hlinkClick r:id="rId5"/>
              </a:rPr>
              <a:t>LLaMA 1</a:t>
            </a:r>
            <a:r>
              <a:rPr lang="zh-TW" altLang="zh-TW" sz="1200" b="0" u="none" strike="noStrike" kern="1200" dirty="0">
                <a:solidFill>
                  <a:schemeClr val="tx1"/>
                </a:solidFill>
                <a:effectLst/>
                <a:latin typeface="+mn-lt"/>
                <a:ea typeface="+mn-ea"/>
                <a:cs typeface="+mn-cs"/>
              </a:rPr>
              <a:t> 與 LLaMA 2，正式將 Chinchilla 的精簡高效概念導入開源社群。</a:t>
            </a:r>
          </a:p>
          <a:p>
            <a:pPr lvl="0"/>
            <a:r>
              <a:rPr lang="zh-TW" altLang="zh-TW" sz="1200" b="1" u="none" strike="noStrike" kern="1200" dirty="0">
                <a:solidFill>
                  <a:schemeClr val="tx1"/>
                </a:solidFill>
                <a:effectLst/>
                <a:latin typeface="+mn-lt"/>
                <a:ea typeface="+mn-ea"/>
                <a:cs typeface="+mn-cs"/>
              </a:rPr>
              <a:t>2024 年至 2026 年（現在）</a:t>
            </a:r>
            <a:r>
              <a:rPr lang="zh-TW" altLang="zh-TW" sz="1200" b="0" u="none" strike="noStrike" kern="1200" dirty="0">
                <a:solidFill>
                  <a:schemeClr val="tx1"/>
                </a:solidFill>
                <a:effectLst/>
                <a:latin typeface="+mn-lt"/>
                <a:ea typeface="+mn-ea"/>
                <a:cs typeface="+mn-cs"/>
              </a:rPr>
              <a:t>：工業界更進一步跨越 Chinchilla 的 1:20 天花板。例如 LLaMA 3（8B 參數配 15 兆 Token）將比例推到了接近 </a:t>
            </a:r>
            <a:r>
              <a:rPr lang="zh-TW" altLang="zh-TW" sz="1200" b="1" u="none" strike="noStrike" kern="1200" dirty="0">
                <a:solidFill>
                  <a:schemeClr val="tx1"/>
                </a:solidFill>
                <a:effectLst/>
                <a:latin typeface="+mn-lt"/>
                <a:ea typeface="+mn-ea"/>
                <a:cs typeface="+mn-cs"/>
              </a:rPr>
              <a:t>1:1875</a:t>
            </a:r>
            <a:r>
              <a:rPr lang="zh-TW" altLang="zh-TW" sz="1200" b="0" u="none" strike="noStrike" kern="1200" dirty="0">
                <a:solidFill>
                  <a:schemeClr val="tx1"/>
                </a:solidFill>
                <a:effectLst/>
                <a:latin typeface="+mn-lt"/>
                <a:ea typeface="+mn-ea"/>
                <a:cs typeface="+mn-cs"/>
              </a:rPr>
              <a:t>，開啟了為了極致降低推理成本而瘋狂「過度訓練（Overtraining）」的新技術浪潮。陳章博士在 </a:t>
            </a:r>
            <a:r>
              <a:rPr lang="zh-TW" altLang="zh-TW" sz="1200" b="1" u="none" strike="noStrike" kern="1200" dirty="0">
                <a:solidFill>
                  <a:schemeClr val="tx1"/>
                </a:solidFill>
                <a:effectLst/>
                <a:latin typeface="+mn-lt"/>
                <a:ea typeface="+mn-ea"/>
                <a:cs typeface="+mn-cs"/>
              </a:rPr>
              <a:t>EZ.Encoder Academy</a:t>
            </a:r>
            <a:r>
              <a:rPr lang="zh-TW" altLang="zh-TW" sz="1200" b="0" u="none" strike="noStrike" kern="1200" dirty="0">
                <a:solidFill>
                  <a:schemeClr val="tx1"/>
                </a:solidFill>
                <a:effectLst/>
                <a:latin typeface="+mn-lt"/>
                <a:ea typeface="+mn-ea"/>
                <a:cs typeface="+mn-cs"/>
              </a:rPr>
              <a:t> 的影片中，通常就是以 </a:t>
            </a:r>
            <a:r>
              <a:rPr lang="zh-TW" altLang="zh-TW" sz="1200" b="1" u="none" strike="noStrike" kern="1200" dirty="0">
                <a:solidFill>
                  <a:schemeClr val="tx1"/>
                </a:solidFill>
                <a:effectLst/>
                <a:latin typeface="+mn-lt"/>
                <a:ea typeface="+mn-ea"/>
                <a:cs typeface="+mn-cs"/>
              </a:rPr>
              <a:t>2022 年</a:t>
            </a:r>
            <a:r>
              <a:rPr lang="zh-TW" altLang="zh-TW" sz="1200" b="0" u="none" strike="noStrike" kern="1200" dirty="0">
                <a:solidFill>
                  <a:schemeClr val="tx1"/>
                </a:solidFill>
                <a:effectLst/>
                <a:latin typeface="+mn-lt"/>
                <a:ea typeface="+mn-ea"/>
                <a:cs typeface="+mn-cs"/>
              </a:rPr>
              <a:t> 的這篇 Chinchilla 論文作為分界線，來對比「2022 年前盲目做大」與「2022 年後追求數據高密度」的 AI 發展大轉折。</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325701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7D7E-2791-E92D-99B3-2933139023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1A7B221-803D-EBD0-89EE-BEEF13A615B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762DE49-57CA-6A5A-E457-83C76388DC4F}"/>
              </a:ext>
            </a:extLst>
          </p:cNvPr>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a:extLst>
              <a:ext uri="{FF2B5EF4-FFF2-40B4-BE49-F238E27FC236}">
                <a16:creationId xmlns:a16="http://schemas.microsoft.com/office/drawing/2014/main" id="{91F674A9-7C3F-B629-B0F0-CE5822E8B7D6}"/>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81292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1.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31.png"/><Relationship Id="rId7" Type="http://schemas.openxmlformats.org/officeDocument/2006/relationships/image" Target="../media/image37.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4.png"/><Relationship Id="rId5" Type="http://schemas.openxmlformats.org/officeDocument/2006/relationships/image" Target="../media/image59.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477328"/>
          </a:xfrm>
          <a:prstGeom prst="rect">
            <a:avLst/>
          </a:prstGeom>
          <a:noFill/>
        </p:spPr>
        <p:txBody>
          <a:bodyPr wrap="square">
            <a:spAutoFit/>
          </a:bodyPr>
          <a:lstStyle/>
          <a:p>
            <a:pPr>
              <a:lnSpc>
                <a:spcPts val="1800"/>
              </a:lnSpc>
              <a:spcBef>
                <a:spcPts val="600"/>
              </a:spcBef>
              <a:spcAft>
                <a:spcPts val="600"/>
              </a:spcAft>
            </a:pPr>
            <a:r>
              <a:rPr lang="en-US" altLang="zh-TW" sz="2000" b="1" dirty="0"/>
              <a:t>An RNN is simply an FCN with a</a:t>
            </a:r>
            <a:r>
              <a:rPr lang="zh-TW" altLang="en-US" sz="2000" b="1" dirty="0"/>
              <a:t> </a:t>
            </a:r>
            <a:r>
              <a:rPr lang="en-US" altLang="zh-TW" sz="2000" b="1" dirty="0"/>
              <a:t>temporal memory loop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FCN</a:t>
            </a:r>
            <a:r>
              <a:rPr lang="en-US" altLang="zh-TW" sz="1600" dirty="0"/>
              <a:t>: Fully Connection Network.</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LSA</a:t>
            </a:r>
            <a:r>
              <a:rPr lang="en-US" altLang="zh-TW" sz="1600" u="none" strike="noStrike" dirty="0">
                <a:effectLst/>
              </a:rPr>
              <a:t>: Latent semantic analysis </a:t>
            </a:r>
            <a:r>
              <a:rPr lang="en-US" altLang="zh-TW" sz="1600" u="none" strike="noStrike" dirty="0">
                <a:effectLst/>
                <a:sym typeface="Wingdings" panose="05000000000000000000" pitchFamily="2" charset="2"/>
              </a:rPr>
              <a:t> LDA  </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dirty="0" err="1"/>
              <a:t>pLSA</a:t>
            </a:r>
            <a:r>
              <a:rPr lang="en-US" altLang="zh-TW" sz="1600" dirty="0"/>
              <a:t>: LDA.</a:t>
            </a:r>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111" name="文字方塊 110">
            <a:extLst>
              <a:ext uri="{FF2B5EF4-FFF2-40B4-BE49-F238E27FC236}">
                <a16:creationId xmlns:a16="http://schemas.microsoft.com/office/drawing/2014/main" id="{5B934F34-585C-6669-7CC4-CE328B45ABF8}"/>
              </a:ext>
            </a:extLst>
          </p:cNvPr>
          <p:cNvSpPr txBox="1"/>
          <p:nvPr/>
        </p:nvSpPr>
        <p:spPr>
          <a:xfrm>
            <a:off x="1399859" y="4786191"/>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CC6169BB-285E-EDB3-6344-B8208C2C9611}"/>
              </a:ext>
            </a:extLst>
          </p:cNvPr>
          <p:cNvGraphicFramePr>
            <a:graphicFrameLocks noGrp="1"/>
          </p:cNvGraphicFramePr>
          <p:nvPr>
            <p:extLst>
              <p:ext uri="{D42A27DB-BD31-4B8C-83A1-F6EECF244321}">
                <p14:modId xmlns:p14="http://schemas.microsoft.com/office/powerpoint/2010/main" val="64919338"/>
              </p:ext>
            </p:extLst>
          </p:nvPr>
        </p:nvGraphicFramePr>
        <p:xfrm>
          <a:off x="3016227" y="4426290"/>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8" name="文字方塊 7">
            <a:extLst>
              <a:ext uri="{FF2B5EF4-FFF2-40B4-BE49-F238E27FC236}">
                <a16:creationId xmlns:a16="http://schemas.microsoft.com/office/drawing/2014/main" id="{99BBD11D-7E3B-48DD-DF53-6501A8604960}"/>
              </a:ext>
            </a:extLst>
          </p:cNvPr>
          <p:cNvSpPr txBox="1"/>
          <p:nvPr/>
        </p:nvSpPr>
        <p:spPr>
          <a:xfrm>
            <a:off x="821811" y="3809991"/>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4252656" y="3809991"/>
            <a:ext cx="4099125" cy="2360260"/>
          </a:xfrm>
          <a:prstGeom prst="rect">
            <a:avLst/>
          </a:prstGeom>
        </p:spPr>
      </p:pic>
      <p:sp>
        <p:nvSpPr>
          <p:cNvPr id="5" name="文字方塊 4">
            <a:extLst>
              <a:ext uri="{FF2B5EF4-FFF2-40B4-BE49-F238E27FC236}">
                <a16:creationId xmlns:a16="http://schemas.microsoft.com/office/drawing/2014/main" id="{2521D7BC-F02D-29FD-B6CF-2A8F30FEF844}"/>
              </a:ext>
            </a:extLst>
          </p:cNvPr>
          <p:cNvSpPr txBox="1"/>
          <p:nvPr/>
        </p:nvSpPr>
        <p:spPr>
          <a:xfrm>
            <a:off x="3851920" y="2463233"/>
            <a:ext cx="4572000" cy="1169551"/>
          </a:xfrm>
          <a:prstGeom prst="rect">
            <a:avLst/>
          </a:prstGeom>
          <a:noFill/>
        </p:spPr>
        <p:txBody>
          <a:bodyPr wrap="square">
            <a:spAutoFit/>
          </a:bodyPr>
          <a:lstStyle/>
          <a:p>
            <a:pPr marL="0" marR="0" indent="0" algn="l" fontAlgn="base">
              <a:lnSpc>
                <a:spcPts val="1200"/>
              </a:lnSpc>
              <a:buNone/>
            </a:pPr>
            <a:r>
              <a:rPr lang="zh-TW" altLang="zh-TW" sz="1000" b="0" i="0" dirty="0">
                <a:solidFill>
                  <a:srgbClr val="383838"/>
                </a:solidFill>
                <a:effectLst/>
                <a:latin typeface="Helvetica Neue"/>
              </a:rPr>
              <a:t>17歲高中生，以一作身份，</a:t>
            </a:r>
            <a:r>
              <a:rPr lang="zh-TW" altLang="zh-TW" sz="1000" b="1" i="0" dirty="0">
                <a:solidFill>
                  <a:srgbClr val="383838"/>
                </a:solidFill>
                <a:effectLst/>
                <a:latin typeface="Helvetica Neue"/>
              </a:rPr>
              <a:t>在Kimi團隊把Ilya提出的設想，變成了現實</a:t>
            </a:r>
            <a:r>
              <a:rPr lang="zh-TW" altLang="zh-TW" sz="1000" b="0" i="0" dirty="0">
                <a:solidFill>
                  <a:srgbClr val="383838"/>
                </a:solidFill>
                <a:effectLst/>
                <a:latin typeface="Helvetica Neue"/>
              </a:rPr>
              <a:t>。</a:t>
            </a:r>
          </a:p>
          <a:p>
            <a:pPr marL="0" marR="0" indent="0" algn="l" fontAlgn="base">
              <a:lnSpc>
                <a:spcPts val="1200"/>
              </a:lnSpc>
              <a:buNone/>
            </a:pPr>
            <a:r>
              <a:rPr lang="zh-TW" altLang="zh-TW" sz="1000" b="0" i="0" dirty="0">
                <a:solidFill>
                  <a:srgbClr val="383838"/>
                </a:solidFill>
                <a:effectLst/>
                <a:latin typeface="Helvetica Neue"/>
              </a:rPr>
              <a:t>Ilya之前有個預言，把按時間先後順序處理資料的LSTM網路“旋轉90度”，也就是把時間軸換成模型深度軸，就變成了現在的殘差網路。</a:t>
            </a:r>
          </a:p>
          <a:p>
            <a:pPr marL="0" marR="0" indent="0" algn="l" fontAlgn="base">
              <a:lnSpc>
                <a:spcPts val="1200"/>
              </a:lnSpc>
              <a:buNone/>
            </a:pPr>
            <a:r>
              <a:rPr lang="zh-TW" altLang="zh-TW" sz="1000" b="0" i="0" dirty="0">
                <a:solidFill>
                  <a:srgbClr val="383838"/>
                </a:solidFill>
                <a:effectLst/>
                <a:latin typeface="Helvetica Neue"/>
              </a:rPr>
              <a:t>Kimi團隊認為，既然時間上的LSTM能對應深度上的殘差，那後來淘汰了LSTM的“注意力機制”自然也可以照做。</a:t>
            </a:r>
          </a:p>
          <a:p>
            <a:pPr marL="0" marR="0" indent="0" algn="l" fontAlgn="base">
              <a:lnSpc>
                <a:spcPts val="1200"/>
              </a:lnSpc>
              <a:buNone/>
            </a:pPr>
            <a:r>
              <a:rPr lang="zh-TW" altLang="zh-TW" sz="1000" b="0" i="0" dirty="0">
                <a:solidFill>
                  <a:srgbClr val="383838"/>
                </a:solidFill>
                <a:effectLst/>
                <a:latin typeface="Helvetica Neue"/>
              </a:rPr>
              <a:t>他們新搞出的</a:t>
            </a:r>
            <a:r>
              <a:rPr lang="zh-TW" altLang="zh-TW" sz="1000" b="1" i="0" dirty="0">
                <a:solidFill>
                  <a:srgbClr val="383838"/>
                </a:solidFill>
                <a:effectLst/>
                <a:latin typeface="Helvetica Neue"/>
              </a:rPr>
              <a:t>Attention Residuals</a:t>
            </a:r>
            <a:r>
              <a:rPr lang="zh-TW" altLang="zh-TW" sz="1000" b="0" i="0" dirty="0">
                <a:solidFill>
                  <a:srgbClr val="383838"/>
                </a:solidFill>
                <a:effectLst/>
                <a:latin typeface="Helvetica Neue"/>
              </a:rPr>
              <a:t>技術，就相當於把注意力機制也“旋轉了90度”。</a:t>
            </a:r>
          </a:p>
        </p:txBody>
      </p:sp>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6660232" y="44624"/>
            <a:ext cx="2412268" cy="2880320"/>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283493" y="2945184"/>
            <a:ext cx="6808787" cy="3563339"/>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Model performance scales predictably with computing power, parameters, and data size.</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0FC2-98C8-DE7F-80C7-6FE956573D8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D152267-BEB6-4217-23CE-D0B8CA573F29}"/>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 achieve optimal performance, the ratio of model parameters to training tokens must be maintained at a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1:20</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balance.</a:t>
            </a:r>
          </a:p>
        </p:txBody>
      </p:sp>
      <p:sp>
        <p:nvSpPr>
          <p:cNvPr id="3" name="文字方塊 2">
            <a:extLst>
              <a:ext uri="{FF2B5EF4-FFF2-40B4-BE49-F238E27FC236}">
                <a16:creationId xmlns:a16="http://schemas.microsoft.com/office/drawing/2014/main" id="{FA3440C9-814C-1D07-72DD-59A3180D0919}"/>
              </a:ext>
            </a:extLst>
          </p:cNvPr>
          <p:cNvSpPr txBox="1"/>
          <p:nvPr/>
        </p:nvSpPr>
        <p:spPr>
          <a:xfrm>
            <a:off x="2286000" y="1997839"/>
            <a:ext cx="4572000" cy="2862322"/>
          </a:xfrm>
          <a:prstGeom prst="rect">
            <a:avLst/>
          </a:prstGeom>
          <a:noFill/>
        </p:spPr>
        <p:txBody>
          <a:bodyPr wrap="square">
            <a:spAutoFit/>
          </a:bodyPr>
          <a:lstStyle/>
          <a:p>
            <a:r>
              <a:rPr lang="zh-TW" altLang="zh-TW" sz="1200" b="0" u="none" strike="noStrike" kern="1200" dirty="0">
                <a:solidFill>
                  <a:schemeClr val="tx1"/>
                </a:solidFill>
                <a:effectLst/>
                <a:latin typeface="+mn-lt"/>
                <a:ea typeface="+mn-ea"/>
                <a:cs typeface="+mn-cs"/>
              </a:rPr>
              <a:t>2. Chinchilla 戳破的「盲目大模型迷思」</a:t>
            </a:r>
          </a:p>
          <a:p>
            <a:r>
              <a:rPr lang="zh-TW" altLang="zh-TW" sz="1200" b="0" u="none" strike="noStrike" kern="1200" dirty="0">
                <a:solidFill>
                  <a:schemeClr val="tx1"/>
                </a:solidFill>
                <a:effectLst/>
                <a:latin typeface="+mn-lt"/>
                <a:ea typeface="+mn-ea"/>
                <a:cs typeface="+mn-cs"/>
              </a:rPr>
              <a:t>在 Chinchilla 出現之前（2020~2021年），以 OpenAI 的 </a:t>
            </a:r>
            <a:r>
              <a:rPr lang="zh-TW" altLang="zh-TW" sz="1200" b="1" u="none" strike="noStrike" kern="1200" dirty="0">
                <a:solidFill>
                  <a:schemeClr val="tx1"/>
                </a:solidFill>
                <a:effectLst/>
                <a:latin typeface="+mn-lt"/>
                <a:ea typeface="+mn-ea"/>
                <a:cs typeface="+mn-cs"/>
              </a:rPr>
              <a:t>GPT-3（1750億參數）</a:t>
            </a:r>
            <a:r>
              <a:rPr lang="zh-TW" altLang="zh-TW" sz="1200" b="0" u="none" strike="noStrike" kern="1200" dirty="0">
                <a:solidFill>
                  <a:schemeClr val="tx1"/>
                </a:solidFill>
                <a:effectLst/>
                <a:latin typeface="+mn-lt"/>
                <a:ea typeface="+mn-ea"/>
                <a:cs typeface="+mn-cs"/>
              </a:rPr>
              <a:t> 為首，全世界的科技巨頭都陷入了「參數軍備競賽」，認為參數越多模型越強。</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但 DeepMind 團隊做了一個實驗：他們做了一個只有 </a:t>
            </a:r>
            <a:r>
              <a:rPr lang="zh-TW" altLang="zh-TW" sz="1200" b="1" u="none" strike="noStrike" kern="1200" dirty="0">
                <a:solidFill>
                  <a:schemeClr val="tx1"/>
                </a:solidFill>
                <a:effectLst/>
                <a:latin typeface="+mn-lt"/>
                <a:ea typeface="+mn-ea"/>
                <a:cs typeface="+mn-cs"/>
              </a:rPr>
              <a:t>700 億參數（70B）</a:t>
            </a:r>
            <a:r>
              <a:rPr lang="zh-TW" altLang="zh-TW" sz="1200" b="0" u="none" strike="noStrike" kern="1200" dirty="0">
                <a:solidFill>
                  <a:schemeClr val="tx1"/>
                </a:solidFill>
                <a:effectLst/>
                <a:latin typeface="+mn-lt"/>
                <a:ea typeface="+mn-ea"/>
                <a:cs typeface="+mn-cs"/>
              </a:rPr>
              <a:t> 的模型，命名為 </a:t>
            </a:r>
            <a:r>
              <a:rPr lang="zh-TW" altLang="zh-TW" sz="1200" b="1" u="none" strike="noStrike" kern="1200" dirty="0">
                <a:solidFill>
                  <a:schemeClr val="tx1"/>
                </a:solidFill>
                <a:effectLst/>
                <a:latin typeface="+mn-lt"/>
                <a:ea typeface="+mn-ea"/>
                <a:cs typeface="+mn-cs"/>
              </a:rPr>
              <a:t>Chinchilla</a:t>
            </a:r>
            <a:r>
              <a:rPr lang="zh-TW" altLang="zh-TW" sz="1200" b="0" u="none" strike="noStrike" kern="1200" dirty="0">
                <a:solidFill>
                  <a:schemeClr val="tx1"/>
                </a:solidFill>
                <a:effectLst/>
                <a:latin typeface="+mn-lt"/>
                <a:ea typeface="+mn-ea"/>
                <a:cs typeface="+mn-cs"/>
              </a:rPr>
              <a:t>，卻餵給它高達 </a:t>
            </a:r>
            <a:r>
              <a:rPr lang="zh-TW" altLang="zh-TW" sz="1200" b="1" u="none" strike="noStrike" kern="1200" dirty="0">
                <a:solidFill>
                  <a:schemeClr val="tx1"/>
                </a:solidFill>
                <a:effectLst/>
                <a:latin typeface="+mn-lt"/>
                <a:ea typeface="+mn-ea"/>
                <a:cs typeface="+mn-cs"/>
              </a:rPr>
              <a:t>1.4 兆（1.4T）個 Token</a:t>
            </a:r>
            <a:r>
              <a:rPr lang="zh-TW" altLang="zh-TW" sz="1200" b="0" u="none" strike="noStrike" kern="1200" dirty="0">
                <a:solidFill>
                  <a:schemeClr val="tx1"/>
                </a:solidFill>
                <a:effectLst/>
                <a:latin typeface="+mn-lt"/>
                <a:ea typeface="+mn-ea"/>
                <a:cs typeface="+mn-cs"/>
              </a:rPr>
              <a:t> 的數據。</a:t>
            </a:r>
          </a:p>
          <a:p>
            <a:r>
              <a:rPr lang="zh-TW" altLang="zh-TW" sz="1200" b="0" u="none" strike="noStrike" kern="1200" dirty="0">
                <a:solidFill>
                  <a:schemeClr val="tx1"/>
                </a:solidFill>
                <a:effectLst/>
                <a:latin typeface="+mn-lt"/>
                <a:ea typeface="+mn-ea"/>
                <a:cs typeface="+mn-cs"/>
              </a:rPr>
              <a:t>結果震驚了整個 AI 界：</a:t>
            </a:r>
            <a:r>
              <a:rPr lang="zh-TW" altLang="zh-TW" sz="1200" b="1" u="none" strike="noStrike" kern="1200" dirty="0">
                <a:solidFill>
                  <a:schemeClr val="tx1"/>
                </a:solidFill>
                <a:effectLst/>
                <a:latin typeface="+mn-lt"/>
                <a:ea typeface="+mn-ea"/>
                <a:cs typeface="+mn-cs"/>
              </a:rPr>
              <a:t>只有 GPT-3 不到一半體積的 Chinchilla，在各項下游任務的表現上，完爆了 GPT-3。</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3. 陳章博士必講的 Chinchilla 核心技術結論</a:t>
            </a:r>
          </a:p>
          <a:p>
            <a:r>
              <a:rPr lang="zh-TW" altLang="zh-TW" sz="1200" b="0" u="none" strike="noStrike" kern="1200" dirty="0">
                <a:solidFill>
                  <a:schemeClr val="tx1"/>
                </a:solidFill>
                <a:effectLst/>
                <a:latin typeface="+mn-lt"/>
                <a:ea typeface="+mn-ea"/>
                <a:cs typeface="+mn-cs"/>
              </a:rPr>
              <a:t>這篇論文推導出了大模型訓練的</a:t>
            </a:r>
            <a:r>
              <a:rPr lang="zh-TW" altLang="zh-TW" sz="1200" b="1" u="none" strike="noStrike" kern="1200" dirty="0">
                <a:solidFill>
                  <a:schemeClr val="tx1"/>
                </a:solidFill>
                <a:effectLst/>
                <a:latin typeface="+mn-lt"/>
                <a:ea typeface="+mn-ea"/>
                <a:cs typeface="+mn-cs"/>
              </a:rPr>
              <a:t>「黃金比例」</a:t>
            </a:r>
            <a:r>
              <a:rPr lang="zh-TW" altLang="zh-TW" sz="1200" b="0" u="none" strike="noStrike" kern="1200" dirty="0">
                <a:solidFill>
                  <a:schemeClr val="tx1"/>
                </a:solidFill>
                <a:effectLst/>
                <a:latin typeface="+mn-lt"/>
                <a:ea typeface="+mn-ea"/>
                <a:cs typeface="+mn-cs"/>
              </a:rPr>
              <a:t>（也就是所謂的 Chinchilla Optimal）：</a:t>
            </a:r>
          </a:p>
          <a:p>
            <a:pPr lvl="0"/>
            <a:r>
              <a:rPr lang="zh-TW" altLang="zh-TW" sz="1200" b="1" u="none" strike="noStrike" kern="1200" dirty="0">
                <a:solidFill>
                  <a:schemeClr val="tx1"/>
                </a:solidFill>
                <a:effectLst/>
                <a:latin typeface="+mn-lt"/>
                <a:ea typeface="+mn-ea"/>
                <a:cs typeface="+mn-cs"/>
              </a:rPr>
              <a:t>以前的錯誤</a:t>
            </a:r>
            <a:r>
              <a:rPr lang="zh-TW" altLang="zh-TW" sz="1200" b="0" u="none" strike="noStrike" kern="1200" dirty="0">
                <a:solidFill>
                  <a:schemeClr val="tx1"/>
                </a:solidFill>
                <a:effectLst/>
                <a:latin typeface="+mn-lt"/>
                <a:ea typeface="+mn-ea"/>
                <a:cs typeface="+mn-cs"/>
              </a:rPr>
              <a:t>：大家把預算（計算資源）都拿去加大模型參數，結果數據沒給夠，導致模型就像「一個空有極高智商，卻沒讀過幾本書的神童」，嚴重</a:t>
            </a:r>
            <a:r>
              <a:rPr lang="zh-TW" altLang="zh-TW" sz="1200" b="1" u="none" strike="noStrike" kern="1200" dirty="0">
                <a:solidFill>
                  <a:schemeClr val="tx1"/>
                </a:solidFill>
                <a:effectLst/>
                <a:latin typeface="+mn-lt"/>
                <a:ea typeface="+mn-ea"/>
                <a:cs typeface="+mn-cs"/>
              </a:rPr>
              <a:t>訓練不足（Undertrained）</a:t>
            </a:r>
            <a:r>
              <a:rPr lang="zh-TW" altLang="zh-TW"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373421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79481" y="183631"/>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vs Gopher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15" name="文字方塊 14">
            <a:extLst>
              <a:ext uri="{FF2B5EF4-FFF2-40B4-BE49-F238E27FC236}">
                <a16:creationId xmlns:a16="http://schemas.microsoft.com/office/drawing/2014/main" id="{1B588763-430B-C125-9DA4-C1F7BDB448EC}"/>
              </a:ext>
            </a:extLst>
          </p:cNvPr>
          <p:cNvSpPr txBox="1"/>
          <p:nvPr/>
        </p:nvSpPr>
        <p:spPr>
          <a:xfrm>
            <a:off x="970249"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3995936"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48234"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970249"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26627"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6968930" y="580536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 name="圖片 2">
            <a:extLst>
              <a:ext uri="{FF2B5EF4-FFF2-40B4-BE49-F238E27FC236}">
                <a16:creationId xmlns:a16="http://schemas.microsoft.com/office/drawing/2014/main" id="{354338D5-7A2C-DB90-BF1A-5592822F49A7}"/>
              </a:ext>
            </a:extLst>
          </p:cNvPr>
          <p:cNvPicPr>
            <a:picLocks noChangeAspect="1"/>
          </p:cNvPicPr>
          <p:nvPr/>
        </p:nvPicPr>
        <p:blipFill>
          <a:blip r:embed="rId3"/>
          <a:stretch>
            <a:fillRect/>
          </a:stretch>
        </p:blipFill>
        <p:spPr>
          <a:xfrm>
            <a:off x="1187624" y="3406899"/>
            <a:ext cx="1003708" cy="512735"/>
          </a:xfrm>
          <a:prstGeom prst="rect">
            <a:avLst/>
          </a:prstGeom>
        </p:spPr>
      </p:pic>
      <p:pic>
        <p:nvPicPr>
          <p:cNvPr id="6" name="圖片 5">
            <a:extLst>
              <a:ext uri="{FF2B5EF4-FFF2-40B4-BE49-F238E27FC236}">
                <a16:creationId xmlns:a16="http://schemas.microsoft.com/office/drawing/2014/main" id="{11F0CC11-3AED-41A3-2C0A-ADDCDBD6FF36}"/>
              </a:ext>
            </a:extLst>
          </p:cNvPr>
          <p:cNvPicPr>
            <a:picLocks noChangeAspect="1"/>
          </p:cNvPicPr>
          <p:nvPr/>
        </p:nvPicPr>
        <p:blipFill>
          <a:blip r:embed="rId4"/>
          <a:stretch>
            <a:fillRect/>
          </a:stretch>
        </p:blipFill>
        <p:spPr>
          <a:xfrm>
            <a:off x="2770918" y="1890194"/>
            <a:ext cx="1729074" cy="2673890"/>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5CB22-1859-5418-A024-B0261337940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1DBFEE4A-2DE6-B44F-2D6F-381571861501}"/>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23" name="文字方塊 22">
            <a:extLst>
              <a:ext uri="{FF2B5EF4-FFF2-40B4-BE49-F238E27FC236}">
                <a16:creationId xmlns:a16="http://schemas.microsoft.com/office/drawing/2014/main" id="{72FA3108-675D-2B5E-78A6-661E33360DBA}"/>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1E33A60B-24AD-C70E-A334-5AD54554A99B}"/>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355F8500-ABAB-4083-9344-481DEFE29259}"/>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F73B008-214A-9210-717A-17191E92BF0B}"/>
              </a:ext>
            </a:extLst>
          </p:cNvPr>
          <p:cNvPicPr>
            <a:picLocks noChangeAspect="1"/>
          </p:cNvPicPr>
          <p:nvPr/>
        </p:nvPicPr>
        <p:blipFill>
          <a:blip r:embed="rId3"/>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AB332303-82CC-F2E4-674C-BD6C78AD0185}"/>
              </a:ext>
            </a:extLst>
          </p:cNvPr>
          <p:cNvPicPr>
            <a:picLocks noChangeAspect="1"/>
          </p:cNvPicPr>
          <p:nvPr/>
        </p:nvPicPr>
        <p:blipFill>
          <a:blip r:embed="rId4"/>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7FA6E037-8645-449A-D7DC-C190F56339DD}"/>
              </a:ext>
            </a:extLst>
          </p:cNvPr>
          <p:cNvPicPr>
            <a:picLocks noChangeAspect="1"/>
          </p:cNvPicPr>
          <p:nvPr/>
        </p:nvPicPr>
        <p:blipFill>
          <a:blip r:embed="rId5"/>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B49743B1-6170-FB2D-4D5A-8ABA5C7C5D5E}"/>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6AECD8F4-A129-EF89-8F70-4B3FAD464901}"/>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5E32688D-D67D-4B09-234C-FBF5ACCD7665}"/>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986717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62AFD0E-C1ED-8EF9-8931-FE992ECFE360}"/>
              </a:ext>
            </a:extLst>
          </p:cNvPr>
          <p:cNvPicPr>
            <a:picLocks noChangeAspect="1"/>
          </p:cNvPicPr>
          <p:nvPr/>
        </p:nvPicPr>
        <p:blipFill>
          <a:blip r:embed="rId2"/>
          <a:stretch>
            <a:fillRect/>
          </a:stretch>
        </p:blipFill>
        <p:spPr>
          <a:xfrm>
            <a:off x="6480959" y="909286"/>
            <a:ext cx="2652796" cy="3167786"/>
          </a:xfrm>
          <a:prstGeom prst="rect">
            <a:avLst/>
          </a:prstGeom>
        </p:spPr>
      </p:pic>
      <p:pic>
        <p:nvPicPr>
          <p:cNvPr id="5" name="圖片 4">
            <a:extLst>
              <a:ext uri="{FF2B5EF4-FFF2-40B4-BE49-F238E27FC236}">
                <a16:creationId xmlns:a16="http://schemas.microsoft.com/office/drawing/2014/main" id="{A3528C1D-E092-82D2-3C40-0A205A29EAC1}"/>
              </a:ext>
            </a:extLst>
          </p:cNvPr>
          <p:cNvPicPr>
            <a:picLocks noChangeAspect="1"/>
          </p:cNvPicPr>
          <p:nvPr/>
        </p:nvPicPr>
        <p:blipFill>
          <a:blip r:embed="rId3"/>
          <a:stretch>
            <a:fillRect/>
          </a:stretch>
        </p:blipFill>
        <p:spPr>
          <a:xfrm>
            <a:off x="539553" y="692696"/>
            <a:ext cx="5182086" cy="2027773"/>
          </a:xfrm>
          <a:prstGeom prst="rect">
            <a:avLst/>
          </a:prstGeom>
        </p:spPr>
      </p:pic>
      <p:pic>
        <p:nvPicPr>
          <p:cNvPr id="7" name="圖片 6">
            <a:extLst>
              <a:ext uri="{FF2B5EF4-FFF2-40B4-BE49-F238E27FC236}">
                <a16:creationId xmlns:a16="http://schemas.microsoft.com/office/drawing/2014/main" id="{01371016-9EE6-C53F-CA8E-A255B222469D}"/>
              </a:ext>
            </a:extLst>
          </p:cNvPr>
          <p:cNvPicPr>
            <a:picLocks noChangeAspect="1"/>
          </p:cNvPicPr>
          <p:nvPr/>
        </p:nvPicPr>
        <p:blipFill>
          <a:blip r:embed="rId4"/>
          <a:stretch>
            <a:fillRect/>
          </a:stretch>
        </p:blipFill>
        <p:spPr>
          <a:xfrm>
            <a:off x="323528" y="4110842"/>
            <a:ext cx="4608512" cy="735631"/>
          </a:xfrm>
          <a:prstGeom prst="rect">
            <a:avLst/>
          </a:prstGeom>
        </p:spPr>
      </p:pic>
      <p:pic>
        <p:nvPicPr>
          <p:cNvPr id="9" name="圖片 8">
            <a:extLst>
              <a:ext uri="{FF2B5EF4-FFF2-40B4-BE49-F238E27FC236}">
                <a16:creationId xmlns:a16="http://schemas.microsoft.com/office/drawing/2014/main" id="{1578BD67-A721-1F6B-11BD-E62D94B9368A}"/>
              </a:ext>
            </a:extLst>
          </p:cNvPr>
          <p:cNvPicPr>
            <a:picLocks noChangeAspect="1"/>
          </p:cNvPicPr>
          <p:nvPr/>
        </p:nvPicPr>
        <p:blipFill>
          <a:blip r:embed="rId5"/>
          <a:stretch>
            <a:fillRect/>
          </a:stretch>
        </p:blipFill>
        <p:spPr>
          <a:xfrm>
            <a:off x="1115616" y="3361453"/>
            <a:ext cx="1936839" cy="715619"/>
          </a:xfrm>
          <a:prstGeom prst="rect">
            <a:avLst/>
          </a:prstGeom>
        </p:spPr>
      </p:pic>
    </p:spTree>
    <p:extLst>
      <p:ext uri="{BB962C8B-B14F-4D97-AF65-F5344CB8AC3E}">
        <p14:creationId xmlns:p14="http://schemas.microsoft.com/office/powerpoint/2010/main" val="3776902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2"/>
          <a:stretch>
            <a:fillRect/>
          </a:stretch>
        </p:blipFill>
        <p:spPr>
          <a:xfrm>
            <a:off x="1357312" y="0"/>
            <a:ext cx="6429375" cy="6858000"/>
          </a:xfrm>
          <a:prstGeom prst="rect">
            <a:avLst/>
          </a:prstGeom>
        </p:spPr>
      </p:pic>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913</TotalTime>
  <Words>6024</Words>
  <Application>Microsoft Office PowerPoint</Application>
  <PresentationFormat>如螢幕大小 (4:3)</PresentationFormat>
  <Paragraphs>676</Paragraphs>
  <Slides>30</Slides>
  <Notes>18</Notes>
  <HiddenSlides>0</HiddenSlides>
  <MMClips>0</MMClips>
  <ScaleCrop>false</ScaleCrop>
  <HeadingPairs>
    <vt:vector size="6" baseType="variant">
      <vt:variant>
        <vt:lpstr>使用字型</vt:lpstr>
      </vt:variant>
      <vt:variant>
        <vt:i4>10</vt:i4>
      </vt:variant>
      <vt:variant>
        <vt:lpstr>佈景主題</vt:lpstr>
      </vt:variant>
      <vt:variant>
        <vt:i4>1</vt:i4>
      </vt:variant>
      <vt:variant>
        <vt:lpstr>投影片標題</vt:lpstr>
      </vt:variant>
      <vt:variant>
        <vt:i4>30</vt:i4>
      </vt:variant>
    </vt:vector>
  </HeadingPairs>
  <TitlesOfParts>
    <vt:vector size="41" baseType="lpstr">
      <vt:lpstr>Helvetica Neue</vt: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1890</cp:revision>
  <cp:lastPrinted>2024-07-30T01:44:15Z</cp:lastPrinted>
  <dcterms:created xsi:type="dcterms:W3CDTF">2019-11-08T03:01:47Z</dcterms:created>
  <dcterms:modified xsi:type="dcterms:W3CDTF">2026-09-07T09:32:04Z</dcterms:modified>
</cp:coreProperties>
</file>