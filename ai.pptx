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57"/>
  </p:notesMasterIdLst>
  <p:handoutMasterIdLst>
    <p:handoutMasterId r:id="rId58"/>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51" r:id="rId18"/>
    <p:sldId id="3507" r:id="rId19"/>
    <p:sldId id="3460" r:id="rId20"/>
    <p:sldId id="3509" r:id="rId21"/>
    <p:sldId id="3479" r:id="rId22"/>
    <p:sldId id="3467" r:id="rId23"/>
    <p:sldId id="3531" r:id="rId24"/>
    <p:sldId id="3499" r:id="rId25"/>
    <p:sldId id="3444" r:id="rId26"/>
    <p:sldId id="3532" r:id="rId27"/>
    <p:sldId id="3520" r:id="rId28"/>
    <p:sldId id="3518" r:id="rId29"/>
    <p:sldId id="3475" r:id="rId30"/>
    <p:sldId id="3527" r:id="rId31"/>
    <p:sldId id="3515" r:id="rId32"/>
    <p:sldId id="3528" r:id="rId33"/>
    <p:sldId id="3514" r:id="rId34"/>
    <p:sldId id="3529" r:id="rId35"/>
    <p:sldId id="3533" r:id="rId36"/>
    <p:sldId id="3537" r:id="rId37"/>
    <p:sldId id="3544" r:id="rId38"/>
    <p:sldId id="3540" r:id="rId39"/>
    <p:sldId id="3543" r:id="rId40"/>
    <p:sldId id="3545" r:id="rId41"/>
    <p:sldId id="3539" r:id="rId42"/>
    <p:sldId id="3542" r:id="rId43"/>
    <p:sldId id="3538" r:id="rId44"/>
    <p:sldId id="3534" r:id="rId45"/>
    <p:sldId id="3536" r:id="rId46"/>
    <p:sldId id="3535" r:id="rId47"/>
    <p:sldId id="3548" r:id="rId48"/>
    <p:sldId id="3547" r:id="rId49"/>
    <p:sldId id="3549" r:id="rId50"/>
    <p:sldId id="3519" r:id="rId51"/>
    <p:sldId id="3530" r:id="rId52"/>
    <p:sldId id="269" r:id="rId53"/>
    <p:sldId id="270" r:id="rId54"/>
    <p:sldId id="257" r:id="rId55"/>
    <p:sldId id="265" r:id="rId56"/>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 id="3551"/>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Deepseek" id="{8CC3907E-2537-4761-B8B4-20CC1D391E20}">
          <p14:sldIdLst>
            <p14:sldId id="3537"/>
            <p14:sldId id="3544"/>
            <p14:sldId id="3540"/>
            <p14:sldId id="3543"/>
            <p14:sldId id="3545"/>
            <p14:sldId id="3539"/>
            <p14:sldId id="3542"/>
            <p14:sldId id="3538"/>
          </p14:sldIdLst>
        </p14:section>
        <p14:section name="Moonshot-Kimi" id="{7C2BE5B2-C507-46C7-871E-C935EB653EC3}">
          <p14:sldIdLst>
            <p14:sldId id="3534"/>
            <p14:sldId id="3536"/>
            <p14:sldId id="3535"/>
          </p14:sldIdLst>
        </p14:section>
        <p14:section name="Distillation" id="{7EB38C31-A2B8-4354-A21C-A4C807EDE2C4}">
          <p14:sldIdLst>
            <p14:sldId id="3548"/>
            <p14:sldId id="3547"/>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58" y="-864"/>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microsoft.com/office/2018/10/relationships/authors" Targe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handoutMaster" Target="handoutMasters/handoutMaster1.xml"/><Relationship Id="rId5" Type="http://schemas.openxmlformats.org/officeDocument/2006/relationships/slide" Target="slides/slide4.xml"/><Relationship Id="rId61"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2026/8/16</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2026/8/16</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20.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CEB95-4B28-36E7-87CA-1F30261B4E5A}"/>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C62F1D8-6DF7-73D8-C9BE-87163917B31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B09A24C-06FD-8BD3-CE5A-4D77584C67AC}"/>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Momentum Orthogonalized by Newton-Schulz</a:t>
            </a:r>
            <a:r>
              <a:rPr lang="zh-TW" altLang="zh-TW" sz="1200" b="0" u="none" strike="noStrike" kern="1200" dirty="0">
                <a:solidFill>
                  <a:schemeClr val="tx1"/>
                </a:solidFill>
                <a:effectLst/>
                <a:latin typeface="+mn-lt"/>
                <a:ea typeface="+mn-ea"/>
                <a:cs typeface="+mn-cs"/>
              </a:rPr>
              <a:t>（利用牛頓-舒爾茨方法進行動量正交化）是 LLM</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訓練中非常前沿的優化器技術，也是知名優化器 </a:t>
            </a:r>
            <a:r>
              <a:rPr lang="zh-TW" altLang="zh-TW" sz="1200" b="1" u="none" strike="noStrike" kern="1200" dirty="0">
                <a:solidFill>
                  <a:schemeClr val="tx1"/>
                </a:solidFill>
                <a:effectLst/>
                <a:latin typeface="+mn-lt"/>
                <a:ea typeface="+mn-ea"/>
                <a:cs typeface="+mn-cs"/>
              </a:rPr>
              <a:t>Muon</a:t>
            </a:r>
            <a:r>
              <a:rPr lang="zh-TW" altLang="zh-TW" sz="1200" b="0" u="none" strike="noStrike" kern="1200" dirty="0">
                <a:solidFill>
                  <a:schemeClr val="tx1"/>
                </a:solidFill>
                <a:effectLst/>
                <a:latin typeface="+mn-lt"/>
                <a:ea typeface="+mn-ea"/>
                <a:cs typeface="+mn-cs"/>
              </a:rPr>
              <a:t> 的核心運作機制 。</a:t>
            </a:r>
          </a:p>
          <a:p>
            <a:r>
              <a:rPr lang="zh-TW" altLang="zh-TW" sz="1200" b="0" u="none" strike="noStrike" kern="1200" dirty="0">
                <a:solidFill>
                  <a:schemeClr val="tx1"/>
                </a:solidFill>
                <a:effectLst/>
                <a:latin typeface="+mn-lt"/>
                <a:ea typeface="+mn-ea"/>
                <a:cs typeface="+mn-cs"/>
              </a:rPr>
              <a:t>簡單來說，它的核心目的是：</a:t>
            </a:r>
            <a:r>
              <a:rPr lang="zh-TW" altLang="zh-TW" sz="1200" b="1" u="none" strike="noStrike" kern="1200" dirty="0">
                <a:solidFill>
                  <a:schemeClr val="tx1"/>
                </a:solidFill>
                <a:effectLst/>
                <a:latin typeface="+mn-lt"/>
                <a:ea typeface="+mn-ea"/>
                <a:cs typeface="+mn-cs"/>
              </a:rPr>
              <a:t>在模型更新參數時，利用 Newton-Schulz 數學迭代法，將原本帶有方向偏誤的「動量（Momentum）」，強行轉換為一個「嚴格正交且基底均勻」的矩陣。</a:t>
            </a:r>
            <a:r>
              <a:rPr lang="zh-TW" altLang="zh-TW" sz="1200" b="0" u="none" strike="noStrike" kern="1200" dirty="0">
                <a:solidFill>
                  <a:schemeClr val="tx1"/>
                </a:solidFill>
                <a:effectLst/>
                <a:latin typeface="+mn-lt"/>
                <a:ea typeface="+mn-ea"/>
                <a:cs typeface="+mn-cs"/>
              </a:rPr>
              <a:t> 這樣做可以確保模型在各個維度上的學習速度完全一致，大幅加快極大模型的收斂速度。</a:t>
            </a:r>
          </a:p>
          <a:p>
            <a:endParaRPr lang="zh-TW" altLang="en-US" dirty="0"/>
          </a:p>
        </p:txBody>
      </p:sp>
      <p:sp>
        <p:nvSpPr>
          <p:cNvPr id="4" name="投影片編號版面配置區 3">
            <a:extLst>
              <a:ext uri="{FF2B5EF4-FFF2-40B4-BE49-F238E27FC236}">
                <a16:creationId xmlns:a16="http://schemas.microsoft.com/office/drawing/2014/main" id="{C5A4A188-00BE-20FA-2048-87C75C2A4CBE}"/>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76699879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21</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26</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FFFF6-2CBF-8300-113B-EC3DDABCDE2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9BDCECB-4022-305D-2A1D-EB19C4980CE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45B8918-8C92-3358-81A2-2E68D560F7D9}"/>
              </a:ext>
            </a:extLst>
          </p:cNvPr>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MLA</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V2, V3KV Cache 顯存大小橫向：壓縮</a:t>
            </a:r>
            <a:r>
              <a:rPr lang="zh-TW" altLang="zh-TW" sz="1200" b="1" u="none" strike="noStrike" kern="1200" dirty="0">
                <a:solidFill>
                  <a:schemeClr val="tx1"/>
                </a:solidFill>
                <a:effectLst/>
                <a:latin typeface="+mn-lt"/>
                <a:ea typeface="+mn-ea"/>
                <a:cs typeface="+mn-cs"/>
              </a:rPr>
              <a:t>特徵維度</a:t>
            </a:r>
            <a:r>
              <a:rPr lang="zh-TW" altLang="zh-TW" sz="1200" b="0" u="none" strike="noStrike" kern="1200" dirty="0">
                <a:solidFill>
                  <a:schemeClr val="tx1"/>
                </a:solidFill>
                <a:effectLst/>
                <a:latin typeface="+mn-lt"/>
                <a:ea typeface="+mn-ea"/>
                <a:cs typeface="+mn-cs"/>
              </a:rPr>
              <a:t> (Dim 8192 → 512) </a:t>
            </a:r>
          </a:p>
          <a:p>
            <a:r>
              <a:rPr lang="zh-TW" altLang="zh-TW" sz="1200" b="1" u="none" strike="noStrike" kern="1200" dirty="0">
                <a:solidFill>
                  <a:schemeClr val="tx1"/>
                </a:solidFill>
                <a:effectLst/>
                <a:latin typeface="+mn-lt"/>
                <a:ea typeface="+mn-ea"/>
                <a:cs typeface="+mn-cs"/>
              </a:rPr>
              <a:t>DSA</a:t>
            </a:r>
            <a:r>
              <a:rPr lang="zh-TW" altLang="zh-TW" sz="1200" b="0" u="none" strike="noStrike" kern="1200" dirty="0">
                <a:solidFill>
                  <a:schemeClr val="tx1"/>
                </a:solidFill>
                <a:effectLst/>
                <a:latin typeface="+mn-lt"/>
                <a:ea typeface="+mn-ea"/>
                <a:cs typeface="+mn-cs"/>
              </a:rPr>
              <a:t>V3.2運算量複雜度 (O(N²))縱向：動態篩選</a:t>
            </a:r>
            <a:r>
              <a:rPr lang="zh-TW" altLang="zh-TW" sz="1200" b="1" u="none" strike="noStrike" kern="1200" dirty="0">
                <a:solidFill>
                  <a:schemeClr val="tx1"/>
                </a:solidFill>
                <a:effectLst/>
                <a:latin typeface="+mn-lt"/>
                <a:ea typeface="+mn-ea"/>
                <a:cs typeface="+mn-cs"/>
              </a:rPr>
              <a:t>單個 Token</a:t>
            </a:r>
            <a:r>
              <a:rPr lang="zh-TW" altLang="zh-TW" sz="1200" b="0" u="none" strike="noStrike" kern="1200" dirty="0">
                <a:solidFill>
                  <a:schemeClr val="tx1"/>
                </a:solidFill>
                <a:effectLst/>
                <a:latin typeface="+mn-lt"/>
                <a:ea typeface="+mn-ea"/>
                <a:cs typeface="+mn-cs"/>
              </a:rPr>
              <a:t> (Top-K)</a:t>
            </a:r>
          </a:p>
          <a:p>
            <a:r>
              <a:rPr lang="zh-TW" altLang="zh-TW" sz="1200" b="1" u="none" strike="noStrike" kern="1200" dirty="0">
                <a:solidFill>
                  <a:schemeClr val="tx1"/>
                </a:solidFill>
                <a:effectLst/>
                <a:latin typeface="+mn-lt"/>
                <a:ea typeface="+mn-ea"/>
                <a:cs typeface="+mn-cs"/>
              </a:rPr>
              <a:t>HCA</a:t>
            </a:r>
            <a:r>
              <a:rPr lang="zh-TW" altLang="zh-TW" sz="1200" b="0" u="none" strike="noStrike" kern="1200" dirty="0">
                <a:solidFill>
                  <a:schemeClr val="tx1"/>
                </a:solidFill>
                <a:effectLst/>
                <a:latin typeface="+mn-lt"/>
                <a:ea typeface="+mn-ea"/>
                <a:cs typeface="+mn-cs"/>
              </a:rPr>
              <a:t>V41M 長文本的宏觀視野縱向：重度聚合</a:t>
            </a:r>
            <a:r>
              <a:rPr lang="zh-TW" altLang="zh-TW" sz="1200" b="1" u="none" strike="noStrike" kern="1200" dirty="0">
                <a:solidFill>
                  <a:schemeClr val="tx1"/>
                </a:solidFill>
                <a:effectLst/>
                <a:latin typeface="+mn-lt"/>
                <a:ea typeface="+mn-ea"/>
                <a:cs typeface="+mn-cs"/>
              </a:rPr>
              <a:t>時間區間</a:t>
            </a:r>
            <a:r>
              <a:rPr lang="zh-TW" altLang="zh-TW" sz="1200" b="0" u="none" strike="noStrike" kern="1200" dirty="0">
                <a:solidFill>
                  <a:schemeClr val="tx1"/>
                </a:solidFill>
                <a:effectLst/>
                <a:latin typeface="+mn-lt"/>
                <a:ea typeface="+mn-ea"/>
                <a:cs typeface="+mn-cs"/>
              </a:rPr>
              <a:t> (128 → 1) </a:t>
            </a:r>
          </a:p>
          <a:p>
            <a:r>
              <a:rPr lang="zh-TW" altLang="zh-TW" sz="1200" b="1" u="none" strike="noStrike" kern="1200" dirty="0">
                <a:solidFill>
                  <a:schemeClr val="tx1"/>
                </a:solidFill>
                <a:effectLst/>
                <a:latin typeface="+mn-lt"/>
                <a:ea typeface="+mn-ea"/>
                <a:cs typeface="+mn-cs"/>
              </a:rPr>
              <a:t>CSA</a:t>
            </a:r>
            <a:r>
              <a:rPr lang="zh-TW" altLang="zh-TW" sz="1200" b="0" u="none" strike="noStrike" kern="1200" dirty="0">
                <a:solidFill>
                  <a:schemeClr val="tx1"/>
                </a:solidFill>
                <a:effectLst/>
                <a:latin typeface="+mn-lt"/>
                <a:ea typeface="+mn-ea"/>
                <a:cs typeface="+mn-cs"/>
              </a:rPr>
              <a:t>V41M 長文本的細粒度檢索縱橫結合：先 </a:t>
            </a:r>
            <a:r>
              <a:rPr lang="zh-TW" altLang="zh-TW" sz="1200" b="1" u="none" strike="noStrike" kern="1200" dirty="0">
                <a:solidFill>
                  <a:schemeClr val="tx1"/>
                </a:solidFill>
                <a:effectLst/>
                <a:latin typeface="+mn-lt"/>
                <a:ea typeface="+mn-ea"/>
                <a:cs typeface="+mn-cs"/>
              </a:rPr>
              <a:t>4:1 壓縮</a:t>
            </a:r>
            <a:r>
              <a:rPr lang="zh-TW" altLang="zh-TW" sz="1200" b="0" u="none" strike="noStrike" kern="1200" dirty="0">
                <a:solidFill>
                  <a:schemeClr val="tx1"/>
                </a:solidFill>
                <a:effectLst/>
                <a:latin typeface="+mn-lt"/>
                <a:ea typeface="+mn-ea"/>
                <a:cs typeface="+mn-cs"/>
              </a:rPr>
              <a:t>再做 </a:t>
            </a:r>
            <a:r>
              <a:rPr lang="zh-TW" altLang="zh-TW" sz="1200" b="1" u="none" strike="noStrike" kern="1200" dirty="0">
                <a:solidFill>
                  <a:schemeClr val="tx1"/>
                </a:solidFill>
                <a:effectLst/>
                <a:latin typeface="+mn-lt"/>
                <a:ea typeface="+mn-ea"/>
                <a:cs typeface="+mn-cs"/>
              </a:rPr>
              <a:t>Top-K 塊篩選</a:t>
            </a:r>
            <a:r>
              <a:rPr lang="zh-TW" altLang="zh-TW" sz="1200" b="0" u="none" strike="noStrike" kern="1200" dirty="0">
                <a:solidFill>
                  <a:schemeClr val="tx1"/>
                </a:solidFill>
                <a:effectLst/>
                <a:latin typeface="+mn-lt"/>
                <a:ea typeface="+mn-ea"/>
                <a:cs typeface="+mn-cs"/>
              </a:rPr>
              <a:t> </a:t>
            </a: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en-US" altLang="zh-TW" sz="1200" b="0" u="none" strike="noStrike" kern="1200" dirty="0">
              <a:solidFill>
                <a:schemeClr val="tx1"/>
              </a:solidFill>
              <a:effectLst/>
              <a:latin typeface="+mn-lt"/>
              <a:ea typeface="+mn-ea"/>
              <a:cs typeface="+mn-cs"/>
            </a:endParaRPr>
          </a:p>
          <a:p>
            <a:pPr lvl="0"/>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10192911-3471-19CB-5ED9-6FC7027DB73E}"/>
              </a:ext>
            </a:extLst>
          </p:cNvPr>
          <p:cNvSpPr>
            <a:spLocks noGrp="1"/>
          </p:cNvSpPr>
          <p:nvPr>
            <p:ph type="sldNum" sz="quarter" idx="5"/>
          </p:nvPr>
        </p:nvSpPr>
        <p:spPr/>
        <p:txBody>
          <a:bodyPr/>
          <a:lstStyle/>
          <a:p>
            <a:fld id="{E3A6CE5E-F349-486D-8749-82EF2AD71FA8}" type="slidenum">
              <a:rPr lang="zh-TW" altLang="en-US" smtClean="0"/>
              <a:t>36</a:t>
            </a:fld>
            <a:endParaRPr lang="zh-TW" altLang="en-US"/>
          </a:p>
        </p:txBody>
      </p:sp>
    </p:spTree>
    <p:extLst>
      <p:ext uri="{BB962C8B-B14F-4D97-AF65-F5344CB8AC3E}">
        <p14:creationId xmlns:p14="http://schemas.microsoft.com/office/powerpoint/2010/main" val="302294458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A148A7-E727-1876-EEC2-EE1FF967761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8CDA593-F947-4F86-E4E2-84C334DA1432}"/>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C6618D0F-A824-BF63-762D-700713FACC9C}"/>
              </a:ext>
            </a:extLst>
          </p:cNvPr>
          <p:cNvSpPr>
            <a:spLocks noGrp="1"/>
          </p:cNvSpPr>
          <p:nvPr>
            <p:ph type="body" idx="1"/>
          </p:nvPr>
        </p:nvSpPr>
        <p:spPr/>
        <p:txBody>
          <a:bodyPr/>
          <a:lstStyle/>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A96DCFCD-5664-3FB0-02E6-0DE7A8DF9D26}"/>
              </a:ext>
            </a:extLst>
          </p:cNvPr>
          <p:cNvSpPr>
            <a:spLocks noGrp="1"/>
          </p:cNvSpPr>
          <p:nvPr>
            <p:ph type="sldNum" sz="quarter" idx="5"/>
          </p:nvPr>
        </p:nvSpPr>
        <p:spPr/>
        <p:txBody>
          <a:bodyPr/>
          <a:lstStyle/>
          <a:p>
            <a:fld id="{E3A6CE5E-F349-486D-8749-82EF2AD71FA8}" type="slidenum">
              <a:rPr lang="zh-TW" altLang="en-US" smtClean="0"/>
              <a:t>37</a:t>
            </a:fld>
            <a:endParaRPr lang="zh-TW" altLang="en-US"/>
          </a:p>
        </p:txBody>
      </p:sp>
    </p:spTree>
    <p:extLst>
      <p:ext uri="{BB962C8B-B14F-4D97-AF65-F5344CB8AC3E}">
        <p14:creationId xmlns:p14="http://schemas.microsoft.com/office/powerpoint/2010/main" val="241819012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38</a:t>
            </a:fld>
            <a:endParaRPr lang="zh-TW" altLang="en-US"/>
          </a:p>
        </p:txBody>
      </p:sp>
    </p:spTree>
    <p:extLst>
      <p:ext uri="{BB962C8B-B14F-4D97-AF65-F5344CB8AC3E}">
        <p14:creationId xmlns:p14="http://schemas.microsoft.com/office/powerpoint/2010/main" val="25572861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529A-4EF9-2EEE-5A60-C291D7D7775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C0779BF-F829-C373-BE62-F8275D55A9B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B531954-A0C7-0F67-E78A-CBF9608AE9E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294B2211-4D24-D0CD-E8B5-6DAC6082A825}"/>
              </a:ext>
            </a:extLst>
          </p:cNvPr>
          <p:cNvSpPr>
            <a:spLocks noGrp="1"/>
          </p:cNvSpPr>
          <p:nvPr>
            <p:ph type="sldNum" sz="quarter" idx="5"/>
          </p:nvPr>
        </p:nvSpPr>
        <p:spPr/>
        <p:txBody>
          <a:bodyPr/>
          <a:lstStyle/>
          <a:p>
            <a:fld id="{E3A6CE5E-F349-486D-8749-82EF2AD71FA8}" type="slidenum">
              <a:rPr lang="zh-TW" altLang="en-US" smtClean="0"/>
              <a:t>43</a:t>
            </a:fld>
            <a:endParaRPr lang="zh-TW" altLang="en-US"/>
          </a:p>
        </p:txBody>
      </p:sp>
    </p:spTree>
    <p:extLst>
      <p:ext uri="{BB962C8B-B14F-4D97-AF65-F5344CB8AC3E}">
        <p14:creationId xmlns:p14="http://schemas.microsoft.com/office/powerpoint/2010/main" val="41377546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755B09-3B3A-04FC-B910-FD514564E8D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97D7B1-3963-C2C0-8936-531A5502EA3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2D87AC4C-85F7-140D-7FC7-B8BF07EEF986}"/>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72BCDD50-3061-C594-041C-9330E755B76F}"/>
              </a:ext>
            </a:extLst>
          </p:cNvPr>
          <p:cNvSpPr>
            <a:spLocks noGrp="1"/>
          </p:cNvSpPr>
          <p:nvPr>
            <p:ph type="sldNum" sz="quarter" idx="5"/>
          </p:nvPr>
        </p:nvSpPr>
        <p:spPr/>
        <p:txBody>
          <a:bodyPr/>
          <a:lstStyle/>
          <a:p>
            <a:fld id="{E3A6CE5E-F349-486D-8749-82EF2AD71FA8}" type="slidenum">
              <a:rPr lang="zh-TW" altLang="en-US" smtClean="0"/>
              <a:t>44</a:t>
            </a:fld>
            <a:endParaRPr lang="zh-TW" altLang="en-US"/>
          </a:p>
        </p:txBody>
      </p:sp>
    </p:spTree>
    <p:extLst>
      <p:ext uri="{BB962C8B-B14F-4D97-AF65-F5344CB8AC3E}">
        <p14:creationId xmlns:p14="http://schemas.microsoft.com/office/powerpoint/2010/main" val="340224797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AF9E9-CC83-DF27-E397-155D3F2D0B0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3C573ED-4303-C760-C0E6-466DBCFD019D}"/>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555CB64-0641-AE5C-0077-6CD2BA1E2E47}"/>
              </a:ext>
            </a:extLst>
          </p:cNvPr>
          <p:cNvSpPr>
            <a:spLocks noGrp="1"/>
          </p:cNvSpPr>
          <p:nvPr>
            <p:ph type="body" idx="1"/>
          </p:nvPr>
        </p:nvSpPr>
        <p:spPr/>
        <p:txBody>
          <a:bodyPr/>
          <a:lstStyle/>
          <a:p>
            <a:pPr lvl="0"/>
            <a:r>
              <a:rPr lang="en-US" altLang="zh-TW" sz="1200" b="0" u="none" strike="noStrike" kern="1200" dirty="0">
                <a:solidFill>
                  <a:schemeClr val="tx1"/>
                </a:solidFill>
                <a:effectLst/>
                <a:latin typeface="+mn-lt"/>
                <a:ea typeface="+mn-ea"/>
                <a:cs typeface="+mn-cs"/>
              </a:rPr>
              <a:t>KDA</a:t>
            </a:r>
            <a:r>
              <a:rPr lang="zh-TW" altLang="zh-TW" sz="1200" b="1" u="none" strike="noStrike" kern="1200" dirty="0">
                <a:solidFill>
                  <a:schemeClr val="tx1"/>
                </a:solidFill>
                <a:effectLst/>
                <a:latin typeface="+mn-lt"/>
                <a:ea typeface="+mn-ea"/>
                <a:cs typeface="+mn-cs"/>
              </a:rPr>
              <a:t>技術原理</a:t>
            </a:r>
            <a:r>
              <a:rPr lang="zh-TW" altLang="zh-TW" dirty="0"/>
              <a:t>：</a:t>
            </a:r>
            <a:r>
              <a:rPr lang="zh-TW" altLang="zh-TW" sz="1200" b="0" u="none" strike="noStrike" kern="1200" dirty="0">
                <a:solidFill>
                  <a:schemeClr val="tx1"/>
                </a:solidFill>
                <a:effectLst/>
                <a:latin typeface="+mn-lt"/>
                <a:ea typeface="+mn-ea"/>
                <a:cs typeface="+mn-cs"/>
              </a:rPr>
              <a:t>：傳統的 Transformer 架構在處理百萬級 Token 時，KV Cache（鍵值快取）會耗盡所有顯存。</a:t>
            </a:r>
            <a:endParaRPr lang="en-US" altLang="zh-TW" sz="1200" b="0" u="none" strike="noStrike" kern="1200" dirty="0">
              <a:solidFill>
                <a:schemeClr val="tx1"/>
              </a:solidFill>
              <a:effectLst/>
              <a:latin typeface="+mn-lt"/>
              <a:ea typeface="+mn-ea"/>
              <a:cs typeface="+mn-cs"/>
            </a:endParaRPr>
          </a:p>
          <a:p>
            <a:pPr lvl="0"/>
            <a:r>
              <a:rPr lang="zh-TW" altLang="zh-TW" sz="1200" b="0" u="none" strike="noStrike" kern="1200" dirty="0">
                <a:solidFill>
                  <a:schemeClr val="tx1"/>
                </a:solidFill>
                <a:effectLst/>
                <a:latin typeface="+mn-lt"/>
                <a:ea typeface="+mn-ea"/>
                <a:cs typeface="+mn-cs"/>
              </a:rPr>
              <a:t>KDA 是一種</a:t>
            </a:r>
            <a:r>
              <a:rPr lang="zh-TW" altLang="zh-TW" sz="1200" b="1" u="none" strike="noStrike" kern="1200" dirty="0">
                <a:solidFill>
                  <a:schemeClr val="tx1"/>
                </a:solidFill>
                <a:effectLst/>
                <a:latin typeface="+mn-lt"/>
                <a:ea typeface="+mn-ea"/>
                <a:cs typeface="+mn-cs"/>
              </a:rPr>
              <a:t>混合線性注意力機制</a:t>
            </a:r>
            <a:r>
              <a:rPr lang="zh-TW" altLang="zh-TW" sz="1200" b="0" u="none" strike="noStrike" kern="1200" dirty="0">
                <a:solidFill>
                  <a:schemeClr val="tx1"/>
                </a:solidFill>
                <a:effectLst/>
                <a:latin typeface="+mn-lt"/>
                <a:ea typeface="+mn-ea"/>
                <a:cs typeface="+mn-cs"/>
              </a:rPr>
              <a:t>，它在不損失長文本脈絡的前提下，引入了循環狀態快取（Recurrent State Caches），大幅縮減了每一步解碼需要保留的常規 KV 對。</a:t>
            </a:r>
          </a:p>
          <a:p>
            <a:pPr lvl="0"/>
            <a:r>
              <a:rPr lang="zh-TW" altLang="zh-TW" sz="1200" b="1" u="none" strike="noStrike" kern="1200" dirty="0">
                <a:solidFill>
                  <a:schemeClr val="tx1"/>
                </a:solidFill>
                <a:effectLst/>
                <a:latin typeface="+mn-lt"/>
                <a:ea typeface="+mn-ea"/>
                <a:cs typeface="+mn-cs"/>
              </a:rPr>
              <a:t>擅長效果</a:t>
            </a:r>
            <a:r>
              <a:rPr lang="zh-TW" altLang="zh-TW" sz="1200" b="0" u="none" strike="noStrike" kern="1200" dirty="0">
                <a:solidFill>
                  <a:schemeClr val="tx1"/>
                </a:solidFill>
                <a:effectLst/>
                <a:latin typeface="+mn-lt"/>
                <a:ea typeface="+mn-ea"/>
                <a:cs typeface="+mn-cs"/>
              </a:rPr>
              <a:t>：實現高達 </a:t>
            </a:r>
            <a:r>
              <a:rPr lang="zh-TW" altLang="zh-TW" sz="1200" b="1" u="none" strike="noStrike" kern="1200" dirty="0">
                <a:solidFill>
                  <a:schemeClr val="tx1"/>
                </a:solidFill>
                <a:effectLst/>
                <a:latin typeface="+mn-lt"/>
                <a:ea typeface="+mn-ea"/>
                <a:cs typeface="+mn-cs"/>
              </a:rPr>
              <a:t>100 萬 Token 的超長上下文視窗</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66461CB-AAFB-8D6B-0436-EE1377E4AB5B}"/>
              </a:ext>
            </a:extLst>
          </p:cNvPr>
          <p:cNvSpPr>
            <a:spLocks noGrp="1"/>
          </p:cNvSpPr>
          <p:nvPr>
            <p:ph type="sldNum" sz="quarter" idx="5"/>
          </p:nvPr>
        </p:nvSpPr>
        <p:spPr/>
        <p:txBody>
          <a:bodyPr/>
          <a:lstStyle/>
          <a:p>
            <a:fld id="{E3A6CE5E-F349-486D-8749-82EF2AD71FA8}" type="slidenum">
              <a:rPr lang="zh-TW" altLang="en-US" smtClean="0"/>
              <a:t>45</a:t>
            </a:fld>
            <a:endParaRPr lang="zh-TW" altLang="en-US"/>
          </a:p>
        </p:txBody>
      </p:sp>
    </p:spTree>
    <p:extLst>
      <p:ext uri="{BB962C8B-B14F-4D97-AF65-F5344CB8AC3E}">
        <p14:creationId xmlns:p14="http://schemas.microsoft.com/office/powerpoint/2010/main" val="393989916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4E6667-2A85-FF53-8F83-A2A48D7CC895}"/>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29B604A-8ED3-03F5-03F9-DAF0CCD5B826}"/>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2D3A238-5F41-23FE-BADB-1E35C342E214}"/>
              </a:ext>
            </a:extLst>
          </p:cNvPr>
          <p:cNvSpPr>
            <a:spLocks noGrp="1"/>
          </p:cNvSpPr>
          <p:nvPr>
            <p:ph type="body" idx="1"/>
          </p:nvPr>
        </p:nvSpPr>
        <p:spPr/>
        <p:txBody>
          <a:bodyPr/>
          <a:lstStyle/>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Kimi K3 基于 Kimi Delta Attention（KDA）和 Attention Residuals（AttnRes）构建。</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Mixture of Experts（MoE）的稀疏度</a:t>
            </a:r>
            <a:r>
              <a:rPr lang="en-US" altLang="zh-TW" sz="1200" b="0" i="0" kern="1200" dirty="0">
                <a:solidFill>
                  <a:schemeClr val="tx1"/>
                </a:solidFill>
                <a:effectLst/>
                <a:latin typeface="+mn-lt"/>
                <a:ea typeface="+mn-ea"/>
                <a:cs typeface="+mn-cs"/>
              </a:rPr>
              <a:t>(16/896</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=1.8%)</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Stable Latent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MoE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由</a:t>
            </a:r>
            <a:r>
              <a:rPr lang="en-US" altLang="zh-TW" sz="1200" b="0" i="0" kern="1200" dirty="0">
                <a:solidFill>
                  <a:schemeClr val="tx1"/>
                </a:solidFill>
                <a:effectLst/>
                <a:latin typeface="+mn-lt"/>
                <a:ea typeface="+mn-ea"/>
                <a:cs typeface="+mn-cs"/>
              </a:rPr>
              <a:t>896</a:t>
            </a:r>
            <a:r>
              <a:rPr lang="zh-TW" altLang="en-US" sz="1200" b="0" i="0" kern="1200" dirty="0">
                <a:solidFill>
                  <a:schemeClr val="tx1"/>
                </a:solidFill>
                <a:effectLst/>
                <a:latin typeface="+mn-lt"/>
                <a:ea typeface="+mn-ea"/>
                <a:cs typeface="+mn-cs"/>
              </a:rPr>
              <a:t>個專家</a:t>
            </a:r>
            <a:r>
              <a:rPr lang="zh-TW" altLang="zh-TW" sz="1200" b="0" i="0" kern="1200" dirty="0">
                <a:solidFill>
                  <a:schemeClr val="tx1"/>
                </a:solidFill>
                <a:effectLst/>
                <a:latin typeface="+mn-lt"/>
                <a:ea typeface="+mn-ea"/>
                <a:cs typeface="+mn-cs"/>
              </a:rPr>
              <a:t>模型</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 </a:t>
            </a:r>
            <a:r>
              <a:rPr lang="zh-TW" altLang="zh-TW" sz="1200" b="0" i="0" kern="1200" dirty="0">
                <a:solidFill>
                  <a:schemeClr val="tx1"/>
                </a:solidFill>
                <a:effectLst/>
                <a:latin typeface="+mn-lt"/>
                <a:ea typeface="+mn-ea"/>
                <a:cs typeface="+mn-cs"/>
              </a:rPr>
              <a:t>高效激活16</a:t>
            </a:r>
            <a:r>
              <a:rPr lang="zh-TW" altLang="en-US" sz="1200" b="0" i="0" kern="1200" dirty="0">
                <a:solidFill>
                  <a:schemeClr val="tx1"/>
                </a:solidFill>
                <a:effectLst/>
                <a:latin typeface="+mn-lt"/>
                <a:ea typeface="+mn-ea"/>
                <a:cs typeface="+mn-cs"/>
              </a:rPr>
              <a:t>個</a:t>
            </a:r>
            <a:r>
              <a:rPr lang="zh-TW" altLang="zh-TW"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(2</a:t>
            </a:r>
            <a:r>
              <a:rPr lang="zh-TW" altLang="en-US" sz="1200" b="0" i="0" kern="1200" dirty="0">
                <a:solidFill>
                  <a:schemeClr val="tx1"/>
                </a:solidFill>
                <a:effectLst/>
                <a:latin typeface="+mn-lt"/>
                <a:ea typeface="+mn-ea"/>
                <a:cs typeface="+mn-cs"/>
              </a:rPr>
              <a:t>常駐分享</a:t>
            </a:r>
            <a:r>
              <a:rPr lang="en-US" altLang="zh-TW" sz="1200" b="0" i="0" kern="1200" dirty="0">
                <a:solidFill>
                  <a:schemeClr val="tx1"/>
                </a:solidFill>
                <a:effectLst/>
                <a:latin typeface="+mn-lt"/>
                <a:ea typeface="+mn-ea"/>
                <a:cs typeface="+mn-cs"/>
              </a:rPr>
              <a:t>+14</a:t>
            </a:r>
            <a:r>
              <a:rPr lang="zh-TW" altLang="en-US" sz="1200" b="0" i="0" kern="1200" dirty="0">
                <a:solidFill>
                  <a:schemeClr val="tx1"/>
                </a:solidFill>
                <a:effectLst/>
                <a:latin typeface="+mn-lt"/>
                <a:ea typeface="+mn-ea"/>
                <a:cs typeface="+mn-cs"/>
              </a:rPr>
              <a:t>動態選取</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a:t>
            </a:r>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endParaRPr lang="en-US" altLang="zh-TW" sz="1200" b="0" i="0" kern="1200" dirty="0">
              <a:solidFill>
                <a:schemeClr val="tx1"/>
              </a:solidFill>
              <a:effectLst/>
              <a:latin typeface="+mn-lt"/>
              <a:ea typeface="+mn-ea"/>
              <a:cs typeface="+mn-cs"/>
            </a:endParaRPr>
          </a:p>
          <a:p>
            <a:r>
              <a:rPr lang="zh-TW" altLang="zh-TW" sz="1200" b="0" i="0" kern="1200" dirty="0">
                <a:solidFill>
                  <a:schemeClr val="tx1"/>
                </a:solidFill>
                <a:effectLst/>
                <a:latin typeface="+mn-lt"/>
                <a:ea typeface="+mn-ea"/>
                <a:cs typeface="+mn-cs"/>
              </a:rPr>
              <a:t>再加上训练方法和数据配方的优化，这些结构性改进让 Kimi K3 相比 K2 的整体扩展效率提升约 2.5 倍，能更有效地把算力转化为能力。</a:t>
            </a:r>
            <a:endParaRPr lang="zh-TW" altLang="en-US" dirty="0"/>
          </a:p>
        </p:txBody>
      </p:sp>
      <p:sp>
        <p:nvSpPr>
          <p:cNvPr id="4" name="投影片編號版面配置區 3">
            <a:extLst>
              <a:ext uri="{FF2B5EF4-FFF2-40B4-BE49-F238E27FC236}">
                <a16:creationId xmlns:a16="http://schemas.microsoft.com/office/drawing/2014/main" id="{12179625-06B8-3D73-D2D4-34D86FEE2A0A}"/>
              </a:ext>
            </a:extLst>
          </p:cNvPr>
          <p:cNvSpPr>
            <a:spLocks noGrp="1"/>
          </p:cNvSpPr>
          <p:nvPr>
            <p:ph type="sldNum" sz="quarter" idx="5"/>
          </p:nvPr>
        </p:nvSpPr>
        <p:spPr/>
        <p:txBody>
          <a:bodyPr/>
          <a:lstStyle/>
          <a:p>
            <a:fld id="{E3A6CE5E-F349-486D-8749-82EF2AD71FA8}" type="slidenum">
              <a:rPr lang="zh-TW" altLang="en-US" smtClean="0"/>
              <a:t>46</a:t>
            </a:fld>
            <a:endParaRPr lang="zh-TW" altLang="en-US"/>
          </a:p>
        </p:txBody>
      </p:sp>
    </p:spTree>
    <p:extLst>
      <p:ext uri="{BB962C8B-B14F-4D97-AF65-F5344CB8AC3E}">
        <p14:creationId xmlns:p14="http://schemas.microsoft.com/office/powerpoint/2010/main" val="4065119469"/>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8A0C2-F10F-41F2-4901-D00B23DA82B0}"/>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C309C615-DC37-D33D-FC81-B6B7E8E51624}"/>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4B19ED-2691-D788-2378-E6045F29620F}"/>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74594A81-2AB8-1C7D-0016-4C3AEAD9A2B0}"/>
              </a:ext>
            </a:extLst>
          </p:cNvPr>
          <p:cNvSpPr>
            <a:spLocks noGrp="1"/>
          </p:cNvSpPr>
          <p:nvPr>
            <p:ph type="sldNum" sz="quarter" idx="5"/>
          </p:nvPr>
        </p:nvSpPr>
        <p:spPr/>
        <p:txBody>
          <a:bodyPr/>
          <a:lstStyle/>
          <a:p>
            <a:fld id="{E3A6CE5E-F349-486D-8749-82EF2AD71FA8}" type="slidenum">
              <a:rPr lang="zh-TW" altLang="en-US" smtClean="0"/>
              <a:t>47</a:t>
            </a:fld>
            <a:endParaRPr lang="zh-TW" altLang="en-US"/>
          </a:p>
        </p:txBody>
      </p:sp>
    </p:spTree>
    <p:extLst>
      <p:ext uri="{BB962C8B-B14F-4D97-AF65-F5344CB8AC3E}">
        <p14:creationId xmlns:p14="http://schemas.microsoft.com/office/powerpoint/2010/main" val="255343351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4926C-9EED-C470-ED03-7E77F765696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57F5C9E-88DB-47B1-6582-F37455330CF3}"/>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42B8BCA-D2D3-D8F3-5EF4-B9A54DB6AD62}"/>
              </a:ext>
            </a:extLst>
          </p:cNvPr>
          <p:cNvSpPr>
            <a:spLocks noGrp="1"/>
          </p:cNvSpPr>
          <p:nvPr>
            <p:ph type="body" idx="1"/>
          </p:nvPr>
        </p:nvSpPr>
        <p:spPr/>
        <p:txBody>
          <a:bodyPr/>
          <a:lstStyle/>
          <a:p>
            <a:r>
              <a:rPr lang="zh-TW" altLang="zh-TW" dirty="0"/>
              <a:t>在傳統的 Transformer 架構中，模型運作會面臨兩個維度的資訊損耗：</a:t>
            </a:r>
            <a:endParaRPr lang="en-US" altLang="zh-TW" dirty="0"/>
          </a:p>
          <a:p>
            <a:r>
              <a:rPr lang="zh-TW" altLang="zh-TW" dirty="0"/>
              <a:t>一個是文字序列越長，記憶體越容易爆掉（水平瓶頸）；</a:t>
            </a:r>
            <a:endParaRPr lang="en-US" altLang="zh-TW" dirty="0"/>
          </a:p>
          <a:p>
            <a:r>
              <a:rPr lang="zh-TW" altLang="zh-TW" dirty="0"/>
              <a:t>另一個是神經網路層數越深，早期的重要訊號越容易被後面的層沖淡（垂直瓶頸）。</a:t>
            </a:r>
            <a:endParaRPr lang="en-US" altLang="zh-TW" dirty="0"/>
          </a:p>
          <a:p>
            <a:r>
              <a:rPr lang="zh-TW" altLang="zh-TW" dirty="0"/>
              <a:t>Kimi 的解法是將「注意力機制」同時應用在這兩個維度：</a:t>
            </a:r>
            <a:endParaRPr lang="zh-TW" altLang="en-US" dirty="0"/>
          </a:p>
        </p:txBody>
      </p:sp>
      <p:sp>
        <p:nvSpPr>
          <p:cNvPr id="4" name="投影片編號版面配置區 3">
            <a:extLst>
              <a:ext uri="{FF2B5EF4-FFF2-40B4-BE49-F238E27FC236}">
                <a16:creationId xmlns:a16="http://schemas.microsoft.com/office/drawing/2014/main" id="{3B417082-2C85-C436-A2CB-60D654461411}"/>
              </a:ext>
            </a:extLst>
          </p:cNvPr>
          <p:cNvSpPr>
            <a:spLocks noGrp="1"/>
          </p:cNvSpPr>
          <p:nvPr>
            <p:ph type="sldNum" sz="quarter" idx="5"/>
          </p:nvPr>
        </p:nvSpPr>
        <p:spPr/>
        <p:txBody>
          <a:bodyPr/>
          <a:lstStyle/>
          <a:p>
            <a:fld id="{E3A6CE5E-F349-486D-8749-82EF2AD71FA8}" type="slidenum">
              <a:rPr lang="zh-TW" altLang="en-US" smtClean="0"/>
              <a:t>48</a:t>
            </a:fld>
            <a:endParaRPr lang="zh-TW" altLang="en-US"/>
          </a:p>
        </p:txBody>
      </p:sp>
    </p:spTree>
    <p:extLst>
      <p:ext uri="{BB962C8B-B14F-4D97-AF65-F5344CB8AC3E}">
        <p14:creationId xmlns:p14="http://schemas.microsoft.com/office/powerpoint/2010/main" val="387960122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49</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54</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55</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2026/8/16</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2026/8/16</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png"/><Relationship Id="rId11" Type="http://schemas.openxmlformats.org/officeDocument/2006/relationships/image" Target="../media/image24.png"/><Relationship Id="rId5" Type="http://schemas.openxmlformats.org/officeDocument/2006/relationships/image" Target="../media/image18.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1.svg"/></Relationships>
</file>

<file path=ppt/slides/_rels/slide14.xml.rels><?xml version="1.0" encoding="UTF-8" standalone="yes"?>
<Relationships xmlns="http://schemas.openxmlformats.org/package/2006/relationships"><Relationship Id="rId3" Type="http://schemas.openxmlformats.org/officeDocument/2006/relationships/image" Target="../media/image42.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17.xml"/><Relationship Id="rId1" Type="http://schemas.openxmlformats.org/officeDocument/2006/relationships/slideLayout" Target="../slideLayouts/slideLayout3.xml"/><Relationship Id="rId5" Type="http://schemas.openxmlformats.org/officeDocument/2006/relationships/image" Target="../media/image46.png"/><Relationship Id="rId4" Type="http://schemas.openxmlformats.org/officeDocument/2006/relationships/image" Target="../media/image45.png"/></Relationships>
</file>

<file path=ppt/slides/_rels/slide19.xml.rels><?xml version="1.0" encoding="UTF-8" standalone="yes"?>
<Relationships xmlns="http://schemas.openxmlformats.org/package/2006/relationships"><Relationship Id="rId3" Type="http://schemas.openxmlformats.org/officeDocument/2006/relationships/image" Target="../media/image47.svg"/><Relationship Id="rId7"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image" Target="../media/image50.png"/><Relationship Id="rId5" Type="http://schemas.openxmlformats.org/officeDocument/2006/relationships/image" Target="../media/image49.svg"/><Relationship Id="rId4" Type="http://schemas.openxmlformats.org/officeDocument/2006/relationships/image" Target="../media/image48.png"/></Relationships>
</file>

<file path=ppt/slides/_rels/slide2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3.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8" Type="http://schemas.openxmlformats.org/officeDocument/2006/relationships/image" Target="../media/image61.svg"/><Relationship Id="rId3" Type="http://schemas.openxmlformats.org/officeDocument/2006/relationships/image" Target="../media/image56.svg"/><Relationship Id="rId7" Type="http://schemas.openxmlformats.org/officeDocument/2006/relationships/image" Target="../media/image60.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59.svg"/><Relationship Id="rId5" Type="http://schemas.openxmlformats.org/officeDocument/2006/relationships/image" Target="../media/image58.png"/><Relationship Id="rId10" Type="http://schemas.openxmlformats.org/officeDocument/2006/relationships/image" Target="../media/image63.svg"/><Relationship Id="rId4" Type="http://schemas.openxmlformats.org/officeDocument/2006/relationships/image" Target="../media/image57.svg"/><Relationship Id="rId9" Type="http://schemas.openxmlformats.org/officeDocument/2006/relationships/image" Target="../media/image62.svg"/></Relationships>
</file>

<file path=ppt/slides/_rels/slide25.xml.rels><?xml version="1.0" encoding="UTF-8" standalone="yes"?>
<Relationships xmlns="http://schemas.openxmlformats.org/package/2006/relationships"><Relationship Id="rId3" Type="http://schemas.openxmlformats.org/officeDocument/2006/relationships/image" Target="../media/image58.png"/><Relationship Id="rId7" Type="http://schemas.openxmlformats.org/officeDocument/2006/relationships/image" Target="../media/image57.svg"/><Relationship Id="rId2" Type="http://schemas.openxmlformats.org/officeDocument/2006/relationships/notesSlide" Target="../notesSlides/notesSlide23.xml"/><Relationship Id="rId1" Type="http://schemas.openxmlformats.org/officeDocument/2006/relationships/slideLayout" Target="../slideLayouts/slideLayout3.xml"/><Relationship Id="rId6" Type="http://schemas.openxmlformats.org/officeDocument/2006/relationships/image" Target="../media/image65.svg"/><Relationship Id="rId5" Type="http://schemas.openxmlformats.org/officeDocument/2006/relationships/image" Target="../media/image64.svg"/><Relationship Id="rId4" Type="http://schemas.openxmlformats.org/officeDocument/2006/relationships/image" Target="../media/image59.svg"/></Relationships>
</file>

<file path=ppt/slides/_rels/slide26.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67.svg"/></Relationships>
</file>

<file path=ppt/slides/_rels/slide27.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8.png"/><Relationship Id="rId1" Type="http://schemas.openxmlformats.org/officeDocument/2006/relationships/slideLayout" Target="../slideLayouts/slideLayout3.xml"/><Relationship Id="rId4" Type="http://schemas.openxmlformats.org/officeDocument/2006/relationships/image" Target="../media/image69.jpeg"/></Relationships>
</file>

<file path=ppt/slides/_rels/slide28.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71.png"/><Relationship Id="rId7" Type="http://schemas.openxmlformats.org/officeDocument/2006/relationships/image" Target="../media/image75.png"/><Relationship Id="rId2" Type="http://schemas.openxmlformats.org/officeDocument/2006/relationships/notesSlide" Target="../notesSlides/notesSlide25.xml"/><Relationship Id="rId1" Type="http://schemas.openxmlformats.org/officeDocument/2006/relationships/slideLayout" Target="../slideLayouts/slideLayout3.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jpeg"/></Relationships>
</file>

<file path=ppt/slides/_rels/slide29.xml.rels><?xml version="1.0" encoding="UTF-8" standalone="yes"?>
<Relationships xmlns="http://schemas.openxmlformats.org/package/2006/relationships"><Relationship Id="rId3" Type="http://schemas.openxmlformats.org/officeDocument/2006/relationships/image" Target="../media/image76.sv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77.svg"/></Relationships>
</file>

<file path=ppt/slides/_rels/slide30.xml.rels><?xml version="1.0" encoding="UTF-8" standalone="yes"?>
<Relationships xmlns="http://schemas.openxmlformats.org/package/2006/relationships"><Relationship Id="rId3" Type="http://schemas.openxmlformats.org/officeDocument/2006/relationships/image" Target="../media/image78.svg"/><Relationship Id="rId7" Type="http://schemas.openxmlformats.org/officeDocument/2006/relationships/image" Target="../media/image82.svg"/><Relationship Id="rId2" Type="http://schemas.openxmlformats.org/officeDocument/2006/relationships/notesSlide" Target="../notesSlides/notesSlide27.xml"/><Relationship Id="rId1" Type="http://schemas.openxmlformats.org/officeDocument/2006/relationships/slideLayout" Target="../slideLayouts/slideLayout3.xml"/><Relationship Id="rId6" Type="http://schemas.openxmlformats.org/officeDocument/2006/relationships/image" Target="../media/image81.svg"/><Relationship Id="rId5" Type="http://schemas.openxmlformats.org/officeDocument/2006/relationships/image" Target="../media/image80.svg"/><Relationship Id="rId4" Type="http://schemas.openxmlformats.org/officeDocument/2006/relationships/image" Target="../media/image79.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3" Type="http://schemas.openxmlformats.org/officeDocument/2006/relationships/image" Target="../media/image83.jpeg"/><Relationship Id="rId2" Type="http://schemas.openxmlformats.org/officeDocument/2006/relationships/notesSlide" Target="../notesSlides/notesSlide33.xml"/><Relationship Id="rId1" Type="http://schemas.openxmlformats.org/officeDocument/2006/relationships/slideLayout" Target="../slideLayouts/slideLayout3.xml"/><Relationship Id="rId4" Type="http://schemas.openxmlformats.org/officeDocument/2006/relationships/image" Target="../media/image84.png"/></Relationships>
</file>

<file path=ppt/slides/_rels/slide37.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image" Target="../media/image88.png"/><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image" Target="../media/image91.pn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1.xml"/><Relationship Id="rId1" Type="http://schemas.openxmlformats.org/officeDocument/2006/relationships/slideLayout" Target="../slideLayouts/slideLayout3.xml"/><Relationship Id="rId4" Type="http://schemas.openxmlformats.org/officeDocument/2006/relationships/image" Target="../media/image93.png"/></Relationships>
</file>

<file path=ppt/slides/_rels/slide49.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99.png"/><Relationship Id="rId2" Type="http://schemas.openxmlformats.org/officeDocument/2006/relationships/notesSlide" Target="../notesSlides/notesSlide4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8.png"/><Relationship Id="rId5" Type="http://schemas.openxmlformats.org/officeDocument/2006/relationships/image" Target="../media/image3.png"/><Relationship Id="rId10" Type="http://schemas.openxmlformats.org/officeDocument/2006/relationships/image" Target="../media/image97.png"/><Relationship Id="rId4" Type="http://schemas.openxmlformats.org/officeDocument/2006/relationships/image" Target="../media/image2.png"/><Relationship Id="rId9" Type="http://schemas.openxmlformats.org/officeDocument/2006/relationships/image" Target="../media/image96.png"/></Relationships>
</file>

<file path=ppt/slides/_rels/slide50.xml.rels><?xml version="1.0" encoding="UTF-8" standalone="yes"?>
<Relationships xmlns="http://schemas.openxmlformats.org/package/2006/relationships"><Relationship Id="rId3" Type="http://schemas.openxmlformats.org/officeDocument/2006/relationships/image" Target="../media/image101.png"/><Relationship Id="rId7" Type="http://schemas.openxmlformats.org/officeDocument/2006/relationships/image" Target="../media/image68.png"/><Relationship Id="rId2" Type="http://schemas.openxmlformats.org/officeDocument/2006/relationships/image" Target="../media/image100.png"/><Relationship Id="rId1" Type="http://schemas.openxmlformats.org/officeDocument/2006/relationships/slideLayout" Target="../slideLayouts/slideLayout3.xml"/><Relationship Id="rId6" Type="http://schemas.openxmlformats.org/officeDocument/2006/relationships/image" Target="../media/image69.jpeg"/><Relationship Id="rId5" Type="http://schemas.openxmlformats.org/officeDocument/2006/relationships/image" Target="../media/image58.png"/><Relationship Id="rId4" Type="http://schemas.openxmlformats.org/officeDocument/2006/relationships/image" Target="../media/image102.png"/></Relationships>
</file>

<file path=ppt/slides/_rels/slide51.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4.xml"/><Relationship Id="rId5" Type="http://schemas.openxmlformats.org/officeDocument/2006/relationships/image" Target="../media/image106.png"/><Relationship Id="rId4" Type="http://schemas.openxmlformats.org/officeDocument/2006/relationships/image" Target="../media/image105.png"/></Relationships>
</file>

<file path=ppt/slides/_rels/slide53.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4.xml"/><Relationship Id="rId5" Type="http://schemas.openxmlformats.org/officeDocument/2006/relationships/image" Target="../media/image110.png"/><Relationship Id="rId4" Type="http://schemas.openxmlformats.org/officeDocument/2006/relationships/image" Target="../media/image109.png"/></Relationships>
</file>

<file path=ppt/slides/_rels/slide54.xml.rels><?xml version="1.0" encoding="UTF-8" standalone="yes"?>
<Relationships xmlns="http://schemas.openxmlformats.org/package/2006/relationships"><Relationship Id="rId8" Type="http://schemas.openxmlformats.org/officeDocument/2006/relationships/image" Target="../media/image115.png"/><Relationship Id="rId3" Type="http://schemas.openxmlformats.org/officeDocument/2006/relationships/image" Target="../media/image111.png"/><Relationship Id="rId7" Type="http://schemas.openxmlformats.org/officeDocument/2006/relationships/image" Target="../media/image114.png"/><Relationship Id="rId2" Type="http://schemas.openxmlformats.org/officeDocument/2006/relationships/notesSlide" Target="../notesSlides/notesSlide43.xml"/><Relationship Id="rId1" Type="http://schemas.openxmlformats.org/officeDocument/2006/relationships/slideLayout" Target="../slideLayouts/slideLayout4.xml"/><Relationship Id="rId6" Type="http://schemas.openxmlformats.org/officeDocument/2006/relationships/image" Target="../media/image113.png"/><Relationship Id="rId5" Type="http://schemas.openxmlformats.org/officeDocument/2006/relationships/image" Target="../media/image2300.png"/><Relationship Id="rId4" Type="http://schemas.openxmlformats.org/officeDocument/2006/relationships/image" Target="../media/image112.png"/></Relationships>
</file>

<file path=ppt/slides/_rels/slide55.xml.rels><?xml version="1.0" encoding="UTF-8" standalone="yes"?>
<Relationships xmlns="http://schemas.openxmlformats.org/package/2006/relationships"><Relationship Id="rId8" Type="http://schemas.openxmlformats.org/officeDocument/2006/relationships/image" Target="../media/image121.png"/><Relationship Id="rId3" Type="http://schemas.openxmlformats.org/officeDocument/2006/relationships/image" Target="../media/image116.png"/><Relationship Id="rId7" Type="http://schemas.openxmlformats.org/officeDocument/2006/relationships/image" Target="../media/image120.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119.png"/><Relationship Id="rId5" Type="http://schemas.openxmlformats.org/officeDocument/2006/relationships/image" Target="../media/image118.png"/><Relationship Id="rId4" Type="http://schemas.openxmlformats.org/officeDocument/2006/relationships/image" Target="../media/image117.png"/><Relationship Id="rId9" Type="http://schemas.openxmlformats.org/officeDocument/2006/relationships/image" Target="../media/image12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25F4DC-2C5D-1DF8-C13C-2A98212F622C}"/>
            </a:ext>
          </a:extLst>
        </p:cNvPr>
        <p:cNvGrpSpPr/>
        <p:nvPr/>
      </p:nvGrpSpPr>
      <p:grpSpPr>
        <a:xfrm>
          <a:off x="0" y="0"/>
          <a:ext cx="0" cy="0"/>
          <a:chOff x="0" y="0"/>
          <a:chExt cx="0" cy="0"/>
        </a:xfrm>
      </p:grpSpPr>
      <p:sp>
        <p:nvSpPr>
          <p:cNvPr id="56" name="矩形 55">
            <a:extLst>
              <a:ext uri="{FF2B5EF4-FFF2-40B4-BE49-F238E27FC236}">
                <a16:creationId xmlns:a16="http://schemas.microsoft.com/office/drawing/2014/main" id="{B2E63910-F253-E2D5-02E7-340A2EF7AD10}"/>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C8628D0A-2F53-019D-FCF4-A5336008FAE8}"/>
              </a:ext>
            </a:extLst>
          </p:cNvPr>
          <p:cNvSpPr/>
          <p:nvPr/>
        </p:nvSpPr>
        <p:spPr>
          <a:xfrm>
            <a:off x="6227799" y="6022050"/>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CEF6F19A-3451-58E8-8697-318AD268074F}"/>
              </a:ext>
            </a:extLst>
          </p:cNvPr>
          <p:cNvSpPr/>
          <p:nvPr/>
        </p:nvSpPr>
        <p:spPr>
          <a:xfrm>
            <a:off x="7515292" y="6022050"/>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6EC1F963-38FF-4FBD-3078-667B65632C89}"/>
              </a:ext>
            </a:extLst>
          </p:cNvPr>
          <p:cNvSpPr/>
          <p:nvPr/>
        </p:nvSpPr>
        <p:spPr>
          <a:xfrm>
            <a:off x="6202530" y="4194205"/>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D1D9E7ED-1DF4-40AD-9D0C-D6915E579097}"/>
              </a:ext>
            </a:extLst>
          </p:cNvPr>
          <p:cNvSpPr txBox="1"/>
          <p:nvPr/>
        </p:nvSpPr>
        <p:spPr>
          <a:xfrm>
            <a:off x="6575500" y="4848653"/>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9445F788-701C-5DAD-09BD-5CA5D7C867F2}"/>
              </a:ext>
            </a:extLst>
          </p:cNvPr>
          <p:cNvSpPr/>
          <p:nvPr/>
        </p:nvSpPr>
        <p:spPr>
          <a:xfrm>
            <a:off x="7307919"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3B63411C-6DA9-0FE1-5F23-BBF61E870E87}"/>
              </a:ext>
            </a:extLst>
          </p:cNvPr>
          <p:cNvSpPr txBox="1"/>
          <p:nvPr/>
        </p:nvSpPr>
        <p:spPr>
          <a:xfrm>
            <a:off x="6202530" y="3180361"/>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4874F186-A394-A464-D06A-F6A652491053}"/>
              </a:ext>
            </a:extLst>
          </p:cNvPr>
          <p:cNvSpPr/>
          <p:nvPr/>
        </p:nvSpPr>
        <p:spPr>
          <a:xfrm>
            <a:off x="6291195" y="4653898"/>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32C1A8D9-CAFD-E4F4-8D02-ADEA733E6149}"/>
              </a:ext>
            </a:extLst>
          </p:cNvPr>
          <p:cNvSpPr txBox="1"/>
          <p:nvPr/>
        </p:nvSpPr>
        <p:spPr>
          <a:xfrm>
            <a:off x="7235911"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05A6D66F-7CED-134C-314F-DEC02544ED1A}"/>
              </a:ext>
            </a:extLst>
          </p:cNvPr>
          <p:cNvSpPr/>
          <p:nvPr/>
        </p:nvSpPr>
        <p:spPr>
          <a:xfrm>
            <a:off x="8030793" y="4653898"/>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B804B385-B965-5CA8-8DA3-69535C503F33}"/>
              </a:ext>
            </a:extLst>
          </p:cNvPr>
          <p:cNvSpPr txBox="1"/>
          <p:nvPr/>
        </p:nvSpPr>
        <p:spPr>
          <a:xfrm>
            <a:off x="7481468" y="4749435"/>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cxnSp>
        <p:nvCxnSpPr>
          <p:cNvPr id="13" name="接點: 肘形 12">
            <a:extLst>
              <a:ext uri="{FF2B5EF4-FFF2-40B4-BE49-F238E27FC236}">
                <a16:creationId xmlns:a16="http://schemas.microsoft.com/office/drawing/2014/main" id="{DC29F3AB-B500-75AB-675F-A38424FFE5C6}"/>
              </a:ext>
            </a:extLst>
          </p:cNvPr>
          <p:cNvCxnSpPr>
            <a:cxnSpLocks/>
            <a:endCxn id="2" idx="1"/>
          </p:cNvCxnSpPr>
          <p:nvPr/>
        </p:nvCxnSpPr>
        <p:spPr>
          <a:xfrm>
            <a:off x="5736151" y="4720547"/>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7B5A1F59-FF04-E7F3-8768-6C7C30E5B17D}"/>
              </a:ext>
            </a:extLst>
          </p:cNvPr>
          <p:cNvCxnSpPr>
            <a:cxnSpLocks/>
            <a:stCxn id="20" idx="2"/>
            <a:endCxn id="3" idx="0"/>
          </p:cNvCxnSpPr>
          <p:nvPr/>
        </p:nvCxnSpPr>
        <p:spPr>
          <a:xfrm rot="5400000">
            <a:off x="7694508" y="5609695"/>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CC95F26D-0321-50C1-3115-620FE90B80E6}"/>
              </a:ext>
            </a:extLst>
          </p:cNvPr>
          <p:cNvCxnSpPr>
            <a:cxnSpLocks/>
            <a:stCxn id="20" idx="2"/>
            <a:endCxn id="2" idx="0"/>
          </p:cNvCxnSpPr>
          <p:nvPr/>
        </p:nvCxnSpPr>
        <p:spPr>
          <a:xfrm rot="5400000">
            <a:off x="7137911" y="5053098"/>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25D3E59-2745-2449-AEE0-997279C9B25A}"/>
              </a:ext>
            </a:extLst>
          </p:cNvPr>
          <p:cNvSpPr txBox="1">
            <a:spLocks/>
          </p:cNvSpPr>
          <p:nvPr/>
        </p:nvSpPr>
        <p:spPr>
          <a:xfrm>
            <a:off x="7059396"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A4284123-137F-AA66-EE9F-C1CFB6687A68}"/>
              </a:ext>
            </a:extLst>
          </p:cNvPr>
          <p:cNvSpPr txBox="1">
            <a:spLocks/>
          </p:cNvSpPr>
          <p:nvPr/>
        </p:nvSpPr>
        <p:spPr>
          <a:xfrm>
            <a:off x="7947340" y="5806026"/>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F4923270-95EE-CF10-BCEA-9FE2711BEAA5}"/>
              </a:ext>
            </a:extLst>
          </p:cNvPr>
          <p:cNvSpPr txBox="1"/>
          <p:nvPr/>
        </p:nvSpPr>
        <p:spPr>
          <a:xfrm>
            <a:off x="6910766" y="479791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89F130E7-8EAC-E63E-8462-7F4E5C65E062}"/>
              </a:ext>
            </a:extLst>
          </p:cNvPr>
          <p:cNvSpPr txBox="1"/>
          <p:nvPr/>
        </p:nvSpPr>
        <p:spPr>
          <a:xfrm>
            <a:off x="7558838" y="4855196"/>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851C5A25-C498-87F0-20B6-134567B329D4}"/>
              </a:ext>
            </a:extLst>
          </p:cNvPr>
          <p:cNvSpPr txBox="1"/>
          <p:nvPr/>
        </p:nvSpPr>
        <p:spPr>
          <a:xfrm>
            <a:off x="7969703"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E3BA1CF8-4363-84CF-7131-B5149DB372E7}"/>
              </a:ext>
            </a:extLst>
          </p:cNvPr>
          <p:cNvSpPr txBox="1"/>
          <p:nvPr/>
        </p:nvSpPr>
        <p:spPr>
          <a:xfrm>
            <a:off x="6712616"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F84A7D28-E74C-28E0-CCA6-D8A7B0EB32C4}"/>
              </a:ext>
            </a:extLst>
          </p:cNvPr>
          <p:cNvSpPr txBox="1"/>
          <p:nvPr/>
        </p:nvSpPr>
        <p:spPr>
          <a:xfrm>
            <a:off x="6280384" y="5220514"/>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8DF98174-18D8-EDDC-0456-7FD2312C53DF}"/>
              </a:ext>
            </a:extLst>
          </p:cNvPr>
          <p:cNvSpPr txBox="1"/>
          <p:nvPr/>
        </p:nvSpPr>
        <p:spPr>
          <a:xfrm>
            <a:off x="6905979" y="4749435"/>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66ECF8BB-490B-F72E-5FD9-D4358EA484AD}"/>
              </a:ext>
            </a:extLst>
          </p:cNvPr>
          <p:cNvSpPr/>
          <p:nvPr/>
        </p:nvSpPr>
        <p:spPr>
          <a:xfrm>
            <a:off x="6731855" y="4767977"/>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F05F8148-2C2C-3C2A-5DF1-8C61473F068F}"/>
              </a:ext>
            </a:extLst>
          </p:cNvPr>
          <p:cNvSpPr/>
          <p:nvPr/>
        </p:nvSpPr>
        <p:spPr>
          <a:xfrm>
            <a:off x="6525371" y="3920828"/>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E0075763-0FA1-6974-9030-BC3E7AEC24D6}"/>
              </a:ext>
            </a:extLst>
          </p:cNvPr>
          <p:cNvSpPr/>
          <p:nvPr/>
        </p:nvSpPr>
        <p:spPr>
          <a:xfrm>
            <a:off x="6227502" y="6318182"/>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31FDDE85-1FC4-D0AA-D6A7-E1D2FEF71F2A}"/>
              </a:ext>
            </a:extLst>
          </p:cNvPr>
          <p:cNvSpPr/>
          <p:nvPr/>
        </p:nvSpPr>
        <p:spPr>
          <a:xfrm>
            <a:off x="163939" y="5085185"/>
            <a:ext cx="1219699" cy="308828"/>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ctr"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30" name="文字方塊 29">
            <a:extLst>
              <a:ext uri="{FF2B5EF4-FFF2-40B4-BE49-F238E27FC236}">
                <a16:creationId xmlns:a16="http://schemas.microsoft.com/office/drawing/2014/main" id="{5C942AA1-598E-1CB8-3AA6-F41D2096B280}"/>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9F11D9F9-B6CD-E546-ADD8-3F00F91DF76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214BFF97-6CF7-4E5D-3C8D-6D4F67E0E62C}"/>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E518082B-8CA0-A754-ED86-66DAF216D56B}"/>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E42CE9FA-6ECA-5905-7B4C-C42239015DB9}"/>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5FA89319-50A3-8440-10F7-4A3F407DE94F}"/>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82C72F52-F19B-0A34-03EB-4A2A70AA916E}"/>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D388D900-9F41-46B8-725D-0A536108080E}"/>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F7B40193-515B-FCC1-E915-8F0C4ED51DB6}"/>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42FADD3E-703E-579D-C1B3-9EACEF69BD6C}"/>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66BE22EB-DC5F-E4C7-7860-C939E8EDD621}"/>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D26FDE2C-F4F2-FE38-33E0-27AAAAA64D85}"/>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55476094-BF32-F393-1BBC-026A5A1F44E9}"/>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CAA82C02-1CA5-E9C0-EE5E-2CF011A36A19}"/>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sp>
        <p:nvSpPr>
          <p:cNvPr id="31" name="標題 1">
            <a:extLst>
              <a:ext uri="{FF2B5EF4-FFF2-40B4-BE49-F238E27FC236}">
                <a16:creationId xmlns:a16="http://schemas.microsoft.com/office/drawing/2014/main" id="{F34D51B4-CFFC-D6DB-2D03-A832CBED1EFD}"/>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oment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u</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rthogonalized by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N</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ewton-Schulz</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Muon.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5" name="文字方塊 34">
            <a:extLst>
              <a:ext uri="{FF2B5EF4-FFF2-40B4-BE49-F238E27FC236}">
                <a16:creationId xmlns:a16="http://schemas.microsoft.com/office/drawing/2014/main" id="{5BA32CFF-C0F6-6F4E-C291-A0AF22B3A19D}"/>
              </a:ext>
            </a:extLst>
          </p:cNvPr>
          <p:cNvSpPr txBox="1"/>
          <p:nvPr/>
        </p:nvSpPr>
        <p:spPr>
          <a:xfrm>
            <a:off x="236725" y="1440646"/>
            <a:ext cx="8280922" cy="27084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GPRO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Momentum Orthogonalized by Newton-Schulz(</a:t>
            </a:r>
            <a:r>
              <a:rPr lang="en-US" altLang="zh-TW" sz="1600" b="1" dirty="0"/>
              <a:t>Muon</a:t>
            </a:r>
            <a:r>
              <a:rPr lang="en-US" altLang="zh-TW" sz="1600" dirty="0"/>
              <a:t>): Matrix orthogonalization.</a:t>
            </a:r>
          </a:p>
          <a:p>
            <a:pPr marL="742950" lvl="1" indent="-285750">
              <a:lnSpc>
                <a:spcPts val="1800"/>
              </a:lnSpc>
              <a:spcBef>
                <a:spcPts val="600"/>
              </a:spcBef>
              <a:buFont typeface="Arial" panose="020B0604020202020204" pitchFamily="34" charset="0"/>
              <a:buChar char="•"/>
            </a:pPr>
            <a:r>
              <a:rPr lang="en-US" altLang="zh-TW" sz="1600" dirty="0"/>
              <a:t>Hybrid Compressed Attention (</a:t>
            </a:r>
            <a:r>
              <a:rPr lang="en-US" altLang="zh-TW" sz="1600" b="1" dirty="0"/>
              <a:t>HCA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Manifold-Constrained Hyper-Connections (</a:t>
            </a:r>
            <a:r>
              <a:rPr lang="en-US" altLang="zh-TW" sz="1600" b="1" dirty="0"/>
              <a:t>mHC</a:t>
            </a:r>
            <a:r>
              <a:rPr lang="en-US" altLang="zh-TW" sz="1600" dirty="0"/>
              <a:t>): Replacing residual.</a:t>
            </a:r>
          </a:p>
        </p:txBody>
      </p:sp>
    </p:spTree>
    <p:extLst>
      <p:ext uri="{BB962C8B-B14F-4D97-AF65-F5344CB8AC3E}">
        <p14:creationId xmlns:p14="http://schemas.microsoft.com/office/powerpoint/2010/main" val="126055179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A38658-2B3C-8DE5-45DA-23737A42A4AD}"/>
            </a:ext>
          </a:extLst>
        </p:cNvPr>
        <p:cNvGrpSpPr/>
        <p:nvPr/>
      </p:nvGrpSpPr>
      <p:grpSpPr>
        <a:xfrm>
          <a:off x="0" y="0"/>
          <a:ext cx="0" cy="0"/>
          <a:chOff x="0" y="0"/>
          <a:chExt cx="0" cy="0"/>
        </a:xfrm>
      </p:grpSpPr>
      <p:pic>
        <p:nvPicPr>
          <p:cNvPr id="2" name="圖片 1">
            <a:extLst>
              <a:ext uri="{FF2B5EF4-FFF2-40B4-BE49-F238E27FC236}">
                <a16:creationId xmlns:a16="http://schemas.microsoft.com/office/drawing/2014/main" id="{EC336CA0-741B-90B5-2048-06767EC967D4}"/>
              </a:ext>
            </a:extLst>
          </p:cNvPr>
          <p:cNvPicPr>
            <a:picLocks noChangeAspect="1"/>
          </p:cNvPicPr>
          <p:nvPr/>
        </p:nvPicPr>
        <p:blipFill>
          <a:blip r:embed="rId3"/>
          <a:stretch>
            <a:fillRect/>
          </a:stretch>
        </p:blipFill>
        <p:spPr>
          <a:xfrm>
            <a:off x="8224137" y="37246"/>
            <a:ext cx="740352" cy="740352"/>
          </a:xfrm>
          <a:prstGeom prst="rect">
            <a:avLst/>
          </a:prstGeom>
        </p:spPr>
      </p:pic>
      <p:sp>
        <p:nvSpPr>
          <p:cNvPr id="5" name="標題 1">
            <a:extLst>
              <a:ext uri="{FF2B5EF4-FFF2-40B4-BE49-F238E27FC236}">
                <a16:creationId xmlns:a16="http://schemas.microsoft.com/office/drawing/2014/main" id="{960A8EDD-0A24-CE7E-CD63-1B7D075BCAA1}"/>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標題 1">
            <a:extLst>
              <a:ext uri="{FF2B5EF4-FFF2-40B4-BE49-F238E27FC236}">
                <a16:creationId xmlns:a16="http://schemas.microsoft.com/office/drawing/2014/main" id="{533B2B92-2B9A-4E68-37FC-4D4796F63F0C}"/>
              </a:ext>
            </a:extLst>
          </p:cNvPr>
          <p:cNvSpPr txBox="1">
            <a:spLocks/>
          </p:cNvSpPr>
          <p:nvPr/>
        </p:nvSpPr>
        <p:spPr>
          <a:xfrm>
            <a:off x="8224137" y="620688"/>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DeepSeek</a:t>
            </a:r>
          </a:p>
          <a:p>
            <a:pPr algn="ctr"/>
            <a:r>
              <a:rPr lang="zh-TW" altLang="en-US"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深度求索</a:t>
            </a:r>
            <a:endParaRPr lang="en-US" altLang="zh-TW" sz="1000" dirty="0">
              <a:solidFill>
                <a:srgbClr val="4C6BFF"/>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7" name="文字方塊 6">
            <a:extLst>
              <a:ext uri="{FF2B5EF4-FFF2-40B4-BE49-F238E27FC236}">
                <a16:creationId xmlns:a16="http://schemas.microsoft.com/office/drawing/2014/main" id="{1887142E-F390-F7B5-0F57-E6099827F1D5}"/>
              </a:ext>
            </a:extLst>
          </p:cNvPr>
          <p:cNvSpPr txBox="1"/>
          <p:nvPr/>
        </p:nvSpPr>
        <p:spPr>
          <a:xfrm>
            <a:off x="179510" y="1377042"/>
            <a:ext cx="8280922" cy="2708434"/>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DeepSeek : </a:t>
            </a:r>
            <a:r>
              <a:rPr lang="en-US" altLang="zh-TW" sz="1600" dirty="0"/>
              <a:t>Funded by High-Flyer Quant, </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Group Relative Policy Optimization(</a:t>
            </a:r>
            <a:r>
              <a:rPr lang="en-US" altLang="zh-TW" sz="1600" b="1" dirty="0"/>
              <a:t>GRPO</a:t>
            </a:r>
            <a:r>
              <a:rPr lang="en-US" altLang="zh-TW" sz="1600" dirty="0"/>
              <a:t>):</a:t>
            </a:r>
            <a:r>
              <a:rPr lang="zh-TW" altLang="en-US" sz="1600" dirty="0"/>
              <a:t> </a:t>
            </a:r>
            <a:r>
              <a:rPr lang="en-US" altLang="zh-TW" sz="1600" dirty="0"/>
              <a:t>Deep reasoning and self-correction.</a:t>
            </a:r>
          </a:p>
          <a:p>
            <a:pPr marL="742950" lvl="1" indent="-285750">
              <a:lnSpc>
                <a:spcPts val="1800"/>
              </a:lnSpc>
              <a:spcBef>
                <a:spcPts val="600"/>
              </a:spcBef>
              <a:buFont typeface="Arial" panose="020B0604020202020204" pitchFamily="34" charset="0"/>
              <a:buChar char="•"/>
            </a:pPr>
            <a:r>
              <a:rPr lang="en-US" altLang="zh-TW" sz="1600" dirty="0"/>
              <a:t>V2 Multi-head Latent Attention(</a:t>
            </a:r>
            <a:r>
              <a:rPr lang="en-US" altLang="zh-TW" sz="1600" b="1" dirty="0"/>
              <a:t>MLA</a:t>
            </a:r>
            <a:r>
              <a:rPr lang="en-US" altLang="zh-TW" sz="1600" dirty="0"/>
              <a:t>): Reduced KV cache usage by 90%.</a:t>
            </a:r>
          </a:p>
          <a:p>
            <a:pPr marL="742950" lvl="1" indent="-285750">
              <a:lnSpc>
                <a:spcPts val="1800"/>
              </a:lnSpc>
              <a:spcBef>
                <a:spcPts val="600"/>
              </a:spcBef>
              <a:buFont typeface="Arial" panose="020B0604020202020204" pitchFamily="34" charset="0"/>
              <a:buChar char="•"/>
            </a:pPr>
            <a:r>
              <a:rPr lang="en-US" altLang="zh-TW" sz="1600" dirty="0"/>
              <a:t>V3 DeepSeek Sparse Attention(</a:t>
            </a:r>
            <a:r>
              <a:rPr lang="en-US" altLang="zh-TW" sz="1600" b="1" dirty="0"/>
              <a:t>DSA</a:t>
            </a:r>
            <a:r>
              <a:rPr lang="en-US" altLang="zh-TW" sz="1600" dirty="0"/>
              <a:t>): </a:t>
            </a:r>
          </a:p>
          <a:p>
            <a:pPr marL="742950" lvl="1" indent="-285750">
              <a:lnSpc>
                <a:spcPts val="1800"/>
              </a:lnSpc>
              <a:spcBef>
                <a:spcPts val="600"/>
              </a:spcBef>
              <a:buFont typeface="Arial" panose="020B0604020202020204" pitchFamily="34" charset="0"/>
              <a:buChar char="•"/>
            </a:pPr>
            <a:r>
              <a:rPr lang="en-US" altLang="zh-TW" sz="1600" dirty="0"/>
              <a:t>V4 Hybrid MHA: Sliding Window(</a:t>
            </a:r>
            <a:r>
              <a:rPr lang="en-US" altLang="zh-TW" sz="1600" b="1" dirty="0"/>
              <a:t>SWA</a:t>
            </a:r>
            <a:r>
              <a:rPr lang="en-US" altLang="zh-TW" sz="1600" dirty="0"/>
              <a:t>), Heavily(</a:t>
            </a:r>
            <a:r>
              <a:rPr lang="en-US" altLang="zh-TW" sz="1600" b="1" dirty="0"/>
              <a:t>HCA</a:t>
            </a:r>
            <a:r>
              <a:rPr lang="en-US" altLang="zh-TW" sz="1600" dirty="0"/>
              <a:t>), Compressed Sparse(</a:t>
            </a:r>
            <a:r>
              <a:rPr lang="en-US" altLang="zh-TW" sz="1600" b="1" dirty="0"/>
              <a:t>CSA</a:t>
            </a:r>
            <a:r>
              <a:rPr lang="en-US" altLang="zh-TW" sz="1600" dirty="0"/>
              <a:t>).</a:t>
            </a:r>
          </a:p>
          <a:p>
            <a:pPr marL="742950" lvl="1" indent="-285750">
              <a:lnSpc>
                <a:spcPts val="1800"/>
              </a:lnSpc>
              <a:spcBef>
                <a:spcPts val="600"/>
              </a:spcBef>
              <a:buFont typeface="Arial" panose="020B0604020202020204" pitchFamily="34" charset="0"/>
              <a:buChar char="•"/>
            </a:pPr>
            <a:r>
              <a:rPr lang="en-US" altLang="zh-TW" sz="1600" dirty="0"/>
              <a:t>V4 Manifold-constrained Hyper-Connections (</a:t>
            </a:r>
            <a:r>
              <a:rPr lang="en-US" altLang="zh-TW" sz="1600" b="1" dirty="0" err="1"/>
              <a:t>M</a:t>
            </a:r>
            <a:r>
              <a:rPr lang="en-US" altLang="zh-TW" sz="1600" dirty="0" err="1">
                <a:solidFill>
                  <a:schemeClr val="tx1">
                    <a:lumMod val="50000"/>
                    <a:lumOff val="50000"/>
                  </a:schemeClr>
                </a:solidFill>
              </a:rPr>
              <a:t>c</a:t>
            </a:r>
            <a:r>
              <a:rPr lang="en-US" altLang="zh-TW" sz="1600" b="1" dirty="0" err="1"/>
              <a:t>HC</a:t>
            </a:r>
            <a:r>
              <a:rPr lang="en-US" altLang="zh-TW" sz="1600" dirty="0"/>
              <a:t>): Replacing residual stream.</a:t>
            </a:r>
          </a:p>
        </p:txBody>
      </p:sp>
      <p:sp>
        <p:nvSpPr>
          <p:cNvPr id="24" name="標題 1">
            <a:extLst>
              <a:ext uri="{FF2B5EF4-FFF2-40B4-BE49-F238E27FC236}">
                <a16:creationId xmlns:a16="http://schemas.microsoft.com/office/drawing/2014/main" id="{1EAB493B-DEBA-4B6C-68E5-EBAB1AC6BF46}"/>
              </a:ext>
            </a:extLst>
          </p:cNvPr>
          <p:cNvSpPr txBox="1">
            <a:spLocks/>
          </p:cNvSpPr>
          <p:nvPr/>
        </p:nvSpPr>
        <p:spPr>
          <a:xfrm>
            <a:off x="8229792" y="1700808"/>
            <a:ext cx="740352" cy="56446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High-Flyer</a:t>
            </a:r>
          </a:p>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Quant</a:t>
            </a:r>
          </a:p>
          <a:p>
            <a:pPr algn="ctr"/>
            <a:r>
              <a:rPr lang="zh-TW" altLang="en-US"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幻方量化</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pic>
        <p:nvPicPr>
          <p:cNvPr id="25" name="圖片 24">
            <a:extLst>
              <a:ext uri="{FF2B5EF4-FFF2-40B4-BE49-F238E27FC236}">
                <a16:creationId xmlns:a16="http://schemas.microsoft.com/office/drawing/2014/main" id="{E7B9DB21-ADDA-F8F3-EE59-DFABC84DD3AA}"/>
              </a:ext>
            </a:extLst>
          </p:cNvPr>
          <p:cNvPicPr>
            <a:picLocks noChangeAspect="1"/>
          </p:cNvPicPr>
          <p:nvPr/>
        </p:nvPicPr>
        <p:blipFill>
          <a:blip r:embed="rId4"/>
          <a:stretch>
            <a:fillRect/>
          </a:stretch>
        </p:blipFill>
        <p:spPr>
          <a:xfrm>
            <a:off x="8312078" y="1208347"/>
            <a:ext cx="564469" cy="564469"/>
          </a:xfrm>
          <a:prstGeom prst="rect">
            <a:avLst/>
          </a:prstGeom>
        </p:spPr>
      </p:pic>
      <p:graphicFrame>
        <p:nvGraphicFramePr>
          <p:cNvPr id="8" name="表格 7">
            <a:extLst>
              <a:ext uri="{FF2B5EF4-FFF2-40B4-BE49-F238E27FC236}">
                <a16:creationId xmlns:a16="http://schemas.microsoft.com/office/drawing/2014/main" id="{764D7129-E992-939D-352F-5A96D493C7CE}"/>
              </a:ext>
            </a:extLst>
          </p:cNvPr>
          <p:cNvGraphicFramePr>
            <a:graphicFrameLocks noGrp="1"/>
          </p:cNvGraphicFramePr>
          <p:nvPr>
            <p:extLst>
              <p:ext uri="{D42A27DB-BD31-4B8C-83A1-F6EECF244321}">
                <p14:modId xmlns:p14="http://schemas.microsoft.com/office/powerpoint/2010/main" val="2877922344"/>
              </p:ext>
            </p:extLst>
          </p:nvPr>
        </p:nvGraphicFramePr>
        <p:xfrm>
          <a:off x="505166" y="4149080"/>
          <a:ext cx="8133667" cy="2341928"/>
        </p:xfrm>
        <a:graphic>
          <a:graphicData uri="http://schemas.openxmlformats.org/drawingml/2006/table">
            <a:tbl>
              <a:tblPr firstRow="1" bandRow="1">
                <a:tableStyleId>{5C22544A-7EE6-4342-B048-85BDC9FD1C3A}</a:tableStyleId>
              </a:tblPr>
              <a:tblGrid>
                <a:gridCol w="425655">
                  <a:extLst>
                    <a:ext uri="{9D8B030D-6E8A-4147-A177-3AD203B41FA5}">
                      <a16:colId xmlns:a16="http://schemas.microsoft.com/office/drawing/2014/main" val="4198244561"/>
                    </a:ext>
                  </a:extLst>
                </a:gridCol>
                <a:gridCol w="696526">
                  <a:extLst>
                    <a:ext uri="{9D8B030D-6E8A-4147-A177-3AD203B41FA5}">
                      <a16:colId xmlns:a16="http://schemas.microsoft.com/office/drawing/2014/main" val="2211145501"/>
                    </a:ext>
                  </a:extLst>
                </a:gridCol>
                <a:gridCol w="527050">
                  <a:extLst>
                    <a:ext uri="{9D8B030D-6E8A-4147-A177-3AD203B41FA5}">
                      <a16:colId xmlns:a16="http://schemas.microsoft.com/office/drawing/2014/main" val="767948712"/>
                    </a:ext>
                  </a:extLst>
                </a:gridCol>
                <a:gridCol w="527050">
                  <a:extLst>
                    <a:ext uri="{9D8B030D-6E8A-4147-A177-3AD203B41FA5}">
                      <a16:colId xmlns:a16="http://schemas.microsoft.com/office/drawing/2014/main" val="2420987057"/>
                    </a:ext>
                  </a:extLst>
                </a:gridCol>
                <a:gridCol w="956072">
                  <a:extLst>
                    <a:ext uri="{9D8B030D-6E8A-4147-A177-3AD203B41FA5}">
                      <a16:colId xmlns:a16="http://schemas.microsoft.com/office/drawing/2014/main" val="3715013544"/>
                    </a:ext>
                  </a:extLst>
                </a:gridCol>
                <a:gridCol w="720080">
                  <a:extLst>
                    <a:ext uri="{9D8B030D-6E8A-4147-A177-3AD203B41FA5}">
                      <a16:colId xmlns:a16="http://schemas.microsoft.com/office/drawing/2014/main" val="3639967230"/>
                    </a:ext>
                  </a:extLst>
                </a:gridCol>
                <a:gridCol w="1008112">
                  <a:extLst>
                    <a:ext uri="{9D8B030D-6E8A-4147-A177-3AD203B41FA5}">
                      <a16:colId xmlns:a16="http://schemas.microsoft.com/office/drawing/2014/main" val="3328686525"/>
                    </a:ext>
                  </a:extLst>
                </a:gridCol>
                <a:gridCol w="288032">
                  <a:extLst>
                    <a:ext uri="{9D8B030D-6E8A-4147-A177-3AD203B41FA5}">
                      <a16:colId xmlns:a16="http://schemas.microsoft.com/office/drawing/2014/main" val="3752581630"/>
                    </a:ext>
                  </a:extLst>
                </a:gridCol>
                <a:gridCol w="504056">
                  <a:extLst>
                    <a:ext uri="{9D8B030D-6E8A-4147-A177-3AD203B41FA5}">
                      <a16:colId xmlns:a16="http://schemas.microsoft.com/office/drawing/2014/main" val="40210933"/>
                    </a:ext>
                  </a:extLst>
                </a:gridCol>
                <a:gridCol w="394420">
                  <a:extLst>
                    <a:ext uri="{9D8B030D-6E8A-4147-A177-3AD203B41FA5}">
                      <a16:colId xmlns:a16="http://schemas.microsoft.com/office/drawing/2014/main" val="3722446267"/>
                    </a:ext>
                  </a:extLst>
                </a:gridCol>
                <a:gridCol w="394420">
                  <a:extLst>
                    <a:ext uri="{9D8B030D-6E8A-4147-A177-3AD203B41FA5}">
                      <a16:colId xmlns:a16="http://schemas.microsoft.com/office/drawing/2014/main" val="3159408052"/>
                    </a:ext>
                  </a:extLst>
                </a:gridCol>
                <a:gridCol w="846097">
                  <a:extLst>
                    <a:ext uri="{9D8B030D-6E8A-4147-A177-3AD203B41FA5}">
                      <a16:colId xmlns:a16="http://schemas.microsoft.com/office/drawing/2014/main" val="2746565255"/>
                    </a:ext>
                  </a:extLst>
                </a:gridCol>
                <a:gridCol w="846097">
                  <a:extLst>
                    <a:ext uri="{9D8B030D-6E8A-4147-A177-3AD203B41FA5}">
                      <a16:colId xmlns:a16="http://schemas.microsoft.com/office/drawing/2014/main" val="1920063261"/>
                    </a:ext>
                  </a:extLst>
                </a:gridCol>
              </a:tblGrid>
              <a:tr h="280430">
                <a:tc rowSpan="3">
                  <a:txBody>
                    <a:bodyPr/>
                    <a:lstStyle/>
                    <a:p>
                      <a:pPr algn="ctr"/>
                      <a:endParaRPr lang="zh-TW" altLang="en-US" sz="1200" b="0"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row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ADLaM Display" panose="02010000000000000000" pitchFamily="2" charset="0"/>
                          <a:cs typeface="ADLaM Display" panose="02010000000000000000" pitchFamily="2" charset="0"/>
                        </a:rPr>
                        <a:t>Type</a:t>
                      </a:r>
                      <a:endParaRPr kumimoji="0" lang="zh-TW" altLang="en-US" sz="1200" b="0" i="0" u="none" strike="noStrike" kern="1200" cap="none" spc="0" normalizeH="0" baseline="0" noProof="0" dirty="0">
                        <a:ln w="0"/>
                        <a:solidFill>
                          <a:prstClr val="black"/>
                        </a:solidFill>
                        <a:effectLst/>
                        <a:uLnTx/>
                        <a:uFillTx/>
                        <a:latin typeface="+mn-lt"/>
                        <a:ea typeface="+mn-ea"/>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Key Technology</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gridSpan="7">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Memory consumption</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40000"/>
                        <a:lumOff val="60000"/>
                        <a:alpha val="40000"/>
                      </a:schemeClr>
                    </a:solid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solidFill>
                      <a:schemeClr val="accent2">
                        <a:lumMod val="20000"/>
                        <a:lumOff val="80000"/>
                      </a:schemeClr>
                    </a:solid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endParaRPr lang="zh-TW" altLang="en-US"/>
                    </a:p>
                  </a:txBody>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60512">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Training</a:t>
                      </a:r>
                      <a:endPar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gridSpan="2">
                  <a:txBody>
                    <a:bodyPr/>
                    <a:lstStyle/>
                    <a:p>
                      <a:pPr algn="ctr"/>
                      <a:r>
                        <a:rPr kumimoji="0" lang="en-US" altLang="zh-TW" sz="1200" b="0" i="0" u="none" strike="noStrike" kern="1200" cap="none" spc="0" normalizeH="0" baseline="0" noProof="0" dirty="0">
                          <a:ln w="0"/>
                          <a:solidFill>
                            <a:schemeClr val="tx1"/>
                          </a:solidFill>
                          <a:effectLst/>
                          <a:uLnTx/>
                          <a:uFillTx/>
                          <a:latin typeface="+mn-lt"/>
                          <a:ea typeface="ADLaM Display" panose="02010000000000000000" pitchFamily="2" charset="0"/>
                          <a:cs typeface="ADLaM Display" panose="02010000000000000000" pitchFamily="2" charset="0"/>
                        </a:rPr>
                        <a:t>Core Technology</a:t>
                      </a:r>
                      <a:endParaRPr sz="12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Context</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pPr algn="ct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gridSpan="2">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FFN Layer</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hMerge="1">
                  <a:txBody>
                    <a:bodyPr/>
                    <a:lstStyle/>
                    <a:p>
                      <a:endParaRPr lang="zh-TW" altLang="en-US"/>
                    </a:p>
                  </a:txBody>
                  <a:tcPr>
                    <a:lnL w="12700" cmpd="sng">
                      <a:noFill/>
                    </a:ln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Para.</a:t>
                      </a:r>
                      <a:endParaRPr lang="zh-TW" altLang="en-US" sz="12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200" b="0" cap="none" spc="0" dirty="0">
                          <a:ln w="0"/>
                          <a:solidFill>
                            <a:schemeClr val="tx1"/>
                          </a:solidFill>
                          <a:effectLst/>
                          <a:latin typeface="+mn-lt"/>
                          <a:ea typeface="ADLaM Display" panose="02010000000000000000" pitchFamily="2" charset="0"/>
                          <a:cs typeface="ADLaM Display" panose="02010000000000000000" pitchFamily="2" charset="0"/>
                        </a:rPr>
                        <a:t>Requirement</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2581155207"/>
                  </a:ext>
                </a:extLst>
              </a:tr>
              <a:tr h="28174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Pre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Post/RL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gridSpan="2">
                  <a:txBody>
                    <a:bodyPr/>
                    <a:lstStyle/>
                    <a:p>
                      <a:pPr algn="ctr"/>
                      <a:r>
                        <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alpha val="40000"/>
                      </a:schemeClr>
                    </a:solidFill>
                  </a:tcPr>
                </a:tc>
                <a:tc hMerge="1">
                  <a:txBody>
                    <a:bodyPr/>
                    <a:lstStyle/>
                    <a:p>
                      <a:endParaRPr lang="zh-TW" altLang="en-US"/>
                    </a:p>
                  </a:txBody>
                  <a:tcPr/>
                </a:tc>
                <a:tc>
                  <a:txBody>
                    <a:bodyPr/>
                    <a:lstStyle/>
                    <a:p>
                      <a:pPr algn="ctr"/>
                      <a:r>
                        <a:rPr lang="en-US" sz="1000" b="0" dirty="0">
                          <a:solidFill>
                            <a:schemeClr val="tx1"/>
                          </a:solidFill>
                          <a:latin typeface="+mn-lt"/>
                          <a:ea typeface="ADLaM Display" panose="02010000000000000000" pitchFamily="2" charset="0"/>
                          <a:cs typeface="ADLaM Display" panose="02010000000000000000" pitchFamily="2" charset="0"/>
                        </a:rPr>
                        <a:t>Attention</a:t>
                      </a:r>
                      <a:endParaRPr sz="1000" b="0" dirty="0">
                        <a:solidFill>
                          <a:schemeClr val="tx1"/>
                        </a:solidFill>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Len</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cs typeface="ADLaM Display" panose="02010000000000000000" pitchFamily="2" charset="0"/>
                        </a:rPr>
                        <a:t>Dim</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Dense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r>
                        <a:rPr lang="en-US" altLang="zh-TW" sz="1000" b="0" cap="none" spc="0" dirty="0">
                          <a:ln w="0"/>
                          <a:solidFill>
                            <a:schemeClr val="tx1">
                              <a:lumMod val="75000"/>
                              <a:lumOff val="25000"/>
                            </a:schemeClr>
                          </a:solidFill>
                          <a:effectLst/>
                          <a:latin typeface="+mn-lt"/>
                          <a:ea typeface="ADLaM Display" panose="02010000000000000000" pitchFamily="2" charset="0"/>
                          <a:cs typeface="ADLaM Display" panose="02010000000000000000" pitchFamily="2" charset="0"/>
                        </a:rPr>
                        <a:t>MoE</a:t>
                      </a:r>
                      <a:endParaRPr lang="zh-TW" altLang="en-US" sz="1000" b="0" cap="none" spc="0" dirty="0">
                        <a:ln w="0"/>
                        <a:solidFill>
                          <a:schemeClr val="tx1">
                            <a:lumMod val="75000"/>
                            <a:lumOff val="25000"/>
                          </a:schemeClr>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zh-TW" altLang="en-US" sz="1000" b="0" cap="none" spc="0" dirty="0">
                        <a:ln w="0"/>
                        <a:solidFill>
                          <a:schemeClr val="tx1"/>
                        </a:solidFill>
                        <a:effectLst/>
                        <a:latin typeface="+mn-lt"/>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tc>
                  <a:txBody>
                    <a:bodyPr/>
                    <a:lstStyle/>
                    <a:p>
                      <a:pPr algn="ctr"/>
                      <a:endParaRPr lang="en-US" altLang="zh-TW" sz="1000" b="0" cap="none" spc="0" dirty="0">
                        <a:ln w="0"/>
                        <a:solidFill>
                          <a:schemeClr val="tx1"/>
                        </a:solidFill>
                        <a:effectLst/>
                        <a:latin typeface="+mn-lt"/>
                        <a:ea typeface="ADLaM Display" panose="02010000000000000000" pitchFamily="2" charset="0"/>
                        <a:cs typeface="ADLaM Display" panose="02010000000000000000" pitchFamily="2" charset="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6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alpha val="40000"/>
                      </a:schemeClr>
                    </a:solidFill>
                  </a:tcPr>
                </a:tc>
                <a:extLst>
                  <a:ext uri="{0D108BD9-81ED-4DB2-BD59-A6C34878D82A}">
                    <a16:rowId xmlns:a16="http://schemas.microsoft.com/office/drawing/2014/main" val="533882152"/>
                  </a:ext>
                </a:extLst>
              </a:tr>
              <a:tr h="463132">
                <a:tc>
                  <a:txBody>
                    <a:bodyPr/>
                    <a:lstStyle/>
                    <a:p>
                      <a:pPr algn="l"/>
                      <a:r>
                        <a:rPr lang="en-US" altLang="zh-TW" sz="1200" b="0" cap="none" spc="0" dirty="0">
                          <a:ln w="0"/>
                          <a:solidFill>
                            <a:schemeClr val="tx1"/>
                          </a:solidFill>
                          <a:effectLst/>
                        </a:rPr>
                        <a:t>V2</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V2.5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952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MLA</a:t>
                      </a:r>
                    </a:p>
                    <a:p>
                      <a:pPr algn="ctr"/>
                      <a:r>
                        <a:rPr lang="en-US" altLang="zh-TW" sz="1000" b="0" cap="none" spc="0" dirty="0">
                          <a:ln w="0"/>
                          <a:solidFill>
                            <a:schemeClr val="tx1">
                              <a:lumMod val="50000"/>
                              <a:lumOff val="50000"/>
                            </a:schemeClr>
                          </a:solidFill>
                          <a:effectLst/>
                        </a:rPr>
                        <a:t>(Multi-head Latent)</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err="1">
                          <a:ln w="0"/>
                          <a:solidFill>
                            <a:schemeClr val="tx1"/>
                          </a:solidFill>
                          <a:effectLst/>
                        </a:rPr>
                        <a:t>DSMoE</a:t>
                      </a:r>
                      <a:br>
                        <a:rPr lang="en-US" altLang="zh-TW" sz="1200" b="0" cap="none" spc="0" dirty="0">
                          <a:ln w="0"/>
                          <a:solidFill>
                            <a:schemeClr val="tx1"/>
                          </a:solidFill>
                          <a:effectLst/>
                        </a:rPr>
                      </a:br>
                      <a:r>
                        <a:rPr lang="en-US" altLang="zh-TW" sz="1000" b="0" cap="none" spc="0" dirty="0">
                          <a:ln w="0"/>
                          <a:solidFill>
                            <a:schemeClr val="tx1">
                              <a:lumMod val="50000"/>
                              <a:lumOff val="50000"/>
                            </a:schemeClr>
                          </a:solidFill>
                          <a:effectLst/>
                        </a:rPr>
                        <a:t>(Fine-Grained)</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32k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5120</a:t>
                      </a:r>
                      <a:br>
                        <a:rPr lang="en-US" altLang="zh-TW" sz="1000" b="0" cap="none" spc="0" dirty="0">
                          <a:ln w="0"/>
                          <a:solidFill>
                            <a:schemeClr val="tx1"/>
                          </a:solidFill>
                          <a:effectLst/>
                        </a:rPr>
                      </a:b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2~60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200" b="0" cap="none" spc="0" dirty="0">
                          <a:ln w="0"/>
                          <a:solidFill>
                            <a:schemeClr val="tx1"/>
                          </a:solidFill>
                          <a:effectLst/>
                        </a:rPr>
                        <a:t>21B / 236B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 PC</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6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0237">
                <a:tc>
                  <a:txBody>
                    <a:bodyPr/>
                    <a:lstStyle/>
                    <a:p>
                      <a:pPr algn="l"/>
                      <a:r>
                        <a:rPr lang="en-US" altLang="zh-TW" sz="1200" b="0" cap="none" spc="0" dirty="0">
                          <a:ln w="0"/>
                          <a:solidFill>
                            <a:schemeClr val="tx1"/>
                          </a:solidFill>
                          <a:effectLst/>
                        </a:rPr>
                        <a:t>V3</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AdamW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GRPO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DSA</a:t>
                      </a:r>
                    </a:p>
                    <a:p>
                      <a:pPr algn="ctr"/>
                      <a:r>
                        <a:rPr lang="en-US" altLang="zh-TW" sz="1000" b="0" cap="none" spc="0" dirty="0">
                          <a:ln w="0"/>
                          <a:solidFill>
                            <a:schemeClr val="tx1">
                              <a:lumMod val="50000"/>
                              <a:lumOff val="50000"/>
                            </a:schemeClr>
                          </a:solidFill>
                          <a:effectLst/>
                        </a:rPr>
                        <a:t>(DeepSeek Sparse)</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Dual</a:t>
                      </a:r>
                    </a:p>
                    <a:p>
                      <a:pPr algn="ctr"/>
                      <a:r>
                        <a:rPr lang="en-US" altLang="zh-TW" sz="1200" b="0" cap="none" spc="0" dirty="0">
                          <a:ln w="0"/>
                          <a:solidFill>
                            <a:schemeClr val="tx1"/>
                          </a:solidFill>
                          <a:effectLst/>
                        </a:rPr>
                        <a:t>Pipe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128k</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7168</a:t>
                      </a:r>
                    </a:p>
                    <a:p>
                      <a:pPr algn="ctr"/>
                      <a:r>
                        <a:rPr lang="en-US" altLang="zh-TW" sz="1000" b="0" cap="none" spc="0" dirty="0">
                          <a:ln w="0"/>
                          <a:solidFill>
                            <a:schemeClr val="tx1">
                              <a:lumMod val="50000"/>
                              <a:lumOff val="50000"/>
                            </a:schemeClr>
                          </a:solidFill>
                          <a:effectLst/>
                        </a:rPr>
                        <a:t>(512)</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1~3</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4~61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200" b="0" cap="none" spc="0" dirty="0">
                          <a:ln w="0"/>
                          <a:solidFill>
                            <a:schemeClr val="tx1"/>
                          </a:solidFill>
                          <a:effectLst/>
                        </a:rPr>
                        <a:t>37B</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a:t>
                      </a:r>
                      <a:r>
                        <a:rPr lang="zh-TW" altLang="en-US" sz="1200" b="0" cap="none" spc="0" dirty="0">
                          <a:ln w="0"/>
                          <a:solidFill>
                            <a:schemeClr val="tx1"/>
                          </a:solidFill>
                          <a:effectLst/>
                        </a:rPr>
                        <a:t> </a:t>
                      </a:r>
                      <a:r>
                        <a:rPr lang="en-US" altLang="zh-TW" sz="1200" b="0" cap="none" spc="0" dirty="0">
                          <a:ln w="0"/>
                          <a:solidFill>
                            <a:schemeClr val="tx1"/>
                          </a:solidFill>
                          <a:effectLst/>
                        </a:rPr>
                        <a:t>PC with</a:t>
                      </a:r>
                    </a:p>
                    <a:p>
                      <a:pPr algn="ctr"/>
                      <a:r>
                        <a:rPr lang="en-US" altLang="zh-TW" sz="1000" b="0" cap="none" spc="0" dirty="0">
                          <a:ln w="0"/>
                          <a:solidFill>
                            <a:schemeClr val="tx1">
                              <a:lumMod val="50000"/>
                              <a:lumOff val="50000"/>
                            </a:schemeClr>
                          </a:solidFill>
                          <a:effectLst/>
                        </a:rPr>
                        <a:t>(8 x A100 80G)</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16714">
                <a:tc rowSpan="2">
                  <a:txBody>
                    <a:bodyPr/>
                    <a:lstStyle/>
                    <a:p>
                      <a:pPr algn="l"/>
                      <a:r>
                        <a:rPr lang="en-US" altLang="zh-TW" sz="1200" b="0" cap="none" spc="0" dirty="0">
                          <a:ln w="0"/>
                          <a:solidFill>
                            <a:schemeClr val="tx1"/>
                          </a:solidFill>
                          <a:effectLst/>
                        </a:rPr>
                        <a:t>V4</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Muon</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rowSpan="2">
                  <a:txBody>
                    <a:bodyPr/>
                    <a:lstStyle/>
                    <a:p>
                      <a:pPr algn="ctr"/>
                      <a:r>
                        <a:rPr lang="en-US" sz="1200" dirty="0"/>
                        <a:t>GRPO</a:t>
                      </a: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Hybrid MHA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(SWA, HCA,</a:t>
                      </a:r>
                      <a:r>
                        <a:rPr kumimoji="0" lang="zh-TW" altLang="en-US" sz="1000" b="0" i="0" u="none" strike="noStrike" kern="1200" cap="none" spc="0" normalizeH="0" baseline="0" noProof="0" dirty="0">
                          <a:ln w="0"/>
                          <a:solidFill>
                            <a:schemeClr val="tx1">
                              <a:lumMod val="50000"/>
                              <a:lumOff val="50000"/>
                            </a:schemeClr>
                          </a:solidFill>
                          <a:effectLst/>
                          <a:uLnTx/>
                          <a:uFillTx/>
                          <a:latin typeface="+mn-lt"/>
                          <a:ea typeface="+mn-ea"/>
                          <a:cs typeface="+mn-cs"/>
                        </a:rPr>
                        <a:t> </a:t>
                      </a:r>
                      <a:r>
                        <a:rPr kumimoji="0" lang="en-US" altLang="zh-TW" sz="1000" b="0" i="0" u="none" strike="noStrike" kern="1200" cap="none" spc="0" normalizeH="0" baseline="0" noProof="0" dirty="0">
                          <a:ln w="0"/>
                          <a:solidFill>
                            <a:schemeClr val="tx1">
                              <a:lumMod val="50000"/>
                              <a:lumOff val="50000"/>
                            </a:schemeClr>
                          </a:solidFill>
                          <a:effectLst/>
                          <a:uLnTx/>
                          <a:uFillTx/>
                          <a:latin typeface="+mn-lt"/>
                          <a:ea typeface="+mn-ea"/>
                          <a:cs typeface="+mn-cs"/>
                        </a:rPr>
                        <a:t>CSA)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MHC</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1~2 HCA</a:t>
                      </a:r>
                    </a:p>
                    <a:p>
                      <a:pPr algn="ctr"/>
                      <a:r>
                        <a:rPr lang="en-US" altLang="zh-TW" sz="1000" b="0" cap="none" spc="0" dirty="0">
                          <a:ln w="0"/>
                          <a:solidFill>
                            <a:schemeClr val="tx1"/>
                          </a:solidFill>
                          <a:effectLst/>
                        </a:rPr>
                        <a:t>3~61 CSA/HCA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&lt;4096</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1~61</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200" b="0" cap="none" spc="0" dirty="0">
                          <a:ln w="0"/>
                          <a:solidFill>
                            <a:schemeClr val="tx1"/>
                          </a:solidFill>
                          <a:effectLst/>
                        </a:rPr>
                        <a:t>49B / 1.6T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AI clusters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18403">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vMerge="1">
                  <a:txBody>
                    <a:bodyPr/>
                    <a:lstStyle/>
                    <a:p>
                      <a:pPr algn="ctr"/>
                      <a:endParaRPr sz="1200"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65000"/>
                        </a:schemeClr>
                      </a:solidFill>
                      <a:prstDash val="solid"/>
                      <a:round/>
                      <a:headEnd type="none" w="med" len="med"/>
                      <a:tailEnd type="none" w="med" len="med"/>
                    </a:lnT>
                    <a:lnB w="12700" cap="flat" cmpd="sng" algn="ctr">
                      <a:solidFill>
                        <a:schemeClr val="bg1">
                          <a:lumMod val="65000"/>
                        </a:schemeClr>
                      </a:solidFill>
                      <a:prstDash val="solid"/>
                      <a:round/>
                      <a:headEnd type="none" w="med" len="med"/>
                      <a:tailEnd type="none" w="med" len="med"/>
                    </a:lnB>
                    <a:lnTlToBr w="12700" cmpd="sng">
                      <a:noFill/>
                      <a:prstDash val="solid"/>
                    </a:lnTlToBr>
                    <a:noFill/>
                  </a:tcPr>
                </a:tc>
                <a:tc v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1~2 SWA</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1"/>
                          </a:solidFill>
                          <a:effectLst/>
                          <a:uLnTx/>
                          <a:uFillTx/>
                          <a:latin typeface="+mn-lt"/>
                          <a:ea typeface="+mn-ea"/>
                          <a:cs typeface="+mn-cs"/>
                        </a:rPr>
                        <a:t>3~43 CSA/HCA</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1M</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&gt;8192</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000" b="0" cap="none" spc="0" dirty="0">
                          <a:ln w="0"/>
                          <a:solidFill>
                            <a:schemeClr val="tx1"/>
                          </a:solidFill>
                          <a:effectLst/>
                        </a:rPr>
                        <a:t>0</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000" b="0" cap="none" spc="0" dirty="0">
                          <a:ln w="0"/>
                          <a:solidFill>
                            <a:schemeClr val="tx1"/>
                          </a:solidFill>
                          <a:effectLst/>
                        </a:rPr>
                        <a:t>1~43</a:t>
                      </a:r>
                      <a:endParaRPr lang="zh-TW" altLang="en-US" sz="10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algn="ctr"/>
                      <a:r>
                        <a:rPr lang="en-US" altLang="zh-TW" sz="1200" b="0" cap="none" spc="0" dirty="0">
                          <a:ln w="0"/>
                          <a:solidFill>
                            <a:schemeClr val="tx1"/>
                          </a:solidFill>
                          <a:effectLst/>
                        </a:rPr>
                        <a:t>13B / 284B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a:t>
                      </a:r>
                      <a:r>
                        <a:rPr lang="zh-TW" altLang="en-US" sz="1200" b="0" cap="none" spc="0" dirty="0">
                          <a:ln w="0"/>
                          <a:solidFill>
                            <a:schemeClr val="tx1"/>
                          </a:solidFill>
                          <a:effectLst/>
                        </a:rPr>
                        <a:t> </a:t>
                      </a:r>
                      <a:r>
                        <a:rPr lang="en-US" altLang="zh-TW" sz="1200" b="0" cap="none" spc="0" dirty="0">
                          <a:ln w="0"/>
                          <a:solidFill>
                            <a:schemeClr val="tx1"/>
                          </a:solidFill>
                          <a:effectLst/>
                        </a:rPr>
                        <a:t>PC</a:t>
                      </a:r>
                    </a:p>
                    <a:p>
                      <a:pPr algn="ctr"/>
                      <a:r>
                        <a:rPr lang="en-US" altLang="zh-TW" sz="1000" b="0" cap="none" spc="0" dirty="0">
                          <a:ln w="0"/>
                          <a:solidFill>
                            <a:schemeClr val="tx1">
                              <a:lumMod val="50000"/>
                              <a:lumOff val="50000"/>
                            </a:schemeClr>
                          </a:solidFill>
                          <a:effectLst/>
                        </a:rPr>
                        <a:t>(8</a:t>
                      </a:r>
                      <a:r>
                        <a:rPr lang="zh-TW" altLang="en-US" sz="1000" b="0" cap="none" spc="0" dirty="0">
                          <a:ln w="0"/>
                          <a:solidFill>
                            <a:schemeClr val="tx1">
                              <a:lumMod val="50000"/>
                              <a:lumOff val="50000"/>
                            </a:schemeClr>
                          </a:solidFill>
                          <a:effectLst/>
                        </a:rPr>
                        <a:t> </a:t>
                      </a:r>
                      <a:r>
                        <a:rPr lang="en-US" altLang="zh-TW" sz="1000" b="0" cap="none" spc="0" dirty="0">
                          <a:ln w="0"/>
                          <a:solidFill>
                            <a:schemeClr val="tx1">
                              <a:lumMod val="50000"/>
                              <a:lumOff val="50000"/>
                            </a:schemeClr>
                          </a:solidFill>
                          <a:effectLst/>
                        </a:rPr>
                        <a:t>x H800)</a:t>
                      </a:r>
                      <a:endParaRPr lang="zh-TW" altLang="en-US" sz="1000" b="0" cap="none" spc="0" dirty="0">
                        <a:ln w="0"/>
                        <a:solidFill>
                          <a:schemeClr val="tx1">
                            <a:lumMod val="50000"/>
                            <a:lumOff val="50000"/>
                          </a:schemeClr>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solidFill>
                        <a:schemeClr val="tx1">
                          <a:lumMod val="50000"/>
                          <a:lumOff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10" name="文字方塊 9">
            <a:extLst>
              <a:ext uri="{FF2B5EF4-FFF2-40B4-BE49-F238E27FC236}">
                <a16:creationId xmlns:a16="http://schemas.microsoft.com/office/drawing/2014/main" id="{61C74F7E-DA9A-147B-7224-BD17D03F4F52}"/>
              </a:ext>
            </a:extLst>
          </p:cNvPr>
          <p:cNvSpPr txBox="1"/>
          <p:nvPr/>
        </p:nvSpPr>
        <p:spPr>
          <a:xfrm>
            <a:off x="3334392" y="6437561"/>
            <a:ext cx="668580" cy="234101"/>
          </a:xfrm>
          <a:prstGeom prst="rect">
            <a:avLst/>
          </a:prstGeom>
          <a:solidFill>
            <a:schemeClr val="bg1">
              <a:alpha val="90000"/>
            </a:schemeClr>
          </a:solidFill>
        </p:spPr>
        <p:txBody>
          <a:bodyPr wrap="none" lIns="0" tIns="0" rIns="0" bIns="0" anchor="ctr" anchorCtr="1">
            <a:noAutofit/>
          </a:bodyPr>
          <a:lstStyle/>
          <a:p>
            <a:pPr algn="ctr">
              <a:lnSpc>
                <a:spcPts val="1400"/>
              </a:lnSpc>
              <a:spcBef>
                <a:spcPts val="600"/>
              </a:spcBef>
              <a:spcAft>
                <a:spcPts val="600"/>
              </a:spcAft>
              <a:buNone/>
            </a:pPr>
            <a:r>
              <a:rPr lang="en-US" altLang="zh-TW" sz="1200" b="1" dirty="0"/>
              <a:t>Engram</a:t>
            </a:r>
            <a:endParaRPr lang="en-US" altLang="zh-TW" sz="1200" dirty="0"/>
          </a:p>
        </p:txBody>
      </p:sp>
    </p:spTree>
    <p:extLst>
      <p:ext uri="{BB962C8B-B14F-4D97-AF65-F5344CB8AC3E}">
        <p14:creationId xmlns:p14="http://schemas.microsoft.com/office/powerpoint/2010/main" val="21842132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02E03E-7F2E-4C1D-BDC3-5AD0B8F50ACC}"/>
            </a:ext>
          </a:extLst>
        </p:cNvPr>
        <p:cNvGrpSpPr/>
        <p:nvPr/>
      </p:nvGrpSpPr>
      <p:grpSpPr>
        <a:xfrm>
          <a:off x="0" y="0"/>
          <a:ext cx="0" cy="0"/>
          <a:chOff x="0" y="0"/>
          <a:chExt cx="0" cy="0"/>
        </a:xfrm>
      </p:grpSpPr>
      <p:graphicFrame>
        <p:nvGraphicFramePr>
          <p:cNvPr id="30" name="表格 29">
            <a:extLst>
              <a:ext uri="{FF2B5EF4-FFF2-40B4-BE49-F238E27FC236}">
                <a16:creationId xmlns:a16="http://schemas.microsoft.com/office/drawing/2014/main" id="{FDF88A93-8C0E-D76F-97D3-A2772646F624}"/>
              </a:ext>
            </a:extLst>
          </p:cNvPr>
          <p:cNvGraphicFramePr>
            <a:graphicFrameLocks noGrp="1"/>
          </p:cNvGraphicFramePr>
          <p:nvPr>
            <p:extLst>
              <p:ext uri="{D42A27DB-BD31-4B8C-83A1-F6EECF244321}">
                <p14:modId xmlns:p14="http://schemas.microsoft.com/office/powerpoint/2010/main" val="945139990"/>
              </p:ext>
            </p:extLst>
          </p:nvPr>
        </p:nvGraphicFramePr>
        <p:xfrm>
          <a:off x="539552" y="4278208"/>
          <a:ext cx="8208911" cy="2103120"/>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1573424">
                  <a:extLst>
                    <a:ext uri="{9D8B030D-6E8A-4147-A177-3AD203B41FA5}">
                      <a16:colId xmlns:a16="http://schemas.microsoft.com/office/drawing/2014/main" val="2094346223"/>
                    </a:ext>
                  </a:extLst>
                </a:gridCol>
                <a:gridCol w="822561">
                  <a:extLst>
                    <a:ext uri="{9D8B030D-6E8A-4147-A177-3AD203B41FA5}">
                      <a16:colId xmlns:a16="http://schemas.microsoft.com/office/drawing/2014/main" val="2211145501"/>
                    </a:ext>
                  </a:extLst>
                </a:gridCol>
                <a:gridCol w="1297705">
                  <a:extLst>
                    <a:ext uri="{9D8B030D-6E8A-4147-A177-3AD203B41FA5}">
                      <a16:colId xmlns:a16="http://schemas.microsoft.com/office/drawing/2014/main" val="3328686525"/>
                    </a:ext>
                  </a:extLst>
                </a:gridCol>
                <a:gridCol w="1068698">
                  <a:extLst>
                    <a:ext uri="{9D8B030D-6E8A-4147-A177-3AD203B41FA5}">
                      <a16:colId xmlns:a16="http://schemas.microsoft.com/office/drawing/2014/main" val="962102743"/>
                    </a:ext>
                  </a:extLst>
                </a:gridCol>
                <a:gridCol w="1286284">
                  <a:extLst>
                    <a:ext uri="{9D8B030D-6E8A-4147-A177-3AD203B41FA5}">
                      <a16:colId xmlns:a16="http://schemas.microsoft.com/office/drawing/2014/main" val="3731412889"/>
                    </a:ext>
                  </a:extLst>
                </a:gridCol>
                <a:gridCol w="633770">
                  <a:extLst>
                    <a:ext uri="{9D8B030D-6E8A-4147-A177-3AD203B41FA5}">
                      <a16:colId xmlns:a16="http://schemas.microsoft.com/office/drawing/2014/main" val="2130031722"/>
                    </a:ext>
                  </a:extLst>
                </a:gridCol>
                <a:gridCol w="446349">
                  <a:extLst>
                    <a:ext uri="{9D8B030D-6E8A-4147-A177-3AD203B41FA5}">
                      <a16:colId xmlns:a16="http://schemas.microsoft.com/office/drawing/2014/main" val="3832649198"/>
                    </a:ext>
                  </a:extLst>
                </a:gridCol>
              </a:tblGrid>
              <a:tr h="178887">
                <a:tc rowSpan="2">
                  <a:txBody>
                    <a:bodyPr/>
                    <a:lstStyle/>
                    <a:p>
                      <a:pPr algn="ctr"/>
                      <a:endParaRPr lang="zh-TW" altLang="en-US"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Description</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2">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rowSpan="2">
                  <a:txBody>
                    <a:bodyPr/>
                    <a:lstStyle/>
                    <a:p>
                      <a:pPr algn="ctr"/>
                      <a:r>
                        <a:rPr lang="en-US" altLang="zh-TW" sz="1200" b="0" cap="none" spc="0" dirty="0">
                          <a:ln w="0"/>
                          <a:solidFill>
                            <a:schemeClr val="tx1"/>
                          </a:solidFill>
                          <a:effectLst/>
                        </a:rPr>
                        <a:t>License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API Cost</a:t>
                      </a:r>
                      <a:r>
                        <a:rPr lang="en-US" altLang="zh-TW" sz="1200" b="0" cap="none" spc="0" dirty="0">
                          <a:ln w="0"/>
                          <a:solidFill>
                            <a:schemeClr val="accent1"/>
                          </a:solidFill>
                          <a:effectLst/>
                        </a:rPr>
                        <a:t> </a:t>
                      </a:r>
                      <a:r>
                        <a:rPr lang="en-US" altLang="zh-TW" sz="1000" b="0" cap="none" spc="0" dirty="0">
                          <a:ln w="0"/>
                          <a:solidFill>
                            <a:schemeClr val="accent1"/>
                          </a:solidFill>
                          <a:effectLst/>
                        </a:rPr>
                        <a:t>$/Token</a:t>
                      </a:r>
                      <a:endParaRPr lang="zh-TW" altLang="en-US" sz="1000" b="0" cap="none" spc="0" dirty="0">
                        <a:ln w="0"/>
                        <a:solidFill>
                          <a:schemeClr val="accent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8887">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HBM/VRAM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267223550"/>
                  </a:ext>
                </a:extLst>
              </a:tr>
              <a:tr h="357773">
                <a:tc>
                  <a:txBody>
                    <a:bodyPr/>
                    <a:lstStyle/>
                    <a:p>
                      <a:pPr algn="l"/>
                      <a:r>
                        <a:rPr lang="en-US" altLang="zh-TW" sz="1200" b="0" cap="none" spc="0" dirty="0">
                          <a:ln w="0"/>
                          <a:solidFill>
                            <a:schemeClr val="tx1"/>
                          </a:solidFill>
                          <a:effectLst/>
                        </a:rPr>
                        <a:t>Kimi K3</a:t>
                      </a:r>
                    </a:p>
                    <a:p>
                      <a:pPr algn="l"/>
                      <a:r>
                        <a:rPr lang="en-US" altLang="zh-TW" sz="1000" b="0" cap="none" spc="0" dirty="0">
                          <a:ln w="0"/>
                          <a:solidFill>
                            <a:schemeClr val="accent1"/>
                          </a:solidFill>
                          <a:effectLst/>
                        </a:rPr>
                        <a:t>Moonshot</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KDA, </a:t>
                      </a:r>
                      <a:r>
                        <a:rPr lang="en-US" altLang="zh-TW" sz="1200" b="0" u="sng" cap="none" spc="0" dirty="0">
                          <a:ln w="0"/>
                          <a:solidFill>
                            <a:schemeClr val="tx1"/>
                          </a:solidFill>
                          <a:effectLst/>
                        </a:rPr>
                        <a:t>Arena.ai</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Native Multimodal Agent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2.8T (104B)</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577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V4 Pro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DeepSeek</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r>
                        <a:rPr lang="en-US" altLang="zh-TW" sz="1200" b="0" cap="none" spc="0" dirty="0">
                          <a:ln w="0"/>
                          <a:solidFill>
                            <a:schemeClr val="tx1"/>
                          </a:solidFill>
                          <a:effectLst/>
                        </a:rPr>
                        <a:t>C/P,</a:t>
                      </a:r>
                      <a:r>
                        <a:rPr lang="zh-TW" altLang="en-US" sz="1200" b="0" cap="none" spc="0" dirty="0">
                          <a:ln w="0"/>
                          <a:solidFill>
                            <a:schemeClr val="tx1"/>
                          </a:solidFill>
                          <a:effectLst/>
                        </a:rPr>
                        <a:t> </a:t>
                      </a:r>
                      <a:r>
                        <a:rPr lang="en-US" altLang="zh-TW" sz="1200" b="0" u="sng" cap="none" spc="0" dirty="0">
                          <a:ln w="0"/>
                          <a:solidFill>
                            <a:schemeClr val="tx1"/>
                          </a:solidFill>
                          <a:effectLst/>
                        </a:rPr>
                        <a:t>STEM</a:t>
                      </a:r>
                      <a:r>
                        <a:rPr lang="en-US" altLang="zh-TW" sz="1200" b="0" cap="none" spc="0" dirty="0">
                          <a:ln w="0"/>
                          <a:solidFill>
                            <a:schemeClr val="tx1"/>
                          </a:solidFill>
                          <a:effectLst/>
                        </a:rPr>
                        <a:t>,</a:t>
                      </a:r>
                      <a:r>
                        <a:rPr lang="zh-TW" altLang="en-US" sz="1200" b="0" cap="none" spc="0" dirty="0">
                          <a:ln w="0"/>
                          <a:solidFill>
                            <a:schemeClr val="tx1"/>
                          </a:solidFill>
                          <a:effectLst/>
                        </a:rPr>
                        <a:t> </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1.6T (49B)</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10*H100</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80G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0.35~0.87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Claude Fable 5</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Anthropic</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3.15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59758637"/>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GPT-5.6 Sol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OpenAI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1.86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837431638"/>
                  </a:ext>
                </a:extLst>
              </a:tr>
              <a:tr h="3279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Gemini</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solidFill>
                          <a:effectLst/>
                          <a:uLnTx/>
                          <a:uFillTx/>
                          <a:latin typeface="+mn-lt"/>
                          <a:ea typeface="+mn-ea"/>
                          <a:cs typeface="+mn-cs"/>
                        </a:rPr>
                        <a:t>Google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l"/>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200M+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Cloud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Closed</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bg1">
                          <a:lumMod val="7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5058973"/>
                  </a:ext>
                </a:extLst>
              </a:tr>
            </a:tbl>
          </a:graphicData>
        </a:graphic>
      </p:graphicFrame>
      <p:graphicFrame>
        <p:nvGraphicFramePr>
          <p:cNvPr id="3" name="表格 2">
            <a:extLst>
              <a:ext uri="{FF2B5EF4-FFF2-40B4-BE49-F238E27FC236}">
                <a16:creationId xmlns:a16="http://schemas.microsoft.com/office/drawing/2014/main" id="{20CF8D57-F62C-C701-EBBE-20B8CF002C59}"/>
              </a:ext>
            </a:extLst>
          </p:cNvPr>
          <p:cNvGraphicFramePr>
            <a:graphicFrameLocks noGrp="1"/>
          </p:cNvGraphicFramePr>
          <p:nvPr>
            <p:extLst>
              <p:ext uri="{D42A27DB-BD31-4B8C-83A1-F6EECF244321}">
                <p14:modId xmlns:p14="http://schemas.microsoft.com/office/powerpoint/2010/main" val="2715771664"/>
              </p:ext>
            </p:extLst>
          </p:nvPr>
        </p:nvGraphicFramePr>
        <p:xfrm>
          <a:off x="7157852" y="2218649"/>
          <a:ext cx="1090401" cy="788874"/>
        </p:xfrm>
        <a:graphic>
          <a:graphicData uri="http://schemas.openxmlformats.org/drawingml/2006/table">
            <a:tbl>
              <a:tblPr firstRow="1" bandRow="1">
                <a:tableStyleId>{5C22544A-7EE6-4342-B048-85BDC9FD1C3A}</a:tableStyleId>
              </a:tblPr>
              <a:tblGrid>
                <a:gridCol w="1090401">
                  <a:extLst>
                    <a:ext uri="{9D8B030D-6E8A-4147-A177-3AD203B41FA5}">
                      <a16:colId xmlns:a16="http://schemas.microsoft.com/office/drawing/2014/main" val="4072639710"/>
                    </a:ext>
                  </a:extLst>
                </a:gridCol>
              </a:tblGrid>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
        <p:nvSpPr>
          <p:cNvPr id="4" name="標題 1">
            <a:extLst>
              <a:ext uri="{FF2B5EF4-FFF2-40B4-BE49-F238E27FC236}">
                <a16:creationId xmlns:a16="http://schemas.microsoft.com/office/drawing/2014/main" id="{05340D84-CC47-CC3E-B3DE-7A987EFDD6B9}"/>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6" name="圖片 5">
            <a:extLst>
              <a:ext uri="{FF2B5EF4-FFF2-40B4-BE49-F238E27FC236}">
                <a16:creationId xmlns:a16="http://schemas.microsoft.com/office/drawing/2014/main" id="{BA1A6188-F624-3C12-AEF8-4B9C71957B0D}"/>
              </a:ext>
            </a:extLst>
          </p:cNvPr>
          <p:cNvPicPr>
            <a:picLocks noChangeAspect="1"/>
          </p:cNvPicPr>
          <p:nvPr/>
        </p:nvPicPr>
        <p:blipFill>
          <a:blip r:embed="rId3"/>
          <a:stretch>
            <a:fillRect/>
          </a:stretch>
        </p:blipFill>
        <p:spPr>
          <a:xfrm>
            <a:off x="1691680" y="1265195"/>
            <a:ext cx="4901991" cy="6781255"/>
          </a:xfrm>
          <a:prstGeom prst="rect">
            <a:avLst/>
          </a:prstGeom>
          <a:solidFill>
            <a:schemeClr val="bg1"/>
          </a:solidFill>
        </p:spPr>
      </p:pic>
      <p:graphicFrame>
        <p:nvGraphicFramePr>
          <p:cNvPr id="9" name="表格 8">
            <a:extLst>
              <a:ext uri="{FF2B5EF4-FFF2-40B4-BE49-F238E27FC236}">
                <a16:creationId xmlns:a16="http://schemas.microsoft.com/office/drawing/2014/main" id="{D46908ED-3C05-75B7-C1BC-37F95757A753}"/>
              </a:ext>
            </a:extLst>
          </p:cNvPr>
          <p:cNvGraphicFramePr>
            <a:graphicFrameLocks noGrp="1"/>
          </p:cNvGraphicFramePr>
          <p:nvPr>
            <p:extLst>
              <p:ext uri="{D42A27DB-BD31-4B8C-83A1-F6EECF244321}">
                <p14:modId xmlns:p14="http://schemas.microsoft.com/office/powerpoint/2010/main" val="4236154462"/>
              </p:ext>
            </p:extLst>
          </p:nvPr>
        </p:nvGraphicFramePr>
        <p:xfrm>
          <a:off x="6474897" y="856984"/>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Tree>
    <p:extLst>
      <p:ext uri="{BB962C8B-B14F-4D97-AF65-F5344CB8AC3E}">
        <p14:creationId xmlns:p14="http://schemas.microsoft.com/office/powerpoint/2010/main" val="31562355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1D7DEF31-767A-9F8F-B0E4-8C2CE6788F28}"/>
              </a:ext>
            </a:extLst>
          </p:cNvPr>
          <p:cNvSpPr txBox="1"/>
          <p:nvPr/>
        </p:nvSpPr>
        <p:spPr>
          <a:xfrm>
            <a:off x="251520" y="260648"/>
            <a:ext cx="3384376" cy="4809009"/>
          </a:xfrm>
          <a:prstGeom prst="rect">
            <a:avLst/>
          </a:prstGeom>
          <a:noFill/>
        </p:spPr>
        <p:txBody>
          <a:bodyPr wrap="square">
            <a:spAutoFit/>
          </a:bodyPr>
          <a:lstStyle/>
          <a:p>
            <a:pPr marL="0" marR="0">
              <a:spcBef>
                <a:spcPts val="1800"/>
              </a:spcBef>
              <a:spcAft>
                <a:spcPts val="900"/>
              </a:spcAft>
              <a:buNone/>
            </a:pPr>
            <a:r>
              <a:rPr lang="zh-TW" altLang="zh-TW" sz="1100" b="1" u="none" strike="noStrike" dirty="0">
                <a:effectLst/>
                <a:latin typeface="微軟正黑體" panose="020B0604030504040204" pitchFamily="34" charset="-120"/>
                <a:ea typeface="微軟正黑體" panose="020B0604030504040204" pitchFamily="34" charset="-120"/>
              </a:rPr>
              <a:t>一、 解密路由激活函數：Sqrt(Softplus(·))</a:t>
            </a: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在傳統的混合專家模型（MoE）中，計算「Token 與專家的契合親和度」通常會使用 Sigmoid 或 Softmax。但 DeepSeek-V4 徹底將其替換為 </a:t>
            </a:r>
            <a:r>
              <a:rPr lang="zh-TW" altLang="zh-TW" sz="1100" b="1" u="none" strike="noStrike" dirty="0">
                <a:effectLst/>
                <a:latin typeface="微軟正黑體" panose="020B0604030504040204" pitchFamily="34" charset="-120"/>
                <a:ea typeface="微軟正黑體" panose="020B0604030504040204" pitchFamily="34" charset="-120"/>
              </a:rPr>
              <a:t>Sqrt(Softplus(·))</a:t>
            </a:r>
            <a:r>
              <a:rPr lang="zh-TW" altLang="zh-TW" sz="1100" b="0" u="none" strike="noStrike" dirty="0">
                <a:effectLst/>
                <a:latin typeface="微軟正黑體" panose="020B0604030504040204" pitchFamily="34" charset="-120"/>
                <a:ea typeface="微軟正黑體" panose="020B0604030504040204" pitchFamily="34" charset="-120"/>
              </a:rPr>
              <a:t>，其數學公式為： </a:t>
            </a:r>
            <a:endParaRPr lang="en-US"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en-US" altLang="zh-TW" sz="1100" dirty="0">
                <a:latin typeface="微軟正黑體" panose="020B0604030504040204" pitchFamily="34" charset="-120"/>
                <a:ea typeface="微軟正黑體" panose="020B0604030504040204" pitchFamily="34" charset="-120"/>
              </a:rPr>
              <a:t>Score(x) = Sqrt[ ln(1+e^x) ]</a:t>
            </a:r>
            <a:endParaRPr lang="zh-TW" altLang="zh-TW" sz="1100" b="0" u="none" strike="noStrike" dirty="0">
              <a:effectLst/>
              <a:latin typeface="微軟正黑體" panose="020B0604030504040204" pitchFamily="34" charset="-120"/>
              <a:ea typeface="微軟正黑體" panose="020B0604030504040204" pitchFamily="34" charset="-120"/>
            </a:endParaRPr>
          </a:p>
          <a:p>
            <a:pPr marL="0" marR="0">
              <a:spcBef>
                <a:spcPts val="900"/>
              </a:spcBef>
              <a:spcAft>
                <a:spcPts val="1200"/>
              </a:spcAft>
              <a:buNone/>
            </a:pPr>
            <a:r>
              <a:rPr lang="zh-TW" altLang="zh-TW" sz="1100" b="0" u="none" strike="noStrike" dirty="0">
                <a:effectLst/>
                <a:latin typeface="微軟正黑體" panose="020B0604030504040204" pitchFamily="34" charset="-120"/>
                <a:ea typeface="微軟正黑體" panose="020B0604030504040204" pitchFamily="34" charset="-120"/>
              </a:rPr>
              <a:t>這個改動帶來了三大關鍵優勢：</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獨立評分不互相拉扯</a:t>
            </a:r>
            <a:r>
              <a:rPr lang="zh-TW" altLang="zh-TW" sz="1100" b="0" u="none" strike="noStrike" dirty="0">
                <a:effectLst/>
                <a:latin typeface="微軟正黑體" panose="020B0604030504040204" pitchFamily="34" charset="-120"/>
                <a:ea typeface="微軟正黑體" panose="020B0604030504040204" pitchFamily="34" charset="-120"/>
              </a:rPr>
              <a:t>：與 Softmax 不同，每個專家的分數是單獨計算的，這意味著某一個專家分數暴增時，不會強行壓低其他潛在適用專家的機率。 </a:t>
            </a:r>
            <a:endParaRPr lang="en-US" altLang="zh-TW" sz="1100" dirty="0">
              <a:latin typeface="微軟正黑體" panose="020B0604030504040204" pitchFamily="34" charset="-120"/>
              <a:ea typeface="微軟正黑體" panose="020B0604030504040204" pitchFamily="34" charset="-120"/>
            </a:endParaRP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平滑緩解極端路由</a:t>
            </a:r>
            <a:r>
              <a:rPr lang="zh-TW" altLang="zh-TW" sz="1100" b="0" u="none" strike="noStrike" dirty="0">
                <a:effectLst/>
                <a:latin typeface="微軟正黑體" panose="020B0604030504040204" pitchFamily="34" charset="-120"/>
                <a:ea typeface="微軟正黑體" panose="020B0604030504040204" pitchFamily="34" charset="-120"/>
              </a:rPr>
              <a:t>：Softplus 能提供平滑的漸進激活，而外層的</a:t>
            </a:r>
            <a:r>
              <a:rPr lang="zh-TW" altLang="zh-TW" sz="1100" b="1" u="none" strike="noStrike" dirty="0">
                <a:effectLst/>
                <a:latin typeface="微軟正黑體" panose="020B0604030504040204" pitchFamily="34" charset="-120"/>
                <a:ea typeface="微軟正黑體" panose="020B0604030504040204" pitchFamily="34" charset="-120"/>
              </a:rPr>
              <a:t>平方根（Sqrt）操作能進一步壓縮分數的極端範圍</a:t>
            </a:r>
            <a:r>
              <a:rPr lang="zh-TW" altLang="zh-TW" sz="1100" b="0" u="none" strike="noStrike" dirty="0">
                <a:effectLst/>
                <a:latin typeface="微軟正黑體" panose="020B0604030504040204" pitchFamily="34" charset="-120"/>
                <a:ea typeface="微軟正黑體" panose="020B0604030504040204" pitchFamily="34" charset="-120"/>
              </a:rPr>
              <a:t>，防止少數專家被「過度熱捧」而導致其他專家失業。 </a:t>
            </a:r>
          </a:p>
          <a:p>
            <a:pPr marL="342900" marR="0" lvl="0" indent="-342900">
              <a:spcBef>
                <a:spcPts val="900"/>
              </a:spcBef>
              <a:spcAft>
                <a:spcPts val="900"/>
              </a:spcAft>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有利於天然負載均衡</a:t>
            </a:r>
            <a:r>
              <a:rPr lang="zh-TW" altLang="zh-TW" sz="1100" b="0" u="none" strike="noStrike" dirty="0">
                <a:effectLst/>
                <a:latin typeface="微軟正黑體" panose="020B0604030504040204" pitchFamily="34" charset="-120"/>
                <a:ea typeface="微軟正黑體" panose="020B0604030504040204" pitchFamily="34" charset="-120"/>
              </a:rPr>
              <a:t>：路由分布更為平緩，模型在不需要僵硬的「輔助損失（Auxiliary Loss）」強迫制約下，就能自主實現極佳的專家分配均衡。</a:t>
            </a:r>
          </a:p>
        </p:txBody>
      </p:sp>
      <p:pic>
        <p:nvPicPr>
          <p:cNvPr id="5" name="圖片 4">
            <a:extLst>
              <a:ext uri="{FF2B5EF4-FFF2-40B4-BE49-F238E27FC236}">
                <a16:creationId xmlns:a16="http://schemas.microsoft.com/office/drawing/2014/main" id="{24B15496-A7F0-B40B-64D7-2E69EEF5EED0}"/>
              </a:ext>
            </a:extLst>
          </p:cNvPr>
          <p:cNvPicPr>
            <a:picLocks noChangeAspect="1"/>
          </p:cNvPicPr>
          <p:nvPr/>
        </p:nvPicPr>
        <p:blipFill>
          <a:blip r:embed="rId3"/>
          <a:stretch>
            <a:fillRect/>
          </a:stretch>
        </p:blipFill>
        <p:spPr>
          <a:xfrm>
            <a:off x="216496" y="1412776"/>
            <a:ext cx="2429214" cy="581106"/>
          </a:xfrm>
          <a:prstGeom prst="rect">
            <a:avLst/>
          </a:prstGeom>
        </p:spPr>
      </p:pic>
      <p:sp>
        <p:nvSpPr>
          <p:cNvPr id="7" name="文字方塊 6">
            <a:extLst>
              <a:ext uri="{FF2B5EF4-FFF2-40B4-BE49-F238E27FC236}">
                <a16:creationId xmlns:a16="http://schemas.microsoft.com/office/drawing/2014/main" id="{5DACEE6A-7394-9489-F6F8-35DC8A5AC10E}"/>
              </a:ext>
            </a:extLst>
          </p:cNvPr>
          <p:cNvSpPr txBox="1"/>
          <p:nvPr/>
        </p:nvSpPr>
        <p:spPr>
          <a:xfrm>
            <a:off x="3995936" y="188640"/>
            <a:ext cx="4572000" cy="5613396"/>
          </a:xfrm>
          <a:prstGeom prst="rect">
            <a:avLst/>
          </a:prstGeom>
          <a:noFill/>
        </p:spPr>
        <p:txBody>
          <a:bodyPr wrap="square">
            <a:spAutoFit/>
          </a:bodyPr>
          <a:lstStyle/>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二、 什麼是 DeepSeek-V4 的「混合注意力架構」？</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在過去的 V2/V3 中，DeepSeek 著名的是 Multi-head Latent Attention (MLA) 技術。然而到了 V4，為了解決 100 萬 Token 帶來的恐怖 </a:t>
            </a:r>
            <a:r>
              <a:rPr lang="zh-TW" altLang="zh-TW" sz="1100" b="1" u="none" strike="noStrike" dirty="0">
                <a:effectLst/>
                <a:latin typeface="微軟正黑體" panose="020B0604030504040204" pitchFamily="34" charset="-120"/>
                <a:ea typeface="微軟正黑體" panose="020B0604030504040204" pitchFamily="34" charset="-120"/>
              </a:rPr>
              <a:t>KV Cache（鍵值快取）記憶體爆炸問題</a:t>
            </a:r>
            <a:r>
              <a:rPr lang="zh-TW" altLang="zh-TW" sz="1100" b="0" u="none" strike="noStrike" dirty="0">
                <a:effectLst/>
                <a:latin typeface="微軟正黑體" panose="020B0604030504040204" pitchFamily="34" charset="-120"/>
                <a:ea typeface="微軟正黑體" panose="020B0604030504040204" pitchFamily="34" charset="-120"/>
              </a:rPr>
              <a:t>，官方開發出了由 </a:t>
            </a:r>
            <a:r>
              <a:rPr lang="zh-TW" altLang="zh-TW" sz="1100" b="1" u="none" strike="noStrike" dirty="0">
                <a:effectLst/>
                <a:latin typeface="微軟正黑體" panose="020B0604030504040204" pitchFamily="34" charset="-120"/>
                <a:ea typeface="微軟正黑體" panose="020B0604030504040204" pitchFamily="34" charset="-120"/>
              </a:rPr>
              <a:t>CSA</a:t>
            </a:r>
            <a:r>
              <a:rPr lang="zh-TW" altLang="zh-TW" sz="1100" b="0" u="none" strike="noStrike" dirty="0">
                <a:effectLst/>
                <a:latin typeface="微軟正黑體" panose="020B0604030504040204" pitchFamily="34" charset="-120"/>
                <a:ea typeface="微軟正黑體" panose="020B0604030504040204" pitchFamily="34" charset="-120"/>
              </a:rPr>
              <a:t> 與 </a:t>
            </a:r>
            <a:r>
              <a:rPr lang="zh-TW" altLang="zh-TW" sz="1100" b="1" u="none" strike="noStrike" dirty="0">
                <a:effectLst/>
                <a:latin typeface="微軟正黑體" panose="020B0604030504040204" pitchFamily="34" charset="-120"/>
                <a:ea typeface="微軟正黑體" panose="020B0604030504040204" pitchFamily="34" charset="-120"/>
              </a:rPr>
              <a:t>HCA</a:t>
            </a:r>
            <a:r>
              <a:rPr lang="zh-TW" altLang="zh-TW" sz="1100" b="0" u="none" strike="noStrike" dirty="0">
                <a:effectLst/>
                <a:latin typeface="微軟正黑體" panose="020B0604030504040204" pitchFamily="34" charset="-120"/>
                <a:ea typeface="微軟正黑體" panose="020B0604030504040204" pitchFamily="34" charset="-120"/>
              </a:rPr>
              <a:t> 交替層疊（Interleaved）組成的</a:t>
            </a:r>
            <a:r>
              <a:rPr lang="zh-TW" altLang="zh-TW" sz="1100" b="1" u="none" strike="noStrike" dirty="0">
                <a:effectLst/>
                <a:latin typeface="微軟正黑體" panose="020B0604030504040204" pitchFamily="34" charset="-120"/>
                <a:ea typeface="微軟正黑體" panose="020B0604030504040204" pitchFamily="34" charset="-120"/>
              </a:rPr>
              <a:t>混合注意力架構</a:t>
            </a:r>
            <a:r>
              <a:rPr lang="zh-TW" altLang="zh-TW" sz="1100" b="0" u="none" strike="noStrike" dirty="0">
                <a:effectLst/>
                <a:latin typeface="微軟正黑體" panose="020B0604030504040204" pitchFamily="34" charset="-120"/>
                <a:ea typeface="微軟正黑體" panose="020B0604030504040204" pitchFamily="34" charset="-120"/>
              </a:rPr>
              <a:t>。 </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它拋棄了「每個 Token 都必須精確記錄 KV 狀態」的傳統教條，改採</a:t>
            </a:r>
            <a:r>
              <a:rPr lang="zh-TW" altLang="zh-TW" sz="1100" b="1" u="none" strike="noStrike" dirty="0">
                <a:effectLst/>
                <a:latin typeface="微軟正黑體" panose="020B0604030504040204" pitchFamily="34" charset="-120"/>
                <a:ea typeface="微軟正黑體" panose="020B0604030504040204" pitchFamily="34" charset="-120"/>
              </a:rPr>
              <a:t>分層儲存、按需訪問</a:t>
            </a:r>
            <a:r>
              <a:rPr lang="zh-TW" altLang="zh-TW" sz="1100" b="0" u="none" strike="noStrike" dirty="0">
                <a:effectLst/>
                <a:latin typeface="微軟正黑體" panose="020B0604030504040204" pitchFamily="34" charset="-120"/>
                <a:ea typeface="微軟正黑體" panose="020B0604030504040204" pitchFamily="34" charset="-120"/>
              </a:rPr>
              <a:t>的策略，成功將 </a:t>
            </a:r>
            <a:r>
              <a:rPr lang="zh-TW" altLang="zh-TW" sz="1100" b="1" u="none" strike="noStrike" dirty="0">
                <a:effectLst/>
                <a:latin typeface="微軟正黑體" panose="020B0604030504040204" pitchFamily="34" charset="-120"/>
                <a:ea typeface="微軟正黑體" panose="020B0604030504040204" pitchFamily="34" charset="-120"/>
              </a:rPr>
              <a:t>KV Cache 暴減 90%，單 Token 推理算力（FLOPs）降低 73%</a:t>
            </a:r>
            <a:r>
              <a:rPr lang="zh-TW" altLang="zh-TW" sz="1100" b="0" u="none" strike="noStrike" dirty="0">
                <a:effectLst/>
                <a:latin typeface="微軟正黑體" panose="020B0604030504040204" pitchFamily="34" charset="-120"/>
                <a:ea typeface="微軟正黑體" panose="020B0604030504040204" pitchFamily="34" charset="-120"/>
              </a:rPr>
              <a:t>。</a:t>
            </a:r>
          </a:p>
          <a:p>
            <a:pPr marR="0">
              <a:lnSpc>
                <a:spcPts val="1600"/>
              </a:lnSpc>
              <a:buNone/>
            </a:pPr>
            <a:r>
              <a:rPr lang="zh-TW" altLang="zh-TW" sz="1100" b="0" u="none" strike="noStrike" dirty="0">
                <a:effectLst/>
                <a:latin typeface="微軟正黑體" panose="020B0604030504040204" pitchFamily="34" charset="-120"/>
                <a:ea typeface="微軟正黑體" panose="020B0604030504040204" pitchFamily="34" charset="-120"/>
              </a:rPr>
              <a:t>這一架構由以下兩大機制交織而成：</a:t>
            </a:r>
            <a:endParaRPr lang="en-US"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endParaRPr lang="zh-TW" altLang="zh-TW" sz="1100" b="0" u="none" strike="noStrike" dirty="0">
              <a:effectLst/>
              <a:latin typeface="微軟正黑體" panose="020B0604030504040204" pitchFamily="34" charset="-120"/>
              <a:ea typeface="微軟正黑體" panose="020B0604030504040204" pitchFamily="34" charset="-120"/>
            </a:endParaRP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1. 壓縮稀疏注意力（Compressed Sparse Attention, CSA）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：將歷史脈絡每m</a:t>
            </a:r>
            <a:r>
              <a:rPr lang="en-US" altLang="zh-TW" sz="1100" b="0" u="none" strike="noStrike" dirty="0">
                <a:effectLst/>
                <a:latin typeface="微軟正黑體" panose="020B0604030504040204" pitchFamily="34" charset="-120"/>
                <a:ea typeface="微軟正黑體" panose="020B0604030504040204" pitchFamily="34" charset="-120"/>
              </a:rPr>
              <a:t>(4)</a:t>
            </a:r>
            <a:r>
              <a:rPr lang="zh-TW" altLang="zh-TW" sz="1100" b="0" u="none" strike="noStrike" dirty="0">
                <a:effectLst/>
                <a:latin typeface="微軟正黑體" panose="020B0604030504040204" pitchFamily="34" charset="-120"/>
                <a:ea typeface="微軟正黑體" panose="020B0604030504040204" pitchFamily="34" charset="-120"/>
              </a:rPr>
              <a:t>個Token的 KV 狀態，透過學習好的權重</a:t>
            </a:r>
            <a:r>
              <a:rPr lang="zh-TW" altLang="zh-TW" sz="1100" b="1" u="none" strike="noStrike" dirty="0">
                <a:effectLst/>
                <a:latin typeface="微軟正黑體" panose="020B0604030504040204" pitchFamily="34" charset="-120"/>
                <a:ea typeface="微軟正黑體" panose="020B0604030504040204" pitchFamily="34" charset="-120"/>
              </a:rPr>
              <a:t>數學壓縮</a:t>
            </a:r>
            <a:r>
              <a:rPr lang="zh-TW" altLang="zh-TW" sz="1100" b="0" u="none" strike="noStrike" dirty="0">
                <a:effectLst/>
                <a:latin typeface="微軟正黑體" panose="020B0604030504040204" pitchFamily="34" charset="-120"/>
                <a:ea typeface="微軟正黑體" panose="020B0604030504040204" pitchFamily="34" charset="-120"/>
              </a:rPr>
              <a:t>鎖定成一個合併表徵。接著，由 Lightning Indexer 快速動態檢索出最相關的 Top-K 個壓縮記憶條目。</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zh-TW" sz="1100" b="1" u="none" strike="noStrike" dirty="0">
                <a:effectLst/>
                <a:latin typeface="微軟正黑體" panose="020B0604030504040204" pitchFamily="34" charset="-120"/>
                <a:ea typeface="微軟正黑體" panose="020B0604030504040204" pitchFamily="34" charset="-120"/>
              </a:rPr>
              <a:t>中等解析度的檢索器</a:t>
            </a:r>
            <a:r>
              <a:rPr lang="en-US" altLang="zh-TW" sz="1100" b="1" u="none" strike="noStrike" dirty="0">
                <a:effectLst/>
                <a:latin typeface="微軟正黑體" panose="020B0604030504040204" pitchFamily="34" charset="-120"/>
                <a:ea typeface="微軟正黑體" panose="020B0604030504040204" pitchFamily="34" charset="-120"/>
              </a:rPr>
              <a:t>),</a:t>
            </a:r>
            <a:r>
              <a:rPr lang="zh-TW" altLang="en-US" sz="1100" b="1" u="none" strike="noStrike" dirty="0">
                <a:effectLst/>
                <a:latin typeface="微軟正黑體" panose="020B0604030504040204" pitchFamily="34" charset="-120"/>
                <a:ea typeface="微軟正黑體" panose="020B0604030504040204" pitchFamily="34" charset="-120"/>
              </a:rPr>
              <a:t> </a:t>
            </a:r>
            <a:r>
              <a:rPr lang="zh-TW" altLang="zh-TW" sz="1100" b="0" u="none" strike="noStrike" dirty="0">
                <a:effectLst/>
                <a:latin typeface="微軟正黑體" panose="020B0604030504040204" pitchFamily="34" charset="-120"/>
                <a:ea typeface="微軟正黑體" panose="020B0604030504040204" pitchFamily="34" charset="-120"/>
              </a:rPr>
              <a:t>不全量掃描百萬上下文，只找出跟當前問題最相關的歷史片段。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2. 重度壓縮注意力（Heavily Compressed Attention, HCA）</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：採用更激進的重度壓縮比（例如每 128 個 Token 壓縮成一條全局 KV 狀態），然後對這些高度壓縮的狀態進行</a:t>
            </a:r>
            <a:r>
              <a:rPr lang="zh-TW" altLang="zh-TW" sz="1100" b="1" u="none" strike="noStrike" dirty="0">
                <a:effectLst/>
                <a:latin typeface="微軟正黑體" panose="020B0604030504040204" pitchFamily="34" charset="-120"/>
                <a:ea typeface="微軟正黑體" panose="020B0604030504040204" pitchFamily="34" charset="-120"/>
              </a:rPr>
              <a:t>密集的全局注意力計算</a:t>
            </a:r>
            <a:r>
              <a:rPr lang="zh-TW" altLang="zh-TW" sz="1100" b="0" u="none" strike="noStrike" dirty="0">
                <a:effectLst/>
                <a:latin typeface="微軟正黑體" panose="020B0604030504040204" pitchFamily="34" charset="-120"/>
                <a:ea typeface="微軟正黑體" panose="020B0604030504040204" pitchFamily="34" charset="-120"/>
              </a:rPr>
              <a:t>。</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角色定位</a:t>
            </a:r>
            <a:r>
              <a:rPr lang="zh-TW" altLang="zh-TW" sz="1100" b="0" u="none" strike="noStrike" dirty="0">
                <a:effectLst/>
                <a:latin typeface="微軟正黑體" panose="020B0604030504040204" pitchFamily="34" charset="-120"/>
                <a:ea typeface="微軟正黑體" panose="020B0604030504040204" pitchFamily="34" charset="-120"/>
              </a:rPr>
              <a:t>：它就像是</a:t>
            </a:r>
            <a:r>
              <a:rPr lang="zh-TW" altLang="zh-TW" sz="1100" b="1" u="none" strike="noStrike" dirty="0">
                <a:effectLst/>
                <a:latin typeface="微軟正黑體" panose="020B0604030504040204" pitchFamily="34" charset="-120"/>
                <a:ea typeface="微軟正黑體" panose="020B0604030504040204" pitchFamily="34" charset="-120"/>
              </a:rPr>
              <a:t>「低解析度的全局老地圖」</a:t>
            </a:r>
            <a:r>
              <a:rPr lang="zh-TW" altLang="zh-TW" sz="1100" b="0" u="none" strike="noStrike" dirty="0">
                <a:effectLst/>
                <a:latin typeface="微軟正黑體" panose="020B0604030504040204" pitchFamily="34" charset="-120"/>
                <a:ea typeface="微軟正黑體" panose="020B0604030504040204" pitchFamily="34" charset="-120"/>
              </a:rPr>
              <a:t>。雖然細節被模糊了，但它確保模型不會因為稀疏檢索而徹底切碎整體文章結構，依然看得見故事的宏觀輪廓。 </a:t>
            </a:r>
          </a:p>
          <a:p>
            <a:pPr marR="0">
              <a:lnSpc>
                <a:spcPts val="1600"/>
              </a:lnSpc>
              <a:buNone/>
            </a:pPr>
            <a:r>
              <a:rPr lang="zh-TW" altLang="zh-TW" sz="1100" b="1" u="none" strike="noStrike" dirty="0">
                <a:effectLst/>
                <a:latin typeface="微軟正黑體" panose="020B0604030504040204" pitchFamily="34" charset="-120"/>
                <a:ea typeface="微軟正黑體" panose="020B0604030504040204" pitchFamily="34" charset="-120"/>
              </a:rPr>
              <a:t>3. 滑動窗口（Sliding Window）</a:t>
            </a:r>
          </a:p>
          <a:p>
            <a:pPr marR="0" lvl="0" indent="-342900">
              <a:lnSpc>
                <a:spcPts val="1600"/>
              </a:lnSpc>
              <a:buFont typeface="Arial" panose="020B0604020202020204" pitchFamily="34" charset="0"/>
              <a:buChar char="•"/>
            </a:pPr>
            <a:r>
              <a:rPr lang="zh-TW" altLang="zh-TW" sz="1100" b="1" u="none" strike="noStrike" dirty="0">
                <a:effectLst/>
                <a:latin typeface="微軟正黑體" panose="020B0604030504040204" pitchFamily="34" charset="-120"/>
                <a:ea typeface="微軟正黑體" panose="020B0604030504040204" pitchFamily="34" charset="-120"/>
              </a:rPr>
              <a:t>運作機制</a:t>
            </a:r>
            <a:r>
              <a:rPr lang="zh-TW" altLang="zh-TW" sz="1100" b="0" u="none" strike="noStrike" dirty="0">
                <a:effectLst/>
                <a:latin typeface="微軟正黑體" panose="020B0604030504040204" pitchFamily="34" charset="-120"/>
                <a:ea typeface="微軟正黑體" panose="020B0604030504040204" pitchFamily="34" charset="-120"/>
              </a:rPr>
              <a:t>：不論 CSA 還是 HCA，對於「當前最新、最鄰近」的上下文（例如最新的 128 個 Token），都依然保持 100% 完整且精確的精細注意力。</a:t>
            </a:r>
          </a:p>
        </p:txBody>
      </p:sp>
      <p:graphicFrame>
        <p:nvGraphicFramePr>
          <p:cNvPr id="6" name="表格 5">
            <a:extLst>
              <a:ext uri="{FF2B5EF4-FFF2-40B4-BE49-F238E27FC236}">
                <a16:creationId xmlns:a16="http://schemas.microsoft.com/office/drawing/2014/main" id="{73A2FB69-DDF4-9EAC-D7D6-632FE413F84A}"/>
              </a:ext>
            </a:extLst>
          </p:cNvPr>
          <p:cNvGraphicFramePr>
            <a:graphicFrameLocks noGrp="1"/>
          </p:cNvGraphicFramePr>
          <p:nvPr>
            <p:extLst>
              <p:ext uri="{D42A27DB-BD31-4B8C-83A1-F6EECF244321}">
                <p14:modId xmlns:p14="http://schemas.microsoft.com/office/powerpoint/2010/main" val="1317161879"/>
              </p:ext>
            </p:extLst>
          </p:nvPr>
        </p:nvGraphicFramePr>
        <p:xfrm>
          <a:off x="1691680" y="5661248"/>
          <a:ext cx="1944216" cy="788874"/>
        </p:xfrm>
        <a:graphic>
          <a:graphicData uri="http://schemas.openxmlformats.org/drawingml/2006/table">
            <a:tbl>
              <a:tblPr firstRow="1" bandRow="1">
                <a:tableStyleId>{5C22544A-7EE6-4342-B048-85BDC9FD1C3A}</a:tableStyleId>
              </a:tblPr>
              <a:tblGrid>
                <a:gridCol w="504056">
                  <a:extLst>
                    <a:ext uri="{9D8B030D-6E8A-4147-A177-3AD203B41FA5}">
                      <a16:colId xmlns:a16="http://schemas.microsoft.com/office/drawing/2014/main" val="4072639710"/>
                    </a:ext>
                  </a:extLst>
                </a:gridCol>
                <a:gridCol w="1440160">
                  <a:extLst>
                    <a:ext uri="{9D8B030D-6E8A-4147-A177-3AD203B41FA5}">
                      <a16:colId xmlns:a16="http://schemas.microsoft.com/office/drawing/2014/main" val="4106879781"/>
                    </a:ext>
                  </a:extLst>
                </a:gridCol>
              </a:tblGrid>
              <a:tr h="207498">
                <a:tc>
                  <a:txBody>
                    <a:bodyPr/>
                    <a:lstStyle/>
                    <a:p>
                      <a:pPr algn="l"/>
                      <a:r>
                        <a:rPr lang="en-US" altLang="zh-TW" sz="1200" b="1" cap="none" spc="0" dirty="0">
                          <a:ln w="0"/>
                          <a:solidFill>
                            <a:schemeClr val="tx1"/>
                          </a:solidFill>
                          <a:effectLst/>
                        </a:rPr>
                        <a:t>CSA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r>
                        <a:rPr lang="en-US" altLang="zh-TW" sz="1200" b="0" cap="none" spc="0" dirty="0" err="1">
                          <a:ln w="0"/>
                          <a:solidFill>
                            <a:schemeClr val="tx1"/>
                          </a:solidFill>
                          <a:effectLst/>
                        </a:rPr>
                        <a:t>xadsf</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2304923032"/>
                  </a:ext>
                </a:extLst>
              </a:tr>
              <a:tr h="207498">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algn="l"/>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639812515"/>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81341950"/>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953988682"/>
                  </a:ext>
                </a:extLst>
              </a:tr>
            </a:tbl>
          </a:graphicData>
        </a:graphic>
      </p:graphicFrame>
    </p:spTree>
    <p:extLst>
      <p:ext uri="{BB962C8B-B14F-4D97-AF65-F5344CB8AC3E}">
        <p14:creationId xmlns:p14="http://schemas.microsoft.com/office/powerpoint/2010/main" val="314539505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A16EEC-6C42-09B9-F859-79359689D7A7}"/>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2DCB68E9-8DA3-5172-2398-EEF1F9E21177}"/>
              </a:ext>
            </a:extLst>
          </p:cNvPr>
          <p:cNvSpPr txBox="1">
            <a:spLocks/>
          </p:cNvSpPr>
          <p:nvPr/>
        </p:nvSpPr>
        <p:spPr>
          <a:xfrm>
            <a:off x="-367479" y="1297753"/>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284B.</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7" name="標題 1">
            <a:extLst>
              <a:ext uri="{FF2B5EF4-FFF2-40B4-BE49-F238E27FC236}">
                <a16:creationId xmlns:a16="http://schemas.microsoft.com/office/drawing/2014/main" id="{C4591A5C-3125-91C4-210F-A6EA5099E439}"/>
              </a:ext>
            </a:extLst>
          </p:cNvPr>
          <p:cNvSpPr txBox="1">
            <a:spLocks/>
          </p:cNvSpPr>
          <p:nvPr/>
        </p:nvSpPr>
        <p:spPr>
          <a:xfrm>
            <a:off x="1792025" y="4367791"/>
            <a:ext cx="1102112" cy="576064"/>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 dimension of 4096</a:t>
            </a: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2" name="標題 1">
            <a:extLst>
              <a:ext uri="{FF2B5EF4-FFF2-40B4-BE49-F238E27FC236}">
                <a16:creationId xmlns:a16="http://schemas.microsoft.com/office/drawing/2014/main" id="{5CD8287F-FC84-6024-A406-47CC8DDD1F8C}"/>
              </a:ext>
            </a:extLst>
          </p:cNvPr>
          <p:cNvSpPr txBox="1">
            <a:spLocks/>
          </p:cNvSpPr>
          <p:nvPr/>
        </p:nvSpPr>
        <p:spPr>
          <a:xfrm>
            <a:off x="7144904" y="5723144"/>
            <a:ext cx="1224136" cy="116632"/>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Tokenized text</a:t>
            </a:r>
          </a:p>
        </p:txBody>
      </p:sp>
      <p:pic>
        <p:nvPicPr>
          <p:cNvPr id="3" name="圖片 2">
            <a:extLst>
              <a:ext uri="{FF2B5EF4-FFF2-40B4-BE49-F238E27FC236}">
                <a16:creationId xmlns:a16="http://schemas.microsoft.com/office/drawing/2014/main" id="{4847F2FE-A7D1-1C7A-9A41-E11D98AA70E1}"/>
              </a:ext>
            </a:extLst>
          </p:cNvPr>
          <p:cNvPicPr>
            <a:picLocks noChangeAspect="1"/>
          </p:cNvPicPr>
          <p:nvPr/>
        </p:nvPicPr>
        <p:blipFill>
          <a:blip r:embed="rId2"/>
          <a:stretch>
            <a:fillRect/>
          </a:stretch>
        </p:blipFill>
        <p:spPr>
          <a:xfrm>
            <a:off x="1691680" y="1265195"/>
            <a:ext cx="4901991" cy="6781255"/>
          </a:xfrm>
          <a:prstGeom prst="rect">
            <a:avLst/>
          </a:prstGeom>
          <a:solidFill>
            <a:schemeClr val="bg1"/>
          </a:solidFill>
        </p:spPr>
      </p:pic>
      <p:sp>
        <p:nvSpPr>
          <p:cNvPr id="4" name="標題 1">
            <a:extLst>
              <a:ext uri="{FF2B5EF4-FFF2-40B4-BE49-F238E27FC236}">
                <a16:creationId xmlns:a16="http://schemas.microsoft.com/office/drawing/2014/main" id="{301070FD-10B6-59FE-9BB5-16870A81BE8B}"/>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Attention</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7D23CA4D-74B5-B838-0C16-D0A3B68E32D7}"/>
              </a:ext>
            </a:extLst>
          </p:cNvPr>
          <p:cNvPicPr>
            <a:picLocks noChangeAspect="1"/>
          </p:cNvPicPr>
          <p:nvPr/>
        </p:nvPicPr>
        <p:blipFill>
          <a:blip r:embed="rId3"/>
          <a:stretch>
            <a:fillRect/>
          </a:stretch>
        </p:blipFill>
        <p:spPr>
          <a:xfrm>
            <a:off x="-684584" y="2182875"/>
            <a:ext cx="10051736" cy="5362487"/>
          </a:xfrm>
          <a:prstGeom prst="rect">
            <a:avLst/>
          </a:prstGeom>
        </p:spPr>
      </p:pic>
    </p:spTree>
    <p:extLst>
      <p:ext uri="{BB962C8B-B14F-4D97-AF65-F5344CB8AC3E}">
        <p14:creationId xmlns:p14="http://schemas.microsoft.com/office/powerpoint/2010/main" val="97747055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4D12A1-524B-7809-BD36-D84446C462E5}"/>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7EFE7C6C-3BA3-27DD-300E-DA8C0A20DC7A}"/>
              </a:ext>
            </a:extLst>
          </p:cNvPr>
          <p:cNvSpPr/>
          <p:nvPr/>
        </p:nvSpPr>
        <p:spPr>
          <a:xfrm>
            <a:off x="467826"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7" name="文字方塊 26">
            <a:extLst>
              <a:ext uri="{FF2B5EF4-FFF2-40B4-BE49-F238E27FC236}">
                <a16:creationId xmlns:a16="http://schemas.microsoft.com/office/drawing/2014/main" id="{1518336E-A416-D90F-A9D4-59E288FC7015}"/>
              </a:ext>
            </a:extLst>
          </p:cNvPr>
          <p:cNvSpPr txBox="1"/>
          <p:nvPr/>
        </p:nvSpPr>
        <p:spPr>
          <a:xfrm>
            <a:off x="535220"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6" name="標題 1">
            <a:extLst>
              <a:ext uri="{FF2B5EF4-FFF2-40B4-BE49-F238E27FC236}">
                <a16:creationId xmlns:a16="http://schemas.microsoft.com/office/drawing/2014/main" id="{4C96685B-48C1-5AE8-649A-AE7D8CEC7A46}"/>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 </a:t>
            </a:r>
            <a:r>
              <a:rPr lang="en-US" altLang="zh-TW" sz="2800" dirty="0" err="1">
                <a:latin typeface="Noto Sans HK" panose="020B0200000000000000" pitchFamily="34" charset="-120"/>
                <a:ea typeface="Noto Sans HK" panose="020B0200000000000000" pitchFamily="34" charset="-120"/>
                <a:cs typeface="Aharoni" panose="020F0502020204030204" pitchFamily="2" charset="-79"/>
              </a:rPr>
              <a:t>MoE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 Architecture</a:t>
            </a:r>
          </a:p>
          <a:p>
            <a:r>
              <a:rPr lang="en-US" altLang="zh-TW" sz="1600" dirty="0">
                <a:latin typeface="Noto Sans HK" panose="020B0200000000000000" pitchFamily="34" charset="-120"/>
                <a:ea typeface="Noto Sans HK" panose="020B0200000000000000" pitchFamily="34" charset="-120"/>
                <a:cs typeface="Aharoni" panose="020F0502020204030204" pitchFamily="2" charset="-79"/>
              </a:rPr>
              <a:t>HCA + CSA + SWA)</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59" name="矩形: 圓角 58">
            <a:extLst>
              <a:ext uri="{FF2B5EF4-FFF2-40B4-BE49-F238E27FC236}">
                <a16:creationId xmlns:a16="http://schemas.microsoft.com/office/drawing/2014/main" id="{D4492F42-9A48-7559-B09C-CD68BBB98673}"/>
              </a:ext>
            </a:extLst>
          </p:cNvPr>
          <p:cNvSpPr/>
          <p:nvPr/>
        </p:nvSpPr>
        <p:spPr>
          <a:xfrm>
            <a:off x="4371483"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HCA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1" name="矩形: 圓角 60">
            <a:extLst>
              <a:ext uri="{FF2B5EF4-FFF2-40B4-BE49-F238E27FC236}">
                <a16:creationId xmlns:a16="http://schemas.microsoft.com/office/drawing/2014/main" id="{E0FE9C50-9ED4-EEF1-DB11-313983973D80}"/>
              </a:ext>
            </a:extLst>
          </p:cNvPr>
          <p:cNvSpPr/>
          <p:nvPr/>
        </p:nvSpPr>
        <p:spPr>
          <a:xfrm>
            <a:off x="5025287" y="3971785"/>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CSA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rPr>
              <a:t>Sparse</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schemeClr val="tx1">
                    <a:lumMod val="50000"/>
                    <a:lumOff val="50000"/>
                  </a:schemeClr>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schemeClr val="tx1">
                  <a:lumMod val="50000"/>
                  <a:lumOff val="50000"/>
                </a:schemeClr>
              </a:solidFill>
              <a:effectLst/>
              <a:uLnTx/>
              <a:uFillTx/>
              <a:latin typeface="Calibri"/>
              <a:ea typeface="微軟正黑體" panose="020B0604030504040204" pitchFamily="34" charset="-120"/>
              <a:cs typeface="+mn-cs"/>
            </a:endParaRPr>
          </a:p>
        </p:txBody>
      </p:sp>
      <p:sp>
        <p:nvSpPr>
          <p:cNvPr id="63" name="矩形: 圓角 62">
            <a:extLst>
              <a:ext uri="{FF2B5EF4-FFF2-40B4-BE49-F238E27FC236}">
                <a16:creationId xmlns:a16="http://schemas.microsoft.com/office/drawing/2014/main" id="{D1CFA22C-FC0A-8BFB-7CFC-89120D4B60FA}"/>
              </a:ext>
            </a:extLst>
          </p:cNvPr>
          <p:cNvSpPr/>
          <p:nvPr/>
        </p:nvSpPr>
        <p:spPr>
          <a:xfrm>
            <a:off x="3717680" y="3964468"/>
            <a:ext cx="388290" cy="945571"/>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SWA</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Sliding </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Window</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65" name="矩形: 圓角 64">
            <a:extLst>
              <a:ext uri="{FF2B5EF4-FFF2-40B4-BE49-F238E27FC236}">
                <a16:creationId xmlns:a16="http://schemas.microsoft.com/office/drawing/2014/main" id="{4D656499-B9B9-165F-E9C0-82F2383D8243}"/>
              </a:ext>
            </a:extLst>
          </p:cNvPr>
          <p:cNvSpPr/>
          <p:nvPr/>
        </p:nvSpPr>
        <p:spPr>
          <a:xfrm>
            <a:off x="6394691" y="1121022"/>
            <a:ext cx="1085551" cy="416508"/>
          </a:xfrm>
          <a:prstGeom prst="roundRect">
            <a:avLst/>
          </a:prstGeom>
          <a:solidFill>
            <a:schemeClr val="bg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SLUI</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Heavily Compressed</a:t>
            </a:r>
          </a:p>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Attention</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 name="矩形: 圓角 1">
            <a:extLst>
              <a:ext uri="{FF2B5EF4-FFF2-40B4-BE49-F238E27FC236}">
                <a16:creationId xmlns:a16="http://schemas.microsoft.com/office/drawing/2014/main" id="{9E34D9C9-7AF3-64E8-B6D4-198AFA476069}"/>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9" name="文字方塊 8">
            <a:extLst>
              <a:ext uri="{FF2B5EF4-FFF2-40B4-BE49-F238E27FC236}">
                <a16:creationId xmlns:a16="http://schemas.microsoft.com/office/drawing/2014/main" id="{354432FE-9D7B-376D-0444-6C59BF1FD1A3}"/>
              </a:ext>
            </a:extLst>
          </p:cNvPr>
          <p:cNvSpPr txBox="1"/>
          <p:nvPr/>
        </p:nvSpPr>
        <p:spPr>
          <a:xfrm>
            <a:off x="535220"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11" name="直線單箭頭接點 10">
            <a:extLst>
              <a:ext uri="{FF2B5EF4-FFF2-40B4-BE49-F238E27FC236}">
                <a16:creationId xmlns:a16="http://schemas.microsoft.com/office/drawing/2014/main" id="{F48A2720-B141-FB41-BD97-3F355EAE3956}"/>
              </a:ext>
            </a:extLst>
          </p:cNvPr>
          <p:cNvCxnSpPr>
            <a:cxnSpLocks/>
          </p:cNvCxnSpPr>
          <p:nvPr/>
        </p:nvCxnSpPr>
        <p:spPr>
          <a:xfrm flipH="1" flipV="1">
            <a:off x="1894726"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 name="矩形: 圓角 11">
            <a:extLst>
              <a:ext uri="{FF2B5EF4-FFF2-40B4-BE49-F238E27FC236}">
                <a16:creationId xmlns:a16="http://schemas.microsoft.com/office/drawing/2014/main" id="{2A274430-BA32-BDBA-A446-8671AC7B71EA}"/>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3" name="直線單箭頭接點 12">
            <a:extLst>
              <a:ext uri="{FF2B5EF4-FFF2-40B4-BE49-F238E27FC236}">
                <a16:creationId xmlns:a16="http://schemas.microsoft.com/office/drawing/2014/main" id="{FC3B1CE7-C165-5379-2ED8-9927C6396A9B}"/>
              </a:ext>
            </a:extLst>
          </p:cNvPr>
          <p:cNvCxnSpPr>
            <a:cxnSpLocks/>
            <a:stCxn id="4" idx="0"/>
            <a:endCxn id="12"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4" name="矩形 13">
            <a:extLst>
              <a:ext uri="{FF2B5EF4-FFF2-40B4-BE49-F238E27FC236}">
                <a16:creationId xmlns:a16="http://schemas.microsoft.com/office/drawing/2014/main" id="{AFA516C7-44C4-1332-E4AD-0CA52CC66035}"/>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5" name="矩形: 圓角 14">
            <a:extLst>
              <a:ext uri="{FF2B5EF4-FFF2-40B4-BE49-F238E27FC236}">
                <a16:creationId xmlns:a16="http://schemas.microsoft.com/office/drawing/2014/main" id="{2335679A-9B2B-8055-0E8E-46782CEE3A87}"/>
              </a:ext>
            </a:extLst>
          </p:cNvPr>
          <p:cNvSpPr/>
          <p:nvPr/>
        </p:nvSpPr>
        <p:spPr>
          <a:xfrm>
            <a:off x="607229"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18" name="矩形: 圓角 17">
            <a:extLst>
              <a:ext uri="{FF2B5EF4-FFF2-40B4-BE49-F238E27FC236}">
                <a16:creationId xmlns:a16="http://schemas.microsoft.com/office/drawing/2014/main" id="{29EC67BF-89F1-105F-3B8B-A551D25FD336}"/>
              </a:ext>
            </a:extLst>
          </p:cNvPr>
          <p:cNvSpPr/>
          <p:nvPr/>
        </p:nvSpPr>
        <p:spPr>
          <a:xfrm>
            <a:off x="607229"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19" name="矩形 18">
            <a:extLst>
              <a:ext uri="{FF2B5EF4-FFF2-40B4-BE49-F238E27FC236}">
                <a16:creationId xmlns:a16="http://schemas.microsoft.com/office/drawing/2014/main" id="{90C2D88B-3674-95E2-8F7F-233223E9E978}"/>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21" name="矩形: 圓角 20">
            <a:extLst>
              <a:ext uri="{FF2B5EF4-FFF2-40B4-BE49-F238E27FC236}">
                <a16:creationId xmlns:a16="http://schemas.microsoft.com/office/drawing/2014/main" id="{1716F293-6CBB-7C5E-E9EC-7BA318FFE883}"/>
              </a:ext>
            </a:extLst>
          </p:cNvPr>
          <p:cNvSpPr/>
          <p:nvPr/>
        </p:nvSpPr>
        <p:spPr>
          <a:xfrm>
            <a:off x="617293"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0" name="文字方塊 19">
            <a:extLst>
              <a:ext uri="{FF2B5EF4-FFF2-40B4-BE49-F238E27FC236}">
                <a16:creationId xmlns:a16="http://schemas.microsoft.com/office/drawing/2014/main" id="{F09E3AB6-8232-731F-78BF-BEB213DCDE60}"/>
              </a:ext>
            </a:extLst>
          </p:cNvPr>
          <p:cNvSpPr txBox="1"/>
          <p:nvPr/>
        </p:nvSpPr>
        <p:spPr>
          <a:xfrm>
            <a:off x="3788259" y="1204136"/>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3" name="文字方塊 22">
            <a:extLst>
              <a:ext uri="{FF2B5EF4-FFF2-40B4-BE49-F238E27FC236}">
                <a16:creationId xmlns:a16="http://schemas.microsoft.com/office/drawing/2014/main" id="{5FB36156-6910-00FA-51C9-7CE40422925C}"/>
              </a:ext>
            </a:extLst>
          </p:cNvPr>
          <p:cNvSpPr txBox="1"/>
          <p:nvPr/>
        </p:nvSpPr>
        <p:spPr>
          <a:xfrm>
            <a:off x="4083128" y="1204136"/>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5" name="文字方塊 24">
            <a:extLst>
              <a:ext uri="{FF2B5EF4-FFF2-40B4-BE49-F238E27FC236}">
                <a16:creationId xmlns:a16="http://schemas.microsoft.com/office/drawing/2014/main" id="{D9F71498-2E52-A52D-5BE5-D5F583CD369F}"/>
              </a:ext>
            </a:extLst>
          </p:cNvPr>
          <p:cNvSpPr txBox="1"/>
          <p:nvPr/>
        </p:nvSpPr>
        <p:spPr>
          <a:xfrm>
            <a:off x="4960289" y="873253"/>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矩形: 圓角 28">
            <a:extLst>
              <a:ext uri="{FF2B5EF4-FFF2-40B4-BE49-F238E27FC236}">
                <a16:creationId xmlns:a16="http://schemas.microsoft.com/office/drawing/2014/main" id="{E8C71BCF-5A28-2127-74C1-6329D70233A1}"/>
              </a:ext>
            </a:extLst>
          </p:cNvPr>
          <p:cNvSpPr/>
          <p:nvPr/>
        </p:nvSpPr>
        <p:spPr>
          <a:xfrm>
            <a:off x="2832394" y="655248"/>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7" name="文字方塊 6">
            <a:extLst>
              <a:ext uri="{FF2B5EF4-FFF2-40B4-BE49-F238E27FC236}">
                <a16:creationId xmlns:a16="http://schemas.microsoft.com/office/drawing/2014/main" id="{3AA1FBC2-4C5D-A7B2-547E-ABD5383F7A9E}"/>
              </a:ext>
            </a:extLst>
          </p:cNvPr>
          <p:cNvSpPr txBox="1"/>
          <p:nvPr/>
        </p:nvSpPr>
        <p:spPr>
          <a:xfrm>
            <a:off x="535220"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31" name="矩形: 圓角 30">
            <a:extLst>
              <a:ext uri="{FF2B5EF4-FFF2-40B4-BE49-F238E27FC236}">
                <a16:creationId xmlns:a16="http://schemas.microsoft.com/office/drawing/2014/main" id="{17447780-11DA-9D99-E75A-F3F94ED81FAE}"/>
              </a:ext>
            </a:extLst>
          </p:cNvPr>
          <p:cNvSpPr/>
          <p:nvPr/>
        </p:nvSpPr>
        <p:spPr>
          <a:xfrm>
            <a:off x="1187624" y="2290763"/>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22" name="矩形: 圓角 21">
            <a:extLst>
              <a:ext uri="{FF2B5EF4-FFF2-40B4-BE49-F238E27FC236}">
                <a16:creationId xmlns:a16="http://schemas.microsoft.com/office/drawing/2014/main" id="{B575657B-6422-4836-4BD9-E9A5A22401DF}"/>
              </a:ext>
            </a:extLst>
          </p:cNvPr>
          <p:cNvSpPr/>
          <p:nvPr/>
        </p:nvSpPr>
        <p:spPr>
          <a:xfrm>
            <a:off x="2128038" y="1922626"/>
            <a:ext cx="1219522" cy="2795046"/>
          </a:xfrm>
          <a:prstGeom prst="roundRect">
            <a:avLst>
              <a:gd name="adj" fmla="val 10053"/>
            </a:avLst>
          </a:prstGeom>
          <a:solidFill>
            <a:schemeClr val="bg1">
              <a:lumMod val="95000"/>
              <a:alpha val="4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4" name="文字方塊 23">
            <a:extLst>
              <a:ext uri="{FF2B5EF4-FFF2-40B4-BE49-F238E27FC236}">
                <a16:creationId xmlns:a16="http://schemas.microsoft.com/office/drawing/2014/main" id="{EC76EEDB-820C-47F8-E6D6-B61AD0478603}"/>
              </a:ext>
            </a:extLst>
          </p:cNvPr>
          <p:cNvSpPr txBox="1"/>
          <p:nvPr/>
        </p:nvSpPr>
        <p:spPr>
          <a:xfrm>
            <a:off x="2195432" y="2002310"/>
            <a:ext cx="1086557" cy="895026"/>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DeepSeek </a:t>
            </a:r>
            <a:r>
              <a:rPr lang="en-US" altLang="zh-TW" sz="1000" b="1" dirty="0" err="1">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MoE</a:t>
            </a:r>
            <a:endPar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6" name="矩形: 圓角 25">
            <a:extLst>
              <a:ext uri="{FF2B5EF4-FFF2-40B4-BE49-F238E27FC236}">
                <a16:creationId xmlns:a16="http://schemas.microsoft.com/office/drawing/2014/main" id="{4A193FB5-77BF-9261-EE9C-AF49B58ACA5D}"/>
              </a:ext>
            </a:extLst>
          </p:cNvPr>
          <p:cNvSpPr/>
          <p:nvPr/>
        </p:nvSpPr>
        <p:spPr>
          <a:xfrm>
            <a:off x="2127756"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8" name="文字方塊 27">
            <a:extLst>
              <a:ext uri="{FF2B5EF4-FFF2-40B4-BE49-F238E27FC236}">
                <a16:creationId xmlns:a16="http://schemas.microsoft.com/office/drawing/2014/main" id="{D8D41319-3849-4C5C-B81B-F65F8A0E51BE}"/>
              </a:ext>
            </a:extLst>
          </p:cNvPr>
          <p:cNvSpPr txBox="1"/>
          <p:nvPr/>
        </p:nvSpPr>
        <p:spPr>
          <a:xfrm>
            <a:off x="2195432" y="3192840"/>
            <a:ext cx="1086557" cy="442008"/>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Hybrid Attention</a:t>
            </a:r>
          </a:p>
        </p:txBody>
      </p:sp>
      <p:cxnSp>
        <p:nvCxnSpPr>
          <p:cNvPr id="30" name="直線單箭頭接點 29">
            <a:extLst>
              <a:ext uri="{FF2B5EF4-FFF2-40B4-BE49-F238E27FC236}">
                <a16:creationId xmlns:a16="http://schemas.microsoft.com/office/drawing/2014/main" id="{DE1F102C-BA8F-E1D9-CA99-27D68435D0B0}"/>
              </a:ext>
            </a:extLst>
          </p:cNvPr>
          <p:cNvCxnSpPr>
            <a:cxnSpLocks/>
            <a:endCxn id="36" idx="2"/>
          </p:cNvCxnSpPr>
          <p:nvPr/>
        </p:nvCxnSpPr>
        <p:spPr>
          <a:xfrm flipH="1" flipV="1">
            <a:off x="2735493" y="4653136"/>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2" name="矩形: 圓角 31">
            <a:extLst>
              <a:ext uri="{FF2B5EF4-FFF2-40B4-BE49-F238E27FC236}">
                <a16:creationId xmlns:a16="http://schemas.microsoft.com/office/drawing/2014/main" id="{E7071F06-3B95-BBF0-8D31-403260190A10}"/>
              </a:ext>
            </a:extLst>
          </p:cNvPr>
          <p:cNvSpPr/>
          <p:nvPr/>
        </p:nvSpPr>
        <p:spPr>
          <a:xfrm>
            <a:off x="2127756"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33" name="直線單箭頭接點 32">
            <a:extLst>
              <a:ext uri="{FF2B5EF4-FFF2-40B4-BE49-F238E27FC236}">
                <a16:creationId xmlns:a16="http://schemas.microsoft.com/office/drawing/2014/main" id="{E8BA514B-DB76-CB7C-BABF-F30EA1823778}"/>
              </a:ext>
            </a:extLst>
          </p:cNvPr>
          <p:cNvCxnSpPr>
            <a:cxnSpLocks/>
            <a:stCxn id="22" idx="0"/>
            <a:endCxn id="32" idx="2"/>
          </p:cNvCxnSpPr>
          <p:nvPr/>
        </p:nvCxnSpPr>
        <p:spPr>
          <a:xfrm flipH="1" flipV="1">
            <a:off x="2737517"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35" name="矩形 34">
            <a:extLst>
              <a:ext uri="{FF2B5EF4-FFF2-40B4-BE49-F238E27FC236}">
                <a16:creationId xmlns:a16="http://schemas.microsoft.com/office/drawing/2014/main" id="{F0F6B94A-C1E9-D2D7-0479-3D31C5008924}"/>
              </a:ext>
            </a:extLst>
          </p:cNvPr>
          <p:cNvSpPr/>
          <p:nvPr/>
        </p:nvSpPr>
        <p:spPr>
          <a:xfrm>
            <a:off x="2267441"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6" name="矩形: 圓角 35">
            <a:extLst>
              <a:ext uri="{FF2B5EF4-FFF2-40B4-BE49-F238E27FC236}">
                <a16:creationId xmlns:a16="http://schemas.microsoft.com/office/drawing/2014/main" id="{10A57304-B977-6DDF-AB79-940F415DCD67}"/>
              </a:ext>
            </a:extLst>
          </p:cNvPr>
          <p:cNvSpPr/>
          <p:nvPr/>
        </p:nvSpPr>
        <p:spPr>
          <a:xfrm>
            <a:off x="2267441" y="4221088"/>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d</a:t>
            </a:r>
          </a:p>
        </p:txBody>
      </p:sp>
      <p:sp>
        <p:nvSpPr>
          <p:cNvPr id="37" name="矩形: 圓角 36">
            <a:extLst>
              <a:ext uri="{FF2B5EF4-FFF2-40B4-BE49-F238E27FC236}">
                <a16:creationId xmlns:a16="http://schemas.microsoft.com/office/drawing/2014/main" id="{BAA62BC7-8970-5EAC-91BE-AFA753C2EB9A}"/>
              </a:ext>
            </a:extLst>
          </p:cNvPr>
          <p:cNvSpPr/>
          <p:nvPr/>
        </p:nvSpPr>
        <p:spPr>
          <a:xfrm>
            <a:off x="2267441" y="2792566"/>
            <a:ext cx="936104" cy="194669"/>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endParaRPr kumimoji="0" lang="en-US" altLang="zh-TW" sz="120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8" name="矩形 37">
            <a:extLst>
              <a:ext uri="{FF2B5EF4-FFF2-40B4-BE49-F238E27FC236}">
                <a16:creationId xmlns:a16="http://schemas.microsoft.com/office/drawing/2014/main" id="{BE84C5AA-7941-045B-0FBC-E68694445AFC}"/>
              </a:ext>
            </a:extLst>
          </p:cNvPr>
          <p:cNvSpPr/>
          <p:nvPr/>
        </p:nvSpPr>
        <p:spPr>
          <a:xfrm>
            <a:off x="1943092"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39" name="矩形: 圓角 38">
            <a:extLst>
              <a:ext uri="{FF2B5EF4-FFF2-40B4-BE49-F238E27FC236}">
                <a16:creationId xmlns:a16="http://schemas.microsoft.com/office/drawing/2014/main" id="{0DA5E329-7389-18B3-3FF9-BFDB18807177}"/>
              </a:ext>
            </a:extLst>
          </p:cNvPr>
          <p:cNvSpPr/>
          <p:nvPr/>
        </p:nvSpPr>
        <p:spPr>
          <a:xfrm>
            <a:off x="2277505" y="2276872"/>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1" name="文字方塊 40">
            <a:extLst>
              <a:ext uri="{FF2B5EF4-FFF2-40B4-BE49-F238E27FC236}">
                <a16:creationId xmlns:a16="http://schemas.microsoft.com/office/drawing/2014/main" id="{381260DC-1D9A-8A2A-9143-702BB37EF0AC}"/>
              </a:ext>
            </a:extLst>
          </p:cNvPr>
          <p:cNvSpPr txBox="1"/>
          <p:nvPr/>
        </p:nvSpPr>
        <p:spPr>
          <a:xfrm>
            <a:off x="2195432" y="3711944"/>
            <a:ext cx="1086557" cy="432048"/>
          </a:xfrm>
          <a:prstGeom prst="rect">
            <a:avLst/>
          </a:prstGeom>
          <a:solidFill>
            <a:schemeClr val="accent1">
              <a:lumMod val="20000"/>
              <a:lumOff val="80000"/>
              <a:alpha val="6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Engram</a:t>
            </a:r>
          </a:p>
        </p:txBody>
      </p:sp>
      <p:sp>
        <p:nvSpPr>
          <p:cNvPr id="42" name="矩形: 圓角 41">
            <a:extLst>
              <a:ext uri="{FF2B5EF4-FFF2-40B4-BE49-F238E27FC236}">
                <a16:creationId xmlns:a16="http://schemas.microsoft.com/office/drawing/2014/main" id="{CB17FF31-7B4E-1DB9-4928-C09524069C4F}"/>
              </a:ext>
            </a:extLst>
          </p:cNvPr>
          <p:cNvSpPr/>
          <p:nvPr/>
        </p:nvSpPr>
        <p:spPr>
          <a:xfrm>
            <a:off x="2848865" y="2287360"/>
            <a:ext cx="516929" cy="436010"/>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Shared</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Export</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pic>
        <p:nvPicPr>
          <p:cNvPr id="5" name="圖片 4">
            <a:extLst>
              <a:ext uri="{FF2B5EF4-FFF2-40B4-BE49-F238E27FC236}">
                <a16:creationId xmlns:a16="http://schemas.microsoft.com/office/drawing/2014/main" id="{76885F05-0DA8-CE70-AA25-3ADBB1FDA917}"/>
              </a:ext>
            </a:extLst>
          </p:cNvPr>
          <p:cNvPicPr>
            <a:picLocks noChangeAspect="1"/>
          </p:cNvPicPr>
          <p:nvPr/>
        </p:nvPicPr>
        <p:blipFill>
          <a:blip r:embed="rId2"/>
          <a:stretch>
            <a:fillRect/>
          </a:stretch>
        </p:blipFill>
        <p:spPr>
          <a:xfrm>
            <a:off x="6046846" y="2833597"/>
            <a:ext cx="2549271" cy="1190806"/>
          </a:xfrm>
          <a:prstGeom prst="rect">
            <a:avLst/>
          </a:prstGeom>
        </p:spPr>
      </p:pic>
      <p:pic>
        <p:nvPicPr>
          <p:cNvPr id="10" name="圖片 9">
            <a:extLst>
              <a:ext uri="{FF2B5EF4-FFF2-40B4-BE49-F238E27FC236}">
                <a16:creationId xmlns:a16="http://schemas.microsoft.com/office/drawing/2014/main" id="{E535C448-D1CC-9527-76B8-C6DC51DEC44A}"/>
              </a:ext>
            </a:extLst>
          </p:cNvPr>
          <p:cNvPicPr>
            <a:picLocks noChangeAspect="1"/>
          </p:cNvPicPr>
          <p:nvPr/>
        </p:nvPicPr>
        <p:blipFill>
          <a:blip r:embed="rId3"/>
          <a:stretch>
            <a:fillRect/>
          </a:stretch>
        </p:blipFill>
        <p:spPr>
          <a:xfrm>
            <a:off x="6046846" y="1693716"/>
            <a:ext cx="2429214" cy="581106"/>
          </a:xfrm>
          <a:prstGeom prst="rect">
            <a:avLst/>
          </a:prstGeom>
        </p:spPr>
      </p:pic>
    </p:spTree>
    <p:extLst>
      <p:ext uri="{BB962C8B-B14F-4D97-AF65-F5344CB8AC3E}">
        <p14:creationId xmlns:p14="http://schemas.microsoft.com/office/powerpoint/2010/main" val="338694157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 name="矩形 55">
            <a:extLst>
              <a:ext uri="{FF2B5EF4-FFF2-40B4-BE49-F238E27FC236}">
                <a16:creationId xmlns:a16="http://schemas.microsoft.com/office/drawing/2014/main" id="{BB38A453-3D28-0325-2F31-2B4E4DAB387B}"/>
              </a:ext>
            </a:extLst>
          </p:cNvPr>
          <p:cNvSpPr/>
          <p:nvPr/>
        </p:nvSpPr>
        <p:spPr>
          <a:xfrm>
            <a:off x="1979712" y="5085185"/>
            <a:ext cx="465295" cy="825514"/>
          </a:xfrm>
          <a:prstGeom prst="rect">
            <a:avLst/>
          </a:prstGeom>
          <a:solidFill>
            <a:schemeClr val="bg1"/>
          </a:solidFill>
          <a:ln w="38100">
            <a:solidFill>
              <a:schemeClr val="accent2">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b="1" dirty="0">
                <a:solidFill>
                  <a:schemeClr val="bg1">
                    <a:lumMod val="75000"/>
                  </a:schemeClr>
                </a:solidFill>
                <a:ea typeface="微軟正黑體" panose="020B0604030504040204" pitchFamily="34" charset="-120"/>
              </a:rPr>
              <a:t>X</a:t>
            </a:r>
          </a:p>
        </p:txBody>
      </p:sp>
      <p:sp>
        <p:nvSpPr>
          <p:cNvPr id="2" name="矩形 1">
            <a:extLst>
              <a:ext uri="{FF2B5EF4-FFF2-40B4-BE49-F238E27FC236}">
                <a16:creationId xmlns:a16="http://schemas.microsoft.com/office/drawing/2014/main" id="{F8A10819-F5AF-ACA1-0022-E7314F64193D}"/>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3" name="矩形 2">
            <a:extLst>
              <a:ext uri="{FF2B5EF4-FFF2-40B4-BE49-F238E27FC236}">
                <a16:creationId xmlns:a16="http://schemas.microsoft.com/office/drawing/2014/main" id="{A7D842CA-B031-7BC9-9D27-3CEA5E3F9AA7}"/>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4" name="矩形 3">
            <a:extLst>
              <a:ext uri="{FF2B5EF4-FFF2-40B4-BE49-F238E27FC236}">
                <a16:creationId xmlns:a16="http://schemas.microsoft.com/office/drawing/2014/main" id="{D0BFBC04-025D-8C73-BE49-A627F4466BCB}"/>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5" name="文字方塊 4">
            <a:extLst>
              <a:ext uri="{FF2B5EF4-FFF2-40B4-BE49-F238E27FC236}">
                <a16:creationId xmlns:a16="http://schemas.microsoft.com/office/drawing/2014/main" id="{2CC5FF0F-E658-B872-6D5E-F29F0993AFDD}"/>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 name="矩形 5">
            <a:extLst>
              <a:ext uri="{FF2B5EF4-FFF2-40B4-BE49-F238E27FC236}">
                <a16:creationId xmlns:a16="http://schemas.microsoft.com/office/drawing/2014/main" id="{ABEE450B-382F-9ADE-4AEA-42F8E753641D}"/>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7" name="文字方塊 6">
            <a:extLst>
              <a:ext uri="{FF2B5EF4-FFF2-40B4-BE49-F238E27FC236}">
                <a16:creationId xmlns:a16="http://schemas.microsoft.com/office/drawing/2014/main" id="{7B124EE1-6EDF-2A18-A848-F4B235E38A56}"/>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8" name="矩形 7">
            <a:extLst>
              <a:ext uri="{FF2B5EF4-FFF2-40B4-BE49-F238E27FC236}">
                <a16:creationId xmlns:a16="http://schemas.microsoft.com/office/drawing/2014/main" id="{65A40987-9A4B-9628-363E-E43C9DF051DE}"/>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9" name="文字方塊 8">
            <a:extLst>
              <a:ext uri="{FF2B5EF4-FFF2-40B4-BE49-F238E27FC236}">
                <a16:creationId xmlns:a16="http://schemas.microsoft.com/office/drawing/2014/main" id="{726627E9-00F3-15C7-EF11-3FD71F12CF73}"/>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0" name="矩形 9">
            <a:extLst>
              <a:ext uri="{FF2B5EF4-FFF2-40B4-BE49-F238E27FC236}">
                <a16:creationId xmlns:a16="http://schemas.microsoft.com/office/drawing/2014/main" id="{6CD0255E-B788-5AB2-2870-9E64450DC63E}"/>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11" name="文字方塊 10">
            <a:extLst>
              <a:ext uri="{FF2B5EF4-FFF2-40B4-BE49-F238E27FC236}">
                <a16:creationId xmlns:a16="http://schemas.microsoft.com/office/drawing/2014/main" id="{72F722C5-137F-FBAD-F834-8D6A708F8BA7}"/>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graphicFrame>
        <p:nvGraphicFramePr>
          <p:cNvPr id="12" name="表格 11">
            <a:extLst>
              <a:ext uri="{FF2B5EF4-FFF2-40B4-BE49-F238E27FC236}">
                <a16:creationId xmlns:a16="http://schemas.microsoft.com/office/drawing/2014/main" id="{B6FA776E-1819-3370-4A74-9F50E3812556}"/>
              </a:ext>
            </a:extLst>
          </p:cNvPr>
          <p:cNvGraphicFramePr>
            <a:graphicFrameLocks noGrp="1"/>
          </p:cNvGraphicFramePr>
          <p:nvPr>
            <p:extLst>
              <p:ext uri="{D42A27DB-BD31-4B8C-83A1-F6EECF244321}">
                <p14:modId xmlns:p14="http://schemas.microsoft.com/office/powerpoint/2010/main" val="67680698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3" name="接點: 肘形 12">
            <a:extLst>
              <a:ext uri="{FF2B5EF4-FFF2-40B4-BE49-F238E27FC236}">
                <a16:creationId xmlns:a16="http://schemas.microsoft.com/office/drawing/2014/main" id="{60F43318-2182-1CD4-9726-499CB69A803D}"/>
              </a:ext>
            </a:extLst>
          </p:cNvPr>
          <p:cNvCxnSpPr>
            <a:cxnSpLocks/>
            <a:endCxn id="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cxnSp>
        <p:nvCxnSpPr>
          <p:cNvPr id="14" name="接點: 弧形 13">
            <a:extLst>
              <a:ext uri="{FF2B5EF4-FFF2-40B4-BE49-F238E27FC236}">
                <a16:creationId xmlns:a16="http://schemas.microsoft.com/office/drawing/2014/main" id="{8853950E-29C7-78C3-D378-6D0928B43713}"/>
              </a:ext>
            </a:extLst>
          </p:cNvPr>
          <p:cNvCxnSpPr>
            <a:cxnSpLocks/>
            <a:stCxn id="20" idx="2"/>
            <a:endCxn id="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5" name="接點: 弧形 14">
            <a:extLst>
              <a:ext uri="{FF2B5EF4-FFF2-40B4-BE49-F238E27FC236}">
                <a16:creationId xmlns:a16="http://schemas.microsoft.com/office/drawing/2014/main" id="{5710DACF-22E1-1B21-E4BE-C20EB2931F82}"/>
              </a:ext>
            </a:extLst>
          </p:cNvPr>
          <p:cNvCxnSpPr>
            <a:cxnSpLocks/>
            <a:stCxn id="20" idx="2"/>
            <a:endCxn id="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06562D03-BD19-56DC-1D5F-F830948D13D5}"/>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7" name="標題 1">
            <a:extLst>
              <a:ext uri="{FF2B5EF4-FFF2-40B4-BE49-F238E27FC236}">
                <a16:creationId xmlns:a16="http://schemas.microsoft.com/office/drawing/2014/main" id="{0C266A20-0E19-B9A0-E2FE-846970EAD969}"/>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8" name="文字方塊 17">
            <a:extLst>
              <a:ext uri="{FF2B5EF4-FFF2-40B4-BE49-F238E27FC236}">
                <a16:creationId xmlns:a16="http://schemas.microsoft.com/office/drawing/2014/main" id="{A0C37EF4-FA43-87A1-4753-71E61251FEE4}"/>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9" name="文字方塊 18">
            <a:extLst>
              <a:ext uri="{FF2B5EF4-FFF2-40B4-BE49-F238E27FC236}">
                <a16:creationId xmlns:a16="http://schemas.microsoft.com/office/drawing/2014/main" id="{27C4484E-373A-8FDF-9B40-2DC53B0A7E4E}"/>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20" name="文字方塊 19">
            <a:extLst>
              <a:ext uri="{FF2B5EF4-FFF2-40B4-BE49-F238E27FC236}">
                <a16:creationId xmlns:a16="http://schemas.microsoft.com/office/drawing/2014/main" id="{60CAF8F3-CCE3-B3DE-3877-42647427EB85}"/>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21" name="文字方塊 20">
            <a:extLst>
              <a:ext uri="{FF2B5EF4-FFF2-40B4-BE49-F238E27FC236}">
                <a16:creationId xmlns:a16="http://schemas.microsoft.com/office/drawing/2014/main" id="{99CEEB46-479A-2598-ADE5-FED8D570B687}"/>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22" name="文字方塊 21">
            <a:extLst>
              <a:ext uri="{FF2B5EF4-FFF2-40B4-BE49-F238E27FC236}">
                <a16:creationId xmlns:a16="http://schemas.microsoft.com/office/drawing/2014/main" id="{424D3889-6497-A3C9-E904-6EBA0EB3570F}"/>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23" name="文字方塊 22">
            <a:extLst>
              <a:ext uri="{FF2B5EF4-FFF2-40B4-BE49-F238E27FC236}">
                <a16:creationId xmlns:a16="http://schemas.microsoft.com/office/drawing/2014/main" id="{FC4F69D0-FA4F-C08C-F949-8F8E40C8E9C4}"/>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24" name="矩形 23">
            <a:extLst>
              <a:ext uri="{FF2B5EF4-FFF2-40B4-BE49-F238E27FC236}">
                <a16:creationId xmlns:a16="http://schemas.microsoft.com/office/drawing/2014/main" id="{723B206B-48AD-603F-CBBA-C1500D93B4EE}"/>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25" name="矩形 24">
            <a:extLst>
              <a:ext uri="{FF2B5EF4-FFF2-40B4-BE49-F238E27FC236}">
                <a16:creationId xmlns:a16="http://schemas.microsoft.com/office/drawing/2014/main" id="{E0EAB839-282D-1C77-20C5-298F58967F50}"/>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26" name="矩形 25">
            <a:extLst>
              <a:ext uri="{FF2B5EF4-FFF2-40B4-BE49-F238E27FC236}">
                <a16:creationId xmlns:a16="http://schemas.microsoft.com/office/drawing/2014/main" id="{60FA643A-0D8E-DD24-E66B-17638C4E908A}"/>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
        <p:nvSpPr>
          <p:cNvPr id="28" name="矩形 27">
            <a:extLst>
              <a:ext uri="{FF2B5EF4-FFF2-40B4-BE49-F238E27FC236}">
                <a16:creationId xmlns:a16="http://schemas.microsoft.com/office/drawing/2014/main" id="{8D681E31-3A79-48B0-2633-DB51B92F15F8}"/>
              </a:ext>
            </a:extLst>
          </p:cNvPr>
          <p:cNvSpPr/>
          <p:nvPr/>
        </p:nvSpPr>
        <p:spPr>
          <a:xfrm>
            <a:off x="2160291" y="3095083"/>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30" name="文字方塊 29">
            <a:extLst>
              <a:ext uri="{FF2B5EF4-FFF2-40B4-BE49-F238E27FC236}">
                <a16:creationId xmlns:a16="http://schemas.microsoft.com/office/drawing/2014/main" id="{1A888E01-DD7E-A6C8-8231-EBAABF1F15C4}"/>
              </a:ext>
            </a:extLst>
          </p:cNvPr>
          <p:cNvSpPr txBox="1"/>
          <p:nvPr/>
        </p:nvSpPr>
        <p:spPr>
          <a:xfrm>
            <a:off x="2476661" y="5757472"/>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32" name="矩形 31">
            <a:extLst>
              <a:ext uri="{FF2B5EF4-FFF2-40B4-BE49-F238E27FC236}">
                <a16:creationId xmlns:a16="http://schemas.microsoft.com/office/drawing/2014/main" id="{E1B7B873-7BC8-7C09-C2E3-FD22BB5D6199}"/>
              </a:ext>
            </a:extLst>
          </p:cNvPr>
          <p:cNvSpPr/>
          <p:nvPr/>
        </p:nvSpPr>
        <p:spPr>
          <a:xfrm>
            <a:off x="4139952" y="5781516"/>
            <a:ext cx="237234" cy="104777"/>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6</a:t>
            </a:r>
          </a:p>
        </p:txBody>
      </p:sp>
      <p:sp>
        <p:nvSpPr>
          <p:cNvPr id="36" name="文字方塊 35">
            <a:extLst>
              <a:ext uri="{FF2B5EF4-FFF2-40B4-BE49-F238E27FC236}">
                <a16:creationId xmlns:a16="http://schemas.microsoft.com/office/drawing/2014/main" id="{5A358190-96BD-1746-3803-B26C763BE1EF}"/>
              </a:ext>
            </a:extLst>
          </p:cNvPr>
          <p:cNvSpPr txBox="1"/>
          <p:nvPr/>
        </p:nvSpPr>
        <p:spPr>
          <a:xfrm>
            <a:off x="3289568" y="591041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1x16</a:t>
            </a:r>
          </a:p>
        </p:txBody>
      </p:sp>
      <p:sp>
        <p:nvSpPr>
          <p:cNvPr id="38" name="矩形 37">
            <a:extLst>
              <a:ext uri="{FF2B5EF4-FFF2-40B4-BE49-F238E27FC236}">
                <a16:creationId xmlns:a16="http://schemas.microsoft.com/office/drawing/2014/main" id="{297D67DD-DCF9-BEA0-4C40-CA834955B86E}"/>
              </a:ext>
            </a:extLst>
          </p:cNvPr>
          <p:cNvSpPr/>
          <p:nvPr/>
        </p:nvSpPr>
        <p:spPr>
          <a:xfrm>
            <a:off x="5146979" y="5517232"/>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40" name="文字方塊 39">
            <a:extLst>
              <a:ext uri="{FF2B5EF4-FFF2-40B4-BE49-F238E27FC236}">
                <a16:creationId xmlns:a16="http://schemas.microsoft.com/office/drawing/2014/main" id="{90D8FB53-3346-EE84-CDD8-2102CB97751D}"/>
              </a:ext>
            </a:extLst>
          </p:cNvPr>
          <p:cNvSpPr txBox="1"/>
          <p:nvPr/>
        </p:nvSpPr>
        <p:spPr>
          <a:xfrm>
            <a:off x="3618690" y="5612769"/>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42" name="文字方塊 41">
            <a:extLst>
              <a:ext uri="{FF2B5EF4-FFF2-40B4-BE49-F238E27FC236}">
                <a16:creationId xmlns:a16="http://schemas.microsoft.com/office/drawing/2014/main" id="{A8E2AD79-66FB-7241-A632-4BF58E4069B3}"/>
              </a:ext>
            </a:extLst>
          </p:cNvPr>
          <p:cNvSpPr txBox="1"/>
          <p:nvPr/>
        </p:nvSpPr>
        <p:spPr>
          <a:xfrm>
            <a:off x="2895777" y="5690024"/>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4" name="文字方塊 43">
            <a:extLst>
              <a:ext uri="{FF2B5EF4-FFF2-40B4-BE49-F238E27FC236}">
                <a16:creationId xmlns:a16="http://schemas.microsoft.com/office/drawing/2014/main" id="{D72E37A8-84E7-DA88-23B7-7C4800E673E3}"/>
              </a:ext>
            </a:extLst>
          </p:cNvPr>
          <p:cNvSpPr txBox="1"/>
          <p:nvPr/>
        </p:nvSpPr>
        <p:spPr>
          <a:xfrm>
            <a:off x="3696060" y="5718530"/>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46" name="文字方塊 45">
            <a:extLst>
              <a:ext uri="{FF2B5EF4-FFF2-40B4-BE49-F238E27FC236}">
                <a16:creationId xmlns:a16="http://schemas.microsoft.com/office/drawing/2014/main" id="{F021E952-3992-6F26-26E6-87AF63CCDDDC}"/>
              </a:ext>
            </a:extLst>
          </p:cNvPr>
          <p:cNvSpPr txBox="1"/>
          <p:nvPr/>
        </p:nvSpPr>
        <p:spPr>
          <a:xfrm>
            <a:off x="5085889" y="608384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48" name="文字方塊 47">
            <a:extLst>
              <a:ext uri="{FF2B5EF4-FFF2-40B4-BE49-F238E27FC236}">
                <a16:creationId xmlns:a16="http://schemas.microsoft.com/office/drawing/2014/main" id="{3744CD2F-0C22-6181-013E-4B5BB6DE0153}"/>
              </a:ext>
            </a:extLst>
          </p:cNvPr>
          <p:cNvSpPr txBox="1"/>
          <p:nvPr/>
        </p:nvSpPr>
        <p:spPr>
          <a:xfrm>
            <a:off x="2621457" y="609357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50" name="文字方塊 49">
            <a:extLst>
              <a:ext uri="{FF2B5EF4-FFF2-40B4-BE49-F238E27FC236}">
                <a16:creationId xmlns:a16="http://schemas.microsoft.com/office/drawing/2014/main" id="{E965FDCB-3A4F-B67B-0CFF-2F6FA8F81773}"/>
              </a:ext>
            </a:extLst>
          </p:cNvPr>
          <p:cNvSpPr txBox="1"/>
          <p:nvPr/>
        </p:nvSpPr>
        <p:spPr>
          <a:xfrm>
            <a:off x="2070980" y="5910698"/>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1xd</a:t>
            </a:r>
          </a:p>
        </p:txBody>
      </p:sp>
      <p:sp>
        <p:nvSpPr>
          <p:cNvPr id="52" name="文字方塊 51">
            <a:extLst>
              <a:ext uri="{FF2B5EF4-FFF2-40B4-BE49-F238E27FC236}">
                <a16:creationId xmlns:a16="http://schemas.microsoft.com/office/drawing/2014/main" id="{53085541-C475-E98B-10E6-F268F9B380F4}"/>
              </a:ext>
            </a:extLst>
          </p:cNvPr>
          <p:cNvSpPr txBox="1"/>
          <p:nvPr/>
        </p:nvSpPr>
        <p:spPr>
          <a:xfrm>
            <a:off x="2903792" y="5644960"/>
            <a:ext cx="382683" cy="145147"/>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54" name="矩形 53">
            <a:extLst>
              <a:ext uri="{FF2B5EF4-FFF2-40B4-BE49-F238E27FC236}">
                <a16:creationId xmlns:a16="http://schemas.microsoft.com/office/drawing/2014/main" id="{11238E18-5895-CBBF-2FBB-758622E96283}"/>
              </a:ext>
            </a:extLst>
          </p:cNvPr>
          <p:cNvSpPr/>
          <p:nvPr/>
        </p:nvSpPr>
        <p:spPr>
          <a:xfrm>
            <a:off x="2627783" y="5617141"/>
            <a:ext cx="222611" cy="467344"/>
          </a:xfrm>
          <a:prstGeom prst="rect">
            <a:avLst/>
          </a:prstGeom>
          <a:solidFill>
            <a:schemeClr val="accent6">
              <a:lumMod val="40000"/>
              <a:lumOff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34" name="矩形 33">
            <a:extLst>
              <a:ext uri="{FF2B5EF4-FFF2-40B4-BE49-F238E27FC236}">
                <a16:creationId xmlns:a16="http://schemas.microsoft.com/office/drawing/2014/main" id="{F0AF7A70-8CC9-C125-C92A-7461F4875FE6}"/>
              </a:ext>
            </a:extLst>
          </p:cNvPr>
          <p:cNvSpPr/>
          <p:nvPr/>
        </p:nvSpPr>
        <p:spPr>
          <a:xfrm>
            <a:off x="1979712" y="5780347"/>
            <a:ext cx="466030" cy="121967"/>
          </a:xfrm>
          <a:prstGeom prst="rect">
            <a:avLst/>
          </a:prstGeom>
          <a:solidFill>
            <a:schemeClr val="accent2">
              <a:lumMod val="75000"/>
              <a:alpha val="20000"/>
            </a:schemeClr>
          </a:solidFill>
          <a:ln w="25400">
            <a:solidFill>
              <a:schemeClr val="accent2">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58" name="矩形 57">
            <a:extLst>
              <a:ext uri="{FF2B5EF4-FFF2-40B4-BE49-F238E27FC236}">
                <a16:creationId xmlns:a16="http://schemas.microsoft.com/office/drawing/2014/main" id="{8815CA8D-7E68-95A6-276F-62636D2BC7EE}"/>
              </a:ext>
            </a:extLst>
          </p:cNvPr>
          <p:cNvSpPr/>
          <p:nvPr/>
        </p:nvSpPr>
        <p:spPr>
          <a:xfrm>
            <a:off x="3318052" y="5784269"/>
            <a:ext cx="215174" cy="104777"/>
          </a:xfrm>
          <a:prstGeom prst="rect">
            <a:avLst/>
          </a:prstGeom>
          <a:solidFill>
            <a:schemeClr val="accent6">
              <a:lumMod val="75000"/>
              <a:alpha val="20000"/>
            </a:schemeClr>
          </a:solidFill>
          <a:ln w="38100">
            <a:solidFill>
              <a:schemeClr val="accent2">
                <a:lumMod val="60000"/>
                <a:lumOff val="4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200"/>
              </a:lnSpc>
            </a:pPr>
            <a:r>
              <a:rPr lang="en-US" altLang="zh-TW" sz="1200" b="1" dirty="0">
                <a:solidFill>
                  <a:schemeClr val="tx1"/>
                </a:solidFill>
                <a:ea typeface="微軟正黑體" panose="020B0604030504040204" pitchFamily="34" charset="-120"/>
              </a:rPr>
              <a:t>S</a:t>
            </a:r>
          </a:p>
        </p:txBody>
      </p:sp>
      <p:pic>
        <p:nvPicPr>
          <p:cNvPr id="27" name="圖片 26">
            <a:extLst>
              <a:ext uri="{FF2B5EF4-FFF2-40B4-BE49-F238E27FC236}">
                <a16:creationId xmlns:a16="http://schemas.microsoft.com/office/drawing/2014/main" id="{A51DF9BD-7D31-8D66-7F4A-B7645A594777}"/>
              </a:ext>
            </a:extLst>
          </p:cNvPr>
          <p:cNvPicPr>
            <a:picLocks noChangeAspect="1"/>
          </p:cNvPicPr>
          <p:nvPr/>
        </p:nvPicPr>
        <p:blipFill>
          <a:blip r:embed="rId2"/>
          <a:stretch>
            <a:fillRect/>
          </a:stretch>
        </p:blipFill>
        <p:spPr>
          <a:xfrm>
            <a:off x="495743" y="441496"/>
            <a:ext cx="6858000" cy="4263716"/>
          </a:xfrm>
          <a:prstGeom prst="rect">
            <a:avLst/>
          </a:prstGeom>
        </p:spPr>
      </p:pic>
    </p:spTree>
    <p:extLst>
      <p:ext uri="{BB962C8B-B14F-4D97-AF65-F5344CB8AC3E}">
        <p14:creationId xmlns:p14="http://schemas.microsoft.com/office/powerpoint/2010/main" val="18564458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464BD-5194-0315-7A89-E8C884C6AB6A}"/>
            </a:ext>
          </a:extLst>
        </p:cNvPr>
        <p:cNvGrpSpPr/>
        <p:nvPr/>
      </p:nvGrpSpPr>
      <p:grpSpPr>
        <a:xfrm>
          <a:off x="0" y="0"/>
          <a:ext cx="0" cy="0"/>
          <a:chOff x="0" y="0"/>
          <a:chExt cx="0" cy="0"/>
        </a:xfrm>
      </p:grpSpPr>
      <p:sp>
        <p:nvSpPr>
          <p:cNvPr id="6" name="標題 1">
            <a:extLst>
              <a:ext uri="{FF2B5EF4-FFF2-40B4-BE49-F238E27FC236}">
                <a16:creationId xmlns:a16="http://schemas.microsoft.com/office/drawing/2014/main" id="{60940C7C-1A29-271B-CC3C-3E960225E0D0}"/>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 Pro/Flash</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Parameters is 1.6T.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8" name="標題 1">
            <a:extLst>
              <a:ext uri="{FF2B5EF4-FFF2-40B4-BE49-F238E27FC236}">
                <a16:creationId xmlns:a16="http://schemas.microsoft.com/office/drawing/2014/main" id="{397E2CE4-D75C-D567-8091-71DAC2642649}"/>
              </a:ext>
            </a:extLst>
          </p:cNvPr>
          <p:cNvSpPr txBox="1">
            <a:spLocks/>
          </p:cNvSpPr>
          <p:nvPr/>
        </p:nvSpPr>
        <p:spPr>
          <a:xfrm>
            <a:off x="5004048" y="116499"/>
            <a:ext cx="4107929" cy="144871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CSA = Cross-Attention (Sparse)</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HCA = Hybrid-Attention (Compressed)</a:t>
            </a: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mHC =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Mainfold</a:t>
            </a: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-Constrained Hyper-Connections</a:t>
            </a:r>
          </a:p>
          <a:p>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DS </a:t>
            </a:r>
            <a:r>
              <a:rPr lang="en-US" altLang="zh-TW" sz="1000" dirty="0" err="1">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MoE</a:t>
            </a:r>
            <a:endPar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Fine-Grained Expert Segmentation</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Auxiliary-Loss-Free Load Balancing</a:t>
            </a:r>
          </a:p>
          <a:p>
            <a:pPr marL="171450" indent="-171450">
              <a:buFontTx/>
              <a:buChar char="-"/>
            </a:pPr>
            <a:r>
              <a:rPr lang="en-US" altLang="zh-TW" sz="10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Shared Experts Isolation</a:t>
            </a:r>
          </a:p>
          <a:p>
            <a:pPr marL="171450" indent="-171450">
              <a:buFontTx/>
              <a:buChar char="-"/>
            </a:pPr>
            <a:endParaRPr lang="en-US" altLang="zh-TW" sz="10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CF985EB1-5D4F-5FCC-6DCC-380A04F3F017}"/>
              </a:ext>
            </a:extLst>
          </p:cNvPr>
          <p:cNvPicPr>
            <a:picLocks noChangeAspect="1"/>
          </p:cNvPicPr>
          <p:nvPr/>
        </p:nvPicPr>
        <p:blipFill>
          <a:blip r:embed="rId2"/>
          <a:stretch>
            <a:fillRect/>
          </a:stretch>
        </p:blipFill>
        <p:spPr>
          <a:xfrm>
            <a:off x="2111380" y="943893"/>
            <a:ext cx="2469258" cy="5321829"/>
          </a:xfrm>
          <a:prstGeom prst="rect">
            <a:avLst/>
          </a:prstGeom>
        </p:spPr>
      </p:pic>
      <p:pic>
        <p:nvPicPr>
          <p:cNvPr id="5" name="圖片 4">
            <a:extLst>
              <a:ext uri="{FF2B5EF4-FFF2-40B4-BE49-F238E27FC236}">
                <a16:creationId xmlns:a16="http://schemas.microsoft.com/office/drawing/2014/main" id="{B06F7ADF-4A96-EDBF-862F-863AC4125B88}"/>
              </a:ext>
            </a:extLst>
          </p:cNvPr>
          <p:cNvPicPr>
            <a:picLocks noChangeAspect="1"/>
          </p:cNvPicPr>
          <p:nvPr/>
        </p:nvPicPr>
        <p:blipFill>
          <a:blip r:embed="rId3"/>
          <a:stretch>
            <a:fillRect/>
          </a:stretch>
        </p:blipFill>
        <p:spPr>
          <a:xfrm>
            <a:off x="4864113" y="1916832"/>
            <a:ext cx="3215919" cy="3375953"/>
          </a:xfrm>
          <a:prstGeom prst="rect">
            <a:avLst/>
          </a:prstGeom>
        </p:spPr>
      </p:pic>
    </p:spTree>
    <p:extLst>
      <p:ext uri="{BB962C8B-B14F-4D97-AF65-F5344CB8AC3E}">
        <p14:creationId xmlns:p14="http://schemas.microsoft.com/office/powerpoint/2010/main" val="370877343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BFF128-321E-5C30-B370-FCDDA7245B18}"/>
            </a:ext>
          </a:extLst>
        </p:cNvPr>
        <p:cNvGrpSpPr/>
        <p:nvPr/>
      </p:nvGrpSpPr>
      <p:grpSpPr>
        <a:xfrm>
          <a:off x="0" y="0"/>
          <a:ext cx="0" cy="0"/>
          <a:chOff x="0" y="0"/>
          <a:chExt cx="0" cy="0"/>
        </a:xfrm>
      </p:grpSpPr>
      <p:sp>
        <p:nvSpPr>
          <p:cNvPr id="170" name="矩形: 圓角 169">
            <a:extLst>
              <a:ext uri="{FF2B5EF4-FFF2-40B4-BE49-F238E27FC236}">
                <a16:creationId xmlns:a16="http://schemas.microsoft.com/office/drawing/2014/main" id="{585A6862-1BD1-5468-95ED-66DAAA0CADEA}"/>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2900FC30-DA63-EEEA-6468-DCABA47C35C3}"/>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EE036A56-D3B9-BA00-1B5F-933BBC025591}"/>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0287AC9D-CF1C-E982-7DA3-0EB24C210137}"/>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8916746C-AE20-3DA7-4C4C-C15F24F24A4A}"/>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725C0A5E-FC09-98EE-5215-72074A893203}"/>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9" name="矩形: 圓角 18">
            <a:extLst>
              <a:ext uri="{FF2B5EF4-FFF2-40B4-BE49-F238E27FC236}">
                <a16:creationId xmlns:a16="http://schemas.microsoft.com/office/drawing/2014/main" id="{55591602-8B8C-3AFE-5774-030C5AD14364}"/>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99748040-B74F-8C9F-410D-0764CB965FC2}"/>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3C2E7FC2-3F14-86EB-B361-B54E5E74D9C7}"/>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MLA</a:t>
            </a:r>
          </a:p>
        </p:txBody>
      </p:sp>
      <p:cxnSp>
        <p:nvCxnSpPr>
          <p:cNvPr id="23" name="直線單箭頭接點 22">
            <a:extLst>
              <a:ext uri="{FF2B5EF4-FFF2-40B4-BE49-F238E27FC236}">
                <a16:creationId xmlns:a16="http://schemas.microsoft.com/office/drawing/2014/main" id="{67490BC5-9494-E8A8-3D36-562B7338B61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6BD2F7A-E8BC-F753-6C1E-D153DC182D32}"/>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A37680C0-5523-DB1C-FF62-260EC8CBC5E0}"/>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D06E7E9A-D338-F203-F404-0131A070A6E9}"/>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0184A23-3710-2816-6164-DC3354C2C1B0}"/>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235F7005-FAD9-D837-ADA8-DB421911E493}"/>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AB879A8F-CA3C-305E-BF3E-1D73137507F2}"/>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944BDAFC-3502-CB3C-E397-50F635AD29C7}"/>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90E5853-F222-0C2E-0BC5-C35D97B16DB2}"/>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E73A6B5A-070E-6C48-0415-D8D3A0D060B6}"/>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7EC2506-3B10-D847-4047-DEF10FA85863}"/>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75C33A86-7837-D2CC-E40E-046EBDE4827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CA4082C9-E5D4-F3F8-A7C6-7D94C97CD7E2}"/>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09220340-997F-BCEB-F888-401078B5233C}"/>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1813AF4A-7BA8-2782-BAF6-8C906B25ADA3}"/>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B978F426-9B27-D209-12A2-7244731E3E8C}"/>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54D9FE03-DA3A-7B22-12C0-F0CF495AAF7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C855BB6E-A7CA-F9A6-3804-2D03A63331BF}"/>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8341776D-C4B2-FB24-47F8-AEDBFF6B8BAD}"/>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B127A9DD-8FE3-3E97-DC51-2017300EB766}"/>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E8236D44-E788-7884-CB7F-7964E41D58A7}"/>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B4CAB320-BDEC-C2AA-F436-9F1884A89520}"/>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22E3C78D-C200-3BD2-196E-72559D9427C4}"/>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1048</a:t>
            </a:r>
          </a:p>
        </p:txBody>
      </p:sp>
      <p:sp>
        <p:nvSpPr>
          <p:cNvPr id="179" name="矩形: 圓角 178">
            <a:extLst>
              <a:ext uri="{FF2B5EF4-FFF2-40B4-BE49-F238E27FC236}">
                <a16:creationId xmlns:a16="http://schemas.microsoft.com/office/drawing/2014/main" id="{63C06AC4-64D1-B55E-4148-67DB01FA127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819D04C-6608-2C50-F8C2-C455CE59B835}"/>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43" name="矩形: 圓角 242">
            <a:extLst>
              <a:ext uri="{FF2B5EF4-FFF2-40B4-BE49-F238E27FC236}">
                <a16:creationId xmlns:a16="http://schemas.microsoft.com/office/drawing/2014/main" id="{41BFEAF1-95B0-3550-8FEA-30B254B9284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273489FC-ECA0-0753-047B-79B4616DDCCC}"/>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8222C8ED-A1B0-C08B-2EB5-B84C32F06C26}"/>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291E65D5-EE8D-2E44-3AC5-2BFE5281B550}"/>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AB596806-C22D-1ADA-4139-8486A10BAD5D}"/>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A8387998-1975-8674-4EBF-72F297E07577}"/>
              </a:ext>
            </a:extLst>
          </p:cNvPr>
          <p:cNvCxnSpPr>
            <a:cxnSpLocks/>
            <a:stCxn id="247" idx="1"/>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C6307A26-F189-AB3D-6F74-783BF95C7F10}"/>
              </a:ext>
            </a:extLst>
          </p:cNvPr>
          <p:cNvCxnSpPr>
            <a:cxnSpLocks/>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4D35A4DB-5505-3BA7-AA9B-75F94A875DD7}"/>
              </a:ext>
            </a:extLst>
          </p:cNvPr>
          <p:cNvSpPr txBox="1"/>
          <p:nvPr/>
        </p:nvSpPr>
        <p:spPr>
          <a:xfrm>
            <a:off x="5652120" y="5069655"/>
            <a:ext cx="899391" cy="209704"/>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 Expert</a:t>
            </a:r>
          </a:p>
        </p:txBody>
      </p:sp>
      <p:sp>
        <p:nvSpPr>
          <p:cNvPr id="363" name="文字方塊 362">
            <a:extLst>
              <a:ext uri="{FF2B5EF4-FFF2-40B4-BE49-F238E27FC236}">
                <a16:creationId xmlns:a16="http://schemas.microsoft.com/office/drawing/2014/main" id="{893794DC-31E3-4257-E693-790683EF6BD3}"/>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5D7C8B80-BA46-4D8C-F02D-D045A0C5685D}"/>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F0E46714-1E9B-EC55-8158-5918CAAB137B}"/>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283B3667-663B-D000-4FC0-64C6452E2C4A}"/>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C152E6B8-B2A8-1458-4C5C-CB945E0D4F14}"/>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FEF4DBA8-8A61-29F3-F772-B9E20697288B}"/>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2CD424B4-D781-066A-AA82-5B1D7C17318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D620125A-2C57-6A0F-E0FD-4F9D30D787A7}"/>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217E2122-45A9-A144-4DC3-8F6B407AD7D6}"/>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93C22FB2-90C1-F53F-B011-B636863DE760}"/>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BEAB8542-2686-4514-E959-9EA174D19FBC}"/>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448" name="接點: 肘形 447">
            <a:extLst>
              <a:ext uri="{FF2B5EF4-FFF2-40B4-BE49-F238E27FC236}">
                <a16:creationId xmlns:a16="http://schemas.microsoft.com/office/drawing/2014/main" id="{86BDD8D5-6E1C-36F0-C470-332C3C95F5EA}"/>
              </a:ext>
            </a:extLst>
          </p:cNvPr>
          <p:cNvCxnSpPr>
            <a:cxnSpLocks/>
            <a:stCxn id="363" idx="3"/>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601CD636-6C2B-D4B4-38E8-3B313482794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BA3675A3-5AB0-EB59-4310-B69F2FF8546E}"/>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7839B24F-E8C9-FA65-5AE0-8708806FC5CF}"/>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EC15D6B-8F12-7274-D8CA-BBA776A2A819}"/>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9CD13066-2E3A-1DE9-04D9-DE7950BD9F3B}"/>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00BD9021-2B8C-8502-E177-B440F5AB8AD1}"/>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98857429-EF92-0990-6978-5031DB735A89}"/>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FFB0C882-736B-3D0F-5CA2-57A6C262E22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9A46D70C-1717-CAF4-6D18-D4C0564FAB2C}"/>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ACE49DA1-6208-1E69-1C0F-930C8428F673}"/>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8" name="標題 1">
            <a:extLst>
              <a:ext uri="{FF2B5EF4-FFF2-40B4-BE49-F238E27FC236}">
                <a16:creationId xmlns:a16="http://schemas.microsoft.com/office/drawing/2014/main" id="{0B62D1D7-7CA2-48B3-1C24-713F566C49BE}"/>
              </a:ext>
            </a:extLst>
          </p:cNvPr>
          <p:cNvSpPr txBox="1">
            <a:spLocks/>
          </p:cNvSpPr>
          <p:nvPr/>
        </p:nvSpPr>
        <p:spPr>
          <a:xfrm>
            <a:off x="179512" y="116632"/>
            <a:ext cx="6978340"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DeepSeek-V4</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An ultra-cost-efficient hardware maximizer that slashes KV cache memory by over 90% through shared and fine-grained expert architectures. </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 name="文字方塊 10">
            <a:extLst>
              <a:ext uri="{FF2B5EF4-FFF2-40B4-BE49-F238E27FC236}">
                <a16:creationId xmlns:a16="http://schemas.microsoft.com/office/drawing/2014/main" id="{950C84E0-E5F5-49C5-73CB-91FBAFA3FE1F}"/>
              </a:ext>
            </a:extLst>
          </p:cNvPr>
          <p:cNvSpPr txBox="1"/>
          <p:nvPr/>
        </p:nvSpPr>
        <p:spPr>
          <a:xfrm>
            <a:off x="5290094" y="5891739"/>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graphicFrame>
        <p:nvGraphicFramePr>
          <p:cNvPr id="13" name="表格 12">
            <a:extLst>
              <a:ext uri="{FF2B5EF4-FFF2-40B4-BE49-F238E27FC236}">
                <a16:creationId xmlns:a16="http://schemas.microsoft.com/office/drawing/2014/main" id="{59FD9172-2C29-6298-FF54-BEFC9E35BB57}"/>
              </a:ext>
            </a:extLst>
          </p:cNvPr>
          <p:cNvGraphicFramePr>
            <a:graphicFrameLocks noGrp="1"/>
          </p:cNvGraphicFramePr>
          <p:nvPr>
            <p:extLst>
              <p:ext uri="{D42A27DB-BD31-4B8C-83A1-F6EECF244321}">
                <p14:modId xmlns:p14="http://schemas.microsoft.com/office/powerpoint/2010/main" val="3033043750"/>
              </p:ext>
            </p:extLst>
          </p:nvPr>
        </p:nvGraphicFramePr>
        <p:xfrm>
          <a:off x="5663064" y="5883760"/>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sp>
        <p:nvSpPr>
          <p:cNvPr id="15" name="矩形 14">
            <a:extLst>
              <a:ext uri="{FF2B5EF4-FFF2-40B4-BE49-F238E27FC236}">
                <a16:creationId xmlns:a16="http://schemas.microsoft.com/office/drawing/2014/main" id="{4CCC2FF0-43AF-EF10-28C3-11AE9B336B2B}"/>
              </a:ext>
            </a:extLst>
          </p:cNvPr>
          <p:cNvSpPr/>
          <p:nvPr/>
        </p:nvSpPr>
        <p:spPr>
          <a:xfrm>
            <a:off x="5612935" y="5893917"/>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Tree>
    <p:extLst>
      <p:ext uri="{BB962C8B-B14F-4D97-AF65-F5344CB8AC3E}">
        <p14:creationId xmlns:p14="http://schemas.microsoft.com/office/powerpoint/2010/main" val="42760692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6153A-3295-7DB2-C1BA-6B1E69F8BC78}"/>
            </a:ext>
          </a:extLst>
        </p:cNvPr>
        <p:cNvGrpSpPr/>
        <p:nvPr/>
      </p:nvGrpSpPr>
      <p:grpSpPr>
        <a:xfrm>
          <a:off x="0" y="0"/>
          <a:ext cx="0" cy="0"/>
          <a:chOff x="0" y="0"/>
          <a:chExt cx="0" cy="0"/>
        </a:xfrm>
      </p:grpSpPr>
      <p:sp>
        <p:nvSpPr>
          <p:cNvPr id="8" name="文字方塊 7">
            <a:extLst>
              <a:ext uri="{FF2B5EF4-FFF2-40B4-BE49-F238E27FC236}">
                <a16:creationId xmlns:a16="http://schemas.microsoft.com/office/drawing/2014/main" id="{71575A03-C679-3AD3-2F44-6BE10B57902E}"/>
              </a:ext>
            </a:extLst>
          </p:cNvPr>
          <p:cNvSpPr txBox="1"/>
          <p:nvPr/>
        </p:nvSpPr>
        <p:spPr>
          <a:xfrm>
            <a:off x="179510" y="1377042"/>
            <a:ext cx="7560841" cy="2477601"/>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Moonshot AI: </a:t>
            </a:r>
            <a:r>
              <a:rPr lang="en-US" altLang="zh-TW" sz="1600" dirty="0"/>
              <a:t>Founded in March 2023.</a:t>
            </a:r>
          </a:p>
          <a:p>
            <a:pPr marL="285750" indent="-285750">
              <a:lnSpc>
                <a:spcPts val="1800"/>
              </a:lnSpc>
              <a:spcBef>
                <a:spcPts val="600"/>
              </a:spcBef>
              <a:spcAft>
                <a:spcPts val="600"/>
              </a:spcAft>
              <a:buFont typeface="Wingdings" panose="05000000000000000000" pitchFamily="2" charset="2"/>
              <a:buChar char="Ø"/>
            </a:pPr>
            <a:r>
              <a:rPr lang="en-US" altLang="zh-TW" sz="1600" b="1" dirty="0"/>
              <a:t>Key Technology:</a:t>
            </a:r>
            <a:r>
              <a:rPr lang="en-US" altLang="zh-TW" sz="1600" dirty="0"/>
              <a:t> </a:t>
            </a:r>
          </a:p>
          <a:p>
            <a:pPr marL="742950" lvl="1" indent="-285750">
              <a:lnSpc>
                <a:spcPts val="1800"/>
              </a:lnSpc>
              <a:spcBef>
                <a:spcPts val="600"/>
              </a:spcBef>
              <a:spcAft>
                <a:spcPts val="600"/>
              </a:spcAft>
              <a:buFont typeface="Arial" panose="020B0604020202020204" pitchFamily="34" charset="0"/>
              <a:buChar char="•"/>
            </a:pPr>
            <a:r>
              <a:rPr lang="en-US" altLang="zh-TW" sz="1600" dirty="0"/>
              <a:t>Kimi delta attention (</a:t>
            </a:r>
            <a:r>
              <a:rPr lang="en-US" altLang="zh-TW" sz="1600" b="1" dirty="0">
                <a:solidFill>
                  <a:schemeClr val="accent6">
                    <a:lumMod val="75000"/>
                  </a:schemeClr>
                </a:solidFill>
              </a:rPr>
              <a:t>KDA</a:t>
            </a:r>
            <a:r>
              <a:rPr lang="en-US" altLang="zh-TW" sz="1600" dirty="0"/>
              <a:t>): </a:t>
            </a:r>
            <a:r>
              <a:rPr lang="zh-TW" altLang="en-US" sz="1600" dirty="0"/>
              <a:t>水平方向優化</a:t>
            </a:r>
            <a:r>
              <a:rPr lang="en-US" altLang="zh-TW" sz="1600" dirty="0"/>
              <a:t>(</a:t>
            </a:r>
            <a:r>
              <a:rPr lang="zh-TW" altLang="en-US" sz="1600" dirty="0"/>
              <a:t>序列長度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AttnRes reduces layers (</a:t>
            </a:r>
            <a:r>
              <a:rPr lang="en-US" altLang="zh-TW" sz="1600" b="1" dirty="0">
                <a:solidFill>
                  <a:schemeClr val="accent6">
                    <a:lumMod val="75000"/>
                  </a:schemeClr>
                </a:solidFill>
              </a:rPr>
              <a:t>AttnRes</a:t>
            </a:r>
            <a:r>
              <a:rPr lang="en-US" altLang="zh-TW" sz="1600" dirty="0"/>
              <a:t>): </a:t>
            </a:r>
            <a:r>
              <a:rPr lang="zh-TW" altLang="en-US" sz="1600" dirty="0"/>
              <a:t>垂直方向優化</a:t>
            </a:r>
            <a:r>
              <a:rPr lang="en-US" altLang="zh-TW" sz="1600" dirty="0"/>
              <a:t>(</a:t>
            </a:r>
            <a:r>
              <a:rPr lang="zh-TW" altLang="en-US" sz="1600" dirty="0"/>
              <a:t>模型深度</a:t>
            </a:r>
            <a:r>
              <a:rPr lang="en-US" altLang="zh-TW" sz="1600" dirty="0"/>
              <a:t>).</a:t>
            </a:r>
          </a:p>
          <a:p>
            <a:pPr marL="742950" lvl="1" indent="-285750">
              <a:lnSpc>
                <a:spcPts val="1800"/>
              </a:lnSpc>
              <a:spcBef>
                <a:spcPts val="600"/>
              </a:spcBef>
              <a:spcAft>
                <a:spcPts val="600"/>
              </a:spcAft>
              <a:buFont typeface="Arial" panose="020B0604020202020204" pitchFamily="34" charset="0"/>
              <a:buChar char="•"/>
            </a:pPr>
            <a:r>
              <a:rPr lang="en-US" altLang="zh-TW" sz="1600" dirty="0"/>
              <a:t>Stable Latent MoE: has</a:t>
            </a:r>
            <a:r>
              <a:rPr lang="zh-TW" altLang="en-US" sz="1600" dirty="0"/>
              <a:t> </a:t>
            </a:r>
            <a:r>
              <a:rPr lang="en-US" altLang="zh-TW" sz="1600" dirty="0"/>
              <a:t>2 shared, and 14 selected export from 896 fine-grained experts.</a:t>
            </a:r>
          </a:p>
        </p:txBody>
      </p:sp>
      <p:sp>
        <p:nvSpPr>
          <p:cNvPr id="5" name="標題 1">
            <a:extLst>
              <a:ext uri="{FF2B5EF4-FFF2-40B4-BE49-F238E27FC236}">
                <a16:creationId xmlns:a16="http://schemas.microsoft.com/office/drawing/2014/main" id="{9451D045-C073-695F-6BAB-9A162FB85C82}"/>
              </a:ext>
            </a:extLst>
          </p:cNvPr>
          <p:cNvSpPr txBox="1">
            <a:spLocks/>
          </p:cNvSpPr>
          <p:nvPr/>
        </p:nvSpPr>
        <p:spPr>
          <a:xfrm>
            <a:off x="179511" y="116632"/>
            <a:ext cx="6768753"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Kimi K3 (2.8T)</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 frontier intelligence colossus specializing in lossless long-context memory and high-end autonomous agentic reasoning.</a:t>
            </a:r>
          </a:p>
        </p:txBody>
      </p:sp>
      <p:pic>
        <p:nvPicPr>
          <p:cNvPr id="31" name="圖片 30">
            <a:extLst>
              <a:ext uri="{FF2B5EF4-FFF2-40B4-BE49-F238E27FC236}">
                <a16:creationId xmlns:a16="http://schemas.microsoft.com/office/drawing/2014/main" id="{BB38B373-E827-B78E-6E07-1DF4B2799A74}"/>
              </a:ext>
            </a:extLst>
          </p:cNvPr>
          <p:cNvPicPr>
            <a:picLocks noChangeAspect="1"/>
          </p:cNvPicPr>
          <p:nvPr/>
        </p:nvPicPr>
        <p:blipFill>
          <a:blip r:embed="rId3"/>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1926B4C0-13E0-523A-9940-67A0C3295914}"/>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Tree>
    <p:extLst>
      <p:ext uri="{BB962C8B-B14F-4D97-AF65-F5344CB8AC3E}">
        <p14:creationId xmlns:p14="http://schemas.microsoft.com/office/powerpoint/2010/main" val="320096866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8F6746-9142-1125-6596-6627093E8340}"/>
            </a:ext>
          </a:extLst>
        </p:cNvPr>
        <p:cNvGrpSpPr/>
        <p:nvPr/>
      </p:nvGrpSpPr>
      <p:grpSpPr>
        <a:xfrm>
          <a:off x="0" y="0"/>
          <a:ext cx="0" cy="0"/>
          <a:chOff x="0" y="0"/>
          <a:chExt cx="0" cy="0"/>
        </a:xfrm>
      </p:grpSpPr>
      <p:sp>
        <p:nvSpPr>
          <p:cNvPr id="454" name="矩形 453">
            <a:extLst>
              <a:ext uri="{FF2B5EF4-FFF2-40B4-BE49-F238E27FC236}">
                <a16:creationId xmlns:a16="http://schemas.microsoft.com/office/drawing/2014/main" id="{A53C3235-4FD1-1D38-82A6-F6BEDB811571}"/>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CBAE47A-1424-F040-2145-DC1D97F7D804}"/>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0A9E20-F836-F032-C9F1-D0C844445195}"/>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BC1948D7-B839-0028-27CE-1E2CF5281DD8}"/>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8729D631-BF91-8BC3-4BEA-1E529F12C632}"/>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C1B96EB9-3086-F91B-B6F4-AF62653FE4F5}"/>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F5B4EA22-18C0-D52E-F2FC-7D1EE09C7763}"/>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C440B47-022A-4F2E-ADB9-9E340AE7B99A}"/>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8DB9693A-E2A1-CCD2-2F2F-2065D8528EA2}"/>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Stable Latent MoE </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NVIDIA Latent MoE + Kimi Quantile Balancing</a:t>
            </a:r>
          </a:p>
        </p:txBody>
      </p:sp>
      <p:sp>
        <p:nvSpPr>
          <p:cNvPr id="19" name="矩形: 圓角 18">
            <a:extLst>
              <a:ext uri="{FF2B5EF4-FFF2-40B4-BE49-F238E27FC236}">
                <a16:creationId xmlns:a16="http://schemas.microsoft.com/office/drawing/2014/main" id="{7C5DF3DB-0A46-D193-F5D9-6C5336E76BA5}"/>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8CB62931-0116-4F8D-48BF-62F2DE049D2C}"/>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F9783ACE-7D1B-5C7C-1112-A1423E5FEFF2}"/>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8A882AA6-6867-F830-42C6-244BEB4AE9AF}"/>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5A324B73-A2B0-2068-6311-5BD0FDC1B00D}"/>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1BD8915E-AF1F-5982-35FD-A8CA9A3E8CDE}"/>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4A3F95B3-680D-D78C-8853-E6B590C190E6}"/>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E0551D9F-0AA6-4035-F927-8873E0FD90C7}"/>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7FE9C879-E200-EB5A-2CC2-69A71AB1713D}"/>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4CD21E97-532C-B0C9-5963-6BC07711A17A}"/>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A8972DAD-5FD1-C633-ACF7-462CB437C21A}"/>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BB162BC8-55DA-04F0-BAB2-1C519A2BAF87}"/>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5FC666CF-592D-7189-C114-4A4C013CBF6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5F702349-7BBE-30ED-CD8A-023983F6269E}"/>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A825FE45-C6B6-3543-95E6-B3D894125747}"/>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34DE2255-C248-2104-FB4C-A40919921807}"/>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1E786C9A-A13F-E064-4286-D1DCEB6C8DB8}"/>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D23A0C5C-F1CC-6596-6168-20098B665F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646733A6-99E9-0F50-04BB-6514E8205CB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75BA3559-BA09-08D0-D330-6ED320E54702}"/>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527EA4F8-BFCB-0AD7-1C54-E92FD7002C82}"/>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4C6FC89D-BBC7-8090-5F91-BE74A60B32CB}"/>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5A29A6E7-12E3-7EAD-3445-6D9A8D6C0427}"/>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9D8A1084-9F03-ADF1-38BA-A040AD80E8B6}"/>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8D498E4C-5D51-7DB9-17CF-CACB40A7A705}"/>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820663F9-B5F4-81B3-0343-D1B5EA59C156}"/>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35675A0-647C-6987-3E01-AA861C9B4DA7}"/>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03933175-BA42-F91B-94EA-358EEE0391FF}"/>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4" name="矩形: 圓角 213">
            <a:extLst>
              <a:ext uri="{FF2B5EF4-FFF2-40B4-BE49-F238E27FC236}">
                <a16:creationId xmlns:a16="http://schemas.microsoft.com/office/drawing/2014/main" id="{031B7DF6-9439-AFF2-1A7A-A362C47B3B0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243" name="矩形: 圓角 242">
            <a:extLst>
              <a:ext uri="{FF2B5EF4-FFF2-40B4-BE49-F238E27FC236}">
                <a16:creationId xmlns:a16="http://schemas.microsoft.com/office/drawing/2014/main" id="{CC01AD58-2464-AD52-928D-A7DA560B113A}"/>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C0C92457-E1D1-AE97-4DED-9FF74D4517D8}"/>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EAA610AB-467F-98F8-8DA1-4BB70E001F9F}"/>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DD5C0867-1792-B2D3-EC75-F0E6FAF0173C}"/>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014ABB89-C3D2-52CD-CFF3-58D9388A97DC}"/>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93" name="直線接點 292">
            <a:extLst>
              <a:ext uri="{FF2B5EF4-FFF2-40B4-BE49-F238E27FC236}">
                <a16:creationId xmlns:a16="http://schemas.microsoft.com/office/drawing/2014/main" id="{1E2D3E8D-0452-7E25-9998-74A6AE18F4D9}"/>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CA57806C-ACF6-8983-1D97-6B31CC1CB11E}"/>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363" name="文字方塊 362">
            <a:extLst>
              <a:ext uri="{FF2B5EF4-FFF2-40B4-BE49-F238E27FC236}">
                <a16:creationId xmlns:a16="http://schemas.microsoft.com/office/drawing/2014/main" id="{620D659A-7991-4FAE-8590-B03AAC3BB088}"/>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379" name="矩形: 圓角 378">
            <a:extLst>
              <a:ext uri="{FF2B5EF4-FFF2-40B4-BE49-F238E27FC236}">
                <a16:creationId xmlns:a16="http://schemas.microsoft.com/office/drawing/2014/main" id="{2F1EACE9-6C4F-E6A2-7E9C-5369AFF3D3C7}"/>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4E0A9FAE-29B1-816E-5483-771F675B8989}"/>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8B1C2571-5A79-380C-3907-98FA7100E4FD}"/>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8D8F4C6C-B285-EE2B-06C3-512A8855AB4D}"/>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2F583315-4FA0-6602-451D-ABD98885CC2D}"/>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8AFDE857-C413-DD9E-F7EB-6C906CA3FCFF}"/>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6E3D035F-6702-C057-0997-E88CF58E6154}"/>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47F05608-923F-2B14-01AF-B4581090A390}"/>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4EF0C082-B586-2A83-3CC7-FCEA141E4164}"/>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2A83D4DC-A1FC-D379-0B41-0FC0453F77E9}"/>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46AAE791-BF66-906B-21D6-002C7F24A655}"/>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4FAEA13E-A6B7-AAFC-7E5C-1333363380E8}"/>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2279F43-B2F2-FB04-5344-62A9C2F8EA11}"/>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AAEF32EF-4601-2FFE-31D1-4EB5DB72B456}"/>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EFE93AF7-E38D-1AE6-A6F5-7DC949647DC6}"/>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1613D734-D7EE-8469-5327-8CD37D8B38AF}"/>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AF300427-60AB-270B-7DD2-3C93CCD7650F}"/>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2FB0E5F6-49B7-D8E2-93FB-7F7FD78EA55A}"/>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5041D6AD-1103-86B9-C9AA-C8E731758846}"/>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7D95342C-48CE-3428-8BAF-56C02A6A28FB}"/>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068BEFDE-A54C-E48C-D788-F5D0D3C87A15}"/>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右大括弧 5">
            <a:extLst>
              <a:ext uri="{FF2B5EF4-FFF2-40B4-BE49-F238E27FC236}">
                <a16:creationId xmlns:a16="http://schemas.microsoft.com/office/drawing/2014/main" id="{05D3A30A-23B5-89E0-3314-62B741022036}"/>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4CAF5C0C-9699-33DC-CAC5-64503391EF41}"/>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
        <p:nvSpPr>
          <p:cNvPr id="3" name="矩形: 圓角 2">
            <a:extLst>
              <a:ext uri="{FF2B5EF4-FFF2-40B4-BE49-F238E27FC236}">
                <a16:creationId xmlns:a16="http://schemas.microsoft.com/office/drawing/2014/main" id="{5A833C20-E34A-794E-C38B-514B6ED5B13C}"/>
              </a:ext>
            </a:extLst>
          </p:cNvPr>
          <p:cNvSpPr/>
          <p:nvPr/>
        </p:nvSpPr>
        <p:spPr>
          <a:xfrm>
            <a:off x="3774439"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8" name="矩形: 圓角 7">
            <a:extLst>
              <a:ext uri="{FF2B5EF4-FFF2-40B4-BE49-F238E27FC236}">
                <a16:creationId xmlns:a16="http://schemas.microsoft.com/office/drawing/2014/main" id="{8A0E9DEC-6BB0-B86B-39F0-F6F279A4E191}"/>
              </a:ext>
            </a:extLst>
          </p:cNvPr>
          <p:cNvSpPr/>
          <p:nvPr/>
        </p:nvSpPr>
        <p:spPr>
          <a:xfrm>
            <a:off x="3774439"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 name="文字方塊 10">
            <a:extLst>
              <a:ext uri="{FF2B5EF4-FFF2-40B4-BE49-F238E27FC236}">
                <a16:creationId xmlns:a16="http://schemas.microsoft.com/office/drawing/2014/main" id="{E4B4E782-C4A9-9E49-E107-64014F5CE375}"/>
              </a:ext>
            </a:extLst>
          </p:cNvPr>
          <p:cNvSpPr txBox="1"/>
          <p:nvPr/>
        </p:nvSpPr>
        <p:spPr>
          <a:xfrm>
            <a:off x="3846446"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 name="直線單箭頭接點 11">
            <a:extLst>
              <a:ext uri="{FF2B5EF4-FFF2-40B4-BE49-F238E27FC236}">
                <a16:creationId xmlns:a16="http://schemas.microsoft.com/office/drawing/2014/main" id="{7991A0C8-F4D0-EF0A-8800-0DEA97697164}"/>
              </a:ext>
            </a:extLst>
          </p:cNvPr>
          <p:cNvCxnSpPr>
            <a:cxnSpLocks/>
            <a:stCxn id="34" idx="0"/>
            <a:endCxn id="35" idx="2"/>
          </p:cNvCxnSpPr>
          <p:nvPr/>
        </p:nvCxnSpPr>
        <p:spPr>
          <a:xfrm flipH="1" flipV="1">
            <a:off x="4250989" y="4501648"/>
            <a:ext cx="128063"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3" name="直線單箭頭接點 12">
            <a:extLst>
              <a:ext uri="{FF2B5EF4-FFF2-40B4-BE49-F238E27FC236}">
                <a16:creationId xmlns:a16="http://schemas.microsoft.com/office/drawing/2014/main" id="{5F2CBFB4-0982-E8DC-7CDD-9EB6C336CAAE}"/>
              </a:ext>
            </a:extLst>
          </p:cNvPr>
          <p:cNvCxnSpPr>
            <a:cxnSpLocks/>
            <a:stCxn id="8" idx="0"/>
            <a:endCxn id="214" idx="2"/>
          </p:cNvCxnSpPr>
          <p:nvPr/>
        </p:nvCxnSpPr>
        <p:spPr>
          <a:xfrm flipV="1">
            <a:off x="4384200" y="1738305"/>
            <a:ext cx="5473" cy="184321"/>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8" name="文字方塊 17">
            <a:extLst>
              <a:ext uri="{FF2B5EF4-FFF2-40B4-BE49-F238E27FC236}">
                <a16:creationId xmlns:a16="http://schemas.microsoft.com/office/drawing/2014/main" id="{9FEB499D-2C2E-3B44-A165-2519817D9658}"/>
              </a:ext>
            </a:extLst>
          </p:cNvPr>
          <p:cNvSpPr txBox="1"/>
          <p:nvPr/>
        </p:nvSpPr>
        <p:spPr>
          <a:xfrm>
            <a:off x="3867272" y="2433529"/>
            <a:ext cx="139424" cy="11519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200"/>
              </a:lnSpc>
              <a:buNone/>
            </a:pPr>
            <a:r>
              <a:rPr lang="en-US" altLang="zh-TW" sz="1200" b="1" dirty="0">
                <a:solidFill>
                  <a:schemeClr val="bg1">
                    <a:lumMod val="50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文字方塊 21">
            <a:extLst>
              <a:ext uri="{FF2B5EF4-FFF2-40B4-BE49-F238E27FC236}">
                <a16:creationId xmlns:a16="http://schemas.microsoft.com/office/drawing/2014/main" id="{51D08741-5391-21D3-C63C-01DEAD6BA47A}"/>
              </a:ext>
            </a:extLst>
          </p:cNvPr>
          <p:cNvSpPr txBox="1"/>
          <p:nvPr/>
        </p:nvSpPr>
        <p:spPr>
          <a:xfrm>
            <a:off x="3867271" y="2587760"/>
            <a:ext cx="128666" cy="95048"/>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
        <p:nvSpPr>
          <p:cNvPr id="34" name="矩形 33">
            <a:extLst>
              <a:ext uri="{FF2B5EF4-FFF2-40B4-BE49-F238E27FC236}">
                <a16:creationId xmlns:a16="http://schemas.microsoft.com/office/drawing/2014/main" id="{5635B5C8-ED48-859A-7297-1A969AF1BD0D}"/>
              </a:ext>
            </a:extLst>
          </p:cNvPr>
          <p:cNvSpPr/>
          <p:nvPr/>
        </p:nvSpPr>
        <p:spPr>
          <a:xfrm>
            <a:off x="4127024"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35" name="矩形: 圓角 34">
            <a:extLst>
              <a:ext uri="{FF2B5EF4-FFF2-40B4-BE49-F238E27FC236}">
                <a16:creationId xmlns:a16="http://schemas.microsoft.com/office/drawing/2014/main" id="{89CF481E-9E76-E131-29F0-867FDAB83382}"/>
              </a:ext>
            </a:extLst>
          </p:cNvPr>
          <p:cNvSpPr/>
          <p:nvPr/>
        </p:nvSpPr>
        <p:spPr>
          <a:xfrm>
            <a:off x="4124954" y="4069600"/>
            <a:ext cx="252070"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36" name="矩形: 圓角 35">
            <a:extLst>
              <a:ext uri="{FF2B5EF4-FFF2-40B4-BE49-F238E27FC236}">
                <a16:creationId xmlns:a16="http://schemas.microsoft.com/office/drawing/2014/main" id="{B4CFC56D-9909-C54C-EB39-58E0216E1164}"/>
              </a:ext>
            </a:extLst>
          </p:cNvPr>
          <p:cNvSpPr/>
          <p:nvPr/>
        </p:nvSpPr>
        <p:spPr>
          <a:xfrm>
            <a:off x="4118625"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sp>
        <p:nvSpPr>
          <p:cNvPr id="37" name="矩形 36">
            <a:extLst>
              <a:ext uri="{FF2B5EF4-FFF2-40B4-BE49-F238E27FC236}">
                <a16:creationId xmlns:a16="http://schemas.microsoft.com/office/drawing/2014/main" id="{700D4D76-B6B2-CDF3-F006-413140F97FC7}"/>
              </a:ext>
            </a:extLst>
          </p:cNvPr>
          <p:cNvSpPr/>
          <p:nvPr/>
        </p:nvSpPr>
        <p:spPr>
          <a:xfrm>
            <a:off x="3589775"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1" name="文字方塊 40">
            <a:extLst>
              <a:ext uri="{FF2B5EF4-FFF2-40B4-BE49-F238E27FC236}">
                <a16:creationId xmlns:a16="http://schemas.microsoft.com/office/drawing/2014/main" id="{52F424F2-C2DC-704B-3F67-BE4A7763F979}"/>
              </a:ext>
            </a:extLst>
          </p:cNvPr>
          <p:cNvSpPr txBox="1"/>
          <p:nvPr/>
        </p:nvSpPr>
        <p:spPr>
          <a:xfrm>
            <a:off x="3867270" y="2719894"/>
            <a:ext cx="126133" cy="108574"/>
          </a:xfrm>
          <a:prstGeom prst="rect">
            <a:avLst/>
          </a:prstGeom>
          <a:solidFill>
            <a:schemeClr val="accent2">
              <a:lumMod val="40000"/>
              <a:lumOff val="6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200" b="1" dirty="0">
                <a:solidFill>
                  <a:schemeClr val="tx1">
                    <a:lumMod val="95000"/>
                    <a:lumOff val="5000"/>
                  </a:schemeClr>
                </a:solidFill>
                <a:latin typeface="Gadugi" panose="020B0502040204020203" pitchFamily="34" charset="0"/>
                <a:ea typeface="Gadugi" panose="020B0502040204020203" pitchFamily="34" charset="0"/>
                <a:cs typeface="ADLaM Display" panose="02010000000000000000" pitchFamily="2" charset="0"/>
              </a:rPr>
              <a:t>e</a:t>
            </a:r>
            <a:endPar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endParaRPr>
          </a:p>
        </p:txBody>
      </p:sp>
    </p:spTree>
    <p:extLst>
      <p:ext uri="{BB962C8B-B14F-4D97-AF65-F5344CB8AC3E}">
        <p14:creationId xmlns:p14="http://schemas.microsoft.com/office/powerpoint/2010/main" val="54621272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6B2A54-6427-97B5-1E87-2A9EB5F61F81}"/>
            </a:ext>
          </a:extLst>
        </p:cNvPr>
        <p:cNvGrpSpPr/>
        <p:nvPr/>
      </p:nvGrpSpPr>
      <p:grpSpPr>
        <a:xfrm>
          <a:off x="0" y="0"/>
          <a:ext cx="0" cy="0"/>
          <a:chOff x="0" y="0"/>
          <a:chExt cx="0" cy="0"/>
        </a:xfrm>
      </p:grpSpPr>
      <p:pic>
        <p:nvPicPr>
          <p:cNvPr id="3" name="圖片 2" descr="Kimi K3 架构">
            <a:extLst>
              <a:ext uri="{FF2B5EF4-FFF2-40B4-BE49-F238E27FC236}">
                <a16:creationId xmlns:a16="http://schemas.microsoft.com/office/drawing/2014/main" id="{98621101-8A38-BE97-2C19-3040C57E8430}"/>
              </a:ext>
            </a:extLst>
          </p:cNvPr>
          <p:cNvPicPr>
            <a:picLocks noChangeAspect="1"/>
          </p:cNvPicPr>
          <p:nvPr/>
        </p:nvPicPr>
        <p:blipFill>
          <a:blip r:embed="rId3"/>
          <a:stretch>
            <a:fillRect/>
          </a:stretch>
        </p:blipFill>
        <p:spPr>
          <a:xfrm>
            <a:off x="976102" y="0"/>
            <a:ext cx="7191796" cy="6858000"/>
          </a:xfrm>
          <a:prstGeom prst="rect">
            <a:avLst/>
          </a:prstGeom>
        </p:spPr>
      </p:pic>
    </p:spTree>
    <p:extLst>
      <p:ext uri="{BB962C8B-B14F-4D97-AF65-F5344CB8AC3E}">
        <p14:creationId xmlns:p14="http://schemas.microsoft.com/office/powerpoint/2010/main" val="166384911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E1C088-C29C-CFDD-0766-AA0BE977073D}"/>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48C5EFCD-973E-3362-6BEC-2BABEB772E5E}"/>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a:t>
            </a:r>
          </a:p>
        </p:txBody>
      </p:sp>
      <p:sp>
        <p:nvSpPr>
          <p:cNvPr id="34" name="文字方塊 33">
            <a:extLst>
              <a:ext uri="{FF2B5EF4-FFF2-40B4-BE49-F238E27FC236}">
                <a16:creationId xmlns:a16="http://schemas.microsoft.com/office/drawing/2014/main" id="{1781F852-2D98-9DA7-ED98-B7E70CCD70A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26F1D28A-E25F-0DBE-6A0F-1F0258A77F0C}"/>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0AFB4BE5-D051-0641-2C31-9200688EF3AD}"/>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3FA24F76-E7DA-FED8-A954-D229BCDBA889}"/>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6" name="文字方塊 45">
            <a:extLst>
              <a:ext uri="{FF2B5EF4-FFF2-40B4-BE49-F238E27FC236}">
                <a16:creationId xmlns:a16="http://schemas.microsoft.com/office/drawing/2014/main" id="{A4EB4070-0F17-DC28-5D50-AB16E3B247C9}"/>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F3E988E6-CAF1-E8EE-5F9F-4BCC50E551D1}"/>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2C29EDAD-2399-6787-451D-1B76A1ECD0E1}"/>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083DAC72-685D-C5C6-6BD2-4F20B57F24BD}"/>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5CB4D389-23EC-5032-9BAE-F1757CE2E800}"/>
              </a:ext>
            </a:extLst>
          </p:cNvPr>
          <p:cNvSpPr txBox="1">
            <a:spLocks/>
          </p:cNvSpPr>
          <p:nvPr/>
        </p:nvSpPr>
        <p:spPr>
          <a:xfrm>
            <a:off x="5436096" y="525096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Soft</a:t>
            </a:r>
            <a:r>
              <a:rPr lang="zh-TW" altLang="en-US" sz="1000" dirty="0">
                <a:latin typeface="Noto Sans HK" panose="020B0200000000000000" pitchFamily="34" charset="-120"/>
                <a:ea typeface="Noto Sans HK" panose="020B0200000000000000" pitchFamily="34" charset="-120"/>
                <a:cs typeface="Arial" panose="020B0604020202020204" pitchFamily="34" charset="0"/>
              </a:rPr>
              <a:t> </a:t>
            </a:r>
            <a:r>
              <a:rPr lang="en-US" altLang="zh-TW" sz="1000" dirty="0">
                <a:latin typeface="Noto Sans HK" panose="020B0200000000000000" pitchFamily="34" charset="-120"/>
                <a:ea typeface="Noto Sans HK" panose="020B0200000000000000" pitchFamily="34" charset="-120"/>
                <a:cs typeface="Arial" panose="020B0604020202020204" pitchFamily="34" charset="0"/>
              </a:rPr>
              <a:t>Label</a:t>
            </a:r>
          </a:p>
        </p:txBody>
      </p:sp>
      <p:sp>
        <p:nvSpPr>
          <p:cNvPr id="63" name="右大括弧 62">
            <a:extLst>
              <a:ext uri="{FF2B5EF4-FFF2-40B4-BE49-F238E27FC236}">
                <a16:creationId xmlns:a16="http://schemas.microsoft.com/office/drawing/2014/main" id="{C9DE5F9A-05EB-4691-A387-184904320C08}"/>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4223F807-D83D-59D5-DF24-6DF252EE825F}"/>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5" name="標題 1">
            <a:extLst>
              <a:ext uri="{FF2B5EF4-FFF2-40B4-BE49-F238E27FC236}">
                <a16:creationId xmlns:a16="http://schemas.microsoft.com/office/drawing/2014/main" id="{EA45D83D-FA42-9110-2F49-53618A9ECE91}"/>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83" name="直線接點 82">
            <a:extLst>
              <a:ext uri="{FF2B5EF4-FFF2-40B4-BE49-F238E27FC236}">
                <a16:creationId xmlns:a16="http://schemas.microsoft.com/office/drawing/2014/main" id="{49C9B6FC-E00B-B93C-9597-0EFA3EC02D21}"/>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13B89021-46D2-B5A3-28F6-29345C4576EC}"/>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CA5802EE-F207-7922-1CC3-BC212577E690}"/>
              </a:ext>
            </a:extLst>
          </p:cNvPr>
          <p:cNvGraphicFramePr>
            <a:graphicFrameLocks noGrp="1"/>
          </p:cNvGraphicFramePr>
          <p:nvPr/>
        </p:nvGraphicFramePr>
        <p:xfrm>
          <a:off x="1884140" y="4365104"/>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Teacher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060607E6-1136-A62E-557F-AF305E737CB5}"/>
              </a:ext>
            </a:extLst>
          </p:cNvPr>
          <p:cNvCxnSpPr>
            <a:cxnSpLocks/>
          </p:cNvCxnSpPr>
          <p:nvPr/>
        </p:nvCxnSpPr>
        <p:spPr>
          <a:xfrm>
            <a:off x="1724506" y="1455268"/>
            <a:ext cx="0" cy="502037"/>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graphicFrame>
        <p:nvGraphicFramePr>
          <p:cNvPr id="11" name="表格 10">
            <a:extLst>
              <a:ext uri="{FF2B5EF4-FFF2-40B4-BE49-F238E27FC236}">
                <a16:creationId xmlns:a16="http://schemas.microsoft.com/office/drawing/2014/main" id="{7416325E-8B29-6B3E-B545-D3E65BB3E00D}"/>
              </a:ext>
            </a:extLst>
          </p:cNvPr>
          <p:cNvGraphicFramePr>
            <a:graphicFrameLocks noGrp="1"/>
          </p:cNvGraphicFramePr>
          <p:nvPr/>
        </p:nvGraphicFramePr>
        <p:xfrm>
          <a:off x="3352478" y="436510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Student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spTree>
    <p:extLst>
      <p:ext uri="{BB962C8B-B14F-4D97-AF65-F5344CB8AC3E}">
        <p14:creationId xmlns:p14="http://schemas.microsoft.com/office/powerpoint/2010/main" val="295082313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A25999-7ECD-BA35-43AC-72ECFEE0427F}"/>
            </a:ext>
          </a:extLst>
        </p:cNvPr>
        <p:cNvGrpSpPr/>
        <p:nvPr/>
      </p:nvGrpSpPr>
      <p:grpSpPr>
        <a:xfrm>
          <a:off x="0" y="0"/>
          <a:ext cx="0" cy="0"/>
          <a:chOff x="0" y="0"/>
          <a:chExt cx="0" cy="0"/>
        </a:xfrm>
      </p:grpSpPr>
      <p:pic>
        <p:nvPicPr>
          <p:cNvPr id="11" name="圖片 10">
            <a:extLst>
              <a:ext uri="{FF2B5EF4-FFF2-40B4-BE49-F238E27FC236}">
                <a16:creationId xmlns:a16="http://schemas.microsoft.com/office/drawing/2014/main" id="{4C128F37-80EC-5B99-BE58-397074A208EE}"/>
              </a:ext>
            </a:extLst>
          </p:cNvPr>
          <p:cNvPicPr>
            <a:picLocks noChangeAspect="1"/>
          </p:cNvPicPr>
          <p:nvPr/>
        </p:nvPicPr>
        <p:blipFill>
          <a:blip r:embed="rId3"/>
          <a:stretch>
            <a:fillRect/>
          </a:stretch>
        </p:blipFill>
        <p:spPr>
          <a:xfrm>
            <a:off x="5409862" y="3788511"/>
            <a:ext cx="3676252" cy="2398497"/>
          </a:xfrm>
          <a:prstGeom prst="rect">
            <a:avLst/>
          </a:prstGeom>
        </p:spPr>
      </p:pic>
      <p:sp>
        <p:nvSpPr>
          <p:cNvPr id="8" name="文字方塊 7">
            <a:extLst>
              <a:ext uri="{FF2B5EF4-FFF2-40B4-BE49-F238E27FC236}">
                <a16:creationId xmlns:a16="http://schemas.microsoft.com/office/drawing/2014/main" id="{7EA2DA36-50F0-1369-B59B-C6FD52E9E4E0}"/>
              </a:ext>
            </a:extLst>
          </p:cNvPr>
          <p:cNvSpPr txBox="1"/>
          <p:nvPr/>
        </p:nvSpPr>
        <p:spPr>
          <a:xfrm>
            <a:off x="179510" y="1196752"/>
            <a:ext cx="7632850" cy="93871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Model Extraction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Goal:</a:t>
            </a:r>
            <a:r>
              <a:rPr lang="en-US" altLang="zh-TW" sz="1600" dirty="0"/>
              <a:t> Duplicate a functional clone model at a minimal cost purely through API queries, without accessing its weights.</a:t>
            </a:r>
          </a:p>
        </p:txBody>
      </p:sp>
      <p:sp>
        <p:nvSpPr>
          <p:cNvPr id="5" name="標題 1">
            <a:extLst>
              <a:ext uri="{FF2B5EF4-FFF2-40B4-BE49-F238E27FC236}">
                <a16:creationId xmlns:a16="http://schemas.microsoft.com/office/drawing/2014/main" id="{A309682D-9AD4-069E-1FFF-B4F842C47A94}"/>
              </a:ext>
            </a:extLst>
          </p:cNvPr>
          <p:cNvSpPr txBox="1">
            <a:spLocks/>
          </p:cNvSpPr>
          <p:nvPr/>
        </p:nvSpPr>
        <p:spPr>
          <a:xfrm>
            <a:off x="179511" y="116632"/>
            <a:ext cx="7920881"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Distillation Attack</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No LLM is safe, if it can be prompted.</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Involve extracting knowledge, from a LLM, extensively, querying it, through prompts.</a:t>
            </a:r>
          </a:p>
        </p:txBody>
      </p:sp>
      <p:pic>
        <p:nvPicPr>
          <p:cNvPr id="31" name="圖片 30">
            <a:extLst>
              <a:ext uri="{FF2B5EF4-FFF2-40B4-BE49-F238E27FC236}">
                <a16:creationId xmlns:a16="http://schemas.microsoft.com/office/drawing/2014/main" id="{AC21CB44-2E1A-CB98-7935-56713A15F8A8}"/>
              </a:ext>
            </a:extLst>
          </p:cNvPr>
          <p:cNvPicPr>
            <a:picLocks noChangeAspect="1"/>
          </p:cNvPicPr>
          <p:nvPr/>
        </p:nvPicPr>
        <p:blipFill>
          <a:blip r:embed="rId4"/>
          <a:stretch>
            <a:fillRect/>
          </a:stretch>
        </p:blipFill>
        <p:spPr>
          <a:xfrm>
            <a:off x="8406510" y="116632"/>
            <a:ext cx="552628" cy="548681"/>
          </a:xfrm>
          <a:prstGeom prst="rect">
            <a:avLst/>
          </a:prstGeom>
        </p:spPr>
      </p:pic>
      <p:sp>
        <p:nvSpPr>
          <p:cNvPr id="37" name="標題 1">
            <a:extLst>
              <a:ext uri="{FF2B5EF4-FFF2-40B4-BE49-F238E27FC236}">
                <a16:creationId xmlns:a16="http://schemas.microsoft.com/office/drawing/2014/main" id="{2B255F5A-4477-D36C-0620-7FB608BCB205}"/>
              </a:ext>
            </a:extLst>
          </p:cNvPr>
          <p:cNvSpPr txBox="1">
            <a:spLocks/>
          </p:cNvSpPr>
          <p:nvPr/>
        </p:nvSpPr>
        <p:spPr>
          <a:xfrm>
            <a:off x="8312648" y="692696"/>
            <a:ext cx="740352" cy="42522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Moonshot</a:t>
            </a:r>
          </a:p>
          <a:p>
            <a:pPr algn="ctr"/>
            <a:r>
              <a:rPr lang="zh-TW" altLang="en-US"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月之暗面</a:t>
            </a:r>
            <a:endParaRPr lang="en-US" altLang="zh-TW" sz="1000" b="1"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sp>
        <p:nvSpPr>
          <p:cNvPr id="6" name="文字方塊 5">
            <a:extLst>
              <a:ext uri="{FF2B5EF4-FFF2-40B4-BE49-F238E27FC236}">
                <a16:creationId xmlns:a16="http://schemas.microsoft.com/office/drawing/2014/main" id="{B68066DC-B3C7-0B14-5687-E982E2B40C61}"/>
              </a:ext>
            </a:extLst>
          </p:cNvPr>
          <p:cNvSpPr txBox="1"/>
          <p:nvPr/>
        </p:nvSpPr>
        <p:spPr>
          <a:xfrm>
            <a:off x="192111" y="4976008"/>
            <a:ext cx="8767027" cy="1477328"/>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Counter Measures (Increase Attack’s Cost)</a:t>
            </a:r>
          </a:p>
          <a:p>
            <a:pPr marL="285750" indent="-285750">
              <a:lnSpc>
                <a:spcPts val="1800"/>
              </a:lnSpc>
              <a:spcBef>
                <a:spcPts val="600"/>
              </a:spcBef>
              <a:spcAft>
                <a:spcPts val="600"/>
              </a:spcAft>
              <a:buFont typeface="Wingdings" panose="05000000000000000000" pitchFamily="2" charset="2"/>
              <a:buChar char="Ø"/>
            </a:pPr>
            <a:r>
              <a:rPr lang="en-US" altLang="zh-TW" sz="1600" b="1" dirty="0"/>
              <a:t>Traffic Detection:</a:t>
            </a:r>
            <a:r>
              <a:rPr lang="en-US" altLang="zh-TW" sz="1600" dirty="0"/>
              <a:t> Semantic-space analysis, behavioral fingerprinting, metadata attribution.</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Controls:</a:t>
            </a:r>
            <a:r>
              <a:rPr lang="en-US" altLang="zh-TW" sz="1600" dirty="0"/>
              <a:t> CoT removal, output perturbation, statistical watermarking.</a:t>
            </a:r>
          </a:p>
          <a:p>
            <a:pPr marL="285750" indent="-285750">
              <a:lnSpc>
                <a:spcPts val="1800"/>
              </a:lnSpc>
              <a:spcBef>
                <a:spcPts val="600"/>
              </a:spcBef>
              <a:spcAft>
                <a:spcPts val="600"/>
              </a:spcAft>
              <a:buFont typeface="Wingdings" panose="05000000000000000000" pitchFamily="2" charset="2"/>
              <a:buChar char="Ø"/>
            </a:pPr>
            <a:r>
              <a:rPr lang="en-US" altLang="zh-TW" sz="1600" b="1" dirty="0"/>
              <a:t>Verified Access:</a:t>
            </a:r>
            <a:r>
              <a:rPr lang="en-US" altLang="zh-TW" sz="1600" dirty="0"/>
              <a:t> Know Your Customer(KYC),</a:t>
            </a:r>
            <a:r>
              <a:rPr lang="zh-TW" altLang="en-US" sz="1600" dirty="0"/>
              <a:t> </a:t>
            </a:r>
            <a:r>
              <a:rPr lang="en-US" altLang="zh-TW" sz="1600" dirty="0"/>
              <a:t>Adaptive Verification, .</a:t>
            </a:r>
          </a:p>
        </p:txBody>
      </p:sp>
      <p:sp>
        <p:nvSpPr>
          <p:cNvPr id="12" name="文字方塊 11">
            <a:extLst>
              <a:ext uri="{FF2B5EF4-FFF2-40B4-BE49-F238E27FC236}">
                <a16:creationId xmlns:a16="http://schemas.microsoft.com/office/drawing/2014/main" id="{AD68F64B-4C1A-FFB2-F8B6-E5C3BC02DFF1}"/>
              </a:ext>
            </a:extLst>
          </p:cNvPr>
          <p:cNvSpPr txBox="1"/>
          <p:nvPr/>
        </p:nvSpPr>
        <p:spPr>
          <a:xfrm>
            <a:off x="2250420" y="227687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13" name="文字方塊 12">
            <a:extLst>
              <a:ext uri="{FF2B5EF4-FFF2-40B4-BE49-F238E27FC236}">
                <a16:creationId xmlns:a16="http://schemas.microsoft.com/office/drawing/2014/main" id="{CC7F5601-2E80-AC25-95B4-F7E7BEC74B21}"/>
              </a:ext>
            </a:extLst>
          </p:cNvPr>
          <p:cNvSpPr txBox="1"/>
          <p:nvPr/>
        </p:nvSpPr>
        <p:spPr>
          <a:xfrm>
            <a:off x="3347864"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14" name="文字方塊 13">
            <a:extLst>
              <a:ext uri="{FF2B5EF4-FFF2-40B4-BE49-F238E27FC236}">
                <a16:creationId xmlns:a16="http://schemas.microsoft.com/office/drawing/2014/main" id="{4CB5AFF6-8B07-F6E7-440D-1E3D64014E59}"/>
              </a:ext>
            </a:extLst>
          </p:cNvPr>
          <p:cNvSpPr txBox="1"/>
          <p:nvPr/>
        </p:nvSpPr>
        <p:spPr>
          <a:xfrm>
            <a:off x="441066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15" name="文字方塊 14">
            <a:extLst>
              <a:ext uri="{FF2B5EF4-FFF2-40B4-BE49-F238E27FC236}">
                <a16:creationId xmlns:a16="http://schemas.microsoft.com/office/drawing/2014/main" id="{6F8D15F0-F013-D9A3-EAA6-42797542C242}"/>
              </a:ext>
            </a:extLst>
          </p:cNvPr>
          <p:cNvSpPr txBox="1"/>
          <p:nvPr/>
        </p:nvSpPr>
        <p:spPr>
          <a:xfrm>
            <a:off x="5490780" y="2276872"/>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16" name="文字方塊 15">
            <a:extLst>
              <a:ext uri="{FF2B5EF4-FFF2-40B4-BE49-F238E27FC236}">
                <a16:creationId xmlns:a16="http://schemas.microsoft.com/office/drawing/2014/main" id="{289ADC5C-E475-83A1-2BFE-D74030E59EAA}"/>
              </a:ext>
            </a:extLst>
          </p:cNvPr>
          <p:cNvSpPr txBox="1"/>
          <p:nvPr/>
        </p:nvSpPr>
        <p:spPr>
          <a:xfrm>
            <a:off x="1187624" y="2280669"/>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7" name="右大括弧 16">
            <a:extLst>
              <a:ext uri="{FF2B5EF4-FFF2-40B4-BE49-F238E27FC236}">
                <a16:creationId xmlns:a16="http://schemas.microsoft.com/office/drawing/2014/main" id="{C76DBFF7-5BC4-34FB-B75B-C5F62F6D1CB2}"/>
              </a:ext>
            </a:extLst>
          </p:cNvPr>
          <p:cNvSpPr/>
          <p:nvPr/>
        </p:nvSpPr>
        <p:spPr>
          <a:xfrm rot="5400000">
            <a:off x="3154669" y="2527032"/>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1" name="直線單箭頭接點 20">
            <a:extLst>
              <a:ext uri="{FF2B5EF4-FFF2-40B4-BE49-F238E27FC236}">
                <a16:creationId xmlns:a16="http://schemas.microsoft.com/office/drawing/2014/main" id="{947BD5A8-BFD6-CEA1-275F-0CDDC5F60F07}"/>
              </a:ext>
            </a:extLst>
          </p:cNvPr>
          <p:cNvCxnSpPr>
            <a:cxnSpLocks/>
            <a:stCxn id="16" idx="3"/>
            <a:endCxn id="12" idx="1"/>
          </p:cNvCxnSpPr>
          <p:nvPr/>
        </p:nvCxnSpPr>
        <p:spPr>
          <a:xfrm flipV="1">
            <a:off x="2069044" y="2655030"/>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 name="文字方塊 1">
            <a:extLst>
              <a:ext uri="{FF2B5EF4-FFF2-40B4-BE49-F238E27FC236}">
                <a16:creationId xmlns:a16="http://schemas.microsoft.com/office/drawing/2014/main" id="{626DBC5C-2A26-90CA-C557-79A504820052}"/>
              </a:ext>
            </a:extLst>
          </p:cNvPr>
          <p:cNvSpPr txBox="1"/>
          <p:nvPr/>
        </p:nvSpPr>
        <p:spPr>
          <a:xfrm>
            <a:off x="2250420" y="3284647"/>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 name="文字方塊 2">
            <a:extLst>
              <a:ext uri="{FF2B5EF4-FFF2-40B4-BE49-F238E27FC236}">
                <a16:creationId xmlns:a16="http://schemas.microsoft.com/office/drawing/2014/main" id="{4BD454AD-B65F-F8DD-468A-876DEE2E1BC9}"/>
              </a:ext>
            </a:extLst>
          </p:cNvPr>
          <p:cNvSpPr txBox="1"/>
          <p:nvPr/>
        </p:nvSpPr>
        <p:spPr>
          <a:xfrm>
            <a:off x="3347864"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4" name="文字方塊 3">
            <a:extLst>
              <a:ext uri="{FF2B5EF4-FFF2-40B4-BE49-F238E27FC236}">
                <a16:creationId xmlns:a16="http://schemas.microsoft.com/office/drawing/2014/main" id="{B5F82238-D902-CFE3-4CE5-E39555787C98}"/>
              </a:ext>
            </a:extLst>
          </p:cNvPr>
          <p:cNvSpPr txBox="1"/>
          <p:nvPr/>
        </p:nvSpPr>
        <p:spPr>
          <a:xfrm>
            <a:off x="441066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7" name="文字方塊 6">
            <a:extLst>
              <a:ext uri="{FF2B5EF4-FFF2-40B4-BE49-F238E27FC236}">
                <a16:creationId xmlns:a16="http://schemas.microsoft.com/office/drawing/2014/main" id="{DB702051-151F-B5C4-3443-6931F47A642F}"/>
              </a:ext>
            </a:extLst>
          </p:cNvPr>
          <p:cNvSpPr txBox="1"/>
          <p:nvPr/>
        </p:nvSpPr>
        <p:spPr>
          <a:xfrm>
            <a:off x="5490780" y="3284647"/>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9" name="文字方塊 8">
            <a:extLst>
              <a:ext uri="{FF2B5EF4-FFF2-40B4-BE49-F238E27FC236}">
                <a16:creationId xmlns:a16="http://schemas.microsoft.com/office/drawing/2014/main" id="{07C167B6-49FC-7213-BEAC-0093C4EBA0F8}"/>
              </a:ext>
            </a:extLst>
          </p:cNvPr>
          <p:cNvSpPr txBox="1"/>
          <p:nvPr/>
        </p:nvSpPr>
        <p:spPr>
          <a:xfrm>
            <a:off x="1187624" y="3288444"/>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10" name="右大括弧 9">
            <a:extLst>
              <a:ext uri="{FF2B5EF4-FFF2-40B4-BE49-F238E27FC236}">
                <a16:creationId xmlns:a16="http://schemas.microsoft.com/office/drawing/2014/main" id="{F5E88D55-1D29-981A-61C9-848487682A89}"/>
              </a:ext>
            </a:extLst>
          </p:cNvPr>
          <p:cNvSpPr/>
          <p:nvPr/>
        </p:nvSpPr>
        <p:spPr>
          <a:xfrm rot="5400000">
            <a:off x="3154669" y="3534807"/>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cxnSp>
        <p:nvCxnSpPr>
          <p:cNvPr id="22" name="直線單箭頭接點 21">
            <a:extLst>
              <a:ext uri="{FF2B5EF4-FFF2-40B4-BE49-F238E27FC236}">
                <a16:creationId xmlns:a16="http://schemas.microsoft.com/office/drawing/2014/main" id="{BFBEC447-F76A-CB0C-60B2-2CBEC782C80C}"/>
              </a:ext>
            </a:extLst>
          </p:cNvPr>
          <p:cNvCxnSpPr>
            <a:cxnSpLocks/>
            <a:stCxn id="9" idx="3"/>
            <a:endCxn id="2" idx="1"/>
          </p:cNvCxnSpPr>
          <p:nvPr/>
        </p:nvCxnSpPr>
        <p:spPr>
          <a:xfrm flipV="1">
            <a:off x="2069044" y="3662805"/>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6768731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20662</Words>
  <Application>Microsoft Office PowerPoint</Application>
  <PresentationFormat>如螢幕大小 (4:3)</PresentationFormat>
  <Paragraphs>3302</Paragraphs>
  <Slides>55</Slides>
  <Notes>44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55</vt:i4>
      </vt:variant>
    </vt:vector>
  </HeadingPairs>
  <TitlesOfParts>
    <vt:vector size="73"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1854</cp:revision>
  <cp:lastPrinted>2024-07-30T01:44:15Z</cp:lastPrinted>
  <dcterms:created xsi:type="dcterms:W3CDTF">2019-11-08T03:01:47Z</dcterms:created>
  <dcterms:modified xsi:type="dcterms:W3CDTF">2026-08-16T13:09:06Z</dcterms:modified>
</cp:coreProperties>
</file>