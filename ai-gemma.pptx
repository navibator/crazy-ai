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modernComment_D5C_E5DE535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459" r:id="rId2"/>
    <p:sldId id="3472" r:id="rId3"/>
    <p:sldId id="3501" r:id="rId4"/>
    <p:sldId id="3500" r:id="rId5"/>
    <p:sldId id="3499" r:id="rId6"/>
    <p:sldId id="3444" r:id="rId7"/>
    <p:sldId id="3493" r:id="rId8"/>
    <p:sldId id="3495" r:id="rId9"/>
    <p:sldId id="3496" r:id="rId10"/>
    <p:sldId id="3477" r:id="rId11"/>
    <p:sldId id="3475" r:id="rId12"/>
    <p:sldId id="3470" r:id="rId13"/>
    <p:sldId id="3471" r:id="rId14"/>
    <p:sldId id="3483" r:id="rId15"/>
    <p:sldId id="3465" r:id="rId16"/>
    <p:sldId id="3482" r:id="rId17"/>
    <p:sldId id="3481" r:id="rId18"/>
    <p:sldId id="3489" r:id="rId19"/>
    <p:sldId id="3490" r:id="rId20"/>
    <p:sldId id="3491" r:id="rId21"/>
    <p:sldId id="3461" r:id="rId22"/>
    <p:sldId id="3462" r:id="rId23"/>
    <p:sldId id="3420" r:id="rId24"/>
    <p:sldId id="3460" r:id="rId2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1"/>
            <p14:sldId id="3500"/>
            <p14:sldId id="3499"/>
            <p14:sldId id="3444"/>
            <p14:sldId id="3493"/>
            <p14:sldId id="3495"/>
            <p14:sldId id="3496"/>
            <p14:sldId id="3477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83"/>
          </p14:sldIdLst>
        </p14:section>
        <p14:section name="Gemma 4" id="{5A048767-0D58-44AF-B962-12C29493294F}">
          <p14:sldIdLst>
            <p14:sldId id="3465"/>
            <p14:sldId id="3482"/>
            <p14:sldId id="3481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58862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omments/modernComment_D5C_E5DE535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D91993-94B2-4C7B-9CD5-D9F83EC3A14C}" authorId="{DEF1DDEA-D49D-B2A5-9D83-8BDFFC6C721F}" created="2026-05-20T02:48:48.86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replyLst>
      <p188:reply id="{C66D0F87-A191-45F6-AD31-11862F22856F}" authorId="{DEF1DDEA-D49D-B2A5-9D83-8BDFFC6C721F}" created="2026-05-20T02:52:24.406">
        <p188:txBody>
          <a:bodyPr/>
          <a:lstStyle/>
          <a:p>
            <a:r>
              <a:rPr lang="zh-TW" altLang="en-US"/>
              <a:t>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    </a:r>
          </a:p>
        </p188:txBody>
      </p188:reply>
    </p188:replyLst>
    <p188:txBody>
      <a:bodyPr/>
      <a:lstStyle/>
      <a:p>
        <a:r>
          <a:rPr lang="zh-TW" altLang="en-US"/>
          <a:t>一、 Edge AI 晶片的硬體成本結構（BOM 結構）
Edge AI 晶片通常以 SoC（系統單晶片） 或 Chiplet（小晶片封裝） 的形式存在。一顆 Edge AI 晶片的硬體製造總成本，主要由以下四大核心區塊組成： 
成本組成項目估計佔比核心說明與成本驅動因子
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</a:r>
      </a:p>
    </p188:txBody>
  </p188:cm>
  <p188:cm id="{FFC719A7-4826-4636-A3DD-EE1595D91AE4}" authorId="{DEF1DDEA-D49D-B2A5-9D83-8BDFFC6C721F}" created="2026-05-20T02:49:34.73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txBody>
      <a:bodyPr/>
      <a:lstStyle/>
      <a:p>
        <a:r>
          <a:rPr lang="zh-TW" altLang="en-US"/>
          <a:t>二、 晶片的晶圓晶粒（Die）內部面積結構分析）
如果將晶片放大來看，在矽晶圓的「晶粒面積（Die Area）」分配上，Edge AI 晶片呈現顯著的「記憶體與算力高度拉鋸」特徵。
記憶體佔地極大（SRAM / Cache, 約 40% - 50%）：AI 推論（Inference）需要频繁讀取權重（Weights）。
為了減少節能殺手——「離開晶片去抓外部記憶體資料」的功耗，設計師會把大量的晶片面積留給片上緩存（On-chip SRAM）。
神經網路加速核心（NPU, 約 25% - 35%）：專門用來執行大量矩陣乘法與累積運算（MAC Array）的硬體電路，是晶片能效比（TOPS/W）的關鍵。
控制與多媒體核心（CPU/DSP/ISP, 約 15% - 20%）：負責系統排程（如 Arm 核心）以及影像訊號預處理（ISP）、音訊處理等。 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F09-836B-611E-3920-7AE3A67C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39D021-C0AF-0091-D6F8-0073EB4AD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A4D7BA-4AD0-4EE9-48E0-98B1C61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4A41B9-0B71-33D1-6ED3-C2CF20F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5308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8B3D8-A65A-8DC3-8125-3CF44F128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06C11EF-5DF2-9D2F-8C51-7239C10B2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09910A7-45D7-E240-8ACE-A65E4F59C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引發的趨勢討論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7B77A-B900-F0BB-5F92-0973EEDC0A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66016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17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D5C_E5DE535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498598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Overview of AI Trends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(Trend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of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Cloud Service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and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Edge AI)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(LLM + RAG +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Frameworks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+ Future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(..)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24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Architecture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Multi Modal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-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(Standard Dense Transformer vs Mixture of Experts)</a:t>
            </a:r>
            <a:endParaRPr lang="en-US" altLang="zh-TW" sz="14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2" dur="5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20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378859" y="1350188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 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378859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1719164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Supervised 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 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3159324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5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Human involvement with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 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1991502" y="916027"/>
            <a:ext cx="188816" cy="341409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1495204" y="2087474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2604355" y="2763254"/>
            <a:ext cx="153043" cy="2952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2234904" y="3739897"/>
            <a:ext cx="1558056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C0447A7-CE70-FFDF-04DF-AACA4B272492}"/>
              </a:ext>
            </a:extLst>
          </p:cNvPr>
          <p:cNvSpPr txBox="1">
            <a:spLocks/>
          </p:cNvSpPr>
          <p:nvPr/>
        </p:nvSpPr>
        <p:spPr>
          <a:xfrm>
            <a:off x="3509863" y="943565"/>
            <a:ext cx="2736304" cy="1170071"/>
          </a:xfrm>
          <a:prstGeom prst="rect">
            <a:avLst/>
          </a:prstGeom>
        </p:spPr>
        <p:txBody>
          <a:bodyPr wrap="none" lIns="91440" tIns="0" rIns="0" bIns="0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zh-TW" sz="12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  <a:p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Emergent Abilities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0ECD3BCB-5C39-0BFD-A8C9-3484AF9790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445244"/>
              </p:ext>
            </p:extLst>
          </p:nvPr>
        </p:nvGraphicFramePr>
        <p:xfrm>
          <a:off x="5082098" y="1133342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Parameters in 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Attentions: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FFN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Weights: A, U, D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Vocabulary Embedding Table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Gating Matrix: R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dx16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LLMs integrate and share data with external tools, systems, and data sources?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390251" y="4416991"/>
            <a:ext cx="1440160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2164369" y="4416991"/>
            <a:ext cx="1440160" cy="756316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3918643" y="4416991"/>
            <a:ext cx="1440160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1830411" y="4795149"/>
            <a:ext cx="333958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3604529" y="4795149"/>
            <a:ext cx="314114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8FE94E1-DE20-B25D-2B84-343319FC54D1}"/>
              </a:ext>
            </a:extLst>
          </p:cNvPr>
          <p:cNvSpPr txBox="1"/>
          <p:nvPr/>
        </p:nvSpPr>
        <p:spPr>
          <a:xfrm>
            <a:off x="390252" y="5308318"/>
            <a:ext cx="1440160" cy="1145018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enables systems to tore and recall information.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50A5478-C51E-7690-230E-9B8B84582DDB}"/>
              </a:ext>
            </a:extLst>
          </p:cNvPr>
          <p:cNvSpPr txBox="1"/>
          <p:nvPr/>
        </p:nvSpPr>
        <p:spPr>
          <a:xfrm>
            <a:off x="2164369" y="5300517"/>
            <a:ext cx="1440160" cy="11528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works by storing information in vector databases for efficient recall ...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6799DB-313D-0A2A-26B2-36DF1C9474B3}"/>
              </a:ext>
            </a:extLst>
          </p:cNvPr>
          <p:cNvSpPr txBox="1"/>
          <p:nvPr/>
        </p:nvSpPr>
        <p:spPr>
          <a:xfrm>
            <a:off x="3918643" y="5308317"/>
            <a:ext cx="1440160" cy="11450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Create a report of Q1 sales data.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Report generated and saved to Google Drive. Here is the </a:t>
            </a:r>
            <a:r>
              <a:rPr lang="en-US" altLang="zh-TW" sz="1200" u="sng" dirty="0">
                <a:solidFill>
                  <a:schemeClr val="accent5">
                    <a:lumMod val="75000"/>
                  </a:schemeClr>
                </a:solidFill>
              </a:rPr>
              <a:t>download link</a:t>
            </a:r>
            <a:r>
              <a:rPr lang="en-US" altLang="zh-TW" sz="1200" dirty="0"/>
              <a:t>.</a:t>
            </a:r>
            <a:endParaRPr lang="en-US" altLang="zh-TW" sz="1200" u="none" strike="noStrike" dirty="0"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767810"/>
              </p:ext>
            </p:extLst>
          </p:nvPr>
        </p:nvGraphicFramePr>
        <p:xfrm>
          <a:off x="7181611" y="4094477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02550"/>
              </p:ext>
            </p:extLst>
          </p:nvPr>
        </p:nvGraphicFramePr>
        <p:xfrm>
          <a:off x="5972992" y="2675282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Runtime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Reasoning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Gating Matrix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PLE: Dense 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9257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E70E9-59B0-0AE4-9AC1-6010B9481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29D07EE-B055-65C4-2923-CB5F40B25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902848"/>
              </p:ext>
            </p:extLst>
          </p:nvPr>
        </p:nvGraphicFramePr>
        <p:xfrm>
          <a:off x="149678" y="5301208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AD8F2F6-B681-06D9-65BB-95E036E10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635596"/>
              </p:ext>
            </p:extLst>
          </p:nvPr>
        </p:nvGraphicFramePr>
        <p:xfrm>
          <a:off x="149678" y="285461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HuggingFace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 Transformer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86EBB9C-C627-7063-A55F-5AC28670B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389948"/>
              </p:ext>
            </p:extLst>
          </p:nvPr>
        </p:nvGraphicFramePr>
        <p:xfrm>
          <a:off x="149678" y="4015830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1E2A88FD-36C0-356D-D78E-15264982819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LMs integrate and share data with external tools, systems, and data sources?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61BF41E7-DEE5-3BE6-3671-5C327E6F9C2F}"/>
              </a:ext>
            </a:extLst>
          </p:cNvPr>
          <p:cNvSpPr/>
          <p:nvPr/>
        </p:nvSpPr>
        <p:spPr>
          <a:xfrm>
            <a:off x="8388424" y="326477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9AF32B7-07D8-C341-3730-EE282EDABA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718056"/>
              </p:ext>
            </p:extLst>
          </p:nvPr>
        </p:nvGraphicFramePr>
        <p:xfrm>
          <a:off x="3656509" y="4869160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999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Local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VDB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Stack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in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81278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89103"/>
              </p:ext>
            </p:extLst>
          </p:nvPr>
        </p:nvGraphicFramePr>
        <p:xfrm>
          <a:off x="506637" y="4653136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3310479" y="33248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3182415" y="42376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171" y="14561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8568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206889" y="2024726"/>
            <a:ext cx="45719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206889" y="3032956"/>
            <a:ext cx="45719" cy="2246421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42840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28B88-7AA3-B71D-342A-4048CF7AF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208750D-5CFB-BEE0-D169-AA0C5A786D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Highlight 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0B217B1-5667-2E9A-3BCD-BE93A5D7F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241474"/>
              </p:ext>
            </p:extLst>
          </p:nvPr>
        </p:nvGraphicFramePr>
        <p:xfrm>
          <a:off x="6223642" y="2843644"/>
          <a:ext cx="2380806" cy="258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6365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4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4057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240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43300"/>
              </p:ext>
            </p:extLst>
          </p:nvPr>
        </p:nvGraphicFramePr>
        <p:xfrm>
          <a:off x="6228184" y="26788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0F3DE-B1B4-8C50-8B97-912A51BD1BE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Major Language Model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E8F0321-BB20-5A24-32C5-E1393817D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548174"/>
              </p:ext>
            </p:extLst>
          </p:nvPr>
        </p:nvGraphicFramePr>
        <p:xfrm>
          <a:off x="358814" y="430767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063E60F-441C-61BB-27AB-426AD238E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298908"/>
              </p:ext>
            </p:extLst>
          </p:nvPr>
        </p:nvGraphicFramePr>
        <p:xfrm>
          <a:off x="358814" y="196753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Weight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3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8k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6" name="橢圓 5">
            <a:extLst>
              <a:ext uri="{FF2B5EF4-FFF2-40B4-BE49-F238E27FC236}">
                <a16:creationId xmlns:a16="http://schemas.microsoft.com/office/drawing/2014/main" id="{8DCCBD18-7E95-64E0-3204-2B78F017F889}"/>
              </a:ext>
            </a:extLst>
          </p:cNvPr>
          <p:cNvSpPr/>
          <p:nvPr/>
        </p:nvSpPr>
        <p:spPr>
          <a:xfrm>
            <a:off x="6615723" y="279091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Open Weight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LM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32DA9AE-4DCE-1D0B-A5CB-F79D15A41C1A}"/>
              </a:ext>
            </a:extLst>
          </p:cNvPr>
          <p:cNvSpPr/>
          <p:nvPr/>
        </p:nvSpPr>
        <p:spPr>
          <a:xfrm>
            <a:off x="4949403" y="-33520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Enterprise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8D12BED-4A36-4654-883D-0A29302ADDD7}"/>
              </a:ext>
            </a:extLst>
          </p:cNvPr>
          <p:cNvSpPr/>
          <p:nvPr/>
        </p:nvSpPr>
        <p:spPr>
          <a:xfrm>
            <a:off x="3766163" y="503955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Cloud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Service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9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332</TotalTime>
  <Words>8093</Words>
  <Application>Microsoft Office PowerPoint</Application>
  <PresentationFormat>如螢幕大小 (4:3)</PresentationFormat>
  <Paragraphs>927</Paragraphs>
  <Slides>24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7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1603</cp:revision>
  <cp:lastPrinted>2024-07-30T01:44:15Z</cp:lastPrinted>
  <dcterms:created xsi:type="dcterms:W3CDTF">2019-11-08T03:01:47Z</dcterms:created>
  <dcterms:modified xsi:type="dcterms:W3CDTF">2026-06-29T07:39:17Z</dcterms:modified>
</cp:coreProperties>
</file>