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57"/>
  </p:notesMasterIdLst>
  <p:handoutMasterIdLst>
    <p:handoutMasterId r:id="rId58"/>
  </p:handoutMasterIdLst>
  <p:sldIdLst>
    <p:sldId id="3459" r:id="rId2"/>
    <p:sldId id="3472" r:id="rId3"/>
    <p:sldId id="3511" r:id="rId4"/>
    <p:sldId id="3504" r:id="rId5"/>
    <p:sldId id="3427" r:id="rId6"/>
    <p:sldId id="3503" r:id="rId7"/>
    <p:sldId id="3550" r:id="rId8"/>
    <p:sldId id="3470" r:id="rId9"/>
    <p:sldId id="3471" r:id="rId10"/>
    <p:sldId id="3482" r:id="rId11"/>
    <p:sldId id="3483" r:id="rId12"/>
    <p:sldId id="3428" r:id="rId13"/>
    <p:sldId id="3451" r:id="rId14"/>
    <p:sldId id="3465" r:id="rId15"/>
    <p:sldId id="3484" r:id="rId16"/>
    <p:sldId id="3508" r:id="rId17"/>
    <p:sldId id="3505" r:id="rId18"/>
    <p:sldId id="3507" r:id="rId19"/>
    <p:sldId id="3460" r:id="rId20"/>
    <p:sldId id="3509" r:id="rId21"/>
    <p:sldId id="3479" r:id="rId22"/>
    <p:sldId id="3467" r:id="rId23"/>
    <p:sldId id="3531" r:id="rId24"/>
    <p:sldId id="3499" r:id="rId25"/>
    <p:sldId id="3444" r:id="rId26"/>
    <p:sldId id="3532" r:id="rId27"/>
    <p:sldId id="3520" r:id="rId28"/>
    <p:sldId id="3518" r:id="rId29"/>
    <p:sldId id="3475" r:id="rId30"/>
    <p:sldId id="3527" r:id="rId31"/>
    <p:sldId id="3515" r:id="rId32"/>
    <p:sldId id="3528" r:id="rId33"/>
    <p:sldId id="3514" r:id="rId34"/>
    <p:sldId id="3529" r:id="rId35"/>
    <p:sldId id="3533" r:id="rId36"/>
    <p:sldId id="3544" r:id="rId37"/>
    <p:sldId id="3537" r:id="rId38"/>
    <p:sldId id="3540" r:id="rId39"/>
    <p:sldId id="3543" r:id="rId40"/>
    <p:sldId id="3542" r:id="rId41"/>
    <p:sldId id="3545" r:id="rId42"/>
    <p:sldId id="3539" r:id="rId43"/>
    <p:sldId id="3538" r:id="rId44"/>
    <p:sldId id="3534" r:id="rId45"/>
    <p:sldId id="3536" r:id="rId46"/>
    <p:sldId id="3535" r:id="rId47"/>
    <p:sldId id="3548" r:id="rId48"/>
    <p:sldId id="3547" r:id="rId49"/>
    <p:sldId id="3549" r:id="rId50"/>
    <p:sldId id="3519" r:id="rId51"/>
    <p:sldId id="3530" r:id="rId52"/>
    <p:sldId id="269" r:id="rId53"/>
    <p:sldId id="270" r:id="rId54"/>
    <p:sldId id="257" r:id="rId55"/>
    <p:sldId id="265" r:id="rId56"/>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 id="3550"/>
          </p14:sldIdLst>
        </p14:section>
        <p14:section name="Transformer" id="{91BFD2B5-A843-4933-9519-5889D1D7895D}">
          <p14:sldIdLst>
            <p14:sldId id="3470"/>
            <p14:sldId id="3471"/>
            <p14:sldId id="3482"/>
            <p14:sldId id="3483"/>
            <p14:sldId id="3428"/>
            <p14:sldId id="3451"/>
          </p14:sldIdLst>
        </p14:section>
        <p14:section name="OpenAI-GPT" id="{5A048767-0D58-44AF-B962-12C29493294F}">
          <p14:sldIdLst>
            <p14:sldId id="3465"/>
            <p14:sldId id="3484"/>
            <p14:sldId id="3508"/>
            <p14:sldId id="3505"/>
            <p14:sldId id="3507"/>
          </p14:sldIdLst>
        </p14:section>
        <p14:section name="Hardware" id="{69C35067-BEF2-4B7C-9B54-B6977EB05C72}">
          <p14:sldIdLst>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15"/>
            <p14:sldId id="3528"/>
            <p14:sldId id="3514"/>
            <p14:sldId id="3529"/>
            <p14:sldId id="3533"/>
          </p14:sldIdLst>
        </p14:section>
        <p14:section name="Deepseek-DSMoE" id="{8CC3907E-2537-4761-B8B4-20CC1D391E20}">
          <p14:sldIdLst>
            <p14:sldId id="3544"/>
            <p14:sldId id="3537"/>
            <p14:sldId id="3540"/>
            <p14:sldId id="3543"/>
            <p14:sldId id="3542"/>
            <p14:sldId id="3545"/>
            <p14:sldId id="3539"/>
            <p14:sldId id="3538"/>
          </p14:sldIdLst>
        </p14:section>
        <p14:section name="Moonshot-Kimi" id="{7C2BE5B2-C507-46C7-871E-C935EB653EC3}">
          <p14:sldIdLst>
            <p14:sldId id="3534"/>
            <p14:sldId id="3536"/>
            <p14:sldId id="3535"/>
          </p14:sldIdLst>
        </p14:section>
        <p14:section name="Distillation" id="{7EB38C31-A2B8-4354-A21C-A4C807EDE2C4}">
          <p14:sldIdLst>
            <p14:sldId id="3548"/>
            <p14:sldId id="3547"/>
          </p14:sldIdLst>
        </p14:section>
        <p14:section name="Conclusion" id="{D9E6914C-A73F-4176-B0F8-3F87EAC09119}">
          <p14:sldIdLst>
            <p14:sldId id="3549"/>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260DC"/>
    <a:srgbClr val="F0F0F0"/>
    <a:srgbClr val="FDF3DB"/>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71958" autoAdjust="0"/>
  </p:normalViewPr>
  <p:slideViewPr>
    <p:cSldViewPr>
      <p:cViewPr>
        <p:scale>
          <a:sx n="100" d="100"/>
          <a:sy n="100" d="100"/>
        </p:scale>
        <p:origin x="804" y="594"/>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handoutMaster" Target="handoutMasters/handoutMaster1.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2026/8/13</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2026/8/13</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20.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E89AF-F2A2-F9DF-BD6A-49D7779363C2}"/>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02AB12DF-8319-18DD-A9CA-7A337F7554FB}"/>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E4A5F17-64C8-ADA6-DA00-0F5940464BB8}"/>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D63F60DF-4BB2-7AE4-117C-3A47EBD5CB1A}"/>
              </a:ext>
            </a:extLst>
          </p:cNvPr>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40856483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8</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817E9-E2B2-951E-2BA5-91EC9A18E03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A85B959-F19B-11F5-C6E1-57A93757CC4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31F52A6-BCBA-8002-712A-EBC1275EBBEC}"/>
              </a:ext>
            </a:extLst>
          </p:cNvPr>
          <p:cNvSpPr>
            <a:spLocks noGrp="1"/>
          </p:cNvSpPr>
          <p:nvPr>
            <p:ph type="body" idx="1"/>
          </p:nvPr>
        </p:nvSpPr>
        <p:spPr/>
        <p:txBody>
          <a:bodyPr/>
          <a:lstStyle/>
          <a:p>
            <a:r>
              <a:rPr lang="zh-TW" altLang="zh-TW" dirty="0"/>
              <a:t>近年來「</a:t>
            </a:r>
            <a:r>
              <a:rPr lang="zh-TW" altLang="zh-TW" sz="1200" b="1" u="none" strike="noStrike" kern="1200" dirty="0">
                <a:solidFill>
                  <a:schemeClr val="tx1"/>
                </a:solidFill>
                <a:effectLst/>
                <a:latin typeface="+mn-lt"/>
                <a:ea typeface="+mn-ea"/>
                <a:cs typeface="+mn-cs"/>
              </a:rPr>
              <a:t>總參數量</a:t>
            </a:r>
            <a:r>
              <a:rPr lang="zh-TW" altLang="zh-TW" dirty="0"/>
              <a:t>」已不等於「</a:t>
            </a:r>
            <a:r>
              <a:rPr lang="zh-TW" altLang="zh-TW" sz="1200" b="1" u="none" strike="noStrike" kern="1200" dirty="0">
                <a:solidFill>
                  <a:schemeClr val="tx1"/>
                </a:solidFill>
                <a:effectLst/>
                <a:latin typeface="+mn-lt"/>
                <a:ea typeface="+mn-ea"/>
                <a:cs typeface="+mn-cs"/>
              </a:rPr>
              <a:t>實際運算量</a:t>
            </a:r>
            <a:r>
              <a:rPr lang="zh-TW" altLang="zh-TW" dirty="0"/>
              <a:t>」，因為許多模型採用了 MoE 技術，讓模型雖然體積龐大，但每次處理一個字（Token）時只需要啟動一小部分參數。</a:t>
            </a:r>
            <a:endParaRPr lang="en-US" altLang="zh-TW" dirty="0"/>
          </a:p>
          <a:p>
            <a:r>
              <a:rPr lang="zh-TW" altLang="zh-TW" sz="1200" b="0" u="none" strike="noStrike" kern="1200" dirty="0">
                <a:solidFill>
                  <a:schemeClr val="tx1"/>
                </a:solidFill>
                <a:effectLst/>
                <a:latin typeface="+mn-lt"/>
                <a:ea typeface="+mn-ea"/>
                <a:cs typeface="+mn-cs"/>
              </a:rPr>
              <a:t>DeepSeek 追求</a:t>
            </a:r>
            <a:r>
              <a:rPr lang="zh-TW" altLang="zh-TW" sz="1200" b="1" u="none" strike="noStrike" kern="1200" dirty="0">
                <a:solidFill>
                  <a:schemeClr val="tx1"/>
                </a:solidFill>
                <a:effectLst/>
                <a:latin typeface="+mn-lt"/>
                <a:ea typeface="+mn-ea"/>
                <a:cs typeface="+mn-cs"/>
              </a:rPr>
              <a:t>極致的硬體成本效益（Cost-Effective）與演算法魔改</a:t>
            </a:r>
            <a:r>
              <a:rPr lang="zh-TW" altLang="zh-TW" dirty="0"/>
              <a:t>；</a:t>
            </a:r>
            <a:br>
              <a:rPr lang="en-US" altLang="zh-TW" dirty="0"/>
            </a:br>
            <a:r>
              <a:rPr lang="zh-TW" altLang="zh-TW" dirty="0"/>
              <a:t>Meta Llama 則追求</a:t>
            </a:r>
            <a:r>
              <a:rPr lang="zh-TW" altLang="zh-TW" sz="1200" b="1" u="none" strike="noStrike" kern="1200" dirty="0">
                <a:solidFill>
                  <a:schemeClr val="tx1"/>
                </a:solidFill>
                <a:effectLst/>
                <a:latin typeface="+mn-lt"/>
                <a:ea typeface="+mn-ea"/>
                <a:cs typeface="+mn-cs"/>
              </a:rPr>
              <a:t>標準化、極致的架構穩定性（Scalability）與對開源生態的絕對相容</a:t>
            </a:r>
            <a:r>
              <a:rPr lang="zh-TW" altLang="zh-TW" dirty="0"/>
              <a:t>。</a:t>
            </a:r>
            <a:br>
              <a:rPr lang="en-US" altLang="zh-TW" dirty="0"/>
            </a:br>
            <a:br>
              <a:rPr lang="en-US" altLang="zh-TW" dirty="0"/>
            </a:br>
            <a:r>
              <a:rPr lang="en-US" altLang="zh-TW" dirty="0"/>
              <a:t>AWS Trainium </a:t>
            </a:r>
            <a:r>
              <a:rPr lang="zh-TW" altLang="en-US" dirty="0"/>
              <a:t>與 </a:t>
            </a:r>
            <a:r>
              <a:rPr lang="en-US" altLang="zh-TW" dirty="0"/>
              <a:t>AWS Graviton </a:t>
            </a:r>
            <a:r>
              <a:rPr lang="zh-TW" altLang="en-US" dirty="0"/>
              <a:t>是亞馬遜自研晶片體系中的兩大核心。</a:t>
            </a:r>
            <a:endParaRPr lang="en-US" altLang="zh-TW" dirty="0"/>
          </a:p>
          <a:p>
            <a:r>
              <a:rPr lang="en-US" altLang="zh-TW" dirty="0"/>
              <a:t>Graviton </a:t>
            </a:r>
            <a:r>
              <a:rPr lang="zh-TW" altLang="en-US" dirty="0"/>
              <a:t>是通用型 </a:t>
            </a:r>
            <a:r>
              <a:rPr lang="en-US" altLang="zh-TW" dirty="0"/>
              <a:t>CPU,</a:t>
            </a:r>
            <a:r>
              <a:rPr lang="zh-TW" altLang="en-US" dirty="0"/>
              <a:t> 負責處理日常雲端運算與後台任務；</a:t>
            </a:r>
            <a:endParaRPr lang="en-US" altLang="zh-TW" dirty="0"/>
          </a:p>
          <a:p>
            <a:r>
              <a:rPr lang="en-US" altLang="zh-TW" dirty="0"/>
              <a:t>Trainium </a:t>
            </a:r>
            <a:r>
              <a:rPr lang="zh-TW" altLang="en-US" dirty="0"/>
              <a:t>是專門的 </a:t>
            </a:r>
            <a:r>
              <a:rPr lang="en-US" altLang="zh-TW" dirty="0"/>
              <a:t>AI </a:t>
            </a:r>
            <a:r>
              <a:rPr lang="zh-TW" altLang="en-US" dirty="0"/>
              <a:t>加速晶片</a:t>
            </a:r>
            <a:r>
              <a:rPr lang="en-US" altLang="zh-TW" dirty="0"/>
              <a:t>, </a:t>
            </a:r>
            <a:r>
              <a:rPr lang="zh-TW" altLang="en-US" dirty="0"/>
              <a:t>專為大型 </a:t>
            </a:r>
            <a:r>
              <a:rPr lang="en-US" altLang="zh-TW" dirty="0"/>
              <a:t>AI </a:t>
            </a:r>
            <a:r>
              <a:rPr lang="zh-TW" altLang="en-US" dirty="0"/>
              <a:t>模型的訓練與密集運算而生。</a:t>
            </a:r>
          </a:p>
          <a:p>
            <a:endParaRPr lang="en-US" altLang="zh-TW" dirty="0"/>
          </a:p>
        </p:txBody>
      </p:sp>
      <p:sp>
        <p:nvSpPr>
          <p:cNvPr id="4" name="投影片編號版面配置區 3">
            <a:extLst>
              <a:ext uri="{FF2B5EF4-FFF2-40B4-BE49-F238E27FC236}">
                <a16:creationId xmlns:a16="http://schemas.microsoft.com/office/drawing/2014/main" id="{E6376BFF-A3BB-A521-4866-649E07CC4654}"/>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316665463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148A7-E727-1876-EEC2-EE1FF967761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8CDA593-F947-4F86-E4E2-84C334DA1432}"/>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C6618D0F-A824-BF63-762D-700713FACC9C}"/>
              </a:ext>
            </a:extLst>
          </p:cNvPr>
          <p:cNvSpPr>
            <a:spLocks noGrp="1"/>
          </p:cNvSpPr>
          <p:nvPr>
            <p:ph type="body" idx="1"/>
          </p:nvPr>
        </p:nvSpPr>
        <p:spPr/>
        <p:txBody>
          <a:bodyPr/>
          <a:lstStyle/>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A96DCFCD-5664-3FB0-02E6-0DE7A8DF9D26}"/>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24181901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FFFF6-2CBF-8300-113B-EC3DDABCDE2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9BDCECB-4022-305D-2A1D-EB19C4980CE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45B8918-8C92-3358-81A2-2E68D560F7D9}"/>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以下為 DeepSeek 最核心的五大底層技術突破：</a:t>
            </a:r>
          </a:p>
          <a:p>
            <a:r>
              <a:rPr lang="zh-TW" altLang="zh-TW" sz="1200" b="1" u="none" strike="noStrike" kern="1200" dirty="0">
                <a:solidFill>
                  <a:schemeClr val="tx1"/>
                </a:solidFill>
                <a:effectLst/>
                <a:latin typeface="+mn-lt"/>
                <a:ea typeface="+mn-ea"/>
                <a:cs typeface="+mn-cs"/>
              </a:rPr>
              <a:t>1. MLA（Multi-head Latent Attention，多頭潛在注意力機制）</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：傳統大模型在大規模並發推理時，需要消耗海量的記憶體來儲存 </a:t>
            </a:r>
            <a:r>
              <a:rPr lang="zh-TW" altLang="zh-TW" sz="1200" b="1" u="none" strike="noStrike" kern="1200" dirty="0">
                <a:solidFill>
                  <a:schemeClr val="tx1"/>
                </a:solidFill>
                <a:effectLst/>
                <a:latin typeface="+mn-lt"/>
                <a:ea typeface="+mn-ea"/>
                <a:cs typeface="+mn-cs"/>
              </a:rPr>
              <a:t>KV Cache（鍵值快取）</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MLA 創新地採用了</a:t>
            </a:r>
            <a:r>
              <a:rPr lang="zh-TW" altLang="zh-TW" sz="1200" b="1" u="none" strike="noStrike" kern="1200" dirty="0">
                <a:solidFill>
                  <a:schemeClr val="tx1"/>
                </a:solidFill>
                <a:effectLst/>
                <a:latin typeface="+mn-lt"/>
                <a:ea typeface="+mn-ea"/>
                <a:cs typeface="+mn-cs"/>
              </a:rPr>
              <a:t>低秩聯合壓縮技術</a:t>
            </a:r>
            <a:r>
              <a:rPr lang="zh-TW" altLang="zh-TW" sz="1200" b="0" u="none" strike="noStrike" kern="1200" dirty="0">
                <a:solidFill>
                  <a:schemeClr val="tx1"/>
                </a:solidFill>
                <a:effectLst/>
                <a:latin typeface="+mn-lt"/>
                <a:ea typeface="+mn-ea"/>
                <a:cs typeface="+mn-cs"/>
              </a:rPr>
              <a:t>，將 Key 和 Value 向量壓縮成一個極小的潛在向量。</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：在保持頂尖性能的同時，</a:t>
            </a:r>
            <a:r>
              <a:rPr lang="zh-TW" altLang="zh-TW" sz="1200" b="1" u="none" strike="noStrike" kern="1200" dirty="0">
                <a:solidFill>
                  <a:schemeClr val="tx1"/>
                </a:solidFill>
                <a:effectLst/>
                <a:latin typeface="+mn-lt"/>
                <a:ea typeface="+mn-ea"/>
                <a:cs typeface="+mn-cs"/>
              </a:rPr>
              <a:t>大幅降低了 93.3% 的 KV Cache 記憶體佔用</a:t>
            </a:r>
            <a:r>
              <a:rPr lang="zh-TW" altLang="zh-TW" sz="1200" b="0" u="none" strike="noStrike" kern="1200" dirty="0">
                <a:solidFill>
                  <a:schemeClr val="tx1"/>
                </a:solidFill>
                <a:effectLst/>
                <a:latin typeface="+mn-lt"/>
                <a:ea typeface="+mn-ea"/>
                <a:cs typeface="+mn-cs"/>
              </a:rPr>
              <a:t>，讓單張顯卡可以同時處理更多用戶的請求（提高吞吐量），顯著降低推理成本。</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DeepSeekMoE</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：與普通的 MoE（如 GPT-4）不同，DeepSeek 將專家網路進行了</a:t>
            </a:r>
            <a:r>
              <a:rPr lang="zh-TW" altLang="zh-TW" sz="1200" b="1" u="none" strike="noStrike" kern="1200" dirty="0">
                <a:solidFill>
                  <a:schemeClr val="tx1"/>
                </a:solidFill>
                <a:effectLst/>
                <a:latin typeface="+mn-lt"/>
                <a:ea typeface="+mn-ea"/>
                <a:cs typeface="+mn-cs"/>
              </a:rPr>
              <a:t>細粒度分割</a:t>
            </a:r>
            <a:r>
              <a:rPr lang="zh-TW" altLang="zh-TW" sz="1200" b="0" u="none" strike="noStrike" kern="1200" dirty="0">
                <a:solidFill>
                  <a:schemeClr val="tx1"/>
                </a:solidFill>
                <a:effectLst/>
                <a:latin typeface="+mn-lt"/>
                <a:ea typeface="+mn-ea"/>
                <a:cs typeface="+mn-cs"/>
              </a:rPr>
              <a:t>，劃分為「共享專家」與「路由專家」。</a:t>
            </a:r>
          </a:p>
          <a:p>
            <a:pPr lvl="1"/>
            <a:r>
              <a:rPr lang="zh-TW" altLang="zh-TW" sz="1200" b="1" u="none" strike="noStrike" kern="1200" dirty="0">
                <a:solidFill>
                  <a:schemeClr val="tx1"/>
                </a:solidFill>
                <a:effectLst/>
                <a:latin typeface="+mn-lt"/>
                <a:ea typeface="+mn-ea"/>
                <a:cs typeface="+mn-cs"/>
              </a:rPr>
              <a:t>共享專家（Shared Expert）</a:t>
            </a:r>
            <a:r>
              <a:rPr lang="zh-TW" altLang="zh-TW" sz="1200" b="0" u="none" strike="noStrike" kern="1200" dirty="0">
                <a:solidFill>
                  <a:schemeClr val="tx1"/>
                </a:solidFill>
                <a:effectLst/>
                <a:latin typeface="+mn-lt"/>
                <a:ea typeface="+mn-ea"/>
                <a:cs typeface="+mn-cs"/>
              </a:rPr>
              <a:t>：專門負責捕獲所有任務共同的通用知識。</a:t>
            </a:r>
          </a:p>
          <a:p>
            <a:pPr lvl="1"/>
            <a:r>
              <a:rPr lang="zh-TW" altLang="zh-TW" sz="1200" b="1" u="none" strike="noStrike" kern="1200" dirty="0">
                <a:solidFill>
                  <a:schemeClr val="tx1"/>
                </a:solidFill>
                <a:effectLst/>
                <a:latin typeface="+mn-lt"/>
                <a:ea typeface="+mn-ea"/>
                <a:cs typeface="+mn-cs"/>
              </a:rPr>
              <a:t>路由專家（Routed Experts）</a:t>
            </a:r>
            <a:r>
              <a:rPr lang="zh-TW" altLang="zh-TW" sz="1200" b="0" u="none" strike="noStrike" kern="1200" dirty="0">
                <a:solidFill>
                  <a:schemeClr val="tx1"/>
                </a:solidFill>
                <a:effectLst/>
                <a:latin typeface="+mn-lt"/>
                <a:ea typeface="+mn-ea"/>
                <a:cs typeface="+mn-cs"/>
              </a:rPr>
              <a:t>：進一步細分，被動激活來處理特定專業領域的任務。</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：避免了專家之間的知識冗餘，並研發出「無輔助損失的負載均衡策略」，解決了以往 MoE 模型訓練不均勻的難題，達到</a:t>
            </a:r>
            <a:r>
              <a:rPr lang="zh-TW" altLang="zh-TW" sz="1200" b="1" u="none" strike="noStrike" kern="1200" dirty="0">
                <a:solidFill>
                  <a:schemeClr val="tx1"/>
                </a:solidFill>
                <a:effectLst/>
                <a:latin typeface="+mn-lt"/>
                <a:ea typeface="+mn-ea"/>
                <a:cs typeface="+mn-cs"/>
              </a:rPr>
              <a:t>高參數總量、低激活計算量</a:t>
            </a:r>
            <a:r>
              <a:rPr lang="zh-TW" altLang="zh-TW" sz="1200" b="0" u="none" strike="noStrike" kern="1200" dirty="0">
                <a:solidFill>
                  <a:schemeClr val="tx1"/>
                </a:solidFill>
                <a:effectLst/>
                <a:latin typeface="+mn-lt"/>
                <a:ea typeface="+mn-ea"/>
                <a:cs typeface="+mn-cs"/>
              </a:rPr>
              <a:t>的完美平衡。</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GRPO（Group Relative Policy Optimization，廣義相對策略優化）</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：在進行強化學習（RL）訓練時，傳統的 PPO 演算法需要佈署一個體積龐大、耗費算力的「評論家模型（Critic Model）」來打分。而 </a:t>
            </a:r>
            <a:r>
              <a:rPr lang="zh-TW" altLang="zh-TW" sz="1200" b="1" u="none" strike="noStrike" kern="1200" dirty="0">
                <a:solidFill>
                  <a:schemeClr val="tx1"/>
                </a:solidFill>
                <a:effectLst/>
                <a:latin typeface="+mn-lt"/>
                <a:ea typeface="+mn-ea"/>
                <a:cs typeface="+mn-cs"/>
              </a:rPr>
              <a:t>GRPO 直接取消了 Critic 模型</a:t>
            </a:r>
            <a:r>
              <a:rPr lang="zh-TW" altLang="zh-TW" sz="1200" b="0" u="none" strike="noStrike" kern="1200" dirty="0">
                <a:solidFill>
                  <a:schemeClr val="tx1"/>
                </a:solidFill>
                <a:effectLst/>
                <a:latin typeface="+mn-lt"/>
                <a:ea typeface="+mn-ea"/>
                <a:cs typeface="+mn-cs"/>
              </a:rPr>
              <a:t>，改為讓模型同時生成一組回答（Group），並透過這一組回答之間的</a:t>
            </a:r>
            <a:r>
              <a:rPr lang="zh-TW" altLang="zh-TW" sz="1200" b="1" u="none" strike="noStrike" kern="1200" dirty="0">
                <a:solidFill>
                  <a:schemeClr val="tx1"/>
                </a:solidFill>
                <a:effectLst/>
                <a:latin typeface="+mn-lt"/>
                <a:ea typeface="+mn-ea"/>
                <a:cs typeface="+mn-cs"/>
              </a:rPr>
              <a:t>相對好壞</a:t>
            </a:r>
            <a:r>
              <a:rPr lang="zh-TW" altLang="zh-TW" sz="1200" b="0" u="none" strike="noStrike" kern="1200" dirty="0">
                <a:solidFill>
                  <a:schemeClr val="tx1"/>
                </a:solidFill>
                <a:effectLst/>
                <a:latin typeface="+mn-lt"/>
                <a:ea typeface="+mn-ea"/>
                <a:cs typeface="+mn-cs"/>
              </a:rPr>
              <a:t>來進行自我修正與學習。</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節省了大量的訓練記憶體與算力</a:t>
            </a:r>
            <a:r>
              <a:rPr lang="zh-TW" altLang="zh-TW" sz="1200" b="0" u="none" strike="noStrike" kern="1200" dirty="0">
                <a:solidFill>
                  <a:schemeClr val="tx1"/>
                </a:solidFill>
                <a:effectLst/>
                <a:latin typeface="+mn-lt"/>
                <a:ea typeface="+mn-ea"/>
                <a:cs typeface="+mn-cs"/>
              </a:rPr>
              <a:t>，這是 DeepSeek-R1 模型能夠在不依賴大量人工微調（SFT）的情況下，自我湧現出強大邏輯思考與「思維鏈（CoT）」能力的關鍵演算法。</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MTP（Multi-Token Prediction，多 Token 預測技術）</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：傳統大模型在訓練時，每次只預測下一個字（Next-Token Prediction）。DeepSeek 引入了 MTP，在每個訓練位置上</a:t>
            </a:r>
            <a:r>
              <a:rPr lang="zh-TW" altLang="zh-TW" sz="1200" b="1" u="none" strike="noStrike" kern="1200" dirty="0">
                <a:solidFill>
                  <a:schemeClr val="tx1"/>
                </a:solidFill>
                <a:effectLst/>
                <a:latin typeface="+mn-lt"/>
                <a:ea typeface="+mn-ea"/>
                <a:cs typeface="+mn-cs"/>
              </a:rPr>
              <a:t>一次性並行或順序預測多個未來的 Token</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：大幅提升了模型在訓練時的數據利用效率，讓模型對上下文的長文本演進具有更強的規劃能力，進一步優化了程式碼與邏輯推理的表現。</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5. 極致的硬體與通訊工程優化</a:t>
            </a:r>
          </a:p>
          <a:p>
            <a:pPr lvl="0"/>
            <a:r>
              <a:rPr lang="zh-TW" altLang="zh-TW" sz="1200" b="1" u="none" strike="noStrike" kern="1200" dirty="0">
                <a:solidFill>
                  <a:schemeClr val="tx1"/>
                </a:solidFill>
                <a:effectLst/>
                <a:latin typeface="+mn-lt"/>
                <a:ea typeface="+mn-ea"/>
                <a:cs typeface="+mn-cs"/>
              </a:rPr>
              <a:t>DualPipe 流水線並行</a:t>
            </a:r>
            <a:r>
              <a:rPr lang="zh-TW" altLang="zh-TW" sz="1200" b="0" u="none" strike="noStrike" kern="1200" dirty="0">
                <a:solidFill>
                  <a:schemeClr val="tx1"/>
                </a:solidFill>
                <a:effectLst/>
                <a:latin typeface="+mn-lt"/>
                <a:ea typeface="+mn-ea"/>
                <a:cs typeface="+mn-cs"/>
              </a:rPr>
              <a:t>：自研的高效並行演算法，成功讓 GPU 在進行跨節點通訊時「重疊」計算與數據傳輸，</a:t>
            </a:r>
            <a:r>
              <a:rPr lang="zh-TW" altLang="zh-TW" sz="1200" b="1" u="none" strike="noStrike" kern="1200" dirty="0">
                <a:solidFill>
                  <a:schemeClr val="tx1"/>
                </a:solidFill>
                <a:effectLst/>
                <a:latin typeface="+mn-lt"/>
                <a:ea typeface="+mn-ea"/>
                <a:cs typeface="+mn-cs"/>
              </a:rPr>
              <a:t>消除了 GPU 等待通訊的空閒時間（Bubble）</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FP8 低精度訓練</a:t>
            </a:r>
            <a:r>
              <a:rPr lang="zh-TW" altLang="zh-TW" sz="1200" b="0" u="none" strike="noStrike" kern="1200" dirty="0">
                <a:solidFill>
                  <a:schemeClr val="tx1"/>
                </a:solidFill>
                <a:effectLst/>
                <a:latin typeface="+mn-lt"/>
                <a:ea typeface="+mn-ea"/>
                <a:cs typeface="+mn-cs"/>
              </a:rPr>
              <a:t>：大規模在模型中採用 FP8（8位浮點數）精度進行計算，在極少損失精確度的情況下，將記憶體頻寬與計算速度逼近硬體極限。</a:t>
            </a:r>
          </a:p>
          <a:p>
            <a:pPr lvl="0"/>
            <a:r>
              <a:rPr lang="zh-TW" altLang="zh-TW" sz="1200" b="1" u="none" strike="noStrike" kern="1200" dirty="0">
                <a:solidFill>
                  <a:schemeClr val="tx1"/>
                </a:solidFill>
                <a:effectLst/>
                <a:latin typeface="+mn-lt"/>
                <a:ea typeface="+mn-ea"/>
                <a:cs typeface="+mn-cs"/>
              </a:rPr>
              <a:t>3FS（Fire-Flyer 檔案系統）</a:t>
            </a:r>
            <a:r>
              <a:rPr lang="zh-TW" altLang="zh-TW" sz="1200" b="0" u="none" strike="noStrike" kern="1200" dirty="0">
                <a:solidFill>
                  <a:schemeClr val="tx1"/>
                </a:solidFill>
                <a:effectLst/>
                <a:latin typeface="+mn-lt"/>
                <a:ea typeface="+mn-ea"/>
                <a:cs typeface="+mn-cs"/>
              </a:rPr>
              <a:t>：因應自建的算力集群開發的分布式並行檔案系統，專為大模型訓練中的隨機高頻讀取量身打造。 </a:t>
            </a:r>
          </a:p>
        </p:txBody>
      </p:sp>
      <p:sp>
        <p:nvSpPr>
          <p:cNvPr id="4" name="投影片編號版面配置區 3">
            <a:extLst>
              <a:ext uri="{FF2B5EF4-FFF2-40B4-BE49-F238E27FC236}">
                <a16:creationId xmlns:a16="http://schemas.microsoft.com/office/drawing/2014/main" id="{10192911-3471-19CB-5ED9-6FC7027DB73E}"/>
              </a:ext>
            </a:extLst>
          </p:cNvPr>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30229445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38</a:t>
            </a:fld>
            <a:endParaRPr lang="zh-TW" altLang="en-US"/>
          </a:p>
        </p:txBody>
      </p:sp>
    </p:spTree>
    <p:extLst>
      <p:ext uri="{BB962C8B-B14F-4D97-AF65-F5344CB8AC3E}">
        <p14:creationId xmlns:p14="http://schemas.microsoft.com/office/powerpoint/2010/main" val="25572861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529A-4EF9-2EEE-5A60-C291D7D7775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C0779BF-F829-C373-BE62-F8275D55A9B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B531954-A0C7-0F67-E78A-CBF9608AE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294B2211-4D24-D0CD-E8B5-6DAC6082A825}"/>
              </a:ext>
            </a:extLst>
          </p:cNvPr>
          <p:cNvSpPr>
            <a:spLocks noGrp="1"/>
          </p:cNvSpPr>
          <p:nvPr>
            <p:ph type="sldNum" sz="quarter" idx="5"/>
          </p:nvPr>
        </p:nvSpPr>
        <p:spPr/>
        <p:txBody>
          <a:bodyPr/>
          <a:lstStyle/>
          <a:p>
            <a:fld id="{E3A6CE5E-F349-486D-8749-82EF2AD71FA8}" type="slidenum">
              <a:rPr lang="zh-TW" altLang="en-US" smtClean="0"/>
              <a:t>43</a:t>
            </a:fld>
            <a:endParaRPr lang="zh-TW" altLang="en-US"/>
          </a:p>
        </p:txBody>
      </p:sp>
    </p:spTree>
    <p:extLst>
      <p:ext uri="{BB962C8B-B14F-4D97-AF65-F5344CB8AC3E}">
        <p14:creationId xmlns:p14="http://schemas.microsoft.com/office/powerpoint/2010/main" val="413775462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5B09-3B3A-04FC-B910-FD514564E8D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97D7B1-3963-C2C0-8936-531A5502EA3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D87AC4C-85F7-140D-7FC7-B8BF07EEF986}"/>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72BCDD50-3061-C594-041C-9330E755B76F}"/>
              </a:ext>
            </a:extLst>
          </p:cNvPr>
          <p:cNvSpPr>
            <a:spLocks noGrp="1"/>
          </p:cNvSpPr>
          <p:nvPr>
            <p:ph type="sldNum" sz="quarter" idx="5"/>
          </p:nvPr>
        </p:nvSpPr>
        <p:spPr/>
        <p:txBody>
          <a:bodyPr/>
          <a:lstStyle/>
          <a:p>
            <a:fld id="{E3A6CE5E-F349-486D-8749-82EF2AD71FA8}" type="slidenum">
              <a:rPr lang="zh-TW" altLang="en-US" smtClean="0"/>
              <a:t>44</a:t>
            </a:fld>
            <a:endParaRPr lang="zh-TW" altLang="en-US"/>
          </a:p>
        </p:txBody>
      </p:sp>
    </p:spTree>
    <p:extLst>
      <p:ext uri="{BB962C8B-B14F-4D97-AF65-F5344CB8AC3E}">
        <p14:creationId xmlns:p14="http://schemas.microsoft.com/office/powerpoint/2010/main" val="340224797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F9E9-CC83-DF27-E397-155D3F2D0B0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3C573ED-4303-C760-C0E6-466DBCFD019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555CB64-0641-AE5C-0077-6CD2BA1E2E47}"/>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66461CB-AAFB-8D6B-0436-EE1377E4AB5B}"/>
              </a:ext>
            </a:extLst>
          </p:cNvPr>
          <p:cNvSpPr>
            <a:spLocks noGrp="1"/>
          </p:cNvSpPr>
          <p:nvPr>
            <p:ph type="sldNum" sz="quarter" idx="5"/>
          </p:nvPr>
        </p:nvSpPr>
        <p:spPr/>
        <p:txBody>
          <a:bodyPr/>
          <a:lstStyle/>
          <a:p>
            <a:fld id="{E3A6CE5E-F349-486D-8749-82EF2AD71FA8}" type="slidenum">
              <a:rPr lang="zh-TW" altLang="en-US" smtClean="0"/>
              <a:t>45</a:t>
            </a:fld>
            <a:endParaRPr lang="zh-TW" altLang="en-US"/>
          </a:p>
        </p:txBody>
      </p:sp>
    </p:spTree>
    <p:extLst>
      <p:ext uri="{BB962C8B-B14F-4D97-AF65-F5344CB8AC3E}">
        <p14:creationId xmlns:p14="http://schemas.microsoft.com/office/powerpoint/2010/main" val="393989916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46</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8A0C2-F10F-41F2-4901-D00B23DA82B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309C615-DC37-D33D-FC81-B6B7E8E5162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4B19ED-2691-D788-2378-E6045F29620F}"/>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74594A81-2AB8-1C7D-0016-4C3AEAD9A2B0}"/>
              </a:ext>
            </a:extLst>
          </p:cNvPr>
          <p:cNvSpPr>
            <a:spLocks noGrp="1"/>
          </p:cNvSpPr>
          <p:nvPr>
            <p:ph type="sldNum" sz="quarter" idx="5"/>
          </p:nvPr>
        </p:nvSpPr>
        <p:spPr/>
        <p:txBody>
          <a:bodyPr/>
          <a:lstStyle/>
          <a:p>
            <a:fld id="{E3A6CE5E-F349-486D-8749-82EF2AD71FA8}" type="slidenum">
              <a:rPr lang="zh-TW" altLang="en-US" smtClean="0"/>
              <a:t>47</a:t>
            </a:fld>
            <a:endParaRPr lang="zh-TW" altLang="en-US"/>
          </a:p>
        </p:txBody>
      </p:sp>
    </p:spTree>
    <p:extLst>
      <p:ext uri="{BB962C8B-B14F-4D97-AF65-F5344CB8AC3E}">
        <p14:creationId xmlns:p14="http://schemas.microsoft.com/office/powerpoint/2010/main" val="25534335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4926C-9EED-C470-ED03-7E77F765696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57F5C9E-88DB-47B1-6582-F37455330CF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42B8BCA-D2D3-D8F3-5EF4-B9A54DB6AD62}"/>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3B417082-2C85-C436-A2CB-60D654461411}"/>
              </a:ext>
            </a:extLst>
          </p:cNvPr>
          <p:cNvSpPr>
            <a:spLocks noGrp="1"/>
          </p:cNvSpPr>
          <p:nvPr>
            <p:ph type="sldNum" sz="quarter" idx="5"/>
          </p:nvPr>
        </p:nvSpPr>
        <p:spPr/>
        <p:txBody>
          <a:bodyPr/>
          <a:lstStyle/>
          <a:p>
            <a:fld id="{E3A6CE5E-F349-486D-8749-82EF2AD71FA8}" type="slidenum">
              <a:rPr lang="zh-TW" altLang="en-US" smtClean="0"/>
              <a:t>48</a:t>
            </a:fld>
            <a:endParaRPr lang="zh-TW" altLang="en-US"/>
          </a:p>
        </p:txBody>
      </p:sp>
    </p:spTree>
    <p:extLst>
      <p:ext uri="{BB962C8B-B14F-4D97-AF65-F5344CB8AC3E}">
        <p14:creationId xmlns:p14="http://schemas.microsoft.com/office/powerpoint/2010/main" val="38796012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49</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54</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55</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2026/8/13</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2026/8/13</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10.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1.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3.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5.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7.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46.png"/><Relationship Id="rId4" Type="http://schemas.openxmlformats.org/officeDocument/2006/relationships/image" Target="../media/image45.png"/></Relationships>
</file>

<file path=ppt/slides/_rels/slide19.xml.rels><?xml version="1.0" encoding="UTF-8" standalone="yes"?>
<Relationships xmlns="http://schemas.openxmlformats.org/package/2006/relationships"><Relationship Id="rId3" Type="http://schemas.openxmlformats.org/officeDocument/2006/relationships/image" Target="../media/image47.svg"/><Relationship Id="rId7" Type="http://schemas.openxmlformats.org/officeDocument/2006/relationships/image" Target="../media/image51.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50.png"/><Relationship Id="rId5" Type="http://schemas.openxmlformats.org/officeDocument/2006/relationships/image" Target="../media/image49.svg"/><Relationship Id="rId4" Type="http://schemas.openxmlformats.org/officeDocument/2006/relationships/image" Target="../media/image48.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8" Type="http://schemas.openxmlformats.org/officeDocument/2006/relationships/image" Target="../media/image61.svg"/><Relationship Id="rId3" Type="http://schemas.openxmlformats.org/officeDocument/2006/relationships/image" Target="../media/image56.svg"/><Relationship Id="rId7" Type="http://schemas.openxmlformats.org/officeDocument/2006/relationships/image" Target="../media/image60.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59.svg"/><Relationship Id="rId5" Type="http://schemas.openxmlformats.org/officeDocument/2006/relationships/image" Target="../media/image58.png"/><Relationship Id="rId10" Type="http://schemas.openxmlformats.org/officeDocument/2006/relationships/image" Target="../media/image63.svg"/><Relationship Id="rId4" Type="http://schemas.openxmlformats.org/officeDocument/2006/relationships/image" Target="../media/image57.svg"/><Relationship Id="rId9" Type="http://schemas.openxmlformats.org/officeDocument/2006/relationships/image" Target="../media/image62.svg"/></Relationships>
</file>

<file path=ppt/slides/_rels/slide25.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57.sv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65.svg"/><Relationship Id="rId5" Type="http://schemas.openxmlformats.org/officeDocument/2006/relationships/image" Target="../media/image64.svg"/><Relationship Id="rId4" Type="http://schemas.openxmlformats.org/officeDocument/2006/relationships/image" Target="../media/image59.svg"/></Relationships>
</file>

<file path=ppt/slides/_rels/slide2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67.svg"/></Relationships>
</file>

<file path=ppt/slides/_rels/slide27.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68.png"/><Relationship Id="rId1" Type="http://schemas.openxmlformats.org/officeDocument/2006/relationships/slideLayout" Target="../slideLayouts/slideLayout3.xml"/><Relationship Id="rId4" Type="http://schemas.openxmlformats.org/officeDocument/2006/relationships/image" Target="../media/image69.jpeg"/></Relationships>
</file>

<file path=ppt/slides/_rels/slide28.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71.png"/><Relationship Id="rId7" Type="http://schemas.openxmlformats.org/officeDocument/2006/relationships/image" Target="../media/image75.png"/><Relationship Id="rId2" Type="http://schemas.openxmlformats.org/officeDocument/2006/relationships/notesSlide" Target="../notesSlides/notesSlide25.xml"/><Relationship Id="rId1" Type="http://schemas.openxmlformats.org/officeDocument/2006/relationships/slideLayout" Target="../slideLayouts/slideLayout3.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jpeg"/></Relationships>
</file>

<file path=ppt/slides/_rels/slide29.xml.rels><?xml version="1.0" encoding="UTF-8" standalone="yes"?>
<Relationships xmlns="http://schemas.openxmlformats.org/package/2006/relationships"><Relationship Id="rId3" Type="http://schemas.openxmlformats.org/officeDocument/2006/relationships/image" Target="../media/image76.sv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77.svg"/></Relationships>
</file>

<file path=ppt/slides/_rels/slide30.xml.rels><?xml version="1.0" encoding="UTF-8" standalone="yes"?>
<Relationships xmlns="http://schemas.openxmlformats.org/package/2006/relationships"><Relationship Id="rId3" Type="http://schemas.openxmlformats.org/officeDocument/2006/relationships/image" Target="../media/image78.svg"/><Relationship Id="rId7" Type="http://schemas.openxmlformats.org/officeDocument/2006/relationships/image" Target="../media/image82.svg"/><Relationship Id="rId2" Type="http://schemas.openxmlformats.org/officeDocument/2006/relationships/notesSlide" Target="../notesSlides/notesSlide27.xml"/><Relationship Id="rId1" Type="http://schemas.openxmlformats.org/officeDocument/2006/relationships/slideLayout" Target="../slideLayouts/slideLayout3.xml"/><Relationship Id="rId6" Type="http://schemas.openxmlformats.org/officeDocument/2006/relationships/image" Target="../media/image81.svg"/><Relationship Id="rId5" Type="http://schemas.openxmlformats.org/officeDocument/2006/relationships/image" Target="../media/image80.svg"/><Relationship Id="rId4" Type="http://schemas.openxmlformats.org/officeDocument/2006/relationships/image" Target="../media/image79.sv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83.jpeg"/><Relationship Id="rId2" Type="http://schemas.openxmlformats.org/officeDocument/2006/relationships/notesSlide" Target="../notesSlides/notesSlide34.xml"/><Relationship Id="rId1" Type="http://schemas.openxmlformats.org/officeDocument/2006/relationships/slideLayout" Target="../slideLayouts/slideLayout3.xml"/><Relationship Id="rId4" Type="http://schemas.openxmlformats.org/officeDocument/2006/relationships/image" Target="../media/image84.png"/></Relationships>
</file>

<file path=ppt/slides/_rels/slide3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87.png"/><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41.xml"/><Relationship Id="rId1" Type="http://schemas.openxmlformats.org/officeDocument/2006/relationships/slideLayout" Target="../slideLayouts/slideLayout3.xml"/><Relationship Id="rId4" Type="http://schemas.openxmlformats.org/officeDocument/2006/relationships/image" Target="../media/image89.png"/></Relationships>
</file>

<file path=ppt/slides/_rels/slide49.xml.rels><?xml version="1.0" encoding="UTF-8" standalone="yes"?>
<Relationships xmlns="http://schemas.openxmlformats.org/package/2006/relationships"><Relationship Id="rId8" Type="http://schemas.openxmlformats.org/officeDocument/2006/relationships/image" Target="../media/image89.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96.png"/><Relationship Id="rId2" Type="http://schemas.openxmlformats.org/officeDocument/2006/relationships/notesSlide" Target="../notesSlides/notesSlide42.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5.png"/><Relationship Id="rId5" Type="http://schemas.openxmlformats.org/officeDocument/2006/relationships/image" Target="../media/image3.png"/><Relationship Id="rId10" Type="http://schemas.openxmlformats.org/officeDocument/2006/relationships/image" Target="../media/image94.png"/><Relationship Id="rId4" Type="http://schemas.openxmlformats.org/officeDocument/2006/relationships/image" Target="../media/image2.png"/><Relationship Id="rId9" Type="http://schemas.openxmlformats.org/officeDocument/2006/relationships/image" Target="../media/image93.png"/></Relationships>
</file>

<file path=ppt/slides/_rels/slide50.xml.rels><?xml version="1.0" encoding="UTF-8" standalone="yes"?>
<Relationships xmlns="http://schemas.openxmlformats.org/package/2006/relationships"><Relationship Id="rId3" Type="http://schemas.openxmlformats.org/officeDocument/2006/relationships/image" Target="../media/image98.png"/><Relationship Id="rId7" Type="http://schemas.openxmlformats.org/officeDocument/2006/relationships/image" Target="../media/image68.png"/><Relationship Id="rId2" Type="http://schemas.openxmlformats.org/officeDocument/2006/relationships/image" Target="../media/image97.png"/><Relationship Id="rId1" Type="http://schemas.openxmlformats.org/officeDocument/2006/relationships/slideLayout" Target="../slideLayouts/slideLayout3.xml"/><Relationship Id="rId6" Type="http://schemas.openxmlformats.org/officeDocument/2006/relationships/image" Target="../media/image69.jpeg"/><Relationship Id="rId5" Type="http://schemas.openxmlformats.org/officeDocument/2006/relationships/image" Target="../media/image58.png"/><Relationship Id="rId4" Type="http://schemas.openxmlformats.org/officeDocument/2006/relationships/image" Target="../media/image99.png"/></Relationships>
</file>

<file path=ppt/slides/_rels/slide51.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4.xml"/><Relationship Id="rId5" Type="http://schemas.openxmlformats.org/officeDocument/2006/relationships/image" Target="../media/image103.png"/><Relationship Id="rId4" Type="http://schemas.openxmlformats.org/officeDocument/2006/relationships/image" Target="../media/image102.png"/></Relationships>
</file>

<file path=ppt/slides/_rels/slide53.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4.xml"/><Relationship Id="rId5" Type="http://schemas.openxmlformats.org/officeDocument/2006/relationships/image" Target="../media/image107.png"/><Relationship Id="rId4" Type="http://schemas.openxmlformats.org/officeDocument/2006/relationships/image" Target="../media/image106.png"/></Relationships>
</file>

<file path=ppt/slides/_rels/slide54.xml.rels><?xml version="1.0" encoding="UTF-8" standalone="yes"?>
<Relationships xmlns="http://schemas.openxmlformats.org/package/2006/relationships"><Relationship Id="rId8" Type="http://schemas.openxmlformats.org/officeDocument/2006/relationships/image" Target="../media/image112.png"/><Relationship Id="rId3" Type="http://schemas.openxmlformats.org/officeDocument/2006/relationships/image" Target="../media/image108.png"/><Relationship Id="rId7" Type="http://schemas.openxmlformats.org/officeDocument/2006/relationships/image" Target="../media/image111.png"/><Relationship Id="rId2" Type="http://schemas.openxmlformats.org/officeDocument/2006/relationships/notesSlide" Target="../notesSlides/notesSlide43.xml"/><Relationship Id="rId1" Type="http://schemas.openxmlformats.org/officeDocument/2006/relationships/slideLayout" Target="../slideLayouts/slideLayout4.xml"/><Relationship Id="rId6" Type="http://schemas.openxmlformats.org/officeDocument/2006/relationships/image" Target="../media/image110.png"/><Relationship Id="rId5" Type="http://schemas.openxmlformats.org/officeDocument/2006/relationships/image" Target="../media/image2300.png"/><Relationship Id="rId4" Type="http://schemas.openxmlformats.org/officeDocument/2006/relationships/image" Target="../media/image109.png"/></Relationships>
</file>

<file path=ppt/slides/_rels/slide55.xml.rels><?xml version="1.0" encoding="UTF-8" standalone="yes"?>
<Relationships xmlns="http://schemas.openxmlformats.org/package/2006/relationships"><Relationship Id="rId8" Type="http://schemas.openxmlformats.org/officeDocument/2006/relationships/image" Target="../media/image118.png"/><Relationship Id="rId3" Type="http://schemas.openxmlformats.org/officeDocument/2006/relationships/image" Target="../media/image113.png"/><Relationship Id="rId7" Type="http://schemas.openxmlformats.org/officeDocument/2006/relationships/image" Target="../media/image117.png"/><Relationship Id="rId2" Type="http://schemas.openxmlformats.org/officeDocument/2006/relationships/notesSlide" Target="../notesSlides/notesSlide44.xml"/><Relationship Id="rId1" Type="http://schemas.openxmlformats.org/officeDocument/2006/relationships/slideLayout" Target="../slideLayouts/slideLayout4.xml"/><Relationship Id="rId6" Type="http://schemas.openxmlformats.org/officeDocument/2006/relationships/image" Target="../media/image116.png"/><Relationship Id="rId5" Type="http://schemas.openxmlformats.org/officeDocument/2006/relationships/image" Target="../media/image115.png"/><Relationship Id="rId4" Type="http://schemas.openxmlformats.org/officeDocument/2006/relationships/image" Target="../media/image114.png"/><Relationship Id="rId9" Type="http://schemas.openxmlformats.org/officeDocument/2006/relationships/image" Target="../media/image11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0" nodeType="withEffect">
                                  <p:stCondLst>
                                    <p:cond delay="0"/>
                                  </p:stCondLst>
                                  <p:childTnLst>
                                    <p:animClr clrSpc="rgb" dir="cw">
                                      <p:cBhvr override="childStyle">
                                        <p:cTn id="3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0" nodeType="withEffect">
                                  <p:stCondLst>
                                    <p:cond delay="0"/>
                                  </p:stCondLst>
                                  <p:childTnLst>
                                    <p:animClr clrSpc="rgb" dir="cw">
                                      <p:cBhvr override="childStyle">
                                        <p:cTn id="3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2" end="2"/>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3" end="3"/>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4" end="4"/>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5" end="5"/>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6" end="6"/>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7" end="7"/>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8" end="8"/>
                                            </p:txEl>
                                          </p:spTgt>
                                        </p:tgtEl>
                                        <p:attrNameLst>
                                          <p:attrName>style.color</p:attrName>
                                        </p:attrNameLst>
                                      </p:cBhvr>
                                      <p:to>
                                        <a:srgbClr val="D8A09C"/>
                                      </p:to>
                                    </p:animClr>
                                  </p:childTnLst>
                                </p:cTn>
                              </p:par>
                              <p:par>
                                <p:cTn id="51" presetID="3" presetClass="emph" presetSubtype="2" fill="hold" grpId="1" nodeType="withEffect">
                                  <p:stCondLst>
                                    <p:cond delay="0"/>
                                  </p:stCondLst>
                                  <p:childTnLst>
                                    <p:animClr clrSpc="rgb" dir="cw">
                                      <p:cBhvr override="childStyle">
                                        <p:cTn id="52" dur="2000" fill="hold"/>
                                        <p:tgtEl>
                                          <p:spTgt spid="2">
                                            <p:txEl>
                                              <p:pRg st="9" end="9"/>
                                            </p:txEl>
                                          </p:spTgt>
                                        </p:tgtEl>
                                        <p:attrNameLst>
                                          <p:attrName>style.color</p:attrName>
                                        </p:attrNameLst>
                                      </p:cBhvr>
                                      <p:to>
                                        <a:srgbClr val="D8A09C"/>
                                      </p:to>
                                    </p:animClr>
                                  </p:childTnLst>
                                </p:cTn>
                              </p:par>
                              <p:par>
                                <p:cTn id="53" presetID="3" presetClass="emph" presetSubtype="2" fill="hold" grpId="1" nodeType="withEffect">
                                  <p:stCondLst>
                                    <p:cond delay="0"/>
                                  </p:stCondLst>
                                  <p:childTnLst>
                                    <p:animClr clrSpc="rgb" dir="cw">
                                      <p:cBhvr override="childStyle">
                                        <p:cTn id="54" dur="2000" fill="hold"/>
                                        <p:tgtEl>
                                          <p:spTgt spid="2">
                                            <p:txEl>
                                              <p:pRg st="10" end="10"/>
                                            </p:txEl>
                                          </p:spTgt>
                                        </p:tgtEl>
                                        <p:attrNameLst>
                                          <p:attrName>style.color</p:attrName>
                                        </p:attrNameLst>
                                      </p:cBhvr>
                                      <p:to>
                                        <a:srgbClr val="D8A09C"/>
                                      </p:to>
                                    </p:animClr>
                                  </p:childTnLst>
                                </p:cTn>
                              </p:par>
                              <p:par>
                                <p:cTn id="55" presetID="3" presetClass="emph" presetSubtype="2" fill="hold" grpId="1" nodeType="withEffect">
                                  <p:stCondLst>
                                    <p:cond delay="0"/>
                                  </p:stCondLst>
                                  <p:childTnLst>
                                    <p:animClr clrSpc="rgb" dir="cw">
                                      <p:cBhvr override="childStyle">
                                        <p:cTn id="56" dur="2000" fill="hold"/>
                                        <p:tgtEl>
                                          <p:spTgt spid="2">
                                            <p:txEl>
                                              <p:pRg st="11" end="11"/>
                                            </p:txEl>
                                          </p:spTgt>
                                        </p:tgtEl>
                                        <p:attrNameLst>
                                          <p:attrName>style.color</p:attrName>
                                        </p:attrNameLst>
                                      </p:cBhvr>
                                      <p:to>
                                        <a:srgbClr val="D8A09C"/>
                                      </p:to>
                                    </p:animClr>
                                  </p:childTnLst>
                                </p:cTn>
                              </p:par>
                              <p:par>
                                <p:cTn id="57" presetID="3" presetClass="emph" presetSubtype="2" fill="hold" grpId="1" nodeType="withEffect">
                                  <p:stCondLst>
                                    <p:cond delay="0"/>
                                  </p:stCondLst>
                                  <p:childTnLst>
                                    <p:animClr clrSpc="rgb" dir="cw">
                                      <p:cBhvr override="childStyle">
                                        <p:cTn id="58" dur="2000" fill="hold"/>
                                        <p:tgtEl>
                                          <p:spTgt spid="2">
                                            <p:txEl>
                                              <p:pRg st="12" end="12"/>
                                            </p:txEl>
                                          </p:spTgt>
                                        </p:tgtEl>
                                        <p:attrNameLst>
                                          <p:attrName>style.color</p:attrName>
                                        </p:attrNameLst>
                                      </p:cBhvr>
                                      <p:to>
                                        <a:srgbClr val="D8A09C"/>
                                      </p:to>
                                    </p:animClr>
                                  </p:childTnLst>
                                </p:cTn>
                              </p:par>
                            </p:childTnLst>
                          </p:cTn>
                        </p:par>
                      </p:childTnLst>
                    </p:cTn>
                  </p:par>
                  <p:par>
                    <p:cTn id="59" fill="hold">
                      <p:stCondLst>
                        <p:cond delay="indefinite"/>
                      </p:stCondLst>
                      <p:childTnLst>
                        <p:par>
                          <p:cTn id="60" fill="hold">
                            <p:stCondLst>
                              <p:cond delay="0"/>
                            </p:stCondLst>
                            <p:childTnLst>
                              <p:par>
                                <p:cTn id="61" presetID="3" presetClass="emph" presetSubtype="2" fill="hold" grpId="0" nodeType="click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4" end="14"/>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274558902"/>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3576567542"/>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E31EE-6863-F904-4B60-DEE5CB4C690E}"/>
            </a:ext>
          </a:extLst>
        </p:cNvPr>
        <p:cNvGrpSpPr/>
        <p:nvPr/>
      </p:nvGrpSpPr>
      <p:grpSpPr>
        <a:xfrm>
          <a:off x="0" y="0"/>
          <a:ext cx="0" cy="0"/>
          <a:chOff x="0" y="0"/>
          <a:chExt cx="0" cy="0"/>
        </a:xfrm>
      </p:grpSpPr>
      <p:sp>
        <p:nvSpPr>
          <p:cNvPr id="56" name="矩形 55">
            <a:extLst>
              <a:ext uri="{FF2B5EF4-FFF2-40B4-BE49-F238E27FC236}">
                <a16:creationId xmlns:a16="http://schemas.microsoft.com/office/drawing/2014/main" id="{085B6215-D755-9673-E5BE-2B7F4E7910D9}"/>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5DD18BFA-843B-CE10-1395-66ECD6218C54}"/>
              </a:ext>
            </a:extLst>
          </p:cNvPr>
          <p:cNvSpPr/>
          <p:nvPr/>
        </p:nvSpPr>
        <p:spPr>
          <a:xfrm>
            <a:off x="6227799" y="6022050"/>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31ADE238-C960-1A9B-1492-21DB019C257B}"/>
              </a:ext>
            </a:extLst>
          </p:cNvPr>
          <p:cNvSpPr/>
          <p:nvPr/>
        </p:nvSpPr>
        <p:spPr>
          <a:xfrm>
            <a:off x="7515292" y="6022050"/>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9970ED2A-6D65-B280-4835-DA4D73BDBD42}"/>
              </a:ext>
            </a:extLst>
          </p:cNvPr>
          <p:cNvSpPr/>
          <p:nvPr/>
        </p:nvSpPr>
        <p:spPr>
          <a:xfrm>
            <a:off x="6202530" y="4194205"/>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5F0EECB3-B55C-F1A9-E679-6DB49D0A6D03}"/>
              </a:ext>
            </a:extLst>
          </p:cNvPr>
          <p:cNvSpPr txBox="1"/>
          <p:nvPr/>
        </p:nvSpPr>
        <p:spPr>
          <a:xfrm>
            <a:off x="6575500" y="4848653"/>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F36BC043-55DA-DEBA-7E92-AB3DB6CF6EF3}"/>
              </a:ext>
            </a:extLst>
          </p:cNvPr>
          <p:cNvSpPr/>
          <p:nvPr/>
        </p:nvSpPr>
        <p:spPr>
          <a:xfrm>
            <a:off x="7307919"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A1C52298-0D10-DB87-BF39-D6C975EB31BC}"/>
              </a:ext>
            </a:extLst>
          </p:cNvPr>
          <p:cNvSpPr txBox="1"/>
          <p:nvPr/>
        </p:nvSpPr>
        <p:spPr>
          <a:xfrm>
            <a:off x="6202530" y="3180361"/>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82814CA4-14EB-9F30-A426-1073EB064485}"/>
              </a:ext>
            </a:extLst>
          </p:cNvPr>
          <p:cNvSpPr/>
          <p:nvPr/>
        </p:nvSpPr>
        <p:spPr>
          <a:xfrm>
            <a:off x="6291195" y="4653898"/>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D0FEA24F-F289-4A44-1999-85CADC7D4947}"/>
              </a:ext>
            </a:extLst>
          </p:cNvPr>
          <p:cNvSpPr txBox="1"/>
          <p:nvPr/>
        </p:nvSpPr>
        <p:spPr>
          <a:xfrm>
            <a:off x="7235911"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579A633E-2BBC-C599-87D4-CD7F672FA5BF}"/>
              </a:ext>
            </a:extLst>
          </p:cNvPr>
          <p:cNvSpPr/>
          <p:nvPr/>
        </p:nvSpPr>
        <p:spPr>
          <a:xfrm>
            <a:off x="8030793"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5059A7C1-0516-B750-DB2E-1EAB7BEA3AB7}"/>
              </a:ext>
            </a:extLst>
          </p:cNvPr>
          <p:cNvSpPr txBox="1"/>
          <p:nvPr/>
        </p:nvSpPr>
        <p:spPr>
          <a:xfrm>
            <a:off x="7481468" y="4749435"/>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cxnSp>
        <p:nvCxnSpPr>
          <p:cNvPr id="13" name="接點: 肘形 12">
            <a:extLst>
              <a:ext uri="{FF2B5EF4-FFF2-40B4-BE49-F238E27FC236}">
                <a16:creationId xmlns:a16="http://schemas.microsoft.com/office/drawing/2014/main" id="{7C8B64B9-81CF-6C6C-FCC5-C407C080458B}"/>
              </a:ext>
            </a:extLst>
          </p:cNvPr>
          <p:cNvCxnSpPr>
            <a:cxnSpLocks/>
            <a:endCxn id="2" idx="1"/>
          </p:cNvCxnSpPr>
          <p:nvPr/>
        </p:nvCxnSpPr>
        <p:spPr>
          <a:xfrm>
            <a:off x="5736151" y="4720547"/>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3AEC5B30-CEF2-449E-1AF4-9AEF823C0214}"/>
              </a:ext>
            </a:extLst>
          </p:cNvPr>
          <p:cNvCxnSpPr>
            <a:cxnSpLocks/>
            <a:stCxn id="20" idx="2"/>
            <a:endCxn id="3" idx="0"/>
          </p:cNvCxnSpPr>
          <p:nvPr/>
        </p:nvCxnSpPr>
        <p:spPr>
          <a:xfrm rot="5400000">
            <a:off x="7694508" y="5609695"/>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ECD006CF-28DD-CF8B-099E-B03D7017348C}"/>
              </a:ext>
            </a:extLst>
          </p:cNvPr>
          <p:cNvCxnSpPr>
            <a:cxnSpLocks/>
            <a:stCxn id="20" idx="2"/>
            <a:endCxn id="2" idx="0"/>
          </p:cNvCxnSpPr>
          <p:nvPr/>
        </p:nvCxnSpPr>
        <p:spPr>
          <a:xfrm rot="5400000">
            <a:off x="7137911" y="5053098"/>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3EA9346F-1340-74CE-2279-E6AF98D1EEC9}"/>
              </a:ext>
            </a:extLst>
          </p:cNvPr>
          <p:cNvSpPr txBox="1">
            <a:spLocks/>
          </p:cNvSpPr>
          <p:nvPr/>
        </p:nvSpPr>
        <p:spPr>
          <a:xfrm>
            <a:off x="7059396"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4B16DC87-88FC-0D34-5C40-C3F40B76CF42}"/>
              </a:ext>
            </a:extLst>
          </p:cNvPr>
          <p:cNvSpPr txBox="1">
            <a:spLocks/>
          </p:cNvSpPr>
          <p:nvPr/>
        </p:nvSpPr>
        <p:spPr>
          <a:xfrm>
            <a:off x="7947340"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2168DD0E-99F7-60E2-AE8E-4A52A7749114}"/>
              </a:ext>
            </a:extLst>
          </p:cNvPr>
          <p:cNvSpPr txBox="1"/>
          <p:nvPr/>
        </p:nvSpPr>
        <p:spPr>
          <a:xfrm>
            <a:off x="6910766" y="479791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386EE2B5-8EBC-15D5-A9FA-49C4D3A3D84B}"/>
              </a:ext>
            </a:extLst>
          </p:cNvPr>
          <p:cNvSpPr txBox="1"/>
          <p:nvPr/>
        </p:nvSpPr>
        <p:spPr>
          <a:xfrm>
            <a:off x="7558838" y="4855196"/>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02E77F71-519F-6ED3-58C8-B61E5104E9A6}"/>
              </a:ext>
            </a:extLst>
          </p:cNvPr>
          <p:cNvSpPr txBox="1"/>
          <p:nvPr/>
        </p:nvSpPr>
        <p:spPr>
          <a:xfrm>
            <a:off x="7969703"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AB6415DE-98E0-D833-11D6-C83404576D0F}"/>
              </a:ext>
            </a:extLst>
          </p:cNvPr>
          <p:cNvSpPr txBox="1"/>
          <p:nvPr/>
        </p:nvSpPr>
        <p:spPr>
          <a:xfrm>
            <a:off x="6712616"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820BCC5F-7B30-66A8-E8B8-44B37556FBBC}"/>
              </a:ext>
            </a:extLst>
          </p:cNvPr>
          <p:cNvSpPr txBox="1"/>
          <p:nvPr/>
        </p:nvSpPr>
        <p:spPr>
          <a:xfrm>
            <a:off x="6280384"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62C0BE21-8152-E30A-6EA7-37A0583F9F8A}"/>
              </a:ext>
            </a:extLst>
          </p:cNvPr>
          <p:cNvSpPr txBox="1"/>
          <p:nvPr/>
        </p:nvSpPr>
        <p:spPr>
          <a:xfrm>
            <a:off x="6905979" y="4749435"/>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C161A452-982A-9947-D4A7-2249480ED5E7}"/>
              </a:ext>
            </a:extLst>
          </p:cNvPr>
          <p:cNvSpPr/>
          <p:nvPr/>
        </p:nvSpPr>
        <p:spPr>
          <a:xfrm>
            <a:off x="6731855" y="4767977"/>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9CEB99C6-A446-F705-8ABC-F6DC355D0732}"/>
              </a:ext>
            </a:extLst>
          </p:cNvPr>
          <p:cNvSpPr/>
          <p:nvPr/>
        </p:nvSpPr>
        <p:spPr>
          <a:xfrm>
            <a:off x="6525371" y="3920828"/>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57A05BB4-B003-F44B-0E90-3C489B7F40B5}"/>
              </a:ext>
            </a:extLst>
          </p:cNvPr>
          <p:cNvSpPr/>
          <p:nvPr/>
        </p:nvSpPr>
        <p:spPr>
          <a:xfrm>
            <a:off x="6227502" y="6318182"/>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B4D74B1F-DF7A-88DC-8992-AF95EC64B8F4}"/>
              </a:ext>
            </a:extLst>
          </p:cNvPr>
          <p:cNvSpPr/>
          <p:nvPr/>
        </p:nvSpPr>
        <p:spPr>
          <a:xfrm>
            <a:off x="163939" y="5085185"/>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30" name="文字方塊 29">
            <a:extLst>
              <a:ext uri="{FF2B5EF4-FFF2-40B4-BE49-F238E27FC236}">
                <a16:creationId xmlns:a16="http://schemas.microsoft.com/office/drawing/2014/main" id="{4A5C7E75-A60B-633D-EDFA-26E204270802}"/>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46345C6D-0947-5674-2634-DAAB6AF02437}"/>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F10F86CE-A85B-694C-2CAE-39CB21F050E2}"/>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B4ED2677-DEC7-94B3-E1DC-77EAE8ED2388}"/>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C35161E8-BB06-6587-4B86-06795DE0921D}"/>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D48A7D01-A347-227A-E5D7-0327F8C6C820}"/>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B9244B96-7597-11BE-3E9F-E030B457EED6}"/>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05BF3213-DCD6-71DE-6BE2-4CF21FF43198}"/>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F7A6B71B-ED48-E91E-1CE3-ED2FE19A3C0C}"/>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F1F60B6C-83A6-CD71-0F20-C5020F4C2FB2}"/>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46CF3076-2985-8620-6009-EA8722FC4D80}"/>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F86908D6-2A73-0F1F-66EC-EAD8AD13B407}"/>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D1007C0E-E88C-0558-F49F-2A523C546C52}"/>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2B437AE2-96BB-E1D4-E696-E164E80380F1}"/>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
        <p:nvSpPr>
          <p:cNvPr id="31" name="標題 1">
            <a:extLst>
              <a:ext uri="{FF2B5EF4-FFF2-40B4-BE49-F238E27FC236}">
                <a16:creationId xmlns:a16="http://schemas.microsoft.com/office/drawing/2014/main" id="{36AB3BEB-28F8-2642-B1BF-5CE9C064800C}"/>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oment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u</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rthogonalized by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Muon.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5" name="文字方塊 34">
            <a:extLst>
              <a:ext uri="{FF2B5EF4-FFF2-40B4-BE49-F238E27FC236}">
                <a16:creationId xmlns:a16="http://schemas.microsoft.com/office/drawing/2014/main" id="{74DF7B2E-D6DA-F621-D00B-850DA7FD3BFC}"/>
              </a:ext>
            </a:extLst>
          </p:cNvPr>
          <p:cNvSpPr txBox="1"/>
          <p:nvPr/>
        </p:nvSpPr>
        <p:spPr>
          <a:xfrm>
            <a:off x="236725" y="1440646"/>
            <a:ext cx="8280922" cy="27084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Multi-head Latent Attention(</a:t>
            </a:r>
            <a:r>
              <a:rPr lang="en-US" altLang="zh-TW" sz="1600" b="1" dirty="0"/>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Group Relative Policy Optimization(</a:t>
            </a:r>
            <a:r>
              <a:rPr lang="en-US" altLang="zh-TW" sz="1600" b="1" dirty="0"/>
              <a:t>GPRO</a:t>
            </a:r>
            <a:r>
              <a:rPr lang="en-US" altLang="zh-TW" sz="1600" dirty="0"/>
              <a:t>):</a:t>
            </a:r>
            <a:r>
              <a:rPr lang="zh-TW" altLang="en-US" sz="1600" dirty="0"/>
              <a:t> </a:t>
            </a:r>
            <a:r>
              <a:rPr lang="en-US" altLang="zh-TW" sz="1600" dirty="0"/>
              <a:t>Deep reasoning and self-correction.</a:t>
            </a:r>
          </a:p>
          <a:p>
            <a:pPr marL="742950" lvl="1" indent="-285750">
              <a:lnSpc>
                <a:spcPts val="1800"/>
              </a:lnSpc>
              <a:spcBef>
                <a:spcPts val="600"/>
              </a:spcBef>
              <a:buFont typeface="Arial" panose="020B0604020202020204" pitchFamily="34" charset="0"/>
              <a:buChar char="•"/>
            </a:pPr>
            <a:r>
              <a:rPr lang="en-US" altLang="zh-TW" sz="1600" dirty="0"/>
              <a:t>Momentum Orthogonalized by Newton-Schulz(</a:t>
            </a:r>
            <a:r>
              <a:rPr lang="en-US" altLang="zh-TW" sz="1600" b="1" dirty="0"/>
              <a:t>Muon</a:t>
            </a:r>
            <a:r>
              <a:rPr lang="en-US" altLang="zh-TW" sz="1600" dirty="0"/>
              <a:t>): Matrix orthogonalization.</a:t>
            </a:r>
          </a:p>
          <a:p>
            <a:pPr marL="742950" lvl="1" indent="-285750">
              <a:lnSpc>
                <a:spcPts val="1800"/>
              </a:lnSpc>
              <a:spcBef>
                <a:spcPts val="600"/>
              </a:spcBef>
              <a:buFont typeface="Arial" panose="020B0604020202020204" pitchFamily="34" charset="0"/>
              <a:buChar char="•"/>
            </a:pPr>
            <a:r>
              <a:rPr lang="en-US" altLang="zh-TW" sz="1600" dirty="0"/>
              <a:t>Hybrid Compressed Attention (</a:t>
            </a:r>
            <a:r>
              <a:rPr lang="en-US" altLang="zh-TW" sz="1600" b="1" dirty="0"/>
              <a:t>HCA</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Manifold-Constrained Hyper-Connections (</a:t>
            </a:r>
            <a:r>
              <a:rPr lang="en-US" altLang="zh-TW" sz="1600" b="1" dirty="0"/>
              <a:t>mHC</a:t>
            </a:r>
            <a:r>
              <a:rPr lang="en-US" altLang="zh-TW" sz="1600" dirty="0"/>
              <a:t>): Replacing residual.</a:t>
            </a:r>
          </a:p>
        </p:txBody>
      </p:sp>
    </p:spTree>
    <p:extLst>
      <p:ext uri="{BB962C8B-B14F-4D97-AF65-F5344CB8AC3E}">
        <p14:creationId xmlns:p14="http://schemas.microsoft.com/office/powerpoint/2010/main" val="2925865691"/>
      </p:ext>
    </p:extLst>
  </p:cSld>
  <p:clrMapOvr>
    <a:masterClrMapping/>
  </p:clrMapOvr>
  <mc:AlternateContent xmlns:mc="http://schemas.openxmlformats.org/markup-compatibility/2006">
    <mc:Choice xmlns:p14="http://schemas.microsoft.com/office/powerpoint/2010/main" Requires="p14">
      <p:transition p14:dur="0" advClick="0"/>
    </mc:Choice>
    <mc:Fallback>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437040034"/>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1399452633"/>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600238"/>
            <a:ext cx="2676085" cy="3842021"/>
            <a:chOff x="3029309" y="2348880"/>
            <a:chExt cx="2676085"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474323"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pSp>
        <p:nvGrpSpPr>
          <p:cNvPr id="6" name="群組 5">
            <a:extLst>
              <a:ext uri="{FF2B5EF4-FFF2-40B4-BE49-F238E27FC236}">
                <a16:creationId xmlns:a16="http://schemas.microsoft.com/office/drawing/2014/main" id="{9B1F7AF4-88D8-4B3F-CECC-393296A65BC4}"/>
              </a:ext>
            </a:extLst>
          </p:cNvPr>
          <p:cNvGrpSpPr/>
          <p:nvPr/>
        </p:nvGrpSpPr>
        <p:grpSpPr>
          <a:xfrm>
            <a:off x="7719607" y="836712"/>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44792"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076055" y="904094"/>
            <a:ext cx="2004185" cy="1784374"/>
          </a:xfrm>
          <a:prstGeom prst="borderCallout1">
            <a:avLst>
              <a:gd name="adj1" fmla="val 90905"/>
              <a:gd name="adj2" fmla="val 97673"/>
              <a:gd name="adj3" fmla="val 123230"/>
              <a:gd name="adj4" fmla="val 108218"/>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812337052"/>
              </p:ext>
            </p:extLst>
          </p:nvPr>
        </p:nvGraphicFramePr>
        <p:xfrm>
          <a:off x="5076057" y="904093"/>
          <a:ext cx="2004182" cy="1794115"/>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298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6720451" y="2204864"/>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187231" y="2335391"/>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2760904480"/>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nvGraphicFramePr>
        <p:xfrm>
          <a:off x="446679" y="5483659"/>
          <a:ext cx="2061433" cy="871606"/>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229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76164">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04ECF-91A1-2BAC-FCAB-13602CA5401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230BFFCC-05AF-FE4B-4F7D-A52E3A1EC4D7}"/>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Code Intelligence Benchmarking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Gemma 4 sets a new efficiency standard by delivering flagship-level intelligence on edge devices.</a:t>
            </a:r>
          </a:p>
        </p:txBody>
      </p:sp>
      <p:graphicFrame>
        <p:nvGraphicFramePr>
          <p:cNvPr id="3" name="表格 2">
            <a:extLst>
              <a:ext uri="{FF2B5EF4-FFF2-40B4-BE49-F238E27FC236}">
                <a16:creationId xmlns:a16="http://schemas.microsoft.com/office/drawing/2014/main" id="{8F750FB4-6015-A694-D423-CB3426F6C704}"/>
              </a:ext>
            </a:extLst>
          </p:cNvPr>
          <p:cNvGraphicFramePr>
            <a:graphicFrameLocks noGrp="1"/>
          </p:cNvGraphicFramePr>
          <p:nvPr>
            <p:extLst>
              <p:ext uri="{D42A27DB-BD31-4B8C-83A1-F6EECF244321}">
                <p14:modId xmlns:p14="http://schemas.microsoft.com/office/powerpoint/2010/main" val="63619406"/>
              </p:ext>
            </p:extLst>
          </p:nvPr>
        </p:nvGraphicFramePr>
        <p:xfrm>
          <a:off x="683568" y="1317641"/>
          <a:ext cx="7560839" cy="4749319"/>
        </p:xfrm>
        <a:graphic>
          <a:graphicData uri="http://schemas.openxmlformats.org/drawingml/2006/table">
            <a:tbl>
              <a:tblPr firstRow="1" bandRow="1">
                <a:tableStyleId>{5C22544A-7EE6-4342-B048-85BDC9FD1C3A}</a:tableStyleId>
              </a:tblPr>
              <a:tblGrid>
                <a:gridCol w="385757">
                  <a:extLst>
                    <a:ext uri="{9D8B030D-6E8A-4147-A177-3AD203B41FA5}">
                      <a16:colId xmlns:a16="http://schemas.microsoft.com/office/drawing/2014/main" val="2211145501"/>
                    </a:ext>
                  </a:extLst>
                </a:gridCol>
                <a:gridCol w="1414443">
                  <a:extLst>
                    <a:ext uri="{9D8B030D-6E8A-4147-A177-3AD203B41FA5}">
                      <a16:colId xmlns:a16="http://schemas.microsoft.com/office/drawing/2014/main" val="401334077"/>
                    </a:ext>
                  </a:extLst>
                </a:gridCol>
                <a:gridCol w="1008112">
                  <a:extLst>
                    <a:ext uri="{9D8B030D-6E8A-4147-A177-3AD203B41FA5}">
                      <a16:colId xmlns:a16="http://schemas.microsoft.com/office/drawing/2014/main" val="3431692166"/>
                    </a:ext>
                  </a:extLst>
                </a:gridCol>
                <a:gridCol w="1008112">
                  <a:extLst>
                    <a:ext uri="{9D8B030D-6E8A-4147-A177-3AD203B41FA5}">
                      <a16:colId xmlns:a16="http://schemas.microsoft.com/office/drawing/2014/main" val="768901619"/>
                    </a:ext>
                  </a:extLst>
                </a:gridCol>
                <a:gridCol w="1321184">
                  <a:extLst>
                    <a:ext uri="{9D8B030D-6E8A-4147-A177-3AD203B41FA5}">
                      <a16:colId xmlns:a16="http://schemas.microsoft.com/office/drawing/2014/main" val="767948712"/>
                    </a:ext>
                  </a:extLst>
                </a:gridCol>
                <a:gridCol w="2423231">
                  <a:extLst>
                    <a:ext uri="{9D8B030D-6E8A-4147-A177-3AD203B41FA5}">
                      <a16:colId xmlns:a16="http://schemas.microsoft.com/office/drawing/2014/main" val="4512040"/>
                    </a:ext>
                  </a:extLst>
                </a:gridCol>
              </a:tblGrid>
              <a:tr h="320084">
                <a:tc>
                  <a:txBody>
                    <a:bodyPr/>
                    <a:lstStyle/>
                    <a:p>
                      <a:endParaRPr lang="en-US" altLang="zh-TW" sz="1200" b="1" cap="none" spc="0" dirty="0">
                        <a:ln w="0"/>
                        <a:solidFill>
                          <a:schemeClr val="tx1"/>
                        </a:solidFill>
                        <a:effectLst/>
                      </a:endParaRPr>
                    </a:p>
                    <a:p>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Models</a:t>
                      </a:r>
                    </a:p>
                    <a:p>
                      <a:r>
                        <a:rPr lang="en-US" altLang="zh-TW" sz="1200" b="1" cap="none" spc="0" dirty="0">
                          <a:ln w="0"/>
                          <a:solidFill>
                            <a:schemeClr val="tx1"/>
                          </a:solidFill>
                          <a:effectLst/>
                        </a:rPr>
                        <a:t>Name</a:t>
                      </a: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Parameter</a:t>
                      </a:r>
                    </a:p>
                    <a:p>
                      <a:r>
                        <a:rPr lang="en-US" altLang="zh-TW" sz="1200" b="0" cap="none" spc="0" dirty="0">
                          <a:ln w="0"/>
                          <a:solidFill>
                            <a:schemeClr val="tx1"/>
                          </a:solidFill>
                          <a:effectLst/>
                        </a:rPr>
                        <a:t>(active/total)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Context</a:t>
                      </a:r>
                      <a:br>
                        <a:rPr lang="en-US" altLang="zh-TW" sz="1200" b="1" cap="none" spc="0" dirty="0">
                          <a:ln w="0"/>
                          <a:solidFill>
                            <a:schemeClr val="tx1"/>
                          </a:solidFill>
                          <a:effectLst/>
                        </a:rPr>
                      </a:br>
                      <a:r>
                        <a:rPr lang="en-US" altLang="zh-TW" sz="1200" b="0" cap="none" spc="0" dirty="0">
                          <a:ln w="0"/>
                          <a:solidFill>
                            <a:schemeClr val="tx1"/>
                          </a:solidFill>
                          <a:effectLst/>
                        </a:rPr>
                        <a:t>(tokens)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LiveCodeBench</a:t>
                      </a:r>
                    </a:p>
                    <a:p>
                      <a:r>
                        <a:rPr lang="en-US" altLang="zh-TW" sz="1200" b="0" cap="none" spc="0" dirty="0">
                          <a:ln w="0"/>
                          <a:solidFill>
                            <a:schemeClr val="tx1"/>
                          </a:solidFill>
                          <a:effectLst/>
                        </a:rPr>
                        <a:t>(Pass@1)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Description</a:t>
                      </a:r>
                    </a:p>
                    <a:p>
                      <a:r>
                        <a:rPr lang="en-US" altLang="zh-TW" sz="1200" b="0" cap="none" spc="0" dirty="0">
                          <a:ln w="0"/>
                          <a:solidFill>
                            <a:schemeClr val="tx1"/>
                          </a:solidFill>
                          <a:effectLst/>
                        </a:rPr>
                        <a:t>(Requirement)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20084">
                <a:tc>
                  <a:txBody>
                    <a:bodyPr/>
                    <a:lstStyle/>
                    <a:p>
                      <a:pPr algn="ctr"/>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99841">
                <a:tc>
                  <a:txBody>
                    <a:bodyPr/>
                    <a:lstStyle/>
                    <a:p>
                      <a:pPr algn="ctr"/>
                      <a:r>
                        <a:rPr lang="en-US" altLang="zh-TW" sz="1200" b="0" cap="none" spc="0" dirty="0">
                          <a:ln w="0"/>
                          <a:solidFill>
                            <a:schemeClr val="tx1"/>
                          </a:solidFill>
                          <a:effectLst/>
                        </a:rPr>
                        <a:t>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3.5 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99841">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4B/26B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90.7%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99841">
                <a:tc>
                  <a:txBody>
                    <a:bodyPr/>
                    <a:lstStyle/>
                    <a:p>
                      <a:pPr algn="ctr"/>
                      <a:r>
                        <a:rPr lang="en-US" altLang="zh-TW" sz="1200" b="0" cap="none" spc="0" dirty="0">
                          <a:ln w="0"/>
                          <a:solidFill>
                            <a:schemeClr val="tx1"/>
                          </a:solidFill>
                          <a:effectLst/>
                        </a:rPr>
                        <a:t>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GPT-5.2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87632">
                <a:tc>
                  <a:txBody>
                    <a:bodyPr/>
                    <a:lstStyle/>
                    <a:p>
                      <a:pPr algn="ctr"/>
                      <a:r>
                        <a:rPr lang="en-US" altLang="zh-TW" sz="1200" b="0" cap="none" spc="0" dirty="0">
                          <a:ln w="0"/>
                          <a:solidFill>
                            <a:schemeClr val="tx1"/>
                          </a:solidFill>
                          <a:effectLst/>
                        </a:rPr>
                        <a:t>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 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(Special Version)</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287632">
                <a:tc>
                  <a:txBody>
                    <a:bodyPr/>
                    <a:lstStyle/>
                    <a:p>
                      <a:pPr algn="ctr"/>
                      <a:r>
                        <a:rPr lang="en-US" altLang="zh-TW" sz="1200" b="0" cap="none" spc="0" dirty="0">
                          <a:ln w="0"/>
                          <a:solidFill>
                            <a:schemeClr val="tx1"/>
                          </a:solidFill>
                          <a:effectLst/>
                        </a:rPr>
                        <a:t>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85.5%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90131705"/>
                  </a:ext>
                </a:extLst>
              </a:tr>
              <a:tr h="287632">
                <a:tc>
                  <a:txBody>
                    <a:bodyPr/>
                    <a:lstStyle/>
                    <a:p>
                      <a:pPr algn="ctr"/>
                      <a:r>
                        <a:rPr lang="en-US" altLang="zh-TW" sz="1200" b="0" cap="none" spc="0" dirty="0">
                          <a:ln w="0"/>
                          <a:solidFill>
                            <a:schemeClr val="tx1"/>
                          </a:solidFill>
                          <a:effectLst/>
                        </a:rPr>
                        <a:t>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518966719"/>
                  </a:ext>
                </a:extLst>
              </a:tr>
              <a:tr h="287632">
                <a:tc>
                  <a:txBody>
                    <a:bodyPr/>
                    <a:lstStyle/>
                    <a:p>
                      <a:pPr algn="ctr"/>
                      <a:r>
                        <a:rPr lang="en-US" altLang="zh-TW" sz="1200" b="0" cap="none" spc="0" dirty="0">
                          <a:ln w="0"/>
                          <a:solidFill>
                            <a:schemeClr val="tx1"/>
                          </a:solidFill>
                          <a:effectLst/>
                        </a:rPr>
                        <a:t>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Fable 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Anthropic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18975361"/>
                  </a:ext>
                </a:extLst>
              </a:tr>
              <a:tr h="287632">
                <a:tc>
                  <a:txBody>
                    <a:bodyPr/>
                    <a:lstStyle/>
                    <a:p>
                      <a:pPr algn="ctr"/>
                      <a:r>
                        <a:rPr lang="en-US" altLang="zh-TW" sz="1200" b="0" cap="none" spc="0" dirty="0">
                          <a:ln w="0"/>
                          <a:solidFill>
                            <a:schemeClr val="tx1"/>
                          </a:solidFill>
                          <a:effectLst/>
                        </a:rPr>
                        <a:t>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O4-mini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82.6%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66205179"/>
                  </a:ext>
                </a:extLst>
              </a:tr>
              <a:tr h="287632">
                <a:tc>
                  <a:txBody>
                    <a:bodyPr/>
                    <a:lstStyle/>
                    <a:p>
                      <a:pPr algn="ctr"/>
                      <a:r>
                        <a:rPr lang="en-US" altLang="zh-TW" sz="1200" b="0" cap="none" spc="0" dirty="0">
                          <a:ln w="0"/>
                          <a:solidFill>
                            <a:schemeClr val="tx1"/>
                          </a:solidFill>
                          <a:effectLst/>
                        </a:rPr>
                        <a:t>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GPT-5.6 Sol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263407724"/>
                  </a:ext>
                </a:extLst>
              </a:tr>
              <a:tr h="287632">
                <a:tc>
                  <a:txBody>
                    <a:bodyPr/>
                    <a:lstStyle/>
                    <a:p>
                      <a:pPr algn="ctr"/>
                      <a:r>
                        <a:rPr lang="en-US" altLang="zh-TW" sz="1200" b="0" cap="none" spc="0" dirty="0">
                          <a:ln w="0"/>
                          <a:solidFill>
                            <a:schemeClr val="tx1"/>
                          </a:solidFill>
                          <a:effectLst/>
                        </a:rPr>
                        <a:t>11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2.5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80.1%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81383965"/>
                  </a:ext>
                </a:extLst>
              </a:tr>
              <a:tr h="287632">
                <a:tc>
                  <a:txBody>
                    <a:bodyPr/>
                    <a:lstStyle/>
                    <a:p>
                      <a:pPr algn="ctr"/>
                      <a:r>
                        <a:rPr lang="en-US" altLang="zh-TW" sz="1200" b="0" cap="none" spc="0" dirty="0">
                          <a:ln w="0"/>
                          <a:solidFill>
                            <a:schemeClr val="tx1"/>
                          </a:solidFill>
                          <a:effectLst/>
                        </a:rPr>
                        <a:t>12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Kimi K3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104B / 2.8T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79.2%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 Moonshot</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592432676"/>
                  </a:ext>
                </a:extLst>
              </a:tr>
              <a:tr h="287632">
                <a:tc>
                  <a:txBody>
                    <a:bodyPr/>
                    <a:lstStyle/>
                    <a:p>
                      <a:pPr algn="ctr"/>
                      <a:r>
                        <a:rPr lang="en-US" altLang="zh-TW" sz="1200" b="0" cap="none" spc="0" dirty="0">
                          <a:ln w="0"/>
                          <a:solidFill>
                            <a:schemeClr val="tx1"/>
                          </a:solidFill>
                          <a:effectLst/>
                        </a:rPr>
                        <a:t>13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DeepSeek-R1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 / 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76.8%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(Classic)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49056015"/>
                  </a:ext>
                </a:extLst>
              </a:tr>
              <a:tr h="287632">
                <a:tc>
                  <a:txBody>
                    <a:bodyPr/>
                    <a:lstStyle/>
                    <a:p>
                      <a:pPr algn="ctr"/>
                      <a:r>
                        <a:rPr lang="en-US" altLang="zh-TW" sz="1200" b="0" cap="none" spc="0" dirty="0">
                          <a:ln w="0"/>
                          <a:solidFill>
                            <a:schemeClr val="tx1"/>
                          </a:solidFill>
                          <a:effectLst/>
                        </a:rPr>
                        <a:t>14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Qwen 3.7 Max</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73.1%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Alibaba</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104574766"/>
                  </a:ext>
                </a:extLst>
              </a:tr>
              <a:tr h="287632">
                <a:tc>
                  <a:txBody>
                    <a:bodyPr/>
                    <a:lstStyle/>
                    <a:p>
                      <a:pPr algn="ctr"/>
                      <a:r>
                        <a:rPr lang="en-US" altLang="zh-TW" sz="1200" b="0" cap="none" spc="0" dirty="0">
                          <a:ln w="0"/>
                          <a:solidFill>
                            <a:schemeClr val="tx1"/>
                          </a:solidFill>
                          <a:effectLst/>
                        </a:rPr>
                        <a:t>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MS/Meta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385035529"/>
                  </a:ext>
                </a:extLst>
              </a:tr>
            </a:tbl>
          </a:graphicData>
        </a:graphic>
      </p:graphicFrame>
    </p:spTree>
    <p:extLst>
      <p:ext uri="{BB962C8B-B14F-4D97-AF65-F5344CB8AC3E}">
        <p14:creationId xmlns:p14="http://schemas.microsoft.com/office/powerpoint/2010/main" val="301185337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2E03E-7F2E-4C1D-BDC3-5AD0B8F50ACC}"/>
            </a:ext>
          </a:extLst>
        </p:cNvPr>
        <p:cNvGrpSpPr/>
        <p:nvPr/>
      </p:nvGrpSpPr>
      <p:grpSpPr>
        <a:xfrm>
          <a:off x="0" y="0"/>
          <a:ext cx="0" cy="0"/>
          <a:chOff x="0" y="0"/>
          <a:chExt cx="0" cy="0"/>
        </a:xfrm>
      </p:grpSpPr>
      <p:sp>
        <p:nvSpPr>
          <p:cNvPr id="7" name="文字方塊 6">
            <a:extLst>
              <a:ext uri="{FF2B5EF4-FFF2-40B4-BE49-F238E27FC236}">
                <a16:creationId xmlns:a16="http://schemas.microsoft.com/office/drawing/2014/main" id="{74B215B5-D7AE-C67F-E334-F68F81553A28}"/>
              </a:ext>
            </a:extLst>
          </p:cNvPr>
          <p:cNvSpPr txBox="1"/>
          <p:nvPr/>
        </p:nvSpPr>
        <p:spPr>
          <a:xfrm>
            <a:off x="179510" y="1377042"/>
            <a:ext cx="8280922" cy="240065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Multi-head Latent Attention (</a:t>
            </a:r>
            <a:r>
              <a:rPr lang="en-US" altLang="zh-TW" sz="1600" b="1" dirty="0">
                <a:solidFill>
                  <a:schemeClr val="accent6">
                    <a:lumMod val="75000"/>
                  </a:schemeClr>
                </a:solidFill>
              </a:rPr>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Group Relative Policy Optimization (</a:t>
            </a:r>
            <a:r>
              <a:rPr lang="en-US" altLang="zh-TW" sz="1600" b="1" dirty="0">
                <a:solidFill>
                  <a:schemeClr val="accent6">
                    <a:lumMod val="75000"/>
                  </a:schemeClr>
                </a:solidFill>
              </a:rPr>
              <a:t>GRPO</a:t>
            </a:r>
            <a:r>
              <a:rPr lang="en-US" altLang="zh-TW" sz="1600" dirty="0"/>
              <a:t>): Deep reasoning and self-correction.</a:t>
            </a:r>
          </a:p>
          <a:p>
            <a:pPr marL="742950" lvl="1" indent="-285750">
              <a:lnSpc>
                <a:spcPts val="1800"/>
              </a:lnSpc>
              <a:spcBef>
                <a:spcPts val="600"/>
              </a:spcBef>
              <a:buFont typeface="Arial" panose="020B0604020202020204" pitchFamily="34" charset="0"/>
              <a:buChar char="•"/>
            </a:pPr>
            <a:r>
              <a:rPr lang="en-US" altLang="zh-TW" sz="1600" dirty="0"/>
              <a:t>DeepSeek MoE: The first 3 layers use hash routing, sqrt(Softplus(•)), anticipatory routing.</a:t>
            </a:r>
          </a:p>
          <a:p>
            <a:pPr marL="742950" lvl="1" indent="-285750">
              <a:lnSpc>
                <a:spcPts val="1800"/>
              </a:lnSpc>
              <a:spcBef>
                <a:spcPts val="600"/>
              </a:spcBef>
              <a:buFont typeface="Arial" panose="020B0604020202020204" pitchFamily="34" charset="0"/>
              <a:buChar char="•"/>
            </a:pPr>
            <a:r>
              <a:rPr lang="en-US" altLang="zh-TW" sz="1600" dirty="0"/>
              <a:t>Dual Pipe</a:t>
            </a:r>
            <a:r>
              <a:rPr lang="zh-TW" altLang="en-US" sz="1600" dirty="0"/>
              <a:t> </a:t>
            </a:r>
            <a:r>
              <a:rPr lang="en-US" altLang="zh-TW" sz="1600" dirty="0"/>
              <a:t>/</a:t>
            </a:r>
            <a:r>
              <a:rPr lang="zh-TW" altLang="en-US" sz="1600" dirty="0"/>
              <a:t> </a:t>
            </a:r>
            <a:endParaRPr lang="en-US" altLang="zh-TW" sz="1600" dirty="0"/>
          </a:p>
        </p:txBody>
      </p:sp>
      <p:graphicFrame>
        <p:nvGraphicFramePr>
          <p:cNvPr id="30" name="表格 29">
            <a:extLst>
              <a:ext uri="{FF2B5EF4-FFF2-40B4-BE49-F238E27FC236}">
                <a16:creationId xmlns:a16="http://schemas.microsoft.com/office/drawing/2014/main" id="{FDF88A93-8C0E-D76F-97D3-A2772646F624}"/>
              </a:ext>
            </a:extLst>
          </p:cNvPr>
          <p:cNvGraphicFramePr>
            <a:graphicFrameLocks noGrp="1"/>
          </p:cNvGraphicFramePr>
          <p:nvPr>
            <p:extLst>
              <p:ext uri="{D42A27DB-BD31-4B8C-83A1-F6EECF244321}">
                <p14:modId xmlns:p14="http://schemas.microsoft.com/office/powerpoint/2010/main" val="945139990"/>
              </p:ext>
            </p:extLst>
          </p:nvPr>
        </p:nvGraphicFramePr>
        <p:xfrm>
          <a:off x="539552" y="4278208"/>
          <a:ext cx="8208911" cy="2103120"/>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1573424">
                  <a:extLst>
                    <a:ext uri="{9D8B030D-6E8A-4147-A177-3AD203B41FA5}">
                      <a16:colId xmlns:a16="http://schemas.microsoft.com/office/drawing/2014/main" val="2094346223"/>
                    </a:ext>
                  </a:extLst>
                </a:gridCol>
                <a:gridCol w="822561">
                  <a:extLst>
                    <a:ext uri="{9D8B030D-6E8A-4147-A177-3AD203B41FA5}">
                      <a16:colId xmlns:a16="http://schemas.microsoft.com/office/drawing/2014/main" val="2211145501"/>
                    </a:ext>
                  </a:extLst>
                </a:gridCol>
                <a:gridCol w="1297705">
                  <a:extLst>
                    <a:ext uri="{9D8B030D-6E8A-4147-A177-3AD203B41FA5}">
                      <a16:colId xmlns:a16="http://schemas.microsoft.com/office/drawing/2014/main" val="3328686525"/>
                    </a:ext>
                  </a:extLst>
                </a:gridCol>
                <a:gridCol w="1068698">
                  <a:extLst>
                    <a:ext uri="{9D8B030D-6E8A-4147-A177-3AD203B41FA5}">
                      <a16:colId xmlns:a16="http://schemas.microsoft.com/office/drawing/2014/main" val="962102743"/>
                    </a:ext>
                  </a:extLst>
                </a:gridCol>
                <a:gridCol w="1286284">
                  <a:extLst>
                    <a:ext uri="{9D8B030D-6E8A-4147-A177-3AD203B41FA5}">
                      <a16:colId xmlns:a16="http://schemas.microsoft.com/office/drawing/2014/main" val="3731412889"/>
                    </a:ext>
                  </a:extLst>
                </a:gridCol>
                <a:gridCol w="633770">
                  <a:extLst>
                    <a:ext uri="{9D8B030D-6E8A-4147-A177-3AD203B41FA5}">
                      <a16:colId xmlns:a16="http://schemas.microsoft.com/office/drawing/2014/main" val="2130031722"/>
                    </a:ext>
                  </a:extLst>
                </a:gridCol>
                <a:gridCol w="446349">
                  <a:extLst>
                    <a:ext uri="{9D8B030D-6E8A-4147-A177-3AD203B41FA5}">
                      <a16:colId xmlns:a16="http://schemas.microsoft.com/office/drawing/2014/main" val="3832649198"/>
                    </a:ext>
                  </a:extLst>
                </a:gridCol>
              </a:tblGrid>
              <a:tr h="178887">
                <a:tc rowSpan="2">
                  <a:txBody>
                    <a:bodyPr/>
                    <a:lstStyle/>
                    <a:p>
                      <a:pPr algn="ctr"/>
                      <a:endParaRPr lang="zh-TW" altLang="en-US"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Description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2">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rowSpan="2">
                  <a:txBody>
                    <a:bodyPr/>
                    <a:lstStyle/>
                    <a:p>
                      <a:pPr algn="ctr"/>
                      <a:r>
                        <a:rPr lang="en-US" altLang="zh-TW" sz="1200" b="0" cap="none" spc="0" dirty="0">
                          <a:ln w="0"/>
                          <a:solidFill>
                            <a:schemeClr val="tx1"/>
                          </a:solidFill>
                          <a:effectLst/>
                        </a:rPr>
                        <a:t>License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API Cost</a:t>
                      </a:r>
                      <a:r>
                        <a:rPr lang="en-US" altLang="zh-TW" sz="1200" b="0" cap="none" spc="0" dirty="0">
                          <a:ln w="0"/>
                          <a:solidFill>
                            <a:schemeClr val="accent1"/>
                          </a:solidFill>
                          <a:effectLst/>
                        </a:rPr>
                        <a:t> </a:t>
                      </a:r>
                      <a:r>
                        <a:rPr lang="en-US" altLang="zh-TW" sz="1000" b="0" cap="none" spc="0" dirty="0">
                          <a:ln w="0"/>
                          <a:solidFill>
                            <a:schemeClr val="accent1"/>
                          </a:solidFill>
                          <a:effectLst/>
                        </a:rPr>
                        <a:t>$/Token</a:t>
                      </a:r>
                      <a:endParaRPr lang="zh-TW" altLang="en-US" sz="1000" b="0" cap="none" spc="0" dirty="0">
                        <a:ln w="0"/>
                        <a:solidFill>
                          <a:schemeClr val="accent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8887">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HBM/VRAM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267223550"/>
                  </a:ext>
                </a:extLst>
              </a:tr>
              <a:tr h="357773">
                <a:tc>
                  <a:txBody>
                    <a:bodyPr/>
                    <a:lstStyle/>
                    <a:p>
                      <a:pPr algn="l"/>
                      <a:r>
                        <a:rPr lang="en-US" altLang="zh-TW" sz="1200" b="0" cap="none" spc="0" dirty="0">
                          <a:ln w="0"/>
                          <a:solidFill>
                            <a:schemeClr val="tx1"/>
                          </a:solidFill>
                          <a:effectLst/>
                        </a:rPr>
                        <a:t>Kimi K3</a:t>
                      </a:r>
                    </a:p>
                    <a:p>
                      <a:pPr algn="l"/>
                      <a:r>
                        <a:rPr lang="en-US" altLang="zh-TW" sz="1000" b="0" cap="none" spc="0" dirty="0">
                          <a:ln w="0"/>
                          <a:solidFill>
                            <a:schemeClr val="accent1"/>
                          </a:solidFill>
                          <a:effectLst/>
                        </a:rPr>
                        <a:t>Moonshot</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KDA, </a:t>
                      </a:r>
                      <a:r>
                        <a:rPr lang="en-US" altLang="zh-TW" sz="1200" b="0" u="sng" cap="none" spc="0" dirty="0">
                          <a:ln w="0"/>
                          <a:solidFill>
                            <a:schemeClr val="tx1"/>
                          </a:solidFill>
                          <a:effectLst/>
                        </a:rPr>
                        <a:t>Arena.ai</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Native Multimodal Agent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2.8T (104B)</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577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V4 Pro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C/P,</a:t>
                      </a:r>
                      <a:r>
                        <a:rPr lang="zh-TW" altLang="en-US" sz="1200" b="0" cap="none" spc="0" dirty="0">
                          <a:ln w="0"/>
                          <a:solidFill>
                            <a:schemeClr val="tx1"/>
                          </a:solidFill>
                          <a:effectLst/>
                        </a:rPr>
                        <a:t> </a:t>
                      </a:r>
                      <a:r>
                        <a:rPr lang="en-US" altLang="zh-TW" sz="1200" b="0" u="sng" cap="none" spc="0" dirty="0">
                          <a:ln w="0"/>
                          <a:solidFill>
                            <a:schemeClr val="tx1"/>
                          </a:solidFill>
                          <a:effectLst/>
                        </a:rPr>
                        <a:t>STEM</a:t>
                      </a:r>
                      <a:r>
                        <a:rPr lang="en-US" altLang="zh-TW" sz="1200" b="0" cap="none" spc="0" dirty="0">
                          <a:ln w="0"/>
                          <a:solidFill>
                            <a:schemeClr val="tx1"/>
                          </a:solidFill>
                          <a:effectLst/>
                        </a:rPr>
                        <a:t>,</a:t>
                      </a:r>
                      <a:r>
                        <a:rPr lang="zh-TW" altLang="en-US" sz="1200" b="0" cap="none" spc="0" dirty="0">
                          <a:ln w="0"/>
                          <a:solidFill>
                            <a:schemeClr val="tx1"/>
                          </a:solidFill>
                          <a:effectLst/>
                        </a:rPr>
                        <a:t> </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1.6T (49B)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80G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0.35~0.87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Claude Fable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Anthropic</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3.15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59758637"/>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GPT-5.6 Sol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OpenAI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837431638"/>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Gemini</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5058973"/>
                  </a:ext>
                </a:extLst>
              </a:tr>
            </a:tbl>
          </a:graphicData>
        </a:graphic>
      </p:graphicFrame>
      <p:graphicFrame>
        <p:nvGraphicFramePr>
          <p:cNvPr id="3" name="表格 2">
            <a:extLst>
              <a:ext uri="{FF2B5EF4-FFF2-40B4-BE49-F238E27FC236}">
                <a16:creationId xmlns:a16="http://schemas.microsoft.com/office/drawing/2014/main" id="{20CF8D57-F62C-C701-EBBE-20B8CF002C59}"/>
              </a:ext>
            </a:extLst>
          </p:cNvPr>
          <p:cNvGraphicFramePr>
            <a:graphicFrameLocks noGrp="1"/>
          </p:cNvGraphicFramePr>
          <p:nvPr>
            <p:extLst>
              <p:ext uri="{D42A27DB-BD31-4B8C-83A1-F6EECF244321}">
                <p14:modId xmlns:p14="http://schemas.microsoft.com/office/powerpoint/2010/main" val="87463339"/>
              </p:ext>
            </p:extLst>
          </p:nvPr>
        </p:nvGraphicFramePr>
        <p:xfrm>
          <a:off x="5524096" y="1025679"/>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07263971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spTree>
    <p:extLst>
      <p:ext uri="{BB962C8B-B14F-4D97-AF65-F5344CB8AC3E}">
        <p14:creationId xmlns:p14="http://schemas.microsoft.com/office/powerpoint/2010/main" val="31562355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38658-2B3C-8DE5-45DA-23737A42A4AD}"/>
            </a:ext>
          </a:extLst>
        </p:cNvPr>
        <p:cNvGrpSpPr/>
        <p:nvPr/>
      </p:nvGrpSpPr>
      <p:grpSpPr>
        <a:xfrm>
          <a:off x="0" y="0"/>
          <a:ext cx="0" cy="0"/>
          <a:chOff x="0" y="0"/>
          <a:chExt cx="0" cy="0"/>
        </a:xfrm>
      </p:grpSpPr>
      <p:pic>
        <p:nvPicPr>
          <p:cNvPr id="2" name="圖片 1">
            <a:extLst>
              <a:ext uri="{FF2B5EF4-FFF2-40B4-BE49-F238E27FC236}">
                <a16:creationId xmlns:a16="http://schemas.microsoft.com/office/drawing/2014/main" id="{EC336CA0-741B-90B5-2048-06767EC967D4}"/>
              </a:ext>
            </a:extLst>
          </p:cNvPr>
          <p:cNvPicPr>
            <a:picLocks noChangeAspect="1"/>
          </p:cNvPicPr>
          <p:nvPr/>
        </p:nvPicPr>
        <p:blipFill>
          <a:blip r:embed="rId3"/>
          <a:stretch>
            <a:fillRect/>
          </a:stretch>
        </p:blipFill>
        <p:spPr>
          <a:xfrm>
            <a:off x="8224137" y="37246"/>
            <a:ext cx="740352" cy="740352"/>
          </a:xfrm>
          <a:prstGeom prst="rect">
            <a:avLst/>
          </a:prstGeom>
        </p:spPr>
      </p:pic>
      <p:sp>
        <p:nvSpPr>
          <p:cNvPr id="5" name="標題 1">
            <a:extLst>
              <a:ext uri="{FF2B5EF4-FFF2-40B4-BE49-F238E27FC236}">
                <a16:creationId xmlns:a16="http://schemas.microsoft.com/office/drawing/2014/main" id="{960A8EDD-0A24-CE7E-CD63-1B7D075BCAA1}"/>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標題 1">
            <a:extLst>
              <a:ext uri="{FF2B5EF4-FFF2-40B4-BE49-F238E27FC236}">
                <a16:creationId xmlns:a16="http://schemas.microsoft.com/office/drawing/2014/main" id="{533B2B92-2B9A-4E68-37FC-4D4796F63F0C}"/>
              </a:ext>
            </a:extLst>
          </p:cNvPr>
          <p:cNvSpPr txBox="1">
            <a:spLocks/>
          </p:cNvSpPr>
          <p:nvPr/>
        </p:nvSpPr>
        <p:spPr>
          <a:xfrm>
            <a:off x="8224137" y="620688"/>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DeepSeek</a:t>
            </a:r>
          </a:p>
          <a:p>
            <a:pPr algn="ctr"/>
            <a:r>
              <a:rPr lang="zh-TW" altLang="en-US"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深度求索</a:t>
            </a:r>
            <a:endPar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7" name="文字方塊 6">
            <a:extLst>
              <a:ext uri="{FF2B5EF4-FFF2-40B4-BE49-F238E27FC236}">
                <a16:creationId xmlns:a16="http://schemas.microsoft.com/office/drawing/2014/main" id="{1887142E-F390-F7B5-0F57-E6099827F1D5}"/>
              </a:ext>
            </a:extLst>
          </p:cNvPr>
          <p:cNvSpPr txBox="1"/>
          <p:nvPr/>
        </p:nvSpPr>
        <p:spPr>
          <a:xfrm>
            <a:off x="179510" y="1377042"/>
            <a:ext cx="8280922" cy="240065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Group Relative Policy Optimization(</a:t>
            </a:r>
            <a:r>
              <a:rPr lang="en-US" altLang="zh-TW" sz="1600" b="1" dirty="0"/>
              <a:t>GRPO</a:t>
            </a:r>
            <a:r>
              <a:rPr lang="en-US" altLang="zh-TW" sz="1600" dirty="0"/>
              <a:t>):</a:t>
            </a:r>
            <a:r>
              <a:rPr lang="zh-TW" altLang="en-US" sz="1600" dirty="0"/>
              <a:t> </a:t>
            </a:r>
            <a:r>
              <a:rPr lang="en-US" altLang="zh-TW" sz="1600" dirty="0"/>
              <a:t>Deep reasoning and self-correction.</a:t>
            </a:r>
          </a:p>
          <a:p>
            <a:pPr marL="742950" lvl="1" indent="-285750">
              <a:lnSpc>
                <a:spcPts val="1800"/>
              </a:lnSpc>
              <a:spcBef>
                <a:spcPts val="600"/>
              </a:spcBef>
              <a:buFont typeface="Arial" panose="020B0604020202020204" pitchFamily="34" charset="0"/>
              <a:buChar char="•"/>
            </a:pPr>
            <a:r>
              <a:rPr lang="en-US" altLang="zh-TW" sz="1600" dirty="0"/>
              <a:t>Multi-head Latent Attention(</a:t>
            </a:r>
            <a:r>
              <a:rPr lang="en-US" altLang="zh-TW" sz="1600" b="1" dirty="0"/>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Hybrid Compressed Attention (</a:t>
            </a:r>
            <a:r>
              <a:rPr lang="en-US" altLang="zh-TW" sz="1600" b="1" dirty="0"/>
              <a:t>HCA</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Manifold-Constrained Hyper-Connections (</a:t>
            </a:r>
            <a:r>
              <a:rPr lang="en-US" altLang="zh-TW" sz="1600" b="1" dirty="0"/>
              <a:t>mHC</a:t>
            </a:r>
            <a:r>
              <a:rPr lang="en-US" altLang="zh-TW" sz="1600" dirty="0"/>
              <a:t>): Replacing residual.</a:t>
            </a:r>
          </a:p>
        </p:txBody>
      </p:sp>
      <p:sp>
        <p:nvSpPr>
          <p:cNvPr id="24" name="標題 1">
            <a:extLst>
              <a:ext uri="{FF2B5EF4-FFF2-40B4-BE49-F238E27FC236}">
                <a16:creationId xmlns:a16="http://schemas.microsoft.com/office/drawing/2014/main" id="{1EAB493B-DEBA-4B6C-68E5-EBAB1AC6BF46}"/>
              </a:ext>
            </a:extLst>
          </p:cNvPr>
          <p:cNvSpPr txBox="1">
            <a:spLocks/>
          </p:cNvSpPr>
          <p:nvPr/>
        </p:nvSpPr>
        <p:spPr>
          <a:xfrm>
            <a:off x="8229792" y="1700808"/>
            <a:ext cx="740352" cy="56446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High-Flyer</a:t>
            </a: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Quant</a:t>
            </a:r>
          </a:p>
          <a:p>
            <a:pPr algn="ctr"/>
            <a:r>
              <a:rPr lang="zh-TW" altLang="en-US"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幻方量化</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pic>
        <p:nvPicPr>
          <p:cNvPr id="25" name="圖片 24">
            <a:extLst>
              <a:ext uri="{FF2B5EF4-FFF2-40B4-BE49-F238E27FC236}">
                <a16:creationId xmlns:a16="http://schemas.microsoft.com/office/drawing/2014/main" id="{E7B9DB21-ADDA-F8F3-EE59-DFABC84DD3AA}"/>
              </a:ext>
            </a:extLst>
          </p:cNvPr>
          <p:cNvPicPr>
            <a:picLocks noChangeAspect="1"/>
          </p:cNvPicPr>
          <p:nvPr/>
        </p:nvPicPr>
        <p:blipFill>
          <a:blip r:embed="rId4"/>
          <a:stretch>
            <a:fillRect/>
          </a:stretch>
        </p:blipFill>
        <p:spPr>
          <a:xfrm>
            <a:off x="8312078" y="1208347"/>
            <a:ext cx="564469" cy="564469"/>
          </a:xfrm>
          <a:prstGeom prst="rect">
            <a:avLst/>
          </a:prstGeom>
        </p:spPr>
      </p:pic>
      <p:graphicFrame>
        <p:nvGraphicFramePr>
          <p:cNvPr id="4" name="表格 3">
            <a:extLst>
              <a:ext uri="{FF2B5EF4-FFF2-40B4-BE49-F238E27FC236}">
                <a16:creationId xmlns:a16="http://schemas.microsoft.com/office/drawing/2014/main" id="{5F4DDCA3-590A-2397-1FA3-9F00C50E3A4F}"/>
              </a:ext>
            </a:extLst>
          </p:cNvPr>
          <p:cNvGraphicFramePr>
            <a:graphicFrameLocks noGrp="1"/>
          </p:cNvGraphicFramePr>
          <p:nvPr>
            <p:extLst>
              <p:ext uri="{D42A27DB-BD31-4B8C-83A1-F6EECF244321}">
                <p14:modId xmlns:p14="http://schemas.microsoft.com/office/powerpoint/2010/main" val="2907656640"/>
              </p:ext>
            </p:extLst>
          </p:nvPr>
        </p:nvGraphicFramePr>
        <p:xfrm>
          <a:off x="431538" y="4365104"/>
          <a:ext cx="8280925" cy="2077608"/>
        </p:xfrm>
        <a:graphic>
          <a:graphicData uri="http://schemas.openxmlformats.org/drawingml/2006/table">
            <a:tbl>
              <a:tblPr firstRow="1" bandRow="1">
                <a:tableStyleId>{5C22544A-7EE6-4342-B048-85BDC9FD1C3A}</a:tableStyleId>
              </a:tblPr>
              <a:tblGrid>
                <a:gridCol w="425655">
                  <a:extLst>
                    <a:ext uri="{9D8B030D-6E8A-4147-A177-3AD203B41FA5}">
                      <a16:colId xmlns:a16="http://schemas.microsoft.com/office/drawing/2014/main" val="4198244561"/>
                    </a:ext>
                  </a:extLst>
                </a:gridCol>
                <a:gridCol w="696526">
                  <a:extLst>
                    <a:ext uri="{9D8B030D-6E8A-4147-A177-3AD203B41FA5}">
                      <a16:colId xmlns:a16="http://schemas.microsoft.com/office/drawing/2014/main" val="2211145501"/>
                    </a:ext>
                  </a:extLst>
                </a:gridCol>
                <a:gridCol w="527050">
                  <a:extLst>
                    <a:ext uri="{9D8B030D-6E8A-4147-A177-3AD203B41FA5}">
                      <a16:colId xmlns:a16="http://schemas.microsoft.com/office/drawing/2014/main" val="767948712"/>
                    </a:ext>
                  </a:extLst>
                </a:gridCol>
                <a:gridCol w="527050">
                  <a:extLst>
                    <a:ext uri="{9D8B030D-6E8A-4147-A177-3AD203B41FA5}">
                      <a16:colId xmlns:a16="http://schemas.microsoft.com/office/drawing/2014/main" val="2420987057"/>
                    </a:ext>
                  </a:extLst>
                </a:gridCol>
                <a:gridCol w="1054099">
                  <a:extLst>
                    <a:ext uri="{9D8B030D-6E8A-4147-A177-3AD203B41FA5}">
                      <a16:colId xmlns:a16="http://schemas.microsoft.com/office/drawing/2014/main" val="3715013544"/>
                    </a:ext>
                  </a:extLst>
                </a:gridCol>
                <a:gridCol w="1054099">
                  <a:extLst>
                    <a:ext uri="{9D8B030D-6E8A-4147-A177-3AD203B41FA5}">
                      <a16:colId xmlns:a16="http://schemas.microsoft.com/office/drawing/2014/main" val="3328686525"/>
                    </a:ext>
                  </a:extLst>
                </a:gridCol>
                <a:gridCol w="1008112">
                  <a:extLst>
                    <a:ext uri="{9D8B030D-6E8A-4147-A177-3AD203B41FA5}">
                      <a16:colId xmlns:a16="http://schemas.microsoft.com/office/drawing/2014/main" val="3752581630"/>
                    </a:ext>
                  </a:extLst>
                </a:gridCol>
                <a:gridCol w="396044">
                  <a:extLst>
                    <a:ext uri="{9D8B030D-6E8A-4147-A177-3AD203B41FA5}">
                      <a16:colId xmlns:a16="http://schemas.microsoft.com/office/drawing/2014/main" val="3722446267"/>
                    </a:ext>
                  </a:extLst>
                </a:gridCol>
                <a:gridCol w="396044">
                  <a:extLst>
                    <a:ext uri="{9D8B030D-6E8A-4147-A177-3AD203B41FA5}">
                      <a16:colId xmlns:a16="http://schemas.microsoft.com/office/drawing/2014/main" val="61819001"/>
                    </a:ext>
                  </a:extLst>
                </a:gridCol>
                <a:gridCol w="1206135">
                  <a:extLst>
                    <a:ext uri="{9D8B030D-6E8A-4147-A177-3AD203B41FA5}">
                      <a16:colId xmlns:a16="http://schemas.microsoft.com/office/drawing/2014/main" val="2746565255"/>
                    </a:ext>
                  </a:extLst>
                </a:gridCol>
                <a:gridCol w="990111">
                  <a:extLst>
                    <a:ext uri="{9D8B030D-6E8A-4147-A177-3AD203B41FA5}">
                      <a16:colId xmlns:a16="http://schemas.microsoft.com/office/drawing/2014/main" val="1920063261"/>
                    </a:ext>
                  </a:extLst>
                </a:gridCol>
              </a:tblGrid>
              <a:tr h="187440">
                <a:tc rowSpan="3">
                  <a:txBody>
                    <a:bodyPr/>
                    <a:lstStyle/>
                    <a:p>
                      <a:pPr algn="ctr"/>
                      <a:endParaRPr lang="zh-TW" altLang="en-US" sz="1200" b="0"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Type</a:t>
                      </a:r>
                      <a:endParaRPr kumimoji="0" lang="zh-TW" altLang="en-US" sz="1200" b="0" i="0" u="none" strike="noStrike" kern="1200" cap="none" spc="0" normalizeH="0" baseline="0" noProof="0" dirty="0">
                        <a:ln w="0"/>
                        <a:solidFill>
                          <a:prstClr val="black"/>
                        </a:solidFill>
                        <a:effectLst/>
                        <a:uLnTx/>
                        <a:uFillTx/>
                        <a:latin typeface="+mn-lt"/>
                        <a:ea typeface="+mn-ea"/>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Key Technology</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5">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Memory consumption</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schemeClr>
                    </a:solid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87440">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Training</a:t>
                      </a: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Attention</a:t>
                      </a: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Model</a:t>
                      </a:r>
                      <a:endParaRPr sz="12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Context</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Layers</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endParaRPr lang="zh-TW" altLang="en-US"/>
                    </a:p>
                  </a:txBody>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Parameters</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Requirement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2581155207"/>
                  </a:ext>
                </a:extLst>
              </a:tr>
              <a:tr h="209428">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Pre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Post/RL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endPar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endParaRPr sz="10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Dense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MoE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zh-TW" altLang="en-US" sz="10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533882152"/>
                  </a:ext>
                </a:extLst>
              </a:tr>
              <a:tr h="329349">
                <a:tc>
                  <a:txBody>
                    <a:bodyPr/>
                    <a:lstStyle/>
                    <a:p>
                      <a:pPr algn="l"/>
                      <a:r>
                        <a:rPr lang="en-US" altLang="zh-TW" sz="1200" b="0" cap="none" spc="0" dirty="0">
                          <a:ln w="0"/>
                          <a:solidFill>
                            <a:schemeClr val="tx1"/>
                          </a:solidFill>
                          <a:effectLst/>
                        </a:rPr>
                        <a:t>V2</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V2.5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Fine-Grained</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32k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59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21B / 236B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 PC</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223008">
                <a:tc>
                  <a:txBody>
                    <a:bodyPr/>
                    <a:lstStyle/>
                    <a:p>
                      <a:pPr algn="l"/>
                      <a:r>
                        <a:rPr lang="en-US" altLang="zh-TW" sz="1200" b="0" cap="none" spc="0" dirty="0">
                          <a:ln w="0"/>
                          <a:solidFill>
                            <a:schemeClr val="tx1"/>
                          </a:solidFill>
                          <a:effectLst/>
                        </a:rPr>
                        <a:t>V3</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R1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Dual Pipe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58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37B</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a:t>
                      </a:r>
                      <a:r>
                        <a:rPr lang="zh-TW" altLang="en-US" sz="1200" b="0" cap="none" spc="0" dirty="0">
                          <a:ln w="0"/>
                          <a:solidFill>
                            <a:schemeClr val="tx1"/>
                          </a:solidFill>
                          <a:effectLst/>
                        </a:rPr>
                        <a:t> </a:t>
                      </a:r>
                      <a:r>
                        <a:rPr lang="en-US" altLang="zh-TW" sz="1200" b="0" cap="none" spc="0" dirty="0">
                          <a:ln w="0"/>
                          <a:solidFill>
                            <a:schemeClr val="tx1"/>
                          </a:solidFill>
                          <a:effectLst/>
                        </a:rPr>
                        <a:t>PC with</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411370">
                <a:tc rowSpan="2">
                  <a:txBody>
                    <a:bodyPr/>
                    <a:lstStyle/>
                    <a:p>
                      <a:pPr algn="l"/>
                      <a:r>
                        <a:rPr lang="en-US" altLang="zh-TW" sz="1200" b="0" cap="none" spc="0" dirty="0">
                          <a:ln w="0"/>
                          <a:solidFill>
                            <a:schemeClr val="tx1"/>
                          </a:solidFill>
                          <a:effectLst/>
                        </a:rPr>
                        <a:t>V4</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HCA</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mHC</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40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13B / 284B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 PC</a:t>
                      </a:r>
                    </a:p>
                    <a:p>
                      <a:pPr algn="ctr"/>
                      <a:r>
                        <a:rPr lang="en-US" altLang="zh-TW" sz="1200" b="0" cap="none" spc="0" dirty="0">
                          <a:ln w="0"/>
                          <a:solidFill>
                            <a:schemeClr val="tx1"/>
                          </a:solidFill>
                          <a:effectLst/>
                        </a:rPr>
                        <a:t>8 x H800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41137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sz="1200" dirty="0"/>
                        <a:t>Muon</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sz="1200" dirty="0"/>
                        <a:t>GRPO</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sz="1200" dirty="0"/>
                        <a:t>HCA</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mHC</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58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49B / 1.6T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AI clusters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Tree>
    <p:extLst>
      <p:ext uri="{BB962C8B-B14F-4D97-AF65-F5344CB8AC3E}">
        <p14:creationId xmlns:p14="http://schemas.microsoft.com/office/powerpoint/2010/main" val="21842132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1D7DEF31-767A-9F8F-B0E4-8C2CE6788F28}"/>
              </a:ext>
            </a:extLst>
          </p:cNvPr>
          <p:cNvSpPr txBox="1"/>
          <p:nvPr/>
        </p:nvSpPr>
        <p:spPr>
          <a:xfrm>
            <a:off x="251520" y="260648"/>
            <a:ext cx="3384376" cy="4809009"/>
          </a:xfrm>
          <a:prstGeom prst="rect">
            <a:avLst/>
          </a:prstGeom>
          <a:noFill/>
        </p:spPr>
        <p:txBody>
          <a:bodyPr wrap="square">
            <a:spAutoFit/>
          </a:bodyPr>
          <a:lstStyle/>
          <a:p>
            <a:pPr marL="0" marR="0">
              <a:spcBef>
                <a:spcPts val="1800"/>
              </a:spcBef>
              <a:spcAft>
                <a:spcPts val="900"/>
              </a:spcAft>
              <a:buNone/>
            </a:pPr>
            <a:r>
              <a:rPr lang="zh-TW" altLang="zh-TW" sz="1100" b="1" u="none" strike="noStrike" dirty="0">
                <a:effectLst/>
                <a:latin typeface="微軟正黑體" panose="020B0604030504040204" pitchFamily="34" charset="-120"/>
                <a:ea typeface="微軟正黑體" panose="020B0604030504040204" pitchFamily="34" charset="-120"/>
              </a:rPr>
              <a:t>一、 解密路由激活函數：Sqrt(Softplus(·))</a:t>
            </a: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在傳統的混合專家模型（MoE）中，計算「Token 與專家的契合親和度」通常會使用 Sigmoid 或 Softmax。但 DeepSeek-V4 徹底將其替換為 </a:t>
            </a:r>
            <a:r>
              <a:rPr lang="zh-TW" altLang="zh-TW" sz="1100" b="1" u="none" strike="noStrike" dirty="0">
                <a:effectLst/>
                <a:latin typeface="微軟正黑體" panose="020B0604030504040204" pitchFamily="34" charset="-120"/>
                <a:ea typeface="微軟正黑體" panose="020B0604030504040204" pitchFamily="34" charset="-120"/>
              </a:rPr>
              <a:t>Sqrt(Softplus(·))</a:t>
            </a:r>
            <a:r>
              <a:rPr lang="zh-TW" altLang="zh-TW" sz="1100" b="0" u="none" strike="noStrike" dirty="0">
                <a:effectLst/>
                <a:latin typeface="微軟正黑體" panose="020B0604030504040204" pitchFamily="34" charset="-120"/>
                <a:ea typeface="微軟正黑體" panose="020B0604030504040204" pitchFamily="34" charset="-120"/>
              </a:rPr>
              <a:t>，其數學公式為： </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en-US" altLang="zh-TW" sz="1100" dirty="0">
                <a:latin typeface="微軟正黑體" panose="020B0604030504040204" pitchFamily="34" charset="-120"/>
                <a:ea typeface="微軟正黑體" panose="020B0604030504040204" pitchFamily="34" charset="-120"/>
              </a:rPr>
              <a:t>Score(x) = Sqrt[ ln(1+e^x) ]</a:t>
            </a:r>
            <a:endParaRPr lang="zh-TW"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這個改動帶來了三大關鍵優勢：</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獨立評分不互相拉扯</a:t>
            </a:r>
            <a:r>
              <a:rPr lang="zh-TW" altLang="zh-TW" sz="1100" b="0" u="none" strike="noStrike" dirty="0">
                <a:effectLst/>
                <a:latin typeface="微軟正黑體" panose="020B0604030504040204" pitchFamily="34" charset="-120"/>
                <a:ea typeface="微軟正黑體" panose="020B0604030504040204" pitchFamily="34" charset="-120"/>
              </a:rPr>
              <a:t>：與 Softmax 不同，每個專家的分數是單獨計算的，這意味著某一個專家分數暴增時，不會強行壓低其他潛在適用專家的機率。 </a:t>
            </a:r>
            <a:endParaRPr lang="en-US" altLang="zh-TW" sz="1100" dirty="0">
              <a:latin typeface="微軟正黑體" panose="020B0604030504040204" pitchFamily="34" charset="-120"/>
              <a:ea typeface="微軟正黑體" panose="020B0604030504040204" pitchFamily="34" charset="-120"/>
            </a:endParaRP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平滑緩解極端路由</a:t>
            </a:r>
            <a:r>
              <a:rPr lang="zh-TW" altLang="zh-TW" sz="1100" b="0" u="none" strike="noStrike" dirty="0">
                <a:effectLst/>
                <a:latin typeface="微軟正黑體" panose="020B0604030504040204" pitchFamily="34" charset="-120"/>
                <a:ea typeface="微軟正黑體" panose="020B0604030504040204" pitchFamily="34" charset="-120"/>
              </a:rPr>
              <a:t>：Softplus 能提供平滑的漸進激活，而外層的</a:t>
            </a:r>
            <a:r>
              <a:rPr lang="zh-TW" altLang="zh-TW" sz="1100" b="1" u="none" strike="noStrike" dirty="0">
                <a:effectLst/>
                <a:latin typeface="微軟正黑體" panose="020B0604030504040204" pitchFamily="34" charset="-120"/>
                <a:ea typeface="微軟正黑體" panose="020B0604030504040204" pitchFamily="34" charset="-120"/>
              </a:rPr>
              <a:t>平方根（Sqrt）操作能進一步壓縮分數的極端範圍</a:t>
            </a:r>
            <a:r>
              <a:rPr lang="zh-TW" altLang="zh-TW" sz="1100" b="0" u="none" strike="noStrike" dirty="0">
                <a:effectLst/>
                <a:latin typeface="微軟正黑體" panose="020B0604030504040204" pitchFamily="34" charset="-120"/>
                <a:ea typeface="微軟正黑體" panose="020B0604030504040204" pitchFamily="34" charset="-120"/>
              </a:rPr>
              <a:t>，防止少數專家被「過度熱捧」而導致其他專家失業。 </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有利於天然負載均衡</a:t>
            </a:r>
            <a:r>
              <a:rPr lang="zh-TW" altLang="zh-TW" sz="1100" b="0" u="none" strike="noStrike" dirty="0">
                <a:effectLst/>
                <a:latin typeface="微軟正黑體" panose="020B0604030504040204" pitchFamily="34" charset="-120"/>
                <a:ea typeface="微軟正黑體" panose="020B0604030504040204" pitchFamily="34" charset="-120"/>
              </a:rPr>
              <a:t>：路由分布更為平緩，模型在不需要僵硬的「輔助損失（Auxiliary Loss）」強迫制約下，就能自主實現極佳的專家分配均衡。</a:t>
            </a:r>
          </a:p>
        </p:txBody>
      </p:sp>
      <p:pic>
        <p:nvPicPr>
          <p:cNvPr id="5" name="圖片 4">
            <a:extLst>
              <a:ext uri="{FF2B5EF4-FFF2-40B4-BE49-F238E27FC236}">
                <a16:creationId xmlns:a16="http://schemas.microsoft.com/office/drawing/2014/main" id="{24B15496-A7F0-B40B-64D7-2E69EEF5EED0}"/>
              </a:ext>
            </a:extLst>
          </p:cNvPr>
          <p:cNvPicPr>
            <a:picLocks noChangeAspect="1"/>
          </p:cNvPicPr>
          <p:nvPr/>
        </p:nvPicPr>
        <p:blipFill>
          <a:blip r:embed="rId3"/>
          <a:stretch>
            <a:fillRect/>
          </a:stretch>
        </p:blipFill>
        <p:spPr>
          <a:xfrm>
            <a:off x="216496" y="1412776"/>
            <a:ext cx="2429214" cy="581106"/>
          </a:xfrm>
          <a:prstGeom prst="rect">
            <a:avLst/>
          </a:prstGeom>
        </p:spPr>
      </p:pic>
      <p:sp>
        <p:nvSpPr>
          <p:cNvPr id="7" name="文字方塊 6">
            <a:extLst>
              <a:ext uri="{FF2B5EF4-FFF2-40B4-BE49-F238E27FC236}">
                <a16:creationId xmlns:a16="http://schemas.microsoft.com/office/drawing/2014/main" id="{5DACEE6A-7394-9489-F6F8-35DC8A5AC10E}"/>
              </a:ext>
            </a:extLst>
          </p:cNvPr>
          <p:cNvSpPr txBox="1"/>
          <p:nvPr/>
        </p:nvSpPr>
        <p:spPr>
          <a:xfrm>
            <a:off x="3995936" y="188640"/>
            <a:ext cx="4572000" cy="5613396"/>
          </a:xfrm>
          <a:prstGeom prst="rect">
            <a:avLst/>
          </a:prstGeom>
          <a:noFill/>
        </p:spPr>
        <p:txBody>
          <a:bodyPr wrap="square">
            <a:spAutoFit/>
          </a:bodyPr>
          <a:lstStyle/>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二、 什麼是 DeepSeek-V4 的「混合注意力架構」？</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在過去的 V2/V3 中，DeepSeek 著名的是 Multi-head Latent Attention (MLA) 技術。然而到了 V4，為了解決 100 萬 Token 帶來的恐怖 </a:t>
            </a:r>
            <a:r>
              <a:rPr lang="zh-TW" altLang="zh-TW" sz="1100" b="1" u="none" strike="noStrike" dirty="0">
                <a:effectLst/>
                <a:latin typeface="微軟正黑體" panose="020B0604030504040204" pitchFamily="34" charset="-120"/>
                <a:ea typeface="微軟正黑體" panose="020B0604030504040204" pitchFamily="34" charset="-120"/>
              </a:rPr>
              <a:t>KV Cache（鍵值快取）記憶體爆炸問題</a:t>
            </a:r>
            <a:r>
              <a:rPr lang="zh-TW" altLang="zh-TW" sz="1100" b="0" u="none" strike="noStrike" dirty="0">
                <a:effectLst/>
                <a:latin typeface="微軟正黑體" panose="020B0604030504040204" pitchFamily="34" charset="-120"/>
                <a:ea typeface="微軟正黑體" panose="020B0604030504040204" pitchFamily="34" charset="-120"/>
              </a:rPr>
              <a:t>，官方開發出了由 </a:t>
            </a:r>
            <a:r>
              <a:rPr lang="zh-TW" altLang="zh-TW" sz="1100" b="1" u="none" strike="noStrike" dirty="0">
                <a:effectLst/>
                <a:latin typeface="微軟正黑體" panose="020B0604030504040204" pitchFamily="34" charset="-120"/>
                <a:ea typeface="微軟正黑體" panose="020B0604030504040204" pitchFamily="34" charset="-120"/>
              </a:rPr>
              <a:t>CSA</a:t>
            </a:r>
            <a:r>
              <a:rPr lang="zh-TW" altLang="zh-TW" sz="1100" b="0" u="none" strike="noStrike" dirty="0">
                <a:effectLst/>
                <a:latin typeface="微軟正黑體" panose="020B0604030504040204" pitchFamily="34" charset="-120"/>
                <a:ea typeface="微軟正黑體" panose="020B0604030504040204" pitchFamily="34" charset="-120"/>
              </a:rPr>
              <a:t> 與 </a:t>
            </a:r>
            <a:r>
              <a:rPr lang="zh-TW" altLang="zh-TW" sz="1100" b="1" u="none" strike="noStrike" dirty="0">
                <a:effectLst/>
                <a:latin typeface="微軟正黑體" panose="020B0604030504040204" pitchFamily="34" charset="-120"/>
                <a:ea typeface="微軟正黑體" panose="020B0604030504040204" pitchFamily="34" charset="-120"/>
              </a:rPr>
              <a:t>HCA</a:t>
            </a:r>
            <a:r>
              <a:rPr lang="zh-TW" altLang="zh-TW" sz="1100" b="0" u="none" strike="noStrike" dirty="0">
                <a:effectLst/>
                <a:latin typeface="微軟正黑體" panose="020B0604030504040204" pitchFamily="34" charset="-120"/>
                <a:ea typeface="微軟正黑體" panose="020B0604030504040204" pitchFamily="34" charset="-120"/>
              </a:rPr>
              <a:t> 交替層疊（Interleaved）組成的</a:t>
            </a:r>
            <a:r>
              <a:rPr lang="zh-TW" altLang="zh-TW" sz="1100" b="1" u="none" strike="noStrike" dirty="0">
                <a:effectLst/>
                <a:latin typeface="微軟正黑體" panose="020B0604030504040204" pitchFamily="34" charset="-120"/>
                <a:ea typeface="微軟正黑體" panose="020B0604030504040204" pitchFamily="34" charset="-120"/>
              </a:rPr>
              <a:t>混合注意力架構</a:t>
            </a:r>
            <a:r>
              <a:rPr lang="zh-TW" altLang="zh-TW" sz="1100" b="0" u="none" strike="noStrike" dirty="0">
                <a:effectLst/>
                <a:latin typeface="微軟正黑體" panose="020B0604030504040204" pitchFamily="34" charset="-120"/>
                <a:ea typeface="微軟正黑體" panose="020B0604030504040204" pitchFamily="34" charset="-120"/>
              </a:rPr>
              <a:t>。 </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它拋棄了「每個 Token 都必須精確記錄 KV 狀態」的傳統教條，改採</a:t>
            </a:r>
            <a:r>
              <a:rPr lang="zh-TW" altLang="zh-TW" sz="1100" b="1" u="none" strike="noStrike" dirty="0">
                <a:effectLst/>
                <a:latin typeface="微軟正黑體" panose="020B0604030504040204" pitchFamily="34" charset="-120"/>
                <a:ea typeface="微軟正黑體" panose="020B0604030504040204" pitchFamily="34" charset="-120"/>
              </a:rPr>
              <a:t>分層儲存、按需訪問</a:t>
            </a:r>
            <a:r>
              <a:rPr lang="zh-TW" altLang="zh-TW" sz="1100" b="0" u="none" strike="noStrike" dirty="0">
                <a:effectLst/>
                <a:latin typeface="微軟正黑體" panose="020B0604030504040204" pitchFamily="34" charset="-120"/>
                <a:ea typeface="微軟正黑體" panose="020B0604030504040204" pitchFamily="34" charset="-120"/>
              </a:rPr>
              <a:t>的策略，成功將 </a:t>
            </a:r>
            <a:r>
              <a:rPr lang="zh-TW" altLang="zh-TW" sz="1100" b="1" u="none" strike="noStrike" dirty="0">
                <a:effectLst/>
                <a:latin typeface="微軟正黑體" panose="020B0604030504040204" pitchFamily="34" charset="-120"/>
                <a:ea typeface="微軟正黑體" panose="020B0604030504040204" pitchFamily="34" charset="-120"/>
              </a:rPr>
              <a:t>KV Cache 暴減 90%，單 Token 推理算力（FLOPs）降低 73%</a:t>
            </a:r>
            <a:r>
              <a:rPr lang="zh-TW" altLang="zh-TW" sz="1100" b="0" u="none" strike="noStrike" dirty="0">
                <a:effectLst/>
                <a:latin typeface="微軟正黑體" panose="020B0604030504040204" pitchFamily="34" charset="-120"/>
                <a:ea typeface="微軟正黑體" panose="020B0604030504040204" pitchFamily="34" charset="-120"/>
              </a:rPr>
              <a:t>。</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這一架構由以下兩大機制交織而成：</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endParaRPr lang="zh-TW"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1. 壓縮稀疏注意力（Compressed Sparse Attention, CSA）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：將歷史脈絡每m</a:t>
            </a:r>
            <a:r>
              <a:rPr lang="en-US" altLang="zh-TW" sz="1100" b="0" u="none" strike="noStrike" dirty="0">
                <a:effectLst/>
                <a:latin typeface="微軟正黑體" panose="020B0604030504040204" pitchFamily="34" charset="-120"/>
                <a:ea typeface="微軟正黑體" panose="020B0604030504040204" pitchFamily="34" charset="-120"/>
              </a:rPr>
              <a:t>(4)</a:t>
            </a:r>
            <a:r>
              <a:rPr lang="zh-TW" altLang="zh-TW" sz="1100" b="0" u="none" strike="noStrike" dirty="0">
                <a:effectLst/>
                <a:latin typeface="微軟正黑體" panose="020B0604030504040204" pitchFamily="34" charset="-120"/>
                <a:ea typeface="微軟正黑體" panose="020B0604030504040204" pitchFamily="34" charset="-120"/>
              </a:rPr>
              <a:t>個Token的 KV 狀態，透過學習好的權重</a:t>
            </a:r>
            <a:r>
              <a:rPr lang="zh-TW" altLang="zh-TW" sz="1100" b="1" u="none" strike="noStrike" dirty="0">
                <a:effectLst/>
                <a:latin typeface="微軟正黑體" panose="020B0604030504040204" pitchFamily="34" charset="-120"/>
                <a:ea typeface="微軟正黑體" panose="020B0604030504040204" pitchFamily="34" charset="-120"/>
              </a:rPr>
              <a:t>數學壓縮</a:t>
            </a:r>
            <a:r>
              <a:rPr lang="zh-TW" altLang="zh-TW" sz="1100" b="0" u="none" strike="noStrike" dirty="0">
                <a:effectLst/>
                <a:latin typeface="微軟正黑體" panose="020B0604030504040204" pitchFamily="34" charset="-120"/>
                <a:ea typeface="微軟正黑體" panose="020B0604030504040204" pitchFamily="34" charset="-120"/>
              </a:rPr>
              <a:t>鎖定成一個合併表徵。接著，由 Lightning Indexer 快速動態檢索出最相關的 Top-K 個壓縮記憶條目。</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zh-TW" sz="1100" b="1" u="none" strike="noStrike" dirty="0">
                <a:effectLst/>
                <a:latin typeface="微軟正黑體" panose="020B0604030504040204" pitchFamily="34" charset="-120"/>
                <a:ea typeface="微軟正黑體" panose="020B0604030504040204" pitchFamily="34" charset="-120"/>
              </a:rPr>
              <a:t>中等解析度的檢索器</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en-US" sz="1100" b="1"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不全量掃描百萬上下文，只找出跟當前問題最相關的歷史片段。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2. 重度壓縮注意力（Heavily Compressed Attention, HCA）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：採用更激進的重度壓縮比（例如每 128 個 Token 壓縮成一條全局 KV 狀態），然後對這些高度壓縮的狀態進行</a:t>
            </a:r>
            <a:r>
              <a:rPr lang="zh-TW" altLang="zh-TW" sz="1100" b="1" u="none" strike="noStrike" dirty="0">
                <a:effectLst/>
                <a:latin typeface="微軟正黑體" panose="020B0604030504040204" pitchFamily="34" charset="-120"/>
                <a:ea typeface="微軟正黑體" panose="020B0604030504040204" pitchFamily="34" charset="-120"/>
              </a:rPr>
              <a:t>密集的全局注意力計算</a:t>
            </a:r>
            <a:r>
              <a:rPr lang="zh-TW" altLang="zh-TW" sz="1100" b="0" u="none" strike="noStrike" dirty="0">
                <a:effectLst/>
                <a:latin typeface="微軟正黑體" panose="020B0604030504040204" pitchFamily="34" charset="-120"/>
                <a:ea typeface="微軟正黑體" panose="020B0604030504040204" pitchFamily="34" charset="-120"/>
              </a:rPr>
              <a:t>。</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zh-TW" altLang="zh-TW" sz="1100" b="1" u="none" strike="noStrike" dirty="0">
                <a:effectLst/>
                <a:latin typeface="微軟正黑體" panose="020B0604030504040204" pitchFamily="34" charset="-120"/>
                <a:ea typeface="微軟正黑體" panose="020B0604030504040204" pitchFamily="34" charset="-120"/>
              </a:rPr>
              <a:t>「低解析度的全局老地圖」</a:t>
            </a:r>
            <a:r>
              <a:rPr lang="zh-TW" altLang="zh-TW" sz="1100" b="0" u="none" strike="noStrike" dirty="0">
                <a:effectLst/>
                <a:latin typeface="微軟正黑體" panose="020B0604030504040204" pitchFamily="34" charset="-120"/>
                <a:ea typeface="微軟正黑體" panose="020B0604030504040204" pitchFamily="34" charset="-120"/>
              </a:rPr>
              <a:t>。雖然細節被模糊了，但它確保模型不會因為稀疏檢索而徹底切碎整體文章結構，依然看得見故事的宏觀輪廓。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3. 滑動窗口（Sliding Window）</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：不論 CSA 還是 HCA，對於「當前最新、最鄰近」的上下文（例如最新的 128 個 Token），都依然保持 100% 完整且精確的精細注意力。</a:t>
            </a:r>
          </a:p>
        </p:txBody>
      </p:sp>
    </p:spTree>
    <p:extLst>
      <p:ext uri="{BB962C8B-B14F-4D97-AF65-F5344CB8AC3E}">
        <p14:creationId xmlns:p14="http://schemas.microsoft.com/office/powerpoint/2010/main" val="31453950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16EEC-6C42-09B9-F859-79359689D7A7}"/>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2DCB68E9-8DA3-5172-2398-EEF1F9E21177}"/>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C4591A5C-3125-91C4-210F-A6EA5099E439}"/>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CD8287F-FC84-6024-A406-47CC8DDD1F8C}"/>
              </a:ext>
            </a:extLst>
          </p:cNvPr>
          <p:cNvSpPr txBox="1">
            <a:spLocks/>
          </p:cNvSpPr>
          <p:nvPr/>
        </p:nvSpPr>
        <p:spPr>
          <a:xfrm>
            <a:off x="7144904" y="5723144"/>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pic>
        <p:nvPicPr>
          <p:cNvPr id="3" name="圖片 2">
            <a:extLst>
              <a:ext uri="{FF2B5EF4-FFF2-40B4-BE49-F238E27FC236}">
                <a16:creationId xmlns:a16="http://schemas.microsoft.com/office/drawing/2014/main" id="{4847F2FE-A7D1-1C7A-9A41-E11D98AA70E1}"/>
              </a:ext>
            </a:extLst>
          </p:cNvPr>
          <p:cNvPicPr>
            <a:picLocks noChangeAspect="1"/>
          </p:cNvPicPr>
          <p:nvPr/>
        </p:nvPicPr>
        <p:blipFill>
          <a:blip r:embed="rId2"/>
          <a:stretch>
            <a:fillRect/>
          </a:stretch>
        </p:blipFill>
        <p:spPr>
          <a:xfrm>
            <a:off x="1331640" y="-2803643"/>
            <a:ext cx="6267914" cy="8670828"/>
          </a:xfrm>
          <a:prstGeom prst="rect">
            <a:avLst/>
          </a:prstGeom>
          <a:solidFill>
            <a:schemeClr val="bg1"/>
          </a:solidFill>
        </p:spPr>
      </p:pic>
      <p:sp>
        <p:nvSpPr>
          <p:cNvPr id="8" name="標題 1">
            <a:extLst>
              <a:ext uri="{FF2B5EF4-FFF2-40B4-BE49-F238E27FC236}">
                <a16:creationId xmlns:a16="http://schemas.microsoft.com/office/drawing/2014/main" id="{934CCFB2-3555-3DD4-A6B0-3DDAD38C8B93}"/>
              </a:ext>
            </a:extLst>
          </p:cNvPr>
          <p:cNvSpPr txBox="1">
            <a:spLocks/>
          </p:cNvSpPr>
          <p:nvPr/>
        </p:nvSpPr>
        <p:spPr>
          <a:xfrm>
            <a:off x="6269100" y="116499"/>
            <a:ext cx="2842877" cy="1080120"/>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 = multi-Head Compression</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 = Mixture of Experts</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Mog = Mixture of Groups</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MoFA = Mixture of Fine-grain Attention</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Tree>
    <p:extLst>
      <p:ext uri="{BB962C8B-B14F-4D97-AF65-F5344CB8AC3E}">
        <p14:creationId xmlns:p14="http://schemas.microsoft.com/office/powerpoint/2010/main" val="9774705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464BD-5194-0315-7A89-E8C884C6AB6A}"/>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60940C7C-1A29-271B-CC3C-3E960225E0D0}"/>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397E2CE4-D75C-D567-8091-71DAC2642649}"/>
              </a:ext>
            </a:extLst>
          </p:cNvPr>
          <p:cNvSpPr txBox="1">
            <a:spLocks/>
          </p:cNvSpPr>
          <p:nvPr/>
        </p:nvSpPr>
        <p:spPr>
          <a:xfrm>
            <a:off x="6269100" y="116499"/>
            <a:ext cx="2842877" cy="1080120"/>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 = multi-Head Compression</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 = Mixture of Experts</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Mog = Mixture of Groups</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MoFA = Mixture of Fine-grain Attention</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CF985EB1-5D4F-5FCC-6DCC-380A04F3F017}"/>
              </a:ext>
            </a:extLst>
          </p:cNvPr>
          <p:cNvPicPr>
            <a:picLocks noChangeAspect="1"/>
          </p:cNvPicPr>
          <p:nvPr/>
        </p:nvPicPr>
        <p:blipFill>
          <a:blip r:embed="rId2"/>
          <a:stretch>
            <a:fillRect/>
          </a:stretch>
        </p:blipFill>
        <p:spPr>
          <a:xfrm>
            <a:off x="2111380" y="943893"/>
            <a:ext cx="2469258" cy="5321829"/>
          </a:xfrm>
          <a:prstGeom prst="rect">
            <a:avLst/>
          </a:prstGeom>
        </p:spPr>
      </p:pic>
      <p:pic>
        <p:nvPicPr>
          <p:cNvPr id="5" name="圖片 4">
            <a:extLst>
              <a:ext uri="{FF2B5EF4-FFF2-40B4-BE49-F238E27FC236}">
                <a16:creationId xmlns:a16="http://schemas.microsoft.com/office/drawing/2014/main" id="{B06F7ADF-4A96-EDBF-862F-863AC4125B88}"/>
              </a:ext>
            </a:extLst>
          </p:cNvPr>
          <p:cNvPicPr>
            <a:picLocks noChangeAspect="1"/>
          </p:cNvPicPr>
          <p:nvPr/>
        </p:nvPicPr>
        <p:blipFill>
          <a:blip r:embed="rId3"/>
          <a:stretch>
            <a:fillRect/>
          </a:stretch>
        </p:blipFill>
        <p:spPr>
          <a:xfrm>
            <a:off x="4864113" y="1916832"/>
            <a:ext cx="3215919" cy="3375953"/>
          </a:xfrm>
          <a:prstGeom prst="rect">
            <a:avLst/>
          </a:prstGeom>
        </p:spPr>
      </p:pic>
    </p:spTree>
    <p:extLst>
      <p:ext uri="{BB962C8B-B14F-4D97-AF65-F5344CB8AC3E}">
        <p14:creationId xmlns:p14="http://schemas.microsoft.com/office/powerpoint/2010/main" val="37087734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D12A1-524B-7809-BD36-D84446C462E5}"/>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4C96685B-48C1-5AE8-649A-AE7D8CEC7A46}"/>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B6CF422A-86AC-5076-1068-C85ACFF4EE65}"/>
              </a:ext>
            </a:extLst>
          </p:cNvPr>
          <p:cNvSpPr txBox="1">
            <a:spLocks/>
          </p:cNvSpPr>
          <p:nvPr/>
        </p:nvSpPr>
        <p:spPr>
          <a:xfrm>
            <a:off x="6277087" y="116632"/>
            <a:ext cx="2842877" cy="1080120"/>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 = multi-Head Compression</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 = Mixture of Experts</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Mog = Mixture of Groups</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MoFA = Mixture of Fine-grain Attention</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矩形: 圓角 2">
            <a:extLst>
              <a:ext uri="{FF2B5EF4-FFF2-40B4-BE49-F238E27FC236}">
                <a16:creationId xmlns:a16="http://schemas.microsoft.com/office/drawing/2014/main" id="{AB4273AF-A4C6-DD3C-DF7B-6600921A4991}"/>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Layer</a:t>
            </a:r>
          </a:p>
        </p:txBody>
      </p:sp>
      <p:sp>
        <p:nvSpPr>
          <p:cNvPr id="5" name="矩形: 圓角 4">
            <a:extLst>
              <a:ext uri="{FF2B5EF4-FFF2-40B4-BE49-F238E27FC236}">
                <a16:creationId xmlns:a16="http://schemas.microsoft.com/office/drawing/2014/main" id="{9D3946E5-6619-B00B-6F2B-318E4FFDDBFF}"/>
              </a:ext>
            </a:extLst>
          </p:cNvPr>
          <p:cNvSpPr/>
          <p:nvPr/>
        </p:nvSpPr>
        <p:spPr>
          <a:xfrm>
            <a:off x="467826" y="1922626"/>
            <a:ext cx="1219522" cy="2795046"/>
          </a:xfrm>
          <a:prstGeom prst="roundRect">
            <a:avLst>
              <a:gd name="adj" fmla="val 10053"/>
            </a:avLst>
          </a:prstGeom>
          <a:solidFill>
            <a:schemeClr val="bg1">
              <a:lumMod val="95000"/>
              <a:alpha val="40000"/>
            </a:schemeClr>
          </a:solidFill>
          <a:ln w="15875">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10" name="直線單箭頭接點 9">
            <a:extLst>
              <a:ext uri="{FF2B5EF4-FFF2-40B4-BE49-F238E27FC236}">
                <a16:creationId xmlns:a16="http://schemas.microsoft.com/office/drawing/2014/main" id="{66CD6BA5-C714-3982-95C5-9F54EB190B25}"/>
              </a:ext>
            </a:extLst>
          </p:cNvPr>
          <p:cNvCxnSpPr>
            <a:cxnSpLocks/>
            <a:stCxn id="3" idx="0"/>
            <a:endCxn id="5" idx="2"/>
          </p:cNvCxnSpPr>
          <p:nvPr/>
        </p:nvCxnSpPr>
        <p:spPr>
          <a:xfrm flipV="1">
            <a:off x="1077305" y="4717672"/>
            <a:ext cx="282" cy="374834"/>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矩形: 圓角 15">
            <a:extLst>
              <a:ext uri="{FF2B5EF4-FFF2-40B4-BE49-F238E27FC236}">
                <a16:creationId xmlns:a16="http://schemas.microsoft.com/office/drawing/2014/main" id="{03AF971C-A9FC-598A-0B06-5CF72E8CE55C}"/>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Layer</a:t>
            </a:r>
          </a:p>
        </p:txBody>
      </p:sp>
      <p:cxnSp>
        <p:nvCxnSpPr>
          <p:cNvPr id="17" name="直線單箭頭接點 16">
            <a:extLst>
              <a:ext uri="{FF2B5EF4-FFF2-40B4-BE49-F238E27FC236}">
                <a16:creationId xmlns:a16="http://schemas.microsoft.com/office/drawing/2014/main" id="{ECA6FA32-B08E-0AC6-BB60-7F13E024D8E7}"/>
              </a:ext>
            </a:extLst>
          </p:cNvPr>
          <p:cNvCxnSpPr>
            <a:cxnSpLocks/>
            <a:stCxn id="5" idx="0"/>
            <a:endCxn id="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39FACF2C-0169-0192-DCE3-698E839EEE88}"/>
              </a:ext>
            </a:extLst>
          </p:cNvPr>
          <p:cNvSpPr/>
          <p:nvPr/>
        </p:nvSpPr>
        <p:spPr>
          <a:xfrm>
            <a:off x="1419387" y="5671009"/>
            <a:ext cx="362588" cy="283154"/>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p:txBody>
      </p:sp>
      <p:sp>
        <p:nvSpPr>
          <p:cNvPr id="38" name="矩形: 圓角 37">
            <a:extLst>
              <a:ext uri="{FF2B5EF4-FFF2-40B4-BE49-F238E27FC236}">
                <a16:creationId xmlns:a16="http://schemas.microsoft.com/office/drawing/2014/main" id="{495965DC-D140-10E5-C8BE-EFB795525B2C}"/>
              </a:ext>
            </a:extLst>
          </p:cNvPr>
          <p:cNvSpPr/>
          <p:nvPr/>
        </p:nvSpPr>
        <p:spPr>
          <a:xfrm>
            <a:off x="5326018" y="256717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40" name="矩形 39">
            <a:extLst>
              <a:ext uri="{FF2B5EF4-FFF2-40B4-BE49-F238E27FC236}">
                <a16:creationId xmlns:a16="http://schemas.microsoft.com/office/drawing/2014/main" id="{9C145AB5-B694-BD39-7472-655FD31D71DE}"/>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2" name="矩形: 圓角 41">
            <a:extLst>
              <a:ext uri="{FF2B5EF4-FFF2-40B4-BE49-F238E27FC236}">
                <a16:creationId xmlns:a16="http://schemas.microsoft.com/office/drawing/2014/main" id="{1D2D53B4-109A-6360-1CB3-E4BF23E21A13}"/>
              </a:ext>
            </a:extLst>
          </p:cNvPr>
          <p:cNvSpPr/>
          <p:nvPr/>
        </p:nvSpPr>
        <p:spPr>
          <a:xfrm>
            <a:off x="592569" y="2094702"/>
            <a:ext cx="1008112" cy="1142915"/>
          </a:xfrm>
          <a:prstGeom prst="roundRect">
            <a:avLst>
              <a:gd name="adj" fmla="val 3585"/>
            </a:avLst>
          </a:prstGeom>
          <a:solidFill>
            <a:schemeClr val="accent1">
              <a:lumMod val="40000"/>
              <a:lumOff val="60000"/>
              <a:alpha val="60000"/>
            </a:schemeClr>
          </a:solidFill>
          <a:ln w="127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576" tIns="36576" rIns="0" bIns="0" rtlCol="0" anchor="t" anchorCtr="0"/>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DS</a:t>
            </a: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Engram</a:t>
            </a:r>
          </a:p>
          <a:p>
            <a:pPr marL="0" marR="0" lvl="0" indent="0" algn="l"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lumMod val="50000"/>
                    <a:lumOff val="50000"/>
                  </a:prstClr>
                </a:solidFill>
                <a:latin typeface="Gadugi" panose="020B0502040204020203" pitchFamily="34" charset="0"/>
                <a:ea typeface="Gadugi" panose="020B0502040204020203" pitchFamily="34" charset="0"/>
                <a:cs typeface="ADLaM Display" panose="02010000000000000000" pitchFamily="2" charset="0"/>
              </a:rPr>
              <a:t>Memory</a:t>
            </a:r>
            <a:endPar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endParaRPr>
          </a:p>
        </p:txBody>
      </p:sp>
      <p:sp>
        <p:nvSpPr>
          <p:cNvPr id="44" name="矩形: 圓角 43">
            <a:extLst>
              <a:ext uri="{FF2B5EF4-FFF2-40B4-BE49-F238E27FC236}">
                <a16:creationId xmlns:a16="http://schemas.microsoft.com/office/drawing/2014/main" id="{229ED7FB-E018-28E8-1D53-38224D99611A}"/>
              </a:ext>
            </a:extLst>
          </p:cNvPr>
          <p:cNvSpPr/>
          <p:nvPr/>
        </p:nvSpPr>
        <p:spPr>
          <a:xfrm>
            <a:off x="572714" y="3434430"/>
            <a:ext cx="1008112" cy="1142915"/>
          </a:xfrm>
          <a:prstGeom prst="roundRect">
            <a:avLst>
              <a:gd name="adj" fmla="val 3585"/>
            </a:avLst>
          </a:prstGeom>
          <a:solidFill>
            <a:schemeClr val="bg1">
              <a:lumMod val="85000"/>
              <a:alpha val="6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576" tIns="36576" rIns="0" bIns="0" rtlCol="0" anchor="t" anchorCtr="0"/>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Hybrid</a:t>
            </a: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Attention</a:t>
            </a:r>
          </a:p>
        </p:txBody>
      </p:sp>
      <p:sp>
        <p:nvSpPr>
          <p:cNvPr id="53" name="標題 1">
            <a:extLst>
              <a:ext uri="{FF2B5EF4-FFF2-40B4-BE49-F238E27FC236}">
                <a16:creationId xmlns:a16="http://schemas.microsoft.com/office/drawing/2014/main" id="{249C3675-6FDA-4190-33DD-98459B3A7FD6}"/>
              </a:ext>
            </a:extLst>
          </p:cNvPr>
          <p:cNvSpPr txBox="1">
            <a:spLocks/>
          </p:cNvSpPr>
          <p:nvPr/>
        </p:nvSpPr>
        <p:spPr>
          <a:xfrm>
            <a:off x="5866252" y="1382241"/>
            <a:ext cx="2842877" cy="1080120"/>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 = multi-Head Compression</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 = Mixture of Experts</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Mog = Mixture of Groups</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MoFA = Mixture of Fine-grain Attention</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59" name="矩形: 圓角 58">
            <a:extLst>
              <a:ext uri="{FF2B5EF4-FFF2-40B4-BE49-F238E27FC236}">
                <a16:creationId xmlns:a16="http://schemas.microsoft.com/office/drawing/2014/main" id="{D4492F42-9A48-7559-B09C-CD68BBB98673}"/>
              </a:ext>
            </a:extLst>
          </p:cNvPr>
          <p:cNvSpPr/>
          <p:nvPr/>
        </p:nvSpPr>
        <p:spPr>
          <a:xfrm>
            <a:off x="2241146" y="3626060"/>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HCA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1" name="矩形: 圓角 60">
            <a:extLst>
              <a:ext uri="{FF2B5EF4-FFF2-40B4-BE49-F238E27FC236}">
                <a16:creationId xmlns:a16="http://schemas.microsoft.com/office/drawing/2014/main" id="{E0FE9C50-9ED4-EEF1-DB11-313983973D80}"/>
              </a:ext>
            </a:extLst>
          </p:cNvPr>
          <p:cNvSpPr/>
          <p:nvPr/>
        </p:nvSpPr>
        <p:spPr>
          <a:xfrm>
            <a:off x="2241147" y="4067739"/>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 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3" name="矩形: 圓角 62">
            <a:extLst>
              <a:ext uri="{FF2B5EF4-FFF2-40B4-BE49-F238E27FC236}">
                <a16:creationId xmlns:a16="http://schemas.microsoft.com/office/drawing/2014/main" id="{D1CFA22C-FC0A-8BFB-7CFC-89120D4B60FA}"/>
              </a:ext>
            </a:extLst>
          </p:cNvPr>
          <p:cNvSpPr/>
          <p:nvPr/>
        </p:nvSpPr>
        <p:spPr>
          <a:xfrm>
            <a:off x="2241147" y="4509418"/>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5" name="矩形: 圓角 64">
            <a:extLst>
              <a:ext uri="{FF2B5EF4-FFF2-40B4-BE49-F238E27FC236}">
                <a16:creationId xmlns:a16="http://schemas.microsoft.com/office/drawing/2014/main" id="{4D656499-B9B9-165F-E9C0-82F2383D8243}"/>
              </a:ext>
            </a:extLst>
          </p:cNvPr>
          <p:cNvSpPr/>
          <p:nvPr/>
        </p:nvSpPr>
        <p:spPr>
          <a:xfrm>
            <a:off x="4388573" y="4425343"/>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HCA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7" name="矩形: 圓角 66">
            <a:extLst>
              <a:ext uri="{FF2B5EF4-FFF2-40B4-BE49-F238E27FC236}">
                <a16:creationId xmlns:a16="http://schemas.microsoft.com/office/drawing/2014/main" id="{0062D4B4-5B11-01B8-0A56-9256045910D7}"/>
              </a:ext>
            </a:extLst>
          </p:cNvPr>
          <p:cNvSpPr/>
          <p:nvPr/>
        </p:nvSpPr>
        <p:spPr>
          <a:xfrm>
            <a:off x="4388574" y="4867022"/>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 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9" name="矩形: 圓角 68">
            <a:extLst>
              <a:ext uri="{FF2B5EF4-FFF2-40B4-BE49-F238E27FC236}">
                <a16:creationId xmlns:a16="http://schemas.microsoft.com/office/drawing/2014/main" id="{9FC8BB49-1875-29AD-E3DB-F0F13915E38B}"/>
              </a:ext>
            </a:extLst>
          </p:cNvPr>
          <p:cNvSpPr/>
          <p:nvPr/>
        </p:nvSpPr>
        <p:spPr>
          <a:xfrm>
            <a:off x="4388574" y="5308701"/>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Tree>
    <p:extLst>
      <p:ext uri="{BB962C8B-B14F-4D97-AF65-F5344CB8AC3E}">
        <p14:creationId xmlns:p14="http://schemas.microsoft.com/office/powerpoint/2010/main" val="33869415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矩形 55">
            <a:extLst>
              <a:ext uri="{FF2B5EF4-FFF2-40B4-BE49-F238E27FC236}">
                <a16:creationId xmlns:a16="http://schemas.microsoft.com/office/drawing/2014/main" id="{BB38A453-3D28-0325-2F31-2B4E4DAB387B}"/>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F8A10819-F5AF-ACA1-0022-E7314F64193D}"/>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A7D842CA-B031-7BC9-9D27-3CEA5E3F9AA7}"/>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D0BFBC04-025D-8C73-BE49-A627F4466BCB}"/>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2CC5FF0F-E658-B872-6D5E-F29F0993AFDD}"/>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ABEE450B-382F-9ADE-4AEA-42F8E753641D}"/>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7B124EE1-6EDF-2A18-A848-F4B235E38A56}"/>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65A40987-9A4B-9628-363E-E43C9DF051DE}"/>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726627E9-00F3-15C7-EF11-3FD71F12CF73}"/>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6CD0255E-B788-5AB2-2870-9E64450DC63E}"/>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72F722C5-137F-FBAD-F834-8D6A708F8BA7}"/>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graphicFrame>
        <p:nvGraphicFramePr>
          <p:cNvPr id="12" name="表格 11">
            <a:extLst>
              <a:ext uri="{FF2B5EF4-FFF2-40B4-BE49-F238E27FC236}">
                <a16:creationId xmlns:a16="http://schemas.microsoft.com/office/drawing/2014/main" id="{B6FA776E-1819-3370-4A74-9F50E3812556}"/>
              </a:ext>
            </a:extLst>
          </p:cNvPr>
          <p:cNvGraphicFramePr>
            <a:graphicFrameLocks noGrp="1"/>
          </p:cNvGraphicFramePr>
          <p:nvPr>
            <p:extLst>
              <p:ext uri="{D42A27DB-BD31-4B8C-83A1-F6EECF244321}">
                <p14:modId xmlns:p14="http://schemas.microsoft.com/office/powerpoint/2010/main" val="67680698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3" name="接點: 肘形 12">
            <a:extLst>
              <a:ext uri="{FF2B5EF4-FFF2-40B4-BE49-F238E27FC236}">
                <a16:creationId xmlns:a16="http://schemas.microsoft.com/office/drawing/2014/main" id="{60F43318-2182-1CD4-9726-499CB69A803D}"/>
              </a:ext>
            </a:extLst>
          </p:cNvPr>
          <p:cNvCxnSpPr>
            <a:cxnSpLocks/>
            <a:endCxn id="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8853950E-29C7-78C3-D378-6D0928B43713}"/>
              </a:ext>
            </a:extLst>
          </p:cNvPr>
          <p:cNvCxnSpPr>
            <a:cxnSpLocks/>
            <a:stCxn id="20" idx="2"/>
            <a:endCxn id="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5710DACF-22E1-1B21-E4BE-C20EB2931F82}"/>
              </a:ext>
            </a:extLst>
          </p:cNvPr>
          <p:cNvCxnSpPr>
            <a:cxnSpLocks/>
            <a:stCxn id="20" idx="2"/>
            <a:endCxn id="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06562D03-BD19-56DC-1D5F-F830948D13D5}"/>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0C266A20-0E19-B9A0-E2FE-846970EAD969}"/>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A0C37EF4-FA43-87A1-4753-71E61251FEE4}"/>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7C4484E-373A-8FDF-9B40-2DC53B0A7E4E}"/>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60CAF8F3-CCE3-B3DE-3877-42647427EB85}"/>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99CEEB46-479A-2598-ADE5-FED8D570B687}"/>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424D3889-6497-A3C9-E904-6EBA0EB3570F}"/>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FC4F69D0-FA4F-C08C-F949-8F8E40C8E9C4}"/>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723B206B-48AD-603F-CBBA-C1500D93B4EE}"/>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E0EAB839-282D-1C77-20C5-298F58967F50}"/>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60FA643A-0D8E-DD24-E66B-17638C4E908A}"/>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8D681E31-3A79-48B0-2633-DB51B92F15F8}"/>
              </a:ext>
            </a:extLst>
          </p:cNvPr>
          <p:cNvSpPr/>
          <p:nvPr/>
        </p:nvSpPr>
        <p:spPr>
          <a:xfrm>
            <a:off x="2160291" y="3095083"/>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30" name="文字方塊 29">
            <a:extLst>
              <a:ext uri="{FF2B5EF4-FFF2-40B4-BE49-F238E27FC236}">
                <a16:creationId xmlns:a16="http://schemas.microsoft.com/office/drawing/2014/main" id="{1A888E01-DD7E-A6C8-8231-EBAABF1F15C4}"/>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E1B7B873-7BC8-7C09-C2E3-FD22BB5D6199}"/>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5A358190-96BD-1746-3803-B26C763BE1EF}"/>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297D67DD-DCF9-BEA0-4C40-CA834955B86E}"/>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0D8FB53-3346-EE84-CDD8-2102CB97751D}"/>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A8E2AD79-66FB-7241-A632-4BF58E4069B3}"/>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D72E37A8-84E7-DA88-23B7-7C4800E673E3}"/>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F021E952-3992-6F26-26E6-87AF63CCDDD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3744CD2F-0C22-6181-013E-4B5BB6DE0153}"/>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E965FDCB-3A4F-B67B-0CFF-2F6FA8F81773}"/>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53085541-C475-E98B-10E6-F268F9B380F4}"/>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11238E18-5895-CBBF-2FBB-758622E96283}"/>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F0AF7A70-8CC9-C125-C92A-7461F4875FE6}"/>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8815CA8D-7E68-95A6-276F-62636D2BC7EE}"/>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Tree>
    <p:extLst>
      <p:ext uri="{BB962C8B-B14F-4D97-AF65-F5344CB8AC3E}">
        <p14:creationId xmlns:p14="http://schemas.microsoft.com/office/powerpoint/2010/main" val="1856445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FF128-321E-5C30-B370-FCDDA7245B18}"/>
            </a:ext>
          </a:extLst>
        </p:cNvPr>
        <p:cNvGrpSpPr/>
        <p:nvPr/>
      </p:nvGrpSpPr>
      <p:grpSpPr>
        <a:xfrm>
          <a:off x="0" y="0"/>
          <a:ext cx="0" cy="0"/>
          <a:chOff x="0" y="0"/>
          <a:chExt cx="0" cy="0"/>
        </a:xfrm>
      </p:grpSpPr>
      <p:sp>
        <p:nvSpPr>
          <p:cNvPr id="170" name="矩形: 圓角 169">
            <a:extLst>
              <a:ext uri="{FF2B5EF4-FFF2-40B4-BE49-F238E27FC236}">
                <a16:creationId xmlns:a16="http://schemas.microsoft.com/office/drawing/2014/main" id="{585A6862-1BD1-5468-95ED-66DAAA0CADEA}"/>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2900FC30-DA63-EEEA-6468-DCABA47C35C3}"/>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EE036A56-D3B9-BA00-1B5F-933BBC025591}"/>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0287AC9D-CF1C-E982-7DA3-0EB24C210137}"/>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8916746C-AE20-3DA7-4C4C-C15F24F24A4A}"/>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725C0A5E-FC09-98EE-5215-72074A893203}"/>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9" name="矩形: 圓角 18">
            <a:extLst>
              <a:ext uri="{FF2B5EF4-FFF2-40B4-BE49-F238E27FC236}">
                <a16:creationId xmlns:a16="http://schemas.microsoft.com/office/drawing/2014/main" id="{55591602-8B8C-3AFE-5774-030C5AD14364}"/>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99748040-B74F-8C9F-410D-0764CB965FC2}"/>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3C2E7FC2-3F14-86EB-B361-B54E5E74D9C7}"/>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MLA</a:t>
            </a:r>
          </a:p>
        </p:txBody>
      </p:sp>
      <p:cxnSp>
        <p:nvCxnSpPr>
          <p:cNvPr id="23" name="直線單箭頭接點 22">
            <a:extLst>
              <a:ext uri="{FF2B5EF4-FFF2-40B4-BE49-F238E27FC236}">
                <a16:creationId xmlns:a16="http://schemas.microsoft.com/office/drawing/2014/main" id="{67490BC5-9494-E8A8-3D36-562B7338B61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6BD2F7A-E8BC-F753-6C1E-D153DC182D32}"/>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A37680C0-5523-DB1C-FF62-260EC8CBC5E0}"/>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D06E7E9A-D338-F203-F404-0131A070A6E9}"/>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0184A23-3710-2816-6164-DC3354C2C1B0}"/>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235F7005-FAD9-D837-ADA8-DB421911E493}"/>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AB879A8F-CA3C-305E-BF3E-1D73137507F2}"/>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944BDAFC-3502-CB3C-E397-50F635AD29C7}"/>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90E5853-F222-0C2E-0BC5-C35D97B16DB2}"/>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E73A6B5A-070E-6C48-0415-D8D3A0D060B6}"/>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7EC2506-3B10-D847-4047-DEF10FA85863}"/>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75C33A86-7837-D2CC-E40E-046EBDE4827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CA4082C9-E5D4-F3F8-A7C6-7D94C97CD7E2}"/>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09220340-997F-BCEB-F888-401078B5233C}"/>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1813AF4A-7BA8-2782-BAF6-8C906B25ADA3}"/>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B978F426-9B27-D209-12A2-7244731E3E8C}"/>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54D9FE03-DA3A-7B22-12C0-F0CF495AAF7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C855BB6E-A7CA-F9A6-3804-2D03A63331BF}"/>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8341776D-C4B2-FB24-47F8-AEDBFF6B8BAD}"/>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B127A9DD-8FE3-3E97-DC51-2017300EB766}"/>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E8236D44-E788-7884-CB7F-7964E41D58A7}"/>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B4CAB320-BDEC-C2AA-F436-9F1884A89520}"/>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22E3C78D-C200-3BD2-196E-72559D9427C4}"/>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1048</a:t>
            </a:r>
          </a:p>
        </p:txBody>
      </p:sp>
      <p:sp>
        <p:nvSpPr>
          <p:cNvPr id="179" name="矩形: 圓角 178">
            <a:extLst>
              <a:ext uri="{FF2B5EF4-FFF2-40B4-BE49-F238E27FC236}">
                <a16:creationId xmlns:a16="http://schemas.microsoft.com/office/drawing/2014/main" id="{63C06AC4-64D1-B55E-4148-67DB01FA127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819D04C-6608-2C50-F8C2-C455CE59B835}"/>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43" name="矩形: 圓角 242">
            <a:extLst>
              <a:ext uri="{FF2B5EF4-FFF2-40B4-BE49-F238E27FC236}">
                <a16:creationId xmlns:a16="http://schemas.microsoft.com/office/drawing/2014/main" id="{41BFEAF1-95B0-3550-8FEA-30B254B9284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273489FC-ECA0-0753-047B-79B4616DDCCC}"/>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8222C8ED-A1B0-C08B-2EB5-B84C32F06C26}"/>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291E65D5-EE8D-2E44-3AC5-2BFE5281B550}"/>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AB596806-C22D-1ADA-4139-8486A10BAD5D}"/>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A8387998-1975-8674-4EBF-72F297E07577}"/>
              </a:ext>
            </a:extLst>
          </p:cNvPr>
          <p:cNvCxnSpPr>
            <a:cxnSpLocks/>
            <a:stCxn id="247" idx="1"/>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C6307A26-F189-AB3D-6F74-783BF95C7F10}"/>
              </a:ext>
            </a:extLst>
          </p:cNvPr>
          <p:cNvCxnSpPr>
            <a:cxnSpLocks/>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4D35A4DB-5505-3BA7-AA9B-75F94A875DD7}"/>
              </a:ext>
            </a:extLst>
          </p:cNvPr>
          <p:cNvSpPr txBox="1"/>
          <p:nvPr/>
        </p:nvSpPr>
        <p:spPr>
          <a:xfrm>
            <a:off x="5652120" y="5069655"/>
            <a:ext cx="899391" cy="209704"/>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 Expert</a:t>
            </a:r>
          </a:p>
        </p:txBody>
      </p:sp>
      <p:sp>
        <p:nvSpPr>
          <p:cNvPr id="363" name="文字方塊 362">
            <a:extLst>
              <a:ext uri="{FF2B5EF4-FFF2-40B4-BE49-F238E27FC236}">
                <a16:creationId xmlns:a16="http://schemas.microsoft.com/office/drawing/2014/main" id="{893794DC-31E3-4257-E693-790683EF6BD3}"/>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5D7C8B80-BA46-4D8C-F02D-D045A0C5685D}"/>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F0E46714-1E9B-EC55-8158-5918CAAB137B}"/>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283B3667-663B-D000-4FC0-64C6452E2C4A}"/>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C152E6B8-B2A8-1458-4C5C-CB945E0D4F14}"/>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FEF4DBA8-8A61-29F3-F772-B9E20697288B}"/>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2CD424B4-D781-066A-AA82-5B1D7C17318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D620125A-2C57-6A0F-E0FD-4F9D30D787A7}"/>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217E2122-45A9-A144-4DC3-8F6B407AD7D6}"/>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93C22FB2-90C1-F53F-B011-B636863DE760}"/>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BEAB8542-2686-4514-E959-9EA174D19FBC}"/>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448" name="接點: 肘形 447">
            <a:extLst>
              <a:ext uri="{FF2B5EF4-FFF2-40B4-BE49-F238E27FC236}">
                <a16:creationId xmlns:a16="http://schemas.microsoft.com/office/drawing/2014/main" id="{86BDD8D5-6E1C-36F0-C470-332C3C95F5EA}"/>
              </a:ext>
            </a:extLst>
          </p:cNvPr>
          <p:cNvCxnSpPr>
            <a:cxnSpLocks/>
            <a:stCxn id="363" idx="3"/>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601CD636-6C2B-D4B4-38E8-3B313482794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BA3675A3-5AB0-EB59-4310-B69F2FF8546E}"/>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7839B24F-E8C9-FA65-5AE0-8708806FC5CF}"/>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EC15D6B-8F12-7274-D8CA-BBA776A2A819}"/>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9CD13066-2E3A-1DE9-04D9-DE7950BD9F3B}"/>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00BD9021-2B8C-8502-E177-B440F5AB8AD1}"/>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98857429-EF92-0990-6978-5031DB735A89}"/>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FFB0C882-736B-3D0F-5CA2-57A6C262E22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9A46D70C-1717-CAF4-6D18-D4C0564FAB2C}"/>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ACE49DA1-6208-1E69-1C0F-930C8428F673}"/>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8" name="標題 1">
            <a:extLst>
              <a:ext uri="{FF2B5EF4-FFF2-40B4-BE49-F238E27FC236}">
                <a16:creationId xmlns:a16="http://schemas.microsoft.com/office/drawing/2014/main" id="{0B62D1D7-7CA2-48B3-1C24-713F566C49BE}"/>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(Flash/Pro)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 name="文字方塊 10">
            <a:extLst>
              <a:ext uri="{FF2B5EF4-FFF2-40B4-BE49-F238E27FC236}">
                <a16:creationId xmlns:a16="http://schemas.microsoft.com/office/drawing/2014/main" id="{950C84E0-E5F5-49C5-73CB-91FBAFA3FE1F}"/>
              </a:ext>
            </a:extLst>
          </p:cNvPr>
          <p:cNvSpPr txBox="1"/>
          <p:nvPr/>
        </p:nvSpPr>
        <p:spPr>
          <a:xfrm>
            <a:off x="5290094" y="5891739"/>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graphicFrame>
        <p:nvGraphicFramePr>
          <p:cNvPr id="13" name="表格 12">
            <a:extLst>
              <a:ext uri="{FF2B5EF4-FFF2-40B4-BE49-F238E27FC236}">
                <a16:creationId xmlns:a16="http://schemas.microsoft.com/office/drawing/2014/main" id="{59FD9172-2C29-6298-FF54-BEFC9E35BB57}"/>
              </a:ext>
            </a:extLst>
          </p:cNvPr>
          <p:cNvGraphicFramePr>
            <a:graphicFrameLocks noGrp="1"/>
          </p:cNvGraphicFramePr>
          <p:nvPr>
            <p:extLst>
              <p:ext uri="{D42A27DB-BD31-4B8C-83A1-F6EECF244321}">
                <p14:modId xmlns:p14="http://schemas.microsoft.com/office/powerpoint/2010/main" val="3033043750"/>
              </p:ext>
            </p:extLst>
          </p:nvPr>
        </p:nvGraphicFramePr>
        <p:xfrm>
          <a:off x="5663064" y="5883760"/>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15" name="矩形 14">
            <a:extLst>
              <a:ext uri="{FF2B5EF4-FFF2-40B4-BE49-F238E27FC236}">
                <a16:creationId xmlns:a16="http://schemas.microsoft.com/office/drawing/2014/main" id="{4CCC2FF0-43AF-EF10-28C3-11AE9B336B2B}"/>
              </a:ext>
            </a:extLst>
          </p:cNvPr>
          <p:cNvSpPr/>
          <p:nvPr/>
        </p:nvSpPr>
        <p:spPr>
          <a:xfrm>
            <a:off x="5612935" y="5893917"/>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Tree>
    <p:extLst>
      <p:ext uri="{BB962C8B-B14F-4D97-AF65-F5344CB8AC3E}">
        <p14:creationId xmlns:p14="http://schemas.microsoft.com/office/powerpoint/2010/main" val="4276069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6153A-3295-7DB2-C1BA-6B1E69F8BC78}"/>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71575A03-C679-3AD3-2F44-6BE10B57902E}"/>
              </a:ext>
            </a:extLst>
          </p:cNvPr>
          <p:cNvSpPr txBox="1"/>
          <p:nvPr/>
        </p:nvSpPr>
        <p:spPr>
          <a:xfrm>
            <a:off x="179510" y="1377042"/>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Moonshot AI: </a:t>
            </a:r>
            <a:r>
              <a:rPr lang="en-US" altLang="zh-TW" sz="1600" dirty="0"/>
              <a:t>Founded in March 2023.</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Kimi delta attention (</a:t>
            </a:r>
            <a:r>
              <a:rPr lang="en-US" altLang="zh-TW" sz="1600" b="1" dirty="0">
                <a:solidFill>
                  <a:schemeClr val="accent6">
                    <a:lumMod val="75000"/>
                  </a:schemeClr>
                </a:solidFill>
              </a:rPr>
              <a:t>KDA</a:t>
            </a:r>
            <a:r>
              <a:rPr lang="en-US" altLang="zh-TW" sz="1600" dirty="0"/>
              <a:t>): </a:t>
            </a:r>
            <a:r>
              <a:rPr lang="zh-TW" altLang="en-US" sz="1600" dirty="0"/>
              <a:t>水平方向優化</a:t>
            </a:r>
            <a:r>
              <a:rPr lang="en-US" altLang="zh-TW" sz="1600" dirty="0"/>
              <a:t>(</a:t>
            </a:r>
            <a:r>
              <a:rPr lang="zh-TW" altLang="en-US" sz="1600" dirty="0"/>
              <a:t>序列長度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AttnRes reduces layers (</a:t>
            </a:r>
            <a:r>
              <a:rPr lang="en-US" altLang="zh-TW" sz="1600" b="1" dirty="0">
                <a:solidFill>
                  <a:schemeClr val="accent6">
                    <a:lumMod val="75000"/>
                  </a:schemeClr>
                </a:solidFill>
              </a:rPr>
              <a:t>AttnRes</a:t>
            </a:r>
            <a:r>
              <a:rPr lang="en-US" altLang="zh-TW" sz="1600" dirty="0"/>
              <a:t>): </a:t>
            </a:r>
            <a:r>
              <a:rPr lang="zh-TW" altLang="en-US" sz="1600" dirty="0"/>
              <a:t>垂直方向優化</a:t>
            </a:r>
            <a:r>
              <a:rPr lang="en-US" altLang="zh-TW" sz="1600" dirty="0"/>
              <a:t>(</a:t>
            </a:r>
            <a:r>
              <a:rPr lang="zh-TW" altLang="en-US" sz="1600" dirty="0"/>
              <a:t>模型深度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Stable Latent MoE: has</a:t>
            </a:r>
            <a:r>
              <a:rPr lang="zh-TW" altLang="en-US" sz="1600" dirty="0"/>
              <a:t> </a:t>
            </a:r>
            <a:r>
              <a:rPr lang="en-US" altLang="zh-TW" sz="1600" dirty="0"/>
              <a:t>2 shared, and 14 selected export from 896 fine-grained experts.</a:t>
            </a:r>
          </a:p>
        </p:txBody>
      </p:sp>
      <p:sp>
        <p:nvSpPr>
          <p:cNvPr id="5" name="標題 1">
            <a:extLst>
              <a:ext uri="{FF2B5EF4-FFF2-40B4-BE49-F238E27FC236}">
                <a16:creationId xmlns:a16="http://schemas.microsoft.com/office/drawing/2014/main" id="{9451D045-C073-695F-6BAB-9A162FB85C82}"/>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(2.8T)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frontier intelligence colossus specializing in lossless long-context memory and high-end autonomous agentic reasoning.</a:t>
            </a:r>
          </a:p>
        </p:txBody>
      </p:sp>
      <p:pic>
        <p:nvPicPr>
          <p:cNvPr id="31" name="圖片 30">
            <a:extLst>
              <a:ext uri="{FF2B5EF4-FFF2-40B4-BE49-F238E27FC236}">
                <a16:creationId xmlns:a16="http://schemas.microsoft.com/office/drawing/2014/main" id="{BB38B373-E827-B78E-6E07-1DF4B2799A74}"/>
              </a:ext>
            </a:extLst>
          </p:cNvPr>
          <p:cNvPicPr>
            <a:picLocks noChangeAspect="1"/>
          </p:cNvPicPr>
          <p:nvPr/>
        </p:nvPicPr>
        <p:blipFill>
          <a:blip r:embed="rId3"/>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1926B4C0-13E0-523A-9940-67A0C3295914}"/>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2009686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6746-9142-1125-6596-6627093E8340}"/>
            </a:ext>
          </a:extLst>
        </p:cNvPr>
        <p:cNvGrpSpPr/>
        <p:nvPr/>
      </p:nvGrpSpPr>
      <p:grpSpPr>
        <a:xfrm>
          <a:off x="0" y="0"/>
          <a:ext cx="0" cy="0"/>
          <a:chOff x="0" y="0"/>
          <a:chExt cx="0" cy="0"/>
        </a:xfrm>
      </p:grpSpPr>
      <p:sp>
        <p:nvSpPr>
          <p:cNvPr id="454" name="矩形 453">
            <a:extLst>
              <a:ext uri="{FF2B5EF4-FFF2-40B4-BE49-F238E27FC236}">
                <a16:creationId xmlns:a16="http://schemas.microsoft.com/office/drawing/2014/main" id="{A53C3235-4FD1-1D38-82A6-F6BEDB811571}"/>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CBAE47A-1424-F040-2145-DC1D97F7D80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0A9E20-F836-F032-C9F1-D0C844445195}"/>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C1948D7-B839-0028-27CE-1E2CF5281DD8}"/>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8729D631-BF91-8BC3-4BEA-1E529F12C632}"/>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C1B96EB9-3086-F91B-B6F4-AF62653FE4F5}"/>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F5B4EA22-18C0-D52E-F2FC-7D1EE09C776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C440B47-022A-4F2E-ADB9-9E340AE7B99A}"/>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8DB9693A-E2A1-CCD2-2F2F-2065D8528EA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Stable Latent MoE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
        <p:nvSpPr>
          <p:cNvPr id="19" name="矩形: 圓角 18">
            <a:extLst>
              <a:ext uri="{FF2B5EF4-FFF2-40B4-BE49-F238E27FC236}">
                <a16:creationId xmlns:a16="http://schemas.microsoft.com/office/drawing/2014/main" id="{7C5DF3DB-0A46-D193-F5D9-6C5336E76BA5}"/>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CB62931-0116-4F8D-48BF-62F2DE049D2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F9783ACE-7D1B-5C7C-1112-A1423E5FEFF2}"/>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A882AA6-6867-F830-42C6-244BEB4AE9AF}"/>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A324B73-A2B0-2068-6311-5BD0FDC1B00D}"/>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1BD8915E-AF1F-5982-35FD-A8CA9A3E8CDE}"/>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4A3F95B3-680D-D78C-8853-E6B590C190E6}"/>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E0551D9F-0AA6-4035-F927-8873E0FD90C7}"/>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7FE9C879-E200-EB5A-2CC2-69A71AB1713D}"/>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4CD21E97-532C-B0C9-5963-6BC07711A17A}"/>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A8972DAD-5FD1-C633-ACF7-462CB437C21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BB162BC8-55DA-04F0-BAB2-1C519A2BAF87}"/>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5FC666CF-592D-7189-C114-4A4C013CBF6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5F702349-7BBE-30ED-CD8A-023983F6269E}"/>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A825FE45-C6B6-3543-95E6-B3D894125747}"/>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34DE2255-C248-2104-FB4C-A4091992180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1E786C9A-A13F-E064-4286-D1DCEB6C8DB8}"/>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D23A0C5C-F1CC-6596-6168-20098B665F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46733A6-99E9-0F50-04BB-6514E8205CB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75BA3559-BA09-08D0-D330-6ED320E5470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527EA4F8-BFCB-0AD7-1C54-E92FD7002C8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4C6FC89D-BBC7-8090-5F91-BE74A60B32CB}"/>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5A29A6E7-12E3-7EAD-3445-6D9A8D6C0427}"/>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9D8A1084-9F03-ADF1-38BA-A040AD80E8B6}"/>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8D498E4C-5D51-7DB9-17CF-CACB40A7A705}"/>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820663F9-B5F4-81B3-0343-D1B5EA59C156}"/>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35675A0-647C-6987-3E01-AA861C9B4DA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3933175-BA42-F91B-94EA-358EEE0391FF}"/>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4" name="矩形: 圓角 213">
            <a:extLst>
              <a:ext uri="{FF2B5EF4-FFF2-40B4-BE49-F238E27FC236}">
                <a16:creationId xmlns:a16="http://schemas.microsoft.com/office/drawing/2014/main" id="{031B7DF6-9439-AFF2-1A7A-A362C47B3B0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243" name="矩形: 圓角 242">
            <a:extLst>
              <a:ext uri="{FF2B5EF4-FFF2-40B4-BE49-F238E27FC236}">
                <a16:creationId xmlns:a16="http://schemas.microsoft.com/office/drawing/2014/main" id="{CC01AD58-2464-AD52-928D-A7DA560B113A}"/>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C0C92457-E1D1-AE97-4DED-9FF74D4517D8}"/>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EAA610AB-467F-98F8-8DA1-4BB70E001F9F}"/>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DD5C0867-1792-B2D3-EC75-F0E6FAF0173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14ABB89-C3D2-52CD-CFF3-58D9388A97DC}"/>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93" name="直線接點 292">
            <a:extLst>
              <a:ext uri="{FF2B5EF4-FFF2-40B4-BE49-F238E27FC236}">
                <a16:creationId xmlns:a16="http://schemas.microsoft.com/office/drawing/2014/main" id="{1E2D3E8D-0452-7E25-9998-74A6AE18F4D9}"/>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CA57806C-ACF6-8983-1D97-6B31CC1CB11E}"/>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363" name="文字方塊 362">
            <a:extLst>
              <a:ext uri="{FF2B5EF4-FFF2-40B4-BE49-F238E27FC236}">
                <a16:creationId xmlns:a16="http://schemas.microsoft.com/office/drawing/2014/main" id="{620D659A-7991-4FAE-8590-B03AAC3BB088}"/>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2F1EACE9-6C4F-E6A2-7E9C-5369AFF3D3C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4E0A9FAE-29B1-816E-5483-771F675B8989}"/>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8B1C2571-5A79-380C-3907-98FA7100E4FD}"/>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D8F4C6C-B285-EE2B-06C3-512A8855AB4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F583315-4FA0-6602-451D-ABD98885CC2D}"/>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8AFDE857-C413-DD9E-F7EB-6C906CA3FCFF}"/>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6E3D035F-6702-C057-0997-E88CF58E6154}"/>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47F05608-923F-2B14-01AF-B4581090A390}"/>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EF0C082-B586-2A83-3CC7-FCEA141E4164}"/>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2A83D4DC-A1FC-D379-0B41-0FC0453F77E9}"/>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46AAE791-BF66-906B-21D6-002C7F24A655}"/>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4FAEA13E-A6B7-AAFC-7E5C-1333363380E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2279F43-B2F2-FB04-5344-62A9C2F8EA1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AAEF32EF-4601-2FFE-31D1-4EB5DB72B456}"/>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EFE93AF7-E38D-1AE6-A6F5-7DC949647DC6}"/>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613D734-D7EE-8469-5327-8CD37D8B38AF}"/>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AF300427-60AB-270B-7DD2-3C93CCD7650F}"/>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2FB0E5F6-49B7-D8E2-93FB-7F7FD78EA55A}"/>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5041D6AD-1103-86B9-C9AA-C8E731758846}"/>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7D95342C-48CE-3428-8BAF-56C02A6A28FB}"/>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068BEFDE-A54C-E48C-D788-F5D0D3C87A1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05D3A30A-23B5-89E0-3314-62B741022036}"/>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4CAF5C0C-9699-33DC-CAC5-64503391EF41}"/>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3" name="矩形: 圓角 2">
            <a:extLst>
              <a:ext uri="{FF2B5EF4-FFF2-40B4-BE49-F238E27FC236}">
                <a16:creationId xmlns:a16="http://schemas.microsoft.com/office/drawing/2014/main" id="{5A833C20-E34A-794E-C38B-514B6ED5B13C}"/>
              </a:ext>
            </a:extLst>
          </p:cNvPr>
          <p:cNvSpPr/>
          <p:nvPr/>
        </p:nvSpPr>
        <p:spPr>
          <a:xfrm>
            <a:off x="3774439"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8" name="矩形: 圓角 7">
            <a:extLst>
              <a:ext uri="{FF2B5EF4-FFF2-40B4-BE49-F238E27FC236}">
                <a16:creationId xmlns:a16="http://schemas.microsoft.com/office/drawing/2014/main" id="{8A0E9DEC-6BB0-B86B-39F0-F6F279A4E191}"/>
              </a:ext>
            </a:extLst>
          </p:cNvPr>
          <p:cNvSpPr/>
          <p:nvPr/>
        </p:nvSpPr>
        <p:spPr>
          <a:xfrm>
            <a:off x="3774439"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 name="文字方塊 10">
            <a:extLst>
              <a:ext uri="{FF2B5EF4-FFF2-40B4-BE49-F238E27FC236}">
                <a16:creationId xmlns:a16="http://schemas.microsoft.com/office/drawing/2014/main" id="{E4B4E782-C4A9-9E49-E107-64014F5CE375}"/>
              </a:ext>
            </a:extLst>
          </p:cNvPr>
          <p:cNvSpPr txBox="1"/>
          <p:nvPr/>
        </p:nvSpPr>
        <p:spPr>
          <a:xfrm>
            <a:off x="3846446"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 name="直線單箭頭接點 11">
            <a:extLst>
              <a:ext uri="{FF2B5EF4-FFF2-40B4-BE49-F238E27FC236}">
                <a16:creationId xmlns:a16="http://schemas.microsoft.com/office/drawing/2014/main" id="{7991A0C8-F4D0-EF0A-8800-0DEA97697164}"/>
              </a:ext>
            </a:extLst>
          </p:cNvPr>
          <p:cNvCxnSpPr>
            <a:cxnSpLocks/>
            <a:stCxn id="34" idx="0"/>
            <a:endCxn id="35" idx="2"/>
          </p:cNvCxnSpPr>
          <p:nvPr/>
        </p:nvCxnSpPr>
        <p:spPr>
          <a:xfrm flipH="1" flipV="1">
            <a:off x="4250989" y="4501648"/>
            <a:ext cx="128063"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 name="直線單箭頭接點 12">
            <a:extLst>
              <a:ext uri="{FF2B5EF4-FFF2-40B4-BE49-F238E27FC236}">
                <a16:creationId xmlns:a16="http://schemas.microsoft.com/office/drawing/2014/main" id="{5F2CBFB4-0982-E8DC-7CDD-9EB6C336CAAE}"/>
              </a:ext>
            </a:extLst>
          </p:cNvPr>
          <p:cNvCxnSpPr>
            <a:cxnSpLocks/>
            <a:stCxn id="8" idx="0"/>
            <a:endCxn id="214" idx="2"/>
          </p:cNvCxnSpPr>
          <p:nvPr/>
        </p:nvCxnSpPr>
        <p:spPr>
          <a:xfrm flipV="1">
            <a:off x="4384200" y="1738305"/>
            <a:ext cx="5473" cy="184321"/>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8" name="文字方塊 17">
            <a:extLst>
              <a:ext uri="{FF2B5EF4-FFF2-40B4-BE49-F238E27FC236}">
                <a16:creationId xmlns:a16="http://schemas.microsoft.com/office/drawing/2014/main" id="{9FEB499D-2C2E-3B44-A165-2519817D9658}"/>
              </a:ext>
            </a:extLst>
          </p:cNvPr>
          <p:cNvSpPr txBox="1"/>
          <p:nvPr/>
        </p:nvSpPr>
        <p:spPr>
          <a:xfrm>
            <a:off x="3867272" y="2433529"/>
            <a:ext cx="139424" cy="11519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200"/>
              </a:lnSpc>
              <a:buNone/>
            </a:pPr>
            <a:r>
              <a:rPr lang="en-US" altLang="zh-TW" sz="1200" b="1" dirty="0">
                <a:solidFill>
                  <a:schemeClr val="bg1">
                    <a:lumMod val="50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51D08741-5391-21D3-C63C-01DEAD6BA47A}"/>
              </a:ext>
            </a:extLst>
          </p:cNvPr>
          <p:cNvSpPr txBox="1"/>
          <p:nvPr/>
        </p:nvSpPr>
        <p:spPr>
          <a:xfrm>
            <a:off x="3867271" y="2587760"/>
            <a:ext cx="128666" cy="95048"/>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34" name="矩形 33">
            <a:extLst>
              <a:ext uri="{FF2B5EF4-FFF2-40B4-BE49-F238E27FC236}">
                <a16:creationId xmlns:a16="http://schemas.microsoft.com/office/drawing/2014/main" id="{5635B5C8-ED48-859A-7297-1A969AF1BD0D}"/>
              </a:ext>
            </a:extLst>
          </p:cNvPr>
          <p:cNvSpPr/>
          <p:nvPr/>
        </p:nvSpPr>
        <p:spPr>
          <a:xfrm>
            <a:off x="4127024"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5" name="矩形: 圓角 34">
            <a:extLst>
              <a:ext uri="{FF2B5EF4-FFF2-40B4-BE49-F238E27FC236}">
                <a16:creationId xmlns:a16="http://schemas.microsoft.com/office/drawing/2014/main" id="{89CF481E-9E76-E131-29F0-867FDAB83382}"/>
              </a:ext>
            </a:extLst>
          </p:cNvPr>
          <p:cNvSpPr/>
          <p:nvPr/>
        </p:nvSpPr>
        <p:spPr>
          <a:xfrm>
            <a:off x="4124954" y="4069600"/>
            <a:ext cx="252070"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36" name="矩形: 圓角 35">
            <a:extLst>
              <a:ext uri="{FF2B5EF4-FFF2-40B4-BE49-F238E27FC236}">
                <a16:creationId xmlns:a16="http://schemas.microsoft.com/office/drawing/2014/main" id="{B4CFC56D-9909-C54C-EB39-58E0216E1164}"/>
              </a:ext>
            </a:extLst>
          </p:cNvPr>
          <p:cNvSpPr/>
          <p:nvPr/>
        </p:nvSpPr>
        <p:spPr>
          <a:xfrm>
            <a:off x="4118625"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37" name="矩形 36">
            <a:extLst>
              <a:ext uri="{FF2B5EF4-FFF2-40B4-BE49-F238E27FC236}">
                <a16:creationId xmlns:a16="http://schemas.microsoft.com/office/drawing/2014/main" id="{700D4D76-B6B2-CDF3-F006-413140F97FC7}"/>
              </a:ext>
            </a:extLst>
          </p:cNvPr>
          <p:cNvSpPr/>
          <p:nvPr/>
        </p:nvSpPr>
        <p:spPr>
          <a:xfrm>
            <a:off x="3589775"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1" name="文字方塊 40">
            <a:extLst>
              <a:ext uri="{FF2B5EF4-FFF2-40B4-BE49-F238E27FC236}">
                <a16:creationId xmlns:a16="http://schemas.microsoft.com/office/drawing/2014/main" id="{52F424F2-C2DC-704B-3F67-BE4A7763F979}"/>
              </a:ext>
            </a:extLst>
          </p:cNvPr>
          <p:cNvSpPr txBox="1"/>
          <p:nvPr/>
        </p:nvSpPr>
        <p:spPr>
          <a:xfrm>
            <a:off x="3867270" y="2719894"/>
            <a:ext cx="126133" cy="108574"/>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5462127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3" name="圖片 2" descr="Kimi K3 架构">
            <a:extLst>
              <a:ext uri="{FF2B5EF4-FFF2-40B4-BE49-F238E27FC236}">
                <a16:creationId xmlns:a16="http://schemas.microsoft.com/office/drawing/2014/main" id="{98621101-8A38-BE97-2C19-3040C57E8430}"/>
              </a:ext>
            </a:extLst>
          </p:cNvPr>
          <p:cNvPicPr>
            <a:picLocks noChangeAspect="1"/>
          </p:cNvPicPr>
          <p:nvPr/>
        </p:nvPicPr>
        <p:blipFill>
          <a:blip r:embed="rId3"/>
          <a:stretch>
            <a:fillRect/>
          </a:stretch>
        </p:blipFill>
        <p:spPr>
          <a:xfrm>
            <a:off x="976102" y="0"/>
            <a:ext cx="7191796" cy="6858000"/>
          </a:xfrm>
          <a:prstGeom prst="rect">
            <a:avLst/>
          </a:prstGeom>
        </p:spPr>
      </p:pic>
    </p:spTree>
    <p:extLst>
      <p:ext uri="{BB962C8B-B14F-4D97-AF65-F5344CB8AC3E}">
        <p14:creationId xmlns:p14="http://schemas.microsoft.com/office/powerpoint/2010/main" val="16638491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1C088-C29C-CFDD-0766-AA0BE977073D}"/>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48C5EFCD-973E-3362-6BEC-2BABEB772E5E}"/>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a:t>
            </a:r>
          </a:p>
        </p:txBody>
      </p:sp>
      <p:sp>
        <p:nvSpPr>
          <p:cNvPr id="34" name="文字方塊 33">
            <a:extLst>
              <a:ext uri="{FF2B5EF4-FFF2-40B4-BE49-F238E27FC236}">
                <a16:creationId xmlns:a16="http://schemas.microsoft.com/office/drawing/2014/main" id="{1781F852-2D98-9DA7-ED98-B7E70CCD70A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26F1D28A-E25F-0DBE-6A0F-1F0258A77F0C}"/>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0AFB4BE5-D051-0641-2C31-9200688EF3A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3FA24F76-E7DA-FED8-A954-D229BCDBA889}"/>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6" name="文字方塊 45">
            <a:extLst>
              <a:ext uri="{FF2B5EF4-FFF2-40B4-BE49-F238E27FC236}">
                <a16:creationId xmlns:a16="http://schemas.microsoft.com/office/drawing/2014/main" id="{A4EB4070-0F17-DC28-5D50-AB16E3B247C9}"/>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F3E988E6-CAF1-E8EE-5F9F-4BCC50E551D1}"/>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2C29EDAD-2399-6787-451D-1B76A1ECD0E1}"/>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083DAC72-685D-C5C6-6BD2-4F20B57F24BD}"/>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5CB4D389-23EC-5032-9BAE-F1757CE2E800}"/>
              </a:ext>
            </a:extLst>
          </p:cNvPr>
          <p:cNvSpPr txBox="1">
            <a:spLocks/>
          </p:cNvSpPr>
          <p:nvPr/>
        </p:nvSpPr>
        <p:spPr>
          <a:xfrm>
            <a:off x="5436096" y="525096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Soft</a:t>
            </a:r>
            <a:r>
              <a:rPr lang="zh-TW" altLang="en-US" sz="1000" dirty="0">
                <a:latin typeface="Noto Sans HK" panose="020B0200000000000000" pitchFamily="34" charset="-120"/>
                <a:ea typeface="Noto Sans HK" panose="020B0200000000000000" pitchFamily="34" charset="-120"/>
                <a:cs typeface="Arial" panose="020B0604020202020204" pitchFamily="34" charset="0"/>
              </a:rPr>
              <a:t> </a:t>
            </a:r>
            <a:r>
              <a:rPr lang="en-US" altLang="zh-TW" sz="1000" dirty="0">
                <a:latin typeface="Noto Sans HK" panose="020B0200000000000000" pitchFamily="34" charset="-120"/>
                <a:ea typeface="Noto Sans HK" panose="020B0200000000000000" pitchFamily="34" charset="-120"/>
                <a:cs typeface="Arial" panose="020B0604020202020204" pitchFamily="34" charset="0"/>
              </a:rPr>
              <a:t>Label</a:t>
            </a:r>
          </a:p>
        </p:txBody>
      </p:sp>
      <p:sp>
        <p:nvSpPr>
          <p:cNvPr id="63" name="右大括弧 62">
            <a:extLst>
              <a:ext uri="{FF2B5EF4-FFF2-40B4-BE49-F238E27FC236}">
                <a16:creationId xmlns:a16="http://schemas.microsoft.com/office/drawing/2014/main" id="{C9DE5F9A-05EB-4691-A387-184904320C08}"/>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4223F807-D83D-59D5-DF24-6DF252EE825F}"/>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5" name="標題 1">
            <a:extLst>
              <a:ext uri="{FF2B5EF4-FFF2-40B4-BE49-F238E27FC236}">
                <a16:creationId xmlns:a16="http://schemas.microsoft.com/office/drawing/2014/main" id="{EA45D83D-FA42-9110-2F49-53618A9ECE91}"/>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83" name="直線接點 82">
            <a:extLst>
              <a:ext uri="{FF2B5EF4-FFF2-40B4-BE49-F238E27FC236}">
                <a16:creationId xmlns:a16="http://schemas.microsoft.com/office/drawing/2014/main" id="{49C9B6FC-E00B-B93C-9597-0EFA3EC02D21}"/>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13B89021-46D2-B5A3-28F6-29345C4576EC}"/>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CA5802EE-F207-7922-1CC3-BC212577E690}"/>
              </a:ext>
            </a:extLst>
          </p:cNvPr>
          <p:cNvGraphicFramePr>
            <a:graphicFrameLocks noGrp="1"/>
          </p:cNvGraphicFramePr>
          <p:nvPr/>
        </p:nvGraphicFramePr>
        <p:xfrm>
          <a:off x="1884140" y="4365104"/>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Teacher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060607E6-1136-A62E-557F-AF305E737CB5}"/>
              </a:ext>
            </a:extLst>
          </p:cNvPr>
          <p:cNvCxnSpPr>
            <a:cxnSpLocks/>
          </p:cNvCxnSpPr>
          <p:nvPr/>
        </p:nvCxnSpPr>
        <p:spPr>
          <a:xfrm>
            <a:off x="1724506" y="1455268"/>
            <a:ext cx="0" cy="502037"/>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11" name="表格 10">
            <a:extLst>
              <a:ext uri="{FF2B5EF4-FFF2-40B4-BE49-F238E27FC236}">
                <a16:creationId xmlns:a16="http://schemas.microsoft.com/office/drawing/2014/main" id="{7416325E-8B29-6B3E-B545-D3E65BB3E00D}"/>
              </a:ext>
            </a:extLst>
          </p:cNvPr>
          <p:cNvGraphicFramePr>
            <a:graphicFrameLocks noGrp="1"/>
          </p:cNvGraphicFramePr>
          <p:nvPr/>
        </p:nvGraphicFramePr>
        <p:xfrm>
          <a:off x="3352478" y="436510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Student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spTree>
    <p:extLst>
      <p:ext uri="{BB962C8B-B14F-4D97-AF65-F5344CB8AC3E}">
        <p14:creationId xmlns:p14="http://schemas.microsoft.com/office/powerpoint/2010/main" val="295082313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25999-7ECD-BA35-43AC-72ECFEE0427F}"/>
            </a:ext>
          </a:extLst>
        </p:cNvPr>
        <p:cNvGrpSpPr/>
        <p:nvPr/>
      </p:nvGrpSpPr>
      <p:grpSpPr>
        <a:xfrm>
          <a:off x="0" y="0"/>
          <a:ext cx="0" cy="0"/>
          <a:chOff x="0" y="0"/>
          <a:chExt cx="0" cy="0"/>
        </a:xfrm>
      </p:grpSpPr>
      <p:pic>
        <p:nvPicPr>
          <p:cNvPr id="11" name="圖片 10">
            <a:extLst>
              <a:ext uri="{FF2B5EF4-FFF2-40B4-BE49-F238E27FC236}">
                <a16:creationId xmlns:a16="http://schemas.microsoft.com/office/drawing/2014/main" id="{4C128F37-80EC-5B99-BE58-397074A208EE}"/>
              </a:ext>
            </a:extLst>
          </p:cNvPr>
          <p:cNvPicPr>
            <a:picLocks noChangeAspect="1"/>
          </p:cNvPicPr>
          <p:nvPr/>
        </p:nvPicPr>
        <p:blipFill>
          <a:blip r:embed="rId3"/>
          <a:stretch>
            <a:fillRect/>
          </a:stretch>
        </p:blipFill>
        <p:spPr>
          <a:xfrm>
            <a:off x="5467748" y="3697521"/>
            <a:ext cx="3676252" cy="2398497"/>
          </a:xfrm>
          <a:prstGeom prst="rect">
            <a:avLst/>
          </a:prstGeom>
        </p:spPr>
      </p:pic>
      <p:sp>
        <p:nvSpPr>
          <p:cNvPr id="8" name="文字方塊 7">
            <a:extLst>
              <a:ext uri="{FF2B5EF4-FFF2-40B4-BE49-F238E27FC236}">
                <a16:creationId xmlns:a16="http://schemas.microsoft.com/office/drawing/2014/main" id="{7EA2DA36-50F0-1369-B59B-C6FD52E9E4E0}"/>
              </a:ext>
            </a:extLst>
          </p:cNvPr>
          <p:cNvSpPr txBox="1"/>
          <p:nvPr/>
        </p:nvSpPr>
        <p:spPr>
          <a:xfrm>
            <a:off x="179510" y="1196752"/>
            <a:ext cx="7632850" cy="93871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Model Extraction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Goal:</a:t>
            </a:r>
            <a:r>
              <a:rPr lang="en-US" altLang="zh-TW" sz="1600" dirty="0"/>
              <a:t> Duplicate a functional clone model at a minimal cost purely through API queries, without accessing its weights.</a:t>
            </a:r>
          </a:p>
        </p:txBody>
      </p:sp>
      <p:sp>
        <p:nvSpPr>
          <p:cNvPr id="5" name="標題 1">
            <a:extLst>
              <a:ext uri="{FF2B5EF4-FFF2-40B4-BE49-F238E27FC236}">
                <a16:creationId xmlns:a16="http://schemas.microsoft.com/office/drawing/2014/main" id="{A309682D-9AD4-069E-1FFF-B4F842C47A94}"/>
              </a:ext>
            </a:extLst>
          </p:cNvPr>
          <p:cNvSpPr txBox="1">
            <a:spLocks/>
          </p:cNvSpPr>
          <p:nvPr/>
        </p:nvSpPr>
        <p:spPr>
          <a:xfrm>
            <a:off x="179511" y="116632"/>
            <a:ext cx="7920881"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 Attack</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No LLM is safe, if it can be prompted.</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Involve extracting knowledge, from a LLM, extensively, querying it, through prompts.</a:t>
            </a:r>
          </a:p>
        </p:txBody>
      </p:sp>
      <p:pic>
        <p:nvPicPr>
          <p:cNvPr id="31" name="圖片 30">
            <a:extLst>
              <a:ext uri="{FF2B5EF4-FFF2-40B4-BE49-F238E27FC236}">
                <a16:creationId xmlns:a16="http://schemas.microsoft.com/office/drawing/2014/main" id="{AC21CB44-2E1A-CB98-7935-56713A15F8A8}"/>
              </a:ext>
            </a:extLst>
          </p:cNvPr>
          <p:cNvPicPr>
            <a:picLocks noChangeAspect="1"/>
          </p:cNvPicPr>
          <p:nvPr/>
        </p:nvPicPr>
        <p:blipFill>
          <a:blip r:embed="rId4"/>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2B255F5A-4477-D36C-0620-7FB608BCB205}"/>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6" name="文字方塊 5">
            <a:extLst>
              <a:ext uri="{FF2B5EF4-FFF2-40B4-BE49-F238E27FC236}">
                <a16:creationId xmlns:a16="http://schemas.microsoft.com/office/drawing/2014/main" id="{B68066DC-B3C7-0B14-5687-E982E2B40C61}"/>
              </a:ext>
            </a:extLst>
          </p:cNvPr>
          <p:cNvSpPr txBox="1"/>
          <p:nvPr/>
        </p:nvSpPr>
        <p:spPr>
          <a:xfrm>
            <a:off x="192111" y="4976008"/>
            <a:ext cx="8767027"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Counter Measures (Increase Attack’s Cost)</a:t>
            </a:r>
          </a:p>
          <a:p>
            <a:pPr marL="285750" indent="-285750">
              <a:lnSpc>
                <a:spcPts val="1800"/>
              </a:lnSpc>
              <a:spcBef>
                <a:spcPts val="600"/>
              </a:spcBef>
              <a:spcAft>
                <a:spcPts val="600"/>
              </a:spcAft>
              <a:buFont typeface="Wingdings" panose="05000000000000000000" pitchFamily="2" charset="2"/>
              <a:buChar char="Ø"/>
            </a:pPr>
            <a:r>
              <a:rPr lang="en-US" altLang="zh-TW" sz="1600" b="1" dirty="0"/>
              <a:t>Traffic Detection:</a:t>
            </a:r>
            <a:r>
              <a:rPr lang="en-US" altLang="zh-TW" sz="1600" dirty="0"/>
              <a:t> Semantic-space analysis, behavioral fingerprinting, metadata attribution.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Controls:</a:t>
            </a:r>
            <a:r>
              <a:rPr lang="en-US" altLang="zh-TW" sz="1600" dirty="0"/>
              <a:t> CoT removal, output perturbation, statistical watermarking.</a:t>
            </a:r>
          </a:p>
          <a:p>
            <a:pPr marL="285750" indent="-285750">
              <a:lnSpc>
                <a:spcPts val="1800"/>
              </a:lnSpc>
              <a:spcBef>
                <a:spcPts val="600"/>
              </a:spcBef>
              <a:spcAft>
                <a:spcPts val="600"/>
              </a:spcAft>
              <a:buFont typeface="Wingdings" panose="05000000000000000000" pitchFamily="2" charset="2"/>
              <a:buChar char="Ø"/>
            </a:pPr>
            <a:r>
              <a:rPr lang="en-US" altLang="zh-TW" sz="1600" b="1" dirty="0"/>
              <a:t>Verified Access:</a:t>
            </a:r>
            <a:r>
              <a:rPr lang="en-US" altLang="zh-TW" sz="1600" dirty="0"/>
              <a:t> Know Your Customer(KYC),</a:t>
            </a:r>
            <a:r>
              <a:rPr lang="zh-TW" altLang="en-US" sz="1600" dirty="0"/>
              <a:t> </a:t>
            </a:r>
            <a:r>
              <a:rPr lang="en-US" altLang="zh-TW" sz="1600" dirty="0"/>
              <a:t>Adaptive Verification, .</a:t>
            </a:r>
          </a:p>
        </p:txBody>
      </p:sp>
      <p:sp>
        <p:nvSpPr>
          <p:cNvPr id="12" name="文字方塊 11">
            <a:extLst>
              <a:ext uri="{FF2B5EF4-FFF2-40B4-BE49-F238E27FC236}">
                <a16:creationId xmlns:a16="http://schemas.microsoft.com/office/drawing/2014/main" id="{AD68F64B-4C1A-FFB2-F8B6-E5C3BC02DFF1}"/>
              </a:ext>
            </a:extLst>
          </p:cNvPr>
          <p:cNvSpPr txBox="1"/>
          <p:nvPr/>
        </p:nvSpPr>
        <p:spPr>
          <a:xfrm>
            <a:off x="2250420" y="260253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13" name="文字方塊 12">
            <a:extLst>
              <a:ext uri="{FF2B5EF4-FFF2-40B4-BE49-F238E27FC236}">
                <a16:creationId xmlns:a16="http://schemas.microsoft.com/office/drawing/2014/main" id="{CC7F5601-2E80-AC25-95B4-F7E7BEC74B21}"/>
              </a:ext>
            </a:extLst>
          </p:cNvPr>
          <p:cNvSpPr txBox="1"/>
          <p:nvPr/>
        </p:nvSpPr>
        <p:spPr>
          <a:xfrm>
            <a:off x="3347864" y="260253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14" name="文字方塊 13">
            <a:extLst>
              <a:ext uri="{FF2B5EF4-FFF2-40B4-BE49-F238E27FC236}">
                <a16:creationId xmlns:a16="http://schemas.microsoft.com/office/drawing/2014/main" id="{4CB5AFF6-8B07-F6E7-440D-1E3D64014E59}"/>
              </a:ext>
            </a:extLst>
          </p:cNvPr>
          <p:cNvSpPr txBox="1"/>
          <p:nvPr/>
        </p:nvSpPr>
        <p:spPr>
          <a:xfrm>
            <a:off x="4410660" y="260253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5" name="文字方塊 14">
            <a:extLst>
              <a:ext uri="{FF2B5EF4-FFF2-40B4-BE49-F238E27FC236}">
                <a16:creationId xmlns:a16="http://schemas.microsoft.com/office/drawing/2014/main" id="{6F8D15F0-F013-D9A3-EAA6-42797542C242}"/>
              </a:ext>
            </a:extLst>
          </p:cNvPr>
          <p:cNvSpPr txBox="1"/>
          <p:nvPr/>
        </p:nvSpPr>
        <p:spPr>
          <a:xfrm>
            <a:off x="5490780" y="260253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6" name="文字方塊 15">
            <a:extLst>
              <a:ext uri="{FF2B5EF4-FFF2-40B4-BE49-F238E27FC236}">
                <a16:creationId xmlns:a16="http://schemas.microsoft.com/office/drawing/2014/main" id="{289ADC5C-E475-83A1-2BFE-D74030E59EAA}"/>
              </a:ext>
            </a:extLst>
          </p:cNvPr>
          <p:cNvSpPr txBox="1"/>
          <p:nvPr/>
        </p:nvSpPr>
        <p:spPr>
          <a:xfrm>
            <a:off x="1187624" y="260633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7" name="右大括弧 16">
            <a:extLst>
              <a:ext uri="{FF2B5EF4-FFF2-40B4-BE49-F238E27FC236}">
                <a16:creationId xmlns:a16="http://schemas.microsoft.com/office/drawing/2014/main" id="{C76DBFF7-5BC4-34FB-B75B-C5F62F6D1CB2}"/>
              </a:ext>
            </a:extLst>
          </p:cNvPr>
          <p:cNvSpPr/>
          <p:nvPr/>
        </p:nvSpPr>
        <p:spPr>
          <a:xfrm rot="5400000">
            <a:off x="3154669" y="285269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8" name="箭號: 向下 17">
            <a:extLst>
              <a:ext uri="{FF2B5EF4-FFF2-40B4-BE49-F238E27FC236}">
                <a16:creationId xmlns:a16="http://schemas.microsoft.com/office/drawing/2014/main" id="{482FCC27-F93B-0834-C294-1FDE10F858A9}"/>
              </a:ext>
            </a:extLst>
          </p:cNvPr>
          <p:cNvSpPr/>
          <p:nvPr/>
        </p:nvSpPr>
        <p:spPr>
          <a:xfrm>
            <a:off x="5751471" y="234888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9" name="箭號: 向下 18">
            <a:extLst>
              <a:ext uri="{FF2B5EF4-FFF2-40B4-BE49-F238E27FC236}">
                <a16:creationId xmlns:a16="http://schemas.microsoft.com/office/drawing/2014/main" id="{B192F901-5C0A-02D8-BA29-8F9F1F1DD09A}"/>
              </a:ext>
            </a:extLst>
          </p:cNvPr>
          <p:cNvSpPr/>
          <p:nvPr/>
        </p:nvSpPr>
        <p:spPr>
          <a:xfrm>
            <a:off x="4671351" y="234888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0" name="箭號: 向下 19">
            <a:extLst>
              <a:ext uri="{FF2B5EF4-FFF2-40B4-BE49-F238E27FC236}">
                <a16:creationId xmlns:a16="http://schemas.microsoft.com/office/drawing/2014/main" id="{DD158442-0B64-FAD0-5E3B-27D143241E2B}"/>
              </a:ext>
            </a:extLst>
          </p:cNvPr>
          <p:cNvSpPr/>
          <p:nvPr/>
        </p:nvSpPr>
        <p:spPr>
          <a:xfrm>
            <a:off x="2511111" y="234888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1" name="直線單箭頭接點 20">
            <a:extLst>
              <a:ext uri="{FF2B5EF4-FFF2-40B4-BE49-F238E27FC236}">
                <a16:creationId xmlns:a16="http://schemas.microsoft.com/office/drawing/2014/main" id="{947BD5A8-BFD6-CEA1-275F-0CDDC5F60F07}"/>
              </a:ext>
            </a:extLst>
          </p:cNvPr>
          <p:cNvCxnSpPr>
            <a:cxnSpLocks/>
            <a:stCxn id="16" idx="3"/>
            <a:endCxn id="12" idx="1"/>
          </p:cNvCxnSpPr>
          <p:nvPr/>
        </p:nvCxnSpPr>
        <p:spPr>
          <a:xfrm flipV="1">
            <a:off x="2069044" y="298069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768731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1940 to 2023.</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413</TotalTime>
  <Words>21251</Words>
  <Application>Microsoft Office PowerPoint</Application>
  <PresentationFormat>如螢幕大小 (4:3)</PresentationFormat>
  <Paragraphs>3275</Paragraphs>
  <Slides>55</Slides>
  <Notes>44</Notes>
  <HiddenSlides>4</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55</vt:i4>
      </vt:variant>
    </vt:vector>
  </HeadingPairs>
  <TitlesOfParts>
    <vt:vector size="73"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1836</cp:revision>
  <cp:lastPrinted>2024-07-30T01:44:15Z</cp:lastPrinted>
  <dcterms:created xsi:type="dcterms:W3CDTF">2019-11-08T03:01:47Z</dcterms:created>
  <dcterms:modified xsi:type="dcterms:W3CDTF">2026-08-13T09:12:40Z</dcterms:modified>
</cp:coreProperties>
</file>