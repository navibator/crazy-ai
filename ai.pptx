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57"/>
  </p:notesMasterIdLst>
  <p:handoutMasterIdLst>
    <p:handoutMasterId r:id="rId58"/>
  </p:handoutMasterIdLst>
  <p:sldIdLst>
    <p:sldId id="3459" r:id="rId2"/>
    <p:sldId id="3472" r:id="rId3"/>
    <p:sldId id="3511" r:id="rId4"/>
    <p:sldId id="3504" r:id="rId5"/>
    <p:sldId id="3427" r:id="rId6"/>
    <p:sldId id="3503" r:id="rId7"/>
    <p:sldId id="3550" r:id="rId8"/>
    <p:sldId id="3470" r:id="rId9"/>
    <p:sldId id="3471" r:id="rId10"/>
    <p:sldId id="3482" r:id="rId11"/>
    <p:sldId id="3483" r:id="rId12"/>
    <p:sldId id="3428" r:id="rId13"/>
    <p:sldId id="3451" r:id="rId14"/>
    <p:sldId id="3465" r:id="rId15"/>
    <p:sldId id="3484" r:id="rId16"/>
    <p:sldId id="3508" r:id="rId17"/>
    <p:sldId id="3505" r:id="rId18"/>
    <p:sldId id="3507" r:id="rId19"/>
    <p:sldId id="3460" r:id="rId20"/>
    <p:sldId id="3509" r:id="rId21"/>
    <p:sldId id="3479" r:id="rId22"/>
    <p:sldId id="3467" r:id="rId23"/>
    <p:sldId id="3531" r:id="rId24"/>
    <p:sldId id="3499" r:id="rId25"/>
    <p:sldId id="3444" r:id="rId26"/>
    <p:sldId id="3532" r:id="rId27"/>
    <p:sldId id="3520" r:id="rId28"/>
    <p:sldId id="3518" r:id="rId29"/>
    <p:sldId id="3475" r:id="rId30"/>
    <p:sldId id="3527" r:id="rId31"/>
    <p:sldId id="3515" r:id="rId32"/>
    <p:sldId id="3528" r:id="rId33"/>
    <p:sldId id="3514" r:id="rId34"/>
    <p:sldId id="3529" r:id="rId35"/>
    <p:sldId id="3533" r:id="rId36"/>
    <p:sldId id="3544" r:id="rId37"/>
    <p:sldId id="3537" r:id="rId38"/>
    <p:sldId id="3540" r:id="rId39"/>
    <p:sldId id="3543" r:id="rId40"/>
    <p:sldId id="3542" r:id="rId41"/>
    <p:sldId id="3545" r:id="rId42"/>
    <p:sldId id="3539" r:id="rId43"/>
    <p:sldId id="3538" r:id="rId44"/>
    <p:sldId id="3534" r:id="rId45"/>
    <p:sldId id="3536" r:id="rId46"/>
    <p:sldId id="3535" r:id="rId47"/>
    <p:sldId id="3548" r:id="rId48"/>
    <p:sldId id="3547" r:id="rId49"/>
    <p:sldId id="3549" r:id="rId50"/>
    <p:sldId id="3519" r:id="rId51"/>
    <p:sldId id="3530" r:id="rId52"/>
    <p:sldId id="269" r:id="rId53"/>
    <p:sldId id="270" r:id="rId54"/>
    <p:sldId id="257" r:id="rId55"/>
    <p:sldId id="265" r:id="rId56"/>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 id="3511"/>
          </p14:sldIdLst>
        </p14:section>
        <p14:section name="Machine Learning" id="{B661AA10-C3FF-4E46-A114-E951FEA8A6DC}">
          <p14:sldIdLst>
            <p14:sldId id="3504"/>
            <p14:sldId id="3427"/>
            <p14:sldId id="3503"/>
            <p14:sldId id="3550"/>
          </p14:sldIdLst>
        </p14:section>
        <p14:section name="Transformer" id="{91BFD2B5-A843-4933-9519-5889D1D7895D}">
          <p14:sldIdLst>
            <p14:sldId id="3470"/>
            <p14:sldId id="3471"/>
            <p14:sldId id="3482"/>
            <p14:sldId id="3483"/>
            <p14:sldId id="3428"/>
            <p14:sldId id="3451"/>
          </p14:sldIdLst>
        </p14:section>
        <p14:section name="OpenAI-GPT" id="{5A048767-0D58-44AF-B962-12C29493294F}">
          <p14:sldIdLst>
            <p14:sldId id="3465"/>
            <p14:sldId id="3484"/>
            <p14:sldId id="3508"/>
            <p14:sldId id="3505"/>
            <p14:sldId id="3507"/>
          </p14:sldIdLst>
        </p14:section>
        <p14:section name="Hardware" id="{69C35067-BEF2-4B7C-9B54-B6977EB05C72}">
          <p14:sldIdLst>
            <p14:sldId id="3460"/>
            <p14:sldId id="3509"/>
            <p14:sldId id="3479"/>
          </p14:sldIdLst>
        </p14:section>
        <p14:section name="MS-bitNet" id="{8BFD7CAD-ECFE-4ED7-B08B-0E68D3D2B9C8}">
          <p14:sldIdLst>
            <p14:sldId id="3467"/>
          </p14:sldIdLst>
        </p14:section>
        <p14:section name="Edge AI" id="{53FF88DE-B3A4-42C9-8839-DDE9CA6AA9E3}">
          <p14:sldIdLst>
            <p14:sldId id="3531"/>
            <p14:sldId id="3499"/>
            <p14:sldId id="3444"/>
            <p14:sldId id="3532"/>
            <p14:sldId id="3520"/>
            <p14:sldId id="3518"/>
            <p14:sldId id="3475"/>
          </p14:sldIdLst>
        </p14:section>
        <p14:section name="Google-Gemma" id="{4AE07F0F-1A3A-4225-AACF-3E87DCBDDC1F}">
          <p14:sldIdLst>
            <p14:sldId id="3527"/>
            <p14:sldId id="3515"/>
            <p14:sldId id="3528"/>
            <p14:sldId id="3514"/>
            <p14:sldId id="3529"/>
            <p14:sldId id="3533"/>
          </p14:sldIdLst>
        </p14:section>
        <p14:section name="Deepseek-DSMoE" id="{8CC3907E-2537-4761-B8B4-20CC1D391E20}">
          <p14:sldIdLst>
            <p14:sldId id="3544"/>
            <p14:sldId id="3537"/>
            <p14:sldId id="3540"/>
            <p14:sldId id="3543"/>
            <p14:sldId id="3542"/>
            <p14:sldId id="3545"/>
            <p14:sldId id="3539"/>
            <p14:sldId id="3538"/>
          </p14:sldIdLst>
        </p14:section>
        <p14:section name="Moonshot-Kimi" id="{7C2BE5B2-C507-46C7-871E-C935EB653EC3}">
          <p14:sldIdLst>
            <p14:sldId id="3534"/>
            <p14:sldId id="3536"/>
            <p14:sldId id="3535"/>
          </p14:sldIdLst>
        </p14:section>
        <p14:section name="Distillation" id="{7EB38C31-A2B8-4354-A21C-A4C807EDE2C4}">
          <p14:sldIdLst>
            <p14:sldId id="3548"/>
            <p14:sldId id="3547"/>
          </p14:sldIdLst>
        </p14:section>
        <p14:section name="Conclusion" id="{D9E6914C-A73F-4176-B0F8-3F87EAC09119}">
          <p14:sldIdLst>
            <p14:sldId id="3549"/>
            <p14:sldId id="3519"/>
            <p14:sldId id="3530"/>
            <p14:sldId id="269"/>
            <p14:sldId id="270"/>
            <p14:sldId id="257"/>
            <p14:sldId id="265"/>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3DB"/>
    <a:srgbClr val="2260DC"/>
    <a:srgbClr val="F0F0F0"/>
    <a:srgbClr val="F8D462"/>
    <a:srgbClr val="4C6BFF"/>
    <a:srgbClr val="FF9900"/>
    <a:srgbClr val="FEC203"/>
    <a:srgbClr val="3079EF"/>
    <a:srgbClr val="B8EACA"/>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71958" autoAdjust="0"/>
  </p:normalViewPr>
  <p:slideViewPr>
    <p:cSldViewPr>
      <p:cViewPr>
        <p:scale>
          <a:sx n="100" d="100"/>
          <a:sy n="100" d="100"/>
        </p:scale>
        <p:origin x="900" y="234"/>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microsoft.com/office/2018/10/relationships/authors" Target="author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handoutMaster" Target="handoutMasters/handoutMaster1.xml"/><Relationship Id="rId5" Type="http://schemas.openxmlformats.org/officeDocument/2006/relationships/slide" Target="slides/slide4.xml"/><Relationship Id="rId61" Type="http://schemas.openxmlformats.org/officeDocument/2006/relationships/theme" Target="theme/theme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notesMaster" Target="notesMasters/notesMaster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2026/8/14</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2026/8/14</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3" Type="http://schemas.openxmlformats.org/officeDocument/2006/relationships/hyperlink" Target="https://github.com/NVIDIA/Model-Optimizer" TargetMode="External"/><Relationship Id="rId2" Type="http://schemas.openxmlformats.org/officeDocument/2006/relationships/slide" Target="../slides/slide20.xml"/><Relationship Id="rId1" Type="http://schemas.openxmlformats.org/officeDocument/2006/relationships/notesMaster" Target="../notesMasters/notesMaster1.xml"/><Relationship Id="rId6" Type="http://schemas.openxmlformats.org/officeDocument/2006/relationships/hyperlink" Target="https://lyceum.technology/magazine/gpu-memory-requirements-transformer/" TargetMode="External"/><Relationship Id="rId5" Type="http://schemas.openxmlformats.org/officeDocument/2006/relationships/hyperlink" Target="https://venturebeat.com/orchestration/nvidias-new-technique-cuts-llm-reasoning-costs-by-8x-without-losing-accuracy" TargetMode="External"/><Relationship Id="rId4" Type="http://schemas.openxmlformats.org/officeDocument/2006/relationships/hyperlink" Target="https://developer.nvidia.com/blog/introducing-nvidia-dynamo-a-low-latency-distributed-inference-framework-for-scaling-reasoning-ai-models/" TargetMode="Externa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9E89AF-F2A2-F9DF-BD6A-49D7779363C2}"/>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02AB12DF-8319-18DD-A9CA-7A337F7554FB}"/>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E4A5F17-64C8-ADA6-DA00-0F5940464BB8}"/>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Momentum Orthogonalized by Newton-Schulz</a:t>
            </a:r>
            <a:r>
              <a:rPr lang="zh-TW" altLang="zh-TW" sz="1200" b="0" u="none" strike="noStrike" kern="1200" dirty="0">
                <a:solidFill>
                  <a:schemeClr val="tx1"/>
                </a:solidFill>
                <a:effectLst/>
                <a:latin typeface="+mn-lt"/>
                <a:ea typeface="+mn-ea"/>
                <a:cs typeface="+mn-cs"/>
              </a:rPr>
              <a:t>（利用牛頓-舒爾茨方法進行動量正交化）是 LLM</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訓練中非常前沿的優化器技術，也是知名優化器 </a:t>
            </a:r>
            <a:r>
              <a:rPr lang="zh-TW" altLang="zh-TW" sz="1200" b="1" u="none" strike="noStrike" kern="1200" dirty="0">
                <a:solidFill>
                  <a:schemeClr val="tx1"/>
                </a:solidFill>
                <a:effectLst/>
                <a:latin typeface="+mn-lt"/>
                <a:ea typeface="+mn-ea"/>
                <a:cs typeface="+mn-cs"/>
              </a:rPr>
              <a:t>Muon</a:t>
            </a:r>
            <a:r>
              <a:rPr lang="zh-TW" altLang="zh-TW" sz="1200" b="0" u="none" strike="noStrike" kern="1200" dirty="0">
                <a:solidFill>
                  <a:schemeClr val="tx1"/>
                </a:solidFill>
                <a:effectLst/>
                <a:latin typeface="+mn-lt"/>
                <a:ea typeface="+mn-ea"/>
                <a:cs typeface="+mn-cs"/>
              </a:rPr>
              <a:t> 的核心運作機制 。</a:t>
            </a:r>
          </a:p>
          <a:p>
            <a:r>
              <a:rPr lang="zh-TW" altLang="zh-TW" sz="1200" b="0" u="none" strike="noStrike" kern="1200" dirty="0">
                <a:solidFill>
                  <a:schemeClr val="tx1"/>
                </a:solidFill>
                <a:effectLst/>
                <a:latin typeface="+mn-lt"/>
                <a:ea typeface="+mn-ea"/>
                <a:cs typeface="+mn-cs"/>
              </a:rPr>
              <a:t>簡單來說，它的核心目的是：</a:t>
            </a:r>
            <a:r>
              <a:rPr lang="zh-TW" altLang="zh-TW" sz="1200" b="1" u="none" strike="noStrike" kern="1200" dirty="0">
                <a:solidFill>
                  <a:schemeClr val="tx1"/>
                </a:solidFill>
                <a:effectLst/>
                <a:latin typeface="+mn-lt"/>
                <a:ea typeface="+mn-ea"/>
                <a:cs typeface="+mn-cs"/>
              </a:rPr>
              <a:t>在模型更新參數時，利用 Newton-Schulz 數學迭代法，將原本帶有方向偏誤的「動量（Momentum）」，強行轉換為一個「嚴格正交且基底均勻」的矩陣。</a:t>
            </a:r>
            <a:r>
              <a:rPr lang="zh-TW" altLang="zh-TW" sz="1200" b="0" u="none" strike="noStrike" kern="1200" dirty="0">
                <a:solidFill>
                  <a:schemeClr val="tx1"/>
                </a:solidFill>
                <a:effectLst/>
                <a:latin typeface="+mn-lt"/>
                <a:ea typeface="+mn-ea"/>
                <a:cs typeface="+mn-cs"/>
              </a:rPr>
              <a:t> 這樣做可以確保模型在各個維度上的學習速度完全一致，大幅加快極大模型的收斂速度。</a:t>
            </a:r>
          </a:p>
          <a:p>
            <a:endParaRPr lang="zh-TW" altLang="en-US" dirty="0"/>
          </a:p>
        </p:txBody>
      </p:sp>
      <p:sp>
        <p:nvSpPr>
          <p:cNvPr id="4" name="投影片編號版面配置區 3">
            <a:extLst>
              <a:ext uri="{FF2B5EF4-FFF2-40B4-BE49-F238E27FC236}">
                <a16:creationId xmlns:a16="http://schemas.microsoft.com/office/drawing/2014/main" id="{D63F60DF-4BB2-7AE4-117C-3A47EBD5CB1A}"/>
              </a:ext>
            </a:extLst>
          </p:cNvPr>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408564834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8</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en-US" altLang="zh-TW" dirty="0"/>
          </a:p>
          <a:p>
            <a:r>
              <a:rPr lang="zh-TW" altLang="zh-TW" sz="1200" b="0" u="none" strike="noStrike" kern="1200" dirty="0">
                <a:solidFill>
                  <a:schemeClr val="tx1"/>
                </a:solidFill>
                <a:effectLst/>
                <a:latin typeface="+mn-lt"/>
                <a:ea typeface="+mn-ea"/>
                <a:cs typeface="+mn-cs"/>
              </a:rPr>
              <a:t>RoPE（旋轉位置編碼）在實作時，並不是把一整個 Token Embedding 向量當成一體來旋轉，而是</a:t>
            </a:r>
            <a:r>
              <a:rPr lang="zh-TW" altLang="zh-TW" sz="1200" b="1" u="none" strike="noStrike" kern="1200" dirty="0">
                <a:solidFill>
                  <a:schemeClr val="tx1"/>
                </a:solidFill>
                <a:effectLst/>
                <a:latin typeface="+mn-lt"/>
                <a:ea typeface="+mn-ea"/>
                <a:cs typeface="+mn-cs"/>
              </a:rPr>
              <a:t>將高維向量切成兩兩一組（一對對的二維複數平面）</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獨立的調變範圍（旋轉速度/頻率不同）</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RoPE 為每一對維度分配了不同的</a:t>
            </a:r>
            <a:r>
              <a:rPr lang="zh-TW" altLang="zh-TW" sz="1200" b="1" u="none" strike="noStrike" kern="1200" dirty="0">
                <a:solidFill>
                  <a:schemeClr val="tx1"/>
                </a:solidFill>
                <a:effectLst/>
                <a:latin typeface="+mn-lt"/>
                <a:ea typeface="+mn-ea"/>
                <a:cs typeface="+mn-cs"/>
              </a:rPr>
              <a:t>「基數頻率（Base Frequency）」</a:t>
            </a:r>
            <a:r>
              <a:rPr lang="zh-TW" altLang="zh-TW" sz="1200" b="0" u="none" strike="noStrike" kern="1200" dirty="0">
                <a:solidFill>
                  <a:schemeClr val="tx1"/>
                </a:solidFill>
                <a:effectLst/>
                <a:latin typeface="+mn-lt"/>
                <a:ea typeface="+mn-ea"/>
                <a:cs typeface="+mn-cs"/>
              </a:rPr>
              <a:t>。靠近前面的維度，旋轉頻率極高（對位置變化非常敏感）；靠近後面的維度，旋轉頻率極低（對位置變化非常遲鈍）。這完美的達成了您說的「每個維度都有自己獨立的調變範圍」。</a:t>
            </a:r>
          </a:p>
          <a:p>
            <a:r>
              <a:rPr lang="zh-TW" altLang="zh-TW" sz="1200" b="1" u="none" strike="noStrike" kern="1200" dirty="0">
                <a:solidFill>
                  <a:schemeClr val="tx1"/>
                </a:solidFill>
                <a:effectLst/>
                <a:latin typeface="+mn-lt"/>
                <a:ea typeface="+mn-ea"/>
                <a:cs typeface="+mn-cs"/>
              </a:rPr>
              <a:t>不同的敏感度（長短距離分工）</a:t>
            </a:r>
            <a:r>
              <a:rPr lang="zh-TW" altLang="zh-TW" sz="1200" b="0" u="none" strike="noStrike" kern="1200" dirty="0">
                <a:solidFill>
                  <a:schemeClr val="tx1"/>
                </a:solidFill>
                <a:effectLst/>
                <a:latin typeface="+mn-lt"/>
                <a:ea typeface="+mn-ea"/>
                <a:cs typeface="+mn-cs"/>
              </a:rPr>
              <a:t>：</a:t>
            </a:r>
          </a:p>
          <a:p>
            <a:pPr lvl="1"/>
            <a:r>
              <a:rPr lang="zh-TW" altLang="zh-TW" sz="1200" b="1" u="none" strike="noStrike" kern="1200" dirty="0">
                <a:solidFill>
                  <a:schemeClr val="tx1"/>
                </a:solidFill>
                <a:effectLst/>
                <a:latin typeface="+mn-lt"/>
                <a:ea typeface="+mn-ea"/>
                <a:cs typeface="+mn-cs"/>
              </a:rPr>
              <a:t>高頻維度（高敏感度）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超短距離</a:t>
            </a:r>
            <a:r>
              <a:rPr lang="zh-TW" altLang="zh-TW" sz="1200" b="0" u="none" strike="noStrike" kern="1200" dirty="0">
                <a:solidFill>
                  <a:schemeClr val="tx1"/>
                </a:solidFill>
                <a:effectLst/>
                <a:latin typeface="+mn-lt"/>
                <a:ea typeface="+mn-ea"/>
                <a:cs typeface="+mn-cs"/>
              </a:rPr>
              <a:t>的語法結構（例如：相鄰的動詞與名詞）。</a:t>
            </a:r>
          </a:p>
          <a:p>
            <a:pPr lvl="1"/>
            <a:r>
              <a:rPr lang="zh-TW" altLang="zh-TW" sz="1200" b="1" u="none" strike="noStrike" kern="1200" dirty="0">
                <a:solidFill>
                  <a:schemeClr val="tx1"/>
                </a:solidFill>
                <a:effectLst/>
                <a:latin typeface="+mn-lt"/>
                <a:ea typeface="+mn-ea"/>
                <a:cs typeface="+mn-cs"/>
              </a:rPr>
              <a:t>低頻維度（低敏感度）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超長距離</a:t>
            </a:r>
            <a:r>
              <a:rPr lang="zh-TW" altLang="zh-TW" sz="1200" b="0" u="none" strike="noStrike" kern="1200" dirty="0">
                <a:solidFill>
                  <a:schemeClr val="tx1"/>
                </a:solidFill>
                <a:effectLst/>
                <a:latin typeface="+mn-lt"/>
                <a:ea typeface="+mn-ea"/>
                <a:cs typeface="+mn-cs"/>
              </a:rPr>
              <a:t>的語意跨度（例如：文章開頭與結尾的邏輯呼應）。</a:t>
            </a:r>
          </a:p>
          <a:p>
            <a:r>
              <a:rPr lang="zh-TW" altLang="zh-TW" sz="1200" b="0" u="none" strike="noStrike" kern="1200" dirty="0">
                <a:solidFill>
                  <a:schemeClr val="tx1"/>
                </a:solidFill>
                <a:effectLst/>
                <a:latin typeface="+mn-lt"/>
                <a:ea typeface="+mn-ea"/>
                <a:cs typeface="+mn-cs"/>
              </a:rPr>
              <a:t>這也是為什麼 RoPE 具備強大「長度外推性」的根本原因，因為那些低頻、遲鈍的維度，即使文本拉長到幾十萬字，它們依然能穩定地工作。</a:t>
            </a:r>
          </a:p>
          <a:p>
            <a:endParaRPr lang="en-US" altLang="zh-TW" dirty="0"/>
          </a:p>
          <a:p>
            <a:endParaRPr lang="en-US" altLang="zh-TW" dirty="0"/>
          </a:p>
          <a:p>
            <a:r>
              <a:rPr lang="zh-TW" altLang="zh-TW" sz="1200" b="1" u="none" strike="noStrike" kern="1200" dirty="0">
                <a:solidFill>
                  <a:schemeClr val="tx1"/>
                </a:solidFill>
                <a:effectLst/>
                <a:latin typeface="+mn-lt"/>
                <a:ea typeface="+mn-ea"/>
                <a:cs typeface="+mn-cs"/>
              </a:rPr>
              <a:t>Dimension-Isolated Modulation（維度獨立調變）</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Pairs of hidden dimensions rotate at varying frequencies, granting each segment distinct positional sensitivity.</a:t>
            </a:r>
          </a:p>
          <a:p>
            <a:pPr lvl="1"/>
            <a:r>
              <a:rPr lang="zh-TW" altLang="zh-TW" sz="1200" b="0" i="1" u="none" strike="noStrike" kern="1200" dirty="0">
                <a:solidFill>
                  <a:schemeClr val="tx1"/>
                </a:solidFill>
                <a:effectLst/>
                <a:latin typeface="+mn-lt"/>
                <a:ea typeface="+mn-ea"/>
                <a:cs typeface="+mn-cs"/>
              </a:rPr>
              <a:t>(成對的隱藏維度以不同的頻率旋轉，賦予每個片段獨特的位置敏感度。)</a:t>
            </a:r>
            <a:br>
              <a:rPr lang="en-US" altLang="zh-TW" sz="1200" b="0" i="1"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Multi-Scale Sensitivity for Context（多尺度上下文敏感度）</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High-frequency bands lock onto local syntax, while low-frequency bands generalize to long-range semantic patterns.</a:t>
            </a:r>
          </a:p>
          <a:p>
            <a:pPr lvl="1"/>
            <a:r>
              <a:rPr lang="zh-TW" altLang="zh-TW" sz="1200" b="0" i="1" u="none" strike="noStrike" kern="1200" dirty="0">
                <a:solidFill>
                  <a:schemeClr val="tx1"/>
                </a:solidFill>
                <a:effectLst/>
                <a:latin typeface="+mn-lt"/>
                <a:ea typeface="+mn-ea"/>
                <a:cs typeface="+mn-cs"/>
              </a:rPr>
              <a:t>(高頻波段鎖定局部語法，而低頻波段則泛化至長距離的語意模式。)</a:t>
            </a:r>
            <a:endParaRPr lang="zh-TW" altLang="zh-TW" sz="1200" b="0" u="none" strike="noStrike" kern="1200" dirty="0">
              <a:solidFill>
                <a:schemeClr val="tx1"/>
              </a:solidFill>
              <a:effectLst/>
              <a:latin typeface="+mn-lt"/>
              <a:ea typeface="+mn-ea"/>
              <a:cs typeface="+mn-cs"/>
            </a:endParaRPr>
          </a:p>
          <a:p>
            <a:br>
              <a:rPr lang="zh-TW" altLang="zh-TW" dirty="0"/>
            </a:br>
            <a:endParaRPr lang="zh-TW" altLang="zh-TW" dirty="0"/>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pPr marL="228600" indent="-228600">
              <a:buAutoNum type="arabicPeriod"/>
            </a:pPr>
            <a:r>
              <a:rPr lang="zh-TW" altLang="en-US" sz="1200" b="1" u="none" strike="noStrike" kern="1200" dirty="0">
                <a:solidFill>
                  <a:schemeClr val="tx1"/>
                </a:solidFill>
                <a:effectLst/>
                <a:latin typeface="+mn-lt"/>
                <a:ea typeface="+mn-ea"/>
                <a:cs typeface="+mn-cs"/>
              </a:rPr>
              <a:t>少了激活函數</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權重會退化成</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單一矩陣</a:t>
            </a:r>
            <a:r>
              <a:rPr lang="en-US" altLang="zh-TW" sz="1200" b="1" u="none" strike="noStrike" kern="1200" dirty="0">
                <a:solidFill>
                  <a:schemeClr val="tx1"/>
                </a:solidFill>
                <a:effectLst/>
                <a:latin typeface="+mn-lt"/>
                <a:ea typeface="+mn-ea"/>
                <a:cs typeface="+mn-cs"/>
              </a:rPr>
              <a:t>”</a:t>
            </a:r>
          </a:p>
          <a:p>
            <a:pPr marL="228600" indent="-228600">
              <a:buAutoNum type="arabicPeriod"/>
            </a:pPr>
            <a:r>
              <a:rPr lang="zh-TW" altLang="en-US" sz="1200" b="1" u="none" strike="noStrike" kern="1200" dirty="0">
                <a:solidFill>
                  <a:schemeClr val="tx1"/>
                </a:solidFill>
                <a:effectLst/>
                <a:latin typeface="+mn-lt"/>
                <a:ea typeface="+mn-ea"/>
                <a:cs typeface="+mn-cs"/>
              </a:rPr>
              <a:t>問題</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降著降著</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梯度消失</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正規化可以防止反向傳遞被</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大數值資料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誤導</a:t>
            </a:r>
            <a:endParaRPr lang="en-US" altLang="zh-TW" sz="1200" b="1" u="none" strike="noStrike" kern="1200" dirty="0">
              <a:solidFill>
                <a:schemeClr val="tx1"/>
              </a:solidFill>
              <a:effectLst/>
              <a:latin typeface="+mn-lt"/>
              <a:ea typeface="+mn-ea"/>
              <a:cs typeface="+mn-cs"/>
            </a:endParaRPr>
          </a:p>
          <a:p>
            <a:endParaRPr lang="en-US" altLang="zh-TW" dirty="0"/>
          </a:p>
          <a:p>
            <a:r>
              <a:rPr lang="zh-TW" altLang="en-US" sz="1200" b="1" u="none" strike="noStrike" kern="1200" dirty="0">
                <a:solidFill>
                  <a:schemeClr val="tx1"/>
                </a:solidFill>
                <a:effectLst/>
                <a:latin typeface="+mn-lt"/>
                <a:ea typeface="+mn-ea"/>
                <a:cs typeface="+mn-cs"/>
              </a:rPr>
              <a:t>權重的梯度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endParaRPr lang="en-US" altLang="zh-TW" sz="1200" b="1"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學習率</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快慢 </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訓練資料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比重分配</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誤差</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力道</a:t>
            </a:r>
            <a:br>
              <a:rPr lang="en-US" altLang="zh-TW" sz="1200" b="1" u="none" strike="noStrike" kern="1200" dirty="0">
                <a:solidFill>
                  <a:schemeClr val="tx1"/>
                </a:solidFill>
                <a:effectLst/>
                <a:latin typeface="+mn-lt"/>
                <a:ea typeface="+mn-ea"/>
                <a:cs typeface="+mn-cs"/>
              </a:rPr>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NVIDIA Transformer Engine (TE) ── 低精度混合精度管理庫</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：標準 AdamW 訓練需要為每個參數儲存高精度的 Master Weights 與優化器狀態，極度消耗 HBM/VRAM 顯存。</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FP8 / MXFP8 / NVFP4 自動混合精度</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AMP</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在 Hopper 與最新的 Blackwell 架構硬體上，TE 能在「訓練」與「推論」過程中，自動將 Transformer 網路層轉換為 FP8、微縮放 FP8（Microscaling）或 4-bit 浮點數（NVFP4</a:t>
            </a:r>
            <a:r>
              <a:rPr lang="en-US" altLang="zh-TW" sz="1200" b="0" u="none" strike="noStrike" kern="1200" dirty="0">
                <a:solidFill>
                  <a:schemeClr val="tx1"/>
                </a:solidFill>
                <a:effectLst/>
                <a:latin typeface="+mn-lt"/>
                <a:ea typeface="+mn-ea"/>
                <a:cs typeface="+mn-cs"/>
              </a:rPr>
              <a:t>).</a:t>
            </a: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動態縮放機制</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Dynamic Scaling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它在底層軟體上自動維護一個縮放因子，讓模型既能享受低精度（4-bit / 8-bit）帶來的</a:t>
            </a:r>
            <a:r>
              <a:rPr lang="zh-TW" altLang="zh-TW" sz="1200" b="1" u="none" strike="noStrike" kern="1200" dirty="0">
                <a:solidFill>
                  <a:schemeClr val="tx1"/>
                </a:solidFill>
                <a:effectLst/>
                <a:latin typeface="+mn-lt"/>
                <a:ea typeface="+mn-ea"/>
                <a:cs typeface="+mn-cs"/>
              </a:rPr>
              <a:t>顯存減半、吞吐量翻倍</a:t>
            </a:r>
            <a:r>
              <a:rPr lang="zh-TW" altLang="zh-TW" sz="1200" b="0" u="none" strike="noStrike" kern="1200" dirty="0">
                <a:solidFill>
                  <a:schemeClr val="tx1"/>
                </a:solidFill>
                <a:effectLst/>
                <a:latin typeface="+mn-lt"/>
                <a:ea typeface="+mn-ea"/>
                <a:cs typeface="+mn-cs"/>
              </a:rPr>
              <a:t>，又不會發生梯度爆炸或下溢，大幅釋放了優化器運算時的記憶體空間。</a:t>
            </a:r>
            <a:br>
              <a:rPr lang="zh-TW" altLang="zh-TW" dirty="0"/>
            </a:br>
            <a:endParaRPr lang="zh-TW" altLang="zh-TW" dirty="0"/>
          </a:p>
          <a:p>
            <a:r>
              <a:rPr lang="zh-TW" altLang="zh-TW" sz="1200" b="1" u="none" strike="noStrike" kern="1200" dirty="0">
                <a:solidFill>
                  <a:schemeClr val="tx1"/>
                </a:solidFill>
                <a:effectLst/>
                <a:latin typeface="+mn-lt"/>
                <a:ea typeface="+mn-ea"/>
                <a:cs typeface="+mn-cs"/>
              </a:rPr>
              <a:t>2. NVIDIA Model Optimizer (ModelOpt) ── 工業級模型壓縮與智商修復優化器</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：微調完的模型體積過大、難以部署；直接硬砍精度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PTQ</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會導致模型變笨，但傳統 QAT 訓練又太吃顯存。 </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軟體整合量化</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Unified Quantization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3"/>
              </a:rPr>
              <a:t>ModelOpt</a:t>
            </a:r>
            <a:r>
              <a:rPr lang="zh-TW" altLang="zh-TW" sz="1200" b="0" u="none" strike="noStrike" kern="1200" dirty="0">
                <a:solidFill>
                  <a:schemeClr val="tx1"/>
                </a:solidFill>
                <a:effectLst/>
                <a:latin typeface="+mn-lt"/>
                <a:ea typeface="+mn-ea"/>
                <a:cs typeface="+mn-cs"/>
              </a:rPr>
              <a:t> 是 NV 官方將 INT4/8、FP4/8、以及進階的 AWQ（啟用僅權重量化與區塊量化）整合在一起的終極壓縮庫。它能直接把模型參數所需的顯存降到原來的四分之一。</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硬體感知蒸餾（QAD）與剪枝</a:t>
            </a:r>
            <a:r>
              <a:rPr lang="zh-TW" altLang="zh-TW" sz="1200" b="0" u="none" strike="noStrike" kern="1200" dirty="0">
                <a:solidFill>
                  <a:schemeClr val="tx1"/>
                </a:solidFill>
                <a:effectLst/>
                <a:latin typeface="+mn-lt"/>
                <a:ea typeface="+mn-ea"/>
                <a:cs typeface="+mn-cs"/>
              </a:rPr>
              <a:t>：如前所述，它能在軟體層面同步啟動「假量化環境」與「知識蒸餾失真對齊」，在完全不增加硬體訓練開銷的前提下，完成大模型的極限瘦身並 100% 恢復智商。 </a:t>
            </a:r>
          </a:p>
          <a:p>
            <a:endParaRPr lang="zh-TW" altLang="zh-TW" dirty="0"/>
          </a:p>
          <a:p>
            <a:r>
              <a:rPr lang="zh-TW" altLang="zh-TW" sz="1200" b="1" u="none" strike="noStrike" kern="1200" dirty="0">
                <a:solidFill>
                  <a:schemeClr val="tx1"/>
                </a:solidFill>
                <a:effectLst/>
                <a:latin typeface="+mn-lt"/>
                <a:ea typeface="+mn-ea"/>
                <a:cs typeface="+mn-cs"/>
              </a:rPr>
              <a:t>3. NVIDIA Dynamo (含 KV Cache Manager) ── 分佈式推論記憶體虛擬化框架</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：長文本推理時，</a:t>
            </a:r>
            <a:r>
              <a:rPr lang="zh-TW" altLang="zh-TW" sz="1200" b="1" u="none" strike="noStrike" kern="1200" dirty="0">
                <a:solidFill>
                  <a:schemeClr val="tx1"/>
                </a:solidFill>
                <a:effectLst/>
                <a:latin typeface="+mn-lt"/>
                <a:ea typeface="+mn-ea"/>
                <a:cs typeface="+mn-cs"/>
              </a:rPr>
              <a:t>KV 快取（KV Cache）</a:t>
            </a:r>
            <a:r>
              <a:rPr lang="zh-TW" altLang="zh-TW" sz="1200" b="0" u="none" strike="noStrike" kern="1200" dirty="0">
                <a:solidFill>
                  <a:schemeClr val="tx1"/>
                </a:solidFill>
                <a:effectLst/>
                <a:latin typeface="+mn-lt"/>
                <a:ea typeface="+mn-ea"/>
                <a:cs typeface="+mn-cs"/>
              </a:rPr>
              <a:t>的體積會隨著 Context 長度暴增，迅速塞爆 GPU 顯存。 [</a:t>
            </a:r>
            <a:r>
              <a:rPr lang="zh-TW" altLang="zh-TW" sz="1200" b="0" u="none" strike="noStrike" kern="1200" dirty="0">
                <a:solidFill>
                  <a:schemeClr val="tx1"/>
                </a:solidFill>
                <a:effectLst/>
                <a:latin typeface="+mn-lt"/>
                <a:ea typeface="+mn-ea"/>
                <a:cs typeface="+mn-cs"/>
                <a:hlinkClick r:id="rId4"/>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5"/>
              </a:rPr>
              <a:t>2</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6"/>
              </a:rPr>
              <a:t>3</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分層記憶體卸載</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Hierarchical Offloading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NVIDIA Dynamo</a:t>
            </a:r>
            <a:r>
              <a:rPr lang="zh-TW" altLang="zh-TW" sz="1200" b="0" u="none" strike="noStrike" kern="1200" dirty="0">
                <a:solidFill>
                  <a:schemeClr val="tx1"/>
                </a:solidFill>
                <a:effectLst/>
                <a:latin typeface="+mn-lt"/>
                <a:ea typeface="+mn-ea"/>
                <a:cs typeface="+mn-cs"/>
              </a:rPr>
              <a:t> 內建了極其聰明的 </a:t>
            </a:r>
            <a:r>
              <a:rPr lang="zh-TW" altLang="zh-TW" sz="1200" b="1" u="none" strike="noStrike" kern="1200" dirty="0">
                <a:solidFill>
                  <a:schemeClr val="tx1"/>
                </a:solidFill>
                <a:effectLst/>
                <a:latin typeface="+mn-lt"/>
                <a:ea typeface="+mn-ea"/>
                <a:cs typeface="+mn-cs"/>
              </a:rPr>
              <a:t>KV 快取管理員</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KV Cache Manager</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。它將 GPU VRAM、系統記憶體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CPU 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、甚至是外接的 SSD 與網路儲存，組合成一個「虛擬化記憶體池」。</a:t>
            </a: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動態記憶體稀疏化與淘汰</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DMS &amp; Eviction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配合動態記憶體稀疏化技術</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DMS</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軟體會自動評估哪些 KV Cache 接下來不會被讀取，將其動態外移到 CPU 記憶體中</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或者直接丟棄不重要的 Token 快取，將長文本推理的顯存成本</a:t>
            </a:r>
            <a:r>
              <a:rPr lang="zh-TW" altLang="zh-TW" sz="1200" b="1" u="none" strike="noStrike" kern="1200" dirty="0">
                <a:solidFill>
                  <a:schemeClr val="tx1"/>
                </a:solidFill>
                <a:effectLst/>
                <a:latin typeface="+mn-lt"/>
                <a:ea typeface="+mn-ea"/>
                <a:cs typeface="+mn-cs"/>
              </a:rPr>
              <a:t>直接降低高達 8 倍</a:t>
            </a:r>
            <a:r>
              <a:rPr lang="zh-TW" altLang="zh-TW" sz="1200" b="0" u="none" strike="noStrike" kern="1200" dirty="0">
                <a:solidFill>
                  <a:schemeClr val="tx1"/>
                </a:solidFill>
                <a:effectLst/>
                <a:latin typeface="+mn-lt"/>
                <a:ea typeface="+mn-ea"/>
                <a:cs typeface="+mn-cs"/>
              </a:rPr>
              <a:t>，且完全不影響模型的推理精準度。</a:t>
            </a:r>
          </a:p>
          <a:p>
            <a:endParaRPr lang="en-US" altLang="zh-TW" dirty="0"/>
          </a:p>
          <a:p>
            <a:r>
              <a:rPr lang="zh-TW" altLang="zh-TW" sz="1200" b="1" u="none" strike="noStrike" kern="1200" dirty="0">
                <a:solidFill>
                  <a:schemeClr val="tx1"/>
                </a:solidFill>
                <a:effectLst/>
                <a:latin typeface="+mn-lt"/>
                <a:ea typeface="+mn-ea"/>
                <a:cs typeface="+mn-cs"/>
              </a:rPr>
              <a:t>額外亮點：硬體層面的最強助攻 ── 統一記憶體（Unified Memory）</a:t>
            </a:r>
          </a:p>
          <a:p>
            <a:r>
              <a:rPr lang="zh-TW" altLang="zh-TW" sz="1200" b="0" u="none" strike="noStrike" kern="1200" dirty="0">
                <a:solidFill>
                  <a:schemeClr val="tx1"/>
                </a:solidFill>
                <a:effectLst/>
                <a:latin typeface="+mn-lt"/>
                <a:ea typeface="+mn-ea"/>
                <a:cs typeface="+mn-cs"/>
              </a:rPr>
              <a:t>除了上述純軟體庫，NVIDIA 在其頂級架構（如 Grace Hopper GH200 / GB200）中導入了 </a:t>
            </a:r>
            <a:r>
              <a:rPr lang="zh-TW" altLang="zh-TW" sz="1200" b="1" u="none" strike="noStrike" kern="1200" dirty="0">
                <a:solidFill>
                  <a:schemeClr val="tx1"/>
                </a:solidFill>
                <a:effectLst/>
                <a:latin typeface="+mn-lt"/>
                <a:ea typeface="+mn-ea"/>
                <a:cs typeface="+mn-cs"/>
              </a:rPr>
              <a:t>NVLink-C2C</a:t>
            </a:r>
            <a:r>
              <a:rPr lang="zh-TW" altLang="zh-TW" sz="1200" b="0" u="none" strike="noStrike" kern="1200" dirty="0">
                <a:solidFill>
                  <a:schemeClr val="tx1"/>
                </a:solidFill>
                <a:effectLst/>
                <a:latin typeface="+mn-lt"/>
                <a:ea typeface="+mn-ea"/>
                <a:cs typeface="+mn-cs"/>
              </a:rPr>
              <a:t> 技術。這讓軟體可以直接調用 </a:t>
            </a:r>
            <a:r>
              <a:rPr lang="zh-TW" altLang="zh-TW" sz="1200" b="1" u="none" strike="noStrike" kern="1200" dirty="0">
                <a:solidFill>
                  <a:schemeClr val="tx1"/>
                </a:solidFill>
                <a:effectLst/>
                <a:latin typeface="+mn-lt"/>
                <a:ea typeface="+mn-ea"/>
                <a:cs typeface="+mn-cs"/>
              </a:rPr>
              <a:t>Unified Memory (UM)</a:t>
            </a:r>
            <a:r>
              <a:rPr lang="zh-TW" altLang="zh-TW" sz="1200" b="0" u="none" strike="noStrike" kern="1200" dirty="0">
                <a:solidFill>
                  <a:schemeClr val="tx1"/>
                </a:solidFill>
                <a:effectLst/>
                <a:latin typeface="+mn-lt"/>
                <a:ea typeface="+mn-ea"/>
                <a:cs typeface="+mn-cs"/>
              </a:rPr>
              <a:t>，將 CPU 的大容量記憶體與 GPU 顯存融合成同一個記憶體空間。</a:t>
            </a:r>
          </a:p>
          <a:p>
            <a:r>
              <a:rPr lang="zh-TW" altLang="zh-TW" sz="1200" b="0" u="none" strike="noStrike" kern="1200" dirty="0">
                <a:solidFill>
                  <a:schemeClr val="tx1"/>
                </a:solidFill>
                <a:effectLst/>
                <a:latin typeface="+mn-lt"/>
                <a:ea typeface="+mn-ea"/>
                <a:cs typeface="+mn-cs"/>
              </a:rPr>
              <a:t>在前台寫代碼時，優化器（如 AdamW）的狀態與激活值可以自由地在兩者之間自由「流動」與「卸載（Offloading）」，這正是 bitsandbytes 庫中 </a:t>
            </a:r>
            <a:r>
              <a:rPr lang="zh-TW" altLang="zh-TW" sz="1200" b="1" u="none" strike="noStrike" kern="1200" dirty="0">
                <a:solidFill>
                  <a:schemeClr val="tx1"/>
                </a:solidFill>
                <a:effectLst/>
                <a:latin typeface="+mn-lt"/>
                <a:ea typeface="+mn-ea"/>
                <a:cs typeface="+mn-cs"/>
              </a:rPr>
              <a:t>Paged AdamW</a:t>
            </a:r>
            <a:r>
              <a:rPr lang="zh-TW" altLang="zh-TW" sz="1200" b="0" u="none" strike="noStrike" kern="1200" dirty="0">
                <a:solidFill>
                  <a:schemeClr val="tx1"/>
                </a:solidFill>
                <a:effectLst/>
                <a:latin typeface="+mn-lt"/>
                <a:ea typeface="+mn-ea"/>
                <a:cs typeface="+mn-cs"/>
              </a:rPr>
              <a:t> 機制在底層被 NV 官方硬體與驅動完美支援的終極型態。</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286554851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21</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4917C-4D70-6475-414F-A7F6D7E95DA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16150E7-79D9-F597-8A7E-5F858DADF56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96616FD-FA3A-4DCF-3433-4918F60C4FF1}"/>
              </a:ext>
            </a:extLst>
          </p:cNvPr>
          <p:cNvSpPr>
            <a:spLocks noGrp="1"/>
          </p:cNvSpPr>
          <p:nvPr>
            <p:ph type="body" idx="1"/>
          </p:nvPr>
        </p:nvSpPr>
        <p:spPr/>
        <p:txBody>
          <a:bodyPr/>
          <a:lstStyle/>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br>
              <a:rPr lang="en-US" altLang="zh-TW" dirty="0"/>
            </a:br>
            <a:br>
              <a:rPr lang="en-US" altLang="zh-TW" dirty="0"/>
            </a:br>
            <a:r>
              <a:rPr lang="zh-TW" altLang="zh-TW" sz="1200" b="0" u="none" strike="noStrike" kern="1200" dirty="0">
                <a:solidFill>
                  <a:schemeClr val="tx1"/>
                </a:solidFill>
                <a:effectLst/>
                <a:latin typeface="+mn-lt"/>
                <a:ea typeface="+mn-ea"/>
                <a:cs typeface="+mn-cs"/>
              </a:rPr>
              <a:t>在大型語言模型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SFT（監督式微調）</a:t>
            </a:r>
            <a:r>
              <a:rPr lang="zh-TW" altLang="zh-TW" sz="1200" b="0" u="none" strike="noStrike" kern="1200" dirty="0">
                <a:solidFill>
                  <a:schemeClr val="tx1"/>
                </a:solidFill>
                <a:effectLst/>
                <a:latin typeface="+mn-lt"/>
                <a:ea typeface="+mn-ea"/>
                <a:cs typeface="+mn-cs"/>
              </a:rPr>
              <a:t> 的 6 個步驟。</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資料收集與清洗（最關鍵的一步）</a:t>
            </a:r>
          </a:p>
          <a:p>
            <a:r>
              <a:rPr lang="zh-TW" altLang="zh-TW" sz="1200" b="0" u="none" strike="noStrike" kern="1200" dirty="0">
                <a:solidFill>
                  <a:schemeClr val="tx1"/>
                </a:solidFill>
                <a:effectLst/>
                <a:latin typeface="+mn-lt"/>
                <a:ea typeface="+mn-ea"/>
                <a:cs typeface="+mn-cs"/>
              </a:rPr>
              <a:t>SFT 圈內有一句名言：「</a:t>
            </a:r>
            <a:r>
              <a:rPr lang="zh-TW" altLang="zh-TW" sz="1200" b="1" u="none" strike="noStrike" kern="1200" dirty="0">
                <a:solidFill>
                  <a:schemeClr val="tx1"/>
                </a:solidFill>
                <a:effectLst/>
                <a:latin typeface="+mn-lt"/>
                <a:ea typeface="+mn-ea"/>
                <a:cs typeface="+mn-cs"/>
              </a:rPr>
              <a:t>Quality is all you need</a:t>
            </a:r>
            <a:r>
              <a:rPr lang="zh-TW" altLang="zh-TW" sz="1200" b="0" u="none" strike="noStrike" kern="1200" dirty="0">
                <a:solidFill>
                  <a:schemeClr val="tx1"/>
                </a:solidFill>
                <a:effectLst/>
                <a:latin typeface="+mn-lt"/>
                <a:ea typeface="+mn-ea"/>
                <a:cs typeface="+mn-cs"/>
              </a:rPr>
              <a:t>（品質就是一切）」。少量、高質量的資料，效果遠好於大量、有雜訊的資料。</a:t>
            </a:r>
          </a:p>
          <a:p>
            <a:r>
              <a:rPr lang="zh-TW" altLang="zh-TW" sz="1200" b="1" u="none" strike="noStrike" kern="1200" dirty="0">
                <a:solidFill>
                  <a:schemeClr val="tx1"/>
                </a:solidFill>
                <a:effectLst/>
                <a:latin typeface="+mn-lt"/>
                <a:ea typeface="+mn-ea"/>
                <a:cs typeface="+mn-cs"/>
              </a:rPr>
              <a:t>格式標準化</a:t>
            </a:r>
            <a:r>
              <a:rPr lang="zh-TW" altLang="zh-TW" sz="1200" b="0" u="none" strike="noStrike" kern="1200" dirty="0">
                <a:solidFill>
                  <a:schemeClr val="tx1"/>
                </a:solidFill>
                <a:effectLst/>
                <a:latin typeface="+mn-lt"/>
                <a:ea typeface="+mn-ea"/>
                <a:cs typeface="+mn-cs"/>
              </a:rPr>
              <a:t>：將資料轉換為 {"instruction": "...", "input": "...", "output": "..."} 或常見的 Chat 格式（如 OpenAI 的 messages 格式）。</a:t>
            </a:r>
          </a:p>
          <a:p>
            <a:r>
              <a:rPr lang="zh-TW" altLang="zh-TW" sz="1200" b="1" u="none" strike="noStrike" kern="1200" dirty="0">
                <a:solidFill>
                  <a:schemeClr val="tx1"/>
                </a:solidFill>
                <a:effectLst/>
                <a:latin typeface="+mn-lt"/>
                <a:ea typeface="+mn-ea"/>
                <a:cs typeface="+mn-cs"/>
              </a:rPr>
              <a:t>高質量篩選</a:t>
            </a:r>
            <a:r>
              <a:rPr lang="zh-TW" altLang="zh-TW" sz="1200" b="0" u="none" strike="noStrike" kern="1200" dirty="0">
                <a:solidFill>
                  <a:schemeClr val="tx1"/>
                </a:solidFill>
                <a:effectLst/>
                <a:latin typeface="+mn-lt"/>
                <a:ea typeface="+mn-ea"/>
                <a:cs typeface="+mn-cs"/>
              </a:rPr>
              <a:t>：剔除語意不通、回答過短、重複度高、或含有錯誤事實的資料。通常 </a:t>
            </a:r>
            <a:r>
              <a:rPr lang="zh-TW" altLang="zh-TW" sz="1200" b="1" u="none" strike="noStrike" kern="1200" dirty="0">
                <a:solidFill>
                  <a:schemeClr val="tx1"/>
                </a:solidFill>
                <a:effectLst/>
                <a:latin typeface="+mn-lt"/>
                <a:ea typeface="+mn-ea"/>
                <a:cs typeface="+mn-cs"/>
              </a:rPr>
              <a:t>1,000 到 10,000 條</a:t>
            </a:r>
            <a:r>
              <a:rPr lang="zh-TW" altLang="zh-TW" sz="1200" b="0" u="none" strike="noStrike" kern="1200" dirty="0">
                <a:solidFill>
                  <a:schemeClr val="tx1"/>
                </a:solidFill>
                <a:effectLst/>
                <a:latin typeface="+mn-lt"/>
                <a:ea typeface="+mn-ea"/>
                <a:cs typeface="+mn-cs"/>
              </a:rPr>
              <a:t> 高質量對話，就能讓模型有很好的指令遵循能力。</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資料 Tokenization（標記化與遮罩）</a:t>
            </a:r>
          </a:p>
          <a:p>
            <a:r>
              <a:rPr lang="zh-TW" altLang="zh-TW" sz="1200" b="0" u="none" strike="noStrike" kern="1200" dirty="0">
                <a:solidFill>
                  <a:schemeClr val="tx1"/>
                </a:solidFill>
                <a:effectLst/>
                <a:latin typeface="+mn-lt"/>
                <a:ea typeface="+mn-ea"/>
                <a:cs typeface="+mn-cs"/>
              </a:rPr>
              <a:t>將文字轉換為模型看得懂的數字（Tokens），並設定訓練遮罩（Mask）。</a:t>
            </a:r>
          </a:p>
          <a:p>
            <a:r>
              <a:rPr lang="zh-TW" altLang="zh-TW" sz="1200" b="1" u="none" strike="noStrike" kern="1200" dirty="0">
                <a:solidFill>
                  <a:schemeClr val="tx1"/>
                </a:solidFill>
                <a:effectLst/>
                <a:latin typeface="+mn-lt"/>
                <a:ea typeface="+mn-ea"/>
                <a:cs typeface="+mn-cs"/>
              </a:rPr>
              <a:t>長度截斷（Truncation）</a:t>
            </a:r>
            <a:r>
              <a:rPr lang="zh-TW" altLang="zh-TW" sz="1200" b="0" u="none" strike="noStrike" kern="1200" dirty="0">
                <a:solidFill>
                  <a:schemeClr val="tx1"/>
                </a:solidFill>
                <a:effectLst/>
                <a:latin typeface="+mn-lt"/>
                <a:ea typeface="+mn-ea"/>
                <a:cs typeface="+mn-cs"/>
              </a:rPr>
              <a:t>：根據顯存大小與需求，設定最大序列長度（如 2048 或 4096 Tokens）。</a:t>
            </a:r>
          </a:p>
          <a:p>
            <a:r>
              <a:rPr lang="zh-TW" altLang="zh-TW" sz="1200" b="1" u="none" strike="noStrike" kern="1200" dirty="0">
                <a:solidFill>
                  <a:schemeClr val="tx1"/>
                </a:solidFill>
                <a:effectLst/>
                <a:latin typeface="+mn-lt"/>
                <a:ea typeface="+mn-ea"/>
                <a:cs typeface="+mn-cs"/>
              </a:rPr>
              <a:t>計算遮罩（Data Collator）</a:t>
            </a:r>
            <a:r>
              <a:rPr lang="zh-TW" altLang="zh-TW" sz="1200" b="0" u="none" strike="noStrike" kern="1200" dirty="0">
                <a:solidFill>
                  <a:schemeClr val="tx1"/>
                </a:solidFill>
                <a:effectLst/>
                <a:latin typeface="+mn-lt"/>
                <a:ea typeface="+mn-ea"/>
                <a:cs typeface="+mn-cs"/>
              </a:rPr>
              <a:t>：這是 SFT 的特殊之處。在將 Prompt 與 Response 拼接成一條序列時，必須將 Prompt 部分的標籤設為 -100。如此一來，</a:t>
            </a:r>
            <a:r>
              <a:rPr lang="zh-TW" altLang="zh-TW" sz="1200" b="1" u="none" strike="noStrike" kern="1200" dirty="0">
                <a:solidFill>
                  <a:schemeClr val="tx1"/>
                </a:solidFill>
                <a:effectLst/>
                <a:latin typeface="+mn-lt"/>
                <a:ea typeface="+mn-ea"/>
                <a:cs typeface="+mn-cs"/>
              </a:rPr>
              <a:t>模型在計算損失（Loss）時只會對「回答」負責，而不會去預測「問題」</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微調策略選擇（全參數 vs. PEFT）</a:t>
            </a:r>
          </a:p>
          <a:p>
            <a:r>
              <a:rPr lang="zh-TW" altLang="zh-TW" sz="1200" b="0" u="none" strike="noStrike" kern="1200" dirty="0">
                <a:solidFill>
                  <a:schemeClr val="tx1"/>
                </a:solidFill>
                <a:effectLst/>
                <a:latin typeface="+mn-lt"/>
                <a:ea typeface="+mn-ea"/>
                <a:cs typeface="+mn-cs"/>
              </a:rPr>
              <a:t>根據預算與算力（GPU）選擇微調方式：</a:t>
            </a:r>
          </a:p>
          <a:p>
            <a:r>
              <a:rPr lang="zh-TW" altLang="zh-TW" sz="1200" b="1" u="none" strike="noStrike" kern="1200" dirty="0">
                <a:solidFill>
                  <a:schemeClr val="tx1"/>
                </a:solidFill>
                <a:effectLst/>
                <a:latin typeface="+mn-lt"/>
                <a:ea typeface="+mn-ea"/>
                <a:cs typeface="+mn-cs"/>
              </a:rPr>
              <a:t>全參數微調（Full Fine-Tuning）</a:t>
            </a:r>
            <a:r>
              <a:rPr lang="zh-TW" altLang="zh-TW" sz="1200" b="0" u="none" strike="noStrike" kern="1200" dirty="0">
                <a:solidFill>
                  <a:schemeClr val="tx1"/>
                </a:solidFill>
                <a:effectLst/>
                <a:latin typeface="+mn-lt"/>
                <a:ea typeface="+mn-ea"/>
                <a:cs typeface="+mn-cs"/>
              </a:rPr>
              <a:t>：更新模型的所有權重。效果最好、最穩定，但極度消耗顯存，且容易造成模型「災難性遺忘（Catastrophic Forgetting）」。</a:t>
            </a:r>
          </a:p>
          <a:p>
            <a:r>
              <a:rPr lang="zh-TW" altLang="zh-TW" sz="1200" b="1" u="none" strike="noStrike" kern="1200" dirty="0">
                <a:solidFill>
                  <a:schemeClr val="tx1"/>
                </a:solidFill>
                <a:effectLst/>
                <a:latin typeface="+mn-lt"/>
                <a:ea typeface="+mn-ea"/>
                <a:cs typeface="+mn-cs"/>
              </a:rPr>
              <a:t>高效參數微調（PEFT / LoRA / QLoRA）</a:t>
            </a:r>
            <a:r>
              <a:rPr lang="zh-TW" altLang="zh-TW" sz="1200" b="0" u="none" strike="noStrike" kern="1200" dirty="0">
                <a:solidFill>
                  <a:schemeClr val="tx1"/>
                </a:solidFill>
                <a:effectLst/>
                <a:latin typeface="+mn-lt"/>
                <a:ea typeface="+mn-ea"/>
                <a:cs typeface="+mn-cs"/>
              </a:rPr>
              <a:t>：凍結原模型所有參數，只在旁邊外掛小矩陣進行訓練。</a:t>
            </a:r>
            <a:r>
              <a:rPr lang="zh-TW" altLang="zh-TW" sz="1200" b="1" u="none" strike="noStrike" kern="1200" dirty="0">
                <a:solidFill>
                  <a:schemeClr val="tx1"/>
                </a:solidFill>
                <a:effectLst/>
                <a:latin typeface="+mn-lt"/>
                <a:ea typeface="+mn-ea"/>
                <a:cs typeface="+mn-cs"/>
              </a:rPr>
              <a:t>這是目前企業最常用的主流作法</a:t>
            </a:r>
            <a:r>
              <a:rPr lang="zh-TW" altLang="zh-TW" sz="1200" b="0" u="none" strike="noStrike" kern="1200" dirty="0">
                <a:solidFill>
                  <a:schemeClr val="tx1"/>
                </a:solidFill>
                <a:effectLst/>
                <a:latin typeface="+mn-lt"/>
                <a:ea typeface="+mn-ea"/>
                <a:cs typeface="+mn-cs"/>
              </a:rPr>
              <a:t>，能節省 70% 以上的顯存，且單張消費級顯卡（如 RTX 4090）即可執行。</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超參數配置與模型訓練</a:t>
            </a:r>
          </a:p>
          <a:p>
            <a:r>
              <a:rPr lang="zh-TW" altLang="zh-TW" sz="1200" b="0" u="none" strike="noStrike" kern="1200" dirty="0">
                <a:solidFill>
                  <a:schemeClr val="tx1"/>
                </a:solidFill>
                <a:effectLst/>
                <a:latin typeface="+mn-lt"/>
                <a:ea typeface="+mn-ea"/>
                <a:cs typeface="+mn-cs"/>
              </a:rPr>
              <a:t>啟動訓練腳本（通常使用 Hugging Face TRL 庫中的 SFTTrainer 或 LLaMA-Factory 框架）。常見的基礎超參數配置如下：</a:t>
            </a:r>
          </a:p>
          <a:p>
            <a:r>
              <a:rPr lang="zh-TW" altLang="zh-TW" sz="1200" b="1" u="none" strike="noStrike" kern="1200" dirty="0">
                <a:solidFill>
                  <a:schemeClr val="tx1"/>
                </a:solidFill>
                <a:effectLst/>
                <a:latin typeface="+mn-lt"/>
                <a:ea typeface="+mn-ea"/>
                <a:cs typeface="+mn-cs"/>
              </a:rPr>
              <a:t>學習率（Learning Rate）</a:t>
            </a:r>
            <a:r>
              <a:rPr lang="zh-TW" altLang="zh-TW" sz="1200" b="0" u="none" strike="noStrike" kern="1200" dirty="0">
                <a:solidFill>
                  <a:schemeClr val="tx1"/>
                </a:solidFill>
                <a:effectLst/>
                <a:latin typeface="+mn-lt"/>
                <a:ea typeface="+mn-ea"/>
                <a:cs typeface="+mn-cs"/>
              </a:rPr>
              <a:t>：通常設得很小，全參數約 1e-5 到 2e-5；LoRA 則可設為 1e-4 到 2e-4。</a:t>
            </a:r>
          </a:p>
          <a:p>
            <a:r>
              <a:rPr lang="zh-TW" altLang="zh-TW" sz="1200" b="1" u="none" strike="noStrike" kern="1200" dirty="0">
                <a:solidFill>
                  <a:schemeClr val="tx1"/>
                </a:solidFill>
                <a:effectLst/>
                <a:latin typeface="+mn-lt"/>
                <a:ea typeface="+mn-ea"/>
                <a:cs typeface="+mn-cs"/>
              </a:rPr>
              <a:t>Epochs（訓練輪數）</a:t>
            </a:r>
            <a:r>
              <a:rPr lang="zh-TW" altLang="zh-TW" sz="1200" b="0" u="none" strike="noStrike" kern="1200" dirty="0">
                <a:solidFill>
                  <a:schemeClr val="tx1"/>
                </a:solidFill>
                <a:effectLst/>
                <a:latin typeface="+mn-lt"/>
                <a:ea typeface="+mn-ea"/>
                <a:cs typeface="+mn-cs"/>
              </a:rPr>
              <a:t>：一般只需要 </a:t>
            </a:r>
            <a:r>
              <a:rPr lang="zh-TW" altLang="zh-TW" sz="1200" b="1" u="none" strike="noStrike" kern="1200" dirty="0">
                <a:solidFill>
                  <a:schemeClr val="tx1"/>
                </a:solidFill>
                <a:effectLst/>
                <a:latin typeface="+mn-lt"/>
                <a:ea typeface="+mn-ea"/>
                <a:cs typeface="+mn-cs"/>
              </a:rPr>
              <a:t>1 到 3 個 Epochs</a:t>
            </a:r>
            <a:r>
              <a:rPr lang="zh-TW" altLang="zh-TW" sz="1200" b="0" u="none" strike="noStrike" kern="1200" dirty="0">
                <a:solidFill>
                  <a:schemeClr val="tx1"/>
                </a:solidFill>
                <a:effectLst/>
                <a:latin typeface="+mn-lt"/>
                <a:ea typeface="+mn-ea"/>
                <a:cs typeface="+mn-cs"/>
              </a:rPr>
              <a:t>。過多的輪數會導致模型過擬合（Overfitting），死記硬背訓練集，失去泛化能力。</a:t>
            </a:r>
          </a:p>
          <a:p>
            <a:r>
              <a:rPr lang="zh-TW" altLang="zh-TW" sz="1200" b="1" u="none" strike="noStrike" kern="1200" dirty="0">
                <a:solidFill>
                  <a:schemeClr val="tx1"/>
                </a:solidFill>
                <a:effectLst/>
                <a:latin typeface="+mn-lt"/>
                <a:ea typeface="+mn-ea"/>
                <a:cs typeface="+mn-cs"/>
              </a:rPr>
              <a:t>Batch Size</a:t>
            </a:r>
            <a:r>
              <a:rPr lang="zh-TW" altLang="zh-TW" sz="1200" b="0" u="none" strike="noStrike" kern="1200" dirty="0">
                <a:solidFill>
                  <a:schemeClr val="tx1"/>
                </a:solidFill>
                <a:effectLst/>
                <a:latin typeface="+mn-lt"/>
                <a:ea typeface="+mn-ea"/>
                <a:cs typeface="+mn-cs"/>
              </a:rPr>
              <a:t>：透過 Gradient Accumulation Steps（梯度累積）來變相放大 Batch Size，確保訓練穩定。</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5. 訓練監控（Loss 觀察）</a:t>
            </a:r>
          </a:p>
          <a:p>
            <a:r>
              <a:rPr lang="zh-TW" altLang="zh-TW" sz="1200" b="1" u="none" strike="noStrike" kern="1200" dirty="0">
                <a:solidFill>
                  <a:schemeClr val="tx1"/>
                </a:solidFill>
                <a:effectLst/>
                <a:latin typeface="+mn-lt"/>
                <a:ea typeface="+mn-ea"/>
                <a:cs typeface="+mn-cs"/>
              </a:rPr>
              <a:t>看指標</a:t>
            </a:r>
            <a:r>
              <a:rPr lang="zh-TW" altLang="zh-TW" sz="1200" b="0" u="none" strike="noStrike" kern="1200" dirty="0">
                <a:solidFill>
                  <a:schemeClr val="tx1"/>
                </a:solidFill>
                <a:effectLst/>
                <a:latin typeface="+mn-lt"/>
                <a:ea typeface="+mn-ea"/>
                <a:cs typeface="+mn-cs"/>
              </a:rPr>
              <a:t>：密切注意 </a:t>
            </a:r>
            <a:r>
              <a:rPr lang="zh-TW" altLang="zh-TW" sz="1200" b="1" u="none" strike="noStrike" kern="1200" dirty="0">
                <a:solidFill>
                  <a:schemeClr val="tx1"/>
                </a:solidFill>
                <a:effectLst/>
                <a:latin typeface="+mn-lt"/>
                <a:ea typeface="+mn-ea"/>
                <a:cs typeface="+mn-cs"/>
              </a:rPr>
              <a:t>Training Loss</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Validation Loss</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黃金曲線</a:t>
            </a:r>
            <a:r>
              <a:rPr lang="zh-TW" altLang="zh-TW" sz="1200" b="0" u="none" strike="noStrike" kern="1200" dirty="0">
                <a:solidFill>
                  <a:schemeClr val="tx1"/>
                </a:solidFill>
                <a:effectLst/>
                <a:latin typeface="+mn-lt"/>
                <a:ea typeface="+mn-ea"/>
                <a:cs typeface="+mn-cs"/>
              </a:rPr>
              <a:t>：理想的 SFT Loss 曲線應該是平滑下降，最後收斂在一個合理區間（通常在 1.0 上下，取決於資料集）。如果 Validation Loss 開始反彈上升，說明模型已經過擬合，必須提前終止訓練（Early Stopping）。</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6. 模型評估與部署（Evaluation）</a:t>
            </a:r>
          </a:p>
          <a:p>
            <a:r>
              <a:rPr lang="zh-TW" altLang="zh-TW" sz="1200" b="1" u="none" strike="noStrike" kern="1200" dirty="0">
                <a:solidFill>
                  <a:schemeClr val="tx1"/>
                </a:solidFill>
                <a:effectLst/>
                <a:latin typeface="+mn-lt"/>
                <a:ea typeface="+mn-ea"/>
                <a:cs typeface="+mn-cs"/>
              </a:rPr>
              <a:t>自動化評估</a:t>
            </a:r>
            <a:r>
              <a:rPr lang="zh-TW" altLang="zh-TW" sz="1200" b="0" u="none" strike="noStrike" kern="1200" dirty="0">
                <a:solidFill>
                  <a:schemeClr val="tx1"/>
                </a:solidFill>
                <a:effectLst/>
                <a:latin typeface="+mn-lt"/>
                <a:ea typeface="+mn-ea"/>
                <a:cs typeface="+mn-cs"/>
              </a:rPr>
              <a:t>：使用測試集（模型沒看過的資料）讓模型回答，並利用大模型（如 GPT-4）進行打分（LLM-as-a-Judge），或使用常識能力基準（如 MMLU、GSM8K）確保模型沒有變笨。</a:t>
            </a:r>
          </a:p>
          <a:p>
            <a:r>
              <a:rPr lang="zh-TW" altLang="zh-TW" sz="1200" b="1" u="none" strike="noStrike" kern="1200" dirty="0">
                <a:solidFill>
                  <a:schemeClr val="tx1"/>
                </a:solidFill>
                <a:effectLst/>
                <a:latin typeface="+mn-lt"/>
                <a:ea typeface="+mn-ea"/>
                <a:cs typeface="+mn-cs"/>
              </a:rPr>
              <a:t>人工盲測（Side-by-Side）</a:t>
            </a:r>
            <a:r>
              <a:rPr lang="zh-TW" altLang="zh-TW" sz="1200" b="0" u="none" strike="noStrike" kern="1200" dirty="0">
                <a:solidFill>
                  <a:schemeClr val="tx1"/>
                </a:solidFill>
                <a:effectLst/>
                <a:latin typeface="+mn-lt"/>
                <a:ea typeface="+mn-ea"/>
                <a:cs typeface="+mn-cs"/>
              </a:rPr>
              <a:t>：由人類專家直接對比「微調前」與「微調後」的回答，確認語氣、格式、業務邏輯是否完全對齊目標。</a:t>
            </a:r>
          </a:p>
          <a:p>
            <a:r>
              <a:rPr lang="zh-TW" altLang="zh-TW" sz="1200" b="1" u="none" strike="noStrike" kern="1200" dirty="0">
                <a:solidFill>
                  <a:schemeClr val="tx1"/>
                </a:solidFill>
                <a:effectLst/>
                <a:latin typeface="+mn-lt"/>
                <a:ea typeface="+mn-ea"/>
                <a:cs typeface="+mn-cs"/>
              </a:rPr>
              <a:t>權重合併</a:t>
            </a:r>
            <a:r>
              <a:rPr lang="zh-TW" altLang="zh-TW" sz="1200" b="0" u="none" strike="noStrike" kern="1200" dirty="0">
                <a:solidFill>
                  <a:schemeClr val="tx1"/>
                </a:solidFill>
                <a:effectLst/>
                <a:latin typeface="+mn-lt"/>
                <a:ea typeface="+mn-ea"/>
                <a:cs typeface="+mn-cs"/>
              </a:rPr>
              <a:t>：如果使用 LoRA，評估通過後需要將 LoRA 的小矩陣權重與原始 Base 模型合併（Merge），並導出為通用格式（如 Hugging Face 或 GGUF 格式）以便下游部署。</a:t>
            </a:r>
          </a:p>
        </p:txBody>
      </p:sp>
      <p:sp>
        <p:nvSpPr>
          <p:cNvPr id="4" name="投影片編號版面配置區 3">
            <a:extLst>
              <a:ext uri="{FF2B5EF4-FFF2-40B4-BE49-F238E27FC236}">
                <a16:creationId xmlns:a16="http://schemas.microsoft.com/office/drawing/2014/main" id="{5DF44375-662C-F098-7B49-BC0BFB70ABD5}"/>
              </a:ext>
            </a:extLst>
          </p:cNvPr>
          <p:cNvSpPr>
            <a:spLocks noGrp="1"/>
          </p:cNvSpPr>
          <p:nvPr>
            <p:ph type="sldNum" sz="quarter" idx="5"/>
          </p:nvPr>
        </p:nvSpPr>
        <p:spPr/>
        <p:txBody>
          <a:bodyPr/>
          <a:lstStyle/>
          <a:p>
            <a:fld id="{E3A6CE5E-F349-486D-8749-82EF2AD71FA8}" type="slidenum">
              <a:rPr lang="zh-TW" altLang="en-US" smtClean="0"/>
              <a:t>23</a:t>
            </a:fld>
            <a:endParaRPr lang="zh-TW" altLang="en-US"/>
          </a:p>
        </p:txBody>
      </p:sp>
    </p:spTree>
    <p:extLst>
      <p:ext uri="{BB962C8B-B14F-4D97-AF65-F5344CB8AC3E}">
        <p14:creationId xmlns:p14="http://schemas.microsoft.com/office/powerpoint/2010/main" val="310436710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fontAlgn="base"/>
            <a:r>
              <a:rPr lang="zh-TW" altLang="zh-TW" sz="1200" b="0" i="0" kern="1200" dirty="0">
                <a:solidFill>
                  <a:schemeClr val="tx1"/>
                </a:solidFill>
                <a:effectLst/>
                <a:latin typeface="+mn-lt"/>
                <a:ea typeface="+mn-ea"/>
                <a:cs typeface="+mn-cs"/>
              </a:rPr>
              <a:t>MCP 協定的運作核心在於三大架構的合作：主機（Host）、客戶端（Client） 與伺服器（Server）。這三者就如同 AI 任務中的指揮官、聯絡人與執行單位，讓 AI 助理（AI agent）得以安全、即時地連接外部資訊。</a:t>
            </a:r>
          </a:p>
          <a:p>
            <a:pPr fontAlgn="base"/>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主機（MCP Host）：指揮中心</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主機通常是 AI 應用本身，例如 Claude Desktop, IDEs, 或是其他需要透過 MCP 存取資料的 AI 工具。它負責發出請求、定義任務，可以把它想像為一名總指揮，指派 AI 查詢資料、存取文件或啟用工具。</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客戶端（MCP Client）：溝通橋梁</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客戶端扮演主機與伺服器之間的溝通媒介，負責將主機的指令準確的轉交給伺服器處理，並將伺服器回傳的結果送回主機，MCP 主機會執行一個或多個 MCP 客戶端，並與 MCP 伺服器進行一對一連結。同時有身份驗證的功能，維持系統通訊的安全性與穩定性。</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伺服器（MCP Server）：任務執行者</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伺服器的任務是將電腦內的功能（像是資料庫查詢、檔案讀寫、網頁操作）透過一組標準化的指令對外公開。當主機透過 MCP 發出指令時，伺服器就會依據這些指令執行操作，並將結果回傳。</a:t>
            </a:r>
          </a:p>
          <a:p>
            <a:endParaRPr lang="en-US" altLang="zh-TW" dirty="0"/>
          </a:p>
          <a:p>
            <a:pPr>
              <a:lnSpc>
                <a:spcPts val="1800"/>
              </a:lnSpc>
              <a:spcBef>
                <a:spcPts val="600"/>
              </a:spcBef>
              <a:spcAft>
                <a:spcPts val="600"/>
              </a:spcAft>
              <a:buNone/>
            </a:pPr>
            <a:r>
              <a:rPr lang="en-US" altLang="zh-TW" sz="1600" b="1" u="none" strike="noStrike" dirty="0">
                <a:effectLst/>
              </a:rPr>
              <a:t>AI Model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lang="en-US" altLang="zh-TW" sz="1200" b="1" dirty="0">
                <a:solidFill>
                  <a:prstClr val="black"/>
                </a:solidFill>
                <a:latin typeface="+mn-lt"/>
                <a:ea typeface="+mn-ea"/>
              </a:rPr>
              <a:t>-</a:t>
            </a:r>
            <a:r>
              <a:rPr lang="zh-TW" altLang="en-US" sz="1200" b="1" dirty="0">
                <a:solidFill>
                  <a:prstClr val="black"/>
                </a:solidFill>
                <a:latin typeface="+mn-lt"/>
                <a:ea typeface="+mn-ea"/>
              </a:rPr>
              <a:t> </a:t>
            </a:r>
            <a:r>
              <a:rPr lang="en-US" altLang="zh-TW" sz="1200" b="1" dirty="0">
                <a:solidFill>
                  <a:prstClr val="black"/>
                </a:solidFill>
                <a:latin typeface="+mn-lt"/>
                <a:ea typeface="+mn-ea"/>
              </a:rPr>
              <a:t>GPT Generated Unify Format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GGUF)</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LLM file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a:t>
            </a:r>
            <a:r>
              <a:rPr kumimoji="0" lang="zh-TW" altLang="en-US" sz="1200" b="1" i="0" u="none" strike="noStrike" kern="1200" cap="none" spc="0" normalizeH="0" baseline="0" noProof="0" dirty="0">
                <a:ln>
                  <a:noFill/>
                </a:ln>
                <a:solidFill>
                  <a:prstClr val="black"/>
                </a:solidFill>
                <a:effectLst/>
                <a:uLnTx/>
                <a:uFillTx/>
                <a:latin typeface="+mn-lt"/>
                <a:ea typeface="+mn-ea"/>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Open Neuro Network eXchange (ONNX): </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AI model file format</a:t>
            </a:r>
            <a:r>
              <a:rPr lang="en-US" altLang="zh-TW" sz="1200" dirty="0">
                <a:solidFill>
                  <a:prstClr val="black"/>
                </a:solidFill>
                <a:latin typeface="+mn-lt"/>
                <a:ea typeface="+mn-ea"/>
              </a:rPr>
              <a:t>, for example YOLO.</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24</a:t>
            </a:fld>
            <a:endParaRPr lang="zh-TW" altLang="en-US"/>
          </a:p>
        </p:txBody>
      </p:sp>
    </p:spTree>
    <p:extLst>
      <p:ext uri="{BB962C8B-B14F-4D97-AF65-F5344CB8AC3E}">
        <p14:creationId xmlns:p14="http://schemas.microsoft.com/office/powerpoint/2010/main" val="223754641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25</a:t>
            </a:fld>
            <a:endParaRPr lang="zh-TW" altLang="en-US"/>
          </a:p>
        </p:txBody>
      </p:sp>
    </p:spTree>
    <p:extLst>
      <p:ext uri="{BB962C8B-B14F-4D97-AF65-F5344CB8AC3E}">
        <p14:creationId xmlns:p14="http://schemas.microsoft.com/office/powerpoint/2010/main" val="212470832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81A17-90A7-9331-3F44-AE3CEE56DC9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5054187F-DC36-B286-6A5E-3E08FF7E435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273D078-FC4B-EEEB-EC56-F89C13CBA973}"/>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5DF597F-45FE-5CE4-D640-6655A52604B9}"/>
              </a:ext>
            </a:extLst>
          </p:cNvPr>
          <p:cNvSpPr>
            <a:spLocks noGrp="1"/>
          </p:cNvSpPr>
          <p:nvPr>
            <p:ph type="sldNum" sz="quarter" idx="5"/>
          </p:nvPr>
        </p:nvSpPr>
        <p:spPr/>
        <p:txBody>
          <a:bodyPr/>
          <a:lstStyle/>
          <a:p>
            <a:fld id="{E3A6CE5E-F349-486D-8749-82EF2AD71FA8}" type="slidenum">
              <a:rPr lang="zh-TW" altLang="en-US" smtClean="0"/>
              <a:t>26</a:t>
            </a:fld>
            <a:endParaRPr lang="zh-TW" altLang="en-US"/>
          </a:p>
        </p:txBody>
      </p:sp>
    </p:spTree>
    <p:extLst>
      <p:ext uri="{BB962C8B-B14F-4D97-AF65-F5344CB8AC3E}">
        <p14:creationId xmlns:p14="http://schemas.microsoft.com/office/powerpoint/2010/main" val="406927544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FA828-BB81-20B9-F8FF-D51EE5A55667}"/>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1EB7EF0-23BF-7613-C8F0-A77854388CC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1DE388F-6C85-7B21-1F63-CC5157628DD4}"/>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我們可以從以下四個最關鍵的維度，來看各個推理引擎的本質差異：</a:t>
            </a:r>
          </a:p>
          <a:p>
            <a:r>
              <a:rPr lang="zh-TW" altLang="zh-TW" sz="1200" b="1" u="none" strike="noStrike" kern="1200" dirty="0">
                <a:solidFill>
                  <a:schemeClr val="tx1"/>
                </a:solidFill>
                <a:effectLst/>
                <a:latin typeface="+mn-lt"/>
                <a:ea typeface="+mn-ea"/>
                <a:cs typeface="+mn-cs"/>
              </a:rPr>
              <a:t>1. 速度與吞吐量（Throughput）的巨大落差</a:t>
            </a:r>
          </a:p>
          <a:p>
            <a:r>
              <a:rPr lang="zh-TW" altLang="zh-TW" sz="1200" b="1" u="none" strike="noStrike" kern="1200" dirty="0">
                <a:solidFill>
                  <a:schemeClr val="tx1"/>
                </a:solidFill>
                <a:effectLst/>
                <a:latin typeface="+mn-lt"/>
                <a:ea typeface="+mn-ea"/>
                <a:cs typeface="+mn-cs"/>
              </a:rPr>
              <a:t>vLLM / SGLang（API 伺服器之王</a:t>
            </a:r>
            <a:r>
              <a:rPr lang="en-US" altLang="zh-TW" sz="1200" b="1"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內建 </a:t>
            </a:r>
            <a:r>
              <a:rPr lang="zh-TW" altLang="zh-TW" sz="1200" b="1" u="none" strike="noStrike" kern="1200" dirty="0">
                <a:solidFill>
                  <a:schemeClr val="tx1"/>
                </a:solidFill>
                <a:effectLst/>
                <a:latin typeface="+mn-lt"/>
                <a:ea typeface="+mn-ea"/>
                <a:cs typeface="+mn-cs"/>
              </a:rPr>
              <a:t>PagedAttention</a:t>
            </a:r>
            <a:r>
              <a:rPr lang="zh-TW" altLang="zh-TW" sz="1200" b="0" u="none" strike="noStrike" kern="1200" dirty="0">
                <a:solidFill>
                  <a:schemeClr val="tx1"/>
                </a:solidFill>
                <a:effectLst/>
                <a:latin typeface="+mn-lt"/>
                <a:ea typeface="+mn-ea"/>
                <a:cs typeface="+mn-cs"/>
              </a:rPr>
              <a:t> 技術</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專為「多人同時使用」設計</a:t>
            </a:r>
            <a:r>
              <a:rPr lang="en-US" altLang="zh-TW" sz="1200" b="0"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llama.cpp</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單機之王</a:t>
            </a:r>
            <a:r>
              <a:rPr lang="en-US" altLang="zh-TW" sz="1200" b="1"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它沒有高併發優化，如果 100 個人同時連進來，它會排隊排到天荒地老。但如果是「你一個人」在電腦前用，</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Time-to-First-Token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非常快。</a:t>
            </a:r>
          </a:p>
          <a:p>
            <a:r>
              <a:rPr lang="zh-TW" altLang="zh-TW" sz="1200" b="1" u="none" strike="noStrike" kern="1200" dirty="0">
                <a:solidFill>
                  <a:schemeClr val="tx1"/>
                </a:solidFill>
                <a:effectLst/>
                <a:latin typeface="+mn-lt"/>
                <a:ea typeface="+mn-ea"/>
                <a:cs typeface="+mn-cs"/>
              </a:rPr>
              <a:t>2. 硬體支援度</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底層優化對象</a:t>
            </a:r>
            <a:r>
              <a:rPr lang="en-US" altLang="zh-TW" sz="1200" b="1" u="none" strike="noStrike" kern="1200" dirty="0">
                <a:solidFill>
                  <a:schemeClr val="tx1"/>
                </a:solidFill>
                <a:effectLst/>
                <a:latin typeface="+mn-lt"/>
                <a:ea typeface="+mn-ea"/>
                <a:cs typeface="+mn-cs"/>
              </a:rPr>
              <a:t>)</a:t>
            </a:r>
            <a:endParaRPr lang="zh-TW"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TensorRT-LLM</a:t>
            </a:r>
            <a:r>
              <a:rPr lang="zh-TW" altLang="zh-TW" sz="1200" b="0" u="none" strike="noStrike" kern="1200" dirty="0">
                <a:solidFill>
                  <a:schemeClr val="tx1"/>
                </a:solidFill>
                <a:effectLst/>
                <a:latin typeface="+mn-lt"/>
                <a:ea typeface="+mn-ea"/>
                <a:cs typeface="+mn-cs"/>
              </a:rPr>
              <a:t>：這是 Nvidia 官方的硬體作弊外掛。它會把 Llama 的矩陣乘法，直接編譯成特定 GPU（如 A100 或 RTX 4090）的最底層硬體指令</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是所有引擎中最快的</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llama.cpp / Ollama</a:t>
            </a:r>
            <a:r>
              <a:rPr lang="zh-TW" altLang="zh-TW" sz="1200" b="0" u="none" strike="noStrike" kern="1200" dirty="0">
                <a:solidFill>
                  <a:schemeClr val="tx1"/>
                </a:solidFill>
                <a:effectLst/>
                <a:latin typeface="+mn-lt"/>
                <a:ea typeface="+mn-ea"/>
                <a:cs typeface="+mn-cs"/>
              </a:rPr>
              <a:t>：主打「什麼硬體都能跑」。它的底層是用 C++ 寫的，對 Apple Silicon的神經網路引擎和記憶體頻寬做了神級優化。</a:t>
            </a:r>
          </a:p>
          <a:p>
            <a:r>
              <a:rPr lang="zh-TW" altLang="zh-TW" sz="1200" b="1" u="none" strike="noStrike" kern="1200" dirty="0">
                <a:solidFill>
                  <a:schemeClr val="tx1"/>
                </a:solidFill>
                <a:effectLst/>
                <a:latin typeface="+mn-lt"/>
                <a:ea typeface="+mn-ea"/>
                <a:cs typeface="+mn-cs"/>
              </a:rPr>
              <a:t>OpenVINO</a:t>
            </a:r>
            <a:r>
              <a:rPr lang="zh-TW" altLang="zh-TW" sz="1200" b="0" u="none" strike="noStrike" kern="1200" dirty="0">
                <a:solidFill>
                  <a:schemeClr val="tx1"/>
                </a:solidFill>
                <a:effectLst/>
                <a:latin typeface="+mn-lt"/>
                <a:ea typeface="+mn-ea"/>
                <a:cs typeface="+mn-cs"/>
              </a:rPr>
              <a:t>：這是 Intel 的專屬引擎，專門把 Llama 優化在 Intel Xeon 處理器、Intel Ultra 筆電晶片或 Arc 顯卡上執行。</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動態外掛（Multi-LoRA）的支援能力</a:t>
            </a:r>
          </a:p>
          <a:p>
            <a:r>
              <a:rPr lang="zh-TW" altLang="zh-TW" sz="1200" b="0" u="none" strike="noStrike" kern="1200" dirty="0">
                <a:solidFill>
                  <a:schemeClr val="tx1"/>
                </a:solidFill>
                <a:effectLst/>
                <a:latin typeface="+mn-lt"/>
                <a:ea typeface="+mn-ea"/>
                <a:cs typeface="+mn-cs"/>
              </a:rPr>
              <a:t>如果你微調了好多個不同功能的 LoRA 外掛（例如一個負責寫信、一個負責寫程式、一個負責客服）：</a:t>
            </a:r>
          </a:p>
          <a:p>
            <a:r>
              <a:rPr lang="zh-TW" altLang="zh-TW" sz="1200" b="1" u="none" strike="noStrike" kern="1200" dirty="0">
                <a:solidFill>
                  <a:schemeClr val="tx1"/>
                </a:solidFill>
                <a:effectLst/>
                <a:latin typeface="+mn-lt"/>
                <a:ea typeface="+mn-ea"/>
                <a:cs typeface="+mn-cs"/>
              </a:rPr>
              <a:t>vLLM / SGLang</a:t>
            </a:r>
            <a:r>
              <a:rPr lang="zh-TW" altLang="zh-TW" sz="1200" b="0" u="none" strike="noStrike" kern="1200" dirty="0">
                <a:solidFill>
                  <a:schemeClr val="tx1"/>
                </a:solidFill>
                <a:effectLst/>
                <a:latin typeface="+mn-lt"/>
                <a:ea typeface="+mn-ea"/>
                <a:cs typeface="+mn-cs"/>
              </a:rPr>
              <a:t>：支援 </a:t>
            </a:r>
            <a:r>
              <a:rPr lang="zh-TW" altLang="zh-TW" sz="1200" b="1" u="none" strike="noStrike" kern="1200" dirty="0">
                <a:solidFill>
                  <a:schemeClr val="tx1"/>
                </a:solidFill>
                <a:effectLst/>
                <a:latin typeface="+mn-lt"/>
                <a:ea typeface="+mn-ea"/>
                <a:cs typeface="+mn-cs"/>
              </a:rPr>
              <a:t>「動態熱插拔 Multi-LoRA」</a:t>
            </a:r>
            <a:r>
              <a:rPr lang="zh-TW" altLang="zh-TW" sz="1200" b="0" u="none" strike="noStrike" kern="1200" dirty="0">
                <a:solidFill>
                  <a:schemeClr val="tx1"/>
                </a:solidFill>
                <a:effectLst/>
                <a:latin typeface="+mn-lt"/>
                <a:ea typeface="+mn-ea"/>
                <a:cs typeface="+mn-cs"/>
              </a:rPr>
              <a:t>。伺服器記憶體裡只需要載入一個 Llama 基底模型，當 A 請求需要客服、B 請求需要寫程式時，引擎可以在微秒等級內動態切換計算圖分支。</a:t>
            </a:r>
          </a:p>
          <a:p>
            <a:r>
              <a:rPr lang="zh-TW" altLang="zh-TW" sz="1200" b="1" u="none" strike="noStrike" kern="1200" dirty="0">
                <a:solidFill>
                  <a:schemeClr val="tx1"/>
                </a:solidFill>
                <a:effectLst/>
                <a:latin typeface="+mn-lt"/>
                <a:ea typeface="+mn-ea"/>
                <a:cs typeface="+mn-cs"/>
              </a:rPr>
              <a:t>Ollama / 傳統引擎</a:t>
            </a:r>
            <a:r>
              <a:rPr lang="zh-TW" altLang="zh-TW" sz="1200" b="0" u="none" strike="noStrike" kern="1200" dirty="0">
                <a:solidFill>
                  <a:schemeClr val="tx1"/>
                </a:solidFill>
                <a:effectLst/>
                <a:latin typeface="+mn-lt"/>
                <a:ea typeface="+mn-ea"/>
                <a:cs typeface="+mn-cs"/>
              </a:rPr>
              <a:t>：通常不支援或支援得很差。你可能必須為了客服開一個 15GB 的模型服務，為了寫程式又開另一個 15GB 的模型服務，極度浪費顯存（VRAM）。</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功能性與生態系（開發便利度）</a:t>
            </a:r>
          </a:p>
          <a:p>
            <a:r>
              <a:rPr lang="zh-TW" altLang="zh-TW" sz="1200" b="1" u="none" strike="noStrike" kern="1200" dirty="0">
                <a:solidFill>
                  <a:schemeClr val="tx1"/>
                </a:solidFill>
                <a:effectLst/>
                <a:latin typeface="+mn-lt"/>
                <a:ea typeface="+mn-ea"/>
                <a:cs typeface="+mn-cs"/>
              </a:rPr>
              <a:t>Ollama</a:t>
            </a:r>
            <a:r>
              <a:rPr lang="zh-TW" altLang="zh-TW" sz="1200" b="0" u="none" strike="noStrike" kern="1200" dirty="0">
                <a:solidFill>
                  <a:schemeClr val="tx1"/>
                </a:solidFill>
                <a:effectLst/>
                <a:latin typeface="+mn-lt"/>
                <a:ea typeface="+mn-ea"/>
                <a:cs typeface="+mn-cs"/>
              </a:rPr>
              <a:t>：主打「零設定」。它把複雜的編譯、權重載入、硬體分配全部包裝起來。</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SGLang</a:t>
            </a:r>
            <a:r>
              <a:rPr lang="zh-TW" altLang="zh-TW" sz="1200" b="0" u="none" strike="noStrike" kern="1200" dirty="0">
                <a:solidFill>
                  <a:schemeClr val="tx1"/>
                </a:solidFill>
                <a:effectLst/>
                <a:latin typeface="+mn-lt"/>
                <a:ea typeface="+mn-ea"/>
                <a:cs typeface="+mn-cs"/>
              </a:rPr>
              <a:t>：主打「複雜 Prompt 與 Agent 加速」。SGLang 的 </a:t>
            </a:r>
            <a:r>
              <a:rPr lang="zh-TW" altLang="zh-TW" sz="1200" b="1" u="none" strike="noStrike" kern="1200" dirty="0">
                <a:solidFill>
                  <a:schemeClr val="tx1"/>
                </a:solidFill>
                <a:effectLst/>
                <a:latin typeface="+mn-lt"/>
                <a:ea typeface="+mn-ea"/>
                <a:cs typeface="+mn-cs"/>
              </a:rPr>
              <a:t>RadixAttention</a:t>
            </a:r>
            <a:r>
              <a:rPr lang="zh-TW" altLang="zh-TW" sz="1200" b="0" u="none" strike="noStrike" kern="1200" dirty="0">
                <a:solidFill>
                  <a:schemeClr val="tx1"/>
                </a:solidFill>
                <a:effectLst/>
                <a:latin typeface="+mn-lt"/>
                <a:ea typeface="+mn-ea"/>
                <a:cs typeface="+mn-cs"/>
              </a:rPr>
              <a:t> 技術會把那些重複的系統提示詞（System Prompt）永遠快取在顯存裡。</a:t>
            </a:r>
          </a:p>
          <a:p>
            <a:br>
              <a:rPr lang="zh-TW" altLang="zh-TW" dirty="0"/>
            </a:br>
            <a:endParaRPr lang="zh-TW" altLang="zh-TW" dirty="0"/>
          </a:p>
          <a:p>
            <a:endParaRPr lang="zh-TW" altLang="en-US" dirty="0"/>
          </a:p>
        </p:txBody>
      </p:sp>
      <p:sp>
        <p:nvSpPr>
          <p:cNvPr id="4" name="投影片編號版面配置區 3">
            <a:extLst>
              <a:ext uri="{FF2B5EF4-FFF2-40B4-BE49-F238E27FC236}">
                <a16:creationId xmlns:a16="http://schemas.microsoft.com/office/drawing/2014/main" id="{F5C79EC1-ECFE-2D05-74F8-6C0BB1DEFB38}"/>
              </a:ext>
            </a:extLst>
          </p:cNvPr>
          <p:cNvSpPr>
            <a:spLocks noGrp="1"/>
          </p:cNvSpPr>
          <p:nvPr>
            <p:ph type="sldNum" sz="quarter" idx="5"/>
          </p:nvPr>
        </p:nvSpPr>
        <p:spPr/>
        <p:txBody>
          <a:bodyPr/>
          <a:lstStyle/>
          <a:p>
            <a:fld id="{E3A6CE5E-F349-486D-8749-82EF2AD71FA8}" type="slidenum">
              <a:rPr lang="zh-TW" altLang="en-US" smtClean="0"/>
              <a:t>28</a:t>
            </a:fld>
            <a:endParaRPr lang="zh-TW" altLang="en-US"/>
          </a:p>
        </p:txBody>
      </p:sp>
    </p:spTree>
    <p:extLst>
      <p:ext uri="{BB962C8B-B14F-4D97-AF65-F5344CB8AC3E}">
        <p14:creationId xmlns:p14="http://schemas.microsoft.com/office/powerpoint/2010/main" val="102420787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（從「規模驅動」走向「品質核心」的創新）</a:t>
            </a:r>
            <a:r>
              <a:rPr lang="en-US" altLang="zh-TW" sz="1200" b="0" u="none" strike="noStrike" kern="1200" dirty="0">
                <a:solidFill>
                  <a:schemeClr val="tx1"/>
                </a:solidFill>
                <a:effectLst/>
                <a:latin typeface="+mn-lt"/>
                <a:ea typeface="+mn-ea"/>
                <a:cs typeface="+mn-cs"/>
              </a:rPr>
              <a:t>LLM</a:t>
            </a:r>
            <a:r>
              <a:rPr lang="zh-TW" altLang="zh-TW" sz="1200" b="0" u="none" strike="noStrike" kern="1200" dirty="0">
                <a:solidFill>
                  <a:schemeClr val="tx1"/>
                </a:solidFill>
                <a:effectLst/>
                <a:latin typeface="+mn-lt"/>
                <a:ea typeface="+mn-ea"/>
                <a:cs typeface="+mn-cs"/>
              </a:rPr>
              <a:t>近幾年最核心的技術典範轉移</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Paradigm Shift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p>
          <a:p>
            <a:r>
              <a:rPr lang="zh-TW" altLang="zh-TW" dirty="0"/>
              <a:t>四個趨勢（</a:t>
            </a:r>
            <a:r>
              <a:rPr lang="zh-TW" altLang="zh-TW" sz="1200" b="1" u="none" strike="noStrike" kern="1200" dirty="0">
                <a:solidFill>
                  <a:schemeClr val="tx1"/>
                </a:solidFill>
                <a:effectLst/>
                <a:latin typeface="+mn-lt"/>
                <a:ea typeface="+mn-ea"/>
                <a:cs typeface="+mn-cs"/>
              </a:rPr>
              <a:t>數據品質、MoE架構、原生多模態、端側輕量化</a:t>
            </a:r>
            <a:r>
              <a:rPr lang="zh-TW" altLang="zh-TW" dirty="0"/>
              <a:t>）</a:t>
            </a:r>
            <a:endParaRPr lang="en-US" altLang="zh-TW" dirty="0"/>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數據面的轉變（Data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：信奉「暴力美學」與對稱擴展定律（Scaling Laws）。當時的思維是：只要把網路上能爬到的資料（無論好壞）通通餵給模型，模型越大、資料越多，實力就越強。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：網路上高質量的人類原生數據快要被吃光了（數據荒危機）。現在的創新在於</a:t>
            </a:r>
            <a:r>
              <a:rPr lang="zh-TW" altLang="zh-TW" sz="1200" b="1" u="none" strike="noStrike" kern="1200" dirty="0">
                <a:solidFill>
                  <a:schemeClr val="tx1"/>
                </a:solidFill>
                <a:effectLst/>
                <a:latin typeface="+mn-lt"/>
                <a:ea typeface="+mn-ea"/>
                <a:cs typeface="+mn-cs"/>
              </a:rPr>
              <a:t>數據工程（Data Engineering）</a:t>
            </a:r>
            <a:r>
              <a:rPr lang="zh-TW" altLang="zh-TW" sz="1200" b="0" u="none" strike="noStrike" kern="1200" dirty="0">
                <a:solidFill>
                  <a:schemeClr val="tx1"/>
                </a:solidFill>
                <a:effectLst/>
                <a:latin typeface="+mn-lt"/>
                <a:ea typeface="+mn-ea"/>
                <a:cs typeface="+mn-cs"/>
              </a:rPr>
              <a:t>。大家不再比誰的資料量大，而是比誰的資料洗得乾淨、去重做得到位、或是誰能用強大模型生成出更高品質的「合成數據（Synthetic Data）」來餵養新模型 [?]。</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模型架構與算力的轉變（Architecture &amp; Compute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：盲目追求參數模型的體積（例如從 175B 飆升到萬億參數）。這導致訓練和推理（Inference）成本高上天，只有極少數科技巨頭玩得起。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：追求</a:t>
            </a:r>
            <a:r>
              <a:rPr lang="zh-TW" altLang="zh-TW" sz="1200" b="1" u="none" strike="noStrike" kern="1200" dirty="0">
                <a:solidFill>
                  <a:schemeClr val="tx1"/>
                </a:solidFill>
                <a:effectLst/>
                <a:latin typeface="+mn-lt"/>
                <a:ea typeface="+mn-ea"/>
                <a:cs typeface="+mn-cs"/>
              </a:rPr>
              <a:t>架構的精巧與高效率</a:t>
            </a:r>
            <a:r>
              <a:rPr lang="zh-TW" altLang="zh-TW" sz="1200" b="0" u="none" strike="noStrike" kern="1200" dirty="0">
                <a:solidFill>
                  <a:schemeClr val="tx1"/>
                </a:solidFill>
                <a:effectLst/>
                <a:latin typeface="+mn-lt"/>
                <a:ea typeface="+mn-ea"/>
                <a:cs typeface="+mn-cs"/>
              </a:rPr>
              <a:t>。例如轉向「專家混合模型（MoE）」，雖然總參數很大，但每次處理文字時只啟動其中一小部分專家網路；或者專注於優化 3B、8B 的「小語言模型（SLM）」，讓它在極小的體積下，透過高質量的訓練達到逼近大模型的智商。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商業與應用落地面的轉變（Business &amp; Deployment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：大家在實驗室裡刷榜（Benchmark），比拼誰的理論分數高、誰能回答各種刁鑽的常識問題。</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：業界更看重</a:t>
            </a:r>
            <a:r>
              <a:rPr lang="zh-TW" altLang="zh-TW" sz="1200" b="1" u="none" strike="noStrike" kern="1200" dirty="0">
                <a:solidFill>
                  <a:schemeClr val="tx1"/>
                </a:solidFill>
                <a:effectLst/>
                <a:latin typeface="+mn-lt"/>
                <a:ea typeface="+mn-ea"/>
                <a:cs typeface="+mn-cs"/>
              </a:rPr>
              <a:t>應用的精準度與ROI（投資回報率）</a:t>
            </a:r>
            <a:r>
              <a:rPr lang="zh-TW" altLang="zh-TW" sz="1200" b="0" u="none" strike="noStrike" kern="1200" dirty="0">
                <a:solidFill>
                  <a:schemeClr val="tx1"/>
                </a:solidFill>
                <a:effectLst/>
                <a:latin typeface="+mn-lt"/>
                <a:ea typeface="+mn-ea"/>
                <a:cs typeface="+mn-cs"/>
              </a:rPr>
              <a:t>。模型必須能夠精準對齊（Alignment）人類意圖、減少幻覺（Hallucination）、並且能低延遲、低成本地部署在企業內部或使用者的手機、筆電端（On-device AI）。</a:t>
            </a:r>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29</a:t>
            </a:fld>
            <a:endParaRPr lang="zh-TW" altLang="en-US"/>
          </a:p>
        </p:txBody>
      </p:sp>
    </p:spTree>
    <p:extLst>
      <p:ext uri="{BB962C8B-B14F-4D97-AF65-F5344CB8AC3E}">
        <p14:creationId xmlns:p14="http://schemas.microsoft.com/office/powerpoint/2010/main" val="235558571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dirty="0"/>
          </a:p>
          <a:p>
            <a:r>
              <a:rPr lang="zh-TW" altLang="zh-TW" sz="1200" b="1" u="none" strike="noStrike" kern="1200" dirty="0">
                <a:solidFill>
                  <a:schemeClr val="tx1"/>
                </a:solidFill>
                <a:effectLst/>
                <a:latin typeface="+mn-lt"/>
                <a:ea typeface="+mn-ea"/>
                <a:cs typeface="+mn-cs"/>
              </a:rPr>
              <a:t>常見的輕量化技術</a:t>
            </a:r>
          </a:p>
          <a:p>
            <a:r>
              <a:rPr lang="zh-TW" altLang="zh-TW" sz="1200" b="1" u="none" strike="noStrike" kern="1200" dirty="0">
                <a:solidFill>
                  <a:schemeClr val="tx1"/>
                </a:solidFill>
                <a:effectLst/>
                <a:latin typeface="+mn-lt"/>
                <a:ea typeface="+mn-ea"/>
                <a:cs typeface="+mn-cs"/>
              </a:rPr>
              <a:t>知識蒸餾（Knowledge Distillation）：</a:t>
            </a:r>
            <a:r>
              <a:rPr lang="zh-TW" altLang="zh-TW" sz="1200" b="0" u="none" strike="noStrike" kern="1200" dirty="0">
                <a:solidFill>
                  <a:schemeClr val="tx1"/>
                </a:solidFill>
                <a:effectLst/>
                <a:latin typeface="+mn-lt"/>
                <a:ea typeface="+mn-ea"/>
                <a:cs typeface="+mn-cs"/>
              </a:rPr>
              <a:t> 讓參數量較少的小型模型（學生）模仿大型模型（老師）的行為，從中學習複雜的語言推理能力。 </a:t>
            </a:r>
          </a:p>
          <a:p>
            <a:r>
              <a:rPr lang="zh-TW" altLang="zh-TW" sz="1200" b="1" u="none" strike="noStrike" kern="1200" dirty="0">
                <a:solidFill>
                  <a:schemeClr val="tx1"/>
                </a:solidFill>
                <a:effectLst/>
                <a:latin typeface="+mn-lt"/>
                <a:ea typeface="+mn-ea"/>
                <a:cs typeface="+mn-cs"/>
              </a:rPr>
              <a:t>模型量化（Quantization）：</a:t>
            </a:r>
            <a:r>
              <a:rPr lang="zh-TW" altLang="zh-TW" sz="1200" b="0" u="none" strike="noStrike" kern="1200" dirty="0">
                <a:solidFill>
                  <a:schemeClr val="tx1"/>
                </a:solidFill>
                <a:effectLst/>
                <a:latin typeface="+mn-lt"/>
                <a:ea typeface="+mn-ea"/>
                <a:cs typeface="+mn-cs"/>
              </a:rPr>
              <a:t> 將模型權重（Weights）從高精度（如 16-bit 浮點數）降低到低精度（如 8-bit 或 4-bit 整數），大幅減少記憶體佔用。 </a:t>
            </a:r>
          </a:p>
          <a:p>
            <a:r>
              <a:rPr lang="zh-TW" altLang="zh-TW" sz="1200" b="1" u="none" strike="noStrike" kern="1200" dirty="0">
                <a:solidFill>
                  <a:schemeClr val="tx1"/>
                </a:solidFill>
                <a:effectLst/>
                <a:latin typeface="+mn-lt"/>
                <a:ea typeface="+mn-ea"/>
                <a:cs typeface="+mn-cs"/>
              </a:rPr>
              <a:t>參數剪枝（Pruning）：</a:t>
            </a:r>
            <a:r>
              <a:rPr lang="zh-TW" altLang="zh-TW" sz="1200" b="0" u="none" strike="noStrike" kern="1200" dirty="0">
                <a:solidFill>
                  <a:schemeClr val="tx1"/>
                </a:solidFill>
                <a:effectLst/>
                <a:latin typeface="+mn-lt"/>
                <a:ea typeface="+mn-ea"/>
                <a:cs typeface="+mn-cs"/>
              </a:rPr>
              <a:t> 移除模型中對預測結果影響較小、冗餘的神經元與連接。</a:t>
            </a:r>
          </a:p>
          <a:p>
            <a:br>
              <a:rPr lang="en-US" altLang="zh-TW" dirty="0"/>
            </a:br>
            <a:br>
              <a:rPr lang="en-US" altLang="zh-TW" dirty="0"/>
            </a:br>
            <a:r>
              <a:rPr lang="zh-TW" altLang="zh-TW" sz="1200" b="1" u="none" strike="noStrike" kern="1200" dirty="0">
                <a:solidFill>
                  <a:schemeClr val="tx1"/>
                </a:solidFill>
                <a:effectLst/>
                <a:latin typeface="+mn-lt"/>
                <a:ea typeface="+mn-ea"/>
                <a:cs typeface="+mn-cs"/>
              </a:rPr>
              <a:t>層級嵌入 (Per-Layer Embeddings, PLE)</a:t>
            </a:r>
            <a:r>
              <a:rPr lang="zh-TW" altLang="zh-TW" dirty="0"/>
              <a:t> 是 AI 模型（如 Google 的 Gemma 4 等語言模型）中的一種</a:t>
            </a:r>
            <a:r>
              <a:rPr lang="zh-TW" altLang="zh-TW" sz="1200" b="1" u="none" strike="noStrike" kern="1200" dirty="0">
                <a:solidFill>
                  <a:schemeClr val="tx1"/>
                </a:solidFill>
                <a:effectLst/>
                <a:latin typeface="+mn-lt"/>
                <a:ea typeface="+mn-ea"/>
                <a:cs typeface="+mn-cs"/>
              </a:rPr>
              <a:t>記憶體優化技術</a:t>
            </a:r>
            <a:r>
              <a:rPr lang="zh-TW" altLang="zh-TW" dirty="0"/>
              <a:t>。它為模型的每一層提供獨立的低維度特徵訊號，讓小尺寸模型能以更少參數獲得更精準的特化能力，從而提升邊緣裝置（如手機、筆電）上的執行效率。</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30</a:t>
            </a:fld>
            <a:endParaRPr lang="zh-TW" altLang="en-US"/>
          </a:p>
        </p:txBody>
      </p:sp>
    </p:spTree>
    <p:extLst>
      <p:ext uri="{BB962C8B-B14F-4D97-AF65-F5344CB8AC3E}">
        <p14:creationId xmlns:p14="http://schemas.microsoft.com/office/powerpoint/2010/main" val="292194957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7C430-FB32-5602-3DB0-5E8B5F79D16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B763E16-AD96-B65B-01CE-46AB664453AC}"/>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475913C2-1FFD-6EC2-6E74-DAE194F03C18}"/>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本頁亮點</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Optimizer, Quantization-Aware</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SGD (Stochastic Gradient Descent)</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：記憶體佔用極低。除了模型參數本身，只需要額外儲存 1 份動量（Momentum）數據。</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：固定學習率很難收斂，調參非常痛苦。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Standard Adam (Adaptive Moment Estimation)</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：為每個參數精準調整步長，收斂速度極快。</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：在加入 L2 正規化</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Weight Decay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其數學公式會把權重衰減與梯度放在一起計算，導致權重並未如預期般衰減，容易過擬合。</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AdamW (Adam with Weight Decoupled)</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：完美解決了 Adam 的 L2 正規化問題。它將權重衰減的步驟獨立出來，既保留了 Adam 快速收斂的特性</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又</a:t>
            </a:r>
            <a:r>
              <a:rPr lang="zh-TW" altLang="en-US" sz="1200" b="0" u="none" strike="noStrike" kern="1200" dirty="0">
                <a:solidFill>
                  <a:schemeClr val="tx1"/>
                </a:solidFill>
                <a:effectLst/>
                <a:latin typeface="+mn-lt"/>
                <a:ea typeface="+mn-ea"/>
                <a:cs typeface="+mn-cs"/>
              </a:rPr>
              <a:t>提升</a:t>
            </a:r>
            <a:r>
              <a:rPr lang="zh-TW" altLang="zh-TW" sz="1200" b="0" u="none" strike="noStrike" kern="1200" dirty="0">
                <a:solidFill>
                  <a:schemeClr val="tx1"/>
                </a:solidFill>
                <a:effectLst/>
                <a:latin typeface="+mn-lt"/>
                <a:ea typeface="+mn-ea"/>
                <a:cs typeface="+mn-cs"/>
              </a:rPr>
              <a:t>泛化能力</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Generalization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。目前 95% 以上的 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如 LLaMA, GPT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預訓練預設都用它。</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：非常吃顯存</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VRAM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。除了模型參數，它還必須在顯存中常駐一階矩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和二階矩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這往往是顯存爆炸的主因。</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Paged AdamW</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：數學邏輯與 AdamW 完全相同</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但它允許 GPU 在顯存不夠時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把 AdamW 的優化器狀態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一、二階矩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暫時換出</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Page-out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到電腦的系統記憶體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中。</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：因為資料需要透過 PCIe 總線在 GPU 和 CPU 之間來回搬運，訓練速度會比原生 AdamW 慢 10% ~ 30% 不等。</a:t>
            </a:r>
          </a:p>
          <a:p>
            <a:endParaRPr lang="zh-TW" altLang="zh-TW" dirty="0"/>
          </a:p>
          <a:p>
            <a:r>
              <a:rPr lang="zh-TW" altLang="zh-TW" sz="1200" b="1" i="0" kern="1200" dirty="0">
                <a:solidFill>
                  <a:schemeClr val="tx1"/>
                </a:solidFill>
                <a:effectLst/>
                <a:latin typeface="+mn-lt"/>
                <a:ea typeface="+mn-ea"/>
                <a:cs typeface="+mn-cs"/>
              </a:rPr>
              <a:t>QAT（Quantization-Aware Training，量化感知訓練）</a:t>
            </a:r>
            <a:r>
              <a:rPr lang="zh-TW" altLang="zh-TW" sz="1200" b="0" i="0" kern="1200" dirty="0">
                <a:solidFill>
                  <a:schemeClr val="tx1"/>
                </a:solidFill>
                <a:effectLst/>
                <a:latin typeface="+mn-lt"/>
                <a:ea typeface="+mn-ea"/>
                <a:cs typeface="+mn-cs"/>
              </a:rPr>
              <a:t> </a:t>
            </a:r>
            <a:r>
              <a:rPr lang="zh-TW" altLang="zh-TW" dirty="0"/>
              <a:t>是一種 AI 模型優化技術</a:t>
            </a:r>
            <a:r>
              <a:rPr lang="zh-TW" altLang="zh-TW" sz="1200" b="0" i="0" kern="1200" dirty="0">
                <a:solidFill>
                  <a:schemeClr val="tx1"/>
                </a:solidFill>
                <a:effectLst/>
                <a:latin typeface="+mn-lt"/>
                <a:ea typeface="+mn-ea"/>
                <a:cs typeface="+mn-cs"/>
              </a:rPr>
              <a:t>。它在訓練過程中模擬低精度（如 INT8）的誤差，讓神經網路提前「適應」量化損失。相較於直接量化，這能大幅減少精準度下降，常用於邊緣設備。</a:t>
            </a:r>
            <a:br>
              <a:rPr lang="en-US" altLang="zh-TW" sz="1200" b="0" i="0" kern="1200" dirty="0">
                <a:solidFill>
                  <a:schemeClr val="tx1"/>
                </a:solidFill>
                <a:effectLst/>
                <a:latin typeface="+mn-lt"/>
                <a:ea typeface="+mn-ea"/>
                <a:cs typeface="+mn-cs"/>
              </a:rPr>
            </a:br>
            <a:r>
              <a:rPr lang="zh-TW" altLang="zh-TW" sz="1200" b="1" i="0" kern="1200" dirty="0">
                <a:solidFill>
                  <a:schemeClr val="tx1"/>
                </a:solidFill>
                <a:effectLst/>
                <a:latin typeface="+mn-lt"/>
                <a:ea typeface="+mn-ea"/>
                <a:cs typeface="+mn-cs"/>
              </a:rPr>
              <a:t>💡 核心原理與運作方式</a:t>
            </a:r>
          </a:p>
          <a:p>
            <a:r>
              <a:rPr lang="zh-TW" altLang="zh-TW" sz="1200" b="1" i="0" kern="1200" dirty="0">
                <a:solidFill>
                  <a:schemeClr val="tx1"/>
                </a:solidFill>
                <a:effectLst/>
                <a:latin typeface="+mn-lt"/>
                <a:ea typeface="+mn-ea"/>
                <a:cs typeface="+mn-cs"/>
              </a:rPr>
              <a:t>偽量化（Fake Quantization）：</a:t>
            </a:r>
            <a:r>
              <a:rPr lang="zh-TW" altLang="zh-TW" sz="1200" b="0" i="0" kern="1200" dirty="0">
                <a:solidFill>
                  <a:schemeClr val="tx1"/>
                </a:solidFill>
                <a:effectLst/>
                <a:latin typeface="+mn-lt"/>
                <a:ea typeface="+mn-ea"/>
                <a:cs typeface="+mn-cs"/>
              </a:rPr>
              <a:t> 在訓練階段，將高精度（通常為 FP32）的權重與激活值壓縮為低精度（如 INT8），計算完後再解壓縮回高精度。 </a:t>
            </a:r>
          </a:p>
          <a:p>
            <a:r>
              <a:rPr lang="zh-TW" altLang="zh-TW" sz="1200" b="1" i="0" kern="1200" dirty="0">
                <a:solidFill>
                  <a:schemeClr val="tx1"/>
                </a:solidFill>
                <a:effectLst/>
                <a:latin typeface="+mn-lt"/>
                <a:ea typeface="+mn-ea"/>
                <a:cs typeface="+mn-cs"/>
              </a:rPr>
              <a:t>模擬誤差：</a:t>
            </a:r>
            <a:r>
              <a:rPr lang="zh-TW" altLang="zh-TW" sz="1200" b="0" i="0" kern="1200" dirty="0">
                <a:solidFill>
                  <a:schemeClr val="tx1"/>
                </a:solidFill>
                <a:effectLst/>
                <a:latin typeface="+mn-lt"/>
                <a:ea typeface="+mn-ea"/>
                <a:cs typeface="+mn-cs"/>
              </a:rPr>
              <a:t> 讓模型在訓練時就能察覺到量化所產生的噪聲（Noise），並學會自我調整去彌補這些誤差。 </a:t>
            </a:r>
          </a:p>
          <a:p>
            <a:r>
              <a:rPr lang="zh-TW" altLang="zh-TW" sz="1200" b="1" i="0" kern="1200" dirty="0">
                <a:solidFill>
                  <a:schemeClr val="tx1"/>
                </a:solidFill>
                <a:effectLst/>
                <a:latin typeface="+mn-lt"/>
                <a:ea typeface="+mn-ea"/>
                <a:cs typeface="+mn-cs"/>
              </a:rPr>
              <a:t>權重更新：</a:t>
            </a:r>
            <a:r>
              <a:rPr lang="zh-TW" altLang="zh-TW" sz="1200" b="0" i="0" kern="1200" dirty="0">
                <a:solidFill>
                  <a:schemeClr val="tx1"/>
                </a:solidFill>
                <a:effectLst/>
                <a:latin typeface="+mn-lt"/>
                <a:ea typeface="+mn-ea"/>
                <a:cs typeface="+mn-cs"/>
              </a:rPr>
              <a:t> 為了在不可微分的量化函數下進行反向傳播（Backpropagation），QAT 使用直通估計器（Straight-Through Estimator, STE）來順利更新權重。</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STE（Straight-Through Estimator，直通估計器）</a:t>
            </a:r>
            <a:r>
              <a:rPr lang="zh-TW" altLang="zh-TW" sz="1200" b="0" u="none" strike="noStrike" kern="1200" dirty="0">
                <a:solidFill>
                  <a:schemeClr val="tx1"/>
                </a:solidFill>
                <a:effectLst/>
                <a:latin typeface="+mn-lt"/>
                <a:ea typeface="+mn-ea"/>
                <a:cs typeface="+mn-cs"/>
              </a:rPr>
              <a:t> 是深度學習中用於解決「不可微分函數」反向傳播問題的一種特殊技巧。在模型量化（如 QAT）或二值化神經網路（BNN）中，它是不可或缺的核心機制。</a:t>
            </a:r>
          </a:p>
          <a:p>
            <a:r>
              <a:rPr lang="zh-TW" altLang="zh-TW" sz="1200" b="1" u="none" strike="noStrike" kern="1200" dirty="0">
                <a:solidFill>
                  <a:schemeClr val="tx1"/>
                </a:solidFill>
                <a:effectLst/>
                <a:latin typeface="+mn-lt"/>
                <a:ea typeface="+mn-ea"/>
                <a:cs typeface="+mn-cs"/>
              </a:rPr>
              <a:t>數學困境：</a:t>
            </a:r>
            <a:r>
              <a:rPr lang="zh-TW" altLang="zh-TW" dirty="0"/>
              <a:t> 階梯函數的導數（梯度）在絕大多數地方都是 </a:t>
            </a:r>
            <a:r>
              <a:rPr lang="zh-TW" altLang="zh-TW" sz="1200" b="1" u="none" strike="noStrike" kern="1200" dirty="0">
                <a:solidFill>
                  <a:schemeClr val="tx1"/>
                </a:solidFill>
                <a:effectLst/>
                <a:latin typeface="+mn-lt"/>
                <a:ea typeface="+mn-ea"/>
                <a:cs typeface="+mn-cs"/>
              </a:rPr>
              <a:t>0</a:t>
            </a:r>
            <a:r>
              <a:rPr lang="zh-TW" altLang="zh-TW" dirty="0"/>
              <a:t>，而在跳躍的邊界點則是 </a:t>
            </a:r>
            <a:r>
              <a:rPr lang="zh-TW" altLang="zh-TW" sz="1200" b="1" u="none" strike="noStrike" kern="1200" dirty="0">
                <a:solidFill>
                  <a:schemeClr val="tx1"/>
                </a:solidFill>
                <a:effectLst/>
                <a:latin typeface="+mn-lt"/>
                <a:ea typeface="+mn-ea"/>
                <a:cs typeface="+mn-cs"/>
              </a:rPr>
              <a:t>無限大（不存在）</a:t>
            </a:r>
            <a:r>
              <a:rPr lang="zh-TW" altLang="zh-TW" dirty="0"/>
              <a:t>。</a:t>
            </a:r>
            <a:br>
              <a:rPr lang="zh-TW" altLang="zh-TW" dirty="0"/>
            </a:br>
            <a:r>
              <a:rPr lang="zh-TW" altLang="zh-TW" sz="1200" b="1" u="none" strike="noStrike" kern="1200" dirty="0">
                <a:solidFill>
                  <a:schemeClr val="tx1"/>
                </a:solidFill>
                <a:effectLst/>
                <a:latin typeface="+mn-lt"/>
                <a:ea typeface="+mn-ea"/>
                <a:cs typeface="+mn-cs"/>
              </a:rPr>
              <a:t>💡 STE 的運作原理</a:t>
            </a:r>
          </a:p>
          <a:p>
            <a:r>
              <a:rPr lang="zh-TW" altLang="zh-TW" sz="1200" b="0" u="none" strike="noStrike" kern="1200" dirty="0">
                <a:solidFill>
                  <a:schemeClr val="tx1"/>
                </a:solidFill>
                <a:effectLst/>
                <a:latin typeface="+mn-lt"/>
                <a:ea typeface="+mn-ea"/>
                <a:cs typeface="+mn-cs"/>
              </a:rPr>
              <a:t>STE 的核心思想非常直接且「粗暴」：</a:t>
            </a:r>
            <a:r>
              <a:rPr lang="zh-TW" altLang="zh-TW" sz="1200" b="1" u="none" strike="noStrike" kern="1200" dirty="0">
                <a:solidFill>
                  <a:schemeClr val="tx1"/>
                </a:solidFill>
                <a:effectLst/>
                <a:latin typeface="+mn-lt"/>
                <a:ea typeface="+mn-ea"/>
                <a:cs typeface="+mn-cs"/>
              </a:rPr>
              <a:t>在正向傳播時使用量化函數，但在反向傳播時，直接假裝量化函數不存在。</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正向傳播（Forward Pass）：</a:t>
            </a:r>
            <a:r>
              <a:rPr lang="zh-TW" altLang="zh-TW" sz="1200" b="0" u="none" strike="noStrike" kern="1200" dirty="0">
                <a:solidFill>
                  <a:schemeClr val="tx1"/>
                </a:solidFill>
                <a:effectLst/>
                <a:latin typeface="+mn-lt"/>
                <a:ea typeface="+mn-ea"/>
                <a:cs typeface="+mn-cs"/>
              </a:rPr>
              <a:t> 正常執行量化運算（例如將 2.7 四捨五入變成 3），讓模型體驗低精度帶來的誤差與噪聲。</a:t>
            </a:r>
          </a:p>
          <a:p>
            <a:r>
              <a:rPr lang="zh-TW" altLang="zh-TW" sz="1200" b="1" u="none" strike="noStrike" kern="1200" dirty="0">
                <a:solidFill>
                  <a:schemeClr val="tx1"/>
                </a:solidFill>
                <a:effectLst/>
                <a:latin typeface="+mn-lt"/>
                <a:ea typeface="+mn-ea"/>
                <a:cs typeface="+mn-cs"/>
              </a:rPr>
              <a:t>反向傳播（Backward Pass）：</a:t>
            </a:r>
            <a:r>
              <a:rPr lang="zh-TW" altLang="zh-TW" sz="1200" b="0" u="none" strike="noStrike" kern="1200" dirty="0">
                <a:solidFill>
                  <a:schemeClr val="tx1"/>
                </a:solidFill>
                <a:effectLst/>
                <a:latin typeface="+mn-lt"/>
                <a:ea typeface="+mn-ea"/>
                <a:cs typeface="+mn-cs"/>
              </a:rPr>
              <a:t> 當梯度傳回來到這個量化節點時，STE 直接將梯度「原封不動」地傳遞過去（相當於假設該節點的導數為 1）。</a:t>
            </a:r>
          </a:p>
          <a:p>
            <a:r>
              <a:rPr lang="zh-TW" altLang="zh-TW" sz="1200" b="0" u="none" strike="noStrike" kern="1200" dirty="0">
                <a:solidFill>
                  <a:schemeClr val="tx1"/>
                </a:solidFill>
                <a:effectLst/>
                <a:latin typeface="+mn-lt"/>
                <a:ea typeface="+mn-ea"/>
                <a:cs typeface="+mn-cs"/>
              </a:rPr>
              <a:t>簡單來說，它就像是在反向傳播時，在不可微分的階梯函數上架了一座「直通橋梁」，讓梯度順利通過並更新前一層的 FP32 權重。</a:t>
            </a:r>
          </a:p>
          <a:p>
            <a:endParaRPr lang="zh-TW" altLang="zh-TW" dirty="0"/>
          </a:p>
          <a:p>
            <a:endParaRPr lang="en-US" altLang="zh-TW" sz="1200" b="1"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adam optimizer, 作法</a:t>
            </a:r>
          </a:p>
          <a:p>
            <a:pPr rtl="0"/>
            <a:r>
              <a:rPr lang="zh-TW" altLang="zh-TW" sz="1200" b="1" u="none" strike="noStrike" kern="1200" dirty="0">
                <a:solidFill>
                  <a:schemeClr val="tx1"/>
                </a:solidFill>
                <a:effectLst/>
                <a:latin typeface="+mn-lt"/>
                <a:ea typeface="+mn-ea"/>
                <a:cs typeface="+mn-cs"/>
              </a:rPr>
              <a:t>Adam（Adaptive Moment Estimation，自適應動態矩量估計）</a:t>
            </a:r>
            <a:r>
              <a:rPr lang="zh-TW" altLang="zh-TW" sz="1200" b="0" u="none" strike="noStrike" kern="1200" dirty="0">
                <a:solidFill>
                  <a:schemeClr val="tx1"/>
                </a:solidFill>
                <a:effectLst/>
                <a:latin typeface="+mn-lt"/>
                <a:ea typeface="+mn-ea"/>
                <a:cs typeface="+mn-cs"/>
              </a:rPr>
              <a:t> 結合了 </a:t>
            </a:r>
            <a:r>
              <a:rPr lang="zh-TW" altLang="zh-TW" sz="1200" b="1" u="none" strike="noStrike" kern="1200" dirty="0">
                <a:solidFill>
                  <a:schemeClr val="tx1"/>
                </a:solidFill>
                <a:effectLst/>
                <a:latin typeface="+mn-lt"/>
                <a:ea typeface="+mn-ea"/>
                <a:cs typeface="+mn-cs"/>
              </a:rPr>
              <a:t>Momentum</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RMSprop</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均方根傳播</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的優點，既能像動態法一樣衝過局部最小值，又能為每個參數獨立調整學習率。</a:t>
            </a:r>
          </a:p>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8692FE20-B45B-F4FE-5FF4-77187FF08048}"/>
              </a:ext>
            </a:extLst>
          </p:cNvPr>
          <p:cNvSpPr>
            <a:spLocks noGrp="1"/>
          </p:cNvSpPr>
          <p:nvPr>
            <p:ph type="sldNum" sz="quarter" idx="5"/>
          </p:nvPr>
        </p:nvSpPr>
        <p:spPr/>
        <p:txBody>
          <a:bodyPr/>
          <a:lstStyle/>
          <a:p>
            <a:fld id="{E3A6CE5E-F349-486D-8749-82EF2AD71FA8}" type="slidenum">
              <a:rPr lang="zh-TW" altLang="en-US" smtClean="0"/>
              <a:t>31</a:t>
            </a:fld>
            <a:endParaRPr lang="zh-TW" altLang="en-US"/>
          </a:p>
        </p:txBody>
      </p:sp>
    </p:spTree>
    <p:extLst>
      <p:ext uri="{BB962C8B-B14F-4D97-AF65-F5344CB8AC3E}">
        <p14:creationId xmlns:p14="http://schemas.microsoft.com/office/powerpoint/2010/main" val="99650328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391CA-EAA5-61AA-976B-D0A473DBCE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BB17E1F-7486-345D-4CF1-A610F24F04F7}"/>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5FB8F9B-73BE-4DBC-4418-A5E11513395C}"/>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E27E670B-4E94-5D0F-9125-795575CD839C}"/>
              </a:ext>
            </a:extLst>
          </p:cNvPr>
          <p:cNvSpPr>
            <a:spLocks noGrp="1"/>
          </p:cNvSpPr>
          <p:nvPr>
            <p:ph type="sldNum" sz="quarter" idx="5"/>
          </p:nvPr>
        </p:nvSpPr>
        <p:spPr/>
        <p:txBody>
          <a:bodyPr/>
          <a:lstStyle/>
          <a:p>
            <a:fld id="{E3A6CE5E-F349-486D-8749-82EF2AD71FA8}" type="slidenum">
              <a:rPr lang="zh-TW" altLang="en-US" smtClean="0"/>
              <a:t>32</a:t>
            </a:fld>
            <a:endParaRPr lang="zh-TW" altLang="en-US"/>
          </a:p>
        </p:txBody>
      </p:sp>
    </p:spTree>
    <p:extLst>
      <p:ext uri="{BB962C8B-B14F-4D97-AF65-F5344CB8AC3E}">
        <p14:creationId xmlns:p14="http://schemas.microsoft.com/office/powerpoint/2010/main" val="82186179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797C2-856D-7C78-822E-DA2B9845E21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B01D36F-2A90-C039-12E9-94ACB213592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D287985-DD70-EAFB-BA76-359D9B2CA1E4}"/>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9B8C7DA-B5D4-A1F6-335B-4A2BE3F7BAE3}"/>
              </a:ext>
            </a:extLst>
          </p:cNvPr>
          <p:cNvSpPr>
            <a:spLocks noGrp="1"/>
          </p:cNvSpPr>
          <p:nvPr>
            <p:ph type="sldNum" sz="quarter" idx="5"/>
          </p:nvPr>
        </p:nvSpPr>
        <p:spPr/>
        <p:txBody>
          <a:bodyPr/>
          <a:lstStyle/>
          <a:p>
            <a:fld id="{E3A6CE5E-F349-486D-8749-82EF2AD71FA8}" type="slidenum">
              <a:rPr lang="zh-TW" altLang="en-US" smtClean="0"/>
              <a:t>33</a:t>
            </a:fld>
            <a:endParaRPr lang="zh-TW" altLang="en-US"/>
          </a:p>
        </p:txBody>
      </p:sp>
    </p:spTree>
    <p:extLst>
      <p:ext uri="{BB962C8B-B14F-4D97-AF65-F5344CB8AC3E}">
        <p14:creationId xmlns:p14="http://schemas.microsoft.com/office/powerpoint/2010/main" val="369921264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95CE-C2D6-9D16-6D14-69ACBE5316A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3352CE7-F871-B339-F340-2B51478FA4D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6C8E757-4B05-165E-1607-0BCD6DE5443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E86E7571-A4C4-1EDD-1D49-0CFA2F6F94F9}"/>
              </a:ext>
            </a:extLst>
          </p:cNvPr>
          <p:cNvSpPr>
            <a:spLocks noGrp="1"/>
          </p:cNvSpPr>
          <p:nvPr>
            <p:ph type="sldNum" sz="quarter" idx="5"/>
          </p:nvPr>
        </p:nvSpPr>
        <p:spPr/>
        <p:txBody>
          <a:bodyPr/>
          <a:lstStyle/>
          <a:p>
            <a:fld id="{E3A6CE5E-F349-486D-8749-82EF2AD71FA8}" type="slidenum">
              <a:rPr lang="zh-TW" altLang="en-US" smtClean="0"/>
              <a:t>34</a:t>
            </a:fld>
            <a:endParaRPr lang="zh-TW" altLang="en-US"/>
          </a:p>
        </p:txBody>
      </p:sp>
    </p:spTree>
    <p:extLst>
      <p:ext uri="{BB962C8B-B14F-4D97-AF65-F5344CB8AC3E}">
        <p14:creationId xmlns:p14="http://schemas.microsoft.com/office/powerpoint/2010/main" val="36640092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817E9-E2B2-951E-2BA5-91EC9A18E03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DA85B959-F19B-11F5-C6E1-57A93757CC4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31F52A6-BCBA-8002-712A-EBC1275EBBEC}"/>
              </a:ext>
            </a:extLst>
          </p:cNvPr>
          <p:cNvSpPr>
            <a:spLocks noGrp="1"/>
          </p:cNvSpPr>
          <p:nvPr>
            <p:ph type="body" idx="1"/>
          </p:nvPr>
        </p:nvSpPr>
        <p:spPr/>
        <p:txBody>
          <a:bodyPr/>
          <a:lstStyle/>
          <a:p>
            <a:r>
              <a:rPr lang="zh-TW" altLang="zh-TW" dirty="0"/>
              <a:t>近年來「</a:t>
            </a:r>
            <a:r>
              <a:rPr lang="zh-TW" altLang="zh-TW" sz="1200" b="1" u="none" strike="noStrike" kern="1200" dirty="0">
                <a:solidFill>
                  <a:schemeClr val="tx1"/>
                </a:solidFill>
                <a:effectLst/>
                <a:latin typeface="+mn-lt"/>
                <a:ea typeface="+mn-ea"/>
                <a:cs typeface="+mn-cs"/>
              </a:rPr>
              <a:t>總參數量</a:t>
            </a:r>
            <a:r>
              <a:rPr lang="zh-TW" altLang="zh-TW" dirty="0"/>
              <a:t>」已不等於「</a:t>
            </a:r>
            <a:r>
              <a:rPr lang="zh-TW" altLang="zh-TW" sz="1200" b="1" u="none" strike="noStrike" kern="1200" dirty="0">
                <a:solidFill>
                  <a:schemeClr val="tx1"/>
                </a:solidFill>
                <a:effectLst/>
                <a:latin typeface="+mn-lt"/>
                <a:ea typeface="+mn-ea"/>
                <a:cs typeface="+mn-cs"/>
              </a:rPr>
              <a:t>實際運算量</a:t>
            </a:r>
            <a:r>
              <a:rPr lang="zh-TW" altLang="zh-TW" dirty="0"/>
              <a:t>」，因為許多模型採用了 MoE 技術，讓模型雖然體積龐大，但每次處理一個字（Token）時只需要啟動一小部分參數。</a:t>
            </a:r>
            <a:endParaRPr lang="en-US" altLang="zh-TW" dirty="0"/>
          </a:p>
          <a:p>
            <a:r>
              <a:rPr lang="zh-TW" altLang="zh-TW" sz="1200" b="0" u="none" strike="noStrike" kern="1200" dirty="0">
                <a:solidFill>
                  <a:schemeClr val="tx1"/>
                </a:solidFill>
                <a:effectLst/>
                <a:latin typeface="+mn-lt"/>
                <a:ea typeface="+mn-ea"/>
                <a:cs typeface="+mn-cs"/>
              </a:rPr>
              <a:t>DeepSeek 追求</a:t>
            </a:r>
            <a:r>
              <a:rPr lang="zh-TW" altLang="zh-TW" sz="1200" b="1" u="none" strike="noStrike" kern="1200" dirty="0">
                <a:solidFill>
                  <a:schemeClr val="tx1"/>
                </a:solidFill>
                <a:effectLst/>
                <a:latin typeface="+mn-lt"/>
                <a:ea typeface="+mn-ea"/>
                <a:cs typeface="+mn-cs"/>
              </a:rPr>
              <a:t>極致的硬體成本效益（Cost-Effective）與演算法魔改</a:t>
            </a:r>
            <a:r>
              <a:rPr lang="zh-TW" altLang="zh-TW" dirty="0"/>
              <a:t>；</a:t>
            </a:r>
            <a:br>
              <a:rPr lang="en-US" altLang="zh-TW" dirty="0"/>
            </a:br>
            <a:r>
              <a:rPr lang="zh-TW" altLang="zh-TW" dirty="0"/>
              <a:t>Meta Llama 則追求</a:t>
            </a:r>
            <a:r>
              <a:rPr lang="zh-TW" altLang="zh-TW" sz="1200" b="1" u="none" strike="noStrike" kern="1200" dirty="0">
                <a:solidFill>
                  <a:schemeClr val="tx1"/>
                </a:solidFill>
                <a:effectLst/>
                <a:latin typeface="+mn-lt"/>
                <a:ea typeface="+mn-ea"/>
                <a:cs typeface="+mn-cs"/>
              </a:rPr>
              <a:t>標準化、極致的架構穩定性（Scalability）與對開源生態的絕對相容</a:t>
            </a:r>
            <a:r>
              <a:rPr lang="zh-TW" altLang="zh-TW" dirty="0"/>
              <a:t>。</a:t>
            </a:r>
            <a:br>
              <a:rPr lang="en-US" altLang="zh-TW" dirty="0"/>
            </a:br>
            <a:br>
              <a:rPr lang="en-US" altLang="zh-TW" dirty="0"/>
            </a:br>
            <a:r>
              <a:rPr lang="en-US" altLang="zh-TW" dirty="0"/>
              <a:t>AWS Trainium </a:t>
            </a:r>
            <a:r>
              <a:rPr lang="zh-TW" altLang="en-US" dirty="0"/>
              <a:t>與 </a:t>
            </a:r>
            <a:r>
              <a:rPr lang="en-US" altLang="zh-TW" dirty="0"/>
              <a:t>AWS Graviton </a:t>
            </a:r>
            <a:r>
              <a:rPr lang="zh-TW" altLang="en-US" dirty="0"/>
              <a:t>是亞馬遜自研晶片體系中的兩大核心。</a:t>
            </a:r>
            <a:endParaRPr lang="en-US" altLang="zh-TW" dirty="0"/>
          </a:p>
          <a:p>
            <a:r>
              <a:rPr lang="en-US" altLang="zh-TW" dirty="0"/>
              <a:t>Graviton </a:t>
            </a:r>
            <a:r>
              <a:rPr lang="zh-TW" altLang="en-US" dirty="0"/>
              <a:t>是通用型 </a:t>
            </a:r>
            <a:r>
              <a:rPr lang="en-US" altLang="zh-TW" dirty="0"/>
              <a:t>CPU,</a:t>
            </a:r>
            <a:r>
              <a:rPr lang="zh-TW" altLang="en-US" dirty="0"/>
              <a:t> 負責處理日常雲端運算與後台任務；</a:t>
            </a:r>
            <a:endParaRPr lang="en-US" altLang="zh-TW" dirty="0"/>
          </a:p>
          <a:p>
            <a:r>
              <a:rPr lang="en-US" altLang="zh-TW" dirty="0"/>
              <a:t>Trainium </a:t>
            </a:r>
            <a:r>
              <a:rPr lang="zh-TW" altLang="en-US" dirty="0"/>
              <a:t>是專門的 </a:t>
            </a:r>
            <a:r>
              <a:rPr lang="en-US" altLang="zh-TW" dirty="0"/>
              <a:t>AI </a:t>
            </a:r>
            <a:r>
              <a:rPr lang="zh-TW" altLang="en-US" dirty="0"/>
              <a:t>加速晶片</a:t>
            </a:r>
            <a:r>
              <a:rPr lang="en-US" altLang="zh-TW" dirty="0"/>
              <a:t>, </a:t>
            </a:r>
            <a:r>
              <a:rPr lang="zh-TW" altLang="en-US" dirty="0"/>
              <a:t>專為大型 </a:t>
            </a:r>
            <a:r>
              <a:rPr lang="en-US" altLang="zh-TW" dirty="0"/>
              <a:t>AI </a:t>
            </a:r>
            <a:r>
              <a:rPr lang="zh-TW" altLang="en-US" dirty="0"/>
              <a:t>模型的訓練與密集運算而生。</a:t>
            </a:r>
          </a:p>
          <a:p>
            <a:endParaRPr lang="en-US" altLang="zh-TW" dirty="0"/>
          </a:p>
        </p:txBody>
      </p:sp>
      <p:sp>
        <p:nvSpPr>
          <p:cNvPr id="4" name="投影片編號版面配置區 3">
            <a:extLst>
              <a:ext uri="{FF2B5EF4-FFF2-40B4-BE49-F238E27FC236}">
                <a16:creationId xmlns:a16="http://schemas.microsoft.com/office/drawing/2014/main" id="{E6376BFF-A3BB-A521-4866-649E07CC4654}"/>
              </a:ext>
            </a:extLst>
          </p:cNvPr>
          <p:cNvSpPr>
            <a:spLocks noGrp="1"/>
          </p:cNvSpPr>
          <p:nvPr>
            <p:ph type="sldNum" sz="quarter" idx="5"/>
          </p:nvPr>
        </p:nvSpPr>
        <p:spPr/>
        <p:txBody>
          <a:bodyPr/>
          <a:lstStyle/>
          <a:p>
            <a:fld id="{E3A6CE5E-F349-486D-8749-82EF2AD71FA8}" type="slidenum">
              <a:rPr lang="zh-TW" altLang="en-US" smtClean="0"/>
              <a:t>35</a:t>
            </a:fld>
            <a:endParaRPr lang="zh-TW" altLang="en-US"/>
          </a:p>
        </p:txBody>
      </p:sp>
    </p:spTree>
    <p:extLst>
      <p:ext uri="{BB962C8B-B14F-4D97-AF65-F5344CB8AC3E}">
        <p14:creationId xmlns:p14="http://schemas.microsoft.com/office/powerpoint/2010/main" val="316665463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A148A7-E727-1876-EEC2-EE1FF967761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8CDA593-F947-4F86-E4E2-84C334DA1432}"/>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C6618D0F-A824-BF63-762D-700713FACC9C}"/>
              </a:ext>
            </a:extLst>
          </p:cNvPr>
          <p:cNvSpPr>
            <a:spLocks noGrp="1"/>
          </p:cNvSpPr>
          <p:nvPr>
            <p:ph type="body" idx="1"/>
          </p:nvPr>
        </p:nvSpPr>
        <p:spPr/>
        <p:txBody>
          <a:bodyPr/>
          <a:lstStyle/>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A96DCFCD-5664-3FB0-02E6-0DE7A8DF9D26}"/>
              </a:ext>
            </a:extLst>
          </p:cNvPr>
          <p:cNvSpPr>
            <a:spLocks noGrp="1"/>
          </p:cNvSpPr>
          <p:nvPr>
            <p:ph type="sldNum" sz="quarter" idx="5"/>
          </p:nvPr>
        </p:nvSpPr>
        <p:spPr/>
        <p:txBody>
          <a:bodyPr/>
          <a:lstStyle/>
          <a:p>
            <a:fld id="{E3A6CE5E-F349-486D-8749-82EF2AD71FA8}" type="slidenum">
              <a:rPr lang="zh-TW" altLang="en-US" smtClean="0"/>
              <a:t>36</a:t>
            </a:fld>
            <a:endParaRPr lang="zh-TW" altLang="en-US"/>
          </a:p>
        </p:txBody>
      </p:sp>
    </p:spTree>
    <p:extLst>
      <p:ext uri="{BB962C8B-B14F-4D97-AF65-F5344CB8AC3E}">
        <p14:creationId xmlns:p14="http://schemas.microsoft.com/office/powerpoint/2010/main" val="241819012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BFFFF6-2CBF-8300-113B-EC3DDABCDE2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9BDCECB-4022-305D-2A1D-EB19C4980CE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45B8918-8C92-3358-81A2-2E68D560F7D9}"/>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以下為 DeepSeek 最核心的五大底層技術突破：</a:t>
            </a:r>
          </a:p>
          <a:p>
            <a:r>
              <a:rPr lang="zh-TW" altLang="zh-TW" sz="1200" b="1" u="none" strike="noStrike" kern="1200" dirty="0">
                <a:solidFill>
                  <a:schemeClr val="tx1"/>
                </a:solidFill>
                <a:effectLst/>
                <a:latin typeface="+mn-lt"/>
                <a:ea typeface="+mn-ea"/>
                <a:cs typeface="+mn-cs"/>
              </a:rPr>
              <a:t>1. MLA（Multi-head Latent Attention，多頭潛在注意力機制）</a:t>
            </a:r>
          </a:p>
          <a:p>
            <a:pPr lvl="0"/>
            <a:r>
              <a:rPr lang="zh-TW" altLang="zh-TW" sz="1200" b="1" u="none" strike="noStrike" kern="1200" dirty="0">
                <a:solidFill>
                  <a:schemeClr val="tx1"/>
                </a:solidFill>
                <a:effectLst/>
                <a:latin typeface="+mn-lt"/>
                <a:ea typeface="+mn-ea"/>
                <a:cs typeface="+mn-cs"/>
              </a:rPr>
              <a:t>技術原理</a:t>
            </a:r>
            <a:r>
              <a:rPr lang="zh-TW" altLang="zh-TW" sz="1200" b="0" u="none" strike="noStrike" kern="1200" dirty="0">
                <a:solidFill>
                  <a:schemeClr val="tx1"/>
                </a:solidFill>
                <a:effectLst/>
                <a:latin typeface="+mn-lt"/>
                <a:ea typeface="+mn-ea"/>
                <a:cs typeface="+mn-cs"/>
              </a:rPr>
              <a:t>：傳統大模型在大規模並發推理時，需要消耗海量的記憶體來儲存 </a:t>
            </a:r>
            <a:r>
              <a:rPr lang="zh-TW" altLang="zh-TW" sz="1200" b="1" u="none" strike="noStrike" kern="1200" dirty="0">
                <a:solidFill>
                  <a:schemeClr val="tx1"/>
                </a:solidFill>
                <a:effectLst/>
                <a:latin typeface="+mn-lt"/>
                <a:ea typeface="+mn-ea"/>
                <a:cs typeface="+mn-cs"/>
              </a:rPr>
              <a:t>KV Cache（鍵值快取）</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MLA 創新地採用了</a:t>
            </a:r>
            <a:r>
              <a:rPr lang="zh-TW" altLang="zh-TW" sz="1200" b="1" u="none" strike="noStrike" kern="1200" dirty="0">
                <a:solidFill>
                  <a:schemeClr val="tx1"/>
                </a:solidFill>
                <a:effectLst/>
                <a:latin typeface="+mn-lt"/>
                <a:ea typeface="+mn-ea"/>
                <a:cs typeface="+mn-cs"/>
              </a:rPr>
              <a:t>低秩聯合壓縮技術</a:t>
            </a:r>
            <a:r>
              <a:rPr lang="zh-TW" altLang="zh-TW" sz="1200" b="0" u="none" strike="noStrike" kern="1200" dirty="0">
                <a:solidFill>
                  <a:schemeClr val="tx1"/>
                </a:solidFill>
                <a:effectLst/>
                <a:latin typeface="+mn-lt"/>
                <a:ea typeface="+mn-ea"/>
                <a:cs typeface="+mn-cs"/>
              </a:rPr>
              <a:t>，將 Key 和 Value 向量壓縮成一個極小的潛在向量。</a:t>
            </a:r>
          </a:p>
          <a:p>
            <a:pPr lvl="0"/>
            <a:r>
              <a:rPr lang="zh-TW" altLang="zh-TW" sz="1200" b="1" u="none" strike="noStrike" kern="1200" dirty="0">
                <a:solidFill>
                  <a:schemeClr val="tx1"/>
                </a:solidFill>
                <a:effectLst/>
                <a:latin typeface="+mn-lt"/>
                <a:ea typeface="+mn-ea"/>
                <a:cs typeface="+mn-cs"/>
              </a:rPr>
              <a:t>核心優勢</a:t>
            </a:r>
            <a:r>
              <a:rPr lang="zh-TW" altLang="zh-TW" sz="1200" b="0" u="none" strike="noStrike" kern="1200" dirty="0">
                <a:solidFill>
                  <a:schemeClr val="tx1"/>
                </a:solidFill>
                <a:effectLst/>
                <a:latin typeface="+mn-lt"/>
                <a:ea typeface="+mn-ea"/>
                <a:cs typeface="+mn-cs"/>
              </a:rPr>
              <a:t>：在保持頂尖性能的同時，</a:t>
            </a:r>
            <a:r>
              <a:rPr lang="zh-TW" altLang="zh-TW" sz="1200" b="1" u="none" strike="noStrike" kern="1200" dirty="0">
                <a:solidFill>
                  <a:schemeClr val="tx1"/>
                </a:solidFill>
                <a:effectLst/>
                <a:latin typeface="+mn-lt"/>
                <a:ea typeface="+mn-ea"/>
                <a:cs typeface="+mn-cs"/>
              </a:rPr>
              <a:t>大幅降低了 93.3% 的 KV Cache 記憶體佔用</a:t>
            </a:r>
            <a:r>
              <a:rPr lang="zh-TW" altLang="zh-TW" sz="1200" b="0" u="none" strike="noStrike" kern="1200" dirty="0">
                <a:solidFill>
                  <a:schemeClr val="tx1"/>
                </a:solidFill>
                <a:effectLst/>
                <a:latin typeface="+mn-lt"/>
                <a:ea typeface="+mn-ea"/>
                <a:cs typeface="+mn-cs"/>
              </a:rPr>
              <a:t>，讓單張顯卡可以同時處理更多用戶的請求（提高吞吐量），顯著降低推理成本。</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DeepSeekMoE</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技術原理</a:t>
            </a:r>
            <a:r>
              <a:rPr lang="zh-TW" altLang="zh-TW" sz="1200" b="0" u="none" strike="noStrike" kern="1200" dirty="0">
                <a:solidFill>
                  <a:schemeClr val="tx1"/>
                </a:solidFill>
                <a:effectLst/>
                <a:latin typeface="+mn-lt"/>
                <a:ea typeface="+mn-ea"/>
                <a:cs typeface="+mn-cs"/>
              </a:rPr>
              <a:t>：與普通的 MoE（如 GPT-4）不同，DeepSeek 將專家網路進行了</a:t>
            </a:r>
            <a:r>
              <a:rPr lang="zh-TW" altLang="zh-TW" sz="1200" b="1" u="none" strike="noStrike" kern="1200" dirty="0">
                <a:solidFill>
                  <a:schemeClr val="tx1"/>
                </a:solidFill>
                <a:effectLst/>
                <a:latin typeface="+mn-lt"/>
                <a:ea typeface="+mn-ea"/>
                <a:cs typeface="+mn-cs"/>
              </a:rPr>
              <a:t>細粒度分割</a:t>
            </a:r>
            <a:r>
              <a:rPr lang="zh-TW" altLang="zh-TW" sz="1200" b="0" u="none" strike="noStrike" kern="1200" dirty="0">
                <a:solidFill>
                  <a:schemeClr val="tx1"/>
                </a:solidFill>
                <a:effectLst/>
                <a:latin typeface="+mn-lt"/>
                <a:ea typeface="+mn-ea"/>
                <a:cs typeface="+mn-cs"/>
              </a:rPr>
              <a:t>，劃分為「共享專家」與「路由專家」。</a:t>
            </a:r>
          </a:p>
          <a:p>
            <a:pPr lvl="1"/>
            <a:r>
              <a:rPr lang="zh-TW" altLang="zh-TW" sz="1200" b="1" u="none" strike="noStrike" kern="1200" dirty="0">
                <a:solidFill>
                  <a:schemeClr val="tx1"/>
                </a:solidFill>
                <a:effectLst/>
                <a:latin typeface="+mn-lt"/>
                <a:ea typeface="+mn-ea"/>
                <a:cs typeface="+mn-cs"/>
              </a:rPr>
              <a:t>共享專家（Shared Expert）</a:t>
            </a:r>
            <a:r>
              <a:rPr lang="zh-TW" altLang="zh-TW" sz="1200" b="0" u="none" strike="noStrike" kern="1200" dirty="0">
                <a:solidFill>
                  <a:schemeClr val="tx1"/>
                </a:solidFill>
                <a:effectLst/>
                <a:latin typeface="+mn-lt"/>
                <a:ea typeface="+mn-ea"/>
                <a:cs typeface="+mn-cs"/>
              </a:rPr>
              <a:t>：專門負責捕獲所有任務共同的通用知識。</a:t>
            </a:r>
          </a:p>
          <a:p>
            <a:pPr lvl="1"/>
            <a:r>
              <a:rPr lang="zh-TW" altLang="zh-TW" sz="1200" b="1" u="none" strike="noStrike" kern="1200" dirty="0">
                <a:solidFill>
                  <a:schemeClr val="tx1"/>
                </a:solidFill>
                <a:effectLst/>
                <a:latin typeface="+mn-lt"/>
                <a:ea typeface="+mn-ea"/>
                <a:cs typeface="+mn-cs"/>
              </a:rPr>
              <a:t>路由專家（Routed Experts）</a:t>
            </a:r>
            <a:r>
              <a:rPr lang="zh-TW" altLang="zh-TW" sz="1200" b="0" u="none" strike="noStrike" kern="1200" dirty="0">
                <a:solidFill>
                  <a:schemeClr val="tx1"/>
                </a:solidFill>
                <a:effectLst/>
                <a:latin typeface="+mn-lt"/>
                <a:ea typeface="+mn-ea"/>
                <a:cs typeface="+mn-cs"/>
              </a:rPr>
              <a:t>：進一步細分，被動激活來處理特定專業領域的任務。</a:t>
            </a:r>
          </a:p>
          <a:p>
            <a:pPr lvl="0"/>
            <a:r>
              <a:rPr lang="zh-TW" altLang="zh-TW" sz="1200" b="1" u="none" strike="noStrike" kern="1200" dirty="0">
                <a:solidFill>
                  <a:schemeClr val="tx1"/>
                </a:solidFill>
                <a:effectLst/>
                <a:latin typeface="+mn-lt"/>
                <a:ea typeface="+mn-ea"/>
                <a:cs typeface="+mn-cs"/>
              </a:rPr>
              <a:t>核心優勢</a:t>
            </a:r>
            <a:r>
              <a:rPr lang="zh-TW" altLang="zh-TW" sz="1200" b="0" u="none" strike="noStrike" kern="1200" dirty="0">
                <a:solidFill>
                  <a:schemeClr val="tx1"/>
                </a:solidFill>
                <a:effectLst/>
                <a:latin typeface="+mn-lt"/>
                <a:ea typeface="+mn-ea"/>
                <a:cs typeface="+mn-cs"/>
              </a:rPr>
              <a:t>：避免了專家之間的知識冗餘，並研發出「無輔助損失的負載均衡策略」，解決了以往 MoE 模型訓練不均勻的難題，達到</a:t>
            </a:r>
            <a:r>
              <a:rPr lang="zh-TW" altLang="zh-TW" sz="1200" b="1" u="none" strike="noStrike" kern="1200" dirty="0">
                <a:solidFill>
                  <a:schemeClr val="tx1"/>
                </a:solidFill>
                <a:effectLst/>
                <a:latin typeface="+mn-lt"/>
                <a:ea typeface="+mn-ea"/>
                <a:cs typeface="+mn-cs"/>
              </a:rPr>
              <a:t>高參數總量、低激活計算量</a:t>
            </a:r>
            <a:r>
              <a:rPr lang="zh-TW" altLang="zh-TW" sz="1200" b="0" u="none" strike="noStrike" kern="1200" dirty="0">
                <a:solidFill>
                  <a:schemeClr val="tx1"/>
                </a:solidFill>
                <a:effectLst/>
                <a:latin typeface="+mn-lt"/>
                <a:ea typeface="+mn-ea"/>
                <a:cs typeface="+mn-cs"/>
              </a:rPr>
              <a:t>的完美平衡。</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GRPO（Group Relative Policy Optimization，廣義相對策略優化）</a:t>
            </a:r>
          </a:p>
          <a:p>
            <a:pPr lvl="0"/>
            <a:r>
              <a:rPr lang="zh-TW" altLang="zh-TW" sz="1200" b="1" u="none" strike="noStrike" kern="1200" dirty="0">
                <a:solidFill>
                  <a:schemeClr val="tx1"/>
                </a:solidFill>
                <a:effectLst/>
                <a:latin typeface="+mn-lt"/>
                <a:ea typeface="+mn-ea"/>
                <a:cs typeface="+mn-cs"/>
              </a:rPr>
              <a:t>技術原理</a:t>
            </a:r>
            <a:r>
              <a:rPr lang="zh-TW" altLang="zh-TW" sz="1200" b="0" u="none" strike="noStrike" kern="1200" dirty="0">
                <a:solidFill>
                  <a:schemeClr val="tx1"/>
                </a:solidFill>
                <a:effectLst/>
                <a:latin typeface="+mn-lt"/>
                <a:ea typeface="+mn-ea"/>
                <a:cs typeface="+mn-cs"/>
              </a:rPr>
              <a:t>：在進行強化學習（RL）訓練時，傳統的 PPO 演算法需要佈署一個體積龐大、耗費算力的「評論家模型（Critic Model）」來打分。而 </a:t>
            </a:r>
            <a:r>
              <a:rPr lang="zh-TW" altLang="zh-TW" sz="1200" b="1" u="none" strike="noStrike" kern="1200" dirty="0">
                <a:solidFill>
                  <a:schemeClr val="tx1"/>
                </a:solidFill>
                <a:effectLst/>
                <a:latin typeface="+mn-lt"/>
                <a:ea typeface="+mn-ea"/>
                <a:cs typeface="+mn-cs"/>
              </a:rPr>
              <a:t>GRPO 直接取消了 Critic 模型</a:t>
            </a:r>
            <a:r>
              <a:rPr lang="zh-TW" altLang="zh-TW" sz="1200" b="0" u="none" strike="noStrike" kern="1200" dirty="0">
                <a:solidFill>
                  <a:schemeClr val="tx1"/>
                </a:solidFill>
                <a:effectLst/>
                <a:latin typeface="+mn-lt"/>
                <a:ea typeface="+mn-ea"/>
                <a:cs typeface="+mn-cs"/>
              </a:rPr>
              <a:t>，改為讓模型同時生成一組回答（Group），並透過這一組回答之間的</a:t>
            </a:r>
            <a:r>
              <a:rPr lang="zh-TW" altLang="zh-TW" sz="1200" b="1" u="none" strike="noStrike" kern="1200" dirty="0">
                <a:solidFill>
                  <a:schemeClr val="tx1"/>
                </a:solidFill>
                <a:effectLst/>
                <a:latin typeface="+mn-lt"/>
                <a:ea typeface="+mn-ea"/>
                <a:cs typeface="+mn-cs"/>
              </a:rPr>
              <a:t>相對好壞</a:t>
            </a:r>
            <a:r>
              <a:rPr lang="zh-TW" altLang="zh-TW" sz="1200" b="0" u="none" strike="noStrike" kern="1200" dirty="0">
                <a:solidFill>
                  <a:schemeClr val="tx1"/>
                </a:solidFill>
                <a:effectLst/>
                <a:latin typeface="+mn-lt"/>
                <a:ea typeface="+mn-ea"/>
                <a:cs typeface="+mn-cs"/>
              </a:rPr>
              <a:t>來進行自我修正與學習。</a:t>
            </a:r>
          </a:p>
          <a:p>
            <a:pPr lvl="0"/>
            <a:r>
              <a:rPr lang="zh-TW" altLang="zh-TW" sz="1200" b="1" u="none" strike="noStrike" kern="1200" dirty="0">
                <a:solidFill>
                  <a:schemeClr val="tx1"/>
                </a:solidFill>
                <a:effectLst/>
                <a:latin typeface="+mn-lt"/>
                <a:ea typeface="+mn-ea"/>
                <a:cs typeface="+mn-cs"/>
              </a:rPr>
              <a:t>核心優勢</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節省了大量的訓練記憶體與算力</a:t>
            </a:r>
            <a:r>
              <a:rPr lang="zh-TW" altLang="zh-TW" sz="1200" b="0" u="none" strike="noStrike" kern="1200" dirty="0">
                <a:solidFill>
                  <a:schemeClr val="tx1"/>
                </a:solidFill>
                <a:effectLst/>
                <a:latin typeface="+mn-lt"/>
                <a:ea typeface="+mn-ea"/>
                <a:cs typeface="+mn-cs"/>
              </a:rPr>
              <a:t>，這是 DeepSeek-R1 模型能夠在不依賴大量人工微調（SFT）的情況下，自我湧現出強大邏輯思考與「思維鏈（CoT）」能力的關鍵演算法。</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MTP（Multi-Token Prediction，多 Token 預測技術）</a:t>
            </a:r>
          </a:p>
          <a:p>
            <a:pPr lvl="0"/>
            <a:r>
              <a:rPr lang="zh-TW" altLang="zh-TW" sz="1200" b="1" u="none" strike="noStrike" kern="1200" dirty="0">
                <a:solidFill>
                  <a:schemeClr val="tx1"/>
                </a:solidFill>
                <a:effectLst/>
                <a:latin typeface="+mn-lt"/>
                <a:ea typeface="+mn-ea"/>
                <a:cs typeface="+mn-cs"/>
              </a:rPr>
              <a:t>技術原理</a:t>
            </a:r>
            <a:r>
              <a:rPr lang="zh-TW" altLang="zh-TW" sz="1200" b="0" u="none" strike="noStrike" kern="1200" dirty="0">
                <a:solidFill>
                  <a:schemeClr val="tx1"/>
                </a:solidFill>
                <a:effectLst/>
                <a:latin typeface="+mn-lt"/>
                <a:ea typeface="+mn-ea"/>
                <a:cs typeface="+mn-cs"/>
              </a:rPr>
              <a:t>：傳統大模型在訓練時，每次只預測下一個字（Next-Token Prediction）。DeepSeek 引入了 MTP，在每個訓練位置上</a:t>
            </a:r>
            <a:r>
              <a:rPr lang="zh-TW" altLang="zh-TW" sz="1200" b="1" u="none" strike="noStrike" kern="1200" dirty="0">
                <a:solidFill>
                  <a:schemeClr val="tx1"/>
                </a:solidFill>
                <a:effectLst/>
                <a:latin typeface="+mn-lt"/>
                <a:ea typeface="+mn-ea"/>
                <a:cs typeface="+mn-cs"/>
              </a:rPr>
              <a:t>一次性並行或順序預測多個未來的 Token</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核心優勢</a:t>
            </a:r>
            <a:r>
              <a:rPr lang="zh-TW" altLang="zh-TW" sz="1200" b="0" u="none" strike="noStrike" kern="1200" dirty="0">
                <a:solidFill>
                  <a:schemeClr val="tx1"/>
                </a:solidFill>
                <a:effectLst/>
                <a:latin typeface="+mn-lt"/>
                <a:ea typeface="+mn-ea"/>
                <a:cs typeface="+mn-cs"/>
              </a:rPr>
              <a:t>：大幅提升了模型在訓練時的數據利用效率，讓模型對上下文的長文本演進具有更強的規劃能力，進一步優化了程式碼與邏輯推理的表現。</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5. 極致的硬體與通訊工程優化</a:t>
            </a:r>
          </a:p>
          <a:p>
            <a:pPr lvl="0"/>
            <a:r>
              <a:rPr lang="zh-TW" altLang="zh-TW" sz="1200" b="1" u="none" strike="noStrike" kern="1200" dirty="0">
                <a:solidFill>
                  <a:schemeClr val="tx1"/>
                </a:solidFill>
                <a:effectLst/>
                <a:latin typeface="+mn-lt"/>
                <a:ea typeface="+mn-ea"/>
                <a:cs typeface="+mn-cs"/>
              </a:rPr>
              <a:t>DualPipe 流水線並行</a:t>
            </a:r>
            <a:r>
              <a:rPr lang="zh-TW" altLang="zh-TW" sz="1200" b="0" u="none" strike="noStrike" kern="1200" dirty="0">
                <a:solidFill>
                  <a:schemeClr val="tx1"/>
                </a:solidFill>
                <a:effectLst/>
                <a:latin typeface="+mn-lt"/>
                <a:ea typeface="+mn-ea"/>
                <a:cs typeface="+mn-cs"/>
              </a:rPr>
              <a:t>：自研的高效並行演算法，成功讓 GPU 在進行跨節點通訊時「重疊」計算與數據傳輸，</a:t>
            </a:r>
            <a:r>
              <a:rPr lang="zh-TW" altLang="zh-TW" sz="1200" b="1" u="none" strike="noStrike" kern="1200" dirty="0">
                <a:solidFill>
                  <a:schemeClr val="tx1"/>
                </a:solidFill>
                <a:effectLst/>
                <a:latin typeface="+mn-lt"/>
                <a:ea typeface="+mn-ea"/>
                <a:cs typeface="+mn-cs"/>
              </a:rPr>
              <a:t>消除了 GPU 等待通訊的空閒時間（Bubble）</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FP8 低精度訓練</a:t>
            </a:r>
            <a:r>
              <a:rPr lang="zh-TW" altLang="zh-TW" sz="1200" b="0" u="none" strike="noStrike" kern="1200" dirty="0">
                <a:solidFill>
                  <a:schemeClr val="tx1"/>
                </a:solidFill>
                <a:effectLst/>
                <a:latin typeface="+mn-lt"/>
                <a:ea typeface="+mn-ea"/>
                <a:cs typeface="+mn-cs"/>
              </a:rPr>
              <a:t>：大規模在模型中採用 FP8（8位浮點數）精度進行計算，在極少損失精確度的情況下，將記憶體頻寬與計算速度逼近硬體極限。</a:t>
            </a:r>
          </a:p>
          <a:p>
            <a:pPr lvl="0"/>
            <a:r>
              <a:rPr lang="zh-TW" altLang="zh-TW" sz="1200" b="1" u="none" strike="noStrike" kern="1200" dirty="0">
                <a:solidFill>
                  <a:schemeClr val="tx1"/>
                </a:solidFill>
                <a:effectLst/>
                <a:latin typeface="+mn-lt"/>
                <a:ea typeface="+mn-ea"/>
                <a:cs typeface="+mn-cs"/>
              </a:rPr>
              <a:t>3FS（Fire-Flyer 檔案系統）</a:t>
            </a:r>
            <a:r>
              <a:rPr lang="zh-TW" altLang="zh-TW" sz="1200" b="0" u="none" strike="noStrike" kern="1200" dirty="0">
                <a:solidFill>
                  <a:schemeClr val="tx1"/>
                </a:solidFill>
                <a:effectLst/>
                <a:latin typeface="+mn-lt"/>
                <a:ea typeface="+mn-ea"/>
                <a:cs typeface="+mn-cs"/>
              </a:rPr>
              <a:t>：因應自建的算力集群開發的分布式並行檔案系統，專為大模型訓練中的隨機高頻讀取量身打造。 </a:t>
            </a:r>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10192911-3471-19CB-5ED9-6FC7027DB73E}"/>
              </a:ext>
            </a:extLst>
          </p:cNvPr>
          <p:cNvSpPr>
            <a:spLocks noGrp="1"/>
          </p:cNvSpPr>
          <p:nvPr>
            <p:ph type="sldNum" sz="quarter" idx="5"/>
          </p:nvPr>
        </p:nvSpPr>
        <p:spPr/>
        <p:txBody>
          <a:bodyPr/>
          <a:lstStyle/>
          <a:p>
            <a:fld id="{E3A6CE5E-F349-486D-8749-82EF2AD71FA8}" type="slidenum">
              <a:rPr lang="zh-TW" altLang="en-US" smtClean="0"/>
              <a:t>37</a:t>
            </a:fld>
            <a:endParaRPr lang="zh-TW" altLang="en-US"/>
          </a:p>
        </p:txBody>
      </p:sp>
    </p:spTree>
    <p:extLst>
      <p:ext uri="{BB962C8B-B14F-4D97-AF65-F5344CB8AC3E}">
        <p14:creationId xmlns:p14="http://schemas.microsoft.com/office/powerpoint/2010/main" val="302294458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38</a:t>
            </a:fld>
            <a:endParaRPr lang="zh-TW" altLang="en-US"/>
          </a:p>
        </p:txBody>
      </p:sp>
    </p:spTree>
    <p:extLst>
      <p:ext uri="{BB962C8B-B14F-4D97-AF65-F5344CB8AC3E}">
        <p14:creationId xmlns:p14="http://schemas.microsoft.com/office/powerpoint/2010/main" val="25572861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529A-4EF9-2EEE-5A60-C291D7D7775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C0779BF-F829-C373-BE62-F8275D55A9B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B531954-A0C7-0F67-E78A-CBF9608AE9E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294B2211-4D24-D0CD-E8B5-6DAC6082A825}"/>
              </a:ext>
            </a:extLst>
          </p:cNvPr>
          <p:cNvSpPr>
            <a:spLocks noGrp="1"/>
          </p:cNvSpPr>
          <p:nvPr>
            <p:ph type="sldNum" sz="quarter" idx="5"/>
          </p:nvPr>
        </p:nvSpPr>
        <p:spPr/>
        <p:txBody>
          <a:bodyPr/>
          <a:lstStyle/>
          <a:p>
            <a:fld id="{E3A6CE5E-F349-486D-8749-82EF2AD71FA8}" type="slidenum">
              <a:rPr lang="zh-TW" altLang="en-US" smtClean="0"/>
              <a:t>43</a:t>
            </a:fld>
            <a:endParaRPr lang="zh-TW" altLang="en-US"/>
          </a:p>
        </p:txBody>
      </p:sp>
    </p:spTree>
    <p:extLst>
      <p:ext uri="{BB962C8B-B14F-4D97-AF65-F5344CB8AC3E}">
        <p14:creationId xmlns:p14="http://schemas.microsoft.com/office/powerpoint/2010/main" val="413775462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755B09-3B3A-04FC-B910-FD514564E8D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97D7B1-3963-C2C0-8936-531A5502EA3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2D87AC4C-85F7-140D-7FC7-B8BF07EEF986}"/>
              </a:ext>
            </a:extLst>
          </p:cNvPr>
          <p:cNvSpPr>
            <a:spLocks noGrp="1"/>
          </p:cNvSpPr>
          <p:nvPr>
            <p:ph type="body" idx="1"/>
          </p:nvPr>
        </p:nvSpPr>
        <p:spPr/>
        <p:txBody>
          <a:bodyPr/>
          <a:lstStyle/>
          <a:p>
            <a:r>
              <a:rPr lang="zh-TW" altLang="zh-TW" dirty="0"/>
              <a:t>在傳統的 Transformer 架構中，模型運作會面臨兩個維度的資訊損耗：</a:t>
            </a:r>
            <a:endParaRPr lang="en-US" altLang="zh-TW" dirty="0"/>
          </a:p>
          <a:p>
            <a:r>
              <a:rPr lang="zh-TW" altLang="zh-TW" dirty="0"/>
              <a:t>一個是文字序列越長，記憶體越容易爆掉（水平瓶頸）；</a:t>
            </a:r>
            <a:endParaRPr lang="en-US" altLang="zh-TW" dirty="0"/>
          </a:p>
          <a:p>
            <a:r>
              <a:rPr lang="zh-TW" altLang="zh-TW" dirty="0"/>
              <a:t>另一個是神經網路層數越深，早期的重要訊號越容易被後面的層沖淡（垂直瓶頸）。</a:t>
            </a:r>
            <a:endParaRPr lang="en-US" altLang="zh-TW" dirty="0"/>
          </a:p>
          <a:p>
            <a:r>
              <a:rPr lang="zh-TW" altLang="zh-TW" dirty="0"/>
              <a:t>Kimi 的解法是將「注意力機制」同時應用在這兩個維度：</a:t>
            </a:r>
            <a:endParaRPr lang="zh-TW" altLang="en-US" dirty="0"/>
          </a:p>
        </p:txBody>
      </p:sp>
      <p:sp>
        <p:nvSpPr>
          <p:cNvPr id="4" name="投影片編號版面配置區 3">
            <a:extLst>
              <a:ext uri="{FF2B5EF4-FFF2-40B4-BE49-F238E27FC236}">
                <a16:creationId xmlns:a16="http://schemas.microsoft.com/office/drawing/2014/main" id="{72BCDD50-3061-C594-041C-9330E755B76F}"/>
              </a:ext>
            </a:extLst>
          </p:cNvPr>
          <p:cNvSpPr>
            <a:spLocks noGrp="1"/>
          </p:cNvSpPr>
          <p:nvPr>
            <p:ph type="sldNum" sz="quarter" idx="5"/>
          </p:nvPr>
        </p:nvSpPr>
        <p:spPr/>
        <p:txBody>
          <a:bodyPr/>
          <a:lstStyle/>
          <a:p>
            <a:fld id="{E3A6CE5E-F349-486D-8749-82EF2AD71FA8}" type="slidenum">
              <a:rPr lang="zh-TW" altLang="en-US" smtClean="0"/>
              <a:t>44</a:t>
            </a:fld>
            <a:endParaRPr lang="zh-TW" altLang="en-US"/>
          </a:p>
        </p:txBody>
      </p:sp>
    </p:spTree>
    <p:extLst>
      <p:ext uri="{BB962C8B-B14F-4D97-AF65-F5344CB8AC3E}">
        <p14:creationId xmlns:p14="http://schemas.microsoft.com/office/powerpoint/2010/main" val="340224797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DAF9E9-CC83-DF27-E397-155D3F2D0B0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3C573ED-4303-C760-C0E6-466DBCFD019D}"/>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555CB64-0641-AE5C-0077-6CD2BA1E2E47}"/>
              </a:ext>
            </a:extLst>
          </p:cNvPr>
          <p:cNvSpPr>
            <a:spLocks noGrp="1"/>
          </p:cNvSpPr>
          <p:nvPr>
            <p:ph type="body" idx="1"/>
          </p:nvPr>
        </p:nvSpPr>
        <p:spPr/>
        <p:txBody>
          <a:bodyPr/>
          <a:lstStyle/>
          <a:p>
            <a:pPr lvl="0"/>
            <a:r>
              <a:rPr lang="en-US" altLang="zh-TW" sz="1200" b="0" u="none" strike="noStrike" kern="1200" dirty="0">
                <a:solidFill>
                  <a:schemeClr val="tx1"/>
                </a:solidFill>
                <a:effectLst/>
                <a:latin typeface="+mn-lt"/>
                <a:ea typeface="+mn-ea"/>
                <a:cs typeface="+mn-cs"/>
              </a:rPr>
              <a:t>KDA</a:t>
            </a:r>
            <a:r>
              <a:rPr lang="zh-TW" altLang="zh-TW" sz="1200" b="1" u="none" strike="noStrike" kern="1200" dirty="0">
                <a:solidFill>
                  <a:schemeClr val="tx1"/>
                </a:solidFill>
                <a:effectLst/>
                <a:latin typeface="+mn-lt"/>
                <a:ea typeface="+mn-ea"/>
                <a:cs typeface="+mn-cs"/>
              </a:rPr>
              <a:t>技術原理</a:t>
            </a:r>
            <a:r>
              <a:rPr lang="zh-TW" altLang="zh-TW" dirty="0"/>
              <a:t>：</a:t>
            </a:r>
            <a:r>
              <a:rPr lang="zh-TW" altLang="zh-TW" sz="1200" b="0" u="none" strike="noStrike" kern="1200" dirty="0">
                <a:solidFill>
                  <a:schemeClr val="tx1"/>
                </a:solidFill>
                <a:effectLst/>
                <a:latin typeface="+mn-lt"/>
                <a:ea typeface="+mn-ea"/>
                <a:cs typeface="+mn-cs"/>
              </a:rPr>
              <a:t>：傳統的 Transformer 架構在處理百萬級 Token 時，KV Cache（鍵值快取）會耗盡所有顯存。</a:t>
            </a:r>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KDA 是一種</a:t>
            </a:r>
            <a:r>
              <a:rPr lang="zh-TW" altLang="zh-TW" sz="1200" b="1" u="none" strike="noStrike" kern="1200" dirty="0">
                <a:solidFill>
                  <a:schemeClr val="tx1"/>
                </a:solidFill>
                <a:effectLst/>
                <a:latin typeface="+mn-lt"/>
                <a:ea typeface="+mn-ea"/>
                <a:cs typeface="+mn-cs"/>
              </a:rPr>
              <a:t>混合線性注意力機制</a:t>
            </a:r>
            <a:r>
              <a:rPr lang="zh-TW" altLang="zh-TW" sz="1200" b="0" u="none" strike="noStrike" kern="1200" dirty="0">
                <a:solidFill>
                  <a:schemeClr val="tx1"/>
                </a:solidFill>
                <a:effectLst/>
                <a:latin typeface="+mn-lt"/>
                <a:ea typeface="+mn-ea"/>
                <a:cs typeface="+mn-cs"/>
              </a:rPr>
              <a:t>，它在不損失長文本脈絡的前提下，引入了循環狀態快取（Recurrent State Caches），大幅縮減了每一步解碼需要保留的常規 KV 對。</a:t>
            </a:r>
          </a:p>
          <a:p>
            <a:pPr lvl="0"/>
            <a:r>
              <a:rPr lang="zh-TW" altLang="zh-TW" sz="1200" b="1" u="none" strike="noStrike" kern="1200" dirty="0">
                <a:solidFill>
                  <a:schemeClr val="tx1"/>
                </a:solidFill>
                <a:effectLst/>
                <a:latin typeface="+mn-lt"/>
                <a:ea typeface="+mn-ea"/>
                <a:cs typeface="+mn-cs"/>
              </a:rPr>
              <a:t>擅長效果</a:t>
            </a:r>
            <a:r>
              <a:rPr lang="zh-TW" altLang="zh-TW" sz="1200" b="0" u="none" strike="noStrike" kern="1200" dirty="0">
                <a:solidFill>
                  <a:schemeClr val="tx1"/>
                </a:solidFill>
                <a:effectLst/>
                <a:latin typeface="+mn-lt"/>
                <a:ea typeface="+mn-ea"/>
                <a:cs typeface="+mn-cs"/>
              </a:rPr>
              <a:t>：實現高達 </a:t>
            </a:r>
            <a:r>
              <a:rPr lang="zh-TW" altLang="zh-TW" sz="1200" b="1" u="none" strike="noStrike" kern="1200" dirty="0">
                <a:solidFill>
                  <a:schemeClr val="tx1"/>
                </a:solidFill>
                <a:effectLst/>
                <a:latin typeface="+mn-lt"/>
                <a:ea typeface="+mn-ea"/>
                <a:cs typeface="+mn-cs"/>
              </a:rPr>
              <a:t>100 萬 Token 的超長上下文視窗</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66461CB-AAFB-8D6B-0436-EE1377E4AB5B}"/>
              </a:ext>
            </a:extLst>
          </p:cNvPr>
          <p:cNvSpPr>
            <a:spLocks noGrp="1"/>
          </p:cNvSpPr>
          <p:nvPr>
            <p:ph type="sldNum" sz="quarter" idx="5"/>
          </p:nvPr>
        </p:nvSpPr>
        <p:spPr/>
        <p:txBody>
          <a:bodyPr/>
          <a:lstStyle/>
          <a:p>
            <a:fld id="{E3A6CE5E-F349-486D-8749-82EF2AD71FA8}" type="slidenum">
              <a:rPr lang="zh-TW" altLang="en-US" smtClean="0"/>
              <a:t>45</a:t>
            </a:fld>
            <a:endParaRPr lang="zh-TW" altLang="en-US"/>
          </a:p>
        </p:txBody>
      </p:sp>
    </p:spTree>
    <p:extLst>
      <p:ext uri="{BB962C8B-B14F-4D97-AF65-F5344CB8AC3E}">
        <p14:creationId xmlns:p14="http://schemas.microsoft.com/office/powerpoint/2010/main" val="393989916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4E6667-2A85-FF53-8F83-A2A48D7CC895}"/>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29B604A-8ED3-03F5-03F9-DAF0CCD5B826}"/>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72D3A238-5F41-23FE-BADB-1E35C342E214}"/>
              </a:ext>
            </a:extLst>
          </p:cNvPr>
          <p:cNvSpPr>
            <a:spLocks noGrp="1"/>
          </p:cNvSpPr>
          <p:nvPr>
            <p:ph type="body" idx="1"/>
          </p:nvPr>
        </p:nvSpPr>
        <p:spPr/>
        <p:txBody>
          <a:bodyPr/>
          <a:lstStyle/>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Kimi K3 基于 Kimi Delta Attention（KDA）和 Attention Residuals（AttnRes）构建。</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Mixture of Experts（MoE）的稀疏度</a:t>
            </a:r>
            <a:r>
              <a:rPr lang="en-US" altLang="zh-TW" sz="1200" b="0" i="0" kern="1200" dirty="0">
                <a:solidFill>
                  <a:schemeClr val="tx1"/>
                </a:solidFill>
                <a:effectLst/>
                <a:latin typeface="+mn-lt"/>
                <a:ea typeface="+mn-ea"/>
                <a:cs typeface="+mn-cs"/>
              </a:rPr>
              <a:t>(16/896</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=1.8%)</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Stable Latent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MoE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由</a:t>
            </a:r>
            <a:r>
              <a:rPr lang="en-US" altLang="zh-TW" sz="1200" b="0" i="0" kern="1200" dirty="0">
                <a:solidFill>
                  <a:schemeClr val="tx1"/>
                </a:solidFill>
                <a:effectLst/>
                <a:latin typeface="+mn-lt"/>
                <a:ea typeface="+mn-ea"/>
                <a:cs typeface="+mn-cs"/>
              </a:rPr>
              <a:t>896</a:t>
            </a:r>
            <a:r>
              <a:rPr lang="zh-TW" altLang="en-US" sz="1200" b="0" i="0" kern="1200" dirty="0">
                <a:solidFill>
                  <a:schemeClr val="tx1"/>
                </a:solidFill>
                <a:effectLst/>
                <a:latin typeface="+mn-lt"/>
                <a:ea typeface="+mn-ea"/>
                <a:cs typeface="+mn-cs"/>
              </a:rPr>
              <a:t>個專家</a:t>
            </a:r>
            <a:r>
              <a:rPr lang="zh-TW" altLang="zh-TW" sz="1200" b="0" i="0" kern="1200" dirty="0">
                <a:solidFill>
                  <a:schemeClr val="tx1"/>
                </a:solidFill>
                <a:effectLst/>
                <a:latin typeface="+mn-lt"/>
                <a:ea typeface="+mn-ea"/>
                <a:cs typeface="+mn-cs"/>
              </a:rPr>
              <a:t>模型</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高效激活16</a:t>
            </a:r>
            <a:r>
              <a:rPr lang="zh-TW" altLang="en-US" sz="1200" b="0" i="0" kern="1200" dirty="0">
                <a:solidFill>
                  <a:schemeClr val="tx1"/>
                </a:solidFill>
                <a:effectLst/>
                <a:latin typeface="+mn-lt"/>
                <a:ea typeface="+mn-ea"/>
                <a:cs typeface="+mn-cs"/>
              </a:rPr>
              <a:t>個</a:t>
            </a:r>
            <a:r>
              <a:rPr lang="zh-TW" altLang="zh-TW"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(2</a:t>
            </a:r>
            <a:r>
              <a:rPr lang="zh-TW" altLang="en-US" sz="1200" b="0" i="0" kern="1200" dirty="0">
                <a:solidFill>
                  <a:schemeClr val="tx1"/>
                </a:solidFill>
                <a:effectLst/>
                <a:latin typeface="+mn-lt"/>
                <a:ea typeface="+mn-ea"/>
                <a:cs typeface="+mn-cs"/>
              </a:rPr>
              <a:t>常駐分享</a:t>
            </a:r>
            <a:r>
              <a:rPr lang="en-US" altLang="zh-TW" sz="1200" b="0" i="0" kern="1200" dirty="0">
                <a:solidFill>
                  <a:schemeClr val="tx1"/>
                </a:solidFill>
                <a:effectLst/>
                <a:latin typeface="+mn-lt"/>
                <a:ea typeface="+mn-ea"/>
                <a:cs typeface="+mn-cs"/>
              </a:rPr>
              <a:t>+14</a:t>
            </a:r>
            <a:r>
              <a:rPr lang="zh-TW" altLang="en-US" sz="1200" b="0" i="0" kern="1200" dirty="0">
                <a:solidFill>
                  <a:schemeClr val="tx1"/>
                </a:solidFill>
                <a:effectLst/>
                <a:latin typeface="+mn-lt"/>
                <a:ea typeface="+mn-ea"/>
                <a:cs typeface="+mn-cs"/>
              </a:rPr>
              <a:t>動態選取</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再加上训练方法和数据配方的优化，这些结构性改进让 Kimi K3 相比 K2 的整体扩展效率提升约 2.5 倍，能更有效地把算力转化为能力。</a:t>
            </a:r>
            <a:endParaRPr lang="zh-TW" altLang="en-US" dirty="0"/>
          </a:p>
        </p:txBody>
      </p:sp>
      <p:sp>
        <p:nvSpPr>
          <p:cNvPr id="4" name="投影片編號版面配置區 3">
            <a:extLst>
              <a:ext uri="{FF2B5EF4-FFF2-40B4-BE49-F238E27FC236}">
                <a16:creationId xmlns:a16="http://schemas.microsoft.com/office/drawing/2014/main" id="{12179625-06B8-3D73-D2D4-34D86FEE2A0A}"/>
              </a:ext>
            </a:extLst>
          </p:cNvPr>
          <p:cNvSpPr>
            <a:spLocks noGrp="1"/>
          </p:cNvSpPr>
          <p:nvPr>
            <p:ph type="sldNum" sz="quarter" idx="5"/>
          </p:nvPr>
        </p:nvSpPr>
        <p:spPr/>
        <p:txBody>
          <a:bodyPr/>
          <a:lstStyle/>
          <a:p>
            <a:fld id="{E3A6CE5E-F349-486D-8749-82EF2AD71FA8}" type="slidenum">
              <a:rPr lang="zh-TW" altLang="en-US" smtClean="0"/>
              <a:t>46</a:t>
            </a:fld>
            <a:endParaRPr lang="zh-TW" altLang="en-US"/>
          </a:p>
        </p:txBody>
      </p:sp>
    </p:spTree>
    <p:extLst>
      <p:ext uri="{BB962C8B-B14F-4D97-AF65-F5344CB8AC3E}">
        <p14:creationId xmlns:p14="http://schemas.microsoft.com/office/powerpoint/2010/main" val="406511946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98A0C2-F10F-41F2-4901-D00B23DA82B0}"/>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309C615-DC37-D33D-FC81-B6B7E8E5162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24B19ED-2691-D788-2378-E6045F29620F}"/>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74594A81-2AB8-1C7D-0016-4C3AEAD9A2B0}"/>
              </a:ext>
            </a:extLst>
          </p:cNvPr>
          <p:cNvSpPr>
            <a:spLocks noGrp="1"/>
          </p:cNvSpPr>
          <p:nvPr>
            <p:ph type="sldNum" sz="quarter" idx="5"/>
          </p:nvPr>
        </p:nvSpPr>
        <p:spPr/>
        <p:txBody>
          <a:bodyPr/>
          <a:lstStyle/>
          <a:p>
            <a:fld id="{E3A6CE5E-F349-486D-8749-82EF2AD71FA8}" type="slidenum">
              <a:rPr lang="zh-TW" altLang="en-US" smtClean="0"/>
              <a:t>47</a:t>
            </a:fld>
            <a:endParaRPr lang="zh-TW" altLang="en-US"/>
          </a:p>
        </p:txBody>
      </p:sp>
    </p:spTree>
    <p:extLst>
      <p:ext uri="{BB962C8B-B14F-4D97-AF65-F5344CB8AC3E}">
        <p14:creationId xmlns:p14="http://schemas.microsoft.com/office/powerpoint/2010/main" val="255343351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4926C-9EED-C470-ED03-7E77F765696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57F5C9E-88DB-47B1-6582-F37455330CF3}"/>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42B8BCA-D2D3-D8F3-5EF4-B9A54DB6AD62}"/>
              </a:ext>
            </a:extLst>
          </p:cNvPr>
          <p:cNvSpPr>
            <a:spLocks noGrp="1"/>
          </p:cNvSpPr>
          <p:nvPr>
            <p:ph type="body" idx="1"/>
          </p:nvPr>
        </p:nvSpPr>
        <p:spPr/>
        <p:txBody>
          <a:bodyPr/>
          <a:lstStyle/>
          <a:p>
            <a:r>
              <a:rPr lang="zh-TW" altLang="zh-TW" dirty="0"/>
              <a:t>在傳統的 Transformer 架構中，模型運作會面臨兩個維度的資訊損耗：</a:t>
            </a:r>
            <a:endParaRPr lang="en-US" altLang="zh-TW" dirty="0"/>
          </a:p>
          <a:p>
            <a:r>
              <a:rPr lang="zh-TW" altLang="zh-TW" dirty="0"/>
              <a:t>一個是文字序列越長，記憶體越容易爆掉（水平瓶頸）；</a:t>
            </a:r>
            <a:endParaRPr lang="en-US" altLang="zh-TW" dirty="0"/>
          </a:p>
          <a:p>
            <a:r>
              <a:rPr lang="zh-TW" altLang="zh-TW" dirty="0"/>
              <a:t>另一個是神經網路層數越深，早期的重要訊號越容易被後面的層沖淡（垂直瓶頸）。</a:t>
            </a:r>
            <a:endParaRPr lang="en-US" altLang="zh-TW" dirty="0"/>
          </a:p>
          <a:p>
            <a:r>
              <a:rPr lang="zh-TW" altLang="zh-TW" dirty="0"/>
              <a:t>Kimi 的解法是將「注意力機制」同時應用在這兩個維度：</a:t>
            </a:r>
            <a:endParaRPr lang="zh-TW" altLang="en-US" dirty="0"/>
          </a:p>
        </p:txBody>
      </p:sp>
      <p:sp>
        <p:nvSpPr>
          <p:cNvPr id="4" name="投影片編號版面配置區 3">
            <a:extLst>
              <a:ext uri="{FF2B5EF4-FFF2-40B4-BE49-F238E27FC236}">
                <a16:creationId xmlns:a16="http://schemas.microsoft.com/office/drawing/2014/main" id="{3B417082-2C85-C436-A2CB-60D654461411}"/>
              </a:ext>
            </a:extLst>
          </p:cNvPr>
          <p:cNvSpPr>
            <a:spLocks noGrp="1"/>
          </p:cNvSpPr>
          <p:nvPr>
            <p:ph type="sldNum" sz="quarter" idx="5"/>
          </p:nvPr>
        </p:nvSpPr>
        <p:spPr/>
        <p:txBody>
          <a:bodyPr/>
          <a:lstStyle/>
          <a:p>
            <a:fld id="{E3A6CE5E-F349-486D-8749-82EF2AD71FA8}" type="slidenum">
              <a:rPr lang="zh-TW" altLang="en-US" smtClean="0"/>
              <a:t>48</a:t>
            </a:fld>
            <a:endParaRPr lang="zh-TW" altLang="en-US"/>
          </a:p>
        </p:txBody>
      </p:sp>
    </p:spTree>
    <p:extLst>
      <p:ext uri="{BB962C8B-B14F-4D97-AF65-F5344CB8AC3E}">
        <p14:creationId xmlns:p14="http://schemas.microsoft.com/office/powerpoint/2010/main" val="387960122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DBA0-5016-15B9-B336-967BC65044C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8CEE158-7518-B36E-6B39-A56DF4E6EB9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AE68B9F-F26F-17C6-19AE-499CDA9202C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a:extLst>
              <a:ext uri="{FF2B5EF4-FFF2-40B4-BE49-F238E27FC236}">
                <a16:creationId xmlns:a16="http://schemas.microsoft.com/office/drawing/2014/main" id="{E5C4B865-7765-C3FC-A6C5-674D1B923E08}"/>
              </a:ext>
            </a:extLst>
          </p:cNvPr>
          <p:cNvSpPr>
            <a:spLocks noGrp="1"/>
          </p:cNvSpPr>
          <p:nvPr>
            <p:ph type="sldNum" sz="quarter" idx="5"/>
          </p:nvPr>
        </p:nvSpPr>
        <p:spPr/>
        <p:txBody>
          <a:bodyPr/>
          <a:lstStyle/>
          <a:p>
            <a:fld id="{E3A6CE5E-F349-486D-8749-82EF2AD71FA8}" type="slidenum">
              <a:rPr lang="zh-TW" altLang="en-US" smtClean="0"/>
              <a:t>49</a:t>
            </a:fld>
            <a:endParaRPr lang="zh-TW" altLang="en-US"/>
          </a:p>
        </p:txBody>
      </p:sp>
    </p:spTree>
    <p:extLst>
      <p:ext uri="{BB962C8B-B14F-4D97-AF65-F5344CB8AC3E}">
        <p14:creationId xmlns:p14="http://schemas.microsoft.com/office/powerpoint/2010/main" val="80319181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dirty="0"/>
              <a:t>以下為你將所有與 AI Agent 相關的專有名詞，由原本的表格形式全部改為</a:t>
            </a:r>
            <a:r>
              <a:rPr lang="zh-TW" altLang="zh-TW" b="1" dirty="0"/>
              <a:t>純文字列表</a:t>
            </a:r>
            <a:r>
              <a:rPr lang="zh-TW" altLang="zh-TW" dirty="0"/>
              <a:t>呈現。</a:t>
            </a:r>
          </a:p>
          <a:p>
            <a:r>
              <a:rPr lang="zh-TW" altLang="zh-TW" dirty="0"/>
              <a:t>每個項目均嚴格包含：</a:t>
            </a:r>
            <a:r>
              <a:rPr lang="zh-TW" altLang="zh-TW" b="1" dirty="0"/>
              <a:t>縮寫 / 名詞、英文全稱、繁體中文、中文說明</a:t>
            </a:r>
            <a:r>
              <a:rPr lang="zh-TW" altLang="zh-TW" dirty="0"/>
              <a:t>，並透過區塊與粗體維持極佳的 scannability（可讀性），方便你直接複製使用。</a:t>
            </a:r>
          </a:p>
          <a:p>
            <a:r>
              <a:rPr lang="zh-TW" altLang="zh-TW" b="1" dirty="0"/>
              <a:t>一、 核心架構與模型層 (Core Architecture &amp; Models)</a:t>
            </a:r>
          </a:p>
          <a:p>
            <a:r>
              <a:rPr lang="zh-TW" altLang="zh-TW" b="1" dirty="0"/>
              <a:t>Agent</a:t>
            </a:r>
            <a:r>
              <a:rPr lang="zh-TW" altLang="zh-TW" dirty="0"/>
              <a:t> (AI Agent / Autonomous Agent) —— 人工智慧代理 / 自主代理</a:t>
            </a:r>
          </a:p>
          <a:p>
            <a:pPr lvl="1"/>
            <a:r>
              <a:rPr lang="zh-TW" altLang="zh-TW" b="1" dirty="0"/>
              <a:t>說明：</a:t>
            </a:r>
            <a:r>
              <a:rPr lang="zh-TW" altLang="zh-TW" dirty="0"/>
              <a:t> 具備感知、思考、自主規劃並能調用工具操作現實的 AI 實體。</a:t>
            </a:r>
          </a:p>
          <a:p>
            <a:r>
              <a:rPr lang="zh-TW" altLang="zh-TW" b="1" dirty="0"/>
              <a:t>LLM</a:t>
            </a:r>
            <a:r>
              <a:rPr lang="zh-TW" altLang="zh-TW" dirty="0"/>
              <a:t> (Large Language Model) —— 大型語言模型</a:t>
            </a:r>
          </a:p>
          <a:p>
            <a:pPr lvl="1"/>
            <a:r>
              <a:rPr lang="zh-TW" altLang="zh-TW" b="1" dirty="0"/>
              <a:t>說明：</a:t>
            </a:r>
            <a:r>
              <a:rPr lang="zh-TW" altLang="zh-TW" dirty="0"/>
              <a:t> Agent 的核心大腦，負責語言理解、常識推理與決策。</a:t>
            </a:r>
          </a:p>
          <a:p>
            <a:r>
              <a:rPr lang="zh-TW" altLang="zh-TW" b="1" dirty="0"/>
              <a:t>VLM / MLLM</a:t>
            </a:r>
            <a:r>
              <a:rPr lang="zh-TW" altLang="zh-TW" dirty="0"/>
              <a:t> (Vision-Language Model / Multi-modal LLM) —— 視覺語言模型 / 多模態大模型</a:t>
            </a:r>
          </a:p>
          <a:p>
            <a:pPr lvl="1"/>
            <a:r>
              <a:rPr lang="zh-TW" altLang="zh-TW" b="1" dirty="0"/>
              <a:t>說明：</a:t>
            </a:r>
            <a:r>
              <a:rPr lang="zh-TW" altLang="zh-TW" dirty="0"/>
              <a:t> 賦予 Agent 眼睛（看懂螢幕截圖、網頁 UI 或真實世界影像）的大腦。</a:t>
            </a:r>
          </a:p>
          <a:p>
            <a:r>
              <a:rPr lang="zh-TW" altLang="zh-TW" b="1" dirty="0"/>
              <a:t>SLM</a:t>
            </a:r>
            <a:r>
              <a:rPr lang="zh-TW" altLang="zh-TW" dirty="0"/>
              <a:t> (Small Language Model) —— 小型語言模型</a:t>
            </a:r>
          </a:p>
          <a:p>
            <a:pPr lvl="1"/>
            <a:r>
              <a:rPr lang="zh-TW" altLang="zh-TW" b="1" dirty="0"/>
              <a:t>說明：</a:t>
            </a:r>
            <a:r>
              <a:rPr lang="zh-TW" altLang="zh-TW" dirty="0"/>
              <a:t> 輕量化模型，常用於端點設備（Edge）或專職執行單一工具的邊緣 Agent。</a:t>
            </a:r>
          </a:p>
          <a:p>
            <a:r>
              <a:rPr lang="zh-TW" altLang="zh-TW" b="1" dirty="0"/>
              <a:t>HITL</a:t>
            </a:r>
            <a:r>
              <a:rPr lang="zh-TW" altLang="zh-TW" dirty="0"/>
              <a:t> (Human-in-the-Loop) —— 人類在環 / 人機協同</a:t>
            </a:r>
          </a:p>
          <a:p>
            <a:pPr lvl="1"/>
            <a:r>
              <a:rPr lang="zh-TW" altLang="zh-TW" b="1" dirty="0"/>
              <a:t>說明：</a:t>
            </a:r>
            <a:r>
              <a:rPr lang="zh-TW" altLang="zh-TW" dirty="0"/>
              <a:t> 在 Agent 循環中加入人工作為審查、確認或中斷的防禦機制。</a:t>
            </a:r>
          </a:p>
          <a:p>
            <a:r>
              <a:rPr lang="zh-TW" altLang="zh-TW" b="1" dirty="0"/>
              <a:t>Embodied AI</a:t>
            </a:r>
            <a:r>
              <a:rPr lang="zh-TW" altLang="zh-TW" dirty="0"/>
              <a:t> (Embodied Artificial Intelligence) —— 具身智能</a:t>
            </a:r>
          </a:p>
          <a:p>
            <a:pPr lvl="1"/>
            <a:r>
              <a:rPr lang="zh-TW" altLang="zh-TW" b="1" dirty="0"/>
              <a:t>說明：</a:t>
            </a:r>
            <a:r>
              <a:rPr lang="zh-TW" altLang="zh-TW" dirty="0"/>
              <a:t> 將 Agent 大腦注入到物理實體（如機器人、無人機）中，使其具備操作物理世界的能力。</a:t>
            </a:r>
          </a:p>
          <a:p>
            <a:r>
              <a:rPr lang="zh-TW" altLang="zh-TW" b="1" dirty="0"/>
              <a:t>Substrate</a:t>
            </a:r>
            <a:r>
              <a:rPr lang="zh-TW" altLang="zh-TW" dirty="0"/>
              <a:t> (Substrate) —— 底層載體 / 介質</a:t>
            </a:r>
          </a:p>
          <a:p>
            <a:pPr lvl="1"/>
            <a:r>
              <a:rPr lang="zh-TW" altLang="zh-TW" b="1" dirty="0"/>
              <a:t>說明：</a:t>
            </a:r>
            <a:r>
              <a:rPr lang="zh-TW" altLang="zh-TW" dirty="0"/>
              <a:t> 指 AI 運行的環境基礎（如「碳基」代表人類肉身、「矽基」代表數位電腦晶片）。</a:t>
            </a:r>
          </a:p>
          <a:p>
            <a:r>
              <a:rPr lang="zh-TW" altLang="zh-TW" b="1" dirty="0"/>
              <a:t>二、 自主規劃與推理框架 (Planning &amp; Reasoning)</a:t>
            </a:r>
          </a:p>
          <a:p>
            <a:r>
              <a:rPr lang="zh-TW" altLang="zh-TW" b="1" dirty="0"/>
              <a:t>ReAct</a:t>
            </a:r>
            <a:r>
              <a:rPr lang="zh-TW" altLang="zh-TW" dirty="0"/>
              <a:t> (Reasoning and Acting) —— 推理與行動框架</a:t>
            </a:r>
          </a:p>
          <a:p>
            <a:pPr lvl="1"/>
            <a:r>
              <a:rPr lang="zh-TW" altLang="zh-TW" b="1" dirty="0"/>
              <a:t>說明：</a:t>
            </a:r>
            <a:r>
              <a:rPr lang="zh-TW" altLang="zh-TW" dirty="0"/>
              <a:t> Agent 最經典的底層邏輯——交替進行「思考（Thought）」➔「行動（Action）」➔「觀察反饋（Observation）」。</a:t>
            </a:r>
          </a:p>
          <a:p>
            <a:r>
              <a:rPr lang="zh-TW" altLang="zh-TW" b="1" dirty="0"/>
              <a:t>CoT</a:t>
            </a:r>
            <a:r>
              <a:rPr lang="zh-TW" altLang="zh-TW" dirty="0"/>
              <a:t> (Chain of Thought) —— 思維鏈</a:t>
            </a:r>
          </a:p>
          <a:p>
            <a:pPr lvl="1"/>
            <a:r>
              <a:rPr lang="zh-TW" altLang="zh-TW" b="1" dirty="0"/>
              <a:t>說明：</a:t>
            </a:r>
            <a:r>
              <a:rPr lang="zh-TW" altLang="zh-TW" dirty="0"/>
              <a:t> 引導大腦將複雜問題拆解，一步步寫出推理過程（"Let's think step by step"）。</a:t>
            </a:r>
          </a:p>
          <a:p>
            <a:r>
              <a:rPr lang="zh-TW" altLang="zh-TW" b="1" dirty="0"/>
              <a:t>ToT</a:t>
            </a:r>
            <a:r>
              <a:rPr lang="zh-TW" altLang="zh-TW" dirty="0"/>
              <a:t> (Tree of Thoughts) —— 思維樹</a:t>
            </a:r>
          </a:p>
          <a:p>
            <a:pPr lvl="1"/>
            <a:r>
              <a:rPr lang="zh-TW" altLang="zh-TW" b="1" dirty="0"/>
              <a:t>說明：</a:t>
            </a:r>
            <a:r>
              <a:rPr lang="zh-TW" altLang="zh-TW" dirty="0"/>
              <a:t> 大腦在規劃時探索多條可能的決策路徑，並具備回溯（Backtracking）與評估能力。</a:t>
            </a:r>
          </a:p>
          <a:p>
            <a:r>
              <a:rPr lang="zh-TW" altLang="zh-TW" b="1" dirty="0"/>
              <a:t>GoT</a:t>
            </a:r>
            <a:r>
              <a:rPr lang="zh-TW" altLang="zh-TW" dirty="0"/>
              <a:t> (Graph of Thoughts) —— 思維圖</a:t>
            </a:r>
          </a:p>
          <a:p>
            <a:pPr lvl="1"/>
            <a:r>
              <a:rPr lang="zh-TW" altLang="zh-TW" b="1" dirty="0"/>
              <a:t>說明：</a:t>
            </a:r>
            <a:r>
              <a:rPr lang="zh-TW" altLang="zh-TW" dirty="0"/>
              <a:t> 允許不同的思維網絡互相交織、結合或分岔，模擬人類大腦更複雜的非線性思考。</a:t>
            </a:r>
          </a:p>
          <a:p>
            <a:r>
              <a:rPr lang="zh-TW" altLang="zh-TW" b="1" dirty="0"/>
              <a:t>Reflexion</a:t>
            </a:r>
            <a:r>
              <a:rPr lang="zh-TW" altLang="zh-TW" dirty="0"/>
              <a:t> (Reflexion Framework) —— 自我反思架構</a:t>
            </a:r>
          </a:p>
          <a:p>
            <a:pPr lvl="1"/>
            <a:r>
              <a:rPr lang="zh-TW" altLang="zh-TW" b="1" dirty="0"/>
              <a:t>說明：</a:t>
            </a:r>
            <a:r>
              <a:rPr lang="zh-TW" altLang="zh-TW" dirty="0"/>
              <a:t> Agent 執行失敗時，透過評估模塊自我批判（Self-Criticism），將失敗轉化為記憶以修正下一次的規劃。</a:t>
            </a:r>
          </a:p>
          <a:p>
            <a:r>
              <a:rPr lang="zh-TW" altLang="zh-TW" b="1" dirty="0"/>
              <a:t>Task Decomposition</a:t>
            </a:r>
            <a:r>
              <a:rPr lang="zh-TW" altLang="zh-TW" dirty="0"/>
              <a:t> (Task Decomposition) —— 任務拆解</a:t>
            </a:r>
          </a:p>
          <a:p>
            <a:pPr lvl="1"/>
            <a:r>
              <a:rPr lang="zh-TW" altLang="zh-TW" b="1" dirty="0"/>
              <a:t>說明：</a:t>
            </a:r>
            <a:r>
              <a:rPr lang="zh-TW" altLang="zh-TW" dirty="0"/>
              <a:t> 大腦將一個宏大的終極目標（Goal），細分為多個可執行的子任務（Sub-tasks）。</a:t>
            </a:r>
          </a:p>
          <a:p>
            <a:r>
              <a:rPr lang="zh-TW" altLang="zh-TW" b="1" dirty="0"/>
              <a:t>Plan-and-Solve</a:t>
            </a:r>
            <a:r>
              <a:rPr lang="zh-TW" altLang="zh-TW" dirty="0"/>
              <a:t> (Plan-and-Solve Prompting) —— 計畫與解決</a:t>
            </a:r>
          </a:p>
          <a:p>
            <a:pPr lvl="1"/>
            <a:r>
              <a:rPr lang="zh-TW" altLang="zh-TW" b="1" dirty="0"/>
              <a:t>說明：</a:t>
            </a:r>
            <a:r>
              <a:rPr lang="zh-TW" altLang="zh-TW" dirty="0"/>
              <a:t> 先宏觀制定完整計畫，再依序執行，用以減少 CoT 過程中因走一步算一步而產生的計算偏差。</a:t>
            </a:r>
          </a:p>
          <a:p>
            <a:r>
              <a:rPr lang="zh-TW" altLang="zh-TW" b="1" dirty="0"/>
              <a:t>三、 記憶與脈絡工程 (Memory &amp; Context)</a:t>
            </a:r>
          </a:p>
          <a:p>
            <a:r>
              <a:rPr lang="zh-TW" altLang="zh-TW" b="1" dirty="0"/>
              <a:t>RAG</a:t>
            </a:r>
            <a:r>
              <a:rPr lang="zh-TW" altLang="zh-TW" dirty="0"/>
              <a:t> (Retrieval-Augmented Generation) —— 檢索增強生成</a:t>
            </a:r>
          </a:p>
          <a:p>
            <a:pPr lvl="1"/>
            <a:r>
              <a:rPr lang="zh-TW" altLang="zh-TW" b="1" dirty="0"/>
              <a:t>說明：</a:t>
            </a:r>
            <a:r>
              <a:rPr lang="zh-TW" altLang="zh-TW" dirty="0"/>
              <a:t> Agent 從外部知識庫動態撈取資料注入 Context，解決幻覺與長時記憶不足的問題。</a:t>
            </a:r>
          </a:p>
          <a:p>
            <a:r>
              <a:rPr lang="zh-TW" altLang="zh-TW" b="1" dirty="0"/>
              <a:t>Vector DB</a:t>
            </a:r>
            <a:r>
              <a:rPr lang="zh-TW" altLang="zh-TW" dirty="0"/>
              <a:t> (Vector Database) —— 向量資料庫</a:t>
            </a:r>
          </a:p>
          <a:p>
            <a:pPr lvl="1"/>
            <a:r>
              <a:rPr lang="zh-TW" altLang="zh-TW" b="1" dirty="0"/>
              <a:t>說明：</a:t>
            </a:r>
            <a:r>
              <a:rPr lang="zh-TW" altLang="zh-TW" dirty="0"/>
              <a:t> 將文字轉為高維度向量，用於 Agent 的長期記憶（Long-term Memory）檢索。</a:t>
            </a:r>
          </a:p>
          <a:p>
            <a:r>
              <a:rPr lang="zh-TW" altLang="zh-TW" b="1" dirty="0"/>
              <a:t>Embedding</a:t>
            </a:r>
            <a:r>
              <a:rPr lang="zh-TW" altLang="zh-TW" dirty="0"/>
              <a:t> (Semantic Embedding) —— 語意嵌入</a:t>
            </a:r>
          </a:p>
          <a:p>
            <a:pPr lvl="1"/>
            <a:r>
              <a:rPr lang="zh-TW" altLang="zh-TW" b="1" dirty="0"/>
              <a:t>說明：</a:t>
            </a:r>
            <a:r>
              <a:rPr lang="zh-TW" altLang="zh-TW" dirty="0"/>
              <a:t> 將文字、圖片轉化為數學向量的技術，是 Agent 進行「相似度查找」的底層基礎。</a:t>
            </a:r>
          </a:p>
          <a:p>
            <a:r>
              <a:rPr lang="zh-TW" altLang="zh-TW" b="1" dirty="0"/>
              <a:t>Short-term Memory</a:t>
            </a:r>
            <a:r>
              <a:rPr lang="zh-TW" altLang="zh-TW" dirty="0"/>
              <a:t> (Short-term Memory) —— 短期記憶</a:t>
            </a:r>
          </a:p>
          <a:p>
            <a:pPr lvl="1"/>
            <a:r>
              <a:rPr lang="zh-TW" altLang="zh-TW" b="1" dirty="0"/>
              <a:t>說明：</a:t>
            </a:r>
            <a:r>
              <a:rPr lang="zh-TW" altLang="zh-TW" dirty="0"/>
              <a:t> 當前會話（Session）的對話歷史與中途狀態，隨著 Context 視窗滿載會被丟棄。</a:t>
            </a:r>
          </a:p>
          <a:p>
            <a:r>
              <a:rPr lang="zh-TW" altLang="zh-TW" b="1" dirty="0"/>
              <a:t>Long-term Memory</a:t>
            </a:r>
            <a:r>
              <a:rPr lang="zh-TW" altLang="zh-TW" dirty="0"/>
              <a:t> (Long-term Memory) —— 長期記憶</a:t>
            </a:r>
          </a:p>
          <a:p>
            <a:pPr lvl="1"/>
            <a:r>
              <a:rPr lang="zh-TW" altLang="zh-TW" b="1" dirty="0"/>
              <a:t>說明：</a:t>
            </a:r>
            <a:r>
              <a:rPr lang="zh-TW" altLang="zh-TW" dirty="0"/>
              <a:t> 跨越不同對話、長久保存的用戶偏好、公司規章與過去的成功 SOP。</a:t>
            </a:r>
          </a:p>
          <a:p>
            <a:r>
              <a:rPr lang="zh-TW" altLang="zh-TW" b="1" dirty="0"/>
              <a:t>Context Window</a:t>
            </a:r>
            <a:r>
              <a:rPr lang="zh-TW" altLang="zh-TW" dirty="0"/>
              <a:t> (Context Window) —— 上下文視窗 / 脈絡空間</a:t>
            </a:r>
          </a:p>
          <a:p>
            <a:pPr lvl="1"/>
            <a:r>
              <a:rPr lang="zh-TW" altLang="zh-TW" b="1" dirty="0"/>
              <a:t>說明：</a:t>
            </a:r>
            <a:r>
              <a:rPr lang="zh-TW" altLang="zh-TW" dirty="0"/>
              <a:t> 模型單次運算能讀取的最大 Token 限制（大腦的 RAM 限制）。</a:t>
            </a:r>
          </a:p>
          <a:p>
            <a:r>
              <a:rPr lang="zh-TW" altLang="zh-TW" b="1" dirty="0"/>
              <a:t>Prompt Caching</a:t>
            </a:r>
            <a:r>
              <a:rPr lang="zh-TW" altLang="zh-TW" dirty="0"/>
              <a:t> (Prompt Caching) —— 提示詞快取</a:t>
            </a:r>
          </a:p>
          <a:p>
            <a:pPr lvl="1"/>
            <a:r>
              <a:rPr lang="zh-TW" altLang="zh-TW" b="1" dirty="0"/>
              <a:t>說明：</a:t>
            </a:r>
            <a:r>
              <a:rPr lang="zh-TW" altLang="zh-TW" dirty="0"/>
              <a:t> 將重複的系統提示或長期記憶鎖在伺服器記憶體中，降低 Agent 頻繁刷新的費用與延遲。</a:t>
            </a:r>
          </a:p>
          <a:p>
            <a:r>
              <a:rPr lang="zh-TW" altLang="zh-TW" b="1" dirty="0"/>
              <a:t>Lost in the Middle</a:t>
            </a:r>
            <a:r>
              <a:rPr lang="zh-TW" altLang="zh-TW" dirty="0"/>
              <a:t> (Lost in the Middle Effect) —— 迷失在中央</a:t>
            </a:r>
          </a:p>
          <a:p>
            <a:pPr lvl="1"/>
            <a:r>
              <a:rPr lang="zh-TW" altLang="zh-TW" b="1" dirty="0"/>
              <a:t>說明：</a:t>
            </a:r>
            <a:r>
              <a:rPr lang="zh-TW" altLang="zh-TW" dirty="0"/>
              <a:t> 長文本模型的通病——AI 容易注意到開頭和結尾，卻忽略埋在 Context 正中間的記憶資訊。</a:t>
            </a:r>
          </a:p>
          <a:p>
            <a:r>
              <a:rPr lang="zh-TW" altLang="zh-TW" b="1" dirty="0"/>
              <a:t>四、 工具呼叫與環境執行 (Tools &amp; Action)</a:t>
            </a:r>
          </a:p>
          <a:p>
            <a:r>
              <a:rPr lang="zh-TW" altLang="zh-TW" b="1" dirty="0"/>
              <a:t>Function Calling</a:t>
            </a:r>
            <a:r>
              <a:rPr lang="zh-TW" altLang="zh-TW" dirty="0"/>
              <a:t> (Function Calling / Tool Calling) —— 函數呼叫 / 工具調用</a:t>
            </a:r>
          </a:p>
          <a:p>
            <a:pPr lvl="1"/>
            <a:r>
              <a:rPr lang="zh-TW" altLang="zh-TW" b="1" dirty="0"/>
              <a:t>說明：</a:t>
            </a:r>
            <a:r>
              <a:rPr lang="zh-TW" altLang="zh-TW" dirty="0"/>
              <a:t> 模型識別意圖後，不輸出聊天文字，而是輸出標準結構化 JSON 參數的能力。</a:t>
            </a:r>
          </a:p>
          <a:p>
            <a:r>
              <a:rPr lang="zh-TW" altLang="zh-TW" b="1" dirty="0"/>
              <a:t>MCP</a:t>
            </a:r>
            <a:r>
              <a:rPr lang="zh-TW" altLang="zh-TW" dirty="0"/>
              <a:t> (Model Context Protocol) —— 模型上下文協議</a:t>
            </a:r>
          </a:p>
          <a:p>
            <a:pPr lvl="1"/>
            <a:r>
              <a:rPr lang="zh-TW" altLang="zh-TW" b="1" dirty="0"/>
              <a:t>說明：</a:t>
            </a:r>
            <a:r>
              <a:rPr lang="zh-TW" altLang="zh-TW" dirty="0"/>
              <a:t> Anthropic 倡導的開源標準，充當 AI 的統一 USB 接口，無縫連接各種資料與工具。</a:t>
            </a:r>
          </a:p>
          <a:p>
            <a:r>
              <a:rPr lang="zh-TW" altLang="zh-TW" b="1" dirty="0"/>
              <a:t>REPL</a:t>
            </a:r>
            <a:r>
              <a:rPr lang="zh-TW" altLang="zh-TW" dirty="0"/>
              <a:t> (Read-Eval-Print Loop) —— 互動式程式碼解譯器</a:t>
            </a:r>
          </a:p>
          <a:p>
            <a:pPr lvl="1"/>
            <a:r>
              <a:rPr lang="zh-TW" altLang="zh-TW" b="1" dirty="0"/>
              <a:t>說明：</a:t>
            </a:r>
            <a:r>
              <a:rPr lang="zh-TW" altLang="zh-TW" dirty="0"/>
              <a:t> Agent 自我撰寫 Python/JS 代碼後，直接在系統中執行、看結果並 debug 的工具。</a:t>
            </a:r>
          </a:p>
          <a:p>
            <a:r>
              <a:rPr lang="zh-TW" altLang="zh-TW" b="1" dirty="0"/>
              <a:t>Sandbox</a:t>
            </a:r>
            <a:r>
              <a:rPr lang="zh-TW" altLang="zh-TW" dirty="0"/>
              <a:t> (Secure Sandbox) —— 安全沙盒</a:t>
            </a:r>
          </a:p>
          <a:p>
            <a:pPr lvl="1"/>
            <a:r>
              <a:rPr lang="zh-TW" altLang="zh-TW" b="1" dirty="0"/>
              <a:t>說明：</a:t>
            </a:r>
            <a:r>
              <a:rPr lang="zh-TW" altLang="zh-TW" dirty="0"/>
              <a:t> 與核心系統物理隔離的虛擬環境（如 E2B），防止 Agent 執行的程式碼帶有病毒或寫入敏感檔案。</a:t>
            </a:r>
          </a:p>
          <a:p>
            <a:r>
              <a:rPr lang="zh-TW" altLang="zh-TW" b="1" dirty="0"/>
              <a:t>RPA</a:t>
            </a:r>
            <a:r>
              <a:rPr lang="zh-TW" altLang="zh-TW" dirty="0"/>
              <a:t> (Robotic Process Automation) —— 機器人流程自動化</a:t>
            </a:r>
          </a:p>
          <a:p>
            <a:pPr lvl="1"/>
            <a:r>
              <a:rPr lang="zh-TW" altLang="zh-TW" b="1" dirty="0"/>
              <a:t>說明：</a:t>
            </a:r>
            <a:r>
              <a:rPr lang="zh-TW" altLang="zh-TW" dirty="0"/>
              <a:t> 傳統寫死路徑的自動化腳本，現常作為 Agent 操作網頁、滑鼠與鍵盤的「手腳」。</a:t>
            </a:r>
          </a:p>
          <a:p>
            <a:r>
              <a:rPr lang="zh-TW" altLang="zh-TW" b="1" dirty="0"/>
              <a:t>BaaS</a:t>
            </a:r>
            <a:r>
              <a:rPr lang="zh-TW" altLang="zh-TW" dirty="0"/>
              <a:t> (Browser as a Service) —— 瀏覽器即服務</a:t>
            </a:r>
          </a:p>
          <a:p>
            <a:pPr lvl="1"/>
            <a:r>
              <a:rPr lang="zh-TW" altLang="zh-TW" b="1" dirty="0"/>
              <a:t>說明：</a:t>
            </a:r>
            <a:r>
              <a:rPr lang="zh-TW" altLang="zh-TW" dirty="0"/>
              <a:t> 雲端群控的無頭瀏覽器技術（如 Browserbase），提供 Agent 防封鎖、過驗證碼的上網環境。</a:t>
            </a:r>
          </a:p>
          <a:p>
            <a:r>
              <a:rPr lang="zh-TW" altLang="zh-TW" b="1" dirty="0"/>
              <a:t>Grounding</a:t>
            </a:r>
            <a:r>
              <a:rPr lang="zh-TW" altLang="zh-TW" dirty="0"/>
              <a:t> (UI Grounding / Semantic Grounding) —— 介面定位 / 語意落地</a:t>
            </a:r>
          </a:p>
          <a:p>
            <a:pPr lvl="1"/>
            <a:r>
              <a:rPr lang="zh-TW" altLang="zh-TW" b="1" dirty="0"/>
              <a:t>說明：</a:t>
            </a:r>
            <a:r>
              <a:rPr lang="zh-TW" altLang="zh-TW" dirty="0"/>
              <a:t> 多模態 Agent 將大腦理解的按鈕（如「購物車」），精確對齊到網頁上真實座標（X, Y）的技術。</a:t>
            </a:r>
          </a:p>
          <a:p>
            <a:r>
              <a:rPr lang="zh-TW" altLang="zh-TW" b="1" dirty="0"/>
              <a:t>Computer Use</a:t>
            </a:r>
            <a:r>
              <a:rPr lang="zh-TW" altLang="zh-TW" dirty="0"/>
              <a:t> (Computer Use API) —— 電腦操作 API</a:t>
            </a:r>
          </a:p>
          <a:p>
            <a:pPr lvl="1"/>
            <a:r>
              <a:rPr lang="zh-TW" altLang="zh-TW" b="1" dirty="0"/>
              <a:t>說明：</a:t>
            </a:r>
            <a:r>
              <a:rPr lang="zh-TW" altLang="zh-TW" dirty="0"/>
              <a:t> AI 直接看著作業系統的截圖，主動移動滑鼠、點擊與輸入，像真人一樣操作整台電腦。</a:t>
            </a:r>
          </a:p>
          <a:p>
            <a:r>
              <a:rPr lang="zh-TW" altLang="zh-TW" b="1" dirty="0"/>
              <a:t>五、 多代理協同與生態層 (Multi-Agent &amp; Ecosystem)</a:t>
            </a:r>
          </a:p>
          <a:p>
            <a:r>
              <a:rPr lang="zh-TW" altLang="zh-TW" b="1" dirty="0"/>
              <a:t>MAS</a:t>
            </a:r>
            <a:r>
              <a:rPr lang="zh-TW" altLang="zh-TW" dirty="0"/>
              <a:t> (Multi-Agent System) —— 多代理人系統</a:t>
            </a:r>
          </a:p>
          <a:p>
            <a:pPr lvl="1"/>
            <a:r>
              <a:rPr lang="zh-TW" altLang="zh-TW" b="1" dirty="0"/>
              <a:t>說明：</a:t>
            </a:r>
            <a:r>
              <a:rPr lang="zh-TW" altLang="zh-TW" dirty="0"/>
              <a:t> 由多個專職、不同分工的 Agent（如：經理、工程師、測試員）共同協同完成複雜任務的系統。</a:t>
            </a:r>
          </a:p>
          <a:p>
            <a:r>
              <a:rPr lang="zh-TW" altLang="zh-TW" b="1" dirty="0"/>
              <a:t>Orchestrator</a:t>
            </a:r>
            <a:r>
              <a:rPr lang="zh-TW" altLang="zh-TW" dirty="0"/>
              <a:t> (Orchestrator Pattern) —— 編排器模式</a:t>
            </a:r>
          </a:p>
          <a:p>
            <a:pPr lvl="1"/>
            <a:r>
              <a:rPr lang="zh-TW" altLang="zh-TW" b="1" dirty="0"/>
              <a:t>說明：</a:t>
            </a:r>
            <a:r>
              <a:rPr lang="zh-TW" altLang="zh-TW" dirty="0"/>
              <a:t> 由一個核心的主 Agent 負責統籌、分派任務給多個底層的子 Agent（Workers）。</a:t>
            </a:r>
          </a:p>
          <a:p>
            <a:r>
              <a:rPr lang="zh-TW" altLang="zh-TW" b="1" dirty="0"/>
              <a:t>Choreography</a:t>
            </a:r>
            <a:r>
              <a:rPr lang="zh-TW" altLang="zh-TW" dirty="0"/>
              <a:t> (Choreography Pattern) —— 編排舞蹈模式</a:t>
            </a:r>
          </a:p>
          <a:p>
            <a:pPr lvl="1"/>
            <a:r>
              <a:rPr lang="zh-TW" altLang="zh-TW" b="1" dirty="0"/>
              <a:t>說明：</a:t>
            </a:r>
            <a:r>
              <a:rPr lang="zh-TW" altLang="zh-TW" dirty="0"/>
              <a:t> Agent 之間沒有絕對的主導者，而是各自遵循 SOP 協議，自發性地互相傳遞接棒工作。</a:t>
            </a:r>
          </a:p>
          <a:p>
            <a:r>
              <a:rPr lang="zh-TW" altLang="zh-TW" b="1" dirty="0"/>
              <a:t>Router</a:t>
            </a:r>
            <a:r>
              <a:rPr lang="zh-TW" altLang="zh-TW" dirty="0"/>
              <a:t> (Agentic Router) —— 智慧型路由</a:t>
            </a:r>
          </a:p>
          <a:p>
            <a:pPr lvl="1"/>
            <a:r>
              <a:rPr lang="zh-TW" altLang="zh-TW" b="1" dirty="0"/>
              <a:t>說明：</a:t>
            </a:r>
            <a:r>
              <a:rPr lang="zh-TW" altLang="zh-TW" dirty="0"/>
              <a:t> 大腦根據用戶的輸入輸入，自動將任務導向最適合處理該問題的專用 Agent 或工具。</a:t>
            </a:r>
          </a:p>
          <a:p>
            <a:r>
              <a:rPr lang="zh-TW" altLang="zh-TW" b="1" dirty="0"/>
              <a:t>SOP</a:t>
            </a:r>
            <a:r>
              <a:rPr lang="zh-TW" altLang="zh-TW" dirty="0"/>
              <a:t> (Standard Operating Procedure) —— 標準作業程序</a:t>
            </a:r>
          </a:p>
          <a:p>
            <a:pPr lvl="1"/>
            <a:r>
              <a:rPr lang="zh-TW" altLang="zh-TW" b="1" dirty="0"/>
              <a:t>說明：</a:t>
            </a:r>
            <a:r>
              <a:rPr lang="zh-TW" altLang="zh-TW" dirty="0"/>
              <a:t> 寫在 Agent 框架中、硬性限制 Agents 之間溝通與執行順序的商務邏輯規則。</a:t>
            </a:r>
          </a:p>
          <a:p>
            <a:r>
              <a:rPr lang="zh-TW" altLang="zh-TW" b="1" dirty="0"/>
              <a:t>Swarm</a:t>
            </a:r>
            <a:r>
              <a:rPr lang="zh-TW" altLang="zh-TW" dirty="0"/>
              <a:t> (Swarm Intelligence) —— 群體智能</a:t>
            </a:r>
          </a:p>
          <a:p>
            <a:pPr lvl="1"/>
            <a:r>
              <a:rPr lang="zh-TW" altLang="zh-TW" b="1" dirty="0"/>
              <a:t>說明：</a:t>
            </a:r>
            <a:r>
              <a:rPr lang="zh-TW" altLang="zh-TW" dirty="0"/>
              <a:t> 大量微型、輕量化的 Agent 透過簡單的群體溝通協議，集體湧現出解決龐大問題的能力。</a:t>
            </a:r>
          </a:p>
          <a:p>
            <a:r>
              <a:rPr lang="zh-TW" altLang="zh-TW" b="1" dirty="0"/>
              <a:t>六、 資安、評估與對齊層 (Safety, Evaluation &amp; Alignment)</a:t>
            </a:r>
          </a:p>
          <a:p>
            <a:r>
              <a:rPr lang="zh-TW" altLang="zh-TW" b="1" dirty="0"/>
              <a:t>Guardrails</a:t>
            </a:r>
            <a:r>
              <a:rPr lang="zh-TW" altLang="zh-TW" dirty="0"/>
              <a:t> (LLM Guardrails) —— 護欄機制</a:t>
            </a:r>
          </a:p>
          <a:p>
            <a:pPr lvl="1"/>
            <a:r>
              <a:rPr lang="zh-TW" altLang="zh-TW" b="1" dirty="0"/>
              <a:t>說明：</a:t>
            </a:r>
            <a:r>
              <a:rPr lang="zh-TW" altLang="zh-TW" dirty="0"/>
              <a:t> 在 Agent 的輸入端與輸出端架設的安全過濾網（如 Llama Guard），硬性攔截不合規言論。</a:t>
            </a:r>
          </a:p>
          <a:p>
            <a:r>
              <a:rPr lang="zh-TW" altLang="zh-TW" b="1" dirty="0"/>
              <a:t>Prompt Injection</a:t>
            </a:r>
            <a:r>
              <a:rPr lang="zh-TW" altLang="zh-TW" dirty="0"/>
              <a:t> (Prompt Injection Attack) —— 提示詞注入攻擊</a:t>
            </a:r>
          </a:p>
          <a:p>
            <a:pPr lvl="1"/>
            <a:r>
              <a:rPr lang="zh-TW" altLang="zh-TW" b="1" dirty="0"/>
              <a:t>說明：</a:t>
            </a:r>
            <a:r>
              <a:rPr lang="zh-TW" altLang="zh-TW" dirty="0"/>
              <a:t> 黑客透過惡意文字欺騙 Agent 大腦，使其忽視原本的 System Prompt 規範，進而執行越權操作。</a:t>
            </a:r>
          </a:p>
          <a:p>
            <a:r>
              <a:rPr lang="zh-TW" altLang="zh-TW" b="1" dirty="0"/>
              <a:t>Jailbreaking</a:t>
            </a:r>
            <a:r>
              <a:rPr lang="zh-TW" altLang="zh-TW" dirty="0"/>
              <a:t> (Jailbreaking) —— 越獄</a:t>
            </a:r>
          </a:p>
          <a:p>
            <a:pPr lvl="1"/>
            <a:r>
              <a:rPr lang="zh-TW" altLang="zh-TW" b="1" dirty="0"/>
              <a:t>說明：</a:t>
            </a:r>
            <a:r>
              <a:rPr lang="zh-TW" altLang="zh-TW" dirty="0"/>
              <a:t> 利用特定話術或繞過技巧，解開模型原本內建的安全道德限制，使其產出有害或不合規的內容。</a:t>
            </a:r>
          </a:p>
          <a:p>
            <a:r>
              <a:rPr lang="zh-TW" altLang="zh-TW" b="1" dirty="0"/>
              <a:t>Alignment</a:t>
            </a:r>
            <a:r>
              <a:rPr lang="zh-TW" altLang="zh-TW" dirty="0"/>
              <a:t> (AI Alignment) —— 人工智慧對齊</a:t>
            </a:r>
          </a:p>
          <a:p>
            <a:pPr lvl="1"/>
            <a:r>
              <a:rPr lang="zh-TW" altLang="zh-TW" b="1" dirty="0"/>
              <a:t>說明：</a:t>
            </a:r>
            <a:r>
              <a:rPr lang="zh-TW" altLang="zh-TW" dirty="0"/>
              <a:t> 確保 Agent 的價值觀、決策意圖、行為結果，完全符合人類的利益、道德與安全規範。</a:t>
            </a:r>
          </a:p>
          <a:p>
            <a:r>
              <a:rPr lang="zh-TW" altLang="zh-TW" b="1" dirty="0"/>
              <a:t>Alignment Tax</a:t>
            </a:r>
            <a:r>
              <a:rPr lang="zh-TW" altLang="zh-TW" dirty="0"/>
              <a:t> (Alignment Tax) —— 對齊稅</a:t>
            </a:r>
          </a:p>
          <a:p>
            <a:pPr lvl="1"/>
            <a:r>
              <a:rPr lang="zh-TW" altLang="zh-TW" b="1" dirty="0"/>
              <a:t>說明：</a:t>
            </a:r>
            <a:r>
              <a:rPr lang="zh-TW" altLang="zh-TW" dirty="0"/>
              <a:t> 為了讓 AI 更安全、更聽話而進行的安全對齊微調，往往會導致模型失去部分原始推理能力或創造力的代價。</a:t>
            </a:r>
          </a:p>
          <a:p>
            <a:r>
              <a:rPr lang="zh-TW" altLang="zh-TW" b="1" dirty="0"/>
              <a:t>SWE-bench</a:t>
            </a:r>
            <a:r>
              <a:rPr lang="zh-TW" altLang="zh-TW" dirty="0"/>
              <a:t> (Software Engineering Benchmark) —— 軟體工程基準測試</a:t>
            </a:r>
          </a:p>
          <a:p>
            <a:pPr lvl="1"/>
            <a:r>
              <a:rPr lang="zh-TW" altLang="zh-TW" b="1" dirty="0"/>
              <a:t>說明：</a:t>
            </a:r>
            <a:r>
              <a:rPr lang="zh-TW" altLang="zh-TW" dirty="0"/>
              <a:t> 目前業界評估「代碼研發 Agent（如 Devin）」自主解決真實 GitHub Issue 能力的權威標準。</a:t>
            </a:r>
          </a:p>
          <a:p>
            <a:r>
              <a:rPr lang="zh-TW" altLang="zh-TW" b="1" dirty="0"/>
              <a:t>GAIA</a:t>
            </a:r>
            <a:r>
              <a:rPr lang="zh-TW" altLang="zh-TW" dirty="0"/>
              <a:t> (General AI Assistants Benchmark) —— 通用 AI 助手基準測試</a:t>
            </a:r>
          </a:p>
          <a:p>
            <a:pPr lvl="1"/>
            <a:r>
              <a:rPr lang="zh-TW" altLang="zh-TW" b="1" dirty="0"/>
              <a:t>說明：</a:t>
            </a:r>
            <a:r>
              <a:rPr lang="zh-TW" altLang="zh-TW" dirty="0"/>
              <a:t> 用來評估 Agent 在面對需要跨工具、多模態、長程規劃等複雜現實任務時的綜合得分。</a:t>
            </a:r>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54</a:t>
            </a:fld>
            <a:endParaRPr lang="zh-TW" altLang="en-US"/>
          </a:p>
        </p:txBody>
      </p:sp>
    </p:spTree>
    <p:extLst>
      <p:ext uri="{BB962C8B-B14F-4D97-AF65-F5344CB8AC3E}">
        <p14:creationId xmlns:p14="http://schemas.microsoft.com/office/powerpoint/2010/main" val="131587392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分詞器組件（</a:t>
            </a:r>
            <a:r>
              <a:rPr lang="en-US" altLang="zh-TW" dirty="0"/>
              <a:t>Tokenizer Files</a:t>
            </a:r>
            <a:r>
              <a:rPr lang="zh-TW" altLang="en-US" dirty="0"/>
              <a:t>）：</a:t>
            </a:r>
            <a:endParaRPr lang="en-US" altLang="zh-TW" dirty="0"/>
          </a:p>
          <a:p>
            <a:pPr marL="342900" indent="-342900">
              <a:buAutoNum type="arabicPeriod"/>
            </a:pPr>
            <a:r>
              <a:rPr lang="en-US" altLang="zh-TW" dirty="0"/>
              <a:t>tokenizer_config.json</a:t>
            </a:r>
            <a:r>
              <a:rPr lang="zh-TW" altLang="en-US" dirty="0"/>
              <a:t>：記錄分詞器的控制面板參數與 </a:t>
            </a:r>
            <a:r>
              <a:rPr lang="en-US" altLang="zh-TW" dirty="0"/>
              <a:t>Jinja </a:t>
            </a:r>
            <a:r>
              <a:rPr lang="zh-TW" altLang="en-US" dirty="0"/>
              <a:t>對話模板，用來決定文字如何套用原廠角色格式。</a:t>
            </a:r>
            <a:endParaRPr lang="en-US" altLang="zh-TW" dirty="0"/>
          </a:p>
          <a:p>
            <a:pPr marL="342900" indent="-342900">
              <a:buAutoNum type="arabicPeriod"/>
            </a:pPr>
            <a:r>
              <a:rPr lang="en-US" altLang="zh-TW" dirty="0"/>
              <a:t>vocab.json</a:t>
            </a:r>
            <a:r>
              <a:rPr lang="zh-TW" altLang="en-US" dirty="0"/>
              <a:t>：字詞與數位識別代號（</a:t>
            </a:r>
            <a:r>
              <a:rPr lang="en-US" altLang="zh-TW" dirty="0"/>
              <a:t>ID</a:t>
            </a:r>
            <a:r>
              <a:rPr lang="zh-TW" altLang="en-US" dirty="0"/>
              <a:t>）的對照字典，負責將切碎的字母字串翻譯成模型認得的密碼。</a:t>
            </a:r>
            <a:endParaRPr lang="en-US" altLang="zh-TW" dirty="0"/>
          </a:p>
          <a:p>
            <a:pPr marL="342900" indent="-342900">
              <a:buAutoNum type="arabicPeriod"/>
            </a:pPr>
            <a:r>
              <a:rPr lang="en-US" altLang="zh-TW" dirty="0"/>
              <a:t>merges.txt</a:t>
            </a:r>
            <a:r>
              <a:rPr lang="zh-TW" altLang="en-US" dirty="0"/>
              <a:t>：記錄 </a:t>
            </a:r>
            <a:r>
              <a:rPr lang="en-US" altLang="zh-TW" dirty="0"/>
              <a:t>BPE </a:t>
            </a:r>
            <a:r>
              <a:rPr lang="zh-TW" altLang="en-US" dirty="0"/>
              <a:t>演算法的字詞合併規則表，引導分詞器如何有邏輯地將基礎字元組合成高階詞彙。</a:t>
            </a:r>
            <a:endParaRPr lang="en-US" altLang="zh-TW" dirty="0"/>
          </a:p>
          <a:p>
            <a:pPr marL="342900" indent="-342900">
              <a:buAutoNum type="arabicPeriod"/>
            </a:pPr>
            <a:r>
              <a:rPr lang="en-US" altLang="zh-TW" dirty="0"/>
              <a:t>tokenizer.json</a:t>
            </a:r>
            <a:r>
              <a:rPr lang="zh-TW" altLang="en-US" dirty="0"/>
              <a:t>：現代內建 </a:t>
            </a:r>
            <a:r>
              <a:rPr lang="en-US" altLang="zh-TW" dirty="0"/>
              <a:t>Rust </a:t>
            </a:r>
            <a:r>
              <a:rPr lang="zh-TW" altLang="en-US" dirty="0"/>
              <a:t>高速核心的完全體分詞本體，將上述所有分詞與合併規則打包以達成高效編碼。</a:t>
            </a:r>
            <a:endParaRPr lang="en-US" altLang="zh-TW" dirty="0"/>
          </a:p>
          <a:p>
            <a:pPr marL="342900" indent="-342900">
              <a:buAutoNum type="arabicPeriod"/>
            </a:pPr>
            <a:r>
              <a:rPr lang="en-US" altLang="zh-TW" dirty="0"/>
              <a:t> special_tokens_map.json</a:t>
            </a:r>
            <a:r>
              <a:rPr lang="zh-TW" altLang="en-US" dirty="0"/>
              <a:t>：特殊符號對照表，用來定義與強制規範哪些數位代號代表文章開頭、結束或填補空白。</a:t>
            </a:r>
            <a:endParaRPr lang="en-US" altLang="zh-TW" dirty="0"/>
          </a:p>
          <a:p>
            <a:r>
              <a:rPr lang="zh-TW" altLang="en-US" dirty="0"/>
              <a:t>模型大腦組件（</a:t>
            </a:r>
            <a:r>
              <a:rPr lang="en-US" altLang="zh-TW" dirty="0"/>
              <a:t>Model Files</a:t>
            </a:r>
            <a:r>
              <a:rPr lang="zh-TW" altLang="en-US" dirty="0"/>
              <a:t>）：</a:t>
            </a:r>
            <a:endParaRPr lang="en-US" altLang="zh-TW" dirty="0"/>
          </a:p>
          <a:p>
            <a:pPr marL="342900" indent="-342900">
              <a:buAutoNum type="arabicPeriod"/>
            </a:pPr>
            <a:r>
              <a:rPr lang="en-US" altLang="zh-TW" dirty="0"/>
              <a:t> config.json</a:t>
            </a:r>
            <a:r>
              <a:rPr lang="zh-TW" altLang="en-US" dirty="0"/>
              <a:t>：大模型的神經網路結構藍圖，用來指引系統記憶體在開機時精準搭建出大腦的幾何骨架。</a:t>
            </a:r>
            <a:endParaRPr lang="en-US" altLang="zh-TW" dirty="0"/>
          </a:p>
          <a:p>
            <a:pPr marL="342900" indent="-342900">
              <a:buAutoNum type="arabicPeriod"/>
            </a:pPr>
            <a:r>
              <a:rPr lang="en-US" altLang="zh-TW" dirty="0"/>
              <a:t> model.safetensors</a:t>
            </a:r>
            <a:r>
              <a:rPr lang="zh-TW" altLang="en-US" dirty="0"/>
              <a:t>：大模型的實體大腦數字權重矩陣，負責在微調時被寫入與修改，永久保存所有的私有知識記憶。</a:t>
            </a:r>
            <a:endParaRPr lang="en-US" altLang="zh-TW" dirty="0"/>
          </a:p>
          <a:p>
            <a:pPr marL="342900" indent="-342900">
              <a:buAutoNum type="arabicPeriod"/>
            </a:pPr>
            <a:r>
              <a:rPr lang="en-US" altLang="zh-TW" dirty="0"/>
              <a:t> generation_config.json</a:t>
            </a:r>
            <a:r>
              <a:rPr lang="zh-TW" altLang="en-US" dirty="0"/>
              <a:t>：文本生成控制台，用來決定模型在正式上線聊天接龍時的預設隨機度與說話語氣。</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55</a:t>
            </a:fld>
            <a:endParaRPr lang="zh-TW" altLang="en-US"/>
          </a:p>
        </p:txBody>
      </p:sp>
    </p:spTree>
    <p:extLst>
      <p:ext uri="{BB962C8B-B14F-4D97-AF65-F5344CB8AC3E}">
        <p14:creationId xmlns:p14="http://schemas.microsoft.com/office/powerpoint/2010/main" val="30510694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2026/8/14</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標題及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EEB8F32-D6CA-1096-5F7F-634DD383125F}"/>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14FB77DC-1F1A-EDE3-202F-AD35BA11132A}"/>
              </a:ext>
            </a:extLst>
          </p:cNvPr>
          <p:cNvSpPr>
            <a:spLocks noGrp="1"/>
          </p:cNvSpPr>
          <p:nvPr>
            <p:ph idx="1"/>
          </p:nvPr>
        </p:nvSpPr>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ABBAA7D4-40C2-30FA-EF1C-009BF097844D}"/>
              </a:ext>
            </a:extLst>
          </p:cNvPr>
          <p:cNvSpPr>
            <a:spLocks noGrp="1"/>
          </p:cNvSpPr>
          <p:nvPr>
            <p:ph type="dt" sz="half" idx="10"/>
          </p:nvPr>
        </p:nvSpPr>
        <p:spPr/>
        <p:txBody>
          <a:bodyPr/>
          <a:lstStyle/>
          <a:p>
            <a:fld id="{19D5AE9D-E316-4C75-862D-9EBD6D1B334B}" type="datetimeFigureOut">
              <a:rPr lang="zh-TW" altLang="en-US" smtClean="0"/>
              <a:t>2026/8/14</a:t>
            </a:fld>
            <a:endParaRPr lang="zh-TW" altLang="en-US"/>
          </a:p>
        </p:txBody>
      </p:sp>
      <p:sp>
        <p:nvSpPr>
          <p:cNvPr id="5" name="頁尾版面配置區 4">
            <a:extLst>
              <a:ext uri="{FF2B5EF4-FFF2-40B4-BE49-F238E27FC236}">
                <a16:creationId xmlns:a16="http://schemas.microsoft.com/office/drawing/2014/main" id="{C79E40CA-DAB8-F94E-65BD-7E947BD0760C}"/>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CE982315-D0D5-22A2-3A7C-183FFB19C770}"/>
              </a:ext>
            </a:extLst>
          </p:cNvPr>
          <p:cNvSpPr>
            <a:spLocks noGrp="1"/>
          </p:cNvSpPr>
          <p:nvPr>
            <p:ph type="sldNum" sz="quarter" idx="12"/>
          </p:nvPr>
        </p:nvSpPr>
        <p:spPr/>
        <p:txBody>
          <a:bodyPr/>
          <a:lstStyle/>
          <a:p>
            <a:fld id="{59C4967A-F914-4D6D-AEDD-D79048CFF0C0}" type="slidenum">
              <a:rPr lang="zh-TW" altLang="en-US" smtClean="0"/>
              <a:t>‹#›</a:t>
            </a:fld>
            <a:endParaRPr lang="zh-TW" altLang="en-US"/>
          </a:p>
        </p:txBody>
      </p:sp>
    </p:spTree>
    <p:extLst>
      <p:ext uri="{BB962C8B-B14F-4D97-AF65-F5344CB8AC3E}">
        <p14:creationId xmlns:p14="http://schemas.microsoft.com/office/powerpoint/2010/main" val="227420510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 id="2147483663" r:id="rId4"/>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90.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62.png"/></Relationships>
</file>

<file path=ppt/slides/_rels/slide10.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2.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29.png"/><Relationship Id="rId7" Type="http://schemas.openxmlformats.org/officeDocument/2006/relationships/image" Target="../media/image20.png"/><Relationship Id="rId12" Type="http://schemas.openxmlformats.org/officeDocument/2006/relationships/image" Target="../media/image25.png"/><Relationship Id="rId17" Type="http://schemas.openxmlformats.org/officeDocument/2006/relationships/image" Target="../media/image36.png"/><Relationship Id="rId2" Type="http://schemas.openxmlformats.org/officeDocument/2006/relationships/notesSlide" Target="../notesSlides/notesSlide11.xml"/><Relationship Id="rId16" Type="http://schemas.openxmlformats.org/officeDocument/2006/relationships/image" Target="../media/image35.png"/><Relationship Id="rId20"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9.png"/><Relationship Id="rId11" Type="http://schemas.openxmlformats.org/officeDocument/2006/relationships/image" Target="../media/image24.png"/><Relationship Id="rId5" Type="http://schemas.openxmlformats.org/officeDocument/2006/relationships/image" Target="../media/image18.png"/><Relationship Id="rId15" Type="http://schemas.openxmlformats.org/officeDocument/2006/relationships/image" Target="../media/image34.png"/><Relationship Id="rId10" Type="http://schemas.openxmlformats.org/officeDocument/2006/relationships/image" Target="../media/image23.png"/><Relationship Id="rId19" Type="http://schemas.openxmlformats.org/officeDocument/2006/relationships/image" Target="../media/image38.png"/><Relationship Id="rId4" Type="http://schemas.openxmlformats.org/officeDocument/2006/relationships/image" Target="../media/image17.png"/><Relationship Id="rId9" Type="http://schemas.openxmlformats.org/officeDocument/2006/relationships/image" Target="../media/image22.png"/><Relationship Id="rId14" Type="http://schemas.openxmlformats.org/officeDocument/2006/relationships/image" Target="../media/image27.png"/></Relationships>
</file>

<file path=ppt/slides/_rels/slide13.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9.png"/><Relationship Id="rId2" Type="http://schemas.openxmlformats.org/officeDocument/2006/relationships/notesSlide" Target="../notesSlides/notesSlide12.xml"/><Relationship Id="rId1" Type="http://schemas.openxmlformats.org/officeDocument/2006/relationships/slideLayout" Target="../slideLayouts/slideLayout3.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4.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image" Target="../media/image41.svg"/></Relationships>
</file>

<file path=ppt/slides/_rels/slide15.xml.rels><?xml version="1.0" encoding="UTF-8" standalone="yes"?>
<Relationships xmlns="http://schemas.openxmlformats.org/package/2006/relationships"><Relationship Id="rId3" Type="http://schemas.openxmlformats.org/officeDocument/2006/relationships/image" Target="../media/image42.sv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5.xml"/><Relationship Id="rId1" Type="http://schemas.openxmlformats.org/officeDocument/2006/relationships/slideLayout" Target="../slideLayouts/slideLayout3.xml"/><Relationship Id="rId5" Type="http://schemas.openxmlformats.org/officeDocument/2006/relationships/image" Target="../media/image230.png"/><Relationship Id="rId4" Type="http://schemas.openxmlformats.org/officeDocument/2006/relationships/image" Target="../media/image220.png"/></Relationships>
</file>

<file path=ppt/slides/_rels/slide17.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7.xml"/><Relationship Id="rId1" Type="http://schemas.openxmlformats.org/officeDocument/2006/relationships/slideLayout" Target="../slideLayouts/slideLayout3.xml"/><Relationship Id="rId5" Type="http://schemas.openxmlformats.org/officeDocument/2006/relationships/image" Target="../media/image46.png"/><Relationship Id="rId4" Type="http://schemas.openxmlformats.org/officeDocument/2006/relationships/image" Target="../media/image45.png"/></Relationships>
</file>

<file path=ppt/slides/_rels/slide19.xml.rels><?xml version="1.0" encoding="UTF-8" standalone="yes"?>
<Relationships xmlns="http://schemas.openxmlformats.org/package/2006/relationships"><Relationship Id="rId3" Type="http://schemas.openxmlformats.org/officeDocument/2006/relationships/image" Target="../media/image47.svg"/><Relationship Id="rId7" Type="http://schemas.openxmlformats.org/officeDocument/2006/relationships/image" Target="../media/image51.png"/><Relationship Id="rId2" Type="http://schemas.openxmlformats.org/officeDocument/2006/relationships/notesSlide" Target="../notesSlides/notesSlide18.xml"/><Relationship Id="rId1" Type="http://schemas.openxmlformats.org/officeDocument/2006/relationships/slideLayout" Target="../slideLayouts/slideLayout3.xml"/><Relationship Id="rId6" Type="http://schemas.openxmlformats.org/officeDocument/2006/relationships/image" Target="../media/image50.png"/><Relationship Id="rId5" Type="http://schemas.openxmlformats.org/officeDocument/2006/relationships/image" Target="../media/image49.svg"/><Relationship Id="rId4" Type="http://schemas.openxmlformats.org/officeDocument/2006/relationships/image" Target="../media/image48.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52.jp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8" Type="http://schemas.openxmlformats.org/officeDocument/2006/relationships/image" Target="../media/image61.svg"/><Relationship Id="rId3" Type="http://schemas.openxmlformats.org/officeDocument/2006/relationships/image" Target="../media/image56.svg"/><Relationship Id="rId7" Type="http://schemas.openxmlformats.org/officeDocument/2006/relationships/image" Target="../media/image60.svg"/><Relationship Id="rId2" Type="http://schemas.openxmlformats.org/officeDocument/2006/relationships/notesSlide" Target="../notesSlides/notesSlide22.xml"/><Relationship Id="rId1" Type="http://schemas.openxmlformats.org/officeDocument/2006/relationships/slideLayout" Target="../slideLayouts/slideLayout3.xml"/><Relationship Id="rId6" Type="http://schemas.openxmlformats.org/officeDocument/2006/relationships/image" Target="../media/image59.svg"/><Relationship Id="rId5" Type="http://schemas.openxmlformats.org/officeDocument/2006/relationships/image" Target="../media/image58.png"/><Relationship Id="rId10" Type="http://schemas.openxmlformats.org/officeDocument/2006/relationships/image" Target="../media/image63.svg"/><Relationship Id="rId4" Type="http://schemas.openxmlformats.org/officeDocument/2006/relationships/image" Target="../media/image57.svg"/><Relationship Id="rId9" Type="http://schemas.openxmlformats.org/officeDocument/2006/relationships/image" Target="../media/image62.svg"/></Relationships>
</file>

<file path=ppt/slides/_rels/slide25.xml.rels><?xml version="1.0" encoding="UTF-8" standalone="yes"?>
<Relationships xmlns="http://schemas.openxmlformats.org/package/2006/relationships"><Relationship Id="rId3" Type="http://schemas.openxmlformats.org/officeDocument/2006/relationships/image" Target="../media/image58.png"/><Relationship Id="rId7" Type="http://schemas.openxmlformats.org/officeDocument/2006/relationships/image" Target="../media/image57.svg"/><Relationship Id="rId2" Type="http://schemas.openxmlformats.org/officeDocument/2006/relationships/notesSlide" Target="../notesSlides/notesSlide23.xml"/><Relationship Id="rId1" Type="http://schemas.openxmlformats.org/officeDocument/2006/relationships/slideLayout" Target="../slideLayouts/slideLayout3.xml"/><Relationship Id="rId6" Type="http://schemas.openxmlformats.org/officeDocument/2006/relationships/image" Target="../media/image65.svg"/><Relationship Id="rId5" Type="http://schemas.openxmlformats.org/officeDocument/2006/relationships/image" Target="../media/image64.svg"/><Relationship Id="rId4" Type="http://schemas.openxmlformats.org/officeDocument/2006/relationships/image" Target="../media/image59.svg"/></Relationships>
</file>

<file path=ppt/slides/_rels/slide26.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4.xml"/><Relationship Id="rId1" Type="http://schemas.openxmlformats.org/officeDocument/2006/relationships/slideLayout" Target="../slideLayouts/slideLayout3.xml"/><Relationship Id="rId4" Type="http://schemas.openxmlformats.org/officeDocument/2006/relationships/image" Target="../media/image67.svg"/></Relationships>
</file>

<file path=ppt/slides/_rels/slide27.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68.png"/><Relationship Id="rId1" Type="http://schemas.openxmlformats.org/officeDocument/2006/relationships/slideLayout" Target="../slideLayouts/slideLayout3.xml"/><Relationship Id="rId4" Type="http://schemas.openxmlformats.org/officeDocument/2006/relationships/image" Target="../media/image69.jpeg"/></Relationships>
</file>

<file path=ppt/slides/_rels/slide28.xml.rels><?xml version="1.0" encoding="UTF-8" standalone="yes"?>
<Relationships xmlns="http://schemas.openxmlformats.org/package/2006/relationships"><Relationship Id="rId8" Type="http://schemas.openxmlformats.org/officeDocument/2006/relationships/image" Target="../media/image68.png"/><Relationship Id="rId3" Type="http://schemas.openxmlformats.org/officeDocument/2006/relationships/image" Target="../media/image71.png"/><Relationship Id="rId7" Type="http://schemas.openxmlformats.org/officeDocument/2006/relationships/image" Target="../media/image75.png"/><Relationship Id="rId2" Type="http://schemas.openxmlformats.org/officeDocument/2006/relationships/notesSlide" Target="../notesSlides/notesSlide25.xml"/><Relationship Id="rId1" Type="http://schemas.openxmlformats.org/officeDocument/2006/relationships/slideLayout" Target="../slideLayouts/slideLayout3.xml"/><Relationship Id="rId6" Type="http://schemas.openxmlformats.org/officeDocument/2006/relationships/image" Target="../media/image74.png"/><Relationship Id="rId5" Type="http://schemas.openxmlformats.org/officeDocument/2006/relationships/image" Target="../media/image73.png"/><Relationship Id="rId4" Type="http://schemas.openxmlformats.org/officeDocument/2006/relationships/image" Target="../media/image72.jpeg"/></Relationships>
</file>

<file path=ppt/slides/_rels/slide29.xml.rels><?xml version="1.0" encoding="UTF-8" standalone="yes"?>
<Relationships xmlns="http://schemas.openxmlformats.org/package/2006/relationships"><Relationship Id="rId3" Type="http://schemas.openxmlformats.org/officeDocument/2006/relationships/image" Target="../media/image76.sv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77.svg"/></Relationships>
</file>

<file path=ppt/slides/_rels/slide30.xml.rels><?xml version="1.0" encoding="UTF-8" standalone="yes"?>
<Relationships xmlns="http://schemas.openxmlformats.org/package/2006/relationships"><Relationship Id="rId3" Type="http://schemas.openxmlformats.org/officeDocument/2006/relationships/image" Target="../media/image78.svg"/><Relationship Id="rId7" Type="http://schemas.openxmlformats.org/officeDocument/2006/relationships/image" Target="../media/image82.svg"/><Relationship Id="rId2" Type="http://schemas.openxmlformats.org/officeDocument/2006/relationships/notesSlide" Target="../notesSlides/notesSlide27.xml"/><Relationship Id="rId1" Type="http://schemas.openxmlformats.org/officeDocument/2006/relationships/slideLayout" Target="../slideLayouts/slideLayout3.xml"/><Relationship Id="rId6" Type="http://schemas.openxmlformats.org/officeDocument/2006/relationships/image" Target="../media/image81.svg"/><Relationship Id="rId5" Type="http://schemas.openxmlformats.org/officeDocument/2006/relationships/image" Target="../media/image80.svg"/><Relationship Id="rId4" Type="http://schemas.openxmlformats.org/officeDocument/2006/relationships/image" Target="../media/image79.sv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3" Type="http://schemas.openxmlformats.org/officeDocument/2006/relationships/image" Target="../media/image83.jpeg"/><Relationship Id="rId2" Type="http://schemas.openxmlformats.org/officeDocument/2006/relationships/notesSlide" Target="../notesSlides/notesSlide34.xml"/><Relationship Id="rId1" Type="http://schemas.openxmlformats.org/officeDocument/2006/relationships/slideLayout" Target="../slideLayouts/slideLayout3.xml"/><Relationship Id="rId4" Type="http://schemas.openxmlformats.org/officeDocument/2006/relationships/image" Target="../media/image84.png"/></Relationships>
</file>

<file path=ppt/slides/_rels/slide38.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image" Target="../media/image87.png"/><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notesSlide" Target="../notesSlides/notesSlide39.xml"/><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41.xml"/><Relationship Id="rId1" Type="http://schemas.openxmlformats.org/officeDocument/2006/relationships/slideLayout" Target="../slideLayouts/slideLayout3.xml"/><Relationship Id="rId4" Type="http://schemas.openxmlformats.org/officeDocument/2006/relationships/image" Target="../media/image89.png"/></Relationships>
</file>

<file path=ppt/slides/_rels/slide49.xml.rels><?xml version="1.0" encoding="UTF-8" standalone="yes"?>
<Relationships xmlns="http://schemas.openxmlformats.org/package/2006/relationships"><Relationship Id="rId8" Type="http://schemas.openxmlformats.org/officeDocument/2006/relationships/image" Target="../media/image89.png"/><Relationship Id="rId3" Type="http://schemas.openxmlformats.org/officeDocument/2006/relationships/image" Target="../media/image1.png"/><Relationship Id="rId7" Type="http://schemas.openxmlformats.org/officeDocument/2006/relationships/image" Target="../media/image11.png"/><Relationship Id="rId12" Type="http://schemas.openxmlformats.org/officeDocument/2006/relationships/image" Target="../media/image96.png"/><Relationship Id="rId2" Type="http://schemas.openxmlformats.org/officeDocument/2006/relationships/notesSlide" Target="../notesSlides/notesSlide42.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5.png"/><Relationship Id="rId5" Type="http://schemas.openxmlformats.org/officeDocument/2006/relationships/image" Target="../media/image3.png"/><Relationship Id="rId10" Type="http://schemas.openxmlformats.org/officeDocument/2006/relationships/image" Target="../media/image94.png"/><Relationship Id="rId4" Type="http://schemas.openxmlformats.org/officeDocument/2006/relationships/image" Target="../media/image2.png"/><Relationship Id="rId9" Type="http://schemas.openxmlformats.org/officeDocument/2006/relationships/image" Target="../media/image93.png"/></Relationships>
</file>

<file path=ppt/slides/_rels/slide50.xml.rels><?xml version="1.0" encoding="UTF-8" standalone="yes"?>
<Relationships xmlns="http://schemas.openxmlformats.org/package/2006/relationships"><Relationship Id="rId3" Type="http://schemas.openxmlformats.org/officeDocument/2006/relationships/image" Target="../media/image98.png"/><Relationship Id="rId7" Type="http://schemas.openxmlformats.org/officeDocument/2006/relationships/image" Target="../media/image68.png"/><Relationship Id="rId2" Type="http://schemas.openxmlformats.org/officeDocument/2006/relationships/image" Target="../media/image97.png"/><Relationship Id="rId1" Type="http://schemas.openxmlformats.org/officeDocument/2006/relationships/slideLayout" Target="../slideLayouts/slideLayout3.xml"/><Relationship Id="rId6" Type="http://schemas.openxmlformats.org/officeDocument/2006/relationships/image" Target="../media/image69.jpeg"/><Relationship Id="rId5" Type="http://schemas.openxmlformats.org/officeDocument/2006/relationships/image" Target="../media/image58.png"/><Relationship Id="rId4" Type="http://schemas.openxmlformats.org/officeDocument/2006/relationships/image" Target="../media/image99.png"/></Relationships>
</file>

<file path=ppt/slides/_rels/slide51.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image" Target="../media/image100.png"/><Relationship Id="rId1" Type="http://schemas.openxmlformats.org/officeDocument/2006/relationships/slideLayout" Target="../slideLayouts/slideLayout4.xml"/><Relationship Id="rId5" Type="http://schemas.openxmlformats.org/officeDocument/2006/relationships/image" Target="../media/image103.png"/><Relationship Id="rId4" Type="http://schemas.openxmlformats.org/officeDocument/2006/relationships/image" Target="../media/image102.png"/></Relationships>
</file>

<file path=ppt/slides/_rels/slide53.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image" Target="../media/image104.png"/><Relationship Id="rId1" Type="http://schemas.openxmlformats.org/officeDocument/2006/relationships/slideLayout" Target="../slideLayouts/slideLayout4.xml"/><Relationship Id="rId5" Type="http://schemas.openxmlformats.org/officeDocument/2006/relationships/image" Target="../media/image107.png"/><Relationship Id="rId4" Type="http://schemas.openxmlformats.org/officeDocument/2006/relationships/image" Target="../media/image106.png"/></Relationships>
</file>

<file path=ppt/slides/_rels/slide54.xml.rels><?xml version="1.0" encoding="UTF-8" standalone="yes"?>
<Relationships xmlns="http://schemas.openxmlformats.org/package/2006/relationships"><Relationship Id="rId8" Type="http://schemas.openxmlformats.org/officeDocument/2006/relationships/image" Target="../media/image112.png"/><Relationship Id="rId3" Type="http://schemas.openxmlformats.org/officeDocument/2006/relationships/image" Target="../media/image108.png"/><Relationship Id="rId7" Type="http://schemas.openxmlformats.org/officeDocument/2006/relationships/image" Target="../media/image111.png"/><Relationship Id="rId2" Type="http://schemas.openxmlformats.org/officeDocument/2006/relationships/notesSlide" Target="../notesSlides/notesSlide43.xml"/><Relationship Id="rId1" Type="http://schemas.openxmlformats.org/officeDocument/2006/relationships/slideLayout" Target="../slideLayouts/slideLayout4.xml"/><Relationship Id="rId6" Type="http://schemas.openxmlformats.org/officeDocument/2006/relationships/image" Target="../media/image110.png"/><Relationship Id="rId5" Type="http://schemas.openxmlformats.org/officeDocument/2006/relationships/image" Target="../media/image2300.png"/><Relationship Id="rId4" Type="http://schemas.openxmlformats.org/officeDocument/2006/relationships/image" Target="../media/image109.png"/></Relationships>
</file>

<file path=ppt/slides/_rels/slide55.xml.rels><?xml version="1.0" encoding="UTF-8" standalone="yes"?>
<Relationships xmlns="http://schemas.openxmlformats.org/package/2006/relationships"><Relationship Id="rId8" Type="http://schemas.openxmlformats.org/officeDocument/2006/relationships/image" Target="../media/image118.png"/><Relationship Id="rId3" Type="http://schemas.openxmlformats.org/officeDocument/2006/relationships/image" Target="../media/image113.png"/><Relationship Id="rId7" Type="http://schemas.openxmlformats.org/officeDocument/2006/relationships/image" Target="../media/image117.png"/><Relationship Id="rId2" Type="http://schemas.openxmlformats.org/officeDocument/2006/relationships/notesSlide" Target="../notesSlides/notesSlide44.xml"/><Relationship Id="rId1" Type="http://schemas.openxmlformats.org/officeDocument/2006/relationships/slideLayout" Target="../slideLayouts/slideLayout4.xml"/><Relationship Id="rId6" Type="http://schemas.openxmlformats.org/officeDocument/2006/relationships/image" Target="../media/image116.png"/><Relationship Id="rId5" Type="http://schemas.openxmlformats.org/officeDocument/2006/relationships/image" Target="../media/image115.png"/><Relationship Id="rId4" Type="http://schemas.openxmlformats.org/officeDocument/2006/relationships/image" Target="../media/image114.png"/><Relationship Id="rId9" Type="http://schemas.openxmlformats.org/officeDocument/2006/relationships/image" Target="../media/image11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2026/08/03</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476672"/>
            <a:ext cx="7524837" cy="1436291"/>
          </a:xfrm>
          <a:prstGeom prst="rect">
            <a:avLst/>
          </a:prstGeom>
          <a:noFill/>
        </p:spPr>
        <p:txBody>
          <a:bodyPr wrap="square" rtlCol="0">
            <a:spAutoFit/>
          </a:bodyPr>
          <a:lstStyle/>
          <a:p>
            <a:pPr algn="ctr"/>
            <a:r>
              <a:rPr lang="en-US" altLang="zh-TW" sz="3200" b="1" dirty="0">
                <a:solidFill>
                  <a:schemeClr val="bg1">
                    <a:lumMod val="65000"/>
                  </a:schemeClr>
                </a:solidFill>
              </a:rPr>
              <a:t>Attention Is All You Need</a:t>
            </a:r>
          </a:p>
          <a:p>
            <a:pPr defTabSz="4857750">
              <a:lnSpc>
                <a:spcPts val="400"/>
              </a:lnSpc>
            </a:pPr>
            <a:r>
              <a:rPr lang="zh-TW" altLang="en-US" sz="1000" b="1" dirty="0">
                <a:solidFill>
                  <a:schemeClr val="bg1">
                    <a:lumMod val="50000"/>
                  </a:schemeClr>
                </a:solidFill>
              </a:rPr>
              <a:t> </a:t>
            </a:r>
            <a:r>
              <a:rPr lang="en-US" altLang="zh-TW" sz="1000" b="1" dirty="0">
                <a:solidFill>
                  <a:schemeClr val="bg1">
                    <a:lumMod val="50000"/>
                  </a:schemeClr>
                </a:solidFill>
              </a:rPr>
              <a:t>	2017</a:t>
            </a:r>
          </a:p>
          <a:p>
            <a:pPr indent="541338" defTabSz="7269163">
              <a:tabLst>
                <a:tab pos="2955925" algn="l"/>
                <a:tab pos="5470525" algn="l"/>
              </a:tabLst>
            </a:pPr>
            <a:r>
              <a:rPr lang="en-US" altLang="zh-TW" sz="1200" b="1" dirty="0">
                <a:solidFill>
                  <a:schemeClr val="bg1">
                    <a:lumMod val="50000"/>
                  </a:schemeClr>
                </a:solidFill>
              </a:rPr>
              <a:t>Google Brain: 	</a:t>
            </a:r>
            <a:r>
              <a:rPr lang="en-US" altLang="zh-TW" sz="1200" b="1" dirty="0">
                <a:solidFill>
                  <a:schemeClr val="bg1">
                    <a:lumMod val="50000"/>
                  </a:schemeClr>
                </a:solidFill>
                <a:sym typeface="Wingdings" panose="05000000000000000000" pitchFamily="2" charset="2"/>
              </a:rPr>
              <a:t>Google Research	University of Toronto</a:t>
            </a:r>
          </a:p>
          <a:p>
            <a:pPr indent="541338" defTabSz="7269163">
              <a:tabLst>
                <a:tab pos="2955925" algn="l"/>
                <a:tab pos="5470525" algn="l"/>
              </a:tabLst>
            </a:pPr>
            <a:r>
              <a:rPr lang="en-US" altLang="zh-TW" sz="1000" dirty="0">
                <a:solidFill>
                  <a:schemeClr val="bg1">
                    <a:lumMod val="50000"/>
                  </a:schemeClr>
                </a:solidFill>
              </a:rPr>
              <a:t>Ashish Vaswani</a:t>
            </a:r>
            <a:r>
              <a:rPr lang="en-US" altLang="zh-TW" sz="1000" dirty="0">
                <a:solidFill>
                  <a:schemeClr val="bg1">
                    <a:lumMod val="50000"/>
                  </a:schemeClr>
                </a:solidFill>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solidFill>
                  <a:schemeClr val="bg1">
                    <a:lumMod val="50000"/>
                  </a:schemeClr>
                </a:solidFill>
              </a:rPr>
              <a:t>Noam Shazeer</a:t>
            </a:r>
            <a:r>
              <a:rPr lang="en-US" altLang="zh-TW" sz="1000" dirty="0">
                <a:solidFill>
                  <a:schemeClr val="bg1">
                    <a:lumMod val="50000"/>
                  </a:schemeClr>
                </a:solidFill>
                <a:sym typeface="Wingdings" panose="05000000000000000000" pitchFamily="2" charset="2"/>
              </a:rPr>
              <a:t> (Google)	Jakob Uszkoreit (Inceptive*)	</a:t>
            </a: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Lukasz Kaiser (OpenAI)	Llion Jones (Sakana AI*)	-- «The Transformer Eight»</a:t>
            </a:r>
            <a:endParaRPr lang="en-US" altLang="zh-TW" sz="1000" b="1" dirty="0">
              <a:solidFill>
                <a:schemeClr val="bg1">
                  <a:lumMod val="50000"/>
                </a:schemeClr>
              </a:solidFill>
              <a:sym typeface="Wingdings" panose="05000000000000000000" pitchFamily="2" charset="2"/>
            </a:endParaRP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		Illia Polosukhin (NEAR Protocol*)</a:t>
            </a:r>
            <a:endParaRPr lang="zh-TW" altLang="en-US" sz="1000" dirty="0">
              <a:solidFill>
                <a:schemeClr val="bg1">
                  <a:lumMod val="50000"/>
                </a:schemeClr>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1467068"/>
          </a:xfrm>
          <a:prstGeom prst="rect">
            <a:avLst/>
          </a:prstGeom>
          <a:noFill/>
        </p:spPr>
        <p:txBody>
          <a:bodyPr wrap="square" rtlCol="0">
            <a:spAutoFit/>
          </a:bodyPr>
          <a:lstStyle/>
          <a:p>
            <a:pPr algn="ctr"/>
            <a:r>
              <a:rPr lang="en-US" altLang="zh-TW" sz="4000" b="1" dirty="0"/>
              <a:t>Gemma</a:t>
            </a:r>
            <a:r>
              <a:rPr lang="zh-TW" altLang="en-US" sz="4000" b="1" dirty="0"/>
              <a:t> </a:t>
            </a:r>
            <a:r>
              <a:rPr lang="en-US" altLang="zh-TW" sz="4000" b="1" dirty="0"/>
              <a:t>4 Technical Report</a:t>
            </a:r>
          </a:p>
          <a:p>
            <a:pPr defTabSz="4857750">
              <a:lnSpc>
                <a:spcPts val="400"/>
              </a:lnSpc>
            </a:pPr>
            <a:r>
              <a:rPr lang="zh-TW" altLang="en-US" sz="1000" b="1" dirty="0"/>
              <a:t> </a:t>
            </a:r>
            <a:r>
              <a:rPr lang="en-US" altLang="zh-TW" sz="1000" b="1" dirty="0"/>
              <a:t>	2026</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Google DeepMind	</a:t>
            </a:r>
            <a:r>
              <a:rPr lang="en-US" altLang="zh-TW" sz="1000" dirty="0">
                <a:sym typeface="Wingdings" panose="05000000000000000000" pitchFamily="2" charset="2"/>
              </a:rPr>
              <a:t>	Gemma Team</a:t>
            </a:r>
            <a:endParaRPr lang="zh-TW" altLang="en-US" sz="1000" dirty="0">
              <a:solidFill>
                <a:schemeClr val="accent1">
                  <a:lumMod val="75000"/>
                </a:schemeClr>
              </a:solidFill>
            </a:endParaRPr>
          </a:p>
        </p:txBody>
      </p:sp>
      <p:sp>
        <p:nvSpPr>
          <p:cNvPr id="6" name="箭號: 向下 5">
            <a:extLst>
              <a:ext uri="{FF2B5EF4-FFF2-40B4-BE49-F238E27FC236}">
                <a16:creationId xmlns:a16="http://schemas.microsoft.com/office/drawing/2014/main" id="{3FDCCCE8-8C7A-A946-2660-B6BE0DF7B183}"/>
              </a:ext>
            </a:extLst>
          </p:cNvPr>
          <p:cNvSpPr/>
          <p:nvPr/>
        </p:nvSpPr>
        <p:spPr>
          <a:xfrm>
            <a:off x="4355975" y="1772816"/>
            <a:ext cx="432048" cy="426625"/>
          </a:xfrm>
          <a:prstGeom prst="downArrow">
            <a:avLst/>
          </a:prstGeom>
          <a:solidFill>
            <a:schemeClr val="bg1">
              <a:lumMod val="75000"/>
              <a:alpha val="70000"/>
            </a:schemeClr>
          </a:solidFill>
          <a:ln w="127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par>
                                <p:cTn id="71" presetID="3" presetClass="emph" presetSubtype="2" fill="hold" grpId="0" nodeType="withEffect">
                                  <p:stCondLst>
                                    <p:cond delay="0"/>
                                  </p:stCondLst>
                                  <p:childTnLst>
                                    <p:animClr clrSpc="rgb" dir="cw">
                                      <p:cBhvr override="childStyle">
                                        <p:cTn id="7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1"/>
                                            </p:cond>
                                          </p:stCondLst>
                                          <p:endCondLst>
                                            <p:cond evt="onStopAudio" delay="0">
                                              <p:tgtEl>
                                                <p:sldTgt/>
                                              </p:tgtEl>
                                            </p:cond>
                                          </p:endCondLst>
                                        </p:cTn>
                                        <p:tgtEl>
                                          <p:sndTgt r:embed="rId3" name="type.wav"/>
                                        </p:tgtEl>
                                      </p:cMediaNode>
                                    </p:audio>
                                  </p:subTnLst>
                                </p:cTn>
                              </p:par>
                              <p:par>
                                <p:cTn id="73" presetID="3" presetClass="emph" presetSubtype="2" fill="hold" grpId="0" nodeType="withEffect">
                                  <p:stCondLst>
                                    <p:cond delay="0"/>
                                  </p:stCondLst>
                                  <p:childTnLst>
                                    <p:animClr clrSpc="rgb" dir="cw">
                                      <p:cBhvr override="childStyle">
                                        <p:cTn id="74"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1" nodeType="withEffect">
                                  <p:stCondLst>
                                    <p:cond delay="0"/>
                                  </p:stCondLst>
                                  <p:childTnLst>
                                    <p:animClr clrSpc="rgb" dir="cw">
                                      <p:cBhvr override="childStyle">
                                        <p:cTn id="76" dur="2000" fill="hold"/>
                                        <p:tgtEl>
                                          <p:spTgt spid="2">
                                            <p:txEl>
                                              <p:pRg st="13" end="13"/>
                                            </p:txEl>
                                          </p:spTgt>
                                        </p:tgtEl>
                                        <p:attrNameLst>
                                          <p:attrName>style.color</p:attrName>
                                        </p:attrNameLst>
                                      </p:cBhvr>
                                      <p:to>
                                        <a:srgbClr val="4D4D4D"/>
                                      </p:to>
                                    </p:animClr>
                                  </p:childTnLst>
                                </p:cTn>
                              </p:par>
                              <p:par>
                                <p:cTn id="77" presetID="3" presetClass="emph" presetSubtype="2" fill="hold" grpId="1" nodeType="withEffect">
                                  <p:stCondLst>
                                    <p:cond delay="0"/>
                                  </p:stCondLst>
                                  <p:childTnLst>
                                    <p:animClr clrSpc="rgb" dir="cw">
                                      <p:cBhvr override="childStyle">
                                        <p:cTn id="78" dur="2000" fill="hold"/>
                                        <p:tgtEl>
                                          <p:spTgt spid="2">
                                            <p:txEl>
                                              <p:pRg st="14" end="14"/>
                                            </p:txEl>
                                          </p:spTgt>
                                        </p:tgtEl>
                                        <p:attrNameLst>
                                          <p:attrName>style.color</p:attrName>
                                        </p:attrNameLst>
                                      </p:cBhvr>
                                      <p:to>
                                        <a:srgbClr val="4D4D4D"/>
                                      </p:to>
                                    </p:animClr>
                                  </p:childTnLst>
                                </p:cTn>
                              </p:par>
                            </p:childTnLst>
                          </p:cTn>
                        </p:par>
                      </p:childTnLst>
                    </p:cTn>
                  </p:par>
                  <p:par>
                    <p:cTn id="79" fill="hold">
                      <p:stCondLst>
                        <p:cond delay="indefinite"/>
                      </p:stCondLst>
                      <p:childTnLst>
                        <p:par>
                          <p:cTn id="80" fill="hold">
                            <p:stCondLst>
                              <p:cond delay="0"/>
                            </p:stCondLst>
                            <p:childTnLst>
                              <p:par>
                                <p:cTn id="81" presetID="1" presetClass="exit" presetSubtype="0" fill="hold" grpId="2" nodeType="clickEffect">
                                  <p:stCondLst>
                                    <p:cond delay="0"/>
                                  </p:stCondLst>
                                  <p:childTnLst>
                                    <p:set>
                                      <p:cBhvr>
                                        <p:cTn id="82" dur="1" fill="hold">
                                          <p:stCondLst>
                                            <p:cond delay="0"/>
                                          </p:stCondLst>
                                        </p:cTn>
                                        <p:tgtEl>
                                          <p:spTgt spid="2">
                                            <p:bg/>
                                          </p:spTgt>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3" presetClass="emph" presetSubtype="2" fill="hold" grpId="0" nodeType="clickEffect">
                                  <p:stCondLst>
                                    <p:cond delay="0"/>
                                  </p:stCondLst>
                                  <p:childTnLst>
                                    <p:animClr clrSpc="rgb" dir="cw">
                                      <p:cBhvr override="childStyle">
                                        <p:cTn id="86"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5"/>
                                            </p:cond>
                                          </p:stCondLst>
                                          <p:endCondLst>
                                            <p:cond evt="onStopAudio" delay="0">
                                              <p:tgtEl>
                                                <p:sldTgt/>
                                              </p:tgtEl>
                                            </p:cond>
                                          </p:endCondLst>
                                        </p:cTn>
                                        <p:tgtEl>
                                          <p:sndTgt r:embed="rId3" name="type.wav"/>
                                        </p:tgtEl>
                                      </p:cMediaNode>
                                    </p:audio>
                                  </p:subTnLst>
                                </p:cTn>
                              </p:par>
                            </p:childTnLst>
                          </p:cTn>
                        </p:par>
                      </p:childTnLst>
                    </p:cTn>
                  </p:par>
                  <p:par>
                    <p:cTn id="87" fill="hold">
                      <p:stCondLst>
                        <p:cond delay="indefinite"/>
                      </p:stCondLst>
                      <p:childTnLst>
                        <p:par>
                          <p:cTn id="88" fill="hold">
                            <p:stCondLst>
                              <p:cond delay="0"/>
                            </p:stCondLst>
                            <p:childTnLst>
                              <p:par>
                                <p:cTn id="89" presetID="3" presetClass="emph" presetSubtype="2" fill="hold" grpId="0" nodeType="clickEffect">
                                  <p:stCondLst>
                                    <p:cond delay="0"/>
                                  </p:stCondLst>
                                  <p:childTnLst>
                                    <p:animClr clrSpc="rgb" dir="cw">
                                      <p:cBhvr override="childStyle">
                                        <p:cTn id="9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0" nodeType="withEffect">
                                  <p:stCondLst>
                                    <p:cond delay="0"/>
                                  </p:stCondLst>
                                  <p:childTnLst>
                                    <p:animClr clrSpc="rgb" dir="cw">
                                      <p:cBhvr override="childStyle">
                                        <p:cTn id="9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0" nodeType="withEffect">
                                  <p:stCondLst>
                                    <p:cond delay="0"/>
                                  </p:stCondLst>
                                  <p:childTnLst>
                                    <p:animClr clrSpc="rgb" dir="cw">
                                      <p:cBhvr override="childStyle">
                                        <p:cTn id="9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5"/>
                                            </p:cond>
                                          </p:stCondLst>
                                          <p:endCondLst>
                                            <p:cond evt="onStopAudio" delay="0">
                                              <p:tgtEl>
                                                <p:sldTgt/>
                                              </p:tgtEl>
                                            </p:cond>
                                          </p:endCondLst>
                                        </p:cTn>
                                        <p:tgtEl>
                                          <p:sndTgt r:embed="rId3" name="type.wav"/>
                                        </p:tgtEl>
                                      </p:cMediaNode>
                                    </p:audio>
                                  </p:subTnLst>
                                </p:cTn>
                              </p:par>
                              <p:par>
                                <p:cTn id="97" presetID="3" presetClass="emph" presetSubtype="2" fill="hold" grpId="1" nodeType="withEffect">
                                  <p:stCondLst>
                                    <p:cond delay="0"/>
                                  </p:stCondLst>
                                  <p:childTnLst>
                                    <p:animClr clrSpc="rgb" dir="cw">
                                      <p:cBhvr override="childStyle">
                                        <p:cTn id="98" dur="2000" fill="hold"/>
                                        <p:tgtEl>
                                          <p:spTgt spid="2">
                                            <p:txEl>
                                              <p:pRg st="7" end="7"/>
                                            </p:txEl>
                                          </p:spTgt>
                                        </p:tgtEl>
                                        <p:attrNameLst>
                                          <p:attrName>style.color</p:attrName>
                                        </p:attrNameLst>
                                      </p:cBhvr>
                                      <p:to>
                                        <a:srgbClr val="4D4D4D"/>
                                      </p:to>
                                    </p:animClr>
                                  </p:childTnLst>
                                </p:cTn>
                              </p:par>
                              <p:par>
                                <p:cTn id="99" presetID="3" presetClass="emph" presetSubtype="2" fill="hold" grpId="1" nodeType="withEffect">
                                  <p:stCondLst>
                                    <p:cond delay="0"/>
                                  </p:stCondLst>
                                  <p:childTnLst>
                                    <p:animClr clrSpc="rgb" dir="cw">
                                      <p:cBhvr override="childStyle">
                                        <p:cTn id="100" dur="2000" fill="hold"/>
                                        <p:tgtEl>
                                          <p:spTgt spid="2">
                                            <p:txEl>
                                              <p:pRg st="9" end="9"/>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10" end="10"/>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1" end="11"/>
                                            </p:txEl>
                                          </p:spTgt>
                                        </p:tgtEl>
                                        <p:attrNameLst>
                                          <p:attrName>style.color</p:attrName>
                                        </p:attrNameLst>
                                      </p:cBhvr>
                                      <p:to>
                                        <a:srgbClr val="4D4D4D"/>
                                      </p:to>
                                    </p:animClr>
                                  </p:childTnLst>
                                </p:cTn>
                              </p:par>
                              <p:par>
                                <p:cTn id="105" presetID="3" presetClass="emph" presetSubtype="2" fill="hold" grpId="1" nodeType="withEffect">
                                  <p:stCondLst>
                                    <p:cond delay="0"/>
                                  </p:stCondLst>
                                  <p:childTnLst>
                                    <p:animClr clrSpc="rgb" dir="cw">
                                      <p:cBhvr override="childStyle">
                                        <p:cTn id="106" dur="2000" fill="hold"/>
                                        <p:tgtEl>
                                          <p:spTgt spid="2">
                                            <p:txEl>
                                              <p:pRg st="12" end="12"/>
                                            </p:txEl>
                                          </p:spTgt>
                                        </p:tgtEl>
                                        <p:attrNameLst>
                                          <p:attrName>style.color</p:attrName>
                                        </p:attrNameLst>
                                      </p:cBhvr>
                                      <p:to>
                                        <a:srgbClr val="4D4D4D"/>
                                      </p:to>
                                    </p:animClr>
                                  </p:childTnLst>
                                </p:cTn>
                              </p:par>
                            </p:childTnLst>
                          </p:cTn>
                        </p:par>
                      </p:childTnLst>
                    </p:cTn>
                  </p:par>
                  <p:par>
                    <p:cTn id="107" fill="hold">
                      <p:stCondLst>
                        <p:cond delay="indefinite"/>
                      </p:stCondLst>
                      <p:childTnLst>
                        <p:par>
                          <p:cTn id="108" fill="hold">
                            <p:stCondLst>
                              <p:cond delay="0"/>
                            </p:stCondLst>
                            <p:childTnLst>
                              <p:par>
                                <p:cTn id="109" presetID="1" presetClass="exit" presetSubtype="0" fill="hold" grpId="2" nodeType="clickEffect">
                                  <p:stCondLst>
                                    <p:cond delay="0"/>
                                  </p:stCondLst>
                                  <p:childTnLst>
                                    <p:set>
                                      <p:cBhvr>
                                        <p:cTn id="110"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5B9CD27E-9C1A-3219-6A05-1CA47876AE20}"/>
              </a:ext>
            </a:extLst>
          </p:cNvPr>
          <p:cNvSpPr txBox="1"/>
          <p:nvPr/>
        </p:nvSpPr>
        <p:spPr>
          <a:xfrm>
            <a:off x="845586" y="1340768"/>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(Environment of AI Agent, SLM, LLM, RAG and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(Model Context Protocol)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Agent Skills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(Retrieval Augmented Generation Action)</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LLM</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Wiki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(Knowledge base architecture)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SLM Engine</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(Small Language Model Engine)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Emerging Trends in AI Systems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(Edge AI)</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Family</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Cloud: Gemini </a:t>
            </a:r>
            <a:r>
              <a:rPr lang="zh-TW" altLang="zh-TW" sz="1200" dirty="0">
                <a:solidFill>
                  <a:schemeClr val="bg1">
                    <a:lumMod val="75000"/>
                  </a:schemeClr>
                </a:solidFill>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Gemma 4</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 PEFT)</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PEFT: QLoRA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(Memory-efficient tuning via 4-bit quantized base models)</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PEFT: DoRA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(Decoupled weight learning matching full fine-tuning performance.)</a:t>
            </a:r>
            <a:endPar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Gemma 4: 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Code Intelligence Benchmarking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(LiveCodeBench)</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Building a Bio-IT AI Agent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(Select model and FT framework)</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Unsloth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(Fine-Tunning Example)</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6" name="文字方塊 5">
            <a:extLst>
              <a:ext uri="{FF2B5EF4-FFF2-40B4-BE49-F238E27FC236}">
                <a16:creationId xmlns:a16="http://schemas.microsoft.com/office/drawing/2014/main" id="{F0415324-A0B8-6CEC-D7ED-6CF86DF2B5E1}"/>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754112278"/>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1" nodeType="withEffect">
                                  <p:stCondLst>
                                    <p:cond delay="0"/>
                                  </p:stCondLst>
                                  <p:childTnLst>
                                    <p:animClr clrSpc="rgb" dir="cw">
                                      <p:cBhvr override="childStyle">
                                        <p:cTn id="10" dur="2000" fill="hold"/>
                                        <p:tgtEl>
                                          <p:spTgt spid="2">
                                            <p:txEl>
                                              <p:pRg st="0" end="0"/>
                                            </p:txEl>
                                          </p:spTgt>
                                        </p:tgtEl>
                                        <p:attrNameLst>
                                          <p:attrName>style.color</p:attrName>
                                        </p:attrNameLst>
                                      </p:cBhvr>
                                      <p:to>
                                        <a:srgbClr val="D8A09C"/>
                                      </p:to>
                                    </p:animClr>
                                  </p:childTnLst>
                                </p:cTn>
                              </p:par>
                              <p:par>
                                <p:cTn id="11" presetID="3" presetClass="emph" presetSubtype="2" fill="hold" grpId="1" nodeType="withEffect">
                                  <p:stCondLst>
                                    <p:cond delay="0"/>
                                  </p:stCondLst>
                                  <p:childTnLst>
                                    <p:animClr clrSpc="rgb" dir="cw">
                                      <p:cBhvr override="childStyle">
                                        <p:cTn id="12" dur="2000" fill="hold"/>
                                        <p:tgtEl>
                                          <p:spTgt spid="2">
                                            <p:txEl>
                                              <p:pRg st="1" end="1"/>
                                            </p:txEl>
                                          </p:spTgt>
                                        </p:tgtEl>
                                        <p:attrNameLst>
                                          <p:attrName>style.color</p:attrName>
                                        </p:attrNameLst>
                                      </p:cBhvr>
                                      <p:to>
                                        <a:srgbClr val="D8A09C"/>
                                      </p:to>
                                    </p:animClr>
                                  </p:childTnLst>
                                </p:cTn>
                              </p:par>
                            </p:childTnLst>
                          </p:cTn>
                        </p:par>
                      </p:childTnLst>
                    </p:cTn>
                  </p:par>
                  <p:par>
                    <p:cTn id="13" fill="hold">
                      <p:stCondLst>
                        <p:cond delay="indefinite"/>
                      </p:stCondLst>
                      <p:childTnLst>
                        <p:par>
                          <p:cTn id="14" fill="hold">
                            <p:stCondLst>
                              <p:cond delay="0"/>
                            </p:stCondLst>
                            <p:childTnLst>
                              <p:par>
                                <p:cTn id="15" presetID="3" presetClass="emph" presetSubtype="2" fill="hold" grpId="0" nodeType="clickEffect">
                                  <p:stCondLst>
                                    <p:cond delay="0"/>
                                  </p:stCondLst>
                                  <p:childTnLst>
                                    <p:animClr clrSpc="rgb" dir="cw">
                                      <p:cBhvr override="childStyle">
                                        <p:cTn id="16"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15"/>
                                            </p:cond>
                                          </p:stCondLst>
                                          <p:endCondLst>
                                            <p:cond evt="onStopAudio" delay="0">
                                              <p:tgtEl>
                                                <p:sldTgt/>
                                              </p:tgtEl>
                                            </p:cond>
                                          </p:endCondLst>
                                        </p:cTn>
                                        <p:tgtEl>
                                          <p:sndTgt r:embed="rId3" name="type.wav"/>
                                        </p:tgtEl>
                                      </p:cMediaNode>
                                    </p:audio>
                                  </p:subTnLst>
                                </p:cTn>
                              </p:par>
                              <p:par>
                                <p:cTn id="17" presetID="3" presetClass="emph" presetSubtype="2" fill="hold" grpId="0" nodeType="withEffect">
                                  <p:stCondLst>
                                    <p:cond delay="0"/>
                                  </p:stCondLst>
                                  <p:childTnLst>
                                    <p:animClr clrSpc="rgb" dir="cw">
                                      <p:cBhvr override="childStyle">
                                        <p:cTn id="18"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7"/>
                                            </p:cond>
                                          </p:stCondLst>
                                          <p:endCondLst>
                                            <p:cond evt="onStopAudio" delay="0">
                                              <p:tgtEl>
                                                <p:sldTgt/>
                                              </p:tgtEl>
                                            </p:cond>
                                          </p:endCondLst>
                                        </p:cTn>
                                        <p:tgtEl>
                                          <p:sndTgt r:embed="rId3" name="type.wav"/>
                                        </p:tgtEl>
                                      </p:cMediaNode>
                                    </p:audio>
                                  </p:subTnLst>
                                </p:cTn>
                              </p:par>
                              <p:par>
                                <p:cTn id="19" presetID="3" presetClass="emph" presetSubtype="2" fill="hold" grpId="0" nodeType="withEffect">
                                  <p:stCondLst>
                                    <p:cond delay="0"/>
                                  </p:stCondLst>
                                  <p:childTnLst>
                                    <p:animClr clrSpc="rgb" dir="cw">
                                      <p:cBhvr override="childStyle">
                                        <p:cTn id="20"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par>
                                <p:cTn id="21" presetID="3" presetClass="emph" presetSubtype="2" fill="hold" grpId="0" nodeType="withEffect">
                                  <p:stCondLst>
                                    <p:cond delay="0"/>
                                  </p:stCondLst>
                                  <p:childTnLst>
                                    <p:animClr clrSpc="rgb" dir="cw">
                                      <p:cBhvr override="childStyle">
                                        <p:cTn id="2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21"/>
                                            </p:cond>
                                          </p:stCondLst>
                                          <p:endCondLst>
                                            <p:cond evt="onStopAudio" delay="0">
                                              <p:tgtEl>
                                                <p:sldTgt/>
                                              </p:tgtEl>
                                            </p:cond>
                                          </p:endCondLst>
                                        </p:cTn>
                                        <p:tgtEl>
                                          <p:sndTgt r:embed="rId3" name="type.wav"/>
                                        </p:tgtEl>
                                      </p:cMediaNode>
                                    </p:audio>
                                  </p:subTnLst>
                                </p:cTn>
                              </p:par>
                              <p:par>
                                <p:cTn id="23" presetID="3" presetClass="emph" presetSubtype="2" fill="hold" grpId="0" nodeType="withEffect">
                                  <p:stCondLst>
                                    <p:cond delay="0"/>
                                  </p:stCondLst>
                                  <p:childTnLst>
                                    <p:animClr clrSpc="rgb" dir="cw">
                                      <p:cBhvr override="childStyle">
                                        <p:cTn id="24"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0" nodeType="withEffect">
                                  <p:stCondLst>
                                    <p:cond delay="0"/>
                                  </p:stCondLst>
                                  <p:childTnLst>
                                    <p:animClr clrSpc="rgb" dir="cw">
                                      <p:cBhvr override="childStyle">
                                        <p:cTn id="26"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25"/>
                                            </p:cond>
                                          </p:stCondLst>
                                          <p:endCondLst>
                                            <p:cond evt="onStopAudio" delay="0">
                                              <p:tgtEl>
                                                <p:sldTgt/>
                                              </p:tgtEl>
                                            </p:cond>
                                          </p:endCondLst>
                                        </p:cTn>
                                        <p:tgtEl>
                                          <p:sndTgt r:embed="rId3" name="type.wav"/>
                                        </p:tgtEl>
                                      </p:cMediaNode>
                                    </p:audio>
                                  </p:subTnLst>
                                </p:cTn>
                              </p:par>
                              <p:par>
                                <p:cTn id="27" presetID="3" presetClass="emph" presetSubtype="2" fill="hold" grpId="0" nodeType="withEffect">
                                  <p:stCondLst>
                                    <p:cond delay="0"/>
                                  </p:stCondLst>
                                  <p:childTnLst>
                                    <p:animClr clrSpc="rgb" dir="cw">
                                      <p:cBhvr override="childStyle">
                                        <p:cTn id="2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27"/>
                                            </p:cond>
                                          </p:stCondLst>
                                          <p:endCondLst>
                                            <p:cond evt="onStopAudio" delay="0">
                                              <p:tgtEl>
                                                <p:sldTgt/>
                                              </p:tgtEl>
                                            </p:cond>
                                          </p:endCondLst>
                                        </p:cTn>
                                        <p:tgtEl>
                                          <p:sndTgt r:embed="rId3" name="type.wav"/>
                                        </p:tgtEl>
                                      </p:cMediaNode>
                                    </p:audio>
                                  </p:subTnLst>
                                </p:cTn>
                              </p:par>
                              <p:par>
                                <p:cTn id="29" presetID="3" presetClass="emph" presetSubtype="2" fill="hold" grpId="0" nodeType="withEffect">
                                  <p:stCondLst>
                                    <p:cond delay="0"/>
                                  </p:stCondLst>
                                  <p:childTnLst>
                                    <p:animClr clrSpc="rgb" dir="cw">
                                      <p:cBhvr override="childStyle">
                                        <p:cTn id="3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29"/>
                                            </p:cond>
                                          </p:stCondLst>
                                          <p:endCondLst>
                                            <p:cond evt="onStopAudio" delay="0">
                                              <p:tgtEl>
                                                <p:sldTgt/>
                                              </p:tgtEl>
                                            </p:cond>
                                          </p:endCondLst>
                                        </p:cTn>
                                        <p:tgtEl>
                                          <p:sndTgt r:embed="rId3" name="type.wav"/>
                                        </p:tgtEl>
                                      </p:cMediaNode>
                                    </p:audio>
                                  </p:subTnLst>
                                </p:cTn>
                              </p:par>
                              <p:par>
                                <p:cTn id="31" presetID="3" presetClass="emph" presetSubtype="2" fill="hold" grpId="0" nodeType="withEffect">
                                  <p:stCondLst>
                                    <p:cond delay="0"/>
                                  </p:stCondLst>
                                  <p:childTnLst>
                                    <p:animClr clrSpc="rgb" dir="cw">
                                      <p:cBhvr override="childStyle">
                                        <p:cTn id="3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par>
                                <p:cTn id="33" presetID="3" presetClass="emph" presetSubtype="2" fill="hold" grpId="0" nodeType="withEffect">
                                  <p:stCondLst>
                                    <p:cond delay="0"/>
                                  </p:stCondLst>
                                  <p:childTnLst>
                                    <p:animClr clrSpc="rgb" dir="cw">
                                      <p:cBhvr override="childStyle">
                                        <p:cTn id="3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33"/>
                                            </p:cond>
                                          </p:stCondLst>
                                          <p:endCondLst>
                                            <p:cond evt="onStopAudio" delay="0">
                                              <p:tgtEl>
                                                <p:sldTgt/>
                                              </p:tgtEl>
                                            </p:cond>
                                          </p:endCondLst>
                                        </p:cTn>
                                        <p:tgtEl>
                                          <p:sndTgt r:embed="rId3" name="type.wav"/>
                                        </p:tgtEl>
                                      </p:cMediaNode>
                                    </p:audio>
                                  </p:subTnLst>
                                </p:cTn>
                              </p:par>
                              <p:par>
                                <p:cTn id="35" presetID="3" presetClass="emph" presetSubtype="2" fill="hold" grpId="0" nodeType="withEffect">
                                  <p:stCondLst>
                                    <p:cond delay="0"/>
                                  </p:stCondLst>
                                  <p:childTnLst>
                                    <p:animClr clrSpc="rgb" dir="cw">
                                      <p:cBhvr override="childStyle">
                                        <p:cTn id="3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2" end="2"/>
                                            </p:txEl>
                                          </p:spTgt>
                                        </p:tgtEl>
                                        <p:attrNameLst>
                                          <p:attrName>style.color</p:attrName>
                                        </p:attrNameLst>
                                      </p:cBhvr>
                                      <p:to>
                                        <a:srgbClr val="D8A09C"/>
                                      </p:to>
                                    </p:animClr>
                                  </p:childTnLst>
                                </p:cTn>
                              </p:par>
                              <p:par>
                                <p:cTn id="39" presetID="3" presetClass="emph" presetSubtype="2" fill="hold" grpId="1" nodeType="withEffect">
                                  <p:stCondLst>
                                    <p:cond delay="0"/>
                                  </p:stCondLst>
                                  <p:childTnLst>
                                    <p:animClr clrSpc="rgb" dir="cw">
                                      <p:cBhvr override="childStyle">
                                        <p:cTn id="40" dur="2000" fill="hold"/>
                                        <p:tgtEl>
                                          <p:spTgt spid="2">
                                            <p:txEl>
                                              <p:pRg st="3" end="3"/>
                                            </p:txEl>
                                          </p:spTgt>
                                        </p:tgtEl>
                                        <p:attrNameLst>
                                          <p:attrName>style.color</p:attrName>
                                        </p:attrNameLst>
                                      </p:cBhvr>
                                      <p:to>
                                        <a:srgbClr val="D8A09C"/>
                                      </p:to>
                                    </p:animClr>
                                  </p:childTnLst>
                                </p:cTn>
                              </p:par>
                              <p:par>
                                <p:cTn id="41" presetID="3" presetClass="emph" presetSubtype="2" fill="hold" grpId="1" nodeType="withEffect">
                                  <p:stCondLst>
                                    <p:cond delay="0"/>
                                  </p:stCondLst>
                                  <p:childTnLst>
                                    <p:animClr clrSpc="rgb" dir="cw">
                                      <p:cBhvr override="childStyle">
                                        <p:cTn id="42" dur="2000" fill="hold"/>
                                        <p:tgtEl>
                                          <p:spTgt spid="2">
                                            <p:txEl>
                                              <p:pRg st="4" end="4"/>
                                            </p:txEl>
                                          </p:spTgt>
                                        </p:tgtEl>
                                        <p:attrNameLst>
                                          <p:attrName>style.color</p:attrName>
                                        </p:attrNameLst>
                                      </p:cBhvr>
                                      <p:to>
                                        <a:srgbClr val="D8A09C"/>
                                      </p:to>
                                    </p:animClr>
                                  </p:childTnLst>
                                </p:cTn>
                              </p:par>
                              <p:par>
                                <p:cTn id="43" presetID="3" presetClass="emph" presetSubtype="2" fill="hold" grpId="1" nodeType="withEffect">
                                  <p:stCondLst>
                                    <p:cond delay="0"/>
                                  </p:stCondLst>
                                  <p:childTnLst>
                                    <p:animClr clrSpc="rgb" dir="cw">
                                      <p:cBhvr override="childStyle">
                                        <p:cTn id="44" dur="2000" fill="hold"/>
                                        <p:tgtEl>
                                          <p:spTgt spid="2">
                                            <p:txEl>
                                              <p:pRg st="5" end="5"/>
                                            </p:txEl>
                                          </p:spTgt>
                                        </p:tgtEl>
                                        <p:attrNameLst>
                                          <p:attrName>style.color</p:attrName>
                                        </p:attrNameLst>
                                      </p:cBhvr>
                                      <p:to>
                                        <a:srgbClr val="D8A09C"/>
                                      </p:to>
                                    </p:animClr>
                                  </p:childTnLst>
                                </p:cTn>
                              </p:par>
                              <p:par>
                                <p:cTn id="45" presetID="3" presetClass="emph" presetSubtype="2" fill="hold" grpId="1" nodeType="withEffect">
                                  <p:stCondLst>
                                    <p:cond delay="0"/>
                                  </p:stCondLst>
                                  <p:childTnLst>
                                    <p:animClr clrSpc="rgb" dir="cw">
                                      <p:cBhvr override="childStyle">
                                        <p:cTn id="46" dur="2000" fill="hold"/>
                                        <p:tgtEl>
                                          <p:spTgt spid="2">
                                            <p:txEl>
                                              <p:pRg st="6" end="6"/>
                                            </p:txEl>
                                          </p:spTgt>
                                        </p:tgtEl>
                                        <p:attrNameLst>
                                          <p:attrName>style.color</p:attrName>
                                        </p:attrNameLst>
                                      </p:cBhvr>
                                      <p:to>
                                        <a:srgbClr val="D8A09C"/>
                                      </p:to>
                                    </p:animClr>
                                  </p:childTnLst>
                                </p:cTn>
                              </p:par>
                              <p:par>
                                <p:cTn id="47" presetID="3" presetClass="emph" presetSubtype="2" fill="hold" grpId="1" nodeType="withEffect">
                                  <p:stCondLst>
                                    <p:cond delay="0"/>
                                  </p:stCondLst>
                                  <p:childTnLst>
                                    <p:animClr clrSpc="rgb" dir="cw">
                                      <p:cBhvr override="childStyle">
                                        <p:cTn id="48" dur="2000" fill="hold"/>
                                        <p:tgtEl>
                                          <p:spTgt spid="2">
                                            <p:txEl>
                                              <p:pRg st="7" end="7"/>
                                            </p:txEl>
                                          </p:spTgt>
                                        </p:tgtEl>
                                        <p:attrNameLst>
                                          <p:attrName>style.color</p:attrName>
                                        </p:attrNameLst>
                                      </p:cBhvr>
                                      <p:to>
                                        <a:srgbClr val="D8A09C"/>
                                      </p:to>
                                    </p:animClr>
                                  </p:childTnLst>
                                </p:cTn>
                              </p:par>
                              <p:par>
                                <p:cTn id="49" presetID="3" presetClass="emph" presetSubtype="2" fill="hold" grpId="1" nodeType="withEffect">
                                  <p:stCondLst>
                                    <p:cond delay="0"/>
                                  </p:stCondLst>
                                  <p:childTnLst>
                                    <p:animClr clrSpc="rgb" dir="cw">
                                      <p:cBhvr override="childStyle">
                                        <p:cTn id="50" dur="2000" fill="hold"/>
                                        <p:tgtEl>
                                          <p:spTgt spid="2">
                                            <p:txEl>
                                              <p:pRg st="8" end="8"/>
                                            </p:txEl>
                                          </p:spTgt>
                                        </p:tgtEl>
                                        <p:attrNameLst>
                                          <p:attrName>style.color</p:attrName>
                                        </p:attrNameLst>
                                      </p:cBhvr>
                                      <p:to>
                                        <a:srgbClr val="D8A09C"/>
                                      </p:to>
                                    </p:animClr>
                                  </p:childTnLst>
                                </p:cTn>
                              </p:par>
                              <p:par>
                                <p:cTn id="51" presetID="3" presetClass="emph" presetSubtype="2" fill="hold" grpId="1" nodeType="withEffect">
                                  <p:stCondLst>
                                    <p:cond delay="0"/>
                                  </p:stCondLst>
                                  <p:childTnLst>
                                    <p:animClr clrSpc="rgb" dir="cw">
                                      <p:cBhvr override="childStyle">
                                        <p:cTn id="52" dur="2000" fill="hold"/>
                                        <p:tgtEl>
                                          <p:spTgt spid="2">
                                            <p:txEl>
                                              <p:pRg st="9" end="9"/>
                                            </p:txEl>
                                          </p:spTgt>
                                        </p:tgtEl>
                                        <p:attrNameLst>
                                          <p:attrName>style.color</p:attrName>
                                        </p:attrNameLst>
                                      </p:cBhvr>
                                      <p:to>
                                        <a:srgbClr val="D8A09C"/>
                                      </p:to>
                                    </p:animClr>
                                  </p:childTnLst>
                                </p:cTn>
                              </p:par>
                              <p:par>
                                <p:cTn id="53" presetID="3" presetClass="emph" presetSubtype="2" fill="hold" grpId="1" nodeType="withEffect">
                                  <p:stCondLst>
                                    <p:cond delay="0"/>
                                  </p:stCondLst>
                                  <p:childTnLst>
                                    <p:animClr clrSpc="rgb" dir="cw">
                                      <p:cBhvr override="childStyle">
                                        <p:cTn id="54" dur="2000" fill="hold"/>
                                        <p:tgtEl>
                                          <p:spTgt spid="2">
                                            <p:txEl>
                                              <p:pRg st="10" end="10"/>
                                            </p:txEl>
                                          </p:spTgt>
                                        </p:tgtEl>
                                        <p:attrNameLst>
                                          <p:attrName>style.color</p:attrName>
                                        </p:attrNameLst>
                                      </p:cBhvr>
                                      <p:to>
                                        <a:srgbClr val="D8A09C"/>
                                      </p:to>
                                    </p:animClr>
                                  </p:childTnLst>
                                </p:cTn>
                              </p:par>
                              <p:par>
                                <p:cTn id="55" presetID="3" presetClass="emph" presetSubtype="2" fill="hold" grpId="1" nodeType="withEffect">
                                  <p:stCondLst>
                                    <p:cond delay="0"/>
                                  </p:stCondLst>
                                  <p:childTnLst>
                                    <p:animClr clrSpc="rgb" dir="cw">
                                      <p:cBhvr override="childStyle">
                                        <p:cTn id="56" dur="2000" fill="hold"/>
                                        <p:tgtEl>
                                          <p:spTgt spid="2">
                                            <p:txEl>
                                              <p:pRg st="11" end="11"/>
                                            </p:txEl>
                                          </p:spTgt>
                                        </p:tgtEl>
                                        <p:attrNameLst>
                                          <p:attrName>style.color</p:attrName>
                                        </p:attrNameLst>
                                      </p:cBhvr>
                                      <p:to>
                                        <a:srgbClr val="D8A09C"/>
                                      </p:to>
                                    </p:animClr>
                                  </p:childTnLst>
                                </p:cTn>
                              </p:par>
                              <p:par>
                                <p:cTn id="57" presetID="3" presetClass="emph" presetSubtype="2" fill="hold" grpId="1" nodeType="withEffect">
                                  <p:stCondLst>
                                    <p:cond delay="0"/>
                                  </p:stCondLst>
                                  <p:childTnLst>
                                    <p:animClr clrSpc="rgb" dir="cw">
                                      <p:cBhvr override="childStyle">
                                        <p:cTn id="58" dur="2000" fill="hold"/>
                                        <p:tgtEl>
                                          <p:spTgt spid="2">
                                            <p:txEl>
                                              <p:pRg st="12" end="12"/>
                                            </p:txEl>
                                          </p:spTgt>
                                        </p:tgtEl>
                                        <p:attrNameLst>
                                          <p:attrName>style.color</p:attrName>
                                        </p:attrNameLst>
                                      </p:cBhvr>
                                      <p:to>
                                        <a:srgbClr val="D8A09C"/>
                                      </p:to>
                                    </p:animClr>
                                  </p:childTnLst>
                                </p:cTn>
                              </p:par>
                            </p:childTnLst>
                          </p:cTn>
                        </p:par>
                      </p:childTnLst>
                    </p:cTn>
                  </p:par>
                  <p:par>
                    <p:cTn id="59" fill="hold">
                      <p:stCondLst>
                        <p:cond delay="indefinite"/>
                      </p:stCondLst>
                      <p:childTnLst>
                        <p:par>
                          <p:cTn id="60" fill="hold">
                            <p:stCondLst>
                              <p:cond delay="0"/>
                            </p:stCondLst>
                            <p:childTnLst>
                              <p:par>
                                <p:cTn id="61" presetID="3" presetClass="emph" presetSubtype="2" fill="hold" grpId="0" nodeType="clickEffect">
                                  <p:stCondLst>
                                    <p:cond delay="0"/>
                                  </p:stCondLst>
                                  <p:childTnLst>
                                    <p:animClr clrSpc="rgb" dir="cw">
                                      <p:cBhvr override="childStyle">
                                        <p:cTn id="6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61"/>
                                            </p:cond>
                                          </p:stCondLst>
                                          <p:endCondLst>
                                            <p:cond evt="onStopAudio" delay="0">
                                              <p:tgtEl>
                                                <p:sldTgt/>
                                              </p:tgtEl>
                                            </p:cond>
                                          </p:endCondLst>
                                        </p:cTn>
                                        <p:tgtEl>
                                          <p:sndTgt r:embed="rId3" name="type.wav"/>
                                        </p:tgtEl>
                                      </p:cMediaNode>
                                    </p:audio>
                                  </p:subTnLst>
                                </p:cTn>
                              </p:par>
                            </p:childTnLst>
                          </p:cTn>
                        </p:par>
                      </p:childTnLst>
                    </p:cTn>
                  </p:par>
                  <p:par>
                    <p:cTn id="63" fill="hold">
                      <p:stCondLst>
                        <p:cond delay="indefinite"/>
                      </p:stCondLst>
                      <p:childTnLst>
                        <p:par>
                          <p:cTn id="64" fill="hold">
                            <p:stCondLst>
                              <p:cond delay="0"/>
                            </p:stCondLst>
                            <p:childTnLst>
                              <p:par>
                                <p:cTn id="65" presetID="3" presetClass="emph" presetSubtype="2" fill="hold" grpId="0" nodeType="clickEffect">
                                  <p:stCondLst>
                                    <p:cond delay="0"/>
                                  </p:stCondLst>
                                  <p:childTnLst>
                                    <p:animClr clrSpc="rgb" dir="cw">
                                      <p:cBhvr override="childStyle">
                                        <p:cTn id="66"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65"/>
                                            </p:cond>
                                          </p:stCondLst>
                                          <p:endCondLst>
                                            <p:cond evt="onStopAudio" delay="0">
                                              <p:tgtEl>
                                                <p:sldTgt/>
                                              </p:tgtEl>
                                            </p:cond>
                                          </p:endCondLst>
                                        </p:cTn>
                                        <p:tgtEl>
                                          <p:sndTgt r:embed="rId3" name="type.wav"/>
                                        </p:tgtEl>
                                      </p:cMediaNode>
                                    </p:audio>
                                  </p:subTnLst>
                                </p:cTn>
                              </p:par>
                              <p:par>
                                <p:cTn id="67" presetID="3" presetClass="emph" presetSubtype="2" fill="hold" grpId="1" nodeType="withEffect">
                                  <p:stCondLst>
                                    <p:cond delay="0"/>
                                  </p:stCondLst>
                                  <p:childTnLst>
                                    <p:animClr clrSpc="rgb" dir="cw">
                                      <p:cBhvr override="childStyle">
                                        <p:cTn id="68" dur="2000" fill="hold"/>
                                        <p:tgtEl>
                                          <p:spTgt spid="2">
                                            <p:txEl>
                                              <p:pRg st="13" end="13"/>
                                            </p:txEl>
                                          </p:spTgt>
                                        </p:tgtEl>
                                        <p:attrNameLst>
                                          <p:attrName>style.color</p:attrName>
                                        </p:attrNameLst>
                                      </p:cBhvr>
                                      <p:to>
                                        <a:srgbClr val="D8A09C"/>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4" end="14"/>
                                            </p:txEl>
                                          </p:spTgt>
                                        </p:tgtEl>
                                        <p:attrNameLst>
                                          <p:attrName>style.color</p:attrName>
                                        </p:attrNameLst>
                                      </p:cBhvr>
                                      <p:to>
                                        <a:srgbClr val="D8A09C"/>
                                      </p:to>
                                    </p:animClr>
                                  </p:childTnLst>
                                </p:cTn>
                              </p:par>
                            </p:childTnLst>
                          </p:cTn>
                        </p:par>
                      </p:childTnLst>
                    </p:cTn>
                  </p:par>
                  <p:par>
                    <p:cTn id="71" fill="hold">
                      <p:stCondLst>
                        <p:cond delay="indefinite"/>
                      </p:stCondLst>
                      <p:childTnLst>
                        <p:par>
                          <p:cTn id="72" fill="hold">
                            <p:stCondLst>
                              <p:cond delay="0"/>
                            </p:stCondLst>
                            <p:childTnLst>
                              <p:par>
                                <p:cTn id="73" presetID="1" presetClass="exit" presetSubtype="0" fill="hold" grpId="2" nodeType="clickEffect">
                                  <p:stCondLst>
                                    <p:cond delay="0"/>
                                  </p:stCondLst>
                                  <p:childTnLst>
                                    <p:set>
                                      <p:cBhvr>
                                        <p:cTn id="74"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3274558902"/>
              </p:ext>
            </p:extLst>
          </p:nvPr>
        </p:nvGraphicFramePr>
        <p:xfrm>
          <a:off x="863588" y="1071300"/>
          <a:ext cx="7416826" cy="4495338"/>
        </p:xfrm>
        <a:graphic>
          <a:graphicData uri="http://schemas.openxmlformats.org/drawingml/2006/table">
            <a:tbl>
              <a:tblPr firstRow="1" bandRow="1">
                <a:tableStyleId>{5C22544A-7EE6-4342-B048-85BDC9FD1C3A}</a:tableStyleId>
              </a:tblPr>
              <a:tblGrid>
                <a:gridCol w="618069">
                  <a:extLst>
                    <a:ext uri="{9D8B030D-6E8A-4147-A177-3AD203B41FA5}">
                      <a16:colId xmlns:a16="http://schemas.microsoft.com/office/drawing/2014/main" val="3115215194"/>
                    </a:ext>
                  </a:extLst>
                </a:gridCol>
                <a:gridCol w="971251">
                  <a:extLst>
                    <a:ext uri="{9D8B030D-6E8A-4147-A177-3AD203B41FA5}">
                      <a16:colId xmlns:a16="http://schemas.microsoft.com/office/drawing/2014/main" val="2438358024"/>
                    </a:ext>
                  </a:extLst>
                </a:gridCol>
                <a:gridCol w="971251">
                  <a:extLst>
                    <a:ext uri="{9D8B030D-6E8A-4147-A177-3AD203B41FA5}">
                      <a16:colId xmlns:a16="http://schemas.microsoft.com/office/drawing/2014/main" val="4024420245"/>
                    </a:ext>
                  </a:extLst>
                </a:gridCol>
                <a:gridCol w="971251">
                  <a:extLst>
                    <a:ext uri="{9D8B030D-6E8A-4147-A177-3AD203B41FA5}">
                      <a16:colId xmlns:a16="http://schemas.microsoft.com/office/drawing/2014/main" val="1885199976"/>
                    </a:ext>
                  </a:extLst>
                </a:gridCol>
                <a:gridCol w="971251">
                  <a:extLst>
                    <a:ext uri="{9D8B030D-6E8A-4147-A177-3AD203B41FA5}">
                      <a16:colId xmlns:a16="http://schemas.microsoft.com/office/drawing/2014/main" val="2600189719"/>
                    </a:ext>
                  </a:extLst>
                </a:gridCol>
                <a:gridCol w="971251">
                  <a:extLst>
                    <a:ext uri="{9D8B030D-6E8A-4147-A177-3AD203B41FA5}">
                      <a16:colId xmlns:a16="http://schemas.microsoft.com/office/drawing/2014/main" val="4019554014"/>
                    </a:ext>
                  </a:extLst>
                </a:gridCol>
                <a:gridCol w="971251">
                  <a:extLst>
                    <a:ext uri="{9D8B030D-6E8A-4147-A177-3AD203B41FA5}">
                      <a16:colId xmlns:a16="http://schemas.microsoft.com/office/drawing/2014/main" val="1289474231"/>
                    </a:ext>
                  </a:extLst>
                </a:gridCol>
                <a:gridCol w="971251">
                  <a:extLst>
                    <a:ext uri="{9D8B030D-6E8A-4147-A177-3AD203B41FA5}">
                      <a16:colId xmlns:a16="http://schemas.microsoft.com/office/drawing/2014/main" val="2173516547"/>
                    </a:ext>
                  </a:extLst>
                </a:gridCol>
              </a:tblGrid>
              <a:tr h="369292">
                <a:tc gridSpan="8">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34339">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Loss</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Agent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2016</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6680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Self-Instruct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MoE (MLA) FFN(GQA)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5663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Constitutional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GPRO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MoBA</a:t>
                      </a:r>
                      <a:br>
                        <a:rPr kumimoji="0" lang="en-US" altLang="zh-TW" sz="1200" b="0" i="0" u="none" strike="noStrike" kern="1200" cap="none" spc="0" normalizeH="0" baseline="0" noProof="0" dirty="0">
                          <a:ln w="0"/>
                          <a:solidFill>
                            <a:prstClr val="black"/>
                          </a:solidFill>
                          <a:effectLst/>
                          <a:uLnTx/>
                          <a:uFillTx/>
                          <a:latin typeface="+mn-lt"/>
                          <a:ea typeface="+mn-ea"/>
                          <a:cs typeface="+mn-cs"/>
                        </a:rPr>
                      </a:b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MCP</a:t>
                      </a:r>
                      <a:br>
                        <a:rPr kumimoji="0" lang="en-US" altLang="zh-TW" sz="1200" b="0" i="0" u="none" strike="noStrike" kern="1200" cap="none" spc="0" normalizeH="0" baseline="0" noProof="0" dirty="0">
                          <a:ln w="0"/>
                          <a:solidFill>
                            <a:prstClr val="black"/>
                          </a:solidFill>
                          <a:effectLst/>
                          <a:uLnTx/>
                          <a:uFillTx/>
                          <a:latin typeface="+mn-lt"/>
                          <a:ea typeface="+mn-ea"/>
                          <a:cs typeface="+mn-cs"/>
                        </a:rPr>
                      </a:br>
                      <a:r>
                        <a:rPr kumimoji="0" lang="en-US" altLang="zh-TW" sz="1200" b="0" i="0" u="none" strike="noStrike" kern="1200" cap="none" spc="0" normalizeH="0" baseline="0" noProof="0" dirty="0">
                          <a:ln w="0"/>
                          <a:solidFill>
                            <a:prstClr val="black"/>
                          </a:solidFill>
                          <a:effectLst/>
                          <a:uLnTx/>
                          <a:uFillTx/>
                          <a:latin typeface="+mn-lt"/>
                          <a:ea typeface="+mn-ea"/>
                          <a:cs typeface="+mn-cs"/>
                        </a:rPr>
                        <a:t>Agentic 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218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1.58 Bits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Skill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 Wiki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496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GUFF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Intention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19444">
                <a:tc gridSpan="8">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3"/>
          <a:stretch>
            <a:fillRect/>
          </a:stretch>
        </p:blipFill>
        <p:spPr>
          <a:xfrm>
            <a:off x="2843803" y="5580000"/>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4"/>
          <a:stretch>
            <a:fillRect/>
          </a:stretch>
        </p:blipFill>
        <p:spPr>
          <a:xfrm>
            <a:off x="3635896" y="5580000"/>
            <a:ext cx="350542" cy="284964"/>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5"/>
          <a:stretch>
            <a:fillRect/>
          </a:stretch>
        </p:blipFill>
        <p:spPr>
          <a:xfrm>
            <a:off x="4510239" y="5580000"/>
            <a:ext cx="284964" cy="284964"/>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6"/>
          <a:stretch>
            <a:fillRect/>
          </a:stretch>
        </p:blipFill>
        <p:spPr>
          <a:xfrm>
            <a:off x="5246579" y="5580000"/>
            <a:ext cx="284964" cy="284964"/>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7"/>
          <a:stretch>
            <a:fillRect/>
          </a:stretch>
        </p:blipFill>
        <p:spPr>
          <a:xfrm>
            <a:off x="7164288" y="2462975"/>
            <a:ext cx="240538" cy="240538"/>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8"/>
          <a:stretch>
            <a:fillRect/>
          </a:stretch>
        </p:blipFill>
        <p:spPr>
          <a:xfrm>
            <a:off x="7164288" y="2071624"/>
            <a:ext cx="277256" cy="277256"/>
          </a:xfrm>
          <a:prstGeom prst="rect">
            <a:avLst/>
          </a:prstGeom>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9"/>
          <a:stretch>
            <a:fillRect/>
          </a:stretch>
        </p:blipFill>
        <p:spPr>
          <a:xfrm>
            <a:off x="7265431" y="4293096"/>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0"/>
          <a:stretch>
            <a:fillRect/>
          </a:stretch>
        </p:blipFill>
        <p:spPr>
          <a:xfrm>
            <a:off x="7265431" y="4594270"/>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1"/>
          <a:stretch>
            <a:fillRect/>
          </a:stretch>
        </p:blipFill>
        <p:spPr>
          <a:xfrm>
            <a:off x="7265431" y="4868377"/>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5949793" y="5502930"/>
            <a:ext cx="1070480" cy="629568"/>
          </a:xfrm>
          <a:prstGeom prst="wedgeRoundRectCallout">
            <a:avLst>
              <a:gd name="adj1" fmla="val -71026"/>
              <a:gd name="adj2" fmla="val -17854"/>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SFT and</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Apache 2.0 …</a:t>
            </a:r>
          </a:p>
        </p:txBody>
      </p:sp>
      <p:pic>
        <p:nvPicPr>
          <p:cNvPr id="23" name="圖片 22">
            <a:extLst>
              <a:ext uri="{FF2B5EF4-FFF2-40B4-BE49-F238E27FC236}">
                <a16:creationId xmlns:a16="http://schemas.microsoft.com/office/drawing/2014/main" id="{3581A662-ABBC-2E58-AE2F-08CB7E2E3661}"/>
              </a:ext>
            </a:extLst>
          </p:cNvPr>
          <p:cNvPicPr>
            <a:picLocks noChangeAspect="1"/>
          </p:cNvPicPr>
          <p:nvPr/>
        </p:nvPicPr>
        <p:blipFill>
          <a:blip r:embed="rId12"/>
          <a:stretch>
            <a:fillRect/>
          </a:stretch>
        </p:blipFill>
        <p:spPr>
          <a:xfrm>
            <a:off x="6894318" y="786641"/>
            <a:ext cx="817196" cy="596651"/>
          </a:xfrm>
          <a:prstGeom prst="rect">
            <a:avLst/>
          </a:prstGeom>
        </p:spPr>
      </p:pic>
      <p:pic>
        <p:nvPicPr>
          <p:cNvPr id="9" name="圖片 8">
            <a:extLst>
              <a:ext uri="{FF2B5EF4-FFF2-40B4-BE49-F238E27FC236}">
                <a16:creationId xmlns:a16="http://schemas.microsoft.com/office/drawing/2014/main" id="{3AB52091-49F7-88CA-5999-984A3D16C649}"/>
              </a:ext>
            </a:extLst>
          </p:cNvPr>
          <p:cNvPicPr>
            <a:picLocks noChangeAspect="1"/>
          </p:cNvPicPr>
          <p:nvPr/>
        </p:nvPicPr>
        <p:blipFill>
          <a:blip r:embed="rId13"/>
          <a:stretch>
            <a:fillRect/>
          </a:stretch>
        </p:blipFill>
        <p:spPr>
          <a:xfrm>
            <a:off x="2206132" y="5607012"/>
            <a:ext cx="284964" cy="225568"/>
          </a:xfrm>
          <a:prstGeom prst="rect">
            <a:avLst/>
          </a:prstGeom>
        </p:spPr>
      </p:pic>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kumimoji="0" lang="en-US" altLang="zh-TW" sz="1400" b="0" i="0" u="none" strike="noStrike" kern="1200" cap="none" spc="0" normalizeH="0" baseline="0" noProof="0" dirty="0">
                <a:ln>
                  <a:noFill/>
                </a:ln>
                <a:solidFill>
                  <a:schemeClr val="bg1">
                    <a:lumMod val="65000"/>
                  </a:scheme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a:t>
            </a:r>
            <a:r>
              <a:rPr lang="en-US" altLang="zh-TW" sz="1600" dirty="0">
                <a:solidFill>
                  <a:schemeClr val="bg1">
                    <a:lumMod val="6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a:t>
            </a:r>
            <a:r>
              <a:rPr lang="en-US" altLang="zh-TW" sz="1600" dirty="0">
                <a:solidFill>
                  <a:schemeClr val="bg1">
                    <a:lumMod val="75000"/>
                  </a:schemeClr>
                </a:solidFill>
                <a:sym typeface="Wingdings" panose="05000000000000000000" pitchFamily="2" charset="2"/>
              </a:rPr>
              <a:t>GPT-RLHF</a:t>
            </a:r>
            <a:endParaRPr lang="en-US" altLang="zh-TW" sz="1600" b="0" u="none" strike="noStrike" dirty="0">
              <a:solidFill>
                <a:schemeClr val="bg1">
                  <a:lumMod val="75000"/>
                </a:schemeClr>
              </a:solidFill>
              <a:effectLst/>
            </a:endParaRP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(GPT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Causal LM)</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3576567542"/>
              </p:ext>
            </p:extLst>
          </p:nvPr>
        </p:nvGraphicFramePr>
        <p:xfrm>
          <a:off x="5490780" y="4797152"/>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3363489755"/>
              </p:ext>
            </p:extLst>
          </p:nvPr>
        </p:nvGraphicFramePr>
        <p:xfrm>
          <a:off x="4410659" y="5736469"/>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64807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flipH="1">
            <a:off x="4851369" y="4149080"/>
            <a:ext cx="1" cy="1587390"/>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2728361232"/>
              </p:ext>
            </p:extLst>
          </p:nvPr>
        </p:nvGraphicFramePr>
        <p:xfrm>
          <a:off x="2621428" y="540404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1254963"/>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4E31EE-6863-F904-4B60-DEE5CB4C690E}"/>
            </a:ext>
          </a:extLst>
        </p:cNvPr>
        <p:cNvGrpSpPr/>
        <p:nvPr/>
      </p:nvGrpSpPr>
      <p:grpSpPr>
        <a:xfrm>
          <a:off x="0" y="0"/>
          <a:ext cx="0" cy="0"/>
          <a:chOff x="0" y="0"/>
          <a:chExt cx="0" cy="0"/>
        </a:xfrm>
      </p:grpSpPr>
      <p:sp>
        <p:nvSpPr>
          <p:cNvPr id="56" name="矩形 55">
            <a:extLst>
              <a:ext uri="{FF2B5EF4-FFF2-40B4-BE49-F238E27FC236}">
                <a16:creationId xmlns:a16="http://schemas.microsoft.com/office/drawing/2014/main" id="{085B6215-D755-9673-E5BE-2B7F4E7910D9}"/>
              </a:ext>
            </a:extLst>
          </p:cNvPr>
          <p:cNvSpPr/>
          <p:nvPr/>
        </p:nvSpPr>
        <p:spPr>
          <a:xfrm>
            <a:off x="1979712" y="5085185"/>
            <a:ext cx="465295" cy="825514"/>
          </a:xfrm>
          <a:prstGeom prst="rect">
            <a:avLst/>
          </a:prstGeom>
          <a:solidFill>
            <a:schemeClr val="bg1"/>
          </a:solidFill>
          <a:ln w="38100">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b="1" dirty="0">
                <a:solidFill>
                  <a:schemeClr val="bg1">
                    <a:lumMod val="75000"/>
                  </a:schemeClr>
                </a:solidFill>
                <a:ea typeface="微軟正黑體" panose="020B0604030504040204" pitchFamily="34" charset="-120"/>
              </a:rPr>
              <a:t>X</a:t>
            </a:r>
          </a:p>
        </p:txBody>
      </p:sp>
      <p:sp>
        <p:nvSpPr>
          <p:cNvPr id="2" name="矩形 1">
            <a:extLst>
              <a:ext uri="{FF2B5EF4-FFF2-40B4-BE49-F238E27FC236}">
                <a16:creationId xmlns:a16="http://schemas.microsoft.com/office/drawing/2014/main" id="{5DD18BFA-843B-CE10-1395-66ECD6218C54}"/>
              </a:ext>
            </a:extLst>
          </p:cNvPr>
          <p:cNvSpPr/>
          <p:nvPr/>
        </p:nvSpPr>
        <p:spPr>
          <a:xfrm>
            <a:off x="6227799" y="6022050"/>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3" name="矩形 2">
            <a:extLst>
              <a:ext uri="{FF2B5EF4-FFF2-40B4-BE49-F238E27FC236}">
                <a16:creationId xmlns:a16="http://schemas.microsoft.com/office/drawing/2014/main" id="{31ADE238-C960-1A9B-1492-21DB019C257B}"/>
              </a:ext>
            </a:extLst>
          </p:cNvPr>
          <p:cNvSpPr/>
          <p:nvPr/>
        </p:nvSpPr>
        <p:spPr>
          <a:xfrm>
            <a:off x="7515292" y="6022050"/>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4" name="矩形 3">
            <a:extLst>
              <a:ext uri="{FF2B5EF4-FFF2-40B4-BE49-F238E27FC236}">
                <a16:creationId xmlns:a16="http://schemas.microsoft.com/office/drawing/2014/main" id="{9970ED2A-6D65-B280-4835-DA4D73BDBD42}"/>
              </a:ext>
            </a:extLst>
          </p:cNvPr>
          <p:cNvSpPr/>
          <p:nvPr/>
        </p:nvSpPr>
        <p:spPr>
          <a:xfrm>
            <a:off x="6202530" y="4194205"/>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5" name="文字方塊 4">
            <a:extLst>
              <a:ext uri="{FF2B5EF4-FFF2-40B4-BE49-F238E27FC236}">
                <a16:creationId xmlns:a16="http://schemas.microsoft.com/office/drawing/2014/main" id="{5F0EECB3-B55C-F1A9-E679-6DB49D0A6D03}"/>
              </a:ext>
            </a:extLst>
          </p:cNvPr>
          <p:cNvSpPr txBox="1"/>
          <p:nvPr/>
        </p:nvSpPr>
        <p:spPr>
          <a:xfrm>
            <a:off x="6575500" y="4848653"/>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 name="矩形 5">
            <a:extLst>
              <a:ext uri="{FF2B5EF4-FFF2-40B4-BE49-F238E27FC236}">
                <a16:creationId xmlns:a16="http://schemas.microsoft.com/office/drawing/2014/main" id="{F36BC043-55DA-DEBA-7E92-AB3DB6CF6EF3}"/>
              </a:ext>
            </a:extLst>
          </p:cNvPr>
          <p:cNvSpPr/>
          <p:nvPr/>
        </p:nvSpPr>
        <p:spPr>
          <a:xfrm>
            <a:off x="7307919" y="4653898"/>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7" name="文字方塊 6">
            <a:extLst>
              <a:ext uri="{FF2B5EF4-FFF2-40B4-BE49-F238E27FC236}">
                <a16:creationId xmlns:a16="http://schemas.microsoft.com/office/drawing/2014/main" id="{A1C52298-0D10-DB87-BF39-D6C975EB31BC}"/>
              </a:ext>
            </a:extLst>
          </p:cNvPr>
          <p:cNvSpPr txBox="1"/>
          <p:nvPr/>
        </p:nvSpPr>
        <p:spPr>
          <a:xfrm>
            <a:off x="6202530" y="3180361"/>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8" name="矩形 7">
            <a:extLst>
              <a:ext uri="{FF2B5EF4-FFF2-40B4-BE49-F238E27FC236}">
                <a16:creationId xmlns:a16="http://schemas.microsoft.com/office/drawing/2014/main" id="{82814CA4-14EB-9F30-A426-1073EB064485}"/>
              </a:ext>
            </a:extLst>
          </p:cNvPr>
          <p:cNvSpPr/>
          <p:nvPr/>
        </p:nvSpPr>
        <p:spPr>
          <a:xfrm>
            <a:off x="6291195" y="4653898"/>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9" name="文字方塊 8">
            <a:extLst>
              <a:ext uri="{FF2B5EF4-FFF2-40B4-BE49-F238E27FC236}">
                <a16:creationId xmlns:a16="http://schemas.microsoft.com/office/drawing/2014/main" id="{D0FEA24F-F289-4A44-1999-85CADC7D4947}"/>
              </a:ext>
            </a:extLst>
          </p:cNvPr>
          <p:cNvSpPr txBox="1"/>
          <p:nvPr/>
        </p:nvSpPr>
        <p:spPr>
          <a:xfrm>
            <a:off x="7235911"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0" name="矩形 9">
            <a:extLst>
              <a:ext uri="{FF2B5EF4-FFF2-40B4-BE49-F238E27FC236}">
                <a16:creationId xmlns:a16="http://schemas.microsoft.com/office/drawing/2014/main" id="{579A633E-2BBC-C599-87D4-CD7F672FA5BF}"/>
              </a:ext>
            </a:extLst>
          </p:cNvPr>
          <p:cNvSpPr/>
          <p:nvPr/>
        </p:nvSpPr>
        <p:spPr>
          <a:xfrm>
            <a:off x="8030793" y="4653898"/>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11" name="文字方塊 10">
            <a:extLst>
              <a:ext uri="{FF2B5EF4-FFF2-40B4-BE49-F238E27FC236}">
                <a16:creationId xmlns:a16="http://schemas.microsoft.com/office/drawing/2014/main" id="{5059A7C1-0516-B750-DB2E-1EAB7BEA3AB7}"/>
              </a:ext>
            </a:extLst>
          </p:cNvPr>
          <p:cNvSpPr txBox="1"/>
          <p:nvPr/>
        </p:nvSpPr>
        <p:spPr>
          <a:xfrm>
            <a:off x="7481468" y="4749435"/>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cxnSp>
        <p:nvCxnSpPr>
          <p:cNvPr id="13" name="接點: 肘形 12">
            <a:extLst>
              <a:ext uri="{FF2B5EF4-FFF2-40B4-BE49-F238E27FC236}">
                <a16:creationId xmlns:a16="http://schemas.microsoft.com/office/drawing/2014/main" id="{7C8B64B9-81CF-6C6C-FCC5-C407C080458B}"/>
              </a:ext>
            </a:extLst>
          </p:cNvPr>
          <p:cNvCxnSpPr>
            <a:cxnSpLocks/>
            <a:endCxn id="2" idx="1"/>
          </p:cNvCxnSpPr>
          <p:nvPr/>
        </p:nvCxnSpPr>
        <p:spPr>
          <a:xfrm>
            <a:off x="5736151" y="4720547"/>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接點: 弧形 13">
            <a:extLst>
              <a:ext uri="{FF2B5EF4-FFF2-40B4-BE49-F238E27FC236}">
                <a16:creationId xmlns:a16="http://schemas.microsoft.com/office/drawing/2014/main" id="{3AEC5B30-CEF2-449E-1AF4-9AEF823C0214}"/>
              </a:ext>
            </a:extLst>
          </p:cNvPr>
          <p:cNvCxnSpPr>
            <a:cxnSpLocks/>
            <a:stCxn id="20" idx="2"/>
            <a:endCxn id="3" idx="0"/>
          </p:cNvCxnSpPr>
          <p:nvPr/>
        </p:nvCxnSpPr>
        <p:spPr>
          <a:xfrm rot="5400000">
            <a:off x="7694508" y="5609695"/>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5" name="接點: 弧形 14">
            <a:extLst>
              <a:ext uri="{FF2B5EF4-FFF2-40B4-BE49-F238E27FC236}">
                <a16:creationId xmlns:a16="http://schemas.microsoft.com/office/drawing/2014/main" id="{ECD006CF-28DD-CF8B-099E-B03D7017348C}"/>
              </a:ext>
            </a:extLst>
          </p:cNvPr>
          <p:cNvCxnSpPr>
            <a:cxnSpLocks/>
            <a:stCxn id="20" idx="2"/>
            <a:endCxn id="2" idx="0"/>
          </p:cNvCxnSpPr>
          <p:nvPr/>
        </p:nvCxnSpPr>
        <p:spPr>
          <a:xfrm rot="5400000">
            <a:off x="7137911" y="5053098"/>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3EA9346F-1340-74CE-2279-E6AF98D1EEC9}"/>
              </a:ext>
            </a:extLst>
          </p:cNvPr>
          <p:cNvSpPr txBox="1">
            <a:spLocks/>
          </p:cNvSpPr>
          <p:nvPr/>
        </p:nvSpPr>
        <p:spPr>
          <a:xfrm>
            <a:off x="7059396" y="5806026"/>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7" name="標題 1">
            <a:extLst>
              <a:ext uri="{FF2B5EF4-FFF2-40B4-BE49-F238E27FC236}">
                <a16:creationId xmlns:a16="http://schemas.microsoft.com/office/drawing/2014/main" id="{4B16DC87-88FC-0D34-5C40-C3F40B76CF42}"/>
              </a:ext>
            </a:extLst>
          </p:cNvPr>
          <p:cNvSpPr txBox="1">
            <a:spLocks/>
          </p:cNvSpPr>
          <p:nvPr/>
        </p:nvSpPr>
        <p:spPr>
          <a:xfrm>
            <a:off x="7947340" y="5806026"/>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8" name="文字方塊 17">
            <a:extLst>
              <a:ext uri="{FF2B5EF4-FFF2-40B4-BE49-F238E27FC236}">
                <a16:creationId xmlns:a16="http://schemas.microsoft.com/office/drawing/2014/main" id="{2168DD0E-99F7-60E2-AE8E-4A52A7749114}"/>
              </a:ext>
            </a:extLst>
          </p:cNvPr>
          <p:cNvSpPr txBox="1"/>
          <p:nvPr/>
        </p:nvSpPr>
        <p:spPr>
          <a:xfrm>
            <a:off x="6910766" y="479791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9" name="文字方塊 18">
            <a:extLst>
              <a:ext uri="{FF2B5EF4-FFF2-40B4-BE49-F238E27FC236}">
                <a16:creationId xmlns:a16="http://schemas.microsoft.com/office/drawing/2014/main" id="{386EE2B5-8EBC-15D5-A9FA-49C4D3A3D84B}"/>
              </a:ext>
            </a:extLst>
          </p:cNvPr>
          <p:cNvSpPr txBox="1"/>
          <p:nvPr/>
        </p:nvSpPr>
        <p:spPr>
          <a:xfrm>
            <a:off x="7558838" y="4855196"/>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20" name="文字方塊 19">
            <a:extLst>
              <a:ext uri="{FF2B5EF4-FFF2-40B4-BE49-F238E27FC236}">
                <a16:creationId xmlns:a16="http://schemas.microsoft.com/office/drawing/2014/main" id="{02E77F71-519F-6ED3-58C8-B61E5104E9A6}"/>
              </a:ext>
            </a:extLst>
          </p:cNvPr>
          <p:cNvSpPr txBox="1"/>
          <p:nvPr/>
        </p:nvSpPr>
        <p:spPr>
          <a:xfrm>
            <a:off x="7969703"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21" name="文字方塊 20">
            <a:extLst>
              <a:ext uri="{FF2B5EF4-FFF2-40B4-BE49-F238E27FC236}">
                <a16:creationId xmlns:a16="http://schemas.microsoft.com/office/drawing/2014/main" id="{AB6415DE-98E0-D833-11D6-C83404576D0F}"/>
              </a:ext>
            </a:extLst>
          </p:cNvPr>
          <p:cNvSpPr txBox="1"/>
          <p:nvPr/>
        </p:nvSpPr>
        <p:spPr>
          <a:xfrm>
            <a:off x="6712616"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22" name="文字方塊 21">
            <a:extLst>
              <a:ext uri="{FF2B5EF4-FFF2-40B4-BE49-F238E27FC236}">
                <a16:creationId xmlns:a16="http://schemas.microsoft.com/office/drawing/2014/main" id="{820BCC5F-7B30-66A8-E8B8-44B37556FBBC}"/>
              </a:ext>
            </a:extLst>
          </p:cNvPr>
          <p:cNvSpPr txBox="1"/>
          <p:nvPr/>
        </p:nvSpPr>
        <p:spPr>
          <a:xfrm>
            <a:off x="6280384"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23" name="文字方塊 22">
            <a:extLst>
              <a:ext uri="{FF2B5EF4-FFF2-40B4-BE49-F238E27FC236}">
                <a16:creationId xmlns:a16="http://schemas.microsoft.com/office/drawing/2014/main" id="{62C0BE21-8152-E30A-6EA7-37A0583F9F8A}"/>
              </a:ext>
            </a:extLst>
          </p:cNvPr>
          <p:cNvSpPr txBox="1"/>
          <p:nvPr/>
        </p:nvSpPr>
        <p:spPr>
          <a:xfrm>
            <a:off x="6905979" y="4749435"/>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24" name="矩形 23">
            <a:extLst>
              <a:ext uri="{FF2B5EF4-FFF2-40B4-BE49-F238E27FC236}">
                <a16:creationId xmlns:a16="http://schemas.microsoft.com/office/drawing/2014/main" id="{C161A452-982A-9947-D4A7-2249480ED5E7}"/>
              </a:ext>
            </a:extLst>
          </p:cNvPr>
          <p:cNvSpPr/>
          <p:nvPr/>
        </p:nvSpPr>
        <p:spPr>
          <a:xfrm>
            <a:off x="6731855" y="4767977"/>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25" name="矩形 24">
            <a:extLst>
              <a:ext uri="{FF2B5EF4-FFF2-40B4-BE49-F238E27FC236}">
                <a16:creationId xmlns:a16="http://schemas.microsoft.com/office/drawing/2014/main" id="{9CEB99C6-A446-F705-8ABC-F6DC355D0732}"/>
              </a:ext>
            </a:extLst>
          </p:cNvPr>
          <p:cNvSpPr/>
          <p:nvPr/>
        </p:nvSpPr>
        <p:spPr>
          <a:xfrm>
            <a:off x="6525371" y="3920828"/>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26" name="矩形 25">
            <a:extLst>
              <a:ext uri="{FF2B5EF4-FFF2-40B4-BE49-F238E27FC236}">
                <a16:creationId xmlns:a16="http://schemas.microsoft.com/office/drawing/2014/main" id="{57A05BB4-B003-F44B-0E90-3C489B7F40B5}"/>
              </a:ext>
            </a:extLst>
          </p:cNvPr>
          <p:cNvSpPr/>
          <p:nvPr/>
        </p:nvSpPr>
        <p:spPr>
          <a:xfrm>
            <a:off x="6227502" y="6318182"/>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
        <p:nvSpPr>
          <p:cNvPr id="28" name="矩形 27">
            <a:extLst>
              <a:ext uri="{FF2B5EF4-FFF2-40B4-BE49-F238E27FC236}">
                <a16:creationId xmlns:a16="http://schemas.microsoft.com/office/drawing/2014/main" id="{B4D74B1F-DF7A-88DC-8992-AF95EC64B8F4}"/>
              </a:ext>
            </a:extLst>
          </p:cNvPr>
          <p:cNvSpPr/>
          <p:nvPr/>
        </p:nvSpPr>
        <p:spPr>
          <a:xfrm>
            <a:off x="163939" y="5085185"/>
            <a:ext cx="1219699" cy="308828"/>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ctr"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30" name="文字方塊 29">
            <a:extLst>
              <a:ext uri="{FF2B5EF4-FFF2-40B4-BE49-F238E27FC236}">
                <a16:creationId xmlns:a16="http://schemas.microsoft.com/office/drawing/2014/main" id="{4A5C7E75-A60B-633D-EDFA-26E204270802}"/>
              </a:ext>
            </a:extLst>
          </p:cNvPr>
          <p:cNvSpPr txBox="1"/>
          <p:nvPr/>
        </p:nvSpPr>
        <p:spPr>
          <a:xfrm>
            <a:off x="2476661" y="5757472"/>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32" name="矩形 31">
            <a:extLst>
              <a:ext uri="{FF2B5EF4-FFF2-40B4-BE49-F238E27FC236}">
                <a16:creationId xmlns:a16="http://schemas.microsoft.com/office/drawing/2014/main" id="{46345C6D-0947-5674-2634-DAAB6AF02437}"/>
              </a:ext>
            </a:extLst>
          </p:cNvPr>
          <p:cNvSpPr/>
          <p:nvPr/>
        </p:nvSpPr>
        <p:spPr>
          <a:xfrm>
            <a:off x="4139952" y="5781516"/>
            <a:ext cx="237234" cy="104777"/>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6</a:t>
            </a:r>
          </a:p>
        </p:txBody>
      </p:sp>
      <p:sp>
        <p:nvSpPr>
          <p:cNvPr id="36" name="文字方塊 35">
            <a:extLst>
              <a:ext uri="{FF2B5EF4-FFF2-40B4-BE49-F238E27FC236}">
                <a16:creationId xmlns:a16="http://schemas.microsoft.com/office/drawing/2014/main" id="{F10F86CE-A85B-694C-2CAE-39CB21F050E2}"/>
              </a:ext>
            </a:extLst>
          </p:cNvPr>
          <p:cNvSpPr txBox="1"/>
          <p:nvPr/>
        </p:nvSpPr>
        <p:spPr>
          <a:xfrm>
            <a:off x="3289568" y="591041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1x16</a:t>
            </a:r>
          </a:p>
        </p:txBody>
      </p:sp>
      <p:sp>
        <p:nvSpPr>
          <p:cNvPr id="38" name="矩形 37">
            <a:extLst>
              <a:ext uri="{FF2B5EF4-FFF2-40B4-BE49-F238E27FC236}">
                <a16:creationId xmlns:a16="http://schemas.microsoft.com/office/drawing/2014/main" id="{B4ED2677-DEC7-94B3-E1DC-77EAE8ED2388}"/>
              </a:ext>
            </a:extLst>
          </p:cNvPr>
          <p:cNvSpPr/>
          <p:nvPr/>
        </p:nvSpPr>
        <p:spPr>
          <a:xfrm>
            <a:off x="5146979" y="5517232"/>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40" name="文字方塊 39">
            <a:extLst>
              <a:ext uri="{FF2B5EF4-FFF2-40B4-BE49-F238E27FC236}">
                <a16:creationId xmlns:a16="http://schemas.microsoft.com/office/drawing/2014/main" id="{C35161E8-BB06-6587-4B86-06795DE0921D}"/>
              </a:ext>
            </a:extLst>
          </p:cNvPr>
          <p:cNvSpPr txBox="1"/>
          <p:nvPr/>
        </p:nvSpPr>
        <p:spPr>
          <a:xfrm>
            <a:off x="3618690" y="5612769"/>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42" name="文字方塊 41">
            <a:extLst>
              <a:ext uri="{FF2B5EF4-FFF2-40B4-BE49-F238E27FC236}">
                <a16:creationId xmlns:a16="http://schemas.microsoft.com/office/drawing/2014/main" id="{D48A7D01-A347-227A-E5D7-0327F8C6C820}"/>
              </a:ext>
            </a:extLst>
          </p:cNvPr>
          <p:cNvSpPr txBox="1"/>
          <p:nvPr/>
        </p:nvSpPr>
        <p:spPr>
          <a:xfrm>
            <a:off x="2895777" y="569002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4" name="文字方塊 43">
            <a:extLst>
              <a:ext uri="{FF2B5EF4-FFF2-40B4-BE49-F238E27FC236}">
                <a16:creationId xmlns:a16="http://schemas.microsoft.com/office/drawing/2014/main" id="{B9244B96-7597-11BE-3E9F-E030B457EED6}"/>
              </a:ext>
            </a:extLst>
          </p:cNvPr>
          <p:cNvSpPr txBox="1"/>
          <p:nvPr/>
        </p:nvSpPr>
        <p:spPr>
          <a:xfrm>
            <a:off x="3696060" y="5718530"/>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6" name="文字方塊 45">
            <a:extLst>
              <a:ext uri="{FF2B5EF4-FFF2-40B4-BE49-F238E27FC236}">
                <a16:creationId xmlns:a16="http://schemas.microsoft.com/office/drawing/2014/main" id="{05BF3213-DCD6-71DE-6BE2-4CF21FF43198}"/>
              </a:ext>
            </a:extLst>
          </p:cNvPr>
          <p:cNvSpPr txBox="1"/>
          <p:nvPr/>
        </p:nvSpPr>
        <p:spPr>
          <a:xfrm>
            <a:off x="5085889" y="608384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48" name="文字方塊 47">
            <a:extLst>
              <a:ext uri="{FF2B5EF4-FFF2-40B4-BE49-F238E27FC236}">
                <a16:creationId xmlns:a16="http://schemas.microsoft.com/office/drawing/2014/main" id="{F7A6B71B-ED48-E91E-1CE3-ED2FE19A3C0C}"/>
              </a:ext>
            </a:extLst>
          </p:cNvPr>
          <p:cNvSpPr txBox="1"/>
          <p:nvPr/>
        </p:nvSpPr>
        <p:spPr>
          <a:xfrm>
            <a:off x="2621457" y="609357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50" name="文字方塊 49">
            <a:extLst>
              <a:ext uri="{FF2B5EF4-FFF2-40B4-BE49-F238E27FC236}">
                <a16:creationId xmlns:a16="http://schemas.microsoft.com/office/drawing/2014/main" id="{F1F60B6C-83A6-CD71-0F20-C5020F4C2FB2}"/>
              </a:ext>
            </a:extLst>
          </p:cNvPr>
          <p:cNvSpPr txBox="1"/>
          <p:nvPr/>
        </p:nvSpPr>
        <p:spPr>
          <a:xfrm>
            <a:off x="2070980" y="591069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1xd</a:t>
            </a:r>
          </a:p>
        </p:txBody>
      </p:sp>
      <p:sp>
        <p:nvSpPr>
          <p:cNvPr id="52" name="文字方塊 51">
            <a:extLst>
              <a:ext uri="{FF2B5EF4-FFF2-40B4-BE49-F238E27FC236}">
                <a16:creationId xmlns:a16="http://schemas.microsoft.com/office/drawing/2014/main" id="{46CF3076-2985-8620-6009-EA8722FC4D80}"/>
              </a:ext>
            </a:extLst>
          </p:cNvPr>
          <p:cNvSpPr txBox="1"/>
          <p:nvPr/>
        </p:nvSpPr>
        <p:spPr>
          <a:xfrm>
            <a:off x="2903792" y="5644960"/>
            <a:ext cx="382683" cy="145147"/>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54" name="矩形 53">
            <a:extLst>
              <a:ext uri="{FF2B5EF4-FFF2-40B4-BE49-F238E27FC236}">
                <a16:creationId xmlns:a16="http://schemas.microsoft.com/office/drawing/2014/main" id="{F86908D6-2A73-0F1F-66EC-EAD8AD13B407}"/>
              </a:ext>
            </a:extLst>
          </p:cNvPr>
          <p:cNvSpPr/>
          <p:nvPr/>
        </p:nvSpPr>
        <p:spPr>
          <a:xfrm>
            <a:off x="2627783" y="5617141"/>
            <a:ext cx="222611" cy="467344"/>
          </a:xfrm>
          <a:prstGeom prst="rect">
            <a:avLst/>
          </a:prstGeom>
          <a:solidFill>
            <a:schemeClr val="accent6">
              <a:lumMod val="40000"/>
              <a:lumOff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34" name="矩形 33">
            <a:extLst>
              <a:ext uri="{FF2B5EF4-FFF2-40B4-BE49-F238E27FC236}">
                <a16:creationId xmlns:a16="http://schemas.microsoft.com/office/drawing/2014/main" id="{D1007C0E-E88C-0558-F49F-2A523C546C52}"/>
              </a:ext>
            </a:extLst>
          </p:cNvPr>
          <p:cNvSpPr/>
          <p:nvPr/>
        </p:nvSpPr>
        <p:spPr>
          <a:xfrm>
            <a:off x="1979712" y="5780347"/>
            <a:ext cx="466030" cy="121967"/>
          </a:xfrm>
          <a:prstGeom prst="rect">
            <a:avLst/>
          </a:prstGeom>
          <a:solidFill>
            <a:schemeClr val="accent2">
              <a:lumMod val="75000"/>
              <a:alpha val="20000"/>
            </a:schemeClr>
          </a:solidFill>
          <a:ln w="25400">
            <a:solidFill>
              <a:schemeClr val="accent2">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58" name="矩形 57">
            <a:extLst>
              <a:ext uri="{FF2B5EF4-FFF2-40B4-BE49-F238E27FC236}">
                <a16:creationId xmlns:a16="http://schemas.microsoft.com/office/drawing/2014/main" id="{2B437AE2-96BB-E1D4-E696-E164E80380F1}"/>
              </a:ext>
            </a:extLst>
          </p:cNvPr>
          <p:cNvSpPr/>
          <p:nvPr/>
        </p:nvSpPr>
        <p:spPr>
          <a:xfrm>
            <a:off x="3318052" y="5784269"/>
            <a:ext cx="215174" cy="104777"/>
          </a:xfrm>
          <a:prstGeom prst="rect">
            <a:avLst/>
          </a:prstGeom>
          <a:solidFill>
            <a:schemeClr val="accent6">
              <a:lumMod val="75000"/>
              <a:alpha val="20000"/>
            </a:schemeClr>
          </a:solidFill>
          <a:ln w="38100">
            <a:solidFill>
              <a:schemeClr val="accent2">
                <a:lumMod val="60000"/>
                <a:lumOff val="4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S</a:t>
            </a:r>
          </a:p>
        </p:txBody>
      </p:sp>
      <p:sp>
        <p:nvSpPr>
          <p:cNvPr id="31" name="標題 1">
            <a:extLst>
              <a:ext uri="{FF2B5EF4-FFF2-40B4-BE49-F238E27FC236}">
                <a16:creationId xmlns:a16="http://schemas.microsoft.com/office/drawing/2014/main" id="{36AB3BEB-28F8-2642-B1BF-5CE9C064800C}"/>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oment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u</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rthogonalized by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N</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ewton-Schulz</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Muon.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5" name="文字方塊 34">
            <a:extLst>
              <a:ext uri="{FF2B5EF4-FFF2-40B4-BE49-F238E27FC236}">
                <a16:creationId xmlns:a16="http://schemas.microsoft.com/office/drawing/2014/main" id="{74DF7B2E-D6DA-F621-D00B-850DA7FD3BFC}"/>
              </a:ext>
            </a:extLst>
          </p:cNvPr>
          <p:cNvSpPr txBox="1"/>
          <p:nvPr/>
        </p:nvSpPr>
        <p:spPr>
          <a:xfrm>
            <a:off x="236725" y="1440646"/>
            <a:ext cx="8280922" cy="27084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DeepSeek : </a:t>
            </a:r>
            <a:r>
              <a:rPr lang="en-US" altLang="zh-TW" sz="1600" dirty="0"/>
              <a:t>Funded by High-Flyer Quant, </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buFont typeface="Arial" panose="020B0604020202020204" pitchFamily="34" charset="0"/>
              <a:buChar char="•"/>
            </a:pPr>
            <a:r>
              <a:rPr lang="en-US" altLang="zh-TW" sz="1600" dirty="0"/>
              <a:t>Multi-head Latent Attention(</a:t>
            </a:r>
            <a:r>
              <a:rPr lang="en-US" altLang="zh-TW" sz="1600" b="1" dirty="0"/>
              <a:t>MLA</a:t>
            </a:r>
            <a:r>
              <a:rPr lang="en-US" altLang="zh-TW" sz="1600" dirty="0"/>
              <a:t>): Reduced KV cache usage by 90%.</a:t>
            </a:r>
          </a:p>
          <a:p>
            <a:pPr marL="742950" lvl="1" indent="-285750">
              <a:lnSpc>
                <a:spcPts val="1800"/>
              </a:lnSpc>
              <a:spcBef>
                <a:spcPts val="600"/>
              </a:spcBef>
              <a:buFont typeface="Arial" panose="020B0604020202020204" pitchFamily="34" charset="0"/>
              <a:buChar char="•"/>
            </a:pPr>
            <a:r>
              <a:rPr lang="en-US" altLang="zh-TW" sz="1600" dirty="0"/>
              <a:t>Group Relative Policy Optimization(</a:t>
            </a:r>
            <a:r>
              <a:rPr lang="en-US" altLang="zh-TW" sz="1600" b="1" dirty="0"/>
              <a:t>GPRO</a:t>
            </a:r>
            <a:r>
              <a:rPr lang="en-US" altLang="zh-TW" sz="1600" dirty="0"/>
              <a:t>):</a:t>
            </a:r>
            <a:r>
              <a:rPr lang="zh-TW" altLang="en-US" sz="1600" dirty="0"/>
              <a:t> </a:t>
            </a:r>
            <a:r>
              <a:rPr lang="en-US" altLang="zh-TW" sz="1600" dirty="0"/>
              <a:t>Deep reasoning and self-correction.</a:t>
            </a:r>
          </a:p>
          <a:p>
            <a:pPr marL="742950" lvl="1" indent="-285750">
              <a:lnSpc>
                <a:spcPts val="1800"/>
              </a:lnSpc>
              <a:spcBef>
                <a:spcPts val="600"/>
              </a:spcBef>
              <a:buFont typeface="Arial" panose="020B0604020202020204" pitchFamily="34" charset="0"/>
              <a:buChar char="•"/>
            </a:pPr>
            <a:r>
              <a:rPr lang="en-US" altLang="zh-TW" sz="1600" dirty="0"/>
              <a:t>Momentum Orthogonalized by Newton-Schulz(</a:t>
            </a:r>
            <a:r>
              <a:rPr lang="en-US" altLang="zh-TW" sz="1600" b="1" dirty="0"/>
              <a:t>Muon</a:t>
            </a:r>
            <a:r>
              <a:rPr lang="en-US" altLang="zh-TW" sz="1600" dirty="0"/>
              <a:t>): Matrix orthogonalization.</a:t>
            </a:r>
          </a:p>
          <a:p>
            <a:pPr marL="742950" lvl="1" indent="-285750">
              <a:lnSpc>
                <a:spcPts val="1800"/>
              </a:lnSpc>
              <a:spcBef>
                <a:spcPts val="600"/>
              </a:spcBef>
              <a:buFont typeface="Arial" panose="020B0604020202020204" pitchFamily="34" charset="0"/>
              <a:buChar char="•"/>
            </a:pPr>
            <a:r>
              <a:rPr lang="en-US" altLang="zh-TW" sz="1600" dirty="0"/>
              <a:t>Hybrid Compressed Attention (</a:t>
            </a:r>
            <a:r>
              <a:rPr lang="en-US" altLang="zh-TW" sz="1600" b="1" dirty="0"/>
              <a:t>HCA</a:t>
            </a:r>
            <a:r>
              <a:rPr lang="en-US" altLang="zh-TW" sz="1600" dirty="0"/>
              <a:t>): </a:t>
            </a:r>
          </a:p>
          <a:p>
            <a:pPr marL="742950" lvl="1" indent="-285750">
              <a:lnSpc>
                <a:spcPts val="1800"/>
              </a:lnSpc>
              <a:spcBef>
                <a:spcPts val="600"/>
              </a:spcBef>
              <a:buFont typeface="Arial" panose="020B0604020202020204" pitchFamily="34" charset="0"/>
              <a:buChar char="•"/>
            </a:pPr>
            <a:r>
              <a:rPr lang="en-US" altLang="zh-TW" sz="1600" dirty="0"/>
              <a:t>Manifold-Constrained Hyper-Connections (</a:t>
            </a:r>
            <a:r>
              <a:rPr lang="en-US" altLang="zh-TW" sz="1600" b="1" dirty="0"/>
              <a:t>mHC</a:t>
            </a:r>
            <a:r>
              <a:rPr lang="en-US" altLang="zh-TW" sz="1600" dirty="0"/>
              <a:t>): Replacing residual.</a:t>
            </a:r>
          </a:p>
        </p:txBody>
      </p:sp>
    </p:spTree>
    <p:extLst>
      <p:ext uri="{BB962C8B-B14F-4D97-AF65-F5344CB8AC3E}">
        <p14:creationId xmlns:p14="http://schemas.microsoft.com/office/powerpoint/2010/main" val="292586569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Transformer 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Dense for efficient edge intelligence; MoE for massive cloud scale..</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m:sSubSup>
                        <m:sSubSupPr>
                          <m:ctrlPr>
                            <a:rPr lang="en-US" altLang="zh-TW" sz="1200" i="1">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66121522"/>
              </p:ext>
            </p:extLst>
          </p:nvPr>
        </p:nvGraphicFramePr>
        <p:xfrm>
          <a:off x="3766117"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12" name="表格 11">
            <a:extLst>
              <a:ext uri="{FF2B5EF4-FFF2-40B4-BE49-F238E27FC236}">
                <a16:creationId xmlns:a16="http://schemas.microsoft.com/office/drawing/2014/main" id="{77126B31-23BB-E8AA-8B71-FB1C933617C6}"/>
              </a:ext>
            </a:extLst>
          </p:cNvPr>
          <p:cNvGraphicFramePr>
            <a:graphicFrameLocks noGrp="1"/>
          </p:cNvGraphicFramePr>
          <p:nvPr>
            <p:extLst>
              <p:ext uri="{D42A27DB-BD31-4B8C-83A1-F6EECF244321}">
                <p14:modId xmlns:p14="http://schemas.microsoft.com/office/powerpoint/2010/main" val="2930835968"/>
              </p:ext>
            </p:extLst>
          </p:nvPr>
        </p:nvGraphicFramePr>
        <p:xfrm>
          <a:off x="7020272" y="3285863"/>
          <a:ext cx="1005748" cy="548640"/>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Multi</a:t>
                      </a:r>
                    </a:p>
                    <a:p>
                      <a:pPr algn="l"/>
                      <a:r>
                        <a:rPr lang="en-US" altLang="zh-TW" sz="1200" b="1" cap="none" spc="0" dirty="0">
                          <a:ln w="0"/>
                          <a:solidFill>
                            <a:schemeClr val="tx1"/>
                          </a:solidFill>
                          <a:effectLst/>
                        </a:rPr>
                        <a:t>Latent</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3420127271"/>
              </p:ext>
            </p:extLst>
          </p:nvPr>
        </p:nvGraphicFramePr>
        <p:xfrm>
          <a:off x="323529"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053342144"/>
              </p:ext>
            </p:extLst>
          </p:nvPr>
        </p:nvGraphicFramePr>
        <p:xfrm>
          <a:off x="7391026"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4181951284"/>
              </p:ext>
            </p:extLst>
          </p:nvPr>
        </p:nvGraphicFramePr>
        <p:xfrm>
          <a:off x="7022636" y="4379178"/>
          <a:ext cx="1005748" cy="590639"/>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3447">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B849BDB7-A7B1-FD32-C24C-E9151F6D9427}"/>
              </a:ext>
            </a:extLst>
          </p:cNvPr>
          <p:cNvPicPr>
            <a:picLocks noChangeAspect="1"/>
          </p:cNvPicPr>
          <p:nvPr/>
        </p:nvPicPr>
        <p:blipFill>
          <a:blip r:embed="rId2"/>
          <a:stretch>
            <a:fillRect/>
          </a:stretch>
        </p:blipFill>
        <p:spPr>
          <a:xfrm>
            <a:off x="7175208" y="4083365"/>
            <a:ext cx="1853767" cy="1073827"/>
          </a:xfrm>
          <a:prstGeom prst="rect">
            <a:avLst/>
          </a:prstGeom>
          <a:noFill/>
          <a:ln>
            <a:noFill/>
          </a:ln>
          <a:effectLst>
            <a:glow rad="101600">
              <a:schemeClr val="bg1">
                <a:lumMod val="95000"/>
              </a:schemeClr>
            </a:glow>
            <a:softEdge rad="25400"/>
          </a:effectLst>
        </p:spPr>
      </p:pic>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i="1" dirty="0">
                              <a:latin typeface="Cambria Math" panose="02040503050406030204" pitchFamily="18" charset="0"/>
                            </a:rPr>
                          </m:ctrlPr>
                        </m:dPr>
                        <m:e>
                          <m:f>
                            <m:fPr>
                              <m:ctrlPr>
                                <a:rPr lang="en-US" altLang="zh-TW" sz="1200" i="0" dirty="0"/>
                              </m:ctrlPr>
                            </m:fPr>
                            <m:num>
                              <m:r>
                                <m:rPr>
                                  <m:nor/>
                                </m:rPr>
                                <a:rPr lang="en-US" altLang="zh-TW" sz="1200" i="0" dirty="0"/>
                                <m:t>x</m:t>
                              </m:r>
                              <m:r>
                                <m:rPr>
                                  <m:nor/>
                                </m:rPr>
                                <a:rPr lang="en-US" altLang="zh-TW" sz="1200" i="0" baseline="-25000" dirty="0"/>
                                <m:t>i</m:t>
                              </m:r>
                              <m:r>
                                <m:rPr>
                                  <m:nor/>
                                </m:rPr>
                                <a:rPr lang="en-US" altLang="zh-TW" sz="1200" i="0" dirty="0"/>
                                <m:t>∗γi</m:t>
                              </m:r>
                            </m:num>
                            <m:den>
                              <m:r>
                                <m:rPr>
                                  <m:nor/>
                                </m:rPr>
                                <a:rPr lang="en-US" altLang="zh-TW" sz="1200" i="0" dirty="0"/>
                                <m:t>RMS(x)</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3"/>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430249" y="3026098"/>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010904"/>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4"/>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Softmax(VC</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VC</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m:sSub>
                        <m:sSubPr>
                          <m:ctrlPr>
                            <a:rPr lang="en-US" altLang="zh-TW" sz="1200" i="1">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ℎ</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5"/>
                <a:stretch>
                  <a:fillRect l="-5575" r="-348" b="-1079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i="1">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6"/>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7"/>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Tokenizer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Positional Encoding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Self-Attention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FFN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73" name="矩形 72">
            <a:extLst>
              <a:ext uri="{FF2B5EF4-FFF2-40B4-BE49-F238E27FC236}">
                <a16:creationId xmlns:a16="http://schemas.microsoft.com/office/drawing/2014/main" id="{0CD39B9A-ED92-AB62-D7D4-6B2380FA472E}"/>
              </a:ext>
            </a:extLst>
          </p:cNvPr>
          <p:cNvSpPr/>
          <p:nvPr/>
        </p:nvSpPr>
        <p:spPr>
          <a:xfrm>
            <a:off x="5505654" y="1844824"/>
            <a:ext cx="3026786" cy="1014680"/>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Capturing context,  compressed into the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2267744" y="2597721"/>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2267744" y="1959463"/>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555776" y="2131101"/>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8" name="矩形 87">
            <a:extLst>
              <a:ext uri="{FF2B5EF4-FFF2-40B4-BE49-F238E27FC236}">
                <a16:creationId xmlns:a16="http://schemas.microsoft.com/office/drawing/2014/main" id="{2A3273B4-280D-2500-B3E2-D5398D25A019}"/>
              </a:ext>
            </a:extLst>
          </p:cNvPr>
          <p:cNvSpPr/>
          <p:nvPr/>
        </p:nvSpPr>
        <p:spPr>
          <a:xfrm>
            <a:off x="1294782" y="1766456"/>
            <a:ext cx="972962"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1294782" y="1752988"/>
            <a:ext cx="972962"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1294782" y="2165939"/>
            <a:ext cx="972962"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1294782" y="2405964"/>
            <a:ext cx="972962"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1294782" y="2775547"/>
            <a:ext cx="972962"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1213912" y="1766248"/>
            <a:ext cx="45719" cy="115310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143666" y="2181643"/>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1664803" y="157049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1758403" y="1207164"/>
            <a:ext cx="45719" cy="9729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49EDF0B5-AB72-492D-3A92-9881C35CEEE8}"/>
              </a:ext>
            </a:extLst>
          </p:cNvPr>
          <p:cNvSpPr/>
          <p:nvPr/>
        </p:nvSpPr>
        <p:spPr>
          <a:xfrm>
            <a:off x="5655769" y="1256184"/>
            <a:ext cx="1508519" cy="372616"/>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55" name="矩形 54">
            <a:extLst>
              <a:ext uri="{FF2B5EF4-FFF2-40B4-BE49-F238E27FC236}">
                <a16:creationId xmlns:a16="http://schemas.microsoft.com/office/drawing/2014/main" id="{45B3CB3A-DF76-A954-7ACD-784F85AFB1BA}"/>
              </a:ext>
            </a:extLst>
          </p:cNvPr>
          <p:cNvSpPr/>
          <p:nvPr/>
        </p:nvSpPr>
        <p:spPr>
          <a:xfrm>
            <a:off x="2561850" y="2485325"/>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942923" y="1310861"/>
            <a:ext cx="549922" cy="166639"/>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463256" y="1272021"/>
            <a:ext cx="110578" cy="2519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479509" y="1268760"/>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16016" y="1503630"/>
            <a:ext cx="148828" cy="46893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08973" y="1621280"/>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211960"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718705"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64" name="群組 63">
            <a:extLst>
              <a:ext uri="{FF2B5EF4-FFF2-40B4-BE49-F238E27FC236}">
                <a16:creationId xmlns:a16="http://schemas.microsoft.com/office/drawing/2014/main" id="{21EF2EDA-3D93-72FC-F2FC-779EB111DA80}"/>
              </a:ext>
            </a:extLst>
          </p:cNvPr>
          <p:cNvGrpSpPr/>
          <p:nvPr/>
        </p:nvGrpSpPr>
        <p:grpSpPr>
          <a:xfrm>
            <a:off x="5592938" y="2038038"/>
            <a:ext cx="2813412" cy="738840"/>
            <a:chOff x="5367161" y="1956644"/>
            <a:chExt cx="2813412" cy="733203"/>
          </a:xfrm>
        </p:grpSpPr>
        <p:sp>
          <p:nvSpPr>
            <p:cNvPr id="57" name="矩形 56">
              <a:extLst>
                <a:ext uri="{FF2B5EF4-FFF2-40B4-BE49-F238E27FC236}">
                  <a16:creationId xmlns:a16="http://schemas.microsoft.com/office/drawing/2014/main" id="{BF8F8D13-9E03-AB21-3107-9AE8C2074AC0}"/>
                </a:ext>
              </a:extLst>
            </p:cNvPr>
            <p:cNvSpPr/>
            <p:nvPr/>
          </p:nvSpPr>
          <p:spPr>
            <a:xfrm>
              <a:off x="7874615" y="2037727"/>
              <a:ext cx="305958"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76346"/>
              <a:ext cx="1190446" cy="575149"/>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20208"/>
              <a:ext cx="298802"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31750"/>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13760"/>
              <a:ext cx="501145" cy="27869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04422"/>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05207"/>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60515"/>
                  <a:ext cx="319062" cy="424412"/>
                </a:xfrm>
                <a:prstGeom prst="rect">
                  <a:avLst/>
                </a:prstGeom>
                <a:noFill/>
              </p:spPr>
              <p:txBody>
                <a:bodyPr wrap="none" lIns="0" tIns="0" rIns="0" bIns="0" rtlCol="0">
                  <a:spAutoFit/>
                </a:bodyPr>
                <a:lstStyle/>
                <a:p>
                  <a:pPr/>
                  <a14:m>
                    <m:oMathPara xmlns:m="http://schemas.openxmlformats.org/officeDocument/2006/math">
                      <m:oMath>
                        <m:f>
                          <m:fPr>
                            <m:ctrlPr>
                              <a:rPr lang="zh-TW" altLang="en-US" sz="120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ℎ</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60515"/>
                  <a:ext cx="319062" cy="424412"/>
                </a:xfrm>
                <a:prstGeom prst="rect">
                  <a:avLst/>
                </a:prstGeom>
                <a:blipFill>
                  <a:blip r:embed="rId3"/>
                  <a:stretch>
                    <a:fillRect t="-2899" r="-1923"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31377"/>
              <a:ext cx="392598" cy="51149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08539" y="2040399"/>
              <a:ext cx="360040" cy="503601"/>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367161" y="1969646"/>
              <a:ext cx="59182" cy="720201"/>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956644"/>
              <a:ext cx="65654" cy="71389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730599" y="2180763"/>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31" name="矩形 130">
            <a:extLst>
              <a:ext uri="{FF2B5EF4-FFF2-40B4-BE49-F238E27FC236}">
                <a16:creationId xmlns:a16="http://schemas.microsoft.com/office/drawing/2014/main" id="{D2E41A05-6318-000C-98AB-E11C7639A576}"/>
              </a:ext>
            </a:extLst>
          </p:cNvPr>
          <p:cNvSpPr/>
          <p:nvPr/>
        </p:nvSpPr>
        <p:spPr>
          <a:xfrm>
            <a:off x="2888130" y="3989528"/>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3941822"/>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008306"/>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002421"/>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274862"/>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274862"/>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4369867"/>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20021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147900"/>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4379392"/>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30017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303606"/>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4356566"/>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29169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3974254"/>
            <a:ext cx="0" cy="1440706"/>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186887"/>
            <a:ext cx="1469275" cy="3391"/>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sp>
        <p:nvSpPr>
          <p:cNvPr id="176" name="矩形 175">
            <a:extLst>
              <a:ext uri="{FF2B5EF4-FFF2-40B4-BE49-F238E27FC236}">
                <a16:creationId xmlns:a16="http://schemas.microsoft.com/office/drawing/2014/main" id="{55CE9919-2B60-6324-484E-21E7B0AE0DC6}"/>
              </a:ext>
            </a:extLst>
          </p:cNvPr>
          <p:cNvSpPr/>
          <p:nvPr/>
        </p:nvSpPr>
        <p:spPr>
          <a:xfrm>
            <a:off x="2195736" y="5208324"/>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208325"/>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208325"/>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363534" y="503152"/>
            <a:ext cx="57842" cy="147337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029932" y="1017421"/>
            <a:ext cx="636399" cy="160281"/>
          </a:xfrm>
          <a:prstGeom prst="rect">
            <a:avLst/>
          </a:prstGeom>
          <a:noFill/>
        </p:spPr>
        <p:txBody>
          <a:bodyPr wrap="none" lIns="0" tIns="0" rIns="0" bIns="0" rtlCol="0" anchor="ctr" anchorCtr="1">
            <a:noAutofit/>
          </a:bodyPr>
          <a:lstStyle/>
          <a:p>
            <a:pPr algn="ctr"/>
            <a:r>
              <a:rPr lang="en-US" altLang="zh-TW" sz="1200" dirty="0"/>
              <a:t>h * d</a:t>
            </a:r>
            <a:r>
              <a:rPr lang="en-US" altLang="zh-TW" sz="1200" baseline="-25000" dirty="0"/>
              <a:t>h</a:t>
            </a:r>
            <a:endParaRPr lang="zh-TW" altLang="en-US" sz="1200" dirty="0"/>
          </a:p>
        </p:txBody>
      </p:sp>
      <p:sp>
        <p:nvSpPr>
          <p:cNvPr id="8" name="文字方塊 7">
            <a:extLst>
              <a:ext uri="{FF2B5EF4-FFF2-40B4-BE49-F238E27FC236}">
                <a16:creationId xmlns:a16="http://schemas.microsoft.com/office/drawing/2014/main" id="{CFA20B6E-2B67-5993-7195-A982227FA1B9}"/>
              </a:ext>
            </a:extLst>
          </p:cNvPr>
          <p:cNvSpPr txBox="1"/>
          <p:nvPr/>
        </p:nvSpPr>
        <p:spPr>
          <a:xfrm>
            <a:off x="5577662"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10" name="文字方塊 9">
            <a:extLst>
              <a:ext uri="{FF2B5EF4-FFF2-40B4-BE49-F238E27FC236}">
                <a16:creationId xmlns:a16="http://schemas.microsoft.com/office/drawing/2014/main" id="{58470458-DBAF-2D3D-CADA-6CB7858AFDAB}"/>
              </a:ext>
            </a:extLst>
          </p:cNvPr>
          <p:cNvSpPr txBox="1"/>
          <p:nvPr/>
        </p:nvSpPr>
        <p:spPr>
          <a:xfrm>
            <a:off x="4413489"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sp>
        <p:nvSpPr>
          <p:cNvPr id="30" name="矩形 29">
            <a:extLst>
              <a:ext uri="{FF2B5EF4-FFF2-40B4-BE49-F238E27FC236}">
                <a16:creationId xmlns:a16="http://schemas.microsoft.com/office/drawing/2014/main" id="{150BC86B-8DCF-00B8-5574-918588F2BF8D}"/>
              </a:ext>
            </a:extLst>
          </p:cNvPr>
          <p:cNvSpPr/>
          <p:nvPr/>
        </p:nvSpPr>
        <p:spPr>
          <a:xfrm>
            <a:off x="435487" y="1631794"/>
            <a:ext cx="362588"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tx1"/>
                </a:solidFill>
                <a:ea typeface="ADLaM Display" panose="02010000000000000000" pitchFamily="2" charset="0"/>
                <a:cs typeface="ADLaM Display" panose="02010000000000000000" pitchFamily="2" charset="0"/>
              </a:rPr>
              <a:t>vocabulary</a:t>
            </a:r>
          </a:p>
        </p:txBody>
      </p:sp>
      <p:sp>
        <p:nvSpPr>
          <p:cNvPr id="32" name="文字方塊 31">
            <a:extLst>
              <a:ext uri="{FF2B5EF4-FFF2-40B4-BE49-F238E27FC236}">
                <a16:creationId xmlns:a16="http://schemas.microsoft.com/office/drawing/2014/main" id="{22E1A8D9-E47D-48A7-0C79-430830CF1E96}"/>
              </a:ext>
            </a:extLst>
          </p:cNvPr>
          <p:cNvSpPr txBox="1"/>
          <p:nvPr/>
        </p:nvSpPr>
        <p:spPr>
          <a:xfrm>
            <a:off x="175196" y="3204749"/>
            <a:ext cx="1335476" cy="368267"/>
          </a:xfrm>
          <a:prstGeom prst="rect">
            <a:avLst/>
          </a:prstGeom>
          <a:noFill/>
        </p:spPr>
        <p:txBody>
          <a:bodyPr wrap="none" lIns="0" tIns="0" rIns="0" bIns="0" rtlCol="0" anchor="ctr" anchorCtr="1">
            <a:noAutofit/>
          </a:bodyPr>
          <a:lstStyle/>
          <a:p>
            <a:pPr algn="ctr"/>
            <a:r>
              <a:rPr lang="en-US" altLang="zh-TW" sz="1200" b="1" dirty="0"/>
              <a:t>Lookup Table</a:t>
            </a:r>
            <a:r>
              <a:rPr lang="en-US" altLang="zh-TW" sz="1200" dirty="0"/>
              <a:t>:</a:t>
            </a:r>
          </a:p>
          <a:p>
            <a:pPr algn="ctr"/>
            <a:r>
              <a:rPr lang="en-US" altLang="zh-TW" sz="1200" dirty="0"/>
              <a:t>Token</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200" dirty="0">
                <a:sym typeface="Wingdings" panose="05000000000000000000" pitchFamily="2" charset="2"/>
              </a:rPr>
              <a:t>Embedding</a:t>
            </a:r>
            <a:endParaRPr lang="zh-TW" altLang="en-US" sz="1200" dirty="0"/>
          </a:p>
        </p:txBody>
      </p:sp>
      <p:cxnSp>
        <p:nvCxnSpPr>
          <p:cNvPr id="52" name="接點: 弧形 51">
            <a:extLst>
              <a:ext uri="{FF2B5EF4-FFF2-40B4-BE49-F238E27FC236}">
                <a16:creationId xmlns:a16="http://schemas.microsoft.com/office/drawing/2014/main" id="{EEC0D7CC-2B2E-CA1C-F1CF-5882E9D91B4C}"/>
              </a:ext>
            </a:extLst>
          </p:cNvPr>
          <p:cNvCxnSpPr>
            <a:cxnSpLocks/>
            <a:stCxn id="73" idx="2"/>
            <a:endCxn id="129" idx="0"/>
          </p:cNvCxnSpPr>
          <p:nvPr/>
        </p:nvCxnSpPr>
        <p:spPr>
          <a:xfrm rot="5400000">
            <a:off x="5612794" y="1773639"/>
            <a:ext cx="320389" cy="249211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箭號: 向下 97">
            <a:extLst>
              <a:ext uri="{FF2B5EF4-FFF2-40B4-BE49-F238E27FC236}">
                <a16:creationId xmlns:a16="http://schemas.microsoft.com/office/drawing/2014/main" id="{CEC2C0EE-4D67-DB0C-9DDE-E3E392DA3F75}"/>
              </a:ext>
            </a:extLst>
          </p:cNvPr>
          <p:cNvSpPr/>
          <p:nvPr/>
        </p:nvSpPr>
        <p:spPr>
          <a:xfrm rot="16200000">
            <a:off x="5151589" y="2176094"/>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8" name="接點: 弧形 27">
            <a:extLst>
              <a:ext uri="{FF2B5EF4-FFF2-40B4-BE49-F238E27FC236}">
                <a16:creationId xmlns:a16="http://schemas.microsoft.com/office/drawing/2014/main" id="{EFBAC067-C48C-5D37-B9E1-B192F77686ED}"/>
              </a:ext>
            </a:extLst>
          </p:cNvPr>
          <p:cNvCxnSpPr>
            <a:cxnSpLocks/>
            <a:stCxn id="85" idx="3"/>
            <a:endCxn id="23" idx="1"/>
          </p:cNvCxnSpPr>
          <p:nvPr/>
        </p:nvCxnSpPr>
        <p:spPr>
          <a:xfrm flipV="1">
            <a:off x="2868843" y="1736297"/>
            <a:ext cx="510357" cy="607920"/>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A21915EA-FFFF-23E3-13B6-4317B0E22E79}"/>
              </a:ext>
            </a:extLst>
          </p:cNvPr>
          <p:cNvCxnSpPr>
            <a:cxnSpLocks/>
            <a:stCxn id="85" idx="3"/>
            <a:endCxn id="29" idx="1"/>
          </p:cNvCxnSpPr>
          <p:nvPr/>
        </p:nvCxnSpPr>
        <p:spPr>
          <a:xfrm flipV="1">
            <a:off x="2868843" y="2266255"/>
            <a:ext cx="510357" cy="77962"/>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44B569EF-A6E6-DC5E-99FE-5258EBB73229}"/>
              </a:ext>
            </a:extLst>
          </p:cNvPr>
          <p:cNvCxnSpPr>
            <a:cxnSpLocks/>
            <a:stCxn id="85" idx="3"/>
            <a:endCxn id="37" idx="1"/>
          </p:cNvCxnSpPr>
          <p:nvPr/>
        </p:nvCxnSpPr>
        <p:spPr>
          <a:xfrm>
            <a:off x="2868843" y="2344217"/>
            <a:ext cx="510357" cy="45124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文字方塊 86">
            <a:extLst>
              <a:ext uri="{FF2B5EF4-FFF2-40B4-BE49-F238E27FC236}">
                <a16:creationId xmlns:a16="http://schemas.microsoft.com/office/drawing/2014/main" id="{F3962AD9-9B7E-81EB-AA05-54BD5CCBF9F4}"/>
              </a:ext>
            </a:extLst>
          </p:cNvPr>
          <p:cNvSpPr txBox="1"/>
          <p:nvPr/>
        </p:nvSpPr>
        <p:spPr>
          <a:xfrm>
            <a:off x="2333778" y="2502784"/>
            <a:ext cx="365952" cy="235664"/>
          </a:xfrm>
          <a:prstGeom prst="rect">
            <a:avLst/>
          </a:prstGeom>
          <a:solidFill>
            <a:schemeClr val="bg1">
              <a:alpha val="60000"/>
            </a:schemeClr>
          </a:solidFill>
        </p:spPr>
        <p:txBody>
          <a:bodyPr wrap="none" lIns="0" tIns="0" rIns="0" bIns="0" rtlCol="0" anchor="ctr" anchorCtr="1">
            <a:noAutofit/>
          </a:bodyPr>
          <a:lstStyle/>
          <a:p>
            <a:pPr algn="ctr"/>
            <a:r>
              <a:rPr lang="en-US" altLang="zh-TW" sz="1200" dirty="0"/>
              <a:t>RoPE</a:t>
            </a:r>
            <a:endParaRPr lang="zh-TW" altLang="en-US" sz="1200" dirty="0"/>
          </a:p>
        </p:txBody>
      </p:sp>
      <p:sp>
        <p:nvSpPr>
          <p:cNvPr id="12" name="矩形: 圓角 11">
            <a:extLst>
              <a:ext uri="{FF2B5EF4-FFF2-40B4-BE49-F238E27FC236}">
                <a16:creationId xmlns:a16="http://schemas.microsoft.com/office/drawing/2014/main" id="{F4F595E0-E3F4-A76E-1DB3-8C3F6C61D24E}"/>
              </a:ext>
            </a:extLst>
          </p:cNvPr>
          <p:cNvSpPr/>
          <p:nvPr/>
        </p:nvSpPr>
        <p:spPr>
          <a:xfrm>
            <a:off x="1435434" y="5895357"/>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3" name="箭號: 向下 12">
            <a:extLst>
              <a:ext uri="{FF2B5EF4-FFF2-40B4-BE49-F238E27FC236}">
                <a16:creationId xmlns:a16="http://schemas.microsoft.com/office/drawing/2014/main" id="{E6CD463A-74C4-E259-20C9-D61A29404AB3}"/>
              </a:ext>
            </a:extLst>
          </p:cNvPr>
          <p:cNvSpPr/>
          <p:nvPr/>
        </p:nvSpPr>
        <p:spPr>
          <a:xfrm rot="5400000">
            <a:off x="2344267" y="601677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4" name="矩形: 圓角 13">
            <a:extLst>
              <a:ext uri="{FF2B5EF4-FFF2-40B4-BE49-F238E27FC236}">
                <a16:creationId xmlns:a16="http://schemas.microsoft.com/office/drawing/2014/main" id="{9A1110FC-A4F3-2A16-F8EF-3AF34FFC6FF4}"/>
              </a:ext>
            </a:extLst>
          </p:cNvPr>
          <p:cNvSpPr/>
          <p:nvPr/>
        </p:nvSpPr>
        <p:spPr>
          <a:xfrm>
            <a:off x="1544967" y="5979824"/>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a:t>
            </a:r>
          </a:p>
          <a:p>
            <a:pPr marL="0" marR="0" lvl="0" indent="0" algn="ctr" defTabSz="914400" rtl="0" eaLnBrk="1" fontAlgn="auto" latinLnBrk="0" hangingPunct="1">
              <a:lnSpc>
                <a:spcPts val="1400"/>
              </a:lnSpc>
              <a:spcBef>
                <a:spcPts val="0"/>
              </a:spcBef>
              <a:spcAft>
                <a:spcPts val="0"/>
              </a:spcAft>
              <a:buClrTx/>
              <a:buSzTx/>
              <a:buFontTx/>
              <a:buNone/>
              <a:tabLst/>
              <a:defRPr/>
            </a:pPr>
            <a:r>
              <a:rPr lang="en-US" altLang="zh-TW" sz="1000" b="1"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22" name="矩形: 圓角 21">
            <a:extLst>
              <a:ext uri="{FF2B5EF4-FFF2-40B4-BE49-F238E27FC236}">
                <a16:creationId xmlns:a16="http://schemas.microsoft.com/office/drawing/2014/main" id="{D1C99AD3-611E-AD6F-610E-20B54144682C}"/>
              </a:ext>
            </a:extLst>
          </p:cNvPr>
          <p:cNvSpPr/>
          <p:nvPr/>
        </p:nvSpPr>
        <p:spPr>
          <a:xfrm>
            <a:off x="2652743" y="5979823"/>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Context</a:t>
            </a:r>
            <a:endParaRPr lang="zh-TW" altLang="en-US" sz="1000" b="1" dirty="0"/>
          </a:p>
        </p:txBody>
      </p:sp>
      <p:sp>
        <p:nvSpPr>
          <p:cNvPr id="23" name="矩形 22">
            <a:extLst>
              <a:ext uri="{FF2B5EF4-FFF2-40B4-BE49-F238E27FC236}">
                <a16:creationId xmlns:a16="http://schemas.microsoft.com/office/drawing/2014/main" id="{5A226102-EE1F-9C1C-DFDC-58964B364D02}"/>
              </a:ext>
            </a:extLst>
          </p:cNvPr>
          <p:cNvSpPr/>
          <p:nvPr/>
        </p:nvSpPr>
        <p:spPr>
          <a:xfrm>
            <a:off x="3379200" y="1507697"/>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26" name="矩形 25">
            <a:extLst>
              <a:ext uri="{FF2B5EF4-FFF2-40B4-BE49-F238E27FC236}">
                <a16:creationId xmlns:a16="http://schemas.microsoft.com/office/drawing/2014/main" id="{33D268C0-C849-5479-BF72-B6A4194981E3}"/>
              </a:ext>
            </a:extLst>
          </p:cNvPr>
          <p:cNvSpPr/>
          <p:nvPr/>
        </p:nvSpPr>
        <p:spPr>
          <a:xfrm>
            <a:off x="3854107" y="157246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29" name="矩形 28">
            <a:extLst>
              <a:ext uri="{FF2B5EF4-FFF2-40B4-BE49-F238E27FC236}">
                <a16:creationId xmlns:a16="http://schemas.microsoft.com/office/drawing/2014/main" id="{4EFAFEF0-F9F8-5AFE-9859-1AA0DA13E9C9}"/>
              </a:ext>
            </a:extLst>
          </p:cNvPr>
          <p:cNvSpPr/>
          <p:nvPr/>
        </p:nvSpPr>
        <p:spPr>
          <a:xfrm>
            <a:off x="3379200" y="2037655"/>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35" name="矩形 34">
            <a:extLst>
              <a:ext uri="{FF2B5EF4-FFF2-40B4-BE49-F238E27FC236}">
                <a16:creationId xmlns:a16="http://schemas.microsoft.com/office/drawing/2014/main" id="{9716FF63-5297-520E-5942-35C1BEE3CA34}"/>
              </a:ext>
            </a:extLst>
          </p:cNvPr>
          <p:cNvSpPr/>
          <p:nvPr/>
        </p:nvSpPr>
        <p:spPr>
          <a:xfrm>
            <a:off x="3854560" y="2134815"/>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37" name="矩形 36">
            <a:extLst>
              <a:ext uri="{FF2B5EF4-FFF2-40B4-BE49-F238E27FC236}">
                <a16:creationId xmlns:a16="http://schemas.microsoft.com/office/drawing/2014/main" id="{0759800B-8E4B-A401-0312-D3458DE21724}"/>
              </a:ext>
            </a:extLst>
          </p:cNvPr>
          <p:cNvSpPr/>
          <p:nvPr/>
        </p:nvSpPr>
        <p:spPr>
          <a:xfrm>
            <a:off x="3379200" y="256686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43" name="矩形 42">
            <a:extLst>
              <a:ext uri="{FF2B5EF4-FFF2-40B4-BE49-F238E27FC236}">
                <a16:creationId xmlns:a16="http://schemas.microsoft.com/office/drawing/2014/main" id="{D5D96FC3-7FA5-4284-C8F9-3D32EBE20BC7}"/>
              </a:ext>
            </a:extLst>
          </p:cNvPr>
          <p:cNvSpPr/>
          <p:nvPr/>
        </p:nvSpPr>
        <p:spPr>
          <a:xfrm>
            <a:off x="3846398" y="265258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46" name="文字方塊 45">
            <a:extLst>
              <a:ext uri="{FF2B5EF4-FFF2-40B4-BE49-F238E27FC236}">
                <a16:creationId xmlns:a16="http://schemas.microsoft.com/office/drawing/2014/main" id="{072CD2C3-2D27-D727-7261-CEECAFF1ABE8}"/>
              </a:ext>
            </a:extLst>
          </p:cNvPr>
          <p:cNvSpPr txBox="1"/>
          <p:nvPr/>
        </p:nvSpPr>
        <p:spPr>
          <a:xfrm>
            <a:off x="4172643" y="161818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50" name="文字方塊 49">
            <a:extLst>
              <a:ext uri="{FF2B5EF4-FFF2-40B4-BE49-F238E27FC236}">
                <a16:creationId xmlns:a16="http://schemas.microsoft.com/office/drawing/2014/main" id="{A7566850-F189-1848-0621-1FF351E3898A}"/>
              </a:ext>
            </a:extLst>
          </p:cNvPr>
          <p:cNvSpPr txBox="1"/>
          <p:nvPr/>
        </p:nvSpPr>
        <p:spPr>
          <a:xfrm>
            <a:off x="3666779" y="161818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6" name="文字方塊 55">
            <a:extLst>
              <a:ext uri="{FF2B5EF4-FFF2-40B4-BE49-F238E27FC236}">
                <a16:creationId xmlns:a16="http://schemas.microsoft.com/office/drawing/2014/main" id="{50E36D0A-9B37-BB40-66FF-D6D428DB15F3}"/>
              </a:ext>
            </a:extLst>
          </p:cNvPr>
          <p:cNvSpPr txBox="1"/>
          <p:nvPr/>
        </p:nvSpPr>
        <p:spPr>
          <a:xfrm>
            <a:off x="3667232" y="2180535"/>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68" name="文字方塊 67">
            <a:extLst>
              <a:ext uri="{FF2B5EF4-FFF2-40B4-BE49-F238E27FC236}">
                <a16:creationId xmlns:a16="http://schemas.microsoft.com/office/drawing/2014/main" id="{CD7F8954-4E3F-6B99-FBB3-F45C60C64A8F}"/>
              </a:ext>
            </a:extLst>
          </p:cNvPr>
          <p:cNvSpPr txBox="1"/>
          <p:nvPr/>
        </p:nvSpPr>
        <p:spPr>
          <a:xfrm>
            <a:off x="3667232" y="269830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75" name="文字方塊 74">
            <a:extLst>
              <a:ext uri="{FF2B5EF4-FFF2-40B4-BE49-F238E27FC236}">
                <a16:creationId xmlns:a16="http://schemas.microsoft.com/office/drawing/2014/main" id="{04D8B84E-92AF-197C-412D-493826E70428}"/>
              </a:ext>
            </a:extLst>
          </p:cNvPr>
          <p:cNvSpPr txBox="1"/>
          <p:nvPr/>
        </p:nvSpPr>
        <p:spPr>
          <a:xfrm>
            <a:off x="4173096" y="2180535"/>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84" name="文字方塊 83">
            <a:extLst>
              <a:ext uri="{FF2B5EF4-FFF2-40B4-BE49-F238E27FC236}">
                <a16:creationId xmlns:a16="http://schemas.microsoft.com/office/drawing/2014/main" id="{46CE09A6-86D7-3E1F-0DF3-F5BE88C4A8C9}"/>
              </a:ext>
            </a:extLst>
          </p:cNvPr>
          <p:cNvSpPr txBox="1"/>
          <p:nvPr/>
        </p:nvSpPr>
        <p:spPr>
          <a:xfrm>
            <a:off x="4173096" y="269830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05" name="矩形 104">
            <a:extLst>
              <a:ext uri="{FF2B5EF4-FFF2-40B4-BE49-F238E27FC236}">
                <a16:creationId xmlns:a16="http://schemas.microsoft.com/office/drawing/2014/main" id="{1D3F311E-4E9E-EC4F-0D0D-E0D06449B569}"/>
              </a:ext>
            </a:extLst>
          </p:cNvPr>
          <p:cNvSpPr/>
          <p:nvPr/>
        </p:nvSpPr>
        <p:spPr>
          <a:xfrm>
            <a:off x="4389220" y="1507697"/>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Q</a:t>
            </a:r>
          </a:p>
        </p:txBody>
      </p:sp>
      <p:sp>
        <p:nvSpPr>
          <p:cNvPr id="107" name="矩形 106">
            <a:extLst>
              <a:ext uri="{FF2B5EF4-FFF2-40B4-BE49-F238E27FC236}">
                <a16:creationId xmlns:a16="http://schemas.microsoft.com/office/drawing/2014/main" id="{519F1973-687F-5B95-7057-D9C8E3F1629B}"/>
              </a:ext>
            </a:extLst>
          </p:cNvPr>
          <p:cNvSpPr/>
          <p:nvPr/>
        </p:nvSpPr>
        <p:spPr>
          <a:xfrm>
            <a:off x="4389220" y="2037655"/>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K</a:t>
            </a:r>
          </a:p>
        </p:txBody>
      </p:sp>
      <p:sp>
        <p:nvSpPr>
          <p:cNvPr id="114" name="矩形 113">
            <a:extLst>
              <a:ext uri="{FF2B5EF4-FFF2-40B4-BE49-F238E27FC236}">
                <a16:creationId xmlns:a16="http://schemas.microsoft.com/office/drawing/2014/main" id="{702C57CB-B9A0-5B59-8FDA-D4435F2A4386}"/>
              </a:ext>
            </a:extLst>
          </p:cNvPr>
          <p:cNvSpPr/>
          <p:nvPr/>
        </p:nvSpPr>
        <p:spPr>
          <a:xfrm>
            <a:off x="4389220" y="2566863"/>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V</a:t>
            </a:r>
          </a:p>
        </p:txBody>
      </p:sp>
      <p:sp>
        <p:nvSpPr>
          <p:cNvPr id="122" name="矩形 121">
            <a:extLst>
              <a:ext uri="{FF2B5EF4-FFF2-40B4-BE49-F238E27FC236}">
                <a16:creationId xmlns:a16="http://schemas.microsoft.com/office/drawing/2014/main" id="{917CC541-75EC-98E7-C3F7-00E2E3D8E186}"/>
              </a:ext>
            </a:extLst>
          </p:cNvPr>
          <p:cNvSpPr/>
          <p:nvPr/>
        </p:nvSpPr>
        <p:spPr>
          <a:xfrm>
            <a:off x="3865632"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7" name="矩形 126">
            <a:extLst>
              <a:ext uri="{FF2B5EF4-FFF2-40B4-BE49-F238E27FC236}">
                <a16:creationId xmlns:a16="http://schemas.microsoft.com/office/drawing/2014/main" id="{84C8E414-1A24-CE88-86D3-FC28BD98245A}"/>
              </a:ext>
            </a:extLst>
          </p:cNvPr>
          <p:cNvSpPr/>
          <p:nvPr/>
        </p:nvSpPr>
        <p:spPr>
          <a:xfrm>
            <a:off x="3379200" y="3187824"/>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9" name="矩形 128">
            <a:extLst>
              <a:ext uri="{FF2B5EF4-FFF2-40B4-BE49-F238E27FC236}">
                <a16:creationId xmlns:a16="http://schemas.microsoft.com/office/drawing/2014/main" id="{8B1BB408-9A5E-EC3A-E216-C01631FE7511}"/>
              </a:ext>
            </a:extLst>
          </p:cNvPr>
          <p:cNvSpPr/>
          <p:nvPr/>
        </p:nvSpPr>
        <p:spPr>
          <a:xfrm>
            <a:off x="4389768"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A</a:t>
            </a:r>
          </a:p>
        </p:txBody>
      </p:sp>
      <p:sp>
        <p:nvSpPr>
          <p:cNvPr id="133" name="矩形 132">
            <a:extLst>
              <a:ext uri="{FF2B5EF4-FFF2-40B4-BE49-F238E27FC236}">
                <a16:creationId xmlns:a16="http://schemas.microsoft.com/office/drawing/2014/main" id="{A9894C23-3E0C-35A5-F89C-09C80E69EC8F}"/>
              </a:ext>
            </a:extLst>
          </p:cNvPr>
          <p:cNvSpPr/>
          <p:nvPr/>
        </p:nvSpPr>
        <p:spPr>
          <a:xfrm>
            <a:off x="4801736" y="3284984"/>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o</a:t>
            </a:r>
          </a:p>
        </p:txBody>
      </p:sp>
      <p:sp>
        <p:nvSpPr>
          <p:cNvPr id="136" name="矩形 135">
            <a:extLst>
              <a:ext uri="{FF2B5EF4-FFF2-40B4-BE49-F238E27FC236}">
                <a16:creationId xmlns:a16="http://schemas.microsoft.com/office/drawing/2014/main" id="{B29BB397-509A-77A3-AD32-CF865443878E}"/>
              </a:ext>
            </a:extLst>
          </p:cNvPr>
          <p:cNvSpPr/>
          <p:nvPr/>
        </p:nvSpPr>
        <p:spPr>
          <a:xfrm>
            <a:off x="6883863" y="1256183"/>
            <a:ext cx="274320" cy="350747"/>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0" name="矩形 9">
            <a:extLst>
              <a:ext uri="{FF2B5EF4-FFF2-40B4-BE49-F238E27FC236}">
                <a16:creationId xmlns:a16="http://schemas.microsoft.com/office/drawing/2014/main" id="{AEA97777-5F60-72F7-9D59-5664DF27C842}"/>
              </a:ext>
            </a:extLst>
          </p:cNvPr>
          <p:cNvSpPr/>
          <p:nvPr/>
        </p:nvSpPr>
        <p:spPr>
          <a:xfrm>
            <a:off x="1907704" y="1906113"/>
            <a:ext cx="3828832" cy="173891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p:txBody>
      </p:sp>
      <p:sp>
        <p:nvSpPr>
          <p:cNvPr id="17" name="左右中括弧 16">
            <a:extLst>
              <a:ext uri="{FF2B5EF4-FFF2-40B4-BE49-F238E27FC236}">
                <a16:creationId xmlns:a16="http://schemas.microsoft.com/office/drawing/2014/main" id="{6A12358E-68A9-8144-3B6E-BD6CE0D422A8}"/>
              </a:ext>
            </a:extLst>
          </p:cNvPr>
          <p:cNvSpPr/>
          <p:nvPr/>
        </p:nvSpPr>
        <p:spPr>
          <a:xfrm>
            <a:off x="2555776" y="2415685"/>
            <a:ext cx="2541274" cy="474585"/>
          </a:xfrm>
          <a:prstGeom prst="bracketPair">
            <a:avLst/>
          </a:prstGeom>
          <a:noFill/>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sp>
        <p:nvSpPr>
          <p:cNvPr id="98" name="矩形 97">
            <a:extLst>
              <a:ext uri="{FF2B5EF4-FFF2-40B4-BE49-F238E27FC236}">
                <a16:creationId xmlns:a16="http://schemas.microsoft.com/office/drawing/2014/main" id="{D4D45948-527A-F778-AA65-12FA07A0CCF0}"/>
              </a:ext>
            </a:extLst>
          </p:cNvPr>
          <p:cNvSpPr/>
          <p:nvPr/>
        </p:nvSpPr>
        <p:spPr>
          <a:xfrm>
            <a:off x="1907704" y="4179018"/>
            <a:ext cx="3828830" cy="177026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lang="en-US" altLang="zh-TW" sz="1400" b="1" dirty="0">
              <a:solidFill>
                <a:srgbClr val="1F497D"/>
              </a:solidFill>
              <a:latin typeface="Calibri"/>
              <a:ea typeface="微軟正黑體" panose="020B0604030504040204" pitchFamily="34" charset="-120"/>
            </a:endParaRPr>
          </a:p>
        </p:txBody>
      </p:sp>
      <p:sp>
        <p:nvSpPr>
          <p:cNvPr id="122" name="矩形 121">
            <a:extLst>
              <a:ext uri="{FF2B5EF4-FFF2-40B4-BE49-F238E27FC236}">
                <a16:creationId xmlns:a16="http://schemas.microsoft.com/office/drawing/2014/main" id="{D8D9A589-D7BD-E59E-46E1-F9EE87A70466}"/>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123" name="矩形 122">
            <a:extLst>
              <a:ext uri="{FF2B5EF4-FFF2-40B4-BE49-F238E27FC236}">
                <a16:creationId xmlns:a16="http://schemas.microsoft.com/office/drawing/2014/main" id="{9EA4E8C7-AE21-6B7F-9744-DB5030A39301}"/>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120" name="矩形 119">
            <a:extLst>
              <a:ext uri="{FF2B5EF4-FFF2-40B4-BE49-F238E27FC236}">
                <a16:creationId xmlns:a16="http://schemas.microsoft.com/office/drawing/2014/main" id="{5BD871C5-7650-32E5-1F21-AEFE9937B6E7}"/>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Deepening token representations with non-linear mapping after context synthesis.</a:t>
            </a:r>
          </a:p>
        </p:txBody>
      </p:sp>
      <p:sp>
        <p:nvSpPr>
          <p:cNvPr id="3" name="矩形 2">
            <a:extLst>
              <a:ext uri="{FF2B5EF4-FFF2-40B4-BE49-F238E27FC236}">
                <a16:creationId xmlns:a16="http://schemas.microsoft.com/office/drawing/2014/main" id="{9EA9CF9A-00DF-3794-7D5B-29CDFD75AA9B}"/>
              </a:ext>
            </a:extLst>
          </p:cNvPr>
          <p:cNvSpPr/>
          <p:nvPr/>
        </p:nvSpPr>
        <p:spPr>
          <a:xfrm>
            <a:off x="2725207" y="2454042"/>
            <a:ext cx="249785" cy="364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3043180" y="2454043"/>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2716223" y="2447498"/>
            <a:ext cx="1039465"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9" name="矩形 8">
            <a:extLst>
              <a:ext uri="{FF2B5EF4-FFF2-40B4-BE49-F238E27FC236}">
                <a16:creationId xmlns:a16="http://schemas.microsoft.com/office/drawing/2014/main" id="{4C8DF73F-4F3C-A692-BD96-F71648DBE87A}"/>
              </a:ext>
            </a:extLst>
          </p:cNvPr>
          <p:cNvSpPr/>
          <p:nvPr/>
        </p:nvSpPr>
        <p:spPr>
          <a:xfrm>
            <a:off x="3969590" y="2462980"/>
            <a:ext cx="237183" cy="35528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4267316" y="2462981"/>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3953830" y="2453350"/>
            <a:ext cx="1010789" cy="3745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3805327" y="25848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5101471" y="2512795"/>
            <a:ext cx="137497"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21" name="矩形 20">
            <a:extLst>
              <a:ext uri="{FF2B5EF4-FFF2-40B4-BE49-F238E27FC236}">
                <a16:creationId xmlns:a16="http://schemas.microsoft.com/office/drawing/2014/main" id="{47ED10C2-9F56-2A97-6D9F-EA161EE290B4}"/>
              </a:ext>
            </a:extLst>
          </p:cNvPr>
          <p:cNvSpPr/>
          <p:nvPr/>
        </p:nvSpPr>
        <p:spPr>
          <a:xfrm>
            <a:off x="2090155" y="2477939"/>
            <a:ext cx="306835" cy="42623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483768" y="259649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424468" y="3523032"/>
            <a:ext cx="424576" cy="1332727"/>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766941" y="5072279"/>
                <a:ext cx="957187" cy="448264"/>
              </a:xfrm>
              <a:prstGeom prst="rect">
                <a:avLst/>
              </a:prstGeom>
              <a:noFill/>
            </p:spPr>
            <p:txBody>
              <a:bodyPr wrap="squar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766941" y="5072279"/>
                <a:ext cx="957187" cy="448264"/>
              </a:xfrm>
              <a:prstGeom prst="rect">
                <a:avLst/>
              </a:prstGeom>
              <a:blipFill>
                <a:blip r:embed="rId3"/>
                <a:stretch>
                  <a:fillRect t="-17568" r="-18471" b="-10135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586969" y="2924944"/>
                <a:ext cx="1547924" cy="322332"/>
              </a:xfrm>
              <a:prstGeom prst="rect">
                <a:avLst/>
              </a:prstGeom>
              <a:noFill/>
            </p:spPr>
            <p:txBody>
              <a:bodyPr wrap="squar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586969" y="2924944"/>
                <a:ext cx="1547924" cy="322332"/>
              </a:xfrm>
              <a:prstGeom prst="rect">
                <a:avLst/>
              </a:prstGeom>
              <a:blipFill>
                <a:blip r:embed="rId4"/>
                <a:stretch>
                  <a:fillRect l="-1969" t="-1887" b="-15094"/>
                </a:stretch>
              </a:blipFill>
            </p:spPr>
            <p:txBody>
              <a:bodyPr/>
              <a:lstStyle/>
              <a:p>
                <a:r>
                  <a:rPr lang="zh-TW" altLang="en-US">
                    <a:noFill/>
                  </a:rPr>
                  <a:t> </a:t>
                </a:r>
              </a:p>
            </p:txBody>
          </p:sp>
        </mc:Fallback>
      </mc:AlternateContent>
      <p:grpSp>
        <p:nvGrpSpPr>
          <p:cNvPr id="108" name="群組 107">
            <a:extLst>
              <a:ext uri="{FF2B5EF4-FFF2-40B4-BE49-F238E27FC236}">
                <a16:creationId xmlns:a16="http://schemas.microsoft.com/office/drawing/2014/main" id="{0463C9CC-0508-4899-1996-502C0450246B}"/>
              </a:ext>
            </a:extLst>
          </p:cNvPr>
          <p:cNvGrpSpPr/>
          <p:nvPr/>
        </p:nvGrpSpPr>
        <p:grpSpPr>
          <a:xfrm>
            <a:off x="597428" y="1745756"/>
            <a:ext cx="806220" cy="2168341"/>
            <a:chOff x="312587" y="2086222"/>
            <a:chExt cx="806220" cy="2168341"/>
          </a:xfrm>
        </p:grpSpPr>
        <p:sp>
          <p:nvSpPr>
            <p:cNvPr id="88" name="矩形 87">
              <a:extLst>
                <a:ext uri="{FF2B5EF4-FFF2-40B4-BE49-F238E27FC236}">
                  <a16:creationId xmlns:a16="http://schemas.microsoft.com/office/drawing/2014/main" id="{6D47A4D7-3AAE-548A-B215-112D8959A04A}"/>
                </a:ext>
              </a:extLst>
            </p:cNvPr>
            <p:cNvSpPr/>
            <p:nvPr/>
          </p:nvSpPr>
          <p:spPr>
            <a:xfrm>
              <a:off x="502782" y="2351441"/>
              <a:ext cx="612469" cy="140563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502782" y="2349552"/>
              <a:ext cx="616025" cy="47940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Prompt</a:t>
              </a:r>
            </a:p>
          </p:txBody>
        </p:sp>
        <p:sp>
          <p:nvSpPr>
            <p:cNvPr id="90" name="矩形 89">
              <a:extLst>
                <a:ext uri="{FF2B5EF4-FFF2-40B4-BE49-F238E27FC236}">
                  <a16:creationId xmlns:a16="http://schemas.microsoft.com/office/drawing/2014/main" id="{F9148EBB-AB20-B55F-FFB6-6EC6E59E140D}"/>
                </a:ext>
              </a:extLst>
            </p:cNvPr>
            <p:cNvSpPr/>
            <p:nvPr/>
          </p:nvSpPr>
          <p:spPr>
            <a:xfrm>
              <a:off x="502782" y="2828953"/>
              <a:ext cx="612469" cy="45603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Chat</a:t>
              </a:r>
            </a:p>
          </p:txBody>
        </p:sp>
        <p:sp>
          <p:nvSpPr>
            <p:cNvPr id="91" name="矩形 90">
              <a:extLst>
                <a:ext uri="{FF2B5EF4-FFF2-40B4-BE49-F238E27FC236}">
                  <a16:creationId xmlns:a16="http://schemas.microsoft.com/office/drawing/2014/main" id="{4D8F02BE-DCD2-0446-3A26-48B3DB41C014}"/>
                </a:ext>
              </a:extLst>
            </p:cNvPr>
            <p:cNvSpPr/>
            <p:nvPr/>
          </p:nvSpPr>
          <p:spPr>
            <a:xfrm>
              <a:off x="505171" y="3283727"/>
              <a:ext cx="612546" cy="44139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Input</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Data</a:t>
              </a:r>
            </a:p>
          </p:txBody>
        </p:sp>
        <p:sp>
          <p:nvSpPr>
            <p:cNvPr id="92" name="矩形 91">
              <a:extLst>
                <a:ext uri="{FF2B5EF4-FFF2-40B4-BE49-F238E27FC236}">
                  <a16:creationId xmlns:a16="http://schemas.microsoft.com/office/drawing/2014/main" id="{08D00F58-3A7D-2E42-D9FA-7926C5EDC7C7}"/>
                </a:ext>
              </a:extLst>
            </p:cNvPr>
            <p:cNvSpPr/>
            <p:nvPr/>
          </p:nvSpPr>
          <p:spPr>
            <a:xfrm>
              <a:off x="489476" y="3861048"/>
              <a:ext cx="612801" cy="393515"/>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ea typeface="微軟正黑體" panose="020B0604030504040204" pitchFamily="34" charset="-120"/>
                </a:rPr>
                <a:t>Predicted</a:t>
              </a:r>
            </a:p>
            <a:p>
              <a:pPr algn="ctr">
                <a:lnSpc>
                  <a:spcPts val="1600"/>
                </a:lnSpc>
              </a:pPr>
              <a:r>
                <a:rPr lang="en-US" altLang="zh-TW" sz="1200" b="1" dirty="0">
                  <a:solidFill>
                    <a:schemeClr val="accent2"/>
                  </a:solidFill>
                  <a:ea typeface="微軟正黑體" panose="020B0604030504040204" pitchFamily="34" charset="-120"/>
                </a:rPr>
                <a:t>Token</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363663" y="2351187"/>
              <a:ext cx="103881" cy="136066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312587" y="2815143"/>
              <a:ext cx="123067" cy="339726"/>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729330" y="2086222"/>
              <a:ext cx="161836" cy="26333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758570" y="1962860"/>
              <a:ext cx="99521" cy="60422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sp>
        <p:nvSpPr>
          <p:cNvPr id="110" name="矩形 109">
            <a:extLst>
              <a:ext uri="{FF2B5EF4-FFF2-40B4-BE49-F238E27FC236}">
                <a16:creationId xmlns:a16="http://schemas.microsoft.com/office/drawing/2014/main" id="{2A5B34E1-0657-B7B9-69A2-3D23E49C0407}"/>
              </a:ext>
            </a:extLst>
          </p:cNvPr>
          <p:cNvSpPr/>
          <p:nvPr/>
        </p:nvSpPr>
        <p:spPr>
          <a:xfrm>
            <a:off x="2103853" y="3119673"/>
            <a:ext cx="303429" cy="48234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sp>
        <p:nvSpPr>
          <p:cNvPr id="56" name="文字方塊 55">
            <a:extLst>
              <a:ext uri="{FF2B5EF4-FFF2-40B4-BE49-F238E27FC236}">
                <a16:creationId xmlns:a16="http://schemas.microsoft.com/office/drawing/2014/main" id="{C8FE1119-F9FF-D03A-C39E-26169689D227}"/>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2" name="矩形 61">
            <a:extLst>
              <a:ext uri="{FF2B5EF4-FFF2-40B4-BE49-F238E27FC236}">
                <a16:creationId xmlns:a16="http://schemas.microsoft.com/office/drawing/2014/main" id="{9580A3F7-0ABE-23F3-CAEE-86771B6B7544}"/>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65" name="文字方塊 64">
            <a:extLst>
              <a:ext uri="{FF2B5EF4-FFF2-40B4-BE49-F238E27FC236}">
                <a16:creationId xmlns:a16="http://schemas.microsoft.com/office/drawing/2014/main" id="{41E5E743-24FA-D667-C359-D4D00392854D}"/>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54" name="矩形 53">
            <a:extLst>
              <a:ext uri="{FF2B5EF4-FFF2-40B4-BE49-F238E27FC236}">
                <a16:creationId xmlns:a16="http://schemas.microsoft.com/office/drawing/2014/main" id="{2A5B317B-E1E4-CFB6-3F15-1C4EBAA0C373}"/>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84" name="矩形 83">
            <a:extLst>
              <a:ext uri="{FF2B5EF4-FFF2-40B4-BE49-F238E27FC236}">
                <a16:creationId xmlns:a16="http://schemas.microsoft.com/office/drawing/2014/main" id="{FA79592B-F846-5072-23CD-098E7D52A09D}"/>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18" name="矩形 17">
            <a:extLst>
              <a:ext uri="{FF2B5EF4-FFF2-40B4-BE49-F238E27FC236}">
                <a16:creationId xmlns:a16="http://schemas.microsoft.com/office/drawing/2014/main" id="{4FBC2DEF-1F94-22F9-5C1B-819E669197B3}"/>
              </a:ext>
            </a:extLst>
          </p:cNvPr>
          <p:cNvSpPr/>
          <p:nvPr/>
        </p:nvSpPr>
        <p:spPr>
          <a:xfrm rot="16200000">
            <a:off x="2192696" y="3355876"/>
            <a:ext cx="129232" cy="334311"/>
          </a:xfrm>
          <a:prstGeom prst="rect">
            <a:avLst/>
          </a:prstGeom>
          <a:solidFill>
            <a:schemeClr val="accent2">
              <a:lumMod val="20000"/>
              <a:lumOff val="80000"/>
              <a:alpha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4" name="矩形 23">
            <a:extLst>
              <a:ext uri="{FF2B5EF4-FFF2-40B4-BE49-F238E27FC236}">
                <a16:creationId xmlns:a16="http://schemas.microsoft.com/office/drawing/2014/main" id="{A7397AC1-0701-51AC-DD03-D56D5FA42671}"/>
              </a:ext>
            </a:extLst>
          </p:cNvPr>
          <p:cNvSpPr/>
          <p:nvPr/>
        </p:nvSpPr>
        <p:spPr>
          <a:xfrm>
            <a:off x="2268502" y="4601980"/>
            <a:ext cx="346902" cy="882327"/>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rPr>
              <a:t>VC</a:t>
            </a:r>
          </a:p>
          <a:p>
            <a:pPr marL="0" marR="0" lvl="0" indent="0" algn="ctr" defTabSz="914400" rtl="0" eaLnBrk="1" fontAlgn="auto" latinLnBrk="0" hangingPunct="1">
              <a:lnSpc>
                <a:spcPts val="1600"/>
              </a:lnSpc>
              <a:spcBef>
                <a:spcPts val="0"/>
              </a:spcBef>
              <a:spcAft>
                <a:spcPts val="0"/>
              </a:spcAft>
              <a:buClrTx/>
              <a:buSzTx/>
              <a:buFontTx/>
              <a:buNone/>
              <a:tabLst/>
              <a:defRPr/>
            </a:pPr>
            <a:endPar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92433" y="4855759"/>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42240" y="4899761"/>
            <a:ext cx="15035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sp>
        <p:nvSpPr>
          <p:cNvPr id="28" name="矩形 27">
            <a:extLst>
              <a:ext uri="{FF2B5EF4-FFF2-40B4-BE49-F238E27FC236}">
                <a16:creationId xmlns:a16="http://schemas.microsoft.com/office/drawing/2014/main" id="{DD572D28-E21B-EC18-BCC4-32209AD2D5A2}"/>
              </a:ext>
            </a:extLst>
          </p:cNvPr>
          <p:cNvSpPr/>
          <p:nvPr/>
        </p:nvSpPr>
        <p:spPr>
          <a:xfrm>
            <a:off x="3325791" y="4512649"/>
            <a:ext cx="194655"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0" name="矩形 29">
            <a:extLst>
              <a:ext uri="{FF2B5EF4-FFF2-40B4-BE49-F238E27FC236}">
                <a16:creationId xmlns:a16="http://schemas.microsoft.com/office/drawing/2014/main" id="{3A5C3284-5E4A-6C2B-0B16-3A6B39441A74}"/>
              </a:ext>
            </a:extLst>
          </p:cNvPr>
          <p:cNvSpPr/>
          <p:nvPr/>
        </p:nvSpPr>
        <p:spPr>
          <a:xfrm>
            <a:off x="4507327" y="4517689"/>
            <a:ext cx="187440"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3" name="左右中括弧 32">
            <a:extLst>
              <a:ext uri="{FF2B5EF4-FFF2-40B4-BE49-F238E27FC236}">
                <a16:creationId xmlns:a16="http://schemas.microsoft.com/office/drawing/2014/main" id="{FD6EB530-7992-AFF7-31AB-DEB32DCBB475}"/>
              </a:ext>
            </a:extLst>
          </p:cNvPr>
          <p:cNvSpPr/>
          <p:nvPr/>
        </p:nvSpPr>
        <p:spPr>
          <a:xfrm>
            <a:off x="3224655" y="460198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5" name="左右中括弧 34">
            <a:extLst>
              <a:ext uri="{FF2B5EF4-FFF2-40B4-BE49-F238E27FC236}">
                <a16:creationId xmlns:a16="http://schemas.microsoft.com/office/drawing/2014/main" id="{C21B6252-6BFC-711D-27FF-00C512752E88}"/>
              </a:ext>
            </a:extLst>
          </p:cNvPr>
          <p:cNvSpPr/>
          <p:nvPr/>
        </p:nvSpPr>
        <p:spPr>
          <a:xfrm>
            <a:off x="4394169" y="460726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254804" y="5201634"/>
            <a:ext cx="373738" cy="189555"/>
          </a:xfrm>
          <a:prstGeom prst="rect">
            <a:avLst/>
          </a:prstGeom>
          <a:solidFill>
            <a:schemeClr val="bg1">
              <a:alpha val="6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微軟正黑體" panose="020B0604030504040204" pitchFamily="34" charset="-120"/>
                <a:ea typeface="微軟正黑體" panose="020B0604030504040204" pitchFamily="34" charset="-120"/>
              </a:rPr>
              <a:t>max</a:t>
            </a:r>
          </a:p>
        </p:txBody>
      </p:sp>
      <p:cxnSp>
        <p:nvCxnSpPr>
          <p:cNvPr id="144" name="直線單箭頭接點 143">
            <a:extLst>
              <a:ext uri="{FF2B5EF4-FFF2-40B4-BE49-F238E27FC236}">
                <a16:creationId xmlns:a16="http://schemas.microsoft.com/office/drawing/2014/main" id="{6B2C4577-B92C-F325-0B6D-5C71D775FEF2}"/>
              </a:ext>
            </a:extLst>
          </p:cNvPr>
          <p:cNvCxnSpPr>
            <a:cxnSpLocks/>
            <a:stCxn id="34" idx="1"/>
            <a:endCxn id="36" idx="3"/>
          </p:cNvCxnSpPr>
          <p:nvPr/>
        </p:nvCxnSpPr>
        <p:spPr>
          <a:xfrm flipH="1">
            <a:off x="2628542" y="5296411"/>
            <a:ext cx="2138399" cy="1"/>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文字方塊 37">
            <a:extLst>
              <a:ext uri="{FF2B5EF4-FFF2-40B4-BE49-F238E27FC236}">
                <a16:creationId xmlns:a16="http://schemas.microsoft.com/office/drawing/2014/main" id="{B31B93FF-E34A-6029-C1FD-88A4C54C0C65}"/>
              </a:ext>
            </a:extLst>
          </p:cNvPr>
          <p:cNvSpPr txBox="1"/>
          <p:nvPr/>
        </p:nvSpPr>
        <p:spPr>
          <a:xfrm>
            <a:off x="2119558" y="4899760"/>
            <a:ext cx="148186" cy="278693"/>
          </a:xfrm>
          <a:prstGeom prst="rect">
            <a:avLst/>
          </a:prstGeom>
          <a:noFill/>
        </p:spPr>
        <p:txBody>
          <a:bodyPr wrap="none" lIns="0" tIns="0" rIns="0" bIns="0" rtlCol="0" anchor="ctr" anchorCtr="1">
            <a:noAutofit/>
          </a:bodyPr>
          <a:lstStyle/>
          <a:p>
            <a:pPr algn="ctr"/>
            <a:r>
              <a:rPr lang="en-US" altLang="zh-TW" sz="1200" dirty="0"/>
              <a:t>m</a:t>
            </a:r>
            <a:endParaRPr lang="zh-TW" altLang="en-US" sz="1200" dirty="0"/>
          </a:p>
        </p:txBody>
      </p:sp>
      <p:graphicFrame>
        <p:nvGraphicFramePr>
          <p:cNvPr id="5" name="表格 4">
            <a:extLst>
              <a:ext uri="{FF2B5EF4-FFF2-40B4-BE49-F238E27FC236}">
                <a16:creationId xmlns:a16="http://schemas.microsoft.com/office/drawing/2014/main" id="{28561163-0ACA-46A1-9AC6-83C1A7E32612}"/>
              </a:ext>
            </a:extLst>
          </p:cNvPr>
          <p:cNvGraphicFramePr>
            <a:graphicFrameLocks noGrp="1"/>
          </p:cNvGraphicFramePr>
          <p:nvPr>
            <p:extLst>
              <p:ext uri="{D42A27DB-BD31-4B8C-83A1-F6EECF244321}">
                <p14:modId xmlns:p14="http://schemas.microsoft.com/office/powerpoint/2010/main" val="360954640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1" name="接點: 肘形 10">
            <a:extLst>
              <a:ext uri="{FF2B5EF4-FFF2-40B4-BE49-F238E27FC236}">
                <a16:creationId xmlns:a16="http://schemas.microsoft.com/office/drawing/2014/main" id="{424B8408-23AF-F8AE-EEE2-6AEBE83A6D8D}"/>
              </a:ext>
            </a:extLst>
          </p:cNvPr>
          <p:cNvCxnSpPr>
            <a:cxnSpLocks/>
            <a:stCxn id="10" idx="3"/>
            <a:endCxn id="12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4" name="矩形 43">
            <a:extLst>
              <a:ext uri="{FF2B5EF4-FFF2-40B4-BE49-F238E27FC236}">
                <a16:creationId xmlns:a16="http://schemas.microsoft.com/office/drawing/2014/main" id="{649532DE-4C89-CD6F-8D46-2F39420749E7}"/>
              </a:ext>
            </a:extLst>
          </p:cNvPr>
          <p:cNvSpPr/>
          <p:nvPr/>
        </p:nvSpPr>
        <p:spPr>
          <a:xfrm>
            <a:off x="2148578" y="5505155"/>
            <a:ext cx="664503" cy="379919"/>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Vocabulary</a:t>
            </a:r>
          </a:p>
          <a:p>
            <a:pPr>
              <a:lnSpc>
                <a:spcPts val="1200"/>
              </a:lnSpc>
            </a:pPr>
            <a:r>
              <a:rPr lang="en-US" altLang="zh-TW" sz="1000" dirty="0">
                <a:solidFill>
                  <a:schemeClr val="tx1"/>
                </a:solidFill>
                <a:ea typeface="微軟正黑體" panose="020B0604030504040204" pitchFamily="34" charset="-120"/>
              </a:rPr>
              <a:t>Table</a:t>
            </a:r>
          </a:p>
        </p:txBody>
      </p:sp>
      <p:cxnSp>
        <p:nvCxnSpPr>
          <p:cNvPr id="99" name="接點: 弧形 98">
            <a:extLst>
              <a:ext uri="{FF2B5EF4-FFF2-40B4-BE49-F238E27FC236}">
                <a16:creationId xmlns:a16="http://schemas.microsoft.com/office/drawing/2014/main" id="{4FB58B4A-82CC-3807-3CCB-D5389E7A868C}"/>
              </a:ext>
            </a:extLst>
          </p:cNvPr>
          <p:cNvCxnSpPr>
            <a:cxnSpLocks/>
            <a:stCxn id="148" idx="2"/>
            <a:endCxn id="12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5" name="接點: 弧形 104">
            <a:extLst>
              <a:ext uri="{FF2B5EF4-FFF2-40B4-BE49-F238E27FC236}">
                <a16:creationId xmlns:a16="http://schemas.microsoft.com/office/drawing/2014/main" id="{808A248C-384B-E7F6-871A-E7AF5D6CF8E4}"/>
              </a:ext>
            </a:extLst>
          </p:cNvPr>
          <p:cNvCxnSpPr>
            <a:cxnSpLocks/>
            <a:stCxn id="148" idx="2"/>
            <a:endCxn id="12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2" name="標題 1">
            <a:extLst>
              <a:ext uri="{FF2B5EF4-FFF2-40B4-BE49-F238E27FC236}">
                <a16:creationId xmlns:a16="http://schemas.microsoft.com/office/drawing/2014/main" id="{F972B407-5A3A-F9A9-FC90-06CE6ACA9280}"/>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14" name="標題 1">
            <a:extLst>
              <a:ext uri="{FF2B5EF4-FFF2-40B4-BE49-F238E27FC236}">
                <a16:creationId xmlns:a16="http://schemas.microsoft.com/office/drawing/2014/main" id="{46E91F13-EE9F-C456-440D-4E8AA9E6506B}"/>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25" name="矩形 124">
            <a:extLst>
              <a:ext uri="{FF2B5EF4-FFF2-40B4-BE49-F238E27FC236}">
                <a16:creationId xmlns:a16="http://schemas.microsoft.com/office/drawing/2014/main" id="{AB9751A5-9C0F-EF9D-A4B9-460279598FBA}"/>
              </a:ext>
            </a:extLst>
          </p:cNvPr>
          <p:cNvSpPr/>
          <p:nvPr/>
        </p:nvSpPr>
        <p:spPr>
          <a:xfrm>
            <a:off x="1907704" y="4221088"/>
            <a:ext cx="1394953" cy="183880"/>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Linear Projection</a:t>
            </a:r>
          </a:p>
        </p:txBody>
      </p:sp>
      <p:sp>
        <p:nvSpPr>
          <p:cNvPr id="132" name="文字方塊 131">
            <a:extLst>
              <a:ext uri="{FF2B5EF4-FFF2-40B4-BE49-F238E27FC236}">
                <a16:creationId xmlns:a16="http://schemas.microsoft.com/office/drawing/2014/main" id="{BFBF2B27-00DC-09B2-E7DB-C92D38C8C330}"/>
              </a:ext>
            </a:extLst>
          </p:cNvPr>
          <p:cNvSpPr txBox="1"/>
          <p:nvPr/>
        </p:nvSpPr>
        <p:spPr>
          <a:xfrm>
            <a:off x="2843808" y="4897436"/>
            <a:ext cx="364202" cy="307777"/>
          </a:xfrm>
          <a:prstGeom prst="rect">
            <a:avLst/>
          </a:prstGeom>
          <a:noFill/>
        </p:spPr>
        <p:txBody>
          <a:bodyPr wrap="none" lIns="0" tIns="0" rIns="0" bIns="0" anchor="ctr" anchorCtr="1">
            <a:noAutofit/>
          </a:bodyPr>
          <a:lstStyle/>
          <a:p>
            <a:pPr algn="ct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4" name="文字方塊 133">
            <a:extLst>
              <a:ext uri="{FF2B5EF4-FFF2-40B4-BE49-F238E27FC236}">
                <a16:creationId xmlns:a16="http://schemas.microsoft.com/office/drawing/2014/main" id="{D5A9FA31-AF2D-A3C1-4502-DA7420EDD815}"/>
              </a:ext>
            </a:extLst>
          </p:cNvPr>
          <p:cNvSpPr txBox="1"/>
          <p:nvPr/>
        </p:nvSpPr>
        <p:spPr>
          <a:xfrm>
            <a:off x="3847758" y="4945361"/>
            <a:ext cx="364202" cy="211926"/>
          </a:xfrm>
          <a:prstGeom prst="rect">
            <a:avLst/>
          </a:prstGeom>
          <a:noFill/>
        </p:spPr>
        <p:txBody>
          <a:bodyPr wrap="none" lIns="0" tIns="0" rIns="0" bIns="0" anchor="ctr" anchorCtr="1">
            <a:noAutofit/>
          </a:bodyPr>
          <a:lstStyle/>
          <a:p>
            <a:pPr algn="ctr"/>
            <a:r>
              <a:rPr lang="en-US" altLang="zh-TW" sz="1200" dirty="0">
                <a:ln w="0"/>
                <a:solidFill>
                  <a:prstClr val="black"/>
                </a:solidFill>
              </a:rPr>
              <a:t> </a:t>
            </a:r>
            <a:r>
              <a:rPr lang="en-US" altLang="zh-TW" sz="12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6" name="文字方塊 135">
            <a:extLst>
              <a:ext uri="{FF2B5EF4-FFF2-40B4-BE49-F238E27FC236}">
                <a16:creationId xmlns:a16="http://schemas.microsoft.com/office/drawing/2014/main" id="{82705194-EA5F-B11E-D56B-3A52483B13DD}"/>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8" name="文字方塊 137">
            <a:extLst>
              <a:ext uri="{FF2B5EF4-FFF2-40B4-BE49-F238E27FC236}">
                <a16:creationId xmlns:a16="http://schemas.microsoft.com/office/drawing/2014/main" id="{37C7ECCF-081A-5988-A53F-444E74B3E905}"/>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2" name="矩形 11">
            <a:extLst>
              <a:ext uri="{FF2B5EF4-FFF2-40B4-BE49-F238E27FC236}">
                <a16:creationId xmlns:a16="http://schemas.microsoft.com/office/drawing/2014/main" id="{92C9729D-EF27-9154-E34C-DDD0F0A719C2}"/>
              </a:ext>
            </a:extLst>
          </p:cNvPr>
          <p:cNvSpPr/>
          <p:nvPr/>
        </p:nvSpPr>
        <p:spPr>
          <a:xfrm>
            <a:off x="2941232" y="1309251"/>
            <a:ext cx="1173924" cy="463565"/>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X</a:t>
            </a: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 = </a:t>
            </a:r>
            <a:r>
              <a:rPr kumimoji="0" lang="en-US" altLang="zh-TW" sz="120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Attention(X)</a:t>
            </a:r>
          </a:p>
        </p:txBody>
      </p:sp>
      <p:cxnSp>
        <p:nvCxnSpPr>
          <p:cNvPr id="45" name="接點: 弧形 44">
            <a:extLst>
              <a:ext uri="{FF2B5EF4-FFF2-40B4-BE49-F238E27FC236}">
                <a16:creationId xmlns:a16="http://schemas.microsoft.com/office/drawing/2014/main" id="{E1C27ED4-A08C-7AA7-9D24-27EE7CE258F9}"/>
              </a:ext>
            </a:extLst>
          </p:cNvPr>
          <p:cNvCxnSpPr>
            <a:cxnSpLocks/>
            <a:stCxn id="36" idx="1"/>
            <a:endCxn id="111" idx="2"/>
          </p:cNvCxnSpPr>
          <p:nvPr/>
        </p:nvCxnSpPr>
        <p:spPr>
          <a:xfrm rot="10800000">
            <a:off x="1080718" y="4655712"/>
            <a:ext cx="1174086" cy="640701"/>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接點: 弧形 47">
            <a:extLst>
              <a:ext uri="{FF2B5EF4-FFF2-40B4-BE49-F238E27FC236}">
                <a16:creationId xmlns:a16="http://schemas.microsoft.com/office/drawing/2014/main" id="{D6EC0052-F7B4-8510-FA68-7F641FAE5FC5}"/>
              </a:ext>
            </a:extLst>
          </p:cNvPr>
          <p:cNvCxnSpPr>
            <a:cxnSpLocks/>
            <a:stCxn id="12" idx="2"/>
            <a:endCxn id="9" idx="0"/>
          </p:cNvCxnSpPr>
          <p:nvPr/>
        </p:nvCxnSpPr>
        <p:spPr>
          <a:xfrm rot="16200000" flipH="1">
            <a:off x="3463106" y="1837904"/>
            <a:ext cx="690164" cy="55998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9" name="接點: 弧形 58">
            <a:extLst>
              <a:ext uri="{FF2B5EF4-FFF2-40B4-BE49-F238E27FC236}">
                <a16:creationId xmlns:a16="http://schemas.microsoft.com/office/drawing/2014/main" id="{04753FBF-1829-9BD3-0818-201069FBB9AF}"/>
              </a:ext>
            </a:extLst>
          </p:cNvPr>
          <p:cNvCxnSpPr>
            <a:cxnSpLocks/>
            <a:stCxn id="12" idx="2"/>
            <a:endCxn id="3" idx="0"/>
          </p:cNvCxnSpPr>
          <p:nvPr/>
        </p:nvCxnSpPr>
        <p:spPr>
          <a:xfrm rot="5400000">
            <a:off x="2848534" y="1774382"/>
            <a:ext cx="681226" cy="67809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1" name="菱形 110">
            <a:extLst>
              <a:ext uri="{FF2B5EF4-FFF2-40B4-BE49-F238E27FC236}">
                <a16:creationId xmlns:a16="http://schemas.microsoft.com/office/drawing/2014/main" id="{492BBA05-D0DF-824A-D505-9BAD3BF5FEC1}"/>
              </a:ext>
            </a:extLst>
          </p:cNvPr>
          <p:cNvSpPr/>
          <p:nvPr/>
        </p:nvSpPr>
        <p:spPr>
          <a:xfrm>
            <a:off x="875193" y="4241394"/>
            <a:ext cx="411049" cy="414317"/>
          </a:xfrm>
          <a:prstGeom prst="diamond">
            <a:avLst/>
          </a:prstGeom>
          <a:solidFill>
            <a:schemeClr val="accent1">
              <a:lumMod val="20000"/>
              <a:lumOff val="80000"/>
              <a:alpha val="9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Ending</a:t>
            </a:r>
          </a:p>
          <a:p>
            <a:pPr algn="ctr"/>
            <a:r>
              <a:rPr lang="en-US" altLang="zh-TW" sz="1200" b="1" dirty="0">
                <a:solidFill>
                  <a:schemeClr val="tx1"/>
                </a:solidFill>
              </a:rPr>
              <a:t>Token</a:t>
            </a:r>
            <a:endParaRPr lang="zh-TW" altLang="en-US" sz="1200" b="1" dirty="0">
              <a:solidFill>
                <a:schemeClr val="tx1"/>
              </a:solidFill>
            </a:endParaRPr>
          </a:p>
        </p:txBody>
      </p:sp>
      <p:cxnSp>
        <p:nvCxnSpPr>
          <p:cNvPr id="124" name="直線單箭頭接點 123">
            <a:extLst>
              <a:ext uri="{FF2B5EF4-FFF2-40B4-BE49-F238E27FC236}">
                <a16:creationId xmlns:a16="http://schemas.microsoft.com/office/drawing/2014/main" id="{9D245E25-BAF5-34E7-D543-F091E3A751AE}"/>
              </a:ext>
            </a:extLst>
          </p:cNvPr>
          <p:cNvCxnSpPr>
            <a:cxnSpLocks/>
            <a:stCxn id="111" idx="0"/>
            <a:endCxn id="92" idx="2"/>
          </p:cNvCxnSpPr>
          <p:nvPr/>
        </p:nvCxnSpPr>
        <p:spPr>
          <a:xfrm flipV="1">
            <a:off x="1080718" y="3914097"/>
            <a:ext cx="0" cy="327297"/>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0" name="文字方塊 139">
            <a:extLst>
              <a:ext uri="{FF2B5EF4-FFF2-40B4-BE49-F238E27FC236}">
                <a16:creationId xmlns:a16="http://schemas.microsoft.com/office/drawing/2014/main" id="{210CF3B3-F18F-29E1-B7EC-DF4942A14C84}"/>
              </a:ext>
            </a:extLst>
          </p:cNvPr>
          <p:cNvSpPr txBox="1"/>
          <p:nvPr/>
        </p:nvSpPr>
        <p:spPr>
          <a:xfrm>
            <a:off x="3781279" y="4845317"/>
            <a:ext cx="502689" cy="167859"/>
          </a:xfrm>
          <a:prstGeom prst="rect">
            <a:avLst/>
          </a:prstGeom>
          <a:noFill/>
        </p:spPr>
        <p:txBody>
          <a:bodyPr wrap="none" lIns="0" tIns="0" rIns="0" bIns="0" rtlCol="0" anchor="ctr" anchorCtr="1">
            <a:noAutofit/>
          </a:body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rPr>
              <a:t>SoftMax</a:t>
            </a:r>
            <a:endParaRPr lang="zh-TW" altLang="en-US" sz="1000" dirty="0">
              <a:latin typeface="ADLaM Display" panose="02010000000000000000" pitchFamily="2" charset="0"/>
              <a:cs typeface="ADLaM Display" panose="02010000000000000000" pitchFamily="2" charset="0"/>
            </a:endParaRPr>
          </a:p>
        </p:txBody>
      </p:sp>
      <p:sp>
        <p:nvSpPr>
          <p:cNvPr id="148" name="文字方塊 147">
            <a:extLst>
              <a:ext uri="{FF2B5EF4-FFF2-40B4-BE49-F238E27FC236}">
                <a16:creationId xmlns:a16="http://schemas.microsoft.com/office/drawing/2014/main" id="{05FB8DF6-D9BB-F343-C83A-015290617C6B}"/>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52" name="文字方塊 151">
            <a:extLst>
              <a:ext uri="{FF2B5EF4-FFF2-40B4-BE49-F238E27FC236}">
                <a16:creationId xmlns:a16="http://schemas.microsoft.com/office/drawing/2014/main" id="{D5EAEF59-D438-F208-817F-864A84291EF0}"/>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154" name="文字方塊 153">
            <a:extLst>
              <a:ext uri="{FF2B5EF4-FFF2-40B4-BE49-F238E27FC236}">
                <a16:creationId xmlns:a16="http://schemas.microsoft.com/office/drawing/2014/main" id="{DAD72A53-A9CA-CEB7-E525-805F6C85E1C1}"/>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56" name="文字方塊 155">
            <a:extLst>
              <a:ext uri="{FF2B5EF4-FFF2-40B4-BE49-F238E27FC236}">
                <a16:creationId xmlns:a16="http://schemas.microsoft.com/office/drawing/2014/main" id="{B9E70890-EF97-1130-83F4-F00A242018F6}"/>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158" name="矩形 157">
            <a:extLst>
              <a:ext uri="{FF2B5EF4-FFF2-40B4-BE49-F238E27FC236}">
                <a16:creationId xmlns:a16="http://schemas.microsoft.com/office/drawing/2014/main" id="{6C61F458-87D0-A3BA-3A42-DF0B644252EC}"/>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160" name="矩形 159">
            <a:extLst>
              <a:ext uri="{FF2B5EF4-FFF2-40B4-BE49-F238E27FC236}">
                <a16:creationId xmlns:a16="http://schemas.microsoft.com/office/drawing/2014/main" id="{7672C011-FEE0-2530-8AE5-1BA5B4132ECB}"/>
              </a:ext>
            </a:extLst>
          </p:cNvPr>
          <p:cNvSpPr/>
          <p:nvPr/>
        </p:nvSpPr>
        <p:spPr>
          <a:xfrm>
            <a:off x="5245487" y="2242198"/>
            <a:ext cx="353037" cy="842748"/>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D</a:t>
            </a:r>
            <a:r>
              <a:rPr kumimoji="0" lang="en-US" altLang="zh-TW" sz="8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own</a:t>
            </a:r>
          </a:p>
        </p:txBody>
      </p:sp>
      <p:sp>
        <p:nvSpPr>
          <p:cNvPr id="166" name="矩形 165">
            <a:extLst>
              <a:ext uri="{FF2B5EF4-FFF2-40B4-BE49-F238E27FC236}">
                <a16:creationId xmlns:a16="http://schemas.microsoft.com/office/drawing/2014/main" id="{D9160E48-0688-B880-5E39-6F051979BF57}"/>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78299" y="4437112"/>
            <a:ext cx="129726" cy="216403"/>
          </a:xfrm>
          <a:prstGeom prst="rect">
            <a:avLst/>
          </a:prstGeom>
          <a:noFill/>
        </p:spPr>
        <p:txBody>
          <a:bodyPr wrap="none" lIns="0" tIns="0" rIns="0" bIns="0" anchor="ctr" anchorCtr="1">
            <a:noAutofit/>
          </a:bodyPr>
          <a:lstStyle/>
          <a:p>
            <a:pPr algn="ctr">
              <a:lnSpc>
                <a:spcPts val="1600"/>
              </a:lnSpc>
            </a:pPr>
            <a:r>
              <a:rPr lang="en-US" altLang="zh-TW" sz="1200" dirty="0">
                <a:solidFill>
                  <a:schemeClr val="tx1"/>
                </a:solidFill>
                <a:ea typeface="微軟正黑體" panose="020B0604030504040204" pitchFamily="34" charset="-120"/>
              </a:rPr>
              <a:t>d</a:t>
            </a:r>
          </a:p>
        </p:txBody>
      </p:sp>
      <p:sp>
        <p:nvSpPr>
          <p:cNvPr id="171" name="矩形 170">
            <a:extLst>
              <a:ext uri="{FF2B5EF4-FFF2-40B4-BE49-F238E27FC236}">
                <a16:creationId xmlns:a16="http://schemas.microsoft.com/office/drawing/2014/main" id="{553C815C-06A3-845D-CAB5-B1BF30BC9E6E}"/>
              </a:ext>
            </a:extLst>
          </p:cNvPr>
          <p:cNvSpPr/>
          <p:nvPr/>
        </p:nvSpPr>
        <p:spPr>
          <a:xfrm>
            <a:off x="1907705" y="1930957"/>
            <a:ext cx="576064" cy="201899"/>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FFN</a:t>
            </a:r>
          </a:p>
        </p:txBody>
      </p:sp>
      <p:sp>
        <p:nvSpPr>
          <p:cNvPr id="183" name="矩形 182">
            <a:extLst>
              <a:ext uri="{FF2B5EF4-FFF2-40B4-BE49-F238E27FC236}">
                <a16:creationId xmlns:a16="http://schemas.microsoft.com/office/drawing/2014/main" id="{A651291F-4D9E-F52B-1B4B-C01E1C3D8261}"/>
              </a:ext>
            </a:extLst>
          </p:cNvPr>
          <p:cNvSpPr/>
          <p:nvPr/>
        </p:nvSpPr>
        <p:spPr>
          <a:xfrm>
            <a:off x="4267537" y="5589240"/>
            <a:ext cx="664503"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Probability</a:t>
            </a:r>
          </a:p>
        </p:txBody>
      </p:sp>
      <p:sp>
        <p:nvSpPr>
          <p:cNvPr id="185" name="矩形 184">
            <a:extLst>
              <a:ext uri="{FF2B5EF4-FFF2-40B4-BE49-F238E27FC236}">
                <a16:creationId xmlns:a16="http://schemas.microsoft.com/office/drawing/2014/main" id="{4C439D06-F19B-C54F-A1E1-FB9ADF0695F2}"/>
              </a:ext>
            </a:extLst>
          </p:cNvPr>
          <p:cNvSpPr/>
          <p:nvPr/>
        </p:nvSpPr>
        <p:spPr>
          <a:xfrm>
            <a:off x="3247290" y="5589240"/>
            <a:ext cx="388606"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Logit</a:t>
            </a:r>
          </a:p>
        </p:txBody>
      </p:sp>
      <p:grpSp>
        <p:nvGrpSpPr>
          <p:cNvPr id="188" name="群組 187">
            <a:extLst>
              <a:ext uri="{FF2B5EF4-FFF2-40B4-BE49-F238E27FC236}">
                <a16:creationId xmlns:a16="http://schemas.microsoft.com/office/drawing/2014/main" id="{D2F8C693-BC2F-F911-1111-BDDF8A2DE8A1}"/>
              </a:ext>
            </a:extLst>
          </p:cNvPr>
          <p:cNvGrpSpPr/>
          <p:nvPr/>
        </p:nvGrpSpPr>
        <p:grpSpPr>
          <a:xfrm>
            <a:off x="1435434" y="5895357"/>
            <a:ext cx="2012477" cy="414317"/>
            <a:chOff x="2055466" y="6488755"/>
            <a:chExt cx="2012477" cy="414317"/>
          </a:xfrm>
        </p:grpSpPr>
        <p:sp>
          <p:nvSpPr>
            <p:cNvPr id="187" name="矩形: 圓角 186">
              <a:extLst>
                <a:ext uri="{FF2B5EF4-FFF2-40B4-BE49-F238E27FC236}">
                  <a16:creationId xmlns:a16="http://schemas.microsoft.com/office/drawing/2014/main" id="{7911255C-CEE6-0A92-72C5-85F9081403A9}"/>
                </a:ext>
              </a:extLst>
            </p:cNvPr>
            <p:cNvSpPr/>
            <p:nvPr/>
          </p:nvSpPr>
          <p:spPr>
            <a:xfrm>
              <a:off x="2055466" y="6488755"/>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15" name="箭號: 向下 114">
              <a:extLst>
                <a:ext uri="{FF2B5EF4-FFF2-40B4-BE49-F238E27FC236}">
                  <a16:creationId xmlns:a16="http://schemas.microsoft.com/office/drawing/2014/main" id="{70A5DCA7-558F-1FFD-A0CF-B255006D64F3}"/>
                </a:ext>
              </a:extLst>
            </p:cNvPr>
            <p:cNvSpPr/>
            <p:nvPr/>
          </p:nvSpPr>
          <p:spPr>
            <a:xfrm rot="5400000">
              <a:off x="2964299" y="661017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79" name="矩形: 圓角 178">
              <a:extLst>
                <a:ext uri="{FF2B5EF4-FFF2-40B4-BE49-F238E27FC236}">
                  <a16:creationId xmlns:a16="http://schemas.microsoft.com/office/drawing/2014/main" id="{121293C9-FE4F-3ADF-7843-3EF9DBDDFF23}"/>
                </a:ext>
              </a:extLst>
            </p:cNvPr>
            <p:cNvSpPr/>
            <p:nvPr/>
          </p:nvSpPr>
          <p:spPr>
            <a:xfrm>
              <a:off x="2164999" y="6573222"/>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Vocabulary</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181" name="矩形: 圓角 180">
              <a:extLst>
                <a:ext uri="{FF2B5EF4-FFF2-40B4-BE49-F238E27FC236}">
                  <a16:creationId xmlns:a16="http://schemas.microsoft.com/office/drawing/2014/main" id="{3891BB6A-8CFD-BF37-84D0-D147597CE2D5}"/>
                </a:ext>
              </a:extLst>
            </p:cNvPr>
            <p:cNvSpPr/>
            <p:nvPr/>
          </p:nvSpPr>
          <p:spPr>
            <a:xfrm>
              <a:off x="3272775" y="6573221"/>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Semantics</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grpSp>
      <p:sp>
        <p:nvSpPr>
          <p:cNvPr id="193" name="文字方塊 192">
            <a:extLst>
              <a:ext uri="{FF2B5EF4-FFF2-40B4-BE49-F238E27FC236}">
                <a16:creationId xmlns:a16="http://schemas.microsoft.com/office/drawing/2014/main" id="{1A163316-C3E3-818A-3951-92411C54FB1C}"/>
              </a:ext>
            </a:extLst>
          </p:cNvPr>
          <p:cNvSpPr txBox="1"/>
          <p:nvPr/>
        </p:nvSpPr>
        <p:spPr>
          <a:xfrm>
            <a:off x="2941232" y="159730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95" name="文字方塊 194">
            <a:extLst>
              <a:ext uri="{FF2B5EF4-FFF2-40B4-BE49-F238E27FC236}">
                <a16:creationId xmlns:a16="http://schemas.microsoft.com/office/drawing/2014/main" id="{DD38B431-231C-BC17-BCB9-56690E0C91C3}"/>
              </a:ext>
            </a:extLst>
          </p:cNvPr>
          <p:cNvSpPr txBox="1"/>
          <p:nvPr/>
        </p:nvSpPr>
        <p:spPr>
          <a:xfrm>
            <a:off x="3203848" y="2259602"/>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7" name="文字方塊 196">
            <a:extLst>
              <a:ext uri="{FF2B5EF4-FFF2-40B4-BE49-F238E27FC236}">
                <a16:creationId xmlns:a16="http://schemas.microsoft.com/office/drawing/2014/main" id="{6F7C8235-683F-433F-13F7-BCA96BE217A7}"/>
              </a:ext>
            </a:extLst>
          </p:cNvPr>
          <p:cNvSpPr txBox="1"/>
          <p:nvPr/>
        </p:nvSpPr>
        <p:spPr>
          <a:xfrm>
            <a:off x="4415521" y="2259601"/>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9" name="文字方塊 198">
            <a:extLst>
              <a:ext uri="{FF2B5EF4-FFF2-40B4-BE49-F238E27FC236}">
                <a16:creationId xmlns:a16="http://schemas.microsoft.com/office/drawing/2014/main" id="{118F8D81-8D13-5640-F84A-2C8168D27343}"/>
              </a:ext>
            </a:extLst>
          </p:cNvPr>
          <p:cNvSpPr txBox="1"/>
          <p:nvPr/>
        </p:nvSpPr>
        <p:spPr>
          <a:xfrm>
            <a:off x="5238968" y="203190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S x d</a:t>
            </a:r>
          </a:p>
        </p:txBody>
      </p:sp>
      <p:sp>
        <p:nvSpPr>
          <p:cNvPr id="201" name="文字方塊 200">
            <a:extLst>
              <a:ext uri="{FF2B5EF4-FFF2-40B4-BE49-F238E27FC236}">
                <a16:creationId xmlns:a16="http://schemas.microsoft.com/office/drawing/2014/main" id="{7D1AED10-785C-6E21-8850-CB928EBA8EAB}"/>
              </a:ext>
            </a:extLst>
          </p:cNvPr>
          <p:cNvSpPr txBox="1"/>
          <p:nvPr/>
        </p:nvSpPr>
        <p:spPr>
          <a:xfrm>
            <a:off x="2051961" y="227933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 x d</a:t>
            </a:r>
          </a:p>
        </p:txBody>
      </p:sp>
      <p:sp>
        <p:nvSpPr>
          <p:cNvPr id="207" name="矩形 206">
            <a:extLst>
              <a:ext uri="{FF2B5EF4-FFF2-40B4-BE49-F238E27FC236}">
                <a16:creationId xmlns:a16="http://schemas.microsoft.com/office/drawing/2014/main" id="{5F6DDAAA-5410-AB3B-392C-E80BC6D9B041}"/>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472114"/>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zh-TW" altLang="en-US"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550823"/>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699829"/>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454114"/>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455712"/>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Pairwise dimension rotations enable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multi-scale</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 positional sensitivity across long contexts.</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562987"/>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99213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699745"/>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2175738"/>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2175738"/>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934972"/>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934972"/>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735632"/>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sSup>
                        <m:sSupPr>
                          <m:ctrlPr>
                            <a:rPr lang="zh-TW" altLang="en-US" sz="1200" b="0" i="1" smtClean="0">
                              <a:latin typeface="Cambria Math" panose="02040503050406030204" pitchFamily="18" charset="0"/>
                              <a:ea typeface="Cambria Math" panose="02040503050406030204" pitchFamily="18" charset="0"/>
                            </a:rPr>
                          </m:ctrlPr>
                        </m:sSupPr>
                        <m:e>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735632"/>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3140968"/>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solidFill>
                                <a:srgbClr val="FF0000"/>
                              </a:solidFill>
                              <a:latin typeface="Cambria Math" panose="02040503050406030204" pitchFamily="18" charset="0"/>
                            </a:rPr>
                          </m:ctrlPr>
                        </m:dPr>
                        <m:e>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3140968"/>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928993"/>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928993"/>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93518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935189"/>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27652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smtClean="0">
                              <a:solidFill>
                                <a:prstClr val="black"/>
                              </a:solidFill>
                              <a:latin typeface="Cambria Math" panose="02040503050406030204" pitchFamily="18" charset="0"/>
                              <a:ea typeface="Cambria Math" panose="02040503050406030204" pitchFamily="18" charset="0"/>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276529"/>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309320"/>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309320"/>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852593"/>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852593"/>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733256"/>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733256"/>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905361"/>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353798"/>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353798"/>
                <a:ext cx="214997" cy="196235"/>
              </a:xfrm>
              <a:prstGeom prst="rect">
                <a:avLst/>
              </a:prstGeom>
              <a:blipFill>
                <a:blip r:embed="rId14"/>
                <a:stretch>
                  <a:fillRect l="-31429" r="-11429" b="-50000"/>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5097457"/>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4018020"/>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507931"/>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557386"/>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557386"/>
                <a:ext cx="648072" cy="201657"/>
              </a:xfrm>
              <a:prstGeom prst="roundRect">
                <a:avLst/>
              </a:prstGeom>
              <a:blipFill>
                <a:blip r:embed="rId20"/>
                <a:stretch>
                  <a:fillRect l="-3704" b="-5714"/>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339707"/>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1050094"/>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1089456"/>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509287"/>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658215"/>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485153"/>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b="0"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b="0"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485153"/>
                <a:ext cx="1227970" cy="369332"/>
              </a:xfrm>
              <a:prstGeom prst="rect">
                <a:avLst/>
              </a:prstGeom>
              <a:blipFill>
                <a:blip r:embed="rId21"/>
                <a:stretch>
                  <a:fillRect l="-4478" t="-10000" r="-3483" b="-26667"/>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272028"/>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438292"/>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44889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66135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1" y="116632"/>
            <a:ext cx="878497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p>
          <a:p>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Relative Distance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as the Core Variable.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66932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66500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6650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74504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80893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66492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225880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82565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63228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60102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68822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66492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13048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117826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653431" y="1844942"/>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394630"/>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i="1" smtClean="0">
                              <a:latin typeface="Cambria Math" panose="02040503050406030204" pitchFamily="18" charset="0"/>
                            </a:rPr>
                          </m:ctrlPr>
                        </m:dPr>
                        <m:e>
                          <m:sSub>
                            <m:sSubPr>
                              <m:ctrlPr>
                                <a:rPr lang="en-US" altLang="zh-TW" sz="1200" i="1" smtClean="0">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394630"/>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3284984"/>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3284984"/>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4446396"/>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b="0" i="0" smtClean="0">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4446396"/>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584634"/>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zh-TW" altLang="en-US"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584634"/>
                <a:ext cx="4076197" cy="1148622"/>
              </a:xfrm>
              <a:prstGeom prst="rect">
                <a:avLst/>
              </a:prstGeom>
              <a:blipFill>
                <a:blip r:embed="rId7"/>
                <a:stretch>
                  <a:fillRect l="-2242" b="-532"/>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976008"/>
            <a:ext cx="5076564" cy="1477328"/>
          </a:xfrm>
          <a:prstGeom prst="rect">
            <a:avLst/>
          </a:prstGeom>
          <a:noFill/>
        </p:spPr>
        <p:txBody>
          <a:bodyPr wrap="square">
            <a:spAutoFit/>
          </a:bodyPr>
          <a:lstStyle/>
          <a:p>
            <a:pPr>
              <a:lnSpc>
                <a:spcPts val="1800"/>
              </a:lnSpc>
              <a:spcBef>
                <a:spcPts val="600"/>
              </a:spcBef>
              <a:spcAft>
                <a:spcPts val="600"/>
              </a:spcAft>
            </a:pPr>
            <a:r>
              <a:rPr lang="en-US" altLang="zh-TW" sz="2000" b="1" dirty="0"/>
              <a:t>Inference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03648" y="1052736"/>
            <a:ext cx="2834823" cy="3373554"/>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2" name="流程圖: 合併 1">
            <a:extLst>
              <a:ext uri="{FF2B5EF4-FFF2-40B4-BE49-F238E27FC236}">
                <a16:creationId xmlns:a16="http://schemas.microsoft.com/office/drawing/2014/main" id="{CC1B6168-1B69-118F-D463-70DDEEFBFBDB}"/>
              </a:ext>
            </a:extLst>
          </p:cNvPr>
          <p:cNvSpPr/>
          <p:nvPr/>
        </p:nvSpPr>
        <p:spPr>
          <a:xfrm>
            <a:off x="3545220" y="3614719"/>
            <a:ext cx="177215" cy="1966264"/>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extLst>
              <p:ext uri="{D42A27DB-BD31-4B8C-83A1-F6EECF244321}">
                <p14:modId xmlns:p14="http://schemas.microsoft.com/office/powerpoint/2010/main" val="224556503"/>
              </p:ext>
            </p:extLst>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extLst>
              <p:ext uri="{D42A27DB-BD31-4B8C-83A1-F6EECF244321}">
                <p14:modId xmlns:p14="http://schemas.microsoft.com/office/powerpoint/2010/main" val="1059240214"/>
              </p:ext>
            </p:extLst>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extLst>
              <p:ext uri="{D42A27DB-BD31-4B8C-83A1-F6EECF244321}">
                <p14:modId xmlns:p14="http://schemas.microsoft.com/office/powerpoint/2010/main" val="3715509146"/>
              </p:ext>
            </p:extLst>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11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extLst>
              <p:ext uri="{D42A27DB-BD31-4B8C-83A1-F6EECF244321}">
                <p14:modId xmlns:p14="http://schemas.microsoft.com/office/powerpoint/2010/main" val="3977595356"/>
              </p:ext>
            </p:extLst>
          </p:nvPr>
        </p:nvGraphicFramePr>
        <p:xfrm>
          <a:off x="539552" y="2689254"/>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extLst>
              <p:ext uri="{D42A27DB-BD31-4B8C-83A1-F6EECF244321}">
                <p14:modId xmlns:p14="http://schemas.microsoft.com/office/powerpoint/2010/main" val="548296409"/>
              </p:ext>
            </p:extLst>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矩形 9">
            <a:extLst>
              <a:ext uri="{FF2B5EF4-FFF2-40B4-BE49-F238E27FC236}">
                <a16:creationId xmlns:a16="http://schemas.microsoft.com/office/drawing/2014/main" id="{73930B67-3DCF-4F15-8D3D-46CC28AAEDC9}"/>
              </a:ext>
            </a:extLst>
          </p:cNvPr>
          <p:cNvSpPr/>
          <p:nvPr/>
        </p:nvSpPr>
        <p:spPr>
          <a:xfrm>
            <a:off x="539552" y="3356319"/>
            <a:ext cx="469803" cy="216697"/>
          </a:xfrm>
          <a:prstGeom prst="rect">
            <a:avLst/>
          </a:prstGeom>
          <a:solidFill>
            <a:srgbClr val="FF0000">
              <a:alpha val="20000"/>
            </a:srgbClr>
          </a:solid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(2,2)</a:t>
            </a:r>
          </a:p>
        </p:txBody>
      </p:sp>
      <p:cxnSp>
        <p:nvCxnSpPr>
          <p:cNvPr id="21" name="接點: 弧形 20">
            <a:extLst>
              <a:ext uri="{FF2B5EF4-FFF2-40B4-BE49-F238E27FC236}">
                <a16:creationId xmlns:a16="http://schemas.microsoft.com/office/drawing/2014/main" id="{34301705-C84B-C3D0-5E5A-82DF40E8C7FB}"/>
              </a:ext>
            </a:extLst>
          </p:cNvPr>
          <p:cNvCxnSpPr>
            <a:cxnSpLocks/>
            <a:stCxn id="75" idx="3"/>
            <a:endCxn id="10" idx="3"/>
          </p:cNvCxnSpPr>
          <p:nvPr/>
        </p:nvCxnSpPr>
        <p:spPr>
          <a:xfrm>
            <a:off x="1009355" y="3007308"/>
            <a:ext cx="12700" cy="457360"/>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38818" y="4806443"/>
            <a:ext cx="186395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7301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7301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48957" y="4794760"/>
            <a:ext cx="186395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extLst>
              <p:ext uri="{D42A27DB-BD31-4B8C-83A1-F6EECF244321}">
                <p14:modId xmlns:p14="http://schemas.microsoft.com/office/powerpoint/2010/main" val="942274974"/>
              </p:ext>
            </p:extLst>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extLst>
              <p:ext uri="{D42A27DB-BD31-4B8C-83A1-F6EECF244321}">
                <p14:modId xmlns:p14="http://schemas.microsoft.com/office/powerpoint/2010/main" val="3623818084"/>
              </p:ext>
            </p:extLst>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3.6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extLst>
              <p:ext uri="{D42A27DB-BD31-4B8C-83A1-F6EECF244321}">
                <p14:modId xmlns:p14="http://schemas.microsoft.com/office/powerpoint/2010/main" val="347564075"/>
              </p:ext>
            </p:extLst>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extLst>
              <p:ext uri="{D42A27DB-BD31-4B8C-83A1-F6EECF244321}">
                <p14:modId xmlns:p14="http://schemas.microsoft.com/office/powerpoint/2010/main" val="174313573"/>
              </p:ext>
            </p:extLst>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extLst>
              <p:ext uri="{D42A27DB-BD31-4B8C-83A1-F6EECF244321}">
                <p14:modId xmlns:p14="http://schemas.microsoft.com/office/powerpoint/2010/main" val="29541514"/>
              </p:ext>
            </p:extLst>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extLst>
              <p:ext uri="{D42A27DB-BD31-4B8C-83A1-F6EECF244321}">
                <p14:modId xmlns:p14="http://schemas.microsoft.com/office/powerpoint/2010/main" val="946098686"/>
              </p:ext>
            </p:extLst>
          </p:nvPr>
        </p:nvGraphicFramePr>
        <p:xfrm>
          <a:off x="2524651" y="508988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37993" y="122360"/>
            <a:ext cx="403354"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197872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0FF8958A-2EBA-5092-1ED6-12833AB768BC}"/>
              </a:ext>
            </a:extLst>
          </p:cNvPr>
          <p:cNvPicPr>
            <a:picLocks noChangeAspect="1"/>
          </p:cNvPicPr>
          <p:nvPr/>
        </p:nvPicPr>
        <p:blipFill>
          <a:blip r:embed="rId3"/>
          <a:stretch>
            <a:fillRect/>
          </a:stretch>
        </p:blipFill>
        <p:spPr>
          <a:xfrm>
            <a:off x="6084168" y="889505"/>
            <a:ext cx="2667231" cy="1646063"/>
          </a:xfrm>
          <a:prstGeom prst="rect">
            <a:avLst/>
          </a:prstGeom>
          <a:effectLst>
            <a:glow rad="127000">
              <a:schemeClr val="bg1">
                <a:lumMod val="95000"/>
              </a:schemeClr>
            </a:glow>
            <a:softEdge rad="12700"/>
          </a:effectLst>
        </p:spPr>
      </p:pic>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4572508"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 	</a:t>
                </a:r>
                <a14:m>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den>
                    </m:f>
                  </m:oMath>
                </a14:m>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dirty="0"/>
                  <a:t>:	</a:t>
                </a:r>
                <a14:m>
                  <m:oMath xmlns:m="http://schemas.openxmlformats.org/officeDocument/2006/math">
                    <m:r>
                      <a:rPr lang="en-US" altLang="zh-TW" sz="1400" i="1">
                        <a:latin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zh-TW" altLang="en-US" sz="1400" i="1">
                        <a:latin typeface="Cambria Math" panose="02040503050406030204" pitchFamily="18" charset="0"/>
                        <a:ea typeface="Cambria Math" panose="02040503050406030204" pitchFamily="18" charset="0"/>
                      </a:rPr>
                      <m:t>𝜂</m:t>
                    </m:r>
                    <m:r>
                      <a:rPr lang="zh-TW" altLang="en-US" sz="1400" i="1">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oMath>
                </a14:m>
                <a:endParaRPr lang="en-US" altLang="zh-TW" sz="1400" dirty="0"/>
              </a:p>
            </p:txBody>
          </p:sp>
        </mc:Choice>
        <mc:Fallback xmlns="">
          <p:sp>
            <p:nvSpPr>
              <p:cNvPr id="8" name="文字方塊 7">
                <a:extLst>
                  <a:ext uri="{FF2B5EF4-FFF2-40B4-BE49-F238E27FC236}">
                    <a16:creationId xmlns:a16="http://schemas.microsoft.com/office/drawing/2014/main" id="{2F259157-8B53-FCE7-15CD-8D743D237BBF}"/>
                  </a:ext>
                </a:extLst>
              </p:cNvPr>
              <p:cNvSpPr txBox="1">
                <a:spLocks noRot="1" noChangeAspect="1" noMove="1" noResize="1" noEditPoints="1" noAdjustHandles="1" noChangeArrowheads="1" noChangeShapeType="1" noTextEdit="1"/>
              </p:cNvSpPr>
              <p:nvPr/>
            </p:nvSpPr>
            <p:spPr>
              <a:xfrm>
                <a:off x="287524" y="980728"/>
                <a:ext cx="4572508" cy="1092607"/>
              </a:xfrm>
              <a:prstGeom prst="rect">
                <a:avLst/>
              </a:prstGeom>
              <a:blipFill>
                <a:blip r:embed="rId4"/>
                <a:stretch>
                  <a:fillRect l="-1333" t="-9497" b="-670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MoE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21934">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0"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0"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SwiGLU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57216">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b="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r>
                                              <a:rPr lang="cy-GB" altLang="zh-TW" sz="1200" i="1" smtClean="0">
                                                <a:latin typeface="Cambria Math" panose="02040503050406030204" pitchFamily="18" charset="0"/>
                                                <a:ea typeface="Cambria Math" panose="02040503050406030204" pitchFamily="18" charset="0"/>
                                              </a:rPr>
                                              <m:t>ŷ</m:t>
                                            </m:r>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65023">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xmlns="">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26538" t="-94118" b="-583333"/>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164384" r="-376812"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164384" r="-141299"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164384" r="-40972" b="-278767"/>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262585" r="-376812"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262585" r="-141299"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262585" r="-40972" b="-176871"/>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710667" r="-376812"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710667" r="-141299"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710667" r="-40972" b="-246667"/>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552727" r="-376812"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552727" r="-141299"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552727" r="-40972" b="-68182"/>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3503" t="-552727" b="-68182"/>
                          </a:stretch>
                        </a:blipFill>
                      </a:tcPr>
                    </a:tc>
                    <a:extLst>
                      <a:ext uri="{0D108BD9-81ED-4DB2-BD59-A6C34878D82A}">
                        <a16:rowId xmlns:a16="http://schemas.microsoft.com/office/drawing/2014/main" val="1341340391"/>
                      </a:ext>
                    </a:extLst>
                  </a:tr>
                  <a:tr h="365760">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p:sp>
        <p:nvSpPr>
          <p:cNvPr id="5" name="標題 1">
            <a:extLst>
              <a:ext uri="{FF2B5EF4-FFF2-40B4-BE49-F238E27FC236}">
                <a16:creationId xmlns:a16="http://schemas.microsoft.com/office/drawing/2014/main" id="{1B035E0B-32D5-59ED-6997-9338A230FFFA}"/>
              </a:ext>
            </a:extLst>
          </p:cNvPr>
          <p:cNvSpPr txBox="1">
            <a:spLocks/>
          </p:cNvSpPr>
          <p:nvPr/>
        </p:nvSpPr>
        <p:spPr>
          <a:xfrm>
            <a:off x="179512" y="116632"/>
            <a:ext cx="6120680"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Multi-Layer Perceptron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MLP applies backpropagation to resolve intricate, non-linear problems.</a:t>
            </a:r>
          </a:p>
        </p:txBody>
      </p:sp>
    </p:spTree>
    <p:extLst>
      <p:ext uri="{BB962C8B-B14F-4D97-AF65-F5344CB8AC3E}">
        <p14:creationId xmlns:p14="http://schemas.microsoft.com/office/powerpoint/2010/main" val="150382875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ReLU</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pPr algn="ctr"/>
                          <a14:m>
                            <m:oMathPara xmlns:m="http://schemas.openxmlformats.org/officeDocument/2006/math">
                              <m:o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m:oMathPara>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mn-ea"/>
                              <a:cs typeface="ADLaM Display" panose="02010000000000000000" pitchFamily="2" charset="0"/>
                            </a:rPr>
                            <a:t> w - </a:t>
                          </a:r>
                          <a14:m>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14:m>
                            <m:oMathPara xmlns:m="http://schemas.openxmlformats.org/officeDocument/2006/math">
                              <m:oMath>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𝑖</m:t>
                                    </m:r>
                                  </m:sub>
                                </m:sSub>
                                <m: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𝑡</m:t>
                                        </m:r>
                                      </m:sub>
                                    </m:sSub>
                                  </m:e>
                                </m:d>
                              </m:oMath>
                            </m:oMathPara>
                          </a14:m>
                          <a:endParaRPr lang="zh-TW" altLang="en-US" dirty="0"/>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Choice>
        <mc:Fallback xmlns="">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647328" r="-124427" b="-538947"/>
                          </a:stretch>
                        </a:blipFill>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836752" r="-39316" b="-538947"/>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436709" t="-97917" r="-186076" b="-1066667"/>
                          </a:stretch>
                        </a:blip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Fallback>
      </mc:AlternateContent>
      <p:sp>
        <p:nvSpPr>
          <p:cNvPr id="6" name="標題 1">
            <a:extLst>
              <a:ext uri="{FF2B5EF4-FFF2-40B4-BE49-F238E27FC236}">
                <a16:creationId xmlns:a16="http://schemas.microsoft.com/office/drawing/2014/main" id="{A39F0E86-405A-5B2E-22E4-96BE278CF5B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Backpropagation is determined by the learning rate, input value and error term.</a:t>
            </a:r>
          </a:p>
        </p:txBody>
      </p:sp>
      <p:grpSp>
        <p:nvGrpSpPr>
          <p:cNvPr id="83" name="群組 82">
            <a:extLst>
              <a:ext uri="{FF2B5EF4-FFF2-40B4-BE49-F238E27FC236}">
                <a16:creationId xmlns:a16="http://schemas.microsoft.com/office/drawing/2014/main" id="{7399C8D1-E539-07B0-9E49-70916F21C3EB}"/>
              </a:ext>
            </a:extLst>
          </p:cNvPr>
          <p:cNvGrpSpPr/>
          <p:nvPr/>
        </p:nvGrpSpPr>
        <p:grpSpPr>
          <a:xfrm>
            <a:off x="7237101" y="2225824"/>
            <a:ext cx="1655379" cy="2098840"/>
            <a:chOff x="1688275" y="3861048"/>
            <a:chExt cx="1655379" cy="2098840"/>
          </a:xfrm>
        </p:grpSpPr>
        <p:grpSp>
          <p:nvGrpSpPr>
            <p:cNvPr id="82" name="群組 81">
              <a:extLst>
                <a:ext uri="{FF2B5EF4-FFF2-40B4-BE49-F238E27FC236}">
                  <a16:creationId xmlns:a16="http://schemas.microsoft.com/office/drawing/2014/main" id="{C4566A2E-254A-E44B-6576-C9CBB9F5A2B2}"/>
                </a:ext>
              </a:extLst>
            </p:cNvPr>
            <p:cNvGrpSpPr/>
            <p:nvPr/>
          </p:nvGrpSpPr>
          <p:grpSpPr>
            <a:xfrm>
              <a:off x="1870516" y="4210480"/>
              <a:ext cx="1473138" cy="1749408"/>
              <a:chOff x="1870516" y="4210480"/>
              <a:chExt cx="1473138" cy="1749408"/>
            </a:xfrm>
          </p:grpSpPr>
          <p:cxnSp>
            <p:nvCxnSpPr>
              <p:cNvPr id="79" name="直線單箭頭接點 78">
                <a:extLst>
                  <a:ext uri="{FF2B5EF4-FFF2-40B4-BE49-F238E27FC236}">
                    <a16:creationId xmlns:a16="http://schemas.microsoft.com/office/drawing/2014/main" id="{4C458C22-7F44-3DFD-A235-1704F25074B6}"/>
                  </a:ext>
                </a:extLst>
              </p:cNvPr>
              <p:cNvCxnSpPr>
                <a:cxnSpLocks/>
              </p:cNvCxnSpPr>
              <p:nvPr/>
            </p:nvCxnSpPr>
            <p:spPr>
              <a:xfrm flipV="1">
                <a:off x="2488505"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80" name="直線單箭頭接點 79">
                <a:extLst>
                  <a:ext uri="{FF2B5EF4-FFF2-40B4-BE49-F238E27FC236}">
                    <a16:creationId xmlns:a16="http://schemas.microsoft.com/office/drawing/2014/main" id="{E4FAE3A0-FC36-1DC5-47BB-B5058FF44380}"/>
                  </a:ext>
                </a:extLst>
              </p:cNvPr>
              <p:cNvCxnSpPr>
                <a:cxnSpLocks/>
              </p:cNvCxnSpPr>
              <p:nvPr/>
            </p:nvCxnSpPr>
            <p:spPr>
              <a:xfrm flipV="1">
                <a:off x="2843808"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4" name="直線單箭頭接點 3">
                <a:extLst>
                  <a:ext uri="{FF2B5EF4-FFF2-40B4-BE49-F238E27FC236}">
                    <a16:creationId xmlns:a16="http://schemas.microsoft.com/office/drawing/2014/main" id="{FF245A57-6C06-7DCB-67BA-353FA74DD111}"/>
                  </a:ext>
                </a:extLst>
              </p:cNvPr>
              <p:cNvCxnSpPr>
                <a:cxnSpLocks/>
              </p:cNvCxnSpPr>
              <p:nvPr/>
            </p:nvCxnSpPr>
            <p:spPr>
              <a:xfrm>
                <a:off x="1870516" y="5535078"/>
                <a:ext cx="1473138" cy="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5E230712-53E3-212F-209B-660328FDB890}"/>
                  </a:ext>
                </a:extLst>
              </p:cNvPr>
              <p:cNvCxnSpPr>
                <a:cxnSpLocks/>
              </p:cNvCxnSpPr>
              <p:nvPr/>
            </p:nvCxnSpPr>
            <p:spPr>
              <a:xfrm flipV="1">
                <a:off x="2051720" y="4221088"/>
                <a:ext cx="0" cy="173880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grpSp>
        <p:grpSp>
          <p:nvGrpSpPr>
            <p:cNvPr id="24" name="群組 23">
              <a:extLst>
                <a:ext uri="{FF2B5EF4-FFF2-40B4-BE49-F238E27FC236}">
                  <a16:creationId xmlns:a16="http://schemas.microsoft.com/office/drawing/2014/main" id="{9CD92A01-1942-9E37-BA34-71DDF77B67D4}"/>
                </a:ext>
              </a:extLst>
            </p:cNvPr>
            <p:cNvGrpSpPr/>
            <p:nvPr/>
          </p:nvGrpSpPr>
          <p:grpSpPr>
            <a:xfrm>
              <a:off x="1691680" y="5032226"/>
              <a:ext cx="1579966" cy="324145"/>
              <a:chOff x="1687320" y="4254766"/>
              <a:chExt cx="1579966" cy="324145"/>
            </a:xfrm>
          </p:grpSpPr>
          <p:cxnSp>
            <p:nvCxnSpPr>
              <p:cNvPr id="10" name="直線接點 9">
                <a:extLst>
                  <a:ext uri="{FF2B5EF4-FFF2-40B4-BE49-F238E27FC236}">
                    <a16:creationId xmlns:a16="http://schemas.microsoft.com/office/drawing/2014/main" id="{22CCF3E6-AE7A-A29D-FF65-AF3020C08A99}"/>
                  </a:ext>
                </a:extLst>
              </p:cNvPr>
              <p:cNvCxnSpPr>
                <a:cxnSpLocks/>
                <a:stCxn id="15" idx="3"/>
                <a:endCxn id="17" idx="2"/>
              </p:cNvCxnSpPr>
              <p:nvPr/>
            </p:nvCxnSpPr>
            <p:spPr>
              <a:xfrm flipV="1">
                <a:off x="2047360" y="4398782"/>
                <a:ext cx="376640" cy="108121"/>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3" name="直線接點 12">
                <a:extLst>
                  <a:ext uri="{FF2B5EF4-FFF2-40B4-BE49-F238E27FC236}">
                    <a16:creationId xmlns:a16="http://schemas.microsoft.com/office/drawing/2014/main" id="{86E9DEDA-83AC-61A5-02F7-83AB0CE03CBD}"/>
                  </a:ext>
                </a:extLst>
              </p:cNvPr>
              <p:cNvCxnSpPr>
                <a:cxnSpLocks/>
                <a:stCxn id="17" idx="2"/>
                <a:endCxn id="21" idx="1"/>
              </p:cNvCxnSpPr>
              <p:nvPr/>
            </p:nvCxnSpPr>
            <p:spPr>
              <a:xfrm flipV="1">
                <a:off x="2424000" y="4333654"/>
                <a:ext cx="483246" cy="6512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5" name="矩形 14">
                <a:extLst>
                  <a:ext uri="{FF2B5EF4-FFF2-40B4-BE49-F238E27FC236}">
                    <a16:creationId xmlns:a16="http://schemas.microsoft.com/office/drawing/2014/main" id="{7AFBB2D3-74D8-5146-994A-33582D351F3D}"/>
                  </a:ext>
                </a:extLst>
              </p:cNvPr>
              <p:cNvSpPr/>
              <p:nvPr/>
            </p:nvSpPr>
            <p:spPr>
              <a:xfrm>
                <a:off x="1687320" y="4434895"/>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17" name="矩形 16">
                <a:extLst>
                  <a:ext uri="{FF2B5EF4-FFF2-40B4-BE49-F238E27FC236}">
                    <a16:creationId xmlns:a16="http://schemas.microsoft.com/office/drawing/2014/main" id="{5CD462E4-E129-7286-0FF2-3216E00749BE}"/>
                  </a:ext>
                </a:extLst>
              </p:cNvPr>
              <p:cNvSpPr/>
              <p:nvPr/>
            </p:nvSpPr>
            <p:spPr>
              <a:xfrm>
                <a:off x="2243980" y="425476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1.68</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1" name="矩形 20">
                <a:extLst>
                  <a:ext uri="{FF2B5EF4-FFF2-40B4-BE49-F238E27FC236}">
                    <a16:creationId xmlns:a16="http://schemas.microsoft.com/office/drawing/2014/main" id="{558F1E6E-9ED1-93C9-E374-CDA9F16CD020}"/>
                  </a:ext>
                </a:extLst>
              </p:cNvPr>
              <p:cNvSpPr/>
              <p:nvPr/>
            </p:nvSpPr>
            <p:spPr>
              <a:xfrm>
                <a:off x="2907246" y="426164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1.8</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25" name="群組 24">
              <a:extLst>
                <a:ext uri="{FF2B5EF4-FFF2-40B4-BE49-F238E27FC236}">
                  <a16:creationId xmlns:a16="http://schemas.microsoft.com/office/drawing/2014/main" id="{7C13D5C0-BFB9-1D18-36C6-348700006227}"/>
                </a:ext>
              </a:extLst>
            </p:cNvPr>
            <p:cNvGrpSpPr/>
            <p:nvPr/>
          </p:nvGrpSpPr>
          <p:grpSpPr>
            <a:xfrm>
              <a:off x="1688275" y="5464274"/>
              <a:ext cx="1515573" cy="263649"/>
              <a:chOff x="1671675" y="4436066"/>
              <a:chExt cx="1515573" cy="263649"/>
            </a:xfrm>
          </p:grpSpPr>
          <p:cxnSp>
            <p:nvCxnSpPr>
              <p:cNvPr id="26" name="直線接點 25">
                <a:extLst>
                  <a:ext uri="{FF2B5EF4-FFF2-40B4-BE49-F238E27FC236}">
                    <a16:creationId xmlns:a16="http://schemas.microsoft.com/office/drawing/2014/main" id="{D88D271C-3172-0C9E-0EC4-2AD331C3BCC8}"/>
                  </a:ext>
                </a:extLst>
              </p:cNvPr>
              <p:cNvCxnSpPr>
                <a:cxnSpLocks/>
                <a:stCxn id="28" idx="3"/>
                <a:endCxn id="29" idx="2"/>
              </p:cNvCxnSpPr>
              <p:nvPr/>
            </p:nvCxnSpPr>
            <p:spPr>
              <a:xfrm flipV="1">
                <a:off x="2031715" y="4580082"/>
                <a:ext cx="392285" cy="47625"/>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7" name="直線接點 26">
                <a:extLst>
                  <a:ext uri="{FF2B5EF4-FFF2-40B4-BE49-F238E27FC236}">
                    <a16:creationId xmlns:a16="http://schemas.microsoft.com/office/drawing/2014/main" id="{3C5298CE-67B6-1280-AF80-714130206165}"/>
                  </a:ext>
                </a:extLst>
              </p:cNvPr>
              <p:cNvCxnSpPr>
                <a:cxnSpLocks/>
                <a:stCxn id="29" idx="2"/>
                <a:endCxn id="30" idx="1"/>
              </p:cNvCxnSpPr>
              <p:nvPr/>
            </p:nvCxnSpPr>
            <p:spPr>
              <a:xfrm flipV="1">
                <a:off x="2424000" y="4543529"/>
                <a:ext cx="403208" cy="3655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7B87B2C9-9B78-7946-6A9B-004A8794A5E4}"/>
                  </a:ext>
                </a:extLst>
              </p:cNvPr>
              <p:cNvSpPr/>
              <p:nvPr/>
            </p:nvSpPr>
            <p:spPr>
              <a:xfrm>
                <a:off x="1671675" y="4555699"/>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9" name="矩形 28">
                <a:extLst>
                  <a:ext uri="{FF2B5EF4-FFF2-40B4-BE49-F238E27FC236}">
                    <a16:creationId xmlns:a16="http://schemas.microsoft.com/office/drawing/2014/main" id="{1C157F29-5377-69B4-BB4C-C2DC5FF7F856}"/>
                  </a:ext>
                </a:extLst>
              </p:cNvPr>
              <p:cNvSpPr/>
              <p:nvPr/>
            </p:nvSpPr>
            <p:spPr>
              <a:xfrm>
                <a:off x="2243980" y="4436066"/>
                <a:ext cx="360040" cy="144016"/>
              </a:xfrm>
              <a:prstGeom prst="rect">
                <a:avLst/>
              </a:prstGeom>
              <a:solidFill>
                <a:schemeClr val="bg1">
                  <a:alpha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-0.23</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0" name="矩形 29">
                <a:extLst>
                  <a:ext uri="{FF2B5EF4-FFF2-40B4-BE49-F238E27FC236}">
                    <a16:creationId xmlns:a16="http://schemas.microsoft.com/office/drawing/2014/main" id="{A3263872-30EA-A867-D431-25E37983669F}"/>
                  </a:ext>
                </a:extLst>
              </p:cNvPr>
              <p:cNvSpPr/>
              <p:nvPr/>
            </p:nvSpPr>
            <p:spPr>
              <a:xfrm>
                <a:off x="2827208" y="447152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-0.05</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31" name="群組 30">
              <a:extLst>
                <a:ext uri="{FF2B5EF4-FFF2-40B4-BE49-F238E27FC236}">
                  <a16:creationId xmlns:a16="http://schemas.microsoft.com/office/drawing/2014/main" id="{1332AD67-294A-A8E6-1176-03B79D0A9AE6}"/>
                </a:ext>
              </a:extLst>
            </p:cNvPr>
            <p:cNvGrpSpPr/>
            <p:nvPr/>
          </p:nvGrpSpPr>
          <p:grpSpPr>
            <a:xfrm>
              <a:off x="1691680" y="5589240"/>
              <a:ext cx="1473360" cy="259457"/>
              <a:chOff x="1681200" y="4413450"/>
              <a:chExt cx="1473360" cy="259457"/>
            </a:xfrm>
          </p:grpSpPr>
          <p:cxnSp>
            <p:nvCxnSpPr>
              <p:cNvPr id="32" name="直線接點 31">
                <a:extLst>
                  <a:ext uri="{FF2B5EF4-FFF2-40B4-BE49-F238E27FC236}">
                    <a16:creationId xmlns:a16="http://schemas.microsoft.com/office/drawing/2014/main" id="{FD641E71-B7C6-D1EC-535F-DC522D98B380}"/>
                  </a:ext>
                </a:extLst>
              </p:cNvPr>
              <p:cNvCxnSpPr>
                <a:cxnSpLocks/>
                <a:stCxn id="34" idx="3"/>
                <a:endCxn id="35" idx="0"/>
              </p:cNvCxnSpPr>
              <p:nvPr/>
            </p:nvCxnSpPr>
            <p:spPr>
              <a:xfrm flipV="1">
                <a:off x="2041240" y="4500316"/>
                <a:ext cx="382760" cy="10058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接點 32">
                <a:extLst>
                  <a:ext uri="{FF2B5EF4-FFF2-40B4-BE49-F238E27FC236}">
                    <a16:creationId xmlns:a16="http://schemas.microsoft.com/office/drawing/2014/main" id="{AEB5CDA9-16E5-7313-249E-C500C1AC7A6B}"/>
                  </a:ext>
                </a:extLst>
              </p:cNvPr>
              <p:cNvCxnSpPr>
                <a:cxnSpLocks/>
                <a:stCxn id="35" idx="0"/>
                <a:endCxn id="36" idx="1"/>
              </p:cNvCxnSpPr>
              <p:nvPr/>
            </p:nvCxnSpPr>
            <p:spPr>
              <a:xfrm flipV="1">
                <a:off x="2424000" y="4485458"/>
                <a:ext cx="370520" cy="1485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0592B772-0B5D-2B66-BBE7-3A19FDB45343}"/>
                  </a:ext>
                </a:extLst>
              </p:cNvPr>
              <p:cNvSpPr/>
              <p:nvPr/>
            </p:nvSpPr>
            <p:spPr>
              <a:xfrm>
                <a:off x="1681200" y="452889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5" name="矩形 34">
                <a:extLst>
                  <a:ext uri="{FF2B5EF4-FFF2-40B4-BE49-F238E27FC236}">
                    <a16:creationId xmlns:a16="http://schemas.microsoft.com/office/drawing/2014/main" id="{E7AF7280-36D6-14C9-0A6C-54D50A89EA7E}"/>
                  </a:ext>
                </a:extLst>
              </p:cNvPr>
              <p:cNvSpPr/>
              <p:nvPr/>
            </p:nvSpPr>
            <p:spPr>
              <a:xfrm>
                <a:off x="2243980" y="450031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-0.59</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6" name="矩形 35">
                <a:extLst>
                  <a:ext uri="{FF2B5EF4-FFF2-40B4-BE49-F238E27FC236}">
                    <a16:creationId xmlns:a16="http://schemas.microsoft.com/office/drawing/2014/main" id="{CF31F6D1-1380-6E69-DD25-A8FFBF38CDDE}"/>
                  </a:ext>
                </a:extLst>
              </p:cNvPr>
              <p:cNvSpPr/>
              <p:nvPr/>
            </p:nvSpPr>
            <p:spPr>
              <a:xfrm>
                <a:off x="2794520" y="4413450"/>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-0.53</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66" name="群組 65">
              <a:extLst>
                <a:ext uri="{FF2B5EF4-FFF2-40B4-BE49-F238E27FC236}">
                  <a16:creationId xmlns:a16="http://schemas.microsoft.com/office/drawing/2014/main" id="{F74A8E59-D52B-271D-96C5-ACD6361D4D10}"/>
                </a:ext>
              </a:extLst>
            </p:cNvPr>
            <p:cNvGrpSpPr/>
            <p:nvPr/>
          </p:nvGrpSpPr>
          <p:grpSpPr>
            <a:xfrm>
              <a:off x="2267743" y="3861048"/>
              <a:ext cx="719727" cy="1511944"/>
              <a:chOff x="2196943" y="3838240"/>
              <a:chExt cx="787973" cy="930107"/>
            </a:xfrm>
          </p:grpSpPr>
          <p:cxnSp>
            <p:nvCxnSpPr>
              <p:cNvPr id="67" name="直線接點 66">
                <a:extLst>
                  <a:ext uri="{FF2B5EF4-FFF2-40B4-BE49-F238E27FC236}">
                    <a16:creationId xmlns:a16="http://schemas.microsoft.com/office/drawing/2014/main" id="{383999A8-90E7-A469-4A31-8FC89F92825E}"/>
                  </a:ext>
                </a:extLst>
              </p:cNvPr>
              <p:cNvCxnSpPr>
                <a:cxnSpLocks/>
                <a:stCxn id="69" idx="2"/>
                <a:endCxn id="70" idx="2"/>
              </p:cNvCxnSpPr>
              <p:nvPr/>
            </p:nvCxnSpPr>
            <p:spPr>
              <a:xfrm>
                <a:off x="2304668" y="3982256"/>
                <a:ext cx="119332" cy="387554"/>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4B6ACD45-D925-A83F-BE8A-50760D35B843}"/>
                  </a:ext>
                </a:extLst>
              </p:cNvPr>
              <p:cNvCxnSpPr>
                <a:cxnSpLocks/>
                <a:stCxn id="70" idx="2"/>
                <a:endCxn id="71" idx="2"/>
              </p:cNvCxnSpPr>
              <p:nvPr/>
            </p:nvCxnSpPr>
            <p:spPr>
              <a:xfrm>
                <a:off x="2424000" y="4369810"/>
                <a:ext cx="380896" cy="398537"/>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9" name="矩形 68">
                <a:extLst>
                  <a:ext uri="{FF2B5EF4-FFF2-40B4-BE49-F238E27FC236}">
                    <a16:creationId xmlns:a16="http://schemas.microsoft.com/office/drawing/2014/main" id="{704DE2D3-1415-0AFE-9EE5-287061A393DE}"/>
                  </a:ext>
                </a:extLst>
              </p:cNvPr>
              <p:cNvSpPr/>
              <p:nvPr/>
            </p:nvSpPr>
            <p:spPr>
              <a:xfrm>
                <a:off x="2196943" y="3838240"/>
                <a:ext cx="21545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10</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0" name="矩形 69">
                <a:extLst>
                  <a:ext uri="{FF2B5EF4-FFF2-40B4-BE49-F238E27FC236}">
                    <a16:creationId xmlns:a16="http://schemas.microsoft.com/office/drawing/2014/main" id="{60383F97-3D3A-42DF-715E-6121EC2E707E}"/>
                  </a:ext>
                </a:extLst>
              </p:cNvPr>
              <p:cNvSpPr/>
              <p:nvPr/>
            </p:nvSpPr>
            <p:spPr>
              <a:xfrm>
                <a:off x="2243980" y="4225794"/>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4.3</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1" name="矩形 70">
                <a:extLst>
                  <a:ext uri="{FF2B5EF4-FFF2-40B4-BE49-F238E27FC236}">
                    <a16:creationId xmlns:a16="http://schemas.microsoft.com/office/drawing/2014/main" id="{E1F27AD9-0449-E8E7-2B83-38DBFEECBDA6}"/>
                  </a:ext>
                </a:extLst>
              </p:cNvPr>
              <p:cNvSpPr/>
              <p:nvPr/>
            </p:nvSpPr>
            <p:spPr>
              <a:xfrm>
                <a:off x="2624876" y="462433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1.1</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grpSp>
      </p:grpSp>
      <p:sp>
        <p:nvSpPr>
          <p:cNvPr id="136" name="文字方塊 135">
            <a:extLst>
              <a:ext uri="{FF2B5EF4-FFF2-40B4-BE49-F238E27FC236}">
                <a16:creationId xmlns:a16="http://schemas.microsoft.com/office/drawing/2014/main" id="{388AF234-2239-DC34-360E-2DF0EE082028}"/>
              </a:ext>
            </a:extLst>
          </p:cNvPr>
          <p:cNvSpPr txBox="1"/>
          <p:nvPr/>
        </p:nvSpPr>
        <p:spPr>
          <a:xfrm>
            <a:off x="287523" y="5360729"/>
            <a:ext cx="7323289" cy="1092607"/>
          </a:xfrm>
          <a:prstGeom prst="rect">
            <a:avLst/>
          </a:prstGeom>
          <a:noFill/>
        </p:spPr>
        <p:txBody>
          <a:bodyPr wrap="square">
            <a:spAutoFit/>
          </a:bodyPr>
          <a:lstStyle/>
          <a:p>
            <a:pPr>
              <a:lnSpc>
                <a:spcPts val="1800"/>
              </a:lnSpc>
              <a:spcBef>
                <a:spcPts val="600"/>
              </a:spcBef>
              <a:spcAft>
                <a:spcPts val="600"/>
              </a:spcAft>
            </a:pPr>
            <a:r>
              <a:rPr lang="en-US" altLang="zh-TW" sz="2000" b="1" dirty="0"/>
              <a:t>Why must we </a:t>
            </a:r>
            <a:r>
              <a:rPr lang="en-US" altLang="zh-TW" sz="2000" b="1" dirty="0">
                <a:solidFill>
                  <a:schemeClr val="accent6">
                    <a:lumMod val="75000"/>
                  </a:schemeClr>
                </a:solidFill>
              </a:rPr>
              <a:t>normalize</a:t>
            </a:r>
            <a:r>
              <a:rPr lang="en-US" altLang="zh-TW" sz="2000" b="1" dirty="0"/>
              <a:t> input?</a:t>
            </a: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Local Gradient</a:t>
            </a:r>
            <a:r>
              <a:rPr lang="en-US" altLang="zh-TW" sz="1600" dirty="0"/>
              <a:t>: Driving by input (x), not the weight value (w). </a:t>
            </a:r>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Error Amplification</a:t>
            </a:r>
            <a:r>
              <a:rPr lang="en-US" altLang="zh-TW" sz="1600" dirty="0"/>
              <a:t>:	 Large weights push more blame backward to previous layers.</a:t>
            </a:r>
          </a:p>
        </p:txBody>
      </p:sp>
      <p:grpSp>
        <p:nvGrpSpPr>
          <p:cNvPr id="2" name="群組 1">
            <a:extLst>
              <a:ext uri="{FF2B5EF4-FFF2-40B4-BE49-F238E27FC236}">
                <a16:creationId xmlns:a16="http://schemas.microsoft.com/office/drawing/2014/main" id="{1D64B100-2E30-3271-668F-C20F26FAF782}"/>
              </a:ext>
            </a:extLst>
          </p:cNvPr>
          <p:cNvGrpSpPr/>
          <p:nvPr/>
        </p:nvGrpSpPr>
        <p:grpSpPr>
          <a:xfrm>
            <a:off x="1534368" y="1891714"/>
            <a:ext cx="5653502" cy="3146580"/>
            <a:chOff x="1534368" y="1891714"/>
            <a:chExt cx="5653502" cy="3146580"/>
          </a:xfrm>
        </p:grpSpPr>
        <p:sp>
          <p:nvSpPr>
            <p:cNvPr id="85" name="矩形 84">
              <a:extLst>
                <a:ext uri="{FF2B5EF4-FFF2-40B4-BE49-F238E27FC236}">
                  <a16:creationId xmlns:a16="http://schemas.microsoft.com/office/drawing/2014/main" id="{B4007E10-EBE6-426F-0B1C-A491696B0EF8}"/>
                </a:ext>
              </a:extLst>
            </p:cNvPr>
            <p:cNvSpPr/>
            <p:nvPr/>
          </p:nvSpPr>
          <p:spPr>
            <a:xfrm>
              <a:off x="6372200" y="1975385"/>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90" name="矩形 89">
              <a:extLst>
                <a:ext uri="{FF2B5EF4-FFF2-40B4-BE49-F238E27FC236}">
                  <a16:creationId xmlns:a16="http://schemas.microsoft.com/office/drawing/2014/main" id="{6CD609B9-5B43-4796-420B-A8E7CFC3C858}"/>
                </a:ext>
              </a:extLst>
            </p:cNvPr>
            <p:cNvSpPr/>
            <p:nvPr/>
          </p:nvSpPr>
          <p:spPr>
            <a:xfrm>
              <a:off x="1534369" y="2879312"/>
              <a:ext cx="661367" cy="661706"/>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91" name="接點: 肘形 90">
              <a:extLst>
                <a:ext uri="{FF2B5EF4-FFF2-40B4-BE49-F238E27FC236}">
                  <a16:creationId xmlns:a16="http://schemas.microsoft.com/office/drawing/2014/main" id="{80F4ED5D-B083-C928-CDAF-C3B22A2CD31E}"/>
                </a:ext>
              </a:extLst>
            </p:cNvPr>
            <p:cNvCxnSpPr>
              <a:cxnSpLocks/>
              <a:stCxn id="85" idx="2"/>
              <a:endCxn id="90" idx="0"/>
            </p:cNvCxnSpPr>
            <p:nvPr/>
          </p:nvCxnSpPr>
          <p:spPr>
            <a:xfrm rot="5400000">
              <a:off x="4197857" y="299097"/>
              <a:ext cx="247412" cy="4913019"/>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05" name="矩形 104">
              <a:extLst>
                <a:ext uri="{FF2B5EF4-FFF2-40B4-BE49-F238E27FC236}">
                  <a16:creationId xmlns:a16="http://schemas.microsoft.com/office/drawing/2014/main" id="{12368C4E-5520-9E0A-DF10-92943D542206}"/>
                </a:ext>
              </a:extLst>
            </p:cNvPr>
            <p:cNvSpPr/>
            <p:nvPr/>
          </p:nvSpPr>
          <p:spPr>
            <a:xfrm>
              <a:off x="1534368" y="3856735"/>
              <a:ext cx="661367"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13" name="矩形 112">
              <a:extLst>
                <a:ext uri="{FF2B5EF4-FFF2-40B4-BE49-F238E27FC236}">
                  <a16:creationId xmlns:a16="http://schemas.microsoft.com/office/drawing/2014/main" id="{DF2E163F-10AA-854F-A9A9-B942B500958F}"/>
                </a:ext>
              </a:extLst>
            </p:cNvPr>
            <p:cNvSpPr/>
            <p:nvPr/>
          </p:nvSpPr>
          <p:spPr>
            <a:xfrm>
              <a:off x="6376126" y="2884502"/>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14" name="接點: 肘形 113">
              <a:extLst>
                <a:ext uri="{FF2B5EF4-FFF2-40B4-BE49-F238E27FC236}">
                  <a16:creationId xmlns:a16="http://schemas.microsoft.com/office/drawing/2014/main" id="{ACD81FD0-4700-B89A-3E5A-E0320D607A2C}"/>
                </a:ext>
              </a:extLst>
            </p:cNvPr>
            <p:cNvCxnSpPr>
              <a:cxnSpLocks/>
              <a:stCxn id="113" idx="2"/>
              <a:endCxn id="105" idx="0"/>
            </p:cNvCxnSpPr>
            <p:nvPr/>
          </p:nvCxnSpPr>
          <p:spPr>
            <a:xfrm rot="5400000">
              <a:off x="4165666" y="1240403"/>
              <a:ext cx="315718" cy="4916946"/>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19" name="矩形 118">
              <a:extLst>
                <a:ext uri="{FF2B5EF4-FFF2-40B4-BE49-F238E27FC236}">
                  <a16:creationId xmlns:a16="http://schemas.microsoft.com/office/drawing/2014/main" id="{C4DEB458-CBE9-6747-CD5A-BEADD6693165}"/>
                </a:ext>
              </a:extLst>
            </p:cNvPr>
            <p:cNvSpPr/>
            <p:nvPr/>
          </p:nvSpPr>
          <p:spPr>
            <a:xfrm>
              <a:off x="6376126" y="3856735"/>
              <a:ext cx="807818"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20" name="接點: 肘形 119">
              <a:extLst>
                <a:ext uri="{FF2B5EF4-FFF2-40B4-BE49-F238E27FC236}">
                  <a16:creationId xmlns:a16="http://schemas.microsoft.com/office/drawing/2014/main" id="{FE29745A-9102-4E5E-A4F0-1539A62BAD12}"/>
                </a:ext>
              </a:extLst>
            </p:cNvPr>
            <p:cNvCxnSpPr>
              <a:cxnSpLocks/>
              <a:stCxn id="119" idx="2"/>
            </p:cNvCxnSpPr>
            <p:nvPr/>
          </p:nvCxnSpPr>
          <p:spPr>
            <a:xfrm rot="5400000">
              <a:off x="6512876" y="4498654"/>
              <a:ext cx="210230" cy="324088"/>
            </a:xfrm>
            <a:prstGeom prst="bentConnector2">
              <a:avLst/>
            </a:prstGeom>
            <a:ln w="19050">
              <a:solidFill>
                <a:schemeClr val="accent2">
                  <a:lumMod val="60000"/>
                  <a:lumOff val="40000"/>
                </a:schemeClr>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39" name="語音泡泡: 圓角矩形 138">
              <a:extLst>
                <a:ext uri="{FF2B5EF4-FFF2-40B4-BE49-F238E27FC236}">
                  <a16:creationId xmlns:a16="http://schemas.microsoft.com/office/drawing/2014/main" id="{D1F42533-73DB-57E0-AF01-D7B592868FD3}"/>
                </a:ext>
              </a:extLst>
            </p:cNvPr>
            <p:cNvSpPr/>
            <p:nvPr/>
          </p:nvSpPr>
          <p:spPr>
            <a:xfrm>
              <a:off x="4268897" y="4653136"/>
              <a:ext cx="807159" cy="385158"/>
            </a:xfrm>
            <a:prstGeom prst="wedgeRoundRectCallout">
              <a:avLst>
                <a:gd name="adj1" fmla="val 23189"/>
                <a:gd name="adj2" fmla="val -91676"/>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sp>
          <p:nvSpPr>
            <p:cNvPr id="142" name="語音泡泡: 圓角矩形 141">
              <a:extLst>
                <a:ext uri="{FF2B5EF4-FFF2-40B4-BE49-F238E27FC236}">
                  <a16:creationId xmlns:a16="http://schemas.microsoft.com/office/drawing/2014/main" id="{EC7B9D75-BCBF-1657-3C50-796DE3E4E306}"/>
                </a:ext>
              </a:extLst>
            </p:cNvPr>
            <p:cNvSpPr/>
            <p:nvPr/>
          </p:nvSpPr>
          <p:spPr>
            <a:xfrm>
              <a:off x="5220072" y="4653136"/>
              <a:ext cx="807159" cy="385158"/>
            </a:xfrm>
            <a:prstGeom prst="wedgeRoundRectCallout">
              <a:avLst>
                <a:gd name="adj1" fmla="val -21182"/>
                <a:gd name="adj2" fmla="val -95633"/>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Global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cxnSp>
          <p:nvCxnSpPr>
            <p:cNvPr id="8" name="接點: 弧形 7">
              <a:extLst>
                <a:ext uri="{FF2B5EF4-FFF2-40B4-BE49-F238E27FC236}">
                  <a16:creationId xmlns:a16="http://schemas.microsoft.com/office/drawing/2014/main" id="{AAE85CC9-64E7-F678-B3AA-8556C48407C3}"/>
                </a:ext>
              </a:extLst>
            </p:cNvPr>
            <p:cNvCxnSpPr>
              <a:cxnSpLocks/>
              <a:stCxn id="18" idx="0"/>
              <a:endCxn id="11" idx="0"/>
            </p:cNvCxnSpPr>
            <p:nvPr/>
          </p:nvCxnSpPr>
          <p:spPr>
            <a:xfrm rot="5400000" flipH="1" flipV="1">
              <a:off x="3364049" y="1895509"/>
              <a:ext cx="12700" cy="610344"/>
            </a:xfrm>
            <a:prstGeom prst="curvedConnector3">
              <a:avLst>
                <a:gd name="adj1" fmla="val 1800000"/>
              </a:avLst>
            </a:prstGeom>
            <a:ln>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圓角 10">
              <a:extLst>
                <a:ext uri="{FF2B5EF4-FFF2-40B4-BE49-F238E27FC236}">
                  <a16:creationId xmlns:a16="http://schemas.microsoft.com/office/drawing/2014/main" id="{92E1E562-E816-CECA-7CEB-A55F9B8AFC70}"/>
                </a:ext>
              </a:extLst>
            </p:cNvPr>
            <p:cNvSpPr/>
            <p:nvPr/>
          </p:nvSpPr>
          <p:spPr>
            <a:xfrm>
              <a:off x="3505200"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18" name="矩形: 圓角 17">
              <a:extLst>
                <a:ext uri="{FF2B5EF4-FFF2-40B4-BE49-F238E27FC236}">
                  <a16:creationId xmlns:a16="http://schemas.microsoft.com/office/drawing/2014/main" id="{9C70D630-F7E9-4788-7CAD-70E94E42B6E4}"/>
                </a:ext>
              </a:extLst>
            </p:cNvPr>
            <p:cNvSpPr/>
            <p:nvPr/>
          </p:nvSpPr>
          <p:spPr>
            <a:xfrm>
              <a:off x="2894856"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5" name="矩形: 圓角 4">
              <a:extLst>
                <a:ext uri="{FF2B5EF4-FFF2-40B4-BE49-F238E27FC236}">
                  <a16:creationId xmlns:a16="http://schemas.microsoft.com/office/drawing/2014/main" id="{DD0DE01E-6BC0-5760-EA9A-71C40FFAEED3}"/>
                </a:ext>
              </a:extLst>
            </p:cNvPr>
            <p:cNvSpPr/>
            <p:nvPr/>
          </p:nvSpPr>
          <p:spPr>
            <a:xfrm>
              <a:off x="3190528" y="1891714"/>
              <a:ext cx="373360" cy="225799"/>
            </a:xfrm>
            <a:prstGeom prst="roundRect">
              <a:avLst/>
            </a:prstGeom>
            <a:solidFill>
              <a:schemeClr val="accent3">
                <a:lumMod val="20000"/>
                <a:lumOff val="80000"/>
                <a:alpha val="7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Y</a:t>
              </a:r>
              <a:r>
                <a:rPr lang="en-US" altLang="zh-TW" sz="1200" b="1" baseline="-25000" dirty="0">
                  <a:solidFill>
                    <a:schemeClr val="tx1"/>
                  </a:solidFill>
                </a:rPr>
                <a:t>t</a:t>
              </a:r>
              <a:r>
                <a:rPr lang="en-US" altLang="zh-TW" sz="1200" baseline="-25000" dirty="0">
                  <a:solidFill>
                    <a:schemeClr val="tx1"/>
                  </a:solidFill>
                </a:rPr>
                <a:t> </a:t>
              </a:r>
              <a:r>
                <a:rPr lang="en-US" altLang="zh-TW" sz="1200" dirty="0">
                  <a:solidFill>
                    <a:schemeClr val="tx1"/>
                  </a:solidFill>
                </a:rPr>
                <a:t>= 5</a:t>
              </a:r>
              <a:endParaRPr lang="zh-TW" altLang="en-US" sz="1200" dirty="0">
                <a:solidFill>
                  <a:schemeClr val="tx1"/>
                </a:solidFill>
              </a:endParaRPr>
            </a:p>
          </p:txBody>
        </p:sp>
      </p:gr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5328592"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Edge AI: Tiny Models, Lower Computing, Higher Privacy.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5C35A110-4772-E137-E4A2-FFDEC2A65AAC}"/>
              </a:ext>
            </a:extLst>
          </p:cNvPr>
          <p:cNvPicPr>
            <a:picLocks noChangeAspect="1"/>
          </p:cNvPicPr>
          <p:nvPr/>
        </p:nvPicPr>
        <p:blipFill>
          <a:blip r:embed="rId3"/>
          <a:stretch>
            <a:fillRect/>
          </a:stretch>
        </p:blipFill>
        <p:spPr>
          <a:xfrm>
            <a:off x="2389711" y="1259487"/>
            <a:ext cx="1878451" cy="1115566"/>
          </a:xfrm>
          <a:prstGeom prst="rect">
            <a:avLst/>
          </a:prstGeom>
          <a:effectLst>
            <a:glow>
              <a:schemeClr val="accent6">
                <a:satMod val="175000"/>
                <a:alpha val="20000"/>
              </a:schemeClr>
            </a:glow>
            <a:softEdge rad="101600"/>
          </a:effectLst>
        </p:spPr>
      </p:pic>
      <p:graphicFrame>
        <p:nvGraphicFramePr>
          <p:cNvPr id="9" name="表格 8">
            <a:extLst>
              <a:ext uri="{FF2B5EF4-FFF2-40B4-BE49-F238E27FC236}">
                <a16:creationId xmlns:a16="http://schemas.microsoft.com/office/drawing/2014/main" id="{2492F1F6-1F01-FB71-AB4A-86E65CF2A610}"/>
              </a:ext>
            </a:extLst>
          </p:cNvPr>
          <p:cNvGraphicFramePr>
            <a:graphicFrameLocks noGrp="1"/>
          </p:cNvGraphicFramePr>
          <p:nvPr>
            <p:extLst>
              <p:ext uri="{D42A27DB-BD31-4B8C-83A1-F6EECF244321}">
                <p14:modId xmlns:p14="http://schemas.microsoft.com/office/powerpoint/2010/main" val="1065151015"/>
              </p:ext>
            </p:extLst>
          </p:nvPr>
        </p:nvGraphicFramePr>
        <p:xfrm>
          <a:off x="5796138" y="3193339"/>
          <a:ext cx="2082198" cy="1243773"/>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9277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Cloud Infrastructure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lumMod val="75000"/>
                            </a:schemeClr>
                          </a:solidFill>
                          <a:effectLst/>
                          <a:uLnTx/>
                          <a:uFillTx/>
                          <a:latin typeface="+mn-lt"/>
                          <a:ea typeface="+mn-ea"/>
                          <a:cs typeface="+mn-cs"/>
                        </a:rPr>
                        <a:t>Training and Reasoning</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2"/>
                          </a:solidFill>
                          <a:effectLst/>
                          <a:uLnTx/>
                          <a:uFillTx/>
                          <a:latin typeface="+mn-lt"/>
                          <a:ea typeface="+mn-ea"/>
                          <a:cs typeface="+mn-cs"/>
                        </a:rPr>
                        <a:t>Blackwell</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TensorRT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2"/>
                          </a:solidFill>
                          <a:effectLst/>
                          <a:uLnTx/>
                          <a:uFillTx/>
                          <a:latin typeface="+mn-lt"/>
                          <a:ea typeface="+mn-ea"/>
                          <a:cs typeface="+mn-cs"/>
                        </a:rPr>
                        <a:t>Instinct</a:t>
                      </a:r>
                      <a:r>
                        <a:rPr kumimoji="0" lang="en-US" altLang="zh-TW" sz="1200" b="0" i="0" u="none" strike="noStrike" kern="1200" cap="none" spc="0" normalizeH="0" baseline="0" noProof="0" dirty="0">
                          <a:ln w="0"/>
                          <a:solidFill>
                            <a:schemeClr val="tx1"/>
                          </a:solidFill>
                          <a:effectLst/>
                          <a:uLnTx/>
                          <a:uFillTx/>
                          <a:latin typeface="+mn-lt"/>
                          <a:ea typeface="+mn-ea"/>
                          <a:cs typeface="+mn-cs"/>
                        </a:rPr>
                        <a:t>, ROCm</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Google </a:t>
                      </a:r>
                      <a:r>
                        <a:rPr kumimoji="0" lang="en-US" altLang="zh-TW" sz="1200" b="0" i="0" u="none" strike="noStrike" kern="1200" cap="none" spc="0" normalizeH="0" baseline="0" noProof="0" dirty="0">
                          <a:ln w="0"/>
                          <a:solidFill>
                            <a:schemeClr val="accent2"/>
                          </a:solidFill>
                          <a:effectLst/>
                          <a:uLnTx/>
                          <a:uFillTx/>
                          <a:latin typeface="+mn-lt"/>
                          <a:ea typeface="+mn-ea"/>
                          <a:cs typeface="+mn-cs"/>
                        </a:rPr>
                        <a:t>Trillium(v6e)</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400" b="1" i="0" u="none" strike="noStrike" kern="1200" cap="none" spc="0" normalizeH="0" baseline="0" noProof="0" dirty="0">
                          <a:ln w="0"/>
                          <a:solidFill>
                            <a:schemeClr val="tx1"/>
                          </a:solidFill>
                          <a:effectLst/>
                          <a:uLnTx/>
                          <a:uFillTx/>
                          <a:latin typeface="+mn-lt"/>
                          <a:ea typeface="+mn-ea"/>
                          <a:cs typeface="+mn-cs"/>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TPU 8i</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84411595"/>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AWS ASIC </a:t>
                      </a:r>
                      <a:r>
                        <a:rPr kumimoji="0" lang="en-US" altLang="zh-TW" sz="1400" b="1" i="0" u="none" strike="noStrike" kern="1200" cap="none" spc="0" normalizeH="0" baseline="0" noProof="0" dirty="0">
                          <a:ln w="0"/>
                          <a:solidFill>
                            <a:prstClr val="black"/>
                          </a:solidFill>
                          <a:effectLst/>
                          <a:uLnTx/>
                          <a:uFillTx/>
                          <a:latin typeface="+mn-lt"/>
                          <a:ea typeface="+mn-ea"/>
                          <a:cs typeface="+mn-cs"/>
                        </a:rPr>
                        <a:t>|</a:t>
                      </a:r>
                      <a:r>
                        <a:rPr kumimoji="0" lang="en-US" altLang="zh-TW" sz="1200" b="0" i="0" u="none" strike="noStrike" kern="1200" cap="none" spc="0" normalizeH="0" baseline="0" noProof="0" dirty="0">
                          <a:ln w="0"/>
                          <a:solidFill>
                            <a:schemeClr val="tx2">
                              <a:lumMod val="75000"/>
                            </a:schemeClr>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Inferentia2(Inf2)</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72740898"/>
                  </a:ext>
                </a:extLst>
              </a:tr>
            </a:tbl>
          </a:graphicData>
        </a:graphic>
      </p:graphicFrame>
      <p:graphicFrame>
        <p:nvGraphicFramePr>
          <p:cNvPr id="12" name="表格 11">
            <a:extLst>
              <a:ext uri="{FF2B5EF4-FFF2-40B4-BE49-F238E27FC236}">
                <a16:creationId xmlns:a16="http://schemas.microsoft.com/office/drawing/2014/main" id="{CE258954-F26A-A436-1EB0-1C871A0C7D0E}"/>
              </a:ext>
            </a:extLst>
          </p:cNvPr>
          <p:cNvGraphicFramePr>
            <a:graphicFrameLocks noGrp="1"/>
          </p:cNvGraphicFramePr>
          <p:nvPr>
            <p:extLst>
              <p:ext uri="{D42A27DB-BD31-4B8C-83A1-F6EECF244321}">
                <p14:modId xmlns:p14="http://schemas.microsoft.com/office/powerpoint/2010/main" val="3034914990"/>
              </p:ext>
            </p:extLst>
          </p:nvPr>
        </p:nvGraphicFramePr>
        <p:xfrm>
          <a:off x="5796138" y="4718928"/>
          <a:ext cx="2082198" cy="1730385"/>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8453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PC</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Environment</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GeForce</a:t>
                      </a:r>
                      <a:r>
                        <a:rPr kumimoji="0" lang="en-US" altLang="zh-TW" sz="1200" b="0" i="0" u="none" strike="noStrike" kern="1200" cap="none" spc="0" normalizeH="0" baseline="0" noProof="0" dirty="0">
                          <a:ln w="0"/>
                          <a:solidFill>
                            <a:schemeClr val="tx1"/>
                          </a:solidFill>
                          <a:effectLst/>
                          <a:uLnTx/>
                          <a:uFillTx/>
                          <a:latin typeface="+mn-lt"/>
                          <a:ea typeface="+mn-ea"/>
                          <a:cs typeface="+mn-cs"/>
                        </a:rPr>
                        <a:t>, CUDA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Ryzen</a:t>
                      </a:r>
                      <a:r>
                        <a:rPr kumimoji="0" lang="en-US" altLang="zh-TW" sz="1200" b="0" i="0" u="none" strike="noStrike" kern="1200" cap="none" spc="0" normalizeH="0" baseline="0" noProof="0" dirty="0">
                          <a:ln w="0"/>
                          <a:solidFill>
                            <a:schemeClr val="tx1"/>
                          </a:solidFill>
                          <a:effectLst/>
                          <a:uLnTx/>
                          <a:uFillTx/>
                          <a:latin typeface="+mn-lt"/>
                          <a:ea typeface="+mn-ea"/>
                          <a:cs typeface="+mn-cs"/>
                        </a:rPr>
                        <a:t> AI,</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XDNA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Intel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Core Ultra</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OpenVINO</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085204"/>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Apple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M4/M3</a:t>
                      </a:r>
                      <a:r>
                        <a:rPr kumimoji="0" lang="en-US" altLang="zh-TW" sz="1200" b="0" i="0" u="none" strike="noStrike" kern="1200" cap="none" spc="0" normalizeH="0" baseline="0" noProof="0" dirty="0">
                          <a:ln w="0"/>
                          <a:solidFill>
                            <a:schemeClr val="tx1"/>
                          </a:solidFill>
                          <a:effectLst/>
                          <a:uLnTx/>
                          <a:uFillTx/>
                          <a:latin typeface="+mn-lt"/>
                          <a:ea typeface="+mn-ea"/>
                          <a:cs typeface="+mn-cs"/>
                        </a:rPr>
                        <a:t>, Core ML + MLX</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55826721"/>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Qualcomm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Hexagon</a:t>
                      </a:r>
                      <a:r>
                        <a:rPr kumimoji="0" lang="en-US" altLang="zh-TW" sz="1200" b="0" i="0" u="none" strike="noStrike" kern="1200" cap="none" spc="0" normalizeH="0" baseline="0" noProof="0" dirty="0">
                          <a:ln w="0"/>
                          <a:solidFill>
                            <a:schemeClr val="tx1"/>
                          </a:solidFill>
                          <a:effectLst/>
                          <a:uLnTx/>
                          <a:uFillTx/>
                          <a:latin typeface="+mn-lt"/>
                          <a:ea typeface="+mn-ea"/>
                          <a:cs typeface="+mn-cs"/>
                        </a:rPr>
                        <a:t>, QNN 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3686885"/>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MS,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ONNX</a:t>
                      </a:r>
                      <a:r>
                        <a:rPr kumimoji="0" lang="en-US" altLang="zh-TW" sz="1200" b="0" i="0" u="none" strike="noStrike" kern="1200" cap="none" spc="0" normalizeH="0" baseline="0" noProof="0" dirty="0">
                          <a:ln w="0"/>
                          <a:solidFill>
                            <a:schemeClr val="tx1"/>
                          </a:solidFill>
                          <a:effectLst/>
                          <a:uLnTx/>
                          <a:uFillTx/>
                          <a:latin typeface="+mn-lt"/>
                          <a:ea typeface="+mn-ea"/>
                          <a:cs typeface="+mn-cs"/>
                        </a:rPr>
                        <a:t> Runtime (ORT)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703323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Ollama,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GGUF </a:t>
                      </a:r>
                      <a:endParaRPr kumimoji="0" lang="en-US" altLang="zh-TW" sz="1200" b="0"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54957636"/>
                  </a:ext>
                </a:extLst>
              </a:tr>
            </a:tbl>
          </a:graphicData>
        </a:graphic>
      </p:graphicFrame>
      <p:graphicFrame>
        <p:nvGraphicFramePr>
          <p:cNvPr id="4" name="表格 3">
            <a:extLst>
              <a:ext uri="{FF2B5EF4-FFF2-40B4-BE49-F238E27FC236}">
                <a16:creationId xmlns:a16="http://schemas.microsoft.com/office/drawing/2014/main" id="{64358141-6F02-5B5E-6D28-A7966D51A20E}"/>
              </a:ext>
            </a:extLst>
          </p:cNvPr>
          <p:cNvGraphicFramePr>
            <a:graphicFrameLocks noGrp="1"/>
          </p:cNvGraphicFramePr>
          <p:nvPr>
            <p:extLst>
              <p:ext uri="{D42A27DB-BD31-4B8C-83A1-F6EECF244321}">
                <p14:modId xmlns:p14="http://schemas.microsoft.com/office/powerpoint/2010/main" val="2125186809"/>
              </p:ext>
            </p:extLst>
          </p:nvPr>
        </p:nvGraphicFramePr>
        <p:xfrm>
          <a:off x="1888779" y="2699647"/>
          <a:ext cx="2880316" cy="1134149"/>
        </p:xfrm>
        <a:graphic>
          <a:graphicData uri="http://schemas.openxmlformats.org/drawingml/2006/table">
            <a:tbl>
              <a:tblPr firstRow="1" bandRow="1">
                <a:tableStyleId>{5C22544A-7EE6-4342-B048-85BDC9FD1C3A}</a:tableStyleId>
              </a:tblPr>
              <a:tblGrid>
                <a:gridCol w="720079">
                  <a:extLst>
                    <a:ext uri="{9D8B030D-6E8A-4147-A177-3AD203B41FA5}">
                      <a16:colId xmlns:a16="http://schemas.microsoft.com/office/drawing/2014/main" val="4512040"/>
                    </a:ext>
                  </a:extLst>
                </a:gridCol>
                <a:gridCol w="720079">
                  <a:extLst>
                    <a:ext uri="{9D8B030D-6E8A-4147-A177-3AD203B41FA5}">
                      <a16:colId xmlns:a16="http://schemas.microsoft.com/office/drawing/2014/main" val="684415633"/>
                    </a:ext>
                  </a:extLst>
                </a:gridCol>
                <a:gridCol w="720079">
                  <a:extLst>
                    <a:ext uri="{9D8B030D-6E8A-4147-A177-3AD203B41FA5}">
                      <a16:colId xmlns:a16="http://schemas.microsoft.com/office/drawing/2014/main" val="2477666515"/>
                    </a:ext>
                  </a:extLst>
                </a:gridCol>
                <a:gridCol w="720079">
                  <a:extLst>
                    <a:ext uri="{9D8B030D-6E8A-4147-A177-3AD203B41FA5}">
                      <a16:colId xmlns:a16="http://schemas.microsoft.com/office/drawing/2014/main" val="93325886"/>
                    </a:ext>
                  </a:extLst>
                </a:gridCol>
              </a:tblGrid>
              <a:tr h="267766">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Training Framework</a:t>
                      </a:r>
                      <a:endParaRPr lang="en-US" altLang="zh-TW" sz="10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hMerge="1">
                  <a:txBody>
                    <a:bodyPr/>
                    <a:lstStyle/>
                    <a:p>
                      <a:endParaRPr lang="zh-TW" altLang="en-US"/>
                    </a:p>
                  </a:txBody>
                  <a:tcPr>
                    <a:lnL w="12700" cmpd="sng">
                      <a:noFill/>
                    </a:ln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4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303812410"/>
                  </a:ext>
                </a:extLst>
              </a:tr>
              <a:tr h="2204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PyTorch</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3079EF"/>
                          </a:solidFill>
                          <a:effectLst/>
                        </a:rPr>
                        <a:t>JAX/XLA</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38959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TorchTitan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DeepSpeed</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Megatron-LM</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MaxText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3618650565"/>
                  </a:ext>
                </a:extLst>
              </a:tr>
              <a:tr h="2563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 (CUDA C++ / Triton)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2"/>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TPU</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165671214"/>
                  </a:ext>
                </a:extLst>
              </a:tr>
            </a:tbl>
          </a:graphicData>
        </a:graphic>
      </p:graphicFrame>
      <p:graphicFrame>
        <p:nvGraphicFramePr>
          <p:cNvPr id="16" name="表格 15">
            <a:extLst>
              <a:ext uri="{FF2B5EF4-FFF2-40B4-BE49-F238E27FC236}">
                <a16:creationId xmlns:a16="http://schemas.microsoft.com/office/drawing/2014/main" id="{D59EB19D-AF26-7917-73C3-6FF66FA34243}"/>
              </a:ext>
            </a:extLst>
          </p:cNvPr>
          <p:cNvGraphicFramePr>
            <a:graphicFrameLocks noGrp="1"/>
          </p:cNvGraphicFramePr>
          <p:nvPr>
            <p:extLst>
              <p:ext uri="{D42A27DB-BD31-4B8C-83A1-F6EECF244321}">
                <p14:modId xmlns:p14="http://schemas.microsoft.com/office/powerpoint/2010/main" val="3437040034"/>
              </p:ext>
            </p:extLst>
          </p:nvPr>
        </p:nvGraphicFramePr>
        <p:xfrm>
          <a:off x="1893264" y="4164002"/>
          <a:ext cx="2877378" cy="633150"/>
        </p:xfrm>
        <a:graphic>
          <a:graphicData uri="http://schemas.openxmlformats.org/drawingml/2006/table">
            <a:tbl>
              <a:tblPr firstRow="1" bandRow="1">
                <a:tableStyleId>{5C22544A-7EE6-4342-B048-85BDC9FD1C3A}</a:tableStyleId>
              </a:tblPr>
              <a:tblGrid>
                <a:gridCol w="959126">
                  <a:extLst>
                    <a:ext uri="{9D8B030D-6E8A-4147-A177-3AD203B41FA5}">
                      <a16:colId xmlns:a16="http://schemas.microsoft.com/office/drawing/2014/main" val="4512040"/>
                    </a:ext>
                  </a:extLst>
                </a:gridCol>
                <a:gridCol w="783506">
                  <a:extLst>
                    <a:ext uri="{9D8B030D-6E8A-4147-A177-3AD203B41FA5}">
                      <a16:colId xmlns:a16="http://schemas.microsoft.com/office/drawing/2014/main" val="2315159871"/>
                    </a:ext>
                  </a:extLst>
                </a:gridCol>
                <a:gridCol w="1134746">
                  <a:extLst>
                    <a:ext uri="{9D8B030D-6E8A-4147-A177-3AD203B41FA5}">
                      <a16:colId xmlns:a16="http://schemas.microsoft.com/office/drawing/2014/main" val="280693898"/>
                    </a:ext>
                  </a:extLst>
                </a:gridCol>
              </a:tblGrid>
              <a:tr h="260384">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Inference Engine</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alpha val="80000"/>
                      </a:schemeClr>
                    </a:solidFill>
                  </a:tcPr>
                </a:tc>
                <a:tc hMerge="1">
                  <a:txBody>
                    <a:bodyPr/>
                    <a:lstStyle/>
                    <a:p>
                      <a:endParaRPr lang="zh-TW" alt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400" b="1"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155319">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1" i="0" u="none" strike="noStrike" kern="1200" cap="none" spc="0" normalizeH="0" baseline="0" noProof="0" dirty="0">
                          <a:ln w="0"/>
                          <a:solidFill>
                            <a:schemeClr val="tx2"/>
                          </a:solidFill>
                          <a:effectLst/>
                          <a:uLnTx/>
                          <a:uFillTx/>
                          <a:latin typeface="+mn-lt"/>
                          <a:ea typeface="Batang" panose="02030600000101010101" pitchFamily="18" charset="-127"/>
                          <a:cs typeface="+mn-cs"/>
                        </a:rPr>
                        <a:t>UC Berkeley</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952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1">
                        <a:lumMod val="95000"/>
                      </a:schemeClr>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TensorRT-LLM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extLst>
                  <a:ext uri="{0D108BD9-81ED-4DB2-BD59-A6C34878D82A}">
                    <a16:rowId xmlns:a16="http://schemas.microsoft.com/office/drawing/2014/main" val="1642474553"/>
                  </a:ext>
                </a:extLst>
              </a:tr>
              <a:tr h="21744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vLLM</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SGLang</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FFF00">
                        <a:alpha val="20000"/>
                      </a:srgbClr>
                    </a:solidFill>
                  </a:tcPr>
                </a:tc>
                <a:tc vMerge="1">
                  <a:txBody>
                    <a:bodyPr/>
                    <a:lstStyle/>
                    <a:p>
                      <a:endParaRPr lang="zh-TW" altLang="en-US"/>
                    </a:p>
                  </a:txBody>
                  <a:tcPr/>
                </a:tc>
                <a:extLst>
                  <a:ext uri="{0D108BD9-81ED-4DB2-BD59-A6C34878D82A}">
                    <a16:rowId xmlns:a16="http://schemas.microsoft.com/office/drawing/2014/main" val="2602182"/>
                  </a:ext>
                </a:extLst>
              </a:tr>
            </a:tbl>
          </a:graphicData>
        </a:graphic>
      </p:graphicFrame>
      <p:graphicFrame>
        <p:nvGraphicFramePr>
          <p:cNvPr id="22" name="表格 21">
            <a:extLst>
              <a:ext uri="{FF2B5EF4-FFF2-40B4-BE49-F238E27FC236}">
                <a16:creationId xmlns:a16="http://schemas.microsoft.com/office/drawing/2014/main" id="{B31F93D4-D1CD-5EE1-CCAA-59E43176F416}"/>
              </a:ext>
            </a:extLst>
          </p:cNvPr>
          <p:cNvGraphicFramePr>
            <a:graphicFrameLocks noGrp="1"/>
          </p:cNvGraphicFramePr>
          <p:nvPr>
            <p:extLst>
              <p:ext uri="{D42A27DB-BD31-4B8C-83A1-F6EECF244321}">
                <p14:modId xmlns:p14="http://schemas.microsoft.com/office/powerpoint/2010/main" val="1399452633"/>
              </p:ext>
            </p:extLst>
          </p:nvPr>
        </p:nvGraphicFramePr>
        <p:xfrm>
          <a:off x="5796137" y="728512"/>
          <a:ext cx="2088231" cy="2194560"/>
        </p:xfrm>
        <a:graphic>
          <a:graphicData uri="http://schemas.openxmlformats.org/drawingml/2006/table">
            <a:tbl>
              <a:tblPr firstRow="1" bandRow="1">
                <a:tableStyleId>{5C22544A-7EE6-4342-B048-85BDC9FD1C3A}</a:tableStyleId>
              </a:tblPr>
              <a:tblGrid>
                <a:gridCol w="2088231">
                  <a:extLst>
                    <a:ext uri="{9D8B030D-6E8A-4147-A177-3AD203B41FA5}">
                      <a16:colId xmlns:a16="http://schemas.microsoft.com/office/drawing/2014/main" val="4512040"/>
                    </a:ext>
                  </a:extLst>
                </a:gridCol>
              </a:tblGrid>
              <a:tr h="3212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AI Frontier Models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accent1"/>
                          </a:solidFill>
                          <a:effectLst/>
                        </a:rPr>
                        <a:t>(MMLU, Throughput, TTFT, ITL)</a:t>
                      </a:r>
                    </a:p>
                  </a:txBody>
                  <a:tcPr marR="0" marT="0" marB="0" anchor="ctr">
                    <a:lnL w="3175" cap="flat" cmpd="sng" algn="ctr">
                      <a:noFill/>
                      <a:prstDash val="solid"/>
                      <a:round/>
                      <a:headEnd type="none" w="med" len="med"/>
                      <a:tailEnd type="none" w="med" len="med"/>
                    </a:lnL>
                    <a:lnR w="12700" cmpd="sng">
                      <a:noFill/>
                    </a:lnR>
                    <a:lnT w="285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481509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Anthropic – Fable 5</a:t>
                      </a:r>
                    </a:p>
                  </a:txBody>
                  <a:tcPr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 GPT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 Gemini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 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SpaceXAI</a:t>
                      </a:r>
                      <a:r>
                        <a:rPr lang="zh-TW" altLang="en-US" sz="1200" b="0" cap="none" spc="0" dirty="0">
                          <a:ln w="0"/>
                          <a:solidFill>
                            <a:schemeClr val="tx1"/>
                          </a:solidFill>
                          <a:effectLst/>
                        </a:rPr>
                        <a:t> </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Grok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DeepSeek – V4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1109267"/>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Zhipu AI – GLM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5337332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Moonshot AI – Kimi K3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63288486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 – Pixtral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38269145"/>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Amazon – Nova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86604265"/>
                  </a:ext>
                </a:extLst>
              </a:tr>
            </a:tbl>
          </a:graphicData>
        </a:graphic>
      </p:graphicFrame>
      <p:cxnSp>
        <p:nvCxnSpPr>
          <p:cNvPr id="37" name="直線單箭頭接點 36">
            <a:extLst>
              <a:ext uri="{FF2B5EF4-FFF2-40B4-BE49-F238E27FC236}">
                <a16:creationId xmlns:a16="http://schemas.microsoft.com/office/drawing/2014/main" id="{A1AFF9D2-7EC7-2AE0-2438-DE71FB19CAB1}"/>
              </a:ext>
            </a:extLst>
          </p:cNvPr>
          <p:cNvCxnSpPr>
            <a:cxnSpLocks/>
            <a:stCxn id="4" idx="2"/>
            <a:endCxn id="16" idx="0"/>
          </p:cNvCxnSpPr>
          <p:nvPr/>
        </p:nvCxnSpPr>
        <p:spPr>
          <a:xfrm>
            <a:off x="3328937" y="3833796"/>
            <a:ext cx="3016" cy="330206"/>
          </a:xfrm>
          <a:prstGeom prst="straightConnector1">
            <a:avLst/>
          </a:prstGeom>
          <a:ln w="25400">
            <a:solidFill>
              <a:schemeClr val="tx2">
                <a:lumMod val="60000"/>
                <a:lumOff val="4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cxnSp>
        <p:nvCxnSpPr>
          <p:cNvPr id="41" name="直線單箭頭接點 40">
            <a:extLst>
              <a:ext uri="{FF2B5EF4-FFF2-40B4-BE49-F238E27FC236}">
                <a16:creationId xmlns:a16="http://schemas.microsoft.com/office/drawing/2014/main" id="{6EBBFA59-4D72-87FB-DE2F-F1F9FDCD6B30}"/>
              </a:ext>
            </a:extLst>
          </p:cNvPr>
          <p:cNvCxnSpPr>
            <a:cxnSpLocks/>
            <a:stCxn id="3" idx="2"/>
            <a:endCxn id="4" idx="0"/>
          </p:cNvCxnSpPr>
          <p:nvPr/>
        </p:nvCxnSpPr>
        <p:spPr>
          <a:xfrm>
            <a:off x="3328937" y="2375053"/>
            <a:ext cx="0" cy="324594"/>
          </a:xfrm>
          <a:prstGeom prst="straightConnector1">
            <a:avLst/>
          </a:prstGeom>
          <a:ln w="25400">
            <a:solidFill>
              <a:schemeClr val="accent2"/>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53" name="表格 52">
            <a:extLst>
              <a:ext uri="{FF2B5EF4-FFF2-40B4-BE49-F238E27FC236}">
                <a16:creationId xmlns:a16="http://schemas.microsoft.com/office/drawing/2014/main" id="{5D78BAB3-D1A1-B6F0-AF00-BE6E1C510D26}"/>
              </a:ext>
            </a:extLst>
          </p:cNvPr>
          <p:cNvGraphicFramePr>
            <a:graphicFrameLocks noGrp="1"/>
          </p:cNvGraphicFramePr>
          <p:nvPr>
            <p:extLst>
              <p:ext uri="{D42A27DB-BD31-4B8C-83A1-F6EECF244321}">
                <p14:modId xmlns:p14="http://schemas.microsoft.com/office/powerpoint/2010/main" val="2561945640"/>
              </p:ext>
            </p:extLst>
          </p:nvPr>
        </p:nvGraphicFramePr>
        <p:xfrm>
          <a:off x="1891717" y="5219927"/>
          <a:ext cx="2877378" cy="762000"/>
        </p:xfrm>
        <a:graphic>
          <a:graphicData uri="http://schemas.openxmlformats.org/drawingml/2006/table">
            <a:tbl>
              <a:tblPr firstRow="1" bandRow="1">
                <a:tableStyleId>{5C22544A-7EE6-4342-B048-85BDC9FD1C3A}</a:tableStyleId>
              </a:tblPr>
              <a:tblGrid>
                <a:gridCol w="1438689">
                  <a:extLst>
                    <a:ext uri="{9D8B030D-6E8A-4147-A177-3AD203B41FA5}">
                      <a16:colId xmlns:a16="http://schemas.microsoft.com/office/drawing/2014/main" val="4512040"/>
                    </a:ext>
                  </a:extLst>
                </a:gridCol>
                <a:gridCol w="1438689">
                  <a:extLst>
                    <a:ext uri="{9D8B030D-6E8A-4147-A177-3AD203B41FA5}">
                      <a16:colId xmlns:a16="http://schemas.microsoft.com/office/drawing/2014/main" val="2560395032"/>
                    </a:ext>
                  </a:extLst>
                </a:gridCol>
              </a:tblGrid>
              <a:tr h="162154">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 PC Application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5">
                        <a:lumMod val="20000"/>
                        <a:lumOff val="80000"/>
                        <a:alpha val="40000"/>
                      </a:schemeClr>
                    </a:solidFill>
                  </a:tcPr>
                </a:tc>
                <a:tc hMerge="1">
                  <a:txBody>
                    <a:bodyPr/>
                    <a:lstStyle/>
                    <a:p>
                      <a:endParaRPr lang="zh-TW" altLang="en-US"/>
                    </a:p>
                  </a:txBody>
                  <a:tcPr/>
                </a:tc>
                <a:extLst>
                  <a:ext uri="{0D108BD9-81ED-4DB2-BD59-A6C34878D82A}">
                    <a16:rowId xmlns:a16="http://schemas.microsoft.com/office/drawing/2014/main" val="1311258892"/>
                  </a:ext>
                </a:extLst>
              </a:tr>
              <a:tr h="13898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938014660"/>
                  </a:ext>
                </a:extLst>
              </a:tr>
              <a:tr h="2779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OpenClaw,</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Hermes</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CrewAI, LangGraph, Langflow, AG2, Dify</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extLst>
                  <a:ext uri="{0D108BD9-81ED-4DB2-BD59-A6C34878D82A}">
                    <a16:rowId xmlns:a16="http://schemas.microsoft.com/office/drawing/2014/main" val="1780859313"/>
                  </a:ext>
                </a:extLst>
              </a:tr>
            </a:tbl>
          </a:graphicData>
        </a:graphic>
      </p:graphicFrame>
      <p:pic>
        <p:nvPicPr>
          <p:cNvPr id="57" name="圖片 56">
            <a:extLst>
              <a:ext uri="{FF2B5EF4-FFF2-40B4-BE49-F238E27FC236}">
                <a16:creationId xmlns:a16="http://schemas.microsoft.com/office/drawing/2014/main" id="{802F6E56-989E-37A1-8310-D08CE4266372}"/>
              </a:ext>
            </a:extLst>
          </p:cNvPr>
          <p:cNvPicPr>
            <a:picLocks noChangeAspect="1"/>
          </p:cNvPicPr>
          <p:nvPr/>
        </p:nvPicPr>
        <p:blipFill>
          <a:blip r:embed="rId4"/>
          <a:stretch>
            <a:fillRect/>
          </a:stretch>
        </p:blipFill>
        <p:spPr>
          <a:xfrm>
            <a:off x="2461719" y="5999239"/>
            <a:ext cx="382089" cy="382089"/>
          </a:xfrm>
          <a:prstGeom prst="rect">
            <a:avLst/>
          </a:prstGeom>
        </p:spPr>
      </p:pic>
      <p:pic>
        <p:nvPicPr>
          <p:cNvPr id="59" name="圖片 58">
            <a:extLst>
              <a:ext uri="{FF2B5EF4-FFF2-40B4-BE49-F238E27FC236}">
                <a16:creationId xmlns:a16="http://schemas.microsoft.com/office/drawing/2014/main" id="{424306D1-0454-BA2D-39FB-D5BD45B9889E}"/>
              </a:ext>
            </a:extLst>
          </p:cNvPr>
          <p:cNvPicPr>
            <a:picLocks noChangeAspect="1"/>
          </p:cNvPicPr>
          <p:nvPr/>
        </p:nvPicPr>
        <p:blipFill>
          <a:blip r:embed="rId5"/>
          <a:stretch>
            <a:fillRect/>
          </a:stretch>
        </p:blipFill>
        <p:spPr>
          <a:xfrm>
            <a:off x="3847632" y="5999239"/>
            <a:ext cx="377313" cy="382089"/>
          </a:xfrm>
          <a:prstGeom prst="rect">
            <a:avLst/>
          </a:prstGeom>
          <a:effectLst>
            <a:glow rad="12700">
              <a:schemeClr val="tx1">
                <a:lumMod val="95000"/>
                <a:lumOff val="5000"/>
                <a:alpha val="40000"/>
              </a:schemeClr>
            </a:glow>
            <a:softEdge rad="12700"/>
          </a:effectLst>
        </p:spPr>
      </p:pic>
      <p:cxnSp>
        <p:nvCxnSpPr>
          <p:cNvPr id="62" name="直線單箭頭接點 61">
            <a:extLst>
              <a:ext uri="{FF2B5EF4-FFF2-40B4-BE49-F238E27FC236}">
                <a16:creationId xmlns:a16="http://schemas.microsoft.com/office/drawing/2014/main" id="{CA032212-6DB5-E989-0F04-A8E68B2F3469}"/>
              </a:ext>
            </a:extLst>
          </p:cNvPr>
          <p:cNvCxnSpPr>
            <a:cxnSpLocks/>
            <a:stCxn id="16" idx="2"/>
            <a:endCxn id="53" idx="0"/>
          </p:cNvCxnSpPr>
          <p:nvPr/>
        </p:nvCxnSpPr>
        <p:spPr>
          <a:xfrm flipH="1">
            <a:off x="3330406" y="4797152"/>
            <a:ext cx="1547" cy="422775"/>
          </a:xfrm>
          <a:prstGeom prst="straightConnector1">
            <a:avLst/>
          </a:prstGeom>
          <a:ln w="25400">
            <a:solidFill>
              <a:schemeClr val="bg1">
                <a:lumMod val="7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橢圓 37">
            <a:extLst>
              <a:ext uri="{FF2B5EF4-FFF2-40B4-BE49-F238E27FC236}">
                <a16:creationId xmlns:a16="http://schemas.microsoft.com/office/drawing/2014/main" id="{1EBBF1BF-D7EC-04E3-A807-7BA8874E8C7D}"/>
              </a:ext>
            </a:extLst>
          </p:cNvPr>
          <p:cNvSpPr/>
          <p:nvPr/>
        </p:nvSpPr>
        <p:spPr>
          <a:xfrm>
            <a:off x="107504" y="4831668"/>
            <a:ext cx="1393781" cy="1415923"/>
          </a:xfrm>
          <a:prstGeom prst="ellipse">
            <a:avLst/>
          </a:prstGeom>
          <a:gradFill flip="none" rotWithShape="0">
            <a:gsLst>
              <a:gs pos="0">
                <a:schemeClr val="accent3">
                  <a:lumMod val="20000"/>
                  <a:lumOff val="80000"/>
                </a:schemeClr>
              </a:gs>
              <a:gs pos="90000">
                <a:srgbClr val="C0CEA4"/>
              </a:gs>
              <a:gs pos="100000">
                <a:schemeClr val="accent3">
                  <a:lumMod val="50000"/>
                </a:schemeClr>
              </a:gs>
              <a:gs pos="100000">
                <a:schemeClr val="accent3">
                  <a:lumMod val="50000"/>
                </a:schemeClr>
              </a:gs>
            </a:gsLst>
            <a:path path="shape">
              <a:fillToRect l="50000" t="50000" r="50000" b="50000"/>
            </a:path>
            <a:tileRect/>
          </a:gradFill>
          <a:ln w="5397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56" name="群組 55">
            <a:extLst>
              <a:ext uri="{FF2B5EF4-FFF2-40B4-BE49-F238E27FC236}">
                <a16:creationId xmlns:a16="http://schemas.microsoft.com/office/drawing/2014/main" id="{7E729EF2-1324-CB02-728B-C79D90667E76}"/>
              </a:ext>
            </a:extLst>
          </p:cNvPr>
          <p:cNvGrpSpPr/>
          <p:nvPr/>
        </p:nvGrpSpPr>
        <p:grpSpPr>
          <a:xfrm>
            <a:off x="3677231" y="5517232"/>
            <a:ext cx="4197749" cy="1008111"/>
            <a:chOff x="2300018" y="3140968"/>
            <a:chExt cx="4871903"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4871903" cy="2369355"/>
            </a:xfrm>
            <a:custGeom>
              <a:avLst/>
              <a:gdLst>
                <a:gd name="csX0" fmla="*/ 0 w 4871903"/>
                <a:gd name="csY0" fmla="*/ 69612 h 2369355"/>
                <a:gd name="csX1" fmla="*/ 69612 w 4871903"/>
                <a:gd name="csY1" fmla="*/ 0 h 2369355"/>
                <a:gd name="csX2" fmla="*/ 661197 w 4871903"/>
                <a:gd name="csY2" fmla="*/ 0 h 2369355"/>
                <a:gd name="csX3" fmla="*/ 1158128 w 4871903"/>
                <a:gd name="csY3" fmla="*/ 0 h 2369355"/>
                <a:gd name="csX4" fmla="*/ 1607733 w 4871903"/>
                <a:gd name="csY4" fmla="*/ 0 h 2369355"/>
                <a:gd name="csX5" fmla="*/ 2104664 w 4871903"/>
                <a:gd name="csY5" fmla="*/ 0 h 2369355"/>
                <a:gd name="csX6" fmla="*/ 2743576 w 4871903"/>
                <a:gd name="csY6" fmla="*/ 0 h 2369355"/>
                <a:gd name="csX7" fmla="*/ 3240507 w 4871903"/>
                <a:gd name="csY7" fmla="*/ 0 h 2369355"/>
                <a:gd name="csX8" fmla="*/ 3690111 w 4871903"/>
                <a:gd name="csY8" fmla="*/ 0 h 2369355"/>
                <a:gd name="csX9" fmla="*/ 4187043 w 4871903"/>
                <a:gd name="csY9" fmla="*/ 0 h 2369355"/>
                <a:gd name="csX10" fmla="*/ 4802291 w 4871903"/>
                <a:gd name="csY10" fmla="*/ 0 h 2369355"/>
                <a:gd name="csX11" fmla="*/ 4871903 w 4871903"/>
                <a:gd name="csY11" fmla="*/ 69612 h 2369355"/>
                <a:gd name="csX12" fmla="*/ 4871903 w 4871903"/>
                <a:gd name="csY12" fmla="*/ 560241 h 2369355"/>
                <a:gd name="csX13" fmla="*/ 4871903 w 4871903"/>
                <a:gd name="csY13" fmla="*/ 1117774 h 2369355"/>
                <a:gd name="csX14" fmla="*/ 4871903 w 4871903"/>
                <a:gd name="csY14" fmla="*/ 1719909 h 2369355"/>
                <a:gd name="csX15" fmla="*/ 4871903 w 4871903"/>
                <a:gd name="csY15" fmla="*/ 2299743 h 2369355"/>
                <a:gd name="csX16" fmla="*/ 4802291 w 4871903"/>
                <a:gd name="csY16" fmla="*/ 2369355 h 2369355"/>
                <a:gd name="csX17" fmla="*/ 4258033 w 4871903"/>
                <a:gd name="csY17" fmla="*/ 2369355 h 2369355"/>
                <a:gd name="csX18" fmla="*/ 3666448 w 4871903"/>
                <a:gd name="csY18" fmla="*/ 2369355 h 2369355"/>
                <a:gd name="csX19" fmla="*/ 3216844 w 4871903"/>
                <a:gd name="csY19" fmla="*/ 2369355 h 2369355"/>
                <a:gd name="csX20" fmla="*/ 2530605 w 4871903"/>
                <a:gd name="csY20" fmla="*/ 2369355 h 2369355"/>
                <a:gd name="csX21" fmla="*/ 1939020 w 4871903"/>
                <a:gd name="csY21" fmla="*/ 2369355 h 2369355"/>
                <a:gd name="csX22" fmla="*/ 1252782 w 4871903"/>
                <a:gd name="csY22" fmla="*/ 2369355 h 2369355"/>
                <a:gd name="csX23" fmla="*/ 708524 w 4871903"/>
                <a:gd name="csY23" fmla="*/ 2369355 h 2369355"/>
                <a:gd name="csX24" fmla="*/ 69612 w 4871903"/>
                <a:gd name="csY24" fmla="*/ 2369355 h 2369355"/>
                <a:gd name="csX25" fmla="*/ 0 w 4871903"/>
                <a:gd name="csY25" fmla="*/ 2299743 h 2369355"/>
                <a:gd name="csX26" fmla="*/ 0 w 4871903"/>
                <a:gd name="csY26" fmla="*/ 1742210 h 2369355"/>
                <a:gd name="csX27" fmla="*/ 0 w 4871903"/>
                <a:gd name="csY27" fmla="*/ 1162376 h 2369355"/>
                <a:gd name="csX28" fmla="*/ 0 w 4871903"/>
                <a:gd name="csY28" fmla="*/ 560241 h 2369355"/>
                <a:gd name="csX29" fmla="*/ 0 w 4871903"/>
                <a:gd name="csY29"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871903" h="2369355" fill="none" extrusionOk="0">
                  <a:moveTo>
                    <a:pt x="0" y="69612"/>
                  </a:moveTo>
                  <a:cubicBezTo>
                    <a:pt x="-3467" y="41976"/>
                    <a:pt x="28818" y="-7394"/>
                    <a:pt x="69612" y="0"/>
                  </a:cubicBezTo>
                  <a:cubicBezTo>
                    <a:pt x="242124" y="-34537"/>
                    <a:pt x="480013" y="26831"/>
                    <a:pt x="661197" y="0"/>
                  </a:cubicBezTo>
                  <a:cubicBezTo>
                    <a:pt x="842382" y="-26831"/>
                    <a:pt x="953104" y="33108"/>
                    <a:pt x="1158128" y="0"/>
                  </a:cubicBezTo>
                  <a:cubicBezTo>
                    <a:pt x="1363152" y="-33108"/>
                    <a:pt x="1512365" y="9925"/>
                    <a:pt x="1607733" y="0"/>
                  </a:cubicBezTo>
                  <a:cubicBezTo>
                    <a:pt x="1703102" y="-9925"/>
                    <a:pt x="1893219" y="1912"/>
                    <a:pt x="2104664" y="0"/>
                  </a:cubicBezTo>
                  <a:cubicBezTo>
                    <a:pt x="2316109" y="-1912"/>
                    <a:pt x="2446969" y="52063"/>
                    <a:pt x="2743576" y="0"/>
                  </a:cubicBezTo>
                  <a:cubicBezTo>
                    <a:pt x="3040183" y="-52063"/>
                    <a:pt x="3010113" y="16413"/>
                    <a:pt x="3240507" y="0"/>
                  </a:cubicBezTo>
                  <a:cubicBezTo>
                    <a:pt x="3470901" y="-16413"/>
                    <a:pt x="3540606" y="1032"/>
                    <a:pt x="3690111" y="0"/>
                  </a:cubicBezTo>
                  <a:cubicBezTo>
                    <a:pt x="3839616" y="-1032"/>
                    <a:pt x="4058410" y="6522"/>
                    <a:pt x="4187043" y="0"/>
                  </a:cubicBezTo>
                  <a:cubicBezTo>
                    <a:pt x="4315676" y="-6522"/>
                    <a:pt x="4510354" y="58710"/>
                    <a:pt x="4802291" y="0"/>
                  </a:cubicBezTo>
                  <a:cubicBezTo>
                    <a:pt x="4835583" y="618"/>
                    <a:pt x="4872952" y="32268"/>
                    <a:pt x="4871903" y="69612"/>
                  </a:cubicBezTo>
                  <a:cubicBezTo>
                    <a:pt x="4889464" y="253526"/>
                    <a:pt x="4839377" y="394331"/>
                    <a:pt x="4871903" y="560241"/>
                  </a:cubicBezTo>
                  <a:cubicBezTo>
                    <a:pt x="4904429" y="726151"/>
                    <a:pt x="4849730" y="894985"/>
                    <a:pt x="4871903" y="1117774"/>
                  </a:cubicBezTo>
                  <a:cubicBezTo>
                    <a:pt x="4894076" y="1340563"/>
                    <a:pt x="4867043" y="1540391"/>
                    <a:pt x="4871903" y="1719909"/>
                  </a:cubicBezTo>
                  <a:cubicBezTo>
                    <a:pt x="4876763" y="1899428"/>
                    <a:pt x="4861805" y="2163055"/>
                    <a:pt x="4871903" y="2299743"/>
                  </a:cubicBezTo>
                  <a:cubicBezTo>
                    <a:pt x="4870813" y="2342180"/>
                    <a:pt x="4846527" y="2359605"/>
                    <a:pt x="4802291" y="2369355"/>
                  </a:cubicBezTo>
                  <a:cubicBezTo>
                    <a:pt x="4660814" y="2394690"/>
                    <a:pt x="4454747" y="2332809"/>
                    <a:pt x="4258033" y="2369355"/>
                  </a:cubicBezTo>
                  <a:cubicBezTo>
                    <a:pt x="4061319" y="2405901"/>
                    <a:pt x="3942154" y="2321542"/>
                    <a:pt x="3666448" y="2369355"/>
                  </a:cubicBezTo>
                  <a:cubicBezTo>
                    <a:pt x="3390743" y="2417168"/>
                    <a:pt x="3415823" y="2323896"/>
                    <a:pt x="3216844" y="2369355"/>
                  </a:cubicBezTo>
                  <a:cubicBezTo>
                    <a:pt x="3017865" y="2414814"/>
                    <a:pt x="2872716" y="2315685"/>
                    <a:pt x="2530605" y="2369355"/>
                  </a:cubicBezTo>
                  <a:cubicBezTo>
                    <a:pt x="2188494" y="2423025"/>
                    <a:pt x="2195998" y="2319745"/>
                    <a:pt x="1939020" y="2369355"/>
                  </a:cubicBezTo>
                  <a:cubicBezTo>
                    <a:pt x="1682043" y="2418965"/>
                    <a:pt x="1472694" y="2322954"/>
                    <a:pt x="1252782" y="2369355"/>
                  </a:cubicBezTo>
                  <a:cubicBezTo>
                    <a:pt x="1032870" y="2415756"/>
                    <a:pt x="932634" y="2333110"/>
                    <a:pt x="708524" y="2369355"/>
                  </a:cubicBezTo>
                  <a:cubicBezTo>
                    <a:pt x="484414" y="2405600"/>
                    <a:pt x="352512" y="2362562"/>
                    <a:pt x="69612" y="2369355"/>
                  </a:cubicBezTo>
                  <a:cubicBezTo>
                    <a:pt x="28006" y="2378901"/>
                    <a:pt x="1846" y="2341442"/>
                    <a:pt x="0" y="2299743"/>
                  </a:cubicBezTo>
                  <a:cubicBezTo>
                    <a:pt x="-53951" y="2163263"/>
                    <a:pt x="12348" y="1948374"/>
                    <a:pt x="0" y="1742210"/>
                  </a:cubicBezTo>
                  <a:cubicBezTo>
                    <a:pt x="-12348" y="1536046"/>
                    <a:pt x="43785" y="1283191"/>
                    <a:pt x="0" y="1162376"/>
                  </a:cubicBezTo>
                  <a:cubicBezTo>
                    <a:pt x="-43785" y="1041561"/>
                    <a:pt x="53798" y="705745"/>
                    <a:pt x="0" y="560241"/>
                  </a:cubicBezTo>
                  <a:cubicBezTo>
                    <a:pt x="-53798" y="414737"/>
                    <a:pt x="27764" y="262879"/>
                    <a:pt x="0" y="69612"/>
                  </a:cubicBezTo>
                  <a:close/>
                </a:path>
                <a:path w="4871903" h="2369355" stroke="0" extrusionOk="0">
                  <a:moveTo>
                    <a:pt x="0" y="69612"/>
                  </a:moveTo>
                  <a:cubicBezTo>
                    <a:pt x="-2069" y="29889"/>
                    <a:pt x="25248" y="2221"/>
                    <a:pt x="69612" y="0"/>
                  </a:cubicBezTo>
                  <a:cubicBezTo>
                    <a:pt x="212228" y="-24984"/>
                    <a:pt x="588854" y="27711"/>
                    <a:pt x="755850" y="0"/>
                  </a:cubicBezTo>
                  <a:cubicBezTo>
                    <a:pt x="922846" y="-27711"/>
                    <a:pt x="1097670" y="56868"/>
                    <a:pt x="1300109" y="0"/>
                  </a:cubicBezTo>
                  <a:cubicBezTo>
                    <a:pt x="1502548" y="-56868"/>
                    <a:pt x="1653686" y="57181"/>
                    <a:pt x="1797040" y="0"/>
                  </a:cubicBezTo>
                  <a:cubicBezTo>
                    <a:pt x="1940394" y="-57181"/>
                    <a:pt x="2240469" y="17467"/>
                    <a:pt x="2435952" y="0"/>
                  </a:cubicBezTo>
                  <a:cubicBezTo>
                    <a:pt x="2631435" y="-17467"/>
                    <a:pt x="2844838" y="6372"/>
                    <a:pt x="2980210" y="0"/>
                  </a:cubicBezTo>
                  <a:cubicBezTo>
                    <a:pt x="3115582" y="-6372"/>
                    <a:pt x="3521301" y="62180"/>
                    <a:pt x="3666448" y="0"/>
                  </a:cubicBezTo>
                  <a:cubicBezTo>
                    <a:pt x="3811595" y="-62180"/>
                    <a:pt x="3923070" y="17892"/>
                    <a:pt x="4163379" y="0"/>
                  </a:cubicBezTo>
                  <a:cubicBezTo>
                    <a:pt x="4403688" y="-17892"/>
                    <a:pt x="4558641" y="6954"/>
                    <a:pt x="4802291" y="0"/>
                  </a:cubicBezTo>
                  <a:cubicBezTo>
                    <a:pt x="4846533" y="1394"/>
                    <a:pt x="4863129" y="29747"/>
                    <a:pt x="4871903" y="69612"/>
                  </a:cubicBezTo>
                  <a:cubicBezTo>
                    <a:pt x="4904914" y="286375"/>
                    <a:pt x="4842406" y="360100"/>
                    <a:pt x="4871903" y="627145"/>
                  </a:cubicBezTo>
                  <a:cubicBezTo>
                    <a:pt x="4901400" y="894190"/>
                    <a:pt x="4816104" y="1045038"/>
                    <a:pt x="4871903" y="1162376"/>
                  </a:cubicBezTo>
                  <a:cubicBezTo>
                    <a:pt x="4927702" y="1279714"/>
                    <a:pt x="4810207" y="1637633"/>
                    <a:pt x="4871903" y="1764512"/>
                  </a:cubicBezTo>
                  <a:cubicBezTo>
                    <a:pt x="4933599" y="1891391"/>
                    <a:pt x="4871410" y="2074783"/>
                    <a:pt x="4871903" y="2299743"/>
                  </a:cubicBezTo>
                  <a:cubicBezTo>
                    <a:pt x="4864178" y="2339457"/>
                    <a:pt x="4836790" y="2366632"/>
                    <a:pt x="4802291" y="2369355"/>
                  </a:cubicBezTo>
                  <a:cubicBezTo>
                    <a:pt x="4639252" y="2443284"/>
                    <a:pt x="4364597" y="2354103"/>
                    <a:pt x="4163379" y="2369355"/>
                  </a:cubicBezTo>
                  <a:cubicBezTo>
                    <a:pt x="3962161" y="2384607"/>
                    <a:pt x="3798279" y="2341081"/>
                    <a:pt x="3571794" y="2369355"/>
                  </a:cubicBezTo>
                  <a:cubicBezTo>
                    <a:pt x="3345309" y="2397629"/>
                    <a:pt x="3229217" y="2330823"/>
                    <a:pt x="3122190" y="2369355"/>
                  </a:cubicBezTo>
                  <a:cubicBezTo>
                    <a:pt x="3015163" y="2407887"/>
                    <a:pt x="2758351" y="2350025"/>
                    <a:pt x="2625259" y="2369355"/>
                  </a:cubicBezTo>
                  <a:cubicBezTo>
                    <a:pt x="2492167" y="2388685"/>
                    <a:pt x="2196771" y="2353341"/>
                    <a:pt x="1939020" y="2369355"/>
                  </a:cubicBezTo>
                  <a:cubicBezTo>
                    <a:pt x="1681269" y="2385369"/>
                    <a:pt x="1575671" y="2302866"/>
                    <a:pt x="1347435" y="2369355"/>
                  </a:cubicBezTo>
                  <a:cubicBezTo>
                    <a:pt x="1119199" y="2435844"/>
                    <a:pt x="1016476" y="2352088"/>
                    <a:pt x="850504" y="2369355"/>
                  </a:cubicBezTo>
                  <a:cubicBezTo>
                    <a:pt x="684532" y="2386622"/>
                    <a:pt x="388029" y="2314835"/>
                    <a:pt x="69612" y="2369355"/>
                  </a:cubicBezTo>
                  <a:cubicBezTo>
                    <a:pt x="24259" y="2368964"/>
                    <a:pt x="3463" y="2341170"/>
                    <a:pt x="0" y="2299743"/>
                  </a:cubicBezTo>
                  <a:cubicBezTo>
                    <a:pt x="-58616" y="2128167"/>
                    <a:pt x="61792" y="1942150"/>
                    <a:pt x="0" y="1742210"/>
                  </a:cubicBezTo>
                  <a:cubicBezTo>
                    <a:pt x="-61792" y="1542270"/>
                    <a:pt x="54977" y="1431901"/>
                    <a:pt x="0" y="1229280"/>
                  </a:cubicBezTo>
                  <a:cubicBezTo>
                    <a:pt x="-54977" y="1026659"/>
                    <a:pt x="10871" y="783775"/>
                    <a:pt x="0" y="649446"/>
                  </a:cubicBezTo>
                  <a:cubicBezTo>
                    <a:pt x="-10871" y="515117"/>
                    <a:pt x="37359" y="309011"/>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00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14758" y="4156407"/>
              <a:ext cx="610952" cy="1073364"/>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828609" y="2708920"/>
            <a:ext cx="2676085" cy="3733339"/>
            <a:chOff x="3029309" y="2457562"/>
            <a:chExt cx="2676085" cy="3733339"/>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457562"/>
              <a:ext cx="2474323" cy="3733339"/>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1"/>
              <a:ext cx="607391" cy="1298802"/>
              <a:chOff x="4336438" y="2128458"/>
              <a:chExt cx="607391" cy="1089088"/>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089088"/>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749454"/>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4" name="文字方塊 3">
            <a:extLst>
              <a:ext uri="{FF2B5EF4-FFF2-40B4-BE49-F238E27FC236}">
                <a16:creationId xmlns:a16="http://schemas.microsoft.com/office/drawing/2014/main" id="{DD02B1F1-157F-CCBD-EC1B-B4EF121A31FC}"/>
              </a:ext>
            </a:extLst>
          </p:cNvPr>
          <p:cNvSpPr txBox="1"/>
          <p:nvPr/>
        </p:nvSpPr>
        <p:spPr>
          <a:xfrm>
            <a:off x="99753" y="2366219"/>
            <a:ext cx="2713240" cy="53889"/>
          </a:xfrm>
          <a:prstGeom prst="rect">
            <a:avLst/>
          </a:prstGeom>
          <a:solidFill>
            <a:schemeClr val="bg2">
              <a:lumMod val="90000"/>
              <a:alpha val="80000"/>
            </a:schemeClr>
          </a:solidFill>
          <a:ln w="12700">
            <a:solidFill>
              <a:schemeClr val="bg2">
                <a:lumMod val="50000"/>
                <a:alpha val="60000"/>
              </a:schemeClr>
            </a:solidFill>
            <a:prstDash val="solid"/>
          </a:ln>
        </p:spPr>
        <p:txBody>
          <a:bodyPr wrap="none" lIns="0" tIns="0" rIns="0" bIns="91440" anchor="ctr" anchorCtr="1">
            <a:noAutofit/>
          </a:bodyPr>
          <a:lstStyle/>
          <a:p>
            <a:pPr algn="ctr">
              <a:lnSpc>
                <a:spcPts val="1200"/>
              </a:lnSpc>
              <a:buNone/>
            </a:pPr>
            <a:r>
              <a:rPr lang="en-US" altLang="zh-TW" sz="800" dirty="0">
                <a:solidFill>
                  <a:schemeClr val="bg2">
                    <a:lumMod val="25000"/>
                  </a:schemeClr>
                </a:solidFill>
                <a:latin typeface="Consolas" panose="020B0609020204030204" pitchFamily="49" charset="0"/>
                <a:ea typeface="Dotum" panose="020B0600000101010101" pitchFamily="34" charset="-127"/>
              </a:rPr>
              <a:t>CCL</a:t>
            </a: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1614346" y="4984921"/>
            <a:ext cx="1948127" cy="1180383"/>
          </a:xfrm>
          <a:prstGeom prst="borderCallout1">
            <a:avLst>
              <a:gd name="adj1" fmla="val 15212"/>
              <a:gd name="adj2" fmla="val 9855"/>
              <a:gd name="adj3" fmla="val 15431"/>
              <a:gd name="adj4" fmla="val -44781"/>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1768141321"/>
              </p:ext>
            </p:extLst>
          </p:nvPr>
        </p:nvGraphicFramePr>
        <p:xfrm>
          <a:off x="1679771" y="4992544"/>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341707" y="5063065"/>
            <a:ext cx="974139" cy="1059346"/>
            <a:chOff x="6114065" y="721121"/>
            <a:chExt cx="974139"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065"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60000"/>
                <a:lumOff val="4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427273"/>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462003"/>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endParaRPr lang="en-US" altLang="zh-TW" sz="1000" b="1" dirty="0">
              <a:solidFill>
                <a:schemeClr val="bg1"/>
              </a:solidFill>
            </a:endParaRP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2153" y="1850158"/>
            <a:ext cx="1718591" cy="96719"/>
          </a:xfrm>
          <a:prstGeom prst="rect">
            <a:avLst/>
          </a:prstGeom>
          <a:solidFill>
            <a:schemeClr val="bg1">
              <a:lumMod val="85000"/>
              <a:alpha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000"/>
              </a:lnSpc>
              <a:buNone/>
            </a:pPr>
            <a:r>
              <a:rPr lang="en-US" altLang="zh-TW" sz="800" b="1" dirty="0">
                <a:solidFill>
                  <a:schemeClr val="accent5">
                    <a:lumMod val="50000"/>
                  </a:schemeClr>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3" y="1484784"/>
            <a:ext cx="1309608" cy="132618"/>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314886"/>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314886"/>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1615761" y="3147029"/>
            <a:ext cx="1948127" cy="1608749"/>
          </a:xfrm>
          <a:prstGeom prst="borderCallout1">
            <a:avLst>
              <a:gd name="adj1" fmla="val 49078"/>
              <a:gd name="adj2" fmla="val 4692"/>
              <a:gd name="adj3" fmla="val 48932"/>
              <a:gd name="adj4" fmla="val -32098"/>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a:cxnSpLocks/>
          </p:cNvCxnSpPr>
          <p:nvPr/>
        </p:nvCxnSpPr>
        <p:spPr>
          <a:xfrm>
            <a:off x="2534072" y="980728"/>
            <a:ext cx="0" cy="1275987"/>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92678699"/>
              </p:ext>
            </p:extLst>
          </p:nvPr>
        </p:nvGraphicFramePr>
        <p:xfrm>
          <a:off x="1679771" y="3163014"/>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36" name="文字方塊 35">
            <a:extLst>
              <a:ext uri="{FF2B5EF4-FFF2-40B4-BE49-F238E27FC236}">
                <a16:creationId xmlns:a16="http://schemas.microsoft.com/office/drawing/2014/main" id="{FE291B76-36A5-FC7A-2222-0D217D2D02F1}"/>
              </a:ext>
            </a:extLst>
          </p:cNvPr>
          <p:cNvSpPr txBox="1"/>
          <p:nvPr/>
        </p:nvSpPr>
        <p:spPr>
          <a:xfrm>
            <a:off x="2483768" y="1981150"/>
            <a:ext cx="168315" cy="295722"/>
          </a:xfrm>
          <a:prstGeom prst="rect">
            <a:avLst/>
          </a:prstGeom>
          <a:noFill/>
        </p:spPr>
        <p:txBody>
          <a:bodyPr wrap="none" lIns="0" tIns="0" rIns="0" bIns="0" anchor="ctr" anchorCtr="1">
            <a:spAutoFit/>
          </a:bodyPr>
          <a:lstStyle/>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Die</a:t>
            </a:r>
          </a:p>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Saw</a:t>
            </a:r>
          </a:p>
        </p:txBody>
      </p:sp>
      <p:grpSp>
        <p:nvGrpSpPr>
          <p:cNvPr id="55" name="群組 54">
            <a:extLst>
              <a:ext uri="{FF2B5EF4-FFF2-40B4-BE49-F238E27FC236}">
                <a16:creationId xmlns:a16="http://schemas.microsoft.com/office/drawing/2014/main" id="{4DE2592A-D604-3D0C-91DE-89E097153AD3}"/>
              </a:ext>
            </a:extLst>
          </p:cNvPr>
          <p:cNvGrpSpPr/>
          <p:nvPr/>
        </p:nvGrpSpPr>
        <p:grpSpPr>
          <a:xfrm>
            <a:off x="6197511" y="5432652"/>
            <a:ext cx="831306" cy="1020684"/>
            <a:chOff x="5135962" y="4417631"/>
            <a:chExt cx="831306" cy="1020684"/>
          </a:xfrm>
        </p:grpSpPr>
        <p:sp>
          <p:nvSpPr>
            <p:cNvPr id="45" name="文字方塊 44">
              <a:extLst>
                <a:ext uri="{FF2B5EF4-FFF2-40B4-BE49-F238E27FC236}">
                  <a16:creationId xmlns:a16="http://schemas.microsoft.com/office/drawing/2014/main" id="{87EADC2A-442B-24AB-BF8E-75BCE8145054}"/>
                </a:ext>
              </a:extLst>
            </p:cNvPr>
            <p:cNvSpPr txBox="1"/>
            <p:nvPr/>
          </p:nvSpPr>
          <p:spPr>
            <a:xfrm>
              <a:off x="5508104" y="4588393"/>
              <a:ext cx="406427" cy="849922"/>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839285"/>
              <a:ext cx="380840" cy="599030"/>
            </a:xfrm>
            <a:prstGeom prst="rect">
              <a:avLst/>
            </a:prstGeom>
          </p:spPr>
        </p:pic>
        <p:sp>
          <p:nvSpPr>
            <p:cNvPr id="47" name="文字方塊 46">
              <a:extLst>
                <a:ext uri="{FF2B5EF4-FFF2-40B4-BE49-F238E27FC236}">
                  <a16:creationId xmlns:a16="http://schemas.microsoft.com/office/drawing/2014/main" id="{5E22CC08-ED18-A46F-157B-580E43DEEA91}"/>
                </a:ext>
              </a:extLst>
            </p:cNvPr>
            <p:cNvSpPr txBox="1"/>
            <p:nvPr/>
          </p:nvSpPr>
          <p:spPr>
            <a:xfrm>
              <a:off x="5754102" y="4956209"/>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35962" y="4417631"/>
              <a:ext cx="406427" cy="876667"/>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154380" y="4683992"/>
              <a:ext cx="388009" cy="610307"/>
            </a:xfrm>
            <a:prstGeom prst="rect">
              <a:avLst/>
            </a:prstGeom>
            <a:noFill/>
            <a:ln>
              <a:noFill/>
            </a:ln>
            <a:effectLst/>
          </p:spPr>
        </p:pic>
        <p:sp>
          <p:nvSpPr>
            <p:cNvPr id="51" name="文字方塊 50">
              <a:extLst>
                <a:ext uri="{FF2B5EF4-FFF2-40B4-BE49-F238E27FC236}">
                  <a16:creationId xmlns:a16="http://schemas.microsoft.com/office/drawing/2014/main" id="{472EA781-8409-172B-ED33-931C5B8C99DC}"/>
                </a:ext>
              </a:extLst>
            </p:cNvPr>
            <p:cNvSpPr txBox="1"/>
            <p:nvPr/>
          </p:nvSpPr>
          <p:spPr>
            <a:xfrm>
              <a:off x="5394062" y="481219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796136" y="1140570"/>
            <a:ext cx="2004185" cy="1784374"/>
          </a:xfrm>
          <a:prstGeom prst="borderCallout1">
            <a:avLst>
              <a:gd name="adj1" fmla="val 97311"/>
              <a:gd name="adj2" fmla="val 97673"/>
              <a:gd name="adj3" fmla="val 118960"/>
              <a:gd name="adj4" fmla="val 118673"/>
            </a:avLst>
          </a:prstGeom>
          <a:solidFill>
            <a:schemeClr val="tx2">
              <a:lumMod val="40000"/>
              <a:lumOff val="60000"/>
              <a:alpha val="4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4015763714"/>
              </p:ext>
            </p:extLst>
          </p:nvPr>
        </p:nvGraphicFramePr>
        <p:xfrm>
          <a:off x="5796136" y="1135830"/>
          <a:ext cx="2004182" cy="1806654"/>
        </p:xfrm>
        <a:graphic>
          <a:graphicData uri="http://schemas.openxmlformats.org/drawingml/2006/table">
            <a:tbl>
              <a:tblPr firstRow="1" bandRow="1">
                <a:tableStyleId>{5C22544A-7EE6-4342-B048-85BDC9FD1C3A}</a:tableStyleId>
              </a:tblPr>
              <a:tblGrid>
                <a:gridCol w="2004182">
                  <a:extLst>
                    <a:ext uri="{9D8B030D-6E8A-4147-A177-3AD203B41FA5}">
                      <a16:colId xmlns:a16="http://schemas.microsoft.com/office/drawing/2014/main" val="4512040"/>
                    </a:ext>
                  </a:extLst>
                </a:gridCol>
              </a:tblGrid>
              <a:tr h="3009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724815099"/>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2452236196"/>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2132145302"/>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584017267"/>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7108361"/>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365849749"/>
                  </a:ext>
                </a:extLst>
              </a:tr>
            </a:tbl>
          </a:graphicData>
        </a:graphic>
      </p:graphicFrame>
      <p:grpSp>
        <p:nvGrpSpPr>
          <p:cNvPr id="108" name="群組 107">
            <a:extLst>
              <a:ext uri="{FF2B5EF4-FFF2-40B4-BE49-F238E27FC236}">
                <a16:creationId xmlns:a16="http://schemas.microsoft.com/office/drawing/2014/main" id="{8B856D10-59CD-C186-CB30-9D364A137D47}"/>
              </a:ext>
            </a:extLst>
          </p:cNvPr>
          <p:cNvGrpSpPr/>
          <p:nvPr/>
        </p:nvGrpSpPr>
        <p:grpSpPr>
          <a:xfrm>
            <a:off x="7057301" y="2645681"/>
            <a:ext cx="1667973" cy="1584176"/>
            <a:chOff x="4139952" y="548680"/>
            <a:chExt cx="1667973" cy="1584176"/>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66300"/>
              </a:avLst>
            </a:prstGeom>
            <a:solidFill>
              <a:srgbClr val="B8EACA"/>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24965"/>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09409" y="1671191"/>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311151"/>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20%</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35%</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95757" y="1043444"/>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44%</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cxnSp>
        <p:nvCxnSpPr>
          <p:cNvPr id="40" name="接點: 弧形 39">
            <a:extLst>
              <a:ext uri="{FF2B5EF4-FFF2-40B4-BE49-F238E27FC236}">
                <a16:creationId xmlns:a16="http://schemas.microsoft.com/office/drawing/2014/main" id="{25193D1B-BDE3-AFE9-F003-EC6A7A021529}"/>
              </a:ext>
            </a:extLst>
          </p:cNvPr>
          <p:cNvCxnSpPr>
            <a:cxnSpLocks/>
            <a:stCxn id="105" idx="0"/>
            <a:endCxn id="104" idx="1"/>
          </p:cNvCxnSpPr>
          <p:nvPr/>
        </p:nvCxnSpPr>
        <p:spPr>
          <a:xfrm rot="5400000" flipH="1" flipV="1">
            <a:off x="7524081" y="2776208"/>
            <a:ext cx="191923" cy="536553"/>
          </a:xfrm>
          <a:prstGeom prst="curvedConnector2">
            <a:avLst/>
          </a:prstGeom>
          <a:ln w="2540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6" name="群組 5">
            <a:extLst>
              <a:ext uri="{FF2B5EF4-FFF2-40B4-BE49-F238E27FC236}">
                <a16:creationId xmlns:a16="http://schemas.microsoft.com/office/drawing/2014/main" id="{9B1F7AF4-88D8-4B3F-CECC-393296A65BC4}"/>
              </a:ext>
            </a:extLst>
          </p:cNvPr>
          <p:cNvGrpSpPr/>
          <p:nvPr/>
        </p:nvGrpSpPr>
        <p:grpSpPr>
          <a:xfrm>
            <a:off x="7756336" y="1369729"/>
            <a:ext cx="1280160" cy="1280161"/>
            <a:chOff x="4139952" y="3750910"/>
            <a:chExt cx="1280160" cy="1280161"/>
          </a:xfrm>
        </p:grpSpPr>
        <p:sp>
          <p:nvSpPr>
            <p:cNvPr id="7" name="局部圓 6">
              <a:extLst>
                <a:ext uri="{FF2B5EF4-FFF2-40B4-BE49-F238E27FC236}">
                  <a16:creationId xmlns:a16="http://schemas.microsoft.com/office/drawing/2014/main" id="{856A193C-754B-22DC-1AF0-BD2A27898431}"/>
                </a:ext>
              </a:extLst>
            </p:cNvPr>
            <p:cNvSpPr/>
            <p:nvPr/>
          </p:nvSpPr>
          <p:spPr>
            <a:xfrm>
              <a:off x="4139952" y="3750911"/>
              <a:ext cx="1280160" cy="1280160"/>
            </a:xfrm>
            <a:prstGeom prst="pie">
              <a:avLst>
                <a:gd name="adj1" fmla="val 16168017"/>
                <a:gd name="adj2" fmla="val 570035"/>
              </a:avLst>
            </a:prstGeom>
            <a:solidFill>
              <a:schemeClr val="accent1">
                <a:lumMod val="7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1" name="局部圓 10">
              <a:extLst>
                <a:ext uri="{FF2B5EF4-FFF2-40B4-BE49-F238E27FC236}">
                  <a16:creationId xmlns:a16="http://schemas.microsoft.com/office/drawing/2014/main" id="{48848AEA-E086-5BB0-AE8F-C515B21DBEBA}"/>
                </a:ext>
              </a:extLst>
            </p:cNvPr>
            <p:cNvSpPr/>
            <p:nvPr/>
          </p:nvSpPr>
          <p:spPr>
            <a:xfrm>
              <a:off x="4139952" y="3750911"/>
              <a:ext cx="1280160" cy="1280160"/>
            </a:xfrm>
            <a:prstGeom prst="pie">
              <a:avLst>
                <a:gd name="adj1" fmla="val 631188"/>
                <a:gd name="adj2" fmla="val 4440168"/>
              </a:avLst>
            </a:prstGeom>
            <a:solidFill>
              <a:schemeClr val="tx1"/>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7" name="文字方塊 16">
              <a:extLst>
                <a:ext uri="{FF2B5EF4-FFF2-40B4-BE49-F238E27FC236}">
                  <a16:creationId xmlns:a16="http://schemas.microsoft.com/office/drawing/2014/main" id="{D53EDF8C-52CA-FB46-74CE-A46AF641F2D9}"/>
                </a:ext>
              </a:extLst>
            </p:cNvPr>
            <p:cNvSpPr txBox="1"/>
            <p:nvPr/>
          </p:nvSpPr>
          <p:spPr>
            <a:xfrm>
              <a:off x="4932040" y="4489375"/>
              <a:ext cx="379912" cy="307777"/>
            </a:xfrm>
            <a:prstGeom prst="rect">
              <a:avLst/>
            </a:prstGeom>
            <a:noFill/>
          </p:spPr>
          <p:txBody>
            <a:bodyPr wrap="none" lIns="0" tIns="0" rIns="0" bIns="0" rtlCol="0" anchor="ctr" anchorCtr="1">
              <a:noAutofit/>
            </a:bodyPr>
            <a:lstStyle/>
            <a:p>
              <a:r>
                <a:rPr lang="en-US" altLang="zh-TW" sz="1000" b="1" dirty="0">
                  <a:solidFill>
                    <a:schemeClr val="bg1"/>
                  </a:solidFill>
                </a:rPr>
                <a:t>Micron</a:t>
              </a:r>
            </a:p>
            <a:p>
              <a:r>
                <a:rPr lang="en-US" altLang="zh-TW" sz="1000" b="1" dirty="0">
                  <a:solidFill>
                    <a:schemeClr val="bg1"/>
                  </a:solidFill>
                </a:rPr>
                <a:t>15%</a:t>
              </a:r>
              <a:endParaRPr lang="zh-TW" altLang="en-US" sz="1000" b="1" dirty="0">
                <a:solidFill>
                  <a:schemeClr val="bg1"/>
                </a:solidFill>
              </a:endParaRPr>
            </a:p>
          </p:txBody>
        </p:sp>
        <p:sp>
          <p:nvSpPr>
            <p:cNvPr id="24" name="文字方塊 23">
              <a:extLst>
                <a:ext uri="{FF2B5EF4-FFF2-40B4-BE49-F238E27FC236}">
                  <a16:creationId xmlns:a16="http://schemas.microsoft.com/office/drawing/2014/main" id="{A257A509-5AD2-2E37-BC19-6E7BC7741759}"/>
                </a:ext>
              </a:extLst>
            </p:cNvPr>
            <p:cNvSpPr txBox="1"/>
            <p:nvPr/>
          </p:nvSpPr>
          <p:spPr>
            <a:xfrm>
              <a:off x="4870409" y="4077072"/>
              <a:ext cx="477695" cy="307777"/>
            </a:xfrm>
            <a:prstGeom prst="rect">
              <a:avLst/>
            </a:prstGeom>
            <a:noFill/>
          </p:spPr>
          <p:txBody>
            <a:bodyPr wrap="none" lIns="0" tIns="0" rIns="0" bIns="0" rtlCol="0" anchor="ctr" anchorCtr="1">
              <a:noAutofit/>
            </a:bodyPr>
            <a:lstStyle/>
            <a:p>
              <a:pPr algn="ctr"/>
              <a:r>
                <a:rPr lang="en-US" altLang="zh-TW" sz="1000" b="1" dirty="0">
                  <a:solidFill>
                    <a:schemeClr val="bg1"/>
                  </a:solidFill>
                </a:rPr>
                <a:t>SAMSUNG</a:t>
              </a:r>
            </a:p>
            <a:p>
              <a:pPr algn="ctr"/>
              <a:r>
                <a:rPr lang="en-US" altLang="zh-TW" sz="1000" b="1" dirty="0">
                  <a:solidFill>
                    <a:schemeClr val="bg1"/>
                  </a:solidFill>
                </a:rPr>
                <a:t>30%</a:t>
              </a:r>
              <a:endParaRPr lang="zh-TW" altLang="en-US" sz="1000" b="1" dirty="0">
                <a:solidFill>
                  <a:schemeClr val="bg1"/>
                </a:solidFill>
              </a:endParaRPr>
            </a:p>
          </p:txBody>
        </p:sp>
        <p:sp>
          <p:nvSpPr>
            <p:cNvPr id="32" name="局部圓 31">
              <a:extLst>
                <a:ext uri="{FF2B5EF4-FFF2-40B4-BE49-F238E27FC236}">
                  <a16:creationId xmlns:a16="http://schemas.microsoft.com/office/drawing/2014/main" id="{7CAD1737-598B-1678-9C44-7E8A328B632B}"/>
                </a:ext>
              </a:extLst>
            </p:cNvPr>
            <p:cNvSpPr/>
            <p:nvPr/>
          </p:nvSpPr>
          <p:spPr>
            <a:xfrm>
              <a:off x="4139952" y="3750910"/>
              <a:ext cx="1280160" cy="1262265"/>
            </a:xfrm>
            <a:prstGeom prst="pie">
              <a:avLst>
                <a:gd name="adj1" fmla="val 4509834"/>
                <a:gd name="adj2" fmla="val 16175134"/>
              </a:avLst>
            </a:prstGeom>
            <a:pattFill prst="lgGrid">
              <a:fgClr>
                <a:schemeClr val="bg1">
                  <a:lumMod val="85000"/>
                </a:schemeClr>
              </a:fgClr>
              <a:bgClr>
                <a:schemeClr val="bg1"/>
              </a:bgClr>
            </a:pattFill>
            <a:ln w="12700">
              <a:solidFill>
                <a:schemeClr val="bg1">
                  <a:lumMod val="85000"/>
                </a:schemeClr>
              </a:solidFill>
            </a:ln>
            <a:effectLst>
              <a:glow rad="50800">
                <a:srgbClr val="FFFF00"/>
              </a:glow>
            </a:effec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34" name="文字方塊 33">
              <a:extLst>
                <a:ext uri="{FF2B5EF4-FFF2-40B4-BE49-F238E27FC236}">
                  <a16:creationId xmlns:a16="http://schemas.microsoft.com/office/drawing/2014/main" id="{6D8E0384-60DD-0988-4551-7D5D4B862ED6}"/>
                </a:ext>
              </a:extLst>
            </p:cNvPr>
            <p:cNvSpPr txBox="1"/>
            <p:nvPr/>
          </p:nvSpPr>
          <p:spPr>
            <a:xfrm>
              <a:off x="4196720" y="4268564"/>
              <a:ext cx="554639" cy="369332"/>
            </a:xfrm>
            <a:prstGeom prst="rect">
              <a:avLst/>
            </a:prstGeom>
            <a:solidFill>
              <a:schemeClr val="bg1">
                <a:alpha val="40000"/>
              </a:schemeClr>
            </a:solidFill>
            <a:effectLst/>
          </p:spPr>
          <p:txBody>
            <a:bodyPr wrap="none" lIns="0" tIns="0" rIns="0" bIns="0" rtlCol="0">
              <a:spAutoFit/>
            </a:bodyPr>
            <a:lstStyle/>
            <a:p>
              <a:pPr algn="ctr"/>
              <a:r>
                <a:rPr lang="en-US" altLang="zh-TW" sz="1200" b="1" dirty="0">
                  <a:solidFill>
                    <a:srgbClr val="FF0000"/>
                  </a:solidFill>
                </a:rPr>
                <a:t>SK</a:t>
              </a:r>
              <a:r>
                <a:rPr lang="en-US" altLang="zh-TW" sz="1200" b="1" dirty="0">
                  <a:solidFill>
                    <a:schemeClr val="bg1"/>
                  </a:solidFill>
                </a:rPr>
                <a:t> </a:t>
              </a:r>
              <a:r>
                <a:rPr lang="en-US" altLang="zh-TW" sz="1200" b="1" dirty="0">
                  <a:solidFill>
                    <a:schemeClr val="accent6">
                      <a:lumMod val="75000"/>
                    </a:schemeClr>
                  </a:solidFill>
                </a:rPr>
                <a:t>Hynix</a:t>
              </a:r>
            </a:p>
            <a:p>
              <a:pPr algn="ctr"/>
              <a:r>
                <a:rPr lang="en-US" altLang="zh-TW" sz="1200" dirty="0"/>
                <a:t>55%</a:t>
              </a:r>
              <a:endParaRPr lang="zh-TW" altLang="en-US" sz="1200" dirty="0"/>
            </a:p>
          </p:txBody>
        </p:sp>
      </p:grpSp>
      <p:graphicFrame>
        <p:nvGraphicFramePr>
          <p:cNvPr id="35" name="表格 34">
            <a:extLst>
              <a:ext uri="{FF2B5EF4-FFF2-40B4-BE49-F238E27FC236}">
                <a16:creationId xmlns:a16="http://schemas.microsoft.com/office/drawing/2014/main" id="{09E019C2-92F6-EF20-73A3-B334BF3FA378}"/>
              </a:ext>
            </a:extLst>
          </p:cNvPr>
          <p:cNvGraphicFramePr>
            <a:graphicFrameLocks noGrp="1"/>
          </p:cNvGraphicFramePr>
          <p:nvPr>
            <p:extLst>
              <p:ext uri="{D42A27DB-BD31-4B8C-83A1-F6EECF244321}">
                <p14:modId xmlns:p14="http://schemas.microsoft.com/office/powerpoint/2010/main" val="275062629"/>
              </p:ext>
            </p:extLst>
          </p:nvPr>
        </p:nvGraphicFramePr>
        <p:xfrm>
          <a:off x="3332495" y="1041556"/>
          <a:ext cx="2199907" cy="864095"/>
        </p:xfrm>
        <a:graphic>
          <a:graphicData uri="http://schemas.openxmlformats.org/drawingml/2006/table">
            <a:tbl>
              <a:tblPr firstRow="1" bandRow="1">
                <a:tableStyleId>{5C22544A-7EE6-4342-B048-85BDC9FD1C3A}</a:tableStyleId>
              </a:tblPr>
              <a:tblGrid>
                <a:gridCol w="395781">
                  <a:extLst>
                    <a:ext uri="{9D8B030D-6E8A-4147-A177-3AD203B41FA5}">
                      <a16:colId xmlns:a16="http://schemas.microsoft.com/office/drawing/2014/main" val="1907769079"/>
                    </a:ext>
                  </a:extLst>
                </a:gridCol>
                <a:gridCol w="1804126">
                  <a:extLst>
                    <a:ext uri="{9D8B030D-6E8A-4147-A177-3AD203B41FA5}">
                      <a16:colId xmlns:a16="http://schemas.microsoft.com/office/drawing/2014/main" val="4512040"/>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Chip on Wafer </a:t>
                      </a:r>
                      <a:r>
                        <a:rPr lang="en-US" altLang="zh-TW" sz="1200" b="0" cap="none" spc="0" dirty="0">
                          <a:ln w="0"/>
                          <a:solidFill>
                            <a:schemeClr val="tx1"/>
                          </a:solidFill>
                          <a:effectLst/>
                        </a:rPr>
                        <a:t>on Substrate</a:t>
                      </a:r>
                    </a:p>
                  </a:txBody>
                  <a:tcPr marL="0"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5">
                              <a:lumMod val="50000"/>
                            </a:schemeClr>
                          </a:solidFill>
                          <a:effectLst/>
                        </a:rPr>
                        <a:t>RDL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Chip on Panel </a:t>
                      </a:r>
                      <a:r>
                        <a:rPr lang="en-US" altLang="zh-TW" sz="1200" b="0" cap="none" spc="0" dirty="0">
                          <a:ln w="0"/>
                          <a:solidFill>
                            <a:schemeClr val="tx1"/>
                          </a:solidFill>
                          <a:effectLst/>
                        </a:rPr>
                        <a:t>on Substrate</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PCB</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Chip on Wafer on Panel</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1341340391"/>
                  </a:ext>
                </a:extLst>
              </a:tr>
              <a:tr h="219833">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Intel EMIB </a:t>
                      </a:r>
                      <a:r>
                        <a:rPr lang="en-US" altLang="zh-TW" sz="1000" b="0" cap="none" spc="0" dirty="0">
                          <a:ln w="0"/>
                          <a:solidFill>
                            <a:schemeClr val="tx1"/>
                          </a:solidFill>
                          <a:effectLst/>
                          <a:latin typeface="Noto Sans HK" panose="020B0200000000000000" pitchFamily="34" charset="-120"/>
                          <a:ea typeface="Noto Sans HK" panose="020B0200000000000000" pitchFamily="34" charset="-120"/>
                          <a:sym typeface="Wingdings" panose="05000000000000000000" pitchFamily="2" charset="2"/>
                        </a:rPr>
                        <a:t></a:t>
                      </a:r>
                      <a:r>
                        <a:rPr lang="en-US" altLang="zh-TW" sz="1200" b="0" cap="none" spc="0" dirty="0">
                          <a:ln w="0"/>
                          <a:solidFill>
                            <a:schemeClr val="tx1"/>
                          </a:solidFill>
                          <a:effectLst/>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b="0" cap="none" spc="0" dirty="0">
                          <a:ln w="0"/>
                          <a:solidFill>
                            <a:schemeClr val="tx1"/>
                          </a:solidFill>
                          <a:effectLst/>
                          <a:sym typeface="Wingdings" panose="05000000000000000000" pitchFamily="2" charset="2"/>
                        </a:rPr>
                        <a:t>CoWoS L</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hMerge="1">
                  <a:txBody>
                    <a:bodyPr/>
                    <a:lstStyle/>
                    <a:p>
                      <a:endParaRPr dirty="0"/>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
        <p:nvSpPr>
          <p:cNvPr id="39" name="文字方塊 38">
            <a:extLst>
              <a:ext uri="{FF2B5EF4-FFF2-40B4-BE49-F238E27FC236}">
                <a16:creationId xmlns:a16="http://schemas.microsoft.com/office/drawing/2014/main" id="{03FDE374-4C12-3AEA-E0E2-C95CBA712F79}"/>
              </a:ext>
            </a:extLst>
          </p:cNvPr>
          <p:cNvSpPr txBox="1"/>
          <p:nvPr/>
        </p:nvSpPr>
        <p:spPr>
          <a:xfrm>
            <a:off x="2189253" y="1700808"/>
            <a:ext cx="997635" cy="93467"/>
          </a:xfrm>
          <a:prstGeom prst="rect">
            <a:avLst/>
          </a:prstGeom>
          <a:solidFill>
            <a:schemeClr val="accent5">
              <a:lumMod val="20000"/>
              <a:lumOff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200"/>
              </a:lnSpc>
              <a:buNone/>
            </a:pPr>
            <a:r>
              <a:rPr lang="en-US" altLang="zh-TW" sz="800" b="1" dirty="0">
                <a:solidFill>
                  <a:schemeClr val="accent5">
                    <a:lumMod val="50000"/>
                  </a:schemeClr>
                </a:solidFill>
              </a:rPr>
              <a:t>RDL</a:t>
            </a:r>
          </a:p>
        </p:txBody>
      </p:sp>
      <p:cxnSp>
        <p:nvCxnSpPr>
          <p:cNvPr id="42" name="直線接點 41">
            <a:extLst>
              <a:ext uri="{FF2B5EF4-FFF2-40B4-BE49-F238E27FC236}">
                <a16:creationId xmlns:a16="http://schemas.microsoft.com/office/drawing/2014/main" id="{1EF9809E-21C1-B5D3-75CC-F99542316F76}"/>
              </a:ext>
            </a:extLst>
          </p:cNvPr>
          <p:cNvCxnSpPr>
            <a:cxnSpLocks/>
            <a:stCxn id="39" idx="3"/>
            <a:endCxn id="35" idx="1"/>
          </p:cNvCxnSpPr>
          <p:nvPr/>
        </p:nvCxnSpPr>
        <p:spPr>
          <a:xfrm flipV="1">
            <a:off x="3186888" y="1473603"/>
            <a:ext cx="145607" cy="273939"/>
          </a:xfrm>
          <a:prstGeom prst="line">
            <a:avLst/>
          </a:prstGeom>
          <a:ln>
            <a:solidFill>
              <a:schemeClr val="accent5">
                <a:lumMod val="60000"/>
                <a:lumOff val="40000"/>
              </a:schemeClr>
            </a:solidFill>
          </a:ln>
        </p:spPr>
        <p:style>
          <a:lnRef idx="1">
            <a:schemeClr val="accent5"/>
          </a:lnRef>
          <a:fillRef idx="0">
            <a:schemeClr val="accent5"/>
          </a:fillRef>
          <a:effectRef idx="0">
            <a:schemeClr val="accent5"/>
          </a:effectRef>
          <a:fontRef idx="minor">
            <a:schemeClr val="tx1"/>
          </a:fontRef>
        </p:style>
      </p:cxn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C53877D2-9AAA-04DF-A01C-D330479182BF}"/>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NVidia</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NV</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dominates</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by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flawlessly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unifying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specialized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AI</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hardware</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with</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optimized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memory-saving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software.</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4" name="文字方塊 3">
            <a:extLst>
              <a:ext uri="{FF2B5EF4-FFF2-40B4-BE49-F238E27FC236}">
                <a16:creationId xmlns:a16="http://schemas.microsoft.com/office/drawing/2014/main" id="{7E446570-015B-77D0-844F-83AFB5903059}"/>
              </a:ext>
            </a:extLst>
          </p:cNvPr>
          <p:cNvSpPr txBox="1"/>
          <p:nvPr/>
        </p:nvSpPr>
        <p:spPr>
          <a:xfrm>
            <a:off x="107504" y="874452"/>
            <a:ext cx="4572000" cy="830997"/>
          </a:xfrm>
          <a:prstGeom prst="rect">
            <a:avLst/>
          </a:prstGeom>
          <a:noFill/>
        </p:spPr>
        <p:txBody>
          <a:bodyPr wrap="square">
            <a:spAutoFit/>
          </a:bodyPr>
          <a:lstStyle/>
          <a:p>
            <a:pPr marL="0" marR="0">
              <a:spcBef>
                <a:spcPts val="900"/>
              </a:spcBef>
              <a:spcAft>
                <a:spcPts val="1200"/>
              </a:spcAft>
              <a:buNone/>
            </a:pPr>
            <a:r>
              <a:rPr lang="zh-TW" altLang="zh-TW" sz="1200" b="1" u="none" strike="noStrike" dirty="0">
                <a:effectLst/>
                <a:latin typeface="Google Sans"/>
              </a:rPr>
              <a:t>NVIDIA 稱霸此領域的核心原因在於：「軟硬體協同設計（Co-design）」，將最強大的 AI 硬體與無可替代的軟體生態（CUDA、TensorRT、Transformer Engine）深度綁定，徹底解決了記憶體傳輸與算力瓶頸。</a:t>
            </a:r>
            <a:endParaRPr lang="zh-TW" altLang="zh-TW" sz="1200" b="0" u="none" strike="noStrike" dirty="0">
              <a:effectLst/>
              <a:latin typeface="Google Sans"/>
            </a:endParaRPr>
          </a:p>
        </p:txBody>
      </p:sp>
      <p:sp>
        <p:nvSpPr>
          <p:cNvPr id="6" name="文字方塊 5">
            <a:extLst>
              <a:ext uri="{FF2B5EF4-FFF2-40B4-BE49-F238E27FC236}">
                <a16:creationId xmlns:a16="http://schemas.microsoft.com/office/drawing/2014/main" id="{71C06515-C1FE-8E5D-9C9F-55A3E31A0391}"/>
              </a:ext>
            </a:extLst>
          </p:cNvPr>
          <p:cNvSpPr txBox="1"/>
          <p:nvPr/>
        </p:nvSpPr>
        <p:spPr>
          <a:xfrm>
            <a:off x="179512" y="2459504"/>
            <a:ext cx="8784976" cy="2594108"/>
          </a:xfrm>
          <a:prstGeom prst="rect">
            <a:avLst/>
          </a:prstGeom>
          <a:noFill/>
        </p:spPr>
        <p:txBody>
          <a:bodyPr wrap="square">
            <a:spAutoFit/>
          </a:bodyPr>
          <a:lstStyle/>
          <a:p>
            <a:pPr marL="0" marR="0">
              <a:lnSpc>
                <a:spcPts val="1400"/>
              </a:lnSpc>
              <a:buNone/>
            </a:pPr>
            <a:r>
              <a:rPr lang="zh-TW" altLang="zh-TW" sz="1000" b="1" u="none" strike="noStrike" dirty="0">
                <a:effectLst/>
                <a:latin typeface="Google Sans"/>
              </a:rPr>
              <a:t>1. 軟硬體高度一體化（Full-Stack Integration）</a:t>
            </a:r>
          </a:p>
          <a:p>
            <a:pPr marL="0" marR="0">
              <a:lnSpc>
                <a:spcPts val="1400"/>
              </a:lnSpc>
              <a:buNone/>
            </a:pPr>
            <a:r>
              <a:rPr lang="zh-TW" altLang="zh-TW" sz="1000" b="0" u="none" strike="noStrike" dirty="0">
                <a:effectLst/>
                <a:latin typeface="Google Sans"/>
              </a:rPr>
              <a:t>NVIDIA 不是單純賣晶片，而是賣「整套解決方案」。</a:t>
            </a:r>
          </a:p>
          <a:p>
            <a:pPr marL="0" marR="0">
              <a:lnSpc>
                <a:spcPts val="1400"/>
              </a:lnSpc>
              <a:buFont typeface="Arial" panose="020B0604020202020204" pitchFamily="34" charset="0"/>
              <a:buChar char="•"/>
            </a:pPr>
            <a:r>
              <a:rPr lang="zh-TW" altLang="zh-TW" sz="1000" b="1" u="none" strike="noStrike" dirty="0">
                <a:effectLst/>
                <a:latin typeface="Google Sans"/>
              </a:rPr>
              <a:t>硬體層面</a:t>
            </a:r>
            <a:r>
              <a:rPr lang="zh-TW" altLang="zh-TW" sz="1000" b="0" u="none" strike="noStrike" dirty="0">
                <a:effectLst/>
                <a:latin typeface="Google Sans"/>
              </a:rPr>
              <a:t>：推出了 Tensor Core、NVLink 高速互聯技術，以及支援 FP8/NVFP4 低精度的硬體架構（如 Hopper, Blackwell）。</a:t>
            </a:r>
          </a:p>
          <a:p>
            <a:pPr marL="0" marR="0">
              <a:lnSpc>
                <a:spcPts val="1400"/>
              </a:lnSpc>
              <a:buFont typeface="Arial" panose="020B0604020202020204" pitchFamily="34" charset="0"/>
              <a:buChar char="•"/>
            </a:pPr>
            <a:r>
              <a:rPr lang="zh-TW" altLang="zh-TW" sz="1000" b="1" u="none" strike="noStrike" dirty="0">
                <a:effectLst/>
                <a:latin typeface="Google Sans"/>
              </a:rPr>
              <a:t>軟體層面</a:t>
            </a:r>
            <a:r>
              <a:rPr lang="zh-TW" altLang="zh-TW" sz="1000" b="0" u="none" strike="noStrike" dirty="0">
                <a:effectLst/>
                <a:latin typeface="Google Sans"/>
              </a:rPr>
              <a:t>：開發了 Transformer Engine 和 ModelOpt 等軟體庫，能「自動且完美」地榨乾這些新硬體的每一滴效能，讓對手（如 AMD、Intel）難以望其項背。</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2. 無法被超越的 CUDA 生態護城河</a:t>
            </a:r>
          </a:p>
          <a:p>
            <a:pPr marL="0" marR="0">
              <a:lnSpc>
                <a:spcPts val="1400"/>
              </a:lnSpc>
              <a:buNone/>
            </a:pPr>
            <a:r>
              <a:rPr lang="zh-TW" altLang="zh-TW" sz="1000" b="0" u="none" strike="noStrike" dirty="0">
                <a:effectLst/>
                <a:latin typeface="Google Sans"/>
              </a:rPr>
              <a:t>自 2006 年起，NVIDIA 就在 CUDA（統一計算架構）軟體平台上投入了無數資源。</a:t>
            </a:r>
          </a:p>
          <a:p>
            <a:pPr marL="0" marR="0">
              <a:lnSpc>
                <a:spcPts val="1400"/>
              </a:lnSpc>
              <a:buFont typeface="Arial" panose="020B0604020202020204" pitchFamily="34" charset="0"/>
              <a:buChar char="•"/>
            </a:pPr>
            <a:r>
              <a:rPr lang="zh-TW" altLang="zh-TW" sz="1000" b="0" u="none" strike="noStrike" dirty="0">
                <a:effectLst/>
                <a:latin typeface="Google Sans"/>
              </a:rPr>
              <a:t>如今全球 99% 的主流 AI 框架（如 PyTorch、TensorFlow）與工具庫（如 </a:t>
            </a:r>
            <a:r>
              <a:rPr lang="zh-TW" altLang="zh-TW" sz="1000" b="0" u="none" strike="noStrike" dirty="0">
                <a:effectLst/>
                <a:latin typeface="Courier New" panose="02070309020205020404" pitchFamily="49" charset="0"/>
              </a:rPr>
              <a:t>bitsandbytes</a:t>
            </a:r>
            <a:r>
              <a:rPr lang="zh-TW" altLang="zh-TW" sz="1000" b="0" u="none" strike="noStrike" dirty="0">
                <a:effectLst/>
                <a:latin typeface="Google Sans"/>
              </a:rPr>
              <a:t> 中的 Paged AdamW）都是原生基於 CUDA 開發的。</a:t>
            </a:r>
          </a:p>
          <a:p>
            <a:pPr marL="0" marR="0">
              <a:lnSpc>
                <a:spcPts val="1400"/>
              </a:lnSpc>
              <a:buFont typeface="Arial" panose="020B0604020202020204" pitchFamily="34" charset="0"/>
              <a:buChar char="•"/>
            </a:pPr>
            <a:r>
              <a:rPr lang="zh-TW" altLang="zh-TW" sz="1000" b="0" u="none" strike="noStrike" dirty="0">
                <a:effectLst/>
                <a:latin typeface="Google Sans"/>
              </a:rPr>
              <a:t>工程師只要呼叫幾行代碼就能啟用極致的記憶體管理技術，轉換成本極高，讓客戶產生極強的生態黏著度。</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3. 精準擊中 AI 開發痛點：解決記憶體牆（Memory Wall）</a:t>
            </a:r>
          </a:p>
          <a:p>
            <a:pPr marL="0" marR="0">
              <a:lnSpc>
                <a:spcPts val="1400"/>
              </a:lnSpc>
              <a:buNone/>
            </a:pPr>
            <a:r>
              <a:rPr lang="zh-TW" altLang="zh-TW" sz="1000" b="0" u="none" strike="noStrike" dirty="0">
                <a:effectLst/>
                <a:latin typeface="Google Sans"/>
              </a:rPr>
              <a:t>AI 大模型訓練最怕 VRAM 爆炸（OOM）與傳輸延遲。</a:t>
            </a:r>
          </a:p>
          <a:p>
            <a:pPr marL="0" marR="0">
              <a:lnSpc>
                <a:spcPts val="1400"/>
              </a:lnSpc>
              <a:buFont typeface="Arial" panose="020B0604020202020204" pitchFamily="34" charset="0"/>
              <a:buChar char="•"/>
            </a:pPr>
            <a:r>
              <a:rPr lang="zh-TW" altLang="zh-TW" sz="1000" b="0" u="none" strike="noStrike" dirty="0">
                <a:effectLst/>
                <a:latin typeface="Google Sans"/>
              </a:rPr>
              <a:t>NVIDIA 在軟體端透過 </a:t>
            </a:r>
            <a:r>
              <a:rPr lang="zh-TW" altLang="zh-TW" sz="1000" b="1" u="none" strike="noStrike" dirty="0">
                <a:effectLst/>
                <a:latin typeface="Google Sans"/>
              </a:rPr>
              <a:t>NVLink-C2C</a:t>
            </a:r>
            <a:r>
              <a:rPr lang="zh-TW" altLang="zh-TW" sz="1000" b="0" u="none" strike="noStrike" dirty="0">
                <a:effectLst/>
                <a:latin typeface="Google Sans"/>
              </a:rPr>
              <a:t> 和 </a:t>
            </a:r>
            <a:r>
              <a:rPr lang="zh-TW" altLang="zh-TW" sz="1000" b="1" u="none" strike="noStrike" dirty="0">
                <a:effectLst/>
                <a:latin typeface="Google Sans"/>
              </a:rPr>
              <a:t>Unified Memory</a:t>
            </a:r>
            <a:r>
              <a:rPr lang="zh-TW" altLang="zh-TW" sz="1000" b="0" u="none" strike="noStrike" dirty="0">
                <a:effectLst/>
                <a:latin typeface="Google Sans"/>
              </a:rPr>
              <a:t> 的軟硬體融合，把 GPU 顯存與 CPU 記憶體打通，讓記憶體調度（如 Offloading 卸載技術）流暢得像在同一塊晶片上運作。</a:t>
            </a:r>
          </a:p>
        </p:txBody>
      </p:sp>
      <p:sp>
        <p:nvSpPr>
          <p:cNvPr id="8" name="文字方塊 7">
            <a:extLst>
              <a:ext uri="{FF2B5EF4-FFF2-40B4-BE49-F238E27FC236}">
                <a16:creationId xmlns:a16="http://schemas.microsoft.com/office/drawing/2014/main" id="{7E1BB295-BCDB-505F-F19F-FB69EF36B9A9}"/>
              </a:ext>
            </a:extLst>
          </p:cNvPr>
          <p:cNvSpPr txBox="1"/>
          <p:nvPr/>
        </p:nvSpPr>
        <p:spPr>
          <a:xfrm>
            <a:off x="1259632" y="5337217"/>
            <a:ext cx="4572000" cy="646331"/>
          </a:xfrm>
          <a:prstGeom prst="rect">
            <a:avLst/>
          </a:prstGeom>
          <a:noFill/>
        </p:spPr>
        <p:txBody>
          <a:bodyPr wrap="square">
            <a:spAutoFit/>
          </a:bodyPr>
          <a:lstStyle/>
          <a:p>
            <a:r>
              <a:rPr lang="zh-TW" altLang="zh-TW" dirty="0"/>
              <a:t>特定的 NVIDIA 技術（例如 </a:t>
            </a:r>
            <a:r>
              <a:rPr lang="zh-TW" altLang="zh-TW" sz="1200" b="1" u="none" strike="noStrike" dirty="0">
                <a:effectLst/>
                <a:latin typeface="Google Sans"/>
              </a:rPr>
              <a:t>TensorRT-LLM 部署</a:t>
            </a:r>
            <a:r>
              <a:rPr lang="zh-TW" altLang="zh-TW" dirty="0"/>
              <a:t> 或 </a:t>
            </a:r>
            <a:r>
              <a:rPr lang="zh-TW" altLang="zh-TW" sz="1200" b="1" u="none" strike="noStrike" dirty="0">
                <a:effectLst/>
                <a:latin typeface="Google Sans"/>
              </a:rPr>
              <a:t>Transformer Engine 混合精度設定</a:t>
            </a:r>
            <a:r>
              <a:rPr lang="zh-TW" altLang="zh-TW" dirty="0"/>
              <a:t>）</a:t>
            </a:r>
            <a:endParaRPr lang="zh-TW" altLang="en-US" dirty="0"/>
          </a:p>
        </p:txBody>
      </p:sp>
    </p:spTree>
    <p:extLst>
      <p:ext uri="{BB962C8B-B14F-4D97-AF65-F5344CB8AC3E}">
        <p14:creationId xmlns:p14="http://schemas.microsoft.com/office/powerpoint/2010/main" val="24581598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BE851D-74F1-0D10-E4C1-0D67DB2BF52F}"/>
            </a:ext>
          </a:extLst>
        </p:cNvPr>
        <p:cNvGrpSpPr/>
        <p:nvPr/>
      </p:nvGrpSpPr>
      <p:grpSpPr>
        <a:xfrm>
          <a:off x="0" y="0"/>
          <a:ext cx="0" cy="0"/>
          <a:chOff x="0" y="0"/>
          <a:chExt cx="0" cy="0"/>
        </a:xfrm>
      </p:grpSpPr>
      <p:sp>
        <p:nvSpPr>
          <p:cNvPr id="25" name="文字方塊 24">
            <a:extLst>
              <a:ext uri="{FF2B5EF4-FFF2-40B4-BE49-F238E27FC236}">
                <a16:creationId xmlns:a16="http://schemas.microsoft.com/office/drawing/2014/main" id="{10EE06B5-09A0-C6B0-AEC5-E978463FBBC2}"/>
              </a:ext>
            </a:extLst>
          </p:cNvPr>
          <p:cNvSpPr txBox="1"/>
          <p:nvPr/>
        </p:nvSpPr>
        <p:spPr>
          <a:xfrm>
            <a:off x="2588775" y="4813260"/>
            <a:ext cx="3245348" cy="1329514"/>
          </a:xfrm>
          <a:prstGeom prst="rect">
            <a:avLst/>
          </a:prstGeom>
          <a:solidFill>
            <a:schemeClr val="accent3">
              <a:lumMod val="20000"/>
              <a:lumOff val="80000"/>
              <a:alpha val="20000"/>
            </a:schemeClr>
          </a:solidFill>
          <a:ln w="25400">
            <a:solidFill>
              <a:schemeClr val="accent3">
                <a:lumMod val="60000"/>
                <a:lumOff val="40000"/>
              </a:schemeClr>
            </a:solidFill>
            <a:prstDash val="sysDash"/>
          </a:ln>
        </p:spPr>
        <p:txBody>
          <a:bodyPr wrap="none" lIns="0" tIns="91440" rIns="91440" bIns="0" anchor="t" anchorCtr="0">
            <a:noAutofit/>
          </a:bodyPr>
          <a:lstStyle/>
          <a:p>
            <a:pPr algn="r">
              <a:lnSpc>
                <a:spcPts val="1400"/>
              </a:lnSpc>
              <a:buNone/>
            </a:pPr>
            <a:r>
              <a:rPr lang="en-US" altLang="zh-TW" sz="1400" b="1" u="none" strike="noStrike" dirty="0">
                <a:solidFill>
                  <a:schemeClr val="accent3">
                    <a:lumMod val="50000"/>
                  </a:schemeClr>
                </a:solidFill>
                <a:effectLst/>
              </a:rPr>
              <a:t>Agentic</a:t>
            </a:r>
          </a:p>
          <a:p>
            <a:pPr algn="r">
              <a:lnSpc>
                <a:spcPts val="1400"/>
              </a:lnSpc>
              <a:buNone/>
            </a:pPr>
            <a:r>
              <a:rPr lang="en-US" altLang="zh-TW" sz="1400" b="1" u="none" strike="noStrike" dirty="0">
                <a:solidFill>
                  <a:schemeClr val="accent3">
                    <a:lumMod val="50000"/>
                  </a:schemeClr>
                </a:solidFill>
                <a:effectLst/>
              </a:rPr>
              <a:t>RAG</a:t>
            </a:r>
            <a:endParaRPr lang="en-US" altLang="zh-TW" sz="1400" b="1" dirty="0">
              <a:solidFill>
                <a:schemeClr val="accent3">
                  <a:lumMod val="50000"/>
                </a:schemeClr>
              </a:solidFill>
            </a:endParaRPr>
          </a:p>
        </p:txBody>
      </p:sp>
      <p:sp>
        <p:nvSpPr>
          <p:cNvPr id="111" name="文字方塊 110">
            <a:extLst>
              <a:ext uri="{FF2B5EF4-FFF2-40B4-BE49-F238E27FC236}">
                <a16:creationId xmlns:a16="http://schemas.microsoft.com/office/drawing/2014/main" id="{51D0CA9D-CF00-4E8A-F3C1-7909D642D02E}"/>
              </a:ext>
            </a:extLst>
          </p:cNvPr>
          <p:cNvSpPr txBox="1"/>
          <p:nvPr/>
        </p:nvSpPr>
        <p:spPr>
          <a:xfrm>
            <a:off x="2953738" y="4493143"/>
            <a:ext cx="1497523" cy="495268"/>
          </a:xfrm>
          <a:prstGeom prst="rect">
            <a:avLst/>
          </a:prstGeom>
          <a:solidFill>
            <a:schemeClr val="accent6">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400" b="1" dirty="0">
                <a:solidFill>
                  <a:schemeClr val="accent6">
                    <a:lumMod val="75000"/>
                  </a:schemeClr>
                </a:solidFill>
              </a:rPr>
              <a:t>AI Agent</a:t>
            </a:r>
            <a:endParaRPr lang="en-US" altLang="zh-TW" sz="1400" b="1" u="none" strike="noStrike" dirty="0">
              <a:solidFill>
                <a:schemeClr val="accent6">
                  <a:lumMod val="75000"/>
                </a:schemeClr>
              </a:solidFill>
              <a:effectLst/>
            </a:endParaRPr>
          </a:p>
          <a:p>
            <a:pPr algn="ctr">
              <a:lnSpc>
                <a:spcPts val="1200"/>
              </a:lnSpc>
              <a:buNone/>
            </a:pPr>
            <a:r>
              <a:rPr lang="en-US" altLang="zh-TW" sz="1200" u="none" strike="noStrike" dirty="0">
                <a:effectLst/>
              </a:rPr>
              <a:t>(Router)</a:t>
            </a:r>
          </a:p>
        </p:txBody>
      </p:sp>
      <p:cxnSp>
        <p:nvCxnSpPr>
          <p:cNvPr id="20" name="接點: 肘形 19">
            <a:extLst>
              <a:ext uri="{FF2B5EF4-FFF2-40B4-BE49-F238E27FC236}">
                <a16:creationId xmlns:a16="http://schemas.microsoft.com/office/drawing/2014/main" id="{3A2C6091-BB1A-C34C-2A3F-070C6AE9DAD4}"/>
              </a:ext>
            </a:extLst>
          </p:cNvPr>
          <p:cNvCxnSpPr>
            <a:cxnSpLocks/>
            <a:stCxn id="40" idx="2"/>
            <a:endCxn id="85" idx="2"/>
          </p:cNvCxnSpPr>
          <p:nvPr/>
        </p:nvCxnSpPr>
        <p:spPr>
          <a:xfrm rot="5400000" flipH="1" flipV="1">
            <a:off x="3364719" y="3839980"/>
            <a:ext cx="882008" cy="168240"/>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 name="標題 1">
            <a:extLst>
              <a:ext uri="{FF2B5EF4-FFF2-40B4-BE49-F238E27FC236}">
                <a16:creationId xmlns:a16="http://schemas.microsoft.com/office/drawing/2014/main" id="{CEF95E4D-4041-AEF8-1FC6-6369323FE9CE}"/>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Runtime</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lvl="0">
              <a:spcBef>
                <a:spcPts val="0"/>
              </a:spcBef>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RAG boosts agent accuracy but adds latency; parallel frameworks like ReWOO restore speed.</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10" name="表格 9">
            <a:extLst>
              <a:ext uri="{FF2B5EF4-FFF2-40B4-BE49-F238E27FC236}">
                <a16:creationId xmlns:a16="http://schemas.microsoft.com/office/drawing/2014/main" id="{FAC317C6-4626-1B2B-AEC6-1890A96EE209}"/>
              </a:ext>
            </a:extLst>
          </p:cNvPr>
          <p:cNvGraphicFramePr>
            <a:graphicFrameLocks noGrp="1"/>
          </p:cNvGraphicFramePr>
          <p:nvPr/>
        </p:nvGraphicFramePr>
        <p:xfrm>
          <a:off x="1124810" y="3345031"/>
          <a:ext cx="1070926" cy="1148112"/>
        </p:xfrm>
        <a:graphic>
          <a:graphicData uri="http://schemas.openxmlformats.org/drawingml/2006/table">
            <a:tbl>
              <a:tblPr firstRow="1" bandRow="1">
                <a:tableStyleId>{5C22544A-7EE6-4342-B048-85BDC9FD1C3A}</a:tableStyleId>
              </a:tblPr>
              <a:tblGrid>
                <a:gridCol w="1070926">
                  <a:extLst>
                    <a:ext uri="{9D8B030D-6E8A-4147-A177-3AD203B41FA5}">
                      <a16:colId xmlns:a16="http://schemas.microsoft.com/office/drawing/2014/main" val="4512040"/>
                    </a:ext>
                  </a:extLst>
                </a:gridCol>
              </a:tblGrid>
              <a:tr h="3567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Workflow</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Input Processing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Model Router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Tool Calling</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Output Parsing</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bl>
          </a:graphicData>
        </a:graphic>
      </p:graphicFrame>
      <p:sp>
        <p:nvSpPr>
          <p:cNvPr id="23" name="文字方塊 22">
            <a:extLst>
              <a:ext uri="{FF2B5EF4-FFF2-40B4-BE49-F238E27FC236}">
                <a16:creationId xmlns:a16="http://schemas.microsoft.com/office/drawing/2014/main" id="{D8572D84-C893-C9E6-47D7-75D138C833BF}"/>
              </a:ext>
            </a:extLst>
          </p:cNvPr>
          <p:cNvSpPr txBox="1"/>
          <p:nvPr/>
        </p:nvSpPr>
        <p:spPr>
          <a:xfrm>
            <a:off x="2601922" y="2035739"/>
            <a:ext cx="3232202" cy="893822"/>
          </a:xfrm>
          <a:prstGeom prst="rect">
            <a:avLst/>
          </a:prstGeom>
          <a:solidFill>
            <a:schemeClr val="accent1">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5">
                    <a:lumMod val="75000"/>
                  </a:schemeClr>
                </a:solidFill>
                <a:effectLst/>
              </a:rPr>
              <a:t>LLM</a:t>
            </a:r>
          </a:p>
          <a:p>
            <a:pPr algn="ctr">
              <a:lnSpc>
                <a:spcPts val="1400"/>
              </a:lnSpc>
              <a:buNone/>
            </a:pPr>
            <a:r>
              <a:rPr lang="en-US" altLang="zh-TW" sz="1200" u="none" strike="noStrike" dirty="0">
                <a:effectLst/>
              </a:rPr>
              <a:t>Reasoning</a:t>
            </a:r>
          </a:p>
        </p:txBody>
      </p:sp>
      <p:sp>
        <p:nvSpPr>
          <p:cNvPr id="35" name="標題 1">
            <a:extLst>
              <a:ext uri="{FF2B5EF4-FFF2-40B4-BE49-F238E27FC236}">
                <a16:creationId xmlns:a16="http://schemas.microsoft.com/office/drawing/2014/main" id="{A6F6E1B2-4410-329F-F40B-BF387AFC3185}"/>
              </a:ext>
            </a:extLst>
          </p:cNvPr>
          <p:cNvSpPr txBox="1">
            <a:spLocks/>
          </p:cNvSpPr>
          <p:nvPr/>
        </p:nvSpPr>
        <p:spPr>
          <a:xfrm>
            <a:off x="3478324" y="1273175"/>
            <a:ext cx="1479398" cy="433217"/>
          </a:xfrm>
          <a:prstGeom prst="rect">
            <a:avLst/>
          </a:prstGeom>
        </p:spPr>
        <p:txBody>
          <a:bodyPr wrap="none" lIns="9144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Runtime</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Smarter AI Agent)</a:t>
            </a:r>
          </a:p>
        </p:txBody>
      </p:sp>
      <p:grpSp>
        <p:nvGrpSpPr>
          <p:cNvPr id="38" name="群組 37">
            <a:extLst>
              <a:ext uri="{FF2B5EF4-FFF2-40B4-BE49-F238E27FC236}">
                <a16:creationId xmlns:a16="http://schemas.microsoft.com/office/drawing/2014/main" id="{3336D256-EDED-4696-A1BB-76862DCD076A}"/>
              </a:ext>
            </a:extLst>
          </p:cNvPr>
          <p:cNvGrpSpPr/>
          <p:nvPr/>
        </p:nvGrpSpPr>
        <p:grpSpPr>
          <a:xfrm>
            <a:off x="611560" y="1273176"/>
            <a:ext cx="1219522" cy="1756213"/>
            <a:chOff x="1331640" y="2203695"/>
            <a:chExt cx="1219522" cy="1756213"/>
          </a:xfrm>
        </p:grpSpPr>
        <p:sp>
          <p:nvSpPr>
            <p:cNvPr id="32" name="文字方塊 31">
              <a:extLst>
                <a:ext uri="{FF2B5EF4-FFF2-40B4-BE49-F238E27FC236}">
                  <a16:creationId xmlns:a16="http://schemas.microsoft.com/office/drawing/2014/main" id="{644E5DDD-D891-F4C5-E1BB-EEA8B9117949}"/>
                </a:ext>
              </a:extLst>
            </p:cNvPr>
            <p:cNvSpPr txBox="1"/>
            <p:nvPr/>
          </p:nvSpPr>
          <p:spPr>
            <a:xfrm>
              <a:off x="1331640" y="2867302"/>
              <a:ext cx="1219522" cy="109260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2">
                      <a:lumMod val="60000"/>
                      <a:lumOff val="40000"/>
                    </a:schemeClr>
                  </a:solidFill>
                  <a:effectLst/>
                </a:rPr>
                <a:t>Pre-Training</a:t>
              </a:r>
            </a:p>
            <a:p>
              <a:pPr algn="ctr">
                <a:lnSpc>
                  <a:spcPts val="1400"/>
                </a:lnSpc>
                <a:buNone/>
              </a:pPr>
              <a:r>
                <a:rPr lang="en-US" altLang="zh-TW" sz="1400" b="1" u="none" strike="noStrike" dirty="0">
                  <a:solidFill>
                    <a:schemeClr val="accent2">
                      <a:lumMod val="60000"/>
                      <a:lumOff val="40000"/>
                    </a:schemeClr>
                  </a:solidFill>
                  <a:effectLst/>
                </a:rPr>
                <a:t>&amp; SFT</a:t>
              </a:r>
            </a:p>
          </p:txBody>
        </p:sp>
        <p:sp>
          <p:nvSpPr>
            <p:cNvPr id="36" name="標題 1">
              <a:extLst>
                <a:ext uri="{FF2B5EF4-FFF2-40B4-BE49-F238E27FC236}">
                  <a16:creationId xmlns:a16="http://schemas.microsoft.com/office/drawing/2014/main" id="{4105B411-9718-432D-3492-4CCD58074E49}"/>
                </a:ext>
              </a:extLst>
            </p:cNvPr>
            <p:cNvSpPr txBox="1">
              <a:spLocks/>
            </p:cNvSpPr>
            <p:nvPr/>
          </p:nvSpPr>
          <p:spPr>
            <a:xfrm>
              <a:off x="1383399" y="2203695"/>
              <a:ext cx="1100369" cy="433217"/>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Training Stages </a:t>
              </a:r>
            </a:p>
            <a:p>
              <a:pPr algn="ctr"/>
              <a:r>
                <a:rPr lang="en-US" altLang="zh-TW" sz="10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37" name="右大括弧 36">
              <a:extLst>
                <a:ext uri="{FF2B5EF4-FFF2-40B4-BE49-F238E27FC236}">
                  <a16:creationId xmlns:a16="http://schemas.microsoft.com/office/drawing/2014/main" id="{E4C9916F-526C-2149-B47C-BC4FE91F2F9B}"/>
                </a:ext>
              </a:extLst>
            </p:cNvPr>
            <p:cNvSpPr/>
            <p:nvPr/>
          </p:nvSpPr>
          <p:spPr>
            <a:xfrm rot="16200000">
              <a:off x="1855526" y="2139505"/>
              <a:ext cx="153043" cy="110037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3" name="直線單箭頭接點 12">
            <a:extLst>
              <a:ext uri="{FF2B5EF4-FFF2-40B4-BE49-F238E27FC236}">
                <a16:creationId xmlns:a16="http://schemas.microsoft.com/office/drawing/2014/main" id="{DB8A7D43-44B5-6F11-7DA9-57A063DEE63A}"/>
              </a:ext>
            </a:extLst>
          </p:cNvPr>
          <p:cNvCxnSpPr>
            <a:cxnSpLocks/>
            <a:stCxn id="32" idx="3"/>
            <a:endCxn id="23" idx="1"/>
          </p:cNvCxnSpPr>
          <p:nvPr/>
        </p:nvCxnSpPr>
        <p:spPr>
          <a:xfrm flipV="1">
            <a:off x="1831082" y="2482650"/>
            <a:ext cx="770840" cy="436"/>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59" name="箭號: 向下 58">
            <a:extLst>
              <a:ext uri="{FF2B5EF4-FFF2-40B4-BE49-F238E27FC236}">
                <a16:creationId xmlns:a16="http://schemas.microsoft.com/office/drawing/2014/main" id="{95F20FA0-F44A-3E96-8E3A-E2DBBF81ED21}"/>
              </a:ext>
            </a:extLst>
          </p:cNvPr>
          <p:cNvSpPr/>
          <p:nvPr/>
        </p:nvSpPr>
        <p:spPr>
          <a:xfrm rot="10800000">
            <a:off x="2732791"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270" wrap="none" lIns="0" tIns="0" rIns="0" bIns="0" rtlCol="0" anchor="ctr"/>
          <a:lstStyle/>
          <a:p>
            <a:pPr algn="ctr"/>
            <a:r>
              <a:rPr lang="en-US" altLang="zh-TW" sz="1000" dirty="0">
                <a:solidFill>
                  <a:schemeClr val="tx1"/>
                </a:solidFill>
              </a:rPr>
              <a:t>Prompt</a:t>
            </a:r>
            <a:endParaRPr lang="zh-TW" altLang="en-US" sz="1000" dirty="0">
              <a:solidFill>
                <a:schemeClr val="tx1"/>
              </a:solidFill>
            </a:endParaRPr>
          </a:p>
        </p:txBody>
      </p:sp>
      <p:cxnSp>
        <p:nvCxnSpPr>
          <p:cNvPr id="171" name="接點: 肘形 170">
            <a:extLst>
              <a:ext uri="{FF2B5EF4-FFF2-40B4-BE49-F238E27FC236}">
                <a16:creationId xmlns:a16="http://schemas.microsoft.com/office/drawing/2014/main" id="{79337494-4F56-4972-2B00-13C173F0D061}"/>
              </a:ext>
            </a:extLst>
          </p:cNvPr>
          <p:cNvCxnSpPr>
            <a:cxnSpLocks/>
            <a:stCxn id="114" idx="2"/>
            <a:endCxn id="132" idx="0"/>
          </p:cNvCxnSpPr>
          <p:nvPr/>
        </p:nvCxnSpPr>
        <p:spPr>
          <a:xfrm rot="16200000" flipH="1">
            <a:off x="4914779" y="2832182"/>
            <a:ext cx="936105" cy="365722"/>
          </a:xfrm>
          <a:prstGeom prst="bentConnector3">
            <a:avLst>
              <a:gd name="adj1" fmla="val -2442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6" name="語音泡泡: 圓角矩形 5">
            <a:extLst>
              <a:ext uri="{FF2B5EF4-FFF2-40B4-BE49-F238E27FC236}">
                <a16:creationId xmlns:a16="http://schemas.microsoft.com/office/drawing/2014/main" id="{578988E3-D386-548F-14BC-26F42CB8F679}"/>
              </a:ext>
            </a:extLst>
          </p:cNvPr>
          <p:cNvSpPr/>
          <p:nvPr/>
        </p:nvSpPr>
        <p:spPr>
          <a:xfrm>
            <a:off x="2267744" y="4365104"/>
            <a:ext cx="825087" cy="882539"/>
          </a:xfrm>
          <a:prstGeom prst="wedgeRoundRectCallout">
            <a:avLst>
              <a:gd name="adj1" fmla="val 56711"/>
              <a:gd name="adj2" fmla="val 59786"/>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40" name="箭號: 向下 39">
            <a:extLst>
              <a:ext uri="{FF2B5EF4-FFF2-40B4-BE49-F238E27FC236}">
                <a16:creationId xmlns:a16="http://schemas.microsoft.com/office/drawing/2014/main" id="{C71631F2-520D-603B-D24A-C6556F32D4F7}"/>
              </a:ext>
            </a:extLst>
          </p:cNvPr>
          <p:cNvSpPr/>
          <p:nvPr/>
        </p:nvSpPr>
        <p:spPr>
          <a:xfrm>
            <a:off x="3630295" y="3993976"/>
            <a:ext cx="182616" cy="371128"/>
          </a:xfrm>
          <a:prstGeom prst="downArrow">
            <a:avLst>
              <a:gd name="adj1" fmla="val 62892"/>
              <a:gd name="adj2" fmla="val 52184"/>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rgbClr val="7030A0"/>
                </a:solidFill>
              </a:rPr>
              <a:t>MCP</a:t>
            </a:r>
            <a:endParaRPr lang="zh-TW" altLang="en-US" sz="1000" b="1" dirty="0">
              <a:solidFill>
                <a:srgbClr val="7030A0"/>
              </a:solidFill>
            </a:endParaRPr>
          </a:p>
        </p:txBody>
      </p:sp>
      <p:sp>
        <p:nvSpPr>
          <p:cNvPr id="45" name="箭號: 向下 44">
            <a:extLst>
              <a:ext uri="{FF2B5EF4-FFF2-40B4-BE49-F238E27FC236}">
                <a16:creationId xmlns:a16="http://schemas.microsoft.com/office/drawing/2014/main" id="{462AE830-760D-0E59-7995-536C09AC9A34}"/>
              </a:ext>
            </a:extLst>
          </p:cNvPr>
          <p:cNvSpPr/>
          <p:nvPr/>
        </p:nvSpPr>
        <p:spPr>
          <a:xfrm>
            <a:off x="4451262"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Final</a:t>
            </a:r>
          </a:p>
          <a:p>
            <a:pPr algn="ctr"/>
            <a:r>
              <a:rPr lang="en-US" altLang="zh-TW" sz="1000" b="1" dirty="0">
                <a:solidFill>
                  <a:schemeClr val="tx1"/>
                </a:solidFill>
              </a:rPr>
              <a:t>Answer</a:t>
            </a:r>
          </a:p>
        </p:txBody>
      </p:sp>
      <p:sp>
        <p:nvSpPr>
          <p:cNvPr id="43" name="右大括弧 42">
            <a:extLst>
              <a:ext uri="{FF2B5EF4-FFF2-40B4-BE49-F238E27FC236}">
                <a16:creationId xmlns:a16="http://schemas.microsoft.com/office/drawing/2014/main" id="{CE53BF93-8848-AA12-41EA-7817F672E6AC}"/>
              </a:ext>
            </a:extLst>
          </p:cNvPr>
          <p:cNvSpPr/>
          <p:nvPr/>
        </p:nvSpPr>
        <p:spPr>
          <a:xfrm rot="16200000">
            <a:off x="4141501" y="143068"/>
            <a:ext cx="153045" cy="323220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6" name="文字方塊 25">
            <a:extLst>
              <a:ext uri="{FF2B5EF4-FFF2-40B4-BE49-F238E27FC236}">
                <a16:creationId xmlns:a16="http://schemas.microsoft.com/office/drawing/2014/main" id="{09CE6EAC-0923-2447-ABF3-98900CC49349}"/>
              </a:ext>
            </a:extLst>
          </p:cNvPr>
          <p:cNvSpPr txBox="1"/>
          <p:nvPr/>
        </p:nvSpPr>
        <p:spPr>
          <a:xfrm>
            <a:off x="3403294" y="5671171"/>
            <a:ext cx="588206" cy="376017"/>
          </a:xfrm>
          <a:prstGeom prst="rect">
            <a:avLst/>
          </a:prstGeom>
          <a:solidFill>
            <a:schemeClr val="accent4">
              <a:lumMod val="20000"/>
              <a:lumOff val="80000"/>
              <a:alpha val="8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MCP</a:t>
            </a:r>
          </a:p>
          <a:p>
            <a:pPr algn="ctr">
              <a:lnSpc>
                <a:spcPts val="1200"/>
              </a:lnSpc>
              <a:buNone/>
            </a:pPr>
            <a:r>
              <a:rPr lang="en-US" altLang="zh-TW" sz="1200" u="none" strike="noStrike" dirty="0">
                <a:effectLst/>
              </a:rPr>
              <a:t>(Tools)</a:t>
            </a:r>
          </a:p>
        </p:txBody>
      </p:sp>
      <p:sp>
        <p:nvSpPr>
          <p:cNvPr id="18" name="文字方塊 17">
            <a:extLst>
              <a:ext uri="{FF2B5EF4-FFF2-40B4-BE49-F238E27FC236}">
                <a16:creationId xmlns:a16="http://schemas.microsoft.com/office/drawing/2014/main" id="{2BB8462C-5DC9-5929-62DF-BB7A759AFDE2}"/>
              </a:ext>
            </a:extLst>
          </p:cNvPr>
          <p:cNvSpPr txBox="1"/>
          <p:nvPr/>
        </p:nvSpPr>
        <p:spPr>
          <a:xfrm>
            <a:off x="4088801" y="5669254"/>
            <a:ext cx="588206" cy="376017"/>
          </a:xfrm>
          <a:prstGeom prst="rect">
            <a:avLst/>
          </a:prstGeom>
          <a:solidFill>
            <a:schemeClr val="bg1">
              <a:lumMod val="95000"/>
              <a:alpha val="6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Skill</a:t>
            </a:r>
          </a:p>
          <a:p>
            <a:pPr algn="ctr">
              <a:lnSpc>
                <a:spcPts val="1200"/>
              </a:lnSpc>
              <a:buNone/>
            </a:pPr>
            <a:r>
              <a:rPr lang="en-US" altLang="zh-TW" sz="1200" u="none" strike="noStrike" dirty="0">
                <a:effectLst/>
              </a:rPr>
              <a:t>(Scripts)</a:t>
            </a:r>
          </a:p>
        </p:txBody>
      </p:sp>
      <p:sp>
        <p:nvSpPr>
          <p:cNvPr id="22" name="矩形: 圓角 21">
            <a:extLst>
              <a:ext uri="{FF2B5EF4-FFF2-40B4-BE49-F238E27FC236}">
                <a16:creationId xmlns:a16="http://schemas.microsoft.com/office/drawing/2014/main" id="{CF2FCA05-8E66-2B4C-465D-BE76C9EE985A}"/>
              </a:ext>
            </a:extLst>
          </p:cNvPr>
          <p:cNvSpPr/>
          <p:nvPr/>
        </p:nvSpPr>
        <p:spPr>
          <a:xfrm>
            <a:off x="4893031" y="5663897"/>
            <a:ext cx="588206" cy="376017"/>
          </a:xfrm>
          <a:prstGeom prst="roundRect">
            <a:avLst>
              <a:gd name="adj" fmla="val 0"/>
            </a:avLst>
          </a:prstGeom>
          <a:solidFill>
            <a:schemeClr val="accent4">
              <a:lumMod val="75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4572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Wiki</a:t>
            </a:r>
          </a:p>
        </p:txBody>
      </p:sp>
      <p:sp>
        <p:nvSpPr>
          <p:cNvPr id="53" name="文字方塊 52">
            <a:extLst>
              <a:ext uri="{FF2B5EF4-FFF2-40B4-BE49-F238E27FC236}">
                <a16:creationId xmlns:a16="http://schemas.microsoft.com/office/drawing/2014/main" id="{68F3F681-A993-A9DB-2D20-7252C481D779}"/>
              </a:ext>
            </a:extLst>
          </p:cNvPr>
          <p:cNvSpPr txBox="1"/>
          <p:nvPr/>
        </p:nvSpPr>
        <p:spPr>
          <a:xfrm>
            <a:off x="2732791" y="5669254"/>
            <a:ext cx="588206" cy="376017"/>
          </a:xfrm>
          <a:prstGeom prst="rect">
            <a:avLst/>
          </a:prstGeom>
          <a:solidFill>
            <a:schemeClr val="accent5">
              <a:lumMod val="20000"/>
              <a:lumOff val="80000"/>
              <a:alpha val="60000"/>
            </a:schemeClr>
          </a:solidFill>
          <a:ln w="25400">
            <a:solidFill>
              <a:schemeClr val="accent5">
                <a:lumMod val="40000"/>
                <a:lumOff val="60000"/>
              </a:schemeClr>
            </a:solidFill>
          </a:ln>
        </p:spPr>
        <p:txBody>
          <a:bodyPr wrap="none" lIns="0" tIns="45720" rIns="0" bIns="0" anchor="ctr" anchorCtr="1">
            <a:noAutofit/>
          </a:bodyPr>
          <a:lstStyle/>
          <a:p>
            <a:pPr algn="ctr">
              <a:lnSpc>
                <a:spcPts val="1200"/>
              </a:lnSpc>
              <a:buNone/>
            </a:pPr>
            <a:r>
              <a:rPr lang="en-US" altLang="zh-TW" sz="1200" b="1" u="none" strike="noStrike" dirty="0">
                <a:solidFill>
                  <a:schemeClr val="accent5">
                    <a:lumMod val="50000"/>
                  </a:schemeClr>
                </a:solidFill>
                <a:effectLst/>
              </a:rPr>
              <a:t>Vector</a:t>
            </a:r>
          </a:p>
          <a:p>
            <a:pPr algn="ctr">
              <a:lnSpc>
                <a:spcPts val="1200"/>
              </a:lnSpc>
              <a:buNone/>
            </a:pPr>
            <a:r>
              <a:rPr lang="en-US" altLang="zh-TW" sz="1200" b="1" u="none" strike="noStrike" dirty="0">
                <a:solidFill>
                  <a:schemeClr val="accent5">
                    <a:lumMod val="50000"/>
                  </a:schemeClr>
                </a:solidFill>
                <a:effectLst/>
              </a:rPr>
              <a:t>DB</a:t>
            </a:r>
          </a:p>
        </p:txBody>
      </p:sp>
      <p:sp>
        <p:nvSpPr>
          <p:cNvPr id="71" name="箭號: 向下 70">
            <a:extLst>
              <a:ext uri="{FF2B5EF4-FFF2-40B4-BE49-F238E27FC236}">
                <a16:creationId xmlns:a16="http://schemas.microsoft.com/office/drawing/2014/main" id="{9442F65E-5116-38EE-1587-DBACA9C3393E}"/>
              </a:ext>
            </a:extLst>
          </p:cNvPr>
          <p:cNvSpPr/>
          <p:nvPr/>
        </p:nvSpPr>
        <p:spPr>
          <a:xfrm>
            <a:off x="3217938" y="4008314"/>
            <a:ext cx="162925" cy="356790"/>
          </a:xfrm>
          <a:prstGeom prst="downArrow">
            <a:avLst>
              <a:gd name="adj1" fmla="val 62892"/>
              <a:gd name="adj2" fmla="val 52184"/>
            </a:avLst>
          </a:prstGeom>
          <a:solidFill>
            <a:schemeClr val="tx2">
              <a:lumMod val="20000"/>
              <a:lumOff val="80000"/>
              <a:alpha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5">
                    <a:lumMod val="50000"/>
                  </a:schemeClr>
                </a:solidFill>
              </a:rPr>
              <a:t>VDB</a:t>
            </a:r>
            <a:endParaRPr lang="zh-TW" altLang="en-US" sz="1000" b="1" dirty="0">
              <a:solidFill>
                <a:schemeClr val="accent5">
                  <a:lumMod val="50000"/>
                </a:schemeClr>
              </a:solidFill>
            </a:endParaRPr>
          </a:p>
        </p:txBody>
      </p:sp>
      <p:sp>
        <p:nvSpPr>
          <p:cNvPr id="85" name="箭號: 向上 84">
            <a:extLst>
              <a:ext uri="{FF2B5EF4-FFF2-40B4-BE49-F238E27FC236}">
                <a16:creationId xmlns:a16="http://schemas.microsoft.com/office/drawing/2014/main" id="{DC4667BB-AB07-7189-91BC-32CA1E5573AE}"/>
              </a:ext>
            </a:extLst>
          </p:cNvPr>
          <p:cNvSpPr/>
          <p:nvPr/>
        </p:nvSpPr>
        <p:spPr>
          <a:xfrm>
            <a:off x="3750751" y="2987668"/>
            <a:ext cx="278184" cy="495428"/>
          </a:xfrm>
          <a:prstGeom prst="upArrow">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rgbClr val="7030A0"/>
                </a:solidFill>
              </a:rPr>
              <a:t>Result</a:t>
            </a:r>
            <a:endParaRPr lang="zh-TW" altLang="en-US" sz="1000" b="1" dirty="0">
              <a:solidFill>
                <a:srgbClr val="7030A0"/>
              </a:solidFill>
            </a:endParaRPr>
          </a:p>
        </p:txBody>
      </p:sp>
      <p:sp>
        <p:nvSpPr>
          <p:cNvPr id="96" name="箭號: 向上 95">
            <a:extLst>
              <a:ext uri="{FF2B5EF4-FFF2-40B4-BE49-F238E27FC236}">
                <a16:creationId xmlns:a16="http://schemas.microsoft.com/office/drawing/2014/main" id="{6F976072-6E37-DA33-B3EA-65C4240217B7}"/>
              </a:ext>
            </a:extLst>
          </p:cNvPr>
          <p:cNvSpPr/>
          <p:nvPr/>
        </p:nvSpPr>
        <p:spPr>
          <a:xfrm>
            <a:off x="3322402" y="2987668"/>
            <a:ext cx="274485" cy="495428"/>
          </a:xfrm>
          <a:prstGeom prst="upArrow">
            <a:avLst/>
          </a:prstGeom>
          <a:solidFill>
            <a:schemeClr val="accent1">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5">
                    <a:lumMod val="50000"/>
                  </a:schemeClr>
                </a:solidFill>
              </a:rPr>
              <a:t>Result</a:t>
            </a:r>
            <a:endParaRPr lang="zh-TW" altLang="en-US" sz="1000" b="1" dirty="0">
              <a:solidFill>
                <a:schemeClr val="accent5">
                  <a:lumMod val="50000"/>
                </a:schemeClr>
              </a:solidFill>
            </a:endParaRPr>
          </a:p>
        </p:txBody>
      </p:sp>
      <p:sp>
        <p:nvSpPr>
          <p:cNvPr id="114" name="箭號: 向下 113">
            <a:extLst>
              <a:ext uri="{FF2B5EF4-FFF2-40B4-BE49-F238E27FC236}">
                <a16:creationId xmlns:a16="http://schemas.microsoft.com/office/drawing/2014/main" id="{0E8551EA-8796-9BAB-1CD2-F622FB84A8DB}"/>
              </a:ext>
            </a:extLst>
          </p:cNvPr>
          <p:cNvSpPr/>
          <p:nvPr/>
        </p:nvSpPr>
        <p:spPr>
          <a:xfrm rot="10800000">
            <a:off x="5037047"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zh-TW" altLang="en-US" sz="1400" b="1" dirty="0">
                <a:solidFill>
                  <a:schemeClr val="tx1"/>
                </a:solidFill>
              </a:rPr>
              <a:t> </a:t>
            </a:r>
            <a:r>
              <a:rPr lang="en-US" altLang="zh-TW" sz="1400" b="1" dirty="0">
                <a:solidFill>
                  <a:schemeClr val="tx1"/>
                </a:solidFill>
              </a:rPr>
              <a:t>…</a:t>
            </a:r>
            <a:r>
              <a:rPr lang="zh-TW" altLang="en-US" sz="1400" b="1" dirty="0">
                <a:solidFill>
                  <a:schemeClr val="tx1"/>
                </a:solidFill>
              </a:rPr>
              <a:t> </a:t>
            </a:r>
          </a:p>
        </p:txBody>
      </p:sp>
      <p:cxnSp>
        <p:nvCxnSpPr>
          <p:cNvPr id="118" name="接點: 肘形 117">
            <a:extLst>
              <a:ext uri="{FF2B5EF4-FFF2-40B4-BE49-F238E27FC236}">
                <a16:creationId xmlns:a16="http://schemas.microsoft.com/office/drawing/2014/main" id="{E27141A3-132B-596A-F5FC-F68639555662}"/>
              </a:ext>
            </a:extLst>
          </p:cNvPr>
          <p:cNvCxnSpPr>
            <a:cxnSpLocks/>
            <a:stCxn id="71" idx="2"/>
            <a:endCxn id="96" idx="2"/>
          </p:cNvCxnSpPr>
          <p:nvPr/>
        </p:nvCxnSpPr>
        <p:spPr>
          <a:xfrm rot="5400000" flipH="1" flipV="1">
            <a:off x="2938519" y="3843978"/>
            <a:ext cx="882008" cy="160244"/>
          </a:xfrm>
          <a:prstGeom prst="bentConnector3">
            <a:avLst>
              <a:gd name="adj1" fmla="val -25918"/>
            </a:avLst>
          </a:prstGeom>
          <a:ln w="15875">
            <a:solidFill>
              <a:schemeClr val="accent3">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文字方塊 121">
            <a:extLst>
              <a:ext uri="{FF2B5EF4-FFF2-40B4-BE49-F238E27FC236}">
                <a16:creationId xmlns:a16="http://schemas.microsoft.com/office/drawing/2014/main" id="{9099F505-4990-FAA6-06FC-5DD3292E975B}"/>
              </a:ext>
            </a:extLst>
          </p:cNvPr>
          <p:cNvSpPr txBox="1"/>
          <p:nvPr/>
        </p:nvSpPr>
        <p:spPr>
          <a:xfrm>
            <a:off x="3387637" y="5276297"/>
            <a:ext cx="631450" cy="240935"/>
          </a:xfrm>
          <a:prstGeom prst="rect">
            <a:avLst/>
          </a:prstGeom>
          <a:noFill/>
        </p:spPr>
        <p:txBody>
          <a:bodyPr wrap="none" lIns="0" tIns="9144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123" name="直線單箭頭接點 122">
            <a:extLst>
              <a:ext uri="{FF2B5EF4-FFF2-40B4-BE49-F238E27FC236}">
                <a16:creationId xmlns:a16="http://schemas.microsoft.com/office/drawing/2014/main" id="{BD99DD98-B721-F06E-F383-798EFDD6D3D4}"/>
              </a:ext>
            </a:extLst>
          </p:cNvPr>
          <p:cNvCxnSpPr>
            <a:cxnSpLocks/>
            <a:stCxn id="122" idx="0"/>
            <a:endCxn id="111" idx="2"/>
          </p:cNvCxnSpPr>
          <p:nvPr/>
        </p:nvCxnSpPr>
        <p:spPr>
          <a:xfrm flipH="1" flipV="1">
            <a:off x="3702500" y="4988411"/>
            <a:ext cx="862" cy="287886"/>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2" name="箭號: 向下 131">
            <a:extLst>
              <a:ext uri="{FF2B5EF4-FFF2-40B4-BE49-F238E27FC236}">
                <a16:creationId xmlns:a16="http://schemas.microsoft.com/office/drawing/2014/main" id="{284919E8-0FB5-84A1-D92F-1402DAF25DE6}"/>
              </a:ext>
            </a:extLst>
          </p:cNvPr>
          <p:cNvSpPr/>
          <p:nvPr/>
        </p:nvSpPr>
        <p:spPr>
          <a:xfrm>
            <a:off x="5416816"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a:t>
            </a:r>
          </a:p>
        </p:txBody>
      </p:sp>
      <p:cxnSp>
        <p:nvCxnSpPr>
          <p:cNvPr id="135" name="接點: 肘形 134">
            <a:extLst>
              <a:ext uri="{FF2B5EF4-FFF2-40B4-BE49-F238E27FC236}">
                <a16:creationId xmlns:a16="http://schemas.microsoft.com/office/drawing/2014/main" id="{0902C794-519F-DC2B-51FE-445A4EFAA5F3}"/>
              </a:ext>
            </a:extLst>
          </p:cNvPr>
          <p:cNvCxnSpPr>
            <a:cxnSpLocks/>
            <a:stCxn id="142" idx="0"/>
            <a:endCxn id="45" idx="0"/>
          </p:cNvCxnSpPr>
          <p:nvPr/>
        </p:nvCxnSpPr>
        <p:spPr>
          <a:xfrm rot="16200000" flipH="1">
            <a:off x="4181939" y="3064896"/>
            <a:ext cx="486144" cy="350256"/>
          </a:xfrm>
          <a:prstGeom prst="bentConnector3">
            <a:avLst>
              <a:gd name="adj1" fmla="val -47023"/>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0" name="接點: 肘形 139">
            <a:extLst>
              <a:ext uri="{FF2B5EF4-FFF2-40B4-BE49-F238E27FC236}">
                <a16:creationId xmlns:a16="http://schemas.microsoft.com/office/drawing/2014/main" id="{A3643A1D-79C9-3E68-FB55-1B9D37A913F9}"/>
              </a:ext>
            </a:extLst>
          </p:cNvPr>
          <p:cNvCxnSpPr>
            <a:cxnSpLocks/>
            <a:stCxn id="141" idx="2"/>
            <a:endCxn id="142" idx="2"/>
          </p:cNvCxnSpPr>
          <p:nvPr/>
        </p:nvCxnSpPr>
        <p:spPr>
          <a:xfrm rot="5400000" flipH="1" flipV="1">
            <a:off x="3729683" y="3854188"/>
            <a:ext cx="882008" cy="158392"/>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41" name="箭號: 向下 140">
            <a:extLst>
              <a:ext uri="{FF2B5EF4-FFF2-40B4-BE49-F238E27FC236}">
                <a16:creationId xmlns:a16="http://schemas.microsoft.com/office/drawing/2014/main" id="{3C28DCA6-0B63-EEC8-15A7-3073973535EA}"/>
              </a:ext>
            </a:extLst>
          </p:cNvPr>
          <p:cNvSpPr/>
          <p:nvPr/>
        </p:nvSpPr>
        <p:spPr>
          <a:xfrm>
            <a:off x="4000183" y="4003260"/>
            <a:ext cx="182616" cy="371128"/>
          </a:xfrm>
          <a:prstGeom prst="downArrow">
            <a:avLst>
              <a:gd name="adj1" fmla="val 62892"/>
              <a:gd name="adj2" fmla="val 52184"/>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4">
                    <a:lumMod val="75000"/>
                  </a:schemeClr>
                </a:solidFill>
              </a:rPr>
              <a:t>Skill</a:t>
            </a:r>
            <a:endParaRPr lang="zh-TW" altLang="en-US" sz="1000" b="1" dirty="0">
              <a:solidFill>
                <a:schemeClr val="accent4">
                  <a:lumMod val="75000"/>
                </a:schemeClr>
              </a:solidFill>
            </a:endParaRPr>
          </a:p>
        </p:txBody>
      </p:sp>
      <p:sp>
        <p:nvSpPr>
          <p:cNvPr id="142" name="箭號: 向上 141">
            <a:extLst>
              <a:ext uri="{FF2B5EF4-FFF2-40B4-BE49-F238E27FC236}">
                <a16:creationId xmlns:a16="http://schemas.microsoft.com/office/drawing/2014/main" id="{12EFF3BF-8C1F-06F3-5086-F1AF996CB200}"/>
              </a:ext>
            </a:extLst>
          </p:cNvPr>
          <p:cNvSpPr/>
          <p:nvPr/>
        </p:nvSpPr>
        <p:spPr>
          <a:xfrm>
            <a:off x="4110791" y="2996952"/>
            <a:ext cx="278184" cy="495428"/>
          </a:xfrm>
          <a:prstGeom prst="upArrow">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4">
                    <a:lumMod val="75000"/>
                  </a:schemeClr>
                </a:solidFill>
              </a:rPr>
              <a:t>Done</a:t>
            </a:r>
            <a:endParaRPr lang="zh-TW" altLang="en-US" sz="1000" b="1" dirty="0">
              <a:solidFill>
                <a:schemeClr val="accent4">
                  <a:lumMod val="75000"/>
                </a:schemeClr>
              </a:solidFill>
            </a:endParaRPr>
          </a:p>
        </p:txBody>
      </p:sp>
      <p:cxnSp>
        <p:nvCxnSpPr>
          <p:cNvPr id="147" name="接點: 肘形 146">
            <a:extLst>
              <a:ext uri="{FF2B5EF4-FFF2-40B4-BE49-F238E27FC236}">
                <a16:creationId xmlns:a16="http://schemas.microsoft.com/office/drawing/2014/main" id="{E8B0B3F5-0CC1-6272-389E-E91C07607706}"/>
              </a:ext>
            </a:extLst>
          </p:cNvPr>
          <p:cNvCxnSpPr>
            <a:cxnSpLocks/>
            <a:stCxn id="59" idx="2"/>
            <a:endCxn id="71" idx="0"/>
          </p:cNvCxnSpPr>
          <p:nvPr/>
        </p:nvCxnSpPr>
        <p:spPr>
          <a:xfrm rot="16200000" flipH="1">
            <a:off x="2366896" y="3075809"/>
            <a:ext cx="1461323" cy="403686"/>
          </a:xfrm>
          <a:prstGeom prst="bentConnector3">
            <a:avLst>
              <a:gd name="adj1" fmla="val -15643"/>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1" name="接點: 肘形 160">
            <a:extLst>
              <a:ext uri="{FF2B5EF4-FFF2-40B4-BE49-F238E27FC236}">
                <a16:creationId xmlns:a16="http://schemas.microsoft.com/office/drawing/2014/main" id="{7FB7F299-EA0D-88C4-EC62-102AA5744D08}"/>
              </a:ext>
            </a:extLst>
          </p:cNvPr>
          <p:cNvCxnSpPr>
            <a:cxnSpLocks/>
            <a:stCxn id="45" idx="2"/>
            <a:endCxn id="122" idx="3"/>
          </p:cNvCxnSpPr>
          <p:nvPr/>
        </p:nvCxnSpPr>
        <p:spPr>
          <a:xfrm rot="5400000">
            <a:off x="3757779" y="4554404"/>
            <a:ext cx="1103669" cy="581052"/>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 name="接點: 肘形 3">
            <a:extLst>
              <a:ext uri="{FF2B5EF4-FFF2-40B4-BE49-F238E27FC236}">
                <a16:creationId xmlns:a16="http://schemas.microsoft.com/office/drawing/2014/main" id="{A81EE32D-9554-29B8-CE12-008BDF9D2985}"/>
              </a:ext>
            </a:extLst>
          </p:cNvPr>
          <p:cNvCxnSpPr>
            <a:cxnSpLocks/>
            <a:stCxn id="6" idx="0"/>
            <a:endCxn id="59" idx="0"/>
          </p:cNvCxnSpPr>
          <p:nvPr/>
        </p:nvCxnSpPr>
        <p:spPr>
          <a:xfrm rot="5400000" flipH="1" flipV="1">
            <a:off x="2283945" y="3753335"/>
            <a:ext cx="1008113" cy="215427"/>
          </a:xfrm>
          <a:prstGeom prst="bentConnector3">
            <a:avLst>
              <a:gd name="adj1" fmla="val 5000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grpSp>
        <p:nvGrpSpPr>
          <p:cNvPr id="24" name="群組 23">
            <a:extLst>
              <a:ext uri="{FF2B5EF4-FFF2-40B4-BE49-F238E27FC236}">
                <a16:creationId xmlns:a16="http://schemas.microsoft.com/office/drawing/2014/main" id="{E14887DE-633F-6477-C039-CE4DD5F68636}"/>
              </a:ext>
            </a:extLst>
          </p:cNvPr>
          <p:cNvGrpSpPr/>
          <p:nvPr/>
        </p:nvGrpSpPr>
        <p:grpSpPr>
          <a:xfrm>
            <a:off x="6946626" y="1369209"/>
            <a:ext cx="1619672" cy="1326756"/>
            <a:chOff x="6516216" y="4813260"/>
            <a:chExt cx="1512168" cy="1273320"/>
          </a:xfrm>
        </p:grpSpPr>
        <p:sp>
          <p:nvSpPr>
            <p:cNvPr id="184" name="箭號: 圓形 183">
              <a:extLst>
                <a:ext uri="{FF2B5EF4-FFF2-40B4-BE49-F238E27FC236}">
                  <a16:creationId xmlns:a16="http://schemas.microsoft.com/office/drawing/2014/main" id="{3A71D6D5-8EB3-6B9F-72C5-7A6D9DE9D0FF}"/>
                </a:ext>
              </a:extLst>
            </p:cNvPr>
            <p:cNvSpPr/>
            <p:nvPr/>
          </p:nvSpPr>
          <p:spPr>
            <a:xfrm rot="11669204">
              <a:off x="6602932" y="4813260"/>
              <a:ext cx="1166084" cy="1226766"/>
            </a:xfrm>
            <a:prstGeom prst="circularArrow">
              <a:avLst>
                <a:gd name="adj1" fmla="val 18161"/>
                <a:gd name="adj2" fmla="val 2382103"/>
                <a:gd name="adj3" fmla="val 18659249"/>
                <a:gd name="adj4" fmla="val 11944252"/>
                <a:gd name="adj5" fmla="val 17877"/>
              </a:avLst>
            </a:prstGeom>
            <a:solidFill>
              <a:schemeClr val="bg1">
                <a:lumMod val="95000"/>
                <a:alpha val="70000"/>
              </a:schemeClr>
            </a:solidFill>
            <a:ln w="25400">
              <a:solidFill>
                <a:schemeClr val="bg1">
                  <a:lumMod val="50000"/>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5" name="箭號: 圓形 184">
              <a:extLst>
                <a:ext uri="{FF2B5EF4-FFF2-40B4-BE49-F238E27FC236}">
                  <a16:creationId xmlns:a16="http://schemas.microsoft.com/office/drawing/2014/main" id="{FEA0BF70-7EBD-A742-8CC9-9C300F2E8553}"/>
                </a:ext>
              </a:extLst>
            </p:cNvPr>
            <p:cNvSpPr/>
            <p:nvPr/>
          </p:nvSpPr>
          <p:spPr>
            <a:xfrm rot="4315882">
              <a:off x="6584072" y="4854058"/>
              <a:ext cx="1166084" cy="1226766"/>
            </a:xfrm>
            <a:prstGeom prst="circularArrow">
              <a:avLst>
                <a:gd name="adj1" fmla="val 18161"/>
                <a:gd name="adj2" fmla="val 2382103"/>
                <a:gd name="adj3" fmla="val 18659249"/>
                <a:gd name="adj4" fmla="val 11944252"/>
                <a:gd name="adj5" fmla="val 17877"/>
              </a:avLst>
            </a:prstGeom>
            <a:solidFill>
              <a:schemeClr val="accent4">
                <a:lumMod val="20000"/>
                <a:lumOff val="80000"/>
                <a:alpha val="90000"/>
              </a:schemeClr>
            </a:solidFill>
            <a:ln w="25400">
              <a:solidFill>
                <a:schemeClr val="accent4">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6" name="標題 1">
              <a:extLst>
                <a:ext uri="{FF2B5EF4-FFF2-40B4-BE49-F238E27FC236}">
                  <a16:creationId xmlns:a16="http://schemas.microsoft.com/office/drawing/2014/main" id="{0FFD7938-CD99-26BD-A957-E32772382223}"/>
                </a:ext>
              </a:extLst>
            </p:cNvPr>
            <p:cNvSpPr txBox="1">
              <a:spLocks/>
            </p:cNvSpPr>
            <p:nvPr/>
          </p:nvSpPr>
          <p:spPr>
            <a:xfrm>
              <a:off x="7364060" y="5405645"/>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7030A0"/>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187" name="標題 1">
              <a:extLst>
                <a:ext uri="{FF2B5EF4-FFF2-40B4-BE49-F238E27FC236}">
                  <a16:creationId xmlns:a16="http://schemas.microsoft.com/office/drawing/2014/main" id="{B6C6F9F4-0E3F-7257-9525-F04F9A2303B1}"/>
                </a:ext>
              </a:extLst>
            </p:cNvPr>
            <p:cNvSpPr txBox="1">
              <a:spLocks/>
            </p:cNvSpPr>
            <p:nvPr/>
          </p:nvSpPr>
          <p:spPr>
            <a:xfrm>
              <a:off x="6516216" y="5693677"/>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188" name="箭號: 圓形 187">
              <a:extLst>
                <a:ext uri="{FF2B5EF4-FFF2-40B4-BE49-F238E27FC236}">
                  <a16:creationId xmlns:a16="http://schemas.microsoft.com/office/drawing/2014/main" id="{16E113E6-FF08-E353-9086-B083C7EDECBD}"/>
                </a:ext>
              </a:extLst>
            </p:cNvPr>
            <p:cNvSpPr/>
            <p:nvPr/>
          </p:nvSpPr>
          <p:spPr>
            <a:xfrm rot="19383568">
              <a:off x="6617398" y="4859814"/>
              <a:ext cx="1166084" cy="1226766"/>
            </a:xfrm>
            <a:prstGeom prst="circularArrow">
              <a:avLst>
                <a:gd name="adj1" fmla="val 18161"/>
                <a:gd name="adj2" fmla="val 2382103"/>
                <a:gd name="adj3" fmla="val 18659249"/>
                <a:gd name="adj4" fmla="val 11944252"/>
                <a:gd name="adj5" fmla="val 17877"/>
              </a:avLst>
            </a:prstGeom>
            <a:solidFill>
              <a:schemeClr val="accent1">
                <a:lumMod val="20000"/>
                <a:lumOff val="80000"/>
                <a:alpha val="70000"/>
              </a:schemeClr>
            </a:solidFill>
            <a:ln w="25400">
              <a:solidFill>
                <a:schemeClr val="accent1">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dirty="0">
                <a:solidFill>
                  <a:schemeClr val="tx1"/>
                </a:solidFill>
              </a:endParaRPr>
            </a:p>
          </p:txBody>
        </p:sp>
        <p:sp>
          <p:nvSpPr>
            <p:cNvPr id="189" name="標題 1">
              <a:extLst>
                <a:ext uri="{FF2B5EF4-FFF2-40B4-BE49-F238E27FC236}">
                  <a16:creationId xmlns:a16="http://schemas.microsoft.com/office/drawing/2014/main" id="{CC273686-22A7-2490-7447-FE46D2286C97}"/>
                </a:ext>
              </a:extLst>
            </p:cNvPr>
            <p:cNvSpPr txBox="1">
              <a:spLocks/>
            </p:cNvSpPr>
            <p:nvPr/>
          </p:nvSpPr>
          <p:spPr>
            <a:xfrm>
              <a:off x="6661286" y="5002596"/>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lumMod val="75000"/>
                    </a:schemeClr>
                  </a:solidFill>
                  <a:latin typeface="Noto Sans HK" panose="020B0200000000000000" pitchFamily="34" charset="-120"/>
                  <a:ea typeface="Noto Sans HK" panose="020B0200000000000000" pitchFamily="34" charset="-120"/>
                  <a:cs typeface="Arial" panose="020B0604020202020204" pitchFamily="34" charset="0"/>
                </a:rPr>
                <a:t>Thought</a:t>
              </a:r>
            </a:p>
          </p:txBody>
        </p:sp>
        <p:sp>
          <p:nvSpPr>
            <p:cNvPr id="12" name="標題 1">
              <a:extLst>
                <a:ext uri="{FF2B5EF4-FFF2-40B4-BE49-F238E27FC236}">
                  <a16:creationId xmlns:a16="http://schemas.microsoft.com/office/drawing/2014/main" id="{7CBBEBFC-BD09-6F35-2DF5-4D1530336BEF}"/>
                </a:ext>
              </a:extLst>
            </p:cNvPr>
            <p:cNvSpPr txBox="1">
              <a:spLocks/>
            </p:cNvSpPr>
            <p:nvPr/>
          </p:nvSpPr>
          <p:spPr>
            <a:xfrm>
              <a:off x="6979236" y="5335033"/>
              <a:ext cx="402608" cy="256770"/>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ReAct</a:t>
              </a:r>
            </a:p>
          </p:txBody>
        </p:sp>
      </p:grpSp>
      <p:graphicFrame>
        <p:nvGraphicFramePr>
          <p:cNvPr id="28" name="表格 27">
            <a:extLst>
              <a:ext uri="{FF2B5EF4-FFF2-40B4-BE49-F238E27FC236}">
                <a16:creationId xmlns:a16="http://schemas.microsoft.com/office/drawing/2014/main" id="{36C6FF7B-B782-8122-2D06-32325E5B070F}"/>
              </a:ext>
            </a:extLst>
          </p:cNvPr>
          <p:cNvGraphicFramePr>
            <a:graphicFrameLocks noGrp="1"/>
          </p:cNvGraphicFramePr>
          <p:nvPr>
            <p:extLst>
              <p:ext uri="{D42A27DB-BD31-4B8C-83A1-F6EECF244321}">
                <p14:modId xmlns:p14="http://schemas.microsoft.com/office/powerpoint/2010/main" val="405256837"/>
              </p:ext>
            </p:extLst>
          </p:nvPr>
        </p:nvGraphicFramePr>
        <p:xfrm>
          <a:off x="6486775" y="3208190"/>
          <a:ext cx="2377424" cy="2934584"/>
        </p:xfrm>
        <a:graphic>
          <a:graphicData uri="http://schemas.openxmlformats.org/drawingml/2006/table">
            <a:tbl>
              <a:tblPr firstRow="1" bandRow="1">
                <a:tableStyleId>{5C22544A-7EE6-4342-B048-85BDC9FD1C3A}</a:tableStyleId>
              </a:tblPr>
              <a:tblGrid>
                <a:gridCol w="879787">
                  <a:extLst>
                    <a:ext uri="{9D8B030D-6E8A-4147-A177-3AD203B41FA5}">
                      <a16:colId xmlns:a16="http://schemas.microsoft.com/office/drawing/2014/main" val="4512040"/>
                    </a:ext>
                  </a:extLst>
                </a:gridCol>
                <a:gridCol w="1497637">
                  <a:extLst>
                    <a:ext uri="{9D8B030D-6E8A-4147-A177-3AD203B41FA5}">
                      <a16:colId xmlns:a16="http://schemas.microsoft.com/office/drawing/2014/main" val="3840409758"/>
                    </a:ext>
                  </a:extLst>
                </a:gridCol>
              </a:tblGrid>
              <a:tr h="542456">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accent3">
                              <a:lumMod val="50000"/>
                            </a:schemeClr>
                          </a:solidFill>
                          <a:effectLst/>
                          <a:uLnTx/>
                          <a:uFillTx/>
                          <a:latin typeface="+mn-lt"/>
                          <a:ea typeface="+mn-ea"/>
                          <a:cs typeface="+mn-cs"/>
                        </a:rPr>
                        <a:t>Agentic RAG</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accent3">
                              <a:lumMod val="50000"/>
                            </a:schemeClr>
                          </a:solidFill>
                          <a:effectLst/>
                          <a:uLnTx/>
                          <a:uFillTx/>
                          <a:latin typeface="+mn-lt"/>
                          <a:ea typeface="+mn-ea"/>
                          <a:cs typeface="+mn-cs"/>
                        </a:rPr>
                        <a:t>Retrieval-Augmented Generation</a:t>
                      </a:r>
                    </a:p>
                  </a:txBody>
                  <a:tcPr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1311258892"/>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No reasoning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Modular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Heuristic rules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471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Early</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Agentic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347117">
                <a:tc row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Modern Agentic</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Reflexion: Evaluator node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r h="3471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ReWOO:</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Reasoning without observation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695012615"/>
                  </a:ext>
                </a:extLst>
              </a:tr>
              <a:tr h="234854">
                <a:tc vMerge="1">
                  <a:txBody>
                    <a:bodyPr/>
                    <a:lstStyle/>
                    <a:p>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Tree of thoughts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51169665"/>
                  </a:ext>
                </a:extLst>
              </a:tr>
              <a:tr h="69423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Language Agent Tree Search</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LATS =</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 ReAct + MCTS</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80310932"/>
                  </a:ext>
                </a:extLst>
              </a:tr>
            </a:tbl>
          </a:graphicData>
        </a:graphic>
      </p:graphicFrame>
    </p:spTree>
    <p:extLst>
      <p:ext uri="{BB962C8B-B14F-4D97-AF65-F5344CB8AC3E}">
        <p14:creationId xmlns:p14="http://schemas.microsoft.com/office/powerpoint/2010/main" val="151448430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圓角 16">
            <a:extLst>
              <a:ext uri="{FF2B5EF4-FFF2-40B4-BE49-F238E27FC236}">
                <a16:creationId xmlns:a16="http://schemas.microsoft.com/office/drawing/2014/main" id="{2535E2FB-B8F7-47F8-662C-1A5AEEF46AF4}"/>
              </a:ext>
            </a:extLst>
          </p:cNvPr>
          <p:cNvSpPr/>
          <p:nvPr/>
        </p:nvSpPr>
        <p:spPr>
          <a:xfrm>
            <a:off x="6942919" y="3144039"/>
            <a:ext cx="1013457" cy="484890"/>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Skill</a:t>
            </a:r>
          </a:p>
          <a:p>
            <a:pPr algn="ctr">
              <a:lnSpc>
                <a:spcPts val="1200"/>
              </a:lnSpc>
            </a:pPr>
            <a:r>
              <a:rPr lang="en-US" altLang="zh-TW" sz="1200" b="1" dirty="0">
                <a:solidFill>
                  <a:schemeClr val="tx1">
                    <a:lumMod val="75000"/>
                    <a:lumOff val="25000"/>
                  </a:schemeClr>
                </a:solidFill>
              </a:rPr>
              <a:t>Scripts</a:t>
            </a:r>
            <a:endParaRPr lang="zh-TW" altLang="en-US" sz="1200" b="1" dirty="0">
              <a:solidFill>
                <a:schemeClr val="tx1">
                  <a:lumMod val="75000"/>
                  <a:lumOff val="25000"/>
                </a:schemeClr>
              </a:solidFill>
            </a:endParaRPr>
          </a:p>
        </p:txBody>
      </p:sp>
      <p:sp>
        <p:nvSpPr>
          <p:cNvPr id="94" name="矩形: 圓角 93">
            <a:extLst>
              <a:ext uri="{FF2B5EF4-FFF2-40B4-BE49-F238E27FC236}">
                <a16:creationId xmlns:a16="http://schemas.microsoft.com/office/drawing/2014/main" id="{246EBEC3-E2E8-7F76-E461-DF6BA0142B33}"/>
              </a:ext>
            </a:extLst>
          </p:cNvPr>
          <p:cNvSpPr/>
          <p:nvPr/>
        </p:nvSpPr>
        <p:spPr>
          <a:xfrm>
            <a:off x="6943030" y="3822338"/>
            <a:ext cx="1013457" cy="481201"/>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RAG</a:t>
            </a:r>
            <a:r>
              <a:rPr lang="zh-TW" altLang="en-US" sz="1200" b="1" dirty="0">
                <a:solidFill>
                  <a:schemeClr val="tx1">
                    <a:lumMod val="75000"/>
                    <a:lumOff val="25000"/>
                  </a:schemeClr>
                </a:solidFill>
              </a:rPr>
              <a:t> </a:t>
            </a:r>
            <a:r>
              <a:rPr lang="en-US" altLang="zh-TW" sz="1200" b="1" dirty="0">
                <a:solidFill>
                  <a:schemeClr val="tx1">
                    <a:lumMod val="75000"/>
                    <a:lumOff val="25000"/>
                  </a:schemeClr>
                </a:solidFill>
              </a:rPr>
              <a:t>MCP</a:t>
            </a:r>
          </a:p>
          <a:p>
            <a:pPr algn="ctr">
              <a:lnSpc>
                <a:spcPts val="1200"/>
              </a:lnSpc>
            </a:pPr>
            <a:r>
              <a:rPr lang="en-US" altLang="zh-TW" sz="1200" b="1" dirty="0">
                <a:solidFill>
                  <a:schemeClr val="tx1">
                    <a:lumMod val="75000"/>
                    <a:lumOff val="25000"/>
                  </a:schemeClr>
                </a:solidFill>
              </a:rPr>
              <a:t>Server</a:t>
            </a:r>
            <a:endParaRPr lang="zh-TW" altLang="en-US" sz="1200" b="1" dirty="0">
              <a:solidFill>
                <a:schemeClr val="tx1">
                  <a:lumMod val="75000"/>
                  <a:lumOff val="25000"/>
                </a:schemeClr>
              </a:solidFill>
            </a:endParaRPr>
          </a:p>
        </p:txBody>
      </p:sp>
      <p:sp>
        <p:nvSpPr>
          <p:cNvPr id="74" name="文字方塊 73">
            <a:extLst>
              <a:ext uri="{FF2B5EF4-FFF2-40B4-BE49-F238E27FC236}">
                <a16:creationId xmlns:a16="http://schemas.microsoft.com/office/drawing/2014/main" id="{9BA05BA6-682F-E714-C62E-DEB3A66638F1}"/>
              </a:ext>
            </a:extLst>
          </p:cNvPr>
          <p:cNvSpPr txBox="1"/>
          <p:nvPr/>
        </p:nvSpPr>
        <p:spPr>
          <a:xfrm>
            <a:off x="2555776" y="2619977"/>
            <a:ext cx="648071"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Get Price</a:t>
            </a:r>
            <a:r>
              <a:rPr lang="zh-TW" altLang="zh-TW" sz="1000" dirty="0">
                <a:latin typeface="Noto Sans HK" panose="020B0200000000000000" pitchFamily="34" charset="-120"/>
                <a:ea typeface="Noto Sans HK" panose="020B0200000000000000" pitchFamily="34" charset="-120"/>
              </a:rPr>
              <a:t> </a:t>
            </a:r>
            <a:endParaRPr lang="en-US" altLang="zh-TW" sz="1000" dirty="0">
              <a:latin typeface="Noto Sans HK" panose="020B0200000000000000" pitchFamily="34" charset="-120"/>
              <a:ea typeface="Noto Sans HK" panose="020B0200000000000000" pitchFamily="34" charset="-120"/>
            </a:endParaRPr>
          </a:p>
        </p:txBody>
      </p:sp>
      <p:sp>
        <p:nvSpPr>
          <p:cNvPr id="63" name="矩形: 圓角 62">
            <a:extLst>
              <a:ext uri="{FF2B5EF4-FFF2-40B4-BE49-F238E27FC236}">
                <a16:creationId xmlns:a16="http://schemas.microsoft.com/office/drawing/2014/main" id="{E4FB350E-E1A8-F9B4-5833-A320C32EEA10}"/>
              </a:ext>
            </a:extLst>
          </p:cNvPr>
          <p:cNvSpPr/>
          <p:nvPr/>
        </p:nvSpPr>
        <p:spPr>
          <a:xfrm>
            <a:off x="6943030" y="2488400"/>
            <a:ext cx="1013457" cy="481201"/>
          </a:xfrm>
          <a:prstGeom prst="roundRect">
            <a:avLst>
              <a:gd name="adj" fmla="val 8706"/>
            </a:avLst>
          </a:prstGeom>
          <a:solidFill>
            <a:schemeClr val="accent4">
              <a:lumMod val="20000"/>
              <a:lumOff val="80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Server</a:t>
            </a:r>
            <a:endParaRPr lang="zh-TW" altLang="en-US" sz="1200" b="1" dirty="0">
              <a:solidFill>
                <a:schemeClr val="accent4">
                  <a:lumMod val="75000"/>
                </a:schemeClr>
              </a:solidFill>
            </a:endParaRPr>
          </a:p>
        </p:txBody>
      </p:sp>
      <p:sp>
        <p:nvSpPr>
          <p:cNvPr id="34" name="矩形: 圓角 33">
            <a:extLst>
              <a:ext uri="{FF2B5EF4-FFF2-40B4-BE49-F238E27FC236}">
                <a16:creationId xmlns:a16="http://schemas.microsoft.com/office/drawing/2014/main" id="{B8E9871D-CD28-29D2-C3B9-17959FEDFB46}"/>
              </a:ext>
            </a:extLst>
          </p:cNvPr>
          <p:cNvSpPr/>
          <p:nvPr/>
        </p:nvSpPr>
        <p:spPr>
          <a:xfrm>
            <a:off x="6943031" y="1863606"/>
            <a:ext cx="1013457" cy="481201"/>
          </a:xfrm>
          <a:prstGeom prst="roundRect">
            <a:avLst>
              <a:gd name="adj" fmla="val 8706"/>
            </a:avLst>
          </a:prstGeom>
          <a:solidFill>
            <a:schemeClr val="accent5">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5">
                    <a:lumMod val="50000"/>
                  </a:schemeClr>
                </a:solidFill>
              </a:rPr>
              <a:t>Vector</a:t>
            </a:r>
          </a:p>
          <a:p>
            <a:pPr algn="ctr"/>
            <a:r>
              <a:rPr lang="en-US" altLang="zh-TW" sz="1200" b="1" dirty="0">
                <a:solidFill>
                  <a:schemeClr val="accent5">
                    <a:lumMod val="50000"/>
                  </a:schemeClr>
                </a:solidFill>
              </a:rPr>
              <a:t>DB</a:t>
            </a:r>
            <a:endParaRPr lang="zh-TW" altLang="en-US" sz="1200" b="1" dirty="0">
              <a:solidFill>
                <a:schemeClr val="accent5">
                  <a:lumMod val="50000"/>
                </a:schemeClr>
              </a:solidFill>
            </a:endParaRPr>
          </a:p>
        </p:txBody>
      </p:sp>
      <p:sp>
        <p:nvSpPr>
          <p:cNvPr id="16" name="文字方塊 15">
            <a:extLst>
              <a:ext uri="{FF2B5EF4-FFF2-40B4-BE49-F238E27FC236}">
                <a16:creationId xmlns:a16="http://schemas.microsoft.com/office/drawing/2014/main" id="{E6B6C4F2-3F1E-6AE2-7DFF-8F6FA04D2EDF}"/>
              </a:ext>
            </a:extLst>
          </p:cNvPr>
          <p:cNvSpPr txBox="1"/>
          <p:nvPr/>
        </p:nvSpPr>
        <p:spPr>
          <a:xfrm>
            <a:off x="3779912" y="1700809"/>
            <a:ext cx="1224934" cy="1800199"/>
          </a:xfrm>
          <a:prstGeom prst="rect">
            <a:avLst/>
          </a:prstGeom>
          <a:solidFill>
            <a:schemeClr val="bg1">
              <a:lumMod val="95000"/>
            </a:schemeClr>
          </a:solidFill>
          <a:ln w="25400">
            <a:solidFill>
              <a:schemeClr val="tx1">
                <a:lumMod val="50000"/>
                <a:lumOff val="5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134" name="矩形: 圓角 133">
            <a:extLst>
              <a:ext uri="{FF2B5EF4-FFF2-40B4-BE49-F238E27FC236}">
                <a16:creationId xmlns:a16="http://schemas.microsoft.com/office/drawing/2014/main" id="{202C397C-75BA-F777-FD3B-5046214DE27F}"/>
              </a:ext>
            </a:extLst>
          </p:cNvPr>
          <p:cNvSpPr/>
          <p:nvPr/>
        </p:nvSpPr>
        <p:spPr>
          <a:xfrm>
            <a:off x="4027099" y="1531881"/>
            <a:ext cx="797767" cy="240935"/>
          </a:xfrm>
          <a:prstGeom prst="roundRect">
            <a:avLst>
              <a:gd name="adj" fmla="val 8706"/>
            </a:avLst>
          </a:prstGeom>
          <a:solidFill>
            <a:schemeClr val="tx1">
              <a:lumMod val="85000"/>
              <a:lumOff val="15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MCP Host</a:t>
            </a:r>
            <a:endParaRPr lang="zh-TW" altLang="en-US" sz="1200" b="1" dirty="0">
              <a:solidFill>
                <a:schemeClr val="bg1"/>
              </a:solidFill>
            </a:endParaRPr>
          </a:p>
        </p:txBody>
      </p:sp>
      <p:sp>
        <p:nvSpPr>
          <p:cNvPr id="9" name="文字方塊 8">
            <a:extLst>
              <a:ext uri="{FF2B5EF4-FFF2-40B4-BE49-F238E27FC236}">
                <a16:creationId xmlns:a16="http://schemas.microsoft.com/office/drawing/2014/main" id="{7AAD28DF-6498-6387-F96E-656B98F80A89}"/>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42" name="直線單箭頭接點 41">
            <a:extLst>
              <a:ext uri="{FF2B5EF4-FFF2-40B4-BE49-F238E27FC236}">
                <a16:creationId xmlns:a16="http://schemas.microsoft.com/office/drawing/2014/main" id="{5C031ACB-F901-E82F-EC14-CA1BE0422B34}"/>
              </a:ext>
            </a:extLst>
          </p:cNvPr>
          <p:cNvCxnSpPr>
            <a:cxnSpLocks/>
            <a:stCxn id="9" idx="0"/>
            <a:endCxn id="16"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4" name="圖形 23" descr="資料庫 外框">
            <a:extLst>
              <a:ext uri="{FF2B5EF4-FFF2-40B4-BE49-F238E27FC236}">
                <a16:creationId xmlns:a16="http://schemas.microsoft.com/office/drawing/2014/main" id="{D596727D-E562-6026-F9B1-9D1D9C4256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61289" y="1914314"/>
            <a:ext cx="364339" cy="379784"/>
          </a:xfrm>
          <a:prstGeom prst="rect">
            <a:avLst/>
          </a:prstGeom>
          <a:effectLst>
            <a:glow rad="127000">
              <a:schemeClr val="accent5">
                <a:lumMod val="20000"/>
                <a:lumOff val="80000"/>
              </a:schemeClr>
            </a:glow>
          </a:effectLst>
        </p:spPr>
      </p:pic>
      <p:sp>
        <p:nvSpPr>
          <p:cNvPr id="61" name="文字方塊 60">
            <a:extLst>
              <a:ext uri="{FF2B5EF4-FFF2-40B4-BE49-F238E27FC236}">
                <a16:creationId xmlns:a16="http://schemas.microsoft.com/office/drawing/2014/main" id="{5CBD3571-7A57-2216-0FE5-E2ABCD70BF10}"/>
              </a:ext>
            </a:extLst>
          </p:cNvPr>
          <p:cNvSpPr txBox="1"/>
          <p:nvPr/>
        </p:nvSpPr>
        <p:spPr>
          <a:xfrm>
            <a:off x="8014078" y="2580364"/>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Real-Time</a:t>
            </a:r>
          </a:p>
          <a:p>
            <a:pPr>
              <a:lnSpc>
                <a:spcPts val="1200"/>
              </a:lnSpc>
              <a:buNone/>
            </a:pPr>
            <a:r>
              <a:rPr lang="en-US" altLang="zh-TW" sz="1000" dirty="0">
                <a:ea typeface="Meiryo" panose="020B0604030504040204" pitchFamily="34" charset="-128"/>
              </a:rPr>
              <a:t>Message</a:t>
            </a:r>
          </a:p>
        </p:txBody>
      </p:sp>
      <p:sp>
        <p:nvSpPr>
          <p:cNvPr id="89" name="矩形: 圓角 88">
            <a:extLst>
              <a:ext uri="{FF2B5EF4-FFF2-40B4-BE49-F238E27FC236}">
                <a16:creationId xmlns:a16="http://schemas.microsoft.com/office/drawing/2014/main" id="{C35C377F-104F-EB33-BFCB-9776ED9FED54}"/>
              </a:ext>
            </a:extLst>
          </p:cNvPr>
          <p:cNvSpPr/>
          <p:nvPr/>
        </p:nvSpPr>
        <p:spPr>
          <a:xfrm>
            <a:off x="5436096" y="2490721"/>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sp>
        <p:nvSpPr>
          <p:cNvPr id="92" name="矩形: 圓角 91">
            <a:extLst>
              <a:ext uri="{FF2B5EF4-FFF2-40B4-BE49-F238E27FC236}">
                <a16:creationId xmlns:a16="http://schemas.microsoft.com/office/drawing/2014/main" id="{0F1F2219-D782-334F-44BA-F7E58D8E34C3}"/>
              </a:ext>
            </a:extLst>
          </p:cNvPr>
          <p:cNvSpPr/>
          <p:nvPr/>
        </p:nvSpPr>
        <p:spPr>
          <a:xfrm>
            <a:off x="5436096" y="3140967"/>
            <a:ext cx="504689" cy="487962"/>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102" name="直線單箭頭接點 101">
            <a:extLst>
              <a:ext uri="{FF2B5EF4-FFF2-40B4-BE49-F238E27FC236}">
                <a16:creationId xmlns:a16="http://schemas.microsoft.com/office/drawing/2014/main" id="{B5FECA90-B6A6-D5DE-34B7-0D2458B6B40E}"/>
              </a:ext>
            </a:extLst>
          </p:cNvPr>
          <p:cNvCxnSpPr>
            <a:cxnSpLocks/>
            <a:stCxn id="34" idx="1"/>
            <a:endCxn id="36" idx="3"/>
          </p:cNvCxnSpPr>
          <p:nvPr/>
        </p:nvCxnSpPr>
        <p:spPr>
          <a:xfrm flipH="1">
            <a:off x="5940785" y="2104207"/>
            <a:ext cx="1002246" cy="35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7" name="直線單箭頭接點 106">
            <a:extLst>
              <a:ext uri="{FF2B5EF4-FFF2-40B4-BE49-F238E27FC236}">
                <a16:creationId xmlns:a16="http://schemas.microsoft.com/office/drawing/2014/main" id="{4B3B2844-3ED2-2107-9FA2-DDE0A38496FF}"/>
              </a:ext>
            </a:extLst>
          </p:cNvPr>
          <p:cNvCxnSpPr>
            <a:cxnSpLocks/>
            <a:stCxn id="63" idx="1"/>
            <a:endCxn id="89" idx="3"/>
          </p:cNvCxnSpPr>
          <p:nvPr/>
        </p:nvCxnSpPr>
        <p:spPr>
          <a:xfrm flipH="1">
            <a:off x="5940785" y="2729001"/>
            <a:ext cx="1002245" cy="590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8" name="直線單箭頭接點 107">
            <a:extLst>
              <a:ext uri="{FF2B5EF4-FFF2-40B4-BE49-F238E27FC236}">
                <a16:creationId xmlns:a16="http://schemas.microsoft.com/office/drawing/2014/main" id="{DF5897A3-59AB-2800-B47B-61BAA4BE06CA}"/>
              </a:ext>
            </a:extLst>
          </p:cNvPr>
          <p:cNvCxnSpPr>
            <a:cxnSpLocks/>
            <a:stCxn id="17" idx="1"/>
            <a:endCxn id="92" idx="3"/>
          </p:cNvCxnSpPr>
          <p:nvPr/>
        </p:nvCxnSpPr>
        <p:spPr>
          <a:xfrm flipH="1" flipV="1">
            <a:off x="5940785" y="3384948"/>
            <a:ext cx="1002134" cy="1536"/>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ACA7D7BF-DBE4-058F-367A-8356FF5D7ACD}"/>
              </a:ext>
            </a:extLst>
          </p:cNvPr>
          <p:cNvSpPr txBox="1"/>
          <p:nvPr/>
        </p:nvSpPr>
        <p:spPr>
          <a:xfrm>
            <a:off x="6191342" y="1956862"/>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0" name="文字方塊 129">
            <a:extLst>
              <a:ext uri="{FF2B5EF4-FFF2-40B4-BE49-F238E27FC236}">
                <a16:creationId xmlns:a16="http://schemas.microsoft.com/office/drawing/2014/main" id="{DCAF35C5-5518-CDF2-1AC5-4528F8B47E2A}"/>
              </a:ext>
            </a:extLst>
          </p:cNvPr>
          <p:cNvSpPr txBox="1"/>
          <p:nvPr/>
        </p:nvSpPr>
        <p:spPr>
          <a:xfrm>
            <a:off x="6191342" y="2573886"/>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2" name="文字方塊 131">
            <a:extLst>
              <a:ext uri="{FF2B5EF4-FFF2-40B4-BE49-F238E27FC236}">
                <a16:creationId xmlns:a16="http://schemas.microsoft.com/office/drawing/2014/main" id="{B27DB76A-51FC-8DE5-1DF8-7871A37C702C}"/>
              </a:ext>
            </a:extLst>
          </p:cNvPr>
          <p:cNvSpPr txBox="1"/>
          <p:nvPr/>
        </p:nvSpPr>
        <p:spPr>
          <a:xfrm>
            <a:off x="6191342" y="323313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27" name="標題 1">
            <a:extLst>
              <a:ext uri="{FF2B5EF4-FFF2-40B4-BE49-F238E27FC236}">
                <a16:creationId xmlns:a16="http://schemas.microsoft.com/office/drawing/2014/main" id="{714FED49-EBEA-804C-277F-87FC8CCB5235}"/>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Model Context Protocol</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MCP enables AI Agents to </a:t>
            </a:r>
            <a:r>
              <a:rPr kumimoji="0" lang="en-US" altLang="zh-TW" sz="1400" b="1" i="0" u="none" strike="noStrike" kern="1200" cap="none" spc="0" normalizeH="0" baseline="0" noProof="0" dirty="0">
                <a:ln>
                  <a:noFill/>
                </a:ln>
                <a:solidFill>
                  <a:schemeClr val="accent6">
                    <a:lumMod val="75000"/>
                  </a:schemeClr>
                </a:solidFill>
                <a:effectLst/>
                <a:uLnTx/>
                <a:uFillTx/>
                <a:latin typeface="Noto Sans HK" panose="020B0200000000000000" pitchFamily="34" charset="-120"/>
                <a:ea typeface="Noto Sans HK" panose="020B0200000000000000" pitchFamily="34" charset="-120"/>
                <a:cs typeface="Arial" panose="020B0604020202020204" pitchFamily="34" charset="0"/>
              </a:rPr>
              <a:t>connect</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with </a:t>
            </a:r>
            <a:r>
              <a:rPr kumimoji="0" lang="en-US" altLang="zh-TW" sz="1400" i="0" u="none" strike="noStrike" kern="1200" cap="none" spc="0" normalizeH="0" baseline="0" noProof="0" dirty="0">
                <a:ln>
                  <a:noFill/>
                </a:ln>
                <a:effectLst/>
                <a:uLnTx/>
                <a:uFillTx/>
                <a:latin typeface="Noto Sans HK" panose="020B0200000000000000" pitchFamily="34" charset="-120"/>
                <a:ea typeface="Noto Sans HK" panose="020B0200000000000000" pitchFamily="34" charset="-120"/>
                <a:cs typeface="Arial" panose="020B0604020202020204" pitchFamily="34" charset="0"/>
              </a:rPr>
              <a:t>external</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tools and data sources.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22" name="圖形 121" descr="科學思想 以實心填滿">
            <a:extLst>
              <a:ext uri="{FF2B5EF4-FFF2-40B4-BE49-F238E27FC236}">
                <a16:creationId xmlns:a16="http://schemas.microsoft.com/office/drawing/2014/main" id="{53EAAAE7-6160-7CCC-5A4B-4BE4A3A490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grpSp>
        <p:nvGrpSpPr>
          <p:cNvPr id="174" name="群組 173">
            <a:extLst>
              <a:ext uri="{FF2B5EF4-FFF2-40B4-BE49-F238E27FC236}">
                <a16:creationId xmlns:a16="http://schemas.microsoft.com/office/drawing/2014/main" id="{BEE30526-718C-1AFB-A5C7-9709765E6B51}"/>
              </a:ext>
            </a:extLst>
          </p:cNvPr>
          <p:cNvGrpSpPr/>
          <p:nvPr/>
        </p:nvGrpSpPr>
        <p:grpSpPr>
          <a:xfrm>
            <a:off x="611561" y="1611402"/>
            <a:ext cx="1643158" cy="994885"/>
            <a:chOff x="611560" y="1474120"/>
            <a:chExt cx="1764115" cy="1132167"/>
          </a:xfrm>
        </p:grpSpPr>
        <p:sp>
          <p:nvSpPr>
            <p:cNvPr id="51" name="雲朵形 50">
              <a:extLst>
                <a:ext uri="{FF2B5EF4-FFF2-40B4-BE49-F238E27FC236}">
                  <a16:creationId xmlns:a16="http://schemas.microsoft.com/office/drawing/2014/main" id="{068ED43E-E3BC-FB12-2DE6-452E2E4EDCB0}"/>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159" name="文字方塊 158">
              <a:extLst>
                <a:ext uri="{FF2B5EF4-FFF2-40B4-BE49-F238E27FC236}">
                  <a16:creationId xmlns:a16="http://schemas.microsoft.com/office/drawing/2014/main" id="{A73A3A98-EF76-CBC8-28B7-D5216CD68F70}"/>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166" name="矩形: 圓角 165">
              <a:extLst>
                <a:ext uri="{FF2B5EF4-FFF2-40B4-BE49-F238E27FC236}">
                  <a16:creationId xmlns:a16="http://schemas.microsoft.com/office/drawing/2014/main" id="{4C2F2724-9C95-61E4-4E18-182C73598EEB}"/>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7" name="圖片 6">
              <a:extLst>
                <a:ext uri="{FF2B5EF4-FFF2-40B4-BE49-F238E27FC236}">
                  <a16:creationId xmlns:a16="http://schemas.microsoft.com/office/drawing/2014/main" id="{D82BC7A5-7FA1-4BBA-BF68-A20F3FC56D5F}"/>
                </a:ext>
              </a:extLst>
            </p:cNvPr>
            <p:cNvPicPr>
              <a:picLocks noChangeAspect="1"/>
            </p:cNvPicPr>
            <p:nvPr/>
          </p:nvPicPr>
          <p:blipFill>
            <a:blip r:embed="rId5"/>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151" name="圖形 150" descr="原子 以實心填滿">
              <a:extLst>
                <a:ext uri="{FF2B5EF4-FFF2-40B4-BE49-F238E27FC236}">
                  <a16:creationId xmlns:a16="http://schemas.microsoft.com/office/drawing/2014/main" id="{B4A2124C-0737-AE16-69D0-A17BAB91282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41736" y="1651945"/>
              <a:ext cx="497527" cy="497527"/>
            </a:xfrm>
            <a:prstGeom prst="rect">
              <a:avLst/>
            </a:prstGeom>
          </p:spPr>
        </p:pic>
      </p:grpSp>
      <p:sp>
        <p:nvSpPr>
          <p:cNvPr id="25" name="文字方塊 24">
            <a:extLst>
              <a:ext uri="{FF2B5EF4-FFF2-40B4-BE49-F238E27FC236}">
                <a16:creationId xmlns:a16="http://schemas.microsoft.com/office/drawing/2014/main" id="{5501C6B9-6DCD-10E9-0C12-453A6A83823F}"/>
              </a:ext>
            </a:extLst>
          </p:cNvPr>
          <p:cNvSpPr txBox="1"/>
          <p:nvPr/>
        </p:nvSpPr>
        <p:spPr>
          <a:xfrm>
            <a:off x="213023" y="5048016"/>
            <a:ext cx="7023273" cy="147732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Steps</a:t>
            </a:r>
          </a:p>
          <a:p>
            <a:pPr marL="285750" indent="-285750">
              <a:lnSpc>
                <a:spcPts val="1800"/>
              </a:lnSpc>
              <a:spcBef>
                <a:spcPts val="600"/>
              </a:spcBef>
              <a:spcAft>
                <a:spcPts val="600"/>
              </a:spcAft>
              <a:buFont typeface="Wingdings" panose="05000000000000000000" pitchFamily="2" charset="2"/>
              <a:buChar char="Ø"/>
            </a:pPr>
            <a:r>
              <a:rPr lang="en-US" altLang="zh-TW" sz="1600" b="1" dirty="0"/>
              <a:t>Initialization &amp; Discovery</a:t>
            </a:r>
            <a:r>
              <a:rPr lang="en-US" altLang="zh-TW" sz="1600" b="0" u="none" strike="noStrike" dirty="0">
                <a:effectLst/>
              </a:rPr>
              <a:t>: MCP server provides tool schemas to the host.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Reasoning &amp; Tool Call</a:t>
            </a:r>
            <a:r>
              <a:rPr lang="en-US" altLang="zh-TW" sz="1600" b="0" u="none" strike="noStrike" dirty="0">
                <a:effectLst/>
              </a:rPr>
              <a:t>: LLM sends request to MCP server.</a:t>
            </a:r>
          </a:p>
          <a:p>
            <a:pPr marL="285750" indent="-285750">
              <a:lnSpc>
                <a:spcPts val="1800"/>
              </a:lnSpc>
              <a:spcBef>
                <a:spcPts val="600"/>
              </a:spcBef>
              <a:spcAft>
                <a:spcPts val="600"/>
              </a:spcAft>
              <a:buFont typeface="Wingdings" panose="05000000000000000000" pitchFamily="2" charset="2"/>
              <a:buChar char="Ø"/>
            </a:pPr>
            <a:r>
              <a:rPr lang="en-US" altLang="zh-TW" sz="1600" b="1" dirty="0"/>
              <a:t>Execution &amp; Injection</a:t>
            </a:r>
            <a:r>
              <a:rPr lang="en-US" altLang="zh-TW" sz="1600" dirty="0"/>
              <a:t>: Server returns data to host for LLM context injection.</a:t>
            </a:r>
          </a:p>
        </p:txBody>
      </p:sp>
      <p:sp>
        <p:nvSpPr>
          <p:cNvPr id="36" name="矩形: 圓角 35">
            <a:extLst>
              <a:ext uri="{FF2B5EF4-FFF2-40B4-BE49-F238E27FC236}">
                <a16:creationId xmlns:a16="http://schemas.microsoft.com/office/drawing/2014/main" id="{BCBF1B2A-C695-3EF2-5516-914B7DA9FBC2}"/>
              </a:ext>
            </a:extLst>
          </p:cNvPr>
          <p:cNvSpPr/>
          <p:nvPr/>
        </p:nvSpPr>
        <p:spPr>
          <a:xfrm>
            <a:off x="5436096" y="1863606"/>
            <a:ext cx="504689" cy="488365"/>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23" name="直線單箭頭接點 22">
            <a:extLst>
              <a:ext uri="{FF2B5EF4-FFF2-40B4-BE49-F238E27FC236}">
                <a16:creationId xmlns:a16="http://schemas.microsoft.com/office/drawing/2014/main" id="{F42A7713-E02E-4E9D-59E7-AB2551695208}"/>
              </a:ext>
            </a:extLst>
          </p:cNvPr>
          <p:cNvCxnSpPr>
            <a:cxnSpLocks/>
            <a:stCxn id="36" idx="1"/>
            <a:endCxn id="168" idx="3"/>
          </p:cNvCxnSpPr>
          <p:nvPr/>
        </p:nvCxnSpPr>
        <p:spPr>
          <a:xfrm flipH="1">
            <a:off x="3227331" y="2107789"/>
            <a:ext cx="2208765" cy="5942"/>
          </a:xfrm>
          <a:prstGeom prst="straightConnector1">
            <a:avLst/>
          </a:prstGeom>
          <a:ln w="15875">
            <a:solidFill>
              <a:schemeClr val="accent4">
                <a:lumMod val="75000"/>
              </a:schemeClr>
            </a:solidFill>
            <a:prstDash val="sys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 name="接點: 肘形 7">
            <a:extLst>
              <a:ext uri="{FF2B5EF4-FFF2-40B4-BE49-F238E27FC236}">
                <a16:creationId xmlns:a16="http://schemas.microsoft.com/office/drawing/2014/main" id="{B55E57A6-6BCE-F3CC-1266-7E54981EF350}"/>
              </a:ext>
            </a:extLst>
          </p:cNvPr>
          <p:cNvCxnSpPr>
            <a:cxnSpLocks/>
            <a:stCxn id="70" idx="1"/>
            <a:endCxn id="74" idx="1"/>
          </p:cNvCxnSpPr>
          <p:nvPr/>
        </p:nvCxnSpPr>
        <p:spPr>
          <a:xfrm rot="10800000" flipV="1">
            <a:off x="2555776" y="2271269"/>
            <a:ext cx="546964" cy="464195"/>
          </a:xfrm>
          <a:prstGeom prst="bentConnector3">
            <a:avLst>
              <a:gd name="adj1" fmla="val 141794"/>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30" name="圖形 29" descr="統計 以實心填滿">
            <a:extLst>
              <a:ext uri="{FF2B5EF4-FFF2-40B4-BE49-F238E27FC236}">
                <a16:creationId xmlns:a16="http://schemas.microsoft.com/office/drawing/2014/main" id="{2F417CFC-C08D-8AC7-FE07-C2FDB338322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961289" y="2564904"/>
            <a:ext cx="361524" cy="319529"/>
          </a:xfrm>
          <a:prstGeom prst="rect">
            <a:avLst/>
          </a:prstGeom>
          <a:effectLst>
            <a:glow rad="12700">
              <a:schemeClr val="accent4">
                <a:lumMod val="60000"/>
                <a:lumOff val="40000"/>
              </a:schemeClr>
            </a:glow>
          </a:effectLst>
        </p:spPr>
      </p:pic>
      <p:cxnSp>
        <p:nvCxnSpPr>
          <p:cNvPr id="52" name="直線單箭頭接點 51">
            <a:extLst>
              <a:ext uri="{FF2B5EF4-FFF2-40B4-BE49-F238E27FC236}">
                <a16:creationId xmlns:a16="http://schemas.microsoft.com/office/drawing/2014/main" id="{CF35FAE4-219A-F7C6-6930-F22BA619A0E6}"/>
              </a:ext>
            </a:extLst>
          </p:cNvPr>
          <p:cNvCxnSpPr>
            <a:cxnSpLocks/>
            <a:stCxn id="74" idx="3"/>
            <a:endCxn id="89" idx="1"/>
          </p:cNvCxnSpPr>
          <p:nvPr/>
        </p:nvCxnSpPr>
        <p:spPr>
          <a:xfrm flipV="1">
            <a:off x="3203847" y="2734903"/>
            <a:ext cx="2232249" cy="562"/>
          </a:xfrm>
          <a:prstGeom prst="straightConnector1">
            <a:avLst/>
          </a:prstGeom>
          <a:ln w="15875">
            <a:solidFill>
              <a:schemeClr val="accent4">
                <a:lumMod val="75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0" name="文字方塊 69">
            <a:extLst>
              <a:ext uri="{FF2B5EF4-FFF2-40B4-BE49-F238E27FC236}">
                <a16:creationId xmlns:a16="http://schemas.microsoft.com/office/drawing/2014/main" id="{AA224E60-31D4-446D-E4BA-7E52EEE0F947}"/>
              </a:ext>
            </a:extLst>
          </p:cNvPr>
          <p:cNvSpPr txBox="1"/>
          <p:nvPr/>
        </p:nvSpPr>
        <p:spPr>
          <a:xfrm>
            <a:off x="3102740" y="2174610"/>
            <a:ext cx="461148" cy="193320"/>
          </a:xfrm>
          <a:prstGeom prst="rect">
            <a:avLst/>
          </a:prstGeom>
          <a:noFill/>
          <a:ln>
            <a:noFill/>
          </a:ln>
        </p:spPr>
        <p:txBody>
          <a:bodyPr wrap="none" lIns="0" tIns="0" rIns="0" bIns="0" anchor="ctr" anchorCtr="1">
            <a:noAutofit/>
          </a:bodyPr>
          <a:lstStyle/>
          <a:p>
            <a:pPr algn="ctr">
              <a:lnSpc>
                <a:spcPts val="1600"/>
              </a:lnSpc>
              <a:buNone/>
            </a:pPr>
            <a:r>
              <a:rPr lang="en-US" altLang="zh-TW" sz="1000" u="none" strike="noStrike" dirty="0">
                <a:effectLst/>
                <a:latin typeface="Noto Sans HK" panose="020B0200000000000000" pitchFamily="34" charset="-120"/>
                <a:ea typeface="Noto Sans HK" panose="020B0200000000000000" pitchFamily="34" charset="-120"/>
                <a:cs typeface="ADLaM Display" panose="02010000000000000000" pitchFamily="2" charset="0"/>
              </a:rPr>
              <a:t>Result</a:t>
            </a:r>
          </a:p>
        </p:txBody>
      </p:sp>
      <p:sp>
        <p:nvSpPr>
          <p:cNvPr id="82" name="文字方塊 81">
            <a:extLst>
              <a:ext uri="{FF2B5EF4-FFF2-40B4-BE49-F238E27FC236}">
                <a16:creationId xmlns:a16="http://schemas.microsoft.com/office/drawing/2014/main" id="{063C9627-CD4E-2780-7259-9B95B68D7DF5}"/>
              </a:ext>
            </a:extLst>
          </p:cNvPr>
          <p:cNvSpPr txBox="1"/>
          <p:nvPr/>
        </p:nvSpPr>
        <p:spPr>
          <a:xfrm>
            <a:off x="8014078" y="1948870"/>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Accurate Data</a:t>
            </a:r>
          </a:p>
          <a:p>
            <a:pPr>
              <a:lnSpc>
                <a:spcPts val="1200"/>
              </a:lnSpc>
              <a:buNone/>
            </a:pPr>
            <a:r>
              <a:rPr lang="en-US" altLang="zh-TW" sz="1000" dirty="0">
                <a:ea typeface="Meiryo" panose="020B0604030504040204" pitchFamily="34" charset="-128"/>
              </a:rPr>
              <a:t>and Rules</a:t>
            </a:r>
          </a:p>
        </p:txBody>
      </p:sp>
      <p:sp>
        <p:nvSpPr>
          <p:cNvPr id="95" name="矩形: 圓角 94">
            <a:extLst>
              <a:ext uri="{FF2B5EF4-FFF2-40B4-BE49-F238E27FC236}">
                <a16:creationId xmlns:a16="http://schemas.microsoft.com/office/drawing/2014/main" id="{A9F366E9-4DE1-405D-D23C-15394384EFC8}"/>
              </a:ext>
            </a:extLst>
          </p:cNvPr>
          <p:cNvSpPr/>
          <p:nvPr/>
        </p:nvSpPr>
        <p:spPr>
          <a:xfrm>
            <a:off x="5436095" y="3811575"/>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96" name="直線單箭頭接點 95">
            <a:extLst>
              <a:ext uri="{FF2B5EF4-FFF2-40B4-BE49-F238E27FC236}">
                <a16:creationId xmlns:a16="http://schemas.microsoft.com/office/drawing/2014/main" id="{8DA46341-076C-9538-5F65-7772C9BF8E97}"/>
              </a:ext>
            </a:extLst>
          </p:cNvPr>
          <p:cNvCxnSpPr>
            <a:cxnSpLocks/>
            <a:stCxn id="94" idx="1"/>
            <a:endCxn id="95" idx="3"/>
          </p:cNvCxnSpPr>
          <p:nvPr/>
        </p:nvCxnSpPr>
        <p:spPr>
          <a:xfrm flipH="1" flipV="1">
            <a:off x="5940784" y="4055757"/>
            <a:ext cx="1002246" cy="71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97" name="文字方塊 96">
            <a:extLst>
              <a:ext uri="{FF2B5EF4-FFF2-40B4-BE49-F238E27FC236}">
                <a16:creationId xmlns:a16="http://schemas.microsoft.com/office/drawing/2014/main" id="{5ECE1A84-39B0-E184-406D-098D2F900FB8}"/>
              </a:ext>
            </a:extLst>
          </p:cNvPr>
          <p:cNvSpPr txBox="1"/>
          <p:nvPr/>
        </p:nvSpPr>
        <p:spPr>
          <a:xfrm>
            <a:off x="6191341" y="390841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pic>
        <p:nvPicPr>
          <p:cNvPr id="98" name="圖形 97" descr="放大鏡 以實心填滿">
            <a:extLst>
              <a:ext uri="{FF2B5EF4-FFF2-40B4-BE49-F238E27FC236}">
                <a16:creationId xmlns:a16="http://schemas.microsoft.com/office/drawing/2014/main" id="{ED47DEB0-7937-1899-CCAB-0CF8E52A47EC}"/>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flipH="1">
            <a:off x="7730429" y="4006957"/>
            <a:ext cx="429694" cy="421999"/>
          </a:xfrm>
          <a:prstGeom prst="rect">
            <a:avLst/>
          </a:prstGeom>
          <a:effectLst>
            <a:glow rad="127000">
              <a:schemeClr val="accent3">
                <a:lumMod val="40000"/>
                <a:lumOff val="60000"/>
                <a:alpha val="40000"/>
              </a:schemeClr>
            </a:glow>
          </a:effectLst>
        </p:spPr>
      </p:pic>
      <p:pic>
        <p:nvPicPr>
          <p:cNvPr id="103" name="圖形 102" descr="卷軸 以實心填滿">
            <a:extLst>
              <a:ext uri="{FF2B5EF4-FFF2-40B4-BE49-F238E27FC236}">
                <a16:creationId xmlns:a16="http://schemas.microsoft.com/office/drawing/2014/main" id="{667ED03B-A7F7-ACC2-A2B1-E2AFC986107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952160" y="3194165"/>
            <a:ext cx="379782" cy="354089"/>
          </a:xfrm>
          <a:prstGeom prst="rect">
            <a:avLst/>
          </a:prstGeom>
          <a:effectLst>
            <a:glow rad="12700">
              <a:schemeClr val="accent1">
                <a:alpha val="40000"/>
              </a:schemeClr>
            </a:glow>
          </a:effectLst>
        </p:spPr>
      </p:pic>
      <p:pic>
        <p:nvPicPr>
          <p:cNvPr id="119" name="圖形 118" descr="伺服器 以實心填滿">
            <a:extLst>
              <a:ext uri="{FF2B5EF4-FFF2-40B4-BE49-F238E27FC236}">
                <a16:creationId xmlns:a16="http://schemas.microsoft.com/office/drawing/2014/main" id="{71DF6DD6-7BC1-EF37-79EB-6ED391AC9D9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982142" y="3902931"/>
            <a:ext cx="318157" cy="318157"/>
          </a:xfrm>
          <a:prstGeom prst="rect">
            <a:avLst/>
          </a:prstGeom>
          <a:effectLst>
            <a:glow rad="12700">
              <a:schemeClr val="accent1">
                <a:alpha val="40000"/>
              </a:schemeClr>
            </a:glow>
          </a:effectLst>
        </p:spPr>
      </p:pic>
      <p:sp>
        <p:nvSpPr>
          <p:cNvPr id="121" name="語音泡泡: 圓角矩形 120">
            <a:extLst>
              <a:ext uri="{FF2B5EF4-FFF2-40B4-BE49-F238E27FC236}">
                <a16:creationId xmlns:a16="http://schemas.microsoft.com/office/drawing/2014/main" id="{E66BF7E8-3B44-838D-11B4-D798918A32E3}"/>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cxnSp>
        <p:nvCxnSpPr>
          <p:cNvPr id="125" name="接點: 肘形 124">
            <a:extLst>
              <a:ext uri="{FF2B5EF4-FFF2-40B4-BE49-F238E27FC236}">
                <a16:creationId xmlns:a16="http://schemas.microsoft.com/office/drawing/2014/main" id="{6F975437-D854-70DF-C9D6-44997A400587}"/>
              </a:ext>
            </a:extLst>
          </p:cNvPr>
          <p:cNvCxnSpPr>
            <a:cxnSpLocks/>
            <a:stCxn id="150" idx="1"/>
            <a:endCxn id="181" idx="1"/>
          </p:cNvCxnSpPr>
          <p:nvPr/>
        </p:nvCxnSpPr>
        <p:spPr>
          <a:xfrm rot="10800000" flipV="1">
            <a:off x="2541225" y="2871940"/>
            <a:ext cx="590614" cy="514654"/>
          </a:xfrm>
          <a:prstGeom prst="bentConnector3">
            <a:avLst>
              <a:gd name="adj1" fmla="val 138705"/>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50" name="文字方塊 149">
            <a:extLst>
              <a:ext uri="{FF2B5EF4-FFF2-40B4-BE49-F238E27FC236}">
                <a16:creationId xmlns:a16="http://schemas.microsoft.com/office/drawing/2014/main" id="{617B5F58-14B7-E470-F4D6-CDD08C65DB3F}"/>
              </a:ext>
            </a:extLst>
          </p:cNvPr>
          <p:cNvSpPr txBox="1"/>
          <p:nvPr/>
        </p:nvSpPr>
        <p:spPr>
          <a:xfrm>
            <a:off x="3131839" y="2756452"/>
            <a:ext cx="503257"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Result</a:t>
            </a:r>
            <a:endParaRPr lang="en-US" altLang="zh-TW" sz="1000" u="none" strike="noStrike" dirty="0">
              <a:effectLst/>
              <a:highlight>
                <a:srgbClr val="DFD8E8"/>
              </a:highlight>
              <a:latin typeface="Noto Sans HK" panose="020B0200000000000000" pitchFamily="34" charset="-120"/>
              <a:ea typeface="Noto Sans HK" panose="020B0200000000000000" pitchFamily="34" charset="-120"/>
              <a:cs typeface="ADLaM Display" panose="02010000000000000000" pitchFamily="2" charset="0"/>
            </a:endParaRPr>
          </a:p>
        </p:txBody>
      </p:sp>
      <p:sp>
        <p:nvSpPr>
          <p:cNvPr id="168" name="文字方塊 167">
            <a:extLst>
              <a:ext uri="{FF2B5EF4-FFF2-40B4-BE49-F238E27FC236}">
                <a16:creationId xmlns:a16="http://schemas.microsoft.com/office/drawing/2014/main" id="{8D008D54-BFC3-D132-9E53-A6D533AE9D5C}"/>
              </a:ext>
            </a:extLst>
          </p:cNvPr>
          <p:cNvSpPr txBox="1"/>
          <p:nvPr/>
        </p:nvSpPr>
        <p:spPr>
          <a:xfrm>
            <a:off x="2572827" y="1985896"/>
            <a:ext cx="654504" cy="255669"/>
          </a:xfrm>
          <a:prstGeom prst="rect">
            <a:avLst/>
          </a:prstGeom>
          <a:noFill/>
          <a:ln>
            <a:noFill/>
          </a:ln>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Retrieve</a:t>
            </a:r>
            <a:endParaRPr lang="en-US" altLang="zh-TW" sz="1000" dirty="0">
              <a:latin typeface="Noto Sans HK" panose="020B0200000000000000" pitchFamily="34" charset="-120"/>
              <a:ea typeface="Noto Sans HK" panose="020B0200000000000000" pitchFamily="34" charset="-120"/>
            </a:endParaRPr>
          </a:p>
        </p:txBody>
      </p:sp>
      <p:sp>
        <p:nvSpPr>
          <p:cNvPr id="181" name="文字方塊 180">
            <a:extLst>
              <a:ext uri="{FF2B5EF4-FFF2-40B4-BE49-F238E27FC236}">
                <a16:creationId xmlns:a16="http://schemas.microsoft.com/office/drawing/2014/main" id="{01584511-5D98-1263-73AB-4BA7623B0CF5}"/>
              </a:ext>
            </a:extLst>
          </p:cNvPr>
          <p:cNvSpPr txBox="1"/>
          <p:nvPr/>
        </p:nvSpPr>
        <p:spPr>
          <a:xfrm>
            <a:off x="2541225" y="3263641"/>
            <a:ext cx="576064" cy="245906"/>
          </a:xfrm>
          <a:prstGeom prst="rect">
            <a:avLst/>
          </a:prstGeom>
          <a:noFill/>
        </p:spPr>
        <p:txBody>
          <a:bodyPr wrap="none" lIns="0" tIns="0" rIns="0" bIns="0" anchor="ctr" anchorCtr="1">
            <a:noAutofit/>
          </a:bodyPr>
          <a:lstStyle/>
          <a:p>
            <a:pPr algn="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Action</a:t>
            </a:r>
            <a:endParaRPr lang="en-US" altLang="zh-TW" sz="1000" dirty="0">
              <a:latin typeface="Noto Sans HK" panose="020B0200000000000000" pitchFamily="34" charset="-120"/>
              <a:ea typeface="Noto Sans HK" panose="020B0200000000000000" pitchFamily="34" charset="-120"/>
            </a:endParaRPr>
          </a:p>
        </p:txBody>
      </p:sp>
      <p:cxnSp>
        <p:nvCxnSpPr>
          <p:cNvPr id="229" name="直線單箭頭接點 228">
            <a:extLst>
              <a:ext uri="{FF2B5EF4-FFF2-40B4-BE49-F238E27FC236}">
                <a16:creationId xmlns:a16="http://schemas.microsoft.com/office/drawing/2014/main" id="{7DCFF79B-1787-2F84-3993-6BF66E06D367}"/>
              </a:ext>
            </a:extLst>
          </p:cNvPr>
          <p:cNvCxnSpPr>
            <a:cxnSpLocks/>
            <a:stCxn id="181" idx="3"/>
            <a:endCxn id="92" idx="1"/>
          </p:cNvCxnSpPr>
          <p:nvPr/>
        </p:nvCxnSpPr>
        <p:spPr>
          <a:xfrm flipV="1">
            <a:off x="3117289" y="3384948"/>
            <a:ext cx="2318807" cy="1646"/>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41" name="文字方塊 240">
            <a:extLst>
              <a:ext uri="{FF2B5EF4-FFF2-40B4-BE49-F238E27FC236}">
                <a16:creationId xmlns:a16="http://schemas.microsoft.com/office/drawing/2014/main" id="{2E096F5F-5E59-24B9-A111-67D2FA2A0304}"/>
              </a:ext>
            </a:extLst>
          </p:cNvPr>
          <p:cNvSpPr txBox="1"/>
          <p:nvPr/>
        </p:nvSpPr>
        <p:spPr>
          <a:xfrm>
            <a:off x="8042213" y="3253487"/>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Call</a:t>
            </a:r>
          </a:p>
          <a:p>
            <a:pPr>
              <a:lnSpc>
                <a:spcPts val="1200"/>
              </a:lnSpc>
              <a:buNone/>
            </a:pPr>
            <a:r>
              <a:rPr lang="en-US" altLang="zh-TW" sz="1000" dirty="0">
                <a:ea typeface="Meiryo" panose="020B0604030504040204" pitchFamily="34" charset="-128"/>
              </a:rPr>
              <a:t>Function</a:t>
            </a:r>
          </a:p>
        </p:txBody>
      </p:sp>
      <p:sp>
        <p:nvSpPr>
          <p:cNvPr id="3" name="文字方塊 2">
            <a:extLst>
              <a:ext uri="{FF2B5EF4-FFF2-40B4-BE49-F238E27FC236}">
                <a16:creationId xmlns:a16="http://schemas.microsoft.com/office/drawing/2014/main" id="{718521DB-40D2-C041-B91E-5C1FC39E6CE7}"/>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spTree>
    <p:extLst>
      <p:ext uri="{BB962C8B-B14F-4D97-AF65-F5344CB8AC3E}">
        <p14:creationId xmlns:p14="http://schemas.microsoft.com/office/powerpoint/2010/main" val="300927891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918276-D0C6-01E6-A681-1240666C0210}"/>
            </a:ext>
          </a:extLst>
        </p:cNvPr>
        <p:cNvGrpSpPr/>
        <p:nvPr/>
      </p:nvGrpSpPr>
      <p:grpSpPr>
        <a:xfrm>
          <a:off x="0" y="0"/>
          <a:ext cx="0" cy="0"/>
          <a:chOff x="0" y="0"/>
          <a:chExt cx="0" cy="0"/>
        </a:xfrm>
      </p:grpSpPr>
      <p:cxnSp>
        <p:nvCxnSpPr>
          <p:cNvPr id="53" name="直線單箭頭接點 52">
            <a:extLst>
              <a:ext uri="{FF2B5EF4-FFF2-40B4-BE49-F238E27FC236}">
                <a16:creationId xmlns:a16="http://schemas.microsoft.com/office/drawing/2014/main" id="{B2792205-3AA0-7B75-C71F-40708CACFAD1}"/>
              </a:ext>
            </a:extLst>
          </p:cNvPr>
          <p:cNvCxnSpPr>
            <a:cxnSpLocks/>
            <a:stCxn id="43" idx="1"/>
            <a:endCxn id="39" idx="3"/>
          </p:cNvCxnSpPr>
          <p:nvPr/>
        </p:nvCxnSpPr>
        <p:spPr>
          <a:xfrm flipH="1" flipV="1">
            <a:off x="3110981" y="3377389"/>
            <a:ext cx="2324482" cy="7762"/>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B6A8BEEF-A7AC-4877-7FC2-EFF0EC3A6A55}"/>
              </a:ext>
            </a:extLst>
          </p:cNvPr>
          <p:cNvSpPr txBox="1"/>
          <p:nvPr/>
        </p:nvSpPr>
        <p:spPr>
          <a:xfrm>
            <a:off x="3779912" y="1700809"/>
            <a:ext cx="1224934" cy="1800199"/>
          </a:xfrm>
          <a:prstGeom prst="rect">
            <a:avLst/>
          </a:prstGeom>
          <a:solidFill>
            <a:schemeClr val="bg1">
              <a:lumMod val="95000"/>
              <a:alpha val="60000"/>
            </a:schemeClr>
          </a:solidFill>
          <a:ln w="25400">
            <a:solidFill>
              <a:schemeClr val="tx1">
                <a:lumMod val="50000"/>
                <a:lumOff val="50000"/>
                <a:alpha val="4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2" name="文字方塊 1">
            <a:extLst>
              <a:ext uri="{FF2B5EF4-FFF2-40B4-BE49-F238E27FC236}">
                <a16:creationId xmlns:a16="http://schemas.microsoft.com/office/drawing/2014/main" id="{BAC03CC8-25FD-DD77-EFCD-8368C75E36C3}"/>
              </a:ext>
            </a:extLst>
          </p:cNvPr>
          <p:cNvSpPr txBox="1"/>
          <p:nvPr/>
        </p:nvSpPr>
        <p:spPr>
          <a:xfrm>
            <a:off x="213023" y="5048016"/>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AI Agent Skills</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Autonomous Task Execution:</a:t>
            </a:r>
            <a:r>
              <a:rPr lang="en-US" altLang="zh-TW" sz="1600" dirty="0"/>
              <a:t> Empowers AI to move beyond text and directly trigger actions.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Secure Guardrail Enforcement</a:t>
            </a:r>
            <a:r>
              <a:rPr lang="en-US" altLang="zh-TW" sz="1600" b="0" u="none" strike="noStrike" dirty="0">
                <a:effectLst/>
              </a:rPr>
              <a:t>:</a:t>
            </a:r>
            <a:r>
              <a:rPr lang="zh-TW" altLang="en-US" sz="1600" b="0" u="none" strike="noStrike" dirty="0">
                <a:effectLst/>
              </a:rPr>
              <a:t> </a:t>
            </a:r>
            <a:r>
              <a:rPr lang="en-US" altLang="zh-TW" sz="1600" dirty="0"/>
              <a:t>Restricts AI behavior within save boundaries</a:t>
            </a:r>
            <a:r>
              <a:rPr lang="en-US" altLang="zh-TW" sz="1600" b="0" u="none" strike="noStrike" dirty="0">
                <a:effectLst/>
              </a:rPr>
              <a:t>.</a:t>
            </a:r>
          </a:p>
        </p:txBody>
      </p:sp>
      <p:grpSp>
        <p:nvGrpSpPr>
          <p:cNvPr id="19" name="群組 18">
            <a:extLst>
              <a:ext uri="{FF2B5EF4-FFF2-40B4-BE49-F238E27FC236}">
                <a16:creationId xmlns:a16="http://schemas.microsoft.com/office/drawing/2014/main" id="{A240268A-08D1-72C5-DEDE-862B010C1800}"/>
              </a:ext>
            </a:extLst>
          </p:cNvPr>
          <p:cNvGrpSpPr/>
          <p:nvPr/>
        </p:nvGrpSpPr>
        <p:grpSpPr>
          <a:xfrm>
            <a:off x="611561" y="1608119"/>
            <a:ext cx="1643158" cy="994885"/>
            <a:chOff x="611560" y="1474120"/>
            <a:chExt cx="1764115" cy="1132167"/>
          </a:xfrm>
        </p:grpSpPr>
        <p:sp>
          <p:nvSpPr>
            <p:cNvPr id="20" name="雲朵形 19">
              <a:extLst>
                <a:ext uri="{FF2B5EF4-FFF2-40B4-BE49-F238E27FC236}">
                  <a16:creationId xmlns:a16="http://schemas.microsoft.com/office/drawing/2014/main" id="{B443BC11-6CD8-93A3-9CAD-ED23FA535DD1}"/>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21" name="文字方塊 20">
              <a:extLst>
                <a:ext uri="{FF2B5EF4-FFF2-40B4-BE49-F238E27FC236}">
                  <a16:creationId xmlns:a16="http://schemas.microsoft.com/office/drawing/2014/main" id="{CDC53BB1-745C-28C9-2C0E-D684A1D58F55}"/>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22" name="矩形: 圓角 21">
              <a:extLst>
                <a:ext uri="{FF2B5EF4-FFF2-40B4-BE49-F238E27FC236}">
                  <a16:creationId xmlns:a16="http://schemas.microsoft.com/office/drawing/2014/main" id="{EDF613AB-BC81-FE68-9EB4-CB6A8217F91D}"/>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23" name="圖片 22">
              <a:extLst>
                <a:ext uri="{FF2B5EF4-FFF2-40B4-BE49-F238E27FC236}">
                  <a16:creationId xmlns:a16="http://schemas.microsoft.com/office/drawing/2014/main" id="{1E5A1D11-8016-FA22-5DDF-98EDEFD495C7}"/>
                </a:ext>
              </a:extLst>
            </p:cNvPr>
            <p:cNvPicPr>
              <a:picLocks noChangeAspect="1"/>
            </p:cNvPicPr>
            <p:nvPr/>
          </p:nvPicPr>
          <p:blipFill>
            <a:blip r:embed="rId3"/>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24" name="圖形 23" descr="原子 以實心填滿">
              <a:extLst>
                <a:ext uri="{FF2B5EF4-FFF2-40B4-BE49-F238E27FC236}">
                  <a16:creationId xmlns:a16="http://schemas.microsoft.com/office/drawing/2014/main" id="{45DF5554-C31D-8B87-5ED6-038581B276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41736" y="1651945"/>
              <a:ext cx="497527" cy="497527"/>
            </a:xfrm>
            <a:prstGeom prst="rect">
              <a:avLst/>
            </a:prstGeom>
          </p:spPr>
        </p:pic>
      </p:grpSp>
      <p:sp>
        <p:nvSpPr>
          <p:cNvPr id="28" name="標題 1">
            <a:extLst>
              <a:ext uri="{FF2B5EF4-FFF2-40B4-BE49-F238E27FC236}">
                <a16:creationId xmlns:a16="http://schemas.microsoft.com/office/drawing/2014/main" id="{D3E7AE70-36F7-0237-B3F5-AF84E381DE6B}"/>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Agent Skills</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Skills are dynamic, on-demand SOPs that guide agents using tools.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46C34D94-78AE-3E9A-A03A-2EAA9BA28BBD}"/>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32" name="直線單箭頭接點 31">
            <a:extLst>
              <a:ext uri="{FF2B5EF4-FFF2-40B4-BE49-F238E27FC236}">
                <a16:creationId xmlns:a16="http://schemas.microsoft.com/office/drawing/2014/main" id="{DCF40326-B2CE-D08E-6915-55182B1D1102}"/>
              </a:ext>
            </a:extLst>
          </p:cNvPr>
          <p:cNvCxnSpPr>
            <a:cxnSpLocks/>
            <a:stCxn id="31" idx="0"/>
            <a:endCxn id="29"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3" name="矩形: 圓角 42">
            <a:extLst>
              <a:ext uri="{FF2B5EF4-FFF2-40B4-BE49-F238E27FC236}">
                <a16:creationId xmlns:a16="http://schemas.microsoft.com/office/drawing/2014/main" id="{E59D2E4D-FED7-E499-36FC-4B36CAA95705}"/>
              </a:ext>
            </a:extLst>
          </p:cNvPr>
          <p:cNvSpPr/>
          <p:nvPr/>
        </p:nvSpPr>
        <p:spPr>
          <a:xfrm>
            <a:off x="5435463" y="3140968"/>
            <a:ext cx="504689" cy="488365"/>
          </a:xfrm>
          <a:prstGeom prst="roundRect">
            <a:avLst>
              <a:gd name="adj" fmla="val 8706"/>
            </a:avLst>
          </a:prstGeom>
          <a:solidFill>
            <a:schemeClr val="bg1">
              <a:lumMod val="95000"/>
            </a:schemeClr>
          </a:solidFill>
          <a:ln w="19050">
            <a:solidFill>
              <a:schemeClr val="bg1">
                <a:lumMod val="85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50000"/>
                  </a:schemeClr>
                </a:solidFill>
              </a:rPr>
              <a:t>Skill</a:t>
            </a:r>
          </a:p>
          <a:p>
            <a:pPr algn="ctr"/>
            <a:r>
              <a:rPr lang="en-US" altLang="zh-TW" sz="1200" b="1" dirty="0">
                <a:solidFill>
                  <a:schemeClr val="accent4">
                    <a:lumMod val="50000"/>
                  </a:schemeClr>
                </a:solidFill>
              </a:rPr>
              <a:t>Scripts</a:t>
            </a:r>
            <a:endParaRPr lang="zh-TW" altLang="en-US" sz="1200" b="1" dirty="0">
              <a:solidFill>
                <a:schemeClr val="accent4">
                  <a:lumMod val="50000"/>
                </a:schemeClr>
              </a:solidFill>
            </a:endParaRPr>
          </a:p>
        </p:txBody>
      </p:sp>
      <p:pic>
        <p:nvPicPr>
          <p:cNvPr id="46" name="圖形 45" descr="卷軸 以實心填滿">
            <a:extLst>
              <a:ext uri="{FF2B5EF4-FFF2-40B4-BE49-F238E27FC236}">
                <a16:creationId xmlns:a16="http://schemas.microsoft.com/office/drawing/2014/main" id="{57D7CD8C-80CC-F36D-8780-7AF090203F7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90987" y="3231323"/>
            <a:ext cx="379782" cy="354089"/>
          </a:xfrm>
          <a:prstGeom prst="rect">
            <a:avLst/>
          </a:prstGeom>
        </p:spPr>
      </p:pic>
      <p:sp>
        <p:nvSpPr>
          <p:cNvPr id="14" name="語音泡泡: 圓角矩形 13">
            <a:extLst>
              <a:ext uri="{FF2B5EF4-FFF2-40B4-BE49-F238E27FC236}">
                <a16:creationId xmlns:a16="http://schemas.microsoft.com/office/drawing/2014/main" id="{CB345992-DE5F-A7FB-7DF7-6DACD25830F6}"/>
              </a:ext>
            </a:extLst>
          </p:cNvPr>
          <p:cNvSpPr/>
          <p:nvPr/>
        </p:nvSpPr>
        <p:spPr>
          <a:xfrm>
            <a:off x="3233339" y="1593282"/>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Search TSMC.</a:t>
            </a:r>
          </a:p>
        </p:txBody>
      </p:sp>
      <p:sp>
        <p:nvSpPr>
          <p:cNvPr id="34" name="語音泡泡: 圓角矩形 33">
            <a:extLst>
              <a:ext uri="{FF2B5EF4-FFF2-40B4-BE49-F238E27FC236}">
                <a16:creationId xmlns:a16="http://schemas.microsoft.com/office/drawing/2014/main" id="{C58512F8-827C-6573-B915-D87B2B70F5B7}"/>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grpSp>
        <p:nvGrpSpPr>
          <p:cNvPr id="54" name="群組 53">
            <a:extLst>
              <a:ext uri="{FF2B5EF4-FFF2-40B4-BE49-F238E27FC236}">
                <a16:creationId xmlns:a16="http://schemas.microsoft.com/office/drawing/2014/main" id="{E177492D-9542-526B-840B-EC616526CF71}"/>
              </a:ext>
            </a:extLst>
          </p:cNvPr>
          <p:cNvGrpSpPr/>
          <p:nvPr/>
        </p:nvGrpSpPr>
        <p:grpSpPr>
          <a:xfrm>
            <a:off x="1996959" y="3159987"/>
            <a:ext cx="1114022" cy="701061"/>
            <a:chOff x="2881914" y="3789040"/>
            <a:chExt cx="1114022" cy="701061"/>
          </a:xfrm>
        </p:grpSpPr>
        <p:sp>
          <p:nvSpPr>
            <p:cNvPr id="39" name="語音泡泡: 圓角矩形 38">
              <a:extLst>
                <a:ext uri="{FF2B5EF4-FFF2-40B4-BE49-F238E27FC236}">
                  <a16:creationId xmlns:a16="http://schemas.microsoft.com/office/drawing/2014/main" id="{2804A24D-B98B-EC9F-CB2F-3D51D45D538F}"/>
                </a:ext>
              </a:extLst>
            </p:cNvPr>
            <p:cNvSpPr/>
            <p:nvPr/>
          </p:nvSpPr>
          <p:spPr>
            <a:xfrm>
              <a:off x="2881914" y="3789040"/>
              <a:ext cx="1114022" cy="434804"/>
            </a:xfrm>
            <a:prstGeom prst="wedgeRoundRectCallout">
              <a:avLst>
                <a:gd name="adj1" fmla="val -61512"/>
                <a:gd name="adj2" fmla="val -50054"/>
                <a:gd name="adj3" fmla="val 16667"/>
              </a:avLst>
            </a:prstGeom>
            <a:solidFill>
              <a:schemeClr val="bg1">
                <a:alpha val="8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Here you </a:t>
              </a: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are.</a:t>
              </a:r>
            </a:p>
          </p:txBody>
        </p:sp>
        <p:pic>
          <p:nvPicPr>
            <p:cNvPr id="41" name="圖形 40" descr="夾紙板 (徽章) 以實心填滿">
              <a:extLst>
                <a:ext uri="{FF2B5EF4-FFF2-40B4-BE49-F238E27FC236}">
                  <a16:creationId xmlns:a16="http://schemas.microsoft.com/office/drawing/2014/main" id="{A2807007-7BAB-C046-ECEA-75F84A520CC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52699" y="4096194"/>
              <a:ext cx="377960" cy="393907"/>
            </a:xfrm>
            <a:prstGeom prst="rect">
              <a:avLst/>
            </a:prstGeom>
            <a:effectLst>
              <a:glow rad="127000">
                <a:schemeClr val="accent4">
                  <a:lumMod val="20000"/>
                  <a:lumOff val="80000"/>
                </a:schemeClr>
              </a:glow>
            </a:effectLst>
          </p:spPr>
        </p:pic>
      </p:grpSp>
      <p:sp>
        <p:nvSpPr>
          <p:cNvPr id="59" name="語音泡泡: 圓角矩形 58">
            <a:extLst>
              <a:ext uri="{FF2B5EF4-FFF2-40B4-BE49-F238E27FC236}">
                <a16:creationId xmlns:a16="http://schemas.microsoft.com/office/drawing/2014/main" id="{D09692F8-BE29-99AB-B0D5-3772513753A3}"/>
              </a:ext>
            </a:extLst>
          </p:cNvPr>
          <p:cNvSpPr/>
          <p:nvPr/>
        </p:nvSpPr>
        <p:spPr>
          <a:xfrm>
            <a:off x="3233339" y="1910511"/>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What is TSMC Trading at?</a:t>
            </a:r>
          </a:p>
        </p:txBody>
      </p:sp>
      <p:sp>
        <p:nvSpPr>
          <p:cNvPr id="62" name="語音泡泡: 圓角矩形 61">
            <a:extLst>
              <a:ext uri="{FF2B5EF4-FFF2-40B4-BE49-F238E27FC236}">
                <a16:creationId xmlns:a16="http://schemas.microsoft.com/office/drawing/2014/main" id="{D93367F2-3AAC-6546-5F9A-45AA23F38EBD}"/>
              </a:ext>
            </a:extLst>
          </p:cNvPr>
          <p:cNvSpPr/>
          <p:nvPr/>
        </p:nvSpPr>
        <p:spPr>
          <a:xfrm>
            <a:off x="3233339" y="2240676"/>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Generate the report.</a:t>
            </a:r>
          </a:p>
        </p:txBody>
      </p:sp>
      <p:cxnSp>
        <p:nvCxnSpPr>
          <p:cNvPr id="63" name="接點: 弧形 62">
            <a:extLst>
              <a:ext uri="{FF2B5EF4-FFF2-40B4-BE49-F238E27FC236}">
                <a16:creationId xmlns:a16="http://schemas.microsoft.com/office/drawing/2014/main" id="{DBE7CEED-496C-7C7F-E2E1-F8C58EFE3043}"/>
              </a:ext>
            </a:extLst>
          </p:cNvPr>
          <p:cNvCxnSpPr>
            <a:cxnSpLocks/>
            <a:stCxn id="41" idx="2"/>
            <a:endCxn id="34" idx="1"/>
          </p:cNvCxnSpPr>
          <p:nvPr/>
        </p:nvCxnSpPr>
        <p:spPr>
          <a:xfrm rot="16200000" flipH="1">
            <a:off x="2580295" y="3737477"/>
            <a:ext cx="174515" cy="421656"/>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8" name="文字方塊 67">
            <a:extLst>
              <a:ext uri="{FF2B5EF4-FFF2-40B4-BE49-F238E27FC236}">
                <a16:creationId xmlns:a16="http://schemas.microsoft.com/office/drawing/2014/main" id="{6EEB10B3-3F35-4FBA-B436-06CC04D539A1}"/>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cxnSp>
        <p:nvCxnSpPr>
          <p:cNvPr id="69" name="接點: 肘形 68">
            <a:extLst>
              <a:ext uri="{FF2B5EF4-FFF2-40B4-BE49-F238E27FC236}">
                <a16:creationId xmlns:a16="http://schemas.microsoft.com/office/drawing/2014/main" id="{5110B8D3-3930-64CF-F95F-B0C3AE80881B}"/>
              </a:ext>
            </a:extLst>
          </p:cNvPr>
          <p:cNvCxnSpPr>
            <a:cxnSpLocks/>
            <a:stCxn id="62" idx="3"/>
            <a:endCxn id="43" idx="0"/>
          </p:cNvCxnSpPr>
          <p:nvPr/>
        </p:nvCxnSpPr>
        <p:spPr>
          <a:xfrm>
            <a:off x="5249563" y="2366786"/>
            <a:ext cx="438245" cy="774182"/>
          </a:xfrm>
          <a:prstGeom prst="bentConnector2">
            <a:avLst/>
          </a:prstGeom>
          <a:ln w="15875">
            <a:solidFill>
              <a:schemeClr val="accent4"/>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76" name="圖形 75" descr="科學思想 以實心填滿">
            <a:extLst>
              <a:ext uri="{FF2B5EF4-FFF2-40B4-BE49-F238E27FC236}">
                <a16:creationId xmlns:a16="http://schemas.microsoft.com/office/drawing/2014/main" id="{174E6B0F-BB8A-784D-193F-AA6DE0CFE9F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spTree>
    <p:extLst>
      <p:ext uri="{BB962C8B-B14F-4D97-AF65-F5344CB8AC3E}">
        <p14:creationId xmlns:p14="http://schemas.microsoft.com/office/powerpoint/2010/main" val="5928157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0F2CF-11A7-726A-D27F-288DAEACC371}"/>
            </a:ext>
          </a:extLst>
        </p:cNvPr>
        <p:cNvGrpSpPr/>
        <p:nvPr/>
      </p:nvGrpSpPr>
      <p:grpSpPr>
        <a:xfrm>
          <a:off x="0" y="0"/>
          <a:ext cx="0" cy="0"/>
          <a:chOff x="0" y="0"/>
          <a:chExt cx="0" cy="0"/>
        </a:xfrm>
      </p:grpSpPr>
      <p:sp>
        <p:nvSpPr>
          <p:cNvPr id="4" name="矩形: 圓角 3">
            <a:extLst>
              <a:ext uri="{FF2B5EF4-FFF2-40B4-BE49-F238E27FC236}">
                <a16:creationId xmlns:a16="http://schemas.microsoft.com/office/drawing/2014/main" id="{9182C9CB-190C-B5DD-2D63-BF54E7B24615}"/>
              </a:ext>
            </a:extLst>
          </p:cNvPr>
          <p:cNvSpPr/>
          <p:nvPr/>
        </p:nvSpPr>
        <p:spPr>
          <a:xfrm>
            <a:off x="3779912" y="2492897"/>
            <a:ext cx="1224934" cy="1800199"/>
          </a:xfrm>
          <a:prstGeom prst="roundRect">
            <a:avLst>
              <a:gd name="adj" fmla="val 8706"/>
            </a:avLst>
          </a:prstGeom>
          <a:solidFill>
            <a:schemeClr val="accent4">
              <a:lumMod val="5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 Wiki</a:t>
            </a:r>
          </a:p>
          <a:p>
            <a:pPr marL="0" marR="0" lvl="0" indent="0" algn="ctr" defTabSz="914400" rtl="0" eaLnBrk="1" fontAlgn="auto" latinLnBrk="0" hangingPunct="1">
              <a:lnSpc>
                <a:spcPts val="14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endParaRPr>
          </a:p>
        </p:txBody>
      </p:sp>
      <p:sp>
        <p:nvSpPr>
          <p:cNvPr id="29" name="文字方塊 28">
            <a:extLst>
              <a:ext uri="{FF2B5EF4-FFF2-40B4-BE49-F238E27FC236}">
                <a16:creationId xmlns:a16="http://schemas.microsoft.com/office/drawing/2014/main" id="{F92D9B42-3B09-1CD3-3E9A-F0CD5AE15C1A}"/>
              </a:ext>
            </a:extLst>
          </p:cNvPr>
          <p:cNvSpPr txBox="1"/>
          <p:nvPr/>
        </p:nvSpPr>
        <p:spPr>
          <a:xfrm>
            <a:off x="512390" y="2445570"/>
            <a:ext cx="1224934" cy="880037"/>
          </a:xfrm>
          <a:prstGeom prst="rect">
            <a:avLst/>
          </a:prstGeom>
          <a:solidFill>
            <a:schemeClr val="bg1">
              <a:lumMod val="95000"/>
            </a:schemeClr>
          </a:solidFill>
          <a:ln w="25400">
            <a:solidFill>
              <a:schemeClr val="tx1">
                <a:lumMod val="50000"/>
                <a:lumOff val="50000"/>
              </a:schemeClr>
            </a:solidFill>
          </a:ln>
        </p:spPr>
        <p:txBody>
          <a:bodyPr wrap="none" lIns="0" tIns="0" rIns="0" bIns="0" anchor="b" anchorCtr="1">
            <a:noAutofit/>
          </a:bodyPr>
          <a:lstStyle/>
          <a:p>
            <a:pPr algn="ctr">
              <a:lnSpc>
                <a:spcPts val="1400"/>
              </a:lnSpc>
            </a:pPr>
            <a:endParaRPr lang="en-US" altLang="zh-TW" sz="1200" b="1" dirty="0"/>
          </a:p>
          <a:p>
            <a:pPr algn="ctr">
              <a:lnSpc>
                <a:spcPts val="1400"/>
              </a:lnSpc>
            </a:pPr>
            <a:endParaRPr lang="en-US" altLang="zh-TW" sz="1200" b="1" dirty="0"/>
          </a:p>
          <a:p>
            <a:pPr algn="ctr">
              <a:lnSpc>
                <a:spcPts val="1400"/>
              </a:lnSpc>
            </a:pPr>
            <a:endParaRPr lang="en-US" altLang="zh-TW" sz="1200" b="1" dirty="0"/>
          </a:p>
          <a:p>
            <a:pPr algn="ctr">
              <a:lnSpc>
                <a:spcPts val="1400"/>
              </a:lnSpc>
            </a:pPr>
            <a:r>
              <a:rPr lang="en-US" altLang="zh-TW" sz="1400" b="1" dirty="0"/>
              <a:t>AI Agent</a:t>
            </a:r>
          </a:p>
        </p:txBody>
      </p:sp>
      <p:sp>
        <p:nvSpPr>
          <p:cNvPr id="2" name="文字方塊 1">
            <a:extLst>
              <a:ext uri="{FF2B5EF4-FFF2-40B4-BE49-F238E27FC236}">
                <a16:creationId xmlns:a16="http://schemas.microsoft.com/office/drawing/2014/main" id="{C350211F-8F9D-C9F9-1FDE-5B97D695C1C8}"/>
              </a:ext>
            </a:extLst>
          </p:cNvPr>
          <p:cNvSpPr txBox="1"/>
          <p:nvPr/>
        </p:nvSpPr>
        <p:spPr>
          <a:xfrm>
            <a:off x="213023" y="5048016"/>
            <a:ext cx="6807249"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Human-in-the-Loop Framework</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Ingest(raw)</a:t>
            </a:r>
            <a:r>
              <a:rPr lang="en-US" altLang="zh-TW" sz="1200" b="1" dirty="0">
                <a:latin typeface="Noto Sans HK" panose="020B0200000000000000" pitchFamily="34" charset="-120"/>
                <a:ea typeface="Noto Sans HK" panose="020B0200000000000000" pitchFamily="34" charset="-120"/>
              </a:rPr>
              <a:t> </a:t>
            </a:r>
            <a:r>
              <a:rPr lang="en-US" altLang="zh-TW" sz="12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1600" b="1" dirty="0"/>
              <a:t> Instruct(C/Q/L)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Review</a:t>
            </a: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Setup(schema)</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GitHub: </a:t>
            </a:r>
            <a:r>
              <a:rPr lang="en-US" altLang="zh-TW" sz="1600" u="sng" dirty="0">
                <a:solidFill>
                  <a:schemeClr val="accent5">
                    <a:lumMod val="50000"/>
                  </a:schemeClr>
                </a:solidFill>
              </a:rPr>
              <a:t>nashsu/llm_wiki</a:t>
            </a:r>
            <a:r>
              <a:rPr lang="en-US" altLang="zh-TW" sz="1600" dirty="0"/>
              <a:t>, </a:t>
            </a:r>
            <a:r>
              <a:rPr lang="en-US" altLang="zh-TW" sz="1600" u="sng" strike="noStrike" dirty="0">
                <a:solidFill>
                  <a:schemeClr val="accent5">
                    <a:lumMod val="50000"/>
                  </a:schemeClr>
                </a:solidFill>
                <a:effectLst/>
              </a:rPr>
              <a:t>atomicstrata/llm-wiki-compiler</a:t>
            </a:r>
            <a:r>
              <a:rPr lang="en-US" altLang="zh-TW" sz="1600" u="none" strike="noStrike" dirty="0">
                <a:effectLst/>
              </a:rPr>
              <a:t>, </a:t>
            </a:r>
            <a:r>
              <a:rPr lang="en-US" altLang="zh-TW" sz="1600" u="sng" dirty="0">
                <a:solidFill>
                  <a:schemeClr val="accent5">
                    <a:lumMod val="50000"/>
                  </a:schemeClr>
                </a:solidFill>
              </a:rPr>
              <a:t>Knowledge-vault</a:t>
            </a:r>
            <a:r>
              <a:rPr lang="en-US" altLang="zh-TW" sz="1600" dirty="0">
                <a:solidFill>
                  <a:schemeClr val="accent5">
                    <a:lumMod val="50000"/>
                  </a:schemeClr>
                </a:solidFill>
              </a:rPr>
              <a:t>.</a:t>
            </a:r>
          </a:p>
        </p:txBody>
      </p:sp>
      <p:sp>
        <p:nvSpPr>
          <p:cNvPr id="28" name="標題 1">
            <a:extLst>
              <a:ext uri="{FF2B5EF4-FFF2-40B4-BE49-F238E27FC236}">
                <a16:creationId xmlns:a16="http://schemas.microsoft.com/office/drawing/2014/main" id="{9F314D84-1AAB-B228-251F-99F15D589F7E}"/>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LLM</a:t>
            </a:r>
            <a:r>
              <a:rPr kumimoji="0" lang="zh-TW" altLang="en-US"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 </a:t>
            </a: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Wiki</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LLMs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eliminate the boring bookkeeping of knowledge management, ensuring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wikis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grow effortlessly.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92738DE3-C538-771F-1E0C-B8B7C3311206}"/>
              </a:ext>
            </a:extLst>
          </p:cNvPr>
          <p:cNvSpPr txBox="1"/>
          <p:nvPr/>
        </p:nvSpPr>
        <p:spPr>
          <a:xfrm>
            <a:off x="713958" y="3640052"/>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sp>
        <p:nvSpPr>
          <p:cNvPr id="105" name="矩形: 圓角 104">
            <a:extLst>
              <a:ext uri="{FF2B5EF4-FFF2-40B4-BE49-F238E27FC236}">
                <a16:creationId xmlns:a16="http://schemas.microsoft.com/office/drawing/2014/main" id="{64F7827C-F186-7D7D-4FA3-D9FA4AE1A51F}"/>
              </a:ext>
            </a:extLst>
          </p:cNvPr>
          <p:cNvSpPr/>
          <p:nvPr/>
        </p:nvSpPr>
        <p:spPr>
          <a:xfrm>
            <a:off x="1475023" y="3148813"/>
            <a:ext cx="504689" cy="488365"/>
          </a:xfrm>
          <a:prstGeom prst="roundRect">
            <a:avLst>
              <a:gd name="adj" fmla="val 8706"/>
            </a:avLst>
          </a:prstGeom>
          <a:gradFill flip="none" rotWithShape="1">
            <a:gsLst>
              <a:gs pos="88000">
                <a:srgbClr val="D7D2DB"/>
              </a:gs>
              <a:gs pos="0">
                <a:schemeClr val="accent3">
                  <a:lumMod val="40000"/>
                  <a:lumOff val="60000"/>
                </a:schemeClr>
              </a:gs>
              <a:gs pos="100000">
                <a:schemeClr val="accent4">
                  <a:lumMod val="60000"/>
                  <a:lumOff val="40000"/>
                </a:schemeClr>
              </a:gs>
            </a:gsLst>
            <a:path path="circle">
              <a:fillToRect l="100000" t="100000"/>
            </a:path>
            <a:tileRect r="-100000" b="-100000"/>
          </a:gra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graphicFrame>
        <p:nvGraphicFramePr>
          <p:cNvPr id="35" name="表格 34">
            <a:extLst>
              <a:ext uri="{FF2B5EF4-FFF2-40B4-BE49-F238E27FC236}">
                <a16:creationId xmlns:a16="http://schemas.microsoft.com/office/drawing/2014/main" id="{407DB130-C749-D9E8-D70D-CEB8209A0ACE}"/>
              </a:ext>
            </a:extLst>
          </p:cNvPr>
          <p:cNvGraphicFramePr>
            <a:graphicFrameLocks noGrp="1"/>
          </p:cNvGraphicFramePr>
          <p:nvPr/>
        </p:nvGraphicFramePr>
        <p:xfrm>
          <a:off x="5148064" y="2527100"/>
          <a:ext cx="3266106" cy="1731790"/>
        </p:xfrm>
        <a:graphic>
          <a:graphicData uri="http://schemas.openxmlformats.org/drawingml/2006/table">
            <a:tbl>
              <a:tblPr firstRow="1" bandRow="1">
                <a:tableStyleId>{5C22544A-7EE6-4342-B048-85BDC9FD1C3A}</a:tableStyleId>
              </a:tblPr>
              <a:tblGrid>
                <a:gridCol w="3266106">
                  <a:extLst>
                    <a:ext uri="{9D8B030D-6E8A-4147-A177-3AD203B41FA5}">
                      <a16:colId xmlns:a16="http://schemas.microsoft.com/office/drawing/2014/main" val="4512040"/>
                    </a:ext>
                  </a:extLst>
                </a:gridCol>
              </a:tblGrid>
              <a:tr h="4224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Andrej Karpathy’s Gist</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87313227"/>
                  </a:ext>
                </a:extLst>
              </a:tr>
              <a:tr h="2120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Data level: Raw / Wiki / Schema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Raw stores assets, Wiki compiles knowledge, and Schema directs the AI Agent.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Instruct: Compile / Query / Lint</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Compile integrate data, Query retrieves insights, and Lint audits the final knowledge base.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pic>
        <p:nvPicPr>
          <p:cNvPr id="8" name="圖片 7">
            <a:extLst>
              <a:ext uri="{FF2B5EF4-FFF2-40B4-BE49-F238E27FC236}">
                <a16:creationId xmlns:a16="http://schemas.microsoft.com/office/drawing/2014/main" id="{A7F2C415-DBCE-468D-EE83-BADC8BFEB629}"/>
              </a:ext>
            </a:extLst>
          </p:cNvPr>
          <p:cNvPicPr>
            <a:picLocks noChangeAspect="1"/>
          </p:cNvPicPr>
          <p:nvPr/>
        </p:nvPicPr>
        <p:blipFill>
          <a:blip r:embed="rId3"/>
          <a:stretch>
            <a:fillRect/>
          </a:stretch>
        </p:blipFill>
        <p:spPr>
          <a:xfrm flipH="1">
            <a:off x="4033066" y="2968587"/>
            <a:ext cx="718626" cy="676437"/>
          </a:xfrm>
          <a:prstGeom prst="rect">
            <a:avLst/>
          </a:prstGeom>
          <a:effectLst>
            <a:glow rad="25400">
              <a:schemeClr val="accent4">
                <a:lumMod val="60000"/>
                <a:lumOff val="40000"/>
                <a:alpha val="40000"/>
              </a:schemeClr>
            </a:glow>
            <a:softEdge rad="31750"/>
          </a:effectLst>
        </p:spPr>
      </p:pic>
      <p:cxnSp>
        <p:nvCxnSpPr>
          <p:cNvPr id="18" name="直線單箭頭接點 17">
            <a:extLst>
              <a:ext uri="{FF2B5EF4-FFF2-40B4-BE49-F238E27FC236}">
                <a16:creationId xmlns:a16="http://schemas.microsoft.com/office/drawing/2014/main" id="{96593FAD-CC06-C829-3F7E-087D4EC457BE}"/>
              </a:ext>
            </a:extLst>
          </p:cNvPr>
          <p:cNvCxnSpPr>
            <a:cxnSpLocks/>
            <a:stCxn id="4" idx="1"/>
            <a:endCxn id="105" idx="3"/>
          </p:cNvCxnSpPr>
          <p:nvPr/>
        </p:nvCxnSpPr>
        <p:spPr>
          <a:xfrm flipH="1" flipV="1">
            <a:off x="1979712" y="3392996"/>
            <a:ext cx="1800200" cy="1"/>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pic>
        <p:nvPicPr>
          <p:cNvPr id="39" name="圖形 38" descr="科學思想 以實心填滿">
            <a:extLst>
              <a:ext uri="{FF2B5EF4-FFF2-40B4-BE49-F238E27FC236}">
                <a16:creationId xmlns:a16="http://schemas.microsoft.com/office/drawing/2014/main" id="{EA236300-D8AB-566A-3CE5-C7422D3D16C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0230" y="2517579"/>
            <a:ext cx="623389" cy="623389"/>
          </a:xfrm>
          <a:prstGeom prst="rect">
            <a:avLst/>
          </a:prstGeom>
          <a:effectLst>
            <a:glow rad="50800">
              <a:schemeClr val="accent4">
                <a:lumMod val="20000"/>
                <a:lumOff val="80000"/>
                <a:alpha val="40000"/>
              </a:schemeClr>
            </a:glow>
            <a:softEdge rad="0"/>
          </a:effectLst>
        </p:spPr>
      </p:pic>
      <p:graphicFrame>
        <p:nvGraphicFramePr>
          <p:cNvPr id="5" name="表格 4">
            <a:extLst>
              <a:ext uri="{FF2B5EF4-FFF2-40B4-BE49-F238E27FC236}">
                <a16:creationId xmlns:a16="http://schemas.microsoft.com/office/drawing/2014/main" id="{C0CC1A86-0C18-AB72-F5A9-4306189B0A34}"/>
              </a:ext>
            </a:extLst>
          </p:cNvPr>
          <p:cNvGraphicFramePr>
            <a:graphicFrameLocks noGrp="1"/>
          </p:cNvGraphicFramePr>
          <p:nvPr>
            <p:extLst>
              <p:ext uri="{D42A27DB-BD31-4B8C-83A1-F6EECF244321}">
                <p14:modId xmlns:p14="http://schemas.microsoft.com/office/powerpoint/2010/main" val="1423659689"/>
              </p:ext>
            </p:extLst>
          </p:nvPr>
        </p:nvGraphicFramePr>
        <p:xfrm>
          <a:off x="5179640" y="1259994"/>
          <a:ext cx="2540034" cy="864095"/>
        </p:xfrm>
        <a:graphic>
          <a:graphicData uri="http://schemas.openxmlformats.org/drawingml/2006/table">
            <a:tbl>
              <a:tblPr firstRow="1" bandRow="1">
                <a:tableStyleId>{5C22544A-7EE6-4342-B048-85BDC9FD1C3A}</a:tableStyleId>
              </a:tblPr>
              <a:tblGrid>
                <a:gridCol w="811842">
                  <a:extLst>
                    <a:ext uri="{9D8B030D-6E8A-4147-A177-3AD203B41FA5}">
                      <a16:colId xmlns:a16="http://schemas.microsoft.com/office/drawing/2014/main" val="4512040"/>
                    </a:ext>
                  </a:extLst>
                </a:gridCol>
                <a:gridCol w="1728192">
                  <a:extLst>
                    <a:ext uri="{9D8B030D-6E8A-4147-A177-3AD203B41FA5}">
                      <a16:colId xmlns:a16="http://schemas.microsoft.com/office/drawing/2014/main" val="3031015462"/>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3">
                              <a:lumMod val="50000"/>
                            </a:schemeClr>
                          </a:solidFill>
                          <a:effectLst/>
                        </a:rPr>
                        <a:t>Vector RAG</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Vanilla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Rapid context retrieval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Graph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Global document insights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198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LLM Wiki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Knowledge Asset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Tree>
    <p:extLst>
      <p:ext uri="{BB962C8B-B14F-4D97-AF65-F5344CB8AC3E}">
        <p14:creationId xmlns:p14="http://schemas.microsoft.com/office/powerpoint/2010/main" val="418169927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BEB54-E13D-0276-16FE-3B8439DAECE6}"/>
            </a:ext>
          </a:extLst>
        </p:cNvPr>
        <p:cNvGrpSpPr/>
        <p:nvPr/>
      </p:nvGrpSpPr>
      <p:grpSpPr>
        <a:xfrm>
          <a:off x="0" y="0"/>
          <a:ext cx="0" cy="0"/>
          <a:chOff x="0" y="0"/>
          <a:chExt cx="0" cy="0"/>
        </a:xfrm>
      </p:grpSpPr>
      <p:graphicFrame>
        <p:nvGraphicFramePr>
          <p:cNvPr id="22" name="表格 21">
            <a:extLst>
              <a:ext uri="{FF2B5EF4-FFF2-40B4-BE49-F238E27FC236}">
                <a16:creationId xmlns:a16="http://schemas.microsoft.com/office/drawing/2014/main" id="{78C81D66-7DBF-D198-FAB7-3DFAAD6B25FC}"/>
              </a:ext>
            </a:extLst>
          </p:cNvPr>
          <p:cNvGraphicFramePr>
            <a:graphicFrameLocks noGrp="1"/>
          </p:cNvGraphicFramePr>
          <p:nvPr/>
        </p:nvGraphicFramePr>
        <p:xfrm>
          <a:off x="5984016" y="5308267"/>
          <a:ext cx="1369755" cy="1158240"/>
        </p:xfrm>
        <a:graphic>
          <a:graphicData uri="http://schemas.openxmlformats.org/drawingml/2006/table">
            <a:tbl>
              <a:tblPr firstRow="1" bandRow="1">
                <a:tableStyleId>{5C22544A-7EE6-4342-B048-85BDC9FD1C3A}</a:tableStyleId>
              </a:tblPr>
              <a:tblGrid>
                <a:gridCol w="1369755">
                  <a:extLst>
                    <a:ext uri="{9D8B030D-6E8A-4147-A177-3AD203B41FA5}">
                      <a16:colId xmlns:a16="http://schemas.microsoft.com/office/drawing/2014/main" val="4512040"/>
                    </a:ext>
                  </a:extLst>
                </a:gridCol>
              </a:tblGrid>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Edge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Engine</a:t>
                      </a: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576858249"/>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Ollama</a:t>
                      </a:r>
                    </a:p>
                  </a:txBody>
                  <a:tcPr marL="36000"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llama.cpp (Geek)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1340391"/>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 (Apple)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940907060"/>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 Runtime (MS)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631102146"/>
                  </a:ext>
                </a:extLst>
              </a:tr>
            </a:tbl>
          </a:graphicData>
        </a:graphic>
      </p:graphicFrame>
      <p:cxnSp>
        <p:nvCxnSpPr>
          <p:cNvPr id="16" name="直線單箭頭接點 15">
            <a:extLst>
              <a:ext uri="{FF2B5EF4-FFF2-40B4-BE49-F238E27FC236}">
                <a16:creationId xmlns:a16="http://schemas.microsoft.com/office/drawing/2014/main" id="{249B7A46-0ED9-7ED9-7510-EE78F29FE5F5}"/>
              </a:ext>
            </a:extLst>
          </p:cNvPr>
          <p:cNvCxnSpPr>
            <a:cxnSpLocks/>
            <a:stCxn id="15" idx="3"/>
            <a:endCxn id="11" idx="1"/>
          </p:cNvCxnSpPr>
          <p:nvPr/>
        </p:nvCxnSpPr>
        <p:spPr>
          <a:xfrm flipV="1">
            <a:off x="3005148" y="2758040"/>
            <a:ext cx="3223036" cy="4770"/>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3" name="文字方塊 2">
            <a:extLst>
              <a:ext uri="{FF2B5EF4-FFF2-40B4-BE49-F238E27FC236}">
                <a16:creationId xmlns:a16="http://schemas.microsoft.com/office/drawing/2014/main" id="{A4DB92DA-78BD-3302-8B24-83FB829FB96B}"/>
              </a:ext>
            </a:extLst>
          </p:cNvPr>
          <p:cNvSpPr txBox="1"/>
          <p:nvPr/>
        </p:nvSpPr>
        <p:spPr>
          <a:xfrm>
            <a:off x="2123728" y="3846670"/>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SFT &amp;</a:t>
            </a:r>
          </a:p>
          <a:p>
            <a:pPr algn="ctr">
              <a:lnSpc>
                <a:spcPts val="1400"/>
              </a:lnSpc>
              <a:buNone/>
            </a:pPr>
            <a:r>
              <a:rPr lang="en-US" altLang="zh-TW" sz="1400" b="1" u="none" strike="noStrike" dirty="0">
                <a:solidFill>
                  <a:schemeClr val="accent6">
                    <a:lumMod val="75000"/>
                  </a:schemeClr>
                </a:solidFill>
                <a:effectLst/>
              </a:rPr>
              <a:t>Quantization</a:t>
            </a:r>
          </a:p>
          <a:p>
            <a:pPr algn="ctr">
              <a:lnSpc>
                <a:spcPts val="1400"/>
              </a:lnSpc>
              <a:buNone/>
            </a:pPr>
            <a:r>
              <a:rPr lang="en-US" altLang="zh-TW" sz="1200" u="none" strike="noStrike" dirty="0">
                <a:effectLst/>
              </a:rPr>
              <a:t>(Edge AI)</a:t>
            </a:r>
          </a:p>
        </p:txBody>
      </p:sp>
      <p:sp>
        <p:nvSpPr>
          <p:cNvPr id="11" name="文字方塊 10">
            <a:extLst>
              <a:ext uri="{FF2B5EF4-FFF2-40B4-BE49-F238E27FC236}">
                <a16:creationId xmlns:a16="http://schemas.microsoft.com/office/drawing/2014/main" id="{132786DE-BC20-A5F8-DB31-949D81B2F497}"/>
              </a:ext>
            </a:extLst>
          </p:cNvPr>
          <p:cNvSpPr txBox="1"/>
          <p:nvPr/>
        </p:nvSpPr>
        <p:spPr>
          <a:xfrm>
            <a:off x="6228184" y="2379882"/>
            <a:ext cx="881420" cy="756316"/>
          </a:xfrm>
          <a:prstGeom prst="rect">
            <a:avLst/>
          </a:prstGeom>
          <a:solidFill>
            <a:schemeClr val="accent1">
              <a:lumMod val="40000"/>
              <a:lumOff val="60000"/>
              <a:alpha val="9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400" b="1" u="none" strike="noStrike" dirty="0">
                <a:solidFill>
                  <a:schemeClr val="tx2"/>
                </a:solidFill>
                <a:effectLst/>
              </a:rPr>
              <a:t>Inference</a:t>
            </a:r>
          </a:p>
          <a:p>
            <a:pPr algn="ctr">
              <a:lnSpc>
                <a:spcPts val="1400"/>
              </a:lnSpc>
              <a:buNone/>
            </a:pPr>
            <a:r>
              <a:rPr lang="en-US" altLang="zh-TW" sz="1400" b="1" dirty="0">
                <a:solidFill>
                  <a:schemeClr val="tx2"/>
                </a:solidFill>
              </a:rPr>
              <a:t>Server</a:t>
            </a:r>
            <a:endParaRPr lang="en-US" altLang="zh-TW" sz="1400" b="1" u="none" strike="noStrike" dirty="0">
              <a:solidFill>
                <a:schemeClr val="tx2"/>
              </a:solidFill>
              <a:effectLst/>
            </a:endParaRPr>
          </a:p>
          <a:p>
            <a:pPr algn="ctr">
              <a:lnSpc>
                <a:spcPts val="1400"/>
              </a:lnSpc>
              <a:buNone/>
            </a:pPr>
            <a:r>
              <a:rPr lang="en-US" altLang="zh-TW" sz="1200" u="none" strike="noStrike" dirty="0">
                <a:solidFill>
                  <a:schemeClr val="tx2"/>
                </a:solidFill>
                <a:effectLst/>
              </a:rPr>
              <a:t>(LLM)</a:t>
            </a:r>
          </a:p>
        </p:txBody>
      </p:sp>
      <p:sp>
        <p:nvSpPr>
          <p:cNvPr id="13" name="文字方塊 12">
            <a:extLst>
              <a:ext uri="{FF2B5EF4-FFF2-40B4-BE49-F238E27FC236}">
                <a16:creationId xmlns:a16="http://schemas.microsoft.com/office/drawing/2014/main" id="{774BD80B-9201-734C-6443-E9C6EDE515F5}"/>
              </a:ext>
            </a:extLst>
          </p:cNvPr>
          <p:cNvSpPr txBox="1"/>
          <p:nvPr/>
        </p:nvSpPr>
        <p:spPr>
          <a:xfrm>
            <a:off x="6228185" y="3846670"/>
            <a:ext cx="881419" cy="756316"/>
          </a:xfrm>
          <a:prstGeom prst="rect">
            <a:avLst/>
          </a:prstGeom>
          <a:solidFill>
            <a:schemeClr val="bg1">
              <a:lumMod val="95000"/>
            </a:schemeClr>
          </a:solidFill>
          <a:ln w="25400">
            <a:solidFill>
              <a:schemeClr val="bg1">
                <a:lumMod val="85000"/>
              </a:schemeClr>
            </a:solidFill>
            <a:prstDash val="solid"/>
          </a:ln>
        </p:spPr>
        <p:txBody>
          <a:bodyPr wrap="none" lIns="0" tIns="0" rIns="0" bIns="0" anchor="ctr" anchorCtr="1">
            <a:noAutofit/>
          </a:bodyPr>
          <a:lstStyle/>
          <a:p>
            <a:pPr lvl="0" algn="ctr">
              <a:lnSpc>
                <a:spcPts val="1400"/>
              </a:lnSpc>
              <a:defRPr/>
            </a:pPr>
            <a:r>
              <a:rPr lang="en-US" altLang="zh-TW" sz="1400" b="1" dirty="0">
                <a:solidFill>
                  <a:schemeClr val="tx2"/>
                </a:solidFill>
                <a:latin typeface="Calibri"/>
                <a:ea typeface="新細明體" panose="02020500000000000000" pitchFamily="18" charset="-120"/>
              </a:rPr>
              <a:t>AI</a:t>
            </a:r>
            <a:r>
              <a:rPr lang="zh-TW" altLang="en-US" sz="1400" b="1" dirty="0">
                <a:solidFill>
                  <a:schemeClr val="tx2"/>
                </a:solidFill>
                <a:latin typeface="Calibri"/>
                <a:ea typeface="新細明體" panose="02020500000000000000" pitchFamily="18" charset="-120"/>
              </a:rPr>
              <a:t> </a:t>
            </a:r>
            <a:r>
              <a:rPr lang="en-US" altLang="zh-TW" sz="1400" b="1" dirty="0">
                <a:solidFill>
                  <a:schemeClr val="tx2"/>
                </a:solidFill>
                <a:latin typeface="Calibri"/>
                <a:ea typeface="新細明體" panose="02020500000000000000" pitchFamily="18" charset="-120"/>
              </a:rPr>
              <a:t>PC</a:t>
            </a:r>
            <a:br>
              <a:rPr lang="en-US" altLang="zh-TW" sz="1400" b="1" dirty="0">
                <a:solidFill>
                  <a:schemeClr val="tx2"/>
                </a:solidFill>
                <a:latin typeface="Calibri"/>
                <a:ea typeface="新細明體" panose="02020500000000000000" pitchFamily="18" charset="-120"/>
              </a:rPr>
            </a:br>
            <a:r>
              <a:rPr lang="en-US" altLang="zh-TW" sz="1200" b="1" dirty="0">
                <a:solidFill>
                  <a:schemeClr val="tx2"/>
                </a:solidFill>
                <a:latin typeface="Calibri"/>
                <a:ea typeface="新細明體" panose="02020500000000000000" pitchFamily="18" charset="-120"/>
              </a:rPr>
              <a:t>(SLM)</a:t>
            </a:r>
            <a:endParaRPr kumimoji="0" lang="en-US" altLang="zh-TW" sz="1200" b="0" i="0" u="none" strike="noStrike" kern="1200" cap="none" spc="0" normalizeH="0" baseline="0" noProof="0" dirty="0">
              <a:ln>
                <a:noFill/>
              </a:ln>
              <a:solidFill>
                <a:schemeClr val="tx2"/>
              </a:solidFill>
              <a:effectLst/>
              <a:uLnTx/>
              <a:uFillTx/>
              <a:latin typeface="Calibri"/>
              <a:ea typeface="新細明體" panose="02020500000000000000" pitchFamily="18" charset="-120"/>
              <a:cs typeface="+mn-cs"/>
            </a:endParaRPr>
          </a:p>
        </p:txBody>
      </p:sp>
      <p:sp>
        <p:nvSpPr>
          <p:cNvPr id="15" name="文字方塊 14">
            <a:extLst>
              <a:ext uri="{FF2B5EF4-FFF2-40B4-BE49-F238E27FC236}">
                <a16:creationId xmlns:a16="http://schemas.microsoft.com/office/drawing/2014/main" id="{309120A9-3216-3A4D-C130-3BB79B2385CA}"/>
              </a:ext>
            </a:extLst>
          </p:cNvPr>
          <p:cNvSpPr txBox="1"/>
          <p:nvPr/>
        </p:nvSpPr>
        <p:spPr>
          <a:xfrm>
            <a:off x="2123728" y="2384652"/>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Training</a:t>
            </a:r>
          </a:p>
          <a:p>
            <a:pPr algn="ctr">
              <a:lnSpc>
                <a:spcPts val="1400"/>
              </a:lnSpc>
              <a:buNone/>
            </a:pPr>
            <a:r>
              <a:rPr lang="en-US" altLang="zh-TW" sz="1400" b="1" u="none" strike="noStrike" dirty="0">
                <a:solidFill>
                  <a:schemeClr val="accent2"/>
                </a:solidFill>
                <a:effectLst/>
              </a:rPr>
              <a:t>Stage</a:t>
            </a:r>
          </a:p>
          <a:p>
            <a:pPr algn="ctr">
              <a:lnSpc>
                <a:spcPts val="1400"/>
              </a:lnSpc>
              <a:buNone/>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(Cloud)</a:t>
            </a:r>
            <a:endParaRPr lang="en-US" altLang="zh-TW" sz="1400" b="1" u="none" strike="noStrike" dirty="0">
              <a:solidFill>
                <a:schemeClr val="accent2"/>
              </a:solidFill>
              <a:effectLst/>
            </a:endParaRPr>
          </a:p>
        </p:txBody>
      </p:sp>
      <p:graphicFrame>
        <p:nvGraphicFramePr>
          <p:cNvPr id="37" name="表格 36">
            <a:extLst>
              <a:ext uri="{FF2B5EF4-FFF2-40B4-BE49-F238E27FC236}">
                <a16:creationId xmlns:a16="http://schemas.microsoft.com/office/drawing/2014/main" id="{A1EF5383-5464-5C40-CD95-1BC634B8A8F5}"/>
              </a:ext>
            </a:extLst>
          </p:cNvPr>
          <p:cNvGraphicFramePr>
            <a:graphicFrameLocks noGrp="1"/>
          </p:cNvGraphicFramePr>
          <p:nvPr/>
        </p:nvGraphicFramePr>
        <p:xfrm>
          <a:off x="1925027" y="4889888"/>
          <a:ext cx="1278821" cy="1178360"/>
        </p:xfrm>
        <a:graphic>
          <a:graphicData uri="http://schemas.openxmlformats.org/drawingml/2006/table">
            <a:tbl>
              <a:tblPr firstRow="1" bandRow="1">
                <a:tableStyleId>{5C22544A-7EE6-4342-B048-85BDC9FD1C3A}</a:tableStyleId>
              </a:tblPr>
              <a:tblGrid>
                <a:gridCol w="1278821">
                  <a:extLst>
                    <a:ext uri="{9D8B030D-6E8A-4147-A177-3AD203B41FA5}">
                      <a16:colId xmlns:a16="http://schemas.microsoft.com/office/drawing/2014/main" val="4512040"/>
                    </a:ext>
                  </a:extLst>
                </a:gridCol>
              </a:tblGrid>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FT-Engine</a:t>
                      </a:r>
                      <a:endParaRPr kumimoji="0" lang="zh-TW" altLang="en-US" sz="1400" b="1"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8871076"/>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Hugging Face TRL</a:t>
                      </a:r>
                      <a:endParaRPr kumimoji="0" lang="zh-TW" altLang="en-US" sz="1200" b="1" i="0" u="none" strike="noStrike" kern="1200" cap="none" spc="0" normalizeH="0" baseline="0" noProof="0" dirty="0">
                        <a:ln w="0"/>
                        <a:solidFill>
                          <a:srgbClr val="FF0000"/>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Unsloth</a:t>
                      </a:r>
                      <a:r>
                        <a:rPr kumimoji="0" lang="en-US" altLang="zh-TW" sz="1200" b="0" i="0" u="none" strike="noStrike" kern="1200" cap="none" spc="0" normalizeH="0" baseline="0" noProof="0" dirty="0">
                          <a:ln w="0"/>
                          <a:solidFill>
                            <a:prstClr val="black"/>
                          </a:solidFill>
                          <a:effectLst/>
                          <a:uLnTx/>
                          <a:uFillTx/>
                          <a:latin typeface="+mn-lt"/>
                          <a:ea typeface="+mn-ea"/>
                          <a:cs typeface="+mn-cs"/>
                        </a:rPr>
                        <a:t> (No Code)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10973834"/>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Axolotl</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(Geek)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LLaMA-Factory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MLX-LM</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878602166"/>
                  </a:ext>
                </a:extLst>
              </a:tr>
            </a:tbl>
          </a:graphicData>
        </a:graphic>
      </p:graphicFrame>
      <p:sp>
        <p:nvSpPr>
          <p:cNvPr id="4" name="標題 1">
            <a:extLst>
              <a:ext uri="{FF2B5EF4-FFF2-40B4-BE49-F238E27FC236}">
                <a16:creationId xmlns:a16="http://schemas.microsoft.com/office/drawing/2014/main" id="{C51F32BB-AF5D-9A70-D14E-236B9B03370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SLM Engine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Run language models locally and efficiently with minimal hardware resources.</a:t>
            </a:r>
          </a:p>
        </p:txBody>
      </p:sp>
      <p:pic>
        <p:nvPicPr>
          <p:cNvPr id="27" name="圖片 26">
            <a:extLst>
              <a:ext uri="{FF2B5EF4-FFF2-40B4-BE49-F238E27FC236}">
                <a16:creationId xmlns:a16="http://schemas.microsoft.com/office/drawing/2014/main" id="{135EA092-B215-BD47-7043-C4AF5B4B4F10}"/>
              </a:ext>
            </a:extLst>
          </p:cNvPr>
          <p:cNvPicPr>
            <a:picLocks noChangeAspect="1"/>
          </p:cNvPicPr>
          <p:nvPr/>
        </p:nvPicPr>
        <p:blipFill>
          <a:blip r:embed="rId2"/>
          <a:stretch>
            <a:fillRect/>
          </a:stretch>
        </p:blipFill>
        <p:spPr>
          <a:xfrm>
            <a:off x="1547664" y="4960218"/>
            <a:ext cx="306197" cy="288032"/>
          </a:xfrm>
          <a:prstGeom prst="rect">
            <a:avLst/>
          </a:prstGeom>
          <a:effectLst>
            <a:glow rad="76200">
              <a:schemeClr val="bg1">
                <a:alpha val="40000"/>
              </a:schemeClr>
            </a:glow>
          </a:effectLst>
        </p:spPr>
      </p:pic>
      <p:graphicFrame>
        <p:nvGraphicFramePr>
          <p:cNvPr id="9" name="表格 8">
            <a:extLst>
              <a:ext uri="{FF2B5EF4-FFF2-40B4-BE49-F238E27FC236}">
                <a16:creationId xmlns:a16="http://schemas.microsoft.com/office/drawing/2014/main" id="{DD8956EC-8C58-4EE6-3794-15E7D4F27A3B}"/>
              </a:ext>
            </a:extLst>
          </p:cNvPr>
          <p:cNvGraphicFramePr>
            <a:graphicFrameLocks noGrp="1"/>
          </p:cNvGraphicFramePr>
          <p:nvPr/>
        </p:nvGraphicFramePr>
        <p:xfrm>
          <a:off x="3297799" y="5313459"/>
          <a:ext cx="802885" cy="1127760"/>
        </p:xfrm>
        <a:graphic>
          <a:graphicData uri="http://schemas.openxmlformats.org/drawingml/2006/table">
            <a:tbl>
              <a:tblPr firstRow="1" bandRow="1">
                <a:tableStyleId>{5C22544A-7EE6-4342-B048-85BDC9FD1C3A}</a:tableStyleId>
              </a:tblPr>
              <a:tblGrid>
                <a:gridCol w="802885">
                  <a:extLst>
                    <a:ext uri="{9D8B030D-6E8A-4147-A177-3AD203B41FA5}">
                      <a16:colId xmlns:a16="http://schemas.microsoft.com/office/drawing/2014/main" val="4512040"/>
                    </a:ext>
                  </a:extLst>
                </a:gridCol>
              </a:tblGrid>
              <a:tr h="2091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Model</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24815099"/>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FF0000"/>
                          </a:solidFill>
                          <a:effectLst/>
                        </a:rPr>
                        <a:t>Gemma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44704120"/>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34733770"/>
                  </a:ext>
                </a:extLst>
              </a:tr>
            </a:tbl>
          </a:graphicData>
        </a:graphic>
      </p:graphicFrame>
      <p:pic>
        <p:nvPicPr>
          <p:cNvPr id="30" name="圖片 29">
            <a:extLst>
              <a:ext uri="{FF2B5EF4-FFF2-40B4-BE49-F238E27FC236}">
                <a16:creationId xmlns:a16="http://schemas.microsoft.com/office/drawing/2014/main" id="{20DBAEDD-C1F2-2405-DE74-D94FB68D52D3}"/>
              </a:ext>
            </a:extLst>
          </p:cNvPr>
          <p:cNvPicPr>
            <a:picLocks noChangeAspect="1"/>
          </p:cNvPicPr>
          <p:nvPr/>
        </p:nvPicPr>
        <p:blipFill>
          <a:blip r:embed="rId3"/>
          <a:stretch>
            <a:fillRect/>
          </a:stretch>
        </p:blipFill>
        <p:spPr>
          <a:xfrm>
            <a:off x="6754329" y="5455513"/>
            <a:ext cx="337951" cy="390669"/>
          </a:xfrm>
          <a:prstGeom prst="rect">
            <a:avLst/>
          </a:prstGeom>
          <a:solidFill>
            <a:schemeClr val="bg1">
              <a:alpha val="60000"/>
            </a:schemeClr>
          </a:solidFill>
        </p:spPr>
      </p:pic>
      <p:sp>
        <p:nvSpPr>
          <p:cNvPr id="38" name="文字方塊 37">
            <a:extLst>
              <a:ext uri="{FF2B5EF4-FFF2-40B4-BE49-F238E27FC236}">
                <a16:creationId xmlns:a16="http://schemas.microsoft.com/office/drawing/2014/main" id="{AB992DA8-098A-C85A-0E0A-EC2464CCE1A3}"/>
              </a:ext>
            </a:extLst>
          </p:cNvPr>
          <p:cNvSpPr txBox="1"/>
          <p:nvPr/>
        </p:nvSpPr>
        <p:spPr>
          <a:xfrm>
            <a:off x="3106216" y="2444150"/>
            <a:ext cx="1033736" cy="314373"/>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Backward Pass</a:t>
            </a:r>
          </a:p>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Checkpointing</a:t>
            </a:r>
            <a:endParaRPr lang="zh-TW" altLang="en-US" sz="1200" dirty="0"/>
          </a:p>
        </p:txBody>
      </p:sp>
      <p:sp>
        <p:nvSpPr>
          <p:cNvPr id="42" name="文字方塊 41">
            <a:extLst>
              <a:ext uri="{FF2B5EF4-FFF2-40B4-BE49-F238E27FC236}">
                <a16:creationId xmlns:a16="http://schemas.microsoft.com/office/drawing/2014/main" id="{C011670A-AD18-D760-4725-AC87CA0E0A6E}"/>
              </a:ext>
            </a:extLst>
          </p:cNvPr>
          <p:cNvSpPr txBox="1"/>
          <p:nvPr/>
        </p:nvSpPr>
        <p:spPr>
          <a:xfrm>
            <a:off x="5500146" y="2444149"/>
            <a:ext cx="702888" cy="313891"/>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Attention</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KV-Cache</a:t>
            </a:r>
          </a:p>
        </p:txBody>
      </p:sp>
      <p:sp>
        <p:nvSpPr>
          <p:cNvPr id="88" name="文字方塊 87">
            <a:extLst>
              <a:ext uri="{FF2B5EF4-FFF2-40B4-BE49-F238E27FC236}">
                <a16:creationId xmlns:a16="http://schemas.microsoft.com/office/drawing/2014/main" id="{662A56FC-70A6-FA2D-9DC3-8EDA197AAAA4}"/>
              </a:ext>
            </a:extLst>
          </p:cNvPr>
          <p:cNvSpPr txBox="1"/>
          <p:nvPr/>
        </p:nvSpPr>
        <p:spPr>
          <a:xfrm>
            <a:off x="3103440" y="3865792"/>
            <a:ext cx="820488"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Throughput,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PEFT</a:t>
            </a:r>
            <a:endParaRPr lang="zh-TW" altLang="en-US" sz="1200" dirty="0"/>
          </a:p>
        </p:txBody>
      </p:sp>
      <p:cxnSp>
        <p:nvCxnSpPr>
          <p:cNvPr id="118" name="直線單箭頭接點 117">
            <a:extLst>
              <a:ext uri="{FF2B5EF4-FFF2-40B4-BE49-F238E27FC236}">
                <a16:creationId xmlns:a16="http://schemas.microsoft.com/office/drawing/2014/main" id="{FEB0228A-4144-BC54-6225-6205E276FBE3}"/>
              </a:ext>
            </a:extLst>
          </p:cNvPr>
          <p:cNvCxnSpPr>
            <a:cxnSpLocks/>
            <a:stCxn id="3" idx="3"/>
            <a:endCxn id="13" idx="1"/>
          </p:cNvCxnSpPr>
          <p:nvPr/>
        </p:nvCxnSpPr>
        <p:spPr>
          <a:xfrm>
            <a:off x="3005148" y="4224828"/>
            <a:ext cx="3223037" cy="0"/>
          </a:xfrm>
          <a:prstGeom prst="straightConnector1">
            <a:avLst/>
          </a:prstGeom>
          <a:ln w="25400">
            <a:solidFill>
              <a:schemeClr val="bg1">
                <a:lumMod val="75000"/>
              </a:schemeClr>
            </a:solidFill>
            <a:headEnd w="med" len="lg"/>
            <a:tailEnd type="triangle" w="lg" len="med"/>
          </a:ln>
        </p:spPr>
        <p:style>
          <a:lnRef idx="1">
            <a:schemeClr val="accent1"/>
          </a:lnRef>
          <a:fillRef idx="0">
            <a:schemeClr val="accent1"/>
          </a:fillRef>
          <a:effectRef idx="0">
            <a:schemeClr val="accent1"/>
          </a:effectRef>
          <a:fontRef idx="minor">
            <a:schemeClr val="tx1"/>
          </a:fontRef>
        </p:style>
      </p:cxnSp>
      <p:pic>
        <p:nvPicPr>
          <p:cNvPr id="14" name="圖片 13">
            <a:extLst>
              <a:ext uri="{FF2B5EF4-FFF2-40B4-BE49-F238E27FC236}">
                <a16:creationId xmlns:a16="http://schemas.microsoft.com/office/drawing/2014/main" id="{6A19A26D-0595-B833-26F8-539F4EB87FE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47664" y="5320258"/>
            <a:ext cx="288033" cy="288032"/>
          </a:xfrm>
          <a:prstGeom prst="rect">
            <a:avLst/>
          </a:prstGeom>
          <a:effectLst>
            <a:glow rad="76200">
              <a:srgbClr val="00B050">
                <a:alpha val="40000"/>
              </a:srgbClr>
            </a:glow>
          </a:effectLst>
        </p:spPr>
      </p:pic>
      <p:sp>
        <p:nvSpPr>
          <p:cNvPr id="17" name="文字方塊 16">
            <a:extLst>
              <a:ext uri="{FF2B5EF4-FFF2-40B4-BE49-F238E27FC236}">
                <a16:creationId xmlns:a16="http://schemas.microsoft.com/office/drawing/2014/main" id="{C1A9147E-F72B-ADB6-4DA8-0242A9E1BF56}"/>
              </a:ext>
            </a:extLst>
          </p:cNvPr>
          <p:cNvSpPr txBox="1"/>
          <p:nvPr/>
        </p:nvSpPr>
        <p:spPr>
          <a:xfrm>
            <a:off x="5076056" y="3865792"/>
            <a:ext cx="1107903" cy="349496"/>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Latency, TTFT,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Operator Fusion</a:t>
            </a:r>
            <a:endParaRPr lang="zh-TW" altLang="en-US" sz="1200" dirty="0"/>
          </a:p>
        </p:txBody>
      </p:sp>
      <p:sp>
        <p:nvSpPr>
          <p:cNvPr id="102" name="文字方塊 101">
            <a:extLst>
              <a:ext uri="{FF2B5EF4-FFF2-40B4-BE49-F238E27FC236}">
                <a16:creationId xmlns:a16="http://schemas.microsoft.com/office/drawing/2014/main" id="{F3B204E8-9E74-B3D1-6886-09D4188A55E7}"/>
              </a:ext>
            </a:extLst>
          </p:cNvPr>
          <p:cNvSpPr txBox="1"/>
          <p:nvPr/>
        </p:nvSpPr>
        <p:spPr>
          <a:xfrm>
            <a:off x="3258531" y="4362433"/>
            <a:ext cx="881419" cy="365815"/>
          </a:xfrm>
          <a:prstGeom prst="rect">
            <a:avLst/>
          </a:prstGeom>
          <a:solidFill>
            <a:schemeClr val="bg1">
              <a:lumMod val="85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200" b="1" u="none" strike="noStrike" dirty="0">
                <a:effectLst/>
              </a:rPr>
              <a:t>Model File</a:t>
            </a:r>
          </a:p>
          <a:p>
            <a:pPr algn="ctr">
              <a:lnSpc>
                <a:spcPts val="1200"/>
              </a:lnSpc>
              <a:buNone/>
            </a:pPr>
            <a:r>
              <a:rPr lang="en-US" altLang="zh-TW" sz="1000" dirty="0"/>
              <a:t>(GGUF, ONNX)</a:t>
            </a:r>
            <a:endParaRPr lang="en-US" altLang="zh-TW" sz="1000" u="none" strike="noStrike" dirty="0">
              <a:effectLst/>
            </a:endParaRPr>
          </a:p>
        </p:txBody>
      </p:sp>
      <p:sp>
        <p:nvSpPr>
          <p:cNvPr id="47" name="文字方塊 46">
            <a:extLst>
              <a:ext uri="{FF2B5EF4-FFF2-40B4-BE49-F238E27FC236}">
                <a16:creationId xmlns:a16="http://schemas.microsoft.com/office/drawing/2014/main" id="{400FAA8A-4147-8B00-9580-A50FE9BFA505}"/>
              </a:ext>
            </a:extLst>
          </p:cNvPr>
          <p:cNvSpPr txBox="1"/>
          <p:nvPr/>
        </p:nvSpPr>
        <p:spPr>
          <a:xfrm>
            <a:off x="213023" y="968241"/>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Engine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 Framework:</a:t>
            </a:r>
            <a:r>
              <a:rPr lang="en-US" altLang="zh-TW" sz="1600" dirty="0"/>
              <a:t> </a:t>
            </a:r>
            <a:r>
              <a:rPr lang="en-US" altLang="zh-TW" sz="1600" b="1" dirty="0">
                <a:solidFill>
                  <a:schemeClr val="accent6">
                    <a:lumMod val="75000"/>
                  </a:schemeClr>
                </a:solidFill>
              </a:rPr>
              <a:t>Optimizes</a:t>
            </a:r>
            <a:r>
              <a:rPr lang="en-US" altLang="zh-TW" sz="1600" dirty="0"/>
              <a:t> model weights using gradients.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 Engine</a:t>
            </a:r>
            <a:r>
              <a:rPr lang="en-US" altLang="zh-TW" sz="1600" dirty="0"/>
              <a:t>:</a:t>
            </a:r>
            <a:r>
              <a:rPr lang="zh-TW" altLang="en-US" sz="1600" dirty="0"/>
              <a:t> </a:t>
            </a:r>
            <a:r>
              <a:rPr lang="en-US" altLang="zh-TW" sz="1600" b="1" dirty="0">
                <a:solidFill>
                  <a:schemeClr val="accent6">
                    <a:lumMod val="75000"/>
                  </a:schemeClr>
                </a:solidFill>
              </a:rPr>
              <a:t>Runs</a:t>
            </a:r>
            <a:r>
              <a:rPr lang="en-US" altLang="zh-TW" sz="1600" dirty="0"/>
              <a:t> trained models to generate predictions.</a:t>
            </a:r>
          </a:p>
        </p:txBody>
      </p:sp>
      <p:cxnSp>
        <p:nvCxnSpPr>
          <p:cNvPr id="64" name="直線接點 63">
            <a:extLst>
              <a:ext uri="{FF2B5EF4-FFF2-40B4-BE49-F238E27FC236}">
                <a16:creationId xmlns:a16="http://schemas.microsoft.com/office/drawing/2014/main" id="{4250BB2F-3E2E-142D-8E2C-0C55A2542BDA}"/>
              </a:ext>
            </a:extLst>
          </p:cNvPr>
          <p:cNvCxnSpPr>
            <a:cxnSpLocks/>
            <a:stCxn id="102" idx="2"/>
            <a:endCxn id="9" idx="0"/>
          </p:cNvCxnSpPr>
          <p:nvPr/>
        </p:nvCxnSpPr>
        <p:spPr>
          <a:xfrm>
            <a:off x="3699241" y="4728248"/>
            <a:ext cx="0" cy="58521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58CF7F8B-C53A-57E9-4723-186600068448}"/>
              </a:ext>
            </a:extLst>
          </p:cNvPr>
          <p:cNvCxnSpPr>
            <a:cxnSpLocks/>
            <a:stCxn id="13" idx="2"/>
            <a:endCxn id="22" idx="0"/>
          </p:cNvCxnSpPr>
          <p:nvPr/>
        </p:nvCxnSpPr>
        <p:spPr>
          <a:xfrm flipH="1">
            <a:off x="6668893" y="4602986"/>
            <a:ext cx="2" cy="70528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3" name="直線接點 72">
            <a:extLst>
              <a:ext uri="{FF2B5EF4-FFF2-40B4-BE49-F238E27FC236}">
                <a16:creationId xmlns:a16="http://schemas.microsoft.com/office/drawing/2014/main" id="{C75B7D8C-9A37-CC8D-DAA6-3D999E4C7378}"/>
              </a:ext>
            </a:extLst>
          </p:cNvPr>
          <p:cNvCxnSpPr>
            <a:cxnSpLocks/>
            <a:stCxn id="3" idx="2"/>
            <a:endCxn id="37" idx="0"/>
          </p:cNvCxnSpPr>
          <p:nvPr/>
        </p:nvCxnSpPr>
        <p:spPr>
          <a:xfrm flipH="1">
            <a:off x="2564437" y="4602986"/>
            <a:ext cx="1" cy="28690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8" name="直線接點 77">
            <a:extLst>
              <a:ext uri="{FF2B5EF4-FFF2-40B4-BE49-F238E27FC236}">
                <a16:creationId xmlns:a16="http://schemas.microsoft.com/office/drawing/2014/main" id="{54291EA9-298A-7ADF-0020-17EE71DA7083}"/>
              </a:ext>
            </a:extLst>
          </p:cNvPr>
          <p:cNvCxnSpPr/>
          <p:nvPr/>
        </p:nvCxnSpPr>
        <p:spPr>
          <a:xfrm>
            <a:off x="899592" y="3501008"/>
            <a:ext cx="7560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80" name="文字方塊 79">
            <a:extLst>
              <a:ext uri="{FF2B5EF4-FFF2-40B4-BE49-F238E27FC236}">
                <a16:creationId xmlns:a16="http://schemas.microsoft.com/office/drawing/2014/main" id="{CA014519-788B-AB92-B84F-36E7C69222BC}"/>
              </a:ext>
            </a:extLst>
          </p:cNvPr>
          <p:cNvSpPr txBox="1"/>
          <p:nvPr/>
        </p:nvSpPr>
        <p:spPr>
          <a:xfrm>
            <a:off x="7699522" y="3188590"/>
            <a:ext cx="588146" cy="624835"/>
          </a:xfrm>
          <a:prstGeom prst="rect">
            <a:avLst/>
          </a:prstGeom>
          <a:noFill/>
        </p:spPr>
        <p:txBody>
          <a:bodyPr wrap="none" lIns="0" tIns="0" rIns="0" bIns="0" anchor="ctr" anchorCtr="1">
            <a:noAutofit/>
          </a:bodyPr>
          <a:lstStyle/>
          <a:p>
            <a:pPr marL="0" marR="0" lvl="0" indent="0" algn="ctr" defTabSz="914400" rtl="0" eaLnBrk="1" fontAlgn="auto" latinLnBrk="0" hangingPunct="1">
              <a:lnSpc>
                <a:spcPts val="18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Cloud</a:t>
            </a:r>
          </a:p>
          <a:p>
            <a:pPr marL="0" marR="0" lvl="0" indent="0" algn="ctr" defTabSz="914400" rtl="0" eaLnBrk="1" fontAlgn="auto" latinLnBrk="0" hangingPunct="1">
              <a:lnSpc>
                <a:spcPts val="1800"/>
              </a:lnSpc>
              <a:spcBef>
                <a:spcPts val="0"/>
              </a:spcBef>
              <a:spcAft>
                <a:spcPts val="0"/>
              </a:spcAft>
              <a:buClrTx/>
              <a:buSzTx/>
              <a:buFontTx/>
              <a:buNone/>
              <a:tabLst/>
              <a:defRPr/>
            </a:pPr>
            <a:r>
              <a:rPr lang="en-US" altLang="zh-TW" sz="1200" dirty="0">
                <a:ln w="0"/>
              </a:rPr>
              <a:t>Edge</a:t>
            </a:r>
            <a:endParaRPr lang="zh-TW" altLang="en-US" sz="1200" dirty="0"/>
          </a:p>
        </p:txBody>
      </p:sp>
      <p:cxnSp>
        <p:nvCxnSpPr>
          <p:cNvPr id="2" name="接點: 弧形 1">
            <a:extLst>
              <a:ext uri="{FF2B5EF4-FFF2-40B4-BE49-F238E27FC236}">
                <a16:creationId xmlns:a16="http://schemas.microsoft.com/office/drawing/2014/main" id="{E5EFDDB6-079F-D664-EC81-212DD16CA4BA}"/>
              </a:ext>
            </a:extLst>
          </p:cNvPr>
          <p:cNvCxnSpPr>
            <a:cxnSpLocks/>
            <a:stCxn id="15" idx="1"/>
            <a:endCxn id="3" idx="1"/>
          </p:cNvCxnSpPr>
          <p:nvPr/>
        </p:nvCxnSpPr>
        <p:spPr>
          <a:xfrm rot="10800000" flipV="1">
            <a:off x="2123728" y="2762810"/>
            <a:ext cx="12700" cy="1462018"/>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 name="文字方塊 7">
            <a:extLst>
              <a:ext uri="{FF2B5EF4-FFF2-40B4-BE49-F238E27FC236}">
                <a16:creationId xmlns:a16="http://schemas.microsoft.com/office/drawing/2014/main" id="{B5D44E94-54A1-E12B-6B9A-090CFA771E66}"/>
              </a:ext>
            </a:extLst>
          </p:cNvPr>
          <p:cNvSpPr txBox="1"/>
          <p:nvPr/>
        </p:nvSpPr>
        <p:spPr>
          <a:xfrm>
            <a:off x="1514783" y="3341477"/>
            <a:ext cx="1049654"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Computing</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Resource / 100</a:t>
            </a:r>
            <a:endParaRPr lang="zh-TW" altLang="en-US" sz="1200" dirty="0"/>
          </a:p>
        </p:txBody>
      </p:sp>
    </p:spTree>
    <p:extLst>
      <p:ext uri="{BB962C8B-B14F-4D97-AF65-F5344CB8AC3E}">
        <p14:creationId xmlns:p14="http://schemas.microsoft.com/office/powerpoint/2010/main" val="77949886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297A6AF-A59A-D8E8-D402-8B80C85090E0}"/>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C0694D5-25AF-678F-4839-D5482C605504}"/>
              </a:ext>
            </a:extLst>
          </p:cNvPr>
          <p:cNvGraphicFramePr>
            <a:graphicFrameLocks noGrp="1"/>
          </p:cNvGraphicFramePr>
          <p:nvPr/>
        </p:nvGraphicFramePr>
        <p:xfrm>
          <a:off x="827584" y="2132856"/>
          <a:ext cx="7694238" cy="2851909"/>
        </p:xfrm>
        <a:graphic>
          <a:graphicData uri="http://schemas.openxmlformats.org/drawingml/2006/table">
            <a:tbl>
              <a:tblPr firstRow="1" bandRow="1">
                <a:tableStyleId>{5C22544A-7EE6-4342-B048-85BDC9FD1C3A}</a:tableStyleId>
              </a:tblPr>
              <a:tblGrid>
                <a:gridCol w="1282373">
                  <a:extLst>
                    <a:ext uri="{9D8B030D-6E8A-4147-A177-3AD203B41FA5}">
                      <a16:colId xmlns:a16="http://schemas.microsoft.com/office/drawing/2014/main" val="767948712"/>
                    </a:ext>
                  </a:extLst>
                </a:gridCol>
                <a:gridCol w="1282373">
                  <a:extLst>
                    <a:ext uri="{9D8B030D-6E8A-4147-A177-3AD203B41FA5}">
                      <a16:colId xmlns:a16="http://schemas.microsoft.com/office/drawing/2014/main" val="4512040"/>
                    </a:ext>
                  </a:extLst>
                </a:gridCol>
                <a:gridCol w="1282373">
                  <a:extLst>
                    <a:ext uri="{9D8B030D-6E8A-4147-A177-3AD203B41FA5}">
                      <a16:colId xmlns:a16="http://schemas.microsoft.com/office/drawing/2014/main" val="3551248890"/>
                    </a:ext>
                  </a:extLst>
                </a:gridCol>
                <a:gridCol w="1282373">
                  <a:extLst>
                    <a:ext uri="{9D8B030D-6E8A-4147-A177-3AD203B41FA5}">
                      <a16:colId xmlns:a16="http://schemas.microsoft.com/office/drawing/2014/main" val="204991320"/>
                    </a:ext>
                  </a:extLst>
                </a:gridCol>
                <a:gridCol w="1282373">
                  <a:extLst>
                    <a:ext uri="{9D8B030D-6E8A-4147-A177-3AD203B41FA5}">
                      <a16:colId xmlns:a16="http://schemas.microsoft.com/office/drawing/2014/main" val="795597008"/>
                    </a:ext>
                  </a:extLst>
                </a:gridCol>
                <a:gridCol w="1282373">
                  <a:extLst>
                    <a:ext uri="{9D8B030D-6E8A-4147-A177-3AD203B41FA5}">
                      <a16:colId xmlns:a16="http://schemas.microsoft.com/office/drawing/2014/main" val="3504260209"/>
                    </a:ext>
                  </a:extLst>
                </a:gridCol>
              </a:tblGrid>
              <a:tr h="628369">
                <a:tc>
                  <a:txBody>
                    <a:bodyPr/>
                    <a:lstStyle/>
                    <a:p>
                      <a:pPr algn="ctr"/>
                      <a:r>
                        <a:rPr lang="en-US" altLang="zh-TW" sz="1200" b="1" cap="none" spc="0" dirty="0">
                          <a:ln w="0"/>
                          <a:solidFill>
                            <a:schemeClr val="tx1"/>
                          </a:solidFill>
                          <a:effectLst/>
                          <a:latin typeface="+mn-lt"/>
                        </a:rPr>
                        <a:t>LLaMA-Factory</a:t>
                      </a:r>
                    </a:p>
                    <a:p>
                      <a:pPr algn="ctr"/>
                      <a:r>
                        <a:rPr lang="zh-TW" altLang="zh-TW" sz="1200" b="0" i="0" kern="1200" dirty="0">
                          <a:solidFill>
                            <a:schemeClr val="tx1"/>
                          </a:solidFill>
                          <a:effectLst/>
                          <a:latin typeface="+mn-lt"/>
                          <a:ea typeface="+mn-ea"/>
                          <a:cs typeface="+mn-cs"/>
                        </a:rPr>
                        <a:t>/ˈlɑː.mə/</a:t>
                      </a:r>
                      <a:r>
                        <a:rPr lang="zh-TW" altLang="en-US" sz="1000" b="0" i="0" kern="1200" dirty="0">
                          <a:solidFill>
                            <a:schemeClr val="tx1"/>
                          </a:solidFill>
                          <a:effectLst/>
                          <a:latin typeface="微軟正黑體" panose="020B0604030504040204" pitchFamily="34" charset="-120"/>
                          <a:ea typeface="微軟正黑體" panose="020B0604030504040204" pitchFamily="34" charset="-120"/>
                          <a:cs typeface="+mn-cs"/>
                        </a:rPr>
                        <a:t>小羊駝</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Hugging Face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TRL</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MLX-LM</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(Apple)</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Axolotl</a:t>
                      </a:r>
                    </a:p>
                    <a:p>
                      <a:pPr algn="ctr"/>
                      <a:r>
                        <a:rPr lang="zh-TW" altLang="zh-TW" sz="1200" b="0" i="0" kern="1200" dirty="0">
                          <a:solidFill>
                            <a:schemeClr val="tx1"/>
                          </a:solidFill>
                          <a:effectLst/>
                          <a:latin typeface="+mn-lt"/>
                          <a:ea typeface="+mn-ea"/>
                          <a:cs typeface="+mn-cs"/>
                        </a:rPr>
                        <a:t>/ˈæk.sə.lɑ.təl/</a:t>
                      </a:r>
                      <a:r>
                        <a:rPr lang="zh-TW" altLang="zh-TW" sz="1000" b="1" i="0" kern="1200" dirty="0">
                          <a:solidFill>
                            <a:schemeClr val="tx1"/>
                          </a:solidFill>
                          <a:effectLst/>
                          <a:latin typeface="微軟正黑體" panose="020B0604030504040204" pitchFamily="34" charset="-120"/>
                          <a:ea typeface="微軟正黑體" panose="020B0604030504040204" pitchFamily="34" charset="-120"/>
                          <a:cs typeface="+mn-cs"/>
                        </a:rPr>
                        <a:t>美西螈</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Unsloth</a:t>
                      </a:r>
                    </a:p>
                    <a:p>
                      <a:pPr algn="ctr"/>
                      <a:r>
                        <a:rPr lang="zh-TW" altLang="zh-TW" sz="1200" b="0" i="0" kern="1200" dirty="0">
                          <a:solidFill>
                            <a:schemeClr val="tx1"/>
                          </a:solidFill>
                          <a:effectLst/>
                          <a:latin typeface="+mn-lt"/>
                          <a:ea typeface="+mn-ea"/>
                          <a:cs typeface="+mn-cs"/>
                        </a:rPr>
                        <a:t>/ʌn</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slɑːθ/</a:t>
                      </a:r>
                      <a:r>
                        <a:rPr lang="zh-TW" altLang="zh-TW" sz="1000" b="0" i="0" kern="1200" dirty="0">
                          <a:solidFill>
                            <a:schemeClr val="tx1"/>
                          </a:solidFill>
                          <a:effectLst/>
                          <a:latin typeface="微軟正黑體" panose="020B0604030504040204" pitchFamily="34" charset="-120"/>
                          <a:ea typeface="微軟正黑體" panose="020B0604030504040204" pitchFamily="34" charset="-120"/>
                          <a:cs typeface="+mn-cs"/>
                        </a:rPr>
                        <a:t>樹懶</a:t>
                      </a:r>
                      <a:endParaRPr lang="en-US" altLang="zh-TW"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kumimoji="0" lang="zh-TW" altLang="zh-TW" sz="1200" b="1" i="0" u="none" strike="noStrike" kern="1200" cap="none" spc="0" normalizeH="0" baseline="0" noProof="0" dirty="0">
                          <a:ln>
                            <a:noFill/>
                          </a:ln>
                          <a:solidFill>
                            <a:prstClr val="black"/>
                          </a:solidFill>
                          <a:effectLst/>
                          <a:uLnTx/>
                          <a:uFillTx/>
                          <a:latin typeface="+mn-lt"/>
                          <a:ea typeface="+mn-ea"/>
                          <a:cs typeface="+mn-cs"/>
                        </a:rPr>
                        <a:t>Ultralytics</a:t>
                      </a:r>
                      <a:endParaRPr kumimoji="0" lang="en-US" altLang="zh-TW" sz="1200" b="1" i="0" u="none" strike="noStrike" kern="1200" cap="none" spc="0" normalizeH="0" baseline="0" noProof="0" dirty="0">
                        <a:ln>
                          <a:noFill/>
                        </a:ln>
                        <a:solidFill>
                          <a:prstClr val="black"/>
                        </a:solidFill>
                        <a:effectLst/>
                        <a:uLnTx/>
                        <a:uFillTx/>
                        <a:latin typeface="+mn-lt"/>
                        <a:ea typeface="+mn-ea"/>
                        <a:cs typeface="+mn-cs"/>
                      </a:endParaRPr>
                    </a:p>
                    <a:p>
                      <a:pPr algn="ctr"/>
                      <a:r>
                        <a:rPr lang="zh-TW" altLang="zh-TW" sz="1200" b="0" i="0" kern="1200" dirty="0">
                          <a:solidFill>
                            <a:schemeClr val="tx1"/>
                          </a:solidFill>
                          <a:effectLst/>
                          <a:latin typeface="+mn-lt"/>
                          <a:ea typeface="+mn-ea"/>
                          <a:cs typeface="+mn-cs"/>
                        </a:rPr>
                        <a:t>/ˈʌl.trə</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ˈlɪt.ɪks/</a:t>
                      </a:r>
                      <a:r>
                        <a:rPr kumimoji="0" lang="zh-TW" altLang="zh-TW" sz="1200" b="1" i="0" u="none" strike="noStrike" kern="1200" cap="none" spc="0" normalizeH="0" baseline="0" noProof="0" dirty="0">
                          <a:ln>
                            <a:noFill/>
                          </a:ln>
                          <a:solidFill>
                            <a:prstClr val="black"/>
                          </a:solidFill>
                          <a:effectLst/>
                          <a:uLnTx/>
                          <a:uFillTx/>
                          <a:latin typeface="+mn-lt"/>
                          <a:ea typeface="+mn-ea"/>
                          <a:cs typeface="+mn-cs"/>
                        </a:rPr>
                        <a:t> </a:t>
                      </a:r>
                      <a:endParaRPr lang="en-US" altLang="zh-TW" sz="1200" b="1" cap="none" spc="0" dirty="0">
                        <a:ln w="0"/>
                        <a:solidFill>
                          <a:schemeClr val="tx1"/>
                        </a:solidFill>
                        <a:effectLst/>
                        <a:latin typeface="+mn-lt"/>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35245">
                <a:tc>
                  <a:txBody>
                    <a:bodyPr/>
                    <a:lstStyle/>
                    <a:p>
                      <a:pPr algn="ctr"/>
                      <a:r>
                        <a:rPr lang="en-US" altLang="zh-TW" sz="1200" b="0" cap="none" spc="0" dirty="0">
                          <a:ln w="0"/>
                          <a:solidFill>
                            <a:schemeClr val="tx1"/>
                          </a:solidFill>
                          <a:effectLst/>
                        </a:rPr>
                        <a:t>Gradio</a:t>
                      </a:r>
                    </a:p>
                    <a:p>
                      <a:pPr algn="ctr"/>
                      <a:r>
                        <a:rPr lang="en-US" altLang="zh-TW" sz="1200" b="0" cap="none" spc="0" dirty="0">
                          <a:ln w="0"/>
                          <a:solidFill>
                            <a:schemeClr val="tx1"/>
                          </a:solidFill>
                          <a:effectLst/>
                        </a:rPr>
                        <a:t>WebUI</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HF</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YAML</a:t>
                      </a:r>
                      <a:br>
                        <a:rPr lang="en-US" altLang="zh-TW" sz="1200" b="0" cap="none" spc="0" dirty="0">
                          <a:ln w="0"/>
                          <a:solidFill>
                            <a:schemeClr val="tx1"/>
                          </a:solidFill>
                          <a:effectLst/>
                        </a:rPr>
                      </a:br>
                      <a:r>
                        <a:rPr lang="en-US" altLang="zh-TW" sz="1200" b="0" cap="none" spc="0" dirty="0">
                          <a:ln w="0"/>
                          <a:solidFill>
                            <a:schemeClr val="tx1"/>
                          </a:solidFill>
                          <a:effectLst/>
                        </a:rPr>
                        <a:t>Disruptive Tech</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Open WebUI</a:t>
                      </a:r>
                    </a:p>
                    <a:p>
                      <a:pPr algn="ctr"/>
                      <a:r>
                        <a:rPr lang="en-US" altLang="zh-TW" sz="1200" b="0" cap="none" spc="0" dirty="0">
                          <a:ln w="0"/>
                          <a:solidFill>
                            <a:schemeClr val="tx1"/>
                          </a:solidFill>
                          <a:effectLst/>
                        </a:rPr>
                        <a:t>Offline Dominator</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YOLO 11</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ONNX</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35245">
                <a:tc>
                  <a:txBody>
                    <a:bodyPr/>
                    <a:lstStyle/>
                    <a:p>
                      <a:pPr algn="ctr"/>
                      <a:r>
                        <a:rPr lang="en-US" altLang="zh-TW" sz="1200" b="0" cap="none" spc="0" dirty="0">
                          <a:ln w="0"/>
                          <a:solidFill>
                            <a:schemeClr val="tx1"/>
                          </a:solidFill>
                          <a:effectLst/>
                        </a:rPr>
                        <a:t>Easy-to-use</a:t>
                      </a:r>
                    </a:p>
                    <a:p>
                      <a:pPr algn="ctr"/>
                      <a:r>
                        <a:rPr lang="en-US" altLang="zh-TW" sz="1200" b="0" cap="none" spc="0" dirty="0">
                          <a:ln w="0"/>
                          <a:solidFill>
                            <a:schemeClr val="tx1"/>
                          </a:solidFill>
                          <a:effectLst/>
                        </a:rPr>
                        <a:t>(Low-code)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Python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Flexible, </a:t>
                      </a:r>
                    </a:p>
                    <a:p>
                      <a:pPr algn="ctr"/>
                      <a:r>
                        <a:rPr lang="en-US" altLang="zh-TW" sz="1200" b="0" cap="none" spc="0" dirty="0">
                          <a:ln w="0"/>
                          <a:solidFill>
                            <a:schemeClr val="tx1"/>
                          </a:solidFill>
                          <a:effectLst/>
                        </a:rPr>
                        <a:t>config-driven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Ultra-fast,</a:t>
                      </a:r>
                    </a:p>
                    <a:p>
                      <a:pPr algn="ctr"/>
                      <a:r>
                        <a:rPr lang="en-US" altLang="zh-TW" sz="1200" b="0" cap="none" spc="0" dirty="0">
                          <a:ln w="0"/>
                          <a:solidFill>
                            <a:schemeClr val="tx1"/>
                          </a:solidFill>
                          <a:effectLst/>
                        </a:rPr>
                        <a:t>Low-memory</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High-performance, </a:t>
                      </a:r>
                    </a:p>
                    <a:p>
                      <a:pPr algn="ctr"/>
                      <a:r>
                        <a:rPr lang="en-US" altLang="zh-TW" sz="1200" b="0" cap="none" spc="0" dirty="0">
                          <a:ln w="0"/>
                          <a:solidFill>
                            <a:schemeClr val="tx1"/>
                          </a:solidFill>
                          <a:effectLst/>
                        </a:rPr>
                        <a:t>real-time object detection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178612504"/>
                  </a:ext>
                </a:extLst>
              </a:tr>
              <a:tr h="288810">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3524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 PyTorch FSDP2,</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Hugging Face TRL,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lashAttention-3</a:t>
                      </a:r>
                    </a:p>
                    <a:p>
                      <a:pPr algn="ctr"/>
                      <a:r>
                        <a:rPr lang="en-US" altLang="zh-TW" sz="1200" b="0" cap="none" spc="0" dirty="0">
                          <a:ln w="0"/>
                          <a:solidFill>
                            <a:schemeClr val="tx1"/>
                          </a:solidFill>
                          <a:effectLst/>
                        </a:rPr>
                        <a:t>Multipack, xFormers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Improved PyTorch,</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Triton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TensorRT,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OpenVINO Toolkit</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28881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 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Megatron-DeepSpeed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a:t>
                      </a:r>
                      <a:r>
                        <a:rPr lang="zh-TW" altLang="en-US" sz="1200" b="0" cap="none" spc="0" dirty="0">
                          <a:ln w="0"/>
                          <a:solidFill>
                            <a:schemeClr val="tx1"/>
                          </a:solidFill>
                          <a:effectLst/>
                        </a:rPr>
                        <a:t> </a:t>
                      </a:r>
                      <a:r>
                        <a:rPr lang="en-US" altLang="zh-TW" sz="1200" b="0" cap="none" spc="0" dirty="0">
                          <a:ln w="0"/>
                          <a:solidFill>
                            <a:schemeClr val="tx1"/>
                          </a:solidFill>
                          <a:effectLst/>
                        </a:rPr>
                        <a:t>Megatron-LM, CUDA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45482051"/>
                  </a:ext>
                </a:extLst>
              </a:tr>
              <a:tr h="288810">
                <a:tc>
                  <a:txBody>
                    <a:bodyPr/>
                    <a:lstStyle/>
                    <a:p>
                      <a:pPr algn="ctr"/>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PC/NB</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extLst>
                  <a:ext uri="{0D108BD9-81ED-4DB2-BD59-A6C34878D82A}">
                    <a16:rowId xmlns:a16="http://schemas.microsoft.com/office/drawing/2014/main" val="132523365"/>
                  </a:ext>
                </a:extLst>
              </a:tr>
            </a:tbl>
          </a:graphicData>
        </a:graphic>
      </p:graphicFrame>
      <p:pic>
        <p:nvPicPr>
          <p:cNvPr id="8" name="圖片 7">
            <a:extLst>
              <a:ext uri="{FF2B5EF4-FFF2-40B4-BE49-F238E27FC236}">
                <a16:creationId xmlns:a16="http://schemas.microsoft.com/office/drawing/2014/main" id="{3E4BF44D-72A8-155F-5FEF-FF52AE9835D0}"/>
              </a:ext>
            </a:extLst>
          </p:cNvPr>
          <p:cNvPicPr>
            <a:picLocks noChangeAspect="1"/>
          </p:cNvPicPr>
          <p:nvPr/>
        </p:nvPicPr>
        <p:blipFill>
          <a:blip r:embed="rId3"/>
          <a:stretch>
            <a:fillRect/>
          </a:stretch>
        </p:blipFill>
        <p:spPr>
          <a:xfrm>
            <a:off x="4918173" y="1571103"/>
            <a:ext cx="468845" cy="612186"/>
          </a:xfrm>
          <a:prstGeom prst="rect">
            <a:avLst/>
          </a:prstGeom>
        </p:spPr>
      </p:pic>
      <p:pic>
        <p:nvPicPr>
          <p:cNvPr id="10" name="圖片 9">
            <a:extLst>
              <a:ext uri="{FF2B5EF4-FFF2-40B4-BE49-F238E27FC236}">
                <a16:creationId xmlns:a16="http://schemas.microsoft.com/office/drawing/2014/main" id="{35AB2B3A-E1D8-12EC-C70D-F1D3314C8DA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361324" y="1630331"/>
            <a:ext cx="511322" cy="511320"/>
          </a:xfrm>
          <a:prstGeom prst="rect">
            <a:avLst/>
          </a:prstGeom>
        </p:spPr>
      </p:pic>
      <p:pic>
        <p:nvPicPr>
          <p:cNvPr id="12" name="圖片 11">
            <a:extLst>
              <a:ext uri="{FF2B5EF4-FFF2-40B4-BE49-F238E27FC236}">
                <a16:creationId xmlns:a16="http://schemas.microsoft.com/office/drawing/2014/main" id="{8FE807A9-33DB-3107-644A-5FA5F14046A6}"/>
              </a:ext>
            </a:extLst>
          </p:cNvPr>
          <p:cNvPicPr>
            <a:picLocks noChangeAspect="1"/>
          </p:cNvPicPr>
          <p:nvPr/>
        </p:nvPicPr>
        <p:blipFill>
          <a:blip r:embed="rId5"/>
          <a:stretch>
            <a:fillRect/>
          </a:stretch>
        </p:blipFill>
        <p:spPr>
          <a:xfrm>
            <a:off x="971600" y="1609550"/>
            <a:ext cx="798718" cy="535293"/>
          </a:xfrm>
          <a:prstGeom prst="rect">
            <a:avLst/>
          </a:prstGeom>
        </p:spPr>
      </p:pic>
      <p:pic>
        <p:nvPicPr>
          <p:cNvPr id="14" name="圖片 13">
            <a:extLst>
              <a:ext uri="{FF2B5EF4-FFF2-40B4-BE49-F238E27FC236}">
                <a16:creationId xmlns:a16="http://schemas.microsoft.com/office/drawing/2014/main" id="{5C6322F9-E94E-0EA9-1F00-B7B8D761985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591292" y="1642124"/>
            <a:ext cx="511320" cy="511320"/>
          </a:xfrm>
          <a:prstGeom prst="rect">
            <a:avLst/>
          </a:prstGeom>
        </p:spPr>
      </p:pic>
      <p:pic>
        <p:nvPicPr>
          <p:cNvPr id="4" name="圖片 3">
            <a:extLst>
              <a:ext uri="{FF2B5EF4-FFF2-40B4-BE49-F238E27FC236}">
                <a16:creationId xmlns:a16="http://schemas.microsoft.com/office/drawing/2014/main" id="{17769C83-A1FB-75F4-4253-A03E2A898C7D}"/>
              </a:ext>
            </a:extLst>
          </p:cNvPr>
          <p:cNvPicPr>
            <a:picLocks noChangeAspect="1"/>
          </p:cNvPicPr>
          <p:nvPr/>
        </p:nvPicPr>
        <p:blipFill>
          <a:blip r:embed="rId7"/>
          <a:stretch>
            <a:fillRect/>
          </a:stretch>
        </p:blipFill>
        <p:spPr>
          <a:xfrm>
            <a:off x="3738578" y="1621837"/>
            <a:ext cx="584846" cy="561452"/>
          </a:xfrm>
          <a:prstGeom prst="rect">
            <a:avLst/>
          </a:prstGeom>
        </p:spPr>
      </p:pic>
      <p:pic>
        <p:nvPicPr>
          <p:cNvPr id="7" name="圖片 6">
            <a:extLst>
              <a:ext uri="{FF2B5EF4-FFF2-40B4-BE49-F238E27FC236}">
                <a16:creationId xmlns:a16="http://schemas.microsoft.com/office/drawing/2014/main" id="{A9192D10-9C29-66BC-B2D1-87AFD7FFA83B}"/>
              </a:ext>
            </a:extLst>
          </p:cNvPr>
          <p:cNvPicPr>
            <a:picLocks noChangeAspect="1"/>
          </p:cNvPicPr>
          <p:nvPr/>
        </p:nvPicPr>
        <p:blipFill>
          <a:blip r:embed="rId8"/>
          <a:stretch>
            <a:fillRect/>
          </a:stretch>
        </p:blipFill>
        <p:spPr>
          <a:xfrm>
            <a:off x="2428171" y="1608689"/>
            <a:ext cx="610836" cy="574600"/>
          </a:xfrm>
          <a:prstGeom prst="rect">
            <a:avLst/>
          </a:prstGeom>
        </p:spPr>
      </p:pic>
    </p:spTree>
    <p:extLst>
      <p:ext uri="{BB962C8B-B14F-4D97-AF65-F5344CB8AC3E}">
        <p14:creationId xmlns:p14="http://schemas.microsoft.com/office/powerpoint/2010/main" val="23446822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字方塊 4">
            <a:extLst>
              <a:ext uri="{FF2B5EF4-FFF2-40B4-BE49-F238E27FC236}">
                <a16:creationId xmlns:a16="http://schemas.microsoft.com/office/drawing/2014/main" id="{DE853544-DBA0-E3DB-54BF-4BDC27EE2E9F}"/>
              </a:ext>
            </a:extLst>
          </p:cNvPr>
          <p:cNvSpPr txBox="1"/>
          <p:nvPr/>
        </p:nvSpPr>
        <p:spPr>
          <a:xfrm>
            <a:off x="287524" y="4375264"/>
            <a:ext cx="8568952" cy="1862048"/>
          </a:xfrm>
          <a:prstGeom prst="rect">
            <a:avLst/>
          </a:prstGeom>
          <a:noFill/>
          <a:ln>
            <a:solidFill>
              <a:schemeClr val="bg1"/>
            </a:solidFill>
          </a:ln>
        </p:spPr>
        <p:txBody>
          <a:bodyPr wrap="square">
            <a:spAutoFit/>
          </a:bodyPr>
          <a:lstStyle/>
          <a:p>
            <a:pPr>
              <a:lnSpc>
                <a:spcPts val="1800"/>
              </a:lnSpc>
              <a:spcBef>
                <a:spcPts val="600"/>
              </a:spcBef>
              <a:spcAft>
                <a:spcPts val="600"/>
              </a:spcAft>
            </a:pPr>
            <a:r>
              <a:rPr lang="en-US" altLang="zh-TW" sz="2000" b="1" dirty="0"/>
              <a:t>Key Trends</a:t>
            </a:r>
            <a:endParaRPr lang="en-US" altLang="zh-TW" sz="16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 Transition</a:t>
            </a:r>
            <a:r>
              <a:rPr lang="en-US" altLang="zh-TW" sz="1600" b="0" u="none" strike="noStrike" dirty="0">
                <a:effectLst/>
              </a:rPr>
              <a:t>: Shifting from Quantity (raw web) to </a:t>
            </a:r>
            <a:r>
              <a:rPr lang="en-US" altLang="zh-TW" sz="1600" b="0" u="none" strike="noStrike" dirty="0">
                <a:solidFill>
                  <a:schemeClr val="accent6">
                    <a:lumMod val="75000"/>
                  </a:schemeClr>
                </a:solidFill>
                <a:effectLst/>
              </a:rPr>
              <a:t>Quality</a:t>
            </a:r>
            <a:r>
              <a:rPr lang="en-US" altLang="zh-TW" sz="1600" b="0" u="none" strike="noStrike" dirty="0">
                <a:effectLst/>
              </a:rPr>
              <a:t> (curated c</a:t>
            </a:r>
            <a:r>
              <a:rPr lang="en-US" altLang="zh-TW" sz="1600" dirty="0"/>
              <a:t>orpora)</a:t>
            </a:r>
            <a:r>
              <a:rPr lang="en-US" altLang="zh-TW" sz="1600" b="0" u="none" strike="noStrike" dirty="0">
                <a:effectLst/>
              </a:rPr>
              <a:t>.</a:t>
            </a:r>
          </a:p>
          <a:p>
            <a:pPr marL="285750" indent="-285750">
              <a:lnSpc>
                <a:spcPts val="1800"/>
              </a:lnSpc>
              <a:spcBef>
                <a:spcPts val="600"/>
              </a:spcBef>
              <a:spcAft>
                <a:spcPts val="600"/>
              </a:spcAft>
              <a:buFont typeface="Wingdings" panose="05000000000000000000" pitchFamily="2" charset="2"/>
              <a:buChar char="Ø"/>
            </a:pPr>
            <a:r>
              <a:rPr lang="en-US" altLang="zh-TW" sz="1600" b="1" dirty="0"/>
              <a:t>Architecture (MoE)</a:t>
            </a:r>
            <a:r>
              <a:rPr lang="en-US" altLang="zh-TW" sz="1600" dirty="0"/>
              <a:t>: Activating only relevant sub-networks to drastically lower inference </a:t>
            </a:r>
            <a:r>
              <a:rPr lang="en-US" altLang="zh-TW" sz="1600" dirty="0">
                <a:solidFill>
                  <a:schemeClr val="accent6">
                    <a:lumMod val="75000"/>
                  </a:schemeClr>
                </a:solidFill>
              </a:rPr>
              <a:t>costs</a:t>
            </a:r>
            <a:r>
              <a:rPr lang="en-US" altLang="zh-TW" sz="1600" dirty="0"/>
              <a:t>.</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Native Modality</a:t>
            </a:r>
            <a:r>
              <a:rPr lang="en-US" altLang="zh-TW" sz="1600" dirty="0"/>
              <a:t>: Integrating real-time voice and video natively for next-gen AI Agents.</a:t>
            </a:r>
          </a:p>
          <a:p>
            <a:pPr marL="285750" indent="-285750">
              <a:lnSpc>
                <a:spcPts val="1800"/>
              </a:lnSpc>
              <a:spcBef>
                <a:spcPts val="600"/>
              </a:spcBef>
              <a:spcAft>
                <a:spcPts val="600"/>
              </a:spcAft>
              <a:buFont typeface="Wingdings" panose="05000000000000000000" pitchFamily="2" charset="2"/>
              <a:buChar char="Ø"/>
            </a:pPr>
            <a:r>
              <a:rPr lang="en-US" altLang="zh-TW" sz="1600" b="1" dirty="0"/>
              <a:t>Efficient Deployment</a:t>
            </a:r>
            <a:r>
              <a:rPr lang="en-US" altLang="zh-TW" sz="1600" dirty="0"/>
              <a:t>: Embracing Smaller Language Models (SLMs) for </a:t>
            </a:r>
            <a:r>
              <a:rPr lang="en-US" altLang="zh-TW" sz="1600" dirty="0">
                <a:solidFill>
                  <a:schemeClr val="accent6">
                    <a:lumMod val="75000"/>
                  </a:schemeClr>
                </a:solidFill>
              </a:rPr>
              <a:t>secure</a:t>
            </a:r>
            <a:r>
              <a:rPr lang="en-US" altLang="zh-TW" sz="1600" dirty="0"/>
              <a:t>, on-device AI.</a:t>
            </a:r>
            <a:endParaRPr lang="en-US" altLang="zh-TW" sz="1600" dirty="0">
              <a:solidFill>
                <a:schemeClr val="bg1">
                  <a:lumMod val="75000"/>
                </a:schemeClr>
              </a:solidFill>
            </a:endParaRPr>
          </a:p>
        </p:txBody>
      </p:sp>
      <p:grpSp>
        <p:nvGrpSpPr>
          <p:cNvPr id="6" name="群組 5">
            <a:extLst>
              <a:ext uri="{FF2B5EF4-FFF2-40B4-BE49-F238E27FC236}">
                <a16:creationId xmlns:a16="http://schemas.microsoft.com/office/drawing/2014/main" id="{5E04EBFC-4EB4-0EDE-A780-590452CD0E38}"/>
              </a:ext>
            </a:extLst>
          </p:cNvPr>
          <p:cNvGrpSpPr/>
          <p:nvPr/>
        </p:nvGrpSpPr>
        <p:grpSpPr>
          <a:xfrm>
            <a:off x="899592" y="1124744"/>
            <a:ext cx="2137548" cy="2183010"/>
            <a:chOff x="852998" y="2783412"/>
            <a:chExt cx="2137548" cy="2183010"/>
          </a:xfrm>
        </p:grpSpPr>
        <p:sp>
          <p:nvSpPr>
            <p:cNvPr id="7" name="弧形 6">
              <a:extLst>
                <a:ext uri="{FF2B5EF4-FFF2-40B4-BE49-F238E27FC236}">
                  <a16:creationId xmlns:a16="http://schemas.microsoft.com/office/drawing/2014/main" id="{ADE78692-DD87-A403-B53B-072E2A6E9BC6}"/>
                </a:ext>
              </a:extLst>
            </p:cNvPr>
            <p:cNvSpPr/>
            <p:nvPr/>
          </p:nvSpPr>
          <p:spPr>
            <a:xfrm>
              <a:off x="852998" y="2869831"/>
              <a:ext cx="2137548" cy="2096591"/>
            </a:xfrm>
            <a:prstGeom prst="arc">
              <a:avLst>
                <a:gd name="adj1" fmla="val 16400852"/>
                <a:gd name="adj2" fmla="val 12348078"/>
              </a:avLst>
            </a:prstGeom>
            <a:solidFill>
              <a:schemeClr val="accent1">
                <a:lumMod val="20000"/>
                <a:lumOff val="80000"/>
                <a:alpha val="40000"/>
              </a:schemeClr>
            </a:solidFill>
            <a:ln w="25400">
              <a:solidFill>
                <a:schemeClr val="accent1">
                  <a:lumMod val="40000"/>
                  <a:lumOff val="60000"/>
                  <a:alpha val="40000"/>
                </a:schemeClr>
              </a:solidFill>
            </a:ln>
          </p:spPr>
          <p:style>
            <a:lnRef idx="1">
              <a:schemeClr val="accent1"/>
            </a:lnRef>
            <a:fillRef idx="0">
              <a:schemeClr val="accent1"/>
            </a:fillRef>
            <a:effectRef idx="0">
              <a:schemeClr val="accent1"/>
            </a:effectRef>
            <a:fontRef idx="minor">
              <a:schemeClr val="tx1"/>
            </a:fontRef>
          </p:style>
          <p:txBody>
            <a:bodyPr wrap="none" lIns="1097280" tIns="0" rIns="0" bIns="91440" rtlCol="0" anchor="b" anchorCtr="1"/>
            <a:lstStyle/>
            <a:p>
              <a:pPr algn="ct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sp>
          <p:nvSpPr>
            <p:cNvPr id="9" name="雲朵形 8">
              <a:extLst>
                <a:ext uri="{FF2B5EF4-FFF2-40B4-BE49-F238E27FC236}">
                  <a16:creationId xmlns:a16="http://schemas.microsoft.com/office/drawing/2014/main" id="{0D4D7F0B-3B8A-40C4-3859-2BE266019CFB}"/>
                </a:ext>
              </a:extLst>
            </p:cNvPr>
            <p:cNvSpPr/>
            <p:nvPr/>
          </p:nvSpPr>
          <p:spPr>
            <a:xfrm>
              <a:off x="852998" y="2783412"/>
              <a:ext cx="1400005" cy="8185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10" name="文字方塊 9">
              <a:extLst>
                <a:ext uri="{FF2B5EF4-FFF2-40B4-BE49-F238E27FC236}">
                  <a16:creationId xmlns:a16="http://schemas.microsoft.com/office/drawing/2014/main" id="{0933DF4D-AD42-441A-13FF-5E50431F984F}"/>
                </a:ext>
              </a:extLst>
            </p:cNvPr>
            <p:cNvSpPr txBox="1"/>
            <p:nvPr/>
          </p:nvSpPr>
          <p:spPr>
            <a:xfrm>
              <a:off x="1285046" y="4223572"/>
              <a:ext cx="1024639" cy="323239"/>
            </a:xfrm>
            <a:prstGeom prst="rect">
              <a:avLst/>
            </a:prstGeom>
            <a:noFill/>
          </p:spPr>
          <p:txBody>
            <a:bodyPr wrap="none" tIns="0" rIns="0" bIns="0" anchor="ctr" anchorCtr="0">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Edge AI</a:t>
              </a:r>
            </a:p>
          </p:txBody>
        </p:sp>
        <p:cxnSp>
          <p:nvCxnSpPr>
            <p:cNvPr id="11" name="直線單箭頭接點 10">
              <a:extLst>
                <a:ext uri="{FF2B5EF4-FFF2-40B4-BE49-F238E27FC236}">
                  <a16:creationId xmlns:a16="http://schemas.microsoft.com/office/drawing/2014/main" id="{61D0780E-0D93-AC04-23AC-5BC70DB675D1}"/>
                </a:ext>
              </a:extLst>
            </p:cNvPr>
            <p:cNvCxnSpPr>
              <a:cxnSpLocks/>
              <a:stCxn id="13" idx="2"/>
              <a:endCxn id="10" idx="0"/>
            </p:cNvCxnSpPr>
            <p:nvPr/>
          </p:nvCxnSpPr>
          <p:spPr>
            <a:xfrm>
              <a:off x="1456803" y="3454996"/>
              <a:ext cx="340563" cy="768576"/>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13" name="文字方塊 12">
              <a:extLst>
                <a:ext uri="{FF2B5EF4-FFF2-40B4-BE49-F238E27FC236}">
                  <a16:creationId xmlns:a16="http://schemas.microsoft.com/office/drawing/2014/main" id="{1E98D504-3706-7625-D7D4-1EF4B42EEE93}"/>
                </a:ext>
              </a:extLst>
            </p:cNvPr>
            <p:cNvSpPr txBox="1"/>
            <p:nvPr/>
          </p:nvSpPr>
          <p:spPr>
            <a:xfrm>
              <a:off x="980487" y="2999436"/>
              <a:ext cx="952631" cy="455560"/>
            </a:xfrm>
            <a:prstGeom prst="rect">
              <a:avLst/>
            </a:prstGeom>
            <a:noFill/>
          </p:spPr>
          <p:txBody>
            <a:bodyPr wrap="none" lIns="0" tIns="0" rIns="0" bIns="0" anchor="ctr" anchorCtr="1">
              <a:noAutofit/>
            </a:bodyPr>
            <a:lstStyle/>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Cloude</a:t>
              </a:r>
            </a:p>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 AI</a:t>
              </a:r>
            </a:p>
          </p:txBody>
        </p:sp>
      </p:grpSp>
      <p:sp>
        <p:nvSpPr>
          <p:cNvPr id="8" name="標題 1">
            <a:extLst>
              <a:ext uri="{FF2B5EF4-FFF2-40B4-BE49-F238E27FC236}">
                <a16:creationId xmlns:a16="http://schemas.microsoft.com/office/drawing/2014/main" id="{173EE053-1FAE-538C-ABFD-598B0D03DD4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Emerging Trends in AI Systems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From Scale-Driven infrastructure to intelligence at the edge.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4" name="表格 3">
            <a:extLst>
              <a:ext uri="{FF2B5EF4-FFF2-40B4-BE49-F238E27FC236}">
                <a16:creationId xmlns:a16="http://schemas.microsoft.com/office/drawing/2014/main" id="{EBD64A5D-812A-71D3-28E3-739F618DBFC8}"/>
              </a:ext>
            </a:extLst>
          </p:cNvPr>
          <p:cNvGraphicFramePr>
            <a:graphicFrameLocks noGrp="1"/>
          </p:cNvGraphicFramePr>
          <p:nvPr>
            <p:extLst>
              <p:ext uri="{D42A27DB-BD31-4B8C-83A1-F6EECF244321}">
                <p14:modId xmlns:p14="http://schemas.microsoft.com/office/powerpoint/2010/main" val="353124642"/>
              </p:ext>
            </p:extLst>
          </p:nvPr>
        </p:nvGraphicFramePr>
        <p:xfrm>
          <a:off x="3635896" y="2060847"/>
          <a:ext cx="2736304" cy="1584177"/>
        </p:xfrm>
        <a:graphic>
          <a:graphicData uri="http://schemas.openxmlformats.org/drawingml/2006/table">
            <a:tbl>
              <a:tblPr firstRow="1" bandRow="1">
                <a:tableStyleId>{5C22544A-7EE6-4342-B048-85BDC9FD1C3A}</a:tableStyleId>
              </a:tblPr>
              <a:tblGrid>
                <a:gridCol w="936104">
                  <a:extLst>
                    <a:ext uri="{9D8B030D-6E8A-4147-A177-3AD203B41FA5}">
                      <a16:colId xmlns:a16="http://schemas.microsoft.com/office/drawing/2014/main" val="2211145501"/>
                    </a:ext>
                  </a:extLst>
                </a:gridCol>
                <a:gridCol w="888098">
                  <a:extLst>
                    <a:ext uri="{9D8B030D-6E8A-4147-A177-3AD203B41FA5}">
                      <a16:colId xmlns:a16="http://schemas.microsoft.com/office/drawing/2014/main" val="767948712"/>
                    </a:ext>
                  </a:extLst>
                </a:gridCol>
                <a:gridCol w="912102">
                  <a:extLst>
                    <a:ext uri="{9D8B030D-6E8A-4147-A177-3AD203B41FA5}">
                      <a16:colId xmlns:a16="http://schemas.microsoft.com/office/drawing/2014/main" val="2975023522"/>
                    </a:ext>
                  </a:extLst>
                </a:gridCol>
              </a:tblGrid>
              <a:tr h="307254">
                <a:tc>
                  <a:txBody>
                    <a:bodyPr/>
                    <a:lstStyle/>
                    <a:p>
                      <a:endParaRPr lang="zh-TW" altLang="en-US" sz="1600" b="1"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LLM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SLM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07254">
                <a:tc>
                  <a:txBody>
                    <a:bodyPr/>
                    <a:lstStyle/>
                    <a:p>
                      <a:r>
                        <a:rPr lang="en-US" altLang="zh-TW" sz="1200" b="0" cap="none" spc="0" dirty="0">
                          <a:ln w="0"/>
                          <a:solidFill>
                            <a:schemeClr val="tx1"/>
                          </a:solidFill>
                          <a:effectLst/>
                        </a:rPr>
                        <a:t>Parameter</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70B~405B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3~8B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307254">
                <a:tc>
                  <a:txBody>
                    <a:bodyPr/>
                    <a:lstStyle/>
                    <a:p>
                      <a:r>
                        <a:rPr lang="en-US" altLang="zh-TW" sz="1200" b="0" cap="none" spc="0" dirty="0">
                          <a:ln w="0"/>
                          <a:solidFill>
                            <a:schemeClr val="tx1"/>
                          </a:solidFill>
                          <a:effectLst/>
                        </a:rPr>
                        <a:t>H/W</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GPUs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NPU/SoC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94745">
                <a:tc>
                  <a:txBody>
                    <a:bodyPr/>
                    <a:lstStyle/>
                    <a:p>
                      <a:r>
                        <a:rPr lang="en-US" altLang="zh-TW" sz="1200" b="0" cap="none" spc="0" dirty="0">
                          <a:ln w="0"/>
                          <a:solidFill>
                            <a:schemeClr val="tx1"/>
                          </a:solidFill>
                          <a:effectLst/>
                        </a:rPr>
                        <a:t>Memory</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HBM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4~16GB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367670">
                <a:tc>
                  <a:txBody>
                    <a:bodyPr/>
                    <a:lstStyle/>
                    <a:p>
                      <a:r>
                        <a:rPr lang="en-US" altLang="zh-TW" sz="1200" b="0" cap="none" spc="0" dirty="0">
                          <a:ln w="0">
                            <a:noFill/>
                          </a:ln>
                          <a:solidFill>
                            <a:schemeClr val="tx1"/>
                          </a:solidFill>
                          <a:effectLst/>
                        </a:rPr>
                        <a:t>Power</a:t>
                      </a:r>
                    </a:p>
                    <a:p>
                      <a:r>
                        <a:rPr lang="en-US" altLang="zh-TW" sz="1200" b="0" cap="none" spc="0" dirty="0">
                          <a:ln w="0">
                            <a:noFill/>
                          </a:ln>
                          <a:solidFill>
                            <a:schemeClr val="tx1"/>
                          </a:solidFill>
                          <a:effectLst/>
                        </a:rPr>
                        <a:t>Consumption</a:t>
                      </a:r>
                      <a:endParaRPr lang="zh-TW" altLang="en-US" sz="1200" b="0" cap="none" spc="0" dirty="0">
                        <a:ln w="0">
                          <a:noFill/>
                        </a:ln>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MW</a:t>
                      </a:r>
                    </a:p>
                    <a:p>
                      <a:pPr algn="ctr"/>
                      <a:r>
                        <a:rPr lang="en-US" altLang="zh-TW" sz="1200" b="0" cap="none" spc="0" dirty="0">
                          <a:ln w="0">
                            <a:noFill/>
                          </a:ln>
                          <a:solidFill>
                            <a:schemeClr val="tx1"/>
                          </a:solidFill>
                          <a:effectLst/>
                        </a:rPr>
                        <a:t>(Cooling)</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W</a:t>
                      </a:r>
                    </a:p>
                    <a:p>
                      <a:pPr algn="ctr"/>
                      <a:r>
                        <a:rPr lang="en-US" altLang="zh-TW" sz="1200" b="0" cap="none" spc="0" dirty="0">
                          <a:ln w="0">
                            <a:noFill/>
                          </a:ln>
                          <a:solidFill>
                            <a:schemeClr val="tx1"/>
                          </a:solidFill>
                          <a:effectLst/>
                        </a:rPr>
                        <a:t>(FAN)</a:t>
                      </a:r>
                      <a:endParaRPr lang="zh-TW" altLang="en-US" sz="1200" b="0" cap="none" spc="0" dirty="0">
                        <a:ln w="0">
                          <a:noFill/>
                        </a:ln>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01787730"/>
                  </a:ext>
                </a:extLst>
              </a:tr>
            </a:tbl>
          </a:graphicData>
        </a:graphic>
      </p:graphicFrame>
      <p:graphicFrame>
        <p:nvGraphicFramePr>
          <p:cNvPr id="2" name="表格 1">
            <a:extLst>
              <a:ext uri="{FF2B5EF4-FFF2-40B4-BE49-F238E27FC236}">
                <a16:creationId xmlns:a16="http://schemas.microsoft.com/office/drawing/2014/main" id="{6749B70F-5258-6FA9-79B1-4335864F07BE}"/>
              </a:ext>
            </a:extLst>
          </p:cNvPr>
          <p:cNvGraphicFramePr>
            <a:graphicFrameLocks noGrp="1"/>
          </p:cNvGraphicFramePr>
          <p:nvPr>
            <p:extLst>
              <p:ext uri="{D42A27DB-BD31-4B8C-83A1-F6EECF244321}">
                <p14:modId xmlns:p14="http://schemas.microsoft.com/office/powerpoint/2010/main" val="3834415938"/>
              </p:ext>
            </p:extLst>
          </p:nvPr>
        </p:nvGraphicFramePr>
        <p:xfrm>
          <a:off x="1115616" y="2880605"/>
          <a:ext cx="1645007" cy="764419"/>
        </p:xfrm>
        <a:graphic>
          <a:graphicData uri="http://schemas.openxmlformats.org/drawingml/2006/table">
            <a:tbl>
              <a:tblPr firstRow="1" bandRow="1">
                <a:tableStyleId>{5C22544A-7EE6-4342-B048-85BDC9FD1C3A}</a:tableStyleId>
              </a:tblPr>
              <a:tblGrid>
                <a:gridCol w="1645007">
                  <a:extLst>
                    <a:ext uri="{9D8B030D-6E8A-4147-A177-3AD203B41FA5}">
                      <a16:colId xmlns:a16="http://schemas.microsoft.com/office/drawing/2014/main" val="2211145501"/>
                    </a:ext>
                  </a:extLst>
                </a:gridCol>
              </a:tblGrid>
              <a:tr h="2157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On-premise and Local</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06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1"/>
                          </a:solidFill>
                          <a:effectLst/>
                          <a:uLnTx/>
                          <a:uFillTx/>
                          <a:latin typeface="+mn-lt"/>
                          <a:ea typeface="+mn-ea"/>
                          <a:cs typeface="+mn-cs"/>
                        </a:rPr>
                        <a:t>Enabling secure, low-latency, and privacy-first on-device 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graphicFrame>
        <p:nvGraphicFramePr>
          <p:cNvPr id="3" name="表格 2">
            <a:extLst>
              <a:ext uri="{FF2B5EF4-FFF2-40B4-BE49-F238E27FC236}">
                <a16:creationId xmlns:a16="http://schemas.microsoft.com/office/drawing/2014/main" id="{8D203658-CE58-BAA2-6096-1412F7920719}"/>
              </a:ext>
            </a:extLst>
          </p:cNvPr>
          <p:cNvGraphicFramePr>
            <a:graphicFrameLocks noGrp="1"/>
          </p:cNvGraphicFramePr>
          <p:nvPr>
            <p:extLst>
              <p:ext uri="{D42A27DB-BD31-4B8C-83A1-F6EECF244321}">
                <p14:modId xmlns:p14="http://schemas.microsoft.com/office/powerpoint/2010/main" val="3028042699"/>
              </p:ext>
            </p:extLst>
          </p:nvPr>
        </p:nvGraphicFramePr>
        <p:xfrm>
          <a:off x="323528" y="1844824"/>
          <a:ext cx="1233671" cy="548640"/>
        </p:xfrm>
        <a:graphic>
          <a:graphicData uri="http://schemas.openxmlformats.org/drawingml/2006/table">
            <a:tbl>
              <a:tblPr firstRow="1" bandRow="1">
                <a:tableStyleId>{5C22544A-7EE6-4342-B048-85BDC9FD1C3A}</a:tableStyleId>
              </a:tblPr>
              <a:tblGrid>
                <a:gridCol w="1233671">
                  <a:extLst>
                    <a:ext uri="{9D8B030D-6E8A-4147-A177-3AD203B41FA5}">
                      <a16:colId xmlns:a16="http://schemas.microsoft.com/office/drawing/2014/main" val="4512040"/>
                    </a:ext>
                  </a:extLst>
                </a:gridCol>
              </a:tblGrid>
              <a:tr h="157083">
                <a:tc>
                  <a:txBody>
                    <a:bodyPr/>
                    <a:lstStyle/>
                    <a:p>
                      <a:pPr algn="ctr"/>
                      <a:r>
                        <a:rPr lang="en-US" altLang="zh-TW" sz="1200" b="1" cap="none" spc="0" dirty="0">
                          <a:ln w="0"/>
                          <a:solidFill>
                            <a:schemeClr val="tx1"/>
                          </a:solidFill>
                          <a:effectLst/>
                        </a:rPr>
                        <a:t>Data Center</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314166">
                <a:tc>
                  <a:txBody>
                    <a:bodyPr/>
                    <a:lstStyle/>
                    <a:p>
                      <a:pPr algn="ctr"/>
                      <a:r>
                        <a:rPr lang="en-US" altLang="zh-TW" sz="1200" b="0" cap="none" spc="0" dirty="0">
                          <a:ln w="0"/>
                          <a:solidFill>
                            <a:schemeClr val="tx1"/>
                          </a:solidFill>
                          <a:effectLst/>
                        </a:rPr>
                        <a:t>Azure, AWS, GPT, </a:t>
                      </a:r>
                    </a:p>
                    <a:p>
                      <a:pPr algn="ctr"/>
                      <a:r>
                        <a:rPr lang="en-US" altLang="zh-TW" sz="1200" b="0" cap="none" spc="0" dirty="0">
                          <a:ln w="0"/>
                          <a:solidFill>
                            <a:schemeClr val="tx1"/>
                          </a:solidFill>
                          <a:effectLst/>
                        </a:rPr>
                        <a:t>Cloud Code, Grok</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pic>
        <p:nvPicPr>
          <p:cNvPr id="30" name="圖形 29" descr="聊天 外框">
            <a:extLst>
              <a:ext uri="{FF2B5EF4-FFF2-40B4-BE49-F238E27FC236}">
                <a16:creationId xmlns:a16="http://schemas.microsoft.com/office/drawing/2014/main" id="{420F4A24-C4A0-7481-631F-F979E20E429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74812" y="1611274"/>
            <a:ext cx="432048" cy="437310"/>
          </a:xfrm>
          <a:prstGeom prst="rect">
            <a:avLst/>
          </a:prstGeom>
        </p:spPr>
      </p:pic>
      <p:pic>
        <p:nvPicPr>
          <p:cNvPr id="36" name="圖形 35" descr="火箭 以實心填滿">
            <a:extLst>
              <a:ext uri="{FF2B5EF4-FFF2-40B4-BE49-F238E27FC236}">
                <a16:creationId xmlns:a16="http://schemas.microsoft.com/office/drawing/2014/main" id="{6F139867-337F-D82D-3EDB-17ACEAD4CBB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flipH="1">
            <a:off x="4788022" y="1623537"/>
            <a:ext cx="432049" cy="412785"/>
          </a:xfrm>
          <a:prstGeom prst="rect">
            <a:avLst/>
          </a:prstGeom>
        </p:spPr>
      </p:pic>
      <p:grpSp>
        <p:nvGrpSpPr>
          <p:cNvPr id="65" name="群組 64">
            <a:extLst>
              <a:ext uri="{FF2B5EF4-FFF2-40B4-BE49-F238E27FC236}">
                <a16:creationId xmlns:a16="http://schemas.microsoft.com/office/drawing/2014/main" id="{1E469BA8-F7E1-AC03-F347-D7475012394A}"/>
              </a:ext>
            </a:extLst>
          </p:cNvPr>
          <p:cNvGrpSpPr/>
          <p:nvPr/>
        </p:nvGrpSpPr>
        <p:grpSpPr>
          <a:xfrm>
            <a:off x="6941351" y="2185041"/>
            <a:ext cx="1518309" cy="1602114"/>
            <a:chOff x="4274012" y="1078134"/>
            <a:chExt cx="1518309" cy="1602114"/>
          </a:xfrm>
        </p:grpSpPr>
        <p:sp>
          <p:nvSpPr>
            <p:cNvPr id="14" name="文字方塊 13">
              <a:extLst>
                <a:ext uri="{FF2B5EF4-FFF2-40B4-BE49-F238E27FC236}">
                  <a16:creationId xmlns:a16="http://schemas.microsoft.com/office/drawing/2014/main" id="{7AF41651-90D4-7A66-AD77-720473A37325}"/>
                </a:ext>
              </a:extLst>
            </p:cNvPr>
            <p:cNvSpPr txBox="1"/>
            <p:nvPr/>
          </p:nvSpPr>
          <p:spPr>
            <a:xfrm>
              <a:off x="4274012" y="1078134"/>
              <a:ext cx="1518309" cy="307855"/>
            </a:xfrm>
            <a:prstGeom prst="rect">
              <a:avLst/>
            </a:prstGeom>
            <a:noFill/>
          </p:spPr>
          <p:txBody>
            <a:bodyPr wrap="none" lIns="0" tIns="0" rIns="0" bIns="0" anchor="ctr" anchorCtr="1">
              <a:noAutofit/>
            </a:bodyPr>
            <a:lstStyle/>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Prompt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w="0"/>
                  <a:effectLst/>
                  <a:uLnTx/>
                  <a:uFillTx/>
                  <a:latin typeface="+mn-lt"/>
                  <a:ea typeface="+mn-ea"/>
                  <a:cs typeface="+mn-cs"/>
                </a:rPr>
                <a:t>Context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p>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Loop </a:t>
              </a:r>
              <a:r>
                <a:rPr lang="en-US" altLang="zh-TW" sz="1000" dirty="0">
                  <a:ln w="0"/>
                </a:rPr>
                <a:t>Engineering</a:t>
              </a:r>
            </a:p>
          </p:txBody>
        </p:sp>
        <p:sp>
          <p:nvSpPr>
            <p:cNvPr id="38" name="標題 1">
              <a:extLst>
                <a:ext uri="{FF2B5EF4-FFF2-40B4-BE49-F238E27FC236}">
                  <a16:creationId xmlns:a16="http://schemas.microsoft.com/office/drawing/2014/main" id="{87D62E95-7E01-5332-D940-CF554EFD131C}"/>
                </a:ext>
              </a:extLst>
            </p:cNvPr>
            <p:cNvSpPr txBox="1">
              <a:spLocks/>
            </p:cNvSpPr>
            <p:nvPr/>
          </p:nvSpPr>
          <p:spPr>
            <a:xfrm>
              <a:off x="4800968" y="1885170"/>
              <a:ext cx="431230" cy="267546"/>
            </a:xfrm>
            <a:prstGeom prst="rect">
              <a:avLst/>
            </a:prstGeom>
            <a:solidFill>
              <a:schemeClr val="bg1">
                <a:lumMod val="95000"/>
              </a:schemeClr>
            </a:solidFill>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Inner</a:t>
              </a:r>
            </a:p>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Loop</a:t>
              </a:r>
            </a:p>
          </p:txBody>
        </p:sp>
        <p:sp>
          <p:nvSpPr>
            <p:cNvPr id="50" name="箭號: 圓形 49">
              <a:extLst>
                <a:ext uri="{FF2B5EF4-FFF2-40B4-BE49-F238E27FC236}">
                  <a16:creationId xmlns:a16="http://schemas.microsoft.com/office/drawing/2014/main" id="{0B8D31FF-A3E8-DC86-44F4-5106EBF06206}"/>
                </a:ext>
              </a:extLst>
            </p:cNvPr>
            <p:cNvSpPr/>
            <p:nvPr/>
          </p:nvSpPr>
          <p:spPr>
            <a:xfrm rot="16200000">
              <a:off x="4523405" y="1427573"/>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2" name="箭號: 圓形 51">
              <a:extLst>
                <a:ext uri="{FF2B5EF4-FFF2-40B4-BE49-F238E27FC236}">
                  <a16:creationId xmlns:a16="http://schemas.microsoft.com/office/drawing/2014/main" id="{149D98FB-0C8E-5136-534E-C763780C7F88}"/>
                </a:ext>
              </a:extLst>
            </p:cNvPr>
            <p:cNvSpPr/>
            <p:nvPr/>
          </p:nvSpPr>
          <p:spPr>
            <a:xfrm rot="12456023">
              <a:off x="4488268" y="1340768"/>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4" name="箭號: 圓形 43">
              <a:extLst>
                <a:ext uri="{FF2B5EF4-FFF2-40B4-BE49-F238E27FC236}">
                  <a16:creationId xmlns:a16="http://schemas.microsoft.com/office/drawing/2014/main" id="{DA0E1FC1-8732-E621-AB9F-97C45888F45E}"/>
                </a:ext>
              </a:extLst>
            </p:cNvPr>
            <p:cNvSpPr/>
            <p:nvPr/>
          </p:nvSpPr>
          <p:spPr>
            <a:xfrm rot="8156061">
              <a:off x="4369823" y="1340769"/>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6" name="箭號: 圓形 45">
              <a:extLst>
                <a:ext uri="{FF2B5EF4-FFF2-40B4-BE49-F238E27FC236}">
                  <a16:creationId xmlns:a16="http://schemas.microsoft.com/office/drawing/2014/main" id="{02D3CBA7-9E8C-E8F1-5B9F-FCEB52ED5E4E}"/>
                </a:ext>
              </a:extLst>
            </p:cNvPr>
            <p:cNvSpPr/>
            <p:nvPr/>
          </p:nvSpPr>
          <p:spPr>
            <a:xfrm rot="3488493">
              <a:off x="4336219" y="1453759"/>
              <a:ext cx="1160619" cy="1182741"/>
            </a:xfrm>
            <a:prstGeom prst="circularArrow">
              <a:avLst>
                <a:gd name="adj1" fmla="val 12179"/>
                <a:gd name="adj2" fmla="val 1779789"/>
                <a:gd name="adj3" fmla="val 18808865"/>
                <a:gd name="adj4" fmla="val 15599882"/>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6" name="標題 1">
              <a:extLst>
                <a:ext uri="{FF2B5EF4-FFF2-40B4-BE49-F238E27FC236}">
                  <a16:creationId xmlns:a16="http://schemas.microsoft.com/office/drawing/2014/main" id="{138EABD0-2C04-DF6F-1849-74ED87F7F169}"/>
                </a:ext>
              </a:extLst>
            </p:cNvPr>
            <p:cNvSpPr txBox="1">
              <a:spLocks/>
            </p:cNvSpPr>
            <p:nvPr/>
          </p:nvSpPr>
          <p:spPr>
            <a:xfrm>
              <a:off x="5327020" y="1965359"/>
              <a:ext cx="465301"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58" name="標題 1">
              <a:extLst>
                <a:ext uri="{FF2B5EF4-FFF2-40B4-BE49-F238E27FC236}">
                  <a16:creationId xmlns:a16="http://schemas.microsoft.com/office/drawing/2014/main" id="{FCA58CCC-1E8C-CFF0-980E-9215DF4E101E}"/>
                </a:ext>
              </a:extLst>
            </p:cNvPr>
            <p:cNvSpPr txBox="1">
              <a:spLocks/>
            </p:cNvSpPr>
            <p:nvPr/>
          </p:nvSpPr>
          <p:spPr>
            <a:xfrm>
              <a:off x="4946010" y="2324659"/>
              <a:ext cx="763092"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62" name="標題 1">
              <a:extLst>
                <a:ext uri="{FF2B5EF4-FFF2-40B4-BE49-F238E27FC236}">
                  <a16:creationId xmlns:a16="http://schemas.microsoft.com/office/drawing/2014/main" id="{E0CF131C-F831-6A6D-4C79-FD3486882B43}"/>
                </a:ext>
              </a:extLst>
            </p:cNvPr>
            <p:cNvSpPr txBox="1">
              <a:spLocks/>
            </p:cNvSpPr>
            <p:nvPr/>
          </p:nvSpPr>
          <p:spPr>
            <a:xfrm>
              <a:off x="4368581" y="2108635"/>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Adjustment</a:t>
              </a:r>
            </a:p>
          </p:txBody>
        </p:sp>
        <p:sp>
          <p:nvSpPr>
            <p:cNvPr id="48" name="箭號: 圓形 47">
              <a:extLst>
                <a:ext uri="{FF2B5EF4-FFF2-40B4-BE49-F238E27FC236}">
                  <a16:creationId xmlns:a16="http://schemas.microsoft.com/office/drawing/2014/main" id="{62963EC7-06CC-6D66-D4DD-2DF481D4E278}"/>
                </a:ext>
              </a:extLst>
            </p:cNvPr>
            <p:cNvSpPr/>
            <p:nvPr/>
          </p:nvSpPr>
          <p:spPr>
            <a:xfrm rot="20976356">
              <a:off x="4444793" y="1497507"/>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37" name="標題 1">
              <a:extLst>
                <a:ext uri="{FF2B5EF4-FFF2-40B4-BE49-F238E27FC236}">
                  <a16:creationId xmlns:a16="http://schemas.microsoft.com/office/drawing/2014/main" id="{C724F3AB-3E80-0D86-639D-2353C974E711}"/>
                </a:ext>
              </a:extLst>
            </p:cNvPr>
            <p:cNvSpPr txBox="1">
              <a:spLocks/>
            </p:cNvSpPr>
            <p:nvPr/>
          </p:nvSpPr>
          <p:spPr>
            <a:xfrm>
              <a:off x="5069766" y="1522467"/>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Context</a:t>
              </a:r>
            </a:p>
          </p:txBody>
        </p:sp>
        <p:sp>
          <p:nvSpPr>
            <p:cNvPr id="60" name="標題 1">
              <a:extLst>
                <a:ext uri="{FF2B5EF4-FFF2-40B4-BE49-F238E27FC236}">
                  <a16:creationId xmlns:a16="http://schemas.microsoft.com/office/drawing/2014/main" id="{B40E21B5-83EE-286B-B6AB-AFE9612176F1}"/>
                </a:ext>
              </a:extLst>
            </p:cNvPr>
            <p:cNvSpPr txBox="1">
              <a:spLocks/>
            </p:cNvSpPr>
            <p:nvPr/>
          </p:nvSpPr>
          <p:spPr>
            <a:xfrm>
              <a:off x="4413254" y="1604579"/>
              <a:ext cx="464606" cy="214204"/>
            </a:xfrm>
            <a:prstGeom prst="rect">
              <a:avLst/>
            </a:prstGeom>
            <a:solidFill>
              <a:schemeClr val="bg1">
                <a:alpha val="6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Intent</a:t>
              </a:r>
            </a:p>
          </p:txBody>
        </p:sp>
      </p:grpSp>
      <p:sp>
        <p:nvSpPr>
          <p:cNvPr id="67" name="文字方塊 66">
            <a:extLst>
              <a:ext uri="{FF2B5EF4-FFF2-40B4-BE49-F238E27FC236}">
                <a16:creationId xmlns:a16="http://schemas.microsoft.com/office/drawing/2014/main" id="{55AA15AF-07E4-21AE-FD1F-75968C21AF29}"/>
              </a:ext>
            </a:extLst>
          </p:cNvPr>
          <p:cNvSpPr txBox="1"/>
          <p:nvPr/>
        </p:nvSpPr>
        <p:spPr>
          <a:xfrm>
            <a:off x="2760623" y="3670357"/>
            <a:ext cx="1024639" cy="323239"/>
          </a:xfrm>
          <a:prstGeom prst="rect">
            <a:avLst/>
          </a:prstGeom>
          <a:noFill/>
        </p:spPr>
        <p:txBody>
          <a:bodyPr wrap="none" tIns="0" rIns="0" bIns="0" anchor="ctr" anchorCtr="0">
            <a:noAutofit/>
          </a:bodyPr>
          <a:lstStyle/>
          <a:p>
            <a:r>
              <a:rPr lang="en-US" altLang="zh-TW" sz="1400"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AI Agent</a:t>
            </a:r>
          </a:p>
        </p:txBody>
      </p:sp>
      <p:cxnSp>
        <p:nvCxnSpPr>
          <p:cNvPr id="68" name="直線單箭頭接點 67">
            <a:extLst>
              <a:ext uri="{FF2B5EF4-FFF2-40B4-BE49-F238E27FC236}">
                <a16:creationId xmlns:a16="http://schemas.microsoft.com/office/drawing/2014/main" id="{17027F27-BC6C-F7FB-E459-B325FE5A0B38}"/>
              </a:ext>
            </a:extLst>
          </p:cNvPr>
          <p:cNvCxnSpPr>
            <a:cxnSpLocks/>
            <a:stCxn id="2" idx="3"/>
            <a:endCxn id="67" idx="0"/>
          </p:cNvCxnSpPr>
          <p:nvPr/>
        </p:nvCxnSpPr>
        <p:spPr>
          <a:xfrm>
            <a:off x="2760623" y="3262814"/>
            <a:ext cx="512320" cy="407543"/>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621731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流程圖: 合併 49">
            <a:extLst>
              <a:ext uri="{FF2B5EF4-FFF2-40B4-BE49-F238E27FC236}">
                <a16:creationId xmlns:a16="http://schemas.microsoft.com/office/drawing/2014/main" id="{8447D011-EBCC-D1FB-0C69-2143A03943FE}"/>
              </a:ext>
            </a:extLst>
          </p:cNvPr>
          <p:cNvSpPr/>
          <p:nvPr/>
        </p:nvSpPr>
        <p:spPr>
          <a:xfrm>
            <a:off x="4716016" y="4437112"/>
            <a:ext cx="432048" cy="2139202"/>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aphicFrame>
        <p:nvGraphicFramePr>
          <p:cNvPr id="13" name="表格 12">
            <a:extLst>
              <a:ext uri="{FF2B5EF4-FFF2-40B4-BE49-F238E27FC236}">
                <a16:creationId xmlns:a16="http://schemas.microsoft.com/office/drawing/2014/main" id="{94A6F720-5FB8-E782-4A1C-29BF54922BED}"/>
              </a:ext>
            </a:extLst>
          </p:cNvPr>
          <p:cNvGraphicFramePr>
            <a:graphicFrameLocks noGrp="1"/>
          </p:cNvGraphicFramePr>
          <p:nvPr>
            <p:extLst>
              <p:ext uri="{D42A27DB-BD31-4B8C-83A1-F6EECF244321}">
                <p14:modId xmlns:p14="http://schemas.microsoft.com/office/powerpoint/2010/main" val="2760904480"/>
              </p:ext>
            </p:extLst>
          </p:nvPr>
        </p:nvGraphicFramePr>
        <p:xfrm>
          <a:off x="716896" y="4131303"/>
          <a:ext cx="7704856" cy="2322033"/>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857032">
                  <a:extLst>
                    <a:ext uri="{9D8B030D-6E8A-4147-A177-3AD203B41FA5}">
                      <a16:colId xmlns:a16="http://schemas.microsoft.com/office/drawing/2014/main" val="2211145501"/>
                    </a:ext>
                  </a:extLst>
                </a:gridCol>
                <a:gridCol w="731974">
                  <a:extLst>
                    <a:ext uri="{9D8B030D-6E8A-4147-A177-3AD203B41FA5}">
                      <a16:colId xmlns:a16="http://schemas.microsoft.com/office/drawing/2014/main" val="767948712"/>
                    </a:ext>
                  </a:extLst>
                </a:gridCol>
                <a:gridCol w="1060818">
                  <a:extLst>
                    <a:ext uri="{9D8B030D-6E8A-4147-A177-3AD203B41FA5}">
                      <a16:colId xmlns:a16="http://schemas.microsoft.com/office/drawing/2014/main" val="3328686525"/>
                    </a:ext>
                  </a:extLst>
                </a:gridCol>
                <a:gridCol w="993728">
                  <a:extLst>
                    <a:ext uri="{9D8B030D-6E8A-4147-A177-3AD203B41FA5}">
                      <a16:colId xmlns:a16="http://schemas.microsoft.com/office/drawing/2014/main" val="3752581630"/>
                    </a:ext>
                  </a:extLst>
                </a:gridCol>
                <a:gridCol w="993728">
                  <a:extLst>
                    <a:ext uri="{9D8B030D-6E8A-4147-A177-3AD203B41FA5}">
                      <a16:colId xmlns:a16="http://schemas.microsoft.com/office/drawing/2014/main" val="3948573510"/>
                    </a:ext>
                  </a:extLst>
                </a:gridCol>
                <a:gridCol w="993728">
                  <a:extLst>
                    <a:ext uri="{9D8B030D-6E8A-4147-A177-3AD203B41FA5}">
                      <a16:colId xmlns:a16="http://schemas.microsoft.com/office/drawing/2014/main" val="2054525474"/>
                    </a:ext>
                  </a:extLst>
                </a:gridCol>
                <a:gridCol w="993728">
                  <a:extLst>
                    <a:ext uri="{9D8B030D-6E8A-4147-A177-3AD203B41FA5}">
                      <a16:colId xmlns:a16="http://schemas.microsoft.com/office/drawing/2014/main" val="1920063261"/>
                    </a:ext>
                  </a:extLst>
                </a:gridCol>
              </a:tblGrid>
              <a:tr h="328084">
                <a:tc rowSpan="2">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Version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Type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Language</a:t>
                      </a:r>
                    </a:p>
                    <a:p>
                      <a:pPr algn="ctr"/>
                      <a:r>
                        <a:rPr lang="en-US" altLang="zh-TW" sz="1200" b="0" cap="none" spc="0" dirty="0">
                          <a:ln w="0"/>
                          <a:solidFill>
                            <a:schemeClr val="tx1"/>
                          </a:solidFill>
                          <a:effectLst/>
                        </a:rPr>
                        <a:t>Model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4">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6024">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FP16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SFP8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Q4_0</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81155207"/>
                  </a:ext>
                </a:extLst>
              </a:tr>
              <a:tr h="280563">
                <a:tc rowSpan="2">
                  <a:txBody>
                    <a:bodyPr/>
                    <a:lstStyle/>
                    <a:p>
                      <a:pPr algn="l"/>
                      <a:r>
                        <a:rPr lang="en-US" altLang="zh-TW" sz="1200" b="0" cap="none" spc="0" dirty="0">
                          <a:ln w="0"/>
                          <a:solidFill>
                            <a:schemeClr val="tx1"/>
                          </a:solidFill>
                          <a:effectLst/>
                        </a:rPr>
                        <a:t>Server</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58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17.5</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82991">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26B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MoE,</a:t>
                      </a:r>
                    </a:p>
                    <a:p>
                      <a:pPr algn="ctr"/>
                      <a:r>
                        <a:rPr lang="en-US" altLang="zh-TW" sz="1200" b="0" cap="none" spc="0" dirty="0">
                          <a:ln w="0"/>
                          <a:solidFill>
                            <a:schemeClr val="tx1"/>
                          </a:solidFill>
                          <a:effectLst/>
                        </a:rPr>
                        <a:t>Diffusion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256k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4B</a:t>
                      </a:r>
                      <a:r>
                        <a:rPr lang="zh-TW" altLang="en-US" sz="1200" b="0" cap="none" spc="0" dirty="0">
                          <a:ln w="0"/>
                          <a:solidFill>
                            <a:schemeClr val="tx1"/>
                          </a:solidFill>
                          <a:effectLst/>
                        </a:rPr>
                        <a:t> </a:t>
                      </a:r>
                      <a:r>
                        <a:rPr lang="en-US" altLang="zh-TW" sz="1200" b="0" cap="none" spc="0" dirty="0">
                          <a:ln w="0"/>
                          <a:solidFill>
                            <a:schemeClr val="tx1"/>
                          </a:solidFill>
                          <a:effectLst/>
                        </a:rPr>
                        <a:t>/26B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14.4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439318">
                <a:tc>
                  <a:txBody>
                    <a:bodyPr/>
                    <a:lstStyle/>
                    <a:p>
                      <a:pPr algn="l"/>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27</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6.7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354133">
                <a:tc rowSpan="2">
                  <a:txBody>
                    <a:bodyPr/>
                    <a:lstStyle/>
                    <a:p>
                      <a:pPr algn="l"/>
                      <a:r>
                        <a:rPr lang="en-US" altLang="zh-TW" sz="1200" b="0" cap="none" spc="0" dirty="0">
                          <a:ln w="0"/>
                          <a:solidFill>
                            <a:schemeClr val="tx1"/>
                          </a:solidFill>
                          <a:effectLst/>
                        </a:rPr>
                        <a:t>Mobile</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E4B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Dense,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128k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(4.5+3.5)</a:t>
                      </a:r>
                      <a:r>
                        <a:rPr lang="zh-TW" altLang="en-US" sz="1200" b="0" cap="none" spc="0" dirty="0">
                          <a:ln w="0"/>
                          <a:solidFill>
                            <a:schemeClr val="tx1"/>
                          </a:solidFill>
                          <a:effectLst/>
                        </a:rPr>
                        <a:t> </a:t>
                      </a:r>
                      <a:r>
                        <a:rPr lang="en-US" altLang="zh-TW" sz="1200" b="0" cap="none" spc="0" dirty="0">
                          <a:ln w="0"/>
                          <a:solidFill>
                            <a:schemeClr val="tx1"/>
                          </a:solidFill>
                          <a:effectLst/>
                        </a:rPr>
                        <a:t>/8B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9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0920">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E2B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12700" cmpd="sng">
                      <a:noFill/>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(2.3+2.8)</a:t>
                      </a:r>
                      <a:r>
                        <a:rPr lang="zh-TW" altLang="en-US" sz="1200" b="0" cap="none" spc="0" dirty="0">
                          <a:ln w="0"/>
                          <a:solidFill>
                            <a:schemeClr val="tx1"/>
                          </a:solidFill>
                          <a:effectLst/>
                        </a:rPr>
                        <a:t> </a:t>
                      </a:r>
                      <a:r>
                        <a:rPr lang="en-US" altLang="zh-TW" sz="1200" b="0" cap="none" spc="0" dirty="0">
                          <a:ln w="0"/>
                          <a:solidFill>
                            <a:schemeClr val="tx1"/>
                          </a:solidFill>
                          <a:effectLst/>
                        </a:rPr>
                        <a:t>/5B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~2.9</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bl>
          </a:graphicData>
        </a:graphic>
      </p:graphicFrame>
      <p:sp>
        <p:nvSpPr>
          <p:cNvPr id="8" name="文字方塊 7">
            <a:extLst>
              <a:ext uri="{FF2B5EF4-FFF2-40B4-BE49-F238E27FC236}">
                <a16:creationId xmlns:a16="http://schemas.microsoft.com/office/drawing/2014/main" id="{AF135B2E-EEC6-E246-846A-1EF62279E421}"/>
              </a:ext>
            </a:extLst>
          </p:cNvPr>
          <p:cNvSpPr txBox="1"/>
          <p:nvPr/>
        </p:nvSpPr>
        <p:spPr>
          <a:xfrm>
            <a:off x="179510" y="1377042"/>
            <a:ext cx="8136906" cy="132343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Gemma 3: </a:t>
            </a:r>
            <a:r>
              <a:rPr lang="en-US" altLang="zh-TW" sz="1600" dirty="0"/>
              <a:t>Multimodal, multilingual 140+ and single chip.</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a:t>
            </a:r>
            <a:r>
              <a:rPr lang="en-US" altLang="zh-TW" sz="1600" dirty="0"/>
              <a:t>Native Multimodal, Apache 2.0, CoT,  &lt;|think|&gt;</a:t>
            </a:r>
            <a:r>
              <a:rPr lang="zh-TW" altLang="en-US" sz="1600" dirty="0"/>
              <a:t> </a:t>
            </a:r>
            <a:r>
              <a:rPr lang="en-US" altLang="zh-TW" sz="1600" dirty="0"/>
              <a:t>and multi-token prediction</a:t>
            </a:r>
            <a:r>
              <a:rPr lang="zh-TW" altLang="en-US" sz="1600" dirty="0"/>
              <a:t> </a:t>
            </a:r>
            <a:r>
              <a:rPr lang="en-US" altLang="zh-TW" sz="1600" dirty="0"/>
              <a:t>(</a:t>
            </a:r>
            <a:r>
              <a:rPr lang="en-US" altLang="zh-TW" sz="1600" b="1" dirty="0">
                <a:solidFill>
                  <a:schemeClr val="accent6">
                    <a:lumMod val="75000"/>
                  </a:schemeClr>
                </a:solidFill>
              </a:rPr>
              <a:t>MTP</a:t>
            </a:r>
            <a:r>
              <a:rPr lang="en-US" altLang="zh-TW" sz="1600" dirty="0"/>
              <a:t>) and Per Layer Embedding (</a:t>
            </a:r>
            <a:r>
              <a:rPr lang="en-US" altLang="zh-TW" sz="1600" b="1" dirty="0">
                <a:solidFill>
                  <a:schemeClr val="accent6">
                    <a:lumMod val="75000"/>
                  </a:schemeClr>
                </a:solidFill>
              </a:rPr>
              <a:t>PLE</a:t>
            </a:r>
            <a:r>
              <a:rPr lang="en-US" altLang="zh-TW" sz="1600" dirty="0"/>
              <a:t>).</a:t>
            </a:r>
          </a:p>
        </p:txBody>
      </p:sp>
      <p:sp>
        <p:nvSpPr>
          <p:cNvPr id="5" name="標題 1">
            <a:extLst>
              <a:ext uri="{FF2B5EF4-FFF2-40B4-BE49-F238E27FC236}">
                <a16:creationId xmlns:a16="http://schemas.microsoft.com/office/drawing/2014/main" id="{5E6D0E09-6EF5-9848-658D-D41ED80B4BAA}"/>
              </a:ext>
            </a:extLst>
          </p:cNvPr>
          <p:cNvSpPr txBox="1">
            <a:spLocks/>
          </p:cNvSpPr>
          <p:nvPr/>
        </p:nvSpPr>
        <p:spPr>
          <a:xfrm>
            <a:off x="179511" y="116632"/>
            <a:ext cx="877962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Gemma 4 empowers local devices with autonomous agency.</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5" name="圖形 14" descr="伺服器 以實心填滿">
            <a:extLst>
              <a:ext uri="{FF2B5EF4-FFF2-40B4-BE49-F238E27FC236}">
                <a16:creationId xmlns:a16="http://schemas.microsoft.com/office/drawing/2014/main" id="{629E4120-1637-0AAB-6A3B-AB7FEACB71D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2025" y="4830909"/>
            <a:ext cx="254275" cy="254275"/>
          </a:xfrm>
          <a:prstGeom prst="rect">
            <a:avLst/>
          </a:prstGeom>
        </p:spPr>
      </p:pic>
      <p:pic>
        <p:nvPicPr>
          <p:cNvPr id="17" name="圖形 16" descr="筆記型電腦 以實心填滿">
            <a:extLst>
              <a:ext uri="{FF2B5EF4-FFF2-40B4-BE49-F238E27FC236}">
                <a16:creationId xmlns:a16="http://schemas.microsoft.com/office/drawing/2014/main" id="{E0B85A7F-5C8E-F628-BF10-ADC5F47E112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438047" y="5517232"/>
            <a:ext cx="245454" cy="245454"/>
          </a:xfrm>
          <a:prstGeom prst="rect">
            <a:avLst/>
          </a:prstGeom>
        </p:spPr>
      </p:pic>
      <p:pic>
        <p:nvPicPr>
          <p:cNvPr id="19" name="圖形 18" descr="電腦 以實心填滿">
            <a:extLst>
              <a:ext uri="{FF2B5EF4-FFF2-40B4-BE49-F238E27FC236}">
                <a16:creationId xmlns:a16="http://schemas.microsoft.com/office/drawing/2014/main" id="{94FDF6EB-1889-FE73-1996-CB12F1E1426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401440" y="5208870"/>
            <a:ext cx="315444" cy="315444"/>
          </a:xfrm>
          <a:prstGeom prst="rect">
            <a:avLst/>
          </a:prstGeom>
        </p:spPr>
      </p:pic>
      <p:pic>
        <p:nvPicPr>
          <p:cNvPr id="21" name="圖形 20" descr="智慧型手機 以實心填滿">
            <a:extLst>
              <a:ext uri="{FF2B5EF4-FFF2-40B4-BE49-F238E27FC236}">
                <a16:creationId xmlns:a16="http://schemas.microsoft.com/office/drawing/2014/main" id="{174E9551-9AA7-A945-F67E-E80B80582EA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444043" y="5805264"/>
            <a:ext cx="245454" cy="245454"/>
          </a:xfrm>
          <a:prstGeom prst="rect">
            <a:avLst/>
          </a:prstGeom>
        </p:spPr>
      </p:pic>
      <p:pic>
        <p:nvPicPr>
          <p:cNvPr id="23" name="圖形 22" descr="頭戴式耳機 以實心填滿">
            <a:extLst>
              <a:ext uri="{FF2B5EF4-FFF2-40B4-BE49-F238E27FC236}">
                <a16:creationId xmlns:a16="http://schemas.microsoft.com/office/drawing/2014/main" id="{92BA1BF4-2981-0AD1-D22C-7372851B626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36436" y="6093296"/>
            <a:ext cx="245454" cy="245454"/>
          </a:xfrm>
          <a:prstGeom prst="rect">
            <a:avLst/>
          </a:prstGeom>
        </p:spPr>
      </p:pic>
      <p:sp>
        <p:nvSpPr>
          <p:cNvPr id="26" name="雲朵形 25">
            <a:extLst>
              <a:ext uri="{FF2B5EF4-FFF2-40B4-BE49-F238E27FC236}">
                <a16:creationId xmlns:a16="http://schemas.microsoft.com/office/drawing/2014/main" id="{509766CE-DFB7-2679-00B7-E99E3812B74C}"/>
              </a:ext>
            </a:extLst>
          </p:cNvPr>
          <p:cNvSpPr/>
          <p:nvPr/>
        </p:nvSpPr>
        <p:spPr>
          <a:xfrm>
            <a:off x="291675" y="3212976"/>
            <a:ext cx="1400005" cy="6543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27" name="文字方塊 26">
            <a:extLst>
              <a:ext uri="{FF2B5EF4-FFF2-40B4-BE49-F238E27FC236}">
                <a16:creationId xmlns:a16="http://schemas.microsoft.com/office/drawing/2014/main" id="{28016021-6586-F018-2D1F-235DAF68DE53}"/>
              </a:ext>
            </a:extLst>
          </p:cNvPr>
          <p:cNvSpPr txBox="1"/>
          <p:nvPr/>
        </p:nvSpPr>
        <p:spPr>
          <a:xfrm>
            <a:off x="683568" y="4291005"/>
            <a:ext cx="1193834" cy="323239"/>
          </a:xfrm>
          <a:prstGeom prst="rect">
            <a:avLst/>
          </a:prstGeom>
          <a:noFill/>
        </p:spPr>
        <p:txBody>
          <a:bodyPr wrap="none" lIns="0" tIns="0" rIns="0" bIns="0" anchor="ctr" anchorCtr="1">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Gemma 4</a:t>
            </a:r>
          </a:p>
        </p:txBody>
      </p:sp>
      <p:cxnSp>
        <p:nvCxnSpPr>
          <p:cNvPr id="28" name="直線單箭頭接點 27">
            <a:extLst>
              <a:ext uri="{FF2B5EF4-FFF2-40B4-BE49-F238E27FC236}">
                <a16:creationId xmlns:a16="http://schemas.microsoft.com/office/drawing/2014/main" id="{2CE94DF6-B418-F3D9-7106-9607209A20C4}"/>
              </a:ext>
            </a:extLst>
          </p:cNvPr>
          <p:cNvCxnSpPr>
            <a:cxnSpLocks/>
            <a:stCxn id="29" idx="2"/>
            <a:endCxn id="27" idx="0"/>
          </p:cNvCxnSpPr>
          <p:nvPr/>
        </p:nvCxnSpPr>
        <p:spPr>
          <a:xfrm>
            <a:off x="981887" y="3726324"/>
            <a:ext cx="298598" cy="564681"/>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2AE78E0C-913E-773C-0B33-35D2814AA505}"/>
              </a:ext>
            </a:extLst>
          </p:cNvPr>
          <p:cNvSpPr txBox="1"/>
          <p:nvPr/>
        </p:nvSpPr>
        <p:spPr>
          <a:xfrm>
            <a:off x="469567" y="3356992"/>
            <a:ext cx="1024639" cy="369332"/>
          </a:xfrm>
          <a:prstGeom prst="rect">
            <a:avLst/>
          </a:prstGeom>
          <a:noFill/>
        </p:spPr>
        <p:txBody>
          <a:bodyPr wrap="none" lIns="0" tIns="0" rIns="0" bIns="0" anchor="ctr" anchorCtr="1">
            <a:noAutofit/>
          </a:bodyPr>
          <a:lstStyle/>
          <a:p>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Gemini 3</a:t>
            </a:r>
          </a:p>
        </p:txBody>
      </p:sp>
      <p:sp>
        <p:nvSpPr>
          <p:cNvPr id="4" name="矩形: 圓角 3">
            <a:extLst>
              <a:ext uri="{FF2B5EF4-FFF2-40B4-BE49-F238E27FC236}">
                <a16:creationId xmlns:a16="http://schemas.microsoft.com/office/drawing/2014/main" id="{24B0F035-97FD-79C3-C3A0-2E744AC34D19}"/>
              </a:ext>
            </a:extLst>
          </p:cNvPr>
          <p:cNvSpPr/>
          <p:nvPr/>
        </p:nvSpPr>
        <p:spPr>
          <a:xfrm>
            <a:off x="6670406" y="5838875"/>
            <a:ext cx="487445" cy="562041"/>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46923004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C86993-55F6-655D-6F3A-DCF41E0E7E23}"/>
            </a:ext>
          </a:extLst>
        </p:cNvPr>
        <p:cNvGrpSpPr/>
        <p:nvPr/>
      </p:nvGrpSpPr>
      <p:grpSpPr>
        <a:xfrm>
          <a:off x="0" y="0"/>
          <a:ext cx="0" cy="0"/>
          <a:chOff x="0" y="0"/>
          <a:chExt cx="0" cy="0"/>
        </a:xfrm>
      </p:grpSpPr>
      <p:sp>
        <p:nvSpPr>
          <p:cNvPr id="93" name="矩形: 圓角 92">
            <a:extLst>
              <a:ext uri="{FF2B5EF4-FFF2-40B4-BE49-F238E27FC236}">
                <a16:creationId xmlns:a16="http://schemas.microsoft.com/office/drawing/2014/main" id="{9BC5D209-CD0F-8B4F-B117-FFBA97F7BB22}"/>
              </a:ext>
            </a:extLst>
          </p:cNvPr>
          <p:cNvSpPr/>
          <p:nvPr/>
        </p:nvSpPr>
        <p:spPr>
          <a:xfrm>
            <a:off x="567640" y="1714074"/>
            <a:ext cx="1219522" cy="1720987"/>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8" name="文字方塊 7">
            <a:extLst>
              <a:ext uri="{FF2B5EF4-FFF2-40B4-BE49-F238E27FC236}">
                <a16:creationId xmlns:a16="http://schemas.microsoft.com/office/drawing/2014/main" id="{27688924-6F43-FE20-F39C-E0229359FB31}"/>
              </a:ext>
            </a:extLst>
          </p:cNvPr>
          <p:cNvSpPr txBox="1"/>
          <p:nvPr/>
        </p:nvSpPr>
        <p:spPr>
          <a:xfrm>
            <a:off x="635034" y="1793757"/>
            <a:ext cx="1086557" cy="936151"/>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9" name="文字方塊 28">
            <a:extLst>
              <a:ext uri="{FF2B5EF4-FFF2-40B4-BE49-F238E27FC236}">
                <a16:creationId xmlns:a16="http://schemas.microsoft.com/office/drawing/2014/main" id="{CA709BE2-1656-D0B4-AAC6-15D6C3575E40}"/>
              </a:ext>
            </a:extLst>
          </p:cNvPr>
          <p:cNvSpPr txBox="1"/>
          <p:nvPr/>
        </p:nvSpPr>
        <p:spPr>
          <a:xfrm>
            <a:off x="635034" y="2870996"/>
            <a:ext cx="1086557" cy="487960"/>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 name="直線單箭頭接點 30">
            <a:extLst>
              <a:ext uri="{FF2B5EF4-FFF2-40B4-BE49-F238E27FC236}">
                <a16:creationId xmlns:a16="http://schemas.microsoft.com/office/drawing/2014/main" id="{942C8466-D1D5-4EF3-2363-E4C21E214E95}"/>
              </a:ext>
            </a:extLst>
          </p:cNvPr>
          <p:cNvCxnSpPr>
            <a:cxnSpLocks/>
            <a:stCxn id="8" idx="0"/>
            <a:endCxn id="137" idx="2"/>
          </p:cNvCxnSpPr>
          <p:nvPr/>
        </p:nvCxnSpPr>
        <p:spPr>
          <a:xfrm flipH="1" flipV="1">
            <a:off x="1177120" y="1513424"/>
            <a:ext cx="1193" cy="280333"/>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2" name="直線單箭頭接點 31">
            <a:extLst>
              <a:ext uri="{FF2B5EF4-FFF2-40B4-BE49-F238E27FC236}">
                <a16:creationId xmlns:a16="http://schemas.microsoft.com/office/drawing/2014/main" id="{C78A0572-1A63-5E70-B09A-4C3D3A0EC38F}"/>
              </a:ext>
            </a:extLst>
          </p:cNvPr>
          <p:cNvCxnSpPr>
            <a:cxnSpLocks/>
            <a:stCxn id="73" idx="0"/>
            <a:endCxn id="29" idx="2"/>
          </p:cNvCxnSpPr>
          <p:nvPr/>
        </p:nvCxnSpPr>
        <p:spPr>
          <a:xfrm flipV="1">
            <a:off x="1177402" y="3358956"/>
            <a:ext cx="911" cy="27479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3" name="直線單箭頭接點 32">
            <a:extLst>
              <a:ext uri="{FF2B5EF4-FFF2-40B4-BE49-F238E27FC236}">
                <a16:creationId xmlns:a16="http://schemas.microsoft.com/office/drawing/2014/main" id="{BED8C8EA-0B18-FE3A-ACAC-8ED247CD33DA}"/>
              </a:ext>
            </a:extLst>
          </p:cNvPr>
          <p:cNvCxnSpPr>
            <a:cxnSpLocks/>
            <a:stCxn id="29" idx="0"/>
            <a:endCxn id="8" idx="2"/>
          </p:cNvCxnSpPr>
          <p:nvPr/>
        </p:nvCxnSpPr>
        <p:spPr>
          <a:xfrm flipV="1">
            <a:off x="1178313" y="2729908"/>
            <a:ext cx="0" cy="141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73" name="文字方塊 72">
            <a:extLst>
              <a:ext uri="{FF2B5EF4-FFF2-40B4-BE49-F238E27FC236}">
                <a16:creationId xmlns:a16="http://schemas.microsoft.com/office/drawing/2014/main" id="{89DFAE5F-76DE-A380-A8BC-634A17D2929C}"/>
              </a:ext>
            </a:extLst>
          </p:cNvPr>
          <p:cNvSpPr txBox="1"/>
          <p:nvPr/>
        </p:nvSpPr>
        <p:spPr>
          <a:xfrm>
            <a:off x="567641" y="3633747"/>
            <a:ext cx="1219522" cy="58734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chemeClr val="tx1">
                    <a:lumMod val="50000"/>
                    <a:lumOff val="50000"/>
                  </a:schemeClr>
                </a:solidFill>
                <a:effectLst/>
                <a:latin typeface="Consolas" panose="020B0609020204030204" pitchFamily="49" charset="0"/>
              </a:rPr>
              <a:t>   </a:t>
            </a:r>
            <a:r>
              <a:rPr lang="en-US" altLang="zh-TW" sz="1200" b="1" u="sng" strike="noStrike" kern="1200" spc="0" dirty="0">
                <a:ln>
                  <a:noFill/>
                </a:ln>
                <a:solidFill>
                  <a:schemeClr val="tx1">
                    <a:lumMod val="50000"/>
                    <a:lumOff val="50000"/>
                  </a:schemeClr>
                </a:solidFill>
                <a:effectLst/>
                <a:latin typeface="Consolas" panose="020B0609020204030204" pitchFamily="49" charset="0"/>
              </a:rPr>
              <a:t>Dataset   </a:t>
            </a:r>
            <a:endParaRPr lang="en-US" altLang="zh-TW" sz="1200" u="sng" strike="noStrike" kern="1200" spc="0" dirty="0">
              <a:ln>
                <a:noFill/>
              </a:ln>
              <a:solidFill>
                <a:schemeClr val="tx1">
                  <a:lumMod val="50000"/>
                  <a:lumOff val="50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lang="en-US" altLang="zh-TW" sz="1200" u="sng" dirty="0">
                <a:solidFill>
                  <a:schemeClr val="tx1">
                    <a:lumMod val="50000"/>
                    <a:lumOff val="50000"/>
                  </a:schemeClr>
                </a:solidFill>
                <a:latin typeface="Consolas" panose="020B0609020204030204" pitchFamily="49" charset="0"/>
                <a:ea typeface="新細明體" panose="02020500000000000000" pitchFamily="18" charset="-120"/>
              </a:rPr>
              <a:t>…</a:t>
            </a: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p:txBody>
      </p:sp>
      <p:sp>
        <p:nvSpPr>
          <p:cNvPr id="117" name="矩形: 圓角 116">
            <a:extLst>
              <a:ext uri="{FF2B5EF4-FFF2-40B4-BE49-F238E27FC236}">
                <a16:creationId xmlns:a16="http://schemas.microsoft.com/office/drawing/2014/main" id="{CBBF751A-4841-643D-D672-6495988B1BA0}"/>
              </a:ext>
            </a:extLst>
          </p:cNvPr>
          <p:cNvSpPr/>
          <p:nvPr/>
        </p:nvSpPr>
        <p:spPr>
          <a:xfrm>
            <a:off x="2471724" y="1704468"/>
            <a:ext cx="1064550"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8" name="文字方塊 117">
            <a:extLst>
              <a:ext uri="{FF2B5EF4-FFF2-40B4-BE49-F238E27FC236}">
                <a16:creationId xmlns:a16="http://schemas.microsoft.com/office/drawing/2014/main" id="{0F5AF795-3B3C-801B-75CE-99F18D920572}"/>
              </a:ext>
            </a:extLst>
          </p:cNvPr>
          <p:cNvSpPr txBox="1"/>
          <p:nvPr/>
        </p:nvSpPr>
        <p:spPr>
          <a:xfrm>
            <a:off x="2539118" y="1768192"/>
            <a:ext cx="931588"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119" name="文字方塊 118">
            <a:extLst>
              <a:ext uri="{FF2B5EF4-FFF2-40B4-BE49-F238E27FC236}">
                <a16:creationId xmlns:a16="http://schemas.microsoft.com/office/drawing/2014/main" id="{4F679991-33F8-2BC7-D7D4-C417EBD90EEA}"/>
              </a:ext>
            </a:extLst>
          </p:cNvPr>
          <p:cNvSpPr txBox="1"/>
          <p:nvPr/>
        </p:nvSpPr>
        <p:spPr>
          <a:xfrm>
            <a:off x="2539118" y="2239634"/>
            <a:ext cx="9315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2" name="直線單箭頭接點 121">
            <a:extLst>
              <a:ext uri="{FF2B5EF4-FFF2-40B4-BE49-F238E27FC236}">
                <a16:creationId xmlns:a16="http://schemas.microsoft.com/office/drawing/2014/main" id="{BBCCED22-9B60-A6F6-30FE-BEE684D117D3}"/>
              </a:ext>
            </a:extLst>
          </p:cNvPr>
          <p:cNvCxnSpPr>
            <a:cxnSpLocks/>
            <a:stCxn id="125" idx="0"/>
            <a:endCxn id="119" idx="2"/>
          </p:cNvCxnSpPr>
          <p:nvPr/>
        </p:nvCxnSpPr>
        <p:spPr>
          <a:xfrm flipH="1" flipV="1">
            <a:off x="3004912" y="2610492"/>
            <a:ext cx="4083" cy="220905"/>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23" name="直線單箭頭接點 122">
            <a:extLst>
              <a:ext uri="{FF2B5EF4-FFF2-40B4-BE49-F238E27FC236}">
                <a16:creationId xmlns:a16="http://schemas.microsoft.com/office/drawing/2014/main" id="{76B940A6-6BCF-781A-CE7D-374C0654CC82}"/>
              </a:ext>
            </a:extLst>
          </p:cNvPr>
          <p:cNvCxnSpPr>
            <a:cxnSpLocks/>
            <a:stCxn id="119" idx="0"/>
            <a:endCxn id="118" idx="2"/>
          </p:cNvCxnSpPr>
          <p:nvPr/>
        </p:nvCxnSpPr>
        <p:spPr>
          <a:xfrm flipV="1">
            <a:off x="3004912" y="213905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25" name="文字方塊 124">
            <a:extLst>
              <a:ext uri="{FF2B5EF4-FFF2-40B4-BE49-F238E27FC236}">
                <a16:creationId xmlns:a16="http://schemas.microsoft.com/office/drawing/2014/main" id="{252A4D11-98C1-E2CE-76F9-54E64CE32887}"/>
              </a:ext>
            </a:extLst>
          </p:cNvPr>
          <p:cNvSpPr txBox="1"/>
          <p:nvPr/>
        </p:nvSpPr>
        <p:spPr>
          <a:xfrm>
            <a:off x="2651259" y="2831397"/>
            <a:ext cx="715471" cy="460130"/>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Mentor</a:t>
            </a:r>
          </a:p>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Model</a:t>
            </a:r>
          </a:p>
        </p:txBody>
      </p:sp>
      <p:sp>
        <p:nvSpPr>
          <p:cNvPr id="137" name="文字方塊 136">
            <a:extLst>
              <a:ext uri="{FF2B5EF4-FFF2-40B4-BE49-F238E27FC236}">
                <a16:creationId xmlns:a16="http://schemas.microsoft.com/office/drawing/2014/main" id="{3B21D428-399E-48DA-FA3B-F4D2934EFEFE}"/>
              </a:ext>
            </a:extLst>
          </p:cNvPr>
          <p:cNvSpPr txBox="1"/>
          <p:nvPr/>
        </p:nvSpPr>
        <p:spPr>
          <a:xfrm>
            <a:off x="747752" y="1126708"/>
            <a:ext cx="858736" cy="3867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139" name="文字方塊 138">
            <a:extLst>
              <a:ext uri="{FF2B5EF4-FFF2-40B4-BE49-F238E27FC236}">
                <a16:creationId xmlns:a16="http://schemas.microsoft.com/office/drawing/2014/main" id="{D5B44D3B-4241-2BF9-F500-31CADFD0B569}"/>
              </a:ext>
            </a:extLst>
          </p:cNvPr>
          <p:cNvSpPr txBox="1"/>
          <p:nvPr/>
        </p:nvSpPr>
        <p:spPr>
          <a:xfrm>
            <a:off x="2539118" y="1143594"/>
            <a:ext cx="931583"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315" name="矩形: 圓角 314">
            <a:extLst>
              <a:ext uri="{FF2B5EF4-FFF2-40B4-BE49-F238E27FC236}">
                <a16:creationId xmlns:a16="http://schemas.microsoft.com/office/drawing/2014/main" id="{FAAA9A43-CE4C-B3F6-E773-87ECFC273B53}"/>
              </a:ext>
            </a:extLst>
          </p:cNvPr>
          <p:cNvSpPr/>
          <p:nvPr/>
        </p:nvSpPr>
        <p:spPr>
          <a:xfrm>
            <a:off x="5793256" y="2470586"/>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16" name="文字方塊 315">
            <a:extLst>
              <a:ext uri="{FF2B5EF4-FFF2-40B4-BE49-F238E27FC236}">
                <a16:creationId xmlns:a16="http://schemas.microsoft.com/office/drawing/2014/main" id="{777D1806-1AC5-A090-0E2F-7F659A74A141}"/>
              </a:ext>
            </a:extLst>
          </p:cNvPr>
          <p:cNvSpPr txBox="1"/>
          <p:nvPr/>
        </p:nvSpPr>
        <p:spPr>
          <a:xfrm>
            <a:off x="5870354" y="2534310"/>
            <a:ext cx="416433"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17" name="文字方塊 316">
            <a:extLst>
              <a:ext uri="{FF2B5EF4-FFF2-40B4-BE49-F238E27FC236}">
                <a16:creationId xmlns:a16="http://schemas.microsoft.com/office/drawing/2014/main" id="{B636CD72-4E44-11EE-89CB-634CD940FF09}"/>
              </a:ext>
            </a:extLst>
          </p:cNvPr>
          <p:cNvSpPr txBox="1"/>
          <p:nvPr/>
        </p:nvSpPr>
        <p:spPr>
          <a:xfrm>
            <a:off x="5870354" y="3005752"/>
            <a:ext cx="416433"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8" name="直線單箭頭接點 317">
            <a:extLst>
              <a:ext uri="{FF2B5EF4-FFF2-40B4-BE49-F238E27FC236}">
                <a16:creationId xmlns:a16="http://schemas.microsoft.com/office/drawing/2014/main" id="{47BCA9D0-43E0-3E34-1EAB-DAC8C02BE71F}"/>
              </a:ext>
            </a:extLst>
          </p:cNvPr>
          <p:cNvCxnSpPr>
            <a:cxnSpLocks/>
            <a:stCxn id="316" idx="0"/>
            <a:endCxn id="322" idx="2"/>
          </p:cNvCxnSpPr>
          <p:nvPr/>
        </p:nvCxnSpPr>
        <p:spPr>
          <a:xfrm flipH="1" flipV="1">
            <a:off x="6076721" y="2372434"/>
            <a:ext cx="1850" cy="161876"/>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19" name="直線單箭頭接點 318">
            <a:extLst>
              <a:ext uri="{FF2B5EF4-FFF2-40B4-BE49-F238E27FC236}">
                <a16:creationId xmlns:a16="http://schemas.microsoft.com/office/drawing/2014/main" id="{5085AE20-60EC-AD40-341B-68DC9CFF1AA3}"/>
              </a:ext>
            </a:extLst>
          </p:cNvPr>
          <p:cNvCxnSpPr>
            <a:cxnSpLocks/>
            <a:stCxn id="321" idx="0"/>
            <a:endCxn id="317" idx="2"/>
          </p:cNvCxnSpPr>
          <p:nvPr/>
        </p:nvCxnSpPr>
        <p:spPr>
          <a:xfrm flipV="1">
            <a:off x="6078570" y="3376610"/>
            <a:ext cx="1" cy="138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21" name="文字方塊 320">
            <a:extLst>
              <a:ext uri="{FF2B5EF4-FFF2-40B4-BE49-F238E27FC236}">
                <a16:creationId xmlns:a16="http://schemas.microsoft.com/office/drawing/2014/main" id="{6050EABD-57B0-7FFB-D65A-5E5C8A88B497}"/>
              </a:ext>
            </a:extLst>
          </p:cNvPr>
          <p:cNvSpPr txBox="1"/>
          <p:nvPr/>
        </p:nvSpPr>
        <p:spPr>
          <a:xfrm>
            <a:off x="5862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22" name="文字方塊 321">
            <a:extLst>
              <a:ext uri="{FF2B5EF4-FFF2-40B4-BE49-F238E27FC236}">
                <a16:creationId xmlns:a16="http://schemas.microsoft.com/office/drawing/2014/main" id="{BBB5E49F-166C-829A-96D9-BC04ED271FAF}"/>
              </a:ext>
            </a:extLst>
          </p:cNvPr>
          <p:cNvSpPr txBox="1"/>
          <p:nvPr/>
        </p:nvSpPr>
        <p:spPr>
          <a:xfrm>
            <a:off x="5853249" y="2181676"/>
            <a:ext cx="446943" cy="190758"/>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324" name="文字方塊 323">
            <a:extLst>
              <a:ext uri="{FF2B5EF4-FFF2-40B4-BE49-F238E27FC236}">
                <a16:creationId xmlns:a16="http://schemas.microsoft.com/office/drawing/2014/main" id="{D8AF711C-01F8-2383-A166-72304A75F5CF}"/>
              </a:ext>
            </a:extLst>
          </p:cNvPr>
          <p:cNvSpPr txBox="1"/>
          <p:nvPr/>
        </p:nvSpPr>
        <p:spPr>
          <a:xfrm>
            <a:off x="6320394" y="2534310"/>
            <a:ext cx="190225"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25" name="文字方塊 324">
            <a:extLst>
              <a:ext uri="{FF2B5EF4-FFF2-40B4-BE49-F238E27FC236}">
                <a16:creationId xmlns:a16="http://schemas.microsoft.com/office/drawing/2014/main" id="{4C6AA02B-3311-B121-FEAD-3A83EEDD19D0}"/>
              </a:ext>
            </a:extLst>
          </p:cNvPr>
          <p:cNvSpPr txBox="1"/>
          <p:nvPr/>
        </p:nvSpPr>
        <p:spPr>
          <a:xfrm>
            <a:off x="6320394" y="3005752"/>
            <a:ext cx="190225"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32" name="流程圖: 合併 331">
            <a:extLst>
              <a:ext uri="{FF2B5EF4-FFF2-40B4-BE49-F238E27FC236}">
                <a16:creationId xmlns:a16="http://schemas.microsoft.com/office/drawing/2014/main" id="{BCEAC993-7B03-4603-7D4F-16080ED42D99}"/>
              </a:ext>
            </a:extLst>
          </p:cNvPr>
          <p:cNvSpPr/>
          <p:nvPr/>
        </p:nvSpPr>
        <p:spPr>
          <a:xfrm>
            <a:off x="5174863" y="130360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VRAM</a:t>
            </a:r>
            <a:endParaRPr lang="zh-TW" altLang="en-US" sz="1200" b="1" dirty="0">
              <a:solidFill>
                <a:schemeClr val="accent2">
                  <a:lumMod val="75000"/>
                </a:schemeClr>
              </a:solidFill>
            </a:endParaRPr>
          </a:p>
        </p:txBody>
      </p:sp>
      <p:sp>
        <p:nvSpPr>
          <p:cNvPr id="368" name="矩形: 圓角 367">
            <a:extLst>
              <a:ext uri="{FF2B5EF4-FFF2-40B4-BE49-F238E27FC236}">
                <a16:creationId xmlns:a16="http://schemas.microsoft.com/office/drawing/2014/main" id="{9EA0A467-5651-59AE-9729-2BEAA8CBE8A7}"/>
              </a:ext>
            </a:extLst>
          </p:cNvPr>
          <p:cNvSpPr/>
          <p:nvPr/>
        </p:nvSpPr>
        <p:spPr>
          <a:xfrm>
            <a:off x="6876256" y="2470502"/>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69" name="文字方塊 368">
            <a:extLst>
              <a:ext uri="{FF2B5EF4-FFF2-40B4-BE49-F238E27FC236}">
                <a16:creationId xmlns:a16="http://schemas.microsoft.com/office/drawing/2014/main" id="{C0659B23-491F-B9F4-046F-3D6F8970265F}"/>
              </a:ext>
            </a:extLst>
          </p:cNvPr>
          <p:cNvSpPr txBox="1"/>
          <p:nvPr/>
        </p:nvSpPr>
        <p:spPr>
          <a:xfrm>
            <a:off x="6953354" y="2534226"/>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70" name="文字方塊 369">
            <a:extLst>
              <a:ext uri="{FF2B5EF4-FFF2-40B4-BE49-F238E27FC236}">
                <a16:creationId xmlns:a16="http://schemas.microsoft.com/office/drawing/2014/main" id="{EF22FC26-3919-51CE-75E8-79C3F3E93FDE}"/>
              </a:ext>
            </a:extLst>
          </p:cNvPr>
          <p:cNvSpPr txBox="1"/>
          <p:nvPr/>
        </p:nvSpPr>
        <p:spPr>
          <a:xfrm>
            <a:off x="6953354" y="3005668"/>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71" name="直線單箭頭接點 370">
            <a:extLst>
              <a:ext uri="{FF2B5EF4-FFF2-40B4-BE49-F238E27FC236}">
                <a16:creationId xmlns:a16="http://schemas.microsoft.com/office/drawing/2014/main" id="{DB65FBC4-B58B-615F-380B-357BFECFF890}"/>
              </a:ext>
            </a:extLst>
          </p:cNvPr>
          <p:cNvCxnSpPr>
            <a:cxnSpLocks/>
            <a:stCxn id="369" idx="0"/>
            <a:endCxn id="54" idx="2"/>
          </p:cNvCxnSpPr>
          <p:nvPr/>
        </p:nvCxnSpPr>
        <p:spPr>
          <a:xfrm flipH="1" flipV="1">
            <a:off x="7159721" y="2372434"/>
            <a:ext cx="1850" cy="16179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2" name="直線單箭頭接點 371">
            <a:extLst>
              <a:ext uri="{FF2B5EF4-FFF2-40B4-BE49-F238E27FC236}">
                <a16:creationId xmlns:a16="http://schemas.microsoft.com/office/drawing/2014/main" id="{80417F5D-C68B-59D2-FCA6-5DDA7D38F16F}"/>
              </a:ext>
            </a:extLst>
          </p:cNvPr>
          <p:cNvCxnSpPr>
            <a:cxnSpLocks/>
            <a:stCxn id="373" idx="0"/>
            <a:endCxn id="370" idx="2"/>
          </p:cNvCxnSpPr>
          <p:nvPr/>
        </p:nvCxnSpPr>
        <p:spPr>
          <a:xfrm flipV="1">
            <a:off x="7161570" y="3376526"/>
            <a:ext cx="1" cy="13817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73" name="文字方塊 372">
            <a:extLst>
              <a:ext uri="{FF2B5EF4-FFF2-40B4-BE49-F238E27FC236}">
                <a16:creationId xmlns:a16="http://schemas.microsoft.com/office/drawing/2014/main" id="{719E8EC6-A31B-D42A-C145-2ADBE0C744F6}"/>
              </a:ext>
            </a:extLst>
          </p:cNvPr>
          <p:cNvSpPr txBox="1"/>
          <p:nvPr/>
        </p:nvSpPr>
        <p:spPr>
          <a:xfrm>
            <a:off x="6945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76" name="文字方塊 375">
            <a:extLst>
              <a:ext uri="{FF2B5EF4-FFF2-40B4-BE49-F238E27FC236}">
                <a16:creationId xmlns:a16="http://schemas.microsoft.com/office/drawing/2014/main" id="{26919418-A789-EDA6-86D0-96CC2155BFCB}"/>
              </a:ext>
            </a:extLst>
          </p:cNvPr>
          <p:cNvSpPr txBox="1"/>
          <p:nvPr/>
        </p:nvSpPr>
        <p:spPr>
          <a:xfrm>
            <a:off x="7403394" y="2534226"/>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77" name="文字方塊 376">
            <a:extLst>
              <a:ext uri="{FF2B5EF4-FFF2-40B4-BE49-F238E27FC236}">
                <a16:creationId xmlns:a16="http://schemas.microsoft.com/office/drawing/2014/main" id="{385AF1C9-D14F-F596-B42A-EACBA5A9AD44}"/>
              </a:ext>
            </a:extLst>
          </p:cNvPr>
          <p:cNvSpPr txBox="1"/>
          <p:nvPr/>
        </p:nvSpPr>
        <p:spPr>
          <a:xfrm>
            <a:off x="7403394" y="3005668"/>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79" name="矩形: 圓角 378">
            <a:extLst>
              <a:ext uri="{FF2B5EF4-FFF2-40B4-BE49-F238E27FC236}">
                <a16:creationId xmlns:a16="http://schemas.microsoft.com/office/drawing/2014/main" id="{BCA1F0A1-C78B-4C44-6484-9B782920E7FF}"/>
              </a:ext>
            </a:extLst>
          </p:cNvPr>
          <p:cNvSpPr/>
          <p:nvPr/>
        </p:nvSpPr>
        <p:spPr>
          <a:xfrm>
            <a:off x="484964" y="1607424"/>
            <a:ext cx="1394497" cy="1918598"/>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endParaRPr lang="zh-TW" altLang="en-US" sz="1000">
              <a:latin typeface="ADLaM Display" panose="02010000000000000000" pitchFamily="2" charset="0"/>
              <a:cs typeface="ADLaM Display" panose="02010000000000000000" pitchFamily="2" charset="0"/>
            </a:endParaRPr>
          </a:p>
        </p:txBody>
      </p:sp>
      <p:sp>
        <p:nvSpPr>
          <p:cNvPr id="4" name="標題 1">
            <a:extLst>
              <a:ext uri="{FF2B5EF4-FFF2-40B4-BE49-F238E27FC236}">
                <a16:creationId xmlns:a16="http://schemas.microsoft.com/office/drawing/2014/main" id="{66B49238-60F6-67AA-9BF6-00D4A655770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Supervised Fine-Tuning</a:t>
            </a:r>
          </a:p>
          <a:p>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SFT shapes behavior via structured, high-quality QA pairs, not knowledge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a:t>
            </a:r>
          </a:p>
        </p:txBody>
      </p:sp>
      <p:sp>
        <p:nvSpPr>
          <p:cNvPr id="18" name="文字方塊 17">
            <a:extLst>
              <a:ext uri="{FF2B5EF4-FFF2-40B4-BE49-F238E27FC236}">
                <a16:creationId xmlns:a16="http://schemas.microsoft.com/office/drawing/2014/main" id="{618F6AD0-83FA-9357-73ED-4F671D392F32}"/>
              </a:ext>
            </a:extLst>
          </p:cNvPr>
          <p:cNvSpPr txBox="1"/>
          <p:nvPr/>
        </p:nvSpPr>
        <p:spPr>
          <a:xfrm>
            <a:off x="747752" y="1756903"/>
            <a:ext cx="872480" cy="1438867"/>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SGD, </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a:t>
            </a:r>
          </a:p>
          <a:p>
            <a:pPr algn="ctr">
              <a:lnSpc>
                <a:spcPts val="1400"/>
              </a:lnSpc>
              <a:buNone/>
            </a:pPr>
            <a:r>
              <a:rPr lang="en-US" altLang="zh-TW" sz="1000" b="1" dirty="0">
                <a:solidFill>
                  <a:schemeClr val="accent6">
                    <a:lumMod val="75000"/>
                  </a:schemeClr>
                </a:solidFill>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t>
            </a: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Paged 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標題 1">
            <a:extLst>
              <a:ext uri="{FF2B5EF4-FFF2-40B4-BE49-F238E27FC236}">
                <a16:creationId xmlns:a16="http://schemas.microsoft.com/office/drawing/2014/main" id="{7A53AD3C-F2BB-4EE2-24CD-86C8D28B9CA8}"/>
              </a:ext>
            </a:extLst>
          </p:cNvPr>
          <p:cNvSpPr txBox="1">
            <a:spLocks/>
          </p:cNvSpPr>
          <p:nvPr/>
        </p:nvSpPr>
        <p:spPr>
          <a:xfrm>
            <a:off x="2760419" y="3326392"/>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Distillation</a:t>
            </a:r>
          </a:p>
        </p:txBody>
      </p:sp>
      <p:sp>
        <p:nvSpPr>
          <p:cNvPr id="24" name="流程圖: 合併 23">
            <a:extLst>
              <a:ext uri="{FF2B5EF4-FFF2-40B4-BE49-F238E27FC236}">
                <a16:creationId xmlns:a16="http://schemas.microsoft.com/office/drawing/2014/main" id="{CF8E78C1-A247-3230-83FA-CB76161D9B1F}"/>
              </a:ext>
            </a:extLst>
          </p:cNvPr>
          <p:cNvSpPr/>
          <p:nvPr/>
        </p:nvSpPr>
        <p:spPr>
          <a:xfrm>
            <a:off x="2123728" y="1317518"/>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Time</a:t>
            </a:r>
            <a:endParaRPr lang="zh-TW" altLang="en-US" sz="1200" b="1" dirty="0">
              <a:solidFill>
                <a:schemeClr val="accent2">
                  <a:lumMod val="75000"/>
                </a:schemeClr>
              </a:solidFill>
            </a:endParaRPr>
          </a:p>
        </p:txBody>
      </p:sp>
      <p:sp>
        <p:nvSpPr>
          <p:cNvPr id="55" name="標題 1">
            <a:extLst>
              <a:ext uri="{FF2B5EF4-FFF2-40B4-BE49-F238E27FC236}">
                <a16:creationId xmlns:a16="http://schemas.microsoft.com/office/drawing/2014/main" id="{B37A615F-552C-F797-9035-FB5C2D0F26EE}"/>
              </a:ext>
            </a:extLst>
          </p:cNvPr>
          <p:cNvSpPr txBox="1">
            <a:spLocks/>
          </p:cNvSpPr>
          <p:nvPr/>
        </p:nvSpPr>
        <p:spPr>
          <a:xfrm>
            <a:off x="6827284" y="3935370"/>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lvl="0" algn="ctr">
              <a:lnSpc>
                <a:spcPts val="1000"/>
              </a:lnSpc>
              <a:spcBef>
                <a:spcPts val="0"/>
              </a:spcBef>
              <a:defRPr/>
            </a:pPr>
            <a:r>
              <a:rPr lang="en-US" altLang="zh-TW" sz="1200" b="1" dirty="0">
                <a:latin typeface="+mn-lt"/>
                <a:ea typeface="Noto Sans HK" panose="020B0200000000000000" pitchFamily="34" charset="-120"/>
                <a:cs typeface="Arial" panose="020B0604020202020204" pitchFamily="34" charset="0"/>
              </a:rPr>
              <a:t>PTQ</a:t>
            </a:r>
            <a:br>
              <a:rPr lang="en-US" altLang="zh-TW" sz="1000" dirty="0">
                <a:latin typeface="+mn-lt"/>
                <a:ea typeface="Noto Sans HK" panose="020B0200000000000000" pitchFamily="34" charset="-120"/>
                <a:cs typeface="Arial" panose="020B0604020202020204" pitchFamily="34" charset="0"/>
              </a:rPr>
            </a:br>
            <a:r>
              <a:rPr lang="en-US" altLang="zh-TW" sz="1000" dirty="0">
                <a:latin typeface="+mn-lt"/>
                <a:ea typeface="Noto Sans HK" panose="020B0200000000000000" pitchFamily="34" charset="-120"/>
                <a:cs typeface="Arial" panose="020B0604020202020204" pitchFamily="34" charset="0"/>
              </a:rPr>
              <a:t>(</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Precision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58" name="標題 1">
            <a:extLst>
              <a:ext uri="{FF2B5EF4-FFF2-40B4-BE49-F238E27FC236}">
                <a16:creationId xmlns:a16="http://schemas.microsoft.com/office/drawing/2014/main" id="{0090CFC2-B2C3-795C-E73F-AE2C84936473}"/>
              </a:ext>
            </a:extLst>
          </p:cNvPr>
          <p:cNvSpPr txBox="1">
            <a:spLocks/>
          </p:cNvSpPr>
          <p:nvPr/>
        </p:nvSpPr>
        <p:spPr>
          <a:xfrm>
            <a:off x="5803721" y="3944782"/>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lnSpc>
                <a:spcPts val="1000"/>
              </a:lnSpc>
            </a:pPr>
            <a:r>
              <a:rPr lang="en-US" altLang="zh-TW" sz="1200" b="1" dirty="0">
                <a:latin typeface="+mn-lt"/>
                <a:ea typeface="Noto Sans HK" panose="020B0200000000000000" pitchFamily="34" charset="-120"/>
                <a:cs typeface="Arial" panose="020B0604020202020204" pitchFamily="34" charset="0"/>
              </a:rPr>
              <a:t>PRUNING</a:t>
            </a:r>
          </a:p>
          <a:p>
            <a:pPr lvl="0" algn="ctr">
              <a:lnSpc>
                <a:spcPts val="1000"/>
              </a:lnSpc>
              <a:spcBef>
                <a:spcPts val="0"/>
              </a:spcBef>
              <a:defRPr/>
            </a:pP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(Dimension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16" name="標題 1">
            <a:extLst>
              <a:ext uri="{FF2B5EF4-FFF2-40B4-BE49-F238E27FC236}">
                <a16:creationId xmlns:a16="http://schemas.microsoft.com/office/drawing/2014/main" id="{D7904C49-4BB8-1FF5-995D-DC1BDC65925E}"/>
              </a:ext>
            </a:extLst>
          </p:cNvPr>
          <p:cNvSpPr txBox="1">
            <a:spLocks/>
          </p:cNvSpPr>
          <p:nvPr/>
        </p:nvSpPr>
        <p:spPr>
          <a:xfrm>
            <a:off x="929053" y="4262496"/>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Pre-Training</a:t>
            </a:r>
          </a:p>
        </p:txBody>
      </p:sp>
      <p:sp>
        <p:nvSpPr>
          <p:cNvPr id="54" name="文字方塊 53">
            <a:extLst>
              <a:ext uri="{FF2B5EF4-FFF2-40B4-BE49-F238E27FC236}">
                <a16:creationId xmlns:a16="http://schemas.microsoft.com/office/drawing/2014/main" id="{9E691904-0820-18B0-4CA4-0C81702D74D5}"/>
              </a:ext>
            </a:extLst>
          </p:cNvPr>
          <p:cNvSpPr txBox="1"/>
          <p:nvPr/>
        </p:nvSpPr>
        <p:spPr>
          <a:xfrm>
            <a:off x="6936249" y="2181592"/>
            <a:ext cx="446943" cy="190842"/>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10" name="標題 1">
            <a:extLst>
              <a:ext uri="{FF2B5EF4-FFF2-40B4-BE49-F238E27FC236}">
                <a16:creationId xmlns:a16="http://schemas.microsoft.com/office/drawing/2014/main" id="{6D8F9B5A-AD42-7F5E-59D3-5A2BC7763CF0}"/>
              </a:ext>
            </a:extLst>
          </p:cNvPr>
          <p:cNvSpPr txBox="1">
            <a:spLocks/>
          </p:cNvSpPr>
          <p:nvPr/>
        </p:nvSpPr>
        <p:spPr>
          <a:xfrm>
            <a:off x="6899462" y="4376830"/>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QAD</a:t>
            </a:r>
          </a:p>
        </p:txBody>
      </p:sp>
      <p:cxnSp>
        <p:nvCxnSpPr>
          <p:cNvPr id="121" name="直線單箭頭接點 120">
            <a:extLst>
              <a:ext uri="{FF2B5EF4-FFF2-40B4-BE49-F238E27FC236}">
                <a16:creationId xmlns:a16="http://schemas.microsoft.com/office/drawing/2014/main" id="{958C702D-720A-4007-6D16-2D4BCAC13B6B}"/>
              </a:ext>
            </a:extLst>
          </p:cNvPr>
          <p:cNvCxnSpPr>
            <a:cxnSpLocks/>
            <a:stCxn id="118" idx="0"/>
            <a:endCxn id="139" idx="2"/>
          </p:cNvCxnSpPr>
          <p:nvPr/>
        </p:nvCxnSpPr>
        <p:spPr>
          <a:xfrm flipH="1" flipV="1">
            <a:off x="3004910" y="1521510"/>
            <a:ext cx="2"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35" name="矩形: 圓角 134">
            <a:extLst>
              <a:ext uri="{FF2B5EF4-FFF2-40B4-BE49-F238E27FC236}">
                <a16:creationId xmlns:a16="http://schemas.microsoft.com/office/drawing/2014/main" id="{EFEB4379-478B-ED90-928C-8ABA214FEFAD}"/>
              </a:ext>
            </a:extLst>
          </p:cNvPr>
          <p:cNvSpPr/>
          <p:nvPr/>
        </p:nvSpPr>
        <p:spPr>
          <a:xfrm>
            <a:off x="2422005" y="1607424"/>
            <a:ext cx="1157348" cy="1121017"/>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9" name="文字方塊 18">
            <a:extLst>
              <a:ext uri="{FF2B5EF4-FFF2-40B4-BE49-F238E27FC236}">
                <a16:creationId xmlns:a16="http://schemas.microsoft.com/office/drawing/2014/main" id="{56AA90C8-F0F4-60D7-CC2D-4ACFC9D0DB57}"/>
              </a:ext>
            </a:extLst>
          </p:cNvPr>
          <p:cNvSpPr txBox="1"/>
          <p:nvPr/>
        </p:nvSpPr>
        <p:spPr>
          <a:xfrm>
            <a:off x="2619400" y="1855569"/>
            <a:ext cx="872480" cy="548097"/>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Layer</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r>
              <a:rPr lang="en-US" altLang="zh-TW" sz="1000"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p>
          <a:p>
            <a:pPr algn="ctr">
              <a:lnSpc>
                <a:spcPts val="1400"/>
              </a:lnSpc>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Dimension</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endParaRPr lang="en-US" altLang="zh-TW" sz="1000" b="1"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5" name="矩形: 圓角 24">
            <a:extLst>
              <a:ext uri="{FF2B5EF4-FFF2-40B4-BE49-F238E27FC236}">
                <a16:creationId xmlns:a16="http://schemas.microsoft.com/office/drawing/2014/main" id="{038139EC-2911-D766-E9F4-9EC4A47613F0}"/>
              </a:ext>
            </a:extLst>
          </p:cNvPr>
          <p:cNvSpPr/>
          <p:nvPr/>
        </p:nvSpPr>
        <p:spPr>
          <a:xfrm>
            <a:off x="6871636" y="4882671"/>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26" name="文字方塊 25">
            <a:extLst>
              <a:ext uri="{FF2B5EF4-FFF2-40B4-BE49-F238E27FC236}">
                <a16:creationId xmlns:a16="http://schemas.microsoft.com/office/drawing/2014/main" id="{888D032C-2C1E-12FF-C88A-C93002A64CFF}"/>
              </a:ext>
            </a:extLst>
          </p:cNvPr>
          <p:cNvSpPr txBox="1"/>
          <p:nvPr/>
        </p:nvSpPr>
        <p:spPr>
          <a:xfrm>
            <a:off x="6948734" y="4946395"/>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7" name="文字方塊 26">
            <a:extLst>
              <a:ext uri="{FF2B5EF4-FFF2-40B4-BE49-F238E27FC236}">
                <a16:creationId xmlns:a16="http://schemas.microsoft.com/office/drawing/2014/main" id="{44886D9A-736F-C281-2F59-B52D321C5207}"/>
              </a:ext>
            </a:extLst>
          </p:cNvPr>
          <p:cNvSpPr txBox="1"/>
          <p:nvPr/>
        </p:nvSpPr>
        <p:spPr>
          <a:xfrm>
            <a:off x="6948734" y="5417837"/>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 name="直線單箭頭接點 29">
            <a:extLst>
              <a:ext uri="{FF2B5EF4-FFF2-40B4-BE49-F238E27FC236}">
                <a16:creationId xmlns:a16="http://schemas.microsoft.com/office/drawing/2014/main" id="{7858E5B8-E8AC-C548-9D59-288F9AD872C0}"/>
              </a:ext>
            </a:extLst>
          </p:cNvPr>
          <p:cNvCxnSpPr>
            <a:cxnSpLocks/>
            <a:stCxn id="34" idx="0"/>
            <a:endCxn id="27" idx="2"/>
          </p:cNvCxnSpPr>
          <p:nvPr/>
        </p:nvCxnSpPr>
        <p:spPr>
          <a:xfrm flipV="1">
            <a:off x="7155100" y="5788695"/>
            <a:ext cx="1851" cy="20277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4" name="文字方塊 33">
            <a:extLst>
              <a:ext uri="{FF2B5EF4-FFF2-40B4-BE49-F238E27FC236}">
                <a16:creationId xmlns:a16="http://schemas.microsoft.com/office/drawing/2014/main" id="{BDF147AB-9484-60B6-4538-414E0D6275A5}"/>
              </a:ext>
            </a:extLst>
          </p:cNvPr>
          <p:cNvSpPr txBox="1"/>
          <p:nvPr/>
        </p:nvSpPr>
        <p:spPr>
          <a:xfrm>
            <a:off x="6899462" y="5991469"/>
            <a:ext cx="511276" cy="288032"/>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200"/>
              </a:lnSpc>
              <a:buNone/>
            </a:pPr>
            <a:r>
              <a:rPr kumimoji="0" lang="en-US" altLang="zh-TW" sz="1000" b="1" strike="noStrike" kern="1200" cap="none" spc="0" normalizeH="0" noProof="0" dirty="0">
                <a:ln>
                  <a:noFill/>
                </a:ln>
                <a:effectLst/>
                <a:uLnTx/>
                <a:uFillTx/>
                <a:latin typeface="Consolas" panose="020B0609020204030204" pitchFamily="49" charset="0"/>
                <a:ea typeface="新細明體" panose="02020500000000000000" pitchFamily="18" charset="-120"/>
                <a:cs typeface="+mn-cs"/>
              </a:rPr>
              <a:t>Mentor</a:t>
            </a:r>
          </a:p>
          <a:p>
            <a:pPr marL="0" algn="ctr" rtl="0" eaLnBrk="1" fontAlgn="ctr" latinLnBrk="0" hangingPunct="1">
              <a:lnSpc>
                <a:spcPts val="1200"/>
              </a:lnSpc>
              <a:buNone/>
            </a:pPr>
            <a:r>
              <a:rPr lang="en-US" altLang="zh-TW" sz="1000" b="1" dirty="0">
                <a:latin typeface="Consolas" panose="020B0609020204030204" pitchFamily="49" charset="0"/>
                <a:ea typeface="新細明體" panose="02020500000000000000" pitchFamily="18" charset="-120"/>
              </a:rPr>
              <a:t>Model</a:t>
            </a:r>
            <a:endParaRPr kumimoji="0" lang="zh-TW" altLang="zh-TW" sz="1000" strike="noStrike" kern="1200" cap="none" spc="0" normalizeH="0" noProof="0" dirty="0">
              <a:ln>
                <a:noFill/>
              </a:ln>
              <a:effectLst/>
              <a:uLnTx/>
              <a:uFillTx/>
              <a:latin typeface="Consolas" panose="020B0609020204030204" pitchFamily="49" charset="0"/>
              <a:ea typeface="新細明體" panose="02020500000000000000" pitchFamily="18" charset="-120"/>
              <a:cs typeface="+mn-cs"/>
            </a:endParaRPr>
          </a:p>
        </p:txBody>
      </p:sp>
      <p:sp>
        <p:nvSpPr>
          <p:cNvPr id="35" name="文字方塊 34">
            <a:extLst>
              <a:ext uri="{FF2B5EF4-FFF2-40B4-BE49-F238E27FC236}">
                <a16:creationId xmlns:a16="http://schemas.microsoft.com/office/drawing/2014/main" id="{B4E66B93-719D-CBB5-EF4B-34F3D4D5E385}"/>
              </a:ext>
            </a:extLst>
          </p:cNvPr>
          <p:cNvSpPr txBox="1"/>
          <p:nvPr/>
        </p:nvSpPr>
        <p:spPr>
          <a:xfrm>
            <a:off x="7398774" y="4946395"/>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6" name="文字方塊 35">
            <a:extLst>
              <a:ext uri="{FF2B5EF4-FFF2-40B4-BE49-F238E27FC236}">
                <a16:creationId xmlns:a16="http://schemas.microsoft.com/office/drawing/2014/main" id="{778BE287-ABAE-8938-B37C-19FD2B4B229E}"/>
              </a:ext>
            </a:extLst>
          </p:cNvPr>
          <p:cNvSpPr txBox="1"/>
          <p:nvPr/>
        </p:nvSpPr>
        <p:spPr>
          <a:xfrm>
            <a:off x="7398774" y="5417837"/>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44" name="矩形: 圓角 43">
            <a:extLst>
              <a:ext uri="{FF2B5EF4-FFF2-40B4-BE49-F238E27FC236}">
                <a16:creationId xmlns:a16="http://schemas.microsoft.com/office/drawing/2014/main" id="{5DE4A9B2-62EF-A9B5-5ECE-ED795AB7D94A}"/>
              </a:ext>
            </a:extLst>
          </p:cNvPr>
          <p:cNvSpPr/>
          <p:nvPr/>
        </p:nvSpPr>
        <p:spPr>
          <a:xfrm>
            <a:off x="6802561" y="4820861"/>
            <a:ext cx="862185" cy="109860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cxnSp>
        <p:nvCxnSpPr>
          <p:cNvPr id="60" name="直線單箭頭接點 59">
            <a:extLst>
              <a:ext uri="{FF2B5EF4-FFF2-40B4-BE49-F238E27FC236}">
                <a16:creationId xmlns:a16="http://schemas.microsoft.com/office/drawing/2014/main" id="{2C954AD7-E402-6AFC-8B91-CBAD6E53D57E}"/>
              </a:ext>
            </a:extLst>
          </p:cNvPr>
          <p:cNvCxnSpPr>
            <a:cxnSpLocks/>
            <a:stCxn id="26" idx="0"/>
            <a:endCxn id="62" idx="2"/>
          </p:cNvCxnSpPr>
          <p:nvPr/>
        </p:nvCxnSpPr>
        <p:spPr>
          <a:xfrm flipH="1" flipV="1">
            <a:off x="7155101" y="4747761"/>
            <a:ext cx="1850" cy="19863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D36BF304-77E9-0856-4BC0-AEEE5DDEDB92}"/>
              </a:ext>
            </a:extLst>
          </p:cNvPr>
          <p:cNvSpPr txBox="1"/>
          <p:nvPr/>
        </p:nvSpPr>
        <p:spPr>
          <a:xfrm>
            <a:off x="6931629" y="4592854"/>
            <a:ext cx="446943" cy="154907"/>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Logit</a:t>
            </a:r>
          </a:p>
        </p:txBody>
      </p:sp>
      <p:sp>
        <p:nvSpPr>
          <p:cNvPr id="90" name="文字方塊 89">
            <a:extLst>
              <a:ext uri="{FF2B5EF4-FFF2-40B4-BE49-F238E27FC236}">
                <a16:creationId xmlns:a16="http://schemas.microsoft.com/office/drawing/2014/main" id="{2AB2E4CD-81A2-C891-8A8A-C932E820910C}"/>
              </a:ext>
            </a:extLst>
          </p:cNvPr>
          <p:cNvSpPr txBox="1"/>
          <p:nvPr/>
        </p:nvSpPr>
        <p:spPr>
          <a:xfrm>
            <a:off x="8100392" y="2492896"/>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algn="ctr">
              <a:lnSpc>
                <a:spcPts val="1200"/>
              </a:lnSpc>
              <a:buNone/>
            </a:pPr>
            <a:r>
              <a:rPr lang="en-US" altLang="zh-TW" sz="1400" b="1" u="none" strike="noStrike" dirty="0">
                <a:effectLst/>
              </a:rPr>
              <a:t>Full-FT</a:t>
            </a:r>
            <a:br>
              <a:rPr lang="en-US" altLang="zh-TW" sz="1400" b="1" u="none" strike="noStrike" dirty="0">
                <a:effectLst/>
              </a:rPr>
            </a:br>
            <a:r>
              <a:rPr lang="en-US" altLang="zh-TW" sz="1200" u="none" strike="noStrike" dirty="0">
                <a:effectLst/>
              </a:rPr>
              <a:t>mobile</a:t>
            </a:r>
            <a:r>
              <a:rPr lang="zh-TW" altLang="en-US" sz="1200" u="none" strike="noStrike" dirty="0">
                <a:effectLst/>
              </a:rPr>
              <a:t> </a:t>
            </a:r>
            <a:r>
              <a:rPr lang="en-US" altLang="zh-TW" sz="1200" u="none" strike="noStrike" dirty="0">
                <a:effectLst/>
              </a:rPr>
              <a:t>phone</a:t>
            </a:r>
          </a:p>
        </p:txBody>
      </p:sp>
      <p:sp>
        <p:nvSpPr>
          <p:cNvPr id="97" name="文字方塊 96">
            <a:extLst>
              <a:ext uri="{FF2B5EF4-FFF2-40B4-BE49-F238E27FC236}">
                <a16:creationId xmlns:a16="http://schemas.microsoft.com/office/drawing/2014/main" id="{8E46294F-E8D5-8000-D7A7-61B2407B3F27}"/>
              </a:ext>
            </a:extLst>
          </p:cNvPr>
          <p:cNvSpPr txBox="1"/>
          <p:nvPr/>
        </p:nvSpPr>
        <p:spPr>
          <a:xfrm>
            <a:off x="8100392" y="4221088"/>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INT4</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200" dirty="0">
                <a:solidFill>
                  <a:prstClr val="black"/>
                </a:solidFill>
                <a:latin typeface="Calibri"/>
                <a:ea typeface="新細明體" panose="02020500000000000000" pitchFamily="18" charset="-120"/>
              </a:rPr>
              <a:t>NV, Qualcomm</a:t>
            </a:r>
            <a:endPar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p:sp>
        <p:nvSpPr>
          <p:cNvPr id="99" name="文字方塊 98">
            <a:extLst>
              <a:ext uri="{FF2B5EF4-FFF2-40B4-BE49-F238E27FC236}">
                <a16:creationId xmlns:a16="http://schemas.microsoft.com/office/drawing/2014/main" id="{088F6325-C28A-4157-F3A9-7C1C0E7C8669}"/>
              </a:ext>
            </a:extLst>
          </p:cNvPr>
          <p:cNvSpPr txBox="1"/>
          <p:nvPr/>
        </p:nvSpPr>
        <p:spPr>
          <a:xfrm>
            <a:off x="8100392" y="3068960"/>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PEFT + Q</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4-bit / 8-bit</a:t>
            </a:r>
          </a:p>
        </p:txBody>
      </p:sp>
      <p:graphicFrame>
        <p:nvGraphicFramePr>
          <p:cNvPr id="101" name="表格 100">
            <a:extLst>
              <a:ext uri="{FF2B5EF4-FFF2-40B4-BE49-F238E27FC236}">
                <a16:creationId xmlns:a16="http://schemas.microsoft.com/office/drawing/2014/main" id="{62234615-AD4E-B363-8156-95B96ED52ACE}"/>
              </a:ext>
            </a:extLst>
          </p:cNvPr>
          <p:cNvGraphicFramePr>
            <a:graphicFrameLocks noGrp="1"/>
          </p:cNvGraphicFramePr>
          <p:nvPr/>
        </p:nvGraphicFramePr>
        <p:xfrm>
          <a:off x="446679" y="5483659"/>
          <a:ext cx="2061433" cy="871606"/>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32296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Quantization-Aware (QA)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76164">
                <a:tc>
                  <a:txBody>
                    <a:bodyPr/>
                    <a:lstStyle/>
                    <a:p>
                      <a:pPr algn="l"/>
                      <a:r>
                        <a:rPr lang="en-US" altLang="zh-TW" sz="1200" b="0" cap="none" spc="0" dirty="0">
                          <a:ln w="0"/>
                          <a:solidFill>
                            <a:schemeClr val="tx1"/>
                          </a:solidFill>
                          <a:effectLst/>
                        </a:rPr>
                        <a:t>Fake Quantization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761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FP: Quantization Noise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49197690"/>
                  </a:ext>
                </a:extLst>
              </a:tr>
              <a:tr h="1761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BP: Straight-Through Estimator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76899233"/>
                  </a:ext>
                </a:extLst>
              </a:tr>
            </a:tbl>
          </a:graphicData>
        </a:graphic>
      </p:graphicFrame>
      <p:sp>
        <p:nvSpPr>
          <p:cNvPr id="105" name="矩形: 圓角 104">
            <a:extLst>
              <a:ext uri="{FF2B5EF4-FFF2-40B4-BE49-F238E27FC236}">
                <a16:creationId xmlns:a16="http://schemas.microsoft.com/office/drawing/2014/main" id="{7C945779-99C8-E510-B0CC-B3511BDE59A2}"/>
              </a:ext>
            </a:extLst>
          </p:cNvPr>
          <p:cNvSpPr/>
          <p:nvPr/>
        </p:nvSpPr>
        <p:spPr>
          <a:xfrm>
            <a:off x="5604492" y="1916832"/>
            <a:ext cx="2204154" cy="440421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r>
              <a:rPr lang="en-US" altLang="zh-TW" sz="1000" dirty="0">
                <a:solidFill>
                  <a:schemeClr val="accent2">
                    <a:lumMod val="50000"/>
                  </a:schemeClr>
                </a:solidFill>
                <a:latin typeface="ADLaM Display" panose="02010000000000000000" pitchFamily="2" charset="0"/>
                <a:cs typeface="ADLaM Display" panose="02010000000000000000" pitchFamily="2" charset="0"/>
              </a:rPr>
              <a:t>Quantization</a:t>
            </a: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nvGrpSpPr>
          <p:cNvPr id="149" name="群組 148">
            <a:extLst>
              <a:ext uri="{FF2B5EF4-FFF2-40B4-BE49-F238E27FC236}">
                <a16:creationId xmlns:a16="http://schemas.microsoft.com/office/drawing/2014/main" id="{325668A4-D446-9102-28ED-F52E943FA4E6}"/>
              </a:ext>
            </a:extLst>
          </p:cNvPr>
          <p:cNvGrpSpPr/>
          <p:nvPr/>
        </p:nvGrpSpPr>
        <p:grpSpPr>
          <a:xfrm>
            <a:off x="3971048" y="1140776"/>
            <a:ext cx="1078066" cy="2271474"/>
            <a:chOff x="3971048" y="1140776"/>
            <a:chExt cx="1078066" cy="2271474"/>
          </a:xfrm>
        </p:grpSpPr>
        <p:sp>
          <p:nvSpPr>
            <p:cNvPr id="231" name="矩形: 圓角 230">
              <a:extLst>
                <a:ext uri="{FF2B5EF4-FFF2-40B4-BE49-F238E27FC236}">
                  <a16:creationId xmlns:a16="http://schemas.microsoft.com/office/drawing/2014/main" id="{45D54DA9-81FE-C438-046A-1A46ED3096E4}"/>
                </a:ext>
              </a:extLst>
            </p:cNvPr>
            <p:cNvSpPr/>
            <p:nvPr/>
          </p:nvSpPr>
          <p:spPr>
            <a:xfrm>
              <a:off x="4039595" y="1701650"/>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32" name="文字方塊 231">
              <a:extLst>
                <a:ext uri="{FF2B5EF4-FFF2-40B4-BE49-F238E27FC236}">
                  <a16:creationId xmlns:a16="http://schemas.microsoft.com/office/drawing/2014/main" id="{2915F053-5BA3-91A3-F3A0-E318E31CF1D9}"/>
                </a:ext>
              </a:extLst>
            </p:cNvPr>
            <p:cNvSpPr txBox="1"/>
            <p:nvPr/>
          </p:nvSpPr>
          <p:spPr>
            <a:xfrm>
              <a:off x="4106989" y="1765374"/>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33" name="文字方塊 232">
              <a:extLst>
                <a:ext uri="{FF2B5EF4-FFF2-40B4-BE49-F238E27FC236}">
                  <a16:creationId xmlns:a16="http://schemas.microsoft.com/office/drawing/2014/main" id="{26EFE7DA-DC3D-61EF-CA7F-CDB6E8A8BB1F}"/>
                </a:ext>
              </a:extLst>
            </p:cNvPr>
            <p:cNvSpPr txBox="1"/>
            <p:nvPr/>
          </p:nvSpPr>
          <p:spPr>
            <a:xfrm>
              <a:off x="4106989" y="2236816"/>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5" name="直線單箭頭接點 234">
              <a:extLst>
                <a:ext uri="{FF2B5EF4-FFF2-40B4-BE49-F238E27FC236}">
                  <a16:creationId xmlns:a16="http://schemas.microsoft.com/office/drawing/2014/main" id="{280F35D4-BAD6-1EA4-8951-F083A9B10714}"/>
                </a:ext>
              </a:extLst>
            </p:cNvPr>
            <p:cNvCxnSpPr>
              <a:cxnSpLocks/>
              <a:stCxn id="237" idx="0"/>
              <a:endCxn id="233" idx="2"/>
            </p:cNvCxnSpPr>
            <p:nvPr/>
          </p:nvCxnSpPr>
          <p:spPr>
            <a:xfrm flipV="1">
              <a:off x="4366676" y="2607674"/>
              <a:ext cx="1857" cy="23811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36" name="直線單箭頭接點 235">
              <a:extLst>
                <a:ext uri="{FF2B5EF4-FFF2-40B4-BE49-F238E27FC236}">
                  <a16:creationId xmlns:a16="http://schemas.microsoft.com/office/drawing/2014/main" id="{FFBF7D4D-75E4-EAF1-B65E-C8CB1B654F37}"/>
                </a:ext>
              </a:extLst>
            </p:cNvPr>
            <p:cNvCxnSpPr>
              <a:cxnSpLocks/>
              <a:stCxn id="233" idx="0"/>
              <a:endCxn id="232" idx="2"/>
            </p:cNvCxnSpPr>
            <p:nvPr/>
          </p:nvCxnSpPr>
          <p:spPr>
            <a:xfrm flipV="1">
              <a:off x="4368533" y="2136232"/>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237" name="文字方塊 236">
              <a:extLst>
                <a:ext uri="{FF2B5EF4-FFF2-40B4-BE49-F238E27FC236}">
                  <a16:creationId xmlns:a16="http://schemas.microsoft.com/office/drawing/2014/main" id="{E79CA7A2-37EC-63CC-FF32-801B15CF6DFD}"/>
                </a:ext>
              </a:extLst>
            </p:cNvPr>
            <p:cNvSpPr txBox="1"/>
            <p:nvPr/>
          </p:nvSpPr>
          <p:spPr>
            <a:xfrm>
              <a:off x="4150652" y="2845785"/>
              <a:ext cx="432048" cy="36719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238" name="文字方塊 237">
              <a:extLst>
                <a:ext uri="{FF2B5EF4-FFF2-40B4-BE49-F238E27FC236}">
                  <a16:creationId xmlns:a16="http://schemas.microsoft.com/office/drawing/2014/main" id="{E4CBB606-3145-C366-F2CA-61F748F8E672}"/>
                </a:ext>
              </a:extLst>
            </p:cNvPr>
            <p:cNvSpPr txBox="1"/>
            <p:nvPr/>
          </p:nvSpPr>
          <p:spPr>
            <a:xfrm>
              <a:off x="3971048" y="1140776"/>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5" name="標題 1">
              <a:extLst>
                <a:ext uri="{FF2B5EF4-FFF2-40B4-BE49-F238E27FC236}">
                  <a16:creationId xmlns:a16="http://schemas.microsoft.com/office/drawing/2014/main" id="{6F6F6AAC-AA6F-4EE2-07D9-BB9A5FBD34B2}"/>
                </a:ext>
              </a:extLst>
            </p:cNvPr>
            <p:cNvSpPr txBox="1">
              <a:spLocks/>
            </p:cNvSpPr>
            <p:nvPr/>
          </p:nvSpPr>
          <p:spPr>
            <a:xfrm>
              <a:off x="4067944" y="3212976"/>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Full-FT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cxnSp>
          <p:nvCxnSpPr>
            <p:cNvPr id="234" name="直線單箭頭接點 233">
              <a:extLst>
                <a:ext uri="{FF2B5EF4-FFF2-40B4-BE49-F238E27FC236}">
                  <a16:creationId xmlns:a16="http://schemas.microsoft.com/office/drawing/2014/main" id="{AFADEF92-C88A-CA53-FDE0-5F7892DC5CFD}"/>
                </a:ext>
              </a:extLst>
            </p:cNvPr>
            <p:cNvCxnSpPr>
              <a:cxnSpLocks/>
              <a:stCxn id="232" idx="0"/>
              <a:endCxn id="238" idx="2"/>
            </p:cNvCxnSpPr>
            <p:nvPr/>
          </p:nvCxnSpPr>
          <p:spPr>
            <a:xfrm flipH="1" flipV="1">
              <a:off x="4368532" y="1518692"/>
              <a:ext cx="1"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0" name="矩形: 圓角 299">
              <a:extLst>
                <a:ext uri="{FF2B5EF4-FFF2-40B4-BE49-F238E27FC236}">
                  <a16:creationId xmlns:a16="http://schemas.microsoft.com/office/drawing/2014/main" id="{72283385-EF65-D064-44F7-ED7DF89F2AE4}"/>
                </a:ext>
              </a:extLst>
            </p:cNvPr>
            <p:cNvSpPr/>
            <p:nvPr/>
          </p:nvSpPr>
          <p:spPr>
            <a:xfrm>
              <a:off x="3976886" y="1605576"/>
              <a:ext cx="746408" cy="1121017"/>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grpSp>
      <p:grpSp>
        <p:nvGrpSpPr>
          <p:cNvPr id="128" name="群組 127">
            <a:extLst>
              <a:ext uri="{FF2B5EF4-FFF2-40B4-BE49-F238E27FC236}">
                <a16:creationId xmlns:a16="http://schemas.microsoft.com/office/drawing/2014/main" id="{54D06E2C-3FA0-3B42-0585-4F52CCF2DA87}"/>
              </a:ext>
            </a:extLst>
          </p:cNvPr>
          <p:cNvGrpSpPr/>
          <p:nvPr/>
        </p:nvGrpSpPr>
        <p:grpSpPr>
          <a:xfrm>
            <a:off x="3923928" y="3645024"/>
            <a:ext cx="1125186" cy="2088232"/>
            <a:chOff x="3923928" y="3645024"/>
            <a:chExt cx="1125186" cy="2088232"/>
          </a:xfrm>
        </p:grpSpPr>
        <p:sp>
          <p:nvSpPr>
            <p:cNvPr id="303" name="矩形: 圓角 302">
              <a:extLst>
                <a:ext uri="{FF2B5EF4-FFF2-40B4-BE49-F238E27FC236}">
                  <a16:creationId xmlns:a16="http://schemas.microsoft.com/office/drawing/2014/main" id="{E979668C-1675-047A-AB0A-72961AD64DC2}"/>
                </a:ext>
              </a:extLst>
            </p:cNvPr>
            <p:cNvSpPr/>
            <p:nvPr/>
          </p:nvSpPr>
          <p:spPr>
            <a:xfrm>
              <a:off x="3992475" y="4058948"/>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04" name="文字方塊 303">
              <a:extLst>
                <a:ext uri="{FF2B5EF4-FFF2-40B4-BE49-F238E27FC236}">
                  <a16:creationId xmlns:a16="http://schemas.microsoft.com/office/drawing/2014/main" id="{1BE78960-095F-03AA-5CF1-43CA262380D5}"/>
                </a:ext>
              </a:extLst>
            </p:cNvPr>
            <p:cNvSpPr txBox="1"/>
            <p:nvPr/>
          </p:nvSpPr>
          <p:spPr>
            <a:xfrm>
              <a:off x="4059869" y="4122672"/>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05" name="文字方塊 304">
              <a:extLst>
                <a:ext uri="{FF2B5EF4-FFF2-40B4-BE49-F238E27FC236}">
                  <a16:creationId xmlns:a16="http://schemas.microsoft.com/office/drawing/2014/main" id="{BE3E2506-D931-6DDB-E8E2-4F6D4B155C8E}"/>
                </a:ext>
              </a:extLst>
            </p:cNvPr>
            <p:cNvSpPr txBox="1"/>
            <p:nvPr/>
          </p:nvSpPr>
          <p:spPr>
            <a:xfrm>
              <a:off x="4059869" y="4594114"/>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6" name="直線單箭頭接點 305">
              <a:extLst>
                <a:ext uri="{FF2B5EF4-FFF2-40B4-BE49-F238E27FC236}">
                  <a16:creationId xmlns:a16="http://schemas.microsoft.com/office/drawing/2014/main" id="{CED5AFD8-7F9E-115D-A10B-D6EB519C0C2C}"/>
                </a:ext>
              </a:extLst>
            </p:cNvPr>
            <p:cNvCxnSpPr>
              <a:cxnSpLocks/>
              <a:stCxn id="304" idx="0"/>
              <a:endCxn id="310" idx="2"/>
            </p:cNvCxnSpPr>
            <p:nvPr/>
          </p:nvCxnSpPr>
          <p:spPr>
            <a:xfrm flipH="1" flipV="1">
              <a:off x="4321412" y="4022940"/>
              <a:ext cx="1" cy="9973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7" name="直線單箭頭接點 306">
              <a:extLst>
                <a:ext uri="{FF2B5EF4-FFF2-40B4-BE49-F238E27FC236}">
                  <a16:creationId xmlns:a16="http://schemas.microsoft.com/office/drawing/2014/main" id="{E4C3FB2A-315E-23D6-2838-943D77BE79D1}"/>
                </a:ext>
              </a:extLst>
            </p:cNvPr>
            <p:cNvCxnSpPr>
              <a:cxnSpLocks/>
              <a:stCxn id="309" idx="0"/>
              <a:endCxn id="305" idx="2"/>
            </p:cNvCxnSpPr>
            <p:nvPr/>
          </p:nvCxnSpPr>
          <p:spPr>
            <a:xfrm flipV="1">
              <a:off x="4319556" y="4964972"/>
              <a:ext cx="1857" cy="17905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8" name="直線單箭頭接點 307">
              <a:extLst>
                <a:ext uri="{FF2B5EF4-FFF2-40B4-BE49-F238E27FC236}">
                  <a16:creationId xmlns:a16="http://schemas.microsoft.com/office/drawing/2014/main" id="{8AD3E93F-3282-D2F8-28FA-263D53C0A3D6}"/>
                </a:ext>
              </a:extLst>
            </p:cNvPr>
            <p:cNvCxnSpPr>
              <a:cxnSpLocks/>
              <a:stCxn id="305" idx="0"/>
              <a:endCxn id="304" idx="2"/>
            </p:cNvCxnSpPr>
            <p:nvPr/>
          </p:nvCxnSpPr>
          <p:spPr>
            <a:xfrm flipV="1">
              <a:off x="4321413" y="449353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9" name="文字方塊 308">
              <a:extLst>
                <a:ext uri="{FF2B5EF4-FFF2-40B4-BE49-F238E27FC236}">
                  <a16:creationId xmlns:a16="http://schemas.microsoft.com/office/drawing/2014/main" id="{C07C3214-A890-341F-2ABA-EC9F5BDE38A4}"/>
                </a:ext>
              </a:extLst>
            </p:cNvPr>
            <p:cNvSpPr txBox="1"/>
            <p:nvPr/>
          </p:nvSpPr>
          <p:spPr>
            <a:xfrm>
              <a:off x="4103532" y="5144030"/>
              <a:ext cx="432048" cy="373202"/>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310" name="文字方塊 309">
              <a:extLst>
                <a:ext uri="{FF2B5EF4-FFF2-40B4-BE49-F238E27FC236}">
                  <a16:creationId xmlns:a16="http://schemas.microsoft.com/office/drawing/2014/main" id="{3EEE3D60-9DDA-59EF-9DF3-94A1CC72A610}"/>
                </a:ext>
              </a:extLst>
            </p:cNvPr>
            <p:cNvSpPr txBox="1"/>
            <p:nvPr/>
          </p:nvSpPr>
          <p:spPr>
            <a:xfrm>
              <a:off x="3923928" y="3645024"/>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312" name="文字方塊 311">
              <a:extLst>
                <a:ext uri="{FF2B5EF4-FFF2-40B4-BE49-F238E27FC236}">
                  <a16:creationId xmlns:a16="http://schemas.microsoft.com/office/drawing/2014/main" id="{8A5A3840-A3F7-2154-33FB-3424CAF267FE}"/>
                </a:ext>
              </a:extLst>
            </p:cNvPr>
            <p:cNvSpPr txBox="1"/>
            <p:nvPr/>
          </p:nvSpPr>
          <p:spPr>
            <a:xfrm>
              <a:off x="4642234" y="4122672"/>
              <a:ext cx="189751"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Adapter</a:t>
              </a:r>
            </a:p>
          </p:txBody>
        </p:sp>
        <p:sp>
          <p:nvSpPr>
            <p:cNvPr id="313" name="文字方塊 312">
              <a:extLst>
                <a:ext uri="{FF2B5EF4-FFF2-40B4-BE49-F238E27FC236}">
                  <a16:creationId xmlns:a16="http://schemas.microsoft.com/office/drawing/2014/main" id="{4C70843D-8C4D-B7FB-568A-374C7DC85E55}"/>
                </a:ext>
              </a:extLst>
            </p:cNvPr>
            <p:cNvSpPr txBox="1"/>
            <p:nvPr/>
          </p:nvSpPr>
          <p:spPr>
            <a:xfrm>
              <a:off x="4642234" y="4594114"/>
              <a:ext cx="19876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Adapter</a:t>
              </a:r>
            </a:p>
          </p:txBody>
        </p:sp>
        <p:sp>
          <p:nvSpPr>
            <p:cNvPr id="314" name="矩形: 圓角 313">
              <a:extLst>
                <a:ext uri="{FF2B5EF4-FFF2-40B4-BE49-F238E27FC236}">
                  <a16:creationId xmlns:a16="http://schemas.microsoft.com/office/drawing/2014/main" id="{0A3FD1D8-8B24-8160-A2DC-EA4E3F89C00E}"/>
                </a:ext>
              </a:extLst>
            </p:cNvPr>
            <p:cNvSpPr/>
            <p:nvPr/>
          </p:nvSpPr>
          <p:spPr>
            <a:xfrm>
              <a:off x="4581099" y="4013415"/>
              <a:ext cx="293347" cy="106095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 name="標題 1">
              <a:extLst>
                <a:ext uri="{FF2B5EF4-FFF2-40B4-BE49-F238E27FC236}">
                  <a16:creationId xmlns:a16="http://schemas.microsoft.com/office/drawing/2014/main" id="{C54505D7-E619-DAEA-2B54-9E119C3FCDE0}"/>
                </a:ext>
              </a:extLst>
            </p:cNvPr>
            <p:cNvSpPr txBox="1">
              <a:spLocks/>
            </p:cNvSpPr>
            <p:nvPr/>
          </p:nvSpPr>
          <p:spPr>
            <a:xfrm>
              <a:off x="4067944" y="5533982"/>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PEFT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sp>
          <p:nvSpPr>
            <p:cNvPr id="21" name="標題 1">
              <a:extLst>
                <a:ext uri="{FF2B5EF4-FFF2-40B4-BE49-F238E27FC236}">
                  <a16:creationId xmlns:a16="http://schemas.microsoft.com/office/drawing/2014/main" id="{38029C74-2663-CD68-BD22-D629C819599D}"/>
                </a:ext>
              </a:extLst>
            </p:cNvPr>
            <p:cNvSpPr txBox="1">
              <a:spLocks/>
            </p:cNvSpPr>
            <p:nvPr/>
          </p:nvSpPr>
          <p:spPr>
            <a:xfrm>
              <a:off x="4630988" y="5097167"/>
              <a:ext cx="180410"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FF0000"/>
                  </a:solidFill>
                  <a:latin typeface="+mn-lt"/>
                  <a:ea typeface="Noto Sans HK" panose="020B0200000000000000" pitchFamily="34" charset="-120"/>
                  <a:cs typeface="Arial" panose="020B0604020202020204" pitchFamily="34" charset="0"/>
                </a:rPr>
                <a:t>1%</a:t>
              </a:r>
            </a:p>
          </p:txBody>
        </p:sp>
        <p:sp>
          <p:nvSpPr>
            <p:cNvPr id="109" name="矩形: 圓角 108">
              <a:extLst>
                <a:ext uri="{FF2B5EF4-FFF2-40B4-BE49-F238E27FC236}">
                  <a16:creationId xmlns:a16="http://schemas.microsoft.com/office/drawing/2014/main" id="{60F6AB3F-3534-E587-A360-D1486A2D7322}"/>
                </a:ext>
              </a:extLst>
            </p:cNvPr>
            <p:cNvSpPr/>
            <p:nvPr/>
          </p:nvSpPr>
          <p:spPr>
            <a:xfrm>
              <a:off x="4635144" y="5540621"/>
              <a:ext cx="340696" cy="18612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sp>
        <p:nvSpPr>
          <p:cNvPr id="111" name="文字方塊 110">
            <a:extLst>
              <a:ext uri="{FF2B5EF4-FFF2-40B4-BE49-F238E27FC236}">
                <a16:creationId xmlns:a16="http://schemas.microsoft.com/office/drawing/2014/main" id="{3BEFA795-6B5D-D44D-7961-3C9B06DB3A44}"/>
              </a:ext>
            </a:extLst>
          </p:cNvPr>
          <p:cNvSpPr txBox="1"/>
          <p:nvPr/>
        </p:nvSpPr>
        <p:spPr>
          <a:xfrm>
            <a:off x="8097490" y="3645024"/>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lang="en-US" altLang="zh-TW" sz="1400" b="1" dirty="0">
                <a:solidFill>
                  <a:prstClr val="black"/>
                </a:solidFill>
                <a:latin typeface="Calibri"/>
                <a:ea typeface="新細明體" panose="02020500000000000000" pitchFamily="18" charset="-120"/>
              </a:rPr>
              <a:t> INT4</a:t>
            </a:r>
            <a:endPar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Quantization</a:t>
            </a:r>
          </a:p>
        </p:txBody>
      </p:sp>
      <p:sp>
        <p:nvSpPr>
          <p:cNvPr id="132" name="流程圖: 合併 131">
            <a:extLst>
              <a:ext uri="{FF2B5EF4-FFF2-40B4-BE49-F238E27FC236}">
                <a16:creationId xmlns:a16="http://schemas.microsoft.com/office/drawing/2014/main" id="{B318699F-9485-4652-8519-8E7321EEE6C1}"/>
              </a:ext>
            </a:extLst>
          </p:cNvPr>
          <p:cNvSpPr/>
          <p:nvPr/>
        </p:nvSpPr>
        <p:spPr>
          <a:xfrm>
            <a:off x="8388424" y="132772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Cost</a:t>
            </a:r>
            <a:endParaRPr lang="zh-TW" altLang="en-US" sz="1200" b="1" dirty="0">
              <a:solidFill>
                <a:schemeClr val="accent2">
                  <a:lumMod val="75000"/>
                </a:schemeClr>
              </a:solidFill>
            </a:endParaRPr>
          </a:p>
        </p:txBody>
      </p:sp>
      <p:cxnSp>
        <p:nvCxnSpPr>
          <p:cNvPr id="133" name="接點: 肘形 132">
            <a:extLst>
              <a:ext uri="{FF2B5EF4-FFF2-40B4-BE49-F238E27FC236}">
                <a16:creationId xmlns:a16="http://schemas.microsoft.com/office/drawing/2014/main" id="{25E3FDBC-A31D-8588-0E05-C4418761BDBC}"/>
              </a:ext>
            </a:extLst>
          </p:cNvPr>
          <p:cNvCxnSpPr>
            <a:cxnSpLocks/>
            <a:stCxn id="109" idx="3"/>
            <a:endCxn id="105" idx="1"/>
          </p:cNvCxnSpPr>
          <p:nvPr/>
        </p:nvCxnSpPr>
        <p:spPr>
          <a:xfrm flipV="1">
            <a:off x="4975840" y="4118939"/>
            <a:ext cx="628652" cy="1514746"/>
          </a:xfrm>
          <a:prstGeom prst="bentConnector3">
            <a:avLst>
              <a:gd name="adj1" fmla="val 56061"/>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138" name="接點: 肘形 137">
            <a:extLst>
              <a:ext uri="{FF2B5EF4-FFF2-40B4-BE49-F238E27FC236}">
                <a16:creationId xmlns:a16="http://schemas.microsoft.com/office/drawing/2014/main" id="{98D0DC95-1A97-D891-3726-7D42B7DA65C9}"/>
              </a:ext>
            </a:extLst>
          </p:cNvPr>
          <p:cNvCxnSpPr>
            <a:cxnSpLocks/>
            <a:endCxn id="105" idx="1"/>
          </p:cNvCxnSpPr>
          <p:nvPr/>
        </p:nvCxnSpPr>
        <p:spPr>
          <a:xfrm>
            <a:off x="5061781" y="3309809"/>
            <a:ext cx="542711" cy="809130"/>
          </a:xfrm>
          <a:prstGeom prst="bentConnector3">
            <a:avLst>
              <a:gd name="adj1" fmla="val 50000"/>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619206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7DFB4-612C-B0B9-4BE8-45819BE65B95}"/>
            </a:ext>
          </a:extLst>
        </p:cNvPr>
        <p:cNvGrpSpPr/>
        <p:nvPr/>
      </p:nvGrpSpPr>
      <p:grpSpPr>
        <a:xfrm>
          <a:off x="0" y="0"/>
          <a:ext cx="0" cy="0"/>
          <a:chOff x="0" y="0"/>
          <a:chExt cx="0" cy="0"/>
        </a:xfrm>
      </p:grpSpPr>
      <p:sp>
        <p:nvSpPr>
          <p:cNvPr id="9" name="文字方塊 8">
            <a:extLst>
              <a:ext uri="{FF2B5EF4-FFF2-40B4-BE49-F238E27FC236}">
                <a16:creationId xmlns:a16="http://schemas.microsoft.com/office/drawing/2014/main" id="{46EDBCD4-7EAC-421B-66FB-3388FFFF2900}"/>
              </a:ext>
            </a:extLst>
          </p:cNvPr>
          <p:cNvSpPr txBox="1"/>
          <p:nvPr/>
        </p:nvSpPr>
        <p:spPr>
          <a:xfrm>
            <a:off x="2456679" y="2515143"/>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3" name="標題 1">
            <a:extLst>
              <a:ext uri="{FF2B5EF4-FFF2-40B4-BE49-F238E27FC236}">
                <a16:creationId xmlns:a16="http://schemas.microsoft.com/office/drawing/2014/main" id="{5B7B60AB-5109-7BAE-FA39-45AF0A7FD0FA}"/>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Q</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uantization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w-</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ank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daptation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QLoRA freezes the base model, squeezing updates through a narrow parameter bottleneck (r). </a:t>
            </a:r>
          </a:p>
        </p:txBody>
      </p:sp>
      <p:sp>
        <p:nvSpPr>
          <p:cNvPr id="5" name="文字方塊 4">
            <a:extLst>
              <a:ext uri="{FF2B5EF4-FFF2-40B4-BE49-F238E27FC236}">
                <a16:creationId xmlns:a16="http://schemas.microsoft.com/office/drawing/2014/main" id="{6230C510-B223-AB07-63E6-5CA7DC527E06}"/>
              </a:ext>
            </a:extLst>
          </p:cNvPr>
          <p:cNvSpPr txBox="1"/>
          <p:nvPr/>
        </p:nvSpPr>
        <p:spPr>
          <a:xfrm>
            <a:off x="5546170" y="1432160"/>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6" name="文字方塊 5">
            <a:extLst>
              <a:ext uri="{FF2B5EF4-FFF2-40B4-BE49-F238E27FC236}">
                <a16:creationId xmlns:a16="http://schemas.microsoft.com/office/drawing/2014/main" id="{7E11950E-8F49-2745-2EDD-097C758F04BA}"/>
              </a:ext>
            </a:extLst>
          </p:cNvPr>
          <p:cNvSpPr txBox="1"/>
          <p:nvPr/>
        </p:nvSpPr>
        <p:spPr>
          <a:xfrm>
            <a:off x="5505822" y="2644706"/>
            <a:ext cx="79208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200</a:t>
            </a:r>
          </a:p>
          <a:p>
            <a:pPr algn="ctr">
              <a:lnSpc>
                <a:spcPts val="1400"/>
              </a:lnSpc>
              <a:buNone/>
            </a:pPr>
            <a:endParaRPr lang="en-US" altLang="zh-TW" sz="1200" dirty="0"/>
          </a:p>
        </p:txBody>
      </p:sp>
      <p:graphicFrame>
        <p:nvGraphicFramePr>
          <p:cNvPr id="7" name="表格 6">
            <a:extLst>
              <a:ext uri="{FF2B5EF4-FFF2-40B4-BE49-F238E27FC236}">
                <a16:creationId xmlns:a16="http://schemas.microsoft.com/office/drawing/2014/main" id="{174A7689-58E1-25E4-CAB8-C95092422A3B}"/>
              </a:ext>
            </a:extLst>
          </p:cNvPr>
          <p:cNvGraphicFramePr>
            <a:graphicFrameLocks noGrp="1"/>
          </p:cNvGraphicFramePr>
          <p:nvPr/>
        </p:nvGraphicFramePr>
        <p:xfrm>
          <a:off x="2408514" y="2852936"/>
          <a:ext cx="768819" cy="864096"/>
        </p:xfrm>
        <a:graphic>
          <a:graphicData uri="http://schemas.openxmlformats.org/drawingml/2006/table">
            <a:tbl>
              <a:tblPr firstRow="1" bandRow="1">
                <a:tableStyleId>{5C22544A-7EE6-4342-B048-85BDC9FD1C3A}</a:tableStyleId>
              </a:tblPr>
              <a:tblGrid>
                <a:gridCol w="256273">
                  <a:extLst>
                    <a:ext uri="{9D8B030D-6E8A-4147-A177-3AD203B41FA5}">
                      <a16:colId xmlns:a16="http://schemas.microsoft.com/office/drawing/2014/main" val="871242339"/>
                    </a:ext>
                  </a:extLst>
                </a:gridCol>
                <a:gridCol w="256273">
                  <a:extLst>
                    <a:ext uri="{9D8B030D-6E8A-4147-A177-3AD203B41FA5}">
                      <a16:colId xmlns:a16="http://schemas.microsoft.com/office/drawing/2014/main" val="506512337"/>
                    </a:ext>
                  </a:extLst>
                </a:gridCol>
                <a:gridCol w="256273">
                  <a:extLst>
                    <a:ext uri="{9D8B030D-6E8A-4147-A177-3AD203B41FA5}">
                      <a16:colId xmlns:a16="http://schemas.microsoft.com/office/drawing/2014/main" val="336640190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4F6F6C15-94A2-C0C5-36A9-0DAC9AAC3735}"/>
              </a:ext>
            </a:extLst>
          </p:cNvPr>
          <p:cNvGraphicFramePr>
            <a:graphicFrameLocks noGrp="1"/>
          </p:cNvGraphicFramePr>
          <p:nvPr/>
        </p:nvGraphicFramePr>
        <p:xfrm>
          <a:off x="5295270" y="1725388"/>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FDAA76A0-7CB4-DA0D-EDD9-6D1BAA982226}"/>
              </a:ext>
            </a:extLst>
          </p:cNvPr>
          <p:cNvSpPr txBox="1"/>
          <p:nvPr/>
        </p:nvSpPr>
        <p:spPr>
          <a:xfrm>
            <a:off x="3801863" y="278092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8</a:t>
            </a:r>
            <a:r>
              <a:rPr lang="en-US" altLang="zh-TW" sz="1400" b="1" u="none" strike="noStrike" dirty="0">
                <a:solidFill>
                  <a:schemeClr val="accent6">
                    <a:lumMod val="75000"/>
                  </a:schemeClr>
                </a:solidFill>
                <a:effectLst/>
              </a:rPr>
              <a:t> x 200</a:t>
            </a:r>
          </a:p>
          <a:p>
            <a:pPr algn="ctr">
              <a:lnSpc>
                <a:spcPts val="1400"/>
              </a:lnSpc>
              <a:buNone/>
            </a:pPr>
            <a:endParaRPr lang="en-US" altLang="zh-TW" sz="1200" dirty="0"/>
          </a:p>
        </p:txBody>
      </p:sp>
      <p:graphicFrame>
        <p:nvGraphicFramePr>
          <p:cNvPr id="11" name="表格 10">
            <a:extLst>
              <a:ext uri="{FF2B5EF4-FFF2-40B4-BE49-F238E27FC236}">
                <a16:creationId xmlns:a16="http://schemas.microsoft.com/office/drawing/2014/main" id="{970FEFC2-8AF0-B494-88D8-630F4FEC9716}"/>
              </a:ext>
            </a:extLst>
          </p:cNvPr>
          <p:cNvGraphicFramePr>
            <a:graphicFrameLocks noGrp="1"/>
          </p:cNvGraphicFramePr>
          <p:nvPr/>
        </p:nvGraphicFramePr>
        <p:xfrm>
          <a:off x="3426644" y="3074156"/>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12" name="表格 11">
            <a:extLst>
              <a:ext uri="{FF2B5EF4-FFF2-40B4-BE49-F238E27FC236}">
                <a16:creationId xmlns:a16="http://schemas.microsoft.com/office/drawing/2014/main" id="{FDFCECAB-DFF2-9A96-42C1-C1A92C90C67A}"/>
              </a:ext>
            </a:extLst>
          </p:cNvPr>
          <p:cNvGraphicFramePr>
            <a:graphicFrameLocks noGrp="1"/>
          </p:cNvGraphicFramePr>
          <p:nvPr/>
        </p:nvGraphicFramePr>
        <p:xfrm>
          <a:off x="5292080" y="2913354"/>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104674903"/>
                  </a:ext>
                </a:extLst>
              </a:tr>
            </a:tbl>
          </a:graphicData>
        </a:graphic>
      </p:graphicFrame>
      <p:sp>
        <p:nvSpPr>
          <p:cNvPr id="13" name="文字方塊 12">
            <a:extLst>
              <a:ext uri="{FF2B5EF4-FFF2-40B4-BE49-F238E27FC236}">
                <a16:creationId xmlns:a16="http://schemas.microsoft.com/office/drawing/2014/main" id="{CA418A53-024F-5256-DFDC-38C367C98546}"/>
              </a:ext>
            </a:extLst>
          </p:cNvPr>
          <p:cNvSpPr txBox="1"/>
          <p:nvPr/>
        </p:nvSpPr>
        <p:spPr>
          <a:xfrm>
            <a:off x="4010625" y="1721623"/>
            <a:ext cx="678086"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3345E229-AD34-1F98-A1EE-ED0FCB96825E}"/>
              </a:ext>
            </a:extLst>
          </p:cNvPr>
          <p:cNvGraphicFramePr>
            <a:graphicFrameLocks noGrp="1"/>
          </p:cNvGraphicFramePr>
          <p:nvPr/>
        </p:nvGraphicFramePr>
        <p:xfrm>
          <a:off x="3717516" y="199732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12B550F6-AAF7-C19A-A92E-CF87D9C54EF1}"/>
              </a:ext>
            </a:extLst>
          </p:cNvPr>
          <p:cNvSpPr txBox="1"/>
          <p:nvPr/>
        </p:nvSpPr>
        <p:spPr>
          <a:xfrm>
            <a:off x="7030856" y="1721623"/>
            <a:ext cx="648072"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996B90EC-11CB-52EE-8E93-6793DBEBCC4F}"/>
              </a:ext>
            </a:extLst>
          </p:cNvPr>
          <p:cNvGraphicFramePr>
            <a:graphicFrameLocks noGrp="1"/>
          </p:cNvGraphicFramePr>
          <p:nvPr/>
        </p:nvGraphicFramePr>
        <p:xfrm>
          <a:off x="6729958" y="1987628"/>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17" name="文字方塊 16">
            <a:extLst>
              <a:ext uri="{FF2B5EF4-FFF2-40B4-BE49-F238E27FC236}">
                <a16:creationId xmlns:a16="http://schemas.microsoft.com/office/drawing/2014/main" id="{AC4206E9-412D-FD84-36F9-9F12F7A65F2F}"/>
              </a:ext>
            </a:extLst>
          </p:cNvPr>
          <p:cNvSpPr txBox="1"/>
          <p:nvPr/>
        </p:nvSpPr>
        <p:spPr>
          <a:xfrm>
            <a:off x="5793854" y="245714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0" name="文字方塊 19">
            <a:extLst>
              <a:ext uri="{FF2B5EF4-FFF2-40B4-BE49-F238E27FC236}">
                <a16:creationId xmlns:a16="http://schemas.microsoft.com/office/drawing/2014/main" id="{4EEBCB8E-14AD-6B5D-4F80-0544704FC54A}"/>
              </a:ext>
            </a:extLst>
          </p:cNvPr>
          <p:cNvSpPr txBox="1"/>
          <p:nvPr/>
        </p:nvSpPr>
        <p:spPr>
          <a:xfrm>
            <a:off x="5031780" y="193872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7C2A484D-460F-1A04-04CA-5C1908284B6D}"/>
              </a:ext>
            </a:extLst>
          </p:cNvPr>
          <p:cNvSpPr txBox="1"/>
          <p:nvPr/>
        </p:nvSpPr>
        <p:spPr>
          <a:xfrm>
            <a:off x="6510744" y="1938722"/>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B37AEACB-00C0-87CF-71EE-829E83706821}"/>
              </a:ext>
            </a:extLst>
          </p:cNvPr>
          <p:cNvSpPr txBox="1"/>
          <p:nvPr/>
        </p:nvSpPr>
        <p:spPr>
          <a:xfrm>
            <a:off x="3223295" y="3119894"/>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3" name="文字方塊 22">
            <a:extLst>
              <a:ext uri="{FF2B5EF4-FFF2-40B4-BE49-F238E27FC236}">
                <a16:creationId xmlns:a16="http://schemas.microsoft.com/office/drawing/2014/main" id="{493FF47D-66F2-8021-8537-0B49581A514D}"/>
              </a:ext>
            </a:extLst>
          </p:cNvPr>
          <p:cNvSpPr txBox="1"/>
          <p:nvPr/>
        </p:nvSpPr>
        <p:spPr>
          <a:xfrm>
            <a:off x="5031780" y="315330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4" name="文字方塊 23">
            <a:extLst>
              <a:ext uri="{FF2B5EF4-FFF2-40B4-BE49-F238E27FC236}">
                <a16:creationId xmlns:a16="http://schemas.microsoft.com/office/drawing/2014/main" id="{166C89C2-E685-02E9-C209-61874A3350C9}"/>
              </a:ext>
            </a:extLst>
          </p:cNvPr>
          <p:cNvSpPr txBox="1"/>
          <p:nvPr/>
        </p:nvSpPr>
        <p:spPr>
          <a:xfrm>
            <a:off x="2577725" y="5199131"/>
            <a:ext cx="695847" cy="231316"/>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1</a:t>
            </a:r>
          </a:p>
          <a:p>
            <a:pPr algn="ctr">
              <a:lnSpc>
                <a:spcPts val="1400"/>
              </a:lnSpc>
              <a:buNone/>
            </a:pPr>
            <a:endParaRPr lang="en-US" altLang="zh-TW" sz="1200" dirty="0"/>
          </a:p>
        </p:txBody>
      </p:sp>
      <p:graphicFrame>
        <p:nvGraphicFramePr>
          <p:cNvPr id="25" name="表格 24">
            <a:extLst>
              <a:ext uri="{FF2B5EF4-FFF2-40B4-BE49-F238E27FC236}">
                <a16:creationId xmlns:a16="http://schemas.microsoft.com/office/drawing/2014/main" id="{3A408C77-9AA7-C9E5-0EEA-D090525596A0}"/>
              </a:ext>
            </a:extLst>
          </p:cNvPr>
          <p:cNvGraphicFramePr>
            <a:graphicFrameLocks noGrp="1"/>
          </p:cNvGraphicFramePr>
          <p:nvPr/>
        </p:nvGraphicFramePr>
        <p:xfrm>
          <a:off x="2793923" y="5462499"/>
          <a:ext cx="27253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26" name="文字方塊 25">
            <a:extLst>
              <a:ext uri="{FF2B5EF4-FFF2-40B4-BE49-F238E27FC236}">
                <a16:creationId xmlns:a16="http://schemas.microsoft.com/office/drawing/2014/main" id="{46547153-3887-39D1-68AC-E63C5A9D08BB}"/>
              </a:ext>
            </a:extLst>
          </p:cNvPr>
          <p:cNvSpPr txBox="1"/>
          <p:nvPr/>
        </p:nvSpPr>
        <p:spPr>
          <a:xfrm>
            <a:off x="3801862" y="5517232"/>
            <a:ext cx="695847" cy="27699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 x 200</a:t>
            </a:r>
          </a:p>
          <a:p>
            <a:pPr algn="ctr">
              <a:lnSpc>
                <a:spcPts val="1400"/>
              </a:lnSpc>
              <a:buNone/>
            </a:pPr>
            <a:endParaRPr lang="en-US" altLang="zh-TW" sz="1200" dirty="0"/>
          </a:p>
        </p:txBody>
      </p:sp>
      <p:graphicFrame>
        <p:nvGraphicFramePr>
          <p:cNvPr id="27" name="表格 26">
            <a:extLst>
              <a:ext uri="{FF2B5EF4-FFF2-40B4-BE49-F238E27FC236}">
                <a16:creationId xmlns:a16="http://schemas.microsoft.com/office/drawing/2014/main" id="{D856DEEC-0920-37CD-984E-6387928C97EB}"/>
              </a:ext>
            </a:extLst>
          </p:cNvPr>
          <p:cNvGraphicFramePr>
            <a:graphicFrameLocks noGrp="1"/>
          </p:cNvGraphicFramePr>
          <p:nvPr/>
        </p:nvGraphicFramePr>
        <p:xfrm>
          <a:off x="3424362" y="5777513"/>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28" name="文字方塊 27">
            <a:extLst>
              <a:ext uri="{FF2B5EF4-FFF2-40B4-BE49-F238E27FC236}">
                <a16:creationId xmlns:a16="http://schemas.microsoft.com/office/drawing/2014/main" id="{8012E381-AA45-3D1A-CAEC-4D2813F6AB34}"/>
              </a:ext>
            </a:extLst>
          </p:cNvPr>
          <p:cNvSpPr txBox="1"/>
          <p:nvPr/>
        </p:nvSpPr>
        <p:spPr>
          <a:xfrm>
            <a:off x="3201566" y="573454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40" name="表格 39">
            <a:extLst>
              <a:ext uri="{FF2B5EF4-FFF2-40B4-BE49-F238E27FC236}">
                <a16:creationId xmlns:a16="http://schemas.microsoft.com/office/drawing/2014/main" id="{9E880617-74A7-3F1D-19E7-1C6CE624CCF5}"/>
              </a:ext>
            </a:extLst>
          </p:cNvPr>
          <p:cNvGraphicFramePr>
            <a:graphicFrameLocks noGrp="1"/>
          </p:cNvGraphicFramePr>
          <p:nvPr/>
        </p:nvGraphicFramePr>
        <p:xfrm>
          <a:off x="1835696" y="4819447"/>
          <a:ext cx="2823168" cy="263368"/>
        </p:xfrm>
        <a:graphic>
          <a:graphicData uri="http://schemas.openxmlformats.org/drawingml/2006/table">
            <a:tbl>
              <a:tblPr firstRow="1" bandRow="1">
                <a:tableStyleId>{5C22544A-7EE6-4342-B048-85BDC9FD1C3A}</a:tableStyleId>
              </a:tblPr>
              <a:tblGrid>
                <a:gridCol w="176448">
                  <a:extLst>
                    <a:ext uri="{9D8B030D-6E8A-4147-A177-3AD203B41FA5}">
                      <a16:colId xmlns:a16="http://schemas.microsoft.com/office/drawing/2014/main" val="871242339"/>
                    </a:ext>
                  </a:extLst>
                </a:gridCol>
                <a:gridCol w="176448">
                  <a:extLst>
                    <a:ext uri="{9D8B030D-6E8A-4147-A177-3AD203B41FA5}">
                      <a16:colId xmlns:a16="http://schemas.microsoft.com/office/drawing/2014/main" val="1424301285"/>
                    </a:ext>
                  </a:extLst>
                </a:gridCol>
                <a:gridCol w="176448">
                  <a:extLst>
                    <a:ext uri="{9D8B030D-6E8A-4147-A177-3AD203B41FA5}">
                      <a16:colId xmlns:a16="http://schemas.microsoft.com/office/drawing/2014/main" val="1288505345"/>
                    </a:ext>
                  </a:extLst>
                </a:gridCol>
                <a:gridCol w="176448">
                  <a:extLst>
                    <a:ext uri="{9D8B030D-6E8A-4147-A177-3AD203B41FA5}">
                      <a16:colId xmlns:a16="http://schemas.microsoft.com/office/drawing/2014/main" val="3066584392"/>
                    </a:ext>
                  </a:extLst>
                </a:gridCol>
                <a:gridCol w="176448">
                  <a:extLst>
                    <a:ext uri="{9D8B030D-6E8A-4147-A177-3AD203B41FA5}">
                      <a16:colId xmlns:a16="http://schemas.microsoft.com/office/drawing/2014/main" val="3404935993"/>
                    </a:ext>
                  </a:extLst>
                </a:gridCol>
                <a:gridCol w="176448">
                  <a:extLst>
                    <a:ext uri="{9D8B030D-6E8A-4147-A177-3AD203B41FA5}">
                      <a16:colId xmlns:a16="http://schemas.microsoft.com/office/drawing/2014/main" val="194789956"/>
                    </a:ext>
                  </a:extLst>
                </a:gridCol>
                <a:gridCol w="176448">
                  <a:extLst>
                    <a:ext uri="{9D8B030D-6E8A-4147-A177-3AD203B41FA5}">
                      <a16:colId xmlns:a16="http://schemas.microsoft.com/office/drawing/2014/main" val="4011389836"/>
                    </a:ext>
                  </a:extLst>
                </a:gridCol>
                <a:gridCol w="176448">
                  <a:extLst>
                    <a:ext uri="{9D8B030D-6E8A-4147-A177-3AD203B41FA5}">
                      <a16:colId xmlns:a16="http://schemas.microsoft.com/office/drawing/2014/main" val="506512337"/>
                    </a:ext>
                  </a:extLst>
                </a:gridCol>
                <a:gridCol w="176448">
                  <a:extLst>
                    <a:ext uri="{9D8B030D-6E8A-4147-A177-3AD203B41FA5}">
                      <a16:colId xmlns:a16="http://schemas.microsoft.com/office/drawing/2014/main" val="1056063242"/>
                    </a:ext>
                  </a:extLst>
                </a:gridCol>
                <a:gridCol w="176448">
                  <a:extLst>
                    <a:ext uri="{9D8B030D-6E8A-4147-A177-3AD203B41FA5}">
                      <a16:colId xmlns:a16="http://schemas.microsoft.com/office/drawing/2014/main" val="569222339"/>
                    </a:ext>
                  </a:extLst>
                </a:gridCol>
                <a:gridCol w="176448">
                  <a:extLst>
                    <a:ext uri="{9D8B030D-6E8A-4147-A177-3AD203B41FA5}">
                      <a16:colId xmlns:a16="http://schemas.microsoft.com/office/drawing/2014/main" val="2844237105"/>
                    </a:ext>
                  </a:extLst>
                </a:gridCol>
                <a:gridCol w="176448">
                  <a:extLst>
                    <a:ext uri="{9D8B030D-6E8A-4147-A177-3AD203B41FA5}">
                      <a16:colId xmlns:a16="http://schemas.microsoft.com/office/drawing/2014/main" val="312702483"/>
                    </a:ext>
                  </a:extLst>
                </a:gridCol>
                <a:gridCol w="176448">
                  <a:extLst>
                    <a:ext uri="{9D8B030D-6E8A-4147-A177-3AD203B41FA5}">
                      <a16:colId xmlns:a16="http://schemas.microsoft.com/office/drawing/2014/main" val="1426537453"/>
                    </a:ext>
                  </a:extLst>
                </a:gridCol>
                <a:gridCol w="176448">
                  <a:extLst>
                    <a:ext uri="{9D8B030D-6E8A-4147-A177-3AD203B41FA5}">
                      <a16:colId xmlns:a16="http://schemas.microsoft.com/office/drawing/2014/main" val="521542109"/>
                    </a:ext>
                  </a:extLst>
                </a:gridCol>
                <a:gridCol w="176448">
                  <a:extLst>
                    <a:ext uri="{9D8B030D-6E8A-4147-A177-3AD203B41FA5}">
                      <a16:colId xmlns:a16="http://schemas.microsoft.com/office/drawing/2014/main" val="1942328799"/>
                    </a:ext>
                  </a:extLst>
                </a:gridCol>
                <a:gridCol w="176448">
                  <a:extLst>
                    <a:ext uri="{9D8B030D-6E8A-4147-A177-3AD203B41FA5}">
                      <a16:colId xmlns:a16="http://schemas.microsoft.com/office/drawing/2014/main" val="3241487124"/>
                    </a:ext>
                  </a:extLst>
                </a:gridCol>
              </a:tblGrid>
              <a:tr h="263368">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1" name="表格 40">
            <a:extLst>
              <a:ext uri="{FF2B5EF4-FFF2-40B4-BE49-F238E27FC236}">
                <a16:creationId xmlns:a16="http://schemas.microsoft.com/office/drawing/2014/main" id="{9E930552-FE47-29BE-877E-18BE859F76FC}"/>
              </a:ext>
            </a:extLst>
          </p:cNvPr>
          <p:cNvGraphicFramePr>
            <a:graphicFrameLocks noGrp="1"/>
          </p:cNvGraphicFramePr>
          <p:nvPr/>
        </p:nvGraphicFramePr>
        <p:xfrm>
          <a:off x="2251383" y="4330399"/>
          <a:ext cx="2437328"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cxnSp>
        <p:nvCxnSpPr>
          <p:cNvPr id="43" name="直線單箭頭接點 42">
            <a:extLst>
              <a:ext uri="{FF2B5EF4-FFF2-40B4-BE49-F238E27FC236}">
                <a16:creationId xmlns:a16="http://schemas.microsoft.com/office/drawing/2014/main" id="{3D69D28E-D3BB-E57F-0654-C588ED181323}"/>
              </a:ext>
            </a:extLst>
          </p:cNvPr>
          <p:cNvCxnSpPr>
            <a:cxnSpLocks/>
          </p:cNvCxnSpPr>
          <p:nvPr/>
        </p:nvCxnSpPr>
        <p:spPr>
          <a:xfrm>
            <a:off x="2556939" y="4419193"/>
            <a:ext cx="0" cy="400254"/>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6" name="直線單箭頭接點 45">
            <a:extLst>
              <a:ext uri="{FF2B5EF4-FFF2-40B4-BE49-F238E27FC236}">
                <a16:creationId xmlns:a16="http://schemas.microsoft.com/office/drawing/2014/main" id="{F9A3051A-7393-2108-A65E-E17A5BDFC742}"/>
              </a:ext>
            </a:extLst>
          </p:cNvPr>
          <p:cNvCxnSpPr>
            <a:cxnSpLocks/>
            <a:endCxn id="40" idx="0"/>
          </p:cNvCxnSpPr>
          <p:nvPr/>
        </p:nvCxnSpPr>
        <p:spPr>
          <a:xfrm>
            <a:off x="2824829" y="4496168"/>
            <a:ext cx="422451" cy="323279"/>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9" name="文字方塊 18">
            <a:extLst>
              <a:ext uri="{FF2B5EF4-FFF2-40B4-BE49-F238E27FC236}">
                <a16:creationId xmlns:a16="http://schemas.microsoft.com/office/drawing/2014/main" id="{D91FD903-5CA4-5DF9-C34F-F10FB97C112B}"/>
              </a:ext>
            </a:extLst>
          </p:cNvPr>
          <p:cNvSpPr txBox="1"/>
          <p:nvPr/>
        </p:nvSpPr>
        <p:spPr>
          <a:xfrm>
            <a:off x="2627784" y="4640726"/>
            <a:ext cx="422451" cy="183932"/>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4 bits</a:t>
            </a:r>
          </a:p>
        </p:txBody>
      </p:sp>
      <p:sp>
        <p:nvSpPr>
          <p:cNvPr id="18" name="文字方塊 17">
            <a:extLst>
              <a:ext uri="{FF2B5EF4-FFF2-40B4-BE49-F238E27FC236}">
                <a16:creationId xmlns:a16="http://schemas.microsoft.com/office/drawing/2014/main" id="{233890C5-0A88-D645-14E5-9AA7C51DF87A}"/>
              </a:ext>
            </a:extLst>
          </p:cNvPr>
          <p:cNvSpPr txBox="1"/>
          <p:nvPr/>
        </p:nvSpPr>
        <p:spPr>
          <a:xfrm>
            <a:off x="2503198" y="3966964"/>
            <a:ext cx="422451" cy="288032"/>
          </a:xfrm>
          <a:prstGeom prst="rect">
            <a:avLst/>
          </a:prstGeom>
          <a:noFill/>
        </p:spPr>
        <p:txBody>
          <a:bodyPr wrap="none" lIns="0" tIns="0" rIns="0" bIns="0" anchor="ctr" anchorCtr="1">
            <a:noAutofit/>
          </a:bodyPr>
          <a:lstStyle/>
          <a:p>
            <a:pPr>
              <a:lnSpc>
                <a:spcPts val="1200"/>
              </a:lnSpc>
            </a:pPr>
            <a:r>
              <a:rPr lang="en-US" altLang="zh-TW" sz="1200" dirty="0">
                <a:solidFill>
                  <a:prstClr val="black"/>
                </a:solidFill>
                <a:ea typeface="Cambria Math" panose="02040503050406030204" pitchFamily="18" charset="0"/>
              </a:rPr>
              <a:t>16</a:t>
            </a:r>
          </a:p>
          <a:p>
            <a:pPr>
              <a:lnSpc>
                <a:spcPts val="1200"/>
              </a:lnSpc>
            </a:pPr>
            <a:r>
              <a:rPr lang="en-US" altLang="zh-TW" sz="1200" dirty="0">
                <a:solidFill>
                  <a:prstClr val="black"/>
                </a:solidFill>
                <a:ea typeface="Cambria Math" panose="02040503050406030204" pitchFamily="18" charset="0"/>
              </a:rPr>
              <a:t>bits</a:t>
            </a:r>
          </a:p>
        </p:txBody>
      </p:sp>
      <p:sp>
        <p:nvSpPr>
          <p:cNvPr id="39" name="右大括弧 38">
            <a:extLst>
              <a:ext uri="{FF2B5EF4-FFF2-40B4-BE49-F238E27FC236}">
                <a16:creationId xmlns:a16="http://schemas.microsoft.com/office/drawing/2014/main" id="{43AD7CAA-9919-2BDC-C547-ADA2F3ADF7DF}"/>
              </a:ext>
            </a:extLst>
          </p:cNvPr>
          <p:cNvSpPr/>
          <p:nvPr/>
        </p:nvSpPr>
        <p:spPr>
          <a:xfrm rot="10800000">
            <a:off x="2043852" y="2728274"/>
            <a:ext cx="108700" cy="988757"/>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44" name="文字方塊 43">
            <a:extLst>
              <a:ext uri="{FF2B5EF4-FFF2-40B4-BE49-F238E27FC236}">
                <a16:creationId xmlns:a16="http://schemas.microsoft.com/office/drawing/2014/main" id="{8C236E84-CA66-55C6-A353-D96F41563DD1}"/>
              </a:ext>
            </a:extLst>
          </p:cNvPr>
          <p:cNvSpPr txBox="1"/>
          <p:nvPr/>
        </p:nvSpPr>
        <p:spPr>
          <a:xfrm>
            <a:off x="1547664" y="3079993"/>
            <a:ext cx="401072" cy="276999"/>
          </a:xfrm>
          <a:prstGeom prst="rect">
            <a:avLst/>
          </a:prstGeom>
          <a:noFill/>
        </p:spPr>
        <p:txBody>
          <a:bodyPr wrap="none" lIns="0" tIns="0" rIns="0" bIns="0" anchor="ctr" anchorCtr="1">
            <a:noAutofit/>
          </a:bodyPr>
          <a:lstStyle/>
          <a:p>
            <a:r>
              <a:rPr lang="en-US" altLang="zh-TW" sz="1400" b="1" dirty="0"/>
              <a:t>LoRA</a:t>
            </a:r>
            <a:endParaRPr lang="zh-TW" altLang="en-US" sz="1400" b="1" dirty="0"/>
          </a:p>
        </p:txBody>
      </p:sp>
      <p:sp>
        <p:nvSpPr>
          <p:cNvPr id="49" name="文字方塊 48">
            <a:extLst>
              <a:ext uri="{FF2B5EF4-FFF2-40B4-BE49-F238E27FC236}">
                <a16:creationId xmlns:a16="http://schemas.microsoft.com/office/drawing/2014/main" id="{99A5FBEF-DD1B-027F-7308-223EF51BE499}"/>
              </a:ext>
            </a:extLst>
          </p:cNvPr>
          <p:cNvSpPr txBox="1"/>
          <p:nvPr/>
        </p:nvSpPr>
        <p:spPr>
          <a:xfrm>
            <a:off x="971600" y="5517232"/>
            <a:ext cx="401072" cy="276999"/>
          </a:xfrm>
          <a:prstGeom prst="rect">
            <a:avLst/>
          </a:prstGeom>
          <a:noFill/>
        </p:spPr>
        <p:txBody>
          <a:bodyPr wrap="none" lIns="0" tIns="0" rIns="0" bIns="0" anchor="ctr" anchorCtr="1">
            <a:noAutofit/>
          </a:bodyPr>
          <a:lstStyle/>
          <a:p>
            <a:r>
              <a:rPr lang="en-US" altLang="zh-TW" sz="1400" b="1" dirty="0"/>
              <a:t>QLoRA</a:t>
            </a:r>
            <a:endParaRPr lang="zh-TW" altLang="en-US" sz="1400" b="1" dirty="0"/>
          </a:p>
        </p:txBody>
      </p:sp>
      <p:sp>
        <p:nvSpPr>
          <p:cNvPr id="55" name="右大括弧 54">
            <a:extLst>
              <a:ext uri="{FF2B5EF4-FFF2-40B4-BE49-F238E27FC236}">
                <a16:creationId xmlns:a16="http://schemas.microsoft.com/office/drawing/2014/main" id="{FDC02000-3510-2BFF-9245-7620E6943787}"/>
              </a:ext>
            </a:extLst>
          </p:cNvPr>
          <p:cNvSpPr/>
          <p:nvPr/>
        </p:nvSpPr>
        <p:spPr>
          <a:xfrm rot="10800000">
            <a:off x="1475656" y="4951131"/>
            <a:ext cx="138303" cy="1378626"/>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9" name="矩形: 圓角 58">
            <a:extLst>
              <a:ext uri="{FF2B5EF4-FFF2-40B4-BE49-F238E27FC236}">
                <a16:creationId xmlns:a16="http://schemas.microsoft.com/office/drawing/2014/main" id="{0B7BD835-FD81-3F02-5FD1-3F2F8343A2F6}"/>
              </a:ext>
            </a:extLst>
          </p:cNvPr>
          <p:cNvSpPr/>
          <p:nvPr/>
        </p:nvSpPr>
        <p:spPr>
          <a:xfrm>
            <a:off x="2324300" y="2814836"/>
            <a:ext cx="92298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63" name="矩形: 圓角 62">
            <a:extLst>
              <a:ext uri="{FF2B5EF4-FFF2-40B4-BE49-F238E27FC236}">
                <a16:creationId xmlns:a16="http://schemas.microsoft.com/office/drawing/2014/main" id="{79368FC2-23FC-8AFF-A6B0-B3063BDB7FC4}"/>
              </a:ext>
            </a:extLst>
          </p:cNvPr>
          <p:cNvSpPr/>
          <p:nvPr/>
        </p:nvSpPr>
        <p:spPr>
          <a:xfrm>
            <a:off x="2166294" y="4278319"/>
            <a:ext cx="262173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68149808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3889C-D10C-B36A-2721-EFF1DC29861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D35E2BF1-6FE3-3015-8276-1481380950D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Weight-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ecomposed L</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oRA</a:t>
            </a:r>
          </a:p>
          <a:p>
            <a:r>
              <a:rPr lang="en-US" altLang="zh-TW" sz="1400" b="1" dirty="0">
                <a:latin typeface="Noto Sans HK" panose="020B0200000000000000" pitchFamily="34" charset="-120"/>
                <a:ea typeface="Noto Sans HK" panose="020B0200000000000000" pitchFamily="34" charset="-120"/>
                <a:cs typeface="Aharoni" panose="020F0502020204030204" pitchFamily="2" charset="-79"/>
              </a:rPr>
              <a:t>DoRA</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fundamentally improves LoRA by decomposing weights into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magnitude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and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direction</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t>
            </a:r>
          </a:p>
        </p:txBody>
      </p:sp>
      <p:graphicFrame>
        <p:nvGraphicFramePr>
          <p:cNvPr id="7" name="表格 6">
            <a:extLst>
              <a:ext uri="{FF2B5EF4-FFF2-40B4-BE49-F238E27FC236}">
                <a16:creationId xmlns:a16="http://schemas.microsoft.com/office/drawing/2014/main" id="{EBEBCF88-3560-5ABF-5D6D-C099FC517E5B}"/>
              </a:ext>
            </a:extLst>
          </p:cNvPr>
          <p:cNvGraphicFramePr>
            <a:graphicFrameLocks noGrp="1"/>
          </p:cNvGraphicFramePr>
          <p:nvPr/>
        </p:nvGraphicFramePr>
        <p:xfrm>
          <a:off x="2938059" y="2204864"/>
          <a:ext cx="54506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gridCol w="272530">
                  <a:extLst>
                    <a:ext uri="{9D8B030D-6E8A-4147-A177-3AD203B41FA5}">
                      <a16:colId xmlns:a16="http://schemas.microsoft.com/office/drawing/2014/main" val="506512337"/>
                    </a:ext>
                  </a:extLst>
                </a:gridCol>
              </a:tblGrid>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F5969713-48F1-14D8-0B44-BBB25E2E66B2}"/>
              </a:ext>
            </a:extLst>
          </p:cNvPr>
          <p:cNvGraphicFramePr>
            <a:graphicFrameLocks noGrp="1"/>
          </p:cNvGraphicFramePr>
          <p:nvPr/>
        </p:nvGraphicFramePr>
        <p:xfrm>
          <a:off x="5585584" y="1381276"/>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69F885FB-F8DB-3366-45FC-8F10E81744B6}"/>
              </a:ext>
            </a:extLst>
          </p:cNvPr>
          <p:cNvSpPr txBox="1"/>
          <p:nvPr/>
        </p:nvSpPr>
        <p:spPr>
          <a:xfrm>
            <a:off x="3320587" y="3597835"/>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graphicFrame>
        <p:nvGraphicFramePr>
          <p:cNvPr id="11" name="表格 10">
            <a:extLst>
              <a:ext uri="{FF2B5EF4-FFF2-40B4-BE49-F238E27FC236}">
                <a16:creationId xmlns:a16="http://schemas.microsoft.com/office/drawing/2014/main" id="{A0B7BCF8-5297-D373-E95B-1D2A0407EE38}"/>
              </a:ext>
            </a:extLst>
          </p:cNvPr>
          <p:cNvGraphicFramePr>
            <a:graphicFrameLocks noGrp="1"/>
          </p:cNvGraphicFramePr>
          <p:nvPr/>
        </p:nvGraphicFramePr>
        <p:xfrm>
          <a:off x="3658140" y="2430190"/>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13" name="文字方塊 12">
            <a:extLst>
              <a:ext uri="{FF2B5EF4-FFF2-40B4-BE49-F238E27FC236}">
                <a16:creationId xmlns:a16="http://schemas.microsoft.com/office/drawing/2014/main" id="{A82BA1F2-8B0F-F56C-5C78-D715BD5F2455}"/>
              </a:ext>
            </a:extLst>
          </p:cNvPr>
          <p:cNvSpPr txBox="1"/>
          <p:nvPr/>
        </p:nvSpPr>
        <p:spPr>
          <a:xfrm>
            <a:off x="1048685" y="1340768"/>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5EA5B1A1-E8FE-FFA5-DD35-8926472EC6EC}"/>
              </a:ext>
            </a:extLst>
          </p:cNvPr>
          <p:cNvGraphicFramePr>
            <a:graphicFrameLocks noGrp="1"/>
          </p:cNvGraphicFramePr>
          <p:nvPr/>
        </p:nvGraphicFramePr>
        <p:xfrm>
          <a:off x="755576" y="1641136"/>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7A5A42F4-7CBD-9D47-F69F-2489A0F2911A}"/>
              </a:ext>
            </a:extLst>
          </p:cNvPr>
          <p:cNvSpPr txBox="1"/>
          <p:nvPr/>
        </p:nvSpPr>
        <p:spPr>
          <a:xfrm>
            <a:off x="7398650" y="1340768"/>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A4887E64-451C-2A98-2140-B60E4788F5D4}"/>
              </a:ext>
            </a:extLst>
          </p:cNvPr>
          <p:cNvGraphicFramePr>
            <a:graphicFrameLocks noGrp="1"/>
          </p:cNvGraphicFramePr>
          <p:nvPr/>
        </p:nvGraphicFramePr>
        <p:xfrm>
          <a:off x="7169760" y="163143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20" name="文字方塊 19">
            <a:extLst>
              <a:ext uri="{FF2B5EF4-FFF2-40B4-BE49-F238E27FC236}">
                <a16:creationId xmlns:a16="http://schemas.microsoft.com/office/drawing/2014/main" id="{E5328391-F130-91DE-E826-96E58451F388}"/>
              </a:ext>
            </a:extLst>
          </p:cNvPr>
          <p:cNvSpPr txBox="1"/>
          <p:nvPr/>
        </p:nvSpPr>
        <p:spPr>
          <a:xfrm>
            <a:off x="2051720" y="1582531"/>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CBE4D3F9-BE11-216C-0F65-9F89C76CEE67}"/>
              </a:ext>
            </a:extLst>
          </p:cNvPr>
          <p:cNvSpPr txBox="1"/>
          <p:nvPr/>
        </p:nvSpPr>
        <p:spPr>
          <a:xfrm>
            <a:off x="6878538" y="1582531"/>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06666021-CE75-49AD-E5F2-0C852C147D4F}"/>
              </a:ext>
            </a:extLst>
          </p:cNvPr>
          <p:cNvSpPr txBox="1"/>
          <p:nvPr/>
        </p:nvSpPr>
        <p:spPr>
          <a:xfrm>
            <a:off x="3480182" y="247592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30" name="表格 29">
            <a:extLst>
              <a:ext uri="{FF2B5EF4-FFF2-40B4-BE49-F238E27FC236}">
                <a16:creationId xmlns:a16="http://schemas.microsoft.com/office/drawing/2014/main" id="{B73339CD-B5DB-548D-81FC-776E1139B353}"/>
              </a:ext>
            </a:extLst>
          </p:cNvPr>
          <p:cNvGraphicFramePr>
            <a:graphicFrameLocks noGrp="1"/>
          </p:cNvGraphicFramePr>
          <p:nvPr/>
        </p:nvGraphicFramePr>
        <p:xfrm>
          <a:off x="1043608" y="4043666"/>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38" name="文字方塊 37">
            <a:extLst>
              <a:ext uri="{FF2B5EF4-FFF2-40B4-BE49-F238E27FC236}">
                <a16:creationId xmlns:a16="http://schemas.microsoft.com/office/drawing/2014/main" id="{CBFA29BC-16EA-8E29-DAF3-456E58026E7D}"/>
              </a:ext>
            </a:extLst>
          </p:cNvPr>
          <p:cNvSpPr txBox="1"/>
          <p:nvPr/>
        </p:nvSpPr>
        <p:spPr>
          <a:xfrm>
            <a:off x="5474120" y="401090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58" name="表格 57">
            <a:extLst>
              <a:ext uri="{FF2B5EF4-FFF2-40B4-BE49-F238E27FC236}">
                <a16:creationId xmlns:a16="http://schemas.microsoft.com/office/drawing/2014/main" id="{3C496CFB-6BBB-3BA0-2E6D-8F5F1098A95D}"/>
              </a:ext>
            </a:extLst>
          </p:cNvPr>
          <p:cNvGraphicFramePr>
            <a:graphicFrameLocks noGrp="1"/>
          </p:cNvGraphicFramePr>
          <p:nvPr/>
        </p:nvGraphicFramePr>
        <p:xfrm>
          <a:off x="4139953" y="4221088"/>
          <a:ext cx="444549" cy="4572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12276">
                  <a:extLst>
                    <a:ext uri="{9D8B030D-6E8A-4147-A177-3AD203B41FA5}">
                      <a16:colId xmlns:a16="http://schemas.microsoft.com/office/drawing/2014/main" val="871242339"/>
                    </a:ext>
                  </a:extLst>
                </a:gridCol>
                <a:gridCol w="81256">
                  <a:extLst>
                    <a:ext uri="{9D8B030D-6E8A-4147-A177-3AD203B41FA5}">
                      <a16:colId xmlns:a16="http://schemas.microsoft.com/office/drawing/2014/main" val="1424301285"/>
                    </a:ext>
                  </a:extLst>
                </a:gridCol>
                <a:gridCol w="81256">
                  <a:extLst>
                    <a:ext uri="{9D8B030D-6E8A-4147-A177-3AD203B41FA5}">
                      <a16:colId xmlns:a16="http://schemas.microsoft.com/office/drawing/2014/main" val="1288505345"/>
                    </a:ext>
                  </a:extLst>
                </a:gridCol>
                <a:gridCol w="118961">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bl>
          </a:graphicData>
        </a:graphic>
      </p:graphicFrame>
      <p:cxnSp>
        <p:nvCxnSpPr>
          <p:cNvPr id="60" name="直線接點 59">
            <a:extLst>
              <a:ext uri="{FF2B5EF4-FFF2-40B4-BE49-F238E27FC236}">
                <a16:creationId xmlns:a16="http://schemas.microsoft.com/office/drawing/2014/main" id="{EB1EA629-4209-A850-F1A1-D8BA04D9C9CC}"/>
              </a:ext>
            </a:extLst>
          </p:cNvPr>
          <p:cNvCxnSpPr>
            <a:cxnSpLocks/>
          </p:cNvCxnSpPr>
          <p:nvPr/>
        </p:nvCxnSpPr>
        <p:spPr>
          <a:xfrm>
            <a:off x="3310495" y="4135391"/>
            <a:ext cx="2163625"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479E246E-2FCC-8FE5-B733-A981CCE1C6B4}"/>
              </a:ext>
            </a:extLst>
          </p:cNvPr>
          <p:cNvSpPr txBox="1"/>
          <p:nvPr/>
        </p:nvSpPr>
        <p:spPr>
          <a:xfrm>
            <a:off x="4138467" y="4359499"/>
            <a:ext cx="444549" cy="199418"/>
          </a:xfrm>
          <a:prstGeom prst="rect">
            <a:avLst/>
          </a:prstGeom>
          <a:noFill/>
          <a:ln w="25400">
            <a:noFill/>
          </a:ln>
        </p:spPr>
        <p:txBody>
          <a:bodyPr wrap="none" lIns="0" tIns="72000" rIns="0" bIns="36000" anchor="t" anchorCtr="1">
            <a:noAutofit/>
          </a:bodyPr>
          <a:lstStyle/>
          <a:p>
            <a:pPr algn="ctr">
              <a:lnSpc>
                <a:spcPts val="1000"/>
              </a:lnSpc>
              <a:buNone/>
            </a:pPr>
            <a:r>
              <a:rPr lang="en-US" altLang="zh-TW" sz="1000" b="1" u="none" strike="noStrike" dirty="0">
                <a:effectLst/>
              </a:rPr>
              <a:t>Norm</a:t>
            </a:r>
          </a:p>
        </p:txBody>
      </p:sp>
      <p:graphicFrame>
        <p:nvGraphicFramePr>
          <p:cNvPr id="68" name="表格 67">
            <a:extLst>
              <a:ext uri="{FF2B5EF4-FFF2-40B4-BE49-F238E27FC236}">
                <a16:creationId xmlns:a16="http://schemas.microsoft.com/office/drawing/2014/main" id="{9EFD464C-B4A7-F135-02DA-626DD5A5720D}"/>
              </a:ext>
            </a:extLst>
          </p:cNvPr>
          <p:cNvGraphicFramePr>
            <a:graphicFrameLocks noGrp="1"/>
          </p:cNvGraphicFramePr>
          <p:nvPr/>
        </p:nvGraphicFramePr>
        <p:xfrm>
          <a:off x="3745928"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graphicFrame>
        <p:nvGraphicFramePr>
          <p:cNvPr id="70" name="表格 69">
            <a:extLst>
              <a:ext uri="{FF2B5EF4-FFF2-40B4-BE49-F238E27FC236}">
                <a16:creationId xmlns:a16="http://schemas.microsoft.com/office/drawing/2014/main" id="{81CA69A3-B5CC-02BB-7359-C1BA5E6B65F1}"/>
              </a:ext>
            </a:extLst>
          </p:cNvPr>
          <p:cNvGraphicFramePr>
            <a:graphicFrameLocks noGrp="1"/>
          </p:cNvGraphicFramePr>
          <p:nvPr/>
        </p:nvGraphicFramePr>
        <p:xfrm>
          <a:off x="4901041"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72" name="文字方塊 71">
            <a:extLst>
              <a:ext uri="{FF2B5EF4-FFF2-40B4-BE49-F238E27FC236}">
                <a16:creationId xmlns:a16="http://schemas.microsoft.com/office/drawing/2014/main" id="{947E49BB-0A02-34B7-7B44-573B60119A2B}"/>
              </a:ext>
            </a:extLst>
          </p:cNvPr>
          <p:cNvSpPr txBox="1"/>
          <p:nvPr/>
        </p:nvSpPr>
        <p:spPr>
          <a:xfrm>
            <a:off x="4394000" y="3595681"/>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76" name="文字方塊 75">
            <a:extLst>
              <a:ext uri="{FF2B5EF4-FFF2-40B4-BE49-F238E27FC236}">
                <a16:creationId xmlns:a16="http://schemas.microsoft.com/office/drawing/2014/main" id="{92780C9C-6CB0-EE4E-3624-E9C83BEC065A}"/>
              </a:ext>
            </a:extLst>
          </p:cNvPr>
          <p:cNvSpPr txBox="1"/>
          <p:nvPr/>
        </p:nvSpPr>
        <p:spPr>
          <a:xfrm>
            <a:off x="2987824" y="4012575"/>
            <a:ext cx="177958"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r>
              <a:rPr kumimoji="0" lang="en-US"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   </a:t>
            </a: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 (</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6" name="文字方塊 65">
            <a:extLst>
              <a:ext uri="{FF2B5EF4-FFF2-40B4-BE49-F238E27FC236}">
                <a16:creationId xmlns:a16="http://schemas.microsoft.com/office/drawing/2014/main" id="{C4461DE9-71CF-6217-CB5B-A3A0EE539051}"/>
              </a:ext>
            </a:extLst>
          </p:cNvPr>
          <p:cNvSpPr txBox="1"/>
          <p:nvPr/>
        </p:nvSpPr>
        <p:spPr>
          <a:xfrm>
            <a:off x="4932961"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82" name="文字方塊 81">
            <a:extLst>
              <a:ext uri="{FF2B5EF4-FFF2-40B4-BE49-F238E27FC236}">
                <a16:creationId xmlns:a16="http://schemas.microsoft.com/office/drawing/2014/main" id="{01F0EDB0-BF85-DC0D-9878-3554C87FB711}"/>
              </a:ext>
            </a:extLst>
          </p:cNvPr>
          <p:cNvSpPr txBox="1"/>
          <p:nvPr/>
        </p:nvSpPr>
        <p:spPr>
          <a:xfrm>
            <a:off x="3779912"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1</a:t>
            </a:r>
          </a:p>
        </p:txBody>
      </p:sp>
      <p:sp>
        <p:nvSpPr>
          <p:cNvPr id="84" name="右大括弧 83">
            <a:extLst>
              <a:ext uri="{FF2B5EF4-FFF2-40B4-BE49-F238E27FC236}">
                <a16:creationId xmlns:a16="http://schemas.microsoft.com/office/drawing/2014/main" id="{DE720BE9-4C36-0318-5B45-E24D7860CFCE}"/>
              </a:ext>
            </a:extLst>
          </p:cNvPr>
          <p:cNvSpPr/>
          <p:nvPr/>
        </p:nvSpPr>
        <p:spPr>
          <a:xfrm rot="5400000">
            <a:off x="4019893" y="2059133"/>
            <a:ext cx="133813" cy="2297484"/>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86" name="右大括弧 85">
            <a:extLst>
              <a:ext uri="{FF2B5EF4-FFF2-40B4-BE49-F238E27FC236}">
                <a16:creationId xmlns:a16="http://schemas.microsoft.com/office/drawing/2014/main" id="{CF43AA5F-9211-1098-2460-3701EE3A76BD}"/>
              </a:ext>
            </a:extLst>
          </p:cNvPr>
          <p:cNvSpPr/>
          <p:nvPr/>
        </p:nvSpPr>
        <p:spPr>
          <a:xfrm rot="5400000">
            <a:off x="6109823" y="1697396"/>
            <a:ext cx="137191" cy="1008112"/>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aphicFrame>
        <p:nvGraphicFramePr>
          <p:cNvPr id="88" name="表格 87">
            <a:extLst>
              <a:ext uri="{FF2B5EF4-FFF2-40B4-BE49-F238E27FC236}">
                <a16:creationId xmlns:a16="http://schemas.microsoft.com/office/drawing/2014/main" id="{E393108B-6E78-7538-15D5-25B450E877E7}"/>
              </a:ext>
            </a:extLst>
          </p:cNvPr>
          <p:cNvGraphicFramePr>
            <a:graphicFrameLocks noGrp="1"/>
          </p:cNvGraphicFramePr>
          <p:nvPr/>
        </p:nvGraphicFramePr>
        <p:xfrm>
          <a:off x="5893372" y="2315344"/>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90" name="文字方塊 89">
            <a:extLst>
              <a:ext uri="{FF2B5EF4-FFF2-40B4-BE49-F238E27FC236}">
                <a16:creationId xmlns:a16="http://schemas.microsoft.com/office/drawing/2014/main" id="{1CA08461-6A73-1D89-9315-A1074039A04F}"/>
              </a:ext>
            </a:extLst>
          </p:cNvPr>
          <p:cNvSpPr txBox="1"/>
          <p:nvPr/>
        </p:nvSpPr>
        <p:spPr>
          <a:xfrm>
            <a:off x="5925292" y="249269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92" name="文字方塊 91">
            <a:extLst>
              <a:ext uri="{FF2B5EF4-FFF2-40B4-BE49-F238E27FC236}">
                <a16:creationId xmlns:a16="http://schemas.microsoft.com/office/drawing/2014/main" id="{DBF2618B-7ED8-C2C2-19D7-3BA9775AF4CF}"/>
              </a:ext>
            </a:extLst>
          </p:cNvPr>
          <p:cNvSpPr txBox="1"/>
          <p:nvPr/>
        </p:nvSpPr>
        <p:spPr>
          <a:xfrm>
            <a:off x="5366373" y="2451264"/>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94" name="文字方塊 93">
            <a:extLst>
              <a:ext uri="{FF2B5EF4-FFF2-40B4-BE49-F238E27FC236}">
                <a16:creationId xmlns:a16="http://schemas.microsoft.com/office/drawing/2014/main" id="{32F7E401-3DF7-E006-A589-EECCFB9095AE}"/>
              </a:ext>
            </a:extLst>
          </p:cNvPr>
          <p:cNvSpPr txBox="1"/>
          <p:nvPr/>
        </p:nvSpPr>
        <p:spPr>
          <a:xfrm>
            <a:off x="2434003" y="2463423"/>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sp>
        <p:nvSpPr>
          <p:cNvPr id="5" name="文字方塊 4">
            <a:extLst>
              <a:ext uri="{FF2B5EF4-FFF2-40B4-BE49-F238E27FC236}">
                <a16:creationId xmlns:a16="http://schemas.microsoft.com/office/drawing/2014/main" id="{10173DE3-5F00-B4F7-46E1-11CEA7497299}"/>
              </a:ext>
            </a:extLst>
          </p:cNvPr>
          <p:cNvSpPr txBox="1"/>
          <p:nvPr/>
        </p:nvSpPr>
        <p:spPr>
          <a:xfrm>
            <a:off x="2862665" y="1921964"/>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8" name="文字方塊 7">
            <a:extLst>
              <a:ext uri="{FF2B5EF4-FFF2-40B4-BE49-F238E27FC236}">
                <a16:creationId xmlns:a16="http://schemas.microsoft.com/office/drawing/2014/main" id="{BDAE5345-4FEF-8806-2B9A-F6EFAE99D6B2}"/>
              </a:ext>
            </a:extLst>
          </p:cNvPr>
          <p:cNvSpPr txBox="1"/>
          <p:nvPr/>
        </p:nvSpPr>
        <p:spPr>
          <a:xfrm>
            <a:off x="4115099" y="214215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8 x 200</a:t>
            </a:r>
          </a:p>
          <a:p>
            <a:pPr algn="ctr">
              <a:lnSpc>
                <a:spcPts val="1400"/>
              </a:lnSpc>
              <a:buNone/>
            </a:pPr>
            <a:endParaRPr lang="en-US" altLang="zh-TW" sz="1200" dirty="0"/>
          </a:p>
        </p:txBody>
      </p:sp>
      <p:sp>
        <p:nvSpPr>
          <p:cNvPr id="12" name="文字方塊 11">
            <a:extLst>
              <a:ext uri="{FF2B5EF4-FFF2-40B4-BE49-F238E27FC236}">
                <a16:creationId xmlns:a16="http://schemas.microsoft.com/office/drawing/2014/main" id="{79D5D804-4AE3-B471-BED8-5AE258E2B811}"/>
              </a:ext>
            </a:extLst>
          </p:cNvPr>
          <p:cNvSpPr txBox="1"/>
          <p:nvPr/>
        </p:nvSpPr>
        <p:spPr>
          <a:xfrm>
            <a:off x="1499889" y="3752028"/>
            <a:ext cx="695847" cy="26336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M: 1 x 100</a:t>
            </a:r>
          </a:p>
          <a:p>
            <a:pPr algn="ctr">
              <a:lnSpc>
                <a:spcPts val="1400"/>
              </a:lnSpc>
              <a:buNone/>
            </a:pPr>
            <a:endParaRPr lang="en-US" altLang="zh-TW" sz="1200" dirty="0"/>
          </a:p>
        </p:txBody>
      </p:sp>
      <p:sp>
        <p:nvSpPr>
          <p:cNvPr id="18" name="文字方塊 17">
            <a:extLst>
              <a:ext uri="{FF2B5EF4-FFF2-40B4-BE49-F238E27FC236}">
                <a16:creationId xmlns:a16="http://schemas.microsoft.com/office/drawing/2014/main" id="{C5BB9756-EA36-B027-E7A2-71CE086E3B6A}"/>
              </a:ext>
            </a:extLst>
          </p:cNvPr>
          <p:cNvSpPr txBox="1"/>
          <p:nvPr/>
        </p:nvSpPr>
        <p:spPr>
          <a:xfrm>
            <a:off x="5796094" y="1106603"/>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23" name="文字方塊 22">
            <a:extLst>
              <a:ext uri="{FF2B5EF4-FFF2-40B4-BE49-F238E27FC236}">
                <a16:creationId xmlns:a16="http://schemas.microsoft.com/office/drawing/2014/main" id="{47827DFC-85FE-6F70-3512-7A29995ED83A}"/>
              </a:ext>
            </a:extLst>
          </p:cNvPr>
          <p:cNvSpPr txBox="1"/>
          <p:nvPr/>
        </p:nvSpPr>
        <p:spPr>
          <a:xfrm>
            <a:off x="2339752" y="4296921"/>
            <a:ext cx="1362776" cy="591894"/>
          </a:xfrm>
          <a:prstGeom prst="rect">
            <a:avLst/>
          </a:prstGeom>
          <a:noFill/>
        </p:spPr>
        <p:txBody>
          <a:bodyPr wrap="none" lIns="0" tIns="0" rIns="0" bIns="0" anchor="ctr" anchorCtr="1">
            <a:noAutofit/>
          </a:bodyPr>
          <a:lstStyle/>
          <a:p>
            <a:r>
              <a:rPr lang="en-US" altLang="zh-TW" sz="1200" b="1" dirty="0">
                <a:solidFill>
                  <a:prstClr val="black"/>
                </a:solidFill>
                <a:ea typeface="Cambria Math" panose="02040503050406030204" pitchFamily="18" charset="0"/>
              </a:rPr>
              <a:t>Hadamard Product</a:t>
            </a:r>
            <a:br>
              <a:rPr lang="en-US" altLang="zh-TW" sz="1000" dirty="0">
                <a:solidFill>
                  <a:prstClr val="black"/>
                </a:solidFill>
                <a:ea typeface="Cambria Math" panose="02040503050406030204" pitchFamily="18" charset="0"/>
              </a:rPr>
            </a:br>
            <a:r>
              <a:rPr lang="en-US" altLang="zh-TW" sz="1000" dirty="0">
                <a:solidFill>
                  <a:prstClr val="black"/>
                </a:solidFill>
                <a:ea typeface="Cambria Math" panose="02040503050406030204" pitchFamily="18" charset="0"/>
              </a:rPr>
              <a:t>Element-wise</a:t>
            </a:r>
          </a:p>
          <a:p>
            <a:r>
              <a:rPr lang="en-US" altLang="zh-TW" sz="1000" dirty="0">
                <a:solidFill>
                  <a:prstClr val="black"/>
                </a:solidFill>
                <a:ea typeface="Cambria Math" panose="02040503050406030204" pitchFamily="18" charset="0"/>
              </a:rPr>
              <a:t>Multiplication</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 name="文字方塊 24">
            <a:extLst>
              <a:ext uri="{FF2B5EF4-FFF2-40B4-BE49-F238E27FC236}">
                <a16:creationId xmlns:a16="http://schemas.microsoft.com/office/drawing/2014/main" id="{D1F00872-DD77-6591-7CF4-63B351B612B9}"/>
              </a:ext>
            </a:extLst>
          </p:cNvPr>
          <p:cNvSpPr txBox="1"/>
          <p:nvPr/>
        </p:nvSpPr>
        <p:spPr>
          <a:xfrm>
            <a:off x="4025388" y="4797152"/>
            <a:ext cx="754022" cy="22144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graphicFrame>
        <p:nvGraphicFramePr>
          <p:cNvPr id="29" name="表格 28">
            <a:extLst>
              <a:ext uri="{FF2B5EF4-FFF2-40B4-BE49-F238E27FC236}">
                <a16:creationId xmlns:a16="http://schemas.microsoft.com/office/drawing/2014/main" id="{742C410A-5519-9D60-F89D-F24FCB8B6277}"/>
              </a:ext>
            </a:extLst>
          </p:cNvPr>
          <p:cNvGraphicFramePr>
            <a:graphicFrameLocks noGrp="1"/>
          </p:cNvGraphicFramePr>
          <p:nvPr/>
        </p:nvGraphicFramePr>
        <p:xfrm>
          <a:off x="4139952" y="5483696"/>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32" name="文字方塊 31">
            <a:extLst>
              <a:ext uri="{FF2B5EF4-FFF2-40B4-BE49-F238E27FC236}">
                <a16:creationId xmlns:a16="http://schemas.microsoft.com/office/drawing/2014/main" id="{8F638586-DD0F-7B38-ADEB-148121242354}"/>
              </a:ext>
            </a:extLst>
          </p:cNvPr>
          <p:cNvSpPr txBox="1"/>
          <p:nvPr/>
        </p:nvSpPr>
        <p:spPr>
          <a:xfrm>
            <a:off x="4171872" y="564448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Final</a:t>
            </a:r>
          </a:p>
        </p:txBody>
      </p:sp>
      <p:sp>
        <p:nvSpPr>
          <p:cNvPr id="34" name="文字方塊 33">
            <a:extLst>
              <a:ext uri="{FF2B5EF4-FFF2-40B4-BE49-F238E27FC236}">
                <a16:creationId xmlns:a16="http://schemas.microsoft.com/office/drawing/2014/main" id="{EE495000-44A7-A1D6-AFDB-A89929F61919}"/>
              </a:ext>
            </a:extLst>
          </p:cNvPr>
          <p:cNvSpPr txBox="1"/>
          <p:nvPr/>
        </p:nvSpPr>
        <p:spPr>
          <a:xfrm>
            <a:off x="2981052" y="5481110"/>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36" name="表格 35">
            <a:extLst>
              <a:ext uri="{FF2B5EF4-FFF2-40B4-BE49-F238E27FC236}">
                <a16:creationId xmlns:a16="http://schemas.microsoft.com/office/drawing/2014/main" id="{D82F859B-7C9B-D910-AF09-635336C66F03}"/>
              </a:ext>
            </a:extLst>
          </p:cNvPr>
          <p:cNvGraphicFramePr>
            <a:graphicFrameLocks noGrp="1"/>
          </p:cNvGraphicFramePr>
          <p:nvPr/>
        </p:nvGraphicFramePr>
        <p:xfrm>
          <a:off x="2693565" y="5727685"/>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39" name="文字方塊 38">
            <a:extLst>
              <a:ext uri="{FF2B5EF4-FFF2-40B4-BE49-F238E27FC236}">
                <a16:creationId xmlns:a16="http://schemas.microsoft.com/office/drawing/2014/main" id="{AE3E24DD-8382-131D-AED4-CD0C90FD0F59}"/>
              </a:ext>
            </a:extLst>
          </p:cNvPr>
          <p:cNvSpPr txBox="1"/>
          <p:nvPr/>
        </p:nvSpPr>
        <p:spPr>
          <a:xfrm>
            <a:off x="3989709" y="566908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1" name="文字方塊 40">
            <a:extLst>
              <a:ext uri="{FF2B5EF4-FFF2-40B4-BE49-F238E27FC236}">
                <a16:creationId xmlns:a16="http://schemas.microsoft.com/office/drawing/2014/main" id="{38235047-EB09-64DA-E23A-B7F18CD8C13D}"/>
              </a:ext>
            </a:extLst>
          </p:cNvPr>
          <p:cNvSpPr txBox="1"/>
          <p:nvPr/>
        </p:nvSpPr>
        <p:spPr>
          <a:xfrm>
            <a:off x="5219948" y="5405912"/>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43" name="表格 42">
            <a:extLst>
              <a:ext uri="{FF2B5EF4-FFF2-40B4-BE49-F238E27FC236}">
                <a16:creationId xmlns:a16="http://schemas.microsoft.com/office/drawing/2014/main" id="{911C3EE7-A426-ADFD-A68E-92DF32F50371}"/>
              </a:ext>
            </a:extLst>
          </p:cNvPr>
          <p:cNvGraphicFramePr>
            <a:graphicFrameLocks noGrp="1"/>
          </p:cNvGraphicFramePr>
          <p:nvPr/>
        </p:nvGraphicFramePr>
        <p:xfrm>
          <a:off x="4991058" y="5696581"/>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45" name="文字方塊 44">
            <a:extLst>
              <a:ext uri="{FF2B5EF4-FFF2-40B4-BE49-F238E27FC236}">
                <a16:creationId xmlns:a16="http://schemas.microsoft.com/office/drawing/2014/main" id="{DCA76E16-589B-9769-DD1E-F10E8D3A2835}"/>
              </a:ext>
            </a:extLst>
          </p:cNvPr>
          <p:cNvSpPr txBox="1"/>
          <p:nvPr/>
        </p:nvSpPr>
        <p:spPr>
          <a:xfrm>
            <a:off x="4699836" y="5647675"/>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7" name="矩形: 圓角 46">
            <a:extLst>
              <a:ext uri="{FF2B5EF4-FFF2-40B4-BE49-F238E27FC236}">
                <a16:creationId xmlns:a16="http://schemas.microsoft.com/office/drawing/2014/main" id="{60CCA852-9376-3C28-913E-AAC8857E093D}"/>
              </a:ext>
            </a:extLst>
          </p:cNvPr>
          <p:cNvSpPr/>
          <p:nvPr/>
        </p:nvSpPr>
        <p:spPr>
          <a:xfrm>
            <a:off x="971600" y="4010908"/>
            <a:ext cx="1726706" cy="26336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49" name="矩形: 圓角 48">
            <a:extLst>
              <a:ext uri="{FF2B5EF4-FFF2-40B4-BE49-F238E27FC236}">
                <a16:creationId xmlns:a16="http://schemas.microsoft.com/office/drawing/2014/main" id="{7A2721A8-CA55-88EE-ED72-26D429AD1942}"/>
              </a:ext>
            </a:extLst>
          </p:cNvPr>
          <p:cNvSpPr/>
          <p:nvPr/>
        </p:nvSpPr>
        <p:spPr>
          <a:xfrm>
            <a:off x="3710889" y="3379160"/>
            <a:ext cx="652867" cy="70466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6" name="文字方塊 5">
            <a:extLst>
              <a:ext uri="{FF2B5EF4-FFF2-40B4-BE49-F238E27FC236}">
                <a16:creationId xmlns:a16="http://schemas.microsoft.com/office/drawing/2014/main" id="{1AC6279B-7C82-7076-50F0-8DCC108C2EF4}"/>
              </a:ext>
            </a:extLst>
          </p:cNvPr>
          <p:cNvSpPr txBox="1"/>
          <p:nvPr/>
        </p:nvSpPr>
        <p:spPr>
          <a:xfrm>
            <a:off x="2954502" y="247302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A</a:t>
            </a:r>
            <a:endParaRPr lang="en-US" altLang="zh-TW" sz="1400" b="1" u="none" strike="noStrike" baseline="-25000" dirty="0">
              <a:effectLst/>
            </a:endParaRPr>
          </a:p>
        </p:txBody>
      </p:sp>
      <p:sp>
        <p:nvSpPr>
          <p:cNvPr id="17" name="文字方塊 16">
            <a:extLst>
              <a:ext uri="{FF2B5EF4-FFF2-40B4-BE49-F238E27FC236}">
                <a16:creationId xmlns:a16="http://schemas.microsoft.com/office/drawing/2014/main" id="{7D5FD221-D39C-00C4-4B77-1B45AF5D91EC}"/>
              </a:ext>
            </a:extLst>
          </p:cNvPr>
          <p:cNvSpPr txBox="1"/>
          <p:nvPr/>
        </p:nvSpPr>
        <p:spPr>
          <a:xfrm>
            <a:off x="4192223" y="2454603"/>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B</a:t>
            </a:r>
            <a:endParaRPr lang="en-US" altLang="zh-TW" sz="1400" b="1" u="none" strike="noStrike" baseline="-25000" dirty="0">
              <a:effectLst/>
            </a:endParaRPr>
          </a:p>
        </p:txBody>
      </p:sp>
      <p:sp>
        <p:nvSpPr>
          <p:cNvPr id="96" name="右大括弧 95">
            <a:extLst>
              <a:ext uri="{FF2B5EF4-FFF2-40B4-BE49-F238E27FC236}">
                <a16:creationId xmlns:a16="http://schemas.microsoft.com/office/drawing/2014/main" id="{09FEF152-97B2-87C8-447A-FE52110300CB}"/>
              </a:ext>
            </a:extLst>
          </p:cNvPr>
          <p:cNvSpPr/>
          <p:nvPr/>
        </p:nvSpPr>
        <p:spPr>
          <a:xfrm rot="5400000">
            <a:off x="4216932" y="4321960"/>
            <a:ext cx="370934" cy="2163625"/>
          </a:xfrm>
          <a:prstGeom prst="rightBrace">
            <a:avLst>
              <a:gd name="adj1" fmla="val 19145"/>
              <a:gd name="adj2" fmla="val 50440"/>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Tree>
    <p:extLst>
      <p:ext uri="{BB962C8B-B14F-4D97-AF65-F5344CB8AC3E}">
        <p14:creationId xmlns:p14="http://schemas.microsoft.com/office/powerpoint/2010/main" val="254758456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1FE66-60E4-CAE7-B48E-D43A9C24AF4C}"/>
            </a:ext>
          </a:extLst>
        </p:cNvPr>
        <p:cNvGrpSpPr/>
        <p:nvPr/>
      </p:nvGrpSpPr>
      <p:grpSpPr>
        <a:xfrm>
          <a:off x="0" y="0"/>
          <a:ext cx="0" cy="0"/>
          <a:chOff x="0" y="0"/>
          <a:chExt cx="0" cy="0"/>
        </a:xfrm>
      </p:grpSpPr>
      <p:sp>
        <p:nvSpPr>
          <p:cNvPr id="210" name="矩形: 圓角 209">
            <a:extLst>
              <a:ext uri="{FF2B5EF4-FFF2-40B4-BE49-F238E27FC236}">
                <a16:creationId xmlns:a16="http://schemas.microsoft.com/office/drawing/2014/main" id="{8152BEA7-2384-6EDC-C5EE-8FA83875660D}"/>
              </a:ext>
            </a:extLst>
          </p:cNvPr>
          <p:cNvSpPr/>
          <p:nvPr/>
        </p:nvSpPr>
        <p:spPr>
          <a:xfrm>
            <a:off x="3780194" y="1910381"/>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54" name="矩形 453">
            <a:extLst>
              <a:ext uri="{FF2B5EF4-FFF2-40B4-BE49-F238E27FC236}">
                <a16:creationId xmlns:a16="http://schemas.microsoft.com/office/drawing/2014/main" id="{05AFD648-1F4F-AE9D-EF01-0F282686B55C}"/>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4F43444-68EC-669F-9DC6-881E853A6805}"/>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170" name="矩形: 圓角 169">
            <a:extLst>
              <a:ext uri="{FF2B5EF4-FFF2-40B4-BE49-F238E27FC236}">
                <a16:creationId xmlns:a16="http://schemas.microsoft.com/office/drawing/2014/main" id="{BE19256F-39DD-757C-6459-C5C27369D12B}"/>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E4FBE54E-BF70-627C-7E2E-725B760BEB6D}"/>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29" name="矩形: 圓角 228">
            <a:extLst>
              <a:ext uri="{FF2B5EF4-FFF2-40B4-BE49-F238E27FC236}">
                <a16:creationId xmlns:a16="http://schemas.microsoft.com/office/drawing/2014/main" id="{8F1B5488-7BCE-8EA6-44BE-77F3FE5C352E}"/>
              </a:ext>
            </a:extLst>
          </p:cNvPr>
          <p:cNvSpPr/>
          <p:nvPr/>
        </p:nvSpPr>
        <p:spPr>
          <a:xfrm>
            <a:off x="3779912"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63207710-985C-7A28-4056-2FA6713D85CB}"/>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F70EDC75-7385-5F95-B4BA-97F9859B8A9F}"/>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5587727A-BDEF-F32C-B3C5-7C3AB14BD1E5}"/>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B078010-CFFF-9CD7-52C0-BC77FCB4C98B}"/>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6437C88A-0580-6462-84EA-7D74708B04ED}"/>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4:</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 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ayer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mbeddings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PLE is a soft-gated, lightweight MoE variant that dynamically activates layer-wise token embeddings.</a:t>
            </a:r>
          </a:p>
        </p:txBody>
      </p:sp>
      <p:sp>
        <p:nvSpPr>
          <p:cNvPr id="19" name="矩形: 圓角 18">
            <a:extLst>
              <a:ext uri="{FF2B5EF4-FFF2-40B4-BE49-F238E27FC236}">
                <a16:creationId xmlns:a16="http://schemas.microsoft.com/office/drawing/2014/main" id="{7D10604D-7C92-2E3B-35EC-F4C7CB2B62D2}"/>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E6E0CA71-1BC7-E4CA-433F-7736D51728A0}"/>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869BCEB1-E0B0-B90E-2045-1A27BA4B3F18}"/>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A6DD51A0-4E9D-53D5-774B-7FB0D7B4077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EEB91617-C124-5DE4-BE19-2CEB48DC1241}"/>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880A86E0-5A57-1AAC-19B8-36E088E57F41}"/>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85BE5E5C-28BB-97A1-01B2-6768AAA67AEF}"/>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B696DE89-8A26-544F-3D66-7094163C735B}"/>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5E0CAF59-BBBF-C06E-BFAB-579759835897}"/>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8F514093-6F77-65BB-A2D2-6043D3519CE7}"/>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ECA51B2A-2ABF-6E33-0457-6751CBACF99B}"/>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44B4012-ACB2-0F3C-758F-4D04EBA7F1FE}"/>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6AE005A0-05D7-773E-285E-3FCA95F33F2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051D90B-7D0B-401F-7F76-104C3902FCE5}"/>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BF64FCE1-31A2-A9B7-C357-917B8D84023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414B2865-C3D6-34B0-B1AB-48FB701BAEE5}"/>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C36BF9ED-BB06-85E2-9031-050919357D81}"/>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689A7308-C46C-A590-0867-D7C276AD85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439DE49D-B3C9-076B-1306-62B820CCC6A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3F814F05-AF87-78FB-274A-CB46919FC54B}"/>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86604D7E-3B80-431C-B51D-7F28A1DC59B6}"/>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99CA2173-A9DE-DD28-3E1F-D8D274448690}"/>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DD71B362-A01D-EBB9-D617-94917BA6CDEC}"/>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4984473E-2D74-7C5F-7523-1066200E0569}"/>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ACB06678-7FB7-4292-ABE6-B489A21D9B47}"/>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DA06AFCC-47AC-D0E2-83E9-2D3F7A51BC37}"/>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179" name="矩形: 圓角 178">
            <a:extLst>
              <a:ext uri="{FF2B5EF4-FFF2-40B4-BE49-F238E27FC236}">
                <a16:creationId xmlns:a16="http://schemas.microsoft.com/office/drawing/2014/main" id="{EC117753-EFAC-91F3-0AE6-4EB0623CBA38}"/>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1C7D8B6E-9018-D3B0-9050-78C4C703439B}"/>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1" name="文字方塊 210">
            <a:extLst>
              <a:ext uri="{FF2B5EF4-FFF2-40B4-BE49-F238E27FC236}">
                <a16:creationId xmlns:a16="http://schemas.microsoft.com/office/drawing/2014/main" id="{E8BBC1BD-B857-3E87-A92C-9AD7F8FD3FDD}"/>
              </a:ext>
            </a:extLst>
          </p:cNvPr>
          <p:cNvSpPr txBox="1"/>
          <p:nvPr/>
        </p:nvSpPr>
        <p:spPr>
          <a:xfrm>
            <a:off x="3851920" y="1990064"/>
            <a:ext cx="754719"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12" name="文字方塊 211">
            <a:extLst>
              <a:ext uri="{FF2B5EF4-FFF2-40B4-BE49-F238E27FC236}">
                <a16:creationId xmlns:a16="http://schemas.microsoft.com/office/drawing/2014/main" id="{8BCA93BD-0565-5A58-CC44-CB484CF1AC63}"/>
              </a:ext>
            </a:extLst>
          </p:cNvPr>
          <p:cNvSpPr txBox="1"/>
          <p:nvPr/>
        </p:nvSpPr>
        <p:spPr>
          <a:xfrm>
            <a:off x="3851921" y="3769323"/>
            <a:ext cx="755000"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214" name="矩形: 圓角 213">
            <a:extLst>
              <a:ext uri="{FF2B5EF4-FFF2-40B4-BE49-F238E27FC236}">
                <a16:creationId xmlns:a16="http://schemas.microsoft.com/office/drawing/2014/main" id="{B8497F08-95D0-F2C5-894C-7C8B7701641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215" name="直線單箭頭接點 214">
            <a:extLst>
              <a:ext uri="{FF2B5EF4-FFF2-40B4-BE49-F238E27FC236}">
                <a16:creationId xmlns:a16="http://schemas.microsoft.com/office/drawing/2014/main" id="{28BE8337-43EE-0003-F107-E86F662BD722}"/>
              </a:ext>
            </a:extLst>
          </p:cNvPr>
          <p:cNvCxnSpPr>
            <a:cxnSpLocks/>
            <a:stCxn id="210" idx="0"/>
            <a:endCxn id="214" idx="2"/>
          </p:cNvCxnSpPr>
          <p:nvPr/>
        </p:nvCxnSpPr>
        <p:spPr>
          <a:xfrm flipH="1" flipV="1">
            <a:off x="4389673" y="1738305"/>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18" name="矩形: 圓角 217">
            <a:extLst>
              <a:ext uri="{FF2B5EF4-FFF2-40B4-BE49-F238E27FC236}">
                <a16:creationId xmlns:a16="http://schemas.microsoft.com/office/drawing/2014/main" id="{B1EC08CE-E011-D4FD-3B57-E460890E997B}"/>
              </a:ext>
            </a:extLst>
          </p:cNvPr>
          <p:cNvSpPr/>
          <p:nvPr/>
        </p:nvSpPr>
        <p:spPr>
          <a:xfrm>
            <a:off x="3995936" y="2468760"/>
            <a:ext cx="485573" cy="1096784"/>
          </a:xfrm>
          <a:prstGeom prst="roundRect">
            <a:avLst>
              <a:gd name="adj" fmla="val 13748"/>
            </a:avLst>
          </a:prstGeom>
          <a:solidFill>
            <a:schemeClr val="accent2">
              <a:lumMod val="20000"/>
              <a:lumOff val="8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Nxd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232" name="直線單箭頭接點 231">
            <a:extLst>
              <a:ext uri="{FF2B5EF4-FFF2-40B4-BE49-F238E27FC236}">
                <a16:creationId xmlns:a16="http://schemas.microsoft.com/office/drawing/2014/main" id="{F26B60A0-8C3B-AFEC-E949-85B592C35EA9}"/>
              </a:ext>
            </a:extLst>
          </p:cNvPr>
          <p:cNvCxnSpPr>
            <a:cxnSpLocks/>
            <a:stCxn id="233" idx="0"/>
            <a:endCxn id="234" idx="2"/>
          </p:cNvCxnSpPr>
          <p:nvPr/>
        </p:nvCxnSpPr>
        <p:spPr>
          <a:xfrm flipH="1" flipV="1">
            <a:off x="4226493" y="4508771"/>
            <a:ext cx="3979" cy="23328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33" name="矩形 232">
            <a:extLst>
              <a:ext uri="{FF2B5EF4-FFF2-40B4-BE49-F238E27FC236}">
                <a16:creationId xmlns:a16="http://schemas.microsoft.com/office/drawing/2014/main" id="{EE8233CC-685F-7D13-2602-C521F75A2832}"/>
              </a:ext>
            </a:extLst>
          </p:cNvPr>
          <p:cNvSpPr/>
          <p:nvPr/>
        </p:nvSpPr>
        <p:spPr>
          <a:xfrm>
            <a:off x="4032960" y="4742058"/>
            <a:ext cx="395024" cy="407662"/>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34" name="矩形: 圓角 233">
            <a:extLst>
              <a:ext uri="{FF2B5EF4-FFF2-40B4-BE49-F238E27FC236}">
                <a16:creationId xmlns:a16="http://schemas.microsoft.com/office/drawing/2014/main" id="{ECD326D8-B7FF-4E8B-8C79-96380FFA8CB5}"/>
              </a:ext>
            </a:extLst>
          </p:cNvPr>
          <p:cNvSpPr/>
          <p:nvPr/>
        </p:nvSpPr>
        <p:spPr>
          <a:xfrm>
            <a:off x="4025003" y="4069600"/>
            <a:ext cx="402980" cy="439171"/>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Nx1536</a:t>
            </a:r>
          </a:p>
        </p:txBody>
      </p:sp>
      <p:sp>
        <p:nvSpPr>
          <p:cNvPr id="243" name="矩形: 圓角 242">
            <a:extLst>
              <a:ext uri="{FF2B5EF4-FFF2-40B4-BE49-F238E27FC236}">
                <a16:creationId xmlns:a16="http://schemas.microsoft.com/office/drawing/2014/main" id="{D2F0EB87-8852-A70A-3723-552C9C22DAC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61885D46-3697-0E37-AEE5-5620963F4DE3}"/>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DC5B4798-CEC6-AFB5-C676-A6C5088940D9}"/>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BB345011-E72A-4B57-7623-0F079D3A82B2}"/>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FFB275EB-4E36-DB50-7280-FD028F56413F}"/>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928978F1-37A7-0A94-71DE-2F6FA9EC1494}"/>
              </a:ext>
            </a:extLst>
          </p:cNvPr>
          <p:cNvCxnSpPr>
            <a:cxnSpLocks/>
            <a:stCxn id="247" idx="1"/>
            <a:endCxn id="353" idx="3"/>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717C5D64-7B86-5E45-0548-0FDD29BF909A}"/>
              </a:ext>
            </a:extLst>
          </p:cNvPr>
          <p:cNvCxnSpPr>
            <a:cxnSpLocks/>
            <a:stCxn id="355" idx="3"/>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93" name="直線接點 292">
            <a:extLst>
              <a:ext uri="{FF2B5EF4-FFF2-40B4-BE49-F238E27FC236}">
                <a16:creationId xmlns:a16="http://schemas.microsoft.com/office/drawing/2014/main" id="{A2D0A9B0-FA90-7699-CF4F-9C904905E5EC}"/>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28DFD3BC-A87F-A5C7-534C-3F0D49144805}"/>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238" name="矩形: 圓角 237">
            <a:extLst>
              <a:ext uri="{FF2B5EF4-FFF2-40B4-BE49-F238E27FC236}">
                <a16:creationId xmlns:a16="http://schemas.microsoft.com/office/drawing/2014/main" id="{4B06301D-1BE8-1326-B4FC-7F4CF91E61AE}"/>
              </a:ext>
            </a:extLst>
          </p:cNvPr>
          <p:cNvSpPr/>
          <p:nvPr/>
        </p:nvSpPr>
        <p:spPr>
          <a:xfrm>
            <a:off x="4755291" y="2941403"/>
            <a:ext cx="72008" cy="1093386"/>
          </a:xfrm>
          <a:prstGeom prst="roundRect">
            <a:avLst>
              <a:gd name="adj" fmla="val 13748"/>
            </a:avLst>
          </a:prstGeom>
          <a:solidFill>
            <a:schemeClr val="accent6">
              <a:lumMod val="60000"/>
              <a:lumOff val="40000"/>
              <a:alpha val="40000"/>
            </a:schemeClr>
          </a:solidFill>
          <a:ln w="15875">
            <a:solidFill>
              <a:schemeClr val="accent6">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63" name="文字方塊 362">
            <a:extLst>
              <a:ext uri="{FF2B5EF4-FFF2-40B4-BE49-F238E27FC236}">
                <a16:creationId xmlns:a16="http://schemas.microsoft.com/office/drawing/2014/main" id="{525FB032-A4CB-7C4D-2D54-F9DD83D1962B}"/>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365" name="接點: 肘形 364">
            <a:extLst>
              <a:ext uri="{FF2B5EF4-FFF2-40B4-BE49-F238E27FC236}">
                <a16:creationId xmlns:a16="http://schemas.microsoft.com/office/drawing/2014/main" id="{DD415140-B33D-1548-4B58-7C4C4747B9D4}"/>
              </a:ext>
            </a:extLst>
          </p:cNvPr>
          <p:cNvCxnSpPr>
            <a:cxnSpLocks/>
            <a:stCxn id="233" idx="3"/>
            <a:endCxn id="369" idx="2"/>
          </p:cNvCxnSpPr>
          <p:nvPr/>
        </p:nvCxnSpPr>
        <p:spPr>
          <a:xfrm flipV="1">
            <a:off x="4427984" y="4501648"/>
            <a:ext cx="357953" cy="444241"/>
          </a:xfrm>
          <a:prstGeom prst="bentConnector2">
            <a:avLst/>
          </a:prstGeom>
          <a:ln w="19050">
            <a:solidFill>
              <a:schemeClr val="tx1"/>
            </a:solidFill>
            <a:headEnd w="sm" len="med"/>
            <a:tailEnd type="triangle" w="sm" len="med"/>
          </a:ln>
        </p:spPr>
        <p:style>
          <a:lnRef idx="1">
            <a:schemeClr val="accent1"/>
          </a:lnRef>
          <a:fillRef idx="0">
            <a:schemeClr val="accent1"/>
          </a:fillRef>
          <a:effectRef idx="0">
            <a:schemeClr val="accent1"/>
          </a:effectRef>
          <a:fontRef idx="minor">
            <a:schemeClr val="tx1"/>
          </a:fontRef>
        </p:style>
      </p:cxnSp>
      <p:sp>
        <p:nvSpPr>
          <p:cNvPr id="369" name="矩形: 圓角 368">
            <a:extLst>
              <a:ext uri="{FF2B5EF4-FFF2-40B4-BE49-F238E27FC236}">
                <a16:creationId xmlns:a16="http://schemas.microsoft.com/office/drawing/2014/main" id="{DE9F4776-897F-EF38-755B-22FC78B99362}"/>
              </a:ext>
            </a:extLst>
          </p:cNvPr>
          <p:cNvSpPr/>
          <p:nvPr/>
        </p:nvSpPr>
        <p:spPr>
          <a:xfrm>
            <a:off x="4644008" y="4069600"/>
            <a:ext cx="283858" cy="432048"/>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PLE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256</a:t>
            </a:r>
          </a:p>
        </p:txBody>
      </p:sp>
      <p:sp>
        <p:nvSpPr>
          <p:cNvPr id="379" name="矩形: 圓角 378">
            <a:extLst>
              <a:ext uri="{FF2B5EF4-FFF2-40B4-BE49-F238E27FC236}">
                <a16:creationId xmlns:a16="http://schemas.microsoft.com/office/drawing/2014/main" id="{C319F167-CD75-A554-5FB6-13D7673C674F}"/>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72FAC1CD-FDAF-2C4E-5F25-3580BA933392}"/>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6B75EBEC-48B3-25A0-46E3-2D8C9256BCD5}"/>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6A8855D9-5D93-9B03-FA67-8CB796C3379A}"/>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C2D0AA9D-2CF4-2067-F683-7B9B3215C81A}"/>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67454EB2-CB74-516D-45F4-16E55A222BF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EC50C037-BABC-90C0-4103-A8A24C945726}"/>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CA43E46A-4463-4F26-3FD5-3A646BC83E23}"/>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5197D484-ABC8-13C5-E5F6-FB749CE8FAC9}"/>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69BE9F70-005C-830C-0F84-3A9F03A44EB7}"/>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9" name="矩形 438">
            <a:extLst>
              <a:ext uri="{FF2B5EF4-FFF2-40B4-BE49-F238E27FC236}">
                <a16:creationId xmlns:a16="http://schemas.microsoft.com/office/drawing/2014/main" id="{5140CBF9-9A18-5C52-07CB-4AD7B2111DA5}"/>
              </a:ext>
            </a:extLst>
          </p:cNvPr>
          <p:cNvSpPr/>
          <p:nvPr/>
        </p:nvSpPr>
        <p:spPr>
          <a:xfrm>
            <a:off x="3595248" y="5300108"/>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3" name="矩形 442">
            <a:extLst>
              <a:ext uri="{FF2B5EF4-FFF2-40B4-BE49-F238E27FC236}">
                <a16:creationId xmlns:a16="http://schemas.microsoft.com/office/drawing/2014/main" id="{6FDA76AC-3819-6910-C4B2-7A5CE3BC76C1}"/>
              </a:ext>
            </a:extLst>
          </p:cNvPr>
          <p:cNvSpPr/>
          <p:nvPr/>
        </p:nvSpPr>
        <p:spPr>
          <a:xfrm>
            <a:off x="4870424" y="2942439"/>
            <a:ext cx="104230" cy="479089"/>
          </a:xfrm>
          <a:prstGeom prst="rect">
            <a:avLst/>
          </a:prstGeom>
          <a:solidFill>
            <a:schemeClr val="bg2">
              <a:lumMod val="90000"/>
            </a:schemeClr>
          </a:solidFill>
          <a:ln w="1905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0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C0B6E053-FF58-D53D-1860-D25BEA29989C}"/>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7E15CB88-84AE-BF15-F851-06F42158E725}"/>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EDE28DD-20E0-22B3-9112-F36B0AF38090}"/>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D1FB5A6B-242D-349D-5C43-049DCFA823B7}"/>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8198FD95-2130-DE8C-2894-D9D277FFDE88}"/>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CBE89B7-C0CF-4307-100A-AE10558D9E6E}"/>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CFCE0F9D-ED6F-C81A-D59B-0D98F8DCA129}"/>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C7691DC9-6984-0D23-A0E0-6E7D19059F8F}"/>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8B4A16DF-DE69-01D3-C03A-0A8EAB36D537}"/>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0ADB9979-292B-C90A-3C7E-205F7E7CC282}"/>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903D6AF1-D490-6992-844B-1553A488E0AA}"/>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516" name="群組 515">
            <a:extLst>
              <a:ext uri="{FF2B5EF4-FFF2-40B4-BE49-F238E27FC236}">
                <a16:creationId xmlns:a16="http://schemas.microsoft.com/office/drawing/2014/main" id="{82F115A4-A0A4-7463-9E32-D2D6620DD405}"/>
              </a:ext>
            </a:extLst>
          </p:cNvPr>
          <p:cNvGrpSpPr/>
          <p:nvPr/>
        </p:nvGrpSpPr>
        <p:grpSpPr>
          <a:xfrm>
            <a:off x="4648622" y="3605968"/>
            <a:ext cx="499442" cy="247608"/>
            <a:chOff x="4648622" y="3181392"/>
            <a:chExt cx="499442" cy="247608"/>
          </a:xfrm>
        </p:grpSpPr>
        <p:sp>
          <p:nvSpPr>
            <p:cNvPr id="355" name="矩形 354">
              <a:extLst>
                <a:ext uri="{FF2B5EF4-FFF2-40B4-BE49-F238E27FC236}">
                  <a16:creationId xmlns:a16="http://schemas.microsoft.com/office/drawing/2014/main" id="{D1BE1B28-A0DE-7CDB-7938-F60BA3CC21F8}"/>
                </a:ext>
              </a:extLst>
            </p:cNvPr>
            <p:cNvSpPr/>
            <p:nvPr/>
          </p:nvSpPr>
          <p:spPr>
            <a:xfrm>
              <a:off x="4788024" y="3300594"/>
              <a:ext cx="360040" cy="128406"/>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53" name="矩形 352">
              <a:extLst>
                <a:ext uri="{FF2B5EF4-FFF2-40B4-BE49-F238E27FC236}">
                  <a16:creationId xmlns:a16="http://schemas.microsoft.com/office/drawing/2014/main" id="{05F2B42F-45F0-D38D-1A71-B66F6E61569D}"/>
                </a:ext>
              </a:extLst>
            </p:cNvPr>
            <p:cNvSpPr/>
            <p:nvPr/>
          </p:nvSpPr>
          <p:spPr>
            <a:xfrm>
              <a:off x="4789926" y="3181392"/>
              <a:ext cx="358138" cy="119202"/>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513" name="矩形 512">
              <a:extLst>
                <a:ext uri="{FF2B5EF4-FFF2-40B4-BE49-F238E27FC236}">
                  <a16:creationId xmlns:a16="http://schemas.microsoft.com/office/drawing/2014/main" id="{65F2EBF5-7322-0EF5-533C-66A32F123AD3}"/>
                </a:ext>
              </a:extLst>
            </p:cNvPr>
            <p:cNvSpPr/>
            <p:nvPr/>
          </p:nvSpPr>
          <p:spPr>
            <a:xfrm>
              <a:off x="4648622" y="3240992"/>
              <a:ext cx="427434" cy="123805"/>
            </a:xfrm>
            <a:prstGeom prst="rect">
              <a:avLst/>
            </a:prstGeom>
            <a:noFill/>
            <a:ln w="3175">
              <a:solidFill>
                <a:schemeClr val="tx1">
                  <a:lumMod val="85000"/>
                  <a:lumOff val="1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token</a:t>
              </a:r>
            </a:p>
          </p:txBody>
        </p:sp>
      </p:grpSp>
      <p:sp>
        <p:nvSpPr>
          <p:cNvPr id="6" name="右大括弧 5">
            <a:extLst>
              <a:ext uri="{FF2B5EF4-FFF2-40B4-BE49-F238E27FC236}">
                <a16:creationId xmlns:a16="http://schemas.microsoft.com/office/drawing/2014/main" id="{9E7BBFE7-8CE2-0E13-D1DA-41B96806AD58}"/>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CEBDAFB9-FF64-AF0E-65A2-88DBF5A1232D}"/>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Tree>
    <p:extLst>
      <p:ext uri="{BB962C8B-B14F-4D97-AF65-F5344CB8AC3E}">
        <p14:creationId xmlns:p14="http://schemas.microsoft.com/office/powerpoint/2010/main" val="29307279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04ECF-91A1-2BAC-FCAB-13602CA54016}"/>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230BFFCC-05AF-FE4B-4F7D-A52E3A1EC4D7}"/>
              </a:ext>
            </a:extLst>
          </p:cNvPr>
          <p:cNvSpPr txBox="1">
            <a:spLocks/>
          </p:cNvSpPr>
          <p:nvPr/>
        </p:nvSpPr>
        <p:spPr>
          <a:xfrm>
            <a:off x="179512" y="116632"/>
            <a:ext cx="856895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Code Intelligence Benchmarking</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Gemma 4 sets a new efficiency standard by delivering flagship-level intelligence on edge devices.</a:t>
            </a:r>
          </a:p>
        </p:txBody>
      </p:sp>
      <p:graphicFrame>
        <p:nvGraphicFramePr>
          <p:cNvPr id="3" name="表格 2">
            <a:extLst>
              <a:ext uri="{FF2B5EF4-FFF2-40B4-BE49-F238E27FC236}">
                <a16:creationId xmlns:a16="http://schemas.microsoft.com/office/drawing/2014/main" id="{8F750FB4-6015-A694-D423-CB3426F6C704}"/>
              </a:ext>
            </a:extLst>
          </p:cNvPr>
          <p:cNvGraphicFramePr>
            <a:graphicFrameLocks noGrp="1"/>
          </p:cNvGraphicFramePr>
          <p:nvPr>
            <p:extLst>
              <p:ext uri="{D42A27DB-BD31-4B8C-83A1-F6EECF244321}">
                <p14:modId xmlns:p14="http://schemas.microsoft.com/office/powerpoint/2010/main" val="63619406"/>
              </p:ext>
            </p:extLst>
          </p:nvPr>
        </p:nvGraphicFramePr>
        <p:xfrm>
          <a:off x="683568" y="1317641"/>
          <a:ext cx="7560839" cy="4749319"/>
        </p:xfrm>
        <a:graphic>
          <a:graphicData uri="http://schemas.openxmlformats.org/drawingml/2006/table">
            <a:tbl>
              <a:tblPr firstRow="1" bandRow="1">
                <a:tableStyleId>{5C22544A-7EE6-4342-B048-85BDC9FD1C3A}</a:tableStyleId>
              </a:tblPr>
              <a:tblGrid>
                <a:gridCol w="385757">
                  <a:extLst>
                    <a:ext uri="{9D8B030D-6E8A-4147-A177-3AD203B41FA5}">
                      <a16:colId xmlns:a16="http://schemas.microsoft.com/office/drawing/2014/main" val="2211145501"/>
                    </a:ext>
                  </a:extLst>
                </a:gridCol>
                <a:gridCol w="1414443">
                  <a:extLst>
                    <a:ext uri="{9D8B030D-6E8A-4147-A177-3AD203B41FA5}">
                      <a16:colId xmlns:a16="http://schemas.microsoft.com/office/drawing/2014/main" val="401334077"/>
                    </a:ext>
                  </a:extLst>
                </a:gridCol>
                <a:gridCol w="1008112">
                  <a:extLst>
                    <a:ext uri="{9D8B030D-6E8A-4147-A177-3AD203B41FA5}">
                      <a16:colId xmlns:a16="http://schemas.microsoft.com/office/drawing/2014/main" val="3431692166"/>
                    </a:ext>
                  </a:extLst>
                </a:gridCol>
                <a:gridCol w="1008112">
                  <a:extLst>
                    <a:ext uri="{9D8B030D-6E8A-4147-A177-3AD203B41FA5}">
                      <a16:colId xmlns:a16="http://schemas.microsoft.com/office/drawing/2014/main" val="768901619"/>
                    </a:ext>
                  </a:extLst>
                </a:gridCol>
                <a:gridCol w="1321184">
                  <a:extLst>
                    <a:ext uri="{9D8B030D-6E8A-4147-A177-3AD203B41FA5}">
                      <a16:colId xmlns:a16="http://schemas.microsoft.com/office/drawing/2014/main" val="767948712"/>
                    </a:ext>
                  </a:extLst>
                </a:gridCol>
                <a:gridCol w="2423231">
                  <a:extLst>
                    <a:ext uri="{9D8B030D-6E8A-4147-A177-3AD203B41FA5}">
                      <a16:colId xmlns:a16="http://schemas.microsoft.com/office/drawing/2014/main" val="4512040"/>
                    </a:ext>
                  </a:extLst>
                </a:gridCol>
              </a:tblGrid>
              <a:tr h="320084">
                <a:tc>
                  <a:txBody>
                    <a:bodyPr/>
                    <a:lstStyle/>
                    <a:p>
                      <a:endParaRPr lang="en-US" altLang="zh-TW" sz="1200" b="1" cap="none" spc="0" dirty="0">
                        <a:ln w="0"/>
                        <a:solidFill>
                          <a:schemeClr val="tx1"/>
                        </a:solidFill>
                        <a:effectLst/>
                      </a:endParaRPr>
                    </a:p>
                    <a:p>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Models</a:t>
                      </a:r>
                    </a:p>
                    <a:p>
                      <a:r>
                        <a:rPr lang="en-US" altLang="zh-TW" sz="1200" b="1" cap="none" spc="0" dirty="0">
                          <a:ln w="0"/>
                          <a:solidFill>
                            <a:schemeClr val="tx1"/>
                          </a:solidFill>
                          <a:effectLst/>
                        </a:rPr>
                        <a:t>Name</a:t>
                      </a: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Parameter</a:t>
                      </a:r>
                    </a:p>
                    <a:p>
                      <a:r>
                        <a:rPr lang="en-US" altLang="zh-TW" sz="1200" b="0" cap="none" spc="0" dirty="0">
                          <a:ln w="0"/>
                          <a:solidFill>
                            <a:schemeClr val="tx1"/>
                          </a:solidFill>
                          <a:effectLst/>
                        </a:rPr>
                        <a:t>(active/total)</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Context</a:t>
                      </a:r>
                      <a:br>
                        <a:rPr lang="en-US" altLang="zh-TW" sz="1200" b="1" cap="none" spc="0" dirty="0">
                          <a:ln w="0"/>
                          <a:solidFill>
                            <a:schemeClr val="tx1"/>
                          </a:solidFill>
                          <a:effectLst/>
                        </a:rPr>
                      </a:br>
                      <a:r>
                        <a:rPr lang="en-US" altLang="zh-TW" sz="1200" b="0" cap="none" spc="0" dirty="0">
                          <a:ln w="0"/>
                          <a:solidFill>
                            <a:schemeClr val="tx1"/>
                          </a:solidFill>
                          <a:effectLst/>
                        </a:rPr>
                        <a:t>(tokens)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LiveCodeBench</a:t>
                      </a:r>
                    </a:p>
                    <a:p>
                      <a:r>
                        <a:rPr lang="en-US" altLang="zh-TW" sz="1200" b="0" cap="none" spc="0" dirty="0">
                          <a:ln w="0"/>
                          <a:solidFill>
                            <a:schemeClr val="tx1"/>
                          </a:solidFill>
                          <a:effectLst/>
                        </a:rPr>
                        <a:t>(Pass@1)</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Description</a:t>
                      </a:r>
                    </a:p>
                    <a:p>
                      <a:r>
                        <a:rPr lang="en-US" altLang="zh-TW" sz="1200" b="0" cap="none" spc="0" dirty="0">
                          <a:ln w="0"/>
                          <a:solidFill>
                            <a:schemeClr val="tx1"/>
                          </a:solidFill>
                          <a:effectLst/>
                        </a:rPr>
                        <a:t>(Requirement)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20084">
                <a:tc>
                  <a:txBody>
                    <a:bodyPr/>
                    <a:lstStyle/>
                    <a:p>
                      <a:pPr algn="ctr"/>
                      <a:r>
                        <a:rPr lang="en-US" altLang="zh-TW" sz="1200" b="0" cap="none" spc="0" dirty="0">
                          <a:ln w="0"/>
                          <a:solidFill>
                            <a:schemeClr val="tx1"/>
                          </a:solidFill>
                          <a:effectLst/>
                        </a:rPr>
                        <a:t>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3 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91.7%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Google</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99841">
                <a:tc>
                  <a:txBody>
                    <a:bodyPr/>
                    <a:lstStyle/>
                    <a:p>
                      <a:pPr algn="ctr"/>
                      <a:r>
                        <a:rPr lang="en-US" altLang="zh-TW" sz="1200" b="0" cap="none" spc="0" dirty="0">
                          <a:ln w="0"/>
                          <a:solidFill>
                            <a:schemeClr val="tx1"/>
                          </a:solidFill>
                          <a:effectLst/>
                        </a:rPr>
                        <a:t>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3.5 Flash</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91.5%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Google</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99841">
                <a:tc>
                  <a:txBody>
                    <a:bodyPr/>
                    <a:lstStyle/>
                    <a:p>
                      <a:pPr algn="ctr"/>
                      <a:r>
                        <a:rPr lang="en-US" altLang="zh-TW" sz="1200" b="0" cap="none" spc="0" dirty="0">
                          <a:ln w="0"/>
                          <a:solidFill>
                            <a:schemeClr val="tx1"/>
                          </a:solidFill>
                          <a:effectLst/>
                        </a:rPr>
                        <a:t>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Gemma 4 26B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4B/26B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90.7%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 Source</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299841">
                <a:tc>
                  <a:txBody>
                    <a:bodyPr/>
                    <a:lstStyle/>
                    <a:p>
                      <a:pPr algn="ctr"/>
                      <a:r>
                        <a:rPr lang="en-US" altLang="zh-TW" sz="1200" b="0" cap="none" spc="0" dirty="0">
                          <a:ln w="0"/>
                          <a:solidFill>
                            <a:schemeClr val="tx1"/>
                          </a:solidFill>
                          <a:effectLst/>
                        </a:rPr>
                        <a:t>4</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GPT-5.2 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89.4%</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87632">
                <a:tc>
                  <a:txBody>
                    <a:bodyPr/>
                    <a:lstStyle/>
                    <a:p>
                      <a:pPr algn="ctr"/>
                      <a:r>
                        <a:rPr lang="en-US" altLang="zh-TW" sz="1200" b="0" cap="none" spc="0" dirty="0">
                          <a:ln w="0"/>
                          <a:solidFill>
                            <a:schemeClr val="tx1"/>
                          </a:solidFill>
                          <a:effectLst/>
                        </a:rPr>
                        <a:t>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DeepSeek V3.2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37B/671B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89.6%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DeepSeek (Special Version)</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287632">
                <a:tc>
                  <a:txBody>
                    <a:bodyPr/>
                    <a:lstStyle/>
                    <a:p>
                      <a:pPr algn="ctr"/>
                      <a:r>
                        <a:rPr lang="en-US" altLang="zh-TW" sz="1200" b="0" cap="none" spc="0" dirty="0">
                          <a:ln w="0"/>
                          <a:solidFill>
                            <a:schemeClr val="tx1"/>
                          </a:solidFill>
                          <a:effectLst/>
                        </a:rPr>
                        <a:t>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O3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85.5%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90131705"/>
                  </a:ext>
                </a:extLst>
              </a:tr>
              <a:tr h="287632">
                <a:tc>
                  <a:txBody>
                    <a:bodyPr/>
                    <a:lstStyle/>
                    <a:p>
                      <a:pPr algn="ctr"/>
                      <a:r>
                        <a:rPr lang="en-US" altLang="zh-TW" sz="1200" b="0" cap="none" spc="0" dirty="0">
                          <a:ln w="0"/>
                          <a:solidFill>
                            <a:schemeClr val="tx1"/>
                          </a:solidFill>
                          <a:effectLst/>
                        </a:rPr>
                        <a:t>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Gemma 4 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84.8%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518966719"/>
                  </a:ext>
                </a:extLst>
              </a:tr>
              <a:tr h="287632">
                <a:tc>
                  <a:txBody>
                    <a:bodyPr/>
                    <a:lstStyle/>
                    <a:p>
                      <a:pPr algn="ctr"/>
                      <a:r>
                        <a:rPr lang="en-US" altLang="zh-TW" sz="1200" b="0" cap="none" spc="0" dirty="0">
                          <a:ln w="0"/>
                          <a:solidFill>
                            <a:schemeClr val="tx1"/>
                          </a:solidFill>
                          <a:effectLst/>
                        </a:rPr>
                        <a:t>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Claude Fable 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83.0%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Anthropic</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18975361"/>
                  </a:ext>
                </a:extLst>
              </a:tr>
              <a:tr h="287632">
                <a:tc>
                  <a:txBody>
                    <a:bodyPr/>
                    <a:lstStyle/>
                    <a:p>
                      <a:pPr algn="ctr"/>
                      <a:r>
                        <a:rPr lang="en-US" altLang="zh-TW" sz="1200" b="0" cap="none" spc="0" dirty="0">
                          <a:ln w="0"/>
                          <a:solidFill>
                            <a:schemeClr val="tx1"/>
                          </a:solidFill>
                          <a:effectLst/>
                        </a:rPr>
                        <a:t>9</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O4-mini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82.6%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66205179"/>
                  </a:ext>
                </a:extLst>
              </a:tr>
              <a:tr h="287632">
                <a:tc>
                  <a:txBody>
                    <a:bodyPr/>
                    <a:lstStyle/>
                    <a:p>
                      <a:pPr algn="ctr"/>
                      <a:r>
                        <a:rPr lang="en-US" altLang="zh-TW" sz="1200" b="0" cap="none" spc="0" dirty="0">
                          <a:ln w="0"/>
                          <a:solidFill>
                            <a:schemeClr val="tx1"/>
                          </a:solidFill>
                          <a:effectLst/>
                        </a:rPr>
                        <a:t>10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GPT-5.6 Sol</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81.0%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263407724"/>
                  </a:ext>
                </a:extLst>
              </a:tr>
              <a:tr h="287632">
                <a:tc>
                  <a:txBody>
                    <a:bodyPr/>
                    <a:lstStyle/>
                    <a:p>
                      <a:pPr algn="ctr"/>
                      <a:r>
                        <a:rPr lang="en-US" altLang="zh-TW" sz="1200" b="0" cap="none" spc="0" dirty="0">
                          <a:ln w="0"/>
                          <a:solidFill>
                            <a:schemeClr val="tx1"/>
                          </a:solidFill>
                          <a:effectLst/>
                        </a:rPr>
                        <a:t>11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2.5 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80.1%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81383965"/>
                  </a:ext>
                </a:extLst>
              </a:tr>
              <a:tr h="287632">
                <a:tc>
                  <a:txBody>
                    <a:bodyPr/>
                    <a:lstStyle/>
                    <a:p>
                      <a:pPr algn="ctr"/>
                      <a:r>
                        <a:rPr lang="en-US" altLang="zh-TW" sz="1200" b="0" cap="none" spc="0" dirty="0">
                          <a:ln w="0"/>
                          <a:solidFill>
                            <a:schemeClr val="tx1"/>
                          </a:solidFill>
                          <a:effectLst/>
                        </a:rPr>
                        <a:t>12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Kimi K3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104B / 2.8T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79.2%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 Source, Moonshot</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592432676"/>
                  </a:ext>
                </a:extLst>
              </a:tr>
              <a:tr h="287632">
                <a:tc>
                  <a:txBody>
                    <a:bodyPr/>
                    <a:lstStyle/>
                    <a:p>
                      <a:pPr algn="ctr"/>
                      <a:r>
                        <a:rPr lang="en-US" altLang="zh-TW" sz="1200" b="0" cap="none" spc="0" dirty="0">
                          <a:ln w="0"/>
                          <a:solidFill>
                            <a:schemeClr val="tx1"/>
                          </a:solidFill>
                          <a:effectLst/>
                        </a:rPr>
                        <a:t>13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DeepSeek-R1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37B / 671B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76.8%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DeepSeek (Classic)</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049056015"/>
                  </a:ext>
                </a:extLst>
              </a:tr>
              <a:tr h="287632">
                <a:tc>
                  <a:txBody>
                    <a:bodyPr/>
                    <a:lstStyle/>
                    <a:p>
                      <a:pPr algn="ctr"/>
                      <a:r>
                        <a:rPr lang="en-US" altLang="zh-TW" sz="1200" b="0" cap="none" spc="0" dirty="0">
                          <a:ln w="0"/>
                          <a:solidFill>
                            <a:schemeClr val="tx1"/>
                          </a:solidFill>
                          <a:effectLst/>
                        </a:rPr>
                        <a:t>14</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Qwen 3.7 Max</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73.1%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Alibaba</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104574766"/>
                  </a:ext>
                </a:extLst>
              </a:tr>
              <a:tr h="287632">
                <a:tc>
                  <a:txBody>
                    <a:bodyPr/>
                    <a:lstStyle/>
                    <a:p>
                      <a:pPr algn="ctr"/>
                      <a:r>
                        <a:rPr lang="en-US" altLang="zh-TW" sz="1200" b="0" cap="none" spc="0" dirty="0">
                          <a:ln w="0"/>
                          <a:solidFill>
                            <a:schemeClr val="tx1"/>
                          </a:solidFill>
                          <a:effectLst/>
                        </a:rPr>
                        <a:t>15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MS/Meta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385035529"/>
                  </a:ext>
                </a:extLst>
              </a:tr>
            </a:tbl>
          </a:graphicData>
        </a:graphic>
      </p:graphicFrame>
    </p:spTree>
    <p:extLst>
      <p:ext uri="{BB962C8B-B14F-4D97-AF65-F5344CB8AC3E}">
        <p14:creationId xmlns:p14="http://schemas.microsoft.com/office/powerpoint/2010/main" val="301185337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02E03E-7F2E-4C1D-BDC3-5AD0B8F50ACC}"/>
            </a:ext>
          </a:extLst>
        </p:cNvPr>
        <p:cNvGrpSpPr/>
        <p:nvPr/>
      </p:nvGrpSpPr>
      <p:grpSpPr>
        <a:xfrm>
          <a:off x="0" y="0"/>
          <a:ext cx="0" cy="0"/>
          <a:chOff x="0" y="0"/>
          <a:chExt cx="0" cy="0"/>
        </a:xfrm>
      </p:grpSpPr>
      <p:sp>
        <p:nvSpPr>
          <p:cNvPr id="7" name="文字方塊 6">
            <a:extLst>
              <a:ext uri="{FF2B5EF4-FFF2-40B4-BE49-F238E27FC236}">
                <a16:creationId xmlns:a16="http://schemas.microsoft.com/office/drawing/2014/main" id="{74B215B5-D7AE-C67F-E334-F68F81553A28}"/>
              </a:ext>
            </a:extLst>
          </p:cNvPr>
          <p:cNvSpPr txBox="1"/>
          <p:nvPr/>
        </p:nvSpPr>
        <p:spPr>
          <a:xfrm>
            <a:off x="179510" y="1377042"/>
            <a:ext cx="8280922" cy="2400657"/>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DeepSeek : </a:t>
            </a:r>
            <a:r>
              <a:rPr lang="en-US" altLang="zh-TW" sz="1600" dirty="0"/>
              <a:t>Funded by High-Flyer Quant, </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buFont typeface="Arial" panose="020B0604020202020204" pitchFamily="34" charset="0"/>
              <a:buChar char="•"/>
            </a:pPr>
            <a:r>
              <a:rPr lang="en-US" altLang="zh-TW" sz="1600" dirty="0"/>
              <a:t>Multi-head Latent Attention (</a:t>
            </a:r>
            <a:r>
              <a:rPr lang="en-US" altLang="zh-TW" sz="1600" b="1" dirty="0">
                <a:solidFill>
                  <a:schemeClr val="accent6">
                    <a:lumMod val="75000"/>
                  </a:schemeClr>
                </a:solidFill>
              </a:rPr>
              <a:t>MLA</a:t>
            </a:r>
            <a:r>
              <a:rPr lang="en-US" altLang="zh-TW" sz="1600" dirty="0"/>
              <a:t>): Reduced KV cache usage by 90%.</a:t>
            </a:r>
          </a:p>
          <a:p>
            <a:pPr marL="742950" lvl="1" indent="-285750">
              <a:lnSpc>
                <a:spcPts val="1800"/>
              </a:lnSpc>
              <a:spcBef>
                <a:spcPts val="600"/>
              </a:spcBef>
              <a:buFont typeface="Arial" panose="020B0604020202020204" pitchFamily="34" charset="0"/>
              <a:buChar char="•"/>
            </a:pPr>
            <a:r>
              <a:rPr lang="en-US" altLang="zh-TW" sz="1600" dirty="0"/>
              <a:t>Group Relative Policy Optimization (</a:t>
            </a:r>
            <a:r>
              <a:rPr lang="en-US" altLang="zh-TW" sz="1600" b="1" dirty="0">
                <a:solidFill>
                  <a:schemeClr val="accent6">
                    <a:lumMod val="75000"/>
                  </a:schemeClr>
                </a:solidFill>
              </a:rPr>
              <a:t>GRPO</a:t>
            </a:r>
            <a:r>
              <a:rPr lang="en-US" altLang="zh-TW" sz="1600" dirty="0"/>
              <a:t>): Deep reasoning and self-correction.</a:t>
            </a:r>
          </a:p>
          <a:p>
            <a:pPr marL="742950" lvl="1" indent="-285750">
              <a:lnSpc>
                <a:spcPts val="1800"/>
              </a:lnSpc>
              <a:spcBef>
                <a:spcPts val="600"/>
              </a:spcBef>
              <a:buFont typeface="Arial" panose="020B0604020202020204" pitchFamily="34" charset="0"/>
              <a:buChar char="•"/>
            </a:pPr>
            <a:r>
              <a:rPr lang="en-US" altLang="zh-TW" sz="1600" dirty="0"/>
              <a:t>DeepSeek MoE: The first 3 layers use hash routing, sqrt(Softplus(•)), anticipatory routing.</a:t>
            </a:r>
          </a:p>
          <a:p>
            <a:pPr marL="742950" lvl="1" indent="-285750">
              <a:lnSpc>
                <a:spcPts val="1800"/>
              </a:lnSpc>
              <a:spcBef>
                <a:spcPts val="600"/>
              </a:spcBef>
              <a:buFont typeface="Arial" panose="020B0604020202020204" pitchFamily="34" charset="0"/>
              <a:buChar char="•"/>
            </a:pPr>
            <a:r>
              <a:rPr lang="en-US" altLang="zh-TW" sz="1600" dirty="0"/>
              <a:t>Dual Pipe</a:t>
            </a:r>
            <a:r>
              <a:rPr lang="zh-TW" altLang="en-US" sz="1600" dirty="0"/>
              <a:t> </a:t>
            </a:r>
            <a:r>
              <a:rPr lang="en-US" altLang="zh-TW" sz="1600" dirty="0"/>
              <a:t>/</a:t>
            </a:r>
            <a:r>
              <a:rPr lang="zh-TW" altLang="en-US" sz="1600" dirty="0"/>
              <a:t> </a:t>
            </a:r>
            <a:endParaRPr lang="en-US" altLang="zh-TW" sz="1600" dirty="0"/>
          </a:p>
        </p:txBody>
      </p:sp>
      <p:graphicFrame>
        <p:nvGraphicFramePr>
          <p:cNvPr id="30" name="表格 29">
            <a:extLst>
              <a:ext uri="{FF2B5EF4-FFF2-40B4-BE49-F238E27FC236}">
                <a16:creationId xmlns:a16="http://schemas.microsoft.com/office/drawing/2014/main" id="{FDF88A93-8C0E-D76F-97D3-A2772646F624}"/>
              </a:ext>
            </a:extLst>
          </p:cNvPr>
          <p:cNvGraphicFramePr>
            <a:graphicFrameLocks noGrp="1"/>
          </p:cNvGraphicFramePr>
          <p:nvPr>
            <p:extLst>
              <p:ext uri="{D42A27DB-BD31-4B8C-83A1-F6EECF244321}">
                <p14:modId xmlns:p14="http://schemas.microsoft.com/office/powerpoint/2010/main" val="945139990"/>
              </p:ext>
            </p:extLst>
          </p:nvPr>
        </p:nvGraphicFramePr>
        <p:xfrm>
          <a:off x="539552" y="4278208"/>
          <a:ext cx="8208911" cy="2103120"/>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1573424">
                  <a:extLst>
                    <a:ext uri="{9D8B030D-6E8A-4147-A177-3AD203B41FA5}">
                      <a16:colId xmlns:a16="http://schemas.microsoft.com/office/drawing/2014/main" val="2094346223"/>
                    </a:ext>
                  </a:extLst>
                </a:gridCol>
                <a:gridCol w="822561">
                  <a:extLst>
                    <a:ext uri="{9D8B030D-6E8A-4147-A177-3AD203B41FA5}">
                      <a16:colId xmlns:a16="http://schemas.microsoft.com/office/drawing/2014/main" val="2211145501"/>
                    </a:ext>
                  </a:extLst>
                </a:gridCol>
                <a:gridCol w="1297705">
                  <a:extLst>
                    <a:ext uri="{9D8B030D-6E8A-4147-A177-3AD203B41FA5}">
                      <a16:colId xmlns:a16="http://schemas.microsoft.com/office/drawing/2014/main" val="3328686525"/>
                    </a:ext>
                  </a:extLst>
                </a:gridCol>
                <a:gridCol w="1068698">
                  <a:extLst>
                    <a:ext uri="{9D8B030D-6E8A-4147-A177-3AD203B41FA5}">
                      <a16:colId xmlns:a16="http://schemas.microsoft.com/office/drawing/2014/main" val="962102743"/>
                    </a:ext>
                  </a:extLst>
                </a:gridCol>
                <a:gridCol w="1286284">
                  <a:extLst>
                    <a:ext uri="{9D8B030D-6E8A-4147-A177-3AD203B41FA5}">
                      <a16:colId xmlns:a16="http://schemas.microsoft.com/office/drawing/2014/main" val="3731412889"/>
                    </a:ext>
                  </a:extLst>
                </a:gridCol>
                <a:gridCol w="633770">
                  <a:extLst>
                    <a:ext uri="{9D8B030D-6E8A-4147-A177-3AD203B41FA5}">
                      <a16:colId xmlns:a16="http://schemas.microsoft.com/office/drawing/2014/main" val="2130031722"/>
                    </a:ext>
                  </a:extLst>
                </a:gridCol>
                <a:gridCol w="446349">
                  <a:extLst>
                    <a:ext uri="{9D8B030D-6E8A-4147-A177-3AD203B41FA5}">
                      <a16:colId xmlns:a16="http://schemas.microsoft.com/office/drawing/2014/main" val="3832649198"/>
                    </a:ext>
                  </a:extLst>
                </a:gridCol>
              </a:tblGrid>
              <a:tr h="178887">
                <a:tc rowSpan="2">
                  <a:txBody>
                    <a:bodyPr/>
                    <a:lstStyle/>
                    <a:p>
                      <a:pPr algn="ctr"/>
                      <a:endParaRPr lang="zh-TW" altLang="en-US"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Description</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2">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rowSpan="2">
                  <a:txBody>
                    <a:bodyPr/>
                    <a:lstStyle/>
                    <a:p>
                      <a:pPr algn="ctr"/>
                      <a:r>
                        <a:rPr lang="en-US" altLang="zh-TW" sz="1200" b="0" cap="none" spc="0" dirty="0">
                          <a:ln w="0"/>
                          <a:solidFill>
                            <a:schemeClr val="tx1"/>
                          </a:solidFill>
                          <a:effectLst/>
                        </a:rPr>
                        <a:t>License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API Cost</a:t>
                      </a:r>
                      <a:r>
                        <a:rPr lang="en-US" altLang="zh-TW" sz="1200" b="0" cap="none" spc="0" dirty="0">
                          <a:ln w="0"/>
                          <a:solidFill>
                            <a:schemeClr val="accent1"/>
                          </a:solidFill>
                          <a:effectLst/>
                        </a:rPr>
                        <a:t> </a:t>
                      </a:r>
                      <a:r>
                        <a:rPr lang="en-US" altLang="zh-TW" sz="1000" b="0" cap="none" spc="0" dirty="0">
                          <a:ln w="0"/>
                          <a:solidFill>
                            <a:schemeClr val="accent1"/>
                          </a:solidFill>
                          <a:effectLst/>
                        </a:rPr>
                        <a:t>$/Token</a:t>
                      </a:r>
                      <a:endParaRPr lang="zh-TW" altLang="en-US" sz="1000" b="0" cap="none" spc="0" dirty="0">
                        <a:ln w="0"/>
                        <a:solidFill>
                          <a:schemeClr val="accent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78887">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HBM/VRAM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267223550"/>
                  </a:ext>
                </a:extLst>
              </a:tr>
              <a:tr h="357773">
                <a:tc>
                  <a:txBody>
                    <a:bodyPr/>
                    <a:lstStyle/>
                    <a:p>
                      <a:pPr algn="l"/>
                      <a:r>
                        <a:rPr lang="en-US" altLang="zh-TW" sz="1200" b="0" cap="none" spc="0" dirty="0">
                          <a:ln w="0"/>
                          <a:solidFill>
                            <a:schemeClr val="tx1"/>
                          </a:solidFill>
                          <a:effectLst/>
                        </a:rPr>
                        <a:t>Kimi K3</a:t>
                      </a:r>
                    </a:p>
                    <a:p>
                      <a:pPr algn="l"/>
                      <a:r>
                        <a:rPr lang="en-US" altLang="zh-TW" sz="1000" b="0" cap="none" spc="0" dirty="0">
                          <a:ln w="0"/>
                          <a:solidFill>
                            <a:schemeClr val="accent1"/>
                          </a:solidFill>
                          <a:effectLst/>
                        </a:rPr>
                        <a:t>Moonshot</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r>
                        <a:rPr lang="en-US" altLang="zh-TW" sz="1200" b="0" cap="none" spc="0" dirty="0">
                          <a:ln w="0"/>
                          <a:solidFill>
                            <a:schemeClr val="tx1"/>
                          </a:solidFill>
                          <a:effectLst/>
                        </a:rPr>
                        <a:t>KDA, </a:t>
                      </a:r>
                      <a:r>
                        <a:rPr lang="en-US" altLang="zh-TW" sz="1200" b="0" u="sng" cap="none" spc="0" dirty="0">
                          <a:ln w="0"/>
                          <a:solidFill>
                            <a:schemeClr val="tx1"/>
                          </a:solidFill>
                          <a:effectLst/>
                        </a:rPr>
                        <a:t>Arena.ai</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Native Multimodal Agent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2.8T (104B)</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20*H100</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100G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0.86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577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V4 Pro</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DeepSeek</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r>
                        <a:rPr lang="en-US" altLang="zh-TW" sz="1200" b="0" cap="none" spc="0" dirty="0">
                          <a:ln w="0"/>
                          <a:solidFill>
                            <a:schemeClr val="tx1"/>
                          </a:solidFill>
                          <a:effectLst/>
                        </a:rPr>
                        <a:t>C/P,</a:t>
                      </a:r>
                      <a:r>
                        <a:rPr lang="zh-TW" altLang="en-US" sz="1200" b="0" cap="none" spc="0" dirty="0">
                          <a:ln w="0"/>
                          <a:solidFill>
                            <a:schemeClr val="tx1"/>
                          </a:solidFill>
                          <a:effectLst/>
                        </a:rPr>
                        <a:t> </a:t>
                      </a:r>
                      <a:r>
                        <a:rPr lang="en-US" altLang="zh-TW" sz="1200" b="0" u="sng" cap="none" spc="0" dirty="0">
                          <a:ln w="0"/>
                          <a:solidFill>
                            <a:schemeClr val="tx1"/>
                          </a:solidFill>
                          <a:effectLst/>
                        </a:rPr>
                        <a:t>STEM</a:t>
                      </a:r>
                      <a:r>
                        <a:rPr lang="en-US" altLang="zh-TW" sz="1200" b="0" cap="none" spc="0" dirty="0">
                          <a:ln w="0"/>
                          <a:solidFill>
                            <a:schemeClr val="tx1"/>
                          </a:solidFill>
                          <a:effectLst/>
                        </a:rPr>
                        <a:t>,</a:t>
                      </a:r>
                      <a:r>
                        <a:rPr lang="zh-TW" altLang="en-US" sz="1200" b="0" cap="none" spc="0" dirty="0">
                          <a:ln w="0"/>
                          <a:solidFill>
                            <a:schemeClr val="tx1"/>
                          </a:solidFill>
                          <a:effectLst/>
                        </a:rPr>
                        <a:t> </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1.6T (49B)</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10*H100</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80G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0.35~0.87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Claude Fable 5</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Anthropic</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3.15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59758637"/>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GPT-5.6 Sol</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OpenAI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1.86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837431638"/>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Gemini</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Google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5058973"/>
                  </a:ext>
                </a:extLst>
              </a:tr>
            </a:tbl>
          </a:graphicData>
        </a:graphic>
      </p:graphicFrame>
      <p:graphicFrame>
        <p:nvGraphicFramePr>
          <p:cNvPr id="3" name="表格 2">
            <a:extLst>
              <a:ext uri="{FF2B5EF4-FFF2-40B4-BE49-F238E27FC236}">
                <a16:creationId xmlns:a16="http://schemas.microsoft.com/office/drawing/2014/main" id="{20CF8D57-F62C-C701-EBBE-20B8CF002C59}"/>
              </a:ext>
            </a:extLst>
          </p:cNvPr>
          <p:cNvGraphicFramePr>
            <a:graphicFrameLocks noGrp="1"/>
          </p:cNvGraphicFramePr>
          <p:nvPr>
            <p:extLst>
              <p:ext uri="{D42A27DB-BD31-4B8C-83A1-F6EECF244321}">
                <p14:modId xmlns:p14="http://schemas.microsoft.com/office/powerpoint/2010/main" val="87463339"/>
              </p:ext>
            </p:extLst>
          </p:nvPr>
        </p:nvGraphicFramePr>
        <p:xfrm>
          <a:off x="5524096" y="1025679"/>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07263971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2304923032"/>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639812515"/>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81341950"/>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953988682"/>
                  </a:ext>
                </a:extLst>
              </a:tr>
            </a:tbl>
          </a:graphicData>
        </a:graphic>
      </p:graphicFrame>
    </p:spTree>
    <p:extLst>
      <p:ext uri="{BB962C8B-B14F-4D97-AF65-F5344CB8AC3E}">
        <p14:creationId xmlns:p14="http://schemas.microsoft.com/office/powerpoint/2010/main" val="31562355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A38658-2B3C-8DE5-45DA-23737A42A4AD}"/>
            </a:ext>
          </a:extLst>
        </p:cNvPr>
        <p:cNvGrpSpPr/>
        <p:nvPr/>
      </p:nvGrpSpPr>
      <p:grpSpPr>
        <a:xfrm>
          <a:off x="0" y="0"/>
          <a:ext cx="0" cy="0"/>
          <a:chOff x="0" y="0"/>
          <a:chExt cx="0" cy="0"/>
        </a:xfrm>
      </p:grpSpPr>
      <p:pic>
        <p:nvPicPr>
          <p:cNvPr id="2" name="圖片 1">
            <a:extLst>
              <a:ext uri="{FF2B5EF4-FFF2-40B4-BE49-F238E27FC236}">
                <a16:creationId xmlns:a16="http://schemas.microsoft.com/office/drawing/2014/main" id="{EC336CA0-741B-90B5-2048-06767EC967D4}"/>
              </a:ext>
            </a:extLst>
          </p:cNvPr>
          <p:cNvPicPr>
            <a:picLocks noChangeAspect="1"/>
          </p:cNvPicPr>
          <p:nvPr/>
        </p:nvPicPr>
        <p:blipFill>
          <a:blip r:embed="rId3"/>
          <a:stretch>
            <a:fillRect/>
          </a:stretch>
        </p:blipFill>
        <p:spPr>
          <a:xfrm>
            <a:off x="8224137" y="37246"/>
            <a:ext cx="740352" cy="740352"/>
          </a:xfrm>
          <a:prstGeom prst="rect">
            <a:avLst/>
          </a:prstGeom>
        </p:spPr>
      </p:pic>
      <p:sp>
        <p:nvSpPr>
          <p:cNvPr id="5" name="標題 1">
            <a:extLst>
              <a:ext uri="{FF2B5EF4-FFF2-40B4-BE49-F238E27FC236}">
                <a16:creationId xmlns:a16="http://schemas.microsoft.com/office/drawing/2014/main" id="{960A8EDD-0A24-CE7E-CD63-1B7D075BCAA1}"/>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6" name="標題 1">
            <a:extLst>
              <a:ext uri="{FF2B5EF4-FFF2-40B4-BE49-F238E27FC236}">
                <a16:creationId xmlns:a16="http://schemas.microsoft.com/office/drawing/2014/main" id="{533B2B92-2B9A-4E68-37FC-4D4796F63F0C}"/>
              </a:ext>
            </a:extLst>
          </p:cNvPr>
          <p:cNvSpPr txBox="1">
            <a:spLocks/>
          </p:cNvSpPr>
          <p:nvPr/>
        </p:nvSpPr>
        <p:spPr>
          <a:xfrm>
            <a:off x="8224137" y="620688"/>
            <a:ext cx="740352" cy="42522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DeepSeek</a:t>
            </a:r>
          </a:p>
          <a:p>
            <a:pPr algn="ctr"/>
            <a:r>
              <a:rPr lang="zh-TW" altLang="en-US"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深度求索</a:t>
            </a:r>
            <a:endPar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
        <p:nvSpPr>
          <p:cNvPr id="7" name="文字方塊 6">
            <a:extLst>
              <a:ext uri="{FF2B5EF4-FFF2-40B4-BE49-F238E27FC236}">
                <a16:creationId xmlns:a16="http://schemas.microsoft.com/office/drawing/2014/main" id="{1887142E-F390-F7B5-0F57-E6099827F1D5}"/>
              </a:ext>
            </a:extLst>
          </p:cNvPr>
          <p:cNvSpPr txBox="1"/>
          <p:nvPr/>
        </p:nvSpPr>
        <p:spPr>
          <a:xfrm>
            <a:off x="179510" y="1377042"/>
            <a:ext cx="8280922" cy="2400657"/>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DeepSeek : </a:t>
            </a:r>
            <a:r>
              <a:rPr lang="en-US" altLang="zh-TW" sz="1600" dirty="0"/>
              <a:t>Funded by High-Flyer Quant, </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buFont typeface="Arial" panose="020B0604020202020204" pitchFamily="34" charset="0"/>
              <a:buChar char="•"/>
            </a:pPr>
            <a:r>
              <a:rPr lang="en-US" altLang="zh-TW" sz="1600" dirty="0"/>
              <a:t>Group Relative Policy Optimization(</a:t>
            </a:r>
            <a:r>
              <a:rPr lang="en-US" altLang="zh-TW" sz="1600" b="1" dirty="0"/>
              <a:t>GRPO</a:t>
            </a:r>
            <a:r>
              <a:rPr lang="en-US" altLang="zh-TW" sz="1600" dirty="0"/>
              <a:t>):</a:t>
            </a:r>
            <a:r>
              <a:rPr lang="zh-TW" altLang="en-US" sz="1600" dirty="0"/>
              <a:t> </a:t>
            </a:r>
            <a:r>
              <a:rPr lang="en-US" altLang="zh-TW" sz="1600" dirty="0"/>
              <a:t>Deep reasoning and self-correction.</a:t>
            </a:r>
          </a:p>
          <a:p>
            <a:pPr marL="742950" lvl="1" indent="-285750">
              <a:lnSpc>
                <a:spcPts val="1800"/>
              </a:lnSpc>
              <a:spcBef>
                <a:spcPts val="600"/>
              </a:spcBef>
              <a:buFont typeface="Arial" panose="020B0604020202020204" pitchFamily="34" charset="0"/>
              <a:buChar char="•"/>
            </a:pPr>
            <a:r>
              <a:rPr lang="en-US" altLang="zh-TW" sz="1600" dirty="0"/>
              <a:t>Multi-head Latent Attention(</a:t>
            </a:r>
            <a:r>
              <a:rPr lang="en-US" altLang="zh-TW" sz="1600" b="1" dirty="0"/>
              <a:t>MLA</a:t>
            </a:r>
            <a:r>
              <a:rPr lang="en-US" altLang="zh-TW" sz="1600" dirty="0"/>
              <a:t>): Reduced KV cache usage by 90%.</a:t>
            </a:r>
          </a:p>
          <a:p>
            <a:pPr marL="742950" lvl="1" indent="-285750">
              <a:lnSpc>
                <a:spcPts val="1800"/>
              </a:lnSpc>
              <a:spcBef>
                <a:spcPts val="600"/>
              </a:spcBef>
              <a:buFont typeface="Arial" panose="020B0604020202020204" pitchFamily="34" charset="0"/>
              <a:buChar char="•"/>
            </a:pPr>
            <a:r>
              <a:rPr lang="en-US" altLang="zh-TW" sz="1600" dirty="0"/>
              <a:t>Hybrid MHA: Sliding Window(</a:t>
            </a:r>
            <a:r>
              <a:rPr lang="en-US" altLang="zh-TW" sz="1600" b="1" dirty="0"/>
              <a:t>SWA</a:t>
            </a:r>
            <a:r>
              <a:rPr lang="en-US" altLang="zh-TW" sz="1600" dirty="0"/>
              <a:t>), Heavily(</a:t>
            </a:r>
            <a:r>
              <a:rPr lang="en-US" altLang="zh-TW" sz="1600" b="1" dirty="0"/>
              <a:t>HCA</a:t>
            </a:r>
            <a:r>
              <a:rPr lang="en-US" altLang="zh-TW" sz="1600" dirty="0"/>
              <a:t>), Compressed Sparse(</a:t>
            </a:r>
            <a:r>
              <a:rPr lang="en-US" altLang="zh-TW" sz="1600" b="1" dirty="0"/>
              <a:t>CSA</a:t>
            </a:r>
            <a:r>
              <a:rPr lang="en-US" altLang="zh-TW" sz="1600" dirty="0"/>
              <a:t>).</a:t>
            </a:r>
          </a:p>
          <a:p>
            <a:pPr marL="742950" lvl="1" indent="-285750">
              <a:lnSpc>
                <a:spcPts val="1800"/>
              </a:lnSpc>
              <a:spcBef>
                <a:spcPts val="600"/>
              </a:spcBef>
              <a:buFont typeface="Arial" panose="020B0604020202020204" pitchFamily="34" charset="0"/>
              <a:buChar char="•"/>
            </a:pPr>
            <a:r>
              <a:rPr lang="en-US" altLang="zh-TW" sz="1600" dirty="0"/>
              <a:t>Manifold-constrained Hyper-Connections (</a:t>
            </a:r>
            <a:r>
              <a:rPr lang="en-US" altLang="zh-TW" sz="1600" b="1" dirty="0" err="1"/>
              <a:t>M</a:t>
            </a:r>
            <a:r>
              <a:rPr lang="en-US" altLang="zh-TW" sz="1600" dirty="0" err="1">
                <a:solidFill>
                  <a:schemeClr val="tx1">
                    <a:lumMod val="50000"/>
                    <a:lumOff val="50000"/>
                  </a:schemeClr>
                </a:solidFill>
              </a:rPr>
              <a:t>c</a:t>
            </a:r>
            <a:r>
              <a:rPr lang="en-US" altLang="zh-TW" sz="1600" b="1" dirty="0" err="1"/>
              <a:t>HC</a:t>
            </a:r>
            <a:r>
              <a:rPr lang="en-US" altLang="zh-TW" sz="1600" dirty="0"/>
              <a:t>): Replacing residual stream.</a:t>
            </a:r>
          </a:p>
        </p:txBody>
      </p:sp>
      <p:sp>
        <p:nvSpPr>
          <p:cNvPr id="24" name="標題 1">
            <a:extLst>
              <a:ext uri="{FF2B5EF4-FFF2-40B4-BE49-F238E27FC236}">
                <a16:creationId xmlns:a16="http://schemas.microsoft.com/office/drawing/2014/main" id="{1EAB493B-DEBA-4B6C-68E5-EBAB1AC6BF46}"/>
              </a:ext>
            </a:extLst>
          </p:cNvPr>
          <p:cNvSpPr txBox="1">
            <a:spLocks/>
          </p:cNvSpPr>
          <p:nvPr/>
        </p:nvSpPr>
        <p:spPr>
          <a:xfrm>
            <a:off x="8229792" y="1700808"/>
            <a:ext cx="740352" cy="56446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High-Flyer</a:t>
            </a:r>
          </a:p>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Quant</a:t>
            </a:r>
          </a:p>
          <a:p>
            <a:pPr algn="ctr"/>
            <a:r>
              <a:rPr lang="zh-TW" altLang="en-US"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幻方量化</a:t>
            </a:r>
            <a:endPar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pic>
        <p:nvPicPr>
          <p:cNvPr id="25" name="圖片 24">
            <a:extLst>
              <a:ext uri="{FF2B5EF4-FFF2-40B4-BE49-F238E27FC236}">
                <a16:creationId xmlns:a16="http://schemas.microsoft.com/office/drawing/2014/main" id="{E7B9DB21-ADDA-F8F3-EE59-DFABC84DD3AA}"/>
              </a:ext>
            </a:extLst>
          </p:cNvPr>
          <p:cNvPicPr>
            <a:picLocks noChangeAspect="1"/>
          </p:cNvPicPr>
          <p:nvPr/>
        </p:nvPicPr>
        <p:blipFill>
          <a:blip r:embed="rId4"/>
          <a:stretch>
            <a:fillRect/>
          </a:stretch>
        </p:blipFill>
        <p:spPr>
          <a:xfrm>
            <a:off x="8312078" y="1208347"/>
            <a:ext cx="564469" cy="564469"/>
          </a:xfrm>
          <a:prstGeom prst="rect">
            <a:avLst/>
          </a:prstGeom>
        </p:spPr>
      </p:pic>
      <p:graphicFrame>
        <p:nvGraphicFramePr>
          <p:cNvPr id="4" name="表格 3">
            <a:extLst>
              <a:ext uri="{FF2B5EF4-FFF2-40B4-BE49-F238E27FC236}">
                <a16:creationId xmlns:a16="http://schemas.microsoft.com/office/drawing/2014/main" id="{5F4DDCA3-590A-2397-1FA3-9F00C50E3A4F}"/>
              </a:ext>
            </a:extLst>
          </p:cNvPr>
          <p:cNvGraphicFramePr>
            <a:graphicFrameLocks noGrp="1"/>
          </p:cNvGraphicFramePr>
          <p:nvPr>
            <p:extLst>
              <p:ext uri="{D42A27DB-BD31-4B8C-83A1-F6EECF244321}">
                <p14:modId xmlns:p14="http://schemas.microsoft.com/office/powerpoint/2010/main" val="1532003938"/>
              </p:ext>
            </p:extLst>
          </p:nvPr>
        </p:nvGraphicFramePr>
        <p:xfrm>
          <a:off x="431538" y="4365104"/>
          <a:ext cx="8280925" cy="2077608"/>
        </p:xfrm>
        <a:graphic>
          <a:graphicData uri="http://schemas.openxmlformats.org/drawingml/2006/table">
            <a:tbl>
              <a:tblPr firstRow="1" bandRow="1">
                <a:tableStyleId>{5C22544A-7EE6-4342-B048-85BDC9FD1C3A}</a:tableStyleId>
              </a:tblPr>
              <a:tblGrid>
                <a:gridCol w="425655">
                  <a:extLst>
                    <a:ext uri="{9D8B030D-6E8A-4147-A177-3AD203B41FA5}">
                      <a16:colId xmlns:a16="http://schemas.microsoft.com/office/drawing/2014/main" val="4198244561"/>
                    </a:ext>
                  </a:extLst>
                </a:gridCol>
                <a:gridCol w="696526">
                  <a:extLst>
                    <a:ext uri="{9D8B030D-6E8A-4147-A177-3AD203B41FA5}">
                      <a16:colId xmlns:a16="http://schemas.microsoft.com/office/drawing/2014/main" val="2211145501"/>
                    </a:ext>
                  </a:extLst>
                </a:gridCol>
                <a:gridCol w="527050">
                  <a:extLst>
                    <a:ext uri="{9D8B030D-6E8A-4147-A177-3AD203B41FA5}">
                      <a16:colId xmlns:a16="http://schemas.microsoft.com/office/drawing/2014/main" val="767948712"/>
                    </a:ext>
                  </a:extLst>
                </a:gridCol>
                <a:gridCol w="527050">
                  <a:extLst>
                    <a:ext uri="{9D8B030D-6E8A-4147-A177-3AD203B41FA5}">
                      <a16:colId xmlns:a16="http://schemas.microsoft.com/office/drawing/2014/main" val="2420987057"/>
                    </a:ext>
                  </a:extLst>
                </a:gridCol>
                <a:gridCol w="1054099">
                  <a:extLst>
                    <a:ext uri="{9D8B030D-6E8A-4147-A177-3AD203B41FA5}">
                      <a16:colId xmlns:a16="http://schemas.microsoft.com/office/drawing/2014/main" val="3715013544"/>
                    </a:ext>
                  </a:extLst>
                </a:gridCol>
                <a:gridCol w="1054099">
                  <a:extLst>
                    <a:ext uri="{9D8B030D-6E8A-4147-A177-3AD203B41FA5}">
                      <a16:colId xmlns:a16="http://schemas.microsoft.com/office/drawing/2014/main" val="3328686525"/>
                    </a:ext>
                  </a:extLst>
                </a:gridCol>
                <a:gridCol w="504056">
                  <a:extLst>
                    <a:ext uri="{9D8B030D-6E8A-4147-A177-3AD203B41FA5}">
                      <a16:colId xmlns:a16="http://schemas.microsoft.com/office/drawing/2014/main" val="3752581630"/>
                    </a:ext>
                  </a:extLst>
                </a:gridCol>
                <a:gridCol w="504056">
                  <a:extLst>
                    <a:ext uri="{9D8B030D-6E8A-4147-A177-3AD203B41FA5}">
                      <a16:colId xmlns:a16="http://schemas.microsoft.com/office/drawing/2014/main" val="40210933"/>
                    </a:ext>
                  </a:extLst>
                </a:gridCol>
                <a:gridCol w="396044">
                  <a:extLst>
                    <a:ext uri="{9D8B030D-6E8A-4147-A177-3AD203B41FA5}">
                      <a16:colId xmlns:a16="http://schemas.microsoft.com/office/drawing/2014/main" val="3722446267"/>
                    </a:ext>
                  </a:extLst>
                </a:gridCol>
                <a:gridCol w="396044">
                  <a:extLst>
                    <a:ext uri="{9D8B030D-6E8A-4147-A177-3AD203B41FA5}">
                      <a16:colId xmlns:a16="http://schemas.microsoft.com/office/drawing/2014/main" val="61819001"/>
                    </a:ext>
                  </a:extLst>
                </a:gridCol>
                <a:gridCol w="1206135">
                  <a:extLst>
                    <a:ext uri="{9D8B030D-6E8A-4147-A177-3AD203B41FA5}">
                      <a16:colId xmlns:a16="http://schemas.microsoft.com/office/drawing/2014/main" val="2746565255"/>
                    </a:ext>
                  </a:extLst>
                </a:gridCol>
                <a:gridCol w="990111">
                  <a:extLst>
                    <a:ext uri="{9D8B030D-6E8A-4147-A177-3AD203B41FA5}">
                      <a16:colId xmlns:a16="http://schemas.microsoft.com/office/drawing/2014/main" val="1920063261"/>
                    </a:ext>
                  </a:extLst>
                </a:gridCol>
              </a:tblGrid>
              <a:tr h="187440">
                <a:tc rowSpan="3">
                  <a:txBody>
                    <a:bodyPr/>
                    <a:lstStyle/>
                    <a:p>
                      <a:pPr algn="ctr"/>
                      <a:endParaRPr lang="zh-TW" altLang="en-US" sz="1200" b="0" cap="none" spc="0" dirty="0">
                        <a:ln w="0"/>
                        <a:solidFill>
                          <a:schemeClr val="tx1"/>
                        </a:solidFill>
                        <a:effectLst/>
                        <a:latin typeface="+mn-l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row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ADLaM Display" panose="02010000000000000000" pitchFamily="2" charset="0"/>
                          <a:cs typeface="ADLaM Display" panose="02010000000000000000" pitchFamily="2" charset="0"/>
                        </a:rPr>
                        <a:t>Version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ADLaM Display" panose="02010000000000000000" pitchFamily="2" charset="0"/>
                          <a:cs typeface="ADLaM Display" panose="02010000000000000000" pitchFamily="2" charset="0"/>
                        </a:rPr>
                        <a:t>Type</a:t>
                      </a:r>
                      <a:endParaRPr kumimoji="0" lang="zh-TW" altLang="en-US" sz="1200" b="0" i="0" u="none" strike="noStrike" kern="1200" cap="none" spc="0" normalizeH="0" baseline="0" noProof="0" dirty="0">
                        <a:ln w="0"/>
                        <a:solidFill>
                          <a:prstClr val="black"/>
                        </a:solidFill>
                        <a:effectLst/>
                        <a:uLnTx/>
                        <a:uFillTx/>
                        <a:latin typeface="+mn-lt"/>
                        <a:ea typeface="+mn-ea"/>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ADLaM Display" panose="02010000000000000000" pitchFamily="2" charset="0"/>
                          <a:cs typeface="ADLaM Display" panose="02010000000000000000" pitchFamily="2" charset="0"/>
                        </a:rPr>
                        <a:t>Key Technology</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h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gridSpan="6">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Memory consumption</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solidFill>
                      <a:schemeClr val="accent2">
                        <a:lumMod val="20000"/>
                        <a:lumOff val="80000"/>
                      </a:schemeClr>
                    </a:solid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87440">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gridSpan="2">
                  <a:txBody>
                    <a:bodyPr/>
                    <a:lstStyle/>
                    <a:p>
                      <a:pPr algn="ctr"/>
                      <a:r>
                        <a:rPr kumimoji="0" lang="en-US" altLang="zh-TW" sz="1200" b="0" i="0" u="none" strike="noStrike" kern="1200" cap="none" spc="0" normalizeH="0" baseline="0" noProof="0" dirty="0">
                          <a:ln w="0"/>
                          <a:solidFill>
                            <a:schemeClr val="tx1"/>
                          </a:solidFill>
                          <a:effectLst/>
                          <a:uLnTx/>
                          <a:uFillTx/>
                          <a:latin typeface="+mn-lt"/>
                          <a:ea typeface="ADLaM Display" panose="02010000000000000000" pitchFamily="2" charset="0"/>
                          <a:cs typeface="ADLaM Display" panose="02010000000000000000" pitchFamily="2" charset="0"/>
                        </a:rPr>
                        <a:t>Training</a:t>
                      </a:r>
                      <a:endPar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hMerge="1">
                  <a:txBody>
                    <a:bodyPr/>
                    <a:lstStyle/>
                    <a:p>
                      <a:endParaRPr lang="zh-TW" altLang="en-US"/>
                    </a:p>
                  </a:txBody>
                  <a:tcPr/>
                </a:tc>
                <a:tc gridSpan="2">
                  <a:txBody>
                    <a:bodyPr/>
                    <a:lstStyle/>
                    <a:p>
                      <a:pPr algn="ctr"/>
                      <a:r>
                        <a:rPr kumimoji="0" lang="en-US" altLang="zh-TW" sz="1200" b="0" i="0" u="none" strike="noStrike" kern="1200" cap="none" spc="0" normalizeH="0" baseline="0" noProof="0" dirty="0">
                          <a:ln w="0"/>
                          <a:solidFill>
                            <a:schemeClr val="tx1"/>
                          </a:solidFill>
                          <a:effectLst/>
                          <a:uLnTx/>
                          <a:uFillTx/>
                          <a:latin typeface="+mn-lt"/>
                          <a:ea typeface="ADLaM Display" panose="02010000000000000000" pitchFamily="2" charset="0"/>
                          <a:cs typeface="ADLaM Display" panose="02010000000000000000" pitchFamily="2" charset="0"/>
                        </a:rPr>
                        <a:t>Core Technology</a:t>
                      </a:r>
                      <a:endParaRPr sz="1200" b="0" dirty="0">
                        <a:solidFill>
                          <a:schemeClr val="tx1"/>
                        </a:solidFill>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gridSpan="2">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Context</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hMerge="1">
                  <a:txBody>
                    <a:bodyPr/>
                    <a:lstStyle/>
                    <a:p>
                      <a:pPr algn="ct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gridSpan="2">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Layers</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hMerge="1">
                  <a:txBody>
                    <a:bodyPr/>
                    <a:lstStyle/>
                    <a:p>
                      <a:endParaRPr lang="zh-TW" altLang="en-US"/>
                    </a:p>
                  </a:txBody>
                  <a:tcPr/>
                </a:tc>
                <a:tc>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Parameters</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Requirement</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extLst>
                  <a:ext uri="{0D108BD9-81ED-4DB2-BD59-A6C34878D82A}">
                    <a16:rowId xmlns:a16="http://schemas.microsoft.com/office/drawing/2014/main" val="2581155207"/>
                  </a:ext>
                </a:extLst>
              </a:tr>
              <a:tr h="209428">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Pre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Post/RL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a:txBody>
                    <a:bodyPr/>
                    <a:lstStyle/>
                    <a:p>
                      <a:pPr algn="ctr"/>
                      <a:r>
                        <a:rPr lang="en-US" altLang="zh-TW" sz="1000" b="0" cap="none" spc="0" dirty="0">
                          <a:ln w="0"/>
                          <a:solidFill>
                            <a:schemeClr val="tx1"/>
                          </a:solidFill>
                          <a:effectLst/>
                          <a:latin typeface="+mn-lt"/>
                          <a:ea typeface="ADLaM Display" panose="02010000000000000000" pitchFamily="2" charset="0"/>
                          <a:cs typeface="ADLaM Display" panose="02010000000000000000" pitchFamily="2" charset="0"/>
                        </a:rPr>
                        <a:t>Attention</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a:txBody>
                    <a:bodyPr/>
                    <a:lstStyle/>
                    <a:p>
                      <a:pPr algn="ctr"/>
                      <a:r>
                        <a:rPr lang="en-US" sz="1000" b="0" dirty="0">
                          <a:solidFill>
                            <a:schemeClr val="tx1"/>
                          </a:solidFill>
                          <a:latin typeface="+mn-lt"/>
                          <a:ea typeface="ADLaM Display" panose="02010000000000000000" pitchFamily="2" charset="0"/>
                          <a:cs typeface="ADLaM Display" panose="02010000000000000000" pitchFamily="2" charset="0"/>
                        </a:rPr>
                        <a:t>Model</a:t>
                      </a:r>
                      <a:endParaRPr sz="1000" b="0" dirty="0">
                        <a:solidFill>
                          <a:schemeClr val="tx1"/>
                        </a:solidFill>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cs typeface="ADLaM Display" panose="02010000000000000000" pitchFamily="2" charset="0"/>
                        </a:rPr>
                        <a:t>Len</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cs typeface="ADLaM Display" panose="02010000000000000000" pitchFamily="2" charset="0"/>
                        </a:rPr>
                        <a:t>Dim</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Dense</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MoE</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endParaRPr lang="zh-TW" altLang="en-US" sz="10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endParaRPr lang="en-US" altLang="zh-TW" sz="1000" b="0" cap="none" spc="0" dirty="0">
                        <a:ln w="0"/>
                        <a:solidFill>
                          <a:schemeClr val="tx1"/>
                        </a:solidFill>
                        <a:effectLst/>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extLst>
                  <a:ext uri="{0D108BD9-81ED-4DB2-BD59-A6C34878D82A}">
                    <a16:rowId xmlns:a16="http://schemas.microsoft.com/office/drawing/2014/main" val="533882152"/>
                  </a:ext>
                </a:extLst>
              </a:tr>
              <a:tr h="329349">
                <a:tc>
                  <a:txBody>
                    <a:bodyPr/>
                    <a:lstStyle/>
                    <a:p>
                      <a:pPr algn="l"/>
                      <a:r>
                        <a:rPr lang="en-US" altLang="zh-TW" sz="1200" b="0" cap="none" spc="0" dirty="0">
                          <a:ln w="0"/>
                          <a:solidFill>
                            <a:schemeClr val="tx1"/>
                          </a:solidFill>
                          <a:effectLst/>
                        </a:rPr>
                        <a:t>V2</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V2.5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AdamW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GRPO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MLA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Fine-Grained</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32k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5120</a:t>
                      </a:r>
                      <a:br>
                        <a:rPr lang="en-US" altLang="zh-TW" sz="1200" b="0" cap="none" spc="0" dirty="0">
                          <a:ln w="0"/>
                          <a:solidFill>
                            <a:schemeClr val="tx1"/>
                          </a:solidFill>
                          <a:effectLst/>
                        </a:rPr>
                      </a:br>
                      <a:r>
                        <a:rPr lang="en-US" altLang="zh-TW" sz="1000" b="0" cap="none" spc="0" dirty="0">
                          <a:ln w="0"/>
                          <a:solidFill>
                            <a:schemeClr val="tx1">
                              <a:lumMod val="50000"/>
                              <a:lumOff val="50000"/>
                            </a:schemeClr>
                          </a:solidFill>
                          <a:effectLst/>
                        </a:rPr>
                        <a:t>(512)</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accent2">
                        <a:lumMod val="20000"/>
                        <a:lumOff val="80000"/>
                        <a:alpha val="40000"/>
                      </a:schemeClr>
                    </a:solidFill>
                  </a:tcPr>
                </a:tc>
                <a:tc>
                  <a:txBody>
                    <a:bodyPr/>
                    <a:lstStyle/>
                    <a:p>
                      <a:pPr algn="ctr"/>
                      <a:r>
                        <a:rPr lang="en-US" altLang="zh-TW" sz="1200" b="0" cap="none" spc="0" dirty="0">
                          <a:ln w="0"/>
                          <a:solidFill>
                            <a:schemeClr val="tx1"/>
                          </a:solidFill>
                          <a:effectLst/>
                        </a:rPr>
                        <a:t>59</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accent2">
                        <a:lumMod val="20000"/>
                        <a:lumOff val="80000"/>
                        <a:alpha val="40000"/>
                      </a:schemeClr>
                    </a:solidFill>
                  </a:tcPr>
                </a:tc>
                <a:tc>
                  <a:txBody>
                    <a:bodyPr/>
                    <a:lstStyle/>
                    <a:p>
                      <a:pPr algn="ctr"/>
                      <a:r>
                        <a:rPr lang="en-US" altLang="zh-TW" sz="1200" b="0" cap="none" spc="0" dirty="0">
                          <a:ln w="0"/>
                          <a:solidFill>
                            <a:schemeClr val="tx1"/>
                          </a:solidFill>
                          <a:effectLst/>
                        </a:rPr>
                        <a:t>21B / 236B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 PC</a:t>
                      </a:r>
                    </a:p>
                    <a:p>
                      <a:pPr algn="ctr"/>
                      <a:r>
                        <a:rPr lang="en-US" altLang="zh-TW" sz="1000" b="0" cap="none" spc="0" dirty="0">
                          <a:ln w="0"/>
                          <a:solidFill>
                            <a:schemeClr val="tx1">
                              <a:lumMod val="50000"/>
                              <a:lumOff val="50000"/>
                            </a:schemeClr>
                          </a:solidFill>
                          <a:effectLst/>
                        </a:rPr>
                        <a:t>(8 x A100 80G)</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223008">
                <a:tc>
                  <a:txBody>
                    <a:bodyPr/>
                    <a:lstStyle/>
                    <a:p>
                      <a:pPr algn="l"/>
                      <a:r>
                        <a:rPr lang="en-US" altLang="zh-TW" sz="1200" b="0" cap="none" spc="0" dirty="0">
                          <a:ln w="0"/>
                          <a:solidFill>
                            <a:schemeClr val="tx1"/>
                          </a:solidFill>
                          <a:effectLst/>
                        </a:rPr>
                        <a:t>V3</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R1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AdamW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GRPO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MLA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Dual Pipe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128k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7168</a:t>
                      </a:r>
                    </a:p>
                    <a:p>
                      <a:pPr algn="ctr"/>
                      <a:r>
                        <a:rPr lang="en-US" altLang="zh-TW" sz="1000" b="0" cap="none" spc="0" dirty="0">
                          <a:ln w="0"/>
                          <a:solidFill>
                            <a:schemeClr val="tx1">
                              <a:lumMod val="50000"/>
                              <a:lumOff val="50000"/>
                            </a:schemeClr>
                          </a:solidFill>
                          <a:effectLst/>
                        </a:rPr>
                        <a:t>(512)</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accent2">
                        <a:lumMod val="20000"/>
                        <a:lumOff val="80000"/>
                        <a:alpha val="40000"/>
                      </a:schemeClr>
                    </a:solidFill>
                  </a:tcPr>
                </a:tc>
                <a:tc>
                  <a:txBody>
                    <a:bodyPr/>
                    <a:lstStyle/>
                    <a:p>
                      <a:pPr algn="ctr"/>
                      <a:r>
                        <a:rPr lang="en-US" altLang="zh-TW" sz="1200" b="0" cap="none" spc="0" dirty="0">
                          <a:ln w="0"/>
                          <a:solidFill>
                            <a:schemeClr val="tx1"/>
                          </a:solidFill>
                          <a:effectLst/>
                        </a:rPr>
                        <a:t>58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accent2">
                        <a:lumMod val="20000"/>
                        <a:lumOff val="80000"/>
                        <a:alpha val="40000"/>
                      </a:schemeClr>
                    </a:solidFill>
                  </a:tcPr>
                </a:tc>
                <a:tc>
                  <a:txBody>
                    <a:bodyPr/>
                    <a:lstStyle/>
                    <a:p>
                      <a:pPr algn="ctr"/>
                      <a:r>
                        <a:rPr lang="en-US" altLang="zh-TW" sz="1200" b="0" cap="none" spc="0" dirty="0">
                          <a:ln w="0"/>
                          <a:solidFill>
                            <a:schemeClr val="tx1"/>
                          </a:solidFill>
                          <a:effectLst/>
                        </a:rPr>
                        <a:t>37B</a:t>
                      </a:r>
                      <a:r>
                        <a:rPr lang="zh-TW" altLang="en-US" sz="1200" b="0" cap="none" spc="0" dirty="0">
                          <a:ln w="0"/>
                          <a:solidFill>
                            <a:schemeClr val="tx1"/>
                          </a:solidFill>
                          <a:effectLst/>
                        </a:rPr>
                        <a:t> </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671B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a:t>
                      </a:r>
                      <a:r>
                        <a:rPr lang="zh-TW" altLang="en-US" sz="1200" b="0" cap="none" spc="0" dirty="0">
                          <a:ln w="0"/>
                          <a:solidFill>
                            <a:schemeClr val="tx1"/>
                          </a:solidFill>
                          <a:effectLst/>
                        </a:rPr>
                        <a:t> </a:t>
                      </a:r>
                      <a:r>
                        <a:rPr lang="en-US" altLang="zh-TW" sz="1200" b="0" cap="none" spc="0" dirty="0">
                          <a:ln w="0"/>
                          <a:solidFill>
                            <a:schemeClr val="tx1"/>
                          </a:solidFill>
                          <a:effectLst/>
                        </a:rPr>
                        <a:t>PC with</a:t>
                      </a:r>
                    </a:p>
                    <a:p>
                      <a:pPr algn="ctr"/>
                      <a:r>
                        <a:rPr lang="en-US" altLang="zh-TW" sz="1000" b="0" cap="none" spc="0" dirty="0">
                          <a:ln w="0"/>
                          <a:solidFill>
                            <a:schemeClr val="tx1">
                              <a:lumMod val="50000"/>
                              <a:lumOff val="50000"/>
                            </a:schemeClr>
                          </a:solidFill>
                          <a:effectLst/>
                        </a:rPr>
                        <a:t>(8 x A100 80G)</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411370">
                <a:tc rowSpan="2">
                  <a:txBody>
                    <a:bodyPr/>
                    <a:lstStyle/>
                    <a:p>
                      <a:pPr algn="l"/>
                      <a:r>
                        <a:rPr lang="en-US" altLang="zh-TW" sz="1200" b="0" cap="none" spc="0" dirty="0">
                          <a:ln w="0"/>
                          <a:solidFill>
                            <a:schemeClr val="tx1"/>
                          </a:solidFill>
                          <a:effectLst/>
                        </a:rPr>
                        <a:t>V4</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Muon</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Hybrid MHA</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1">
                              <a:lumMod val="50000"/>
                              <a:lumOff val="50000"/>
                            </a:schemeClr>
                          </a:solidFill>
                          <a:effectLst/>
                          <a:uLnTx/>
                          <a:uFillTx/>
                          <a:latin typeface="+mn-lt"/>
                          <a:ea typeface="+mn-ea"/>
                          <a:cs typeface="+mn-cs"/>
                        </a:rPr>
                        <a:t>(SWA, HCA,</a:t>
                      </a:r>
                      <a:r>
                        <a:rPr kumimoji="0" lang="zh-TW" altLang="en-US" sz="1000" b="0" i="0" u="none" strike="noStrike" kern="1200" cap="none" spc="0" normalizeH="0" baseline="0" noProof="0" dirty="0">
                          <a:ln w="0"/>
                          <a:solidFill>
                            <a:schemeClr val="tx1">
                              <a:lumMod val="50000"/>
                              <a:lumOff val="50000"/>
                            </a:schemeClr>
                          </a:solidFill>
                          <a:effectLst/>
                          <a:uLnTx/>
                          <a:uFillTx/>
                          <a:latin typeface="+mn-lt"/>
                          <a:ea typeface="+mn-ea"/>
                          <a:cs typeface="+mn-cs"/>
                        </a:rPr>
                        <a:t> </a:t>
                      </a:r>
                      <a:r>
                        <a:rPr kumimoji="0" lang="en-US" altLang="zh-TW" sz="1000" b="0" i="0" u="none" strike="noStrike" kern="1200" cap="none" spc="0" normalizeH="0" baseline="0" noProof="0" dirty="0">
                          <a:ln w="0"/>
                          <a:solidFill>
                            <a:schemeClr val="tx1">
                              <a:lumMod val="50000"/>
                              <a:lumOff val="50000"/>
                            </a:schemeClr>
                          </a:solidFill>
                          <a:effectLst/>
                          <a:uLnTx/>
                          <a:uFillTx/>
                          <a:latin typeface="+mn-lt"/>
                          <a:ea typeface="+mn-ea"/>
                          <a:cs typeface="+mn-cs"/>
                        </a:rPr>
                        <a:t>CSA)</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DSMoE</a:t>
                      </a:r>
                      <a:r>
                        <a:rPr kumimoji="0" lang="en-US" altLang="zh-TW" sz="1200" b="0" i="0" u="none" strike="noStrike" kern="1200" cap="none" spc="0" normalizeH="0" baseline="0" noProof="0" dirty="0">
                          <a:ln w="0"/>
                          <a:solidFill>
                            <a:prstClr val="black"/>
                          </a:solidFill>
                          <a:effectLst/>
                          <a:uLnTx/>
                          <a:uFillTx/>
                          <a:latin typeface="+mn-lt"/>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 MHC</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&lt;4096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accent2">
                        <a:lumMod val="20000"/>
                        <a:lumOff val="80000"/>
                        <a:alpha val="40000"/>
                      </a:schemeClr>
                    </a:solidFill>
                  </a:tcPr>
                </a:tc>
                <a:tc>
                  <a:txBody>
                    <a:bodyPr/>
                    <a:lstStyle/>
                    <a:p>
                      <a:pPr algn="ctr"/>
                      <a:r>
                        <a:rPr lang="en-US" altLang="zh-TW" sz="1200" b="0" cap="none" spc="0" dirty="0">
                          <a:ln w="0"/>
                          <a:solidFill>
                            <a:schemeClr val="tx1"/>
                          </a:solidFill>
                          <a:effectLst/>
                        </a:rPr>
                        <a:t>58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accent2">
                        <a:lumMod val="20000"/>
                        <a:lumOff val="80000"/>
                        <a:alpha val="40000"/>
                      </a:schemeClr>
                    </a:solidFill>
                  </a:tcPr>
                </a:tc>
                <a:tc>
                  <a:txBody>
                    <a:bodyPr/>
                    <a:lstStyle/>
                    <a:p>
                      <a:pPr algn="ctr"/>
                      <a:r>
                        <a:rPr lang="en-US" altLang="zh-TW" sz="1200" b="0" cap="none" spc="0" dirty="0">
                          <a:ln w="0"/>
                          <a:solidFill>
                            <a:schemeClr val="tx1"/>
                          </a:solidFill>
                          <a:effectLst/>
                        </a:rPr>
                        <a:t>49B / 1.6T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AI clusters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411370">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Flash</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sz="1200" dirty="0"/>
                        <a:t>Muon</a:t>
                      </a:r>
                      <a:endParaRPr sz="1200"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sz="1200" dirty="0"/>
                        <a:t>GRPO</a:t>
                      </a:r>
                      <a:endParaRPr sz="1200"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vMerge="1">
                  <a:txBody>
                    <a:bodyPr/>
                    <a:lstStyle/>
                    <a:p>
                      <a:pPr algn="ctr"/>
                      <a:endParaRPr sz="1200"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&gt;8192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solidFill>
                      <a:schemeClr val="accent2">
                        <a:lumMod val="20000"/>
                        <a:lumOff val="80000"/>
                        <a:alpha val="40000"/>
                      </a:schemeClr>
                    </a:solidFill>
                  </a:tcPr>
                </a:tc>
                <a:tc>
                  <a:txBody>
                    <a:bodyPr/>
                    <a:lstStyle/>
                    <a:p>
                      <a:pPr algn="ctr"/>
                      <a:r>
                        <a:rPr lang="en-US" altLang="zh-TW" sz="1200" b="0" cap="none" spc="0" dirty="0">
                          <a:ln w="0"/>
                          <a:solidFill>
                            <a:schemeClr val="tx1"/>
                          </a:solidFill>
                          <a:effectLst/>
                        </a:rPr>
                        <a:t>40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solidFill>
                      <a:schemeClr val="accent2">
                        <a:lumMod val="20000"/>
                        <a:lumOff val="80000"/>
                        <a:alpha val="40000"/>
                      </a:schemeClr>
                    </a:solidFill>
                  </a:tcPr>
                </a:tc>
                <a:tc>
                  <a:txBody>
                    <a:bodyPr/>
                    <a:lstStyle/>
                    <a:p>
                      <a:pPr algn="ctr"/>
                      <a:r>
                        <a:rPr lang="en-US" altLang="zh-TW" sz="1200" b="0" cap="none" spc="0" dirty="0">
                          <a:ln w="0"/>
                          <a:solidFill>
                            <a:schemeClr val="tx1"/>
                          </a:solidFill>
                          <a:effectLst/>
                        </a:rPr>
                        <a:t>13B / 284B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a:t>
                      </a:r>
                      <a:r>
                        <a:rPr lang="zh-TW" altLang="en-US" sz="1200" b="0" cap="none" spc="0" dirty="0">
                          <a:ln w="0"/>
                          <a:solidFill>
                            <a:schemeClr val="tx1"/>
                          </a:solidFill>
                          <a:effectLst/>
                        </a:rPr>
                        <a:t> </a:t>
                      </a:r>
                      <a:r>
                        <a:rPr lang="en-US" altLang="zh-TW" sz="1200" b="0" cap="none" spc="0" dirty="0">
                          <a:ln w="0"/>
                          <a:solidFill>
                            <a:schemeClr val="tx1"/>
                          </a:solidFill>
                          <a:effectLst/>
                        </a:rPr>
                        <a:t>PC</a:t>
                      </a:r>
                    </a:p>
                    <a:p>
                      <a:pPr algn="ctr"/>
                      <a:r>
                        <a:rPr lang="en-US" altLang="zh-TW" sz="1000" b="0" cap="none" spc="0" dirty="0">
                          <a:ln w="0"/>
                          <a:solidFill>
                            <a:schemeClr val="tx1">
                              <a:lumMod val="50000"/>
                              <a:lumOff val="50000"/>
                            </a:schemeClr>
                          </a:solidFill>
                          <a:effectLst/>
                        </a:rPr>
                        <a:t>(8</a:t>
                      </a:r>
                      <a:r>
                        <a:rPr lang="zh-TW" altLang="en-US" sz="1000" b="0" cap="none" spc="0" dirty="0">
                          <a:ln w="0"/>
                          <a:solidFill>
                            <a:schemeClr val="tx1">
                              <a:lumMod val="50000"/>
                              <a:lumOff val="50000"/>
                            </a:schemeClr>
                          </a:solidFill>
                          <a:effectLst/>
                        </a:rPr>
                        <a:t> </a:t>
                      </a:r>
                      <a:r>
                        <a:rPr lang="en-US" altLang="zh-TW" sz="1000" b="0" cap="none" spc="0" dirty="0">
                          <a:ln w="0"/>
                          <a:solidFill>
                            <a:schemeClr val="tx1">
                              <a:lumMod val="50000"/>
                              <a:lumOff val="50000"/>
                            </a:schemeClr>
                          </a:solidFill>
                          <a:effectLst/>
                        </a:rPr>
                        <a:t>x H800)</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bl>
          </a:graphicData>
        </a:graphic>
      </p:graphicFrame>
    </p:spTree>
    <p:extLst>
      <p:ext uri="{BB962C8B-B14F-4D97-AF65-F5344CB8AC3E}">
        <p14:creationId xmlns:p14="http://schemas.microsoft.com/office/powerpoint/2010/main" val="218421321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字方塊 2">
            <a:extLst>
              <a:ext uri="{FF2B5EF4-FFF2-40B4-BE49-F238E27FC236}">
                <a16:creationId xmlns:a16="http://schemas.microsoft.com/office/drawing/2014/main" id="{1D7DEF31-767A-9F8F-B0E4-8C2CE6788F28}"/>
              </a:ext>
            </a:extLst>
          </p:cNvPr>
          <p:cNvSpPr txBox="1"/>
          <p:nvPr/>
        </p:nvSpPr>
        <p:spPr>
          <a:xfrm>
            <a:off x="251520" y="260648"/>
            <a:ext cx="3384376" cy="4809009"/>
          </a:xfrm>
          <a:prstGeom prst="rect">
            <a:avLst/>
          </a:prstGeom>
          <a:noFill/>
        </p:spPr>
        <p:txBody>
          <a:bodyPr wrap="square">
            <a:spAutoFit/>
          </a:bodyPr>
          <a:lstStyle/>
          <a:p>
            <a:pPr marL="0" marR="0">
              <a:spcBef>
                <a:spcPts val="1800"/>
              </a:spcBef>
              <a:spcAft>
                <a:spcPts val="900"/>
              </a:spcAft>
              <a:buNone/>
            </a:pPr>
            <a:r>
              <a:rPr lang="zh-TW" altLang="zh-TW" sz="1100" b="1" u="none" strike="noStrike" dirty="0">
                <a:effectLst/>
                <a:latin typeface="微軟正黑體" panose="020B0604030504040204" pitchFamily="34" charset="-120"/>
                <a:ea typeface="微軟正黑體" panose="020B0604030504040204" pitchFamily="34" charset="-120"/>
              </a:rPr>
              <a:t>一、 解密路由激活函數：Sqrt(Softplus(·))</a:t>
            </a:r>
          </a:p>
          <a:p>
            <a:pPr marL="0" marR="0">
              <a:spcBef>
                <a:spcPts val="900"/>
              </a:spcBef>
              <a:spcAft>
                <a:spcPts val="1200"/>
              </a:spcAft>
              <a:buNone/>
            </a:pPr>
            <a:r>
              <a:rPr lang="zh-TW" altLang="zh-TW" sz="1100" b="0" u="none" strike="noStrike" dirty="0">
                <a:effectLst/>
                <a:latin typeface="微軟正黑體" panose="020B0604030504040204" pitchFamily="34" charset="-120"/>
                <a:ea typeface="微軟正黑體" panose="020B0604030504040204" pitchFamily="34" charset="-120"/>
              </a:rPr>
              <a:t>在傳統的混合專家模型（MoE）中，計算「Token 與專家的契合親和度」通常會使用 Sigmoid 或 Softmax。但 DeepSeek-V4 徹底將其替換為 </a:t>
            </a:r>
            <a:r>
              <a:rPr lang="zh-TW" altLang="zh-TW" sz="1100" b="1" u="none" strike="noStrike" dirty="0">
                <a:effectLst/>
                <a:latin typeface="微軟正黑體" panose="020B0604030504040204" pitchFamily="34" charset="-120"/>
                <a:ea typeface="微軟正黑體" panose="020B0604030504040204" pitchFamily="34" charset="-120"/>
              </a:rPr>
              <a:t>Sqrt(Softplus(·))</a:t>
            </a:r>
            <a:r>
              <a:rPr lang="zh-TW" altLang="zh-TW" sz="1100" b="0" u="none" strike="noStrike" dirty="0">
                <a:effectLst/>
                <a:latin typeface="微軟正黑體" panose="020B0604030504040204" pitchFamily="34" charset="-120"/>
                <a:ea typeface="微軟正黑體" panose="020B0604030504040204" pitchFamily="34" charset="-120"/>
              </a:rPr>
              <a:t>，其數學公式為： </a:t>
            </a:r>
            <a:endParaRPr lang="en-US" altLang="zh-TW" sz="1100" b="0" u="none" strike="noStrike" dirty="0">
              <a:effectLst/>
              <a:latin typeface="微軟正黑體" panose="020B0604030504040204" pitchFamily="34" charset="-120"/>
              <a:ea typeface="微軟正黑體" panose="020B0604030504040204" pitchFamily="34" charset="-120"/>
            </a:endParaRPr>
          </a:p>
          <a:p>
            <a:pPr marL="0" marR="0">
              <a:spcBef>
                <a:spcPts val="900"/>
              </a:spcBef>
              <a:spcAft>
                <a:spcPts val="1200"/>
              </a:spcAft>
              <a:buNone/>
            </a:pPr>
            <a:r>
              <a:rPr lang="en-US" altLang="zh-TW" sz="1100" dirty="0">
                <a:latin typeface="微軟正黑體" panose="020B0604030504040204" pitchFamily="34" charset="-120"/>
                <a:ea typeface="微軟正黑體" panose="020B0604030504040204" pitchFamily="34" charset="-120"/>
              </a:rPr>
              <a:t>Score(x) = Sqrt[ ln(1+e^x) ]</a:t>
            </a:r>
            <a:endParaRPr lang="zh-TW" altLang="zh-TW" sz="1100" b="0" u="none" strike="noStrike" dirty="0">
              <a:effectLst/>
              <a:latin typeface="微軟正黑體" panose="020B0604030504040204" pitchFamily="34" charset="-120"/>
              <a:ea typeface="微軟正黑體" panose="020B0604030504040204" pitchFamily="34" charset="-120"/>
            </a:endParaRPr>
          </a:p>
          <a:p>
            <a:pPr marL="0" marR="0">
              <a:spcBef>
                <a:spcPts val="900"/>
              </a:spcBef>
              <a:spcAft>
                <a:spcPts val="1200"/>
              </a:spcAft>
              <a:buNone/>
            </a:pPr>
            <a:r>
              <a:rPr lang="zh-TW" altLang="zh-TW" sz="1100" b="0" u="none" strike="noStrike" dirty="0">
                <a:effectLst/>
                <a:latin typeface="微軟正黑體" panose="020B0604030504040204" pitchFamily="34" charset="-120"/>
                <a:ea typeface="微軟正黑體" panose="020B0604030504040204" pitchFamily="34" charset="-120"/>
              </a:rPr>
              <a:t>這個改動帶來了三大關鍵優勢：</a:t>
            </a: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獨立評分不互相拉扯</a:t>
            </a:r>
            <a:r>
              <a:rPr lang="zh-TW" altLang="zh-TW" sz="1100" b="0" u="none" strike="noStrike" dirty="0">
                <a:effectLst/>
                <a:latin typeface="微軟正黑體" panose="020B0604030504040204" pitchFamily="34" charset="-120"/>
                <a:ea typeface="微軟正黑體" panose="020B0604030504040204" pitchFamily="34" charset="-120"/>
              </a:rPr>
              <a:t>：與 Softmax 不同，每個專家的分數是單獨計算的，這意味著某一個專家分數暴增時，不會強行壓低其他潛在適用專家的機率。 </a:t>
            </a:r>
            <a:endParaRPr lang="en-US" altLang="zh-TW" sz="1100" dirty="0">
              <a:latin typeface="微軟正黑體" panose="020B0604030504040204" pitchFamily="34" charset="-120"/>
              <a:ea typeface="微軟正黑體" panose="020B0604030504040204" pitchFamily="34" charset="-120"/>
            </a:endParaRP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平滑緩解極端路由</a:t>
            </a:r>
            <a:r>
              <a:rPr lang="zh-TW" altLang="zh-TW" sz="1100" b="0" u="none" strike="noStrike" dirty="0">
                <a:effectLst/>
                <a:latin typeface="微軟正黑體" panose="020B0604030504040204" pitchFamily="34" charset="-120"/>
                <a:ea typeface="微軟正黑體" panose="020B0604030504040204" pitchFamily="34" charset="-120"/>
              </a:rPr>
              <a:t>：Softplus 能提供平滑的漸進激活，而外層的</a:t>
            </a:r>
            <a:r>
              <a:rPr lang="zh-TW" altLang="zh-TW" sz="1100" b="1" u="none" strike="noStrike" dirty="0">
                <a:effectLst/>
                <a:latin typeface="微軟正黑體" panose="020B0604030504040204" pitchFamily="34" charset="-120"/>
                <a:ea typeface="微軟正黑體" panose="020B0604030504040204" pitchFamily="34" charset="-120"/>
              </a:rPr>
              <a:t>平方根（Sqrt）操作能進一步壓縮分數的極端範圍</a:t>
            </a:r>
            <a:r>
              <a:rPr lang="zh-TW" altLang="zh-TW" sz="1100" b="0" u="none" strike="noStrike" dirty="0">
                <a:effectLst/>
                <a:latin typeface="微軟正黑體" panose="020B0604030504040204" pitchFamily="34" charset="-120"/>
                <a:ea typeface="微軟正黑體" panose="020B0604030504040204" pitchFamily="34" charset="-120"/>
              </a:rPr>
              <a:t>，防止少數專家被「過度熱捧」而導致其他專家失業。 </a:t>
            </a: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有利於天然負載均衡</a:t>
            </a:r>
            <a:r>
              <a:rPr lang="zh-TW" altLang="zh-TW" sz="1100" b="0" u="none" strike="noStrike" dirty="0">
                <a:effectLst/>
                <a:latin typeface="微軟正黑體" panose="020B0604030504040204" pitchFamily="34" charset="-120"/>
                <a:ea typeface="微軟正黑體" panose="020B0604030504040204" pitchFamily="34" charset="-120"/>
              </a:rPr>
              <a:t>：路由分布更為平緩，模型在不需要僵硬的「輔助損失（Auxiliary Loss）」強迫制約下，就能自主實現極佳的專家分配均衡。</a:t>
            </a:r>
          </a:p>
        </p:txBody>
      </p:sp>
      <p:pic>
        <p:nvPicPr>
          <p:cNvPr id="5" name="圖片 4">
            <a:extLst>
              <a:ext uri="{FF2B5EF4-FFF2-40B4-BE49-F238E27FC236}">
                <a16:creationId xmlns:a16="http://schemas.microsoft.com/office/drawing/2014/main" id="{24B15496-A7F0-B40B-64D7-2E69EEF5EED0}"/>
              </a:ext>
            </a:extLst>
          </p:cNvPr>
          <p:cNvPicPr>
            <a:picLocks noChangeAspect="1"/>
          </p:cNvPicPr>
          <p:nvPr/>
        </p:nvPicPr>
        <p:blipFill>
          <a:blip r:embed="rId3"/>
          <a:stretch>
            <a:fillRect/>
          </a:stretch>
        </p:blipFill>
        <p:spPr>
          <a:xfrm>
            <a:off x="216496" y="1412776"/>
            <a:ext cx="2429214" cy="581106"/>
          </a:xfrm>
          <a:prstGeom prst="rect">
            <a:avLst/>
          </a:prstGeom>
        </p:spPr>
      </p:pic>
      <p:sp>
        <p:nvSpPr>
          <p:cNvPr id="7" name="文字方塊 6">
            <a:extLst>
              <a:ext uri="{FF2B5EF4-FFF2-40B4-BE49-F238E27FC236}">
                <a16:creationId xmlns:a16="http://schemas.microsoft.com/office/drawing/2014/main" id="{5DACEE6A-7394-9489-F6F8-35DC8A5AC10E}"/>
              </a:ext>
            </a:extLst>
          </p:cNvPr>
          <p:cNvSpPr txBox="1"/>
          <p:nvPr/>
        </p:nvSpPr>
        <p:spPr>
          <a:xfrm>
            <a:off x="3995936" y="188640"/>
            <a:ext cx="4572000" cy="5613396"/>
          </a:xfrm>
          <a:prstGeom prst="rect">
            <a:avLst/>
          </a:prstGeom>
          <a:noFill/>
        </p:spPr>
        <p:txBody>
          <a:bodyPr wrap="square">
            <a:spAutoFit/>
          </a:bodyPr>
          <a:lstStyle/>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二、 什麼是 DeepSeek-V4 的「混合注意力架構」？</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在過去的 V2/V3 中，DeepSeek 著名的是 Multi-head Latent Attention (MLA) 技術。然而到了 V4，為了解決 100 萬 Token 帶來的恐怖 </a:t>
            </a:r>
            <a:r>
              <a:rPr lang="zh-TW" altLang="zh-TW" sz="1100" b="1" u="none" strike="noStrike" dirty="0">
                <a:effectLst/>
                <a:latin typeface="微軟正黑體" panose="020B0604030504040204" pitchFamily="34" charset="-120"/>
                <a:ea typeface="微軟正黑體" panose="020B0604030504040204" pitchFamily="34" charset="-120"/>
              </a:rPr>
              <a:t>KV Cache（鍵值快取）記憶體爆炸問題</a:t>
            </a:r>
            <a:r>
              <a:rPr lang="zh-TW" altLang="zh-TW" sz="1100" b="0" u="none" strike="noStrike" dirty="0">
                <a:effectLst/>
                <a:latin typeface="微軟正黑體" panose="020B0604030504040204" pitchFamily="34" charset="-120"/>
                <a:ea typeface="微軟正黑體" panose="020B0604030504040204" pitchFamily="34" charset="-120"/>
              </a:rPr>
              <a:t>，官方開發出了由 </a:t>
            </a:r>
            <a:r>
              <a:rPr lang="zh-TW" altLang="zh-TW" sz="1100" b="1" u="none" strike="noStrike" dirty="0">
                <a:effectLst/>
                <a:latin typeface="微軟正黑體" panose="020B0604030504040204" pitchFamily="34" charset="-120"/>
                <a:ea typeface="微軟正黑體" panose="020B0604030504040204" pitchFamily="34" charset="-120"/>
              </a:rPr>
              <a:t>CSA</a:t>
            </a:r>
            <a:r>
              <a:rPr lang="zh-TW" altLang="zh-TW" sz="1100" b="0" u="none" strike="noStrike" dirty="0">
                <a:effectLst/>
                <a:latin typeface="微軟正黑體" panose="020B0604030504040204" pitchFamily="34" charset="-120"/>
                <a:ea typeface="微軟正黑體" panose="020B0604030504040204" pitchFamily="34" charset="-120"/>
              </a:rPr>
              <a:t> 與 </a:t>
            </a:r>
            <a:r>
              <a:rPr lang="zh-TW" altLang="zh-TW" sz="1100" b="1" u="none" strike="noStrike" dirty="0">
                <a:effectLst/>
                <a:latin typeface="微軟正黑體" panose="020B0604030504040204" pitchFamily="34" charset="-120"/>
                <a:ea typeface="微軟正黑體" panose="020B0604030504040204" pitchFamily="34" charset="-120"/>
              </a:rPr>
              <a:t>HCA</a:t>
            </a:r>
            <a:r>
              <a:rPr lang="zh-TW" altLang="zh-TW" sz="1100" b="0" u="none" strike="noStrike" dirty="0">
                <a:effectLst/>
                <a:latin typeface="微軟正黑體" panose="020B0604030504040204" pitchFamily="34" charset="-120"/>
                <a:ea typeface="微軟正黑體" panose="020B0604030504040204" pitchFamily="34" charset="-120"/>
              </a:rPr>
              <a:t> 交替層疊（Interleaved）組成的</a:t>
            </a:r>
            <a:r>
              <a:rPr lang="zh-TW" altLang="zh-TW" sz="1100" b="1" u="none" strike="noStrike" dirty="0">
                <a:effectLst/>
                <a:latin typeface="微軟正黑體" panose="020B0604030504040204" pitchFamily="34" charset="-120"/>
                <a:ea typeface="微軟正黑體" panose="020B0604030504040204" pitchFamily="34" charset="-120"/>
              </a:rPr>
              <a:t>混合注意力架構</a:t>
            </a:r>
            <a:r>
              <a:rPr lang="zh-TW" altLang="zh-TW" sz="1100" b="0" u="none" strike="noStrike" dirty="0">
                <a:effectLst/>
                <a:latin typeface="微軟正黑體" panose="020B0604030504040204" pitchFamily="34" charset="-120"/>
                <a:ea typeface="微軟正黑體" panose="020B0604030504040204" pitchFamily="34" charset="-120"/>
              </a:rPr>
              <a:t>。 </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它拋棄了「每個 Token 都必須精確記錄 KV 狀態」的傳統教條，改採</a:t>
            </a:r>
            <a:r>
              <a:rPr lang="zh-TW" altLang="zh-TW" sz="1100" b="1" u="none" strike="noStrike" dirty="0">
                <a:effectLst/>
                <a:latin typeface="微軟正黑體" panose="020B0604030504040204" pitchFamily="34" charset="-120"/>
                <a:ea typeface="微軟正黑體" panose="020B0604030504040204" pitchFamily="34" charset="-120"/>
              </a:rPr>
              <a:t>分層儲存、按需訪問</a:t>
            </a:r>
            <a:r>
              <a:rPr lang="zh-TW" altLang="zh-TW" sz="1100" b="0" u="none" strike="noStrike" dirty="0">
                <a:effectLst/>
                <a:latin typeface="微軟正黑體" panose="020B0604030504040204" pitchFamily="34" charset="-120"/>
                <a:ea typeface="微軟正黑體" panose="020B0604030504040204" pitchFamily="34" charset="-120"/>
              </a:rPr>
              <a:t>的策略，成功將 </a:t>
            </a:r>
            <a:r>
              <a:rPr lang="zh-TW" altLang="zh-TW" sz="1100" b="1" u="none" strike="noStrike" dirty="0">
                <a:effectLst/>
                <a:latin typeface="微軟正黑體" panose="020B0604030504040204" pitchFamily="34" charset="-120"/>
                <a:ea typeface="微軟正黑體" panose="020B0604030504040204" pitchFamily="34" charset="-120"/>
              </a:rPr>
              <a:t>KV Cache 暴減 90%，單 Token 推理算力（FLOPs）降低 73%</a:t>
            </a:r>
            <a:r>
              <a:rPr lang="zh-TW" altLang="zh-TW" sz="1100" b="0" u="none" strike="noStrike" dirty="0">
                <a:effectLst/>
                <a:latin typeface="微軟正黑體" panose="020B0604030504040204" pitchFamily="34" charset="-120"/>
                <a:ea typeface="微軟正黑體" panose="020B0604030504040204" pitchFamily="34" charset="-120"/>
              </a:rPr>
              <a:t>。</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這一架構由以下兩大機制交織而成：</a:t>
            </a:r>
            <a:endParaRPr lang="en-US" altLang="zh-TW" sz="1100" b="0" u="none" strike="noStrike" dirty="0">
              <a:effectLst/>
              <a:latin typeface="微軟正黑體" panose="020B0604030504040204" pitchFamily="34" charset="-120"/>
              <a:ea typeface="微軟正黑體" panose="020B0604030504040204" pitchFamily="34" charset="-120"/>
            </a:endParaRPr>
          </a:p>
          <a:p>
            <a:pPr marR="0">
              <a:lnSpc>
                <a:spcPts val="1600"/>
              </a:lnSpc>
              <a:buNone/>
            </a:pPr>
            <a:endParaRPr lang="zh-TW" altLang="zh-TW" sz="1100" b="0" u="none" strike="noStrike" dirty="0">
              <a:effectLst/>
              <a:latin typeface="微軟正黑體" panose="020B0604030504040204" pitchFamily="34" charset="-120"/>
              <a:ea typeface="微軟正黑體" panose="020B0604030504040204" pitchFamily="34" charset="-120"/>
            </a:endParaRP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1. 壓縮稀疏注意力（Compressed Sparse Attention, CSA）</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：將歷史脈絡每m</a:t>
            </a:r>
            <a:r>
              <a:rPr lang="en-US" altLang="zh-TW" sz="1100" b="0" u="none" strike="noStrike" dirty="0">
                <a:effectLst/>
                <a:latin typeface="微軟正黑體" panose="020B0604030504040204" pitchFamily="34" charset="-120"/>
                <a:ea typeface="微軟正黑體" panose="020B0604030504040204" pitchFamily="34" charset="-120"/>
              </a:rPr>
              <a:t>(4)</a:t>
            </a:r>
            <a:r>
              <a:rPr lang="zh-TW" altLang="zh-TW" sz="1100" b="0" u="none" strike="noStrike" dirty="0">
                <a:effectLst/>
                <a:latin typeface="微軟正黑體" panose="020B0604030504040204" pitchFamily="34" charset="-120"/>
                <a:ea typeface="微軟正黑體" panose="020B0604030504040204" pitchFamily="34" charset="-120"/>
              </a:rPr>
              <a:t>個Token的 KV 狀態，透過學習好的權重</a:t>
            </a:r>
            <a:r>
              <a:rPr lang="zh-TW" altLang="zh-TW" sz="1100" b="1" u="none" strike="noStrike" dirty="0">
                <a:effectLst/>
                <a:latin typeface="微軟正黑體" panose="020B0604030504040204" pitchFamily="34" charset="-120"/>
                <a:ea typeface="微軟正黑體" panose="020B0604030504040204" pitchFamily="34" charset="-120"/>
              </a:rPr>
              <a:t>數學壓縮</a:t>
            </a:r>
            <a:r>
              <a:rPr lang="zh-TW" altLang="zh-TW" sz="1100" b="0" u="none" strike="noStrike" dirty="0">
                <a:effectLst/>
                <a:latin typeface="微軟正黑體" panose="020B0604030504040204" pitchFamily="34" charset="-120"/>
                <a:ea typeface="微軟正黑體" panose="020B0604030504040204" pitchFamily="34" charset="-120"/>
              </a:rPr>
              <a:t>鎖定成一個合併表徵。接著，由 Lightning Indexer 快速動態檢索出最相關的 Top-K 個壓縮記憶條目。</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角色定位</a:t>
            </a:r>
            <a:r>
              <a:rPr lang="zh-TW" altLang="zh-TW" sz="1100" b="0" u="none" strike="noStrike" dirty="0">
                <a:effectLst/>
                <a:latin typeface="微軟正黑體" panose="020B0604030504040204" pitchFamily="34" charset="-120"/>
                <a:ea typeface="微軟正黑體" panose="020B0604030504040204" pitchFamily="34" charset="-120"/>
              </a:rPr>
              <a:t>：它就像是</a:t>
            </a:r>
            <a:r>
              <a:rPr lang="en-US" altLang="zh-TW" sz="1100" b="1" u="none" strike="noStrike" dirty="0">
                <a:effectLst/>
                <a:latin typeface="微軟正黑體" panose="020B0604030504040204" pitchFamily="34" charset="-120"/>
                <a:ea typeface="微軟正黑體" panose="020B0604030504040204" pitchFamily="34" charset="-120"/>
              </a:rPr>
              <a:t>(</a:t>
            </a:r>
            <a:r>
              <a:rPr lang="zh-TW" altLang="zh-TW" sz="1100" b="1" u="none" strike="noStrike" dirty="0">
                <a:effectLst/>
                <a:latin typeface="微軟正黑體" panose="020B0604030504040204" pitchFamily="34" charset="-120"/>
                <a:ea typeface="微軟正黑體" panose="020B0604030504040204" pitchFamily="34" charset="-120"/>
              </a:rPr>
              <a:t>中等解析度的檢索器</a:t>
            </a:r>
            <a:r>
              <a:rPr lang="en-US" altLang="zh-TW" sz="1100" b="1" u="none" strike="noStrike" dirty="0">
                <a:effectLst/>
                <a:latin typeface="微軟正黑體" panose="020B0604030504040204" pitchFamily="34" charset="-120"/>
                <a:ea typeface="微軟正黑體" panose="020B0604030504040204" pitchFamily="34" charset="-120"/>
              </a:rPr>
              <a:t>),</a:t>
            </a:r>
            <a:r>
              <a:rPr lang="zh-TW" altLang="en-US" sz="1100" b="1"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不全量掃描百萬上下文，只找出跟當前問題最相關的歷史片段。 </a:t>
            </a: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2. 重度壓縮注意力（Heavily Compressed Attention, HCA）</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：採用更激進的重度壓縮比（例如每 128 個 Token 壓縮成一條全局 KV 狀態），然後對這些高度壓縮的狀態進行</a:t>
            </a:r>
            <a:r>
              <a:rPr lang="zh-TW" altLang="zh-TW" sz="1100" b="1" u="none" strike="noStrike" dirty="0">
                <a:effectLst/>
                <a:latin typeface="微軟正黑體" panose="020B0604030504040204" pitchFamily="34" charset="-120"/>
                <a:ea typeface="微軟正黑體" panose="020B0604030504040204" pitchFamily="34" charset="-120"/>
              </a:rPr>
              <a:t>密集的全局注意力計算</a:t>
            </a:r>
            <a:r>
              <a:rPr lang="zh-TW" altLang="zh-TW" sz="1100" b="0" u="none" strike="noStrike" dirty="0">
                <a:effectLst/>
                <a:latin typeface="微軟正黑體" panose="020B0604030504040204" pitchFamily="34" charset="-120"/>
                <a:ea typeface="微軟正黑體" panose="020B0604030504040204" pitchFamily="34" charset="-120"/>
              </a:rPr>
              <a:t>。</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角色定位</a:t>
            </a:r>
            <a:r>
              <a:rPr lang="zh-TW" altLang="zh-TW" sz="1100" b="0" u="none" strike="noStrike" dirty="0">
                <a:effectLst/>
                <a:latin typeface="微軟正黑體" panose="020B0604030504040204" pitchFamily="34" charset="-120"/>
                <a:ea typeface="微軟正黑體" panose="020B0604030504040204" pitchFamily="34" charset="-120"/>
              </a:rPr>
              <a:t>：它就像是</a:t>
            </a:r>
            <a:r>
              <a:rPr lang="zh-TW" altLang="zh-TW" sz="1100" b="1" u="none" strike="noStrike" dirty="0">
                <a:effectLst/>
                <a:latin typeface="微軟正黑體" panose="020B0604030504040204" pitchFamily="34" charset="-120"/>
                <a:ea typeface="微軟正黑體" panose="020B0604030504040204" pitchFamily="34" charset="-120"/>
              </a:rPr>
              <a:t>「低解析度的全局老地圖」</a:t>
            </a:r>
            <a:r>
              <a:rPr lang="zh-TW" altLang="zh-TW" sz="1100" b="0" u="none" strike="noStrike" dirty="0">
                <a:effectLst/>
                <a:latin typeface="微軟正黑體" panose="020B0604030504040204" pitchFamily="34" charset="-120"/>
                <a:ea typeface="微軟正黑體" panose="020B0604030504040204" pitchFamily="34" charset="-120"/>
              </a:rPr>
              <a:t>。雖然細節被模糊了，但它確保模型不會因為稀疏檢索而徹底切碎整體文章結構，依然看得見故事的宏觀輪廓。 </a:t>
            </a: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3. 滑動窗口（Sliding Window）</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：不論 CSA 還是 HCA，對於「當前最新、最鄰近」的上下文（例如最新的 128 個 Token），都依然保持 100% 完整且精確的精細注意力。</a:t>
            </a:r>
          </a:p>
        </p:txBody>
      </p:sp>
    </p:spTree>
    <p:extLst>
      <p:ext uri="{BB962C8B-B14F-4D97-AF65-F5344CB8AC3E}">
        <p14:creationId xmlns:p14="http://schemas.microsoft.com/office/powerpoint/2010/main" val="314539505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A16EEC-6C42-09B9-F859-79359689D7A7}"/>
            </a:ext>
          </a:extLst>
        </p:cNvPr>
        <p:cNvGrpSpPr/>
        <p:nvPr/>
      </p:nvGrpSpPr>
      <p:grpSpPr>
        <a:xfrm>
          <a:off x="0" y="0"/>
          <a:ext cx="0" cy="0"/>
          <a:chOff x="0" y="0"/>
          <a:chExt cx="0" cy="0"/>
        </a:xfrm>
      </p:grpSpPr>
      <p:sp>
        <p:nvSpPr>
          <p:cNvPr id="6" name="標題 1">
            <a:extLst>
              <a:ext uri="{FF2B5EF4-FFF2-40B4-BE49-F238E27FC236}">
                <a16:creationId xmlns:a16="http://schemas.microsoft.com/office/drawing/2014/main" id="{2DCB68E9-8DA3-5172-2398-EEF1F9E21177}"/>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 Flash</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Parameters is 284B.</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7" name="標題 1">
            <a:extLst>
              <a:ext uri="{FF2B5EF4-FFF2-40B4-BE49-F238E27FC236}">
                <a16:creationId xmlns:a16="http://schemas.microsoft.com/office/drawing/2014/main" id="{C4591A5C-3125-91C4-210F-A6EA5099E439}"/>
              </a:ext>
            </a:extLst>
          </p:cNvPr>
          <p:cNvSpPr txBox="1">
            <a:spLocks/>
          </p:cNvSpPr>
          <p:nvPr/>
        </p:nvSpPr>
        <p:spPr>
          <a:xfrm>
            <a:off x="1792025" y="4367791"/>
            <a:ext cx="1102112" cy="576064"/>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 dimension of 4096</a:t>
            </a: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2" name="標題 1">
            <a:extLst>
              <a:ext uri="{FF2B5EF4-FFF2-40B4-BE49-F238E27FC236}">
                <a16:creationId xmlns:a16="http://schemas.microsoft.com/office/drawing/2014/main" id="{5CD8287F-FC84-6024-A406-47CC8DDD1F8C}"/>
              </a:ext>
            </a:extLst>
          </p:cNvPr>
          <p:cNvSpPr txBox="1">
            <a:spLocks/>
          </p:cNvSpPr>
          <p:nvPr/>
        </p:nvSpPr>
        <p:spPr>
          <a:xfrm>
            <a:off x="7144904" y="5723144"/>
            <a:ext cx="1224136" cy="116632"/>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Tokenized text</a:t>
            </a:r>
          </a:p>
        </p:txBody>
      </p:sp>
      <p:pic>
        <p:nvPicPr>
          <p:cNvPr id="3" name="圖片 2">
            <a:extLst>
              <a:ext uri="{FF2B5EF4-FFF2-40B4-BE49-F238E27FC236}">
                <a16:creationId xmlns:a16="http://schemas.microsoft.com/office/drawing/2014/main" id="{4847F2FE-A7D1-1C7A-9A41-E11D98AA70E1}"/>
              </a:ext>
            </a:extLst>
          </p:cNvPr>
          <p:cNvPicPr>
            <a:picLocks noChangeAspect="1"/>
          </p:cNvPicPr>
          <p:nvPr/>
        </p:nvPicPr>
        <p:blipFill>
          <a:blip r:embed="rId2"/>
          <a:stretch>
            <a:fillRect/>
          </a:stretch>
        </p:blipFill>
        <p:spPr>
          <a:xfrm>
            <a:off x="966153" y="59604"/>
            <a:ext cx="4901991" cy="6781255"/>
          </a:xfrm>
          <a:prstGeom prst="rect">
            <a:avLst/>
          </a:prstGeom>
          <a:solidFill>
            <a:schemeClr val="bg1"/>
          </a:solidFill>
        </p:spPr>
      </p:pic>
    </p:spTree>
    <p:extLst>
      <p:ext uri="{BB962C8B-B14F-4D97-AF65-F5344CB8AC3E}">
        <p14:creationId xmlns:p14="http://schemas.microsoft.com/office/powerpoint/2010/main" val="97747055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1464BD-5194-0315-7A89-E8C884C6AB6A}"/>
            </a:ext>
          </a:extLst>
        </p:cNvPr>
        <p:cNvGrpSpPr/>
        <p:nvPr/>
      </p:nvGrpSpPr>
      <p:grpSpPr>
        <a:xfrm>
          <a:off x="0" y="0"/>
          <a:ext cx="0" cy="0"/>
          <a:chOff x="0" y="0"/>
          <a:chExt cx="0" cy="0"/>
        </a:xfrm>
      </p:grpSpPr>
      <p:sp>
        <p:nvSpPr>
          <p:cNvPr id="6" name="標題 1">
            <a:extLst>
              <a:ext uri="{FF2B5EF4-FFF2-40B4-BE49-F238E27FC236}">
                <a16:creationId xmlns:a16="http://schemas.microsoft.com/office/drawing/2014/main" id="{60940C7C-1A29-271B-CC3C-3E960225E0D0}"/>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 Pro</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Parameters is 1.6T.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8" name="標題 1">
            <a:extLst>
              <a:ext uri="{FF2B5EF4-FFF2-40B4-BE49-F238E27FC236}">
                <a16:creationId xmlns:a16="http://schemas.microsoft.com/office/drawing/2014/main" id="{397E2CE4-D75C-D567-8091-71DAC2642649}"/>
              </a:ext>
            </a:extLst>
          </p:cNvPr>
          <p:cNvSpPr txBox="1">
            <a:spLocks/>
          </p:cNvSpPr>
          <p:nvPr/>
        </p:nvSpPr>
        <p:spPr>
          <a:xfrm>
            <a:off x="5004048" y="116499"/>
            <a:ext cx="4107929" cy="144871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CSA = Cross-Attention (Sparse)</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HCA = Hybrid-Attention (Compressed)</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mHC = </a:t>
            </a:r>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Mainfold</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-Constrained Hyper-Connections</a:t>
            </a:r>
          </a:p>
          <a:p>
            <a:endPar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DS </a:t>
            </a:r>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MoE</a:t>
            </a:r>
            <a:endPar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171450" indent="-171450">
              <a:buFontTx/>
              <a:buChar char="-"/>
            </a:pP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Fine-Grained Expert Segmentation</a:t>
            </a:r>
          </a:p>
          <a:p>
            <a:pPr marL="171450" indent="-171450">
              <a:buFontTx/>
              <a:buChar char="-"/>
            </a:pP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Auxiliary-Loss-Free Load Balancing</a:t>
            </a:r>
          </a:p>
          <a:p>
            <a:pPr marL="171450" indent="-171450">
              <a:buFontTx/>
              <a:buChar char="-"/>
            </a:pP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Shared Experts Isolation</a:t>
            </a:r>
          </a:p>
          <a:p>
            <a:pPr marL="171450" indent="-171450">
              <a:buFontTx/>
              <a:buChar char="-"/>
            </a:pP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CF985EB1-5D4F-5FCC-6DCC-380A04F3F017}"/>
              </a:ext>
            </a:extLst>
          </p:cNvPr>
          <p:cNvPicPr>
            <a:picLocks noChangeAspect="1"/>
          </p:cNvPicPr>
          <p:nvPr/>
        </p:nvPicPr>
        <p:blipFill>
          <a:blip r:embed="rId2"/>
          <a:stretch>
            <a:fillRect/>
          </a:stretch>
        </p:blipFill>
        <p:spPr>
          <a:xfrm>
            <a:off x="2111380" y="943893"/>
            <a:ext cx="2469258" cy="5321829"/>
          </a:xfrm>
          <a:prstGeom prst="rect">
            <a:avLst/>
          </a:prstGeom>
        </p:spPr>
      </p:pic>
      <p:pic>
        <p:nvPicPr>
          <p:cNvPr id="5" name="圖片 4">
            <a:extLst>
              <a:ext uri="{FF2B5EF4-FFF2-40B4-BE49-F238E27FC236}">
                <a16:creationId xmlns:a16="http://schemas.microsoft.com/office/drawing/2014/main" id="{B06F7ADF-4A96-EDBF-862F-863AC4125B88}"/>
              </a:ext>
            </a:extLst>
          </p:cNvPr>
          <p:cNvPicPr>
            <a:picLocks noChangeAspect="1"/>
          </p:cNvPicPr>
          <p:nvPr/>
        </p:nvPicPr>
        <p:blipFill>
          <a:blip r:embed="rId3"/>
          <a:stretch>
            <a:fillRect/>
          </a:stretch>
        </p:blipFill>
        <p:spPr>
          <a:xfrm>
            <a:off x="4864113" y="1916832"/>
            <a:ext cx="3215919" cy="3375953"/>
          </a:xfrm>
          <a:prstGeom prst="rect">
            <a:avLst/>
          </a:prstGeom>
        </p:spPr>
      </p:pic>
    </p:spTree>
    <p:extLst>
      <p:ext uri="{BB962C8B-B14F-4D97-AF65-F5344CB8AC3E}">
        <p14:creationId xmlns:p14="http://schemas.microsoft.com/office/powerpoint/2010/main" val="370877343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D12A1-524B-7809-BD36-D84446C462E5}"/>
            </a:ext>
          </a:extLst>
        </p:cNvPr>
        <p:cNvGrpSpPr/>
        <p:nvPr/>
      </p:nvGrpSpPr>
      <p:grpSpPr>
        <a:xfrm>
          <a:off x="0" y="0"/>
          <a:ext cx="0" cy="0"/>
          <a:chOff x="0" y="0"/>
          <a:chExt cx="0" cy="0"/>
        </a:xfrm>
      </p:grpSpPr>
      <p:sp>
        <p:nvSpPr>
          <p:cNvPr id="6" name="標題 1">
            <a:extLst>
              <a:ext uri="{FF2B5EF4-FFF2-40B4-BE49-F238E27FC236}">
                <a16:creationId xmlns:a16="http://schemas.microsoft.com/office/drawing/2014/main" id="{4C96685B-48C1-5AE8-649A-AE7D8CEC7A46}"/>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 Pro</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Parameters is 1.6T.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 name="矩形: 圓角 2">
            <a:extLst>
              <a:ext uri="{FF2B5EF4-FFF2-40B4-BE49-F238E27FC236}">
                <a16:creationId xmlns:a16="http://schemas.microsoft.com/office/drawing/2014/main" id="{AB4273AF-A4C6-DD3C-DF7B-6600921A4991}"/>
              </a:ext>
            </a:extLst>
          </p:cNvPr>
          <p:cNvSpPr/>
          <p:nvPr/>
        </p:nvSpPr>
        <p:spPr>
          <a:xfrm>
            <a:off x="3352196" y="5016478"/>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Layer</a:t>
            </a:r>
          </a:p>
        </p:txBody>
      </p:sp>
      <p:sp>
        <p:nvSpPr>
          <p:cNvPr id="5" name="矩形: 圓角 4">
            <a:extLst>
              <a:ext uri="{FF2B5EF4-FFF2-40B4-BE49-F238E27FC236}">
                <a16:creationId xmlns:a16="http://schemas.microsoft.com/office/drawing/2014/main" id="{9D3946E5-6619-B00B-6F2B-318E4FFDDBFF}"/>
              </a:ext>
            </a:extLst>
          </p:cNvPr>
          <p:cNvSpPr/>
          <p:nvPr/>
        </p:nvSpPr>
        <p:spPr>
          <a:xfrm>
            <a:off x="3352478" y="1846598"/>
            <a:ext cx="1219522" cy="2795046"/>
          </a:xfrm>
          <a:prstGeom prst="roundRect">
            <a:avLst>
              <a:gd name="adj" fmla="val 10053"/>
            </a:avLst>
          </a:prstGeom>
          <a:solidFill>
            <a:schemeClr val="bg1">
              <a:lumMod val="95000"/>
              <a:alpha val="40000"/>
            </a:schemeClr>
          </a:solidFill>
          <a:ln w="15875">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cxnSp>
        <p:nvCxnSpPr>
          <p:cNvPr id="10" name="直線單箭頭接點 9">
            <a:extLst>
              <a:ext uri="{FF2B5EF4-FFF2-40B4-BE49-F238E27FC236}">
                <a16:creationId xmlns:a16="http://schemas.microsoft.com/office/drawing/2014/main" id="{66CD6BA5-C714-3982-95C5-9F54EB190B25}"/>
              </a:ext>
            </a:extLst>
          </p:cNvPr>
          <p:cNvCxnSpPr>
            <a:cxnSpLocks/>
            <a:stCxn id="3" idx="0"/>
            <a:endCxn id="5" idx="2"/>
          </p:cNvCxnSpPr>
          <p:nvPr/>
        </p:nvCxnSpPr>
        <p:spPr>
          <a:xfrm flipV="1">
            <a:off x="3961957" y="4641644"/>
            <a:ext cx="282" cy="374834"/>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矩形: 圓角 15">
            <a:extLst>
              <a:ext uri="{FF2B5EF4-FFF2-40B4-BE49-F238E27FC236}">
                <a16:creationId xmlns:a16="http://schemas.microsoft.com/office/drawing/2014/main" id="{03AF971C-A9FC-598A-0B06-5CF72E8CE55C}"/>
              </a:ext>
            </a:extLst>
          </p:cNvPr>
          <p:cNvSpPr/>
          <p:nvPr/>
        </p:nvSpPr>
        <p:spPr>
          <a:xfrm>
            <a:off x="3352196" y="132927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Layer</a:t>
            </a:r>
          </a:p>
        </p:txBody>
      </p:sp>
      <p:cxnSp>
        <p:nvCxnSpPr>
          <p:cNvPr id="17" name="直線單箭頭接點 16">
            <a:extLst>
              <a:ext uri="{FF2B5EF4-FFF2-40B4-BE49-F238E27FC236}">
                <a16:creationId xmlns:a16="http://schemas.microsoft.com/office/drawing/2014/main" id="{ECA6FA32-B08E-0AC6-BB60-7F13E024D8E7}"/>
              </a:ext>
            </a:extLst>
          </p:cNvPr>
          <p:cNvCxnSpPr>
            <a:cxnSpLocks/>
            <a:stCxn id="5" idx="0"/>
            <a:endCxn id="16" idx="2"/>
          </p:cNvCxnSpPr>
          <p:nvPr/>
        </p:nvCxnSpPr>
        <p:spPr>
          <a:xfrm flipH="1" flipV="1">
            <a:off x="3961957" y="1674522"/>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39FACF2C-0169-0192-DCE3-698E839EEE88}"/>
              </a:ext>
            </a:extLst>
          </p:cNvPr>
          <p:cNvSpPr/>
          <p:nvPr/>
        </p:nvSpPr>
        <p:spPr>
          <a:xfrm>
            <a:off x="4304039" y="5594981"/>
            <a:ext cx="362588" cy="283154"/>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p:txBody>
      </p:sp>
      <p:sp>
        <p:nvSpPr>
          <p:cNvPr id="40" name="矩形 39">
            <a:extLst>
              <a:ext uri="{FF2B5EF4-FFF2-40B4-BE49-F238E27FC236}">
                <a16:creationId xmlns:a16="http://schemas.microsoft.com/office/drawing/2014/main" id="{9C145AB5-B694-BD39-7472-655FD31D71DE}"/>
              </a:ext>
            </a:extLst>
          </p:cNvPr>
          <p:cNvSpPr/>
          <p:nvPr/>
        </p:nvSpPr>
        <p:spPr>
          <a:xfrm>
            <a:off x="3167532" y="5232673"/>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2" name="矩形: 圓角 41">
            <a:extLst>
              <a:ext uri="{FF2B5EF4-FFF2-40B4-BE49-F238E27FC236}">
                <a16:creationId xmlns:a16="http://schemas.microsoft.com/office/drawing/2014/main" id="{1D2D53B4-109A-6360-1CB3-E4BF23E21A13}"/>
              </a:ext>
            </a:extLst>
          </p:cNvPr>
          <p:cNvSpPr/>
          <p:nvPr/>
        </p:nvSpPr>
        <p:spPr>
          <a:xfrm>
            <a:off x="3477221" y="2018674"/>
            <a:ext cx="1008112" cy="1142915"/>
          </a:xfrm>
          <a:prstGeom prst="roundRect">
            <a:avLst>
              <a:gd name="adj" fmla="val 3585"/>
            </a:avLst>
          </a:prstGeom>
          <a:solidFill>
            <a:schemeClr val="accent1">
              <a:lumMod val="40000"/>
              <a:lumOff val="60000"/>
              <a:alpha val="60000"/>
            </a:schemeClr>
          </a:solidFill>
          <a:ln w="127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576" tIns="36576" rIns="0" bIns="0" rtlCol="0" anchor="t" anchorCtr="0"/>
          <a:lstStyle/>
          <a:p>
            <a:pPr marL="0" marR="0" lvl="0" indent="0" algn="l"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lumMod val="50000"/>
                    <a:lumOff val="50000"/>
                  </a:prstClr>
                </a:solidFill>
                <a:effectLst/>
                <a:uLnTx/>
                <a:uFillTx/>
                <a:latin typeface="Gadugi" panose="020B0502040204020203" pitchFamily="34" charset="0"/>
                <a:ea typeface="Gadugi" panose="020B0502040204020203" pitchFamily="34" charset="0"/>
                <a:cs typeface="ADLaM Display" panose="02010000000000000000" pitchFamily="2" charset="0"/>
              </a:rPr>
              <a:t>DS</a:t>
            </a:r>
          </a:p>
          <a:p>
            <a:pPr marL="0" marR="0" lvl="0" indent="0" algn="l"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lumMod val="50000"/>
                    <a:lumOff val="50000"/>
                  </a:prstClr>
                </a:solidFill>
                <a:effectLst/>
                <a:uLnTx/>
                <a:uFillTx/>
                <a:latin typeface="Gadugi" panose="020B0502040204020203" pitchFamily="34" charset="0"/>
                <a:ea typeface="Gadugi" panose="020B0502040204020203" pitchFamily="34" charset="0"/>
                <a:cs typeface="ADLaM Display" panose="02010000000000000000" pitchFamily="2" charset="0"/>
              </a:rPr>
              <a:t>Engram</a:t>
            </a:r>
          </a:p>
          <a:p>
            <a:pPr marL="0" marR="0" lvl="0" indent="0" algn="l" defTabSz="914400" rtl="0" eaLnBrk="1" fontAlgn="auto" latinLnBrk="0" hangingPunct="1">
              <a:lnSpc>
                <a:spcPts val="1400"/>
              </a:lnSpc>
              <a:spcBef>
                <a:spcPts val="0"/>
              </a:spcBef>
              <a:spcAft>
                <a:spcPts val="0"/>
              </a:spcAft>
              <a:buClrTx/>
              <a:buSzTx/>
              <a:buFontTx/>
              <a:buNone/>
              <a:tabLst/>
              <a:defRPr/>
            </a:pPr>
            <a:r>
              <a:rPr lang="en-US" altLang="zh-TW" sz="1000" b="1" dirty="0">
                <a:solidFill>
                  <a:prstClr val="black">
                    <a:lumMod val="50000"/>
                    <a:lumOff val="50000"/>
                  </a:prstClr>
                </a:solidFill>
                <a:latin typeface="Gadugi" panose="020B0502040204020203" pitchFamily="34" charset="0"/>
                <a:ea typeface="Gadugi" panose="020B0502040204020203" pitchFamily="34" charset="0"/>
                <a:cs typeface="ADLaM Display" panose="02010000000000000000" pitchFamily="2" charset="0"/>
              </a:rPr>
              <a:t>Memory</a:t>
            </a:r>
            <a:endParaRPr kumimoji="0" lang="en-US" altLang="zh-TW" sz="1000" b="1" i="0" u="none" strike="noStrike" kern="1200" cap="none" spc="0" normalizeH="0" baseline="0" noProof="0" dirty="0">
              <a:ln>
                <a:noFill/>
              </a:ln>
              <a:solidFill>
                <a:prstClr val="black">
                  <a:lumMod val="50000"/>
                  <a:lumOff val="50000"/>
                </a:prstClr>
              </a:solidFill>
              <a:effectLst/>
              <a:uLnTx/>
              <a:uFillTx/>
              <a:latin typeface="Gadugi" panose="020B0502040204020203" pitchFamily="34" charset="0"/>
              <a:ea typeface="Gadugi" panose="020B0502040204020203" pitchFamily="34" charset="0"/>
              <a:cs typeface="ADLaM Display" panose="02010000000000000000" pitchFamily="2" charset="0"/>
            </a:endParaRPr>
          </a:p>
        </p:txBody>
      </p:sp>
      <p:sp>
        <p:nvSpPr>
          <p:cNvPr id="44" name="矩形: 圓角 43">
            <a:extLst>
              <a:ext uri="{FF2B5EF4-FFF2-40B4-BE49-F238E27FC236}">
                <a16:creationId xmlns:a16="http://schemas.microsoft.com/office/drawing/2014/main" id="{229ED7FB-E018-28E8-1D53-38224D99611A}"/>
              </a:ext>
            </a:extLst>
          </p:cNvPr>
          <p:cNvSpPr/>
          <p:nvPr/>
        </p:nvSpPr>
        <p:spPr>
          <a:xfrm>
            <a:off x="4122785" y="3403940"/>
            <a:ext cx="1008112" cy="1142915"/>
          </a:xfrm>
          <a:prstGeom prst="roundRect">
            <a:avLst>
              <a:gd name="adj" fmla="val 3585"/>
            </a:avLst>
          </a:prstGeom>
          <a:solidFill>
            <a:schemeClr val="bg1">
              <a:lumMod val="85000"/>
              <a:alpha val="60000"/>
            </a:schemeClr>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576" tIns="36576" rIns="0" bIns="0" rtlCol="0" anchor="t" anchorCtr="0"/>
          <a:lstStyle/>
          <a:p>
            <a:pPr marL="0" marR="0" lvl="0" indent="0" algn="l"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lumMod val="50000"/>
                    <a:lumOff val="50000"/>
                  </a:prstClr>
                </a:solidFill>
                <a:effectLst/>
                <a:uLnTx/>
                <a:uFillTx/>
                <a:latin typeface="Gadugi" panose="020B0502040204020203" pitchFamily="34" charset="0"/>
                <a:ea typeface="Gadugi" panose="020B0502040204020203" pitchFamily="34" charset="0"/>
                <a:cs typeface="ADLaM Display" panose="02010000000000000000" pitchFamily="2" charset="0"/>
              </a:rPr>
              <a:t>Hybrid</a:t>
            </a:r>
          </a:p>
          <a:p>
            <a:pPr marL="0" marR="0" lvl="0" indent="0" algn="l"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lumMod val="50000"/>
                    <a:lumOff val="50000"/>
                  </a:prstClr>
                </a:solidFill>
                <a:effectLst/>
                <a:uLnTx/>
                <a:uFillTx/>
                <a:latin typeface="Gadugi" panose="020B0502040204020203" pitchFamily="34" charset="0"/>
                <a:ea typeface="Gadugi" panose="020B0502040204020203" pitchFamily="34" charset="0"/>
                <a:cs typeface="ADLaM Display" panose="02010000000000000000" pitchFamily="2" charset="0"/>
              </a:rPr>
              <a:t>Attention</a:t>
            </a:r>
          </a:p>
        </p:txBody>
      </p:sp>
      <p:sp>
        <p:nvSpPr>
          <p:cNvPr id="59" name="矩形: 圓角 58">
            <a:extLst>
              <a:ext uri="{FF2B5EF4-FFF2-40B4-BE49-F238E27FC236}">
                <a16:creationId xmlns:a16="http://schemas.microsoft.com/office/drawing/2014/main" id="{D4492F42-9A48-7559-B09C-CD68BBB98673}"/>
              </a:ext>
            </a:extLst>
          </p:cNvPr>
          <p:cNvSpPr/>
          <p:nvPr/>
        </p:nvSpPr>
        <p:spPr>
          <a:xfrm>
            <a:off x="2963906" y="3396449"/>
            <a:ext cx="1085551" cy="416508"/>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HCA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Heavily Compressed</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1" name="矩形: 圓角 60">
            <a:extLst>
              <a:ext uri="{FF2B5EF4-FFF2-40B4-BE49-F238E27FC236}">
                <a16:creationId xmlns:a16="http://schemas.microsoft.com/office/drawing/2014/main" id="{E0FE9C50-9ED4-EEF1-DB11-313983973D80}"/>
              </a:ext>
            </a:extLst>
          </p:cNvPr>
          <p:cNvSpPr/>
          <p:nvPr/>
        </p:nvSpPr>
        <p:spPr>
          <a:xfrm>
            <a:off x="2963907" y="3838128"/>
            <a:ext cx="1085551" cy="416508"/>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CSA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Compressed Sparse</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3" name="矩形: 圓角 62">
            <a:extLst>
              <a:ext uri="{FF2B5EF4-FFF2-40B4-BE49-F238E27FC236}">
                <a16:creationId xmlns:a16="http://schemas.microsoft.com/office/drawing/2014/main" id="{D1CFA22C-FC0A-8BFB-7CFC-89120D4B60FA}"/>
              </a:ext>
            </a:extLst>
          </p:cNvPr>
          <p:cNvSpPr/>
          <p:nvPr/>
        </p:nvSpPr>
        <p:spPr>
          <a:xfrm>
            <a:off x="2963907" y="4279807"/>
            <a:ext cx="1085551" cy="416508"/>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SWA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Sliding Window</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5" name="矩形: 圓角 64">
            <a:extLst>
              <a:ext uri="{FF2B5EF4-FFF2-40B4-BE49-F238E27FC236}">
                <a16:creationId xmlns:a16="http://schemas.microsoft.com/office/drawing/2014/main" id="{4D656499-B9B9-165F-E9C0-82F2383D8243}"/>
              </a:ext>
            </a:extLst>
          </p:cNvPr>
          <p:cNvSpPr/>
          <p:nvPr/>
        </p:nvSpPr>
        <p:spPr>
          <a:xfrm>
            <a:off x="6218897" y="2186737"/>
            <a:ext cx="1085551" cy="416508"/>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SLUI</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Heavily Compressed</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7" name="矩形: 圓角 66">
            <a:extLst>
              <a:ext uri="{FF2B5EF4-FFF2-40B4-BE49-F238E27FC236}">
                <a16:creationId xmlns:a16="http://schemas.microsoft.com/office/drawing/2014/main" id="{0062D4B4-5B11-01B8-0A56-9256045910D7}"/>
              </a:ext>
            </a:extLst>
          </p:cNvPr>
          <p:cNvSpPr/>
          <p:nvPr/>
        </p:nvSpPr>
        <p:spPr>
          <a:xfrm>
            <a:off x="6516216" y="5083323"/>
            <a:ext cx="1085551" cy="416508"/>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CSA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Compressed Sparse</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9" name="矩形: 圓角 68">
            <a:extLst>
              <a:ext uri="{FF2B5EF4-FFF2-40B4-BE49-F238E27FC236}">
                <a16:creationId xmlns:a16="http://schemas.microsoft.com/office/drawing/2014/main" id="{9FC8BB49-1875-29AD-E3DB-F0F13915E38B}"/>
              </a:ext>
            </a:extLst>
          </p:cNvPr>
          <p:cNvSpPr/>
          <p:nvPr/>
        </p:nvSpPr>
        <p:spPr>
          <a:xfrm>
            <a:off x="6516216" y="5525002"/>
            <a:ext cx="1085551" cy="416508"/>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SWA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Sliding Window</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2" name="矩形: 圓角 1">
            <a:extLst>
              <a:ext uri="{FF2B5EF4-FFF2-40B4-BE49-F238E27FC236}">
                <a16:creationId xmlns:a16="http://schemas.microsoft.com/office/drawing/2014/main" id="{9E34D9C9-7AF3-64E8-B6D4-198AFA476069}"/>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4" name="矩形: 圓角 3">
            <a:extLst>
              <a:ext uri="{FF2B5EF4-FFF2-40B4-BE49-F238E27FC236}">
                <a16:creationId xmlns:a16="http://schemas.microsoft.com/office/drawing/2014/main" id="{7EFE7C6C-3BA3-27DD-300E-DA8C0A20DC7A}"/>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7" name="文字方塊 6">
            <a:extLst>
              <a:ext uri="{FF2B5EF4-FFF2-40B4-BE49-F238E27FC236}">
                <a16:creationId xmlns:a16="http://schemas.microsoft.com/office/drawing/2014/main" id="{3AA1FBC2-4C5D-A7B2-547E-ABD5383F7A9E}"/>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DS</a:t>
            </a:r>
          </a:p>
          <a:p>
            <a:pPr>
              <a:lnSpc>
                <a:spcPts val="1400"/>
              </a:lnSpc>
              <a:buNone/>
            </a:pPr>
            <a:r>
              <a:rPr lang="en-US" altLang="zh-TW" sz="10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Engram</a:t>
            </a:r>
          </a:p>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Memory</a:t>
            </a:r>
          </a:p>
        </p:txBody>
      </p:sp>
      <p:sp>
        <p:nvSpPr>
          <p:cNvPr id="9" name="文字方塊 8">
            <a:extLst>
              <a:ext uri="{FF2B5EF4-FFF2-40B4-BE49-F238E27FC236}">
                <a16:creationId xmlns:a16="http://schemas.microsoft.com/office/drawing/2014/main" id="{354432FE-9D7B-376D-0444-6C59BF1FD1A3}"/>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Hybrid Attention</a:t>
            </a:r>
          </a:p>
        </p:txBody>
      </p:sp>
      <p:cxnSp>
        <p:nvCxnSpPr>
          <p:cNvPr id="11" name="直線單箭頭接點 10">
            <a:extLst>
              <a:ext uri="{FF2B5EF4-FFF2-40B4-BE49-F238E27FC236}">
                <a16:creationId xmlns:a16="http://schemas.microsoft.com/office/drawing/2014/main" id="{F48A2720-B141-FB41-BD97-3F355EAE3956}"/>
              </a:ext>
            </a:extLst>
          </p:cNvPr>
          <p:cNvCxnSpPr>
            <a:cxnSpLocks/>
            <a:endCxn id="15"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 name="矩形: 圓角 11">
            <a:extLst>
              <a:ext uri="{FF2B5EF4-FFF2-40B4-BE49-F238E27FC236}">
                <a16:creationId xmlns:a16="http://schemas.microsoft.com/office/drawing/2014/main" id="{2A274430-BA32-BDBA-A446-8671AC7B71EA}"/>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3" name="直線單箭頭接點 12">
            <a:extLst>
              <a:ext uri="{FF2B5EF4-FFF2-40B4-BE49-F238E27FC236}">
                <a16:creationId xmlns:a16="http://schemas.microsoft.com/office/drawing/2014/main" id="{FC3B1CE7-C165-5379-2ED8-9927C6396A9B}"/>
              </a:ext>
            </a:extLst>
          </p:cNvPr>
          <p:cNvCxnSpPr>
            <a:cxnSpLocks/>
            <a:stCxn id="4" idx="0"/>
            <a:endCxn id="12"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4" name="矩形 13">
            <a:extLst>
              <a:ext uri="{FF2B5EF4-FFF2-40B4-BE49-F238E27FC236}">
                <a16:creationId xmlns:a16="http://schemas.microsoft.com/office/drawing/2014/main" id="{AFA516C7-44C4-1332-E4AD-0CA52CC66035}"/>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5" name="矩形: 圓角 14">
            <a:extLst>
              <a:ext uri="{FF2B5EF4-FFF2-40B4-BE49-F238E27FC236}">
                <a16:creationId xmlns:a16="http://schemas.microsoft.com/office/drawing/2014/main" id="{2335679A-9B2B-8055-0E8E-46782CEE3A87}"/>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 name="矩形: 圓角 17">
            <a:extLst>
              <a:ext uri="{FF2B5EF4-FFF2-40B4-BE49-F238E27FC236}">
                <a16:creationId xmlns:a16="http://schemas.microsoft.com/office/drawing/2014/main" id="{29EC67BF-89F1-105F-3B8B-A551D25FD336}"/>
              </a:ext>
            </a:extLst>
          </p:cNvPr>
          <p:cNvSpPr/>
          <p:nvPr/>
        </p:nvSpPr>
        <p:spPr>
          <a:xfrm>
            <a:off x="607229" y="3161588"/>
            <a:ext cx="936104" cy="403955"/>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9" name="矩形 18">
            <a:extLst>
              <a:ext uri="{FF2B5EF4-FFF2-40B4-BE49-F238E27FC236}">
                <a16:creationId xmlns:a16="http://schemas.microsoft.com/office/drawing/2014/main" id="{90C2D88B-3674-95E2-8F7F-233223E9E978}"/>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21" name="矩形: 圓角 20">
            <a:extLst>
              <a:ext uri="{FF2B5EF4-FFF2-40B4-BE49-F238E27FC236}">
                <a16:creationId xmlns:a16="http://schemas.microsoft.com/office/drawing/2014/main" id="{1716F293-6CBB-7C5E-E9EC-7BA318FFE883}"/>
              </a:ext>
            </a:extLst>
          </p:cNvPr>
          <p:cNvSpPr/>
          <p:nvPr/>
        </p:nvSpPr>
        <p:spPr>
          <a:xfrm>
            <a:off x="603062" y="258056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spTree>
    <p:extLst>
      <p:ext uri="{BB962C8B-B14F-4D97-AF65-F5344CB8AC3E}">
        <p14:creationId xmlns:p14="http://schemas.microsoft.com/office/powerpoint/2010/main" val="338694157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 name="矩形 55">
            <a:extLst>
              <a:ext uri="{FF2B5EF4-FFF2-40B4-BE49-F238E27FC236}">
                <a16:creationId xmlns:a16="http://schemas.microsoft.com/office/drawing/2014/main" id="{BB38A453-3D28-0325-2F31-2B4E4DAB387B}"/>
              </a:ext>
            </a:extLst>
          </p:cNvPr>
          <p:cNvSpPr/>
          <p:nvPr/>
        </p:nvSpPr>
        <p:spPr>
          <a:xfrm>
            <a:off x="1979712" y="5085185"/>
            <a:ext cx="465295" cy="825514"/>
          </a:xfrm>
          <a:prstGeom prst="rect">
            <a:avLst/>
          </a:prstGeom>
          <a:solidFill>
            <a:schemeClr val="bg1"/>
          </a:solidFill>
          <a:ln w="38100">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b="1" dirty="0">
                <a:solidFill>
                  <a:schemeClr val="bg1">
                    <a:lumMod val="75000"/>
                  </a:schemeClr>
                </a:solidFill>
                <a:ea typeface="微軟正黑體" panose="020B0604030504040204" pitchFamily="34" charset="-120"/>
              </a:rPr>
              <a:t>X</a:t>
            </a:r>
          </a:p>
        </p:txBody>
      </p:sp>
      <p:sp>
        <p:nvSpPr>
          <p:cNvPr id="2" name="矩形 1">
            <a:extLst>
              <a:ext uri="{FF2B5EF4-FFF2-40B4-BE49-F238E27FC236}">
                <a16:creationId xmlns:a16="http://schemas.microsoft.com/office/drawing/2014/main" id="{F8A10819-F5AF-ACA1-0022-E7314F64193D}"/>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3" name="矩形 2">
            <a:extLst>
              <a:ext uri="{FF2B5EF4-FFF2-40B4-BE49-F238E27FC236}">
                <a16:creationId xmlns:a16="http://schemas.microsoft.com/office/drawing/2014/main" id="{A7D842CA-B031-7BC9-9D27-3CEA5E3F9AA7}"/>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4" name="矩形 3">
            <a:extLst>
              <a:ext uri="{FF2B5EF4-FFF2-40B4-BE49-F238E27FC236}">
                <a16:creationId xmlns:a16="http://schemas.microsoft.com/office/drawing/2014/main" id="{D0BFBC04-025D-8C73-BE49-A627F4466BCB}"/>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5" name="文字方塊 4">
            <a:extLst>
              <a:ext uri="{FF2B5EF4-FFF2-40B4-BE49-F238E27FC236}">
                <a16:creationId xmlns:a16="http://schemas.microsoft.com/office/drawing/2014/main" id="{2CC5FF0F-E658-B872-6D5E-F29F0993AFDD}"/>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 name="矩形 5">
            <a:extLst>
              <a:ext uri="{FF2B5EF4-FFF2-40B4-BE49-F238E27FC236}">
                <a16:creationId xmlns:a16="http://schemas.microsoft.com/office/drawing/2014/main" id="{ABEE450B-382F-9ADE-4AEA-42F8E753641D}"/>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7" name="文字方塊 6">
            <a:extLst>
              <a:ext uri="{FF2B5EF4-FFF2-40B4-BE49-F238E27FC236}">
                <a16:creationId xmlns:a16="http://schemas.microsoft.com/office/drawing/2014/main" id="{7B124EE1-6EDF-2A18-A848-F4B235E38A56}"/>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8" name="矩形 7">
            <a:extLst>
              <a:ext uri="{FF2B5EF4-FFF2-40B4-BE49-F238E27FC236}">
                <a16:creationId xmlns:a16="http://schemas.microsoft.com/office/drawing/2014/main" id="{65A40987-9A4B-9628-363E-E43C9DF051DE}"/>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9" name="文字方塊 8">
            <a:extLst>
              <a:ext uri="{FF2B5EF4-FFF2-40B4-BE49-F238E27FC236}">
                <a16:creationId xmlns:a16="http://schemas.microsoft.com/office/drawing/2014/main" id="{726627E9-00F3-15C7-EF11-3FD71F12CF73}"/>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0" name="矩形 9">
            <a:extLst>
              <a:ext uri="{FF2B5EF4-FFF2-40B4-BE49-F238E27FC236}">
                <a16:creationId xmlns:a16="http://schemas.microsoft.com/office/drawing/2014/main" id="{6CD0255E-B788-5AB2-2870-9E64450DC63E}"/>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11" name="文字方塊 10">
            <a:extLst>
              <a:ext uri="{FF2B5EF4-FFF2-40B4-BE49-F238E27FC236}">
                <a16:creationId xmlns:a16="http://schemas.microsoft.com/office/drawing/2014/main" id="{72F722C5-137F-FBAD-F834-8D6A708F8BA7}"/>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graphicFrame>
        <p:nvGraphicFramePr>
          <p:cNvPr id="12" name="表格 11">
            <a:extLst>
              <a:ext uri="{FF2B5EF4-FFF2-40B4-BE49-F238E27FC236}">
                <a16:creationId xmlns:a16="http://schemas.microsoft.com/office/drawing/2014/main" id="{B6FA776E-1819-3370-4A74-9F50E3812556}"/>
              </a:ext>
            </a:extLst>
          </p:cNvPr>
          <p:cNvGraphicFramePr>
            <a:graphicFrameLocks noGrp="1"/>
          </p:cNvGraphicFramePr>
          <p:nvPr>
            <p:extLst>
              <p:ext uri="{D42A27DB-BD31-4B8C-83A1-F6EECF244321}">
                <p14:modId xmlns:p14="http://schemas.microsoft.com/office/powerpoint/2010/main" val="67680698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3" name="接點: 肘形 12">
            <a:extLst>
              <a:ext uri="{FF2B5EF4-FFF2-40B4-BE49-F238E27FC236}">
                <a16:creationId xmlns:a16="http://schemas.microsoft.com/office/drawing/2014/main" id="{60F43318-2182-1CD4-9726-499CB69A803D}"/>
              </a:ext>
            </a:extLst>
          </p:cNvPr>
          <p:cNvCxnSpPr>
            <a:cxnSpLocks/>
            <a:endCxn id="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接點: 弧形 13">
            <a:extLst>
              <a:ext uri="{FF2B5EF4-FFF2-40B4-BE49-F238E27FC236}">
                <a16:creationId xmlns:a16="http://schemas.microsoft.com/office/drawing/2014/main" id="{8853950E-29C7-78C3-D378-6D0928B43713}"/>
              </a:ext>
            </a:extLst>
          </p:cNvPr>
          <p:cNvCxnSpPr>
            <a:cxnSpLocks/>
            <a:stCxn id="20" idx="2"/>
            <a:endCxn id="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5" name="接點: 弧形 14">
            <a:extLst>
              <a:ext uri="{FF2B5EF4-FFF2-40B4-BE49-F238E27FC236}">
                <a16:creationId xmlns:a16="http://schemas.microsoft.com/office/drawing/2014/main" id="{5710DACF-22E1-1B21-E4BE-C20EB2931F82}"/>
              </a:ext>
            </a:extLst>
          </p:cNvPr>
          <p:cNvCxnSpPr>
            <a:cxnSpLocks/>
            <a:stCxn id="20" idx="2"/>
            <a:endCxn id="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06562D03-BD19-56DC-1D5F-F830948D13D5}"/>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7" name="標題 1">
            <a:extLst>
              <a:ext uri="{FF2B5EF4-FFF2-40B4-BE49-F238E27FC236}">
                <a16:creationId xmlns:a16="http://schemas.microsoft.com/office/drawing/2014/main" id="{0C266A20-0E19-B9A0-E2FE-846970EAD969}"/>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8" name="文字方塊 17">
            <a:extLst>
              <a:ext uri="{FF2B5EF4-FFF2-40B4-BE49-F238E27FC236}">
                <a16:creationId xmlns:a16="http://schemas.microsoft.com/office/drawing/2014/main" id="{A0C37EF4-FA43-87A1-4753-71E61251FEE4}"/>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9" name="文字方塊 18">
            <a:extLst>
              <a:ext uri="{FF2B5EF4-FFF2-40B4-BE49-F238E27FC236}">
                <a16:creationId xmlns:a16="http://schemas.microsoft.com/office/drawing/2014/main" id="{27C4484E-373A-8FDF-9B40-2DC53B0A7E4E}"/>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20" name="文字方塊 19">
            <a:extLst>
              <a:ext uri="{FF2B5EF4-FFF2-40B4-BE49-F238E27FC236}">
                <a16:creationId xmlns:a16="http://schemas.microsoft.com/office/drawing/2014/main" id="{60CAF8F3-CCE3-B3DE-3877-42647427EB85}"/>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21" name="文字方塊 20">
            <a:extLst>
              <a:ext uri="{FF2B5EF4-FFF2-40B4-BE49-F238E27FC236}">
                <a16:creationId xmlns:a16="http://schemas.microsoft.com/office/drawing/2014/main" id="{99CEEB46-479A-2598-ADE5-FED8D570B687}"/>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22" name="文字方塊 21">
            <a:extLst>
              <a:ext uri="{FF2B5EF4-FFF2-40B4-BE49-F238E27FC236}">
                <a16:creationId xmlns:a16="http://schemas.microsoft.com/office/drawing/2014/main" id="{424D3889-6497-A3C9-E904-6EBA0EB3570F}"/>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23" name="文字方塊 22">
            <a:extLst>
              <a:ext uri="{FF2B5EF4-FFF2-40B4-BE49-F238E27FC236}">
                <a16:creationId xmlns:a16="http://schemas.microsoft.com/office/drawing/2014/main" id="{FC4F69D0-FA4F-C08C-F949-8F8E40C8E9C4}"/>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24" name="矩形 23">
            <a:extLst>
              <a:ext uri="{FF2B5EF4-FFF2-40B4-BE49-F238E27FC236}">
                <a16:creationId xmlns:a16="http://schemas.microsoft.com/office/drawing/2014/main" id="{723B206B-48AD-603F-CBBA-C1500D93B4EE}"/>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25" name="矩形 24">
            <a:extLst>
              <a:ext uri="{FF2B5EF4-FFF2-40B4-BE49-F238E27FC236}">
                <a16:creationId xmlns:a16="http://schemas.microsoft.com/office/drawing/2014/main" id="{E0EAB839-282D-1C77-20C5-298F58967F50}"/>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26" name="矩形 25">
            <a:extLst>
              <a:ext uri="{FF2B5EF4-FFF2-40B4-BE49-F238E27FC236}">
                <a16:creationId xmlns:a16="http://schemas.microsoft.com/office/drawing/2014/main" id="{60FA643A-0D8E-DD24-E66B-17638C4E908A}"/>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
        <p:nvSpPr>
          <p:cNvPr id="28" name="矩形 27">
            <a:extLst>
              <a:ext uri="{FF2B5EF4-FFF2-40B4-BE49-F238E27FC236}">
                <a16:creationId xmlns:a16="http://schemas.microsoft.com/office/drawing/2014/main" id="{8D681E31-3A79-48B0-2633-DB51B92F15F8}"/>
              </a:ext>
            </a:extLst>
          </p:cNvPr>
          <p:cNvSpPr/>
          <p:nvPr/>
        </p:nvSpPr>
        <p:spPr>
          <a:xfrm>
            <a:off x="2160291" y="3095083"/>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30" name="文字方塊 29">
            <a:extLst>
              <a:ext uri="{FF2B5EF4-FFF2-40B4-BE49-F238E27FC236}">
                <a16:creationId xmlns:a16="http://schemas.microsoft.com/office/drawing/2014/main" id="{1A888E01-DD7E-A6C8-8231-EBAABF1F15C4}"/>
              </a:ext>
            </a:extLst>
          </p:cNvPr>
          <p:cNvSpPr txBox="1"/>
          <p:nvPr/>
        </p:nvSpPr>
        <p:spPr>
          <a:xfrm>
            <a:off x="2476661" y="5757472"/>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32" name="矩形 31">
            <a:extLst>
              <a:ext uri="{FF2B5EF4-FFF2-40B4-BE49-F238E27FC236}">
                <a16:creationId xmlns:a16="http://schemas.microsoft.com/office/drawing/2014/main" id="{E1B7B873-7BC8-7C09-C2E3-FD22BB5D6199}"/>
              </a:ext>
            </a:extLst>
          </p:cNvPr>
          <p:cNvSpPr/>
          <p:nvPr/>
        </p:nvSpPr>
        <p:spPr>
          <a:xfrm>
            <a:off x="4139952" y="5781516"/>
            <a:ext cx="237234" cy="104777"/>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6</a:t>
            </a:r>
          </a:p>
        </p:txBody>
      </p:sp>
      <p:sp>
        <p:nvSpPr>
          <p:cNvPr id="36" name="文字方塊 35">
            <a:extLst>
              <a:ext uri="{FF2B5EF4-FFF2-40B4-BE49-F238E27FC236}">
                <a16:creationId xmlns:a16="http://schemas.microsoft.com/office/drawing/2014/main" id="{5A358190-96BD-1746-3803-B26C763BE1EF}"/>
              </a:ext>
            </a:extLst>
          </p:cNvPr>
          <p:cNvSpPr txBox="1"/>
          <p:nvPr/>
        </p:nvSpPr>
        <p:spPr>
          <a:xfrm>
            <a:off x="3289568" y="591041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1x16</a:t>
            </a:r>
          </a:p>
        </p:txBody>
      </p:sp>
      <p:sp>
        <p:nvSpPr>
          <p:cNvPr id="38" name="矩形 37">
            <a:extLst>
              <a:ext uri="{FF2B5EF4-FFF2-40B4-BE49-F238E27FC236}">
                <a16:creationId xmlns:a16="http://schemas.microsoft.com/office/drawing/2014/main" id="{297D67DD-DCF9-BEA0-4C40-CA834955B86E}"/>
              </a:ext>
            </a:extLst>
          </p:cNvPr>
          <p:cNvSpPr/>
          <p:nvPr/>
        </p:nvSpPr>
        <p:spPr>
          <a:xfrm>
            <a:off x="5146979" y="5517232"/>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40" name="文字方塊 39">
            <a:extLst>
              <a:ext uri="{FF2B5EF4-FFF2-40B4-BE49-F238E27FC236}">
                <a16:creationId xmlns:a16="http://schemas.microsoft.com/office/drawing/2014/main" id="{90D8FB53-3346-EE84-CDD8-2102CB97751D}"/>
              </a:ext>
            </a:extLst>
          </p:cNvPr>
          <p:cNvSpPr txBox="1"/>
          <p:nvPr/>
        </p:nvSpPr>
        <p:spPr>
          <a:xfrm>
            <a:off x="3618690" y="5612769"/>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42" name="文字方塊 41">
            <a:extLst>
              <a:ext uri="{FF2B5EF4-FFF2-40B4-BE49-F238E27FC236}">
                <a16:creationId xmlns:a16="http://schemas.microsoft.com/office/drawing/2014/main" id="{A8E2AD79-66FB-7241-A632-4BF58E4069B3}"/>
              </a:ext>
            </a:extLst>
          </p:cNvPr>
          <p:cNvSpPr txBox="1"/>
          <p:nvPr/>
        </p:nvSpPr>
        <p:spPr>
          <a:xfrm>
            <a:off x="2895777" y="569002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4" name="文字方塊 43">
            <a:extLst>
              <a:ext uri="{FF2B5EF4-FFF2-40B4-BE49-F238E27FC236}">
                <a16:creationId xmlns:a16="http://schemas.microsoft.com/office/drawing/2014/main" id="{D72E37A8-84E7-DA88-23B7-7C4800E673E3}"/>
              </a:ext>
            </a:extLst>
          </p:cNvPr>
          <p:cNvSpPr txBox="1"/>
          <p:nvPr/>
        </p:nvSpPr>
        <p:spPr>
          <a:xfrm>
            <a:off x="3696060" y="5718530"/>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6" name="文字方塊 45">
            <a:extLst>
              <a:ext uri="{FF2B5EF4-FFF2-40B4-BE49-F238E27FC236}">
                <a16:creationId xmlns:a16="http://schemas.microsoft.com/office/drawing/2014/main" id="{F021E952-3992-6F26-26E6-87AF63CCDDDC}"/>
              </a:ext>
            </a:extLst>
          </p:cNvPr>
          <p:cNvSpPr txBox="1"/>
          <p:nvPr/>
        </p:nvSpPr>
        <p:spPr>
          <a:xfrm>
            <a:off x="5085889" y="608384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48" name="文字方塊 47">
            <a:extLst>
              <a:ext uri="{FF2B5EF4-FFF2-40B4-BE49-F238E27FC236}">
                <a16:creationId xmlns:a16="http://schemas.microsoft.com/office/drawing/2014/main" id="{3744CD2F-0C22-6181-013E-4B5BB6DE0153}"/>
              </a:ext>
            </a:extLst>
          </p:cNvPr>
          <p:cNvSpPr txBox="1"/>
          <p:nvPr/>
        </p:nvSpPr>
        <p:spPr>
          <a:xfrm>
            <a:off x="2621457" y="609357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50" name="文字方塊 49">
            <a:extLst>
              <a:ext uri="{FF2B5EF4-FFF2-40B4-BE49-F238E27FC236}">
                <a16:creationId xmlns:a16="http://schemas.microsoft.com/office/drawing/2014/main" id="{E965FDCB-3A4F-B67B-0CFF-2F6FA8F81773}"/>
              </a:ext>
            </a:extLst>
          </p:cNvPr>
          <p:cNvSpPr txBox="1"/>
          <p:nvPr/>
        </p:nvSpPr>
        <p:spPr>
          <a:xfrm>
            <a:off x="2070980" y="591069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1xd</a:t>
            </a:r>
          </a:p>
        </p:txBody>
      </p:sp>
      <p:sp>
        <p:nvSpPr>
          <p:cNvPr id="52" name="文字方塊 51">
            <a:extLst>
              <a:ext uri="{FF2B5EF4-FFF2-40B4-BE49-F238E27FC236}">
                <a16:creationId xmlns:a16="http://schemas.microsoft.com/office/drawing/2014/main" id="{53085541-C475-E98B-10E6-F268F9B380F4}"/>
              </a:ext>
            </a:extLst>
          </p:cNvPr>
          <p:cNvSpPr txBox="1"/>
          <p:nvPr/>
        </p:nvSpPr>
        <p:spPr>
          <a:xfrm>
            <a:off x="2903792" y="5644960"/>
            <a:ext cx="382683" cy="145147"/>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54" name="矩形 53">
            <a:extLst>
              <a:ext uri="{FF2B5EF4-FFF2-40B4-BE49-F238E27FC236}">
                <a16:creationId xmlns:a16="http://schemas.microsoft.com/office/drawing/2014/main" id="{11238E18-5895-CBBF-2FBB-758622E96283}"/>
              </a:ext>
            </a:extLst>
          </p:cNvPr>
          <p:cNvSpPr/>
          <p:nvPr/>
        </p:nvSpPr>
        <p:spPr>
          <a:xfrm>
            <a:off x="2627783" y="5617141"/>
            <a:ext cx="222611" cy="467344"/>
          </a:xfrm>
          <a:prstGeom prst="rect">
            <a:avLst/>
          </a:prstGeom>
          <a:solidFill>
            <a:schemeClr val="accent6">
              <a:lumMod val="40000"/>
              <a:lumOff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34" name="矩形 33">
            <a:extLst>
              <a:ext uri="{FF2B5EF4-FFF2-40B4-BE49-F238E27FC236}">
                <a16:creationId xmlns:a16="http://schemas.microsoft.com/office/drawing/2014/main" id="{F0AF7A70-8CC9-C125-C92A-7461F4875FE6}"/>
              </a:ext>
            </a:extLst>
          </p:cNvPr>
          <p:cNvSpPr/>
          <p:nvPr/>
        </p:nvSpPr>
        <p:spPr>
          <a:xfrm>
            <a:off x="1979712" y="5780347"/>
            <a:ext cx="466030" cy="121967"/>
          </a:xfrm>
          <a:prstGeom prst="rect">
            <a:avLst/>
          </a:prstGeom>
          <a:solidFill>
            <a:schemeClr val="accent2">
              <a:lumMod val="75000"/>
              <a:alpha val="20000"/>
            </a:schemeClr>
          </a:solidFill>
          <a:ln w="25400">
            <a:solidFill>
              <a:schemeClr val="accent2">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58" name="矩形 57">
            <a:extLst>
              <a:ext uri="{FF2B5EF4-FFF2-40B4-BE49-F238E27FC236}">
                <a16:creationId xmlns:a16="http://schemas.microsoft.com/office/drawing/2014/main" id="{8815CA8D-7E68-95A6-276F-62636D2BC7EE}"/>
              </a:ext>
            </a:extLst>
          </p:cNvPr>
          <p:cNvSpPr/>
          <p:nvPr/>
        </p:nvSpPr>
        <p:spPr>
          <a:xfrm>
            <a:off x="3318052" y="5784269"/>
            <a:ext cx="215174" cy="104777"/>
          </a:xfrm>
          <a:prstGeom prst="rect">
            <a:avLst/>
          </a:prstGeom>
          <a:solidFill>
            <a:schemeClr val="accent6">
              <a:lumMod val="75000"/>
              <a:alpha val="20000"/>
            </a:schemeClr>
          </a:solidFill>
          <a:ln w="38100">
            <a:solidFill>
              <a:schemeClr val="accent2">
                <a:lumMod val="60000"/>
                <a:lumOff val="4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S</a:t>
            </a:r>
          </a:p>
        </p:txBody>
      </p:sp>
    </p:spTree>
    <p:extLst>
      <p:ext uri="{BB962C8B-B14F-4D97-AF65-F5344CB8AC3E}">
        <p14:creationId xmlns:p14="http://schemas.microsoft.com/office/powerpoint/2010/main" val="1856445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FF128-321E-5C30-B370-FCDDA7245B18}"/>
            </a:ext>
          </a:extLst>
        </p:cNvPr>
        <p:cNvGrpSpPr/>
        <p:nvPr/>
      </p:nvGrpSpPr>
      <p:grpSpPr>
        <a:xfrm>
          <a:off x="0" y="0"/>
          <a:ext cx="0" cy="0"/>
          <a:chOff x="0" y="0"/>
          <a:chExt cx="0" cy="0"/>
        </a:xfrm>
      </p:grpSpPr>
      <p:sp>
        <p:nvSpPr>
          <p:cNvPr id="170" name="矩形: 圓角 169">
            <a:extLst>
              <a:ext uri="{FF2B5EF4-FFF2-40B4-BE49-F238E27FC236}">
                <a16:creationId xmlns:a16="http://schemas.microsoft.com/office/drawing/2014/main" id="{585A6862-1BD1-5468-95ED-66DAAA0CADEA}"/>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2900FC30-DA63-EEEA-6468-DCABA47C35C3}"/>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EE036A56-D3B9-BA00-1B5F-933BBC025591}"/>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0287AC9D-CF1C-E982-7DA3-0EB24C210137}"/>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8916746C-AE20-3DA7-4C4C-C15F24F24A4A}"/>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725C0A5E-FC09-98EE-5215-72074A893203}"/>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9" name="矩形: 圓角 18">
            <a:extLst>
              <a:ext uri="{FF2B5EF4-FFF2-40B4-BE49-F238E27FC236}">
                <a16:creationId xmlns:a16="http://schemas.microsoft.com/office/drawing/2014/main" id="{55591602-8B8C-3AFE-5774-030C5AD14364}"/>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99748040-B74F-8C9F-410D-0764CB965FC2}"/>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3C2E7FC2-3F14-86EB-B361-B54E5E74D9C7}"/>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MLA</a:t>
            </a:r>
          </a:p>
        </p:txBody>
      </p:sp>
      <p:cxnSp>
        <p:nvCxnSpPr>
          <p:cNvPr id="23" name="直線單箭頭接點 22">
            <a:extLst>
              <a:ext uri="{FF2B5EF4-FFF2-40B4-BE49-F238E27FC236}">
                <a16:creationId xmlns:a16="http://schemas.microsoft.com/office/drawing/2014/main" id="{67490BC5-9494-E8A8-3D36-562B7338B61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56BD2F7A-E8BC-F753-6C1E-D153DC182D32}"/>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A37680C0-5523-DB1C-FF62-260EC8CBC5E0}"/>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D06E7E9A-D338-F203-F404-0131A070A6E9}"/>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B0184A23-3710-2816-6164-DC3354C2C1B0}"/>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235F7005-FAD9-D837-ADA8-DB421911E493}"/>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AB879A8F-CA3C-305E-BF3E-1D73137507F2}"/>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944BDAFC-3502-CB3C-E397-50F635AD29C7}"/>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90E5853-F222-0C2E-0BC5-C35D97B16DB2}"/>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E73A6B5A-070E-6C48-0415-D8D3A0D060B6}"/>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7EC2506-3B10-D847-4047-DEF10FA85863}"/>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75C33A86-7837-D2CC-E40E-046EBDE4827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CA4082C9-E5D4-F3F8-A7C6-7D94C97CD7E2}"/>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09220340-997F-BCEB-F888-401078B5233C}"/>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1813AF4A-7BA8-2782-BAF6-8C906B25ADA3}"/>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B978F426-9B27-D209-12A2-7244731E3E8C}"/>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54D9FE03-DA3A-7B22-12C0-F0CF495AAF72}"/>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C855BB6E-A7CA-F9A6-3804-2D03A63331BF}"/>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8341776D-C4B2-FB24-47F8-AEDBFF6B8BAD}"/>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B127A9DD-8FE3-3E97-DC51-2017300EB766}"/>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E8236D44-E788-7884-CB7F-7964E41D58A7}"/>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B4CAB320-BDEC-C2AA-F436-9F1884A89520}"/>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22E3C78D-C200-3BD2-196E-72559D9427C4}"/>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1048</a:t>
            </a:r>
          </a:p>
        </p:txBody>
      </p:sp>
      <p:sp>
        <p:nvSpPr>
          <p:cNvPr id="179" name="矩形: 圓角 178">
            <a:extLst>
              <a:ext uri="{FF2B5EF4-FFF2-40B4-BE49-F238E27FC236}">
                <a16:creationId xmlns:a16="http://schemas.microsoft.com/office/drawing/2014/main" id="{63C06AC4-64D1-B55E-4148-67DB01FA1277}"/>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0819D04C-6608-2C50-F8C2-C455CE59B835}"/>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43" name="矩形: 圓角 242">
            <a:extLst>
              <a:ext uri="{FF2B5EF4-FFF2-40B4-BE49-F238E27FC236}">
                <a16:creationId xmlns:a16="http://schemas.microsoft.com/office/drawing/2014/main" id="{41BFEAF1-95B0-3550-8FEA-30B254B9284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273489FC-ECA0-0753-047B-79B4616DDCCC}"/>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8222C8ED-A1B0-C08B-2EB5-B84C32F06C26}"/>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291E65D5-EE8D-2E44-3AC5-2BFE5281B550}"/>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AB596806-C22D-1ADA-4139-8486A10BAD5D}"/>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A8387998-1975-8674-4EBF-72F297E07577}"/>
              </a:ext>
            </a:extLst>
          </p:cNvPr>
          <p:cNvCxnSpPr>
            <a:cxnSpLocks/>
            <a:stCxn id="247" idx="1"/>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C6307A26-F189-AB3D-6F74-783BF95C7F10}"/>
              </a:ext>
            </a:extLst>
          </p:cNvPr>
          <p:cNvCxnSpPr>
            <a:cxnSpLocks/>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4D35A4DB-5505-3BA7-AA9B-75F94A875DD7}"/>
              </a:ext>
            </a:extLst>
          </p:cNvPr>
          <p:cNvSpPr txBox="1"/>
          <p:nvPr/>
        </p:nvSpPr>
        <p:spPr>
          <a:xfrm>
            <a:off x="5652120" y="5069655"/>
            <a:ext cx="899391" cy="209704"/>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 Expert</a:t>
            </a:r>
          </a:p>
        </p:txBody>
      </p:sp>
      <p:sp>
        <p:nvSpPr>
          <p:cNvPr id="363" name="文字方塊 362">
            <a:extLst>
              <a:ext uri="{FF2B5EF4-FFF2-40B4-BE49-F238E27FC236}">
                <a16:creationId xmlns:a16="http://schemas.microsoft.com/office/drawing/2014/main" id="{893794DC-31E3-4257-E693-790683EF6BD3}"/>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379" name="矩形: 圓角 378">
            <a:extLst>
              <a:ext uri="{FF2B5EF4-FFF2-40B4-BE49-F238E27FC236}">
                <a16:creationId xmlns:a16="http://schemas.microsoft.com/office/drawing/2014/main" id="{5D7C8B80-BA46-4D8C-F02D-D045A0C5685D}"/>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F0E46714-1E9B-EC55-8158-5918CAAB137B}"/>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283B3667-663B-D000-4FC0-64C6452E2C4A}"/>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C152E6B8-B2A8-1458-4C5C-CB945E0D4F14}"/>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FEF4DBA8-8A61-29F3-F772-B9E20697288B}"/>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2CD424B4-D781-066A-AA82-5B1D7C17318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D620125A-2C57-6A0F-E0FD-4F9D30D787A7}"/>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217E2122-45A9-A144-4DC3-8F6B407AD7D6}"/>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93C22FB2-90C1-F53F-B011-B636863DE760}"/>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BEAB8542-2686-4514-E959-9EA174D19FBC}"/>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448" name="接點: 肘形 447">
            <a:extLst>
              <a:ext uri="{FF2B5EF4-FFF2-40B4-BE49-F238E27FC236}">
                <a16:creationId xmlns:a16="http://schemas.microsoft.com/office/drawing/2014/main" id="{86BDD8D5-6E1C-36F0-C470-332C3C95F5EA}"/>
              </a:ext>
            </a:extLst>
          </p:cNvPr>
          <p:cNvCxnSpPr>
            <a:cxnSpLocks/>
            <a:stCxn id="363" idx="3"/>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601CD636-6C2B-D4B4-38E8-3B3134827941}"/>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BA3675A3-5AB0-EB59-4310-B69F2FF8546E}"/>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7839B24F-E8C9-FA65-5AE0-8708806FC5CF}"/>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EC15D6B-8F12-7274-D8CA-BBA776A2A819}"/>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9CD13066-2E3A-1DE9-04D9-DE7950BD9F3B}"/>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00BD9021-2B8C-8502-E177-B440F5AB8AD1}"/>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98857429-EF92-0990-6978-5031DB735A89}"/>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FFB0C882-736B-3D0F-5CA2-57A6C262E225}"/>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右大括弧 5">
            <a:extLst>
              <a:ext uri="{FF2B5EF4-FFF2-40B4-BE49-F238E27FC236}">
                <a16:creationId xmlns:a16="http://schemas.microsoft.com/office/drawing/2014/main" id="{9A46D70C-1717-CAF4-6D18-D4C0564FAB2C}"/>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ACE49DA1-6208-1E69-1C0F-930C8428F673}"/>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
        <p:nvSpPr>
          <p:cNvPr id="8" name="標題 1">
            <a:extLst>
              <a:ext uri="{FF2B5EF4-FFF2-40B4-BE49-F238E27FC236}">
                <a16:creationId xmlns:a16="http://schemas.microsoft.com/office/drawing/2014/main" id="{0B62D1D7-7CA2-48B3-1C24-713F566C49BE}"/>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(Flash/Pro)</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 name="文字方塊 10">
            <a:extLst>
              <a:ext uri="{FF2B5EF4-FFF2-40B4-BE49-F238E27FC236}">
                <a16:creationId xmlns:a16="http://schemas.microsoft.com/office/drawing/2014/main" id="{950C84E0-E5F5-49C5-73CB-91FBAFA3FE1F}"/>
              </a:ext>
            </a:extLst>
          </p:cNvPr>
          <p:cNvSpPr txBox="1"/>
          <p:nvPr/>
        </p:nvSpPr>
        <p:spPr>
          <a:xfrm>
            <a:off x="5290094" y="5891739"/>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graphicFrame>
        <p:nvGraphicFramePr>
          <p:cNvPr id="13" name="表格 12">
            <a:extLst>
              <a:ext uri="{FF2B5EF4-FFF2-40B4-BE49-F238E27FC236}">
                <a16:creationId xmlns:a16="http://schemas.microsoft.com/office/drawing/2014/main" id="{59FD9172-2C29-6298-FF54-BEFC9E35BB57}"/>
              </a:ext>
            </a:extLst>
          </p:cNvPr>
          <p:cNvGraphicFramePr>
            <a:graphicFrameLocks noGrp="1"/>
          </p:cNvGraphicFramePr>
          <p:nvPr>
            <p:extLst>
              <p:ext uri="{D42A27DB-BD31-4B8C-83A1-F6EECF244321}">
                <p14:modId xmlns:p14="http://schemas.microsoft.com/office/powerpoint/2010/main" val="3033043750"/>
              </p:ext>
            </p:extLst>
          </p:nvPr>
        </p:nvGraphicFramePr>
        <p:xfrm>
          <a:off x="5663064" y="5883760"/>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sp>
        <p:nvSpPr>
          <p:cNvPr id="15" name="矩形 14">
            <a:extLst>
              <a:ext uri="{FF2B5EF4-FFF2-40B4-BE49-F238E27FC236}">
                <a16:creationId xmlns:a16="http://schemas.microsoft.com/office/drawing/2014/main" id="{4CCC2FF0-43AF-EF10-28C3-11AE9B336B2B}"/>
              </a:ext>
            </a:extLst>
          </p:cNvPr>
          <p:cNvSpPr/>
          <p:nvPr/>
        </p:nvSpPr>
        <p:spPr>
          <a:xfrm>
            <a:off x="5612935" y="5893917"/>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Tree>
    <p:extLst>
      <p:ext uri="{BB962C8B-B14F-4D97-AF65-F5344CB8AC3E}">
        <p14:creationId xmlns:p14="http://schemas.microsoft.com/office/powerpoint/2010/main" val="42760692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A6153A-3295-7DB2-C1BA-6B1E69F8BC78}"/>
            </a:ext>
          </a:extLst>
        </p:cNvPr>
        <p:cNvGrpSpPr/>
        <p:nvPr/>
      </p:nvGrpSpPr>
      <p:grpSpPr>
        <a:xfrm>
          <a:off x="0" y="0"/>
          <a:ext cx="0" cy="0"/>
          <a:chOff x="0" y="0"/>
          <a:chExt cx="0" cy="0"/>
        </a:xfrm>
      </p:grpSpPr>
      <p:sp>
        <p:nvSpPr>
          <p:cNvPr id="8" name="文字方塊 7">
            <a:extLst>
              <a:ext uri="{FF2B5EF4-FFF2-40B4-BE49-F238E27FC236}">
                <a16:creationId xmlns:a16="http://schemas.microsoft.com/office/drawing/2014/main" id="{71575A03-C679-3AD3-2F44-6BE10B57902E}"/>
              </a:ext>
            </a:extLst>
          </p:cNvPr>
          <p:cNvSpPr txBox="1"/>
          <p:nvPr/>
        </p:nvSpPr>
        <p:spPr>
          <a:xfrm>
            <a:off x="179510" y="1377042"/>
            <a:ext cx="7560841" cy="2477601"/>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Moonshot AI: </a:t>
            </a:r>
            <a:r>
              <a:rPr lang="en-US" altLang="zh-TW" sz="1600" dirty="0"/>
              <a:t>Founded in March 2023.</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spcAft>
                <a:spcPts val="600"/>
              </a:spcAft>
              <a:buFont typeface="Arial" panose="020B0604020202020204" pitchFamily="34" charset="0"/>
              <a:buChar char="•"/>
            </a:pPr>
            <a:r>
              <a:rPr lang="en-US" altLang="zh-TW" sz="1600" dirty="0"/>
              <a:t>Kimi delta attention (</a:t>
            </a:r>
            <a:r>
              <a:rPr lang="en-US" altLang="zh-TW" sz="1600" b="1" dirty="0">
                <a:solidFill>
                  <a:schemeClr val="accent6">
                    <a:lumMod val="75000"/>
                  </a:schemeClr>
                </a:solidFill>
              </a:rPr>
              <a:t>KDA</a:t>
            </a:r>
            <a:r>
              <a:rPr lang="en-US" altLang="zh-TW" sz="1600" dirty="0"/>
              <a:t>): </a:t>
            </a:r>
            <a:r>
              <a:rPr lang="zh-TW" altLang="en-US" sz="1600" dirty="0"/>
              <a:t>水平方向優化</a:t>
            </a:r>
            <a:r>
              <a:rPr lang="en-US" altLang="zh-TW" sz="1600" dirty="0"/>
              <a:t>(</a:t>
            </a:r>
            <a:r>
              <a:rPr lang="zh-TW" altLang="en-US" sz="1600" dirty="0"/>
              <a:t>序列長度</a:t>
            </a:r>
            <a:r>
              <a:rPr lang="en-US" altLang="zh-TW" sz="1600" dirty="0"/>
              <a:t>).</a:t>
            </a:r>
          </a:p>
          <a:p>
            <a:pPr marL="742950" lvl="1" indent="-285750">
              <a:lnSpc>
                <a:spcPts val="1800"/>
              </a:lnSpc>
              <a:spcBef>
                <a:spcPts val="600"/>
              </a:spcBef>
              <a:spcAft>
                <a:spcPts val="600"/>
              </a:spcAft>
              <a:buFont typeface="Arial" panose="020B0604020202020204" pitchFamily="34" charset="0"/>
              <a:buChar char="•"/>
            </a:pPr>
            <a:r>
              <a:rPr lang="en-US" altLang="zh-TW" sz="1600" dirty="0"/>
              <a:t>AttnRes reduces layers (</a:t>
            </a:r>
            <a:r>
              <a:rPr lang="en-US" altLang="zh-TW" sz="1600" b="1" dirty="0">
                <a:solidFill>
                  <a:schemeClr val="accent6">
                    <a:lumMod val="75000"/>
                  </a:schemeClr>
                </a:solidFill>
              </a:rPr>
              <a:t>AttnRes</a:t>
            </a:r>
            <a:r>
              <a:rPr lang="en-US" altLang="zh-TW" sz="1600" dirty="0"/>
              <a:t>): </a:t>
            </a:r>
            <a:r>
              <a:rPr lang="zh-TW" altLang="en-US" sz="1600" dirty="0"/>
              <a:t>垂直方向優化</a:t>
            </a:r>
            <a:r>
              <a:rPr lang="en-US" altLang="zh-TW" sz="1600" dirty="0"/>
              <a:t>(</a:t>
            </a:r>
            <a:r>
              <a:rPr lang="zh-TW" altLang="en-US" sz="1600" dirty="0"/>
              <a:t>模型深度</a:t>
            </a:r>
            <a:r>
              <a:rPr lang="en-US" altLang="zh-TW" sz="1600" dirty="0"/>
              <a:t>).</a:t>
            </a:r>
          </a:p>
          <a:p>
            <a:pPr marL="742950" lvl="1" indent="-285750">
              <a:lnSpc>
                <a:spcPts val="1800"/>
              </a:lnSpc>
              <a:spcBef>
                <a:spcPts val="600"/>
              </a:spcBef>
              <a:spcAft>
                <a:spcPts val="600"/>
              </a:spcAft>
              <a:buFont typeface="Arial" panose="020B0604020202020204" pitchFamily="34" charset="0"/>
              <a:buChar char="•"/>
            </a:pPr>
            <a:r>
              <a:rPr lang="en-US" altLang="zh-TW" sz="1600" dirty="0"/>
              <a:t>Stable Latent MoE: has</a:t>
            </a:r>
            <a:r>
              <a:rPr lang="zh-TW" altLang="en-US" sz="1600" dirty="0"/>
              <a:t> </a:t>
            </a:r>
            <a:r>
              <a:rPr lang="en-US" altLang="zh-TW" sz="1600" dirty="0"/>
              <a:t>2 shared, and 14 selected export from 896 fine-grained experts.</a:t>
            </a:r>
          </a:p>
        </p:txBody>
      </p:sp>
      <p:sp>
        <p:nvSpPr>
          <p:cNvPr id="5" name="標題 1">
            <a:extLst>
              <a:ext uri="{FF2B5EF4-FFF2-40B4-BE49-F238E27FC236}">
                <a16:creationId xmlns:a16="http://schemas.microsoft.com/office/drawing/2014/main" id="{9451D045-C073-695F-6BAB-9A162FB85C82}"/>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 K3 (2.8T)</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 frontier intelligence colossus specializing in lossless long-context memory and high-end autonomous agentic reasoning.</a:t>
            </a:r>
          </a:p>
        </p:txBody>
      </p:sp>
      <p:pic>
        <p:nvPicPr>
          <p:cNvPr id="31" name="圖片 30">
            <a:extLst>
              <a:ext uri="{FF2B5EF4-FFF2-40B4-BE49-F238E27FC236}">
                <a16:creationId xmlns:a16="http://schemas.microsoft.com/office/drawing/2014/main" id="{BB38B373-E827-B78E-6E07-1DF4B2799A74}"/>
              </a:ext>
            </a:extLst>
          </p:cNvPr>
          <p:cNvPicPr>
            <a:picLocks noChangeAspect="1"/>
          </p:cNvPicPr>
          <p:nvPr/>
        </p:nvPicPr>
        <p:blipFill>
          <a:blip r:embed="rId3"/>
          <a:stretch>
            <a:fillRect/>
          </a:stretch>
        </p:blipFill>
        <p:spPr>
          <a:xfrm>
            <a:off x="8406510" y="116632"/>
            <a:ext cx="552628" cy="548681"/>
          </a:xfrm>
          <a:prstGeom prst="rect">
            <a:avLst/>
          </a:prstGeom>
        </p:spPr>
      </p:pic>
      <p:sp>
        <p:nvSpPr>
          <p:cNvPr id="37" name="標題 1">
            <a:extLst>
              <a:ext uri="{FF2B5EF4-FFF2-40B4-BE49-F238E27FC236}">
                <a16:creationId xmlns:a16="http://schemas.microsoft.com/office/drawing/2014/main" id="{1926B4C0-13E0-523A-9940-67A0C3295914}"/>
              </a:ext>
            </a:extLst>
          </p:cNvPr>
          <p:cNvSpPr txBox="1">
            <a:spLocks/>
          </p:cNvSpPr>
          <p:nvPr/>
        </p:nvSpPr>
        <p:spPr>
          <a:xfrm>
            <a:off x="8312648" y="692696"/>
            <a:ext cx="740352" cy="42522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Moonshot</a:t>
            </a:r>
          </a:p>
          <a:p>
            <a:pPr algn="ctr"/>
            <a:r>
              <a:rPr lang="zh-TW" altLang="en-US"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月之暗面</a:t>
            </a:r>
            <a:endPar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Tree>
    <p:extLst>
      <p:ext uri="{BB962C8B-B14F-4D97-AF65-F5344CB8AC3E}">
        <p14:creationId xmlns:p14="http://schemas.microsoft.com/office/powerpoint/2010/main" val="320096866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8F6746-9142-1125-6596-6627093E8340}"/>
            </a:ext>
          </a:extLst>
        </p:cNvPr>
        <p:cNvGrpSpPr/>
        <p:nvPr/>
      </p:nvGrpSpPr>
      <p:grpSpPr>
        <a:xfrm>
          <a:off x="0" y="0"/>
          <a:ext cx="0" cy="0"/>
          <a:chOff x="0" y="0"/>
          <a:chExt cx="0" cy="0"/>
        </a:xfrm>
      </p:grpSpPr>
      <p:sp>
        <p:nvSpPr>
          <p:cNvPr id="454" name="矩形 453">
            <a:extLst>
              <a:ext uri="{FF2B5EF4-FFF2-40B4-BE49-F238E27FC236}">
                <a16:creationId xmlns:a16="http://schemas.microsoft.com/office/drawing/2014/main" id="{A53C3235-4FD1-1D38-82A6-F6BEDB811571}"/>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CBAE47A-1424-F040-2145-DC1D97F7D804}"/>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170" name="矩形: 圓角 169">
            <a:extLst>
              <a:ext uri="{FF2B5EF4-FFF2-40B4-BE49-F238E27FC236}">
                <a16:creationId xmlns:a16="http://schemas.microsoft.com/office/drawing/2014/main" id="{BE0A9E20-F836-F032-C9F1-D0C844445195}"/>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BC1948D7-B839-0028-27CE-1E2CF5281DD8}"/>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8729D631-BF91-8BC3-4BEA-1E529F12C632}"/>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C1B96EB9-3086-F91B-B6F4-AF62653FE4F5}"/>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F5B4EA22-18C0-D52E-F2FC-7D1EE09C7763}"/>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C440B47-022A-4F2E-ADB9-9E340AE7B99A}"/>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8DB9693A-E2A1-CCD2-2F2F-2065D8528EA2}"/>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Stable Latent MoE </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NVIDIA Latent MoE + Kimi Quantile Balancing</a:t>
            </a:r>
          </a:p>
        </p:txBody>
      </p:sp>
      <p:sp>
        <p:nvSpPr>
          <p:cNvPr id="19" name="矩形: 圓角 18">
            <a:extLst>
              <a:ext uri="{FF2B5EF4-FFF2-40B4-BE49-F238E27FC236}">
                <a16:creationId xmlns:a16="http://schemas.microsoft.com/office/drawing/2014/main" id="{7C5DF3DB-0A46-D193-F5D9-6C5336E76BA5}"/>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8CB62931-0116-4F8D-48BF-62F2DE049D2C}"/>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F9783ACE-7D1B-5C7C-1112-A1423E5FEFF2}"/>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8A882AA6-6867-F830-42C6-244BEB4AE9AF}"/>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5A324B73-A2B0-2068-6311-5BD0FDC1B00D}"/>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1BD8915E-AF1F-5982-35FD-A8CA9A3E8CDE}"/>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4A3F95B3-680D-D78C-8853-E6B590C190E6}"/>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E0551D9F-0AA6-4035-F927-8873E0FD90C7}"/>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7FE9C879-E200-EB5A-2CC2-69A71AB1713D}"/>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4CD21E97-532C-B0C9-5963-6BC07711A17A}"/>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A8972DAD-5FD1-C633-ACF7-462CB437C21A}"/>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BB162BC8-55DA-04F0-BAB2-1C519A2BAF87}"/>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5FC666CF-592D-7189-C114-4A4C013CBF6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5F702349-7BBE-30ED-CD8A-023983F6269E}"/>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A825FE45-C6B6-3543-95E6-B3D894125747}"/>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34DE2255-C248-2104-FB4C-A40919921807}"/>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1E786C9A-A13F-E064-4286-D1DCEB6C8DB8}"/>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D23A0C5C-F1CC-6596-6168-20098B665F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646733A6-99E9-0F50-04BB-6514E8205CB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75BA3559-BA09-08D0-D330-6ED320E54702}"/>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527EA4F8-BFCB-0AD7-1C54-E92FD7002C82}"/>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4C6FC89D-BBC7-8090-5F91-BE74A60B32CB}"/>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5A29A6E7-12E3-7EAD-3445-6D9A8D6C0427}"/>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9D8A1084-9F03-ADF1-38BA-A040AD80E8B6}"/>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8D498E4C-5D51-7DB9-17CF-CACB40A7A705}"/>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820663F9-B5F4-81B3-0343-D1B5EA59C156}"/>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179" name="矩形: 圓角 178">
            <a:extLst>
              <a:ext uri="{FF2B5EF4-FFF2-40B4-BE49-F238E27FC236}">
                <a16:creationId xmlns:a16="http://schemas.microsoft.com/office/drawing/2014/main" id="{E35675A0-647C-6987-3E01-AA861C9B4DA7}"/>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03933175-BA42-F91B-94EA-358EEE0391FF}"/>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4" name="矩形: 圓角 213">
            <a:extLst>
              <a:ext uri="{FF2B5EF4-FFF2-40B4-BE49-F238E27FC236}">
                <a16:creationId xmlns:a16="http://schemas.microsoft.com/office/drawing/2014/main" id="{031B7DF6-9439-AFF2-1A7A-A362C47B3B0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243" name="矩形: 圓角 242">
            <a:extLst>
              <a:ext uri="{FF2B5EF4-FFF2-40B4-BE49-F238E27FC236}">
                <a16:creationId xmlns:a16="http://schemas.microsoft.com/office/drawing/2014/main" id="{CC01AD58-2464-AD52-928D-A7DA560B113A}"/>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C0C92457-E1D1-AE97-4DED-9FF74D4517D8}"/>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EAA610AB-467F-98F8-8DA1-4BB70E001F9F}"/>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DD5C0867-1792-B2D3-EC75-F0E6FAF0173C}"/>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014ABB89-C3D2-52CD-CFF3-58D9388A97DC}"/>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93" name="直線接點 292">
            <a:extLst>
              <a:ext uri="{FF2B5EF4-FFF2-40B4-BE49-F238E27FC236}">
                <a16:creationId xmlns:a16="http://schemas.microsoft.com/office/drawing/2014/main" id="{1E2D3E8D-0452-7E25-9998-74A6AE18F4D9}"/>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CA57806C-ACF6-8983-1D97-6B31CC1CB11E}"/>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363" name="文字方塊 362">
            <a:extLst>
              <a:ext uri="{FF2B5EF4-FFF2-40B4-BE49-F238E27FC236}">
                <a16:creationId xmlns:a16="http://schemas.microsoft.com/office/drawing/2014/main" id="{620D659A-7991-4FAE-8590-B03AAC3BB088}"/>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379" name="矩形: 圓角 378">
            <a:extLst>
              <a:ext uri="{FF2B5EF4-FFF2-40B4-BE49-F238E27FC236}">
                <a16:creationId xmlns:a16="http://schemas.microsoft.com/office/drawing/2014/main" id="{2F1EACE9-6C4F-E6A2-7E9C-5369AFF3D3C7}"/>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4E0A9FAE-29B1-816E-5483-771F675B8989}"/>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8B1C2571-5A79-380C-3907-98FA7100E4FD}"/>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8D8F4C6C-B285-EE2B-06C3-512A8855AB4D}"/>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2F583315-4FA0-6602-451D-ABD98885CC2D}"/>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8AFDE857-C413-DD9E-F7EB-6C906CA3FCFF}"/>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6E3D035F-6702-C057-0997-E88CF58E6154}"/>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47F05608-923F-2B14-01AF-B4581090A390}"/>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4EF0C082-B586-2A83-3CC7-FCEA141E4164}"/>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2A83D4DC-A1FC-D379-0B41-0FC0453F77E9}"/>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46AAE791-BF66-906B-21D6-002C7F24A655}"/>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4FAEA13E-A6B7-AAFC-7E5C-1333363380E8}"/>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2279F43-B2F2-FB04-5344-62A9C2F8EA11}"/>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AAEF32EF-4601-2FFE-31D1-4EB5DB72B456}"/>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EFE93AF7-E38D-1AE6-A6F5-7DC949647DC6}"/>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1613D734-D7EE-8469-5327-8CD37D8B38AF}"/>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AF300427-60AB-270B-7DD2-3C93CCD7650F}"/>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2FB0E5F6-49B7-D8E2-93FB-7F7FD78EA55A}"/>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5041D6AD-1103-86B9-C9AA-C8E731758846}"/>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7D95342C-48CE-3428-8BAF-56C02A6A28FB}"/>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068BEFDE-A54C-E48C-D788-F5D0D3C87A15}"/>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右大括弧 5">
            <a:extLst>
              <a:ext uri="{FF2B5EF4-FFF2-40B4-BE49-F238E27FC236}">
                <a16:creationId xmlns:a16="http://schemas.microsoft.com/office/drawing/2014/main" id="{05D3A30A-23B5-89E0-3314-62B741022036}"/>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4CAF5C0C-9699-33DC-CAC5-64503391EF41}"/>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
        <p:nvSpPr>
          <p:cNvPr id="3" name="矩形: 圓角 2">
            <a:extLst>
              <a:ext uri="{FF2B5EF4-FFF2-40B4-BE49-F238E27FC236}">
                <a16:creationId xmlns:a16="http://schemas.microsoft.com/office/drawing/2014/main" id="{5A833C20-E34A-794E-C38B-514B6ED5B13C}"/>
              </a:ext>
            </a:extLst>
          </p:cNvPr>
          <p:cNvSpPr/>
          <p:nvPr/>
        </p:nvSpPr>
        <p:spPr>
          <a:xfrm>
            <a:off x="3774439"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8" name="矩形: 圓角 7">
            <a:extLst>
              <a:ext uri="{FF2B5EF4-FFF2-40B4-BE49-F238E27FC236}">
                <a16:creationId xmlns:a16="http://schemas.microsoft.com/office/drawing/2014/main" id="{8A0E9DEC-6BB0-B86B-39F0-F6F279A4E191}"/>
              </a:ext>
            </a:extLst>
          </p:cNvPr>
          <p:cNvSpPr/>
          <p:nvPr/>
        </p:nvSpPr>
        <p:spPr>
          <a:xfrm>
            <a:off x="3774439"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 name="文字方塊 10">
            <a:extLst>
              <a:ext uri="{FF2B5EF4-FFF2-40B4-BE49-F238E27FC236}">
                <a16:creationId xmlns:a16="http://schemas.microsoft.com/office/drawing/2014/main" id="{E4B4E782-C4A9-9E49-E107-64014F5CE375}"/>
              </a:ext>
            </a:extLst>
          </p:cNvPr>
          <p:cNvSpPr txBox="1"/>
          <p:nvPr/>
        </p:nvSpPr>
        <p:spPr>
          <a:xfrm>
            <a:off x="3846446"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 name="直線單箭頭接點 11">
            <a:extLst>
              <a:ext uri="{FF2B5EF4-FFF2-40B4-BE49-F238E27FC236}">
                <a16:creationId xmlns:a16="http://schemas.microsoft.com/office/drawing/2014/main" id="{7991A0C8-F4D0-EF0A-8800-0DEA97697164}"/>
              </a:ext>
            </a:extLst>
          </p:cNvPr>
          <p:cNvCxnSpPr>
            <a:cxnSpLocks/>
            <a:stCxn id="34" idx="0"/>
            <a:endCxn id="35" idx="2"/>
          </p:cNvCxnSpPr>
          <p:nvPr/>
        </p:nvCxnSpPr>
        <p:spPr>
          <a:xfrm flipH="1" flipV="1">
            <a:off x="4250989" y="4501648"/>
            <a:ext cx="128063"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3" name="直線單箭頭接點 12">
            <a:extLst>
              <a:ext uri="{FF2B5EF4-FFF2-40B4-BE49-F238E27FC236}">
                <a16:creationId xmlns:a16="http://schemas.microsoft.com/office/drawing/2014/main" id="{5F2CBFB4-0982-E8DC-7CDD-9EB6C336CAAE}"/>
              </a:ext>
            </a:extLst>
          </p:cNvPr>
          <p:cNvCxnSpPr>
            <a:cxnSpLocks/>
            <a:stCxn id="8" idx="0"/>
            <a:endCxn id="214" idx="2"/>
          </p:cNvCxnSpPr>
          <p:nvPr/>
        </p:nvCxnSpPr>
        <p:spPr>
          <a:xfrm flipV="1">
            <a:off x="4384200" y="1738305"/>
            <a:ext cx="5473" cy="184321"/>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8" name="文字方塊 17">
            <a:extLst>
              <a:ext uri="{FF2B5EF4-FFF2-40B4-BE49-F238E27FC236}">
                <a16:creationId xmlns:a16="http://schemas.microsoft.com/office/drawing/2014/main" id="{9FEB499D-2C2E-3B44-A165-2519817D9658}"/>
              </a:ext>
            </a:extLst>
          </p:cNvPr>
          <p:cNvSpPr txBox="1"/>
          <p:nvPr/>
        </p:nvSpPr>
        <p:spPr>
          <a:xfrm>
            <a:off x="3867272" y="2433529"/>
            <a:ext cx="139424" cy="11519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200"/>
              </a:lnSpc>
              <a:buNone/>
            </a:pPr>
            <a:r>
              <a:rPr lang="en-US" altLang="zh-TW" sz="1200" b="1" dirty="0">
                <a:solidFill>
                  <a:schemeClr val="bg1">
                    <a:lumMod val="50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文字方塊 21">
            <a:extLst>
              <a:ext uri="{FF2B5EF4-FFF2-40B4-BE49-F238E27FC236}">
                <a16:creationId xmlns:a16="http://schemas.microsoft.com/office/drawing/2014/main" id="{51D08741-5391-21D3-C63C-01DEAD6BA47A}"/>
              </a:ext>
            </a:extLst>
          </p:cNvPr>
          <p:cNvSpPr txBox="1"/>
          <p:nvPr/>
        </p:nvSpPr>
        <p:spPr>
          <a:xfrm>
            <a:off x="3867271" y="2587760"/>
            <a:ext cx="128666" cy="95048"/>
          </a:xfrm>
          <a:prstGeom prst="rect">
            <a:avLst/>
          </a:prstGeom>
          <a:solidFill>
            <a:schemeClr val="accent2">
              <a:lumMod val="40000"/>
              <a:lumOff val="6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200" b="1" dirty="0">
                <a:solidFill>
                  <a:schemeClr val="tx1">
                    <a:lumMod val="95000"/>
                    <a:lumOff val="5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34" name="矩形 33">
            <a:extLst>
              <a:ext uri="{FF2B5EF4-FFF2-40B4-BE49-F238E27FC236}">
                <a16:creationId xmlns:a16="http://schemas.microsoft.com/office/drawing/2014/main" id="{5635B5C8-ED48-859A-7297-1A969AF1BD0D}"/>
              </a:ext>
            </a:extLst>
          </p:cNvPr>
          <p:cNvSpPr/>
          <p:nvPr/>
        </p:nvSpPr>
        <p:spPr>
          <a:xfrm>
            <a:off x="4127024"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35" name="矩形: 圓角 34">
            <a:extLst>
              <a:ext uri="{FF2B5EF4-FFF2-40B4-BE49-F238E27FC236}">
                <a16:creationId xmlns:a16="http://schemas.microsoft.com/office/drawing/2014/main" id="{89CF481E-9E76-E131-29F0-867FDAB83382}"/>
              </a:ext>
            </a:extLst>
          </p:cNvPr>
          <p:cNvSpPr/>
          <p:nvPr/>
        </p:nvSpPr>
        <p:spPr>
          <a:xfrm>
            <a:off x="4124954" y="4069600"/>
            <a:ext cx="252070"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36" name="矩形: 圓角 35">
            <a:extLst>
              <a:ext uri="{FF2B5EF4-FFF2-40B4-BE49-F238E27FC236}">
                <a16:creationId xmlns:a16="http://schemas.microsoft.com/office/drawing/2014/main" id="{B4CFC56D-9909-C54C-EB39-58E0216E1164}"/>
              </a:ext>
            </a:extLst>
          </p:cNvPr>
          <p:cNvSpPr/>
          <p:nvPr/>
        </p:nvSpPr>
        <p:spPr>
          <a:xfrm>
            <a:off x="4118625"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sp>
        <p:nvSpPr>
          <p:cNvPr id="37" name="矩形 36">
            <a:extLst>
              <a:ext uri="{FF2B5EF4-FFF2-40B4-BE49-F238E27FC236}">
                <a16:creationId xmlns:a16="http://schemas.microsoft.com/office/drawing/2014/main" id="{700D4D76-B6B2-CDF3-F006-413140F97FC7}"/>
              </a:ext>
            </a:extLst>
          </p:cNvPr>
          <p:cNvSpPr/>
          <p:nvPr/>
        </p:nvSpPr>
        <p:spPr>
          <a:xfrm>
            <a:off x="3589775"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1" name="文字方塊 40">
            <a:extLst>
              <a:ext uri="{FF2B5EF4-FFF2-40B4-BE49-F238E27FC236}">
                <a16:creationId xmlns:a16="http://schemas.microsoft.com/office/drawing/2014/main" id="{52F424F2-C2DC-704B-3F67-BE4A7763F979}"/>
              </a:ext>
            </a:extLst>
          </p:cNvPr>
          <p:cNvSpPr txBox="1"/>
          <p:nvPr/>
        </p:nvSpPr>
        <p:spPr>
          <a:xfrm>
            <a:off x="3867270" y="2719894"/>
            <a:ext cx="126133" cy="108574"/>
          </a:xfrm>
          <a:prstGeom prst="rect">
            <a:avLst/>
          </a:prstGeom>
          <a:solidFill>
            <a:schemeClr val="accent2">
              <a:lumMod val="40000"/>
              <a:lumOff val="6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200" b="1" dirty="0">
                <a:solidFill>
                  <a:schemeClr val="tx1">
                    <a:lumMod val="95000"/>
                    <a:lumOff val="5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Tree>
    <p:extLst>
      <p:ext uri="{BB962C8B-B14F-4D97-AF65-F5344CB8AC3E}">
        <p14:creationId xmlns:p14="http://schemas.microsoft.com/office/powerpoint/2010/main" val="54621272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6B2A54-6427-97B5-1E87-2A9EB5F61F81}"/>
            </a:ext>
          </a:extLst>
        </p:cNvPr>
        <p:cNvGrpSpPr/>
        <p:nvPr/>
      </p:nvGrpSpPr>
      <p:grpSpPr>
        <a:xfrm>
          <a:off x="0" y="0"/>
          <a:ext cx="0" cy="0"/>
          <a:chOff x="0" y="0"/>
          <a:chExt cx="0" cy="0"/>
        </a:xfrm>
      </p:grpSpPr>
      <p:pic>
        <p:nvPicPr>
          <p:cNvPr id="3" name="圖片 2" descr="Kimi K3 架构">
            <a:extLst>
              <a:ext uri="{FF2B5EF4-FFF2-40B4-BE49-F238E27FC236}">
                <a16:creationId xmlns:a16="http://schemas.microsoft.com/office/drawing/2014/main" id="{98621101-8A38-BE97-2C19-3040C57E8430}"/>
              </a:ext>
            </a:extLst>
          </p:cNvPr>
          <p:cNvPicPr>
            <a:picLocks noChangeAspect="1"/>
          </p:cNvPicPr>
          <p:nvPr/>
        </p:nvPicPr>
        <p:blipFill>
          <a:blip r:embed="rId3"/>
          <a:stretch>
            <a:fillRect/>
          </a:stretch>
        </p:blipFill>
        <p:spPr>
          <a:xfrm>
            <a:off x="976102" y="0"/>
            <a:ext cx="7191796" cy="6858000"/>
          </a:xfrm>
          <a:prstGeom prst="rect">
            <a:avLst/>
          </a:prstGeom>
        </p:spPr>
      </p:pic>
    </p:spTree>
    <p:extLst>
      <p:ext uri="{BB962C8B-B14F-4D97-AF65-F5344CB8AC3E}">
        <p14:creationId xmlns:p14="http://schemas.microsoft.com/office/powerpoint/2010/main" val="166384911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E1C088-C29C-CFDD-0766-AA0BE977073D}"/>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48C5EFCD-973E-3362-6BEC-2BABEB772E5E}"/>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Distillation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a:t>
            </a:r>
          </a:p>
        </p:txBody>
      </p:sp>
      <p:sp>
        <p:nvSpPr>
          <p:cNvPr id="34" name="文字方塊 33">
            <a:extLst>
              <a:ext uri="{FF2B5EF4-FFF2-40B4-BE49-F238E27FC236}">
                <a16:creationId xmlns:a16="http://schemas.microsoft.com/office/drawing/2014/main" id="{1781F852-2D98-9DA7-ED98-B7E70CCD70A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26F1D28A-E25F-0DBE-6A0F-1F0258A77F0C}"/>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0AFB4BE5-D051-0641-2C31-9200688EF3AD}"/>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3FA24F76-E7DA-FED8-A954-D229BCDBA889}"/>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6" name="文字方塊 45">
            <a:extLst>
              <a:ext uri="{FF2B5EF4-FFF2-40B4-BE49-F238E27FC236}">
                <a16:creationId xmlns:a16="http://schemas.microsoft.com/office/drawing/2014/main" id="{A4EB4070-0F17-DC28-5D50-AB16E3B247C9}"/>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F3E988E6-CAF1-E8EE-5F9F-4BCC50E551D1}"/>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2C29EDAD-2399-6787-451D-1B76A1ECD0E1}"/>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083DAC72-685D-C5C6-6BD2-4F20B57F24BD}"/>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5CB4D389-23EC-5032-9BAE-F1757CE2E800}"/>
              </a:ext>
            </a:extLst>
          </p:cNvPr>
          <p:cNvSpPr txBox="1">
            <a:spLocks/>
          </p:cNvSpPr>
          <p:nvPr/>
        </p:nvSpPr>
        <p:spPr>
          <a:xfrm>
            <a:off x="5436096" y="525096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Soft</a:t>
            </a:r>
            <a:r>
              <a:rPr lang="zh-TW" altLang="en-US" sz="1000" dirty="0">
                <a:latin typeface="Noto Sans HK" panose="020B0200000000000000" pitchFamily="34" charset="-120"/>
                <a:ea typeface="Noto Sans HK" panose="020B0200000000000000" pitchFamily="34" charset="-120"/>
                <a:cs typeface="Arial" panose="020B0604020202020204" pitchFamily="34" charset="0"/>
              </a:rPr>
              <a:t> </a:t>
            </a:r>
            <a:r>
              <a:rPr lang="en-US" altLang="zh-TW" sz="1000" dirty="0">
                <a:latin typeface="Noto Sans HK" panose="020B0200000000000000" pitchFamily="34" charset="-120"/>
                <a:ea typeface="Noto Sans HK" panose="020B0200000000000000" pitchFamily="34" charset="-120"/>
                <a:cs typeface="Arial" panose="020B0604020202020204" pitchFamily="34" charset="0"/>
              </a:rPr>
              <a:t>Label</a:t>
            </a:r>
          </a:p>
        </p:txBody>
      </p:sp>
      <p:sp>
        <p:nvSpPr>
          <p:cNvPr id="63" name="右大括弧 62">
            <a:extLst>
              <a:ext uri="{FF2B5EF4-FFF2-40B4-BE49-F238E27FC236}">
                <a16:creationId xmlns:a16="http://schemas.microsoft.com/office/drawing/2014/main" id="{C9DE5F9A-05EB-4691-A387-184904320C08}"/>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4223F807-D83D-59D5-DF24-6DF252EE825F}"/>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5" name="標題 1">
            <a:extLst>
              <a:ext uri="{FF2B5EF4-FFF2-40B4-BE49-F238E27FC236}">
                <a16:creationId xmlns:a16="http://schemas.microsoft.com/office/drawing/2014/main" id="{EA45D83D-FA42-9110-2F49-53618A9ECE91}"/>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83" name="直線接點 82">
            <a:extLst>
              <a:ext uri="{FF2B5EF4-FFF2-40B4-BE49-F238E27FC236}">
                <a16:creationId xmlns:a16="http://schemas.microsoft.com/office/drawing/2014/main" id="{49C9B6FC-E00B-B93C-9597-0EFA3EC02D21}"/>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13B89021-46D2-B5A3-28F6-29345C4576EC}"/>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CA5802EE-F207-7922-1CC3-BC212577E690}"/>
              </a:ext>
            </a:extLst>
          </p:cNvPr>
          <p:cNvGraphicFramePr>
            <a:graphicFrameLocks noGrp="1"/>
          </p:cNvGraphicFramePr>
          <p:nvPr/>
        </p:nvGraphicFramePr>
        <p:xfrm>
          <a:off x="1884140" y="4365104"/>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Teacher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060607E6-1136-A62E-557F-AF305E737CB5}"/>
              </a:ext>
            </a:extLst>
          </p:cNvPr>
          <p:cNvCxnSpPr>
            <a:cxnSpLocks/>
          </p:cNvCxnSpPr>
          <p:nvPr/>
        </p:nvCxnSpPr>
        <p:spPr>
          <a:xfrm>
            <a:off x="1724506" y="1455268"/>
            <a:ext cx="0" cy="502037"/>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graphicFrame>
        <p:nvGraphicFramePr>
          <p:cNvPr id="11" name="表格 10">
            <a:extLst>
              <a:ext uri="{FF2B5EF4-FFF2-40B4-BE49-F238E27FC236}">
                <a16:creationId xmlns:a16="http://schemas.microsoft.com/office/drawing/2014/main" id="{7416325E-8B29-6B3E-B545-D3E65BB3E00D}"/>
              </a:ext>
            </a:extLst>
          </p:cNvPr>
          <p:cNvGraphicFramePr>
            <a:graphicFrameLocks noGrp="1"/>
          </p:cNvGraphicFramePr>
          <p:nvPr/>
        </p:nvGraphicFramePr>
        <p:xfrm>
          <a:off x="3352478" y="436510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Student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spTree>
    <p:extLst>
      <p:ext uri="{BB962C8B-B14F-4D97-AF65-F5344CB8AC3E}">
        <p14:creationId xmlns:p14="http://schemas.microsoft.com/office/powerpoint/2010/main" val="295082313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A25999-7ECD-BA35-43AC-72ECFEE0427F}"/>
            </a:ext>
          </a:extLst>
        </p:cNvPr>
        <p:cNvGrpSpPr/>
        <p:nvPr/>
      </p:nvGrpSpPr>
      <p:grpSpPr>
        <a:xfrm>
          <a:off x="0" y="0"/>
          <a:ext cx="0" cy="0"/>
          <a:chOff x="0" y="0"/>
          <a:chExt cx="0" cy="0"/>
        </a:xfrm>
      </p:grpSpPr>
      <p:pic>
        <p:nvPicPr>
          <p:cNvPr id="11" name="圖片 10">
            <a:extLst>
              <a:ext uri="{FF2B5EF4-FFF2-40B4-BE49-F238E27FC236}">
                <a16:creationId xmlns:a16="http://schemas.microsoft.com/office/drawing/2014/main" id="{4C128F37-80EC-5B99-BE58-397074A208EE}"/>
              </a:ext>
            </a:extLst>
          </p:cNvPr>
          <p:cNvPicPr>
            <a:picLocks noChangeAspect="1"/>
          </p:cNvPicPr>
          <p:nvPr/>
        </p:nvPicPr>
        <p:blipFill>
          <a:blip r:embed="rId3"/>
          <a:stretch>
            <a:fillRect/>
          </a:stretch>
        </p:blipFill>
        <p:spPr>
          <a:xfrm>
            <a:off x="5409862" y="3788511"/>
            <a:ext cx="3676252" cy="2398497"/>
          </a:xfrm>
          <a:prstGeom prst="rect">
            <a:avLst/>
          </a:prstGeom>
        </p:spPr>
      </p:pic>
      <p:sp>
        <p:nvSpPr>
          <p:cNvPr id="8" name="文字方塊 7">
            <a:extLst>
              <a:ext uri="{FF2B5EF4-FFF2-40B4-BE49-F238E27FC236}">
                <a16:creationId xmlns:a16="http://schemas.microsoft.com/office/drawing/2014/main" id="{7EA2DA36-50F0-1369-B59B-C6FD52E9E4E0}"/>
              </a:ext>
            </a:extLst>
          </p:cNvPr>
          <p:cNvSpPr txBox="1"/>
          <p:nvPr/>
        </p:nvSpPr>
        <p:spPr>
          <a:xfrm>
            <a:off x="179510" y="1196752"/>
            <a:ext cx="7632850" cy="93871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Model Extraction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Goal:</a:t>
            </a:r>
            <a:r>
              <a:rPr lang="en-US" altLang="zh-TW" sz="1600" dirty="0"/>
              <a:t> Duplicate a functional clone model at a minimal cost purely through API queries, without accessing its weights.</a:t>
            </a:r>
          </a:p>
        </p:txBody>
      </p:sp>
      <p:sp>
        <p:nvSpPr>
          <p:cNvPr id="5" name="標題 1">
            <a:extLst>
              <a:ext uri="{FF2B5EF4-FFF2-40B4-BE49-F238E27FC236}">
                <a16:creationId xmlns:a16="http://schemas.microsoft.com/office/drawing/2014/main" id="{A309682D-9AD4-069E-1FFF-B4F842C47A94}"/>
              </a:ext>
            </a:extLst>
          </p:cNvPr>
          <p:cNvSpPr txBox="1">
            <a:spLocks/>
          </p:cNvSpPr>
          <p:nvPr/>
        </p:nvSpPr>
        <p:spPr>
          <a:xfrm>
            <a:off x="179511" y="116632"/>
            <a:ext cx="7920881"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Distillation Attack</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No LLM is safe, if it can be prompted.</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Involve extracting knowledge, from a LLM, extensively, querying it, through prompts.</a:t>
            </a:r>
          </a:p>
        </p:txBody>
      </p:sp>
      <p:pic>
        <p:nvPicPr>
          <p:cNvPr id="31" name="圖片 30">
            <a:extLst>
              <a:ext uri="{FF2B5EF4-FFF2-40B4-BE49-F238E27FC236}">
                <a16:creationId xmlns:a16="http://schemas.microsoft.com/office/drawing/2014/main" id="{AC21CB44-2E1A-CB98-7935-56713A15F8A8}"/>
              </a:ext>
            </a:extLst>
          </p:cNvPr>
          <p:cNvPicPr>
            <a:picLocks noChangeAspect="1"/>
          </p:cNvPicPr>
          <p:nvPr/>
        </p:nvPicPr>
        <p:blipFill>
          <a:blip r:embed="rId4"/>
          <a:stretch>
            <a:fillRect/>
          </a:stretch>
        </p:blipFill>
        <p:spPr>
          <a:xfrm>
            <a:off x="8406510" y="116632"/>
            <a:ext cx="552628" cy="548681"/>
          </a:xfrm>
          <a:prstGeom prst="rect">
            <a:avLst/>
          </a:prstGeom>
        </p:spPr>
      </p:pic>
      <p:sp>
        <p:nvSpPr>
          <p:cNvPr id="37" name="標題 1">
            <a:extLst>
              <a:ext uri="{FF2B5EF4-FFF2-40B4-BE49-F238E27FC236}">
                <a16:creationId xmlns:a16="http://schemas.microsoft.com/office/drawing/2014/main" id="{2B255F5A-4477-D36C-0620-7FB608BCB205}"/>
              </a:ext>
            </a:extLst>
          </p:cNvPr>
          <p:cNvSpPr txBox="1">
            <a:spLocks/>
          </p:cNvSpPr>
          <p:nvPr/>
        </p:nvSpPr>
        <p:spPr>
          <a:xfrm>
            <a:off x="8312648" y="692696"/>
            <a:ext cx="740352" cy="42522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Moonshot</a:t>
            </a:r>
          </a:p>
          <a:p>
            <a:pPr algn="ctr"/>
            <a:r>
              <a:rPr lang="zh-TW" altLang="en-US"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月之暗面</a:t>
            </a:r>
            <a:endPar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
        <p:nvSpPr>
          <p:cNvPr id="6" name="文字方塊 5">
            <a:extLst>
              <a:ext uri="{FF2B5EF4-FFF2-40B4-BE49-F238E27FC236}">
                <a16:creationId xmlns:a16="http://schemas.microsoft.com/office/drawing/2014/main" id="{B68066DC-B3C7-0B14-5687-E982E2B40C61}"/>
              </a:ext>
            </a:extLst>
          </p:cNvPr>
          <p:cNvSpPr txBox="1"/>
          <p:nvPr/>
        </p:nvSpPr>
        <p:spPr>
          <a:xfrm>
            <a:off x="192111" y="4976008"/>
            <a:ext cx="8767027" cy="1477328"/>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Counter Measures (Increase Attack’s Cost)</a:t>
            </a:r>
          </a:p>
          <a:p>
            <a:pPr marL="285750" indent="-285750">
              <a:lnSpc>
                <a:spcPts val="1800"/>
              </a:lnSpc>
              <a:spcBef>
                <a:spcPts val="600"/>
              </a:spcBef>
              <a:spcAft>
                <a:spcPts val="600"/>
              </a:spcAft>
              <a:buFont typeface="Wingdings" panose="05000000000000000000" pitchFamily="2" charset="2"/>
              <a:buChar char="Ø"/>
            </a:pPr>
            <a:r>
              <a:rPr lang="en-US" altLang="zh-TW" sz="1600" b="1" dirty="0"/>
              <a:t>Traffic Detection:</a:t>
            </a:r>
            <a:r>
              <a:rPr lang="en-US" altLang="zh-TW" sz="1600" dirty="0"/>
              <a:t> Semantic-space analysis, behavioral fingerprinting, metadata attribution.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Model Controls:</a:t>
            </a:r>
            <a:r>
              <a:rPr lang="en-US" altLang="zh-TW" sz="1600" dirty="0"/>
              <a:t> CoT removal, output perturbation, statistical watermarking.</a:t>
            </a:r>
          </a:p>
          <a:p>
            <a:pPr marL="285750" indent="-285750">
              <a:lnSpc>
                <a:spcPts val="1800"/>
              </a:lnSpc>
              <a:spcBef>
                <a:spcPts val="600"/>
              </a:spcBef>
              <a:spcAft>
                <a:spcPts val="600"/>
              </a:spcAft>
              <a:buFont typeface="Wingdings" panose="05000000000000000000" pitchFamily="2" charset="2"/>
              <a:buChar char="Ø"/>
            </a:pPr>
            <a:r>
              <a:rPr lang="en-US" altLang="zh-TW" sz="1600" b="1" dirty="0"/>
              <a:t>Verified Access:</a:t>
            </a:r>
            <a:r>
              <a:rPr lang="en-US" altLang="zh-TW" sz="1600" dirty="0"/>
              <a:t> Know Your Customer(KYC),</a:t>
            </a:r>
            <a:r>
              <a:rPr lang="zh-TW" altLang="en-US" sz="1600" dirty="0"/>
              <a:t> </a:t>
            </a:r>
            <a:r>
              <a:rPr lang="en-US" altLang="zh-TW" sz="1600" dirty="0"/>
              <a:t>Adaptive Verification, .</a:t>
            </a:r>
          </a:p>
        </p:txBody>
      </p:sp>
      <p:sp>
        <p:nvSpPr>
          <p:cNvPr id="12" name="文字方塊 11">
            <a:extLst>
              <a:ext uri="{FF2B5EF4-FFF2-40B4-BE49-F238E27FC236}">
                <a16:creationId xmlns:a16="http://schemas.microsoft.com/office/drawing/2014/main" id="{AD68F64B-4C1A-FFB2-F8B6-E5C3BC02DFF1}"/>
              </a:ext>
            </a:extLst>
          </p:cNvPr>
          <p:cNvSpPr txBox="1"/>
          <p:nvPr/>
        </p:nvSpPr>
        <p:spPr>
          <a:xfrm>
            <a:off x="2250420" y="2276872"/>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13" name="文字方塊 12">
            <a:extLst>
              <a:ext uri="{FF2B5EF4-FFF2-40B4-BE49-F238E27FC236}">
                <a16:creationId xmlns:a16="http://schemas.microsoft.com/office/drawing/2014/main" id="{CC7F5601-2E80-AC25-95B4-F7E7BEC74B21}"/>
              </a:ext>
            </a:extLst>
          </p:cNvPr>
          <p:cNvSpPr txBox="1"/>
          <p:nvPr/>
        </p:nvSpPr>
        <p:spPr>
          <a:xfrm>
            <a:off x="3347864" y="2276872"/>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14" name="文字方塊 13">
            <a:extLst>
              <a:ext uri="{FF2B5EF4-FFF2-40B4-BE49-F238E27FC236}">
                <a16:creationId xmlns:a16="http://schemas.microsoft.com/office/drawing/2014/main" id="{4CB5AFF6-8B07-F6E7-440D-1E3D64014E59}"/>
              </a:ext>
            </a:extLst>
          </p:cNvPr>
          <p:cNvSpPr txBox="1"/>
          <p:nvPr/>
        </p:nvSpPr>
        <p:spPr>
          <a:xfrm>
            <a:off x="4410660" y="2276872"/>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15" name="文字方塊 14">
            <a:extLst>
              <a:ext uri="{FF2B5EF4-FFF2-40B4-BE49-F238E27FC236}">
                <a16:creationId xmlns:a16="http://schemas.microsoft.com/office/drawing/2014/main" id="{6F8D15F0-F013-D9A3-EAA6-42797542C242}"/>
              </a:ext>
            </a:extLst>
          </p:cNvPr>
          <p:cNvSpPr txBox="1"/>
          <p:nvPr/>
        </p:nvSpPr>
        <p:spPr>
          <a:xfrm>
            <a:off x="5490780" y="2276872"/>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16" name="文字方塊 15">
            <a:extLst>
              <a:ext uri="{FF2B5EF4-FFF2-40B4-BE49-F238E27FC236}">
                <a16:creationId xmlns:a16="http://schemas.microsoft.com/office/drawing/2014/main" id="{289ADC5C-E475-83A1-2BFE-D74030E59EAA}"/>
              </a:ext>
            </a:extLst>
          </p:cNvPr>
          <p:cNvSpPr txBox="1"/>
          <p:nvPr/>
        </p:nvSpPr>
        <p:spPr>
          <a:xfrm>
            <a:off x="1187624" y="2280669"/>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17" name="右大括弧 16">
            <a:extLst>
              <a:ext uri="{FF2B5EF4-FFF2-40B4-BE49-F238E27FC236}">
                <a16:creationId xmlns:a16="http://schemas.microsoft.com/office/drawing/2014/main" id="{C76DBFF7-5BC4-34FB-B75B-C5F62F6D1CB2}"/>
              </a:ext>
            </a:extLst>
          </p:cNvPr>
          <p:cNvSpPr/>
          <p:nvPr/>
        </p:nvSpPr>
        <p:spPr>
          <a:xfrm rot="5400000">
            <a:off x="3154669" y="2527032"/>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cxnSp>
        <p:nvCxnSpPr>
          <p:cNvPr id="21" name="直線單箭頭接點 20">
            <a:extLst>
              <a:ext uri="{FF2B5EF4-FFF2-40B4-BE49-F238E27FC236}">
                <a16:creationId xmlns:a16="http://schemas.microsoft.com/office/drawing/2014/main" id="{947BD5A8-BFD6-CEA1-275F-0CDDC5F60F07}"/>
              </a:ext>
            </a:extLst>
          </p:cNvPr>
          <p:cNvCxnSpPr>
            <a:cxnSpLocks/>
            <a:stCxn id="16" idx="3"/>
            <a:endCxn id="12" idx="1"/>
          </p:cNvCxnSpPr>
          <p:nvPr/>
        </p:nvCxnSpPr>
        <p:spPr>
          <a:xfrm flipV="1">
            <a:off x="2069044" y="2655030"/>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2" name="文字方塊 1">
            <a:extLst>
              <a:ext uri="{FF2B5EF4-FFF2-40B4-BE49-F238E27FC236}">
                <a16:creationId xmlns:a16="http://schemas.microsoft.com/office/drawing/2014/main" id="{626DBC5C-2A26-90CA-C557-79A504820052}"/>
              </a:ext>
            </a:extLst>
          </p:cNvPr>
          <p:cNvSpPr txBox="1"/>
          <p:nvPr/>
        </p:nvSpPr>
        <p:spPr>
          <a:xfrm>
            <a:off x="2250420" y="3284647"/>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 name="文字方塊 2">
            <a:extLst>
              <a:ext uri="{FF2B5EF4-FFF2-40B4-BE49-F238E27FC236}">
                <a16:creationId xmlns:a16="http://schemas.microsoft.com/office/drawing/2014/main" id="{4BD454AD-B65F-F8DD-468A-876DEE2E1BC9}"/>
              </a:ext>
            </a:extLst>
          </p:cNvPr>
          <p:cNvSpPr txBox="1"/>
          <p:nvPr/>
        </p:nvSpPr>
        <p:spPr>
          <a:xfrm>
            <a:off x="3347864" y="3284647"/>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4" name="文字方塊 3">
            <a:extLst>
              <a:ext uri="{FF2B5EF4-FFF2-40B4-BE49-F238E27FC236}">
                <a16:creationId xmlns:a16="http://schemas.microsoft.com/office/drawing/2014/main" id="{B5F82238-D902-CFE3-4CE5-E39555787C98}"/>
              </a:ext>
            </a:extLst>
          </p:cNvPr>
          <p:cNvSpPr txBox="1"/>
          <p:nvPr/>
        </p:nvSpPr>
        <p:spPr>
          <a:xfrm>
            <a:off x="4410660" y="3284647"/>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7" name="文字方塊 6">
            <a:extLst>
              <a:ext uri="{FF2B5EF4-FFF2-40B4-BE49-F238E27FC236}">
                <a16:creationId xmlns:a16="http://schemas.microsoft.com/office/drawing/2014/main" id="{DB702051-151F-B5C4-3443-6931F47A642F}"/>
              </a:ext>
            </a:extLst>
          </p:cNvPr>
          <p:cNvSpPr txBox="1"/>
          <p:nvPr/>
        </p:nvSpPr>
        <p:spPr>
          <a:xfrm>
            <a:off x="5490780" y="3284647"/>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9" name="文字方塊 8">
            <a:extLst>
              <a:ext uri="{FF2B5EF4-FFF2-40B4-BE49-F238E27FC236}">
                <a16:creationId xmlns:a16="http://schemas.microsoft.com/office/drawing/2014/main" id="{07C167B6-49FC-7213-BEAC-0093C4EBA0F8}"/>
              </a:ext>
            </a:extLst>
          </p:cNvPr>
          <p:cNvSpPr txBox="1"/>
          <p:nvPr/>
        </p:nvSpPr>
        <p:spPr>
          <a:xfrm>
            <a:off x="1187624" y="3288444"/>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10" name="右大括弧 9">
            <a:extLst>
              <a:ext uri="{FF2B5EF4-FFF2-40B4-BE49-F238E27FC236}">
                <a16:creationId xmlns:a16="http://schemas.microsoft.com/office/drawing/2014/main" id="{F5E88D55-1D29-981A-61C9-848487682A89}"/>
              </a:ext>
            </a:extLst>
          </p:cNvPr>
          <p:cNvSpPr/>
          <p:nvPr/>
        </p:nvSpPr>
        <p:spPr>
          <a:xfrm rot="5400000">
            <a:off x="3154669" y="3534807"/>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cxnSp>
        <p:nvCxnSpPr>
          <p:cNvPr id="22" name="直線單箭頭接點 21">
            <a:extLst>
              <a:ext uri="{FF2B5EF4-FFF2-40B4-BE49-F238E27FC236}">
                <a16:creationId xmlns:a16="http://schemas.microsoft.com/office/drawing/2014/main" id="{BFBEC447-F76A-CB0C-60B2-2CBEC782C80C}"/>
              </a:ext>
            </a:extLst>
          </p:cNvPr>
          <p:cNvCxnSpPr>
            <a:cxnSpLocks/>
            <a:stCxn id="9" idx="3"/>
            <a:endCxn id="2" idx="1"/>
          </p:cNvCxnSpPr>
          <p:nvPr/>
        </p:nvCxnSpPr>
        <p:spPr>
          <a:xfrm flipV="1">
            <a:off x="2069044" y="3662805"/>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6768731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A6CC2-BDE4-965A-84C4-C8CEAFC9885E}"/>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F28CCEC3-1387-0743-9796-8CCF90C0AE03}"/>
              </a:ext>
            </a:extLst>
          </p:cNvPr>
          <p:cNvGraphicFramePr>
            <a:graphicFrameLocks noGrp="1"/>
          </p:cNvGraphicFramePr>
          <p:nvPr>
            <p:extLst>
              <p:ext uri="{D42A27DB-BD31-4B8C-83A1-F6EECF244321}">
                <p14:modId xmlns:p14="http://schemas.microsoft.com/office/powerpoint/2010/main" val="141976597"/>
              </p:ext>
            </p:extLst>
          </p:nvPr>
        </p:nvGraphicFramePr>
        <p:xfrm>
          <a:off x="300657" y="1084161"/>
          <a:ext cx="8542691" cy="4276923"/>
        </p:xfrm>
        <a:graphic>
          <a:graphicData uri="http://schemas.openxmlformats.org/drawingml/2006/table">
            <a:tbl>
              <a:tblPr firstRow="1" bandRow="1">
                <a:tableStyleId>{5C22544A-7EE6-4342-B048-85BDC9FD1C3A}</a:tableStyleId>
              </a:tblPr>
              <a:tblGrid>
                <a:gridCol w="382911">
                  <a:extLst>
                    <a:ext uri="{9D8B030D-6E8A-4147-A177-3AD203B41FA5}">
                      <a16:colId xmlns:a16="http://schemas.microsoft.com/office/drawing/2014/main" val="3115215194"/>
                    </a:ext>
                  </a:extLst>
                </a:gridCol>
                <a:gridCol w="766178">
                  <a:extLst>
                    <a:ext uri="{9D8B030D-6E8A-4147-A177-3AD203B41FA5}">
                      <a16:colId xmlns:a16="http://schemas.microsoft.com/office/drawing/2014/main" val="4024420245"/>
                    </a:ext>
                  </a:extLst>
                </a:gridCol>
                <a:gridCol w="766178">
                  <a:extLst>
                    <a:ext uri="{9D8B030D-6E8A-4147-A177-3AD203B41FA5}">
                      <a16:colId xmlns:a16="http://schemas.microsoft.com/office/drawing/2014/main" val="2857999959"/>
                    </a:ext>
                  </a:extLst>
                </a:gridCol>
                <a:gridCol w="766178">
                  <a:extLst>
                    <a:ext uri="{9D8B030D-6E8A-4147-A177-3AD203B41FA5}">
                      <a16:colId xmlns:a16="http://schemas.microsoft.com/office/drawing/2014/main" val="310011697"/>
                    </a:ext>
                  </a:extLst>
                </a:gridCol>
                <a:gridCol w="766178">
                  <a:extLst>
                    <a:ext uri="{9D8B030D-6E8A-4147-A177-3AD203B41FA5}">
                      <a16:colId xmlns:a16="http://schemas.microsoft.com/office/drawing/2014/main" val="932094440"/>
                    </a:ext>
                  </a:extLst>
                </a:gridCol>
                <a:gridCol w="1039744">
                  <a:extLst>
                    <a:ext uri="{9D8B030D-6E8A-4147-A177-3AD203B41FA5}">
                      <a16:colId xmlns:a16="http://schemas.microsoft.com/office/drawing/2014/main" val="1885199976"/>
                    </a:ext>
                  </a:extLst>
                </a:gridCol>
                <a:gridCol w="1080120">
                  <a:extLst>
                    <a:ext uri="{9D8B030D-6E8A-4147-A177-3AD203B41FA5}">
                      <a16:colId xmlns:a16="http://schemas.microsoft.com/office/drawing/2014/main" val="2502900903"/>
                    </a:ext>
                  </a:extLst>
                </a:gridCol>
                <a:gridCol w="743801">
                  <a:extLst>
                    <a:ext uri="{9D8B030D-6E8A-4147-A177-3AD203B41FA5}">
                      <a16:colId xmlns:a16="http://schemas.microsoft.com/office/drawing/2014/main" val="2600189719"/>
                    </a:ext>
                  </a:extLst>
                </a:gridCol>
                <a:gridCol w="743801">
                  <a:extLst>
                    <a:ext uri="{9D8B030D-6E8A-4147-A177-3AD203B41FA5}">
                      <a16:colId xmlns:a16="http://schemas.microsoft.com/office/drawing/2014/main" val="217543664"/>
                    </a:ext>
                  </a:extLst>
                </a:gridCol>
                <a:gridCol w="743801">
                  <a:extLst>
                    <a:ext uri="{9D8B030D-6E8A-4147-A177-3AD203B41FA5}">
                      <a16:colId xmlns:a16="http://schemas.microsoft.com/office/drawing/2014/main" val="2209626822"/>
                    </a:ext>
                  </a:extLst>
                </a:gridCol>
                <a:gridCol w="743801">
                  <a:extLst>
                    <a:ext uri="{9D8B030D-6E8A-4147-A177-3AD203B41FA5}">
                      <a16:colId xmlns:a16="http://schemas.microsoft.com/office/drawing/2014/main" val="2727600684"/>
                    </a:ext>
                  </a:extLst>
                </a:gridCol>
              </a:tblGrid>
              <a:tr h="668032">
                <a:tc>
                  <a:txBody>
                    <a:bodyPr/>
                    <a:lstStyle/>
                    <a:p>
                      <a:pPr algn="l"/>
                      <a:endParaRPr lang="en-US" altLang="zh-TW" sz="1200" b="1" cap="none" spc="0" dirty="0">
                        <a:ln w="0"/>
                        <a:solidFill>
                          <a:schemeClr val="tx1"/>
                        </a:solidFill>
                        <a:effectLst/>
                        <a:latin typeface="+mn-lt"/>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Modern Open-Source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Backbone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Cross-Border Academic Collaboration</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Community</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-Driven</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Pioneers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Independent &amp;</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Native Pillars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latin typeface="+mn-lt"/>
                      </a:endParaRPr>
                    </a:p>
                  </a:txBody>
                  <a:tcPr marL="0" marR="0" marT="0" marB="0" anchor="ctr" anchorCtr="1">
                    <a:lnL w="6350" cap="flat" cmpd="sng" algn="ctr">
                      <a:solidFill>
                        <a:schemeClr val="accent4">
                          <a:lumMod val="75000"/>
                        </a:schemeClr>
                      </a:solidFill>
                      <a:prstDash val="solid"/>
                      <a:round/>
                      <a:headEnd type="none" w="med" len="med"/>
                      <a:tailEnd type="none" w="med" len="med"/>
                    </a:lnL>
                    <a:lnR w="6350" cap="flat" cmpd="sng" algn="ctr">
                      <a:solidFill>
                        <a:schemeClr val="accent4">
                          <a:lumMod val="75000"/>
                        </a:schemeClr>
                      </a:solidFill>
                      <a:prstDash val="solid"/>
                      <a:round/>
                      <a:headEnd type="none" w="med" len="med"/>
                      <a:tailEnd type="none" w="med" len="med"/>
                    </a:lnR>
                    <a:lnT w="6350" cap="flat" cmpd="sng" algn="ctr">
                      <a:solidFill>
                        <a:schemeClr val="accent4">
                          <a:lumMod val="75000"/>
                        </a:schemeClr>
                      </a:solidFill>
                      <a:prstDash val="solid"/>
                      <a:round/>
                      <a:headEnd type="none" w="med" len="med"/>
                      <a:tailEnd type="none" w="med" len="med"/>
                    </a:lnT>
                    <a:lnB w="635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3213515898"/>
                  </a:ext>
                </a:extLst>
              </a:tr>
              <a:tr h="75780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DeepMind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(Google)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Phi</a:t>
                      </a:r>
                      <a:br>
                        <a:rPr kumimoji="0" lang="en-US" altLang="zh-TW" sz="1200" b="1" i="0" u="none" strike="noStrike" kern="1200" cap="none" spc="0" normalizeH="0" baseline="0" noProof="0" dirty="0">
                          <a:ln w="0"/>
                          <a:solidFill>
                            <a:schemeClr val="tx2"/>
                          </a:solidFill>
                          <a:effectLst/>
                          <a:uLnTx/>
                          <a:uFillTx/>
                          <a:latin typeface="+mn-lt"/>
                          <a:ea typeface="+mn-ea"/>
                          <a:cs typeface="+mn-cs"/>
                        </a:rPr>
                      </a:br>
                      <a:r>
                        <a:rPr kumimoji="0" lang="en-US" altLang="zh-TW" sz="1000" b="0" i="0" u="none" strike="noStrike" kern="1200" cap="none" spc="0" normalizeH="0" baseline="0" noProof="0" dirty="0">
                          <a:ln w="0"/>
                          <a:solidFill>
                            <a:schemeClr val="tx2"/>
                          </a:solidFill>
                          <a:effectLst/>
                          <a:uLnTx/>
                          <a:uFillTx/>
                          <a:latin typeface="+mn-lt"/>
                          <a:ea typeface="+mn-ea"/>
                          <a:cs typeface="+mn-cs"/>
                        </a:rPr>
                        <a:t>(Microsoft)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(FAIR)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(Europe)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BigScience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France</a:t>
                      </a:r>
                      <a:r>
                        <a:rPr kumimoji="0" lang="zh-TW" altLang="en-US" sz="1000" b="0" i="0" u="none" strike="noStrike" kern="1200" cap="none" spc="0" normalizeH="0" baseline="0" noProof="0" dirty="0">
                          <a:ln w="0"/>
                          <a:solidFill>
                            <a:schemeClr val="tx2"/>
                          </a:solidFill>
                          <a:effectLst/>
                          <a:uLnTx/>
                          <a:uFillTx/>
                          <a:latin typeface="+mn-lt"/>
                          <a:ea typeface="+mn-ea"/>
                          <a:cs typeface="+mn-cs"/>
                        </a:rPr>
                        <a:t> </a:t>
                      </a:r>
                      <a:r>
                        <a:rPr kumimoji="0" lang="en-US" altLang="zh-TW" sz="1000" b="0" i="0" u="none" strike="noStrike" kern="1200" cap="none" spc="0" normalizeH="0" baseline="0" noProof="0" dirty="0">
                          <a:ln w="0"/>
                          <a:solidFill>
                            <a:schemeClr val="tx2"/>
                          </a:solidFill>
                          <a:effectLst/>
                          <a:uLnTx/>
                          <a:uFillTx/>
                          <a:latin typeface="+mn-lt"/>
                          <a:ea typeface="+mn-ea"/>
                          <a:cs typeface="+mn-cs"/>
                        </a:rPr>
                        <a:t> and 1000+ scientists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EleutherAI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CoreWeave,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Stability AI,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Technology Innovation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Institute </a:t>
                      </a:r>
                      <a:r>
                        <a:rPr kumimoji="0" lang="en-US" altLang="zh-TW" sz="1000" b="0" i="0" u="none" strike="noStrike" kern="1200" cap="none" spc="0" normalizeH="0" baseline="0" noProof="0" dirty="0">
                          <a:ln w="0"/>
                          <a:solidFill>
                            <a:schemeClr val="tx2"/>
                          </a:solidFill>
                          <a:effectLst/>
                          <a:uLnTx/>
                          <a:uFillTx/>
                          <a:latin typeface="+mn-lt"/>
                          <a:ea typeface="+mn-ea"/>
                          <a:cs typeface="+mn-cs"/>
                        </a:rPr>
                        <a:t>(NV)</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(Alibaba)</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MoE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(DeepSeek)</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(Moonshot)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603224414"/>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GPT-Neo</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341340391"/>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GPT-J</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49642222"/>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bg2">
                              <a:lumMod val="50000"/>
                            </a:schemeClr>
                          </a:solidFill>
                          <a:effectLst/>
                          <a:uLnTx/>
                          <a:uFillTx/>
                          <a:latin typeface="+mn-lt"/>
                          <a:ea typeface="+mn-ea"/>
                          <a:cs typeface="+mn-cs"/>
                        </a:rPr>
                        <a:t>BLOOM</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NeoX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14832629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7B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Mixtral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LLeMA</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714491690"/>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2.5</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55925935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Large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The Common Pile</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H1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3.0</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772492193"/>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Vision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Muse 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Small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20000"/>
                          <a:lumOff val="8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LM-Evaluation-Harness</a:t>
                      </a:r>
                      <a:endParaRPr kumimoji="0" lang="zh-TW" altLang="en-US" sz="12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H1R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0024983"/>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20000"/>
                          <a:lumOff val="8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22451293"/>
                  </a:ext>
                </a:extLst>
              </a:tr>
            </a:tbl>
          </a:graphicData>
        </a:graphic>
      </p:graphicFrame>
      <p:sp>
        <p:nvSpPr>
          <p:cNvPr id="6" name="標題 1">
            <a:extLst>
              <a:ext uri="{FF2B5EF4-FFF2-40B4-BE49-F238E27FC236}">
                <a16:creationId xmlns:a16="http://schemas.microsoft.com/office/drawing/2014/main" id="{2584B682-80DC-5350-E199-F653A8484A51}"/>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The Evolution of Open-Source LLMs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From 2020 to 2026.</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9C034926-36B1-924C-1E61-4CBCD515102C}"/>
              </a:ext>
            </a:extLst>
          </p:cNvPr>
          <p:cNvPicPr>
            <a:picLocks noChangeAspect="1"/>
          </p:cNvPicPr>
          <p:nvPr/>
        </p:nvPicPr>
        <p:blipFill>
          <a:blip r:embed="rId3"/>
          <a:stretch>
            <a:fillRect/>
          </a:stretch>
        </p:blipFill>
        <p:spPr>
          <a:xfrm>
            <a:off x="6807316" y="521637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B49E799F-C565-ABB2-F1E1-804D95D1669C}"/>
              </a:ext>
            </a:extLst>
          </p:cNvPr>
          <p:cNvPicPr>
            <a:picLocks noChangeAspect="1"/>
          </p:cNvPicPr>
          <p:nvPr/>
        </p:nvPicPr>
        <p:blipFill>
          <a:blip r:embed="rId4"/>
          <a:stretch>
            <a:fillRect/>
          </a:stretch>
        </p:blipFill>
        <p:spPr>
          <a:xfrm>
            <a:off x="7533826" y="5208414"/>
            <a:ext cx="350542" cy="284964"/>
          </a:xfrm>
          <a:prstGeom prst="rect">
            <a:avLst/>
          </a:prstGeom>
        </p:spPr>
      </p:pic>
      <p:pic>
        <p:nvPicPr>
          <p:cNvPr id="16" name="圖片 15">
            <a:extLst>
              <a:ext uri="{FF2B5EF4-FFF2-40B4-BE49-F238E27FC236}">
                <a16:creationId xmlns:a16="http://schemas.microsoft.com/office/drawing/2014/main" id="{37610F10-8CC5-F71E-FB14-609A88EA39AD}"/>
              </a:ext>
            </a:extLst>
          </p:cNvPr>
          <p:cNvPicPr>
            <a:picLocks noChangeAspect="1"/>
          </p:cNvPicPr>
          <p:nvPr/>
        </p:nvPicPr>
        <p:blipFill>
          <a:blip r:embed="rId5"/>
          <a:stretch>
            <a:fillRect/>
          </a:stretch>
        </p:blipFill>
        <p:spPr>
          <a:xfrm>
            <a:off x="3275856" y="5184697"/>
            <a:ext cx="284964" cy="284964"/>
          </a:xfrm>
          <a:prstGeom prst="rect">
            <a:avLst/>
          </a:prstGeom>
        </p:spPr>
      </p:pic>
      <p:pic>
        <p:nvPicPr>
          <p:cNvPr id="20" name="圖片 19">
            <a:extLst>
              <a:ext uri="{FF2B5EF4-FFF2-40B4-BE49-F238E27FC236}">
                <a16:creationId xmlns:a16="http://schemas.microsoft.com/office/drawing/2014/main" id="{3C663D43-268C-53AE-455E-FD0977CCE05C}"/>
              </a:ext>
            </a:extLst>
          </p:cNvPr>
          <p:cNvPicPr>
            <a:picLocks noChangeAspect="1"/>
          </p:cNvPicPr>
          <p:nvPr/>
        </p:nvPicPr>
        <p:blipFill>
          <a:blip r:embed="rId6"/>
          <a:stretch>
            <a:fillRect/>
          </a:stretch>
        </p:blipFill>
        <p:spPr>
          <a:xfrm>
            <a:off x="879223" y="5151468"/>
            <a:ext cx="380409" cy="380409"/>
          </a:xfrm>
          <a:prstGeom prst="rect">
            <a:avLst/>
          </a:prstGeom>
          <a:effectLst>
            <a:glow rad="25400">
              <a:schemeClr val="accent5">
                <a:lumMod val="40000"/>
                <a:lumOff val="60000"/>
                <a:alpha val="40000"/>
              </a:schemeClr>
            </a:glow>
            <a:softEdge rad="12700"/>
          </a:effectLst>
        </p:spPr>
      </p:pic>
      <p:pic>
        <p:nvPicPr>
          <p:cNvPr id="9" name="圖片 8">
            <a:extLst>
              <a:ext uri="{FF2B5EF4-FFF2-40B4-BE49-F238E27FC236}">
                <a16:creationId xmlns:a16="http://schemas.microsoft.com/office/drawing/2014/main" id="{F5012F1A-6F0A-97DF-CC14-7D190C26E4F0}"/>
              </a:ext>
            </a:extLst>
          </p:cNvPr>
          <p:cNvPicPr>
            <a:picLocks noChangeAspect="1"/>
          </p:cNvPicPr>
          <p:nvPr/>
        </p:nvPicPr>
        <p:blipFill>
          <a:blip r:embed="rId7"/>
          <a:stretch>
            <a:fillRect/>
          </a:stretch>
        </p:blipFill>
        <p:spPr>
          <a:xfrm>
            <a:off x="2483768" y="5240323"/>
            <a:ext cx="284964" cy="225568"/>
          </a:xfrm>
          <a:prstGeom prst="rect">
            <a:avLst/>
          </a:prstGeom>
        </p:spPr>
      </p:pic>
      <p:pic>
        <p:nvPicPr>
          <p:cNvPr id="22" name="圖片 21">
            <a:extLst>
              <a:ext uri="{FF2B5EF4-FFF2-40B4-BE49-F238E27FC236}">
                <a16:creationId xmlns:a16="http://schemas.microsoft.com/office/drawing/2014/main" id="{3D4C8B4F-8579-798A-BD81-2A9ED45B4E54}"/>
              </a:ext>
            </a:extLst>
          </p:cNvPr>
          <p:cNvPicPr>
            <a:picLocks noChangeAspect="1"/>
          </p:cNvPicPr>
          <p:nvPr/>
        </p:nvPicPr>
        <p:blipFill>
          <a:blip r:embed="rId8"/>
          <a:stretch>
            <a:fillRect/>
          </a:stretch>
        </p:blipFill>
        <p:spPr>
          <a:xfrm>
            <a:off x="8317433" y="5208413"/>
            <a:ext cx="287015" cy="284965"/>
          </a:xfrm>
          <a:prstGeom prst="rect">
            <a:avLst/>
          </a:prstGeom>
        </p:spPr>
      </p:pic>
      <p:pic>
        <p:nvPicPr>
          <p:cNvPr id="30" name="圖片 29">
            <a:extLst>
              <a:ext uri="{FF2B5EF4-FFF2-40B4-BE49-F238E27FC236}">
                <a16:creationId xmlns:a16="http://schemas.microsoft.com/office/drawing/2014/main" id="{46A64EA5-8F7A-E610-5F8F-CE72FAA64EBE}"/>
              </a:ext>
            </a:extLst>
          </p:cNvPr>
          <p:cNvPicPr>
            <a:picLocks noChangeAspect="1"/>
          </p:cNvPicPr>
          <p:nvPr/>
        </p:nvPicPr>
        <p:blipFill>
          <a:blip r:embed="rId9"/>
          <a:stretch>
            <a:fillRect/>
          </a:stretch>
        </p:blipFill>
        <p:spPr>
          <a:xfrm>
            <a:off x="3779912" y="2942072"/>
            <a:ext cx="980309" cy="265437"/>
          </a:xfrm>
          <a:prstGeom prst="rect">
            <a:avLst/>
          </a:prstGeom>
          <a:effectLst>
            <a:glow rad="50800">
              <a:schemeClr val="tx1">
                <a:alpha val="20000"/>
              </a:schemeClr>
            </a:glow>
            <a:softEdge rad="0"/>
          </a:effectLst>
        </p:spPr>
      </p:pic>
      <p:pic>
        <p:nvPicPr>
          <p:cNvPr id="31" name="圖片 30" descr="EleutherAI">
            <a:extLst>
              <a:ext uri="{FF2B5EF4-FFF2-40B4-BE49-F238E27FC236}">
                <a16:creationId xmlns:a16="http://schemas.microsoft.com/office/drawing/2014/main" id="{B9927168-FE93-7A1D-D637-FBC5D13D256E}"/>
              </a:ext>
            </a:extLst>
          </p:cNvPr>
          <p:cNvPicPr>
            <a:picLocks noChangeAspect="1"/>
          </p:cNvPicPr>
          <p:nvPr/>
        </p:nvPicPr>
        <p:blipFill>
          <a:blip r:embed="rId10"/>
          <a:stretch>
            <a:fillRect/>
          </a:stretch>
        </p:blipFill>
        <p:spPr>
          <a:xfrm>
            <a:off x="4355976" y="3915928"/>
            <a:ext cx="1595502" cy="331066"/>
          </a:xfrm>
          <a:prstGeom prst="rect">
            <a:avLst/>
          </a:prstGeom>
          <a:effectLst>
            <a:glow rad="76200">
              <a:schemeClr val="tx1">
                <a:alpha val="80000"/>
              </a:schemeClr>
            </a:glow>
            <a:softEdge rad="0"/>
          </a:effectLst>
        </p:spPr>
      </p:pic>
      <p:pic>
        <p:nvPicPr>
          <p:cNvPr id="34" name="圖片 33">
            <a:extLst>
              <a:ext uri="{FF2B5EF4-FFF2-40B4-BE49-F238E27FC236}">
                <a16:creationId xmlns:a16="http://schemas.microsoft.com/office/drawing/2014/main" id="{736F2CD2-8368-1411-CDA1-CD7BED977C1D}"/>
              </a:ext>
            </a:extLst>
          </p:cNvPr>
          <p:cNvPicPr>
            <a:picLocks noChangeAspect="1"/>
          </p:cNvPicPr>
          <p:nvPr/>
        </p:nvPicPr>
        <p:blipFill>
          <a:blip r:embed="rId11"/>
          <a:stretch>
            <a:fillRect/>
          </a:stretch>
        </p:blipFill>
        <p:spPr>
          <a:xfrm>
            <a:off x="6084168" y="5184558"/>
            <a:ext cx="272407" cy="332674"/>
          </a:xfrm>
          <a:prstGeom prst="rect">
            <a:avLst/>
          </a:prstGeom>
        </p:spPr>
      </p:pic>
      <p:pic>
        <p:nvPicPr>
          <p:cNvPr id="36" name="圖片 35">
            <a:extLst>
              <a:ext uri="{FF2B5EF4-FFF2-40B4-BE49-F238E27FC236}">
                <a16:creationId xmlns:a16="http://schemas.microsoft.com/office/drawing/2014/main" id="{19738192-72EC-1EEB-D2CA-5EDC92128DB0}"/>
              </a:ext>
            </a:extLst>
          </p:cNvPr>
          <p:cNvPicPr>
            <a:picLocks noChangeAspect="1"/>
          </p:cNvPicPr>
          <p:nvPr/>
        </p:nvPicPr>
        <p:blipFill>
          <a:blip r:embed="rId12"/>
          <a:stretch>
            <a:fillRect/>
          </a:stretch>
        </p:blipFill>
        <p:spPr>
          <a:xfrm>
            <a:off x="1715117" y="5184558"/>
            <a:ext cx="288546" cy="281333"/>
          </a:xfrm>
          <a:prstGeom prst="rect">
            <a:avLst/>
          </a:prstGeom>
        </p:spPr>
      </p:pic>
    </p:spTree>
    <p:extLst>
      <p:ext uri="{BB962C8B-B14F-4D97-AF65-F5344CB8AC3E}">
        <p14:creationId xmlns:p14="http://schemas.microsoft.com/office/powerpoint/2010/main" val="230050673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a:extLst>
              <a:ext uri="{FF2B5EF4-FFF2-40B4-BE49-F238E27FC236}">
                <a16:creationId xmlns:a16="http://schemas.microsoft.com/office/drawing/2014/main" id="{A0AD4ABC-CD64-231B-FB43-9435DC0B2782}"/>
              </a:ext>
            </a:extLst>
          </p:cNvPr>
          <p:cNvSpPr/>
          <p:nvPr/>
        </p:nvSpPr>
        <p:spPr>
          <a:xfrm>
            <a:off x="6327074" y="3870792"/>
            <a:ext cx="1653476" cy="1132637"/>
          </a:xfrm>
          <a:prstGeom prst="rect">
            <a:avLst/>
          </a:prstGeom>
          <a:noFill/>
          <a:ln w="381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t" anchorCtr="0"/>
          <a:lstStyle/>
          <a:p>
            <a:pPr algn="ctr">
              <a:lnSpc>
                <a:spcPts val="1600"/>
              </a:lnSpc>
            </a:pP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BioMCP</a:t>
            </a:r>
          </a:p>
          <a:p>
            <a:pPr algn="ctr">
              <a:lnSpc>
                <a:spcPts val="1600"/>
              </a:lnSpc>
            </a:pPr>
            <a:r>
              <a:rPr lang="en-US" altLang="zh-TW" sz="1000" dirty="0">
                <a:solidFill>
                  <a:schemeClr val="tx2"/>
                </a:solidFill>
                <a:ea typeface="ADLaM Display" panose="02010000000000000000" pitchFamily="2" charset="0"/>
                <a:cs typeface="ADLaM Display" panose="02010000000000000000" pitchFamily="2" charset="0"/>
              </a:rPr>
              <a:t>(GenomOncology)</a:t>
            </a:r>
          </a:p>
        </p:txBody>
      </p:sp>
      <p:pic>
        <p:nvPicPr>
          <p:cNvPr id="10" name="圖片 9">
            <a:extLst>
              <a:ext uri="{FF2B5EF4-FFF2-40B4-BE49-F238E27FC236}">
                <a16:creationId xmlns:a16="http://schemas.microsoft.com/office/drawing/2014/main" id="{E4147E76-B7BC-90E2-7BFF-C06ADDA56766}"/>
              </a:ext>
            </a:extLst>
          </p:cNvPr>
          <p:cNvPicPr preferRelativeResize="0">
            <a:picLocks/>
          </p:cNvPicPr>
          <p:nvPr/>
        </p:nvPicPr>
        <p:blipFill>
          <a:blip r:embed="rId2"/>
          <a:stretch>
            <a:fillRect/>
          </a:stretch>
        </p:blipFill>
        <p:spPr>
          <a:xfrm>
            <a:off x="7773142" y="3775247"/>
            <a:ext cx="337313" cy="341304"/>
          </a:xfrm>
          <a:prstGeom prst="rect">
            <a:avLst/>
          </a:prstGeom>
          <a:solidFill>
            <a:schemeClr val="accent4">
              <a:lumMod val="20000"/>
              <a:lumOff val="80000"/>
            </a:schemeClr>
          </a:solidFill>
          <a:ln w="19050">
            <a:solidFill>
              <a:schemeClr val="bg1">
                <a:lumMod val="95000"/>
              </a:schemeClr>
            </a:solidFill>
          </a:ln>
          <a:effectLst>
            <a:glow rad="50800">
              <a:schemeClr val="bg1">
                <a:lumMod val="95000"/>
                <a:alpha val="60000"/>
              </a:schemeClr>
            </a:glow>
            <a:softEdge rad="25400"/>
          </a:effectLst>
        </p:spPr>
      </p:pic>
      <p:sp>
        <p:nvSpPr>
          <p:cNvPr id="13" name="矩形 12">
            <a:extLst>
              <a:ext uri="{FF2B5EF4-FFF2-40B4-BE49-F238E27FC236}">
                <a16:creationId xmlns:a16="http://schemas.microsoft.com/office/drawing/2014/main" id="{B0DD0BED-91C0-BCE7-310E-4C34D250658A}"/>
              </a:ext>
            </a:extLst>
          </p:cNvPr>
          <p:cNvSpPr/>
          <p:nvPr/>
        </p:nvSpPr>
        <p:spPr>
          <a:xfrm>
            <a:off x="6416947" y="4429360"/>
            <a:ext cx="1473729" cy="450859"/>
          </a:xfrm>
          <a:prstGeom prst="rect">
            <a:avLst/>
          </a:prstGeom>
          <a:solidFill>
            <a:schemeClr val="accent3">
              <a:lumMod val="20000"/>
              <a:lumOff val="80000"/>
            </a:schemeClr>
          </a:solidFill>
          <a:ln w="254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 rIns="0" bIns="0" rtlCol="0" anchor="t" anchorCtr="0"/>
          <a:lstStyle/>
          <a:p>
            <a:pPr algn="ctr">
              <a:lnSpc>
                <a:spcPts val="1600"/>
              </a:lnSpc>
            </a:pPr>
            <a: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t>MyVariant.info</a:t>
            </a:r>
            <a:b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br>
            <a:r>
              <a:rPr lang="en-US" altLang="zh-TW" sz="1000" dirty="0">
                <a:solidFill>
                  <a:schemeClr val="tx2"/>
                </a:solidFill>
                <a:ea typeface="ADLaM Display" panose="02010000000000000000" pitchFamily="2" charset="0"/>
                <a:cs typeface="ADLaM Display" panose="02010000000000000000" pitchFamily="2" charset="0"/>
              </a:rPr>
              <a:t>(Scripps Research Institute)</a:t>
            </a:r>
          </a:p>
        </p:txBody>
      </p:sp>
      <p:pic>
        <p:nvPicPr>
          <p:cNvPr id="21" name="圖片 20">
            <a:extLst>
              <a:ext uri="{FF2B5EF4-FFF2-40B4-BE49-F238E27FC236}">
                <a16:creationId xmlns:a16="http://schemas.microsoft.com/office/drawing/2014/main" id="{2B983750-F74C-B5C1-10D1-73369C6FD831}"/>
              </a:ext>
            </a:extLst>
          </p:cNvPr>
          <p:cNvPicPr>
            <a:picLocks noChangeAspect="1"/>
          </p:cNvPicPr>
          <p:nvPr/>
        </p:nvPicPr>
        <p:blipFill>
          <a:blip r:embed="rId3"/>
          <a:stretch>
            <a:fillRect/>
          </a:stretch>
        </p:blipFill>
        <p:spPr>
          <a:xfrm>
            <a:off x="7795844" y="4283349"/>
            <a:ext cx="314611" cy="341305"/>
          </a:xfrm>
          <a:prstGeom prst="rect">
            <a:avLst/>
          </a:prstGeom>
          <a:effectLst>
            <a:glow rad="50800">
              <a:schemeClr val="tx1">
                <a:lumMod val="95000"/>
                <a:lumOff val="5000"/>
                <a:alpha val="60000"/>
              </a:schemeClr>
            </a:glow>
            <a:softEdge rad="25400"/>
          </a:effectLst>
        </p:spPr>
      </p:pic>
      <p:graphicFrame>
        <p:nvGraphicFramePr>
          <p:cNvPr id="109" name="表格 108">
            <a:extLst>
              <a:ext uri="{FF2B5EF4-FFF2-40B4-BE49-F238E27FC236}">
                <a16:creationId xmlns:a16="http://schemas.microsoft.com/office/drawing/2014/main" id="{21D0682F-D0D5-3FEB-FA02-4B5EAE7E36DD}"/>
              </a:ext>
            </a:extLst>
          </p:cNvPr>
          <p:cNvGraphicFramePr>
            <a:graphicFrameLocks noGrp="1"/>
          </p:cNvGraphicFramePr>
          <p:nvPr/>
        </p:nvGraphicFramePr>
        <p:xfrm>
          <a:off x="2334256" y="4034730"/>
          <a:ext cx="1432386" cy="2050040"/>
        </p:xfrm>
        <a:graphic>
          <a:graphicData uri="http://schemas.openxmlformats.org/drawingml/2006/table">
            <a:tbl>
              <a:tblPr firstRow="1" bandRow="1">
                <a:tableStyleId>{5C22544A-7EE6-4342-B048-85BDC9FD1C3A}</a:tableStyleId>
              </a:tblPr>
              <a:tblGrid>
                <a:gridCol w="1432386">
                  <a:extLst>
                    <a:ext uri="{9D8B030D-6E8A-4147-A177-3AD203B41FA5}">
                      <a16:colId xmlns:a16="http://schemas.microsoft.com/office/drawing/2014/main" val="2211145501"/>
                    </a:ext>
                  </a:extLst>
                </a:gridCol>
              </a:tblGrid>
              <a:tr h="1227041">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chemeClr val="tx1"/>
                        </a:solidFill>
                        <a:effectLst/>
                        <a:uLnTx/>
                        <a:uFillTx/>
                        <a:latin typeface="+mn-lt"/>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Fine-Tunning</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Environment</a:t>
                      </a:r>
                    </a:p>
                  </a:txBody>
                  <a:tcPr marL="0" marR="72000" marT="0" marB="72000" anchor="b">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28507786"/>
                  </a:ext>
                </a:extLst>
              </a:tr>
              <a:tr h="82299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GPU</a:t>
                      </a:r>
                    </a:p>
                  </a:txBody>
                  <a:tcPr marL="0" marR="0" marT="0" marB="0" anchor="ctr" anchorCtr="1">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60000"/>
                      </a:schemeClr>
                    </a:solidFill>
                  </a:tcPr>
                </a:tc>
                <a:extLst>
                  <a:ext uri="{0D108BD9-81ED-4DB2-BD59-A6C34878D82A}">
                    <a16:rowId xmlns:a16="http://schemas.microsoft.com/office/drawing/2014/main" val="1228831162"/>
                  </a:ext>
                </a:extLst>
              </a:tr>
            </a:tbl>
          </a:graphicData>
        </a:graphic>
      </p:graphicFrame>
      <p:sp>
        <p:nvSpPr>
          <p:cNvPr id="3" name="文字方塊 2">
            <a:extLst>
              <a:ext uri="{FF2B5EF4-FFF2-40B4-BE49-F238E27FC236}">
                <a16:creationId xmlns:a16="http://schemas.microsoft.com/office/drawing/2014/main" id="{F014465A-7992-6D2B-0ED2-2EFC285D37EC}"/>
              </a:ext>
            </a:extLst>
          </p:cNvPr>
          <p:cNvSpPr txBox="1"/>
          <p:nvPr/>
        </p:nvSpPr>
        <p:spPr>
          <a:xfrm>
            <a:off x="213023" y="1052736"/>
            <a:ext cx="8751465" cy="1477328"/>
          </a:xfrm>
          <a:prstGeom prst="rect">
            <a:avLst/>
          </a:prstGeom>
          <a:noFill/>
        </p:spPr>
        <p:txBody>
          <a:bodyPr wrap="square">
            <a:spAutoFit/>
          </a:bodyPr>
          <a:lstStyle/>
          <a:p>
            <a:pPr>
              <a:lnSpc>
                <a:spcPts val="1800"/>
              </a:lnSpc>
              <a:spcBef>
                <a:spcPts val="600"/>
              </a:spcBef>
              <a:spcAft>
                <a:spcPts val="600"/>
              </a:spcAft>
              <a:buNone/>
            </a:pPr>
            <a:r>
              <a:rPr lang="en-US" altLang="zh-TW" sz="2000" b="1" dirty="0"/>
              <a:t>Buildup</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Fine-Tuning Solution</a:t>
            </a:r>
            <a:r>
              <a:rPr lang="en-US" altLang="zh-TW" sz="1600" b="0" u="none" strike="noStrike" dirty="0">
                <a:effectLst/>
              </a:rPr>
              <a:t>:</a:t>
            </a:r>
            <a:r>
              <a:rPr lang="zh-TW" altLang="en-US" sz="1600" b="0" u="none" strike="noStrike" dirty="0">
                <a:effectLst/>
              </a:rPr>
              <a:t> </a:t>
            </a:r>
            <a:r>
              <a:rPr lang="en-US" altLang="zh-TW" sz="1600" b="0" u="none" strike="noStrike" dirty="0">
                <a:effectLst/>
              </a:rPr>
              <a:t>Support QLoRA</a:t>
            </a:r>
            <a:r>
              <a:rPr lang="en-US" altLang="zh-TW" sz="1600" dirty="0"/>
              <a:t>. (Unsloth,</a:t>
            </a:r>
            <a:r>
              <a:rPr lang="zh-TW" altLang="en-US" sz="1600" dirty="0"/>
              <a:t> </a:t>
            </a:r>
            <a:r>
              <a:rPr lang="en-US" altLang="zh-TW" sz="1600" dirty="0"/>
              <a:t>Hugging Face TRL)</a:t>
            </a:r>
          </a:p>
          <a:p>
            <a:pPr marL="285750" indent="-285750">
              <a:lnSpc>
                <a:spcPts val="1800"/>
              </a:lnSpc>
              <a:spcBef>
                <a:spcPts val="600"/>
              </a:spcBef>
              <a:spcAft>
                <a:spcPts val="600"/>
              </a:spcAft>
              <a:buFont typeface="Wingdings" panose="05000000000000000000" pitchFamily="2" charset="2"/>
              <a:buChar char="Ø"/>
            </a:pPr>
            <a:r>
              <a:rPr lang="en-US" altLang="zh-TW" sz="1600" b="1" dirty="0"/>
              <a:t>Model Engine</a:t>
            </a:r>
            <a:r>
              <a:rPr lang="en-US" altLang="zh-TW" sz="1600" dirty="0"/>
              <a:t>: Freeze base weight. ( llama, Gemma 4)</a:t>
            </a:r>
          </a:p>
          <a:p>
            <a:pPr marL="285750" indent="-285750">
              <a:lnSpc>
                <a:spcPts val="1800"/>
              </a:lnSpc>
              <a:spcBef>
                <a:spcPts val="600"/>
              </a:spcBef>
              <a:spcAft>
                <a:spcPts val="600"/>
              </a:spcAft>
              <a:buFont typeface="Wingdings" panose="05000000000000000000" pitchFamily="2" charset="2"/>
              <a:buChar char="Ø"/>
            </a:pPr>
            <a:r>
              <a:rPr lang="en-US" altLang="zh-TW" sz="1600" b="1" dirty="0"/>
              <a:t>Agent</a:t>
            </a:r>
            <a:r>
              <a:rPr lang="en-US" altLang="zh-TW" sz="1600" dirty="0"/>
              <a:t>:</a:t>
            </a:r>
            <a:r>
              <a:rPr lang="zh-TW" altLang="en-US" sz="1600" dirty="0"/>
              <a:t> </a:t>
            </a:r>
            <a:r>
              <a:rPr lang="en-US" altLang="zh-TW" sz="1600" dirty="0"/>
              <a:t>OpenClaw and bio-python library.</a:t>
            </a:r>
          </a:p>
        </p:txBody>
      </p:sp>
      <p:sp>
        <p:nvSpPr>
          <p:cNvPr id="5" name="標題 1">
            <a:extLst>
              <a:ext uri="{FF2B5EF4-FFF2-40B4-BE49-F238E27FC236}">
                <a16:creationId xmlns:a16="http://schemas.microsoft.com/office/drawing/2014/main" id="{A6861017-B894-8BC1-F162-75F3B0AC580D}"/>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Building the Bio-IT AI</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Agent</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AI agents will collaborate with Summit Spatial sequencers to complete tasks.</a:t>
            </a:r>
          </a:p>
        </p:txBody>
      </p:sp>
      <p:graphicFrame>
        <p:nvGraphicFramePr>
          <p:cNvPr id="20" name="表格 19">
            <a:extLst>
              <a:ext uri="{FF2B5EF4-FFF2-40B4-BE49-F238E27FC236}">
                <a16:creationId xmlns:a16="http://schemas.microsoft.com/office/drawing/2014/main" id="{45B540ED-60EE-58A7-8070-E5C33AF10E99}"/>
              </a:ext>
            </a:extLst>
          </p:cNvPr>
          <p:cNvGraphicFramePr>
            <a:graphicFrameLocks noGrp="1"/>
          </p:cNvGraphicFramePr>
          <p:nvPr/>
        </p:nvGraphicFramePr>
        <p:xfrm>
          <a:off x="4826419" y="4019587"/>
          <a:ext cx="1217339" cy="2050041"/>
        </p:xfrm>
        <a:graphic>
          <a:graphicData uri="http://schemas.openxmlformats.org/drawingml/2006/table">
            <a:tbl>
              <a:tblPr firstRow="1" bandRow="1">
                <a:tableStyleId>{5C22544A-7EE6-4342-B048-85BDC9FD1C3A}</a:tableStyleId>
              </a:tblPr>
              <a:tblGrid>
                <a:gridCol w="1217339">
                  <a:extLst>
                    <a:ext uri="{9D8B030D-6E8A-4147-A177-3AD203B41FA5}">
                      <a16:colId xmlns:a16="http://schemas.microsoft.com/office/drawing/2014/main" val="2211145501"/>
                    </a:ext>
                  </a:extLst>
                </a:gridCol>
              </a:tblGrid>
              <a:tr h="429442">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 </a:t>
                      </a:r>
                    </a:p>
                  </a:txBody>
                  <a:tcPr marL="0" marR="72000" marT="0" marB="36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28575" cap="flat" cmpd="sng" algn="ctr">
                      <a:solidFill>
                        <a:schemeClr val="accent1">
                          <a:lumMod val="20000"/>
                          <a:lumOff val="8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28507786"/>
                  </a:ext>
                </a:extLst>
              </a:tr>
              <a:tr h="794709">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Inference</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Environment</a:t>
                      </a:r>
                    </a:p>
                  </a:txBody>
                  <a:tcPr marL="0" marR="72000" marT="0" marB="72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38426438"/>
                  </a:ext>
                </a:extLst>
              </a:tr>
              <a:tr h="82589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PC/NB</a:t>
                      </a:r>
                    </a:p>
                  </a:txBody>
                  <a:tcPr marL="0" marR="0" marT="0" marB="0" anchor="ctr" anchorCtr="1">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2857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1">
                        <a:lumMod val="95000"/>
                        <a:alpha val="60000"/>
                      </a:schemeClr>
                    </a:solidFill>
                  </a:tcPr>
                </a:tc>
                <a:extLst>
                  <a:ext uri="{0D108BD9-81ED-4DB2-BD59-A6C34878D82A}">
                    <a16:rowId xmlns:a16="http://schemas.microsoft.com/office/drawing/2014/main" val="4002830567"/>
                  </a:ext>
                </a:extLst>
              </a:tr>
            </a:tbl>
          </a:graphicData>
        </a:graphic>
      </p:graphicFrame>
      <p:pic>
        <p:nvPicPr>
          <p:cNvPr id="4" name="圖片 3">
            <a:extLst>
              <a:ext uri="{FF2B5EF4-FFF2-40B4-BE49-F238E27FC236}">
                <a16:creationId xmlns:a16="http://schemas.microsoft.com/office/drawing/2014/main" id="{F9EE3A7A-38B4-D1E9-5799-C8A7D35B9777}"/>
              </a:ext>
            </a:extLst>
          </p:cNvPr>
          <p:cNvPicPr>
            <a:picLocks noChangeAspect="1"/>
          </p:cNvPicPr>
          <p:nvPr/>
        </p:nvPicPr>
        <p:blipFill>
          <a:blip r:embed="rId4"/>
          <a:stretch>
            <a:fillRect/>
          </a:stretch>
        </p:blipFill>
        <p:spPr>
          <a:xfrm>
            <a:off x="5114451" y="3845698"/>
            <a:ext cx="432048" cy="432048"/>
          </a:xfrm>
          <a:prstGeom prst="rect">
            <a:avLst/>
          </a:prstGeom>
          <a:effectLst>
            <a:glow rad="25400">
              <a:schemeClr val="accent1">
                <a:lumMod val="20000"/>
                <a:lumOff val="80000"/>
                <a:alpha val="40000"/>
              </a:schemeClr>
            </a:glow>
            <a:softEdge rad="50800"/>
          </a:effectLst>
        </p:spPr>
      </p:pic>
      <p:cxnSp>
        <p:nvCxnSpPr>
          <p:cNvPr id="42" name="接點: 肘形 41">
            <a:extLst>
              <a:ext uri="{FF2B5EF4-FFF2-40B4-BE49-F238E27FC236}">
                <a16:creationId xmlns:a16="http://schemas.microsoft.com/office/drawing/2014/main" id="{FC7173A3-FD52-3361-7E1C-CBD7A5EB8814}"/>
              </a:ext>
            </a:extLst>
          </p:cNvPr>
          <p:cNvCxnSpPr>
            <a:cxnSpLocks/>
            <a:stCxn id="8" idx="2"/>
            <a:endCxn id="46" idx="1"/>
          </p:cNvCxnSpPr>
          <p:nvPr/>
        </p:nvCxnSpPr>
        <p:spPr>
          <a:xfrm rot="16200000" flipH="1">
            <a:off x="3519681" y="3964968"/>
            <a:ext cx="262708" cy="120699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063E6162-D5C9-01FE-BA92-C6CBDE280172}"/>
              </a:ext>
            </a:extLst>
          </p:cNvPr>
          <p:cNvSpPr/>
          <p:nvPr/>
        </p:nvSpPr>
        <p:spPr>
          <a:xfrm>
            <a:off x="4254532" y="4545827"/>
            <a:ext cx="859919" cy="307983"/>
          </a:xfrm>
          <a:prstGeom prst="rect">
            <a:avLst/>
          </a:prstGeom>
          <a:solidFill>
            <a:schemeClr val="accent1">
              <a:lumMod val="20000"/>
              <a:lumOff val="80000"/>
              <a:alpha val="40000"/>
            </a:schemeClr>
          </a:solidFill>
          <a:ln w="38100">
            <a:solidFill>
              <a:schemeClr val="tx2">
                <a:lumMod val="60000"/>
                <a:lumOff val="4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b="1" dirty="0">
                <a:solidFill>
                  <a:schemeClr val="tx2"/>
                </a:solidFill>
              </a:rPr>
              <a:t>Gemma 4</a:t>
            </a:r>
            <a:endParaRPr lang="zh-TW" altLang="en-US" dirty="0"/>
          </a:p>
        </p:txBody>
      </p:sp>
      <p:grpSp>
        <p:nvGrpSpPr>
          <p:cNvPr id="37" name="群組 36">
            <a:extLst>
              <a:ext uri="{FF2B5EF4-FFF2-40B4-BE49-F238E27FC236}">
                <a16:creationId xmlns:a16="http://schemas.microsoft.com/office/drawing/2014/main" id="{AD71FA00-73CF-96E2-DB9D-29D266518612}"/>
              </a:ext>
            </a:extLst>
          </p:cNvPr>
          <p:cNvGrpSpPr/>
          <p:nvPr/>
        </p:nvGrpSpPr>
        <p:grpSpPr>
          <a:xfrm>
            <a:off x="4484767" y="4781802"/>
            <a:ext cx="396274" cy="465099"/>
            <a:chOff x="283951" y="1194723"/>
            <a:chExt cx="487696" cy="626385"/>
          </a:xfrm>
          <a:effectLst>
            <a:glow rad="76200">
              <a:schemeClr val="accent1">
                <a:lumMod val="20000"/>
                <a:lumOff val="80000"/>
                <a:alpha val="20000"/>
              </a:schemeClr>
            </a:glow>
          </a:effectLst>
        </p:grpSpPr>
        <p:sp>
          <p:nvSpPr>
            <p:cNvPr id="38" name="文字方塊 37">
              <a:extLst>
                <a:ext uri="{FF2B5EF4-FFF2-40B4-BE49-F238E27FC236}">
                  <a16:creationId xmlns:a16="http://schemas.microsoft.com/office/drawing/2014/main" id="{DBE13760-C824-72A8-0F6C-52D418E9F327}"/>
                </a:ext>
              </a:extLst>
            </p:cNvPr>
            <p:cNvSpPr txBox="1"/>
            <p:nvPr/>
          </p:nvSpPr>
          <p:spPr>
            <a:xfrm>
              <a:off x="283951" y="1573740"/>
              <a:ext cx="487696" cy="247368"/>
            </a:xfrm>
            <a:prstGeom prst="rect">
              <a:avLst/>
            </a:prstGeom>
            <a:solidFill>
              <a:schemeClr val="bg1">
                <a:lumMod val="95000"/>
                <a:alpha val="40000"/>
              </a:schemeClr>
            </a:solidFill>
            <a:ln>
              <a:noFill/>
            </a:ln>
            <a:effectLst>
              <a:glow rad="25400">
                <a:schemeClr val="bg1">
                  <a:lumMod val="95000"/>
                  <a:alpha val="40000"/>
                </a:schemeClr>
              </a:glow>
              <a:softEdge rad="50800"/>
            </a:effectLst>
          </p:spPr>
          <p:txBody>
            <a:bodyPr wrap="none" lIns="0" tIns="0" rIns="0" bIns="0" anchor="ctr" anchorCtr="1">
              <a:noAutofit/>
            </a:bodyPr>
            <a:lstStyle/>
            <a:p>
              <a:r>
                <a:rPr lang="en-US" altLang="zh-TW" sz="1200" dirty="0">
                  <a:ln w="0"/>
                  <a:solidFill>
                    <a:schemeClr val="accent1">
                      <a:lumMod val="75000"/>
                    </a:schemeClr>
                  </a:solidFill>
                  <a:latin typeface="Calibri"/>
                  <a:ea typeface="新細明體" panose="02020500000000000000" pitchFamily="18" charset="-120"/>
                </a:rPr>
                <a:t>O</a:t>
              </a:r>
              <a:r>
                <a:rPr lang="en-US" altLang="zh-TW" sz="1200" dirty="0">
                  <a:ln w="0"/>
                  <a:solidFill>
                    <a:schemeClr val="tx1">
                      <a:lumMod val="95000"/>
                      <a:lumOff val="5000"/>
                    </a:schemeClr>
                  </a:solidFill>
                  <a:latin typeface="Calibri"/>
                  <a:ea typeface="新細明體" panose="02020500000000000000" pitchFamily="18" charset="-120"/>
                </a:rPr>
                <a:t>llama</a:t>
              </a:r>
            </a:p>
          </p:txBody>
        </p:sp>
        <p:pic>
          <p:nvPicPr>
            <p:cNvPr id="39" name="圖片 38">
              <a:extLst>
                <a:ext uri="{FF2B5EF4-FFF2-40B4-BE49-F238E27FC236}">
                  <a16:creationId xmlns:a16="http://schemas.microsoft.com/office/drawing/2014/main" id="{BDD586E3-E3B0-BBF3-6C2C-F304D5C0DCF3}"/>
                </a:ext>
              </a:extLst>
            </p:cNvPr>
            <p:cNvPicPr>
              <a:picLocks noChangeAspect="1"/>
            </p:cNvPicPr>
            <p:nvPr/>
          </p:nvPicPr>
          <p:blipFill>
            <a:blip r:embed="rId5"/>
            <a:stretch>
              <a:fillRect/>
            </a:stretch>
          </p:blipFill>
          <p:spPr>
            <a:xfrm>
              <a:off x="355960" y="1194723"/>
              <a:ext cx="337951" cy="390669"/>
            </a:xfrm>
            <a:prstGeom prst="rect">
              <a:avLst/>
            </a:prstGeom>
            <a:solidFill>
              <a:schemeClr val="bg1">
                <a:alpha val="20000"/>
              </a:schemeClr>
            </a:solidFill>
            <a:effectLst>
              <a:glow rad="76200">
                <a:schemeClr val="accent1">
                  <a:lumMod val="20000"/>
                  <a:lumOff val="80000"/>
                  <a:alpha val="40000"/>
                </a:schemeClr>
              </a:glow>
              <a:softEdge rad="25400"/>
            </a:effectLst>
          </p:spPr>
        </p:pic>
      </p:grpSp>
      <p:sp>
        <p:nvSpPr>
          <p:cNvPr id="61" name="文字方塊 60">
            <a:extLst>
              <a:ext uri="{FF2B5EF4-FFF2-40B4-BE49-F238E27FC236}">
                <a16:creationId xmlns:a16="http://schemas.microsoft.com/office/drawing/2014/main" id="{67F5AA83-B63F-1EB5-698E-7FFF4D222A30}"/>
              </a:ext>
            </a:extLst>
          </p:cNvPr>
          <p:cNvSpPr txBox="1"/>
          <p:nvPr/>
        </p:nvSpPr>
        <p:spPr>
          <a:xfrm>
            <a:off x="5010741" y="2981602"/>
            <a:ext cx="646161" cy="284703"/>
          </a:xfrm>
          <a:prstGeom prst="rect">
            <a:avLst/>
          </a:prstGeom>
          <a:noFill/>
        </p:spPr>
        <p:txBody>
          <a:bodyPr wrap="none" lIns="0" tIns="0" rIns="0" bIns="0" anchor="ctr" anchorCtr="1">
            <a:noAutofit/>
          </a:bodyPr>
          <a:lstStyle/>
          <a:p>
            <a:pPr algn="ctr">
              <a:lnSpc>
                <a:spcPts val="2000"/>
              </a:lnSpc>
              <a:buNone/>
            </a:pPr>
            <a:r>
              <a:rPr lang="en-US" altLang="zh-TW" sz="2000" b="1" u="none" strike="noStrike" dirty="0">
                <a:effectLst/>
              </a:rPr>
              <a:t>User</a:t>
            </a:r>
          </a:p>
        </p:txBody>
      </p:sp>
      <p:cxnSp>
        <p:nvCxnSpPr>
          <p:cNvPr id="62" name="直線單箭頭接點 61">
            <a:extLst>
              <a:ext uri="{FF2B5EF4-FFF2-40B4-BE49-F238E27FC236}">
                <a16:creationId xmlns:a16="http://schemas.microsoft.com/office/drawing/2014/main" id="{A496B558-57D1-8B0F-DD92-B32AFC3E6647}"/>
              </a:ext>
            </a:extLst>
          </p:cNvPr>
          <p:cNvCxnSpPr>
            <a:cxnSpLocks/>
            <a:stCxn id="61" idx="2"/>
            <a:endCxn id="4" idx="0"/>
          </p:cNvCxnSpPr>
          <p:nvPr/>
        </p:nvCxnSpPr>
        <p:spPr>
          <a:xfrm flipH="1">
            <a:off x="5330475" y="3266305"/>
            <a:ext cx="3347" cy="579393"/>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線單箭頭接點 100">
            <a:extLst>
              <a:ext uri="{FF2B5EF4-FFF2-40B4-BE49-F238E27FC236}">
                <a16:creationId xmlns:a16="http://schemas.microsoft.com/office/drawing/2014/main" id="{DA424801-F801-7754-6900-FA56043A9135}"/>
              </a:ext>
            </a:extLst>
          </p:cNvPr>
          <p:cNvCxnSpPr>
            <a:cxnSpLocks/>
            <a:stCxn id="4" idx="3"/>
            <a:endCxn id="122" idx="0"/>
          </p:cNvCxnSpPr>
          <p:nvPr/>
        </p:nvCxnSpPr>
        <p:spPr>
          <a:xfrm flipV="1">
            <a:off x="5546499" y="4061721"/>
            <a:ext cx="390288" cy="1"/>
          </a:xfrm>
          <a:prstGeom prst="straightConnector1">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2" name="箭號: 向下 121">
            <a:extLst>
              <a:ext uri="{FF2B5EF4-FFF2-40B4-BE49-F238E27FC236}">
                <a16:creationId xmlns:a16="http://schemas.microsoft.com/office/drawing/2014/main" id="{33B733D2-7161-33F4-79FD-E649F748C48C}"/>
              </a:ext>
            </a:extLst>
          </p:cNvPr>
          <p:cNvSpPr/>
          <p:nvPr/>
        </p:nvSpPr>
        <p:spPr>
          <a:xfrm rot="16200000">
            <a:off x="6003799" y="3831784"/>
            <a:ext cx="325849" cy="459874"/>
          </a:xfrm>
          <a:prstGeom prst="downArrow">
            <a:avLst>
              <a:gd name="adj1" fmla="val 62892"/>
              <a:gd name="adj2" fmla="val 52184"/>
            </a:avLst>
          </a:prstGeom>
          <a:solidFill>
            <a:schemeClr val="accent4">
              <a:lumMod val="20000"/>
              <a:lumOff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72000" rIns="0" bIns="0" rtlCol="0" anchor="ctr" anchorCtr="1"/>
          <a:lstStyle/>
          <a:p>
            <a:pPr algn="ctr"/>
            <a:r>
              <a:rPr lang="en-US" altLang="zh-TW" sz="1200" b="1" dirty="0">
                <a:solidFill>
                  <a:schemeClr val="accent4">
                    <a:lumMod val="75000"/>
                  </a:schemeClr>
                </a:solidFill>
              </a:rPr>
              <a:t>MCP</a:t>
            </a:r>
            <a:endParaRPr lang="zh-TW" altLang="en-US" sz="1200" b="1" dirty="0">
              <a:solidFill>
                <a:schemeClr val="accent4">
                  <a:lumMod val="75000"/>
                </a:schemeClr>
              </a:solidFill>
            </a:endParaRPr>
          </a:p>
        </p:txBody>
      </p:sp>
      <p:cxnSp>
        <p:nvCxnSpPr>
          <p:cNvPr id="123" name="接點: 肘形 122">
            <a:extLst>
              <a:ext uri="{FF2B5EF4-FFF2-40B4-BE49-F238E27FC236}">
                <a16:creationId xmlns:a16="http://schemas.microsoft.com/office/drawing/2014/main" id="{86FF8C34-7087-86E9-F333-164B1E3A395E}"/>
              </a:ext>
            </a:extLst>
          </p:cNvPr>
          <p:cNvCxnSpPr>
            <a:cxnSpLocks/>
            <a:stCxn id="4" idx="2"/>
            <a:endCxn id="46" idx="3"/>
          </p:cNvCxnSpPr>
          <p:nvPr/>
        </p:nvCxnSpPr>
        <p:spPr>
          <a:xfrm rot="5400000">
            <a:off x="5011427" y="4380770"/>
            <a:ext cx="422073" cy="216024"/>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 name="語音泡泡: 圓角矩形 11">
            <a:extLst>
              <a:ext uri="{FF2B5EF4-FFF2-40B4-BE49-F238E27FC236}">
                <a16:creationId xmlns:a16="http://schemas.microsoft.com/office/drawing/2014/main" id="{805C6CFD-1267-A5F6-F337-D02B15A18DC9}"/>
              </a:ext>
            </a:extLst>
          </p:cNvPr>
          <p:cNvSpPr/>
          <p:nvPr/>
        </p:nvSpPr>
        <p:spPr>
          <a:xfrm>
            <a:off x="5690515" y="2864864"/>
            <a:ext cx="1329757" cy="636144"/>
          </a:xfrm>
          <a:prstGeom prst="wedgeRoundRectCallout">
            <a:avLst>
              <a:gd name="adj1" fmla="val -68885"/>
              <a:gd name="adj2" fmla="val 585"/>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Dr. BioByte,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Please interpret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My </a:t>
            </a: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gut biopsy.</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15" name="語音泡泡: 圓角矩形 14">
            <a:extLst>
              <a:ext uri="{FF2B5EF4-FFF2-40B4-BE49-F238E27FC236}">
                <a16:creationId xmlns:a16="http://schemas.microsoft.com/office/drawing/2014/main" id="{7646EECD-3620-7195-6E62-42B29BED12D2}"/>
              </a:ext>
            </a:extLst>
          </p:cNvPr>
          <p:cNvSpPr/>
          <p:nvPr/>
        </p:nvSpPr>
        <p:spPr>
          <a:xfrm>
            <a:off x="3895382" y="3269634"/>
            <a:ext cx="1219070" cy="610905"/>
          </a:xfrm>
          <a:prstGeom prst="wedgeRoundRectCallout">
            <a:avLst>
              <a:gd name="adj1" fmla="val 59020"/>
              <a:gd name="adj2" fmla="val 57509"/>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Terrible, </a:t>
            </a:r>
            <a:b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b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Zero fast food.</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Eat real grass.</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pic>
        <p:nvPicPr>
          <p:cNvPr id="8" name="圖片 7">
            <a:extLst>
              <a:ext uri="{FF2B5EF4-FFF2-40B4-BE49-F238E27FC236}">
                <a16:creationId xmlns:a16="http://schemas.microsoft.com/office/drawing/2014/main" id="{6BEE719D-AA9B-D04C-EC5E-E63F70E1E42A}"/>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831514" y="4005064"/>
            <a:ext cx="432048" cy="432047"/>
          </a:xfrm>
          <a:prstGeom prst="rect">
            <a:avLst/>
          </a:prstGeom>
          <a:effectLst>
            <a:glow rad="76200">
              <a:srgbClr val="00B050">
                <a:alpha val="40000"/>
              </a:srgbClr>
            </a:glow>
          </a:effectLst>
        </p:spPr>
      </p:pic>
      <p:sp>
        <p:nvSpPr>
          <p:cNvPr id="114" name="文字方塊 113">
            <a:extLst>
              <a:ext uri="{FF2B5EF4-FFF2-40B4-BE49-F238E27FC236}">
                <a16:creationId xmlns:a16="http://schemas.microsoft.com/office/drawing/2014/main" id="{A157AB89-C11C-9FF7-93B3-94697A292BC9}"/>
              </a:ext>
            </a:extLst>
          </p:cNvPr>
          <p:cNvSpPr txBox="1"/>
          <p:nvPr/>
        </p:nvSpPr>
        <p:spPr>
          <a:xfrm>
            <a:off x="2843808" y="4477776"/>
            <a:ext cx="432048" cy="247368"/>
          </a:xfrm>
          <a:prstGeom prst="rect">
            <a:avLst/>
          </a:prstGeom>
          <a:solidFill>
            <a:schemeClr val="bg1">
              <a:lumMod val="95000"/>
              <a:alpha val="40000"/>
            </a:schemeClr>
          </a:solidFill>
          <a:ln>
            <a:noFill/>
          </a:ln>
          <a:effectLst/>
        </p:spPr>
        <p:txBody>
          <a:bodyPr wrap="none" lIns="0" tIns="0" rIns="0" bIns="0" anchor="ctr" anchorCtr="1">
            <a:noAutofit/>
          </a:bodyPr>
          <a:lstStyle/>
          <a:p>
            <a:r>
              <a:rPr lang="en-US" altLang="zh-TW" sz="1200" dirty="0">
                <a:ln w="0"/>
                <a:latin typeface="Calibri"/>
                <a:ea typeface="新細明體" panose="02020500000000000000" pitchFamily="18" charset="-120"/>
              </a:rPr>
              <a:t>Unsloth</a:t>
            </a:r>
            <a:endParaRPr lang="en-US" altLang="zh-TW" sz="1200" dirty="0">
              <a:ln w="0"/>
              <a:solidFill>
                <a:schemeClr val="tx1">
                  <a:lumMod val="95000"/>
                  <a:lumOff val="5000"/>
                </a:schemeClr>
              </a:solidFill>
              <a:latin typeface="Calibri"/>
              <a:ea typeface="新細明體" panose="02020500000000000000" pitchFamily="18" charset="-120"/>
            </a:endParaRPr>
          </a:p>
        </p:txBody>
      </p:sp>
      <p:pic>
        <p:nvPicPr>
          <p:cNvPr id="7" name="圖片 6">
            <a:extLst>
              <a:ext uri="{FF2B5EF4-FFF2-40B4-BE49-F238E27FC236}">
                <a16:creationId xmlns:a16="http://schemas.microsoft.com/office/drawing/2014/main" id="{65702545-0EF5-72BF-9149-DBDB7D6270A6}"/>
              </a:ext>
            </a:extLst>
          </p:cNvPr>
          <p:cNvPicPr>
            <a:picLocks noChangeAspect="1"/>
          </p:cNvPicPr>
          <p:nvPr/>
        </p:nvPicPr>
        <p:blipFill>
          <a:blip r:embed="rId7"/>
          <a:stretch>
            <a:fillRect/>
          </a:stretch>
        </p:blipFill>
        <p:spPr>
          <a:xfrm>
            <a:off x="2402102" y="4811708"/>
            <a:ext cx="411308" cy="386908"/>
          </a:xfrm>
          <a:prstGeom prst="rect">
            <a:avLst/>
          </a:prstGeom>
          <a:effectLst>
            <a:glow rad="76200">
              <a:schemeClr val="accent6">
                <a:lumMod val="20000"/>
                <a:lumOff val="80000"/>
              </a:schemeClr>
            </a:glow>
            <a:softEdge rad="50800"/>
          </a:effectLst>
        </p:spPr>
      </p:pic>
    </p:spTree>
    <p:extLst>
      <p:ext uri="{BB962C8B-B14F-4D97-AF65-F5344CB8AC3E}">
        <p14:creationId xmlns:p14="http://schemas.microsoft.com/office/powerpoint/2010/main" val="124555143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C2FA1-D71C-1571-5DF7-FBBBA4385E46}"/>
            </a:ext>
          </a:extLst>
        </p:cNvPr>
        <p:cNvGrpSpPr/>
        <p:nvPr/>
      </p:nvGrpSpPr>
      <p:grpSpPr>
        <a:xfrm>
          <a:off x="0" y="0"/>
          <a:ext cx="0" cy="0"/>
          <a:chOff x="0" y="0"/>
          <a:chExt cx="0" cy="0"/>
        </a:xfrm>
      </p:grpSpPr>
      <p:sp>
        <p:nvSpPr>
          <p:cNvPr id="6" name="文字方塊 5">
            <a:extLst>
              <a:ext uri="{FF2B5EF4-FFF2-40B4-BE49-F238E27FC236}">
                <a16:creationId xmlns:a16="http://schemas.microsoft.com/office/drawing/2014/main" id="{18753B56-4876-526F-D548-E446B615A4E6}"/>
              </a:ext>
            </a:extLst>
          </p:cNvPr>
          <p:cNvSpPr txBox="1"/>
          <p:nvPr/>
        </p:nvSpPr>
        <p:spPr>
          <a:xfrm>
            <a:off x="179512" y="1196752"/>
            <a:ext cx="4824536" cy="4267058"/>
          </a:xfrm>
          <a:prstGeom prst="rect">
            <a:avLst/>
          </a:prstGeom>
          <a:solidFill>
            <a:srgbClr val="EAEAEA"/>
          </a:solidFill>
        </p:spPr>
        <p:txBody>
          <a:bodyPr wrap="none">
            <a:noAutofit/>
          </a:bodyPr>
          <a:lstStyle/>
          <a:p>
            <a:pPr marL="0" marR="0" rtl="0">
              <a:lnSpc>
                <a:spcPts val="1200"/>
              </a:lnSpc>
              <a:buNone/>
            </a:pP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torch</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unsloth</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FastLanguageModel</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transformers</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TrainingArguments</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trl</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SFTTrainer</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1. </a:t>
            </a:r>
            <a:r>
              <a:rPr lang="en-US" altLang="zh-TW" sz="1000" b="0" i="1" u="none" strike="noStrike" dirty="0">
                <a:solidFill>
                  <a:schemeClr val="bg1">
                    <a:lumMod val="50000"/>
                  </a:schemeClr>
                </a:solidFill>
                <a:effectLst/>
                <a:latin typeface="Consolas" panose="020B0609020204030204" pitchFamily="49" charset="0"/>
              </a:rPr>
              <a:t>Load Initialized</a:t>
            </a:r>
            <a:r>
              <a:rPr lang="zh-TW" altLang="zh-TW" sz="1000" b="0" i="1" u="none" strike="noStrike" dirty="0">
                <a:solidFill>
                  <a:schemeClr val="bg1">
                    <a:lumMod val="50000"/>
                  </a:schemeClr>
                </a:solidFill>
                <a:effectLst/>
                <a:latin typeface="Consolas" panose="020B0609020204030204" pitchFamily="49" charset="0"/>
              </a:rPr>
              <a:t> </a:t>
            </a:r>
            <a:r>
              <a:rPr lang="en-US" altLang="zh-TW" sz="1000" b="0" i="1" u="none" strike="noStrike" dirty="0">
                <a:solidFill>
                  <a:schemeClr val="bg1">
                    <a:lumMod val="50000"/>
                  </a:schemeClr>
                </a:solidFill>
                <a:effectLst/>
                <a:latin typeface="Consolas" panose="020B0609020204030204" pitchFamily="49" charset="0"/>
              </a:rPr>
              <a:t>Model and</a:t>
            </a:r>
            <a:r>
              <a:rPr lang="zh-TW" altLang="zh-TW" sz="1000" b="0" i="1" u="none" strike="noStrike" dirty="0">
                <a:solidFill>
                  <a:schemeClr val="bg1">
                    <a:lumMod val="50000"/>
                  </a:schemeClr>
                </a:solidFill>
                <a:effectLst/>
                <a:latin typeface="Consolas" panose="020B0609020204030204" pitchFamily="49" charset="0"/>
              </a:rPr>
              <a:t> Tokenizer</a:t>
            </a: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a:t>
            </a:r>
            <a:r>
              <a:rPr lang="zh-TW" altLang="zh-TW" sz="1000" b="0" u="none" strike="noStrike" dirty="0">
                <a:solidFill>
                  <a:schemeClr val="accent6">
                    <a:lumMod val="50000"/>
                  </a:schemeClr>
                </a:solidFill>
                <a:effectLst/>
                <a:latin typeface="Consolas" panose="020B0609020204030204" pitchFamily="49" charset="0"/>
              </a:rPr>
              <a:t>ax_seq_length</a:t>
            </a:r>
            <a:r>
              <a:rPr lang="zh-TW" altLang="zh-TW" sz="1000" b="0" u="none" strike="noStrike" dirty="0">
                <a:effectLst/>
                <a:latin typeface="Consolas" panose="020B0609020204030204" pitchFamily="49" charset="0"/>
              </a:rPr>
              <a:t> = </a:t>
            </a:r>
            <a:r>
              <a:rPr lang="zh-TW" altLang="zh-TW" sz="1000" b="0" u="none" strike="noStrike" dirty="0">
                <a:solidFill>
                  <a:schemeClr val="accent6">
                    <a:lumMod val="50000"/>
                  </a:schemeClr>
                </a:solidFill>
                <a:effectLst/>
                <a:latin typeface="Consolas" panose="020B0609020204030204" pitchFamily="49" charset="0"/>
              </a:rPr>
              <a:t>2048</a:t>
            </a:r>
            <a:r>
              <a:rPr lang="zh-TW" altLang="zh-TW" sz="1000" b="0" u="none" strike="noStrike" dirty="0">
                <a:effectLst/>
                <a:latin typeface="Consolas" panose="020B0609020204030204" pitchFamily="49" charset="0"/>
              </a:rPr>
              <a:t>  # Context </a:t>
            </a:r>
            <a:r>
              <a:rPr lang="en-US" altLang="zh-TW" sz="1000" b="0" u="none" strike="noStrike" dirty="0">
                <a:effectLst/>
                <a:latin typeface="Consolas" panose="020B0609020204030204" pitchFamily="49" charset="0"/>
              </a:rPr>
              <a:t>Length</a:t>
            </a:r>
            <a:endParaRPr lang="zh-TW" altLang="zh-TW" sz="1000" b="0" u="none" strike="noStrike" dirty="0">
              <a:effectLst/>
              <a:latin typeface="Consolas" panose="020B0609020204030204" pitchFamily="49" charset="0"/>
            </a:endParaRP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model</a:t>
            </a:r>
            <a:r>
              <a:rPr lang="en-US"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tokenizer</a:t>
            </a:r>
            <a:r>
              <a:rPr lang="zh-TW" altLang="zh-TW" sz="1000" b="0" u="none" strike="noStrike" dirty="0">
                <a:effectLst/>
                <a:latin typeface="Consolas" panose="020B0609020204030204" pitchFamily="49" charset="0"/>
              </a:rPr>
              <a:t> = FastLanguageModel.from_pretrained(</a:t>
            </a:r>
          </a:p>
          <a:p>
            <a:pPr marL="0" marR="0" rtl="0">
              <a:lnSpc>
                <a:spcPts val="1200"/>
              </a:lnSpc>
              <a:buNone/>
            </a:pPr>
            <a:r>
              <a:rPr lang="zh-TW" altLang="zh-TW" sz="1000" b="0" u="none" strike="noStrike" dirty="0">
                <a:effectLst/>
                <a:latin typeface="Consolas" panose="020B0609020204030204" pitchFamily="49" charset="0"/>
              </a:rPr>
              <a:t>    model_name=</a:t>
            </a:r>
            <a:r>
              <a:rPr lang="zh-TW" altLang="zh-TW" sz="1000" b="0" u="none" strike="noStrike" dirty="0">
                <a:solidFill>
                  <a:srgbClr val="008000"/>
                </a:solidFill>
                <a:effectLst/>
                <a:latin typeface="Consolas" panose="020B0609020204030204" pitchFamily="49" charset="0"/>
              </a:rPr>
              <a:t>"unsloth/gemma-2-9b-it"</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Init</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load_in_4bit=</a:t>
            </a:r>
            <a:r>
              <a:rPr lang="zh-TW" altLang="zh-TW" sz="1000" b="0" u="none" strike="noStrike" dirty="0">
                <a:solidFill>
                  <a:srgbClr val="7030A0"/>
                </a:solidFill>
                <a:effectLst/>
                <a:latin typeface="Consolas" panose="020B0609020204030204" pitchFamily="49" charset="0"/>
              </a:rPr>
              <a:t>True</a:t>
            </a:r>
            <a:r>
              <a:rPr lang="zh-TW" altLang="zh-TW" sz="1000" b="0" u="none" strike="noStrike" dirty="0">
                <a:effectLst/>
                <a:latin typeface="Consolas" panose="020B0609020204030204" pitchFamily="49" charset="0"/>
              </a:rPr>
              <a:t>,                   # 4-bit</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2. </a:t>
            </a:r>
            <a:r>
              <a:rPr lang="en-US" altLang="zh-TW" sz="1000" b="0" i="1" u="none" strike="noStrike" dirty="0">
                <a:solidFill>
                  <a:schemeClr val="bg1">
                    <a:lumMod val="50000"/>
                  </a:schemeClr>
                </a:solidFill>
                <a:effectLst/>
                <a:latin typeface="Consolas" panose="020B0609020204030204" pitchFamily="49" charset="0"/>
              </a:rPr>
              <a:t>Setup</a:t>
            </a:r>
            <a:r>
              <a:rPr lang="zh-TW" altLang="zh-TW" sz="1000" b="0" i="1" u="none" strike="noStrike" dirty="0">
                <a:solidFill>
                  <a:schemeClr val="bg1">
                    <a:lumMod val="50000"/>
                  </a:schemeClr>
                </a:solidFill>
                <a:effectLst/>
                <a:latin typeface="Consolas" panose="020B0609020204030204" pitchFamily="49" charset="0"/>
              </a:rPr>
              <a:t> Unsloth PEFT(QLoRA) </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model</a:t>
            </a:r>
            <a:r>
              <a:rPr lang="zh-TW" altLang="zh-TW" sz="1000" b="0" u="none" strike="noStrike" dirty="0">
                <a:effectLst/>
                <a:latin typeface="Consolas" panose="020B0609020204030204" pitchFamily="49" charset="0"/>
              </a:rPr>
              <a:t> = FastLanguageModel.get_peft_model(</a:t>
            </a:r>
          </a:p>
          <a:p>
            <a:pPr marL="0" marR="0" rtl="0">
              <a:lnSpc>
                <a:spcPts val="1200"/>
              </a:lnSpc>
              <a:buNone/>
            </a:pPr>
            <a:r>
              <a:rPr lang="zh-TW" altLang="zh-TW" sz="1000" b="0" u="none" strike="noStrike" dirty="0">
                <a:effectLst/>
                <a:latin typeface="Consolas" panose="020B0609020204030204" pitchFamily="49" charset="0"/>
              </a:rPr>
              <a:t>    model,</a:t>
            </a:r>
          </a:p>
          <a:p>
            <a:pPr marL="0" marR="0" rtl="0">
              <a:lnSpc>
                <a:spcPts val="1200"/>
              </a:lnSpc>
              <a:buNone/>
            </a:pPr>
            <a:r>
              <a:rPr lang="zh-TW" altLang="zh-TW" sz="1000" b="0" u="none" strike="noStrike" dirty="0">
                <a:effectLst/>
                <a:latin typeface="Consolas" panose="020B0609020204030204" pitchFamily="49" charset="0"/>
              </a:rPr>
              <a:t>    r=</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lora_alpha=</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target_modules=[</a:t>
            </a:r>
            <a:r>
              <a:rPr lang="zh-TW" altLang="zh-TW" sz="1000" b="0" u="none" strike="noStrike" dirty="0">
                <a:solidFill>
                  <a:srgbClr val="008000"/>
                </a:solidFill>
                <a:effectLst/>
                <a:latin typeface="Consolas" panose="020B0609020204030204" pitchFamily="49" charset="0"/>
              </a:rPr>
              <a:t>"q_proj"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"k_proj"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"v_proj"</a:t>
            </a:r>
            <a:r>
              <a:rPr lang="zh-TW" altLang="zh-TW" sz="1000" b="0" u="none" strike="noStrike" dirty="0">
                <a:effectLst/>
                <a:latin typeface="Consolas" panose="020B0609020204030204" pitchFamily="49" charset="0"/>
              </a:rPr>
              <a:t>, </a:t>
            </a:r>
            <a:br>
              <a:rPr lang="en-US" altLang="zh-TW" sz="1000" b="0" u="none" strike="noStrike" dirty="0">
                <a:effectLst/>
                <a:latin typeface="Consolas" panose="020B0609020204030204" pitchFamily="49" charset="0"/>
              </a:rPr>
            </a:br>
            <a:r>
              <a:rPr lang="en-US"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"o_proj"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"gate_proj"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"up_proj"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"down_proj"</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lora_dropout=</a:t>
            </a:r>
            <a:r>
              <a:rPr lang="zh-TW" altLang="zh-TW" sz="1000" b="0" u="none" strike="noStrike" dirty="0">
                <a:solidFill>
                  <a:schemeClr val="accent6">
                    <a:lumMod val="50000"/>
                  </a:schemeClr>
                </a:solidFill>
                <a:effectLst/>
                <a:latin typeface="Consolas" panose="020B0609020204030204" pitchFamily="49" charset="0"/>
              </a:rPr>
              <a:t>0</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Best performance</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bias=</a:t>
            </a:r>
            <a:r>
              <a:rPr lang="zh-TW" altLang="zh-TW" sz="1000" b="0" u="none" strike="noStrike" dirty="0">
                <a:solidFill>
                  <a:srgbClr val="008000"/>
                </a:solidFill>
                <a:effectLst/>
                <a:latin typeface="Consolas" panose="020B0609020204030204" pitchFamily="49" charset="0"/>
              </a:rPr>
              <a:t>"none"</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use_gradient_checkpointing=</a:t>
            </a:r>
            <a:r>
              <a:rPr lang="zh-TW" altLang="zh-TW" sz="1000" b="0" u="none" strike="noStrike" dirty="0">
                <a:solidFill>
                  <a:srgbClr val="008000"/>
                </a:solidFill>
                <a:effectLst/>
                <a:latin typeface="Consolas" panose="020B0609020204030204" pitchFamily="49" charset="0"/>
              </a:rPr>
              <a:t>"unsloth"</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Ultra-low </a:t>
            </a:r>
            <a:r>
              <a:rPr lang="zh-TW" altLang="zh-TW" sz="1000" b="0" u="none" strike="noStrike" dirty="0">
                <a:effectLst/>
                <a:latin typeface="Consolas" panose="020B0609020204030204" pitchFamily="49" charset="0"/>
              </a:rPr>
              <a:t>VRAM</a:t>
            </a:r>
          </a:p>
          <a:p>
            <a:pPr marL="0" marR="0" rtl="0">
              <a:lnSpc>
                <a:spcPts val="1200"/>
              </a:lnSpc>
              <a:buNone/>
            </a:pPr>
            <a:r>
              <a:rPr lang="zh-TW" altLang="zh-TW" sz="1000" b="0" u="none" strike="noStrike" dirty="0">
                <a:effectLst/>
                <a:latin typeface="Consolas" panose="020B0609020204030204" pitchFamily="49" charset="0"/>
              </a:rPr>
              <a:t>    random_state=</a:t>
            </a:r>
            <a:r>
              <a:rPr lang="zh-TW" altLang="zh-TW" sz="1000" b="0" u="none" strike="noStrike" dirty="0">
                <a:solidFill>
                  <a:schemeClr val="accent6">
                    <a:lumMod val="50000"/>
                  </a:schemeClr>
                </a:solidFill>
                <a:effectLst/>
                <a:latin typeface="Consolas" panose="020B0609020204030204" pitchFamily="49" charset="0"/>
              </a:rPr>
              <a:t>3407</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a:t>
            </a:r>
          </a:p>
          <a:p>
            <a:pPr>
              <a:lnSpc>
                <a:spcPts val="1200"/>
              </a:lnSpc>
            </a:pPr>
            <a:endParaRPr lang="zh-TW" altLang="en-US" sz="1000" dirty="0">
              <a:latin typeface="Consolas" panose="020B0609020204030204" pitchFamily="49" charset="0"/>
            </a:endParaRPr>
          </a:p>
        </p:txBody>
      </p:sp>
      <p:sp>
        <p:nvSpPr>
          <p:cNvPr id="11" name="文字方塊 10">
            <a:extLst>
              <a:ext uri="{FF2B5EF4-FFF2-40B4-BE49-F238E27FC236}">
                <a16:creationId xmlns:a16="http://schemas.microsoft.com/office/drawing/2014/main" id="{18F3D1BD-FEA1-1267-FF02-F5C2BD90F822}"/>
              </a:ext>
            </a:extLst>
          </p:cNvPr>
          <p:cNvSpPr txBox="1"/>
          <p:nvPr/>
        </p:nvSpPr>
        <p:spPr>
          <a:xfrm>
            <a:off x="5076056" y="1196752"/>
            <a:ext cx="3288080" cy="4267058"/>
          </a:xfrm>
          <a:prstGeom prst="rect">
            <a:avLst/>
          </a:prstGeom>
          <a:solidFill>
            <a:srgbClr val="EAEAEA"/>
          </a:solidFill>
        </p:spPr>
        <p:txBody>
          <a:bodyPr wrap="none">
            <a:noAutofit/>
          </a:bodyPr>
          <a:lstStyle/>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3. </a:t>
            </a:r>
            <a:r>
              <a:rPr lang="en-US" altLang="zh-TW" sz="1000" b="0" i="1" u="none" strike="noStrike" dirty="0">
                <a:solidFill>
                  <a:schemeClr val="bg1">
                    <a:lumMod val="50000"/>
                  </a:schemeClr>
                </a:solidFill>
                <a:effectLst/>
                <a:latin typeface="Consolas" panose="020B0609020204030204" pitchFamily="49" charset="0"/>
              </a:rPr>
              <a:t>Setup Unsloth Optimizer</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training_args</a:t>
            </a:r>
            <a:r>
              <a:rPr lang="zh-TW" altLang="zh-TW" sz="1000" b="0" u="none" strike="noStrike" dirty="0">
                <a:effectLst/>
                <a:latin typeface="Consolas" panose="020B0609020204030204" pitchFamily="49" charset="0"/>
              </a:rPr>
              <a:t> = TrainingArguments(</a:t>
            </a:r>
          </a:p>
          <a:p>
            <a:pPr marL="0" marR="0" rtl="0">
              <a:lnSpc>
                <a:spcPts val="1200"/>
              </a:lnSpc>
              <a:buNone/>
            </a:pPr>
            <a:r>
              <a:rPr lang="zh-TW" altLang="zh-TW" sz="1000" b="0" u="none" strike="noStrike" dirty="0">
                <a:effectLst/>
                <a:latin typeface="Consolas" panose="020B0609020204030204" pitchFamily="49" charset="0"/>
              </a:rPr>
              <a:t>    output_dir=</a:t>
            </a:r>
            <a:r>
              <a:rPr lang="zh-TW" altLang="zh-TW" sz="1000" b="0" u="none" strike="noStrike" dirty="0">
                <a:solidFill>
                  <a:srgbClr val="008000"/>
                </a:solidFill>
                <a:effectLst/>
                <a:latin typeface="Consolas" panose="020B0609020204030204" pitchFamily="49" charset="0"/>
              </a:rPr>
              <a:t>"./gemma-unsloth-output"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per_device_train_batch_size=</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gradient_accumulation_steps=</a:t>
            </a:r>
            <a:r>
              <a:rPr lang="zh-TW" altLang="zh-TW" sz="1000" b="0" u="none" strike="noStrike" dirty="0">
                <a:solidFill>
                  <a:schemeClr val="accent6">
                    <a:lumMod val="50000"/>
                  </a:schemeClr>
                </a:solidFill>
                <a:effectLst/>
                <a:latin typeface="Consolas" panose="020B0609020204030204" pitchFamily="49" charset="0"/>
              </a:rPr>
              <a:t>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warmup_steps=</a:t>
            </a:r>
            <a:r>
              <a:rPr lang="zh-TW" altLang="zh-TW" sz="1000" b="0" u="none" strike="noStrike" dirty="0">
                <a:solidFill>
                  <a:schemeClr val="accent6">
                    <a:lumMod val="50000"/>
                  </a:schemeClr>
                </a:solidFill>
                <a:effectLst/>
                <a:latin typeface="Consolas" panose="020B0609020204030204" pitchFamily="49" charset="0"/>
              </a:rPr>
              <a:t>5</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max_steps=</a:t>
            </a:r>
            <a:r>
              <a:rPr lang="zh-TW" altLang="zh-TW" sz="1000" b="0" u="none" strike="noStrike" dirty="0">
                <a:solidFill>
                  <a:schemeClr val="accent6">
                    <a:lumMod val="50000"/>
                  </a:schemeClr>
                </a:solidFill>
                <a:effectLst/>
                <a:latin typeface="Consolas" panose="020B0609020204030204" pitchFamily="49" charset="0"/>
              </a:rPr>
              <a:t>60</a:t>
            </a:r>
            <a:r>
              <a:rPr lang="zh-TW" altLang="zh-TW" sz="1000" b="0" u="none" strike="noStrike" dirty="0">
                <a:effectLst/>
                <a:latin typeface="Consolas" panose="020B0609020204030204" pitchFamily="49" charset="0"/>
              </a:rPr>
              <a:t>,</a:t>
            </a:r>
            <a:r>
              <a:rPr lang="en-US" altLang="zh-TW" sz="1000" dirty="0">
                <a:latin typeface="Consolas" panose="020B0609020204030204" pitchFamily="49" charset="0"/>
              </a:rPr>
              <a:t>	</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learning_rate=</a:t>
            </a:r>
            <a:r>
              <a:rPr lang="zh-TW" altLang="zh-TW" sz="1000" b="0" u="none" strike="noStrike" dirty="0">
                <a:solidFill>
                  <a:schemeClr val="accent6">
                    <a:lumMod val="50000"/>
                  </a:schemeClr>
                </a:solidFill>
                <a:effectLst/>
                <a:latin typeface="Consolas" panose="020B0609020204030204" pitchFamily="49" charset="0"/>
              </a:rPr>
              <a:t>2e-4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fp16=</a:t>
            </a:r>
            <a:r>
              <a:rPr lang="zh-TW" altLang="zh-TW" sz="1000" b="0" u="none" strike="noStrike" dirty="0">
                <a:solidFill>
                  <a:srgbClr val="7030A0"/>
                </a:solidFill>
                <a:effectLst/>
                <a:latin typeface="Consolas" panose="020B0609020204030204" pitchFamily="49" charset="0"/>
              </a:rPr>
              <a:t>not</a:t>
            </a:r>
            <a:r>
              <a:rPr lang="zh-TW" altLang="zh-TW" sz="1000" b="0" u="none" strike="noStrike" dirty="0">
                <a:effectLst/>
                <a:latin typeface="Consolas" panose="020B0609020204030204" pitchFamily="49" charset="0"/>
              </a:rPr>
              <a:t> torch.cuda.is_bf16_supported(),</a:t>
            </a:r>
          </a:p>
          <a:p>
            <a:pPr marL="0" marR="0" rtl="0">
              <a:lnSpc>
                <a:spcPts val="1200"/>
              </a:lnSpc>
              <a:buNone/>
            </a:pPr>
            <a:r>
              <a:rPr lang="zh-TW" altLang="zh-TW" sz="1000" b="0" u="none" strike="noStrike" dirty="0">
                <a:effectLst/>
                <a:latin typeface="Consolas" panose="020B0609020204030204" pitchFamily="49" charset="0"/>
              </a:rPr>
              <a:t>    bf16=torch.cuda.is_bf16_supported(),</a:t>
            </a:r>
          </a:p>
          <a:p>
            <a:pPr marL="0" marR="0" rtl="0">
              <a:lnSpc>
                <a:spcPts val="1200"/>
              </a:lnSpc>
              <a:buNone/>
            </a:pPr>
            <a:r>
              <a:rPr lang="zh-TW" altLang="zh-TW" sz="1000" b="0" u="none" strike="noStrike" dirty="0">
                <a:effectLst/>
                <a:latin typeface="Consolas" panose="020B0609020204030204" pitchFamily="49" charset="0"/>
              </a:rPr>
              <a:t>    logging_steps=</a:t>
            </a:r>
            <a:r>
              <a:rPr lang="zh-TW" altLang="zh-TW" sz="1000" b="0" u="none" strike="noStrike" dirty="0">
                <a:solidFill>
                  <a:schemeClr val="accent6">
                    <a:lumMod val="50000"/>
                  </a:schemeClr>
                </a:solidFill>
                <a:effectLst/>
                <a:latin typeface="Consolas" panose="020B0609020204030204" pitchFamily="49" charset="0"/>
              </a:rPr>
              <a:t>1</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optim=</a:t>
            </a:r>
            <a:r>
              <a:rPr lang="zh-TW" altLang="zh-TW" sz="1000" b="0" u="none" strike="noStrike" dirty="0">
                <a:solidFill>
                  <a:srgbClr val="008000"/>
                </a:solidFill>
                <a:effectLst/>
                <a:latin typeface="Consolas" panose="020B0609020204030204" pitchFamily="49" charset="0"/>
              </a:rPr>
              <a:t>"adamw_8bit"</a:t>
            </a:r>
            <a:r>
              <a:rPr lang="zh-TW" altLang="zh-TW" sz="1000" b="0" u="none" strike="noStrike" dirty="0">
                <a:effectLst/>
                <a:latin typeface="Consolas" panose="020B0609020204030204" pitchFamily="49" charset="0"/>
              </a:rPr>
              <a:t>, </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4. </a:t>
            </a:r>
            <a:r>
              <a:rPr lang="en-US" altLang="zh-TW" sz="1000" b="0" i="1" u="none" strike="noStrike" dirty="0">
                <a:solidFill>
                  <a:schemeClr val="bg1">
                    <a:lumMod val="50000"/>
                  </a:schemeClr>
                </a:solidFill>
                <a:effectLst/>
                <a:latin typeface="Consolas" panose="020B0609020204030204" pitchFamily="49" charset="0"/>
              </a:rPr>
              <a:t>Start Training</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a:t>
            </a:r>
            <a:r>
              <a:rPr lang="zh-TW" altLang="zh-TW" sz="1000" b="0" u="none" strike="noStrike" dirty="0">
                <a:effectLst/>
                <a:latin typeface="Consolas" panose="020B0609020204030204" pitchFamily="49" charset="0"/>
              </a:rPr>
              <a:t> = SFTTrainer(</a:t>
            </a:r>
          </a:p>
          <a:p>
            <a:pPr marL="0" marR="0" rtl="0">
              <a:lnSpc>
                <a:spcPts val="1200"/>
              </a:lnSpc>
              <a:buNone/>
            </a:pPr>
            <a:r>
              <a:rPr lang="zh-TW" altLang="zh-TW" sz="1000" b="0" u="none" strike="noStrike" dirty="0">
                <a:effectLst/>
                <a:latin typeface="Consolas" panose="020B0609020204030204" pitchFamily="49" charset="0"/>
              </a:rPr>
              <a:t>    model=model,</a:t>
            </a:r>
          </a:p>
          <a:p>
            <a:pPr marL="0" marR="0" rtl="0">
              <a:lnSpc>
                <a:spcPts val="1200"/>
              </a:lnSpc>
              <a:buNone/>
            </a:pPr>
            <a:r>
              <a:rPr lang="zh-TW" altLang="zh-TW" sz="1000" b="0" u="none" strike="noStrike" dirty="0">
                <a:effectLst/>
                <a:latin typeface="Consolas" panose="020B0609020204030204" pitchFamily="49" charset="0"/>
              </a:rPr>
              <a:t>    tokenizer=tokenizer,</a:t>
            </a:r>
          </a:p>
          <a:p>
            <a:pPr marL="0" marR="0" rtl="0">
              <a:lnSpc>
                <a:spcPts val="1200"/>
              </a:lnSpc>
              <a:buNone/>
            </a:pPr>
            <a:r>
              <a:rPr lang="zh-TW" altLang="zh-TW" sz="1000" b="0" u="none" strike="noStrike" dirty="0">
                <a:effectLst/>
                <a:latin typeface="Consolas" panose="020B0609020204030204" pitchFamily="49" charset="0"/>
              </a:rPr>
              <a:t>    train_dataset=dataset,</a:t>
            </a:r>
            <a:r>
              <a:rPr lang="en-US" altLang="zh-TW" sz="1000" b="0" u="none" strike="noStrike" dirty="0">
                <a:effectLst/>
                <a:latin typeface="Consolas" panose="020B0609020204030204" pitchFamily="49" charset="0"/>
              </a:rPr>
              <a:t> </a:t>
            </a:r>
            <a:r>
              <a:rPr lang="zh-TW" altLang="zh-TW" sz="1000" b="0" u="none" strike="noStrike" dirty="0">
                <a:solidFill>
                  <a:schemeClr val="bg1">
                    <a:lumMod val="50000"/>
                  </a:schemeClr>
                </a:solidFill>
                <a:effectLst/>
                <a:latin typeface="Consolas" panose="020B0609020204030204" pitchFamily="49" charset="0"/>
              </a:rPr>
              <a:t>#</a:t>
            </a:r>
            <a:r>
              <a:rPr lang="en-US" altLang="zh-TW" sz="1000" b="0" u="none" strike="noStrike" dirty="0">
                <a:solidFill>
                  <a:schemeClr val="bg1">
                    <a:lumMod val="50000"/>
                  </a:schemeClr>
                </a:solidFill>
                <a:effectLst/>
                <a:latin typeface="Consolas" panose="020B0609020204030204" pitchFamily="49" charset="0"/>
              </a:rPr>
              <a:t> Aligned Data!!</a:t>
            </a:r>
            <a:endParaRPr lang="zh-TW" altLang="zh-TW" sz="1000" b="0"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dataset_text_field=</a:t>
            </a:r>
            <a:r>
              <a:rPr lang="zh-TW" altLang="zh-TW" sz="1000" b="0" u="none" strike="noStrike" dirty="0">
                <a:solidFill>
                  <a:srgbClr val="008000"/>
                </a:solidFill>
                <a:effectLst/>
                <a:latin typeface="Consolas" panose="020B0609020204030204" pitchFamily="49" charset="0"/>
              </a:rPr>
              <a:t>"text"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dataset_num_proc=</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args=training_args,</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trainer_stats</a:t>
            </a:r>
            <a:r>
              <a:rPr lang="zh-TW" altLang="zh-TW" sz="1000" b="0" u="none" strike="noStrike" dirty="0">
                <a:effectLst/>
                <a:latin typeface="Consolas" panose="020B0609020204030204" pitchFamily="49" charset="0"/>
              </a:rPr>
              <a:t> = trainer.train()</a:t>
            </a:r>
          </a:p>
        </p:txBody>
      </p:sp>
      <p:sp>
        <p:nvSpPr>
          <p:cNvPr id="19" name="文字方塊 18">
            <a:extLst>
              <a:ext uri="{FF2B5EF4-FFF2-40B4-BE49-F238E27FC236}">
                <a16:creationId xmlns:a16="http://schemas.microsoft.com/office/drawing/2014/main" id="{23593BEC-05A3-F409-07AD-D3589DE96DAB}"/>
              </a:ext>
            </a:extLst>
          </p:cNvPr>
          <p:cNvSpPr txBox="1"/>
          <p:nvPr/>
        </p:nvSpPr>
        <p:spPr>
          <a:xfrm>
            <a:off x="179512" y="5877272"/>
            <a:ext cx="8184624" cy="440429"/>
          </a:xfrm>
          <a:prstGeom prst="rect">
            <a:avLst/>
          </a:prstGeom>
          <a:solidFill>
            <a:srgbClr val="EAEAEA"/>
          </a:solidFill>
        </p:spPr>
        <p:txBody>
          <a:bodyPr wrap="none">
            <a:noAutofit/>
          </a:bodyPr>
          <a:lstStyle/>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a:t>
            </a:r>
            <a:r>
              <a:rPr lang="en-US" altLang="zh-TW" sz="1000" i="1" dirty="0">
                <a:solidFill>
                  <a:schemeClr val="bg1">
                    <a:lumMod val="50000"/>
                  </a:schemeClr>
                </a:solidFill>
                <a:latin typeface="Consolas" panose="020B0609020204030204" pitchFamily="49" charset="0"/>
              </a:rPr>
              <a:t>Save</a:t>
            </a:r>
            <a:r>
              <a:rPr lang="en-US" altLang="zh-TW" sz="1000" b="0" i="1" u="none" strike="noStrike" dirty="0">
                <a:solidFill>
                  <a:schemeClr val="bg1">
                    <a:lumMod val="50000"/>
                  </a:schemeClr>
                </a:solidFill>
                <a:effectLst/>
                <a:latin typeface="Consolas" panose="020B0609020204030204" pitchFamily="49" charset="0"/>
              </a:rPr>
              <a:t> tuned weights into compressed Ollama GGUF format</a:t>
            </a:r>
            <a:r>
              <a:rPr lang="zh-TW" altLang="zh-TW" sz="1000" b="0" i="1" u="none" strike="noStrike" dirty="0">
                <a:solidFill>
                  <a:schemeClr val="bg1">
                    <a:lumMod val="50000"/>
                  </a:schemeClr>
                </a:solidFill>
                <a:effectLst/>
                <a:latin typeface="Consolas" panose="020B0609020204030204" pitchFamily="49" charset="0"/>
              </a:rPr>
              <a:t> </a:t>
            </a:r>
          </a:p>
          <a:p>
            <a:pPr>
              <a:lnSpc>
                <a:spcPts val="1200"/>
              </a:lnSpc>
            </a:pPr>
            <a:r>
              <a:rPr lang="en-US" altLang="zh-TW" sz="1000" dirty="0">
                <a:latin typeface="Consolas" panose="020B0609020204030204" pitchFamily="49" charset="0"/>
              </a:rPr>
              <a:t>model.save_pretrained_gguf(</a:t>
            </a:r>
            <a:r>
              <a:rPr lang="en-US" altLang="zh-TW" sz="1000" b="0" u="none" strike="noStrike" dirty="0">
                <a:solidFill>
                  <a:srgbClr val="008000"/>
                </a:solidFill>
                <a:effectLst/>
                <a:latin typeface="Consolas" panose="020B0609020204030204" pitchFamily="49" charset="0"/>
              </a:rPr>
              <a:t>"my_gemma_model"</a:t>
            </a:r>
            <a:r>
              <a:rPr lang="en-US" altLang="zh-TW" sz="1000" b="0" u="none" strike="noStrike" dirty="0">
                <a:effectLst/>
                <a:latin typeface="Consolas" panose="020B0609020204030204" pitchFamily="49" charset="0"/>
              </a:rPr>
              <a:t>, tokenizer, quantization_method=</a:t>
            </a:r>
            <a:r>
              <a:rPr lang="en-US" altLang="zh-TW" sz="1000" b="0" u="none" strike="noStrike" dirty="0">
                <a:solidFill>
                  <a:srgbClr val="008000"/>
                </a:solidFill>
                <a:effectLst/>
                <a:latin typeface="Consolas" panose="020B0609020204030204" pitchFamily="49" charset="0"/>
              </a:rPr>
              <a:t>"q4_k_m"</a:t>
            </a:r>
            <a:r>
              <a:rPr lang="en-US" altLang="zh-TW" sz="1000" b="0" u="none" strike="noStrike" dirty="0">
                <a:effectLst/>
                <a:latin typeface="Consolas" panose="020B0609020204030204" pitchFamily="49" charset="0"/>
              </a:rPr>
              <a:t>)</a:t>
            </a:r>
            <a:endParaRPr lang="zh-TW" altLang="en-US" sz="1000" dirty="0">
              <a:latin typeface="Consolas" panose="020B0609020204030204" pitchFamily="49" charset="0"/>
            </a:endParaRPr>
          </a:p>
        </p:txBody>
      </p:sp>
      <p:sp>
        <p:nvSpPr>
          <p:cNvPr id="21" name="文字方塊 20">
            <a:extLst>
              <a:ext uri="{FF2B5EF4-FFF2-40B4-BE49-F238E27FC236}">
                <a16:creationId xmlns:a16="http://schemas.microsoft.com/office/drawing/2014/main" id="{0F9639B6-9ABE-ADFD-AEF2-698F1687076E}"/>
              </a:ext>
            </a:extLst>
          </p:cNvPr>
          <p:cNvSpPr txBox="1"/>
          <p:nvPr/>
        </p:nvSpPr>
        <p:spPr>
          <a:xfrm>
            <a:off x="179512" y="5661248"/>
            <a:ext cx="2304256" cy="247312"/>
          </a:xfrm>
          <a:prstGeom prst="rect">
            <a:avLst/>
          </a:prstGeom>
          <a:noFill/>
        </p:spPr>
        <p:txBody>
          <a:bodyPr wrap="square">
            <a:spAutoFit/>
          </a:bodyPr>
          <a:lstStyle/>
          <a:p>
            <a:pPr marL="0" marR="0">
              <a:lnSpc>
                <a:spcPts val="1200"/>
              </a:lnSpc>
              <a:buNone/>
            </a:pPr>
            <a:r>
              <a:rPr lang="en-US" altLang="zh-TW" sz="1200" b="1" u="none" strike="noStrike" dirty="0">
                <a:effectLst/>
                <a:latin typeface="Consolas" panose="020B0609020204030204" pitchFamily="49" charset="0"/>
              </a:rPr>
              <a:t>Exporting GGUF</a:t>
            </a:r>
            <a:endParaRPr lang="zh-TW" altLang="zh-TW" sz="1200" b="1" u="none" strike="noStrike" dirty="0">
              <a:effectLst/>
              <a:latin typeface="Consolas" panose="020B0609020204030204" pitchFamily="49" charset="0"/>
            </a:endParaRPr>
          </a:p>
        </p:txBody>
      </p:sp>
      <p:pic>
        <p:nvPicPr>
          <p:cNvPr id="23" name="圖片 22">
            <a:extLst>
              <a:ext uri="{FF2B5EF4-FFF2-40B4-BE49-F238E27FC236}">
                <a16:creationId xmlns:a16="http://schemas.microsoft.com/office/drawing/2014/main" id="{7DE70DD2-16BF-ECEA-19B3-80072208A0E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3848" y="134693"/>
            <a:ext cx="576064" cy="576063"/>
          </a:xfrm>
          <a:prstGeom prst="rect">
            <a:avLst/>
          </a:prstGeom>
          <a:effectLst>
            <a:glow rad="76200">
              <a:srgbClr val="00B050">
                <a:alpha val="40000"/>
              </a:srgbClr>
            </a:glow>
          </a:effectLst>
        </p:spPr>
      </p:pic>
      <p:sp>
        <p:nvSpPr>
          <p:cNvPr id="4" name="標題 1">
            <a:extLst>
              <a:ext uri="{FF2B5EF4-FFF2-40B4-BE49-F238E27FC236}">
                <a16:creationId xmlns:a16="http://schemas.microsoft.com/office/drawing/2014/main" id="{8D3514BD-B7B4-ADB3-173D-B32B3B7287E0}"/>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Practice: Unsloth</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23195262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圖片 6">
            <a:extLst>
              <a:ext uri="{FF2B5EF4-FFF2-40B4-BE49-F238E27FC236}">
                <a16:creationId xmlns:a16="http://schemas.microsoft.com/office/drawing/2014/main" id="{874E382E-8463-3FA5-C6AE-276888641807}"/>
              </a:ext>
            </a:extLst>
          </p:cNvPr>
          <p:cNvPicPr>
            <a:picLocks noChangeAspect="1"/>
          </p:cNvPicPr>
          <p:nvPr/>
        </p:nvPicPr>
        <p:blipFill>
          <a:blip r:embed="rId2"/>
          <a:stretch>
            <a:fillRect/>
          </a:stretch>
        </p:blipFill>
        <p:spPr>
          <a:xfrm>
            <a:off x="782056" y="1526047"/>
            <a:ext cx="4770416" cy="4408106"/>
          </a:xfrm>
          <a:prstGeom prst="rect">
            <a:avLst/>
          </a:prstGeom>
          <a:ln>
            <a:noFill/>
          </a:ln>
          <a:effectLst>
            <a:outerShdw blurRad="292100" dist="139700" dir="2700000" algn="tl" rotWithShape="0">
              <a:srgbClr val="333333">
                <a:alpha val="65000"/>
              </a:srgbClr>
            </a:outerShdw>
          </a:effectLst>
        </p:spPr>
      </p:pic>
      <p:pic>
        <p:nvPicPr>
          <p:cNvPr id="9" name="圖片 8">
            <a:extLst>
              <a:ext uri="{FF2B5EF4-FFF2-40B4-BE49-F238E27FC236}">
                <a16:creationId xmlns:a16="http://schemas.microsoft.com/office/drawing/2014/main" id="{F90169FB-75A6-2D94-5957-D0CCC6555136}"/>
              </a:ext>
            </a:extLst>
          </p:cNvPr>
          <p:cNvPicPr>
            <a:picLocks noChangeAspect="1"/>
          </p:cNvPicPr>
          <p:nvPr/>
        </p:nvPicPr>
        <p:blipFill>
          <a:blip r:embed="rId3"/>
          <a:stretch>
            <a:fillRect/>
          </a:stretch>
        </p:blipFill>
        <p:spPr>
          <a:xfrm>
            <a:off x="5628113" y="3123411"/>
            <a:ext cx="3379206" cy="1334437"/>
          </a:xfrm>
          <a:prstGeom prst="rect">
            <a:avLst/>
          </a:prstGeom>
          <a:ln>
            <a:noFill/>
          </a:ln>
          <a:effectLst>
            <a:outerShdw blurRad="292100" dist="139700" dir="2700000" algn="tl" rotWithShape="0">
              <a:srgbClr val="333333">
                <a:alpha val="65000"/>
              </a:srgbClr>
            </a:outerShdw>
          </a:effectLst>
        </p:spPr>
      </p:pic>
      <p:sp>
        <p:nvSpPr>
          <p:cNvPr id="4" name="矩形 3">
            <a:extLst>
              <a:ext uri="{FF2B5EF4-FFF2-40B4-BE49-F238E27FC236}">
                <a16:creationId xmlns:a16="http://schemas.microsoft.com/office/drawing/2014/main" id="{3C007AF6-603A-629B-A06B-2CD59422F789}"/>
              </a:ext>
            </a:extLst>
          </p:cNvPr>
          <p:cNvSpPr/>
          <p:nvPr/>
        </p:nvSpPr>
        <p:spPr>
          <a:xfrm>
            <a:off x="1093866" y="2299698"/>
            <a:ext cx="2811213"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6" name="矩形 5">
            <a:extLst>
              <a:ext uri="{FF2B5EF4-FFF2-40B4-BE49-F238E27FC236}">
                <a16:creationId xmlns:a16="http://schemas.microsoft.com/office/drawing/2014/main" id="{78C7F387-EE91-5D4B-E5AC-0E1E77536445}"/>
              </a:ext>
            </a:extLst>
          </p:cNvPr>
          <p:cNvSpPr/>
          <p:nvPr/>
        </p:nvSpPr>
        <p:spPr>
          <a:xfrm>
            <a:off x="1091173" y="1980201"/>
            <a:ext cx="4461299"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0" name="接點: 肘形 9">
            <a:extLst>
              <a:ext uri="{FF2B5EF4-FFF2-40B4-BE49-F238E27FC236}">
                <a16:creationId xmlns:a16="http://schemas.microsoft.com/office/drawing/2014/main" id="{6754D68A-EB7F-2542-2C66-96A76E5D917E}"/>
              </a:ext>
            </a:extLst>
          </p:cNvPr>
          <p:cNvCxnSpPr>
            <a:cxnSpLocks/>
            <a:stCxn id="6" idx="1"/>
            <a:endCxn id="15" idx="1"/>
          </p:cNvCxnSpPr>
          <p:nvPr/>
        </p:nvCxnSpPr>
        <p:spPr>
          <a:xfrm rot="10800000" flipV="1">
            <a:off x="858692" y="2121895"/>
            <a:ext cx="232483" cy="2835586"/>
          </a:xfrm>
          <a:prstGeom prst="bentConnector3">
            <a:avLst>
              <a:gd name="adj1" fmla="val 173747"/>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5" name="矩形 14">
            <a:extLst>
              <a:ext uri="{FF2B5EF4-FFF2-40B4-BE49-F238E27FC236}">
                <a16:creationId xmlns:a16="http://schemas.microsoft.com/office/drawing/2014/main" id="{B4154CAD-822E-9E5F-F445-E88460BEDF4E}"/>
              </a:ext>
            </a:extLst>
          </p:cNvPr>
          <p:cNvSpPr/>
          <p:nvPr/>
        </p:nvSpPr>
        <p:spPr>
          <a:xfrm>
            <a:off x="858691" y="3980809"/>
            <a:ext cx="4610420" cy="1953344"/>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2" name="矩形 21">
            <a:extLst>
              <a:ext uri="{FF2B5EF4-FFF2-40B4-BE49-F238E27FC236}">
                <a16:creationId xmlns:a16="http://schemas.microsoft.com/office/drawing/2014/main" id="{61F2C084-1F28-FEEC-1632-B2048A615545}"/>
              </a:ext>
            </a:extLst>
          </p:cNvPr>
          <p:cNvSpPr/>
          <p:nvPr/>
        </p:nvSpPr>
        <p:spPr>
          <a:xfrm>
            <a:off x="1166817" y="3247351"/>
            <a:ext cx="3905836" cy="40241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4" name="矩形 23">
            <a:extLst>
              <a:ext uri="{FF2B5EF4-FFF2-40B4-BE49-F238E27FC236}">
                <a16:creationId xmlns:a16="http://schemas.microsoft.com/office/drawing/2014/main" id="{7378C543-AF30-55F2-D518-30A35928F329}"/>
              </a:ext>
            </a:extLst>
          </p:cNvPr>
          <p:cNvSpPr/>
          <p:nvPr/>
        </p:nvSpPr>
        <p:spPr>
          <a:xfrm>
            <a:off x="5824057" y="3623554"/>
            <a:ext cx="3183263" cy="521282"/>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5" name="文字方塊 24">
            <a:extLst>
              <a:ext uri="{FF2B5EF4-FFF2-40B4-BE49-F238E27FC236}">
                <a16:creationId xmlns:a16="http://schemas.microsoft.com/office/drawing/2014/main" id="{F3FF24D6-C98B-AED6-E8B3-C355AE7C4946}"/>
              </a:ext>
            </a:extLst>
          </p:cNvPr>
          <p:cNvSpPr txBox="1"/>
          <p:nvPr/>
        </p:nvSpPr>
        <p:spPr>
          <a:xfrm>
            <a:off x="247843" y="1316969"/>
            <a:ext cx="5270995"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1.</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傳出使用者的問話（</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）包含工具的資訊給大模型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9" name="文字方塊 28">
            <a:extLst>
              <a:ext uri="{FF2B5EF4-FFF2-40B4-BE49-F238E27FC236}">
                <a16:creationId xmlns:a16="http://schemas.microsoft.com/office/drawing/2014/main" id="{57EC669B-7AE9-2B92-0DD9-2197E6373F03}"/>
              </a:ext>
            </a:extLst>
          </p:cNvPr>
          <p:cNvSpPr txBox="1"/>
          <p:nvPr/>
        </p:nvSpPr>
        <p:spPr>
          <a:xfrm>
            <a:off x="321382" y="906789"/>
            <a:ext cx="2565126" cy="230832"/>
          </a:xfrm>
          <a:prstGeom prst="rect">
            <a:avLst/>
          </a:prstGeom>
          <a:noFill/>
        </p:spPr>
        <p:txBody>
          <a:bodyPr wrap="none" rtlCol="0">
            <a:spAutoFit/>
          </a:bodyPr>
          <a:lstStyle/>
          <a:p>
            <a:r>
              <a:rPr lang="en-US" altLang="zh-CN" sz="900" dirty="0">
                <a:solidFill>
                  <a:schemeClr val="accent1"/>
                </a:solidFill>
                <a:latin typeface="微軟正黑體" panose="020B0604030504040204" pitchFamily="34" charset="-120"/>
                <a:ea typeface="微軟正黑體" panose="020B0604030504040204" pitchFamily="34" charset="-120"/>
              </a:rPr>
              <a:t>AI Agent</a:t>
            </a:r>
            <a:r>
              <a:rPr lang="zh-CN" altLang="en-US" sz="900" dirty="0">
                <a:solidFill>
                  <a:schemeClr val="accent1"/>
                </a:solidFill>
                <a:latin typeface="微軟正黑體" panose="020B0604030504040204" pitchFamily="34" charset="-120"/>
                <a:ea typeface="微軟正黑體" panose="020B0604030504040204" pitchFamily="34" charset="-120"/>
              </a:rPr>
              <a:t>如何操作工具（</a:t>
            </a:r>
            <a:r>
              <a:rPr lang="en-US" altLang="zh-CN" sz="900" dirty="0">
                <a:solidFill>
                  <a:schemeClr val="accent1"/>
                </a:solidFill>
                <a:latin typeface="微軟正黑體" panose="020B0604030504040204" pitchFamily="34" charset="-120"/>
                <a:ea typeface="微軟正黑體" panose="020B0604030504040204" pitchFamily="34" charset="-120"/>
              </a:rPr>
              <a:t>openclaw</a:t>
            </a:r>
            <a:r>
              <a:rPr lang="zh-CN" altLang="en-US" sz="900" dirty="0">
                <a:solidFill>
                  <a:schemeClr val="accent1"/>
                </a:solidFill>
                <a:latin typeface="微軟正黑體" panose="020B0604030504040204" pitchFamily="34" charset="-120"/>
                <a:ea typeface="微軟正黑體" panose="020B0604030504040204" pitchFamily="34" charset="-120"/>
              </a:rPr>
              <a:t>具體實例）</a:t>
            </a:r>
            <a:endParaRPr lang="zh-TW" altLang="en-US" sz="900" dirty="0">
              <a:solidFill>
                <a:schemeClr val="accent1"/>
              </a:solidFill>
              <a:latin typeface="微軟正黑體" panose="020B0604030504040204" pitchFamily="34" charset="-120"/>
              <a:ea typeface="微軟正黑體" panose="020B0604030504040204" pitchFamily="34" charset="-120"/>
            </a:endParaRPr>
          </a:p>
        </p:txBody>
      </p:sp>
      <p:sp>
        <p:nvSpPr>
          <p:cNvPr id="31" name="文字方塊 30">
            <a:extLst>
              <a:ext uri="{FF2B5EF4-FFF2-40B4-BE49-F238E27FC236}">
                <a16:creationId xmlns:a16="http://schemas.microsoft.com/office/drawing/2014/main" id="{C5473FF9-5F65-496C-3E4D-6739B7ACC249}"/>
              </a:ext>
            </a:extLst>
          </p:cNvPr>
          <p:cNvSpPr txBox="1"/>
          <p:nvPr/>
        </p:nvSpPr>
        <p:spPr>
          <a:xfrm>
            <a:off x="2945361" y="4263294"/>
            <a:ext cx="1627369" cy="207749"/>
          </a:xfrm>
          <a:prstGeom prst="rect">
            <a:avLst/>
          </a:prstGeom>
          <a:noFill/>
          <a:ln>
            <a:noFill/>
          </a:ln>
        </p:spPr>
        <p:txBody>
          <a:bodyPr wrap="none" rtlCol="0">
            <a:spAutoFit/>
          </a:bodyPr>
          <a:lstStyle/>
          <a:p>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系統提示詞中也有工具的使用提示</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3" name="矩形 32">
            <a:extLst>
              <a:ext uri="{FF2B5EF4-FFF2-40B4-BE49-F238E27FC236}">
                <a16:creationId xmlns:a16="http://schemas.microsoft.com/office/drawing/2014/main" id="{F241F81F-5AC4-0B8A-5FA4-F469FCBDE7ED}"/>
              </a:ext>
            </a:extLst>
          </p:cNvPr>
          <p:cNvSpPr/>
          <p:nvPr/>
        </p:nvSpPr>
        <p:spPr>
          <a:xfrm>
            <a:off x="929514" y="4450616"/>
            <a:ext cx="3865418" cy="10594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35" name="文字方塊 34">
            <a:extLst>
              <a:ext uri="{FF2B5EF4-FFF2-40B4-BE49-F238E27FC236}">
                <a16:creationId xmlns:a16="http://schemas.microsoft.com/office/drawing/2014/main" id="{0A6F5C07-5BDE-1968-4F1C-A6163A18180A}"/>
              </a:ext>
            </a:extLst>
          </p:cNvPr>
          <p:cNvSpPr txBox="1"/>
          <p:nvPr/>
        </p:nvSpPr>
        <p:spPr>
          <a:xfrm>
            <a:off x="2814048" y="3325125"/>
            <a:ext cx="1106393"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有工具的使用説明</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7" name="文字方塊 36">
            <a:extLst>
              <a:ext uri="{FF2B5EF4-FFF2-40B4-BE49-F238E27FC236}">
                <a16:creationId xmlns:a16="http://schemas.microsoft.com/office/drawing/2014/main" id="{419F0917-D6D2-0663-28D0-87F98AF03E1A}"/>
              </a:ext>
            </a:extLst>
          </p:cNvPr>
          <p:cNvSpPr txBox="1"/>
          <p:nvPr/>
        </p:nvSpPr>
        <p:spPr>
          <a:xfrm>
            <a:off x="5809130" y="1789052"/>
            <a:ext cx="3049233"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2.</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收到大模型要求執行工具調用，本地執行這個工具指令</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pic>
        <p:nvPicPr>
          <p:cNvPr id="40" name="圖片 39">
            <a:extLst>
              <a:ext uri="{FF2B5EF4-FFF2-40B4-BE49-F238E27FC236}">
                <a16:creationId xmlns:a16="http://schemas.microsoft.com/office/drawing/2014/main" id="{C99635CC-FB5F-D773-BB77-E2A84660D4D1}"/>
              </a:ext>
            </a:extLst>
          </p:cNvPr>
          <p:cNvPicPr>
            <a:picLocks noChangeAspect="1"/>
          </p:cNvPicPr>
          <p:nvPr/>
        </p:nvPicPr>
        <p:blipFill>
          <a:blip r:embed="rId4"/>
          <a:stretch>
            <a:fillRect/>
          </a:stretch>
        </p:blipFill>
        <p:spPr>
          <a:xfrm>
            <a:off x="3058272" y="934820"/>
            <a:ext cx="2014380" cy="358957"/>
          </a:xfrm>
          <a:prstGeom prst="rect">
            <a:avLst/>
          </a:prstGeom>
          <a:ln>
            <a:noFill/>
          </a:ln>
          <a:effectLst>
            <a:outerShdw blurRad="292100" dist="139700" dir="2700000" algn="tl" rotWithShape="0">
              <a:srgbClr val="333333">
                <a:alpha val="65000"/>
              </a:srgbClr>
            </a:outerShdw>
          </a:effectLst>
        </p:spPr>
      </p:pic>
      <p:pic>
        <p:nvPicPr>
          <p:cNvPr id="45" name="圖片 44">
            <a:extLst>
              <a:ext uri="{FF2B5EF4-FFF2-40B4-BE49-F238E27FC236}">
                <a16:creationId xmlns:a16="http://schemas.microsoft.com/office/drawing/2014/main" id="{5E224571-6F7C-786B-B247-433971A9BD44}"/>
              </a:ext>
            </a:extLst>
          </p:cNvPr>
          <p:cNvPicPr>
            <a:picLocks noChangeAspect="1"/>
          </p:cNvPicPr>
          <p:nvPr/>
        </p:nvPicPr>
        <p:blipFill>
          <a:blip r:embed="rId5"/>
          <a:stretch>
            <a:fillRect/>
          </a:stretch>
        </p:blipFill>
        <p:spPr>
          <a:xfrm>
            <a:off x="5613186" y="2121895"/>
            <a:ext cx="3488703" cy="876422"/>
          </a:xfrm>
          <a:prstGeom prst="rect">
            <a:avLst/>
          </a:prstGeom>
          <a:ln>
            <a:noFill/>
          </a:ln>
          <a:effectLst>
            <a:outerShdw blurRad="292100" dist="139700" dir="2700000" algn="tl" rotWithShape="0">
              <a:srgbClr val="333333">
                <a:alpha val="65000"/>
              </a:srgbClr>
            </a:outerShdw>
          </a:effectLst>
        </p:spPr>
      </p:pic>
      <p:sp>
        <p:nvSpPr>
          <p:cNvPr id="48" name="文字方塊 47">
            <a:extLst>
              <a:ext uri="{FF2B5EF4-FFF2-40B4-BE49-F238E27FC236}">
                <a16:creationId xmlns:a16="http://schemas.microsoft.com/office/drawing/2014/main" id="{D323B715-0111-E94B-9337-93E4D794CF1E}"/>
              </a:ext>
            </a:extLst>
          </p:cNvPr>
          <p:cNvSpPr txBox="1"/>
          <p:nvPr/>
        </p:nvSpPr>
        <p:spPr>
          <a:xfrm>
            <a:off x="3862664" y="2356299"/>
            <a:ext cx="744114"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50" name="文字方塊 49">
            <a:extLst>
              <a:ext uri="{FF2B5EF4-FFF2-40B4-BE49-F238E27FC236}">
                <a16:creationId xmlns:a16="http://schemas.microsoft.com/office/drawing/2014/main" id="{662F09A1-E287-B0DF-2A9D-D0B4BD7C336A}"/>
              </a:ext>
            </a:extLst>
          </p:cNvPr>
          <p:cNvSpPr txBox="1"/>
          <p:nvPr/>
        </p:nvSpPr>
        <p:spPr>
          <a:xfrm>
            <a:off x="3446766" y="1794207"/>
            <a:ext cx="867545" cy="207749"/>
          </a:xfrm>
          <a:prstGeom prst="rect">
            <a:avLst/>
          </a:prstGeom>
          <a:noFill/>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200524121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圖片 7">
            <a:extLst>
              <a:ext uri="{FF2B5EF4-FFF2-40B4-BE49-F238E27FC236}">
                <a16:creationId xmlns:a16="http://schemas.microsoft.com/office/drawing/2014/main" id="{856B6AA2-2CF4-DEEE-F773-18D1F3B9B267}"/>
              </a:ext>
            </a:extLst>
          </p:cNvPr>
          <p:cNvPicPr>
            <a:picLocks noChangeAspect="1"/>
          </p:cNvPicPr>
          <p:nvPr/>
        </p:nvPicPr>
        <p:blipFill>
          <a:blip r:embed="rId2"/>
          <a:stretch>
            <a:fillRect/>
          </a:stretch>
        </p:blipFill>
        <p:spPr>
          <a:xfrm>
            <a:off x="168393" y="2627209"/>
            <a:ext cx="4663905" cy="3181339"/>
          </a:xfrm>
          <a:prstGeom prst="rect">
            <a:avLst/>
          </a:prstGeom>
          <a:ln>
            <a:noFill/>
          </a:ln>
          <a:effectLst>
            <a:outerShdw blurRad="292100" dist="139700" dir="2700000" algn="tl" rotWithShape="0">
              <a:srgbClr val="333333">
                <a:alpha val="65000"/>
              </a:srgbClr>
            </a:outerShdw>
          </a:effectLst>
        </p:spPr>
      </p:pic>
      <p:pic>
        <p:nvPicPr>
          <p:cNvPr id="6" name="圖片 5">
            <a:extLst>
              <a:ext uri="{FF2B5EF4-FFF2-40B4-BE49-F238E27FC236}">
                <a16:creationId xmlns:a16="http://schemas.microsoft.com/office/drawing/2014/main" id="{C39014E0-7321-A89C-6FF8-1E27C5ABD1C9}"/>
              </a:ext>
            </a:extLst>
          </p:cNvPr>
          <p:cNvPicPr>
            <a:picLocks noChangeAspect="1"/>
          </p:cNvPicPr>
          <p:nvPr/>
        </p:nvPicPr>
        <p:blipFill>
          <a:blip r:embed="rId3"/>
          <a:stretch>
            <a:fillRect/>
          </a:stretch>
        </p:blipFill>
        <p:spPr>
          <a:xfrm>
            <a:off x="5080707" y="3429001"/>
            <a:ext cx="3894900" cy="615203"/>
          </a:xfrm>
          <a:prstGeom prst="rect">
            <a:avLst/>
          </a:prstGeom>
          <a:ln>
            <a:noFill/>
          </a:ln>
          <a:effectLst>
            <a:outerShdw blurRad="292100" dist="139700" dir="2700000" algn="tl" rotWithShape="0">
              <a:srgbClr val="333333">
                <a:alpha val="65000"/>
              </a:srgbClr>
            </a:outerShdw>
          </a:effectLst>
        </p:spPr>
      </p:pic>
      <p:sp>
        <p:nvSpPr>
          <p:cNvPr id="10" name="文字方塊 9">
            <a:extLst>
              <a:ext uri="{FF2B5EF4-FFF2-40B4-BE49-F238E27FC236}">
                <a16:creationId xmlns:a16="http://schemas.microsoft.com/office/drawing/2014/main" id="{14DD395C-3F44-7ADF-58F1-CEF8AC2ECA22}"/>
              </a:ext>
            </a:extLst>
          </p:cNvPr>
          <p:cNvSpPr txBox="1"/>
          <p:nvPr/>
        </p:nvSpPr>
        <p:spPr>
          <a:xfrm>
            <a:off x="391945" y="1011600"/>
            <a:ext cx="2507418"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3.</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傳出歷史記錄</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工具執行的結果給大模型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12" name="矩形 11">
            <a:extLst>
              <a:ext uri="{FF2B5EF4-FFF2-40B4-BE49-F238E27FC236}">
                <a16:creationId xmlns:a16="http://schemas.microsoft.com/office/drawing/2014/main" id="{51B4FDFE-4508-79C3-B679-B1C07E9802C0}"/>
              </a:ext>
            </a:extLst>
          </p:cNvPr>
          <p:cNvSpPr/>
          <p:nvPr/>
        </p:nvSpPr>
        <p:spPr>
          <a:xfrm>
            <a:off x="368475" y="4090928"/>
            <a:ext cx="4514483" cy="16712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18" name="矩形 17">
            <a:extLst>
              <a:ext uri="{FF2B5EF4-FFF2-40B4-BE49-F238E27FC236}">
                <a16:creationId xmlns:a16="http://schemas.microsoft.com/office/drawing/2014/main" id="{72ED081B-26E6-2AE6-20BF-EE441A86696D}"/>
              </a:ext>
            </a:extLst>
          </p:cNvPr>
          <p:cNvSpPr/>
          <p:nvPr/>
        </p:nvSpPr>
        <p:spPr>
          <a:xfrm>
            <a:off x="368475" y="4712751"/>
            <a:ext cx="1901738" cy="1176241"/>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9" name="接點: 肘形 18">
            <a:extLst>
              <a:ext uri="{FF2B5EF4-FFF2-40B4-BE49-F238E27FC236}">
                <a16:creationId xmlns:a16="http://schemas.microsoft.com/office/drawing/2014/main" id="{9819C47E-C4F2-31B0-EC48-456E95AB83F6}"/>
              </a:ext>
            </a:extLst>
          </p:cNvPr>
          <p:cNvCxnSpPr>
            <a:cxnSpLocks/>
            <a:stCxn id="12" idx="1"/>
            <a:endCxn id="18" idx="1"/>
          </p:cNvCxnSpPr>
          <p:nvPr/>
        </p:nvCxnSpPr>
        <p:spPr>
          <a:xfrm rot="10800000" flipV="1">
            <a:off x="368474" y="4174492"/>
            <a:ext cx="9525" cy="1126379"/>
          </a:xfrm>
          <a:prstGeom prst="bentConnector3">
            <a:avLst>
              <a:gd name="adj1" fmla="val 1800000"/>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23" name="文字方塊 22">
            <a:extLst>
              <a:ext uri="{FF2B5EF4-FFF2-40B4-BE49-F238E27FC236}">
                <a16:creationId xmlns:a16="http://schemas.microsoft.com/office/drawing/2014/main" id="{CF7B9993-F344-4E09-33FE-02603F8D4814}"/>
              </a:ext>
            </a:extLst>
          </p:cNvPr>
          <p:cNvSpPr txBox="1"/>
          <p:nvPr/>
        </p:nvSpPr>
        <p:spPr>
          <a:xfrm>
            <a:off x="5454386" y="1392913"/>
            <a:ext cx="1433406"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4.</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收到大模型最後的回答</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7" name="矩形 26">
            <a:extLst>
              <a:ext uri="{FF2B5EF4-FFF2-40B4-BE49-F238E27FC236}">
                <a16:creationId xmlns:a16="http://schemas.microsoft.com/office/drawing/2014/main" id="{693D411A-A3F0-8EA7-33DA-7D7C47F26E44}"/>
              </a:ext>
            </a:extLst>
          </p:cNvPr>
          <p:cNvSpPr/>
          <p:nvPr/>
        </p:nvSpPr>
        <p:spPr>
          <a:xfrm>
            <a:off x="5306845" y="3774343"/>
            <a:ext cx="3758393" cy="1718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pic>
        <p:nvPicPr>
          <p:cNvPr id="31" name="圖片 30">
            <a:extLst>
              <a:ext uri="{FF2B5EF4-FFF2-40B4-BE49-F238E27FC236}">
                <a16:creationId xmlns:a16="http://schemas.microsoft.com/office/drawing/2014/main" id="{DDB4C16D-8CD8-AF4E-9E8D-79BAC4650F83}"/>
              </a:ext>
            </a:extLst>
          </p:cNvPr>
          <p:cNvPicPr>
            <a:picLocks noChangeAspect="1"/>
          </p:cNvPicPr>
          <p:nvPr/>
        </p:nvPicPr>
        <p:blipFill>
          <a:blip r:embed="rId4"/>
          <a:stretch>
            <a:fillRect/>
          </a:stretch>
        </p:blipFill>
        <p:spPr>
          <a:xfrm>
            <a:off x="253573" y="1196537"/>
            <a:ext cx="2996696" cy="1350228"/>
          </a:xfrm>
          <a:prstGeom prst="rect">
            <a:avLst/>
          </a:prstGeom>
          <a:ln>
            <a:noFill/>
          </a:ln>
          <a:effectLst>
            <a:outerShdw blurRad="292100" dist="139700" dir="2700000" algn="tl" rotWithShape="0">
              <a:srgbClr val="333333">
                <a:alpha val="65000"/>
              </a:srgbClr>
            </a:outerShdw>
          </a:effectLst>
        </p:spPr>
      </p:pic>
      <p:pic>
        <p:nvPicPr>
          <p:cNvPr id="33" name="圖片 32">
            <a:extLst>
              <a:ext uri="{FF2B5EF4-FFF2-40B4-BE49-F238E27FC236}">
                <a16:creationId xmlns:a16="http://schemas.microsoft.com/office/drawing/2014/main" id="{CEF825C6-2C65-FED4-92C7-EAC8092EE9B4}"/>
              </a:ext>
            </a:extLst>
          </p:cNvPr>
          <p:cNvPicPr>
            <a:picLocks noChangeAspect="1"/>
          </p:cNvPicPr>
          <p:nvPr/>
        </p:nvPicPr>
        <p:blipFill>
          <a:blip r:embed="rId5"/>
          <a:stretch>
            <a:fillRect/>
          </a:stretch>
        </p:blipFill>
        <p:spPr>
          <a:xfrm>
            <a:off x="5127678" y="1705413"/>
            <a:ext cx="3553078" cy="1550916"/>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90090630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a:extLst>
              <a:ext uri="{FF2B5EF4-FFF2-40B4-BE49-F238E27FC236}">
                <a16:creationId xmlns:a16="http://schemas.microsoft.com/office/drawing/2014/main" id="{7D88264F-8D27-8E9F-CBF6-F61243BD5B41}"/>
              </a:ext>
            </a:extLst>
          </p:cNvPr>
          <p:cNvSpPr/>
          <p:nvPr/>
        </p:nvSpPr>
        <p:spPr>
          <a:xfrm>
            <a:off x="5918111" y="1933659"/>
            <a:ext cx="2764248" cy="333300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solidFill>
                  <a:schemeClr val="bg1"/>
                </a:solidFill>
                <a:latin typeface="微軟正黑體 Light" panose="020B0304030504040204" pitchFamily="34" charset="-120"/>
                <a:ea typeface="微軟正黑體 Light" panose="020B0304030504040204" pitchFamily="34" charset="-120"/>
              </a:rPr>
              <a:t>Thought</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13" name="矩形 12">
            <a:extLst>
              <a:ext uri="{FF2B5EF4-FFF2-40B4-BE49-F238E27FC236}">
                <a16:creationId xmlns:a16="http://schemas.microsoft.com/office/drawing/2014/main" id="{E70AF1FB-ED05-70F0-4DB3-6127255BC839}"/>
              </a:ext>
            </a:extLst>
          </p:cNvPr>
          <p:cNvSpPr/>
          <p:nvPr/>
        </p:nvSpPr>
        <p:spPr>
          <a:xfrm>
            <a:off x="6228599" y="2908192"/>
            <a:ext cx="2138553" cy="235067"/>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System Prompt </a:t>
            </a:r>
            <a:endParaRPr lang="zh-TW" altLang="en-US" sz="900" dirty="0">
              <a:latin typeface="微軟正黑體 Light" panose="020B0304030504040204" pitchFamily="34" charset="-120"/>
              <a:ea typeface="微軟正黑體 Light" panose="020B0304030504040204" pitchFamily="34" charset="-120"/>
            </a:endParaRPr>
          </a:p>
        </p:txBody>
      </p:sp>
      <p:sp>
        <p:nvSpPr>
          <p:cNvPr id="15" name="矩形 14">
            <a:extLst>
              <a:ext uri="{FF2B5EF4-FFF2-40B4-BE49-F238E27FC236}">
                <a16:creationId xmlns:a16="http://schemas.microsoft.com/office/drawing/2014/main" id="{C07BA97E-C56E-E7DA-9BCB-13829BFBAF71}"/>
              </a:ext>
            </a:extLst>
          </p:cNvPr>
          <p:cNvSpPr/>
          <p:nvPr/>
        </p:nvSpPr>
        <p:spPr>
          <a:xfrm>
            <a:off x="6228599" y="2354902"/>
            <a:ext cx="2138553" cy="45396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zh-TW" altLang="zh-TW" sz="900" dirty="0">
                <a:latin typeface="微軟正黑體 Light" panose="020B0304030504040204" pitchFamily="34" charset="-120"/>
                <a:ea typeface="微軟正黑體 Light" panose="020B0304030504040204" pitchFamily="34" charset="-120"/>
              </a:rPr>
              <a:t>User Prompt</a:t>
            </a:r>
            <a:endParaRPr lang="en-US" altLang="zh-TW" sz="900" dirty="0">
              <a:latin typeface="微軟正黑體 Light" panose="020B0304030504040204" pitchFamily="34" charset="-120"/>
              <a:ea typeface="微軟正黑體 Light" panose="020B0304030504040204" pitchFamily="34" charset="-120"/>
            </a:endParaRPr>
          </a:p>
          <a:p>
            <a:pPr algn="ctr"/>
            <a:r>
              <a:rPr lang="zh-CN" altLang="en-US" sz="900" dirty="0">
                <a:latin typeface="微軟正黑體 Light" panose="020B0304030504040204" pitchFamily="34" charset="-120"/>
                <a:ea typeface="微軟正黑體 Light" panose="020B0304030504040204" pitchFamily="34" charset="-120"/>
              </a:rPr>
              <a:t>問話、檔案、圖片、聲音、影片</a:t>
            </a:r>
            <a:endParaRPr lang="zh-TW" altLang="en-US" sz="900" dirty="0">
              <a:latin typeface="微軟正黑體 Light" panose="020B0304030504040204" pitchFamily="34" charset="-120"/>
              <a:ea typeface="微軟正黑體 Light" panose="020B0304030504040204" pitchFamily="34" charset="-120"/>
            </a:endParaRPr>
          </a:p>
        </p:txBody>
      </p:sp>
      <p:sp>
        <p:nvSpPr>
          <p:cNvPr id="19" name="矩形 18">
            <a:extLst>
              <a:ext uri="{FF2B5EF4-FFF2-40B4-BE49-F238E27FC236}">
                <a16:creationId xmlns:a16="http://schemas.microsoft.com/office/drawing/2014/main" id="{DEFB6727-F3BA-A57C-3144-6772B21B5D15}"/>
              </a:ext>
            </a:extLst>
          </p:cNvPr>
          <p:cNvSpPr/>
          <p:nvPr/>
        </p:nvSpPr>
        <p:spPr>
          <a:xfrm>
            <a:off x="6211295" y="4334356"/>
            <a:ext cx="2138553" cy="55690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dirty="0">
                <a:latin typeface="微軟正黑體 Light" panose="020B0304030504040204" pitchFamily="34" charset="-120"/>
                <a:ea typeface="微軟正黑體 Light" panose="020B0304030504040204" pitchFamily="34" charset="-120"/>
              </a:rPr>
              <a:t>Block Hashing</a:t>
            </a:r>
            <a:br>
              <a:rPr lang="en-US" altLang="zh-TW"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KV Cache</a:t>
            </a:r>
            <a:endParaRPr lang="zh-TW" altLang="en-US" sz="900" dirty="0">
              <a:latin typeface="微軟正黑體 Light" panose="020B0304030504040204" pitchFamily="34" charset="-120"/>
              <a:ea typeface="微軟正黑體 Light" panose="020B0304030504040204" pitchFamily="34" charset="-120"/>
            </a:endParaRPr>
          </a:p>
        </p:txBody>
      </p:sp>
      <p:sp>
        <p:nvSpPr>
          <p:cNvPr id="23" name="矩形 22">
            <a:extLst>
              <a:ext uri="{FF2B5EF4-FFF2-40B4-BE49-F238E27FC236}">
                <a16:creationId xmlns:a16="http://schemas.microsoft.com/office/drawing/2014/main" id="{E032344B-9D17-C577-54A3-35184C84F7A8}"/>
              </a:ext>
            </a:extLst>
          </p:cNvPr>
          <p:cNvSpPr/>
          <p:nvPr/>
        </p:nvSpPr>
        <p:spPr>
          <a:xfrm>
            <a:off x="6225468" y="3644907"/>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Prompt Templating</a:t>
            </a:r>
            <a:endParaRPr lang="zh-TW" altLang="en-US" sz="900" dirty="0">
              <a:latin typeface="微軟正黑體 Light" panose="020B0304030504040204" pitchFamily="34" charset="-120"/>
              <a:ea typeface="微軟正黑體 Light" panose="020B0304030504040204" pitchFamily="34" charset="-120"/>
            </a:endParaRPr>
          </a:p>
        </p:txBody>
      </p:sp>
      <p:sp>
        <p:nvSpPr>
          <p:cNvPr id="31" name="矩形 30">
            <a:extLst>
              <a:ext uri="{FF2B5EF4-FFF2-40B4-BE49-F238E27FC236}">
                <a16:creationId xmlns:a16="http://schemas.microsoft.com/office/drawing/2014/main" id="{2AD862E8-6E61-CCD5-92B1-19DF3C04E057}"/>
              </a:ext>
            </a:extLst>
          </p:cNvPr>
          <p:cNvSpPr/>
          <p:nvPr/>
        </p:nvSpPr>
        <p:spPr>
          <a:xfrm>
            <a:off x="6211295" y="3995768"/>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Tokenization</a:t>
            </a:r>
            <a:endParaRPr lang="zh-TW" altLang="en-US" sz="900" dirty="0">
              <a:latin typeface="微軟正黑體 Light" panose="020B0304030504040204" pitchFamily="34" charset="-120"/>
              <a:ea typeface="微軟正黑體 Light" panose="020B0304030504040204" pitchFamily="34" charset="-120"/>
            </a:endParaRPr>
          </a:p>
        </p:txBody>
      </p:sp>
      <p:sp>
        <p:nvSpPr>
          <p:cNvPr id="39" name="文字方塊 38">
            <a:extLst>
              <a:ext uri="{FF2B5EF4-FFF2-40B4-BE49-F238E27FC236}">
                <a16:creationId xmlns:a16="http://schemas.microsoft.com/office/drawing/2014/main" id="{DFCD5701-21B1-1F5E-2482-B310571D001E}"/>
              </a:ext>
            </a:extLst>
          </p:cNvPr>
          <p:cNvSpPr txBox="1"/>
          <p:nvPr/>
        </p:nvSpPr>
        <p:spPr>
          <a:xfrm>
            <a:off x="3932018" y="1840642"/>
            <a:ext cx="1652125" cy="300082"/>
          </a:xfrm>
          <a:prstGeom prst="rect">
            <a:avLst/>
          </a:prstGeom>
          <a:noFill/>
        </p:spPr>
        <p:txBody>
          <a:bodyPr wrap="square">
            <a:spAutoFit/>
          </a:bodyPr>
          <a:lstStyle/>
          <a:p>
            <a:r>
              <a:rPr lang="en-US" altLang="zh-CN" sz="1350" b="1" dirty="0">
                <a:solidFill>
                  <a:schemeClr val="accent1"/>
                </a:solidFill>
                <a:latin typeface="微軟正黑體 Light" panose="020B0304030504040204" pitchFamily="34" charset="-120"/>
                <a:ea typeface="微軟正黑體 Light" panose="020B0304030504040204" pitchFamily="34" charset="-120"/>
              </a:rPr>
              <a:t>Agent (ReAct)</a:t>
            </a:r>
            <a:endParaRPr lang="zh-TW" altLang="en-US" sz="1350" b="1" dirty="0">
              <a:solidFill>
                <a:schemeClr val="accent1"/>
              </a:solidFill>
              <a:latin typeface="微軟正黑體 Light" panose="020B0304030504040204" pitchFamily="34" charset="-120"/>
              <a:ea typeface="微軟正黑體 Light" panose="020B0304030504040204" pitchFamily="34" charset="-120"/>
            </a:endParaRPr>
          </a:p>
        </p:txBody>
      </p:sp>
      <p:sp>
        <p:nvSpPr>
          <p:cNvPr id="41" name="矩形 40">
            <a:extLst>
              <a:ext uri="{FF2B5EF4-FFF2-40B4-BE49-F238E27FC236}">
                <a16:creationId xmlns:a16="http://schemas.microsoft.com/office/drawing/2014/main" id="{0CD72146-64C0-38AB-C94D-DB29869A769A}"/>
              </a:ext>
            </a:extLst>
          </p:cNvPr>
          <p:cNvSpPr/>
          <p:nvPr/>
        </p:nvSpPr>
        <p:spPr>
          <a:xfrm>
            <a:off x="5020175" y="3385045"/>
            <a:ext cx="8031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Action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 name="矩形 6">
            <a:extLst>
              <a:ext uri="{FF2B5EF4-FFF2-40B4-BE49-F238E27FC236}">
                <a16:creationId xmlns:a16="http://schemas.microsoft.com/office/drawing/2014/main" id="{C397712A-50F4-F6E5-E88D-87EF4557CA99}"/>
              </a:ext>
            </a:extLst>
          </p:cNvPr>
          <p:cNvSpPr/>
          <p:nvPr/>
        </p:nvSpPr>
        <p:spPr>
          <a:xfrm>
            <a:off x="6063577" y="3415248"/>
            <a:ext cx="2462339" cy="1568706"/>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大模型</a:t>
            </a:r>
            <a:endParaRPr lang="zh-TW" altLang="en-US" sz="900" dirty="0">
              <a:latin typeface="微軟正黑體 Light" panose="020B0304030504040204" pitchFamily="34" charset="-120"/>
              <a:ea typeface="微軟正黑體 Light" panose="020B0304030504040204" pitchFamily="34" charset="-120"/>
            </a:endParaRPr>
          </a:p>
        </p:txBody>
      </p:sp>
      <p:sp>
        <p:nvSpPr>
          <p:cNvPr id="9" name="矩形 8">
            <a:extLst>
              <a:ext uri="{FF2B5EF4-FFF2-40B4-BE49-F238E27FC236}">
                <a16:creationId xmlns:a16="http://schemas.microsoft.com/office/drawing/2014/main" id="{4B79AF00-F49A-7AF2-43C3-191C63509881}"/>
              </a:ext>
            </a:extLst>
          </p:cNvPr>
          <p:cNvSpPr/>
          <p:nvPr/>
        </p:nvSpPr>
        <p:spPr>
          <a:xfrm>
            <a:off x="6063576" y="2124619"/>
            <a:ext cx="2462339" cy="1078430"/>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上下文管理</a:t>
            </a:r>
            <a:endParaRPr lang="zh-TW" altLang="en-US" sz="900" dirty="0">
              <a:latin typeface="微軟正黑體 Light" panose="020B0304030504040204" pitchFamily="34" charset="-120"/>
              <a:ea typeface="微軟正黑體 Light" panose="020B0304030504040204" pitchFamily="34" charset="-120"/>
            </a:endParaRPr>
          </a:p>
        </p:txBody>
      </p:sp>
      <p:sp>
        <p:nvSpPr>
          <p:cNvPr id="43" name="矩形 42">
            <a:extLst>
              <a:ext uri="{FF2B5EF4-FFF2-40B4-BE49-F238E27FC236}">
                <a16:creationId xmlns:a16="http://schemas.microsoft.com/office/drawing/2014/main" id="{71E3A592-835A-8275-6406-486816C11202}"/>
              </a:ext>
            </a:extLst>
          </p:cNvPr>
          <p:cNvSpPr/>
          <p:nvPr/>
        </p:nvSpPr>
        <p:spPr>
          <a:xfrm>
            <a:off x="5020175" y="2708017"/>
            <a:ext cx="803151"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Observation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45" name="接點: 肘形 44">
            <a:extLst>
              <a:ext uri="{FF2B5EF4-FFF2-40B4-BE49-F238E27FC236}">
                <a16:creationId xmlns:a16="http://schemas.microsoft.com/office/drawing/2014/main" id="{FCF97746-0406-AF7D-A163-C26DD130A6D2}"/>
              </a:ext>
            </a:extLst>
          </p:cNvPr>
          <p:cNvCxnSpPr>
            <a:cxnSpLocks/>
            <a:stCxn id="11" idx="2"/>
            <a:endCxn id="41" idx="2"/>
          </p:cNvCxnSpPr>
          <p:nvPr/>
        </p:nvCxnSpPr>
        <p:spPr>
          <a:xfrm rot="5400000" flipH="1">
            <a:off x="5535601" y="3502028"/>
            <a:ext cx="1650785" cy="1878485"/>
          </a:xfrm>
          <a:prstGeom prst="bentConnector3">
            <a:avLst>
              <a:gd name="adj1" fmla="val -5935"/>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6" name="接點: 肘形 45">
            <a:extLst>
              <a:ext uri="{FF2B5EF4-FFF2-40B4-BE49-F238E27FC236}">
                <a16:creationId xmlns:a16="http://schemas.microsoft.com/office/drawing/2014/main" id="{2766C5AD-18D5-9375-0DD2-00BA9204801A}"/>
              </a:ext>
            </a:extLst>
          </p:cNvPr>
          <p:cNvCxnSpPr>
            <a:cxnSpLocks/>
            <a:stCxn id="43" idx="0"/>
            <a:endCxn id="15" idx="0"/>
          </p:cNvCxnSpPr>
          <p:nvPr/>
        </p:nvCxnSpPr>
        <p:spPr>
          <a:xfrm rot="5400000" flipH="1" flipV="1">
            <a:off x="6183255" y="1593397"/>
            <a:ext cx="353115" cy="1876125"/>
          </a:xfrm>
          <a:prstGeom prst="bentConnector3">
            <a:avLst>
              <a:gd name="adj1" fmla="val 19017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接點: 肘形 49">
            <a:extLst>
              <a:ext uri="{FF2B5EF4-FFF2-40B4-BE49-F238E27FC236}">
                <a16:creationId xmlns:a16="http://schemas.microsoft.com/office/drawing/2014/main" id="{49FD5CB2-9F5D-592A-DAEE-72750F2C19A6}"/>
              </a:ext>
            </a:extLst>
          </p:cNvPr>
          <p:cNvCxnSpPr>
            <a:cxnSpLocks/>
            <a:stCxn id="41" idx="0"/>
            <a:endCxn id="43" idx="2"/>
          </p:cNvCxnSpPr>
          <p:nvPr/>
        </p:nvCxnSpPr>
        <p:spPr>
          <a:xfrm rot="16200000" flipV="1">
            <a:off x="5198653" y="3161947"/>
            <a:ext cx="446195"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文字方塊 61">
            <a:extLst>
              <a:ext uri="{FF2B5EF4-FFF2-40B4-BE49-F238E27FC236}">
                <a16:creationId xmlns:a16="http://schemas.microsoft.com/office/drawing/2014/main" id="{C4933434-E99C-ACA0-C643-C8FD37F2A477}"/>
              </a:ext>
            </a:extLst>
          </p:cNvPr>
          <p:cNvSpPr txBox="1"/>
          <p:nvPr/>
        </p:nvSpPr>
        <p:spPr>
          <a:xfrm>
            <a:off x="3974512" y="3377636"/>
            <a:ext cx="777098" cy="253916"/>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工具執行</a:t>
            </a:r>
            <a:endParaRPr lang="zh-TW" altLang="en-US" sz="1050" dirty="0">
              <a:latin typeface="微軟正黑體 Light" panose="020B0304030504040204" pitchFamily="34" charset="-120"/>
              <a:ea typeface="微軟正黑體 Light" panose="020B0304030504040204" pitchFamily="34" charset="-120"/>
            </a:endParaRPr>
          </a:p>
        </p:txBody>
      </p:sp>
      <p:sp>
        <p:nvSpPr>
          <p:cNvPr id="64" name="文字方塊 63">
            <a:extLst>
              <a:ext uri="{FF2B5EF4-FFF2-40B4-BE49-F238E27FC236}">
                <a16:creationId xmlns:a16="http://schemas.microsoft.com/office/drawing/2014/main" id="{9D8D8E31-9F9C-C709-59F8-96561CA4DFD3}"/>
              </a:ext>
            </a:extLst>
          </p:cNvPr>
          <p:cNvSpPr txBox="1"/>
          <p:nvPr/>
        </p:nvSpPr>
        <p:spPr>
          <a:xfrm>
            <a:off x="3958684" y="2686622"/>
            <a:ext cx="978980" cy="415498"/>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執行</a:t>
            </a:r>
            <a:r>
              <a:rPr lang="zh-CN" altLang="en-US" sz="1050" dirty="0">
                <a:latin typeface="微軟正黑體 Light" panose="020B0304030504040204" pitchFamily="34" charset="-120"/>
                <a:ea typeface="微軟正黑體 Light" panose="020B0304030504040204" pitchFamily="34" charset="-120"/>
              </a:rPr>
              <a:t>結果反饋</a:t>
            </a:r>
            <a:endParaRPr lang="zh-TW" altLang="en-US" sz="1050" dirty="0">
              <a:latin typeface="微軟正黑體 Light" panose="020B0304030504040204" pitchFamily="34" charset="-120"/>
              <a:ea typeface="微軟正黑體 Light" panose="020B0304030504040204" pitchFamily="34" charset="-120"/>
            </a:endParaRPr>
          </a:p>
        </p:txBody>
      </p:sp>
      <p:sp>
        <p:nvSpPr>
          <p:cNvPr id="70" name="矩形 69">
            <a:extLst>
              <a:ext uri="{FF2B5EF4-FFF2-40B4-BE49-F238E27FC236}">
                <a16:creationId xmlns:a16="http://schemas.microsoft.com/office/drawing/2014/main" id="{E4E60699-5A1E-65BD-C11D-3D1653332DA6}"/>
              </a:ext>
            </a:extLst>
          </p:cNvPr>
          <p:cNvSpPr/>
          <p:nvPr/>
        </p:nvSpPr>
        <p:spPr>
          <a:xfrm>
            <a:off x="6939459" y="5709871"/>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Answer</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8" name="矩形 77">
            <a:extLst>
              <a:ext uri="{FF2B5EF4-FFF2-40B4-BE49-F238E27FC236}">
                <a16:creationId xmlns:a16="http://schemas.microsoft.com/office/drawing/2014/main" id="{A0FB29B3-449C-CA85-0143-4D39CE832474}"/>
              </a:ext>
            </a:extLst>
          </p:cNvPr>
          <p:cNvSpPr/>
          <p:nvPr/>
        </p:nvSpPr>
        <p:spPr>
          <a:xfrm>
            <a:off x="6937100" y="1426796"/>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b="1" dirty="0">
                <a:solidFill>
                  <a:schemeClr val="bg1"/>
                </a:solidFill>
                <a:latin typeface="微軟正黑體 Light" panose="020B0304030504040204" pitchFamily="34" charset="-120"/>
                <a:ea typeface="微軟正黑體 Light" panose="020B0304030504040204" pitchFamily="34" charset="-120"/>
              </a:rPr>
              <a:t>Question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81" name="接點: 肘形 80">
            <a:extLst>
              <a:ext uri="{FF2B5EF4-FFF2-40B4-BE49-F238E27FC236}">
                <a16:creationId xmlns:a16="http://schemas.microsoft.com/office/drawing/2014/main" id="{B4677D52-B7BF-A2F3-BD7C-A3CE3D5BC62F}"/>
              </a:ext>
            </a:extLst>
          </p:cNvPr>
          <p:cNvCxnSpPr>
            <a:cxnSpLocks/>
            <a:stCxn id="78" idx="2"/>
            <a:endCxn id="15" idx="0"/>
          </p:cNvCxnSpPr>
          <p:nvPr/>
        </p:nvCxnSpPr>
        <p:spPr>
          <a:xfrm rot="5400000">
            <a:off x="6949240" y="2006266"/>
            <a:ext cx="697272"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5" name="接點: 肘形 84">
            <a:extLst>
              <a:ext uri="{FF2B5EF4-FFF2-40B4-BE49-F238E27FC236}">
                <a16:creationId xmlns:a16="http://schemas.microsoft.com/office/drawing/2014/main" id="{14C197BB-FF95-3F9F-2CF1-D8A0F38FABC2}"/>
              </a:ext>
            </a:extLst>
          </p:cNvPr>
          <p:cNvCxnSpPr>
            <a:cxnSpLocks/>
            <a:stCxn id="11" idx="2"/>
            <a:endCxn id="70" idx="0"/>
          </p:cNvCxnSpPr>
          <p:nvPr/>
        </p:nvCxnSpPr>
        <p:spPr>
          <a:xfrm rot="5400000">
            <a:off x="7078632" y="5488267"/>
            <a:ext cx="443209" cy="9525"/>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00" name="文字方塊 99">
            <a:extLst>
              <a:ext uri="{FF2B5EF4-FFF2-40B4-BE49-F238E27FC236}">
                <a16:creationId xmlns:a16="http://schemas.microsoft.com/office/drawing/2014/main" id="{E3159AEA-8130-A12D-8992-26D88711C085}"/>
              </a:ext>
            </a:extLst>
          </p:cNvPr>
          <p:cNvSpPr txBox="1"/>
          <p:nvPr/>
        </p:nvSpPr>
        <p:spPr>
          <a:xfrm>
            <a:off x="7340751" y="5288079"/>
            <a:ext cx="777098" cy="253916"/>
          </a:xfrm>
          <a:prstGeom prst="rect">
            <a:avLst/>
          </a:prstGeom>
          <a:noFill/>
        </p:spPr>
        <p:txBody>
          <a:bodyPr wrap="square">
            <a:spAutoFit/>
          </a:bodyPr>
          <a:lstStyle/>
          <a:p>
            <a:r>
              <a:rPr lang="zh-CN" altLang="en-US" sz="1050" dirty="0">
                <a:latin typeface="微軟正黑體 Light" panose="020B0304030504040204" pitchFamily="34" charset="-120"/>
                <a:ea typeface="微軟正黑體 Light" panose="020B0304030504040204" pitchFamily="34" charset="-120"/>
              </a:rPr>
              <a:t>規劃回應</a:t>
            </a:r>
            <a:endParaRPr lang="zh-TW" altLang="en-US" sz="1050" dirty="0">
              <a:latin typeface="微軟正黑體 Light" panose="020B0304030504040204" pitchFamily="34" charset="-120"/>
              <a:ea typeface="微軟正黑體 Light" panose="020B0304030504040204" pitchFamily="34" charset="-120"/>
            </a:endParaRPr>
          </a:p>
        </p:txBody>
      </p:sp>
      <p:sp>
        <p:nvSpPr>
          <p:cNvPr id="114" name="矩形 113">
            <a:extLst>
              <a:ext uri="{FF2B5EF4-FFF2-40B4-BE49-F238E27FC236}">
                <a16:creationId xmlns:a16="http://schemas.microsoft.com/office/drawing/2014/main" id="{D0BC473B-D15A-A468-6E2B-BBDD3F162373}"/>
              </a:ext>
            </a:extLst>
          </p:cNvPr>
          <p:cNvSpPr/>
          <p:nvPr/>
        </p:nvSpPr>
        <p:spPr>
          <a:xfrm>
            <a:off x="3927022" y="1748523"/>
            <a:ext cx="4911308" cy="3770389"/>
          </a:xfrm>
          <a:prstGeom prst="rect">
            <a:avLst/>
          </a:prstGeom>
          <a:noFill/>
          <a:ln w="38100">
            <a:solidFill>
              <a:schemeClr val="accent1"/>
            </a:solid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noFill/>
                <a:latin typeface="微軟正黑體 Light" panose="020B0304030504040204" pitchFamily="34" charset="-120"/>
                <a:ea typeface="微軟正黑體 Light" panose="020B0304030504040204" pitchFamily="34" charset="-120"/>
              </a:rPr>
              <a:t>Thought</a:t>
            </a:r>
            <a:endParaRPr lang="zh-TW" altLang="en-US" sz="900" b="1" dirty="0">
              <a:noFill/>
              <a:latin typeface="微軟正黑體 Light" panose="020B0304030504040204" pitchFamily="34" charset="-120"/>
              <a:ea typeface="微軟正黑體 Light" panose="020B0304030504040204" pitchFamily="34" charset="-120"/>
            </a:endParaRPr>
          </a:p>
        </p:txBody>
      </p:sp>
      <p:sp>
        <p:nvSpPr>
          <p:cNvPr id="117" name="文字方塊 116">
            <a:extLst>
              <a:ext uri="{FF2B5EF4-FFF2-40B4-BE49-F238E27FC236}">
                <a16:creationId xmlns:a16="http://schemas.microsoft.com/office/drawing/2014/main" id="{30CFBF44-512D-8D83-A5D7-53A882A9823F}"/>
              </a:ext>
            </a:extLst>
          </p:cNvPr>
          <p:cNvSpPr txBox="1"/>
          <p:nvPr/>
        </p:nvSpPr>
        <p:spPr>
          <a:xfrm>
            <a:off x="4049780" y="980045"/>
            <a:ext cx="4632579" cy="300082"/>
          </a:xfrm>
          <a:prstGeom prst="rect">
            <a:avLst/>
          </a:prstGeom>
          <a:noFill/>
        </p:spPr>
        <p:txBody>
          <a:bodyPr wrap="square">
            <a:spAutoFit/>
          </a:bodyPr>
          <a:lstStyle/>
          <a:p>
            <a:pPr>
              <a:buNone/>
            </a:pPr>
            <a:r>
              <a:rPr lang="zh-TW" altLang="zh-TW" sz="1350" dirty="0"/>
              <a:t>Agent 的上限由大模型決定，但下限由上下文管理決定。</a:t>
            </a:r>
          </a:p>
        </p:txBody>
      </p:sp>
      <p:sp>
        <p:nvSpPr>
          <p:cNvPr id="119" name="文字方塊 118">
            <a:extLst>
              <a:ext uri="{FF2B5EF4-FFF2-40B4-BE49-F238E27FC236}">
                <a16:creationId xmlns:a16="http://schemas.microsoft.com/office/drawing/2014/main" id="{DD4EBD5C-159C-4264-4591-18EC61B9DBA4}"/>
              </a:ext>
            </a:extLst>
          </p:cNvPr>
          <p:cNvSpPr txBox="1"/>
          <p:nvPr/>
        </p:nvSpPr>
        <p:spPr>
          <a:xfrm>
            <a:off x="3998628" y="3663028"/>
            <a:ext cx="1757590" cy="1892826"/>
          </a:xfrm>
          <a:prstGeom prst="rect">
            <a:avLst/>
          </a:prstGeom>
          <a:noFill/>
        </p:spPr>
        <p:txBody>
          <a:bodyPr wrap="square" rtlCol="0">
            <a:spAutoFit/>
          </a:bodyPr>
          <a:lstStyle/>
          <a:p>
            <a:r>
              <a:rPr lang="zh-TW" altLang="zh-TW" sz="900" dirty="0">
                <a:latin typeface="微軟正黑體 Light" panose="020B0304030504040204" pitchFamily="34" charset="-120"/>
                <a:ea typeface="微軟正黑體 Light" panose="020B0304030504040204" pitchFamily="34" charset="-120"/>
              </a:rPr>
              <a:t>Function Calling</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MCP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skill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A2A</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Ephemeral Agent</a:t>
            </a:r>
            <a:r>
              <a:rPr lang="zh-CN" altLang="en-US" sz="900" dirty="0">
                <a:latin typeface="微軟正黑體 Light" panose="020B0304030504040204" pitchFamily="34" charset="-120"/>
                <a:ea typeface="微軟正黑體 Light" panose="020B0304030504040204" pitchFamily="34" charset="-120"/>
              </a:rPr>
              <a:t>（</a:t>
            </a:r>
            <a:r>
              <a:rPr lang="en-US" altLang="zh-CN" sz="900" dirty="0">
                <a:latin typeface="微軟正黑體 Light" panose="020B0304030504040204" pitchFamily="34" charset="-120"/>
                <a:ea typeface="微軟正黑體 Light" panose="020B0304030504040204" pitchFamily="34" charset="-120"/>
              </a:rPr>
              <a:t>Sub-agent</a:t>
            </a:r>
            <a:r>
              <a:rPr lang="zh-CN" altLang="en-US" sz="900" dirty="0">
                <a:latin typeface="微軟正黑體 Light" panose="020B0304030504040204" pitchFamily="34" charset="-120"/>
                <a:ea typeface="微軟正黑體 Light" panose="020B0304030504040204" pitchFamily="34" charset="-120"/>
              </a:rPr>
              <a:t>）</a:t>
            </a:r>
            <a:br>
              <a:rPr lang="en-US" altLang="zh-CN" sz="900" dirty="0">
                <a:latin typeface="微軟正黑體 Light" panose="020B0304030504040204" pitchFamily="34" charset="-120"/>
                <a:ea typeface="微軟正黑體 Light" panose="020B0304030504040204" pitchFamily="34" charset="-120"/>
              </a:rPr>
            </a:b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HITL</a:t>
            </a:r>
          </a:p>
          <a:p>
            <a:r>
              <a:rPr lang="en-US" altLang="zh-CN" sz="900" dirty="0">
                <a:latin typeface="微軟正黑體 Light" panose="020B0304030504040204" pitchFamily="34" charset="-120"/>
                <a:ea typeface="微軟正黑體 Light" panose="020B0304030504040204" pitchFamily="34" charset="-120"/>
              </a:rPr>
              <a:t>REPL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Sandbox</a:t>
            </a:r>
          </a:p>
          <a:p>
            <a:r>
              <a:rPr lang="en-US" altLang="zh-CN" sz="900" dirty="0">
                <a:latin typeface="微軟正黑體 Light" panose="020B0304030504040204" pitchFamily="34" charset="-120"/>
                <a:ea typeface="微軟正黑體 Light" panose="020B0304030504040204" pitchFamily="34" charset="-120"/>
              </a:rPr>
              <a:t>Vision-Based Operation</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Computer Use</a:t>
            </a:r>
          </a:p>
          <a:p>
            <a:endParaRPr lang="zh-TW" altLang="en-US" sz="900" dirty="0">
              <a:latin typeface="微軟正黑體 Light" panose="020B0304030504040204" pitchFamily="34" charset="-120"/>
              <a:ea typeface="微軟正黑體 Light" panose="020B0304030504040204" pitchFamily="34" charset="-120"/>
            </a:endParaRPr>
          </a:p>
        </p:txBody>
      </p:sp>
      <p:pic>
        <p:nvPicPr>
          <p:cNvPr id="163" name="圖片 162">
            <a:extLst>
              <a:ext uri="{FF2B5EF4-FFF2-40B4-BE49-F238E27FC236}">
                <a16:creationId xmlns:a16="http://schemas.microsoft.com/office/drawing/2014/main" id="{B441A2AC-9804-55D0-23BA-CBE712AD29E5}"/>
              </a:ext>
            </a:extLst>
          </p:cNvPr>
          <p:cNvPicPr>
            <a:picLocks noChangeAspect="1"/>
          </p:cNvPicPr>
          <p:nvPr/>
        </p:nvPicPr>
        <p:blipFill>
          <a:blip r:embed="rId3"/>
          <a:stretch>
            <a:fillRect/>
          </a:stretch>
        </p:blipFill>
        <p:spPr>
          <a:xfrm>
            <a:off x="121989" y="1565392"/>
            <a:ext cx="3340335" cy="2687707"/>
          </a:xfrm>
          <a:prstGeom prst="rect">
            <a:avLst/>
          </a:prstGeom>
        </p:spPr>
      </p:pic>
      <p:pic>
        <p:nvPicPr>
          <p:cNvPr id="165" name="圖片 164">
            <a:extLst>
              <a:ext uri="{FF2B5EF4-FFF2-40B4-BE49-F238E27FC236}">
                <a16:creationId xmlns:a16="http://schemas.microsoft.com/office/drawing/2014/main" id="{5753F105-B0A1-0CA7-1F31-A462F5FFDF72}"/>
              </a:ext>
            </a:extLst>
          </p:cNvPr>
          <p:cNvPicPr>
            <a:picLocks noChangeAspect="1"/>
          </p:cNvPicPr>
          <p:nvPr/>
        </p:nvPicPr>
        <p:blipFill>
          <a:blip r:embed="rId4"/>
          <a:stretch>
            <a:fillRect/>
          </a:stretch>
        </p:blipFill>
        <p:spPr>
          <a:xfrm>
            <a:off x="400237" y="4313131"/>
            <a:ext cx="3018275" cy="1040924"/>
          </a:xfrm>
          <a:prstGeom prst="rect">
            <a:avLst/>
          </a:prstGeom>
        </p:spPr>
      </p:pic>
      <mc:AlternateContent xmlns:mc="http://schemas.openxmlformats.org/markup-compatibility/2006" xmlns:a14="http://schemas.microsoft.com/office/drawing/2010/main">
        <mc:Choice Requires="a14">
          <p:sp>
            <p:nvSpPr>
              <p:cNvPr id="167" name="文字方塊 166">
                <a:extLst>
                  <a:ext uri="{FF2B5EF4-FFF2-40B4-BE49-F238E27FC236}">
                    <a16:creationId xmlns:a16="http://schemas.microsoft.com/office/drawing/2014/main" id="{68428BF5-E137-79A2-9A22-6D73F9A159E5}"/>
                  </a:ext>
                </a:extLst>
              </p:cNvPr>
              <p:cNvSpPr txBox="1"/>
              <p:nvPr/>
            </p:nvSpPr>
            <p:spPr>
              <a:xfrm>
                <a:off x="214080" y="5403495"/>
                <a:ext cx="3332021" cy="369460"/>
              </a:xfrm>
              <a:prstGeom prst="rect">
                <a:avLst/>
              </a:prstGeom>
              <a:noFill/>
            </p:spPr>
            <p:txBody>
              <a:bodyPr wrap="square">
                <a:spAutoFit/>
              </a:bodyPr>
              <a:lstStyle/>
              <a:p>
                <a:pPr/>
                <a14:m>
                  <m:oMathPara xmlns:m="http://schemas.openxmlformats.org/officeDocument/2006/math">
                    <m:oMath>
                      <m:r>
                        <m:rPr>
                          <m:nor/>
                        </m:rPr>
                        <a:rPr lang="zh-TW" altLang="en-US" sz="900" i="0">
                          <a:latin typeface="微軟正黑體 Light" panose="020B0304030504040204" pitchFamily="34" charset="-120"/>
                          <a:ea typeface="微軟正黑體 Light" panose="020B0304030504040204" pitchFamily="34" charset="-120"/>
                        </a:rPr>
                        <m:t>Hash(Block 1)</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SHA256</m:t>
                      </m:r>
                      <m:d>
                        <m:dPr>
                          <m:ctrlPr>
                            <a:rPr lang="zh-TW" altLang="en-US" sz="900" i="0">
                              <a:latin typeface="微軟正黑體 Light" panose="020B0304030504040204" pitchFamily="34" charset="-120"/>
                              <a:ea typeface="微軟正黑體 Light" panose="020B0304030504040204" pitchFamily="34" charset="-120"/>
                            </a:rPr>
                          </m:ctrlPr>
                        </m:dPr>
                        <m:e>
                          <m:r>
                            <m:rPr>
                              <m:nor/>
                            </m:rPr>
                            <a:rPr lang="zh-TW" altLang="en-US" sz="900" i="0">
                              <a:latin typeface="微軟正黑體 Light" panose="020B0304030504040204" pitchFamily="34" charset="-120"/>
                              <a:ea typeface="微軟正黑體 Light" panose="020B0304030504040204" pitchFamily="34" charset="-120"/>
                            </a:rPr>
                            <m:t>Hash(Block 0)</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Block 1 的內容</m:t>
                          </m:r>
                        </m:e>
                      </m:d>
                    </m:oMath>
                    <m:oMath>
                      <m:r>
                        <m:rPr>
                          <m:nor/>
                        </m:rPr>
                        <a:rPr lang="zh-TW" altLang="en-US" sz="900" i="0">
                          <a:latin typeface="微軟正黑體 Light" panose="020B0304030504040204" pitchFamily="34" charset="-120"/>
                          <a:ea typeface="微軟正黑體 Light" panose="020B0304030504040204" pitchFamily="34" charset="-120"/>
                        </a:rPr>
                        <m:t>靜態在頂，動態在底；由穩入變，線性追加</m:t>
                      </m:r>
                    </m:oMath>
                  </m:oMathPara>
                </a14:m>
                <a:endParaRPr lang="zh-TW" altLang="en-US" sz="900" dirty="0">
                  <a:latin typeface="微軟正黑體 Light" panose="020B0304030504040204" pitchFamily="34" charset="-120"/>
                  <a:ea typeface="微軟正黑體 Light" panose="020B0304030504040204" pitchFamily="34" charset="-120"/>
                </a:endParaRPr>
              </a:p>
            </p:txBody>
          </p:sp>
        </mc:Choice>
        <mc:Fallback xmlns="">
          <p:sp>
            <p:nvSpPr>
              <p:cNvPr id="167" name="文字方塊 166">
                <a:extLst>
                  <a:ext uri="{FF2B5EF4-FFF2-40B4-BE49-F238E27FC236}">
                    <a16:creationId xmlns:a16="http://schemas.microsoft.com/office/drawing/2014/main" id="{68428BF5-E137-79A2-9A22-6D73F9A159E5}"/>
                  </a:ext>
                </a:extLst>
              </p:cNvPr>
              <p:cNvSpPr txBox="1">
                <a:spLocks noRot="1" noChangeAspect="1" noMove="1" noResize="1" noEditPoints="1" noAdjustHandles="1" noChangeArrowheads="1" noChangeShapeType="1" noTextEdit="1"/>
              </p:cNvSpPr>
              <p:nvPr/>
            </p:nvSpPr>
            <p:spPr>
              <a:xfrm>
                <a:off x="214080" y="5403495"/>
                <a:ext cx="3332021" cy="369460"/>
              </a:xfrm>
              <a:prstGeom prst="rect">
                <a:avLst/>
              </a:prstGeom>
              <a:blipFill>
                <a:blip r:embed="rId5"/>
                <a:stretch>
                  <a:fillRect b="-1639"/>
                </a:stretch>
              </a:blipFill>
            </p:spPr>
            <p:txBody>
              <a:bodyPr/>
              <a:lstStyle/>
              <a:p>
                <a:r>
                  <a:rPr lang="zh-TW" altLang="en-US">
                    <a:noFill/>
                  </a:rPr>
                  <a:t> </a:t>
                </a:r>
              </a:p>
            </p:txBody>
          </p:sp>
        </mc:Fallback>
      </mc:AlternateContent>
      <p:cxnSp>
        <p:nvCxnSpPr>
          <p:cNvPr id="171" name="直線單箭頭接點 170">
            <a:extLst>
              <a:ext uri="{FF2B5EF4-FFF2-40B4-BE49-F238E27FC236}">
                <a16:creationId xmlns:a16="http://schemas.microsoft.com/office/drawing/2014/main" id="{441632E2-FB6B-F197-DF26-1CCC2A6D969E}"/>
              </a:ext>
            </a:extLst>
          </p:cNvPr>
          <p:cNvCxnSpPr>
            <a:cxnSpLocks/>
            <a:stCxn id="161" idx="3"/>
          </p:cNvCxnSpPr>
          <p:nvPr/>
        </p:nvCxnSpPr>
        <p:spPr>
          <a:xfrm>
            <a:off x="3303820" y="1614323"/>
            <a:ext cx="4001179" cy="1756863"/>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2" name="直線單箭頭接點 171">
            <a:extLst>
              <a:ext uri="{FF2B5EF4-FFF2-40B4-BE49-F238E27FC236}">
                <a16:creationId xmlns:a16="http://schemas.microsoft.com/office/drawing/2014/main" id="{4F8379A8-E312-AAAB-0305-5F21D7A48075}"/>
              </a:ext>
            </a:extLst>
          </p:cNvPr>
          <p:cNvCxnSpPr>
            <a:cxnSpLocks/>
            <a:endCxn id="23" idx="1"/>
          </p:cNvCxnSpPr>
          <p:nvPr/>
        </p:nvCxnSpPr>
        <p:spPr>
          <a:xfrm>
            <a:off x="3080424" y="2908191"/>
            <a:ext cx="3145044" cy="86150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9" name="直線單箭頭接點 178">
            <a:extLst>
              <a:ext uri="{FF2B5EF4-FFF2-40B4-BE49-F238E27FC236}">
                <a16:creationId xmlns:a16="http://schemas.microsoft.com/office/drawing/2014/main" id="{CB0339C0-FB3B-E9D5-6168-023B9B26187C}"/>
              </a:ext>
            </a:extLst>
          </p:cNvPr>
          <p:cNvCxnSpPr>
            <a:cxnSpLocks/>
            <a:stCxn id="165" idx="3"/>
            <a:endCxn id="31" idx="1"/>
          </p:cNvCxnSpPr>
          <p:nvPr/>
        </p:nvCxnSpPr>
        <p:spPr>
          <a:xfrm flipV="1">
            <a:off x="3418511" y="4120558"/>
            <a:ext cx="2792784" cy="71303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2" name="直線單箭頭接點 181">
            <a:extLst>
              <a:ext uri="{FF2B5EF4-FFF2-40B4-BE49-F238E27FC236}">
                <a16:creationId xmlns:a16="http://schemas.microsoft.com/office/drawing/2014/main" id="{C2C124A4-03BF-CCAC-C4D6-0AB57500B2E6}"/>
              </a:ext>
            </a:extLst>
          </p:cNvPr>
          <p:cNvCxnSpPr>
            <a:cxnSpLocks/>
            <a:endCxn id="19" idx="1"/>
          </p:cNvCxnSpPr>
          <p:nvPr/>
        </p:nvCxnSpPr>
        <p:spPr>
          <a:xfrm flipV="1">
            <a:off x="3563977" y="4612810"/>
            <a:ext cx="2647319" cy="973959"/>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pic>
        <p:nvPicPr>
          <p:cNvPr id="188" name="圖片 187">
            <a:extLst>
              <a:ext uri="{FF2B5EF4-FFF2-40B4-BE49-F238E27FC236}">
                <a16:creationId xmlns:a16="http://schemas.microsoft.com/office/drawing/2014/main" id="{A3436026-A169-47CF-A377-C870212F410A}"/>
              </a:ext>
            </a:extLst>
          </p:cNvPr>
          <p:cNvPicPr>
            <a:picLocks noChangeAspect="1"/>
          </p:cNvPicPr>
          <p:nvPr/>
        </p:nvPicPr>
        <p:blipFill>
          <a:blip r:embed="rId6"/>
          <a:stretch>
            <a:fillRect/>
          </a:stretch>
        </p:blipFill>
        <p:spPr>
          <a:xfrm>
            <a:off x="5185283" y="1426112"/>
            <a:ext cx="1697483" cy="139280"/>
          </a:xfrm>
          <a:prstGeom prst="rect">
            <a:avLst/>
          </a:prstGeom>
        </p:spPr>
      </p:pic>
      <p:pic>
        <p:nvPicPr>
          <p:cNvPr id="192" name="圖片 191">
            <a:extLst>
              <a:ext uri="{FF2B5EF4-FFF2-40B4-BE49-F238E27FC236}">
                <a16:creationId xmlns:a16="http://schemas.microsoft.com/office/drawing/2014/main" id="{DD6667E5-60F6-0869-8A1E-E007756D8E43}"/>
              </a:ext>
            </a:extLst>
          </p:cNvPr>
          <p:cNvPicPr>
            <a:picLocks noChangeAspect="1"/>
          </p:cNvPicPr>
          <p:nvPr/>
        </p:nvPicPr>
        <p:blipFill>
          <a:blip r:embed="rId7"/>
          <a:stretch>
            <a:fillRect/>
          </a:stretch>
        </p:blipFill>
        <p:spPr>
          <a:xfrm>
            <a:off x="6916478" y="2819990"/>
            <a:ext cx="1677644" cy="153246"/>
          </a:xfrm>
          <a:prstGeom prst="rect">
            <a:avLst/>
          </a:prstGeom>
        </p:spPr>
      </p:pic>
      <p:pic>
        <p:nvPicPr>
          <p:cNvPr id="161" name="圖片 160">
            <a:extLst>
              <a:ext uri="{FF2B5EF4-FFF2-40B4-BE49-F238E27FC236}">
                <a16:creationId xmlns:a16="http://schemas.microsoft.com/office/drawing/2014/main" id="{846CFD46-7FB4-E8C7-BCB8-ACCB38DC590D}"/>
              </a:ext>
            </a:extLst>
          </p:cNvPr>
          <p:cNvPicPr>
            <a:picLocks noChangeAspect="1"/>
          </p:cNvPicPr>
          <p:nvPr/>
        </p:nvPicPr>
        <p:blipFill>
          <a:blip r:embed="rId8"/>
          <a:stretch>
            <a:fillRect/>
          </a:stretch>
        </p:blipFill>
        <p:spPr>
          <a:xfrm>
            <a:off x="285545" y="1138729"/>
            <a:ext cx="3018275" cy="951188"/>
          </a:xfrm>
          <a:prstGeom prst="rect">
            <a:avLst/>
          </a:prstGeom>
        </p:spPr>
      </p:pic>
      <p:cxnSp>
        <p:nvCxnSpPr>
          <p:cNvPr id="4" name="接點: 肘形 3">
            <a:extLst>
              <a:ext uri="{FF2B5EF4-FFF2-40B4-BE49-F238E27FC236}">
                <a16:creationId xmlns:a16="http://schemas.microsoft.com/office/drawing/2014/main" id="{4EA7BBDC-7B61-EC8B-3736-ACD5249C1E37}"/>
              </a:ext>
            </a:extLst>
          </p:cNvPr>
          <p:cNvCxnSpPr>
            <a:cxnSpLocks/>
            <a:stCxn id="9" idx="2"/>
          </p:cNvCxnSpPr>
          <p:nvPr/>
        </p:nvCxnSpPr>
        <p:spPr>
          <a:xfrm rot="5400000">
            <a:off x="7099096" y="3398699"/>
            <a:ext cx="391299"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文字方塊 11">
            <a:extLst>
              <a:ext uri="{FF2B5EF4-FFF2-40B4-BE49-F238E27FC236}">
                <a16:creationId xmlns:a16="http://schemas.microsoft.com/office/drawing/2014/main" id="{A500A213-6C42-2B9F-F559-C623686766CC}"/>
              </a:ext>
            </a:extLst>
          </p:cNvPr>
          <p:cNvSpPr txBox="1"/>
          <p:nvPr/>
        </p:nvSpPr>
        <p:spPr>
          <a:xfrm>
            <a:off x="932451" y="1129909"/>
            <a:ext cx="4570821" cy="230832"/>
          </a:xfrm>
          <a:prstGeom prst="rect">
            <a:avLst/>
          </a:prstGeom>
          <a:noFill/>
        </p:spPr>
        <p:txBody>
          <a:bodyPr wrap="square">
            <a:spAutoFit/>
          </a:bodyPr>
          <a:lstStyle/>
          <a:p>
            <a:pPr>
              <a:buNone/>
            </a:pPr>
            <a:r>
              <a:rPr lang="zh-TW" altLang="zh-TW" sz="900" dirty="0">
                <a:solidFill>
                  <a:schemeClr val="bg1"/>
                </a:solidFill>
              </a:rPr>
              <a:t>OpenAI Chat Completions API 格式</a:t>
            </a:r>
          </a:p>
        </p:txBody>
      </p:sp>
      <p:sp>
        <p:nvSpPr>
          <p:cNvPr id="3" name="標題 1">
            <a:extLst>
              <a:ext uri="{FF2B5EF4-FFF2-40B4-BE49-F238E27FC236}">
                <a16:creationId xmlns:a16="http://schemas.microsoft.com/office/drawing/2014/main" id="{4549DA9B-39B4-7A51-A4AA-F9B9E6C6D9F2}"/>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57057684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D871E9EB-038B-1CAB-C8C1-9B3E44316CC7}"/>
              </a:ext>
            </a:extLst>
          </p:cNvPr>
          <p:cNvSpPr txBox="1"/>
          <p:nvPr/>
        </p:nvSpPr>
        <p:spPr>
          <a:xfrm>
            <a:off x="3406032" y="926707"/>
            <a:ext cx="852563"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下載來源</a:t>
            </a:r>
            <a:r>
              <a:rPr lang="en-US" altLang="zh-CN" sz="600" dirty="0">
                <a:latin typeface="微軟正黑體 Light" panose="020B0304030504040204" pitchFamily="34" charset="-120"/>
                <a:ea typeface="微軟正黑體 Light" panose="020B0304030504040204" pitchFamily="34" charset="-120"/>
              </a:rPr>
              <a: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Hugging Face Hub</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Civitai </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Kaggle Models</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ModelScope </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latin typeface="微軟正黑體 Light" panose="020B0304030504040204" pitchFamily="34" charset="-120"/>
                <a:ea typeface="微軟正黑體 Light" panose="020B0304030504040204" pitchFamily="34" charset="-120"/>
              </a:rPr>
              <a:t>WiseModel </a:t>
            </a:r>
            <a:endParaRPr lang="zh-TW" altLang="en-US" sz="600" dirty="0">
              <a:latin typeface="微軟正黑體 Light" panose="020B0304030504040204" pitchFamily="34" charset="-120"/>
              <a:ea typeface="微軟正黑體 Light" panose="020B0304030504040204" pitchFamily="34" charset="-120"/>
            </a:endParaRPr>
          </a:p>
        </p:txBody>
      </p:sp>
      <p:sp>
        <p:nvSpPr>
          <p:cNvPr id="10" name="矩形 9">
            <a:extLst>
              <a:ext uri="{FF2B5EF4-FFF2-40B4-BE49-F238E27FC236}">
                <a16:creationId xmlns:a16="http://schemas.microsoft.com/office/drawing/2014/main" id="{D81F8168-4847-CF7D-8F9D-2111C391C931}"/>
              </a:ext>
            </a:extLst>
          </p:cNvPr>
          <p:cNvSpPr/>
          <p:nvPr/>
        </p:nvSpPr>
        <p:spPr>
          <a:xfrm>
            <a:off x="4533243" y="933330"/>
            <a:ext cx="852563"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下載模型</a:t>
            </a:r>
            <a:endParaRPr lang="zh-TW" altLang="en-US" sz="750" dirty="0">
              <a:latin typeface="微軟正黑體 Light" panose="020B0304030504040204" pitchFamily="34" charset="-120"/>
              <a:ea typeface="微軟正黑體 Light" panose="020B0304030504040204" pitchFamily="34" charset="-120"/>
            </a:endParaRPr>
          </a:p>
        </p:txBody>
      </p:sp>
      <p:sp>
        <p:nvSpPr>
          <p:cNvPr id="12" name="文字方塊 11">
            <a:extLst>
              <a:ext uri="{FF2B5EF4-FFF2-40B4-BE49-F238E27FC236}">
                <a16:creationId xmlns:a16="http://schemas.microsoft.com/office/drawing/2014/main" id="{D29966B9-F7E5-0499-6A5C-D6A8D2DE7588}"/>
              </a:ext>
            </a:extLst>
          </p:cNvPr>
          <p:cNvSpPr txBox="1"/>
          <p:nvPr/>
        </p:nvSpPr>
        <p:spPr>
          <a:xfrm>
            <a:off x="4937155" y="1193886"/>
            <a:ext cx="924021" cy="553998"/>
          </a:xfrm>
          <a:prstGeom prst="rect">
            <a:avLst/>
          </a:prstGeom>
          <a:noFill/>
          <a:ln w="12700">
            <a:noFill/>
          </a:ln>
        </p:spPr>
        <p:txBody>
          <a:bodyPr wrap="square">
            <a:spAutoFit/>
          </a:bodyPr>
          <a:lstStyle/>
          <a:p>
            <a:br>
              <a:rPr lang="en-US" altLang="zh-CN" sz="600" dirty="0">
                <a:latin typeface="微軟正黑體 Light" panose="020B0304030504040204" pitchFamily="34" charset="-120"/>
                <a:ea typeface="微軟正黑體 Light" panose="020B0304030504040204" pitchFamily="34" charset="-120"/>
              </a:rPr>
            </a:br>
            <a:r>
              <a:rPr lang="en-US" altLang="zh-TW" sz="600" dirty="0">
                <a:latin typeface="微軟正黑體 Light" panose="020B0304030504040204" pitchFamily="34" charset="-120"/>
                <a:ea typeface="微軟正黑體 Light" panose="020B0304030504040204" pitchFamily="34" charset="-120"/>
              </a:rPr>
              <a:t>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model.safetensors</a:t>
            </a:r>
          </a:p>
          <a:p>
            <a:r>
              <a:rPr lang="en-US" altLang="zh-TW" sz="600" dirty="0">
                <a:latin typeface="微軟正黑體 Light" panose="020B0304030504040204" pitchFamily="34" charset="-120"/>
                <a:ea typeface="微軟正黑體 Light" panose="020B0304030504040204" pitchFamily="34" charset="-120"/>
              </a:rPr>
              <a:t>generation_config.json</a:t>
            </a:r>
            <a:endParaRPr lang="zh-TW" altLang="en-US" sz="600" dirty="0">
              <a:latin typeface="微軟正黑體 Light" panose="020B0304030504040204" pitchFamily="34" charset="-120"/>
              <a:ea typeface="微軟正黑體 Light" panose="020B0304030504040204" pitchFamily="34" charset="-120"/>
            </a:endParaRPr>
          </a:p>
        </p:txBody>
      </p:sp>
      <p:sp>
        <p:nvSpPr>
          <p:cNvPr id="14" name="矩形 13">
            <a:extLst>
              <a:ext uri="{FF2B5EF4-FFF2-40B4-BE49-F238E27FC236}">
                <a16:creationId xmlns:a16="http://schemas.microsoft.com/office/drawing/2014/main" id="{3520C49D-79FC-6920-1D5C-7808103E61EB}"/>
              </a:ext>
            </a:extLst>
          </p:cNvPr>
          <p:cNvSpPr/>
          <p:nvPr/>
        </p:nvSpPr>
        <p:spPr>
          <a:xfrm>
            <a:off x="7288922" y="934573"/>
            <a:ext cx="1032487"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下載或自定訓練資料</a:t>
            </a:r>
            <a:endParaRPr lang="zh-TW" altLang="en-US" sz="750" dirty="0">
              <a:latin typeface="微軟正黑體 Light" panose="020B0304030504040204" pitchFamily="34" charset="-120"/>
              <a:ea typeface="微軟正黑體 Light" panose="020B0304030504040204" pitchFamily="34" charset="-120"/>
            </a:endParaRPr>
          </a:p>
        </p:txBody>
      </p:sp>
      <p:sp>
        <p:nvSpPr>
          <p:cNvPr id="20" name="矩形 19">
            <a:extLst>
              <a:ext uri="{FF2B5EF4-FFF2-40B4-BE49-F238E27FC236}">
                <a16:creationId xmlns:a16="http://schemas.microsoft.com/office/drawing/2014/main" id="{3B7527AD-8CB3-9AE3-62DC-06B905D9F352}"/>
              </a:ext>
            </a:extLst>
          </p:cNvPr>
          <p:cNvSpPr/>
          <p:nvPr/>
        </p:nvSpPr>
        <p:spPr>
          <a:xfrm>
            <a:off x="7109102" y="2284877"/>
            <a:ext cx="1392126"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訓練資料物件</a:t>
            </a:r>
            <a:br>
              <a:rPr lang="en-US" altLang="zh-CN" sz="750" dirty="0">
                <a:latin typeface="微軟正黑體 Light" panose="020B0304030504040204" pitchFamily="34" charset="-120"/>
                <a:ea typeface="微軟正黑體 Light" panose="020B0304030504040204" pitchFamily="34" charset="-120"/>
              </a:rPr>
            </a:br>
            <a:r>
              <a:rPr lang="zh-CN" altLang="en-US" sz="750" dirty="0">
                <a:latin typeface="微軟正黑體 Light" panose="020B0304030504040204" pitchFamily="34" charset="-120"/>
                <a:ea typeface="微軟正黑體 Light" panose="020B0304030504040204" pitchFamily="34" charset="-120"/>
              </a:rPr>
              <a:t>（</a:t>
            </a:r>
            <a:r>
              <a:rPr lang="zh-TW" altLang="zh-TW" sz="750" dirty="0">
                <a:latin typeface="微軟正黑體 Light" panose="020B0304030504040204" pitchFamily="34" charset="-120"/>
                <a:ea typeface="微軟正黑體 Light" panose="020B0304030504040204" pitchFamily="34" charset="-120"/>
              </a:rPr>
              <a:t> Apache Arrow 二進位矩陣</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22" name="矩形 21">
            <a:extLst>
              <a:ext uri="{FF2B5EF4-FFF2-40B4-BE49-F238E27FC236}">
                <a16:creationId xmlns:a16="http://schemas.microsoft.com/office/drawing/2014/main" id="{19C03F95-903A-6223-6AFC-6B304CCF2901}"/>
              </a:ext>
            </a:extLst>
          </p:cNvPr>
          <p:cNvSpPr/>
          <p:nvPr/>
        </p:nvSpPr>
        <p:spPr>
          <a:xfrm>
            <a:off x="1289137" y="1942016"/>
            <a:ext cx="7319657" cy="969428"/>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CN" altLang="en-US" sz="750" dirty="0">
                <a:latin typeface="微軟正黑體 Light" panose="020B0304030504040204" pitchFamily="34" charset="-120"/>
                <a:ea typeface="微軟正黑體 Light" panose="020B0304030504040204" pitchFamily="34" charset="-120"/>
              </a:rPr>
              <a:t>訓練物件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24" name="矩形 23">
            <a:extLst>
              <a:ext uri="{FF2B5EF4-FFF2-40B4-BE49-F238E27FC236}">
                <a16:creationId xmlns:a16="http://schemas.microsoft.com/office/drawing/2014/main" id="{894B8F03-7160-0260-331E-43923BD264A3}"/>
              </a:ext>
            </a:extLst>
          </p:cNvPr>
          <p:cNvSpPr/>
          <p:nvPr/>
        </p:nvSpPr>
        <p:spPr>
          <a:xfrm>
            <a:off x="4572000" y="4155133"/>
            <a:ext cx="777946" cy="160634"/>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模型測試</a:t>
            </a:r>
            <a:endParaRPr lang="zh-TW" altLang="en-US" sz="750" dirty="0">
              <a:latin typeface="微軟正黑體 Light" panose="020B0304030504040204" pitchFamily="34" charset="-120"/>
              <a:ea typeface="微軟正黑體 Light" panose="020B0304030504040204" pitchFamily="34" charset="-120"/>
            </a:endParaRPr>
          </a:p>
        </p:txBody>
      </p:sp>
      <p:sp>
        <p:nvSpPr>
          <p:cNvPr id="26" name="矩形 25">
            <a:extLst>
              <a:ext uri="{FF2B5EF4-FFF2-40B4-BE49-F238E27FC236}">
                <a16:creationId xmlns:a16="http://schemas.microsoft.com/office/drawing/2014/main" id="{2AFD015C-1F9D-2D95-AEDC-C02433CEBE33}"/>
              </a:ext>
            </a:extLst>
          </p:cNvPr>
          <p:cNvSpPr/>
          <p:nvPr/>
        </p:nvSpPr>
        <p:spPr>
          <a:xfrm>
            <a:off x="4572000" y="4449047"/>
            <a:ext cx="777946" cy="173672"/>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模型產出</a:t>
            </a:r>
            <a:endParaRPr lang="zh-TW" altLang="en-US" sz="750" dirty="0">
              <a:latin typeface="微軟正黑體 Light" panose="020B0304030504040204" pitchFamily="34" charset="-120"/>
              <a:ea typeface="微軟正黑體 Light" panose="020B0304030504040204" pitchFamily="34" charset="-120"/>
            </a:endParaRPr>
          </a:p>
        </p:txBody>
      </p:sp>
      <p:pic>
        <p:nvPicPr>
          <p:cNvPr id="28" name="圖片 27">
            <a:extLst>
              <a:ext uri="{FF2B5EF4-FFF2-40B4-BE49-F238E27FC236}">
                <a16:creationId xmlns:a16="http://schemas.microsoft.com/office/drawing/2014/main" id="{CA67325C-624F-32CA-327A-EC0F55815353}"/>
              </a:ext>
            </a:extLst>
          </p:cNvPr>
          <p:cNvPicPr>
            <a:picLocks noChangeAspect="1"/>
          </p:cNvPicPr>
          <p:nvPr/>
        </p:nvPicPr>
        <p:blipFill>
          <a:blip r:embed="rId3"/>
          <a:stretch>
            <a:fillRect/>
          </a:stretch>
        </p:blipFill>
        <p:spPr>
          <a:xfrm>
            <a:off x="1410453" y="2152343"/>
            <a:ext cx="1879627" cy="719795"/>
          </a:xfrm>
          <a:prstGeom prst="rect">
            <a:avLst/>
          </a:prstGeom>
          <a:ln w="12700">
            <a:solidFill>
              <a:schemeClr val="tx1"/>
            </a:solidFill>
          </a:ln>
        </p:spPr>
      </p:pic>
      <p:pic>
        <p:nvPicPr>
          <p:cNvPr id="30" name="圖片 29">
            <a:extLst>
              <a:ext uri="{FF2B5EF4-FFF2-40B4-BE49-F238E27FC236}">
                <a16:creationId xmlns:a16="http://schemas.microsoft.com/office/drawing/2014/main" id="{16BF6715-9287-EC26-3307-4DDCD97FDC2E}"/>
              </a:ext>
            </a:extLst>
          </p:cNvPr>
          <p:cNvPicPr>
            <a:picLocks noChangeAspect="1"/>
          </p:cNvPicPr>
          <p:nvPr/>
        </p:nvPicPr>
        <p:blipFill>
          <a:blip r:embed="rId4"/>
          <a:stretch>
            <a:fillRect/>
          </a:stretch>
        </p:blipFill>
        <p:spPr>
          <a:xfrm>
            <a:off x="253425" y="2204471"/>
            <a:ext cx="983534" cy="476558"/>
          </a:xfrm>
          <a:prstGeom prst="rect">
            <a:avLst/>
          </a:prstGeom>
          <a:ln w="12700">
            <a:solidFill>
              <a:schemeClr val="tx1"/>
            </a:solidFill>
          </a:ln>
        </p:spPr>
      </p:pic>
      <p:pic>
        <p:nvPicPr>
          <p:cNvPr id="32" name="圖片 31">
            <a:extLst>
              <a:ext uri="{FF2B5EF4-FFF2-40B4-BE49-F238E27FC236}">
                <a16:creationId xmlns:a16="http://schemas.microsoft.com/office/drawing/2014/main" id="{83457B68-7A59-7497-577E-E94876509A9D}"/>
              </a:ext>
            </a:extLst>
          </p:cNvPr>
          <p:cNvPicPr>
            <a:picLocks noChangeAspect="1"/>
          </p:cNvPicPr>
          <p:nvPr/>
        </p:nvPicPr>
        <p:blipFill>
          <a:blip r:embed="rId5"/>
          <a:stretch>
            <a:fillRect/>
          </a:stretch>
        </p:blipFill>
        <p:spPr>
          <a:xfrm>
            <a:off x="5518268" y="3015979"/>
            <a:ext cx="2786069" cy="753353"/>
          </a:xfrm>
          <a:prstGeom prst="rect">
            <a:avLst/>
          </a:prstGeom>
          <a:ln w="12700">
            <a:solidFill>
              <a:schemeClr val="tx1"/>
            </a:solidFill>
          </a:ln>
        </p:spPr>
      </p:pic>
      <p:sp>
        <p:nvSpPr>
          <p:cNvPr id="34" name="矩形 33">
            <a:extLst>
              <a:ext uri="{FF2B5EF4-FFF2-40B4-BE49-F238E27FC236}">
                <a16:creationId xmlns:a16="http://schemas.microsoft.com/office/drawing/2014/main" id="{7E6842AC-5B91-0E0F-E4A9-D56BD2012DA0}"/>
              </a:ext>
            </a:extLst>
          </p:cNvPr>
          <p:cNvSpPr/>
          <p:nvPr/>
        </p:nvSpPr>
        <p:spPr>
          <a:xfrm>
            <a:off x="4240630" y="2041934"/>
            <a:ext cx="1429394" cy="78412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pPr algn="ctr"/>
            <a:r>
              <a:rPr lang="zh-CN" altLang="en-US" sz="750" dirty="0">
                <a:latin typeface="微軟正黑體 Light" panose="020B0304030504040204" pitchFamily="34" charset="-120"/>
                <a:ea typeface="微軟正黑體 Light" panose="020B0304030504040204" pitchFamily="34" charset="-120"/>
              </a:rPr>
              <a:t>模型物件（</a:t>
            </a:r>
            <a:r>
              <a:rPr lang="en-US" altLang="zh-CN" sz="750" dirty="0">
                <a:latin typeface="微軟正黑體 Light" panose="020B0304030504040204" pitchFamily="34" charset="-120"/>
                <a:ea typeface="微軟正黑體 Light" panose="020B0304030504040204" pitchFamily="34" charset="-120"/>
              </a:rPr>
              <a:t>PyTorch</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36" name="矩形 35">
            <a:extLst>
              <a:ext uri="{FF2B5EF4-FFF2-40B4-BE49-F238E27FC236}">
                <a16:creationId xmlns:a16="http://schemas.microsoft.com/office/drawing/2014/main" id="{F252C65C-D672-5C68-794F-E0925F999210}"/>
              </a:ext>
            </a:extLst>
          </p:cNvPr>
          <p:cNvSpPr/>
          <p:nvPr/>
        </p:nvSpPr>
        <p:spPr>
          <a:xfrm>
            <a:off x="3333734" y="2351430"/>
            <a:ext cx="808909" cy="16081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訓練的參數物件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38" name="矩形 37">
            <a:extLst>
              <a:ext uri="{FF2B5EF4-FFF2-40B4-BE49-F238E27FC236}">
                <a16:creationId xmlns:a16="http://schemas.microsoft.com/office/drawing/2014/main" id="{D9A29691-5DC4-2523-0848-4376079D4EEA}"/>
              </a:ext>
            </a:extLst>
          </p:cNvPr>
          <p:cNvSpPr/>
          <p:nvPr/>
        </p:nvSpPr>
        <p:spPr>
          <a:xfrm>
            <a:off x="5936391" y="941546"/>
            <a:ext cx="852562"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下載分詞 </a:t>
            </a:r>
            <a:endParaRPr lang="zh-TW" altLang="en-US" sz="750" dirty="0">
              <a:latin typeface="微軟正黑體 Light" panose="020B0304030504040204" pitchFamily="34" charset="-120"/>
              <a:ea typeface="微軟正黑體 Light" panose="020B0304030504040204" pitchFamily="34" charset="-120"/>
            </a:endParaRPr>
          </a:p>
        </p:txBody>
      </p:sp>
      <p:sp>
        <p:nvSpPr>
          <p:cNvPr id="40" name="矩形 39">
            <a:extLst>
              <a:ext uri="{FF2B5EF4-FFF2-40B4-BE49-F238E27FC236}">
                <a16:creationId xmlns:a16="http://schemas.microsoft.com/office/drawing/2014/main" id="{BA7E9471-E2FD-7314-ED18-B23A9B912B1C}"/>
              </a:ext>
            </a:extLst>
          </p:cNvPr>
          <p:cNvSpPr/>
          <p:nvPr/>
        </p:nvSpPr>
        <p:spPr>
          <a:xfrm>
            <a:off x="5943002" y="1761251"/>
            <a:ext cx="852562" cy="122673"/>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分詞物件 </a:t>
            </a:r>
            <a:endParaRPr lang="zh-TW" altLang="en-US" sz="750" dirty="0">
              <a:latin typeface="微軟正黑體 Light" panose="020B0304030504040204" pitchFamily="34" charset="-120"/>
              <a:ea typeface="微軟正黑體 Light" panose="020B0304030504040204" pitchFamily="34" charset="-120"/>
            </a:endParaRPr>
          </a:p>
        </p:txBody>
      </p:sp>
      <p:sp>
        <p:nvSpPr>
          <p:cNvPr id="42" name="矩形 41">
            <a:extLst>
              <a:ext uri="{FF2B5EF4-FFF2-40B4-BE49-F238E27FC236}">
                <a16:creationId xmlns:a16="http://schemas.microsoft.com/office/drawing/2014/main" id="{1AF69022-FE0D-1F1B-3379-9209ADAC26DA}"/>
              </a:ext>
            </a:extLst>
          </p:cNvPr>
          <p:cNvSpPr/>
          <p:nvPr/>
        </p:nvSpPr>
        <p:spPr>
          <a:xfrm>
            <a:off x="5777589" y="2284877"/>
            <a:ext cx="852563"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資料核排物件</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48" name="接點: 肘形 47">
            <a:extLst>
              <a:ext uri="{FF2B5EF4-FFF2-40B4-BE49-F238E27FC236}">
                <a16:creationId xmlns:a16="http://schemas.microsoft.com/office/drawing/2014/main" id="{42A5639D-869E-B09B-00DF-F40598C0B66F}"/>
              </a:ext>
            </a:extLst>
          </p:cNvPr>
          <p:cNvCxnSpPr>
            <a:cxnSpLocks/>
            <a:stCxn id="40" idx="2"/>
            <a:endCxn id="20" idx="0"/>
          </p:cNvCxnSpPr>
          <p:nvPr/>
        </p:nvCxnSpPr>
        <p:spPr>
          <a:xfrm rot="16200000" flipH="1">
            <a:off x="6886748" y="1366459"/>
            <a:ext cx="400953" cy="143588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51" name="接點: 肘形 50">
            <a:extLst>
              <a:ext uri="{FF2B5EF4-FFF2-40B4-BE49-F238E27FC236}">
                <a16:creationId xmlns:a16="http://schemas.microsoft.com/office/drawing/2014/main" id="{E8184D6F-1194-89A9-2EBE-106D9054DF3D}"/>
              </a:ext>
            </a:extLst>
          </p:cNvPr>
          <p:cNvCxnSpPr>
            <a:cxnSpLocks/>
            <a:stCxn id="40" idx="2"/>
            <a:endCxn id="42" idx="0"/>
          </p:cNvCxnSpPr>
          <p:nvPr/>
        </p:nvCxnSpPr>
        <p:spPr>
          <a:xfrm rot="5400000">
            <a:off x="6086100" y="2001694"/>
            <a:ext cx="400953" cy="16541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78" name="矩形 77">
            <a:extLst>
              <a:ext uri="{FF2B5EF4-FFF2-40B4-BE49-F238E27FC236}">
                <a16:creationId xmlns:a16="http://schemas.microsoft.com/office/drawing/2014/main" id="{E6C627EB-BF7F-9B14-B1F3-37E0A9AA5181}"/>
              </a:ext>
            </a:extLst>
          </p:cNvPr>
          <p:cNvSpPr/>
          <p:nvPr/>
        </p:nvSpPr>
        <p:spPr>
          <a:xfrm>
            <a:off x="4572000" y="3289905"/>
            <a:ext cx="772150"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啓動模型訓練</a:t>
            </a:r>
            <a:endParaRPr lang="zh-TW" altLang="en-US" sz="750" dirty="0">
              <a:latin typeface="微軟正黑體 Light" panose="020B0304030504040204" pitchFamily="34" charset="-120"/>
              <a:ea typeface="微軟正黑體 Light" panose="020B0304030504040204" pitchFamily="34" charset="-120"/>
            </a:endParaRPr>
          </a:p>
        </p:txBody>
      </p:sp>
      <p:sp>
        <p:nvSpPr>
          <p:cNvPr id="105" name="矩形 104">
            <a:extLst>
              <a:ext uri="{FF2B5EF4-FFF2-40B4-BE49-F238E27FC236}">
                <a16:creationId xmlns:a16="http://schemas.microsoft.com/office/drawing/2014/main" id="{3EC90861-398C-5499-A9B4-38CA12520ACD}"/>
              </a:ext>
            </a:extLst>
          </p:cNvPr>
          <p:cNvSpPr/>
          <p:nvPr/>
        </p:nvSpPr>
        <p:spPr>
          <a:xfrm>
            <a:off x="185739" y="4999033"/>
            <a:ext cx="8815387" cy="7047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r>
              <a:rPr lang="zh-CN" altLang="en-US" sz="750" dirty="0">
                <a:latin typeface="微軟正黑體 Light" panose="020B0304030504040204" pitchFamily="34" charset="-120"/>
                <a:ea typeface="微軟正黑體 Light" panose="020B0304030504040204" pitchFamily="34" charset="-120"/>
              </a:rPr>
              <a:t>模型執行環境</a:t>
            </a:r>
            <a:endParaRPr lang="zh-TW" altLang="en-US" sz="750" dirty="0">
              <a:latin typeface="微軟正黑體 Light" panose="020B0304030504040204" pitchFamily="34" charset="-120"/>
              <a:ea typeface="微軟正黑體 Light" panose="020B0304030504040204" pitchFamily="34" charset="-120"/>
            </a:endParaRPr>
          </a:p>
        </p:txBody>
      </p:sp>
      <p:sp>
        <p:nvSpPr>
          <p:cNvPr id="110" name="矩形 109">
            <a:extLst>
              <a:ext uri="{FF2B5EF4-FFF2-40B4-BE49-F238E27FC236}">
                <a16:creationId xmlns:a16="http://schemas.microsoft.com/office/drawing/2014/main" id="{85109683-EDE3-2485-97C7-7F230C99D909}"/>
              </a:ext>
            </a:extLst>
          </p:cNvPr>
          <p:cNvSpPr/>
          <p:nvPr/>
        </p:nvSpPr>
        <p:spPr>
          <a:xfrm>
            <a:off x="185739" y="1679168"/>
            <a:ext cx="8815387" cy="22852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TW" altLang="en-US" sz="750" dirty="0">
                <a:latin typeface="微軟正黑體 Light" panose="020B0304030504040204" pitchFamily="34" charset="-120"/>
                <a:ea typeface="微軟正黑體 Light" panose="020B0304030504040204" pitchFamily="34" charset="-120"/>
              </a:rPr>
              <a:t>用 </a:t>
            </a:r>
            <a:r>
              <a:rPr lang="en-US" altLang="zh-TW" sz="750" dirty="0">
                <a:latin typeface="微軟正黑體 Light" panose="020B0304030504040204" pitchFamily="34" charset="-120"/>
                <a:ea typeface="微軟正黑體 Light" panose="020B0304030504040204" pitchFamily="34" charset="-120"/>
              </a:rPr>
              <a:t>PyTorch </a:t>
            </a:r>
            <a:r>
              <a:rPr lang="zh-TW" altLang="en-US" sz="750" dirty="0">
                <a:latin typeface="微軟正黑體 Light" panose="020B0304030504040204" pitchFamily="34" charset="-120"/>
                <a:ea typeface="微軟正黑體 Light" panose="020B0304030504040204" pitchFamily="34" charset="-120"/>
              </a:rPr>
              <a:t>從頭寫 </a:t>
            </a:r>
            <a:r>
              <a:rPr lang="en-US" altLang="zh-TW" sz="750" dirty="0">
                <a:latin typeface="微軟正黑體 Light" panose="020B0304030504040204" pitchFamily="34" charset="-120"/>
                <a:ea typeface="微軟正黑體 Light" panose="020B0304030504040204" pitchFamily="34" charset="-120"/>
              </a:rPr>
              <a:t>code </a:t>
            </a:r>
            <a:r>
              <a:rPr lang="zh-TW" altLang="en-US" sz="750" dirty="0">
                <a:latin typeface="微軟正黑體 Light" panose="020B0304030504040204" pitchFamily="34" charset="-120"/>
                <a:ea typeface="微軟正黑體 Light" panose="020B0304030504040204" pitchFamily="34" charset="-120"/>
              </a:rPr>
              <a:t>微調</a:t>
            </a:r>
          </a:p>
        </p:txBody>
      </p:sp>
      <p:cxnSp>
        <p:nvCxnSpPr>
          <p:cNvPr id="114" name="直線單箭頭接點 113">
            <a:extLst>
              <a:ext uri="{FF2B5EF4-FFF2-40B4-BE49-F238E27FC236}">
                <a16:creationId xmlns:a16="http://schemas.microsoft.com/office/drawing/2014/main" id="{E4ADABD1-954E-F32A-757A-287F2D9844C5}"/>
              </a:ext>
            </a:extLst>
          </p:cNvPr>
          <p:cNvCxnSpPr>
            <a:cxnSpLocks/>
            <a:stCxn id="10" idx="2"/>
            <a:endCxn id="34" idx="0"/>
          </p:cNvCxnSpPr>
          <p:nvPr/>
        </p:nvCxnSpPr>
        <p:spPr>
          <a:xfrm flipH="1">
            <a:off x="4955327" y="1108749"/>
            <a:ext cx="4198" cy="933185"/>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8" name="直線單箭頭接點 117">
            <a:extLst>
              <a:ext uri="{FF2B5EF4-FFF2-40B4-BE49-F238E27FC236}">
                <a16:creationId xmlns:a16="http://schemas.microsoft.com/office/drawing/2014/main" id="{785C6C88-C610-04FC-BF45-F4DAD511E4BD}"/>
              </a:ext>
            </a:extLst>
          </p:cNvPr>
          <p:cNvCxnSpPr>
            <a:cxnSpLocks/>
            <a:stCxn id="38" idx="2"/>
            <a:endCxn id="40" idx="0"/>
          </p:cNvCxnSpPr>
          <p:nvPr/>
        </p:nvCxnSpPr>
        <p:spPr>
          <a:xfrm>
            <a:off x="6362672" y="1116965"/>
            <a:ext cx="6611" cy="64428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1" name="直線單箭頭接點 120">
            <a:extLst>
              <a:ext uri="{FF2B5EF4-FFF2-40B4-BE49-F238E27FC236}">
                <a16:creationId xmlns:a16="http://schemas.microsoft.com/office/drawing/2014/main" id="{7C0638DC-7015-38BE-4FEE-43D8B83328C7}"/>
              </a:ext>
            </a:extLst>
          </p:cNvPr>
          <p:cNvCxnSpPr>
            <a:cxnSpLocks/>
            <a:stCxn id="14" idx="2"/>
            <a:endCxn id="20" idx="0"/>
          </p:cNvCxnSpPr>
          <p:nvPr/>
        </p:nvCxnSpPr>
        <p:spPr>
          <a:xfrm>
            <a:off x="7805165" y="1109992"/>
            <a:ext cx="0" cy="117488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8" name="直線單箭頭接點 127">
            <a:extLst>
              <a:ext uri="{FF2B5EF4-FFF2-40B4-BE49-F238E27FC236}">
                <a16:creationId xmlns:a16="http://schemas.microsoft.com/office/drawing/2014/main" id="{72A1A04D-60AD-D17B-5905-3D7A6E87482F}"/>
              </a:ext>
            </a:extLst>
          </p:cNvPr>
          <p:cNvCxnSpPr>
            <a:cxnSpLocks/>
            <a:stCxn id="20" idx="1"/>
            <a:endCxn id="42" idx="3"/>
          </p:cNvCxnSpPr>
          <p:nvPr/>
        </p:nvCxnSpPr>
        <p:spPr>
          <a:xfrm flipH="1">
            <a:off x="6630152" y="2431835"/>
            <a:ext cx="478951" cy="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3" name="直線單箭頭接點 132">
            <a:extLst>
              <a:ext uri="{FF2B5EF4-FFF2-40B4-BE49-F238E27FC236}">
                <a16:creationId xmlns:a16="http://schemas.microsoft.com/office/drawing/2014/main" id="{F8859C5C-E641-D46A-0DB8-C5E6FAD38385}"/>
              </a:ext>
            </a:extLst>
          </p:cNvPr>
          <p:cNvCxnSpPr>
            <a:cxnSpLocks/>
            <a:stCxn id="42" idx="1"/>
            <a:endCxn id="34" idx="3"/>
          </p:cNvCxnSpPr>
          <p:nvPr/>
        </p:nvCxnSpPr>
        <p:spPr>
          <a:xfrm flipH="1">
            <a:off x="5670023" y="2431834"/>
            <a:ext cx="107565" cy="2162"/>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7" name="直線單箭頭接點 136">
            <a:extLst>
              <a:ext uri="{FF2B5EF4-FFF2-40B4-BE49-F238E27FC236}">
                <a16:creationId xmlns:a16="http://schemas.microsoft.com/office/drawing/2014/main" id="{0F9F68E0-7684-F86B-A00C-A00298B706D2}"/>
              </a:ext>
            </a:extLst>
          </p:cNvPr>
          <p:cNvCxnSpPr>
            <a:cxnSpLocks/>
            <a:stCxn id="36" idx="3"/>
            <a:endCxn id="34" idx="1"/>
          </p:cNvCxnSpPr>
          <p:nvPr/>
        </p:nvCxnSpPr>
        <p:spPr>
          <a:xfrm>
            <a:off x="4142642" y="2431836"/>
            <a:ext cx="97988" cy="2161"/>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46" name="矩形 145">
            <a:extLst>
              <a:ext uri="{FF2B5EF4-FFF2-40B4-BE49-F238E27FC236}">
                <a16:creationId xmlns:a16="http://schemas.microsoft.com/office/drawing/2014/main" id="{7CC0C207-7DCD-90A4-3CEE-B5686A84904A}"/>
              </a:ext>
            </a:extLst>
          </p:cNvPr>
          <p:cNvSpPr/>
          <p:nvPr/>
        </p:nvSpPr>
        <p:spPr>
          <a:xfrm>
            <a:off x="4461654" y="2240520"/>
            <a:ext cx="852563" cy="1483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微調</a:t>
            </a:r>
            <a:r>
              <a:rPr lang="zh-CN" altLang="en-US" sz="750" dirty="0">
                <a:latin typeface="微軟正黑體 Light" panose="020B0304030504040204" pitchFamily="34" charset="-120"/>
                <a:ea typeface="微軟正黑體 Light" panose="020B0304030504040204" pitchFamily="34" charset="-120"/>
              </a:rPr>
              <a:t>手段</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163" name="直線單箭頭接點 162">
            <a:extLst>
              <a:ext uri="{FF2B5EF4-FFF2-40B4-BE49-F238E27FC236}">
                <a16:creationId xmlns:a16="http://schemas.microsoft.com/office/drawing/2014/main" id="{5A8FECF0-ECFE-CF5E-6405-F2FB24E48054}"/>
              </a:ext>
            </a:extLst>
          </p:cNvPr>
          <p:cNvCxnSpPr>
            <a:cxnSpLocks/>
            <a:stCxn id="34" idx="2"/>
            <a:endCxn id="78" idx="0"/>
          </p:cNvCxnSpPr>
          <p:nvPr/>
        </p:nvCxnSpPr>
        <p:spPr>
          <a:xfrm>
            <a:off x="4955327" y="2826058"/>
            <a:ext cx="2749" cy="46384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66" name="直線單箭頭接點 165">
            <a:extLst>
              <a:ext uri="{FF2B5EF4-FFF2-40B4-BE49-F238E27FC236}">
                <a16:creationId xmlns:a16="http://schemas.microsoft.com/office/drawing/2014/main" id="{3B95A4BC-289B-F123-E3F9-4A3D68D3C9D9}"/>
              </a:ext>
            </a:extLst>
          </p:cNvPr>
          <p:cNvCxnSpPr>
            <a:cxnSpLocks/>
            <a:stCxn id="78" idx="2"/>
            <a:endCxn id="24" idx="0"/>
          </p:cNvCxnSpPr>
          <p:nvPr/>
        </p:nvCxnSpPr>
        <p:spPr>
          <a:xfrm>
            <a:off x="4958075" y="3583819"/>
            <a:ext cx="2898" cy="571313"/>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71" name="直線單箭頭接點 170">
            <a:extLst>
              <a:ext uri="{FF2B5EF4-FFF2-40B4-BE49-F238E27FC236}">
                <a16:creationId xmlns:a16="http://schemas.microsoft.com/office/drawing/2014/main" id="{2EB35435-5FF8-4324-BF98-F63774C09651}"/>
              </a:ext>
            </a:extLst>
          </p:cNvPr>
          <p:cNvCxnSpPr>
            <a:cxnSpLocks/>
            <a:stCxn id="24" idx="2"/>
            <a:endCxn id="26" idx="0"/>
          </p:cNvCxnSpPr>
          <p:nvPr/>
        </p:nvCxnSpPr>
        <p:spPr>
          <a:xfrm>
            <a:off x="4960973" y="4315767"/>
            <a:ext cx="0" cy="13328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75" name="文字方塊 174">
            <a:extLst>
              <a:ext uri="{FF2B5EF4-FFF2-40B4-BE49-F238E27FC236}">
                <a16:creationId xmlns:a16="http://schemas.microsoft.com/office/drawing/2014/main" id="{DC63F816-AC5B-9D01-4FA4-51AFBA0D6F6E}"/>
              </a:ext>
            </a:extLst>
          </p:cNvPr>
          <p:cNvSpPr txBox="1"/>
          <p:nvPr/>
        </p:nvSpPr>
        <p:spPr>
          <a:xfrm>
            <a:off x="4266801" y="2370255"/>
            <a:ext cx="1382548" cy="553998"/>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開旁支：</a:t>
            </a:r>
            <a:r>
              <a:rPr lang="zh-TW" altLang="zh-TW" sz="600" dirty="0">
                <a:latin typeface="微軟正黑體 Light" panose="020B0304030504040204" pitchFamily="34" charset="-120"/>
                <a:ea typeface="微軟正黑體 Light" panose="020B0304030504040204" pitchFamily="34" charset="-120"/>
              </a:rPr>
              <a:t>LoRA / QLoRA / DoRA</a:t>
            </a:r>
          </a:p>
          <a:p>
            <a:r>
              <a:rPr lang="zh-CN" altLang="en-US" sz="600" dirty="0">
                <a:latin typeface="微軟正黑體 Light" panose="020B0304030504040204" pitchFamily="34" charset="-120"/>
                <a:ea typeface="微軟正黑體 Light" panose="020B0304030504040204" pitchFamily="34" charset="-120"/>
              </a:rPr>
              <a:t>層凍結：</a:t>
            </a:r>
            <a:r>
              <a:rPr lang="zh-TW" altLang="zh-TW" sz="600" dirty="0">
                <a:latin typeface="微軟正黑體 Light" panose="020B0304030504040204" pitchFamily="34" charset="-120"/>
                <a:ea typeface="微軟正黑體 Light" panose="020B0304030504040204" pitchFamily="34" charset="-120"/>
              </a:rPr>
              <a:t>Freeze</a:t>
            </a:r>
            <a:br>
              <a:rPr lang="en-US" altLang="zh-TW" sz="600" dirty="0">
                <a:latin typeface="微軟正黑體 Light" panose="020B0304030504040204" pitchFamily="34" charset="-120"/>
                <a:ea typeface="微軟正黑體 Light" panose="020B0304030504040204" pitchFamily="34" charset="-120"/>
              </a:rPr>
            </a:br>
            <a:r>
              <a:rPr lang="zh-TW" altLang="en-US" sz="600" dirty="0">
                <a:latin typeface="微軟正黑體 Light" panose="020B0304030504040204" pitchFamily="34" charset="-120"/>
                <a:ea typeface="微軟正黑體 Light" panose="020B0304030504040204" pitchFamily="34" charset="-120"/>
              </a:rPr>
              <a:t>虛擬 </a:t>
            </a:r>
            <a:r>
              <a:rPr lang="en-US" altLang="zh-TW" sz="600" dirty="0">
                <a:latin typeface="微軟正黑體 Light" panose="020B0304030504040204" pitchFamily="34" charset="-120"/>
                <a:ea typeface="微軟正黑體 Light" panose="020B0304030504040204" pitchFamily="34" charset="-120"/>
              </a:rPr>
              <a:t>Token</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Prefix / Prompt Tuning</a:t>
            </a:r>
          </a:p>
          <a:p>
            <a:r>
              <a:rPr lang="zh-TW" altLang="en-US" sz="600" dirty="0">
                <a:latin typeface="微軟正黑體 Light" panose="020B0304030504040204" pitchFamily="34" charset="-120"/>
                <a:ea typeface="微軟正黑體 Light" panose="020B0304030504040204" pitchFamily="34" charset="-120"/>
              </a:rPr>
              <a:t>微調 </a:t>
            </a:r>
            <a:r>
              <a:rPr lang="en-US" altLang="zh-TW" sz="600" dirty="0">
                <a:latin typeface="微軟正黑體 Light" panose="020B0304030504040204" pitchFamily="34" charset="-120"/>
                <a:ea typeface="微軟正黑體 Light" panose="020B0304030504040204" pitchFamily="34" charset="-120"/>
              </a:rPr>
              <a:t>Bias</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BitFit</a:t>
            </a:r>
          </a:p>
        </p:txBody>
      </p:sp>
      <p:sp>
        <p:nvSpPr>
          <p:cNvPr id="191" name="文字方塊 190">
            <a:extLst>
              <a:ext uri="{FF2B5EF4-FFF2-40B4-BE49-F238E27FC236}">
                <a16:creationId xmlns:a16="http://schemas.microsoft.com/office/drawing/2014/main" id="{5D76B831-1B92-6132-F84C-703420D62D33}"/>
              </a:ext>
            </a:extLst>
          </p:cNvPr>
          <p:cNvSpPr txBox="1"/>
          <p:nvPr/>
        </p:nvSpPr>
        <p:spPr>
          <a:xfrm>
            <a:off x="6369282" y="1116147"/>
            <a:ext cx="1274688" cy="553998"/>
          </a:xfrm>
          <a:prstGeom prst="rect">
            <a:avLst/>
          </a:prstGeom>
          <a:noFill/>
          <a:ln w="12700">
            <a:noFill/>
          </a:ln>
        </p:spPr>
        <p:txBody>
          <a:bodyPr wrap="square">
            <a:spAutoFit/>
          </a:bodyPr>
          <a:lstStyle/>
          <a:p>
            <a:r>
              <a:rPr lang="en-US" altLang="zh-TW" sz="600" dirty="0">
                <a:latin typeface="微軟正黑體 Light" panose="020B0304030504040204" pitchFamily="34" charset="-120"/>
                <a:ea typeface="微軟正黑體 Light" panose="020B0304030504040204" pitchFamily="34" charset="-120"/>
              </a:rPr>
              <a:t>tokenizer_config.json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vocab.json</a:t>
            </a:r>
          </a:p>
          <a:p>
            <a:r>
              <a:rPr lang="en-US" altLang="zh-TW" sz="600" dirty="0">
                <a:latin typeface="微軟正黑體 Light" panose="020B0304030504040204" pitchFamily="34" charset="-120"/>
                <a:ea typeface="微軟正黑體 Light" panose="020B0304030504040204" pitchFamily="34" charset="-120"/>
              </a:rPr>
              <a:t>merges.txt</a:t>
            </a:r>
          </a:p>
          <a:p>
            <a:r>
              <a:rPr lang="en-US" altLang="zh-TW" sz="600" dirty="0">
                <a:latin typeface="微軟正黑體 Light" panose="020B0304030504040204" pitchFamily="34" charset="-120"/>
                <a:ea typeface="微軟正黑體 Light" panose="020B0304030504040204" pitchFamily="34" charset="-120"/>
              </a:rPr>
              <a:t>tokenizer.json</a:t>
            </a:r>
          </a:p>
          <a:p>
            <a:r>
              <a:rPr lang="en-US" altLang="zh-TW" sz="600" dirty="0">
                <a:latin typeface="微軟正黑體 Light" panose="020B0304030504040204" pitchFamily="34" charset="-120"/>
                <a:ea typeface="微軟正黑體 Light" panose="020B0304030504040204" pitchFamily="34" charset="-120"/>
              </a:rPr>
              <a:t>special_tokens_map.json</a:t>
            </a:r>
          </a:p>
        </p:txBody>
      </p:sp>
      <p:sp>
        <p:nvSpPr>
          <p:cNvPr id="202" name="文字方塊 201">
            <a:extLst>
              <a:ext uri="{FF2B5EF4-FFF2-40B4-BE49-F238E27FC236}">
                <a16:creationId xmlns:a16="http://schemas.microsoft.com/office/drawing/2014/main" id="{86C78B19-240D-1AE5-CE33-34433538B3A6}"/>
              </a:ext>
            </a:extLst>
          </p:cNvPr>
          <p:cNvSpPr txBox="1"/>
          <p:nvPr/>
        </p:nvSpPr>
        <p:spPr>
          <a:xfrm>
            <a:off x="7788181" y="1164677"/>
            <a:ext cx="1212944" cy="369332"/>
          </a:xfrm>
          <a:prstGeom prst="rect">
            <a:avLst/>
          </a:prstGeom>
          <a:noFill/>
          <a:ln w="12700">
            <a:noFill/>
          </a:ln>
        </p:spPr>
        <p:txBody>
          <a:bodyPr wrap="square">
            <a:spAutoFit/>
          </a:bodyPr>
          <a:lstStyle/>
          <a:p>
            <a:r>
              <a:rPr lang="zh-TW" altLang="zh-TW" sz="600" dirty="0">
                <a:latin typeface="微軟正黑體 Light" panose="020B0304030504040204" pitchFamily="34" charset="-120"/>
                <a:ea typeface="微軟正黑體 Light" panose="020B0304030504040204" pitchFamily="34" charset="-120"/>
              </a:rPr>
              <a:t>README.md</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solidFill>
                  <a:srgbClr val="FF0000"/>
                </a:solidFill>
                <a:latin typeface="微軟正黑體 Light" panose="020B0304030504040204" pitchFamily="34" charset="-120"/>
                <a:ea typeface="微軟正黑體 Light" panose="020B0304030504040204" pitchFamily="34" charset="-120"/>
              </a:rPr>
              <a:t>train-00000-of-00001.parquet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test-00000-of-00001.parquet</a:t>
            </a:r>
            <a:endParaRPr lang="en-US" altLang="zh-TW" sz="600" dirty="0">
              <a:solidFill>
                <a:srgbClr val="FF0000"/>
              </a:solidFill>
              <a:latin typeface="微軟正黑體 Light" panose="020B0304030504040204" pitchFamily="34" charset="-120"/>
              <a:ea typeface="微軟正黑體 Light" panose="020B0304030504040204" pitchFamily="34" charset="-120"/>
            </a:endParaRPr>
          </a:p>
        </p:txBody>
      </p:sp>
      <p:sp>
        <p:nvSpPr>
          <p:cNvPr id="247" name="文字方塊 246">
            <a:extLst>
              <a:ext uri="{FF2B5EF4-FFF2-40B4-BE49-F238E27FC236}">
                <a16:creationId xmlns:a16="http://schemas.microsoft.com/office/drawing/2014/main" id="{A5C640EF-71D1-9954-00E7-1DCD265E0930}"/>
              </a:ext>
            </a:extLst>
          </p:cNvPr>
          <p:cNvSpPr txBox="1"/>
          <p:nvPr/>
        </p:nvSpPr>
        <p:spPr>
          <a:xfrm>
            <a:off x="253425" y="926707"/>
            <a:ext cx="1081211"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直接可使用得微調工具</a:t>
            </a:r>
            <a:r>
              <a:rPr lang="en-US" altLang="zh-CN" sz="600" dirty="0">
                <a:latin typeface="微軟正黑體 Light" panose="020B0304030504040204" pitchFamily="34" charset="-120"/>
                <a:ea typeface="微軟正黑體 Light" panose="020B0304030504040204" pitchFamily="34" charset="-120"/>
              </a:rPr>
              <a:t>]</a:t>
            </a:r>
            <a:r>
              <a:rPr lang="zh-TW" altLang="zh-TW" sz="600" dirty="0"/>
              <a:t> </a:t>
            </a:r>
            <a:br>
              <a:rPr lang="en-US" altLang="zh-TW" sz="600" dirty="0"/>
            </a:br>
            <a:r>
              <a:rPr lang="zh-TW" altLang="zh-TW" sz="600" dirty="0"/>
              <a:t>Axolotl </a:t>
            </a:r>
            <a:endParaRPr lang="en-US" altLang="zh-TW" sz="600" dirty="0"/>
          </a:p>
          <a:p>
            <a:r>
              <a:rPr lang="zh-TW" altLang="zh-TW" sz="600" dirty="0">
                <a:solidFill>
                  <a:srgbClr val="FF0000"/>
                </a:solidFill>
              </a:rPr>
              <a:t>LLaMA Factory</a:t>
            </a:r>
            <a:endParaRPr lang="en-US" altLang="zh-TW" sz="600" dirty="0">
              <a:solidFill>
                <a:srgbClr val="FF0000"/>
              </a:solidFill>
            </a:endParaRPr>
          </a:p>
          <a:p>
            <a:r>
              <a:rPr lang="zh-TW" altLang="zh-TW" sz="600" dirty="0"/>
              <a:t>Unsloth </a:t>
            </a:r>
            <a:endParaRPr lang="en-US" altLang="zh-TW" sz="600" dirty="0"/>
          </a:p>
          <a:p>
            <a:r>
              <a:rPr lang="zh-TW" altLang="zh-TW" sz="600" dirty="0"/>
              <a:t>Torchtune </a:t>
            </a:r>
            <a:endParaRPr lang="en-US" altLang="zh-TW" sz="600" dirty="0"/>
          </a:p>
          <a:p>
            <a:r>
              <a:rPr lang="zh-TW" altLang="zh-TW" sz="600" dirty="0"/>
              <a:t>ModelScope SWIFT</a:t>
            </a:r>
          </a:p>
        </p:txBody>
      </p:sp>
      <p:sp>
        <p:nvSpPr>
          <p:cNvPr id="252" name="矩形 251">
            <a:extLst>
              <a:ext uri="{FF2B5EF4-FFF2-40B4-BE49-F238E27FC236}">
                <a16:creationId xmlns:a16="http://schemas.microsoft.com/office/drawing/2014/main" id="{9A6FC049-1187-D7E5-0630-C64F63C4816F}"/>
              </a:ext>
            </a:extLst>
          </p:cNvPr>
          <p:cNvSpPr/>
          <p:nvPr/>
        </p:nvSpPr>
        <p:spPr>
          <a:xfrm>
            <a:off x="1990764" y="514305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S</a:t>
            </a:r>
            <a:r>
              <a:rPr lang="zh-TW" altLang="zh-TW" sz="750" dirty="0">
                <a:latin typeface="微軟正黑體 Light" panose="020B0304030504040204" pitchFamily="34" charset="-120"/>
                <a:ea typeface="微軟正黑體 Light" panose="020B0304030504040204" pitchFamily="34" charset="-120"/>
              </a:rPr>
              <a:t>afetensors</a:t>
            </a:r>
            <a:endParaRPr lang="zh-TW" altLang="en-US" sz="750" dirty="0">
              <a:latin typeface="微軟正黑體 Light" panose="020B0304030504040204" pitchFamily="34" charset="-120"/>
              <a:ea typeface="微軟正黑體 Light" panose="020B0304030504040204" pitchFamily="34" charset="-120"/>
            </a:endParaRPr>
          </a:p>
        </p:txBody>
      </p:sp>
      <p:sp>
        <p:nvSpPr>
          <p:cNvPr id="258" name="矩形 257">
            <a:extLst>
              <a:ext uri="{FF2B5EF4-FFF2-40B4-BE49-F238E27FC236}">
                <a16:creationId xmlns:a16="http://schemas.microsoft.com/office/drawing/2014/main" id="{1ADAF727-5FDF-2842-C7DB-D8C277D46F95}"/>
              </a:ext>
            </a:extLst>
          </p:cNvPr>
          <p:cNvSpPr/>
          <p:nvPr/>
        </p:nvSpPr>
        <p:spPr>
          <a:xfrm>
            <a:off x="6935619" y="5139160"/>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GGUF</a:t>
            </a:r>
            <a:endParaRPr lang="zh-TW" altLang="en-US" sz="750" dirty="0">
              <a:latin typeface="微軟正黑體 Light" panose="020B0304030504040204" pitchFamily="34" charset="-120"/>
              <a:ea typeface="微軟正黑體 Light" panose="020B0304030504040204" pitchFamily="34" charset="-120"/>
            </a:endParaRPr>
          </a:p>
        </p:txBody>
      </p:sp>
      <p:sp>
        <p:nvSpPr>
          <p:cNvPr id="260" name="矩形 259">
            <a:extLst>
              <a:ext uri="{FF2B5EF4-FFF2-40B4-BE49-F238E27FC236}">
                <a16:creationId xmlns:a16="http://schemas.microsoft.com/office/drawing/2014/main" id="{231D6C02-3483-2589-2E13-924E757F37B9}"/>
              </a:ext>
            </a:extLst>
          </p:cNvPr>
          <p:cNvSpPr/>
          <p:nvPr/>
        </p:nvSpPr>
        <p:spPr>
          <a:xfrm>
            <a:off x="5155490" y="513456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MLX</a:t>
            </a:r>
            <a:endParaRPr lang="zh-TW" altLang="en-US" sz="750" dirty="0">
              <a:latin typeface="微軟正黑體 Light" panose="020B0304030504040204" pitchFamily="34" charset="-120"/>
              <a:ea typeface="微軟正黑體 Light" panose="020B0304030504040204" pitchFamily="34" charset="-120"/>
            </a:endParaRPr>
          </a:p>
        </p:txBody>
      </p:sp>
      <p:sp>
        <p:nvSpPr>
          <p:cNvPr id="262" name="矩形 261">
            <a:extLst>
              <a:ext uri="{FF2B5EF4-FFF2-40B4-BE49-F238E27FC236}">
                <a16:creationId xmlns:a16="http://schemas.microsoft.com/office/drawing/2014/main" id="{B2B955B9-2D46-C93F-B50E-EFFFE9188B34}"/>
              </a:ext>
            </a:extLst>
          </p:cNvPr>
          <p:cNvSpPr/>
          <p:nvPr/>
        </p:nvSpPr>
        <p:spPr>
          <a:xfrm>
            <a:off x="3395131" y="514177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ONNX</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265" name="接點: 肘形 264">
            <a:extLst>
              <a:ext uri="{FF2B5EF4-FFF2-40B4-BE49-F238E27FC236}">
                <a16:creationId xmlns:a16="http://schemas.microsoft.com/office/drawing/2014/main" id="{42D552B2-437C-65F9-520E-189C69CC693A}"/>
              </a:ext>
            </a:extLst>
          </p:cNvPr>
          <p:cNvCxnSpPr>
            <a:cxnSpLocks/>
            <a:stCxn id="26" idx="2"/>
            <a:endCxn id="252" idx="0"/>
          </p:cNvCxnSpPr>
          <p:nvPr/>
        </p:nvCxnSpPr>
        <p:spPr>
          <a:xfrm rot="5400000">
            <a:off x="3428842" y="3610922"/>
            <a:ext cx="520336" cy="254392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68" name="接點: 肘形 267">
            <a:extLst>
              <a:ext uri="{FF2B5EF4-FFF2-40B4-BE49-F238E27FC236}">
                <a16:creationId xmlns:a16="http://schemas.microsoft.com/office/drawing/2014/main" id="{0D4B1183-3F84-40E9-3BF3-22D2AECBA622}"/>
              </a:ext>
            </a:extLst>
          </p:cNvPr>
          <p:cNvCxnSpPr>
            <a:cxnSpLocks/>
            <a:stCxn id="26" idx="2"/>
            <a:endCxn id="258" idx="0"/>
          </p:cNvCxnSpPr>
          <p:nvPr/>
        </p:nvCxnSpPr>
        <p:spPr>
          <a:xfrm rot="16200000" flipH="1">
            <a:off x="5903217" y="3680476"/>
            <a:ext cx="516442" cy="2400927"/>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2" name="接點: 肘形 271">
            <a:extLst>
              <a:ext uri="{FF2B5EF4-FFF2-40B4-BE49-F238E27FC236}">
                <a16:creationId xmlns:a16="http://schemas.microsoft.com/office/drawing/2014/main" id="{68D0530A-C47E-1270-2FAA-27D23EC81278}"/>
              </a:ext>
            </a:extLst>
          </p:cNvPr>
          <p:cNvCxnSpPr>
            <a:cxnSpLocks/>
            <a:stCxn id="26" idx="2"/>
            <a:endCxn id="260" idx="0"/>
          </p:cNvCxnSpPr>
          <p:nvPr/>
        </p:nvCxnSpPr>
        <p:spPr>
          <a:xfrm rot="16200000" flipH="1">
            <a:off x="5015450" y="4568242"/>
            <a:ext cx="511846" cy="62079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5" name="接點: 肘形 274">
            <a:extLst>
              <a:ext uri="{FF2B5EF4-FFF2-40B4-BE49-F238E27FC236}">
                <a16:creationId xmlns:a16="http://schemas.microsoft.com/office/drawing/2014/main" id="{19DE8891-6873-FDD2-E2BA-E7D41F288E63}"/>
              </a:ext>
            </a:extLst>
          </p:cNvPr>
          <p:cNvCxnSpPr>
            <a:cxnSpLocks/>
            <a:stCxn id="26" idx="2"/>
            <a:endCxn id="262" idx="0"/>
          </p:cNvCxnSpPr>
          <p:nvPr/>
        </p:nvCxnSpPr>
        <p:spPr>
          <a:xfrm rot="5400000">
            <a:off x="4131665" y="4312467"/>
            <a:ext cx="519056" cy="1139561"/>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283" name="文字方塊 282">
            <a:extLst>
              <a:ext uri="{FF2B5EF4-FFF2-40B4-BE49-F238E27FC236}">
                <a16:creationId xmlns:a16="http://schemas.microsoft.com/office/drawing/2014/main" id="{E73DAF14-0EDE-066F-1C03-22F3F7D00913}"/>
              </a:ext>
            </a:extLst>
          </p:cNvPr>
          <p:cNvSpPr txBox="1"/>
          <p:nvPr/>
        </p:nvSpPr>
        <p:spPr>
          <a:xfrm>
            <a:off x="1942286" y="5279398"/>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 vLLM</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5" name="文字方塊 284">
            <a:extLst>
              <a:ext uri="{FF2B5EF4-FFF2-40B4-BE49-F238E27FC236}">
                <a16:creationId xmlns:a16="http://schemas.microsoft.com/office/drawing/2014/main" id="{FD0685BF-B94F-4A9B-9E8A-4034E88D406B}"/>
              </a:ext>
            </a:extLst>
          </p:cNvPr>
          <p:cNvSpPr txBox="1"/>
          <p:nvPr/>
        </p:nvSpPr>
        <p:spPr>
          <a:xfrm>
            <a:off x="6952602" y="5249248"/>
            <a:ext cx="852563" cy="276999"/>
          </a:xfrm>
          <a:prstGeom prst="rect">
            <a:avLst/>
          </a:prstGeom>
          <a:noFill/>
          <a:ln w="12700">
            <a:noFill/>
          </a:ln>
        </p:spPr>
        <p:txBody>
          <a:bodyPr wrap="square">
            <a:spAutoFit/>
          </a:bodyPr>
          <a:lstStyle/>
          <a:p>
            <a:r>
              <a:rPr lang="en-US" altLang="zh-CN" sz="600" dirty="0">
                <a:solidFill>
                  <a:srgbClr val="FF0000"/>
                </a:solidFill>
                <a:latin typeface="微軟正黑體 Light" panose="020B0304030504040204" pitchFamily="34" charset="-120"/>
                <a:ea typeface="微軟正黑體 Light" panose="020B0304030504040204" pitchFamily="34" charset="-120"/>
              </a:rPr>
              <a:t> Ollama </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7" name="文字方塊 286">
            <a:extLst>
              <a:ext uri="{FF2B5EF4-FFF2-40B4-BE49-F238E27FC236}">
                <a16:creationId xmlns:a16="http://schemas.microsoft.com/office/drawing/2014/main" id="{4B269E56-C728-6787-8E81-1981A87157F9}"/>
              </a:ext>
            </a:extLst>
          </p:cNvPr>
          <p:cNvSpPr txBox="1"/>
          <p:nvPr/>
        </p:nvSpPr>
        <p:spPr>
          <a:xfrm>
            <a:off x="5137010" y="5300545"/>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mlx-lm</a:t>
            </a:r>
          </a:p>
          <a:p>
            <a:r>
              <a:rPr lang="en-US" altLang="zh-TW" sz="600" dirty="0">
                <a:latin typeface="微軟正黑體 Light" panose="020B0304030504040204" pitchFamily="34" charset="-120"/>
                <a:ea typeface="微軟正黑體 Light" panose="020B0304030504040204" pitchFamily="34" charset="-120"/>
              </a:rPr>
              <a:t>LLM Farm </a:t>
            </a:r>
            <a:endParaRPr lang="zh-TW" altLang="zh-TW" sz="600" dirty="0">
              <a:latin typeface="微軟正黑體 Light" panose="020B0304030504040204" pitchFamily="34" charset="-120"/>
              <a:ea typeface="微軟正黑體 Light" panose="020B0304030504040204" pitchFamily="34" charset="-120"/>
            </a:endParaRPr>
          </a:p>
        </p:txBody>
      </p:sp>
      <p:sp>
        <p:nvSpPr>
          <p:cNvPr id="289" name="文字方塊 288">
            <a:extLst>
              <a:ext uri="{FF2B5EF4-FFF2-40B4-BE49-F238E27FC236}">
                <a16:creationId xmlns:a16="http://schemas.microsoft.com/office/drawing/2014/main" id="{2941C4EB-ADCA-39E4-0A07-CA423DBA4878}"/>
              </a:ext>
            </a:extLst>
          </p:cNvPr>
          <p:cNvSpPr txBox="1"/>
          <p:nvPr/>
        </p:nvSpPr>
        <p:spPr>
          <a:xfrm>
            <a:off x="3495632" y="5270701"/>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ONNX Runtime </a:t>
            </a:r>
            <a:endParaRPr lang="zh-TW" altLang="zh-TW" sz="600" dirty="0">
              <a:latin typeface="微軟正黑體 Light" panose="020B0304030504040204" pitchFamily="34" charset="-120"/>
              <a:ea typeface="微軟正黑體 Light" panose="020B0304030504040204" pitchFamily="34" charset="-120"/>
            </a:endParaRPr>
          </a:p>
        </p:txBody>
      </p:sp>
      <p:sp>
        <p:nvSpPr>
          <p:cNvPr id="291" name="文字方塊 290">
            <a:extLst>
              <a:ext uri="{FF2B5EF4-FFF2-40B4-BE49-F238E27FC236}">
                <a16:creationId xmlns:a16="http://schemas.microsoft.com/office/drawing/2014/main" id="{38A2098C-65B1-BAEA-F313-AF7DEA58FB71}"/>
              </a:ext>
            </a:extLst>
          </p:cNvPr>
          <p:cNvSpPr txBox="1"/>
          <p:nvPr/>
        </p:nvSpPr>
        <p:spPr>
          <a:xfrm>
            <a:off x="1980422" y="5506129"/>
            <a:ext cx="852563" cy="184666"/>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雲端、開發階段</a:t>
            </a:r>
            <a:endParaRPr lang="zh-TW" altLang="zh-TW" sz="600" dirty="0">
              <a:latin typeface="微軟正黑體 Light" panose="020B0304030504040204" pitchFamily="34" charset="-120"/>
              <a:ea typeface="微軟正黑體 Light" panose="020B0304030504040204" pitchFamily="34" charset="-120"/>
            </a:endParaRPr>
          </a:p>
        </p:txBody>
      </p:sp>
      <p:sp>
        <p:nvSpPr>
          <p:cNvPr id="293" name="文字方塊 292">
            <a:extLst>
              <a:ext uri="{FF2B5EF4-FFF2-40B4-BE49-F238E27FC236}">
                <a16:creationId xmlns:a16="http://schemas.microsoft.com/office/drawing/2014/main" id="{F156262B-FBDE-F4B9-3888-D43495A0DCCB}"/>
              </a:ext>
            </a:extLst>
          </p:cNvPr>
          <p:cNvSpPr txBox="1"/>
          <p:nvPr/>
        </p:nvSpPr>
        <p:spPr>
          <a:xfrm>
            <a:off x="7056293" y="5489959"/>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pc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5" name="文字方塊 294">
            <a:extLst>
              <a:ext uri="{FF2B5EF4-FFF2-40B4-BE49-F238E27FC236}">
                <a16:creationId xmlns:a16="http://schemas.microsoft.com/office/drawing/2014/main" id="{43DD308C-3610-EE5B-A0AC-865CAC18D067}"/>
              </a:ext>
            </a:extLst>
          </p:cNvPr>
          <p:cNvSpPr txBox="1"/>
          <p:nvPr/>
        </p:nvSpPr>
        <p:spPr>
          <a:xfrm>
            <a:off x="5213282" y="5533312"/>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mac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7" name="文字方塊 296">
            <a:extLst>
              <a:ext uri="{FF2B5EF4-FFF2-40B4-BE49-F238E27FC236}">
                <a16:creationId xmlns:a16="http://schemas.microsoft.com/office/drawing/2014/main" id="{8AB96CAE-778C-04C3-758E-EA80F7D02DEC}"/>
              </a:ext>
            </a:extLst>
          </p:cNvPr>
          <p:cNvSpPr txBox="1"/>
          <p:nvPr/>
        </p:nvSpPr>
        <p:spPr>
          <a:xfrm>
            <a:off x="3648084" y="5510651"/>
            <a:ext cx="852563" cy="184666"/>
          </a:xfrm>
          <a:prstGeom prst="rect">
            <a:avLst/>
          </a:prstGeom>
          <a:noFill/>
          <a:ln w="12700">
            <a:noFill/>
          </a:ln>
        </p:spPr>
        <p:txBody>
          <a:bodyPr wrap="square">
            <a:spAutoFit/>
          </a:bodyPr>
          <a:lstStyle/>
          <a:p>
            <a:r>
              <a:rPr lang="zh-TW" altLang="en-US" sz="600" dirty="0">
                <a:latin typeface="微軟正黑體 Light" panose="020B0304030504040204" pitchFamily="34" charset="-120"/>
                <a:ea typeface="微軟正黑體 Light" panose="020B0304030504040204" pitchFamily="34" charset="-120"/>
              </a:rPr>
              <a:t>跨平台</a:t>
            </a:r>
            <a:endParaRPr lang="zh-TW" altLang="zh-TW" sz="600" dirty="0">
              <a:latin typeface="微軟正黑體 Light" panose="020B0304030504040204" pitchFamily="34" charset="-120"/>
              <a:ea typeface="微軟正黑體 Light" panose="020B0304030504040204" pitchFamily="34" charset="-120"/>
            </a:endParaRPr>
          </a:p>
        </p:txBody>
      </p:sp>
      <p:pic>
        <p:nvPicPr>
          <p:cNvPr id="299" name="圖片 298">
            <a:extLst>
              <a:ext uri="{FF2B5EF4-FFF2-40B4-BE49-F238E27FC236}">
                <a16:creationId xmlns:a16="http://schemas.microsoft.com/office/drawing/2014/main" id="{3068F5DA-67C4-16D0-25EA-B8EC477900A9}"/>
              </a:ext>
            </a:extLst>
          </p:cNvPr>
          <p:cNvPicPr>
            <a:picLocks noChangeAspect="1"/>
          </p:cNvPicPr>
          <p:nvPr/>
        </p:nvPicPr>
        <p:blipFill>
          <a:blip r:embed="rId6"/>
          <a:stretch>
            <a:fillRect/>
          </a:stretch>
        </p:blipFill>
        <p:spPr>
          <a:xfrm>
            <a:off x="3768385" y="3408287"/>
            <a:ext cx="619157" cy="90492"/>
          </a:xfrm>
          <a:prstGeom prst="rect">
            <a:avLst/>
          </a:prstGeom>
        </p:spPr>
      </p:pic>
      <p:pic>
        <p:nvPicPr>
          <p:cNvPr id="301" name="圖片 300">
            <a:extLst>
              <a:ext uri="{FF2B5EF4-FFF2-40B4-BE49-F238E27FC236}">
                <a16:creationId xmlns:a16="http://schemas.microsoft.com/office/drawing/2014/main" id="{10C7C000-FE46-F822-B7E7-CAB6A7324674}"/>
              </a:ext>
            </a:extLst>
          </p:cNvPr>
          <p:cNvPicPr>
            <a:picLocks noChangeAspect="1"/>
          </p:cNvPicPr>
          <p:nvPr/>
        </p:nvPicPr>
        <p:blipFill>
          <a:blip r:embed="rId7"/>
          <a:stretch>
            <a:fillRect/>
          </a:stretch>
        </p:blipFill>
        <p:spPr>
          <a:xfrm>
            <a:off x="3847853" y="4182410"/>
            <a:ext cx="519140" cy="133357"/>
          </a:xfrm>
          <a:prstGeom prst="rect">
            <a:avLst/>
          </a:prstGeom>
        </p:spPr>
      </p:pic>
      <p:pic>
        <p:nvPicPr>
          <p:cNvPr id="303" name="圖片 302">
            <a:extLst>
              <a:ext uri="{FF2B5EF4-FFF2-40B4-BE49-F238E27FC236}">
                <a16:creationId xmlns:a16="http://schemas.microsoft.com/office/drawing/2014/main" id="{92A525C8-3860-AAFC-0292-5954D4D603D8}"/>
              </a:ext>
            </a:extLst>
          </p:cNvPr>
          <p:cNvPicPr>
            <a:picLocks noChangeAspect="1"/>
          </p:cNvPicPr>
          <p:nvPr/>
        </p:nvPicPr>
        <p:blipFill>
          <a:blip r:embed="rId8"/>
          <a:stretch>
            <a:fillRect/>
          </a:stretch>
        </p:blipFill>
        <p:spPr>
          <a:xfrm>
            <a:off x="1144584" y="4582336"/>
            <a:ext cx="1519316" cy="190510"/>
          </a:xfrm>
          <a:prstGeom prst="rect">
            <a:avLst/>
          </a:prstGeom>
        </p:spPr>
      </p:pic>
      <p:pic>
        <p:nvPicPr>
          <p:cNvPr id="309" name="圖片 308">
            <a:extLst>
              <a:ext uri="{FF2B5EF4-FFF2-40B4-BE49-F238E27FC236}">
                <a16:creationId xmlns:a16="http://schemas.microsoft.com/office/drawing/2014/main" id="{53B8548D-F084-A213-2F4D-C298EC54CB47}"/>
              </a:ext>
            </a:extLst>
          </p:cNvPr>
          <p:cNvPicPr>
            <a:picLocks noChangeAspect="1"/>
          </p:cNvPicPr>
          <p:nvPr/>
        </p:nvPicPr>
        <p:blipFill>
          <a:blip r:embed="rId9"/>
          <a:stretch>
            <a:fillRect/>
          </a:stretch>
        </p:blipFill>
        <p:spPr>
          <a:xfrm>
            <a:off x="6847244" y="4345355"/>
            <a:ext cx="1761549" cy="463336"/>
          </a:xfrm>
          <a:prstGeom prst="rect">
            <a:avLst/>
          </a:prstGeom>
        </p:spPr>
      </p:pic>
      <p:sp>
        <p:nvSpPr>
          <p:cNvPr id="350" name="文字方塊 349">
            <a:extLst>
              <a:ext uri="{FF2B5EF4-FFF2-40B4-BE49-F238E27FC236}">
                <a16:creationId xmlns:a16="http://schemas.microsoft.com/office/drawing/2014/main" id="{39FF7848-8229-04D6-551E-93C8BD91D235}"/>
              </a:ext>
            </a:extLst>
          </p:cNvPr>
          <p:cNvSpPr txBox="1"/>
          <p:nvPr/>
        </p:nvSpPr>
        <p:spPr>
          <a:xfrm>
            <a:off x="4937155" y="1108277"/>
            <a:ext cx="1217945" cy="363882"/>
          </a:xfrm>
          <a:prstGeom prst="rect">
            <a:avLst/>
          </a:prstGeom>
          <a:noFill/>
        </p:spPr>
        <p:txBody>
          <a:bodyPr wrap="square">
            <a:spAutoFit/>
          </a:bodyPr>
          <a:lstStyle/>
          <a:p>
            <a:pPr>
              <a:lnSpc>
                <a:spcPts val="1069"/>
              </a:lnSpc>
            </a:pPr>
            <a:r>
              <a:rPr lang="zh-TW" altLang="zh-TW" sz="750" dirty="0">
                <a:solidFill>
                  <a:srgbClr val="CE9178"/>
                </a:solidFill>
                <a:latin typeface="Consolas" panose="020B0609020204030204" pitchFamily="49" charset="0"/>
              </a:rPr>
              <a:t>gemma-4-E2B-it</a:t>
            </a:r>
            <a:r>
              <a:rPr lang="en-US" altLang="zh-TW" sz="750" dirty="0">
                <a:solidFill>
                  <a:srgbClr val="CE9178"/>
                </a:solidFill>
                <a:latin typeface="Consolas" panose="020B0609020204030204" pitchFamily="49" charset="0"/>
              </a:rPr>
              <a:t> 10.2</a:t>
            </a:r>
            <a:r>
              <a:rPr lang="en-US" altLang="zh-CN" sz="750" dirty="0">
                <a:solidFill>
                  <a:srgbClr val="CE9178"/>
                </a:solidFill>
                <a:latin typeface="Consolas" panose="020B0609020204030204" pitchFamily="49" charset="0"/>
              </a:rPr>
              <a:t>G</a:t>
            </a:r>
            <a:endParaRPr lang="zh-TW" altLang="zh-TW" sz="750" dirty="0">
              <a:solidFill>
                <a:srgbClr val="CCCCCC"/>
              </a:solidFill>
              <a:latin typeface="Consolas" panose="020B0609020204030204" pitchFamily="49" charset="0"/>
            </a:endParaRPr>
          </a:p>
        </p:txBody>
      </p:sp>
    </p:spTree>
    <p:extLst>
      <p:ext uri="{BB962C8B-B14F-4D97-AF65-F5344CB8AC3E}">
        <p14:creationId xmlns:p14="http://schemas.microsoft.com/office/powerpoint/2010/main" val="249060596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0</TotalTime>
  <Words>21253</Words>
  <Application>Microsoft Office PowerPoint</Application>
  <PresentationFormat>如螢幕大小 (4:3)</PresentationFormat>
  <Paragraphs>3307</Paragraphs>
  <Slides>55</Slides>
  <Notes>44</Notes>
  <HiddenSlides>4</HiddenSlides>
  <MMClips>0</MMClips>
  <ScaleCrop>false</ScaleCrop>
  <HeadingPairs>
    <vt:vector size="6" baseType="variant">
      <vt:variant>
        <vt:lpstr>使用字型</vt:lpstr>
      </vt:variant>
      <vt:variant>
        <vt:i4>17</vt:i4>
      </vt:variant>
      <vt:variant>
        <vt:lpstr>佈景主題</vt:lpstr>
      </vt:variant>
      <vt:variant>
        <vt:i4>1</vt:i4>
      </vt:variant>
      <vt:variant>
        <vt:lpstr>投影片標題</vt:lpstr>
      </vt:variant>
      <vt:variant>
        <vt:i4>55</vt:i4>
      </vt:variant>
    </vt:vector>
  </HeadingPairs>
  <TitlesOfParts>
    <vt:vector size="73" baseType="lpstr">
      <vt:lpstr>Google Sans</vt:lpstr>
      <vt:lpstr>Meiryo</vt:lpstr>
      <vt:lpstr>Microsoft GothicNeo</vt:lpstr>
      <vt:lpstr>Microsoft YaHei Mono</vt:lpstr>
      <vt:lpstr>Noto Sans HK</vt:lpstr>
      <vt:lpstr>STXingkai</vt:lpstr>
      <vt:lpstr>微軟正黑體</vt:lpstr>
      <vt:lpstr>微軟正黑體 Light</vt:lpstr>
      <vt:lpstr>ADLaM Display</vt:lpstr>
      <vt:lpstr>Arial</vt:lpstr>
      <vt:lpstr>Calibri</vt:lpstr>
      <vt:lpstr>Cambria Math</vt:lpstr>
      <vt:lpstr>Comic Sans MS</vt:lpstr>
      <vt:lpstr>Consolas</vt:lpstr>
      <vt:lpstr>Courier New</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1843</cp:revision>
  <cp:lastPrinted>2024-07-30T01:44:15Z</cp:lastPrinted>
  <dcterms:created xsi:type="dcterms:W3CDTF">2019-11-08T03:01:47Z</dcterms:created>
  <dcterms:modified xsi:type="dcterms:W3CDTF">2026-08-14T10:15:08Z</dcterms:modified>
</cp:coreProperties>
</file>