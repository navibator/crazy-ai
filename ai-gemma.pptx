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omments/modernComment_D5C_E5DE5358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3459" r:id="rId2"/>
    <p:sldId id="3472" r:id="rId3"/>
    <p:sldId id="3501" r:id="rId4"/>
    <p:sldId id="3500" r:id="rId5"/>
    <p:sldId id="3499" r:id="rId6"/>
    <p:sldId id="3444" r:id="rId7"/>
    <p:sldId id="3493" r:id="rId8"/>
    <p:sldId id="3495" r:id="rId9"/>
    <p:sldId id="3477" r:id="rId10"/>
    <p:sldId id="3496" r:id="rId11"/>
    <p:sldId id="3475" r:id="rId12"/>
    <p:sldId id="3470" r:id="rId13"/>
    <p:sldId id="3471" r:id="rId14"/>
    <p:sldId id="3483" r:id="rId15"/>
    <p:sldId id="3465" r:id="rId16"/>
    <p:sldId id="3482" r:id="rId17"/>
    <p:sldId id="3481" r:id="rId18"/>
    <p:sldId id="3489" r:id="rId19"/>
    <p:sldId id="3490" r:id="rId20"/>
    <p:sldId id="3491" r:id="rId21"/>
    <p:sldId id="3461" r:id="rId22"/>
    <p:sldId id="3462" r:id="rId23"/>
    <p:sldId id="3420" r:id="rId24"/>
    <p:sldId id="3460" r:id="rId25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1"/>
            <p14:sldId id="3500"/>
            <p14:sldId id="3499"/>
            <p14:sldId id="3444"/>
            <p14:sldId id="3493"/>
            <p14:sldId id="3495"/>
            <p14:sldId id="3477"/>
            <p14:sldId id="3496"/>
            <p14:sldId id="3475"/>
          </p14:sldIdLst>
        </p14:section>
        <p14:section name="Gemma 3" id="{91BFD2B5-A843-4933-9519-5889D1D7895D}">
          <p14:sldIdLst>
            <p14:sldId id="3470"/>
            <p14:sldId id="3471"/>
            <p14:sldId id="3483"/>
          </p14:sldIdLst>
        </p14:section>
        <p14:section name="Gemma 4" id="{5A048767-0D58-44AF-B962-12C29493294F}">
          <p14:sldIdLst>
            <p14:sldId id="3465"/>
            <p14:sldId id="3482"/>
            <p14:sldId id="3481"/>
            <p14:sldId id="3489"/>
          </p14:sldIdLst>
        </p14:section>
        <p14:section name="Hardware Trend" id="{033E25EB-BAB3-441E-BB67-FAB89428CA75}">
          <p14:sldIdLst>
            <p14:sldId id="3490"/>
            <p14:sldId id="3491"/>
            <p14:sldId id="3461"/>
            <p14:sldId id="3462"/>
            <p14:sldId id="3420"/>
          </p14:sldIdLst>
        </p14:section>
        <p14:section name="Conclusion" id="{69C35067-BEF2-4B7C-9B54-B6977EB05C72}">
          <p14:sldIdLst>
            <p14:sldId id="346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5D8A0"/>
    <a:srgbClr val="CCFF66"/>
    <a:srgbClr val="DBFF94"/>
    <a:srgbClr val="DCE6F2"/>
    <a:srgbClr val="FF0000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66424" autoAdjust="0"/>
  </p:normalViewPr>
  <p:slideViewPr>
    <p:cSldViewPr>
      <p:cViewPr varScale="1">
        <p:scale>
          <a:sx n="107" d="100"/>
          <a:sy n="107" d="100"/>
        </p:scale>
        <p:origin x="1248" y="102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comments/modernComment_D5C_E5DE535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1D91993-94B2-4C7B-9CD5-D9F83EC3A14C}" authorId="{DEF1DDEA-D49D-B2A5-9D83-8BDFFC6C721F}" created="2026-05-20T02:48:48.863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856552792" sldId="3420"/>
      <ac:spMk id="29" creationId="{D53A45AC-2EC1-50D2-D682-7CB10042CEC0}"/>
      <ac:txMk cp="0" len="378">
        <ac:context len="379" hash="3451841079"/>
      </ac:txMk>
    </ac:txMkLst>
    <p188:replyLst>
      <p188:reply id="{C66D0F87-A191-45F6-AD31-11862F22856F}" authorId="{DEF1DDEA-D49D-B2A5-9D83-8BDFFC6C721F}" created="2026-05-20T02:52:24.406">
        <p188:txBody>
          <a:bodyPr/>
          <a:lstStyle/>
          <a:p>
            <a:r>
              <a:rPr lang="zh-TW" altLang="en-US"/>
              <a:t>邏輯晶圓（Logic Die）35% - 45%: 包含 CPU、GPU、DSP 以及核心的 NPU（神經處理單元）。成本取決於製程節點（多採用成本良率平衡的 12nm / 16nm / 28nm 晶圓；高階如智慧手機與自駕車則會用到 3nm / 5nm / 7nm）。
記憶體（Memory）25% - 35%AI 運算需要極大頻寬。低成本方案採用內建 SRAM 或外掛 LPDDR5/DDR4；高階高頻寬方案（如高階自駕車 ADAS、邊緣生成式 AI）則會導入 HBM2e/HBM3 或 3D PIM（記憶體內運算），此時記憶體成本會大幅飆升。
先進封裝與測試15% - 25%晶片測試（包含汽車級 ISO 26262 驗證加價 10%-25%） 以及封裝技術（如 SiP 系統級封裝、或是 3D 堆疊/TSV 矽穿孔技術，這會視封裝複雜度增加 50–100 美元不等的成本）。
IP 授權與權利金5% - 10%晶片內部的架構多非全自研。例如向 Arm 授權的 CPU 架構（如 Cortex-M55/M85）、外購的 NPU IP，或 HBM 控制器 IP，每顆晶片需要支付一定比例的 Royalty（權利金）。</a:t>
            </a:r>
          </a:p>
        </p188:txBody>
      </p188:reply>
    </p188:replyLst>
    <p188:txBody>
      <a:bodyPr/>
      <a:lstStyle/>
      <a:p>
        <a:r>
          <a:rPr lang="zh-TW" altLang="en-US"/>
          <a:t>一、 Edge AI 晶片的硬體成本結構（BOM 結構）
Edge AI 晶片通常以 SoC（系統單晶片） 或 Chiplet（小晶片封裝） 的形式存在。一顆 Edge AI 晶片的硬體製造總成本，主要由以下四大核心區塊組成： 
成本組成項目估計佔比核心說明與成本驅動因子
邏輯晶圓（Logic Die）35% - 45%: 包含 CPU、GPU、DSP 以及核心的 NPU（神經處理單元）。成本取決於製程節點（多採用成本良率平衡的 12nm / 16nm / 28nm 晶圓；高階如智慧手機與自駕車則會用到 3nm / 5nm / 7nm）。
記憶體（Memory）25% - 35%AI 運算需要極大頻寬。低成本方案採用內建 SRAM 或外掛 LPDDR5/DDR4；高階高頻寬方案（如高階自駕車 ADAS、邊緣生成式 AI）則會導入 HBM2e/HBM3 或 3D PIM（記憶體內運算），此時記憶體成本會大幅飆升。
先進封裝與測試15% - 25%晶片測試（包含汽車級 ISO 26262 驗證加價 10%-25%） 以及封裝技術（如 SiP 系統級封裝、或是 3D 堆疊/TSV 矽穿孔技術，這會視封裝複雜度增加 50–100 美元不等的成本）。
IP 授權與權利金5% - 10%晶片內部的架構多非全自研。例如向 Arm 授權的 CPU 架構（如 Cortex-M55/M85）、外購的 NPU IP，或 HBM 控制器 IP，每顆晶片需要支付一定比例的 Royalty（權利金）。</a:t>
        </a:r>
      </a:p>
    </p188:txBody>
  </p188:cm>
  <p188:cm id="{FFC719A7-4826-4636-A3DD-EE1595D91AE4}" authorId="{DEF1DDEA-D49D-B2A5-9D83-8BDFFC6C721F}" created="2026-05-20T02:49:34.735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856552792" sldId="3420"/>
      <ac:spMk id="29" creationId="{D53A45AC-2EC1-50D2-D682-7CB10042CEC0}"/>
      <ac:txMk cp="0" len="378">
        <ac:context len="379" hash="3451841079"/>
      </ac:txMk>
    </ac:txMkLst>
    <p188:txBody>
      <a:bodyPr/>
      <a:lstStyle/>
      <a:p>
        <a:r>
          <a:rPr lang="zh-TW" altLang="en-US"/>
          <a:t>二、 晶片的晶圓晶粒（Die）內部面積結構分析）
如果將晶片放大來看，在矽晶圓的「晶粒面積（Die Area）」分配上，Edge AI 晶片呈現顯著的「記憶體與算力高度拉鋸」特徵。
記憶體佔地極大（SRAM / Cache, 約 40% - 50%）：AI 推論（Inference）需要频繁讀取權重（Weights）。
為了減少節能殺手——「離開晶片去抓外部記憶體資料」的功耗，設計師會把大量的晶片面積留給片上緩存（On-chip SRAM）。
神經網路加速核心（NPU, 約 25% - 35%）：專門用來執行大量矩陣乘法與累積運算（MAC Array）的硬體電路，是晶片能效比（TOPS/W）的關鍵。
控制與多媒體核心（CPU/DSP/ISP, 約 15% - 20%）：負責系統排程（如 Arm 核心）以及影像訊號預處理（ISP）、音訊處理等。 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2026/6/28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2026/6/28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792F09-836B-611E-3920-7AE3A67C1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B39D021-C0AF-0091-D6F8-0073EB4AD0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5A4D7BA-4AD0-4EE9-48E0-98B1C616E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E4A41B9-0B71-33D1-6ED3-C2CF20F7C9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53085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「Data gravity」（數據引力 / 資料引力）</a:t>
            </a:r>
            <a:r>
              <a:rPr lang="zh-TW" altLang="zh-TW" dirty="0"/>
              <a:t> 是一個著名的科技與雲端運算架構術語，核心意思為：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「隨著資料的體積（規模）越來越大，它會像物理學中的質量一樣產生引力，吸引周圍的應用程式（Applications）、軟體服務與算力（Compute）向資料靠攏。」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延遲（Latency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頻寬（Bandwidth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 / Cloud Egress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雲端服務商（如 AWS、Azure）通常實施「資料移入免費，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資料移出（Egress）大幅收費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」的策略。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這加劇了引力效應，讓資料一旦落地就形同被「鎖定（Lock-in）」。</a:t>
            </a:r>
          </a:p>
          <a:p>
            <a:endParaRPr lang="zh-TW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SLM 容器（小型語言模型，如 3B 到 14B 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「輕量化、去中心化、邊緣運算（Edge）」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：通常會將模型推理引擎（如 Ollama、vLLM、Llama.cpp）與模型權重檔（如 GGUF 格式）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直接打包在同一個 Container 镜像（Image）中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：對硬體極度友善。可以用 Docker 部署在一般的 Mac mini、邊緣裝置（如 NVIDIA Jetson）、或一般內建消費級顯示卡（如 RTX 4060）的個人電腦上。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：啟動速度極快。在 AI Agent Container 架構中，SLM 容器通常被當作「微服務（Microservices）」。例如：你可以同時開 5 個不同的 Docker Container，裡面各跑一個 8B 的小模型，分別擔任客服、翻譯、程式審查等不同角色的 Agent，彼此互不干擾。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LLM 容器（大型語言模型，如 70B 到 405B 以上參數）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「高併發、極致吞吐量、企業級叢集（Cluster）」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：Container 內通常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只裝推理框架的程式碼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vLLM、TensorRT-LLM、TGI），而高達幾百 GB 的模型權重檔（Weights）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絕對不會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打包進 Image，而是透過網路掛載（如雲端儲存、NFS、或高速快取磁碟）的方式動態載入。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：極度依賴重型基礎設施。需要透過 NVIDIA Container Toolkit 將多張企業級 GPU（如 H100、A100）對應進 Container 內。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：通常部署在 Kubernetes (K8s) 叢集或大廠的雲端環境中（如 AWS, Google Cloud）。在 Agent 架構中，這類 LLM 容器通常被當作「中央大腦 API」，多個 Agent 容器會同時發送請求給這個大型 LLM 容器來索取高難度的推理結果。</a:t>
            </a:r>
          </a:p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4920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半導體製造 </a:t>
            </a:r>
            <a:r>
              <a:rPr lang="en-US" altLang="zh-TW" dirty="0">
                <a:sym typeface="Wingdings" panose="05000000000000000000" pitchFamily="2" charset="2"/>
              </a:rPr>
              <a:t></a:t>
            </a:r>
            <a:r>
              <a:rPr lang="zh-TW" altLang="en-US" dirty="0">
                <a:sym typeface="Wingdings" panose="05000000000000000000" pitchFamily="2" charset="2"/>
              </a:rPr>
              <a:t> 封測 </a:t>
            </a:r>
            <a:r>
              <a:rPr lang="en-US" altLang="zh-TW" dirty="0">
                <a:sym typeface="Wingdings" panose="05000000000000000000" pitchFamily="2" charset="2"/>
              </a:rPr>
              <a:t></a:t>
            </a:r>
            <a:r>
              <a:rPr lang="zh-TW" altLang="en-US" dirty="0">
                <a:sym typeface="Wingdings" panose="05000000000000000000" pitchFamily="2" charset="2"/>
              </a:rPr>
              <a:t> 電路板 </a:t>
            </a:r>
            <a:r>
              <a:rPr lang="en-US" altLang="zh-TW" dirty="0">
                <a:sym typeface="Wingdings" panose="05000000000000000000" pitchFamily="2" charset="2"/>
              </a:rPr>
              <a:t></a:t>
            </a:r>
            <a:r>
              <a:rPr lang="zh-TW" altLang="en-US" dirty="0">
                <a:sym typeface="Wingdings" panose="05000000000000000000" pitchFamily="2" charset="2"/>
              </a:rPr>
              <a:t> 被動元件</a:t>
            </a:r>
            <a:endParaRPr lang="en-US" altLang="zh-TW" dirty="0">
              <a:sym typeface="Wingdings" panose="05000000000000000000" pitchFamily="2" charset="2"/>
            </a:endParaRPr>
          </a:p>
          <a:p>
            <a:r>
              <a:rPr lang="zh-TW" altLang="en-US" dirty="0">
                <a:sym typeface="Wingdings" panose="05000000000000000000" pitchFamily="2" charset="2"/>
              </a:rPr>
              <a:t> </a:t>
            </a:r>
            <a:endParaRPr lang="en-US" altLang="zh-TW" dirty="0"/>
          </a:p>
          <a:p>
            <a:r>
              <a:rPr lang="en-US" altLang="zh-TW" dirty="0"/>
              <a:t>Multi GPU </a:t>
            </a:r>
            <a:r>
              <a:rPr lang="en-US" altLang="zh-TW" dirty="0">
                <a:sym typeface="Wingdings" panose="05000000000000000000" pitchFamily="2" charset="2"/>
              </a:rPr>
              <a:t> HBM  CoWoS/CoPos   CPO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WSE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TPU / AI CHIP</a:t>
            </a:r>
          </a:p>
          <a:p>
            <a:r>
              <a:rPr lang="en-US" altLang="zh-TW" dirty="0">
                <a:sym typeface="Wingdings" panose="05000000000000000000" pitchFamily="2" charset="2"/>
              </a:rPr>
              <a:t>CoWoS  PCB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CCL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MLCC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endParaRPr lang="en-US" altLang="zh-TW" dirty="0">
              <a:sym typeface="Wingdings" panose="05000000000000000000" pitchFamily="2" charset="2"/>
            </a:endParaRPr>
          </a:p>
          <a:p>
            <a:r>
              <a:rPr lang="en-US" altLang="zh-TW" dirty="0">
                <a:sym typeface="Wingdings" panose="05000000000000000000" pitchFamily="2" charset="2"/>
              </a:rPr>
              <a:t>HBM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CPO</a:t>
            </a:r>
          </a:p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銅箔基板</a:t>
            </a:r>
            <a:r>
              <a:rPr lang="zh-TW" altLang="zh-TW" dirty="0"/>
              <a:t>（Copper Clad Laminate, 簡稱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CCL</a:t>
            </a:r>
            <a:r>
              <a:rPr lang="zh-TW" altLang="zh-TW" dirty="0"/>
              <a:t>）是PCB的核心基礎材料，約占PCB成本的40%。</a:t>
            </a:r>
            <a:endParaRPr lang="en-US" altLang="zh-TW" dirty="0"/>
          </a:p>
          <a:p>
            <a:r>
              <a:rPr lang="zh-TW" altLang="zh-TW" dirty="0"/>
              <a:t>其結構猶如「夾心餅乾」，由外層的導電銅箔，與中間夾層的「絕緣補強材料（如玻璃纖維布）」加「樹脂」高溫高壓貼合而成。</a:t>
            </a:r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銅箔基板的組成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銅箔 (約占 40%)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導電層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樹脂 (約占 30%)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絕緣體提供耐熱性與黏合力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補強材料 (約占 30%)</a:t>
            </a:r>
            <a:r>
              <a:rPr lang="zh-TW" altLang="zh-TW" dirty="0"/>
              <a:t>：通常為玻璃纖維布</a:t>
            </a:r>
            <a:r>
              <a:rPr lang="en-US" altLang="zh-TW" dirty="0"/>
              <a:t>.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台廠 CCL 龍頭（概念股）</a:t>
            </a:r>
            <a:r>
              <a:rPr lang="zh-TW" altLang="zh-TW" dirty="0"/>
              <a:t>：包含台光電 (2383)、台燿 (6274)、聯茂 (6213)，以及南亞 (1303) 等。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隨著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伺服器</a:t>
            </a:r>
            <a:r>
              <a:rPr lang="zh-TW" altLang="zh-TW" dirty="0"/>
              <a:t>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5G/高速通訊</a:t>
            </a:r>
            <a:r>
              <a:rPr lang="zh-TW" altLang="zh-TW" dirty="0"/>
              <a:t>快速發展，傳統消費電子的板材已無法負荷龐大的資料傳輸量與高發熱量。</a:t>
            </a:r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規格升級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：高階 AI 伺服器對 CCL 的用量是傳統伺服器的 5 至 7 倍，且「低損耗（Low Loss / M8-M9等級）」材料以避免訊號干擾。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長線商機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：高階 CCL 認證門檻高、驗證週期長（通常需 2~3 年），因此一旦打入特定供應鏈，訂單穩定度與毛利率皆相當可觀。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dirty="0"/>
              <a:t>紙質酚醛基板</a:t>
            </a:r>
            <a:r>
              <a:rPr lang="en-US" altLang="zh-TW" dirty="0"/>
              <a:t>(CCL/FR-1)</a:t>
            </a:r>
            <a:r>
              <a:rPr lang="en-US" altLang="zh-TW" dirty="0">
                <a:sym typeface="Wingdings" panose="05000000000000000000" pitchFamily="2" charset="2"/>
              </a:rPr>
              <a:t></a:t>
            </a:r>
            <a:r>
              <a:rPr lang="zh-TW" altLang="en-US" dirty="0">
                <a:sym typeface="Wingdings" panose="05000000000000000000" pitchFamily="2" charset="2"/>
              </a:rPr>
              <a:t>複合基板</a:t>
            </a:r>
            <a:r>
              <a:rPr lang="en-US" altLang="zh-TW" dirty="0">
                <a:sym typeface="Wingdings" panose="05000000000000000000" pitchFamily="2" charset="2"/>
              </a:rPr>
              <a:t>(CEM),</a:t>
            </a:r>
            <a:r>
              <a:rPr lang="zh-TW" altLang="en-US" dirty="0">
                <a:sym typeface="Wingdings" panose="05000000000000000000" pitchFamily="2" charset="2"/>
              </a:rPr>
              <a:t>玻璃纖維</a:t>
            </a:r>
            <a:r>
              <a:rPr lang="en-US" altLang="zh-TW" dirty="0">
                <a:sym typeface="Wingdings" panose="05000000000000000000" pitchFamily="2" charset="2"/>
              </a:rPr>
              <a:t>(FR-4)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銅箔基板</a:t>
            </a:r>
            <a:r>
              <a:rPr lang="zh-TW" altLang="zh-TW" dirty="0"/>
              <a:t>（Copper Clad Laminate, 簡稱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CCL</a:t>
            </a:r>
            <a:r>
              <a:rPr lang="zh-TW" altLang="zh-TW" dirty="0"/>
              <a:t>）</a:t>
            </a:r>
            <a:r>
              <a:rPr lang="en-US" altLang="zh-TW" dirty="0">
                <a:sym typeface="Wingdings" panose="05000000000000000000" pitchFamily="2" charset="2"/>
              </a:rPr>
              <a:t></a:t>
            </a:r>
            <a:r>
              <a:rPr lang="zh-TW" altLang="en-US" dirty="0">
                <a:sym typeface="Wingdings" panose="05000000000000000000" pitchFamily="2" charset="2"/>
              </a:rPr>
              <a:t> </a:t>
            </a:r>
            <a:r>
              <a:rPr lang="en-US" altLang="zh-TW" dirty="0">
                <a:sym typeface="Wingdings" panose="05000000000000000000" pitchFamily="2" charset="2"/>
              </a:rPr>
              <a:t>ABF</a:t>
            </a:r>
            <a:r>
              <a:rPr lang="zh-TW" altLang="en-US" dirty="0">
                <a:sym typeface="Wingdings" panose="05000000000000000000" pitchFamily="2" charset="2"/>
              </a:rPr>
              <a:t>載板</a:t>
            </a:r>
            <a:r>
              <a:rPr lang="en-US" altLang="zh-TW" dirty="0">
                <a:sym typeface="Wingdings" panose="05000000000000000000" pitchFamily="2" charset="2"/>
              </a:rPr>
              <a:t>(</a:t>
            </a:r>
            <a:r>
              <a:rPr lang="zh-TW" altLang="zh-TW" dirty="0"/>
              <a:t>在絕緣層上精準電鍍「長」出線路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r>
              <a:rPr lang="en-US" altLang="zh-TW" dirty="0">
                <a:sym typeface="Wingdings" panose="05000000000000000000" pitchFamily="2" charset="2"/>
              </a:rPr>
              <a:t></a:t>
            </a:r>
            <a:r>
              <a:rPr lang="zh-TW" altLang="zh-TW" dirty="0"/>
              <a:t>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玻璃基板（TGV）</a:t>
            </a:r>
            <a:r>
              <a:rPr lang="zh-TW" altLang="zh-TW" dirty="0"/>
              <a:t>」封裝技術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紙質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易碎、耐熱差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玻璃纖維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強韌、耐熱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高階塑膠/樹脂變革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高速、低損耗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純玻璃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極平整、半導體級微細線路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06998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8B3D8-A65A-8DC3-8125-3CF44F128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06C11EF-5DF2-9D2F-8C51-7239C10B2F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09910A7-45D7-E240-8ACE-A65E4F59C4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引發的趨勢討論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57B77A-B900-F0BB-5F92-0973EEDC0A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266016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br>
              <a:rPr lang="en-US" altLang="zh-TW" dirty="0"/>
            </a:b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05176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F8C3B-1545-C898-D171-B905BA85A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FC4B966-8796-43CD-C78C-7291821E4A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5B02174-D403-E515-0280-CE2895F0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849058-6753-C205-4DDB-1F11095A14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52900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25473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xxx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51202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一、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Edge 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晶片的硬體成本結構（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BOM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結構）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Edge 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晶片通常以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SoC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（系統單晶片） 或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Chiplet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（小晶片封裝） 的形式存在。一顆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Edge 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晶片的硬體製造總成本，主要由以下四大核心區塊組成： 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成本組成項目估計佔比核心說明與成本驅動因子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邏輯晶圓（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Logic Die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35% - 45%: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包含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CPU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GPU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DSP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以及核心的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NPU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（神經處理單元）。成本取決於製程節點（多採用成本良率平衡的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12nm / 16nm / 28nm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晶圓；高階如智慧手機與自駕車則會用到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3nm / 5nm / 7nm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）。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記憶體（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Memory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25% - 35%AI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運算需要極大頻寬。低成本方案採用內建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SRAM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或外掛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LPDDR5/DDR4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；高階高頻寬方案（如高階自駕車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ADAS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、邊緣生成式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AI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）則會導入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HBM2e/HBM3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或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3D PIM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（記憶體內運算），此時記憶體成本會大幅飆升。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先進封裝與測試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15% - 25%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晶片測試（包含汽車級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ISO 26262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驗證加價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10%-25%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 以及封裝技術（如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SiP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系統級封裝、或是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3D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堆疊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/TSV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矽穿孔技術，這會視封裝複雜度增加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50–100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美元不等的成本）。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IP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授權與權利金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5% - 10%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晶片內部的架構多非全自研。例如向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Arm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授權的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CPU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架構（如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Cortex-M55/M85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）、外購的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NPU IP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，或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HBM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控制器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IP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，每顆晶片需要支付一定比例的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Royalty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（權利</a:t>
            </a:r>
            <a:r>
              <a:rPr lang="zh-TW" altLang="en-US" sz="1400" baseline="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金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）。</a:t>
            </a:r>
          </a:p>
          <a:p>
            <a:endParaRPr lang="zh-TW" altLang="en-US" sz="1400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23731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2026/6/28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ibp=oshop&amp;prds=pvt:hg,pvo:29,imageDocid:3587070959964051833,headlineOfferDocid:4681429727312423067,productDocid:4681429727312423067&amp;q=product&amp;sa=X&amp;ved=2ahUKEwjfiPuhqMSUAxWvbvUHHaHBB2IQxa4PegYIAAgQEAI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unclestocknotes.substack.com/p/ai-38c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capacity-question-behind-every-ai-chip-huan-ma-rcmoe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cyfuture.cloud/kb/gpu/how-much-does-the-nvidia-h100-gpu-cost-in-2025" TargetMode="External"/><Relationship Id="rId4" Type="http://schemas.openxmlformats.org/officeDocument/2006/relationships/hyperlink" Target="https://www.google.com/search?ibp=oshop&amp;prds=pvt:hg,pvo:29,imageDocid:950387411976338395,gpcid:17533605446176267153,headlineOfferDocid:11979813095487954154,catalogid:2401887616791462714,productDocid:1096713661396697429,rds:PC_17533605446176267153%7CPROD_PC_17533605446176267153&amp;q=product&amp;sa=X&amp;ved=2ahUKEwjfiPuhqMSUAxWvbvUHHaHBB2IQxa4PegYIAAgoEAM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D5C_E5DE5358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1187623" y="1124744"/>
            <a:ext cx="6552728" cy="498598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Overview of AI Trends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(Trend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of</a:t>
            </a:r>
            <a:r>
              <a:rPr lang="zh-TW" altLang="en-US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Cloud Service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and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Edge AI)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Environment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(LLM + RAG +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Frameworks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Engie: </a:t>
            </a:r>
            <a:r>
              <a:rPr lang="en-US" altLang="zh-TW" sz="1200" dirty="0" err="1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Ollama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 err="1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MLOps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+ Future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(..)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PEFT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 err="1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LoRA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</a:t>
            </a:r>
            <a:r>
              <a:rPr lang="en-US" altLang="zh-TW" sz="1200" dirty="0" err="1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QLoRA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lang="en-US" altLang="zh-TW" sz="2400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Open Weight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Architecture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(Multi-Modal)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Multi Modal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-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4</a:t>
            </a:r>
            <a:r>
              <a:rPr lang="en-US" altLang="zh-TW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(Standard Dense Transformer vs Mixture of Experts)</a:t>
            </a:r>
            <a:endParaRPr lang="en-US" altLang="zh-TW" sz="14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D22EBD9-E3FC-5E44-CA96-0F576D5899F6}"/>
              </a:ext>
            </a:extLst>
          </p:cNvPr>
          <p:cNvSpPr txBox="1"/>
          <p:nvPr/>
        </p:nvSpPr>
        <p:spPr>
          <a:xfrm>
            <a:off x="7380312" y="116632"/>
            <a:ext cx="1694681" cy="1531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 Unsupervised</a:t>
            </a:r>
            <a:endParaRPr lang="en-US" altLang="zh-TW" sz="1400" u="none" strike="noStrike" dirty="0">
              <a:effectLst/>
            </a:endParaRP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en-US" sz="1200" dirty="0"/>
              <a:t> </a:t>
            </a:r>
            <a:r>
              <a:rPr lang="en-US" altLang="zh-TW" sz="1200" dirty="0"/>
              <a:t>Reduction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Clustering</a:t>
            </a:r>
            <a:endParaRPr lang="en-US" altLang="zh-TW" sz="1200" u="none" strike="noStrike" dirty="0">
              <a:effectLst/>
            </a:endParaRP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Supervised</a:t>
            </a:r>
            <a:endParaRPr lang="en-US" altLang="zh-TW" sz="1400" dirty="0"/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Semi-Supervised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Self-Supervised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Reinforcement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Summary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4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5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4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6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8" dur="20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2" dur="500" fill="hold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4" dur="2000" fill="hold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9874F25-7ABB-161C-F98E-6F5A79B9D916}"/>
              </a:ext>
            </a:extLst>
          </p:cNvPr>
          <p:cNvSpPr txBox="1"/>
          <p:nvPr/>
        </p:nvSpPr>
        <p:spPr>
          <a:xfrm>
            <a:off x="378859" y="1350188"/>
            <a:ext cx="1052273" cy="828324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Pre-Training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Self Supervised Learning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2673DE9-E1DA-1BC0-C354-0BA00FE84EA6}"/>
              </a:ext>
            </a:extLst>
          </p:cNvPr>
          <p:cNvSpPr txBox="1"/>
          <p:nvPr/>
        </p:nvSpPr>
        <p:spPr>
          <a:xfrm>
            <a:off x="378859" y="2816700"/>
            <a:ext cx="1052273" cy="828324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Compact and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resource-efficient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student model.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39B58CA-5527-9A2C-83D7-C2DB75063432}"/>
              </a:ext>
            </a:extLst>
          </p:cNvPr>
          <p:cNvSpPr txBox="1"/>
          <p:nvPr/>
        </p:nvSpPr>
        <p:spPr>
          <a:xfrm>
            <a:off x="1719164" y="2816700"/>
            <a:ext cx="1052273" cy="828324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Supervised FT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Quality is all you need.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E7D5B07-0C81-3829-646F-BE3581FDD6C8}"/>
              </a:ext>
            </a:extLst>
          </p:cNvPr>
          <p:cNvSpPr txBox="1"/>
          <p:nvPr/>
        </p:nvSpPr>
        <p:spPr>
          <a:xfrm>
            <a:off x="3159324" y="2816700"/>
            <a:ext cx="1052273" cy="828324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</a:rPr>
              <a:t>RLHF</a:t>
            </a:r>
            <a:endParaRPr lang="en-US" altLang="zh-TW" sz="1400" b="1" u="none" strike="noStrike" dirty="0">
              <a:solidFill>
                <a:schemeClr val="accent5">
                  <a:lumMod val="75000"/>
                </a:schemeClr>
              </a:solidFill>
              <a:effectLst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Human involvement with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specialized knowledge.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DPO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8" name="右大括弧 17">
            <a:extLst>
              <a:ext uri="{FF2B5EF4-FFF2-40B4-BE49-F238E27FC236}">
                <a16:creationId xmlns:a16="http://schemas.microsoft.com/office/drawing/2014/main" id="{88A7DCEE-72D3-E97E-75B4-E98392FD0AF8}"/>
              </a:ext>
            </a:extLst>
          </p:cNvPr>
          <p:cNvSpPr/>
          <p:nvPr/>
        </p:nvSpPr>
        <p:spPr>
          <a:xfrm rot="16200000">
            <a:off x="1991502" y="916027"/>
            <a:ext cx="188816" cy="341409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9073DEBF-201F-5054-4A3D-D53D81C644C4}"/>
              </a:ext>
            </a:extLst>
          </p:cNvPr>
          <p:cNvSpPr txBox="1">
            <a:spLocks/>
          </p:cNvSpPr>
          <p:nvPr/>
        </p:nvSpPr>
        <p:spPr>
          <a:xfrm>
            <a:off x="1495204" y="2087474"/>
            <a:ext cx="1479399" cy="475952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Fine Tunning 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Alignment)</a:t>
            </a:r>
          </a:p>
        </p:txBody>
      </p:sp>
      <p:sp>
        <p:nvSpPr>
          <p:cNvPr id="28" name="右大括弧 27">
            <a:extLst>
              <a:ext uri="{FF2B5EF4-FFF2-40B4-BE49-F238E27FC236}">
                <a16:creationId xmlns:a16="http://schemas.microsoft.com/office/drawing/2014/main" id="{A0803DCC-BE11-9775-D2EC-55EDCF477CAA}"/>
              </a:ext>
            </a:extLst>
          </p:cNvPr>
          <p:cNvSpPr/>
          <p:nvPr/>
        </p:nvSpPr>
        <p:spPr>
          <a:xfrm rot="16200000">
            <a:off x="2604355" y="2763254"/>
            <a:ext cx="153043" cy="295225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標題 1">
            <a:extLst>
              <a:ext uri="{FF2B5EF4-FFF2-40B4-BE49-F238E27FC236}">
                <a16:creationId xmlns:a16="http://schemas.microsoft.com/office/drawing/2014/main" id="{4020646C-B721-C297-5226-9CE964FEC92D}"/>
              </a:ext>
            </a:extLst>
          </p:cNvPr>
          <p:cNvSpPr txBox="1">
            <a:spLocks/>
          </p:cNvSpPr>
          <p:nvPr/>
        </p:nvSpPr>
        <p:spPr>
          <a:xfrm>
            <a:off x="2234904" y="3739897"/>
            <a:ext cx="1558056" cy="38718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sp>
        <p:nvSpPr>
          <p:cNvPr id="33" name="標題 1">
            <a:extLst>
              <a:ext uri="{FF2B5EF4-FFF2-40B4-BE49-F238E27FC236}">
                <a16:creationId xmlns:a16="http://schemas.microsoft.com/office/drawing/2014/main" id="{CC0447A7-CE70-FFDF-04DF-AACA4B272492}"/>
              </a:ext>
            </a:extLst>
          </p:cNvPr>
          <p:cNvSpPr txBox="1">
            <a:spLocks/>
          </p:cNvSpPr>
          <p:nvPr/>
        </p:nvSpPr>
        <p:spPr>
          <a:xfrm>
            <a:off x="3509863" y="943565"/>
            <a:ext cx="2736304" cy="1170071"/>
          </a:xfrm>
          <a:prstGeom prst="rect">
            <a:avLst/>
          </a:prstGeom>
        </p:spPr>
        <p:txBody>
          <a:bodyPr wrap="none" lIns="91440" tIns="0" rIns="0" bIns="0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zh-TW" sz="12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  <a:p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Emergent Abilities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0ECD3BCB-5C39-0BFD-A8C9-3484AF9790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4445244"/>
              </p:ext>
            </p:extLst>
          </p:nvPr>
        </p:nvGraphicFramePr>
        <p:xfrm>
          <a:off x="5082098" y="1133342"/>
          <a:ext cx="1872208" cy="11800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Parameters in 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Attentions: W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W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W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W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FFN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Weights: A, U, D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Vocabulary Embedding Table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MoE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Gating Matrix: R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dx16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 Environment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LLMs integrate and share data with external tools, systems, and data sources?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zh-TW" altLang="en-US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個階段的技術重點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3ACCCCD-B493-7A49-8A6E-E6C3BDEC9493}"/>
              </a:ext>
            </a:extLst>
          </p:cNvPr>
          <p:cNvSpPr txBox="1"/>
          <p:nvPr/>
        </p:nvSpPr>
        <p:spPr>
          <a:xfrm>
            <a:off x="390251" y="4416991"/>
            <a:ext cx="1440160" cy="756316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92E34F1-083D-891A-1461-CDE50DD701A2}"/>
              </a:ext>
            </a:extLst>
          </p:cNvPr>
          <p:cNvSpPr txBox="1"/>
          <p:nvPr/>
        </p:nvSpPr>
        <p:spPr>
          <a:xfrm>
            <a:off x="2164369" y="4416991"/>
            <a:ext cx="1440160" cy="756316"/>
          </a:xfrm>
          <a:prstGeom prst="rect">
            <a:avLst/>
          </a:prstGeom>
          <a:solidFill>
            <a:schemeClr val="accent3">
              <a:lumMod val="60000"/>
              <a:lumOff val="4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29225F6-6EA6-52CD-D02A-BDA0A1CE5733}"/>
              </a:ext>
            </a:extLst>
          </p:cNvPr>
          <p:cNvSpPr txBox="1"/>
          <p:nvPr/>
        </p:nvSpPr>
        <p:spPr>
          <a:xfrm>
            <a:off x="3918643" y="4416991"/>
            <a:ext cx="1440160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7B4914E9-8593-EAB8-1F27-A2A748C0FCEC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1830411" y="4795149"/>
            <a:ext cx="333958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19014D0C-00DA-7A1C-70C6-DE13B46D2353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>
            <a:off x="3604529" y="4795149"/>
            <a:ext cx="314114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B8FE94E1-DE20-B25D-2B84-343319FC54D1}"/>
              </a:ext>
            </a:extLst>
          </p:cNvPr>
          <p:cNvSpPr txBox="1"/>
          <p:nvPr/>
        </p:nvSpPr>
        <p:spPr>
          <a:xfrm>
            <a:off x="390252" y="5308318"/>
            <a:ext cx="1440160" cy="1145018"/>
          </a:xfrm>
          <a:prstGeom prst="rect">
            <a:avLst/>
          </a:prstGeom>
          <a:noFill/>
        </p:spPr>
        <p:txBody>
          <a:bodyPr wrap="square" lIns="0" tIns="0" rIns="0" bIns="0" anchor="t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/>
              <a:t>Q: How does AI memory work?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AI memory enables systems to tore and recall information.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850A5478-C51E-7690-230E-9B8B84582DDB}"/>
              </a:ext>
            </a:extLst>
          </p:cNvPr>
          <p:cNvSpPr txBox="1"/>
          <p:nvPr/>
        </p:nvSpPr>
        <p:spPr>
          <a:xfrm>
            <a:off x="2164369" y="5300517"/>
            <a:ext cx="1440160" cy="1152819"/>
          </a:xfrm>
          <a:prstGeom prst="rect">
            <a:avLst/>
          </a:prstGeom>
          <a:noFill/>
        </p:spPr>
        <p:txBody>
          <a:bodyPr wrap="square" lIns="0" tIns="0" rIns="0" bIns="0" anchor="t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/>
              <a:t>Q: How does AI memory work?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AI memory works by storing information in vector databases for efficient recall ...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396799DB-313D-0A2A-26B2-36DF1C9474B3}"/>
              </a:ext>
            </a:extLst>
          </p:cNvPr>
          <p:cNvSpPr txBox="1"/>
          <p:nvPr/>
        </p:nvSpPr>
        <p:spPr>
          <a:xfrm>
            <a:off x="3918643" y="5308317"/>
            <a:ext cx="1440160" cy="1145019"/>
          </a:xfrm>
          <a:prstGeom prst="rect">
            <a:avLst/>
          </a:prstGeom>
          <a:noFill/>
        </p:spPr>
        <p:txBody>
          <a:bodyPr wrap="square" lIns="0" tIns="0" rIns="0" bIns="0" anchor="t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/>
              <a:t>Q: Create a report of Q1 sales data.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Report generated and saved to Google Drive. Here is the </a:t>
            </a:r>
            <a:r>
              <a:rPr lang="en-US" altLang="zh-TW" sz="1200" u="sng" dirty="0">
                <a:solidFill>
                  <a:schemeClr val="accent5">
                    <a:lumMod val="75000"/>
                  </a:schemeClr>
                </a:solidFill>
              </a:rPr>
              <a:t>download link</a:t>
            </a:r>
            <a:r>
              <a:rPr lang="en-US" altLang="zh-TW" sz="1200" dirty="0"/>
              <a:t>.</a:t>
            </a:r>
            <a:endParaRPr lang="en-US" altLang="zh-TW" sz="1200" u="none" strike="noStrike" dirty="0">
              <a:effectLst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927CD03-F351-526B-29F0-570A907DC4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2767810"/>
              </p:ext>
            </p:extLst>
          </p:nvPr>
        </p:nvGraphicFramePr>
        <p:xfrm>
          <a:off x="7181611" y="4094477"/>
          <a:ext cx="1872208" cy="11800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Anti-hallucination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Temperature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0102550"/>
              </p:ext>
            </p:extLst>
          </p:nvPr>
        </p:nvGraphicFramePr>
        <p:xfrm>
          <a:off x="5972992" y="2675282"/>
          <a:ext cx="1872208" cy="11800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Runtime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Reasoning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MoE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Gating Matrix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PLE: Dense Transformer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9257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E70E9-59B0-0AE4-9AC1-6010B9481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D29D07EE-B055-65C4-2923-CB5F40B25E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902848"/>
              </p:ext>
            </p:extLst>
          </p:nvPr>
        </p:nvGraphicFramePr>
        <p:xfrm>
          <a:off x="149678" y="5301208"/>
          <a:ext cx="1872208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DAD8F2F6-B681-06D9-65BB-95E036E10D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3635596"/>
              </p:ext>
            </p:extLst>
          </p:nvPr>
        </p:nvGraphicFramePr>
        <p:xfrm>
          <a:off x="149678" y="2854616"/>
          <a:ext cx="2088232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HuggingFace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 Transformer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86EBB9C-C627-7063-A55F-5AC28670B1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8389948"/>
              </p:ext>
            </p:extLst>
          </p:nvPr>
        </p:nvGraphicFramePr>
        <p:xfrm>
          <a:off x="149678" y="4015830"/>
          <a:ext cx="2088232" cy="114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000" b="0" cap="none" spc="0" dirty="0">
                        <a:ln w="0"/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4" name="標題 1">
            <a:extLst>
              <a:ext uri="{FF2B5EF4-FFF2-40B4-BE49-F238E27FC236}">
                <a16:creationId xmlns:a16="http://schemas.microsoft.com/office/drawing/2014/main" id="{1E2A88FD-36C0-356D-D78E-15264982819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Runtime Environment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LMs integrate and share data with external tools, systems, and data sources?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61BF41E7-DEE5-3BE6-3671-5C327E6F9C2F}"/>
              </a:ext>
            </a:extLst>
          </p:cNvPr>
          <p:cNvSpPr/>
          <p:nvPr/>
        </p:nvSpPr>
        <p:spPr>
          <a:xfrm>
            <a:off x="8388424" y="3264771"/>
            <a:ext cx="865417" cy="720080"/>
          </a:xfrm>
          <a:prstGeom prst="wedgeRoundRectCallout">
            <a:avLst>
              <a:gd name="adj1" fmla="val -73370"/>
              <a:gd name="adj2" fmla="val -19513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  <a:ea typeface="新細明體" panose="02020500000000000000" pitchFamily="18" charset="-120"/>
              </a:rPr>
              <a:t>Context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Protocol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4F81BD">
                  <a:lumMod val="60000"/>
                  <a:lumOff val="4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B9AF32B7-07D8-C341-3730-EE282EDABA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0718056"/>
              </p:ext>
            </p:extLst>
          </p:nvPr>
        </p:nvGraphicFramePr>
        <p:xfrm>
          <a:off x="3656509" y="4869160"/>
          <a:ext cx="1872208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9995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C568CF16-4A37-5624-67CF-A6CC452A3223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“What is the 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temperature today?”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“It’s a mild 20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°C today.”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429309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[20]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429309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RAG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Naive RAG</a:t>
            </a:r>
            <a:r>
              <a:rPr lang="en-US" altLang="zh-TW" sz="1600" b="0" u="none" strike="noStrike" dirty="0">
                <a:effectLst/>
              </a:rPr>
              <a:t>: </a:t>
            </a:r>
            <a:r>
              <a:rPr lang="zh-TW" altLang="zh-TW" sz="1600" dirty="0"/>
              <a:t>Uses basic document chunking and vector similarity for rapid context retrieval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Advanced RAG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zh-TW" altLang="zh-TW" sz="1600" dirty="0"/>
              <a:t>Incorporates query rewriting and post-retrieval reranking to optimize fact accuracy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Graph RAG</a:t>
            </a:r>
            <a:r>
              <a:rPr lang="en-US" altLang="zh-TW" sz="1600" dirty="0"/>
              <a:t>: Pre-built knowledge graphs to enable deep reasoning and global document insights.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407E4F4-7B8F-779F-0A8F-5C94EA976056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“Is a full refund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possible?”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C7A1EB3-A3BB-190C-1D24-F68F841EBA6C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“Rule1: Not after opening”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[Rule...]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3572940" y="3621363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Local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VDB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59222" y="320665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Stack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-Ecosystem in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9481278"/>
              </p:ext>
            </p:extLst>
          </p:nvPr>
        </p:nvGraphicFramePr>
        <p:xfrm>
          <a:off x="4283968" y="1124744"/>
          <a:ext cx="2255758" cy="4867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6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3120676184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18100739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50952796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4138318693"/>
                    </a:ext>
                  </a:extLst>
                </a:gridCol>
              </a:tblGrid>
              <a:tr h="69894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Application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End User Experience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 / API Gateway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MCP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12875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Pretraining, FT, Inference, ...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2275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877055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 / DB / OS /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Docker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  <a:tr h="55040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 / TPU / NPU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623425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F92D1482-83E4-1510-CBFB-7BEDF0A247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2173168"/>
              </p:ext>
            </p:extLst>
          </p:nvPr>
        </p:nvGraphicFramePr>
        <p:xfrm>
          <a:off x="7115359" y="4248512"/>
          <a:ext cx="144885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8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</a:t>
                      </a:r>
                      <a:r>
                        <a:rPr lang="zh-TW" altLang="en-US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Tools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 compose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Kubernetes (K8s)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961311" y="610091"/>
            <a:ext cx="1723897" cy="1594773"/>
          </a:xfrm>
          <a:prstGeom prst="borderCallout1">
            <a:avLst>
              <a:gd name="adj1" fmla="val 9931"/>
              <a:gd name="adj2" fmla="val 95337"/>
              <a:gd name="adj3" fmla="val 50724"/>
              <a:gd name="adj4" fmla="val 147806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B75E2A6-347A-761E-AB56-2780620EB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641694"/>
              </p:ext>
            </p:extLst>
          </p:nvPr>
        </p:nvGraphicFramePr>
        <p:xfrm>
          <a:off x="7092280" y="2746943"/>
          <a:ext cx="1471935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93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Format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ONNX: YOLO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GGUF: Llama,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SeepSeek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F91AC911-0D1C-DF7D-DA5F-71B189376E62}"/>
              </a:ext>
            </a:extLst>
          </p:cNvPr>
          <p:cNvSpPr/>
          <p:nvPr/>
        </p:nvSpPr>
        <p:spPr>
          <a:xfrm>
            <a:off x="4597470" y="2996952"/>
            <a:ext cx="1728192" cy="922876"/>
          </a:xfrm>
          <a:prstGeom prst="wedgeRoundRectCallout">
            <a:avLst>
              <a:gd name="adj1" fmla="val 37566"/>
              <a:gd name="adj2" fmla="val 75285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Engine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      </a:t>
            </a:r>
            <a:r>
              <a:rPr lang="en-US" altLang="zh-TW" dirty="0" err="1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Ollama</a:t>
            </a:r>
            <a:endParaRPr lang="en-US" altLang="zh-TW" dirty="0">
              <a:ln w="0"/>
              <a:solidFill>
                <a:schemeClr val="tx1">
                  <a:lumMod val="75000"/>
                  <a:lumOff val="25000"/>
                </a:scheme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6B8D1C9-885A-C7D6-D6F8-41B511FE9362}"/>
              </a:ext>
            </a:extLst>
          </p:cNvPr>
          <p:cNvSpPr/>
          <p:nvPr/>
        </p:nvSpPr>
        <p:spPr>
          <a:xfrm>
            <a:off x="2654776" y="4320814"/>
            <a:ext cx="864096" cy="205172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TensorFlow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PyTorch</a:t>
            </a:r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/JAX</a:t>
            </a:r>
          </a:p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</a:t>
            </a:r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MXNet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240D6DF-8092-DAF1-E32B-210128618EB9}"/>
              </a:ext>
            </a:extLst>
          </p:cNvPr>
          <p:cNvSpPr/>
          <p:nvPr/>
        </p:nvSpPr>
        <p:spPr>
          <a:xfrm>
            <a:off x="3148298" y="3429000"/>
            <a:ext cx="864096" cy="410149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NV CUDA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cuDNN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21" name="圖說文字: 直線 20">
            <a:extLst>
              <a:ext uri="{FF2B5EF4-FFF2-40B4-BE49-F238E27FC236}">
                <a16:creationId xmlns:a16="http://schemas.microsoft.com/office/drawing/2014/main" id="{467D3037-6025-92CE-DBAB-7435C0B86405}"/>
              </a:ext>
            </a:extLst>
          </p:cNvPr>
          <p:cNvSpPr/>
          <p:nvPr/>
        </p:nvSpPr>
        <p:spPr>
          <a:xfrm>
            <a:off x="7020272" y="4189817"/>
            <a:ext cx="1617091" cy="679343"/>
          </a:xfrm>
          <a:prstGeom prst="borderCallout1">
            <a:avLst>
              <a:gd name="adj1" fmla="val 42531"/>
              <a:gd name="adj2" fmla="val 5691"/>
              <a:gd name="adj3" fmla="val 42590"/>
              <a:gd name="adj4" fmla="val -38605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圖說文字: 直線 18">
            <a:extLst>
              <a:ext uri="{FF2B5EF4-FFF2-40B4-BE49-F238E27FC236}">
                <a16:creationId xmlns:a16="http://schemas.microsoft.com/office/drawing/2014/main" id="{6E9F0E88-06B8-549D-1043-D6DE870C893F}"/>
              </a:ext>
            </a:extLst>
          </p:cNvPr>
          <p:cNvSpPr/>
          <p:nvPr/>
        </p:nvSpPr>
        <p:spPr>
          <a:xfrm>
            <a:off x="7020272" y="2677649"/>
            <a:ext cx="1617091" cy="679343"/>
          </a:xfrm>
          <a:prstGeom prst="borderCallout1">
            <a:avLst>
              <a:gd name="adj1" fmla="val 21037"/>
              <a:gd name="adj2" fmla="val 5288"/>
              <a:gd name="adj3" fmla="val 77462"/>
              <a:gd name="adj4" fmla="val -3635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0722DED-500A-A9D0-30DC-6C8AD7A0F4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6789103"/>
              </p:ext>
            </p:extLst>
          </p:nvPr>
        </p:nvGraphicFramePr>
        <p:xfrm>
          <a:off x="506637" y="4653136"/>
          <a:ext cx="1617092" cy="15072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IDE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AI-Native Code Editor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Cursor IDE (X)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Antigravity (Google)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Claude Code (Anthropic)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Windsurf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GitHub Copilot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6B66FE31-56D0-615F-C95B-C507AA169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709693"/>
              </p:ext>
            </p:extLst>
          </p:nvPr>
        </p:nvGraphicFramePr>
        <p:xfrm>
          <a:off x="7020272" y="707903"/>
          <a:ext cx="1617091" cy="14240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Orchestrator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developer framework, it connects models, manages data, and links APIs.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LangChain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AutoGen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D67C80FD-0DC2-FE55-1D7A-B8F10A940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070440"/>
              </p:ext>
            </p:extLst>
          </p:nvPr>
        </p:nvGraphicFramePr>
        <p:xfrm>
          <a:off x="356988" y="1054136"/>
          <a:ext cx="2088232" cy="20060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Agent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complete software system. It autonomously operates browsers or tools.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OpenAI Operator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Cognition Devin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Salesforce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Agentforce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Microsoft Copilot Studio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822006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0DC669C9-090D-C2F1-218E-4D83E975D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561820"/>
              </p:ext>
            </p:extLst>
          </p:nvPr>
        </p:nvGraphicFramePr>
        <p:xfrm>
          <a:off x="400020" y="3153623"/>
          <a:ext cx="1872208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02" y="3284984"/>
            <a:ext cx="434378" cy="42675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1E805634-D2E9-1604-FA38-7D6F2A6C0B07}"/>
              </a:ext>
            </a:extLst>
          </p:cNvPr>
          <p:cNvSpPr txBox="1"/>
          <p:nvPr/>
        </p:nvSpPr>
        <p:spPr>
          <a:xfrm>
            <a:off x="3310479" y="332486"/>
            <a:ext cx="1200165" cy="633966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003DB57-1F0F-8602-1A3D-159B9B7E1FEE}"/>
              </a:ext>
            </a:extLst>
          </p:cNvPr>
          <p:cNvSpPr txBox="1"/>
          <p:nvPr/>
        </p:nvSpPr>
        <p:spPr>
          <a:xfrm>
            <a:off x="3182415" y="423766"/>
            <a:ext cx="1610682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Open Data 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Stock, Weather ...</a:t>
            </a:r>
            <a:endParaRPr lang="en-US" altLang="zh-TW" sz="1200" u="none" strike="noStrike" dirty="0">
              <a:effectLst/>
            </a:endParaRP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02643EBF-5FF2-E72A-9330-D584FB13C6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4171" y="145611"/>
            <a:ext cx="480102" cy="533446"/>
          </a:xfrm>
          <a:prstGeom prst="rect">
            <a:avLst/>
          </a:prstGeom>
          <a:effectLst>
            <a:glow rad="25400">
              <a:schemeClr val="accent2">
                <a:lumMod val="20000"/>
                <a:lumOff val="80000"/>
                <a:alpha val="2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218381" y="1124744"/>
            <a:ext cx="85689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AI Model Format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Training Framework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Clarify some terminology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183658"/>
              </p:ext>
            </p:extLst>
          </p:nvPr>
        </p:nvGraphicFramePr>
        <p:xfrm>
          <a:off x="351199" y="2708920"/>
          <a:ext cx="6957105" cy="3088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142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3756297982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AnythingLLM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弧形 3">
            <a:extLst>
              <a:ext uri="{FF2B5EF4-FFF2-40B4-BE49-F238E27FC236}">
                <a16:creationId xmlns:a16="http://schemas.microsoft.com/office/drawing/2014/main" id="{93287DC2-DA04-D695-F422-FDB7BB72DE67}"/>
              </a:ext>
            </a:extLst>
          </p:cNvPr>
          <p:cNvSpPr/>
          <p:nvPr/>
        </p:nvSpPr>
        <p:spPr>
          <a:xfrm>
            <a:off x="1050655" y="2869831"/>
            <a:ext cx="2055103" cy="2096591"/>
          </a:xfrm>
          <a:prstGeom prst="arc">
            <a:avLst>
              <a:gd name="adj1" fmla="val 16400852"/>
              <a:gd name="adj2" fmla="val 12348078"/>
            </a:avLst>
          </a:prstGeom>
          <a:solidFill>
            <a:schemeClr val="accent1">
              <a:lumMod val="20000"/>
              <a:lumOff val="80000"/>
              <a:alpha val="40000"/>
            </a:schemeClr>
          </a:solidFill>
          <a:ln w="25400">
            <a:solidFill>
              <a:schemeClr val="accent1">
                <a:lumMod val="40000"/>
                <a:lumOff val="60000"/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lIns="1097280" tIns="0" rIns="0" bIns="91440" rtlCol="0" anchor="b" anchorCtr="1"/>
          <a:lstStyle/>
          <a:p>
            <a:pPr algn="ctr"/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4" name="雲朵形 23">
            <a:extLst>
              <a:ext uri="{FF2B5EF4-FFF2-40B4-BE49-F238E27FC236}">
                <a16:creationId xmlns:a16="http://schemas.microsoft.com/office/drawing/2014/main" id="{A2450BE4-C96A-0E60-C30C-CAC65E95D7BE}"/>
              </a:ext>
            </a:extLst>
          </p:cNvPr>
          <p:cNvSpPr/>
          <p:nvPr/>
        </p:nvSpPr>
        <p:spPr>
          <a:xfrm>
            <a:off x="873775" y="2755997"/>
            <a:ext cx="1400005" cy="8185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F2D1C961-4E28-F296-9539-2C5F5E7AC30E}"/>
              </a:ext>
            </a:extLst>
          </p:cNvPr>
          <p:cNvSpPr txBox="1"/>
          <p:nvPr/>
        </p:nvSpPr>
        <p:spPr>
          <a:xfrm>
            <a:off x="218381" y="1124744"/>
            <a:ext cx="856895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Considerations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Ultra-Low Latency: </a:t>
            </a:r>
            <a:r>
              <a:rPr lang="en-US" altLang="zh-TW" sz="1600" dirty="0">
                <a:solidFill>
                  <a:prstClr val="black"/>
                </a:solidFill>
              </a:rPr>
              <a:t>Real-time decision-making.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Enhanced Data Privacy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Business security or regulations.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Data Gravity: </a:t>
            </a:r>
            <a:r>
              <a:rPr lang="en-US" altLang="zh-TW" sz="1600" dirty="0">
                <a:solidFill>
                  <a:prstClr val="black"/>
                </a:solidFill>
              </a:rPr>
              <a:t>Applications move forward to data makes lower cost. 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E3F7584-0AE7-4BD1-9075-F3E554300E9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Trends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cloud service to edge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5751DDB-B860-1672-0DF1-16AB4FF404FC}"/>
              </a:ext>
            </a:extLst>
          </p:cNvPr>
          <p:cNvSpPr txBox="1"/>
          <p:nvPr/>
        </p:nvSpPr>
        <p:spPr>
          <a:xfrm>
            <a:off x="1799741" y="429151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Edge AI</a:t>
            </a: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739BFD83-E302-63D0-BBF7-C1B75A1332F1}"/>
              </a:ext>
            </a:extLst>
          </p:cNvPr>
          <p:cNvCxnSpPr>
            <a:cxnSpLocks/>
            <a:stCxn id="36" idx="2"/>
            <a:endCxn id="8" idx="0"/>
          </p:cNvCxnSpPr>
          <p:nvPr/>
        </p:nvCxnSpPr>
        <p:spPr>
          <a:xfrm>
            <a:off x="1502483" y="3310240"/>
            <a:ext cx="809578" cy="981277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B47FD78C-1D85-5ACB-D30D-99945D9AA03E}"/>
              </a:ext>
            </a:extLst>
          </p:cNvPr>
          <p:cNvSpPr txBox="1"/>
          <p:nvPr/>
        </p:nvSpPr>
        <p:spPr>
          <a:xfrm>
            <a:off x="2815971" y="3193648"/>
            <a:ext cx="1195691" cy="548640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Client AI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Chat robots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LangGraph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Dify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381DA9F-7B36-5F29-C52E-28C317E29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014647"/>
              </p:ext>
            </p:extLst>
          </p:nvPr>
        </p:nvGraphicFramePr>
        <p:xfrm>
          <a:off x="1800606" y="4723565"/>
          <a:ext cx="2195330" cy="1291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Enterprise private server for data processing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4519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PC/NB, cellphone, wearables, car could inference by offline AI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7F35C6A6-D95D-574A-7D2E-26A43FD04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416023"/>
              </p:ext>
            </p:extLst>
          </p:nvPr>
        </p:nvGraphicFramePr>
        <p:xfrm>
          <a:off x="690419" y="3568034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AWS/MS Azure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350B296D-38F2-A2B6-139A-924E0DFA5FDB}"/>
              </a:ext>
            </a:extLst>
          </p:cNvPr>
          <p:cNvSpPr txBox="1"/>
          <p:nvPr/>
        </p:nvSpPr>
        <p:spPr>
          <a:xfrm>
            <a:off x="990163" y="2940908"/>
            <a:ext cx="1024639" cy="369332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 AI</a:t>
            </a:r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016880E8-FD26-EA78-5E86-F0A6F20802E7}"/>
              </a:ext>
            </a:extLst>
          </p:cNvPr>
          <p:cNvGrpSpPr/>
          <p:nvPr/>
        </p:nvGrpSpPr>
        <p:grpSpPr>
          <a:xfrm>
            <a:off x="4427984" y="4288274"/>
            <a:ext cx="4104456" cy="1397427"/>
            <a:chOff x="4427984" y="5174286"/>
            <a:chExt cx="4104456" cy="1397427"/>
          </a:xfrm>
        </p:grpSpPr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A5F76A86-5F43-1EBC-56D3-3CA8E8450047}"/>
                </a:ext>
              </a:extLst>
            </p:cNvPr>
            <p:cNvSpPr txBox="1"/>
            <p:nvPr/>
          </p:nvSpPr>
          <p:spPr>
            <a:xfrm>
              <a:off x="4427984" y="5174286"/>
              <a:ext cx="1188092" cy="756316"/>
            </a:xfrm>
            <a:prstGeom prst="rect">
              <a:avLst/>
            </a:prstGeom>
            <a:solidFill>
              <a:schemeClr val="tx2">
                <a:lumMod val="20000"/>
                <a:lumOff val="8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5">
                      <a:lumMod val="75000"/>
                    </a:schemeClr>
                  </a:solidFill>
                  <a:effectLst/>
                </a:rPr>
                <a:t>LLM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Foundation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(Reasoning)</a:t>
              </a:r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549B6BB7-EEAE-D29A-5D19-C4E1927BF87E}"/>
                </a:ext>
              </a:extLst>
            </p:cNvPr>
            <p:cNvSpPr txBox="1"/>
            <p:nvPr/>
          </p:nvSpPr>
          <p:spPr>
            <a:xfrm>
              <a:off x="5878106" y="5174286"/>
              <a:ext cx="1188092" cy="756316"/>
            </a:xfrm>
            <a:prstGeom prst="rect">
              <a:avLst/>
            </a:prstGeom>
            <a:solidFill>
              <a:schemeClr val="accent3">
                <a:lumMod val="60000"/>
                <a:lumOff val="4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3">
                      <a:lumMod val="50000"/>
                    </a:schemeClr>
                  </a:solidFill>
                  <a:effectLst/>
                </a:rPr>
                <a:t>RAG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Knowledge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(Anti-hallucination)</a:t>
              </a: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B44283F5-0EAA-1282-E70B-A5A5BD30B2BB}"/>
                </a:ext>
              </a:extLst>
            </p:cNvPr>
            <p:cNvSpPr txBox="1"/>
            <p:nvPr/>
          </p:nvSpPr>
          <p:spPr>
            <a:xfrm>
              <a:off x="7344348" y="5174286"/>
              <a:ext cx="1188092" cy="756316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4">
                      <a:lumMod val="75000"/>
                    </a:schemeClr>
                  </a:solidFill>
                  <a:effectLst/>
                </a:rPr>
                <a:t>MCP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Action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(External tools)</a:t>
              </a:r>
            </a:p>
          </p:txBody>
        </p:sp>
        <p:cxnSp>
          <p:nvCxnSpPr>
            <p:cNvPr id="37" name="直線單箭頭接點 36">
              <a:extLst>
                <a:ext uri="{FF2B5EF4-FFF2-40B4-BE49-F238E27FC236}">
                  <a16:creationId xmlns:a16="http://schemas.microsoft.com/office/drawing/2014/main" id="{0D1F6744-9ED5-9649-0B12-25E6334C3F53}"/>
                </a:ext>
              </a:extLst>
            </p:cNvPr>
            <p:cNvCxnSpPr>
              <a:cxnSpLocks/>
              <a:stCxn id="28" idx="3"/>
              <a:endCxn id="33" idx="1"/>
            </p:cNvCxnSpPr>
            <p:nvPr/>
          </p:nvCxnSpPr>
          <p:spPr>
            <a:xfrm>
              <a:off x="5616076" y="5552444"/>
              <a:ext cx="26203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20588D8B-8517-475C-227C-2B8DF7A4026D}"/>
                </a:ext>
              </a:extLst>
            </p:cNvPr>
            <p:cNvCxnSpPr>
              <a:cxnSpLocks/>
              <a:stCxn id="33" idx="3"/>
              <a:endCxn id="35" idx="1"/>
            </p:cNvCxnSpPr>
            <p:nvPr/>
          </p:nvCxnSpPr>
          <p:spPr>
            <a:xfrm>
              <a:off x="7066198" y="5552444"/>
              <a:ext cx="27815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標題 1">
              <a:extLst>
                <a:ext uri="{FF2B5EF4-FFF2-40B4-BE49-F238E27FC236}">
                  <a16:creationId xmlns:a16="http://schemas.microsoft.com/office/drawing/2014/main" id="{B019CEDD-FF6F-48AF-98DA-0C6C30CB0755}"/>
                </a:ext>
              </a:extLst>
            </p:cNvPr>
            <p:cNvSpPr txBox="1">
              <a:spLocks/>
            </p:cNvSpPr>
            <p:nvPr/>
          </p:nvSpPr>
          <p:spPr>
            <a:xfrm>
              <a:off x="4427984" y="6045806"/>
              <a:ext cx="3168352" cy="525907"/>
            </a:xfrm>
            <a:prstGeom prst="rect">
              <a:avLst/>
            </a:prstGeom>
          </p:spPr>
          <p:txBody>
            <a:bodyPr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The 3-Layer Architecture for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Building Smarter, More Reliable AI Agents.</a:t>
              </a:r>
              <a:endPara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endParaRPr>
            </a:p>
          </p:txBody>
        </p:sp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458F7AA-EE06-5C6B-B354-A8D2D27F265E}"/>
              </a:ext>
            </a:extLst>
          </p:cNvPr>
          <p:cNvSpPr txBox="1"/>
          <p:nvPr/>
        </p:nvSpPr>
        <p:spPr>
          <a:xfrm>
            <a:off x="4676026" y="2692506"/>
            <a:ext cx="377755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ML Operations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Automates and standardizes the lifecycle of ML models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Core Components of the Lifecycle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Data Management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Training &amp; Experimentation: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CI/CD: </a:t>
            </a: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Continuous Integration/ Delivery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Monitoring &amp; Governance: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3510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Parameter Efficient Fine Tunning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PEFT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/>
              <a:t>Prompt </a:t>
            </a:r>
            <a:r>
              <a:rPr lang="en-US" altLang="zh-TW" sz="1600" b="1" dirty="0"/>
              <a:t>Tuning:</a:t>
            </a:r>
            <a:r>
              <a:rPr lang="en-US" altLang="zh-TW" sz="1600" dirty="0"/>
              <a:t> Learning tool (e.g., like loss function and optimizer).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B03788A-50E8-32DC-8B6B-DDBA58ACD7D0}"/>
              </a:ext>
            </a:extLst>
          </p:cNvPr>
          <p:cNvSpPr txBox="1"/>
          <p:nvPr/>
        </p:nvSpPr>
        <p:spPr>
          <a:xfrm>
            <a:off x="213023" y="2996952"/>
            <a:ext cx="8568952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u="none" strike="noStrike" dirty="0">
                <a:effectLst/>
              </a:rPr>
              <a:t>Main Types of ML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Unsupervised</a:t>
            </a:r>
            <a:r>
              <a:rPr lang="en-US" altLang="zh-TW" sz="1600" b="0" u="none" strike="noStrike" dirty="0">
                <a:effectLst/>
              </a:rPr>
              <a:t>: Data is unlabeled, no pre-defined answers provided.</a:t>
            </a:r>
          </a:p>
          <a:p>
            <a:pPr marL="742950" lvl="1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/>
              <a:t>Reduction: PCA, t-SNE and UMAP.</a:t>
            </a:r>
          </a:p>
          <a:p>
            <a:pPr marL="742950" lvl="1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/>
              <a:t>Clustering: K-mean and GMM. 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Supervised</a:t>
            </a:r>
            <a:r>
              <a:rPr lang="en-US" altLang="zh-TW" sz="1600" dirty="0"/>
              <a:t>: Data is labeled, comes with the correct answers.</a:t>
            </a:r>
          </a:p>
          <a:p>
            <a:pPr marL="742950" lvl="1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/>
              <a:t>Semi-Supervised: When labels are expensive.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Medical Imaging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742950" lvl="1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/>
              <a:t>Self-Supervised: When Labels are Plentiful.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GPT-Pretraining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Reinforcement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179512" y="971962"/>
            <a:ext cx="8568952" cy="147732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S</a:t>
            </a:r>
            <a:r>
              <a:rPr lang="en-US" altLang="zh-TW" sz="2000" b="1" u="none" strike="noStrike" dirty="0">
                <a:effectLst/>
              </a:rPr>
              <a:t>LM vs LLM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SLM(The Specialists)</a:t>
            </a:r>
            <a:r>
              <a:rPr lang="en-US" altLang="zh-TW" sz="1600" b="0" u="none" strike="noStrike" dirty="0">
                <a:effectLst/>
              </a:rPr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LLM (The Generalists)</a:t>
            </a:r>
            <a:r>
              <a:rPr lang="en-US" altLang="zh-TW" sz="1600" dirty="0"/>
              <a:t>: 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-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4308689"/>
              </p:ext>
            </p:extLst>
          </p:nvPr>
        </p:nvGraphicFramePr>
        <p:xfrm>
          <a:off x="351199" y="278092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75A6AA55-396E-4357-7D46-8E6D0A5F803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Overview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8568952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9174800"/>
              </p:ext>
            </p:extLst>
          </p:nvPr>
        </p:nvGraphicFramePr>
        <p:xfrm>
          <a:off x="351199" y="422108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B412F-F717-D1EC-5B0B-39785D3D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B154D0B0-A012-FFE2-DEEF-581261754A22}"/>
              </a:ext>
            </a:extLst>
          </p:cNvPr>
          <p:cNvSpPr/>
          <p:nvPr/>
        </p:nvSpPr>
        <p:spPr>
          <a:xfrm>
            <a:off x="5236384" y="3015780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B44238F-2DC9-5FA9-584F-4533B0CABD7E}"/>
              </a:ext>
            </a:extLst>
          </p:cNvPr>
          <p:cNvSpPr/>
          <p:nvPr/>
        </p:nvSpPr>
        <p:spPr>
          <a:xfrm>
            <a:off x="5236650" y="2024726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52DF09C-7533-45DB-660C-A8780AFB42C0}"/>
              </a:ext>
            </a:extLst>
          </p:cNvPr>
          <p:cNvSpPr/>
          <p:nvPr/>
        </p:nvSpPr>
        <p:spPr>
          <a:xfrm>
            <a:off x="934674" y="5938621"/>
            <a:ext cx="1152128" cy="425944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accent1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Embedding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F717D9E-49DD-2DF8-CCAA-FAC8D83212F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Architecture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B4CF8F-ADD7-749F-F88E-30C143A060E6}"/>
              </a:ext>
            </a:extLst>
          </p:cNvPr>
          <p:cNvSpPr/>
          <p:nvPr/>
        </p:nvSpPr>
        <p:spPr>
          <a:xfrm>
            <a:off x="243254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506C56-61B8-5016-4607-0FD7296D2DCA}"/>
              </a:ext>
            </a:extLst>
          </p:cNvPr>
          <p:cNvSpPr/>
          <p:nvPr/>
        </p:nvSpPr>
        <p:spPr>
          <a:xfrm>
            <a:off x="4294261" y="5637736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C08E9BC-5B6C-7908-7A50-E33D930F12DC}"/>
              </a:ext>
            </a:extLst>
          </p:cNvPr>
          <p:cNvSpPr/>
          <p:nvPr/>
        </p:nvSpPr>
        <p:spPr>
          <a:xfrm>
            <a:off x="4932040" y="5637737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3" name="左右中括弧 32">
            <a:extLst>
              <a:ext uri="{FF2B5EF4-FFF2-40B4-BE49-F238E27FC236}">
                <a16:creationId xmlns:a16="http://schemas.microsoft.com/office/drawing/2014/main" id="{42E18961-4B5B-FC8A-9271-806682CB96B8}"/>
              </a:ext>
            </a:extLst>
          </p:cNvPr>
          <p:cNvSpPr/>
          <p:nvPr/>
        </p:nvSpPr>
        <p:spPr>
          <a:xfrm>
            <a:off x="4197966" y="563773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左右中括弧 34">
            <a:extLst>
              <a:ext uri="{FF2B5EF4-FFF2-40B4-BE49-F238E27FC236}">
                <a16:creationId xmlns:a16="http://schemas.microsoft.com/office/drawing/2014/main" id="{7DB31623-6821-547C-AA7C-B0681736BBD2}"/>
              </a:ext>
            </a:extLst>
          </p:cNvPr>
          <p:cNvSpPr/>
          <p:nvPr/>
        </p:nvSpPr>
        <p:spPr>
          <a:xfrm>
            <a:off x="4837027" y="564301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504929F-03B8-06AA-32AF-AFCF77AE7069}"/>
              </a:ext>
            </a:extLst>
          </p:cNvPr>
          <p:cNvSpPr/>
          <p:nvPr/>
        </p:nvSpPr>
        <p:spPr>
          <a:xfrm>
            <a:off x="2354191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Multimodal 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33BE6F5-3EED-E1FB-33FD-61B2D5004C98}"/>
              </a:ext>
            </a:extLst>
          </p:cNvPr>
          <p:cNvSpPr/>
          <p:nvPr/>
        </p:nvSpPr>
        <p:spPr>
          <a:xfrm>
            <a:off x="5334681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2DEAEBD-C019-403B-289D-A6622F3E7FFD}"/>
              </a:ext>
            </a:extLst>
          </p:cNvPr>
          <p:cNvSpPr/>
          <p:nvPr/>
        </p:nvSpPr>
        <p:spPr>
          <a:xfrm>
            <a:off x="5910745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9856AD-0FAE-A713-FA44-C50A6566D00C}"/>
              </a:ext>
            </a:extLst>
          </p:cNvPr>
          <p:cNvSpPr/>
          <p:nvPr/>
        </p:nvSpPr>
        <p:spPr>
          <a:xfrm>
            <a:off x="6486809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6" name="右中括弧 15">
            <a:extLst>
              <a:ext uri="{FF2B5EF4-FFF2-40B4-BE49-F238E27FC236}">
                <a16:creationId xmlns:a16="http://schemas.microsoft.com/office/drawing/2014/main" id="{95E6BF77-2E61-8EC4-CBD0-EC6D36CA4F66}"/>
              </a:ext>
            </a:extLst>
          </p:cNvPr>
          <p:cNvSpPr/>
          <p:nvPr/>
        </p:nvSpPr>
        <p:spPr>
          <a:xfrm>
            <a:off x="7206889" y="2024726"/>
            <a:ext cx="45719" cy="612186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7329472-7D7F-C2B8-2D65-200565BBFC38}"/>
              </a:ext>
            </a:extLst>
          </p:cNvPr>
          <p:cNvSpPr txBox="1"/>
          <p:nvPr/>
        </p:nvSpPr>
        <p:spPr>
          <a:xfrm>
            <a:off x="7133147" y="2276753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  <p:sp>
        <p:nvSpPr>
          <p:cNvPr id="18" name="右中括弧 17">
            <a:extLst>
              <a:ext uri="{FF2B5EF4-FFF2-40B4-BE49-F238E27FC236}">
                <a16:creationId xmlns:a16="http://schemas.microsoft.com/office/drawing/2014/main" id="{7362D288-3BCB-CABC-83B0-3C13F34344AF}"/>
              </a:ext>
            </a:extLst>
          </p:cNvPr>
          <p:cNvSpPr/>
          <p:nvPr/>
        </p:nvSpPr>
        <p:spPr>
          <a:xfrm>
            <a:off x="7206889" y="3032956"/>
            <a:ext cx="45719" cy="2246421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A26E87E-7C29-6F00-FBCD-E71644C90FAD}"/>
              </a:ext>
            </a:extLst>
          </p:cNvPr>
          <p:cNvSpPr txBox="1"/>
          <p:nvPr/>
        </p:nvSpPr>
        <p:spPr>
          <a:xfrm>
            <a:off x="7133147" y="4005064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Decoder</a:t>
            </a:r>
            <a:endParaRPr lang="zh-TW" altLang="en-US" sz="1200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B90CFA3-C618-D7BB-6CC6-0F59509E57D2}"/>
              </a:ext>
            </a:extLst>
          </p:cNvPr>
          <p:cNvSpPr/>
          <p:nvPr/>
        </p:nvSpPr>
        <p:spPr>
          <a:xfrm>
            <a:off x="5236384" y="3761040"/>
            <a:ext cx="1826222" cy="142840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2F468A7-1820-9A81-4393-E17EDDD2F8CC}"/>
              </a:ext>
            </a:extLst>
          </p:cNvPr>
          <p:cNvSpPr/>
          <p:nvPr/>
        </p:nvSpPr>
        <p:spPr>
          <a:xfrm>
            <a:off x="5622713" y="3879758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Multi-Head</a:t>
            </a:r>
          </a:p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Attention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466C18A-8DBF-C0B5-D0AA-F4A8778DADD0}"/>
              </a:ext>
            </a:extLst>
          </p:cNvPr>
          <p:cNvSpPr/>
          <p:nvPr/>
        </p:nvSpPr>
        <p:spPr>
          <a:xfrm>
            <a:off x="5622713" y="4475470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FFN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DE3C5BA-B285-945D-3883-425368E5B507}"/>
              </a:ext>
            </a:extLst>
          </p:cNvPr>
          <p:cNvSpPr/>
          <p:nvPr/>
        </p:nvSpPr>
        <p:spPr>
          <a:xfrm>
            <a:off x="5622713" y="5398873"/>
            <a:ext cx="1152128" cy="19036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Linear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139155D-0E18-F31A-4BD0-2ACDA46C5655}"/>
              </a:ext>
            </a:extLst>
          </p:cNvPr>
          <p:cNvSpPr/>
          <p:nvPr/>
        </p:nvSpPr>
        <p:spPr>
          <a:xfrm>
            <a:off x="5619054" y="3236095"/>
            <a:ext cx="1152128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TE + PE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9B0BC2E-8926-89A3-5C06-95AACD85563D}"/>
              </a:ext>
            </a:extLst>
          </p:cNvPr>
          <p:cNvSpPr/>
          <p:nvPr/>
        </p:nvSpPr>
        <p:spPr>
          <a:xfrm>
            <a:off x="5910478" y="2227983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10313E0-E91F-DA74-7004-459B37469F28}"/>
              </a:ext>
            </a:extLst>
          </p:cNvPr>
          <p:cNvSpPr/>
          <p:nvPr/>
        </p:nvSpPr>
        <p:spPr>
          <a:xfrm>
            <a:off x="533015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Sub-word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65C46A5-FA75-B980-D193-F7FFDDFB7C08}"/>
              </a:ext>
            </a:extLst>
          </p:cNvPr>
          <p:cNvSpPr/>
          <p:nvPr/>
        </p:nvSpPr>
        <p:spPr>
          <a:xfrm>
            <a:off x="591074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Visual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60727C0-C806-4AD6-A445-AA466FB2249F}"/>
              </a:ext>
            </a:extLst>
          </p:cNvPr>
          <p:cNvSpPr/>
          <p:nvPr/>
        </p:nvSpPr>
        <p:spPr>
          <a:xfrm>
            <a:off x="6486809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Audio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pic>
        <p:nvPicPr>
          <p:cNvPr id="42" name="圖片 41">
            <a:extLst>
              <a:ext uri="{FF2B5EF4-FFF2-40B4-BE49-F238E27FC236}">
                <a16:creationId xmlns:a16="http://schemas.microsoft.com/office/drawing/2014/main" id="{1728A9D2-9290-72CA-E53C-590A14723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083152"/>
            <a:ext cx="1290487" cy="64524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7DDD8DD2-093E-6E40-6CD2-B34CA8E5C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27" y="1052752"/>
            <a:ext cx="2019582" cy="72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4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28B88-7AA3-B71D-342A-4048CF7AF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2208750D-5CFB-BEE0-D169-AA0C5A786D8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Highlight 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20B217B1-5667-2E9A-3BCD-BE93A5D7FA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0241474"/>
              </p:ext>
            </p:extLst>
          </p:nvPr>
        </p:nvGraphicFramePr>
        <p:xfrm>
          <a:off x="6223642" y="2843644"/>
          <a:ext cx="2380806" cy="258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40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190403">
                  <a:extLst>
                    <a:ext uri="{9D8B030D-6E8A-4147-A177-3AD203B41FA5}">
                      <a16:colId xmlns:a16="http://schemas.microsoft.com/office/drawing/2014/main" val="88639405"/>
                    </a:ext>
                  </a:extLst>
                </a:gridCol>
              </a:tblGrid>
              <a:tr h="46365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Service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1505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(70~400B)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(3~14B)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41505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Local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1505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Business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Weight</a:t>
                      </a:r>
                      <a:endParaRPr kumimoji="0" lang="zh-TW" altLang="en-US" sz="14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41505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GPU/TPU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4057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24GB VRAM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RTX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4090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2400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1A7D37EB-7260-5EE5-CFCC-9F3D3BBA2B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Overview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CFAA0BB-7779-DF55-C2B5-6A404772F154}"/>
              </a:ext>
            </a:extLst>
          </p:cNvPr>
          <p:cNvSpPr txBox="1"/>
          <p:nvPr/>
        </p:nvSpPr>
        <p:spPr>
          <a:xfrm>
            <a:off x="7380312" y="116632"/>
            <a:ext cx="1694681" cy="1172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Alignment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Cloud vs Edge</a:t>
            </a:r>
            <a:endParaRPr lang="en-US" altLang="zh-TW" sz="1400" u="none" strike="noStrike" dirty="0">
              <a:effectLst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BD65641-EFAA-0505-2571-9011F9849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3543300"/>
              </p:ext>
            </p:extLst>
          </p:nvPr>
        </p:nvGraphicFramePr>
        <p:xfrm>
          <a:off x="6228184" y="2678857"/>
          <a:ext cx="130484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Microsoft Phi-3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Gemma 4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 3 (8B)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(7B)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315238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3276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Architecture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3765916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5783486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1835696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C0F3DE-B1B4-8C50-8B97-912A51BD1BE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Major Language Model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E8F0321-BB20-5A24-32C5-E1393817D4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1548174"/>
              </p:ext>
            </p:extLst>
          </p:nvPr>
        </p:nvGraphicFramePr>
        <p:xfrm>
          <a:off x="358814" y="430767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B063E60F-441C-61BB-27AB-426AD238E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298908"/>
              </p:ext>
            </p:extLst>
          </p:nvPr>
        </p:nvGraphicFramePr>
        <p:xfrm>
          <a:off x="358814" y="1967536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Weight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3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8k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6" name="橢圓 5">
            <a:extLst>
              <a:ext uri="{FF2B5EF4-FFF2-40B4-BE49-F238E27FC236}">
                <a16:creationId xmlns:a16="http://schemas.microsoft.com/office/drawing/2014/main" id="{8DCCBD18-7E95-64E0-3204-2B78F017F889}"/>
              </a:ext>
            </a:extLst>
          </p:cNvPr>
          <p:cNvSpPr/>
          <p:nvPr/>
        </p:nvSpPr>
        <p:spPr>
          <a:xfrm>
            <a:off x="6615723" y="279091"/>
            <a:ext cx="1432934" cy="1169807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127000">
            <a:gradFill flip="none"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Open Weight</a:t>
            </a:r>
          </a:p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LM</a:t>
            </a:r>
            <a:endParaRPr lang="en-US" altLang="zh-TW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432DA9AE-4DCE-1D0B-A5CB-F79D15A41C1A}"/>
              </a:ext>
            </a:extLst>
          </p:cNvPr>
          <p:cNvSpPr/>
          <p:nvPr/>
        </p:nvSpPr>
        <p:spPr>
          <a:xfrm>
            <a:off x="4949403" y="-33520"/>
            <a:ext cx="1432934" cy="1169807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127000">
            <a:gradFill flip="none"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Enterprise</a:t>
            </a:r>
            <a:endParaRPr lang="en-US" altLang="zh-TW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C8D12BED-4A36-4654-883D-0A29302ADDD7}"/>
              </a:ext>
            </a:extLst>
          </p:cNvPr>
          <p:cNvSpPr/>
          <p:nvPr/>
        </p:nvSpPr>
        <p:spPr>
          <a:xfrm>
            <a:off x="3766163" y="503955"/>
            <a:ext cx="1432934" cy="1169807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127000">
            <a:gradFill flip="none"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Cloud</a:t>
            </a:r>
          </a:p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Service</a:t>
            </a:r>
            <a:endParaRPr lang="en-US" altLang="zh-TW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1936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9E473-6DBC-0D95-99F6-04C1BA5F0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F6D11C78-59E3-E29B-C2FB-1572B1992911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ONNX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Open Neural Network Exchange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CC50474-2758-4C00-ACF9-D8281BE1153D}"/>
              </a:ext>
            </a:extLst>
          </p:cNvPr>
          <p:cNvSpPr txBox="1"/>
          <p:nvPr/>
        </p:nvSpPr>
        <p:spPr>
          <a:xfrm>
            <a:off x="179512" y="971962"/>
            <a:ext cx="8568952" cy="147732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S</a:t>
            </a:r>
            <a:r>
              <a:rPr lang="en-US" altLang="zh-TW" sz="2000" b="1" u="none" strike="noStrike" dirty="0">
                <a:effectLst/>
              </a:rPr>
              <a:t>LM vs LLM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SLM(The Specialists)</a:t>
            </a:r>
            <a:r>
              <a:rPr lang="en-US" altLang="zh-TW" sz="1600" b="0" u="none" strike="noStrike" dirty="0">
                <a:effectLst/>
              </a:rPr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LLM (The Generalists)</a:t>
            </a:r>
            <a:r>
              <a:rPr lang="en-US" altLang="zh-TW" sz="1600" dirty="0"/>
              <a:t>: 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-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C7585AD-F732-1C89-A102-239541D9086A}"/>
              </a:ext>
            </a:extLst>
          </p:cNvPr>
          <p:cNvGraphicFramePr>
            <a:graphicFrameLocks noGrp="1"/>
          </p:cNvGraphicFramePr>
          <p:nvPr/>
        </p:nvGraphicFramePr>
        <p:xfrm>
          <a:off x="351199" y="278092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3059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BFFF3F94-99FF-E886-80E6-CCDB0AE53A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06766"/>
            <a:ext cx="9144000" cy="4644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667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DCF87D-D8A6-48A4-23C9-ED219CAE6D6A}"/>
              </a:ext>
            </a:extLst>
          </p:cNvPr>
          <p:cNvSpPr txBox="1">
            <a:spLocks/>
          </p:cNvSpPr>
          <p:nvPr/>
        </p:nvSpPr>
        <p:spPr>
          <a:xfrm>
            <a:off x="-8612" y="80510"/>
            <a:ext cx="7748963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1800" dirty="0">
                <a:latin typeface="Arial" panose="020B0604020202020204" pitchFamily="34" charset="0"/>
                <a:cs typeface="Arial" panose="020B0604020202020204" pitchFamily="34" charset="0"/>
              </a:rPr>
              <a:t>The Role of Hardware: Cloud Chip</a:t>
            </a:r>
          </a:p>
          <a:p>
            <a:r>
              <a:rPr lang="en-US" altLang="zh-TW" sz="12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38D2052-20CE-5307-D375-69FD3BA4E10D}"/>
              </a:ext>
            </a:extLst>
          </p:cNvPr>
          <p:cNvSpPr txBox="1"/>
          <p:nvPr/>
        </p:nvSpPr>
        <p:spPr>
          <a:xfrm>
            <a:off x="179512" y="1700808"/>
            <a:ext cx="460057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🧱 一、 雲端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晶片的硬體製造成本（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BOM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結構）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以最普及的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NVIDIA H100 (SXM5)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 晶片為基準，其硬體材料與封裝的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總生產成本約為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3,320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美元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。然而，因為市場極度供不應求與技術壟斷，其終端售價高達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28,000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至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35,000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美元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，這意味著晶片擁有高達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85% - 88%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的超高毛利率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。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7E885B6-DCC5-34B7-750B-0CDBA361DF3B}"/>
              </a:ext>
            </a:extLst>
          </p:cNvPr>
          <p:cNvSpPr txBox="1"/>
          <p:nvPr/>
        </p:nvSpPr>
        <p:spPr>
          <a:xfrm>
            <a:off x="160884" y="2982021"/>
            <a:ext cx="4600574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NVIDIA H100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晶片製造成本拆解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$3,320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美元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├─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邏輯晶粒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(Logic Die: TSMC 4N)  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$300 ( 9% 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├─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高頻寬記憶體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(HBM3, 80GB)     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$1,350 ( 41% 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├─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先進封裝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(TSMC CoWoS-S)        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$750 ( 22% 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└─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測試、載板與其餘組裝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(Test/Assy)──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$920 ( 28% )</a:t>
            </a:r>
            <a:endParaRPr lang="zh-TW" alt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7B76D4F8-3568-DF11-A00E-AE47760032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512" y="4089433"/>
            <a:ext cx="6120680" cy="22006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高頻寬記憶體（HBM）成為第一大成本怪獸 (佔比約 40% - 50%)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</a:b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雲端大模型（LLM）的運算瓶頸在於記憶體傳輸速度（稱為「記憶體牆」）。因此雲端晶片必須外掛 6 到 8 顆極其昂貴的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HBM3 或 HBM3E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光是這些記憶體組件，在晶片 BOM 表中就佔據了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1,000 ~ 1,500 美元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（下一代 B300 晶片搭載 288GB HBM3E 成本將更驚人）。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台積電先進封裝（CoWoS）是核心門檻 (佔比約 20% - 25%)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</a:b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要把龐大的邏輯主晶片（Logic Die）跟數顆 HBM 像蓋大樓一樣緊密接合，傳統封裝無法做到，必須使用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  <a:hlinkClick r:id="rId4"/>
              </a:rPr>
              <a:t>台積電的 CoWoS 先進封裝技術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這層「中介層（Interposer）」與先進封裝的成本每顆就高達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500 ~ 1,500 美元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最核心的邏輯主晶片，成本占比反而最低 (佔比約 10%)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</a:b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負責算力的核心 Logic Die，雖然採用了台積電最頂尖的 4nm 或 3nm 等極紫外光（EUV）製程，但如果單純計算從 12 吋矽晶圓上切下來的「裸晶（Die）」成本，在良率穩定的情況下，單顆成本其實僅約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250 ~ 350 美元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 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22DAA9F-422D-5F46-A460-4C5974302240}"/>
              </a:ext>
            </a:extLst>
          </p:cNvPr>
          <p:cNvSpPr txBox="1"/>
          <p:nvPr/>
        </p:nvSpPr>
        <p:spPr>
          <a:xfrm>
            <a:off x="160884" y="451578"/>
            <a:ext cx="4600574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雲端人工智慧晶片（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Cloud AI Chip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，如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NVIDIA H100 / B200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AMD MI300X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Google TPU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）的設計核心是「不惜一切代價追求極致算力與記憶體頻寬」。與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Edge 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晶片斤斤計較於幾美元的低成本不同，雲端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晶片屬於動輒數千甚至數萬美元的晶片巨獸。根據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Silicon Analysts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最新產業研究與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Epoch 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的數據，雲端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晶片的硬體製造成本（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BOM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）與整體結構分析如下：</a:t>
            </a:r>
          </a:p>
        </p:txBody>
      </p:sp>
    </p:spTree>
    <p:extLst>
      <p:ext uri="{BB962C8B-B14F-4D97-AF65-F5344CB8AC3E}">
        <p14:creationId xmlns:p14="http://schemas.microsoft.com/office/powerpoint/2010/main" val="611033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8F9BCE9E-B799-4EF7-10FE-13770935932E}"/>
              </a:ext>
            </a:extLst>
          </p:cNvPr>
          <p:cNvSpPr txBox="1"/>
          <p:nvPr/>
        </p:nvSpPr>
        <p:spPr>
          <a:xfrm>
            <a:off x="107504" y="980728"/>
            <a:ext cx="8928992" cy="3085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📐 二、 雲端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晶片的三大結構性變化趨勢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進入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2025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2026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年，隨著晶片算力需求邁入「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Blackwell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」與「次世代架構」時代，雲端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晶片的結構正在發生激烈的物理與成本質變：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[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1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]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從「單一晶片（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Monolithic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）」走向「小晶片（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Chiplet / Multi-Die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）」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由於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晶片的面積已經大到逼近曝光機的物理極限（光罩極限，約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858 mm²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），單一塊晶片再做大就會良率暴跌。現在的雲端晶片（如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AMD MI300X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4"/>
              </a:rPr>
              <a:t>NVIDIA Blackwell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）都改用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Chiplet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技術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：把兩塊或多塊較小的邏輯晶片拼在一起，這雖然增加了先進封裝的成本與複雜度，但極大提升了製造良率。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封裝技術從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CoWoS-S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演進至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CoWoS-L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過去使用全矽中介層（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CoWoS-S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）的尺寸受到限制。為了塞入更多的邏輯晶片與更多堆疊的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HBM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，現在產業大量轉向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採用局部矽橋接的有機中介層技術（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CoWoS-L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）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，這能允許晶片封裝面積擴大數倍，支持更龐大的超級晶片架構。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系統級晶片（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System-on-Wafer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）與光子學（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Silicon Photonics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）興起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為了徹底打破傳統銅線傳輸的延遲與功耗，高階雲端晶片開始導入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矽光子技術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，利用光訊號代替電訊號進行晶片間的高速傳輸；更有甚者（如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Cerebras WSE-3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）直接將整塊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12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吋晶圓做成單一顆超巨大晶片。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8599599-67B4-B35F-D446-D9CC83D395EF}"/>
              </a:ext>
            </a:extLst>
          </p:cNvPr>
          <p:cNvSpPr txBox="1"/>
          <p:nvPr/>
        </p:nvSpPr>
        <p:spPr>
          <a:xfrm>
            <a:off x="112862" y="4085238"/>
            <a:ext cx="8923634" cy="2346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💰 三、 超越晶片本身的「隱形研發與系統成本」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買了雲端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晶片並不代表能直接運作，對於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IC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設計公司與資料中心（如微軟、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Google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Meta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）而言，還存在著巨大的結構性成本：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[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5"/>
              </a:rPr>
              <a:t>1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]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天文數字的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NRE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（研發與光罩費用）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開發一款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3nm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級別的雲端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晶片，前期的晶片架構設計、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EDA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軟體授權、光罩（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Mask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）製作，一次投片失敗就是數億美元蒸發。這需要晶片公司有極強的資本支撐，也是為什麼目前全球只有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NVIDIA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AMD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以及少數幾家大型雲端巨頭（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CSPs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）有能力自行研發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ASIC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晶片。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軟體生態系牆（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CUDA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護城河）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雲端晶片極度依賴龐大的分散式運算軟體。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NVIDIA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每年在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CUDA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軟體平台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 上投入的研發工程師與資金不計其數。許多競爭對手的硬體成本雖然較低，但因為軟體編譯器（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Compiler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）無法完美將數千顆晶片串聯進行大型語言模型（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LLM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）的訓練，導致客戶轉向的軟體遷移成本高得難以想像。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737F542-CEC6-E44C-CC42-DEB0C8B20EC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Cloud AI Chip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0996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EEB37-4D02-FA99-CAFE-1AD2F6B60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">
            <a:extLst>
              <a:ext uri="{FF2B5EF4-FFF2-40B4-BE49-F238E27FC236}">
                <a16:creationId xmlns:a16="http://schemas.microsoft.com/office/drawing/2014/main" id="{461DE1F0-FD17-DB02-14FB-430F877684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2876" y="2117974"/>
            <a:ext cx="6984776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一、 Edge AI 晶片的硬體成本結構（BOM 結構）</a:t>
            </a:r>
            <a:endParaRPr kumimoji="0" lang="zh-TW" altLang="zh-TW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Edge AI 晶片通常以 </a:t>
            </a:r>
            <a:r>
              <a:rPr kumimoji="0" lang="zh-TW" altLang="zh-TW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SoC（系統單晶片）</a:t>
            </a: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或 </a:t>
            </a:r>
            <a:r>
              <a:rPr kumimoji="0" lang="zh-TW" altLang="zh-TW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Chiplet（小晶片封裝）</a:t>
            </a: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的形式存在。</a:t>
            </a:r>
            <a:endParaRPr kumimoji="0" lang="en-US" altLang="zh-TW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一顆 Edge AI 晶片的硬體製造總成本，主要由以下四大核心區塊組成： </a:t>
            </a:r>
            <a:endParaRPr kumimoji="0" lang="en-US" altLang="zh-TW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TW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邏輯晶圓（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Logic Die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35% - 45%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記憶體（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Memory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25% - 35%AI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先進封裝與測試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15% - 25%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晶片測試。</a:t>
            </a:r>
            <a:endParaRPr kumimoji="0" lang="en-US" altLang="zh-TW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IP 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授權與權利金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5% - 10%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晶片內部的架構多非全自研。</a:t>
            </a:r>
          </a:p>
        </p:txBody>
      </p:sp>
      <p:sp>
        <p:nvSpPr>
          <p:cNvPr id="33" name="標題 1">
            <a:extLst>
              <a:ext uri="{FF2B5EF4-FFF2-40B4-BE49-F238E27FC236}">
                <a16:creationId xmlns:a16="http://schemas.microsoft.com/office/drawing/2014/main" id="{CDC6BDD2-E286-4042-F93D-BFB1951021E2}"/>
              </a:ext>
            </a:extLst>
          </p:cNvPr>
          <p:cNvSpPr txBox="1">
            <a:spLocks/>
          </p:cNvSpPr>
          <p:nvPr/>
        </p:nvSpPr>
        <p:spPr>
          <a:xfrm>
            <a:off x="0" y="1235650"/>
            <a:ext cx="7748963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1800" dirty="0">
                <a:latin typeface="Arial" panose="020B0604020202020204" pitchFamily="34" charset="0"/>
                <a:cs typeface="Arial" panose="020B0604020202020204" pitchFamily="34" charset="0"/>
              </a:rPr>
              <a:t>The Role of Hardware: Edge Chip</a:t>
            </a:r>
          </a:p>
          <a:p>
            <a:r>
              <a:rPr lang="en-US" altLang="zh-TW" sz="12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9A04C72F-8C65-07AE-FB45-4C8BEDA435F7}"/>
              </a:ext>
            </a:extLst>
          </p:cNvPr>
          <p:cNvSpPr txBox="1"/>
          <p:nvPr/>
        </p:nvSpPr>
        <p:spPr>
          <a:xfrm>
            <a:off x="251518" y="1610287"/>
            <a:ext cx="87849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邊緣人工智慧晶片（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Edge AI Chip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）與雲端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晶片（如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NVIDIA H100 / B200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）在設計哲學上完全不同。雲端追求「極致算力」，而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Edge AI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晶片必須在極低功耗（通常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sub-5W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）、極低延遲以及極其敏感的「低成本」之間取得平衡。</a:t>
            </a:r>
            <a:endParaRPr lang="en-US" altLang="zh-TW" sz="1200" dirty="0">
              <a:latin typeface="Google Sans"/>
              <a:ea typeface="微軟正黑體" panose="020B0604030504040204" pitchFamily="34" charset="-120"/>
            </a:endParaRPr>
          </a:p>
          <a:p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目前在市場上，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Edge AI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晶片的硬體成本結構（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BOM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結構）與整體開發成本分析如下：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DCD4472E-5DCB-1867-755F-D048A2459463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DF56CFFE-8238-C779-C72D-48D71CB6ED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Edeg AI Chip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3B04CC4-B8FA-5538-0EE6-515422051B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235660"/>
              </p:ext>
            </p:extLst>
          </p:nvPr>
        </p:nvGraphicFramePr>
        <p:xfrm>
          <a:off x="351199" y="3407696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6552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extLst>
    <p:ext uri="{6950BFC3-D8DA-4A85-94F7-54DA5524770B}">
      <p188:commentRel xmlns:p188="http://schemas.microsoft.com/office/powerpoint/2018/8/main" r:id="rId3"/>
    </p:ext>
  </p:extLs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D9D150-F62E-C82E-E18D-96661F0595EC}"/>
              </a:ext>
            </a:extLst>
          </p:cNvPr>
          <p:cNvSpPr txBox="1">
            <a:spLocks/>
          </p:cNvSpPr>
          <p:nvPr/>
        </p:nvSpPr>
        <p:spPr>
          <a:xfrm>
            <a:off x="-8612" y="80510"/>
            <a:ext cx="7748963" cy="6798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1800"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r>
              <a:rPr lang="en-US" altLang="zh-TW" sz="1200" dirty="0">
                <a:latin typeface="Arial" panose="020B0604020202020204" pitchFamily="34" charset="0"/>
                <a:cs typeface="Arial" panose="020B0604020202020204" pitchFamily="34" charset="0"/>
              </a:rPr>
              <a:t>Knowledge grounding is useful for reducing hallucinations.</a:t>
            </a:r>
          </a:p>
          <a:p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CBCC476-64C9-2C91-8842-93864C2E3BD1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7686</Words>
  <Application>Microsoft Office PowerPoint</Application>
  <PresentationFormat>如螢幕大小 (4:3)</PresentationFormat>
  <Paragraphs>926</Paragraphs>
  <Slides>24</Slides>
  <Notes>22</Notes>
  <HiddenSlides>0</HiddenSlides>
  <MMClips>0</MMClips>
  <ScaleCrop>false</ScaleCrop>
  <HeadingPairs>
    <vt:vector size="6" baseType="variant">
      <vt:variant>
        <vt:lpstr>使用字型</vt:lpstr>
      </vt:variant>
      <vt:variant>
        <vt:i4>12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24</vt:i4>
      </vt:variant>
    </vt:vector>
  </HeadingPairs>
  <TitlesOfParts>
    <vt:vector size="37" baseType="lpstr">
      <vt:lpstr>Google Sans</vt:lpstr>
      <vt:lpstr>Meiryo</vt:lpstr>
      <vt:lpstr>Microsoft JhengHei UI</vt:lpstr>
      <vt:lpstr>Noto Sans HK</vt:lpstr>
      <vt:lpstr>Noto Sans TC</vt:lpstr>
      <vt:lpstr>微軟正黑體</vt:lpstr>
      <vt:lpstr>ADLaM Display</vt:lpstr>
      <vt:lpstr>Arial</vt:lpstr>
      <vt:lpstr>Calibri</vt:lpstr>
      <vt:lpstr>Comic Sans MS</vt:lpstr>
      <vt:lpstr>Consolas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1601</cp:revision>
  <cp:lastPrinted>2024-07-30T01:44:15Z</cp:lastPrinted>
  <dcterms:created xsi:type="dcterms:W3CDTF">2019-11-08T03:01:47Z</dcterms:created>
  <dcterms:modified xsi:type="dcterms:W3CDTF">2026-06-28T08:31:33Z</dcterms:modified>
</cp:coreProperties>
</file>