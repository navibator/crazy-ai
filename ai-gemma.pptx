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3459" r:id="rId2"/>
    <p:sldId id="3472" r:id="rId3"/>
    <p:sldId id="3526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522" r:id="rId18"/>
    <p:sldId id="257" r:id="rId19"/>
    <p:sldId id="265" r:id="rId20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26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522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B307"/>
    <a:srgbClr val="EAEAEA"/>
    <a:srgbClr val="DFD8E8"/>
    <a:srgbClr val="FF99FF"/>
    <a:srgbClr val="EBE6F0"/>
    <a:srgbClr val="CCFF66"/>
    <a:srgbClr val="CBDCA8"/>
    <a:srgbClr val="FF0000"/>
    <a:srgbClr val="0080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378" y="22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917C-4D70-6475-414F-A7F6D7E95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16150E7-79D9-F597-8A7E-5F858DADF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6616FD-FA3A-4DCF-3433-4918F60C4F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44375-662C-F098-7B49-BC0BFB70AB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4367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230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2026/07/21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Skill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Action: Skill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Wiki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(Knowledge base architecture)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Engine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 Engine)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Unsloth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(Fine-Tunning Example)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851D-74F1-0D10-E4C1-0D67DB2BF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字方塊 24">
            <a:extLst>
              <a:ext uri="{FF2B5EF4-FFF2-40B4-BE49-F238E27FC236}">
                <a16:creationId xmlns:a16="http://schemas.microsoft.com/office/drawing/2014/main" id="{10EE06B5-09A0-C6B0-AEC5-E978463FBBC2}"/>
              </a:ext>
            </a:extLst>
          </p:cNvPr>
          <p:cNvSpPr txBox="1"/>
          <p:nvPr/>
        </p:nvSpPr>
        <p:spPr>
          <a:xfrm>
            <a:off x="2843808" y="4813260"/>
            <a:ext cx="3245348" cy="1329514"/>
          </a:xfrm>
          <a:prstGeom prst="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  <a:endParaRPr lang="en-US" altLang="zh-TW" sz="1400" b="1" dirty="0">
              <a:solidFill>
                <a:schemeClr val="accent3">
                  <a:lumMod val="50000"/>
                </a:schemeClr>
              </a:solidFill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Environment</a:t>
            </a:r>
            <a:endParaRPr lang="en-US" altLang="zh-TW" sz="1400" u="none" strike="noStrike" dirty="0">
              <a:solidFill>
                <a:schemeClr val="accent3">
                  <a:lumMod val="50000"/>
                </a:schemeClr>
              </a:solidFill>
              <a:effectLst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51D0CA9D-CF00-4E8A-F3C1-7909D642D02E}"/>
              </a:ext>
            </a:extLst>
          </p:cNvPr>
          <p:cNvSpPr txBox="1"/>
          <p:nvPr/>
        </p:nvSpPr>
        <p:spPr>
          <a:xfrm>
            <a:off x="3208771" y="4493143"/>
            <a:ext cx="1497523" cy="495268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AI Agent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(Router)</a:t>
            </a:r>
          </a:p>
        </p:txBody>
      </p:sp>
      <p:cxnSp>
        <p:nvCxnSpPr>
          <p:cNvPr id="20" name="接點: 肘形 19">
            <a:extLst>
              <a:ext uri="{FF2B5EF4-FFF2-40B4-BE49-F238E27FC236}">
                <a16:creationId xmlns:a16="http://schemas.microsoft.com/office/drawing/2014/main" id="{3A2C6091-BB1A-C34C-2A3F-070C6AE9DAD4}"/>
              </a:ext>
            </a:extLst>
          </p:cNvPr>
          <p:cNvCxnSpPr>
            <a:cxnSpLocks/>
            <a:stCxn id="40" idx="2"/>
            <a:endCxn id="85" idx="2"/>
          </p:cNvCxnSpPr>
          <p:nvPr/>
        </p:nvCxnSpPr>
        <p:spPr>
          <a:xfrm rot="5400000" flipH="1" flipV="1">
            <a:off x="3619752" y="3839980"/>
            <a:ext cx="882008" cy="168240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標題 1">
            <a:extLst>
              <a:ext uri="{FF2B5EF4-FFF2-40B4-BE49-F238E27FC236}">
                <a16:creationId xmlns:a16="http://schemas.microsoft.com/office/drawing/2014/main" id="{CEF95E4D-4041-AEF8-1FC6-6369323FE9C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Agents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use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 brains, RAG  knowledge, and  MCP skills to work.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FAC317C6-4626-1B2B-AEC6-1890A96EE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9414470"/>
              </p:ext>
            </p:extLst>
          </p:nvPr>
        </p:nvGraphicFramePr>
        <p:xfrm>
          <a:off x="1403648" y="5017192"/>
          <a:ext cx="1070926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D8572D84-C893-C9E6-47D7-75D138C833BF}"/>
              </a:ext>
            </a:extLst>
          </p:cNvPr>
          <p:cNvSpPr txBox="1"/>
          <p:nvPr/>
        </p:nvSpPr>
        <p:spPr>
          <a:xfrm>
            <a:off x="2856955" y="2035739"/>
            <a:ext cx="3232202" cy="893822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Reasoning</a:t>
            </a: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A6F6E1B2-4410-329F-F40B-BF387AFC3185}"/>
              </a:ext>
            </a:extLst>
          </p:cNvPr>
          <p:cNvSpPr txBox="1">
            <a:spLocks/>
          </p:cNvSpPr>
          <p:nvPr/>
        </p:nvSpPr>
        <p:spPr>
          <a:xfrm>
            <a:off x="3733357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3336D256-EDED-4696-A1BB-76862DCD076A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644E5DDD-D891-F4C5-E1BB-EEA8B9117949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4105B411-9718-432D-3492-4CCD58074E49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E4C9916F-526C-2149-B47C-BC4FE91F2F9B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DB8A7D43-44B5-6F11-7DA9-57A063DEE63A}"/>
              </a:ext>
            </a:extLst>
          </p:cNvPr>
          <p:cNvCxnSpPr>
            <a:cxnSpLocks/>
            <a:stCxn id="32" idx="3"/>
            <a:endCxn id="23" idx="1"/>
          </p:cNvCxnSpPr>
          <p:nvPr/>
        </p:nvCxnSpPr>
        <p:spPr>
          <a:xfrm flipV="1">
            <a:off x="1831082" y="2482650"/>
            <a:ext cx="1025873" cy="436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95F20FA0-F44A-3E96-8E3A-E2DBBF81ED21}"/>
              </a:ext>
            </a:extLst>
          </p:cNvPr>
          <p:cNvSpPr/>
          <p:nvPr/>
        </p:nvSpPr>
        <p:spPr>
          <a:xfrm rot="10800000">
            <a:off x="2987824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Prompt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E7D64985-4BBD-322E-CC35-E45F82B3CE7E}"/>
              </a:ext>
            </a:extLst>
          </p:cNvPr>
          <p:cNvCxnSpPr>
            <a:cxnSpLocks/>
            <a:stCxn id="111" idx="1"/>
            <a:endCxn id="10" idx="0"/>
          </p:cNvCxnSpPr>
          <p:nvPr/>
        </p:nvCxnSpPr>
        <p:spPr>
          <a:xfrm rot="10800000" flipV="1">
            <a:off x="1939111" y="4740776"/>
            <a:ext cx="1269660" cy="27641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79337494-4F56-4972-2B00-13C173F0D061}"/>
              </a:ext>
            </a:extLst>
          </p:cNvPr>
          <p:cNvCxnSpPr>
            <a:cxnSpLocks/>
            <a:stCxn id="114" idx="2"/>
            <a:endCxn id="132" idx="0"/>
          </p:cNvCxnSpPr>
          <p:nvPr/>
        </p:nvCxnSpPr>
        <p:spPr>
          <a:xfrm rot="16200000" flipH="1">
            <a:off x="5169812" y="2832182"/>
            <a:ext cx="936105" cy="365722"/>
          </a:xfrm>
          <a:prstGeom prst="bentConnector3">
            <a:avLst>
              <a:gd name="adj1" fmla="val -2442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578988E3-D386-548F-14BC-26F42CB8F679}"/>
              </a:ext>
            </a:extLst>
          </p:cNvPr>
          <p:cNvSpPr/>
          <p:nvPr/>
        </p:nvSpPr>
        <p:spPr>
          <a:xfrm>
            <a:off x="2460188" y="3475428"/>
            <a:ext cx="825087" cy="882539"/>
          </a:xfrm>
          <a:prstGeom prst="wedgeRoundRectCallout">
            <a:avLst>
              <a:gd name="adj1" fmla="val 45167"/>
              <a:gd name="adj2" fmla="val 7165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DED4096-EC87-5FA0-C284-9B53560B41FE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  <p:sp>
        <p:nvSpPr>
          <p:cNvPr id="40" name="箭號: 向下 39">
            <a:extLst>
              <a:ext uri="{FF2B5EF4-FFF2-40B4-BE49-F238E27FC236}">
                <a16:creationId xmlns:a16="http://schemas.microsoft.com/office/drawing/2014/main" id="{C71631F2-520D-603B-D24A-C6556F32D4F7}"/>
              </a:ext>
            </a:extLst>
          </p:cNvPr>
          <p:cNvSpPr/>
          <p:nvPr/>
        </p:nvSpPr>
        <p:spPr>
          <a:xfrm>
            <a:off x="3885328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MCP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45" name="箭號: 向下 44">
            <a:extLst>
              <a:ext uri="{FF2B5EF4-FFF2-40B4-BE49-F238E27FC236}">
                <a16:creationId xmlns:a16="http://schemas.microsoft.com/office/drawing/2014/main" id="{462AE830-760D-0E59-7995-536C09AC9A34}"/>
              </a:ext>
            </a:extLst>
          </p:cNvPr>
          <p:cNvSpPr/>
          <p:nvPr/>
        </p:nvSpPr>
        <p:spPr>
          <a:xfrm>
            <a:off x="4706295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Final</a:t>
            </a:r>
          </a:p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Answer</a:t>
            </a:r>
          </a:p>
        </p:txBody>
      </p:sp>
      <p:sp>
        <p:nvSpPr>
          <p:cNvPr id="43" name="右大括弧 42">
            <a:extLst>
              <a:ext uri="{FF2B5EF4-FFF2-40B4-BE49-F238E27FC236}">
                <a16:creationId xmlns:a16="http://schemas.microsoft.com/office/drawing/2014/main" id="{CE53BF93-8848-AA12-41EA-7817F672E6AC}"/>
              </a:ext>
            </a:extLst>
          </p:cNvPr>
          <p:cNvSpPr/>
          <p:nvPr/>
        </p:nvSpPr>
        <p:spPr>
          <a:xfrm rot="16200000">
            <a:off x="4396534" y="143068"/>
            <a:ext cx="153045" cy="323220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09CE6EAC-0923-2447-ABF3-98900CC49349}"/>
              </a:ext>
            </a:extLst>
          </p:cNvPr>
          <p:cNvSpPr txBox="1"/>
          <p:nvPr/>
        </p:nvSpPr>
        <p:spPr>
          <a:xfrm>
            <a:off x="3658327" y="5671171"/>
            <a:ext cx="588206" cy="37601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(Tools)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BB8462C-5DC9-5929-62DF-BB7A759AFDE2}"/>
              </a:ext>
            </a:extLst>
          </p:cNvPr>
          <p:cNvSpPr txBox="1"/>
          <p:nvPr/>
        </p:nvSpPr>
        <p:spPr>
          <a:xfrm>
            <a:off x="4343834" y="5669254"/>
            <a:ext cx="588206" cy="376017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Skill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u="none" strike="noStrike" dirty="0">
                <a:effectLst/>
              </a:rPr>
              <a:t>(Scripts)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CF2FCA05-8E66-2B4C-465D-BE76C9EE985A}"/>
              </a:ext>
            </a:extLst>
          </p:cNvPr>
          <p:cNvSpPr/>
          <p:nvPr/>
        </p:nvSpPr>
        <p:spPr>
          <a:xfrm>
            <a:off x="5148064" y="5663897"/>
            <a:ext cx="588206" cy="376017"/>
          </a:xfrm>
          <a:prstGeom prst="roundRect">
            <a:avLst>
              <a:gd name="adj" fmla="val 0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4572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68F3F681-A993-A9DB-2D20-7252C481D779}"/>
              </a:ext>
            </a:extLst>
          </p:cNvPr>
          <p:cNvSpPr txBox="1"/>
          <p:nvPr/>
        </p:nvSpPr>
        <p:spPr>
          <a:xfrm>
            <a:off x="2987824" y="5669254"/>
            <a:ext cx="588206" cy="376017"/>
          </a:xfrm>
          <a:prstGeom prst="rect">
            <a:avLst/>
          </a:prstGeom>
          <a:solidFill>
            <a:schemeClr val="accent5">
              <a:lumMod val="20000"/>
              <a:lumOff val="80000"/>
              <a:alpha val="6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Vector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200" b="1" u="none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DB</a:t>
            </a:r>
          </a:p>
        </p:txBody>
      </p:sp>
      <p:sp>
        <p:nvSpPr>
          <p:cNvPr id="71" name="箭號: 向下 70">
            <a:extLst>
              <a:ext uri="{FF2B5EF4-FFF2-40B4-BE49-F238E27FC236}">
                <a16:creationId xmlns:a16="http://schemas.microsoft.com/office/drawing/2014/main" id="{9442F65E-5116-38EE-1587-DBACA9C3393E}"/>
              </a:ext>
            </a:extLst>
          </p:cNvPr>
          <p:cNvSpPr/>
          <p:nvPr/>
        </p:nvSpPr>
        <p:spPr>
          <a:xfrm>
            <a:off x="3472971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tx2">
              <a:lumMod val="20000"/>
              <a:lumOff val="80000"/>
              <a:alpha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VDB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85" name="箭號: 向上 84">
            <a:extLst>
              <a:ext uri="{FF2B5EF4-FFF2-40B4-BE49-F238E27FC236}">
                <a16:creationId xmlns:a16="http://schemas.microsoft.com/office/drawing/2014/main" id="{DC4667BB-AB07-7189-91BC-32CA1E5573AE}"/>
              </a:ext>
            </a:extLst>
          </p:cNvPr>
          <p:cNvSpPr/>
          <p:nvPr/>
        </p:nvSpPr>
        <p:spPr>
          <a:xfrm>
            <a:off x="4005784" y="2987668"/>
            <a:ext cx="278184" cy="495428"/>
          </a:xfrm>
          <a:prstGeom prst="upArrow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rgbClr val="7030A0"/>
                </a:solidFill>
              </a:rPr>
              <a:t>Result</a:t>
            </a:r>
            <a:endParaRPr lang="zh-TW" altLang="en-US" sz="1000" b="1" dirty="0">
              <a:solidFill>
                <a:srgbClr val="7030A0"/>
              </a:solidFill>
            </a:endParaRPr>
          </a:p>
        </p:txBody>
      </p:sp>
      <p:sp>
        <p:nvSpPr>
          <p:cNvPr id="96" name="箭號: 向上 95">
            <a:extLst>
              <a:ext uri="{FF2B5EF4-FFF2-40B4-BE49-F238E27FC236}">
                <a16:creationId xmlns:a16="http://schemas.microsoft.com/office/drawing/2014/main" id="{6F976072-6E37-DA33-B3EA-65C4240217B7}"/>
              </a:ext>
            </a:extLst>
          </p:cNvPr>
          <p:cNvSpPr/>
          <p:nvPr/>
        </p:nvSpPr>
        <p:spPr>
          <a:xfrm>
            <a:off x="3577435" y="2987668"/>
            <a:ext cx="274485" cy="495428"/>
          </a:xfrm>
          <a:prstGeom prst="upArrow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5">
                    <a:lumMod val="50000"/>
                  </a:schemeClr>
                </a:solidFill>
              </a:rPr>
              <a:t>Result</a:t>
            </a:r>
            <a:endParaRPr lang="zh-TW" altLang="en-US" sz="10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箭號: 向下 113">
            <a:extLst>
              <a:ext uri="{FF2B5EF4-FFF2-40B4-BE49-F238E27FC236}">
                <a16:creationId xmlns:a16="http://schemas.microsoft.com/office/drawing/2014/main" id="{0E8551EA-8796-9BAB-1CD2-F622FB84A8DB}"/>
              </a:ext>
            </a:extLst>
          </p:cNvPr>
          <p:cNvSpPr/>
          <p:nvPr/>
        </p:nvSpPr>
        <p:spPr>
          <a:xfrm rot="10800000">
            <a:off x="5292080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algn="ctr"/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  <a:r>
              <a:rPr lang="en-US" altLang="zh-TW" sz="1400" b="1" dirty="0">
                <a:solidFill>
                  <a:schemeClr val="tx1"/>
                </a:solidFill>
              </a:rPr>
              <a:t>…</a:t>
            </a:r>
            <a:r>
              <a:rPr lang="zh-TW" altLang="en-US" sz="1400" b="1" dirty="0">
                <a:solidFill>
                  <a:schemeClr val="tx1"/>
                </a:solidFill>
              </a:rPr>
              <a:t> </a:t>
            </a:r>
          </a:p>
        </p:txBody>
      </p:sp>
      <p:cxnSp>
        <p:nvCxnSpPr>
          <p:cNvPr id="118" name="接點: 肘形 117">
            <a:extLst>
              <a:ext uri="{FF2B5EF4-FFF2-40B4-BE49-F238E27FC236}">
                <a16:creationId xmlns:a16="http://schemas.microsoft.com/office/drawing/2014/main" id="{E27141A3-132B-596A-F5FC-F68639555662}"/>
              </a:ext>
            </a:extLst>
          </p:cNvPr>
          <p:cNvCxnSpPr>
            <a:cxnSpLocks/>
            <a:stCxn id="71" idx="2"/>
            <a:endCxn id="96" idx="2"/>
          </p:cNvCxnSpPr>
          <p:nvPr/>
        </p:nvCxnSpPr>
        <p:spPr>
          <a:xfrm rot="5400000" flipH="1" flipV="1">
            <a:off x="3193552" y="3843978"/>
            <a:ext cx="882008" cy="160244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3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9099F505-4990-FAA6-06FC-5DD3292E975B}"/>
              </a:ext>
            </a:extLst>
          </p:cNvPr>
          <p:cNvSpPr txBox="1"/>
          <p:nvPr/>
        </p:nvSpPr>
        <p:spPr>
          <a:xfrm>
            <a:off x="3642670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BD99DD98-B721-F06E-F383-798EFDD6D3D4}"/>
              </a:ext>
            </a:extLst>
          </p:cNvPr>
          <p:cNvCxnSpPr>
            <a:cxnSpLocks/>
            <a:stCxn id="122" idx="0"/>
            <a:endCxn id="111" idx="2"/>
          </p:cNvCxnSpPr>
          <p:nvPr/>
        </p:nvCxnSpPr>
        <p:spPr>
          <a:xfrm flipH="1" flipV="1">
            <a:off x="3957533" y="4988411"/>
            <a:ext cx="862" cy="28788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箭號: 向下 131">
            <a:extLst>
              <a:ext uri="{FF2B5EF4-FFF2-40B4-BE49-F238E27FC236}">
                <a16:creationId xmlns:a16="http://schemas.microsoft.com/office/drawing/2014/main" id="{284919E8-0FB5-84A1-D92F-1402DAF25DE6}"/>
              </a:ext>
            </a:extLst>
          </p:cNvPr>
          <p:cNvSpPr/>
          <p:nvPr/>
        </p:nvSpPr>
        <p:spPr>
          <a:xfrm>
            <a:off x="5671849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8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tx1"/>
                </a:solidFill>
              </a:rPr>
              <a:t>…</a:t>
            </a:r>
          </a:p>
        </p:txBody>
      </p:sp>
      <p:cxnSp>
        <p:nvCxnSpPr>
          <p:cNvPr id="135" name="接點: 肘形 134">
            <a:extLst>
              <a:ext uri="{FF2B5EF4-FFF2-40B4-BE49-F238E27FC236}">
                <a16:creationId xmlns:a16="http://schemas.microsoft.com/office/drawing/2014/main" id="{0902C794-519F-DC2B-51FE-445A4EFAA5F3}"/>
              </a:ext>
            </a:extLst>
          </p:cNvPr>
          <p:cNvCxnSpPr>
            <a:cxnSpLocks/>
            <a:stCxn id="142" idx="0"/>
            <a:endCxn id="45" idx="0"/>
          </p:cNvCxnSpPr>
          <p:nvPr/>
        </p:nvCxnSpPr>
        <p:spPr>
          <a:xfrm rot="16200000" flipH="1">
            <a:off x="4436972" y="3064896"/>
            <a:ext cx="486144" cy="350256"/>
          </a:xfrm>
          <a:prstGeom prst="bentConnector3">
            <a:avLst>
              <a:gd name="adj1" fmla="val -47023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A3643A1D-79C9-3E68-FB55-1B9D37A913F9}"/>
              </a:ext>
            </a:extLst>
          </p:cNvPr>
          <p:cNvCxnSpPr>
            <a:cxnSpLocks/>
            <a:stCxn id="141" idx="2"/>
            <a:endCxn id="142" idx="2"/>
          </p:cNvCxnSpPr>
          <p:nvPr/>
        </p:nvCxnSpPr>
        <p:spPr>
          <a:xfrm rot="5400000" flipH="1" flipV="1">
            <a:off x="3984716" y="3854188"/>
            <a:ext cx="882008" cy="158392"/>
          </a:xfrm>
          <a:prstGeom prst="bentConnector3">
            <a:avLst>
              <a:gd name="adj1" fmla="val -25918"/>
            </a:avLst>
          </a:prstGeom>
          <a:ln w="15875">
            <a:solidFill>
              <a:schemeClr val="accent4">
                <a:lumMod val="75000"/>
                <a:alpha val="6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箭號: 向下 140">
            <a:extLst>
              <a:ext uri="{FF2B5EF4-FFF2-40B4-BE49-F238E27FC236}">
                <a16:creationId xmlns:a16="http://schemas.microsoft.com/office/drawing/2014/main" id="{3C28DCA6-0B63-EEC8-15A7-3073973535EA}"/>
              </a:ext>
            </a:extLst>
          </p:cNvPr>
          <p:cNvSpPr/>
          <p:nvPr/>
        </p:nvSpPr>
        <p:spPr>
          <a:xfrm>
            <a:off x="4255216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Skill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2" name="箭號: 向上 141">
            <a:extLst>
              <a:ext uri="{FF2B5EF4-FFF2-40B4-BE49-F238E27FC236}">
                <a16:creationId xmlns:a16="http://schemas.microsoft.com/office/drawing/2014/main" id="{12EFF3BF-8C1F-06F3-5086-F1AF996CB200}"/>
              </a:ext>
            </a:extLst>
          </p:cNvPr>
          <p:cNvSpPr/>
          <p:nvPr/>
        </p:nvSpPr>
        <p:spPr>
          <a:xfrm>
            <a:off x="4365824" y="2996952"/>
            <a:ext cx="278184" cy="495428"/>
          </a:xfrm>
          <a:prstGeom prst="upArrow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4572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Done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E8B0B3F5-0CC1-6272-389E-E91C07607706}"/>
              </a:ext>
            </a:extLst>
          </p:cNvPr>
          <p:cNvCxnSpPr>
            <a:cxnSpLocks/>
            <a:stCxn id="59" idx="2"/>
            <a:endCxn id="71" idx="0"/>
          </p:cNvCxnSpPr>
          <p:nvPr/>
        </p:nvCxnSpPr>
        <p:spPr>
          <a:xfrm rot="16200000" flipH="1">
            <a:off x="2621929" y="3075809"/>
            <a:ext cx="1461323" cy="403686"/>
          </a:xfrm>
          <a:prstGeom prst="bentConnector3">
            <a:avLst>
              <a:gd name="adj1" fmla="val -15643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接點: 肘形 160">
            <a:extLst>
              <a:ext uri="{FF2B5EF4-FFF2-40B4-BE49-F238E27FC236}">
                <a16:creationId xmlns:a16="http://schemas.microsoft.com/office/drawing/2014/main" id="{7FB7F299-EA0D-88C4-EC62-102AA5744D08}"/>
              </a:ext>
            </a:extLst>
          </p:cNvPr>
          <p:cNvCxnSpPr>
            <a:cxnSpLocks/>
            <a:stCxn id="45" idx="2"/>
            <a:endCxn id="122" idx="3"/>
          </p:cNvCxnSpPr>
          <p:nvPr/>
        </p:nvCxnSpPr>
        <p:spPr>
          <a:xfrm rot="5400000">
            <a:off x="4012812" y="4554404"/>
            <a:ext cx="1103669" cy="581052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EC23AE7C-B5C8-B4F7-9E86-055D60AEFBC7}"/>
              </a:ext>
            </a:extLst>
          </p:cNvPr>
          <p:cNvGrpSpPr/>
          <p:nvPr/>
        </p:nvGrpSpPr>
        <p:grpSpPr>
          <a:xfrm>
            <a:off x="6516216" y="4813260"/>
            <a:ext cx="1512168" cy="1273320"/>
            <a:chOff x="5292080" y="1036415"/>
            <a:chExt cx="1512168" cy="1273320"/>
          </a:xfrm>
        </p:grpSpPr>
        <p:sp>
          <p:nvSpPr>
            <p:cNvPr id="184" name="箭號: 圓形 183">
              <a:extLst>
                <a:ext uri="{FF2B5EF4-FFF2-40B4-BE49-F238E27FC236}">
                  <a16:creationId xmlns:a16="http://schemas.microsoft.com/office/drawing/2014/main" id="{3A71D6D5-8EB3-6B9F-72C5-7A6D9DE9D0FF}"/>
                </a:ext>
              </a:extLst>
            </p:cNvPr>
            <p:cNvSpPr/>
            <p:nvPr/>
          </p:nvSpPr>
          <p:spPr>
            <a:xfrm rot="11669204">
              <a:off x="5378796" y="1036415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bg1">
                <a:lumMod val="95000"/>
                <a:alpha val="70000"/>
              </a:schemeClr>
            </a:solidFill>
            <a:ln w="25400">
              <a:solidFill>
                <a:schemeClr val="bg1">
                  <a:lumMod val="50000"/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5" name="箭號: 圓形 184">
              <a:extLst>
                <a:ext uri="{FF2B5EF4-FFF2-40B4-BE49-F238E27FC236}">
                  <a16:creationId xmlns:a16="http://schemas.microsoft.com/office/drawing/2014/main" id="{FEA0BF70-7EBD-A742-8CC9-9C300F2E8553}"/>
                </a:ext>
              </a:extLst>
            </p:cNvPr>
            <p:cNvSpPr/>
            <p:nvPr/>
          </p:nvSpPr>
          <p:spPr>
            <a:xfrm rot="4315882">
              <a:off x="5359936" y="1077213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4">
                <a:lumMod val="20000"/>
                <a:lumOff val="80000"/>
                <a:alpha val="90000"/>
              </a:schemeClr>
            </a:solidFill>
            <a:ln w="25400">
              <a:solidFill>
                <a:schemeClr val="accent4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186" name="標題 1">
              <a:extLst>
                <a:ext uri="{FF2B5EF4-FFF2-40B4-BE49-F238E27FC236}">
                  <a16:creationId xmlns:a16="http://schemas.microsoft.com/office/drawing/2014/main" id="{0FFD7938-CD99-26BD-A957-E32772382223}"/>
                </a:ext>
              </a:extLst>
            </p:cNvPr>
            <p:cNvSpPr txBox="1">
              <a:spLocks/>
            </p:cNvSpPr>
            <p:nvPr/>
          </p:nvSpPr>
          <p:spPr>
            <a:xfrm>
              <a:off x="6139924" y="1628800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7030A0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187" name="標題 1">
              <a:extLst>
                <a:ext uri="{FF2B5EF4-FFF2-40B4-BE49-F238E27FC236}">
                  <a16:creationId xmlns:a16="http://schemas.microsoft.com/office/drawing/2014/main" id="{B6C6F9F4-0E3F-7257-9525-F04F9A2303B1}"/>
                </a:ext>
              </a:extLst>
            </p:cNvPr>
            <p:cNvSpPr txBox="1">
              <a:spLocks/>
            </p:cNvSpPr>
            <p:nvPr/>
          </p:nvSpPr>
          <p:spPr>
            <a:xfrm>
              <a:off x="5292080" y="1916832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188" name="箭號: 圓形 187">
              <a:extLst>
                <a:ext uri="{FF2B5EF4-FFF2-40B4-BE49-F238E27FC236}">
                  <a16:creationId xmlns:a16="http://schemas.microsoft.com/office/drawing/2014/main" id="{16E113E6-FF08-E353-9086-B083C7EDECBD}"/>
                </a:ext>
              </a:extLst>
            </p:cNvPr>
            <p:cNvSpPr/>
            <p:nvPr/>
          </p:nvSpPr>
          <p:spPr>
            <a:xfrm rot="19383568">
              <a:off x="5393262" y="1082969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25400">
              <a:solidFill>
                <a:schemeClr val="accent1">
                  <a:alpha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9" name="標題 1">
              <a:extLst>
                <a:ext uri="{FF2B5EF4-FFF2-40B4-BE49-F238E27FC236}">
                  <a16:creationId xmlns:a16="http://schemas.microsoft.com/office/drawing/2014/main" id="{CC273686-22A7-2490-7447-FE46D2286C97}"/>
                </a:ext>
              </a:extLst>
            </p:cNvPr>
            <p:cNvSpPr txBox="1">
              <a:spLocks/>
            </p:cNvSpPr>
            <p:nvPr/>
          </p:nvSpPr>
          <p:spPr>
            <a:xfrm>
              <a:off x="5437150" y="1225751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chemeClr val="tx2">
                      <a:lumMod val="75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33232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2535E2FB-B8F7-47F8-662C-1A5AEEF46AF4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Skill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4" name="矩形: 圓角 93">
            <a:extLst>
              <a:ext uri="{FF2B5EF4-FFF2-40B4-BE49-F238E27FC236}">
                <a16:creationId xmlns:a16="http://schemas.microsoft.com/office/drawing/2014/main" id="{246EBEC3-E2E8-7F76-E461-DF6BA0142B33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RAG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MCP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BA05BA6-682F-E714-C62E-DEB3A66638F1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Vector</a:t>
            </a:r>
          </a:p>
          <a:p>
            <a:pPr algn="ctr"/>
            <a:r>
              <a:rPr lang="en-US" altLang="zh-TW" sz="1200" b="1" dirty="0">
                <a:solidFill>
                  <a:schemeClr val="accent5">
                    <a:lumMod val="50000"/>
                  </a:schemeClr>
                </a:solidFill>
              </a:rPr>
              <a:t>DB</a:t>
            </a:r>
            <a:endParaRPr lang="zh-TW" altLang="en-US" sz="1200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tx1">
              <a:lumMod val="85000"/>
              <a:lumOff val="1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chemeClr val="accent5">
                <a:lumMod val="20000"/>
                <a:lumOff val="80000"/>
              </a:schemeClr>
            </a:glow>
          </a:effectLst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Real-Time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17" idx="1"/>
            <a:endCxn id="92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external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F42A7713-E02E-4E9D-59E7-AB2551695208}"/>
              </a:ext>
            </a:extLst>
          </p:cNvPr>
          <p:cNvCxnSpPr>
            <a:cxnSpLocks/>
            <a:stCxn id="36" idx="1"/>
            <a:endCxn id="16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B55E57A6-6BCE-F3CC-1266-7E54981EF350}"/>
              </a:ext>
            </a:extLst>
          </p:cNvPr>
          <p:cNvCxnSpPr>
            <a:cxnSpLocks/>
            <a:stCxn id="70" idx="1"/>
            <a:endCxn id="74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圖形 29" descr="統計 以實心填滿">
            <a:extLst>
              <a:ext uri="{FF2B5EF4-FFF2-40B4-BE49-F238E27FC236}">
                <a16:creationId xmlns:a16="http://schemas.microsoft.com/office/drawing/2014/main" id="{2F417CFC-C08D-8AC7-FE07-C2FDB3383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chemeClr val="accent4">
                <a:lumMod val="60000"/>
                <a:lumOff val="40000"/>
              </a:schemeClr>
            </a:glow>
          </a:effectLst>
        </p:spPr>
      </p:pic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F35FAE4-219A-F7C6-6930-F22BA619A0E6}"/>
              </a:ext>
            </a:extLst>
          </p:cNvPr>
          <p:cNvCxnSpPr>
            <a:cxnSpLocks/>
            <a:stCxn id="74" idx="3"/>
            <a:endCxn id="89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AA224E60-31D4-446D-E4BA-7E52EEE0F947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u="none" strike="noStrike" dirty="0">
                <a:effectLst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63C9627-CD4E-2780-7259-9B95B68D7DF5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Accurate Data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95" name="矩形: 圓角 94">
            <a:extLst>
              <a:ext uri="{FF2B5EF4-FFF2-40B4-BE49-F238E27FC236}">
                <a16:creationId xmlns:a16="http://schemas.microsoft.com/office/drawing/2014/main" id="{A9F366E9-4DE1-405D-D23C-15394384EFC8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8DA46341-076C-9538-5F65-7772C9BF8E97}"/>
              </a:ext>
            </a:extLst>
          </p:cNvPr>
          <p:cNvCxnSpPr>
            <a:cxnSpLocks/>
            <a:stCxn id="94" idx="1"/>
            <a:endCxn id="95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5ECE1A84-39B0-E184-406D-098D2F900FB8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98" name="圖形 97" descr="放大鏡 以實心填滿">
            <a:extLst>
              <a:ext uri="{FF2B5EF4-FFF2-40B4-BE49-F238E27FC236}">
                <a16:creationId xmlns:a16="http://schemas.microsoft.com/office/drawing/2014/main" id="{ED47DEB0-7937-1899-CCAB-0CF8E52A47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  <a:alpha val="40000"/>
              </a:schemeClr>
            </a:glow>
          </a:effectLst>
        </p:spPr>
      </p:pic>
      <p:pic>
        <p:nvPicPr>
          <p:cNvPr id="103" name="圖形 102" descr="卷軸 以實心填滿">
            <a:extLst>
              <a:ext uri="{FF2B5EF4-FFF2-40B4-BE49-F238E27FC236}">
                <a16:creationId xmlns:a16="http://schemas.microsoft.com/office/drawing/2014/main" id="{667ED03B-A7F7-ACC2-A2B1-E2AFC9861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pic>
        <p:nvPicPr>
          <p:cNvPr id="119" name="圖形 118" descr="伺服器 以實心填滿">
            <a:extLst>
              <a:ext uri="{FF2B5EF4-FFF2-40B4-BE49-F238E27FC236}">
                <a16:creationId xmlns:a16="http://schemas.microsoft.com/office/drawing/2014/main" id="{71DF6DD6-7BC1-EF37-79EB-6ED391AC9D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chemeClr val="accent1">
                <a:alpha val="40000"/>
              </a:schemeClr>
            </a:glow>
          </a:effectLst>
        </p:spPr>
      </p:pic>
      <p:sp>
        <p:nvSpPr>
          <p:cNvPr id="121" name="語音泡泡: 圓角矩形 120">
            <a:extLst>
              <a:ext uri="{FF2B5EF4-FFF2-40B4-BE49-F238E27FC236}">
                <a16:creationId xmlns:a16="http://schemas.microsoft.com/office/drawing/2014/main" id="{E66BF7E8-3B44-838D-11B4-D798918A32E3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125" name="接點: 肘形 124">
            <a:extLst>
              <a:ext uri="{FF2B5EF4-FFF2-40B4-BE49-F238E27FC236}">
                <a16:creationId xmlns:a16="http://schemas.microsoft.com/office/drawing/2014/main" id="{6F975437-D854-70DF-C9D6-44997A400587}"/>
              </a:ext>
            </a:extLst>
          </p:cNvPr>
          <p:cNvCxnSpPr>
            <a:cxnSpLocks/>
            <a:stCxn id="150" idx="1"/>
            <a:endCxn id="181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ln w="15875">
            <a:solidFill>
              <a:schemeClr val="accent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617B5F58-14B7-E470-F4D6-CDD08C65DB3F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u="none" strike="noStrike" dirty="0">
              <a:effectLst/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FF75223B-70F5-227D-C836-1DBEC01BE14B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sp>
        <p:nvSpPr>
          <p:cNvPr id="168" name="文字方塊 167">
            <a:extLst>
              <a:ext uri="{FF2B5EF4-FFF2-40B4-BE49-F238E27FC236}">
                <a16:creationId xmlns:a16="http://schemas.microsoft.com/office/drawing/2014/main" id="{8D008D54-BFC3-D132-9E53-A6D533AE9D5C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01584511-5D98-1263-73AB-4BA7623B0CF5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600"/>
              </a:lnSpc>
              <a:buNone/>
            </a:pP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229" name="直線單箭頭接點 228">
            <a:extLst>
              <a:ext uri="{FF2B5EF4-FFF2-40B4-BE49-F238E27FC236}">
                <a16:creationId xmlns:a16="http://schemas.microsoft.com/office/drawing/2014/main" id="{7DCFF79B-1787-2F84-3993-6BF66E06D367}"/>
              </a:ext>
            </a:extLst>
          </p:cNvPr>
          <p:cNvCxnSpPr>
            <a:cxnSpLocks/>
            <a:stCxn id="181" idx="3"/>
            <a:endCxn id="92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文字方塊 240">
            <a:extLst>
              <a:ext uri="{FF2B5EF4-FFF2-40B4-BE49-F238E27FC236}">
                <a16:creationId xmlns:a16="http://schemas.microsoft.com/office/drawing/2014/main" id="{2E096F5F-5E59-24B9-A111-67D2FA2A0304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Call</a:t>
            </a:r>
          </a:p>
          <a:p>
            <a:pPr>
              <a:lnSpc>
                <a:spcPts val="12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B2792205-3AA0-7B75-C71F-40708CACFAD1}"/>
              </a:ext>
            </a:extLst>
          </p:cNvPr>
          <p:cNvCxnSpPr>
            <a:cxnSpLocks/>
            <a:stCxn id="43" idx="1"/>
            <a:endCxn id="39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25400">
            <a:solidFill>
              <a:schemeClr val="tx1">
                <a:lumMod val="50000"/>
                <a:lumOff val="50000"/>
                <a:alpha val="4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Skill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E59D2E4D-FED7-E499-36FC-4B36CAA95705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8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Skill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50000"/>
                  </a:schemeClr>
                </a:solidFill>
              </a:rPr>
              <a:t>Scripts</a:t>
            </a:r>
            <a:endParaRPr lang="zh-TW" altLang="en-US" sz="1200" b="1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46" name="圖形 45" descr="卷軸 以實心填滿">
            <a:extLst>
              <a:ext uri="{FF2B5EF4-FFF2-40B4-BE49-F238E27FC236}">
                <a16:creationId xmlns:a16="http://schemas.microsoft.com/office/drawing/2014/main" id="{57D7CD8C-80CC-F36D-8780-7AF090203F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sp>
        <p:nvSpPr>
          <p:cNvPr id="14" name="語音泡泡: 圓角矩形 13">
            <a:extLst>
              <a:ext uri="{FF2B5EF4-FFF2-40B4-BE49-F238E27FC236}">
                <a16:creationId xmlns:a16="http://schemas.microsoft.com/office/drawing/2014/main" id="{CB345992-DE5F-A7FB-7DF7-6DACD25830F6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C58512F8-827C-6573-B915-D87B2B70F5B7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E177492D-9542-526B-840B-EC616526CF71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39" name="語音泡泡: 圓角矩形 38">
              <a:extLst>
                <a:ext uri="{FF2B5EF4-FFF2-40B4-BE49-F238E27FC236}">
                  <a16:creationId xmlns:a16="http://schemas.microsoft.com/office/drawing/2014/main" id="{2804A24D-B98B-EC9F-CB2F-3D51D45D538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chemeClr val="bg1">
                <a:alpha val="8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</a:t>
              </a:r>
              <a:r>
                <a:rPr lang="en-US" altLang="zh-TW" sz="1200" dirty="0">
                  <a:ln w="0"/>
                  <a:solidFill>
                    <a:prstClr val="black"/>
                  </a:solidFill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are.</a:t>
              </a:r>
            </a:p>
          </p:txBody>
        </p:sp>
        <p:pic>
          <p:nvPicPr>
            <p:cNvPr id="41" name="圖形 40" descr="夾紙板 (徽章) 以實心填滿">
              <a:extLst>
                <a:ext uri="{FF2B5EF4-FFF2-40B4-BE49-F238E27FC236}">
                  <a16:creationId xmlns:a16="http://schemas.microsoft.com/office/drawing/2014/main" id="{A2807007-7BAB-C046-ECEA-75F84A520C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chemeClr val="accent4">
                  <a:lumMod val="20000"/>
                  <a:lumOff val="80000"/>
                </a:schemeClr>
              </a:glow>
            </a:effectLst>
          </p:spPr>
        </p:pic>
      </p:grpSp>
      <p:sp>
        <p:nvSpPr>
          <p:cNvPr id="59" name="語音泡泡: 圓角矩形 58">
            <a:extLst>
              <a:ext uri="{FF2B5EF4-FFF2-40B4-BE49-F238E27FC236}">
                <a16:creationId xmlns:a16="http://schemas.microsoft.com/office/drawing/2014/main" id="{D09692F8-BE29-99AB-B0D5-3772513753A3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62" name="語音泡泡: 圓角矩形 61">
            <a:extLst>
              <a:ext uri="{FF2B5EF4-FFF2-40B4-BE49-F238E27FC236}">
                <a16:creationId xmlns:a16="http://schemas.microsoft.com/office/drawing/2014/main" id="{D93367F2-3AAC-6546-5F9A-45AA23F38EBD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chemeClr val="bg1">
              <a:alpha val="80000"/>
            </a:schemeClr>
          </a:solidFill>
          <a:ln w="1905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schemeClr val="accent1">
                    <a:lumMod val="75000"/>
                  </a:schemeClr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cxnSp>
        <p:nvCxnSpPr>
          <p:cNvPr id="63" name="接點: 弧形 62">
            <a:extLst>
              <a:ext uri="{FF2B5EF4-FFF2-40B4-BE49-F238E27FC236}">
                <a16:creationId xmlns:a16="http://schemas.microsoft.com/office/drawing/2014/main" id="{DBE7CEED-496C-7C7F-E2E1-F8C58EFE3043}"/>
              </a:ext>
            </a:extLst>
          </p:cNvPr>
          <p:cNvCxnSpPr>
            <a:cxnSpLocks/>
            <a:stCxn id="41" idx="2"/>
            <a:endCxn id="3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6EEB10B3-3F35-4FBA-B436-06CC04D539A1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>
              <a:lnSpc>
                <a:spcPts val="1200"/>
              </a:lnSpc>
              <a:buNone/>
            </a:pP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cxnSp>
        <p:nvCxnSpPr>
          <p:cNvPr id="69" name="接點: 肘形 68">
            <a:extLst>
              <a:ext uri="{FF2B5EF4-FFF2-40B4-BE49-F238E27FC236}">
                <a16:creationId xmlns:a16="http://schemas.microsoft.com/office/drawing/2014/main" id="{5110B8D3-3930-64CF-F95F-B0C3AE80881B}"/>
              </a:ext>
            </a:extLst>
          </p:cNvPr>
          <p:cNvCxnSpPr>
            <a:cxnSpLocks/>
            <a:stCxn id="62" idx="3"/>
            <a:endCxn id="43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ln w="15875">
            <a:solidFill>
              <a:schemeClr val="accent4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圖形 75" descr="科學思想 以實心填滿">
            <a:extLst>
              <a:ext uri="{FF2B5EF4-FFF2-40B4-BE49-F238E27FC236}">
                <a16:creationId xmlns:a16="http://schemas.microsoft.com/office/drawing/2014/main" id="{174E6B0F-BB8A-784D-193F-AA6DE0CFE9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nashsu/llm_wiki</a:t>
            </a:r>
            <a:r>
              <a:rPr lang="en-US" altLang="zh-TW" sz="1600" dirty="0"/>
              <a:t>, </a:t>
            </a:r>
            <a:r>
              <a:rPr lang="en-US" altLang="zh-TW" sz="1600" u="sng" strike="noStrike" dirty="0">
                <a:solidFill>
                  <a:schemeClr val="accent5">
                    <a:lumMod val="50000"/>
                  </a:schemeClr>
                </a:solidFill>
                <a:effectLst/>
              </a:rPr>
              <a:t>atomicstrata/llm-wiki-compiler</a:t>
            </a:r>
            <a:r>
              <a:rPr lang="en-US" altLang="zh-TW" sz="1600" u="none" strike="noStrike" dirty="0">
                <a:effectLst/>
              </a:rPr>
              <a:t>, </a:t>
            </a:r>
            <a:r>
              <a:rPr lang="en-US" altLang="zh-TW" sz="1600" u="sng" dirty="0">
                <a:solidFill>
                  <a:schemeClr val="accent5">
                    <a:lumMod val="50000"/>
                  </a:schemeClr>
                </a:solidFill>
              </a:rPr>
              <a:t>Knowledge-vault</a:t>
            </a:r>
            <a:r>
              <a:rPr lang="en-US" altLang="zh-TW" sz="1600" dirty="0">
                <a:solidFill>
                  <a:schemeClr val="accent5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862094"/>
              </p:ext>
            </p:extLst>
          </p:nvPr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C0CC1A86-0C18-AB72-F5A9-4306189B0A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0392842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1995762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(Unsloth,</a:t>
            </a:r>
            <a:r>
              <a:rPr lang="zh-TW" altLang="en-US" sz="1600" dirty="0"/>
              <a:t> </a:t>
            </a:r>
            <a:r>
              <a:rPr lang="en-US" altLang="zh-TW" sz="1600" dirty="0"/>
              <a:t>Hugging Face TRL)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Engine</a:t>
            </a:r>
            <a:r>
              <a:rPr lang="en-US" altLang="zh-TW" sz="1600" dirty="0"/>
              <a:t>: Freeze base weight. ( llama, Gemma 4)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65702545-0EF5-72BF-9149-DBDB7D627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2102" y="4811708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C2FA1-D71C-1571-5DF7-FBBBA4385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8753B56-4876-526F-D548-E446B615A4E6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torch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unsloth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FastLanguageModel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transformers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TrainingArguments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SFTTrainer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Load Initialized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 and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Tokenizer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ax_seq_length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2048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# Context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Length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tokenizer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FastLanguageModel.from_pretrained(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model_name=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"unsloth/gemma-2-9b-it"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Init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load_in_4bit=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                  # 4-bit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2.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Unsloth PEFT(QLoRA)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FastLanguageModel.get_peft_model(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lora_alpha=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target_modules=[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"k_proj"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"v_proj"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br>
              <a:rPr lang="en-US" altLang="zh-TW" sz="1000" b="0" u="none" strike="noStrike" dirty="0">
                <a:effectLst/>
                <a:latin typeface="Consolas" panose="020B0609020204030204" pitchFamily="49" charset="0"/>
              </a:rPr>
            </a:b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	      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"o_proj"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"gate_proj"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"up_proj"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"down_proj"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],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lora_dropout=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Best performance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bias=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"none"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"unsloth"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# 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Ultra-low 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VRAM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random_state=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3407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8F3D1BD-FEA1-1267-FF02-F5C2BD90F822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3.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Setup Unsloth Optimizer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training_args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output_dir=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"./gemma-unsloth-output"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warmup_steps=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latin typeface="Consolas" panose="020B0609020204030204" pitchFamily="49" charset="0"/>
              </a:rPr>
              <a:t>	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learning_rate=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2e-4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fp16=</a:t>
            </a: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bf16=torch.cuda.is_bf16_supported(),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logging_steps=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optim=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"adamw_8bit"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 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en-US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4. 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Start Training</a:t>
            </a:r>
            <a:endParaRPr lang="zh-TW" altLang="zh-TW" sz="1000" b="0" i="1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SFTTrainer(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model=model,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tokenizer=tokenizer,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b="0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Aligned Data!!</a:t>
            </a:r>
            <a:endParaRPr lang="zh-TW" altLang="zh-TW" sz="1000" b="0" u="none" strike="noStrike" dirty="0">
              <a:solidFill>
                <a:schemeClr val="bg1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dataset_text_field=</a:t>
            </a:r>
            <a:r>
              <a:rPr lang="zh-TW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"text"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max_seq_length=max_seq_length,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dataset_num_proc=</a:t>
            </a: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   args=training_args,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trainer_stats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5D23E4A2-AF80-DE45-79B6-3B8FB1C1571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SFT and Quantization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3593BEC-05A3-F409-07AD-D3589DE96DAB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Save</a:t>
            </a:r>
            <a:r>
              <a:rPr lang="en-US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tuned weights into compressed Ollama GGUF format</a:t>
            </a:r>
            <a:r>
              <a:rPr lang="zh-TW" altLang="zh-TW" sz="1000" b="0" i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"my_gemma_model"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b="0" u="none" strike="noStrike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"q4_k_m"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F9639B6-9ABE-ADFD-AEF2-698F1687076E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u="none" strike="noStrike" dirty="0">
                <a:effectLst/>
                <a:latin typeface="Consolas" panose="020B0609020204030204" pitchFamily="49" charset="0"/>
              </a:rPr>
              <a:t>Exporting GGUF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B3A73AD7-A446-F9B8-9857-032FEC0FF875}"/>
              </a:ext>
            </a:extLst>
          </p:cNvPr>
          <p:cNvGrpSpPr/>
          <p:nvPr/>
        </p:nvGrpSpPr>
        <p:grpSpPr>
          <a:xfrm>
            <a:off x="179512" y="116632"/>
            <a:ext cx="2304256" cy="740352"/>
            <a:chOff x="179512" y="116632"/>
            <a:chExt cx="2304256" cy="740352"/>
          </a:xfrm>
        </p:grpSpPr>
        <p:sp>
          <p:nvSpPr>
            <p:cNvPr id="8" name="標題 1">
              <a:extLst>
                <a:ext uri="{FF2B5EF4-FFF2-40B4-BE49-F238E27FC236}">
                  <a16:creationId xmlns:a16="http://schemas.microsoft.com/office/drawing/2014/main" id="{E7C0B290-8E6D-44B1-6DE3-7FBB5A305238}"/>
                </a:ext>
              </a:extLst>
            </p:cNvPr>
            <p:cNvSpPr txBox="1">
              <a:spLocks/>
            </p:cNvSpPr>
            <p:nvPr/>
          </p:nvSpPr>
          <p:spPr>
            <a:xfrm>
              <a:off x="179512" y="116632"/>
              <a:ext cx="2304256" cy="740352"/>
            </a:xfrm>
            <a:prstGeom prst="rect">
              <a:avLst/>
            </a:prstGeom>
          </p:spPr>
          <p:txBody>
            <a:bodyPr wrap="none" lIns="72000" tIns="0" rIns="0" bIns="0" anchor="ctr" anchorCtr="0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sz="28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Unsloth</a:t>
              </a:r>
              <a:endPara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7DE70DD2-16BF-ECEA-19B3-80072208A0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91680" y="179145"/>
              <a:ext cx="576064" cy="576063"/>
            </a:xfrm>
            <a:prstGeom prst="rect">
              <a:avLst/>
            </a:prstGeom>
            <a:effectLst>
              <a:glow rad="76200">
                <a:srgbClr val="00B050">
                  <a:alpha val="40000"/>
                </a:srgbClr>
              </a:glow>
            </a:effectLst>
          </p:spPr>
        </p:pic>
      </p:grpSp>
    </p:spTree>
    <p:extLst>
      <p:ext uri="{BB962C8B-B14F-4D97-AF65-F5344CB8AC3E}">
        <p14:creationId xmlns:p14="http://schemas.microsoft.com/office/powerpoint/2010/main" val="231315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9267</Words>
  <Application>Microsoft Office PowerPoint</Application>
  <PresentationFormat>如螢幕大小 (4:3)</PresentationFormat>
  <Paragraphs>1286</Paragraphs>
  <Slides>19</Slides>
  <Notes>16</Notes>
  <HiddenSlides>1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32" baseType="lpstr"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1828</cp:revision>
  <cp:lastPrinted>2024-07-30T01:44:15Z</cp:lastPrinted>
  <dcterms:created xsi:type="dcterms:W3CDTF">2019-11-08T03:01:47Z</dcterms:created>
  <dcterms:modified xsi:type="dcterms:W3CDTF">2026-07-26T04:12:21Z</dcterms:modified>
</cp:coreProperties>
</file>