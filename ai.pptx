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handoutMasterIdLst>
    <p:handoutMasterId r:id="rId29"/>
  </p:handoutMasterIdLst>
  <p:sldIdLst>
    <p:sldId id="3459" r:id="rId2"/>
    <p:sldId id="3472" r:id="rId3"/>
    <p:sldId id="3431" r:id="rId4"/>
    <p:sldId id="3427" r:id="rId5"/>
    <p:sldId id="3435" r:id="rId6"/>
    <p:sldId id="3477" r:id="rId7"/>
    <p:sldId id="3455" r:id="rId8"/>
    <p:sldId id="3470" r:id="rId9"/>
    <p:sldId id="3471" r:id="rId10"/>
    <p:sldId id="3482" r:id="rId11"/>
    <p:sldId id="3483" r:id="rId12"/>
    <p:sldId id="3428" r:id="rId13"/>
    <p:sldId id="3451" r:id="rId14"/>
    <p:sldId id="3465" r:id="rId15"/>
    <p:sldId id="3484" r:id="rId16"/>
    <p:sldId id="3485" r:id="rId17"/>
    <p:sldId id="3443" r:id="rId18"/>
    <p:sldId id="3466" r:id="rId19"/>
    <p:sldId id="3476" r:id="rId20"/>
    <p:sldId id="3461" r:id="rId21"/>
    <p:sldId id="3462" r:id="rId22"/>
    <p:sldId id="3420" r:id="rId23"/>
    <p:sldId id="3460" r:id="rId24"/>
    <p:sldId id="3481" r:id="rId25"/>
    <p:sldId id="3479" r:id="rId26"/>
    <p:sldId id="3467" r:id="rId27"/>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Background Knowledge" id="{C5ADF914-F8F1-4215-8A34-A521DDB15BBF}">
          <p14:sldIdLst>
            <p14:sldId id="3431"/>
          </p14:sldIdLst>
        </p14:section>
        <p14:section name="Machine Learning" id="{B661AA10-C3FF-4E46-A114-E951FEA8A6DC}">
          <p14:sldIdLst>
            <p14:sldId id="3427"/>
            <p14:sldId id="3435"/>
            <p14:sldId id="3477"/>
            <p14:sldId id="3455"/>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485"/>
            <p14:sldId id="3443"/>
            <p14:sldId id="3466"/>
            <p14:sldId id="3476"/>
            <p14:sldId id="3461"/>
            <p14:sldId id="3462"/>
            <p14:sldId id="3420"/>
          </p14:sldIdLst>
        </p14:section>
        <p14:section name="Conclusion" id="{69C35067-BEF2-4B7C-9B54-B6977EB05C72}">
          <p14:sldIdLst>
            <p14:sldId id="3460"/>
            <p14:sldId id="3481"/>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E7800"/>
    <a:srgbClr val="DAA600"/>
    <a:srgbClr val="F8D462"/>
    <a:srgbClr val="FDE7DA"/>
    <a:srgbClr val="DDDDDD"/>
    <a:srgbClr val="FEC203"/>
    <a:srgbClr val="B7C9E7"/>
    <a:srgbClr val="AAD290"/>
    <a:srgbClr val="FF000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2500" autoAdjust="0"/>
  </p:normalViewPr>
  <p:slideViewPr>
    <p:cSldViewPr>
      <p:cViewPr>
        <p:scale>
          <a:sx n="100" d="100"/>
          <a:sy n="100" d="100"/>
        </p:scale>
        <p:origin x="672" y="-64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2026/6/29</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2026/6/29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AI Evolution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(From AlexNet to GPT)</a:t>
            </a:r>
            <a:endParaRPr lang="en-US" altLang="zh-TW" sz="1200" dirty="0"/>
          </a:p>
          <a:p>
            <a:pPr marL="0" indent="0">
              <a:buFont typeface="Wingdings" panose="05000000000000000000" pitchFamily="2" charset="2"/>
              <a:buNone/>
              <a:defRPr/>
            </a:pPr>
            <a:r>
              <a:rPr lang="en-US" altLang="zh-TW" sz="1200" b="1" dirty="0">
                <a:solidFill>
                  <a:srgbClr val="FF0000"/>
                </a:solidFill>
              </a:rPr>
              <a:t>Machine Learning</a:t>
            </a:r>
            <a:r>
              <a:rPr lang="en-US" altLang="zh-TW" sz="1200" dirty="0">
                <a:solidFill>
                  <a:srgbClr val="FF0000"/>
                </a:solidFill>
              </a:rPr>
              <a:t>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(UL, semi-SL, SL, RL)</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ML: </a:t>
            </a:r>
            <a:r>
              <a:rPr lang="en-US" altLang="zh-TW" sz="1200" dirty="0"/>
              <a:t>Unsupervised </a:t>
            </a:r>
            <a:r>
              <a:rPr lang="en-US" altLang="zh-TW" sz="1200" dirty="0">
                <a:solidFill>
                  <a:schemeClr val="bg1">
                    <a:lumMod val="50000"/>
                  </a:schemeClr>
                </a:solidFill>
              </a:rPr>
              <a:t>(Reduction: PCA, t-SNE, UMAP; Clustering: K-Means, GMM)</a:t>
            </a:r>
          </a:p>
          <a:p>
            <a:pPr marL="0" indent="0">
              <a:buFont typeface="Wingdings" panose="05000000000000000000" pitchFamily="2" charset="2"/>
              <a:buNone/>
              <a:defRPr/>
            </a:pPr>
            <a:r>
              <a:rPr lang="en-US" altLang="zh-TW" sz="1200" dirty="0">
                <a:solidFill>
                  <a:schemeClr val="bg1">
                    <a:lumMod val="50000"/>
                  </a:schemeClr>
                </a:solidFill>
              </a:rPr>
              <a:t>ML: </a:t>
            </a:r>
            <a:r>
              <a:rPr lang="en-US" altLang="zh-TW" sz="1200" dirty="0"/>
              <a:t>Supervised</a:t>
            </a:r>
            <a:r>
              <a:rPr lang="zh-TW" altLang="en-US" sz="1200" dirty="0"/>
              <a:t> </a:t>
            </a:r>
            <a:r>
              <a:rPr lang="en-US" altLang="zh-TW" sz="1200" dirty="0">
                <a:solidFill>
                  <a:schemeClr val="bg1">
                    <a:lumMod val="50000"/>
                  </a:schemeClr>
                </a:solidFill>
              </a:rPr>
              <a:t>(GPT-Supervised Fine Tunning) </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Reinforcement </a:t>
            </a:r>
            <a:r>
              <a:rPr lang="en-US" altLang="zh-TW" sz="1200" dirty="0">
                <a:solidFill>
                  <a:schemeClr val="bg1">
                    <a:lumMod val="50000"/>
                  </a:schemeClr>
                </a:solidFill>
              </a:rPr>
              <a:t>(GPT- Reinforced Learning with Human Feedback)</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Probability Model</a:t>
            </a:r>
            <a:r>
              <a:rPr lang="en-US" altLang="zh-TW" sz="1200" dirty="0">
                <a:solidFill>
                  <a:schemeClr val="bg1">
                    <a:lumMod val="50000"/>
                  </a:schemeClr>
                </a:solidFill>
              </a:rPr>
              <a:t> (EM Model vs Back Propagation) </a:t>
            </a:r>
            <a:endParaRPr lang="en-US" altLang="zh-TW" sz="1200" dirty="0"/>
          </a:p>
          <a:p>
            <a:pPr marL="0" indent="0">
              <a:buFont typeface="Wingdings" panose="05000000000000000000" pitchFamily="2" charset="2"/>
              <a:buNone/>
            </a:pPr>
            <a:r>
              <a:rPr lang="en-US" altLang="zh-TW" sz="1200" b="1" dirty="0">
                <a:solidFill>
                  <a:srgbClr val="FF0000"/>
                </a:solidFill>
              </a:rPr>
              <a:t>Transformer</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rPr>
              <a:t>How decoder predict “Next Token”?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indent="0">
              <a:buFont typeface="Wingdings" panose="05000000000000000000" pitchFamily="2" charset="2"/>
              <a:buNone/>
            </a:pPr>
            <a:r>
              <a:rPr lang="en-US" altLang="zh-TW" sz="1200" dirty="0"/>
              <a:t>T: Architecture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(Embedding, Position Encoding, Self-Attention</a:t>
            </a:r>
            <a:r>
              <a:rPr lang="en-US" altLang="zh-TW" sz="1200" dirty="0">
                <a:solidFill>
                  <a:prstClr val="white">
                    <a:lumMod val="50000"/>
                  </a:prstClr>
                </a:solidFill>
                <a:ea typeface="+mn-ea"/>
              </a:rPr>
              <a:t>, FFN, LP2V</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a:t>
            </a:r>
          </a:p>
          <a:p>
            <a:pPr marL="0" indent="0">
              <a:buFont typeface="Wingdings" panose="05000000000000000000" pitchFamily="2" charset="2"/>
              <a:buNone/>
            </a:pPr>
            <a:r>
              <a:rPr lang="en-US" altLang="zh-TW" sz="1200" dirty="0"/>
              <a:t>T: Attention </a:t>
            </a:r>
            <a:r>
              <a:rPr lang="en-US" altLang="zh-TW" sz="1200" dirty="0">
                <a:solidFill>
                  <a:prstClr val="white">
                    <a:lumMod val="50000"/>
                  </a:prstClr>
                </a:solidFill>
              </a:rPr>
              <a:t>(Attention is all you need)</a:t>
            </a:r>
          </a:p>
          <a:p>
            <a:pPr marL="0" indent="0">
              <a:buFont typeface="Wingdings" panose="05000000000000000000" pitchFamily="2" charset="2"/>
              <a:buNone/>
            </a:pPr>
            <a:r>
              <a:rPr lang="en-US" altLang="zh-TW" sz="1200" dirty="0"/>
              <a:t>T: Token Embedding (Sematic space)</a:t>
            </a:r>
          </a:p>
          <a:p>
            <a:pPr marL="0" indent="0">
              <a:buFont typeface="Wingdings" panose="05000000000000000000" pitchFamily="2" charset="2"/>
              <a:buNone/>
            </a:pPr>
            <a:r>
              <a:rPr lang="en-US" altLang="zh-TW" sz="1200" dirty="0"/>
              <a:t>T:Rotary of PE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(Relative distance)</a:t>
            </a:r>
            <a:endParaRPr kumimoji="0" lang="en-US" altLang="zh-TW" sz="1200" b="0" i="0" u="none" strike="noStrike" kern="1200" cap="none" spc="0" normalizeH="0" baseline="0" noProof="0" dirty="0">
              <a:ln>
                <a:noFill/>
              </a:ln>
              <a:solidFill>
                <a:schemeClr val="tx1"/>
              </a:solidFill>
              <a:effectLst/>
              <a:uLnTx/>
              <a:uFillTx/>
              <a:latin typeface="+mn-lt"/>
              <a:ea typeface="+mn-ea"/>
              <a:cs typeface="+mn-cs"/>
            </a:endParaRPr>
          </a:p>
          <a:p>
            <a:pPr marL="0" indent="0">
              <a:buFont typeface="Wingdings" panose="05000000000000000000" pitchFamily="2" charset="2"/>
              <a:buNone/>
            </a:pPr>
            <a:r>
              <a:rPr lang="en-US" altLang="zh-TW" sz="1200" dirty="0">
                <a:solidFill>
                  <a:prstClr val="black"/>
                </a:solidFill>
              </a:rPr>
              <a:t>T:SDT vs MOE</a:t>
            </a:r>
            <a:r>
              <a:rPr lang="en-US" altLang="zh-TW" sz="1200" dirty="0">
                <a:solidFill>
                  <a:prstClr val="white">
                    <a:lumMod val="50000"/>
                  </a:prstClr>
                </a:solidFill>
              </a:rPr>
              <a:t> (Standard Dense Transformer vs Mixture of Experts)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latin typeface="+mn-lt"/>
                <a:ea typeface="+mn-ea"/>
              </a:rPr>
              <a:t>Working flow:</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Pretraining, Distillation, Alignment&lt;SFT, RLHF&gt;, Inference)</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Pretraining</a:t>
            </a:r>
            <a:r>
              <a:rPr lang="en-US" altLang="zh-TW" sz="1200" dirty="0">
                <a:solidFill>
                  <a:prstClr val="white">
                    <a:lumMod val="50000"/>
                  </a:prstClr>
                </a:solidFill>
              </a:rPr>
              <a:t> (Output: weight matrix and parameters)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Inference </a:t>
            </a:r>
            <a:r>
              <a:rPr lang="en-US" altLang="zh-TW" sz="1200" dirty="0">
                <a:solidFill>
                  <a:prstClr val="white">
                    <a:lumMod val="50000"/>
                  </a:prstClr>
                </a:solidFill>
              </a:rPr>
              <a:t>(Memory</a:t>
            </a:r>
            <a:r>
              <a:rPr lang="zh-TW" altLang="en-US" sz="1200" dirty="0">
                <a:solidFill>
                  <a:prstClr val="white">
                    <a:lumMod val="50000"/>
                  </a:prstClr>
                </a:solidFill>
              </a:rPr>
              <a:t> </a:t>
            </a:r>
            <a:r>
              <a:rPr lang="en-US" altLang="zh-TW" sz="1200" dirty="0">
                <a:solidFill>
                  <a:prstClr val="white">
                    <a:lumMod val="50000"/>
                  </a:prstClr>
                </a:solidFill>
              </a:rPr>
              <a:t>perspective: data flow of tokens)</a:t>
            </a:r>
            <a:endParaRPr kumimoji="0" lang="en-US" altLang="zh-TW"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Cloude vs Edge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(H/W perspective: cost and solution)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Conclusion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(Curate a Holistic perspective on GPT and AI Technology</a:t>
            </a:r>
            <a:r>
              <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4137909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UL: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適用於分群</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降維</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成本低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Supervised Learning: data + label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效果優異但成本高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最常見</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人臉辨識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200" b="1" u="none" strike="noStrike" kern="1200" dirty="0">
                <a:solidFill>
                  <a:schemeClr val="tx1"/>
                </a:solidFill>
                <a:effectLst/>
                <a:latin typeface="+mn-lt"/>
                <a:ea typeface="+mn-ea"/>
                <a:cs typeface="+mn-cs"/>
              </a:rPr>
              <a:t>半監督式學習（</a:t>
            </a:r>
            <a:r>
              <a:rPr lang="en-US" altLang="zh-TW" sz="1200" b="1" u="none" strike="noStrike" kern="1200" dirty="0">
                <a:solidFill>
                  <a:schemeClr val="tx1"/>
                </a:solidFill>
                <a:effectLst/>
                <a:latin typeface="+mn-lt"/>
                <a:ea typeface="+mn-ea"/>
                <a:cs typeface="+mn-cs"/>
              </a:rPr>
              <a:t>Semi-Supervised Learning, SSL</a:t>
            </a:r>
            <a:r>
              <a:rPr lang="zh-TW" altLang="en-US"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主要應用於</a:t>
            </a:r>
            <a:r>
              <a:rPr lang="zh-TW" altLang="en-US" sz="1200" b="1" u="none" strike="noStrike" kern="1200" dirty="0">
                <a:solidFill>
                  <a:schemeClr val="tx1"/>
                </a:solidFill>
                <a:effectLst/>
                <a:latin typeface="+mn-lt"/>
                <a:ea typeface="+mn-ea"/>
                <a:cs typeface="+mn-cs"/>
              </a:rPr>
              <a:t>「標記資料極度昂貴、但未標記資料極易取得」</a:t>
            </a:r>
            <a:r>
              <a:rPr lang="zh-TW" altLang="en-US" sz="1200" b="0" u="none" strike="noStrike" kern="1200" dirty="0">
                <a:solidFill>
                  <a:schemeClr val="tx1"/>
                </a:solidFill>
                <a:effectLst/>
                <a:latin typeface="+mn-lt"/>
                <a:ea typeface="+mn-ea"/>
                <a:cs typeface="+mn-cs"/>
              </a:rPr>
              <a:t>的場景。它結合了少量標籤（</a:t>
            </a:r>
            <a:r>
              <a:rPr lang="en-US" altLang="zh-TW" sz="1200" b="0" u="none" strike="noStrike" kern="1200" dirty="0">
                <a:solidFill>
                  <a:schemeClr val="tx1"/>
                </a:solidFill>
                <a:effectLst/>
                <a:latin typeface="+mn-lt"/>
                <a:ea typeface="+mn-ea"/>
                <a:cs typeface="+mn-cs"/>
              </a:rPr>
              <a:t>Labels</a:t>
            </a:r>
            <a:r>
              <a:rPr lang="zh-TW" altLang="en-US" sz="1200" b="0" u="none" strike="noStrike" kern="1200" dirty="0">
                <a:solidFill>
                  <a:schemeClr val="tx1"/>
                </a:solidFill>
                <a:effectLst/>
                <a:latin typeface="+mn-lt"/>
                <a:ea typeface="+mn-ea"/>
                <a:cs typeface="+mn-cs"/>
              </a:rPr>
              <a:t>）與大量無標籤數據，用以降低人工標記成本並提升模型準確度。</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semi-SL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在成本與效能間</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取得平衡</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t>Medical Imaging, Autonomous Driving</a:t>
            </a: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腫瘤與病變偵測</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用少量經醫生確診的影像作為種子</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結合數萬張未標記的常規醫療影像</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訓練 </a:t>
            </a:r>
            <a:r>
              <a:rPr lang="en-US" altLang="zh-TW" sz="1200" b="0" u="none" strike="noStrike" kern="1200" dirty="0">
                <a:solidFill>
                  <a:schemeClr val="tx1"/>
                </a:solidFill>
                <a:effectLst/>
                <a:latin typeface="+mn-lt"/>
                <a:ea typeface="+mn-ea"/>
                <a:cs typeface="+mn-cs"/>
              </a:rPr>
              <a:t>AI </a:t>
            </a:r>
            <a:r>
              <a:rPr lang="zh-TW" altLang="en-US" sz="1200" b="0" u="none" strike="noStrike" kern="1200" dirty="0">
                <a:solidFill>
                  <a:schemeClr val="tx1"/>
                </a:solidFill>
                <a:effectLst/>
                <a:latin typeface="+mn-lt"/>
                <a:ea typeface="+mn-ea"/>
                <a:cs typeface="+mn-cs"/>
              </a:rPr>
              <a:t>自動識別陰影與病灶。</a:t>
            </a:r>
            <a:r>
              <a:rPr lang="zh-TW" altLang="en-US" sz="1200" b="1" u="none" strike="noStrike" kern="1200" dirty="0">
                <a:solidFill>
                  <a:schemeClr val="tx1"/>
                </a:solidFill>
                <a:effectLst/>
                <a:latin typeface="+mn-lt"/>
                <a:ea typeface="+mn-ea"/>
                <a:cs typeface="+mn-cs"/>
              </a:rPr>
              <a:t>基因序列分析</a:t>
            </a:r>
            <a:r>
              <a:rPr lang="zh-TW" altLang="en-US" sz="1200" b="0" u="none" strike="noStrike" kern="1200" dirty="0">
                <a:solidFill>
                  <a:schemeClr val="tx1"/>
                </a:solidFill>
                <a:effectLst/>
                <a:latin typeface="+mn-lt"/>
                <a:ea typeface="+mn-ea"/>
                <a:cs typeface="+mn-cs"/>
              </a:rPr>
              <a:t>：識別稀有的疾病基因標記。</a:t>
            </a: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自動駕駛</a:t>
            </a:r>
            <a:r>
              <a:rPr lang="en-US" altLang="zh-TW" sz="1200" b="1" u="none" strike="noStrike" kern="1200" dirty="0">
                <a:solidFill>
                  <a:schemeClr val="tx1"/>
                </a:solidFill>
                <a:effectLst/>
                <a:latin typeface="+mn-lt"/>
                <a:ea typeface="+mn-ea"/>
                <a:cs typeface="+mn-cs"/>
              </a:rPr>
              <a:t>(Autonomous Driving): </a:t>
            </a:r>
            <a:r>
              <a:rPr lang="zh-TW" altLang="en-US" dirty="0"/>
              <a:t>行車記錄器每天產出數百萬小時的街景影片，</a:t>
            </a:r>
            <a:r>
              <a:rPr lang="en-US" altLang="zh-TW" dirty="0"/>
              <a:t>AI </a:t>
            </a:r>
            <a:r>
              <a:rPr lang="zh-TW" altLang="en-US" dirty="0"/>
              <a:t>利用少量手動標記的行人</a:t>
            </a:r>
            <a:r>
              <a:rPr lang="en-US" altLang="zh-TW" dirty="0"/>
              <a:t>/</a:t>
            </a:r>
            <a:r>
              <a:rPr lang="zh-TW" altLang="en-US" dirty="0"/>
              <a:t>車輛圖，結合海量未標記影片，學習辨識複雜路況。</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self-SL: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GPT-Pretraining</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RL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給環境</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實戰中取得最佳化</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en-US" altLang="zh-TW" sz="1200" dirty="0"/>
              <a:t>: AlphaGo, GPT-RLHF</a:t>
            </a:r>
            <a:endParaRPr lang="en-US" altLang="zh-TW" sz="1200" dirty="0">
              <a:latin typeface="微軟正黑體" panose="020B0604030504040204" pitchFamily="34" charset="-120"/>
              <a:ea typeface="微軟正黑體" panose="020B0604030504040204" pitchFamily="34" charset="-120"/>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自監督學習</a:t>
            </a:r>
            <a:r>
              <a:rPr lang="en-US" altLang="zh-TW"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(Self-Supervised Learning, SSL)</a:t>
            </a:r>
            <a:r>
              <a:rPr lang="zh-TW" altLang="en-US" sz="1000" dirty="0">
                <a:latin typeface="微軟正黑體" panose="020B0604030504040204" pitchFamily="34" charset="-120"/>
                <a:ea typeface="微軟正黑體" panose="020B0604030504040204" pitchFamily="34" charset="-120"/>
              </a:rPr>
              <a:t>是近年人工智慧</a:t>
            </a:r>
            <a:r>
              <a:rPr lang="en-US" altLang="zh-TW" sz="1000" dirty="0">
                <a:latin typeface="微軟正黑體" panose="020B0604030504040204" pitchFamily="34" charset="-120"/>
                <a:ea typeface="微軟正黑體" panose="020B0604030504040204" pitchFamily="34" charset="-120"/>
              </a:rPr>
              <a:t>(AI)</a:t>
            </a:r>
            <a:r>
              <a:rPr lang="zh-TW" altLang="en-US" sz="1000" dirty="0">
                <a:latin typeface="微軟正黑體" panose="020B0604030504040204" pitchFamily="34" charset="-120"/>
                <a:ea typeface="微軟正黑體" panose="020B0604030504040204" pitchFamily="34" charset="-120"/>
              </a:rPr>
              <a:t>爆發的核心技術。它透過巧妙設計</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讓模型直接從海量的</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無標記資料</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中自我挖掘特徵並自動生成標籤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偽標籤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大幅降低了對昂貴人工標註的依賴。</a:t>
            </a:r>
            <a:endParaRPr lang="en-US" altLang="zh-TW" sz="1000" dirty="0">
              <a:latin typeface="微軟正黑體" panose="020B0604030504040204" pitchFamily="34" charset="-120"/>
              <a:ea typeface="微軟正黑體" panose="020B0604030504040204" pitchFamily="34" charset="-120"/>
            </a:endParaRPr>
          </a:p>
          <a:p>
            <a:endParaRPr lang="zh-TW" altLang="en-US" sz="100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3357112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42701050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xxx</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a:t>MoE,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2026/6/29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90.png"/><Relationship Id="rId13" Type="http://schemas.openxmlformats.org/officeDocument/2006/relationships/image" Target="../media/image4.png"/><Relationship Id="rId18" Type="http://schemas.openxmlformats.org/officeDocument/2006/relationships/image" Target="../media/image9.png"/><Relationship Id="rId3" Type="http://schemas.openxmlformats.org/officeDocument/2006/relationships/image" Target="../media/image2.png"/><Relationship Id="rId7" Type="http://schemas.openxmlformats.org/officeDocument/2006/relationships/image" Target="NULL"/><Relationship Id="rId12" Type="http://schemas.openxmlformats.org/officeDocument/2006/relationships/image" Target="../media/image19.png"/><Relationship Id="rId17" Type="http://schemas.openxmlformats.org/officeDocument/2006/relationships/image" Target="../media/image8.png"/><Relationship Id="rId2" Type="http://schemas.openxmlformats.org/officeDocument/2006/relationships/notesSlide" Target="../notesSlides/notesSlide6.xml"/><Relationship Id="rId16" Type="http://schemas.openxmlformats.org/officeDocument/2006/relationships/image" Target="../media/image7.png"/><Relationship Id="rId1" Type="http://schemas.openxmlformats.org/officeDocument/2006/relationships/slideLayout" Target="../slideLayouts/slideLayout3.xml"/><Relationship Id="rId6" Type="http://schemas.openxmlformats.org/officeDocument/2006/relationships/image" Target="NULL"/><Relationship Id="rId11" Type="http://schemas.openxmlformats.org/officeDocument/2006/relationships/image" Target="../media/image18.png"/><Relationship Id="rId5" Type="http://schemas.openxmlformats.org/officeDocument/2006/relationships/image" Target="../media/image16.png"/><Relationship Id="rId15" Type="http://schemas.openxmlformats.org/officeDocument/2006/relationships/image" Target="../media/image6.png"/><Relationship Id="rId10" Type="http://schemas.openxmlformats.org/officeDocument/2006/relationships/image" Target="NULL"/><Relationship Id="rId4" Type="http://schemas.openxmlformats.org/officeDocument/2006/relationships/image" Target="../media/image3.png"/><Relationship Id="rId9" Type="http://schemas.openxmlformats.org/officeDocument/2006/relationships/image" Target="../media/image10.png"/><Relationship Id="rId1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90.png"/><Relationship Id="rId13" Type="http://schemas.openxmlformats.org/officeDocument/2006/relationships/image" Target="../media/image4.png"/><Relationship Id="rId18" Type="http://schemas.openxmlformats.org/officeDocument/2006/relationships/image" Target="../media/image9.png"/><Relationship Id="rId3" Type="http://schemas.openxmlformats.org/officeDocument/2006/relationships/image" Target="../media/image2.png"/><Relationship Id="rId7" Type="http://schemas.openxmlformats.org/officeDocument/2006/relationships/image" Target="NULL"/><Relationship Id="rId12" Type="http://schemas.openxmlformats.org/officeDocument/2006/relationships/image" Target="../media/image19.png"/><Relationship Id="rId17" Type="http://schemas.openxmlformats.org/officeDocument/2006/relationships/image" Target="../media/image8.png"/><Relationship Id="rId2" Type="http://schemas.openxmlformats.org/officeDocument/2006/relationships/notesSlide" Target="../notesSlides/notesSlide14.xml"/><Relationship Id="rId16" Type="http://schemas.openxmlformats.org/officeDocument/2006/relationships/image" Target="../media/image7.png"/><Relationship Id="rId1" Type="http://schemas.openxmlformats.org/officeDocument/2006/relationships/slideLayout" Target="../slideLayouts/slideLayout3.xml"/><Relationship Id="rId6" Type="http://schemas.openxmlformats.org/officeDocument/2006/relationships/image" Target="NULL"/><Relationship Id="rId11" Type="http://schemas.openxmlformats.org/officeDocument/2006/relationships/image" Target="../media/image18.png"/><Relationship Id="rId5" Type="http://schemas.openxmlformats.org/officeDocument/2006/relationships/image" Target="../media/image16.png"/><Relationship Id="rId15" Type="http://schemas.openxmlformats.org/officeDocument/2006/relationships/image" Target="../media/image6.png"/><Relationship Id="rId10" Type="http://schemas.openxmlformats.org/officeDocument/2006/relationships/image" Target="NULL"/><Relationship Id="rId4" Type="http://schemas.openxmlformats.org/officeDocument/2006/relationships/image" Target="../media/image3.png"/><Relationship Id="rId9" Type="http://schemas.openxmlformats.org/officeDocument/2006/relationships/image" Target="../media/image10.png"/><Relationship Id="rId1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15.bmp"/><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41.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19.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48.jp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187623" y="908720"/>
            <a:ext cx="6552728" cy="5262979"/>
          </a:xfrm>
          <a:prstGeom prst="rect">
            <a:avLst/>
          </a:prstGeom>
          <a:solidFill>
            <a:schemeClr val="bg1"/>
          </a:solid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rPr>
              <a:t>AI Overview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(AI Evolution from AlexNet to GPT)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Machine Learning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(UL, semi-SL, SL, RL)</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Self-Supervised</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Supervised Fine Tunning)</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Reinforcement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Reinforcement Learning with Human Feedback)</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Backpropagation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endParaRPr lang="en-US" altLang="zh-TW" sz="2400" dirty="0">
              <a:latin typeface="Noto Sans HK" panose="020B0200000000000000" pitchFamily="34" charset="-120"/>
              <a:ea typeface="Noto Sans HK" panose="020B0200000000000000" pitchFamily="34" charset="-120"/>
            </a:endParaRP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How decoder predict “Next Token”?</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Architecture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Position Encoding,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(Pretraining, Distillation, Alignment&lt;SFT, RLHF&gt;, Inference)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Distillation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Inference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and RAG)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childTnLst>
                          </p:cTn>
                        </p:par>
                      </p:childTnLst>
                    </p:cTn>
                  </p:par>
                  <p:par>
                    <p:cTn id="7" fill="hold">
                      <p:stCondLst>
                        <p:cond delay="indefinite"/>
                      </p:stCondLst>
                      <p:childTnLst>
                        <p:par>
                          <p:cTn id="8" fill="hold">
                            <p:stCondLst>
                              <p:cond delay="0"/>
                            </p:stCondLst>
                            <p:childTnLst>
                              <p:par>
                                <p:cTn id="9" presetID="3" presetClass="emph" presetSubtype="2" fill="hold" grpId="0" nodeType="clickEffect">
                                  <p:stCondLst>
                                    <p:cond delay="0"/>
                                  </p:stCondLst>
                                  <p:childTnLst>
                                    <p:animClr clrSpc="rgb" dir="cw">
                                      <p:cBhvr override="childStyle">
                                        <p:cTn id="10"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childTnLst>
                          </p:cTn>
                        </p:par>
                      </p:childTnLst>
                    </p:cTn>
                  </p:par>
                  <p:par>
                    <p:cTn id="15" fill="hold">
                      <p:stCondLst>
                        <p:cond delay="indefinite"/>
                      </p:stCondLst>
                      <p:childTnLst>
                        <p:par>
                          <p:cTn id="16" fill="hold">
                            <p:stCondLst>
                              <p:cond delay="0"/>
                            </p:stCondLst>
                            <p:childTnLst>
                              <p:par>
                                <p:cTn id="17" presetID="3" presetClass="emph" presetSubtype="2" fill="hold" grpId="0" nodeType="clickEffect">
                                  <p:stCondLst>
                                    <p:cond delay="0"/>
                                  </p:stCondLst>
                                  <p:childTnLst>
                                    <p:animClr clrSpc="rgb" dir="cw">
                                      <p:cBhvr override="childStyle">
                                        <p:cTn id="18"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childTnLst>
                          </p:cTn>
                        </p:par>
                      </p:childTnLst>
                    </p:cTn>
                  </p:par>
                  <p:par>
                    <p:cTn id="19" fill="hold">
                      <p:stCondLst>
                        <p:cond delay="indefinite"/>
                      </p:stCondLst>
                      <p:childTnLst>
                        <p:par>
                          <p:cTn id="20" fill="hold">
                            <p:stCondLst>
                              <p:cond delay="0"/>
                            </p:stCondLst>
                            <p:childTnLst>
                              <p:par>
                                <p:cTn id="21" presetID="3" presetClass="emph" presetSubtype="2" fill="hold" grpId="0" nodeType="clickEffect">
                                  <p:stCondLst>
                                    <p:cond delay="0"/>
                                  </p:stCondLst>
                                  <p:childTnLst>
                                    <p:animClr clrSpc="rgb" dir="cw">
                                      <p:cBhvr override="childStyle">
                                        <p:cTn id="22"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1" nodeType="withEffect">
                                  <p:stCondLst>
                                    <p:cond delay="0"/>
                                  </p:stCondLst>
                                  <p:childTnLst>
                                    <p:animClr clrSpc="rgb" dir="cw">
                                      <p:cBhvr override="childStyle">
                                        <p:cTn id="24" dur="2000" fill="hold"/>
                                        <p:tgtEl>
                                          <p:spTgt spid="2">
                                            <p:txEl>
                                              <p:pRg st="2" end="2"/>
                                            </p:txEl>
                                          </p:spTgt>
                                        </p:tgtEl>
                                        <p:attrNameLst>
                                          <p:attrName>style.color</p:attrName>
                                        </p:attrNameLst>
                                      </p:cBhvr>
                                      <p:to>
                                        <a:srgbClr val="4D4D4D"/>
                                      </p:to>
                                    </p:animClr>
                                  </p:childTnLst>
                                </p:cTn>
                              </p:par>
                            </p:childTnLst>
                          </p:cTn>
                        </p:par>
                      </p:childTnLst>
                    </p:cTn>
                  </p:par>
                  <p:par>
                    <p:cTn id="25" fill="hold">
                      <p:stCondLst>
                        <p:cond delay="indefinite"/>
                      </p:stCondLst>
                      <p:childTnLst>
                        <p:par>
                          <p:cTn id="26" fill="hold">
                            <p:stCondLst>
                              <p:cond delay="0"/>
                            </p:stCondLst>
                            <p:childTnLst>
                              <p:par>
                                <p:cTn id="27" presetID="3" presetClass="emph" presetSubtype="2" fill="hold" grpId="0" nodeType="clickEffect">
                                  <p:stCondLst>
                                    <p:cond delay="0"/>
                                  </p:stCondLst>
                                  <p:childTnLst>
                                    <p:animClr clrSpc="rgb" dir="cw">
                                      <p:cBhvr override="childStyle">
                                        <p:cTn id="28"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1" nodeType="withEffect">
                                  <p:stCondLst>
                                    <p:cond delay="0"/>
                                  </p:stCondLst>
                                  <p:childTnLst>
                                    <p:animClr clrSpc="rgb" dir="cw">
                                      <p:cBhvr override="childStyle">
                                        <p:cTn id="30" dur="2000" fill="hold"/>
                                        <p:tgtEl>
                                          <p:spTgt spid="2">
                                            <p:txEl>
                                              <p:pRg st="3" end="3"/>
                                            </p:txEl>
                                          </p:spTgt>
                                        </p:tgtEl>
                                        <p:attrNameLst>
                                          <p:attrName>style.color</p:attrName>
                                        </p:attrNameLst>
                                      </p:cBhvr>
                                      <p:to>
                                        <a:srgbClr val="4D4D4D"/>
                                      </p:to>
                                    </p:animClr>
                                  </p:childTnLst>
                                </p:cTn>
                              </p:par>
                            </p:childTnLst>
                          </p:cTn>
                        </p:par>
                      </p:childTnLst>
                    </p:cTn>
                  </p:par>
                  <p:par>
                    <p:cTn id="31" fill="hold">
                      <p:stCondLst>
                        <p:cond delay="indefinite"/>
                      </p:stCondLst>
                      <p:childTnLst>
                        <p:par>
                          <p:cTn id="32" fill="hold">
                            <p:stCondLst>
                              <p:cond delay="0"/>
                            </p:stCondLst>
                            <p:childTnLst>
                              <p:par>
                                <p:cTn id="33" presetID="3" presetClass="emph" presetSubtype="2" fill="hold" grpId="0" nodeType="clickEffect">
                                  <p:stCondLst>
                                    <p:cond delay="0"/>
                                  </p:stCondLst>
                                  <p:childTnLst>
                                    <p:animClr clrSpc="rgb" dir="cw">
                                      <p:cBhvr override="childStyle">
                                        <p:cTn id="34"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4D4D4D"/>
                                      </p:to>
                                    </p:animClr>
                                  </p:childTnLst>
                                </p:cTn>
                              </p:par>
                            </p:childTnLst>
                          </p:cTn>
                        </p:par>
                      </p:childTnLst>
                    </p:cTn>
                  </p:par>
                  <p:par>
                    <p:cTn id="37" fill="hold">
                      <p:stCondLst>
                        <p:cond delay="indefinite"/>
                      </p:stCondLst>
                      <p:childTnLst>
                        <p:par>
                          <p:cTn id="38" fill="hold">
                            <p:stCondLst>
                              <p:cond delay="0"/>
                            </p:stCondLst>
                            <p:childTnLst>
                              <p:par>
                                <p:cTn id="39" presetID="3" presetClass="emph" presetSubtype="2" fill="hold" grpId="0" nodeType="clickEffect">
                                  <p:stCondLst>
                                    <p:cond delay="0"/>
                                  </p:stCondLst>
                                  <p:childTnLst>
                                    <p:animClr clrSpc="rgb" dir="cw">
                                      <p:cBhvr override="childStyle">
                                        <p:cTn id="40"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9"/>
                                            </p:cond>
                                          </p:stCondLst>
                                          <p:endCondLst>
                                            <p:cond evt="onStopAudio" delay="0">
                                              <p:tgtEl>
                                                <p:sldTgt/>
                                              </p:tgtEl>
                                            </p:cond>
                                          </p:endCondLst>
                                        </p:cTn>
                                        <p:tgtEl>
                                          <p:sndTgt r:embed="rId3" name="type.wav"/>
                                        </p:tgtEl>
                                      </p:cMediaNode>
                                    </p:audio>
                                  </p:subTnLst>
                                </p:cTn>
                              </p:par>
                              <p:par>
                                <p:cTn id="41" presetID="3" presetClass="emph" presetSubtype="2" fill="hold" grpId="1" nodeType="withEffect">
                                  <p:stCondLst>
                                    <p:cond delay="0"/>
                                  </p:stCondLst>
                                  <p:childTnLst>
                                    <p:animClr clrSpc="rgb" dir="cw">
                                      <p:cBhvr override="childStyle">
                                        <p:cTn id="42" dur="2000" fill="hold"/>
                                        <p:tgtEl>
                                          <p:spTgt spid="2">
                                            <p:txEl>
                                              <p:pRg st="5" end="5"/>
                                            </p:txEl>
                                          </p:spTgt>
                                        </p:tgtEl>
                                        <p:attrNameLst>
                                          <p:attrName>style.color</p:attrName>
                                        </p:attrNameLst>
                                      </p:cBhvr>
                                      <p:to>
                                        <a:srgbClr val="4D4D4D"/>
                                      </p:to>
                                    </p:animClr>
                                  </p:childTnLst>
                                </p:cTn>
                              </p:par>
                            </p:childTnLst>
                          </p:cTn>
                        </p:par>
                      </p:childTnLst>
                    </p:cTn>
                  </p:par>
                  <p:par>
                    <p:cTn id="43" fill="hold">
                      <p:stCondLst>
                        <p:cond delay="indefinite"/>
                      </p:stCondLst>
                      <p:childTnLst>
                        <p:par>
                          <p:cTn id="44" fill="hold">
                            <p:stCondLst>
                              <p:cond delay="0"/>
                            </p:stCondLst>
                            <p:childTnLst>
                              <p:par>
                                <p:cTn id="45" presetID="3" presetClass="emph" presetSubtype="2" fill="hold" grpId="0" nodeType="clickEffect">
                                  <p:stCondLst>
                                    <p:cond delay="0"/>
                                  </p:stCondLst>
                                  <p:childTnLst>
                                    <p:animClr clrSpc="rgb" dir="cw">
                                      <p:cBhvr override="childStyle">
                                        <p:cTn id="4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5"/>
                                            </p:cond>
                                          </p:stCondLst>
                                          <p:endCondLst>
                                            <p:cond evt="onStopAudio" delay="0">
                                              <p:tgtEl>
                                                <p:sldTgt/>
                                              </p:tgtEl>
                                            </p:cond>
                                          </p:endCondLst>
                                        </p:cTn>
                                        <p:tgtEl>
                                          <p:sndTgt r:embed="rId3" name="type.wav"/>
                                        </p:tgtEl>
                                      </p:cMediaNode>
                                    </p:audio>
                                  </p:subTnLst>
                                </p:cTn>
                              </p:par>
                              <p:par>
                                <p:cTn id="47" presetID="3" presetClass="emph" presetSubtype="2" fill="hold" grpId="1" nodeType="withEffect">
                                  <p:stCondLst>
                                    <p:cond delay="0"/>
                                  </p:stCondLst>
                                  <p:childTnLst>
                                    <p:animClr clrSpc="rgb" dir="cw">
                                      <p:cBhvr override="childStyle">
                                        <p:cTn id="48" dur="2000" fill="hold"/>
                                        <p:tgtEl>
                                          <p:spTgt spid="2">
                                            <p:txEl>
                                              <p:pRg st="6" end="6"/>
                                            </p:txEl>
                                          </p:spTgt>
                                        </p:tgtEl>
                                        <p:attrNameLst>
                                          <p:attrName>style.color</p:attrName>
                                        </p:attrNameLst>
                                      </p:cBhvr>
                                      <p:to>
                                        <a:srgbClr val="4D4D4D"/>
                                      </p:to>
                                    </p:animClr>
                                  </p:child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7" end="7"/>
                                            </p:txEl>
                                          </p:spTgt>
                                        </p:tgtEl>
                                        <p:attrNameLst>
                                          <p:attrName>style.color</p:attrName>
                                        </p:attrNameLst>
                                      </p:cBhvr>
                                      <p:to>
                                        <a:srgbClr val="4D4D4D"/>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1" end="11"/>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par>
                                <p:cTn id="83" presetID="3" presetClass="emph" presetSubtype="2" fill="hold" grpId="1" nodeType="withEffect">
                                  <p:stCondLst>
                                    <p:cond delay="0"/>
                                  </p:stCondLst>
                                  <p:childTnLst>
                                    <p:animClr clrSpc="rgb" dir="cw">
                                      <p:cBhvr override="childStyle">
                                        <p:cTn id="84" dur="2000" fill="hold"/>
                                        <p:tgtEl>
                                          <p:spTgt spid="2">
                                            <p:txEl>
                                              <p:pRg st="12" end="12"/>
                                            </p:txEl>
                                          </p:spTgt>
                                        </p:tgtEl>
                                        <p:attrNameLst>
                                          <p:attrName>style.color</p:attrName>
                                        </p:attrNameLst>
                                      </p:cBhvr>
                                      <p:to>
                                        <a:srgbClr val="4D4D4D"/>
                                      </p:to>
                                    </p:animClr>
                                  </p:childTnLst>
                                </p:cTn>
                              </p:par>
                              <p:par>
                                <p:cTn id="85" presetID="3" presetClass="emph" presetSubtype="2" fill="hold" grpId="1" nodeType="withEffect">
                                  <p:stCondLst>
                                    <p:cond delay="0"/>
                                  </p:stCondLst>
                                  <p:childTnLst>
                                    <p:animClr clrSpc="rgb" dir="cw">
                                      <p:cBhvr override="childStyle">
                                        <p:cTn id="86" dur="2000" fill="hold"/>
                                        <p:tgtEl>
                                          <p:spTgt spid="2">
                                            <p:txEl>
                                              <p:pRg st="13" end="13"/>
                                            </p:txEl>
                                          </p:spTgt>
                                        </p:tgtEl>
                                        <p:attrNameLst>
                                          <p:attrName>style.color</p:attrName>
                                        </p:attrNameLst>
                                      </p:cBhvr>
                                      <p:to>
                                        <a:srgbClr val="4D4D4D"/>
                                      </p:to>
                                    </p:animClr>
                                  </p:childTnLst>
                                </p:cTn>
                              </p:par>
                              <p:par>
                                <p:cTn id="87" presetID="3" presetClass="emph" presetSubtype="2" fill="hold" grpId="1" nodeType="withEffect">
                                  <p:stCondLst>
                                    <p:cond delay="0"/>
                                  </p:stCondLst>
                                  <p:childTnLst>
                                    <p:animClr clrSpc="rgb" dir="cw">
                                      <p:cBhvr override="childStyle">
                                        <p:cTn id="88" dur="2000" fill="hold"/>
                                        <p:tgtEl>
                                          <p:spTgt spid="2">
                                            <p:txEl>
                                              <p:pRg st="14" end="14"/>
                                            </p:txEl>
                                          </p:spTgt>
                                        </p:tgtEl>
                                        <p:attrNameLst>
                                          <p:attrName>style.color</p:attrName>
                                        </p:attrNameLst>
                                      </p:cBhvr>
                                      <p:to>
                                        <a:srgbClr val="4D4D4D"/>
                                      </p:to>
                                    </p:animClr>
                                  </p:child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15" end="15"/>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6" end="16"/>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childTnLst>
                          </p:cTn>
                        </p:par>
                      </p:childTnLst>
                    </p:cTn>
                  </p:par>
                  <p:par>
                    <p:cTn id="95" fill="hold">
                      <p:stCondLst>
                        <p:cond delay="indefinite"/>
                      </p:stCondLst>
                      <p:childTnLst>
                        <p:par>
                          <p:cTn id="96" fill="hold">
                            <p:stCondLst>
                              <p:cond delay="0"/>
                            </p:stCondLst>
                            <p:childTnLst>
                              <p:par>
                                <p:cTn id="97" presetID="1" presetClass="exit" presetSubtype="0" fill="hold" grpId="2" nodeType="clickEffect">
                                  <p:stCondLst>
                                    <p:cond delay="0"/>
                                  </p:stCondLst>
                                  <p:childTnLst>
                                    <p:set>
                                      <p:cBhvr>
                                        <p:cTn id="98" dur="1" fill="hold">
                                          <p:stCondLst>
                                            <p:cond delay="0"/>
                                          </p:stCondLst>
                                        </p:cTn>
                                        <p:tgtEl>
                                          <p:spTgt spid="2">
                                            <p:bg/>
                                          </p:spTgt>
                                        </p:tgtEl>
                                        <p:attrNameLst>
                                          <p:attrName>style.visibility</p:attrName>
                                        </p:attrNameLst>
                                      </p:cBhvr>
                                      <p:to>
                                        <p:strVal val="hidden"/>
                                      </p:to>
                                    </p:set>
                                  </p:childTnLst>
                                </p:cTn>
                              </p:par>
                            </p:childTnLst>
                          </p:cTn>
                        </p:par>
                      </p:childTnLst>
                    </p:cTn>
                  </p:par>
                  <p:par>
                    <p:cTn id="99" fill="hold">
                      <p:stCondLst>
                        <p:cond delay="indefinite"/>
                      </p:stCondLst>
                      <p:childTnLst>
                        <p:par>
                          <p:cTn id="100" fill="hold">
                            <p:stCondLst>
                              <p:cond delay="0"/>
                            </p:stCondLst>
                            <p:childTnLst>
                              <p:par>
                                <p:cTn id="101" presetID="3" presetClass="emph" presetSubtype="2" fill="hold" grpId="0" nodeType="clickEffect">
                                  <p:stCondLst>
                                    <p:cond delay="0"/>
                                  </p:stCondLst>
                                  <p:childTnLst>
                                    <p:animClr clrSpc="rgb" dir="cw">
                                      <p:cBhvr override="childStyle">
                                        <p:cTn id="10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101"/>
                                            </p:cond>
                                          </p:stCondLst>
                                          <p:endCondLst>
                                            <p:cond evt="onStopAudio" delay="0">
                                              <p:tgtEl>
                                                <p:sldTgt/>
                                              </p:tgtEl>
                                            </p:cond>
                                          </p:endCondLst>
                                        </p:cTn>
                                        <p:tgtEl>
                                          <p:sndTgt r:embed="rId3" name="type.wav"/>
                                        </p:tgtEl>
                                      </p:cMediaNode>
                                    </p:audio>
                                  </p:subTnLst>
                                </p:cTn>
                              </p:par>
                              <p:par>
                                <p:cTn id="103" presetID="3" presetClass="emph" presetSubtype="2" fill="hold" grpId="1" nodeType="withEffect">
                                  <p:stCondLst>
                                    <p:cond delay="0"/>
                                  </p:stCondLst>
                                  <p:childTnLst>
                                    <p:animClr clrSpc="rgb" dir="cw">
                                      <p:cBhvr override="childStyle">
                                        <p:cTn id="104" dur="2000" fill="hold"/>
                                        <p:tgtEl>
                                          <p:spTgt spid="2">
                                            <p:txEl>
                                              <p:pRg st="15" end="15"/>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6" end="16"/>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3" presetClass="emph" presetSubtype="2" fill="hold" grpId="0" nodeType="clickEffect">
                                  <p:stCondLst>
                                    <p:cond delay="0"/>
                                  </p:stCondLst>
                                  <p:childTnLst>
                                    <p:animClr clrSpc="rgb" dir="cw">
                                      <p:cBhvr override="childStyle">
                                        <p:cTn id="11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109"/>
                                            </p:cond>
                                          </p:stCondLst>
                                          <p:endCondLst>
                                            <p:cond evt="onStopAudio" delay="0">
                                              <p:tgtEl>
                                                <p:sldTgt/>
                                              </p:tgtEl>
                                            </p:cond>
                                          </p:endCondLst>
                                        </p:cTn>
                                        <p:tgtEl>
                                          <p:sndTgt r:embed="rId3" name="type.wav"/>
                                        </p:tgtEl>
                                      </p:cMediaNode>
                                    </p:audio>
                                  </p:subTnLst>
                                </p:cTn>
                              </p:par>
                              <p:par>
                                <p:cTn id="111" presetID="3" presetClass="emph" presetSubtype="2" fill="hold" grpId="0" nodeType="withEffect">
                                  <p:stCondLst>
                                    <p:cond delay="0"/>
                                  </p:stCondLst>
                                  <p:childTnLst>
                                    <p:animClr clrSpc="rgb" dir="cw">
                                      <p:cBhvr override="childStyle">
                                        <p:cTn id="11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111"/>
                                            </p:cond>
                                          </p:stCondLst>
                                          <p:endCondLst>
                                            <p:cond evt="onStopAudio" delay="0">
                                              <p:tgtEl>
                                                <p:sldTgt/>
                                              </p:tgtEl>
                                            </p:cond>
                                          </p:endCondLst>
                                        </p:cTn>
                                        <p:tgtEl>
                                          <p:sndTgt r:embed="rId3" name="type.wav"/>
                                        </p:tgtEl>
                                      </p:cMediaNode>
                                    </p:audio>
                                  </p:subTnLst>
                                </p:cTn>
                              </p:par>
                              <p:par>
                                <p:cTn id="113" presetID="3" presetClass="emph" presetSubtype="2" fill="hold" grpId="1" nodeType="withEffect">
                                  <p:stCondLst>
                                    <p:cond delay="0"/>
                                  </p:stCondLst>
                                  <p:childTnLst>
                                    <p:animClr clrSpc="rgb" dir="cw">
                                      <p:cBhvr override="childStyle">
                                        <p:cTn id="114" dur="2000" fill="hold"/>
                                        <p:tgtEl>
                                          <p:spTgt spid="2">
                                            <p:txEl>
                                              <p:pRg st="12" end="12"/>
                                            </p:txEl>
                                          </p:spTgt>
                                        </p:tgtEl>
                                        <p:attrNameLst>
                                          <p:attrName>style.color</p:attrName>
                                        </p:attrNameLst>
                                      </p:cBhvr>
                                      <p:to>
                                        <a:srgbClr val="4D4D4D"/>
                                      </p:to>
                                    </p:animClr>
                                  </p:childTnLst>
                                </p:cTn>
                              </p:par>
                              <p:par>
                                <p:cTn id="115" presetID="3" presetClass="emph" presetSubtype="2" fill="hold" grpId="1" nodeType="withEffect">
                                  <p:stCondLst>
                                    <p:cond delay="0"/>
                                  </p:stCondLst>
                                  <p:childTnLst>
                                    <p:animClr clrSpc="rgb" dir="cw">
                                      <p:cBhvr override="childStyle">
                                        <p:cTn id="116" dur="2000" fill="hold"/>
                                        <p:tgtEl>
                                          <p:spTgt spid="2">
                                            <p:txEl>
                                              <p:pRg st="13" end="13"/>
                                            </p:txEl>
                                          </p:spTgt>
                                        </p:tgtEl>
                                        <p:attrNameLst>
                                          <p:attrName>style.color</p:attrName>
                                        </p:attrNameLst>
                                      </p:cBhvr>
                                      <p:to>
                                        <a:srgbClr val="4D4D4D"/>
                                      </p:to>
                                    </p:animClr>
                                  </p:childTnLst>
                                </p:cTn>
                              </p:par>
                              <p:par>
                                <p:cTn id="117" presetID="3" presetClass="emph" presetSubtype="2" fill="hold" grpId="1" nodeType="withEffect">
                                  <p:stCondLst>
                                    <p:cond delay="0"/>
                                  </p:stCondLst>
                                  <p:childTnLst>
                                    <p:animClr clrSpc="rgb" dir="cw">
                                      <p:cBhvr override="childStyle">
                                        <p:cTn id="118" dur="2000" fill="hold"/>
                                        <p:tgtEl>
                                          <p:spTgt spid="2">
                                            <p:txEl>
                                              <p:pRg st="14" end="14"/>
                                            </p:txEl>
                                          </p:spTgt>
                                        </p:tgtEl>
                                        <p:attrNameLst>
                                          <p:attrName>style.color</p:attrName>
                                        </p:attrNameLst>
                                      </p:cBhvr>
                                      <p:to>
                                        <a:srgbClr val="4D4D4D"/>
                                      </p:to>
                                    </p:animClr>
                                  </p:childTnLst>
                                </p:cTn>
                              </p:par>
                              <p:par>
                                <p:cTn id="119" presetID="3" presetClass="emph" presetSubtype="2" fill="hold" grpId="1" nodeType="withEffect">
                                  <p:stCondLst>
                                    <p:cond delay="0"/>
                                  </p:stCondLst>
                                  <p:childTnLst>
                                    <p:animClr clrSpc="rgb" dir="cw">
                                      <p:cBhvr override="childStyle">
                                        <p:cTn id="120" dur="2000" fill="hold"/>
                                        <p:tgtEl>
                                          <p:spTgt spid="2">
                                            <p:txEl>
                                              <p:pRg st="7" end="7"/>
                                            </p:txEl>
                                          </p:spTgt>
                                        </p:tgtEl>
                                        <p:attrNameLst>
                                          <p:attrName>style.color</p:attrName>
                                        </p:attrNameLst>
                                      </p:cBhvr>
                                      <p:to>
                                        <a:srgbClr val="4D4D4D"/>
                                      </p:to>
                                    </p:animClr>
                                  </p:childTnLst>
                                </p:cTn>
                              </p:par>
                              <p:par>
                                <p:cTn id="121" presetID="3" presetClass="emph" presetSubtype="2" fill="hold" grpId="1" nodeType="withEffect">
                                  <p:stCondLst>
                                    <p:cond delay="0"/>
                                  </p:stCondLst>
                                  <p:childTnLst>
                                    <p:animClr clrSpc="rgb" dir="cw">
                                      <p:cBhvr override="childStyle">
                                        <p:cTn id="122" dur="2000" fill="hold"/>
                                        <p:tgtEl>
                                          <p:spTgt spid="2">
                                            <p:txEl>
                                              <p:pRg st="9" end="9"/>
                                            </p:txEl>
                                          </p:spTgt>
                                        </p:tgtEl>
                                        <p:attrNameLst>
                                          <p:attrName>style.color</p:attrName>
                                        </p:attrNameLst>
                                      </p:cBhvr>
                                      <p:to>
                                        <a:srgbClr val="4D4D4D"/>
                                      </p:to>
                                    </p:animClr>
                                  </p:childTnLst>
                                </p:cTn>
                              </p:par>
                              <p:par>
                                <p:cTn id="123" presetID="3" presetClass="emph" presetSubtype="2" fill="hold" grpId="1" nodeType="withEffect">
                                  <p:stCondLst>
                                    <p:cond delay="0"/>
                                  </p:stCondLst>
                                  <p:childTnLst>
                                    <p:animClr clrSpc="rgb" dir="cw">
                                      <p:cBhvr override="childStyle">
                                        <p:cTn id="124" dur="2000" fill="hold"/>
                                        <p:tgtEl>
                                          <p:spTgt spid="2">
                                            <p:txEl>
                                              <p:pRg st="10" end="10"/>
                                            </p:txEl>
                                          </p:spTgt>
                                        </p:tgtEl>
                                        <p:attrNameLst>
                                          <p:attrName>style.color</p:attrName>
                                        </p:attrNameLst>
                                      </p:cBhvr>
                                      <p:to>
                                        <a:srgbClr val="4D4D4D"/>
                                      </p:to>
                                    </p:animClr>
                                  </p:childTnLst>
                                </p:cTn>
                              </p:par>
                            </p:childTnLst>
                          </p:cTn>
                        </p:par>
                      </p:childTnLst>
                    </p:cTn>
                  </p:par>
                  <p:par>
                    <p:cTn id="125" fill="hold">
                      <p:stCondLst>
                        <p:cond delay="indefinite"/>
                      </p:stCondLst>
                      <p:childTnLst>
                        <p:par>
                          <p:cTn id="126" fill="hold">
                            <p:stCondLst>
                              <p:cond delay="0"/>
                            </p:stCondLst>
                            <p:childTnLst>
                              <p:par>
                                <p:cTn id="127" presetID="1" presetClass="exit" presetSubtype="0" fill="hold" grpId="2" nodeType="clickEffect">
                                  <p:stCondLst>
                                    <p:cond delay="0"/>
                                  </p:stCondLst>
                                  <p:childTnLst>
                                    <p:set>
                                      <p:cBhvr>
                                        <p:cTn id="12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26A1-02F1-F347-288D-28BC5BF55510}"/>
            </a:ext>
          </a:extLst>
        </p:cNvPr>
        <p:cNvGrpSpPr/>
        <p:nvPr/>
      </p:nvGrpSpPr>
      <p:grpSpPr>
        <a:xfrm>
          <a:off x="0" y="0"/>
          <a:ext cx="0" cy="0"/>
          <a:chOff x="0" y="0"/>
          <a:chExt cx="0" cy="0"/>
        </a:xfrm>
      </p:grpSpPr>
      <p:cxnSp>
        <p:nvCxnSpPr>
          <p:cNvPr id="5" name="直線單箭頭接點 4">
            <a:extLst>
              <a:ext uri="{FF2B5EF4-FFF2-40B4-BE49-F238E27FC236}">
                <a16:creationId xmlns:a16="http://schemas.microsoft.com/office/drawing/2014/main" id="{62EDBFA5-2A44-5440-03CB-F3F53B6A6B35}"/>
              </a:ext>
            </a:extLst>
          </p:cNvPr>
          <p:cNvCxnSpPr>
            <a:cxnSpLocks/>
            <a:stCxn id="49" idx="4"/>
          </p:cNvCxnSpPr>
          <p:nvPr/>
        </p:nvCxnSpPr>
        <p:spPr>
          <a:xfrm>
            <a:off x="6971756" y="3484958"/>
            <a:ext cx="1" cy="2624388"/>
          </a:xfrm>
          <a:prstGeom prst="straightConnector1">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 name="弧形 2">
            <a:extLst>
              <a:ext uri="{FF2B5EF4-FFF2-40B4-BE49-F238E27FC236}">
                <a16:creationId xmlns:a16="http://schemas.microsoft.com/office/drawing/2014/main" id="{B0EACAD2-EACE-7EAD-6327-F994C4B77DCA}"/>
              </a:ext>
            </a:extLst>
          </p:cNvPr>
          <p:cNvSpPr/>
          <p:nvPr/>
        </p:nvSpPr>
        <p:spPr>
          <a:xfrm>
            <a:off x="395536" y="464755"/>
            <a:ext cx="7234630" cy="4620429"/>
          </a:xfrm>
          <a:prstGeom prst="arc">
            <a:avLst>
              <a:gd name="adj1" fmla="val 10870574"/>
              <a:gd name="adj2" fmla="val 15871289"/>
            </a:avLst>
          </a:prstGeom>
          <a:solidFill>
            <a:schemeClr val="accent1">
              <a:lumMod val="20000"/>
              <a:lumOff val="80000"/>
              <a:alpha val="40000"/>
            </a:schemeClr>
          </a:solidFill>
          <a:ln w="254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5" name="橢圓 54">
            <a:extLst>
              <a:ext uri="{FF2B5EF4-FFF2-40B4-BE49-F238E27FC236}">
                <a16:creationId xmlns:a16="http://schemas.microsoft.com/office/drawing/2014/main" id="{688BD111-2DDF-B746-8860-F912A8CEF030}"/>
              </a:ext>
            </a:extLst>
          </p:cNvPr>
          <p:cNvSpPr/>
          <p:nvPr/>
        </p:nvSpPr>
        <p:spPr>
          <a:xfrm>
            <a:off x="3419872" y="476672"/>
            <a:ext cx="510177" cy="31221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1">
                    <a:lumMod val="75000"/>
                  </a:schemeClr>
                </a:solidFill>
              </a:rPr>
              <a:t>AI</a:t>
            </a:r>
          </a:p>
        </p:txBody>
      </p:sp>
      <p:sp>
        <p:nvSpPr>
          <p:cNvPr id="4" name="標題 1">
            <a:extLst>
              <a:ext uri="{FF2B5EF4-FFF2-40B4-BE49-F238E27FC236}">
                <a16:creationId xmlns:a16="http://schemas.microsoft.com/office/drawing/2014/main" id="{F3C0B24B-F5D5-92E5-4D0E-BDB96CF7FF69}"/>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AI 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a:t>
            </a:r>
            <a:r>
              <a:rPr lang="zh-TW" altLang="en-US"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Net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6" name="弧形 15">
            <a:extLst>
              <a:ext uri="{FF2B5EF4-FFF2-40B4-BE49-F238E27FC236}">
                <a16:creationId xmlns:a16="http://schemas.microsoft.com/office/drawing/2014/main" id="{ACDDD3EB-6E5B-FDD2-8B83-DB1D621370B0}"/>
              </a:ext>
            </a:extLst>
          </p:cNvPr>
          <p:cNvSpPr/>
          <p:nvPr/>
        </p:nvSpPr>
        <p:spPr>
          <a:xfrm>
            <a:off x="1700869" y="1015589"/>
            <a:ext cx="3951251" cy="2766355"/>
          </a:xfrm>
          <a:prstGeom prst="arc">
            <a:avLst>
              <a:gd name="adj1" fmla="val 13642529"/>
              <a:gd name="adj2" fmla="val 16773794"/>
            </a:avLst>
          </a:prstGeom>
          <a:solidFill>
            <a:schemeClr val="accent1">
              <a:lumMod val="20000"/>
              <a:lumOff val="80000"/>
              <a:alpha val="40000"/>
            </a:schemeClr>
          </a:solidFill>
          <a:ln w="2540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7" name="橢圓 16">
            <a:extLst>
              <a:ext uri="{FF2B5EF4-FFF2-40B4-BE49-F238E27FC236}">
                <a16:creationId xmlns:a16="http://schemas.microsoft.com/office/drawing/2014/main" id="{A2CB1E7E-F83C-FCD1-4F8C-4B70A04A3D47}"/>
              </a:ext>
            </a:extLst>
          </p:cNvPr>
          <p:cNvSpPr/>
          <p:nvPr/>
        </p:nvSpPr>
        <p:spPr>
          <a:xfrm>
            <a:off x="3291707" y="1052736"/>
            <a:ext cx="1064269" cy="48229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Machine</a:t>
            </a:r>
          </a:p>
          <a:p>
            <a:pPr algn="ctr"/>
            <a:r>
              <a:rPr lang="en-US" altLang="zh-TW" sz="1400" dirty="0">
                <a:solidFill>
                  <a:schemeClr val="accent1">
                    <a:lumMod val="75000"/>
                  </a:schemeClr>
                </a:solidFill>
              </a:rPr>
              <a:t>Learning</a:t>
            </a:r>
          </a:p>
        </p:txBody>
      </p:sp>
      <p:sp>
        <p:nvSpPr>
          <p:cNvPr id="18" name="弧形 17">
            <a:extLst>
              <a:ext uri="{FF2B5EF4-FFF2-40B4-BE49-F238E27FC236}">
                <a16:creationId xmlns:a16="http://schemas.microsoft.com/office/drawing/2014/main" id="{66248DCA-90B0-B98B-E169-AAF9D0C38E2E}"/>
              </a:ext>
            </a:extLst>
          </p:cNvPr>
          <p:cNvSpPr/>
          <p:nvPr/>
        </p:nvSpPr>
        <p:spPr>
          <a:xfrm>
            <a:off x="2627784" y="1628800"/>
            <a:ext cx="2808312" cy="2187794"/>
          </a:xfrm>
          <a:prstGeom prst="arc">
            <a:avLst>
              <a:gd name="adj1" fmla="val 13613601"/>
              <a:gd name="adj2" fmla="val 16005168"/>
            </a:avLst>
          </a:prstGeom>
          <a:solidFill>
            <a:schemeClr val="accent1">
              <a:lumMod val="20000"/>
              <a:lumOff val="80000"/>
              <a:alpha val="40000"/>
            </a:schemeClr>
          </a:solidFill>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9" name="橢圓 18">
            <a:extLst>
              <a:ext uri="{FF2B5EF4-FFF2-40B4-BE49-F238E27FC236}">
                <a16:creationId xmlns:a16="http://schemas.microsoft.com/office/drawing/2014/main" id="{F788F574-3941-7B9E-A8B8-C66EE935CB95}"/>
              </a:ext>
            </a:extLst>
          </p:cNvPr>
          <p:cNvSpPr/>
          <p:nvPr/>
        </p:nvSpPr>
        <p:spPr>
          <a:xfrm>
            <a:off x="3611255" y="1700808"/>
            <a:ext cx="888737" cy="415998"/>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Deep</a:t>
            </a:r>
          </a:p>
          <a:p>
            <a:pPr algn="ctr"/>
            <a:r>
              <a:rPr lang="en-US" altLang="zh-TW" sz="1400" dirty="0">
                <a:solidFill>
                  <a:schemeClr val="accent1">
                    <a:lumMod val="75000"/>
                  </a:schemeClr>
                </a:solidFill>
              </a:rPr>
              <a:t>Learning</a:t>
            </a:r>
          </a:p>
        </p:txBody>
      </p:sp>
      <p:sp>
        <p:nvSpPr>
          <p:cNvPr id="20" name="橢圓 19">
            <a:extLst>
              <a:ext uri="{FF2B5EF4-FFF2-40B4-BE49-F238E27FC236}">
                <a16:creationId xmlns:a16="http://schemas.microsoft.com/office/drawing/2014/main" id="{F1B65FD7-F454-60B5-92EC-C4F040B42F50}"/>
              </a:ext>
            </a:extLst>
          </p:cNvPr>
          <p:cNvSpPr/>
          <p:nvPr/>
        </p:nvSpPr>
        <p:spPr>
          <a:xfrm>
            <a:off x="323528" y="2060848"/>
            <a:ext cx="960037" cy="940716"/>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accent1">
                    <a:lumMod val="75000"/>
                  </a:schemeClr>
                </a:solidFill>
              </a:rPr>
              <a:t>NLP</a:t>
            </a:r>
            <a:endParaRPr lang="en-US" altLang="zh-TW" sz="1400" b="1" dirty="0">
              <a:solidFill>
                <a:schemeClr val="accent1">
                  <a:lumMod val="60000"/>
                  <a:lumOff val="40000"/>
                </a:schemeClr>
              </a:solidFill>
            </a:endParaRPr>
          </a:p>
          <a:p>
            <a:pPr algn="ctr"/>
            <a:r>
              <a:rPr lang="en-US" altLang="zh-TW" sz="1200" dirty="0">
                <a:solidFill>
                  <a:schemeClr val="accent1">
                    <a:lumMod val="50000"/>
                  </a:schemeClr>
                </a:solidFill>
              </a:rPr>
              <a:t>National</a:t>
            </a:r>
            <a:br>
              <a:rPr lang="en-US" altLang="zh-TW" sz="1200" dirty="0">
                <a:solidFill>
                  <a:schemeClr val="accent1">
                    <a:lumMod val="50000"/>
                  </a:schemeClr>
                </a:solidFill>
              </a:rPr>
            </a:br>
            <a:r>
              <a:rPr lang="en-US" altLang="zh-TW" sz="1200" dirty="0">
                <a:solidFill>
                  <a:schemeClr val="accent1">
                    <a:lumMod val="50000"/>
                  </a:schemeClr>
                </a:solidFill>
              </a:rPr>
              <a:t>Language</a:t>
            </a:r>
          </a:p>
          <a:p>
            <a:pPr algn="ctr"/>
            <a:r>
              <a:rPr lang="en-US" altLang="zh-TW" sz="1200" dirty="0">
                <a:solidFill>
                  <a:schemeClr val="accent1">
                    <a:lumMod val="50000"/>
                  </a:schemeClr>
                </a:solidFill>
              </a:rPr>
              <a:t>Processing</a:t>
            </a:r>
            <a:endParaRPr lang="en-US" altLang="zh-TW" sz="1200" dirty="0">
              <a:solidFill>
                <a:schemeClr val="accent1">
                  <a:lumMod val="60000"/>
                  <a:lumOff val="40000"/>
                </a:schemeClr>
              </a:solidFill>
            </a:endParaRPr>
          </a:p>
        </p:txBody>
      </p:sp>
      <p:sp>
        <p:nvSpPr>
          <p:cNvPr id="27" name="橢圓 26">
            <a:extLst>
              <a:ext uri="{FF2B5EF4-FFF2-40B4-BE49-F238E27FC236}">
                <a16:creationId xmlns:a16="http://schemas.microsoft.com/office/drawing/2014/main" id="{6636C1C8-0BCD-6598-97A8-3879D86813E4}"/>
              </a:ext>
            </a:extLst>
          </p:cNvPr>
          <p:cNvSpPr/>
          <p:nvPr/>
        </p:nvSpPr>
        <p:spPr>
          <a:xfrm>
            <a:off x="2835082" y="2708920"/>
            <a:ext cx="656798" cy="41108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AlexNet</a:t>
            </a:r>
            <a:r>
              <a:rPr lang="en-US" altLang="zh-TW" sz="1400" dirty="0">
                <a:solidFill>
                  <a:schemeClr val="accent1">
                    <a:lumMod val="75000"/>
                  </a:schemeClr>
                </a:solidFill>
              </a:rPr>
              <a:t> </a:t>
            </a:r>
          </a:p>
          <a:p>
            <a:pPr algn="ctr"/>
            <a:r>
              <a:rPr lang="en-US" altLang="zh-TW" sz="1200" dirty="0">
                <a:solidFill>
                  <a:schemeClr val="accent1">
                    <a:lumMod val="75000"/>
                  </a:schemeClr>
                </a:solidFill>
              </a:rPr>
              <a:t>2012</a:t>
            </a:r>
            <a:endParaRPr lang="en-US" altLang="zh-TW" sz="1200" dirty="0">
              <a:solidFill>
                <a:schemeClr val="accent1">
                  <a:lumMod val="60000"/>
                  <a:lumOff val="40000"/>
                </a:schemeClr>
              </a:solidFill>
            </a:endParaRPr>
          </a:p>
        </p:txBody>
      </p:sp>
      <p:sp>
        <p:nvSpPr>
          <p:cNvPr id="32" name="橢圓 31">
            <a:extLst>
              <a:ext uri="{FF2B5EF4-FFF2-40B4-BE49-F238E27FC236}">
                <a16:creationId xmlns:a16="http://schemas.microsoft.com/office/drawing/2014/main" id="{7FD4822E-C665-A011-2834-6B8D3D8BCC7A}"/>
              </a:ext>
            </a:extLst>
          </p:cNvPr>
          <p:cNvSpPr/>
          <p:nvPr/>
        </p:nvSpPr>
        <p:spPr>
          <a:xfrm>
            <a:off x="2411760" y="1628800"/>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RNN</a:t>
            </a:r>
          </a:p>
          <a:p>
            <a:pPr algn="ctr"/>
            <a:r>
              <a:rPr lang="en-US" altLang="zh-TW" sz="1200" dirty="0">
                <a:solidFill>
                  <a:schemeClr val="accent1">
                    <a:lumMod val="75000"/>
                  </a:schemeClr>
                </a:solidFill>
              </a:rPr>
              <a:t>1986</a:t>
            </a:r>
          </a:p>
        </p:txBody>
      </p:sp>
      <p:cxnSp>
        <p:nvCxnSpPr>
          <p:cNvPr id="35" name="直線單箭頭接點 34">
            <a:extLst>
              <a:ext uri="{FF2B5EF4-FFF2-40B4-BE49-F238E27FC236}">
                <a16:creationId xmlns:a16="http://schemas.microsoft.com/office/drawing/2014/main" id="{2822DF33-09AD-26A2-D99E-6B74FFEA8614}"/>
              </a:ext>
            </a:extLst>
          </p:cNvPr>
          <p:cNvCxnSpPr>
            <a:cxnSpLocks/>
            <a:stCxn id="32" idx="5"/>
            <a:endCxn id="31" idx="1"/>
          </p:cNvCxnSpPr>
          <p:nvPr/>
        </p:nvCxnSpPr>
        <p:spPr>
          <a:xfrm>
            <a:off x="2972372" y="1942993"/>
            <a:ext cx="318936" cy="315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橢圓 28">
            <a:extLst>
              <a:ext uri="{FF2B5EF4-FFF2-40B4-BE49-F238E27FC236}">
                <a16:creationId xmlns:a16="http://schemas.microsoft.com/office/drawing/2014/main" id="{67B4D336-0B82-DAF1-E3D4-FC3B408C96C2}"/>
              </a:ext>
            </a:extLst>
          </p:cNvPr>
          <p:cNvSpPr/>
          <p:nvPr/>
        </p:nvSpPr>
        <p:spPr>
          <a:xfrm>
            <a:off x="2267744" y="2060848"/>
            <a:ext cx="656798" cy="3680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CNN</a:t>
            </a:r>
          </a:p>
          <a:p>
            <a:pPr algn="ctr"/>
            <a:r>
              <a:rPr lang="en-US" altLang="zh-TW" sz="1200" dirty="0">
                <a:solidFill>
                  <a:schemeClr val="accent1">
                    <a:lumMod val="75000"/>
                  </a:schemeClr>
                </a:solidFill>
              </a:rPr>
              <a:t>1989</a:t>
            </a:r>
          </a:p>
        </p:txBody>
      </p:sp>
      <p:sp>
        <p:nvSpPr>
          <p:cNvPr id="31" name="橢圓 30">
            <a:extLst>
              <a:ext uri="{FF2B5EF4-FFF2-40B4-BE49-F238E27FC236}">
                <a16:creationId xmlns:a16="http://schemas.microsoft.com/office/drawing/2014/main" id="{D224C8F1-A0C9-E9F0-31CD-151D3E8FF509}"/>
              </a:ext>
            </a:extLst>
          </p:cNvPr>
          <p:cNvSpPr/>
          <p:nvPr/>
        </p:nvSpPr>
        <p:spPr>
          <a:xfrm>
            <a:off x="3195122" y="2204864"/>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LSTM </a:t>
            </a:r>
          </a:p>
          <a:p>
            <a:pPr algn="ctr"/>
            <a:r>
              <a:rPr lang="en-US" altLang="zh-TW" sz="1200" dirty="0">
                <a:solidFill>
                  <a:schemeClr val="accent1">
                    <a:lumMod val="75000"/>
                  </a:schemeClr>
                </a:solidFill>
              </a:rPr>
              <a:t>1997</a:t>
            </a:r>
          </a:p>
        </p:txBody>
      </p:sp>
      <p:cxnSp>
        <p:nvCxnSpPr>
          <p:cNvPr id="42" name="直線單箭頭接點 41">
            <a:extLst>
              <a:ext uri="{FF2B5EF4-FFF2-40B4-BE49-F238E27FC236}">
                <a16:creationId xmlns:a16="http://schemas.microsoft.com/office/drawing/2014/main" id="{4FE0547C-77D3-23B5-3142-3037BF8F464C}"/>
              </a:ext>
            </a:extLst>
          </p:cNvPr>
          <p:cNvCxnSpPr>
            <a:cxnSpLocks/>
            <a:stCxn id="29" idx="4"/>
            <a:endCxn id="27" idx="1"/>
          </p:cNvCxnSpPr>
          <p:nvPr/>
        </p:nvCxnSpPr>
        <p:spPr>
          <a:xfrm>
            <a:off x="2596143" y="2428947"/>
            <a:ext cx="335125" cy="340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橢圓 44">
            <a:extLst>
              <a:ext uri="{FF2B5EF4-FFF2-40B4-BE49-F238E27FC236}">
                <a16:creationId xmlns:a16="http://schemas.microsoft.com/office/drawing/2014/main" id="{23A7F22D-A17D-4283-E9B4-9CD024193619}"/>
              </a:ext>
            </a:extLst>
          </p:cNvPr>
          <p:cNvSpPr/>
          <p:nvPr/>
        </p:nvSpPr>
        <p:spPr>
          <a:xfrm>
            <a:off x="2987824" y="3212976"/>
            <a:ext cx="656798" cy="38323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GAN</a:t>
            </a:r>
            <a:endParaRPr lang="en-US" altLang="zh-TW" sz="1400" dirty="0">
              <a:solidFill>
                <a:schemeClr val="accent1">
                  <a:lumMod val="75000"/>
                </a:schemeClr>
              </a:solidFill>
            </a:endParaRPr>
          </a:p>
          <a:p>
            <a:pPr algn="ctr"/>
            <a:r>
              <a:rPr lang="en-US" altLang="zh-TW" sz="1200" dirty="0">
                <a:solidFill>
                  <a:schemeClr val="accent1">
                    <a:lumMod val="75000"/>
                  </a:schemeClr>
                </a:solidFill>
              </a:rPr>
              <a:t>2014</a:t>
            </a:r>
            <a:endParaRPr lang="en-US" altLang="zh-TW" sz="1200" dirty="0">
              <a:solidFill>
                <a:schemeClr val="accent1">
                  <a:lumMod val="60000"/>
                  <a:lumOff val="40000"/>
                </a:schemeClr>
              </a:solidFill>
            </a:endParaRPr>
          </a:p>
        </p:txBody>
      </p:sp>
      <p:sp>
        <p:nvSpPr>
          <p:cNvPr id="46" name="橢圓 45">
            <a:extLst>
              <a:ext uri="{FF2B5EF4-FFF2-40B4-BE49-F238E27FC236}">
                <a16:creationId xmlns:a16="http://schemas.microsoft.com/office/drawing/2014/main" id="{EDD51603-7180-4DDA-8B5E-6F495E8DE923}"/>
              </a:ext>
            </a:extLst>
          </p:cNvPr>
          <p:cNvSpPr/>
          <p:nvPr/>
        </p:nvSpPr>
        <p:spPr>
          <a:xfrm>
            <a:off x="4283968" y="3140968"/>
            <a:ext cx="656798" cy="42433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YOLO</a:t>
            </a:r>
            <a:endParaRPr lang="en-US" altLang="zh-TW" sz="1400" dirty="0">
              <a:solidFill>
                <a:schemeClr val="bg1">
                  <a:lumMod val="50000"/>
                </a:schemeClr>
              </a:solidFill>
            </a:endParaRPr>
          </a:p>
          <a:p>
            <a:pPr algn="ctr"/>
            <a:r>
              <a:rPr lang="en-US" altLang="zh-TW" sz="1200" dirty="0">
                <a:solidFill>
                  <a:schemeClr val="bg1">
                    <a:lumMod val="50000"/>
                  </a:schemeClr>
                </a:solidFill>
              </a:rPr>
              <a:t>2015</a:t>
            </a:r>
          </a:p>
        </p:txBody>
      </p:sp>
      <p:cxnSp>
        <p:nvCxnSpPr>
          <p:cNvPr id="47" name="直線單箭頭接點 46">
            <a:extLst>
              <a:ext uri="{FF2B5EF4-FFF2-40B4-BE49-F238E27FC236}">
                <a16:creationId xmlns:a16="http://schemas.microsoft.com/office/drawing/2014/main" id="{7954B6A0-480B-D09F-D4C4-751758C782EE}"/>
              </a:ext>
            </a:extLst>
          </p:cNvPr>
          <p:cNvCxnSpPr>
            <a:cxnSpLocks/>
            <a:stCxn id="27" idx="4"/>
            <a:endCxn id="45" idx="0"/>
          </p:cNvCxnSpPr>
          <p:nvPr/>
        </p:nvCxnSpPr>
        <p:spPr>
          <a:xfrm>
            <a:off x="3163481" y="3120002"/>
            <a:ext cx="152742" cy="9297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CF1B60DB-4632-E8F5-6472-27FA3F59F177}"/>
              </a:ext>
            </a:extLst>
          </p:cNvPr>
          <p:cNvSpPr/>
          <p:nvPr/>
        </p:nvSpPr>
        <p:spPr>
          <a:xfrm>
            <a:off x="2123728" y="3717032"/>
            <a:ext cx="656798" cy="52264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Transformer</a:t>
            </a:r>
            <a:endParaRPr lang="en-US" altLang="zh-TW" sz="1400" b="1" dirty="0">
              <a:solidFill>
                <a:schemeClr val="accent1">
                  <a:lumMod val="75000"/>
                </a:schemeClr>
              </a:solidFill>
            </a:endParaRPr>
          </a:p>
          <a:p>
            <a:pPr algn="ctr"/>
            <a:r>
              <a:rPr lang="en-US" altLang="zh-TW" sz="1200" dirty="0">
                <a:solidFill>
                  <a:schemeClr val="accent1">
                    <a:lumMod val="75000"/>
                  </a:schemeClr>
                </a:solidFill>
              </a:rPr>
              <a:t>2017</a:t>
            </a:r>
            <a:endParaRPr lang="en-US" altLang="zh-TW" sz="1200" dirty="0">
              <a:solidFill>
                <a:schemeClr val="accent1">
                  <a:lumMod val="60000"/>
                  <a:lumOff val="40000"/>
                </a:schemeClr>
              </a:solidFill>
            </a:endParaRPr>
          </a:p>
        </p:txBody>
      </p:sp>
      <p:cxnSp>
        <p:nvCxnSpPr>
          <p:cNvPr id="57" name="直線單箭頭接點 56">
            <a:extLst>
              <a:ext uri="{FF2B5EF4-FFF2-40B4-BE49-F238E27FC236}">
                <a16:creationId xmlns:a16="http://schemas.microsoft.com/office/drawing/2014/main" id="{517B03F3-230A-866F-1C73-0D429D3F105A}"/>
              </a:ext>
            </a:extLst>
          </p:cNvPr>
          <p:cNvCxnSpPr>
            <a:cxnSpLocks/>
            <a:stCxn id="45" idx="3"/>
            <a:endCxn id="53" idx="7"/>
          </p:cNvCxnSpPr>
          <p:nvPr/>
        </p:nvCxnSpPr>
        <p:spPr>
          <a:xfrm flipH="1">
            <a:off x="2684340" y="3540090"/>
            <a:ext cx="399670" cy="253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60">
            <a:extLst>
              <a:ext uri="{FF2B5EF4-FFF2-40B4-BE49-F238E27FC236}">
                <a16:creationId xmlns:a16="http://schemas.microsoft.com/office/drawing/2014/main" id="{B7F966EA-ED97-9F5D-8AAB-08104D4E87E3}"/>
              </a:ext>
            </a:extLst>
          </p:cNvPr>
          <p:cNvCxnSpPr>
            <a:cxnSpLocks/>
            <a:stCxn id="28" idx="5"/>
            <a:endCxn id="53" idx="1"/>
          </p:cNvCxnSpPr>
          <p:nvPr/>
        </p:nvCxnSpPr>
        <p:spPr>
          <a:xfrm>
            <a:off x="1676228" y="3277909"/>
            <a:ext cx="543686" cy="51566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78FD10E7-A8CA-94D6-86E8-F3B2E92E3BBA}"/>
              </a:ext>
            </a:extLst>
          </p:cNvPr>
          <p:cNvSpPr/>
          <p:nvPr/>
        </p:nvSpPr>
        <p:spPr>
          <a:xfrm>
            <a:off x="1115616" y="2816981"/>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W2V</a:t>
            </a:r>
            <a:r>
              <a:rPr lang="en-US" altLang="zh-TW" sz="1400" b="1" dirty="0">
                <a:solidFill>
                  <a:schemeClr val="accent1">
                    <a:lumMod val="75000"/>
                  </a:schemeClr>
                </a:solidFill>
              </a:rPr>
              <a:t> </a:t>
            </a:r>
          </a:p>
          <a:p>
            <a:pPr algn="ctr"/>
            <a:r>
              <a:rPr lang="en-US" altLang="zh-TW" sz="1200" dirty="0">
                <a:solidFill>
                  <a:schemeClr val="accent1">
                    <a:lumMod val="75000"/>
                  </a:schemeClr>
                </a:solidFill>
              </a:rPr>
              <a:t>2013</a:t>
            </a:r>
            <a:endParaRPr lang="en-US" altLang="zh-TW" sz="1200" dirty="0">
              <a:solidFill>
                <a:schemeClr val="accent1">
                  <a:lumMod val="60000"/>
                  <a:lumOff val="40000"/>
                </a:schemeClr>
              </a:solidFill>
            </a:endParaRPr>
          </a:p>
        </p:txBody>
      </p:sp>
      <p:sp>
        <p:nvSpPr>
          <p:cNvPr id="69" name="橢圓 68">
            <a:extLst>
              <a:ext uri="{FF2B5EF4-FFF2-40B4-BE49-F238E27FC236}">
                <a16:creationId xmlns:a16="http://schemas.microsoft.com/office/drawing/2014/main" id="{53EB0D3E-BB02-AACD-9DA6-CA706133E5B8}"/>
              </a:ext>
            </a:extLst>
          </p:cNvPr>
          <p:cNvSpPr/>
          <p:nvPr/>
        </p:nvSpPr>
        <p:spPr>
          <a:xfrm>
            <a:off x="2763074" y="4005064"/>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50000"/>
                  </a:schemeClr>
                </a:solidFill>
              </a:rPr>
              <a:t>GPT</a:t>
            </a:r>
          </a:p>
          <a:p>
            <a:pPr algn="ctr"/>
            <a:r>
              <a:rPr lang="en-US" altLang="zh-TW" sz="1200" dirty="0">
                <a:solidFill>
                  <a:schemeClr val="accent1">
                    <a:lumMod val="50000"/>
                  </a:schemeClr>
                </a:solidFill>
              </a:rPr>
              <a:t>2018</a:t>
            </a:r>
            <a:endParaRPr lang="en-US" altLang="zh-TW" sz="1400" dirty="0">
              <a:solidFill>
                <a:schemeClr val="accent1">
                  <a:lumMod val="50000"/>
                </a:schemeClr>
              </a:solidFill>
            </a:endParaRPr>
          </a:p>
        </p:txBody>
      </p:sp>
      <p:sp>
        <p:nvSpPr>
          <p:cNvPr id="70" name="橢圓 69">
            <a:extLst>
              <a:ext uri="{FF2B5EF4-FFF2-40B4-BE49-F238E27FC236}">
                <a16:creationId xmlns:a16="http://schemas.microsoft.com/office/drawing/2014/main" id="{13B017A9-E177-3B73-0516-12643EAE822D}"/>
              </a:ext>
            </a:extLst>
          </p:cNvPr>
          <p:cNvSpPr/>
          <p:nvPr/>
        </p:nvSpPr>
        <p:spPr>
          <a:xfrm>
            <a:off x="3291308" y="4293095"/>
            <a:ext cx="776636" cy="582733"/>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Prompt</a:t>
            </a:r>
          </a:p>
          <a:p>
            <a:pPr algn="ctr"/>
            <a:r>
              <a:rPr lang="en-US" altLang="zh-TW" sz="1200" dirty="0">
                <a:solidFill>
                  <a:schemeClr val="accent1">
                    <a:lumMod val="75000"/>
                  </a:schemeClr>
                </a:solidFill>
              </a:rPr>
              <a:t>Engineering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1" name="橢圓 70">
            <a:extLst>
              <a:ext uri="{FF2B5EF4-FFF2-40B4-BE49-F238E27FC236}">
                <a16:creationId xmlns:a16="http://schemas.microsoft.com/office/drawing/2014/main" id="{5CCBDB32-EE61-52D5-FD33-39D2677542F9}"/>
              </a:ext>
            </a:extLst>
          </p:cNvPr>
          <p:cNvSpPr/>
          <p:nvPr/>
        </p:nvSpPr>
        <p:spPr>
          <a:xfrm>
            <a:off x="3491880" y="4925951"/>
            <a:ext cx="656798" cy="44726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RLHF</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2" name="橢圓 71">
            <a:extLst>
              <a:ext uri="{FF2B5EF4-FFF2-40B4-BE49-F238E27FC236}">
                <a16:creationId xmlns:a16="http://schemas.microsoft.com/office/drawing/2014/main" id="{F615D842-CCAD-2FFF-A6A4-FF18E913987C}"/>
              </a:ext>
            </a:extLst>
          </p:cNvPr>
          <p:cNvSpPr/>
          <p:nvPr/>
        </p:nvSpPr>
        <p:spPr>
          <a:xfrm>
            <a:off x="4036289" y="5690942"/>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Agent</a:t>
            </a:r>
          </a:p>
          <a:p>
            <a:pPr algn="ctr"/>
            <a:r>
              <a:rPr lang="en-US" altLang="zh-TW" sz="1200" dirty="0">
                <a:solidFill>
                  <a:schemeClr val="accent1">
                    <a:lumMod val="75000"/>
                  </a:schemeClr>
                </a:solidFill>
              </a:rPr>
              <a:t>2025</a:t>
            </a:r>
            <a:endParaRPr lang="en-US" altLang="zh-TW" sz="1400" dirty="0">
              <a:solidFill>
                <a:schemeClr val="accent1">
                  <a:lumMod val="75000"/>
                </a:schemeClr>
              </a:solidFill>
            </a:endParaRPr>
          </a:p>
        </p:txBody>
      </p:sp>
      <p:sp>
        <p:nvSpPr>
          <p:cNvPr id="73" name="橢圓 72">
            <a:extLst>
              <a:ext uri="{FF2B5EF4-FFF2-40B4-BE49-F238E27FC236}">
                <a16:creationId xmlns:a16="http://schemas.microsoft.com/office/drawing/2014/main" id="{CF2BB02C-F74B-DE1A-5A0E-3FDF9DB4EEDC}"/>
              </a:ext>
            </a:extLst>
          </p:cNvPr>
          <p:cNvSpPr/>
          <p:nvPr/>
        </p:nvSpPr>
        <p:spPr>
          <a:xfrm>
            <a:off x="2314789" y="5224367"/>
            <a:ext cx="553162" cy="41925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accent1">
                    <a:lumMod val="75000"/>
                  </a:schemeClr>
                </a:solidFill>
              </a:rPr>
              <a:t>Residual</a:t>
            </a:r>
          </a:p>
          <a:p>
            <a:pPr algn="ctr"/>
            <a:r>
              <a:rPr lang="en-US" altLang="zh-TW" sz="1000" dirty="0">
                <a:solidFill>
                  <a:schemeClr val="accent1">
                    <a:lumMod val="75000"/>
                  </a:schemeClr>
                </a:solidFill>
              </a:rPr>
              <a:t>Attention</a:t>
            </a:r>
          </a:p>
        </p:txBody>
      </p:sp>
      <p:sp>
        <p:nvSpPr>
          <p:cNvPr id="74" name="橢圓 73">
            <a:extLst>
              <a:ext uri="{FF2B5EF4-FFF2-40B4-BE49-F238E27FC236}">
                <a16:creationId xmlns:a16="http://schemas.microsoft.com/office/drawing/2014/main" id="{57119CD3-D4DB-4F0A-30DC-D5D98DAF3979}"/>
              </a:ext>
            </a:extLst>
          </p:cNvPr>
          <p:cNvSpPr/>
          <p:nvPr/>
        </p:nvSpPr>
        <p:spPr>
          <a:xfrm>
            <a:off x="2691066" y="4925952"/>
            <a:ext cx="656798" cy="45792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CoT</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5" name="橢圓 74">
            <a:extLst>
              <a:ext uri="{FF2B5EF4-FFF2-40B4-BE49-F238E27FC236}">
                <a16:creationId xmlns:a16="http://schemas.microsoft.com/office/drawing/2014/main" id="{FA6DE636-18CD-088B-97EE-736C4A10D20E}"/>
              </a:ext>
            </a:extLst>
          </p:cNvPr>
          <p:cNvSpPr/>
          <p:nvPr/>
        </p:nvSpPr>
        <p:spPr>
          <a:xfrm>
            <a:off x="4203233" y="4293096"/>
            <a:ext cx="772879" cy="57107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RAG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7" name="橢圓 76">
            <a:extLst>
              <a:ext uri="{FF2B5EF4-FFF2-40B4-BE49-F238E27FC236}">
                <a16:creationId xmlns:a16="http://schemas.microsoft.com/office/drawing/2014/main" id="{9812BA0A-6DF8-071B-0E40-684C0C9BED87}"/>
              </a:ext>
            </a:extLst>
          </p:cNvPr>
          <p:cNvSpPr/>
          <p:nvPr/>
        </p:nvSpPr>
        <p:spPr>
          <a:xfrm>
            <a:off x="3347864" y="5870913"/>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BitNet</a:t>
            </a:r>
          </a:p>
          <a:p>
            <a:pPr algn="ctr"/>
            <a:r>
              <a:rPr lang="en-US" altLang="zh-TW" sz="1200" dirty="0">
                <a:solidFill>
                  <a:schemeClr val="accent1">
                    <a:lumMod val="75000"/>
                  </a:schemeClr>
                </a:solidFill>
              </a:rPr>
              <a:t>2026</a:t>
            </a:r>
          </a:p>
        </p:txBody>
      </p:sp>
      <p:sp>
        <p:nvSpPr>
          <p:cNvPr id="78" name="橢圓 77">
            <a:extLst>
              <a:ext uri="{FF2B5EF4-FFF2-40B4-BE49-F238E27FC236}">
                <a16:creationId xmlns:a16="http://schemas.microsoft.com/office/drawing/2014/main" id="{9EEA7389-3356-B0ED-D248-ED5B5DD6A6C3}"/>
              </a:ext>
            </a:extLst>
          </p:cNvPr>
          <p:cNvSpPr/>
          <p:nvPr/>
        </p:nvSpPr>
        <p:spPr>
          <a:xfrm>
            <a:off x="3563888" y="342900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Distillation</a:t>
            </a:r>
          </a:p>
          <a:p>
            <a:pPr algn="ctr"/>
            <a:r>
              <a:rPr lang="en-US" altLang="zh-TW" sz="1200" dirty="0">
                <a:solidFill>
                  <a:schemeClr val="accent1">
                    <a:lumMod val="50000"/>
                  </a:schemeClr>
                </a:solidFill>
              </a:rPr>
              <a:t>2015</a:t>
            </a:r>
          </a:p>
        </p:txBody>
      </p:sp>
      <p:sp>
        <p:nvSpPr>
          <p:cNvPr id="2" name="橢圓 1">
            <a:extLst>
              <a:ext uri="{FF2B5EF4-FFF2-40B4-BE49-F238E27FC236}">
                <a16:creationId xmlns:a16="http://schemas.microsoft.com/office/drawing/2014/main" id="{05E6C56B-B3C2-604A-611A-26E498B1AF98}"/>
              </a:ext>
            </a:extLst>
          </p:cNvPr>
          <p:cNvSpPr/>
          <p:nvPr/>
        </p:nvSpPr>
        <p:spPr>
          <a:xfrm>
            <a:off x="4491266" y="3861048"/>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BERT</a:t>
            </a:r>
          </a:p>
          <a:p>
            <a:pPr algn="ctr"/>
            <a:r>
              <a:rPr lang="en-US" altLang="zh-TW" sz="1200" dirty="0">
                <a:solidFill>
                  <a:schemeClr val="bg1">
                    <a:lumMod val="50000"/>
                  </a:schemeClr>
                </a:solidFill>
              </a:rPr>
              <a:t>2018</a:t>
            </a:r>
            <a:endParaRPr lang="en-US" altLang="zh-TW" sz="1400" dirty="0">
              <a:solidFill>
                <a:schemeClr val="bg1">
                  <a:lumMod val="50000"/>
                </a:schemeClr>
              </a:solidFill>
            </a:endParaRPr>
          </a:p>
        </p:txBody>
      </p:sp>
      <p:sp>
        <p:nvSpPr>
          <p:cNvPr id="10" name="橢圓 9">
            <a:extLst>
              <a:ext uri="{FF2B5EF4-FFF2-40B4-BE49-F238E27FC236}">
                <a16:creationId xmlns:a16="http://schemas.microsoft.com/office/drawing/2014/main" id="{73E5CACF-736F-B80F-1AB4-2C317D116CF1}"/>
              </a:ext>
            </a:extLst>
          </p:cNvPr>
          <p:cNvSpPr/>
          <p:nvPr/>
        </p:nvSpPr>
        <p:spPr>
          <a:xfrm>
            <a:off x="6491193" y="632537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Alignment</a:t>
            </a:r>
          </a:p>
          <a:p>
            <a:pPr algn="ctr"/>
            <a:r>
              <a:rPr lang="en-US" altLang="zh-TW" sz="1200" b="1" dirty="0">
                <a:solidFill>
                  <a:schemeClr val="accent3">
                    <a:lumMod val="50000"/>
                  </a:schemeClr>
                </a:solidFill>
              </a:rPr>
              <a:t>Techniques</a:t>
            </a:r>
          </a:p>
        </p:txBody>
      </p:sp>
      <p:sp>
        <p:nvSpPr>
          <p:cNvPr id="15" name="矩形 14">
            <a:extLst>
              <a:ext uri="{FF2B5EF4-FFF2-40B4-BE49-F238E27FC236}">
                <a16:creationId xmlns:a16="http://schemas.microsoft.com/office/drawing/2014/main" id="{474650E2-4535-1030-98C5-CC65FFC9F43A}"/>
              </a:ext>
            </a:extLst>
          </p:cNvPr>
          <p:cNvSpPr/>
          <p:nvPr/>
        </p:nvSpPr>
        <p:spPr>
          <a:xfrm>
            <a:off x="6762898" y="5805264"/>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2025</a:t>
            </a:r>
            <a:endParaRPr lang="zh-TW" altLang="en-US" sz="1200" dirty="0">
              <a:solidFill>
                <a:schemeClr val="accent3">
                  <a:lumMod val="50000"/>
                </a:schemeClr>
              </a:solidFill>
            </a:endParaRPr>
          </a:p>
        </p:txBody>
      </p:sp>
      <p:sp>
        <p:nvSpPr>
          <p:cNvPr id="24" name="矩形 23">
            <a:extLst>
              <a:ext uri="{FF2B5EF4-FFF2-40B4-BE49-F238E27FC236}">
                <a16:creationId xmlns:a16="http://schemas.microsoft.com/office/drawing/2014/main" id="{9A7A59CB-B28B-7F8B-A990-B54BB64A4902}"/>
              </a:ext>
            </a:extLst>
          </p:cNvPr>
          <p:cNvSpPr/>
          <p:nvPr/>
        </p:nvSpPr>
        <p:spPr>
          <a:xfrm>
            <a:off x="6762898" y="5532449"/>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2024</a:t>
            </a:r>
            <a:endParaRPr lang="zh-TW" altLang="en-US" sz="1200" dirty="0">
              <a:solidFill>
                <a:schemeClr val="accent3">
                  <a:lumMod val="50000"/>
                </a:schemeClr>
              </a:solidFill>
            </a:endParaRPr>
          </a:p>
        </p:txBody>
      </p:sp>
      <p:sp>
        <p:nvSpPr>
          <p:cNvPr id="25" name="矩形 24">
            <a:extLst>
              <a:ext uri="{FF2B5EF4-FFF2-40B4-BE49-F238E27FC236}">
                <a16:creationId xmlns:a16="http://schemas.microsoft.com/office/drawing/2014/main" id="{4637C08C-012C-6C53-9031-6B467BECEAB7}"/>
              </a:ext>
            </a:extLst>
          </p:cNvPr>
          <p:cNvSpPr/>
          <p:nvPr/>
        </p:nvSpPr>
        <p:spPr>
          <a:xfrm>
            <a:off x="6769285" y="5100401"/>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2023</a:t>
            </a:r>
            <a:endParaRPr lang="zh-TW" altLang="en-US" sz="1200" dirty="0">
              <a:solidFill>
                <a:schemeClr val="accent3">
                  <a:lumMod val="50000"/>
                </a:schemeClr>
              </a:solidFill>
            </a:endParaRPr>
          </a:p>
        </p:txBody>
      </p:sp>
      <p:sp>
        <p:nvSpPr>
          <p:cNvPr id="26" name="矩形 25">
            <a:extLst>
              <a:ext uri="{FF2B5EF4-FFF2-40B4-BE49-F238E27FC236}">
                <a16:creationId xmlns:a16="http://schemas.microsoft.com/office/drawing/2014/main" id="{6E5501F7-E2D6-8F9A-5939-28072444C1BE}"/>
              </a:ext>
            </a:extLst>
          </p:cNvPr>
          <p:cNvSpPr/>
          <p:nvPr/>
        </p:nvSpPr>
        <p:spPr>
          <a:xfrm>
            <a:off x="6770902" y="4581128"/>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2022</a:t>
            </a:r>
            <a:endParaRPr lang="zh-TW" altLang="en-US" sz="1200" dirty="0">
              <a:solidFill>
                <a:schemeClr val="accent3">
                  <a:lumMod val="50000"/>
                </a:schemeClr>
              </a:solidFill>
            </a:endParaRPr>
          </a:p>
        </p:txBody>
      </p:sp>
      <p:sp>
        <p:nvSpPr>
          <p:cNvPr id="30" name="矩形 29">
            <a:extLst>
              <a:ext uri="{FF2B5EF4-FFF2-40B4-BE49-F238E27FC236}">
                <a16:creationId xmlns:a16="http://schemas.microsoft.com/office/drawing/2014/main" id="{50262CF7-83DE-D038-68A3-36B8D77476DF}"/>
              </a:ext>
            </a:extLst>
          </p:cNvPr>
          <p:cNvSpPr/>
          <p:nvPr/>
        </p:nvSpPr>
        <p:spPr>
          <a:xfrm>
            <a:off x="6770902" y="4149080"/>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2021</a:t>
            </a:r>
            <a:endParaRPr lang="zh-TW" altLang="en-US" sz="1200" dirty="0">
              <a:solidFill>
                <a:schemeClr val="accent3">
                  <a:lumMod val="50000"/>
                </a:schemeClr>
              </a:solidFill>
            </a:endParaRPr>
          </a:p>
        </p:txBody>
      </p:sp>
      <p:sp>
        <p:nvSpPr>
          <p:cNvPr id="33" name="矩形 32">
            <a:extLst>
              <a:ext uri="{FF2B5EF4-FFF2-40B4-BE49-F238E27FC236}">
                <a16:creationId xmlns:a16="http://schemas.microsoft.com/office/drawing/2014/main" id="{4C8456F1-A916-227B-27FC-5C648603A96B}"/>
              </a:ext>
            </a:extLst>
          </p:cNvPr>
          <p:cNvSpPr/>
          <p:nvPr/>
        </p:nvSpPr>
        <p:spPr>
          <a:xfrm>
            <a:off x="6777289" y="3933056"/>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2020</a:t>
            </a:r>
            <a:endParaRPr lang="zh-TW" altLang="en-US" sz="1200" dirty="0">
              <a:solidFill>
                <a:schemeClr val="accent3">
                  <a:lumMod val="50000"/>
                </a:schemeClr>
              </a:solidFill>
            </a:endParaRPr>
          </a:p>
        </p:txBody>
      </p:sp>
      <p:sp>
        <p:nvSpPr>
          <p:cNvPr id="56" name="橢圓 55">
            <a:extLst>
              <a:ext uri="{FF2B5EF4-FFF2-40B4-BE49-F238E27FC236}">
                <a16:creationId xmlns:a16="http://schemas.microsoft.com/office/drawing/2014/main" id="{24CB8346-8DB8-F1D9-F3D1-714105784FC3}"/>
              </a:ext>
            </a:extLst>
          </p:cNvPr>
          <p:cNvSpPr/>
          <p:nvPr/>
        </p:nvSpPr>
        <p:spPr>
          <a:xfrm>
            <a:off x="474770" y="3267305"/>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b="1" dirty="0">
                <a:solidFill>
                  <a:schemeClr val="accent1">
                    <a:lumMod val="60000"/>
                    <a:lumOff val="40000"/>
                  </a:schemeClr>
                </a:solidFill>
              </a:rPr>
              <a:t>LLM</a:t>
            </a:r>
          </a:p>
          <a:p>
            <a:pPr algn="ctr"/>
            <a:r>
              <a:rPr lang="en-US" altLang="zh-TW" sz="1600" dirty="0">
                <a:solidFill>
                  <a:schemeClr val="accent1">
                    <a:lumMod val="60000"/>
                    <a:lumOff val="40000"/>
                  </a:schemeClr>
                </a:solidFill>
              </a:rPr>
              <a:t>Large Language</a:t>
            </a:r>
          </a:p>
          <a:p>
            <a:pPr algn="ctr"/>
            <a:r>
              <a:rPr lang="en-US" altLang="zh-TW" sz="1600" dirty="0">
                <a:solidFill>
                  <a:schemeClr val="accent1">
                    <a:lumMod val="60000"/>
                    <a:lumOff val="40000"/>
                  </a:schemeClr>
                </a:solidFill>
              </a:rPr>
              <a:t>Model</a:t>
            </a:r>
          </a:p>
        </p:txBody>
      </p:sp>
      <p:sp>
        <p:nvSpPr>
          <p:cNvPr id="49" name="橢圓 48">
            <a:extLst>
              <a:ext uri="{FF2B5EF4-FFF2-40B4-BE49-F238E27FC236}">
                <a16:creationId xmlns:a16="http://schemas.microsoft.com/office/drawing/2014/main" id="{A229AF79-B8E1-EF6C-D4FC-740D11027C3E}"/>
              </a:ext>
            </a:extLst>
          </p:cNvPr>
          <p:cNvSpPr/>
          <p:nvPr/>
        </p:nvSpPr>
        <p:spPr>
          <a:xfrm>
            <a:off x="6491192" y="306896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Pretraining</a:t>
            </a:r>
          </a:p>
          <a:p>
            <a:pPr algn="ctr"/>
            <a:r>
              <a:rPr lang="en-US" altLang="zh-TW" sz="1200" dirty="0">
                <a:solidFill>
                  <a:schemeClr val="accent3">
                    <a:lumMod val="50000"/>
                  </a:schemeClr>
                </a:solidFill>
              </a:rPr>
              <a:t>(Unlabeled)</a:t>
            </a:r>
          </a:p>
        </p:txBody>
      </p:sp>
      <p:sp>
        <p:nvSpPr>
          <p:cNvPr id="7" name="矩形: 圓角 6">
            <a:extLst>
              <a:ext uri="{FF2B5EF4-FFF2-40B4-BE49-F238E27FC236}">
                <a16:creationId xmlns:a16="http://schemas.microsoft.com/office/drawing/2014/main" id="{92B0DCE1-99FF-7C56-B23A-1E7C72B7C357}"/>
              </a:ext>
            </a:extLst>
          </p:cNvPr>
          <p:cNvSpPr/>
          <p:nvPr/>
        </p:nvSpPr>
        <p:spPr>
          <a:xfrm>
            <a:off x="7313529" y="3645024"/>
            <a:ext cx="1630598" cy="58335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Supervised FT</a:t>
            </a:r>
          </a:p>
          <a:p>
            <a:pPr algn="ctr"/>
            <a:r>
              <a:rPr lang="en-US" altLang="zh-TW" sz="1200" dirty="0">
                <a:solidFill>
                  <a:schemeClr val="accent3">
                    <a:lumMod val="50000"/>
                  </a:schemeClr>
                </a:solidFill>
              </a:rPr>
              <a:t>Open AI</a:t>
            </a:r>
          </a:p>
          <a:p>
            <a:pPr algn="ctr"/>
            <a:r>
              <a:rPr lang="en-US" altLang="zh-TW" sz="1200" dirty="0">
                <a:solidFill>
                  <a:schemeClr val="accent3">
                    <a:lumMod val="50000"/>
                  </a:schemeClr>
                </a:solidFill>
              </a:rPr>
              <a:t>2020</a:t>
            </a:r>
          </a:p>
        </p:txBody>
      </p:sp>
      <p:sp>
        <p:nvSpPr>
          <p:cNvPr id="9" name="矩形: 圓角 8">
            <a:extLst>
              <a:ext uri="{FF2B5EF4-FFF2-40B4-BE49-F238E27FC236}">
                <a16:creationId xmlns:a16="http://schemas.microsoft.com/office/drawing/2014/main" id="{6B1D9D8A-9401-767B-C450-D6F73C2BB6D3}"/>
              </a:ext>
            </a:extLst>
          </p:cNvPr>
          <p:cNvSpPr/>
          <p:nvPr/>
        </p:nvSpPr>
        <p:spPr>
          <a:xfrm>
            <a:off x="5356676" y="4293096"/>
            <a:ext cx="1234518" cy="571077"/>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RLHF</a:t>
            </a:r>
          </a:p>
          <a:p>
            <a:pPr algn="ctr"/>
            <a:r>
              <a:rPr lang="en-US" altLang="zh-TW" sz="1200" dirty="0">
                <a:solidFill>
                  <a:schemeClr val="accent3">
                    <a:lumMod val="50000"/>
                  </a:schemeClr>
                </a:solidFill>
              </a:rPr>
              <a:t>Anthropic</a:t>
            </a:r>
          </a:p>
          <a:p>
            <a:pPr algn="ctr"/>
            <a:r>
              <a:rPr lang="en-US" altLang="zh-TW" sz="1200" dirty="0">
                <a:solidFill>
                  <a:schemeClr val="accent3">
                    <a:lumMod val="50000"/>
                  </a:schemeClr>
                </a:solidFill>
              </a:rPr>
              <a:t>2022</a:t>
            </a:r>
          </a:p>
        </p:txBody>
      </p:sp>
      <p:sp>
        <p:nvSpPr>
          <p:cNvPr id="11" name="矩形: 圓角 10">
            <a:extLst>
              <a:ext uri="{FF2B5EF4-FFF2-40B4-BE49-F238E27FC236}">
                <a16:creationId xmlns:a16="http://schemas.microsoft.com/office/drawing/2014/main" id="{F62E754F-9C02-0E33-6CE0-54462773BB15}"/>
              </a:ext>
            </a:extLst>
          </p:cNvPr>
          <p:cNvSpPr/>
          <p:nvPr/>
        </p:nvSpPr>
        <p:spPr>
          <a:xfrm>
            <a:off x="7303113" y="4570063"/>
            <a:ext cx="1630597"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Constitutional AI</a:t>
            </a:r>
          </a:p>
          <a:p>
            <a:pPr algn="ctr"/>
            <a:r>
              <a:rPr lang="en-US" altLang="zh-TW" sz="1200" dirty="0">
                <a:solidFill>
                  <a:schemeClr val="accent3">
                    <a:lumMod val="50000"/>
                  </a:schemeClr>
                </a:solidFill>
              </a:rPr>
              <a:t>2022~2023</a:t>
            </a:r>
          </a:p>
        </p:txBody>
      </p:sp>
      <p:sp>
        <p:nvSpPr>
          <p:cNvPr id="12" name="矩形: 圓角 11">
            <a:extLst>
              <a:ext uri="{FF2B5EF4-FFF2-40B4-BE49-F238E27FC236}">
                <a16:creationId xmlns:a16="http://schemas.microsoft.com/office/drawing/2014/main" id="{8402F9BD-99C1-28E9-CE60-46DE8969F474}"/>
              </a:ext>
            </a:extLst>
          </p:cNvPr>
          <p:cNvSpPr/>
          <p:nvPr/>
        </p:nvSpPr>
        <p:spPr>
          <a:xfrm>
            <a:off x="5364088" y="4941168"/>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Direct PO</a:t>
            </a:r>
          </a:p>
          <a:p>
            <a:pPr algn="ctr"/>
            <a:r>
              <a:rPr lang="en-US" altLang="zh-TW" sz="1200" dirty="0">
                <a:solidFill>
                  <a:schemeClr val="accent3">
                    <a:lumMod val="50000"/>
                  </a:schemeClr>
                </a:solidFill>
              </a:rPr>
              <a:t>2023</a:t>
            </a:r>
          </a:p>
        </p:txBody>
      </p:sp>
      <p:sp>
        <p:nvSpPr>
          <p:cNvPr id="13" name="矩形: 圓角 12">
            <a:extLst>
              <a:ext uri="{FF2B5EF4-FFF2-40B4-BE49-F238E27FC236}">
                <a16:creationId xmlns:a16="http://schemas.microsoft.com/office/drawing/2014/main" id="{045B93F3-45E5-94C2-30E3-90984A1ABB1D}"/>
              </a:ext>
            </a:extLst>
          </p:cNvPr>
          <p:cNvSpPr/>
          <p:nvPr/>
        </p:nvSpPr>
        <p:spPr>
          <a:xfrm>
            <a:off x="7308304" y="5083009"/>
            <a:ext cx="1630598" cy="578239"/>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Distributed Alignment</a:t>
            </a:r>
          </a:p>
          <a:p>
            <a:pPr algn="ctr"/>
            <a:r>
              <a:rPr lang="en-US" altLang="zh-TW" sz="1200" dirty="0">
                <a:solidFill>
                  <a:schemeClr val="accent3">
                    <a:lumMod val="50000"/>
                  </a:schemeClr>
                </a:solidFill>
              </a:rPr>
              <a:t>(for large-scale systems)</a:t>
            </a:r>
          </a:p>
          <a:p>
            <a:pPr algn="ctr"/>
            <a:r>
              <a:rPr lang="en-US" altLang="zh-TW" sz="1200" dirty="0">
                <a:solidFill>
                  <a:schemeClr val="accent3">
                    <a:lumMod val="50000"/>
                  </a:schemeClr>
                </a:solidFill>
              </a:rPr>
              <a:t>2023~2024</a:t>
            </a:r>
          </a:p>
        </p:txBody>
      </p:sp>
      <p:sp>
        <p:nvSpPr>
          <p:cNvPr id="14" name="矩形: 圓角 13">
            <a:extLst>
              <a:ext uri="{FF2B5EF4-FFF2-40B4-BE49-F238E27FC236}">
                <a16:creationId xmlns:a16="http://schemas.microsoft.com/office/drawing/2014/main" id="{5A7DCF19-329F-9F35-BF64-DEE6AF2F5BA9}"/>
              </a:ext>
            </a:extLst>
          </p:cNvPr>
          <p:cNvSpPr/>
          <p:nvPr/>
        </p:nvSpPr>
        <p:spPr>
          <a:xfrm>
            <a:off x="5364088" y="5578175"/>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Self-Alignment</a:t>
            </a:r>
          </a:p>
          <a:p>
            <a:pPr algn="ctr"/>
            <a:r>
              <a:rPr lang="en-US" altLang="zh-TW" sz="1200" dirty="0">
                <a:solidFill>
                  <a:schemeClr val="accent3">
                    <a:lumMod val="50000"/>
                  </a:schemeClr>
                </a:solidFill>
              </a:rPr>
              <a:t>2024~2025</a:t>
            </a:r>
          </a:p>
        </p:txBody>
      </p:sp>
      <p:sp>
        <p:nvSpPr>
          <p:cNvPr id="40" name="矩形: 圓角 39">
            <a:extLst>
              <a:ext uri="{FF2B5EF4-FFF2-40B4-BE49-F238E27FC236}">
                <a16:creationId xmlns:a16="http://schemas.microsoft.com/office/drawing/2014/main" id="{2DDCAABF-D90C-1F31-5E0D-E64A4F0E0D93}"/>
              </a:ext>
            </a:extLst>
          </p:cNvPr>
          <p:cNvSpPr/>
          <p:nvPr/>
        </p:nvSpPr>
        <p:spPr>
          <a:xfrm>
            <a:off x="6443790" y="2276872"/>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Supervised</a:t>
            </a:r>
          </a:p>
        </p:txBody>
      </p:sp>
      <p:sp>
        <p:nvSpPr>
          <p:cNvPr id="41" name="矩形: 圓角 40">
            <a:extLst>
              <a:ext uri="{FF2B5EF4-FFF2-40B4-BE49-F238E27FC236}">
                <a16:creationId xmlns:a16="http://schemas.microsoft.com/office/drawing/2014/main" id="{E9D6BCDC-810F-9F21-25F1-19F04AE503C2}"/>
              </a:ext>
            </a:extLst>
          </p:cNvPr>
          <p:cNvSpPr/>
          <p:nvPr/>
        </p:nvSpPr>
        <p:spPr>
          <a:xfrm>
            <a:off x="7624788" y="2280658"/>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Reinforcement</a:t>
            </a:r>
          </a:p>
        </p:txBody>
      </p:sp>
      <p:sp>
        <p:nvSpPr>
          <p:cNvPr id="43" name="矩形: 圓角 42">
            <a:extLst>
              <a:ext uri="{FF2B5EF4-FFF2-40B4-BE49-F238E27FC236}">
                <a16:creationId xmlns:a16="http://schemas.microsoft.com/office/drawing/2014/main" id="{30D128EE-313D-0392-484A-E5D6D49F7B8D}"/>
              </a:ext>
            </a:extLst>
          </p:cNvPr>
          <p:cNvSpPr/>
          <p:nvPr/>
        </p:nvSpPr>
        <p:spPr>
          <a:xfrm>
            <a:off x="5397985" y="2283441"/>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bg1">
                    <a:lumMod val="50000"/>
                  </a:schemeClr>
                </a:solidFill>
              </a:rPr>
              <a:t>Unsupervised</a:t>
            </a:r>
          </a:p>
        </p:txBody>
      </p:sp>
      <p:sp>
        <p:nvSpPr>
          <p:cNvPr id="44" name="橢圓 43">
            <a:extLst>
              <a:ext uri="{FF2B5EF4-FFF2-40B4-BE49-F238E27FC236}">
                <a16:creationId xmlns:a16="http://schemas.microsoft.com/office/drawing/2014/main" id="{559E4259-9FAA-88A4-9ED9-DBF3DF119E1A}"/>
              </a:ext>
            </a:extLst>
          </p:cNvPr>
          <p:cNvSpPr/>
          <p:nvPr/>
        </p:nvSpPr>
        <p:spPr>
          <a:xfrm>
            <a:off x="474770" y="5133154"/>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b="1" dirty="0">
                <a:solidFill>
                  <a:schemeClr val="accent1">
                    <a:lumMod val="60000"/>
                    <a:lumOff val="40000"/>
                  </a:schemeClr>
                </a:solidFill>
              </a:rPr>
              <a:t>SLM</a:t>
            </a:r>
          </a:p>
          <a:p>
            <a:pPr algn="ctr"/>
            <a:r>
              <a:rPr lang="en-US" altLang="zh-TW" sz="1400" dirty="0">
                <a:solidFill>
                  <a:schemeClr val="accent1">
                    <a:lumMod val="60000"/>
                    <a:lumOff val="40000"/>
                  </a:schemeClr>
                </a:solidFill>
              </a:rPr>
              <a:t>Small Language</a:t>
            </a:r>
          </a:p>
          <a:p>
            <a:pPr algn="ctr"/>
            <a:r>
              <a:rPr lang="en-US" altLang="zh-TW" sz="1400" dirty="0">
                <a:solidFill>
                  <a:schemeClr val="accent1">
                    <a:lumMod val="60000"/>
                    <a:lumOff val="40000"/>
                  </a:schemeClr>
                </a:solidFill>
              </a:rPr>
              <a:t>Model</a:t>
            </a:r>
          </a:p>
        </p:txBody>
      </p:sp>
      <p:sp>
        <p:nvSpPr>
          <p:cNvPr id="48" name="橢圓 47">
            <a:extLst>
              <a:ext uri="{FF2B5EF4-FFF2-40B4-BE49-F238E27FC236}">
                <a16:creationId xmlns:a16="http://schemas.microsoft.com/office/drawing/2014/main" id="{A5730CDE-D08C-1426-0780-DA99A06CD9AA}"/>
              </a:ext>
            </a:extLst>
          </p:cNvPr>
          <p:cNvSpPr/>
          <p:nvPr/>
        </p:nvSpPr>
        <p:spPr>
          <a:xfrm>
            <a:off x="1754962" y="5792546"/>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3</a:t>
            </a:r>
          </a:p>
          <a:p>
            <a:pPr algn="ctr"/>
            <a:r>
              <a:rPr lang="en-US" altLang="zh-TW" sz="1200" dirty="0">
                <a:solidFill>
                  <a:schemeClr val="accent1">
                    <a:lumMod val="75000"/>
                  </a:schemeClr>
                </a:solidFill>
              </a:rPr>
              <a:t>2025</a:t>
            </a:r>
          </a:p>
        </p:txBody>
      </p:sp>
      <p:sp>
        <p:nvSpPr>
          <p:cNvPr id="50" name="橢圓 49">
            <a:extLst>
              <a:ext uri="{FF2B5EF4-FFF2-40B4-BE49-F238E27FC236}">
                <a16:creationId xmlns:a16="http://schemas.microsoft.com/office/drawing/2014/main" id="{E7B38B64-1CCF-174D-6DDC-8BF20C560A9B}"/>
              </a:ext>
            </a:extLst>
          </p:cNvPr>
          <p:cNvSpPr/>
          <p:nvPr/>
        </p:nvSpPr>
        <p:spPr>
          <a:xfrm>
            <a:off x="1754962" y="6158945"/>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4</a:t>
            </a:r>
          </a:p>
          <a:p>
            <a:pPr algn="ctr"/>
            <a:r>
              <a:rPr lang="en-US" altLang="zh-TW" sz="1200" dirty="0">
                <a:solidFill>
                  <a:schemeClr val="accent1">
                    <a:lumMod val="75000"/>
                  </a:schemeClr>
                </a:solidFill>
              </a:rPr>
              <a:t>2026</a:t>
            </a:r>
          </a:p>
        </p:txBody>
      </p:sp>
    </p:spTree>
    <p:extLst>
      <p:ext uri="{BB962C8B-B14F-4D97-AF65-F5344CB8AC3E}">
        <p14:creationId xmlns:p14="http://schemas.microsoft.com/office/powerpoint/2010/main" val="1494101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996952"/>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F277-68DE-9F1A-3804-0E4A3920ABF2}"/>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BEEB2BF8-F9D8-5DC0-6197-C12EA6B6B432}"/>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Self-Supervised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5F043B72-6AEB-EFDE-CFA2-4DFA01D3A4DB}"/>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31840" y="2208315"/>
            <a:ext cx="3915984" cy="2149202"/>
          </a:xfrm>
          <a:prstGeom prst="rect">
            <a:avLst/>
          </a:prstGeom>
          <a:effectLst>
            <a:glow rad="63500">
              <a:schemeClr val="accent1">
                <a:satMod val="175000"/>
                <a:alpha val="40000"/>
              </a:schemeClr>
            </a:glow>
          </a:effectLst>
        </p:spPr>
      </p:pic>
      <p:sp>
        <p:nvSpPr>
          <p:cNvPr id="3" name="文字方塊 2">
            <a:extLst>
              <a:ext uri="{FF2B5EF4-FFF2-40B4-BE49-F238E27FC236}">
                <a16:creationId xmlns:a16="http://schemas.microsoft.com/office/drawing/2014/main" id="{D29D0120-D695-790B-FD29-6D90A49D1A22}"/>
              </a:ext>
            </a:extLst>
          </p:cNvPr>
          <p:cNvSpPr txBox="1"/>
          <p:nvPr/>
        </p:nvSpPr>
        <p:spPr>
          <a:xfrm>
            <a:off x="213023" y="2351892"/>
            <a:ext cx="8568952" cy="186204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Classification</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Algorithm: </a:t>
            </a:r>
            <a:r>
              <a:rPr lang="en-US" altLang="zh-TW" sz="1600" b="0" u="none" strike="noStrike" dirty="0">
                <a:effectLst/>
              </a:rPr>
              <a:t>.Algorithm.</a:t>
            </a:r>
            <a:endParaRPr lang="en-US" altLang="zh-TW" sz="1600" dirty="0"/>
          </a:p>
          <a:p>
            <a:pPr marL="285750" indent="-285750">
              <a:lnSpc>
                <a:spcPts val="1800"/>
              </a:lnSpc>
              <a:spcBef>
                <a:spcPts val="600"/>
              </a:spcBef>
              <a:spcAft>
                <a:spcPts val="600"/>
              </a:spcAft>
              <a:buFont typeface="Wingdings" panose="05000000000000000000" pitchFamily="2" charset="2"/>
              <a:buChar char="Ø"/>
            </a:pPr>
            <a:endParaRPr lang="en-US" altLang="zh-TW" sz="1600" b="0" u="none" strike="noStrike" dirty="0">
              <a:effectLst/>
            </a:endParaRPr>
          </a:p>
        </p:txBody>
      </p:sp>
      <p:sp>
        <p:nvSpPr>
          <p:cNvPr id="4" name="文字方塊 3">
            <a:extLst>
              <a:ext uri="{FF2B5EF4-FFF2-40B4-BE49-F238E27FC236}">
                <a16:creationId xmlns:a16="http://schemas.microsoft.com/office/drawing/2014/main" id="{79C46465-F0E2-7C29-7E02-D7E0420800C7}"/>
              </a:ext>
            </a:extLst>
          </p:cNvPr>
          <p:cNvSpPr txBox="1"/>
          <p:nvPr/>
        </p:nvSpPr>
        <p:spPr>
          <a:xfrm>
            <a:off x="218381" y="4471952"/>
            <a:ext cx="856895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Regression</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Data</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Model</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Algorithm: </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.Algorithm.</a:t>
            </a:r>
          </a:p>
        </p:txBody>
      </p:sp>
      <p:sp>
        <p:nvSpPr>
          <p:cNvPr id="5" name="文字方塊 4">
            <a:extLst>
              <a:ext uri="{FF2B5EF4-FFF2-40B4-BE49-F238E27FC236}">
                <a16:creationId xmlns:a16="http://schemas.microsoft.com/office/drawing/2014/main" id="{D69A47AF-F734-215C-023C-F999DF7B5B47}"/>
              </a:ext>
            </a:extLst>
          </p:cNvPr>
          <p:cNvSpPr txBox="1"/>
          <p:nvPr/>
        </p:nvSpPr>
        <p:spPr>
          <a:xfrm>
            <a:off x="213023" y="908720"/>
            <a:ext cx="7023273" cy="323165"/>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p:txBody>
      </p:sp>
      <p:sp>
        <p:nvSpPr>
          <p:cNvPr id="6" name="文字方塊 5">
            <a:extLst>
              <a:ext uri="{FF2B5EF4-FFF2-40B4-BE49-F238E27FC236}">
                <a16:creationId xmlns:a16="http://schemas.microsoft.com/office/drawing/2014/main" id="{DE425EDB-BF12-1881-7232-FCB926F7F513}"/>
              </a:ext>
            </a:extLst>
          </p:cNvPr>
          <p:cNvSpPr txBox="1"/>
          <p:nvPr/>
        </p:nvSpPr>
        <p:spPr>
          <a:xfrm>
            <a:off x="1912467" y="1295280"/>
            <a:ext cx="3024336" cy="830997"/>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 (feature, label) </a:t>
            </a:r>
          </a:p>
          <a:p>
            <a:pPr marL="171450" indent="-171450">
              <a:buFont typeface="Arial" panose="020B0604020202020204" pitchFamily="34" charset="0"/>
              <a:buChar char="•"/>
            </a:pPr>
            <a:r>
              <a:rPr lang="en-US" altLang="zh-TW" sz="1200" dirty="0"/>
              <a:t>NN Model (W</a:t>
            </a:r>
            <a:r>
              <a:rPr lang="en-US" altLang="zh-TW" sz="1200" baseline="-25000" dirty="0"/>
              <a:t>0</a:t>
            </a:r>
            <a:r>
              <a:rPr lang="en-US" altLang="zh-TW" sz="1200" dirty="0"/>
              <a:t>, W</a:t>
            </a:r>
            <a:r>
              <a:rPr lang="en-US" altLang="zh-TW" sz="1200" baseline="-25000" dirty="0"/>
              <a:t>i </a:t>
            </a:r>
            <a:r>
              <a:rPr lang="en-US" altLang="zh-TW" sz="1200" dirty="0"/>
              <a:t>,</a:t>
            </a:r>
            <a:r>
              <a:rPr lang="zh-TW" altLang="en-US" sz="1200" dirty="0"/>
              <a:t> </a:t>
            </a:r>
            <a:r>
              <a:rPr lang="en-US" altLang="zh-TW" sz="1200" dirty="0"/>
              <a:t>…</a:t>
            </a:r>
            <a:r>
              <a:rPr lang="zh-TW" altLang="en-US" sz="1200" dirty="0"/>
              <a:t> </a:t>
            </a:r>
            <a:r>
              <a:rPr lang="en-US" altLang="zh-TW" sz="1200" dirty="0"/>
              <a:t>)</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Optimizer</a:t>
            </a:r>
          </a:p>
        </p:txBody>
      </p:sp>
    </p:spTree>
    <p:extLst>
      <p:ext uri="{BB962C8B-B14F-4D97-AF65-F5344CB8AC3E}">
        <p14:creationId xmlns:p14="http://schemas.microsoft.com/office/powerpoint/2010/main" val="30202106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C4B6B-A3C4-614B-0094-FBFE317B558B}"/>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A38A6A8F-6A54-4278-7D6E-2680580D9AF3}"/>
              </a:ext>
            </a:extLst>
          </p:cNvPr>
          <p:cNvSpPr txBox="1"/>
          <p:nvPr/>
        </p:nvSpPr>
        <p:spPr>
          <a:xfrm>
            <a:off x="35496" y="626634"/>
            <a:ext cx="3024336" cy="2123658"/>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a:t>
            </a:r>
          </a:p>
          <a:p>
            <a:pPr marL="171450" indent="-171450">
              <a:buFont typeface="Arial" panose="020B0604020202020204" pitchFamily="34" charset="0"/>
              <a:buChar char="•"/>
            </a:pPr>
            <a:r>
              <a:rPr lang="en-US" altLang="zh-TW" sz="1200" dirty="0"/>
              <a:t>Model (W0, Wi): Y = a*w + b</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Gradient</a:t>
            </a:r>
          </a:p>
          <a:p>
            <a:pPr marL="171450" indent="-171450">
              <a:buFont typeface="Arial" panose="020B0604020202020204" pitchFamily="34" charset="0"/>
              <a:buChar char="•"/>
            </a:pPr>
            <a:r>
              <a:rPr lang="en-US" altLang="zh-TW" sz="1200" dirty="0"/>
              <a:t>Learning rate</a:t>
            </a:r>
          </a:p>
          <a:p>
            <a:pPr marL="171450" indent="-171450">
              <a:buFont typeface="Arial" panose="020B0604020202020204" pitchFamily="34" charset="0"/>
              <a:buChar char="•"/>
            </a:pPr>
            <a:r>
              <a:rPr lang="en-US" altLang="zh-TW" sz="1200" dirty="0"/>
              <a:t>Batch </a:t>
            </a:r>
          </a:p>
          <a:p>
            <a:pPr marL="171450" indent="-171450">
              <a:buFont typeface="Arial" panose="020B0604020202020204" pitchFamily="34" charset="0"/>
              <a:buChar char="•"/>
            </a:pPr>
            <a:r>
              <a:rPr lang="en-US" altLang="zh-TW" sz="1200" dirty="0"/>
              <a:t>Activation Function</a:t>
            </a:r>
          </a:p>
          <a:p>
            <a:pPr marL="171450" indent="-171450">
              <a:buFont typeface="Arial" panose="020B0604020202020204" pitchFamily="34" charset="0"/>
              <a:buChar char="•"/>
            </a:pPr>
            <a:r>
              <a:rPr lang="en-US" altLang="zh-TW" sz="1200" dirty="0"/>
              <a:t>Neuro Network: weight, summary, Activate  </a:t>
            </a:r>
          </a:p>
          <a:p>
            <a:pPr marL="171450" indent="-171450">
              <a:buFont typeface="Arial" panose="020B0604020202020204" pitchFamily="34" charset="0"/>
              <a:buChar char="•"/>
            </a:pPr>
            <a:r>
              <a:rPr lang="en-US" altLang="zh-TW" sz="1200" dirty="0"/>
              <a:t>Optimizer</a:t>
            </a:r>
          </a:p>
          <a:p>
            <a:pPr marL="171450" indent="-171450">
              <a:buFont typeface="Arial" panose="020B0604020202020204" pitchFamily="34" charset="0"/>
              <a:buChar char="•"/>
            </a:pPr>
            <a:r>
              <a:rPr lang="en-US" altLang="zh-TW" sz="1200" dirty="0"/>
              <a:t>Backpropagation</a:t>
            </a:r>
          </a:p>
          <a:p>
            <a:pPr marL="171450" indent="-171450">
              <a:buFont typeface="Arial" panose="020B0604020202020204" pitchFamily="34" charset="0"/>
              <a:buChar char="•"/>
            </a:pPr>
            <a:r>
              <a:rPr lang="en-US" altLang="zh-TW" sz="1200" dirty="0"/>
              <a:t>Chain rule</a:t>
            </a:r>
            <a:endParaRPr lang="zh-TW" altLang="en-US" sz="1200" dirty="0"/>
          </a:p>
        </p:txBody>
      </p:sp>
      <p:sp>
        <p:nvSpPr>
          <p:cNvPr id="5" name="文字方塊 4">
            <a:extLst>
              <a:ext uri="{FF2B5EF4-FFF2-40B4-BE49-F238E27FC236}">
                <a16:creationId xmlns:a16="http://schemas.microsoft.com/office/drawing/2014/main" id="{AF89BB4F-136C-04D1-2288-74B85ED1D9EA}"/>
              </a:ext>
            </a:extLst>
          </p:cNvPr>
          <p:cNvSpPr txBox="1"/>
          <p:nvPr/>
        </p:nvSpPr>
        <p:spPr>
          <a:xfrm>
            <a:off x="35496" y="3013501"/>
            <a:ext cx="3024336" cy="830997"/>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 (feature, label) </a:t>
            </a:r>
          </a:p>
          <a:p>
            <a:pPr marL="171450" indent="-171450">
              <a:buFont typeface="Arial" panose="020B0604020202020204" pitchFamily="34" charset="0"/>
              <a:buChar char="•"/>
            </a:pPr>
            <a:r>
              <a:rPr lang="en-US" altLang="zh-TW" sz="1200" dirty="0"/>
              <a:t>NN Model (W</a:t>
            </a:r>
            <a:r>
              <a:rPr lang="en-US" altLang="zh-TW" sz="1200" baseline="-25000" dirty="0"/>
              <a:t>0</a:t>
            </a:r>
            <a:r>
              <a:rPr lang="en-US" altLang="zh-TW" sz="1200" dirty="0"/>
              <a:t>, W</a:t>
            </a:r>
            <a:r>
              <a:rPr lang="en-US" altLang="zh-TW" sz="1200" baseline="-25000" dirty="0"/>
              <a:t>i </a:t>
            </a:r>
            <a:r>
              <a:rPr lang="en-US" altLang="zh-TW" sz="1200" dirty="0"/>
              <a:t>,</a:t>
            </a:r>
            <a:r>
              <a:rPr lang="zh-TW" altLang="en-US" sz="1200" dirty="0"/>
              <a:t> </a:t>
            </a:r>
            <a:r>
              <a:rPr lang="en-US" altLang="zh-TW" sz="1200" dirty="0"/>
              <a:t>…</a:t>
            </a:r>
            <a:r>
              <a:rPr lang="zh-TW" altLang="en-US" sz="1200" dirty="0"/>
              <a:t> </a:t>
            </a:r>
            <a:r>
              <a:rPr lang="en-US" altLang="zh-TW" sz="1200" dirty="0"/>
              <a:t>)</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Optimizer</a:t>
            </a:r>
          </a:p>
        </p:txBody>
      </p:sp>
      <p:sp>
        <p:nvSpPr>
          <p:cNvPr id="7" name="標題 1">
            <a:extLst>
              <a:ext uri="{FF2B5EF4-FFF2-40B4-BE49-F238E27FC236}">
                <a16:creationId xmlns:a16="http://schemas.microsoft.com/office/drawing/2014/main" id="{63F0BD3B-75B8-6843-30ED-1175CDED511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Reinforcement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459121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E27-2206-B63F-E8DA-34F849D0EAD2}"/>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0EE64C92-6E22-AD07-6D42-44D4CBBF4446}"/>
              </a:ext>
            </a:extLst>
          </p:cNvPr>
          <p:cNvPicPr>
            <a:picLocks noChangeAspect="1"/>
          </p:cNvPicPr>
          <p:nvPr/>
        </p:nvPicPr>
        <p:blipFill>
          <a:blip r:embed="rId3"/>
          <a:stretch>
            <a:fillRect/>
          </a:stretch>
        </p:blipFill>
        <p:spPr>
          <a:xfrm>
            <a:off x="35496" y="4149080"/>
            <a:ext cx="4929158" cy="2418775"/>
          </a:xfrm>
          <a:prstGeom prst="rect">
            <a:avLst/>
          </a:prstGeom>
        </p:spPr>
      </p:pic>
      <p:pic>
        <p:nvPicPr>
          <p:cNvPr id="7" name="圖片 6">
            <a:extLst>
              <a:ext uri="{FF2B5EF4-FFF2-40B4-BE49-F238E27FC236}">
                <a16:creationId xmlns:a16="http://schemas.microsoft.com/office/drawing/2014/main" id="{7E724F2C-9599-42E1-9280-5951AE3C053E}"/>
              </a:ext>
            </a:extLst>
          </p:cNvPr>
          <p:cNvPicPr>
            <a:picLocks noChangeAspect="1"/>
          </p:cNvPicPr>
          <p:nvPr/>
        </p:nvPicPr>
        <p:blipFill>
          <a:blip r:embed="rId4"/>
          <a:stretch>
            <a:fillRect/>
          </a:stretch>
        </p:blipFill>
        <p:spPr>
          <a:xfrm>
            <a:off x="25564" y="4164362"/>
            <a:ext cx="4929158" cy="2477482"/>
          </a:xfrm>
          <a:prstGeom prst="rect">
            <a:avLst/>
          </a:prstGeom>
        </p:spPr>
      </p:pic>
      <p:sp>
        <p:nvSpPr>
          <p:cNvPr id="126" name="圖說文字: 折線不加上框線 125">
            <a:extLst>
              <a:ext uri="{FF2B5EF4-FFF2-40B4-BE49-F238E27FC236}">
                <a16:creationId xmlns:a16="http://schemas.microsoft.com/office/drawing/2014/main" id="{0DEDAA18-E47A-71DF-468F-7D78A5F550F5}"/>
              </a:ext>
            </a:extLst>
          </p:cNvPr>
          <p:cNvSpPr/>
          <p:nvPr/>
        </p:nvSpPr>
        <p:spPr>
          <a:xfrm>
            <a:off x="4486257" y="3568406"/>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ECC91B31-8CB6-DECF-891F-8E3E87D28FA5}"/>
              </a:ext>
            </a:extLst>
          </p:cNvPr>
          <p:cNvSpPr/>
          <p:nvPr/>
        </p:nvSpPr>
        <p:spPr>
          <a:xfrm>
            <a:off x="6016683" y="3501008"/>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4BD8DF4E-71A3-B90E-5451-8E801E270282}"/>
                  </a:ext>
                </a:extLst>
              </p:cNvPr>
              <p:cNvSpPr txBox="1"/>
              <p:nvPr/>
            </p:nvSpPr>
            <p:spPr>
              <a:xfrm>
                <a:off x="4609208" y="3090301"/>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4BD8DF4E-71A3-B90E-5451-8E801E270282}"/>
                  </a:ext>
                </a:extLst>
              </p:cNvPr>
              <p:cNvSpPr txBox="1">
                <a:spLocks noRot="1" noChangeAspect="1" noMove="1" noResize="1" noEditPoints="1" noAdjustHandles="1" noChangeArrowheads="1" noChangeShapeType="1" noTextEdit="1"/>
              </p:cNvSpPr>
              <p:nvPr/>
            </p:nvSpPr>
            <p:spPr>
              <a:xfrm>
                <a:off x="4609208" y="3090301"/>
                <a:ext cx="1324882" cy="703846"/>
              </a:xfrm>
              <a:prstGeom prst="rect">
                <a:avLst/>
              </a:prstGeom>
              <a:blipFill>
                <a:blip r:embed="rId5"/>
                <a:stretch>
                  <a:fillRect l="-2765" t="-2609"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745E36A4-E11E-274F-A88D-436DB6C3A5C5}"/>
                  </a:ext>
                </a:extLst>
              </p:cNvPr>
              <p:cNvSpPr txBox="1"/>
              <p:nvPr/>
            </p:nvSpPr>
            <p:spPr>
              <a:xfrm>
                <a:off x="4747503" y="2055514"/>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745E36A4-E11E-274F-A88D-436DB6C3A5C5}"/>
                  </a:ext>
                </a:extLst>
              </p:cNvPr>
              <p:cNvSpPr txBox="1">
                <a:spLocks noRot="1" noChangeAspect="1" noMove="1" noResize="1" noEditPoints="1" noAdjustHandles="1" noChangeArrowheads="1" noChangeShapeType="1" noTextEdit="1"/>
              </p:cNvSpPr>
              <p:nvPr/>
            </p:nvSpPr>
            <p:spPr>
              <a:xfrm>
                <a:off x="4747503" y="2055514"/>
                <a:ext cx="2376264" cy="501997"/>
              </a:xfrm>
              <a:prstGeom prst="rect">
                <a:avLst/>
              </a:prstGeom>
              <a:blipFill>
                <a:blip r:embed="rId6"/>
                <a:stretch>
                  <a:fillRect b="-120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8595CC18-0F87-FD9E-A0C2-759F759DEF07}"/>
                  </a:ext>
                </a:extLst>
              </p:cNvPr>
              <p:cNvSpPr txBox="1"/>
              <p:nvPr/>
            </p:nvSpPr>
            <p:spPr>
              <a:xfrm>
                <a:off x="3812601" y="1771629"/>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8595CC18-0F87-FD9E-A0C2-759F759DEF07}"/>
                  </a:ext>
                </a:extLst>
              </p:cNvPr>
              <p:cNvSpPr txBox="1">
                <a:spLocks noRot="1" noChangeAspect="1" noMove="1" noResize="1" noEditPoints="1" noAdjustHandles="1" noChangeArrowheads="1" noChangeShapeType="1" noTextEdit="1"/>
              </p:cNvSpPr>
              <p:nvPr/>
            </p:nvSpPr>
            <p:spPr>
              <a:xfrm>
                <a:off x="3812601" y="1771629"/>
                <a:ext cx="1684142" cy="307777"/>
              </a:xfrm>
              <a:prstGeom prst="rect">
                <a:avLst/>
              </a:prstGeom>
              <a:blipFill>
                <a:blip r:embed="rId7"/>
                <a:stretch>
                  <a:fillRect b="-10000"/>
                </a:stretch>
              </a:blipFill>
            </p:spPr>
            <p:txBody>
              <a:bodyPr/>
              <a:lstStyle/>
              <a:p>
                <a:r>
                  <a:rPr lang="zh-TW" altLang="en-US">
                    <a:noFill/>
                  </a:rPr>
                  <a:t> </a:t>
                </a:r>
              </a:p>
            </p:txBody>
          </p:sp>
        </mc:Fallback>
      </mc:AlternateContent>
      <p:sp>
        <p:nvSpPr>
          <p:cNvPr id="91" name="流程圖: 接點 90">
            <a:extLst>
              <a:ext uri="{FF2B5EF4-FFF2-40B4-BE49-F238E27FC236}">
                <a16:creationId xmlns:a16="http://schemas.microsoft.com/office/drawing/2014/main" id="{8CEC85E1-6D57-F887-A6EC-F80835621DEC}"/>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FEB79C3-3D81-1720-FF18-5DC444FFF558}"/>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26ECF834-26B5-D2A5-F93D-86298255612A}"/>
              </a:ext>
            </a:extLst>
          </p:cNvPr>
          <p:cNvCxnSpPr>
            <a:cxnSpLocks/>
            <a:endCxn id="91" idx="1"/>
          </p:cNvCxnSpPr>
          <p:nvPr/>
        </p:nvCxnSpPr>
        <p:spPr>
          <a:xfrm>
            <a:off x="1733627" y="1231645"/>
            <a:ext cx="514836" cy="341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09B8E814-A6B2-C933-BE74-5302C91F30D1}"/>
              </a:ext>
            </a:extLst>
          </p:cNvPr>
          <p:cNvCxnSpPr>
            <a:cxnSpLocks/>
            <a:stCxn id="108" idx="3"/>
            <a:endCxn id="91" idx="2"/>
          </p:cNvCxnSpPr>
          <p:nvPr/>
        </p:nvCxnSpPr>
        <p:spPr>
          <a:xfrm>
            <a:off x="1569232" y="1484269"/>
            <a:ext cx="626504" cy="215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D9659F36-520E-5C91-B8E8-1A7D58304F1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C2B16E88-C556-C4F8-4977-892E79F1001D}"/>
              </a:ext>
            </a:extLst>
          </p:cNvPr>
          <p:cNvSpPr txBox="1"/>
          <p:nvPr/>
        </p:nvSpPr>
        <p:spPr>
          <a:xfrm>
            <a:off x="1543529" y="1071212"/>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721C648E-FB65-0ECC-254F-F9A9573FC413}"/>
              </a:ext>
            </a:extLst>
          </p:cNvPr>
          <p:cNvSpPr txBox="1"/>
          <p:nvPr/>
        </p:nvSpPr>
        <p:spPr>
          <a:xfrm>
            <a:off x="1416946" y="137654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94B798A1-EA04-35D7-7720-4617CAA0B5B9}"/>
              </a:ext>
            </a:extLst>
          </p:cNvPr>
          <p:cNvSpPr txBox="1"/>
          <p:nvPr/>
        </p:nvSpPr>
        <p:spPr>
          <a:xfrm>
            <a:off x="1836219" y="1207849"/>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D7B051F5-48A1-3F0B-5351-DAD73B391C2F}"/>
              </a:ext>
            </a:extLst>
          </p:cNvPr>
          <p:cNvSpPr txBox="1"/>
          <p:nvPr/>
        </p:nvSpPr>
        <p:spPr>
          <a:xfrm>
            <a:off x="1721518" y="142329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031F6C64-9C0F-E70C-7EC1-49D2B909E26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A4838FC1-597A-9DFD-81CC-B675AF19583C}"/>
                  </a:ext>
                </a:extLst>
              </p:cNvPr>
              <p:cNvSpPr txBox="1"/>
              <p:nvPr/>
            </p:nvSpPr>
            <p:spPr>
              <a:xfrm>
                <a:off x="1393208" y="2063690"/>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A4838FC1-597A-9DFD-81CC-B675AF19583C}"/>
                  </a:ext>
                </a:extLst>
              </p:cNvPr>
              <p:cNvSpPr txBox="1">
                <a:spLocks noRot="1" noChangeAspect="1" noMove="1" noResize="1" noEditPoints="1" noAdjustHandles="1" noChangeArrowheads="1" noChangeShapeType="1" noTextEdit="1"/>
              </p:cNvSpPr>
              <p:nvPr/>
            </p:nvSpPr>
            <p:spPr>
              <a:xfrm>
                <a:off x="1393208" y="2063690"/>
                <a:ext cx="1214050" cy="1365310"/>
              </a:xfrm>
              <a:prstGeom prst="rect">
                <a:avLst/>
              </a:prstGeom>
              <a:blipFill>
                <a:blip r:embed="rId8"/>
                <a:stretch>
                  <a:fillRect l="-26131" t="-49554" r="-33166" b="-312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4342DADF-88CA-BFE4-B5B1-BEBBAA708980}"/>
                  </a:ext>
                </a:extLst>
              </p:cNvPr>
              <p:cNvSpPr txBox="1"/>
              <p:nvPr/>
            </p:nvSpPr>
            <p:spPr>
              <a:xfrm>
                <a:off x="3387842" y="1094400"/>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4342DADF-88CA-BFE4-B5B1-BEBBAA708980}"/>
                  </a:ext>
                </a:extLst>
              </p:cNvPr>
              <p:cNvSpPr txBox="1">
                <a:spLocks noRot="1" noChangeAspect="1" noMove="1" noResize="1" noEditPoints="1" noAdjustHandles="1" noChangeArrowheads="1" noChangeShapeType="1" noTextEdit="1"/>
              </p:cNvSpPr>
              <p:nvPr/>
            </p:nvSpPr>
            <p:spPr>
              <a:xfrm>
                <a:off x="3387842" y="1094400"/>
                <a:ext cx="1684142" cy="523220"/>
              </a:xfrm>
              <a:prstGeom prst="rect">
                <a:avLst/>
              </a:prstGeom>
              <a:blipFill>
                <a:blip r:embed="rId9"/>
                <a:stretch>
                  <a:fillRect b="-235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63E7BB08-E23F-E20B-4DFA-A7ECC347F6F6}"/>
                  </a:ext>
                </a:extLst>
              </p:cNvPr>
              <p:cNvSpPr txBox="1"/>
              <p:nvPr/>
            </p:nvSpPr>
            <p:spPr>
              <a:xfrm>
                <a:off x="6125829" y="3145600"/>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63E7BB08-E23F-E20B-4DFA-A7ECC347F6F6}"/>
                  </a:ext>
                </a:extLst>
              </p:cNvPr>
              <p:cNvSpPr txBox="1">
                <a:spLocks noRot="1" noChangeAspect="1" noMove="1" noResize="1" noEditPoints="1" noAdjustHandles="1" noChangeArrowheads="1" noChangeShapeType="1" noTextEdit="1"/>
              </p:cNvSpPr>
              <p:nvPr/>
            </p:nvSpPr>
            <p:spPr>
              <a:xfrm>
                <a:off x="6125829" y="3145600"/>
                <a:ext cx="2376264" cy="695701"/>
              </a:xfrm>
              <a:prstGeom prst="rect">
                <a:avLst/>
              </a:prstGeom>
              <a:blipFill>
                <a:blip r:embed="rId10"/>
                <a:stretch>
                  <a:fillRect l="-2308" b="-1228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5A724026-0E5E-4316-5A15-5D4982914353}"/>
                  </a:ext>
                </a:extLst>
              </p:cNvPr>
              <p:cNvSpPr txBox="1"/>
              <p:nvPr/>
            </p:nvSpPr>
            <p:spPr>
              <a:xfrm>
                <a:off x="5034928" y="4057620"/>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5A724026-0E5E-4316-5A15-5D4982914353}"/>
                  </a:ext>
                </a:extLst>
              </p:cNvPr>
              <p:cNvSpPr txBox="1">
                <a:spLocks noRot="1" noChangeAspect="1" noMove="1" noResize="1" noEditPoints="1" noAdjustHandles="1" noChangeArrowheads="1" noChangeShapeType="1" noTextEdit="1"/>
              </p:cNvSpPr>
              <p:nvPr/>
            </p:nvSpPr>
            <p:spPr>
              <a:xfrm>
                <a:off x="5034928" y="4057620"/>
                <a:ext cx="1913336" cy="707886"/>
              </a:xfrm>
              <a:prstGeom prst="rect">
                <a:avLst/>
              </a:prstGeom>
              <a:blipFill>
                <a:blip r:embed="rId11"/>
                <a:stretch>
                  <a:fillRect l="-318" t="-862"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44648191-C007-1AAA-ED80-41ADB1874604}"/>
                  </a:ext>
                </a:extLst>
              </p:cNvPr>
              <p:cNvSpPr txBox="1"/>
              <p:nvPr/>
            </p:nvSpPr>
            <p:spPr>
              <a:xfrm>
                <a:off x="4772556" y="5884836"/>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44648191-C007-1AAA-ED80-41ADB1874604}"/>
                  </a:ext>
                </a:extLst>
              </p:cNvPr>
              <p:cNvSpPr txBox="1">
                <a:spLocks noRot="1" noChangeAspect="1" noMove="1" noResize="1" noEditPoints="1" noAdjustHandles="1" noChangeArrowheads="1" noChangeShapeType="1" noTextEdit="1"/>
              </p:cNvSpPr>
              <p:nvPr/>
            </p:nvSpPr>
            <p:spPr>
              <a:xfrm>
                <a:off x="4772556" y="5884836"/>
                <a:ext cx="4263940" cy="830997"/>
              </a:xfrm>
              <a:prstGeom prst="rect">
                <a:avLst/>
              </a:prstGeom>
              <a:blipFill>
                <a:blip r:embed="rId12"/>
                <a:stretch>
                  <a:fillRect b="-4380"/>
                </a:stretch>
              </a:blipFill>
            </p:spPr>
            <p:txBody>
              <a:bodyPr/>
              <a:lstStyle/>
              <a:p>
                <a:r>
                  <a:rPr lang="zh-TW" altLang="en-US">
                    <a:noFill/>
                  </a:rPr>
                  <a:t> </a:t>
                </a:r>
              </a:p>
            </p:txBody>
          </p:sp>
        </mc:Fallback>
      </mc:AlternateContent>
      <p:pic>
        <p:nvPicPr>
          <p:cNvPr id="9" name="圖片 8">
            <a:extLst>
              <a:ext uri="{FF2B5EF4-FFF2-40B4-BE49-F238E27FC236}">
                <a16:creationId xmlns:a16="http://schemas.microsoft.com/office/drawing/2014/main" id="{4C7F51E7-E217-B579-7E05-C4BEB76DB8E7}"/>
              </a:ext>
            </a:extLst>
          </p:cNvPr>
          <p:cNvPicPr>
            <a:picLocks noChangeAspect="1"/>
          </p:cNvPicPr>
          <p:nvPr/>
        </p:nvPicPr>
        <p:blipFill>
          <a:blip r:embed="rId13"/>
          <a:stretch>
            <a:fillRect/>
          </a:stretch>
        </p:blipFill>
        <p:spPr>
          <a:xfrm>
            <a:off x="2717199" y="3854173"/>
            <a:ext cx="1124267" cy="219681"/>
          </a:xfrm>
          <a:prstGeom prst="rect">
            <a:avLst/>
          </a:prstGeom>
        </p:spPr>
      </p:pic>
      <p:pic>
        <p:nvPicPr>
          <p:cNvPr id="11" name="圖片 10">
            <a:extLst>
              <a:ext uri="{FF2B5EF4-FFF2-40B4-BE49-F238E27FC236}">
                <a16:creationId xmlns:a16="http://schemas.microsoft.com/office/drawing/2014/main" id="{5147070E-E5B6-4CDA-B6B1-B8BC2CE8C9D5}"/>
              </a:ext>
            </a:extLst>
          </p:cNvPr>
          <p:cNvPicPr>
            <a:picLocks noChangeAspect="1"/>
          </p:cNvPicPr>
          <p:nvPr/>
        </p:nvPicPr>
        <p:blipFill>
          <a:blip r:embed="rId14"/>
          <a:stretch>
            <a:fillRect/>
          </a:stretch>
        </p:blipFill>
        <p:spPr>
          <a:xfrm>
            <a:off x="3028991" y="4073914"/>
            <a:ext cx="910956" cy="231354"/>
          </a:xfrm>
          <a:prstGeom prst="rect">
            <a:avLst/>
          </a:prstGeom>
        </p:spPr>
      </p:pic>
      <p:sp>
        <p:nvSpPr>
          <p:cNvPr id="14" name="矩形 13">
            <a:extLst>
              <a:ext uri="{FF2B5EF4-FFF2-40B4-BE49-F238E27FC236}">
                <a16:creationId xmlns:a16="http://schemas.microsoft.com/office/drawing/2014/main" id="{0F0E3E06-73DF-FD3F-0AE6-6A1C4BA03449}"/>
              </a:ext>
            </a:extLst>
          </p:cNvPr>
          <p:cNvSpPr/>
          <p:nvPr/>
        </p:nvSpPr>
        <p:spPr>
          <a:xfrm>
            <a:off x="-8612" y="4305268"/>
            <a:ext cx="914400"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C0C2BC95-A3E9-85E1-B301-347D9D8BBFC3}"/>
              </a:ext>
            </a:extLst>
          </p:cNvPr>
          <p:cNvPicPr>
            <a:picLocks noChangeAspect="1"/>
          </p:cNvPicPr>
          <p:nvPr/>
        </p:nvPicPr>
        <p:blipFill>
          <a:blip r:embed="rId15"/>
          <a:stretch>
            <a:fillRect/>
          </a:stretch>
        </p:blipFill>
        <p:spPr>
          <a:xfrm>
            <a:off x="3359528" y="5445224"/>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18" name="圖片 17">
            <a:extLst>
              <a:ext uri="{FF2B5EF4-FFF2-40B4-BE49-F238E27FC236}">
                <a16:creationId xmlns:a16="http://schemas.microsoft.com/office/drawing/2014/main" id="{DB06D6D7-715E-000A-889D-0C797DD37692}"/>
              </a:ext>
            </a:extLst>
          </p:cNvPr>
          <p:cNvPicPr>
            <a:picLocks noChangeAspect="1"/>
          </p:cNvPicPr>
          <p:nvPr/>
        </p:nvPicPr>
        <p:blipFill>
          <a:blip r:embed="rId16"/>
          <a:stretch>
            <a:fillRect/>
          </a:stretch>
        </p:blipFill>
        <p:spPr>
          <a:xfrm>
            <a:off x="3028991" y="6385719"/>
            <a:ext cx="1877532" cy="450877"/>
          </a:xfrm>
          <a:prstGeom prst="rect">
            <a:avLst/>
          </a:prstGeom>
          <a:effectLst>
            <a:glow rad="25400">
              <a:schemeClr val="accent3">
                <a:lumMod val="60000"/>
                <a:lumOff val="40000"/>
              </a:schemeClr>
            </a:glow>
            <a:softEdge rad="25400"/>
          </a:effectLst>
        </p:spPr>
      </p:pic>
      <p:pic>
        <p:nvPicPr>
          <p:cNvPr id="20" name="圖片 19">
            <a:extLst>
              <a:ext uri="{FF2B5EF4-FFF2-40B4-BE49-F238E27FC236}">
                <a16:creationId xmlns:a16="http://schemas.microsoft.com/office/drawing/2014/main" id="{04435A2F-A5FE-185D-2D35-7EE905EC5610}"/>
              </a:ext>
            </a:extLst>
          </p:cNvPr>
          <p:cNvPicPr>
            <a:picLocks noChangeAspect="1"/>
          </p:cNvPicPr>
          <p:nvPr/>
        </p:nvPicPr>
        <p:blipFill>
          <a:blip r:embed="rId17"/>
          <a:stretch>
            <a:fillRect/>
          </a:stretch>
        </p:blipFill>
        <p:spPr>
          <a:xfrm>
            <a:off x="260957" y="5333428"/>
            <a:ext cx="1495364" cy="523936"/>
          </a:xfrm>
          <a:prstGeom prst="rect">
            <a:avLst/>
          </a:prstGeom>
          <a:effectLst>
            <a:glow rad="76200">
              <a:schemeClr val="accent3">
                <a:lumMod val="60000"/>
                <a:lumOff val="40000"/>
              </a:schemeClr>
            </a:glow>
          </a:effectLst>
        </p:spPr>
      </p:pic>
      <p:pic>
        <p:nvPicPr>
          <p:cNvPr id="22" name="圖片 21">
            <a:extLst>
              <a:ext uri="{FF2B5EF4-FFF2-40B4-BE49-F238E27FC236}">
                <a16:creationId xmlns:a16="http://schemas.microsoft.com/office/drawing/2014/main" id="{91CA0133-6238-7671-7613-3BB301C497D7}"/>
              </a:ext>
            </a:extLst>
          </p:cNvPr>
          <p:cNvPicPr>
            <a:picLocks noChangeAspect="1"/>
          </p:cNvPicPr>
          <p:nvPr/>
        </p:nvPicPr>
        <p:blipFill>
          <a:blip r:embed="rId18"/>
          <a:stretch>
            <a:fillRect/>
          </a:stretch>
        </p:blipFill>
        <p:spPr>
          <a:xfrm>
            <a:off x="260957" y="4754332"/>
            <a:ext cx="1664496" cy="503930"/>
          </a:xfrm>
          <a:prstGeom prst="rect">
            <a:avLst/>
          </a:prstGeom>
          <a:effectLst>
            <a:glow rad="50800">
              <a:schemeClr val="accent1"/>
            </a:glow>
          </a:effectLst>
        </p:spPr>
      </p:pic>
      <p:sp>
        <p:nvSpPr>
          <p:cNvPr id="10" name="標題 1">
            <a:extLst>
              <a:ext uri="{FF2B5EF4-FFF2-40B4-BE49-F238E27FC236}">
                <a16:creationId xmlns:a16="http://schemas.microsoft.com/office/drawing/2014/main" id="{59FA1931-E860-580B-F294-4439D3A67AE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cxnSp>
        <p:nvCxnSpPr>
          <p:cNvPr id="4" name="接點: 弧形 3">
            <a:extLst>
              <a:ext uri="{FF2B5EF4-FFF2-40B4-BE49-F238E27FC236}">
                <a16:creationId xmlns:a16="http://schemas.microsoft.com/office/drawing/2014/main" id="{091EB7D5-F506-117D-63EF-E4A6746B99BB}"/>
              </a:ext>
            </a:extLst>
          </p:cNvPr>
          <p:cNvCxnSpPr>
            <a:stCxn id="124" idx="1"/>
            <a:endCxn id="90" idx="1"/>
          </p:cNvCxnSpPr>
          <p:nvPr/>
        </p:nvCxnSpPr>
        <p:spPr>
          <a:xfrm rot="10800000">
            <a:off x="3812602" y="1925519"/>
            <a:ext cx="1222327" cy="2486045"/>
          </a:xfrm>
          <a:prstGeom prst="curvedConnector3">
            <a:avLst>
              <a:gd name="adj1" fmla="val 11870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0379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標題 1">
            <a:extLst>
              <a:ext uri="{FF2B5EF4-FFF2-40B4-BE49-F238E27FC236}">
                <a16:creationId xmlns:a16="http://schemas.microsoft.com/office/drawing/2014/main" id="{B93110F1-E006-8E00-01D3-AD82BAD527E5}"/>
              </a:ext>
            </a:extLst>
          </p:cNvPr>
          <p:cNvSpPr txBox="1">
            <a:spLocks/>
          </p:cNvSpPr>
          <p:nvPr/>
        </p:nvSpPr>
        <p:spPr>
          <a:xfrm>
            <a:off x="3284082" y="2348880"/>
            <a:ext cx="733875" cy="306093"/>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pic>
        <p:nvPicPr>
          <p:cNvPr id="2" name="圖片 1">
            <a:extLst>
              <a:ext uri="{FF2B5EF4-FFF2-40B4-BE49-F238E27FC236}">
                <a16:creationId xmlns:a16="http://schemas.microsoft.com/office/drawing/2014/main" id="{FD0C255B-D9A6-39D1-598F-A8C5A18ED9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01590" y="980728"/>
            <a:ext cx="5740819" cy="5380408"/>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Powering modern LLMs through scalable Dense networks or sparse MoE. </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7547929" y="4293096"/>
                <a:ext cx="816645" cy="648072"/>
              </a:xfrm>
              <a:prstGeom prst="rect">
                <a:avLst/>
              </a:prstGeom>
              <a:noFill/>
            </p:spPr>
            <p:txBody>
              <a:bodyPr wrap="none" lIns="91440" tIns="0" rIns="0" bIns="0" rtlCol="0" anchor="t" anchorCtr="0">
                <a:noAutofit/>
              </a:bodyPr>
              <a:lstStyle/>
              <a:p>
                <a:pPr>
                  <a:lnSpc>
                    <a:spcPct val="150000"/>
                  </a:lnSpc>
                </a:pPr>
                <a:r>
                  <a:rPr lang="en-US" altLang="zh-TW" sz="1200" dirty="0">
                    <a:latin typeface="Comic Sans MS" panose="030F0702030302020204" pitchFamily="66" charset="0"/>
                    <a:ea typeface="Cambria Math" panose="02040503050406030204" pitchFamily="18" charset="0"/>
                  </a:rPr>
                  <a:t>Router</a:t>
                </a:r>
                <a:endParaRPr lang="en-US" altLang="zh-TW" sz="1200"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 </m:t>
                      </m:r>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Cambria Math" panose="02040503050406030204" pitchFamily="18" charset="0"/>
                  <a:ea typeface="Cambria Math" panose="02040503050406030204" pitchFamily="18" charset="0"/>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7547929" y="4293096"/>
                <a:ext cx="816645" cy="648072"/>
              </a:xfrm>
              <a:prstGeom prst="rect">
                <a:avLst/>
              </a:prstGeom>
              <a:blipFill>
                <a:blip r:embed="rId4"/>
                <a:stretch>
                  <a:fillRect/>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3933174017"/>
              </p:ext>
            </p:extLst>
          </p:nvPr>
        </p:nvGraphicFramePr>
        <p:xfrm>
          <a:off x="395536" y="2807777"/>
          <a:ext cx="1200534" cy="1242446"/>
        </p:xfrm>
        <a:graphic>
          <a:graphicData uri="http://schemas.openxmlformats.org/drawingml/2006/table">
            <a:tbl>
              <a:tblPr firstRow="1" bandRow="1">
                <a:tableStyleId>{5C22544A-7EE6-4342-B048-85BDC9FD1C3A}</a:tableStyleId>
              </a:tblPr>
              <a:tblGrid>
                <a:gridCol w="1200534">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GQA</a:t>
                      </a:r>
                    </a:p>
                    <a:p>
                      <a:pPr algn="l"/>
                      <a:r>
                        <a:rPr lang="en-US" altLang="zh-TW" sz="1200" b="0" cap="none" spc="0" dirty="0">
                          <a:ln w="0"/>
                          <a:solidFill>
                            <a:schemeClr val="accent1">
                              <a:lumMod val="75000"/>
                            </a:schemeClr>
                          </a:solidFill>
                          <a:effectLst/>
                        </a:rPr>
                        <a:t>Group Query</a:t>
                      </a:r>
                    </a:p>
                    <a:p>
                      <a:pPr algn="l"/>
                      <a:r>
                        <a:rPr lang="en-US" altLang="zh-TW" sz="1200" b="0" cap="none" spc="0" dirty="0">
                          <a:ln w="0"/>
                          <a:solidFill>
                            <a:schemeClr val="accent1">
                              <a:lumMod val="75000"/>
                            </a:schemeClr>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49642222"/>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0024983"/>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109558473"/>
              </p:ext>
            </p:extLst>
          </p:nvPr>
        </p:nvGraphicFramePr>
        <p:xfrm>
          <a:off x="7547929" y="2807777"/>
          <a:ext cx="1200534" cy="1242446"/>
        </p:xfrm>
        <a:graphic>
          <a:graphicData uri="http://schemas.openxmlformats.org/drawingml/2006/table">
            <a:tbl>
              <a:tblPr firstRow="1" bandRow="1">
                <a:tableStyleId>{5C22544A-7EE6-4342-B048-85BDC9FD1C3A}</a:tableStyleId>
              </a:tblPr>
              <a:tblGrid>
                <a:gridCol w="1200534">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QLA</a:t>
                      </a:r>
                    </a:p>
                    <a:p>
                      <a:pPr algn="l"/>
                      <a:r>
                        <a:rPr lang="en-US" altLang="zh-TW" sz="1200" b="0" cap="none" spc="0" dirty="0">
                          <a:ln w="0"/>
                          <a:solidFill>
                            <a:schemeClr val="accent1">
                              <a:lumMod val="75000"/>
                            </a:schemeClr>
                          </a:solidFill>
                          <a:effectLst/>
                        </a:rPr>
                        <a:t>Multi Latent</a:t>
                      </a:r>
                    </a:p>
                    <a:p>
                      <a:pPr algn="l"/>
                      <a:r>
                        <a:rPr lang="en-US" altLang="zh-TW" sz="1200" b="0" cap="none" spc="0" dirty="0">
                          <a:ln w="0"/>
                          <a:solidFill>
                            <a:schemeClr val="accent1">
                              <a:lumMod val="75000"/>
                            </a:schemeClr>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49642222"/>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0024983"/>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323528" y="1536136"/>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476144" y="3212976"/>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 name="標題 1">
            <a:extLst>
              <a:ext uri="{FF2B5EF4-FFF2-40B4-BE49-F238E27FC236}">
                <a16:creationId xmlns:a16="http://schemas.microsoft.com/office/drawing/2014/main" id="{6F717D9E-49DD-2DF8-CCAA-FAC8D83212F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52" name="矩形 51">
            <a:extLst>
              <a:ext uri="{FF2B5EF4-FFF2-40B4-BE49-F238E27FC236}">
                <a16:creationId xmlns:a16="http://schemas.microsoft.com/office/drawing/2014/main" id="{E934BD01-CE8C-1AF7-23F7-5239ED57881D}"/>
              </a:ext>
            </a:extLst>
          </p:cNvPr>
          <p:cNvSpPr/>
          <p:nvPr/>
        </p:nvSpPr>
        <p:spPr>
          <a:xfrm>
            <a:off x="3968284" y="2461720"/>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578027" y="1379344"/>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578027" y="872624"/>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252188" y="4425021"/>
            <a:ext cx="1638389"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592509" y="3323084"/>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058763" y="1628800"/>
                <a:ext cx="1692707" cy="913199"/>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058763" y="1628800"/>
                <a:ext cx="1692707" cy="913199"/>
              </a:xfrm>
              <a:prstGeom prst="rect">
                <a:avLst/>
              </a:prstGeom>
              <a:blipFill>
                <a:blip r:embed="rId2"/>
                <a:stretch>
                  <a:fillRect l="-3237" t="-2000"/>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252188" y="2420887"/>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588552" y="2405693"/>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604108" y="3539108"/>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3968284" y="3366374"/>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3923928" y="980728"/>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682170" y="107502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123728" y="476672"/>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008000" y="1221618"/>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008000" y="1221618"/>
                <a:ext cx="419984" cy="119150"/>
              </a:xfrm>
              <a:prstGeom prst="rect">
                <a:avLst/>
              </a:prstGeom>
              <a:blipFill>
                <a:blip r:embed="rId3"/>
                <a:stretch>
                  <a:fillRect b="-9091"/>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427984" y="1281193"/>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3968283" y="1829734"/>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107534" y="3404548"/>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3968283" y="4425071"/>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a:t>
            </a:r>
            <a:r>
              <a:rPr lang="en-US" altLang="zh-TW" sz="1200" b="1" dirty="0" err="1">
                <a:solidFill>
                  <a:schemeClr val="tx2"/>
                </a:solidFill>
                <a:ea typeface="微軟正黑體" panose="020B0604030504040204" pitchFamily="34" charset="-120"/>
              </a:rPr>
              <a:t>VC</a:t>
            </a:r>
            <a:r>
              <a:rPr lang="en-US" altLang="zh-TW" sz="1200"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a:t>
            </a:r>
            <a:r>
              <a:rPr lang="en-US" altLang="zh-TW" sz="1200" b="1" dirty="0" err="1">
                <a:solidFill>
                  <a:schemeClr val="tx2"/>
                </a:solidFill>
                <a:ea typeface="微軟正黑體" panose="020B0604030504040204" pitchFamily="34" charset="-120"/>
              </a:rPr>
              <a:t>VC</a:t>
            </a:r>
            <a:r>
              <a:rPr lang="en-US" altLang="zh-TW" sz="1200" b="1"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099844" y="2564904"/>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099844" y="2564904"/>
                <a:ext cx="1750479" cy="846642"/>
              </a:xfrm>
              <a:prstGeom prst="rect">
                <a:avLst/>
              </a:prstGeom>
              <a:blipFill>
                <a:blip r:embed="rId4"/>
                <a:stretch>
                  <a:fillRect l="-5575" r="-348" b="-10072"/>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243727" y="5056002"/>
            <a:ext cx="1638389"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099844" y="3645024"/>
                <a:ext cx="1358257" cy="502702"/>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099844" y="3645024"/>
                <a:ext cx="1358257" cy="502702"/>
              </a:xfrm>
              <a:prstGeom prst="rect">
                <a:avLst/>
              </a:prstGeom>
              <a:blipFill>
                <a:blip r:embed="rId5"/>
                <a:stretch>
                  <a:fillRect l="-7207" t="-9756" b="-975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099844" y="4653136"/>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099844" y="4653136"/>
                <a:ext cx="813171" cy="448264"/>
              </a:xfrm>
              <a:prstGeom prst="rect">
                <a:avLst/>
              </a:prstGeom>
              <a:blipFill>
                <a:blip r:embed="rId6"/>
                <a:stretch>
                  <a:fillRect l="-4511" t="-17568" r="-30827" b="-101351"/>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581128"/>
            <a:ext cx="5364596" cy="147732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Sampling from a probability distribution over the entire vocabulary.</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755576" y="1088755"/>
            <a:ext cx="2770749" cy="3150698"/>
            <a:chOff x="1187624" y="1247827"/>
            <a:chExt cx="2770749" cy="3150698"/>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187624" y="1247827"/>
              <a:ext cx="2666258" cy="3150698"/>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140968"/>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1827241896"/>
              </p:ext>
            </p:extLst>
          </p:nvPr>
        </p:nvGraphicFramePr>
        <p:xfrm>
          <a:off x="8231377" y="3163094"/>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297433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A0ED2AE5-83AF-A93A-ECA8-780B226751E5}"/>
              </a:ext>
            </a:extLst>
          </p:cNvPr>
          <p:cNvSpPr txBox="1"/>
          <p:nvPr/>
        </p:nvSpPr>
        <p:spPr>
          <a:xfrm>
            <a:off x="287524" y="45811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7884876" cy="1862048"/>
          </a:xfrm>
          <a:prstGeom prst="rect">
            <a:avLst/>
          </a:prstGeom>
          <a:noFill/>
        </p:spPr>
        <p:txBody>
          <a:bodyPr wrap="square">
            <a:spAutoFit/>
          </a:bodyPr>
          <a:lstStyle/>
          <a:p>
            <a:pPr>
              <a:lnSpc>
                <a:spcPts val="1800"/>
              </a:lnSpc>
              <a:spcBef>
                <a:spcPts val="600"/>
              </a:spcBef>
              <a:spcAft>
                <a:spcPts val="600"/>
              </a:spcAft>
            </a:pPr>
            <a:r>
              <a:rPr lang="en-US" altLang="zh-TW" sz="2000" b="1" dirty="0"/>
              <a:t>Core Pipeline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Data Preparation</a:t>
            </a:r>
            <a:r>
              <a:rPr lang="en-US" altLang="zh-TW" sz="1600" dirty="0"/>
              <a:t>: Gather terabytes of raw multilingual text and code datasets.</a:t>
            </a:r>
          </a:p>
          <a:p>
            <a:pPr marL="285750" indent="-285750">
              <a:lnSpc>
                <a:spcPts val="1800"/>
              </a:lnSpc>
              <a:spcBef>
                <a:spcPts val="600"/>
              </a:spcBef>
              <a:spcAft>
                <a:spcPts val="600"/>
              </a:spcAft>
              <a:buFont typeface="Wingdings" panose="05000000000000000000" pitchFamily="2" charset="2"/>
              <a:buChar char="Ø"/>
            </a:pPr>
            <a:r>
              <a:rPr lang="en-US" altLang="zh-TW" sz="1600" b="1" dirty="0"/>
              <a:t>Tokenization &amp; Embedding</a:t>
            </a:r>
            <a:r>
              <a:rPr lang="en-US" altLang="zh-TW" sz="1600" u="none" strike="noStrike" dirty="0">
                <a:effectLst/>
              </a:rPr>
              <a:t>: Segment processed text into tokens using BPE algorithms</a:t>
            </a:r>
          </a:p>
          <a:p>
            <a:pPr marL="285750" indent="-285750">
              <a:lnSpc>
                <a:spcPts val="1800"/>
              </a:lnSpc>
              <a:spcBef>
                <a:spcPts val="600"/>
              </a:spcBef>
              <a:spcAft>
                <a:spcPts val="600"/>
              </a:spcAft>
              <a:buFont typeface="Wingdings" panose="05000000000000000000" pitchFamily="2" charset="2"/>
              <a:buChar char="Ø"/>
            </a:pPr>
            <a:r>
              <a:rPr lang="en-US" altLang="zh-TW" sz="1600" b="1" dirty="0"/>
              <a:t>Next-Token Prediction</a:t>
            </a:r>
            <a:r>
              <a:rPr lang="en-US" altLang="zh-TW" sz="1600" dirty="0"/>
              <a:t>: </a:t>
            </a:r>
            <a:r>
              <a:rPr lang="zh-TW" altLang="zh-TW" sz="1600" dirty="0"/>
              <a:t>Feed preceding context into Decoder-only structures</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Parameter Optimization</a:t>
            </a:r>
            <a:r>
              <a:rPr lang="en-US" altLang="zh-TW" sz="1600" dirty="0"/>
              <a:t>: </a:t>
            </a:r>
            <a:r>
              <a:rPr lang="zh-TW" altLang="zh-TW" sz="1600" dirty="0"/>
              <a:t>Compute error gradients via backpropagation algorithms</a:t>
            </a:r>
            <a:r>
              <a:rPr lang="en-US" altLang="zh-TW" sz="1600" dirty="0"/>
              <a:t>.</a:t>
            </a:r>
          </a:p>
        </p:txBody>
      </p:sp>
      <p:sp>
        <p:nvSpPr>
          <p:cNvPr id="7" name="文字方塊 6">
            <a:extLst>
              <a:ext uri="{FF2B5EF4-FFF2-40B4-BE49-F238E27FC236}">
                <a16:creationId xmlns:a16="http://schemas.microsoft.com/office/drawing/2014/main" id="{C3951993-43F0-BDA6-4B11-BF594E2FD627}"/>
              </a:ext>
            </a:extLst>
          </p:cNvPr>
          <p:cNvSpPr txBox="1"/>
          <p:nvPr/>
        </p:nvSpPr>
        <p:spPr>
          <a:xfrm>
            <a:off x="4716016" y="1133393"/>
            <a:ext cx="3044155" cy="305276"/>
          </a:xfrm>
          <a:prstGeom prst="rect">
            <a:avLst/>
          </a:prstGeom>
          <a:noFill/>
        </p:spPr>
        <p:txBody>
          <a:bodyPr wrap="square">
            <a:spAutoFit/>
          </a:bodyPr>
          <a:lstStyle/>
          <a:p>
            <a:pPr>
              <a:lnSpc>
                <a:spcPts val="1800"/>
              </a:lnSpc>
              <a:spcBef>
                <a:spcPts val="600"/>
              </a:spcBef>
              <a:spcAft>
                <a:spcPts val="600"/>
              </a:spcAft>
            </a:pPr>
            <a:r>
              <a:rPr lang="zh-TW" altLang="en-US" sz="1200" b="1" dirty="0"/>
              <a:t>重點在說明</a:t>
            </a:r>
            <a:r>
              <a:rPr lang="en-US" altLang="zh-TW" sz="1200" b="1" dirty="0"/>
              <a:t>: </a:t>
            </a:r>
            <a:r>
              <a:rPr lang="zh-TW" altLang="en-US" sz="1200" b="1" dirty="0"/>
              <a:t>每一區段的調參重點</a:t>
            </a:r>
            <a:endParaRPr lang="en-US" altLang="zh-TW" sz="1200" b="1" u="none" strike="noStrike" dirty="0">
              <a:effectLst/>
            </a:endParaRPr>
          </a:p>
        </p:txBody>
      </p:sp>
      <p:graphicFrame>
        <p:nvGraphicFramePr>
          <p:cNvPr id="12" name="表格 11">
            <a:extLst>
              <a:ext uri="{FF2B5EF4-FFF2-40B4-BE49-F238E27FC236}">
                <a16:creationId xmlns:a16="http://schemas.microsoft.com/office/drawing/2014/main" id="{DCF4CE1D-AE60-2398-9BB9-A03B76D3ABBC}"/>
              </a:ext>
            </a:extLst>
          </p:cNvPr>
          <p:cNvGraphicFramePr>
            <a:graphicFrameLocks noGrp="1"/>
          </p:cNvGraphicFramePr>
          <p:nvPr>
            <p:extLst>
              <p:ext uri="{D42A27DB-BD31-4B8C-83A1-F6EECF244321}">
                <p14:modId xmlns:p14="http://schemas.microsoft.com/office/powerpoint/2010/main" val="2095090941"/>
              </p:ext>
            </p:extLst>
          </p:nvPr>
        </p:nvGraphicFramePr>
        <p:xfrm>
          <a:off x="5887963" y="3844631"/>
          <a:ext cx="1872208" cy="1282800"/>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Benefit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World Knowledge Allocation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(Mentor Model)</a:t>
                      </a:r>
                      <a:endParaRPr lang="en-US" altLang="zh-TW"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Modeling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Emergent Abilities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Context-Awareness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49642222"/>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Representing Learning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024983"/>
                  </a:ext>
                </a:extLst>
              </a:tr>
            </a:tbl>
          </a:graphicData>
        </a:graphic>
      </p:graphicFrame>
      <p:graphicFrame>
        <p:nvGraphicFramePr>
          <p:cNvPr id="14" name="表格 13">
            <a:extLst>
              <a:ext uri="{FF2B5EF4-FFF2-40B4-BE49-F238E27FC236}">
                <a16:creationId xmlns:a16="http://schemas.microsoft.com/office/drawing/2014/main" id="{5630374B-2C5F-EF42-450E-991FF2740F88}"/>
              </a:ext>
            </a:extLst>
          </p:cNvPr>
          <p:cNvGraphicFramePr>
            <a:graphicFrameLocks noGrp="1"/>
          </p:cNvGraphicFramePr>
          <p:nvPr>
            <p:extLst>
              <p:ext uri="{D42A27DB-BD31-4B8C-83A1-F6EECF244321}">
                <p14:modId xmlns:p14="http://schemas.microsoft.com/office/powerpoint/2010/main" val="3396958186"/>
              </p:ext>
            </p:extLst>
          </p:nvPr>
        </p:nvGraphicFramePr>
        <p:xfrm>
          <a:off x="2488117" y="3547573"/>
          <a:ext cx="3096344" cy="1180062"/>
        </p:xfrm>
        <a:graphic>
          <a:graphicData uri="http://schemas.openxmlformats.org/drawingml/2006/table">
            <a:tbl>
              <a:tblPr firstRow="1" bandRow="1">
                <a:tableStyleId>{5C22544A-7EE6-4342-B048-85BDC9FD1C3A}</a:tableStyleId>
              </a:tblPr>
              <a:tblGrid>
                <a:gridCol w="3096344">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Parameters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accent1">
                              <a:lumMod val="75000"/>
                            </a:schemeClr>
                          </a:solidFill>
                          <a:effectLst/>
                          <a:uLnTx/>
                          <a:uFillTx/>
                          <a:latin typeface="+mn-lt"/>
                          <a:ea typeface="+mn-ea"/>
                          <a:cs typeface="+mn-cs"/>
                        </a:rPr>
                        <a:t>In LLM</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u="none" strike="noStrike" dirty="0">
                          <a:effectLst/>
                        </a:rPr>
                        <a:t>Attention Weights: </a:t>
                      </a:r>
                      <a:r>
                        <a:rPr lang="en-US" altLang="zh-TW" sz="1200" b="0" dirty="0" err="1"/>
                        <a:t>WQ</a:t>
                      </a:r>
                      <a:r>
                        <a:rPr lang="en-US" altLang="zh-TW" sz="1200" b="0" baseline="-25000" dirty="0" err="1"/>
                        <a:t>dxd</a:t>
                      </a:r>
                      <a:r>
                        <a:rPr lang="en-US" altLang="zh-TW" sz="1200" b="0" dirty="0"/>
                        <a:t>, </a:t>
                      </a:r>
                      <a:r>
                        <a:rPr lang="en-US" altLang="zh-TW" sz="1200" b="0" dirty="0" err="1"/>
                        <a:t>WK</a:t>
                      </a:r>
                      <a:r>
                        <a:rPr lang="en-US" altLang="zh-TW" sz="1200" b="0" baseline="-25000" dirty="0" err="1"/>
                        <a:t>dxd</a:t>
                      </a:r>
                      <a:r>
                        <a:rPr lang="en-US" altLang="zh-TW" sz="1200" b="0" dirty="0"/>
                        <a:t>, </a:t>
                      </a:r>
                      <a:r>
                        <a:rPr lang="en-US" altLang="zh-TW" sz="1200" b="0" dirty="0" err="1"/>
                        <a:t>WV</a:t>
                      </a:r>
                      <a:r>
                        <a:rPr lang="en-US" altLang="zh-TW" sz="1200" b="0" baseline="-25000" dirty="0" err="1"/>
                        <a:t>dxd</a:t>
                      </a:r>
                      <a:r>
                        <a:rPr lang="en-US" altLang="zh-TW" sz="1200" b="0" dirty="0"/>
                        <a:t>,</a:t>
                      </a:r>
                      <a:r>
                        <a:rPr lang="zh-TW" altLang="en-US" sz="1200" b="0" dirty="0"/>
                        <a:t> </a:t>
                      </a:r>
                      <a:r>
                        <a:rPr lang="en-US" altLang="zh-TW" sz="1200" b="0" dirty="0" err="1"/>
                        <a:t>WO</a:t>
                      </a:r>
                      <a:r>
                        <a:rPr lang="en-US" altLang="zh-TW" sz="1200" b="0" baseline="-25000" dirty="0" err="1"/>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FFN Weights</a:t>
                      </a:r>
                      <a:r>
                        <a:rPr lang="en-US" altLang="zh-TW" sz="1200" b="0" u="none" strike="noStrike" dirty="0">
                          <a:effectLst/>
                        </a:rPr>
                        <a:t>: </a:t>
                      </a:r>
                      <a:r>
                        <a:rPr lang="en-US" altLang="zh-TW" sz="1200" b="0" dirty="0" err="1"/>
                        <a:t>A</a:t>
                      </a:r>
                      <a:r>
                        <a:rPr lang="en-US" altLang="zh-TW" sz="1200" b="0" baseline="-25000" dirty="0" err="1"/>
                        <a:t>dxd</a:t>
                      </a:r>
                      <a:r>
                        <a:rPr lang="en-US" altLang="zh-TW" sz="1200" b="0" dirty="0"/>
                        <a:t>, </a:t>
                      </a:r>
                      <a:r>
                        <a:rPr lang="en-US" altLang="zh-TW" sz="1200" b="0" dirty="0" err="1"/>
                        <a:t>U</a:t>
                      </a:r>
                      <a:r>
                        <a:rPr lang="en-US" altLang="zh-TW" sz="1200" b="0" baseline="-25000" dirty="0" err="1"/>
                        <a:t>dxd</a:t>
                      </a:r>
                      <a:r>
                        <a:rPr lang="en-US" altLang="zh-TW" sz="1200" b="0" dirty="0"/>
                        <a:t>, </a:t>
                      </a:r>
                      <a:r>
                        <a:rPr lang="en-US" altLang="zh-TW" sz="1200" b="0" dirty="0" err="1"/>
                        <a:t>D</a:t>
                      </a:r>
                      <a:r>
                        <a:rPr lang="en-US" altLang="zh-TW" sz="1200" b="0" baseline="-25000" dirty="0" err="1"/>
                        <a:t>dxd</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Vocabulary:</a:t>
                      </a:r>
                      <a:r>
                        <a:rPr lang="zh-TW" altLang="en-US" sz="1200" b="0" dirty="0"/>
                        <a:t> </a:t>
                      </a:r>
                      <a:r>
                        <a:rPr lang="en-US" altLang="zh-TW" sz="1200" b="0" dirty="0"/>
                        <a:t>[ VC</a:t>
                      </a:r>
                      <a:r>
                        <a:rPr lang="en-US" altLang="zh-TW" sz="1200" b="0" baseline="-25000" dirty="0"/>
                        <a:t> </a:t>
                      </a:r>
                      <a:r>
                        <a:rPr lang="en-US" altLang="zh-TW" sz="1200" b="0" dirty="0"/>
                        <a:t>] </a:t>
                      </a:r>
                      <a:r>
                        <a:rPr lang="en-US" altLang="zh-TW" sz="1200" b="0" baseline="-25000" dirty="0" err="1"/>
                        <a:t>Mxd</a:t>
                      </a:r>
                      <a:r>
                        <a:rPr lang="en-US" altLang="zh-TW" sz="1200" b="0" baseline="-25000" dirty="0"/>
                        <a:t>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98220401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u="none" strike="noStrike" dirty="0">
                          <a:effectLst/>
                        </a:rPr>
                        <a:t>MoE Gating Matrix: </a:t>
                      </a: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149080"/>
            <a:ext cx="4929158" cy="2418775"/>
          </a:xfrm>
          <a:prstGeom prst="rect">
            <a:avLst/>
          </a:prstGeom>
        </p:spPr>
      </p:pic>
      <p:pic>
        <p:nvPicPr>
          <p:cNvPr id="7" name="圖片 6">
            <a:extLst>
              <a:ext uri="{FF2B5EF4-FFF2-40B4-BE49-F238E27FC236}">
                <a16:creationId xmlns:a16="http://schemas.microsoft.com/office/drawing/2014/main" id="{F9C15583-4FC6-DE66-5C2E-F5057F823581}"/>
              </a:ext>
            </a:extLst>
          </p:cNvPr>
          <p:cNvPicPr>
            <a:picLocks noChangeAspect="1"/>
          </p:cNvPicPr>
          <p:nvPr/>
        </p:nvPicPr>
        <p:blipFill>
          <a:blip r:embed="rId4"/>
          <a:stretch>
            <a:fillRect/>
          </a:stretch>
        </p:blipFill>
        <p:spPr>
          <a:xfrm>
            <a:off x="25564" y="4164362"/>
            <a:ext cx="4929158" cy="2477482"/>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4486257" y="3568406"/>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016683" y="3501008"/>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4609208" y="3090301"/>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4BD8DF4E-71A3-B90E-5451-8E801E270282}"/>
                  </a:ext>
                </a:extLst>
              </p:cNvPr>
              <p:cNvSpPr txBox="1">
                <a:spLocks noRot="1" noChangeAspect="1" noMove="1" noResize="1" noEditPoints="1" noAdjustHandles="1" noChangeArrowheads="1" noChangeShapeType="1" noTextEdit="1"/>
              </p:cNvSpPr>
              <p:nvPr/>
            </p:nvSpPr>
            <p:spPr>
              <a:xfrm>
                <a:off x="4609208" y="3090301"/>
                <a:ext cx="1324882" cy="703846"/>
              </a:xfrm>
              <a:prstGeom prst="rect">
                <a:avLst/>
              </a:prstGeom>
              <a:blipFill>
                <a:blip r:embed="rId5"/>
                <a:stretch>
                  <a:fillRect l="-2765" t="-2609"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4747503" y="2055514"/>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745E36A4-E11E-274F-A88D-436DB6C3A5C5}"/>
                  </a:ext>
                </a:extLst>
              </p:cNvPr>
              <p:cNvSpPr txBox="1">
                <a:spLocks noRot="1" noChangeAspect="1" noMove="1" noResize="1" noEditPoints="1" noAdjustHandles="1" noChangeArrowheads="1" noChangeShapeType="1" noTextEdit="1"/>
              </p:cNvSpPr>
              <p:nvPr/>
            </p:nvSpPr>
            <p:spPr>
              <a:xfrm>
                <a:off x="4747503" y="2055514"/>
                <a:ext cx="2376264" cy="501997"/>
              </a:xfrm>
              <a:prstGeom prst="rect">
                <a:avLst/>
              </a:prstGeom>
              <a:blipFill>
                <a:blip r:embed="rId6"/>
                <a:stretch>
                  <a:fillRect b="-120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3812601" y="1771629"/>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8595CC18-0F87-FD9E-A0C2-759F759DEF07}"/>
                  </a:ext>
                </a:extLst>
              </p:cNvPr>
              <p:cNvSpPr txBox="1">
                <a:spLocks noRot="1" noChangeAspect="1" noMove="1" noResize="1" noEditPoints="1" noAdjustHandles="1" noChangeArrowheads="1" noChangeShapeType="1" noTextEdit="1"/>
              </p:cNvSpPr>
              <p:nvPr/>
            </p:nvSpPr>
            <p:spPr>
              <a:xfrm>
                <a:off x="3812601" y="1771629"/>
                <a:ext cx="1684142" cy="307777"/>
              </a:xfrm>
              <a:prstGeom prst="rect">
                <a:avLst/>
              </a:prstGeom>
              <a:blipFill>
                <a:blip r:embed="rId7"/>
                <a:stretch>
                  <a:fillRect b="-10000"/>
                </a:stretch>
              </a:blipFill>
            </p:spPr>
            <p:txBody>
              <a:bodyPr/>
              <a:lstStyle/>
              <a:p>
                <a:r>
                  <a:rPr lang="zh-TW" altLang="en-US">
                    <a:noFill/>
                  </a:rPr>
                  <a:t> </a:t>
                </a:r>
              </a:p>
            </p:txBody>
          </p:sp>
        </mc:Fallback>
      </mc:AlternateContent>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endCxn id="91" idx="1"/>
          </p:cNvCxnSpPr>
          <p:nvPr/>
        </p:nvCxnSpPr>
        <p:spPr>
          <a:xfrm>
            <a:off x="1733627" y="1231645"/>
            <a:ext cx="514836" cy="341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569232" y="1484269"/>
            <a:ext cx="626504" cy="215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543529" y="1071212"/>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416946" y="137654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836219" y="1207849"/>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721518" y="142329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1393208" y="2063690"/>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A4838FC1-597A-9DFD-81CC-B675AF19583C}"/>
                  </a:ext>
                </a:extLst>
              </p:cNvPr>
              <p:cNvSpPr txBox="1">
                <a:spLocks noRot="1" noChangeAspect="1" noMove="1" noResize="1" noEditPoints="1" noAdjustHandles="1" noChangeArrowheads="1" noChangeShapeType="1" noTextEdit="1"/>
              </p:cNvSpPr>
              <p:nvPr/>
            </p:nvSpPr>
            <p:spPr>
              <a:xfrm>
                <a:off x="1393208" y="2063690"/>
                <a:ext cx="1214050" cy="1365310"/>
              </a:xfrm>
              <a:prstGeom prst="rect">
                <a:avLst/>
              </a:prstGeom>
              <a:blipFill>
                <a:blip r:embed="rId8"/>
                <a:stretch>
                  <a:fillRect l="-26131" t="-49554" r="-33166" b="-312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3387842" y="1094400"/>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4342DADF-88CA-BFE4-B5B1-BEBBAA708980}"/>
                  </a:ext>
                </a:extLst>
              </p:cNvPr>
              <p:cNvSpPr txBox="1">
                <a:spLocks noRot="1" noChangeAspect="1" noMove="1" noResize="1" noEditPoints="1" noAdjustHandles="1" noChangeArrowheads="1" noChangeShapeType="1" noTextEdit="1"/>
              </p:cNvSpPr>
              <p:nvPr/>
            </p:nvSpPr>
            <p:spPr>
              <a:xfrm>
                <a:off x="3387842" y="1094400"/>
                <a:ext cx="1684142" cy="523220"/>
              </a:xfrm>
              <a:prstGeom prst="rect">
                <a:avLst/>
              </a:prstGeom>
              <a:blipFill>
                <a:blip r:embed="rId9"/>
                <a:stretch>
                  <a:fillRect b="-235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125829" y="3145600"/>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63E7BB08-E23F-E20B-4DFA-A7ECC347F6F6}"/>
                  </a:ext>
                </a:extLst>
              </p:cNvPr>
              <p:cNvSpPr txBox="1">
                <a:spLocks noRot="1" noChangeAspect="1" noMove="1" noResize="1" noEditPoints="1" noAdjustHandles="1" noChangeArrowheads="1" noChangeShapeType="1" noTextEdit="1"/>
              </p:cNvSpPr>
              <p:nvPr/>
            </p:nvSpPr>
            <p:spPr>
              <a:xfrm>
                <a:off x="6125829" y="3145600"/>
                <a:ext cx="2376264" cy="695701"/>
              </a:xfrm>
              <a:prstGeom prst="rect">
                <a:avLst/>
              </a:prstGeom>
              <a:blipFill>
                <a:blip r:embed="rId10"/>
                <a:stretch>
                  <a:fillRect l="-2308" b="-1228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034928" y="4057620"/>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5A724026-0E5E-4316-5A15-5D4982914353}"/>
                  </a:ext>
                </a:extLst>
              </p:cNvPr>
              <p:cNvSpPr txBox="1">
                <a:spLocks noRot="1" noChangeAspect="1" noMove="1" noResize="1" noEditPoints="1" noAdjustHandles="1" noChangeArrowheads="1" noChangeShapeType="1" noTextEdit="1"/>
              </p:cNvSpPr>
              <p:nvPr/>
            </p:nvSpPr>
            <p:spPr>
              <a:xfrm>
                <a:off x="5034928" y="4057620"/>
                <a:ext cx="1913336" cy="707886"/>
              </a:xfrm>
              <a:prstGeom prst="rect">
                <a:avLst/>
              </a:prstGeom>
              <a:blipFill>
                <a:blip r:embed="rId11"/>
                <a:stretch>
                  <a:fillRect l="-318" t="-862"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72556" y="5884836"/>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44648191-C007-1AAA-ED80-41ADB1874604}"/>
                  </a:ext>
                </a:extLst>
              </p:cNvPr>
              <p:cNvSpPr txBox="1">
                <a:spLocks noRot="1" noChangeAspect="1" noMove="1" noResize="1" noEditPoints="1" noAdjustHandles="1" noChangeArrowheads="1" noChangeShapeType="1" noTextEdit="1"/>
              </p:cNvSpPr>
              <p:nvPr/>
            </p:nvSpPr>
            <p:spPr>
              <a:xfrm>
                <a:off x="4772556" y="5884836"/>
                <a:ext cx="4263940" cy="830997"/>
              </a:xfrm>
              <a:prstGeom prst="rect">
                <a:avLst/>
              </a:prstGeom>
              <a:blipFill>
                <a:blip r:embed="rId12"/>
                <a:stretch>
                  <a:fillRect b="-4380"/>
                </a:stretch>
              </a:blipFill>
            </p:spPr>
            <p:txBody>
              <a:bodyPr/>
              <a:lstStyle/>
              <a:p>
                <a:r>
                  <a:rPr lang="zh-TW" altLang="en-US">
                    <a:noFill/>
                  </a:rPr>
                  <a:t> </a:t>
                </a:r>
              </a:p>
            </p:txBody>
          </p:sp>
        </mc:Fallback>
      </mc:AlternateContent>
      <p:pic>
        <p:nvPicPr>
          <p:cNvPr id="9" name="圖片 8">
            <a:extLst>
              <a:ext uri="{FF2B5EF4-FFF2-40B4-BE49-F238E27FC236}">
                <a16:creationId xmlns:a16="http://schemas.microsoft.com/office/drawing/2014/main" id="{60D05E6D-3BB1-4C1D-DCB2-39B14720CEF0}"/>
              </a:ext>
            </a:extLst>
          </p:cNvPr>
          <p:cNvPicPr>
            <a:picLocks noChangeAspect="1"/>
          </p:cNvPicPr>
          <p:nvPr/>
        </p:nvPicPr>
        <p:blipFill>
          <a:blip r:embed="rId13"/>
          <a:stretch>
            <a:fillRect/>
          </a:stretch>
        </p:blipFill>
        <p:spPr>
          <a:xfrm>
            <a:off x="2717199" y="3854173"/>
            <a:ext cx="1124267" cy="219681"/>
          </a:xfrm>
          <a:prstGeom prst="rect">
            <a:avLst/>
          </a:prstGeom>
        </p:spPr>
      </p:pic>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4"/>
          <a:stretch>
            <a:fillRect/>
          </a:stretch>
        </p:blipFill>
        <p:spPr>
          <a:xfrm>
            <a:off x="3028991" y="4073914"/>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8612" y="4305268"/>
            <a:ext cx="914400"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5"/>
          <a:stretch>
            <a:fillRect/>
          </a:stretch>
        </p:blipFill>
        <p:spPr>
          <a:xfrm>
            <a:off x="3359528" y="5445224"/>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18" name="圖片 17">
            <a:extLst>
              <a:ext uri="{FF2B5EF4-FFF2-40B4-BE49-F238E27FC236}">
                <a16:creationId xmlns:a16="http://schemas.microsoft.com/office/drawing/2014/main" id="{3BA96445-2B10-3B6D-4E65-E9B4E16FFD61}"/>
              </a:ext>
            </a:extLst>
          </p:cNvPr>
          <p:cNvPicPr>
            <a:picLocks noChangeAspect="1"/>
          </p:cNvPicPr>
          <p:nvPr/>
        </p:nvPicPr>
        <p:blipFill>
          <a:blip r:embed="rId16"/>
          <a:stretch>
            <a:fillRect/>
          </a:stretch>
        </p:blipFill>
        <p:spPr>
          <a:xfrm>
            <a:off x="3028991" y="6385719"/>
            <a:ext cx="1877532" cy="450877"/>
          </a:xfrm>
          <a:prstGeom prst="rect">
            <a:avLst/>
          </a:prstGeom>
          <a:effectLst>
            <a:glow rad="25400">
              <a:schemeClr val="accent3">
                <a:lumMod val="60000"/>
                <a:lumOff val="4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7"/>
          <a:stretch>
            <a:fillRect/>
          </a:stretch>
        </p:blipFill>
        <p:spPr>
          <a:xfrm>
            <a:off x="260957" y="5333428"/>
            <a:ext cx="1495364" cy="523936"/>
          </a:xfrm>
          <a:prstGeom prst="rect">
            <a:avLst/>
          </a:prstGeom>
          <a:effectLst>
            <a:glow rad="76200">
              <a:schemeClr val="accent3">
                <a:lumMod val="60000"/>
                <a:lumOff val="40000"/>
              </a:schemeClr>
            </a:glow>
          </a:effectLst>
        </p:spPr>
      </p:pic>
      <p:pic>
        <p:nvPicPr>
          <p:cNvPr id="22" name="圖片 21">
            <a:extLst>
              <a:ext uri="{FF2B5EF4-FFF2-40B4-BE49-F238E27FC236}">
                <a16:creationId xmlns:a16="http://schemas.microsoft.com/office/drawing/2014/main" id="{3CD36C4A-49DA-CFEE-1D92-7EDC8288BB0D}"/>
              </a:ext>
            </a:extLst>
          </p:cNvPr>
          <p:cNvPicPr>
            <a:picLocks noChangeAspect="1"/>
          </p:cNvPicPr>
          <p:nvPr/>
        </p:nvPicPr>
        <p:blipFill>
          <a:blip r:embed="rId18"/>
          <a:stretch>
            <a:fillRect/>
          </a:stretch>
        </p:blipFill>
        <p:spPr>
          <a:xfrm>
            <a:off x="260957" y="4754332"/>
            <a:ext cx="1664496" cy="503930"/>
          </a:xfrm>
          <a:prstGeom prst="rect">
            <a:avLst/>
          </a:prstGeom>
          <a:effectLst>
            <a:glow rad="50800">
              <a:schemeClr val="accent1"/>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3812602" y="1925519"/>
            <a:ext cx="1222327" cy="2486045"/>
          </a:xfrm>
          <a:prstGeom prst="curvedConnector3">
            <a:avLst>
              <a:gd name="adj1" fmla="val 11870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4624"/>
            <a:ext cx="9144000" cy="4214606"/>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35496" y="3284985"/>
            <a:ext cx="7590629" cy="266429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646230" y="5653379"/>
            <a:ext cx="4509946" cy="1087989"/>
          </a:xfrm>
          <a:prstGeom prst="rect">
            <a:avLst/>
          </a:prstGeom>
          <a:effectLst>
            <a:glow rad="76200">
              <a:srgbClr val="FFC000">
                <a:alpha val="40000"/>
              </a:srgbClr>
            </a:glow>
            <a:softEdge rad="12700"/>
          </a:effectLst>
        </p:spPr>
      </p:pic>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Cost Structure</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0" y="1565320"/>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7096</Words>
  <Application>Microsoft Office PowerPoint</Application>
  <PresentationFormat>如螢幕大小 (4:3)</PresentationFormat>
  <Paragraphs>824</Paragraphs>
  <Slides>26</Slides>
  <Notes>22</Notes>
  <HiddenSlides>2</HiddenSlides>
  <MMClips>0</MMClips>
  <ScaleCrop>false</ScaleCrop>
  <HeadingPairs>
    <vt:vector size="6" baseType="variant">
      <vt:variant>
        <vt:lpstr>使用字型</vt:lpstr>
      </vt:variant>
      <vt:variant>
        <vt:i4>12</vt:i4>
      </vt:variant>
      <vt:variant>
        <vt:lpstr>佈景主題</vt:lpstr>
      </vt:variant>
      <vt:variant>
        <vt:i4>1</vt:i4>
      </vt:variant>
      <vt:variant>
        <vt:lpstr>投影片標題</vt:lpstr>
      </vt:variant>
      <vt:variant>
        <vt:i4>26</vt:i4>
      </vt:variant>
    </vt:vector>
  </HeadingPairs>
  <TitlesOfParts>
    <vt:vector size="39" baseType="lpstr">
      <vt:lpstr>Google Sans</vt:lpstr>
      <vt:lpstr>Microsoft JhengHei UI</vt:lpstr>
      <vt:lpstr>Noto Sans HK</vt:lpstr>
      <vt:lpstr>STXingkai</vt:lpstr>
      <vt:lpstr>微軟正黑體</vt:lpstr>
      <vt:lpstr>ADLaM Display</vt:lpstr>
      <vt:lpstr>Arial</vt:lpstr>
      <vt:lpstr>Calibri</vt:lpstr>
      <vt:lpstr>Cambria Math</vt:lpstr>
      <vt:lpstr>Comic Sans MS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1593</cp:revision>
  <cp:lastPrinted>2024-07-30T01:44:15Z</cp:lastPrinted>
  <dcterms:created xsi:type="dcterms:W3CDTF">2019-11-08T03:01:47Z</dcterms:created>
  <dcterms:modified xsi:type="dcterms:W3CDTF">2026-06-29T13:11:26Z</dcterms:modified>
</cp:coreProperties>
</file>