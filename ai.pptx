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2"/>
  </p:notesMasterIdLst>
  <p:handoutMasterIdLst>
    <p:handoutMasterId r:id="rId23"/>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5" r:id="rId16"/>
    <p:sldId id="3485" r:id="rId17"/>
    <p:sldId id="3460" r:id="rId18"/>
    <p:sldId id="3507" r:id="rId19"/>
    <p:sldId id="3479" r:id="rId20"/>
    <p:sldId id="3467" r:id="rId21"/>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5"/>
            <p14:sldId id="3485"/>
            <p14:sldId id="3460"/>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F1E9"/>
    <a:srgbClr val="FFCCCC"/>
    <a:srgbClr val="FF0000"/>
    <a:srgbClr val="FEC203"/>
    <a:srgbClr val="B7C9E7"/>
    <a:srgbClr val="9E7800"/>
    <a:srgbClr val="DAA600"/>
    <a:srgbClr val="F8D462"/>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35602" autoAdjust="0"/>
  </p:normalViewPr>
  <p:slideViewPr>
    <p:cSldViewPr>
      <p:cViewPr>
        <p:scale>
          <a:sx n="100" d="100"/>
          <a:sy n="100" d="100"/>
        </p:scale>
        <p:origin x="34" y="-86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2026/7/7</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2026/7/7</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15.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0.png"/><Relationship Id="rId4" Type="http://schemas.openxmlformats.org/officeDocument/2006/relationships/image" Target="../media/image70.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0.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8.svg"/></Relationships>
</file>

<file path=ppt/slides/_rels/slide14.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200.png"/><Relationship Id="rId13" Type="http://schemas.openxmlformats.org/officeDocument/2006/relationships/image" Target="../media/image22.png"/><Relationship Id="rId3" Type="http://schemas.openxmlformats.org/officeDocument/2006/relationships/image" Target="../media/image20.png"/><Relationship Id="rId7" Type="http://schemas.openxmlformats.org/officeDocument/2006/relationships/image" Target="../media/image190.png"/><Relationship Id="rId12"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80.png"/><Relationship Id="rId11" Type="http://schemas.openxmlformats.org/officeDocument/2006/relationships/image" Target="../media/image23.png"/><Relationship Id="rId5" Type="http://schemas.openxmlformats.org/officeDocument/2006/relationships/image" Target="../media/image170.png"/><Relationship Id="rId15" Type="http://schemas.openxmlformats.org/officeDocument/2006/relationships/image" Target="../media/image27.png"/><Relationship Id="rId10" Type="http://schemas.openxmlformats.org/officeDocument/2006/relationships/image" Target="../media/image220.png"/><Relationship Id="rId4" Type="http://schemas.openxmlformats.org/officeDocument/2006/relationships/image" Target="../media/image160.png"/><Relationship Id="rId9" Type="http://schemas.openxmlformats.org/officeDocument/2006/relationships/image" Target="../media/image210.png"/><Relationship Id="rId1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44.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3.png"/><Relationship Id="rId5" Type="http://schemas.openxmlformats.org/officeDocument/2006/relationships/image" Target="../media/image42.svg"/><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Basic Model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2">
                                            <p:txEl>
                                              <p:pRg st="8" end="8"/>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9" end="9"/>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4D4D4D"/>
                                      </p:to>
                                    </p:animClr>
                                  </p:child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2" end="12"/>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13" end="13"/>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21598"/>
            <a:ext cx="7452828" cy="4339650"/>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 (AI Agent, LLM, RAG,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(AI Stack </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Server</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 Framework + Infrastructure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(Stack)</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(SLM, Edge, Algorithm, )</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3</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(Multi</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odal,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Multilingual</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Low-Rank Adaptation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(Efficient LLM Fine-Tuning)</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Gemma4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A1C639E3-E511-933C-E6C6-4C289F817DDD}"/>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childTnLst>
                          </p:cTn>
                        </p:par>
                      </p:childTnLst>
                    </p:cTn>
                  </p:par>
                  <p:par>
                    <p:cTn id="27" fill="hold">
                      <p:stCondLst>
                        <p:cond delay="indefinite"/>
                      </p:stCondLst>
                      <p:childTnLst>
                        <p:par>
                          <p:cTn id="28" fill="hold">
                            <p:stCondLst>
                              <p:cond delay="0"/>
                            </p:stCondLst>
                            <p:childTnLst>
                              <p:par>
                                <p:cTn id="29" presetID="3" presetClass="emph" presetSubtype="2" fill="hold" grpId="0" nodeType="clickEffect">
                                  <p:stCondLst>
                                    <p:cond delay="0"/>
                                  </p:stCondLst>
                                  <p:childTnLst>
                                    <p:animClr clrSpc="rgb" dir="cw">
                                      <p:cBhvr override="childStyle">
                                        <p:cTn id="30"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1" nodeType="withEffect">
                                  <p:stCondLst>
                                    <p:cond delay="0"/>
                                  </p:stCondLst>
                                  <p:childTnLst>
                                    <p:animClr clrSpc="rgb" dir="cw">
                                      <p:cBhvr override="childStyle">
                                        <p:cTn id="32" dur="2000" fill="hold"/>
                                        <p:tgtEl>
                                          <p:spTgt spid="2">
                                            <p:txEl>
                                              <p:pRg st="2" end="2"/>
                                            </p:txEl>
                                          </p:spTgt>
                                        </p:tgtEl>
                                        <p:attrNameLst>
                                          <p:attrName>style.color</p:attrName>
                                        </p:attrNameLst>
                                      </p:cBhvr>
                                      <p:to>
                                        <a:srgbClr val="D8A09C"/>
                                      </p:to>
                                    </p:animClr>
                                  </p:childTnLst>
                                </p:cTn>
                              </p:par>
                              <p:par>
                                <p:cTn id="33" presetID="3" presetClass="emph" presetSubtype="2" fill="hold" grpId="1" nodeType="withEffect">
                                  <p:stCondLst>
                                    <p:cond delay="0"/>
                                  </p:stCondLst>
                                  <p:childTnLst>
                                    <p:animClr clrSpc="rgb" dir="cw">
                                      <p:cBhvr override="childStyle">
                                        <p:cTn id="34" dur="2000" fill="hold"/>
                                        <p:tgtEl>
                                          <p:spTgt spid="2">
                                            <p:txEl>
                                              <p:pRg st="3" end="3"/>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6" end="6"/>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7" end="7"/>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8" end="8"/>
                                            </p:txEl>
                                          </p:spTgt>
                                        </p:tgtEl>
                                        <p:attrNameLst>
                                          <p:attrName>style.color</p:attrName>
                                        </p:attrNameLst>
                                      </p:cBhvr>
                                      <p:to>
                                        <a:srgbClr val="D8A09C"/>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9" end="9"/>
                                            </p:txEl>
                                          </p:spTgt>
                                        </p:tgtEl>
                                        <p:attrNameLst>
                                          <p:attrName>style.color</p:attrName>
                                        </p:attrNameLst>
                                      </p:cBhvr>
                                      <p:to>
                                        <a:srgbClr val="D8A09C"/>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0" nodeType="with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D8A09C"/>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3" end="13"/>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159914258"/>
              </p:ext>
            </p:extLst>
          </p:nvPr>
        </p:nvGraphicFramePr>
        <p:xfrm>
          <a:off x="863588" y="1052736"/>
          <a:ext cx="7416824" cy="4536504"/>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1133126">
                  <a:extLst>
                    <a:ext uri="{9D8B030D-6E8A-4147-A177-3AD203B41FA5}">
                      <a16:colId xmlns:a16="http://schemas.microsoft.com/office/drawing/2014/main" val="2438358024"/>
                    </a:ext>
                  </a:extLst>
                </a:gridCol>
                <a:gridCol w="1133126">
                  <a:extLst>
                    <a:ext uri="{9D8B030D-6E8A-4147-A177-3AD203B41FA5}">
                      <a16:colId xmlns:a16="http://schemas.microsoft.com/office/drawing/2014/main" val="4024420245"/>
                    </a:ext>
                  </a:extLst>
                </a:gridCol>
                <a:gridCol w="1133126">
                  <a:extLst>
                    <a:ext uri="{9D8B030D-6E8A-4147-A177-3AD203B41FA5}">
                      <a16:colId xmlns:a16="http://schemas.microsoft.com/office/drawing/2014/main" val="1885199976"/>
                    </a:ext>
                  </a:extLst>
                </a:gridCol>
                <a:gridCol w="995777">
                  <a:extLst>
                    <a:ext uri="{9D8B030D-6E8A-4147-A177-3AD203B41FA5}">
                      <a16:colId xmlns:a16="http://schemas.microsoft.com/office/drawing/2014/main" val="2600189719"/>
                    </a:ext>
                  </a:extLst>
                </a:gridCol>
                <a:gridCol w="1270474">
                  <a:extLst>
                    <a:ext uri="{9D8B030D-6E8A-4147-A177-3AD203B41FA5}">
                      <a16:colId xmlns:a16="http://schemas.microsoft.com/office/drawing/2014/main" val="1289474231"/>
                    </a:ext>
                  </a:extLst>
                </a:gridCol>
                <a:gridCol w="1133126">
                  <a:extLst>
                    <a:ext uri="{9D8B030D-6E8A-4147-A177-3AD203B41FA5}">
                      <a16:colId xmlns:a16="http://schemas.microsoft.com/office/drawing/2014/main" val="2173516547"/>
                    </a:ext>
                  </a:extLst>
                </a:gridCol>
              </a:tblGrid>
              <a:tr h="386115">
                <a:tc gridSpan="7">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 </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45014">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83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7287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FFN (GQA)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28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2407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610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33996">
                <a:tc gridSpan="7">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933360"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746157"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561544"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356840"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5674488" y="2609120"/>
            <a:ext cx="182880" cy="182880"/>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5674488" y="2057184"/>
            <a:ext cx="182880" cy="182880"/>
          </a:xfrm>
          <a:prstGeom prst="rect">
            <a:avLst/>
          </a:prstGeom>
        </p:spPr>
      </p:pic>
      <p:pic>
        <p:nvPicPr>
          <p:cNvPr id="14" name="圖片 13">
            <a:extLst>
              <a:ext uri="{FF2B5EF4-FFF2-40B4-BE49-F238E27FC236}">
                <a16:creationId xmlns:a16="http://schemas.microsoft.com/office/drawing/2014/main" id="{B754938C-EE5B-D3B5-40FD-DD90926074D2}"/>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6419859" y="836712"/>
            <a:ext cx="1473207" cy="520102"/>
          </a:xfrm>
          <a:prstGeom prst="rect">
            <a:avLst/>
          </a:prstGeom>
          <a:effectLst>
            <a:glow rad="25400">
              <a:schemeClr val="accent5">
                <a:lumMod val="20000"/>
                <a:lumOff val="80000"/>
                <a:alpha val="40000"/>
              </a:schemeClr>
            </a:glow>
            <a:softEdge rad="50800"/>
          </a:effectLst>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1"/>
          <a:stretch>
            <a:fillRect/>
          </a:stretch>
        </p:blipFill>
        <p:spPr>
          <a:xfrm>
            <a:off x="5674488" y="4351962"/>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2"/>
          <a:stretch>
            <a:fillRect/>
          </a:stretch>
        </p:blipFill>
        <p:spPr>
          <a:xfrm>
            <a:off x="5674488" y="4653136"/>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3"/>
          <a:stretch>
            <a:fillRect/>
          </a:stretch>
        </p:blipFill>
        <p:spPr>
          <a:xfrm>
            <a:off x="5674488" y="4927243"/>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152135" y="5507074"/>
            <a:ext cx="1660225" cy="922374"/>
          </a:xfrm>
          <a:prstGeom prst="wedgeRoundRectCallout">
            <a:avLst>
              <a:gd name="adj1" fmla="val -65540"/>
              <a:gd name="adj2" fmla="val -30498"/>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Deployment and FT,</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Open weight and source …</a:t>
            </a:r>
          </a:p>
        </p:txBody>
      </p:sp>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F21FC563-EC0F-087B-D29C-9F789097AEE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solidFill>
              <a:schemeClr val="accent1"/>
            </a:solid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383A5C34-A0BC-03DD-F642-1AD5A295BA5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E4782C1-8E2A-30A3-FC43-6C2C93AC2464}"/>
              </a:ext>
            </a:extLst>
          </p:cNvPr>
          <p:cNvSpPr/>
          <p:nvPr/>
        </p:nvSpPr>
        <p:spPr>
          <a:xfrm>
            <a:off x="2430250" y="5030232"/>
            <a:ext cx="1599732" cy="42901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Vocabulary</a:t>
            </a:r>
          </a:p>
          <a:p>
            <a:pPr>
              <a:lnSpc>
                <a:spcPts val="1600"/>
              </a:lnSpc>
            </a:pPr>
            <a:r>
              <a:rPr lang="en-US" altLang="zh-TW" sz="1200" dirty="0">
                <a:solidFill>
                  <a:schemeClr val="tx2"/>
                </a:solidFill>
                <a:ea typeface="微軟正黑體" panose="020B0604030504040204" pitchFamily="34" charset="-120"/>
              </a:rPr>
              <a:t>to Probability Table</a:t>
            </a:r>
          </a:p>
        </p:txBody>
      </p: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p:sp>
        <p:nvSpPr>
          <p:cNvPr id="154" name="矩形 153">
            <a:extLst>
              <a:ext uri="{FF2B5EF4-FFF2-40B4-BE49-F238E27FC236}">
                <a16:creationId xmlns:a16="http://schemas.microsoft.com/office/drawing/2014/main" id="{FA34DE1C-C9C3-9098-1B8A-3D4DFE5952CC}"/>
              </a:ext>
            </a:extLst>
          </p:cNvPr>
          <p:cNvSpPr/>
          <p:nvPr/>
        </p:nvSpPr>
        <p:spPr>
          <a:xfrm>
            <a:off x="2421788" y="5661213"/>
            <a:ext cx="1608193" cy="432083"/>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Find out the token with</a:t>
            </a:r>
          </a:p>
          <a:p>
            <a:pPr>
              <a:lnSpc>
                <a:spcPts val="1600"/>
              </a:lnSpc>
            </a:pPr>
            <a:r>
              <a:rPr lang="en-US" altLang="zh-TW" sz="1200" dirty="0">
                <a:solidFill>
                  <a:schemeClr val="tx2"/>
                </a:solidFill>
                <a:ea typeface="微軟正黑體" panose="020B0604030504040204" pitchFamily="34" charset="-120"/>
              </a:rPr>
              <a:t>maximum Probability</a:t>
            </a:r>
          </a:p>
        </p:txBody>
      </p:sp>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1657920" y="2315070"/>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1657920" y="1676812"/>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189662" y="188554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962AD9-9B7E-81EB-AA05-54BD5CCBF9F4}"/>
              </a:ext>
            </a:extLst>
          </p:cNvPr>
          <p:cNvSpPr txBox="1"/>
          <p:nvPr/>
        </p:nvSpPr>
        <p:spPr>
          <a:xfrm>
            <a:off x="1829622" y="2004109"/>
            <a:ext cx="365952" cy="235664"/>
          </a:xfrm>
          <a:prstGeom prst="rect">
            <a:avLst/>
          </a:prstGeom>
          <a:noFill/>
        </p:spPr>
        <p:txBody>
          <a:bodyPr wrap="none" lIns="0" tIns="0" rIns="0" bIns="0" rtlCol="0" anchor="ctr" anchorCtr="1">
            <a:noAutofit/>
          </a:bodyPr>
          <a:lstStyle/>
          <a:p>
            <a:pPr algn="ctr"/>
            <a:r>
              <a:rPr lang="en-US" altLang="zh-TW" sz="1200" dirty="0"/>
              <a:t>RoPE()</a:t>
            </a:r>
            <a:r>
              <a:rPr lang="en-US" altLang="zh-TW" sz="1200" dirty="0">
                <a:sym typeface="Wingdings" panose="05000000000000000000" pitchFamily="2" charset="2"/>
              </a:rPr>
              <a:t></a:t>
            </a:r>
            <a:endParaRPr lang="zh-TW" altLang="en-US" sz="1200" dirty="0"/>
          </a:p>
        </p:txBody>
      </p:sp>
      <p:grpSp>
        <p:nvGrpSpPr>
          <p:cNvPr id="97" name="群組 96">
            <a:extLst>
              <a:ext uri="{FF2B5EF4-FFF2-40B4-BE49-F238E27FC236}">
                <a16:creationId xmlns:a16="http://schemas.microsoft.com/office/drawing/2014/main" id="{A006F49A-6C63-84B6-F3C4-3B2B3A3D21B2}"/>
              </a:ext>
            </a:extLst>
          </p:cNvPr>
          <p:cNvGrpSpPr/>
          <p:nvPr/>
        </p:nvGrpSpPr>
        <p:grpSpPr>
          <a:xfrm>
            <a:off x="251520" y="1087645"/>
            <a:ext cx="1406400" cy="1549267"/>
            <a:chOff x="1907704" y="476672"/>
            <a:chExt cx="1406400" cy="1549267"/>
          </a:xfrm>
        </p:grpSpPr>
        <p:sp>
          <p:nvSpPr>
            <p:cNvPr id="88" name="矩形 87">
              <a:extLst>
                <a:ext uri="{FF2B5EF4-FFF2-40B4-BE49-F238E27FC236}">
                  <a16:creationId xmlns:a16="http://schemas.microsoft.com/office/drawing/2014/main" id="{2A3273B4-280D-2500-B3E2-D5398D25A019}"/>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2230974" y="1881923"/>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9343CCE7-E30C-FB1D-1514-C9D09F0E48DA}"/>
              </a:ext>
            </a:extLst>
          </p:cNvPr>
          <p:cNvCxnSpPr>
            <a:cxnSpLocks/>
            <a:stCxn id="85" idx="3"/>
            <a:endCxn id="77" idx="1"/>
          </p:cNvCxnSpPr>
          <p:nvPr/>
        </p:nvCxnSpPr>
        <p:spPr>
          <a:xfrm flipV="1">
            <a:off x="2555614" y="1968775"/>
            <a:ext cx="579486" cy="12989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49EDF0B5-AB72-492D-3A92-9881C35CEEE8}"/>
              </a:ext>
            </a:extLst>
          </p:cNvPr>
          <p:cNvSpPr/>
          <p:nvPr/>
        </p:nvSpPr>
        <p:spPr>
          <a:xfrm>
            <a:off x="5896596" y="3135819"/>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693930"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22" name="文字方塊 21">
            <a:extLst>
              <a:ext uri="{FF2B5EF4-FFF2-40B4-BE49-F238E27FC236}">
                <a16:creationId xmlns:a16="http://schemas.microsoft.com/office/drawing/2014/main" id="{E13945CA-38FA-7C2E-486B-01D81CC63878}"/>
              </a:ext>
            </a:extLst>
          </p:cNvPr>
          <p:cNvSpPr txBox="1"/>
          <p:nvPr/>
        </p:nvSpPr>
        <p:spPr>
          <a:xfrm>
            <a:off x="3576876" y="1355727"/>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39" name="文字方塊 38">
            <a:extLst>
              <a:ext uri="{FF2B5EF4-FFF2-40B4-BE49-F238E27FC236}">
                <a16:creationId xmlns:a16="http://schemas.microsoft.com/office/drawing/2014/main" id="{0AF4B18A-9DCA-C6E3-BDA4-EBD8EA96CAAA}"/>
              </a:ext>
            </a:extLst>
          </p:cNvPr>
          <p:cNvSpPr txBox="1"/>
          <p:nvPr/>
        </p:nvSpPr>
        <p:spPr>
          <a:xfrm>
            <a:off x="4277905" y="1355727"/>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693930"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3" name="文字方塊 42">
            <a:extLst>
              <a:ext uri="{FF2B5EF4-FFF2-40B4-BE49-F238E27FC236}">
                <a16:creationId xmlns:a16="http://schemas.microsoft.com/office/drawing/2014/main" id="{34937AB4-D9F8-645B-B8F9-58FCE445B671}"/>
              </a:ext>
            </a:extLst>
          </p:cNvPr>
          <p:cNvSpPr txBox="1"/>
          <p:nvPr/>
        </p:nvSpPr>
        <p:spPr>
          <a:xfrm>
            <a:off x="3576876" y="1859880"/>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44" name="文字方塊 43">
            <a:extLst>
              <a:ext uri="{FF2B5EF4-FFF2-40B4-BE49-F238E27FC236}">
                <a16:creationId xmlns:a16="http://schemas.microsoft.com/office/drawing/2014/main" id="{22C2ECFF-6C61-88C1-FACE-1D7A8C83FFB9}"/>
              </a:ext>
            </a:extLst>
          </p:cNvPr>
          <p:cNvSpPr txBox="1"/>
          <p:nvPr/>
        </p:nvSpPr>
        <p:spPr>
          <a:xfrm>
            <a:off x="4277905" y="185988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693930"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49" name="文字方塊 48">
            <a:extLst>
              <a:ext uri="{FF2B5EF4-FFF2-40B4-BE49-F238E27FC236}">
                <a16:creationId xmlns:a16="http://schemas.microsoft.com/office/drawing/2014/main" id="{73E80D52-4C45-F455-656C-EC181DB2CAF5}"/>
              </a:ext>
            </a:extLst>
          </p:cNvPr>
          <p:cNvSpPr txBox="1"/>
          <p:nvPr/>
        </p:nvSpPr>
        <p:spPr>
          <a:xfrm>
            <a:off x="3576876" y="2363839"/>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50" name="文字方塊 49">
            <a:extLst>
              <a:ext uri="{FF2B5EF4-FFF2-40B4-BE49-F238E27FC236}">
                <a16:creationId xmlns:a16="http://schemas.microsoft.com/office/drawing/2014/main" id="{ED69420B-68B2-26E5-7E14-D8B9D6E54493}"/>
              </a:ext>
            </a:extLst>
          </p:cNvPr>
          <p:cNvSpPr txBox="1"/>
          <p:nvPr/>
        </p:nvSpPr>
        <p:spPr>
          <a:xfrm>
            <a:off x="4277905" y="2363839"/>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55" name="矩形 54">
            <a:extLst>
              <a:ext uri="{FF2B5EF4-FFF2-40B4-BE49-F238E27FC236}">
                <a16:creationId xmlns:a16="http://schemas.microsoft.com/office/drawing/2014/main" id="{45B3CB3A-DF76-A954-7ACD-784F85AFB1BA}"/>
              </a:ext>
            </a:extLst>
          </p:cNvPr>
          <p:cNvSpPr/>
          <p:nvPr/>
        </p:nvSpPr>
        <p:spPr>
          <a:xfrm>
            <a:off x="2209685"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7106003" y="3135818"/>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0" name="矩形 59">
            <a:extLst>
              <a:ext uri="{FF2B5EF4-FFF2-40B4-BE49-F238E27FC236}">
                <a16:creationId xmlns:a16="http://schemas.microsoft.com/office/drawing/2014/main" id="{B2A8793D-39DB-E18A-FF85-993DB10D0200}"/>
              </a:ext>
            </a:extLst>
          </p:cNvPr>
          <p:cNvSpPr/>
          <p:nvPr/>
        </p:nvSpPr>
        <p:spPr>
          <a:xfrm>
            <a:off x="7106003" y="3505383"/>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6183750" y="3223167"/>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5902659" y="3503553"/>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78271"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80981"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774271"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18442"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156975"/>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152873"/>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27143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151159"/>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26971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77" name="左大括弧 76">
            <a:extLst>
              <a:ext uri="{FF2B5EF4-FFF2-40B4-BE49-F238E27FC236}">
                <a16:creationId xmlns:a16="http://schemas.microsoft.com/office/drawing/2014/main" id="{915A9241-6838-8FEB-FC02-7CEE51FD2D3F}"/>
              </a:ext>
            </a:extLst>
          </p:cNvPr>
          <p:cNvSpPr/>
          <p:nvPr/>
        </p:nvSpPr>
        <p:spPr>
          <a:xfrm>
            <a:off x="3135100" y="1355727"/>
            <a:ext cx="74660" cy="12260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107" name="接點: 弧形 106">
            <a:extLst>
              <a:ext uri="{FF2B5EF4-FFF2-40B4-BE49-F238E27FC236}">
                <a16:creationId xmlns:a16="http://schemas.microsoft.com/office/drawing/2014/main" id="{A43539FF-2C71-75DB-E04C-053A249DC1BB}"/>
              </a:ext>
            </a:extLst>
          </p:cNvPr>
          <p:cNvCxnSpPr>
            <a:cxnSpLocks/>
            <a:endCxn id="59" idx="1"/>
          </p:cNvCxnSpPr>
          <p:nvPr/>
        </p:nvCxnSpPr>
        <p:spPr>
          <a:xfrm rot="16200000" flipH="1">
            <a:off x="6490987" y="2745848"/>
            <a:ext cx="678477" cy="55155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23" name="群組 22">
            <a:extLst>
              <a:ext uri="{FF2B5EF4-FFF2-40B4-BE49-F238E27FC236}">
                <a16:creationId xmlns:a16="http://schemas.microsoft.com/office/drawing/2014/main" id="{95725359-6485-59DF-E6ED-B7BB67B5B173}"/>
              </a:ext>
            </a:extLst>
          </p:cNvPr>
          <p:cNvGrpSpPr/>
          <p:nvPr/>
        </p:nvGrpSpPr>
        <p:grpSpPr>
          <a:xfrm>
            <a:off x="5233519" y="1844824"/>
            <a:ext cx="3082897" cy="832958"/>
            <a:chOff x="5233519" y="1844824"/>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37727"/>
              <a:ext cx="305958"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4804"/>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mc:Choice xmlns:a14="http://schemas.microsoft.com/office/drawing/2010/main"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57" r="-1887" b="-4286"/>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36296" y="2057905"/>
              <a:ext cx="360040" cy="504174"/>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52068"/>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44824"/>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23928" y="1317977"/>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39477" y="1296072"/>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308370"/>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260664"/>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327148"/>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321263"/>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593704"/>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593704"/>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688709"/>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51905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466742"/>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698234"/>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61901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622448"/>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675408"/>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61053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293096"/>
            <a:ext cx="0" cy="1440706"/>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68519"/>
            <a:ext cx="1469275" cy="3391"/>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607313" y="3135818"/>
            <a:ext cx="277055"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7445512" y="3278559"/>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527166"/>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527167"/>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52716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7214513" y="2980465"/>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7218560" y="2850977"/>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29249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22377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6825380" y="2742645"/>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6483203" y="3801632"/>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
        <p:nvSpPr>
          <p:cNvPr id="8" name="文字方塊 7">
            <a:extLst>
              <a:ext uri="{FF2B5EF4-FFF2-40B4-BE49-F238E27FC236}">
                <a16:creationId xmlns:a16="http://schemas.microsoft.com/office/drawing/2014/main" id="{CFA20B6E-2B67-5993-7195-A982227FA1B9}"/>
              </a:ext>
            </a:extLst>
          </p:cNvPr>
          <p:cNvSpPr txBox="1"/>
          <p:nvPr/>
        </p:nvSpPr>
        <p:spPr>
          <a:xfrm>
            <a:off x="6365443" y="5493869"/>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7551846" y="547596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79712" y="2344206"/>
            <a:ext cx="3995091" cy="2559572"/>
          </a:xfrm>
          <a:prstGeom prst="rect">
            <a:avLst/>
          </a:prstGeom>
          <a:solidFill>
            <a:schemeClr val="accent1">
              <a:lumMod val="20000"/>
              <a:lumOff val="80000"/>
              <a:alpha val="20000"/>
            </a:schemeClr>
          </a:solidFill>
          <a:ln w="28575">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a:t>
            </a:r>
          </a:p>
        </p:txBody>
      </p:sp>
      <p:sp>
        <p:nvSpPr>
          <p:cNvPr id="39" name="右中括弧 38">
            <a:extLst>
              <a:ext uri="{FF2B5EF4-FFF2-40B4-BE49-F238E27FC236}">
                <a16:creationId xmlns:a16="http://schemas.microsoft.com/office/drawing/2014/main" id="{4925490F-5CC4-F608-2390-2B238EE875D7}"/>
              </a:ext>
            </a:extLst>
          </p:cNvPr>
          <p:cNvSpPr/>
          <p:nvPr/>
        </p:nvSpPr>
        <p:spPr>
          <a:xfrm flipH="1">
            <a:off x="2037676" y="5055020"/>
            <a:ext cx="79946" cy="89694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0" name="矩形 119">
            <a:extLst>
              <a:ext uri="{FF2B5EF4-FFF2-40B4-BE49-F238E27FC236}">
                <a16:creationId xmlns:a16="http://schemas.microsoft.com/office/drawing/2014/main" id="{5BD871C5-7650-32E5-1F21-AEFE9937B6E7}"/>
              </a:ext>
            </a:extLst>
          </p:cNvPr>
          <p:cNvSpPr/>
          <p:nvPr/>
        </p:nvSpPr>
        <p:spPr>
          <a:xfrm>
            <a:off x="6621175" y="2348880"/>
            <a:ext cx="2099555" cy="2121429"/>
          </a:xfrm>
          <a:prstGeom prst="rect">
            <a:avLst/>
          </a:prstGeom>
          <a:solidFill>
            <a:schemeClr val="bg1"/>
          </a:solidFill>
          <a:ln w="2540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grpSp>
        <p:nvGrpSpPr>
          <p:cNvPr id="2" name="群組 1">
            <a:extLst>
              <a:ext uri="{FF2B5EF4-FFF2-40B4-BE49-F238E27FC236}">
                <a16:creationId xmlns:a16="http://schemas.microsoft.com/office/drawing/2014/main" id="{C3FC8396-7738-396B-4EC3-4B7F9FF3F9F4}"/>
              </a:ext>
            </a:extLst>
          </p:cNvPr>
          <p:cNvGrpSpPr/>
          <p:nvPr/>
        </p:nvGrpSpPr>
        <p:grpSpPr>
          <a:xfrm>
            <a:off x="2818393" y="3083065"/>
            <a:ext cx="3049751" cy="1008634"/>
            <a:chOff x="3610481" y="4004542"/>
            <a:chExt cx="3049751" cy="1008634"/>
          </a:xfrm>
        </p:grpSpPr>
        <p:sp>
          <p:nvSpPr>
            <p:cNvPr id="3" name="矩形 2">
              <a:extLst>
                <a:ext uri="{FF2B5EF4-FFF2-40B4-BE49-F238E27FC236}">
                  <a16:creationId xmlns:a16="http://schemas.microsoft.com/office/drawing/2014/main" id="{9EA9CF9A-00DF-3794-7D5B-29CDFD75AA9B}"/>
                </a:ext>
              </a:extLst>
            </p:cNvPr>
            <p:cNvSpPr/>
            <p:nvPr/>
          </p:nvSpPr>
          <p:spPr>
            <a:xfrm>
              <a:off x="3707904" y="4004542"/>
              <a:ext cx="249785" cy="364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4025877"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3707904" y="4437112"/>
              <a:ext cx="1091936"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9" name="矩形 8">
              <a:extLst>
                <a:ext uri="{FF2B5EF4-FFF2-40B4-BE49-F238E27FC236}">
                  <a16:creationId xmlns:a16="http://schemas.microsoft.com/office/drawing/2014/main" id="{4C8DF73F-4F3C-A692-BD96-F71648DBE87A}"/>
                </a:ext>
              </a:extLst>
            </p:cNvPr>
            <p:cNvSpPr/>
            <p:nvPr/>
          </p:nvSpPr>
          <p:spPr>
            <a:xfrm>
              <a:off x="5024295" y="4004542"/>
              <a:ext cx="237183" cy="35528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5322021"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5024295" y="4437112"/>
              <a:ext cx="915857" cy="359020"/>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4860032" y="4549794"/>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 name="矩形 15">
              <a:extLst>
                <a:ext uri="{FF2B5EF4-FFF2-40B4-BE49-F238E27FC236}">
                  <a16:creationId xmlns:a16="http://schemas.microsoft.com/office/drawing/2014/main" id="{D44FF357-8C9E-D367-0E4C-3FAE9662A658}"/>
                </a:ext>
              </a:extLst>
            </p:cNvPr>
            <p:cNvSpPr/>
            <p:nvPr/>
          </p:nvSpPr>
          <p:spPr>
            <a:xfrm>
              <a:off x="6305296" y="4170428"/>
              <a:ext cx="354936" cy="842748"/>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D</a:t>
              </a:r>
              <a:r>
                <a:rPr lang="en-US" altLang="zh-TW" sz="800" dirty="0">
                  <a:solidFill>
                    <a:schemeClr val="tx1"/>
                  </a:solidFill>
                  <a:latin typeface="微軟正黑體" panose="020B0604030504040204" pitchFamily="34" charset="-120"/>
                  <a:ea typeface="微軟正黑體" panose="020B0604030504040204" pitchFamily="34" charset="-120"/>
                </a:rPr>
                <a:t>own</a:t>
              </a:r>
            </a:p>
          </p:txBody>
        </p:sp>
        <p:sp>
          <p:nvSpPr>
            <p:cNvPr id="17" name="左右中括弧 16">
              <a:extLst>
                <a:ext uri="{FF2B5EF4-FFF2-40B4-BE49-F238E27FC236}">
                  <a16:creationId xmlns:a16="http://schemas.microsoft.com/office/drawing/2014/main" id="{6A12358E-68A9-8144-3B6E-BD6CE0D422A8}"/>
                </a:ext>
              </a:extLst>
            </p:cNvPr>
            <p:cNvSpPr/>
            <p:nvPr/>
          </p:nvSpPr>
          <p:spPr>
            <a:xfrm>
              <a:off x="3610481" y="4365104"/>
              <a:ext cx="2473687" cy="517667"/>
            </a:xfrm>
            <a:prstGeom prst="bracket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6129895" y="4477784"/>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21" name="矩形 20">
            <a:extLst>
              <a:ext uri="{FF2B5EF4-FFF2-40B4-BE49-F238E27FC236}">
                <a16:creationId xmlns:a16="http://schemas.microsoft.com/office/drawing/2014/main" id="{47ED10C2-9F56-2A97-6D9F-EA161EE290B4}"/>
              </a:ext>
            </a:extLst>
          </p:cNvPr>
          <p:cNvSpPr/>
          <p:nvPr/>
        </p:nvSpPr>
        <p:spPr>
          <a:xfrm>
            <a:off x="2162163" y="3521451"/>
            <a:ext cx="306835"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647685" y="3640011"/>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24" name="矩形 23">
            <a:extLst>
              <a:ext uri="{FF2B5EF4-FFF2-40B4-BE49-F238E27FC236}">
                <a16:creationId xmlns:a16="http://schemas.microsoft.com/office/drawing/2014/main" id="{A7397AC1-0701-51AC-DD03-D56D5FA42671}"/>
              </a:ext>
            </a:extLst>
          </p:cNvPr>
          <p:cNvSpPr/>
          <p:nvPr/>
        </p:nvSpPr>
        <p:spPr>
          <a:xfrm>
            <a:off x="2175861" y="5061672"/>
            <a:ext cx="346902" cy="88232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51925" y="5315451"/>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11465" y="5359453"/>
            <a:ext cx="12306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514959" y="4600264"/>
            <a:ext cx="293577" cy="715187"/>
          </a:xfrm>
          <a:prstGeom prst="curvedConnector2">
            <a:avLst/>
          </a:prstGeom>
          <a:ln>
            <a:solidFill>
              <a:schemeClr val="accent2">
                <a:lumMod val="20000"/>
                <a:lumOff val="8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D572D28-E21B-EC18-BCC4-32209AD2D5A2}"/>
              </a:ext>
            </a:extLst>
          </p:cNvPr>
          <p:cNvSpPr/>
          <p:nvPr/>
        </p:nvSpPr>
        <p:spPr>
          <a:xfrm>
            <a:off x="3554306" y="5061672"/>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29" name="文字方塊 28">
            <a:extLst>
              <a:ext uri="{FF2B5EF4-FFF2-40B4-BE49-F238E27FC236}">
                <a16:creationId xmlns:a16="http://schemas.microsoft.com/office/drawing/2014/main" id="{4B3AD1C9-6E48-0577-1DC0-8E9700308F76}"/>
              </a:ext>
            </a:extLst>
          </p:cNvPr>
          <p:cNvSpPr txBox="1"/>
          <p:nvPr/>
        </p:nvSpPr>
        <p:spPr>
          <a:xfrm>
            <a:off x="2981350" y="539369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0" name="矩形 29">
            <a:extLst>
              <a:ext uri="{FF2B5EF4-FFF2-40B4-BE49-F238E27FC236}">
                <a16:creationId xmlns:a16="http://schemas.microsoft.com/office/drawing/2014/main" id="{3A5C3284-5E4A-6C2B-0B16-3A6B39441A74}"/>
              </a:ext>
            </a:extLst>
          </p:cNvPr>
          <p:cNvSpPr/>
          <p:nvPr/>
        </p:nvSpPr>
        <p:spPr>
          <a:xfrm>
            <a:off x="4192085" y="5061673"/>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1" name="文字方塊 30">
            <a:extLst>
              <a:ext uri="{FF2B5EF4-FFF2-40B4-BE49-F238E27FC236}">
                <a16:creationId xmlns:a16="http://schemas.microsoft.com/office/drawing/2014/main" id="{C937DC02-6F86-8270-4AD8-04DDA79EE401}"/>
              </a:ext>
            </a:extLst>
          </p:cNvPr>
          <p:cNvSpPr txBox="1"/>
          <p:nvPr/>
        </p:nvSpPr>
        <p:spPr>
          <a:xfrm>
            <a:off x="3944593" y="5393691"/>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2" name="文字方塊 31">
            <a:extLst>
              <a:ext uri="{FF2B5EF4-FFF2-40B4-BE49-F238E27FC236}">
                <a16:creationId xmlns:a16="http://schemas.microsoft.com/office/drawing/2014/main" id="{11003101-4C3B-7BEF-93A5-0602CEC6AA86}"/>
              </a:ext>
            </a:extLst>
          </p:cNvPr>
          <p:cNvSpPr txBox="1"/>
          <p:nvPr/>
        </p:nvSpPr>
        <p:spPr>
          <a:xfrm>
            <a:off x="3164923" y="5108061"/>
            <a:ext cx="274038" cy="742820"/>
          </a:xfrm>
          <a:prstGeom prst="rect">
            <a:avLst/>
          </a:prstGeom>
          <a:noFill/>
        </p:spPr>
        <p:txBody>
          <a:bodyPr wrap="none" lIns="0" tIns="0" rIns="0" bIns="0" rtlCol="0" anchor="ctr" anchorCtr="1">
            <a:noAutofit/>
          </a:bodyPr>
          <a:lstStyle/>
          <a:p>
            <a:pPr algn="ctr"/>
            <a:r>
              <a:rPr lang="en-US" altLang="zh-TW" sz="1200" dirty="0"/>
              <a:t>Soft</a:t>
            </a:r>
          </a:p>
          <a:p>
            <a:pPr algn="ctr"/>
            <a:r>
              <a:rPr lang="en-US" altLang="zh-TW" sz="1200" dirty="0"/>
              <a:t>Max</a:t>
            </a:r>
            <a:endParaRPr lang="zh-TW" altLang="en-US" sz="1200" dirty="0"/>
          </a:p>
        </p:txBody>
      </p:sp>
      <p:sp>
        <p:nvSpPr>
          <p:cNvPr id="33" name="左右中括弧 32">
            <a:extLst>
              <a:ext uri="{FF2B5EF4-FFF2-40B4-BE49-F238E27FC236}">
                <a16:creationId xmlns:a16="http://schemas.microsoft.com/office/drawing/2014/main" id="{FD6EB530-7992-AFF7-31AB-DEB32DCBB475}"/>
              </a:ext>
            </a:extLst>
          </p:cNvPr>
          <p:cNvSpPr/>
          <p:nvPr/>
        </p:nvSpPr>
        <p:spPr>
          <a:xfrm>
            <a:off x="3458011" y="506167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651153" y="5213062"/>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651153" y="5213062"/>
                <a:ext cx="813171" cy="448264"/>
              </a:xfrm>
              <a:prstGeom prst="rect">
                <a:avLst/>
              </a:prstGeom>
              <a:blipFill>
                <a:blip r:embed="rId3"/>
                <a:stretch>
                  <a:fillRect l="-4511" t="-17568" r="-30827" b="-101351"/>
                </a:stretch>
              </a:blipFill>
            </p:spPr>
            <p:txBody>
              <a:bodyPr/>
              <a:lstStyle/>
              <a:p>
                <a:r>
                  <a:rPr lang="zh-TW" altLang="en-US">
                    <a:noFill/>
                  </a:rPr>
                  <a:t> </a:t>
                </a:r>
              </a:p>
            </p:txBody>
          </p:sp>
        </mc:Fallback>
      </mc:AlternateContent>
      <p:sp>
        <p:nvSpPr>
          <p:cNvPr id="35" name="左右中括弧 34">
            <a:extLst>
              <a:ext uri="{FF2B5EF4-FFF2-40B4-BE49-F238E27FC236}">
                <a16:creationId xmlns:a16="http://schemas.microsoft.com/office/drawing/2014/main" id="{C21B6252-6BFC-711D-27FF-00C512752E88}"/>
              </a:ext>
            </a:extLst>
          </p:cNvPr>
          <p:cNvSpPr/>
          <p:nvPr/>
        </p:nvSpPr>
        <p:spPr>
          <a:xfrm>
            <a:off x="4097072" y="506695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162163" y="5627340"/>
            <a:ext cx="373738" cy="185979"/>
          </a:xfrm>
          <a:prstGeom prst="rect">
            <a:avLst/>
          </a:prstGeom>
          <a:solidFill>
            <a:schemeClr val="accent6">
              <a:lumMod val="20000"/>
              <a:lumOff val="80000"/>
              <a:alpha val="60000"/>
            </a:schemeClr>
          </a:solidFill>
          <a:ln w="9525">
            <a:solidFill>
              <a:schemeClr val="accent6">
                <a:lumMod val="75000"/>
                <a:alpha val="6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max</a:t>
            </a:r>
          </a:p>
        </p:txBody>
      </p: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856528" y="3989165"/>
                <a:ext cx="1547924" cy="322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856528" y="3989165"/>
                <a:ext cx="1547924" cy="322332"/>
              </a:xfrm>
              <a:prstGeom prst="rect">
                <a:avLst/>
              </a:prstGeom>
              <a:blipFill>
                <a:blip r:embed="rId4"/>
                <a:stretch>
                  <a:fillRect l="-2362" b="-16981"/>
                </a:stretch>
              </a:blipFill>
            </p:spPr>
            <p:txBody>
              <a:bodyPr/>
              <a:lstStyle/>
              <a:p>
                <a:r>
                  <a:rPr lang="zh-TW" altLang="en-US">
                    <a:noFill/>
                  </a:rPr>
                  <a:t> </a:t>
                </a:r>
              </a:p>
            </p:txBody>
          </p:sp>
        </mc:Fallback>
      </mc:AlternateContent>
      <p:grpSp>
        <p:nvGrpSpPr>
          <p:cNvPr id="97" name="群組 96">
            <a:extLst>
              <a:ext uri="{FF2B5EF4-FFF2-40B4-BE49-F238E27FC236}">
                <a16:creationId xmlns:a16="http://schemas.microsoft.com/office/drawing/2014/main" id="{2D72C439-F480-7006-4395-9CA65DFE8201}"/>
              </a:ext>
            </a:extLst>
          </p:cNvPr>
          <p:cNvGrpSpPr/>
          <p:nvPr/>
        </p:nvGrpSpPr>
        <p:grpSpPr>
          <a:xfrm>
            <a:off x="251520" y="3031863"/>
            <a:ext cx="1406400" cy="1477257"/>
            <a:chOff x="1907704" y="548682"/>
            <a:chExt cx="1406400" cy="1477257"/>
          </a:xfrm>
        </p:grpSpPr>
        <p:sp>
          <p:nvSpPr>
            <p:cNvPr id="88" name="矩形 87">
              <a:extLst>
                <a:ext uri="{FF2B5EF4-FFF2-40B4-BE49-F238E27FC236}">
                  <a16:creationId xmlns:a16="http://schemas.microsoft.com/office/drawing/2014/main" id="{6D47A4D7-3AAE-548A-B215-112D8959A04A}"/>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F9148EBB-AB20-B55F-FFB6-6EC6E59E140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4D8F02BE-DCD2-0446-3A26-48B3DB41C01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08D00F58-3A7D-2E42-D9FA-7926C5EDC7C7}"/>
                </a:ext>
              </a:extLst>
            </p:cNvPr>
            <p:cNvSpPr/>
            <p:nvPr/>
          </p:nvSpPr>
          <p:spPr>
            <a:xfrm>
              <a:off x="2230974" y="1809915"/>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2699792" y="54868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04B9222C-170D-2E86-2883-9BB5DC9B9A6C}"/>
              </a:ext>
            </a:extLst>
          </p:cNvPr>
          <p:cNvCxnSpPr>
            <a:cxnSpLocks/>
            <a:stCxn id="71" idx="2"/>
            <a:endCxn id="3" idx="0"/>
          </p:cNvCxnSpPr>
          <p:nvPr/>
        </p:nvCxnSpPr>
        <p:spPr>
          <a:xfrm rot="5400000">
            <a:off x="3186062" y="2563567"/>
            <a:ext cx="374145" cy="6648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a:extLst>
              <a:ext uri="{FF2B5EF4-FFF2-40B4-BE49-F238E27FC236}">
                <a16:creationId xmlns:a16="http://schemas.microsoft.com/office/drawing/2014/main" id="{2A5B34E1-0657-B7B9-69A2-3D23E49C0407}"/>
              </a:ext>
            </a:extLst>
          </p:cNvPr>
          <p:cNvSpPr/>
          <p:nvPr/>
        </p:nvSpPr>
        <p:spPr>
          <a:xfrm>
            <a:off x="2175861" y="4188901"/>
            <a:ext cx="303429" cy="48234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535901" y="5720248"/>
            <a:ext cx="1748439" cy="82"/>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接點: 弧形 50">
            <a:extLst>
              <a:ext uri="{FF2B5EF4-FFF2-40B4-BE49-F238E27FC236}">
                <a16:creationId xmlns:a16="http://schemas.microsoft.com/office/drawing/2014/main" id="{08C12969-1CAA-7C8C-1A80-A12CB3FB3E18}"/>
              </a:ext>
            </a:extLst>
          </p:cNvPr>
          <p:cNvCxnSpPr>
            <a:cxnSpLocks/>
            <a:stCxn id="71" idx="2"/>
            <a:endCxn id="9" idx="0"/>
          </p:cNvCxnSpPr>
          <p:nvPr/>
        </p:nvCxnSpPr>
        <p:spPr>
          <a:xfrm rot="16200000" flipH="1">
            <a:off x="3841107" y="2573372"/>
            <a:ext cx="374145" cy="64524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接點: 弧形 72">
            <a:extLst>
              <a:ext uri="{FF2B5EF4-FFF2-40B4-BE49-F238E27FC236}">
                <a16:creationId xmlns:a16="http://schemas.microsoft.com/office/drawing/2014/main" id="{50052D83-62A8-C7A2-9CC8-F8763979B5DE}"/>
              </a:ext>
            </a:extLst>
          </p:cNvPr>
          <p:cNvCxnSpPr>
            <a:cxnSpLocks/>
            <a:stCxn id="36" idx="1"/>
            <a:endCxn id="88" idx="2"/>
          </p:cNvCxnSpPr>
          <p:nvPr/>
        </p:nvCxnSpPr>
        <p:spPr>
          <a:xfrm rot="10800000">
            <a:off x="1116355" y="4509120"/>
            <a:ext cx="1045808" cy="1211210"/>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C8FE1119-F9FF-D03A-C39E-26169689D227}"/>
              </a:ext>
            </a:extLst>
          </p:cNvPr>
          <p:cNvSpPr txBox="1"/>
          <p:nvPr/>
        </p:nvSpPr>
        <p:spPr>
          <a:xfrm>
            <a:off x="7452320" y="2965723"/>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62" name="矩形 61">
            <a:extLst>
              <a:ext uri="{FF2B5EF4-FFF2-40B4-BE49-F238E27FC236}">
                <a16:creationId xmlns:a16="http://schemas.microsoft.com/office/drawing/2014/main" id="{9580A3F7-0ABE-23F3-CAEE-86771B6B7544}"/>
              </a:ext>
            </a:extLst>
          </p:cNvPr>
          <p:cNvSpPr/>
          <p:nvPr/>
        </p:nvSpPr>
        <p:spPr>
          <a:xfrm>
            <a:off x="8157374" y="2841347"/>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3" name="文字方塊 62">
            <a:extLst>
              <a:ext uri="{FF2B5EF4-FFF2-40B4-BE49-F238E27FC236}">
                <a16:creationId xmlns:a16="http://schemas.microsoft.com/office/drawing/2014/main" id="{75A82EF4-F2F9-36DE-FC76-7FE442CF997F}"/>
              </a:ext>
            </a:extLst>
          </p:cNvPr>
          <p:cNvSpPr txBox="1"/>
          <p:nvPr/>
        </p:nvSpPr>
        <p:spPr>
          <a:xfrm>
            <a:off x="7924144" y="2999199"/>
            <a:ext cx="104240" cy="235664"/>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012160" y="1456910"/>
            <a:ext cx="422451" cy="526736"/>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pSp>
        <p:nvGrpSpPr>
          <p:cNvPr id="76" name="群組 75">
            <a:extLst>
              <a:ext uri="{FF2B5EF4-FFF2-40B4-BE49-F238E27FC236}">
                <a16:creationId xmlns:a16="http://schemas.microsoft.com/office/drawing/2014/main" id="{0BE68F61-BA79-B2B7-F578-BB83B3F1361D}"/>
              </a:ext>
            </a:extLst>
          </p:cNvPr>
          <p:cNvGrpSpPr/>
          <p:nvPr/>
        </p:nvGrpSpPr>
        <p:grpSpPr>
          <a:xfrm>
            <a:off x="7596336" y="2953892"/>
            <a:ext cx="161836" cy="449370"/>
            <a:chOff x="7713529" y="3033343"/>
            <a:chExt cx="161836" cy="449370"/>
          </a:xfrm>
        </p:grpSpPr>
        <p:sp>
          <p:nvSpPr>
            <p:cNvPr id="55" name="矩形 54">
              <a:extLst>
                <a:ext uri="{FF2B5EF4-FFF2-40B4-BE49-F238E27FC236}">
                  <a16:creationId xmlns:a16="http://schemas.microsoft.com/office/drawing/2014/main" id="{1B649D75-18D1-0830-D655-A2B640FBA496}"/>
                </a:ext>
              </a:extLst>
            </p:cNvPr>
            <p:cNvSpPr/>
            <p:nvPr/>
          </p:nvSpPr>
          <p:spPr>
            <a:xfrm>
              <a:off x="7725128" y="3033343"/>
              <a:ext cx="141223" cy="28968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800" dirty="0">
                  <a:solidFill>
                    <a:schemeClr val="tx1"/>
                  </a:solidFill>
                  <a:latin typeface="微軟正黑體" panose="020B0604030504040204" pitchFamily="34" charset="-120"/>
                  <a:ea typeface="微軟正黑體" panose="020B0604030504040204" pitchFamily="34" charset="-120"/>
                </a:rPr>
                <a:t>G</a:t>
              </a:r>
            </a:p>
          </p:txBody>
        </p:sp>
        <p:sp>
          <p:nvSpPr>
            <p:cNvPr id="66" name="文字方塊 65">
              <a:extLst>
                <a:ext uri="{FF2B5EF4-FFF2-40B4-BE49-F238E27FC236}">
                  <a16:creationId xmlns:a16="http://schemas.microsoft.com/office/drawing/2014/main" id="{A6C7910E-3AEA-10F8-CF1E-7C1C09535798}"/>
                </a:ext>
              </a:extLst>
            </p:cNvPr>
            <p:cNvSpPr txBox="1"/>
            <p:nvPr/>
          </p:nvSpPr>
          <p:spPr>
            <a:xfrm>
              <a:off x="7713529" y="3248112"/>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dx16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69" name="群組 68">
            <a:extLst>
              <a:ext uri="{FF2B5EF4-FFF2-40B4-BE49-F238E27FC236}">
                <a16:creationId xmlns:a16="http://schemas.microsoft.com/office/drawing/2014/main" id="{9156E076-2976-A383-243A-F090F75134A3}"/>
              </a:ext>
            </a:extLst>
          </p:cNvPr>
          <p:cNvGrpSpPr/>
          <p:nvPr/>
        </p:nvGrpSpPr>
        <p:grpSpPr>
          <a:xfrm>
            <a:off x="6957789" y="2586791"/>
            <a:ext cx="422523" cy="756009"/>
            <a:chOff x="6957789" y="2814404"/>
            <a:chExt cx="422523" cy="756009"/>
          </a:xfrm>
        </p:grpSpPr>
        <p:sp>
          <p:nvSpPr>
            <p:cNvPr id="54" name="矩形 53">
              <a:extLst>
                <a:ext uri="{FF2B5EF4-FFF2-40B4-BE49-F238E27FC236}">
                  <a16:creationId xmlns:a16="http://schemas.microsoft.com/office/drawing/2014/main" id="{2A5B317B-E1E4-CFB6-3F15-1C4EBAA0C37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7" name="文字方塊 66">
              <a:extLst>
                <a:ext uri="{FF2B5EF4-FFF2-40B4-BE49-F238E27FC236}">
                  <a16:creationId xmlns:a16="http://schemas.microsoft.com/office/drawing/2014/main" id="{769081CE-31C5-153C-5ECB-90933C843546}"/>
                </a:ext>
              </a:extLst>
            </p:cNvPr>
            <p:cNvSpPr txBox="1"/>
            <p:nvPr/>
          </p:nvSpPr>
          <p:spPr>
            <a:xfrm>
              <a:off x="7164288" y="2814404"/>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68" name="文字方塊 67">
              <a:extLst>
                <a:ext uri="{FF2B5EF4-FFF2-40B4-BE49-F238E27FC236}">
                  <a16:creationId xmlns:a16="http://schemas.microsoft.com/office/drawing/2014/main" id="{78DE7BDD-A9EA-3A7F-E609-BD27E8869B6C}"/>
                </a:ext>
              </a:extLst>
            </p:cNvPr>
            <p:cNvSpPr txBox="1"/>
            <p:nvPr/>
          </p:nvSpPr>
          <p:spPr>
            <a:xfrm>
              <a:off x="6957789" y="3140968"/>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70" name="群組 69">
            <a:extLst>
              <a:ext uri="{FF2B5EF4-FFF2-40B4-BE49-F238E27FC236}">
                <a16:creationId xmlns:a16="http://schemas.microsoft.com/office/drawing/2014/main" id="{D68BE199-0510-9EBC-9404-4038D5CF7A02}"/>
              </a:ext>
            </a:extLst>
          </p:cNvPr>
          <p:cNvGrpSpPr/>
          <p:nvPr/>
        </p:nvGrpSpPr>
        <p:grpSpPr>
          <a:xfrm>
            <a:off x="3410120" y="2058651"/>
            <a:ext cx="422523" cy="650269"/>
            <a:chOff x="6957789" y="2841156"/>
            <a:chExt cx="422523" cy="729257"/>
          </a:xfrm>
        </p:grpSpPr>
        <p:sp>
          <p:nvSpPr>
            <p:cNvPr id="71" name="矩形 70">
              <a:extLst>
                <a:ext uri="{FF2B5EF4-FFF2-40B4-BE49-F238E27FC236}">
                  <a16:creationId xmlns:a16="http://schemas.microsoft.com/office/drawing/2014/main" id="{2B825F66-2300-FFE4-5C68-5606FAEEC24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2" name="文字方塊 71">
              <a:extLst>
                <a:ext uri="{FF2B5EF4-FFF2-40B4-BE49-F238E27FC236}">
                  <a16:creationId xmlns:a16="http://schemas.microsoft.com/office/drawing/2014/main" id="{8D5D350D-45F7-2684-0003-D57D1A46F7B6}"/>
                </a:ext>
              </a:extLst>
            </p:cNvPr>
            <p:cNvSpPr txBox="1"/>
            <p:nvPr/>
          </p:nvSpPr>
          <p:spPr>
            <a:xfrm>
              <a:off x="7199255" y="2841156"/>
              <a:ext cx="93132" cy="111417"/>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4" name="文字方塊 73">
              <a:extLst>
                <a:ext uri="{FF2B5EF4-FFF2-40B4-BE49-F238E27FC236}">
                  <a16:creationId xmlns:a16="http://schemas.microsoft.com/office/drawing/2014/main" id="{9FD319B0-2867-85D3-C938-6EDC2A38A1EA}"/>
                </a:ext>
              </a:extLst>
            </p:cNvPr>
            <p:cNvSpPr txBox="1"/>
            <p:nvPr/>
          </p:nvSpPr>
          <p:spPr>
            <a:xfrm>
              <a:off x="6957789" y="3129473"/>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sp>
        <p:nvSpPr>
          <p:cNvPr id="75" name="文字方塊 74">
            <a:extLst>
              <a:ext uri="{FF2B5EF4-FFF2-40B4-BE49-F238E27FC236}">
                <a16:creationId xmlns:a16="http://schemas.microsoft.com/office/drawing/2014/main" id="{A35CCDEF-998A-9444-CC04-EEE26F2BD0D4}"/>
              </a:ext>
            </a:extLst>
          </p:cNvPr>
          <p:cNvSpPr txBox="1"/>
          <p:nvPr/>
        </p:nvSpPr>
        <p:spPr>
          <a:xfrm>
            <a:off x="8154580" y="3266407"/>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Nx16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7" name="標題 1">
            <a:extLst>
              <a:ext uri="{FF2B5EF4-FFF2-40B4-BE49-F238E27FC236}">
                <a16:creationId xmlns:a16="http://schemas.microsoft.com/office/drawing/2014/main" id="{8B2E68CE-C9C3-EF7A-3426-00B00CD833A1}"/>
              </a:ext>
            </a:extLst>
          </p:cNvPr>
          <p:cNvSpPr txBox="1">
            <a:spLocks/>
          </p:cNvSpPr>
          <p:nvPr/>
        </p:nvSpPr>
        <p:spPr>
          <a:xfrm>
            <a:off x="6395080" y="4998765"/>
            <a:ext cx="2325650" cy="923330"/>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MoE</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Select the top2 experts,  mask the rest, and apply SoftMax to obtain the probability-based weights.</a:t>
            </a:r>
          </a:p>
        </p:txBody>
      </p:sp>
      <p:sp>
        <p:nvSpPr>
          <p:cNvPr id="78" name="矩形 77">
            <a:extLst>
              <a:ext uri="{FF2B5EF4-FFF2-40B4-BE49-F238E27FC236}">
                <a16:creationId xmlns:a16="http://schemas.microsoft.com/office/drawing/2014/main" id="{16B8AABB-E1F2-7038-FA86-34A5CFDEE7CB}"/>
              </a:ext>
            </a:extLst>
          </p:cNvPr>
          <p:cNvSpPr/>
          <p:nvPr/>
        </p:nvSpPr>
        <p:spPr>
          <a:xfrm>
            <a:off x="6807042" y="3577348"/>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6679788" y="4077072"/>
            <a:ext cx="437658"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(Gating)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0" name="矩形 79">
            <a:extLst>
              <a:ext uri="{FF2B5EF4-FFF2-40B4-BE49-F238E27FC236}">
                <a16:creationId xmlns:a16="http://schemas.microsoft.com/office/drawing/2014/main" id="{694316F9-88F8-9F8B-5AE8-A6AA8BE0EE16}"/>
              </a:ext>
            </a:extLst>
          </p:cNvPr>
          <p:cNvSpPr/>
          <p:nvPr/>
        </p:nvSpPr>
        <p:spPr>
          <a:xfrm>
            <a:off x="7396962" y="3580142"/>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T</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1" name="文字方塊 80">
            <a:extLst>
              <a:ext uri="{FF2B5EF4-FFF2-40B4-BE49-F238E27FC236}">
                <a16:creationId xmlns:a16="http://schemas.microsoft.com/office/drawing/2014/main" id="{6C7C03DF-3C0F-1F9E-3543-854BB2FA5F16}"/>
              </a:ext>
            </a:extLst>
          </p:cNvPr>
          <p:cNvSpPr txBox="1"/>
          <p:nvPr/>
        </p:nvSpPr>
        <p:spPr>
          <a:xfrm>
            <a:off x="7241906" y="4077072"/>
            <a:ext cx="498898" cy="321087"/>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(Mask)</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3" name="文字方塊 82">
            <a:extLst>
              <a:ext uri="{FF2B5EF4-FFF2-40B4-BE49-F238E27FC236}">
                <a16:creationId xmlns:a16="http://schemas.microsoft.com/office/drawing/2014/main" id="{90A7DC8E-8C44-F27F-B2F4-0BE094585587}"/>
              </a:ext>
            </a:extLst>
          </p:cNvPr>
          <p:cNvSpPr txBox="1"/>
          <p:nvPr/>
        </p:nvSpPr>
        <p:spPr>
          <a:xfrm>
            <a:off x="7011860" y="3597146"/>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Top 2</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84" name="矩形 83">
            <a:extLst>
              <a:ext uri="{FF2B5EF4-FFF2-40B4-BE49-F238E27FC236}">
                <a16:creationId xmlns:a16="http://schemas.microsoft.com/office/drawing/2014/main" id="{FA79592B-F846-5072-23CD-098E7D52A09D}"/>
              </a:ext>
            </a:extLst>
          </p:cNvPr>
          <p:cNvSpPr/>
          <p:nvPr/>
        </p:nvSpPr>
        <p:spPr>
          <a:xfrm>
            <a:off x="8229382" y="3573016"/>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5" name="文字方塊 84">
            <a:extLst>
              <a:ext uri="{FF2B5EF4-FFF2-40B4-BE49-F238E27FC236}">
                <a16:creationId xmlns:a16="http://schemas.microsoft.com/office/drawing/2014/main" id="{E64504FF-6FE5-6B94-EA2B-0332A58A986C}"/>
              </a:ext>
            </a:extLst>
          </p:cNvPr>
          <p:cNvSpPr txBox="1"/>
          <p:nvPr/>
        </p:nvSpPr>
        <p:spPr>
          <a:xfrm>
            <a:off x="8066249" y="4077072"/>
            <a:ext cx="502690"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br>
              <a:rPr lang="en-US" altLang="zh-TW" sz="1200" baseline="-25000" dirty="0">
                <a:latin typeface="微軟正黑體" panose="020B0604030504040204" pitchFamily="34" charset="-120"/>
                <a:ea typeface="微軟正黑體" panose="020B0604030504040204" pitchFamily="34" charset="-120"/>
              </a:rPr>
            </a:br>
            <a:r>
              <a:rPr lang="en-US" altLang="zh-TW" sz="1200" baseline="-25000" dirty="0">
                <a:latin typeface="微軟正黑體" panose="020B0604030504040204" pitchFamily="34" charset="-120"/>
                <a:ea typeface="微軟正黑體" panose="020B0604030504040204" pitchFamily="34" charset="-120"/>
              </a:rPr>
              <a:t>(Weighting)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700264" y="3590020"/>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100" name="矩形 99">
            <a:extLst>
              <a:ext uri="{FF2B5EF4-FFF2-40B4-BE49-F238E27FC236}">
                <a16:creationId xmlns:a16="http://schemas.microsoft.com/office/drawing/2014/main" id="{83A1B9A5-CEB6-032E-6AC0-EC0A575B5E3D}"/>
              </a:ext>
            </a:extLst>
          </p:cNvPr>
          <p:cNvSpPr/>
          <p:nvPr/>
        </p:nvSpPr>
        <p:spPr>
          <a:xfrm>
            <a:off x="3588157" y="1482198"/>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1" name="矩形 100">
            <a:extLst>
              <a:ext uri="{FF2B5EF4-FFF2-40B4-BE49-F238E27FC236}">
                <a16:creationId xmlns:a16="http://schemas.microsoft.com/office/drawing/2014/main" id="{9562C7A7-7CE5-4A39-D29E-759B1851AD76}"/>
              </a:ext>
            </a:extLst>
          </p:cNvPr>
          <p:cNvSpPr/>
          <p:nvPr/>
        </p:nvSpPr>
        <p:spPr>
          <a:xfrm>
            <a:off x="4106201" y="1471405"/>
            <a:ext cx="1089904"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400" dirty="0">
                <a:solidFill>
                  <a:schemeClr val="accent1">
                    <a:lumMod val="50000"/>
                  </a:schemeClr>
                </a:solidFill>
                <a:ea typeface="微軟正黑體" panose="020B0604030504040204" pitchFamily="34" charset="-120"/>
              </a:rPr>
              <a:t>Attention(X)</a:t>
            </a:r>
          </a:p>
        </p:txBody>
      </p:sp>
      <p:sp>
        <p:nvSpPr>
          <p:cNvPr id="104" name="文字方塊 103">
            <a:extLst>
              <a:ext uri="{FF2B5EF4-FFF2-40B4-BE49-F238E27FC236}">
                <a16:creationId xmlns:a16="http://schemas.microsoft.com/office/drawing/2014/main" id="{F8404CBC-FB22-42B7-FC1D-5F04EBF656CC}"/>
              </a:ext>
            </a:extLst>
          </p:cNvPr>
          <p:cNvSpPr txBox="1"/>
          <p:nvPr/>
        </p:nvSpPr>
        <p:spPr>
          <a:xfrm>
            <a:off x="3948197" y="1594942"/>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07" name="文字方塊 106">
            <a:extLst>
              <a:ext uri="{FF2B5EF4-FFF2-40B4-BE49-F238E27FC236}">
                <a16:creationId xmlns:a16="http://schemas.microsoft.com/office/drawing/2014/main" id="{3C11C7D8-386A-92BD-9B02-1EB1DA57660F}"/>
              </a:ext>
            </a:extLst>
          </p:cNvPr>
          <p:cNvSpPr txBox="1"/>
          <p:nvPr/>
        </p:nvSpPr>
        <p:spPr>
          <a:xfrm>
            <a:off x="3412038" y="1548996"/>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22" name="矩形 121">
            <a:extLst>
              <a:ext uri="{FF2B5EF4-FFF2-40B4-BE49-F238E27FC236}">
                <a16:creationId xmlns:a16="http://schemas.microsoft.com/office/drawing/2014/main" id="{D8D9A589-D7BD-E59E-46E1-F9EE87A70466}"/>
              </a:ext>
            </a:extLst>
          </p:cNvPr>
          <p:cNvSpPr/>
          <p:nvPr/>
        </p:nvSpPr>
        <p:spPr>
          <a:xfrm>
            <a:off x="6621175" y="4581128"/>
            <a:ext cx="1271891" cy="322650"/>
          </a:xfrm>
          <a:prstGeom prst="rect">
            <a:avLst/>
          </a:prstGeom>
          <a:solidFill>
            <a:schemeClr val="accent1">
              <a:lumMod val="20000"/>
              <a:lumOff val="80000"/>
              <a:alpha val="20000"/>
            </a:schemeClr>
          </a:solidFill>
          <a:ln w="28575">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FFN1(x)*k1</a:t>
            </a:r>
          </a:p>
        </p:txBody>
      </p:sp>
      <p:sp>
        <p:nvSpPr>
          <p:cNvPr id="123" name="矩形 122">
            <a:extLst>
              <a:ext uri="{FF2B5EF4-FFF2-40B4-BE49-F238E27FC236}">
                <a16:creationId xmlns:a16="http://schemas.microsoft.com/office/drawing/2014/main" id="{9EA4E8C7-AE21-6B7F-9744-DB5030A39301}"/>
              </a:ext>
            </a:extLst>
          </p:cNvPr>
          <p:cNvSpPr/>
          <p:nvPr/>
        </p:nvSpPr>
        <p:spPr>
          <a:xfrm>
            <a:off x="7975833" y="4581128"/>
            <a:ext cx="744897" cy="322650"/>
          </a:xfrm>
          <a:prstGeom prst="rect">
            <a:avLst/>
          </a:prstGeom>
          <a:solidFill>
            <a:schemeClr val="accent1">
              <a:lumMod val="20000"/>
              <a:lumOff val="80000"/>
              <a:alpha val="20000"/>
            </a:schemeClr>
          </a:solidFill>
          <a:ln w="28575">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FFN2(x)*k2</a:t>
            </a:r>
          </a:p>
        </p:txBody>
      </p:sp>
      <p:sp>
        <p:nvSpPr>
          <p:cNvPr id="126" name="標題 1">
            <a:extLst>
              <a:ext uri="{FF2B5EF4-FFF2-40B4-BE49-F238E27FC236}">
                <a16:creationId xmlns:a16="http://schemas.microsoft.com/office/drawing/2014/main" id="{8053E3DC-D7CF-1F33-067D-7B79C1E2C44E}"/>
              </a:ext>
            </a:extLst>
          </p:cNvPr>
          <p:cNvSpPr txBox="1">
            <a:spLocks/>
          </p:cNvSpPr>
          <p:nvPr/>
        </p:nvSpPr>
        <p:spPr>
          <a:xfrm>
            <a:off x="828147" y="5055019"/>
            <a:ext cx="647509" cy="369332"/>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Predict</a:t>
            </a:r>
            <a:r>
              <a:rPr lang="zh-TW" altLang="en-US"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Next</a:t>
            </a:r>
          </a:p>
        </p:txBody>
      </p:sp>
      <p:sp>
        <p:nvSpPr>
          <p:cNvPr id="18" name="矩形 17">
            <a:extLst>
              <a:ext uri="{FF2B5EF4-FFF2-40B4-BE49-F238E27FC236}">
                <a16:creationId xmlns:a16="http://schemas.microsoft.com/office/drawing/2014/main" id="{4FBC2DEF-1F94-22F9-5C1B-819E669197B3}"/>
              </a:ext>
            </a:extLst>
          </p:cNvPr>
          <p:cNvSpPr/>
          <p:nvPr/>
        </p:nvSpPr>
        <p:spPr>
          <a:xfrm rot="16200000">
            <a:off x="2270964" y="4412880"/>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38" name="文字方塊 37">
            <a:extLst>
              <a:ext uri="{FF2B5EF4-FFF2-40B4-BE49-F238E27FC236}">
                <a16:creationId xmlns:a16="http://schemas.microsoft.com/office/drawing/2014/main" id="{B31B93FF-E34A-6029-C1FD-88A4C54C0C65}"/>
              </a:ext>
            </a:extLst>
          </p:cNvPr>
          <p:cNvSpPr txBox="1"/>
          <p:nvPr/>
        </p:nvSpPr>
        <p:spPr>
          <a:xfrm>
            <a:off x="1887071" y="5359452"/>
            <a:ext cx="236657" cy="278693"/>
          </a:xfrm>
          <a:prstGeom prst="rect">
            <a:avLst/>
          </a:prstGeom>
          <a:noFill/>
        </p:spPr>
        <p:txBody>
          <a:bodyPr wrap="none" lIns="0" tIns="0" rIns="0" bIns="0" rtlCol="0" anchor="ctr" anchorCtr="1">
            <a:noAutofit/>
          </a:bodyPr>
          <a:lstStyle/>
          <a:p>
            <a:pPr algn="ctr"/>
            <a:r>
              <a:rPr lang="en-US" altLang="zh-TW" sz="1400" dirty="0"/>
              <a:t>M</a:t>
            </a:r>
            <a:endParaRPr lang="zh-TW" altLang="en-US" sz="1400" dirty="0"/>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02466" y="6010628"/>
            <a:ext cx="93132" cy="99349"/>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41" name="右中括弧 40">
            <a:extLst>
              <a:ext uri="{FF2B5EF4-FFF2-40B4-BE49-F238E27FC236}">
                <a16:creationId xmlns:a16="http://schemas.microsoft.com/office/drawing/2014/main" id="{EB94D0DA-B01F-F4EF-6BE3-539B135BC76E}"/>
              </a:ext>
            </a:extLst>
          </p:cNvPr>
          <p:cNvSpPr/>
          <p:nvPr/>
        </p:nvSpPr>
        <p:spPr>
          <a:xfrm rot="5400000">
            <a:off x="2299756" y="5818047"/>
            <a:ext cx="54607" cy="37373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405568978"/>
              </p:ext>
            </p:extLst>
          </p:nvPr>
        </p:nvGraphicFramePr>
        <p:xfrm>
          <a:off x="6485453" y="1124744"/>
          <a:ext cx="2437328" cy="1072326"/>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stCxn id="10" idx="3"/>
            <a:endCxn id="122" idx="1"/>
          </p:cNvCxnSpPr>
          <p:nvPr/>
        </p:nvCxnSpPr>
        <p:spPr>
          <a:xfrm>
            <a:off x="5974803" y="3623992"/>
            <a:ext cx="646372" cy="1118461"/>
          </a:xfrm>
          <a:prstGeom prst="bentConnector3">
            <a:avLst/>
          </a:prstGeom>
          <a:ln w="28575">
            <a:solidFill>
              <a:schemeClr val="accent1">
                <a:lumMod val="60000"/>
                <a:lumOff val="40000"/>
              </a:schemeClr>
            </a:solidFill>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74A6BFFF-3C96-54A3-05EC-1724E7A25791}"/>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solidFill>
                  <a:srgbClr val="FF0000"/>
                </a:solidFill>
              </a:rPr>
              <a:t> Rotary of PE</a:t>
            </a:r>
          </a:p>
          <a:p>
            <a:pPr>
              <a:lnSpc>
                <a:spcPts val="1200"/>
              </a:lnSpc>
              <a:buFont typeface="Wingdings" panose="05000000000000000000" pitchFamily="2" charset="2"/>
              <a:buChar char="Ø"/>
            </a:pPr>
            <a:r>
              <a:rPr lang="en-US" altLang="zh-TW" sz="1000" b="1" dirty="0">
                <a:solidFill>
                  <a:srgbClr val="FF0000"/>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sp>
        <p:nvSpPr>
          <p:cNvPr id="70" name="文字方塊 69">
            <a:extLst>
              <a:ext uri="{FF2B5EF4-FFF2-40B4-BE49-F238E27FC236}">
                <a16:creationId xmlns:a16="http://schemas.microsoft.com/office/drawing/2014/main" id="{A4C9DA8A-05B6-BDA8-3C38-486B531A7C71}"/>
              </a:ext>
            </a:extLst>
          </p:cNvPr>
          <p:cNvSpPr txBox="1"/>
          <p:nvPr/>
        </p:nvSpPr>
        <p:spPr>
          <a:xfrm>
            <a:off x="7802582" y="2204863"/>
            <a:ext cx="1161905" cy="455241"/>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Cross </a:t>
            </a:r>
            <a:r>
              <a:rPr lang="en-US" altLang="zh-TW" sz="1100" b="1" dirty="0">
                <a:latin typeface="Gadugi" panose="020B0502040204020203" pitchFamily="34" charset="0"/>
                <a:ea typeface="Gadugi" panose="020B0502040204020203" pitchFamily="34" charset="0"/>
                <a:cs typeface="ADLaM Display" panose="02010000000000000000" pitchFamily="2" charset="0"/>
              </a:rPr>
              <a:t>Entropy</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Loss </a:t>
            </a:r>
          </a:p>
        </p:txBody>
      </p:sp>
      <p:cxnSp>
        <p:nvCxnSpPr>
          <p:cNvPr id="73" name="接點: 肘形 72">
            <a:extLst>
              <a:ext uri="{FF2B5EF4-FFF2-40B4-BE49-F238E27FC236}">
                <a16:creationId xmlns:a16="http://schemas.microsoft.com/office/drawing/2014/main" id="{216E02E9-A3CE-76E5-497E-3DD85BBC6AB6}"/>
              </a:ext>
            </a:extLst>
          </p:cNvPr>
          <p:cNvCxnSpPr>
            <a:cxnSpLocks/>
            <a:stCxn id="83" idx="2"/>
            <a:endCxn id="109" idx="3"/>
          </p:cNvCxnSpPr>
          <p:nvPr/>
        </p:nvCxnSpPr>
        <p:spPr>
          <a:xfrm rot="5400000">
            <a:off x="7848852" y="3119194"/>
            <a:ext cx="440902" cy="628466"/>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70" idx="0"/>
          </p:cNvCxnSpPr>
          <p:nvPr/>
        </p:nvCxnSpPr>
        <p:spPr>
          <a:xfrm>
            <a:off x="7517892" y="1599888"/>
            <a:ext cx="865643" cy="604975"/>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83" name="文字方塊 82">
            <a:extLst>
              <a:ext uri="{FF2B5EF4-FFF2-40B4-BE49-F238E27FC236}">
                <a16:creationId xmlns:a16="http://schemas.microsoft.com/office/drawing/2014/main" id="{6832CADE-A012-7F64-DDAB-6EF23DC2DFCB}"/>
              </a:ext>
            </a:extLst>
          </p:cNvPr>
          <p:cNvSpPr txBox="1"/>
          <p:nvPr/>
        </p:nvSpPr>
        <p:spPr>
          <a:xfrm>
            <a:off x="7802583" y="2945574"/>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85" name="直線單箭頭接點 84">
            <a:extLst>
              <a:ext uri="{FF2B5EF4-FFF2-40B4-BE49-F238E27FC236}">
                <a16:creationId xmlns:a16="http://schemas.microsoft.com/office/drawing/2014/main" id="{9DC51F15-272D-4DF3-7D78-2712B4CA881C}"/>
              </a:ext>
            </a:extLst>
          </p:cNvPr>
          <p:cNvCxnSpPr>
            <a:cxnSpLocks/>
            <a:stCxn id="70" idx="2"/>
            <a:endCxn id="83" idx="0"/>
          </p:cNvCxnSpPr>
          <p:nvPr/>
        </p:nvCxnSpPr>
        <p:spPr>
          <a:xfrm>
            <a:off x="8383535" y="2660104"/>
            <a:ext cx="1" cy="285470"/>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56178"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3470270018"/>
              </p:ext>
            </p:extLst>
          </p:nvPr>
        </p:nvGraphicFramePr>
        <p:xfrm>
          <a:off x="752064" y="3800430"/>
          <a:ext cx="885943" cy="351587"/>
        </p:xfrm>
        <a:graphic>
          <a:graphicData uri="http://schemas.openxmlformats.org/drawingml/2006/table">
            <a:tbl>
              <a:tblPr firstRow="1" bandRow="1">
                <a:tableStyleId>{5C22544A-7EE6-4342-B048-85BDC9FD1C3A}</a:tableStyleId>
              </a:tblPr>
              <a:tblGrid>
                <a:gridCol w="298956">
                  <a:extLst>
                    <a:ext uri="{9D8B030D-6E8A-4147-A177-3AD203B41FA5}">
                      <a16:colId xmlns:a16="http://schemas.microsoft.com/office/drawing/2014/main" val="871242339"/>
                    </a:ext>
                  </a:extLst>
                </a:gridCol>
                <a:gridCol w="298956">
                  <a:extLst>
                    <a:ext uri="{9D8B030D-6E8A-4147-A177-3AD203B41FA5}">
                      <a16:colId xmlns:a16="http://schemas.microsoft.com/office/drawing/2014/main" val="506512337"/>
                    </a:ext>
                  </a:extLst>
                </a:gridCol>
                <a:gridCol w="288031">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69" name="表格 68">
            <a:extLst>
              <a:ext uri="{FF2B5EF4-FFF2-40B4-BE49-F238E27FC236}">
                <a16:creationId xmlns:a16="http://schemas.microsoft.com/office/drawing/2014/main" id="{8B4418A1-E4AD-8FEF-A77F-899A236E61C8}"/>
              </a:ext>
            </a:extLst>
          </p:cNvPr>
          <p:cNvGraphicFramePr>
            <a:graphicFrameLocks noGrp="1"/>
          </p:cNvGraphicFramePr>
          <p:nvPr>
            <p:extLst>
              <p:ext uri="{D42A27DB-BD31-4B8C-83A1-F6EECF244321}">
                <p14:modId xmlns:p14="http://schemas.microsoft.com/office/powerpoint/2010/main" val="3425890023"/>
              </p:ext>
            </p:extLst>
          </p:nvPr>
        </p:nvGraphicFramePr>
        <p:xfrm>
          <a:off x="7612304" y="6030383"/>
          <a:ext cx="913998" cy="357442"/>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2970587"/>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1524551407"/>
              </p:ext>
            </p:extLst>
          </p:nvPr>
        </p:nvGraphicFramePr>
        <p:xfrm>
          <a:off x="2884691" y="3429000"/>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1586765869"/>
              </p:ext>
            </p:extLst>
          </p:nvPr>
        </p:nvGraphicFramePr>
        <p:xfrm>
          <a:off x="501797" y="247323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3287874583"/>
              </p:ext>
            </p:extLst>
          </p:nvPr>
        </p:nvGraphicFramePr>
        <p:xfrm>
          <a:off x="1619672" y="3406268"/>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7" name="接點: 肘形 6">
            <a:extLst>
              <a:ext uri="{FF2B5EF4-FFF2-40B4-BE49-F238E27FC236}">
                <a16:creationId xmlns:a16="http://schemas.microsoft.com/office/drawing/2014/main" id="{0FBFD4B8-2ACD-2B13-2F27-1AE2E46D7127}"/>
              </a:ext>
            </a:extLst>
          </p:cNvPr>
          <p:cNvCxnSpPr>
            <a:cxnSpLocks/>
            <a:stCxn id="5" idx="2"/>
            <a:endCxn id="75" idx="0"/>
          </p:cNvCxnSpPr>
          <p:nvPr/>
        </p:nvCxnSpPr>
        <p:spPr>
          <a:xfrm rot="5400000">
            <a:off x="2960678" y="-70980"/>
            <a:ext cx="320231" cy="4768189"/>
          </a:xfrm>
          <a:prstGeom prst="bentConnector3">
            <a:avLst>
              <a:gd name="adj1" fmla="val 50000"/>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73930B67-3DCF-4F15-8D3D-46CC28AAEDC9}"/>
              </a:ext>
            </a:extLst>
          </p:cNvPr>
          <p:cNvSpPr/>
          <p:nvPr/>
        </p:nvSpPr>
        <p:spPr>
          <a:xfrm>
            <a:off x="501797" y="3140295"/>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971600" y="2791284"/>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577368" y="3914069"/>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1" name="文字方塊 30">
            <a:extLst>
              <a:ext uri="{FF2B5EF4-FFF2-40B4-BE49-F238E27FC236}">
                <a16:creationId xmlns:a16="http://schemas.microsoft.com/office/drawing/2014/main" id="{BD8CAE78-2E78-2F24-1CCA-AFD47DCC70AF}"/>
              </a:ext>
            </a:extLst>
          </p:cNvPr>
          <p:cNvSpPr txBox="1"/>
          <p:nvPr/>
        </p:nvSpPr>
        <p:spPr>
          <a:xfrm>
            <a:off x="385159" y="5751563"/>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x</a:t>
            </a:r>
            <a:endParaRPr lang="zh-TW" altLang="en-US" sz="1200" dirty="0">
              <a:latin typeface="ADLaM Display" panose="02010000000000000000" pitchFamily="2"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3516578" y="5795485"/>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3" idx="3"/>
          </p:cNvCxnSpPr>
          <p:nvPr/>
        </p:nvCxnSpPr>
        <p:spPr>
          <a:xfrm rot="5400000">
            <a:off x="3597087" y="5051812"/>
            <a:ext cx="1883676" cy="189515"/>
          </a:xfrm>
          <a:prstGeom prst="bentConnector2">
            <a:avLst/>
          </a:prstGeom>
          <a:ln w="25400">
            <a:solidFill>
              <a:schemeClr val="accent2"/>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4134421" y="3800430"/>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837178" y="3800430"/>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3" idx="1"/>
          </p:cNvCxnSpPr>
          <p:nvPr/>
        </p:nvCxnSpPr>
        <p:spPr>
          <a:xfrm rot="16200000" flipH="1">
            <a:off x="2479671" y="5051500"/>
            <a:ext cx="1883676" cy="190138"/>
          </a:xfrm>
          <a:prstGeom prst="bentConnector2">
            <a:avLst/>
          </a:prstGeom>
          <a:ln w="25400">
            <a:solidFill>
              <a:schemeClr val="accent2"/>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3030770274"/>
              </p:ext>
            </p:extLst>
          </p:nvPr>
        </p:nvGraphicFramePr>
        <p:xfrm>
          <a:off x="1316370" y="4452878"/>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4106639476"/>
              </p:ext>
            </p:extLst>
          </p:nvPr>
        </p:nvGraphicFramePr>
        <p:xfrm>
          <a:off x="2887336" y="4365104"/>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1971764717"/>
              </p:ext>
            </p:extLst>
          </p:nvPr>
        </p:nvGraphicFramePr>
        <p:xfrm>
          <a:off x="1313725" y="4908925"/>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2726285138"/>
              </p:ext>
            </p:extLst>
          </p:nvPr>
        </p:nvGraphicFramePr>
        <p:xfrm>
          <a:off x="2884691" y="482115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849371348"/>
              </p:ext>
            </p:extLst>
          </p:nvPr>
        </p:nvGraphicFramePr>
        <p:xfrm>
          <a:off x="1313725" y="535414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1499210811"/>
              </p:ext>
            </p:extLst>
          </p:nvPr>
        </p:nvGraphicFramePr>
        <p:xfrm>
          <a:off x="2884691" y="526636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sp>
        <p:nvSpPr>
          <p:cNvPr id="116" name="箭號: 向下 115">
            <a:extLst>
              <a:ext uri="{FF2B5EF4-FFF2-40B4-BE49-F238E27FC236}">
                <a16:creationId xmlns:a16="http://schemas.microsoft.com/office/drawing/2014/main" id="{3946F719-9781-7D5F-52EF-BD9B0585F8BF}"/>
              </a:ext>
            </a:extLst>
          </p:cNvPr>
          <p:cNvSpPr/>
          <p:nvPr/>
        </p:nvSpPr>
        <p:spPr>
          <a:xfrm rot="5400000">
            <a:off x="3127327" y="60887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20" name="接點: 肘形 119">
            <a:extLst>
              <a:ext uri="{FF2B5EF4-FFF2-40B4-BE49-F238E27FC236}">
                <a16:creationId xmlns:a16="http://schemas.microsoft.com/office/drawing/2014/main" id="{ABFA85FE-B810-5BDE-E5FD-A0E932057638}"/>
              </a:ext>
            </a:extLst>
          </p:cNvPr>
          <p:cNvCxnSpPr>
            <a:cxnSpLocks/>
            <a:stCxn id="116" idx="2"/>
            <a:endCxn id="117" idx="2"/>
          </p:cNvCxnSpPr>
          <p:nvPr/>
        </p:nvCxnSpPr>
        <p:spPr>
          <a:xfrm rot="10800000">
            <a:off x="1923436" y="5711583"/>
            <a:ext cx="1199377" cy="489726"/>
          </a:xfrm>
          <a:prstGeom prst="bentConnector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3395099" y="4731277"/>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577368" y="4509120"/>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555776" y="4952201"/>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555776" y="537321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ACF18A52-8D6D-846D-45B8-1A03D18B2B5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Basic Model</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5" name="文字方塊 4">
            <a:extLst>
              <a:ext uri="{FF2B5EF4-FFF2-40B4-BE49-F238E27FC236}">
                <a16:creationId xmlns:a16="http://schemas.microsoft.com/office/drawing/2014/main" id="{71AEB47B-29BC-2902-23BF-A4AE3E97C795}"/>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solidFill>
                  <a:schemeClr val="bg1">
                    <a:lumMod val="65000"/>
                  </a:schemeClr>
                </a:solidFill>
                <a:effectLst/>
              </a:rPr>
              <a:t> Overview</a:t>
            </a:r>
            <a:endParaRPr lang="en-US" altLang="zh-TW" sz="1000" u="none" strike="noStrike" dirty="0">
              <a:solidFill>
                <a:schemeClr val="bg1">
                  <a:lumMod val="65000"/>
                </a:schemeClr>
              </a:solidFill>
              <a:effectLst/>
            </a:endParaRPr>
          </a:p>
          <a:p>
            <a:pPr marL="111125" lvl="3">
              <a:lnSpc>
                <a:spcPts val="1200"/>
              </a:lnSpc>
              <a:buFont typeface="Arial" panose="020B0604020202020204" pitchFamily="34" charset="0"/>
              <a:buChar char="•"/>
            </a:pPr>
            <a:r>
              <a:rPr lang="zh-TW" altLang="en-US" sz="1000" dirty="0">
                <a:solidFill>
                  <a:schemeClr val="bg1">
                    <a:lumMod val="65000"/>
                  </a:schemeClr>
                </a:solidFill>
              </a:rPr>
              <a:t> </a:t>
            </a:r>
            <a:r>
              <a:rPr lang="en-US" altLang="zh-TW" sz="1000" dirty="0">
                <a:solidFill>
                  <a:schemeClr val="bg1">
                    <a:lumMod val="65000"/>
                  </a:schemeClr>
                </a:solidFill>
              </a:rPr>
              <a:t>ML</a:t>
            </a:r>
          </a:p>
          <a:p>
            <a:pPr marL="111125" lvl="2">
              <a:lnSpc>
                <a:spcPts val="1200"/>
              </a:lnSpc>
              <a:buFont typeface="Arial" panose="020B0604020202020204" pitchFamily="34" charset="0"/>
              <a:buChar char="•"/>
            </a:pPr>
            <a:r>
              <a:rPr lang="en-US" altLang="zh-TW" sz="1000" dirty="0">
                <a:solidFill>
                  <a:schemeClr val="bg1">
                    <a:lumMod val="65000"/>
                  </a:schemeClr>
                </a:solidFill>
              </a:rPr>
              <a:t>Training Stages</a:t>
            </a:r>
            <a:endParaRPr lang="en-US" altLang="zh-TW" sz="1000" u="none" strike="noStrike" dirty="0">
              <a:solidFill>
                <a:schemeClr val="bg1">
                  <a:lumMod val="65000"/>
                </a:schemeClr>
              </a:solidFill>
              <a:effectLst/>
            </a:endParaRPr>
          </a:p>
          <a:p>
            <a:pPr>
              <a:lnSpc>
                <a:spcPts val="1200"/>
              </a:lnSpc>
              <a:buFont typeface="Wingdings" panose="05000000000000000000" pitchFamily="2" charset="2"/>
              <a:buChar char="Ø"/>
            </a:pPr>
            <a:r>
              <a:rPr lang="en-US" altLang="zh-TW" sz="1000" b="1" dirty="0">
                <a:solidFill>
                  <a:schemeClr val="bg1">
                    <a:lumMod val="65000"/>
                  </a:schemeClr>
                </a:solidFill>
              </a:rPr>
              <a:t> Transformer</a:t>
            </a:r>
            <a:endParaRPr lang="en-US" altLang="zh-TW" sz="1000" dirty="0">
              <a:solidFill>
                <a:schemeClr val="bg1">
                  <a:lumMod val="65000"/>
                </a:schemeClr>
              </a:solidFill>
            </a:endParaRPr>
          </a:p>
          <a:p>
            <a:pPr marL="111125" lvl="2">
              <a:lnSpc>
                <a:spcPts val="1200"/>
              </a:lnSpc>
              <a:buFont typeface="Arial" panose="020B0604020202020204" pitchFamily="34" charset="0"/>
              <a:buChar char="•"/>
            </a:pPr>
            <a:r>
              <a:rPr lang="en-US" altLang="zh-TW" sz="1000" dirty="0">
                <a:solidFill>
                  <a:schemeClr val="bg1">
                    <a:lumMod val="65000"/>
                  </a:schemeClr>
                </a:solidFill>
              </a:rPr>
              <a:t> Program Flow</a:t>
            </a:r>
          </a:p>
          <a:p>
            <a:pPr marL="111125" lvl="2">
              <a:lnSpc>
                <a:spcPts val="1200"/>
              </a:lnSpc>
              <a:buFont typeface="Arial" panose="020B0604020202020204" pitchFamily="34" charset="0"/>
              <a:buChar char="•"/>
            </a:pPr>
            <a:r>
              <a:rPr lang="en-US" altLang="zh-TW" sz="1000" dirty="0">
                <a:solidFill>
                  <a:schemeClr val="bg1">
                    <a:lumMod val="65000"/>
                  </a:schemeClr>
                </a:solidFill>
              </a:rPr>
              <a:t> Self-Attention</a:t>
            </a:r>
          </a:p>
          <a:p>
            <a:pPr marL="111125" lvl="2">
              <a:lnSpc>
                <a:spcPts val="1200"/>
              </a:lnSpc>
              <a:buFont typeface="Arial" panose="020B0604020202020204" pitchFamily="34" charset="0"/>
              <a:buChar char="•"/>
            </a:pPr>
            <a:r>
              <a:rPr lang="en-US" altLang="zh-TW" sz="1000" dirty="0">
                <a:solidFill>
                  <a:schemeClr val="bg1">
                    <a:lumMod val="65000"/>
                  </a:schemeClr>
                </a:solidFill>
              </a:rPr>
              <a:t> FFNN</a:t>
            </a:r>
          </a:p>
          <a:p>
            <a:pPr marL="111125" lvl="2">
              <a:lnSpc>
                <a:spcPts val="1200"/>
              </a:lnSpc>
              <a:buFont typeface="Arial" panose="020B0604020202020204" pitchFamily="34" charset="0"/>
              <a:buChar char="•"/>
            </a:pPr>
            <a:r>
              <a:rPr lang="en-US" altLang="zh-TW" sz="1000" dirty="0">
                <a:solidFill>
                  <a:schemeClr val="bg1">
                    <a:lumMod val="65000"/>
                  </a:schemeClr>
                </a:solidFill>
              </a:rPr>
              <a:t> Token Embedding</a:t>
            </a:r>
          </a:p>
          <a:p>
            <a:pPr marL="111125" lvl="2">
              <a:lnSpc>
                <a:spcPts val="1200"/>
              </a:lnSpc>
              <a:buFont typeface="Arial" panose="020B0604020202020204" pitchFamily="34" charset="0"/>
              <a:buChar char="•"/>
            </a:pPr>
            <a:r>
              <a:rPr lang="en-US" altLang="zh-TW" sz="1000" dirty="0">
                <a:solidFill>
                  <a:schemeClr val="bg1">
                    <a:lumMod val="65000"/>
                  </a:schemeClr>
                </a:solidFill>
              </a:rPr>
              <a:t> Rotary of PE</a:t>
            </a:r>
          </a:p>
          <a:p>
            <a:pPr>
              <a:lnSpc>
                <a:spcPts val="1200"/>
              </a:lnSpc>
              <a:buFont typeface="Wingdings" panose="05000000000000000000" pitchFamily="2" charset="2"/>
              <a:buChar char="Ø"/>
            </a:pPr>
            <a:r>
              <a:rPr lang="en-US" altLang="zh-TW" sz="1000" b="1" dirty="0">
                <a:solidFill>
                  <a:schemeClr val="bg1">
                    <a:lumMod val="65000"/>
                  </a:schemeClr>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rgbClr val="FF0000"/>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rPr>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schemeClr val="bg1">
                    <a:lumMod val="65000"/>
                  </a:schemeClr>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solidFill>
                  <a:schemeClr val="bg1">
                    <a:lumMod val="65000"/>
                  </a:schemeClr>
                </a:solidFill>
              </a:rPr>
              <a:t> AI Runtime</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MCP</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RAG</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LLM</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Trend Analysis </a:t>
            </a:r>
          </a:p>
          <a:p>
            <a:pPr>
              <a:lnSpc>
                <a:spcPts val="1200"/>
              </a:lnSpc>
              <a:buFont typeface="Wingdings" panose="05000000000000000000" pitchFamily="2" charset="2"/>
              <a:buChar char="Ø"/>
            </a:pPr>
            <a:r>
              <a:rPr lang="en-US" altLang="zh-TW" sz="1000" b="1" dirty="0">
                <a:solidFill>
                  <a:schemeClr val="bg1">
                    <a:lumMod val="65000"/>
                  </a:schemeClr>
                </a:solidFill>
              </a:rPr>
              <a:t> Gemma 3</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Supervised FT</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LoRA</a:t>
            </a:r>
          </a:p>
          <a:p>
            <a:pPr>
              <a:lnSpc>
                <a:spcPts val="1200"/>
              </a:lnSpc>
              <a:buFont typeface="Wingdings" panose="05000000000000000000" pitchFamily="2" charset="2"/>
              <a:buChar char="Ø"/>
            </a:pPr>
            <a:r>
              <a:rPr lang="en-US" altLang="zh-TW" sz="1000" b="1" dirty="0">
                <a:solidFill>
                  <a:schemeClr val="bg1">
                    <a:lumMod val="65000"/>
                  </a:schemeClr>
                </a:solidFill>
              </a:rPr>
              <a:t> Gemma 4</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PLE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Comparison</a:t>
            </a:r>
          </a:p>
          <a:p>
            <a:pPr>
              <a:lnSpc>
                <a:spcPts val="1200"/>
              </a:lnSpc>
              <a:buFont typeface="Wingdings" panose="05000000000000000000" pitchFamily="2" charset="2"/>
              <a:buChar char="Ø"/>
            </a:pPr>
            <a:r>
              <a:rPr lang="en-US" altLang="zh-TW" sz="1000" b="1" dirty="0">
                <a:solidFill>
                  <a:schemeClr val="bg1">
                    <a:lumMod val="65000"/>
                  </a:schemeClr>
                </a:solidFill>
              </a:rPr>
              <a:t> Conclusion</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Frameworks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Practices</a:t>
            </a:r>
          </a:p>
        </p:txBody>
      </p:sp>
      <p:sp>
        <p:nvSpPr>
          <p:cNvPr id="4" name="文字方塊 3">
            <a:extLst>
              <a:ext uri="{FF2B5EF4-FFF2-40B4-BE49-F238E27FC236}">
                <a16:creationId xmlns:a16="http://schemas.microsoft.com/office/drawing/2014/main" id="{9C65FC41-9B81-BD6F-59CA-85E2583593AD}"/>
              </a:ext>
            </a:extLst>
          </p:cNvPr>
          <p:cNvSpPr txBox="1"/>
          <p:nvPr/>
        </p:nvSpPr>
        <p:spPr>
          <a:xfrm>
            <a:off x="3542120" y="1359745"/>
            <a:ext cx="432047"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2"/>
                </a:solidFill>
              </a:rPr>
              <a:t>2</a:t>
            </a:r>
            <a:r>
              <a:rPr lang="en-US" altLang="zh-TW" sz="1400" b="1" u="none" strike="noStrike" dirty="0">
                <a:solidFill>
                  <a:schemeClr val="accent2"/>
                </a:solidFill>
                <a:effectLst/>
              </a:rPr>
              <a:t> x 3</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10" name="表格 9">
            <a:extLst>
              <a:ext uri="{FF2B5EF4-FFF2-40B4-BE49-F238E27FC236}">
                <a16:creationId xmlns:a16="http://schemas.microsoft.com/office/drawing/2014/main" id="{AA56501A-A6C8-8032-3005-81BC6EE1173B}"/>
              </a:ext>
            </a:extLst>
          </p:cNvPr>
          <p:cNvGraphicFramePr>
            <a:graphicFrameLocks noGrp="1"/>
          </p:cNvGraphicFramePr>
          <p:nvPr>
            <p:extLst>
              <p:ext uri="{D42A27DB-BD31-4B8C-83A1-F6EECF244321}">
                <p14:modId xmlns:p14="http://schemas.microsoft.com/office/powerpoint/2010/main" val="280726626"/>
              </p:ext>
            </p:extLst>
          </p:nvPr>
        </p:nvGraphicFramePr>
        <p:xfrm>
          <a:off x="1906337" y="3097180"/>
          <a:ext cx="1178620" cy="536163"/>
        </p:xfrm>
        <a:graphic>
          <a:graphicData uri="http://schemas.openxmlformats.org/drawingml/2006/table">
            <a:tbl>
              <a:tblPr firstRow="1" bandRow="1">
                <a:tableStyleId>{5C22544A-7EE6-4342-B048-85BDC9FD1C3A}</a:tableStyleId>
              </a:tblPr>
              <a:tblGrid>
                <a:gridCol w="294655">
                  <a:extLst>
                    <a:ext uri="{9D8B030D-6E8A-4147-A177-3AD203B41FA5}">
                      <a16:colId xmlns:a16="http://schemas.microsoft.com/office/drawing/2014/main" val="2022031271"/>
                    </a:ext>
                  </a:extLst>
                </a:gridCol>
                <a:gridCol w="294655">
                  <a:extLst>
                    <a:ext uri="{9D8B030D-6E8A-4147-A177-3AD203B41FA5}">
                      <a16:colId xmlns:a16="http://schemas.microsoft.com/office/drawing/2014/main" val="871242339"/>
                    </a:ext>
                  </a:extLst>
                </a:gridCol>
                <a:gridCol w="294655">
                  <a:extLst>
                    <a:ext uri="{9D8B030D-6E8A-4147-A177-3AD203B41FA5}">
                      <a16:colId xmlns:a16="http://schemas.microsoft.com/office/drawing/2014/main" val="1424301285"/>
                    </a:ext>
                  </a:extLst>
                </a:gridCol>
                <a:gridCol w="294655">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Weight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4407666"/>
                  </a:ext>
                </a:extLst>
              </a:tr>
              <a:tr h="178721">
                <a:tc rowSpan="2">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4" name="文字方塊 13">
            <a:extLst>
              <a:ext uri="{FF2B5EF4-FFF2-40B4-BE49-F238E27FC236}">
                <a16:creationId xmlns:a16="http://schemas.microsoft.com/office/drawing/2014/main" id="{51308E05-3476-EB93-F12C-891ECFA2D15D}"/>
              </a:ext>
            </a:extLst>
          </p:cNvPr>
          <p:cNvSpPr txBox="1"/>
          <p:nvPr/>
        </p:nvSpPr>
        <p:spPr>
          <a:xfrm>
            <a:off x="2927770" y="1142852"/>
            <a:ext cx="404995"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a:t>
            </a:r>
            <a:r>
              <a:rPr lang="en-US" altLang="zh-TW" sz="1400" b="1" dirty="0">
                <a:solidFill>
                  <a:schemeClr val="tx1">
                    <a:lumMod val="65000"/>
                    <a:lumOff val="35000"/>
                  </a:schemeClr>
                </a:solidFill>
              </a:rPr>
              <a:t>2</a:t>
            </a:r>
            <a:endParaRPr lang="en-US" altLang="zh-TW" sz="1400" b="1" u="none" strike="noStrike" dirty="0">
              <a:solidFill>
                <a:schemeClr val="tx1">
                  <a:lumMod val="65000"/>
                  <a:lumOff val="35000"/>
                </a:schemeClr>
              </a:solidFill>
              <a:effectLst/>
            </a:endParaRPr>
          </a:p>
        </p:txBody>
      </p:sp>
      <p:sp>
        <p:nvSpPr>
          <p:cNvPr id="16" name="文字方塊 15">
            <a:extLst>
              <a:ext uri="{FF2B5EF4-FFF2-40B4-BE49-F238E27FC236}">
                <a16:creationId xmlns:a16="http://schemas.microsoft.com/office/drawing/2014/main" id="{AC421B7C-6175-8506-5560-288071F66DF2}"/>
              </a:ext>
            </a:extLst>
          </p:cNvPr>
          <p:cNvSpPr txBox="1"/>
          <p:nvPr/>
        </p:nvSpPr>
        <p:spPr>
          <a:xfrm>
            <a:off x="4938264" y="1467266"/>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3</a:t>
            </a:r>
          </a:p>
          <a:p>
            <a:pPr algn="ctr">
              <a:lnSpc>
                <a:spcPts val="1400"/>
              </a:lnSpc>
              <a:buNone/>
            </a:pPr>
            <a:endParaRPr lang="en-US" altLang="zh-TW" sz="1200" dirty="0">
              <a:solidFill>
                <a:schemeClr val="tx1">
                  <a:lumMod val="65000"/>
                  <a:lumOff val="35000"/>
                </a:schemeClr>
              </a:solidFill>
            </a:endParaRPr>
          </a:p>
        </p:txBody>
      </p:sp>
      <p:graphicFrame>
        <p:nvGraphicFramePr>
          <p:cNvPr id="53" name="表格 52">
            <a:extLst>
              <a:ext uri="{FF2B5EF4-FFF2-40B4-BE49-F238E27FC236}">
                <a16:creationId xmlns:a16="http://schemas.microsoft.com/office/drawing/2014/main" id="{FC13E15A-3A66-27E6-353E-9B02430E4C18}"/>
              </a:ext>
            </a:extLst>
          </p:cNvPr>
          <p:cNvGraphicFramePr>
            <a:graphicFrameLocks noGrp="1"/>
          </p:cNvGraphicFramePr>
          <p:nvPr>
            <p:extLst>
              <p:ext uri="{D42A27DB-BD31-4B8C-83A1-F6EECF244321}">
                <p14:modId xmlns:p14="http://schemas.microsoft.com/office/powerpoint/2010/main" val="2484745457"/>
              </p:ext>
            </p:extLst>
          </p:nvPr>
        </p:nvGraphicFramePr>
        <p:xfrm>
          <a:off x="3347864" y="3823745"/>
          <a:ext cx="1681136" cy="1072326"/>
        </p:xfrm>
        <a:graphic>
          <a:graphicData uri="http://schemas.openxmlformats.org/drawingml/2006/table">
            <a:tbl>
              <a:tblPr firstRow="1" bandRow="1">
                <a:tableStyleId>{5C22544A-7EE6-4342-B048-85BDC9FD1C3A}</a:tableStyleId>
              </a:tblPr>
              <a:tblGrid>
                <a:gridCol w="356709">
                  <a:extLst>
                    <a:ext uri="{9D8B030D-6E8A-4147-A177-3AD203B41FA5}">
                      <a16:colId xmlns:a16="http://schemas.microsoft.com/office/drawing/2014/main" val="871242339"/>
                    </a:ext>
                  </a:extLst>
                </a:gridCol>
                <a:gridCol w="356709">
                  <a:extLst>
                    <a:ext uri="{9D8B030D-6E8A-4147-A177-3AD203B41FA5}">
                      <a16:colId xmlns:a16="http://schemas.microsoft.com/office/drawing/2014/main" val="1424301285"/>
                    </a:ext>
                  </a:extLst>
                </a:gridCol>
                <a:gridCol w="356709">
                  <a:extLst>
                    <a:ext uri="{9D8B030D-6E8A-4147-A177-3AD203B41FA5}">
                      <a16:colId xmlns:a16="http://schemas.microsoft.com/office/drawing/2014/main" val="506512337"/>
                    </a:ext>
                  </a:extLst>
                </a:gridCol>
                <a:gridCol w="611009">
                  <a:extLst>
                    <a:ext uri="{9D8B030D-6E8A-4147-A177-3AD203B41FA5}">
                      <a16:colId xmlns:a16="http://schemas.microsoft.com/office/drawing/2014/main" val="1954667885"/>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95%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Apple</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78721">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99%</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Banana</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178721">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12%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87%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Lemon</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52820575"/>
                  </a:ext>
                </a:extLst>
              </a:tr>
            </a:tbl>
          </a:graphicData>
        </a:graphic>
      </p:graphicFrame>
      <p:graphicFrame>
        <p:nvGraphicFramePr>
          <p:cNvPr id="55" name="表格 54">
            <a:extLst>
              <a:ext uri="{FF2B5EF4-FFF2-40B4-BE49-F238E27FC236}">
                <a16:creationId xmlns:a16="http://schemas.microsoft.com/office/drawing/2014/main" id="{254A2785-DAD7-C76A-BF5E-41695A23F401}"/>
              </a:ext>
            </a:extLst>
          </p:cNvPr>
          <p:cNvGraphicFramePr>
            <a:graphicFrameLocks noGrp="1"/>
          </p:cNvGraphicFramePr>
          <p:nvPr>
            <p:extLst>
              <p:ext uri="{D42A27DB-BD31-4B8C-83A1-F6EECF244321}">
                <p14:modId xmlns:p14="http://schemas.microsoft.com/office/powerpoint/2010/main" val="3709942542"/>
              </p:ext>
            </p:extLst>
          </p:nvPr>
        </p:nvGraphicFramePr>
        <p:xfrm>
          <a:off x="1906337" y="3645024"/>
          <a:ext cx="1441870" cy="357442"/>
        </p:xfrm>
        <a:graphic>
          <a:graphicData uri="http://schemas.openxmlformats.org/drawingml/2006/table">
            <a:tbl>
              <a:tblPr firstRow="1" bandRow="1">
                <a:tableStyleId>{5C22544A-7EE6-4342-B048-85BDC9FD1C3A}</a:tableStyleId>
              </a:tblPr>
              <a:tblGrid>
                <a:gridCol w="288374">
                  <a:extLst>
                    <a:ext uri="{9D8B030D-6E8A-4147-A177-3AD203B41FA5}">
                      <a16:colId xmlns:a16="http://schemas.microsoft.com/office/drawing/2014/main" val="3706844950"/>
                    </a:ext>
                  </a:extLst>
                </a:gridCol>
                <a:gridCol w="288374">
                  <a:extLst>
                    <a:ext uri="{9D8B030D-6E8A-4147-A177-3AD203B41FA5}">
                      <a16:colId xmlns:a16="http://schemas.microsoft.com/office/drawing/2014/main" val="871242339"/>
                    </a:ext>
                  </a:extLst>
                </a:gridCol>
                <a:gridCol w="288374">
                  <a:extLst>
                    <a:ext uri="{9D8B030D-6E8A-4147-A177-3AD203B41FA5}">
                      <a16:colId xmlns:a16="http://schemas.microsoft.com/office/drawing/2014/main" val="1424301285"/>
                    </a:ext>
                  </a:extLst>
                </a:gridCol>
                <a:gridCol w="288374">
                  <a:extLst>
                    <a:ext uri="{9D8B030D-6E8A-4147-A177-3AD203B41FA5}">
                      <a16:colId xmlns:a16="http://schemas.microsoft.com/office/drawing/2014/main" val="506512337"/>
                    </a:ext>
                  </a:extLst>
                </a:gridCol>
                <a:gridCol w="288374">
                  <a:extLst>
                    <a:ext uri="{9D8B030D-6E8A-4147-A177-3AD203B41FA5}">
                      <a16:colId xmlns:a16="http://schemas.microsoft.com/office/drawing/2014/main" val="314882574"/>
                    </a:ext>
                  </a:extLst>
                </a:gridCol>
              </a:tblGrid>
              <a:tr h="178721">
                <a:tc gridSpan="5">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Bias</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7846188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sp>
        <p:nvSpPr>
          <p:cNvPr id="57" name="文字方塊 56">
            <a:extLst>
              <a:ext uri="{FF2B5EF4-FFF2-40B4-BE49-F238E27FC236}">
                <a16:creationId xmlns:a16="http://schemas.microsoft.com/office/drawing/2014/main" id="{76F1893B-2857-5A3C-29CF-36CEF241DC81}"/>
              </a:ext>
            </a:extLst>
          </p:cNvPr>
          <p:cNvSpPr txBox="1"/>
          <p:nvPr/>
        </p:nvSpPr>
        <p:spPr>
          <a:xfrm>
            <a:off x="6006440" y="2970691"/>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Apple</a:t>
            </a:r>
          </a:p>
        </p:txBody>
      </p:sp>
      <p:graphicFrame>
        <p:nvGraphicFramePr>
          <p:cNvPr id="59" name="表格 58">
            <a:extLst>
              <a:ext uri="{FF2B5EF4-FFF2-40B4-BE49-F238E27FC236}">
                <a16:creationId xmlns:a16="http://schemas.microsoft.com/office/drawing/2014/main" id="{61227BEB-56F9-85B0-DE92-B8FCB05B8097}"/>
              </a:ext>
            </a:extLst>
          </p:cNvPr>
          <p:cNvGraphicFramePr>
            <a:graphicFrameLocks noGrp="1"/>
          </p:cNvGraphicFramePr>
          <p:nvPr>
            <p:extLst>
              <p:ext uri="{D42A27DB-BD31-4B8C-83A1-F6EECF244321}">
                <p14:modId xmlns:p14="http://schemas.microsoft.com/office/powerpoint/2010/main" val="1354981999"/>
              </p:ext>
            </p:extLst>
          </p:nvPr>
        </p:nvGraphicFramePr>
        <p:xfrm>
          <a:off x="6347249" y="423087"/>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61" name="表格 60">
            <a:extLst>
              <a:ext uri="{FF2B5EF4-FFF2-40B4-BE49-F238E27FC236}">
                <a16:creationId xmlns:a16="http://schemas.microsoft.com/office/drawing/2014/main" id="{1D305162-75D6-F72B-6FE7-4F77A4C7812A}"/>
              </a:ext>
            </a:extLst>
          </p:cNvPr>
          <p:cNvGraphicFramePr>
            <a:graphicFrameLocks noGrp="1"/>
          </p:cNvGraphicFramePr>
          <p:nvPr>
            <p:extLst>
              <p:ext uri="{D42A27DB-BD31-4B8C-83A1-F6EECF244321}">
                <p14:modId xmlns:p14="http://schemas.microsoft.com/office/powerpoint/2010/main" val="1911513004"/>
              </p:ext>
            </p:extLst>
          </p:nvPr>
        </p:nvGraphicFramePr>
        <p:xfrm>
          <a:off x="6347249" y="783127"/>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3" name="表格 72">
            <a:extLst>
              <a:ext uri="{FF2B5EF4-FFF2-40B4-BE49-F238E27FC236}">
                <a16:creationId xmlns:a16="http://schemas.microsoft.com/office/drawing/2014/main" id="{7F4552BB-18CF-94F2-FFF5-D913C9EEB74B}"/>
              </a:ext>
            </a:extLst>
          </p:cNvPr>
          <p:cNvGraphicFramePr>
            <a:graphicFrameLocks noGrp="1"/>
          </p:cNvGraphicFramePr>
          <p:nvPr>
            <p:extLst>
              <p:ext uri="{D42A27DB-BD31-4B8C-83A1-F6EECF244321}">
                <p14:modId xmlns:p14="http://schemas.microsoft.com/office/powerpoint/2010/main" val="3209971385"/>
              </p:ext>
            </p:extLst>
          </p:nvPr>
        </p:nvGraphicFramePr>
        <p:xfrm>
          <a:off x="553411" y="2502493"/>
          <a:ext cx="885943" cy="178721"/>
        </p:xfrm>
        <a:graphic>
          <a:graphicData uri="http://schemas.openxmlformats.org/drawingml/2006/table">
            <a:tbl>
              <a:tblPr firstRow="1" bandRow="1">
                <a:tableStyleId>{5C22544A-7EE6-4342-B048-85BDC9FD1C3A}</a:tableStyleId>
              </a:tblPr>
              <a:tblGrid>
                <a:gridCol w="298956">
                  <a:extLst>
                    <a:ext uri="{9D8B030D-6E8A-4147-A177-3AD203B41FA5}">
                      <a16:colId xmlns:a16="http://schemas.microsoft.com/office/drawing/2014/main" val="871242339"/>
                    </a:ext>
                  </a:extLst>
                </a:gridCol>
                <a:gridCol w="298956">
                  <a:extLst>
                    <a:ext uri="{9D8B030D-6E8A-4147-A177-3AD203B41FA5}">
                      <a16:colId xmlns:a16="http://schemas.microsoft.com/office/drawing/2014/main" val="506512337"/>
                    </a:ext>
                  </a:extLst>
                </a:gridCol>
                <a:gridCol w="288031">
                  <a:extLst>
                    <a:ext uri="{9D8B030D-6E8A-4147-A177-3AD203B41FA5}">
                      <a16:colId xmlns:a16="http://schemas.microsoft.com/office/drawing/2014/main" val="2345701098"/>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sp>
        <p:nvSpPr>
          <p:cNvPr id="75" name="文字方塊 74">
            <a:extLst>
              <a:ext uri="{FF2B5EF4-FFF2-40B4-BE49-F238E27FC236}">
                <a16:creationId xmlns:a16="http://schemas.microsoft.com/office/drawing/2014/main" id="{82F42785-9099-5532-6B89-E0B8144F8E31}"/>
              </a:ext>
            </a:extLst>
          </p:cNvPr>
          <p:cNvSpPr txBox="1"/>
          <p:nvPr/>
        </p:nvSpPr>
        <p:spPr>
          <a:xfrm>
            <a:off x="1906337" y="89013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Sweet</a:t>
            </a:r>
          </a:p>
          <a:p>
            <a:r>
              <a:rPr lang="en-US" altLang="zh-TW" sz="1200" dirty="0">
                <a:solidFill>
                  <a:prstClr val="black"/>
                </a:solidFill>
                <a:ea typeface="Cambria Math" panose="02040503050406030204" pitchFamily="18" charset="0"/>
              </a:rPr>
              <a:t>Sour</a:t>
            </a:r>
          </a:p>
        </p:txBody>
      </p:sp>
      <p:graphicFrame>
        <p:nvGraphicFramePr>
          <p:cNvPr id="77" name="表格 76">
            <a:extLst>
              <a:ext uri="{FF2B5EF4-FFF2-40B4-BE49-F238E27FC236}">
                <a16:creationId xmlns:a16="http://schemas.microsoft.com/office/drawing/2014/main" id="{8041F74E-582E-8910-25EB-DC4B1A715A21}"/>
              </a:ext>
            </a:extLst>
          </p:cNvPr>
          <p:cNvGraphicFramePr>
            <a:graphicFrameLocks noGrp="1"/>
          </p:cNvGraphicFramePr>
          <p:nvPr>
            <p:extLst>
              <p:ext uri="{D42A27DB-BD31-4B8C-83A1-F6EECF244321}">
                <p14:modId xmlns:p14="http://schemas.microsoft.com/office/powerpoint/2010/main" val="51360300"/>
              </p:ext>
            </p:extLst>
          </p:nvPr>
        </p:nvGraphicFramePr>
        <p:xfrm>
          <a:off x="5890250" y="1304653"/>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9" name="表格 78">
            <a:extLst>
              <a:ext uri="{FF2B5EF4-FFF2-40B4-BE49-F238E27FC236}">
                <a16:creationId xmlns:a16="http://schemas.microsoft.com/office/drawing/2014/main" id="{199615BD-D74D-EA4F-9D13-B0782688E3DF}"/>
              </a:ext>
            </a:extLst>
          </p:cNvPr>
          <p:cNvGraphicFramePr>
            <a:graphicFrameLocks noGrp="1"/>
          </p:cNvGraphicFramePr>
          <p:nvPr>
            <p:extLst>
              <p:ext uri="{D42A27DB-BD31-4B8C-83A1-F6EECF244321}">
                <p14:modId xmlns:p14="http://schemas.microsoft.com/office/powerpoint/2010/main" val="2899964217"/>
              </p:ext>
            </p:extLst>
          </p:nvPr>
        </p:nvGraphicFramePr>
        <p:xfrm>
          <a:off x="5295749" y="1040202"/>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87" name="表格 86">
            <a:extLst>
              <a:ext uri="{FF2B5EF4-FFF2-40B4-BE49-F238E27FC236}">
                <a16:creationId xmlns:a16="http://schemas.microsoft.com/office/drawing/2014/main" id="{E9E36340-5251-D6A8-00C8-3451FD036BE3}"/>
              </a:ext>
            </a:extLst>
          </p:cNvPr>
          <p:cNvGraphicFramePr>
            <a:graphicFrameLocks noGrp="1"/>
          </p:cNvGraphicFramePr>
          <p:nvPr>
            <p:extLst>
              <p:ext uri="{D42A27DB-BD31-4B8C-83A1-F6EECF244321}">
                <p14:modId xmlns:p14="http://schemas.microsoft.com/office/powerpoint/2010/main" val="2996207192"/>
              </p:ext>
            </p:extLst>
          </p:nvPr>
        </p:nvGraphicFramePr>
        <p:xfrm>
          <a:off x="6084168" y="1941386"/>
          <a:ext cx="913998" cy="893605"/>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60%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95%</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95%</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621278001"/>
                  </a:ext>
                </a:extLst>
              </a:tr>
            </a:tbl>
          </a:graphicData>
        </a:graphic>
      </p:graphicFrame>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554265839"/>
              </p:ext>
            </p:extLst>
          </p:nvPr>
        </p:nvGraphicFramePr>
        <p:xfrm>
          <a:off x="1176357" y="3265552"/>
          <a:ext cx="1019379" cy="1072326"/>
        </p:xfrm>
        <a:graphic>
          <a:graphicData uri="http://schemas.openxmlformats.org/drawingml/2006/table">
            <a:tbl>
              <a:tblPr firstRow="1" bandRow="1">
                <a:tableStyleId>{5C22544A-7EE6-4342-B048-85BDC9FD1C3A}</a:tableStyleId>
              </a:tblPr>
              <a:tblGrid>
                <a:gridCol w="339793">
                  <a:extLst>
                    <a:ext uri="{9D8B030D-6E8A-4147-A177-3AD203B41FA5}">
                      <a16:colId xmlns:a16="http://schemas.microsoft.com/office/drawing/2014/main" val="871242339"/>
                    </a:ext>
                  </a:extLst>
                </a:gridCol>
                <a:gridCol w="319546">
                  <a:extLst>
                    <a:ext uri="{9D8B030D-6E8A-4147-A177-3AD203B41FA5}">
                      <a16:colId xmlns:a16="http://schemas.microsoft.com/office/drawing/2014/main" val="506512337"/>
                    </a:ext>
                  </a:extLst>
                </a:gridCol>
                <a:gridCol w="360040">
                  <a:extLst>
                    <a:ext uri="{9D8B030D-6E8A-4147-A177-3AD203B41FA5}">
                      <a16:colId xmlns:a16="http://schemas.microsoft.com/office/drawing/2014/main" val="3047107006"/>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bl>
          </a:graphicData>
        </a:graphic>
      </p:graphicFrame>
      <p:sp>
        <p:nvSpPr>
          <p:cNvPr id="93" name="文字方塊 92">
            <a:extLst>
              <a:ext uri="{FF2B5EF4-FFF2-40B4-BE49-F238E27FC236}">
                <a16:creationId xmlns:a16="http://schemas.microsoft.com/office/drawing/2014/main" id="{3758CA8C-2551-9706-4990-8731E4FB83A2}"/>
              </a:ext>
            </a:extLst>
          </p:cNvPr>
          <p:cNvSpPr txBox="1"/>
          <p:nvPr/>
        </p:nvSpPr>
        <p:spPr>
          <a:xfrm>
            <a:off x="6406388" y="3174112"/>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Banana</a:t>
            </a:r>
          </a:p>
        </p:txBody>
      </p:sp>
      <p:sp>
        <p:nvSpPr>
          <p:cNvPr id="95" name="文字方塊 94">
            <a:extLst>
              <a:ext uri="{FF2B5EF4-FFF2-40B4-BE49-F238E27FC236}">
                <a16:creationId xmlns:a16="http://schemas.microsoft.com/office/drawing/2014/main" id="{422105BD-E26A-ED9B-28C8-2DF49E73FBFA}"/>
              </a:ext>
            </a:extLst>
          </p:cNvPr>
          <p:cNvSpPr txBox="1"/>
          <p:nvPr/>
        </p:nvSpPr>
        <p:spPr>
          <a:xfrm>
            <a:off x="6726520" y="2970691"/>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Lemon</a:t>
            </a:r>
          </a:p>
        </p:txBody>
      </p:sp>
      <p:sp>
        <p:nvSpPr>
          <p:cNvPr id="97" name="文字方塊 96">
            <a:extLst>
              <a:ext uri="{FF2B5EF4-FFF2-40B4-BE49-F238E27FC236}">
                <a16:creationId xmlns:a16="http://schemas.microsoft.com/office/drawing/2014/main" id="{D66AEB5B-76AA-0C2A-C7C5-2A9385A7535F}"/>
              </a:ext>
            </a:extLst>
          </p:cNvPr>
          <p:cNvSpPr txBox="1"/>
          <p:nvPr/>
        </p:nvSpPr>
        <p:spPr>
          <a:xfrm>
            <a:off x="467544" y="1700808"/>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Sweet</a:t>
            </a:r>
          </a:p>
        </p:txBody>
      </p:sp>
      <p:sp>
        <p:nvSpPr>
          <p:cNvPr id="99" name="文字方塊 98">
            <a:extLst>
              <a:ext uri="{FF2B5EF4-FFF2-40B4-BE49-F238E27FC236}">
                <a16:creationId xmlns:a16="http://schemas.microsoft.com/office/drawing/2014/main" id="{3CC8673E-7F3D-2520-EB7C-1BF6DA0DC1BF}"/>
              </a:ext>
            </a:extLst>
          </p:cNvPr>
          <p:cNvSpPr txBox="1"/>
          <p:nvPr/>
        </p:nvSpPr>
        <p:spPr>
          <a:xfrm>
            <a:off x="965880" y="1700808"/>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Sour</a:t>
            </a:r>
          </a:p>
        </p:txBody>
      </p:sp>
      <p:graphicFrame>
        <p:nvGraphicFramePr>
          <p:cNvPr id="107" name="表格 106">
            <a:extLst>
              <a:ext uri="{FF2B5EF4-FFF2-40B4-BE49-F238E27FC236}">
                <a16:creationId xmlns:a16="http://schemas.microsoft.com/office/drawing/2014/main" id="{400F60B9-4805-117E-8F5C-C6A97F56410E}"/>
              </a:ext>
            </a:extLst>
          </p:cNvPr>
          <p:cNvGraphicFramePr>
            <a:graphicFrameLocks noGrp="1"/>
          </p:cNvGraphicFramePr>
          <p:nvPr>
            <p:extLst>
              <p:ext uri="{D42A27DB-BD31-4B8C-83A1-F6EECF244321}">
                <p14:modId xmlns:p14="http://schemas.microsoft.com/office/powerpoint/2010/main" val="2609177221"/>
              </p:ext>
            </p:extLst>
          </p:nvPr>
        </p:nvGraphicFramePr>
        <p:xfrm>
          <a:off x="5175050" y="5541308"/>
          <a:ext cx="1681137" cy="893605"/>
        </p:xfrm>
        <a:graphic>
          <a:graphicData uri="http://schemas.openxmlformats.org/drawingml/2006/table">
            <a:tbl>
              <a:tblPr firstRow="1" bandRow="1">
                <a:tableStyleId>{5C22544A-7EE6-4342-B048-85BDC9FD1C3A}</a:tableStyleId>
              </a:tblPr>
              <a:tblGrid>
                <a:gridCol w="313319">
                  <a:extLst>
                    <a:ext uri="{9D8B030D-6E8A-4147-A177-3AD203B41FA5}">
                      <a16:colId xmlns:a16="http://schemas.microsoft.com/office/drawing/2014/main" val="871242339"/>
                    </a:ext>
                  </a:extLst>
                </a:gridCol>
                <a:gridCol w="313319">
                  <a:extLst>
                    <a:ext uri="{9D8B030D-6E8A-4147-A177-3AD203B41FA5}">
                      <a16:colId xmlns:a16="http://schemas.microsoft.com/office/drawing/2014/main" val="1424301285"/>
                    </a:ext>
                  </a:extLst>
                </a:gridCol>
                <a:gridCol w="313319">
                  <a:extLst>
                    <a:ext uri="{9D8B030D-6E8A-4147-A177-3AD203B41FA5}">
                      <a16:colId xmlns:a16="http://schemas.microsoft.com/office/drawing/2014/main" val="506512337"/>
                    </a:ext>
                  </a:extLst>
                </a:gridCol>
                <a:gridCol w="741180">
                  <a:extLst>
                    <a:ext uri="{9D8B030D-6E8A-4147-A177-3AD203B41FA5}">
                      <a16:colId xmlns:a16="http://schemas.microsoft.com/office/drawing/2014/main" val="1954667885"/>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Apple</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Banana</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Lemon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bl>
          </a:graphicData>
        </a:graphic>
      </p:graphicFrame>
      <p:graphicFrame>
        <p:nvGraphicFramePr>
          <p:cNvPr id="109" name="表格 108">
            <a:extLst>
              <a:ext uri="{FF2B5EF4-FFF2-40B4-BE49-F238E27FC236}">
                <a16:creationId xmlns:a16="http://schemas.microsoft.com/office/drawing/2014/main" id="{39E7CF29-6D6A-E696-EA70-AF876161D9FD}"/>
              </a:ext>
            </a:extLst>
          </p:cNvPr>
          <p:cNvGraphicFramePr>
            <a:graphicFrameLocks noGrp="1"/>
          </p:cNvGraphicFramePr>
          <p:nvPr>
            <p:extLst>
              <p:ext uri="{D42A27DB-BD31-4B8C-83A1-F6EECF244321}">
                <p14:modId xmlns:p14="http://schemas.microsoft.com/office/powerpoint/2010/main" val="854786824"/>
              </p:ext>
            </p:extLst>
          </p:nvPr>
        </p:nvGraphicFramePr>
        <p:xfrm>
          <a:off x="1261492" y="5544554"/>
          <a:ext cx="1019379" cy="357442"/>
        </p:xfrm>
        <a:graphic>
          <a:graphicData uri="http://schemas.openxmlformats.org/drawingml/2006/table">
            <a:tbl>
              <a:tblPr firstRow="1" bandRow="1">
                <a:tableStyleId>{5C22544A-7EE6-4342-B048-85BDC9FD1C3A}</a:tableStyleId>
              </a:tblPr>
              <a:tblGrid>
                <a:gridCol w="339793">
                  <a:extLst>
                    <a:ext uri="{9D8B030D-6E8A-4147-A177-3AD203B41FA5}">
                      <a16:colId xmlns:a16="http://schemas.microsoft.com/office/drawing/2014/main" val="871242339"/>
                    </a:ext>
                  </a:extLst>
                </a:gridCol>
                <a:gridCol w="339793">
                  <a:extLst>
                    <a:ext uri="{9D8B030D-6E8A-4147-A177-3AD203B41FA5}">
                      <a16:colId xmlns:a16="http://schemas.microsoft.com/office/drawing/2014/main" val="1424301285"/>
                    </a:ext>
                  </a:extLst>
                </a:gridCol>
                <a:gridCol w="33979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11" name="文字方塊 110">
            <a:extLst>
              <a:ext uri="{FF2B5EF4-FFF2-40B4-BE49-F238E27FC236}">
                <a16:creationId xmlns:a16="http://schemas.microsoft.com/office/drawing/2014/main" id="{A808A3DC-9BFB-886F-1D04-841EA208706C}"/>
              </a:ext>
            </a:extLst>
          </p:cNvPr>
          <p:cNvSpPr txBox="1"/>
          <p:nvPr/>
        </p:nvSpPr>
        <p:spPr>
          <a:xfrm>
            <a:off x="2185904" y="5201908"/>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115" name="表格 114">
            <a:extLst>
              <a:ext uri="{FF2B5EF4-FFF2-40B4-BE49-F238E27FC236}">
                <a16:creationId xmlns:a16="http://schemas.microsoft.com/office/drawing/2014/main" id="{B1E00209-BE91-47EF-B03D-B722E91AC40E}"/>
              </a:ext>
            </a:extLst>
          </p:cNvPr>
          <p:cNvGraphicFramePr>
            <a:graphicFrameLocks noGrp="1"/>
          </p:cNvGraphicFramePr>
          <p:nvPr>
            <p:extLst>
              <p:ext uri="{D42A27DB-BD31-4B8C-83A1-F6EECF244321}">
                <p14:modId xmlns:p14="http://schemas.microsoft.com/office/powerpoint/2010/main" val="1111064934"/>
              </p:ext>
            </p:extLst>
          </p:nvPr>
        </p:nvGraphicFramePr>
        <p:xfrm>
          <a:off x="6996196" y="5294416"/>
          <a:ext cx="913998" cy="893605"/>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621278001"/>
                  </a:ext>
                </a:extLst>
              </a:tr>
            </a:tbl>
          </a:graphicData>
        </a:graphic>
      </p:graphicFrame>
      <p:graphicFrame>
        <p:nvGraphicFramePr>
          <p:cNvPr id="117" name="表格 116">
            <a:extLst>
              <a:ext uri="{FF2B5EF4-FFF2-40B4-BE49-F238E27FC236}">
                <a16:creationId xmlns:a16="http://schemas.microsoft.com/office/drawing/2014/main" id="{A3873C07-A7C2-E8B4-5649-7316114DCC47}"/>
              </a:ext>
            </a:extLst>
          </p:cNvPr>
          <p:cNvGraphicFramePr>
            <a:graphicFrameLocks noGrp="1"/>
          </p:cNvGraphicFramePr>
          <p:nvPr>
            <p:extLst>
              <p:ext uri="{D42A27DB-BD31-4B8C-83A1-F6EECF244321}">
                <p14:modId xmlns:p14="http://schemas.microsoft.com/office/powerpoint/2010/main" val="177978498"/>
              </p:ext>
            </p:extLst>
          </p:nvPr>
        </p:nvGraphicFramePr>
        <p:xfrm>
          <a:off x="391108" y="5294417"/>
          <a:ext cx="609332" cy="893605"/>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621278001"/>
                  </a:ext>
                </a:extLst>
              </a:tr>
            </a:tbl>
          </a:graphicData>
        </a:graphic>
      </p:graphicFrame>
      <p:sp>
        <p:nvSpPr>
          <p:cNvPr id="119" name="文字方塊 118">
            <a:extLst>
              <a:ext uri="{FF2B5EF4-FFF2-40B4-BE49-F238E27FC236}">
                <a16:creationId xmlns:a16="http://schemas.microsoft.com/office/drawing/2014/main" id="{7F4B621D-1CF6-D61F-BDFE-2C4979B7F40F}"/>
              </a:ext>
            </a:extLst>
          </p:cNvPr>
          <p:cNvSpPr txBox="1"/>
          <p:nvPr/>
        </p:nvSpPr>
        <p:spPr>
          <a:xfrm>
            <a:off x="261045" y="5035894"/>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Sweet</a:t>
            </a:r>
          </a:p>
        </p:txBody>
      </p:sp>
      <p:sp>
        <p:nvSpPr>
          <p:cNvPr id="121" name="文字方塊 120">
            <a:extLst>
              <a:ext uri="{FF2B5EF4-FFF2-40B4-BE49-F238E27FC236}">
                <a16:creationId xmlns:a16="http://schemas.microsoft.com/office/drawing/2014/main" id="{DDB3C284-C1EC-17C3-FD24-378EADFCF15B}"/>
              </a:ext>
            </a:extLst>
          </p:cNvPr>
          <p:cNvSpPr txBox="1"/>
          <p:nvPr/>
        </p:nvSpPr>
        <p:spPr>
          <a:xfrm>
            <a:off x="759381" y="5035894"/>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Sour</a:t>
            </a:r>
          </a:p>
        </p:txBody>
      </p:sp>
      <p:graphicFrame>
        <p:nvGraphicFramePr>
          <p:cNvPr id="123" name="表格 122">
            <a:extLst>
              <a:ext uri="{FF2B5EF4-FFF2-40B4-BE49-F238E27FC236}">
                <a16:creationId xmlns:a16="http://schemas.microsoft.com/office/drawing/2014/main" id="{F1F788C7-F3F8-7EEF-C2D6-D0E20F617D73}"/>
              </a:ext>
            </a:extLst>
          </p:cNvPr>
          <p:cNvGraphicFramePr>
            <a:graphicFrameLocks noGrp="1"/>
          </p:cNvGraphicFramePr>
          <p:nvPr>
            <p:extLst>
              <p:ext uri="{D42A27DB-BD31-4B8C-83A1-F6EECF244321}">
                <p14:modId xmlns:p14="http://schemas.microsoft.com/office/powerpoint/2010/main" val="2188268976"/>
              </p:ext>
            </p:extLst>
          </p:nvPr>
        </p:nvGraphicFramePr>
        <p:xfrm>
          <a:off x="2600892" y="6381827"/>
          <a:ext cx="1019379" cy="178721"/>
        </p:xfrm>
        <a:graphic>
          <a:graphicData uri="http://schemas.openxmlformats.org/drawingml/2006/table">
            <a:tbl>
              <a:tblPr firstRow="1" bandRow="1">
                <a:tableStyleId>{5C22544A-7EE6-4342-B048-85BDC9FD1C3A}</a:tableStyleId>
              </a:tblPr>
              <a:tblGrid>
                <a:gridCol w="339793">
                  <a:extLst>
                    <a:ext uri="{9D8B030D-6E8A-4147-A177-3AD203B41FA5}">
                      <a16:colId xmlns:a16="http://schemas.microsoft.com/office/drawing/2014/main" val="871242339"/>
                    </a:ext>
                  </a:extLst>
                </a:gridCol>
                <a:gridCol w="339793">
                  <a:extLst>
                    <a:ext uri="{9D8B030D-6E8A-4147-A177-3AD203B41FA5}">
                      <a16:colId xmlns:a16="http://schemas.microsoft.com/office/drawing/2014/main" val="1424301285"/>
                    </a:ext>
                  </a:extLst>
                </a:gridCol>
                <a:gridCol w="33979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5" name="表格 124">
            <a:extLst>
              <a:ext uri="{FF2B5EF4-FFF2-40B4-BE49-F238E27FC236}">
                <a16:creationId xmlns:a16="http://schemas.microsoft.com/office/drawing/2014/main" id="{5B49D83B-CF04-DE6D-6CD3-60D9E52E715E}"/>
              </a:ext>
            </a:extLst>
          </p:cNvPr>
          <p:cNvGraphicFramePr>
            <a:graphicFrameLocks noGrp="1"/>
          </p:cNvGraphicFramePr>
          <p:nvPr>
            <p:extLst>
              <p:ext uri="{D42A27DB-BD31-4B8C-83A1-F6EECF244321}">
                <p14:modId xmlns:p14="http://schemas.microsoft.com/office/powerpoint/2010/main" val="1572838647"/>
              </p:ext>
            </p:extLst>
          </p:nvPr>
        </p:nvGraphicFramePr>
        <p:xfrm>
          <a:off x="1640437" y="2232869"/>
          <a:ext cx="1178620" cy="536163"/>
        </p:xfrm>
        <a:graphic>
          <a:graphicData uri="http://schemas.openxmlformats.org/drawingml/2006/table">
            <a:tbl>
              <a:tblPr firstRow="1" bandRow="1">
                <a:tableStyleId>{5C22544A-7EE6-4342-B048-85BDC9FD1C3A}</a:tableStyleId>
              </a:tblPr>
              <a:tblGrid>
                <a:gridCol w="294655">
                  <a:extLst>
                    <a:ext uri="{9D8B030D-6E8A-4147-A177-3AD203B41FA5}">
                      <a16:colId xmlns:a16="http://schemas.microsoft.com/office/drawing/2014/main" val="2022031271"/>
                    </a:ext>
                  </a:extLst>
                </a:gridCol>
                <a:gridCol w="294655">
                  <a:extLst>
                    <a:ext uri="{9D8B030D-6E8A-4147-A177-3AD203B41FA5}">
                      <a16:colId xmlns:a16="http://schemas.microsoft.com/office/drawing/2014/main" val="871242339"/>
                    </a:ext>
                  </a:extLst>
                </a:gridCol>
                <a:gridCol w="294655">
                  <a:extLst>
                    <a:ext uri="{9D8B030D-6E8A-4147-A177-3AD203B41FA5}">
                      <a16:colId xmlns:a16="http://schemas.microsoft.com/office/drawing/2014/main" val="1424301285"/>
                    </a:ext>
                  </a:extLst>
                </a:gridCol>
                <a:gridCol w="294655">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Weight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4407666"/>
                  </a:ext>
                </a:extLst>
              </a:tr>
              <a:tr h="178721">
                <a:tc rowSpan="2">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27" name="表格 126">
            <a:extLst>
              <a:ext uri="{FF2B5EF4-FFF2-40B4-BE49-F238E27FC236}">
                <a16:creationId xmlns:a16="http://schemas.microsoft.com/office/drawing/2014/main" id="{DCE3D0DD-03F2-017C-4204-8322F9EB279F}"/>
              </a:ext>
            </a:extLst>
          </p:cNvPr>
          <p:cNvGraphicFramePr>
            <a:graphicFrameLocks noGrp="1"/>
          </p:cNvGraphicFramePr>
          <p:nvPr>
            <p:extLst>
              <p:ext uri="{D42A27DB-BD31-4B8C-83A1-F6EECF244321}">
                <p14:modId xmlns:p14="http://schemas.microsoft.com/office/powerpoint/2010/main" val="3674291921"/>
              </p:ext>
            </p:extLst>
          </p:nvPr>
        </p:nvGraphicFramePr>
        <p:xfrm>
          <a:off x="2802316" y="2323772"/>
          <a:ext cx="1441870" cy="357442"/>
        </p:xfrm>
        <a:graphic>
          <a:graphicData uri="http://schemas.openxmlformats.org/drawingml/2006/table">
            <a:tbl>
              <a:tblPr firstRow="1" bandRow="1">
                <a:tableStyleId>{5C22544A-7EE6-4342-B048-85BDC9FD1C3A}</a:tableStyleId>
              </a:tblPr>
              <a:tblGrid>
                <a:gridCol w="288374">
                  <a:extLst>
                    <a:ext uri="{9D8B030D-6E8A-4147-A177-3AD203B41FA5}">
                      <a16:colId xmlns:a16="http://schemas.microsoft.com/office/drawing/2014/main" val="3706844950"/>
                    </a:ext>
                  </a:extLst>
                </a:gridCol>
                <a:gridCol w="288374">
                  <a:extLst>
                    <a:ext uri="{9D8B030D-6E8A-4147-A177-3AD203B41FA5}">
                      <a16:colId xmlns:a16="http://schemas.microsoft.com/office/drawing/2014/main" val="871242339"/>
                    </a:ext>
                  </a:extLst>
                </a:gridCol>
                <a:gridCol w="288374">
                  <a:extLst>
                    <a:ext uri="{9D8B030D-6E8A-4147-A177-3AD203B41FA5}">
                      <a16:colId xmlns:a16="http://schemas.microsoft.com/office/drawing/2014/main" val="1424301285"/>
                    </a:ext>
                  </a:extLst>
                </a:gridCol>
                <a:gridCol w="288374">
                  <a:extLst>
                    <a:ext uri="{9D8B030D-6E8A-4147-A177-3AD203B41FA5}">
                      <a16:colId xmlns:a16="http://schemas.microsoft.com/office/drawing/2014/main" val="506512337"/>
                    </a:ext>
                  </a:extLst>
                </a:gridCol>
                <a:gridCol w="288374">
                  <a:extLst>
                    <a:ext uri="{9D8B030D-6E8A-4147-A177-3AD203B41FA5}">
                      <a16:colId xmlns:a16="http://schemas.microsoft.com/office/drawing/2014/main" val="314882574"/>
                    </a:ext>
                  </a:extLst>
                </a:gridCol>
              </a:tblGrid>
              <a:tr h="178721">
                <a:tc gridSpan="5">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Bias</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7846188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sp>
        <p:nvSpPr>
          <p:cNvPr id="10" name="標題 1">
            <a:extLst>
              <a:ext uri="{FF2B5EF4-FFF2-40B4-BE49-F238E27FC236}">
                <a16:creationId xmlns:a16="http://schemas.microsoft.com/office/drawing/2014/main" id="{DB23806E-455B-B442-A514-C6A6160F4DE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Chain Rule + Gradient Descent</a:t>
            </a:r>
          </a:p>
        </p:txBody>
      </p:sp>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pic>
        <p:nvPicPr>
          <p:cNvPr id="7" name="圖片 6">
            <a:extLst>
              <a:ext uri="{FF2B5EF4-FFF2-40B4-BE49-F238E27FC236}">
                <a16:creationId xmlns:a16="http://schemas.microsoft.com/office/drawing/2014/main" id="{2B8EA52B-91D0-F628-D66C-4585E2254B1C}"/>
              </a:ext>
              <a:ext uri="{C183D7F6-B498-43B3-948B-1728B52AA6E4}">
                <adec:decorative xmlns:adec="http://schemas.microsoft.com/office/drawing/2017/decorative" val="1"/>
              </a:ext>
            </a:extLst>
          </p:cNvPr>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204663" y="259108"/>
            <a:ext cx="6167499" cy="338489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r>
              <a:rPr lang="zh-TW" altLang="en-US" sz="1000" b="1" dirty="0">
                <a:solidFill>
                  <a:schemeClr val="bg1"/>
                </a:solidFill>
              </a:rPr>
              <a:t>  </a:t>
            </a:r>
            <a:r>
              <a:rPr lang="en-US" altLang="zh-TW" sz="1000" b="1" dirty="0">
                <a:solidFill>
                  <a:schemeClr val="bg1"/>
                </a:solidFill>
              </a:rPr>
              <a:t>(CCL)</a:t>
            </a: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p:nvPr/>
        </p:nvCxnSpPr>
        <p:spPr>
          <a:xfrm>
            <a:off x="2534072" y="980728"/>
            <a:ext cx="0" cy="1546484"/>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1362605580"/>
              </p:ext>
            </p:extLst>
          </p:nvPr>
        </p:nvGraphicFramePr>
        <p:xfrm>
          <a:off x="1115616" y="1490289"/>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rgbClr val="4F81BD"/>
                          </a:solidFill>
                          <a:effectLst/>
                          <a:uLnTx/>
                          <a:uFillTx/>
                          <a:latin typeface="+mn-lt"/>
                          <a:ea typeface="+mn-ea"/>
                          <a:cs typeface="+mn-cs"/>
                        </a:rPr>
                        <a:t>GPU,</a:t>
                      </a:r>
                      <a:r>
                        <a:rPr kumimoji="0" lang="zh-TW" altLang="en-US" sz="1000" b="0" i="0" u="none" strike="noStrike" kern="1200" cap="none" spc="0" normalizeH="0" baseline="0" noProof="0" dirty="0">
                          <a:ln w="0"/>
                          <a:solidFill>
                            <a:srgbClr val="4F81BD"/>
                          </a:solidFill>
                          <a:effectLst/>
                          <a:uLnTx/>
                          <a:uFillTx/>
                          <a:latin typeface="+mn-lt"/>
                          <a:ea typeface="+mn-ea"/>
                          <a:cs typeface="+mn-cs"/>
                        </a:rPr>
                        <a:t> </a:t>
                      </a:r>
                      <a:r>
                        <a:rPr kumimoji="0" lang="en-US" altLang="zh-TW" sz="1000" b="0" i="0" u="none" strike="noStrike" kern="1200" cap="none" spc="0" normalizeH="0" baseline="0" noProof="0" dirty="0">
                          <a:ln w="0"/>
                          <a:solidFill>
                            <a:srgbClr val="4F81BD"/>
                          </a:solidFill>
                          <a:effectLst/>
                          <a:uLnTx/>
                          <a:uFillTx/>
                          <a:latin typeface="+mn-lt"/>
                          <a:ea typeface="+mn-ea"/>
                          <a:cs typeface="+mn-cs"/>
                        </a:rPr>
                        <a:t>CPU,</a:t>
                      </a:r>
                      <a:r>
                        <a:rPr kumimoji="0" lang="zh-TW" altLang="en-US" sz="1000" b="0" i="0" u="none" strike="noStrike" kern="1200" cap="none" spc="0" normalizeH="0" baseline="0" noProof="0" dirty="0">
                          <a:ln w="0"/>
                          <a:solidFill>
                            <a:srgbClr val="4F81BD"/>
                          </a:solidFill>
                          <a:effectLst/>
                          <a:uLnTx/>
                          <a:uFillTx/>
                          <a:latin typeface="+mn-lt"/>
                          <a:ea typeface="+mn-ea"/>
                          <a:cs typeface="+mn-cs"/>
                        </a:rPr>
                        <a:t> </a:t>
                      </a:r>
                      <a:r>
                        <a:rPr kumimoji="0" lang="en-US" altLang="zh-TW" sz="1000" b="0" i="0" u="none" strike="noStrike" kern="1200" cap="none" spc="0" normalizeH="0" baseline="0" noProof="0" dirty="0">
                          <a:ln w="0"/>
                          <a:solidFill>
                            <a:srgbClr val="4F81BD"/>
                          </a:solidFill>
                          <a:effectLst/>
                          <a:uLnTx/>
                          <a:uFillTx/>
                          <a:latin typeface="+mn-lt"/>
                          <a:ea typeface="+mn-ea"/>
                          <a:cs typeface="+mn-cs"/>
                        </a:rPr>
                        <a:t>Memory</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72" name="圖說文字: 直線 71">
            <a:extLst>
              <a:ext uri="{FF2B5EF4-FFF2-40B4-BE49-F238E27FC236}">
                <a16:creationId xmlns:a16="http://schemas.microsoft.com/office/drawing/2014/main" id="{585A9BF3-E7B2-7185-ED27-49F214F6148F}"/>
              </a:ext>
            </a:extLst>
          </p:cNvPr>
          <p:cNvSpPr/>
          <p:nvPr/>
        </p:nvSpPr>
        <p:spPr>
          <a:xfrm flipH="1">
            <a:off x="5039816" y="222025"/>
            <a:ext cx="1948127" cy="1180383"/>
          </a:xfrm>
          <a:prstGeom prst="borderCallout1">
            <a:avLst>
              <a:gd name="adj1" fmla="val 17633"/>
              <a:gd name="adj2" fmla="val 8388"/>
              <a:gd name="adj3" fmla="val 51744"/>
              <a:gd name="adj4" fmla="val -69227"/>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1443958221"/>
              </p:ext>
            </p:extLst>
          </p:nvPr>
        </p:nvGraphicFramePr>
        <p:xfrm>
          <a:off x="1763688" y="2945465"/>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rgbClr val="4F81BD"/>
                          </a:solidFill>
                          <a:effectLst/>
                          <a:uLnTx/>
                          <a:uFillTx/>
                          <a:latin typeface="+mn-lt"/>
                          <a:ea typeface="+mn-ea"/>
                          <a:cs typeface="+mn-cs"/>
                        </a:rPr>
                        <a:t>AI Agent</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xAI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2268202834"/>
              </p:ext>
            </p:extLst>
          </p:nvPr>
        </p:nvGraphicFramePr>
        <p:xfrm>
          <a:off x="2447764" y="4739462"/>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br>
                        <a:rPr lang="en-US" altLang="zh-TW" sz="1400" b="1" cap="none" spc="0" dirty="0">
                          <a:ln w="0"/>
                          <a:solidFill>
                            <a:schemeClr val="tx1"/>
                          </a:solidFill>
                          <a:effectLst/>
                        </a:rPr>
                      </a:br>
                      <a:r>
                        <a:rPr kumimoji="0" lang="en-US" altLang="zh-TW" sz="1000" b="0" i="0" u="none" strike="noStrike" kern="1200" cap="none" spc="0" normalizeH="0" baseline="0" noProof="0" dirty="0">
                          <a:ln w="0"/>
                          <a:solidFill>
                            <a:srgbClr val="4F81BD"/>
                          </a:solidFill>
                          <a:effectLst/>
                          <a:uLnTx/>
                          <a:uFillTx/>
                          <a:latin typeface="+mn-lt"/>
                          <a:ea typeface="+mn-ea"/>
                          <a:cs typeface="+mn-cs"/>
                        </a:rPr>
                        <a:t>CSP</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CoreWeave</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2930162266"/>
              </p:ext>
            </p:extLst>
          </p:nvPr>
        </p:nvGraphicFramePr>
        <p:xfrm>
          <a:off x="5374762" y="3161489"/>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178814869"/>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Vertical AI Applications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AI Agent</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Apple Perplexity</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r>
                        <a:rPr lang="zh-TW" altLang="en-US" sz="1200" b="0" cap="none" spc="0" dirty="0">
                          <a:ln w="0"/>
                          <a:solidFill>
                            <a:schemeClr val="tx1"/>
                          </a:solidFill>
                          <a:effectLst/>
                        </a:rPr>
                        <a:t> </a:t>
                      </a:r>
                      <a:r>
                        <a:rPr lang="en-US" altLang="zh-TW" sz="1200" b="0" cap="none" spc="0" dirty="0">
                          <a:ln w="0"/>
                          <a:solidFill>
                            <a:schemeClr val="tx1"/>
                          </a:solidFill>
                          <a:effectLst/>
                        </a:rPr>
                        <a:t>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Cursor (</a:t>
                      </a:r>
                      <a:r>
                        <a:rPr lang="en-US" altLang="zh-TW" sz="1200" b="0" cap="none" spc="0" dirty="0" err="1">
                          <a:ln w="0"/>
                          <a:solidFill>
                            <a:schemeClr val="tx1"/>
                          </a:solidFill>
                          <a:effectLst/>
                        </a:rPr>
                        <a:t>Anysphere</a:t>
                      </a:r>
                      <a:r>
                        <a:rPr lang="en-US" altLang="zh-TW" sz="1200" b="0" cap="none" spc="0" dirty="0">
                          <a:ln w="0"/>
                          <a:solidFill>
                            <a:schemeClr val="tx1"/>
                          </a:solidFill>
                          <a:effectLst/>
                        </a:rPr>
                        <a: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Tesla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Harvey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Adobe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Glean</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153156062"/>
              </p:ext>
            </p:extLst>
          </p:nvPr>
        </p:nvGraphicFramePr>
        <p:xfrm>
          <a:off x="6012160" y="5012192"/>
          <a:ext cx="2664296" cy="1280160"/>
        </p:xfrm>
        <a:graphic>
          <a:graphicData uri="http://schemas.openxmlformats.org/drawingml/2006/table">
            <a:tbl>
              <a:tblPr firstRow="1" bandRow="1">
                <a:tableStyleId>{5C22544A-7EE6-4342-B048-85BDC9FD1C3A}</a:tableStyleId>
              </a:tblPr>
              <a:tblGrid>
                <a:gridCol w="2664296">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Next-Gen Embodies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rgbClr val="4F81BD"/>
                          </a:solidFill>
                          <a:effectLst/>
                          <a:uLnTx/>
                          <a:uFillTx/>
                          <a:latin typeface="+mn-lt"/>
                          <a:ea typeface="+mn-ea"/>
                          <a:cs typeface="+mn-cs"/>
                        </a:rPr>
                        <a:t>Multimodal and AI Robot</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Figure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Runway</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ElevenLabs</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Suno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Waymo</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6078</Words>
  <Application>Microsoft Office PowerPoint</Application>
  <PresentationFormat>如螢幕大小 (4:3)</PresentationFormat>
  <Paragraphs>1240</Paragraphs>
  <Slides>20</Slides>
  <Notes>18</Notes>
  <HiddenSlides>0</HiddenSlides>
  <MMClips>0</MMClips>
  <ScaleCrop>false</ScaleCrop>
  <HeadingPairs>
    <vt:vector size="6" baseType="variant">
      <vt:variant>
        <vt:lpstr>使用字型</vt:lpstr>
      </vt:variant>
      <vt:variant>
        <vt:i4>13</vt:i4>
      </vt:variant>
      <vt:variant>
        <vt:lpstr>佈景主題</vt:lpstr>
      </vt:variant>
      <vt:variant>
        <vt:i4>1</vt:i4>
      </vt:variant>
      <vt:variant>
        <vt:lpstr>投影片標題</vt:lpstr>
      </vt:variant>
      <vt:variant>
        <vt:i4>20</vt:i4>
      </vt:variant>
    </vt:vector>
  </HeadingPairs>
  <TitlesOfParts>
    <vt:vector size="34"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1669</cp:revision>
  <cp:lastPrinted>2024-07-30T01:44:15Z</cp:lastPrinted>
  <dcterms:created xsi:type="dcterms:W3CDTF">2019-11-08T03:01:47Z</dcterms:created>
  <dcterms:modified xsi:type="dcterms:W3CDTF">2026-07-07T13:31:16Z</dcterms:modified>
</cp:coreProperties>
</file>