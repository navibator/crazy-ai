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3459" r:id="rId2"/>
    <p:sldId id="3472" r:id="rId3"/>
    <p:sldId id="3517" r:id="rId4"/>
    <p:sldId id="3528" r:id="rId5"/>
    <p:sldId id="3527" r:id="rId6"/>
    <p:sldId id="3518" r:id="rId7"/>
    <p:sldId id="3519" r:id="rId8"/>
  </p:sldIdLst>
  <p:sldSz cx="9144000" cy="6858000" type="screen4x3"/>
  <p:notesSz cx="6797675" cy="992505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Gemm 3 Technical Report" id="{30F6892D-1922-4A88-A82D-8CD0653C5411}">
          <p14:sldIdLst>
            <p14:sldId id="3459"/>
            <p14:sldId id="3472"/>
            <p14:sldId id="3517"/>
            <p14:sldId id="3528"/>
            <p14:sldId id="3527"/>
            <p14:sldId id="3518"/>
            <p14:sldId id="3519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1474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DEF1DDEA-D49D-B2A5-9D83-8BDFFC6C721F}" name="Allen Ni(倪士凱)" initials="AN" userId="S::ani@centrilliontech.com.tw::64a9ee61-01eb-41d1-8925-9f522fa76fb2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AEAEA"/>
    <a:srgbClr val="339933"/>
    <a:srgbClr val="DCE6F2"/>
    <a:srgbClr val="FF0000"/>
    <a:srgbClr val="FFFF99"/>
    <a:srgbClr val="E3C0AB"/>
    <a:srgbClr val="F3E4DB"/>
    <a:srgbClr val="FFCC99"/>
    <a:srgbClr val="CBDCA8"/>
    <a:srgbClr val="C5D8A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CF1AB2-1976-4502-BF36-3FF5EA218861}" styleName="中等深淺樣式 4 - 輔色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2D5ABB26-0587-4C30-8999-92F81FD0307C}" styleName="無樣式、無格線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2727" autoAdjust="0"/>
    <p:restoredTop sz="38667" autoAdjust="0"/>
  </p:normalViewPr>
  <p:slideViewPr>
    <p:cSldViewPr>
      <p:cViewPr>
        <p:scale>
          <a:sx n="100" d="100"/>
          <a:sy n="100" d="100"/>
        </p:scale>
        <p:origin x="547" y="-86"/>
      </p:cViewPr>
      <p:guideLst>
        <p:guide orient="horz" pos="2160"/>
        <p:guide pos="1474"/>
      </p:guideLst>
    </p:cSldViewPr>
  </p:slideViewPr>
  <p:outlineViewPr>
    <p:cViewPr>
      <p:scale>
        <a:sx n="33" d="100"/>
        <a:sy n="33" d="100"/>
      </p:scale>
      <p:origin x="0" y="-1075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96" d="100"/>
          <a:sy n="96" d="100"/>
        </p:scale>
        <p:origin x="278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8/10/relationships/authors" Target="authors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>
            <a:extLst>
              <a:ext uri="{FF2B5EF4-FFF2-40B4-BE49-F238E27FC236}">
                <a16:creationId xmlns:a16="http://schemas.microsoft.com/office/drawing/2014/main" id="{8509AA70-DCA8-F2B3-665C-D289623E162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2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260D9017-2A20-36CB-3124-1CE24A164FF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50445" y="0"/>
            <a:ext cx="2945659" cy="497976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982F7CBC-87DD-4F69-8F50-7ED68F7FF790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72E2BC4B-E97F-2930-F9D4-22EF7E0E14E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2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F9105500-21C2-E70A-A08C-9E9E3094A4E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50445" y="9427077"/>
            <a:ext cx="2945659" cy="497975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30EF305C-901E-49EC-B839-B172F9488209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9519013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50445" y="1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/>
          <a:lstStyle>
            <a:lvl1pPr algn="r">
              <a:defRPr sz="1200"/>
            </a:lvl1pPr>
          </a:lstStyle>
          <a:p>
            <a:fld id="{863167AA-796B-4B6A-95ED-1C0BCB3E5802}" type="datetimeFigureOut">
              <a:rPr lang="zh-TW" altLang="en-US" smtClean="0"/>
              <a:t>2026/7/26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917575" y="744538"/>
            <a:ext cx="4962525" cy="37226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30" tIns="45714" rIns="91430" bIns="45714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79768" y="4714400"/>
            <a:ext cx="5438140" cy="4466272"/>
          </a:xfrm>
          <a:prstGeom prst="rect">
            <a:avLst/>
          </a:prstGeom>
        </p:spPr>
        <p:txBody>
          <a:bodyPr vert="horz" lIns="91430" tIns="45714" rIns="91430" bIns="45714" rtlCol="0"/>
          <a:lstStyle/>
          <a:p>
            <a:pPr lvl="0"/>
            <a:r>
              <a:rPr lang="zh-TW" altLang="en-US" dirty="0"/>
              <a:t>按一下以編輯母片文字樣式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2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50445" y="9427075"/>
            <a:ext cx="2945659" cy="496253"/>
          </a:xfrm>
          <a:prstGeom prst="rect">
            <a:avLst/>
          </a:prstGeom>
        </p:spPr>
        <p:txBody>
          <a:bodyPr vert="horz" lIns="91430" tIns="45714" rIns="91430" bIns="45714" rtlCol="0" anchor="b"/>
          <a:lstStyle>
            <a:lvl1pPr algn="r">
              <a:defRPr sz="1200"/>
            </a:lvl1pPr>
          </a:lstStyle>
          <a:p>
            <a:fld id="{E3A6CE5E-F349-486D-8749-82EF2AD71FA8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33600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TW" altLang="en-US" dirty="0"/>
          </a:p>
        </p:txBody>
      </p:sp>
      <p:sp>
        <p:nvSpPr>
          <p:cNvPr id="4" name="投影片編號版面配置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1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41974219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84B811-902A-94AB-AABB-4CC1382C73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B32B768C-5222-29ED-3563-1AFFE32A7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A1FC8048-7B6E-7E1E-EC2B-CCC4CC9FF3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Wingdings" panose="05000000000000000000" pitchFamily="2" charset="2"/>
              <a:buNone/>
              <a:tabLst/>
              <a:defRPr/>
            </a:pPr>
            <a:endParaRPr kumimoji="0" lang="en-US" altLang="zh-TW" sz="2000" b="0" i="0" u="none" strike="noStrike" kern="1200" cap="none" spc="0" normalizeH="0" baseline="0" noProof="0" dirty="0">
              <a:ln>
                <a:noFill/>
              </a:ln>
              <a:solidFill>
                <a:prstClr val="white">
                  <a:lumMod val="50000"/>
                </a:prstClr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94A622D0-F740-070B-33AA-93A0D57A4D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3A6CE5E-F349-486D-8749-82EF2AD71FA8}" type="slidenum">
              <a:rPr lang="zh-TW" altLang="en-US" smtClean="0"/>
              <a:t>2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8943567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9870950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321017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頁尾版面配置區 4">
            <a:extLst>
              <a:ext uri="{FF2B5EF4-FFF2-40B4-BE49-F238E27FC236}">
                <a16:creationId xmlns:a16="http://schemas.microsoft.com/office/drawing/2014/main" id="{F852660B-5776-4457-897C-22F48580809B}"/>
              </a:ext>
            </a:extLst>
          </p:cNvPr>
          <p:cNvSpPr txBox="1">
            <a:spLocks/>
          </p:cNvSpPr>
          <p:nvPr userDrawn="1"/>
        </p:nvSpPr>
        <p:spPr>
          <a:xfrm>
            <a:off x="0" y="6628025"/>
            <a:ext cx="9144000" cy="235219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vert="horz" lIns="91440" tIns="45720" rIns="91440" bIns="45720" rtlCol="0" anchor="ctr"/>
          <a:lstStyle>
            <a:defPPr>
              <a:defRPr lang="zh-TW"/>
            </a:defPPr>
            <a:lvl1pPr marL="0" algn="ctr" defTabSz="914400" rtl="0" eaLnBrk="1" latinLnBrk="0" hangingPunct="1">
              <a:defRPr sz="1200" b="1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zh-TW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2" r:id="rId2"/>
  </p:sldLayoutIdLst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  <p:hf hdr="0"/>
  <p:txStyles>
    <p:titleStyle>
      <a:lvl1pPr algn="l" defTabSz="914400" rtl="0" eaLnBrk="1" latinLnBrk="0" hangingPunct="1">
        <a:spcBef>
          <a:spcPct val="0"/>
        </a:spcBef>
        <a:buNone/>
        <a:defRPr sz="2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6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●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20000" indent="-360000" algn="l" defTabSz="914400" rtl="0" eaLnBrk="1" latinLnBrk="0" hangingPunct="1">
        <a:spcBef>
          <a:spcPct val="20000"/>
        </a:spcBef>
        <a:buClr>
          <a:schemeClr val="tx1"/>
        </a:buClr>
        <a:buFont typeface="Calibri" pitchFamily="34" charset="0"/>
        <a:buChar char="○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8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44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1800000" indent="-360000" algn="l" defTabSz="914400" rtl="0" eaLnBrk="1" latinLnBrk="0" hangingPunct="1">
        <a:spcBef>
          <a:spcPct val="20000"/>
        </a:spcBef>
        <a:buClr>
          <a:schemeClr val="tx1"/>
        </a:buClr>
        <a:buFont typeface="Arial" pitchFamily="34" charset="0"/>
        <a:buChar char="‒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mc.ncbi.nlm.nih.gov/articles/PMC11573887/" TargetMode="External"/><Relationship Id="rId2" Type="http://schemas.openxmlformats.org/officeDocument/2006/relationships/hyperlink" Target="https://cherrylab.stanford.edu/projects/regulomedb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E41754-1A01-9656-056C-4B624E45A9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文字方塊 2">
            <a:extLst>
              <a:ext uri="{FF2B5EF4-FFF2-40B4-BE49-F238E27FC236}">
                <a16:creationId xmlns:a16="http://schemas.microsoft.com/office/drawing/2014/main" id="{96A5153E-BD84-CB21-D566-B888A2F168CC}"/>
              </a:ext>
            </a:extLst>
          </p:cNvPr>
          <p:cNvSpPr txBox="1"/>
          <p:nvPr/>
        </p:nvSpPr>
        <p:spPr>
          <a:xfrm>
            <a:off x="3748825" y="5118283"/>
            <a:ext cx="164634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Centrillion Technology </a:t>
            </a:r>
          </a:p>
          <a:p>
            <a:pPr algn="ctr"/>
            <a:r>
              <a:rPr lang="en-US" altLang="zh-TW" sz="1200" b="1" dirty="0">
                <a:solidFill>
                  <a:schemeClr val="accent1"/>
                </a:solidFill>
              </a:rPr>
              <a:t>Bioinformation Dept. </a:t>
            </a:r>
          </a:p>
          <a:p>
            <a:pPr algn="ctr"/>
            <a:r>
              <a:rPr lang="en-US" altLang="zh-TW" sz="1400" dirty="0">
                <a:solidFill>
                  <a:schemeClr val="accent1"/>
                </a:solidFill>
              </a:rPr>
              <a:t>Allen &amp; Felix</a:t>
            </a:r>
          </a:p>
          <a:p>
            <a:pPr algn="ctr"/>
            <a:r>
              <a:rPr lang="en-US" altLang="zh-TW" sz="1000" dirty="0">
                <a:solidFill>
                  <a:schemeClr val="accent1"/>
                </a:solidFill>
              </a:rPr>
              <a:t>2026/05/21</a:t>
            </a:r>
            <a:endParaRPr lang="zh-TW" altLang="en-US" sz="1000" dirty="0">
              <a:solidFill>
                <a:schemeClr val="accent1"/>
              </a:solidFill>
            </a:endParaRPr>
          </a:p>
        </p:txBody>
      </p:sp>
      <p:sp>
        <p:nvSpPr>
          <p:cNvPr id="2" name="文字方塊 1">
            <a:extLst>
              <a:ext uri="{FF2B5EF4-FFF2-40B4-BE49-F238E27FC236}">
                <a16:creationId xmlns:a16="http://schemas.microsoft.com/office/drawing/2014/main" id="{18C77BE7-A2CA-16B9-32EC-F267B3A21EBE}"/>
              </a:ext>
            </a:extLst>
          </p:cNvPr>
          <p:cNvSpPr txBox="1"/>
          <p:nvPr/>
        </p:nvSpPr>
        <p:spPr>
          <a:xfrm>
            <a:off x="809581" y="1500267"/>
            <a:ext cx="7524837" cy="146706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TW" sz="4000" b="1" dirty="0"/>
              <a:t>BIO-IT</a:t>
            </a:r>
            <a:r>
              <a:rPr lang="zh-TW" altLang="en-US" sz="4000" b="1" dirty="0"/>
              <a:t> </a:t>
            </a:r>
            <a:r>
              <a:rPr lang="en-US" altLang="zh-TW" sz="4000" b="1" dirty="0"/>
              <a:t>Agent</a:t>
            </a:r>
          </a:p>
          <a:p>
            <a:pPr defTabSz="4857750">
              <a:lnSpc>
                <a:spcPts val="400"/>
              </a:lnSpc>
            </a:pPr>
            <a:r>
              <a:rPr lang="zh-TW" altLang="en-US" sz="1000" b="1" dirty="0"/>
              <a:t> </a:t>
            </a:r>
            <a:r>
              <a:rPr lang="en-US" altLang="zh-TW" sz="1000" b="1" dirty="0"/>
              <a:t>	2026</a:t>
            </a:r>
          </a:p>
          <a:p>
            <a:pPr defTabSz="6727825">
              <a:tabLst>
                <a:tab pos="2332038" algn="l"/>
              </a:tabLst>
            </a:pPr>
            <a:endParaRPr lang="en-US" altLang="zh-TW" sz="1200" b="1" dirty="0"/>
          </a:p>
          <a:p>
            <a:pPr defTabSz="6727825">
              <a:tabLst>
                <a:tab pos="2332038" algn="l"/>
              </a:tabLst>
            </a:pPr>
            <a:endParaRPr lang="en-US" altLang="zh-TW" sz="1200" b="1" dirty="0">
              <a:solidFill>
                <a:schemeClr val="accent1">
                  <a:lumMod val="75000"/>
                </a:schemeClr>
              </a:solidFill>
            </a:endParaRPr>
          </a:p>
          <a:p>
            <a:pPr indent="541338" defTabSz="7269163">
              <a:tabLst>
                <a:tab pos="2955925" algn="l"/>
                <a:tab pos="5470525" algn="l"/>
              </a:tabLst>
            </a:pPr>
            <a:r>
              <a:rPr lang="en-US" altLang="zh-TW" sz="1200" b="1" dirty="0"/>
              <a:t>	</a:t>
            </a:r>
            <a:r>
              <a:rPr lang="en-US" altLang="zh-TW" sz="1200" b="1" dirty="0">
                <a:sym typeface="Wingdings" panose="05000000000000000000" pitchFamily="2" charset="2"/>
              </a:rPr>
              <a:t>Centrillion Tech	</a:t>
            </a:r>
            <a:r>
              <a:rPr lang="en-US" altLang="zh-TW" sz="1000" dirty="0">
                <a:sym typeface="Wingdings" panose="05000000000000000000" pitchFamily="2" charset="2"/>
              </a:rPr>
              <a:t>	Bio-Info Team</a:t>
            </a:r>
            <a:endParaRPr lang="zh-TW" altLang="en-US" sz="1000" dirty="0">
              <a:solidFill>
                <a:schemeClr val="accent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676095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C20B80-B722-2523-9202-3F21EBB146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標題 1">
            <a:extLst>
              <a:ext uri="{FF2B5EF4-FFF2-40B4-BE49-F238E27FC236}">
                <a16:creationId xmlns:a16="http://schemas.microsoft.com/office/drawing/2014/main" id="{94909093-0BFB-B658-A42D-64D3192A2420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Goal: Bio-IT AI Agent (Dr. Bio-Byte)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4" name="文字方塊 3">
            <a:extLst>
              <a:ext uri="{FF2B5EF4-FFF2-40B4-BE49-F238E27FC236}">
                <a16:creationId xmlns:a16="http://schemas.microsoft.com/office/drawing/2014/main" id="{3FBE37F5-82E5-A69A-2496-4479A9FEA39E}"/>
              </a:ext>
            </a:extLst>
          </p:cNvPr>
          <p:cNvSpPr txBox="1"/>
          <p:nvPr/>
        </p:nvSpPr>
        <p:spPr>
          <a:xfrm>
            <a:off x="2987824" y="972945"/>
            <a:ext cx="5760639" cy="22236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900"/>
              </a:spcBef>
              <a:spcAft>
                <a:spcPts val="1200"/>
              </a:spcAft>
            </a:pPr>
            <a:r>
              <a:rPr lang="en-US" altLang="zh-TW" sz="11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BIO-</a:t>
            </a:r>
            <a:r>
              <a:rPr lang="zh-TW" altLang="zh-TW" sz="11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Agent 是一個</a:t>
            </a:r>
            <a:r>
              <a:rPr lang="zh-TW" altLang="en-US" sz="11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多模態的生物醫學</a:t>
            </a:r>
            <a:r>
              <a:rPr lang="en-US" altLang="zh-TW" sz="11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AI</a:t>
            </a:r>
            <a:r>
              <a:rPr lang="zh-TW" altLang="en-US" sz="11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1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Agent, </a:t>
            </a:r>
            <a:r>
              <a:rPr lang="zh-TW" altLang="en-US" sz="11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分析輸入的資料</a:t>
            </a:r>
            <a:r>
              <a:rPr lang="en-US" altLang="zh-TW" sz="11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,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查詢遠端文獻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,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 進而整理出對應報告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.</a:t>
            </a:r>
          </a:p>
          <a:p>
            <a:pPr>
              <a:spcBef>
                <a:spcPts val="900"/>
              </a:spcBef>
              <a:spcAft>
                <a:spcPts val="1200"/>
              </a:spcAft>
            </a:pP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解讀基因分型數據，簡單來說，就是將枯燥的「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DNA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字母組合」，翻譯成你看得懂的「健康與生理說明書」。在實驗室完成基因分型（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Genotyping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）後，你會拿到一張包含成千上萬個點位、類似「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rs1057910: CC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」或「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rs334: AT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」的基因密碼清單。這些代碼本身沒有意義，而「解讀」就是利用 </a:t>
            </a:r>
            <a:r>
              <a:rPr lang="en-US" altLang="zh-TW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AI </a:t>
            </a: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或生物資訊工具，去翻閱國際醫學字典與資料庫，查明這些密碼對你的身體代表什麼：看疾病風險：查出哪些變異會增加你罹患心臟病、糖尿病或特定癌症的機率。看用藥反應：查出你的體質對某些藥物（如抗凝血劑、標靶藥）是代謝太快還是太慢，以便醫生調整精準劑量，避免過敏副作用。看調控特徵：查明這些變異是否會悄悄改變你體內某些基因的表達量。這項工作的本質，就是把冰冷的生物數據，轉化為具備臨床價值的精準醫療指引。 </a:t>
            </a:r>
            <a:endParaRPr lang="en-US" altLang="zh-TW" sz="1100" dirty="0"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9193AD6-7790-74B9-25AF-6FA2590D3D97}"/>
              </a:ext>
            </a:extLst>
          </p:cNvPr>
          <p:cNvSpPr/>
          <p:nvPr/>
        </p:nvSpPr>
        <p:spPr>
          <a:xfrm>
            <a:off x="323529" y="1304646"/>
            <a:ext cx="1152128" cy="612186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200"/>
              </a:lnSpc>
            </a:pPr>
            <a:r>
              <a:rPr lang="zh-TW" altLang="en-US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功能摘要</a:t>
            </a:r>
            <a:endParaRPr lang="en-US" altLang="zh-TW" sz="12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(Agent</a:t>
            </a:r>
            <a:r>
              <a:rPr lang="zh-TW" altLang="en-US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詢答</a:t>
            </a:r>
            <a:r>
              <a:rPr lang="en-US" altLang="zh-TW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2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7425320-EC34-31E3-4B3E-7BE529921AA4}"/>
              </a:ext>
            </a:extLst>
          </p:cNvPr>
          <p:cNvSpPr/>
          <p:nvPr/>
        </p:nvSpPr>
        <p:spPr>
          <a:xfrm>
            <a:off x="323529" y="2252745"/>
            <a:ext cx="1152128" cy="960231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200"/>
              </a:lnSpc>
            </a:pPr>
            <a:r>
              <a:rPr lang="zh-TW" altLang="en-US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系統架構</a:t>
            </a:r>
            <a:endParaRPr lang="en-US" altLang="zh-TW" sz="12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方案</a:t>
            </a:r>
            <a:r>
              <a:rPr lang="en-US" altLang="zh-TW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做法</a:t>
            </a:r>
            <a:r>
              <a:rPr lang="en-US" altLang="zh-TW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</a:p>
          <a:p>
            <a:pPr>
              <a:lnSpc>
                <a:spcPts val="1200"/>
              </a:lnSpc>
            </a:pPr>
            <a:endParaRPr lang="en-US" altLang="zh-TW" sz="12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200"/>
              </a:lnSpc>
            </a:pPr>
            <a:r>
              <a:rPr lang="zh-TW" altLang="en-US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微調內容</a:t>
            </a:r>
            <a:endParaRPr lang="en-US" altLang="zh-TW" sz="12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資料</a:t>
            </a:r>
            <a:r>
              <a:rPr lang="en-US" altLang="zh-TW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/</a:t>
            </a:r>
            <a:r>
              <a:rPr lang="zh-TW" altLang="en-US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來源</a:t>
            </a:r>
            <a:r>
              <a:rPr lang="en-US" altLang="zh-TW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endParaRPr lang="zh-TW" altLang="en-US" sz="12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8F0E374-031C-6D04-154D-D5C2744BF69D}"/>
              </a:ext>
            </a:extLst>
          </p:cNvPr>
          <p:cNvSpPr/>
          <p:nvPr/>
        </p:nvSpPr>
        <p:spPr>
          <a:xfrm>
            <a:off x="323529" y="3581132"/>
            <a:ext cx="1152128" cy="612187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200"/>
              </a:lnSpc>
            </a:pPr>
            <a:r>
              <a:rPr lang="zh-TW" altLang="en-US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研究方法</a:t>
            </a:r>
            <a:endParaRPr lang="en-US" altLang="zh-TW" sz="12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2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en-US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評估標準</a:t>
            </a:r>
            <a:r>
              <a:rPr lang="en-US" altLang="zh-TW" sz="1200" dirty="0">
                <a:solidFill>
                  <a:schemeClr val="tx2"/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) </a:t>
            </a:r>
            <a:endParaRPr lang="zh-TW" altLang="en-US" sz="1200" dirty="0">
              <a:solidFill>
                <a:schemeClr val="tx2"/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cxnSp>
        <p:nvCxnSpPr>
          <p:cNvPr id="7" name="直線單箭頭接點 6">
            <a:extLst>
              <a:ext uri="{FF2B5EF4-FFF2-40B4-BE49-F238E27FC236}">
                <a16:creationId xmlns:a16="http://schemas.microsoft.com/office/drawing/2014/main" id="{6A12B706-1D5F-BC8C-6A88-B1F33BE9AA9B}"/>
              </a:ext>
            </a:extLst>
          </p:cNvPr>
          <p:cNvCxnSpPr>
            <a:cxnSpLocks/>
            <a:stCxn id="3" idx="2"/>
            <a:endCxn id="5" idx="0"/>
          </p:cNvCxnSpPr>
          <p:nvPr/>
        </p:nvCxnSpPr>
        <p:spPr>
          <a:xfrm>
            <a:off x="899593" y="1916832"/>
            <a:ext cx="0" cy="335913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直線單箭頭接點 7">
            <a:extLst>
              <a:ext uri="{FF2B5EF4-FFF2-40B4-BE49-F238E27FC236}">
                <a16:creationId xmlns:a16="http://schemas.microsoft.com/office/drawing/2014/main" id="{A43E5657-DB10-F6AE-CFC3-017685DF86AD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899593" y="3212976"/>
            <a:ext cx="0" cy="368156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矩形 8">
            <a:extLst>
              <a:ext uri="{FF2B5EF4-FFF2-40B4-BE49-F238E27FC236}">
                <a16:creationId xmlns:a16="http://schemas.microsoft.com/office/drawing/2014/main" id="{52AA70ED-0E51-1FA1-7862-0F92488BFF5B}"/>
              </a:ext>
            </a:extLst>
          </p:cNvPr>
          <p:cNvSpPr/>
          <p:nvPr/>
        </p:nvSpPr>
        <p:spPr>
          <a:xfrm>
            <a:off x="1331641" y="2252744"/>
            <a:ext cx="1509774" cy="960231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200"/>
              </a:lnSpc>
            </a:pPr>
            <a:r>
              <a:rPr lang="zh-TW" altLang="en-US" sz="1200" dirty="0">
                <a:solidFill>
                  <a:schemeClr val="accent3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目標</a:t>
            </a:r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accent3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基因分型</a:t>
            </a:r>
            <a:endParaRPr lang="en-US" altLang="zh-TW" sz="1200" dirty="0">
              <a:solidFill>
                <a:schemeClr val="accent3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200"/>
              </a:lnSpc>
            </a:pPr>
            <a:endParaRPr lang="en-US" altLang="zh-TW" sz="1200" dirty="0">
              <a:solidFill>
                <a:schemeClr val="accent3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200"/>
              </a:lnSpc>
            </a:pPr>
            <a:r>
              <a:rPr lang="zh-TW" altLang="en-US" sz="1200" dirty="0">
                <a:solidFill>
                  <a:schemeClr val="accent3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微調</a:t>
            </a:r>
            <a:r>
              <a:rPr lang="en-US" altLang="zh-TW" sz="1200" dirty="0">
                <a:solidFill>
                  <a:schemeClr val="accent3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:</a:t>
            </a:r>
            <a:r>
              <a:rPr lang="zh-TW" altLang="en-US" sz="1200" dirty="0">
                <a:solidFill>
                  <a:schemeClr val="accent3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資料來源</a:t>
            </a:r>
            <a:endParaRPr lang="en-US" altLang="zh-TW" sz="1200" dirty="0">
              <a:solidFill>
                <a:schemeClr val="accent3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173404AA-552F-AAA0-CDF0-7E739E907927}"/>
              </a:ext>
            </a:extLst>
          </p:cNvPr>
          <p:cNvSpPr/>
          <p:nvPr/>
        </p:nvSpPr>
        <p:spPr>
          <a:xfrm>
            <a:off x="1331640" y="1304646"/>
            <a:ext cx="1509777" cy="612186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  <a:ln w="38100">
            <a:solidFill>
              <a:schemeClr val="accent3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200"/>
              </a:lnSpc>
            </a:pPr>
            <a:r>
              <a:rPr lang="zh-TW" altLang="en-US" sz="1000" dirty="0">
                <a:solidFill>
                  <a:schemeClr val="accent3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* </a:t>
            </a:r>
            <a:r>
              <a:rPr lang="en-US" altLang="zh-TW" sz="1000" dirty="0">
                <a:solidFill>
                  <a:schemeClr val="accent3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BIO-AI</a:t>
            </a:r>
            <a:r>
              <a:rPr lang="zh-TW" altLang="en-US" sz="1000" dirty="0">
                <a:solidFill>
                  <a:schemeClr val="accent3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en-US" altLang="zh-TW" sz="1000" dirty="0">
                <a:solidFill>
                  <a:schemeClr val="accent3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Agent</a:t>
            </a:r>
            <a:r>
              <a:rPr lang="zh-TW" altLang="en-US" sz="1000" dirty="0">
                <a:solidFill>
                  <a:schemeClr val="accent3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智能體</a:t>
            </a:r>
            <a:endParaRPr lang="en-US" altLang="zh-TW" sz="1000" dirty="0">
              <a:solidFill>
                <a:schemeClr val="accent3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>
              <a:lnSpc>
                <a:spcPts val="1200"/>
              </a:lnSpc>
            </a:pPr>
            <a:r>
              <a:rPr lang="zh-TW" altLang="en-US" sz="1000" dirty="0">
                <a:solidFill>
                  <a:schemeClr val="accent3">
                    <a:lumMod val="50000"/>
                  </a:schemeClr>
                </a:solidFill>
                <a:latin typeface="微軟正黑體" panose="020B0604030504040204" pitchFamily="34" charset="-120"/>
                <a:ea typeface="微軟正黑體" panose="020B0604030504040204" pitchFamily="34" charset="-120"/>
              </a:rPr>
              <a:t>* 基因分型對醫學的功用</a:t>
            </a:r>
            <a:endParaRPr lang="en-US" altLang="zh-TW" sz="1000" dirty="0">
              <a:solidFill>
                <a:schemeClr val="accent3">
                  <a:lumMod val="50000"/>
                </a:schemeClr>
              </a:solidFill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4506484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 advClick="0"/>
    </mc:Choice>
    <mc:Fallback xmlns="">
      <p:transition advClick="0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933EB4AF-4853-9400-B2B9-C3FC20DF31C7}"/>
              </a:ext>
            </a:extLst>
          </p:cNvPr>
          <p:cNvSpPr/>
          <p:nvPr/>
        </p:nvSpPr>
        <p:spPr>
          <a:xfrm>
            <a:off x="4826476" y="1790611"/>
            <a:ext cx="3033034" cy="1185267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36000" tIns="0" rIns="0" bIns="0" rtlCol="0" anchor="ctr" anchorCtr="0"/>
          <a:lstStyle/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Call Function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RegulomeDB (Stanford University)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GTEx Portal (Single-Cell Gene Expression Data)</a:t>
            </a:r>
          </a:p>
          <a:p>
            <a:pPr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ea typeface="ADLaM Display" panose="02010000000000000000" pitchFamily="2" charset="0"/>
                <a:cs typeface="ADLaM Display" panose="02010000000000000000" pitchFamily="2" charset="0"/>
              </a:rPr>
              <a:t>* Ensembl Regulation (EBI/Sanger)</a:t>
            </a:r>
          </a:p>
        </p:txBody>
      </p:sp>
      <p:sp>
        <p:nvSpPr>
          <p:cNvPr id="6" name="標題 1">
            <a:extLst>
              <a:ext uri="{FF2B5EF4-FFF2-40B4-BE49-F238E27FC236}">
                <a16:creationId xmlns:a16="http://schemas.microsoft.com/office/drawing/2014/main" id="{D0FCB7C8-D55B-C23C-EBA3-E4239EBFE35F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Architecture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graphicFrame>
        <p:nvGraphicFramePr>
          <p:cNvPr id="2" name="表格 1">
            <a:extLst>
              <a:ext uri="{FF2B5EF4-FFF2-40B4-BE49-F238E27FC236}">
                <a16:creationId xmlns:a16="http://schemas.microsoft.com/office/drawing/2014/main" id="{DB1F8FA5-669F-FAFF-FA6E-54EBC5D8B5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45364047"/>
              </p:ext>
            </p:extLst>
          </p:nvPr>
        </p:nvGraphicFramePr>
        <p:xfrm>
          <a:off x="910206" y="1929586"/>
          <a:ext cx="1432386" cy="142501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2386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1208993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kumimoji="0" lang="en-US" altLang="zh-TW" sz="1200" b="1" i="0" u="none" strike="noStrike" kern="1200" cap="none" spc="0" normalizeH="0" baseline="0" noProof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uLnTx/>
                        <a:uFillTx/>
                        <a:latin typeface="+mn-lt"/>
                        <a:ea typeface="+mn-ea"/>
                        <a:cs typeface="+mn-cs"/>
                      </a:endParaRP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Fine-Tunning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21602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GPU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831162"/>
                  </a:ext>
                </a:extLst>
              </a:tr>
            </a:tbl>
          </a:graphicData>
        </a:graphic>
      </p:graphicFrame>
      <p:graphicFrame>
        <p:nvGraphicFramePr>
          <p:cNvPr id="4" name="表格 3">
            <a:extLst>
              <a:ext uri="{FF2B5EF4-FFF2-40B4-BE49-F238E27FC236}">
                <a16:creationId xmlns:a16="http://schemas.microsoft.com/office/drawing/2014/main" id="{40A6737D-2318-2B46-8BAC-55963F25B48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00752209"/>
              </p:ext>
            </p:extLst>
          </p:nvPr>
        </p:nvGraphicFramePr>
        <p:xfrm>
          <a:off x="3402369" y="1914444"/>
          <a:ext cx="1217339" cy="1407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17339">
                  <a:extLst>
                    <a:ext uri="{9D8B030D-6E8A-4147-A177-3AD203B41FA5}">
                      <a16:colId xmlns:a16="http://schemas.microsoft.com/office/drawing/2014/main" val="2211145501"/>
                    </a:ext>
                  </a:extLst>
                </a:gridCol>
              </a:tblGrid>
              <a:tr h="316769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</a:p>
                  </a:txBody>
                  <a:tcPr marL="0" marR="72000" marT="0" marB="36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8507786"/>
                  </a:ext>
                </a:extLst>
              </a:tr>
              <a:tr h="907366">
                <a:tc>
                  <a:txBody>
                    <a:bodyPr/>
                    <a:lstStyle/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Inference</a:t>
                      </a:r>
                    </a:p>
                    <a:p>
                      <a:pPr marL="0" marR="0" lvl="0" indent="0" algn="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chemeClr val="accent1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Environment</a:t>
                      </a:r>
                    </a:p>
                  </a:txBody>
                  <a:tcPr marL="0" marR="72000" marT="0" marB="72000" anchor="b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38426438"/>
                  </a:ext>
                </a:extLst>
              </a:tr>
              <a:tr h="144016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altLang="zh-TW" sz="12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PC/NB</a:t>
                      </a:r>
                    </a:p>
                  </a:txBody>
                  <a:tcPr marL="0" marR="0" marT="0" marB="0" anchor="ctr" anchorCtr="1">
                    <a:lnL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2">
                          <a:lumMod val="40000"/>
                          <a:lumOff val="6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chemeClr val="accent1">
                          <a:lumMod val="20000"/>
                          <a:lumOff val="8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solidFill>
                      <a:schemeClr val="bg1">
                        <a:lumMod val="95000"/>
                        <a:alpha val="6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2830567"/>
                  </a:ext>
                </a:extLst>
              </a:tr>
            </a:tbl>
          </a:graphicData>
        </a:graphic>
      </p:graphicFrame>
      <p:pic>
        <p:nvPicPr>
          <p:cNvPr id="5" name="圖片 4">
            <a:extLst>
              <a:ext uri="{FF2B5EF4-FFF2-40B4-BE49-F238E27FC236}">
                <a16:creationId xmlns:a16="http://schemas.microsoft.com/office/drawing/2014/main" id="{1AE1465A-57AB-C852-BB9C-E6ADA5CC7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0401" y="1740554"/>
            <a:ext cx="432048" cy="432048"/>
          </a:xfrm>
          <a:prstGeom prst="rect">
            <a:avLst/>
          </a:prstGeom>
          <a:effectLst>
            <a:glow rad="25400">
              <a:schemeClr val="accent1">
                <a:lumMod val="20000"/>
                <a:lumOff val="80000"/>
                <a:alpha val="40000"/>
              </a:schemeClr>
            </a:glow>
            <a:softEdge rad="50800"/>
          </a:effectLst>
        </p:spPr>
      </p:pic>
      <p:cxnSp>
        <p:nvCxnSpPr>
          <p:cNvPr id="7" name="接點: 肘形 6">
            <a:extLst>
              <a:ext uri="{FF2B5EF4-FFF2-40B4-BE49-F238E27FC236}">
                <a16:creationId xmlns:a16="http://schemas.microsoft.com/office/drawing/2014/main" id="{31B2BDD8-0CDC-7F98-2502-AA1B5489ED3F}"/>
              </a:ext>
            </a:extLst>
          </p:cNvPr>
          <p:cNvCxnSpPr>
            <a:cxnSpLocks/>
            <a:stCxn id="20" idx="2"/>
            <a:endCxn id="8" idx="1"/>
          </p:cNvCxnSpPr>
          <p:nvPr/>
        </p:nvCxnSpPr>
        <p:spPr>
          <a:xfrm rot="16200000" flipH="1">
            <a:off x="2095631" y="1859824"/>
            <a:ext cx="262708" cy="1206994"/>
          </a:xfrm>
          <a:prstGeom prst="bentConnector2">
            <a:avLst/>
          </a:prstGeom>
          <a:ln w="50800">
            <a:solidFill>
              <a:schemeClr val="bg1">
                <a:lumMod val="75000"/>
              </a:schemeClr>
            </a:solidFill>
            <a:prstDash val="solid"/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矩形 7">
            <a:extLst>
              <a:ext uri="{FF2B5EF4-FFF2-40B4-BE49-F238E27FC236}">
                <a16:creationId xmlns:a16="http://schemas.microsoft.com/office/drawing/2014/main" id="{7A5C6EA7-6D54-4902-EDE7-26C790AFF4B4}"/>
              </a:ext>
            </a:extLst>
          </p:cNvPr>
          <p:cNvSpPr/>
          <p:nvPr/>
        </p:nvSpPr>
        <p:spPr>
          <a:xfrm>
            <a:off x="2830482" y="2440683"/>
            <a:ext cx="859919" cy="307983"/>
          </a:xfrm>
          <a:prstGeom prst="rect">
            <a:avLst/>
          </a:prstGeom>
          <a:solidFill>
            <a:schemeClr val="accent1">
              <a:lumMod val="20000"/>
              <a:lumOff val="80000"/>
              <a:alpha val="40000"/>
            </a:schemeClr>
          </a:solidFill>
          <a:ln w="38100">
            <a:solidFill>
              <a:schemeClr val="tx2">
                <a:lumMod val="60000"/>
                <a:lumOff val="40000"/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/>
            <a:r>
              <a:rPr lang="en-US" altLang="zh-TW" sz="1400" b="1" dirty="0">
                <a:solidFill>
                  <a:schemeClr val="tx2"/>
                </a:solidFill>
              </a:rPr>
              <a:t>Gemma 4</a:t>
            </a:r>
            <a:endParaRPr lang="zh-TW" altLang="en-US" dirty="0"/>
          </a:p>
        </p:txBody>
      </p:sp>
      <p:grpSp>
        <p:nvGrpSpPr>
          <p:cNvPr id="9" name="群組 8">
            <a:extLst>
              <a:ext uri="{FF2B5EF4-FFF2-40B4-BE49-F238E27FC236}">
                <a16:creationId xmlns:a16="http://schemas.microsoft.com/office/drawing/2014/main" id="{5C52DA3A-73E2-5C45-B124-B126F7341A19}"/>
              </a:ext>
            </a:extLst>
          </p:cNvPr>
          <p:cNvGrpSpPr/>
          <p:nvPr/>
        </p:nvGrpSpPr>
        <p:grpSpPr>
          <a:xfrm>
            <a:off x="3060717" y="2676658"/>
            <a:ext cx="396274" cy="465099"/>
            <a:chOff x="283951" y="1194723"/>
            <a:chExt cx="487696" cy="626385"/>
          </a:xfrm>
          <a:effectLst>
            <a:glow rad="76200">
              <a:schemeClr val="accent1">
                <a:lumMod val="20000"/>
                <a:lumOff val="80000"/>
                <a:alpha val="20000"/>
              </a:schemeClr>
            </a:glow>
          </a:effectLst>
        </p:grpSpPr>
        <p:sp>
          <p:nvSpPr>
            <p:cNvPr id="10" name="文字方塊 9">
              <a:extLst>
                <a:ext uri="{FF2B5EF4-FFF2-40B4-BE49-F238E27FC236}">
                  <a16:creationId xmlns:a16="http://schemas.microsoft.com/office/drawing/2014/main" id="{ABF06599-2BD0-1813-4939-5A5A4C75B9B4}"/>
                </a:ext>
              </a:extLst>
            </p:cNvPr>
            <p:cNvSpPr txBox="1"/>
            <p:nvPr/>
          </p:nvSpPr>
          <p:spPr>
            <a:xfrm>
              <a:off x="283951" y="1573740"/>
              <a:ext cx="487696" cy="247368"/>
            </a:xfrm>
            <a:prstGeom prst="rect">
              <a:avLst/>
            </a:prstGeom>
            <a:solidFill>
              <a:schemeClr val="bg1">
                <a:lumMod val="95000"/>
                <a:alpha val="40000"/>
              </a:schemeClr>
            </a:solidFill>
            <a:ln>
              <a:noFill/>
            </a:ln>
            <a:effectLst>
              <a:glow rad="25400">
                <a:schemeClr val="bg1">
                  <a:lumMod val="95000"/>
                  <a:alpha val="40000"/>
                </a:schemeClr>
              </a:glow>
              <a:softEdge rad="50800"/>
            </a:effectLst>
          </p:spPr>
          <p:txBody>
            <a:bodyPr wrap="none" lIns="0" tIns="0" rIns="0" bIns="0" anchor="ctr" anchorCtr="1">
              <a:noAutofit/>
            </a:bodyPr>
            <a:lstStyle/>
            <a:p>
              <a:r>
                <a:rPr lang="en-US" altLang="zh-TW" sz="1200" dirty="0">
                  <a:ln w="0"/>
                  <a:solidFill>
                    <a:schemeClr val="accent1">
                      <a:lumMod val="7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O</a:t>
              </a:r>
              <a:r>
                <a:rPr lang="en-US" altLang="zh-TW" sz="1200" dirty="0">
                  <a:ln w="0"/>
                  <a:solidFill>
                    <a:schemeClr val="tx1">
                      <a:lumMod val="95000"/>
                      <a:lumOff val="5000"/>
                    </a:schemeClr>
                  </a:solidFill>
                  <a:latin typeface="Calibri"/>
                  <a:ea typeface="新細明體" panose="02020500000000000000" pitchFamily="18" charset="-120"/>
                </a:rPr>
                <a:t>llama</a:t>
              </a:r>
            </a:p>
          </p:txBody>
        </p:sp>
        <p:pic>
          <p:nvPicPr>
            <p:cNvPr id="11" name="圖片 10">
              <a:extLst>
                <a:ext uri="{FF2B5EF4-FFF2-40B4-BE49-F238E27FC236}">
                  <a16:creationId xmlns:a16="http://schemas.microsoft.com/office/drawing/2014/main" id="{5E5876E1-2AD1-481F-0AE7-98C9C92AED6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55960" y="1194723"/>
              <a:ext cx="337951" cy="390669"/>
            </a:xfrm>
            <a:prstGeom prst="rect">
              <a:avLst/>
            </a:prstGeom>
            <a:solidFill>
              <a:schemeClr val="bg1">
                <a:alpha val="20000"/>
              </a:schemeClr>
            </a:solidFill>
            <a:effectLst>
              <a:glow rad="76200">
                <a:schemeClr val="accent1">
                  <a:lumMod val="20000"/>
                  <a:lumOff val="80000"/>
                  <a:alpha val="40000"/>
                </a:schemeClr>
              </a:glow>
              <a:softEdge rad="25400"/>
            </a:effectLst>
          </p:spPr>
        </p:pic>
      </p:grp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E5ADE032-C306-9696-54D2-4EA4994F6034}"/>
              </a:ext>
            </a:extLst>
          </p:cNvPr>
          <p:cNvSpPr txBox="1"/>
          <p:nvPr/>
        </p:nvSpPr>
        <p:spPr>
          <a:xfrm>
            <a:off x="3583344" y="1318481"/>
            <a:ext cx="646161" cy="284703"/>
          </a:xfrm>
          <a:prstGeom prst="rect">
            <a:avLst/>
          </a:prstGeom>
          <a:noFill/>
        </p:spPr>
        <p:txBody>
          <a:bodyPr wrap="none" lIns="0" tIns="0" rIns="0" bIns="0" anchor="ctr" anchorCtr="1">
            <a:noAutofit/>
          </a:bodyPr>
          <a:lstStyle/>
          <a:p>
            <a:pPr algn="ctr">
              <a:lnSpc>
                <a:spcPts val="2000"/>
              </a:lnSpc>
              <a:buNone/>
            </a:pPr>
            <a:r>
              <a:rPr lang="en-US" altLang="zh-TW" sz="2000" b="1" u="none" strike="noStrike" dirty="0">
                <a:effectLst/>
              </a:rPr>
              <a:t>User</a:t>
            </a:r>
          </a:p>
        </p:txBody>
      </p:sp>
      <p:cxnSp>
        <p:nvCxnSpPr>
          <p:cNvPr id="14" name="直線單箭頭接點 13">
            <a:extLst>
              <a:ext uri="{FF2B5EF4-FFF2-40B4-BE49-F238E27FC236}">
                <a16:creationId xmlns:a16="http://schemas.microsoft.com/office/drawing/2014/main" id="{CAA31234-478F-6B09-B023-CBC177553873}"/>
              </a:ext>
            </a:extLst>
          </p:cNvPr>
          <p:cNvCxnSpPr>
            <a:cxnSpLocks/>
            <a:stCxn id="13" idx="2"/>
            <a:endCxn id="5" idx="0"/>
          </p:cNvCxnSpPr>
          <p:nvPr/>
        </p:nvCxnSpPr>
        <p:spPr>
          <a:xfrm>
            <a:off x="3906425" y="1603184"/>
            <a:ext cx="0" cy="137370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線單箭頭接點 14">
            <a:extLst>
              <a:ext uri="{FF2B5EF4-FFF2-40B4-BE49-F238E27FC236}">
                <a16:creationId xmlns:a16="http://schemas.microsoft.com/office/drawing/2014/main" id="{8C6F0AE6-D1A7-B1CE-B27E-05D7A3EEA827}"/>
              </a:ext>
            </a:extLst>
          </p:cNvPr>
          <p:cNvCxnSpPr>
            <a:cxnSpLocks/>
            <a:stCxn id="5" idx="3"/>
            <a:endCxn id="16" idx="0"/>
          </p:cNvCxnSpPr>
          <p:nvPr/>
        </p:nvCxnSpPr>
        <p:spPr>
          <a:xfrm flipV="1">
            <a:off x="4122449" y="1956577"/>
            <a:ext cx="288033" cy="1"/>
          </a:xfrm>
          <a:prstGeom prst="straightConnector1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箭號: 向下 15">
            <a:extLst>
              <a:ext uri="{FF2B5EF4-FFF2-40B4-BE49-F238E27FC236}">
                <a16:creationId xmlns:a16="http://schemas.microsoft.com/office/drawing/2014/main" id="{7D0722E7-3E2B-E75E-AA03-7172B9D76EBA}"/>
              </a:ext>
            </a:extLst>
          </p:cNvPr>
          <p:cNvSpPr/>
          <p:nvPr/>
        </p:nvSpPr>
        <p:spPr>
          <a:xfrm rot="16200000">
            <a:off x="4477494" y="1726640"/>
            <a:ext cx="325849" cy="459874"/>
          </a:xfrm>
          <a:prstGeom prst="downArrow">
            <a:avLst>
              <a:gd name="adj1" fmla="val 62892"/>
              <a:gd name="adj2" fmla="val 52184"/>
            </a:avLst>
          </a:prstGeom>
          <a:solidFill>
            <a:schemeClr val="accent4">
              <a:lumMod val="20000"/>
              <a:lumOff val="80000"/>
            </a:schemeClr>
          </a:solidFill>
          <a:ln w="25400">
            <a:solidFill>
              <a:schemeClr val="accent4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wrap="none" lIns="0" tIns="72000" rIns="0" bIns="0" rtlCol="0" anchor="ctr" anchorCtr="1"/>
          <a:lstStyle/>
          <a:p>
            <a:pPr algn="ctr"/>
            <a:r>
              <a:rPr lang="en-US" altLang="zh-TW" sz="1200" b="1" dirty="0">
                <a:solidFill>
                  <a:schemeClr val="accent4">
                    <a:lumMod val="75000"/>
                  </a:schemeClr>
                </a:solidFill>
              </a:rPr>
              <a:t>MCP</a:t>
            </a:r>
            <a:endParaRPr lang="zh-TW" altLang="en-US" sz="1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7" name="接點: 肘形 16">
            <a:extLst>
              <a:ext uri="{FF2B5EF4-FFF2-40B4-BE49-F238E27FC236}">
                <a16:creationId xmlns:a16="http://schemas.microsoft.com/office/drawing/2014/main" id="{3FF0AA03-13D7-FC95-EC01-D24C42965E41}"/>
              </a:ext>
            </a:extLst>
          </p:cNvPr>
          <p:cNvCxnSpPr>
            <a:cxnSpLocks/>
            <a:stCxn id="5" idx="2"/>
            <a:endCxn id="8" idx="3"/>
          </p:cNvCxnSpPr>
          <p:nvPr/>
        </p:nvCxnSpPr>
        <p:spPr>
          <a:xfrm rot="5400000">
            <a:off x="3587377" y="2275626"/>
            <a:ext cx="422073" cy="216024"/>
          </a:xfrm>
          <a:prstGeom prst="bentConnector2">
            <a:avLst/>
          </a:prstGeom>
          <a:ln w="25400">
            <a:solidFill>
              <a:schemeClr val="accent1">
                <a:lumMod val="75000"/>
              </a:schemeClr>
            </a:solidFill>
            <a:prstDash val="sys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圖片 19">
            <a:extLst>
              <a:ext uri="{FF2B5EF4-FFF2-40B4-BE49-F238E27FC236}">
                <a16:creationId xmlns:a16="http://schemas.microsoft.com/office/drawing/2014/main" id="{0BB06E71-32EA-03E7-346A-AEB63F3F28D0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07464" y="1899920"/>
            <a:ext cx="432048" cy="432047"/>
          </a:xfrm>
          <a:prstGeom prst="rect">
            <a:avLst/>
          </a:prstGeom>
          <a:effectLst>
            <a:glow rad="76200">
              <a:srgbClr val="00B050">
                <a:alpha val="40000"/>
              </a:srgbClr>
            </a:glow>
          </a:effectLst>
        </p:spPr>
      </p:pic>
      <p:sp>
        <p:nvSpPr>
          <p:cNvPr id="21" name="文字方塊 20">
            <a:extLst>
              <a:ext uri="{FF2B5EF4-FFF2-40B4-BE49-F238E27FC236}">
                <a16:creationId xmlns:a16="http://schemas.microsoft.com/office/drawing/2014/main" id="{101BE5B7-93B4-6DCE-D32E-FA5623F11642}"/>
              </a:ext>
            </a:extLst>
          </p:cNvPr>
          <p:cNvSpPr txBox="1"/>
          <p:nvPr/>
        </p:nvSpPr>
        <p:spPr>
          <a:xfrm>
            <a:off x="1419758" y="2372632"/>
            <a:ext cx="432048" cy="247368"/>
          </a:xfrm>
          <a:prstGeom prst="rect">
            <a:avLst/>
          </a:prstGeom>
          <a:solidFill>
            <a:schemeClr val="bg1">
              <a:lumMod val="95000"/>
              <a:alpha val="40000"/>
            </a:schemeClr>
          </a:solidFill>
          <a:ln>
            <a:noFill/>
          </a:ln>
          <a:effectLst/>
        </p:spPr>
        <p:txBody>
          <a:bodyPr wrap="none" lIns="0" tIns="0" rIns="0" bIns="0" anchor="ctr" anchorCtr="1">
            <a:noAutofit/>
          </a:bodyPr>
          <a:lstStyle/>
          <a:p>
            <a:r>
              <a:rPr lang="en-US" altLang="zh-TW" sz="1200" dirty="0">
                <a:ln w="0"/>
                <a:latin typeface="Calibri"/>
                <a:ea typeface="新細明體" panose="02020500000000000000" pitchFamily="18" charset="-120"/>
              </a:rPr>
              <a:t>Unsloth</a:t>
            </a:r>
            <a:endParaRPr lang="en-US" altLang="zh-TW" sz="1200" dirty="0">
              <a:ln w="0"/>
              <a:solidFill>
                <a:schemeClr val="tx1">
                  <a:lumMod val="95000"/>
                  <a:lumOff val="5000"/>
                </a:schemeClr>
              </a:solidFill>
              <a:latin typeface="Calibri"/>
              <a:ea typeface="新細明體" panose="02020500000000000000" pitchFamily="18" charset="-120"/>
            </a:endParaRPr>
          </a:p>
        </p:txBody>
      </p:sp>
      <p:pic>
        <p:nvPicPr>
          <p:cNvPr id="22" name="圖片 21">
            <a:extLst>
              <a:ext uri="{FF2B5EF4-FFF2-40B4-BE49-F238E27FC236}">
                <a16:creationId xmlns:a16="http://schemas.microsoft.com/office/drawing/2014/main" id="{C1823606-DE97-1F54-9BDE-7AE26A6C49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8052" y="2706564"/>
            <a:ext cx="411308" cy="386908"/>
          </a:xfrm>
          <a:prstGeom prst="rect">
            <a:avLst/>
          </a:prstGeom>
          <a:effectLst>
            <a:glow rad="76200">
              <a:schemeClr val="accent6">
                <a:lumMod val="20000"/>
                <a:lumOff val="80000"/>
              </a:schemeClr>
            </a:glow>
            <a:softEdge rad="50800"/>
          </a:effectLst>
        </p:spPr>
      </p:pic>
      <p:sp>
        <p:nvSpPr>
          <p:cNvPr id="35" name="矩形 34">
            <a:extLst>
              <a:ext uri="{FF2B5EF4-FFF2-40B4-BE49-F238E27FC236}">
                <a16:creationId xmlns:a16="http://schemas.microsoft.com/office/drawing/2014/main" id="{6279E747-9DBA-AD9F-63D2-8B62A2813FB7}"/>
              </a:ext>
            </a:extLst>
          </p:cNvPr>
          <p:cNvSpPr/>
          <p:nvPr/>
        </p:nvSpPr>
        <p:spPr>
          <a:xfrm>
            <a:off x="904601" y="851724"/>
            <a:ext cx="1437774" cy="786305"/>
          </a:xfrm>
          <a:prstGeom prst="rect">
            <a:avLst/>
          </a:prstGeom>
          <a:noFill/>
          <a:ln w="38100"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 anchorCtr="1"/>
          <a:lstStyle/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Bio-Medical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and Geomatics</a:t>
            </a:r>
          </a:p>
          <a:p>
            <a:pPr algn="ctr">
              <a:lnSpc>
                <a:spcPts val="1600"/>
              </a:lnSpc>
            </a:pPr>
            <a:r>
              <a:rPr lang="en-US" altLang="zh-TW" sz="1200" dirty="0">
                <a:solidFill>
                  <a:schemeClr val="tx2"/>
                </a:solidFill>
                <a:latin typeface="ADLaM Display" panose="02010000000000000000" pitchFamily="2" charset="0"/>
                <a:ea typeface="ADLaM Display" panose="02010000000000000000" pitchFamily="2" charset="0"/>
                <a:cs typeface="ADLaM Display" panose="02010000000000000000" pitchFamily="2" charset="0"/>
              </a:rPr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191367118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標題 1">
            <a:extLst>
              <a:ext uri="{FF2B5EF4-FFF2-40B4-BE49-F238E27FC236}">
                <a16:creationId xmlns:a16="http://schemas.microsoft.com/office/drawing/2014/main" id="{CDA888E0-E178-CA85-DA6A-537E21CE2145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VCF Example</a:t>
            </a:r>
          </a:p>
          <a:p>
            <a:pPr marL="285750" indent="-285750">
              <a:buFontTx/>
              <a:buChar char="-"/>
            </a:pPr>
            <a:endParaRPr lang="en-US" altLang="zh-TW" sz="1400" dirty="0">
              <a:latin typeface="Noto Sans HK" panose="020B0200000000000000" pitchFamily="34" charset="-120"/>
              <a:ea typeface="Noto Sans HK" panose="020B0200000000000000" pitchFamily="34" charset="-120"/>
              <a:cs typeface="Arial" panose="020B0604020202020204" pitchFamily="34" charset="0"/>
            </a:endParaRPr>
          </a:p>
        </p:txBody>
      </p:sp>
      <p:sp>
        <p:nvSpPr>
          <p:cNvPr id="3" name="文字方塊 2">
            <a:extLst>
              <a:ext uri="{FF2B5EF4-FFF2-40B4-BE49-F238E27FC236}">
                <a16:creationId xmlns:a16="http://schemas.microsoft.com/office/drawing/2014/main" id="{8ED4A5CD-D275-F3CD-78FF-2A57763D2B22}"/>
              </a:ext>
            </a:extLst>
          </p:cNvPr>
          <p:cNvSpPr txBox="1"/>
          <p:nvPr/>
        </p:nvSpPr>
        <p:spPr>
          <a:xfrm>
            <a:off x="179512" y="764704"/>
            <a:ext cx="8184624" cy="193899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r>
              <a:rPr lang="en-US" altLang="zh-TW" sz="1200" b="1" dirty="0">
                <a:latin typeface="Consolas" panose="020B0609020204030204" pitchFamily="49" charset="0"/>
              </a:rPr>
              <a:t>text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##fileformat=VCFv4.2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##FILTER=&lt;ID=PASS,Description="All filters passed"&gt;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##INFO=&lt;ID=DP,Number=1,Type=Integer,Description="Total Depth"&gt;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##FORMAT=&lt;ID=GT,Number=1,Type=String,Description="Genotype"&gt;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#CHROM   POS       ID         REF  ALT  QUAL  FILTER  INFO    FORMAT  SAMPLE_001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chr1     10177     rs20177    A    G    60    PASS    DP=25   GT      0/1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chr1     10352     rs11221    T    C    58    PASS    DP=32   GT      1/1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r>
              <a:rPr lang="zh-TW" altLang="en-US" sz="1100" dirty="0">
                <a:latin typeface="Consolas" panose="020B0609020204030204" pitchFamily="49" charset="0"/>
              </a:rPr>
              <a:t>chr2     24194     .          C    T    50    PASS    DP=18   GT      0/0</a:t>
            </a:r>
            <a:endParaRPr lang="en-US" altLang="zh-TW" sz="1100" dirty="0">
              <a:latin typeface="Consolas" panose="020B0609020204030204" pitchFamily="49" charset="0"/>
            </a:endParaRPr>
          </a:p>
          <a:p>
            <a:endParaRPr lang="zh-TW" altLang="en-US" sz="1000" dirty="0">
              <a:latin typeface="Consolas" panose="020B0609020204030204" pitchFamily="49" charset="0"/>
            </a:endParaRPr>
          </a:p>
        </p:txBody>
      </p:sp>
      <p:sp>
        <p:nvSpPr>
          <p:cNvPr id="13" name="文字方塊 12">
            <a:extLst>
              <a:ext uri="{FF2B5EF4-FFF2-40B4-BE49-F238E27FC236}">
                <a16:creationId xmlns:a16="http://schemas.microsoft.com/office/drawing/2014/main" id="{2B952942-4FE4-5020-2256-165B3E4BFAFA}"/>
              </a:ext>
            </a:extLst>
          </p:cNvPr>
          <p:cNvSpPr txBox="1"/>
          <p:nvPr/>
        </p:nvSpPr>
        <p:spPr>
          <a:xfrm>
            <a:off x="323528" y="2846546"/>
            <a:ext cx="8040608" cy="187827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1400"/>
              </a:lnSpc>
            </a:pPr>
            <a:r>
              <a:rPr lang="zh-TW" altLang="en-US" sz="11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🔍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核心欄位白話拆解（表格每列代表一個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SNP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#CHROM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染色體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：變異位在第幾號染色體（例如：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chr1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POS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基因座標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：該變異在染色體上的精確位置（例如：第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10177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個鹼基）。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ID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識別碼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：通常是國際標準的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SNP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編號（例如：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rs20177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）。如果是尚未被記錄的全新突變，則顯示為一個點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.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REF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參考鹼基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：正常人類基因組在該位置的標準英文字母（例如：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ALT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變異鹼基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：這個病患在該位置發生的突變英文字母（例如：變成了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G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QUAL &amp; FILTER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品質與過濾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：代表這次定序或晶片檢測的精確度。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PASS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代表這是一個高可信度、沒有雜訊的真實變異。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INFO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附加資訊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：記錄檢測時的技術參數。例如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DP=25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代表這個點位被反覆讀取、覆蓋了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25 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次。</a:t>
            </a:r>
            <a:endParaRPr lang="en-US" altLang="zh-TW" sz="1100" dirty="0">
              <a:latin typeface="Consolas" panose="020B0609020204030204" pitchFamily="49" charset="0"/>
              <a:ea typeface="微軟正黑體" panose="020B0604030504040204" pitchFamily="34" charset="-120"/>
            </a:endParaRPr>
          </a:p>
          <a:p>
            <a:pPr marL="228600" indent="-228600">
              <a:lnSpc>
                <a:spcPts val="1400"/>
              </a:lnSpc>
              <a:buAutoNum type="arabicPeriod"/>
            </a:pP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FORMAT &amp; SAMPLE (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基因型結果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)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：這是解讀最重要的核心！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0/0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：代表病患兩個染色體都是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REF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（未突變，如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AA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0/1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：代表異型合子（雜合突變，一個正常一個突變，如 </a:t>
            </a:r>
            <a:r>
              <a:rPr lang="en-US" altLang="zh-TW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AG</a:t>
            </a:r>
            <a:r>
              <a:rPr lang="zh-TW" altLang="en-US" sz="1100" dirty="0">
                <a:latin typeface="Consolas" panose="020B0609020204030204" pitchFamily="49" charset="0"/>
                <a:ea typeface="微軟正黑體" panose="020B0604030504040204" pitchFamily="34" charset="-120"/>
              </a:rPr>
              <a:t>）。</a:t>
            </a:r>
          </a:p>
        </p:txBody>
      </p:sp>
    </p:spTree>
    <p:extLst>
      <p:ext uri="{BB962C8B-B14F-4D97-AF65-F5344CB8AC3E}">
        <p14:creationId xmlns:p14="http://schemas.microsoft.com/office/powerpoint/2010/main" val="319549898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D33158-F686-671C-2ABD-1B9BF719C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文字方塊 5">
            <a:extLst>
              <a:ext uri="{FF2B5EF4-FFF2-40B4-BE49-F238E27FC236}">
                <a16:creationId xmlns:a16="http://schemas.microsoft.com/office/drawing/2014/main" id="{3A4ABE55-8661-AC59-3A83-3125F3D55BD9}"/>
              </a:ext>
            </a:extLst>
          </p:cNvPr>
          <p:cNvSpPr txBox="1"/>
          <p:nvPr/>
        </p:nvSpPr>
        <p:spPr>
          <a:xfrm>
            <a:off x="179512" y="1196752"/>
            <a:ext cx="8184624" cy="4248472"/>
          </a:xfrm>
          <a:prstGeom prst="rect">
            <a:avLst/>
          </a:prstGeom>
          <a:solidFill>
            <a:srgbClr val="EAEAEA"/>
          </a:solidFill>
        </p:spPr>
        <p:txBody>
          <a:bodyPr wrap="none">
            <a:noAutofit/>
          </a:bodyPr>
          <a:lstStyle/>
          <a:p>
            <a:pPr marL="0" marR="0" rtl="0">
              <a:lnSpc>
                <a:spcPts val="1200"/>
              </a:lnSpc>
              <a:buNone/>
            </a:pPr>
            <a:r>
              <a:rPr lang="zh-TW" altLang="zh-TW" sz="1000" b="0" u="none" strike="noStrike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import</a:t>
            </a:r>
            <a:r>
              <a:rPr lang="zh-TW" altLang="zh-TW" sz="1000" b="0" u="none" strike="noStrike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zh-TW" sz="1000" b="0" u="none" strike="noStrike" dirty="0">
                <a:solidFill>
                  <a:schemeClr val="accent6">
                    <a:lumMod val="50000"/>
                  </a:schemeClr>
                </a:solidFill>
                <a:effectLst/>
                <a:latin typeface="Consolas" panose="020B0609020204030204" pitchFamily="49" charset="0"/>
              </a:rPr>
              <a:t>requests</a:t>
            </a:r>
            <a:endParaRPr lang="zh-TW" altLang="zh-TW" sz="1000" b="0" u="none" strike="noStrike" dirty="0">
              <a:solidFill>
                <a:schemeClr val="accent6">
                  <a:lumMod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pPr marL="0" marR="0" rtl="0">
              <a:lnSpc>
                <a:spcPts val="1200"/>
              </a:lnSpc>
              <a:buNone/>
            </a:pP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Def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query_regulatory_features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(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rsid</a:t>
            </a:r>
            <a:r>
              <a:rPr lang="en-US" altLang="zh-TW" sz="1000" b="0" u="none" strike="noStrike" dirty="0">
                <a:effectLst/>
                <a:latin typeface="Consolas" panose="020B0609020204030204" pitchFamily="49" charset="0"/>
              </a:rPr>
              <a:t>: str):</a:t>
            </a:r>
            <a:endParaRPr lang="zh-TW" altLang="zh-TW" sz="1000" b="0" u="none" strike="noStrike" dirty="0">
              <a:effectLst/>
              <a:latin typeface="Consolas" panose="020B0609020204030204" pitchFamily="49" charset="0"/>
            </a:endParaRP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Input the rsID of an SNP to query its regulatory feature score and details in RegulomeDB</a:t>
            </a:r>
          </a:p>
          <a:p>
            <a:pPr>
              <a:lnSpc>
                <a:spcPts val="1200"/>
              </a:lnSpc>
            </a:pP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"""</a:t>
            </a:r>
          </a:p>
          <a:p>
            <a:pPr>
              <a:lnSpc>
                <a:spcPts val="1200"/>
              </a:lnSpc>
            </a:pPr>
            <a:r>
              <a:rPr lang="en-US" altLang="zh-TW" sz="1000" b="0" u="none" strike="noStrike" dirty="0">
                <a:solidFill>
                  <a:schemeClr val="tx1">
                    <a:lumMod val="50000"/>
                    <a:lumOff val="50000"/>
                  </a:schemeClr>
                </a:solidFill>
                <a:effectLst/>
                <a:latin typeface="Consolas" panose="020B0609020204030204" pitchFamily="49" charset="0"/>
              </a:rPr>
              <a:t>#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 Using public API of MyVariant.info</a:t>
            </a:r>
            <a:endParaRPr lang="en-US" altLang="zh-TW" sz="1000" b="0" u="none" strike="noStrike" dirty="0">
              <a:solidFill>
                <a:schemeClr val="tx1">
                  <a:lumMod val="50000"/>
                  <a:lumOff val="50000"/>
                </a:schemeClr>
              </a:solidFill>
              <a:effectLst/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url</a:t>
            </a:r>
            <a:r>
              <a:rPr lang="en-US" altLang="zh-TW" sz="1000" dirty="0">
                <a:latin typeface="Consolas" panose="020B0609020204030204" pitchFamily="49" charset="0"/>
              </a:rPr>
              <a:t> =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f"https://myvariant.info</a:t>
            </a:r>
            <a:r>
              <a:rPr lang="en-US" altLang="zh-TW" sz="1000" dirty="0">
                <a:latin typeface="Consolas" panose="020B0609020204030204" pitchFamily="49" charset="0"/>
              </a:rPr>
              <a:t>{rsid}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response</a:t>
            </a:r>
            <a:r>
              <a:rPr lang="en-US" altLang="zh-TW" sz="1000" dirty="0">
                <a:latin typeface="Consolas" panose="020B0609020204030204" pitchFamily="49" charset="0"/>
              </a:rPr>
              <a:t> = requests.get(url)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if</a:t>
            </a:r>
            <a:r>
              <a:rPr lang="en-US" altLang="zh-TW" sz="1000" dirty="0">
                <a:latin typeface="Consolas" panose="020B0609020204030204" pitchFamily="49" charset="0"/>
              </a:rPr>
              <a:t> response.status_code ==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200</a:t>
            </a:r>
            <a:r>
              <a:rPr lang="en-US" altLang="zh-TW" sz="1000" dirty="0"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data</a:t>
            </a:r>
            <a:r>
              <a:rPr lang="en-US" altLang="zh-TW" sz="1000" dirty="0">
                <a:latin typeface="Consolas" panose="020B0609020204030204" pitchFamily="49" charset="0"/>
              </a:rPr>
              <a:t> = response.json()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Extract the regulatory gene data from RegulomeDB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regulomedb_info</a:t>
            </a:r>
            <a:r>
              <a:rPr lang="en-US" altLang="zh-TW" sz="1000" dirty="0">
                <a:latin typeface="Consolas" panose="020B0609020204030204" pitchFamily="49" charset="0"/>
              </a:rPr>
              <a:t> = data.get(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"regulomedb"</a:t>
            </a:r>
            <a:r>
              <a:rPr lang="en-US" altLang="zh-TW" sz="1000" dirty="0">
                <a:latin typeface="Consolas" panose="020B0609020204030204" pitchFamily="49" charset="0"/>
              </a:rPr>
              <a:t>, {})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score</a:t>
            </a:r>
            <a:r>
              <a:rPr lang="en-US" altLang="zh-TW" sz="1000" dirty="0">
                <a:latin typeface="Consolas" panose="020B0609020204030204" pitchFamily="49" charset="0"/>
              </a:rPr>
              <a:t> = regulomedb_info.get("score",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"None"</a:t>
            </a:r>
            <a:r>
              <a:rPr lang="en-US" altLang="zh-TW" sz="1000" dirty="0">
                <a:latin typeface="Consolas" panose="020B0609020204030204" pitchFamily="49" charset="0"/>
              </a:rPr>
              <a:t>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chemeClr val="accent6">
                    <a:lumMod val="50000"/>
                  </a:schemeClr>
                </a:solidFill>
                <a:latin typeface="Consolas" panose="020B0609020204030204" pitchFamily="49" charset="0"/>
              </a:rPr>
              <a:t>evidence</a:t>
            </a:r>
            <a:r>
              <a:rPr lang="en-US" altLang="zh-TW" sz="1000" dirty="0">
                <a:latin typeface="Consolas" panose="020B0609020204030204" pitchFamily="49" charset="0"/>
              </a:rPr>
              <a:t> = regulomedb_info.get("evidence", [])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000" dirty="0">
                <a:latin typeface="Consolas" panose="020B0609020204030204" pitchFamily="49" charset="0"/>
              </a:rPr>
              <a:t> {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"rsID"</a:t>
            </a:r>
            <a:r>
              <a:rPr lang="en-US" altLang="zh-TW" sz="1000" dirty="0">
                <a:latin typeface="Consolas" panose="020B0609020204030204" pitchFamily="49" charset="0"/>
              </a:rPr>
              <a:t>: rsid,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"RegulomeDB_Score"</a:t>
            </a:r>
            <a:r>
              <a:rPr lang="en-US" altLang="zh-TW" sz="1000" dirty="0">
                <a:latin typeface="Consolas" panose="020B0609020204030204" pitchFamily="49" charset="0"/>
              </a:rPr>
              <a:t>: score,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"Description"</a:t>
            </a:r>
            <a:r>
              <a:rPr lang="en-US" altLang="zh-TW" sz="1000" dirty="0">
                <a:latin typeface="Consolas" panose="020B0609020204030204" pitchFamily="49" charset="0"/>
              </a:rPr>
              <a:t>: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f"The regulatory potential score of an SNP is</a:t>
            </a:r>
            <a:r>
              <a:rPr lang="zh-TW" altLang="en-US" sz="1000" dirty="0">
                <a:solidFill>
                  <a:srgbClr val="339933"/>
                </a:solidFill>
                <a:latin typeface="Consolas" panose="020B0609020204030204" pitchFamily="49" charset="0"/>
              </a:rPr>
              <a:t> </a:t>
            </a:r>
            <a:r>
              <a:rPr lang="en-US" altLang="zh-TW" sz="1000" dirty="0">
                <a:latin typeface="Consolas" panose="020B0609020204030204" pitchFamily="49" charset="0"/>
              </a:rPr>
              <a:t>{score}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."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else</a:t>
            </a:r>
            <a:r>
              <a:rPr lang="en-US" altLang="zh-TW" sz="1000" dirty="0">
                <a:latin typeface="Consolas" panose="020B0609020204030204" pitchFamily="49" charset="0"/>
              </a:rPr>
              <a:t>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solidFill>
                  <a:srgbClr val="7030A0"/>
                </a:solidFill>
                <a:latin typeface="Consolas" panose="020B0609020204030204" pitchFamily="49" charset="0"/>
              </a:rPr>
              <a:t>return</a:t>
            </a:r>
            <a:r>
              <a:rPr lang="en-US" altLang="zh-TW" sz="1000" dirty="0">
                <a:latin typeface="Consolas" panose="020B0609020204030204" pitchFamily="49" charset="0"/>
              </a:rPr>
              <a:t> {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"error"</a:t>
            </a:r>
            <a:r>
              <a:rPr lang="en-US" altLang="zh-TW" sz="1000" dirty="0">
                <a:latin typeface="Consolas" panose="020B0609020204030204" pitchFamily="49" charset="0"/>
              </a:rPr>
              <a:t>: </a:t>
            </a:r>
            <a:r>
              <a:rPr lang="en-US" altLang="zh-TW" sz="1000" dirty="0">
                <a:solidFill>
                  <a:srgbClr val="339933"/>
                </a:solidFill>
                <a:latin typeface="Consolas" panose="020B0609020204030204" pitchFamily="49" charset="0"/>
              </a:rPr>
              <a:t>"Unable to connect to the database or SNP not found."</a:t>
            </a:r>
            <a:r>
              <a:rPr lang="en-US" altLang="zh-TW" sz="1000" dirty="0">
                <a:latin typeface="Consolas" panose="020B0609020204030204" pitchFamily="49" charset="0"/>
              </a:rPr>
              <a:t>}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If Agent detects a user asking, "What regulatory function does the rs334 mutation have?".</a:t>
            </a:r>
          </a:p>
          <a:p>
            <a:r>
              <a:rPr lang="en-US" altLang="zh-TW" sz="1000" dirty="0">
                <a:solidFill>
                  <a:schemeClr val="tx1">
                    <a:lumMod val="50000"/>
                    <a:lumOff val="50000"/>
                  </a:schemeClr>
                </a:solidFill>
                <a:latin typeface="Consolas" panose="020B0609020204030204" pitchFamily="49" charset="0"/>
              </a:rPr>
              <a:t># it will automatically execute: query_regulatory_features("rs334")</a:t>
            </a:r>
            <a:endParaRPr lang="zh-TW" altLang="en-US" sz="1000" dirty="0">
              <a:solidFill>
                <a:schemeClr val="tx1">
                  <a:lumMod val="50000"/>
                  <a:lumOff val="50000"/>
                </a:schemeClr>
              </a:solidFill>
              <a:latin typeface="Consolas" panose="020B0609020204030204" pitchFamily="49" charset="0"/>
            </a:endParaRPr>
          </a:p>
        </p:txBody>
      </p:sp>
      <p:sp>
        <p:nvSpPr>
          <p:cNvPr id="15" name="文字方塊 14">
            <a:extLst>
              <a:ext uri="{FF2B5EF4-FFF2-40B4-BE49-F238E27FC236}">
                <a16:creationId xmlns:a16="http://schemas.microsoft.com/office/drawing/2014/main" id="{F9FB3898-6948-1341-6B2F-D89FBC6C2750}"/>
              </a:ext>
            </a:extLst>
          </p:cNvPr>
          <p:cNvSpPr txBox="1"/>
          <p:nvPr/>
        </p:nvSpPr>
        <p:spPr>
          <a:xfrm>
            <a:off x="179512" y="980728"/>
            <a:ext cx="2304256" cy="247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lnSpc>
                <a:spcPts val="1200"/>
              </a:lnSpc>
              <a:buNone/>
            </a:pPr>
            <a:r>
              <a:rPr lang="en-US" altLang="zh-TW" sz="1200" b="1" dirty="0">
                <a:latin typeface="Consolas" panose="020B0609020204030204" pitchFamily="49" charset="0"/>
              </a:rPr>
              <a:t>Python and MyVariant.info</a:t>
            </a:r>
            <a:endParaRPr lang="zh-TW" altLang="zh-TW" sz="1200" b="1" u="none" strike="noStrike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4" name="標題 1">
            <a:extLst>
              <a:ext uri="{FF2B5EF4-FFF2-40B4-BE49-F238E27FC236}">
                <a16:creationId xmlns:a16="http://schemas.microsoft.com/office/drawing/2014/main" id="{580D9B33-C9E6-CBAA-8212-FEA78ABD82F3}"/>
              </a:ext>
            </a:extLst>
          </p:cNvPr>
          <p:cNvSpPr txBox="1">
            <a:spLocks/>
          </p:cNvSpPr>
          <p:nvPr/>
        </p:nvSpPr>
        <p:spPr>
          <a:xfrm>
            <a:off x="179512" y="116632"/>
            <a:ext cx="7713554" cy="612186"/>
          </a:xfrm>
          <a:prstGeom prst="rect">
            <a:avLst/>
          </a:prstGeom>
        </p:spPr>
        <p:txBody>
          <a:bodyPr/>
          <a:lstStyle>
            <a:lvl1pPr algn="l" defTabSz="914400" rtl="0" eaLnBrk="1" latinLnBrk="0" hangingPunct="1">
              <a:spcBef>
                <a:spcPct val="0"/>
              </a:spcBef>
              <a:buNone/>
              <a:defRPr sz="2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TW" sz="2800" dirty="0">
                <a:latin typeface="Noto Sans HK" panose="020B0200000000000000" pitchFamily="34" charset="-120"/>
                <a:ea typeface="Noto Sans HK" panose="020B0200000000000000" pitchFamily="34" charset="-120"/>
                <a:cs typeface="Aharoni" panose="020F0502020204030204" pitchFamily="2" charset="-79"/>
                <a:sym typeface="Wingdings" panose="05000000000000000000" pitchFamily="2" charset="2"/>
              </a:rPr>
              <a:t>Database</a:t>
            </a:r>
          </a:p>
          <a:p>
            <a:r>
              <a:rPr lang="en-US" altLang="zh-TW" sz="1400" dirty="0">
                <a:latin typeface="Noto Sans HK" panose="020B0200000000000000" pitchFamily="34" charset="-120"/>
                <a:ea typeface="Noto Sans HK" panose="020B0200000000000000" pitchFamily="34" charset="-120"/>
                <a:cs typeface="Arial" panose="020B0604020202020204" pitchFamily="34" charset="0"/>
              </a:rPr>
              <a:t>RegulomeDB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4755CC4A-AA49-61B7-EA2B-71166C6777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4483" y="501948"/>
            <a:ext cx="609653" cy="586791"/>
          </a:xfrm>
          <a:prstGeom prst="rect">
            <a:avLst/>
          </a:prstGeom>
          <a:effectLst>
            <a:glow rad="50800">
              <a:schemeClr val="accent1">
                <a:alpha val="60000"/>
              </a:schemeClr>
            </a:glow>
            <a:softEdge rad="25400"/>
          </a:effectLst>
        </p:spPr>
      </p:pic>
      <p:pic>
        <p:nvPicPr>
          <p:cNvPr id="5" name="圖片 4">
            <a:extLst>
              <a:ext uri="{FF2B5EF4-FFF2-40B4-BE49-F238E27FC236}">
                <a16:creationId xmlns:a16="http://schemas.microsoft.com/office/drawing/2014/main" id="{643F1054-967A-E1AF-34F4-8AFB34BC69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4403" y="501949"/>
            <a:ext cx="540897" cy="586791"/>
          </a:xfrm>
          <a:prstGeom prst="rect">
            <a:avLst/>
          </a:prstGeom>
          <a:effectLst>
            <a:glow rad="50800">
              <a:schemeClr val="tx1">
                <a:lumMod val="95000"/>
                <a:lumOff val="5000"/>
                <a:alpha val="60000"/>
              </a:schemeClr>
            </a:glow>
            <a:softEdge rad="25400"/>
          </a:effectLst>
        </p:spPr>
      </p:pic>
    </p:spTree>
    <p:extLst>
      <p:ext uri="{BB962C8B-B14F-4D97-AF65-F5344CB8AC3E}">
        <p14:creationId xmlns:p14="http://schemas.microsoft.com/office/powerpoint/2010/main" val="12279218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 advClick="0"/>
    </mc:Choice>
    <mc:Fallback xmlns="">
      <p:transition advClick="0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文字方塊 3">
            <a:extLst>
              <a:ext uri="{FF2B5EF4-FFF2-40B4-BE49-F238E27FC236}">
                <a16:creationId xmlns:a16="http://schemas.microsoft.com/office/drawing/2014/main" id="{A9AE59F5-230E-F0C8-13CE-F4C0D87C0A57}"/>
              </a:ext>
            </a:extLst>
          </p:cNvPr>
          <p:cNvSpPr txBox="1"/>
          <p:nvPr/>
        </p:nvSpPr>
        <p:spPr>
          <a:xfrm>
            <a:off x="270892" y="2062879"/>
            <a:ext cx="8712968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1. 最核心的公開調控特徵資料庫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您可以將以下三個權威資料庫作為您 AI Agent 的後端查詢工具：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None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2"/>
              </a:rPr>
              <a:t>RegulomeDB (史丹佛大學)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：這是專門用來查詢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SNP 對調控元件影響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的黃金標準。它整合了 ENCODE 計畫的大量數據，能告訴您某個 SNP 是否位於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轉錄因子結合位點（TFBS）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、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DNA 敏感位點（DNase I）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或特定的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組蛋白修飾（Histone modifications）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區域，並給出一個預測影響力的評分（Score）。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 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  <a:hlinkClick r:id="rId3"/>
              </a:rPr>
              <a:t>GTEx Portal (型態組織基因表達計畫)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：提供最強大的 eQTL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表達量定量性狀基因座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數據。輸入一個 SNP，它能直接告訴您這個變異在哪些特定人體組織中（如心臟、肝臟、大腦），會顯著調控哪個鄰近基因的表達量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Expression level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  <a:endParaRPr lang="en-US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endParaRPr lang="zh-TW" altLang="zh-TW" sz="1000" b="0" u="none" strike="noStrike" dirty="0">
              <a:effectLst/>
              <a:latin typeface="微軟正黑體" panose="020B0604030504040204" pitchFamily="34" charset="-120"/>
              <a:ea typeface="微軟正黑體" panose="020B0604030504040204" pitchFamily="34" charset="-120"/>
            </a:endParaRPr>
          </a:p>
          <a:p>
            <a:pPr marL="0" marR="0">
              <a:buFont typeface="Arial" panose="020B0604020202020204" pitchFamily="34" charset="0"/>
              <a:buChar char="•"/>
            </a:pPr>
            <a:r>
              <a:rPr lang="zh-TW" altLang="en-US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Ensembl Regulation (EBI/Sanger)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：收錄了豐富的「啟動子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(P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romoters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」和「增強子</a:t>
            </a:r>
            <a:r>
              <a:rPr lang="en-US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(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Enhancers</a:t>
            </a:r>
            <a:r>
              <a:rPr lang="en-US" altLang="zh-TW" sz="10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)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」基因體座標，支援 programmatic 批量查詢。</a:t>
            </a:r>
          </a:p>
        </p:txBody>
      </p:sp>
      <p:sp>
        <p:nvSpPr>
          <p:cNvPr id="7" name="文字方塊 6">
            <a:extLst>
              <a:ext uri="{FF2B5EF4-FFF2-40B4-BE49-F238E27FC236}">
                <a16:creationId xmlns:a16="http://schemas.microsoft.com/office/drawing/2014/main" id="{C8EB9EF8-8E47-D338-AE6B-F8AC1522266E}"/>
              </a:ext>
            </a:extLst>
          </p:cNvPr>
          <p:cNvSpPr txBox="1"/>
          <p:nvPr/>
        </p:nvSpPr>
        <p:spPr>
          <a:xfrm>
            <a:off x="251520" y="764704"/>
            <a:ext cx="871296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現今國際上有非常豐富且完全公開的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非編碼區（Non-coding region）與功能基因體學資料庫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  <a:p>
            <a:pPr marL="0" marR="0">
              <a:buNone/>
            </a:pP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由於絕大多數的 SNP 都位於不直接轉譯成蛋白質的非編碼區，它們主要是透過影響「轉錄因子結合」、「染色質結構」或「基因表達量」等</a:t>
            </a:r>
            <a:r>
              <a:rPr lang="zh-TW" altLang="zh-TW" sz="12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調控特徵（Regulatory Features）</a:t>
            </a:r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來影響人體生理。</a:t>
            </a:r>
          </a:p>
          <a:p>
            <a:r>
              <a:rPr lang="zh-TW" altLang="zh-TW" sz="12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以下為您盤點如何利用公開資訊與 API，將您的「基因分型資料（SNP/VCF）」與「調控特徵」無縫串接</a:t>
            </a:r>
            <a:r>
              <a:rPr lang="zh-TW" altLang="zh-TW" sz="1200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。</a:t>
            </a:r>
          </a:p>
        </p:txBody>
      </p:sp>
      <p:sp>
        <p:nvSpPr>
          <p:cNvPr id="9" name="文字方塊 8">
            <a:extLst>
              <a:ext uri="{FF2B5EF4-FFF2-40B4-BE49-F238E27FC236}">
                <a16:creationId xmlns:a16="http://schemas.microsoft.com/office/drawing/2014/main" id="{51E3A784-11F7-84EA-DB38-617A15DD03FA}"/>
              </a:ext>
            </a:extLst>
          </p:cNvPr>
          <p:cNvSpPr txBox="1"/>
          <p:nvPr/>
        </p:nvSpPr>
        <p:spPr>
          <a:xfrm>
            <a:off x="251520" y="4315162"/>
            <a:ext cx="8640960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buNone/>
            </a:pP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2. AI Agent 如何自動化串接？（程式碼與 API 實作）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您不需要下載幾百 GB 的原始檔，這些資料庫多數提供免費的 </a:t>
            </a:r>
            <a:r>
              <a:rPr lang="zh-TW" altLang="zh-TW" sz="1000" b="1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REST API</a:t>
            </a: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 或專門的 MyVariant.info 整合介面。</a:t>
            </a:r>
          </a:p>
          <a:p>
            <a:pPr marL="0" marR="0">
              <a:buNone/>
            </a:pPr>
            <a:r>
              <a:rPr lang="zh-TW" altLang="zh-TW" sz="1000" b="0" u="none" strike="noStrike" dirty="0">
                <a:effectLst/>
                <a:latin typeface="微軟正黑體" panose="020B0604030504040204" pitchFamily="34" charset="-120"/>
                <a:ea typeface="微軟正黑體" panose="020B0604030504040204" pitchFamily="34" charset="-120"/>
              </a:rPr>
              <a:t>以下是訓練 AI Agent 時，您可以寫成 Python Tool（函式）供 Agent 自行呼叫的範例（以 MyVariant.info 查詢 RegulomeDB 調控分數為例）：</a:t>
            </a:r>
          </a:p>
        </p:txBody>
      </p:sp>
    </p:spTree>
    <p:extLst>
      <p:ext uri="{BB962C8B-B14F-4D97-AF65-F5344CB8AC3E}">
        <p14:creationId xmlns:p14="http://schemas.microsoft.com/office/powerpoint/2010/main" val="2359596451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字方塊 4">
            <a:extLst>
              <a:ext uri="{FF2B5EF4-FFF2-40B4-BE49-F238E27FC236}">
                <a16:creationId xmlns:a16="http://schemas.microsoft.com/office/drawing/2014/main" id="{D783C646-7188-2C96-2E02-2B55441A6242}"/>
              </a:ext>
            </a:extLst>
          </p:cNvPr>
          <p:cNvSpPr txBox="1"/>
          <p:nvPr/>
        </p:nvSpPr>
        <p:spPr>
          <a:xfrm>
            <a:off x="539552" y="980728"/>
            <a:ext cx="8424936" cy="42473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TW" sz="1000" dirty="0">
                <a:latin typeface="Consolas" panose="020B0609020204030204" pitchFamily="49" charset="0"/>
              </a:rPr>
              <a:t>Python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import requests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def query_regulatory_features(rsid: str):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""“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  <a:r>
              <a:rPr lang="zh-TW" altLang="en-US" sz="1000" dirty="0">
                <a:latin typeface="Consolas" panose="020B0609020204030204" pitchFamily="49" charset="0"/>
              </a:rPr>
              <a:t>透過公開 </a:t>
            </a:r>
            <a:r>
              <a:rPr lang="en-US" altLang="zh-TW" sz="1000" dirty="0">
                <a:latin typeface="Consolas" panose="020B0609020204030204" pitchFamily="49" charset="0"/>
              </a:rPr>
              <a:t>API</a:t>
            </a:r>
            <a:r>
              <a:rPr lang="zh-TW" altLang="en-US" sz="1000" dirty="0">
                <a:latin typeface="Consolas" panose="020B0609020204030204" pitchFamily="49" charset="0"/>
              </a:rPr>
              <a:t>，輸入 </a:t>
            </a:r>
            <a:r>
              <a:rPr lang="en-US" altLang="zh-TW" sz="1000" dirty="0">
                <a:latin typeface="Consolas" panose="020B0609020204030204" pitchFamily="49" charset="0"/>
              </a:rPr>
              <a:t>SNP </a:t>
            </a:r>
            <a:r>
              <a:rPr lang="zh-TW" altLang="en-US" sz="1000" dirty="0">
                <a:latin typeface="Consolas" panose="020B0609020204030204" pitchFamily="49" charset="0"/>
              </a:rPr>
              <a:t>的 </a:t>
            </a:r>
            <a:r>
              <a:rPr lang="en-US" altLang="zh-TW" sz="1000" dirty="0">
                <a:latin typeface="Consolas" panose="020B0609020204030204" pitchFamily="49" charset="0"/>
              </a:rPr>
              <a:t>rsID</a:t>
            </a:r>
            <a:r>
              <a:rPr lang="zh-TW" altLang="en-US" sz="1000" dirty="0">
                <a:latin typeface="Consolas" panose="020B0609020204030204" pitchFamily="49" charset="0"/>
              </a:rPr>
              <a:t>，查詢其在 </a:t>
            </a:r>
            <a:r>
              <a:rPr lang="en-US" altLang="zh-TW" sz="1000" dirty="0">
                <a:latin typeface="Consolas" panose="020B0609020204030204" pitchFamily="49" charset="0"/>
              </a:rPr>
              <a:t>RegulomeDB </a:t>
            </a:r>
            <a:r>
              <a:rPr lang="zh-TW" altLang="en-US" sz="1000" dirty="0">
                <a:latin typeface="Consolas" panose="020B0609020204030204" pitchFamily="49" charset="0"/>
              </a:rPr>
              <a:t>的調控特徵評分與細節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000" dirty="0">
                <a:latin typeface="Consolas" panose="020B0609020204030204" pitchFamily="49" charset="0"/>
              </a:rPr>
              <a:t>    </a:t>
            </a:r>
            <a:r>
              <a:rPr lang="en-US" altLang="zh-TW" sz="1000" dirty="0">
                <a:latin typeface="Consolas" panose="020B0609020204030204" pitchFamily="49" charset="0"/>
              </a:rPr>
              <a:t>"""    # </a:t>
            </a:r>
            <a:r>
              <a:rPr lang="zh-TW" altLang="en-US" sz="1000" dirty="0">
                <a:latin typeface="Consolas" panose="020B0609020204030204" pitchFamily="49" charset="0"/>
              </a:rPr>
              <a:t>使用 </a:t>
            </a:r>
            <a:r>
              <a:rPr lang="en-US" altLang="zh-TW" sz="1000" dirty="0">
                <a:latin typeface="Consolas" panose="020B0609020204030204" pitchFamily="49" charset="0"/>
              </a:rPr>
              <a:t>MyVariant.info </a:t>
            </a:r>
            <a:r>
              <a:rPr lang="zh-TW" altLang="en-US" sz="1000" dirty="0">
                <a:latin typeface="Consolas" panose="020B0609020204030204" pitchFamily="49" charset="0"/>
              </a:rPr>
              <a:t>的公開 </a:t>
            </a:r>
            <a:r>
              <a:rPr lang="en-US" altLang="zh-TW" sz="1000" dirty="0">
                <a:latin typeface="Consolas" panose="020B0609020204030204" pitchFamily="49" charset="0"/>
              </a:rPr>
              <a:t>API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url = f"https://myvariant.info{rsid}“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response = requests.get(url)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if response.status_code == 200: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data = response.json()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# </a:t>
            </a:r>
            <a:r>
              <a:rPr lang="zh-TW" altLang="en-US" sz="1000" dirty="0">
                <a:latin typeface="Consolas" panose="020B0609020204030204" pitchFamily="49" charset="0"/>
              </a:rPr>
              <a:t>提取 </a:t>
            </a:r>
            <a:r>
              <a:rPr lang="en-US" altLang="zh-TW" sz="1000" dirty="0">
                <a:latin typeface="Consolas" panose="020B0609020204030204" pitchFamily="49" charset="0"/>
              </a:rPr>
              <a:t>RegulomeDB </a:t>
            </a:r>
            <a:r>
              <a:rPr lang="zh-TW" altLang="en-US" sz="1000" dirty="0">
                <a:latin typeface="Consolas" panose="020B0609020204030204" pitchFamily="49" charset="0"/>
              </a:rPr>
              <a:t>的調控特徵數據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zh-TW" altLang="en-US" sz="1000" dirty="0">
                <a:latin typeface="Consolas" panose="020B0609020204030204" pitchFamily="49" charset="0"/>
              </a:rPr>
              <a:t>        </a:t>
            </a:r>
            <a:r>
              <a:rPr lang="en-US" altLang="zh-TW" sz="1000" dirty="0">
                <a:latin typeface="Consolas" panose="020B0609020204030204" pitchFamily="49" charset="0"/>
              </a:rPr>
              <a:t>regulomedb_info = data.get("regulomedb", {})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score = regulomedb_info.get("score", "</a:t>
            </a:r>
            <a:r>
              <a:rPr lang="zh-TW" altLang="en-US" sz="1000" dirty="0">
                <a:latin typeface="Consolas" panose="020B0609020204030204" pitchFamily="49" charset="0"/>
              </a:rPr>
              <a:t>無評分</a:t>
            </a:r>
            <a:r>
              <a:rPr lang="en-US" altLang="zh-TW" sz="1000" dirty="0">
                <a:latin typeface="Consolas" panose="020B0609020204030204" pitchFamily="49" charset="0"/>
              </a:rPr>
              <a:t>")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evidence = regulomedb_info.get("evidence", [])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return {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"rsID": rsid,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"RegulomeDB_Score": score,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    "Description": f"</a:t>
            </a:r>
            <a:r>
              <a:rPr lang="zh-TW" altLang="en-US" sz="1000" dirty="0">
                <a:latin typeface="Consolas" panose="020B0609020204030204" pitchFamily="49" charset="0"/>
              </a:rPr>
              <a:t>該 </a:t>
            </a:r>
            <a:r>
              <a:rPr lang="en-US" altLang="zh-TW" sz="1000" dirty="0">
                <a:latin typeface="Consolas" panose="020B0609020204030204" pitchFamily="49" charset="0"/>
              </a:rPr>
              <a:t>SNP </a:t>
            </a:r>
            <a:r>
              <a:rPr lang="zh-TW" altLang="en-US" sz="1000" dirty="0">
                <a:latin typeface="Consolas" panose="020B0609020204030204" pitchFamily="49" charset="0"/>
              </a:rPr>
              <a:t>的調控潛力分數為 </a:t>
            </a:r>
            <a:r>
              <a:rPr lang="en-US" altLang="zh-TW" sz="1000" dirty="0">
                <a:latin typeface="Consolas" panose="020B0609020204030204" pitchFamily="49" charset="0"/>
              </a:rPr>
              <a:t>{score}</a:t>
            </a:r>
            <a:r>
              <a:rPr lang="zh-TW" altLang="en-US" sz="1000" dirty="0">
                <a:latin typeface="Consolas" panose="020B0609020204030204" pitchFamily="49" charset="0"/>
              </a:rPr>
              <a:t>。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		</a:t>
            </a:r>
            <a:r>
              <a:rPr lang="zh-TW" altLang="en-US" sz="1000" dirty="0">
                <a:latin typeface="Consolas" panose="020B0609020204030204" pitchFamily="49" charset="0"/>
              </a:rPr>
              <a:t>分數越低（如 </a:t>
            </a:r>
            <a:r>
              <a:rPr lang="en-US" altLang="zh-TW" sz="1000" dirty="0">
                <a:latin typeface="Consolas" panose="020B0609020204030204" pitchFamily="49" charset="0"/>
              </a:rPr>
              <a:t>1a, 1b</a:t>
            </a:r>
            <a:r>
              <a:rPr lang="zh-TW" altLang="en-US" sz="1000" dirty="0">
                <a:latin typeface="Consolas" panose="020B0609020204030204" pitchFamily="49" charset="0"/>
              </a:rPr>
              <a:t>）代表有越強的轉錄因子結合或 </a:t>
            </a:r>
            <a:r>
              <a:rPr lang="en-US" altLang="zh-TW" sz="1000" dirty="0">
                <a:latin typeface="Consolas" panose="020B0609020204030204" pitchFamily="49" charset="0"/>
              </a:rPr>
              <a:t>eQTL </a:t>
            </a:r>
            <a:r>
              <a:rPr lang="zh-TW" altLang="en-US" sz="1000" dirty="0">
                <a:latin typeface="Consolas" panose="020B0609020204030204" pitchFamily="49" charset="0"/>
              </a:rPr>
              <a:t>實驗證據支撑。</a:t>
            </a:r>
            <a:r>
              <a:rPr lang="en-US" altLang="zh-TW" sz="1000" dirty="0">
                <a:latin typeface="Consolas" panose="020B0609020204030204" pitchFamily="49" charset="0"/>
              </a:rPr>
              <a:t>“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}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else:</a:t>
            </a:r>
          </a:p>
          <a:p>
            <a:r>
              <a:rPr lang="en-US" altLang="zh-TW" sz="1000" dirty="0">
                <a:latin typeface="Consolas" panose="020B0609020204030204" pitchFamily="49" charset="0"/>
              </a:rPr>
              <a:t>        return {"error": "</a:t>
            </a:r>
            <a:r>
              <a:rPr lang="zh-TW" altLang="en-US" sz="1000" dirty="0">
                <a:latin typeface="Consolas" panose="020B0609020204030204" pitchFamily="49" charset="0"/>
              </a:rPr>
              <a:t>無法連線至公開資料庫或找不到該 </a:t>
            </a:r>
            <a:r>
              <a:rPr lang="en-US" altLang="zh-TW" sz="1000" dirty="0">
                <a:latin typeface="Consolas" panose="020B0609020204030204" pitchFamily="49" charset="0"/>
              </a:rPr>
              <a:t>SNP"}</a:t>
            </a:r>
          </a:p>
          <a:p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# AI Agent </a:t>
            </a:r>
            <a:r>
              <a:rPr lang="zh-TW" altLang="en-US" sz="1000" dirty="0">
                <a:latin typeface="Consolas" panose="020B0609020204030204" pitchFamily="49" charset="0"/>
              </a:rPr>
              <a:t>在思考時，若發現使用者問：「</a:t>
            </a:r>
            <a:r>
              <a:rPr lang="en-US" altLang="zh-TW" sz="1000" dirty="0">
                <a:latin typeface="Consolas" panose="020B0609020204030204" pitchFamily="49" charset="0"/>
              </a:rPr>
              <a:t>rs334 </a:t>
            </a:r>
            <a:r>
              <a:rPr lang="zh-TW" altLang="en-US" sz="1000" dirty="0">
                <a:latin typeface="Consolas" panose="020B0609020204030204" pitchFamily="49" charset="0"/>
              </a:rPr>
              <a:t>這個突變有什麼調控功能？」</a:t>
            </a:r>
            <a:endParaRPr lang="en-US" altLang="zh-TW" sz="1000" dirty="0">
              <a:latin typeface="Consolas" panose="020B0609020204030204" pitchFamily="49" charset="0"/>
            </a:endParaRPr>
          </a:p>
          <a:p>
            <a:r>
              <a:rPr lang="en-US" altLang="zh-TW" sz="1000" dirty="0">
                <a:latin typeface="Consolas" panose="020B0609020204030204" pitchFamily="49" charset="0"/>
              </a:rPr>
              <a:t># </a:t>
            </a:r>
            <a:r>
              <a:rPr lang="zh-TW" altLang="en-US" sz="1000" dirty="0">
                <a:latin typeface="Consolas" panose="020B0609020204030204" pitchFamily="49" charset="0"/>
              </a:rPr>
              <a:t>就會自動執行：</a:t>
            </a:r>
            <a:r>
              <a:rPr lang="en-US" altLang="zh-TW" sz="1000" dirty="0">
                <a:latin typeface="Consolas" panose="020B0609020204030204" pitchFamily="49" charset="0"/>
              </a:rPr>
              <a:t>query_regulatory_features("rs334")</a:t>
            </a:r>
            <a:endParaRPr lang="zh-TW" altLang="en-US" sz="1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5141680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 advClick="0">
        <p159:morph option="byObject"/>
      </p:transition>
    </mc:Choice>
    <mc:Fallback xmlns="">
      <p:transition spd="slow" advClick="0">
        <p:fade/>
      </p:transition>
    </mc:Fallback>
  </mc:AlternateContent>
</p:sld>
</file>

<file path=ppt/theme/theme1.xml><?xml version="1.0" encoding="utf-8"?>
<a:theme xmlns:a="http://schemas.openxmlformats.org/drawingml/2006/main" name="Defaul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1">
            <a:alpha val="70000"/>
          </a:schemeClr>
        </a:solidFill>
        <a:ln w="1270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簡報1" id="{3349570C-DE3B-48BB-8671-1853FC12C45D}" vid="{424F00FA-23EC-402E-8D8B-A6A8EB048657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TM02900688[[fn=多面向]]</Template>
  <TotalTime>0</TotalTime>
  <Words>1685</Words>
  <Application>Microsoft Office PowerPoint</Application>
  <PresentationFormat>如螢幕大小 (4:3)</PresentationFormat>
  <Paragraphs>140</Paragraphs>
  <Slides>7</Slides>
  <Notes>2</Notes>
  <HiddenSlides>0</HiddenSlides>
  <MMClips>0</MMClips>
  <ScaleCrop>false</ScaleCrop>
  <HeadingPairs>
    <vt:vector size="6" baseType="variant">
      <vt:variant>
        <vt:lpstr>使用字型</vt:lpstr>
      </vt:variant>
      <vt:variant>
        <vt:i4>7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5" baseType="lpstr">
      <vt:lpstr>Noto Sans HK</vt:lpstr>
      <vt:lpstr>微軟正黑體</vt:lpstr>
      <vt:lpstr>ADLaM Display</vt:lpstr>
      <vt:lpstr>Arial</vt:lpstr>
      <vt:lpstr>Calibri</vt:lpstr>
      <vt:lpstr>Consolas</vt:lpstr>
      <vt:lpstr>Wingdings</vt:lpstr>
      <vt:lpstr>Default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Progress Report</dc:title>
  <dc:creator>Felix Tien(田慶豐)</dc:creator>
  <cp:lastModifiedBy>Allen Ni(倪士凱)</cp:lastModifiedBy>
  <cp:revision>1790</cp:revision>
  <cp:lastPrinted>2024-07-30T01:44:15Z</cp:lastPrinted>
  <dcterms:created xsi:type="dcterms:W3CDTF">2019-11-08T03:01:47Z</dcterms:created>
  <dcterms:modified xsi:type="dcterms:W3CDTF">2026-07-26T13:25:27Z</dcterms:modified>
</cp:coreProperties>
</file>