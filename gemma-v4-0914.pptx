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59"/>
            <p14:sldId id="260"/>
          </p14:sldIdLst>
        </p14:section>
        <p14:section name="Transformer" id="{1648C783-C1F8-4ACC-AC5E-7D76DC723651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EF3"/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8" autoAdjust="0"/>
    <p:restoredTop sz="74798" autoAdjust="0"/>
  </p:normalViewPr>
  <p:slideViewPr>
    <p:cSldViewPr snapToGrid="0">
      <p:cViewPr>
        <p:scale>
          <a:sx n="100" d="100"/>
          <a:sy n="100" d="100"/>
        </p:scale>
        <p:origin x="1044" y="7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google.com/search?ibp=oshop&amp;prds=pvt:hg,pvo:29,imageDocid:10250350857595331149,gpcid:7433825256305218665,headlineOfferDocid:9566195024799132790,catalogid:15341598731994599191,productDocid:1212280515864573433,rds:PC_7433825256305218665%7CPROD_PC_7433825256305218665&amp;q=product&amp;sa=X&amp;ved=2ahUKEwjBnYCrx--WAxWEcvUHHeeYHqsQxa4PegYIAAgTEAw" TargetMode="External"/><Relationship Id="rId4" Type="http://schemas.openxmlformats.org/officeDocument/2006/relationships/hyperlink" Target="https://arxiv.org/abs/1810.04805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史前探索期：架構與基礎建立（2018 - 2019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Transformer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架構問世，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BERT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GPT-1 / GPT-2 開始探索自我監督式學習（Self-Supervised Learning）。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訓練特點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：模型參數量僅在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數億（Millions）到十億（1B）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等級。此時業界主要在摸索如何讓模型理解基本的文字上下文，訓練資料主要使用高品質的維基百科或特定書籍。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軍備競賽期：參數決定一切（2020 - 2021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 OpenAI 提出的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主導。該定律認為只要算力充足，應該把資源最大化地投入在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增加模型參數量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：GPT-3（175B）、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Gopher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（280B），甚至出現上千億參數的巨型模型。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訓練盲點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：當時的模型雖然極度巨大，但平均只分配了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300B（3,000億）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左右的 Token（文字標記）。這導致模型雖然有極強的記憶能力，但由於訓練資料量相較於參數太少，實際上處於嚴重的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「訓練不足（Undertrained）」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計算最佳化期：Chinchilla 定律的效率革命（2022 - 2023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：DeepMind 發表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，打破了「越巨越好」的迷思。業界開始意識到：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參數量與資料量（Tokens）必須以 1:1 的等比例規模同步放大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（70B 模型餵養 1.4T 資料）、Meta Llama 1 &amp; 2 系列。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影響與改變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「小而精悍」成為主流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：同樣的運算成本，用 70B 的小模型搭配巨量資料，表現全面超越 280B 的大模型。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開源大爆發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：因為模型引進「Chinchilla 定律」縮小了體積，消費級顯示卡（如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RTX 4090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或單張 A100）也開始能跑得動 7B 或 13B 的高水準模型，極大加速了開源社群（如 Hugging Face）的繁榮。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資料壁壘與多模態期（2024 - 2026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：人類高質量文字資料即將耗盡，業界遭遇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"Data Wall"（資料牆）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。訓練重點從「堆疊公開網頁資料」轉向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資料品質（Data Quality）、合成資料（Synthetic Data）與極限過度訓練（Over-training）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 3（8B 模型卻使用了驚人的 15T tokens，遠遠超越 Chinchilla 最優比例，證明過度訓練能壓榨出更強的推理能力）、GPT-4o、Claude 3.5。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混合專家架構（MoE, Mixture of Experts）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 GPT-4 與 Mixtral。不維持單一龐大核心，而是由多個小專家模型組合，每次只觸發部分參數，在推理時兼顧高水準與低成本。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後訓練（Post-Training）與強化學習（RLHF/RLAIF）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：基礎訓練（預訓練）結束後，大量依賴「思維鏈（Chain of Thought, CoT）」、人類反饋與AI反饋強化學習，提升模型的邏輯推理與「對齊（Alignment）」能力。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原生多模態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：不再只是文字，影像、聲音、視訊的權重在訓練初期就與文字完全融合，融合成一體化的核心大模型。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r>
              <a:rPr lang="en-US" altLang="zh-TW" dirty="0"/>
              <a:t>(gpu:300, HBM:1400, cowos:800, test/ABF: 1000)</a:t>
            </a:r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散熱問題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</a:t>
            </a:r>
            <a:r>
              <a:rPr lang="en-US" altLang="zh-TW" dirty="0"/>
              <a:t>2.</a:t>
            </a:r>
            <a:r>
              <a:rPr lang="zh-TW" altLang="en-US" dirty="0"/>
              <a:t> 傳輸問題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 err="1"/>
              <a:t>kv</a:t>
            </a:r>
            <a:r>
              <a:rPr lang="en-US" altLang="zh-TW" dirty="0"/>
              <a:t>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9814E-256B-49B0-843B-3BCC36857E45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D0BFA848-0C40-4846-A316-21373763CB00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0124" y="6510339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5505E-E4C4-47AF-AAA8-F9A1FD09DD5A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9409-320E-430C-8093-50B567262715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28D0-0114-4D8B-AD5F-9B23CE45E8D9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C39C-0E4A-45F0-BB51-6376605C7C71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E0DE2-4107-4866-AC08-305D6528900E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E7649-C91D-46EC-8700-D95CE6226524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27A1D-49F5-4255-B1E4-2E1AEBB6F772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88D42-2150-4DC5-9603-AF659E0ED0CA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2D52F-0A1F-4FFC-92E7-3663EE638588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388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1E00E7-BBA7-4C87-9F80-AF7880CBB288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0.png"/><Relationship Id="rId4" Type="http://schemas.openxmlformats.org/officeDocument/2006/relationships/image" Target="../media/image34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svg"/><Relationship Id="rId3" Type="http://schemas.openxmlformats.org/officeDocument/2006/relationships/image" Target="../media/image67.svg"/><Relationship Id="rId7" Type="http://schemas.openxmlformats.org/officeDocument/2006/relationships/image" Target="../media/image71.svg"/><Relationship Id="rId2" Type="http://schemas.openxmlformats.org/officeDocument/2006/relationships/image" Target="../media/image6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svg"/><Relationship Id="rId5" Type="http://schemas.openxmlformats.org/officeDocument/2006/relationships/image" Target="../media/image69.svg"/><Relationship Id="rId4" Type="http://schemas.openxmlformats.org/officeDocument/2006/relationships/image" Target="../media/image68.png"/><Relationship Id="rId9" Type="http://schemas.openxmlformats.org/officeDocument/2006/relationships/image" Target="../media/image73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sv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svg"/><Relationship Id="rId5" Type="http://schemas.openxmlformats.org/officeDocument/2006/relationships/image" Target="../media/image74.svg"/><Relationship Id="rId4" Type="http://schemas.openxmlformats.org/officeDocument/2006/relationships/image" Target="../media/image6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sv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svg"/><Relationship Id="rId2" Type="http://schemas.openxmlformats.org/officeDocument/2006/relationships/image" Target="../media/image80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rena.ai/leaderboard/text/pareto" TargetMode="Externa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92.png"/><Relationship Id="rId5" Type="http://schemas.openxmlformats.org/officeDocument/2006/relationships/image" Target="../media/image7.png"/><Relationship Id="rId10" Type="http://schemas.openxmlformats.org/officeDocument/2006/relationships/image" Target="../media/image91.png"/><Relationship Id="rId4" Type="http://schemas.openxmlformats.org/officeDocument/2006/relationships/image" Target="../media/image6.png"/><Relationship Id="rId9" Type="http://schemas.openxmlformats.org/officeDocument/2006/relationships/image" Target="../media/image9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4.png"/><Relationship Id="rId7" Type="http://schemas.openxmlformats.org/officeDocument/2006/relationships/image" Target="../media/image78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jpeg"/><Relationship Id="rId5" Type="http://schemas.openxmlformats.org/officeDocument/2006/relationships/image" Target="../media/image68.png"/><Relationship Id="rId4" Type="http://schemas.openxmlformats.org/officeDocument/2006/relationships/image" Target="../media/image95.png"/><Relationship Id="rId9" Type="http://schemas.openxmlformats.org/officeDocument/2006/relationships/image" Target="../media/image9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106.png"/><Relationship Id="rId7" Type="http://schemas.openxmlformats.org/officeDocument/2006/relationships/image" Target="../media/image10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8.png"/><Relationship Id="rId5" Type="http://schemas.openxmlformats.org/officeDocument/2006/relationships/image" Target="../media/image2300.png"/><Relationship Id="rId4" Type="http://schemas.openxmlformats.org/officeDocument/2006/relationships/image" Target="../media/image10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2598B9F7-8C93-2BBE-377D-1F08E21F8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45048" y="2668267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2592" y="204875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7105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043380"/>
              <a:ext cx="3701432" cy="125252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93517" y="4052905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308304" y="207686"/>
            <a:ext cx="1440160" cy="144016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43717" y="520631"/>
            <a:ext cx="1012726" cy="103502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749831" y="891742"/>
            <a:ext cx="600497" cy="557005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7927114" y="117024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449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AF05775-4221-6681-77AC-DEEA4AA23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2322337"/>
              </p:ext>
            </p:extLst>
          </p:nvPr>
        </p:nvGraphicFramePr>
        <p:xfrm>
          <a:off x="561599" y="1064154"/>
          <a:ext cx="593345" cy="1927827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633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blipFill>
                <a:blip r:embed="rId4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447895"/>
              </p:ext>
            </p:extLst>
          </p:nvPr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82555"/>
              </p:ext>
            </p:extLst>
          </p:nvPr>
        </p:nvGraphicFramePr>
        <p:xfrm>
          <a:off x="580703" y="2108148"/>
          <a:ext cx="1222398" cy="432048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988047"/>
              </p:ext>
            </p:extLst>
          </p:nvPr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376485"/>
              </p:ext>
            </p:extLst>
          </p:nvPr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363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A55E9A07-9129-E5AD-0032-D66991C29544}"/>
              </a:ext>
            </a:extLst>
          </p:cNvPr>
          <p:cNvSpPr/>
          <p:nvPr/>
        </p:nvSpPr>
        <p:spPr>
          <a:xfrm>
            <a:off x="9612560" y="4725666"/>
            <a:ext cx="914400" cy="914400"/>
          </a:xfrm>
          <a:prstGeom prst="roundRect">
            <a:avLst/>
          </a:prstGeom>
          <a:solidFill>
            <a:sysClr val="windowText" lastClr="000000">
              <a:alpha val="70000"/>
            </a:sysClr>
          </a:solidFill>
          <a:ln w="127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976753" y="17255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1568244" y="16731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781668" y="19949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895131" y="19949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196746" y="13016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60" idx="0"/>
          </p:cNvCxnSpPr>
          <p:nvPr/>
        </p:nvCxnSpPr>
        <p:spPr>
          <a:xfrm>
            <a:off x="1675551" y="1994937"/>
            <a:ext cx="1193271" cy="307802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1355601" y="12668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553157" y="21047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717322" y="3673406"/>
            <a:ext cx="3977780" cy="1530211"/>
            <a:chOff x="4332113" y="803074"/>
            <a:chExt cx="3977780" cy="1530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sz="1200" i="1" dirty="0">
                      <a:solidFill>
                        <a:prstClr val="black"/>
                      </a:solidFill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991098" y="19318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19413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106339" y="2100613"/>
            <a:ext cx="1367635" cy="1204182"/>
            <a:chOff x="7032317" y="2465269"/>
            <a:chExt cx="1367635" cy="1204182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14619"/>
              <a:ext cx="0" cy="1054832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835004"/>
              <a:ext cx="279846" cy="60602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278384"/>
              <a:ext cx="581932" cy="15253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/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 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box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00CAD49-7554-E4D8-28A1-EB0C11FD8A93}"/>
              </a:ext>
            </a:extLst>
          </p:cNvPr>
          <p:cNvSpPr/>
          <p:nvPr/>
        </p:nvSpPr>
        <p:spPr>
          <a:xfrm>
            <a:off x="976753" y="19541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9617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9573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blipFill>
                <a:blip r:embed="rId5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976753" y="11308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22577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14120" y="2094688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9697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63557" y="2457739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568111" y="1744815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477129" y="1977241"/>
            <a:ext cx="183992" cy="902273"/>
          </a:xfrm>
          <a:prstGeom prst="leftBrace">
            <a:avLst>
              <a:gd name="adj1" fmla="val 8641"/>
              <a:gd name="adj2" fmla="val 91608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958007" y="2248871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830992" y="1960839"/>
            <a:ext cx="127016" cy="288032"/>
          </a:xfrm>
          <a:prstGeom prst="leftBrace">
            <a:avLst>
              <a:gd name="adj1" fmla="val 8333"/>
              <a:gd name="adj2" fmla="val 79762"/>
            </a:avLst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399180" y="1657950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296130" y="1474178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62356" y="2879514"/>
            <a:ext cx="856255" cy="1141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63301" y="2750653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/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40000"/>
                </a:scheme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blipFill>
                <a:blip r:embed="rId12"/>
                <a:stretch>
                  <a:fillRect l="-18182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/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blipFill>
                <a:blip r:embed="rId13"/>
                <a:stretch>
                  <a:fillRect l="-24242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704123" y="21455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51CE24C-C2D5-B84D-75E0-A078E17BD50C}"/>
              </a:ext>
            </a:extLst>
          </p:cNvPr>
          <p:cNvSpPr/>
          <p:nvPr/>
        </p:nvSpPr>
        <p:spPr>
          <a:xfrm>
            <a:off x="2747398" y="113086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551230" y="2826034"/>
            <a:ext cx="1016966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2126094"/>
            <a:ext cx="1598892" cy="3055568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3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7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800371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zh-TW" alt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02568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/>
              </a:rPr>
              <a:t>Agent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Text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A055B43-7964-9E9D-424B-724FBBA1FC78}"/>
              </a:ext>
            </a:extLst>
          </p:cNvPr>
          <p:cNvSpPr txBox="1"/>
          <p:nvPr/>
        </p:nvSpPr>
        <p:spPr>
          <a:xfrm>
            <a:off x="8460432" y="6608230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$0.05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7980" y="2396734"/>
            <a:ext cx="1184904" cy="528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74E382E-8463-3FA5-C6AE-276888641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6" y="1526047"/>
            <a:ext cx="4770416" cy="44081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90169FB-75A6-2D94-5957-D0CCC655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113" y="3123411"/>
            <a:ext cx="3379206" cy="13344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007AF6-603A-629B-A06B-2CD59422F789}"/>
              </a:ext>
            </a:extLst>
          </p:cNvPr>
          <p:cNvSpPr/>
          <p:nvPr/>
        </p:nvSpPr>
        <p:spPr>
          <a:xfrm>
            <a:off x="1093866" y="2299698"/>
            <a:ext cx="2811213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C7F387-EE91-5D4B-E5AC-0E1E77536445}"/>
              </a:ext>
            </a:extLst>
          </p:cNvPr>
          <p:cNvSpPr/>
          <p:nvPr/>
        </p:nvSpPr>
        <p:spPr>
          <a:xfrm>
            <a:off x="1091173" y="1980201"/>
            <a:ext cx="4461299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6754D68A-EB7F-2542-2C66-96A76E5D917E}"/>
              </a:ext>
            </a:extLst>
          </p:cNvPr>
          <p:cNvCxnSpPr>
            <a:cxnSpLocks/>
            <a:stCxn id="6" idx="1"/>
            <a:endCxn id="15" idx="1"/>
          </p:cNvCxnSpPr>
          <p:nvPr/>
        </p:nvCxnSpPr>
        <p:spPr>
          <a:xfrm rot="10800000" flipV="1">
            <a:off x="858692" y="2121895"/>
            <a:ext cx="232483" cy="2835586"/>
          </a:xfrm>
          <a:prstGeom prst="bentConnector3">
            <a:avLst>
              <a:gd name="adj1" fmla="val 17374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4154CAD-822E-9E5F-F445-E88460BEDF4E}"/>
              </a:ext>
            </a:extLst>
          </p:cNvPr>
          <p:cNvSpPr/>
          <p:nvPr/>
        </p:nvSpPr>
        <p:spPr>
          <a:xfrm>
            <a:off x="858691" y="3980809"/>
            <a:ext cx="4610420" cy="195334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F2C084-1F28-FEEC-1632-B2048A615545}"/>
              </a:ext>
            </a:extLst>
          </p:cNvPr>
          <p:cNvSpPr/>
          <p:nvPr/>
        </p:nvSpPr>
        <p:spPr>
          <a:xfrm>
            <a:off x="1166817" y="3247351"/>
            <a:ext cx="3905836" cy="40241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78C543-AF30-55F2-D518-30A35928F329}"/>
              </a:ext>
            </a:extLst>
          </p:cNvPr>
          <p:cNvSpPr/>
          <p:nvPr/>
        </p:nvSpPr>
        <p:spPr>
          <a:xfrm>
            <a:off x="5824057" y="3623554"/>
            <a:ext cx="3183263" cy="521282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3FF24D6-C98B-AED6-E8B3-C355AE7C4946}"/>
              </a:ext>
            </a:extLst>
          </p:cNvPr>
          <p:cNvSpPr txBox="1"/>
          <p:nvPr/>
        </p:nvSpPr>
        <p:spPr>
          <a:xfrm>
            <a:off x="247843" y="1316969"/>
            <a:ext cx="52709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傳出使用者的問話（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）包含工具的資訊給大模型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7EC669B-7AE9-2B92-0DD9-2197E6373F03}"/>
              </a:ext>
            </a:extLst>
          </p:cNvPr>
          <p:cNvSpPr txBox="1"/>
          <p:nvPr/>
        </p:nvSpPr>
        <p:spPr>
          <a:xfrm>
            <a:off x="321382" y="906789"/>
            <a:ext cx="25651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Agent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如何操作工具（</a:t>
            </a:r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具體實例）</a:t>
            </a:r>
            <a:endParaRPr lang="zh-TW" altLang="en-US" sz="900" dirty="0">
              <a:solidFill>
                <a:schemeClr val="accent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5473FF9-5F65-496C-3E4D-6739B7ACC249}"/>
              </a:ext>
            </a:extLst>
          </p:cNvPr>
          <p:cNvSpPr txBox="1"/>
          <p:nvPr/>
        </p:nvSpPr>
        <p:spPr>
          <a:xfrm>
            <a:off x="2945361" y="4263294"/>
            <a:ext cx="1627369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系統提示詞中也有工具的使用提示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41F81F-5AC4-0B8A-5FA4-F469FCBDE7ED}"/>
              </a:ext>
            </a:extLst>
          </p:cNvPr>
          <p:cNvSpPr/>
          <p:nvPr/>
        </p:nvSpPr>
        <p:spPr>
          <a:xfrm>
            <a:off x="929514" y="4450616"/>
            <a:ext cx="3865418" cy="10594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0A6F5C07-5BDE-1968-4F1C-A6163A18180A}"/>
              </a:ext>
            </a:extLst>
          </p:cNvPr>
          <p:cNvSpPr txBox="1"/>
          <p:nvPr/>
        </p:nvSpPr>
        <p:spPr>
          <a:xfrm>
            <a:off x="2814048" y="3325125"/>
            <a:ext cx="1106393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有工具的使用説明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19F0917-D6D2-0663-28D0-87F98AF03E1A}"/>
              </a:ext>
            </a:extLst>
          </p:cNvPr>
          <p:cNvSpPr txBox="1"/>
          <p:nvPr/>
        </p:nvSpPr>
        <p:spPr>
          <a:xfrm>
            <a:off x="5809130" y="1789052"/>
            <a:ext cx="30492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收到大模型要求執行工具調用，本地執行這個工具指令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99635CC-FB5F-D773-BB77-E2A84660D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8272" y="934820"/>
            <a:ext cx="2014380" cy="3589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5E224571-6F7C-786B-B247-433971A9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186" y="2121895"/>
            <a:ext cx="3488703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8" name="文字方塊 47">
            <a:extLst>
              <a:ext uri="{FF2B5EF4-FFF2-40B4-BE49-F238E27FC236}">
                <a16:creationId xmlns:a16="http://schemas.microsoft.com/office/drawing/2014/main" id="{D323B715-0111-E94B-9337-93E4D794CF1E}"/>
              </a:ext>
            </a:extLst>
          </p:cNvPr>
          <p:cNvSpPr txBox="1"/>
          <p:nvPr/>
        </p:nvSpPr>
        <p:spPr>
          <a:xfrm>
            <a:off x="3862664" y="2356299"/>
            <a:ext cx="744114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662F09A1-E287-B0DF-2A9D-D0B4BD7C336A}"/>
              </a:ext>
            </a:extLst>
          </p:cNvPr>
          <p:cNvSpPr txBox="1"/>
          <p:nvPr/>
        </p:nvSpPr>
        <p:spPr>
          <a:xfrm>
            <a:off x="3446766" y="1794207"/>
            <a:ext cx="867545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5241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856B6AA2-2CF4-DEEE-F773-18D1F3B9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3" y="2627209"/>
            <a:ext cx="4663905" cy="31813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39014E0-7321-A89C-6FF8-1E27C5ABD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707" y="3429001"/>
            <a:ext cx="3894900" cy="615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14DD395C-3F44-7ADF-58F1-CEF8AC2ECA22}"/>
              </a:ext>
            </a:extLst>
          </p:cNvPr>
          <p:cNvSpPr txBox="1"/>
          <p:nvPr/>
        </p:nvSpPr>
        <p:spPr>
          <a:xfrm>
            <a:off x="391945" y="1011600"/>
            <a:ext cx="25074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3.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傳出歷史記錄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工具執行的結果給大模型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B4FDFE-4508-79C3-B679-B1C07E9802C0}"/>
              </a:ext>
            </a:extLst>
          </p:cNvPr>
          <p:cNvSpPr/>
          <p:nvPr/>
        </p:nvSpPr>
        <p:spPr>
          <a:xfrm>
            <a:off x="368475" y="4090928"/>
            <a:ext cx="4514483" cy="16712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ED081B-26E6-2AE6-20BF-EE441A86696D}"/>
              </a:ext>
            </a:extLst>
          </p:cNvPr>
          <p:cNvSpPr/>
          <p:nvPr/>
        </p:nvSpPr>
        <p:spPr>
          <a:xfrm>
            <a:off x="368475" y="4712751"/>
            <a:ext cx="1901738" cy="1176241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9819C47E-C4F2-31B0-EC48-456E95AB83F6}"/>
              </a:ext>
            </a:extLst>
          </p:cNvPr>
          <p:cNvCxnSpPr>
            <a:cxnSpLocks/>
            <a:stCxn id="12" idx="1"/>
            <a:endCxn id="18" idx="1"/>
          </p:cNvCxnSpPr>
          <p:nvPr/>
        </p:nvCxnSpPr>
        <p:spPr>
          <a:xfrm rot="10800000" flipV="1">
            <a:off x="368474" y="4174492"/>
            <a:ext cx="9525" cy="1126379"/>
          </a:xfrm>
          <a:prstGeom prst="bentConnector3">
            <a:avLst>
              <a:gd name="adj1" fmla="val 180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F7B9993-F344-4E09-33FE-02603F8D4814}"/>
              </a:ext>
            </a:extLst>
          </p:cNvPr>
          <p:cNvSpPr txBox="1"/>
          <p:nvPr/>
        </p:nvSpPr>
        <p:spPr>
          <a:xfrm>
            <a:off x="5454386" y="1392913"/>
            <a:ext cx="1433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4.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收到大模型最後的回答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93D411A-A3F0-8EA7-33DA-7D7C47F26E44}"/>
              </a:ext>
            </a:extLst>
          </p:cNvPr>
          <p:cNvSpPr/>
          <p:nvPr/>
        </p:nvSpPr>
        <p:spPr>
          <a:xfrm>
            <a:off x="5306845" y="3774343"/>
            <a:ext cx="3758393" cy="1718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DDB4C16D-8CD8-AF4E-9E8D-79BAC4650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73" y="1196537"/>
            <a:ext cx="2996696" cy="1350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CEF825C6-2C65-FED4-92C7-EAC8092EE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7678" y="1705413"/>
            <a:ext cx="3553078" cy="15509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9063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Hash(Block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SHA256</m:t>
                      </m:r>
                      <m:d>
                        <m:dPr>
                          <m:ctrl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Hash(Block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 1 的內容</m:t>
                          </m:r>
                        </m:e>
                      </m:d>
                    </m:oMath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4549DA9B-39B4-7A51-A4AA-F9B9E6C6D9F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572</TotalTime>
  <Words>9651</Words>
  <Application>Microsoft Office PowerPoint</Application>
  <PresentationFormat>如螢幕大小 (4:3)</PresentationFormat>
  <Paragraphs>2437</Paragraphs>
  <Slides>40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16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57" baseType="lpstr">
      <vt:lpstr>Microsoft GothicNeo</vt:lpstr>
      <vt:lpstr>Microsoft YaHei Mono</vt:lpstr>
      <vt:lpstr>Noto Sans HK</vt:lpstr>
      <vt:lpstr>微軟正黑體</vt:lpstr>
      <vt:lpstr>微軟正黑體 Light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40</cp:revision>
  <dcterms:created xsi:type="dcterms:W3CDTF">2026-09-14T11:47:03Z</dcterms:created>
  <dcterms:modified xsi:type="dcterms:W3CDTF">2026-09-15T09:31:50Z</dcterms:modified>
</cp:coreProperties>
</file>