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65" r:id="rId9"/>
    <p:sldId id="3515" r:id="rId10"/>
    <p:sldId id="3505" r:id="rId11"/>
    <p:sldId id="3514" r:id="rId12"/>
    <p:sldId id="3482" r:id="rId13"/>
    <p:sldId id="3489" r:id="rId14"/>
    <p:sldId id="3516" r:id="rId15"/>
    <p:sldId id="3495" r:id="rId16"/>
    <p:sldId id="3460" r:id="rId17"/>
    <p:sldId id="3504" r:id="rId18"/>
    <p:sldId id="257" r:id="rId19"/>
    <p:sldId id="265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" id="{5A048767-0D58-44AF-B962-12C29493294F}">
          <p14:sldIdLst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6"/>
            <p14:sldId id="3495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FF0000"/>
    <a:srgbClr val="FFFF99"/>
    <a:srgbClr val="E3C0AB"/>
    <a:srgbClr val="F3E4DB"/>
    <a:srgbClr val="FFCC99"/>
    <a:srgbClr val="CBDCA8"/>
    <a:srgbClr val="C5D8A0"/>
    <a:srgbClr val="CCFF66"/>
    <a:srgbClr val="DBFF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38667" autoAdjust="0"/>
  </p:normalViewPr>
  <p:slideViewPr>
    <p:cSldViewPr>
      <p:cViewPr>
        <p:scale>
          <a:sx n="100" d="100"/>
          <a:sy n="100" d="100"/>
        </p:scale>
        <p:origin x="76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dirty="0">
                <a:solidFill>
                  <a:schemeClr val="tx1"/>
                </a:solidFill>
              </a:rPr>
              <a:t>1. 雲端伺服器與高併發陣營（適合後端 API 開發）</a:t>
            </a:r>
          </a:p>
          <a:p>
            <a:r>
              <a:rPr lang="zh-TW" altLang="zh-TW" sz="1200" b="1" dirty="0">
                <a:solidFill>
                  <a:schemeClr val="tx1"/>
                </a:solidFill>
              </a:rPr>
              <a:t>vLLM</a:t>
            </a:r>
            <a:r>
              <a:rPr lang="zh-TW" altLang="zh-TW" sz="1200" dirty="0">
                <a:solidFill>
                  <a:schemeClr val="tx1"/>
                </a:solidFill>
              </a:rPr>
              <a:t> (開源</a:t>
            </a:r>
            <a:r>
              <a:rPr lang="en-US" altLang="zh-TW" sz="1200" dirty="0">
                <a:solidFill>
                  <a:schemeClr val="tx1"/>
                </a:solidFill>
              </a:rPr>
              <a:t>),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zh-TW" altLang="zh-TW" sz="1200" b="1" dirty="0">
                <a:solidFill>
                  <a:schemeClr val="tx1"/>
                </a:solidFill>
              </a:rPr>
              <a:t>TensorRT-LLM</a:t>
            </a:r>
            <a:r>
              <a:rPr lang="zh-TW" altLang="zh-TW" sz="1200" dirty="0">
                <a:solidFill>
                  <a:schemeClr val="tx1"/>
                </a:solidFill>
              </a:rPr>
              <a:t> (N</a:t>
            </a:r>
            <a:r>
              <a:rPr lang="en-US" altLang="zh-TW" sz="1200" dirty="0">
                <a:solidFill>
                  <a:schemeClr val="tx1"/>
                </a:solidFill>
              </a:rPr>
              <a:t>V</a:t>
            </a:r>
            <a:r>
              <a:rPr lang="zh-TW" altLang="zh-TW" sz="1200" dirty="0">
                <a:solidFill>
                  <a:schemeClr val="tx1"/>
                </a:solidFill>
              </a:rPr>
              <a:t>)</a:t>
            </a:r>
            <a:r>
              <a:rPr lang="en-US" altLang="zh-TW" sz="1200" dirty="0">
                <a:solidFill>
                  <a:schemeClr val="tx1"/>
                </a:solidFill>
              </a:rPr>
              <a:t>,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zh-TW" altLang="zh-TW" sz="1200" b="1" dirty="0">
                <a:solidFill>
                  <a:schemeClr val="tx1"/>
                </a:solidFill>
              </a:rPr>
              <a:t>TGI </a:t>
            </a:r>
            <a:r>
              <a:rPr lang="zh-TW" altLang="zh-TW" sz="1200" dirty="0">
                <a:solidFill>
                  <a:schemeClr val="tx1"/>
                </a:solidFill>
              </a:rPr>
              <a:t>(Hugging Face)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2.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zh-TW" altLang="zh-TW" sz="1200" dirty="0">
                <a:solidFill>
                  <a:schemeClr val="tx1"/>
                </a:solidFill>
              </a:rPr>
              <a:t>本機與邊緣裝置陣營</a:t>
            </a:r>
            <a:r>
              <a:rPr lang="en-US" altLang="zh-TW" sz="1200" dirty="0">
                <a:solidFill>
                  <a:schemeClr val="tx1"/>
                </a:solidFill>
              </a:rPr>
              <a:t>(PC)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en-US" altLang="zh-TW" sz="1200" dirty="0">
                <a:solidFill>
                  <a:schemeClr val="tx1"/>
                </a:solidFill>
              </a:rPr>
              <a:t>llama.cpp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3. </a:t>
            </a:r>
            <a:r>
              <a:rPr lang="zh-TW" altLang="zh-TW" sz="1200" dirty="0">
                <a:solidFill>
                  <a:schemeClr val="tx1"/>
                </a:solidFill>
              </a:rPr>
              <a:t>通用深度學習陣營</a:t>
            </a:r>
            <a:r>
              <a:rPr lang="en-US" altLang="zh-TW" sz="1200" dirty="0">
                <a:solidFill>
                  <a:schemeClr val="tx1"/>
                </a:solidFill>
              </a:rPr>
              <a:t>ONNX Runtime (MS) , OpenVINO (Intel)</a:t>
            </a:r>
            <a:endParaRPr lang="zh-TW" altLang="zh-TW" sz="1200" dirty="0">
              <a:solidFill>
                <a:schemeClr val="tx1"/>
              </a:solidFill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 Decay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又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泛化能力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Generalization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。目前 95% 以上的 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LLaMA, GPT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endParaRPr lang="zh-TW" altLang="zh-TW" dirty="0"/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QAT（Quantization-Aware Training，量化感知訓練）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TW" altLang="zh-TW" dirty="0"/>
              <a:t>是一種 AI 模型優化技術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。它在訓練過程中模擬低精度（如 INT8）的誤差，讓神經網路提前「適應」量化損失。相較於直接量化，這能大幅減少精準度下降，常用於邊緣設備。</a:t>
            </a:r>
            <a:b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核心原理與運作方式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偽量化（Fake Quantization）：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在訓練階段，將高精度（通常為 FP32）的權重與激活值壓縮為低精度（如 INT8），計算完後再解壓縮回高精度。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模擬誤差：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讓模型在訓練時就能察覺到量化所產生的噪聲（Noise），並學會自我調整去彌補這些誤差。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權重更新：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為了在不可微分的量化函數下進行反向傳播（Backpropagation），QAT 使用直通估計器（Straight-Through Estimator, STE）來順利更新權重。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STE（Straight-Through Estimator，直通估計器）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是深度學習中用於解決「不可微分函數」反向傳播問題的一種特殊技巧。在模型量化（如 QAT）或二值化神經網路（BNN）中，它是不可或缺的核心機制。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數學困境：</a:t>
            </a:r>
            <a:r>
              <a:rPr lang="zh-TW" altLang="zh-TW" dirty="0"/>
              <a:t> 階梯函數的導數（梯度）在絕大多數地方都是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TW" altLang="zh-TW" dirty="0"/>
              <a:t>，而在跳躍的邊界點則是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無限大（不存在）</a:t>
            </a:r>
            <a:r>
              <a:rPr lang="zh-TW" altLang="zh-TW" dirty="0"/>
              <a:t>。</a:t>
            </a:r>
            <a:br>
              <a:rPr lang="zh-TW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STE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 的核心思想非常直接且「粗暴」：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在正向傳播時使用量化函數，但在反向傳播時，直接假裝量化函數不存在。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正向傳播（Forward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正常執行量化運算（例如將 2.7 四捨五入變成 3），讓模型體驗低精度帶來的誤差與噪聲。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反向傳播（Backward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當梯度傳回來到這個量化節點時，STE 直接將梯度「原封不動」地傳遞過去（相當於假設該節點的導數為 1）。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簡單來說，它就像是在反向傳播時，在不可微分的階梯函數上架了一座「直通橋梁」，讓梯度順利通過並更新前一層的 FP32 權重。</a:t>
            </a:r>
          </a:p>
          <a:p>
            <a:endParaRPr lang="zh-TW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optimizer, 作法</a:t>
            </a:r>
          </a:p>
          <a:p>
            <a:pPr rt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Adam（Adaptive Moment Estimation，自適應動態矩量估計）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結合了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動態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RMSprop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均方根傳播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的優點，既能像動態法一樣衝過局部最小值，又能為每個參數獨立調整學習率。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1】開發方式（優先度：⭐⭐⭐⭐⭐）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：你的 Agent 需要具備什麼樣的「超能力」？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場景 A：科學文獻萬事通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：專注於從數萬篇 PubMed 論文中提煉知識（高重度依賴 RAG、長上下文）。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場景 B：生物資訊工程師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：科學家下自然語言（例如：「幫我把這批 Fastq 檔案跑完質控並比對到參考基因組」），Agent 要能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自己寫出 Python/R 代碼、甚至自己調用 Linux 系統的生物資訊工具（Tool Calling）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為什麼最先選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：如果是場景 B，代表 Agent 必須具備「ReAct（推理-行動）」的閉環能力，甚至需要一個獨立的安全沙盒（Sandbox）來執行代碼。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2】搭配函式庫（優先度：⭐⭐⭐⭐）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注意：在生物資訊中，函式庫的順位被大幅提前了！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 骨架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：選擇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LangGraph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CrewAI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AutoGen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。生物資訊的工作流通常很固定（例如：DNA 序列分析 -&gt; 統計過濾 -&gt; 繪圖），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LangGraph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的狀態機圖架構最適合用來規範 Agent 不會亂跑。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專業工具箱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Biopython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（處理序列、PDB 結構）、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Hugging Face Tokenizers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，或是 NCBI API、E-utilities、Ensembl API 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生物醫學專用資料庫接口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，包裝成 Agent 可以自由調用的 Tools。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為什麼放第二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：如果沒有這些專業的函式庫與工具串接，大模型智商再高也只是一個會吹牛的文科生，無法處理真正的 FASTA/VCF 檔案。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3】模型 Model（優先度：⭐⭐⭐⭐）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：生物資訊需要極強的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邏輯推理、代碼生成（Coding）與長文本能力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開源首選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 3.1 8B/70B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系列，或最新世代的 </a:t>
            </a:r>
            <a:r>
              <a:rPr lang="zh-TW" altLang="zh-TW" sz="105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 3.3 70B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（代碼與推理能力大幅進化，且具備 128K 超長上下文，極度適合讀取整篇生物論文）。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特定衍生模型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：若有需要，也可以考慮社群基於 Llama 微調出來的科學或醫學專屬模型（如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系列），但通常官方最新的大尺寸模型（如 70B）泛化能力最好。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為什麼放第三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：此時你已經知道 Agent 需要調用哪些工具（次序2），你可以直接拿 Llama 70B 來測試它「聽不聽得懂人話、能不能正確輸出調用工具的 JSON 指令」。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4】推理引擎（優先度：⭐⭐⭐）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6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首選</a:t>
            </a:r>
            <a:r>
              <a:rPr lang="zh-TW" altLang="zh-TW" sz="16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6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</a:t>
            </a:r>
            <a:r>
              <a:rPr lang="zh-TW" altLang="zh-TW" sz="16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關鍵理由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：生物資訊 Agent 在反覆思考和調用工具時，會產生大量的、重複的 Prompt（例如每次都要把同一個系統提示詞和幾千字的工具說明傳給模型）。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RadixAttention（Prompt Cache）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技術，能讓相同的提示詞永遠快取在顯存中。這樣 Agent 在執行多輪對話與代碼修正時，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速度會快數倍，且大幅節省顯存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5】微調 SFT 策略（優先度：⭐⭐）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高機率不需要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：生物資訊的大部分問題（例如：「請用 Python 寫一段解析 VCF 變異檔案並計算過濾後的過濾後總數」），Llama 3.1/3.3 靠著強大的原生 Code 能力和少樣本提示（Few-shot）就能做得近乎完美。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什麼時候才需要？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公司有完全私有、不對外公開的「次世代定序（NGS）分析管線（Pipeline）指令格式」。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需要模型學會極度罕見的學術術語或公司內部特有的檔案標籤（Tagging）。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手法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：若有需要，建議使用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LoRA/QLoRA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來調整它的「輸出風格與格式約定」，而不是用全參數微調。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6】微調框架（優先度：⭐）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如果第 5 步評估後發現真的需要微調：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多卡環境選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LLaMA-Factory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（好上手，方便生物資訊團隊快速實驗）。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單卡環境選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Unsloth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（省時省力）。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2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當公司內部開會拍板定案時，這套架構最完美的運作閉環是：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團隊使用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LLaMA-Factory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（微調框架）對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31B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（模型）進行 4-bit QLoRA 微調（微調策略），內化公司的 Dataset。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訓練完成後，產出一個幾百 MB 的 LoRA 外掛權重。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將原始的 Gemma 4 31B 權重與這個 LoRA 外掛，一起掛載到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（推理引擎）上啟動 API 服務。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後端開發使用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LangGraph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（搭配函式庫）去呼叫這個 API，並對接 Biopython（生信工具）與產品文件向量庫。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最終在網頁上（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開發方式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），用戶將享受到一個「吐字極快（MTP）、說話先思考（Thinking）、格式極度精準、且具備公司專屬產品技術靈魂」的生物資訊萬事通 Agent。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7313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23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305341"/>
            <a:ext cx="745282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Building a Bio-IT AI Agent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(Select model and FT framework)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955689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987802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of MR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5FBE2F2-1040-BE2C-2C2E-7066E339EACC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01315"/>
              </p:ext>
            </p:extLst>
          </p:nvPr>
        </p:nvGraphicFramePr>
        <p:xfrm>
          <a:off x="4067942" y="1868362"/>
          <a:ext cx="2160242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03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2882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438197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619864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531327"/>
              </p:ext>
            </p:extLst>
          </p:nvPr>
        </p:nvGraphicFramePr>
        <p:xfrm>
          <a:off x="6752510" y="1966322"/>
          <a:ext cx="1733619" cy="652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361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68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907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CrewAI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907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Dify, n8n, Zapier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818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63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8184" y="1654254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527" y="1703911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2180" y="1654254"/>
            <a:ext cx="360260" cy="334586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7582075-B8F6-F21C-A8E2-79D5FC457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1608265"/>
              </p:ext>
            </p:extLst>
          </p:nvPr>
        </p:nvGraphicFramePr>
        <p:xfrm>
          <a:off x="966048" y="2253325"/>
          <a:ext cx="1061061" cy="21550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06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64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  <a:tr h="1749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10333"/>
                  </a:ext>
                </a:extLst>
              </a:tr>
              <a:tr h="2626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996678"/>
                  </a:ext>
                </a:extLst>
              </a:tr>
              <a:tr h="1816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5690"/>
                  </a:ext>
                </a:extLst>
              </a:tr>
              <a:tr h="1816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30837"/>
                  </a:ext>
                </a:extLst>
              </a:tr>
              <a:tr h="1816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415898"/>
                  </a:ext>
                </a:extLst>
              </a:tr>
            </a:tbl>
          </a:graphicData>
        </a:graphic>
      </p:graphicFrame>
      <p:sp>
        <p:nvSpPr>
          <p:cNvPr id="24" name="文字方塊 23">
            <a:extLst>
              <a:ext uri="{FF2B5EF4-FFF2-40B4-BE49-F238E27FC236}">
                <a16:creationId xmlns:a16="http://schemas.microsoft.com/office/drawing/2014/main" id="{69C780C3-624C-359F-C75B-6C9EAFC58A69}"/>
              </a:ext>
            </a:extLst>
          </p:cNvPr>
          <p:cNvSpPr txBox="1"/>
          <p:nvPr/>
        </p:nvSpPr>
        <p:spPr>
          <a:xfrm>
            <a:off x="213023" y="504801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Infra</a:t>
            </a:r>
            <a:r>
              <a:rPr lang="en-US" altLang="zh-TW" sz="1600" b="1" dirty="0"/>
              <a:t>structure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GPU, </a:t>
            </a:r>
            <a:r>
              <a:rPr lang="en-US" altLang="zh-TW" sz="1600" dirty="0"/>
              <a:t>Python, and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base model </a:t>
            </a:r>
            <a:r>
              <a:rPr lang="en-US" altLang="zh-TW" sz="1600" dirty="0"/>
              <a:t>(GGUF) deployment by Ollama.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Design Architecture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Agent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orchestrator</a:t>
            </a:r>
            <a:r>
              <a:rPr lang="en-US" altLang="zh-TW" sz="1600" dirty="0"/>
              <a:t> and some AI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agents</a:t>
            </a:r>
            <a:r>
              <a:rPr lang="en-US" altLang="zh-TW" sz="1600" dirty="0"/>
              <a:t>. (Open Claw / Hermes) 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Run SFT.py to update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QLoRA</a:t>
            </a:r>
            <a:r>
              <a:rPr lang="en-US" altLang="zh-TW" sz="1600" dirty="0"/>
              <a:t> adapter weights, then save merged model into GGUF. 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5AAAC09-6243-904E-B0BB-2CB1EB349C59}"/>
              </a:ext>
            </a:extLst>
          </p:cNvPr>
          <p:cNvSpPr/>
          <p:nvPr/>
        </p:nvSpPr>
        <p:spPr>
          <a:xfrm>
            <a:off x="2507393" y="3770564"/>
            <a:ext cx="815380" cy="4003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Framework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10B9AE8-D1E6-4B56-BE7C-1436B062E89F}"/>
              </a:ext>
            </a:extLst>
          </p:cNvPr>
          <p:cNvSpPr txBox="1"/>
          <p:nvPr/>
        </p:nvSpPr>
        <p:spPr>
          <a:xfrm>
            <a:off x="2507393" y="2996952"/>
            <a:ext cx="805937" cy="377045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(.GGUF)</a:t>
            </a:r>
          </a:p>
        </p:txBody>
      </p:sp>
      <p:sp>
        <p:nvSpPr>
          <p:cNvPr id="32" name="圖說文字: 直線 31">
            <a:extLst>
              <a:ext uri="{FF2B5EF4-FFF2-40B4-BE49-F238E27FC236}">
                <a16:creationId xmlns:a16="http://schemas.microsoft.com/office/drawing/2014/main" id="{C3636D81-AB12-A99A-6E5A-1F225035C3F1}"/>
              </a:ext>
            </a:extLst>
          </p:cNvPr>
          <p:cNvSpPr/>
          <p:nvPr/>
        </p:nvSpPr>
        <p:spPr>
          <a:xfrm flipH="1">
            <a:off x="6661889" y="1605964"/>
            <a:ext cx="1930538" cy="1065884"/>
          </a:xfrm>
          <a:prstGeom prst="borderCallout1">
            <a:avLst>
              <a:gd name="adj1" fmla="val 52923"/>
              <a:gd name="adj2" fmla="val 96722"/>
              <a:gd name="adj3" fmla="val 52799"/>
              <a:gd name="adj4" fmla="val 131288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65AA6843-DD4C-3853-E9EF-7E01BFE82BFB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313330" y="3185474"/>
            <a:ext cx="753434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50D3B039-32B3-41BE-226C-8D772D82279A}"/>
              </a:ext>
            </a:extLst>
          </p:cNvPr>
          <p:cNvCxnSpPr>
            <a:cxnSpLocks/>
            <a:stCxn id="25" idx="0"/>
            <a:endCxn id="29" idx="2"/>
          </p:cNvCxnSpPr>
          <p:nvPr/>
        </p:nvCxnSpPr>
        <p:spPr>
          <a:xfrm flipH="1" flipV="1">
            <a:off x="2910362" y="3373997"/>
            <a:ext cx="4721" cy="396567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圖說文字: 直線 44">
            <a:extLst>
              <a:ext uri="{FF2B5EF4-FFF2-40B4-BE49-F238E27FC236}">
                <a16:creationId xmlns:a16="http://schemas.microsoft.com/office/drawing/2014/main" id="{65E28DCF-B83B-ACA4-72D7-450129FDDF62}"/>
              </a:ext>
            </a:extLst>
          </p:cNvPr>
          <p:cNvSpPr/>
          <p:nvPr/>
        </p:nvSpPr>
        <p:spPr>
          <a:xfrm flipH="1">
            <a:off x="933450" y="2189508"/>
            <a:ext cx="1125662" cy="2266401"/>
          </a:xfrm>
          <a:prstGeom prst="borderCallout1">
            <a:avLst>
              <a:gd name="adj1" fmla="val 57186"/>
              <a:gd name="adj2" fmla="val 19046"/>
              <a:gd name="adj3" fmla="val 57222"/>
              <a:gd name="adj4" fmla="val -1553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4098A93-C42F-CCFC-ED41-D7918E93E7E9}"/>
              </a:ext>
            </a:extLst>
          </p:cNvPr>
          <p:cNvSpPr txBox="1"/>
          <p:nvPr/>
        </p:nvSpPr>
        <p:spPr>
          <a:xfrm>
            <a:off x="3367238" y="2996952"/>
            <a:ext cx="628698" cy="12521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Deploy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9DCEA1B-F211-4C67-8EC6-BC680482505C}"/>
              </a:ext>
            </a:extLst>
          </p:cNvPr>
          <p:cNvSpPr txBox="1"/>
          <p:nvPr/>
        </p:nvSpPr>
        <p:spPr>
          <a:xfrm>
            <a:off x="2492817" y="3541826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Fine-Tuning</a:t>
            </a:r>
            <a:endParaRPr lang="zh-TW" altLang="en-US" sz="1200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418315"/>
              </p:ext>
            </p:extLst>
          </p:nvPr>
        </p:nvGraphicFramePr>
        <p:xfrm>
          <a:off x="4066764" y="2678753"/>
          <a:ext cx="2160243" cy="213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344141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3140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74030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7200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73284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(PyTorch, TensorFlow, CUDA)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grpSp>
        <p:nvGrpSpPr>
          <p:cNvPr id="4" name="群組 3">
            <a:extLst>
              <a:ext uri="{FF2B5EF4-FFF2-40B4-BE49-F238E27FC236}">
                <a16:creationId xmlns:a16="http://schemas.microsoft.com/office/drawing/2014/main" id="{7B55AA8B-8D7B-3316-D8FF-6D3E2D8B9785}"/>
              </a:ext>
            </a:extLst>
          </p:cNvPr>
          <p:cNvGrpSpPr/>
          <p:nvPr/>
        </p:nvGrpSpPr>
        <p:grpSpPr>
          <a:xfrm>
            <a:off x="251520" y="2430923"/>
            <a:ext cx="487696" cy="566029"/>
            <a:chOff x="307725" y="1194723"/>
            <a:chExt cx="487696" cy="566029"/>
          </a:xfrm>
        </p:grpSpPr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7EAB9C57-35D1-B219-F12E-346B907EEA10}"/>
                </a:ext>
              </a:extLst>
            </p:cNvPr>
            <p:cNvSpPr txBox="1"/>
            <p:nvPr/>
          </p:nvSpPr>
          <p:spPr>
            <a:xfrm>
              <a:off x="307725" y="1513384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92A0724E-A38F-5195-50B0-C98F2CF9C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</p:pic>
      </p:grp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F3DDBCBC-136D-4723-04A0-639E5AB661EC}"/>
              </a:ext>
            </a:extLst>
          </p:cNvPr>
          <p:cNvSpPr/>
          <p:nvPr/>
        </p:nvSpPr>
        <p:spPr>
          <a:xfrm flipH="1">
            <a:off x="899592" y="985412"/>
            <a:ext cx="1800200" cy="843275"/>
          </a:xfrm>
          <a:prstGeom prst="borderCallout1">
            <a:avLst>
              <a:gd name="adj1" fmla="val 70741"/>
              <a:gd name="adj2" fmla="val 1456"/>
              <a:gd name="adj3" fmla="val 221002"/>
              <a:gd name="adj4" fmla="val -44550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E4151A9C-D3A1-CB45-1B62-CD407A16A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547592"/>
              </p:ext>
            </p:extLst>
          </p:nvPr>
        </p:nvGraphicFramePr>
        <p:xfrm>
          <a:off x="927340" y="1030784"/>
          <a:ext cx="1730136" cy="7797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013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3112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TensorRT-LLM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Runtime, OpenVINO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43606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D26C871-0A6F-156B-6741-2D1BCEF1AF39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6" name="右大括弧 5">
            <a:extLst>
              <a:ext uri="{FF2B5EF4-FFF2-40B4-BE49-F238E27FC236}">
                <a16:creationId xmlns:a16="http://schemas.microsoft.com/office/drawing/2014/main" id="{9E7BBFE7-8CE2-0E13-D1DA-41B96806AD58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EBDAFB9-FF64-AF0E-65A2-88DBF5A1232D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2AEE130C-AFF6-D42A-9EF6-648715D42FBF}"/>
              </a:ext>
            </a:extLst>
          </p:cNvPr>
          <p:cNvSpPr/>
          <p:nvPr/>
        </p:nvSpPr>
        <p:spPr>
          <a:xfrm>
            <a:off x="395536" y="1197809"/>
            <a:ext cx="3312367" cy="863039"/>
          </a:xfrm>
          <a:prstGeom prst="rect">
            <a:avLst/>
          </a:prstGeom>
          <a:solidFill>
            <a:schemeClr val="bg1">
              <a:alpha val="7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r>
              <a:rPr lang="zh-TW" altLang="zh-TW" sz="1000" b="1" dirty="0">
                <a:solidFill>
                  <a:schemeClr val="tx1"/>
                </a:solidFill>
              </a:rPr>
              <a:t>1. 雲端伺服器與高併發陣營（適合後端 API 開發）</a:t>
            </a:r>
          </a:p>
          <a:p>
            <a:r>
              <a:rPr lang="zh-TW" altLang="zh-TW" sz="1000" b="1" dirty="0">
                <a:solidFill>
                  <a:schemeClr val="tx1"/>
                </a:solidFill>
              </a:rPr>
              <a:t>vLLM</a:t>
            </a:r>
            <a:r>
              <a:rPr lang="zh-TW" altLang="zh-TW" sz="1000" dirty="0">
                <a:solidFill>
                  <a:schemeClr val="tx1"/>
                </a:solidFill>
              </a:rPr>
              <a:t> (開源</a:t>
            </a:r>
            <a:r>
              <a:rPr lang="en-US" altLang="zh-TW" sz="1000" dirty="0">
                <a:solidFill>
                  <a:schemeClr val="tx1"/>
                </a:solidFill>
              </a:rPr>
              <a:t>),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zh-TW" altLang="zh-TW" sz="1000" b="1" dirty="0">
                <a:solidFill>
                  <a:schemeClr val="tx1"/>
                </a:solidFill>
              </a:rPr>
              <a:t>TensorRT-LLM</a:t>
            </a:r>
            <a:r>
              <a:rPr lang="zh-TW" altLang="zh-TW" sz="1000" dirty="0">
                <a:solidFill>
                  <a:schemeClr val="tx1"/>
                </a:solidFill>
              </a:rPr>
              <a:t> (N</a:t>
            </a:r>
            <a:r>
              <a:rPr lang="en-US" altLang="zh-TW" sz="1000" dirty="0">
                <a:solidFill>
                  <a:schemeClr val="tx1"/>
                </a:solidFill>
              </a:rPr>
              <a:t>V</a:t>
            </a:r>
            <a:r>
              <a:rPr lang="zh-TW" altLang="zh-TW" sz="1000" dirty="0">
                <a:solidFill>
                  <a:schemeClr val="tx1"/>
                </a:solidFill>
              </a:rPr>
              <a:t>)</a:t>
            </a:r>
            <a:r>
              <a:rPr lang="en-US" altLang="zh-TW" sz="1000" dirty="0">
                <a:solidFill>
                  <a:schemeClr val="tx1"/>
                </a:solidFill>
              </a:rPr>
              <a:t>,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zh-TW" altLang="zh-TW" sz="1000" b="1" dirty="0">
                <a:solidFill>
                  <a:schemeClr val="tx1"/>
                </a:solidFill>
              </a:rPr>
              <a:t>TGI </a:t>
            </a:r>
            <a:r>
              <a:rPr lang="zh-TW" altLang="zh-TW" sz="1000" dirty="0">
                <a:solidFill>
                  <a:schemeClr val="tx1"/>
                </a:solidFill>
              </a:rPr>
              <a:t>(Hugging Face)</a:t>
            </a:r>
          </a:p>
          <a:p>
            <a:r>
              <a:rPr lang="en-US" altLang="zh-TW" sz="1000" dirty="0">
                <a:solidFill>
                  <a:schemeClr val="tx1"/>
                </a:solidFill>
              </a:rPr>
              <a:t>2.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zh-TW" altLang="zh-TW" sz="1000" dirty="0">
                <a:solidFill>
                  <a:schemeClr val="tx1"/>
                </a:solidFill>
              </a:rPr>
              <a:t>本機與邊緣裝置陣營</a:t>
            </a:r>
            <a:r>
              <a:rPr lang="en-US" altLang="zh-TW" sz="1000" dirty="0">
                <a:solidFill>
                  <a:schemeClr val="tx1"/>
                </a:solidFill>
              </a:rPr>
              <a:t>(PC)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en-US" altLang="zh-TW" sz="1000" dirty="0">
                <a:solidFill>
                  <a:schemeClr val="tx1"/>
                </a:solidFill>
              </a:rPr>
              <a:t>llama.cpp</a:t>
            </a:r>
          </a:p>
          <a:p>
            <a:r>
              <a:rPr lang="en-US" altLang="zh-TW" sz="1000" dirty="0">
                <a:solidFill>
                  <a:schemeClr val="tx1"/>
                </a:solidFill>
              </a:rPr>
              <a:t>3. </a:t>
            </a:r>
            <a:r>
              <a:rPr lang="zh-TW" altLang="zh-TW" sz="1000" dirty="0">
                <a:solidFill>
                  <a:schemeClr val="tx1"/>
                </a:solidFill>
              </a:rPr>
              <a:t>通用深度學習陣營</a:t>
            </a:r>
            <a:r>
              <a:rPr lang="en-US" altLang="zh-TW" sz="1000" dirty="0">
                <a:solidFill>
                  <a:schemeClr val="tx1"/>
                </a:solidFill>
              </a:rPr>
              <a:t>ONNX Runtime (MS) , OpenVINO (Intel)</a:t>
            </a:r>
            <a:endParaRPr lang="zh-TW" altLang="zh-TW" sz="1000" dirty="0">
              <a:solidFill>
                <a:schemeClr val="tx1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882E731-FB46-26EA-7B36-1B586112E91F}"/>
              </a:ext>
            </a:extLst>
          </p:cNvPr>
          <p:cNvSpPr txBox="1"/>
          <p:nvPr/>
        </p:nvSpPr>
        <p:spPr>
          <a:xfrm>
            <a:off x="2699792" y="1019538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在生物資訊領域中，技術選定的次序思維會與一般聊天機器人有些許不同。因為生物資訊涉及</a:t>
            </a:r>
            <a:r>
              <a:rPr lang="zh-TW" altLang="zh-TW" sz="1200" b="1" u="none" strike="noStrike" dirty="0">
                <a:effectLst/>
                <a:latin typeface="Google Sans"/>
              </a:rPr>
              <a:t>大量的代碼生成（如跑 R-script 或 Python 處理基因矩陣）、海量的論文檢索（文獻探勘），以及與 Linux 伺服器指令列（如使用 BLAST、Samtools）的直接互動</a:t>
            </a:r>
            <a:r>
              <a:rPr lang="zh-TW" altLang="zh-TW" sz="1200" b="0" u="none" strike="noStrike" dirty="0">
                <a:effectLst/>
                <a:latin typeface="Google Sans"/>
              </a:rPr>
              <a:t>。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0E6585A-CAD1-54C8-1CD9-38D5FFEF3FC0}"/>
              </a:ext>
            </a:extLst>
          </p:cNvPr>
          <p:cNvSpPr txBox="1"/>
          <p:nvPr/>
        </p:nvSpPr>
        <p:spPr>
          <a:xfrm>
            <a:off x="2108920" y="2164281"/>
            <a:ext cx="4572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針對您明確指定使用 </a:t>
            </a:r>
            <a:r>
              <a:rPr lang="zh-TW" altLang="zh-TW" sz="1200" b="1" u="none" strike="noStrike" dirty="0">
                <a:effectLst/>
                <a:latin typeface="Google Sans"/>
              </a:rPr>
              <a:t>Gemma 4</a:t>
            </a:r>
            <a:r>
              <a:rPr lang="zh-TW" altLang="zh-TW" sz="1200" b="0" u="none" strike="noStrike" dirty="0">
                <a:effectLst/>
                <a:latin typeface="Google Sans"/>
              </a:rPr>
              <a:t> 與 </a:t>
            </a:r>
            <a:r>
              <a:rPr lang="zh-TW" altLang="zh-TW" sz="1200" b="1" u="none" strike="noStrike" dirty="0">
                <a:effectLst/>
                <a:latin typeface="Google Sans"/>
              </a:rPr>
              <a:t>LLaMA-Factory</a:t>
            </a:r>
            <a:r>
              <a:rPr lang="zh-TW" altLang="zh-TW" sz="1200" b="0" u="none" strike="noStrike" dirty="0">
                <a:effectLst/>
                <a:latin typeface="Google Sans"/>
              </a:rPr>
              <a:t> 來打造公司的「生物資訊萬事通」Agent，由於 Gemma 4 模型具備獨特的</a:t>
            </a:r>
            <a:r>
              <a:rPr lang="zh-TW" altLang="zh-TW" sz="1200" b="1" u="none" strike="noStrike" dirty="0">
                <a:effectLst/>
                <a:latin typeface="Google Sans"/>
              </a:rPr>
              <a:t>「內建思考模式（Thinking Mode）」</a:t>
            </a:r>
            <a:r>
              <a:rPr lang="zh-TW" altLang="zh-TW" sz="1200" b="0" u="none" strike="noStrike" dirty="0">
                <a:effectLst/>
                <a:latin typeface="Google Sans"/>
              </a:rPr>
              <a:t>、</a:t>
            </a:r>
            <a:r>
              <a:rPr lang="zh-TW" altLang="zh-TW" sz="1200" b="1" u="none" strike="noStrike" dirty="0">
                <a:effectLst/>
                <a:latin typeface="Google Sans"/>
              </a:rPr>
              <a:t>「超長 256K 上下文」</a:t>
            </a:r>
            <a:r>
              <a:rPr lang="zh-TW" altLang="zh-TW" sz="1200" b="0" u="none" strike="noStrike" dirty="0">
                <a:effectLst/>
                <a:latin typeface="Google Sans"/>
              </a:rPr>
              <a:t>以及對</a:t>
            </a:r>
            <a:r>
              <a:rPr lang="zh-TW" altLang="zh-TW" sz="1200" b="1" u="none" strike="noStrike" dirty="0">
                <a:effectLst/>
                <a:latin typeface="Google Sans"/>
              </a:rPr>
              <a:t>「原生函式呼叫（Function Calling）」</a:t>
            </a:r>
            <a:r>
              <a:rPr lang="zh-TW" altLang="zh-TW" sz="1200" b="0" u="none" strike="noStrike" dirty="0">
                <a:effectLst/>
                <a:latin typeface="Google Sans"/>
              </a:rPr>
              <a:t>的深度優化，整個技術選定與落地實施的次序將會進行最科學的對齊。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24C0BC59-79EC-B132-1A86-FCE506F6165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Driving an autonomous operational closed-loop through Gemma 4, LLaMA-Factory, and MCP.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F378D4D2-3E2E-4505-C14C-B0BF302FC0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86" y="3263534"/>
            <a:ext cx="5509737" cy="3406435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2A823E9B-CD04-8DC8-F18D-C37F9E54F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2" y="6366777"/>
            <a:ext cx="7138331" cy="373797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4E17C4D8-1D27-67E3-0E1C-207C07FCFA42}"/>
              </a:ext>
            </a:extLst>
          </p:cNvPr>
          <p:cNvSpPr txBox="1"/>
          <p:nvPr/>
        </p:nvSpPr>
        <p:spPr>
          <a:xfrm>
            <a:off x="4394920" y="3626726"/>
            <a:ext cx="4643436" cy="242630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</a:rPr>
              <a:t>Left Column (左側：核心任務設定)Data Analysis:</a:t>
            </a:r>
            <a:r>
              <a:rPr lang="zh-TW" altLang="zh-TW" sz="1200" b="0" u="none" strike="noStrike" dirty="0">
                <a:effectLst/>
              </a:rPr>
              <a:t> Autonomously process client genetic files (VCF/FASTQ) via Biopython.</a:t>
            </a:r>
            <a:endParaRPr lang="en-US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endParaRPr lang="zh-TW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</a:rPr>
              <a:t>Tech Support:</a:t>
            </a:r>
            <a:r>
              <a:rPr lang="zh-TW" altLang="zh-TW" sz="1200" b="0" u="none" strike="noStrike" dirty="0">
                <a:effectLst/>
              </a:rPr>
              <a:t> Instant, zero-hallucination troubleshooting of internal product manuals.</a:t>
            </a:r>
            <a:endParaRPr lang="en-US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endParaRPr lang="zh-TW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Center Matrix (中間：黃金 6 大選定次序)Development Mode:</a:t>
            </a:r>
            <a:r>
              <a:rPr lang="zh-TW" altLang="zh-TW" sz="1200" b="0" u="none" strike="noStrike" dirty="0">
                <a:effectLst/>
              </a:rPr>
              <a:t> Thinking-Agent (Native Chain-of-Thought)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Libraries:</a:t>
            </a:r>
            <a:r>
              <a:rPr lang="zh-TW" altLang="zh-TW" sz="1200" b="0" u="none" strike="noStrike" dirty="0">
                <a:effectLst/>
              </a:rPr>
              <a:t> LangGraph + Vector DB (Qdrant)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Model:</a:t>
            </a:r>
            <a:r>
              <a:rPr lang="zh-TW" altLang="zh-TW" sz="1200" b="0" u="none" strike="noStrike" dirty="0">
                <a:effectLst/>
              </a:rPr>
              <a:t> Gemma 4 (31B / 26B MoE)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Inference Engine:</a:t>
            </a:r>
            <a:r>
              <a:rPr lang="zh-TW" altLang="zh-TW" sz="1200" b="0" u="none" strike="noStrike" dirty="0">
                <a:effectLst/>
              </a:rPr>
              <a:t> vLLM (Multi-Token Prediction enabled)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SFT Strategy:</a:t>
            </a:r>
            <a:r>
              <a:rPr lang="zh-TW" altLang="zh-TW" sz="1200" b="0" u="none" strike="noStrike" dirty="0">
                <a:effectLst/>
              </a:rPr>
              <a:t> 4-bit QLoRA Alignment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Fine-tuning Framework:</a:t>
            </a:r>
            <a:r>
              <a:rPr lang="zh-TW" altLang="zh-TW" sz="1200" b="0" u="none" strike="noStrike" dirty="0">
                <a:effectLst/>
              </a:rPr>
              <a:t> LLaMA-Factory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EE5C158-D89C-3922-1D56-779207D77810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949102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3779912" y="116632"/>
            <a:ext cx="41131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233371"/>
              </p:ext>
            </p:extLst>
          </p:nvPr>
        </p:nvGraphicFramePr>
        <p:xfrm>
          <a:off x="359532" y="1864569"/>
          <a:ext cx="8424940" cy="25920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411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84520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8452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845206">
                  <a:extLst>
                    <a:ext uri="{9D8B030D-6E8A-4147-A177-3AD203B41FA5}">
                      <a16:colId xmlns:a16="http://schemas.microsoft.com/office/drawing/2014/main" val="582609806"/>
                    </a:ext>
                  </a:extLst>
                </a:gridCol>
                <a:gridCol w="1845206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 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5DA60AD3-16AE-CCF3-52BA-1A9C949201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708" y="1204327"/>
            <a:ext cx="527241" cy="68843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23447A84-E355-EC97-AF00-4FDAD78F1F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0749" y="1394331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F5D874E-EB12-A59A-1A43-49A1BB3EB7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7704" y="1329275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A0883931-73B8-52D1-8178-BC7F9823CD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627" y="1404730"/>
            <a:ext cx="511320" cy="51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70</TotalTime>
  <Words>10946</Words>
  <Application>Microsoft Office PowerPoint</Application>
  <PresentationFormat>如螢幕大小 (4:3)</PresentationFormat>
  <Paragraphs>1325</Paragraphs>
  <Slides>19</Slides>
  <Notes>18</Notes>
  <HiddenSlides>1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4" baseType="lpstr">
      <vt:lpstr>Google Sans</vt:lpstr>
      <vt:lpstr>Meiryo</vt:lpstr>
      <vt:lpstr>Noto Sans HK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1777</cp:revision>
  <cp:lastPrinted>2024-07-30T01:44:15Z</cp:lastPrinted>
  <dcterms:created xsi:type="dcterms:W3CDTF">2019-11-08T03:01:47Z</dcterms:created>
  <dcterms:modified xsi:type="dcterms:W3CDTF">2026-07-17T08:45:54Z</dcterms:modified>
</cp:coreProperties>
</file>