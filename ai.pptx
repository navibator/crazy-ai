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handoutMasterIdLst>
    <p:handoutMasterId r:id="rId30"/>
  </p:handoutMasterIdLst>
  <p:sldIdLst>
    <p:sldId id="3459" r:id="rId2"/>
    <p:sldId id="3472" r:id="rId3"/>
    <p:sldId id="3431" r:id="rId4"/>
    <p:sldId id="3439" r:id="rId5"/>
    <p:sldId id="3438" r:id="rId6"/>
    <p:sldId id="3427" r:id="rId7"/>
    <p:sldId id="3435" r:id="rId8"/>
    <p:sldId id="3477" r:id="rId9"/>
    <p:sldId id="3455" r:id="rId10"/>
    <p:sldId id="3470" r:id="rId11"/>
    <p:sldId id="3471" r:id="rId12"/>
    <p:sldId id="3482" r:id="rId13"/>
    <p:sldId id="3483" r:id="rId14"/>
    <p:sldId id="3428" r:id="rId15"/>
    <p:sldId id="3451" r:id="rId16"/>
    <p:sldId id="3430" r:id="rId17"/>
    <p:sldId id="3465" r:id="rId18"/>
    <p:sldId id="3443" r:id="rId19"/>
    <p:sldId id="3466" r:id="rId20"/>
    <p:sldId id="3444" r:id="rId21"/>
    <p:sldId id="3461" r:id="rId22"/>
    <p:sldId id="3462" r:id="rId23"/>
    <p:sldId id="3420" r:id="rId24"/>
    <p:sldId id="3460" r:id="rId25"/>
    <p:sldId id="3481" r:id="rId26"/>
    <p:sldId id="3479" r:id="rId27"/>
    <p:sldId id="3467" r:id="rId2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Background Knowledge" id="{C5ADF914-F8F1-4215-8A34-A521DDB15BBF}">
          <p14:sldIdLst>
            <p14:sldId id="3431"/>
            <p14:sldId id="3439"/>
            <p14:sldId id="3438"/>
          </p14:sldIdLst>
        </p14:section>
        <p14:section name="Machine Learning" id="{B661AA10-C3FF-4E46-A114-E951FEA8A6DC}">
          <p14:sldIdLst>
            <p14:sldId id="3427"/>
            <p14:sldId id="3435"/>
            <p14:sldId id="3477"/>
            <p14:sldId id="3455"/>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30"/>
            <p14:sldId id="3465"/>
            <p14:sldId id="3443"/>
            <p14:sldId id="3466"/>
            <p14:sldId id="3444"/>
            <p14:sldId id="3461"/>
            <p14:sldId id="3462"/>
            <p14:sldId id="3420"/>
          </p14:sldIdLst>
        </p14:section>
        <p14:section name="Conclusion" id="{69C35067-BEF2-4B7C-9B54-B6977EB05C72}">
          <p14:sldIdLst>
            <p14:sldId id="3460"/>
            <p14:sldId id="3481"/>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FCCCC"/>
    <a:srgbClr val="FFDDDD"/>
    <a:srgbClr val="F2DCDB"/>
    <a:srgbClr val="DBFF94"/>
    <a:srgbClr val="CCFF66"/>
    <a:srgbClr val="FFFFFF"/>
    <a:srgbClr val="D7E7F7"/>
    <a:srgbClr val="DCE6F2"/>
    <a:srgbClr val="558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29133" autoAdjust="0"/>
  </p:normalViewPr>
  <p:slideViewPr>
    <p:cSldViewPr>
      <p:cViewPr varScale="1">
        <p:scale>
          <a:sx n="97" d="100"/>
          <a:sy n="97" d="100"/>
        </p:scale>
        <p:origin x="552" y="9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8/10/relationships/authors" Targe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2026/6/26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2026/6/26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AI Evolution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(From AlexNet to GPT)</a:t>
            </a:r>
            <a:endParaRPr lang="en-US" altLang="zh-TW" sz="1200" dirty="0"/>
          </a:p>
          <a:p>
            <a:pPr marL="0" indent="0">
              <a:buFont typeface="Wingdings" panose="05000000000000000000" pitchFamily="2" charset="2"/>
              <a:buNone/>
              <a:defRPr/>
            </a:pPr>
            <a:r>
              <a:rPr lang="en-US" altLang="zh-TW" sz="1200" b="1" dirty="0">
                <a:solidFill>
                  <a:srgbClr val="FF0000"/>
                </a:solidFill>
              </a:rPr>
              <a:t>Machine Learning</a:t>
            </a:r>
            <a:r>
              <a:rPr lang="en-US" altLang="zh-TW" sz="1200" dirty="0">
                <a:solidFill>
                  <a:srgbClr val="FF0000"/>
                </a:solidFill>
              </a:rPr>
              <a:t>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(UL, semi-SL, SL, RL)</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ML: </a:t>
            </a:r>
            <a:r>
              <a:rPr lang="en-US" altLang="zh-TW" sz="1200" dirty="0"/>
              <a:t>Unsupervised </a:t>
            </a:r>
            <a:r>
              <a:rPr lang="en-US" altLang="zh-TW" sz="1200" dirty="0">
                <a:solidFill>
                  <a:schemeClr val="bg1">
                    <a:lumMod val="50000"/>
                  </a:schemeClr>
                </a:solidFill>
              </a:rPr>
              <a:t>(Reduction: PCA, t-SNE, UMAP; Clustering: K-Means, GMM)</a:t>
            </a:r>
          </a:p>
          <a:p>
            <a:pPr marL="0" indent="0">
              <a:buFont typeface="Wingdings" panose="05000000000000000000" pitchFamily="2" charset="2"/>
              <a:buNone/>
              <a:defRPr/>
            </a:pPr>
            <a:r>
              <a:rPr lang="en-US" altLang="zh-TW" sz="1200" dirty="0">
                <a:solidFill>
                  <a:schemeClr val="bg1">
                    <a:lumMod val="50000"/>
                  </a:schemeClr>
                </a:solidFill>
              </a:rPr>
              <a:t>ML: </a:t>
            </a:r>
            <a:r>
              <a:rPr lang="en-US" altLang="zh-TW" sz="1200" dirty="0"/>
              <a:t>Supervised</a:t>
            </a:r>
            <a:r>
              <a:rPr lang="zh-TW" altLang="en-US" sz="1200" dirty="0"/>
              <a:t> </a:t>
            </a:r>
            <a:r>
              <a:rPr lang="en-US" altLang="zh-TW" sz="1200" dirty="0">
                <a:solidFill>
                  <a:schemeClr val="bg1">
                    <a:lumMod val="50000"/>
                  </a:schemeClr>
                </a:solidFill>
              </a:rPr>
              <a:t>(GPT-Supervised Fine Tunning) </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Reinforcement </a:t>
            </a:r>
            <a:r>
              <a:rPr lang="en-US" altLang="zh-TW" sz="1200" dirty="0">
                <a:solidFill>
                  <a:schemeClr val="bg1">
                    <a:lumMod val="50000"/>
                  </a:schemeClr>
                </a:solidFill>
              </a:rPr>
              <a:t>(GPT- Reinforced Learning with Human Feedback)</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Probability Model</a:t>
            </a:r>
            <a:r>
              <a:rPr lang="en-US" altLang="zh-TW" sz="1200" dirty="0">
                <a:solidFill>
                  <a:schemeClr val="bg1">
                    <a:lumMod val="50000"/>
                  </a:schemeClr>
                </a:solidFill>
              </a:rPr>
              <a:t> (EM Model vs Back Propagation) </a:t>
            </a:r>
            <a:endParaRPr lang="en-US" altLang="zh-TW" sz="1200" dirty="0"/>
          </a:p>
          <a:p>
            <a:pPr marL="0" indent="0">
              <a:buFont typeface="Wingdings" panose="05000000000000000000" pitchFamily="2" charset="2"/>
              <a:buNone/>
            </a:pPr>
            <a:r>
              <a:rPr lang="en-US" altLang="zh-TW" sz="1200" b="1" dirty="0">
                <a:solidFill>
                  <a:srgbClr val="FF0000"/>
                </a:solidFill>
              </a:rPr>
              <a:t>Transformer</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rPr>
              <a:t>How decoder predict “Next Token”?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indent="0">
              <a:buFont typeface="Wingdings" panose="05000000000000000000" pitchFamily="2" charset="2"/>
              <a:buNone/>
            </a:pPr>
            <a:r>
              <a:rPr lang="en-US" altLang="zh-TW" sz="1200" dirty="0"/>
              <a:t>T: Architecture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(Embedding, Position Encoding, Self-Attention</a:t>
            </a:r>
            <a:r>
              <a:rPr lang="en-US" altLang="zh-TW" sz="1200" dirty="0">
                <a:solidFill>
                  <a:prstClr val="white">
                    <a:lumMod val="50000"/>
                  </a:prstClr>
                </a:solidFill>
                <a:ea typeface="+mn-ea"/>
              </a:rPr>
              <a:t>, FFN, LP2V</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a:t>
            </a:r>
          </a:p>
          <a:p>
            <a:pPr marL="0" indent="0">
              <a:buFont typeface="Wingdings" panose="05000000000000000000" pitchFamily="2" charset="2"/>
              <a:buNone/>
            </a:pPr>
            <a:r>
              <a:rPr lang="en-US" altLang="zh-TW" sz="1200" dirty="0"/>
              <a:t>T: Attention </a:t>
            </a:r>
            <a:r>
              <a:rPr lang="en-US" altLang="zh-TW" sz="1200" dirty="0">
                <a:solidFill>
                  <a:prstClr val="white">
                    <a:lumMod val="50000"/>
                  </a:prstClr>
                </a:solidFill>
              </a:rPr>
              <a:t>(Attention is all you need)</a:t>
            </a:r>
          </a:p>
          <a:p>
            <a:pPr marL="0" indent="0">
              <a:buFont typeface="Wingdings" panose="05000000000000000000" pitchFamily="2" charset="2"/>
              <a:buNone/>
            </a:pPr>
            <a:r>
              <a:rPr lang="en-US" altLang="zh-TW" sz="1200" dirty="0"/>
              <a:t>T: Token Embedding (Sematic space)</a:t>
            </a:r>
          </a:p>
          <a:p>
            <a:pPr marL="0" indent="0">
              <a:buFont typeface="Wingdings" panose="05000000000000000000" pitchFamily="2" charset="2"/>
              <a:buNone/>
            </a:pPr>
            <a:r>
              <a:rPr lang="en-US" altLang="zh-TW" sz="1200" dirty="0"/>
              <a:t>T:Rotary of PE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(Relative distance)</a:t>
            </a:r>
            <a:endParaRPr kumimoji="0" lang="en-US" altLang="zh-TW" sz="1200" b="0" i="0" u="none" strike="noStrike" kern="1200" cap="none" spc="0" normalizeH="0" baseline="0" noProof="0" dirty="0">
              <a:ln>
                <a:noFill/>
              </a:ln>
              <a:solidFill>
                <a:schemeClr val="tx1"/>
              </a:solidFill>
              <a:effectLst/>
              <a:uLnTx/>
              <a:uFillTx/>
              <a:latin typeface="+mn-lt"/>
              <a:ea typeface="+mn-ea"/>
              <a:cs typeface="+mn-cs"/>
            </a:endParaRPr>
          </a:p>
          <a:p>
            <a:pPr marL="0" indent="0">
              <a:buFont typeface="Wingdings" panose="05000000000000000000" pitchFamily="2" charset="2"/>
              <a:buNone/>
            </a:pPr>
            <a:r>
              <a:rPr lang="en-US" altLang="zh-TW" sz="1200" dirty="0">
                <a:solidFill>
                  <a:prstClr val="black"/>
                </a:solidFill>
              </a:rPr>
              <a:t>T:SDT vs MOE</a:t>
            </a:r>
            <a:r>
              <a:rPr lang="en-US" altLang="zh-TW" sz="1200" dirty="0">
                <a:solidFill>
                  <a:prstClr val="white">
                    <a:lumMod val="50000"/>
                  </a:prstClr>
                </a:solidFill>
              </a:rPr>
              <a:t> (Standard Dense Transformer vs Mixture of Experts)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latin typeface="+mn-lt"/>
                <a:ea typeface="+mn-ea"/>
              </a:rPr>
              <a:t>Working flow:</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Pretraining, Distillation, Alignment&lt;SFT, RLHF&gt;, Inference)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Pretraining</a:t>
            </a:r>
            <a:r>
              <a:rPr lang="en-US" altLang="zh-TW" sz="1200" dirty="0">
                <a:solidFill>
                  <a:prstClr val="white">
                    <a:lumMod val="50000"/>
                  </a:prstClr>
                </a:solidFill>
              </a:rPr>
              <a:t> (Output: weight matrix and parameters)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Inference </a:t>
            </a:r>
            <a:r>
              <a:rPr lang="en-US" altLang="zh-TW" sz="1200" dirty="0">
                <a:solidFill>
                  <a:prstClr val="white">
                    <a:lumMod val="50000"/>
                  </a:prstClr>
                </a:solidFill>
              </a:rPr>
              <a:t>(Memory</a:t>
            </a:r>
            <a:r>
              <a:rPr lang="zh-TW" altLang="en-US" sz="1200" dirty="0">
                <a:solidFill>
                  <a:prstClr val="white">
                    <a:lumMod val="50000"/>
                  </a:prstClr>
                </a:solidFill>
              </a:rPr>
              <a:t> </a:t>
            </a:r>
            <a:r>
              <a:rPr lang="en-US" altLang="zh-TW" sz="1200" dirty="0">
                <a:solidFill>
                  <a:prstClr val="white">
                    <a:lumMod val="50000"/>
                  </a:prstClr>
                </a:solidFill>
              </a:rPr>
              <a:t>perspective: data flow of tokens)</a:t>
            </a:r>
            <a:endParaRPr kumimoji="0" lang="en-US" altLang="zh-TW"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Cloude vs Edge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(H/W perspective: cost and solution)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Conclusion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(Curate a Holistic perspective on GPT and AI Technology</a:t>
            </a: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2870373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UL: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適用於分群</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降維</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成本低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Supervised Learning: data + label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效果優異但成本高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最常見</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人臉辨識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200" b="1" u="none" strike="noStrike" kern="1200" dirty="0">
                <a:solidFill>
                  <a:schemeClr val="tx1"/>
                </a:solidFill>
                <a:effectLst/>
                <a:latin typeface="+mn-lt"/>
                <a:ea typeface="+mn-ea"/>
                <a:cs typeface="+mn-cs"/>
              </a:rPr>
              <a:t>半監督式學習（</a:t>
            </a:r>
            <a:r>
              <a:rPr lang="en-US" altLang="zh-TW" sz="1200" b="1" u="none" strike="noStrike" kern="1200" dirty="0">
                <a:solidFill>
                  <a:schemeClr val="tx1"/>
                </a:solidFill>
                <a:effectLst/>
                <a:latin typeface="+mn-lt"/>
                <a:ea typeface="+mn-ea"/>
                <a:cs typeface="+mn-cs"/>
              </a:rPr>
              <a:t>Semi-Supervised Learning, SSL</a:t>
            </a:r>
            <a:r>
              <a:rPr lang="zh-TW" altLang="en-US"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主要應用於</a:t>
            </a:r>
            <a:r>
              <a:rPr lang="zh-TW" altLang="en-US" sz="1200" b="1" u="none" strike="noStrike" kern="1200" dirty="0">
                <a:solidFill>
                  <a:schemeClr val="tx1"/>
                </a:solidFill>
                <a:effectLst/>
                <a:latin typeface="+mn-lt"/>
                <a:ea typeface="+mn-ea"/>
                <a:cs typeface="+mn-cs"/>
              </a:rPr>
              <a:t>「標記資料極度昂貴、但未標記資料極易取得」</a:t>
            </a:r>
            <a:r>
              <a:rPr lang="zh-TW" altLang="en-US" sz="1200" b="0" u="none" strike="noStrike" kern="1200" dirty="0">
                <a:solidFill>
                  <a:schemeClr val="tx1"/>
                </a:solidFill>
                <a:effectLst/>
                <a:latin typeface="+mn-lt"/>
                <a:ea typeface="+mn-ea"/>
                <a:cs typeface="+mn-cs"/>
              </a:rPr>
              <a:t>的場景。它結合了少量標籤（</a:t>
            </a:r>
            <a:r>
              <a:rPr lang="en-US" altLang="zh-TW" sz="1200" b="0" u="none" strike="noStrike" kern="1200" dirty="0">
                <a:solidFill>
                  <a:schemeClr val="tx1"/>
                </a:solidFill>
                <a:effectLst/>
                <a:latin typeface="+mn-lt"/>
                <a:ea typeface="+mn-ea"/>
                <a:cs typeface="+mn-cs"/>
              </a:rPr>
              <a:t>Labels</a:t>
            </a:r>
            <a:r>
              <a:rPr lang="zh-TW" altLang="en-US" sz="1200" b="0" u="none" strike="noStrike" kern="1200" dirty="0">
                <a:solidFill>
                  <a:schemeClr val="tx1"/>
                </a:solidFill>
                <a:effectLst/>
                <a:latin typeface="+mn-lt"/>
                <a:ea typeface="+mn-ea"/>
                <a:cs typeface="+mn-cs"/>
              </a:rPr>
              <a:t>）與大量無標籤數據，用以降低人工標記成本並提升模型準確度。</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semi-SL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在成本與效能間</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取得平衡</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t>Medical Imaging, Autonomous Driving</a:t>
            </a: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腫瘤與病變偵測</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用少量經醫生確診的影像作為種子</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結合數萬張未標記的常規醫療影像</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訓練 </a:t>
            </a:r>
            <a:r>
              <a:rPr lang="en-US" altLang="zh-TW" sz="1200" b="0" u="none" strike="noStrike" kern="1200" dirty="0">
                <a:solidFill>
                  <a:schemeClr val="tx1"/>
                </a:solidFill>
                <a:effectLst/>
                <a:latin typeface="+mn-lt"/>
                <a:ea typeface="+mn-ea"/>
                <a:cs typeface="+mn-cs"/>
              </a:rPr>
              <a:t>AI </a:t>
            </a:r>
            <a:r>
              <a:rPr lang="zh-TW" altLang="en-US" sz="1200" b="0" u="none" strike="noStrike" kern="1200" dirty="0">
                <a:solidFill>
                  <a:schemeClr val="tx1"/>
                </a:solidFill>
                <a:effectLst/>
                <a:latin typeface="+mn-lt"/>
                <a:ea typeface="+mn-ea"/>
                <a:cs typeface="+mn-cs"/>
              </a:rPr>
              <a:t>自動識別陰影與病灶。</a:t>
            </a:r>
            <a:r>
              <a:rPr lang="zh-TW" altLang="en-US" sz="1200" b="1" u="none" strike="noStrike" kern="1200" dirty="0">
                <a:solidFill>
                  <a:schemeClr val="tx1"/>
                </a:solidFill>
                <a:effectLst/>
                <a:latin typeface="+mn-lt"/>
                <a:ea typeface="+mn-ea"/>
                <a:cs typeface="+mn-cs"/>
              </a:rPr>
              <a:t>基因序列分析</a:t>
            </a:r>
            <a:r>
              <a:rPr lang="zh-TW" altLang="en-US" sz="1200" b="0" u="none" strike="noStrike" kern="1200" dirty="0">
                <a:solidFill>
                  <a:schemeClr val="tx1"/>
                </a:solidFill>
                <a:effectLst/>
                <a:latin typeface="+mn-lt"/>
                <a:ea typeface="+mn-ea"/>
                <a:cs typeface="+mn-cs"/>
              </a:rPr>
              <a:t>：識別稀有的疾病基因標記。</a:t>
            </a: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自動駕駛</a:t>
            </a:r>
            <a:r>
              <a:rPr lang="en-US" altLang="zh-TW" sz="1200" b="1" u="none" strike="noStrike" kern="1200" dirty="0">
                <a:solidFill>
                  <a:schemeClr val="tx1"/>
                </a:solidFill>
                <a:effectLst/>
                <a:latin typeface="+mn-lt"/>
                <a:ea typeface="+mn-ea"/>
                <a:cs typeface="+mn-cs"/>
              </a:rPr>
              <a:t>(Autonomous Driving): </a:t>
            </a:r>
            <a:r>
              <a:rPr lang="zh-TW" altLang="en-US" dirty="0"/>
              <a:t>行車記錄器每天產出數百萬小時的街景影片，</a:t>
            </a:r>
            <a:r>
              <a:rPr lang="en-US" altLang="zh-TW" dirty="0"/>
              <a:t>AI </a:t>
            </a:r>
            <a:r>
              <a:rPr lang="zh-TW" altLang="en-US" dirty="0"/>
              <a:t>利用少量手動標記的行人</a:t>
            </a:r>
            <a:r>
              <a:rPr lang="en-US" altLang="zh-TW" dirty="0"/>
              <a:t>/</a:t>
            </a:r>
            <a:r>
              <a:rPr lang="zh-TW" altLang="en-US" dirty="0"/>
              <a:t>車輛圖，結合海量未標記影片，學習辨識複雜路況。</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self-SL: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GPT-Pretraining</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RL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給環境</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實戰中取得最佳化</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en-US" altLang="zh-TW" sz="1200" dirty="0"/>
              <a:t>: AlphaGo, GPT-RLHF</a:t>
            </a:r>
            <a:endParaRPr lang="en-US" altLang="zh-TW" sz="1200" dirty="0">
              <a:latin typeface="微軟正黑體" panose="020B0604030504040204" pitchFamily="34" charset="-120"/>
              <a:ea typeface="微軟正黑體" panose="020B0604030504040204" pitchFamily="34" charset="-120"/>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自監督學習</a:t>
            </a:r>
            <a:r>
              <a:rPr lang="en-US" altLang="zh-TW"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(Self-Supervised Learning, SSL)</a:t>
            </a:r>
            <a:r>
              <a:rPr lang="zh-TW" altLang="en-US" sz="1000" dirty="0">
                <a:latin typeface="微軟正黑體" panose="020B0604030504040204" pitchFamily="34" charset="-120"/>
                <a:ea typeface="微軟正黑體" panose="020B0604030504040204" pitchFamily="34" charset="-120"/>
              </a:rPr>
              <a:t>是近年人工智慧</a:t>
            </a:r>
            <a:r>
              <a:rPr lang="en-US" altLang="zh-TW" sz="1000" dirty="0">
                <a:latin typeface="微軟正黑體" panose="020B0604030504040204" pitchFamily="34" charset="-120"/>
                <a:ea typeface="微軟正黑體" panose="020B0604030504040204" pitchFamily="34" charset="-120"/>
              </a:rPr>
              <a:t>(AI)</a:t>
            </a:r>
            <a:r>
              <a:rPr lang="zh-TW" altLang="en-US" sz="1000" dirty="0">
                <a:latin typeface="微軟正黑體" panose="020B0604030504040204" pitchFamily="34" charset="-120"/>
                <a:ea typeface="微軟正黑體" panose="020B0604030504040204" pitchFamily="34" charset="-120"/>
              </a:rPr>
              <a:t>爆發的核心技術。它透過巧妙設計</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讓模型直接從海量的</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無標記資料</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中自我挖掘特徵並自動生成標籤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偽標籤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大幅降低了對昂貴人工標註的依賴。</a:t>
            </a:r>
            <a:endParaRPr lang="en-US" altLang="zh-TW" sz="1000" dirty="0">
              <a:latin typeface="微軟正黑體" panose="020B0604030504040204" pitchFamily="34" charset="-120"/>
              <a:ea typeface="微軟正黑體" panose="020B0604030504040204" pitchFamily="34" charset="-120"/>
            </a:endParaRP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70105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888587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zh-TW" dirty="0"/>
          </a:p>
          <a:p>
            <a:r>
              <a:rPr lang="zh-TW" altLang="zh-TW" sz="1200" b="1" u="none" strike="noStrike" kern="1200" dirty="0">
                <a:solidFill>
                  <a:schemeClr val="tx1"/>
                </a:solidFill>
                <a:effectLst/>
                <a:latin typeface="+mn-lt"/>
                <a:ea typeface="+mn-ea"/>
                <a:cs typeface="+mn-cs"/>
              </a:rPr>
              <a:t>💡 總結一個經典的比喻：</a:t>
            </a:r>
          </a:p>
          <a:p>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：把一個嬰兒放在圖書館裡，讓他讀完世界上所有的書。這時他是個</a:t>
            </a:r>
            <a:r>
              <a:rPr lang="zh-TW" altLang="zh-TW" sz="1200" b="1" u="none" strike="noStrike" kern="1200" dirty="0">
                <a:solidFill>
                  <a:schemeClr val="tx1"/>
                </a:solidFill>
                <a:effectLst/>
                <a:latin typeface="+mn-lt"/>
                <a:ea typeface="+mn-ea"/>
                <a:cs typeface="+mn-cs"/>
              </a:rPr>
              <a:t>通曉萬物的「天才巨匠」</a:t>
            </a:r>
            <a:r>
              <a:rPr lang="zh-TW" altLang="zh-TW" sz="1200" b="0" u="none" strike="noStrike" kern="1200" dirty="0">
                <a:solidFill>
                  <a:schemeClr val="tx1"/>
                </a:solidFill>
                <a:effectLst/>
                <a:latin typeface="+mn-lt"/>
                <a:ea typeface="+mn-ea"/>
                <a:cs typeface="+mn-cs"/>
              </a:rPr>
              <a:t>，但行為像個瘋子，你問他一句話，他只會根據直覺瘋狂往下接龍，不會好好跟你對話。</a:t>
            </a:r>
          </a:p>
          <a:p>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：把這個天才送進學校，進行幾天的</a:t>
            </a:r>
            <a:r>
              <a:rPr lang="zh-TW" altLang="zh-TW" sz="1200" b="1" u="none" strike="noStrike" kern="1200" dirty="0">
                <a:solidFill>
                  <a:schemeClr val="tx1"/>
                </a:solidFill>
                <a:effectLst/>
                <a:latin typeface="+mn-lt"/>
                <a:ea typeface="+mn-ea"/>
                <a:cs typeface="+mn-cs"/>
              </a:rPr>
              <a:t>「禮儀與客服培訓」</a:t>
            </a:r>
            <a:r>
              <a:rPr lang="zh-TW" altLang="zh-TW" sz="1200" b="0" u="none" strike="noStrike" kern="1200" dirty="0">
                <a:solidFill>
                  <a:schemeClr val="tx1"/>
                </a:solidFill>
                <a:effectLst/>
                <a:latin typeface="+mn-lt"/>
                <a:ea typeface="+mn-ea"/>
                <a:cs typeface="+mn-cs"/>
              </a:rPr>
              <a:t>，教他聽到問題時要立正站好、聽懂指令、用正確的格式回覆。</a:t>
            </a:r>
          </a:p>
          <a:p>
            <a:r>
              <a:rPr lang="zh-TW" altLang="zh-TW" sz="1200" b="0" u="none" strike="noStrike" kern="1200" dirty="0">
                <a:solidFill>
                  <a:schemeClr val="tx1"/>
                </a:solidFill>
                <a:effectLst/>
                <a:latin typeface="+mn-lt"/>
                <a:ea typeface="+mn-ea"/>
                <a:cs typeface="+mn-cs"/>
              </a:rPr>
              <a:t>請問您目前是純粹在梳理 </a:t>
            </a:r>
            <a:r>
              <a:rPr lang="zh-TW" altLang="zh-TW" sz="1200" b="1" u="none" strike="noStrike" kern="1200" dirty="0">
                <a:solidFill>
                  <a:schemeClr val="tx1"/>
                </a:solidFill>
                <a:effectLst/>
                <a:latin typeface="+mn-lt"/>
                <a:ea typeface="+mn-ea"/>
                <a:cs typeface="+mn-cs"/>
              </a:rPr>
              <a:t>LLM 的完整架構原理</a:t>
            </a:r>
            <a:r>
              <a:rPr lang="zh-TW" altLang="zh-TW" sz="1200" b="0" u="none" strike="noStrike" kern="1200" dirty="0">
                <a:solidFill>
                  <a:schemeClr val="tx1"/>
                </a:solidFill>
                <a:effectLst/>
                <a:latin typeface="+mn-lt"/>
                <a:ea typeface="+mn-ea"/>
                <a:cs typeface="+mn-cs"/>
              </a:rPr>
              <a:t>，還是有計畫要從頭 </a:t>
            </a:r>
            <a:r>
              <a:rPr lang="zh-TW" altLang="zh-TW" sz="1200" b="1" u="none" strike="noStrike" kern="1200" dirty="0">
                <a:solidFill>
                  <a:schemeClr val="tx1"/>
                </a:solidFill>
                <a:effectLst/>
                <a:latin typeface="+mn-lt"/>
                <a:ea typeface="+mn-ea"/>
                <a:cs typeface="+mn-cs"/>
              </a:rPr>
              <a:t>Pre-train 一個小型的領域專屬模型（Domain-Specific Base Model）</a:t>
            </a:r>
            <a:r>
              <a:rPr lang="zh-TW" altLang="zh-TW" sz="1200" b="0" u="none" strike="noStrike" kern="1200" dirty="0">
                <a:solidFill>
                  <a:schemeClr val="tx1"/>
                </a:solidFill>
                <a:effectLst/>
                <a:latin typeface="+mn-lt"/>
                <a:ea typeface="+mn-ea"/>
                <a:cs typeface="+mn-cs"/>
              </a:rPr>
              <a:t>？我可以針對您的需求進一步聊聊預訓練的數據清洗策略（Data Filtering）！</a:t>
            </a:r>
          </a:p>
          <a:p>
            <a:endParaRPr lang="en-US" altLang="zh-TW" dirty="0"/>
          </a:p>
          <a:p>
            <a:endParaRPr lang="en-US" altLang="zh-TW" dirty="0"/>
          </a:p>
          <a:p>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你的設定摘要</a:t>
            </a: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GPU</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NVIDIA B200,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Tokens</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20 Trillion</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20T</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Steps</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80,000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次</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a:t>
            </a:r>
            <a:endParaRPr lang="zh-TW" altLang="en-US" sz="1200" dirty="0">
              <a:solidFill>
                <a:schemeClr val="accent6">
                  <a:lumMod val="75000"/>
                </a:schemeClr>
              </a:solidFill>
              <a:latin typeface="微軟正黑體" panose="020B0604030504040204" pitchFamily="34" charset="-120"/>
              <a:ea typeface="微軟正黑體" panose="020B0604030504040204" pitchFamily="34" charset="-120"/>
            </a:endParaRP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Model</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64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層、</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Dimension 8K</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（估計約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70B~120B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參數等級的模型）</a:t>
            </a: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Global Batch Size</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250M tokens / step</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20T ÷ 80K</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Checkpoint</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：只存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8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次</a:t>
            </a:r>
            <a:endParaRPr lang="en-US" altLang="zh-TW" sz="1200" b="1" dirty="0">
              <a:solidFill>
                <a:schemeClr val="accent6">
                  <a:lumMod val="75000"/>
                </a:schemeClr>
              </a:solidFill>
              <a:latin typeface="微軟正黑體" panose="020B0604030504040204" pitchFamily="34" charset="-120"/>
              <a:ea typeface="微軟正黑體" panose="020B0604030504040204" pitchFamily="34" charset="-120"/>
            </a:endParaRPr>
          </a:p>
          <a:p>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結論：使用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B200</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，在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45~60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天 內完成是合理可達成的目標。</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 [3]。主要透過以下三種方式進行：</a:t>
            </a:r>
          </a:p>
          <a:p>
            <a:r>
              <a:rPr lang="zh-TW" altLang="zh-TW" sz="1200" b="1" u="none" strike="noStrike" kern="1200" dirty="0">
                <a:solidFill>
                  <a:schemeClr val="tx1"/>
                </a:solidFill>
                <a:effectLst/>
                <a:latin typeface="+mn-lt"/>
                <a:ea typeface="+mn-ea"/>
                <a:cs typeface="+mn-cs"/>
              </a:rPr>
              <a:t>邏輯機率模仿（Logit Distillation / Output Distillation）</a:t>
            </a:r>
            <a:r>
              <a:rPr lang="zh-TW" altLang="zh-TW" sz="1200" b="0" u="none" strike="noStrike" kern="1200" dirty="0">
                <a:solidFill>
                  <a:schemeClr val="tx1"/>
                </a:solidFill>
                <a:effectLst/>
                <a:latin typeface="+mn-lt"/>
                <a:ea typeface="+mn-ea"/>
                <a:cs typeface="+mn-cs"/>
              </a:rPr>
              <a:t>：</a:t>
            </a:r>
          </a:p>
          <a:p>
            <a:pPr lvl="1"/>
            <a:r>
              <a:rPr lang="zh-TW" altLang="zh-TW" sz="1200" b="0" u="none" strike="noStrike" kern="1200" dirty="0">
                <a:solidFill>
                  <a:schemeClr val="tx1"/>
                </a:solidFill>
                <a:effectLst/>
                <a:latin typeface="+mn-lt"/>
                <a:ea typeface="+mn-ea"/>
                <a:cs typeface="+mn-cs"/>
              </a:rPr>
              <a:t>大模型在預測下一個字時，不只會輸出最正確的答案，還會輸出其他字的「機率分佈」（例如：問「天空是...」，大模型認為「藍色」機率 80%，「黑色」15%，「綠色」0.01%）。</a:t>
            </a:r>
          </a:p>
          <a:p>
            <a:pPr lvl="1"/>
            <a:r>
              <a:rPr lang="zh-TW" altLang="zh-TW" sz="1200" b="0" u="none" strike="noStrike" kern="1200" dirty="0">
                <a:solidFill>
                  <a:schemeClr val="tx1"/>
                </a:solidFill>
                <a:effectLst/>
                <a:latin typeface="+mn-lt"/>
                <a:ea typeface="+mn-ea"/>
                <a:cs typeface="+mn-cs"/>
              </a:rPr>
              <a:t>這些機率分佈包含了大模型的「暗黑知識」（Dark Knowledge，例如它知道天空有可能是黑的，但絕不可能是綠的）。學生模型會去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這個機率分佈，學習大模型的判斷邏輯。</a:t>
            </a:r>
          </a:p>
          <a:p>
            <a:r>
              <a:rPr lang="zh-TW" altLang="zh-TW" sz="1200" b="1" u="none" strike="noStrike" kern="1200" dirty="0">
                <a:solidFill>
                  <a:schemeClr val="tx1"/>
                </a:solidFill>
                <a:effectLst/>
                <a:latin typeface="+mn-lt"/>
                <a:ea typeface="+mn-ea"/>
                <a:cs typeface="+mn-cs"/>
              </a:rPr>
              <a:t>中間層引導（Feature-based Distillation）</a:t>
            </a:r>
            <a:r>
              <a:rPr lang="zh-TW" altLang="zh-TW" sz="1200" b="0" u="none" strike="noStrike" kern="1200" dirty="0">
                <a:solidFill>
                  <a:schemeClr val="tx1"/>
                </a:solidFill>
                <a:effectLst/>
                <a:latin typeface="+mn-lt"/>
                <a:ea typeface="+mn-ea"/>
                <a:cs typeface="+mn-cs"/>
              </a:rPr>
              <a:t>：</a:t>
            </a:r>
          </a:p>
          <a:p>
            <a:pPr lvl="1"/>
            <a:r>
              <a:rPr lang="zh-TW" altLang="zh-TW" sz="1200" b="0" u="none" strike="noStrike" kern="1200" dirty="0">
                <a:solidFill>
                  <a:schemeClr val="tx1"/>
                </a:solidFill>
                <a:effectLst/>
                <a:latin typeface="+mn-lt"/>
                <a:ea typeface="+mn-ea"/>
                <a:cs typeface="+mn-cs"/>
              </a:rPr>
              <a:t>直接讓學生模型的隱藏層（Hidden Layers）去模仿教師模型中間層的特徵表達，讓學生模型從小就建立與大模型相似的「思考架構」。</a:t>
            </a:r>
          </a:p>
          <a:p>
            <a:r>
              <a:rPr lang="zh-TW" altLang="zh-TW" sz="1200" b="1" u="none" strike="noStrike" kern="1200" dirty="0">
                <a:solidFill>
                  <a:schemeClr val="tx1"/>
                </a:solidFill>
                <a:effectLst/>
                <a:latin typeface="+mn-lt"/>
                <a:ea typeface="+mn-ea"/>
                <a:cs typeface="+mn-cs"/>
              </a:rPr>
              <a:t>思維鏈引導（Step-by-Step / CoT Distillation）</a:t>
            </a:r>
            <a:r>
              <a:rPr lang="zh-TW" altLang="zh-TW" sz="1200" b="0" u="none" strike="noStrike" kern="1200" dirty="0">
                <a:solidFill>
                  <a:schemeClr val="tx1"/>
                </a:solidFill>
                <a:effectLst/>
                <a:latin typeface="+mn-lt"/>
                <a:ea typeface="+mn-ea"/>
                <a:cs typeface="+mn-cs"/>
              </a:rPr>
              <a:t>：</a:t>
            </a:r>
          </a:p>
          <a:p>
            <a:pPr lvl="1"/>
            <a:r>
              <a:rPr lang="zh-TW" altLang="zh-TW" sz="1200" b="0" u="none" strike="noStrike" kern="1200" dirty="0">
                <a:solidFill>
                  <a:schemeClr val="tx1"/>
                </a:solidFill>
                <a:effectLst/>
                <a:latin typeface="+mn-lt"/>
                <a:ea typeface="+mn-ea"/>
                <a:cs typeface="+mn-cs"/>
              </a:rPr>
              <a:t>讓大模型寫出詳細的「推理步驟」（Chain of Thought），再用這些步驟訓練小模型，讓小模型學會「如何思考」而不用盲猜答案。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隨著RAG應用持續深化，市場也出現更高階的技術架構——Hybrid RAG（混合式檢索增強生成）。相較主要仰賴向量資料庫後比對語意（處理非結構化文本）、或是需重組成結構化資料的高導入門檻；Hybrid RAG可同時整合來自ERP、CRM、SQL等內部營運系統的結構化資料源，透過雙路徑檢索方式，由大型語言模型（LLM）統一進行理解與生成，進一步提升答案的完整性與商業價值。</a:t>
            </a:r>
            <a:endParaRPr lang="en-US" altLang="zh-TW" sz="1200" b="0" i="0"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RAG（檢索增強生成</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讓LLM在回答問題前</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先從外部知識庫搜尋相關資訊</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再根據這些資料來生成最終答案。</a:t>
            </a:r>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這不僅能大幅減少 AI 捏造事實的「幻覺」問題，還能確保資訊準確且可追溯。</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RAG 的運作原理</a:t>
            </a:r>
          </a:p>
          <a:p>
            <a:r>
              <a:rPr lang="zh-TW" altLang="zh-TW" sz="1200" b="0" u="none" strike="noStrike" kern="1200" dirty="0">
                <a:solidFill>
                  <a:schemeClr val="tx1"/>
                </a:solidFill>
                <a:effectLst/>
                <a:latin typeface="+mn-lt"/>
                <a:ea typeface="+mn-ea"/>
                <a:cs typeface="+mn-cs"/>
              </a:rPr>
              <a:t>RAG 的核心概念就像是「開書考」，透過以下五個步驟來完成任務：</a:t>
            </a:r>
          </a:p>
          <a:p>
            <a:r>
              <a:rPr lang="zh-TW" altLang="zh-TW" sz="1200" b="1" u="none" strike="noStrike" kern="1200" dirty="0">
                <a:solidFill>
                  <a:schemeClr val="tx1"/>
                </a:solidFill>
                <a:effectLst/>
                <a:latin typeface="+mn-lt"/>
                <a:ea typeface="+mn-ea"/>
                <a:cs typeface="+mn-cs"/>
              </a:rPr>
              <a:t>資料準備 (Chunking)</a:t>
            </a:r>
            <a:r>
              <a:rPr lang="zh-TW" altLang="zh-TW" sz="1200" b="0" u="none" strike="noStrike" kern="1200" dirty="0">
                <a:solidFill>
                  <a:schemeClr val="tx1"/>
                </a:solidFill>
                <a:effectLst/>
                <a:latin typeface="+mn-lt"/>
                <a:ea typeface="+mn-ea"/>
                <a:cs typeface="+mn-cs"/>
              </a:rPr>
              <a:t>：將企業內部文件、網頁或資料庫切分成易於搜尋的小段落，並轉化為電腦能理解的數值向量。</a:t>
            </a:r>
          </a:p>
          <a:p>
            <a:r>
              <a:rPr lang="zh-TW" altLang="zh-TW" sz="1200" b="1" u="none" strike="noStrike" kern="1200" dirty="0">
                <a:solidFill>
                  <a:schemeClr val="tx1"/>
                </a:solidFill>
                <a:effectLst/>
                <a:latin typeface="+mn-lt"/>
                <a:ea typeface="+mn-ea"/>
                <a:cs typeface="+mn-cs"/>
              </a:rPr>
              <a:t>資料儲存 (Vector Database)</a:t>
            </a:r>
            <a:r>
              <a:rPr lang="zh-TW" altLang="zh-TW" sz="1200" b="0" u="none" strike="noStrike" kern="1200" dirty="0">
                <a:solidFill>
                  <a:schemeClr val="tx1"/>
                </a:solidFill>
                <a:effectLst/>
                <a:latin typeface="+mn-lt"/>
                <a:ea typeface="+mn-ea"/>
                <a:cs typeface="+mn-cs"/>
              </a:rPr>
              <a:t>：將這些向量儲存於專門的向量資料庫中。</a:t>
            </a:r>
          </a:p>
          <a:p>
            <a:r>
              <a:rPr lang="zh-TW" altLang="zh-TW" sz="1200" b="1" u="none" strike="noStrike" kern="1200" dirty="0">
                <a:solidFill>
                  <a:schemeClr val="tx1"/>
                </a:solidFill>
                <a:effectLst/>
                <a:latin typeface="+mn-lt"/>
                <a:ea typeface="+mn-ea"/>
                <a:cs typeface="+mn-cs"/>
              </a:rPr>
              <a:t>語意檢索 (Retrieval)</a:t>
            </a:r>
            <a:r>
              <a:rPr lang="zh-TW" altLang="zh-TW" sz="1200" b="0" u="none" strike="noStrike" kern="1200" dirty="0">
                <a:solidFill>
                  <a:schemeClr val="tx1"/>
                </a:solidFill>
                <a:effectLst/>
                <a:latin typeface="+mn-lt"/>
                <a:ea typeface="+mn-ea"/>
                <a:cs typeface="+mn-cs"/>
              </a:rPr>
              <a:t>：當使用者提問時，系統會分析問題的語意，並從資料庫中找出最相關的幾個文件段落。</a:t>
            </a:r>
          </a:p>
          <a:p>
            <a:r>
              <a:rPr lang="zh-TW" altLang="zh-TW" sz="1200" b="1" u="none" strike="noStrike" kern="1200" dirty="0">
                <a:solidFill>
                  <a:schemeClr val="tx1"/>
                </a:solidFill>
                <a:effectLst/>
                <a:latin typeface="+mn-lt"/>
                <a:ea typeface="+mn-ea"/>
                <a:cs typeface="+mn-cs"/>
              </a:rPr>
              <a:t>增強提示詞 (Augment)</a:t>
            </a:r>
            <a:r>
              <a:rPr lang="zh-TW" altLang="zh-TW" sz="1200" b="0" u="none" strike="noStrike" kern="1200" dirty="0">
                <a:solidFill>
                  <a:schemeClr val="tx1"/>
                </a:solidFill>
                <a:effectLst/>
                <a:latin typeface="+mn-lt"/>
                <a:ea typeface="+mn-ea"/>
                <a:cs typeface="+mn-cs"/>
              </a:rPr>
              <a:t>：系統會將使用者的問題與剛才找到的「參考片段」結合，組成完整的指令。</a:t>
            </a:r>
          </a:p>
          <a:p>
            <a:r>
              <a:rPr lang="zh-TW" altLang="zh-TW" sz="1200" b="1" u="none" strike="noStrike" kern="1200" dirty="0">
                <a:solidFill>
                  <a:schemeClr val="tx1"/>
                </a:solidFill>
                <a:effectLst/>
                <a:latin typeface="+mn-lt"/>
                <a:ea typeface="+mn-ea"/>
                <a:cs typeface="+mn-cs"/>
              </a:rPr>
              <a:t>內容生成 (Generate)</a:t>
            </a:r>
            <a:r>
              <a:rPr lang="zh-TW" altLang="zh-TW" sz="1200" b="0" u="none" strike="noStrike" kern="1200" dirty="0">
                <a:solidFill>
                  <a:schemeClr val="tx1"/>
                </a:solidFill>
                <a:effectLst/>
                <a:latin typeface="+mn-lt"/>
                <a:ea typeface="+mn-ea"/>
                <a:cs typeface="+mn-cs"/>
              </a:rPr>
              <a:t>：大型語言模型（如 ChatGPT、Gemini 等）讀取這些參考片段，並用流暢的語言生成最終解答</a:t>
            </a:r>
          </a:p>
          <a:p>
            <a:endParaRPr lang="en-US" altLang="zh-TW" dirty="0"/>
          </a:p>
          <a:p>
            <a:r>
              <a:rPr lang="zh-TW" altLang="zh-TW" sz="1200" b="1" u="none" strike="noStrike" kern="1200" dirty="0">
                <a:solidFill>
                  <a:schemeClr val="tx1"/>
                </a:solidFill>
                <a:effectLst/>
                <a:latin typeface="+mn-lt"/>
                <a:ea typeface="+mn-ea"/>
                <a:cs typeface="+mn-cs"/>
              </a:rPr>
              <a:t>為什麼需要 RAG？主要優勢</a:t>
            </a:r>
          </a:p>
          <a:p>
            <a:r>
              <a:rPr lang="zh-TW" altLang="zh-TW" sz="1200" b="1" u="none" strike="noStrike" kern="1200" dirty="0">
                <a:solidFill>
                  <a:schemeClr val="tx1"/>
                </a:solidFill>
                <a:effectLst/>
                <a:latin typeface="+mn-lt"/>
                <a:ea typeface="+mn-ea"/>
                <a:cs typeface="+mn-cs"/>
              </a:rPr>
              <a:t>大幅減少幻覺</a:t>
            </a:r>
            <a:r>
              <a:rPr lang="zh-TW" altLang="zh-TW" sz="1200" b="0" u="none" strike="noStrike" kern="1200" dirty="0">
                <a:solidFill>
                  <a:schemeClr val="tx1"/>
                </a:solidFill>
                <a:effectLst/>
                <a:latin typeface="+mn-lt"/>
                <a:ea typeface="+mn-ea"/>
                <a:cs typeface="+mn-cs"/>
              </a:rPr>
              <a:t>：AI 的回答有所本，所有資訊都來自提供的外部知識庫，而非全憑猜測。</a:t>
            </a:r>
          </a:p>
          <a:p>
            <a:r>
              <a:rPr lang="zh-TW" altLang="zh-TW" sz="1200" b="1" u="none" strike="noStrike" kern="1200" dirty="0">
                <a:solidFill>
                  <a:schemeClr val="tx1"/>
                </a:solidFill>
                <a:effectLst/>
                <a:latin typeface="+mn-lt"/>
                <a:ea typeface="+mn-ea"/>
                <a:cs typeface="+mn-cs"/>
              </a:rPr>
              <a:t>資料即時更新</a:t>
            </a:r>
            <a:r>
              <a:rPr lang="zh-TW" altLang="zh-TW" sz="1200" b="0" u="none" strike="noStrike" kern="1200" dirty="0">
                <a:solidFill>
                  <a:schemeClr val="tx1"/>
                </a:solidFill>
                <a:effectLst/>
                <a:latin typeface="+mn-lt"/>
                <a:ea typeface="+mn-ea"/>
                <a:cs typeface="+mn-cs"/>
              </a:rPr>
              <a:t>：無須耗費鉅資重新訓練模型，只需更新知識庫中的文件，AI 就能掌握最新資訊。</a:t>
            </a:r>
          </a:p>
          <a:p>
            <a:r>
              <a:rPr lang="zh-TW" altLang="zh-TW" sz="1200" b="1" u="none" strike="noStrike" kern="1200" dirty="0">
                <a:solidFill>
                  <a:schemeClr val="tx1"/>
                </a:solidFill>
                <a:effectLst/>
                <a:latin typeface="+mn-lt"/>
                <a:ea typeface="+mn-ea"/>
                <a:cs typeface="+mn-cs"/>
              </a:rPr>
              <a:t>資訊可追溯性</a:t>
            </a:r>
            <a:r>
              <a:rPr lang="zh-TW" altLang="zh-TW" sz="1200" b="0" u="none" strike="noStrike" kern="1200" dirty="0">
                <a:solidFill>
                  <a:schemeClr val="tx1"/>
                </a:solidFill>
                <a:effectLst/>
                <a:latin typeface="+mn-lt"/>
                <a:ea typeface="+mn-ea"/>
                <a:cs typeface="+mn-cs"/>
              </a:rPr>
              <a:t>：AI 在回答的同時，能明確標註參考來源或出處，方便使用者查核。</a:t>
            </a:r>
          </a:p>
          <a:p>
            <a:r>
              <a:rPr lang="zh-TW" altLang="zh-TW" sz="1200" b="1" u="none" strike="noStrike" kern="1200" dirty="0">
                <a:solidFill>
                  <a:schemeClr val="tx1"/>
                </a:solidFill>
                <a:effectLst/>
                <a:latin typeface="+mn-lt"/>
                <a:ea typeface="+mn-ea"/>
                <a:cs typeface="+mn-cs"/>
              </a:rPr>
              <a:t>企業資料安全</a:t>
            </a:r>
            <a:r>
              <a:rPr lang="zh-TW" altLang="zh-TW" sz="1200" b="0" u="none" strike="noStrike" kern="1200" dirty="0">
                <a:solidFill>
                  <a:schemeClr val="tx1"/>
                </a:solidFill>
                <a:effectLst/>
                <a:latin typeface="+mn-lt"/>
                <a:ea typeface="+mn-ea"/>
                <a:cs typeface="+mn-cs"/>
              </a:rPr>
              <a:t>：可結合內部權限控管，確保機密資料不會外洩至公开的預訓練模型中。</a:t>
            </a: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xxx</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err="1"/>
              <a:t>MoE</a:t>
            </a:r>
            <a:r>
              <a:rPr lang="en-US" altLang="zh-TW" dirty="0"/>
              <a:t>,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2026/6/26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8.png"/><Relationship Id="rId18" Type="http://schemas.openxmlformats.org/officeDocument/2006/relationships/image" Target="../media/image14.png"/><Relationship Id="rId3" Type="http://schemas.openxmlformats.org/officeDocument/2006/relationships/image" Target="../media/image6.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13.png"/><Relationship Id="rId2" Type="http://schemas.openxmlformats.org/officeDocument/2006/relationships/notesSlide" Target="../notesSlides/notesSlide7.xml"/><Relationship Id="rId16"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11.png"/><Relationship Id="rId10" Type="http://schemas.openxmlformats.org/officeDocument/2006/relationships/image" Target="NULL"/><Relationship Id="rId4" Type="http://schemas.openxmlformats.org/officeDocument/2006/relationships/image" Target="../media/image7.png"/><Relationship Id="rId9" Type="http://schemas.openxmlformats.org/officeDocument/2006/relationships/image" Target="../media/image10.png"/><Relationship Id="rId1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7.bmp"/><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53.jp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4.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187623" y="908720"/>
            <a:ext cx="6552728" cy="5262979"/>
          </a:xfrm>
          <a:prstGeom prst="rect">
            <a:avLst/>
          </a:prstGeom>
          <a:solidFill>
            <a:schemeClr val="bg1"/>
          </a:solid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rPr>
              <a:t>AI Overview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(AI Evolution from AlexNet to GPT)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Machine Learning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(UL, semi-SL, SL, RL)</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Self-Supervised</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Supervised Fine Tunning)</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Reinforcement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Reinforcement Learning with Human Feedback)</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Backpropagation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endParaRPr lang="en-US" altLang="zh-TW" sz="2400" dirty="0">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How decoder predict “Next Token”?</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Architecture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Position Encoding,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(Pretraining, Distillation, Alignment&lt;SFT, RLHF&gt;, Inference)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Distillation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Inference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and RAG)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childTnLst>
                          </p:cTn>
                        </p:par>
                      </p:childTnLst>
                    </p:cTn>
                  </p:par>
                  <p:par>
                    <p:cTn id="7" fill="hold">
                      <p:stCondLst>
                        <p:cond delay="indefinite"/>
                      </p:stCondLst>
                      <p:childTnLst>
                        <p:par>
                          <p:cTn id="8" fill="hold">
                            <p:stCondLst>
                              <p:cond delay="0"/>
                            </p:stCondLst>
                            <p:childTnLst>
                              <p:par>
                                <p:cTn id="9" presetID="3" presetClass="emph" presetSubtype="2" fill="hold" grpId="0" nodeType="clickEffect">
                                  <p:stCondLst>
                                    <p:cond delay="0"/>
                                  </p:stCondLst>
                                  <p:childTnLst>
                                    <p:animClr clrSpc="rgb" dir="cw">
                                      <p:cBhvr override="childStyle">
                                        <p:cTn id="10"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childTnLst>
                          </p:cTn>
                        </p:par>
                      </p:childTnLst>
                    </p:cTn>
                  </p:par>
                  <p:par>
                    <p:cTn id="15" fill="hold">
                      <p:stCondLst>
                        <p:cond delay="indefinite"/>
                      </p:stCondLst>
                      <p:childTnLst>
                        <p:par>
                          <p:cTn id="16" fill="hold">
                            <p:stCondLst>
                              <p:cond delay="0"/>
                            </p:stCondLst>
                            <p:childTnLst>
                              <p:par>
                                <p:cTn id="17" presetID="3" presetClass="emph" presetSubtype="2" fill="hold" grpId="0" nodeType="clickEffect">
                                  <p:stCondLst>
                                    <p:cond delay="0"/>
                                  </p:stCondLst>
                                  <p:childTnLst>
                                    <p:animClr clrSpc="rgb" dir="cw">
                                      <p:cBhvr override="childStyle">
                                        <p:cTn id="18"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childTnLst>
                          </p:cTn>
                        </p:par>
                      </p:childTnLst>
                    </p:cTn>
                  </p:par>
                  <p:par>
                    <p:cTn id="19" fill="hold">
                      <p:stCondLst>
                        <p:cond delay="indefinite"/>
                      </p:stCondLst>
                      <p:childTnLst>
                        <p:par>
                          <p:cTn id="20" fill="hold">
                            <p:stCondLst>
                              <p:cond delay="0"/>
                            </p:stCondLst>
                            <p:childTnLst>
                              <p:par>
                                <p:cTn id="21" presetID="3" presetClass="emph" presetSubtype="2" fill="hold" grpId="0" nodeType="clickEffect">
                                  <p:stCondLst>
                                    <p:cond delay="0"/>
                                  </p:stCondLst>
                                  <p:childTnLst>
                                    <p:animClr clrSpc="rgb" dir="cw">
                                      <p:cBhvr override="childStyle">
                                        <p:cTn id="22"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1" nodeType="withEffect">
                                  <p:stCondLst>
                                    <p:cond delay="0"/>
                                  </p:stCondLst>
                                  <p:childTnLst>
                                    <p:animClr clrSpc="rgb" dir="cw">
                                      <p:cBhvr override="childStyle">
                                        <p:cTn id="24" dur="2000" fill="hold"/>
                                        <p:tgtEl>
                                          <p:spTgt spid="2">
                                            <p:txEl>
                                              <p:pRg st="2" end="2"/>
                                            </p:txEl>
                                          </p:spTgt>
                                        </p:tgtEl>
                                        <p:attrNameLst>
                                          <p:attrName>style.color</p:attrName>
                                        </p:attrNameLst>
                                      </p:cBhvr>
                                      <p:to>
                                        <a:srgbClr val="4D4D4D"/>
                                      </p:to>
                                    </p:animClr>
                                  </p:childTnLst>
                                </p:cTn>
                              </p:par>
                            </p:childTnLst>
                          </p:cTn>
                        </p:par>
                      </p:childTnLst>
                    </p:cTn>
                  </p:par>
                  <p:par>
                    <p:cTn id="25" fill="hold">
                      <p:stCondLst>
                        <p:cond delay="indefinite"/>
                      </p:stCondLst>
                      <p:childTnLst>
                        <p:par>
                          <p:cTn id="26" fill="hold">
                            <p:stCondLst>
                              <p:cond delay="0"/>
                            </p:stCondLst>
                            <p:childTnLst>
                              <p:par>
                                <p:cTn id="27" presetID="3" presetClass="emph" presetSubtype="2" fill="hold" grpId="0" nodeType="clickEffect">
                                  <p:stCondLst>
                                    <p:cond delay="0"/>
                                  </p:stCondLst>
                                  <p:childTnLst>
                                    <p:animClr clrSpc="rgb" dir="cw">
                                      <p:cBhvr override="childStyle">
                                        <p:cTn id="28"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1" nodeType="withEffect">
                                  <p:stCondLst>
                                    <p:cond delay="0"/>
                                  </p:stCondLst>
                                  <p:childTnLst>
                                    <p:animClr clrSpc="rgb" dir="cw">
                                      <p:cBhvr override="childStyle">
                                        <p:cTn id="30" dur="2000" fill="hold"/>
                                        <p:tgtEl>
                                          <p:spTgt spid="2">
                                            <p:txEl>
                                              <p:pRg st="3" end="3"/>
                                            </p:txEl>
                                          </p:spTgt>
                                        </p:tgtEl>
                                        <p:attrNameLst>
                                          <p:attrName>style.color</p:attrName>
                                        </p:attrNameLst>
                                      </p:cBhvr>
                                      <p:to>
                                        <a:srgbClr val="4D4D4D"/>
                                      </p:to>
                                    </p:animClr>
                                  </p:childTnLst>
                                </p:cTn>
                              </p:par>
                            </p:childTnLst>
                          </p:cTn>
                        </p:par>
                      </p:childTnLst>
                    </p:cTn>
                  </p:par>
                  <p:par>
                    <p:cTn id="31" fill="hold">
                      <p:stCondLst>
                        <p:cond delay="indefinite"/>
                      </p:stCondLst>
                      <p:childTnLst>
                        <p:par>
                          <p:cTn id="32" fill="hold">
                            <p:stCondLst>
                              <p:cond delay="0"/>
                            </p:stCondLst>
                            <p:childTnLst>
                              <p:par>
                                <p:cTn id="33" presetID="3" presetClass="emph" presetSubtype="2" fill="hold" grpId="0" nodeType="clickEffect">
                                  <p:stCondLst>
                                    <p:cond delay="0"/>
                                  </p:stCondLst>
                                  <p:childTnLst>
                                    <p:animClr clrSpc="rgb" dir="cw">
                                      <p:cBhvr override="childStyle">
                                        <p:cTn id="34"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4D4D4D"/>
                                      </p:to>
                                    </p:animClr>
                                  </p:childTnLst>
                                </p:cTn>
                              </p:par>
                            </p:childTnLst>
                          </p:cTn>
                        </p:par>
                      </p:childTnLst>
                    </p:cTn>
                  </p:par>
                  <p:par>
                    <p:cTn id="37" fill="hold">
                      <p:stCondLst>
                        <p:cond delay="indefinite"/>
                      </p:stCondLst>
                      <p:childTnLst>
                        <p:par>
                          <p:cTn id="38" fill="hold">
                            <p:stCondLst>
                              <p:cond delay="0"/>
                            </p:stCondLst>
                            <p:childTnLst>
                              <p:par>
                                <p:cTn id="39" presetID="3" presetClass="emph" presetSubtype="2" fill="hold" grpId="0" nodeType="clickEffect">
                                  <p:stCondLst>
                                    <p:cond delay="0"/>
                                  </p:stCondLst>
                                  <p:childTnLst>
                                    <p:animClr clrSpc="rgb" dir="cw">
                                      <p:cBhvr override="childStyle">
                                        <p:cTn id="40"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9"/>
                                            </p:cond>
                                          </p:stCondLst>
                                          <p:endCondLst>
                                            <p:cond evt="onStopAudio" delay="0">
                                              <p:tgtEl>
                                                <p:sldTgt/>
                                              </p:tgtEl>
                                            </p:cond>
                                          </p:endCondLst>
                                        </p:cTn>
                                        <p:tgtEl>
                                          <p:sndTgt r:embed="rId3" name="type.wav"/>
                                        </p:tgtEl>
                                      </p:cMediaNode>
                                    </p:audio>
                                  </p:subTnLst>
                                </p:cTn>
                              </p:par>
                              <p:par>
                                <p:cTn id="41" presetID="3" presetClass="emph" presetSubtype="2" fill="hold" grpId="1" nodeType="withEffect">
                                  <p:stCondLst>
                                    <p:cond delay="0"/>
                                  </p:stCondLst>
                                  <p:childTnLst>
                                    <p:animClr clrSpc="rgb" dir="cw">
                                      <p:cBhvr override="childStyle">
                                        <p:cTn id="42" dur="2000" fill="hold"/>
                                        <p:tgtEl>
                                          <p:spTgt spid="2">
                                            <p:txEl>
                                              <p:pRg st="5" end="5"/>
                                            </p:txEl>
                                          </p:spTgt>
                                        </p:tgtEl>
                                        <p:attrNameLst>
                                          <p:attrName>style.color</p:attrName>
                                        </p:attrNameLst>
                                      </p:cBhvr>
                                      <p:to>
                                        <a:srgbClr val="4D4D4D"/>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grpId="0" nodeType="clickEffect">
                                  <p:stCondLst>
                                    <p:cond delay="0"/>
                                  </p:stCondLst>
                                  <p:childTnLst>
                                    <p:animClr clrSpc="rgb" dir="cw">
                                      <p:cBhvr override="childStyle">
                                        <p:cTn id="4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5"/>
                                            </p:cond>
                                          </p:stCondLst>
                                          <p:endCondLst>
                                            <p:cond evt="onStopAudio" delay="0">
                                              <p:tgtEl>
                                                <p:sldTgt/>
                                              </p:tgtEl>
                                            </p:cond>
                                          </p:endCondLst>
                                        </p:cTn>
                                        <p:tgtEl>
                                          <p:sndTgt r:embed="rId3" name="type.wav"/>
                                        </p:tgtEl>
                                      </p:cMediaNode>
                                    </p:audio>
                                  </p:subTnLst>
                                </p:cTn>
                              </p:par>
                              <p:par>
                                <p:cTn id="47" presetID="3" presetClass="emph" presetSubtype="2" fill="hold" grpId="1" nodeType="withEffect">
                                  <p:stCondLst>
                                    <p:cond delay="0"/>
                                  </p:stCondLst>
                                  <p:childTnLst>
                                    <p:animClr clrSpc="rgb" dir="cw">
                                      <p:cBhvr override="childStyle">
                                        <p:cTn id="48" dur="2000" fill="hold"/>
                                        <p:tgtEl>
                                          <p:spTgt spid="2">
                                            <p:txEl>
                                              <p:pRg st="6" end="6"/>
                                            </p:txEl>
                                          </p:spTgt>
                                        </p:tgtEl>
                                        <p:attrNameLst>
                                          <p:attrName>style.color</p:attrName>
                                        </p:attrNameLst>
                                      </p:cBhvr>
                                      <p:to>
                                        <a:srgbClr val="4D4D4D"/>
                                      </p:to>
                                    </p:animClr>
                                  </p:child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7" end="7"/>
                                            </p:txEl>
                                          </p:spTgt>
                                        </p:tgtEl>
                                        <p:attrNameLst>
                                          <p:attrName>style.color</p:attrName>
                                        </p:attrNameLst>
                                      </p:cBhvr>
                                      <p:to>
                                        <a:srgbClr val="4D4D4D"/>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1" end="11"/>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par>
                                <p:cTn id="83" presetID="3" presetClass="emph" presetSubtype="2" fill="hold" grpId="1" nodeType="withEffect">
                                  <p:stCondLst>
                                    <p:cond delay="0"/>
                                  </p:stCondLst>
                                  <p:childTnLst>
                                    <p:animClr clrSpc="rgb" dir="cw">
                                      <p:cBhvr override="childStyle">
                                        <p:cTn id="84" dur="2000" fill="hold"/>
                                        <p:tgtEl>
                                          <p:spTgt spid="2">
                                            <p:txEl>
                                              <p:pRg st="12" end="12"/>
                                            </p:txEl>
                                          </p:spTgt>
                                        </p:tgtEl>
                                        <p:attrNameLst>
                                          <p:attrName>style.color</p:attrName>
                                        </p:attrNameLst>
                                      </p:cBhvr>
                                      <p:to>
                                        <a:srgbClr val="4D4D4D"/>
                                      </p:to>
                                    </p:animClr>
                                  </p:childTnLst>
                                </p:cTn>
                              </p:par>
                              <p:par>
                                <p:cTn id="85" presetID="3" presetClass="emph" presetSubtype="2" fill="hold" grpId="1" nodeType="withEffect">
                                  <p:stCondLst>
                                    <p:cond delay="0"/>
                                  </p:stCondLst>
                                  <p:childTnLst>
                                    <p:animClr clrSpc="rgb" dir="cw">
                                      <p:cBhvr override="childStyle">
                                        <p:cTn id="86" dur="2000" fill="hold"/>
                                        <p:tgtEl>
                                          <p:spTgt spid="2">
                                            <p:txEl>
                                              <p:pRg st="13" end="13"/>
                                            </p:txEl>
                                          </p:spTgt>
                                        </p:tgtEl>
                                        <p:attrNameLst>
                                          <p:attrName>style.color</p:attrName>
                                        </p:attrNameLst>
                                      </p:cBhvr>
                                      <p:to>
                                        <a:srgbClr val="4D4D4D"/>
                                      </p:to>
                                    </p:animClr>
                                  </p:childTnLst>
                                </p:cTn>
                              </p:par>
                              <p:par>
                                <p:cTn id="87" presetID="3" presetClass="emph" presetSubtype="2" fill="hold" grpId="1" nodeType="withEffect">
                                  <p:stCondLst>
                                    <p:cond delay="0"/>
                                  </p:stCondLst>
                                  <p:childTnLst>
                                    <p:animClr clrSpc="rgb" dir="cw">
                                      <p:cBhvr override="childStyle">
                                        <p:cTn id="88" dur="2000" fill="hold"/>
                                        <p:tgtEl>
                                          <p:spTgt spid="2">
                                            <p:txEl>
                                              <p:pRg st="14" end="14"/>
                                            </p:txEl>
                                          </p:spTgt>
                                        </p:tgtEl>
                                        <p:attrNameLst>
                                          <p:attrName>style.color</p:attrName>
                                        </p:attrNameLst>
                                      </p:cBhvr>
                                      <p:to>
                                        <a:srgbClr val="4D4D4D"/>
                                      </p:to>
                                    </p:animClr>
                                  </p:child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15" end="15"/>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6" end="16"/>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childTnLst>
                          </p:cTn>
                        </p:par>
                      </p:childTnLst>
                    </p:cTn>
                  </p:par>
                  <p:par>
                    <p:cTn id="95" fill="hold">
                      <p:stCondLst>
                        <p:cond delay="indefinite"/>
                      </p:stCondLst>
                      <p:childTnLst>
                        <p:par>
                          <p:cTn id="96" fill="hold">
                            <p:stCondLst>
                              <p:cond delay="0"/>
                            </p:stCondLst>
                            <p:childTnLst>
                              <p:par>
                                <p:cTn id="97" presetID="1" presetClass="exit" presetSubtype="0" fill="hold" grpId="2" nodeType="clickEffect">
                                  <p:stCondLst>
                                    <p:cond delay="0"/>
                                  </p:stCondLst>
                                  <p:childTnLst>
                                    <p:set>
                                      <p:cBhvr>
                                        <p:cTn id="98" dur="1" fill="hold">
                                          <p:stCondLst>
                                            <p:cond delay="0"/>
                                          </p:stCondLst>
                                        </p:cTn>
                                        <p:tgtEl>
                                          <p:spTgt spid="2">
                                            <p:bg/>
                                          </p:spTgt>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3" presetClass="emph" presetSubtype="2" fill="hold" grpId="0" nodeType="clickEffect">
                                  <p:stCondLst>
                                    <p:cond delay="0"/>
                                  </p:stCondLst>
                                  <p:childTnLst>
                                    <p:animClr clrSpc="rgb" dir="cw">
                                      <p:cBhvr override="childStyle">
                                        <p:cTn id="10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101"/>
                                            </p:cond>
                                          </p:stCondLst>
                                          <p:endCondLst>
                                            <p:cond evt="onStopAudio" delay="0">
                                              <p:tgtEl>
                                                <p:sldTgt/>
                                              </p:tgtEl>
                                            </p:cond>
                                          </p:endCondLst>
                                        </p:cTn>
                                        <p:tgtEl>
                                          <p:sndTgt r:embed="rId3" name="type.wav"/>
                                        </p:tgtEl>
                                      </p:cMediaNode>
                                    </p:audio>
                                  </p:subTnLst>
                                </p:cTn>
                              </p:par>
                              <p:par>
                                <p:cTn id="103" presetID="3" presetClass="emph" presetSubtype="2" fill="hold" grpId="1" nodeType="withEffect">
                                  <p:stCondLst>
                                    <p:cond delay="0"/>
                                  </p:stCondLst>
                                  <p:childTnLst>
                                    <p:animClr clrSpc="rgb" dir="cw">
                                      <p:cBhvr override="childStyle">
                                        <p:cTn id="104" dur="2000" fill="hold"/>
                                        <p:tgtEl>
                                          <p:spTgt spid="2">
                                            <p:txEl>
                                              <p:pRg st="15" end="15"/>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6" end="16"/>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3" presetClass="emph" presetSubtype="2" fill="hold" grpId="0" nodeType="clickEffect">
                                  <p:stCondLst>
                                    <p:cond delay="0"/>
                                  </p:stCondLst>
                                  <p:childTnLst>
                                    <p:animClr clrSpc="rgb" dir="cw">
                                      <p:cBhvr override="childStyle">
                                        <p:cTn id="11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109"/>
                                            </p:cond>
                                          </p:stCondLst>
                                          <p:endCondLst>
                                            <p:cond evt="onStopAudio" delay="0">
                                              <p:tgtEl>
                                                <p:sldTgt/>
                                              </p:tgtEl>
                                            </p:cond>
                                          </p:endCondLst>
                                        </p:cTn>
                                        <p:tgtEl>
                                          <p:sndTgt r:embed="rId3" name="type.wav"/>
                                        </p:tgtEl>
                                      </p:cMediaNode>
                                    </p:audio>
                                  </p:subTnLst>
                                </p:cTn>
                              </p:par>
                              <p:par>
                                <p:cTn id="111" presetID="3" presetClass="emph" presetSubtype="2" fill="hold" grpId="0" nodeType="withEffect">
                                  <p:stCondLst>
                                    <p:cond delay="0"/>
                                  </p:stCondLst>
                                  <p:childTnLst>
                                    <p:animClr clrSpc="rgb" dir="cw">
                                      <p:cBhvr override="childStyle">
                                        <p:cTn id="11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111"/>
                                            </p:cond>
                                          </p:stCondLst>
                                          <p:endCondLst>
                                            <p:cond evt="onStopAudio" delay="0">
                                              <p:tgtEl>
                                                <p:sldTgt/>
                                              </p:tgtEl>
                                            </p:cond>
                                          </p:endCondLst>
                                        </p:cTn>
                                        <p:tgtEl>
                                          <p:sndTgt r:embed="rId3" name="type.wav"/>
                                        </p:tgtEl>
                                      </p:cMediaNode>
                                    </p:audio>
                                  </p:subTnLst>
                                </p:cTn>
                              </p:par>
                              <p:par>
                                <p:cTn id="113" presetID="3" presetClass="emph" presetSubtype="2" fill="hold" grpId="1" nodeType="withEffect">
                                  <p:stCondLst>
                                    <p:cond delay="0"/>
                                  </p:stCondLst>
                                  <p:childTnLst>
                                    <p:animClr clrSpc="rgb" dir="cw">
                                      <p:cBhvr override="childStyle">
                                        <p:cTn id="114" dur="2000" fill="hold"/>
                                        <p:tgtEl>
                                          <p:spTgt spid="2">
                                            <p:txEl>
                                              <p:pRg st="12" end="12"/>
                                            </p:txEl>
                                          </p:spTgt>
                                        </p:tgtEl>
                                        <p:attrNameLst>
                                          <p:attrName>style.color</p:attrName>
                                        </p:attrNameLst>
                                      </p:cBhvr>
                                      <p:to>
                                        <a:srgbClr val="4D4D4D"/>
                                      </p:to>
                                    </p:animClr>
                                  </p:childTnLst>
                                </p:cTn>
                              </p:par>
                              <p:par>
                                <p:cTn id="115" presetID="3" presetClass="emph" presetSubtype="2" fill="hold" grpId="1" nodeType="withEffect">
                                  <p:stCondLst>
                                    <p:cond delay="0"/>
                                  </p:stCondLst>
                                  <p:childTnLst>
                                    <p:animClr clrSpc="rgb" dir="cw">
                                      <p:cBhvr override="childStyle">
                                        <p:cTn id="116" dur="2000" fill="hold"/>
                                        <p:tgtEl>
                                          <p:spTgt spid="2">
                                            <p:txEl>
                                              <p:pRg st="13" end="13"/>
                                            </p:txEl>
                                          </p:spTgt>
                                        </p:tgtEl>
                                        <p:attrNameLst>
                                          <p:attrName>style.color</p:attrName>
                                        </p:attrNameLst>
                                      </p:cBhvr>
                                      <p:to>
                                        <a:srgbClr val="4D4D4D"/>
                                      </p:to>
                                    </p:animClr>
                                  </p:childTnLst>
                                </p:cTn>
                              </p:par>
                              <p:par>
                                <p:cTn id="117" presetID="3" presetClass="emph" presetSubtype="2" fill="hold" grpId="1" nodeType="withEffect">
                                  <p:stCondLst>
                                    <p:cond delay="0"/>
                                  </p:stCondLst>
                                  <p:childTnLst>
                                    <p:animClr clrSpc="rgb" dir="cw">
                                      <p:cBhvr override="childStyle">
                                        <p:cTn id="118" dur="2000" fill="hold"/>
                                        <p:tgtEl>
                                          <p:spTgt spid="2">
                                            <p:txEl>
                                              <p:pRg st="14" end="14"/>
                                            </p:txEl>
                                          </p:spTgt>
                                        </p:tgtEl>
                                        <p:attrNameLst>
                                          <p:attrName>style.color</p:attrName>
                                        </p:attrNameLst>
                                      </p:cBhvr>
                                      <p:to>
                                        <a:srgbClr val="4D4D4D"/>
                                      </p:to>
                                    </p:animClr>
                                  </p:childTnLst>
                                </p:cTn>
                              </p:par>
                              <p:par>
                                <p:cTn id="119" presetID="3" presetClass="emph" presetSubtype="2" fill="hold" grpId="1" nodeType="withEffect">
                                  <p:stCondLst>
                                    <p:cond delay="0"/>
                                  </p:stCondLst>
                                  <p:childTnLst>
                                    <p:animClr clrSpc="rgb" dir="cw">
                                      <p:cBhvr override="childStyle">
                                        <p:cTn id="120" dur="2000" fill="hold"/>
                                        <p:tgtEl>
                                          <p:spTgt spid="2">
                                            <p:txEl>
                                              <p:pRg st="7" end="7"/>
                                            </p:txEl>
                                          </p:spTgt>
                                        </p:tgtEl>
                                        <p:attrNameLst>
                                          <p:attrName>style.color</p:attrName>
                                        </p:attrNameLst>
                                      </p:cBhvr>
                                      <p:to>
                                        <a:srgbClr val="4D4D4D"/>
                                      </p:to>
                                    </p:animClr>
                                  </p:childTnLst>
                                </p:cTn>
                              </p:par>
                              <p:par>
                                <p:cTn id="121" presetID="3" presetClass="emph" presetSubtype="2" fill="hold" grpId="1" nodeType="withEffect">
                                  <p:stCondLst>
                                    <p:cond delay="0"/>
                                  </p:stCondLst>
                                  <p:childTnLst>
                                    <p:animClr clrSpc="rgb" dir="cw">
                                      <p:cBhvr override="childStyle">
                                        <p:cTn id="122" dur="2000" fill="hold"/>
                                        <p:tgtEl>
                                          <p:spTgt spid="2">
                                            <p:txEl>
                                              <p:pRg st="9" end="9"/>
                                            </p:txEl>
                                          </p:spTgt>
                                        </p:tgtEl>
                                        <p:attrNameLst>
                                          <p:attrName>style.color</p:attrName>
                                        </p:attrNameLst>
                                      </p:cBhvr>
                                      <p:to>
                                        <a:srgbClr val="4D4D4D"/>
                                      </p:to>
                                    </p:animClr>
                                  </p:childTnLst>
                                </p:cTn>
                              </p:par>
                              <p:par>
                                <p:cTn id="123" presetID="3" presetClass="emph" presetSubtype="2" fill="hold" grpId="1" nodeType="withEffect">
                                  <p:stCondLst>
                                    <p:cond delay="0"/>
                                  </p:stCondLst>
                                  <p:childTnLst>
                                    <p:animClr clrSpc="rgb" dir="cw">
                                      <p:cBhvr override="childStyle">
                                        <p:cTn id="124" dur="2000" fill="hold"/>
                                        <p:tgtEl>
                                          <p:spTgt spid="2">
                                            <p:txEl>
                                              <p:pRg st="10" end="10"/>
                                            </p:txEl>
                                          </p:spTgt>
                                        </p:tgtEl>
                                        <p:attrNameLst>
                                          <p:attrName>style.color</p:attrName>
                                        </p:attrNameLst>
                                      </p:cBhvr>
                                      <p:to>
                                        <a:srgbClr val="4D4D4D"/>
                                      </p:to>
                                    </p:animClr>
                                  </p:childTnLst>
                                </p:cTn>
                              </p:par>
                            </p:childTnLst>
                          </p:cTn>
                        </p:par>
                      </p:childTnLst>
                    </p:cTn>
                  </p:par>
                  <p:par>
                    <p:cTn id="125" fill="hold">
                      <p:stCondLst>
                        <p:cond delay="indefinite"/>
                      </p:stCondLst>
                      <p:childTnLst>
                        <p:par>
                          <p:cTn id="126" fill="hold">
                            <p:stCondLst>
                              <p:cond delay="0"/>
                            </p:stCondLst>
                            <p:childTnLst>
                              <p:par>
                                <p:cTn id="127" presetID="1" presetClass="exit" presetSubtype="0" fill="hold" grpId="2" nodeType="clickEffect">
                                  <p:stCondLst>
                                    <p:cond delay="0"/>
                                  </p:stCondLst>
                                  <p:childTnLst>
                                    <p:set>
                                      <p:cBhvr>
                                        <p:cTn id="12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cxnSp>
        <p:nvCxnSpPr>
          <p:cNvPr id="5" name="直線單箭頭接點 4">
            <a:extLst>
              <a:ext uri="{FF2B5EF4-FFF2-40B4-BE49-F238E27FC236}">
                <a16:creationId xmlns:a16="http://schemas.microsoft.com/office/drawing/2014/main" id="{62EDBFA5-2A44-5440-03CB-F3F53B6A6B35}"/>
              </a:ext>
            </a:extLst>
          </p:cNvPr>
          <p:cNvCxnSpPr>
            <a:cxnSpLocks/>
            <a:stCxn id="49" idx="4"/>
          </p:cNvCxnSpPr>
          <p:nvPr/>
        </p:nvCxnSpPr>
        <p:spPr>
          <a:xfrm>
            <a:off x="6971756" y="3484958"/>
            <a:ext cx="1" cy="2624388"/>
          </a:xfrm>
          <a:prstGeom prst="straightConnector1">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a:t>
            </a:r>
            <a:r>
              <a:rPr lang="zh-TW" altLang="en-US"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2314789" y="5224367"/>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492595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10" name="橢圓 9">
            <a:extLst>
              <a:ext uri="{FF2B5EF4-FFF2-40B4-BE49-F238E27FC236}">
                <a16:creationId xmlns:a16="http://schemas.microsoft.com/office/drawing/2014/main" id="{73E5CACF-736F-B80F-1AB4-2C317D116CF1}"/>
              </a:ext>
            </a:extLst>
          </p:cNvPr>
          <p:cNvSpPr/>
          <p:nvPr/>
        </p:nvSpPr>
        <p:spPr>
          <a:xfrm>
            <a:off x="6491193" y="632537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Alignment</a:t>
            </a:r>
          </a:p>
          <a:p>
            <a:pPr algn="ctr"/>
            <a:r>
              <a:rPr lang="en-US" altLang="zh-TW" sz="1200" b="1" dirty="0">
                <a:solidFill>
                  <a:schemeClr val="accent3">
                    <a:lumMod val="50000"/>
                  </a:schemeClr>
                </a:solidFill>
              </a:rPr>
              <a:t>Techniques</a:t>
            </a:r>
          </a:p>
        </p:txBody>
      </p:sp>
      <p:sp>
        <p:nvSpPr>
          <p:cNvPr id="15" name="矩形 14">
            <a:extLst>
              <a:ext uri="{FF2B5EF4-FFF2-40B4-BE49-F238E27FC236}">
                <a16:creationId xmlns:a16="http://schemas.microsoft.com/office/drawing/2014/main" id="{474650E2-4535-1030-98C5-CC65FFC9F43A}"/>
              </a:ext>
            </a:extLst>
          </p:cNvPr>
          <p:cNvSpPr/>
          <p:nvPr/>
        </p:nvSpPr>
        <p:spPr>
          <a:xfrm>
            <a:off x="6762898" y="5805264"/>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2025</a:t>
            </a:r>
            <a:endParaRPr lang="zh-TW" altLang="en-US" sz="1200" dirty="0">
              <a:solidFill>
                <a:schemeClr val="accent3">
                  <a:lumMod val="50000"/>
                </a:schemeClr>
              </a:solidFill>
            </a:endParaRPr>
          </a:p>
        </p:txBody>
      </p:sp>
      <p:sp>
        <p:nvSpPr>
          <p:cNvPr id="24" name="矩形 23">
            <a:extLst>
              <a:ext uri="{FF2B5EF4-FFF2-40B4-BE49-F238E27FC236}">
                <a16:creationId xmlns:a16="http://schemas.microsoft.com/office/drawing/2014/main" id="{9A7A59CB-B28B-7F8B-A990-B54BB64A4902}"/>
              </a:ext>
            </a:extLst>
          </p:cNvPr>
          <p:cNvSpPr/>
          <p:nvPr/>
        </p:nvSpPr>
        <p:spPr>
          <a:xfrm>
            <a:off x="6762898" y="5532449"/>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2024</a:t>
            </a:r>
            <a:endParaRPr lang="zh-TW" altLang="en-US" sz="1200" dirty="0">
              <a:solidFill>
                <a:schemeClr val="accent3">
                  <a:lumMod val="50000"/>
                </a:schemeClr>
              </a:solidFill>
            </a:endParaRPr>
          </a:p>
        </p:txBody>
      </p:sp>
      <p:sp>
        <p:nvSpPr>
          <p:cNvPr id="25" name="矩形 24">
            <a:extLst>
              <a:ext uri="{FF2B5EF4-FFF2-40B4-BE49-F238E27FC236}">
                <a16:creationId xmlns:a16="http://schemas.microsoft.com/office/drawing/2014/main" id="{4637C08C-012C-6C53-9031-6B467BECEAB7}"/>
              </a:ext>
            </a:extLst>
          </p:cNvPr>
          <p:cNvSpPr/>
          <p:nvPr/>
        </p:nvSpPr>
        <p:spPr>
          <a:xfrm>
            <a:off x="6769285" y="5100401"/>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2023</a:t>
            </a:r>
            <a:endParaRPr lang="zh-TW" altLang="en-US" sz="1200" dirty="0">
              <a:solidFill>
                <a:schemeClr val="accent3">
                  <a:lumMod val="50000"/>
                </a:schemeClr>
              </a:solidFill>
            </a:endParaRPr>
          </a:p>
        </p:txBody>
      </p:sp>
      <p:sp>
        <p:nvSpPr>
          <p:cNvPr id="26" name="矩形 25">
            <a:extLst>
              <a:ext uri="{FF2B5EF4-FFF2-40B4-BE49-F238E27FC236}">
                <a16:creationId xmlns:a16="http://schemas.microsoft.com/office/drawing/2014/main" id="{6E5501F7-E2D6-8F9A-5939-28072444C1BE}"/>
              </a:ext>
            </a:extLst>
          </p:cNvPr>
          <p:cNvSpPr/>
          <p:nvPr/>
        </p:nvSpPr>
        <p:spPr>
          <a:xfrm>
            <a:off x="6770902" y="4581128"/>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2022</a:t>
            </a:r>
            <a:endParaRPr lang="zh-TW" altLang="en-US" sz="1200" dirty="0">
              <a:solidFill>
                <a:schemeClr val="accent3">
                  <a:lumMod val="50000"/>
                </a:schemeClr>
              </a:solidFill>
            </a:endParaRPr>
          </a:p>
        </p:txBody>
      </p:sp>
      <p:sp>
        <p:nvSpPr>
          <p:cNvPr id="30" name="矩形 29">
            <a:extLst>
              <a:ext uri="{FF2B5EF4-FFF2-40B4-BE49-F238E27FC236}">
                <a16:creationId xmlns:a16="http://schemas.microsoft.com/office/drawing/2014/main" id="{50262CF7-83DE-D038-68A3-36B8D77476DF}"/>
              </a:ext>
            </a:extLst>
          </p:cNvPr>
          <p:cNvSpPr/>
          <p:nvPr/>
        </p:nvSpPr>
        <p:spPr>
          <a:xfrm>
            <a:off x="6770902" y="4149080"/>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2021</a:t>
            </a:r>
            <a:endParaRPr lang="zh-TW" altLang="en-US" sz="1200" dirty="0">
              <a:solidFill>
                <a:schemeClr val="accent3">
                  <a:lumMod val="50000"/>
                </a:schemeClr>
              </a:solidFill>
            </a:endParaRPr>
          </a:p>
        </p:txBody>
      </p:sp>
      <p:sp>
        <p:nvSpPr>
          <p:cNvPr id="33" name="矩形 32">
            <a:extLst>
              <a:ext uri="{FF2B5EF4-FFF2-40B4-BE49-F238E27FC236}">
                <a16:creationId xmlns:a16="http://schemas.microsoft.com/office/drawing/2014/main" id="{4C8456F1-A916-227B-27FC-5C648603A96B}"/>
              </a:ext>
            </a:extLst>
          </p:cNvPr>
          <p:cNvSpPr/>
          <p:nvPr/>
        </p:nvSpPr>
        <p:spPr>
          <a:xfrm>
            <a:off x="6777289" y="3933056"/>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2020</a:t>
            </a:r>
            <a:endParaRPr lang="zh-TW" altLang="en-US" sz="1200" dirty="0">
              <a:solidFill>
                <a:schemeClr val="accent3">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9" name="橢圓 48">
            <a:extLst>
              <a:ext uri="{FF2B5EF4-FFF2-40B4-BE49-F238E27FC236}">
                <a16:creationId xmlns:a16="http://schemas.microsoft.com/office/drawing/2014/main" id="{A229AF79-B8E1-EF6C-D4FC-740D11027C3E}"/>
              </a:ext>
            </a:extLst>
          </p:cNvPr>
          <p:cNvSpPr/>
          <p:nvPr/>
        </p:nvSpPr>
        <p:spPr>
          <a:xfrm>
            <a:off x="6491192" y="306896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Pretraining</a:t>
            </a:r>
          </a:p>
          <a:p>
            <a:pPr algn="ctr"/>
            <a:r>
              <a:rPr lang="en-US" altLang="zh-TW" sz="1200" dirty="0">
                <a:solidFill>
                  <a:schemeClr val="accent3">
                    <a:lumMod val="50000"/>
                  </a:schemeClr>
                </a:solidFill>
              </a:rPr>
              <a:t>(Unlabeled)</a:t>
            </a:r>
          </a:p>
        </p:txBody>
      </p:sp>
      <p:sp>
        <p:nvSpPr>
          <p:cNvPr id="7" name="矩形: 圓角 6">
            <a:extLst>
              <a:ext uri="{FF2B5EF4-FFF2-40B4-BE49-F238E27FC236}">
                <a16:creationId xmlns:a16="http://schemas.microsoft.com/office/drawing/2014/main" id="{92B0DCE1-99FF-7C56-B23A-1E7C72B7C357}"/>
              </a:ext>
            </a:extLst>
          </p:cNvPr>
          <p:cNvSpPr/>
          <p:nvPr/>
        </p:nvSpPr>
        <p:spPr>
          <a:xfrm>
            <a:off x="7313529" y="3645024"/>
            <a:ext cx="1630598" cy="58335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Open AI</a:t>
            </a:r>
          </a:p>
          <a:p>
            <a:pPr algn="ctr"/>
            <a:r>
              <a:rPr lang="en-US" altLang="zh-TW" sz="1200" dirty="0">
                <a:solidFill>
                  <a:schemeClr val="accent3">
                    <a:lumMod val="50000"/>
                  </a:schemeClr>
                </a:solidFill>
              </a:rPr>
              <a:t>2020</a:t>
            </a:r>
          </a:p>
        </p:txBody>
      </p:sp>
      <p:sp>
        <p:nvSpPr>
          <p:cNvPr id="9" name="矩形: 圓角 8">
            <a:extLst>
              <a:ext uri="{FF2B5EF4-FFF2-40B4-BE49-F238E27FC236}">
                <a16:creationId xmlns:a16="http://schemas.microsoft.com/office/drawing/2014/main" id="{6B1D9D8A-9401-767B-C450-D6F73C2BB6D3}"/>
              </a:ext>
            </a:extLst>
          </p:cNvPr>
          <p:cNvSpPr/>
          <p:nvPr/>
        </p:nvSpPr>
        <p:spPr>
          <a:xfrm>
            <a:off x="5356676" y="4293096"/>
            <a:ext cx="1234518" cy="571077"/>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11" name="矩形: 圓角 10">
            <a:extLst>
              <a:ext uri="{FF2B5EF4-FFF2-40B4-BE49-F238E27FC236}">
                <a16:creationId xmlns:a16="http://schemas.microsoft.com/office/drawing/2014/main" id="{F62E754F-9C02-0E33-6CE0-54462773BB15}"/>
              </a:ext>
            </a:extLst>
          </p:cNvPr>
          <p:cNvSpPr/>
          <p:nvPr/>
        </p:nvSpPr>
        <p:spPr>
          <a:xfrm>
            <a:off x="7303113" y="4570063"/>
            <a:ext cx="1630597"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12" name="矩形: 圓角 11">
            <a:extLst>
              <a:ext uri="{FF2B5EF4-FFF2-40B4-BE49-F238E27FC236}">
                <a16:creationId xmlns:a16="http://schemas.microsoft.com/office/drawing/2014/main" id="{8402F9BD-99C1-28E9-CE60-46DE8969F474}"/>
              </a:ext>
            </a:extLst>
          </p:cNvPr>
          <p:cNvSpPr/>
          <p:nvPr/>
        </p:nvSpPr>
        <p:spPr>
          <a:xfrm>
            <a:off x="5364088" y="4941168"/>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3" name="矩形: 圓角 12">
            <a:extLst>
              <a:ext uri="{FF2B5EF4-FFF2-40B4-BE49-F238E27FC236}">
                <a16:creationId xmlns:a16="http://schemas.microsoft.com/office/drawing/2014/main" id="{045B93F3-45E5-94C2-30E3-90984A1ABB1D}"/>
              </a:ext>
            </a:extLst>
          </p:cNvPr>
          <p:cNvSpPr/>
          <p:nvPr/>
        </p:nvSpPr>
        <p:spPr>
          <a:xfrm>
            <a:off x="7308304" y="5083009"/>
            <a:ext cx="1630598" cy="578239"/>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4" name="矩形: 圓角 13">
            <a:extLst>
              <a:ext uri="{FF2B5EF4-FFF2-40B4-BE49-F238E27FC236}">
                <a16:creationId xmlns:a16="http://schemas.microsoft.com/office/drawing/2014/main" id="{5A7DCF19-329F-9F35-BF64-DEE6AF2F5BA9}"/>
              </a:ext>
            </a:extLst>
          </p:cNvPr>
          <p:cNvSpPr/>
          <p:nvPr/>
        </p:nvSpPr>
        <p:spPr>
          <a:xfrm>
            <a:off x="5364088" y="5578175"/>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
        <p:nvSpPr>
          <p:cNvPr id="40" name="矩形: 圓角 39">
            <a:extLst>
              <a:ext uri="{FF2B5EF4-FFF2-40B4-BE49-F238E27FC236}">
                <a16:creationId xmlns:a16="http://schemas.microsoft.com/office/drawing/2014/main" id="{2DDCAABF-D90C-1F31-5E0D-E64A4F0E0D93}"/>
              </a:ext>
            </a:extLst>
          </p:cNvPr>
          <p:cNvSpPr/>
          <p:nvPr/>
        </p:nvSpPr>
        <p:spPr>
          <a:xfrm>
            <a:off x="6443790" y="2276872"/>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Supervised</a:t>
            </a:r>
          </a:p>
        </p:txBody>
      </p:sp>
      <p:sp>
        <p:nvSpPr>
          <p:cNvPr id="41" name="矩形: 圓角 40">
            <a:extLst>
              <a:ext uri="{FF2B5EF4-FFF2-40B4-BE49-F238E27FC236}">
                <a16:creationId xmlns:a16="http://schemas.microsoft.com/office/drawing/2014/main" id="{E9D6BCDC-810F-9F21-25F1-19F04AE503C2}"/>
              </a:ext>
            </a:extLst>
          </p:cNvPr>
          <p:cNvSpPr/>
          <p:nvPr/>
        </p:nvSpPr>
        <p:spPr>
          <a:xfrm>
            <a:off x="7624788" y="2280658"/>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Reinforcement</a:t>
            </a:r>
          </a:p>
        </p:txBody>
      </p:sp>
      <p:sp>
        <p:nvSpPr>
          <p:cNvPr id="43" name="矩形: 圓角 42">
            <a:extLst>
              <a:ext uri="{FF2B5EF4-FFF2-40B4-BE49-F238E27FC236}">
                <a16:creationId xmlns:a16="http://schemas.microsoft.com/office/drawing/2014/main" id="{30D128EE-313D-0392-484A-E5D6D49F7B8D}"/>
              </a:ext>
            </a:extLst>
          </p:cNvPr>
          <p:cNvSpPr/>
          <p:nvPr/>
        </p:nvSpPr>
        <p:spPr>
          <a:xfrm>
            <a:off x="5397985" y="2283441"/>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bg1">
                    <a:lumMod val="50000"/>
                  </a:schemeClr>
                </a:solidFill>
              </a:rPr>
              <a:t>Unsupervised</a:t>
            </a:r>
          </a:p>
        </p:txBody>
      </p:sp>
      <p:sp>
        <p:nvSpPr>
          <p:cNvPr id="44" name="橢圓 43">
            <a:extLst>
              <a:ext uri="{FF2B5EF4-FFF2-40B4-BE49-F238E27FC236}">
                <a16:creationId xmlns:a16="http://schemas.microsoft.com/office/drawing/2014/main" id="{559E4259-9FAA-88A4-9ED9-DBF3DF119E1A}"/>
              </a:ext>
            </a:extLst>
          </p:cNvPr>
          <p:cNvSpPr/>
          <p:nvPr/>
        </p:nvSpPr>
        <p:spPr>
          <a:xfrm>
            <a:off x="474770" y="5133154"/>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5F0263DF-D6D1-436B-C61D-607E359D30C7}"/>
              </a:ext>
            </a:extLst>
          </p:cNvPr>
          <p:cNvSpPr/>
          <p:nvPr/>
        </p:nvSpPr>
        <p:spPr>
          <a:xfrm>
            <a:off x="4644008" y="908720"/>
            <a:ext cx="648072" cy="432048"/>
          </a:xfrm>
          <a:prstGeom prst="rect">
            <a:avLst/>
          </a:prstGeom>
          <a:solidFill>
            <a:srgbClr val="FFDDDD"/>
          </a:solidFill>
          <a:ln w="127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bg1">
                    <a:lumMod val="50000"/>
                  </a:schemeClr>
                </a:solidFill>
                <a:ea typeface="Dotum" panose="020B0600000101010101" pitchFamily="34" charset="-127"/>
              </a:rPr>
              <a:t>Weighting</a:t>
            </a:r>
          </a:p>
          <a:p>
            <a:pPr algn="ctr"/>
            <a:r>
              <a:rPr lang="en-US" altLang="zh-TW" sz="1000" dirty="0">
                <a:solidFill>
                  <a:schemeClr val="bg1">
                    <a:lumMod val="50000"/>
                  </a:schemeClr>
                </a:solidFill>
                <a:ea typeface="Dotum" panose="020B0600000101010101" pitchFamily="34" charset="-127"/>
              </a:rPr>
              <a:t>Matrix</a:t>
            </a:r>
            <a:endParaRPr lang="zh-TW" altLang="en-US" sz="1000" dirty="0">
              <a:solidFill>
                <a:schemeClr val="bg1">
                  <a:lumMod val="50000"/>
                </a:schemeClr>
              </a:solidFill>
              <a:ea typeface="Dotum" panose="020B0600000101010101" pitchFamily="34" charset="-127"/>
            </a:endParaRPr>
          </a:p>
        </p:txBody>
      </p:sp>
      <p:pic>
        <p:nvPicPr>
          <p:cNvPr id="2050" name="Picture 2" descr="Manual Annotation in Supervised Learning">
            <a:extLst>
              <a:ext uri="{FF2B5EF4-FFF2-40B4-BE49-F238E27FC236}">
                <a16:creationId xmlns:a16="http://schemas.microsoft.com/office/drawing/2014/main" id="{FF5B3335-769C-E322-3BCC-C692BA2DAB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504" y="116632"/>
            <a:ext cx="4104456" cy="132922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76DEA3C-144E-6B42-9C84-DF9B398DCD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1628800"/>
            <a:ext cx="3390655" cy="936104"/>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7">
            <a:extLst>
              <a:ext uri="{FF2B5EF4-FFF2-40B4-BE49-F238E27FC236}">
                <a16:creationId xmlns:a16="http://schemas.microsoft.com/office/drawing/2014/main" id="{FC933B3F-8368-C958-6880-5E003558D7F1}"/>
              </a:ext>
            </a:extLst>
          </p:cNvPr>
          <p:cNvSpPr/>
          <p:nvPr/>
        </p:nvSpPr>
        <p:spPr>
          <a:xfrm>
            <a:off x="3599892" y="1700808"/>
            <a:ext cx="1224136" cy="360040"/>
          </a:xfrm>
          <a:prstGeom prst="rect">
            <a:avLst/>
          </a:prstGeom>
          <a:solidFill>
            <a:srgbClr val="DBFF94"/>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b="1" dirty="0">
                <a:solidFill>
                  <a:schemeClr val="tx2"/>
                </a:solidFill>
                <a:latin typeface="Comic Sans MS" panose="030F0702030302020204" pitchFamily="66" charset="0"/>
              </a:rPr>
              <a:t>High Quality</a:t>
            </a:r>
          </a:p>
          <a:p>
            <a:pPr algn="ctr"/>
            <a:r>
              <a:rPr lang="en-US" altLang="zh-TW" sz="1000" b="1" dirty="0">
                <a:solidFill>
                  <a:schemeClr val="tx2"/>
                </a:solidFill>
                <a:latin typeface="Comic Sans MS" panose="030F0702030302020204" pitchFamily="66" charset="0"/>
              </a:rPr>
              <a:t>Representations</a:t>
            </a:r>
            <a:endParaRPr lang="zh-TW" altLang="en-US" sz="1000" b="1" dirty="0">
              <a:solidFill>
                <a:schemeClr val="tx2"/>
              </a:solidFill>
              <a:latin typeface="Comic Sans MS" panose="030F0702030302020204" pitchFamily="66" charset="0"/>
            </a:endParaRPr>
          </a:p>
        </p:txBody>
      </p:sp>
      <p:sp>
        <p:nvSpPr>
          <p:cNvPr id="9" name="矩形 8">
            <a:extLst>
              <a:ext uri="{FF2B5EF4-FFF2-40B4-BE49-F238E27FC236}">
                <a16:creationId xmlns:a16="http://schemas.microsoft.com/office/drawing/2014/main" id="{512A3B71-CBC0-FCC8-0C0C-105C9AADF612}"/>
              </a:ext>
            </a:extLst>
          </p:cNvPr>
          <p:cNvSpPr/>
          <p:nvPr/>
        </p:nvSpPr>
        <p:spPr>
          <a:xfrm>
            <a:off x="4572000" y="836712"/>
            <a:ext cx="648072" cy="432048"/>
          </a:xfrm>
          <a:prstGeom prst="rect">
            <a:avLst/>
          </a:prstGeom>
          <a:solidFill>
            <a:srgbClr val="FFDDDD"/>
          </a:solidFill>
          <a:ln w="127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bg1">
                    <a:lumMod val="50000"/>
                  </a:schemeClr>
                </a:solidFill>
                <a:ea typeface="Dotum" panose="020B0600000101010101" pitchFamily="34" charset="-127"/>
              </a:rPr>
              <a:t>Weighting</a:t>
            </a:r>
          </a:p>
          <a:p>
            <a:pPr algn="ctr"/>
            <a:r>
              <a:rPr lang="en-US" altLang="zh-TW" sz="1000" dirty="0">
                <a:solidFill>
                  <a:schemeClr val="bg1">
                    <a:lumMod val="50000"/>
                  </a:schemeClr>
                </a:solidFill>
                <a:ea typeface="Dotum" panose="020B0600000101010101" pitchFamily="34" charset="-127"/>
              </a:rPr>
              <a:t>Matrix</a:t>
            </a:r>
            <a:endParaRPr lang="zh-TW" altLang="en-US" sz="1000" dirty="0">
              <a:solidFill>
                <a:schemeClr val="bg1">
                  <a:lumMod val="50000"/>
                </a:schemeClr>
              </a:solidFill>
              <a:ea typeface="Dotum" panose="020B0600000101010101" pitchFamily="34" charset="-127"/>
            </a:endParaRPr>
          </a:p>
        </p:txBody>
      </p:sp>
      <p:sp>
        <p:nvSpPr>
          <p:cNvPr id="10" name="矩形 9">
            <a:extLst>
              <a:ext uri="{FF2B5EF4-FFF2-40B4-BE49-F238E27FC236}">
                <a16:creationId xmlns:a16="http://schemas.microsoft.com/office/drawing/2014/main" id="{F8550F2A-D540-E0CE-D222-7A6D859AB146}"/>
              </a:ext>
            </a:extLst>
          </p:cNvPr>
          <p:cNvSpPr/>
          <p:nvPr/>
        </p:nvSpPr>
        <p:spPr>
          <a:xfrm>
            <a:off x="5561602" y="908721"/>
            <a:ext cx="378550" cy="216024"/>
          </a:xfrm>
          <a:prstGeom prst="rect">
            <a:avLst/>
          </a:prstGeom>
          <a:solidFill>
            <a:srgbClr val="DBFF94"/>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b="1" dirty="0">
                <a:solidFill>
                  <a:schemeClr val="tx2"/>
                </a:solidFill>
                <a:latin typeface="Comic Sans MS" panose="030F0702030302020204" pitchFamily="66" charset="0"/>
              </a:rPr>
              <a:t>c.a.t</a:t>
            </a:r>
            <a:endParaRPr lang="zh-TW" altLang="en-US" sz="1000" b="1" dirty="0">
              <a:solidFill>
                <a:schemeClr val="tx2"/>
              </a:solidFill>
              <a:latin typeface="Comic Sans MS" panose="030F0702030302020204" pitchFamily="66" charset="0"/>
            </a:endParaRPr>
          </a:p>
        </p:txBody>
      </p:sp>
      <p:sp>
        <p:nvSpPr>
          <p:cNvPr id="14" name="矩形 13">
            <a:extLst>
              <a:ext uri="{FF2B5EF4-FFF2-40B4-BE49-F238E27FC236}">
                <a16:creationId xmlns:a16="http://schemas.microsoft.com/office/drawing/2014/main" id="{E82640C8-08FF-6969-BC79-FA9C19614BD4}"/>
              </a:ext>
            </a:extLst>
          </p:cNvPr>
          <p:cNvSpPr/>
          <p:nvPr/>
        </p:nvSpPr>
        <p:spPr>
          <a:xfrm>
            <a:off x="4499992" y="764704"/>
            <a:ext cx="648072" cy="432048"/>
          </a:xfrm>
          <a:prstGeom prst="rect">
            <a:avLst/>
          </a:prstGeom>
          <a:solidFill>
            <a:srgbClr val="FFCCCC"/>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tx1"/>
                </a:solidFill>
                <a:ea typeface="Dotum" panose="020B0600000101010101" pitchFamily="34" charset="-127"/>
              </a:rPr>
              <a:t>Weighting</a:t>
            </a:r>
          </a:p>
          <a:p>
            <a:pPr algn="ctr"/>
            <a:r>
              <a:rPr lang="en-US" altLang="zh-TW" sz="1000" dirty="0">
                <a:solidFill>
                  <a:schemeClr val="tx1"/>
                </a:solidFill>
                <a:ea typeface="Dotum" panose="020B0600000101010101" pitchFamily="34" charset="-127"/>
              </a:rPr>
              <a:t>Matrix</a:t>
            </a:r>
            <a:endParaRPr lang="zh-TW" altLang="en-US" sz="1000" dirty="0">
              <a:solidFill>
                <a:schemeClr val="tx1"/>
              </a:solidFill>
              <a:ea typeface="Dotum" panose="020B0600000101010101" pitchFamily="34" charset="-127"/>
            </a:endParaRPr>
          </a:p>
        </p:txBody>
      </p:sp>
      <p:sp>
        <p:nvSpPr>
          <p:cNvPr id="16" name="文字方塊 15">
            <a:extLst>
              <a:ext uri="{FF2B5EF4-FFF2-40B4-BE49-F238E27FC236}">
                <a16:creationId xmlns:a16="http://schemas.microsoft.com/office/drawing/2014/main" id="{F7298FE4-A85C-D2F6-6501-EEC91E37CB05}"/>
              </a:ext>
            </a:extLst>
          </p:cNvPr>
          <p:cNvSpPr txBox="1"/>
          <p:nvPr/>
        </p:nvSpPr>
        <p:spPr>
          <a:xfrm>
            <a:off x="4283968" y="274161"/>
            <a:ext cx="3317977" cy="430887"/>
          </a:xfrm>
          <a:prstGeom prst="rect">
            <a:avLst/>
          </a:prstGeom>
          <a:noFill/>
        </p:spPr>
        <p:txBody>
          <a:bodyPr wrap="square" rtlCol="0">
            <a:spAutoFit/>
          </a:bodyPr>
          <a:lstStyle/>
          <a:p>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訓練</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取得特徵提取器</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(Encoder)</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，亦即各層的參數。</a:t>
            </a:r>
            <a:endParaRPr lang="en-US" altLang="zh-TW" sz="1100" dirty="0">
              <a:latin typeface="微軟正黑體" panose="020B0604030504040204" pitchFamily="34" charset="-120"/>
              <a:ea typeface="微軟正黑體" panose="020B0604030504040204" pitchFamily="34" charset="-120"/>
              <a:sym typeface="Wingdings" panose="05000000000000000000" pitchFamily="2" charset="2"/>
            </a:endParaRPr>
          </a:p>
          <a:p>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問題</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對資料逐一貼標是不可行的。</a:t>
            </a:r>
            <a:endParaRPr lang="en-US" altLang="zh-TW" sz="11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18" name="文字方塊 17">
            <a:extLst>
              <a:ext uri="{FF2B5EF4-FFF2-40B4-BE49-F238E27FC236}">
                <a16:creationId xmlns:a16="http://schemas.microsoft.com/office/drawing/2014/main" id="{843ABC83-ECD3-FA8E-6B6D-A6EF6807630A}"/>
              </a:ext>
            </a:extLst>
          </p:cNvPr>
          <p:cNvSpPr txBox="1"/>
          <p:nvPr/>
        </p:nvSpPr>
        <p:spPr>
          <a:xfrm>
            <a:off x="3596246" y="2201089"/>
            <a:ext cx="3282950" cy="507831"/>
          </a:xfrm>
          <a:prstGeom prst="rect">
            <a:avLst/>
          </a:prstGeom>
          <a:noFill/>
        </p:spPr>
        <p:txBody>
          <a:bodyPr wrap="none" lIns="0" tIns="0" rIns="0" bIns="0" anchor="ctr" anchorCtr="1">
            <a:spAutoFit/>
          </a:bodyPr>
          <a:lstStyle/>
          <a:p>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訓練</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持續</a:t>
            </a:r>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轉換</a:t>
            </a:r>
            <a:r>
              <a:rPr lang="en-US" altLang="zh-TW"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反饋</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取得權重矩陣。</a:t>
            </a:r>
            <a:endParaRPr lang="en-US" altLang="zh-TW" sz="1100" dirty="0">
              <a:effectLst/>
              <a:latin typeface="微軟正黑體" panose="020B0604030504040204" pitchFamily="34" charset="-120"/>
              <a:ea typeface="微軟正黑體" panose="020B0604030504040204" pitchFamily="34" charset="-120"/>
            </a:endParaRPr>
          </a:p>
          <a:p>
            <a:pPr>
              <a:buNone/>
            </a:pPr>
            <a:r>
              <a:rPr lang="zh-TW" altLang="en-US" sz="1100" dirty="0">
                <a:solidFill>
                  <a:srgbClr val="FF0000"/>
                </a:solidFill>
                <a:effectLst/>
                <a:latin typeface="微軟正黑體" panose="020B0604030504040204" pitchFamily="34" charset="-120"/>
                <a:ea typeface="微軟正黑體" panose="020B0604030504040204" pitchFamily="34" charset="-120"/>
              </a:rPr>
              <a:t>微調</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分群之後再貼</a:t>
            </a:r>
            <a:r>
              <a:rPr lang="en-US" altLang="zh-TW" sz="1100" dirty="0">
                <a:latin typeface="Comic Sans MS" panose="030F0702030302020204" pitchFamily="66" charset="0"/>
                <a:ea typeface="Dotum" panose="020B0600000101010101" pitchFamily="34" charset="-127"/>
              </a:rPr>
              <a:t>”</a:t>
            </a:r>
            <a:r>
              <a:rPr lang="zh-TW" altLang="en-US" sz="1100" dirty="0">
                <a:solidFill>
                  <a:srgbClr val="FF0000"/>
                </a:solidFill>
                <a:effectLst/>
                <a:latin typeface="微軟正黑體" panose="020B0604030504040204" pitchFamily="34" charset="-120"/>
                <a:ea typeface="微軟正黑體" panose="020B0604030504040204" pitchFamily="34" charset="-120"/>
              </a:rPr>
              <a:t>標籤</a:t>
            </a:r>
            <a:r>
              <a:rPr lang="en-US" altLang="zh-TW" sz="1100" dirty="0">
                <a:latin typeface="Comic Sans MS" panose="030F0702030302020204" pitchFamily="66" charset="0"/>
                <a:ea typeface="Dotum" panose="020B0600000101010101" pitchFamily="34" charset="-127"/>
              </a:rPr>
              <a:t>”</a:t>
            </a:r>
            <a:r>
              <a:rPr lang="zh-TW" altLang="en-US" sz="1100" dirty="0">
                <a:latin typeface="微軟正黑體" panose="020B0604030504040204" pitchFamily="34" charset="-120"/>
                <a:ea typeface="微軟正黑體" panose="020B0604030504040204" pitchFamily="34" charset="-120"/>
              </a:rPr>
              <a:t>，取得高品質的特徵向量</a:t>
            </a:r>
            <a:r>
              <a:rPr lang="zh-TW" altLang="en-US" sz="1100" dirty="0">
                <a:latin typeface="Comic Sans MS" panose="030F0702030302020204" pitchFamily="66" charset="0"/>
                <a:ea typeface="Dotum" panose="020B0600000101010101" pitchFamily="34" charset="-127"/>
              </a:rPr>
              <a:t>。</a:t>
            </a:r>
            <a:endParaRPr lang="en-US" altLang="zh-TW" sz="1100" dirty="0">
              <a:latin typeface="Comic Sans MS" panose="030F0702030302020204" pitchFamily="66" charset="0"/>
              <a:ea typeface="Dotum" panose="020B0600000101010101" pitchFamily="34" charset="-127"/>
            </a:endParaRPr>
          </a:p>
          <a:p>
            <a:pPr>
              <a:buNone/>
            </a:pPr>
            <a:r>
              <a:rPr lang="zh-TW" altLang="en-US" sz="1100" dirty="0">
                <a:effectLst/>
                <a:latin typeface="微軟正黑體" panose="020B0604030504040204" pitchFamily="34" charset="-120"/>
                <a:ea typeface="微軟正黑體" panose="020B0604030504040204" pitchFamily="34" charset="-120"/>
              </a:rPr>
              <a:t>運行</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任意一張照片</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可透過</a:t>
            </a:r>
            <a:r>
              <a:rPr lang="zh-TW" altLang="en-US" sz="1100" dirty="0">
                <a:solidFill>
                  <a:srgbClr val="FF0000"/>
                </a:solidFill>
                <a:latin typeface="微軟正黑體" panose="020B0604030504040204" pitchFamily="34" charset="-120"/>
                <a:ea typeface="微軟正黑體" panose="020B0604030504040204" pitchFamily="34" charset="-120"/>
              </a:rPr>
              <a:t>向量比對</a:t>
            </a:r>
            <a:r>
              <a:rPr lang="zh-TW" altLang="en-US" sz="1100" dirty="0">
                <a:latin typeface="微軟正黑體" panose="020B0604030504040204" pitchFamily="34" charset="-120"/>
                <a:ea typeface="微軟正黑體" panose="020B0604030504040204" pitchFamily="34" charset="-120"/>
              </a:rPr>
              <a:t>來辨識。</a:t>
            </a:r>
            <a:endParaRPr lang="zh-TW" altLang="en-US" sz="1100" dirty="0">
              <a:effectLst/>
              <a:latin typeface="微軟正黑體" panose="020B0604030504040204" pitchFamily="34" charset="-120"/>
              <a:ea typeface="微軟正黑體" panose="020B0604030504040204" pitchFamily="34" charset="-120"/>
            </a:endParaRPr>
          </a:p>
        </p:txBody>
      </p:sp>
      <p:sp>
        <p:nvSpPr>
          <p:cNvPr id="19" name="文字方塊 18">
            <a:extLst>
              <a:ext uri="{FF2B5EF4-FFF2-40B4-BE49-F238E27FC236}">
                <a16:creationId xmlns:a16="http://schemas.microsoft.com/office/drawing/2014/main" id="{9DA94E4E-C3BC-0C2C-9A5F-66829325660B}"/>
              </a:ext>
            </a:extLst>
          </p:cNvPr>
          <p:cNvSpPr txBox="1"/>
          <p:nvPr/>
        </p:nvSpPr>
        <p:spPr>
          <a:xfrm>
            <a:off x="683568" y="548680"/>
            <a:ext cx="504056" cy="720080"/>
          </a:xfrm>
          <a:prstGeom prst="rect">
            <a:avLst/>
          </a:prstGeom>
          <a:noFill/>
          <a:ln w="22225">
            <a:noFill/>
          </a:ln>
        </p:spPr>
        <p:txBody>
          <a:bodyPr wrap="none" lIns="0" tIns="0" rIns="0" bIns="0" rtlCol="0" anchor="ctr" anchorCtr="1">
            <a:noAutofit/>
          </a:bodyPr>
          <a:lstStyle/>
          <a:p>
            <a:r>
              <a:rPr lang="en-US" altLang="zh-TW" sz="4400" dirty="0">
                <a:solidFill>
                  <a:srgbClr val="FF0000"/>
                </a:solidFill>
              </a:rPr>
              <a:t>X</a:t>
            </a:r>
            <a:endParaRPr lang="zh-TW" altLang="en-US" sz="4400" dirty="0">
              <a:solidFill>
                <a:srgbClr val="FF0000"/>
              </a:solidFill>
            </a:endParaRPr>
          </a:p>
        </p:txBody>
      </p:sp>
      <p:sp>
        <p:nvSpPr>
          <p:cNvPr id="4" name="標題 1">
            <a:extLst>
              <a:ext uri="{FF2B5EF4-FFF2-40B4-BE49-F238E27FC236}">
                <a16:creationId xmlns:a16="http://schemas.microsoft.com/office/drawing/2014/main" id="{628A90FE-0164-2BAF-C6D9-C09F1FD3186E}"/>
              </a:ext>
            </a:extLst>
          </p:cNvPr>
          <p:cNvSpPr txBox="1">
            <a:spLocks/>
          </p:cNvSpPr>
          <p:nvPr/>
        </p:nvSpPr>
        <p:spPr>
          <a:xfrm>
            <a:off x="179512" y="3573016"/>
            <a:ext cx="2016224" cy="584289"/>
          </a:xfrm>
          <a:prstGeom prst="rect">
            <a:avLst/>
          </a:prstGeom>
          <a:ln>
            <a:solidFill>
              <a:schemeClr val="accent2">
                <a:lumMod val="20000"/>
                <a:lumOff val="80000"/>
              </a:schemeClr>
            </a:solidFill>
          </a:ln>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Generative methods</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pic>
        <p:nvPicPr>
          <p:cNvPr id="3" name="圖片 2">
            <a:extLst>
              <a:ext uri="{FF2B5EF4-FFF2-40B4-BE49-F238E27FC236}">
                <a16:creationId xmlns:a16="http://schemas.microsoft.com/office/drawing/2014/main" id="{22184D81-CE32-5870-8C0C-BF4642BC1CF5}"/>
              </a:ext>
            </a:extLst>
          </p:cNvPr>
          <p:cNvPicPr>
            <a:picLocks noChangeAspect="1"/>
          </p:cNvPicPr>
          <p:nvPr/>
        </p:nvPicPr>
        <p:blipFill>
          <a:blip r:embed="rId4"/>
          <a:stretch>
            <a:fillRect/>
          </a:stretch>
        </p:blipFill>
        <p:spPr>
          <a:xfrm>
            <a:off x="1152047" y="1371313"/>
            <a:ext cx="6839905" cy="4115374"/>
          </a:xfrm>
          <a:prstGeom prst="rect">
            <a:avLst/>
          </a:prstGeom>
        </p:spPr>
      </p:pic>
      <p:sp>
        <p:nvSpPr>
          <p:cNvPr id="2" name="矩形: 圓角 1">
            <a:extLst>
              <a:ext uri="{FF2B5EF4-FFF2-40B4-BE49-F238E27FC236}">
                <a16:creationId xmlns:a16="http://schemas.microsoft.com/office/drawing/2014/main" id="{F8BCAB7A-DB20-8195-DED5-7C10A1C766CD}"/>
              </a:ext>
            </a:extLst>
          </p:cNvPr>
          <p:cNvSpPr/>
          <p:nvPr/>
        </p:nvSpPr>
        <p:spPr>
          <a:xfrm>
            <a:off x="7040776" y="2564904"/>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2020</a:t>
            </a:r>
          </a:p>
        </p:txBody>
      </p:sp>
      <p:sp>
        <p:nvSpPr>
          <p:cNvPr id="5" name="矩形: 圓角 4">
            <a:extLst>
              <a:ext uri="{FF2B5EF4-FFF2-40B4-BE49-F238E27FC236}">
                <a16:creationId xmlns:a16="http://schemas.microsoft.com/office/drawing/2014/main" id="{8B966AC9-1B14-5DCA-BF19-2526C614D38E}"/>
              </a:ext>
            </a:extLst>
          </p:cNvPr>
          <p:cNvSpPr/>
          <p:nvPr/>
        </p:nvSpPr>
        <p:spPr>
          <a:xfrm>
            <a:off x="6732240" y="358784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 from 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6" name="矩形: 圓角 5">
            <a:extLst>
              <a:ext uri="{FF2B5EF4-FFF2-40B4-BE49-F238E27FC236}">
                <a16:creationId xmlns:a16="http://schemas.microsoft.com/office/drawing/2014/main" id="{7BE8D290-7FE5-CBE3-9625-C8735F6E0547}"/>
              </a:ext>
            </a:extLst>
          </p:cNvPr>
          <p:cNvSpPr/>
          <p:nvPr/>
        </p:nvSpPr>
        <p:spPr>
          <a:xfrm>
            <a:off x="7040776" y="4086011"/>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7" name="矩形: 圓角 6">
            <a:extLst>
              <a:ext uri="{FF2B5EF4-FFF2-40B4-BE49-F238E27FC236}">
                <a16:creationId xmlns:a16="http://schemas.microsoft.com/office/drawing/2014/main" id="{40A876E5-898D-D246-441F-BB8C5C6C6353}"/>
              </a:ext>
            </a:extLst>
          </p:cNvPr>
          <p:cNvSpPr/>
          <p:nvPr/>
        </p:nvSpPr>
        <p:spPr>
          <a:xfrm>
            <a:off x="6732240" y="457006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1" name="矩形: 圓角 10">
            <a:extLst>
              <a:ext uri="{FF2B5EF4-FFF2-40B4-BE49-F238E27FC236}">
                <a16:creationId xmlns:a16="http://schemas.microsoft.com/office/drawing/2014/main" id="{F289C93F-733E-1417-BD5D-EDBAD0F47372}"/>
              </a:ext>
            </a:extLst>
          </p:cNvPr>
          <p:cNvSpPr/>
          <p:nvPr/>
        </p:nvSpPr>
        <p:spPr>
          <a:xfrm>
            <a:off x="7040776" y="5155017"/>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2" name="矩形: 圓角 11">
            <a:extLst>
              <a:ext uri="{FF2B5EF4-FFF2-40B4-BE49-F238E27FC236}">
                <a16:creationId xmlns:a16="http://schemas.microsoft.com/office/drawing/2014/main" id="{EEC38D78-EC19-EBC6-49ED-A150F0538B87}"/>
              </a:ext>
            </a:extLst>
          </p:cNvPr>
          <p:cNvSpPr/>
          <p:nvPr/>
        </p:nvSpPr>
        <p:spPr>
          <a:xfrm>
            <a:off x="6732240" y="565018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Tree>
    <p:extLst>
      <p:ext uri="{BB962C8B-B14F-4D97-AF65-F5344CB8AC3E}">
        <p14:creationId xmlns:p14="http://schemas.microsoft.com/office/powerpoint/2010/main" val="20656241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C6127E-497B-DD06-AB69-0D7C0E2B0BF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F8435B3-9863-6184-550A-FD9DF9F280A0}"/>
              </a:ext>
            </a:extLst>
          </p:cNvPr>
          <p:cNvSpPr txBox="1">
            <a:spLocks/>
          </p:cNvSpPr>
          <p:nvPr/>
        </p:nvSpPr>
        <p:spPr>
          <a:xfrm>
            <a:off x="3131840"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RNN</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1986~1997</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擅長處理序列數據，有</a:t>
            </a:r>
            <a:r>
              <a:rPr lang="zh-TW" altLang="en-US" sz="1200" dirty="0">
                <a:latin typeface="微軟正黑體 Light" panose="020B0304030504040204" pitchFamily="34" charset="-120"/>
                <a:ea typeface="微軟正黑體 Light" panose="020B0304030504040204" pitchFamily="34" charset="-120"/>
              </a:rPr>
              <a:t>梯度消失問題，故難以捕捉長期時間關聯。</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5" name="標題 1">
            <a:extLst>
              <a:ext uri="{FF2B5EF4-FFF2-40B4-BE49-F238E27FC236}">
                <a16:creationId xmlns:a16="http://schemas.microsoft.com/office/drawing/2014/main" id="{C6749E25-4004-75B3-2159-A3AFF1A64647}"/>
              </a:ext>
            </a:extLst>
          </p:cNvPr>
          <p:cNvSpPr txBox="1">
            <a:spLocks/>
          </p:cNvSpPr>
          <p:nvPr/>
        </p:nvSpPr>
        <p:spPr>
          <a:xfrm>
            <a:off x="6084168"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LSTM 1997~2014</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結合</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RNN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可勝過</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HMM,</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但仍還有行計算問題。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6" name="標題 1">
            <a:extLst>
              <a:ext uri="{FF2B5EF4-FFF2-40B4-BE49-F238E27FC236}">
                <a16:creationId xmlns:a16="http://schemas.microsoft.com/office/drawing/2014/main" id="{7B0D9EE6-7118-2D51-E9FD-76FE8FD71655}"/>
              </a:ext>
            </a:extLst>
          </p:cNvPr>
          <p:cNvSpPr txBox="1">
            <a:spLocks/>
          </p:cNvSpPr>
          <p:nvPr/>
        </p:nvSpPr>
        <p:spPr>
          <a:xfrm>
            <a:off x="147445" y="2780928"/>
            <a:ext cx="4568571"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Attention 2014</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處理自然語言</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對話</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時</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注意力機制</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透過不同權重來取值</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畫重點</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pic>
        <p:nvPicPr>
          <p:cNvPr id="7" name="圖片 6" descr="一張含有 字型, 文字, 白色, 書法 的圖片">
            <a:extLst>
              <a:ext uri="{FF2B5EF4-FFF2-40B4-BE49-F238E27FC236}">
                <a16:creationId xmlns:a16="http://schemas.microsoft.com/office/drawing/2014/main" id="{6FEA4F9E-897F-F1FB-E5B3-53CD8533DF40}"/>
              </a:ext>
            </a:extLst>
          </p:cNvPr>
          <p:cNvPicPr>
            <a:picLocks noChangeAspect="1"/>
          </p:cNvPicPr>
          <p:nvPr/>
        </p:nvPicPr>
        <p:blipFill>
          <a:blip r:embed="rId3"/>
          <a:stretch>
            <a:fillRect/>
          </a:stretch>
        </p:blipFill>
        <p:spPr>
          <a:xfrm>
            <a:off x="1331640" y="3248980"/>
            <a:ext cx="3239655" cy="548173"/>
          </a:xfrm>
          <a:prstGeom prst="rect">
            <a:avLst/>
          </a:prstGeom>
          <a:effectLst>
            <a:glow rad="63500">
              <a:schemeClr val="accent2">
                <a:satMod val="175000"/>
                <a:alpha val="40000"/>
              </a:schemeClr>
            </a:glow>
          </a:effectLst>
        </p:spPr>
      </p:pic>
      <p:sp>
        <p:nvSpPr>
          <p:cNvPr id="9" name="標題 1">
            <a:extLst>
              <a:ext uri="{FF2B5EF4-FFF2-40B4-BE49-F238E27FC236}">
                <a16:creationId xmlns:a16="http://schemas.microsoft.com/office/drawing/2014/main" id="{884D4EB6-158D-5730-3E7C-8DB915E59B17}"/>
              </a:ext>
            </a:extLst>
          </p:cNvPr>
          <p:cNvSpPr txBox="1">
            <a:spLocks/>
          </p:cNvSpPr>
          <p:nvPr/>
        </p:nvSpPr>
        <p:spPr>
          <a:xfrm>
            <a:off x="107504" y="4112958"/>
            <a:ext cx="3173684" cy="900218"/>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Transformer 2017</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位置編碼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(Positional Encoding):</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使用正弦與餘弦函數組合來編碼。透過</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MHA</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來讀取語意中各種</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層次</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訊息。</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1" name="標題 1">
            <a:extLst>
              <a:ext uri="{FF2B5EF4-FFF2-40B4-BE49-F238E27FC236}">
                <a16:creationId xmlns:a16="http://schemas.microsoft.com/office/drawing/2014/main" id="{590B6DAE-E768-6CCA-9792-ED620BBD29A7}"/>
              </a:ext>
            </a:extLst>
          </p:cNvPr>
          <p:cNvSpPr txBox="1">
            <a:spLocks/>
          </p:cNvSpPr>
          <p:nvPr/>
        </p:nvSpPr>
        <p:spPr>
          <a:xfrm>
            <a:off x="107504"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CNN 1980~2012</a:t>
            </a:r>
          </a:p>
          <a:p>
            <a:r>
              <a:rPr lang="zh-TW" altLang="en-US" sz="1200" dirty="0">
                <a:latin typeface="微軟正黑體 Light" panose="020B0304030504040204" pitchFamily="34" charset="-120"/>
                <a:ea typeface="微軟正黑體 Light" panose="020B0304030504040204" pitchFamily="34" charset="-120"/>
              </a:rPr>
              <a:t>屬前饋神經網路，其類神經元</a:t>
            </a:r>
            <a:r>
              <a:rPr lang="en-US" altLang="zh-TW" sz="1200" dirty="0">
                <a:latin typeface="微軟正黑體 Light" panose="020B0304030504040204" pitchFamily="34" charset="-120"/>
                <a:ea typeface="微軟正黑體 Light" panose="020B0304030504040204" pitchFamily="34" charset="-120"/>
              </a:rPr>
              <a:t>(</a:t>
            </a:r>
            <a:r>
              <a:rPr lang="zh-TW" altLang="en-US" sz="1200" dirty="0">
                <a:latin typeface="微軟正黑體 Light" panose="020B0304030504040204" pitchFamily="34" charset="-120"/>
                <a:ea typeface="微軟正黑體 Light" panose="020B0304030504040204" pitchFamily="34" charset="-120"/>
              </a:rPr>
              <a:t>卷積結構</a:t>
            </a:r>
            <a:r>
              <a:rPr lang="en-US" altLang="zh-TW" sz="1200" dirty="0">
                <a:latin typeface="微軟正黑體 Light" panose="020B0304030504040204" pitchFamily="34" charset="-120"/>
                <a:ea typeface="微軟正黑體 Light" panose="020B0304030504040204" pitchFamily="34" charset="-120"/>
              </a:rPr>
              <a:t>)</a:t>
            </a:r>
            <a:r>
              <a:rPr lang="zh-TW" altLang="en-US" sz="1200" dirty="0">
                <a:latin typeface="微軟正黑體 Light" panose="020B0304030504040204" pitchFamily="34" charset="-120"/>
                <a:ea typeface="微軟正黑體 Light" panose="020B0304030504040204" pitchFamily="34" charset="-120"/>
              </a:rPr>
              <a:t>可以回應一部分覆蓋範圍內的周圍單元，對於大型圖像處理有出色表現。</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2" name="標題 1">
            <a:extLst>
              <a:ext uri="{FF2B5EF4-FFF2-40B4-BE49-F238E27FC236}">
                <a16:creationId xmlns:a16="http://schemas.microsoft.com/office/drawing/2014/main" id="{915099D6-C860-986B-E162-65EAC705BDE6}"/>
              </a:ext>
            </a:extLst>
          </p:cNvPr>
          <p:cNvSpPr txBox="1">
            <a:spLocks/>
          </p:cNvSpPr>
          <p:nvPr/>
        </p:nvSpPr>
        <p:spPr>
          <a:xfrm>
            <a:off x="105644" y="1652058"/>
            <a:ext cx="3602260" cy="1092983"/>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Word2Vec 2013~</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詞向量</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(Word Embedding)</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訓練</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是指將單詞</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轉換為向量</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迭代運算</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前傳</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反饋</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得權重矩陣</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(mxn)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rPr>
              <a:t>至今演進到上下文相關的動態詞向量</a:t>
            </a:r>
            <a:r>
              <a:rPr lang="en-US" altLang="zh-TW" sz="1200" dirty="0">
                <a:latin typeface="微軟正黑體 Light" panose="020B0304030504040204" pitchFamily="34" charset="-120"/>
                <a:ea typeface="微軟正黑體 Light" panose="020B0304030504040204" pitchFamily="34" charset="-120"/>
              </a:rPr>
              <a:t>(contextual embeddings)</a:t>
            </a:r>
            <a:endParaRPr lang="zh-TW" altLang="en-US" sz="1200" dirty="0">
              <a:latin typeface="微軟正黑體 Light" panose="020B0304030504040204" pitchFamily="34" charset="-120"/>
              <a:ea typeface="微軟正黑體 Light" panose="020B0304030504040204" pitchFamily="34" charset="-120"/>
            </a:endParaRPr>
          </a:p>
        </p:txBody>
      </p:sp>
      <p:sp>
        <p:nvSpPr>
          <p:cNvPr id="13" name="標題 1">
            <a:extLst>
              <a:ext uri="{FF2B5EF4-FFF2-40B4-BE49-F238E27FC236}">
                <a16:creationId xmlns:a16="http://schemas.microsoft.com/office/drawing/2014/main" id="{6AA53381-A98D-0EDC-4507-75289D0F17EF}"/>
              </a:ext>
            </a:extLst>
          </p:cNvPr>
          <p:cNvSpPr txBox="1">
            <a:spLocks/>
          </p:cNvSpPr>
          <p:nvPr/>
        </p:nvSpPr>
        <p:spPr>
          <a:xfrm>
            <a:off x="6088707" y="1605541"/>
            <a:ext cx="2212278" cy="101527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Causal Inference</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因果推論</a:t>
            </a:r>
            <a:b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b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持續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4" name="標題 1">
            <a:extLst>
              <a:ext uri="{FF2B5EF4-FFF2-40B4-BE49-F238E27FC236}">
                <a16:creationId xmlns:a16="http://schemas.microsoft.com/office/drawing/2014/main" id="{2E47CC8E-07EC-C1B7-77A5-9E71982B8607}"/>
              </a:ext>
            </a:extLst>
          </p:cNvPr>
          <p:cNvSpPr txBox="1">
            <a:spLocks/>
          </p:cNvSpPr>
          <p:nvPr/>
        </p:nvSpPr>
        <p:spPr>
          <a:xfrm>
            <a:off x="4982568" y="2780928"/>
            <a:ext cx="2212278" cy="101527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如何訓練</a:t>
            </a:r>
            <a:endPar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endParaRP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輸入大量文本數據</a:t>
            </a:r>
            <a:b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b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持續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3" name="標題 1">
            <a:extLst>
              <a:ext uri="{FF2B5EF4-FFF2-40B4-BE49-F238E27FC236}">
                <a16:creationId xmlns:a16="http://schemas.microsoft.com/office/drawing/2014/main" id="{6E78FA2D-CF46-516C-465A-9383F93316FB}"/>
              </a:ext>
            </a:extLst>
          </p:cNvPr>
          <p:cNvSpPr txBox="1">
            <a:spLocks/>
          </p:cNvSpPr>
          <p:nvPr/>
        </p:nvSpPr>
        <p:spPr>
          <a:xfrm>
            <a:off x="147445" y="5272659"/>
            <a:ext cx="3776483" cy="118825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GPT</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2018</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Generative</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Pre-trained</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Transformer</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8" name="標題 1">
            <a:extLst>
              <a:ext uri="{FF2B5EF4-FFF2-40B4-BE49-F238E27FC236}">
                <a16:creationId xmlns:a16="http://schemas.microsoft.com/office/drawing/2014/main" id="{BEB004BF-FCCD-DCB7-C8BD-DA2CA52089CE}"/>
              </a:ext>
            </a:extLst>
          </p:cNvPr>
          <p:cNvSpPr txBox="1">
            <a:spLocks/>
          </p:cNvSpPr>
          <p:nvPr/>
        </p:nvSpPr>
        <p:spPr>
          <a:xfrm>
            <a:off x="4427985" y="5941284"/>
            <a:ext cx="2016224" cy="548173"/>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MOE</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Mixture of Experts</a:t>
            </a:r>
          </a:p>
        </p:txBody>
      </p:sp>
      <p:sp>
        <p:nvSpPr>
          <p:cNvPr id="10" name="標題 1">
            <a:extLst>
              <a:ext uri="{FF2B5EF4-FFF2-40B4-BE49-F238E27FC236}">
                <a16:creationId xmlns:a16="http://schemas.microsoft.com/office/drawing/2014/main" id="{57AC004E-2E4D-A21F-8EBB-37B8EE263C21}"/>
              </a:ext>
            </a:extLst>
          </p:cNvPr>
          <p:cNvSpPr txBox="1">
            <a:spLocks/>
          </p:cNvSpPr>
          <p:nvPr/>
        </p:nvSpPr>
        <p:spPr>
          <a:xfrm>
            <a:off x="6137844" y="3651439"/>
            <a:ext cx="2016224" cy="64807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Distillation</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2014</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6" name="標題 1">
            <a:extLst>
              <a:ext uri="{FF2B5EF4-FFF2-40B4-BE49-F238E27FC236}">
                <a16:creationId xmlns:a16="http://schemas.microsoft.com/office/drawing/2014/main" id="{99210735-3468-3C0D-7D27-0BEF2E6E13FD}"/>
              </a:ext>
            </a:extLst>
          </p:cNvPr>
          <p:cNvSpPr txBox="1">
            <a:spLocks/>
          </p:cNvSpPr>
          <p:nvPr/>
        </p:nvSpPr>
        <p:spPr>
          <a:xfrm>
            <a:off x="4470369" y="1445424"/>
            <a:ext cx="2016224" cy="57516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YOLO</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7" name="標題 1">
            <a:extLst>
              <a:ext uri="{FF2B5EF4-FFF2-40B4-BE49-F238E27FC236}">
                <a16:creationId xmlns:a16="http://schemas.microsoft.com/office/drawing/2014/main" id="{7A358D80-F67C-96B5-3BFE-30E27988A0AF}"/>
              </a:ext>
            </a:extLst>
          </p:cNvPr>
          <p:cNvSpPr txBox="1">
            <a:spLocks/>
          </p:cNvSpPr>
          <p:nvPr/>
        </p:nvSpPr>
        <p:spPr>
          <a:xfrm>
            <a:off x="3309088" y="1384182"/>
            <a:ext cx="1297074" cy="41699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GAN</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8" name="矩形 17">
            <a:extLst>
              <a:ext uri="{FF2B5EF4-FFF2-40B4-BE49-F238E27FC236}">
                <a16:creationId xmlns:a16="http://schemas.microsoft.com/office/drawing/2014/main" id="{9A267982-9980-097D-AD17-7F6587FF5783}"/>
              </a:ext>
            </a:extLst>
          </p:cNvPr>
          <p:cNvSpPr/>
          <p:nvPr/>
        </p:nvSpPr>
        <p:spPr>
          <a:xfrm>
            <a:off x="1259632" y="5796390"/>
            <a:ext cx="2049456" cy="693068"/>
          </a:xfrm>
          <a:prstGeom prst="rect">
            <a:avLst/>
          </a:prstGeom>
          <a:solidFill>
            <a:schemeClr val="bg1">
              <a:alpha val="2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lstStyle/>
          <a:p>
            <a:endParaRPr lang="en-US" altLang="zh-TW" sz="1000" b="1" dirty="0">
              <a:solidFill>
                <a:schemeClr val="tx2"/>
              </a:solidFill>
            </a:endParaRPr>
          </a:p>
          <a:p>
            <a:r>
              <a:rPr lang="en-US" altLang="zh-TW" sz="1000" b="1" dirty="0">
                <a:solidFill>
                  <a:schemeClr val="tx2"/>
                </a:solidFill>
              </a:rPr>
              <a:t>RAG</a:t>
            </a:r>
            <a:r>
              <a:rPr lang="zh-TW" altLang="en-US" sz="1000" b="1" dirty="0">
                <a:solidFill>
                  <a:schemeClr val="tx2"/>
                </a:solidFill>
              </a:rPr>
              <a:t> </a:t>
            </a:r>
            <a:r>
              <a:rPr lang="en-US" altLang="zh-TW" sz="1000" b="1" dirty="0">
                <a:solidFill>
                  <a:schemeClr val="tx2"/>
                </a:solidFill>
              </a:rPr>
              <a:t>2020</a:t>
            </a:r>
          </a:p>
          <a:p>
            <a:r>
              <a:rPr lang="en-US" altLang="zh-TW" sz="1000" b="1" dirty="0">
                <a:solidFill>
                  <a:schemeClr val="tx2"/>
                </a:solidFill>
              </a:rPr>
              <a:t>Retrieval Argumental Generation</a:t>
            </a:r>
          </a:p>
          <a:p>
            <a:pPr marL="171450" indent="-171450">
              <a:buFontTx/>
              <a:buChar char="-"/>
            </a:pPr>
            <a:r>
              <a:rPr lang="en-US" altLang="zh-TW" sz="1000" b="1" dirty="0">
                <a:solidFill>
                  <a:schemeClr val="tx2"/>
                </a:solidFill>
              </a:rPr>
              <a:t>Knowledge Grounding</a:t>
            </a:r>
          </a:p>
          <a:p>
            <a:pPr marL="171450" indent="-171450">
              <a:buFontTx/>
              <a:buChar char="-"/>
            </a:pPr>
            <a:r>
              <a:rPr lang="en-US" altLang="zh-TW" sz="1000" b="1" dirty="0">
                <a:solidFill>
                  <a:schemeClr val="tx2"/>
                </a:solidFill>
              </a:rPr>
              <a:t>Hallucination</a:t>
            </a:r>
          </a:p>
          <a:p>
            <a:endParaRPr lang="zh-TW" altLang="en-US" sz="1000" b="1" dirty="0">
              <a:solidFill>
                <a:schemeClr val="tx2"/>
              </a:solidFill>
            </a:endParaRPr>
          </a:p>
        </p:txBody>
      </p:sp>
      <p:sp>
        <p:nvSpPr>
          <p:cNvPr id="19" name="標題 1">
            <a:extLst>
              <a:ext uri="{FF2B5EF4-FFF2-40B4-BE49-F238E27FC236}">
                <a16:creationId xmlns:a16="http://schemas.microsoft.com/office/drawing/2014/main" id="{2FF16AF9-3C31-65E6-A881-2BC38D5840B9}"/>
              </a:ext>
            </a:extLst>
          </p:cNvPr>
          <p:cNvSpPr txBox="1">
            <a:spLocks/>
          </p:cNvSpPr>
          <p:nvPr/>
        </p:nvSpPr>
        <p:spPr>
          <a:xfrm>
            <a:off x="6263776" y="5525323"/>
            <a:ext cx="2016224" cy="57516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Residual Attention</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4" name="標題 1">
            <a:extLst>
              <a:ext uri="{FF2B5EF4-FFF2-40B4-BE49-F238E27FC236}">
                <a16:creationId xmlns:a16="http://schemas.microsoft.com/office/drawing/2014/main" id="{0F542AEB-20CE-8A7E-2B7F-739ADC0859F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Evolution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5" name="標題 1">
            <a:extLst>
              <a:ext uri="{FF2B5EF4-FFF2-40B4-BE49-F238E27FC236}">
                <a16:creationId xmlns:a16="http://schemas.microsoft.com/office/drawing/2014/main" id="{A576B110-0221-B871-FDE3-1C63420EFD94}"/>
              </a:ext>
            </a:extLst>
          </p:cNvPr>
          <p:cNvSpPr txBox="1">
            <a:spLocks/>
          </p:cNvSpPr>
          <p:nvPr/>
        </p:nvSpPr>
        <p:spPr>
          <a:xfrm>
            <a:off x="4598351" y="4106317"/>
            <a:ext cx="1888242" cy="64740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BERT</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2018</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Unlabeled text data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sym typeface="Wingdings" panose="05000000000000000000" pitchFamily="2" charset="2"/>
              </a:rPr>
              <a:t> Self-supervised Learning</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20" name="標題 1">
            <a:extLst>
              <a:ext uri="{FF2B5EF4-FFF2-40B4-BE49-F238E27FC236}">
                <a16:creationId xmlns:a16="http://schemas.microsoft.com/office/drawing/2014/main" id="{8B4C5556-3B4E-0B27-BEEB-B4669B7C5FBB}"/>
              </a:ext>
            </a:extLst>
          </p:cNvPr>
          <p:cNvSpPr txBox="1">
            <a:spLocks/>
          </p:cNvSpPr>
          <p:nvPr/>
        </p:nvSpPr>
        <p:spPr>
          <a:xfrm>
            <a:off x="4606162" y="4753723"/>
            <a:ext cx="1888242" cy="64740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SUPERB</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2021</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Unlabeled text data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sym typeface="Wingdings" panose="05000000000000000000" pitchFamily="2" charset="2"/>
              </a:rPr>
              <a:t> Self-supervised Learning</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Tree>
    <p:extLst>
      <p:ext uri="{BB962C8B-B14F-4D97-AF65-F5344CB8AC3E}">
        <p14:creationId xmlns:p14="http://schemas.microsoft.com/office/powerpoint/2010/main" val="291991500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996952"/>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5F043B72-6AEB-EFDE-CFA2-4DFA01D3A4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31840" y="2208315"/>
            <a:ext cx="3915984" cy="2149202"/>
          </a:xfrm>
          <a:prstGeom prst="rect">
            <a:avLst/>
          </a:prstGeom>
          <a:effectLst>
            <a:glow rad="63500">
              <a:schemeClr val="accent1">
                <a:satMod val="175000"/>
                <a:alpha val="40000"/>
              </a:schemeClr>
            </a:glow>
          </a:effectLst>
        </p:spPr>
      </p:pic>
      <p:sp>
        <p:nvSpPr>
          <p:cNvPr id="3" name="文字方塊 2">
            <a:extLst>
              <a:ext uri="{FF2B5EF4-FFF2-40B4-BE49-F238E27FC236}">
                <a16:creationId xmlns:a16="http://schemas.microsoft.com/office/drawing/2014/main" id="{D29D0120-D695-790B-FD29-6D90A49D1A22}"/>
              </a:ext>
            </a:extLst>
          </p:cNvPr>
          <p:cNvSpPr txBox="1"/>
          <p:nvPr/>
        </p:nvSpPr>
        <p:spPr>
          <a:xfrm>
            <a:off x="213023" y="2351892"/>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Classification</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Algorithm: </a:t>
            </a:r>
            <a:r>
              <a:rPr lang="en-US" altLang="zh-TW" sz="1600" b="0" u="none" strike="noStrike" dirty="0">
                <a:effectLst/>
              </a:rPr>
              <a:t>.Algorithm.</a:t>
            </a:r>
            <a:endParaRPr lang="en-US" altLang="zh-TW" sz="1600" dirty="0"/>
          </a:p>
          <a:p>
            <a:pPr marL="285750" indent="-285750">
              <a:lnSpc>
                <a:spcPts val="1800"/>
              </a:lnSpc>
              <a:spcBef>
                <a:spcPts val="600"/>
              </a:spcBef>
              <a:spcAft>
                <a:spcPts val="600"/>
              </a:spcAft>
              <a:buFont typeface="Wingdings" panose="05000000000000000000" pitchFamily="2" charset="2"/>
              <a:buChar char="Ø"/>
            </a:pPr>
            <a:endParaRPr lang="en-US" altLang="zh-TW" sz="1600" b="0" u="none" strike="noStrike" dirty="0">
              <a:effectLst/>
            </a:endParaRPr>
          </a:p>
        </p:txBody>
      </p:sp>
      <p:sp>
        <p:nvSpPr>
          <p:cNvPr id="4" name="文字方塊 3">
            <a:extLst>
              <a:ext uri="{FF2B5EF4-FFF2-40B4-BE49-F238E27FC236}">
                <a16:creationId xmlns:a16="http://schemas.microsoft.com/office/drawing/2014/main" id="{79C46465-F0E2-7C29-7E02-D7E0420800C7}"/>
              </a:ext>
            </a:extLst>
          </p:cNvPr>
          <p:cNvSpPr txBox="1"/>
          <p:nvPr/>
        </p:nvSpPr>
        <p:spPr>
          <a:xfrm>
            <a:off x="218381" y="4471952"/>
            <a:ext cx="856895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Regression</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Data</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Model</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 </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a:t>
            </a:r>
          </a:p>
        </p:txBody>
      </p:sp>
      <p:sp>
        <p:nvSpPr>
          <p:cNvPr id="5" name="文字方塊 4">
            <a:extLst>
              <a:ext uri="{FF2B5EF4-FFF2-40B4-BE49-F238E27FC236}">
                <a16:creationId xmlns:a16="http://schemas.microsoft.com/office/drawing/2014/main" id="{D69A47AF-F734-215C-023C-F999DF7B5B47}"/>
              </a:ext>
            </a:extLst>
          </p:cNvPr>
          <p:cNvSpPr txBox="1"/>
          <p:nvPr/>
        </p:nvSpPr>
        <p:spPr>
          <a:xfrm>
            <a:off x="213023" y="908720"/>
            <a:ext cx="7023273" cy="323165"/>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p:txBody>
      </p:sp>
      <p:sp>
        <p:nvSpPr>
          <p:cNvPr id="6" name="文字方塊 5">
            <a:extLst>
              <a:ext uri="{FF2B5EF4-FFF2-40B4-BE49-F238E27FC236}">
                <a16:creationId xmlns:a16="http://schemas.microsoft.com/office/drawing/2014/main" id="{DE425EDB-BF12-1881-7232-FCB926F7F513}"/>
              </a:ext>
            </a:extLst>
          </p:cNvPr>
          <p:cNvSpPr txBox="1"/>
          <p:nvPr/>
        </p:nvSpPr>
        <p:spPr>
          <a:xfrm>
            <a:off x="1912467" y="1295280"/>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A38A6A8F-6A54-4278-7D6E-2680580D9AF3}"/>
              </a:ext>
            </a:extLst>
          </p:cNvPr>
          <p:cNvSpPr txBox="1"/>
          <p:nvPr/>
        </p:nvSpPr>
        <p:spPr>
          <a:xfrm>
            <a:off x="35496" y="626634"/>
            <a:ext cx="3024336" cy="2123658"/>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a:t>
            </a:r>
          </a:p>
          <a:p>
            <a:pPr marL="171450" indent="-171450">
              <a:buFont typeface="Arial" panose="020B0604020202020204" pitchFamily="34" charset="0"/>
              <a:buChar char="•"/>
            </a:pPr>
            <a:r>
              <a:rPr lang="en-US" altLang="zh-TW" sz="1200" dirty="0"/>
              <a:t>Model (W0, Wi): Y = a*w + b</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Gradient</a:t>
            </a:r>
          </a:p>
          <a:p>
            <a:pPr marL="171450" indent="-171450">
              <a:buFont typeface="Arial" panose="020B0604020202020204" pitchFamily="34" charset="0"/>
              <a:buChar char="•"/>
            </a:pPr>
            <a:r>
              <a:rPr lang="en-US" altLang="zh-TW" sz="1200" dirty="0"/>
              <a:t>Learning rate</a:t>
            </a:r>
          </a:p>
          <a:p>
            <a:pPr marL="171450" indent="-171450">
              <a:buFont typeface="Arial" panose="020B0604020202020204" pitchFamily="34" charset="0"/>
              <a:buChar char="•"/>
            </a:pPr>
            <a:r>
              <a:rPr lang="en-US" altLang="zh-TW" sz="1200" dirty="0"/>
              <a:t>Batch </a:t>
            </a:r>
          </a:p>
          <a:p>
            <a:pPr marL="171450" indent="-171450">
              <a:buFont typeface="Arial" panose="020B0604020202020204" pitchFamily="34" charset="0"/>
              <a:buChar char="•"/>
            </a:pPr>
            <a:r>
              <a:rPr lang="en-US" altLang="zh-TW" sz="1200" dirty="0"/>
              <a:t>Activation Function</a:t>
            </a:r>
          </a:p>
          <a:p>
            <a:pPr marL="171450" indent="-171450">
              <a:buFont typeface="Arial" panose="020B0604020202020204" pitchFamily="34" charset="0"/>
              <a:buChar char="•"/>
            </a:pPr>
            <a:r>
              <a:rPr lang="en-US" altLang="zh-TW" sz="1200" dirty="0"/>
              <a:t>Neuro Network: weight, summary, Activate  </a:t>
            </a:r>
          </a:p>
          <a:p>
            <a:pPr marL="171450" indent="-171450">
              <a:buFont typeface="Arial" panose="020B0604020202020204" pitchFamily="34" charset="0"/>
              <a:buChar char="•"/>
            </a:pPr>
            <a:r>
              <a:rPr lang="en-US" altLang="zh-TW" sz="1200" dirty="0"/>
              <a:t>Optimizer</a:t>
            </a:r>
          </a:p>
          <a:p>
            <a:pPr marL="171450" indent="-171450">
              <a:buFont typeface="Arial" panose="020B0604020202020204" pitchFamily="34" charset="0"/>
              <a:buChar char="•"/>
            </a:pPr>
            <a:r>
              <a:rPr lang="en-US" altLang="zh-TW" sz="1200" dirty="0"/>
              <a:t>Backpropagation</a:t>
            </a:r>
          </a:p>
          <a:p>
            <a:pPr marL="171450" indent="-171450">
              <a:buFont typeface="Arial" panose="020B0604020202020204" pitchFamily="34" charset="0"/>
              <a:buChar char="•"/>
            </a:pPr>
            <a:r>
              <a:rPr lang="en-US" altLang="zh-TW" sz="1200" dirty="0"/>
              <a:t>Chain rule</a:t>
            </a:r>
            <a:endParaRPr lang="zh-TW" altLang="en-US" sz="1200" dirty="0"/>
          </a:p>
        </p:txBody>
      </p:sp>
      <p:sp>
        <p:nvSpPr>
          <p:cNvPr id="5" name="文字方塊 4">
            <a:extLst>
              <a:ext uri="{FF2B5EF4-FFF2-40B4-BE49-F238E27FC236}">
                <a16:creationId xmlns:a16="http://schemas.microsoft.com/office/drawing/2014/main" id="{AF89BB4F-136C-04D1-2288-74B85ED1D9EA}"/>
              </a:ext>
            </a:extLst>
          </p:cNvPr>
          <p:cNvSpPr txBox="1"/>
          <p:nvPr/>
        </p:nvSpPr>
        <p:spPr>
          <a:xfrm>
            <a:off x="35496" y="3013501"/>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E27-2206-B63F-E8DA-34F849D0EAD2}"/>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EE64C92-6E22-AD07-6D42-44D4CBBF4446}"/>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7E724F2C-9599-42E1-9280-5951AE3C053E}"/>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0DEDAA18-E47A-71DF-468F-7D78A5F550F5}"/>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ECC91B31-8CB6-DECF-891F-8E3E87D28FA5}"/>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4BD8DF4E-71A3-B90E-5451-8E801E270282}"/>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745E36A4-E11E-274F-A88D-436DB6C3A5C5}"/>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8595CC18-0F87-FD9E-A0C2-759F759DEF0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8CEC85E1-6D57-F887-A6EC-F80835621DEC}"/>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FEB79C3-3D81-1720-FF18-5DC444FFF558}"/>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26ECF834-26B5-D2A5-F93D-86298255612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09B8E814-A6B2-C933-BE74-5302C91F30D1}"/>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D9659F36-520E-5C91-B8E8-1A7D58304F1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C2B16E88-C556-C4F8-4977-892E79F1001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721C648E-FB65-0ECC-254F-F9A9573FC413}"/>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94B798A1-EA04-35D7-7720-4617CAA0B5B9}"/>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D7B051F5-48A1-3F0B-5351-DAD73B391C2F}"/>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031F6C64-9C0F-E70C-7EC1-49D2B909E26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A4838FC1-597A-9DFD-81CC-B675AF19583C}"/>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4342DADF-88CA-BFE4-B5B1-BEBBAA708980}"/>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63E7BB08-E23F-E20B-4DFA-A7ECC347F6F6}"/>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5A724026-0E5E-4316-5A15-5D498291435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44648191-C007-1AAA-ED80-41ADB1874604}"/>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4C7F51E7-E217-B579-7E05-C4BEB76DB8E7}"/>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5147070E-E5B6-4CDA-B6B1-B8BC2CE8C9D5}"/>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F0E3E06-73DF-FD3F-0AE6-6A1C4BA03449}"/>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C0C2BC95-A3E9-85E1-B301-347D9D8BBFC3}"/>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DB06D6D7-715E-000A-889D-0C797DD37692}"/>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04435A2F-A5FE-185D-2D35-7EE905EC5610}"/>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91CA0133-6238-7671-7613-3BB301C497D7}"/>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59FA1931-E860-580B-F294-4439D3A67AE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091EB7D5-F506-117D-63EF-E4A6746B99BB}"/>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0379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7" name="圖片 16" descr="一張含有 文字, 螢幕擷取畫面, 圖表, 字型 的圖片&#10;&#10;AI 產生的內容可能不正確。">
            <a:extLst>
              <a:ext uri="{FF2B5EF4-FFF2-40B4-BE49-F238E27FC236}">
                <a16:creationId xmlns:a16="http://schemas.microsoft.com/office/drawing/2014/main" id="{091E85A0-8D3C-A322-0FB8-35C8B7D69428}"/>
              </a:ext>
            </a:extLst>
          </p:cNvPr>
          <p:cNvPicPr>
            <a:picLocks noChangeAspect="1"/>
          </p:cNvPicPr>
          <p:nvPr/>
        </p:nvPicPr>
        <p:blipFill>
          <a:blip r:embed="rId2"/>
          <a:stretch>
            <a:fillRect/>
          </a:stretch>
        </p:blipFill>
        <p:spPr>
          <a:xfrm>
            <a:off x="467544" y="1764150"/>
            <a:ext cx="3528392" cy="4222659"/>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19" name="矩形 18">
            <a:extLst>
              <a:ext uri="{FF2B5EF4-FFF2-40B4-BE49-F238E27FC236}">
                <a16:creationId xmlns:a16="http://schemas.microsoft.com/office/drawing/2014/main" id="{EF4E9E41-C623-26B7-F5C7-235CC5856F9A}"/>
              </a:ext>
            </a:extLst>
          </p:cNvPr>
          <p:cNvSpPr/>
          <p:nvPr/>
        </p:nvSpPr>
        <p:spPr>
          <a:xfrm>
            <a:off x="934674" y="5938621"/>
            <a:ext cx="1152128" cy="425944"/>
          </a:xfrm>
          <a:prstGeom prst="rect">
            <a:avLst/>
          </a:prstGeom>
          <a:solidFill>
            <a:schemeClr val="bg1">
              <a:alpha val="2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1">
                    <a:lumMod val="75000"/>
                  </a:schemeClr>
                </a:solidFill>
                <a:latin typeface="微軟正黑體" panose="020B0604030504040204" pitchFamily="34" charset="-120"/>
                <a:ea typeface="微軟正黑體" panose="020B0604030504040204" pitchFamily="34" charset="-120"/>
                <a:sym typeface="Wingdings" panose="05000000000000000000" pitchFamily="2" charset="2"/>
              </a:rPr>
              <a:t>Embedding</a:t>
            </a:r>
          </a:p>
        </p:txBody>
      </p:sp>
      <p:sp>
        <p:nvSpPr>
          <p:cNvPr id="6" name="標題 1">
            <a:extLst>
              <a:ext uri="{FF2B5EF4-FFF2-40B4-BE49-F238E27FC236}">
                <a16:creationId xmlns:a16="http://schemas.microsoft.com/office/drawing/2014/main" id="{D28C8799-9594-EB1D-26E1-4272DF209260}"/>
              </a:ext>
            </a:extLst>
          </p:cNvPr>
          <p:cNvSpPr txBox="1">
            <a:spLocks/>
          </p:cNvSpPr>
          <p:nvPr/>
        </p:nvSpPr>
        <p:spPr>
          <a:xfrm>
            <a:off x="250031" y="838336"/>
            <a:ext cx="417795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Arial" panose="020B0604020202020204" pitchFamily="34" charset="0"/>
                <a:cs typeface="Arial" panose="020B0604020202020204" pitchFamily="34" charset="0"/>
                <a:sym typeface="Wingdings" panose="05000000000000000000" pitchFamily="2" charset="2"/>
              </a:rPr>
              <a:t>Use self-attention to predict next token.</a:t>
            </a:r>
          </a:p>
          <a:p>
            <a:r>
              <a:rPr lang="en-US" altLang="zh-TW" sz="1200" dirty="0">
                <a:latin typeface="Arial" panose="020B0604020202020204" pitchFamily="34" charset="0"/>
                <a:cs typeface="Arial" panose="020B0604020202020204" pitchFamily="34" charset="0"/>
                <a:sym typeface="Wingdings" panose="05000000000000000000" pitchFamily="2" charset="2"/>
              </a:rPr>
              <a:t>Next-Token = Transformer(X, “user input data”) </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標題 1">
            <a:extLst>
              <a:ext uri="{FF2B5EF4-FFF2-40B4-BE49-F238E27FC236}">
                <a16:creationId xmlns:a16="http://schemas.microsoft.com/office/drawing/2014/main" id="{75A6AA55-396E-4357-7D46-8E6D0A5F803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標題 1">
            <a:extLst>
              <a:ext uri="{FF2B5EF4-FFF2-40B4-BE49-F238E27FC236}">
                <a16:creationId xmlns:a16="http://schemas.microsoft.com/office/drawing/2014/main" id="{B9658AD8-90C4-7285-46B8-310FC3BA20C1}"/>
              </a:ext>
            </a:extLst>
          </p:cNvPr>
          <p:cNvSpPr txBox="1">
            <a:spLocks/>
          </p:cNvSpPr>
          <p:nvPr/>
        </p:nvSpPr>
        <p:spPr>
          <a:xfrm>
            <a:off x="567736" y="2852936"/>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8" name="標題 1">
            <a:extLst>
              <a:ext uri="{FF2B5EF4-FFF2-40B4-BE49-F238E27FC236}">
                <a16:creationId xmlns:a16="http://schemas.microsoft.com/office/drawing/2014/main" id="{B93110F1-E006-8E00-01D3-AD82BAD527E5}"/>
              </a:ext>
            </a:extLst>
          </p:cNvPr>
          <p:cNvSpPr txBox="1">
            <a:spLocks/>
          </p:cNvSpPr>
          <p:nvPr/>
        </p:nvSpPr>
        <p:spPr>
          <a:xfrm>
            <a:off x="3284082" y="2348880"/>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323528" y="1536136"/>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476144" y="3212976"/>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 name="標題 1">
            <a:extLst>
              <a:ext uri="{FF2B5EF4-FFF2-40B4-BE49-F238E27FC236}">
                <a16:creationId xmlns:a16="http://schemas.microsoft.com/office/drawing/2014/main" id="{6F717D9E-49DD-2DF8-CCAA-FAC8D83212F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52" name="矩形 51">
            <a:extLst>
              <a:ext uri="{FF2B5EF4-FFF2-40B4-BE49-F238E27FC236}">
                <a16:creationId xmlns:a16="http://schemas.microsoft.com/office/drawing/2014/main" id="{E934BD01-CE8C-1AF7-23F7-5239ED57881D}"/>
              </a:ext>
            </a:extLst>
          </p:cNvPr>
          <p:cNvSpPr/>
          <p:nvPr/>
        </p:nvSpPr>
        <p:spPr>
          <a:xfrm>
            <a:off x="3968284" y="2461720"/>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578027" y="1379344"/>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578027" y="872624"/>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252188" y="4425021"/>
            <a:ext cx="1638389"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 Embedding </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592509" y="3323084"/>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058763" y="1628800"/>
                <a:ext cx="1692707" cy="913199"/>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058763" y="1628800"/>
                <a:ext cx="1692707" cy="913199"/>
              </a:xfrm>
              <a:prstGeom prst="rect">
                <a:avLst/>
              </a:prstGeom>
              <a:blipFill>
                <a:blip r:embed="rId2"/>
                <a:stretch>
                  <a:fillRect l="-3237" t="-2000"/>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252188" y="2420887"/>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588552" y="2405693"/>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604108" y="3539108"/>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3968284" y="3366374"/>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3923928" y="980728"/>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682170" y="107502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123728" y="476672"/>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008000" y="1221618"/>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008000" y="1221618"/>
                <a:ext cx="419984" cy="119150"/>
              </a:xfrm>
              <a:prstGeom prst="rect">
                <a:avLst/>
              </a:prstGeom>
              <a:blipFill>
                <a:blip r:embed="rId3"/>
                <a:stretch>
                  <a:fillRect b="-9091"/>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427984" y="1281193"/>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3968283" y="1829734"/>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107534" y="3404548"/>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3968283" y="4425071"/>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Softmax(VE</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VE</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099844" y="2564904"/>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099844" y="2564904"/>
                <a:ext cx="1750479" cy="846642"/>
              </a:xfrm>
              <a:prstGeom prst="rect">
                <a:avLst/>
              </a:prstGeom>
              <a:blipFill>
                <a:blip r:embed="rId4"/>
                <a:stretch>
                  <a:fillRect l="-5575" r="-348" b="-10072"/>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243727" y="5056002"/>
            <a:ext cx="1638389"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099844" y="3645024"/>
                <a:ext cx="1358257" cy="502702"/>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099844" y="3645024"/>
                <a:ext cx="1358257" cy="502702"/>
              </a:xfrm>
              <a:prstGeom prst="rect">
                <a:avLst/>
              </a:prstGeom>
              <a:blipFill>
                <a:blip r:embed="rId5"/>
                <a:stretch>
                  <a:fillRect l="-7207" t="-9756" b="-97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099844" y="4653136"/>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099844" y="4653136"/>
                <a:ext cx="813171" cy="448264"/>
              </a:xfrm>
              <a:prstGeom prst="rect">
                <a:avLst/>
              </a:prstGeom>
              <a:blipFill>
                <a:blip r:embed="rId6"/>
                <a:stretch>
                  <a:fillRect l="-4511" t="-17568" r="-30827" b="-1013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V</a:t>
            </a:r>
            <a:r>
              <a:rPr lang="en-US" altLang="zh-TW" sz="2000" baseline="-25000" dirty="0">
                <a:solidFill>
                  <a:schemeClr val="tx1"/>
                </a:solidFill>
                <a:latin typeface="微軟正黑體" panose="020B0604030504040204" pitchFamily="34" charset="-120"/>
                <a:ea typeface="微軟正黑體" panose="020B0604030504040204" pitchFamily="34" charset="-120"/>
              </a:rPr>
              <a:t>E</a:t>
            </a: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16" idx="3"/>
            <a:endCxn id="25" idx="0"/>
          </p:cNvCxnSpPr>
          <p:nvPr/>
        </p:nvCxnSpPr>
        <p:spPr>
          <a:xfrm>
            <a:off x="2509805" y="4606168"/>
            <a:ext cx="298731" cy="709283"/>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mc:AlternateContent xmlns:mc="http://schemas.openxmlformats.org/markup-compatibility/2006" xmlns:a14="http://schemas.microsoft.com/office/drawing/2010/main">
        <mc:Choice Requires="a14">
          <p:sp>
            <p:nvSpPr>
              <p:cNvPr id="116" name="文字方塊 115">
                <a:extLst>
                  <a:ext uri="{FF2B5EF4-FFF2-40B4-BE49-F238E27FC236}">
                    <a16:creationId xmlns:a16="http://schemas.microsoft.com/office/drawing/2014/main" id="{A3369FF5-E966-CEF4-72BC-16F1B81311D0}"/>
                  </a:ext>
                </a:extLst>
              </p:cNvPr>
              <p:cNvSpPr txBox="1"/>
              <p:nvPr/>
            </p:nvSpPr>
            <p:spPr>
              <a:xfrm>
                <a:off x="2123728" y="4559870"/>
                <a:ext cx="386077" cy="92596"/>
              </a:xfrm>
              <a:prstGeom prst="rect">
                <a:avLst/>
              </a:prstGeom>
              <a:solidFill>
                <a:schemeClr val="accent2">
                  <a:lumMod val="20000"/>
                  <a:lumOff val="80000"/>
                  <a:alpha val="80000"/>
                </a:schemeClr>
              </a:solidFill>
              <a:ln>
                <a:solidFill>
                  <a:schemeClr val="accent2">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b="0" i="1" smtClean="0">
                          <a:solidFill>
                            <a:srgbClr val="FF0000"/>
                          </a:solidFill>
                          <a:latin typeface="Cambria Math" panose="02040503050406030204" pitchFamily="18" charset="0"/>
                        </a:rPr>
                        <m:t>𝑤</m:t>
                      </m:r>
                    </m:oMath>
                  </m:oMathPara>
                </a14:m>
                <a:endParaRPr lang="zh-TW" altLang="en-US" sz="1000" i="1" dirty="0">
                  <a:solidFill>
                    <a:srgbClr val="FF0000"/>
                  </a:solidFill>
                </a:endParaRPr>
              </a:p>
            </p:txBody>
          </p:sp>
        </mc:Choice>
        <mc:Fallback xmlns="">
          <p:sp>
            <p:nvSpPr>
              <p:cNvPr id="116" name="文字方塊 115">
                <a:extLst>
                  <a:ext uri="{FF2B5EF4-FFF2-40B4-BE49-F238E27FC236}">
                    <a16:creationId xmlns:a16="http://schemas.microsoft.com/office/drawing/2014/main" id="{A3369FF5-E966-CEF4-72BC-16F1B81311D0}"/>
                  </a:ext>
                </a:extLst>
              </p:cNvPr>
              <p:cNvSpPr txBox="1">
                <a:spLocks noRot="1" noChangeAspect="1" noMove="1" noResize="1" noEditPoints="1" noAdjustHandles="1" noChangeArrowheads="1" noChangeShapeType="1" noTextEdit="1"/>
              </p:cNvSpPr>
              <p:nvPr/>
            </p:nvSpPr>
            <p:spPr>
              <a:xfrm>
                <a:off x="2123728" y="4559870"/>
                <a:ext cx="386077" cy="92596"/>
              </a:xfrm>
              <a:prstGeom prst="rect">
                <a:avLst/>
              </a:prstGeom>
              <a:blipFill>
                <a:blip r:embed="rId5"/>
                <a:stretch>
                  <a:fillRect b="-29412"/>
                </a:stretch>
              </a:blipFill>
              <a:ln>
                <a:solidFill>
                  <a:schemeClr val="accent2">
                    <a:alpha val="40000"/>
                  </a:schemeClr>
                </a:solidFill>
              </a:ln>
            </p:spPr>
            <p:txBody>
              <a:bodyPr/>
              <a:lstStyle/>
              <a:p>
                <a:r>
                  <a:rPr lang="zh-TW" altLang="en-US">
                    <a:noFill/>
                  </a:rPr>
                  <a:t> </a:t>
                </a:r>
              </a:p>
            </p:txBody>
          </p:sp>
        </mc:Fallback>
      </mc:AlternateContent>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mc:Choice xmlns:a14="http://schemas.microsoft.com/office/drawing/2010/main"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err="1">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2315F-533C-60EE-73A5-B2C1A22BFEF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9432FF8-5794-99F6-7820-CC38D89A9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1560" y="980728"/>
            <a:ext cx="5740819" cy="5380408"/>
          </a:xfrm>
          <a:prstGeom prst="rect">
            <a:avLst/>
          </a:prstGeom>
        </p:spPr>
      </p:pic>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9742DFD0-0460-5C59-25D1-62160EC40749}"/>
                  </a:ext>
                </a:extLst>
              </p:cNvPr>
              <p:cNvSpPr txBox="1"/>
              <p:nvPr/>
            </p:nvSpPr>
            <p:spPr>
              <a:xfrm>
                <a:off x="6662089" y="4910156"/>
                <a:ext cx="816645" cy="648072"/>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Router</a:t>
                </a:r>
                <a:endParaRPr lang="en-US" altLang="zh-TW" sz="1200"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 </m:t>
                      </m:r>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Cambria Math" panose="02040503050406030204" pitchFamily="18" charset="0"/>
                  <a:ea typeface="Cambria Math" panose="02040503050406030204" pitchFamily="18" charset="0"/>
                </a:endParaRPr>
              </a:p>
            </p:txBody>
          </p:sp>
        </mc:Choice>
        <mc:Fallback xmlns="">
          <p:sp>
            <p:nvSpPr>
              <p:cNvPr id="3" name="文字方塊 2">
                <a:extLst>
                  <a:ext uri="{FF2B5EF4-FFF2-40B4-BE49-F238E27FC236}">
                    <a16:creationId xmlns:a16="http://schemas.microsoft.com/office/drawing/2014/main" id="{9742DFD0-0460-5C59-25D1-62160EC40749}"/>
                  </a:ext>
                </a:extLst>
              </p:cNvPr>
              <p:cNvSpPr txBox="1">
                <a:spLocks noRot="1" noChangeAspect="1" noMove="1" noResize="1" noEditPoints="1" noAdjustHandles="1" noChangeArrowheads="1" noChangeShapeType="1" noTextEdit="1"/>
              </p:cNvSpPr>
              <p:nvPr/>
            </p:nvSpPr>
            <p:spPr>
              <a:xfrm>
                <a:off x="6662089" y="4910156"/>
                <a:ext cx="816645" cy="648072"/>
              </a:xfrm>
              <a:prstGeom prst="rect">
                <a:avLst/>
              </a:prstGeom>
              <a:blipFill>
                <a:blip r:embed="rId4"/>
                <a:stretch>
                  <a:fillRect l="-746"/>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338810C0-AED6-3577-1F70-8EC5B2F9BCC3}"/>
              </a:ext>
            </a:extLst>
          </p:cNvPr>
          <p:cNvSpPr txBox="1"/>
          <p:nvPr/>
        </p:nvSpPr>
        <p:spPr>
          <a:xfrm>
            <a:off x="6660232" y="3789040"/>
            <a:ext cx="544029" cy="1173844"/>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MHA</a:t>
            </a:r>
          </a:p>
          <a:p>
            <a:pPr>
              <a:lnSpc>
                <a:spcPct val="150000"/>
              </a:lnSpc>
            </a:pPr>
            <a:r>
              <a:rPr lang="en-US" altLang="zh-TW" sz="1200" dirty="0">
                <a:latin typeface="Comic Sans MS" panose="030F0702030302020204" pitchFamily="66" charset="0"/>
                <a:ea typeface="Cambria Math" panose="02040503050406030204" pitchFamily="18" charset="0"/>
              </a:rPr>
              <a:t>MQA</a:t>
            </a:r>
          </a:p>
          <a:p>
            <a:pPr>
              <a:lnSpc>
                <a:spcPct val="150000"/>
              </a:lnSpc>
            </a:pPr>
            <a:r>
              <a:rPr lang="en-US" altLang="zh-TW" sz="1200" dirty="0">
                <a:latin typeface="Comic Sans MS" panose="030F0702030302020204" pitchFamily="66" charset="0"/>
                <a:ea typeface="Cambria Math" panose="02040503050406030204" pitchFamily="18" charset="0"/>
              </a:rPr>
              <a:t>MGA</a:t>
            </a:r>
          </a:p>
          <a:p>
            <a:pPr>
              <a:lnSpc>
                <a:spcPct val="150000"/>
              </a:lnSpc>
            </a:pPr>
            <a:r>
              <a:rPr lang="en-US" altLang="zh-TW" sz="1200" dirty="0">
                <a:latin typeface="Comic Sans MS" panose="030F0702030302020204" pitchFamily="66" charset="0"/>
                <a:ea typeface="Cambria Math" panose="02040503050406030204" pitchFamily="18" charset="0"/>
              </a:rPr>
              <a:t>MLA</a:t>
            </a:r>
            <a:endParaRPr lang="en-US" altLang="zh-TW" sz="1200" dirty="0">
              <a:latin typeface="Cambria Math" panose="02040503050406030204" pitchFamily="18" charset="0"/>
              <a:ea typeface="Cambria Math" panose="02040503050406030204" pitchFamily="18" charset="0"/>
            </a:endParaRPr>
          </a:p>
        </p:txBody>
      </p:sp>
      <p:sp>
        <p:nvSpPr>
          <p:cNvPr id="5" name="標題 1">
            <a:extLst>
              <a:ext uri="{FF2B5EF4-FFF2-40B4-BE49-F238E27FC236}">
                <a16:creationId xmlns:a16="http://schemas.microsoft.com/office/drawing/2014/main" id="{83A2C2DA-95F6-D4B9-9295-935254E22C7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Transformer vs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標題 1">
            <a:extLst>
              <a:ext uri="{FF2B5EF4-FFF2-40B4-BE49-F238E27FC236}">
                <a16:creationId xmlns:a16="http://schemas.microsoft.com/office/drawing/2014/main" id="{FEA15954-7237-27AE-300F-D7D5C6148D10}"/>
              </a:ext>
            </a:extLst>
          </p:cNvPr>
          <p:cNvSpPr txBox="1">
            <a:spLocks/>
          </p:cNvSpPr>
          <p:nvPr/>
        </p:nvSpPr>
        <p:spPr>
          <a:xfrm>
            <a:off x="6660232" y="985742"/>
            <a:ext cx="2304256" cy="2299241"/>
          </a:xfrm>
          <a:prstGeom prst="rect">
            <a:avLst/>
          </a:prstGeom>
        </p:spPr>
        <p:txBody>
          <a:bodyPr wrap="none" lIns="91440" tIns="0" rIns="0" bIns="0"/>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ML</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Establish a model to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predict unknown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outcomes</a:t>
            </a:r>
            <a:br>
              <a:rPr lang="en-US" altLang="zh-TW" sz="1200" dirty="0">
                <a:latin typeface="Noto Sans HK" panose="020B0200000000000000" pitchFamily="34" charset="-120"/>
                <a:ea typeface="Noto Sans HK" panose="020B0200000000000000" pitchFamily="34" charset="-120"/>
                <a:cs typeface="Arial" panose="020B0604020202020204" pitchFamily="34" charset="0"/>
              </a:rPr>
            </a:br>
            <a:r>
              <a:rPr lang="en-US" altLang="zh-TW" sz="1200" dirty="0">
                <a:latin typeface="Noto Sans HK" panose="020B0200000000000000" pitchFamily="34" charset="-120"/>
                <a:ea typeface="Noto Sans HK" panose="020B0200000000000000" pitchFamily="34" charset="-120"/>
                <a:cs typeface="Arial" panose="020B0604020202020204" pitchFamily="34" charset="0"/>
              </a:rPr>
              <a:t>(Probability Distribution)</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GPT</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Establish a language model to</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predict next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token</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Pretraining</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Figure out the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parameters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in the model</a:t>
            </a:r>
          </a:p>
          <a:p>
            <a:pPr marL="171450" indent="-171450">
              <a:buFont typeface="Arial" panose="020B0604020202020204" pitchFamily="34" charset="0"/>
              <a:buChar char="•"/>
            </a:pPr>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15332940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1134904"/>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dirty="0"/>
              <a:t>Parameters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Attention Weights</a:t>
            </a:r>
            <a:r>
              <a:rPr lang="en-US" altLang="zh-TW" sz="1600" b="0" u="none" strike="noStrike" dirty="0">
                <a:effectLst/>
              </a:rPr>
              <a:t>: </a:t>
            </a:r>
            <a:r>
              <a:rPr lang="en-US" altLang="zh-TW" sz="1600" dirty="0" err="1"/>
              <a:t>WQ</a:t>
            </a:r>
            <a:r>
              <a:rPr lang="en-US" altLang="zh-TW" sz="1600" baseline="-25000" dirty="0" err="1"/>
              <a:t>dxd</a:t>
            </a:r>
            <a:r>
              <a:rPr lang="en-US" altLang="zh-TW" sz="1600" dirty="0"/>
              <a:t>, </a:t>
            </a:r>
            <a:r>
              <a:rPr lang="en-US" altLang="zh-TW" sz="1600" dirty="0" err="1"/>
              <a:t>WK</a:t>
            </a:r>
            <a:r>
              <a:rPr lang="en-US" altLang="zh-TW" sz="1600" baseline="-25000" dirty="0" err="1"/>
              <a:t>dxd</a:t>
            </a:r>
            <a:r>
              <a:rPr lang="en-US" altLang="zh-TW" sz="1600" dirty="0"/>
              <a:t>, </a:t>
            </a:r>
            <a:r>
              <a:rPr lang="en-US" altLang="zh-TW" sz="1600" dirty="0" err="1"/>
              <a:t>WV</a:t>
            </a:r>
            <a:r>
              <a:rPr lang="en-US" altLang="zh-TW" sz="1600" baseline="-25000" dirty="0" err="1"/>
              <a:t>dxd</a:t>
            </a:r>
            <a:r>
              <a:rPr lang="en-US" altLang="zh-TW" sz="1600" dirty="0"/>
              <a:t>,</a:t>
            </a:r>
            <a:r>
              <a:rPr lang="zh-TW" altLang="en-US" sz="1600" dirty="0"/>
              <a:t> </a:t>
            </a:r>
            <a:r>
              <a:rPr lang="en-US" altLang="zh-TW" sz="1600" dirty="0" err="1"/>
              <a:t>WO</a:t>
            </a:r>
            <a:r>
              <a:rPr lang="en-US" altLang="zh-TW" sz="1600" baseline="-25000" dirty="0" err="1"/>
              <a:t>dxd</a:t>
            </a:r>
            <a:r>
              <a:rPr lang="en-US" altLang="zh-TW" sz="1600" dirty="0"/>
              <a:t> .</a:t>
            </a:r>
          </a:p>
          <a:p>
            <a:pPr marL="285750" indent="-285750">
              <a:lnSpc>
                <a:spcPts val="1800"/>
              </a:lnSpc>
              <a:spcBef>
                <a:spcPts val="600"/>
              </a:spcBef>
              <a:spcAft>
                <a:spcPts val="600"/>
              </a:spcAft>
              <a:buFont typeface="Wingdings" panose="05000000000000000000" pitchFamily="2" charset="2"/>
              <a:buChar char="Ø"/>
            </a:pPr>
            <a:r>
              <a:rPr lang="en-US" altLang="zh-TW" sz="1600" b="1" dirty="0"/>
              <a:t>FFN Weights</a:t>
            </a:r>
            <a:r>
              <a:rPr lang="en-US" altLang="zh-TW" sz="1600" b="0" u="none" strike="noStrike" dirty="0">
                <a:effectLst/>
              </a:rPr>
              <a:t>: </a:t>
            </a:r>
            <a:r>
              <a:rPr lang="en-US" altLang="zh-TW" sz="1600" dirty="0" err="1"/>
              <a:t>A</a:t>
            </a:r>
            <a:r>
              <a:rPr lang="en-US" altLang="zh-TW" sz="1600" baseline="-25000" dirty="0" err="1"/>
              <a:t>dxd</a:t>
            </a:r>
            <a:r>
              <a:rPr lang="en-US" altLang="zh-TW" sz="1600" dirty="0"/>
              <a:t>, </a:t>
            </a:r>
            <a:r>
              <a:rPr lang="en-US" altLang="zh-TW" sz="1600" dirty="0" err="1"/>
              <a:t>U</a:t>
            </a:r>
            <a:r>
              <a:rPr lang="en-US" altLang="zh-TW" sz="1600" baseline="-25000" dirty="0" err="1"/>
              <a:t>dxd</a:t>
            </a:r>
            <a:r>
              <a:rPr lang="en-US" altLang="zh-TW" sz="1600" dirty="0"/>
              <a:t>, </a:t>
            </a:r>
            <a:r>
              <a:rPr lang="en-US" altLang="zh-TW" sz="1600" dirty="0" err="1"/>
              <a:t>D</a:t>
            </a:r>
            <a:r>
              <a:rPr lang="en-US" altLang="zh-TW" sz="1600" baseline="-25000" dirty="0" err="1"/>
              <a:t>dxd</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Vocabulary Token Embedding</a:t>
            </a:r>
            <a:r>
              <a:rPr lang="en-US" altLang="zh-TW" sz="1600" dirty="0"/>
              <a:t>:</a:t>
            </a:r>
            <a:r>
              <a:rPr lang="zh-TW" altLang="en-US" sz="1600" dirty="0"/>
              <a:t> </a:t>
            </a:r>
            <a:r>
              <a:rPr lang="en-US" altLang="zh-TW" sz="1600" dirty="0"/>
              <a:t>[ V</a:t>
            </a:r>
            <a:r>
              <a:rPr lang="en-US" altLang="zh-TW" sz="1600" baseline="-25000" dirty="0"/>
              <a:t>E </a:t>
            </a:r>
            <a:r>
              <a:rPr lang="en-US" altLang="zh-TW" sz="1600" dirty="0"/>
              <a:t>] </a:t>
            </a:r>
            <a:r>
              <a:rPr lang="en-US" altLang="zh-TW" sz="1600" baseline="-25000" dirty="0" err="1"/>
              <a:t>Nxd</a:t>
            </a:r>
            <a:r>
              <a:rPr lang="en-US" altLang="zh-TW" sz="1600" baseline="-25000" dirty="0"/>
              <a:t>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err="1">
                <a:effectLst/>
              </a:rPr>
              <a:t>MoE</a:t>
            </a:r>
            <a:r>
              <a:rPr lang="en-US" altLang="zh-TW" sz="1600" b="1" u="none" strike="noStrike" dirty="0">
                <a:effectLst/>
              </a:rPr>
              <a:t> Gating Matrix</a:t>
            </a:r>
            <a:r>
              <a:rPr lang="en-US" altLang="zh-TW" sz="1600" u="none" strike="noStrike" dirty="0">
                <a:effectLst/>
              </a:rPr>
              <a:t>: </a:t>
            </a:r>
            <a:r>
              <a:rPr lang="en-US" altLang="zh-TW" sz="1600" dirty="0"/>
              <a:t>[ R</a:t>
            </a:r>
            <a:r>
              <a:rPr lang="en-US" altLang="zh-TW" sz="1600" baseline="-25000" dirty="0"/>
              <a:t>E </a:t>
            </a:r>
            <a:r>
              <a:rPr lang="en-US" altLang="zh-TW" sz="1600" dirty="0"/>
              <a:t>] </a:t>
            </a:r>
            <a:r>
              <a:rPr lang="en-US" altLang="zh-TW" sz="1600" baseline="-25000" dirty="0"/>
              <a:t>dx16</a:t>
            </a:r>
            <a:r>
              <a:rPr lang="en-US" altLang="zh-TW" sz="1600" dirty="0"/>
              <a:t>.</a:t>
            </a:r>
          </a:p>
        </p:txBody>
      </p:sp>
      <p:sp>
        <p:nvSpPr>
          <p:cNvPr id="3" name="標題 1">
            <a:extLst>
              <a:ext uri="{FF2B5EF4-FFF2-40B4-BE49-F238E27FC236}">
                <a16:creationId xmlns:a16="http://schemas.microsoft.com/office/drawing/2014/main" id="{1A7D37EB-7260-5EE5-CFCC-9F3D3BBA2B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How to train a GPT model from scratch?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2" name="文字方塊 1">
            <a:extLst>
              <a:ext uri="{FF2B5EF4-FFF2-40B4-BE49-F238E27FC236}">
                <a16:creationId xmlns:a16="http://schemas.microsoft.com/office/drawing/2014/main" id="{F9874F25-7ABB-161C-F98E-6F5A79B9D916}"/>
              </a:ext>
            </a:extLst>
          </p:cNvPr>
          <p:cNvSpPr txBox="1"/>
          <p:nvPr/>
        </p:nvSpPr>
        <p:spPr>
          <a:xfrm>
            <a:off x="755576" y="3976960"/>
            <a:ext cx="1700345" cy="828324"/>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Pre-Training</a:t>
            </a:r>
          </a:p>
          <a:p>
            <a:pPr algn="ctr">
              <a:lnSpc>
                <a:spcPts val="1400"/>
              </a:lnSpc>
              <a:buNone/>
            </a:pPr>
            <a:r>
              <a:rPr lang="en-US" altLang="zh-TW" sz="1200" dirty="0"/>
              <a:t>Self Supervised Learning</a:t>
            </a:r>
            <a:endParaRPr lang="en-US" altLang="zh-TW" sz="1200" u="none" strike="noStrike" dirty="0">
              <a:effectLst/>
            </a:endParaRPr>
          </a:p>
        </p:txBody>
      </p:sp>
      <p:sp>
        <p:nvSpPr>
          <p:cNvPr id="4" name="文字方塊 3">
            <a:extLst>
              <a:ext uri="{FF2B5EF4-FFF2-40B4-BE49-F238E27FC236}">
                <a16:creationId xmlns:a16="http://schemas.microsoft.com/office/drawing/2014/main" id="{E2673DE9-E1DA-1BC0-C354-0BA00FE84EA6}"/>
              </a:ext>
            </a:extLst>
          </p:cNvPr>
          <p:cNvSpPr txBox="1"/>
          <p:nvPr/>
        </p:nvSpPr>
        <p:spPr>
          <a:xfrm>
            <a:off x="2655631" y="3976960"/>
            <a:ext cx="1700345" cy="828324"/>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Distillation</a:t>
            </a:r>
          </a:p>
          <a:p>
            <a:pPr algn="ctr">
              <a:lnSpc>
                <a:spcPts val="1400"/>
              </a:lnSpc>
              <a:buNone/>
            </a:pPr>
            <a:r>
              <a:rPr lang="en-US" altLang="zh-TW" sz="1200" dirty="0"/>
              <a:t>Compact and </a:t>
            </a:r>
          </a:p>
          <a:p>
            <a:pPr algn="ctr">
              <a:lnSpc>
                <a:spcPts val="1400"/>
              </a:lnSpc>
              <a:buNone/>
            </a:pPr>
            <a:r>
              <a:rPr lang="en-US" altLang="zh-TW" sz="1200" dirty="0"/>
              <a:t>resource-efficient</a:t>
            </a:r>
          </a:p>
          <a:p>
            <a:pPr algn="ctr">
              <a:lnSpc>
                <a:spcPts val="1400"/>
              </a:lnSpc>
              <a:buNone/>
            </a:pPr>
            <a:r>
              <a:rPr lang="en-US" altLang="zh-TW" sz="1200" dirty="0"/>
              <a:t>student model.</a:t>
            </a:r>
            <a:endParaRPr lang="en-US" altLang="zh-TW" sz="1200" u="none" strike="noStrike" dirty="0">
              <a:effectLst/>
            </a:endParaRPr>
          </a:p>
        </p:txBody>
      </p:sp>
      <p:sp>
        <p:nvSpPr>
          <p:cNvPr id="5" name="文字方塊 4">
            <a:extLst>
              <a:ext uri="{FF2B5EF4-FFF2-40B4-BE49-F238E27FC236}">
                <a16:creationId xmlns:a16="http://schemas.microsoft.com/office/drawing/2014/main" id="{839B58CA-5527-9A2C-83D7-C2DB75063432}"/>
              </a:ext>
            </a:extLst>
          </p:cNvPr>
          <p:cNvSpPr txBox="1"/>
          <p:nvPr/>
        </p:nvSpPr>
        <p:spPr>
          <a:xfrm>
            <a:off x="4572000" y="3976960"/>
            <a:ext cx="1700345" cy="828324"/>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Supervised FT</a:t>
            </a:r>
          </a:p>
          <a:p>
            <a:pPr algn="ctr">
              <a:lnSpc>
                <a:spcPts val="1400"/>
              </a:lnSpc>
              <a:buNone/>
            </a:pPr>
            <a:r>
              <a:rPr lang="en-US" altLang="zh-TW" sz="1200" dirty="0"/>
              <a:t>Quality is all you need.</a:t>
            </a:r>
          </a:p>
          <a:p>
            <a:pPr algn="ctr">
              <a:lnSpc>
                <a:spcPts val="1400"/>
              </a:lnSpc>
              <a:buNone/>
            </a:pPr>
            <a:endParaRPr lang="en-US" altLang="zh-TW" sz="1200" u="none" strike="noStrike" dirty="0">
              <a:effectLst/>
            </a:endParaRPr>
          </a:p>
        </p:txBody>
      </p:sp>
      <p:sp>
        <p:nvSpPr>
          <p:cNvPr id="6" name="文字方塊 5">
            <a:extLst>
              <a:ext uri="{FF2B5EF4-FFF2-40B4-BE49-F238E27FC236}">
                <a16:creationId xmlns:a16="http://schemas.microsoft.com/office/drawing/2014/main" id="{5E7D5B07-0C81-3829-646F-BE3581FDD6C8}"/>
              </a:ext>
            </a:extLst>
          </p:cNvPr>
          <p:cNvSpPr txBox="1"/>
          <p:nvPr/>
        </p:nvSpPr>
        <p:spPr>
          <a:xfrm>
            <a:off x="6472055" y="3976960"/>
            <a:ext cx="1700345" cy="828324"/>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5">
                    <a:lumMod val="75000"/>
                  </a:schemeClr>
                </a:solidFill>
              </a:rPr>
              <a:t>RLHF</a:t>
            </a:r>
            <a:endParaRPr lang="en-US" altLang="zh-TW" sz="1400" b="1" u="none" strike="noStrike" dirty="0">
              <a:solidFill>
                <a:schemeClr val="accent5">
                  <a:lumMod val="75000"/>
                </a:schemeClr>
              </a:solidFill>
              <a:effectLst/>
            </a:endParaRPr>
          </a:p>
          <a:p>
            <a:pPr algn="ctr">
              <a:lnSpc>
                <a:spcPts val="1400"/>
              </a:lnSpc>
              <a:buNone/>
            </a:pPr>
            <a:r>
              <a:rPr lang="en-US" altLang="zh-TW" sz="1200" dirty="0"/>
              <a:t>Human involvement with</a:t>
            </a:r>
          </a:p>
          <a:p>
            <a:pPr algn="ctr">
              <a:lnSpc>
                <a:spcPts val="1400"/>
              </a:lnSpc>
              <a:buNone/>
            </a:pPr>
            <a:r>
              <a:rPr lang="en-US" altLang="zh-TW" sz="1200" dirty="0"/>
              <a:t>specialized knowledge.</a:t>
            </a:r>
          </a:p>
          <a:p>
            <a:pPr algn="ctr">
              <a:lnSpc>
                <a:spcPts val="1400"/>
              </a:lnSpc>
              <a:buNone/>
            </a:pPr>
            <a:r>
              <a:rPr lang="en-US" altLang="zh-TW" sz="1200" dirty="0"/>
              <a:t>DPO</a:t>
            </a:r>
            <a:endParaRPr lang="en-US" altLang="zh-TW" sz="1200" u="none" strike="noStrike" dirty="0">
              <a:effectLst/>
            </a:endParaRPr>
          </a:p>
        </p:txBody>
      </p:sp>
      <p:sp>
        <p:nvSpPr>
          <p:cNvPr id="14" name="標題 1">
            <a:extLst>
              <a:ext uri="{FF2B5EF4-FFF2-40B4-BE49-F238E27FC236}">
                <a16:creationId xmlns:a16="http://schemas.microsoft.com/office/drawing/2014/main" id="{53D805CC-C4A6-0A54-47BD-CA6E0B531067}"/>
              </a:ext>
            </a:extLst>
          </p:cNvPr>
          <p:cNvSpPr txBox="1">
            <a:spLocks/>
          </p:cNvSpPr>
          <p:nvPr/>
        </p:nvSpPr>
        <p:spPr>
          <a:xfrm>
            <a:off x="4938036" y="884187"/>
            <a:ext cx="4026452" cy="960638"/>
          </a:xfrm>
          <a:prstGeom prst="rect">
            <a:avLst/>
          </a:prstGeom>
        </p:spPr>
        <p:txBody>
          <a:bodyPr wrap="none" lIns="91440" tIns="0" rIns="0" bIns="0"/>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Noto Sans HK" panose="020B0200000000000000" pitchFamily="34" charset="-120"/>
                <a:ea typeface="Noto Sans HK" panose="020B0200000000000000" pitchFamily="34" charset="-120"/>
                <a:cs typeface="Arial" panose="020B0604020202020204" pitchFamily="34" charset="0"/>
              </a:rPr>
              <a:t>ML: Establish a model to predict unknown outcomes</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GPT: Establish a language model to predict next token</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Pretraining: Figure out a set of parameters </a:t>
            </a:r>
          </a:p>
        </p:txBody>
      </p:sp>
      <p:sp>
        <p:nvSpPr>
          <p:cNvPr id="18" name="右大括弧 17">
            <a:extLst>
              <a:ext uri="{FF2B5EF4-FFF2-40B4-BE49-F238E27FC236}">
                <a16:creationId xmlns:a16="http://schemas.microsoft.com/office/drawing/2014/main" id="{88A7DCEE-72D3-E97E-75B4-E98392FD0AF8}"/>
              </a:ext>
            </a:extLst>
          </p:cNvPr>
          <p:cNvSpPr/>
          <p:nvPr/>
        </p:nvSpPr>
        <p:spPr>
          <a:xfrm rot="16200000">
            <a:off x="5319608" y="1024953"/>
            <a:ext cx="188816" cy="551676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9" name="標題 1">
            <a:extLst>
              <a:ext uri="{FF2B5EF4-FFF2-40B4-BE49-F238E27FC236}">
                <a16:creationId xmlns:a16="http://schemas.microsoft.com/office/drawing/2014/main" id="{9073DEBF-201F-5054-4A3D-D53D81C644C4}"/>
              </a:ext>
            </a:extLst>
          </p:cNvPr>
          <p:cNvSpPr txBox="1">
            <a:spLocks/>
          </p:cNvSpPr>
          <p:nvPr/>
        </p:nvSpPr>
        <p:spPr>
          <a:xfrm>
            <a:off x="4716016" y="3212976"/>
            <a:ext cx="1368152" cy="475952"/>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Noto Sans HK" panose="020B0200000000000000" pitchFamily="34" charset="-120"/>
                <a:ea typeface="Noto Sans HK" panose="020B0200000000000000" pitchFamily="34" charset="-120"/>
                <a:cs typeface="Arial" panose="020B0604020202020204" pitchFamily="34" charset="0"/>
              </a:rPr>
              <a:t>Fine Tunning</a:t>
            </a:r>
          </a:p>
          <a:p>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5580187" y="5769028"/>
            <a:ext cx="612030" cy="756316"/>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Dynamic</a:t>
            </a:r>
          </a:p>
          <a:p>
            <a:pPr algn="ctr">
              <a:lnSpc>
                <a:spcPts val="1400"/>
              </a:lnSpc>
              <a:buNone/>
            </a:pPr>
            <a:r>
              <a:rPr lang="en-US" altLang="zh-TW" sz="1200" u="none" strike="noStrike" dirty="0">
                <a:effectLst/>
              </a:rPr>
              <a:t>Weight</a:t>
            </a:r>
          </a:p>
        </p:txBody>
      </p:sp>
      <p:sp>
        <p:nvSpPr>
          <p:cNvPr id="22" name="文字方塊 21">
            <a:extLst>
              <a:ext uri="{FF2B5EF4-FFF2-40B4-BE49-F238E27FC236}">
                <a16:creationId xmlns:a16="http://schemas.microsoft.com/office/drawing/2014/main" id="{EFD67334-3066-5C26-38E7-117C94FA0A54}"/>
              </a:ext>
            </a:extLst>
          </p:cNvPr>
          <p:cNvSpPr txBox="1"/>
          <p:nvPr/>
        </p:nvSpPr>
        <p:spPr>
          <a:xfrm>
            <a:off x="6778241" y="5769028"/>
            <a:ext cx="612030" cy="756316"/>
          </a:xfrm>
          <a:prstGeom prst="rect">
            <a:avLst/>
          </a:prstGeom>
          <a:solidFill>
            <a:schemeClr val="accent3">
              <a:lumMod val="60000"/>
              <a:lumOff val="4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3">
                    <a:lumMod val="50000"/>
                  </a:schemeClr>
                </a:solidFill>
                <a:effectLst/>
              </a:rPr>
              <a:t>RAG</a:t>
            </a:r>
          </a:p>
          <a:p>
            <a:pPr algn="ctr">
              <a:lnSpc>
                <a:spcPts val="1400"/>
              </a:lnSpc>
              <a:buNone/>
            </a:pPr>
            <a:r>
              <a:rPr lang="en-US" altLang="zh-TW" sz="1200" u="none" strike="noStrike" dirty="0">
                <a:effectLst/>
              </a:rPr>
              <a:t>Temperature</a:t>
            </a:r>
          </a:p>
          <a:p>
            <a:pPr algn="ctr">
              <a:lnSpc>
                <a:spcPts val="1400"/>
              </a:lnSpc>
              <a:buNone/>
            </a:pPr>
            <a:r>
              <a:rPr lang="en-US" altLang="zh-TW" sz="1200" u="none" strike="noStrike" dirty="0">
                <a:effectLst/>
              </a:rPr>
              <a:t>Prompt</a:t>
            </a:r>
          </a:p>
        </p:txBody>
      </p:sp>
      <p:sp>
        <p:nvSpPr>
          <p:cNvPr id="23" name="文字方塊 22">
            <a:extLst>
              <a:ext uri="{FF2B5EF4-FFF2-40B4-BE49-F238E27FC236}">
                <a16:creationId xmlns:a16="http://schemas.microsoft.com/office/drawing/2014/main" id="{8EC505AC-8785-B972-D536-808B11EDAB85}"/>
              </a:ext>
            </a:extLst>
          </p:cNvPr>
          <p:cNvSpPr txBox="1"/>
          <p:nvPr/>
        </p:nvSpPr>
        <p:spPr>
          <a:xfrm>
            <a:off x="7920409" y="5769028"/>
            <a:ext cx="612030" cy="756316"/>
          </a:xfrm>
          <a:prstGeom prst="rect">
            <a:avLst/>
          </a:prstGeom>
          <a:solidFill>
            <a:schemeClr val="accent4">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4">
                    <a:lumMod val="75000"/>
                  </a:schemeClr>
                </a:solidFill>
                <a:effectLst/>
              </a:rPr>
              <a:t>MCP</a:t>
            </a:r>
          </a:p>
        </p:txBody>
      </p:sp>
      <p:cxnSp>
        <p:nvCxnSpPr>
          <p:cNvPr id="24" name="直線單箭頭接點 23">
            <a:extLst>
              <a:ext uri="{FF2B5EF4-FFF2-40B4-BE49-F238E27FC236}">
                <a16:creationId xmlns:a16="http://schemas.microsoft.com/office/drawing/2014/main" id="{2EA8B13F-2958-39C2-4B6C-3E6813294EC4}"/>
              </a:ext>
            </a:extLst>
          </p:cNvPr>
          <p:cNvCxnSpPr>
            <a:cxnSpLocks/>
            <a:stCxn id="21" idx="3"/>
            <a:endCxn id="22" idx="1"/>
          </p:cNvCxnSpPr>
          <p:nvPr/>
        </p:nvCxnSpPr>
        <p:spPr>
          <a:xfrm>
            <a:off x="6192217" y="6147186"/>
            <a:ext cx="58602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70AC85CC-6D42-5F94-D44B-1E2A20463861}"/>
              </a:ext>
            </a:extLst>
          </p:cNvPr>
          <p:cNvCxnSpPr>
            <a:cxnSpLocks/>
            <a:stCxn id="22" idx="3"/>
            <a:endCxn id="23" idx="1"/>
          </p:cNvCxnSpPr>
          <p:nvPr/>
        </p:nvCxnSpPr>
        <p:spPr>
          <a:xfrm>
            <a:off x="7390271" y="6147186"/>
            <a:ext cx="530138"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8" name="右大括弧 27">
            <a:extLst>
              <a:ext uri="{FF2B5EF4-FFF2-40B4-BE49-F238E27FC236}">
                <a16:creationId xmlns:a16="http://schemas.microsoft.com/office/drawing/2014/main" id="{A0803DCC-BE11-9775-D2EC-55EDCF477CAA}"/>
              </a:ext>
            </a:extLst>
          </p:cNvPr>
          <p:cNvSpPr/>
          <p:nvPr/>
        </p:nvSpPr>
        <p:spPr>
          <a:xfrm rot="16200000">
            <a:off x="6979792" y="4180606"/>
            <a:ext cx="153043" cy="295225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標題 1">
            <a:extLst>
              <a:ext uri="{FF2B5EF4-FFF2-40B4-BE49-F238E27FC236}">
                <a16:creationId xmlns:a16="http://schemas.microsoft.com/office/drawing/2014/main" id="{4020646C-B721-C297-5226-9CE964FEC92D}"/>
              </a:ext>
            </a:extLst>
          </p:cNvPr>
          <p:cNvSpPr txBox="1">
            <a:spLocks/>
          </p:cNvSpPr>
          <p:nvPr/>
        </p:nvSpPr>
        <p:spPr>
          <a:xfrm>
            <a:off x="6610341" y="5157249"/>
            <a:ext cx="832096" cy="38718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Noto Sans HK" panose="020B0200000000000000" pitchFamily="34" charset="-120"/>
                <a:ea typeface="Noto Sans HK" panose="020B0200000000000000" pitchFamily="34" charset="-120"/>
                <a:cs typeface="Arial" panose="020B0604020202020204" pitchFamily="34" charset="0"/>
              </a:rPr>
              <a:t>Run Time</a:t>
            </a:r>
          </a:p>
          <a:p>
            <a:r>
              <a:rPr lang="en-US" altLang="zh-TW" sz="1000" dirty="0">
                <a:latin typeface="Noto Sans HK" panose="020B0200000000000000" pitchFamily="34" charset="-120"/>
                <a:ea typeface="Noto Sans HK" panose="020B0200000000000000" pitchFamily="34" charset="-120"/>
                <a:cs typeface="Arial" panose="020B0604020202020204" pitchFamily="34" charset="0"/>
              </a:rPr>
              <a:t>(AI Agent)</a:t>
            </a:r>
          </a:p>
        </p:txBody>
      </p:sp>
      <p:sp>
        <p:nvSpPr>
          <p:cNvPr id="33" name="標題 1">
            <a:extLst>
              <a:ext uri="{FF2B5EF4-FFF2-40B4-BE49-F238E27FC236}">
                <a16:creationId xmlns:a16="http://schemas.microsoft.com/office/drawing/2014/main" id="{CC0447A7-CE70-FFDF-04DF-AACA4B272492}"/>
              </a:ext>
            </a:extLst>
          </p:cNvPr>
          <p:cNvSpPr txBox="1">
            <a:spLocks/>
          </p:cNvSpPr>
          <p:nvPr/>
        </p:nvSpPr>
        <p:spPr>
          <a:xfrm>
            <a:off x="800042" y="5200256"/>
            <a:ext cx="2736304" cy="1170071"/>
          </a:xfrm>
          <a:prstGeom prst="rect">
            <a:avLst/>
          </a:prstGeom>
        </p:spPr>
        <p:txBody>
          <a:bodyPr wrap="none" lIns="91440" tIns="0" rIns="0" bIns="0"/>
          <a:lstStyle>
            <a:lvl1pPr algn="l" defTabSz="914400" rtl="0" eaLnBrk="1" latinLnBrk="0" hangingPunct="1">
              <a:spcBef>
                <a:spcPct val="0"/>
              </a:spcBef>
              <a:buNone/>
              <a:defRPr sz="2400" kern="1200">
                <a:solidFill>
                  <a:schemeClr val="tx1"/>
                </a:solidFill>
                <a:latin typeface="+mj-lt"/>
                <a:ea typeface="+mj-ea"/>
                <a:cs typeface="+mj-cs"/>
              </a:defRPr>
            </a:lvl1pPr>
          </a:lstStyle>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Emergent Abilities</a:t>
            </a:r>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942586"/>
            <a:ext cx="9144000" cy="4214606"/>
          </a:xfrm>
          <a:prstGeom prst="rect">
            <a:avLst/>
          </a:prstGeom>
        </p:spPr>
      </p:pic>
      <p:sp>
        <p:nvSpPr>
          <p:cNvPr id="3" name="文字方塊 2">
            <a:extLst>
              <a:ext uri="{FF2B5EF4-FFF2-40B4-BE49-F238E27FC236}">
                <a16:creationId xmlns:a16="http://schemas.microsoft.com/office/drawing/2014/main" id="{DCF92771-D4A4-2312-01FC-4DB82D29717F}"/>
              </a:ext>
            </a:extLst>
          </p:cNvPr>
          <p:cNvSpPr txBox="1"/>
          <p:nvPr/>
        </p:nvSpPr>
        <p:spPr>
          <a:xfrm>
            <a:off x="4932040" y="583520"/>
            <a:ext cx="4176464" cy="1477328"/>
          </a:xfrm>
          <a:prstGeom prst="rect">
            <a:avLst/>
          </a:prstGeom>
          <a:noFill/>
        </p:spPr>
        <p:txBody>
          <a:bodyPr wrap="square">
            <a:spAutoFit/>
          </a:bodyPr>
          <a:lstStyle/>
          <a:p>
            <a:r>
              <a:rPr lang="zh-TW" altLang="en-US" sz="1000" b="1" dirty="0">
                <a:solidFill>
                  <a:schemeClr val="accent6">
                    <a:lumMod val="75000"/>
                  </a:schemeClr>
                </a:solidFill>
                <a:latin typeface="微軟正黑體" panose="020B0604030504040204" pitchFamily="34" charset="-120"/>
                <a:ea typeface="微軟正黑體" panose="020B0604030504040204" pitchFamily="34" charset="-120"/>
              </a:rPr>
              <a:t>你的設定摘要</a:t>
            </a:r>
          </a:p>
          <a:p>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GPU</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NVIDIA B200</a:t>
            </a:r>
            <a:endParaRPr lang="en-US" altLang="zh-TW" sz="1000" dirty="0">
              <a:solidFill>
                <a:schemeClr val="accent6">
                  <a:lumMod val="75000"/>
                </a:schemeClr>
              </a:solidFill>
              <a:latin typeface="微軟正黑體" panose="020B0604030504040204" pitchFamily="34" charset="-120"/>
              <a:ea typeface="微軟正黑體" panose="020B0604030504040204" pitchFamily="34" charset="-120"/>
            </a:endParaRPr>
          </a:p>
          <a:p>
            <a:r>
              <a:rPr lang="zh-TW" altLang="en-US" sz="10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Tokens</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20 Trillion</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20T</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p>
          <a:p>
            <a:r>
              <a:rPr lang="zh-TW" altLang="en-US" sz="10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Steps</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80,000 </a:t>
            </a:r>
            <a:r>
              <a:rPr lang="zh-TW" altLang="en-US" sz="1000" b="1" dirty="0">
                <a:solidFill>
                  <a:schemeClr val="accent6">
                    <a:lumMod val="75000"/>
                  </a:schemeClr>
                </a:solidFill>
                <a:latin typeface="微軟正黑體" panose="020B0604030504040204" pitchFamily="34" charset="-120"/>
                <a:ea typeface="微軟正黑體" panose="020B0604030504040204" pitchFamily="34" charset="-120"/>
              </a:rPr>
              <a:t>次</a:t>
            </a:r>
            <a:endParaRPr lang="zh-TW" altLang="en-US" sz="1000" dirty="0">
              <a:solidFill>
                <a:schemeClr val="accent6">
                  <a:lumMod val="75000"/>
                </a:schemeClr>
              </a:solidFill>
              <a:latin typeface="微軟正黑體" panose="020B0604030504040204" pitchFamily="34" charset="-120"/>
              <a:ea typeface="微軟正黑體" panose="020B0604030504040204" pitchFamily="34" charset="-120"/>
            </a:endParaRPr>
          </a:p>
          <a:p>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Model</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64 </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層、</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Dimension 8K</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（估計約 </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70B~120B </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參數等級的模型）</a:t>
            </a:r>
          </a:p>
          <a:p>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Global Batch Size</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250M tokens / step</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20T ÷ 80K</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a:t>
            </a:r>
          </a:p>
          <a:p>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Checkpoint</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：只存 </a:t>
            </a:r>
            <a:r>
              <a:rPr lang="en-US" altLang="zh-TW" sz="1000" b="1" dirty="0">
                <a:solidFill>
                  <a:schemeClr val="accent6">
                    <a:lumMod val="75000"/>
                  </a:schemeClr>
                </a:solidFill>
                <a:latin typeface="微軟正黑體" panose="020B0604030504040204" pitchFamily="34" charset="-120"/>
                <a:ea typeface="微軟正黑體" panose="020B0604030504040204" pitchFamily="34" charset="-120"/>
              </a:rPr>
              <a:t>8 </a:t>
            </a:r>
            <a:r>
              <a:rPr lang="zh-TW" altLang="en-US" sz="1000" b="1" dirty="0">
                <a:solidFill>
                  <a:schemeClr val="accent6">
                    <a:lumMod val="75000"/>
                  </a:schemeClr>
                </a:solidFill>
                <a:latin typeface="微軟正黑體" panose="020B0604030504040204" pitchFamily="34" charset="-120"/>
                <a:ea typeface="微軟正黑體" panose="020B0604030504040204" pitchFamily="34" charset="-120"/>
              </a:rPr>
              <a:t>次</a:t>
            </a:r>
            <a:endParaRPr lang="en-US" altLang="zh-TW" sz="1000" b="1" dirty="0">
              <a:solidFill>
                <a:schemeClr val="accent6">
                  <a:lumMod val="75000"/>
                </a:schemeClr>
              </a:solidFill>
              <a:latin typeface="微軟正黑體" panose="020B0604030504040204" pitchFamily="34" charset="-120"/>
              <a:ea typeface="微軟正黑體" panose="020B0604030504040204" pitchFamily="34" charset="-120"/>
            </a:endParaRPr>
          </a:p>
          <a:p>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結論：使用 </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B200</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，在 </a:t>
            </a: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45~60 </a:t>
            </a:r>
            <a:r>
              <a:rPr lang="zh-TW" altLang="en-US" sz="1000" dirty="0">
                <a:solidFill>
                  <a:schemeClr val="accent6">
                    <a:lumMod val="75000"/>
                  </a:schemeClr>
                </a:solidFill>
                <a:latin typeface="微軟正黑體" panose="020B0604030504040204" pitchFamily="34" charset="-120"/>
                <a:ea typeface="微軟正黑體" panose="020B0604030504040204" pitchFamily="34" charset="-120"/>
              </a:rPr>
              <a:t>天 內完成是合理可達成的目標。</a:t>
            </a:r>
          </a:p>
          <a:p>
            <a:endParaRPr lang="zh-TW" altLang="en-US" sz="1000" dirty="0"/>
          </a:p>
        </p:txBody>
      </p:sp>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107504" y="4432731"/>
            <a:ext cx="6372200" cy="2236629"/>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115616" y="5084537"/>
            <a:ext cx="4509946" cy="1087989"/>
          </a:xfrm>
          <a:prstGeom prst="rect">
            <a:avLst/>
          </a:prstGeom>
          <a:effectLst>
            <a:glow rad="76200">
              <a:srgbClr val="FFC000"/>
            </a:glow>
            <a:softEdge rad="12700"/>
          </a:effectLst>
        </p:spPr>
      </p:pic>
      <p:sp>
        <p:nvSpPr>
          <p:cNvPr id="4" name="標題 1">
            <a:extLst>
              <a:ext uri="{FF2B5EF4-FFF2-40B4-BE49-F238E27FC236}">
                <a16:creationId xmlns:a16="http://schemas.microsoft.com/office/drawing/2014/main" id="{E3D3C910-8498-BD0D-8A84-341310A4BF1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GPT: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6" name="標題 1">
            <a:extLst>
              <a:ext uri="{FF2B5EF4-FFF2-40B4-BE49-F238E27FC236}">
                <a16:creationId xmlns:a16="http://schemas.microsoft.com/office/drawing/2014/main" id="{2728A2E7-518F-5E1D-0A19-031CE897784B}"/>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GPT:</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Distillation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076D38B1-5B2B-0B7D-0489-32FF5F9247B5}"/>
              </a:ext>
            </a:extLst>
          </p:cNvPr>
          <p:cNvSpPr txBox="1"/>
          <p:nvPr/>
        </p:nvSpPr>
        <p:spPr>
          <a:xfrm>
            <a:off x="5796136" y="350660"/>
            <a:ext cx="1188092" cy="756316"/>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A96B259C-A21D-DBE1-BE4C-269793F1F6A3}"/>
              </a:ext>
            </a:extLst>
          </p:cNvPr>
          <p:cNvSpPr txBox="1">
            <a:spLocks/>
          </p:cNvSpPr>
          <p:nvPr/>
        </p:nvSpPr>
        <p:spPr>
          <a:xfrm>
            <a:off x="179512" y="116632"/>
            <a:ext cx="540060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 R</a:t>
            </a:r>
            <a:r>
              <a:rPr lang="en-US" altLang="zh-TW" sz="1800" dirty="0">
                <a:latin typeface="Noto Sans HK" panose="020B0200000000000000" pitchFamily="34" charset="-120"/>
                <a:ea typeface="Noto Sans HK" panose="020B0200000000000000" pitchFamily="34" charset="-120"/>
                <a:cs typeface="Aharoni" panose="020F0502020204030204" pitchFamily="2" charset="-79"/>
              </a:rPr>
              <a:t>etrieval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a:t>
            </a:r>
            <a:r>
              <a:rPr lang="en-US" altLang="zh-TW" sz="1800" dirty="0">
                <a:latin typeface="Noto Sans HK" panose="020B0200000000000000" pitchFamily="34" charset="-120"/>
                <a:ea typeface="Noto Sans HK" panose="020B0200000000000000" pitchFamily="34" charset="-120"/>
                <a:cs typeface="Aharoni" panose="020F0502020204030204" pitchFamily="2" charset="-79"/>
              </a:rPr>
              <a:t>ugmented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G</a:t>
            </a:r>
            <a:r>
              <a:rPr lang="en-US" altLang="zh-TW" sz="1800" dirty="0">
                <a:latin typeface="Noto Sans HK" panose="020B0200000000000000" pitchFamily="34" charset="-120"/>
                <a:ea typeface="Noto Sans HK" panose="020B0200000000000000" pitchFamily="34" charset="-120"/>
                <a:cs typeface="Aharoni" panose="020F0502020204030204" pitchFamily="2" charset="-79"/>
              </a:rPr>
              <a:t>eneration</a:t>
            </a:r>
            <a:endParaRPr lang="en-US" altLang="zh-TW" sz="1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980728"/>
            <a:ext cx="8568952" cy="2246769"/>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zh-TW" altLang="zh-TW" sz="1600" b="1" dirty="0"/>
              <a:t>Chunking</a:t>
            </a:r>
            <a:r>
              <a:rPr lang="en-US" altLang="zh-TW" sz="1600" b="0" u="none" strike="noStrike" dirty="0">
                <a:effectLst/>
              </a:rPr>
              <a:t>: .</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Vector Database</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Retrieval</a:t>
            </a:r>
            <a:r>
              <a:rPr lang="en-US" altLang="zh-TW" sz="1600" dirty="0"/>
              <a:t>: xx</a:t>
            </a:r>
          </a:p>
          <a:p>
            <a:pPr marL="285750" indent="-285750">
              <a:lnSpc>
                <a:spcPts val="1800"/>
              </a:lnSpc>
              <a:spcBef>
                <a:spcPts val="600"/>
              </a:spcBef>
              <a:spcAft>
                <a:spcPts val="600"/>
              </a:spcAft>
              <a:buFont typeface="Wingdings" panose="05000000000000000000" pitchFamily="2" charset="2"/>
              <a:buChar char="Ø"/>
            </a:pPr>
            <a:r>
              <a:rPr lang="en-US" altLang="zh-TW" sz="1600" b="1" dirty="0"/>
              <a:t>Augment</a:t>
            </a:r>
            <a:r>
              <a:rPr lang="en-US" altLang="zh-TW" sz="1600" dirty="0"/>
              <a:t>: xx</a:t>
            </a:r>
          </a:p>
          <a:p>
            <a:pPr marL="285750" indent="-285750">
              <a:lnSpc>
                <a:spcPts val="1800"/>
              </a:lnSpc>
              <a:spcBef>
                <a:spcPts val="600"/>
              </a:spcBef>
              <a:spcAft>
                <a:spcPts val="600"/>
              </a:spcAft>
              <a:buFont typeface="Wingdings" panose="05000000000000000000" pitchFamily="2" charset="2"/>
              <a:buChar char="Ø"/>
            </a:pPr>
            <a:r>
              <a:rPr lang="en-US" altLang="zh-TW" sz="1600" b="1" dirty="0"/>
              <a:t>Generate</a:t>
            </a:r>
            <a:r>
              <a:rPr lang="en-US" altLang="zh-TW" sz="1600" dirty="0"/>
              <a:t>: xx</a:t>
            </a:r>
          </a:p>
        </p:txBody>
      </p:sp>
      <p:pic>
        <p:nvPicPr>
          <p:cNvPr id="8" name="圖片 7">
            <a:extLst>
              <a:ext uri="{FF2B5EF4-FFF2-40B4-BE49-F238E27FC236}">
                <a16:creationId xmlns:a16="http://schemas.microsoft.com/office/drawing/2014/main" id="{512D2DAB-D089-704F-F695-06696E5ADF08}"/>
              </a:ext>
            </a:extLst>
          </p:cNvPr>
          <p:cNvPicPr>
            <a:picLocks noChangeAspect="1"/>
          </p:cNvPicPr>
          <p:nvPr/>
        </p:nvPicPr>
        <p:blipFill>
          <a:blip r:embed="rId3"/>
          <a:stretch>
            <a:fillRect/>
          </a:stretch>
        </p:blipFill>
        <p:spPr>
          <a:xfrm>
            <a:off x="2918828" y="3068960"/>
            <a:ext cx="5322568" cy="3065799"/>
          </a:xfrm>
          <a:prstGeom prst="rect">
            <a:avLst/>
          </a:prstGeom>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0" y="1565320"/>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15669</TotalTime>
  <Words>8066</Words>
  <Application>Microsoft Office PowerPoint</Application>
  <PresentationFormat>如螢幕大小 (4:3)</PresentationFormat>
  <Paragraphs>870</Paragraphs>
  <Slides>27</Slides>
  <Notes>21</Notes>
  <HiddenSlides>2</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27</vt:i4>
      </vt:variant>
    </vt:vector>
  </HeadingPairs>
  <TitlesOfParts>
    <vt:vector size="40" baseType="lpstr">
      <vt:lpstr>Dotum</vt:lpstr>
      <vt:lpstr>Google Sans</vt:lpstr>
      <vt:lpstr>Microsoft JhengHei UI</vt:lpstr>
      <vt:lpstr>Noto Sans HK</vt:lpstr>
      <vt:lpstr>STXingkai</vt:lpstr>
      <vt:lpstr>微軟正黑體</vt:lpstr>
      <vt:lpstr>微軟正黑體 Light</vt:lpstr>
      <vt:lpstr>Arial</vt:lpstr>
      <vt:lpstr>Calibri</vt:lpstr>
      <vt:lpstr>Cambria Math</vt:lpstr>
      <vt:lpstr>Comic Sans MS</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1576</cp:revision>
  <cp:lastPrinted>2024-07-30T01:44:15Z</cp:lastPrinted>
  <dcterms:created xsi:type="dcterms:W3CDTF">2019-11-08T03:01:47Z</dcterms:created>
  <dcterms:modified xsi:type="dcterms:W3CDTF">2026-06-26T09:00:11Z</dcterms:modified>
</cp:coreProperties>
</file>