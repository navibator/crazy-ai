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0"/>
  </p:notesMasterIdLst>
  <p:handoutMasterIdLst>
    <p:handoutMasterId r:id="rId51"/>
  </p:handoutMasterIdLst>
  <p:sldIdLst>
    <p:sldId id="3459" r:id="rId2"/>
    <p:sldId id="3472" r:id="rId3"/>
    <p:sldId id="3511" r:id="rId4"/>
    <p:sldId id="3504" r:id="rId5"/>
    <p:sldId id="3427" r:id="rId6"/>
    <p:sldId id="3503" r:id="rId7"/>
    <p:sldId id="3470" r:id="rId8"/>
    <p:sldId id="3471" r:id="rId9"/>
    <p:sldId id="3482" r:id="rId10"/>
    <p:sldId id="3557" r:id="rId11"/>
    <p:sldId id="3483" r:id="rId12"/>
    <p:sldId id="3428" r:id="rId13"/>
    <p:sldId id="3451" r:id="rId14"/>
    <p:sldId id="3552" r:id="rId15"/>
    <p:sldId id="3465" r:id="rId16"/>
    <p:sldId id="3484" r:id="rId17"/>
    <p:sldId id="3508" r:id="rId18"/>
    <p:sldId id="3505" r:id="rId19"/>
    <p:sldId id="3507" r:id="rId20"/>
    <p:sldId id="3460" r:id="rId21"/>
    <p:sldId id="3509" r:id="rId22"/>
    <p:sldId id="3479" r:id="rId23"/>
    <p:sldId id="3467" r:id="rId24"/>
    <p:sldId id="3531" r:id="rId25"/>
    <p:sldId id="3499" r:id="rId26"/>
    <p:sldId id="3444" r:id="rId27"/>
    <p:sldId id="3532" r:id="rId28"/>
    <p:sldId id="3520" r:id="rId29"/>
    <p:sldId id="3518" r:id="rId30"/>
    <p:sldId id="3475" r:id="rId31"/>
    <p:sldId id="3527" r:id="rId32"/>
    <p:sldId id="3550" r:id="rId33"/>
    <p:sldId id="3551" r:id="rId34"/>
    <p:sldId id="3515" r:id="rId35"/>
    <p:sldId id="3556" r:id="rId36"/>
    <p:sldId id="3528" r:id="rId37"/>
    <p:sldId id="3514" r:id="rId38"/>
    <p:sldId id="3529" r:id="rId39"/>
    <p:sldId id="3555" r:id="rId40"/>
    <p:sldId id="3553" r:id="rId41"/>
    <p:sldId id="3554" r:id="rId42"/>
    <p:sldId id="3549" r:id="rId43"/>
    <p:sldId id="3519" r:id="rId44"/>
    <p:sldId id="3530" r:id="rId45"/>
    <p:sldId id="269" r:id="rId46"/>
    <p:sldId id="270" r:id="rId47"/>
    <p:sldId id="257" r:id="rId48"/>
    <p:sldId id="265" r:id="rId49"/>
  </p:sldIdLst>
  <p:sldSz cx="9144000" cy="6858000" type="screen4x3"/>
  <p:notesSz cx="6797675" cy="992505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ttention Is All You Need" id="{30F6892D-1922-4A88-A82D-8CD0653C5411}">
          <p14:sldIdLst>
            <p14:sldId id="3459"/>
            <p14:sldId id="3472"/>
            <p14:sldId id="3511"/>
          </p14:sldIdLst>
        </p14:section>
        <p14:section name="Machine Learning" id="{B661AA10-C3FF-4E46-A114-E951FEA8A6DC}">
          <p14:sldIdLst>
            <p14:sldId id="3504"/>
            <p14:sldId id="3427"/>
            <p14:sldId id="3503"/>
          </p14:sldIdLst>
        </p14:section>
        <p14:section name="Transformer" id="{91BFD2B5-A843-4933-9519-5889D1D7895D}">
          <p14:sldIdLst>
            <p14:sldId id="3470"/>
            <p14:sldId id="3471"/>
            <p14:sldId id="3482"/>
            <p14:sldId id="3557"/>
            <p14:sldId id="3483"/>
            <p14:sldId id="3428"/>
            <p14:sldId id="3451"/>
            <p14:sldId id="3552"/>
          </p14:sldIdLst>
        </p14:section>
        <p14:section name="OpenAI-GPT" id="{5A048767-0D58-44AF-B962-12C29493294F}">
          <p14:sldIdLst>
            <p14:sldId id="3465"/>
            <p14:sldId id="3484"/>
            <p14:sldId id="3508"/>
            <p14:sldId id="3505"/>
          </p14:sldIdLst>
        </p14:section>
        <p14:section name="Hardware" id="{69C35067-BEF2-4B7C-9B54-B6977EB05C72}">
          <p14:sldIdLst>
            <p14:sldId id="3507"/>
            <p14:sldId id="3460"/>
            <p14:sldId id="3509"/>
            <p14:sldId id="3479"/>
          </p14:sldIdLst>
        </p14:section>
        <p14:section name="MS-bitNet" id="{8BFD7CAD-ECFE-4ED7-B08B-0E68D3D2B9C8}">
          <p14:sldIdLst>
            <p14:sldId id="3467"/>
          </p14:sldIdLst>
        </p14:section>
        <p14:section name="Edge AI" id="{53FF88DE-B3A4-42C9-8839-DDE9CA6AA9E3}">
          <p14:sldIdLst>
            <p14:sldId id="3531"/>
            <p14:sldId id="3499"/>
            <p14:sldId id="3444"/>
            <p14:sldId id="3532"/>
            <p14:sldId id="3520"/>
            <p14:sldId id="3518"/>
            <p14:sldId id="3475"/>
          </p14:sldIdLst>
        </p14:section>
        <p14:section name="Google-Gemma" id="{4AE07F0F-1A3A-4225-AACF-3E87DCBDDC1F}">
          <p14:sldIdLst>
            <p14:sldId id="3527"/>
            <p14:sldId id="3550"/>
            <p14:sldId id="3551"/>
            <p14:sldId id="3515"/>
            <p14:sldId id="3556"/>
            <p14:sldId id="3528"/>
            <p14:sldId id="3514"/>
            <p14:sldId id="3529"/>
          </p14:sldIdLst>
        </p14:section>
        <p14:section name="Conclusion" id="{D9E6914C-A73F-4176-B0F8-3F87EAC09119}">
          <p14:sldIdLst>
            <p14:sldId id="3555"/>
            <p14:sldId id="3553"/>
            <p14:sldId id="3554"/>
            <p14:sldId id="3549"/>
          </p14:sldIdLst>
        </p14:section>
        <p14:section name="Practice" id="{AB14B10E-2A9D-450D-89ED-7B2D6325130A}">
          <p14:sldIdLst>
            <p14:sldId id="3519"/>
            <p14:sldId id="3530"/>
            <p14:sldId id="269"/>
            <p14:sldId id="270"/>
            <p14:sldId id="257"/>
            <p14:sldId id="265"/>
          </p14:sldIdLst>
        </p14:section>
      </p14:sectionLst>
    </p:ext>
    <p:ext uri="{EFAFB233-063F-42B5-8137-9DF3F51BA10A}">
      <p15:sldGuideLst xmlns:p15="http://schemas.microsoft.com/office/powerpoint/2012/main">
        <p15:guide id="1" orient="horz" pos="2160">
          <p15:clr>
            <a:srgbClr val="A4A3A4"/>
          </p15:clr>
        </p15:guide>
        <p15:guide id="2" pos="147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F1DDEA-D49D-B2A5-9D83-8BDFFC6C721F}" name="Allen Ni(倪士凱)" initials="AN" userId="S::ani@centrilliontech.com.tw::64a9ee61-01eb-41d1-8925-9f522fa76fb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DB"/>
    <a:srgbClr val="2260DC"/>
    <a:srgbClr val="F0F0F0"/>
    <a:srgbClr val="F8D462"/>
    <a:srgbClr val="4C6BFF"/>
    <a:srgbClr val="FF9900"/>
    <a:srgbClr val="FEC203"/>
    <a:srgbClr val="3079EF"/>
    <a:srgbClr val="B8EACA"/>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0" autoAdjust="0"/>
    <p:restoredTop sz="68145" autoAdjust="0"/>
  </p:normalViewPr>
  <p:slideViewPr>
    <p:cSldViewPr>
      <p:cViewPr>
        <p:scale>
          <a:sx n="100" d="100"/>
          <a:sy n="100" d="100"/>
        </p:scale>
        <p:origin x="1584" y="738"/>
      </p:cViewPr>
      <p:guideLst>
        <p:guide orient="horz" pos="2160"/>
        <p:guide pos="1474"/>
      </p:guideLst>
    </p:cSldViewPr>
  </p:slideViewPr>
  <p:outlineViewPr>
    <p:cViewPr>
      <p:scale>
        <a:sx n="33" d="100"/>
        <a:sy n="33" d="100"/>
      </p:scale>
      <p:origin x="0" y="-1075"/>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6" d="100"/>
          <a:sy n="96" d="100"/>
        </p:scale>
        <p:origin x="278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8/10/relationships/authors" Target="author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509AA70-DCA8-F2B3-665C-D289623E1626}"/>
              </a:ext>
            </a:extLst>
          </p:cNvPr>
          <p:cNvSpPr>
            <a:spLocks noGrp="1"/>
          </p:cNvSpPr>
          <p:nvPr>
            <p:ph type="hdr" sz="quarter"/>
          </p:nvPr>
        </p:nvSpPr>
        <p:spPr>
          <a:xfrm>
            <a:off x="2" y="0"/>
            <a:ext cx="2945659" cy="497976"/>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260D9017-2A20-36CB-3124-1CE24A164FFA}"/>
              </a:ext>
            </a:extLst>
          </p:cNvPr>
          <p:cNvSpPr>
            <a:spLocks noGrp="1"/>
          </p:cNvSpPr>
          <p:nvPr>
            <p:ph type="dt" sz="quarter" idx="1"/>
          </p:nvPr>
        </p:nvSpPr>
        <p:spPr>
          <a:xfrm>
            <a:off x="3850445" y="0"/>
            <a:ext cx="2945659" cy="497976"/>
          </a:xfrm>
          <a:prstGeom prst="rect">
            <a:avLst/>
          </a:prstGeom>
        </p:spPr>
        <p:txBody>
          <a:bodyPr vert="horz" lIns="91430" tIns="45714" rIns="91430" bIns="45714" rtlCol="0"/>
          <a:lstStyle>
            <a:lvl1pPr algn="r">
              <a:defRPr sz="1200"/>
            </a:lvl1pPr>
          </a:lstStyle>
          <a:p>
            <a:fld id="{982F7CBC-87DD-4F69-8F50-7ED68F7FF790}" type="datetimeFigureOut">
              <a:rPr lang="zh-TW" altLang="en-US" smtClean="0"/>
              <a:t>2026/9/7</a:t>
            </a:fld>
            <a:endParaRPr lang="zh-TW" altLang="en-US"/>
          </a:p>
        </p:txBody>
      </p:sp>
      <p:sp>
        <p:nvSpPr>
          <p:cNvPr id="4" name="頁尾版面配置區 3">
            <a:extLst>
              <a:ext uri="{FF2B5EF4-FFF2-40B4-BE49-F238E27FC236}">
                <a16:creationId xmlns:a16="http://schemas.microsoft.com/office/drawing/2014/main" id="{72E2BC4B-E97F-2930-F9D4-22EF7E0E14E0}"/>
              </a:ext>
            </a:extLst>
          </p:cNvPr>
          <p:cNvSpPr>
            <a:spLocks noGrp="1"/>
          </p:cNvSpPr>
          <p:nvPr>
            <p:ph type="ftr" sz="quarter" idx="2"/>
          </p:nvPr>
        </p:nvSpPr>
        <p:spPr>
          <a:xfrm>
            <a:off x="2" y="9427077"/>
            <a:ext cx="2945659" cy="497975"/>
          </a:xfrm>
          <a:prstGeom prst="rect">
            <a:avLst/>
          </a:prstGeom>
        </p:spPr>
        <p:txBody>
          <a:bodyPr vert="horz" lIns="91430" tIns="45714" rIns="91430" bIns="45714"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F9105500-21C2-E70A-A08C-9E9E3094A4E0}"/>
              </a:ext>
            </a:extLst>
          </p:cNvPr>
          <p:cNvSpPr>
            <a:spLocks noGrp="1"/>
          </p:cNvSpPr>
          <p:nvPr>
            <p:ph type="sldNum" sz="quarter" idx="3"/>
          </p:nvPr>
        </p:nvSpPr>
        <p:spPr>
          <a:xfrm>
            <a:off x="3850445" y="9427077"/>
            <a:ext cx="2945659" cy="497975"/>
          </a:xfrm>
          <a:prstGeom prst="rect">
            <a:avLst/>
          </a:prstGeom>
        </p:spPr>
        <p:txBody>
          <a:bodyPr vert="horz" lIns="91430" tIns="45714" rIns="91430" bIns="45714" rtlCol="0" anchor="b"/>
          <a:lstStyle>
            <a:lvl1pPr algn="r">
              <a:defRPr sz="1200"/>
            </a:lvl1pPr>
          </a:lstStyle>
          <a:p>
            <a:fld id="{30EF305C-901E-49EC-B839-B172F9488209}" type="slidenum">
              <a:rPr lang="zh-TW" altLang="en-US" smtClean="0"/>
              <a:t>‹#›</a:t>
            </a:fld>
            <a:endParaRPr lang="zh-TW" altLang="en-US"/>
          </a:p>
        </p:txBody>
      </p:sp>
    </p:spTree>
    <p:extLst>
      <p:ext uri="{BB962C8B-B14F-4D97-AF65-F5344CB8AC3E}">
        <p14:creationId xmlns:p14="http://schemas.microsoft.com/office/powerpoint/2010/main" val="195190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 y="1"/>
            <a:ext cx="2945659" cy="496253"/>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p:cNvSpPr>
            <a:spLocks noGrp="1"/>
          </p:cNvSpPr>
          <p:nvPr>
            <p:ph type="dt" idx="1"/>
          </p:nvPr>
        </p:nvSpPr>
        <p:spPr>
          <a:xfrm>
            <a:off x="3850445" y="1"/>
            <a:ext cx="2945659" cy="496253"/>
          </a:xfrm>
          <a:prstGeom prst="rect">
            <a:avLst/>
          </a:prstGeom>
        </p:spPr>
        <p:txBody>
          <a:bodyPr vert="horz" lIns="91430" tIns="45714" rIns="91430" bIns="45714" rtlCol="0"/>
          <a:lstStyle>
            <a:lvl1pPr algn="r">
              <a:defRPr sz="1200"/>
            </a:lvl1pPr>
          </a:lstStyle>
          <a:p>
            <a:fld id="{863167AA-796B-4B6A-95ED-1C0BCB3E5802}" type="datetimeFigureOut">
              <a:rPr lang="zh-TW" altLang="en-US" smtClean="0"/>
              <a:t>2026/9/7</a:t>
            </a:fld>
            <a:endParaRPr lang="zh-TW" altLang="en-US"/>
          </a:p>
        </p:txBody>
      </p:sp>
      <p:sp>
        <p:nvSpPr>
          <p:cNvPr id="4" name="投影片圖像版面配置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30" tIns="45714" rIns="91430" bIns="45714" rtlCol="0" anchor="ctr"/>
          <a:lstStyle/>
          <a:p>
            <a:endParaRPr lang="zh-TW" altLang="en-US"/>
          </a:p>
        </p:txBody>
      </p:sp>
      <p:sp>
        <p:nvSpPr>
          <p:cNvPr id="5" name="備忘稿版面配置區 4"/>
          <p:cNvSpPr>
            <a:spLocks noGrp="1"/>
          </p:cNvSpPr>
          <p:nvPr>
            <p:ph type="body" sz="quarter" idx="3"/>
          </p:nvPr>
        </p:nvSpPr>
        <p:spPr>
          <a:xfrm>
            <a:off x="679768" y="4714400"/>
            <a:ext cx="5438140" cy="4466272"/>
          </a:xfrm>
          <a:prstGeom prst="rect">
            <a:avLst/>
          </a:prstGeom>
        </p:spPr>
        <p:txBody>
          <a:bodyPr vert="horz" lIns="91430" tIns="45714" rIns="91430" bIns="45714" rtlCol="0"/>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頁尾版面配置區 5"/>
          <p:cNvSpPr>
            <a:spLocks noGrp="1"/>
          </p:cNvSpPr>
          <p:nvPr>
            <p:ph type="ftr" sz="quarter" idx="4"/>
          </p:nvPr>
        </p:nvSpPr>
        <p:spPr>
          <a:xfrm>
            <a:off x="2" y="9427075"/>
            <a:ext cx="2945659" cy="496253"/>
          </a:xfrm>
          <a:prstGeom prst="rect">
            <a:avLst/>
          </a:prstGeom>
        </p:spPr>
        <p:txBody>
          <a:bodyPr vert="horz" lIns="91430" tIns="45714" rIns="91430" bIns="45714"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5" y="9427075"/>
            <a:ext cx="2945659" cy="496253"/>
          </a:xfrm>
          <a:prstGeom prst="rect">
            <a:avLst/>
          </a:prstGeom>
        </p:spPr>
        <p:txBody>
          <a:bodyPr vert="horz" lIns="91430" tIns="45714" rIns="91430" bIns="45714" rtlCol="0" anchor="b"/>
          <a:lstStyle>
            <a:lvl1pPr algn="r">
              <a:defRPr sz="1200"/>
            </a:lvl1pPr>
          </a:lstStyle>
          <a:p>
            <a:fld id="{E3A6CE5E-F349-486D-8749-82EF2AD71FA8}" type="slidenum">
              <a:rPr lang="zh-TW" altLang="en-US" smtClean="0"/>
              <a:t>‹#›</a:t>
            </a:fld>
            <a:endParaRPr lang="zh-TW" altLang="en-US"/>
          </a:p>
        </p:txBody>
      </p:sp>
    </p:spTree>
    <p:extLst>
      <p:ext uri="{BB962C8B-B14F-4D97-AF65-F5344CB8AC3E}">
        <p14:creationId xmlns:p14="http://schemas.microsoft.com/office/powerpoint/2010/main" val="3336009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rxiv.org/abs/2104.09864"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arxiv.org/abs/2104.09864"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github.com/NVIDIA/Model-Optimizer" TargetMode="External"/><Relationship Id="rId2" Type="http://schemas.openxmlformats.org/officeDocument/2006/relationships/slide" Target="../slides/slide21.xml"/><Relationship Id="rId1" Type="http://schemas.openxmlformats.org/officeDocument/2006/relationships/notesMaster" Target="../notesMasters/notesMaster1.xml"/><Relationship Id="rId6" Type="http://schemas.openxmlformats.org/officeDocument/2006/relationships/hyperlink" Target="https://lyceum.technology/magazine/gpu-memory-requirements-transformer/" TargetMode="External"/><Relationship Id="rId5" Type="http://schemas.openxmlformats.org/officeDocument/2006/relationships/hyperlink" Target="https://venturebeat.com/orchestration/nvidias-new-technique-cuts-llm-reasoning-costs-by-8x-without-losing-accuracy" TargetMode="External"/><Relationship Id="rId4" Type="http://schemas.openxmlformats.org/officeDocument/2006/relationships/hyperlink" Target="https://developer.nvidia.com/blog/introducing-nvidia-dynamo-a-low-latency-distributed-inference-framework-for-scaling-reasoning-ai-models/"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openrouter.ai/upstage/solar-pro4"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a:t>
            </a:fld>
            <a:endParaRPr lang="zh-TW" altLang="en-US"/>
          </a:p>
        </p:txBody>
      </p:sp>
    </p:spTree>
    <p:extLst>
      <p:ext uri="{BB962C8B-B14F-4D97-AF65-F5344CB8AC3E}">
        <p14:creationId xmlns:p14="http://schemas.microsoft.com/office/powerpoint/2010/main" val="1419742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B811-902A-94AB-AABB-4CC1382C73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32B768C-5222-29ED-3563-1AFFE32A73F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1FC8048-7B6E-7E1E-EC2B-CCC4CC9FF3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US" altLang="zh-TW" sz="2000" b="0" i="0" u="none" strike="noStrike" kern="1200" cap="none" spc="0" normalizeH="0" baseline="0" noProof="0" dirty="0">
              <a:ln>
                <a:noFill/>
              </a:ln>
              <a:solidFill>
                <a:prstClr val="white">
                  <a:lumMod val="50000"/>
                </a:prstClr>
              </a:solidFill>
              <a:effectLst/>
              <a:uLnTx/>
              <a:uFillTx/>
              <a:latin typeface="+mn-lt"/>
              <a:ea typeface="+mn-ea"/>
              <a:cs typeface="+mn-cs"/>
            </a:endParaRPr>
          </a:p>
        </p:txBody>
      </p:sp>
      <p:sp>
        <p:nvSpPr>
          <p:cNvPr id="4" name="投影片編號版面配置區 3">
            <a:extLst>
              <a:ext uri="{FF2B5EF4-FFF2-40B4-BE49-F238E27FC236}">
                <a16:creationId xmlns:a16="http://schemas.microsoft.com/office/drawing/2014/main" id="{94A622D0-F740-070B-33AA-93A0D57A4D76}"/>
              </a:ext>
            </a:extLst>
          </p:cNvPr>
          <p:cNvSpPr>
            <a:spLocks noGrp="1"/>
          </p:cNvSpPr>
          <p:nvPr>
            <p:ph type="sldNum" sz="quarter" idx="5"/>
          </p:nvPr>
        </p:nvSpPr>
        <p:spPr/>
        <p:txBody>
          <a:bodyPr/>
          <a:lstStyle/>
          <a:p>
            <a:fld id="{E3A6CE5E-F349-486D-8749-82EF2AD71FA8}" type="slidenum">
              <a:rPr lang="zh-TW" altLang="en-US" smtClean="0"/>
              <a:t>2</a:t>
            </a:fld>
            <a:endParaRPr lang="zh-TW" altLang="en-US"/>
          </a:p>
        </p:txBody>
      </p:sp>
    </p:spTree>
    <p:extLst>
      <p:ext uri="{BB962C8B-B14F-4D97-AF65-F5344CB8AC3E}">
        <p14:creationId xmlns:p14="http://schemas.microsoft.com/office/powerpoint/2010/main" val="894356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B811-902A-94AB-AABB-4CC1382C73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32B768C-5222-29ED-3563-1AFFE32A73F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1FC8048-7B6E-7E1E-EC2B-CCC4CC9FF3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US" altLang="zh-TW" sz="2000" b="0" i="0" u="none" strike="noStrike" kern="1200" cap="none" spc="0" normalizeH="0" baseline="0" noProof="0" dirty="0">
              <a:ln>
                <a:noFill/>
              </a:ln>
              <a:solidFill>
                <a:prstClr val="white">
                  <a:lumMod val="50000"/>
                </a:prstClr>
              </a:solidFill>
              <a:effectLst/>
              <a:uLnTx/>
              <a:uFillTx/>
              <a:latin typeface="+mn-lt"/>
              <a:ea typeface="+mn-ea"/>
              <a:cs typeface="+mn-cs"/>
            </a:endParaRPr>
          </a:p>
        </p:txBody>
      </p:sp>
      <p:sp>
        <p:nvSpPr>
          <p:cNvPr id="4" name="投影片編號版面配置區 3">
            <a:extLst>
              <a:ext uri="{FF2B5EF4-FFF2-40B4-BE49-F238E27FC236}">
                <a16:creationId xmlns:a16="http://schemas.microsoft.com/office/drawing/2014/main" id="{94A622D0-F740-070B-33AA-93A0D57A4D76}"/>
              </a:ext>
            </a:extLst>
          </p:cNvPr>
          <p:cNvSpPr>
            <a:spLocks noGrp="1"/>
          </p:cNvSpPr>
          <p:nvPr>
            <p:ph type="sldNum" sz="quarter" idx="5"/>
          </p:nvPr>
        </p:nvSpPr>
        <p:spPr/>
        <p:txBody>
          <a:bodyPr/>
          <a:lstStyle/>
          <a:p>
            <a:fld id="{E3A6CE5E-F349-486D-8749-82EF2AD71FA8}" type="slidenum">
              <a:rPr lang="zh-TW" altLang="en-US" smtClean="0"/>
              <a:t>3</a:t>
            </a:fld>
            <a:endParaRPr lang="zh-TW" altLang="en-US"/>
          </a:p>
        </p:txBody>
      </p:sp>
    </p:spTree>
    <p:extLst>
      <p:ext uri="{BB962C8B-B14F-4D97-AF65-F5344CB8AC3E}">
        <p14:creationId xmlns:p14="http://schemas.microsoft.com/office/powerpoint/2010/main" val="894356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AI</a:t>
            </a:r>
            <a:r>
              <a:rPr lang="zh-TW" altLang="en-US" dirty="0"/>
              <a:t>的強弱</a:t>
            </a:r>
            <a:r>
              <a:rPr lang="en-US" altLang="zh-TW" dirty="0"/>
              <a:t>:</a:t>
            </a:r>
            <a:r>
              <a:rPr lang="zh-TW" altLang="en-US" dirty="0"/>
              <a:t> 取決於數據</a:t>
            </a:r>
            <a:r>
              <a:rPr lang="en-US" altLang="zh-TW" dirty="0"/>
              <a:t>(data),</a:t>
            </a:r>
            <a:r>
              <a:rPr lang="zh-TW" altLang="en-US" dirty="0"/>
              <a:t> 算法</a:t>
            </a:r>
            <a:r>
              <a:rPr lang="en-US" altLang="zh-TW" dirty="0"/>
              <a:t>(algorithm), </a:t>
            </a:r>
            <a:r>
              <a:rPr lang="zh-TW" altLang="en-US" dirty="0"/>
              <a:t>算力</a:t>
            </a:r>
            <a:r>
              <a:rPr lang="en-US" altLang="zh-TW" dirty="0"/>
              <a:t>(computing)</a:t>
            </a:r>
          </a:p>
          <a:p>
            <a:endParaRPr lang="en-US" altLang="zh-TW" dirty="0"/>
          </a:p>
          <a:p>
            <a:r>
              <a:rPr lang="en-US" altLang="zh-TW" dirty="0"/>
              <a:t>2010 </a:t>
            </a:r>
            <a:r>
              <a:rPr lang="zh-TW" altLang="en-US" dirty="0"/>
              <a:t>算力助長了一切</a:t>
            </a:r>
            <a:r>
              <a:rPr lang="en-US" altLang="zh-TW" dirty="0"/>
              <a:t>:</a:t>
            </a:r>
          </a:p>
          <a:p>
            <a:r>
              <a:rPr lang="en-US" altLang="zh-TW" dirty="0"/>
              <a:t>2018 </a:t>
            </a:r>
            <a:r>
              <a:rPr lang="zh-TW" altLang="zh-TW" dirty="0"/>
              <a:t>動態預訓練時代：上下文的「環境覺醒」 </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dirty="0"/>
          </a:p>
          <a:p>
            <a:r>
              <a:rPr lang="en-US" altLang="zh-TW" dirty="0"/>
              <a:t>CoT: Chain-of-Thought: (</a:t>
            </a:r>
            <a:r>
              <a:rPr lang="zh-TW" altLang="en-US" dirty="0"/>
              <a:t>思維鏈</a:t>
            </a:r>
            <a:r>
              <a:rPr lang="en-US" altLang="zh-TW" dirty="0"/>
              <a:t>)</a:t>
            </a:r>
            <a:r>
              <a:rPr lang="zh-TW" altLang="zh-TW" sz="1200" b="0" i="0" kern="1200" dirty="0">
                <a:solidFill>
                  <a:schemeClr val="tx1"/>
                </a:solidFill>
                <a:effectLst/>
                <a:latin typeface="+mn-lt"/>
                <a:ea typeface="+mn-ea"/>
                <a:cs typeface="+mn-cs"/>
              </a:rPr>
              <a:t>這個方法有助於大型語言模型克服一些需要邏輯思維或多個步驟來解決的推理任務</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在</a:t>
            </a:r>
            <a:r>
              <a:rPr lang="en-US" altLang="zh-TW" sz="1200" b="0" i="0" kern="1200" dirty="0">
                <a:solidFill>
                  <a:schemeClr val="tx1"/>
                </a:solidFill>
                <a:effectLst/>
                <a:latin typeface="+mn-lt"/>
                <a:ea typeface="+mn-ea"/>
                <a:cs typeface="+mn-cs"/>
              </a:rPr>
              <a:t>prompt</a:t>
            </a:r>
            <a:r>
              <a:rPr lang="zh-TW" altLang="en-US" sz="1200" b="0" i="0" kern="1200" dirty="0">
                <a:solidFill>
                  <a:schemeClr val="tx1"/>
                </a:solidFill>
                <a:effectLst/>
                <a:latin typeface="+mn-lt"/>
                <a:ea typeface="+mn-ea"/>
                <a:cs typeface="+mn-cs"/>
              </a:rPr>
              <a:t>裡面</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帶著過程</a:t>
            </a:r>
            <a:r>
              <a:rPr lang="en-US" altLang="zh-TW" sz="1200" b="0" i="0" kern="1200" dirty="0">
                <a:solidFill>
                  <a:schemeClr val="tx1"/>
                </a:solidFill>
                <a:effectLst/>
                <a:latin typeface="+mn-lt"/>
                <a:ea typeface="+mn-ea"/>
                <a:cs typeface="+mn-cs"/>
              </a:rPr>
              <a:t>)</a:t>
            </a:r>
            <a:endParaRPr lang="en-US" altLang="zh-TW" dirty="0"/>
          </a:p>
          <a:p>
            <a:endParaRPr lang="en-US" altLang="zh-TW" dirty="0"/>
          </a:p>
          <a:p>
            <a:r>
              <a:rPr lang="zh-TW" altLang="en-US" dirty="0"/>
              <a:t>預訓練</a:t>
            </a:r>
            <a:r>
              <a:rPr lang="en-US" altLang="zh-TW" dirty="0"/>
              <a:t>/</a:t>
            </a:r>
            <a:r>
              <a:rPr lang="zh-TW" altLang="en-US" dirty="0"/>
              <a:t>微調技術大躍進</a:t>
            </a:r>
            <a:endParaRPr lang="en-US" altLang="zh-TW" dirty="0"/>
          </a:p>
          <a:p>
            <a:r>
              <a:rPr lang="en-US" altLang="zh-TW" dirty="0"/>
              <a:t>Reinforcement Learning from Human Feedback (RLHF): Anthropic </a:t>
            </a:r>
            <a:r>
              <a:rPr lang="zh-TW" altLang="en-US" dirty="0"/>
              <a:t>很具里程碑意義</a:t>
            </a:r>
            <a:endParaRPr lang="en-US" altLang="zh-TW" dirty="0"/>
          </a:p>
          <a:p>
            <a:r>
              <a:rPr lang="en-US" altLang="zh-TW" dirty="0"/>
              <a:t>Direct Preference Optimization (DPO): Standford </a:t>
            </a:r>
            <a:r>
              <a:rPr lang="zh-TW" altLang="en-US" dirty="0"/>
              <a:t>簡化學習偏好</a:t>
            </a:r>
            <a:r>
              <a:rPr lang="en-US" altLang="zh-TW" dirty="0"/>
              <a:t>,</a:t>
            </a:r>
            <a:r>
              <a:rPr lang="zh-TW" altLang="en-US" dirty="0"/>
              <a:t> 免除了獎勵模型</a:t>
            </a:r>
            <a:endParaRPr lang="en-US" altLang="zh-TW" dirty="0"/>
          </a:p>
          <a:p>
            <a:r>
              <a:rPr lang="en-US" altLang="zh-TW" dirty="0"/>
              <a:t>Self-Alignment</a:t>
            </a:r>
            <a:r>
              <a:rPr lang="zh-TW" altLang="en-US" dirty="0"/>
              <a:t> </a:t>
            </a:r>
            <a:r>
              <a:rPr lang="en-US" altLang="zh-TW" dirty="0"/>
              <a:t>(SA):</a:t>
            </a:r>
            <a:r>
              <a:rPr lang="zh-TW" altLang="en-US" dirty="0"/>
              <a:t> </a:t>
            </a:r>
            <a:r>
              <a:rPr lang="en-US" altLang="zh-TW" dirty="0"/>
              <a:t>Frontier labs </a:t>
            </a:r>
            <a:r>
              <a:rPr lang="zh-TW" altLang="en-US" dirty="0"/>
              <a:t>使用最小的人類引導</a:t>
            </a:r>
            <a:r>
              <a:rPr lang="en-US" altLang="zh-TW" dirty="0"/>
              <a:t>, </a:t>
            </a:r>
            <a:r>
              <a:rPr lang="zh-TW" altLang="en-US" dirty="0"/>
              <a:t>進行模型對齊</a:t>
            </a:r>
            <a:endParaRPr lang="en-US" altLang="zh-TW" dirty="0"/>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4</a:t>
            </a:fld>
            <a:endParaRPr lang="zh-TW" altLang="en-US"/>
          </a:p>
        </p:txBody>
      </p:sp>
    </p:spTree>
    <p:extLst>
      <p:ext uri="{BB962C8B-B14F-4D97-AF65-F5344CB8AC3E}">
        <p14:creationId xmlns:p14="http://schemas.microsoft.com/office/powerpoint/2010/main" val="930976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Traditional Programming</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Rules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outputs </a:t>
            </a:r>
            <a:r>
              <a:rPr lang="en-US" altLang="zh-TW" b="1" u="none" strike="noStrike" dirty="0">
                <a:effectLst/>
                <a:latin typeface="Google Sans"/>
              </a:rPr>
              <a:t>Answers</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Machine Learning (ML)</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Answers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discovers the </a:t>
            </a:r>
            <a:r>
              <a:rPr lang="en-US" altLang="zh-TW" b="1" u="none" strike="noStrike" dirty="0">
                <a:effectLst/>
                <a:latin typeface="Google Sans"/>
              </a:rPr>
              <a:t>Rules (Model)</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sz="1200" b="1" u="none" strike="noStrike" kern="1200" dirty="0">
                <a:solidFill>
                  <a:schemeClr val="tx1"/>
                </a:solidFill>
                <a:effectLst/>
                <a:latin typeface="+mn-lt"/>
                <a:ea typeface="+mn-ea"/>
                <a:cs typeface="+mn-cs"/>
              </a:rPr>
              <a:t>Essence</a:t>
            </a:r>
            <a:r>
              <a:rPr lang="en-US" altLang="zh-TW" sz="1200" b="0" u="none" strike="noStrike" kern="1200" dirty="0">
                <a:solidFill>
                  <a:schemeClr val="tx1"/>
                </a:solidFill>
                <a:effectLst/>
                <a:latin typeface="+mn-lt"/>
                <a:ea typeface="+mn-ea"/>
                <a:cs typeface="+mn-cs"/>
              </a:rPr>
              <a:t>: Enabling computers to learn from historical data to predict unknown future outcomes.</a:t>
            </a:r>
          </a:p>
          <a:p>
            <a:pPr>
              <a:lnSpc>
                <a:spcPts val="1800"/>
              </a:lnSpc>
              <a:spcBef>
                <a:spcPts val="600"/>
              </a:spcBef>
              <a:spcAft>
                <a:spcPts val="600"/>
              </a:spcAft>
              <a:buFont typeface="Arial" panose="020B0604020202020204" pitchFamily="34" charset="0"/>
              <a:buChar char="•"/>
            </a:pPr>
            <a:endParaRPr lang="en-US" altLang="zh-TW" sz="1200" b="0" u="none" strike="noStrike" kern="1200" dirty="0">
              <a:solidFill>
                <a:schemeClr val="tx1"/>
              </a:solidFill>
              <a:effectLst/>
              <a:latin typeface="+mn-lt"/>
              <a:ea typeface="+mn-ea"/>
              <a:cs typeface="+mn-cs"/>
            </a:endParaRP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Traditional Programming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AI</a:t>
            </a:r>
            <a:r>
              <a:rPr lang="en-US" altLang="zh-TW" sz="1200" dirty="0">
                <a:latin typeface="微軟正黑體" panose="020B0604030504040204" pitchFamily="34" charset="-120"/>
                <a:ea typeface="微軟正黑體" panose="020B0604030504040204" pitchFamily="34" charset="-120"/>
              </a:rPr>
              <a:t> </a:t>
            </a: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(RD) Deduction(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(Machine) Inductive Learning </a:t>
            </a:r>
            <a:r>
              <a:rPr lang="en-US" altLang="zh-TW" sz="1200" dirty="0">
                <a:latin typeface="微軟正黑體" panose="020B0604030504040204" pitchFamily="34" charset="-120"/>
                <a:ea typeface="微軟正黑體" panose="020B0604030504040204" pitchFamily="34" charset="-120"/>
              </a:rPr>
              <a:t>(Observation</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features  Labels)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5</a:t>
            </a:fld>
            <a:endParaRPr lang="zh-TW" altLang="en-US"/>
          </a:p>
        </p:txBody>
      </p:sp>
    </p:spTree>
    <p:extLst>
      <p:ext uri="{BB962C8B-B14F-4D97-AF65-F5344CB8AC3E}">
        <p14:creationId xmlns:p14="http://schemas.microsoft.com/office/powerpoint/2010/main" val="2199492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436F-7267-E3B9-11B0-3B1313F957C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3F537D5-1AAE-3B72-D994-4221B05E103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5F3E3D7B-9F15-CBE3-4156-5BBE9C9BC581}"/>
              </a:ext>
            </a:extLst>
          </p:cNvPr>
          <p:cNvSpPr>
            <a:spLocks noGrp="1"/>
          </p:cNvSpPr>
          <p:nvPr>
            <p:ph type="body" idx="1"/>
          </p:nvPr>
        </p:nvSpPr>
        <p:spPr/>
        <p:txBody>
          <a:bodyPr/>
          <a:lstStyle/>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Pre-Training</a:t>
            </a:r>
            <a:r>
              <a:rPr lang="zh-TW" altLang="zh-TW" sz="1200" b="0" u="none" strike="noStrike" kern="1200" dirty="0">
                <a:solidFill>
                  <a:schemeClr val="tx1"/>
                </a:solidFill>
                <a:effectLst/>
                <a:latin typeface="+mn-lt"/>
                <a:ea typeface="+mn-ea"/>
                <a:cs typeface="+mn-cs"/>
              </a:rPr>
              <a:t>：自監督（機器自己幫資料打標籤）。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Distillation</a:t>
            </a:r>
            <a:r>
              <a:rPr lang="zh-TW" altLang="zh-TW" sz="1200" b="0" u="none" strike="noStrike" kern="1200" dirty="0">
                <a:solidFill>
                  <a:schemeClr val="tx1"/>
                </a:solidFill>
                <a:effectLst/>
                <a:latin typeface="+mn-lt"/>
                <a:ea typeface="+mn-ea"/>
                <a:cs typeface="+mn-cs"/>
              </a:rPr>
              <a:t>：師徒監督（小模型模仿大模型的標籤）。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SFT</a:t>
            </a:r>
            <a:r>
              <a:rPr lang="zh-TW" altLang="zh-TW" sz="1200" b="0" u="none" strike="noStrike" kern="1200" dirty="0">
                <a:solidFill>
                  <a:schemeClr val="tx1"/>
                </a:solidFill>
                <a:effectLst/>
                <a:latin typeface="+mn-lt"/>
                <a:ea typeface="+mn-ea"/>
                <a:cs typeface="+mn-cs"/>
              </a:rPr>
              <a:t>：黃金監督（模型模仿人類專家的標籤）。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RLHF</a:t>
            </a:r>
            <a:r>
              <a:rPr lang="zh-TW" altLang="zh-TW" sz="1200" b="0" u="none" strike="noStrike" kern="1200" dirty="0">
                <a:solidFill>
                  <a:schemeClr val="tx1"/>
                </a:solidFill>
                <a:effectLst/>
                <a:latin typeface="+mn-lt"/>
                <a:ea typeface="+mn-ea"/>
                <a:cs typeface="+mn-cs"/>
              </a:rPr>
              <a:t>：偏好引導（不給標準答案，只給讚和倒讚）。</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dirty="0"/>
              <a:t>Continual Pre-Training：也是「自監督學習」的延伸（領域專家養成）</a:t>
            </a:r>
            <a:endParaRPr lang="en-US" altLang="zh-TW" dirty="0"/>
          </a:p>
          <a:p>
            <a:pPr marL="0" marR="0">
              <a:spcBef>
                <a:spcPts val="1800"/>
              </a:spcBef>
              <a:spcAft>
                <a:spcPts val="900"/>
              </a:spcAft>
              <a:buNone/>
            </a:pPr>
            <a:endParaRPr lang="en-US" altLang="zh-TW" dirty="0"/>
          </a:p>
          <a:p>
            <a:pPr marL="0" marR="0">
              <a:spcBef>
                <a:spcPts val="1800"/>
              </a:spcBef>
              <a:spcAft>
                <a:spcPts val="900"/>
              </a:spcAft>
              <a:buNone/>
            </a:pPr>
            <a:br>
              <a:rPr lang="en-US" altLang="zh-TW" sz="1200" dirty="0"/>
            </a:br>
            <a:r>
              <a:rPr lang="en-US" altLang="zh-TW" sz="1200" b="1" u="none" strike="noStrike" dirty="0">
                <a:effectLst/>
                <a:latin typeface="Google Sans"/>
              </a:rPr>
              <a:t>1.</a:t>
            </a:r>
            <a:r>
              <a:rPr lang="zh-TW" altLang="en-US" sz="1200" b="1" u="none" strike="noStrike" dirty="0">
                <a:effectLst/>
                <a:latin typeface="Google Sans"/>
              </a:rPr>
              <a:t> </a:t>
            </a:r>
            <a:r>
              <a:rPr lang="zh-TW" altLang="zh-TW" sz="1200" b="1" u="none" strike="noStrike" dirty="0">
                <a:effectLst/>
                <a:latin typeface="Google Sans"/>
              </a:rPr>
              <a:t>強化學習陣營 (Reinforcement Learning)</a:t>
            </a:r>
          </a:p>
          <a:p>
            <a:pPr marL="0" marR="0">
              <a:spcBef>
                <a:spcPts val="900"/>
              </a:spcBef>
              <a:spcAft>
                <a:spcPts val="900"/>
              </a:spcAft>
              <a:buFont typeface="Arial" panose="020B0604020202020204" pitchFamily="34" charset="0"/>
              <a:buChar char="•"/>
            </a:pPr>
            <a:r>
              <a:rPr lang="zh-TW" altLang="zh-TW" sz="1200" b="1" u="none" strike="noStrike" dirty="0">
                <a:effectLst/>
                <a:latin typeface="Google Sans"/>
              </a:rPr>
              <a:t>RLHF (人類反饋強化學習)：</a:t>
            </a:r>
            <a:r>
              <a:rPr lang="zh-TW" altLang="zh-TW" sz="1200" b="0" u="none" strike="noStrike" dirty="0">
                <a:effectLst/>
                <a:latin typeface="Google Sans"/>
              </a:rPr>
              <a:t> </a:t>
            </a:r>
            <a:r>
              <a:rPr lang="zh-TW" altLang="zh-TW" sz="1200" b="1" u="none" strike="noStrike" dirty="0">
                <a:effectLst/>
                <a:latin typeface="Google Sans"/>
              </a:rPr>
              <a:t>絕對屬於強化學習</a:t>
            </a:r>
            <a:r>
              <a:rPr lang="zh-TW" altLang="zh-TW" sz="1200" b="0" u="none" strike="noStrike" dirty="0">
                <a:effectLst/>
                <a:latin typeface="Google Sans"/>
              </a:rPr>
              <a:t>。它使用獎勵模型（Reward Model）來引導策略模型（Policy Model）優化，背後運行的是 PPO 等強化學習演算法。</a:t>
            </a:r>
          </a:p>
          <a:p>
            <a:pPr marL="0" marR="0">
              <a:spcBef>
                <a:spcPts val="900"/>
              </a:spcBef>
              <a:spcAft>
                <a:spcPts val="900"/>
              </a:spcAft>
              <a:buFont typeface="Arial" panose="020B0604020202020204" pitchFamily="34" charset="0"/>
              <a:buChar char="•"/>
            </a:pPr>
            <a:r>
              <a:rPr lang="zh-TW" altLang="zh-TW" sz="1200" b="1" u="none" strike="noStrike" dirty="0">
                <a:effectLst/>
                <a:latin typeface="Google Sans"/>
              </a:rPr>
              <a:t>DPO (直接偏好最佳化)：</a:t>
            </a:r>
            <a:r>
              <a:rPr lang="zh-TW" altLang="zh-TW" sz="1200" b="0" u="none" strike="noStrike" dirty="0">
                <a:effectLst/>
                <a:latin typeface="Google Sans"/>
              </a:rPr>
              <a:t> 雖然在數學上繞過了傳統強化學習的獎勵模型與採樣步驟，直接用二元交叉熵損失來訓練，但它的</a:t>
            </a:r>
            <a:r>
              <a:rPr lang="zh-TW" altLang="zh-TW" sz="1200" b="1" u="none" strike="noStrike" dirty="0">
                <a:effectLst/>
                <a:latin typeface="Google Sans"/>
              </a:rPr>
              <a:t>核心本質與目標仍然是強化學習（對齊人類偏好）</a:t>
            </a:r>
            <a:endParaRPr lang="en-US" altLang="zh-TW" sz="1200" b="1" u="none" strike="noStrike" dirty="0">
              <a:effectLst/>
              <a:latin typeface="Google Sans"/>
            </a:endParaRPr>
          </a:p>
          <a:p>
            <a:pPr marL="0" marR="0">
              <a:spcBef>
                <a:spcPts val="900"/>
              </a:spcBef>
              <a:spcAft>
                <a:spcPts val="900"/>
              </a:spcAft>
              <a:buFont typeface="Arial" panose="020B0604020202020204" pitchFamily="34" charset="0"/>
              <a:buNone/>
            </a:pPr>
            <a:br>
              <a:rPr lang="en-US" altLang="zh-TW" sz="1200" dirty="0"/>
            </a:br>
            <a:r>
              <a:rPr lang="en-US" altLang="zh-TW" sz="1200" dirty="0"/>
              <a:t>2. </a:t>
            </a:r>
            <a:r>
              <a:rPr lang="zh-TW" altLang="en-US" sz="1200" dirty="0"/>
              <a:t>監督式學習陣營 </a:t>
            </a:r>
            <a:r>
              <a:rPr lang="en-US" altLang="zh-TW" sz="1200" dirty="0"/>
              <a:t>(Supervised Learning)</a:t>
            </a:r>
            <a:r>
              <a:rPr lang="zh-TW" altLang="en-US" sz="1200" dirty="0"/>
              <a:t>在微調階段，</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許多技術雖然使用的是無標籤文本生成的底層邏輯，</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但因為資料集已經被人類高度結構化（有明確的 </a:t>
            </a:r>
            <a:r>
              <a:rPr lang="en-US" altLang="zh-TW" sz="1200" dirty="0"/>
              <a:t>Prompt </a:t>
            </a:r>
            <a:r>
              <a:rPr lang="zh-TW" altLang="en-US" sz="1200" dirty="0"/>
              <a:t>與對應的 </a:t>
            </a:r>
            <a:r>
              <a:rPr lang="en-US" altLang="zh-TW" sz="1200" dirty="0"/>
              <a:t>Target Answer</a:t>
            </a:r>
            <a:r>
              <a:rPr lang="zh-TW" altLang="en-US" sz="1200" dirty="0"/>
              <a:t>），</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因此在實務上被歸類為監督式學習：</a:t>
            </a:r>
            <a:r>
              <a:rPr lang="en-US" altLang="zh-TW" sz="1200" dirty="0"/>
              <a:t>SFT (</a:t>
            </a:r>
            <a:r>
              <a:rPr lang="zh-TW" altLang="en-US" sz="1200" dirty="0"/>
              <a:t>監督式微調</a:t>
            </a:r>
            <a:r>
              <a:rPr lang="en-US" altLang="zh-TW" sz="1200" dirty="0"/>
              <a:t>)</a:t>
            </a:r>
            <a:r>
              <a:rPr lang="zh-TW" altLang="en-US" sz="1200" dirty="0"/>
              <a:t>： 屬於監督式學習。它是用標準的「問題</a:t>
            </a:r>
            <a:r>
              <a:rPr lang="en-US" altLang="zh-TW" sz="1200" dirty="0"/>
              <a:t>-</a:t>
            </a:r>
            <a:r>
              <a:rPr lang="zh-TW" altLang="en-US" sz="1200" dirty="0"/>
              <a:t>正確答案」對來訓練模型。</a:t>
            </a:r>
            <a:endParaRPr lang="en-US" altLang="zh-TW" sz="1200" dirty="0"/>
          </a:p>
          <a:p>
            <a:endParaRPr lang="en-US" altLang="zh-TW" dirty="0"/>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PPO </a:t>
            </a:r>
            <a:r>
              <a:rPr lang="en-US" altLang="zh-TW" dirty="0">
                <a:sym typeface="Wingdings" panose="05000000000000000000" pitchFamily="2" charset="2"/>
              </a:rPr>
              <a:t> </a:t>
            </a:r>
            <a:r>
              <a:rPr lang="en-US" altLang="zh-TW" dirty="0"/>
              <a:t>DPO (“</a:t>
            </a:r>
            <a:r>
              <a:rPr lang="zh-TW" altLang="en-US" dirty="0"/>
              <a:t>獎勵模型</a:t>
            </a:r>
            <a:r>
              <a:rPr lang="en-US" altLang="zh-TW" dirty="0"/>
              <a:t>” </a:t>
            </a:r>
            <a:r>
              <a:rPr lang="zh-TW" altLang="en-US" dirty="0"/>
              <a:t>看起來就痛苦得不得了</a:t>
            </a:r>
            <a:r>
              <a:rPr lang="en-US" altLang="zh-TW" dirty="0"/>
              <a:t>, </a:t>
            </a:r>
            <a:r>
              <a:rPr lang="zh-TW" altLang="en-US" dirty="0"/>
              <a:t>一定要改善</a:t>
            </a:r>
            <a:r>
              <a:rPr lang="en-US" altLang="zh-TW" dirty="0"/>
              <a:t>)</a:t>
            </a:r>
            <a:br>
              <a:rPr lang="en-US" altLang="zh-TW" dirty="0"/>
            </a:br>
            <a:r>
              <a:rPr lang="zh-TW" altLang="zh-TW" dirty="0"/>
              <a:t>1. PPO（Proximal Policy Optimization，近端策略優化）</a:t>
            </a:r>
            <a:r>
              <a:rPr lang="en-US" altLang="zh-TW" dirty="0"/>
              <a:t>2017OpenAI</a:t>
            </a:r>
            <a:br>
              <a:rPr lang="en-US" altLang="zh-TW" dirty="0"/>
            </a:br>
            <a:r>
              <a:rPr lang="zh-TW" altLang="zh-TW" sz="1200" b="0" u="none" strike="noStrike" kern="1200" dirty="0">
                <a:solidFill>
                  <a:schemeClr val="tx1"/>
                </a:solidFill>
                <a:effectLst/>
                <a:latin typeface="+mn-lt"/>
                <a:ea typeface="+mn-ea"/>
                <a:cs typeface="+mn-cs"/>
              </a:rPr>
              <a:t>PPO 原本是通用強化學習演算法。2022 年 OpenAI 將其應用於 </a:t>
            </a:r>
            <a:r>
              <a:rPr lang="zh-TW" altLang="zh-TW" sz="1200" b="1" u="none" strike="noStrike" kern="1200" dirty="0">
                <a:solidFill>
                  <a:schemeClr val="tx1"/>
                </a:solidFill>
                <a:effectLst/>
                <a:latin typeface="+mn-lt"/>
                <a:ea typeface="+mn-ea"/>
                <a:cs typeface="+mn-cs"/>
              </a:rPr>
              <a:t>InstructGPT / ChatGPT</a:t>
            </a:r>
            <a:r>
              <a:rPr lang="zh-TW" altLang="zh-TW" sz="1200" b="0" u="none" strike="noStrike" kern="1200" dirty="0">
                <a:solidFill>
                  <a:schemeClr val="tx1"/>
                </a:solidFill>
                <a:effectLst/>
                <a:latin typeface="+mn-lt"/>
                <a:ea typeface="+mn-ea"/>
                <a:cs typeface="+mn-cs"/>
              </a:rPr>
              <a:t> 中，成為 </a:t>
            </a:r>
            <a:r>
              <a:rPr lang="zh-TW" altLang="zh-TW" sz="1200" b="1" u="none" strike="noStrike" kern="1200" dirty="0">
                <a:solidFill>
                  <a:schemeClr val="tx1"/>
                </a:solidFill>
                <a:effectLst/>
                <a:latin typeface="+mn-lt"/>
                <a:ea typeface="+mn-ea"/>
                <a:cs typeface="+mn-cs"/>
              </a:rPr>
              <a:t>RLHF（從人類反饋中進行強化學習）</a:t>
            </a:r>
            <a:r>
              <a:rPr lang="zh-TW" altLang="zh-TW" sz="1200" b="0" u="none" strike="noStrike" kern="1200" dirty="0">
                <a:solidFill>
                  <a:schemeClr val="tx1"/>
                </a:solidFill>
                <a:effectLst/>
                <a:latin typeface="+mn-lt"/>
                <a:ea typeface="+mn-ea"/>
                <a:cs typeface="+mn-cs"/>
              </a:rPr>
              <a:t> 的核心後端演算法，因而名聲大噪。</a:t>
            </a:r>
          </a:p>
          <a:p>
            <a:r>
              <a:rPr lang="zh-TW" altLang="zh-TW" sz="1200" b="0" u="none" strike="noStrike" kern="1200" dirty="0">
                <a:solidFill>
                  <a:schemeClr val="tx1"/>
                </a:solidFill>
                <a:effectLst/>
                <a:latin typeface="+mn-lt"/>
                <a:ea typeface="+mn-ea"/>
                <a:cs typeface="+mn-cs"/>
              </a:rPr>
              <a:t>它包含四個同時運作的模型：</a:t>
            </a:r>
            <a:r>
              <a:rPr lang="en-US" altLang="zh-TW" sz="1200" b="0" u="none" strike="noStrike" kern="1200" dirty="0">
                <a:solidFill>
                  <a:schemeClr val="tx1"/>
                </a:solidFill>
                <a:effectLst/>
                <a:latin typeface="+mn-lt"/>
                <a:ea typeface="+mn-ea"/>
                <a:cs typeface="+mn-cs"/>
              </a:rPr>
              <a:t> ====</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Actor（演員）</a:t>
            </a:r>
            <a:r>
              <a:rPr lang="zh-TW" altLang="zh-TW" sz="1200" b="0" u="none" strike="noStrike" kern="1200" dirty="0">
                <a:solidFill>
                  <a:schemeClr val="tx1"/>
                </a:solidFill>
                <a:effectLst/>
                <a:latin typeface="+mn-lt"/>
                <a:ea typeface="+mn-ea"/>
                <a:cs typeface="+mn-cs"/>
              </a:rPr>
              <a:t>：正在被訓練的 LLM，負責回答問題。</a:t>
            </a:r>
          </a:p>
          <a:p>
            <a:r>
              <a:rPr lang="zh-TW" altLang="zh-TW" sz="1200" b="1" u="none" strike="noStrike" kern="1200" dirty="0">
                <a:solidFill>
                  <a:schemeClr val="tx1"/>
                </a:solidFill>
                <a:effectLst/>
                <a:latin typeface="+mn-lt"/>
                <a:ea typeface="+mn-ea"/>
                <a:cs typeface="+mn-cs"/>
              </a:rPr>
              <a:t>Reference（參考）</a:t>
            </a:r>
            <a:r>
              <a:rPr lang="zh-TW" altLang="zh-TW" sz="1200" b="0" u="none" strike="noStrike" kern="1200" dirty="0">
                <a:solidFill>
                  <a:schemeClr val="tx1"/>
                </a:solidFill>
                <a:effectLst/>
                <a:latin typeface="+mn-lt"/>
                <a:ea typeface="+mn-ea"/>
                <a:cs typeface="+mn-cs"/>
              </a:rPr>
              <a:t>：剛做完 SFT 的原始 LLM，用來當作對照組，確保 Actor 不要「改得太誇張（獎勵作弊）」。</a:t>
            </a:r>
          </a:p>
          <a:p>
            <a:r>
              <a:rPr lang="zh-TW" altLang="zh-TW" sz="1200" b="1" u="none" strike="noStrike" kern="1200" dirty="0">
                <a:solidFill>
                  <a:schemeClr val="tx1"/>
                </a:solidFill>
                <a:effectLst/>
                <a:latin typeface="+mn-lt"/>
                <a:ea typeface="+mn-ea"/>
                <a:cs typeface="+mn-cs"/>
              </a:rPr>
              <a:t>Reward Model（獎勵模型）</a:t>
            </a:r>
            <a:r>
              <a:rPr lang="zh-TW" altLang="zh-TW" sz="1200" b="0" u="none" strike="noStrike" kern="1200" dirty="0">
                <a:solidFill>
                  <a:schemeClr val="tx1"/>
                </a:solidFill>
                <a:effectLst/>
                <a:latin typeface="+mn-lt"/>
                <a:ea typeface="+mn-ea"/>
                <a:cs typeface="+mn-cs"/>
              </a:rPr>
              <a:t>：模擬人類偏好的「裁判」，Actor 講得好就給高分，講得差（如髒話、偏見）就扣分。</a:t>
            </a:r>
          </a:p>
          <a:p>
            <a:r>
              <a:rPr lang="zh-TW" altLang="zh-TW" sz="1200" b="1" u="none" strike="noStrike" kern="1200" dirty="0">
                <a:solidFill>
                  <a:schemeClr val="tx1"/>
                </a:solidFill>
                <a:effectLst/>
                <a:latin typeface="+mn-lt"/>
                <a:ea typeface="+mn-ea"/>
                <a:cs typeface="+mn-cs"/>
              </a:rPr>
              <a:t>Critic（評論員）</a:t>
            </a:r>
            <a:r>
              <a:rPr lang="zh-TW" altLang="zh-TW" sz="1200" b="0" u="none" strike="noStrike" kern="1200" dirty="0">
                <a:solidFill>
                  <a:schemeClr val="tx1"/>
                </a:solidFill>
                <a:effectLst/>
                <a:latin typeface="+mn-lt"/>
                <a:ea typeface="+mn-ea"/>
                <a:cs typeface="+mn-cs"/>
              </a:rPr>
              <a:t>：負責評估當前局勢與預期得分的「教練」。</a:t>
            </a: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核心機制</a:t>
            </a:r>
            <a:r>
              <a:rPr lang="zh-TW" altLang="zh-TW" sz="1200" b="0" u="none" strike="noStrike" kern="1200" dirty="0">
                <a:solidFill>
                  <a:schemeClr val="tx1"/>
                </a:solidFill>
                <a:effectLst/>
                <a:latin typeface="+mn-lt"/>
                <a:ea typeface="+mn-ea"/>
                <a:cs typeface="+mn-cs"/>
              </a:rPr>
              <a:t>：PPO 透過「剪裁機制（Clipping）」限制每次權重更新的幅度。這能防止模型因為某一次拿到極高分或極低分，而導致整個模型「練壞或崩潰」。</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極度消耗顯存與算力</a:t>
            </a:r>
            <a:r>
              <a:rPr lang="zh-TW" altLang="zh-TW" sz="1200" b="0" u="none" strike="noStrike" kern="1200" dirty="0">
                <a:solidFill>
                  <a:schemeClr val="tx1"/>
                </a:solidFill>
                <a:effectLst/>
                <a:latin typeface="+mn-lt"/>
                <a:ea typeface="+mn-ea"/>
                <a:cs typeface="+mn-cs"/>
              </a:rPr>
              <a:t>。因為 GPU 必須同時加載 4 個大模型，且訓練過程極不穩定，調參非常痛苦。</a:t>
            </a:r>
          </a:p>
          <a:p>
            <a:br>
              <a:rPr lang="zh-TW" altLang="zh-TW" dirty="0"/>
            </a:br>
            <a:r>
              <a:rPr lang="en-US" altLang="zh-TW" dirty="0"/>
              <a:t>2.</a:t>
            </a:r>
            <a:r>
              <a:rPr lang="zh-TW" altLang="en-US" dirty="0"/>
              <a:t> </a:t>
            </a:r>
            <a:r>
              <a:rPr lang="zh-TW" altLang="zh-TW" dirty="0"/>
              <a:t>DPO（Direct Preference Optimization，直接偏好優化）</a:t>
            </a:r>
            <a:r>
              <a:rPr lang="en-US" altLang="zh-TW" dirty="0"/>
              <a:t>2023</a:t>
            </a:r>
            <a:r>
              <a:rPr lang="zh-TW" altLang="en-US" dirty="0"/>
              <a:t>史丹佛大學</a:t>
            </a:r>
            <a:br>
              <a:rPr lang="en-US" altLang="zh-TW" dirty="0"/>
            </a:br>
            <a:r>
              <a:rPr lang="zh-TW" altLang="zh-TW" dirty="0"/>
              <a:t>DPO 的出現是一場</a:t>
            </a:r>
            <a:r>
              <a:rPr lang="zh-TW" altLang="zh-TW" sz="1200" b="1" u="none" strike="noStrike" kern="1200" dirty="0">
                <a:solidFill>
                  <a:schemeClr val="tx1"/>
                </a:solidFill>
                <a:effectLst/>
                <a:latin typeface="+mn-lt"/>
                <a:ea typeface="+mn-ea"/>
                <a:cs typeface="+mn-cs"/>
              </a:rPr>
              <a:t>顛覆性的數學簡化</a:t>
            </a:r>
            <a:r>
              <a:rPr lang="zh-TW" altLang="zh-TW" dirty="0"/>
              <a:t>。它的核心思想是：「既然 PPO 繞了這麼大一圈（先訓獎勵模型，再用強化學習去對齊），</a:t>
            </a:r>
            <a:endParaRPr lang="en-US" altLang="zh-TW" dirty="0"/>
          </a:p>
          <a:p>
            <a:r>
              <a:rPr lang="zh-TW" altLang="zh-TW" dirty="0"/>
              <a:t>我們為什麼不直接用數學公式，把人類的偏好直接套在 LLM 上微調？」</a:t>
            </a:r>
          </a:p>
          <a:p>
            <a:endParaRPr lang="zh-TW" altLang="zh-TW" sz="1200" b="0" u="none" strike="noStrike" kern="1200" dirty="0">
              <a:solidFill>
                <a:schemeClr val="tx1"/>
              </a:solidFill>
              <a:effectLst/>
              <a:latin typeface="+mn-lt"/>
              <a:ea typeface="+mn-ea"/>
              <a:cs typeface="+mn-cs"/>
            </a:endParaRPr>
          </a:p>
          <a:p>
            <a:r>
              <a:rPr lang="en-US" altLang="zh-TW" sz="1200" b="1" u="none" strike="noStrike" kern="1200" dirty="0">
                <a:solidFill>
                  <a:schemeClr val="tx1"/>
                </a:solidFill>
                <a:effectLst/>
                <a:latin typeface="+mn-lt"/>
                <a:ea typeface="+mn-ea"/>
                <a:cs typeface="+mn-cs"/>
              </a:rPr>
              <a:t>a. </a:t>
            </a:r>
            <a:r>
              <a:rPr lang="zh-TW" altLang="zh-TW" sz="1200" b="1" u="none" strike="noStrike" kern="1200" dirty="0">
                <a:solidFill>
                  <a:schemeClr val="tx1"/>
                </a:solidFill>
                <a:effectLst/>
                <a:latin typeface="+mn-lt"/>
                <a:ea typeface="+mn-ea"/>
                <a:cs typeface="+mn-cs"/>
              </a:rPr>
              <a:t>數學替代</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DPO 的作者證明了恆等式</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「大語言模型本身的生成機率，其實就可以直接推導出隱含的獎勵分數」</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r>
              <a:rPr lang="en-US" altLang="zh-TW" sz="1200" b="0" u="none" strike="noStrike" kern="1200" dirty="0">
                <a:solidFill>
                  <a:schemeClr val="tx1"/>
                </a:solidFill>
                <a:effectLst/>
                <a:latin typeface="+mn-lt"/>
                <a:ea typeface="+mn-ea"/>
                <a:cs typeface="+mn-cs"/>
              </a:rPr>
              <a:t>b. </a:t>
            </a:r>
            <a:r>
              <a:rPr lang="zh-TW" altLang="zh-TW" sz="1200" b="1" u="none" strike="noStrike" kern="1200" dirty="0">
                <a:solidFill>
                  <a:schemeClr val="tx1"/>
                </a:solidFill>
                <a:effectLst/>
                <a:latin typeface="+mn-lt"/>
                <a:ea typeface="+mn-ea"/>
                <a:cs typeface="+mn-cs"/>
              </a:rPr>
              <a:t>拋棄傳統強化學習</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因為上述發現，DPO </a:t>
            </a:r>
            <a:r>
              <a:rPr lang="zh-TW" altLang="zh-TW" sz="1200" b="1" u="none" strike="noStrike" kern="1200" dirty="0">
                <a:solidFill>
                  <a:schemeClr val="tx1"/>
                </a:solidFill>
                <a:effectLst/>
                <a:latin typeface="+mn-lt"/>
                <a:ea typeface="+mn-ea"/>
                <a:cs typeface="+mn-cs"/>
              </a:rPr>
              <a:t>直接砍掉了「獎勵模型」與「評論員模型」</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c. </a:t>
            </a:r>
            <a:r>
              <a:rPr lang="zh-TW" altLang="zh-TW" sz="1200" b="1" u="none" strike="noStrike" kern="1200" dirty="0">
                <a:solidFill>
                  <a:schemeClr val="tx1"/>
                </a:solidFill>
                <a:effectLst/>
                <a:latin typeface="+mn-lt"/>
                <a:ea typeface="+mn-ea"/>
                <a:cs typeface="+mn-cs"/>
              </a:rPr>
              <a:t>直接分類學習</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訓練資料只需要成對的偏好數據：一個提示詞（Prompt），搭配一個好回答（Chosen）與一個壞回答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Rejected</a:t>
            </a:r>
            <a:r>
              <a:rPr lang="en-US"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效果</a:t>
            </a:r>
            <a:r>
              <a:rPr lang="zh-TW" altLang="zh-TW" sz="1200" b="0" u="none" strike="noStrike" kern="1200" dirty="0">
                <a:solidFill>
                  <a:schemeClr val="tx1"/>
                </a:solidFill>
                <a:effectLst/>
                <a:latin typeface="+mn-lt"/>
                <a:ea typeface="+mn-ea"/>
                <a:cs typeface="+mn-cs"/>
              </a:rPr>
              <a:t>：將複雜的強化學習，直接簡化為普通的</a:t>
            </a:r>
            <a:r>
              <a:rPr lang="zh-TW" altLang="zh-TW" sz="1200" b="1" u="none" strike="noStrike" kern="1200" dirty="0">
                <a:solidFill>
                  <a:schemeClr val="tx1"/>
                </a:solidFill>
                <a:effectLst/>
                <a:latin typeface="+mn-lt"/>
                <a:ea typeface="+mn-ea"/>
                <a:cs typeface="+mn-cs"/>
              </a:rPr>
              <a:t>監督式二元分類任務（Binary Classification）</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B768C05B-391A-5143-B959-A88384F893E9}"/>
              </a:ext>
            </a:extLst>
          </p:cNvPr>
          <p:cNvSpPr>
            <a:spLocks noGrp="1"/>
          </p:cNvSpPr>
          <p:nvPr>
            <p:ph type="sldNum" sz="quarter" idx="5"/>
          </p:nvPr>
        </p:nvSpPr>
        <p:spPr/>
        <p:txBody>
          <a:bodyPr/>
          <a:lstStyle/>
          <a:p>
            <a:fld id="{E3A6CE5E-F349-486D-8749-82EF2AD71FA8}" type="slidenum">
              <a:rPr lang="zh-TW" altLang="en-US" smtClean="0"/>
              <a:t>6</a:t>
            </a:fld>
            <a:endParaRPr lang="zh-TW" altLang="en-US"/>
          </a:p>
        </p:txBody>
      </p:sp>
    </p:spTree>
    <p:extLst>
      <p:ext uri="{BB962C8B-B14F-4D97-AF65-F5344CB8AC3E}">
        <p14:creationId xmlns:p14="http://schemas.microsoft.com/office/powerpoint/2010/main" val="4284347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en-US" altLang="zh-TW" sz="1800" dirty="0">
                <a:latin typeface="Arial" panose="020B0604020202020204" pitchFamily="34" charset="0"/>
                <a:cs typeface="Arial" panose="020B0604020202020204" pitchFamily="34" charset="0"/>
              </a:rPr>
              <a:t>Transformer: SDT vs MoE</a:t>
            </a:r>
          </a:p>
          <a:p>
            <a:r>
              <a:rPr lang="en-US" altLang="zh-TW" sz="1200" dirty="0">
                <a:latin typeface="Arial" panose="020B0604020202020204" pitchFamily="34" charset="0"/>
                <a:cs typeface="Arial" panose="020B0604020202020204" pitchFamily="34" charset="0"/>
              </a:rPr>
              <a:t>Standard Dense Transformer vs Mixture of Exports</a:t>
            </a:r>
            <a:endParaRPr lang="en-US" altLang="zh-TW" sz="1400" dirty="0">
              <a:latin typeface="Arial" panose="020B0604020202020204" pitchFamily="34" charset="0"/>
              <a:cs typeface="Arial" panose="020B0604020202020204" pitchFamily="34" charset="0"/>
              <a:sym typeface="Wingdings" panose="05000000000000000000" pitchFamily="2" charset="2"/>
            </a:endParaRPr>
          </a:p>
          <a:p>
            <a:br>
              <a:rPr lang="en-US" altLang="zh-TW" dirty="0"/>
            </a:br>
            <a:r>
              <a:rPr lang="en-US" altLang="zh-TW" dirty="0"/>
              <a:t>MHA </a:t>
            </a:r>
            <a:r>
              <a:rPr lang="en-US" altLang="zh-TW" dirty="0">
                <a:sym typeface="Wingdings" panose="05000000000000000000" pitchFamily="2" charset="2"/>
              </a:rPr>
              <a:t> MQA/MGAMLA</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7</a:t>
            </a:fld>
            <a:endParaRPr lang="zh-TW" altLang="en-US"/>
          </a:p>
        </p:txBody>
      </p:sp>
    </p:spTree>
    <p:extLst>
      <p:ext uri="{BB962C8B-B14F-4D97-AF65-F5344CB8AC3E}">
        <p14:creationId xmlns:p14="http://schemas.microsoft.com/office/powerpoint/2010/main" val="1889913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9</a:t>
            </a:fld>
            <a:endParaRPr lang="zh-TW" altLang="en-US"/>
          </a:p>
        </p:txBody>
      </p:sp>
    </p:spTree>
    <p:extLst>
      <p:ext uri="{BB962C8B-B14F-4D97-AF65-F5344CB8AC3E}">
        <p14:creationId xmlns:p14="http://schemas.microsoft.com/office/powerpoint/2010/main" val="166743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MoE的挑選過程, 如何運算</a:t>
            </a:r>
          </a:p>
          <a:p>
            <a:pPr rtl="0"/>
            <a:r>
              <a:rPr lang="zh-TW" altLang="zh-TW" sz="1200" b="0" u="none" strike="noStrike" kern="1200" dirty="0">
                <a:solidFill>
                  <a:schemeClr val="tx1"/>
                </a:solidFill>
                <a:effectLst/>
                <a:latin typeface="+mn-lt"/>
                <a:ea typeface="+mn-ea"/>
                <a:cs typeface="+mn-cs"/>
              </a:rPr>
              <a:t>在 16 個專家的 MoE（Mixture of Experts）架構中，當設定 \(k=2\) 時，挑選專家的數學運算過程主要分為</a:t>
            </a:r>
            <a:r>
              <a:rPr lang="zh-TW" altLang="zh-TW" sz="1200" b="1" u="none" strike="noStrike" kern="1200" dirty="0">
                <a:solidFill>
                  <a:schemeClr val="tx1"/>
                </a:solidFill>
                <a:effectLst/>
                <a:latin typeface="+mn-lt"/>
                <a:ea typeface="+mn-ea"/>
                <a:cs typeface="+mn-cs"/>
              </a:rPr>
              <a:t>計算評分</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Top-2 篩選與常態化</a:t>
            </a:r>
            <a:r>
              <a:rPr lang="zh-TW" altLang="zh-TW" sz="1200" b="0" u="none" strike="noStrike" kern="1200" dirty="0">
                <a:solidFill>
                  <a:schemeClr val="tx1"/>
                </a:solidFill>
                <a:effectLst/>
                <a:latin typeface="+mn-lt"/>
                <a:ea typeface="+mn-ea"/>
                <a:cs typeface="+mn-cs"/>
              </a:rPr>
              <a:t>、以及</a:t>
            </a:r>
            <a:r>
              <a:rPr lang="zh-TW" altLang="zh-TW" sz="1200" b="1" u="none" strike="noStrike" kern="1200" dirty="0">
                <a:solidFill>
                  <a:schemeClr val="tx1"/>
                </a:solidFill>
                <a:effectLst/>
                <a:latin typeface="+mn-lt"/>
                <a:ea typeface="+mn-ea"/>
                <a:cs typeface="+mn-cs"/>
              </a:rPr>
              <a:t>矩陣分流</a:t>
            </a:r>
            <a:r>
              <a:rPr lang="zh-TW" altLang="zh-TW" sz="1200" b="0" u="none" strike="noStrike" kern="1200" dirty="0">
                <a:solidFill>
                  <a:schemeClr val="tx1"/>
                </a:solidFill>
                <a:effectLst/>
                <a:latin typeface="+mn-lt"/>
                <a:ea typeface="+mn-ea"/>
                <a:cs typeface="+mn-cs"/>
              </a:rPr>
              <a:t>三個步驟。</a:t>
            </a:r>
          </a:p>
          <a:p>
            <a:r>
              <a:rPr lang="en-US" altLang="zh-TW" dirty="0"/>
              <a:t>1. </a:t>
            </a:r>
            <a:r>
              <a:rPr lang="zh-TW" altLang="zh-TW" dirty="0"/>
              <a:t>計算所有專家的原始評分 (Logits)</a:t>
            </a:r>
            <a:r>
              <a:rPr lang="en-US" altLang="zh-TW" dirty="0"/>
              <a:t> S= X*R</a:t>
            </a:r>
          </a:p>
          <a:p>
            <a:r>
              <a:rPr lang="en-US" altLang="zh-TW" dirty="0"/>
              <a:t>2. </a:t>
            </a:r>
            <a:r>
              <a:rPr lang="zh-TW" altLang="zh-TW" dirty="0"/>
              <a:t>挑選前 2 名專家 (Top-2 Selection):針對矩陣 \(S\) 的每一列（即每個 Token），找出數值最大的前 2 個索引（Indices）。</a:t>
            </a:r>
            <a:br>
              <a:rPr lang="en-US" altLang="zh-TW" dirty="0"/>
            </a:br>
            <a:r>
              <a:rPr lang="en-US" altLang="zh-TW" dirty="0"/>
              <a:t>3. </a:t>
            </a:r>
            <a:r>
              <a:rPr lang="zh-TW" altLang="zh-TW" sz="1200" b="1" u="none" strike="noStrike" kern="1200" dirty="0">
                <a:solidFill>
                  <a:schemeClr val="tx1"/>
                </a:solidFill>
                <a:effectLst/>
                <a:latin typeface="+mn-lt"/>
                <a:ea typeface="+mn-ea"/>
                <a:cs typeface="+mn-cs"/>
              </a:rPr>
              <a:t>計算門控權重 (Softmax &amp; Masking)</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為了讓模型知道這兩個被選中的專家各自佔多少比重，我們會對 Top-2 的分數進行 Softmax 常態化，其餘未選中的 14 個專家分數則設為 </a:t>
            </a:r>
            <a:r>
              <a:rPr lang="en-US" altLang="zh-TW" sz="1200" b="0" u="none" strike="noStrike" kern="1200" dirty="0">
                <a:solidFill>
                  <a:schemeClr val="tx1"/>
                </a:solidFill>
                <a:effectLst/>
                <a:latin typeface="+mn-lt"/>
                <a:ea typeface="+mn-ea"/>
                <a:cs typeface="+mn-cs"/>
              </a:rPr>
              <a:t>-</a:t>
            </a:r>
            <a:r>
              <a:rPr lang="az-Cyrl-AZ" altLang="zh-TW" sz="1200" b="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ꚙ</a:t>
            </a:r>
            <a:endParaRPr lang="zh-TW" altLang="zh-TW" sz="1200" b="0" u="none" strike="noStrike" kern="1200" dirty="0">
              <a:solidFill>
                <a:schemeClr val="tx1"/>
              </a:solidFill>
              <a:effectLst/>
              <a:latin typeface="+mn-lt"/>
              <a:ea typeface="+mn-ea"/>
              <a:cs typeface="+mn-cs"/>
            </a:endParaRPr>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0" u="none" strike="noStrike" kern="1200" dirty="0">
                <a:solidFill>
                  <a:schemeClr val="tx1"/>
                </a:solidFill>
                <a:effectLst/>
                <a:latin typeface="+mn-lt"/>
                <a:ea typeface="+mn-ea"/>
                <a:cs typeface="+mn-cs"/>
              </a:rPr>
              <a:t>矩陣</a:t>
            </a:r>
            <a:r>
              <a:rPr lang="en-US" altLang="zh-TW" sz="1200" b="0" u="none" strike="noStrike" kern="1200" dirty="0">
                <a:solidFill>
                  <a:schemeClr val="tx1"/>
                </a:solidFill>
                <a:effectLst/>
                <a:latin typeface="+mn-lt"/>
                <a:ea typeface="+mn-ea"/>
                <a:cs typeface="+mn-cs"/>
              </a:rPr>
              <a:t>G (Gating Matrix)</a:t>
            </a:r>
            <a:r>
              <a:rPr lang="zh-TW" altLang="zh-TW" sz="1200" b="0" u="none" strike="noStrike" kern="1200" dirty="0">
                <a:solidFill>
                  <a:schemeClr val="tx1"/>
                </a:solidFill>
                <a:effectLst/>
                <a:latin typeface="+mn-lt"/>
                <a:ea typeface="+mn-ea"/>
                <a:cs typeface="+mn-cs"/>
              </a:rPr>
              <a:t> 的每一列中，</a:t>
            </a:r>
            <a:r>
              <a:rPr lang="zh-TW" altLang="zh-TW" sz="1200" b="1" u="none" strike="noStrike" kern="1200" dirty="0">
                <a:solidFill>
                  <a:schemeClr val="tx1"/>
                </a:solidFill>
                <a:effectLst/>
                <a:latin typeface="+mn-lt"/>
                <a:ea typeface="+mn-ea"/>
                <a:cs typeface="+mn-cs"/>
              </a:rPr>
              <a:t>只有 2 個位置有大於 0 的機率值</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且兩者相加為</a:t>
            </a:r>
            <a:r>
              <a:rPr lang="en-US" altLang="zh-TW" sz="1200" b="0" u="none" strike="noStrike" kern="1200" dirty="0">
                <a:solidFill>
                  <a:schemeClr val="tx1"/>
                </a:solidFill>
                <a:effectLst/>
                <a:latin typeface="+mn-lt"/>
                <a:ea typeface="+mn-ea"/>
                <a:cs typeface="+mn-cs"/>
              </a:rPr>
              <a:t>1)</a:t>
            </a:r>
            <a:r>
              <a:rPr lang="zh-TW" altLang="zh-TW" sz="1200" b="0" u="none" strike="noStrike" kern="1200" dirty="0">
                <a:solidFill>
                  <a:schemeClr val="tx1"/>
                </a:solidFill>
                <a:effectLst/>
                <a:latin typeface="+mn-lt"/>
                <a:ea typeface="+mn-ea"/>
                <a:cs typeface="+mn-cs"/>
              </a:rPr>
              <a:t>，其餘 14 個位置皆為 0。</a:t>
            </a:r>
          </a:p>
          <a:p>
            <a:endParaRPr lang="en-US" altLang="zh-TW" dirty="0"/>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11</a:t>
            </a:fld>
            <a:endParaRPr lang="zh-TW" altLang="en-US"/>
          </a:p>
        </p:txBody>
      </p:sp>
    </p:spTree>
    <p:extLst>
      <p:ext uri="{BB962C8B-B14F-4D97-AF65-F5344CB8AC3E}">
        <p14:creationId xmlns:p14="http://schemas.microsoft.com/office/powerpoint/2010/main" val="3483699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每個向量指針</a:t>
            </a:r>
            <a:r>
              <a:rPr lang="en-US" altLang="zh-TW" dirty="0"/>
              <a:t>,</a:t>
            </a:r>
            <a:r>
              <a:rPr lang="zh-TW" altLang="en-US" dirty="0"/>
              <a:t> 根據自己的敏感度在所屬區段</a:t>
            </a:r>
            <a:r>
              <a:rPr lang="en-US" altLang="zh-TW" dirty="0"/>
              <a:t>, </a:t>
            </a:r>
            <a:r>
              <a:rPr lang="zh-TW" altLang="en-US" dirty="0"/>
              <a:t>去微調的權重</a:t>
            </a:r>
            <a:r>
              <a:rPr lang="en-US" altLang="zh-TW" dirty="0"/>
              <a:t>, </a:t>
            </a:r>
            <a:r>
              <a:rPr lang="zh-TW" altLang="en-US" dirty="0"/>
              <a:t>傳化成</a:t>
            </a:r>
            <a:r>
              <a:rPr lang="en-US" altLang="zh-TW" dirty="0"/>
              <a:t>sinusoidal.</a:t>
            </a:r>
          </a:p>
          <a:p>
            <a:endParaRPr lang="en-US" altLang="zh-TW" dirty="0"/>
          </a:p>
          <a:p>
            <a:r>
              <a:rPr lang="zh-TW" altLang="zh-TW" sz="1200" b="0" u="none" strike="noStrike" kern="1200" dirty="0">
                <a:solidFill>
                  <a:schemeClr val="tx1"/>
                </a:solidFill>
                <a:effectLst/>
                <a:latin typeface="+mn-lt"/>
                <a:ea typeface="+mn-ea"/>
                <a:cs typeface="+mn-cs"/>
              </a:rPr>
              <a:t>RoPE（旋轉位置編碼）在實作時，並不是把一整個 Token Embedding 向量當成一體來旋轉，而是</a:t>
            </a:r>
            <a:r>
              <a:rPr lang="zh-TW" altLang="zh-TW" sz="1200" b="1" u="none" strike="noStrike" kern="1200" dirty="0">
                <a:solidFill>
                  <a:schemeClr val="tx1"/>
                </a:solidFill>
                <a:effectLst/>
                <a:latin typeface="+mn-lt"/>
                <a:ea typeface="+mn-ea"/>
                <a:cs typeface="+mn-cs"/>
              </a:rPr>
              <a:t>將高維向量切成兩兩一組（一對對的二維複數平面）</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獨立的調變範圍（旋轉速度/頻率不同）</a:t>
            </a:r>
            <a:r>
              <a:rPr lang="zh-TW" altLang="zh-TW" sz="1200" b="0" u="none" strike="noStrike" kern="1200" dirty="0">
                <a:solidFill>
                  <a:schemeClr val="tx1"/>
                </a:solidFill>
                <a:effectLst/>
                <a:latin typeface="+mn-lt"/>
                <a:ea typeface="+mn-ea"/>
                <a:cs typeface="+mn-cs"/>
              </a:rPr>
              <a:t>：</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RoPE 為每一對維度分配了不同的</a:t>
            </a:r>
            <a:r>
              <a:rPr lang="zh-TW" altLang="zh-TW" sz="1200" b="1" u="none" strike="noStrike" kern="1200" dirty="0">
                <a:solidFill>
                  <a:schemeClr val="tx1"/>
                </a:solidFill>
                <a:effectLst/>
                <a:latin typeface="+mn-lt"/>
                <a:ea typeface="+mn-ea"/>
                <a:cs typeface="+mn-cs"/>
              </a:rPr>
              <a:t>「基數頻率（Base Frequency）」</a:t>
            </a:r>
            <a:r>
              <a:rPr lang="zh-TW" altLang="zh-TW" sz="1200" b="0" u="none" strike="noStrike" kern="1200" dirty="0">
                <a:solidFill>
                  <a:schemeClr val="tx1"/>
                </a:solidFill>
                <a:effectLst/>
                <a:latin typeface="+mn-lt"/>
                <a:ea typeface="+mn-ea"/>
                <a:cs typeface="+mn-cs"/>
              </a:rPr>
              <a:t>。靠近前面的維度，旋轉頻率極高（對位置變化非常敏感）；靠近後面的維度，旋轉頻率極低（對位置變化非常遲鈍）。這完美的達成了您說的「每個維度都有自己獨立的調變範圍」。</a:t>
            </a:r>
          </a:p>
          <a:p>
            <a:r>
              <a:rPr lang="zh-TW" altLang="zh-TW" sz="1200" b="1" u="none" strike="noStrike" kern="1200" dirty="0">
                <a:solidFill>
                  <a:schemeClr val="tx1"/>
                </a:solidFill>
                <a:effectLst/>
                <a:latin typeface="+mn-lt"/>
                <a:ea typeface="+mn-ea"/>
                <a:cs typeface="+mn-cs"/>
              </a:rPr>
              <a:t>不同的敏感度（長短距離分工）</a:t>
            </a:r>
            <a:r>
              <a:rPr lang="zh-TW" altLang="zh-TW" sz="1200" b="0" u="none" strike="noStrike" kern="1200" dirty="0">
                <a:solidFill>
                  <a:schemeClr val="tx1"/>
                </a:solidFill>
                <a:effectLst/>
                <a:latin typeface="+mn-lt"/>
                <a:ea typeface="+mn-ea"/>
                <a:cs typeface="+mn-cs"/>
              </a:rPr>
              <a:t>：</a:t>
            </a:r>
          </a:p>
          <a:p>
            <a:pPr lvl="1"/>
            <a:r>
              <a:rPr lang="zh-TW" altLang="zh-TW" sz="1200" b="1" u="none" strike="noStrike" kern="1200" dirty="0">
                <a:solidFill>
                  <a:schemeClr val="tx1"/>
                </a:solidFill>
                <a:effectLst/>
                <a:latin typeface="+mn-lt"/>
                <a:ea typeface="+mn-ea"/>
                <a:cs typeface="+mn-cs"/>
              </a:rPr>
              <a:t>高頻維度（高敏感度）</a:t>
            </a:r>
            <a:r>
              <a:rPr lang="zh-TW" altLang="zh-TW" sz="1200" b="0" u="none" strike="noStrike" kern="1200" dirty="0">
                <a:solidFill>
                  <a:schemeClr val="tx1"/>
                </a:solidFill>
                <a:effectLst/>
                <a:latin typeface="+mn-lt"/>
                <a:ea typeface="+mn-ea"/>
                <a:cs typeface="+mn-cs"/>
              </a:rPr>
              <a:t>：負責捕捉</a:t>
            </a:r>
            <a:r>
              <a:rPr lang="zh-TW" altLang="zh-TW" sz="1200" b="1" u="none" strike="noStrike" kern="1200" dirty="0">
                <a:solidFill>
                  <a:schemeClr val="tx1"/>
                </a:solidFill>
                <a:effectLst/>
                <a:latin typeface="+mn-lt"/>
                <a:ea typeface="+mn-ea"/>
                <a:cs typeface="+mn-cs"/>
              </a:rPr>
              <a:t>超短距離</a:t>
            </a:r>
            <a:r>
              <a:rPr lang="zh-TW" altLang="zh-TW" sz="1200" b="0" u="none" strike="noStrike" kern="1200" dirty="0">
                <a:solidFill>
                  <a:schemeClr val="tx1"/>
                </a:solidFill>
                <a:effectLst/>
                <a:latin typeface="+mn-lt"/>
                <a:ea typeface="+mn-ea"/>
                <a:cs typeface="+mn-cs"/>
              </a:rPr>
              <a:t>的語法結構（例如：相鄰的動詞與名詞）。</a:t>
            </a:r>
          </a:p>
          <a:p>
            <a:pPr lvl="1"/>
            <a:r>
              <a:rPr lang="zh-TW" altLang="zh-TW" sz="1200" b="1" u="none" strike="noStrike" kern="1200" dirty="0">
                <a:solidFill>
                  <a:schemeClr val="tx1"/>
                </a:solidFill>
                <a:effectLst/>
                <a:latin typeface="+mn-lt"/>
                <a:ea typeface="+mn-ea"/>
                <a:cs typeface="+mn-cs"/>
              </a:rPr>
              <a:t>低頻維度（低敏感度）</a:t>
            </a:r>
            <a:r>
              <a:rPr lang="zh-TW" altLang="zh-TW" sz="1200" b="0" u="none" strike="noStrike" kern="1200" dirty="0">
                <a:solidFill>
                  <a:schemeClr val="tx1"/>
                </a:solidFill>
                <a:effectLst/>
                <a:latin typeface="+mn-lt"/>
                <a:ea typeface="+mn-ea"/>
                <a:cs typeface="+mn-cs"/>
              </a:rPr>
              <a:t>：負責捕捉</a:t>
            </a:r>
            <a:r>
              <a:rPr lang="zh-TW" altLang="zh-TW" sz="1200" b="1" u="none" strike="noStrike" kern="1200" dirty="0">
                <a:solidFill>
                  <a:schemeClr val="tx1"/>
                </a:solidFill>
                <a:effectLst/>
                <a:latin typeface="+mn-lt"/>
                <a:ea typeface="+mn-ea"/>
                <a:cs typeface="+mn-cs"/>
              </a:rPr>
              <a:t>超長距離</a:t>
            </a:r>
            <a:r>
              <a:rPr lang="zh-TW" altLang="zh-TW" sz="1200" b="0" u="none" strike="noStrike" kern="1200" dirty="0">
                <a:solidFill>
                  <a:schemeClr val="tx1"/>
                </a:solidFill>
                <a:effectLst/>
                <a:latin typeface="+mn-lt"/>
                <a:ea typeface="+mn-ea"/>
                <a:cs typeface="+mn-cs"/>
              </a:rPr>
              <a:t>的語意跨度（例如：文章開頭與結尾的邏輯呼應）。</a:t>
            </a:r>
          </a:p>
          <a:p>
            <a:r>
              <a:rPr lang="zh-TW" altLang="zh-TW" sz="1200" b="0" u="none" strike="noStrike" kern="1200" dirty="0">
                <a:solidFill>
                  <a:schemeClr val="tx1"/>
                </a:solidFill>
                <a:effectLst/>
                <a:latin typeface="+mn-lt"/>
                <a:ea typeface="+mn-ea"/>
                <a:cs typeface="+mn-cs"/>
              </a:rPr>
              <a:t>這也是為什麼 RoPE 具備強大「長度外推性」的根本原因，因為那些低頻、遲鈍的維度，即使文本拉長到幾十萬字，它們依然能穩定地工作。</a:t>
            </a:r>
          </a:p>
          <a:p>
            <a:endParaRPr lang="en-US" altLang="zh-TW" dirty="0"/>
          </a:p>
          <a:p>
            <a:endParaRPr lang="en-US" altLang="zh-TW" dirty="0"/>
          </a:p>
          <a:p>
            <a:r>
              <a:rPr lang="zh-TW" altLang="zh-TW" sz="1200" b="1" u="none" strike="noStrike" kern="1200" dirty="0">
                <a:solidFill>
                  <a:schemeClr val="tx1"/>
                </a:solidFill>
                <a:effectLst/>
                <a:latin typeface="+mn-lt"/>
                <a:ea typeface="+mn-ea"/>
                <a:cs typeface="+mn-cs"/>
              </a:rPr>
              <a:t>Dimension-Isolated Modulation（維度獨立調變）</a:t>
            </a:r>
            <a:endParaRPr lang="zh-TW" altLang="zh-TW" sz="1200" b="0" u="none" strike="noStrike" kern="1200" dirty="0">
              <a:solidFill>
                <a:schemeClr val="tx1"/>
              </a:solidFill>
              <a:effectLst/>
              <a:latin typeface="+mn-lt"/>
              <a:ea typeface="+mn-ea"/>
              <a:cs typeface="+mn-cs"/>
            </a:endParaRPr>
          </a:p>
          <a:p>
            <a:pPr lvl="1"/>
            <a:r>
              <a:rPr lang="zh-TW" altLang="zh-TW" sz="1200" b="0" u="none" strike="noStrike" kern="1200" dirty="0">
                <a:solidFill>
                  <a:schemeClr val="tx1"/>
                </a:solidFill>
                <a:effectLst/>
                <a:latin typeface="+mn-lt"/>
                <a:ea typeface="+mn-ea"/>
                <a:cs typeface="+mn-cs"/>
              </a:rPr>
              <a:t>Pairs of hidden dimensions rotate at varying frequencies, granting each segment distinct positional sensitivity.</a:t>
            </a:r>
          </a:p>
          <a:p>
            <a:pPr lvl="1"/>
            <a:r>
              <a:rPr lang="zh-TW" altLang="zh-TW" sz="1200" b="0" i="1" u="none" strike="noStrike" kern="1200" dirty="0">
                <a:solidFill>
                  <a:schemeClr val="tx1"/>
                </a:solidFill>
                <a:effectLst/>
                <a:latin typeface="+mn-lt"/>
                <a:ea typeface="+mn-ea"/>
                <a:cs typeface="+mn-cs"/>
              </a:rPr>
              <a:t>(成對的隱藏維度以不同的頻率旋轉，賦予每個片段獨特的位置敏感度。)</a:t>
            </a:r>
            <a:br>
              <a:rPr lang="en-US" altLang="zh-TW" sz="1200" b="0" i="1" u="none" strike="noStrike" kern="1200" dirty="0">
                <a:solidFill>
                  <a:schemeClr val="tx1"/>
                </a:solidFill>
                <a:effectLst/>
                <a:latin typeface="+mn-lt"/>
                <a:ea typeface="+mn-ea"/>
                <a:cs typeface="+mn-cs"/>
              </a:rPr>
            </a:b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Multi-Scale Sensitivity for Context（多尺度上下文敏感度）</a:t>
            </a:r>
            <a:endParaRPr lang="zh-TW" altLang="zh-TW" sz="1200" b="0" u="none" strike="noStrike" kern="1200" dirty="0">
              <a:solidFill>
                <a:schemeClr val="tx1"/>
              </a:solidFill>
              <a:effectLst/>
              <a:latin typeface="+mn-lt"/>
              <a:ea typeface="+mn-ea"/>
              <a:cs typeface="+mn-cs"/>
            </a:endParaRPr>
          </a:p>
          <a:p>
            <a:pPr lvl="1"/>
            <a:r>
              <a:rPr lang="zh-TW" altLang="zh-TW" sz="1200" b="0" u="none" strike="noStrike" kern="1200" dirty="0">
                <a:solidFill>
                  <a:schemeClr val="tx1"/>
                </a:solidFill>
                <a:effectLst/>
                <a:latin typeface="+mn-lt"/>
                <a:ea typeface="+mn-ea"/>
                <a:cs typeface="+mn-cs"/>
              </a:rPr>
              <a:t>High-frequency bands lock onto local syntax, while low-frequency bands generalize to long-range semantic patterns.</a:t>
            </a:r>
          </a:p>
          <a:p>
            <a:pPr lvl="1"/>
            <a:r>
              <a:rPr lang="zh-TW" altLang="zh-TW" sz="1200" b="0" i="1" u="none" strike="noStrike" kern="1200" dirty="0">
                <a:solidFill>
                  <a:schemeClr val="tx1"/>
                </a:solidFill>
                <a:effectLst/>
                <a:latin typeface="+mn-lt"/>
                <a:ea typeface="+mn-ea"/>
                <a:cs typeface="+mn-cs"/>
              </a:rPr>
              <a:t>(高頻波段鎖定局部語法，而低頻波段則泛化至長距離的語意模式。)</a:t>
            </a:r>
            <a:endParaRPr lang="zh-TW" altLang="zh-TW" sz="1200" b="0" u="none" strike="noStrike" kern="1200" dirty="0">
              <a:solidFill>
                <a:schemeClr val="tx1"/>
              </a:solidFill>
              <a:effectLst/>
              <a:latin typeface="+mn-lt"/>
              <a:ea typeface="+mn-ea"/>
              <a:cs typeface="+mn-cs"/>
            </a:endParaRPr>
          </a:p>
          <a:p>
            <a:br>
              <a:rPr lang="zh-TW" altLang="zh-TW" dirty="0"/>
            </a:br>
            <a:endParaRPr lang="zh-TW" altLang="zh-TW" dirty="0"/>
          </a:p>
          <a:p>
            <a:br>
              <a:rPr lang="zh-TW" altLang="zh-TW" dirty="0"/>
            </a:br>
            <a:endParaRPr lang="zh-TW"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12</a:t>
            </a:fld>
            <a:endParaRPr lang="zh-TW" altLang="en-US"/>
          </a:p>
        </p:txBody>
      </p:sp>
    </p:spTree>
    <p:extLst>
      <p:ext uri="{BB962C8B-B14F-4D97-AF65-F5344CB8AC3E}">
        <p14:creationId xmlns:p14="http://schemas.microsoft.com/office/powerpoint/2010/main" val="2852164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最終的 </a:t>
                </a:r>
                <a:r>
                  <a:rPr lang="en-US" altLang="zh-TW" sz="1200" dirty="0">
                    <a:latin typeface="微軟正黑體" panose="020B0604030504040204" pitchFamily="34" charset="-120"/>
                    <a:ea typeface="微軟正黑體" panose="020B0604030504040204" pitchFamily="34" charset="-120"/>
                  </a:rPr>
                  <a:t>Attention </a:t>
                </a:r>
                <a:r>
                  <a:rPr lang="zh-TW" altLang="en-US" sz="1200" dirty="0">
                    <a:latin typeface="微軟正黑體" panose="020B0604030504040204" pitchFamily="34" charset="-120"/>
                    <a:ea typeface="微軟正黑體" panose="020B0604030504040204" pitchFamily="34" charset="-120"/>
                  </a:rPr>
                  <a:t>分數 </a:t>
                </a:r>
                <a:r>
                  <a:rPr lang="zh-TW" altLang="en-US" sz="1200" b="1" dirty="0">
                    <a:latin typeface="微軟正黑體" panose="020B0604030504040204" pitchFamily="34" charset="-120"/>
                    <a:ea typeface="微軟正黑體" panose="020B0604030504040204" pitchFamily="34" charset="-120"/>
                  </a:rPr>
                  <a:t>只與相對位置 </a:t>
                </a:r>
                <a14:m>
                  <m:oMath xmlns:m="http://schemas.openxmlformats.org/officeDocument/2006/math">
                    <m:d>
                      <m:dPr>
                        <m:ctrlPr>
                          <a:rPr lang="zh-TW" altLang="en-US" sz="1200" i="1">
                            <a:latin typeface="Cambria Math" panose="02040503050406030204" pitchFamily="18" charset="0"/>
                          </a:rPr>
                        </m:ctrlPr>
                      </m:dPr>
                      <m:e>
                        <m:r>
                          <a:rPr lang="zh-TW" altLang="en-US" sz="1200" i="1">
                            <a:latin typeface="Cambria Math" panose="02040503050406030204" pitchFamily="18" charset="0"/>
                          </a:rPr>
                          <m:t>𝑚</m:t>
                        </m:r>
                        <m:r>
                          <a:rPr lang="zh-TW" altLang="en-US" sz="1200" i="0">
                            <a:latin typeface="Cambria Math" panose="02040503050406030204" pitchFamily="18" charset="0"/>
                          </a:rPr>
                          <m:t>−</m:t>
                        </m:r>
                        <m:r>
                          <a:rPr lang="zh-TW" altLang="en-US" sz="1200" i="1">
                            <a:latin typeface="Cambria Math" panose="02040503050406030204" pitchFamily="18" charset="0"/>
                          </a:rPr>
                          <m:t>𝑛</m:t>
                        </m:r>
                      </m:e>
                    </m:d>
                  </m:oMath>
                </a14:m>
                <a:r>
                  <a:rPr lang="zh-TW" altLang="en-US" sz="1200" b="1" dirty="0">
                    <a:latin typeface="微軟正黑體" panose="020B0604030504040204" pitchFamily="34" charset="-120"/>
                    <a:ea typeface="微軟正黑體" panose="020B0604030504040204" pitchFamily="34" charset="-120"/>
                  </a:rPr>
                  <a:t>有關</a:t>
                </a:r>
                <a:r>
                  <a:rPr lang="zh-TW" altLang="en-US" sz="1200" dirty="0">
                    <a:latin typeface="微軟正黑體" panose="020B0604030504040204" pitchFamily="34" charset="-120"/>
                    <a:ea typeface="微軟正黑體" panose="020B0604030504040204" pitchFamily="34" charset="-120"/>
                  </a:rPr>
                  <a:t>，與絕對位置 </a:t>
                </a:r>
                <a14:m>
                  <m:oMath xmlns:m="http://schemas.openxmlformats.org/officeDocument/2006/math">
                    <m:r>
                      <a:rPr lang="zh-TW" altLang="en-US" sz="1200" i="1">
                        <a:latin typeface="Cambria Math" panose="02040503050406030204" pitchFamily="18" charset="0"/>
                      </a:rPr>
                      <m:t>𝑚</m:t>
                    </m:r>
                  </m:oMath>
                </a14:m>
                <a:r>
                  <a:rPr lang="zh-TW" altLang="en-US" sz="1200" dirty="0">
                    <a:latin typeface="微軟正黑體" panose="020B0604030504040204" pitchFamily="34" charset="-120"/>
                    <a:ea typeface="微軟正黑體" panose="020B0604030504040204" pitchFamily="34" charset="-120"/>
                  </a:rPr>
                  <a:t>、</a:t>
                </a:r>
                <a14:m>
                  <m:oMath xmlns:m="http://schemas.openxmlformats.org/officeDocument/2006/math">
                    <m:r>
                      <a:rPr lang="zh-TW" altLang="en-US" sz="1200" i="1">
                        <a:latin typeface="Cambria Math" panose="02040503050406030204" pitchFamily="18" charset="0"/>
                      </a:rPr>
                      <m:t>𝑛</m:t>
                    </m:r>
                  </m:oMath>
                </a14:m>
                <a:r>
                  <a:rPr lang="zh-TW" altLang="en-US" sz="1200" dirty="0">
                    <a:latin typeface="微軟正黑體" panose="020B0604030504040204" pitchFamily="34" charset="-120"/>
                    <a:ea typeface="微軟正黑體" panose="020B0604030504040204" pitchFamily="34" charset="-120"/>
                  </a:rPr>
                  <a:t> 無關。</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當 </a:t>
                </a:r>
                <a14:m>
                  <m:oMath xmlns:m="http://schemas.openxmlformats.org/officeDocument/2006/math">
                    <m:r>
                      <a:rPr lang="zh-TW" altLang="en-US" sz="1200" i="1">
                        <a:latin typeface="Cambria Math" panose="02040503050406030204" pitchFamily="18" charset="0"/>
                      </a:rPr>
                      <m:t>𝑚</m:t>
                    </m:r>
                    <m:r>
                      <a:rPr lang="en-US" altLang="zh-TW" sz="1200" i="0">
                        <a:latin typeface="Cambria Math" panose="02040503050406030204" pitchFamily="18" charset="0"/>
                      </a:rPr>
                      <m:t>=</m:t>
                    </m:r>
                    <m:r>
                      <a:rPr lang="zh-TW" altLang="en-US" sz="1200" i="1">
                        <a:latin typeface="Cambria Math" panose="02040503050406030204" pitchFamily="18" charset="0"/>
                      </a:rPr>
                      <m:t>𝑛</m:t>
                    </m:r>
                  </m:oMath>
                </a14:m>
                <a:r>
                  <a:rPr lang="zh-TW" altLang="en-US" sz="1200" dirty="0">
                    <a:latin typeface="微軟正黑體" panose="020B0604030504040204" pitchFamily="34" charset="-120"/>
                    <a:ea typeface="微軟正黑體" panose="020B0604030504040204" pitchFamily="34" charset="-120"/>
                  </a:rPr>
                  <a:t>時，</a:t>
                </a:r>
                <a14:m>
                  <m:oMath xmlns:m="http://schemas.openxmlformats.org/officeDocument/2006/math">
                    <m:r>
                      <m:rPr>
                        <m:sty m:val="p"/>
                      </m:rPr>
                      <a:rPr lang="en-US" altLang="zh-TW" sz="1200">
                        <a:latin typeface="Cambria Math" panose="02040503050406030204" pitchFamily="18" charset="0"/>
                      </a:rPr>
                      <m:t>sin</m:t>
                    </m:r>
                    <m:r>
                      <a:rPr lang="zh-TW" altLang="en-US" sz="1200" i="0">
                        <a:latin typeface="Cambria Math" panose="02040503050406030204" pitchFamily="18" charset="0"/>
                      </a:rPr>
                      <m:t>⁡</m:t>
                    </m:r>
                    <m:d>
                      <m:dPr>
                        <m:ctrlPr>
                          <a:rPr lang="en-US" altLang="zh-TW" sz="1200" i="0">
                            <a:latin typeface="Cambria Math" panose="02040503050406030204" pitchFamily="18" charset="0"/>
                          </a:rPr>
                        </m:ctrlPr>
                      </m:dPr>
                      <m:e>
                        <m:r>
                          <a:rPr lang="en-US" altLang="zh-TW" sz="1200" i="0">
                            <a:latin typeface="Cambria Math" panose="02040503050406030204" pitchFamily="18" charset="0"/>
                          </a:rPr>
                          <m:t>0</m:t>
                        </m:r>
                      </m:e>
                    </m:d>
                    <m:r>
                      <a:rPr lang="en-US" altLang="zh-TW" sz="1200" i="0">
                        <a:latin typeface="Cambria Math" panose="02040503050406030204" pitchFamily="18" charset="0"/>
                      </a:rPr>
                      <m:t>=0</m:t>
                    </m:r>
                  </m:oMath>
                </a14:m>
                <a:r>
                  <a:rPr lang="zh-TW" altLang="en-US" sz="1200" dirty="0">
                    <a:latin typeface="微軟正黑體" panose="020B0604030504040204" pitchFamily="34" charset="-120"/>
                    <a:ea typeface="微軟正黑體" panose="020B0604030504040204" pitchFamily="34" charset="-120"/>
                  </a:rPr>
                  <a:t>，</a:t>
                </a:r>
                <a14:m>
                  <m:oMath xmlns:m="http://schemas.openxmlformats.org/officeDocument/2006/math">
                    <m:r>
                      <m:rPr>
                        <m:sty m:val="p"/>
                      </m:rPr>
                      <a:rPr lang="en-US" altLang="zh-TW" sz="1200">
                        <a:latin typeface="Cambria Math" panose="02040503050406030204" pitchFamily="18" charset="0"/>
                      </a:rPr>
                      <m:t>cos</m:t>
                    </m:r>
                    <m:r>
                      <a:rPr lang="zh-TW" altLang="en-US" sz="1200" i="0">
                        <a:latin typeface="Cambria Math" panose="02040503050406030204" pitchFamily="18" charset="0"/>
                      </a:rPr>
                      <m:t>⁡</m:t>
                    </m:r>
                    <m:d>
                      <m:dPr>
                        <m:ctrlPr>
                          <a:rPr lang="en-US" altLang="zh-TW" sz="1200" i="0">
                            <a:latin typeface="Cambria Math" panose="02040503050406030204" pitchFamily="18" charset="0"/>
                          </a:rPr>
                        </m:ctrlPr>
                      </m:dPr>
                      <m:e>
                        <m:r>
                          <a:rPr lang="en-US" altLang="zh-TW" sz="1200" i="0">
                            <a:latin typeface="Cambria Math" panose="02040503050406030204" pitchFamily="18" charset="0"/>
                          </a:rPr>
                          <m:t>0</m:t>
                        </m:r>
                      </m:e>
                    </m:d>
                    <m:r>
                      <a:rPr lang="en-US" altLang="zh-TW" sz="1200" i="0">
                        <a:latin typeface="Cambria Math" panose="02040503050406030204" pitchFamily="18" charset="0"/>
                      </a:rPr>
                      <m:t>=1</m:t>
                    </m:r>
                  </m:oMath>
                </a14:m>
                <a:r>
                  <a:rPr lang="zh-TW" altLang="en-US" sz="1200" dirty="0">
                    <a:latin typeface="微軟正黑體" panose="020B0604030504040204" pitchFamily="34" charset="-120"/>
                    <a:ea typeface="微軟正黑體" panose="020B0604030504040204" pitchFamily="34" charset="-120"/>
                  </a:rPr>
                  <a:t>，內積就等於原本 </a:t>
                </a:r>
                <a14:m>
                  <m:oMath xmlns:m="http://schemas.openxmlformats.org/officeDocument/2006/math">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𝑞</m:t>
                        </m:r>
                      </m:e>
                      <m:sub>
                        <m:r>
                          <a:rPr lang="en-US" altLang="zh-TW" sz="1200" i="0">
                            <a:latin typeface="Cambria Math" panose="02040503050406030204" pitchFamily="18" charset="0"/>
                          </a:rPr>
                          <m:t>1</m:t>
                        </m:r>
                      </m:sub>
                    </m:sSub>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𝑘</m:t>
                        </m:r>
                      </m:e>
                      <m:sub>
                        <m:r>
                          <a:rPr lang="en-US" altLang="zh-TW" sz="1200" i="0">
                            <a:latin typeface="Cambria Math" panose="02040503050406030204" pitchFamily="18" charset="0"/>
                          </a:rPr>
                          <m:t>1</m:t>
                        </m:r>
                      </m:sub>
                    </m:sSub>
                    <m:r>
                      <a:rPr lang="en-US" altLang="zh-TW" sz="1200" i="0">
                        <a:latin typeface="Cambria Math" panose="02040503050406030204" pitchFamily="18" charset="0"/>
                      </a:rPr>
                      <m:t>+</m:t>
                    </m:r>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𝑞</m:t>
                        </m:r>
                      </m:e>
                      <m:sub>
                        <m:r>
                          <a:rPr lang="en-US" altLang="zh-TW" sz="1200" i="0">
                            <a:latin typeface="Cambria Math" panose="02040503050406030204" pitchFamily="18" charset="0"/>
                          </a:rPr>
                          <m:t>2</m:t>
                        </m:r>
                      </m:sub>
                    </m:sSub>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𝑘</m:t>
                        </m:r>
                      </m:e>
                      <m:sub>
                        <m:r>
                          <a:rPr lang="en-US" altLang="zh-TW" sz="1200" i="0">
                            <a:latin typeface="Cambria Math" panose="02040503050406030204" pitchFamily="18" charset="0"/>
                          </a:rPr>
                          <m:t>2</m:t>
                        </m:r>
                      </m:sub>
                    </m:sSub>
                  </m:oMath>
                </a14:m>
                <a:r>
                  <a:rPr lang="zh-TW" altLang="en-US" sz="1200" dirty="0">
                    <a:latin typeface="微軟正黑體" panose="020B0604030504040204" pitchFamily="34" charset="-120"/>
                    <a:ea typeface="微軟正黑體" panose="020B0604030504040204" pitchFamily="34" charset="-120"/>
                  </a:rPr>
                  <a:t>（語義不變）。</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距離越遠，</a:t>
                </a:r>
                <a14:m>
                  <m:oMath xmlns:m="http://schemas.openxmlformats.org/officeDocument/2006/math">
                    <m:r>
                      <m:rPr>
                        <m:sty m:val="p"/>
                      </m:rPr>
                      <a:rPr lang="en-US" altLang="zh-TW" sz="1200">
                        <a:latin typeface="Cambria Math" panose="02040503050406030204" pitchFamily="18" charset="0"/>
                      </a:rPr>
                      <m:t>cos</m:t>
                    </m:r>
                    <m:r>
                      <a:rPr lang="zh-TW" altLang="en-US" sz="1200" i="0">
                        <a:latin typeface="Cambria Math" panose="02040503050406030204" pitchFamily="18" charset="0"/>
                      </a:rPr>
                      <m:t>⁡</m:t>
                    </m:r>
                    <m:d>
                      <m:dPr>
                        <m:ctrlPr>
                          <a:rPr lang="zh-TW" altLang="en-US" sz="1200" i="1">
                            <a:latin typeface="Cambria Math" panose="02040503050406030204" pitchFamily="18" charset="0"/>
                          </a:rPr>
                        </m:ctrlPr>
                      </m:dPr>
                      <m:e>
                        <m:d>
                          <m:dPr>
                            <m:ctrlPr>
                              <a:rPr lang="zh-TW" altLang="en-US" sz="1200" i="1">
                                <a:latin typeface="Cambria Math" panose="02040503050406030204" pitchFamily="18" charset="0"/>
                              </a:rPr>
                            </m:ctrlPr>
                          </m:dPr>
                          <m:e>
                            <m:r>
                              <a:rPr lang="zh-TW" altLang="en-US" sz="1200" i="1">
                                <a:latin typeface="Cambria Math" panose="02040503050406030204" pitchFamily="18" charset="0"/>
                              </a:rPr>
                              <m:t>𝑚</m:t>
                            </m:r>
                            <m:r>
                              <a:rPr lang="zh-TW" altLang="en-US" sz="1200" i="0">
                                <a:latin typeface="Cambria Math" panose="02040503050406030204" pitchFamily="18" charset="0"/>
                              </a:rPr>
                              <m:t>−</m:t>
                            </m:r>
                            <m:r>
                              <a:rPr lang="zh-TW" altLang="en-US" sz="1200" i="1">
                                <a:latin typeface="Cambria Math" panose="02040503050406030204" pitchFamily="18" charset="0"/>
                              </a:rPr>
                              <m:t>𝑛</m:t>
                            </m:r>
                          </m:e>
                        </m:d>
                        <m:r>
                          <a:rPr lang="zh-TW" altLang="en-US" sz="1200" i="1">
                            <a:latin typeface="Cambria Math" panose="02040503050406030204" pitchFamily="18" charset="0"/>
                          </a:rPr>
                          <m:t>𝜃</m:t>
                        </m:r>
                      </m:e>
                    </m:d>
                  </m:oMath>
                </a14:m>
                <a:r>
                  <a:rPr lang="zh-TW" altLang="en-US" sz="1200" dirty="0">
                    <a:latin typeface="微軟正黑體" panose="020B0604030504040204" pitchFamily="34" charset="-120"/>
                    <a:ea typeface="微軟正黑體" panose="020B0604030504040204" pitchFamily="34" charset="-120"/>
                  </a:rPr>
                  <a:t> 會振盪衰減，這就是 </a:t>
                </a:r>
                <a:r>
                  <a:rPr lang="en-US" altLang="zh-TW" sz="1200" dirty="0">
                    <a:latin typeface="微軟正黑體" panose="020B0604030504040204" pitchFamily="34" charset="-120"/>
                    <a:ea typeface="微軟正黑體" panose="020B0604030504040204" pitchFamily="34" charset="-120"/>
                  </a:rPr>
                  <a:t>RoPE </a:t>
                </a:r>
                <a:r>
                  <a:rPr lang="zh-TW" altLang="en-US" sz="1200" dirty="0">
                    <a:latin typeface="微軟正黑體" panose="020B0604030504040204" pitchFamily="34" charset="-120"/>
                    <a:ea typeface="微軟正黑體" panose="020B0604030504040204" pitchFamily="34" charset="-120"/>
                  </a:rPr>
                  <a:t>天然的距離衰減特性。  </a:t>
                </a:r>
              </a:p>
              <a:p>
                <a:br>
                  <a:rPr lang="en-US" altLang="zh-TW" dirty="0"/>
                </a:br>
                <a:r>
                  <a:rPr lang="zh-TW" altLang="zh-TW" sz="1200" b="0" u="none" strike="noStrike" kern="1200" dirty="0">
                    <a:solidFill>
                      <a:schemeClr val="tx1"/>
                    </a:solidFill>
                    <a:effectLst/>
                    <a:latin typeface="+mn-lt"/>
                    <a:ea typeface="+mn-ea"/>
                    <a:cs typeface="+mn-cs"/>
                  </a:rPr>
                  <a:t>RoPE（Rotary Position Embedding，旋轉位置編碼）</a:t>
                </a:r>
                <a:r>
                  <a:rPr lang="zh-TW" altLang="zh-TW" dirty="0"/>
                  <a:t>是由中國 AI 科學家蘇劍林</a:t>
                </a:r>
                <a:r>
                  <a:rPr lang="en-US" altLang="zh-TW" dirty="0"/>
                  <a:t>(</a:t>
                </a:r>
                <a:r>
                  <a:rPr lang="zh-TW" altLang="zh-TW" dirty="0"/>
                  <a:t>在中文技術社群常被稱為「蘇神」，目前任職於 Kimi.ai / 月之暗面</a:t>
                </a:r>
                <a:r>
                  <a:rPr lang="en-US" altLang="zh-TW" dirty="0"/>
                  <a:t>)</a:t>
                </a:r>
                <a:r>
                  <a:rPr lang="zh-TW" altLang="zh-TW" dirty="0"/>
                  <a:t>帶領的團隊所提出的。</a:t>
                </a:r>
                <a:br>
                  <a:rPr lang="en-US" altLang="zh-TW" dirty="0"/>
                </a:br>
                <a:r>
                  <a:rPr lang="zh-TW" altLang="zh-TW" sz="1200" b="0" u="none" strike="noStrike" kern="1200" dirty="0">
                    <a:solidFill>
                      <a:schemeClr val="tx1"/>
                    </a:solidFill>
                    <a:effectLst/>
                    <a:latin typeface="+mn-lt"/>
                    <a:ea typeface="+mn-ea"/>
                    <a:cs typeface="+mn-cs"/>
                  </a:rPr>
                  <a:t>他們在 </a:t>
                </a:r>
                <a:r>
                  <a:rPr lang="zh-TW" altLang="zh-TW" sz="1200" b="1" u="none" strike="noStrike" kern="1200" dirty="0">
                    <a:solidFill>
                      <a:schemeClr val="tx1"/>
                    </a:solidFill>
                    <a:effectLst/>
                    <a:latin typeface="+mn-lt"/>
                    <a:ea typeface="+mn-ea"/>
                    <a:cs typeface="+mn-cs"/>
                  </a:rPr>
                  <a:t>2021 年 4 月</a:t>
                </a:r>
                <a:r>
                  <a:rPr lang="zh-TW" altLang="zh-TW" sz="1200" b="0" u="none" strike="noStrike" kern="1200" dirty="0">
                    <a:solidFill>
                      <a:schemeClr val="tx1"/>
                    </a:solidFill>
                    <a:effectLst/>
                    <a:latin typeface="+mn-lt"/>
                    <a:ea typeface="+mn-ea"/>
                    <a:cs typeface="+mn-cs"/>
                  </a:rPr>
                  <a:t>發表了經典論文《</a:t>
                </a:r>
                <a:r>
                  <a:rPr lang="zh-TW" altLang="zh-TW" sz="1200" b="0" u="none" strike="noStrike" kern="1200" dirty="0">
                    <a:solidFill>
                      <a:schemeClr val="tx1"/>
                    </a:solidFill>
                    <a:effectLst/>
                    <a:latin typeface="+mn-lt"/>
                    <a:ea typeface="+mn-ea"/>
                    <a:cs typeface="+mn-cs"/>
                    <a:hlinkClick r:id="rId3"/>
                  </a:rPr>
                  <a:t>RoFormer: Enhanced Transformer with Rotary Position Embedding</a:t>
                </a:r>
                <a:r>
                  <a:rPr lang="zh-TW" altLang="zh-TW" sz="1200" b="0" u="none" strike="noStrike" kern="1200" dirty="0">
                    <a:solidFill>
                      <a:schemeClr val="tx1"/>
                    </a:solidFill>
                    <a:effectLst/>
                    <a:latin typeface="+mn-lt"/>
                    <a:ea typeface="+mn-ea"/>
                    <a:cs typeface="+mn-cs"/>
                  </a:rPr>
                  <a:t>》，首次將旋轉矩陣引入 Transformer 的注意力機制中。</a:t>
                </a:r>
              </a:p>
              <a:p>
                <a:r>
                  <a:rPr lang="zh-TW" altLang="zh-TW" sz="1200" b="1" u="none" strike="noStrike" kern="1200" dirty="0">
                    <a:solidFill>
                      <a:schemeClr val="tx1"/>
                    </a:solidFill>
                    <a:effectLst/>
                    <a:latin typeface="+mn-lt"/>
                    <a:ea typeface="+mn-ea"/>
                    <a:cs typeface="+mn-cs"/>
                  </a:rPr>
                  <a:t>關於這篇論文的核心作者</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蘇劍林（Jianlin Su）、盧宇（Yu Lu）、潘勝峰（Shengfeng Pan）等人。</a:t>
                </a:r>
                <a:r>
                  <a:rPr lang="zh-TW" altLang="zh-TW" sz="1200" b="1" u="none" strike="noStrike" kern="1200" dirty="0">
                    <a:solidFill>
                      <a:schemeClr val="tx1"/>
                    </a:solidFill>
                    <a:effectLst/>
                    <a:latin typeface="+mn-lt"/>
                    <a:ea typeface="+mn-ea"/>
                    <a:cs typeface="+mn-cs"/>
                  </a:rPr>
                  <a:t>共同機構</a:t>
                </a:r>
                <a:r>
                  <a:rPr lang="zh-TW" altLang="zh-TW" sz="1200" b="0" u="none" strike="noStrike" kern="1200" dirty="0">
                    <a:solidFill>
                      <a:schemeClr val="tx1"/>
                    </a:solidFill>
                    <a:effectLst/>
                    <a:latin typeface="+mn-lt"/>
                    <a:ea typeface="+mn-ea"/>
                    <a:cs typeface="+mn-cs"/>
                  </a:rPr>
                  <a:t>：追一科技</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Zhuiyi Technology</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endParaRPr lang="zh-TW" altLang="en-US" dirty="0"/>
              </a:p>
            </p:txBody>
          </p:sp>
        </mc:Choice>
        <mc:Fallback xmlns="">
          <p:sp>
            <p:nvSpPr>
              <p:cNvPr id="3" name="備忘稿版面配置區 2"/>
              <p:cNvSpPr>
                <a:spLocks noGrp="1"/>
              </p:cNvSpPr>
              <p:nvPr>
                <p:ph type="body" idx="1"/>
              </p:nvPr>
            </p:nvSpPr>
            <p:spPr/>
            <p:txBody>
              <a:bodyPr/>
              <a:lstStyle/>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最終的 </a:t>
                </a:r>
                <a:r>
                  <a:rPr lang="en-US" altLang="zh-TW" sz="1200" dirty="0">
                    <a:latin typeface="微軟正黑體" panose="020B0604030504040204" pitchFamily="34" charset="-120"/>
                    <a:ea typeface="微軟正黑體" panose="020B0604030504040204" pitchFamily="34" charset="-120"/>
                  </a:rPr>
                  <a:t>Attention </a:t>
                </a:r>
                <a:r>
                  <a:rPr lang="zh-TW" altLang="en-US" sz="1200" dirty="0">
                    <a:latin typeface="微軟正黑體" panose="020B0604030504040204" pitchFamily="34" charset="-120"/>
                    <a:ea typeface="微軟正黑體" panose="020B0604030504040204" pitchFamily="34" charset="-120"/>
                  </a:rPr>
                  <a:t>分數 </a:t>
                </a:r>
                <a:r>
                  <a:rPr lang="zh-TW" altLang="en-US" sz="1200" b="1" dirty="0">
                    <a:latin typeface="微軟正黑體" panose="020B0604030504040204" pitchFamily="34" charset="-120"/>
                    <a:ea typeface="微軟正黑體" panose="020B0604030504040204" pitchFamily="34" charset="-120"/>
                  </a:rPr>
                  <a:t>只與相對位置 </a:t>
                </a:r>
                <a:r>
                  <a:rPr lang="zh-TW" altLang="en-US" sz="1200" i="0">
                    <a:latin typeface="Cambria Math" panose="02040503050406030204" pitchFamily="18" charset="0"/>
                  </a:rPr>
                  <a:t>(𝑚−𝑛)</a:t>
                </a:r>
                <a:r>
                  <a:rPr lang="zh-TW" altLang="en-US" sz="1200" b="1" dirty="0">
                    <a:latin typeface="微軟正黑體" panose="020B0604030504040204" pitchFamily="34" charset="-120"/>
                    <a:ea typeface="微軟正黑體" panose="020B0604030504040204" pitchFamily="34" charset="-120"/>
                  </a:rPr>
                  <a:t>有關</a:t>
                </a:r>
                <a:r>
                  <a:rPr lang="zh-TW" altLang="en-US" sz="1200" dirty="0">
                    <a:latin typeface="微軟正黑體" panose="020B0604030504040204" pitchFamily="34" charset="-120"/>
                    <a:ea typeface="微軟正黑體" panose="020B0604030504040204" pitchFamily="34" charset="-120"/>
                  </a:rPr>
                  <a:t>，與絕對位置 </a:t>
                </a:r>
                <a:r>
                  <a:rPr lang="zh-TW" altLang="en-US" sz="1200" i="0">
                    <a:latin typeface="Cambria Math" panose="02040503050406030204" pitchFamily="18" charset="0"/>
                  </a:rPr>
                  <a:t>𝑚</a:t>
                </a:r>
                <a:r>
                  <a:rPr lang="zh-TW" altLang="en-US" sz="1200" dirty="0">
                    <a:latin typeface="微軟正黑體" panose="020B0604030504040204" pitchFamily="34" charset="-120"/>
                    <a:ea typeface="微軟正黑體" panose="020B0604030504040204" pitchFamily="34" charset="-120"/>
                  </a:rPr>
                  <a:t>、</a:t>
                </a:r>
                <a:r>
                  <a:rPr lang="zh-TW" altLang="en-US" sz="1200" i="0">
                    <a:latin typeface="Cambria Math" panose="02040503050406030204" pitchFamily="18" charset="0"/>
                  </a:rPr>
                  <a:t>𝑛</a:t>
                </a:r>
                <a:r>
                  <a:rPr lang="zh-TW" altLang="en-US" sz="1200" dirty="0">
                    <a:latin typeface="微軟正黑體" panose="020B0604030504040204" pitchFamily="34" charset="-120"/>
                    <a:ea typeface="微軟正黑體" panose="020B0604030504040204" pitchFamily="34" charset="-120"/>
                  </a:rPr>
                  <a:t> 無關。</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當 </a:t>
                </a:r>
                <a:r>
                  <a:rPr lang="zh-TW" altLang="en-US" sz="1200" i="0">
                    <a:latin typeface="Cambria Math" panose="02040503050406030204" pitchFamily="18" charset="0"/>
                  </a:rPr>
                  <a:t>𝑚</a:t>
                </a:r>
                <a:r>
                  <a:rPr lang="en-US" altLang="zh-TW" sz="1200" i="0">
                    <a:latin typeface="Cambria Math" panose="02040503050406030204" pitchFamily="18" charset="0"/>
                  </a:rPr>
                  <a:t>=</a:t>
                </a:r>
                <a:r>
                  <a:rPr lang="zh-TW" altLang="en-US" sz="1200" i="0">
                    <a:latin typeface="Cambria Math" panose="02040503050406030204" pitchFamily="18" charset="0"/>
                  </a:rPr>
                  <a:t>𝑛</a:t>
                </a:r>
                <a:r>
                  <a:rPr lang="zh-TW" altLang="en-US" sz="1200" dirty="0">
                    <a:latin typeface="微軟正黑體" panose="020B0604030504040204" pitchFamily="34" charset="-120"/>
                    <a:ea typeface="微軟正黑體" panose="020B0604030504040204" pitchFamily="34" charset="-120"/>
                  </a:rPr>
                  <a:t>時，</a:t>
                </a:r>
                <a:r>
                  <a:rPr lang="en-US" altLang="zh-TW" sz="1200" i="0">
                    <a:latin typeface="Cambria Math" panose="02040503050406030204" pitchFamily="18" charset="0"/>
                  </a:rPr>
                  <a:t>sin</a:t>
                </a:r>
                <a:r>
                  <a:rPr lang="zh-TW" altLang="en-US" sz="1200" i="0">
                    <a:latin typeface="Cambria Math" panose="02040503050406030204" pitchFamily="18" charset="0"/>
                  </a:rPr>
                  <a:t>⁡</a:t>
                </a:r>
                <a:r>
                  <a:rPr lang="en-US" altLang="zh-TW" sz="1200" i="0">
                    <a:latin typeface="Cambria Math" panose="02040503050406030204" pitchFamily="18" charset="0"/>
                  </a:rPr>
                  <a:t>(0)=0</a:t>
                </a:r>
                <a:r>
                  <a:rPr lang="zh-TW" altLang="en-US" sz="1200" dirty="0">
                    <a:latin typeface="微軟正黑體" panose="020B0604030504040204" pitchFamily="34" charset="-120"/>
                    <a:ea typeface="微軟正黑體" panose="020B0604030504040204" pitchFamily="34" charset="-120"/>
                  </a:rPr>
                  <a:t>，</a:t>
                </a:r>
                <a:r>
                  <a:rPr lang="en-US" altLang="zh-TW" sz="1200" i="0">
                    <a:latin typeface="Cambria Math" panose="02040503050406030204" pitchFamily="18" charset="0"/>
                  </a:rPr>
                  <a:t>cos</a:t>
                </a:r>
                <a:r>
                  <a:rPr lang="zh-TW" altLang="en-US" sz="1200" i="0">
                    <a:latin typeface="Cambria Math" panose="02040503050406030204" pitchFamily="18" charset="0"/>
                  </a:rPr>
                  <a:t>⁡</a:t>
                </a:r>
                <a:r>
                  <a:rPr lang="en-US" altLang="zh-TW" sz="1200" i="0">
                    <a:latin typeface="Cambria Math" panose="02040503050406030204" pitchFamily="18" charset="0"/>
                  </a:rPr>
                  <a:t>(0)=1</a:t>
                </a:r>
                <a:r>
                  <a:rPr lang="zh-TW" altLang="en-US" sz="1200" dirty="0">
                    <a:latin typeface="微軟正黑體" panose="020B0604030504040204" pitchFamily="34" charset="-120"/>
                    <a:ea typeface="微軟正黑體" panose="020B0604030504040204" pitchFamily="34" charset="-120"/>
                  </a:rPr>
                  <a:t>，內積就等於原本 </a:t>
                </a:r>
                <a:r>
                  <a:rPr lang="zh-TW" altLang="en-US" sz="1200" i="0">
                    <a:latin typeface="Cambria Math" panose="02040503050406030204" pitchFamily="18" charset="0"/>
                  </a:rPr>
                  <a:t>𝑞_</a:t>
                </a:r>
                <a:r>
                  <a:rPr lang="en-US" altLang="zh-TW" sz="1200" i="0">
                    <a:latin typeface="Cambria Math" panose="02040503050406030204" pitchFamily="18" charset="0"/>
                  </a:rPr>
                  <a:t>1</a:t>
                </a:r>
                <a:r>
                  <a:rPr lang="zh-TW" altLang="en-US" sz="1200" i="0">
                    <a:latin typeface="Cambria Math" panose="02040503050406030204" pitchFamily="18" charset="0"/>
                  </a:rPr>
                  <a:t> 𝑘_</a:t>
                </a:r>
                <a:r>
                  <a:rPr lang="en-US" altLang="zh-TW" sz="1200" i="0">
                    <a:latin typeface="Cambria Math" panose="02040503050406030204" pitchFamily="18" charset="0"/>
                  </a:rPr>
                  <a:t>1+</a:t>
                </a:r>
                <a:r>
                  <a:rPr lang="zh-TW" altLang="en-US" sz="1200" i="0">
                    <a:latin typeface="Cambria Math" panose="02040503050406030204" pitchFamily="18" charset="0"/>
                  </a:rPr>
                  <a:t>𝑞_</a:t>
                </a:r>
                <a:r>
                  <a:rPr lang="en-US" altLang="zh-TW" sz="1200" i="0">
                    <a:latin typeface="Cambria Math" panose="02040503050406030204" pitchFamily="18" charset="0"/>
                  </a:rPr>
                  <a:t>2</a:t>
                </a:r>
                <a:r>
                  <a:rPr lang="zh-TW" altLang="en-US" sz="1200" i="0">
                    <a:latin typeface="Cambria Math" panose="02040503050406030204" pitchFamily="18" charset="0"/>
                  </a:rPr>
                  <a:t> 𝑘_</a:t>
                </a:r>
                <a:r>
                  <a:rPr lang="en-US" altLang="zh-TW" sz="1200" i="0">
                    <a:latin typeface="Cambria Math" panose="02040503050406030204" pitchFamily="18" charset="0"/>
                  </a:rPr>
                  <a:t>2</a:t>
                </a:r>
                <a:r>
                  <a:rPr lang="zh-TW" altLang="en-US" sz="1200" dirty="0">
                    <a:latin typeface="微軟正黑體" panose="020B0604030504040204" pitchFamily="34" charset="-120"/>
                    <a:ea typeface="微軟正黑體" panose="020B0604030504040204" pitchFamily="34" charset="-120"/>
                  </a:rPr>
                  <a:t>（語義不變）。</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距離越遠，</a:t>
                </a:r>
                <a:r>
                  <a:rPr lang="en-US" altLang="zh-TW" sz="1200" i="0">
                    <a:latin typeface="Cambria Math" panose="02040503050406030204" pitchFamily="18" charset="0"/>
                  </a:rPr>
                  <a:t>cos</a:t>
                </a:r>
                <a:r>
                  <a:rPr lang="zh-TW" altLang="en-US" sz="1200" i="0">
                    <a:latin typeface="Cambria Math" panose="02040503050406030204" pitchFamily="18" charset="0"/>
                  </a:rPr>
                  <a:t>⁡((𝑚−𝑛)𝜃)</a:t>
                </a:r>
                <a:r>
                  <a:rPr lang="zh-TW" altLang="en-US" sz="1200" dirty="0">
                    <a:latin typeface="微軟正黑體" panose="020B0604030504040204" pitchFamily="34" charset="-120"/>
                    <a:ea typeface="微軟正黑體" panose="020B0604030504040204" pitchFamily="34" charset="-120"/>
                  </a:rPr>
                  <a:t> 會振盪衰減，這就是 </a:t>
                </a:r>
                <a:r>
                  <a:rPr lang="en-US" altLang="zh-TW" sz="1200" dirty="0">
                    <a:latin typeface="微軟正黑體" panose="020B0604030504040204" pitchFamily="34" charset="-120"/>
                    <a:ea typeface="微軟正黑體" panose="020B0604030504040204" pitchFamily="34" charset="-120"/>
                  </a:rPr>
                  <a:t>RoPE </a:t>
                </a:r>
                <a:r>
                  <a:rPr lang="zh-TW" altLang="en-US" sz="1200" dirty="0">
                    <a:latin typeface="微軟正黑體" panose="020B0604030504040204" pitchFamily="34" charset="-120"/>
                    <a:ea typeface="微軟正黑體" panose="020B0604030504040204" pitchFamily="34" charset="-120"/>
                  </a:rPr>
                  <a:t>天然的距離衰減特性。  </a:t>
                </a:r>
              </a:p>
              <a:p>
                <a:br>
                  <a:rPr lang="en-US" altLang="zh-TW" dirty="0"/>
                </a:br>
                <a:r>
                  <a:rPr lang="zh-TW" altLang="zh-TW" sz="1200" b="0" u="none" strike="noStrike" kern="1200" dirty="0">
                    <a:solidFill>
                      <a:schemeClr val="tx1"/>
                    </a:solidFill>
                    <a:effectLst/>
                    <a:latin typeface="+mn-lt"/>
                    <a:ea typeface="+mn-ea"/>
                    <a:cs typeface="+mn-cs"/>
                  </a:rPr>
                  <a:t>RoPE（Rotary Position Embedding，旋轉位置編碼）</a:t>
                </a:r>
                <a:r>
                  <a:rPr lang="zh-TW" altLang="zh-TW" dirty="0"/>
                  <a:t>是由中國 AI 科學家蘇劍林</a:t>
                </a:r>
                <a:r>
                  <a:rPr lang="en-US" altLang="zh-TW" dirty="0"/>
                  <a:t>(</a:t>
                </a:r>
                <a:r>
                  <a:rPr lang="zh-TW" altLang="zh-TW" dirty="0"/>
                  <a:t>在中文技術社群常被稱為「蘇神」，目前任職於 Kimi.ai / 月之暗面</a:t>
                </a:r>
                <a:r>
                  <a:rPr lang="en-US" altLang="zh-TW" dirty="0"/>
                  <a:t>)</a:t>
                </a:r>
                <a:r>
                  <a:rPr lang="zh-TW" altLang="zh-TW" dirty="0"/>
                  <a:t>帶領的團隊所提出的。</a:t>
                </a:r>
                <a:br>
                  <a:rPr lang="en-US" altLang="zh-TW" dirty="0"/>
                </a:br>
                <a:r>
                  <a:rPr lang="zh-TW" altLang="zh-TW" sz="1200" b="0" u="none" strike="noStrike" kern="1200" dirty="0">
                    <a:solidFill>
                      <a:schemeClr val="tx1"/>
                    </a:solidFill>
                    <a:effectLst/>
                    <a:latin typeface="+mn-lt"/>
                    <a:ea typeface="+mn-ea"/>
                    <a:cs typeface="+mn-cs"/>
                  </a:rPr>
                  <a:t>他們在 </a:t>
                </a:r>
                <a:r>
                  <a:rPr lang="zh-TW" altLang="zh-TW" sz="1200" b="1" u="none" strike="noStrike" kern="1200" dirty="0">
                    <a:solidFill>
                      <a:schemeClr val="tx1"/>
                    </a:solidFill>
                    <a:effectLst/>
                    <a:latin typeface="+mn-lt"/>
                    <a:ea typeface="+mn-ea"/>
                    <a:cs typeface="+mn-cs"/>
                  </a:rPr>
                  <a:t>2021 年 4 月</a:t>
                </a:r>
                <a:r>
                  <a:rPr lang="zh-TW" altLang="zh-TW" sz="1200" b="0" u="none" strike="noStrike" kern="1200" dirty="0">
                    <a:solidFill>
                      <a:schemeClr val="tx1"/>
                    </a:solidFill>
                    <a:effectLst/>
                    <a:latin typeface="+mn-lt"/>
                    <a:ea typeface="+mn-ea"/>
                    <a:cs typeface="+mn-cs"/>
                  </a:rPr>
                  <a:t>發表了經典論文《</a:t>
                </a:r>
                <a:r>
                  <a:rPr lang="zh-TW" altLang="zh-TW" sz="1200" b="0" u="none" strike="noStrike" kern="1200" dirty="0">
                    <a:solidFill>
                      <a:schemeClr val="tx1"/>
                    </a:solidFill>
                    <a:effectLst/>
                    <a:latin typeface="+mn-lt"/>
                    <a:ea typeface="+mn-ea"/>
                    <a:cs typeface="+mn-cs"/>
                    <a:hlinkClick r:id="rId4"/>
                  </a:rPr>
                  <a:t>RoFormer: Enhanced Transformer with Rotary Position Embedding</a:t>
                </a:r>
                <a:r>
                  <a:rPr lang="zh-TW" altLang="zh-TW" sz="1200" b="0" u="none" strike="noStrike" kern="1200" dirty="0">
                    <a:solidFill>
                      <a:schemeClr val="tx1"/>
                    </a:solidFill>
                    <a:effectLst/>
                    <a:latin typeface="+mn-lt"/>
                    <a:ea typeface="+mn-ea"/>
                    <a:cs typeface="+mn-cs"/>
                  </a:rPr>
                  <a:t>》，首次將旋轉矩陣引入 Transformer 的注意力機制中。</a:t>
                </a:r>
              </a:p>
              <a:p>
                <a:r>
                  <a:rPr lang="zh-TW" altLang="zh-TW" sz="1200" b="1" u="none" strike="noStrike" kern="1200" dirty="0">
                    <a:solidFill>
                      <a:schemeClr val="tx1"/>
                    </a:solidFill>
                    <a:effectLst/>
                    <a:latin typeface="+mn-lt"/>
                    <a:ea typeface="+mn-ea"/>
                    <a:cs typeface="+mn-cs"/>
                  </a:rPr>
                  <a:t>關於這篇論文的核心作者</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蘇劍林（Jianlin Su）、盧宇（Yu Lu）、潘勝峰（Shengfeng Pan）等人。</a:t>
                </a:r>
                <a:r>
                  <a:rPr lang="zh-TW" altLang="zh-TW" sz="1200" b="1" u="none" strike="noStrike" kern="1200" dirty="0">
                    <a:solidFill>
                      <a:schemeClr val="tx1"/>
                    </a:solidFill>
                    <a:effectLst/>
                    <a:latin typeface="+mn-lt"/>
                    <a:ea typeface="+mn-ea"/>
                    <a:cs typeface="+mn-cs"/>
                  </a:rPr>
                  <a:t>共同機構</a:t>
                </a:r>
                <a:r>
                  <a:rPr lang="zh-TW" altLang="zh-TW" sz="1200" b="0" u="none" strike="noStrike" kern="1200" dirty="0">
                    <a:solidFill>
                      <a:schemeClr val="tx1"/>
                    </a:solidFill>
                    <a:effectLst/>
                    <a:latin typeface="+mn-lt"/>
                    <a:ea typeface="+mn-ea"/>
                    <a:cs typeface="+mn-cs"/>
                  </a:rPr>
                  <a:t>：追一科技</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Zhuiyi Technology</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endParaRPr lang="zh-TW" altLang="en-US" dirty="0"/>
              </a:p>
            </p:txBody>
          </p:sp>
        </mc:Fallback>
      </mc:AlternateContent>
      <p:sp>
        <p:nvSpPr>
          <p:cNvPr id="4" name="投影片編號版面配置區 3"/>
          <p:cNvSpPr>
            <a:spLocks noGrp="1"/>
          </p:cNvSpPr>
          <p:nvPr>
            <p:ph type="sldNum" sz="quarter" idx="5"/>
          </p:nvPr>
        </p:nvSpPr>
        <p:spPr/>
        <p:txBody>
          <a:bodyPr/>
          <a:lstStyle/>
          <a:p>
            <a:fld id="{E3A6CE5E-F349-486D-8749-82EF2AD71FA8}" type="slidenum">
              <a:rPr lang="zh-TW" altLang="en-US" smtClean="0"/>
              <a:t>13</a:t>
            </a:fld>
            <a:endParaRPr lang="zh-TW" altLang="en-US"/>
          </a:p>
        </p:txBody>
      </p:sp>
    </p:spTree>
    <p:extLst>
      <p:ext uri="{BB962C8B-B14F-4D97-AF65-F5344CB8AC3E}">
        <p14:creationId xmlns:p14="http://schemas.microsoft.com/office/powerpoint/2010/main" val="176445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0" u="none" strike="noStrike" kern="1200" dirty="0">
                <a:solidFill>
                  <a:schemeClr val="tx1"/>
                </a:solidFill>
                <a:effectLst/>
                <a:latin typeface="+mn-lt"/>
                <a:ea typeface="+mn-ea"/>
                <a:cs typeface="+mn-cs"/>
              </a:rPr>
              <a:t>在 2017 年 Google 提出的原始 Transformer 論文《</a:t>
            </a:r>
            <a:r>
              <a:rPr lang="zh-TW" altLang="zh-TW" sz="1200" b="0" i="1" u="none" strike="noStrike" kern="1200" dirty="0">
                <a:solidFill>
                  <a:schemeClr val="tx1"/>
                </a:solidFill>
                <a:effectLst/>
                <a:latin typeface="+mn-lt"/>
                <a:ea typeface="+mn-ea"/>
                <a:cs typeface="+mn-cs"/>
              </a:rPr>
              <a:t>Attention Is All You Need</a:t>
            </a:r>
            <a:r>
              <a:rPr lang="zh-TW" altLang="zh-TW" sz="1200" b="0" u="none" strike="noStrike" kern="1200" dirty="0">
                <a:solidFill>
                  <a:schemeClr val="tx1"/>
                </a:solidFill>
                <a:effectLst/>
                <a:latin typeface="+mn-lt"/>
                <a:ea typeface="+mn-ea"/>
                <a:cs typeface="+mn-cs"/>
              </a:rPr>
              <a:t>》中，使用的是</a:t>
            </a:r>
            <a:r>
              <a:rPr lang="zh-TW" altLang="zh-TW" sz="1200" b="1" u="none" strike="noStrike" kern="1200" dirty="0">
                <a:solidFill>
                  <a:schemeClr val="tx1"/>
                </a:solidFill>
                <a:effectLst/>
                <a:latin typeface="+mn-lt"/>
                <a:ea typeface="+mn-ea"/>
                <a:cs typeface="+mn-cs"/>
              </a:rPr>
              <a:t>正弦和餘弦函數的絕對位置編碼（Sinusoidal Position Embedding）</a:t>
            </a:r>
            <a:r>
              <a:rPr lang="zh-TW" altLang="zh-TW" sz="1200" b="0" u="none" strike="noStrike" kern="1200" dirty="0">
                <a:solidFill>
                  <a:schemeClr val="tx1"/>
                </a:solidFill>
                <a:effectLst/>
                <a:latin typeface="+mn-lt"/>
                <a:ea typeface="+mn-ea"/>
                <a:cs typeface="+mn-cs"/>
              </a:rPr>
              <a:t>。</a:t>
            </a:r>
          </a:p>
          <a:p>
            <a:r>
              <a:rPr lang="zh-TW" altLang="zh-TW" dirty="0"/>
              <a:t>因為 Transformer 的自注意力機制（Self-Attention）本身是「置換不變」的（把句子裡的字順序打亂，算出來的注意力分數完全一樣），所以必須在輸入端人工注入位置資訊。</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14</a:t>
            </a:fld>
            <a:endParaRPr lang="zh-TW" altLang="en-US"/>
          </a:p>
        </p:txBody>
      </p:sp>
    </p:spTree>
    <p:extLst>
      <p:ext uri="{BB962C8B-B14F-4D97-AF65-F5344CB8AC3E}">
        <p14:creationId xmlns:p14="http://schemas.microsoft.com/office/powerpoint/2010/main" val="4211358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1" dirty="0">
                <a:latin typeface="微軟正黑體" panose="020B0604030504040204" pitchFamily="34" charset="-120"/>
                <a:ea typeface="微軟正黑體" panose="020B0604030504040204" pitchFamily="34" charset="-120"/>
              </a:rPr>
              <a:t>重點在說明</a:t>
            </a:r>
            <a:r>
              <a:rPr lang="en-US" altLang="zh-TW" sz="1200" b="1" dirty="0">
                <a:latin typeface="微軟正黑體" panose="020B0604030504040204" pitchFamily="34" charset="-120"/>
                <a:ea typeface="微軟正黑體" panose="020B0604030504040204" pitchFamily="34" charset="-120"/>
              </a:rPr>
              <a:t>: Next Token </a:t>
            </a:r>
            <a:r>
              <a:rPr lang="zh-TW" altLang="en-US" sz="1200" b="1" dirty="0">
                <a:latin typeface="微軟正黑體" panose="020B0604030504040204" pitchFamily="34" charset="-120"/>
                <a:ea typeface="微軟正黑體" panose="020B0604030504040204" pitchFamily="34" charset="-120"/>
              </a:rPr>
              <a:t>與 </a:t>
            </a:r>
            <a:r>
              <a:rPr lang="en-US" altLang="zh-TW" sz="1200" b="1" dirty="0">
                <a:latin typeface="微軟正黑體" panose="020B0604030504040204" pitchFamily="34" charset="-120"/>
                <a:ea typeface="微軟正黑體" panose="020B0604030504040204" pitchFamily="34" charset="-120"/>
              </a:rPr>
              <a:t>memory </a:t>
            </a:r>
            <a:r>
              <a:rPr lang="zh-TW" altLang="en-US" sz="1200" b="1" dirty="0">
                <a:latin typeface="微軟正黑體" panose="020B0604030504040204" pitchFamily="34" charset="-120"/>
                <a:ea typeface="微軟正黑體" panose="020B0604030504040204" pitchFamily="34" charset="-120"/>
              </a:rPr>
              <a:t>變化</a:t>
            </a:r>
            <a:endParaRPr lang="en-US" altLang="zh-TW" sz="1200" b="1" u="none" strike="noStrike" dirty="0">
              <a:effectLst/>
              <a:latin typeface="微軟正黑體" panose="020B0604030504040204" pitchFamily="34" charset="-120"/>
              <a:ea typeface="微軟正黑體" panose="020B0604030504040204" pitchFamily="34" charset="-120"/>
            </a:endParaRPr>
          </a:p>
          <a:p>
            <a:endParaRPr lang="en-US" altLang="zh-TW" dirty="0"/>
          </a:p>
          <a:p>
            <a:endParaRPr lang="en-US" altLang="zh-TW" dirty="0"/>
          </a:p>
          <a:p>
            <a:endParaRPr lang="en-US" altLang="zh-TW" dirty="0"/>
          </a:p>
          <a:p>
            <a:r>
              <a:rPr lang="en-US" altLang="zh-TW" dirty="0"/>
              <a:t>GPT </a:t>
            </a:r>
            <a:r>
              <a:rPr lang="zh-TW" altLang="en-US" dirty="0"/>
              <a:t>是「生成式預先訓練變壓器」（</a:t>
            </a:r>
            <a:r>
              <a:rPr lang="en-US" altLang="zh-TW" dirty="0"/>
              <a:t>Generative Pre-trained Transformer</a:t>
            </a:r>
            <a:r>
              <a:rPr lang="zh-TW" altLang="en-US" dirty="0"/>
              <a:t>）的縮寫。它是由 </a:t>
            </a:r>
            <a:r>
              <a:rPr lang="en-US" altLang="zh-TW" dirty="0"/>
              <a:t>OpenAI </a:t>
            </a:r>
            <a:r>
              <a:rPr lang="zh-TW" altLang="en-US" dirty="0"/>
              <a:t>開發的一種深度學習神經網路模型架構，也是目前全球最知名的 </a:t>
            </a:r>
            <a:r>
              <a:rPr lang="en-US" altLang="zh-TW" dirty="0"/>
              <a:t>AI </a:t>
            </a:r>
            <a:r>
              <a:rPr lang="zh-TW" altLang="en-US" dirty="0"/>
              <a:t>聊天機器人 </a:t>
            </a:r>
            <a:r>
              <a:rPr lang="en-US" altLang="zh-TW" dirty="0"/>
              <a:t>ChatGPT </a:t>
            </a:r>
            <a:r>
              <a:rPr lang="zh-TW" altLang="en-US" dirty="0"/>
              <a:t>的底層核心技術。</a:t>
            </a:r>
            <a:endParaRPr lang="zh-TW" altLang="zh-TW" sz="1200" b="0" u="none" strike="noStrike"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15</a:t>
            </a:fld>
            <a:endParaRPr lang="zh-TW" altLang="en-US"/>
          </a:p>
        </p:txBody>
      </p:sp>
    </p:spTree>
    <p:extLst>
      <p:ext uri="{BB962C8B-B14F-4D97-AF65-F5344CB8AC3E}">
        <p14:creationId xmlns:p14="http://schemas.microsoft.com/office/powerpoint/2010/main" val="1741702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B1A3-E8A1-D539-19A4-641D78354E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9AF86CA-F996-AB43-1D19-174ACE37600A}"/>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F138B7E-8F63-940E-3BC0-6FC8D6B48D83}"/>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自監督預訓練（Self-supervised Pre-training）是建造 GPT 模型中</a:t>
            </a:r>
            <a:r>
              <a:rPr lang="zh-TW" altLang="zh-TW" sz="1200" b="1" u="none" strike="noStrike" kern="1200" dirty="0">
                <a:solidFill>
                  <a:schemeClr val="tx1"/>
                </a:solidFill>
                <a:effectLst/>
                <a:latin typeface="+mn-lt"/>
                <a:ea typeface="+mn-ea"/>
                <a:cs typeface="+mn-cs"/>
              </a:rPr>
              <a:t>耗時最長、算力成本最高</a:t>
            </a:r>
            <a:r>
              <a:rPr lang="zh-TW" altLang="zh-TW" sz="1200" b="0" u="none" strike="noStrike" kern="1200" dirty="0">
                <a:solidFill>
                  <a:schemeClr val="tx1"/>
                </a:solidFill>
                <a:effectLst/>
                <a:latin typeface="+mn-lt"/>
                <a:ea typeface="+mn-ea"/>
                <a:cs typeface="+mn-cs"/>
              </a:rPr>
              <a:t>的核心階段。這個階段的目標是讓模型從海量未標記的數據中，自動學會語言的語法規律、語意邏輯和世界知識。</a:t>
            </a:r>
            <a:br>
              <a:rPr lang="en-US"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4 個主要步驟</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1. 數據收集與清洗 (Data Collection &amp; Preprocessing)</a:t>
            </a:r>
          </a:p>
          <a:p>
            <a:r>
              <a:rPr lang="zh-TW" altLang="zh-TW" sz="1200" b="0" u="none" strike="noStrike" kern="1200" dirty="0">
                <a:solidFill>
                  <a:schemeClr val="tx1"/>
                </a:solidFill>
                <a:effectLst/>
                <a:latin typeface="+mn-lt"/>
                <a:ea typeface="+mn-ea"/>
                <a:cs typeface="+mn-cs"/>
              </a:rPr>
              <a:t>從網際網路、書籍、學術論文、程式碼庫（如 GitHub）收集數以 TB 計的原始文本，並透過演算法進行</a:t>
            </a:r>
            <a:r>
              <a:rPr lang="zh-TW" altLang="zh-TW" sz="1200" b="1" u="none" strike="noStrike" kern="1200" dirty="0">
                <a:solidFill>
                  <a:schemeClr val="tx1"/>
                </a:solidFill>
                <a:effectLst/>
                <a:latin typeface="+mn-lt"/>
                <a:ea typeface="+mn-ea"/>
                <a:cs typeface="+mn-cs"/>
              </a:rPr>
              <a:t>去重（Deduplication）</a:t>
            </a:r>
            <a:r>
              <a:rPr lang="zh-TW" altLang="zh-TW" sz="1200" b="0" u="none" strike="noStrike" kern="1200" dirty="0">
                <a:solidFill>
                  <a:schemeClr val="tx1"/>
                </a:solidFill>
                <a:effectLst/>
                <a:latin typeface="+mn-lt"/>
                <a:ea typeface="+mn-ea"/>
                <a:cs typeface="+mn-cs"/>
              </a:rPr>
              <a:t>、過濾垃圾訊息和遮蔽敏感個資。</a:t>
            </a:r>
          </a:p>
          <a:p>
            <a:r>
              <a:rPr lang="zh-TW" altLang="zh-TW" sz="1200" b="1" u="none" strike="noStrike" kern="1200" dirty="0">
                <a:solidFill>
                  <a:schemeClr val="tx1"/>
                </a:solidFill>
                <a:effectLst/>
                <a:latin typeface="+mn-lt"/>
                <a:ea typeface="+mn-ea"/>
                <a:cs typeface="+mn-cs"/>
              </a:rPr>
              <a:t>2. 文本分詞與向量化 (Tokenization &amp; Embedding)</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使用訓練好的分詞器（Tokenizer，如 BPE 演算法）將清洗後的文本切碎成最小語意單位（Tokens），並透過 </a:t>
            </a:r>
            <a:r>
              <a:rPr lang="zh-TW" altLang="zh-TW" sz="1200" b="1" u="none" strike="noStrike" kern="1200" dirty="0">
                <a:solidFill>
                  <a:schemeClr val="tx1"/>
                </a:solidFill>
                <a:effectLst/>
                <a:latin typeface="+mn-lt"/>
                <a:ea typeface="+mn-ea"/>
                <a:cs typeface="+mn-cs"/>
              </a:rPr>
              <a:t>Embedding 矩陣</a:t>
            </a:r>
            <a:r>
              <a:rPr lang="zh-TW" altLang="zh-TW" sz="1200" b="0" u="none" strike="noStrike" kern="1200" dirty="0">
                <a:solidFill>
                  <a:schemeClr val="tx1"/>
                </a:solidFill>
                <a:effectLst/>
                <a:latin typeface="+mn-lt"/>
                <a:ea typeface="+mn-ea"/>
                <a:cs typeface="+mn-cs"/>
              </a:rPr>
              <a:t>將這些 Token 轉換為高維度的數學向量，作為大模型能夠看懂的輸入。</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3. 自迴歸預測任務 (Autoregressive Next-Token Prediction)</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這是預訓練的核心訓練循環（Core training loop）。不依賴人工標籤，直接將前面的文本作為輸入，讓模型去</a:t>
            </a:r>
            <a:r>
              <a:rPr lang="zh-TW" altLang="zh-TW" sz="1200" b="1" u="none" strike="noStrike" kern="1200" dirty="0">
                <a:solidFill>
                  <a:schemeClr val="tx1"/>
                </a:solidFill>
                <a:effectLst/>
                <a:latin typeface="+mn-lt"/>
                <a:ea typeface="+mn-ea"/>
                <a:cs typeface="+mn-cs"/>
              </a:rPr>
              <a:t>預測下一個最可能出現的字（Token）</a:t>
            </a:r>
            <a:r>
              <a:rPr lang="zh-TW" altLang="zh-TW" sz="1200" b="0" u="none" strike="noStrike" kern="1200" dirty="0">
                <a:solidFill>
                  <a:schemeClr val="tx1"/>
                </a:solidFill>
                <a:effectLst/>
                <a:latin typeface="+mn-lt"/>
                <a:ea typeface="+mn-ea"/>
                <a:cs typeface="+mn-cs"/>
              </a:rPr>
              <a:t>。計算預測與真實字之間的</a:t>
            </a:r>
            <a:r>
              <a:rPr lang="zh-TW" altLang="zh-TW" sz="1200" b="1" u="none" strike="noStrike" kern="1200" dirty="0">
                <a:solidFill>
                  <a:schemeClr val="tx1"/>
                </a:solidFill>
                <a:effectLst/>
                <a:latin typeface="+mn-lt"/>
                <a:ea typeface="+mn-ea"/>
                <a:cs typeface="+mn-cs"/>
              </a:rPr>
              <a:t>交叉熵損失（Cross-Entropy Loss）</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4. 梯度反向傳播與參數優化 (Backpropagation &amp; Parameter Optimization)</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根據每一次預測產生的誤差（Loss），透過</a:t>
            </a:r>
            <a:r>
              <a:rPr lang="zh-TW" altLang="zh-TW" sz="1200" b="1" u="none" strike="noStrike" kern="1200" dirty="0">
                <a:solidFill>
                  <a:schemeClr val="tx1"/>
                </a:solidFill>
                <a:effectLst/>
                <a:latin typeface="+mn-lt"/>
                <a:ea typeface="+mn-ea"/>
                <a:cs typeface="+mn-cs"/>
              </a:rPr>
              <a:t>反向傳播演算法</a:t>
            </a:r>
            <a:r>
              <a:rPr lang="zh-TW" altLang="zh-TW" sz="1200" b="0" u="none" strike="noStrike" kern="1200" dirty="0">
                <a:solidFill>
                  <a:schemeClr val="tx1"/>
                </a:solidFill>
                <a:effectLst/>
                <a:latin typeface="+mn-lt"/>
                <a:ea typeface="+mn-ea"/>
                <a:cs typeface="+mn-cs"/>
              </a:rPr>
              <a:t>計算梯度，並利用優化器（如 AdamW）來更新調整模型內數十億個</a:t>
            </a:r>
            <a:r>
              <a:rPr lang="zh-TW" altLang="zh-TW" sz="1200" b="1" u="none" strike="noStrike" kern="1200" dirty="0">
                <a:solidFill>
                  <a:schemeClr val="tx1"/>
                </a:solidFill>
                <a:effectLst/>
                <a:latin typeface="+mn-lt"/>
                <a:ea typeface="+mn-ea"/>
                <a:cs typeface="+mn-cs"/>
              </a:rPr>
              <a:t>參數權重（Weights）</a:t>
            </a:r>
            <a:r>
              <a:rPr lang="zh-TW" altLang="zh-TW" sz="1200" b="0" u="none" strike="noStrike" kern="1200" dirty="0">
                <a:solidFill>
                  <a:schemeClr val="tx1"/>
                </a:solidFill>
                <a:effectLst/>
                <a:latin typeface="+mn-lt"/>
                <a:ea typeface="+mn-ea"/>
                <a:cs typeface="+mn-cs"/>
              </a:rPr>
              <a:t>，直到模型的預測越來越準確、損失值趨於穩定。</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預訓練的目標：</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1. 建立「世界知識庫」（World Knowledge Allocation）</a:t>
            </a:r>
          </a:p>
          <a:p>
            <a:r>
              <a:rPr lang="zh-TW" altLang="zh-TW" sz="1200" b="0" u="none" strike="noStrike" kern="1200" dirty="0">
                <a:solidFill>
                  <a:schemeClr val="tx1"/>
                </a:solidFill>
                <a:effectLst/>
                <a:latin typeface="+mn-lt"/>
                <a:ea typeface="+mn-ea"/>
                <a:cs typeface="+mn-cs"/>
              </a:rPr>
              <a:t>預訓練會給模型吞下海量的網際網路文本（如 Common Crawl、維基百科、書籍、科學論文、代碼庫等，動輒數萬億個 Tokens）。</a:t>
            </a:r>
          </a:p>
          <a:p>
            <a:r>
              <a:rPr lang="zh-TW" altLang="zh-TW" sz="1200" b="1" u="none" strike="noStrike" kern="1200" dirty="0">
                <a:solidFill>
                  <a:schemeClr val="tx1"/>
                </a:solidFill>
                <a:effectLst/>
                <a:latin typeface="+mn-lt"/>
                <a:ea typeface="+mn-ea"/>
                <a:cs typeface="+mn-cs"/>
              </a:rPr>
              <a:t>知識壓縮</a:t>
            </a:r>
            <a:r>
              <a:rPr lang="en-US"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範疇涵蓋</a:t>
            </a:r>
            <a:r>
              <a:rPr lang="zh-TW" altLang="zh-TW" sz="1200" b="0" u="none" strike="noStrike" kern="1200" dirty="0">
                <a:solidFill>
                  <a:schemeClr val="tx1"/>
                </a:solidFill>
                <a:effectLst/>
                <a:latin typeface="+mn-lt"/>
                <a:ea typeface="+mn-ea"/>
                <a:cs typeface="+mn-cs"/>
              </a:rPr>
              <a:t>：從歷史、物理、法律、醫學、程式語言，到各地風俗、網路流行語，模型必須在這個階段完成對人類現有知識體系的全面掃描。</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掌握「語言的統計規律與語法」（Language Modeling）</a:t>
            </a:r>
          </a:p>
          <a:p>
            <a:r>
              <a:rPr lang="zh-TW" altLang="zh-TW" sz="1200" b="0" u="none" strike="noStrike" kern="1200" dirty="0">
                <a:solidFill>
                  <a:schemeClr val="tx1"/>
                </a:solidFill>
                <a:effectLst/>
                <a:latin typeface="+mn-lt"/>
                <a:ea typeface="+mn-ea"/>
                <a:cs typeface="+mn-cs"/>
              </a:rPr>
              <a:t>預訓練本質上只做一件事：</a:t>
            </a:r>
            <a:r>
              <a:rPr lang="zh-TW" altLang="zh-TW" sz="1200" b="1" u="none" strike="noStrike" kern="1200" dirty="0">
                <a:solidFill>
                  <a:schemeClr val="tx1"/>
                </a:solidFill>
                <a:effectLst/>
                <a:latin typeface="+mn-lt"/>
                <a:ea typeface="+mn-ea"/>
                <a:cs typeface="+mn-cs"/>
              </a:rPr>
              <a:t>Next-token prediction（預測下一個字）</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多語言能力</a:t>
            </a:r>
            <a:r>
              <a:rPr lang="zh-TW" altLang="zh-TW" sz="1200" b="0" u="none" strike="noStrike" kern="1200" dirty="0">
                <a:solidFill>
                  <a:schemeClr val="tx1"/>
                </a:solidFill>
                <a:effectLst/>
                <a:latin typeface="+mn-lt"/>
                <a:ea typeface="+mn-ea"/>
                <a:cs typeface="+mn-cs"/>
              </a:rPr>
              <a:t>：透過閱讀不同語言的文本，模型在底層建立了跨語言的語意空間映射。</a:t>
            </a:r>
            <a:br>
              <a:rPr lang="en-US"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這就是為什麼模型即便用英文微調</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SFT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也能用中文回答，因為它的底層語意在預訓練階段就已經打通。</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激發「湧現能力」（Emergent Abilities）與推理</a:t>
            </a:r>
          </a:p>
          <a:p>
            <a:r>
              <a:rPr lang="zh-TW" altLang="zh-TW" sz="1200" b="0" u="none" strike="noStrike" kern="1200" dirty="0">
                <a:solidFill>
                  <a:schemeClr val="tx1"/>
                </a:solidFill>
                <a:effectLst/>
                <a:latin typeface="+mn-lt"/>
                <a:ea typeface="+mn-ea"/>
                <a:cs typeface="+mn-cs"/>
              </a:rPr>
              <a:t>當預訓練的數據量、模型參數和算力達到某個臨界點（通常是百億參數以上）時，模型會突然展現出小模型不具備的能力：</a:t>
            </a:r>
          </a:p>
          <a:p>
            <a:r>
              <a:rPr lang="zh-TW" altLang="zh-TW" sz="1200" b="1" u="none" strike="noStrike" kern="1200" dirty="0">
                <a:solidFill>
                  <a:schemeClr val="tx1"/>
                </a:solidFill>
                <a:effectLst/>
                <a:latin typeface="+mn-lt"/>
                <a:ea typeface="+mn-ea"/>
                <a:cs typeface="+mn-cs"/>
              </a:rPr>
              <a:t>Context-Awareness（脈絡感知）</a:t>
            </a:r>
            <a:r>
              <a:rPr lang="zh-TW" altLang="zh-TW" sz="1200" b="0" u="none" strike="noStrike" kern="1200" dirty="0">
                <a:solidFill>
                  <a:schemeClr val="tx1"/>
                </a:solidFill>
                <a:effectLst/>
                <a:latin typeface="+mn-lt"/>
                <a:ea typeface="+mn-ea"/>
                <a:cs typeface="+mn-cs"/>
              </a:rPr>
              <a:t>：能夠在極長的文本中保持邏輯連貫。</a:t>
            </a:r>
          </a:p>
          <a:p>
            <a:r>
              <a:rPr lang="zh-TW" altLang="zh-TW" sz="1200" b="1" u="none" strike="noStrike" kern="1200" dirty="0">
                <a:solidFill>
                  <a:schemeClr val="tx1"/>
                </a:solidFill>
                <a:effectLst/>
                <a:latin typeface="+mn-lt"/>
                <a:ea typeface="+mn-ea"/>
                <a:cs typeface="+mn-cs"/>
              </a:rPr>
              <a:t>In-Context Learning（上下文學習）</a:t>
            </a:r>
            <a:r>
              <a:rPr lang="zh-TW" altLang="zh-TW" sz="1200" b="0" u="none" strike="noStrike" kern="1200" dirty="0">
                <a:solidFill>
                  <a:schemeClr val="tx1"/>
                </a:solidFill>
                <a:effectLst/>
                <a:latin typeface="+mn-lt"/>
                <a:ea typeface="+mn-ea"/>
                <a:cs typeface="+mn-cs"/>
              </a:rPr>
              <a:t>：模型不需要更新權重，只要在 Prompt 中給它一兩個範例（Few-shot），它就能依葫蘆畫瓢學會新任務。</a:t>
            </a:r>
          </a:p>
          <a:p>
            <a:r>
              <a:rPr lang="zh-TW" altLang="zh-TW" sz="1200" b="1" u="none" strike="noStrike" kern="1200" dirty="0">
                <a:solidFill>
                  <a:schemeClr val="tx1"/>
                </a:solidFill>
                <a:effectLst/>
                <a:latin typeface="+mn-lt"/>
                <a:ea typeface="+mn-ea"/>
                <a:cs typeface="+mn-cs"/>
              </a:rPr>
              <a:t>邏輯推理</a:t>
            </a:r>
            <a:r>
              <a:rPr lang="zh-TW" altLang="zh-TW" sz="1200" b="0" u="none" strike="noStrike" kern="1200" dirty="0">
                <a:solidFill>
                  <a:schemeClr val="tx1"/>
                </a:solidFill>
                <a:effectLst/>
                <a:latin typeface="+mn-lt"/>
                <a:ea typeface="+mn-ea"/>
                <a:cs typeface="+mn-cs"/>
              </a:rPr>
              <a:t>：透過閱讀大量代碼和數學題，模型矩陣內演化出了處理符號、條件判斷、因果推導的抽象能力。</a:t>
            </a:r>
          </a:p>
          <a:p>
            <a:endParaRPr lang="zh-TW" altLang="en-US" b="1" dirty="0"/>
          </a:p>
        </p:txBody>
      </p:sp>
      <p:sp>
        <p:nvSpPr>
          <p:cNvPr id="4" name="投影片編號版面配置區 3">
            <a:extLst>
              <a:ext uri="{FF2B5EF4-FFF2-40B4-BE49-F238E27FC236}">
                <a16:creationId xmlns:a16="http://schemas.microsoft.com/office/drawing/2014/main" id="{E571E789-91A4-4763-2832-0D1D7771F35A}"/>
              </a:ext>
            </a:extLst>
          </p:cNvPr>
          <p:cNvSpPr>
            <a:spLocks noGrp="1"/>
          </p:cNvSpPr>
          <p:nvPr>
            <p:ph type="sldNum" sz="quarter" idx="5"/>
          </p:nvPr>
        </p:nvSpPr>
        <p:spPr/>
        <p:txBody>
          <a:bodyPr/>
          <a:lstStyle/>
          <a:p>
            <a:fld id="{E3A6CE5E-F349-486D-8749-82EF2AD71FA8}" type="slidenum">
              <a:rPr lang="zh-TW" altLang="en-US" smtClean="0"/>
              <a:t>16</a:t>
            </a:fld>
            <a:endParaRPr lang="zh-TW" altLang="en-US"/>
          </a:p>
        </p:txBody>
      </p:sp>
    </p:spTree>
    <p:extLst>
      <p:ext uri="{BB962C8B-B14F-4D97-AF65-F5344CB8AC3E}">
        <p14:creationId xmlns:p14="http://schemas.microsoft.com/office/powerpoint/2010/main" val="2437061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CE063-A9C3-2560-BC55-ACC769FCB31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E20942C-B5F8-D9E2-69EB-E38D83E308E0}"/>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E37B8BE8-9756-A873-B485-216A919B27C8}"/>
              </a:ext>
            </a:extLst>
          </p:cNvPr>
          <p:cNvSpPr>
            <a:spLocks noGrp="1"/>
          </p:cNvSpPr>
          <p:nvPr>
            <p:ph type="body" idx="1"/>
          </p:nvPr>
        </p:nvSpPr>
        <p:spPr/>
        <p:txBody>
          <a:bodyPr/>
          <a:lstStyle/>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Traditional Programming</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Rules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outputs </a:t>
            </a:r>
            <a:r>
              <a:rPr lang="en-US" altLang="zh-TW" b="1" u="none" strike="noStrike" dirty="0">
                <a:effectLst/>
                <a:latin typeface="Google Sans"/>
              </a:rPr>
              <a:t>Answers</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Machine Learning (ML)</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Answers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discovers the </a:t>
            </a:r>
            <a:r>
              <a:rPr lang="en-US" altLang="zh-TW" b="1" u="none" strike="noStrike" dirty="0">
                <a:effectLst/>
                <a:latin typeface="Google Sans"/>
              </a:rPr>
              <a:t>Rules (Model)</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sz="1200" b="1" u="none" strike="noStrike" kern="1200" dirty="0">
                <a:solidFill>
                  <a:schemeClr val="tx1"/>
                </a:solidFill>
                <a:effectLst/>
                <a:latin typeface="+mn-lt"/>
                <a:ea typeface="+mn-ea"/>
                <a:cs typeface="+mn-cs"/>
              </a:rPr>
              <a:t>Essence</a:t>
            </a:r>
            <a:r>
              <a:rPr lang="en-US" altLang="zh-TW" sz="1200" b="0" u="none" strike="noStrike" kern="1200" dirty="0">
                <a:solidFill>
                  <a:schemeClr val="tx1"/>
                </a:solidFill>
                <a:effectLst/>
                <a:latin typeface="+mn-lt"/>
                <a:ea typeface="+mn-ea"/>
                <a:cs typeface="+mn-cs"/>
              </a:rPr>
              <a:t>: Enabling computers to learn from historical data to predict unknown future outcomes.</a:t>
            </a:r>
          </a:p>
          <a:p>
            <a:pPr>
              <a:lnSpc>
                <a:spcPts val="1800"/>
              </a:lnSpc>
              <a:spcBef>
                <a:spcPts val="600"/>
              </a:spcBef>
              <a:spcAft>
                <a:spcPts val="600"/>
              </a:spcAft>
              <a:buFont typeface="Arial" panose="020B0604020202020204" pitchFamily="34" charset="0"/>
              <a:buChar char="•"/>
            </a:pPr>
            <a:endParaRPr lang="en-US" altLang="zh-TW" sz="1200" b="0" u="none" strike="noStrike" kern="1200" dirty="0">
              <a:solidFill>
                <a:schemeClr val="tx1"/>
              </a:solidFill>
              <a:effectLst/>
              <a:latin typeface="+mn-lt"/>
              <a:ea typeface="+mn-ea"/>
              <a:cs typeface="+mn-cs"/>
            </a:endParaRP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Traditional Programming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AI</a:t>
            </a:r>
            <a:r>
              <a:rPr lang="en-US" altLang="zh-TW" sz="1200" dirty="0">
                <a:latin typeface="微軟正黑體" panose="020B0604030504040204" pitchFamily="34" charset="-120"/>
                <a:ea typeface="微軟正黑體" panose="020B0604030504040204" pitchFamily="34" charset="-120"/>
              </a:rPr>
              <a:t> </a:t>
            </a: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(RD) Deduction(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(Machine) Inductive Learning </a:t>
            </a:r>
            <a:r>
              <a:rPr lang="en-US" altLang="zh-TW" sz="1200" dirty="0">
                <a:latin typeface="微軟正黑體" panose="020B0604030504040204" pitchFamily="34" charset="-120"/>
                <a:ea typeface="微軟正黑體" panose="020B0604030504040204" pitchFamily="34" charset="-120"/>
              </a:rPr>
              <a:t>(Observation</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features  Labels)</a:t>
            </a:r>
          </a:p>
          <a:p>
            <a:endParaRPr lang="zh-TW" altLang="en-US" dirty="0"/>
          </a:p>
        </p:txBody>
      </p:sp>
      <p:sp>
        <p:nvSpPr>
          <p:cNvPr id="4" name="投影片編號版面配置區 3">
            <a:extLst>
              <a:ext uri="{FF2B5EF4-FFF2-40B4-BE49-F238E27FC236}">
                <a16:creationId xmlns:a16="http://schemas.microsoft.com/office/drawing/2014/main" id="{551000B0-C76B-5CB5-0E01-DCEAF9B2D28E}"/>
              </a:ext>
            </a:extLst>
          </p:cNvPr>
          <p:cNvSpPr>
            <a:spLocks noGrp="1"/>
          </p:cNvSpPr>
          <p:nvPr>
            <p:ph type="sldNum" sz="quarter" idx="5"/>
          </p:nvPr>
        </p:nvSpPr>
        <p:spPr/>
        <p:txBody>
          <a:bodyPr/>
          <a:lstStyle/>
          <a:p>
            <a:fld id="{E3A6CE5E-F349-486D-8749-82EF2AD71FA8}" type="slidenum">
              <a:rPr lang="zh-TW" altLang="en-US" smtClean="0"/>
              <a:t>17</a:t>
            </a:fld>
            <a:endParaRPr lang="zh-TW" altLang="en-US"/>
          </a:p>
        </p:txBody>
      </p:sp>
    </p:spTree>
    <p:extLst>
      <p:ext uri="{BB962C8B-B14F-4D97-AF65-F5344CB8AC3E}">
        <p14:creationId xmlns:p14="http://schemas.microsoft.com/office/powerpoint/2010/main" val="1103276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ACB4D-EB0C-6F94-5AFB-171B565F6CC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EF19517-2DEC-FC89-C498-25449BA60BF5}"/>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FEDAB6F-6B6E-9ECF-4575-0F2CB1462324}"/>
              </a:ext>
            </a:extLst>
          </p:cNvPr>
          <p:cNvSpPr>
            <a:spLocks noGrp="1"/>
          </p:cNvSpPr>
          <p:nvPr>
            <p:ph type="body" idx="1"/>
          </p:nvPr>
        </p:nvSpPr>
        <p:spPr/>
        <p:txBody>
          <a:bodyPr/>
          <a:lstStyle/>
          <a:p>
            <a:pPr marL="228600" indent="-228600">
              <a:buAutoNum type="arabicPeriod"/>
            </a:pPr>
            <a:r>
              <a:rPr lang="zh-TW" altLang="en-US" sz="1200" b="1" u="none" strike="noStrike" kern="1200" dirty="0">
                <a:solidFill>
                  <a:schemeClr val="tx1"/>
                </a:solidFill>
                <a:effectLst/>
                <a:latin typeface="+mn-lt"/>
                <a:ea typeface="+mn-ea"/>
                <a:cs typeface="+mn-cs"/>
              </a:rPr>
              <a:t>少了激活函數</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權重會退化成</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單一矩陣</a:t>
            </a:r>
            <a:r>
              <a:rPr lang="en-US" altLang="zh-TW" sz="1200" b="1" u="none" strike="noStrike" kern="1200" dirty="0">
                <a:solidFill>
                  <a:schemeClr val="tx1"/>
                </a:solidFill>
                <a:effectLst/>
                <a:latin typeface="+mn-lt"/>
                <a:ea typeface="+mn-ea"/>
                <a:cs typeface="+mn-cs"/>
              </a:rPr>
              <a:t>”</a:t>
            </a:r>
          </a:p>
          <a:p>
            <a:pPr marL="228600" indent="-228600">
              <a:buAutoNum type="arabicPeriod"/>
            </a:pPr>
            <a:r>
              <a:rPr lang="zh-TW" altLang="en-US" sz="1200" b="1" u="none" strike="noStrike" kern="1200" dirty="0">
                <a:solidFill>
                  <a:schemeClr val="tx1"/>
                </a:solidFill>
                <a:effectLst/>
                <a:latin typeface="+mn-lt"/>
                <a:ea typeface="+mn-ea"/>
                <a:cs typeface="+mn-cs"/>
              </a:rPr>
              <a:t>問題</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降著降著</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梯度消失</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正規化可以防止反向傳遞被</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大數值資料</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誤導</a:t>
            </a:r>
            <a:endParaRPr lang="en-US" altLang="zh-TW" sz="1200" b="1" u="none" strike="noStrike" kern="1200" dirty="0">
              <a:solidFill>
                <a:schemeClr val="tx1"/>
              </a:solidFill>
              <a:effectLst/>
              <a:latin typeface="+mn-lt"/>
              <a:ea typeface="+mn-ea"/>
              <a:cs typeface="+mn-cs"/>
            </a:endParaRPr>
          </a:p>
          <a:p>
            <a:endParaRPr lang="en-US" altLang="zh-TW" dirty="0"/>
          </a:p>
          <a:p>
            <a:r>
              <a:rPr lang="zh-TW" altLang="en-US" sz="1200" b="1" u="none" strike="noStrike" kern="1200" dirty="0">
                <a:solidFill>
                  <a:schemeClr val="tx1"/>
                </a:solidFill>
                <a:effectLst/>
                <a:latin typeface="+mn-lt"/>
                <a:ea typeface="+mn-ea"/>
                <a:cs typeface="+mn-cs"/>
              </a:rPr>
              <a:t>權重的梯度 </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endParaRPr lang="en-US" altLang="zh-TW" sz="1200" b="1" u="none" strike="noStrike" kern="1200" dirty="0">
              <a:solidFill>
                <a:schemeClr val="tx1"/>
              </a:solidFill>
              <a:effectLst/>
              <a:latin typeface="+mn-lt"/>
              <a:ea typeface="+mn-ea"/>
              <a:cs typeface="+mn-cs"/>
            </a:endParaRPr>
          </a:p>
          <a:p>
            <a:r>
              <a:rPr lang="zh-TW" altLang="en-US" sz="1200" b="1" u="none" strike="noStrike" kern="1200" dirty="0">
                <a:solidFill>
                  <a:schemeClr val="tx1"/>
                </a:solidFill>
                <a:effectLst/>
                <a:latin typeface="+mn-lt"/>
                <a:ea typeface="+mn-ea"/>
                <a:cs typeface="+mn-cs"/>
              </a:rPr>
              <a:t>學習率</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快慢 </a:t>
            </a:r>
            <a:br>
              <a:rPr lang="en-US" altLang="zh-TW" sz="1200" b="1" u="none" strike="noStrike" kern="1200" dirty="0">
                <a:solidFill>
                  <a:schemeClr val="tx1"/>
                </a:solidFill>
                <a:effectLst/>
                <a:latin typeface="+mn-lt"/>
                <a:ea typeface="+mn-ea"/>
                <a:cs typeface="+mn-cs"/>
              </a:rPr>
            </a:br>
            <a:r>
              <a:rPr lang="zh-TW" altLang="en-US" sz="1200" b="1" u="none" strike="noStrike" kern="1200" dirty="0">
                <a:solidFill>
                  <a:schemeClr val="tx1"/>
                </a:solidFill>
                <a:effectLst/>
                <a:latin typeface="+mn-lt"/>
                <a:ea typeface="+mn-ea"/>
                <a:cs typeface="+mn-cs"/>
              </a:rPr>
              <a:t>訓練資料</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比重分配</a:t>
            </a:r>
            <a:br>
              <a:rPr lang="en-US" altLang="zh-TW" sz="1200" b="1" u="none" strike="noStrike" kern="1200" dirty="0">
                <a:solidFill>
                  <a:schemeClr val="tx1"/>
                </a:solidFill>
                <a:effectLst/>
                <a:latin typeface="+mn-lt"/>
                <a:ea typeface="+mn-ea"/>
                <a:cs typeface="+mn-cs"/>
              </a:rPr>
            </a:br>
            <a:r>
              <a:rPr lang="zh-TW" altLang="en-US" sz="1200" b="1" u="none" strike="noStrike" kern="1200" dirty="0">
                <a:solidFill>
                  <a:schemeClr val="tx1"/>
                </a:solidFill>
                <a:effectLst/>
                <a:latin typeface="+mn-lt"/>
                <a:ea typeface="+mn-ea"/>
                <a:cs typeface="+mn-cs"/>
              </a:rPr>
              <a:t>誤差</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力道</a:t>
            </a:r>
            <a:br>
              <a:rPr lang="en-US" altLang="zh-TW" sz="1200" b="1" u="none" strike="noStrike" kern="1200" dirty="0">
                <a:solidFill>
                  <a:schemeClr val="tx1"/>
                </a:solidFill>
                <a:effectLst/>
                <a:latin typeface="+mn-lt"/>
                <a:ea typeface="+mn-ea"/>
                <a:cs typeface="+mn-cs"/>
              </a:rPr>
            </a:br>
            <a:endParaRPr lang="zh-TW" altLang="zh-TW" dirty="0"/>
          </a:p>
          <a:p>
            <a:endParaRPr lang="en-US" altLang="zh-TW" sz="1200" b="0" u="none" strike="noStrike" kern="1200" dirty="0">
              <a:solidFill>
                <a:schemeClr val="tx1"/>
              </a:solidFill>
              <a:effectLst/>
              <a:latin typeface="+mn-lt"/>
              <a:ea typeface="+mn-ea"/>
              <a:cs typeface="+mn-cs"/>
            </a:endParaRPr>
          </a:p>
          <a:p>
            <a:endParaRPr lang="en-US" altLang="zh-TW" dirty="0"/>
          </a:p>
          <a:p>
            <a:endParaRPr lang="zh-TW" altLang="zh-TW" dirty="0"/>
          </a:p>
        </p:txBody>
      </p:sp>
      <p:sp>
        <p:nvSpPr>
          <p:cNvPr id="4" name="投影片編號版面配置區 3">
            <a:extLst>
              <a:ext uri="{FF2B5EF4-FFF2-40B4-BE49-F238E27FC236}">
                <a16:creationId xmlns:a16="http://schemas.microsoft.com/office/drawing/2014/main" id="{9D0520A4-0224-B3B2-056D-6DA174DF5508}"/>
              </a:ext>
            </a:extLst>
          </p:cNvPr>
          <p:cNvSpPr>
            <a:spLocks noGrp="1"/>
          </p:cNvSpPr>
          <p:nvPr>
            <p:ph type="sldNum" sz="quarter" idx="5"/>
          </p:nvPr>
        </p:nvSpPr>
        <p:spPr/>
        <p:txBody>
          <a:bodyPr/>
          <a:lstStyle/>
          <a:p>
            <a:fld id="{E3A6CE5E-F349-486D-8749-82EF2AD71FA8}" type="slidenum">
              <a:rPr lang="zh-TW" altLang="en-US" smtClean="0"/>
              <a:t>18</a:t>
            </a:fld>
            <a:endParaRPr lang="zh-TW" altLang="en-US"/>
          </a:p>
        </p:txBody>
      </p:sp>
    </p:spTree>
    <p:extLst>
      <p:ext uri="{BB962C8B-B14F-4D97-AF65-F5344CB8AC3E}">
        <p14:creationId xmlns:p14="http://schemas.microsoft.com/office/powerpoint/2010/main" val="943983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4C43C-3F92-617A-111F-14097B5BAC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24C6BC9-B6F2-5C54-1C49-7FC0979C27AA}"/>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FE7B92B9-B68A-1546-1652-06F0B47D6560}"/>
              </a:ext>
            </a:extLst>
          </p:cNvPr>
          <p:cNvSpPr>
            <a:spLocks noGrp="1"/>
          </p:cNvSpPr>
          <p:nvPr>
            <p:ph type="body" idx="1"/>
          </p:nvPr>
        </p:nvSpPr>
        <p:spPr/>
        <p:txBody>
          <a:bodyPr/>
          <a:lstStyle/>
          <a:p>
            <a:r>
              <a:rPr lang="zh-TW" altLang="en-US" dirty="0"/>
              <a:t>半導體製造 </a:t>
            </a:r>
            <a:r>
              <a:rPr lang="en-US" altLang="zh-TW" dirty="0">
                <a:sym typeface="Wingdings" panose="05000000000000000000" pitchFamily="2" charset="2"/>
              </a:rPr>
              <a:t></a:t>
            </a:r>
            <a:r>
              <a:rPr lang="zh-TW" altLang="en-US" dirty="0">
                <a:sym typeface="Wingdings" panose="05000000000000000000" pitchFamily="2" charset="2"/>
              </a:rPr>
              <a:t> 封測 </a:t>
            </a:r>
            <a:r>
              <a:rPr lang="en-US" altLang="zh-TW" dirty="0">
                <a:sym typeface="Wingdings" panose="05000000000000000000" pitchFamily="2" charset="2"/>
              </a:rPr>
              <a:t></a:t>
            </a:r>
            <a:r>
              <a:rPr lang="zh-TW" altLang="en-US" dirty="0">
                <a:sym typeface="Wingdings" panose="05000000000000000000" pitchFamily="2" charset="2"/>
              </a:rPr>
              <a:t> 電路板 </a:t>
            </a:r>
            <a:r>
              <a:rPr lang="en-US" altLang="zh-TW" dirty="0">
                <a:sym typeface="Wingdings" panose="05000000000000000000" pitchFamily="2" charset="2"/>
              </a:rPr>
              <a:t></a:t>
            </a:r>
            <a:r>
              <a:rPr lang="zh-TW" altLang="en-US" dirty="0">
                <a:sym typeface="Wingdings" panose="05000000000000000000" pitchFamily="2" charset="2"/>
              </a:rPr>
              <a:t> 被動元件</a:t>
            </a:r>
            <a:endParaRPr lang="en-US" altLang="zh-TW" dirty="0">
              <a:sym typeface="Wingdings" panose="05000000000000000000" pitchFamily="2" charset="2"/>
            </a:endParaRPr>
          </a:p>
          <a:p>
            <a:r>
              <a:rPr lang="zh-TW" altLang="en-US" dirty="0">
                <a:sym typeface="Wingdings" panose="05000000000000000000" pitchFamily="2" charset="2"/>
              </a:rPr>
              <a:t> </a:t>
            </a:r>
            <a:endParaRPr lang="en-US" altLang="zh-TW" dirty="0"/>
          </a:p>
          <a:p>
            <a:r>
              <a:rPr lang="en-US" altLang="zh-TW" dirty="0"/>
              <a:t>Multi GPU </a:t>
            </a:r>
            <a:r>
              <a:rPr lang="en-US" altLang="zh-TW" dirty="0">
                <a:sym typeface="Wingdings" panose="05000000000000000000" pitchFamily="2" charset="2"/>
              </a:rPr>
              <a:t> HBM  CoWoS/</a:t>
            </a:r>
            <a:r>
              <a:rPr lang="en-US" altLang="zh-TW" dirty="0" err="1">
                <a:sym typeface="Wingdings" panose="05000000000000000000" pitchFamily="2" charset="2"/>
              </a:rPr>
              <a:t>CoPos</a:t>
            </a:r>
            <a:r>
              <a:rPr lang="en-US" altLang="zh-TW" dirty="0">
                <a:sym typeface="Wingdings" panose="05000000000000000000" pitchFamily="2" charset="2"/>
              </a:rPr>
              <a:t>   CPO</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WSE</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TPU / AI CHIP</a:t>
            </a:r>
          </a:p>
          <a:p>
            <a:r>
              <a:rPr lang="en-US" altLang="zh-TW" dirty="0">
                <a:sym typeface="Wingdings" panose="05000000000000000000" pitchFamily="2" charset="2"/>
              </a:rPr>
              <a:t>CoWoS  PCB</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CCL</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MLCC</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endParaRPr lang="en-US" altLang="zh-TW" dirty="0">
              <a:sym typeface="Wingdings" panose="05000000000000000000" pitchFamily="2" charset="2"/>
            </a:endParaRPr>
          </a:p>
          <a:p>
            <a:r>
              <a:rPr lang="en-US" altLang="zh-TW" dirty="0">
                <a:sym typeface="Wingdings" panose="05000000000000000000" pitchFamily="2" charset="2"/>
              </a:rPr>
              <a:t>HBM</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CPO(Co-Packaged Optics)</a:t>
            </a:r>
          </a:p>
          <a:p>
            <a:endParaRPr lang="en-US" altLang="zh-TW" dirty="0"/>
          </a:p>
          <a:p>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）是PCB的核心基礎材料，約占PCB成本的40%。</a:t>
            </a:r>
            <a:endParaRPr lang="en-US" altLang="zh-TW" dirty="0"/>
          </a:p>
          <a:p>
            <a:r>
              <a:rPr lang="zh-TW" altLang="zh-TW" dirty="0"/>
              <a:t>其結構猶如「夾心餅乾」，由外層的導電銅箔，與中間夾層的「絕緣補強材料（如玻璃纖維布）」加「樹脂」高溫高壓貼合而成。</a:t>
            </a:r>
            <a:endParaRPr lang="en-US" altLang="zh-TW" dirty="0"/>
          </a:p>
          <a:p>
            <a:r>
              <a:rPr lang="zh-TW" altLang="zh-TW" sz="1200" b="1" u="none" strike="noStrike" kern="1200" dirty="0">
                <a:solidFill>
                  <a:schemeClr val="tx1"/>
                </a:solidFill>
                <a:effectLst/>
                <a:latin typeface="+mn-lt"/>
                <a:ea typeface="+mn-ea"/>
                <a:cs typeface="+mn-cs"/>
              </a:rPr>
              <a:t>銅箔基板的組成</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銅箔 (約占 40%)</a:t>
            </a:r>
            <a:r>
              <a:rPr lang="zh-TW" altLang="zh-TW" sz="1200" b="0" u="none" strike="noStrike" kern="1200" dirty="0">
                <a:solidFill>
                  <a:schemeClr val="tx1"/>
                </a:solidFill>
                <a:effectLst/>
                <a:latin typeface="+mn-lt"/>
                <a:ea typeface="+mn-ea"/>
                <a:cs typeface="+mn-cs"/>
              </a:rPr>
              <a:t>導電層</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樹脂 (約占 30%)</a:t>
            </a:r>
            <a:r>
              <a:rPr lang="zh-TW" altLang="zh-TW" sz="1200" b="0" u="none" strike="noStrike" kern="1200" dirty="0">
                <a:solidFill>
                  <a:schemeClr val="tx1"/>
                </a:solidFill>
                <a:effectLst/>
                <a:latin typeface="+mn-lt"/>
                <a:ea typeface="+mn-ea"/>
                <a:cs typeface="+mn-cs"/>
              </a:rPr>
              <a:t>絕緣體提供耐熱性與黏合力</a:t>
            </a:r>
            <a:r>
              <a:rPr lang="en-US"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補強材料 (約占 30%)</a:t>
            </a:r>
            <a:r>
              <a:rPr lang="zh-TW" altLang="zh-TW" dirty="0"/>
              <a:t>：通常為玻璃纖維布</a:t>
            </a:r>
            <a:r>
              <a:rPr lang="en-US" altLang="zh-TW" dirty="0"/>
              <a:t>.</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台廠 CCL 龍頭（概念股）</a:t>
            </a:r>
            <a:r>
              <a:rPr lang="zh-TW" altLang="zh-TW" dirty="0"/>
              <a:t>：包含台光電 (2383)、台燿 (6274)、聯茂 (6213)，以及南亞 (1303) 等。</a:t>
            </a:r>
            <a:endParaRPr lang="en-US" altLang="zh-TW" dirty="0"/>
          </a:p>
          <a:p>
            <a:endParaRPr lang="en-US" altLang="zh-TW" dirty="0"/>
          </a:p>
          <a:p>
            <a:r>
              <a:rPr lang="zh-TW" altLang="zh-TW" dirty="0"/>
              <a:t>隨著 </a:t>
            </a:r>
            <a:r>
              <a:rPr lang="zh-TW" altLang="zh-TW" sz="1200" b="1" u="none" strike="noStrike" kern="1200" dirty="0">
                <a:solidFill>
                  <a:schemeClr val="tx1"/>
                </a:solidFill>
                <a:effectLst/>
                <a:latin typeface="+mn-lt"/>
                <a:ea typeface="+mn-ea"/>
                <a:cs typeface="+mn-cs"/>
              </a:rPr>
              <a:t>AI 伺服器</a:t>
            </a:r>
            <a:r>
              <a:rPr lang="zh-TW" altLang="zh-TW" dirty="0"/>
              <a:t>與 </a:t>
            </a:r>
            <a:r>
              <a:rPr lang="zh-TW" altLang="zh-TW" sz="1200" b="1" u="none" strike="noStrike" kern="1200" dirty="0">
                <a:solidFill>
                  <a:schemeClr val="tx1"/>
                </a:solidFill>
                <a:effectLst/>
                <a:latin typeface="+mn-lt"/>
                <a:ea typeface="+mn-ea"/>
                <a:cs typeface="+mn-cs"/>
              </a:rPr>
              <a:t>5G/高速通訊</a:t>
            </a:r>
            <a:r>
              <a:rPr lang="zh-TW" altLang="zh-TW" dirty="0"/>
              <a:t>快速發展，傳統消費電子的板材已無法負荷龐大的資料傳輸量與高發熱量。</a:t>
            </a:r>
            <a:endParaRPr lang="en-US" altLang="zh-TW" dirty="0"/>
          </a:p>
          <a:p>
            <a:r>
              <a:rPr lang="zh-TW" altLang="zh-TW" sz="1200" b="1" u="none" strike="noStrike" kern="1200" dirty="0">
                <a:solidFill>
                  <a:schemeClr val="tx1"/>
                </a:solidFill>
                <a:effectLst/>
                <a:latin typeface="+mn-lt"/>
                <a:ea typeface="+mn-ea"/>
                <a:cs typeface="+mn-cs"/>
              </a:rPr>
              <a:t>規格升級</a:t>
            </a:r>
            <a:r>
              <a:rPr lang="zh-TW" altLang="zh-TW" sz="1200" b="0" u="none" strike="noStrike" kern="1200" dirty="0">
                <a:solidFill>
                  <a:schemeClr val="tx1"/>
                </a:solidFill>
                <a:effectLst/>
                <a:latin typeface="+mn-lt"/>
                <a:ea typeface="+mn-ea"/>
                <a:cs typeface="+mn-cs"/>
              </a:rPr>
              <a:t>：高階 AI 伺服器對 CCL 的用量是傳統伺服器的 5 至 7 倍，且「低損耗（Low Loss / M8-M9等級）」材料以避免訊號干擾。</a:t>
            </a:r>
            <a:r>
              <a:rPr lang="zh-TW" altLang="zh-TW" sz="1200" b="1" u="none" strike="noStrike" kern="1200" dirty="0">
                <a:solidFill>
                  <a:schemeClr val="tx1"/>
                </a:solidFill>
                <a:effectLst/>
                <a:latin typeface="+mn-lt"/>
                <a:ea typeface="+mn-ea"/>
                <a:cs typeface="+mn-cs"/>
              </a:rPr>
              <a:t>長線商機</a:t>
            </a:r>
            <a:r>
              <a:rPr lang="zh-TW" altLang="zh-TW" sz="1200" b="0" u="none" strike="noStrike" kern="1200" dirty="0">
                <a:solidFill>
                  <a:schemeClr val="tx1"/>
                </a:solidFill>
                <a:effectLst/>
                <a:latin typeface="+mn-lt"/>
                <a:ea typeface="+mn-ea"/>
                <a:cs typeface="+mn-cs"/>
              </a:rPr>
              <a:t>：高階 CCL 認證門檻高、驗證週期長（通常需 2~3 年），因此一旦打入特定供應鏈，訂單穩定度與毛利率皆相當可觀。</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dirty="0"/>
              <a:t>紙質酚醛基板</a:t>
            </a:r>
            <a:r>
              <a:rPr lang="en-US" altLang="zh-TW" dirty="0"/>
              <a:t>(CCL/FR-1)</a:t>
            </a:r>
            <a:r>
              <a:rPr lang="en-US" altLang="zh-TW" dirty="0">
                <a:sym typeface="Wingdings" panose="05000000000000000000" pitchFamily="2" charset="2"/>
              </a:rPr>
              <a:t></a:t>
            </a:r>
            <a:r>
              <a:rPr lang="zh-TW" altLang="en-US" dirty="0">
                <a:sym typeface="Wingdings" panose="05000000000000000000" pitchFamily="2" charset="2"/>
              </a:rPr>
              <a:t>複合基板</a:t>
            </a:r>
            <a:r>
              <a:rPr lang="en-US" altLang="zh-TW" dirty="0">
                <a:sym typeface="Wingdings" panose="05000000000000000000" pitchFamily="2" charset="2"/>
              </a:rPr>
              <a:t>(CEM),</a:t>
            </a:r>
            <a:r>
              <a:rPr lang="zh-TW" altLang="en-US" dirty="0">
                <a:sym typeface="Wingdings" panose="05000000000000000000" pitchFamily="2" charset="2"/>
              </a:rPr>
              <a:t>玻璃纖維</a:t>
            </a:r>
            <a:r>
              <a:rPr lang="en-US" altLang="zh-TW" dirty="0">
                <a:sym typeface="Wingdings" panose="05000000000000000000" pitchFamily="2" charset="2"/>
              </a:rPr>
              <a:t>(FR-4) </a:t>
            </a:r>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ABF</a:t>
            </a:r>
            <a:r>
              <a:rPr lang="zh-TW" altLang="en-US" dirty="0">
                <a:sym typeface="Wingdings" panose="05000000000000000000" pitchFamily="2" charset="2"/>
              </a:rPr>
              <a:t>載板</a:t>
            </a:r>
            <a:r>
              <a:rPr lang="en-US" altLang="zh-TW" dirty="0">
                <a:sym typeface="Wingdings" panose="05000000000000000000" pitchFamily="2" charset="2"/>
              </a:rPr>
              <a:t>(</a:t>
            </a:r>
            <a:r>
              <a:rPr lang="zh-TW" altLang="zh-TW" dirty="0"/>
              <a:t>在絕緣層上精準電鍍「長」出線路</a:t>
            </a:r>
            <a:r>
              <a:rPr lang="en-US" altLang="zh-TW" dirty="0"/>
              <a:t>)</a:t>
            </a:r>
            <a:r>
              <a:rPr lang="zh-TW" altLang="en-US" dirty="0"/>
              <a:t> </a:t>
            </a:r>
            <a:r>
              <a:rPr lang="en-US" altLang="zh-TW" dirty="0">
                <a:sym typeface="Wingdings" panose="05000000000000000000" pitchFamily="2" charset="2"/>
              </a:rPr>
              <a:t></a:t>
            </a:r>
            <a:r>
              <a:rPr lang="zh-TW" altLang="zh-TW" dirty="0"/>
              <a:t>「</a:t>
            </a:r>
            <a:r>
              <a:rPr lang="zh-TW" altLang="zh-TW" sz="1200" b="1" u="none" strike="noStrike" kern="1200" dirty="0">
                <a:solidFill>
                  <a:schemeClr val="tx1"/>
                </a:solidFill>
                <a:effectLst/>
                <a:latin typeface="+mn-lt"/>
                <a:ea typeface="+mn-ea"/>
                <a:cs typeface="+mn-cs"/>
              </a:rPr>
              <a:t>玻璃基板（TGV）</a:t>
            </a:r>
            <a:r>
              <a:rPr lang="zh-TW" altLang="zh-TW" dirty="0"/>
              <a:t>」封裝技術</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1" u="none" strike="noStrike" kern="1200" dirty="0">
                <a:solidFill>
                  <a:schemeClr val="tx1"/>
                </a:solidFill>
                <a:effectLst/>
                <a:latin typeface="+mn-lt"/>
                <a:ea typeface="+mn-ea"/>
                <a:cs typeface="+mn-cs"/>
              </a:rPr>
              <a:t>紙質</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易碎、耐熱差</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玻璃纖維</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強韌、耐熱</a:t>
            </a:r>
            <a:r>
              <a:rPr lang="zh-TW" altLang="zh-TW" sz="1200" b="0" u="none" strike="noStrike" kern="1200" dirty="0">
                <a:solidFill>
                  <a:schemeClr val="tx1"/>
                </a:solidFill>
                <a:effectLst/>
                <a:latin typeface="+mn-lt"/>
                <a:ea typeface="+mn-ea"/>
                <a:cs typeface="+mn-cs"/>
              </a:rPr>
              <a:t>)</a:t>
            </a:r>
            <a:r>
              <a:rPr lang="en-US" altLang="zh-TW" sz="1200" b="0"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高階塑膠/樹脂變革</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高速、低損耗</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純玻璃</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極平整、半導體級微細線路</a:t>
            </a:r>
            <a:r>
              <a:rPr lang="en-US" altLang="zh-TW" sz="1200" b="1"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1B08B8BE-12FB-F318-5E99-AEE0EC55B6A0}"/>
              </a:ext>
            </a:extLst>
          </p:cNvPr>
          <p:cNvSpPr>
            <a:spLocks noGrp="1"/>
          </p:cNvSpPr>
          <p:nvPr>
            <p:ph type="sldNum" sz="quarter" idx="5"/>
          </p:nvPr>
        </p:nvSpPr>
        <p:spPr/>
        <p:txBody>
          <a:bodyPr/>
          <a:lstStyle/>
          <a:p>
            <a:fld id="{E3A6CE5E-F349-486D-8749-82EF2AD71FA8}" type="slidenum">
              <a:rPr lang="zh-TW" altLang="en-US" smtClean="0"/>
              <a:t>19</a:t>
            </a:fld>
            <a:endParaRPr lang="zh-TW" altLang="en-US"/>
          </a:p>
        </p:txBody>
      </p:sp>
    </p:spTree>
    <p:extLst>
      <p:ext uri="{BB962C8B-B14F-4D97-AF65-F5344CB8AC3E}">
        <p14:creationId xmlns:p14="http://schemas.microsoft.com/office/powerpoint/2010/main" val="2282963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半導體製造 </a:t>
            </a:r>
            <a:r>
              <a:rPr lang="en-US" altLang="zh-TW" dirty="0">
                <a:sym typeface="Wingdings" panose="05000000000000000000" pitchFamily="2" charset="2"/>
              </a:rPr>
              <a:t></a:t>
            </a:r>
            <a:r>
              <a:rPr lang="zh-TW" altLang="en-US" dirty="0">
                <a:sym typeface="Wingdings" panose="05000000000000000000" pitchFamily="2" charset="2"/>
              </a:rPr>
              <a:t> 封測 </a:t>
            </a:r>
            <a:r>
              <a:rPr lang="en-US" altLang="zh-TW" dirty="0">
                <a:sym typeface="Wingdings" panose="05000000000000000000" pitchFamily="2" charset="2"/>
              </a:rPr>
              <a:t></a:t>
            </a:r>
            <a:r>
              <a:rPr lang="zh-TW" altLang="en-US" dirty="0">
                <a:sym typeface="Wingdings" panose="05000000000000000000" pitchFamily="2" charset="2"/>
              </a:rPr>
              <a:t> 電路板 </a:t>
            </a:r>
            <a:r>
              <a:rPr lang="en-US" altLang="zh-TW" dirty="0">
                <a:sym typeface="Wingdings" panose="05000000000000000000" pitchFamily="2" charset="2"/>
              </a:rPr>
              <a:t></a:t>
            </a:r>
            <a:r>
              <a:rPr lang="zh-TW" altLang="en-US" dirty="0">
                <a:sym typeface="Wingdings" panose="05000000000000000000" pitchFamily="2" charset="2"/>
              </a:rPr>
              <a:t> 被動元件</a:t>
            </a:r>
            <a:endParaRPr lang="en-US" altLang="zh-TW" dirty="0">
              <a:sym typeface="Wingdings" panose="05000000000000000000" pitchFamily="2" charset="2"/>
            </a:endParaRPr>
          </a:p>
          <a:p>
            <a:r>
              <a:rPr lang="zh-TW" altLang="en-US" dirty="0">
                <a:sym typeface="Wingdings" panose="05000000000000000000" pitchFamily="2" charset="2"/>
              </a:rPr>
              <a:t> </a:t>
            </a:r>
            <a:endParaRPr lang="en-US" altLang="zh-TW" dirty="0"/>
          </a:p>
          <a:p>
            <a:r>
              <a:rPr lang="en-US" altLang="zh-TW" dirty="0"/>
              <a:t>Multi GPU </a:t>
            </a:r>
            <a:r>
              <a:rPr lang="en-US" altLang="zh-TW" dirty="0">
                <a:sym typeface="Wingdings" panose="05000000000000000000" pitchFamily="2" charset="2"/>
              </a:rPr>
              <a:t> HBM  CoWoS/</a:t>
            </a:r>
            <a:r>
              <a:rPr lang="en-US" altLang="zh-TW" dirty="0" err="1">
                <a:sym typeface="Wingdings" panose="05000000000000000000" pitchFamily="2" charset="2"/>
              </a:rPr>
              <a:t>CoPos</a:t>
            </a:r>
            <a:r>
              <a:rPr lang="en-US" altLang="zh-TW" dirty="0">
                <a:sym typeface="Wingdings" panose="05000000000000000000" pitchFamily="2" charset="2"/>
              </a:rPr>
              <a:t>   CPO</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WSE</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TPU / AI CHIP</a:t>
            </a:r>
          </a:p>
          <a:p>
            <a:r>
              <a:rPr lang="en-US" altLang="zh-TW" dirty="0">
                <a:sym typeface="Wingdings" panose="05000000000000000000" pitchFamily="2" charset="2"/>
              </a:rPr>
              <a:t>CoWoS  PCB</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CCL</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MLCC</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endParaRPr lang="en-US" altLang="zh-TW" dirty="0">
              <a:sym typeface="Wingdings" panose="05000000000000000000" pitchFamily="2" charset="2"/>
            </a:endParaRPr>
          </a:p>
          <a:p>
            <a:r>
              <a:rPr lang="en-US" altLang="zh-TW" dirty="0">
                <a:sym typeface="Wingdings" panose="05000000000000000000" pitchFamily="2" charset="2"/>
              </a:rPr>
              <a:t>HBM</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CPO(Co-Packaged Optics)</a:t>
            </a:r>
          </a:p>
          <a:p>
            <a:endParaRPr lang="en-US" altLang="zh-TW" dirty="0"/>
          </a:p>
          <a:p>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）是PCB的核心基礎材料，約占PCB成本的40%。</a:t>
            </a:r>
            <a:endParaRPr lang="en-US" altLang="zh-TW" dirty="0"/>
          </a:p>
          <a:p>
            <a:r>
              <a:rPr lang="zh-TW" altLang="zh-TW" dirty="0"/>
              <a:t>其結構猶如「夾心餅乾」，由外層的導電銅箔，與中間夾層的「絕緣補強材料（如玻璃纖維布）」加「樹脂」高溫高壓貼合而成。</a:t>
            </a:r>
            <a:endParaRPr lang="en-US" altLang="zh-TW" dirty="0"/>
          </a:p>
          <a:p>
            <a:r>
              <a:rPr lang="zh-TW" altLang="zh-TW" sz="1200" b="1" u="none" strike="noStrike" kern="1200" dirty="0">
                <a:solidFill>
                  <a:schemeClr val="tx1"/>
                </a:solidFill>
                <a:effectLst/>
                <a:latin typeface="+mn-lt"/>
                <a:ea typeface="+mn-ea"/>
                <a:cs typeface="+mn-cs"/>
              </a:rPr>
              <a:t>銅箔基板的組成</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銅箔 (約占 40%)</a:t>
            </a:r>
            <a:r>
              <a:rPr lang="zh-TW" altLang="zh-TW" sz="1200" b="0" u="none" strike="noStrike" kern="1200" dirty="0">
                <a:solidFill>
                  <a:schemeClr val="tx1"/>
                </a:solidFill>
                <a:effectLst/>
                <a:latin typeface="+mn-lt"/>
                <a:ea typeface="+mn-ea"/>
                <a:cs typeface="+mn-cs"/>
              </a:rPr>
              <a:t>導電層</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樹脂 (約占 30%)</a:t>
            </a:r>
            <a:r>
              <a:rPr lang="zh-TW" altLang="zh-TW" sz="1200" b="0" u="none" strike="noStrike" kern="1200" dirty="0">
                <a:solidFill>
                  <a:schemeClr val="tx1"/>
                </a:solidFill>
                <a:effectLst/>
                <a:latin typeface="+mn-lt"/>
                <a:ea typeface="+mn-ea"/>
                <a:cs typeface="+mn-cs"/>
              </a:rPr>
              <a:t>絕緣體提供耐熱性與黏合力</a:t>
            </a:r>
            <a:r>
              <a:rPr lang="en-US"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補強材料 (約占 30%)</a:t>
            </a:r>
            <a:r>
              <a:rPr lang="zh-TW" altLang="zh-TW" dirty="0"/>
              <a:t>：通常為玻璃纖維布</a:t>
            </a:r>
            <a:r>
              <a:rPr lang="en-US" altLang="zh-TW" dirty="0"/>
              <a:t>.</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台廠 CCL 龍頭（概念股）</a:t>
            </a:r>
            <a:r>
              <a:rPr lang="zh-TW" altLang="zh-TW" dirty="0"/>
              <a:t>：包含台光電 (2383)、台燿 (6274)、聯茂 (6213)，以及南亞 (1303) 等。</a:t>
            </a:r>
            <a:endParaRPr lang="en-US" altLang="zh-TW" dirty="0"/>
          </a:p>
          <a:p>
            <a:endParaRPr lang="en-US" altLang="zh-TW" dirty="0"/>
          </a:p>
          <a:p>
            <a:r>
              <a:rPr lang="zh-TW" altLang="zh-TW" dirty="0"/>
              <a:t>隨著 </a:t>
            </a:r>
            <a:r>
              <a:rPr lang="zh-TW" altLang="zh-TW" sz="1200" b="1" u="none" strike="noStrike" kern="1200" dirty="0">
                <a:solidFill>
                  <a:schemeClr val="tx1"/>
                </a:solidFill>
                <a:effectLst/>
                <a:latin typeface="+mn-lt"/>
                <a:ea typeface="+mn-ea"/>
                <a:cs typeface="+mn-cs"/>
              </a:rPr>
              <a:t>AI 伺服器</a:t>
            </a:r>
            <a:r>
              <a:rPr lang="zh-TW" altLang="zh-TW" dirty="0"/>
              <a:t>與 </a:t>
            </a:r>
            <a:r>
              <a:rPr lang="zh-TW" altLang="zh-TW" sz="1200" b="1" u="none" strike="noStrike" kern="1200" dirty="0">
                <a:solidFill>
                  <a:schemeClr val="tx1"/>
                </a:solidFill>
                <a:effectLst/>
                <a:latin typeface="+mn-lt"/>
                <a:ea typeface="+mn-ea"/>
                <a:cs typeface="+mn-cs"/>
              </a:rPr>
              <a:t>5G/高速通訊</a:t>
            </a:r>
            <a:r>
              <a:rPr lang="zh-TW" altLang="zh-TW" dirty="0"/>
              <a:t>快速發展，傳統消費電子的板材已無法負荷龐大的資料傳輸量與高發熱量。</a:t>
            </a:r>
            <a:endParaRPr lang="en-US" altLang="zh-TW" dirty="0"/>
          </a:p>
          <a:p>
            <a:r>
              <a:rPr lang="zh-TW" altLang="zh-TW" sz="1200" b="1" u="none" strike="noStrike" kern="1200" dirty="0">
                <a:solidFill>
                  <a:schemeClr val="tx1"/>
                </a:solidFill>
                <a:effectLst/>
                <a:latin typeface="+mn-lt"/>
                <a:ea typeface="+mn-ea"/>
                <a:cs typeface="+mn-cs"/>
              </a:rPr>
              <a:t>規格升級</a:t>
            </a:r>
            <a:r>
              <a:rPr lang="zh-TW" altLang="zh-TW" sz="1200" b="0" u="none" strike="noStrike" kern="1200" dirty="0">
                <a:solidFill>
                  <a:schemeClr val="tx1"/>
                </a:solidFill>
                <a:effectLst/>
                <a:latin typeface="+mn-lt"/>
                <a:ea typeface="+mn-ea"/>
                <a:cs typeface="+mn-cs"/>
              </a:rPr>
              <a:t>：高階 AI 伺服器對 CCL 的用量是傳統伺服器的 5 至 7 倍，且「低損耗（Low Loss / M8-M9等級）」材料以避免訊號干擾。</a:t>
            </a:r>
            <a:r>
              <a:rPr lang="zh-TW" altLang="zh-TW" sz="1200" b="1" u="none" strike="noStrike" kern="1200" dirty="0">
                <a:solidFill>
                  <a:schemeClr val="tx1"/>
                </a:solidFill>
                <a:effectLst/>
                <a:latin typeface="+mn-lt"/>
                <a:ea typeface="+mn-ea"/>
                <a:cs typeface="+mn-cs"/>
              </a:rPr>
              <a:t>長線商機</a:t>
            </a:r>
            <a:r>
              <a:rPr lang="zh-TW" altLang="zh-TW" sz="1200" b="0" u="none" strike="noStrike" kern="1200" dirty="0">
                <a:solidFill>
                  <a:schemeClr val="tx1"/>
                </a:solidFill>
                <a:effectLst/>
                <a:latin typeface="+mn-lt"/>
                <a:ea typeface="+mn-ea"/>
                <a:cs typeface="+mn-cs"/>
              </a:rPr>
              <a:t>：高階 CCL 認證門檻高、驗證週期長（通常需 2~3 年），因此一旦打入特定供應鏈，訂單穩定度與毛利率皆相當可觀。</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dirty="0"/>
              <a:t>紙質酚醛基板</a:t>
            </a:r>
            <a:r>
              <a:rPr lang="en-US" altLang="zh-TW" dirty="0"/>
              <a:t>(CCL/FR-1)</a:t>
            </a:r>
            <a:r>
              <a:rPr lang="en-US" altLang="zh-TW" dirty="0">
                <a:sym typeface="Wingdings" panose="05000000000000000000" pitchFamily="2" charset="2"/>
              </a:rPr>
              <a:t></a:t>
            </a:r>
            <a:r>
              <a:rPr lang="zh-TW" altLang="en-US" dirty="0">
                <a:sym typeface="Wingdings" panose="05000000000000000000" pitchFamily="2" charset="2"/>
              </a:rPr>
              <a:t>複合基板</a:t>
            </a:r>
            <a:r>
              <a:rPr lang="en-US" altLang="zh-TW" dirty="0">
                <a:sym typeface="Wingdings" panose="05000000000000000000" pitchFamily="2" charset="2"/>
              </a:rPr>
              <a:t>(CEM),</a:t>
            </a:r>
            <a:r>
              <a:rPr lang="zh-TW" altLang="en-US" dirty="0">
                <a:sym typeface="Wingdings" panose="05000000000000000000" pitchFamily="2" charset="2"/>
              </a:rPr>
              <a:t>玻璃纖維</a:t>
            </a:r>
            <a:r>
              <a:rPr lang="en-US" altLang="zh-TW" dirty="0">
                <a:sym typeface="Wingdings" panose="05000000000000000000" pitchFamily="2" charset="2"/>
              </a:rPr>
              <a:t>(FR-4) </a:t>
            </a:r>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ABF</a:t>
            </a:r>
            <a:r>
              <a:rPr lang="zh-TW" altLang="en-US" dirty="0">
                <a:sym typeface="Wingdings" panose="05000000000000000000" pitchFamily="2" charset="2"/>
              </a:rPr>
              <a:t>載板</a:t>
            </a:r>
            <a:r>
              <a:rPr lang="en-US" altLang="zh-TW" dirty="0">
                <a:sym typeface="Wingdings" panose="05000000000000000000" pitchFamily="2" charset="2"/>
              </a:rPr>
              <a:t>(</a:t>
            </a:r>
            <a:r>
              <a:rPr lang="zh-TW" altLang="zh-TW" dirty="0"/>
              <a:t>在絕緣層上精準電鍍「長」出線路</a:t>
            </a:r>
            <a:r>
              <a:rPr lang="en-US" altLang="zh-TW" dirty="0"/>
              <a:t>)</a:t>
            </a:r>
            <a:r>
              <a:rPr lang="zh-TW" altLang="en-US" dirty="0"/>
              <a:t> </a:t>
            </a:r>
            <a:r>
              <a:rPr lang="en-US" altLang="zh-TW" dirty="0">
                <a:sym typeface="Wingdings" panose="05000000000000000000" pitchFamily="2" charset="2"/>
              </a:rPr>
              <a:t></a:t>
            </a:r>
            <a:r>
              <a:rPr lang="zh-TW" altLang="zh-TW" dirty="0"/>
              <a:t>「</a:t>
            </a:r>
            <a:r>
              <a:rPr lang="zh-TW" altLang="zh-TW" sz="1200" b="1" u="none" strike="noStrike" kern="1200" dirty="0">
                <a:solidFill>
                  <a:schemeClr val="tx1"/>
                </a:solidFill>
                <a:effectLst/>
                <a:latin typeface="+mn-lt"/>
                <a:ea typeface="+mn-ea"/>
                <a:cs typeface="+mn-cs"/>
              </a:rPr>
              <a:t>玻璃基板（TGV）</a:t>
            </a:r>
            <a:r>
              <a:rPr lang="zh-TW" altLang="zh-TW" dirty="0"/>
              <a:t>」封裝技術</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1" u="none" strike="noStrike" kern="1200" dirty="0">
                <a:solidFill>
                  <a:schemeClr val="tx1"/>
                </a:solidFill>
                <a:effectLst/>
                <a:latin typeface="+mn-lt"/>
                <a:ea typeface="+mn-ea"/>
                <a:cs typeface="+mn-cs"/>
              </a:rPr>
              <a:t>紙質</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易碎、耐熱差</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玻璃纖維</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強韌、耐熱</a:t>
            </a:r>
            <a:r>
              <a:rPr lang="zh-TW" altLang="zh-TW" sz="1200" b="0" u="none" strike="noStrike" kern="1200" dirty="0">
                <a:solidFill>
                  <a:schemeClr val="tx1"/>
                </a:solidFill>
                <a:effectLst/>
                <a:latin typeface="+mn-lt"/>
                <a:ea typeface="+mn-ea"/>
                <a:cs typeface="+mn-cs"/>
              </a:rPr>
              <a:t>)</a:t>
            </a:r>
            <a:r>
              <a:rPr lang="en-US" altLang="zh-TW" sz="1200" b="0"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高階塑膠/樹脂變革</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高速、低損耗</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純玻璃</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極平整、半導體級微細線路</a:t>
            </a:r>
            <a:r>
              <a:rPr lang="en-US" altLang="zh-TW" sz="1200" b="1"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20</a:t>
            </a:fld>
            <a:endParaRPr lang="zh-TW" altLang="en-US"/>
          </a:p>
        </p:txBody>
      </p:sp>
    </p:spTree>
    <p:extLst>
      <p:ext uri="{BB962C8B-B14F-4D97-AF65-F5344CB8AC3E}">
        <p14:creationId xmlns:p14="http://schemas.microsoft.com/office/powerpoint/2010/main" val="1109504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1. NVIDIA Transformer Engine (TE) ── 低精度混合精度管理庫</a:t>
            </a:r>
          </a:p>
          <a:p>
            <a:r>
              <a:rPr lang="zh-TW" altLang="zh-TW" sz="1200" b="1" u="none" strike="noStrike" kern="1200" dirty="0">
                <a:solidFill>
                  <a:schemeClr val="tx1"/>
                </a:solidFill>
                <a:effectLst/>
                <a:latin typeface="+mn-lt"/>
                <a:ea typeface="+mn-ea"/>
                <a:cs typeface="+mn-cs"/>
              </a:rPr>
              <a:t>解決什麼痛點</a:t>
            </a:r>
            <a:r>
              <a:rPr lang="zh-TW" altLang="zh-TW" sz="1200" b="0" u="none" strike="noStrike" kern="1200" dirty="0">
                <a:solidFill>
                  <a:schemeClr val="tx1"/>
                </a:solidFill>
                <a:effectLst/>
                <a:latin typeface="+mn-lt"/>
                <a:ea typeface="+mn-ea"/>
                <a:cs typeface="+mn-cs"/>
              </a:rPr>
              <a:t>：標準 AdamW 訓練需要為每個參數儲存高精度的 Master Weights 與優化器狀態，極度消耗 HBM/VRAM 顯存。</a:t>
            </a:r>
          </a:p>
          <a:p>
            <a:r>
              <a:rPr lang="zh-TW" altLang="zh-TW" sz="1200" b="1" u="none" strike="noStrike" kern="1200" dirty="0">
                <a:solidFill>
                  <a:schemeClr val="tx1"/>
                </a:solidFill>
                <a:effectLst/>
                <a:latin typeface="+mn-lt"/>
                <a:ea typeface="+mn-ea"/>
                <a:cs typeface="+mn-cs"/>
              </a:rPr>
              <a:t>核心記憶體技術</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r>
              <a:rPr lang="zh-TW" altLang="en-US"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FP8 / MXFP8 / NVFP4 自動混合精度</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AMP</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在 Hopper 與最新的 Blackwell 架構硬體上，TE 能在「訓練」與「推論」過程中，自動將 Transformer 網路層轉換為 FP8、微縮放 FP8（Microscaling）或 4-bit 浮點數（NVFP4</a:t>
            </a:r>
            <a:r>
              <a:rPr lang="en-US" altLang="zh-TW" sz="1200" b="0" u="none" strike="noStrike" kern="1200" dirty="0">
                <a:solidFill>
                  <a:schemeClr val="tx1"/>
                </a:solidFill>
                <a:effectLst/>
                <a:latin typeface="+mn-lt"/>
                <a:ea typeface="+mn-ea"/>
                <a:cs typeface="+mn-cs"/>
              </a:rPr>
              <a:t>).</a:t>
            </a:r>
          </a:p>
          <a:p>
            <a:r>
              <a:rPr lang="zh-TW" altLang="en-US"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動態縮放機制</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Dynamic Scaling</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它在底層軟體上自動維護一個縮放因子，讓模型既能享受低精度（4-bit / 8-bit）帶來的</a:t>
            </a:r>
            <a:r>
              <a:rPr lang="zh-TW" altLang="zh-TW" sz="1200" b="1" u="none" strike="noStrike" kern="1200" dirty="0">
                <a:solidFill>
                  <a:schemeClr val="tx1"/>
                </a:solidFill>
                <a:effectLst/>
                <a:latin typeface="+mn-lt"/>
                <a:ea typeface="+mn-ea"/>
                <a:cs typeface="+mn-cs"/>
              </a:rPr>
              <a:t>顯存減半、吞吐量翻倍</a:t>
            </a:r>
            <a:r>
              <a:rPr lang="zh-TW" altLang="zh-TW" sz="1200" b="0" u="none" strike="noStrike" kern="1200" dirty="0">
                <a:solidFill>
                  <a:schemeClr val="tx1"/>
                </a:solidFill>
                <a:effectLst/>
                <a:latin typeface="+mn-lt"/>
                <a:ea typeface="+mn-ea"/>
                <a:cs typeface="+mn-cs"/>
              </a:rPr>
              <a:t>，又不會發生梯度爆炸或下溢，大幅釋放了優化器運算時的記憶體空間。</a:t>
            </a:r>
            <a:br>
              <a:rPr lang="zh-TW" altLang="zh-TW" dirty="0"/>
            </a:br>
            <a:endParaRPr lang="zh-TW" altLang="zh-TW" dirty="0"/>
          </a:p>
          <a:p>
            <a:r>
              <a:rPr lang="zh-TW" altLang="zh-TW" sz="1200" b="1" u="none" strike="noStrike" kern="1200" dirty="0">
                <a:solidFill>
                  <a:schemeClr val="tx1"/>
                </a:solidFill>
                <a:effectLst/>
                <a:latin typeface="+mn-lt"/>
                <a:ea typeface="+mn-ea"/>
                <a:cs typeface="+mn-cs"/>
              </a:rPr>
              <a:t>2. NVIDIA Model Optimizer (ModelOpt) ── 工業級模型壓縮與智商修復優化器</a:t>
            </a:r>
          </a:p>
          <a:p>
            <a:r>
              <a:rPr lang="zh-TW" altLang="zh-TW" sz="1200" b="1" u="none" strike="noStrike" kern="1200" dirty="0">
                <a:solidFill>
                  <a:schemeClr val="tx1"/>
                </a:solidFill>
                <a:effectLst/>
                <a:latin typeface="+mn-lt"/>
                <a:ea typeface="+mn-ea"/>
                <a:cs typeface="+mn-cs"/>
              </a:rPr>
              <a:t>解決什麼痛點</a:t>
            </a:r>
            <a:r>
              <a:rPr lang="zh-TW" altLang="zh-TW" sz="1200" b="0" u="none" strike="noStrike" kern="1200" dirty="0">
                <a:solidFill>
                  <a:schemeClr val="tx1"/>
                </a:solidFill>
                <a:effectLst/>
                <a:latin typeface="+mn-lt"/>
                <a:ea typeface="+mn-ea"/>
                <a:cs typeface="+mn-cs"/>
              </a:rPr>
              <a:t>：微調完的模型體積過大、難以部署；直接硬砍精度</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PTQ</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會導致模型變笨，但傳統 QAT 訓練又太吃顯存。 </a:t>
            </a:r>
          </a:p>
          <a:p>
            <a:r>
              <a:rPr lang="zh-TW" altLang="zh-TW" sz="1200" b="1" u="none" strike="noStrike" kern="1200" dirty="0">
                <a:solidFill>
                  <a:schemeClr val="tx1"/>
                </a:solidFill>
                <a:effectLst/>
                <a:latin typeface="+mn-lt"/>
                <a:ea typeface="+mn-ea"/>
                <a:cs typeface="+mn-cs"/>
              </a:rPr>
              <a:t>核心記憶體技術</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en-US"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軟體整合量化</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Unified Quantization</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hlinkClick r:id="rId3"/>
              </a:rPr>
              <a:t>ModelOpt</a:t>
            </a:r>
            <a:r>
              <a:rPr lang="zh-TW" altLang="zh-TW" sz="1200" b="0" u="none" strike="noStrike" kern="1200" dirty="0">
                <a:solidFill>
                  <a:schemeClr val="tx1"/>
                </a:solidFill>
                <a:effectLst/>
                <a:latin typeface="+mn-lt"/>
                <a:ea typeface="+mn-ea"/>
                <a:cs typeface="+mn-cs"/>
              </a:rPr>
              <a:t> 是 NV 官方將 INT4/8、FP4/8、以及進階的 AWQ（啟用僅權重量化與區塊量化）整合在一起的終極壓縮庫。它能直接把模型參數所需的顯存降到原來的四分之一。</a:t>
            </a:r>
            <a:br>
              <a:rPr lang="en-US" altLang="zh-TW" sz="1200" b="0" u="none" strike="noStrike" kern="1200" dirty="0">
                <a:solidFill>
                  <a:schemeClr val="tx1"/>
                </a:solidFill>
                <a:effectLst/>
                <a:latin typeface="+mn-lt"/>
                <a:ea typeface="+mn-ea"/>
                <a:cs typeface="+mn-cs"/>
              </a:rPr>
            </a:br>
            <a:r>
              <a:rPr lang="zh-TW" altLang="en-US"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硬體感知蒸餾（QAD）與剪枝</a:t>
            </a:r>
            <a:r>
              <a:rPr lang="zh-TW" altLang="zh-TW" sz="1200" b="0" u="none" strike="noStrike" kern="1200" dirty="0">
                <a:solidFill>
                  <a:schemeClr val="tx1"/>
                </a:solidFill>
                <a:effectLst/>
                <a:latin typeface="+mn-lt"/>
                <a:ea typeface="+mn-ea"/>
                <a:cs typeface="+mn-cs"/>
              </a:rPr>
              <a:t>：如前所述，它能在軟體層面同步啟動「假量化環境」與「知識蒸餾失真對齊」，在完全不增加硬體訓練開銷的前提下，完成大模型的極限瘦身並 100% 恢復智商。 </a:t>
            </a:r>
          </a:p>
          <a:p>
            <a:endParaRPr lang="zh-TW" altLang="zh-TW" dirty="0"/>
          </a:p>
          <a:p>
            <a:r>
              <a:rPr lang="zh-TW" altLang="zh-TW" sz="1200" b="1" u="none" strike="noStrike" kern="1200" dirty="0">
                <a:solidFill>
                  <a:schemeClr val="tx1"/>
                </a:solidFill>
                <a:effectLst/>
                <a:latin typeface="+mn-lt"/>
                <a:ea typeface="+mn-ea"/>
                <a:cs typeface="+mn-cs"/>
              </a:rPr>
              <a:t>3. NVIDIA Dynamo (含 KV Cache Manager) ── 分佈式推論記憶體虛擬化框架</a:t>
            </a:r>
          </a:p>
          <a:p>
            <a:r>
              <a:rPr lang="zh-TW" altLang="zh-TW" sz="1200" b="1" u="none" strike="noStrike" kern="1200" dirty="0">
                <a:solidFill>
                  <a:schemeClr val="tx1"/>
                </a:solidFill>
                <a:effectLst/>
                <a:latin typeface="+mn-lt"/>
                <a:ea typeface="+mn-ea"/>
                <a:cs typeface="+mn-cs"/>
              </a:rPr>
              <a:t>解決什麼痛點</a:t>
            </a:r>
            <a:r>
              <a:rPr lang="zh-TW" altLang="zh-TW" sz="1200" b="0" u="none" strike="noStrike" kern="1200" dirty="0">
                <a:solidFill>
                  <a:schemeClr val="tx1"/>
                </a:solidFill>
                <a:effectLst/>
                <a:latin typeface="+mn-lt"/>
                <a:ea typeface="+mn-ea"/>
                <a:cs typeface="+mn-cs"/>
              </a:rPr>
              <a:t>：長文本推理時，</a:t>
            </a:r>
            <a:r>
              <a:rPr lang="zh-TW" altLang="zh-TW" sz="1200" b="1" u="none" strike="noStrike" kern="1200" dirty="0">
                <a:solidFill>
                  <a:schemeClr val="tx1"/>
                </a:solidFill>
                <a:effectLst/>
                <a:latin typeface="+mn-lt"/>
                <a:ea typeface="+mn-ea"/>
                <a:cs typeface="+mn-cs"/>
              </a:rPr>
              <a:t>KV 快取（KV Cache）</a:t>
            </a:r>
            <a:r>
              <a:rPr lang="zh-TW" altLang="zh-TW" sz="1200" b="0" u="none" strike="noStrike" kern="1200" dirty="0">
                <a:solidFill>
                  <a:schemeClr val="tx1"/>
                </a:solidFill>
                <a:effectLst/>
                <a:latin typeface="+mn-lt"/>
                <a:ea typeface="+mn-ea"/>
                <a:cs typeface="+mn-cs"/>
              </a:rPr>
              <a:t>的體積會隨著 Context 長度暴增，迅速塞爆 GPU 顯存。 [</a:t>
            </a:r>
            <a:r>
              <a:rPr lang="zh-TW" altLang="zh-TW" sz="1200" b="0" u="none" strike="noStrike" kern="1200" dirty="0">
                <a:solidFill>
                  <a:schemeClr val="tx1"/>
                </a:solidFill>
                <a:effectLst/>
                <a:latin typeface="+mn-lt"/>
                <a:ea typeface="+mn-ea"/>
                <a:cs typeface="+mn-cs"/>
                <a:hlinkClick r:id="rId4"/>
              </a:rPr>
              <a:t>1</a:t>
            </a:r>
            <a:r>
              <a:rPr lang="zh-TW"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hlinkClick r:id="rId5"/>
              </a:rPr>
              <a:t>2</a:t>
            </a:r>
            <a:r>
              <a:rPr lang="zh-TW"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hlinkClick r:id="rId6"/>
              </a:rPr>
              <a:t>3</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核心記憶體技術</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r>
              <a:rPr lang="zh-TW" altLang="en-US"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分層記憶體卸載</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Hierarchical Offloading</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hlinkClick r:id="rId4"/>
              </a:rPr>
              <a:t>NVIDIA Dynamo</a:t>
            </a:r>
            <a:r>
              <a:rPr lang="zh-TW" altLang="zh-TW" sz="1200" b="0" u="none" strike="noStrike" kern="1200" dirty="0">
                <a:solidFill>
                  <a:schemeClr val="tx1"/>
                </a:solidFill>
                <a:effectLst/>
                <a:latin typeface="+mn-lt"/>
                <a:ea typeface="+mn-ea"/>
                <a:cs typeface="+mn-cs"/>
              </a:rPr>
              <a:t> 內建了極其聰明的 </a:t>
            </a:r>
            <a:r>
              <a:rPr lang="zh-TW" altLang="zh-TW" sz="1200" b="1" u="none" strike="noStrike" kern="1200" dirty="0">
                <a:solidFill>
                  <a:schemeClr val="tx1"/>
                </a:solidFill>
                <a:effectLst/>
                <a:latin typeface="+mn-lt"/>
                <a:ea typeface="+mn-ea"/>
                <a:cs typeface="+mn-cs"/>
              </a:rPr>
              <a:t>KV 快取管理員</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KV Cache Manager</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。它將 GPU VRAM、系統記憶體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CPU RAM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、甚至是外接的 SSD 與網路儲存，組合成一個「虛擬化記憶體池」。</a:t>
            </a:r>
            <a:r>
              <a:rPr lang="zh-TW" altLang="en-US"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動態記憶體稀疏化與淘汰</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DMS &amp; Eviction</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配合動態記憶體稀疏化技術</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DMS</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軟體會自動評估哪些 KV Cache 接下來不會被讀取，將其動態外移到 CPU 記憶體中</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或者直接丟棄不重要的 Token 快取，將長文本推理的顯存成本</a:t>
            </a:r>
            <a:r>
              <a:rPr lang="zh-TW" altLang="zh-TW" sz="1200" b="1" u="none" strike="noStrike" kern="1200" dirty="0">
                <a:solidFill>
                  <a:schemeClr val="tx1"/>
                </a:solidFill>
                <a:effectLst/>
                <a:latin typeface="+mn-lt"/>
                <a:ea typeface="+mn-ea"/>
                <a:cs typeface="+mn-cs"/>
              </a:rPr>
              <a:t>直接降低高達 8 倍</a:t>
            </a:r>
            <a:r>
              <a:rPr lang="zh-TW" altLang="zh-TW" sz="1200" b="0" u="none" strike="noStrike" kern="1200" dirty="0">
                <a:solidFill>
                  <a:schemeClr val="tx1"/>
                </a:solidFill>
                <a:effectLst/>
                <a:latin typeface="+mn-lt"/>
                <a:ea typeface="+mn-ea"/>
                <a:cs typeface="+mn-cs"/>
              </a:rPr>
              <a:t>，且完全不影響模型的推理精準度。</a:t>
            </a:r>
          </a:p>
          <a:p>
            <a:endParaRPr lang="en-US" altLang="zh-TW" dirty="0"/>
          </a:p>
          <a:p>
            <a:r>
              <a:rPr lang="zh-TW" altLang="zh-TW" sz="1200" b="1" u="none" strike="noStrike" kern="1200" dirty="0">
                <a:solidFill>
                  <a:schemeClr val="tx1"/>
                </a:solidFill>
                <a:effectLst/>
                <a:latin typeface="+mn-lt"/>
                <a:ea typeface="+mn-ea"/>
                <a:cs typeface="+mn-cs"/>
              </a:rPr>
              <a:t>額外亮點：硬體層面的最強助攻 ── 統一記憶體（Unified Memory）</a:t>
            </a:r>
          </a:p>
          <a:p>
            <a:r>
              <a:rPr lang="zh-TW" altLang="zh-TW" sz="1200" b="0" u="none" strike="noStrike" kern="1200" dirty="0">
                <a:solidFill>
                  <a:schemeClr val="tx1"/>
                </a:solidFill>
                <a:effectLst/>
                <a:latin typeface="+mn-lt"/>
                <a:ea typeface="+mn-ea"/>
                <a:cs typeface="+mn-cs"/>
              </a:rPr>
              <a:t>除了上述純軟體庫，NVIDIA 在其頂級架構（如 Grace Hopper GH200 / GB200）中導入了 </a:t>
            </a:r>
            <a:r>
              <a:rPr lang="zh-TW" altLang="zh-TW" sz="1200" b="1" u="none" strike="noStrike" kern="1200" dirty="0">
                <a:solidFill>
                  <a:schemeClr val="tx1"/>
                </a:solidFill>
                <a:effectLst/>
                <a:latin typeface="+mn-lt"/>
                <a:ea typeface="+mn-ea"/>
                <a:cs typeface="+mn-cs"/>
              </a:rPr>
              <a:t>NVLink-C2C</a:t>
            </a:r>
            <a:r>
              <a:rPr lang="zh-TW" altLang="zh-TW" sz="1200" b="0" u="none" strike="noStrike" kern="1200" dirty="0">
                <a:solidFill>
                  <a:schemeClr val="tx1"/>
                </a:solidFill>
                <a:effectLst/>
                <a:latin typeface="+mn-lt"/>
                <a:ea typeface="+mn-ea"/>
                <a:cs typeface="+mn-cs"/>
              </a:rPr>
              <a:t> 技術。這讓軟體可以直接調用 </a:t>
            </a:r>
            <a:r>
              <a:rPr lang="zh-TW" altLang="zh-TW" sz="1200" b="1" u="none" strike="noStrike" kern="1200" dirty="0">
                <a:solidFill>
                  <a:schemeClr val="tx1"/>
                </a:solidFill>
                <a:effectLst/>
                <a:latin typeface="+mn-lt"/>
                <a:ea typeface="+mn-ea"/>
                <a:cs typeface="+mn-cs"/>
              </a:rPr>
              <a:t>Unified Memory (UM)</a:t>
            </a:r>
            <a:r>
              <a:rPr lang="zh-TW" altLang="zh-TW" sz="1200" b="0" u="none" strike="noStrike" kern="1200" dirty="0">
                <a:solidFill>
                  <a:schemeClr val="tx1"/>
                </a:solidFill>
                <a:effectLst/>
                <a:latin typeface="+mn-lt"/>
                <a:ea typeface="+mn-ea"/>
                <a:cs typeface="+mn-cs"/>
              </a:rPr>
              <a:t>，將 CPU 的大容量記憶體與 GPU 顯存融合成同一個記憶體空間。</a:t>
            </a:r>
          </a:p>
          <a:p>
            <a:r>
              <a:rPr lang="zh-TW" altLang="zh-TW" sz="1200" b="0" u="none" strike="noStrike" kern="1200" dirty="0">
                <a:solidFill>
                  <a:schemeClr val="tx1"/>
                </a:solidFill>
                <a:effectLst/>
                <a:latin typeface="+mn-lt"/>
                <a:ea typeface="+mn-ea"/>
                <a:cs typeface="+mn-cs"/>
              </a:rPr>
              <a:t>在前台寫代碼時，優化器（如 AdamW）的狀態與激活值可以自由地在兩者之間自由「流動」與「卸載（Offloading）」，這正是 bitsandbytes 庫中 </a:t>
            </a:r>
            <a:r>
              <a:rPr lang="zh-TW" altLang="zh-TW" sz="1200" b="1" u="none" strike="noStrike" kern="1200" dirty="0">
                <a:solidFill>
                  <a:schemeClr val="tx1"/>
                </a:solidFill>
                <a:effectLst/>
                <a:latin typeface="+mn-lt"/>
                <a:ea typeface="+mn-ea"/>
                <a:cs typeface="+mn-cs"/>
              </a:rPr>
              <a:t>Paged AdamW</a:t>
            </a:r>
            <a:r>
              <a:rPr lang="zh-TW" altLang="zh-TW" sz="1200" b="0" u="none" strike="noStrike" kern="1200" dirty="0">
                <a:solidFill>
                  <a:schemeClr val="tx1"/>
                </a:solidFill>
                <a:effectLst/>
                <a:latin typeface="+mn-lt"/>
                <a:ea typeface="+mn-ea"/>
                <a:cs typeface="+mn-cs"/>
              </a:rPr>
              <a:t> 機制在底層被 NV 官方硬體與驅動完美支援的終極型態。</a:t>
            </a: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21</a:t>
            </a:fld>
            <a:endParaRPr lang="zh-TW" altLang="en-US"/>
          </a:p>
        </p:txBody>
      </p:sp>
    </p:spTree>
    <p:extLst>
      <p:ext uri="{BB962C8B-B14F-4D97-AF65-F5344CB8AC3E}">
        <p14:creationId xmlns:p14="http://schemas.microsoft.com/office/powerpoint/2010/main" val="28655485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22</a:t>
            </a:fld>
            <a:endParaRPr lang="zh-TW" altLang="en-US"/>
          </a:p>
        </p:txBody>
      </p:sp>
    </p:spTree>
    <p:extLst>
      <p:ext uri="{BB962C8B-B14F-4D97-AF65-F5344CB8AC3E}">
        <p14:creationId xmlns:p14="http://schemas.microsoft.com/office/powerpoint/2010/main" val="17508256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4917C-4D70-6475-414F-A7F6D7E95DA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16150E7-79D9-F597-8A7E-5F858DADF56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96616FD-FA3A-4DCF-3433-4918F60C4FF1}"/>
              </a:ext>
            </a:extLst>
          </p:cNvPr>
          <p:cNvSpPr>
            <a:spLocks noGrp="1"/>
          </p:cNvSpPr>
          <p:nvPr>
            <p:ph type="body" idx="1"/>
          </p:nvPr>
        </p:nvSpPr>
        <p:spPr/>
        <p:txBody>
          <a:bodyPr/>
          <a:lstStyle/>
          <a:p>
            <a:r>
              <a:rPr lang="en-US" altLang="zh-TW" dirty="0"/>
              <a:t>GPT </a:t>
            </a:r>
            <a:r>
              <a:rPr lang="zh-TW" altLang="en-US" dirty="0"/>
              <a:t>是「生成式預先訓練變壓器」（</a:t>
            </a:r>
            <a:r>
              <a:rPr lang="en-US" altLang="zh-TW" dirty="0"/>
              <a:t>Generative Pre-trained Transformer</a:t>
            </a:r>
            <a:r>
              <a:rPr lang="zh-TW" altLang="en-US" dirty="0"/>
              <a:t>）的縮寫。它是由 </a:t>
            </a:r>
            <a:r>
              <a:rPr lang="en-US" altLang="zh-TW" dirty="0"/>
              <a:t>OpenAI </a:t>
            </a:r>
            <a:r>
              <a:rPr lang="zh-TW" altLang="en-US" dirty="0"/>
              <a:t>開發的一種深度學習神經網路模型架構，也是目前全球最知名的 </a:t>
            </a:r>
            <a:r>
              <a:rPr lang="en-US" altLang="zh-TW" dirty="0"/>
              <a:t>AI </a:t>
            </a:r>
            <a:r>
              <a:rPr lang="zh-TW" altLang="en-US" dirty="0"/>
              <a:t>聊天機器人 </a:t>
            </a:r>
            <a:r>
              <a:rPr lang="en-US" altLang="zh-TW" dirty="0"/>
              <a:t>ChatGPT </a:t>
            </a:r>
            <a:r>
              <a:rPr lang="zh-TW" altLang="en-US" dirty="0"/>
              <a:t>的底層核心技術。</a:t>
            </a:r>
            <a:br>
              <a:rPr lang="en-US" altLang="zh-TW" dirty="0"/>
            </a:br>
            <a:br>
              <a:rPr lang="en-US" altLang="zh-TW" dirty="0"/>
            </a:br>
            <a:r>
              <a:rPr lang="zh-TW" altLang="zh-TW" sz="1200" b="0" u="none" strike="noStrike" kern="1200" dirty="0">
                <a:solidFill>
                  <a:schemeClr val="tx1"/>
                </a:solidFill>
                <a:effectLst/>
                <a:latin typeface="+mn-lt"/>
                <a:ea typeface="+mn-ea"/>
                <a:cs typeface="+mn-cs"/>
              </a:rPr>
              <a:t>在大型語言模型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SFT（監督式微調）</a:t>
            </a:r>
            <a:r>
              <a:rPr lang="zh-TW" altLang="zh-TW" sz="1200" b="0" u="none" strike="noStrike" kern="1200" dirty="0">
                <a:solidFill>
                  <a:schemeClr val="tx1"/>
                </a:solidFill>
                <a:effectLst/>
                <a:latin typeface="+mn-lt"/>
                <a:ea typeface="+mn-ea"/>
                <a:cs typeface="+mn-cs"/>
              </a:rPr>
              <a:t> 的 6 個步驟。</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1. 資料收集與清洗（最關鍵的一步）</a:t>
            </a:r>
          </a:p>
          <a:p>
            <a:r>
              <a:rPr lang="zh-TW" altLang="zh-TW" sz="1200" b="0" u="none" strike="noStrike" kern="1200" dirty="0">
                <a:solidFill>
                  <a:schemeClr val="tx1"/>
                </a:solidFill>
                <a:effectLst/>
                <a:latin typeface="+mn-lt"/>
                <a:ea typeface="+mn-ea"/>
                <a:cs typeface="+mn-cs"/>
              </a:rPr>
              <a:t>SFT 圈內有一句名言：「</a:t>
            </a:r>
            <a:r>
              <a:rPr lang="zh-TW" altLang="zh-TW" sz="1200" b="1" u="none" strike="noStrike" kern="1200" dirty="0">
                <a:solidFill>
                  <a:schemeClr val="tx1"/>
                </a:solidFill>
                <a:effectLst/>
                <a:latin typeface="+mn-lt"/>
                <a:ea typeface="+mn-ea"/>
                <a:cs typeface="+mn-cs"/>
              </a:rPr>
              <a:t>Quality is all you need</a:t>
            </a:r>
            <a:r>
              <a:rPr lang="zh-TW" altLang="zh-TW" sz="1200" b="0" u="none" strike="noStrike" kern="1200" dirty="0">
                <a:solidFill>
                  <a:schemeClr val="tx1"/>
                </a:solidFill>
                <a:effectLst/>
                <a:latin typeface="+mn-lt"/>
                <a:ea typeface="+mn-ea"/>
                <a:cs typeface="+mn-cs"/>
              </a:rPr>
              <a:t>（品質就是一切）」。少量、高質量的資料，效果遠好於大量、有雜訊的資料。</a:t>
            </a:r>
          </a:p>
          <a:p>
            <a:r>
              <a:rPr lang="zh-TW" altLang="zh-TW" sz="1200" b="1" u="none" strike="noStrike" kern="1200" dirty="0">
                <a:solidFill>
                  <a:schemeClr val="tx1"/>
                </a:solidFill>
                <a:effectLst/>
                <a:latin typeface="+mn-lt"/>
                <a:ea typeface="+mn-ea"/>
                <a:cs typeface="+mn-cs"/>
              </a:rPr>
              <a:t>格式標準化</a:t>
            </a:r>
            <a:r>
              <a:rPr lang="zh-TW" altLang="zh-TW" sz="1200" b="0" u="none" strike="noStrike" kern="1200" dirty="0">
                <a:solidFill>
                  <a:schemeClr val="tx1"/>
                </a:solidFill>
                <a:effectLst/>
                <a:latin typeface="+mn-lt"/>
                <a:ea typeface="+mn-ea"/>
                <a:cs typeface="+mn-cs"/>
              </a:rPr>
              <a:t>：將資料轉換為 {"instruction": "...", "input": "...", "output": "..."} 或常見的 Chat 格式（如 OpenAI 的 messages 格式）。</a:t>
            </a:r>
          </a:p>
          <a:p>
            <a:r>
              <a:rPr lang="zh-TW" altLang="zh-TW" sz="1200" b="1" u="none" strike="noStrike" kern="1200" dirty="0">
                <a:solidFill>
                  <a:schemeClr val="tx1"/>
                </a:solidFill>
                <a:effectLst/>
                <a:latin typeface="+mn-lt"/>
                <a:ea typeface="+mn-ea"/>
                <a:cs typeface="+mn-cs"/>
              </a:rPr>
              <a:t>高質量篩選</a:t>
            </a:r>
            <a:r>
              <a:rPr lang="zh-TW" altLang="zh-TW" sz="1200" b="0" u="none" strike="noStrike" kern="1200" dirty="0">
                <a:solidFill>
                  <a:schemeClr val="tx1"/>
                </a:solidFill>
                <a:effectLst/>
                <a:latin typeface="+mn-lt"/>
                <a:ea typeface="+mn-ea"/>
                <a:cs typeface="+mn-cs"/>
              </a:rPr>
              <a:t>：剔除語意不通、回答過短、重複度高、或含有錯誤事實的資料。通常 </a:t>
            </a:r>
            <a:r>
              <a:rPr lang="zh-TW" altLang="zh-TW" sz="1200" b="1" u="none" strike="noStrike" kern="1200" dirty="0">
                <a:solidFill>
                  <a:schemeClr val="tx1"/>
                </a:solidFill>
                <a:effectLst/>
                <a:latin typeface="+mn-lt"/>
                <a:ea typeface="+mn-ea"/>
                <a:cs typeface="+mn-cs"/>
              </a:rPr>
              <a:t>1,000 到 10,000 條</a:t>
            </a:r>
            <a:r>
              <a:rPr lang="zh-TW" altLang="zh-TW" sz="1200" b="0" u="none" strike="noStrike" kern="1200" dirty="0">
                <a:solidFill>
                  <a:schemeClr val="tx1"/>
                </a:solidFill>
                <a:effectLst/>
                <a:latin typeface="+mn-lt"/>
                <a:ea typeface="+mn-ea"/>
                <a:cs typeface="+mn-cs"/>
              </a:rPr>
              <a:t> 高質量對話，就能讓模型有很好的指令遵循能力。</a:t>
            </a:r>
            <a:br>
              <a:rPr lang="en-US" altLang="zh-TW" sz="1200" b="0" u="none" strike="noStrike" kern="1200" dirty="0">
                <a:solidFill>
                  <a:schemeClr val="tx1"/>
                </a:solidFill>
                <a:effectLst/>
                <a:latin typeface="+mn-lt"/>
                <a:ea typeface="+mn-ea"/>
                <a:cs typeface="+mn-cs"/>
              </a:rPr>
            </a:b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資料 Tokenization（標記化與遮罩）</a:t>
            </a:r>
          </a:p>
          <a:p>
            <a:r>
              <a:rPr lang="zh-TW" altLang="zh-TW" sz="1200" b="0" u="none" strike="noStrike" kern="1200" dirty="0">
                <a:solidFill>
                  <a:schemeClr val="tx1"/>
                </a:solidFill>
                <a:effectLst/>
                <a:latin typeface="+mn-lt"/>
                <a:ea typeface="+mn-ea"/>
                <a:cs typeface="+mn-cs"/>
              </a:rPr>
              <a:t>將文字轉換為模型看得懂的數字（Tokens），並設定訓練遮罩（Mask）。</a:t>
            </a:r>
          </a:p>
          <a:p>
            <a:r>
              <a:rPr lang="zh-TW" altLang="zh-TW" sz="1200" b="1" u="none" strike="noStrike" kern="1200" dirty="0">
                <a:solidFill>
                  <a:schemeClr val="tx1"/>
                </a:solidFill>
                <a:effectLst/>
                <a:latin typeface="+mn-lt"/>
                <a:ea typeface="+mn-ea"/>
                <a:cs typeface="+mn-cs"/>
              </a:rPr>
              <a:t>長度截斷（Truncation）</a:t>
            </a:r>
            <a:r>
              <a:rPr lang="zh-TW" altLang="zh-TW" sz="1200" b="0" u="none" strike="noStrike" kern="1200" dirty="0">
                <a:solidFill>
                  <a:schemeClr val="tx1"/>
                </a:solidFill>
                <a:effectLst/>
                <a:latin typeface="+mn-lt"/>
                <a:ea typeface="+mn-ea"/>
                <a:cs typeface="+mn-cs"/>
              </a:rPr>
              <a:t>：根據顯存大小與需求，設定最大序列長度（如 2048 或 4096 Tokens）。</a:t>
            </a:r>
          </a:p>
          <a:p>
            <a:r>
              <a:rPr lang="zh-TW" altLang="zh-TW" sz="1200" b="1" u="none" strike="noStrike" kern="1200" dirty="0">
                <a:solidFill>
                  <a:schemeClr val="tx1"/>
                </a:solidFill>
                <a:effectLst/>
                <a:latin typeface="+mn-lt"/>
                <a:ea typeface="+mn-ea"/>
                <a:cs typeface="+mn-cs"/>
              </a:rPr>
              <a:t>計算遮罩（Data Collator）</a:t>
            </a:r>
            <a:r>
              <a:rPr lang="zh-TW" altLang="zh-TW" sz="1200" b="0" u="none" strike="noStrike" kern="1200" dirty="0">
                <a:solidFill>
                  <a:schemeClr val="tx1"/>
                </a:solidFill>
                <a:effectLst/>
                <a:latin typeface="+mn-lt"/>
                <a:ea typeface="+mn-ea"/>
                <a:cs typeface="+mn-cs"/>
              </a:rPr>
              <a:t>：這是 SFT 的特殊之處。在將 Prompt 與 Response 拼接成一條序列時，必須將 Prompt 部分的標籤設為 -100。如此一來，</a:t>
            </a:r>
            <a:r>
              <a:rPr lang="zh-TW" altLang="zh-TW" sz="1200" b="1" u="none" strike="noStrike" kern="1200" dirty="0">
                <a:solidFill>
                  <a:schemeClr val="tx1"/>
                </a:solidFill>
                <a:effectLst/>
                <a:latin typeface="+mn-lt"/>
                <a:ea typeface="+mn-ea"/>
                <a:cs typeface="+mn-cs"/>
              </a:rPr>
              <a:t>模型在計算損失（Loss）時只會對「回答」負責，而不會去預測「問題」</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微調策略選擇（全參數 vs. PEFT）</a:t>
            </a:r>
          </a:p>
          <a:p>
            <a:r>
              <a:rPr lang="zh-TW" altLang="zh-TW" sz="1200" b="0" u="none" strike="noStrike" kern="1200" dirty="0">
                <a:solidFill>
                  <a:schemeClr val="tx1"/>
                </a:solidFill>
                <a:effectLst/>
                <a:latin typeface="+mn-lt"/>
                <a:ea typeface="+mn-ea"/>
                <a:cs typeface="+mn-cs"/>
              </a:rPr>
              <a:t>根據預算與算力（GPU）選擇微調方式：</a:t>
            </a:r>
          </a:p>
          <a:p>
            <a:r>
              <a:rPr lang="zh-TW" altLang="zh-TW" sz="1200" b="1" u="none" strike="noStrike" kern="1200" dirty="0">
                <a:solidFill>
                  <a:schemeClr val="tx1"/>
                </a:solidFill>
                <a:effectLst/>
                <a:latin typeface="+mn-lt"/>
                <a:ea typeface="+mn-ea"/>
                <a:cs typeface="+mn-cs"/>
              </a:rPr>
              <a:t>全參數微調（Full Fine-Tuning）</a:t>
            </a:r>
            <a:r>
              <a:rPr lang="zh-TW" altLang="zh-TW" sz="1200" b="0" u="none" strike="noStrike" kern="1200" dirty="0">
                <a:solidFill>
                  <a:schemeClr val="tx1"/>
                </a:solidFill>
                <a:effectLst/>
                <a:latin typeface="+mn-lt"/>
                <a:ea typeface="+mn-ea"/>
                <a:cs typeface="+mn-cs"/>
              </a:rPr>
              <a:t>：更新模型的所有權重。效果最好、最穩定，但極度消耗顯存，且容易造成模型「災難性遺忘（Catastrophic Forgetting）」。</a:t>
            </a:r>
          </a:p>
          <a:p>
            <a:r>
              <a:rPr lang="zh-TW" altLang="zh-TW" sz="1200" b="1" u="none" strike="noStrike" kern="1200" dirty="0">
                <a:solidFill>
                  <a:schemeClr val="tx1"/>
                </a:solidFill>
                <a:effectLst/>
                <a:latin typeface="+mn-lt"/>
                <a:ea typeface="+mn-ea"/>
                <a:cs typeface="+mn-cs"/>
              </a:rPr>
              <a:t>高效參數微調（PEFT / LoRA / QLoRA）</a:t>
            </a:r>
            <a:r>
              <a:rPr lang="zh-TW" altLang="zh-TW" sz="1200" b="0" u="none" strike="noStrike" kern="1200" dirty="0">
                <a:solidFill>
                  <a:schemeClr val="tx1"/>
                </a:solidFill>
                <a:effectLst/>
                <a:latin typeface="+mn-lt"/>
                <a:ea typeface="+mn-ea"/>
                <a:cs typeface="+mn-cs"/>
              </a:rPr>
              <a:t>：凍結原模型所有參數，只在旁邊外掛小矩陣進行訓練。</a:t>
            </a:r>
            <a:r>
              <a:rPr lang="zh-TW" altLang="zh-TW" sz="1200" b="1" u="none" strike="noStrike" kern="1200" dirty="0">
                <a:solidFill>
                  <a:schemeClr val="tx1"/>
                </a:solidFill>
                <a:effectLst/>
                <a:latin typeface="+mn-lt"/>
                <a:ea typeface="+mn-ea"/>
                <a:cs typeface="+mn-cs"/>
              </a:rPr>
              <a:t>這是目前企業最常用的主流作法</a:t>
            </a:r>
            <a:r>
              <a:rPr lang="zh-TW" altLang="zh-TW" sz="1200" b="0" u="none" strike="noStrike" kern="1200" dirty="0">
                <a:solidFill>
                  <a:schemeClr val="tx1"/>
                </a:solidFill>
                <a:effectLst/>
                <a:latin typeface="+mn-lt"/>
                <a:ea typeface="+mn-ea"/>
                <a:cs typeface="+mn-cs"/>
              </a:rPr>
              <a:t>，能節省 70% 以上的顯存，且單張消費級顯卡（如 RTX 4090）即可執行。</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4. 超參數配置與模型訓練</a:t>
            </a:r>
          </a:p>
          <a:p>
            <a:r>
              <a:rPr lang="zh-TW" altLang="zh-TW" sz="1200" b="0" u="none" strike="noStrike" kern="1200" dirty="0">
                <a:solidFill>
                  <a:schemeClr val="tx1"/>
                </a:solidFill>
                <a:effectLst/>
                <a:latin typeface="+mn-lt"/>
                <a:ea typeface="+mn-ea"/>
                <a:cs typeface="+mn-cs"/>
              </a:rPr>
              <a:t>啟動訓練腳本（通常使用 Hugging Face TRL 庫中的 SFTTrainer 或 LLaMA-Factory 框架）。常見的基礎超參數配置如下：</a:t>
            </a:r>
          </a:p>
          <a:p>
            <a:r>
              <a:rPr lang="zh-TW" altLang="zh-TW" sz="1200" b="1" u="none" strike="noStrike" kern="1200" dirty="0">
                <a:solidFill>
                  <a:schemeClr val="tx1"/>
                </a:solidFill>
                <a:effectLst/>
                <a:latin typeface="+mn-lt"/>
                <a:ea typeface="+mn-ea"/>
                <a:cs typeface="+mn-cs"/>
              </a:rPr>
              <a:t>學習率（Learning Rate）</a:t>
            </a:r>
            <a:r>
              <a:rPr lang="zh-TW" altLang="zh-TW" sz="1200" b="0" u="none" strike="noStrike" kern="1200" dirty="0">
                <a:solidFill>
                  <a:schemeClr val="tx1"/>
                </a:solidFill>
                <a:effectLst/>
                <a:latin typeface="+mn-lt"/>
                <a:ea typeface="+mn-ea"/>
                <a:cs typeface="+mn-cs"/>
              </a:rPr>
              <a:t>：通常設得很小，全參數約 1e-5 到 2e-5；LoRA 則可設為 1e-4 到 2e-4。</a:t>
            </a:r>
          </a:p>
          <a:p>
            <a:r>
              <a:rPr lang="zh-TW" altLang="zh-TW" sz="1200" b="1" u="none" strike="noStrike" kern="1200" dirty="0">
                <a:solidFill>
                  <a:schemeClr val="tx1"/>
                </a:solidFill>
                <a:effectLst/>
                <a:latin typeface="+mn-lt"/>
                <a:ea typeface="+mn-ea"/>
                <a:cs typeface="+mn-cs"/>
              </a:rPr>
              <a:t>Epochs（訓練輪數）</a:t>
            </a:r>
            <a:r>
              <a:rPr lang="zh-TW" altLang="zh-TW" sz="1200" b="0" u="none" strike="noStrike" kern="1200" dirty="0">
                <a:solidFill>
                  <a:schemeClr val="tx1"/>
                </a:solidFill>
                <a:effectLst/>
                <a:latin typeface="+mn-lt"/>
                <a:ea typeface="+mn-ea"/>
                <a:cs typeface="+mn-cs"/>
              </a:rPr>
              <a:t>：一般只需要 </a:t>
            </a:r>
            <a:r>
              <a:rPr lang="zh-TW" altLang="zh-TW" sz="1200" b="1" u="none" strike="noStrike" kern="1200" dirty="0">
                <a:solidFill>
                  <a:schemeClr val="tx1"/>
                </a:solidFill>
                <a:effectLst/>
                <a:latin typeface="+mn-lt"/>
                <a:ea typeface="+mn-ea"/>
                <a:cs typeface="+mn-cs"/>
              </a:rPr>
              <a:t>1 到 3 個 Epochs</a:t>
            </a:r>
            <a:r>
              <a:rPr lang="zh-TW" altLang="zh-TW" sz="1200" b="0" u="none" strike="noStrike" kern="1200" dirty="0">
                <a:solidFill>
                  <a:schemeClr val="tx1"/>
                </a:solidFill>
                <a:effectLst/>
                <a:latin typeface="+mn-lt"/>
                <a:ea typeface="+mn-ea"/>
                <a:cs typeface="+mn-cs"/>
              </a:rPr>
              <a:t>。過多的輪數會導致模型過擬合（Overfitting），死記硬背訓練集，失去泛化能力。</a:t>
            </a:r>
          </a:p>
          <a:p>
            <a:r>
              <a:rPr lang="zh-TW" altLang="zh-TW" sz="1200" b="1" u="none" strike="noStrike" kern="1200" dirty="0">
                <a:solidFill>
                  <a:schemeClr val="tx1"/>
                </a:solidFill>
                <a:effectLst/>
                <a:latin typeface="+mn-lt"/>
                <a:ea typeface="+mn-ea"/>
                <a:cs typeface="+mn-cs"/>
              </a:rPr>
              <a:t>Batch Size</a:t>
            </a:r>
            <a:r>
              <a:rPr lang="zh-TW" altLang="zh-TW" sz="1200" b="0" u="none" strike="noStrike" kern="1200" dirty="0">
                <a:solidFill>
                  <a:schemeClr val="tx1"/>
                </a:solidFill>
                <a:effectLst/>
                <a:latin typeface="+mn-lt"/>
                <a:ea typeface="+mn-ea"/>
                <a:cs typeface="+mn-cs"/>
              </a:rPr>
              <a:t>：透過 Gradient Accumulation Steps（梯度累積）來變相放大 Batch Size，確保訓練穩定。</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5. 訓練監控（Loss 觀察）</a:t>
            </a:r>
          </a:p>
          <a:p>
            <a:r>
              <a:rPr lang="zh-TW" altLang="zh-TW" sz="1200" b="1" u="none" strike="noStrike" kern="1200" dirty="0">
                <a:solidFill>
                  <a:schemeClr val="tx1"/>
                </a:solidFill>
                <a:effectLst/>
                <a:latin typeface="+mn-lt"/>
                <a:ea typeface="+mn-ea"/>
                <a:cs typeface="+mn-cs"/>
              </a:rPr>
              <a:t>看指標</a:t>
            </a:r>
            <a:r>
              <a:rPr lang="zh-TW" altLang="zh-TW" sz="1200" b="0" u="none" strike="noStrike" kern="1200" dirty="0">
                <a:solidFill>
                  <a:schemeClr val="tx1"/>
                </a:solidFill>
                <a:effectLst/>
                <a:latin typeface="+mn-lt"/>
                <a:ea typeface="+mn-ea"/>
                <a:cs typeface="+mn-cs"/>
              </a:rPr>
              <a:t>：密切注意 </a:t>
            </a:r>
            <a:r>
              <a:rPr lang="zh-TW" altLang="zh-TW" sz="1200" b="1" u="none" strike="noStrike" kern="1200" dirty="0">
                <a:solidFill>
                  <a:schemeClr val="tx1"/>
                </a:solidFill>
                <a:effectLst/>
                <a:latin typeface="+mn-lt"/>
                <a:ea typeface="+mn-ea"/>
                <a:cs typeface="+mn-cs"/>
              </a:rPr>
              <a:t>Training Loss</a:t>
            </a:r>
            <a:r>
              <a:rPr lang="zh-TW" altLang="zh-TW" sz="1200" b="0" u="none" strike="noStrike" kern="1200" dirty="0">
                <a:solidFill>
                  <a:schemeClr val="tx1"/>
                </a:solidFill>
                <a:effectLst/>
                <a:latin typeface="+mn-lt"/>
                <a:ea typeface="+mn-ea"/>
                <a:cs typeface="+mn-cs"/>
              </a:rPr>
              <a:t> 與 </a:t>
            </a:r>
            <a:r>
              <a:rPr lang="zh-TW" altLang="zh-TW" sz="1200" b="1" u="none" strike="noStrike" kern="1200" dirty="0">
                <a:solidFill>
                  <a:schemeClr val="tx1"/>
                </a:solidFill>
                <a:effectLst/>
                <a:latin typeface="+mn-lt"/>
                <a:ea typeface="+mn-ea"/>
                <a:cs typeface="+mn-cs"/>
              </a:rPr>
              <a:t>Validation Loss</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黃金曲線</a:t>
            </a:r>
            <a:r>
              <a:rPr lang="zh-TW" altLang="zh-TW" sz="1200" b="0" u="none" strike="noStrike" kern="1200" dirty="0">
                <a:solidFill>
                  <a:schemeClr val="tx1"/>
                </a:solidFill>
                <a:effectLst/>
                <a:latin typeface="+mn-lt"/>
                <a:ea typeface="+mn-ea"/>
                <a:cs typeface="+mn-cs"/>
              </a:rPr>
              <a:t>：理想的 SFT Loss 曲線應該是平滑下降，最後收斂在一個合理區間（通常在 1.0 上下，取決於資料集）。如果 Validation Loss 開始反彈上升，說明模型已經過擬合，必須提前終止訓練（Early Stopping）。</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6. 模型評估與部署（Evaluation）</a:t>
            </a:r>
          </a:p>
          <a:p>
            <a:r>
              <a:rPr lang="zh-TW" altLang="zh-TW" sz="1200" b="1" u="none" strike="noStrike" kern="1200" dirty="0">
                <a:solidFill>
                  <a:schemeClr val="tx1"/>
                </a:solidFill>
                <a:effectLst/>
                <a:latin typeface="+mn-lt"/>
                <a:ea typeface="+mn-ea"/>
                <a:cs typeface="+mn-cs"/>
              </a:rPr>
              <a:t>自動化評估</a:t>
            </a:r>
            <a:r>
              <a:rPr lang="zh-TW" altLang="zh-TW" sz="1200" b="0" u="none" strike="noStrike" kern="1200" dirty="0">
                <a:solidFill>
                  <a:schemeClr val="tx1"/>
                </a:solidFill>
                <a:effectLst/>
                <a:latin typeface="+mn-lt"/>
                <a:ea typeface="+mn-ea"/>
                <a:cs typeface="+mn-cs"/>
              </a:rPr>
              <a:t>：使用測試集（模型沒看過的資料）讓模型回答，並利用大模型（如 GPT-4）進行打分（LLM-as-a-Judge），或使用常識能力基準（如 MMLU、GSM8K）確保模型沒有變笨。</a:t>
            </a:r>
          </a:p>
          <a:p>
            <a:r>
              <a:rPr lang="zh-TW" altLang="zh-TW" sz="1200" b="1" u="none" strike="noStrike" kern="1200" dirty="0">
                <a:solidFill>
                  <a:schemeClr val="tx1"/>
                </a:solidFill>
                <a:effectLst/>
                <a:latin typeface="+mn-lt"/>
                <a:ea typeface="+mn-ea"/>
                <a:cs typeface="+mn-cs"/>
              </a:rPr>
              <a:t>人工盲測（Side-by-Side）</a:t>
            </a:r>
            <a:r>
              <a:rPr lang="zh-TW" altLang="zh-TW" sz="1200" b="0" u="none" strike="noStrike" kern="1200" dirty="0">
                <a:solidFill>
                  <a:schemeClr val="tx1"/>
                </a:solidFill>
                <a:effectLst/>
                <a:latin typeface="+mn-lt"/>
                <a:ea typeface="+mn-ea"/>
                <a:cs typeface="+mn-cs"/>
              </a:rPr>
              <a:t>：由人類專家直接對比「微調前」與「微調後」的回答，確認語氣、格式、業務邏輯是否完全對齊目標。</a:t>
            </a:r>
          </a:p>
          <a:p>
            <a:r>
              <a:rPr lang="zh-TW" altLang="zh-TW" sz="1200" b="1" u="none" strike="noStrike" kern="1200" dirty="0">
                <a:solidFill>
                  <a:schemeClr val="tx1"/>
                </a:solidFill>
                <a:effectLst/>
                <a:latin typeface="+mn-lt"/>
                <a:ea typeface="+mn-ea"/>
                <a:cs typeface="+mn-cs"/>
              </a:rPr>
              <a:t>權重合併</a:t>
            </a:r>
            <a:r>
              <a:rPr lang="zh-TW" altLang="zh-TW" sz="1200" b="0" u="none" strike="noStrike" kern="1200" dirty="0">
                <a:solidFill>
                  <a:schemeClr val="tx1"/>
                </a:solidFill>
                <a:effectLst/>
                <a:latin typeface="+mn-lt"/>
                <a:ea typeface="+mn-ea"/>
                <a:cs typeface="+mn-cs"/>
              </a:rPr>
              <a:t>：如果使用 LoRA，評估通過後需要將 LoRA 的小矩陣權重與原始 Base 模型合併（Merge），並導出為通用格式（如 Hugging Face 或 GGUF 格式）以便下游部署。</a:t>
            </a:r>
          </a:p>
        </p:txBody>
      </p:sp>
      <p:sp>
        <p:nvSpPr>
          <p:cNvPr id="4" name="投影片編號版面配置區 3">
            <a:extLst>
              <a:ext uri="{FF2B5EF4-FFF2-40B4-BE49-F238E27FC236}">
                <a16:creationId xmlns:a16="http://schemas.microsoft.com/office/drawing/2014/main" id="{5DF44375-662C-F098-7B49-BC0BFB70ABD5}"/>
              </a:ext>
            </a:extLst>
          </p:cNvPr>
          <p:cNvSpPr>
            <a:spLocks noGrp="1"/>
          </p:cNvSpPr>
          <p:nvPr>
            <p:ph type="sldNum" sz="quarter" idx="5"/>
          </p:nvPr>
        </p:nvSpPr>
        <p:spPr/>
        <p:txBody>
          <a:bodyPr/>
          <a:lstStyle/>
          <a:p>
            <a:fld id="{E3A6CE5E-F349-486D-8749-82EF2AD71FA8}" type="slidenum">
              <a:rPr lang="zh-TW" altLang="en-US" smtClean="0"/>
              <a:t>24</a:t>
            </a:fld>
            <a:endParaRPr lang="zh-TW" altLang="en-US"/>
          </a:p>
        </p:txBody>
      </p:sp>
    </p:spTree>
    <p:extLst>
      <p:ext uri="{BB962C8B-B14F-4D97-AF65-F5344CB8AC3E}">
        <p14:creationId xmlns:p14="http://schemas.microsoft.com/office/powerpoint/2010/main" val="31043671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fontAlgn="base"/>
            <a:r>
              <a:rPr lang="zh-TW" altLang="zh-TW" sz="1200" b="0" i="0" kern="1200" dirty="0">
                <a:solidFill>
                  <a:schemeClr val="tx1"/>
                </a:solidFill>
                <a:effectLst/>
                <a:latin typeface="+mn-lt"/>
                <a:ea typeface="+mn-ea"/>
                <a:cs typeface="+mn-cs"/>
              </a:rPr>
              <a:t>MCP 協定的運作核心在於三大架構的合作：主機（Host）、客戶端（Client） 與伺服器（Server）。這三者就如同 AI 任務中的指揮官、聯絡人與執行單位，讓 AI 助理（AI agent）得以安全、即時地連接外部資訊。</a:t>
            </a:r>
          </a:p>
          <a:p>
            <a:pPr fontAlgn="base"/>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主機（MCP Host）：指揮中心</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主機通常是 AI 應用本身，例如 Claude Desktop, IDEs, 或是其他需要透過 MCP 存取資料的 AI 工具。它負責發出請求、定義任務，可以把它想像為一名總指揮，指派 AI 查詢資料、存取文件或啟用工具。</a:t>
            </a:r>
            <a:br>
              <a:rPr lang="zh-TW" altLang="zh-TW" sz="1200" b="0" i="0" kern="1200" dirty="0">
                <a:solidFill>
                  <a:schemeClr val="tx1"/>
                </a:solidFill>
                <a:effectLst/>
                <a:latin typeface="+mn-lt"/>
                <a:ea typeface="+mn-ea"/>
                <a:cs typeface="+mn-cs"/>
              </a:rPr>
            </a:br>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客戶端（MCP Client）：溝通橋梁</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客戶端扮演主機與伺服器之間的溝通媒介，負責將主機的指令準確的轉交給伺服器處理，並將伺服器回傳的結果送回主機，MCP 主機會執行一個或多個 MCP 客戶端，並與 MCP 伺服器進行一對一連結。同時有身份驗證的功能，維持系統通訊的安全性與穩定性。</a:t>
            </a:r>
            <a:br>
              <a:rPr lang="zh-TW" altLang="zh-TW" sz="1200" b="0" i="0" kern="1200" dirty="0">
                <a:solidFill>
                  <a:schemeClr val="tx1"/>
                </a:solidFill>
                <a:effectLst/>
                <a:latin typeface="+mn-lt"/>
                <a:ea typeface="+mn-ea"/>
                <a:cs typeface="+mn-cs"/>
              </a:rPr>
            </a:br>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伺服器（MCP Server）：任務執行者</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伺服器的任務是將電腦內的功能（像是資料庫查詢、檔案讀寫、網頁操作）透過一組標準化的指令對外公開。當主機透過 MCP 發出指令時，伺服器就會依據這些指令執行操作，並將結果回傳。</a:t>
            </a:r>
          </a:p>
          <a:p>
            <a:endParaRPr lang="en-US" altLang="zh-TW" dirty="0"/>
          </a:p>
          <a:p>
            <a:pPr>
              <a:lnSpc>
                <a:spcPts val="1800"/>
              </a:lnSpc>
              <a:spcBef>
                <a:spcPts val="600"/>
              </a:spcBef>
              <a:spcAft>
                <a:spcPts val="600"/>
              </a:spcAft>
              <a:buNone/>
            </a:pPr>
            <a:r>
              <a:rPr lang="en-US" altLang="zh-TW" sz="1600" b="1" u="none" strike="noStrike" dirty="0">
                <a:effectLst/>
              </a:rPr>
              <a:t>AI Model Format</a:t>
            </a:r>
          </a:p>
          <a:p>
            <a:pPr marL="0" marR="0" lvl="0" indent="0" algn="l" defTabSz="914400" rtl="0" eaLnBrk="1" fontAlgn="auto" latinLnBrk="0" hangingPunct="1">
              <a:lnSpc>
                <a:spcPts val="1800"/>
              </a:lnSpc>
              <a:spcBef>
                <a:spcPts val="600"/>
              </a:spcBef>
              <a:spcAft>
                <a:spcPts val="600"/>
              </a:spcAft>
              <a:buClrTx/>
              <a:buSzTx/>
              <a:buFont typeface="Wingdings" panose="05000000000000000000" pitchFamily="2" charset="2"/>
              <a:buNone/>
              <a:tabLst/>
              <a:defRPr/>
            </a:pPr>
            <a:r>
              <a:rPr lang="en-US" altLang="zh-TW" sz="1200" b="1" dirty="0">
                <a:solidFill>
                  <a:prstClr val="black"/>
                </a:solidFill>
                <a:latin typeface="+mn-lt"/>
                <a:ea typeface="+mn-ea"/>
              </a:rPr>
              <a:t>-</a:t>
            </a:r>
            <a:r>
              <a:rPr lang="zh-TW" altLang="en-US" sz="1200" b="1" dirty="0">
                <a:solidFill>
                  <a:prstClr val="black"/>
                </a:solidFill>
                <a:latin typeface="+mn-lt"/>
                <a:ea typeface="+mn-ea"/>
              </a:rPr>
              <a:t> </a:t>
            </a:r>
            <a:r>
              <a:rPr lang="en-US" altLang="zh-TW" sz="1200" b="1" dirty="0">
                <a:solidFill>
                  <a:prstClr val="black"/>
                </a:solidFill>
                <a:latin typeface="+mn-lt"/>
                <a:ea typeface="+mn-ea"/>
              </a:rPr>
              <a:t>GPT Generated Unify Format (</a:t>
            </a:r>
            <a:r>
              <a:rPr kumimoji="0" lang="en-US" altLang="zh-TW" sz="1200" b="1" i="0" u="none" strike="noStrike" kern="1200" cap="none" spc="0" normalizeH="0" baseline="0" noProof="0" dirty="0">
                <a:ln>
                  <a:noFill/>
                </a:ln>
                <a:solidFill>
                  <a:prstClr val="black"/>
                </a:solidFill>
                <a:effectLst/>
                <a:uLnTx/>
                <a:uFillTx/>
                <a:latin typeface="+mn-lt"/>
                <a:ea typeface="+mn-ea"/>
                <a:cs typeface="+mn-cs"/>
              </a:rPr>
              <a:t>GGUF)</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LLM file format.</a:t>
            </a:r>
          </a:p>
          <a:p>
            <a:pPr marL="0" marR="0" lvl="0" indent="0" algn="l" defTabSz="914400" rtl="0" eaLnBrk="1" fontAlgn="auto" latinLnBrk="0" hangingPunct="1">
              <a:lnSpc>
                <a:spcPts val="1800"/>
              </a:lnSpc>
              <a:spcBef>
                <a:spcPts val="600"/>
              </a:spcBef>
              <a:spcAft>
                <a:spcPts val="600"/>
              </a:spcAft>
              <a:buClrTx/>
              <a:buSzTx/>
              <a:buFont typeface="Wingdings" panose="05000000000000000000" pitchFamily="2" charset="2"/>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a:t>
            </a:r>
            <a:r>
              <a:rPr kumimoji="0" lang="zh-TW" altLang="en-US" sz="1200" b="1" i="0" u="none" strike="noStrike" kern="1200" cap="none" spc="0" normalizeH="0" baseline="0" noProof="0" dirty="0">
                <a:ln>
                  <a:noFill/>
                </a:ln>
                <a:solidFill>
                  <a:prstClr val="black"/>
                </a:solidFill>
                <a:effectLst/>
                <a:uLnTx/>
                <a:uFillTx/>
                <a:latin typeface="+mn-lt"/>
                <a:ea typeface="+mn-ea"/>
                <a:cs typeface="+mn-cs"/>
              </a:rPr>
              <a:t> </a:t>
            </a:r>
            <a:r>
              <a:rPr kumimoji="0" lang="en-US" altLang="zh-TW" sz="1200" b="1" i="0" u="none" strike="noStrike" kern="1200" cap="none" spc="0" normalizeH="0" baseline="0" noProof="0" dirty="0">
                <a:ln>
                  <a:noFill/>
                </a:ln>
                <a:solidFill>
                  <a:prstClr val="black"/>
                </a:solidFill>
                <a:effectLst/>
                <a:uLnTx/>
                <a:uFillTx/>
                <a:latin typeface="+mn-lt"/>
                <a:ea typeface="+mn-ea"/>
                <a:cs typeface="+mn-cs"/>
              </a:rPr>
              <a:t>Open Neuro Network eXchange (ONNX): </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AI model file format</a:t>
            </a:r>
            <a:r>
              <a:rPr lang="en-US" altLang="zh-TW" sz="1200" dirty="0">
                <a:solidFill>
                  <a:prstClr val="black"/>
                </a:solidFill>
                <a:latin typeface="+mn-lt"/>
                <a:ea typeface="+mn-ea"/>
              </a:rPr>
              <a:t>, for example YOLO.</a:t>
            </a: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25</a:t>
            </a:fld>
            <a:endParaRPr lang="zh-TW" altLang="en-US"/>
          </a:p>
        </p:txBody>
      </p:sp>
    </p:spTree>
    <p:extLst>
      <p:ext uri="{BB962C8B-B14F-4D97-AF65-F5344CB8AC3E}">
        <p14:creationId xmlns:p14="http://schemas.microsoft.com/office/powerpoint/2010/main" val="22375464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正</a:t>
            </a:r>
            <a:r>
              <a:rPr lang="zh-TW" altLang="zh-TW" sz="1200" b="1" u="none" strike="noStrike" kern="1200" dirty="0">
                <a:solidFill>
                  <a:schemeClr val="tx1"/>
                </a:solidFill>
                <a:effectLst/>
                <a:latin typeface="+mn-lt"/>
                <a:ea typeface="+mn-ea"/>
                <a:cs typeface="+mn-cs"/>
              </a:rPr>
              <a:t>確觀念</a:t>
            </a:r>
            <a:r>
              <a:rPr lang="zh-TW" altLang="zh-TW" sz="1200" b="0" u="none" strike="noStrike" kern="1200" dirty="0">
                <a:solidFill>
                  <a:schemeClr val="tx1"/>
                </a:solidFill>
                <a:effectLst/>
                <a:latin typeface="+mn-lt"/>
                <a:ea typeface="+mn-ea"/>
                <a:cs typeface="+mn-cs"/>
              </a:rPr>
              <a:t>：Graph RAG ➔ </a:t>
            </a:r>
            <a:r>
              <a:rPr lang="zh-TW" altLang="zh-TW" sz="1200" b="1" u="none" strike="noStrike" kern="1200" dirty="0">
                <a:solidFill>
                  <a:schemeClr val="tx1"/>
                </a:solidFill>
                <a:effectLst/>
                <a:latin typeface="+mn-lt"/>
                <a:ea typeface="+mn-ea"/>
                <a:cs typeface="+mn-cs"/>
              </a:rPr>
              <a:t>直接貼入Context</a:t>
            </a:r>
            <a:r>
              <a:rPr lang="zh-TW"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LLM 一口氣讀完並生成最終答案</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在簡報上，您可以強調 </a:t>
            </a:r>
            <a:r>
              <a:rPr lang="zh-TW" altLang="zh-TW" sz="1200" b="1" u="none" strike="noStrike" kern="1200" dirty="0">
                <a:solidFill>
                  <a:schemeClr val="tx1"/>
                </a:solidFill>
                <a:effectLst/>
                <a:latin typeface="+mn-lt"/>
                <a:ea typeface="+mn-ea"/>
                <a:cs typeface="+mn-cs"/>
              </a:rPr>
              <a:t>"Direct Context Injection"（直接上下文注入）</a:t>
            </a:r>
            <a:r>
              <a:rPr lang="zh-TW" altLang="zh-TW" sz="1200" b="0" u="none" strike="noStrike" kern="1200" dirty="0">
                <a:solidFill>
                  <a:schemeClr val="tx1"/>
                </a:solidFill>
                <a:effectLst/>
                <a:latin typeface="+mn-lt"/>
                <a:ea typeface="+mn-ea"/>
                <a:cs typeface="+mn-cs"/>
              </a:rPr>
              <a:t>，這代表資料是以最快、最無損（Lossless）的方式直接賦予 AI 大腦。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26</a:t>
            </a:fld>
            <a:endParaRPr lang="zh-TW" altLang="en-US"/>
          </a:p>
        </p:txBody>
      </p:sp>
    </p:spTree>
    <p:extLst>
      <p:ext uri="{BB962C8B-B14F-4D97-AF65-F5344CB8AC3E}">
        <p14:creationId xmlns:p14="http://schemas.microsoft.com/office/powerpoint/2010/main" val="21247083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81A17-90A7-9331-3F44-AE3CEE56DC9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054187F-DC36-B286-6A5E-3E08FF7E4358}"/>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273D078-FC4B-EEEB-EC56-F89C13CBA973}"/>
              </a:ext>
            </a:extLst>
          </p:cNvPr>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正</a:t>
            </a:r>
            <a:r>
              <a:rPr lang="zh-TW" altLang="zh-TW" sz="1200" b="1" u="none" strike="noStrike" kern="1200" dirty="0">
                <a:solidFill>
                  <a:schemeClr val="tx1"/>
                </a:solidFill>
                <a:effectLst/>
                <a:latin typeface="+mn-lt"/>
                <a:ea typeface="+mn-ea"/>
                <a:cs typeface="+mn-cs"/>
              </a:rPr>
              <a:t>確觀念</a:t>
            </a:r>
            <a:r>
              <a:rPr lang="zh-TW" altLang="zh-TW" sz="1200" b="0" u="none" strike="noStrike" kern="1200" dirty="0">
                <a:solidFill>
                  <a:schemeClr val="tx1"/>
                </a:solidFill>
                <a:effectLst/>
                <a:latin typeface="+mn-lt"/>
                <a:ea typeface="+mn-ea"/>
                <a:cs typeface="+mn-cs"/>
              </a:rPr>
              <a:t>：Graph RAG ➔ </a:t>
            </a:r>
            <a:r>
              <a:rPr lang="zh-TW" altLang="zh-TW" sz="1200" b="1" u="none" strike="noStrike" kern="1200" dirty="0">
                <a:solidFill>
                  <a:schemeClr val="tx1"/>
                </a:solidFill>
                <a:effectLst/>
                <a:latin typeface="+mn-lt"/>
                <a:ea typeface="+mn-ea"/>
                <a:cs typeface="+mn-cs"/>
              </a:rPr>
              <a:t>直接貼入Context</a:t>
            </a:r>
            <a:r>
              <a:rPr lang="zh-TW"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LLM 一口氣讀完並生成最終答案</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在簡報上，您可以強調 </a:t>
            </a:r>
            <a:r>
              <a:rPr lang="zh-TW" altLang="zh-TW" sz="1200" b="1" u="none" strike="noStrike" kern="1200" dirty="0">
                <a:solidFill>
                  <a:schemeClr val="tx1"/>
                </a:solidFill>
                <a:effectLst/>
                <a:latin typeface="+mn-lt"/>
                <a:ea typeface="+mn-ea"/>
                <a:cs typeface="+mn-cs"/>
              </a:rPr>
              <a:t>"Direct Context Injection"（直接上下文注入）</a:t>
            </a:r>
            <a:r>
              <a:rPr lang="zh-TW" altLang="zh-TW" sz="1200" b="0" u="none" strike="noStrike" kern="1200" dirty="0">
                <a:solidFill>
                  <a:schemeClr val="tx1"/>
                </a:solidFill>
                <a:effectLst/>
                <a:latin typeface="+mn-lt"/>
                <a:ea typeface="+mn-ea"/>
                <a:cs typeface="+mn-cs"/>
              </a:rPr>
              <a:t>，這代表資料是以最快、最無損（Lossless）的方式直接賦予 AI 大腦。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C5DF597F-45FE-5CE4-D640-6655A52604B9}"/>
              </a:ext>
            </a:extLst>
          </p:cNvPr>
          <p:cNvSpPr>
            <a:spLocks noGrp="1"/>
          </p:cNvSpPr>
          <p:nvPr>
            <p:ph type="sldNum" sz="quarter" idx="5"/>
          </p:nvPr>
        </p:nvSpPr>
        <p:spPr/>
        <p:txBody>
          <a:bodyPr/>
          <a:lstStyle/>
          <a:p>
            <a:fld id="{E3A6CE5E-F349-486D-8749-82EF2AD71FA8}" type="slidenum">
              <a:rPr lang="zh-TW" altLang="en-US" smtClean="0"/>
              <a:t>27</a:t>
            </a:fld>
            <a:endParaRPr lang="zh-TW" altLang="en-US"/>
          </a:p>
        </p:txBody>
      </p:sp>
    </p:spTree>
    <p:extLst>
      <p:ext uri="{BB962C8B-B14F-4D97-AF65-F5344CB8AC3E}">
        <p14:creationId xmlns:p14="http://schemas.microsoft.com/office/powerpoint/2010/main" val="40692754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FA828-BB81-20B9-F8FF-D51EE5A5566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1EB7EF0-23BF-7613-C8F0-A77854388CC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1DE388F-6C85-7B21-1F63-CC5157628DD4}"/>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我們可以從以下四個最關鍵的維度，來看各個推理引擎的本質差異：</a:t>
            </a:r>
          </a:p>
          <a:p>
            <a:r>
              <a:rPr lang="zh-TW" altLang="zh-TW" sz="1200" b="1" u="none" strike="noStrike" kern="1200" dirty="0">
                <a:solidFill>
                  <a:schemeClr val="tx1"/>
                </a:solidFill>
                <a:effectLst/>
                <a:latin typeface="+mn-lt"/>
                <a:ea typeface="+mn-ea"/>
                <a:cs typeface="+mn-cs"/>
              </a:rPr>
              <a:t>1. 速度與吞吐量（Throughput）的巨大落差</a:t>
            </a:r>
          </a:p>
          <a:p>
            <a:r>
              <a:rPr lang="zh-TW" altLang="zh-TW" sz="1200" b="1" u="none" strike="noStrike" kern="1200" dirty="0">
                <a:solidFill>
                  <a:schemeClr val="tx1"/>
                </a:solidFill>
                <a:effectLst/>
                <a:latin typeface="+mn-lt"/>
                <a:ea typeface="+mn-ea"/>
                <a:cs typeface="+mn-cs"/>
              </a:rPr>
              <a:t>vLLM / SGLang（API 伺服器之王</a:t>
            </a:r>
            <a:r>
              <a:rPr lang="en-US" altLang="zh-TW" sz="1200" b="1"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內建 </a:t>
            </a:r>
            <a:r>
              <a:rPr lang="zh-TW" altLang="zh-TW" sz="1200" b="1" u="none" strike="noStrike" kern="1200" dirty="0">
                <a:solidFill>
                  <a:schemeClr val="tx1"/>
                </a:solidFill>
                <a:effectLst/>
                <a:latin typeface="+mn-lt"/>
                <a:ea typeface="+mn-ea"/>
                <a:cs typeface="+mn-cs"/>
              </a:rPr>
              <a:t>PagedAttention</a:t>
            </a:r>
            <a:r>
              <a:rPr lang="zh-TW" altLang="zh-TW" sz="1200" b="0" u="none" strike="noStrike" kern="1200" dirty="0">
                <a:solidFill>
                  <a:schemeClr val="tx1"/>
                </a:solidFill>
                <a:effectLst/>
                <a:latin typeface="+mn-lt"/>
                <a:ea typeface="+mn-ea"/>
                <a:cs typeface="+mn-cs"/>
              </a:rPr>
              <a:t> 技術</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專為「多人同時使用」設計</a:t>
            </a:r>
            <a:r>
              <a:rPr lang="en-US" altLang="zh-TW" sz="1200" b="0"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llama.cpp</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單機之王</a:t>
            </a:r>
            <a:r>
              <a:rPr lang="en-US" altLang="zh-TW" sz="1200" b="1" u="none" strike="noStrike" kern="1200" dirty="0">
                <a:solidFill>
                  <a:schemeClr val="tx1"/>
                </a:solidFill>
                <a:effectLst/>
                <a:latin typeface="+mn-lt"/>
                <a:ea typeface="+mn-ea"/>
                <a:cs typeface="+mn-cs"/>
              </a:rPr>
              <a:t>)</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它沒有高併發優化，如果 100 個人同時連進來，它會排隊排到天荒地老。但如果是「你一個人」在電腦前用，</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Time-to-First-Token</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非常快。</a:t>
            </a:r>
          </a:p>
          <a:p>
            <a:r>
              <a:rPr lang="zh-TW" altLang="zh-TW" sz="1200" b="1" u="none" strike="noStrike" kern="1200" dirty="0">
                <a:solidFill>
                  <a:schemeClr val="tx1"/>
                </a:solidFill>
                <a:effectLst/>
                <a:latin typeface="+mn-lt"/>
                <a:ea typeface="+mn-ea"/>
                <a:cs typeface="+mn-cs"/>
              </a:rPr>
              <a:t>2. 硬體支援度</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底層優化對象</a:t>
            </a:r>
            <a:r>
              <a:rPr lang="en-US" altLang="zh-TW" sz="1200" b="1" u="none" strike="noStrike" kern="1200" dirty="0">
                <a:solidFill>
                  <a:schemeClr val="tx1"/>
                </a:solidFill>
                <a:effectLst/>
                <a:latin typeface="+mn-lt"/>
                <a:ea typeface="+mn-ea"/>
                <a:cs typeface="+mn-cs"/>
              </a:rPr>
              <a:t>)</a:t>
            </a:r>
            <a:endParaRPr lang="zh-TW"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TensorRT-LLM</a:t>
            </a:r>
            <a:r>
              <a:rPr lang="zh-TW" altLang="zh-TW" sz="1200" b="0" u="none" strike="noStrike" kern="1200" dirty="0">
                <a:solidFill>
                  <a:schemeClr val="tx1"/>
                </a:solidFill>
                <a:effectLst/>
                <a:latin typeface="+mn-lt"/>
                <a:ea typeface="+mn-ea"/>
                <a:cs typeface="+mn-cs"/>
              </a:rPr>
              <a:t>：這是 Nvidia 官方的硬體作弊外掛。它會把 Llama 的矩陣乘法，直接編譯成特定 GPU（如 A100 或 RTX 4090）的最底層硬體指令</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是所有引擎中最快的</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llama.cpp / Ollama</a:t>
            </a:r>
            <a:r>
              <a:rPr lang="zh-TW" altLang="zh-TW" sz="1200" b="0" u="none" strike="noStrike" kern="1200" dirty="0">
                <a:solidFill>
                  <a:schemeClr val="tx1"/>
                </a:solidFill>
                <a:effectLst/>
                <a:latin typeface="+mn-lt"/>
                <a:ea typeface="+mn-ea"/>
                <a:cs typeface="+mn-cs"/>
              </a:rPr>
              <a:t>：主打「什麼硬體都能跑」。它的底層是用 C++ 寫的，對 Apple Silicon的神經網路引擎和記憶體頻寬做了神級優化。</a:t>
            </a:r>
          </a:p>
          <a:p>
            <a:r>
              <a:rPr lang="zh-TW" altLang="zh-TW" sz="1200" b="1" u="none" strike="noStrike" kern="1200" dirty="0">
                <a:solidFill>
                  <a:schemeClr val="tx1"/>
                </a:solidFill>
                <a:effectLst/>
                <a:latin typeface="+mn-lt"/>
                <a:ea typeface="+mn-ea"/>
                <a:cs typeface="+mn-cs"/>
              </a:rPr>
              <a:t>OpenVINO</a:t>
            </a:r>
            <a:r>
              <a:rPr lang="zh-TW" altLang="zh-TW" sz="1200" b="0" u="none" strike="noStrike" kern="1200" dirty="0">
                <a:solidFill>
                  <a:schemeClr val="tx1"/>
                </a:solidFill>
                <a:effectLst/>
                <a:latin typeface="+mn-lt"/>
                <a:ea typeface="+mn-ea"/>
                <a:cs typeface="+mn-cs"/>
              </a:rPr>
              <a:t>：這是 Intel 的專屬引擎，專門把 Llama 優化在 Intel Xeon 處理器、Intel Ultra 筆電晶片或 Arc 顯卡上執行。</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動態外掛（Multi-LoRA）的支援能力</a:t>
            </a:r>
          </a:p>
          <a:p>
            <a:r>
              <a:rPr lang="zh-TW" altLang="zh-TW" sz="1200" b="0" u="none" strike="noStrike" kern="1200" dirty="0">
                <a:solidFill>
                  <a:schemeClr val="tx1"/>
                </a:solidFill>
                <a:effectLst/>
                <a:latin typeface="+mn-lt"/>
                <a:ea typeface="+mn-ea"/>
                <a:cs typeface="+mn-cs"/>
              </a:rPr>
              <a:t>如果你微調了好多個不同功能的 LoRA 外掛（例如一個負責寫信、一個負責寫程式、一個負責客服）：</a:t>
            </a:r>
          </a:p>
          <a:p>
            <a:r>
              <a:rPr lang="zh-TW" altLang="zh-TW" sz="1200" b="1" u="none" strike="noStrike" kern="1200" dirty="0">
                <a:solidFill>
                  <a:schemeClr val="tx1"/>
                </a:solidFill>
                <a:effectLst/>
                <a:latin typeface="+mn-lt"/>
                <a:ea typeface="+mn-ea"/>
                <a:cs typeface="+mn-cs"/>
              </a:rPr>
              <a:t>vLLM / SGLang</a:t>
            </a:r>
            <a:r>
              <a:rPr lang="zh-TW" altLang="zh-TW" sz="1200" b="0" u="none" strike="noStrike" kern="1200" dirty="0">
                <a:solidFill>
                  <a:schemeClr val="tx1"/>
                </a:solidFill>
                <a:effectLst/>
                <a:latin typeface="+mn-lt"/>
                <a:ea typeface="+mn-ea"/>
                <a:cs typeface="+mn-cs"/>
              </a:rPr>
              <a:t>：支援 </a:t>
            </a:r>
            <a:r>
              <a:rPr lang="zh-TW" altLang="zh-TW" sz="1200" b="1" u="none" strike="noStrike" kern="1200" dirty="0">
                <a:solidFill>
                  <a:schemeClr val="tx1"/>
                </a:solidFill>
                <a:effectLst/>
                <a:latin typeface="+mn-lt"/>
                <a:ea typeface="+mn-ea"/>
                <a:cs typeface="+mn-cs"/>
              </a:rPr>
              <a:t>「動態熱插拔 Multi-LoRA」</a:t>
            </a:r>
            <a:r>
              <a:rPr lang="zh-TW" altLang="zh-TW" sz="1200" b="0" u="none" strike="noStrike" kern="1200" dirty="0">
                <a:solidFill>
                  <a:schemeClr val="tx1"/>
                </a:solidFill>
                <a:effectLst/>
                <a:latin typeface="+mn-lt"/>
                <a:ea typeface="+mn-ea"/>
                <a:cs typeface="+mn-cs"/>
              </a:rPr>
              <a:t>。伺服器記憶體裡只需要載入一個 Llama 基底模型，當 A 請求需要客服、B 請求需要寫程式時，引擎可以在微秒等級內動態切換計算圖分支。</a:t>
            </a:r>
          </a:p>
          <a:p>
            <a:r>
              <a:rPr lang="zh-TW" altLang="zh-TW" sz="1200" b="1" u="none" strike="noStrike" kern="1200" dirty="0">
                <a:solidFill>
                  <a:schemeClr val="tx1"/>
                </a:solidFill>
                <a:effectLst/>
                <a:latin typeface="+mn-lt"/>
                <a:ea typeface="+mn-ea"/>
                <a:cs typeface="+mn-cs"/>
              </a:rPr>
              <a:t>Ollama / 傳統引擎</a:t>
            </a:r>
            <a:r>
              <a:rPr lang="zh-TW" altLang="zh-TW" sz="1200" b="0" u="none" strike="noStrike" kern="1200" dirty="0">
                <a:solidFill>
                  <a:schemeClr val="tx1"/>
                </a:solidFill>
                <a:effectLst/>
                <a:latin typeface="+mn-lt"/>
                <a:ea typeface="+mn-ea"/>
                <a:cs typeface="+mn-cs"/>
              </a:rPr>
              <a:t>：通常不支援或支援得很差。你可能必須為了客服開一個 15GB 的模型服務，為了寫程式又開另一個 15GB 的模型服務，極度浪費顯存（VRAM）。</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4. 功能性與生態系（開發便利度）</a:t>
            </a:r>
          </a:p>
          <a:p>
            <a:r>
              <a:rPr lang="zh-TW" altLang="zh-TW" sz="1200" b="1" u="none" strike="noStrike" kern="1200" dirty="0">
                <a:solidFill>
                  <a:schemeClr val="tx1"/>
                </a:solidFill>
                <a:effectLst/>
                <a:latin typeface="+mn-lt"/>
                <a:ea typeface="+mn-ea"/>
                <a:cs typeface="+mn-cs"/>
              </a:rPr>
              <a:t>Ollama</a:t>
            </a:r>
            <a:r>
              <a:rPr lang="zh-TW" altLang="zh-TW" sz="1200" b="0" u="none" strike="noStrike" kern="1200" dirty="0">
                <a:solidFill>
                  <a:schemeClr val="tx1"/>
                </a:solidFill>
                <a:effectLst/>
                <a:latin typeface="+mn-lt"/>
                <a:ea typeface="+mn-ea"/>
                <a:cs typeface="+mn-cs"/>
              </a:rPr>
              <a:t>：主打「零設定」。它把複雜的編譯、權重載入、硬體分配全部包裝起來。</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SGLang</a:t>
            </a:r>
            <a:r>
              <a:rPr lang="zh-TW" altLang="zh-TW" sz="1200" b="0" u="none" strike="noStrike" kern="1200" dirty="0">
                <a:solidFill>
                  <a:schemeClr val="tx1"/>
                </a:solidFill>
                <a:effectLst/>
                <a:latin typeface="+mn-lt"/>
                <a:ea typeface="+mn-ea"/>
                <a:cs typeface="+mn-cs"/>
              </a:rPr>
              <a:t>：主打「複雜 Prompt 與 Agent 加速」。SGLang 的 </a:t>
            </a:r>
            <a:r>
              <a:rPr lang="zh-TW" altLang="zh-TW" sz="1200" b="1" u="none" strike="noStrike" kern="1200" dirty="0">
                <a:solidFill>
                  <a:schemeClr val="tx1"/>
                </a:solidFill>
                <a:effectLst/>
                <a:latin typeface="+mn-lt"/>
                <a:ea typeface="+mn-ea"/>
                <a:cs typeface="+mn-cs"/>
              </a:rPr>
              <a:t>RadixAttention</a:t>
            </a:r>
            <a:r>
              <a:rPr lang="zh-TW" altLang="zh-TW" sz="1200" b="0" u="none" strike="noStrike" kern="1200" dirty="0">
                <a:solidFill>
                  <a:schemeClr val="tx1"/>
                </a:solidFill>
                <a:effectLst/>
                <a:latin typeface="+mn-lt"/>
                <a:ea typeface="+mn-ea"/>
                <a:cs typeface="+mn-cs"/>
              </a:rPr>
              <a:t> 技術會把那些重複的系統提示詞（System Prompt）永遠快取在顯存裡。</a:t>
            </a:r>
          </a:p>
          <a:p>
            <a:br>
              <a:rPr lang="zh-TW" altLang="zh-TW" dirty="0"/>
            </a:br>
            <a:endParaRPr lang="zh-TW" altLang="zh-TW" dirty="0"/>
          </a:p>
          <a:p>
            <a:endParaRPr lang="zh-TW" altLang="en-US" dirty="0"/>
          </a:p>
        </p:txBody>
      </p:sp>
      <p:sp>
        <p:nvSpPr>
          <p:cNvPr id="4" name="投影片編號版面配置區 3">
            <a:extLst>
              <a:ext uri="{FF2B5EF4-FFF2-40B4-BE49-F238E27FC236}">
                <a16:creationId xmlns:a16="http://schemas.microsoft.com/office/drawing/2014/main" id="{F5C79EC1-ECFE-2D05-74F8-6C0BB1DEFB38}"/>
              </a:ext>
            </a:extLst>
          </p:cNvPr>
          <p:cNvSpPr>
            <a:spLocks noGrp="1"/>
          </p:cNvSpPr>
          <p:nvPr>
            <p:ph type="sldNum" sz="quarter" idx="5"/>
          </p:nvPr>
        </p:nvSpPr>
        <p:spPr/>
        <p:txBody>
          <a:bodyPr/>
          <a:lstStyle/>
          <a:p>
            <a:fld id="{E3A6CE5E-F349-486D-8749-82EF2AD71FA8}" type="slidenum">
              <a:rPr lang="zh-TW" altLang="en-US" smtClean="0"/>
              <a:t>29</a:t>
            </a:fld>
            <a:endParaRPr lang="zh-TW" altLang="en-US"/>
          </a:p>
        </p:txBody>
      </p:sp>
    </p:spTree>
    <p:extLst>
      <p:ext uri="{BB962C8B-B14F-4D97-AF65-F5344CB8AC3E}">
        <p14:creationId xmlns:p14="http://schemas.microsoft.com/office/powerpoint/2010/main" val="10242078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（從「規模驅動」走向「品質核心」的創新）</a:t>
            </a:r>
            <a:r>
              <a:rPr lang="en-US" altLang="zh-TW" sz="1200" b="0" u="none" strike="noStrike" kern="1200" dirty="0">
                <a:solidFill>
                  <a:schemeClr val="tx1"/>
                </a:solidFill>
                <a:effectLst/>
                <a:latin typeface="+mn-lt"/>
                <a:ea typeface="+mn-ea"/>
                <a:cs typeface="+mn-cs"/>
              </a:rPr>
              <a:t>LLM</a:t>
            </a:r>
            <a:r>
              <a:rPr lang="zh-TW" altLang="zh-TW" sz="1200" b="0" u="none" strike="noStrike" kern="1200" dirty="0">
                <a:solidFill>
                  <a:schemeClr val="tx1"/>
                </a:solidFill>
                <a:effectLst/>
                <a:latin typeface="+mn-lt"/>
                <a:ea typeface="+mn-ea"/>
                <a:cs typeface="+mn-cs"/>
              </a:rPr>
              <a:t>近幾年最核心的技術典範轉移</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Paradigm Shift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p>
          <a:p>
            <a:r>
              <a:rPr lang="zh-TW" altLang="zh-TW" dirty="0"/>
              <a:t>四個趨勢（</a:t>
            </a:r>
            <a:r>
              <a:rPr lang="zh-TW" altLang="zh-TW" sz="1200" b="1" u="none" strike="noStrike" kern="1200" dirty="0">
                <a:solidFill>
                  <a:schemeClr val="tx1"/>
                </a:solidFill>
                <a:effectLst/>
                <a:latin typeface="+mn-lt"/>
                <a:ea typeface="+mn-ea"/>
                <a:cs typeface="+mn-cs"/>
              </a:rPr>
              <a:t>數據品質、MoE架構、原生多模態、端側輕量化</a:t>
            </a:r>
            <a:r>
              <a:rPr lang="zh-TW" altLang="zh-TW" dirty="0"/>
              <a:t>）</a:t>
            </a:r>
            <a:endParaRPr lang="en-US" altLang="zh-TW" dirty="0"/>
          </a:p>
          <a:p>
            <a:endParaRPr lang="en-US" altLang="zh-TW" sz="1200" b="1" u="none" strike="noStrike" kern="1200" dirty="0">
              <a:solidFill>
                <a:schemeClr val="tx1"/>
              </a:solidFill>
              <a:effectLst/>
              <a:latin typeface="+mn-lt"/>
              <a:ea typeface="+mn-ea"/>
              <a:cs typeface="+mn-cs"/>
            </a:endParaRPr>
          </a:p>
          <a:p>
            <a:endParaRPr lang="en-US" altLang="zh-TW" sz="1200" b="1" u="none" strike="noStrike" kern="1200" dirty="0">
              <a:solidFill>
                <a:schemeClr val="tx1"/>
              </a:solidFill>
              <a:effectLst/>
              <a:latin typeface="+mn-lt"/>
              <a:ea typeface="+mn-ea"/>
              <a:cs typeface="+mn-cs"/>
            </a:endParaRP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1. 數據面的轉變（Data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：信奉「暴力美學」與對稱擴展定律（Scaling Laws）。當時的思維是：只要把網路上能爬到的資料（無論好壞）通通餵給模型，模型越大、資料越多，實力就越強。</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：網路上高質量的人類原生數據快要被吃光了（數據荒危機）。現在的創新在於</a:t>
            </a:r>
            <a:r>
              <a:rPr lang="zh-TW" altLang="zh-TW" sz="1200" b="1" u="none" strike="noStrike" kern="1200" dirty="0">
                <a:solidFill>
                  <a:schemeClr val="tx1"/>
                </a:solidFill>
                <a:effectLst/>
                <a:latin typeface="+mn-lt"/>
                <a:ea typeface="+mn-ea"/>
                <a:cs typeface="+mn-cs"/>
              </a:rPr>
              <a:t>數據工程（Data Engineering）</a:t>
            </a:r>
            <a:r>
              <a:rPr lang="zh-TW" altLang="zh-TW" sz="1200" b="0" u="none" strike="noStrike" kern="1200" dirty="0">
                <a:solidFill>
                  <a:schemeClr val="tx1"/>
                </a:solidFill>
                <a:effectLst/>
                <a:latin typeface="+mn-lt"/>
                <a:ea typeface="+mn-ea"/>
                <a:cs typeface="+mn-cs"/>
              </a:rPr>
              <a:t>。大家不再比誰的資料量大，而是比誰的資料洗得乾淨、去重做得到位、或是誰能用強大模型生成出更高品質的「合成數據（Synthetic Data）」來餵養新模型 [?]。</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模型架構與算力的轉變（Architecture &amp; Compute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：盲目追求參數模型的體積（例如從 175B 飆升到萬億參數）。這導致訓練和推理（Inference）成本高上天，只有極少數科技巨頭玩得起。</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：追求</a:t>
            </a:r>
            <a:r>
              <a:rPr lang="zh-TW" altLang="zh-TW" sz="1200" b="1" u="none" strike="noStrike" kern="1200" dirty="0">
                <a:solidFill>
                  <a:schemeClr val="tx1"/>
                </a:solidFill>
                <a:effectLst/>
                <a:latin typeface="+mn-lt"/>
                <a:ea typeface="+mn-ea"/>
                <a:cs typeface="+mn-cs"/>
              </a:rPr>
              <a:t>架構的精巧與高效率</a:t>
            </a:r>
            <a:r>
              <a:rPr lang="zh-TW" altLang="zh-TW" sz="1200" b="0" u="none" strike="noStrike" kern="1200" dirty="0">
                <a:solidFill>
                  <a:schemeClr val="tx1"/>
                </a:solidFill>
                <a:effectLst/>
                <a:latin typeface="+mn-lt"/>
                <a:ea typeface="+mn-ea"/>
                <a:cs typeface="+mn-cs"/>
              </a:rPr>
              <a:t>。例如轉向「專家混合模型（MoE）」，雖然總參數很大，但每次處理文字時只啟動其中一小部分專家網路；或者專注於優化 3B、8B 的「小語言模型（SLM）」，讓它在極小的體積下，透過高質量的訓練達到逼近大模型的智商。</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商業與應用落地面的轉變（Business &amp; Deployment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：大家在實驗室裡刷榜（Benchmark），比拼誰的理論分數高、誰能回答各種刁鑽的常識問題。</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：業界更看重</a:t>
            </a:r>
            <a:r>
              <a:rPr lang="zh-TW" altLang="zh-TW" sz="1200" b="1" u="none" strike="noStrike" kern="1200" dirty="0">
                <a:solidFill>
                  <a:schemeClr val="tx1"/>
                </a:solidFill>
                <a:effectLst/>
                <a:latin typeface="+mn-lt"/>
                <a:ea typeface="+mn-ea"/>
                <a:cs typeface="+mn-cs"/>
              </a:rPr>
              <a:t>應用的精準度與ROI（投資回報率）</a:t>
            </a:r>
            <a:r>
              <a:rPr lang="zh-TW" altLang="zh-TW" sz="1200" b="0" u="none" strike="noStrike" kern="1200" dirty="0">
                <a:solidFill>
                  <a:schemeClr val="tx1"/>
                </a:solidFill>
                <a:effectLst/>
                <a:latin typeface="+mn-lt"/>
                <a:ea typeface="+mn-ea"/>
                <a:cs typeface="+mn-cs"/>
              </a:rPr>
              <a:t>。模型必須能夠精準對齊（Alignment）人類意圖、減少幻覺（Hallucination）、並且能低延遲、低成本地部署在企業內部或使用者的手機、筆電端（On-device AI）。</a:t>
            </a:r>
          </a:p>
          <a:p>
            <a:br>
              <a:rPr lang="zh-TW" altLang="zh-TW" dirty="0"/>
            </a:br>
            <a:endParaRPr lang="zh-TW"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30</a:t>
            </a:fld>
            <a:endParaRPr lang="zh-TW" altLang="en-US"/>
          </a:p>
        </p:txBody>
      </p:sp>
    </p:spTree>
    <p:extLst>
      <p:ext uri="{BB962C8B-B14F-4D97-AF65-F5344CB8AC3E}">
        <p14:creationId xmlns:p14="http://schemas.microsoft.com/office/powerpoint/2010/main" val="23555857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en-US" altLang="zh-TW" dirty="0"/>
          </a:p>
          <a:p>
            <a:r>
              <a:rPr lang="zh-TW" altLang="zh-TW" sz="1200" b="1" u="none" strike="noStrike" kern="1200" dirty="0">
                <a:solidFill>
                  <a:schemeClr val="tx1"/>
                </a:solidFill>
                <a:effectLst/>
                <a:latin typeface="+mn-lt"/>
                <a:ea typeface="+mn-ea"/>
                <a:cs typeface="+mn-cs"/>
              </a:rPr>
              <a:t>常見的輕量化技術</a:t>
            </a:r>
          </a:p>
          <a:p>
            <a:r>
              <a:rPr lang="zh-TW" altLang="zh-TW" sz="1200" b="1" u="none" strike="noStrike" kern="1200" dirty="0">
                <a:solidFill>
                  <a:schemeClr val="tx1"/>
                </a:solidFill>
                <a:effectLst/>
                <a:latin typeface="+mn-lt"/>
                <a:ea typeface="+mn-ea"/>
                <a:cs typeface="+mn-cs"/>
              </a:rPr>
              <a:t>知識蒸餾（Knowledge Distillation）：</a:t>
            </a:r>
            <a:r>
              <a:rPr lang="zh-TW" altLang="zh-TW" sz="1200" b="0" u="none" strike="noStrike" kern="1200" dirty="0">
                <a:solidFill>
                  <a:schemeClr val="tx1"/>
                </a:solidFill>
                <a:effectLst/>
                <a:latin typeface="+mn-lt"/>
                <a:ea typeface="+mn-ea"/>
                <a:cs typeface="+mn-cs"/>
              </a:rPr>
              <a:t> 讓參數量較少的小型模型（學生）模仿大型模型（老師）的行為，從中學習複雜的語言推理能力。 </a:t>
            </a:r>
          </a:p>
          <a:p>
            <a:r>
              <a:rPr lang="zh-TW" altLang="zh-TW" sz="1200" b="1" u="none" strike="noStrike" kern="1200" dirty="0">
                <a:solidFill>
                  <a:schemeClr val="tx1"/>
                </a:solidFill>
                <a:effectLst/>
                <a:latin typeface="+mn-lt"/>
                <a:ea typeface="+mn-ea"/>
                <a:cs typeface="+mn-cs"/>
              </a:rPr>
              <a:t>模型量化（Quantization）：</a:t>
            </a:r>
            <a:r>
              <a:rPr lang="zh-TW" altLang="zh-TW" sz="1200" b="0" u="none" strike="noStrike" kern="1200" dirty="0">
                <a:solidFill>
                  <a:schemeClr val="tx1"/>
                </a:solidFill>
                <a:effectLst/>
                <a:latin typeface="+mn-lt"/>
                <a:ea typeface="+mn-ea"/>
                <a:cs typeface="+mn-cs"/>
              </a:rPr>
              <a:t> 將模型權重（Weights）從高精度（如 16-bit 浮點數）降低到低精度（如 8-bit 或 4-bit 整數），大幅減少記憶體佔用。 </a:t>
            </a:r>
          </a:p>
          <a:p>
            <a:r>
              <a:rPr lang="zh-TW" altLang="zh-TW" sz="1200" b="1" u="none" strike="noStrike" kern="1200" dirty="0">
                <a:solidFill>
                  <a:schemeClr val="tx1"/>
                </a:solidFill>
                <a:effectLst/>
                <a:latin typeface="+mn-lt"/>
                <a:ea typeface="+mn-ea"/>
                <a:cs typeface="+mn-cs"/>
              </a:rPr>
              <a:t>參數剪枝（Pruning）：</a:t>
            </a:r>
            <a:r>
              <a:rPr lang="zh-TW" altLang="zh-TW" sz="1200" b="0" u="none" strike="noStrike" kern="1200" dirty="0">
                <a:solidFill>
                  <a:schemeClr val="tx1"/>
                </a:solidFill>
                <a:effectLst/>
                <a:latin typeface="+mn-lt"/>
                <a:ea typeface="+mn-ea"/>
                <a:cs typeface="+mn-cs"/>
              </a:rPr>
              <a:t> 移除模型中對預測結果影響較小、冗餘的神經元與連接。</a:t>
            </a:r>
          </a:p>
          <a:p>
            <a:br>
              <a:rPr lang="en-US" altLang="zh-TW" dirty="0"/>
            </a:br>
            <a:br>
              <a:rPr lang="en-US" altLang="zh-TW" dirty="0"/>
            </a:br>
            <a:r>
              <a:rPr lang="zh-TW" altLang="zh-TW" sz="1200" b="1" u="none" strike="noStrike" kern="1200" dirty="0">
                <a:solidFill>
                  <a:schemeClr val="tx1"/>
                </a:solidFill>
                <a:effectLst/>
                <a:latin typeface="+mn-lt"/>
                <a:ea typeface="+mn-ea"/>
                <a:cs typeface="+mn-cs"/>
              </a:rPr>
              <a:t>層級嵌入 (Per-Layer Embeddings, PLE)</a:t>
            </a:r>
            <a:r>
              <a:rPr lang="zh-TW" altLang="zh-TW" dirty="0"/>
              <a:t> 是 AI 模型（如 Google 的 Gemma 4 等語言模型）中的一種</a:t>
            </a:r>
            <a:r>
              <a:rPr lang="zh-TW" altLang="zh-TW" sz="1200" b="1" u="none" strike="noStrike" kern="1200" dirty="0">
                <a:solidFill>
                  <a:schemeClr val="tx1"/>
                </a:solidFill>
                <a:effectLst/>
                <a:latin typeface="+mn-lt"/>
                <a:ea typeface="+mn-ea"/>
                <a:cs typeface="+mn-cs"/>
              </a:rPr>
              <a:t>記憶體優化技術</a:t>
            </a:r>
            <a:r>
              <a:rPr lang="zh-TW" altLang="zh-TW" dirty="0"/>
              <a:t>。它為模型的每一層提供獨立的低維度特徵訊號，讓小尺寸模型能以更少參數獲得更精準的特化能力，從而提升邊緣裝置（如手機、筆電）上的執行效率。</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31</a:t>
            </a:fld>
            <a:endParaRPr lang="zh-TW" altLang="en-US"/>
          </a:p>
        </p:txBody>
      </p:sp>
    </p:spTree>
    <p:extLst>
      <p:ext uri="{BB962C8B-B14F-4D97-AF65-F5344CB8AC3E}">
        <p14:creationId xmlns:p14="http://schemas.microsoft.com/office/powerpoint/2010/main" val="29219495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C5D5F-7EF0-EFFD-B24F-CCAC4A40B8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E5A4CDD-7936-EA40-D6ED-2DB46AEB4B8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014925B1-0836-7BCD-D30B-D007147D7B8B}"/>
              </a:ext>
            </a:extLst>
          </p:cNvPr>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B22A2FEB-B589-C562-4438-BBC349C8B2CB}"/>
              </a:ext>
            </a:extLst>
          </p:cNvPr>
          <p:cNvSpPr>
            <a:spLocks noGrp="1"/>
          </p:cNvSpPr>
          <p:nvPr>
            <p:ph type="sldNum" sz="quarter" idx="5"/>
          </p:nvPr>
        </p:nvSpPr>
        <p:spPr/>
        <p:txBody>
          <a:bodyPr/>
          <a:lstStyle/>
          <a:p>
            <a:fld id="{E3A6CE5E-F349-486D-8749-82EF2AD71FA8}" type="slidenum">
              <a:rPr lang="zh-TW" altLang="en-US" smtClean="0"/>
              <a:t>32</a:t>
            </a:fld>
            <a:endParaRPr lang="zh-TW" altLang="en-US"/>
          </a:p>
        </p:txBody>
      </p:sp>
    </p:spTree>
    <p:extLst>
      <p:ext uri="{BB962C8B-B14F-4D97-AF65-F5344CB8AC3E}">
        <p14:creationId xmlns:p14="http://schemas.microsoft.com/office/powerpoint/2010/main" val="14010110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7C430-FB32-5602-3DB0-5E8B5F79D16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B763E16-AD96-B65B-01CE-46AB664453AC}"/>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475913C2-1FFD-6EC2-6E74-DAE194F03C18}"/>
              </a:ext>
            </a:extLst>
          </p:cNvPr>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本頁亮點</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Optimizer, Quantization-Aware</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1. SGD (Stochastic Gradient Descent)</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：記憶體佔用極低。除了模型參數本身，只需要額外儲存 1 份動量（Momentum）數據。</a:t>
            </a:r>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：固定學習率很難收斂，調參非常痛苦。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Standard Adam (Adaptive Moment Estimation)</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：為每個參數精準調整步長，收斂速度極快。</a:t>
            </a:r>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：在加入 L2 正規化</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Weight Decay</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其數學公式會把權重衰減與梯度放在一起計算，導致權重並未如預期般衰減，容易過擬合。</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AdamW (Adam with Weight Decoupled)</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：完美解決了 Adam 的 L2 正規化問題。它將權重衰減的步驟獨立出來，既保留了 Adam 快速收斂的特性</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又</a:t>
            </a:r>
            <a:r>
              <a:rPr lang="zh-TW" altLang="en-US" sz="1200" b="0" u="none" strike="noStrike" kern="1200" dirty="0">
                <a:solidFill>
                  <a:schemeClr val="tx1"/>
                </a:solidFill>
                <a:effectLst/>
                <a:latin typeface="+mn-lt"/>
                <a:ea typeface="+mn-ea"/>
                <a:cs typeface="+mn-cs"/>
              </a:rPr>
              <a:t>提升</a:t>
            </a:r>
            <a:r>
              <a:rPr lang="zh-TW" altLang="zh-TW" sz="1200" b="0" u="none" strike="noStrike" kern="1200" dirty="0">
                <a:solidFill>
                  <a:schemeClr val="tx1"/>
                </a:solidFill>
                <a:effectLst/>
                <a:latin typeface="+mn-lt"/>
                <a:ea typeface="+mn-ea"/>
                <a:cs typeface="+mn-cs"/>
              </a:rPr>
              <a:t>泛化能力</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Generalization</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。目前 95% 以上的 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如 LLaMA, GPT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預訓練預設都用它。</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：非常吃顯存</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VRAM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。除了模型參數，它還必須在顯存中常駐一階矩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FP32</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和二階矩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FP32</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這往往是顯存爆炸的主因。</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4. Paged AdamW</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：數學邏輯與 AdamW 完全相同</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但它允許 GPU 在顯存不夠時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把 AdamW 的優化器狀態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一、二階矩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暫時換出</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Page-out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到電腦的系統記憶體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RAM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中。</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：因為資料需要透過 PCIe 總線在 GPU 和 CPU 之間來回搬運，訓練速度會比原生 AdamW 慢 10% ~ 30% 不等。</a:t>
            </a:r>
          </a:p>
          <a:p>
            <a:endParaRPr lang="zh-TW" altLang="zh-TW" dirty="0"/>
          </a:p>
          <a:p>
            <a:r>
              <a:rPr lang="zh-TW" altLang="zh-TW" sz="1200" b="1" i="0" kern="1200" dirty="0">
                <a:solidFill>
                  <a:schemeClr val="tx1"/>
                </a:solidFill>
                <a:effectLst/>
                <a:latin typeface="+mn-lt"/>
                <a:ea typeface="+mn-ea"/>
                <a:cs typeface="+mn-cs"/>
              </a:rPr>
              <a:t>QAT（Quantization-Aware Training，量化感知訓練）</a:t>
            </a:r>
            <a:r>
              <a:rPr lang="zh-TW" altLang="zh-TW" sz="1200" b="0" i="0" kern="1200" dirty="0">
                <a:solidFill>
                  <a:schemeClr val="tx1"/>
                </a:solidFill>
                <a:effectLst/>
                <a:latin typeface="+mn-lt"/>
                <a:ea typeface="+mn-ea"/>
                <a:cs typeface="+mn-cs"/>
              </a:rPr>
              <a:t> </a:t>
            </a:r>
            <a:r>
              <a:rPr lang="zh-TW" altLang="zh-TW" dirty="0"/>
              <a:t>是一種 AI 模型優化技術</a:t>
            </a:r>
            <a:r>
              <a:rPr lang="zh-TW" altLang="zh-TW" sz="1200" b="0" i="0" kern="1200" dirty="0">
                <a:solidFill>
                  <a:schemeClr val="tx1"/>
                </a:solidFill>
                <a:effectLst/>
                <a:latin typeface="+mn-lt"/>
                <a:ea typeface="+mn-ea"/>
                <a:cs typeface="+mn-cs"/>
              </a:rPr>
              <a:t>。它在訓練過程中模擬低精度（如 INT8）的誤差，讓神經網路提前「適應」量化損失。相較於直接量化，這能大幅減少精準度下降，常用於邊緣設備。</a:t>
            </a:r>
            <a:br>
              <a:rPr lang="en-US" altLang="zh-TW" sz="1200" b="0" i="0" kern="1200" dirty="0">
                <a:solidFill>
                  <a:schemeClr val="tx1"/>
                </a:solidFill>
                <a:effectLst/>
                <a:latin typeface="+mn-lt"/>
                <a:ea typeface="+mn-ea"/>
                <a:cs typeface="+mn-cs"/>
              </a:rPr>
            </a:br>
            <a:r>
              <a:rPr lang="zh-TW" altLang="zh-TW" sz="1200" b="1" i="0" kern="1200" dirty="0">
                <a:solidFill>
                  <a:schemeClr val="tx1"/>
                </a:solidFill>
                <a:effectLst/>
                <a:latin typeface="+mn-lt"/>
                <a:ea typeface="+mn-ea"/>
                <a:cs typeface="+mn-cs"/>
              </a:rPr>
              <a:t>💡 核心原理與運作方式</a:t>
            </a:r>
          </a:p>
          <a:p>
            <a:r>
              <a:rPr lang="zh-TW" altLang="zh-TW" sz="1200" b="1" i="0" kern="1200" dirty="0">
                <a:solidFill>
                  <a:schemeClr val="tx1"/>
                </a:solidFill>
                <a:effectLst/>
                <a:latin typeface="+mn-lt"/>
                <a:ea typeface="+mn-ea"/>
                <a:cs typeface="+mn-cs"/>
              </a:rPr>
              <a:t>偽量化（Fake Quantization）：</a:t>
            </a:r>
            <a:r>
              <a:rPr lang="zh-TW" altLang="zh-TW" sz="1200" b="0" i="0" kern="1200" dirty="0">
                <a:solidFill>
                  <a:schemeClr val="tx1"/>
                </a:solidFill>
                <a:effectLst/>
                <a:latin typeface="+mn-lt"/>
                <a:ea typeface="+mn-ea"/>
                <a:cs typeface="+mn-cs"/>
              </a:rPr>
              <a:t> 在訓練階段，將高精度（通常為 FP32）的權重與激活值壓縮為低精度（如 INT8），計算完後再解壓縮回高精度。 </a:t>
            </a:r>
          </a:p>
          <a:p>
            <a:r>
              <a:rPr lang="zh-TW" altLang="zh-TW" sz="1200" b="1" i="0" kern="1200" dirty="0">
                <a:solidFill>
                  <a:schemeClr val="tx1"/>
                </a:solidFill>
                <a:effectLst/>
                <a:latin typeface="+mn-lt"/>
                <a:ea typeface="+mn-ea"/>
                <a:cs typeface="+mn-cs"/>
              </a:rPr>
              <a:t>模擬誤差：</a:t>
            </a:r>
            <a:r>
              <a:rPr lang="zh-TW" altLang="zh-TW" sz="1200" b="0" i="0" kern="1200" dirty="0">
                <a:solidFill>
                  <a:schemeClr val="tx1"/>
                </a:solidFill>
                <a:effectLst/>
                <a:latin typeface="+mn-lt"/>
                <a:ea typeface="+mn-ea"/>
                <a:cs typeface="+mn-cs"/>
              </a:rPr>
              <a:t> 讓模型在訓練時就能察覺到量化所產生的噪聲（Noise），並學會自我調整去彌補這些誤差。 </a:t>
            </a:r>
          </a:p>
          <a:p>
            <a:r>
              <a:rPr lang="zh-TW" altLang="zh-TW" sz="1200" b="1" i="0" kern="1200" dirty="0">
                <a:solidFill>
                  <a:schemeClr val="tx1"/>
                </a:solidFill>
                <a:effectLst/>
                <a:latin typeface="+mn-lt"/>
                <a:ea typeface="+mn-ea"/>
                <a:cs typeface="+mn-cs"/>
              </a:rPr>
              <a:t>權重更新：</a:t>
            </a:r>
            <a:r>
              <a:rPr lang="zh-TW" altLang="zh-TW" sz="1200" b="0" i="0" kern="1200" dirty="0">
                <a:solidFill>
                  <a:schemeClr val="tx1"/>
                </a:solidFill>
                <a:effectLst/>
                <a:latin typeface="+mn-lt"/>
                <a:ea typeface="+mn-ea"/>
                <a:cs typeface="+mn-cs"/>
              </a:rPr>
              <a:t> 為了在不可微分的量化函數下進行反向傳播（Backpropagation），QAT 使用直通估計器（Straight-Through Estimator, STE）來順利更新權重。</a:t>
            </a:r>
          </a:p>
          <a:p>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STE（Straight-Through Estimator，直通估計器）</a:t>
            </a:r>
            <a:r>
              <a:rPr lang="zh-TW" altLang="zh-TW" sz="1200" b="0" u="none" strike="noStrike" kern="1200" dirty="0">
                <a:solidFill>
                  <a:schemeClr val="tx1"/>
                </a:solidFill>
                <a:effectLst/>
                <a:latin typeface="+mn-lt"/>
                <a:ea typeface="+mn-ea"/>
                <a:cs typeface="+mn-cs"/>
              </a:rPr>
              <a:t> 是深度學習中用於解決「不可微分函數」反向傳播問題的一種特殊技巧。在模型量化（如 QAT）或二值化神經網路（BNN）中，它是不可或缺的核心機制。</a:t>
            </a:r>
          </a:p>
          <a:p>
            <a:r>
              <a:rPr lang="zh-TW" altLang="zh-TW" sz="1200" b="1" u="none" strike="noStrike" kern="1200" dirty="0">
                <a:solidFill>
                  <a:schemeClr val="tx1"/>
                </a:solidFill>
                <a:effectLst/>
                <a:latin typeface="+mn-lt"/>
                <a:ea typeface="+mn-ea"/>
                <a:cs typeface="+mn-cs"/>
              </a:rPr>
              <a:t>數學困境：</a:t>
            </a:r>
            <a:r>
              <a:rPr lang="zh-TW" altLang="zh-TW" dirty="0"/>
              <a:t> 階梯函數的導數（梯度）在絕大多數地方都是 </a:t>
            </a:r>
            <a:r>
              <a:rPr lang="zh-TW" altLang="zh-TW" sz="1200" b="1" u="none" strike="noStrike" kern="1200" dirty="0">
                <a:solidFill>
                  <a:schemeClr val="tx1"/>
                </a:solidFill>
                <a:effectLst/>
                <a:latin typeface="+mn-lt"/>
                <a:ea typeface="+mn-ea"/>
                <a:cs typeface="+mn-cs"/>
              </a:rPr>
              <a:t>0</a:t>
            </a:r>
            <a:r>
              <a:rPr lang="zh-TW" altLang="zh-TW" dirty="0"/>
              <a:t>，而在跳躍的邊界點則是 </a:t>
            </a:r>
            <a:r>
              <a:rPr lang="zh-TW" altLang="zh-TW" sz="1200" b="1" u="none" strike="noStrike" kern="1200" dirty="0">
                <a:solidFill>
                  <a:schemeClr val="tx1"/>
                </a:solidFill>
                <a:effectLst/>
                <a:latin typeface="+mn-lt"/>
                <a:ea typeface="+mn-ea"/>
                <a:cs typeface="+mn-cs"/>
              </a:rPr>
              <a:t>無限大（不存在）</a:t>
            </a:r>
            <a:r>
              <a:rPr lang="zh-TW" altLang="zh-TW" dirty="0"/>
              <a:t>。</a:t>
            </a:r>
            <a:br>
              <a:rPr lang="zh-TW" altLang="zh-TW" dirty="0"/>
            </a:br>
            <a:r>
              <a:rPr lang="zh-TW" altLang="zh-TW" sz="1200" b="1" u="none" strike="noStrike" kern="1200" dirty="0">
                <a:solidFill>
                  <a:schemeClr val="tx1"/>
                </a:solidFill>
                <a:effectLst/>
                <a:latin typeface="+mn-lt"/>
                <a:ea typeface="+mn-ea"/>
                <a:cs typeface="+mn-cs"/>
              </a:rPr>
              <a:t>💡 STE 的運作原理</a:t>
            </a:r>
          </a:p>
          <a:p>
            <a:r>
              <a:rPr lang="zh-TW" altLang="zh-TW" sz="1200" b="0" u="none" strike="noStrike" kern="1200" dirty="0">
                <a:solidFill>
                  <a:schemeClr val="tx1"/>
                </a:solidFill>
                <a:effectLst/>
                <a:latin typeface="+mn-lt"/>
                <a:ea typeface="+mn-ea"/>
                <a:cs typeface="+mn-cs"/>
              </a:rPr>
              <a:t>STE 的核心思想非常直接且「粗暴」：</a:t>
            </a:r>
            <a:r>
              <a:rPr lang="zh-TW" altLang="zh-TW" sz="1200" b="1" u="none" strike="noStrike" kern="1200" dirty="0">
                <a:solidFill>
                  <a:schemeClr val="tx1"/>
                </a:solidFill>
                <a:effectLst/>
                <a:latin typeface="+mn-lt"/>
                <a:ea typeface="+mn-ea"/>
                <a:cs typeface="+mn-cs"/>
              </a:rPr>
              <a:t>在正向傳播時使用量化函數，但在反向傳播時，直接假裝量化函數不存在。</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正向傳播（Forward Pass）：</a:t>
            </a:r>
            <a:r>
              <a:rPr lang="zh-TW" altLang="zh-TW" sz="1200" b="0" u="none" strike="noStrike" kern="1200" dirty="0">
                <a:solidFill>
                  <a:schemeClr val="tx1"/>
                </a:solidFill>
                <a:effectLst/>
                <a:latin typeface="+mn-lt"/>
                <a:ea typeface="+mn-ea"/>
                <a:cs typeface="+mn-cs"/>
              </a:rPr>
              <a:t> 正常執行量化運算（例如將 2.7 四捨五入變成 3），讓模型體驗低精度帶來的誤差與噪聲。</a:t>
            </a:r>
          </a:p>
          <a:p>
            <a:r>
              <a:rPr lang="zh-TW" altLang="zh-TW" sz="1200" b="1" u="none" strike="noStrike" kern="1200" dirty="0">
                <a:solidFill>
                  <a:schemeClr val="tx1"/>
                </a:solidFill>
                <a:effectLst/>
                <a:latin typeface="+mn-lt"/>
                <a:ea typeface="+mn-ea"/>
                <a:cs typeface="+mn-cs"/>
              </a:rPr>
              <a:t>反向傳播（Backward Pass）：</a:t>
            </a:r>
            <a:r>
              <a:rPr lang="zh-TW" altLang="zh-TW" sz="1200" b="0" u="none" strike="noStrike" kern="1200" dirty="0">
                <a:solidFill>
                  <a:schemeClr val="tx1"/>
                </a:solidFill>
                <a:effectLst/>
                <a:latin typeface="+mn-lt"/>
                <a:ea typeface="+mn-ea"/>
                <a:cs typeface="+mn-cs"/>
              </a:rPr>
              <a:t> 當梯度傳回來到這個量化節點時，STE 直接將梯度「原封不動」地傳遞過去（相當於假設該節點的導數為 1）。</a:t>
            </a:r>
          </a:p>
          <a:p>
            <a:r>
              <a:rPr lang="zh-TW" altLang="zh-TW" sz="1200" b="0" u="none" strike="noStrike" kern="1200" dirty="0">
                <a:solidFill>
                  <a:schemeClr val="tx1"/>
                </a:solidFill>
                <a:effectLst/>
                <a:latin typeface="+mn-lt"/>
                <a:ea typeface="+mn-ea"/>
                <a:cs typeface="+mn-cs"/>
              </a:rPr>
              <a:t>簡單來說，它就像是在反向傳播時，在不可微分的階梯函數上架了一座「直通橋梁」，讓梯度順利通過並更新前一層的 FP32 權重。</a:t>
            </a:r>
          </a:p>
          <a:p>
            <a:endParaRPr lang="zh-TW" altLang="zh-TW" dirty="0"/>
          </a:p>
          <a:p>
            <a:endParaRPr lang="en-US" altLang="zh-TW" sz="1200" b="1"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adam optimizer, 作法</a:t>
            </a:r>
          </a:p>
          <a:p>
            <a:pPr rtl="0"/>
            <a:r>
              <a:rPr lang="zh-TW" altLang="zh-TW" sz="1200" b="1" u="none" strike="noStrike" kern="1200" dirty="0">
                <a:solidFill>
                  <a:schemeClr val="tx1"/>
                </a:solidFill>
                <a:effectLst/>
                <a:latin typeface="+mn-lt"/>
                <a:ea typeface="+mn-ea"/>
                <a:cs typeface="+mn-cs"/>
              </a:rPr>
              <a:t>Adam（Adaptive Moment Estimation，自適應動態矩量估計）</a:t>
            </a:r>
            <a:r>
              <a:rPr lang="zh-TW" altLang="zh-TW" sz="1200" b="0" u="none" strike="noStrike" kern="1200" dirty="0">
                <a:solidFill>
                  <a:schemeClr val="tx1"/>
                </a:solidFill>
                <a:effectLst/>
                <a:latin typeface="+mn-lt"/>
                <a:ea typeface="+mn-ea"/>
                <a:cs typeface="+mn-cs"/>
              </a:rPr>
              <a:t> 結合了 </a:t>
            </a:r>
            <a:r>
              <a:rPr lang="zh-TW" altLang="zh-TW" sz="1200" b="1" u="none" strike="noStrike" kern="1200" dirty="0">
                <a:solidFill>
                  <a:schemeClr val="tx1"/>
                </a:solidFill>
                <a:effectLst/>
                <a:latin typeface="+mn-lt"/>
                <a:ea typeface="+mn-ea"/>
                <a:cs typeface="+mn-cs"/>
              </a:rPr>
              <a:t>Momentum</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動態</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與 </a:t>
            </a:r>
            <a:r>
              <a:rPr lang="zh-TW" altLang="zh-TW" sz="1200" b="1" u="none" strike="noStrike" kern="1200" dirty="0">
                <a:solidFill>
                  <a:schemeClr val="tx1"/>
                </a:solidFill>
                <a:effectLst/>
                <a:latin typeface="+mn-lt"/>
                <a:ea typeface="+mn-ea"/>
                <a:cs typeface="+mn-cs"/>
              </a:rPr>
              <a:t>RMSprop</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均方根傳播</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的優點，既能像動態法一樣衝過局部最小值，又能為每個參數獨立調整學習率。</a:t>
            </a:r>
          </a:p>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8692FE20-B45B-F4FE-5FF4-77187FF08048}"/>
              </a:ext>
            </a:extLst>
          </p:cNvPr>
          <p:cNvSpPr>
            <a:spLocks noGrp="1"/>
          </p:cNvSpPr>
          <p:nvPr>
            <p:ph type="sldNum" sz="quarter" idx="5"/>
          </p:nvPr>
        </p:nvSpPr>
        <p:spPr/>
        <p:txBody>
          <a:bodyPr/>
          <a:lstStyle/>
          <a:p>
            <a:fld id="{E3A6CE5E-F349-486D-8749-82EF2AD71FA8}" type="slidenum">
              <a:rPr lang="zh-TW" altLang="en-US" smtClean="0"/>
              <a:t>34</a:t>
            </a:fld>
            <a:endParaRPr lang="zh-TW" altLang="en-US"/>
          </a:p>
        </p:txBody>
      </p:sp>
    </p:spTree>
    <p:extLst>
      <p:ext uri="{BB962C8B-B14F-4D97-AF65-F5344CB8AC3E}">
        <p14:creationId xmlns:p14="http://schemas.microsoft.com/office/powerpoint/2010/main" val="9965032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87461-455B-BEDB-76B5-75ACCB2C687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1879068-66F0-45C8-E23C-8864F6C70E59}"/>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74AD433-C54F-150C-EB90-6C30F289F391}"/>
              </a:ext>
            </a:extLst>
          </p:cNvPr>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低秩投影（Low-Rank Projection）</a:t>
            </a:r>
            <a:r>
              <a:rPr lang="zh-TW" altLang="zh-TW" sz="1200" b="0" u="none" strike="noStrike" kern="1200" dirty="0">
                <a:solidFill>
                  <a:schemeClr val="tx1"/>
                </a:solidFill>
                <a:effectLst/>
                <a:latin typeface="+mn-lt"/>
                <a:ea typeface="+mn-ea"/>
                <a:cs typeface="+mn-cs"/>
              </a:rPr>
              <a:t>是機器學習與大語言模型（LLM）中，用來</a:t>
            </a:r>
            <a:r>
              <a:rPr lang="zh-TW" altLang="zh-TW" sz="1200" b="1" u="none" strike="noStrike" kern="1200" dirty="0">
                <a:solidFill>
                  <a:schemeClr val="tx1"/>
                </a:solidFill>
                <a:effectLst/>
                <a:latin typeface="+mn-lt"/>
                <a:ea typeface="+mn-ea"/>
                <a:cs typeface="+mn-cs"/>
              </a:rPr>
              <a:t>「將高維度特徵極度壓縮、再還原」</a:t>
            </a:r>
            <a:r>
              <a:rPr lang="zh-TW" altLang="zh-TW" sz="1200" b="0" u="none" strike="noStrike" kern="1200" dirty="0">
                <a:solidFill>
                  <a:schemeClr val="tx1"/>
                </a:solidFill>
                <a:effectLst/>
                <a:latin typeface="+mn-lt"/>
                <a:ea typeface="+mn-ea"/>
                <a:cs typeface="+mn-cs"/>
              </a:rPr>
              <a:t>的核心數學技術。</a:t>
            </a:r>
          </a:p>
          <a:p>
            <a:r>
              <a:rPr lang="zh-TW" altLang="zh-TW" sz="1200" b="0" u="none" strike="noStrike" kern="1200" dirty="0">
                <a:solidFill>
                  <a:schemeClr val="tx1"/>
                </a:solidFill>
                <a:effectLst/>
                <a:latin typeface="+mn-lt"/>
                <a:ea typeface="+mn-ea"/>
                <a:cs typeface="+mn-cs"/>
              </a:rPr>
              <a:t>它的本質就是利用</a:t>
            </a:r>
            <a:r>
              <a:rPr lang="zh-TW" altLang="zh-TW" sz="1200" b="1" u="none" strike="noStrike" kern="1200" dirty="0">
                <a:solidFill>
                  <a:schemeClr val="tx1"/>
                </a:solidFill>
                <a:effectLst/>
                <a:latin typeface="+mn-lt"/>
                <a:ea typeface="+mn-ea"/>
                <a:cs typeface="+mn-cs"/>
              </a:rPr>
              <a:t>矩陣分解（Matrix Decomposition）</a:t>
            </a:r>
            <a:r>
              <a:rPr lang="zh-TW" altLang="zh-TW" sz="1200" b="0" u="none" strike="noStrike" kern="1200" dirty="0">
                <a:solidFill>
                  <a:schemeClr val="tx1"/>
                </a:solidFill>
                <a:effectLst/>
                <a:latin typeface="+mn-lt"/>
                <a:ea typeface="+mn-ea"/>
                <a:cs typeface="+mn-cs"/>
              </a:rPr>
              <a:t>，把一個原本體積巨大的矩陣，拆解成兩個或多個小矩陣的乘積，從而大幅減少計算量與記憶體佔用。</a:t>
            </a:r>
          </a:p>
          <a:p>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1. 核心數學原理</a:t>
            </a:r>
          </a:p>
          <a:p>
            <a:r>
              <a:rPr lang="zh-TW" altLang="zh-TW" sz="1200" b="0" u="none" strike="noStrike" kern="1200" dirty="0">
                <a:solidFill>
                  <a:schemeClr val="tx1"/>
                </a:solidFill>
                <a:effectLst/>
                <a:latin typeface="+mn-lt"/>
                <a:ea typeface="+mn-ea"/>
                <a:cs typeface="+mn-cs"/>
              </a:rPr>
              <a:t>假設你有一個尺寸為 d × d 的巨大特陣（例如大模型中的詞向量維度 d = 4096，那這個矩陣就有 4096 × 4096 = 1,677萬 個參數）。</a:t>
            </a:r>
          </a:p>
          <a:p>
            <a:pPr lvl="0"/>
            <a:r>
              <a:rPr lang="zh-TW" altLang="zh-TW" sz="1200" b="1" u="none" strike="noStrike" kern="1200" dirty="0">
                <a:solidFill>
                  <a:schemeClr val="tx1"/>
                </a:solidFill>
                <a:effectLst/>
                <a:latin typeface="+mn-lt"/>
                <a:ea typeface="+mn-ea"/>
                <a:cs typeface="+mn-cs"/>
              </a:rPr>
              <a:t>向下投影（Down-projection / Compression）：</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用一個 d × r 的矩陣，把維度從 4096 壓到 128。這時特徵會被濃縮成一個高密度的「潛在向量（Latent Vector）」。</a:t>
            </a:r>
          </a:p>
          <a:p>
            <a:pPr lvl="0"/>
            <a:r>
              <a:rPr lang="zh-TW" altLang="zh-TW" sz="1200" b="1" u="none" strike="noStrike" kern="1200" dirty="0">
                <a:solidFill>
                  <a:schemeClr val="tx1"/>
                </a:solidFill>
                <a:effectLst/>
                <a:latin typeface="+mn-lt"/>
                <a:ea typeface="+mn-ea"/>
                <a:cs typeface="+mn-cs"/>
              </a:rPr>
              <a:t>向上投影（Up-projection / Decompression）：</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用一個 r × d 的矩陣，在需要計算時，再把 128 維度放大回 4096。</a:t>
            </a:r>
          </a:p>
          <a:p>
            <a:r>
              <a:rPr lang="zh-TW" altLang="zh-TW" sz="1200" b="0" u="none" strike="noStrike" kern="1200" dirty="0">
                <a:solidFill>
                  <a:schemeClr val="tx1"/>
                </a:solidFill>
                <a:effectLst/>
                <a:latin typeface="+mn-lt"/>
                <a:ea typeface="+mn-ea"/>
                <a:cs typeface="+mn-cs"/>
              </a:rPr>
              <a:t>因為 r 遠小於 d，這就叫做</a:t>
            </a:r>
            <a:r>
              <a:rPr lang="zh-TW" altLang="zh-TW" sz="1200" b="1" u="none" strike="noStrike" kern="1200" dirty="0">
                <a:solidFill>
                  <a:schemeClr val="tx1"/>
                </a:solidFill>
                <a:effectLst/>
                <a:latin typeface="+mn-lt"/>
                <a:ea typeface="+mn-ea"/>
                <a:cs typeface="+mn-cs"/>
              </a:rPr>
              <a:t>低秩（Low-Rank）</a:t>
            </a:r>
            <a:r>
              <a:rPr lang="zh-TW" altLang="zh-TW" sz="1200" b="0" u="none" strike="noStrike" kern="1200" dirty="0">
                <a:solidFill>
                  <a:schemeClr val="tx1"/>
                </a:solidFill>
                <a:effectLst/>
                <a:latin typeface="+mn-lt"/>
                <a:ea typeface="+mn-ea"/>
                <a:cs typeface="+mn-cs"/>
              </a:rPr>
              <a:t>。</a:t>
            </a:r>
          </a:p>
          <a:p>
            <a:pPr lvl="0"/>
            <a:r>
              <a:rPr lang="zh-TW" altLang="zh-TW" sz="1200" b="1" u="none" strike="noStrike" kern="1200" dirty="0">
                <a:solidFill>
                  <a:schemeClr val="tx1"/>
                </a:solidFill>
                <a:effectLst/>
                <a:latin typeface="+mn-lt"/>
                <a:ea typeface="+mn-ea"/>
                <a:cs typeface="+mn-cs"/>
              </a:rPr>
              <a:t>引進低秩前（直接計算）</a:t>
            </a:r>
            <a:r>
              <a:rPr lang="zh-TW" altLang="zh-TW" sz="1200" b="0" u="none" strike="noStrike" kern="1200" dirty="0">
                <a:solidFill>
                  <a:schemeClr val="tx1"/>
                </a:solidFill>
                <a:effectLst/>
                <a:latin typeface="+mn-lt"/>
                <a:ea typeface="+mn-ea"/>
                <a:cs typeface="+mn-cs"/>
              </a:rPr>
              <a:t>：參數量 = 4096 × 4096 ≈ 1,677 萬</a:t>
            </a:r>
          </a:p>
          <a:p>
            <a:pPr lvl="0"/>
            <a:r>
              <a:rPr lang="zh-TW" altLang="zh-TW" sz="1200" b="1" u="none" strike="noStrike" kern="1200" dirty="0">
                <a:solidFill>
                  <a:schemeClr val="tx1"/>
                </a:solidFill>
                <a:effectLst/>
                <a:latin typeface="+mn-lt"/>
                <a:ea typeface="+mn-ea"/>
                <a:cs typeface="+mn-cs"/>
              </a:rPr>
              <a:t>引進低秩後（拆成兩個）</a:t>
            </a:r>
            <a:r>
              <a:rPr lang="zh-TW" altLang="zh-TW" sz="1200" b="0" u="none" strike="noStrike" kern="1200" dirty="0">
                <a:solidFill>
                  <a:schemeClr val="tx1"/>
                </a:solidFill>
                <a:effectLst/>
                <a:latin typeface="+mn-lt"/>
                <a:ea typeface="+mn-ea"/>
                <a:cs typeface="+mn-cs"/>
              </a:rPr>
              <a:t>：參數量 = (4096 × 128) + (128 × 4096) ≈ 104 萬</a:t>
            </a:r>
          </a:p>
          <a:p>
            <a:pPr lvl="0"/>
            <a:r>
              <a:rPr lang="zh-TW" altLang="zh-TW" sz="1200" b="1" u="none" strike="noStrike" kern="1200" dirty="0">
                <a:solidFill>
                  <a:schemeClr val="tx1"/>
                </a:solidFill>
                <a:effectLst/>
                <a:latin typeface="+mn-lt"/>
                <a:ea typeface="+mn-ea"/>
                <a:cs typeface="+mn-cs"/>
              </a:rPr>
              <a:t>結果</a:t>
            </a:r>
            <a:r>
              <a:rPr lang="zh-TW" altLang="zh-TW" sz="1200" b="0" u="none" strike="noStrike" kern="1200" dirty="0">
                <a:solidFill>
                  <a:schemeClr val="tx1"/>
                </a:solidFill>
                <a:effectLst/>
                <a:latin typeface="+mn-lt"/>
                <a:ea typeface="+mn-ea"/>
                <a:cs typeface="+mn-cs"/>
              </a:rPr>
              <a:t>：記憶體與計算量直接暴減了 </a:t>
            </a:r>
            <a:r>
              <a:rPr lang="zh-TW" altLang="zh-TW" sz="1200" b="1" u="none" strike="noStrike" kern="1200" dirty="0">
                <a:solidFill>
                  <a:schemeClr val="tx1"/>
                </a:solidFill>
                <a:effectLst/>
                <a:latin typeface="+mn-lt"/>
                <a:ea typeface="+mn-ea"/>
                <a:cs typeface="+mn-cs"/>
              </a:rPr>
              <a:t>16 倍</a:t>
            </a:r>
            <a:r>
              <a:rPr lang="zh-TW" altLang="zh-TW" sz="1200" b="0" u="none" strike="noStrike" kern="1200" dirty="0">
                <a:solidFill>
                  <a:schemeClr val="tx1"/>
                </a:solidFill>
                <a:effectLst/>
                <a:latin typeface="+mn-lt"/>
                <a:ea typeface="+mn-ea"/>
                <a:cs typeface="+mn-cs"/>
              </a:rPr>
              <a:t>！</a:t>
            </a:r>
          </a:p>
          <a:p>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為什麼大模型可以這樣做？（低秩假設）</a:t>
            </a:r>
          </a:p>
          <a:p>
            <a:r>
              <a:rPr lang="zh-TW" altLang="zh-TW" sz="1200" b="0" u="none" strike="noStrike" kern="1200" dirty="0">
                <a:solidFill>
                  <a:schemeClr val="tx1"/>
                </a:solidFill>
                <a:effectLst/>
                <a:latin typeface="+mn-lt"/>
                <a:ea typeface="+mn-ea"/>
                <a:cs typeface="+mn-cs"/>
              </a:rPr>
              <a:t>你可能會問：把 4096 維度壓到 128 維度，資訊不會全部漏光嗎？</a:t>
            </a:r>
          </a:p>
          <a:p>
            <a:r>
              <a:rPr lang="zh-TW" altLang="zh-TW" sz="1200" b="0" u="none" strike="noStrike" kern="1200" dirty="0">
                <a:solidFill>
                  <a:schemeClr val="tx1"/>
                </a:solidFill>
                <a:effectLst/>
                <a:latin typeface="+mn-lt"/>
                <a:ea typeface="+mn-ea"/>
                <a:cs typeface="+mn-cs"/>
              </a:rPr>
              <a:t>答案是：不會。因為在真實世界中，數據（如人類的語言）雖然表面上維度很高（高維空間），但它們背後真正起作用的「核心特徵」其實很少。大模型在處理語義時，很多維度是冗餘、重複或相關聯的。這在數學上稱為</a:t>
            </a:r>
            <a:r>
              <a:rPr lang="zh-TW" altLang="zh-TW" sz="1200" b="1" u="none" strike="noStrike" kern="1200" dirty="0">
                <a:solidFill>
                  <a:schemeClr val="tx1"/>
                </a:solidFill>
                <a:effectLst/>
                <a:latin typeface="+mn-lt"/>
                <a:ea typeface="+mn-ea"/>
                <a:cs typeface="+mn-cs"/>
              </a:rPr>
              <a:t>低秩假設（Low-Rank Hypothesis）</a:t>
            </a:r>
            <a:r>
              <a:rPr lang="zh-TW" altLang="zh-TW" sz="1200" b="0" u="none" strike="noStrike" kern="1200" dirty="0">
                <a:solidFill>
                  <a:schemeClr val="tx1"/>
                </a:solidFill>
                <a:effectLst/>
                <a:latin typeface="+mn-lt"/>
                <a:ea typeface="+mn-ea"/>
                <a:cs typeface="+mn-cs"/>
              </a:rPr>
              <a:t>。大模型只需要捕捉到那 128 個最核心的隱藏規律，就能完美還原原本的語義。</a:t>
            </a:r>
          </a:p>
          <a:p>
            <a:endParaRPr lang="en-US" altLang="zh-TW" dirty="0"/>
          </a:p>
          <a:p>
            <a:r>
              <a:rPr lang="zh-TW" altLang="zh-TW" sz="1200" b="1" u="none" strike="noStrike" kern="1200" dirty="0">
                <a:solidFill>
                  <a:schemeClr val="tx1"/>
                </a:solidFill>
                <a:effectLst/>
                <a:latin typeface="+mn-lt"/>
                <a:ea typeface="+mn-ea"/>
                <a:cs typeface="+mn-cs"/>
              </a:rPr>
              <a:t>3. 常見的熱門應用</a:t>
            </a:r>
          </a:p>
          <a:p>
            <a:r>
              <a:rPr lang="zh-TW" altLang="zh-TW" sz="1200" b="0" u="none" strike="noStrike" kern="1200" dirty="0">
                <a:solidFill>
                  <a:schemeClr val="tx1"/>
                </a:solidFill>
                <a:effectLst/>
                <a:latin typeface="+mn-lt"/>
                <a:ea typeface="+mn-ea"/>
                <a:cs typeface="+mn-cs"/>
              </a:rPr>
              <a:t>低秩投影是近代大模型得以走向「平民化」和「長文本化」的功臣，最著名的應用包括：</a:t>
            </a:r>
          </a:p>
          <a:p>
            <a:pPr lvl="0"/>
            <a:r>
              <a:rPr lang="zh-TW" altLang="zh-TW" sz="1200" b="1" u="none" strike="noStrike" kern="1200" dirty="0">
                <a:solidFill>
                  <a:schemeClr val="tx1"/>
                </a:solidFill>
                <a:effectLst/>
                <a:latin typeface="+mn-lt"/>
                <a:ea typeface="+mn-ea"/>
                <a:cs typeface="+mn-cs"/>
              </a:rPr>
              <a:t>LoRA (Low-Rank Adaptation) 微調技術</a:t>
            </a:r>
            <a:r>
              <a:rPr lang="zh-TW" altLang="zh-TW" sz="1200" b="0" u="none" strike="noStrike" kern="1200" dirty="0">
                <a:solidFill>
                  <a:schemeClr val="tx1"/>
                </a:solidFill>
                <a:effectLst/>
                <a:latin typeface="+mn-lt"/>
                <a:ea typeface="+mn-ea"/>
                <a:cs typeface="+mn-cs"/>
              </a:rPr>
              <a:t>：</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在微調大模型時，凍結原本的幾百億參數（高秩），只在旁邊外掛兩個低秩投影的小矩陣（A 和 B）來訓練。讓一般人只用一張顯卡就能微調大模型。</a:t>
            </a:r>
          </a:p>
          <a:p>
            <a:pPr lvl="0"/>
            <a:r>
              <a:rPr lang="zh-TW" altLang="zh-TW" sz="1200" b="1" u="none" strike="noStrike" kern="1200" dirty="0">
                <a:solidFill>
                  <a:schemeClr val="tx1"/>
                </a:solidFill>
                <a:effectLst/>
                <a:latin typeface="+mn-lt"/>
                <a:ea typeface="+mn-ea"/>
                <a:cs typeface="+mn-cs"/>
              </a:rPr>
              <a:t>DeepSeek 的 MLA (Multi-head Latent Attention)</a:t>
            </a:r>
            <a:r>
              <a:rPr lang="zh-TW" altLang="zh-TW" sz="1200" b="0" u="none" strike="noStrike" kern="1200" dirty="0">
                <a:solidFill>
                  <a:schemeClr val="tx1"/>
                </a:solidFill>
                <a:effectLst/>
                <a:latin typeface="+mn-lt"/>
                <a:ea typeface="+mn-ea"/>
                <a:cs typeface="+mn-cs"/>
              </a:rPr>
              <a:t>：</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這就是我們前面聊到的！傳統 Transformer 必須要把每個 Token 巨大的 KV 向量（高維）存進顯存（KV Cache）。DeepSeek 利用</a:t>
            </a:r>
            <a:r>
              <a:rPr lang="zh-TW" altLang="zh-TW" sz="1200" b="1" u="none" strike="noStrike" kern="1200" dirty="0">
                <a:solidFill>
                  <a:schemeClr val="tx1"/>
                </a:solidFill>
                <a:effectLst/>
                <a:latin typeface="+mn-lt"/>
                <a:ea typeface="+mn-ea"/>
                <a:cs typeface="+mn-cs"/>
              </a:rPr>
              <a:t>低秩投影</a:t>
            </a:r>
            <a:r>
              <a:rPr lang="zh-TW" altLang="zh-TW" sz="1200" b="0" u="none" strike="noStrike" kern="1200" dirty="0">
                <a:solidFill>
                  <a:schemeClr val="tx1"/>
                </a:solidFill>
                <a:effectLst/>
                <a:latin typeface="+mn-lt"/>
                <a:ea typeface="+mn-ea"/>
                <a:cs typeface="+mn-cs"/>
              </a:rPr>
              <a:t>，把所有 Token 的 KV 向量壓縮成一個極小的潛在向量存起來。等到要計算 Attention Score 時，再用向上投影矩陣</a:t>
            </a:r>
            <a:r>
              <a:rPr lang="zh-TW" altLang="zh-TW" sz="1200" b="1" u="none" strike="noStrike" kern="1200" dirty="0">
                <a:solidFill>
                  <a:schemeClr val="tx1"/>
                </a:solidFill>
                <a:effectLst/>
                <a:latin typeface="+mn-lt"/>
                <a:ea typeface="+mn-ea"/>
                <a:cs typeface="+mn-cs"/>
              </a:rPr>
              <a:t>「吸收（Absorb）」</a:t>
            </a:r>
            <a:r>
              <a:rPr lang="zh-TW" altLang="zh-TW" sz="1200" b="0" u="none" strike="noStrike" kern="1200" dirty="0">
                <a:solidFill>
                  <a:schemeClr val="tx1"/>
                </a:solidFill>
                <a:effectLst/>
                <a:latin typeface="+mn-lt"/>
                <a:ea typeface="+mn-ea"/>
                <a:cs typeface="+mn-cs"/>
              </a:rPr>
              <a:t>還原。這正是 NoPE 技術存在的前提。</a:t>
            </a:r>
          </a:p>
          <a:p>
            <a:r>
              <a:rPr lang="zh-TW" altLang="zh-TW" sz="1200" b="1" u="none" strike="noStrike" kern="1200" dirty="0">
                <a:solidFill>
                  <a:schemeClr val="tx1"/>
                </a:solidFill>
                <a:effectLst/>
                <a:latin typeface="+mn-lt"/>
                <a:ea typeface="+mn-ea"/>
                <a:cs typeface="+mn-cs"/>
              </a:rPr>
              <a:t>總結</a:t>
            </a:r>
          </a:p>
          <a:p>
            <a:r>
              <a:rPr lang="zh-TW" altLang="zh-TW" sz="1200" b="0" u="none" strike="noStrike" kern="1200" dirty="0">
                <a:solidFill>
                  <a:schemeClr val="tx1"/>
                </a:solidFill>
                <a:effectLst/>
                <a:latin typeface="+mn-lt"/>
                <a:ea typeface="+mn-ea"/>
                <a:cs typeface="+mn-cs"/>
              </a:rPr>
              <a:t>低秩投影就像是</a:t>
            </a:r>
            <a:r>
              <a:rPr lang="zh-TW" altLang="zh-TW" sz="1200" b="1" u="none" strike="noStrike" kern="1200" dirty="0">
                <a:solidFill>
                  <a:schemeClr val="tx1"/>
                </a:solidFill>
                <a:effectLst/>
                <a:latin typeface="+mn-lt"/>
                <a:ea typeface="+mn-ea"/>
                <a:cs typeface="+mn-cs"/>
              </a:rPr>
              <a:t>「把 4K 高清影片壓縮成 MP4 檔案儲存（Down-projection），播放時再透過解碼器在螢幕上流暢渲染（Up-projection）」</a:t>
            </a:r>
            <a:r>
              <a:rPr lang="zh-TW" altLang="zh-TW" sz="1200" b="0" u="none" strike="noStrike" kern="1200" dirty="0">
                <a:solidFill>
                  <a:schemeClr val="tx1"/>
                </a:solidFill>
                <a:effectLst/>
                <a:latin typeface="+mn-lt"/>
                <a:ea typeface="+mn-ea"/>
                <a:cs typeface="+mn-cs"/>
              </a:rPr>
              <a:t>。它用極小的精度損失，換取了驚人的速度與空間。</a:t>
            </a:r>
          </a:p>
          <a:p>
            <a:endParaRPr lang="zh-TW" altLang="zh-TW" dirty="0"/>
          </a:p>
        </p:txBody>
      </p:sp>
      <p:sp>
        <p:nvSpPr>
          <p:cNvPr id="4" name="投影片編號版面配置區 3">
            <a:extLst>
              <a:ext uri="{FF2B5EF4-FFF2-40B4-BE49-F238E27FC236}">
                <a16:creationId xmlns:a16="http://schemas.microsoft.com/office/drawing/2014/main" id="{CA6E37FD-9424-18B4-0B03-40E88DF731AE}"/>
              </a:ext>
            </a:extLst>
          </p:cNvPr>
          <p:cNvSpPr>
            <a:spLocks noGrp="1"/>
          </p:cNvSpPr>
          <p:nvPr>
            <p:ph type="sldNum" sz="quarter" idx="5"/>
          </p:nvPr>
        </p:nvSpPr>
        <p:spPr/>
        <p:txBody>
          <a:bodyPr/>
          <a:lstStyle/>
          <a:p>
            <a:fld id="{E3A6CE5E-F349-486D-8749-82EF2AD71FA8}" type="slidenum">
              <a:rPr lang="zh-TW" altLang="en-US" smtClean="0"/>
              <a:t>35</a:t>
            </a:fld>
            <a:endParaRPr lang="zh-TW" altLang="en-US"/>
          </a:p>
        </p:txBody>
      </p:sp>
    </p:spTree>
    <p:extLst>
      <p:ext uri="{BB962C8B-B14F-4D97-AF65-F5344CB8AC3E}">
        <p14:creationId xmlns:p14="http://schemas.microsoft.com/office/powerpoint/2010/main" val="8723904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391CA-EAA5-61AA-976B-D0A473DBCE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BB17E1F-7486-345D-4CF1-A610F24F04F7}"/>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B5FB8F9B-73BE-4DBC-4418-A5E11513395C}"/>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在程式碼實作中，LoRA 凍結原始模型權重的方式非常直接：</a:t>
            </a:r>
            <a:r>
              <a:rPr lang="zh-TW" altLang="zh-TW" sz="1200" b="1" u="none" strike="noStrike" kern="1200" dirty="0">
                <a:solidFill>
                  <a:schemeClr val="tx1"/>
                </a:solidFill>
                <a:effectLst/>
                <a:latin typeface="+mn-lt"/>
                <a:ea typeface="+mn-ea"/>
                <a:cs typeface="+mn-cs"/>
              </a:rPr>
              <a:t>將原始模型所有層的參數設定為「不計算梯度」（requires_grad = False）</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當你使用 Hugging Face 的 peft 函式庫時，底層的運作邏輯如下：</a:t>
            </a:r>
          </a:p>
          <a:p>
            <a:r>
              <a:rPr lang="zh-TW" altLang="zh-TW" sz="1200" b="1" u="none" strike="noStrike" kern="1200" dirty="0">
                <a:solidFill>
                  <a:schemeClr val="tx1"/>
                </a:solidFill>
                <a:effectLst/>
                <a:latin typeface="+mn-lt"/>
                <a:ea typeface="+mn-ea"/>
                <a:cs typeface="+mn-cs"/>
              </a:rPr>
              <a:t>🛠 核心實作三步驟</a:t>
            </a:r>
          </a:p>
          <a:p>
            <a:pPr lvl="0"/>
            <a:r>
              <a:rPr lang="zh-TW" altLang="zh-TW" sz="1200" b="1" u="none" strike="noStrike" kern="1200" dirty="0">
                <a:solidFill>
                  <a:schemeClr val="tx1"/>
                </a:solidFill>
                <a:effectLst/>
                <a:latin typeface="+mn-lt"/>
                <a:ea typeface="+mn-ea"/>
                <a:cs typeface="+mn-cs"/>
              </a:rPr>
              <a:t>步驟一：凍結全部 (Freeze All)</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遍歷原始模型（如 LLaMA 或 SVD）的所有參數，將它們的 requires_grad 屬性全部設為 False。此時反向傳播不會計算這些參數的梯度，記憶體（顯存）大解放。</a:t>
            </a:r>
          </a:p>
          <a:p>
            <a:pPr lvl="0"/>
            <a:r>
              <a:rPr lang="zh-TW" altLang="zh-TW" sz="1200" b="1" u="none" strike="noStrike" kern="1200" dirty="0">
                <a:solidFill>
                  <a:schemeClr val="tx1"/>
                </a:solidFill>
                <a:effectLst/>
                <a:latin typeface="+mn-lt"/>
                <a:ea typeface="+mn-ea"/>
                <a:cs typeface="+mn-cs"/>
              </a:rPr>
              <a:t>步驟二：注入 LoRA 旁路 (Inject Layers)</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在指定的線性層（Linear Layers）旁邊，外掛 A 和 B 兩個低秩矩陣。</a:t>
            </a:r>
          </a:p>
          <a:p>
            <a:pPr lvl="0"/>
            <a:r>
              <a:rPr lang="zh-TW" altLang="zh-TW" sz="1200" b="1" u="none" strike="noStrike" kern="1200" dirty="0">
                <a:solidFill>
                  <a:schemeClr val="tx1"/>
                </a:solidFill>
                <a:effectLst/>
                <a:latin typeface="+mn-lt"/>
                <a:ea typeface="+mn-ea"/>
                <a:cs typeface="+mn-cs"/>
              </a:rPr>
              <a:t>步驟三：單獨激活 (Activate LoRA)</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將這兩個新加入的 A 和 B 矩陣參數，其 requires_grad 屬性設定為 True。</a:t>
            </a:r>
          </a:p>
          <a:p>
            <a:endParaRPr lang="zh-TW" altLang="zh-TW" dirty="0"/>
          </a:p>
        </p:txBody>
      </p:sp>
      <p:sp>
        <p:nvSpPr>
          <p:cNvPr id="4" name="投影片編號版面配置區 3">
            <a:extLst>
              <a:ext uri="{FF2B5EF4-FFF2-40B4-BE49-F238E27FC236}">
                <a16:creationId xmlns:a16="http://schemas.microsoft.com/office/drawing/2014/main" id="{E27E670B-4E94-5D0F-9125-795575CD839C}"/>
              </a:ext>
            </a:extLst>
          </p:cNvPr>
          <p:cNvSpPr>
            <a:spLocks noGrp="1"/>
          </p:cNvSpPr>
          <p:nvPr>
            <p:ph type="sldNum" sz="quarter" idx="5"/>
          </p:nvPr>
        </p:nvSpPr>
        <p:spPr/>
        <p:txBody>
          <a:bodyPr/>
          <a:lstStyle/>
          <a:p>
            <a:fld id="{E3A6CE5E-F349-486D-8749-82EF2AD71FA8}" type="slidenum">
              <a:rPr lang="zh-TW" altLang="en-US" smtClean="0"/>
              <a:t>36</a:t>
            </a:fld>
            <a:endParaRPr lang="zh-TW" altLang="en-US"/>
          </a:p>
        </p:txBody>
      </p:sp>
    </p:spTree>
    <p:extLst>
      <p:ext uri="{BB962C8B-B14F-4D97-AF65-F5344CB8AC3E}">
        <p14:creationId xmlns:p14="http://schemas.microsoft.com/office/powerpoint/2010/main" val="8218617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797C2-856D-7C78-822E-DA2B9845E21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B01D36F-2A90-C039-12E9-94ACB2135929}"/>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D287985-DD70-EAFB-BA76-359D9B2CA1E4}"/>
              </a:ext>
            </a:extLst>
          </p:cNvPr>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C9B8C7DA-B5D4-A1F6-335B-4A2BE3F7BAE3}"/>
              </a:ext>
            </a:extLst>
          </p:cNvPr>
          <p:cNvSpPr>
            <a:spLocks noGrp="1"/>
          </p:cNvSpPr>
          <p:nvPr>
            <p:ph type="sldNum" sz="quarter" idx="5"/>
          </p:nvPr>
        </p:nvSpPr>
        <p:spPr/>
        <p:txBody>
          <a:bodyPr/>
          <a:lstStyle/>
          <a:p>
            <a:fld id="{E3A6CE5E-F349-486D-8749-82EF2AD71FA8}" type="slidenum">
              <a:rPr lang="zh-TW" altLang="en-US" smtClean="0"/>
              <a:t>37</a:t>
            </a:fld>
            <a:endParaRPr lang="zh-TW" altLang="en-US"/>
          </a:p>
        </p:txBody>
      </p:sp>
    </p:spTree>
    <p:extLst>
      <p:ext uri="{BB962C8B-B14F-4D97-AF65-F5344CB8AC3E}">
        <p14:creationId xmlns:p14="http://schemas.microsoft.com/office/powerpoint/2010/main" val="36992126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795CE-C2D6-9D16-6D14-69ACBE5316A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3352CE7-F871-B339-F340-2B51478FA4DF}"/>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6C8E757-4B05-165E-1607-0BCD6DE544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TW" dirty="0"/>
            </a:br>
            <a:r>
              <a:rPr lang="en-US" altLang="zh-TW" dirty="0"/>
              <a:t>Gemma</a:t>
            </a:r>
            <a:r>
              <a:rPr lang="zh-TW" altLang="en-US" dirty="0"/>
              <a:t> </a:t>
            </a:r>
            <a:r>
              <a:rPr lang="en-US" altLang="zh-TW" dirty="0"/>
              <a:t>4</a:t>
            </a:r>
            <a:r>
              <a:rPr lang="zh-TW" altLang="en-US" dirty="0"/>
              <a:t> </a:t>
            </a:r>
            <a:r>
              <a:rPr lang="en-US" altLang="zh-TW" dirty="0"/>
              <a:t>12B</a:t>
            </a:r>
            <a:r>
              <a:rPr lang="zh-TW" altLang="en-US" dirty="0"/>
              <a:t> 統一架構</a:t>
            </a:r>
            <a:r>
              <a:rPr lang="en-US" altLang="zh-TW" dirty="0"/>
              <a:t>,</a:t>
            </a:r>
            <a:r>
              <a:rPr lang="zh-TW" altLang="en-US" dirty="0"/>
              <a:t> </a:t>
            </a:r>
            <a:r>
              <a:rPr lang="zh-TW" altLang="zh-TW" dirty="0"/>
              <a:t>層級嵌入 PLE</a:t>
            </a:r>
            <a:endParaRPr lang="zh-TW" altLang="en-US" dirty="0"/>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多模態 AI 的架構簡介（從傳統到現代）</a:t>
            </a:r>
            <a:r>
              <a:rPr lang="zh-TW" altLang="zh-TW" sz="1200" b="0" u="none" strike="noStrike" kern="1200" dirty="0">
                <a:solidFill>
                  <a:schemeClr val="tx1"/>
                </a:solidFill>
                <a:effectLst/>
                <a:latin typeface="+mn-lt"/>
                <a:ea typeface="+mn-ea"/>
                <a:cs typeface="+mn-cs"/>
              </a:rPr>
              <a:t>要在同一個 AI 模型裡同時塞入「文字、圖片、聲音」</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技術架構經歷了兩個世代演變：</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傳統架構：橋接法 (Encoder-based Architecture)</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以往的 LLaVA 或舊型多模態模型，就像是「拼裝車」：</a:t>
            </a:r>
          </a:p>
          <a:p>
            <a:r>
              <a:rPr lang="zh-TW" altLang="zh-TW" sz="1200" b="1" u="none" strike="noStrike" kern="1200" dirty="0">
                <a:solidFill>
                  <a:schemeClr val="tx1"/>
                </a:solidFill>
                <a:effectLst/>
                <a:latin typeface="+mn-lt"/>
                <a:ea typeface="+mn-ea"/>
                <a:cs typeface="+mn-cs"/>
              </a:rPr>
              <a:t>外掛多個編編碼器 (Encoders)</a:t>
            </a:r>
            <a:r>
              <a:rPr lang="zh-TW" altLang="zh-TW" sz="1200" b="0" u="none" strike="noStrike" kern="1200" dirty="0">
                <a:solidFill>
                  <a:schemeClr val="tx1"/>
                </a:solidFill>
                <a:effectLst/>
                <a:latin typeface="+mn-lt"/>
                <a:ea typeface="+mn-ea"/>
                <a:cs typeface="+mn-cs"/>
              </a:rPr>
              <a:t>：文字有文字的處理器、圖片有專屬的視覺編碼器（如 CLIP）、聲音有語音編碼器。</a:t>
            </a:r>
          </a:p>
          <a:p>
            <a:r>
              <a:rPr lang="zh-TW" altLang="zh-TW" sz="1200" b="1" u="none" strike="noStrike" kern="1200" dirty="0">
                <a:solidFill>
                  <a:schemeClr val="tx1"/>
                </a:solidFill>
                <a:effectLst/>
                <a:latin typeface="+mn-lt"/>
                <a:ea typeface="+mn-ea"/>
                <a:cs typeface="+mn-cs"/>
              </a:rPr>
              <a:t>對齊層 (Projection Layer)</a:t>
            </a:r>
            <a:r>
              <a:rPr lang="zh-TW" altLang="zh-TW" sz="1200" b="0" u="none" strike="noStrike" kern="1200" dirty="0">
                <a:solidFill>
                  <a:schemeClr val="tx1"/>
                </a:solidFill>
                <a:effectLst/>
                <a:latin typeface="+mn-lt"/>
                <a:ea typeface="+mn-ea"/>
                <a:cs typeface="+mn-cs"/>
              </a:rPr>
              <a:t>：中間用一個轉換層，把圖片和聲音的訊號「強行翻譯」成文字看得懂的向量。</a:t>
            </a:r>
          </a:p>
          <a:p>
            <a:r>
              <a:rPr lang="zh-TW" altLang="zh-TW" sz="1200" b="1" u="none" strike="noStrike" kern="1200" dirty="0">
                <a:solidFill>
                  <a:schemeClr val="tx1"/>
                </a:solidFill>
                <a:effectLst/>
                <a:latin typeface="+mn-lt"/>
                <a:ea typeface="+mn-ea"/>
                <a:cs typeface="+mn-cs"/>
              </a:rPr>
              <a:t>丟入 LLM</a:t>
            </a:r>
            <a:r>
              <a:rPr lang="zh-TW" altLang="zh-TW" sz="1200" b="0" u="none" strike="noStrike" kern="1200" dirty="0">
                <a:solidFill>
                  <a:schemeClr val="tx1"/>
                </a:solidFill>
                <a:effectLst/>
                <a:latin typeface="+mn-lt"/>
                <a:ea typeface="+mn-ea"/>
                <a:cs typeface="+mn-cs"/>
              </a:rPr>
              <a:t>：最後才餵給主要的大型語言模型。 </a:t>
            </a:r>
            <a:endParaRPr lang="en-US" altLang="zh-TW" sz="1200" b="0" u="none" strike="noStrike" kern="1200" dirty="0">
              <a:solidFill>
                <a:schemeClr val="tx1"/>
              </a:solidFill>
              <a:effectLst/>
              <a:latin typeface="+mn-lt"/>
              <a:ea typeface="+mn-ea"/>
              <a:cs typeface="+mn-cs"/>
            </a:endParaRPr>
          </a:p>
          <a:p>
            <a:r>
              <a:rPr lang="zh-TW" altLang="zh-TW" sz="1200" b="0" i="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：編碼器體積龐大</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數億參數</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、會卡死微調</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Fine-tuning</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的彈性</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且在轉換過程中容易漏掉細節。 </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現代/未來架構：原生統一法 (Native Unified / Encoder-Free Architecture)</a:t>
            </a:r>
          </a:p>
          <a:p>
            <a:r>
              <a:rPr lang="zh-TW" altLang="zh-TW" sz="1200" b="0" u="none" strike="noStrike" kern="1200" dirty="0">
                <a:solidFill>
                  <a:schemeClr val="tx1"/>
                </a:solidFill>
                <a:effectLst/>
                <a:latin typeface="+mn-lt"/>
                <a:ea typeface="+mn-ea"/>
                <a:cs typeface="+mn-cs"/>
              </a:rPr>
              <a:t>這也是 </a:t>
            </a:r>
            <a:r>
              <a:rPr lang="zh-TW" altLang="zh-TW" sz="1200" b="1" u="none" strike="noStrike" kern="1200" dirty="0">
                <a:solidFill>
                  <a:schemeClr val="tx1"/>
                </a:solidFill>
                <a:effectLst/>
                <a:latin typeface="+mn-lt"/>
                <a:ea typeface="+mn-ea"/>
                <a:cs typeface="+mn-cs"/>
              </a:rPr>
              <a:t>Gemma 4 的核心突破</a:t>
            </a:r>
            <a:r>
              <a:rPr lang="zh-TW" altLang="zh-TW" sz="1200" b="0" u="none" strike="noStrike" kern="1200" dirty="0">
                <a:solidFill>
                  <a:schemeClr val="tx1"/>
                </a:solidFill>
                <a:effectLst/>
                <a:latin typeface="+mn-lt"/>
                <a:ea typeface="+mn-ea"/>
                <a:cs typeface="+mn-cs"/>
              </a:rPr>
              <a:t>！科學家發現，不需要外掛這麼多編碼器，主要的大腦</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本質上就夠聰明了。</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直接線性投影 (Linear Projection)</a:t>
            </a:r>
            <a:r>
              <a:rPr lang="zh-TW" altLang="zh-TW" sz="1200" b="0" u="none" strike="noStrike" kern="1200" dirty="0">
                <a:solidFill>
                  <a:schemeClr val="tx1"/>
                </a:solidFill>
                <a:effectLst/>
                <a:latin typeface="+mn-lt"/>
                <a:ea typeface="+mn-ea"/>
                <a:cs typeface="+mn-cs"/>
              </a:rPr>
              <a:t>：圖片或聲音不經過外部編碼器加工，直接切碎並透過一個極輕量的線性模組轉成標記（Tokens）。</a:t>
            </a:r>
          </a:p>
          <a:p>
            <a:r>
              <a:rPr lang="zh-TW" altLang="zh-TW" sz="1200" b="1" u="none" strike="noStrike" kern="1200" dirty="0">
                <a:solidFill>
                  <a:schemeClr val="tx1"/>
                </a:solidFill>
                <a:effectLst/>
                <a:latin typeface="+mn-lt"/>
                <a:ea typeface="+mn-ea"/>
                <a:cs typeface="+mn-cs"/>
              </a:rPr>
              <a:t>一體化推論</a:t>
            </a:r>
            <a:r>
              <a:rPr lang="zh-TW" altLang="zh-TW" sz="1200" b="0" u="none" strike="noStrike" kern="1200" dirty="0">
                <a:solidFill>
                  <a:schemeClr val="tx1"/>
                </a:solidFill>
                <a:effectLst/>
                <a:latin typeface="+mn-lt"/>
                <a:ea typeface="+mn-ea"/>
                <a:cs typeface="+mn-cs"/>
              </a:rPr>
              <a:t>：多種模態的資料直接在同一個核心架構（Backbone）裡混合、計算。 </a:t>
            </a:r>
          </a:p>
          <a:p>
            <a:r>
              <a:rPr lang="zh-TW" altLang="zh-TW" sz="1200" b="0" i="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：推論速度極快、模型體積大幅縮小，而且文字、圖片、音訊可以完美融合在同一個資料流中，大幅降低硬體門檻。</a:t>
            </a:r>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memory</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用量</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計算用電</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如何知道級距</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 用雲端服務建立準線。</a:t>
            </a:r>
            <a:endPar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E86E7571-A4C4-1EDD-1D49-0CFA2F6F94F9}"/>
              </a:ext>
            </a:extLst>
          </p:cNvPr>
          <p:cNvSpPr>
            <a:spLocks noGrp="1"/>
          </p:cNvSpPr>
          <p:nvPr>
            <p:ph type="sldNum" sz="quarter" idx="5"/>
          </p:nvPr>
        </p:nvSpPr>
        <p:spPr/>
        <p:txBody>
          <a:bodyPr/>
          <a:lstStyle/>
          <a:p>
            <a:fld id="{E3A6CE5E-F349-486D-8749-82EF2AD71FA8}" type="slidenum">
              <a:rPr lang="zh-TW" altLang="en-US" smtClean="0"/>
              <a:t>38</a:t>
            </a:fld>
            <a:endParaRPr lang="zh-TW" altLang="en-US"/>
          </a:p>
        </p:txBody>
      </p:sp>
    </p:spTree>
    <p:extLst>
      <p:ext uri="{BB962C8B-B14F-4D97-AF65-F5344CB8AC3E}">
        <p14:creationId xmlns:p14="http://schemas.microsoft.com/office/powerpoint/2010/main" val="3664009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深度的軟體工程測試</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DeepSWE</a:t>
            </a:r>
            <a:r>
              <a:rPr lang="zh-TW" altLang="zh-TW" dirty="0"/>
              <a:t> 是由 Datacurve 於 2026 年 5 月開源的一項 </a:t>
            </a:r>
            <a:r>
              <a:rPr lang="zh-TW" altLang="zh-TW" sz="1200" b="1" u="none" strike="noStrike" kern="1200" dirty="0">
                <a:solidFill>
                  <a:schemeClr val="tx1"/>
                </a:solidFill>
                <a:effectLst/>
                <a:latin typeface="+mn-lt"/>
                <a:ea typeface="+mn-ea"/>
                <a:cs typeface="+mn-cs"/>
              </a:rPr>
              <a:t>AI 程式碼生成與Agent基準測試（Benchmark）</a:t>
            </a:r>
            <a:r>
              <a:rPr lang="zh-TW" altLang="zh-TW" dirty="0"/>
              <a:t>，</a:t>
            </a:r>
            <a:endParaRPr lang="en-US" altLang="zh-TW" dirty="0"/>
          </a:p>
          <a:p>
            <a:r>
              <a:rPr lang="zh-TW" altLang="zh-TW" dirty="0"/>
              <a:t>專門用來評估大型語言模型在真實軟體工程任務中的自主處理能力。</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39</a:t>
            </a:fld>
            <a:endParaRPr lang="zh-TW" altLang="en-US"/>
          </a:p>
        </p:txBody>
      </p:sp>
    </p:spTree>
    <p:extLst>
      <p:ext uri="{BB962C8B-B14F-4D97-AF65-F5344CB8AC3E}">
        <p14:creationId xmlns:p14="http://schemas.microsoft.com/office/powerpoint/2010/main" val="31801373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基於工具可靠性、任務完成度和可控性等指標，對模型在實際智慧任務中協調工具的能力進行動態排名。</a:t>
            </a:r>
            <a:endParaRPr lang="en-US" altLang="zh-TW"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40</a:t>
            </a:fld>
            <a:endParaRPr lang="zh-TW" altLang="en-US"/>
          </a:p>
        </p:txBody>
      </p:sp>
    </p:spTree>
    <p:extLst>
      <p:ext uri="{BB962C8B-B14F-4D97-AF65-F5344CB8AC3E}">
        <p14:creationId xmlns:p14="http://schemas.microsoft.com/office/powerpoint/2010/main" val="32282290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查看涵蓋數學、程式設計、創意寫作及其他開放領域中各種人工智慧模型在文字到文字任務中的總體排名。</a:t>
            </a:r>
            <a:endParaRPr lang="en-US" altLang="zh-TW" dirty="0"/>
          </a:p>
          <a:p>
            <a:endParaRPr lang="en-US" altLang="zh-TW" sz="1200" b="0" u="none" strike="noStrike" kern="1200" dirty="0">
              <a:solidFill>
                <a:schemeClr val="tx1"/>
              </a:solidFill>
              <a:effectLst/>
              <a:latin typeface="+mn-lt"/>
              <a:ea typeface="+mn-ea"/>
              <a:cs typeface="+mn-cs"/>
            </a:endParaRPr>
          </a:p>
          <a:p>
            <a:r>
              <a:rPr lang="en-US" altLang="zh-TW" sz="1200" b="0" u="none" strike="noStrike" kern="1200" dirty="0">
                <a:solidFill>
                  <a:schemeClr val="tx1"/>
                </a:solidFill>
                <a:effectLst/>
                <a:latin typeface="+mn-lt"/>
                <a:ea typeface="+mn-ea"/>
                <a:cs typeface="+mn-cs"/>
              </a:rPr>
              <a:t>Tencent Hy3</a:t>
            </a:r>
            <a:r>
              <a:rPr lang="zh-TW" altLang="zh-TW" dirty="0"/>
              <a:t>（騰訊混元 Hy3）</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是騰訊於 2026 年 7 月正式發布的大型語言模型，採用「快慢思考」融合的混合專家模型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MoE</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架構，總參數達 2,950 億、啟用參數 210 億，並支援 256K 超長上下文視窗。其性能足以比肩參數規模大其 2 至 5 倍的旗艦模型，主打高性價比與強大智能體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Agent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任務表現。 </a:t>
            </a:r>
            <a:br>
              <a:rPr lang="en-US" altLang="zh-TW" sz="1200" b="0" u="none" strike="noStrike" kern="1200" dirty="0">
                <a:solidFill>
                  <a:schemeClr val="tx1"/>
                </a:solidFill>
                <a:effectLst/>
                <a:latin typeface="+mn-lt"/>
                <a:ea typeface="+mn-ea"/>
                <a:cs typeface="+mn-cs"/>
              </a:rPr>
            </a:b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Korea Upstage solar-pro4: </a:t>
            </a:r>
            <a:r>
              <a:rPr lang="zh-TW" altLang="zh-TW" sz="1200" b="0" u="none" strike="noStrike" kern="1200" dirty="0">
                <a:solidFill>
                  <a:schemeClr val="tx1"/>
                </a:solidFill>
                <a:effectLst/>
                <a:latin typeface="+mn-lt"/>
                <a:ea typeface="+mn-ea"/>
                <a:cs typeface="+mn-cs"/>
              </a:rPr>
              <a:t>韓國人工智慧實驗室 Upstage</a:t>
            </a:r>
            <a:r>
              <a:rPr lang="zh-TW" altLang="zh-TW" dirty="0"/>
              <a:t> 於 2026 年 8 月推出全新商用大型語言模型 </a:t>
            </a:r>
            <a:r>
              <a:rPr lang="zh-TW" altLang="zh-TW" sz="1200" b="1" u="none" strike="noStrike" kern="1200" dirty="0">
                <a:solidFill>
                  <a:schemeClr val="tx1"/>
                </a:solidFill>
                <a:effectLst/>
                <a:latin typeface="+mn-lt"/>
                <a:ea typeface="+mn-ea"/>
                <a:cs typeface="+mn-cs"/>
              </a:rPr>
              <a:t>Solar Pro 4</a:t>
            </a:r>
            <a:r>
              <a:rPr lang="zh-TW" altLang="zh-TW" dirty="0"/>
              <a:t>，專為複雜的 AI 智慧體（Agent）任務與企業長文本工作流程所設計。該模型大幅強化推論與多步驟工具調用能力，是首個正式登入全球平台 </a:t>
            </a:r>
            <a:r>
              <a:rPr lang="zh-TW" altLang="zh-TW" sz="1200" b="0" u="none" strike="noStrike" kern="1200" dirty="0">
                <a:solidFill>
                  <a:schemeClr val="tx1"/>
                </a:solidFill>
                <a:effectLst/>
                <a:latin typeface="+mn-lt"/>
                <a:ea typeface="+mn-ea"/>
                <a:cs typeface="+mn-cs"/>
                <a:hlinkClick r:id="rId3"/>
              </a:rPr>
              <a:t>OpenRouter</a:t>
            </a:r>
            <a:r>
              <a:rPr lang="zh-TW" altLang="zh-TW" dirty="0"/>
              <a:t> 的韓國大型語言模型。</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41</a:t>
            </a:fld>
            <a:endParaRPr lang="zh-TW" altLang="en-US"/>
          </a:p>
        </p:txBody>
      </p:sp>
    </p:spTree>
    <p:extLst>
      <p:ext uri="{BB962C8B-B14F-4D97-AF65-F5344CB8AC3E}">
        <p14:creationId xmlns:p14="http://schemas.microsoft.com/office/powerpoint/2010/main" val="13406906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DBA0-5016-15B9-B336-967BC65044C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8CEE158-7518-B36E-6B39-A56DF4E6EB9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AE68B9F-F26F-17C6-19AE-499CDA9202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AI</a:t>
            </a:r>
            <a:r>
              <a:rPr lang="zh-TW" altLang="en-US" dirty="0"/>
              <a:t>的強弱</a:t>
            </a:r>
            <a:r>
              <a:rPr lang="en-US" altLang="zh-TW" dirty="0"/>
              <a:t>:</a:t>
            </a:r>
            <a:r>
              <a:rPr lang="zh-TW" altLang="en-US" dirty="0"/>
              <a:t> 取決於數據</a:t>
            </a:r>
            <a:r>
              <a:rPr lang="en-US" altLang="zh-TW" dirty="0"/>
              <a:t>(data),</a:t>
            </a:r>
            <a:r>
              <a:rPr lang="zh-TW" altLang="en-US" dirty="0"/>
              <a:t> 算法</a:t>
            </a:r>
            <a:r>
              <a:rPr lang="en-US" altLang="zh-TW" dirty="0"/>
              <a:t>(algorithm), </a:t>
            </a:r>
            <a:r>
              <a:rPr lang="zh-TW" altLang="en-US" dirty="0"/>
              <a:t>算力</a:t>
            </a:r>
            <a:r>
              <a:rPr lang="en-US" altLang="zh-TW" dirty="0"/>
              <a:t>(computing)</a:t>
            </a:r>
          </a:p>
          <a:p>
            <a:endParaRPr lang="en-US" altLang="zh-TW" dirty="0"/>
          </a:p>
          <a:p>
            <a:r>
              <a:rPr lang="en-US" altLang="zh-TW" dirty="0"/>
              <a:t>2010 </a:t>
            </a:r>
            <a:r>
              <a:rPr lang="zh-TW" altLang="en-US" dirty="0"/>
              <a:t>算力助長了一切</a:t>
            </a:r>
            <a:r>
              <a:rPr lang="en-US" altLang="zh-TW" dirty="0"/>
              <a:t>:</a:t>
            </a:r>
          </a:p>
          <a:p>
            <a:r>
              <a:rPr lang="en-US" altLang="zh-TW" dirty="0"/>
              <a:t>2018 </a:t>
            </a:r>
            <a:r>
              <a:rPr lang="zh-TW" altLang="zh-TW" dirty="0"/>
              <a:t>動態預訓練時代：上下文的「環境覺醒」 </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dirty="0"/>
          </a:p>
          <a:p>
            <a:r>
              <a:rPr lang="en-US" altLang="zh-TW" dirty="0"/>
              <a:t>CoT: Chain-of-Thought: (</a:t>
            </a:r>
            <a:r>
              <a:rPr lang="zh-TW" altLang="en-US" dirty="0"/>
              <a:t>思維鏈</a:t>
            </a:r>
            <a:r>
              <a:rPr lang="en-US" altLang="zh-TW" dirty="0"/>
              <a:t>)</a:t>
            </a:r>
            <a:r>
              <a:rPr lang="zh-TW" altLang="zh-TW" sz="1200" b="0" i="0" kern="1200" dirty="0">
                <a:solidFill>
                  <a:schemeClr val="tx1"/>
                </a:solidFill>
                <a:effectLst/>
                <a:latin typeface="+mn-lt"/>
                <a:ea typeface="+mn-ea"/>
                <a:cs typeface="+mn-cs"/>
              </a:rPr>
              <a:t>這個方法有助於大型語言模型克服一些需要邏輯思維或多個步驟來解決的推理任務</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在</a:t>
            </a:r>
            <a:r>
              <a:rPr lang="en-US" altLang="zh-TW" sz="1200" b="0" i="0" kern="1200" dirty="0">
                <a:solidFill>
                  <a:schemeClr val="tx1"/>
                </a:solidFill>
                <a:effectLst/>
                <a:latin typeface="+mn-lt"/>
                <a:ea typeface="+mn-ea"/>
                <a:cs typeface="+mn-cs"/>
              </a:rPr>
              <a:t>prompt</a:t>
            </a:r>
            <a:r>
              <a:rPr lang="zh-TW" altLang="en-US" sz="1200" b="0" i="0" kern="1200" dirty="0">
                <a:solidFill>
                  <a:schemeClr val="tx1"/>
                </a:solidFill>
                <a:effectLst/>
                <a:latin typeface="+mn-lt"/>
                <a:ea typeface="+mn-ea"/>
                <a:cs typeface="+mn-cs"/>
              </a:rPr>
              <a:t>裡面</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帶著過程</a:t>
            </a:r>
            <a:r>
              <a:rPr lang="en-US" altLang="zh-TW" sz="1200" b="0" i="0" kern="1200" dirty="0">
                <a:solidFill>
                  <a:schemeClr val="tx1"/>
                </a:solidFill>
                <a:effectLst/>
                <a:latin typeface="+mn-lt"/>
                <a:ea typeface="+mn-ea"/>
                <a:cs typeface="+mn-cs"/>
              </a:rPr>
              <a:t>)</a:t>
            </a:r>
            <a:endParaRPr lang="en-US" altLang="zh-TW" dirty="0"/>
          </a:p>
          <a:p>
            <a:endParaRPr lang="en-US" altLang="zh-TW" dirty="0"/>
          </a:p>
          <a:p>
            <a:r>
              <a:rPr lang="zh-TW" altLang="en-US" dirty="0"/>
              <a:t>預訓練</a:t>
            </a:r>
            <a:r>
              <a:rPr lang="en-US" altLang="zh-TW" dirty="0"/>
              <a:t>/</a:t>
            </a:r>
            <a:r>
              <a:rPr lang="zh-TW" altLang="en-US" dirty="0"/>
              <a:t>微調技術大躍進</a:t>
            </a:r>
            <a:endParaRPr lang="en-US" altLang="zh-TW" dirty="0"/>
          </a:p>
          <a:p>
            <a:r>
              <a:rPr lang="en-US" altLang="zh-TW" dirty="0"/>
              <a:t>Reinforcement Learning from Human Feedback (RLHF): Anthropic </a:t>
            </a:r>
            <a:r>
              <a:rPr lang="zh-TW" altLang="en-US" dirty="0"/>
              <a:t>很具里程碑意義</a:t>
            </a:r>
            <a:endParaRPr lang="en-US" altLang="zh-TW" dirty="0"/>
          </a:p>
          <a:p>
            <a:r>
              <a:rPr lang="en-US" altLang="zh-TW" dirty="0"/>
              <a:t>Direct Preference Optimization (DPO): Standford </a:t>
            </a:r>
            <a:r>
              <a:rPr lang="zh-TW" altLang="en-US" dirty="0"/>
              <a:t>簡化學習偏好</a:t>
            </a:r>
            <a:r>
              <a:rPr lang="en-US" altLang="zh-TW" dirty="0"/>
              <a:t>,</a:t>
            </a:r>
            <a:r>
              <a:rPr lang="zh-TW" altLang="en-US" dirty="0"/>
              <a:t> 免除了獎勵模型</a:t>
            </a:r>
            <a:endParaRPr lang="en-US" altLang="zh-TW" dirty="0"/>
          </a:p>
          <a:p>
            <a:r>
              <a:rPr lang="en-US" altLang="zh-TW" dirty="0"/>
              <a:t>Self-Alignment</a:t>
            </a:r>
            <a:r>
              <a:rPr lang="zh-TW" altLang="en-US" dirty="0"/>
              <a:t> </a:t>
            </a:r>
            <a:r>
              <a:rPr lang="en-US" altLang="zh-TW" dirty="0"/>
              <a:t>(SA):</a:t>
            </a:r>
            <a:r>
              <a:rPr lang="zh-TW" altLang="en-US" dirty="0"/>
              <a:t> </a:t>
            </a:r>
            <a:r>
              <a:rPr lang="en-US" altLang="zh-TW" dirty="0"/>
              <a:t>Frontier labs </a:t>
            </a:r>
            <a:r>
              <a:rPr lang="zh-TW" altLang="en-US" dirty="0"/>
              <a:t>使用最小的人類引導</a:t>
            </a:r>
            <a:r>
              <a:rPr lang="en-US" altLang="zh-TW" dirty="0"/>
              <a:t>, </a:t>
            </a:r>
            <a:r>
              <a:rPr lang="zh-TW" altLang="en-US" dirty="0"/>
              <a:t>進行模型對齊</a:t>
            </a:r>
            <a:endParaRPr lang="en-US" altLang="zh-TW" dirty="0"/>
          </a:p>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E5C4B865-7765-C3FC-A6C5-674D1B923E08}"/>
              </a:ext>
            </a:extLst>
          </p:cNvPr>
          <p:cNvSpPr>
            <a:spLocks noGrp="1"/>
          </p:cNvSpPr>
          <p:nvPr>
            <p:ph type="sldNum" sz="quarter" idx="5"/>
          </p:nvPr>
        </p:nvSpPr>
        <p:spPr/>
        <p:txBody>
          <a:bodyPr/>
          <a:lstStyle/>
          <a:p>
            <a:fld id="{E3A6CE5E-F349-486D-8749-82EF2AD71FA8}" type="slidenum">
              <a:rPr lang="zh-TW" altLang="en-US" smtClean="0"/>
              <a:t>42</a:t>
            </a:fld>
            <a:endParaRPr lang="zh-TW" altLang="en-US"/>
          </a:p>
        </p:txBody>
      </p:sp>
    </p:spTree>
    <p:extLst>
      <p:ext uri="{BB962C8B-B14F-4D97-AF65-F5344CB8AC3E}">
        <p14:creationId xmlns:p14="http://schemas.microsoft.com/office/powerpoint/2010/main" val="8031918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dirty="0"/>
              <a:t>以下為你將所有與 AI Agent 相關的專有名詞，由原本的表格形式全部改為</a:t>
            </a:r>
            <a:r>
              <a:rPr lang="zh-TW" altLang="zh-TW" b="1" dirty="0"/>
              <a:t>純文字列表</a:t>
            </a:r>
            <a:r>
              <a:rPr lang="zh-TW" altLang="zh-TW" dirty="0"/>
              <a:t>呈現。</a:t>
            </a:r>
          </a:p>
          <a:p>
            <a:r>
              <a:rPr lang="zh-TW" altLang="zh-TW" dirty="0"/>
              <a:t>每個項目均嚴格包含：</a:t>
            </a:r>
            <a:r>
              <a:rPr lang="zh-TW" altLang="zh-TW" b="1" dirty="0"/>
              <a:t>縮寫 / 名詞、英文全稱、繁體中文、中文說明</a:t>
            </a:r>
            <a:r>
              <a:rPr lang="zh-TW" altLang="zh-TW" dirty="0"/>
              <a:t>，並透過區塊與粗體維持極佳的 scannability（可讀性），方便你直接複製使用。</a:t>
            </a:r>
          </a:p>
          <a:p>
            <a:r>
              <a:rPr lang="zh-TW" altLang="zh-TW" b="1" dirty="0"/>
              <a:t>一、 核心架構與模型層 (Core Architecture &amp; Models)</a:t>
            </a:r>
          </a:p>
          <a:p>
            <a:r>
              <a:rPr lang="zh-TW" altLang="zh-TW" b="1" dirty="0"/>
              <a:t>Agent</a:t>
            </a:r>
            <a:r>
              <a:rPr lang="zh-TW" altLang="zh-TW" dirty="0"/>
              <a:t> (AI Agent / Autonomous Agent) —— 人工智慧代理 / 自主代理</a:t>
            </a:r>
          </a:p>
          <a:p>
            <a:pPr lvl="1"/>
            <a:r>
              <a:rPr lang="zh-TW" altLang="zh-TW" b="1" dirty="0"/>
              <a:t>說明：</a:t>
            </a:r>
            <a:r>
              <a:rPr lang="zh-TW" altLang="zh-TW" dirty="0"/>
              <a:t> 具備感知、思考、自主規劃並能調用工具操作現實的 AI 實體。</a:t>
            </a:r>
          </a:p>
          <a:p>
            <a:r>
              <a:rPr lang="zh-TW" altLang="zh-TW" b="1" dirty="0"/>
              <a:t>LLM</a:t>
            </a:r>
            <a:r>
              <a:rPr lang="zh-TW" altLang="zh-TW" dirty="0"/>
              <a:t> (Large Language Model) —— 大型語言模型</a:t>
            </a:r>
          </a:p>
          <a:p>
            <a:pPr lvl="1"/>
            <a:r>
              <a:rPr lang="zh-TW" altLang="zh-TW" b="1" dirty="0"/>
              <a:t>說明：</a:t>
            </a:r>
            <a:r>
              <a:rPr lang="zh-TW" altLang="zh-TW" dirty="0"/>
              <a:t> Agent 的核心大腦，負責語言理解、常識推理與決策。</a:t>
            </a:r>
          </a:p>
          <a:p>
            <a:r>
              <a:rPr lang="zh-TW" altLang="zh-TW" b="1" dirty="0"/>
              <a:t>VLM / MLLM</a:t>
            </a:r>
            <a:r>
              <a:rPr lang="zh-TW" altLang="zh-TW" dirty="0"/>
              <a:t> (Vision-Language Model / Multi-modal LLM) —— 視覺語言模型 / 多模態大模型</a:t>
            </a:r>
          </a:p>
          <a:p>
            <a:pPr lvl="1"/>
            <a:r>
              <a:rPr lang="zh-TW" altLang="zh-TW" b="1" dirty="0"/>
              <a:t>說明：</a:t>
            </a:r>
            <a:r>
              <a:rPr lang="zh-TW" altLang="zh-TW" dirty="0"/>
              <a:t> 賦予 Agent 眼睛（看懂螢幕截圖、網頁 UI 或真實世界影像）的大腦。</a:t>
            </a:r>
          </a:p>
          <a:p>
            <a:r>
              <a:rPr lang="zh-TW" altLang="zh-TW" b="1" dirty="0"/>
              <a:t>SLM</a:t>
            </a:r>
            <a:r>
              <a:rPr lang="zh-TW" altLang="zh-TW" dirty="0"/>
              <a:t> (Small Language Model) —— 小型語言模型</a:t>
            </a:r>
          </a:p>
          <a:p>
            <a:pPr lvl="1"/>
            <a:r>
              <a:rPr lang="zh-TW" altLang="zh-TW" b="1" dirty="0"/>
              <a:t>說明：</a:t>
            </a:r>
            <a:r>
              <a:rPr lang="zh-TW" altLang="zh-TW" dirty="0"/>
              <a:t> 輕量化模型，常用於端點設備（Edge）或專職執行單一工具的邊緣 Agent。</a:t>
            </a:r>
          </a:p>
          <a:p>
            <a:r>
              <a:rPr lang="zh-TW" altLang="zh-TW" b="1" dirty="0"/>
              <a:t>HITL</a:t>
            </a:r>
            <a:r>
              <a:rPr lang="zh-TW" altLang="zh-TW" dirty="0"/>
              <a:t> (Human-in-the-Loop) —— 人類在環 / 人機協同</a:t>
            </a:r>
          </a:p>
          <a:p>
            <a:pPr lvl="1"/>
            <a:r>
              <a:rPr lang="zh-TW" altLang="zh-TW" b="1" dirty="0"/>
              <a:t>說明：</a:t>
            </a:r>
            <a:r>
              <a:rPr lang="zh-TW" altLang="zh-TW" dirty="0"/>
              <a:t> 在 Agent 循環中加入人工作為審查、確認或中斷的防禦機制。</a:t>
            </a:r>
          </a:p>
          <a:p>
            <a:r>
              <a:rPr lang="zh-TW" altLang="zh-TW" b="1" dirty="0"/>
              <a:t>Embodied AI</a:t>
            </a:r>
            <a:r>
              <a:rPr lang="zh-TW" altLang="zh-TW" dirty="0"/>
              <a:t> (Embodied Artificial Intelligence) —— 具身智能</a:t>
            </a:r>
          </a:p>
          <a:p>
            <a:pPr lvl="1"/>
            <a:r>
              <a:rPr lang="zh-TW" altLang="zh-TW" b="1" dirty="0"/>
              <a:t>說明：</a:t>
            </a:r>
            <a:r>
              <a:rPr lang="zh-TW" altLang="zh-TW" dirty="0"/>
              <a:t> 將 Agent 大腦注入到物理實體（如機器人、無人機）中，使其具備操作物理世界的能力。</a:t>
            </a:r>
          </a:p>
          <a:p>
            <a:r>
              <a:rPr lang="zh-TW" altLang="zh-TW" b="1" dirty="0"/>
              <a:t>Substrate</a:t>
            </a:r>
            <a:r>
              <a:rPr lang="zh-TW" altLang="zh-TW" dirty="0"/>
              <a:t> (Substrate) —— 底層載體 / 介質</a:t>
            </a:r>
          </a:p>
          <a:p>
            <a:pPr lvl="1"/>
            <a:r>
              <a:rPr lang="zh-TW" altLang="zh-TW" b="1" dirty="0"/>
              <a:t>說明：</a:t>
            </a:r>
            <a:r>
              <a:rPr lang="zh-TW" altLang="zh-TW" dirty="0"/>
              <a:t> 指 AI 運行的環境基礎（如「碳基」代表人類肉身、「矽基」代表數位電腦晶片）。</a:t>
            </a:r>
          </a:p>
          <a:p>
            <a:r>
              <a:rPr lang="zh-TW" altLang="zh-TW" b="1" dirty="0"/>
              <a:t>二、 自主規劃與推理框架 (Planning &amp; Reasoning)</a:t>
            </a:r>
          </a:p>
          <a:p>
            <a:r>
              <a:rPr lang="zh-TW" altLang="zh-TW" b="1" dirty="0"/>
              <a:t>ReAct</a:t>
            </a:r>
            <a:r>
              <a:rPr lang="zh-TW" altLang="zh-TW" dirty="0"/>
              <a:t> (Reasoning and Acting) —— 推理與行動框架</a:t>
            </a:r>
          </a:p>
          <a:p>
            <a:pPr lvl="1"/>
            <a:r>
              <a:rPr lang="zh-TW" altLang="zh-TW" b="1" dirty="0"/>
              <a:t>說明：</a:t>
            </a:r>
            <a:r>
              <a:rPr lang="zh-TW" altLang="zh-TW" dirty="0"/>
              <a:t> Agent 最經典的底層邏輯——交替進行「思考（Thought）」➔「行動（Action）」➔「觀察反饋（Observation）」。</a:t>
            </a:r>
          </a:p>
          <a:p>
            <a:r>
              <a:rPr lang="zh-TW" altLang="zh-TW" b="1" dirty="0"/>
              <a:t>CoT</a:t>
            </a:r>
            <a:r>
              <a:rPr lang="zh-TW" altLang="zh-TW" dirty="0"/>
              <a:t> (Chain of Thought) —— 思維鏈</a:t>
            </a:r>
          </a:p>
          <a:p>
            <a:pPr lvl="1"/>
            <a:r>
              <a:rPr lang="zh-TW" altLang="zh-TW" b="1" dirty="0"/>
              <a:t>說明：</a:t>
            </a:r>
            <a:r>
              <a:rPr lang="zh-TW" altLang="zh-TW" dirty="0"/>
              <a:t> 引導大腦將複雜問題拆解，一步步寫出推理過程（"Let's think step by step"）。</a:t>
            </a:r>
          </a:p>
          <a:p>
            <a:r>
              <a:rPr lang="zh-TW" altLang="zh-TW" b="1" dirty="0"/>
              <a:t>ToT</a:t>
            </a:r>
            <a:r>
              <a:rPr lang="zh-TW" altLang="zh-TW" dirty="0"/>
              <a:t> (Tree of Thoughts) —— 思維樹</a:t>
            </a:r>
          </a:p>
          <a:p>
            <a:pPr lvl="1"/>
            <a:r>
              <a:rPr lang="zh-TW" altLang="zh-TW" b="1" dirty="0"/>
              <a:t>說明：</a:t>
            </a:r>
            <a:r>
              <a:rPr lang="zh-TW" altLang="zh-TW" dirty="0"/>
              <a:t> 大腦在規劃時探索多條可能的決策路徑，並具備回溯（Backtracking）與評估能力。</a:t>
            </a:r>
          </a:p>
          <a:p>
            <a:r>
              <a:rPr lang="zh-TW" altLang="zh-TW" b="1" dirty="0"/>
              <a:t>GoT</a:t>
            </a:r>
            <a:r>
              <a:rPr lang="zh-TW" altLang="zh-TW" dirty="0"/>
              <a:t> (Graph of Thoughts) —— 思維圖</a:t>
            </a:r>
          </a:p>
          <a:p>
            <a:pPr lvl="1"/>
            <a:r>
              <a:rPr lang="zh-TW" altLang="zh-TW" b="1" dirty="0"/>
              <a:t>說明：</a:t>
            </a:r>
            <a:r>
              <a:rPr lang="zh-TW" altLang="zh-TW" dirty="0"/>
              <a:t> 允許不同的思維網絡互相交織、結合或分岔，模擬人類大腦更複雜的非線性思考。</a:t>
            </a:r>
          </a:p>
          <a:p>
            <a:r>
              <a:rPr lang="zh-TW" altLang="zh-TW" b="1" dirty="0"/>
              <a:t>Reflexion</a:t>
            </a:r>
            <a:r>
              <a:rPr lang="zh-TW" altLang="zh-TW" dirty="0"/>
              <a:t> (Reflexion Framework) —— 自我反思架構</a:t>
            </a:r>
          </a:p>
          <a:p>
            <a:pPr lvl="1"/>
            <a:r>
              <a:rPr lang="zh-TW" altLang="zh-TW" b="1" dirty="0"/>
              <a:t>說明：</a:t>
            </a:r>
            <a:r>
              <a:rPr lang="zh-TW" altLang="zh-TW" dirty="0"/>
              <a:t> Agent 執行失敗時，透過評估模塊自我批判（Self-Criticism），將失敗轉化為記憶以修正下一次的規劃。</a:t>
            </a:r>
          </a:p>
          <a:p>
            <a:r>
              <a:rPr lang="zh-TW" altLang="zh-TW" b="1" dirty="0"/>
              <a:t>Task Decomposition</a:t>
            </a:r>
            <a:r>
              <a:rPr lang="zh-TW" altLang="zh-TW" dirty="0"/>
              <a:t> (Task Decomposition) —— 任務拆解</a:t>
            </a:r>
          </a:p>
          <a:p>
            <a:pPr lvl="1"/>
            <a:r>
              <a:rPr lang="zh-TW" altLang="zh-TW" b="1" dirty="0"/>
              <a:t>說明：</a:t>
            </a:r>
            <a:r>
              <a:rPr lang="zh-TW" altLang="zh-TW" dirty="0"/>
              <a:t> 大腦將一個宏大的終極目標（Goal），細分為多個可執行的子任務（Sub-tasks）。</a:t>
            </a:r>
          </a:p>
          <a:p>
            <a:r>
              <a:rPr lang="zh-TW" altLang="zh-TW" b="1" dirty="0"/>
              <a:t>Plan-and-Solve</a:t>
            </a:r>
            <a:r>
              <a:rPr lang="zh-TW" altLang="zh-TW" dirty="0"/>
              <a:t> (Plan-and-Solve Prompting) —— 計畫與解決</a:t>
            </a:r>
          </a:p>
          <a:p>
            <a:pPr lvl="1"/>
            <a:r>
              <a:rPr lang="zh-TW" altLang="zh-TW" b="1" dirty="0"/>
              <a:t>說明：</a:t>
            </a:r>
            <a:r>
              <a:rPr lang="zh-TW" altLang="zh-TW" dirty="0"/>
              <a:t> 先宏觀制定完整計畫，再依序執行，用以減少 CoT 過程中因走一步算一步而產生的計算偏差。</a:t>
            </a:r>
          </a:p>
          <a:p>
            <a:r>
              <a:rPr lang="zh-TW" altLang="zh-TW" b="1" dirty="0"/>
              <a:t>三、 記憶與脈絡工程 (Memory &amp; Context)</a:t>
            </a:r>
          </a:p>
          <a:p>
            <a:r>
              <a:rPr lang="zh-TW" altLang="zh-TW" b="1" dirty="0"/>
              <a:t>RAG</a:t>
            </a:r>
            <a:r>
              <a:rPr lang="zh-TW" altLang="zh-TW" dirty="0"/>
              <a:t> (Retrieval-Augmented Generation) —— 檢索增強生成</a:t>
            </a:r>
          </a:p>
          <a:p>
            <a:pPr lvl="1"/>
            <a:r>
              <a:rPr lang="zh-TW" altLang="zh-TW" b="1" dirty="0"/>
              <a:t>說明：</a:t>
            </a:r>
            <a:r>
              <a:rPr lang="zh-TW" altLang="zh-TW" dirty="0"/>
              <a:t> Agent 從外部知識庫動態撈取資料注入 Context，解決幻覺與長時記憶不足的問題。</a:t>
            </a:r>
          </a:p>
          <a:p>
            <a:r>
              <a:rPr lang="zh-TW" altLang="zh-TW" b="1" dirty="0"/>
              <a:t>Vector DB</a:t>
            </a:r>
            <a:r>
              <a:rPr lang="zh-TW" altLang="zh-TW" dirty="0"/>
              <a:t> (Vector Database) —— 向量資料庫</a:t>
            </a:r>
          </a:p>
          <a:p>
            <a:pPr lvl="1"/>
            <a:r>
              <a:rPr lang="zh-TW" altLang="zh-TW" b="1" dirty="0"/>
              <a:t>說明：</a:t>
            </a:r>
            <a:r>
              <a:rPr lang="zh-TW" altLang="zh-TW" dirty="0"/>
              <a:t> 將文字轉為高維度向量，用於 Agent 的長期記憶（Long-term Memory）檢索。</a:t>
            </a:r>
          </a:p>
          <a:p>
            <a:r>
              <a:rPr lang="zh-TW" altLang="zh-TW" b="1" dirty="0"/>
              <a:t>Embedding</a:t>
            </a:r>
            <a:r>
              <a:rPr lang="zh-TW" altLang="zh-TW" dirty="0"/>
              <a:t> (Semantic Embedding) —— 語意嵌入</a:t>
            </a:r>
          </a:p>
          <a:p>
            <a:pPr lvl="1"/>
            <a:r>
              <a:rPr lang="zh-TW" altLang="zh-TW" b="1" dirty="0"/>
              <a:t>說明：</a:t>
            </a:r>
            <a:r>
              <a:rPr lang="zh-TW" altLang="zh-TW" dirty="0"/>
              <a:t> 將文字、圖片轉化為數學向量的技術，是 Agent 進行「相似度查找」的底層基礎。</a:t>
            </a:r>
          </a:p>
          <a:p>
            <a:r>
              <a:rPr lang="zh-TW" altLang="zh-TW" b="1" dirty="0"/>
              <a:t>Short-term Memory</a:t>
            </a:r>
            <a:r>
              <a:rPr lang="zh-TW" altLang="zh-TW" dirty="0"/>
              <a:t> (Short-term Memory) —— 短期記憶</a:t>
            </a:r>
          </a:p>
          <a:p>
            <a:pPr lvl="1"/>
            <a:r>
              <a:rPr lang="zh-TW" altLang="zh-TW" b="1" dirty="0"/>
              <a:t>說明：</a:t>
            </a:r>
            <a:r>
              <a:rPr lang="zh-TW" altLang="zh-TW" dirty="0"/>
              <a:t> 當前會話（Session）的對話歷史與中途狀態，隨著 Context 視窗滿載會被丟棄。</a:t>
            </a:r>
          </a:p>
          <a:p>
            <a:r>
              <a:rPr lang="zh-TW" altLang="zh-TW" b="1" dirty="0"/>
              <a:t>Long-term Memory</a:t>
            </a:r>
            <a:r>
              <a:rPr lang="zh-TW" altLang="zh-TW" dirty="0"/>
              <a:t> (Long-term Memory) —— 長期記憶</a:t>
            </a:r>
          </a:p>
          <a:p>
            <a:pPr lvl="1"/>
            <a:r>
              <a:rPr lang="zh-TW" altLang="zh-TW" b="1" dirty="0"/>
              <a:t>說明：</a:t>
            </a:r>
            <a:r>
              <a:rPr lang="zh-TW" altLang="zh-TW" dirty="0"/>
              <a:t> 跨越不同對話、長久保存的用戶偏好、公司規章與過去的成功 SOP。</a:t>
            </a:r>
          </a:p>
          <a:p>
            <a:r>
              <a:rPr lang="zh-TW" altLang="zh-TW" b="1" dirty="0"/>
              <a:t>Context Window</a:t>
            </a:r>
            <a:r>
              <a:rPr lang="zh-TW" altLang="zh-TW" dirty="0"/>
              <a:t> (Context Window) —— 上下文視窗 / 脈絡空間</a:t>
            </a:r>
          </a:p>
          <a:p>
            <a:pPr lvl="1"/>
            <a:r>
              <a:rPr lang="zh-TW" altLang="zh-TW" b="1" dirty="0"/>
              <a:t>說明：</a:t>
            </a:r>
            <a:r>
              <a:rPr lang="zh-TW" altLang="zh-TW" dirty="0"/>
              <a:t> 模型單次運算能讀取的最大 Token 限制（大腦的 RAM 限制）。</a:t>
            </a:r>
          </a:p>
          <a:p>
            <a:r>
              <a:rPr lang="zh-TW" altLang="zh-TW" b="1" dirty="0"/>
              <a:t>Prompt Caching</a:t>
            </a:r>
            <a:r>
              <a:rPr lang="zh-TW" altLang="zh-TW" dirty="0"/>
              <a:t> (Prompt Caching) —— 提示詞快取</a:t>
            </a:r>
          </a:p>
          <a:p>
            <a:pPr lvl="1"/>
            <a:r>
              <a:rPr lang="zh-TW" altLang="zh-TW" b="1" dirty="0"/>
              <a:t>說明：</a:t>
            </a:r>
            <a:r>
              <a:rPr lang="zh-TW" altLang="zh-TW" dirty="0"/>
              <a:t> 將重複的系統提示或長期記憶鎖在伺服器記憶體中，降低 Agent 頻繁刷新的費用與延遲。</a:t>
            </a:r>
          </a:p>
          <a:p>
            <a:r>
              <a:rPr lang="zh-TW" altLang="zh-TW" b="1" dirty="0"/>
              <a:t>Lost in the Middle</a:t>
            </a:r>
            <a:r>
              <a:rPr lang="zh-TW" altLang="zh-TW" dirty="0"/>
              <a:t> (Lost in the Middle Effect) —— 迷失在中央</a:t>
            </a:r>
          </a:p>
          <a:p>
            <a:pPr lvl="1"/>
            <a:r>
              <a:rPr lang="zh-TW" altLang="zh-TW" b="1" dirty="0"/>
              <a:t>說明：</a:t>
            </a:r>
            <a:r>
              <a:rPr lang="zh-TW" altLang="zh-TW" dirty="0"/>
              <a:t> 長文本模型的通病——AI 容易注意到開頭和結尾，卻忽略埋在 Context 正中間的記憶資訊。</a:t>
            </a:r>
          </a:p>
          <a:p>
            <a:r>
              <a:rPr lang="zh-TW" altLang="zh-TW" b="1" dirty="0"/>
              <a:t>四、 工具呼叫與環境執行 (Tools &amp; Action)</a:t>
            </a:r>
          </a:p>
          <a:p>
            <a:r>
              <a:rPr lang="zh-TW" altLang="zh-TW" b="1" dirty="0"/>
              <a:t>Function Calling</a:t>
            </a:r>
            <a:r>
              <a:rPr lang="zh-TW" altLang="zh-TW" dirty="0"/>
              <a:t> (Function Calling / Tool Calling) —— 函數呼叫 / 工具調用</a:t>
            </a:r>
          </a:p>
          <a:p>
            <a:pPr lvl="1"/>
            <a:r>
              <a:rPr lang="zh-TW" altLang="zh-TW" b="1" dirty="0"/>
              <a:t>說明：</a:t>
            </a:r>
            <a:r>
              <a:rPr lang="zh-TW" altLang="zh-TW" dirty="0"/>
              <a:t> 模型識別意圖後，不輸出聊天文字，而是輸出標準結構化 JSON 參數的能力。</a:t>
            </a:r>
          </a:p>
          <a:p>
            <a:r>
              <a:rPr lang="zh-TW" altLang="zh-TW" b="1" dirty="0"/>
              <a:t>MCP</a:t>
            </a:r>
            <a:r>
              <a:rPr lang="zh-TW" altLang="zh-TW" dirty="0"/>
              <a:t> (Model Context Protocol) —— 模型上下文協議</a:t>
            </a:r>
          </a:p>
          <a:p>
            <a:pPr lvl="1"/>
            <a:r>
              <a:rPr lang="zh-TW" altLang="zh-TW" b="1" dirty="0"/>
              <a:t>說明：</a:t>
            </a:r>
            <a:r>
              <a:rPr lang="zh-TW" altLang="zh-TW" dirty="0"/>
              <a:t> Anthropic 倡導的開源標準，充當 AI 的統一 USB 接口，無縫連接各種資料與工具。</a:t>
            </a:r>
          </a:p>
          <a:p>
            <a:r>
              <a:rPr lang="zh-TW" altLang="zh-TW" b="1" dirty="0"/>
              <a:t>REPL</a:t>
            </a:r>
            <a:r>
              <a:rPr lang="zh-TW" altLang="zh-TW" dirty="0"/>
              <a:t> (Read-Eval-Print Loop) —— 互動式程式碼解譯器</a:t>
            </a:r>
          </a:p>
          <a:p>
            <a:pPr lvl="1"/>
            <a:r>
              <a:rPr lang="zh-TW" altLang="zh-TW" b="1" dirty="0"/>
              <a:t>說明：</a:t>
            </a:r>
            <a:r>
              <a:rPr lang="zh-TW" altLang="zh-TW" dirty="0"/>
              <a:t> Agent 自我撰寫 Python/JS 代碼後，直接在系統中執行、看結果並 debug 的工具。</a:t>
            </a:r>
          </a:p>
          <a:p>
            <a:r>
              <a:rPr lang="zh-TW" altLang="zh-TW" b="1" dirty="0"/>
              <a:t>Sandbox</a:t>
            </a:r>
            <a:r>
              <a:rPr lang="zh-TW" altLang="zh-TW" dirty="0"/>
              <a:t> (Secure Sandbox) —— 安全沙盒</a:t>
            </a:r>
          </a:p>
          <a:p>
            <a:pPr lvl="1"/>
            <a:r>
              <a:rPr lang="zh-TW" altLang="zh-TW" b="1" dirty="0"/>
              <a:t>說明：</a:t>
            </a:r>
            <a:r>
              <a:rPr lang="zh-TW" altLang="zh-TW" dirty="0"/>
              <a:t> 與核心系統物理隔離的虛擬環境（如 E2B），防止 Agent 執行的程式碼帶有病毒或寫入敏感檔案。</a:t>
            </a:r>
          </a:p>
          <a:p>
            <a:r>
              <a:rPr lang="zh-TW" altLang="zh-TW" b="1" dirty="0"/>
              <a:t>RPA</a:t>
            </a:r>
            <a:r>
              <a:rPr lang="zh-TW" altLang="zh-TW" dirty="0"/>
              <a:t> (Robotic Process Automation) —— 機器人流程自動化</a:t>
            </a:r>
          </a:p>
          <a:p>
            <a:pPr lvl="1"/>
            <a:r>
              <a:rPr lang="zh-TW" altLang="zh-TW" b="1" dirty="0"/>
              <a:t>說明：</a:t>
            </a:r>
            <a:r>
              <a:rPr lang="zh-TW" altLang="zh-TW" dirty="0"/>
              <a:t> 傳統寫死路徑的自動化腳本，現常作為 Agent 操作網頁、滑鼠與鍵盤的「手腳」。</a:t>
            </a:r>
          </a:p>
          <a:p>
            <a:r>
              <a:rPr lang="zh-TW" altLang="zh-TW" b="1" dirty="0"/>
              <a:t>BaaS</a:t>
            </a:r>
            <a:r>
              <a:rPr lang="zh-TW" altLang="zh-TW" dirty="0"/>
              <a:t> (Browser as a Service) —— 瀏覽器即服務</a:t>
            </a:r>
          </a:p>
          <a:p>
            <a:pPr lvl="1"/>
            <a:r>
              <a:rPr lang="zh-TW" altLang="zh-TW" b="1" dirty="0"/>
              <a:t>說明：</a:t>
            </a:r>
            <a:r>
              <a:rPr lang="zh-TW" altLang="zh-TW" dirty="0"/>
              <a:t> 雲端群控的無頭瀏覽器技術（如 Browserbase），提供 Agent 防封鎖、過驗證碼的上網環境。</a:t>
            </a:r>
          </a:p>
          <a:p>
            <a:r>
              <a:rPr lang="zh-TW" altLang="zh-TW" b="1" dirty="0"/>
              <a:t>Grounding</a:t>
            </a:r>
            <a:r>
              <a:rPr lang="zh-TW" altLang="zh-TW" dirty="0"/>
              <a:t> (UI Grounding / Semantic Grounding) —— 介面定位 / 語意落地</a:t>
            </a:r>
          </a:p>
          <a:p>
            <a:pPr lvl="1"/>
            <a:r>
              <a:rPr lang="zh-TW" altLang="zh-TW" b="1" dirty="0"/>
              <a:t>說明：</a:t>
            </a:r>
            <a:r>
              <a:rPr lang="zh-TW" altLang="zh-TW" dirty="0"/>
              <a:t> 多模態 Agent 將大腦理解的按鈕（如「購物車」），精確對齊到網頁上真實座標（X, Y）的技術。</a:t>
            </a:r>
          </a:p>
          <a:p>
            <a:r>
              <a:rPr lang="zh-TW" altLang="zh-TW" b="1" dirty="0"/>
              <a:t>Computer Use</a:t>
            </a:r>
            <a:r>
              <a:rPr lang="zh-TW" altLang="zh-TW" dirty="0"/>
              <a:t> (Computer Use API) —— 電腦操作 API</a:t>
            </a:r>
          </a:p>
          <a:p>
            <a:pPr lvl="1"/>
            <a:r>
              <a:rPr lang="zh-TW" altLang="zh-TW" b="1" dirty="0"/>
              <a:t>說明：</a:t>
            </a:r>
            <a:r>
              <a:rPr lang="zh-TW" altLang="zh-TW" dirty="0"/>
              <a:t> AI 直接看著作業系統的截圖，主動移動滑鼠、點擊與輸入，像真人一樣操作整台電腦。</a:t>
            </a:r>
          </a:p>
          <a:p>
            <a:r>
              <a:rPr lang="zh-TW" altLang="zh-TW" b="1" dirty="0"/>
              <a:t>五、 多代理協同與生態層 (Multi-Agent &amp; Ecosystem)</a:t>
            </a:r>
          </a:p>
          <a:p>
            <a:r>
              <a:rPr lang="zh-TW" altLang="zh-TW" b="1" dirty="0"/>
              <a:t>MAS</a:t>
            </a:r>
            <a:r>
              <a:rPr lang="zh-TW" altLang="zh-TW" dirty="0"/>
              <a:t> (Multi-Agent System) —— 多代理人系統</a:t>
            </a:r>
          </a:p>
          <a:p>
            <a:pPr lvl="1"/>
            <a:r>
              <a:rPr lang="zh-TW" altLang="zh-TW" b="1" dirty="0"/>
              <a:t>說明：</a:t>
            </a:r>
            <a:r>
              <a:rPr lang="zh-TW" altLang="zh-TW" dirty="0"/>
              <a:t> 由多個專職、不同分工的 Agent（如：經理、工程師、測試員）共同協同完成複雜任務的系統。</a:t>
            </a:r>
          </a:p>
          <a:p>
            <a:r>
              <a:rPr lang="zh-TW" altLang="zh-TW" b="1" dirty="0"/>
              <a:t>Orchestrator</a:t>
            </a:r>
            <a:r>
              <a:rPr lang="zh-TW" altLang="zh-TW" dirty="0"/>
              <a:t> (Orchestrator Pattern) —— 編排器模式</a:t>
            </a:r>
          </a:p>
          <a:p>
            <a:pPr lvl="1"/>
            <a:r>
              <a:rPr lang="zh-TW" altLang="zh-TW" b="1" dirty="0"/>
              <a:t>說明：</a:t>
            </a:r>
            <a:r>
              <a:rPr lang="zh-TW" altLang="zh-TW" dirty="0"/>
              <a:t> 由一個核心的主 Agent 負責統籌、分派任務給多個底層的子 Agent（Workers）。</a:t>
            </a:r>
          </a:p>
          <a:p>
            <a:r>
              <a:rPr lang="zh-TW" altLang="zh-TW" b="1" dirty="0"/>
              <a:t>Choreography</a:t>
            </a:r>
            <a:r>
              <a:rPr lang="zh-TW" altLang="zh-TW" dirty="0"/>
              <a:t> (Choreography Pattern) —— 編排舞蹈模式</a:t>
            </a:r>
          </a:p>
          <a:p>
            <a:pPr lvl="1"/>
            <a:r>
              <a:rPr lang="zh-TW" altLang="zh-TW" b="1" dirty="0"/>
              <a:t>說明：</a:t>
            </a:r>
            <a:r>
              <a:rPr lang="zh-TW" altLang="zh-TW" dirty="0"/>
              <a:t> Agent 之間沒有絕對的主導者，而是各自遵循 SOP 協議，自發性地互相傳遞接棒工作。</a:t>
            </a:r>
          </a:p>
          <a:p>
            <a:r>
              <a:rPr lang="zh-TW" altLang="zh-TW" b="1" dirty="0"/>
              <a:t>Router</a:t>
            </a:r>
            <a:r>
              <a:rPr lang="zh-TW" altLang="zh-TW" dirty="0"/>
              <a:t> (Agentic Router) —— 智慧型路由</a:t>
            </a:r>
          </a:p>
          <a:p>
            <a:pPr lvl="1"/>
            <a:r>
              <a:rPr lang="zh-TW" altLang="zh-TW" b="1" dirty="0"/>
              <a:t>說明：</a:t>
            </a:r>
            <a:r>
              <a:rPr lang="zh-TW" altLang="zh-TW" dirty="0"/>
              <a:t> 大腦根據用戶的輸入輸入，自動將任務導向最適合處理該問題的專用 Agent 或工具。</a:t>
            </a:r>
          </a:p>
          <a:p>
            <a:r>
              <a:rPr lang="zh-TW" altLang="zh-TW" b="1" dirty="0"/>
              <a:t>SOP</a:t>
            </a:r>
            <a:r>
              <a:rPr lang="zh-TW" altLang="zh-TW" dirty="0"/>
              <a:t> (Standard Operating Procedure) —— 標準作業程序</a:t>
            </a:r>
          </a:p>
          <a:p>
            <a:pPr lvl="1"/>
            <a:r>
              <a:rPr lang="zh-TW" altLang="zh-TW" b="1" dirty="0"/>
              <a:t>說明：</a:t>
            </a:r>
            <a:r>
              <a:rPr lang="zh-TW" altLang="zh-TW" dirty="0"/>
              <a:t> 寫在 Agent 框架中、硬性限制 Agents 之間溝通與執行順序的商務邏輯規則。</a:t>
            </a:r>
          </a:p>
          <a:p>
            <a:r>
              <a:rPr lang="zh-TW" altLang="zh-TW" b="1" dirty="0"/>
              <a:t>Swarm</a:t>
            </a:r>
            <a:r>
              <a:rPr lang="zh-TW" altLang="zh-TW" dirty="0"/>
              <a:t> (Swarm Intelligence) —— 群體智能</a:t>
            </a:r>
          </a:p>
          <a:p>
            <a:pPr lvl="1"/>
            <a:r>
              <a:rPr lang="zh-TW" altLang="zh-TW" b="1" dirty="0"/>
              <a:t>說明：</a:t>
            </a:r>
            <a:r>
              <a:rPr lang="zh-TW" altLang="zh-TW" dirty="0"/>
              <a:t> 大量微型、輕量化的 Agent 透過簡單的群體溝通協議，集體湧現出解決龐大問題的能力。</a:t>
            </a:r>
          </a:p>
          <a:p>
            <a:r>
              <a:rPr lang="zh-TW" altLang="zh-TW" b="1" dirty="0"/>
              <a:t>六、 資安、評估與對齊層 (Safety, Evaluation &amp; Alignment)</a:t>
            </a:r>
          </a:p>
          <a:p>
            <a:r>
              <a:rPr lang="zh-TW" altLang="zh-TW" b="1" dirty="0"/>
              <a:t>Guardrails</a:t>
            </a:r>
            <a:r>
              <a:rPr lang="zh-TW" altLang="zh-TW" dirty="0"/>
              <a:t> (LLM Guardrails) —— 護欄機制</a:t>
            </a:r>
          </a:p>
          <a:p>
            <a:pPr lvl="1"/>
            <a:r>
              <a:rPr lang="zh-TW" altLang="zh-TW" b="1" dirty="0"/>
              <a:t>說明：</a:t>
            </a:r>
            <a:r>
              <a:rPr lang="zh-TW" altLang="zh-TW" dirty="0"/>
              <a:t> 在 Agent 的輸入端與輸出端架設的安全過濾網（如 Llama Guard），硬性攔截不合規言論。</a:t>
            </a:r>
          </a:p>
          <a:p>
            <a:r>
              <a:rPr lang="zh-TW" altLang="zh-TW" b="1" dirty="0"/>
              <a:t>Prompt Injection</a:t>
            </a:r>
            <a:r>
              <a:rPr lang="zh-TW" altLang="zh-TW" dirty="0"/>
              <a:t> (Prompt Injection Attack) —— 提示詞注入攻擊</a:t>
            </a:r>
          </a:p>
          <a:p>
            <a:pPr lvl="1"/>
            <a:r>
              <a:rPr lang="zh-TW" altLang="zh-TW" b="1" dirty="0"/>
              <a:t>說明：</a:t>
            </a:r>
            <a:r>
              <a:rPr lang="zh-TW" altLang="zh-TW" dirty="0"/>
              <a:t> 黑客透過惡意文字欺騙 Agent 大腦，使其忽視原本的 System Prompt 規範，進而執行越權操作。</a:t>
            </a:r>
          </a:p>
          <a:p>
            <a:r>
              <a:rPr lang="zh-TW" altLang="zh-TW" b="1" dirty="0"/>
              <a:t>Jailbreaking</a:t>
            </a:r>
            <a:r>
              <a:rPr lang="zh-TW" altLang="zh-TW" dirty="0"/>
              <a:t> (Jailbreaking) —— 越獄</a:t>
            </a:r>
          </a:p>
          <a:p>
            <a:pPr lvl="1"/>
            <a:r>
              <a:rPr lang="zh-TW" altLang="zh-TW" b="1" dirty="0"/>
              <a:t>說明：</a:t>
            </a:r>
            <a:r>
              <a:rPr lang="zh-TW" altLang="zh-TW" dirty="0"/>
              <a:t> 利用特定話術或繞過技巧，解開模型原本內建的安全道德限制，使其產出有害或不合規的內容。</a:t>
            </a:r>
          </a:p>
          <a:p>
            <a:r>
              <a:rPr lang="zh-TW" altLang="zh-TW" b="1" dirty="0"/>
              <a:t>Alignment</a:t>
            </a:r>
            <a:r>
              <a:rPr lang="zh-TW" altLang="zh-TW" dirty="0"/>
              <a:t> (AI Alignment) —— 人工智慧對齊</a:t>
            </a:r>
          </a:p>
          <a:p>
            <a:pPr lvl="1"/>
            <a:r>
              <a:rPr lang="zh-TW" altLang="zh-TW" b="1" dirty="0"/>
              <a:t>說明：</a:t>
            </a:r>
            <a:r>
              <a:rPr lang="zh-TW" altLang="zh-TW" dirty="0"/>
              <a:t> 確保 Agent 的價值觀、決策意圖、行為結果，完全符合人類的利益、道德與安全規範。</a:t>
            </a:r>
          </a:p>
          <a:p>
            <a:r>
              <a:rPr lang="zh-TW" altLang="zh-TW" b="1" dirty="0"/>
              <a:t>Alignment Tax</a:t>
            </a:r>
            <a:r>
              <a:rPr lang="zh-TW" altLang="zh-TW" dirty="0"/>
              <a:t> (Alignment Tax) —— 對齊稅</a:t>
            </a:r>
          </a:p>
          <a:p>
            <a:pPr lvl="1"/>
            <a:r>
              <a:rPr lang="zh-TW" altLang="zh-TW" b="1" dirty="0"/>
              <a:t>說明：</a:t>
            </a:r>
            <a:r>
              <a:rPr lang="zh-TW" altLang="zh-TW" dirty="0"/>
              <a:t> 為了讓 AI 更安全、更聽話而進行的安全對齊微調，往往會導致模型失去部分原始推理能力或創造力的代價。</a:t>
            </a:r>
          </a:p>
          <a:p>
            <a:r>
              <a:rPr lang="zh-TW" altLang="zh-TW" b="1" dirty="0"/>
              <a:t>SWE-bench</a:t>
            </a:r>
            <a:r>
              <a:rPr lang="zh-TW" altLang="zh-TW" dirty="0"/>
              <a:t> (Software Engineering Benchmark) —— 軟體工程基準測試</a:t>
            </a:r>
          </a:p>
          <a:p>
            <a:pPr lvl="1"/>
            <a:r>
              <a:rPr lang="zh-TW" altLang="zh-TW" b="1" dirty="0"/>
              <a:t>說明：</a:t>
            </a:r>
            <a:r>
              <a:rPr lang="zh-TW" altLang="zh-TW" dirty="0"/>
              <a:t> 目前業界評估「代碼研發 Agent（如 Devin）」自主解決真實 GitHub Issue 能力的權威標準。</a:t>
            </a:r>
          </a:p>
          <a:p>
            <a:r>
              <a:rPr lang="zh-TW" altLang="zh-TW" b="1" dirty="0"/>
              <a:t>GAIA</a:t>
            </a:r>
            <a:r>
              <a:rPr lang="zh-TW" altLang="zh-TW" dirty="0"/>
              <a:t> (General AI Assistants Benchmark) —— 通用 AI 助手基準測試</a:t>
            </a:r>
          </a:p>
          <a:p>
            <a:pPr lvl="1"/>
            <a:r>
              <a:rPr lang="zh-TW" altLang="zh-TW" b="1" dirty="0"/>
              <a:t>說明：</a:t>
            </a:r>
            <a:r>
              <a:rPr lang="zh-TW" altLang="zh-TW" dirty="0"/>
              <a:t> 用來評估 Agent 在面對需要跨工具、多模態、長程規劃等複雜現實任務時的綜合得分。</a:t>
            </a:r>
          </a:p>
        </p:txBody>
      </p:sp>
      <p:sp>
        <p:nvSpPr>
          <p:cNvPr id="4" name="投影片編號版面配置區 3"/>
          <p:cNvSpPr>
            <a:spLocks noGrp="1"/>
          </p:cNvSpPr>
          <p:nvPr>
            <p:ph type="sldNum" sz="quarter" idx="5"/>
          </p:nvPr>
        </p:nvSpPr>
        <p:spPr/>
        <p:txBody>
          <a:bodyPr/>
          <a:lstStyle/>
          <a:p>
            <a:fld id="{1FAE597D-D1E7-4522-AA27-1BB111861251}" type="slidenum">
              <a:rPr lang="zh-TW" altLang="en-US" smtClean="0"/>
              <a:t>47</a:t>
            </a:fld>
            <a:endParaRPr lang="zh-TW" altLang="en-US"/>
          </a:p>
        </p:txBody>
      </p:sp>
    </p:spTree>
    <p:extLst>
      <p:ext uri="{BB962C8B-B14F-4D97-AF65-F5344CB8AC3E}">
        <p14:creationId xmlns:p14="http://schemas.microsoft.com/office/powerpoint/2010/main" val="13158739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分詞器組件（</a:t>
            </a:r>
            <a:r>
              <a:rPr lang="en-US" altLang="zh-TW" dirty="0"/>
              <a:t>Tokenizer Files</a:t>
            </a:r>
            <a:r>
              <a:rPr lang="zh-TW" altLang="en-US" dirty="0"/>
              <a:t>）：</a:t>
            </a:r>
            <a:endParaRPr lang="en-US" altLang="zh-TW" dirty="0"/>
          </a:p>
          <a:p>
            <a:pPr marL="342900" indent="-342900">
              <a:buAutoNum type="arabicPeriod"/>
            </a:pPr>
            <a:r>
              <a:rPr lang="en-US" altLang="zh-TW" dirty="0"/>
              <a:t>tokenizer_config.json</a:t>
            </a:r>
            <a:r>
              <a:rPr lang="zh-TW" altLang="en-US" dirty="0"/>
              <a:t>：記錄分詞器的控制面板參數與 </a:t>
            </a:r>
            <a:r>
              <a:rPr lang="en-US" altLang="zh-TW" dirty="0"/>
              <a:t>Jinja </a:t>
            </a:r>
            <a:r>
              <a:rPr lang="zh-TW" altLang="en-US" dirty="0"/>
              <a:t>對話模板，用來決定文字如何套用原廠角色格式。</a:t>
            </a:r>
            <a:endParaRPr lang="en-US" altLang="zh-TW" dirty="0"/>
          </a:p>
          <a:p>
            <a:pPr marL="342900" indent="-342900">
              <a:buAutoNum type="arabicPeriod"/>
            </a:pPr>
            <a:r>
              <a:rPr lang="en-US" altLang="zh-TW" dirty="0"/>
              <a:t>vocab.json</a:t>
            </a:r>
            <a:r>
              <a:rPr lang="zh-TW" altLang="en-US" dirty="0"/>
              <a:t>：字詞與數位識別代號（</a:t>
            </a:r>
            <a:r>
              <a:rPr lang="en-US" altLang="zh-TW" dirty="0"/>
              <a:t>ID</a:t>
            </a:r>
            <a:r>
              <a:rPr lang="zh-TW" altLang="en-US" dirty="0"/>
              <a:t>）的對照字典，負責將切碎的字母字串翻譯成模型認得的密碼。</a:t>
            </a:r>
            <a:endParaRPr lang="en-US" altLang="zh-TW" dirty="0"/>
          </a:p>
          <a:p>
            <a:pPr marL="342900" indent="-342900">
              <a:buAutoNum type="arabicPeriod"/>
            </a:pPr>
            <a:r>
              <a:rPr lang="en-US" altLang="zh-TW" dirty="0"/>
              <a:t>merges.txt</a:t>
            </a:r>
            <a:r>
              <a:rPr lang="zh-TW" altLang="en-US" dirty="0"/>
              <a:t>：記錄 </a:t>
            </a:r>
            <a:r>
              <a:rPr lang="en-US" altLang="zh-TW" dirty="0"/>
              <a:t>BPE </a:t>
            </a:r>
            <a:r>
              <a:rPr lang="zh-TW" altLang="en-US" dirty="0"/>
              <a:t>演算法的字詞合併規則表，引導分詞器如何有邏輯地將基礎字元組合成高階詞彙。</a:t>
            </a:r>
            <a:endParaRPr lang="en-US" altLang="zh-TW" dirty="0"/>
          </a:p>
          <a:p>
            <a:pPr marL="342900" indent="-342900">
              <a:buAutoNum type="arabicPeriod"/>
            </a:pPr>
            <a:r>
              <a:rPr lang="en-US" altLang="zh-TW" dirty="0"/>
              <a:t>tokenizer.json</a:t>
            </a:r>
            <a:r>
              <a:rPr lang="zh-TW" altLang="en-US" dirty="0"/>
              <a:t>：現代內建 </a:t>
            </a:r>
            <a:r>
              <a:rPr lang="en-US" altLang="zh-TW" dirty="0"/>
              <a:t>Rust </a:t>
            </a:r>
            <a:r>
              <a:rPr lang="zh-TW" altLang="en-US" dirty="0"/>
              <a:t>高速核心的完全體分詞本體，將上述所有分詞與合併規則打包以達成高效編碼。</a:t>
            </a:r>
            <a:endParaRPr lang="en-US" altLang="zh-TW" dirty="0"/>
          </a:p>
          <a:p>
            <a:pPr marL="342900" indent="-342900">
              <a:buAutoNum type="arabicPeriod"/>
            </a:pPr>
            <a:r>
              <a:rPr lang="en-US" altLang="zh-TW" dirty="0"/>
              <a:t> special_tokens_map.json</a:t>
            </a:r>
            <a:r>
              <a:rPr lang="zh-TW" altLang="en-US" dirty="0"/>
              <a:t>：特殊符號對照表，用來定義與強制規範哪些數位代號代表文章開頭、結束或填補空白。</a:t>
            </a:r>
            <a:endParaRPr lang="en-US" altLang="zh-TW" dirty="0"/>
          </a:p>
          <a:p>
            <a:r>
              <a:rPr lang="zh-TW" altLang="en-US" dirty="0"/>
              <a:t>模型大腦組件（</a:t>
            </a:r>
            <a:r>
              <a:rPr lang="en-US" altLang="zh-TW" dirty="0"/>
              <a:t>Model Files</a:t>
            </a:r>
            <a:r>
              <a:rPr lang="zh-TW" altLang="en-US" dirty="0"/>
              <a:t>）：</a:t>
            </a:r>
            <a:endParaRPr lang="en-US" altLang="zh-TW" dirty="0"/>
          </a:p>
          <a:p>
            <a:pPr marL="342900" indent="-342900">
              <a:buAutoNum type="arabicPeriod"/>
            </a:pPr>
            <a:r>
              <a:rPr lang="en-US" altLang="zh-TW" dirty="0"/>
              <a:t> config.json</a:t>
            </a:r>
            <a:r>
              <a:rPr lang="zh-TW" altLang="en-US" dirty="0"/>
              <a:t>：大模型的神經網路結構藍圖，用來指引系統記憶體在開機時精準搭建出大腦的幾何骨架。</a:t>
            </a:r>
            <a:endParaRPr lang="en-US" altLang="zh-TW" dirty="0"/>
          </a:p>
          <a:p>
            <a:pPr marL="342900" indent="-342900">
              <a:buAutoNum type="arabicPeriod"/>
            </a:pPr>
            <a:r>
              <a:rPr lang="en-US" altLang="zh-TW" dirty="0"/>
              <a:t> model.safetensors</a:t>
            </a:r>
            <a:r>
              <a:rPr lang="zh-TW" altLang="en-US" dirty="0"/>
              <a:t>：大模型的實體大腦數字權重矩陣，負責在微調時被寫入與修改，永久保存所有的私有知識記憶。</a:t>
            </a:r>
            <a:endParaRPr lang="en-US" altLang="zh-TW" dirty="0"/>
          </a:p>
          <a:p>
            <a:pPr marL="342900" indent="-342900">
              <a:buAutoNum type="arabicPeriod"/>
            </a:pPr>
            <a:r>
              <a:rPr lang="en-US" altLang="zh-TW" dirty="0"/>
              <a:t> generation_config.json</a:t>
            </a:r>
            <a:r>
              <a:rPr lang="zh-TW" altLang="en-US" dirty="0"/>
              <a:t>：文本生成控制台，用來決定模型在正式上線聊天接龍時的預設隨機度與說話語氣。</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FAE597D-D1E7-4522-AA27-1BB111861251}" type="slidenum">
              <a:rPr lang="zh-TW" altLang="en-US" smtClean="0"/>
              <a:t>48</a:t>
            </a:fld>
            <a:endParaRPr lang="zh-TW" altLang="en-US"/>
          </a:p>
        </p:txBody>
      </p:sp>
    </p:spTree>
    <p:extLst>
      <p:ext uri="{BB962C8B-B14F-4D97-AF65-F5344CB8AC3E}">
        <p14:creationId xmlns:p14="http://schemas.microsoft.com/office/powerpoint/2010/main" val="3051069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8709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AF25E997-4179-402B-B045-C290473E86F3}" type="datetimeFigureOut">
              <a:rPr lang="zh-TW" altLang="en-US" smtClean="0"/>
              <a:t>2026/9/7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204A4CC-0142-4D0E-B207-47A74A717BFD}" type="slidenum">
              <a:rPr lang="zh-TW" altLang="en-US" smtClean="0"/>
              <a:t>‹#›</a:t>
            </a:fld>
            <a:endParaRPr lang="zh-TW" altLang="en-US"/>
          </a:p>
        </p:txBody>
      </p:sp>
    </p:spTree>
    <p:extLst>
      <p:ext uri="{BB962C8B-B14F-4D97-AF65-F5344CB8AC3E}">
        <p14:creationId xmlns:p14="http://schemas.microsoft.com/office/powerpoint/2010/main" val="1366228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210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EB8F32-D6CA-1096-5F7F-634DD383125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4FB77DC-1F1A-EDE3-202F-AD35BA11132A}"/>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BAA7D4-40C2-30FA-EF1C-009BF097844D}"/>
              </a:ext>
            </a:extLst>
          </p:cNvPr>
          <p:cNvSpPr>
            <a:spLocks noGrp="1"/>
          </p:cNvSpPr>
          <p:nvPr>
            <p:ph type="dt" sz="half" idx="10"/>
          </p:nvPr>
        </p:nvSpPr>
        <p:spPr/>
        <p:txBody>
          <a:bodyPr/>
          <a:lstStyle/>
          <a:p>
            <a:fld id="{19D5AE9D-E316-4C75-862D-9EBD6D1B334B}" type="datetimeFigureOut">
              <a:rPr lang="zh-TW" altLang="en-US" smtClean="0"/>
              <a:t>2026/9/7</a:t>
            </a:fld>
            <a:endParaRPr lang="zh-TW" altLang="en-US"/>
          </a:p>
        </p:txBody>
      </p:sp>
      <p:sp>
        <p:nvSpPr>
          <p:cNvPr id="5" name="頁尾版面配置區 4">
            <a:extLst>
              <a:ext uri="{FF2B5EF4-FFF2-40B4-BE49-F238E27FC236}">
                <a16:creationId xmlns:a16="http://schemas.microsoft.com/office/drawing/2014/main" id="{C79E40CA-DAB8-F94E-65BD-7E947BD0760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E982315-D0D5-22A2-3A7C-183FFB19C770}"/>
              </a:ext>
            </a:extLst>
          </p:cNvPr>
          <p:cNvSpPr>
            <a:spLocks noGrp="1"/>
          </p:cNvSpPr>
          <p:nvPr>
            <p:ph type="sldNum" sz="quarter" idx="12"/>
          </p:nvPr>
        </p:nvSpPr>
        <p:spPr/>
        <p:txBody>
          <a:bodyPr/>
          <a:lstStyle/>
          <a:p>
            <a:fld id="{59C4967A-F914-4D6D-AEDD-D79048CFF0C0}" type="slidenum">
              <a:rPr lang="zh-TW" altLang="en-US" smtClean="0"/>
              <a:t>‹#›</a:t>
            </a:fld>
            <a:endParaRPr lang="zh-TW" altLang="en-US"/>
          </a:p>
        </p:txBody>
      </p:sp>
    </p:spTree>
    <p:extLst>
      <p:ext uri="{BB962C8B-B14F-4D97-AF65-F5344CB8AC3E}">
        <p14:creationId xmlns:p14="http://schemas.microsoft.com/office/powerpoint/2010/main" val="22742051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頁尾版面配置區 4">
            <a:extLst>
              <a:ext uri="{FF2B5EF4-FFF2-40B4-BE49-F238E27FC236}">
                <a16:creationId xmlns:a16="http://schemas.microsoft.com/office/drawing/2014/main" id="{F852660B-5776-4457-897C-22F48580809B}"/>
              </a:ext>
            </a:extLst>
          </p:cNvPr>
          <p:cNvSpPr txBox="1">
            <a:spLocks/>
          </p:cNvSpPr>
          <p:nvPr userDrawn="1"/>
        </p:nvSpPr>
        <p:spPr>
          <a:xfrm>
            <a:off x="0" y="6628025"/>
            <a:ext cx="9144000" cy="235219"/>
          </a:xfrm>
          <a:prstGeom prst="rect">
            <a:avLst/>
          </a:prstGeom>
          <a:solidFill>
            <a:schemeClr val="accent3">
              <a:lumMod val="20000"/>
              <a:lumOff val="80000"/>
            </a:schemeClr>
          </a:solidFill>
        </p:spPr>
        <p:txBody>
          <a:bodyPr vert="horz" lIns="91440" tIns="45720" rIns="91440" bIns="45720" rtlCol="0" anchor="ctr"/>
          <a:lstStyle>
            <a:defPPr>
              <a:defRPr lang="zh-TW"/>
            </a:defPPr>
            <a:lvl1pPr marL="0" algn="ct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Tree>
  </p:cSld>
  <p:clrMap bg1="lt1" tx1="dk1" bg2="lt2" tx2="dk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hf hdr="0"/>
  <p:txStyles>
    <p:titleStyle>
      <a:lvl1pPr algn="l" defTabSz="914400" rtl="0" eaLnBrk="1" latinLnBrk="0" hangingPunct="1">
        <a:spcBef>
          <a:spcPct val="0"/>
        </a:spcBef>
        <a:buNone/>
        <a:defRPr sz="2400" kern="1200">
          <a:solidFill>
            <a:schemeClr val="tx1"/>
          </a:solidFill>
          <a:latin typeface="+mj-lt"/>
          <a:ea typeface="+mj-ea"/>
          <a:cs typeface="+mj-cs"/>
        </a:defRPr>
      </a:lvl1pPr>
    </p:titleStyle>
    <p:bodyStyle>
      <a:lvl1pPr marL="36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1pPr>
      <a:lvl2pPr marL="72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2pPr>
      <a:lvl3pPr marL="108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3pPr>
      <a:lvl4pPr marL="144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4pPr>
      <a:lvl5pPr marL="180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0.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9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62.png"/></Relationships>
</file>

<file path=ppt/slides/_rels/slide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7.png"/><Relationship Id="rId3" Type="http://schemas.openxmlformats.org/officeDocument/2006/relationships/image" Target="../media/image281.png"/><Relationship Id="rId21" Type="http://schemas.openxmlformats.org/officeDocument/2006/relationships/image" Target="../media/image29.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6.png"/><Relationship Id="rId2" Type="http://schemas.openxmlformats.org/officeDocument/2006/relationships/notesSlide" Target="../notesSlides/notesSlide10.xml"/><Relationship Id="rId16" Type="http://schemas.openxmlformats.org/officeDocument/2006/relationships/image" Target="../media/image35.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90.png"/><Relationship Id="rId11" Type="http://schemas.openxmlformats.org/officeDocument/2006/relationships/image" Target="../media/image24.png"/><Relationship Id="rId5" Type="http://schemas.openxmlformats.org/officeDocument/2006/relationships/image" Target="../media/image180.png"/><Relationship Id="rId15" Type="http://schemas.openxmlformats.org/officeDocument/2006/relationships/image" Target="../media/image34.png"/><Relationship Id="rId10" Type="http://schemas.openxmlformats.org/officeDocument/2006/relationships/image" Target="../media/image23.png"/><Relationship Id="rId19" Type="http://schemas.openxmlformats.org/officeDocument/2006/relationships/image" Target="../media/image38.png"/><Relationship Id="rId4" Type="http://schemas.openxmlformats.org/officeDocument/2006/relationships/image" Target="../media/image170.png"/><Relationship Id="rId9" Type="http://schemas.openxmlformats.org/officeDocument/2006/relationships/image" Target="../media/image22.png"/><Relationship Id="rId1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0.png"/><Relationship Id="rId7"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image" Target="../media/image48.svg"/><Relationship Id="rId7"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svg"/><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svg"/><Relationship Id="rId7" Type="http://schemas.openxmlformats.org/officeDocument/2006/relationships/image" Target="../media/image62.sv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61.sv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59.svg"/><Relationship Id="rId9" Type="http://schemas.openxmlformats.org/officeDocument/2006/relationships/image" Target="../media/image64.svg"/></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59.sv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67.svg"/><Relationship Id="rId5" Type="http://schemas.openxmlformats.org/officeDocument/2006/relationships/image" Target="../media/image66.svg"/><Relationship Id="rId4" Type="http://schemas.openxmlformats.org/officeDocument/2006/relationships/image" Target="../media/image61.svg"/></Relationships>
</file>

<file path=ppt/slides/_rels/slide2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69.svg"/></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71.png"/><Relationship Id="rId1" Type="http://schemas.openxmlformats.org/officeDocument/2006/relationships/slideLayout" Target="../slideLayouts/slideLayout3.xml"/><Relationship Id="rId4" Type="http://schemas.openxmlformats.org/officeDocument/2006/relationships/image" Target="../media/image72.jpeg"/></Relationships>
</file>

<file path=ppt/slides/_rels/slide29.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jpeg"/></Relationships>
</file>

<file path=ppt/slides/_rels/slide30.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9.svg"/></Relationships>
</file>

<file path=ppt/slides/_rels/slide31.xml.rels><?xml version="1.0" encoding="UTF-8" standalone="yes"?>
<Relationships xmlns="http://schemas.openxmlformats.org/package/2006/relationships"><Relationship Id="rId3" Type="http://schemas.openxmlformats.org/officeDocument/2006/relationships/image" Target="../media/image80.svg"/><Relationship Id="rId7" Type="http://schemas.openxmlformats.org/officeDocument/2006/relationships/image" Target="../media/image84.sv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83.svg"/><Relationship Id="rId5" Type="http://schemas.openxmlformats.org/officeDocument/2006/relationships/image" Target="../media/image82.svg"/><Relationship Id="rId4" Type="http://schemas.openxmlformats.org/officeDocument/2006/relationships/image" Target="../media/image81.sv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86.png"/></Relationships>
</file>

<file path=ppt/slides/_rels/slide33.xml.rels><?xml version="1.0" encoding="UTF-8" standalone="yes"?>
<Relationships xmlns="http://schemas.openxmlformats.org/package/2006/relationships"><Relationship Id="rId3" Type="http://schemas.openxmlformats.org/officeDocument/2006/relationships/hyperlink" Target="https://x.com/googlegemma/status/2051694045869879749" TargetMode="External"/><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89.png"/><Relationship Id="rId4" Type="http://schemas.openxmlformats.org/officeDocument/2006/relationships/hyperlink" Target="https://deepswe.datacurve.ai/"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arena.ai/leaderboard/agent/pareto"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92.png"/><Relationship Id="rId4" Type="http://schemas.openxmlformats.org/officeDocument/2006/relationships/image" Target="../media/image91.png"/></Relationships>
</file>

<file path=ppt/slides/_rels/slide4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hyperlink" Target="https://arena.ai/leaderboard/text/pareto" TargetMode="External"/></Relationships>
</file>

<file path=ppt/slides/_rels/slide42.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1.png"/><Relationship Id="rId7" Type="http://schemas.openxmlformats.org/officeDocument/2006/relationships/image" Target="../media/image11.png"/><Relationship Id="rId12" Type="http://schemas.openxmlformats.org/officeDocument/2006/relationships/image" Target="../media/image100.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9.png"/><Relationship Id="rId5" Type="http://schemas.openxmlformats.org/officeDocument/2006/relationships/image" Target="../media/image3.png"/><Relationship Id="rId10" Type="http://schemas.openxmlformats.org/officeDocument/2006/relationships/image" Target="../media/image98.png"/><Relationship Id="rId4" Type="http://schemas.openxmlformats.org/officeDocument/2006/relationships/image" Target="../media/image2.png"/><Relationship Id="rId9" Type="http://schemas.openxmlformats.org/officeDocument/2006/relationships/image" Target="../media/image97.png"/></Relationships>
</file>

<file path=ppt/slides/_rels/slide43.xml.rels><?xml version="1.0" encoding="UTF-8" standalone="yes"?>
<Relationships xmlns="http://schemas.openxmlformats.org/package/2006/relationships"><Relationship Id="rId3" Type="http://schemas.openxmlformats.org/officeDocument/2006/relationships/image" Target="../media/image102.png"/><Relationship Id="rId7" Type="http://schemas.openxmlformats.org/officeDocument/2006/relationships/image" Target="../media/image71.png"/><Relationship Id="rId2"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72.jpeg"/><Relationship Id="rId5" Type="http://schemas.openxmlformats.org/officeDocument/2006/relationships/image" Target="../media/image60.png"/><Relationship Id="rId4" Type="http://schemas.openxmlformats.org/officeDocument/2006/relationships/image" Target="../media/image103.png"/></Relationships>
</file>

<file path=ppt/slides/_rels/slide44.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4.xml"/><Relationship Id="rId5" Type="http://schemas.openxmlformats.org/officeDocument/2006/relationships/image" Target="../media/image107.png"/><Relationship Id="rId4" Type="http://schemas.openxmlformats.org/officeDocument/2006/relationships/image" Target="../media/image106.png"/></Relationships>
</file>

<file path=ppt/slides/_rels/slide4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4.xml"/><Relationship Id="rId5" Type="http://schemas.openxmlformats.org/officeDocument/2006/relationships/image" Target="../media/image111.png"/><Relationship Id="rId4" Type="http://schemas.openxmlformats.org/officeDocument/2006/relationships/image" Target="../media/image110.png"/></Relationships>
</file>

<file path=ppt/slides/_rels/slide47.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2.png"/><Relationship Id="rId7" Type="http://schemas.openxmlformats.org/officeDocument/2006/relationships/image" Target="../media/image115.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114.png"/><Relationship Id="rId5" Type="http://schemas.openxmlformats.org/officeDocument/2006/relationships/image" Target="../media/image2300.png"/><Relationship Id="rId4" Type="http://schemas.openxmlformats.org/officeDocument/2006/relationships/image" Target="../media/image113.png"/></Relationships>
</file>

<file path=ppt/slides/_rels/slide48.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7.png"/><Relationship Id="rId7" Type="http://schemas.openxmlformats.org/officeDocument/2006/relationships/image" Target="../media/image121.png"/><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 Id="rId9" Type="http://schemas.openxmlformats.org/officeDocument/2006/relationships/image" Target="../media/image1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41754-1A01-9656-056C-4B624E45A90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96A5153E-BD84-CB21-D566-B888A2F168CC}"/>
              </a:ext>
            </a:extLst>
          </p:cNvPr>
          <p:cNvSpPr txBox="1"/>
          <p:nvPr/>
        </p:nvSpPr>
        <p:spPr>
          <a:xfrm>
            <a:off x="3748825" y="5118283"/>
            <a:ext cx="1646348" cy="830997"/>
          </a:xfrm>
          <a:prstGeom prst="rect">
            <a:avLst/>
          </a:prstGeom>
          <a:noFill/>
        </p:spPr>
        <p:txBody>
          <a:bodyPr wrap="none" rtlCol="0">
            <a:spAutoFit/>
          </a:bodyPr>
          <a:lstStyle/>
          <a:p>
            <a:pPr algn="ctr"/>
            <a:r>
              <a:rPr lang="en-US" altLang="zh-TW" sz="1200" b="1" dirty="0">
                <a:solidFill>
                  <a:schemeClr val="accent1"/>
                </a:solidFill>
              </a:rPr>
              <a:t>Centrillion Technology </a:t>
            </a:r>
          </a:p>
          <a:p>
            <a:pPr algn="ctr"/>
            <a:r>
              <a:rPr lang="en-US" altLang="zh-TW" sz="1200" b="1" dirty="0">
                <a:solidFill>
                  <a:schemeClr val="accent1"/>
                </a:solidFill>
              </a:rPr>
              <a:t>Bioinformation Dept. </a:t>
            </a:r>
          </a:p>
          <a:p>
            <a:pPr algn="ctr"/>
            <a:r>
              <a:rPr lang="en-US" altLang="zh-TW" sz="1400" dirty="0">
                <a:solidFill>
                  <a:schemeClr val="accent1"/>
                </a:solidFill>
              </a:rPr>
              <a:t>Allen &amp; Felix</a:t>
            </a:r>
          </a:p>
          <a:p>
            <a:pPr algn="ctr"/>
            <a:r>
              <a:rPr lang="en-US" altLang="zh-TW" sz="1000" dirty="0">
                <a:solidFill>
                  <a:schemeClr val="accent1"/>
                </a:solidFill>
              </a:rPr>
              <a:t>2026/08/03</a:t>
            </a:r>
            <a:endParaRPr lang="zh-TW" altLang="en-US" sz="1000" dirty="0">
              <a:solidFill>
                <a:schemeClr val="accent1"/>
              </a:solidFill>
            </a:endParaRPr>
          </a:p>
        </p:txBody>
      </p:sp>
      <p:sp>
        <p:nvSpPr>
          <p:cNvPr id="2" name="文字方塊 1">
            <a:extLst>
              <a:ext uri="{FF2B5EF4-FFF2-40B4-BE49-F238E27FC236}">
                <a16:creationId xmlns:a16="http://schemas.microsoft.com/office/drawing/2014/main" id="{18C77BE7-A2CA-16B9-32EC-F267B3A21EBE}"/>
              </a:ext>
            </a:extLst>
          </p:cNvPr>
          <p:cNvSpPr txBox="1"/>
          <p:nvPr/>
        </p:nvSpPr>
        <p:spPr>
          <a:xfrm>
            <a:off x="809581" y="476672"/>
            <a:ext cx="7524837" cy="1436291"/>
          </a:xfrm>
          <a:prstGeom prst="rect">
            <a:avLst/>
          </a:prstGeom>
          <a:noFill/>
        </p:spPr>
        <p:txBody>
          <a:bodyPr wrap="square" rtlCol="0">
            <a:spAutoFit/>
          </a:bodyPr>
          <a:lstStyle/>
          <a:p>
            <a:pPr algn="ctr"/>
            <a:r>
              <a:rPr lang="en-US" altLang="zh-TW" sz="3200" b="1" dirty="0">
                <a:solidFill>
                  <a:schemeClr val="bg1">
                    <a:lumMod val="65000"/>
                  </a:schemeClr>
                </a:solidFill>
              </a:rPr>
              <a:t>Attention Is All You Need</a:t>
            </a:r>
          </a:p>
          <a:p>
            <a:pPr defTabSz="4857750">
              <a:lnSpc>
                <a:spcPts val="400"/>
              </a:lnSpc>
            </a:pPr>
            <a:r>
              <a:rPr lang="zh-TW" altLang="en-US" sz="1000" b="1" dirty="0">
                <a:solidFill>
                  <a:schemeClr val="bg1">
                    <a:lumMod val="50000"/>
                  </a:schemeClr>
                </a:solidFill>
              </a:rPr>
              <a:t> </a:t>
            </a:r>
            <a:r>
              <a:rPr lang="en-US" altLang="zh-TW" sz="1000" b="1" dirty="0">
                <a:solidFill>
                  <a:schemeClr val="bg1">
                    <a:lumMod val="50000"/>
                  </a:schemeClr>
                </a:solidFill>
              </a:rPr>
              <a:t>	2017</a:t>
            </a:r>
          </a:p>
          <a:p>
            <a:pPr indent="541338" defTabSz="7269163">
              <a:tabLst>
                <a:tab pos="2955925" algn="l"/>
                <a:tab pos="5470525" algn="l"/>
              </a:tabLst>
            </a:pPr>
            <a:r>
              <a:rPr lang="en-US" altLang="zh-TW" sz="1200" b="1" dirty="0">
                <a:solidFill>
                  <a:schemeClr val="bg1">
                    <a:lumMod val="50000"/>
                  </a:schemeClr>
                </a:solidFill>
              </a:rPr>
              <a:t>Google Brain: 	</a:t>
            </a:r>
            <a:r>
              <a:rPr lang="en-US" altLang="zh-TW" sz="1200" b="1" dirty="0">
                <a:solidFill>
                  <a:schemeClr val="bg1">
                    <a:lumMod val="50000"/>
                  </a:schemeClr>
                </a:solidFill>
                <a:sym typeface="Wingdings" panose="05000000000000000000" pitchFamily="2" charset="2"/>
              </a:rPr>
              <a:t>Google Research	University of Toronto</a:t>
            </a:r>
          </a:p>
          <a:p>
            <a:pPr indent="541338" defTabSz="7269163">
              <a:tabLst>
                <a:tab pos="2955925" algn="l"/>
                <a:tab pos="5470525" algn="l"/>
              </a:tabLst>
            </a:pPr>
            <a:r>
              <a:rPr lang="en-US" altLang="zh-TW" sz="1000" dirty="0">
                <a:solidFill>
                  <a:schemeClr val="bg1">
                    <a:lumMod val="50000"/>
                  </a:schemeClr>
                </a:solidFill>
              </a:rPr>
              <a:t>Ashish Vaswani</a:t>
            </a:r>
            <a:r>
              <a:rPr lang="en-US" altLang="zh-TW" sz="1000" dirty="0">
                <a:solidFill>
                  <a:schemeClr val="bg1">
                    <a:lumMod val="50000"/>
                  </a:schemeClr>
                </a:solidFill>
                <a:sym typeface="Wingdings" panose="05000000000000000000" pitchFamily="2" charset="2"/>
              </a:rPr>
              <a:t> (Essential AI*)	Niki Parmar (Anthropic)	Aidan N.Gomez (Cohere*)</a:t>
            </a:r>
          </a:p>
          <a:p>
            <a:pPr indent="541338" defTabSz="7269163">
              <a:tabLst>
                <a:tab pos="2955925" algn="l"/>
                <a:tab pos="5470525" algn="l"/>
              </a:tabLst>
            </a:pPr>
            <a:r>
              <a:rPr lang="en-US" altLang="zh-TW" sz="1000" dirty="0">
                <a:solidFill>
                  <a:schemeClr val="bg1">
                    <a:lumMod val="50000"/>
                  </a:schemeClr>
                </a:solidFill>
              </a:rPr>
              <a:t>Noam Shazeer</a:t>
            </a:r>
            <a:r>
              <a:rPr lang="en-US" altLang="zh-TW" sz="1000" dirty="0">
                <a:solidFill>
                  <a:schemeClr val="bg1">
                    <a:lumMod val="50000"/>
                  </a:schemeClr>
                </a:solidFill>
                <a:sym typeface="Wingdings" panose="05000000000000000000" pitchFamily="2" charset="2"/>
              </a:rPr>
              <a:t> (Google)	Jakob Uszkoreit (Inceptive*)	</a:t>
            </a:r>
          </a:p>
          <a:p>
            <a:pPr indent="541338" defTabSz="7269163">
              <a:tabLst>
                <a:tab pos="2955925" algn="l"/>
                <a:tab pos="5470525" algn="l"/>
              </a:tabLst>
            </a:pPr>
            <a:r>
              <a:rPr lang="en-US" altLang="zh-TW" sz="1000" dirty="0">
                <a:solidFill>
                  <a:schemeClr val="bg1">
                    <a:lumMod val="50000"/>
                  </a:schemeClr>
                </a:solidFill>
                <a:sym typeface="Wingdings" panose="05000000000000000000" pitchFamily="2" charset="2"/>
              </a:rPr>
              <a:t>Lukasz Kaiser (OpenAI)	Llion Jones (Sakana AI*)	-- «The Transformer Eight»</a:t>
            </a:r>
            <a:endParaRPr lang="en-US" altLang="zh-TW" sz="1000" b="1" dirty="0">
              <a:solidFill>
                <a:schemeClr val="bg1">
                  <a:lumMod val="50000"/>
                </a:schemeClr>
              </a:solidFill>
              <a:sym typeface="Wingdings" panose="05000000000000000000" pitchFamily="2" charset="2"/>
            </a:endParaRPr>
          </a:p>
          <a:p>
            <a:pPr indent="541338" defTabSz="7269163">
              <a:tabLst>
                <a:tab pos="2955925" algn="l"/>
                <a:tab pos="5470525" algn="l"/>
              </a:tabLst>
            </a:pPr>
            <a:r>
              <a:rPr lang="en-US" altLang="zh-TW" sz="1000" dirty="0">
                <a:solidFill>
                  <a:schemeClr val="bg1">
                    <a:lumMod val="50000"/>
                  </a:schemeClr>
                </a:solidFill>
                <a:sym typeface="Wingdings" panose="05000000000000000000" pitchFamily="2" charset="2"/>
              </a:rPr>
              <a:t>		Illia Polosukhin (NEAR Protocol*)</a:t>
            </a:r>
            <a:endParaRPr lang="zh-TW" altLang="en-US" sz="1000" dirty="0">
              <a:solidFill>
                <a:schemeClr val="bg1">
                  <a:lumMod val="50000"/>
                </a:schemeClr>
              </a:solidFill>
            </a:endParaRPr>
          </a:p>
        </p:txBody>
      </p:sp>
      <p:sp>
        <p:nvSpPr>
          <p:cNvPr id="5" name="文字方塊 4">
            <a:extLst>
              <a:ext uri="{FF2B5EF4-FFF2-40B4-BE49-F238E27FC236}">
                <a16:creationId xmlns:a16="http://schemas.microsoft.com/office/drawing/2014/main" id="{04CB84FD-A5FC-F21A-B4BF-263FCA334053}"/>
              </a:ext>
            </a:extLst>
          </p:cNvPr>
          <p:cNvSpPr txBox="1"/>
          <p:nvPr/>
        </p:nvSpPr>
        <p:spPr>
          <a:xfrm>
            <a:off x="809581" y="2177956"/>
            <a:ext cx="7524837" cy="1467068"/>
          </a:xfrm>
          <a:prstGeom prst="rect">
            <a:avLst/>
          </a:prstGeom>
          <a:noFill/>
        </p:spPr>
        <p:txBody>
          <a:bodyPr wrap="square" rtlCol="0">
            <a:spAutoFit/>
          </a:bodyPr>
          <a:lstStyle/>
          <a:p>
            <a:pPr algn="ctr"/>
            <a:r>
              <a:rPr lang="en-US" altLang="zh-TW" sz="4000" b="1" dirty="0"/>
              <a:t>Gemma</a:t>
            </a:r>
            <a:r>
              <a:rPr lang="zh-TW" altLang="en-US" sz="4000" b="1" dirty="0"/>
              <a:t> </a:t>
            </a:r>
            <a:r>
              <a:rPr lang="en-US" altLang="zh-TW" sz="4000" b="1" dirty="0"/>
              <a:t>4 Technical Report</a:t>
            </a:r>
          </a:p>
          <a:p>
            <a:pPr defTabSz="4857750">
              <a:lnSpc>
                <a:spcPts val="400"/>
              </a:lnSpc>
            </a:pPr>
            <a:r>
              <a:rPr lang="zh-TW" altLang="en-US" sz="1000" b="1" dirty="0"/>
              <a:t> </a:t>
            </a:r>
            <a:r>
              <a:rPr lang="en-US" altLang="zh-TW" sz="1000" b="1" dirty="0"/>
              <a:t>	2026</a:t>
            </a:r>
          </a:p>
          <a:p>
            <a:pPr defTabSz="6727825">
              <a:tabLst>
                <a:tab pos="2332038" algn="l"/>
              </a:tabLst>
            </a:pPr>
            <a:endParaRPr lang="en-US" altLang="zh-TW" sz="1200" b="1" dirty="0"/>
          </a:p>
          <a:p>
            <a:pPr defTabSz="6727825">
              <a:tabLst>
                <a:tab pos="2332038" algn="l"/>
              </a:tabLst>
            </a:pPr>
            <a:endParaRPr lang="en-US" altLang="zh-TW" sz="1200" b="1" dirty="0">
              <a:solidFill>
                <a:schemeClr val="accent1">
                  <a:lumMod val="75000"/>
                </a:schemeClr>
              </a:solidFill>
            </a:endParaRPr>
          </a:p>
          <a:p>
            <a:pPr indent="541338" defTabSz="7269163">
              <a:tabLst>
                <a:tab pos="2955925" algn="l"/>
                <a:tab pos="5470525" algn="l"/>
              </a:tabLst>
            </a:pPr>
            <a:r>
              <a:rPr lang="en-US" altLang="zh-TW" sz="1200" b="1" dirty="0"/>
              <a:t>	</a:t>
            </a:r>
            <a:r>
              <a:rPr lang="en-US" altLang="zh-TW" sz="1200" b="1" dirty="0">
                <a:sym typeface="Wingdings" panose="05000000000000000000" pitchFamily="2" charset="2"/>
              </a:rPr>
              <a:t>Google DeepMind	</a:t>
            </a:r>
            <a:r>
              <a:rPr lang="en-US" altLang="zh-TW" sz="1000" dirty="0">
                <a:sym typeface="Wingdings" panose="05000000000000000000" pitchFamily="2" charset="2"/>
              </a:rPr>
              <a:t>	Gemma Team</a:t>
            </a:r>
            <a:endParaRPr lang="zh-TW" altLang="en-US" sz="1000" dirty="0">
              <a:solidFill>
                <a:schemeClr val="accent1">
                  <a:lumMod val="75000"/>
                </a:schemeClr>
              </a:solidFill>
            </a:endParaRPr>
          </a:p>
        </p:txBody>
      </p:sp>
      <p:sp>
        <p:nvSpPr>
          <p:cNvPr id="6" name="箭號: 向下 5">
            <a:extLst>
              <a:ext uri="{FF2B5EF4-FFF2-40B4-BE49-F238E27FC236}">
                <a16:creationId xmlns:a16="http://schemas.microsoft.com/office/drawing/2014/main" id="{3FDCCCE8-8C7A-A946-2660-B6BE0DF7B183}"/>
              </a:ext>
            </a:extLst>
          </p:cNvPr>
          <p:cNvSpPr/>
          <p:nvPr/>
        </p:nvSpPr>
        <p:spPr>
          <a:xfrm>
            <a:off x="4355975" y="1772816"/>
            <a:ext cx="432048" cy="426625"/>
          </a:xfrm>
          <a:prstGeom prst="downArrow">
            <a:avLst/>
          </a:prstGeom>
          <a:solidFill>
            <a:schemeClr val="bg1">
              <a:lumMod val="75000"/>
              <a:alpha val="70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676095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0B80-B722-2523-9202-3F21EBB146DE}"/>
            </a:ext>
          </a:extLst>
        </p:cNvPr>
        <p:cNvGrpSpPr/>
        <p:nvPr/>
      </p:nvGrpSpPr>
      <p:grpSpPr>
        <a:xfrm>
          <a:off x="0" y="0"/>
          <a:ext cx="0" cy="0"/>
          <a:chOff x="0" y="0"/>
          <a:chExt cx="0" cy="0"/>
        </a:xfrm>
      </p:grpSpPr>
      <p:sp>
        <p:nvSpPr>
          <p:cNvPr id="64" name="標題 1">
            <a:extLst>
              <a:ext uri="{FF2B5EF4-FFF2-40B4-BE49-F238E27FC236}">
                <a16:creationId xmlns:a16="http://schemas.microsoft.com/office/drawing/2014/main" id="{94909093-0BFB-B658-A42D-64D3192A2420}"/>
              </a:ext>
            </a:extLst>
          </p:cNvPr>
          <p:cNvSpPr txBox="1">
            <a:spLocks/>
          </p:cNvSpPr>
          <p:nvPr/>
        </p:nvSpPr>
        <p:spPr>
          <a:xfrm>
            <a:off x="179512" y="116632"/>
            <a:ext cx="24482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Agenda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2" name="文字方塊 1">
            <a:extLst>
              <a:ext uri="{FF2B5EF4-FFF2-40B4-BE49-F238E27FC236}">
                <a16:creationId xmlns:a16="http://schemas.microsoft.com/office/drawing/2014/main" id="{5B9CD27E-9C1A-3219-6A05-1CA47876AE20}"/>
              </a:ext>
            </a:extLst>
          </p:cNvPr>
          <p:cNvSpPr txBox="1"/>
          <p:nvPr/>
        </p:nvSpPr>
        <p:spPr>
          <a:xfrm>
            <a:off x="845586" y="1268760"/>
            <a:ext cx="7452828" cy="4524315"/>
          </a:xfrm>
          <a:prstGeom prst="rect">
            <a:avLst/>
          </a:prstGeom>
          <a:noFill/>
        </p:spPr>
        <p:txBody>
          <a:bodyPr wrap="square" rtlCol="0">
            <a:spAutoFit/>
          </a:bodyPr>
          <a:lstStyle/>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Overview</a:t>
            </a:r>
            <a:r>
              <a:rPr lang="en-US" altLang="zh-TW" sz="1200" dirty="0">
                <a:solidFill>
                  <a:prstClr val="white">
                    <a:lumMod val="75000"/>
                  </a:prstClr>
                </a:solidFill>
                <a:latin typeface="Noto Sans HK" panose="020B0200000000000000" pitchFamily="34" charset="-120"/>
                <a:ea typeface="Noto Sans HK" panose="020B0200000000000000" pitchFamily="34" charset="-120"/>
              </a:rPr>
              <a:t> (AI Evolution from Alex</a:t>
            </a:r>
            <a:r>
              <a:rPr lang="zh-TW" altLang="en-US" sz="1200" dirty="0">
                <a:solidFill>
                  <a:prstClr val="white">
                    <a:lumMod val="75000"/>
                  </a:prstClr>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Net to GPT)</a:t>
            </a:r>
            <a:endParaRPr lang="en-US" altLang="zh-TW" sz="2400"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Machine Learning</a:t>
            </a:r>
            <a:r>
              <a:rPr lang="zh-TW" altLang="en-US" dirty="0">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(UL, semi-SL, SL, RL)</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LLM Training Stages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(Pre-Training, SFT, RLHF)</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Transformer</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(Basic model type has: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Dense and MoE</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Program Flow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(Embedding, PE, Self-Attention</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FFN, LP2V</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Self-Attention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(Attention is all you nee)</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Feed Forward Network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(FFN)</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Token Embeddings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(Semantic Space)</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Rotary of Positional Encoding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(Relative distance)</a:t>
            </a:r>
            <a:endParaRPr lang="en-US" altLang="zh-TW" sz="1200" dirty="0">
              <a:solidFill>
                <a:prstClr val="black"/>
              </a:solidFill>
              <a:latin typeface="Noto Sans HK" panose="020B0200000000000000" pitchFamily="34" charset="-120"/>
              <a:ea typeface="Noto Sans HK" panose="020B0200000000000000" pitchFamily="34" charset="-12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GPT</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(How GPT predict next token?)</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Pre-Training</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(Output: weight matrix and parameters)</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MLP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(Multi-Layer Perceptron)</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Backpropagation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(Chain Rule, gradient descent)</a:t>
            </a:r>
            <a:endParaRPr lang="en-US" altLang="zh-TW" sz="1200" dirty="0">
              <a:solidFill>
                <a:prstClr val="white">
                  <a:lumMod val="75000"/>
                </a:prst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Ecosystem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(Top 20)</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Training Cluster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(Cost structure analysis)</a:t>
            </a:r>
          </a:p>
        </p:txBody>
      </p:sp>
      <p:sp>
        <p:nvSpPr>
          <p:cNvPr id="5" name="文字方塊 4">
            <a:extLst>
              <a:ext uri="{FF2B5EF4-FFF2-40B4-BE49-F238E27FC236}">
                <a16:creationId xmlns:a16="http://schemas.microsoft.com/office/drawing/2014/main" id="{3786730F-13DC-7C8B-152D-46A041A29A8E}"/>
              </a:ext>
            </a:extLst>
          </p:cNvPr>
          <p:cNvSpPr txBox="1"/>
          <p:nvPr/>
        </p:nvSpPr>
        <p:spPr>
          <a:xfrm>
            <a:off x="7848364" y="44624"/>
            <a:ext cx="1240083" cy="3813095"/>
          </a:xfrm>
          <a:prstGeom prst="rect">
            <a:avLst/>
          </a:prstGeom>
          <a:noFill/>
        </p:spPr>
        <p:txBody>
          <a:bodyPr wrap="none" lIns="91440" tIns="91440" rIns="0" bIns="0">
            <a:spAutoFit/>
          </a:bodyPr>
          <a:lstStyle/>
          <a:p>
            <a:pPr defTabSz="1546225">
              <a:lnSpc>
                <a:spcPts val="1000"/>
              </a:lnSpc>
              <a:buFont typeface="Wingdings" panose="05000000000000000000" pitchFamily="2" charset="2"/>
              <a:buChar char="Ø"/>
            </a:pPr>
            <a:r>
              <a:rPr lang="en-US" altLang="zh-TW" sz="1000" b="1" u="none" strike="noStrike" dirty="0">
                <a:effectLst/>
              </a:rPr>
              <a:t> Overview</a:t>
            </a:r>
            <a:endParaRPr lang="en-US" altLang="zh-TW" sz="1000" u="none" strike="noStrike" dirty="0">
              <a:effectLst/>
            </a:endParaRPr>
          </a:p>
          <a:p>
            <a:pPr marL="111125" lvl="3">
              <a:lnSpc>
                <a:spcPts val="1000"/>
              </a:lnSpc>
              <a:buFont typeface="Arial" panose="020B0604020202020204" pitchFamily="34" charset="0"/>
              <a:buChar char="•"/>
            </a:pPr>
            <a:r>
              <a:rPr lang="zh-TW" altLang="en-US" sz="1000" dirty="0"/>
              <a:t> </a:t>
            </a:r>
            <a:r>
              <a:rPr lang="en-US" altLang="zh-TW" sz="1000" dirty="0"/>
              <a:t>ML</a:t>
            </a:r>
          </a:p>
          <a:p>
            <a:pPr marL="111125" lvl="2">
              <a:lnSpc>
                <a:spcPts val="1000"/>
              </a:lnSpc>
              <a:buFont typeface="Arial" panose="020B0604020202020204" pitchFamily="34" charset="0"/>
              <a:buChar char="•"/>
            </a:pPr>
            <a:r>
              <a:rPr lang="en-US" altLang="zh-TW" sz="1000" dirty="0"/>
              <a:t>Training Stages</a:t>
            </a:r>
            <a:endParaRPr lang="en-US" altLang="zh-TW" sz="1000" u="none" strike="noStrike" dirty="0">
              <a:effectLst/>
            </a:endParaRPr>
          </a:p>
          <a:p>
            <a:pPr>
              <a:lnSpc>
                <a:spcPts val="1000"/>
              </a:lnSpc>
              <a:buFont typeface="Wingdings" panose="05000000000000000000" pitchFamily="2" charset="2"/>
              <a:buChar char="Ø"/>
            </a:pPr>
            <a:r>
              <a:rPr lang="en-US" altLang="zh-TW" sz="1000" b="1" dirty="0"/>
              <a:t> Transformer</a:t>
            </a:r>
            <a:endParaRPr lang="en-US" altLang="zh-TW" sz="1000" dirty="0"/>
          </a:p>
          <a:p>
            <a:pPr marL="111125" lvl="2">
              <a:lnSpc>
                <a:spcPts val="1000"/>
              </a:lnSpc>
              <a:buFont typeface="Arial" panose="020B0604020202020204" pitchFamily="34" charset="0"/>
              <a:buChar char="•"/>
            </a:pPr>
            <a:r>
              <a:rPr lang="en-US" altLang="zh-TW" sz="1000" dirty="0"/>
              <a:t> Program Flow</a:t>
            </a:r>
          </a:p>
          <a:p>
            <a:pPr marL="111125" lvl="2">
              <a:lnSpc>
                <a:spcPts val="1000"/>
              </a:lnSpc>
              <a:buFont typeface="Arial" panose="020B0604020202020204" pitchFamily="34" charset="0"/>
              <a:buChar char="•"/>
            </a:pPr>
            <a:r>
              <a:rPr lang="en-US" altLang="zh-TW" sz="1000" dirty="0"/>
              <a:t> Self-Attention</a:t>
            </a:r>
          </a:p>
          <a:p>
            <a:pPr marL="111125" lvl="2">
              <a:lnSpc>
                <a:spcPts val="1000"/>
              </a:lnSpc>
              <a:buFont typeface="Arial" panose="020B0604020202020204" pitchFamily="34" charset="0"/>
              <a:buChar char="•"/>
            </a:pPr>
            <a:r>
              <a:rPr lang="en-US" altLang="zh-TW" sz="1000" dirty="0"/>
              <a:t> FFN</a:t>
            </a:r>
          </a:p>
          <a:p>
            <a:pPr marL="111125" lvl="2">
              <a:lnSpc>
                <a:spcPts val="1000"/>
              </a:lnSpc>
              <a:buFont typeface="Arial" panose="020B0604020202020204" pitchFamily="34" charset="0"/>
              <a:buChar char="•"/>
            </a:pPr>
            <a:r>
              <a:rPr lang="zh-TW" altLang="en-US" sz="1000" dirty="0"/>
              <a:t> </a:t>
            </a:r>
            <a:r>
              <a:rPr lang="en-US" altLang="zh-TW" sz="1000" dirty="0"/>
              <a:t>Embeddings</a:t>
            </a:r>
          </a:p>
          <a:p>
            <a:pPr marL="111125" lvl="2">
              <a:lnSpc>
                <a:spcPts val="1000"/>
              </a:lnSpc>
              <a:buFont typeface="Arial" panose="020B0604020202020204" pitchFamily="34" charset="0"/>
              <a:buChar char="•"/>
            </a:pPr>
            <a:r>
              <a:rPr lang="en-US" altLang="zh-TW" sz="1000" dirty="0"/>
              <a:t> Position Encoding</a:t>
            </a:r>
          </a:p>
          <a:p>
            <a:pPr>
              <a:lnSpc>
                <a:spcPts val="1000"/>
              </a:lnSpc>
              <a:buFont typeface="Wingdings" panose="05000000000000000000" pitchFamily="2" charset="2"/>
              <a:buChar char="Ø"/>
            </a:pPr>
            <a:r>
              <a:rPr lang="en-US" altLang="zh-TW" sz="1000" b="1" dirty="0"/>
              <a:t> GPT</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Pre-Training</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MLP</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Backpropagation</a:t>
            </a:r>
            <a:r>
              <a:rPr lang="en-US" altLang="zh-TW" sz="1000" dirty="0"/>
              <a:t> </a:t>
            </a:r>
          </a:p>
          <a:p>
            <a:pPr marL="111125" marR="0" lvl="2" algn="l" defTabSz="914400" rtl="0" eaLnBrk="1" fontAlgn="auto" latinLnBrk="0" hangingPunct="1">
              <a:lnSpc>
                <a:spcPts val="1000"/>
              </a:lnSpc>
              <a:buClrTx/>
              <a:buSzTx/>
              <a:buFont typeface="Arial" panose="020B0604020202020204" pitchFamily="34" charset="0"/>
              <a:buChar char="•"/>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Training Cluster</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AI Ecosystem</a:t>
            </a:r>
            <a:endPar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a:lnSpc>
                <a:spcPts val="1000"/>
              </a:lnSpc>
              <a:buFont typeface="Wingdings" panose="05000000000000000000" pitchFamily="2" charset="2"/>
              <a:buChar char="Ø"/>
            </a:pPr>
            <a:r>
              <a:rPr lang="en-US" altLang="zh-TW" sz="1000" b="1" dirty="0"/>
              <a:t> AI Runtime</a:t>
            </a:r>
          </a:p>
          <a:p>
            <a:pPr marL="111125" lvl="2">
              <a:lnSpc>
                <a:spcPts val="1000"/>
              </a:lnSpc>
              <a:buFont typeface="Arial" panose="020B0604020202020204" pitchFamily="34" charset="0"/>
              <a:buChar char="•"/>
              <a:defRPr/>
            </a:pPr>
            <a:r>
              <a:rPr lang="en-US" altLang="zh-TW" sz="1000" dirty="0">
                <a:solidFill>
                  <a:prstClr val="black"/>
                </a:solidFill>
              </a:rPr>
              <a:t> MCP</a:t>
            </a:r>
          </a:p>
          <a:p>
            <a:pPr marL="111125" lvl="2">
              <a:lnSpc>
                <a:spcPts val="1000"/>
              </a:lnSpc>
              <a:buFont typeface="Arial" panose="020B0604020202020204" pitchFamily="34" charset="0"/>
              <a:buChar char="•"/>
              <a:defRPr/>
            </a:pPr>
            <a:r>
              <a:rPr lang="en-US" altLang="zh-TW" sz="1000" dirty="0">
                <a:solidFill>
                  <a:prstClr val="black"/>
                </a:solidFill>
              </a:rPr>
              <a:t> Skill</a:t>
            </a:r>
          </a:p>
          <a:p>
            <a:pPr marL="111125" lvl="2">
              <a:lnSpc>
                <a:spcPts val="1000"/>
              </a:lnSpc>
              <a:buFont typeface="Arial" panose="020B0604020202020204" pitchFamily="34" charset="0"/>
              <a:buChar char="•"/>
              <a:defRPr/>
            </a:pPr>
            <a:r>
              <a:rPr lang="en-US" altLang="zh-TW" sz="1000" dirty="0">
                <a:solidFill>
                  <a:prstClr val="black"/>
                </a:solidFill>
              </a:rPr>
              <a:t> SLM Engine</a:t>
            </a:r>
          </a:p>
          <a:p>
            <a:pPr marL="111125" lvl="2">
              <a:lnSpc>
                <a:spcPts val="1000"/>
              </a:lnSpc>
              <a:buFont typeface="Arial" panose="020B0604020202020204" pitchFamily="34" charset="0"/>
              <a:buChar char="•"/>
              <a:defRPr/>
            </a:pPr>
            <a:r>
              <a:rPr lang="en-US" altLang="zh-TW" sz="1000" dirty="0"/>
              <a:t> Emerging Trends </a:t>
            </a:r>
            <a:endParaRPr lang="en-US" altLang="zh-TW" sz="1000" dirty="0">
              <a:solidFill>
                <a:prstClr val="black"/>
              </a:solidFill>
            </a:endParaRPr>
          </a:p>
          <a:p>
            <a:pPr>
              <a:lnSpc>
                <a:spcPts val="1000"/>
              </a:lnSpc>
              <a:buFont typeface="Wingdings" panose="05000000000000000000" pitchFamily="2" charset="2"/>
              <a:buChar char="Ø"/>
            </a:pPr>
            <a:r>
              <a:rPr lang="zh-TW" altLang="en-US" sz="1000" b="1" dirty="0"/>
              <a:t> </a:t>
            </a:r>
            <a:r>
              <a:rPr lang="en-US" altLang="zh-TW" sz="1000" b="1" dirty="0"/>
              <a:t>Gemma Family</a:t>
            </a:r>
          </a:p>
          <a:p>
            <a:pPr marL="111125" lvl="2">
              <a:lnSpc>
                <a:spcPts val="1000"/>
              </a:lnSpc>
              <a:buFont typeface="Arial" panose="020B0604020202020204" pitchFamily="34" charset="0"/>
              <a:buChar char="•"/>
              <a:defRPr/>
            </a:pPr>
            <a:r>
              <a:rPr lang="en-US" altLang="zh-TW" sz="1000" dirty="0"/>
              <a:t> Supervised FT</a:t>
            </a:r>
          </a:p>
          <a:p>
            <a:pPr marL="111125" lvl="2">
              <a:lnSpc>
                <a:spcPts val="1000"/>
              </a:lnSpc>
              <a:buFont typeface="Arial" panose="020B0604020202020204" pitchFamily="34" charset="0"/>
              <a:buChar char="•"/>
              <a:defRPr/>
            </a:pPr>
            <a:r>
              <a:rPr lang="en-US" altLang="zh-TW" sz="1000" dirty="0">
                <a:solidFill>
                  <a:prstClr val="black"/>
                </a:solidFill>
              </a:rPr>
              <a:t> PEFT: QLoRA</a:t>
            </a:r>
          </a:p>
          <a:p>
            <a:pPr marL="111125" lvl="2">
              <a:lnSpc>
                <a:spcPts val="1000"/>
              </a:lnSpc>
              <a:buFont typeface="Arial" panose="020B0604020202020204" pitchFamily="34" charset="0"/>
              <a:buChar char="•"/>
              <a:defRPr/>
            </a:pPr>
            <a:r>
              <a:rPr lang="en-US" altLang="zh-TW" sz="1000" dirty="0">
                <a:solidFill>
                  <a:prstClr val="black"/>
                </a:solidFill>
              </a:rPr>
              <a:t> PEFT: DoRA</a:t>
            </a:r>
          </a:p>
          <a:p>
            <a:pPr marL="111125" lvl="2">
              <a:lnSpc>
                <a:spcPts val="1000"/>
              </a:lnSpc>
              <a:buFont typeface="Arial" panose="020B0604020202020204" pitchFamily="34" charset="0"/>
              <a:buChar char="•"/>
              <a:defRPr/>
            </a:pPr>
            <a:r>
              <a:rPr lang="en-US" altLang="zh-TW" sz="1000" dirty="0">
                <a:solidFill>
                  <a:prstClr val="black"/>
                </a:solidFill>
              </a:rPr>
              <a:t> Gemma4: PLE</a:t>
            </a:r>
          </a:p>
          <a:p>
            <a:pPr marL="111125" lvl="2">
              <a:lnSpc>
                <a:spcPts val="1000"/>
              </a:lnSpc>
              <a:buFont typeface="Arial" panose="020B0604020202020204" pitchFamily="34" charset="0"/>
              <a:buChar char="•"/>
              <a:defRPr/>
            </a:pPr>
            <a:r>
              <a:rPr lang="en-US" altLang="zh-TW" sz="1000" dirty="0">
                <a:solidFill>
                  <a:prstClr val="black"/>
                </a:solidFill>
              </a:rPr>
              <a:t> Benchmarking</a:t>
            </a:r>
          </a:p>
          <a:p>
            <a:pPr>
              <a:lnSpc>
                <a:spcPts val="1000"/>
              </a:lnSpc>
              <a:buFont typeface="Wingdings" panose="05000000000000000000" pitchFamily="2" charset="2"/>
              <a:buChar char="Ø"/>
            </a:pPr>
            <a:r>
              <a:rPr lang="en-US" altLang="zh-TW" sz="1000" b="1" dirty="0"/>
              <a:t> Conclusion</a:t>
            </a:r>
          </a:p>
          <a:p>
            <a:pPr marL="111125" lvl="2">
              <a:lnSpc>
                <a:spcPts val="1000"/>
              </a:lnSpc>
              <a:buFont typeface="Arial" panose="020B0604020202020204" pitchFamily="34" charset="0"/>
              <a:buChar char="•"/>
              <a:defRPr/>
            </a:pPr>
            <a:r>
              <a:rPr lang="en-US" altLang="zh-TW" sz="1000" dirty="0"/>
              <a:t> Building the Agent</a:t>
            </a:r>
          </a:p>
          <a:p>
            <a:pPr marL="111125" lvl="2">
              <a:lnSpc>
                <a:spcPts val="1000"/>
              </a:lnSpc>
              <a:buFont typeface="Arial" panose="020B0604020202020204" pitchFamily="34" charset="0"/>
              <a:buChar char="•"/>
              <a:defRPr/>
            </a:pPr>
            <a:r>
              <a:rPr lang="en-US" altLang="zh-TW" sz="1000" dirty="0">
                <a:solidFill>
                  <a:prstClr val="black"/>
                </a:solidFill>
              </a:rPr>
              <a:t> Practice: Unsloth</a:t>
            </a:r>
          </a:p>
        </p:txBody>
      </p:sp>
    </p:spTree>
    <p:extLst>
      <p:ext uri="{BB962C8B-B14F-4D97-AF65-F5344CB8AC3E}">
        <p14:creationId xmlns:p14="http://schemas.microsoft.com/office/powerpoint/2010/main" val="4506484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0B80-B722-2523-9202-3F21EBB146DE}"/>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5B9CD27E-9C1A-3219-6A05-1CA47876AE20}"/>
              </a:ext>
            </a:extLst>
          </p:cNvPr>
          <p:cNvSpPr txBox="1"/>
          <p:nvPr/>
        </p:nvSpPr>
        <p:spPr>
          <a:xfrm>
            <a:off x="845586" y="1340768"/>
            <a:ext cx="7452828" cy="4524315"/>
          </a:xfrm>
          <a:prstGeom prst="rect">
            <a:avLst/>
          </a:prstGeom>
          <a:noFill/>
        </p:spPr>
        <p:txBody>
          <a:bodyPr wrap="square" rtlCol="0">
            <a:spAutoFit/>
          </a:bodyPr>
          <a:lstStyle/>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AI Runtime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(Environment of AI Agent, SLM, LLM, RAG and MCP)</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MCP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(Model Context Protocol)</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Agent Skills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(Retrieval Augmented Generation Action)</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LLM</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Wiki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(Knowledge base architecture)</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SLM Engine</a:t>
            </a:r>
            <a:r>
              <a:rPr lang="en-US" altLang="zh-TW" sz="1200" dirty="0">
                <a:solidFill>
                  <a:prstClr val="white">
                    <a:lumMod val="75000"/>
                  </a:prstClr>
                </a:solidFill>
                <a:latin typeface="Noto Sans HK" panose="020B0200000000000000" pitchFamily="34" charset="-120"/>
                <a:ea typeface="Noto Sans HK" panose="020B0200000000000000" pitchFamily="34" charset="-120"/>
              </a:rPr>
              <a:t>(Small Language Model Engine)</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Emerging Trends in AI Systems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(Edge AI)</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Gemma Family</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Cloud: Gemini </a:t>
            </a:r>
            <a:r>
              <a:rPr lang="zh-TW" altLang="zh-TW" sz="1200" dirty="0">
                <a:solidFill>
                  <a:schemeClr val="bg1">
                    <a:lumMod val="75000"/>
                  </a:schemeClr>
                </a:solidFill>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Agent: Gemma 4</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Supervised Fine-Tuning</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(Parameter Efficient Fine-Tuning: PEFT)</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PEFT: QLoRA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(Memory-efficient tuning via 4-bit quantized base models)</a:t>
            </a: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PEFT: DoRA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(Decoupled weight learning matching full fine-tuning performance.)</a:t>
            </a:r>
            <a:endPar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Gemma 4: PLE</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(Per Layer Embedding)</a:t>
            </a:r>
            <a:r>
              <a:rPr lang="en-US" altLang="zh-TW" sz="1200" dirty="0">
                <a:solidFill>
                  <a:prstClr val="black"/>
                </a:solidFill>
                <a:latin typeface="Noto Sans HK" panose="020B0200000000000000" pitchFamily="34" charset="-120"/>
                <a:ea typeface="Noto Sans HK" panose="020B0200000000000000" pitchFamily="34" charset="-120"/>
              </a:rPr>
              <a:t> </a:t>
            </a:r>
            <a:endParaRPr kumimoji="0" lang="en-US" altLang="zh-TW" sz="120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Code Intelligence Benchmarking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(LiveCodeBench)</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Conclusion</a:t>
            </a:r>
            <a:r>
              <a:rPr kumimoji="0" lang="en-US" altLang="zh-TW"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 Holistic Perspective)</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Building a Bio-IT AI Agent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(Select model and FT framework)</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Unsloth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(Fine-Tunning Example)</a:t>
            </a:r>
            <a:endParaRPr kumimoji="0" lang="en-US" altLang="zh-TW" sz="14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p:txBody>
      </p:sp>
      <p:sp>
        <p:nvSpPr>
          <p:cNvPr id="64" name="標題 1">
            <a:extLst>
              <a:ext uri="{FF2B5EF4-FFF2-40B4-BE49-F238E27FC236}">
                <a16:creationId xmlns:a16="http://schemas.microsoft.com/office/drawing/2014/main" id="{94909093-0BFB-B658-A42D-64D3192A2420}"/>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Agenda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6" name="文字方塊 5">
            <a:extLst>
              <a:ext uri="{FF2B5EF4-FFF2-40B4-BE49-F238E27FC236}">
                <a16:creationId xmlns:a16="http://schemas.microsoft.com/office/drawing/2014/main" id="{F0415324-A0B8-6CEC-D7ED-6CF86DF2B5E1}"/>
              </a:ext>
            </a:extLst>
          </p:cNvPr>
          <p:cNvSpPr txBox="1"/>
          <p:nvPr/>
        </p:nvSpPr>
        <p:spPr>
          <a:xfrm>
            <a:off x="7848364" y="44624"/>
            <a:ext cx="1240083" cy="3813095"/>
          </a:xfrm>
          <a:prstGeom prst="rect">
            <a:avLst/>
          </a:prstGeom>
          <a:noFill/>
        </p:spPr>
        <p:txBody>
          <a:bodyPr wrap="none" lIns="91440" tIns="91440" rIns="0" bIns="0">
            <a:spAutoFit/>
          </a:bodyPr>
          <a:lstStyle/>
          <a:p>
            <a:pPr defTabSz="1546225">
              <a:lnSpc>
                <a:spcPts val="1000"/>
              </a:lnSpc>
              <a:buFont typeface="Wingdings" panose="05000000000000000000" pitchFamily="2" charset="2"/>
              <a:buChar char="Ø"/>
            </a:pPr>
            <a:r>
              <a:rPr lang="en-US" altLang="zh-TW" sz="1000" b="1" u="none" strike="noStrike" dirty="0">
                <a:effectLst/>
              </a:rPr>
              <a:t> Overview</a:t>
            </a:r>
            <a:endParaRPr lang="en-US" altLang="zh-TW" sz="1000" u="none" strike="noStrike" dirty="0">
              <a:effectLst/>
            </a:endParaRPr>
          </a:p>
          <a:p>
            <a:pPr marL="111125" lvl="3">
              <a:lnSpc>
                <a:spcPts val="1000"/>
              </a:lnSpc>
              <a:buFont typeface="Arial" panose="020B0604020202020204" pitchFamily="34" charset="0"/>
              <a:buChar char="•"/>
            </a:pPr>
            <a:r>
              <a:rPr lang="zh-TW" altLang="en-US" sz="1000" dirty="0"/>
              <a:t> </a:t>
            </a:r>
            <a:r>
              <a:rPr lang="en-US" altLang="zh-TW" sz="1000" dirty="0"/>
              <a:t>ML</a:t>
            </a:r>
          </a:p>
          <a:p>
            <a:pPr marL="111125" lvl="2">
              <a:lnSpc>
                <a:spcPts val="1000"/>
              </a:lnSpc>
              <a:buFont typeface="Arial" panose="020B0604020202020204" pitchFamily="34" charset="0"/>
              <a:buChar char="•"/>
            </a:pPr>
            <a:r>
              <a:rPr lang="en-US" altLang="zh-TW" sz="1000" dirty="0"/>
              <a:t>Training Stages</a:t>
            </a:r>
            <a:endParaRPr lang="en-US" altLang="zh-TW" sz="1000" u="none" strike="noStrike" dirty="0">
              <a:effectLst/>
            </a:endParaRPr>
          </a:p>
          <a:p>
            <a:pPr>
              <a:lnSpc>
                <a:spcPts val="1000"/>
              </a:lnSpc>
              <a:buFont typeface="Wingdings" panose="05000000000000000000" pitchFamily="2" charset="2"/>
              <a:buChar char="Ø"/>
            </a:pPr>
            <a:r>
              <a:rPr lang="en-US" altLang="zh-TW" sz="1000" b="1" dirty="0"/>
              <a:t> Transformer</a:t>
            </a:r>
            <a:endParaRPr lang="en-US" altLang="zh-TW" sz="1000" dirty="0"/>
          </a:p>
          <a:p>
            <a:pPr marL="111125" lvl="2">
              <a:lnSpc>
                <a:spcPts val="1000"/>
              </a:lnSpc>
              <a:buFont typeface="Arial" panose="020B0604020202020204" pitchFamily="34" charset="0"/>
              <a:buChar char="•"/>
            </a:pPr>
            <a:r>
              <a:rPr lang="en-US" altLang="zh-TW" sz="1000" dirty="0"/>
              <a:t> Program Flow</a:t>
            </a:r>
          </a:p>
          <a:p>
            <a:pPr marL="111125" lvl="2">
              <a:lnSpc>
                <a:spcPts val="1000"/>
              </a:lnSpc>
              <a:buFont typeface="Arial" panose="020B0604020202020204" pitchFamily="34" charset="0"/>
              <a:buChar char="•"/>
            </a:pPr>
            <a:r>
              <a:rPr lang="en-US" altLang="zh-TW" sz="1000" dirty="0"/>
              <a:t> Self-Attention</a:t>
            </a:r>
          </a:p>
          <a:p>
            <a:pPr marL="111125" lvl="2">
              <a:lnSpc>
                <a:spcPts val="1000"/>
              </a:lnSpc>
              <a:buFont typeface="Arial" panose="020B0604020202020204" pitchFamily="34" charset="0"/>
              <a:buChar char="•"/>
            </a:pPr>
            <a:r>
              <a:rPr lang="en-US" altLang="zh-TW" sz="1000" dirty="0"/>
              <a:t> FFN</a:t>
            </a:r>
          </a:p>
          <a:p>
            <a:pPr marL="111125" lvl="2">
              <a:lnSpc>
                <a:spcPts val="1000"/>
              </a:lnSpc>
              <a:buFont typeface="Arial" panose="020B0604020202020204" pitchFamily="34" charset="0"/>
              <a:buChar char="•"/>
            </a:pPr>
            <a:r>
              <a:rPr lang="zh-TW" altLang="en-US" sz="1000" dirty="0"/>
              <a:t> </a:t>
            </a:r>
            <a:r>
              <a:rPr lang="en-US" altLang="zh-TW" sz="1000" dirty="0"/>
              <a:t>Embeddings</a:t>
            </a:r>
          </a:p>
          <a:p>
            <a:pPr marL="111125" lvl="2">
              <a:lnSpc>
                <a:spcPts val="1000"/>
              </a:lnSpc>
              <a:buFont typeface="Arial" panose="020B0604020202020204" pitchFamily="34" charset="0"/>
              <a:buChar char="•"/>
            </a:pPr>
            <a:r>
              <a:rPr lang="en-US" altLang="zh-TW" sz="1000" dirty="0"/>
              <a:t> Position Encoding</a:t>
            </a:r>
          </a:p>
          <a:p>
            <a:pPr>
              <a:lnSpc>
                <a:spcPts val="1000"/>
              </a:lnSpc>
              <a:buFont typeface="Wingdings" panose="05000000000000000000" pitchFamily="2" charset="2"/>
              <a:buChar char="Ø"/>
            </a:pPr>
            <a:r>
              <a:rPr lang="en-US" altLang="zh-TW" sz="1000" b="1" dirty="0"/>
              <a:t> GPT</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Pre-Training</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MLP</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Backpropagation</a:t>
            </a:r>
            <a:r>
              <a:rPr lang="en-US" altLang="zh-TW" sz="1000" dirty="0"/>
              <a:t> </a:t>
            </a:r>
          </a:p>
          <a:p>
            <a:pPr marL="111125" marR="0" lvl="2" algn="l" defTabSz="914400" rtl="0" eaLnBrk="1" fontAlgn="auto" latinLnBrk="0" hangingPunct="1">
              <a:lnSpc>
                <a:spcPts val="1000"/>
              </a:lnSpc>
              <a:buClrTx/>
              <a:buSzTx/>
              <a:buFont typeface="Arial" panose="020B0604020202020204" pitchFamily="34" charset="0"/>
              <a:buChar char="•"/>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Training Cluster</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AI Ecosystem</a:t>
            </a:r>
            <a:endPar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a:lnSpc>
                <a:spcPts val="1000"/>
              </a:lnSpc>
              <a:buFont typeface="Wingdings" panose="05000000000000000000" pitchFamily="2" charset="2"/>
              <a:buChar char="Ø"/>
            </a:pPr>
            <a:r>
              <a:rPr lang="en-US" altLang="zh-TW" sz="1000" b="1" dirty="0"/>
              <a:t> AI Runtime</a:t>
            </a:r>
          </a:p>
          <a:p>
            <a:pPr marL="111125" lvl="2">
              <a:lnSpc>
                <a:spcPts val="1000"/>
              </a:lnSpc>
              <a:buFont typeface="Arial" panose="020B0604020202020204" pitchFamily="34" charset="0"/>
              <a:buChar char="•"/>
              <a:defRPr/>
            </a:pPr>
            <a:r>
              <a:rPr lang="en-US" altLang="zh-TW" sz="1000" dirty="0">
                <a:solidFill>
                  <a:prstClr val="black"/>
                </a:solidFill>
              </a:rPr>
              <a:t> MCP</a:t>
            </a:r>
          </a:p>
          <a:p>
            <a:pPr marL="111125" lvl="2">
              <a:lnSpc>
                <a:spcPts val="1000"/>
              </a:lnSpc>
              <a:buFont typeface="Arial" panose="020B0604020202020204" pitchFamily="34" charset="0"/>
              <a:buChar char="•"/>
              <a:defRPr/>
            </a:pPr>
            <a:r>
              <a:rPr lang="en-US" altLang="zh-TW" sz="1000" dirty="0">
                <a:solidFill>
                  <a:prstClr val="black"/>
                </a:solidFill>
              </a:rPr>
              <a:t> Skill</a:t>
            </a:r>
          </a:p>
          <a:p>
            <a:pPr marL="111125" lvl="2">
              <a:lnSpc>
                <a:spcPts val="1000"/>
              </a:lnSpc>
              <a:buFont typeface="Arial" panose="020B0604020202020204" pitchFamily="34" charset="0"/>
              <a:buChar char="•"/>
              <a:defRPr/>
            </a:pPr>
            <a:r>
              <a:rPr lang="en-US" altLang="zh-TW" sz="1000" dirty="0">
                <a:solidFill>
                  <a:prstClr val="black"/>
                </a:solidFill>
              </a:rPr>
              <a:t> SLM Engine</a:t>
            </a:r>
          </a:p>
          <a:p>
            <a:pPr marL="111125" lvl="2">
              <a:lnSpc>
                <a:spcPts val="1000"/>
              </a:lnSpc>
              <a:buFont typeface="Arial" panose="020B0604020202020204" pitchFamily="34" charset="0"/>
              <a:buChar char="•"/>
              <a:defRPr/>
            </a:pPr>
            <a:r>
              <a:rPr lang="en-US" altLang="zh-TW" sz="1000" dirty="0"/>
              <a:t> Emerging Trends </a:t>
            </a:r>
            <a:endParaRPr lang="en-US" altLang="zh-TW" sz="1000" dirty="0">
              <a:solidFill>
                <a:prstClr val="black"/>
              </a:solidFill>
            </a:endParaRPr>
          </a:p>
          <a:p>
            <a:pPr>
              <a:lnSpc>
                <a:spcPts val="1000"/>
              </a:lnSpc>
              <a:buFont typeface="Wingdings" panose="05000000000000000000" pitchFamily="2" charset="2"/>
              <a:buChar char="Ø"/>
            </a:pPr>
            <a:r>
              <a:rPr lang="zh-TW" altLang="en-US" sz="1000" b="1" dirty="0"/>
              <a:t> </a:t>
            </a:r>
            <a:r>
              <a:rPr lang="en-US" altLang="zh-TW" sz="1000" b="1" dirty="0"/>
              <a:t>Gemma Family</a:t>
            </a:r>
          </a:p>
          <a:p>
            <a:pPr marL="111125" lvl="2">
              <a:lnSpc>
                <a:spcPts val="1000"/>
              </a:lnSpc>
              <a:buFont typeface="Arial" panose="020B0604020202020204" pitchFamily="34" charset="0"/>
              <a:buChar char="•"/>
              <a:defRPr/>
            </a:pPr>
            <a:r>
              <a:rPr lang="en-US" altLang="zh-TW" sz="1000" dirty="0"/>
              <a:t> Supervised FT</a:t>
            </a:r>
          </a:p>
          <a:p>
            <a:pPr marL="111125" lvl="2">
              <a:lnSpc>
                <a:spcPts val="1000"/>
              </a:lnSpc>
              <a:buFont typeface="Arial" panose="020B0604020202020204" pitchFamily="34" charset="0"/>
              <a:buChar char="•"/>
              <a:defRPr/>
            </a:pPr>
            <a:r>
              <a:rPr lang="en-US" altLang="zh-TW" sz="1000" dirty="0">
                <a:solidFill>
                  <a:prstClr val="black"/>
                </a:solidFill>
              </a:rPr>
              <a:t> PEFT: QLoRA</a:t>
            </a:r>
          </a:p>
          <a:p>
            <a:pPr marL="111125" lvl="2">
              <a:lnSpc>
                <a:spcPts val="1000"/>
              </a:lnSpc>
              <a:buFont typeface="Arial" panose="020B0604020202020204" pitchFamily="34" charset="0"/>
              <a:buChar char="•"/>
              <a:defRPr/>
            </a:pPr>
            <a:r>
              <a:rPr lang="en-US" altLang="zh-TW" sz="1000" dirty="0">
                <a:solidFill>
                  <a:prstClr val="black"/>
                </a:solidFill>
              </a:rPr>
              <a:t> PEFT: DoRA</a:t>
            </a:r>
          </a:p>
          <a:p>
            <a:pPr marL="111125" lvl="2">
              <a:lnSpc>
                <a:spcPts val="1000"/>
              </a:lnSpc>
              <a:buFont typeface="Arial" panose="020B0604020202020204" pitchFamily="34" charset="0"/>
              <a:buChar char="•"/>
              <a:defRPr/>
            </a:pPr>
            <a:r>
              <a:rPr lang="en-US" altLang="zh-TW" sz="1000" dirty="0">
                <a:solidFill>
                  <a:prstClr val="black"/>
                </a:solidFill>
              </a:rPr>
              <a:t> Gemma4: PLE</a:t>
            </a:r>
          </a:p>
          <a:p>
            <a:pPr marL="111125" lvl="2">
              <a:lnSpc>
                <a:spcPts val="1000"/>
              </a:lnSpc>
              <a:buFont typeface="Arial" panose="020B0604020202020204" pitchFamily="34" charset="0"/>
              <a:buChar char="•"/>
              <a:defRPr/>
            </a:pPr>
            <a:r>
              <a:rPr lang="en-US" altLang="zh-TW" sz="1000" dirty="0">
                <a:solidFill>
                  <a:prstClr val="black"/>
                </a:solidFill>
              </a:rPr>
              <a:t> Benchmarking</a:t>
            </a:r>
          </a:p>
          <a:p>
            <a:pPr>
              <a:lnSpc>
                <a:spcPts val="1000"/>
              </a:lnSpc>
              <a:buFont typeface="Wingdings" panose="05000000000000000000" pitchFamily="2" charset="2"/>
              <a:buChar char="Ø"/>
            </a:pPr>
            <a:r>
              <a:rPr lang="en-US" altLang="zh-TW" sz="1000" b="1" dirty="0"/>
              <a:t> Conclusion</a:t>
            </a:r>
          </a:p>
          <a:p>
            <a:pPr marL="111125" lvl="2">
              <a:lnSpc>
                <a:spcPts val="1000"/>
              </a:lnSpc>
              <a:buFont typeface="Arial" panose="020B0604020202020204" pitchFamily="34" charset="0"/>
              <a:buChar char="•"/>
              <a:defRPr/>
            </a:pPr>
            <a:r>
              <a:rPr lang="en-US" altLang="zh-TW" sz="1000" dirty="0"/>
              <a:t> Building the Agent</a:t>
            </a:r>
          </a:p>
          <a:p>
            <a:pPr marL="111125" lvl="2">
              <a:lnSpc>
                <a:spcPts val="1000"/>
              </a:lnSpc>
              <a:buFont typeface="Arial" panose="020B0604020202020204" pitchFamily="34" charset="0"/>
              <a:buChar char="•"/>
              <a:defRPr/>
            </a:pPr>
            <a:r>
              <a:rPr lang="en-US" altLang="zh-TW" sz="1000" dirty="0">
                <a:solidFill>
                  <a:prstClr val="black"/>
                </a:solidFill>
              </a:rPr>
              <a:t> Practice: Unsloth</a:t>
            </a:r>
          </a:p>
        </p:txBody>
      </p:sp>
    </p:spTree>
    <p:extLst>
      <p:ext uri="{BB962C8B-B14F-4D97-AF65-F5344CB8AC3E}">
        <p14:creationId xmlns:p14="http://schemas.microsoft.com/office/powerpoint/2010/main" val="75411227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B449B576-2584-24BC-A097-49245A7A31E8}"/>
              </a:ext>
            </a:extLst>
          </p:cNvPr>
          <p:cNvGraphicFramePr>
            <a:graphicFrameLocks noGrp="1"/>
          </p:cNvGraphicFramePr>
          <p:nvPr>
            <p:extLst>
              <p:ext uri="{D42A27DB-BD31-4B8C-83A1-F6EECF244321}">
                <p14:modId xmlns:p14="http://schemas.microsoft.com/office/powerpoint/2010/main" val="1353582182"/>
              </p:ext>
            </p:extLst>
          </p:nvPr>
        </p:nvGraphicFramePr>
        <p:xfrm>
          <a:off x="467544" y="908720"/>
          <a:ext cx="8208915" cy="5162641"/>
        </p:xfrm>
        <a:graphic>
          <a:graphicData uri="http://schemas.openxmlformats.org/drawingml/2006/table">
            <a:tbl>
              <a:tblPr firstRow="1" bandRow="1">
                <a:tableStyleId>{5C22544A-7EE6-4342-B048-85BDC9FD1C3A}</a:tableStyleId>
              </a:tblPr>
              <a:tblGrid>
                <a:gridCol w="452323">
                  <a:extLst>
                    <a:ext uri="{9D8B030D-6E8A-4147-A177-3AD203B41FA5}">
                      <a16:colId xmlns:a16="http://schemas.microsoft.com/office/drawing/2014/main" val="3115215194"/>
                    </a:ext>
                  </a:extLst>
                </a:gridCol>
                <a:gridCol w="1083586">
                  <a:extLst>
                    <a:ext uri="{9D8B030D-6E8A-4147-A177-3AD203B41FA5}">
                      <a16:colId xmlns:a16="http://schemas.microsoft.com/office/drawing/2014/main" val="2438358024"/>
                    </a:ext>
                  </a:extLst>
                </a:gridCol>
                <a:gridCol w="938612">
                  <a:extLst>
                    <a:ext uri="{9D8B030D-6E8A-4147-A177-3AD203B41FA5}">
                      <a16:colId xmlns:a16="http://schemas.microsoft.com/office/drawing/2014/main" val="4024420245"/>
                    </a:ext>
                  </a:extLst>
                </a:gridCol>
                <a:gridCol w="938612">
                  <a:extLst>
                    <a:ext uri="{9D8B030D-6E8A-4147-A177-3AD203B41FA5}">
                      <a16:colId xmlns:a16="http://schemas.microsoft.com/office/drawing/2014/main" val="1885199976"/>
                    </a:ext>
                  </a:extLst>
                </a:gridCol>
                <a:gridCol w="938612">
                  <a:extLst>
                    <a:ext uri="{9D8B030D-6E8A-4147-A177-3AD203B41FA5}">
                      <a16:colId xmlns:a16="http://schemas.microsoft.com/office/drawing/2014/main" val="2600189719"/>
                    </a:ext>
                  </a:extLst>
                </a:gridCol>
                <a:gridCol w="1041335">
                  <a:extLst>
                    <a:ext uri="{9D8B030D-6E8A-4147-A177-3AD203B41FA5}">
                      <a16:colId xmlns:a16="http://schemas.microsoft.com/office/drawing/2014/main" val="459902815"/>
                    </a:ext>
                  </a:extLst>
                </a:gridCol>
                <a:gridCol w="1041335">
                  <a:extLst>
                    <a:ext uri="{9D8B030D-6E8A-4147-A177-3AD203B41FA5}">
                      <a16:colId xmlns:a16="http://schemas.microsoft.com/office/drawing/2014/main" val="4019554014"/>
                    </a:ext>
                  </a:extLst>
                </a:gridCol>
                <a:gridCol w="835888">
                  <a:extLst>
                    <a:ext uri="{9D8B030D-6E8A-4147-A177-3AD203B41FA5}">
                      <a16:colId xmlns:a16="http://schemas.microsoft.com/office/drawing/2014/main" val="1289474231"/>
                    </a:ext>
                  </a:extLst>
                </a:gridCol>
                <a:gridCol w="938612">
                  <a:extLst>
                    <a:ext uri="{9D8B030D-6E8A-4147-A177-3AD203B41FA5}">
                      <a16:colId xmlns:a16="http://schemas.microsoft.com/office/drawing/2014/main" val="2173516547"/>
                    </a:ext>
                  </a:extLst>
                </a:gridCol>
              </a:tblGrid>
              <a:tr h="281591">
                <a:tc gridSpan="9">
                  <a:txBody>
                    <a:bodyPr/>
                    <a:lstStyle/>
                    <a:p>
                      <a:pPr algn="ctr"/>
                      <a:r>
                        <a:rPr kumimoji="0" lang="en-US" altLang="zh-TW" sz="16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Evolution from Alex Net to GPT</a:t>
                      </a:r>
                      <a:endParaRPr lang="en-US" altLang="zh-TW" sz="1200" b="1" cap="none" spc="0" dirty="0">
                        <a:ln w="0"/>
                        <a:solidFill>
                          <a:schemeClr val="tx1"/>
                        </a:solidFill>
                        <a:effectLst/>
                        <a:latin typeface="+mn-l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4249274"/>
                  </a:ext>
                </a:extLst>
              </a:tr>
              <a:tr h="236247">
                <a:tc>
                  <a:txBody>
                    <a:bodyPr/>
                    <a:lstStyle/>
                    <a:p>
                      <a:pPr algn="l"/>
                      <a:endParaRPr lang="en-US" altLang="zh-TW" sz="1200" b="0" cap="none" spc="0" dirty="0">
                        <a:ln w="0"/>
                        <a:solidFill>
                          <a:schemeClr val="tx1"/>
                        </a:solidFill>
                        <a:effectLst/>
                        <a:latin typeface="+mn-l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Pre-Training</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Fine-Tuning</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Loss</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Parameter</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Model</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Agent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CV</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3515898"/>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2010s</a:t>
                      </a: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Word2Vec</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RNN, LSTM</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CNN, Alex Net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2474553"/>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2015</a:t>
                      </a: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RSN</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Alpha Go</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 v1</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224414"/>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2017</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PPO</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Transformer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1340391"/>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BERT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SFT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RLHF</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BERT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642222"/>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2019</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Full 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8326291"/>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GPT-3</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RAG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 v4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4491690"/>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Instruction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Alignment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Prompt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9259351"/>
                  </a:ext>
                </a:extLst>
              </a:tr>
              <a:tr h="369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2022</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FLAN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(zero-shot)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LoRA</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ReAct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2492193"/>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Instruct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Self-Instruct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QLoRA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MLA</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24983"/>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Self-Alignment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GPRO</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DoRA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a:t>
                      </a:r>
                      <a:r>
                        <a:rPr kumimoji="0" lang="en-US" altLang="zh-TW" sz="1200" b="0" i="0" u="none" strike="noStrike" kern="1200" cap="none" spc="0" normalizeH="0" baseline="0" noProof="0" dirty="0" err="1">
                          <a:ln w="0"/>
                          <a:solidFill>
                            <a:prstClr val="black"/>
                          </a:solidFill>
                          <a:effectLst/>
                          <a:uLnTx/>
                          <a:uFillTx/>
                          <a:latin typeface="+mn-lt"/>
                          <a:ea typeface="+mn-ea"/>
                          <a:cs typeface="+mn-cs"/>
                        </a:rPr>
                        <a:t>MoBA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MCP</a:t>
                      </a:r>
                      <a:br>
                        <a:rPr kumimoji="0" lang="en-US" altLang="zh-TW" sz="1200" b="0" i="0" u="none" strike="noStrike" kern="1200" cap="none" spc="0" normalizeH="0" baseline="0" noProof="0" dirty="0">
                          <a:ln w="0"/>
                          <a:solidFill>
                            <a:prstClr val="black"/>
                          </a:solidFill>
                          <a:effectLst/>
                          <a:uLnTx/>
                          <a:uFillTx/>
                          <a:latin typeface="+mn-lt"/>
                          <a:ea typeface="+mn-ea"/>
                          <a:cs typeface="+mn-cs"/>
                        </a:rPr>
                      </a:br>
                      <a:r>
                        <a:rPr kumimoji="0" lang="en-US" altLang="zh-TW" sz="1200" b="0" i="0" u="none" strike="noStrike" kern="1200" cap="none" spc="0" normalizeH="0" baseline="0" noProof="0" dirty="0">
                          <a:ln w="0"/>
                          <a:solidFill>
                            <a:prstClr val="black"/>
                          </a:solidFill>
                          <a:effectLst/>
                          <a:uLnTx/>
                          <a:uFillTx/>
                          <a:latin typeface="+mn-lt"/>
                          <a:ea typeface="+mn-ea"/>
                          <a:cs typeface="+mn-cs"/>
                        </a:rPr>
                        <a:t>Agentic RAG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1133333"/>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Modern BERT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1748438"/>
                  </a:ext>
                </a:extLst>
              </a:tr>
              <a:tr h="2198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1.58 Bits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Skill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028771"/>
                  </a:ext>
                </a:extLst>
              </a:tr>
              <a:tr h="3526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5796025"/>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Native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Multimodal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Parameter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Efficient 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LLM Wiki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6249862"/>
                  </a:ext>
                </a:extLst>
              </a:tr>
              <a:tr h="251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GUFF</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Intention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ONNX</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2451293"/>
                  </a:ext>
                </a:extLst>
              </a:tr>
              <a:tr h="322045">
                <a:tc gridSpan="9">
                  <a:txBody>
                    <a:bodyPr/>
                    <a:lstStyle/>
                    <a:p>
                      <a:pPr marL="0" marR="0" lvl="0" indent="0" algn="l" defTabSz="914400" rtl="0" eaLnBrk="1" fontAlgn="auto" latinLnBrk="0" hangingPunct="1">
                        <a:lnSpc>
                          <a:spcPts val="1800"/>
                        </a:lnSpc>
                        <a:spcBef>
                          <a:spcPts val="600"/>
                        </a:spcBef>
                        <a:spcAft>
                          <a:spcPts val="60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mn-lt"/>
                          <a:ea typeface="+mn-ea"/>
                          <a:cs typeface="+mn-cs"/>
                        </a:rPr>
                        <a:t>Current Edge AI</a:t>
                      </a:r>
                      <a:r>
                        <a:rPr kumimoji="0" lang="en-US" altLang="zh-TW" sz="1400" b="0" i="0" u="none" strike="noStrike" kern="1200" cap="none" spc="0" normalizeH="0" baseline="0" noProof="0" dirty="0">
                          <a:ln>
                            <a:noFill/>
                          </a:ln>
                          <a:solidFill>
                            <a:prstClr val="black"/>
                          </a:solidFill>
                          <a:effectLst/>
                          <a:uLnTx/>
                          <a:uFillTx/>
                          <a:latin typeface="+mn-lt"/>
                          <a:ea typeface="+mn-ea"/>
                          <a:cs typeface="+mn-cs"/>
                        </a:rPr>
                        <a:t>: Llama4, Qwen 3, DeepSeek-V4, Mistral 3, Kimi K3, Gemma4</a:t>
                      </a:r>
                    </a:p>
                  </a:txBody>
                  <a:tcPr marL="0" marR="0" marT="72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55380"/>
                  </a:ext>
                </a:extLst>
              </a:tr>
            </a:tbl>
          </a:graphicData>
        </a:graphic>
      </p:graphicFrame>
      <p:sp>
        <p:nvSpPr>
          <p:cNvPr id="6" name="標題 1">
            <a:extLst>
              <a:ext uri="{FF2B5EF4-FFF2-40B4-BE49-F238E27FC236}">
                <a16:creationId xmlns:a16="http://schemas.microsoft.com/office/drawing/2014/main" id="{216734A2-BD04-8252-C0F5-EFC9A1D5E526}"/>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Overview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Data is fuel, DL is the engine, and compute is the rocket.</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1C3D7404-077C-3DA9-4F62-8C29CE58B772}"/>
              </a:ext>
            </a:extLst>
          </p:cNvPr>
          <p:cNvPicPr>
            <a:picLocks noChangeAspect="1"/>
          </p:cNvPicPr>
          <p:nvPr/>
        </p:nvPicPr>
        <p:blipFill>
          <a:blip r:embed="rId3"/>
          <a:stretch>
            <a:fillRect/>
          </a:stretch>
        </p:blipFill>
        <p:spPr>
          <a:xfrm>
            <a:off x="2473367" y="6093296"/>
            <a:ext cx="284964" cy="284964"/>
          </a:xfrm>
          <a:prstGeom prst="rect">
            <a:avLst/>
          </a:prstGeom>
          <a:effectLst>
            <a:glow rad="12700">
              <a:schemeClr val="bg1">
                <a:lumMod val="95000"/>
                <a:alpha val="40000"/>
              </a:schemeClr>
            </a:glow>
            <a:softEdge rad="25400"/>
          </a:effectLst>
        </p:spPr>
      </p:pic>
      <p:pic>
        <p:nvPicPr>
          <p:cNvPr id="12" name="圖片 11">
            <a:extLst>
              <a:ext uri="{FF2B5EF4-FFF2-40B4-BE49-F238E27FC236}">
                <a16:creationId xmlns:a16="http://schemas.microsoft.com/office/drawing/2014/main" id="{13A82B91-FAC4-568D-8CA5-969221C41E64}"/>
              </a:ext>
            </a:extLst>
          </p:cNvPr>
          <p:cNvPicPr>
            <a:picLocks noChangeAspect="1"/>
          </p:cNvPicPr>
          <p:nvPr/>
        </p:nvPicPr>
        <p:blipFill>
          <a:blip r:embed="rId4"/>
          <a:stretch>
            <a:fillRect/>
          </a:stretch>
        </p:blipFill>
        <p:spPr>
          <a:xfrm>
            <a:off x="3265460" y="6093296"/>
            <a:ext cx="350542" cy="284964"/>
          </a:xfrm>
          <a:prstGeom prst="rect">
            <a:avLst/>
          </a:prstGeom>
        </p:spPr>
      </p:pic>
      <p:pic>
        <p:nvPicPr>
          <p:cNvPr id="16" name="圖片 15">
            <a:extLst>
              <a:ext uri="{FF2B5EF4-FFF2-40B4-BE49-F238E27FC236}">
                <a16:creationId xmlns:a16="http://schemas.microsoft.com/office/drawing/2014/main" id="{9BFC4B13-B489-2ED6-C770-27D3FBC6DC14}"/>
              </a:ext>
            </a:extLst>
          </p:cNvPr>
          <p:cNvPicPr>
            <a:picLocks noChangeAspect="1"/>
          </p:cNvPicPr>
          <p:nvPr/>
        </p:nvPicPr>
        <p:blipFill>
          <a:blip r:embed="rId5"/>
          <a:stretch>
            <a:fillRect/>
          </a:stretch>
        </p:blipFill>
        <p:spPr>
          <a:xfrm>
            <a:off x="4139803" y="6093296"/>
            <a:ext cx="284964" cy="284964"/>
          </a:xfrm>
          <a:prstGeom prst="rect">
            <a:avLst/>
          </a:prstGeom>
        </p:spPr>
      </p:pic>
      <p:pic>
        <p:nvPicPr>
          <p:cNvPr id="20" name="圖片 19">
            <a:extLst>
              <a:ext uri="{FF2B5EF4-FFF2-40B4-BE49-F238E27FC236}">
                <a16:creationId xmlns:a16="http://schemas.microsoft.com/office/drawing/2014/main" id="{8DD3591A-3C3D-9A0A-8BB3-E42279EA5886}"/>
              </a:ext>
            </a:extLst>
          </p:cNvPr>
          <p:cNvPicPr>
            <a:picLocks noChangeAspect="1"/>
          </p:cNvPicPr>
          <p:nvPr/>
        </p:nvPicPr>
        <p:blipFill>
          <a:blip r:embed="rId6"/>
          <a:stretch>
            <a:fillRect/>
          </a:stretch>
        </p:blipFill>
        <p:spPr>
          <a:xfrm>
            <a:off x="5511172" y="6093296"/>
            <a:ext cx="284964" cy="284964"/>
          </a:xfrm>
          <a:prstGeom prst="rect">
            <a:avLst/>
          </a:prstGeom>
        </p:spPr>
      </p:pic>
      <p:pic>
        <p:nvPicPr>
          <p:cNvPr id="3" name="圖片 2">
            <a:extLst>
              <a:ext uri="{FF2B5EF4-FFF2-40B4-BE49-F238E27FC236}">
                <a16:creationId xmlns:a16="http://schemas.microsoft.com/office/drawing/2014/main" id="{3C7CD08B-1128-D562-EE4F-68FAE6853229}"/>
              </a:ext>
            </a:extLst>
          </p:cNvPr>
          <p:cNvPicPr preferRelativeResize="0">
            <a:picLocks noChangeAspect="1"/>
          </p:cNvPicPr>
          <p:nvPr/>
        </p:nvPicPr>
        <p:blipFill>
          <a:blip r:embed="rId7"/>
          <a:stretch>
            <a:fillRect/>
          </a:stretch>
        </p:blipFill>
        <p:spPr>
          <a:xfrm>
            <a:off x="7499814" y="2276872"/>
            <a:ext cx="240538" cy="240538"/>
          </a:xfrm>
          <a:prstGeom prst="rect">
            <a:avLst/>
          </a:prstGeom>
        </p:spPr>
      </p:pic>
      <p:pic>
        <p:nvPicPr>
          <p:cNvPr id="7" name="圖片 6">
            <a:extLst>
              <a:ext uri="{FF2B5EF4-FFF2-40B4-BE49-F238E27FC236}">
                <a16:creationId xmlns:a16="http://schemas.microsoft.com/office/drawing/2014/main" id="{4CC92E4B-62B0-C53C-B046-1477C4144B5B}"/>
              </a:ext>
            </a:extLst>
          </p:cNvPr>
          <p:cNvPicPr preferRelativeResize="0">
            <a:picLocks noChangeAspect="1"/>
          </p:cNvPicPr>
          <p:nvPr/>
        </p:nvPicPr>
        <p:blipFill>
          <a:blip r:embed="rId8"/>
          <a:stretch>
            <a:fillRect/>
          </a:stretch>
        </p:blipFill>
        <p:spPr>
          <a:xfrm>
            <a:off x="7499814" y="1848212"/>
            <a:ext cx="277256" cy="277256"/>
          </a:xfrm>
          <a:prstGeom prst="rect">
            <a:avLst/>
          </a:prstGeom>
        </p:spPr>
      </p:pic>
      <p:pic>
        <p:nvPicPr>
          <p:cNvPr id="17" name="圖片 16">
            <a:extLst>
              <a:ext uri="{FF2B5EF4-FFF2-40B4-BE49-F238E27FC236}">
                <a16:creationId xmlns:a16="http://schemas.microsoft.com/office/drawing/2014/main" id="{6999AD27-C8C5-8536-54F4-3A22808DE3F9}"/>
              </a:ext>
            </a:extLst>
          </p:cNvPr>
          <p:cNvPicPr preferRelativeResize="0">
            <a:picLocks noChangeAspect="1"/>
          </p:cNvPicPr>
          <p:nvPr/>
        </p:nvPicPr>
        <p:blipFill>
          <a:blip r:embed="rId9"/>
          <a:stretch>
            <a:fillRect/>
          </a:stretch>
        </p:blipFill>
        <p:spPr>
          <a:xfrm>
            <a:off x="7596336" y="4293096"/>
            <a:ext cx="182880" cy="182880"/>
          </a:xfrm>
          <a:prstGeom prst="rect">
            <a:avLst/>
          </a:prstGeom>
        </p:spPr>
      </p:pic>
      <p:pic>
        <p:nvPicPr>
          <p:cNvPr id="19" name="圖片 18">
            <a:extLst>
              <a:ext uri="{FF2B5EF4-FFF2-40B4-BE49-F238E27FC236}">
                <a16:creationId xmlns:a16="http://schemas.microsoft.com/office/drawing/2014/main" id="{E2FD6F41-AD98-7CEC-1D2B-AB39C7F5F811}"/>
              </a:ext>
            </a:extLst>
          </p:cNvPr>
          <p:cNvPicPr preferRelativeResize="0">
            <a:picLocks noChangeAspect="1"/>
          </p:cNvPicPr>
          <p:nvPr/>
        </p:nvPicPr>
        <p:blipFill>
          <a:blip r:embed="rId10"/>
          <a:stretch>
            <a:fillRect/>
          </a:stretch>
        </p:blipFill>
        <p:spPr>
          <a:xfrm>
            <a:off x="7596336" y="4594270"/>
            <a:ext cx="182880" cy="182880"/>
          </a:xfrm>
          <a:prstGeom prst="rect">
            <a:avLst/>
          </a:prstGeom>
        </p:spPr>
      </p:pic>
      <p:pic>
        <p:nvPicPr>
          <p:cNvPr id="5" name="圖片 4">
            <a:extLst>
              <a:ext uri="{FF2B5EF4-FFF2-40B4-BE49-F238E27FC236}">
                <a16:creationId xmlns:a16="http://schemas.microsoft.com/office/drawing/2014/main" id="{D45ADE4B-52E1-D65B-B259-DE1504EEC242}"/>
              </a:ext>
            </a:extLst>
          </p:cNvPr>
          <p:cNvPicPr>
            <a:picLocks noChangeAspect="1"/>
          </p:cNvPicPr>
          <p:nvPr/>
        </p:nvPicPr>
        <p:blipFill>
          <a:blip r:embed="rId11"/>
          <a:stretch>
            <a:fillRect/>
          </a:stretch>
        </p:blipFill>
        <p:spPr>
          <a:xfrm>
            <a:off x="7596336" y="4868377"/>
            <a:ext cx="196286" cy="182881"/>
          </a:xfrm>
          <a:prstGeom prst="rect">
            <a:avLst/>
          </a:prstGeom>
        </p:spPr>
      </p:pic>
      <p:sp>
        <p:nvSpPr>
          <p:cNvPr id="11" name="語音泡泡: 圓角矩形 10">
            <a:extLst>
              <a:ext uri="{FF2B5EF4-FFF2-40B4-BE49-F238E27FC236}">
                <a16:creationId xmlns:a16="http://schemas.microsoft.com/office/drawing/2014/main" id="{F5EB275F-A3ED-C6F8-040C-FD1C1A9395FD}"/>
              </a:ext>
            </a:extLst>
          </p:cNvPr>
          <p:cNvSpPr/>
          <p:nvPr/>
        </p:nvSpPr>
        <p:spPr>
          <a:xfrm>
            <a:off x="6381840" y="5895776"/>
            <a:ext cx="1070480" cy="629568"/>
          </a:xfrm>
          <a:prstGeom prst="wedgeRoundRectCallout">
            <a:avLst>
              <a:gd name="adj1" fmla="val -71026"/>
              <a:gd name="adj2" fmla="val -17854"/>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lvl="0" algn="ctr">
              <a:defRPr/>
            </a:pPr>
            <a:r>
              <a:rPr lang="en-US" altLang="zh-TW" sz="1000" dirty="0">
                <a:ln w="0"/>
                <a:solidFill>
                  <a:prstClr val="black"/>
                </a:solidFill>
                <a:latin typeface="Comic Sans MS" panose="030F0702030302020204" pitchFamily="66" charset="0"/>
                <a:cs typeface="Cavolini" panose="020B0502040204020203" pitchFamily="66" charset="0"/>
              </a:rPr>
              <a:t>SLM, Low cost, </a:t>
            </a:r>
          </a:p>
          <a:p>
            <a:pPr lvl="0" algn="ctr">
              <a:defRPr/>
            </a:pPr>
            <a:r>
              <a:rPr lang="en-US" altLang="zh-TW" sz="10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Easy SFT and</a:t>
            </a:r>
          </a:p>
          <a:p>
            <a:pPr lvl="0" algn="ctr">
              <a:defRPr/>
            </a:pPr>
            <a:r>
              <a:rPr lang="en-US" altLang="zh-TW" sz="1000" dirty="0">
                <a:ln w="0"/>
                <a:solidFill>
                  <a:prstClr val="black"/>
                </a:solidFill>
                <a:latin typeface="Comic Sans MS" panose="030F0702030302020204" pitchFamily="66" charset="0"/>
                <a:cs typeface="Cavolini" panose="020B0502040204020203" pitchFamily="66" charset="0"/>
              </a:rPr>
              <a:t>Apache 2.0 …</a:t>
            </a:r>
          </a:p>
        </p:txBody>
      </p:sp>
      <p:pic>
        <p:nvPicPr>
          <p:cNvPr id="23" name="圖片 22">
            <a:extLst>
              <a:ext uri="{FF2B5EF4-FFF2-40B4-BE49-F238E27FC236}">
                <a16:creationId xmlns:a16="http://schemas.microsoft.com/office/drawing/2014/main" id="{3581A662-ABBC-2E58-AE2F-08CB7E2E3661}"/>
              </a:ext>
            </a:extLst>
          </p:cNvPr>
          <p:cNvPicPr>
            <a:picLocks noChangeAspect="1"/>
          </p:cNvPicPr>
          <p:nvPr/>
        </p:nvPicPr>
        <p:blipFill>
          <a:blip r:embed="rId12"/>
          <a:stretch>
            <a:fillRect/>
          </a:stretch>
        </p:blipFill>
        <p:spPr>
          <a:xfrm>
            <a:off x="6875959" y="544587"/>
            <a:ext cx="817196" cy="596651"/>
          </a:xfrm>
          <a:prstGeom prst="rect">
            <a:avLst/>
          </a:prstGeom>
        </p:spPr>
      </p:pic>
      <p:pic>
        <p:nvPicPr>
          <p:cNvPr id="9" name="圖片 8">
            <a:extLst>
              <a:ext uri="{FF2B5EF4-FFF2-40B4-BE49-F238E27FC236}">
                <a16:creationId xmlns:a16="http://schemas.microsoft.com/office/drawing/2014/main" id="{3AB52091-49F7-88CA-5999-984A3D16C649}"/>
              </a:ext>
            </a:extLst>
          </p:cNvPr>
          <p:cNvPicPr>
            <a:picLocks noChangeAspect="1"/>
          </p:cNvPicPr>
          <p:nvPr/>
        </p:nvPicPr>
        <p:blipFill>
          <a:blip r:embed="rId13"/>
          <a:stretch>
            <a:fillRect/>
          </a:stretch>
        </p:blipFill>
        <p:spPr>
          <a:xfrm>
            <a:off x="1835696" y="6120308"/>
            <a:ext cx="284964" cy="225568"/>
          </a:xfrm>
          <a:prstGeom prst="rect">
            <a:avLst/>
          </a:prstGeom>
        </p:spPr>
      </p:pic>
    </p:spTree>
    <p:extLst>
      <p:ext uri="{BB962C8B-B14F-4D97-AF65-F5344CB8AC3E}">
        <p14:creationId xmlns:p14="http://schemas.microsoft.com/office/powerpoint/2010/main" val="8100956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2B42F-8775-AC09-3933-1BD4B414D5EC}"/>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53E12340-3B58-15C0-9421-DB4C1461D7A5}"/>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Machine Learning</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Establish a model to predict unknown outcomes</a:t>
            </a:r>
          </a:p>
        </p:txBody>
      </p:sp>
      <p:sp>
        <p:nvSpPr>
          <p:cNvPr id="8" name="文字方塊 7">
            <a:extLst>
              <a:ext uri="{FF2B5EF4-FFF2-40B4-BE49-F238E27FC236}">
                <a16:creationId xmlns:a16="http://schemas.microsoft.com/office/drawing/2014/main" id="{70D1300E-2988-7E18-4352-77EA6DBC974F}"/>
              </a:ext>
            </a:extLst>
          </p:cNvPr>
          <p:cNvSpPr txBox="1"/>
          <p:nvPr/>
        </p:nvSpPr>
        <p:spPr>
          <a:xfrm>
            <a:off x="213023" y="980728"/>
            <a:ext cx="7455321" cy="1480534"/>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Core Element</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Data</a:t>
            </a:r>
            <a:r>
              <a:rPr lang="en-US" altLang="zh-TW" sz="1600" b="0" u="none" strike="noStrike" dirty="0">
                <a:effectLst/>
              </a:rPr>
              <a:t>: The fuel for ML, consisting of Features (inputs) and Labels (correct answers).</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Model</a:t>
            </a:r>
            <a:r>
              <a:rPr lang="en-US" altLang="zh-TW" sz="1600" b="0" u="none" strike="noStrike" dirty="0">
                <a:effectLst/>
              </a:rPr>
              <a:t>: An optimized mathematical formula capable of making decisions.</a:t>
            </a:r>
          </a:p>
          <a:p>
            <a:pPr marL="285750" indent="-285750">
              <a:lnSpc>
                <a:spcPts val="1800"/>
              </a:lnSpc>
              <a:spcBef>
                <a:spcPts val="600"/>
              </a:spcBef>
              <a:spcAft>
                <a:spcPts val="600"/>
              </a:spcAft>
              <a:buFont typeface="Wingdings" panose="05000000000000000000" pitchFamily="2" charset="2"/>
              <a:buChar char="Ø"/>
            </a:pPr>
            <a:r>
              <a:rPr lang="en-US" altLang="zh-TW" sz="1600" b="1" dirty="0"/>
              <a:t>Algorithm:</a:t>
            </a:r>
            <a:r>
              <a:rPr lang="en-US" altLang="zh-TW" sz="1600" dirty="0"/>
              <a:t> Learning tool (e.g., like loss function and optimizer).</a:t>
            </a:r>
          </a:p>
        </p:txBody>
      </p:sp>
      <p:sp>
        <p:nvSpPr>
          <p:cNvPr id="9" name="文字方塊 8">
            <a:extLst>
              <a:ext uri="{FF2B5EF4-FFF2-40B4-BE49-F238E27FC236}">
                <a16:creationId xmlns:a16="http://schemas.microsoft.com/office/drawing/2014/main" id="{4DF6EA5E-8E13-CA32-D72C-473CD4987FE4}"/>
              </a:ext>
            </a:extLst>
          </p:cNvPr>
          <p:cNvSpPr txBox="1"/>
          <p:nvPr/>
        </p:nvSpPr>
        <p:spPr>
          <a:xfrm>
            <a:off x="213023" y="2852936"/>
            <a:ext cx="7815361" cy="3400931"/>
          </a:xfrm>
          <a:prstGeom prst="rect">
            <a:avLst/>
          </a:prstGeom>
          <a:noFill/>
        </p:spPr>
        <p:txBody>
          <a:bodyPr wrap="square">
            <a:spAutoFit/>
          </a:bodyPr>
          <a:lstStyle/>
          <a:p>
            <a:pPr>
              <a:lnSpc>
                <a:spcPts val="1800"/>
              </a:lnSpc>
              <a:spcBef>
                <a:spcPts val="600"/>
              </a:spcBef>
              <a:spcAft>
                <a:spcPts val="600"/>
              </a:spcAft>
            </a:pPr>
            <a:r>
              <a:rPr lang="en-US" altLang="zh-TW" sz="2000" b="1" u="none" strike="noStrike" dirty="0">
                <a:effectLst/>
              </a:rPr>
              <a:t>Main Types of ML</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Unsupervised</a:t>
            </a:r>
            <a:r>
              <a:rPr lang="en-US" altLang="zh-TW" sz="1600" b="0" u="none" strike="noStrike" dirty="0">
                <a:effectLst/>
              </a:rPr>
              <a:t>: Data is unlabeled, no pre-defined answers provided.</a:t>
            </a:r>
          </a:p>
          <a:p>
            <a:pPr marL="742950" lvl="1" indent="-285750">
              <a:lnSpc>
                <a:spcPts val="1800"/>
              </a:lnSpc>
              <a:spcBef>
                <a:spcPts val="600"/>
              </a:spcBef>
              <a:spcAft>
                <a:spcPts val="600"/>
              </a:spcAft>
              <a:buFont typeface="Arial" panose="020B0604020202020204" pitchFamily="34" charset="0"/>
              <a:buChar char="•"/>
            </a:pPr>
            <a:r>
              <a:rPr lang="en-US" altLang="zh-TW" sz="1600" dirty="0"/>
              <a:t>Reduction: PCA, t-SNE and UMAP.</a:t>
            </a:r>
          </a:p>
          <a:p>
            <a:pPr marL="742950" lvl="1" indent="-285750">
              <a:lnSpc>
                <a:spcPts val="1800"/>
              </a:lnSpc>
              <a:spcBef>
                <a:spcPts val="600"/>
              </a:spcBef>
              <a:spcAft>
                <a:spcPts val="600"/>
              </a:spcAft>
              <a:buFont typeface="Arial" panose="020B0604020202020204" pitchFamily="34" charset="0"/>
              <a:buChar char="•"/>
            </a:pPr>
            <a:r>
              <a:rPr lang="en-US" altLang="zh-TW" sz="1600" dirty="0"/>
              <a:t>Clustering: K-mean and GMM. </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Supervised</a:t>
            </a:r>
            <a:r>
              <a:rPr lang="en-US" altLang="zh-TW" sz="1600" dirty="0"/>
              <a:t>: Data is labeled, comes with the correct answers. </a:t>
            </a:r>
          </a:p>
          <a:p>
            <a:pPr marL="742950" lvl="1" indent="-285750">
              <a:lnSpc>
                <a:spcPts val="1800"/>
              </a:lnSpc>
              <a:spcBef>
                <a:spcPts val="600"/>
              </a:spcBef>
              <a:spcAft>
                <a:spcPts val="600"/>
              </a:spcAft>
              <a:buFont typeface="Arial" panose="020B0604020202020204" pitchFamily="34" charset="0"/>
              <a:buChar char="•"/>
            </a:pPr>
            <a:r>
              <a:rPr lang="en-US" altLang="zh-TW" sz="1600" dirty="0"/>
              <a:t>Build Model: Linear Regression, SVM, Decision Tree. </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Facial Recognition System</a:t>
            </a:r>
            <a:endParaRPr lang="en-US" altLang="zh-TW" sz="1600" dirty="0"/>
          </a:p>
          <a:p>
            <a:pPr marL="742950" lvl="1" indent="-285750">
              <a:lnSpc>
                <a:spcPts val="1800"/>
              </a:lnSpc>
              <a:spcBef>
                <a:spcPts val="600"/>
              </a:spcBef>
              <a:spcAft>
                <a:spcPts val="600"/>
              </a:spcAft>
              <a:buFont typeface="Arial" panose="020B0604020202020204" pitchFamily="34" charset="0"/>
              <a:buChar char="•"/>
            </a:pPr>
            <a:r>
              <a:rPr lang="en-US" altLang="zh-TW" sz="1600" dirty="0"/>
              <a:t>Semi-Supervised: When labels are expensive. </a:t>
            </a:r>
            <a:r>
              <a:rPr kumimoji="0" lang="en-US" altLang="zh-TW" sz="1400" b="0" i="0" u="none" strike="noStrike" kern="1200" cap="none" spc="0" normalizeH="0" baseline="0" noProof="0" dirty="0">
                <a:ln>
                  <a:noFill/>
                </a:ln>
                <a:solidFill>
                  <a:schemeClr val="bg1">
                    <a:lumMod val="65000"/>
                  </a:scheme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GAN, Medical Imaging</a:t>
            </a:r>
            <a:endParaRPr lang="en-US" altLang="zh-TW" sz="1600" dirty="0">
              <a:solidFill>
                <a:schemeClr val="bg1">
                  <a:lumMod val="75000"/>
                </a:schemeClr>
              </a:solidFill>
            </a:endParaRPr>
          </a:p>
          <a:p>
            <a:pPr marL="742950" lvl="1" indent="-285750">
              <a:lnSpc>
                <a:spcPts val="1800"/>
              </a:lnSpc>
              <a:spcBef>
                <a:spcPts val="600"/>
              </a:spcBef>
              <a:spcAft>
                <a:spcPts val="600"/>
              </a:spcAft>
              <a:buFont typeface="Arial" panose="020B0604020202020204" pitchFamily="34" charset="0"/>
              <a:buChar char="•"/>
            </a:pPr>
            <a:r>
              <a:rPr lang="en-US" altLang="zh-TW" sz="1600" dirty="0"/>
              <a:t>Self-Supervised: When Labels are Plentiful.</a:t>
            </a:r>
            <a:r>
              <a:rPr lang="en-US" altLang="zh-TW" sz="1600" dirty="0">
                <a:solidFill>
                  <a:schemeClr val="bg1">
                    <a:lumMod val="6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GPT-Pretraining</a:t>
            </a:r>
            <a:endParaRPr lang="en-US" altLang="zh-TW" sz="1600" dirty="0">
              <a:solidFill>
                <a:schemeClr val="bg1">
                  <a:lumMod val="75000"/>
                </a:schemeClr>
              </a:solidFill>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Reinforcement</a:t>
            </a:r>
            <a:r>
              <a:rPr lang="en-US" altLang="zh-TW" sz="1600" dirty="0"/>
              <a:t>: Learning through trial and Error within an environment.</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 </a:t>
            </a:r>
            <a:r>
              <a:rPr lang="en-US" altLang="zh-TW" sz="1600" dirty="0">
                <a:solidFill>
                  <a:schemeClr val="bg1">
                    <a:lumMod val="75000"/>
                  </a:schemeClr>
                </a:solidFill>
                <a:sym typeface="Wingdings" panose="05000000000000000000" pitchFamily="2" charset="2"/>
              </a:rPr>
              <a:t>GPT-RLHF</a:t>
            </a:r>
            <a:endParaRPr lang="en-US" altLang="zh-TW" sz="1600" b="0" u="none" strike="noStrike" dirty="0">
              <a:solidFill>
                <a:schemeClr val="bg1">
                  <a:lumMod val="75000"/>
                </a:schemeClr>
              </a:solidFill>
              <a:effectLst/>
            </a:endParaRPr>
          </a:p>
        </p:txBody>
      </p:sp>
      <p:sp>
        <p:nvSpPr>
          <p:cNvPr id="2" name="橢圓 1">
            <a:extLst>
              <a:ext uri="{FF2B5EF4-FFF2-40B4-BE49-F238E27FC236}">
                <a16:creationId xmlns:a16="http://schemas.microsoft.com/office/drawing/2014/main" id="{58FCC1D3-CB19-6525-2CEC-E0FFC7808DAA}"/>
              </a:ext>
            </a:extLst>
          </p:cNvPr>
          <p:cNvSpPr/>
          <p:nvPr/>
        </p:nvSpPr>
        <p:spPr>
          <a:xfrm>
            <a:off x="7151290" y="64811"/>
            <a:ext cx="1440160" cy="1440160"/>
          </a:xfrm>
          <a:prstGeom prst="ellipse">
            <a:avLst/>
          </a:prstGeom>
          <a:solidFill>
            <a:schemeClr val="accent4">
              <a:lumMod val="20000"/>
              <a:lumOff val="80000"/>
              <a:alpha val="70000"/>
            </a:schemeClr>
          </a:solid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AI</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zh-TW" altLang="en-US" sz="1400" dirty="0">
              <a:solidFill>
                <a:schemeClr val="tx1"/>
              </a:solidFill>
              <a:latin typeface="ADLaM Display" panose="02010000000000000000" pitchFamily="2" charset="0"/>
              <a:cs typeface="ADLaM Display" panose="02010000000000000000" pitchFamily="2" charset="0"/>
            </a:endParaRPr>
          </a:p>
        </p:txBody>
      </p:sp>
      <p:sp>
        <p:nvSpPr>
          <p:cNvPr id="5" name="橢圓 4">
            <a:extLst>
              <a:ext uri="{FF2B5EF4-FFF2-40B4-BE49-F238E27FC236}">
                <a16:creationId xmlns:a16="http://schemas.microsoft.com/office/drawing/2014/main" id="{7B937A27-6075-35E6-8CE6-9DE516AEDFCB}"/>
              </a:ext>
            </a:extLst>
          </p:cNvPr>
          <p:cNvSpPr/>
          <p:nvPr/>
        </p:nvSpPr>
        <p:spPr>
          <a:xfrm>
            <a:off x="7386703" y="377756"/>
            <a:ext cx="1012726" cy="1035020"/>
          </a:xfrm>
          <a:prstGeom prst="ellipse">
            <a:avLst/>
          </a:prstGeom>
          <a:solidFill>
            <a:schemeClr val="accent4">
              <a:lumMod val="20000"/>
              <a:lumOff val="80000"/>
              <a:alpha val="70000"/>
            </a:schemeClr>
          </a:solid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ML</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zh-TW" altLang="en-US" sz="1400" dirty="0">
              <a:solidFill>
                <a:schemeClr val="tx1"/>
              </a:solidFill>
              <a:latin typeface="ADLaM Display" panose="02010000000000000000" pitchFamily="2" charset="0"/>
              <a:cs typeface="ADLaM Display" panose="02010000000000000000" pitchFamily="2" charset="0"/>
            </a:endParaRPr>
          </a:p>
        </p:txBody>
      </p:sp>
      <p:sp>
        <p:nvSpPr>
          <p:cNvPr id="7" name="橢圓 6">
            <a:extLst>
              <a:ext uri="{FF2B5EF4-FFF2-40B4-BE49-F238E27FC236}">
                <a16:creationId xmlns:a16="http://schemas.microsoft.com/office/drawing/2014/main" id="{4A1EEFD0-FAA8-1BA6-678F-0C8999245900}"/>
              </a:ext>
            </a:extLst>
          </p:cNvPr>
          <p:cNvSpPr/>
          <p:nvPr/>
        </p:nvSpPr>
        <p:spPr>
          <a:xfrm>
            <a:off x="7710739" y="905421"/>
            <a:ext cx="364654" cy="363339"/>
          </a:xfrm>
          <a:prstGeom prst="ellipse">
            <a:avLst/>
          </a:prstGeom>
          <a:solidFill>
            <a:schemeClr val="accent4">
              <a:lumMod val="20000"/>
              <a:lumOff val="80000"/>
              <a:alpha val="70000"/>
            </a:schemeClr>
          </a:solid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DL</a:t>
            </a:r>
          </a:p>
        </p:txBody>
      </p:sp>
    </p:spTree>
    <p:extLst>
      <p:ext uri="{BB962C8B-B14F-4D97-AF65-F5344CB8AC3E}">
        <p14:creationId xmlns:p14="http://schemas.microsoft.com/office/powerpoint/2010/main" val="15086930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50ED-70DB-3D7A-7385-495EBB05F11A}"/>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8003781F-4D10-E932-0A8B-8F4100607904}"/>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LLM Training Stages</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Injecting domain knowledge and aligning preference behaviors. (GPT </a:t>
            </a:r>
            <a:r>
              <a:rPr lang="zh-TW" altLang="zh-TW" sz="1400" dirty="0"/>
              <a:t>➔</a:t>
            </a:r>
            <a:r>
              <a:rPr lang="en-US" altLang="zh-TW" sz="1400" dirty="0">
                <a:latin typeface="Noto Sans HK" panose="020B0200000000000000" pitchFamily="34" charset="-120"/>
                <a:ea typeface="Noto Sans HK" panose="020B0200000000000000" pitchFamily="34" charset="-120"/>
                <a:cs typeface="Arial" panose="020B0604020202020204" pitchFamily="34" charset="0"/>
                <a:sym typeface="Wingdings" panose="05000000000000000000" pitchFamily="2" charset="2"/>
              </a:rPr>
              <a:t> Causal LM)</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6" name="表格 5">
            <a:extLst>
              <a:ext uri="{FF2B5EF4-FFF2-40B4-BE49-F238E27FC236}">
                <a16:creationId xmlns:a16="http://schemas.microsoft.com/office/drawing/2014/main" id="{D6073D31-ACE4-B89B-79B0-4C43AD8ECADD}"/>
              </a:ext>
            </a:extLst>
          </p:cNvPr>
          <p:cNvGraphicFramePr>
            <a:graphicFrameLocks noGrp="1"/>
          </p:cNvGraphicFramePr>
          <p:nvPr>
            <p:extLst>
              <p:ext uri="{D42A27DB-BD31-4B8C-83A1-F6EECF244321}">
                <p14:modId xmlns:p14="http://schemas.microsoft.com/office/powerpoint/2010/main" val="1382004302"/>
              </p:ext>
            </p:extLst>
          </p:nvPr>
        </p:nvGraphicFramePr>
        <p:xfrm>
          <a:off x="5490780" y="4437112"/>
          <a:ext cx="2249568" cy="788874"/>
        </p:xfrm>
        <a:graphic>
          <a:graphicData uri="http://schemas.openxmlformats.org/drawingml/2006/table">
            <a:tbl>
              <a:tblPr firstRow="1" bandRow="1">
                <a:tableStyleId>{5C22544A-7EE6-4342-B048-85BDC9FD1C3A}</a:tableStyleId>
              </a:tblPr>
              <a:tblGrid>
                <a:gridCol w="2249568">
                  <a:extLst>
                    <a:ext uri="{9D8B030D-6E8A-4147-A177-3AD203B41FA5}">
                      <a16:colId xmlns:a16="http://schemas.microsoft.com/office/drawing/2014/main" val="4512040"/>
                    </a:ext>
                  </a:extLst>
                </a:gridCol>
              </a:tblGrid>
              <a:tr h="207498">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RLHF Optimization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207498">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PPO aligns via multiple models.</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 aligns via direct optimization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GRPO aligns via self-correction.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071062206"/>
                  </a:ext>
                </a:extLst>
              </a:tr>
            </a:tbl>
          </a:graphicData>
        </a:graphic>
      </p:graphicFrame>
      <p:sp>
        <p:nvSpPr>
          <p:cNvPr id="34" name="文字方塊 33">
            <a:extLst>
              <a:ext uri="{FF2B5EF4-FFF2-40B4-BE49-F238E27FC236}">
                <a16:creationId xmlns:a16="http://schemas.microsoft.com/office/drawing/2014/main" id="{A9B4851E-DE27-676D-8B02-83F1F98C6342}"/>
              </a:ext>
            </a:extLst>
          </p:cNvPr>
          <p:cNvSpPr txBox="1"/>
          <p:nvPr/>
        </p:nvSpPr>
        <p:spPr>
          <a:xfrm>
            <a:off x="2250420" y="2861623"/>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Pre-Training</a:t>
            </a:r>
          </a:p>
          <a:p>
            <a:pPr algn="ctr">
              <a:lnSpc>
                <a:spcPts val="1400"/>
              </a:lnSpc>
              <a:buNone/>
            </a:pPr>
            <a:r>
              <a:rPr lang="en-US" altLang="zh-TW" sz="1200" dirty="0"/>
              <a:t>Base</a:t>
            </a:r>
          </a:p>
          <a:p>
            <a:pPr algn="ctr">
              <a:lnSpc>
                <a:spcPts val="1400"/>
              </a:lnSpc>
              <a:buNone/>
            </a:pPr>
            <a:r>
              <a:rPr lang="en-US" altLang="zh-TW" sz="1200" dirty="0"/>
              <a:t>Model</a:t>
            </a:r>
            <a:endParaRPr lang="en-US" altLang="zh-TW" sz="1200" u="none" strike="noStrike" dirty="0">
              <a:effectLst/>
            </a:endParaRPr>
          </a:p>
        </p:txBody>
      </p:sp>
      <p:sp>
        <p:nvSpPr>
          <p:cNvPr id="35" name="文字方塊 34">
            <a:extLst>
              <a:ext uri="{FF2B5EF4-FFF2-40B4-BE49-F238E27FC236}">
                <a16:creationId xmlns:a16="http://schemas.microsoft.com/office/drawing/2014/main" id="{8E7DBC2E-4207-B8B4-EA17-630004A1BA4F}"/>
              </a:ext>
            </a:extLst>
          </p:cNvPr>
          <p:cNvSpPr txBox="1"/>
          <p:nvPr/>
        </p:nvSpPr>
        <p:spPr>
          <a:xfrm>
            <a:off x="3347864"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36" name="文字方塊 35">
            <a:extLst>
              <a:ext uri="{FF2B5EF4-FFF2-40B4-BE49-F238E27FC236}">
                <a16:creationId xmlns:a16="http://schemas.microsoft.com/office/drawing/2014/main" id="{1053429B-025D-A27F-87C8-F91654D77787}"/>
              </a:ext>
            </a:extLst>
          </p:cNvPr>
          <p:cNvSpPr txBox="1"/>
          <p:nvPr/>
        </p:nvSpPr>
        <p:spPr>
          <a:xfrm>
            <a:off x="441066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38" name="文字方塊 37">
            <a:extLst>
              <a:ext uri="{FF2B5EF4-FFF2-40B4-BE49-F238E27FC236}">
                <a16:creationId xmlns:a16="http://schemas.microsoft.com/office/drawing/2014/main" id="{B219E49F-E7A4-F040-D438-F11A5202D811}"/>
              </a:ext>
            </a:extLst>
          </p:cNvPr>
          <p:cNvSpPr txBox="1"/>
          <p:nvPr/>
        </p:nvSpPr>
        <p:spPr>
          <a:xfrm>
            <a:off x="549078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40" name="右大括弧 39">
            <a:extLst>
              <a:ext uri="{FF2B5EF4-FFF2-40B4-BE49-F238E27FC236}">
                <a16:creationId xmlns:a16="http://schemas.microsoft.com/office/drawing/2014/main" id="{A6A4EA3D-75BC-2AED-0DDF-01899E6EFE8F}"/>
              </a:ext>
            </a:extLst>
          </p:cNvPr>
          <p:cNvSpPr/>
          <p:nvPr/>
        </p:nvSpPr>
        <p:spPr>
          <a:xfrm rot="5400000">
            <a:off x="3703394" y="2137368"/>
            <a:ext cx="153040" cy="417646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2" name="標題 1">
            <a:extLst>
              <a:ext uri="{FF2B5EF4-FFF2-40B4-BE49-F238E27FC236}">
                <a16:creationId xmlns:a16="http://schemas.microsoft.com/office/drawing/2014/main" id="{C9A885E4-818E-4964-4ED2-DF5CEF9806DD}"/>
              </a:ext>
            </a:extLst>
          </p:cNvPr>
          <p:cNvSpPr txBox="1">
            <a:spLocks/>
          </p:cNvSpPr>
          <p:nvPr/>
        </p:nvSpPr>
        <p:spPr>
          <a:xfrm>
            <a:off x="3245482" y="4323434"/>
            <a:ext cx="1100369" cy="387188"/>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latin typeface="Noto Sans HK" panose="020B0200000000000000" pitchFamily="34" charset="-120"/>
                <a:ea typeface="Noto Sans HK" panose="020B0200000000000000" pitchFamily="34" charset="-120"/>
                <a:cs typeface="Arial" panose="020B0604020202020204" pitchFamily="34" charset="0"/>
              </a:rPr>
              <a:t>Training Stage </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(Goal: Alignment)</a:t>
            </a:r>
          </a:p>
        </p:txBody>
      </p:sp>
      <p:sp>
        <p:nvSpPr>
          <p:cNvPr id="46" name="文字方塊 45">
            <a:extLst>
              <a:ext uri="{FF2B5EF4-FFF2-40B4-BE49-F238E27FC236}">
                <a16:creationId xmlns:a16="http://schemas.microsoft.com/office/drawing/2014/main" id="{48571342-EABE-0BA9-BE64-F0D902E11E2F}"/>
              </a:ext>
            </a:extLst>
          </p:cNvPr>
          <p:cNvSpPr txBox="1"/>
          <p:nvPr/>
        </p:nvSpPr>
        <p:spPr>
          <a:xfrm>
            <a:off x="1187624" y="2865420"/>
            <a:ext cx="881420" cy="756316"/>
          </a:xfrm>
          <a:prstGeom prst="rect">
            <a:avLst/>
          </a:prstGeom>
          <a:solidFill>
            <a:schemeClr val="bg1">
              <a:lumMod val="95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effectLst/>
              </a:rPr>
              <a:t>Datasets</a:t>
            </a:r>
          </a:p>
          <a:p>
            <a:pPr algn="ctr">
              <a:lnSpc>
                <a:spcPts val="1400"/>
              </a:lnSpc>
              <a:buNone/>
            </a:pPr>
            <a:r>
              <a:rPr lang="en-US" altLang="zh-TW" sz="1200" dirty="0"/>
              <a:t>High-quality</a:t>
            </a:r>
          </a:p>
          <a:p>
            <a:pPr algn="ctr">
              <a:lnSpc>
                <a:spcPts val="1400"/>
              </a:lnSpc>
              <a:buNone/>
            </a:pPr>
            <a:r>
              <a:rPr lang="en-US" altLang="zh-TW" sz="1200" dirty="0"/>
              <a:t>data at scale</a:t>
            </a:r>
          </a:p>
        </p:txBody>
      </p:sp>
      <p:sp>
        <p:nvSpPr>
          <p:cNvPr id="4" name="文字方塊 3">
            <a:extLst>
              <a:ext uri="{FF2B5EF4-FFF2-40B4-BE49-F238E27FC236}">
                <a16:creationId xmlns:a16="http://schemas.microsoft.com/office/drawing/2014/main" id="{BADAF9A1-9632-45F8-45B0-2608A98B26A6}"/>
              </a:ext>
            </a:extLst>
          </p:cNvPr>
          <p:cNvSpPr txBox="1"/>
          <p:nvPr/>
        </p:nvSpPr>
        <p:spPr>
          <a:xfrm>
            <a:off x="7092280" y="2852936"/>
            <a:ext cx="1219522" cy="1092606"/>
          </a:xfrm>
          <a:prstGeom prst="rect">
            <a:avLst/>
          </a:prstGeom>
          <a:solidFill>
            <a:schemeClr val="accent1">
              <a:lumMod val="20000"/>
              <a:lumOff val="80000"/>
              <a:alpha val="90000"/>
            </a:schemeClr>
          </a:solidFill>
          <a:ln w="25400">
            <a:solidFill>
              <a:schemeClr val="bg1">
                <a:lumMod val="85000"/>
              </a:schemeClr>
            </a:solidFill>
          </a:ln>
        </p:spPr>
        <p:txBody>
          <a:bodyPr wrap="none" lIns="0" tIns="72000" rIns="0" bIns="36000" anchor="ctr" anchorCtr="1">
            <a:noAutofit/>
          </a:bodyPr>
          <a:lstStyle/>
          <a:p>
            <a:pPr algn="ctr">
              <a:lnSpc>
                <a:spcPts val="1400"/>
              </a:lnSpc>
              <a:buNone/>
            </a:pPr>
            <a:r>
              <a:rPr lang="en-US" altLang="zh-TW" sz="1400" b="1" u="none" strike="noStrike" dirty="0">
                <a:solidFill>
                  <a:schemeClr val="accent1">
                    <a:lumMod val="60000"/>
                    <a:lumOff val="40000"/>
                  </a:schemeClr>
                </a:solidFill>
                <a:effectLst/>
              </a:rPr>
              <a:t>LLM, RAG</a:t>
            </a:r>
          </a:p>
          <a:p>
            <a:pPr algn="ctr">
              <a:lnSpc>
                <a:spcPts val="1400"/>
              </a:lnSpc>
              <a:buNone/>
            </a:pPr>
            <a:r>
              <a:rPr lang="en-US" altLang="zh-TW" sz="1400" b="1" u="none" strike="noStrike" dirty="0">
                <a:solidFill>
                  <a:schemeClr val="accent1">
                    <a:lumMod val="60000"/>
                    <a:lumOff val="40000"/>
                  </a:schemeClr>
                </a:solidFill>
                <a:effectLst/>
              </a:rPr>
              <a:t>&amp; MCP</a:t>
            </a:r>
          </a:p>
        </p:txBody>
      </p:sp>
      <p:sp>
        <p:nvSpPr>
          <p:cNvPr id="48" name="右大括弧 47">
            <a:extLst>
              <a:ext uri="{FF2B5EF4-FFF2-40B4-BE49-F238E27FC236}">
                <a16:creationId xmlns:a16="http://schemas.microsoft.com/office/drawing/2014/main" id="{592F96BD-536F-D6A8-0626-53354B511790}"/>
              </a:ext>
            </a:extLst>
          </p:cNvPr>
          <p:cNvSpPr/>
          <p:nvPr/>
        </p:nvSpPr>
        <p:spPr>
          <a:xfrm rot="5400000">
            <a:off x="7618632" y="3478714"/>
            <a:ext cx="166822"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50" name="標題 1">
            <a:extLst>
              <a:ext uri="{FF2B5EF4-FFF2-40B4-BE49-F238E27FC236}">
                <a16:creationId xmlns:a16="http://schemas.microsoft.com/office/drawing/2014/main" id="{A6C60A52-6343-C98D-76E5-6AF3F0BFE940}"/>
              </a:ext>
            </a:extLst>
          </p:cNvPr>
          <p:cNvSpPr txBox="1">
            <a:spLocks/>
          </p:cNvSpPr>
          <p:nvPr/>
        </p:nvSpPr>
        <p:spPr>
          <a:xfrm>
            <a:off x="7207330" y="4198282"/>
            <a:ext cx="989422" cy="166822"/>
          </a:xfrm>
          <a:prstGeom prst="rect">
            <a:avLst/>
          </a:prstGeom>
          <a:solidFill>
            <a:schemeClr val="bg1">
              <a:alpha val="9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AI Runtime</a:t>
            </a:r>
          </a:p>
        </p:txBody>
      </p:sp>
      <p:sp>
        <p:nvSpPr>
          <p:cNvPr id="56" name="標題 1">
            <a:extLst>
              <a:ext uri="{FF2B5EF4-FFF2-40B4-BE49-F238E27FC236}">
                <a16:creationId xmlns:a16="http://schemas.microsoft.com/office/drawing/2014/main" id="{2A82E91C-98AE-1B62-4C92-DB1CCFC0C8F9}"/>
              </a:ext>
            </a:extLst>
          </p:cNvPr>
          <p:cNvSpPr txBox="1">
            <a:spLocks/>
          </p:cNvSpPr>
          <p:nvPr/>
        </p:nvSpPr>
        <p:spPr>
          <a:xfrm>
            <a:off x="2621428" y="3842925"/>
            <a:ext cx="1219522" cy="306155"/>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Self-Supervised</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57" name="標題 1">
            <a:extLst>
              <a:ext uri="{FF2B5EF4-FFF2-40B4-BE49-F238E27FC236}">
                <a16:creationId xmlns:a16="http://schemas.microsoft.com/office/drawing/2014/main" id="{9639087C-5560-72DE-DC44-CD9A7EB3BB19}"/>
              </a:ext>
            </a:extLst>
          </p:cNvPr>
          <p:cNvSpPr txBox="1">
            <a:spLocks/>
          </p:cNvSpPr>
          <p:nvPr/>
        </p:nvSpPr>
        <p:spPr>
          <a:xfrm>
            <a:off x="4410660" y="3842924"/>
            <a:ext cx="881420" cy="30615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Supervised</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58" name="標題 1">
            <a:extLst>
              <a:ext uri="{FF2B5EF4-FFF2-40B4-BE49-F238E27FC236}">
                <a16:creationId xmlns:a16="http://schemas.microsoft.com/office/drawing/2014/main" id="{2B962C8B-BC20-A7C5-39C0-698656C6AF81}"/>
              </a:ext>
            </a:extLst>
          </p:cNvPr>
          <p:cNvSpPr txBox="1">
            <a:spLocks/>
          </p:cNvSpPr>
          <p:nvPr/>
        </p:nvSpPr>
        <p:spPr>
          <a:xfrm>
            <a:off x="5490780" y="3840781"/>
            <a:ext cx="881420" cy="30829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Reinforcement</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63" name="右大括弧 62">
            <a:extLst>
              <a:ext uri="{FF2B5EF4-FFF2-40B4-BE49-F238E27FC236}">
                <a16:creationId xmlns:a16="http://schemas.microsoft.com/office/drawing/2014/main" id="{032F07CA-35E8-85B4-696B-E0A0F3EB0CAB}"/>
              </a:ext>
            </a:extLst>
          </p:cNvPr>
          <p:cNvSpPr/>
          <p:nvPr/>
        </p:nvSpPr>
        <p:spPr>
          <a:xfrm rot="5400000">
            <a:off x="3154669" y="3111783"/>
            <a:ext cx="153040"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64" name="箭號: 向下 63">
            <a:extLst>
              <a:ext uri="{FF2B5EF4-FFF2-40B4-BE49-F238E27FC236}">
                <a16:creationId xmlns:a16="http://schemas.microsoft.com/office/drawing/2014/main" id="{10F6799C-8544-967F-582D-18A4EB7271C9}"/>
              </a:ext>
            </a:extLst>
          </p:cNvPr>
          <p:cNvSpPr/>
          <p:nvPr/>
        </p:nvSpPr>
        <p:spPr>
          <a:xfrm>
            <a:off x="575147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箭號: 向下 65">
            <a:extLst>
              <a:ext uri="{FF2B5EF4-FFF2-40B4-BE49-F238E27FC236}">
                <a16:creationId xmlns:a16="http://schemas.microsoft.com/office/drawing/2014/main" id="{3F6D40EE-A09A-D897-2280-3A52093CC2C0}"/>
              </a:ext>
            </a:extLst>
          </p:cNvPr>
          <p:cNvSpPr/>
          <p:nvPr/>
        </p:nvSpPr>
        <p:spPr>
          <a:xfrm>
            <a:off x="467135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標題 1">
            <a:extLst>
              <a:ext uri="{FF2B5EF4-FFF2-40B4-BE49-F238E27FC236}">
                <a16:creationId xmlns:a16="http://schemas.microsoft.com/office/drawing/2014/main" id="{D2BFB449-7367-BD0D-10EF-228773E871A1}"/>
              </a:ext>
            </a:extLst>
          </p:cNvPr>
          <p:cNvSpPr txBox="1">
            <a:spLocks/>
          </p:cNvSpPr>
          <p:nvPr/>
        </p:nvSpPr>
        <p:spPr>
          <a:xfrm>
            <a:off x="4066994" y="1844824"/>
            <a:ext cx="1568751" cy="61218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Q&amp;A</a:t>
            </a:r>
            <a:r>
              <a:rPr kumimoji="0" lang="zh-TW" altLang="en-US"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r>
              <a:rPr kumimoji="0" lang="en-US" altLang="zh-TW"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Pair</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Q:</a:t>
            </a:r>
            <a:r>
              <a:rPr kumimoji="0" lang="zh-TW" altLang="en-US"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he capital of France</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p>
          <a:p>
            <a:pPr marL="0" marR="0" lvl="0" indent="0" defTabSz="914400" rtl="0" eaLnBrk="1" fontAlgn="auto" latinLnBrk="0" hangingPunct="1">
              <a:lnSpc>
                <a:spcPct val="100000"/>
              </a:lnSpc>
              <a:spcBef>
                <a:spcPts val="0"/>
              </a:spcBef>
              <a:spcAft>
                <a:spcPts val="0"/>
              </a:spcAft>
              <a:buClrTx/>
              <a:buSzTx/>
              <a:buFontTx/>
              <a:buNone/>
              <a:tabLst/>
              <a:defRPr/>
            </a:pPr>
            <a:r>
              <a:rPr lang="zh-TW" altLang="zh-TW" sz="1200" dirty="0"/>
              <a:t>➔</a:t>
            </a:r>
            <a:r>
              <a:rPr lang="zh-TW" altLang="en-US" sz="1200" dirty="0"/>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Ans:</a:t>
            </a:r>
            <a:r>
              <a:rPr kumimoji="0" lang="zh-TW" altLang="en-US"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Paris</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endParaRPr kumimoji="0" lang="en-US" altLang="zh-TW" sz="1200" b="0" i="0" u="none" strike="noStrike" kern="1200" cap="none" spc="0" normalizeH="0" baseline="0" noProof="0" dirty="0">
              <a:ln>
                <a:noFill/>
              </a:ln>
              <a:solidFill>
                <a:prstClr val="black"/>
              </a:solidFill>
              <a:effectLst/>
              <a:uLnTx/>
              <a:uFillTx/>
              <a:latin typeface="+mn-lt"/>
              <a:ea typeface="Microsoft YaHei Mono" panose="020B0509020204020204" pitchFamily="49" charset="-120"/>
              <a:cs typeface="Arial" panose="020B0604020202020204" pitchFamily="34" charset="0"/>
            </a:endParaRPr>
          </a:p>
        </p:txBody>
      </p:sp>
      <p:sp>
        <p:nvSpPr>
          <p:cNvPr id="70" name="箭號: 向下 69">
            <a:extLst>
              <a:ext uri="{FF2B5EF4-FFF2-40B4-BE49-F238E27FC236}">
                <a16:creationId xmlns:a16="http://schemas.microsoft.com/office/drawing/2014/main" id="{46089501-17DA-340E-3487-B561936A871F}"/>
              </a:ext>
            </a:extLst>
          </p:cNvPr>
          <p:cNvSpPr/>
          <p:nvPr/>
        </p:nvSpPr>
        <p:spPr>
          <a:xfrm>
            <a:off x="251111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標題 1">
            <a:extLst>
              <a:ext uri="{FF2B5EF4-FFF2-40B4-BE49-F238E27FC236}">
                <a16:creationId xmlns:a16="http://schemas.microsoft.com/office/drawing/2014/main" id="{E6ED2FA8-083B-B6CF-541D-7E8A5A736CA6}"/>
              </a:ext>
            </a:extLst>
          </p:cNvPr>
          <p:cNvSpPr txBox="1">
            <a:spLocks/>
          </p:cNvSpPr>
          <p:nvPr/>
        </p:nvSpPr>
        <p:spPr>
          <a:xfrm>
            <a:off x="1611485" y="1268760"/>
            <a:ext cx="2159290" cy="89991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t>Raw Text</a:t>
            </a:r>
          </a:p>
          <a:p>
            <a:pPr algn="ctr"/>
            <a:r>
              <a:rPr lang="zh-TW" altLang="zh-TW" sz="1200" dirty="0"/>
              <a:t>The capital </a:t>
            </a:r>
            <a:r>
              <a:rPr lang="en-US" altLang="zh-TW" sz="1200" dirty="0"/>
              <a:t>city </a:t>
            </a:r>
            <a:r>
              <a:rPr lang="zh-TW" altLang="zh-TW" sz="1200" dirty="0"/>
              <a:t>of France</a:t>
            </a:r>
            <a:r>
              <a:rPr lang="en-US" altLang="zh-TW" sz="1200" dirty="0"/>
              <a:t> </a:t>
            </a:r>
            <a:r>
              <a:rPr lang="zh-TW" altLang="zh-TW" sz="1200" dirty="0"/>
              <a:t>is Paris</a:t>
            </a:r>
            <a:r>
              <a:rPr lang="en-US" altLang="zh-TW" sz="1200" dirty="0"/>
              <a:t>, </a:t>
            </a:r>
          </a:p>
          <a:p>
            <a:pPr algn="ctr"/>
            <a:r>
              <a:rPr lang="en-US" altLang="zh-TW" sz="1200" dirty="0"/>
              <a:t>which is famous for the Eiffel Tower</a:t>
            </a:r>
          </a:p>
          <a:p>
            <a:pPr algn="ctr"/>
            <a:r>
              <a:rPr lang="en-US" altLang="zh-TW" sz="1200" dirty="0"/>
              <a:t>and its rich history of art and fashion </a:t>
            </a:r>
            <a:r>
              <a:rPr lang="en-US" altLang="zh-TW" sz="1200" dirty="0">
                <a:latin typeface="Microsoft YaHei Mono" panose="020B0509020204020204" pitchFamily="49" charset="-120"/>
                <a:ea typeface="Microsoft YaHei Mono" panose="020B0509020204020204" pitchFamily="49" charset="-120"/>
                <a:cs typeface="Arial" panose="020B0604020202020204" pitchFamily="34" charset="0"/>
              </a:rPr>
              <a:t>…</a:t>
            </a:r>
            <a:endParaRPr lang="en-US" altLang="zh-TW" sz="1200" dirty="0"/>
          </a:p>
        </p:txBody>
      </p:sp>
      <p:sp>
        <p:nvSpPr>
          <p:cNvPr id="75" name="標題 1">
            <a:extLst>
              <a:ext uri="{FF2B5EF4-FFF2-40B4-BE49-F238E27FC236}">
                <a16:creationId xmlns:a16="http://schemas.microsoft.com/office/drawing/2014/main" id="{FFF83890-18AB-4059-B960-1AF402528FFD}"/>
              </a:ext>
            </a:extLst>
          </p:cNvPr>
          <p:cNvSpPr txBox="1">
            <a:spLocks/>
          </p:cNvSpPr>
          <p:nvPr/>
        </p:nvSpPr>
        <p:spPr>
          <a:xfrm>
            <a:off x="5055186" y="1027015"/>
            <a:ext cx="1752607" cy="68103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Preference</a:t>
            </a:r>
            <a:r>
              <a:rPr kumimoji="0" lang="zh-TW" altLang="en-US"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Pair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solidFill>
                  <a:prstClr val="black"/>
                </a:solidFill>
              </a:rPr>
              <a:t>T</a:t>
            </a:r>
            <a:r>
              <a:rPr lang="zh-TW" altLang="zh-TW" sz="1200" dirty="0">
                <a:solidFill>
                  <a:prstClr val="black"/>
                </a:solidFill>
              </a:rPr>
              <a:t>he capital of France</a:t>
            </a:r>
            <a:r>
              <a:rPr lang="en-US" altLang="zh-TW" sz="1200" dirty="0">
                <a:solidFill>
                  <a:prstClr val="black"/>
                </a:solidFill>
              </a:rPr>
              <a:t>?</a:t>
            </a:r>
            <a:endPar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endParaRPr>
          </a:p>
          <a:p>
            <a:pPr lvl="0" algn="ctr">
              <a:spcBef>
                <a:spcPts val="0"/>
              </a:spcBef>
              <a:defRPr/>
            </a:pP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Paris</a:t>
            </a:r>
            <a:r>
              <a:rPr lang="en-US" altLang="zh-TW" sz="1200" dirty="0">
                <a:solidFill>
                  <a:prstClr val="black"/>
                </a:solidFill>
                <a:latin typeface="+mn-lt"/>
                <a:ea typeface="新細明體" panose="02020500000000000000" pitchFamily="18" charset="-120"/>
                <a:cs typeface="+mn-cs"/>
              </a:rPr>
              <a:t>.</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lang="zh-TW" altLang="zh-TW" sz="1200" dirty="0"/>
              <a:t>👍</a:t>
            </a:r>
            <a:r>
              <a:rPr lang="en-US" altLang="zh-TW" sz="1200" dirty="0"/>
              <a:t>,</a:t>
            </a:r>
            <a:r>
              <a:rPr lang="en-US" altLang="zh-TW" sz="1200" dirty="0">
                <a:solidFill>
                  <a:prstClr val="black"/>
                </a:solidFill>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“Bonjour!“ </a:t>
            </a:r>
            <a:r>
              <a:rPr lang="zh-TW" altLang="zh-TW" sz="1200" dirty="0"/>
              <a:t>❌</a:t>
            </a:r>
            <a:endParaRPr kumimoji="0" lang="en-US" altLang="zh-TW" sz="1200" b="0" i="0" u="none" strike="noStrike" kern="1200" cap="none" spc="0" normalizeH="0" baseline="0" noProof="0" dirty="0">
              <a:ln>
                <a:noFill/>
              </a:ln>
              <a:solidFill>
                <a:prstClr val="black"/>
              </a:solidFill>
              <a:effectLst/>
              <a:uLnTx/>
              <a:uFillTx/>
              <a:latin typeface="+mn-lt"/>
              <a:ea typeface="Microsoft YaHei Mono" panose="020B0509020204020204" pitchFamily="49" charset="-120"/>
              <a:cs typeface="Arial" panose="020B0604020202020204" pitchFamily="34" charset="0"/>
            </a:endParaRPr>
          </a:p>
        </p:txBody>
      </p:sp>
      <p:cxnSp>
        <p:nvCxnSpPr>
          <p:cNvPr id="77" name="直線接點 76">
            <a:extLst>
              <a:ext uri="{FF2B5EF4-FFF2-40B4-BE49-F238E27FC236}">
                <a16:creationId xmlns:a16="http://schemas.microsoft.com/office/drawing/2014/main" id="{B24DEF9A-91BE-D157-AECC-ACB0D61F69B5}"/>
              </a:ext>
            </a:extLst>
          </p:cNvPr>
          <p:cNvCxnSpPr>
            <a:cxnSpLocks/>
            <a:stCxn id="71" idx="2"/>
            <a:endCxn id="70" idx="0"/>
          </p:cNvCxnSpPr>
          <p:nvPr/>
        </p:nvCxnSpPr>
        <p:spPr>
          <a:xfrm>
            <a:off x="2691130" y="2168679"/>
            <a:ext cx="0" cy="439291"/>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79" name="直線接點 78">
            <a:extLst>
              <a:ext uri="{FF2B5EF4-FFF2-40B4-BE49-F238E27FC236}">
                <a16:creationId xmlns:a16="http://schemas.microsoft.com/office/drawing/2014/main" id="{FE277F59-9B55-D3F2-3CA9-FCF68A362EAE}"/>
              </a:ext>
            </a:extLst>
          </p:cNvPr>
          <p:cNvCxnSpPr>
            <a:cxnSpLocks/>
            <a:stCxn id="67" idx="2"/>
            <a:endCxn id="66" idx="0"/>
          </p:cNvCxnSpPr>
          <p:nvPr/>
        </p:nvCxnSpPr>
        <p:spPr>
          <a:xfrm>
            <a:off x="4851370" y="2457010"/>
            <a:ext cx="0" cy="150960"/>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83" name="直線接點 82">
            <a:extLst>
              <a:ext uri="{FF2B5EF4-FFF2-40B4-BE49-F238E27FC236}">
                <a16:creationId xmlns:a16="http://schemas.microsoft.com/office/drawing/2014/main" id="{5A1B8CD9-2534-AFC8-155C-658340105A6C}"/>
              </a:ext>
            </a:extLst>
          </p:cNvPr>
          <p:cNvCxnSpPr>
            <a:cxnSpLocks/>
            <a:stCxn id="75" idx="2"/>
            <a:endCxn id="64" idx="0"/>
          </p:cNvCxnSpPr>
          <p:nvPr/>
        </p:nvCxnSpPr>
        <p:spPr>
          <a:xfrm>
            <a:off x="5931490" y="1708051"/>
            <a:ext cx="0" cy="899919"/>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graphicFrame>
        <p:nvGraphicFramePr>
          <p:cNvPr id="91" name="表格 90">
            <a:extLst>
              <a:ext uri="{FF2B5EF4-FFF2-40B4-BE49-F238E27FC236}">
                <a16:creationId xmlns:a16="http://schemas.microsoft.com/office/drawing/2014/main" id="{ABA906ED-CAE4-A5D0-712C-0D2B5446F468}"/>
              </a:ext>
            </a:extLst>
          </p:cNvPr>
          <p:cNvGraphicFramePr>
            <a:graphicFrameLocks noGrp="1"/>
          </p:cNvGraphicFramePr>
          <p:nvPr>
            <p:extLst>
              <p:ext uri="{D42A27DB-BD31-4B8C-83A1-F6EECF244321}">
                <p14:modId xmlns:p14="http://schemas.microsoft.com/office/powerpoint/2010/main" val="47463446"/>
              </p:ext>
            </p:extLst>
          </p:nvPr>
        </p:nvGraphicFramePr>
        <p:xfrm>
          <a:off x="4410659" y="5301208"/>
          <a:ext cx="2249569" cy="731520"/>
        </p:xfrm>
        <a:graphic>
          <a:graphicData uri="http://schemas.openxmlformats.org/drawingml/2006/table">
            <a:tbl>
              <a:tblPr firstRow="1" bandRow="1">
                <a:tableStyleId>{5C22544A-7EE6-4342-B048-85BDC9FD1C3A}</a:tableStyleId>
              </a:tblPr>
              <a:tblGrid>
                <a:gridCol w="2249569">
                  <a:extLst>
                    <a:ext uri="{9D8B030D-6E8A-4147-A177-3AD203B41FA5}">
                      <a16:colId xmlns:a16="http://schemas.microsoft.com/office/drawing/2014/main" val="4512040"/>
                    </a:ext>
                  </a:extLst>
                </a:gridCol>
              </a:tblGrid>
              <a:tr h="179736">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SFT</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179736">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Instruction Tuning (Google FLAN)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641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Masked Loss (GPT)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641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3249197690"/>
                  </a:ext>
                </a:extLst>
              </a:tr>
            </a:tbl>
          </a:graphicData>
        </a:graphic>
      </p:graphicFrame>
      <p:cxnSp>
        <p:nvCxnSpPr>
          <p:cNvPr id="92" name="直線接點 91">
            <a:extLst>
              <a:ext uri="{FF2B5EF4-FFF2-40B4-BE49-F238E27FC236}">
                <a16:creationId xmlns:a16="http://schemas.microsoft.com/office/drawing/2014/main" id="{C537D32B-3BFA-3EC7-677D-B5E0D4C8562F}"/>
              </a:ext>
            </a:extLst>
          </p:cNvPr>
          <p:cNvCxnSpPr>
            <a:cxnSpLocks/>
            <a:stCxn id="58" idx="2"/>
          </p:cNvCxnSpPr>
          <p:nvPr/>
        </p:nvCxnSpPr>
        <p:spPr>
          <a:xfrm>
            <a:off x="5931490" y="4149080"/>
            <a:ext cx="0" cy="288032"/>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2" name="直線接點 101">
            <a:extLst>
              <a:ext uri="{FF2B5EF4-FFF2-40B4-BE49-F238E27FC236}">
                <a16:creationId xmlns:a16="http://schemas.microsoft.com/office/drawing/2014/main" id="{9AD8B825-75F1-7834-F4BB-F758BF3469CD}"/>
              </a:ext>
            </a:extLst>
          </p:cNvPr>
          <p:cNvCxnSpPr>
            <a:cxnSpLocks/>
            <a:stCxn id="57" idx="2"/>
          </p:cNvCxnSpPr>
          <p:nvPr/>
        </p:nvCxnSpPr>
        <p:spPr>
          <a:xfrm>
            <a:off x="4851370" y="4149080"/>
            <a:ext cx="0" cy="1076906"/>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 name="直線單箭頭接點 1">
            <a:extLst>
              <a:ext uri="{FF2B5EF4-FFF2-40B4-BE49-F238E27FC236}">
                <a16:creationId xmlns:a16="http://schemas.microsoft.com/office/drawing/2014/main" id="{7CE7BE7D-6DAD-3858-D4E5-E77519032314}"/>
              </a:ext>
            </a:extLst>
          </p:cNvPr>
          <p:cNvCxnSpPr>
            <a:cxnSpLocks/>
            <a:stCxn id="46" idx="3"/>
            <a:endCxn id="34" idx="1"/>
          </p:cNvCxnSpPr>
          <p:nvPr/>
        </p:nvCxnSpPr>
        <p:spPr>
          <a:xfrm flipV="1">
            <a:off x="2069044" y="3239781"/>
            <a:ext cx="181376" cy="3797"/>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030E9503-98E3-E82D-AD5D-EF80526B0217}"/>
              </a:ext>
            </a:extLst>
          </p:cNvPr>
          <p:cNvGraphicFramePr>
            <a:graphicFrameLocks noGrp="1"/>
          </p:cNvGraphicFramePr>
          <p:nvPr>
            <p:extLst>
              <p:ext uri="{D42A27DB-BD31-4B8C-83A1-F6EECF244321}">
                <p14:modId xmlns:p14="http://schemas.microsoft.com/office/powerpoint/2010/main" val="915620249"/>
              </p:ext>
            </p:extLst>
          </p:nvPr>
        </p:nvGraphicFramePr>
        <p:xfrm>
          <a:off x="2621428" y="5013176"/>
          <a:ext cx="1219522" cy="761261"/>
        </p:xfrm>
        <a:graphic>
          <a:graphicData uri="http://schemas.openxmlformats.org/drawingml/2006/table">
            <a:tbl>
              <a:tblPr firstRow="1" bandRow="1">
                <a:tableStyleId>{5C22544A-7EE6-4342-B048-85BDC9FD1C3A}</a:tableStyleId>
              </a:tblPr>
              <a:tblGrid>
                <a:gridCol w="1219522">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Mentor Model</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Regularities of NL</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World Fact (CAI)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057912659"/>
                  </a:ext>
                </a:extLst>
              </a:tr>
            </a:tbl>
          </a:graphicData>
        </a:graphic>
      </p:graphicFrame>
      <p:cxnSp>
        <p:nvCxnSpPr>
          <p:cNvPr id="8" name="直線接點 7">
            <a:extLst>
              <a:ext uri="{FF2B5EF4-FFF2-40B4-BE49-F238E27FC236}">
                <a16:creationId xmlns:a16="http://schemas.microsoft.com/office/drawing/2014/main" id="{DFBEF656-21D3-87C5-1444-C70AEF5EB4FF}"/>
              </a:ext>
            </a:extLst>
          </p:cNvPr>
          <p:cNvCxnSpPr>
            <a:cxnSpLocks/>
            <a:stCxn id="56" idx="2"/>
            <a:endCxn id="7" idx="0"/>
          </p:cNvCxnSpPr>
          <p:nvPr/>
        </p:nvCxnSpPr>
        <p:spPr>
          <a:xfrm>
            <a:off x="3231189" y="4149080"/>
            <a:ext cx="0" cy="864096"/>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表格 8">
            <a:extLst>
              <a:ext uri="{FF2B5EF4-FFF2-40B4-BE49-F238E27FC236}">
                <a16:creationId xmlns:a16="http://schemas.microsoft.com/office/drawing/2014/main" id="{2D9BD50B-577F-B4B4-A220-E73A646B5989}"/>
              </a:ext>
            </a:extLst>
          </p:cNvPr>
          <p:cNvGraphicFramePr>
            <a:graphicFrameLocks noGrp="1"/>
          </p:cNvGraphicFramePr>
          <p:nvPr>
            <p:extLst>
              <p:ext uri="{D42A27DB-BD31-4B8C-83A1-F6EECF244321}">
                <p14:modId xmlns:p14="http://schemas.microsoft.com/office/powerpoint/2010/main" val="2533785094"/>
              </p:ext>
            </p:extLst>
          </p:nvPr>
        </p:nvGraphicFramePr>
        <p:xfrm>
          <a:off x="3485298" y="6093296"/>
          <a:ext cx="1366071" cy="395501"/>
        </p:xfrm>
        <a:graphic>
          <a:graphicData uri="http://schemas.openxmlformats.org/drawingml/2006/table">
            <a:tbl>
              <a:tblPr firstRow="1" bandRow="1">
                <a:tableStyleId>{5C22544A-7EE6-4342-B048-85BDC9FD1C3A}</a:tableStyleId>
              </a:tblPr>
              <a:tblGrid>
                <a:gridCol w="1366071">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On-Policy Distillation</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RL: (PPO/GRPO)</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bl>
          </a:graphicData>
        </a:graphic>
      </p:graphicFrame>
    </p:spTree>
    <p:extLst>
      <p:ext uri="{BB962C8B-B14F-4D97-AF65-F5344CB8AC3E}">
        <p14:creationId xmlns:p14="http://schemas.microsoft.com/office/powerpoint/2010/main" val="35985897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0B116-CCAD-8F24-3B05-0C6DFC3711C6}"/>
            </a:ext>
          </a:extLst>
        </p:cNvPr>
        <p:cNvGrpSpPr/>
        <p:nvPr/>
      </p:nvGrpSpPr>
      <p:grpSpPr>
        <a:xfrm>
          <a:off x="0" y="0"/>
          <a:ext cx="0" cy="0"/>
          <a:chOff x="0" y="0"/>
          <a:chExt cx="0" cy="0"/>
        </a:xfrm>
      </p:grpSpPr>
      <p:pic>
        <p:nvPicPr>
          <p:cNvPr id="15" name="圖片 14">
            <a:extLst>
              <a:ext uri="{FF2B5EF4-FFF2-40B4-BE49-F238E27FC236}">
                <a16:creationId xmlns:a16="http://schemas.microsoft.com/office/drawing/2014/main" id="{0C340B15-2BF2-C136-5516-AEC553E90F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980728"/>
            <a:ext cx="2881856" cy="5401864"/>
          </a:xfrm>
          <a:prstGeom prst="rect">
            <a:avLst/>
          </a:prstGeom>
        </p:spPr>
      </p:pic>
      <p:pic>
        <p:nvPicPr>
          <p:cNvPr id="17" name="圖片 16">
            <a:extLst>
              <a:ext uri="{FF2B5EF4-FFF2-40B4-BE49-F238E27FC236}">
                <a16:creationId xmlns:a16="http://schemas.microsoft.com/office/drawing/2014/main" id="{FBE74C0A-E981-344A-F265-6ACA240DD2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4008" y="980728"/>
            <a:ext cx="2881856" cy="5414003"/>
          </a:xfrm>
          <a:prstGeom prst="rect">
            <a:avLst/>
          </a:prstGeom>
        </p:spPr>
      </p:pic>
      <p:sp>
        <p:nvSpPr>
          <p:cNvPr id="4" name="標題 1">
            <a:extLst>
              <a:ext uri="{FF2B5EF4-FFF2-40B4-BE49-F238E27FC236}">
                <a16:creationId xmlns:a16="http://schemas.microsoft.com/office/drawing/2014/main" id="{8DA240C7-1AA6-01D1-A81E-AF38C6636C4D}"/>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Transformer Architecture</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Dense for efficient edge intelligence; MoE for massive cloud scale..</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9AF0EDF-4436-A687-FC00-0F2CE87361AA}"/>
                  </a:ext>
                </a:extLst>
              </p:cNvPr>
              <p:cNvSpPr txBox="1"/>
              <p:nvPr/>
            </p:nvSpPr>
            <p:spPr>
              <a:xfrm>
                <a:off x="5417352" y="4149080"/>
                <a:ext cx="456605" cy="360040"/>
              </a:xfrm>
              <a:prstGeom prst="rect">
                <a:avLst/>
              </a:prstGeom>
              <a:noFill/>
            </p:spPr>
            <p:txBody>
              <a:bodyPr wrap="none" lIns="0" tIns="0" rIns="0" bIns="0" rtlCol="0" anchor="ctr" anchorCtr="1">
                <a:noAutofit/>
              </a:bodyPr>
              <a:lstStyle/>
              <a:p>
                <a:pPr>
                  <a:lnSpc>
                    <a:spcPct val="150000"/>
                  </a:lnSpc>
                </a:pPr>
                <a14:m>
                  <m:oMathPara xmlns:m="http://schemas.openxmlformats.org/officeDocument/2006/math">
                    <m:oMathParaPr>
                      <m:jc m:val="center"/>
                    </m:oMathParaPr>
                    <m:oMath>
                      <m:sSubSup>
                        <m:sSubSupPr>
                          <m:ctrlPr>
                            <a:rPr lang="en-US" altLang="zh-TW" sz="1200" i="1">
                              <a:latin typeface="Cambria Math" panose="02040503050406030204" pitchFamily="18" charset="0"/>
                              <a:ea typeface="Cambria Math" panose="02040503050406030204" pitchFamily="18" charset="0"/>
                            </a:rPr>
                          </m:ctrlPr>
                        </m:sSubSupPr>
                        <m:e>
                          <m:r>
                            <m:rPr>
                              <m:sty m:val="p"/>
                            </m:rPr>
                            <a:rPr lang="en-US" altLang="zh-TW" sz="1200" i="1">
                              <a:latin typeface="Cambria Math" panose="02040503050406030204" pitchFamily="18" charset="0"/>
                              <a:ea typeface="Cambria Math" panose="02040503050406030204" pitchFamily="18" charset="0"/>
                            </a:rPr>
                            <m:t>C</m:t>
                          </m:r>
                        </m:e>
                        <m:sub>
                          <m:r>
                            <a:rPr lang="en-US" altLang="zh-TW" sz="1200" b="0" i="1" smtClean="0">
                              <a:latin typeface="Cambria Math" panose="02040503050406030204" pitchFamily="18" charset="0"/>
                              <a:ea typeface="Cambria Math" panose="02040503050406030204" pitchFamily="18" charset="0"/>
                            </a:rPr>
                            <m:t>𝑘</m:t>
                          </m:r>
                          <m:r>
                            <a:rPr lang="en-US" altLang="zh-TW" sz="1200" b="0" i="1" smtClean="0">
                              <a:latin typeface="Cambria Math" panose="02040503050406030204" pitchFamily="18" charset="0"/>
                              <a:ea typeface="Cambria Math" panose="02040503050406030204" pitchFamily="18" charset="0"/>
                            </a:rPr>
                            <m:t>=2</m:t>
                          </m:r>
                        </m:sub>
                        <m:sup>
                          <m:r>
                            <a:rPr lang="en-US" altLang="zh-TW" sz="1200" b="0" i="1" smtClean="0">
                              <a:latin typeface="Cambria Math" panose="02040503050406030204" pitchFamily="18" charset="0"/>
                              <a:ea typeface="Cambria Math" panose="02040503050406030204" pitchFamily="18" charset="0"/>
                            </a:rPr>
                            <m:t>𝑚</m:t>
                          </m:r>
                          <m:r>
                            <a:rPr lang="en-US" altLang="zh-TW" sz="1200" b="0" i="1" smtClean="0">
                              <a:latin typeface="Cambria Math" panose="02040503050406030204" pitchFamily="18" charset="0"/>
                              <a:ea typeface="Cambria Math" panose="02040503050406030204" pitchFamily="18" charset="0"/>
                            </a:rPr>
                            <m:t>=16</m:t>
                          </m:r>
                        </m:sup>
                      </m:sSubSup>
                    </m:oMath>
                  </m:oMathPara>
                </a14:m>
                <a:endParaRPr lang="en-US" altLang="zh-TW" sz="1200" i="1"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mc:Choice>
        <mc:Fallback xmlns="">
          <p:sp>
            <p:nvSpPr>
              <p:cNvPr id="5" name="文字方塊 4">
                <a:extLst>
                  <a:ext uri="{FF2B5EF4-FFF2-40B4-BE49-F238E27FC236}">
                    <a16:creationId xmlns:a16="http://schemas.microsoft.com/office/drawing/2014/main" id="{C9AF0EDF-4436-A687-FC00-0F2CE87361AA}"/>
                  </a:ext>
                </a:extLst>
              </p:cNvPr>
              <p:cNvSpPr txBox="1">
                <a:spLocks noRot="1" noChangeAspect="1" noMove="1" noResize="1" noEditPoints="1" noAdjustHandles="1" noChangeArrowheads="1" noChangeShapeType="1" noTextEdit="1"/>
              </p:cNvSpPr>
              <p:nvPr/>
            </p:nvSpPr>
            <p:spPr>
              <a:xfrm>
                <a:off x="5417352" y="4149080"/>
                <a:ext cx="456605" cy="360040"/>
              </a:xfrm>
              <a:prstGeom prst="rect">
                <a:avLst/>
              </a:prstGeom>
              <a:blipFill>
                <a:blip r:embed="rId5"/>
                <a:stretch>
                  <a:fillRect l="-12000"/>
                </a:stretch>
              </a:blipFill>
            </p:spPr>
            <p:txBody>
              <a:bodyPr/>
              <a:lstStyle/>
              <a:p>
                <a:r>
                  <a:rPr lang="zh-TW" altLang="en-US">
                    <a:noFill/>
                  </a:rPr>
                  <a:t> </a:t>
                </a:r>
              </a:p>
            </p:txBody>
          </p:sp>
        </mc:Fallback>
      </mc:AlternateContent>
      <p:graphicFrame>
        <p:nvGraphicFramePr>
          <p:cNvPr id="10" name="表格 9">
            <a:extLst>
              <a:ext uri="{FF2B5EF4-FFF2-40B4-BE49-F238E27FC236}">
                <a16:creationId xmlns:a16="http://schemas.microsoft.com/office/drawing/2014/main" id="{E600ABA0-0D35-91B4-E483-3FB60FE94327}"/>
              </a:ext>
            </a:extLst>
          </p:cNvPr>
          <p:cNvGraphicFramePr>
            <a:graphicFrameLocks noGrp="1"/>
          </p:cNvGraphicFramePr>
          <p:nvPr>
            <p:extLst>
              <p:ext uri="{D42A27DB-BD31-4B8C-83A1-F6EECF244321}">
                <p14:modId xmlns:p14="http://schemas.microsoft.com/office/powerpoint/2010/main" val="266121522"/>
              </p:ext>
            </p:extLst>
          </p:nvPr>
        </p:nvGraphicFramePr>
        <p:xfrm>
          <a:off x="3766117" y="3285863"/>
          <a:ext cx="733875" cy="548640"/>
        </p:xfrm>
        <a:graphic>
          <a:graphicData uri="http://schemas.openxmlformats.org/drawingml/2006/table">
            <a:tbl>
              <a:tblPr firstRow="1" bandRow="1">
                <a:tableStyleId>{5C22544A-7EE6-4342-B048-85BDC9FD1C3A}</a:tableStyleId>
              </a:tblPr>
              <a:tblGrid>
                <a:gridCol w="733875">
                  <a:extLst>
                    <a:ext uri="{9D8B030D-6E8A-4147-A177-3AD203B41FA5}">
                      <a16:colId xmlns:a16="http://schemas.microsoft.com/office/drawing/2014/main" val="4512040"/>
                    </a:ext>
                  </a:extLst>
                </a:gridCol>
              </a:tblGrid>
              <a:tr h="288064">
                <a:tc>
                  <a:txBody>
                    <a:bodyPr/>
                    <a:lstStyle/>
                    <a:p>
                      <a:pPr algn="l"/>
                      <a:r>
                        <a:rPr lang="en-US" altLang="zh-TW" sz="1200" b="1" cap="none" spc="0" dirty="0">
                          <a:ln w="0"/>
                          <a:solidFill>
                            <a:schemeClr val="tx1"/>
                          </a:solidFill>
                          <a:effectLst/>
                        </a:rPr>
                        <a:t>Group</a:t>
                      </a:r>
                    </a:p>
                    <a:p>
                      <a:pPr algn="l"/>
                      <a:r>
                        <a:rPr lang="en-US" altLang="zh-TW" sz="1200" b="1" cap="none" spc="0" dirty="0">
                          <a:ln w="0"/>
                          <a:solidFill>
                            <a:schemeClr val="tx1"/>
                          </a:solidFill>
                          <a:effectLst/>
                        </a:rPr>
                        <a:t>Query</a:t>
                      </a:r>
                    </a:p>
                    <a:p>
                      <a:pPr algn="l"/>
                      <a:r>
                        <a:rPr lang="en-US" altLang="zh-TW" sz="1200" b="1" cap="none" spc="0" dirty="0">
                          <a:ln w="0"/>
                          <a:solidFill>
                            <a:schemeClr val="tx1"/>
                          </a:solidFill>
                          <a:effectLst/>
                        </a:rPr>
                        <a:t>Attention</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1311258892"/>
                  </a:ext>
                </a:extLst>
              </a:tr>
            </a:tbl>
          </a:graphicData>
        </a:graphic>
      </p:graphicFrame>
      <p:graphicFrame>
        <p:nvGraphicFramePr>
          <p:cNvPr id="3" name="表格 2">
            <a:extLst>
              <a:ext uri="{FF2B5EF4-FFF2-40B4-BE49-F238E27FC236}">
                <a16:creationId xmlns:a16="http://schemas.microsoft.com/office/drawing/2014/main" id="{077B1C4B-F67F-C512-74CA-8E832AD34217}"/>
              </a:ext>
            </a:extLst>
          </p:cNvPr>
          <p:cNvGraphicFramePr>
            <a:graphicFrameLocks noGrp="1"/>
          </p:cNvGraphicFramePr>
          <p:nvPr>
            <p:extLst>
              <p:ext uri="{D42A27DB-BD31-4B8C-83A1-F6EECF244321}">
                <p14:modId xmlns:p14="http://schemas.microsoft.com/office/powerpoint/2010/main" val="2276145047"/>
              </p:ext>
            </p:extLst>
          </p:nvPr>
        </p:nvGraphicFramePr>
        <p:xfrm>
          <a:off x="323528" y="2031948"/>
          <a:ext cx="1222398" cy="432048"/>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221192">
                <a:tc>
                  <a:txBody>
                    <a:bodyPr/>
                    <a:lstStyle/>
                    <a:p>
                      <a:pPr algn="l"/>
                      <a:r>
                        <a:rPr lang="en-US" altLang="zh-TW" sz="1200" b="1" cap="none" spc="0" dirty="0">
                          <a:ln w="0"/>
                          <a:solidFill>
                            <a:schemeClr val="tx1"/>
                          </a:solidFill>
                          <a:effectLst/>
                        </a:rPr>
                        <a:t>Vocabulary</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08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 VC</a:t>
                      </a:r>
                      <a:r>
                        <a:rPr lang="en-US" altLang="zh-TW" sz="1200" b="0" baseline="-25000" dirty="0"/>
                        <a:t> </a:t>
                      </a:r>
                      <a:r>
                        <a:rPr lang="en-US" altLang="zh-TW" sz="1200" b="0" dirty="0"/>
                        <a:t>] </a:t>
                      </a:r>
                      <a:r>
                        <a:rPr lang="en-US" altLang="zh-TW" sz="1200" b="0" baseline="-25000" dirty="0"/>
                        <a:t>Mxd </a:t>
                      </a:r>
                      <a:endParaRPr lang="en-US" altLang="zh-TW" sz="1200" b="0" u="none" strike="noStrike" dirty="0">
                        <a:effectLst/>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6" name="表格 5">
            <a:extLst>
              <a:ext uri="{FF2B5EF4-FFF2-40B4-BE49-F238E27FC236}">
                <a16:creationId xmlns:a16="http://schemas.microsoft.com/office/drawing/2014/main" id="{04CB878F-B5F0-6786-2773-DCBA05B60C5E}"/>
              </a:ext>
            </a:extLst>
          </p:cNvPr>
          <p:cNvGraphicFramePr>
            <a:graphicFrameLocks noGrp="1"/>
          </p:cNvGraphicFramePr>
          <p:nvPr>
            <p:extLst>
              <p:ext uri="{D42A27DB-BD31-4B8C-83A1-F6EECF244321}">
                <p14:modId xmlns:p14="http://schemas.microsoft.com/office/powerpoint/2010/main" val="3420127271"/>
              </p:ext>
            </p:extLst>
          </p:nvPr>
        </p:nvGraphicFramePr>
        <p:xfrm>
          <a:off x="323529" y="5626596"/>
          <a:ext cx="1222398" cy="653824"/>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288064">
                <a:tc>
                  <a:txBody>
                    <a:bodyPr/>
                    <a:lstStyle/>
                    <a:p>
                      <a:pPr algn="l"/>
                      <a:r>
                        <a:rPr lang="en-US" altLang="zh-TW" sz="1200" b="1" cap="none" spc="0" dirty="0">
                          <a:ln w="0"/>
                          <a:solidFill>
                            <a:schemeClr val="tx1"/>
                          </a:solidFill>
                          <a:effectLst/>
                        </a:rPr>
                        <a:t>Model</a:t>
                      </a:r>
                      <a:endParaRPr lang="en-US" altLang="zh-TW" sz="1000" b="0" cap="none" spc="0" dirty="0">
                        <a:ln w="0"/>
                        <a:solidFill>
                          <a:schemeClr val="accent1">
                            <a:lumMod val="75000"/>
                          </a:schemeClr>
                        </a:solidFill>
                        <a:effectLst/>
                      </a:endParaRP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595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Llama</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45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Google Gemma</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bl>
          </a:graphicData>
        </a:graphic>
      </p:graphicFrame>
      <p:graphicFrame>
        <p:nvGraphicFramePr>
          <p:cNvPr id="7" name="表格 6">
            <a:extLst>
              <a:ext uri="{FF2B5EF4-FFF2-40B4-BE49-F238E27FC236}">
                <a16:creationId xmlns:a16="http://schemas.microsoft.com/office/drawing/2014/main" id="{6696330E-A8B2-AB8B-118A-F6200FA59A6B}"/>
              </a:ext>
            </a:extLst>
          </p:cNvPr>
          <p:cNvGraphicFramePr>
            <a:graphicFrameLocks noGrp="1"/>
          </p:cNvGraphicFramePr>
          <p:nvPr>
            <p:extLst>
              <p:ext uri="{D42A27DB-BD31-4B8C-83A1-F6EECF244321}">
                <p14:modId xmlns:p14="http://schemas.microsoft.com/office/powerpoint/2010/main" val="4053342144"/>
              </p:ext>
            </p:extLst>
          </p:nvPr>
        </p:nvGraphicFramePr>
        <p:xfrm>
          <a:off x="7391026" y="5661248"/>
          <a:ext cx="997396" cy="653824"/>
        </p:xfrm>
        <a:graphic>
          <a:graphicData uri="http://schemas.openxmlformats.org/drawingml/2006/table">
            <a:tbl>
              <a:tblPr firstRow="1" bandRow="1">
                <a:tableStyleId>{5C22544A-7EE6-4342-B048-85BDC9FD1C3A}</a:tableStyleId>
              </a:tblPr>
              <a:tblGrid>
                <a:gridCol w="997396">
                  <a:extLst>
                    <a:ext uri="{9D8B030D-6E8A-4147-A177-3AD203B41FA5}">
                      <a16:colId xmlns:a16="http://schemas.microsoft.com/office/drawing/2014/main" val="4512040"/>
                    </a:ext>
                  </a:extLst>
                </a:gridCol>
              </a:tblGrid>
              <a:tr h="288064">
                <a:tc>
                  <a:txBody>
                    <a:bodyPr/>
                    <a:lstStyle/>
                    <a:p>
                      <a:pPr algn="l"/>
                      <a:r>
                        <a:rPr lang="en-US" altLang="zh-TW" sz="1200" b="1" cap="none" spc="0" dirty="0">
                          <a:ln w="0"/>
                          <a:solidFill>
                            <a:schemeClr val="tx1"/>
                          </a:solidFill>
                          <a:effectLst/>
                        </a:rPr>
                        <a:t>Model</a:t>
                      </a:r>
                      <a:endParaRPr lang="en-US" altLang="zh-TW" sz="1000" b="0" cap="none" spc="0" dirty="0">
                        <a:ln w="0"/>
                        <a:solidFill>
                          <a:schemeClr val="accent1">
                            <a:lumMod val="75000"/>
                          </a:schemeClr>
                        </a:solidFill>
                        <a:effectLst/>
                      </a:endParaRP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595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642474553"/>
                  </a:ext>
                </a:extLst>
              </a:tr>
              <a:tr h="145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bl>
          </a:graphicData>
        </a:graphic>
      </p:graphicFrame>
      <p:graphicFrame>
        <p:nvGraphicFramePr>
          <p:cNvPr id="11" name="表格 10">
            <a:extLst>
              <a:ext uri="{FF2B5EF4-FFF2-40B4-BE49-F238E27FC236}">
                <a16:creationId xmlns:a16="http://schemas.microsoft.com/office/drawing/2014/main" id="{03CB00E6-F30C-0143-7E2C-D86FE609A97B}"/>
              </a:ext>
            </a:extLst>
          </p:cNvPr>
          <p:cNvGraphicFramePr>
            <a:graphicFrameLocks noGrp="1"/>
          </p:cNvGraphicFramePr>
          <p:nvPr>
            <p:extLst>
              <p:ext uri="{D42A27DB-BD31-4B8C-83A1-F6EECF244321}">
                <p14:modId xmlns:p14="http://schemas.microsoft.com/office/powerpoint/2010/main" val="3423326501"/>
              </p:ext>
            </p:extLst>
          </p:nvPr>
        </p:nvGraphicFramePr>
        <p:xfrm>
          <a:off x="323529" y="4379178"/>
          <a:ext cx="1222398" cy="576615"/>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221193">
                <a:tc>
                  <a:txBody>
                    <a:bodyPr/>
                    <a:lstStyle/>
                    <a:p>
                      <a:pPr algn="l"/>
                      <a:r>
                        <a:rPr lang="en-US" altLang="zh-TW" sz="1200" b="1" cap="none" spc="0" dirty="0">
                          <a:ln w="0"/>
                          <a:solidFill>
                            <a:schemeClr val="tx1"/>
                          </a:solidFill>
                          <a:effectLst/>
                        </a:rPr>
                        <a:t>Feed Forward Network</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08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U</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D</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13" name="表格 12">
            <a:extLst>
              <a:ext uri="{FF2B5EF4-FFF2-40B4-BE49-F238E27FC236}">
                <a16:creationId xmlns:a16="http://schemas.microsoft.com/office/drawing/2014/main" id="{82ADC6CE-CAD5-1EF3-42CF-C865F467F18F}"/>
              </a:ext>
            </a:extLst>
          </p:cNvPr>
          <p:cNvGraphicFramePr>
            <a:graphicFrameLocks noGrp="1"/>
          </p:cNvGraphicFramePr>
          <p:nvPr>
            <p:extLst>
              <p:ext uri="{D42A27DB-BD31-4B8C-83A1-F6EECF244321}">
                <p14:modId xmlns:p14="http://schemas.microsoft.com/office/powerpoint/2010/main" val="3704482567"/>
              </p:ext>
            </p:extLst>
          </p:nvPr>
        </p:nvGraphicFramePr>
        <p:xfrm>
          <a:off x="323528" y="3040059"/>
          <a:ext cx="1222398" cy="829978"/>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414989">
                <a:tc>
                  <a:txBody>
                    <a:bodyPr/>
                    <a:lstStyle/>
                    <a:p>
                      <a:pPr algn="l"/>
                      <a:r>
                        <a:rPr lang="en-US" altLang="zh-TW" sz="1200" b="1" cap="none" spc="0" dirty="0">
                          <a:ln w="0"/>
                          <a:solidFill>
                            <a:schemeClr val="tx1"/>
                          </a:solidFill>
                          <a:effectLst/>
                        </a:rPr>
                        <a:t>Attention Parameters</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4149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WQ, WK</a:t>
                      </a:r>
                      <a:r>
                        <a:rPr lang="en-US" altLang="zh-TW" sz="1200" b="0" baseline="-25000" dirty="0"/>
                        <a:t>dxd</a:t>
                      </a:r>
                      <a:r>
                        <a:rPr lang="en-US" altLang="zh-TW" sz="1200" b="0" dirty="0"/>
                        <a:t>, WV</a:t>
                      </a:r>
                      <a:r>
                        <a:rPr lang="en-US" altLang="zh-TW" sz="1200" b="0" baseline="-25000" dirty="0"/>
                        <a:t>dxd</a:t>
                      </a:r>
                      <a:r>
                        <a:rPr lang="en-US" altLang="zh-TW" sz="1200" b="0" dirty="0"/>
                        <a:t>,</a:t>
                      </a:r>
                      <a:r>
                        <a:rPr lang="zh-TW" altLang="en-US" sz="1200" b="0" dirty="0"/>
                        <a:t> </a:t>
                      </a:r>
                      <a:r>
                        <a:rPr lang="en-US" altLang="zh-TW" sz="1200" b="0" dirty="0"/>
                        <a:t>Wo</a:t>
                      </a:r>
                      <a:r>
                        <a:rPr lang="en-US" altLang="zh-TW" sz="1200" b="0" baseline="-25000" dirty="0"/>
                        <a:t>dxd</a:t>
                      </a:r>
                      <a:endParaRPr lang="en-US" altLang="zh-TW" sz="1200" b="0" dirty="0"/>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9" name="表格 8">
            <a:extLst>
              <a:ext uri="{FF2B5EF4-FFF2-40B4-BE49-F238E27FC236}">
                <a16:creationId xmlns:a16="http://schemas.microsoft.com/office/drawing/2014/main" id="{764B5406-97D8-36F8-92D8-19C318CBC3DD}"/>
              </a:ext>
            </a:extLst>
          </p:cNvPr>
          <p:cNvGraphicFramePr>
            <a:graphicFrameLocks noGrp="1"/>
          </p:cNvGraphicFramePr>
          <p:nvPr>
            <p:extLst>
              <p:ext uri="{D42A27DB-BD31-4B8C-83A1-F6EECF244321}">
                <p14:modId xmlns:p14="http://schemas.microsoft.com/office/powerpoint/2010/main" val="1122051268"/>
              </p:ext>
            </p:extLst>
          </p:nvPr>
        </p:nvGraphicFramePr>
        <p:xfrm>
          <a:off x="7022636" y="4375409"/>
          <a:ext cx="1005748" cy="594408"/>
        </p:xfrm>
        <a:graphic>
          <a:graphicData uri="http://schemas.openxmlformats.org/drawingml/2006/table">
            <a:tbl>
              <a:tblPr firstRow="1" bandRow="1">
                <a:tableStyleId>{5C22544A-7EE6-4342-B048-85BDC9FD1C3A}</a:tableStyleId>
              </a:tblPr>
              <a:tblGrid>
                <a:gridCol w="1005748">
                  <a:extLst>
                    <a:ext uri="{9D8B030D-6E8A-4147-A177-3AD203B41FA5}">
                      <a16:colId xmlns:a16="http://schemas.microsoft.com/office/drawing/2014/main" val="4512040"/>
                    </a:ext>
                  </a:extLst>
                </a:gridCol>
              </a:tblGrid>
              <a:tr h="369529">
                <a:tc>
                  <a:txBody>
                    <a:bodyPr/>
                    <a:lstStyle/>
                    <a:p>
                      <a:pPr algn="l"/>
                      <a:r>
                        <a:rPr lang="en-US" altLang="zh-TW" sz="1200" b="1" cap="none" spc="0" dirty="0">
                          <a:ln w="0"/>
                          <a:solidFill>
                            <a:schemeClr val="tx1"/>
                          </a:solidFill>
                          <a:effectLst/>
                        </a:rPr>
                        <a:t>MoE Gating Matrix</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1311258892"/>
                  </a:ext>
                </a:extLst>
              </a:tr>
              <a:tr h="224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 R</a:t>
                      </a:r>
                      <a:r>
                        <a:rPr lang="en-US" altLang="zh-TW" sz="1200" b="0" baseline="-25000" dirty="0"/>
                        <a:t>E </a:t>
                      </a:r>
                      <a:r>
                        <a:rPr lang="en-US" altLang="zh-TW" sz="1200" b="0" dirty="0"/>
                        <a:t>] </a:t>
                      </a:r>
                      <a:r>
                        <a:rPr lang="en-US" altLang="zh-TW" sz="1200" b="0" baseline="-25000" dirty="0"/>
                        <a:t>dx16</a:t>
                      </a:r>
                      <a:r>
                        <a:rPr lang="en-US" altLang="zh-TW" sz="1200" b="0" dirty="0"/>
                        <a: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3324911064"/>
                  </a:ext>
                </a:extLst>
              </a:tr>
            </a:tbl>
          </a:graphicData>
        </a:graphic>
      </p:graphicFrame>
      <p:cxnSp>
        <p:nvCxnSpPr>
          <p:cNvPr id="18" name="直線單箭頭接點 17">
            <a:extLst>
              <a:ext uri="{FF2B5EF4-FFF2-40B4-BE49-F238E27FC236}">
                <a16:creationId xmlns:a16="http://schemas.microsoft.com/office/drawing/2014/main" id="{88021678-B509-2729-868F-CB4CCC276C52}"/>
              </a:ext>
            </a:extLst>
          </p:cNvPr>
          <p:cNvCxnSpPr>
            <a:cxnSpLocks/>
            <a:stCxn id="32" idx="2"/>
            <a:endCxn id="34" idx="0"/>
          </p:cNvCxnSpPr>
          <p:nvPr/>
        </p:nvCxnSpPr>
        <p:spPr>
          <a:xfrm>
            <a:off x="7737477" y="2924944"/>
            <a:ext cx="15238" cy="1141684"/>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4384151F-FC65-7879-6037-7998E8B5865E}"/>
              </a:ext>
            </a:extLst>
          </p:cNvPr>
          <p:cNvSpPr/>
          <p:nvPr/>
        </p:nvSpPr>
        <p:spPr>
          <a:xfrm>
            <a:off x="7380312" y="3040060"/>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28" name="矩形 27">
            <a:extLst>
              <a:ext uri="{FF2B5EF4-FFF2-40B4-BE49-F238E27FC236}">
                <a16:creationId xmlns:a16="http://schemas.microsoft.com/office/drawing/2014/main" id="{8B2CFC32-B4FC-5A53-A12B-A62E6642F669}"/>
              </a:ext>
            </a:extLst>
          </p:cNvPr>
          <p:cNvSpPr/>
          <p:nvPr/>
        </p:nvSpPr>
        <p:spPr>
          <a:xfrm>
            <a:off x="7398553" y="3335321"/>
            <a:ext cx="708323"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G</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30" name="矩形 29">
            <a:extLst>
              <a:ext uri="{FF2B5EF4-FFF2-40B4-BE49-F238E27FC236}">
                <a16:creationId xmlns:a16="http://schemas.microsoft.com/office/drawing/2014/main" id="{087EAF49-76A4-9855-A6DB-9CB73E1F2CF1}"/>
              </a:ext>
            </a:extLst>
          </p:cNvPr>
          <p:cNvSpPr/>
          <p:nvPr/>
        </p:nvSpPr>
        <p:spPr>
          <a:xfrm>
            <a:off x="7398553" y="3616375"/>
            <a:ext cx="708323" cy="34865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Multi </a:t>
            </a:r>
            <a:r>
              <a:rPr lang="en-US" altLang="zh-TW" sz="1200" b="1" dirty="0">
                <a:ln w="0"/>
                <a:solidFill>
                  <a:prstClr val="black"/>
                </a:solidFill>
                <a:latin typeface="Calibri"/>
                <a:ea typeface="新細明體" panose="02020500000000000000" pitchFamily="18" charset="-120"/>
              </a:rPr>
              <a:t>Latent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Attention</a:t>
            </a:r>
          </a:p>
        </p:txBody>
      </p:sp>
      <p:sp>
        <p:nvSpPr>
          <p:cNvPr id="32" name="矩形 31">
            <a:extLst>
              <a:ext uri="{FF2B5EF4-FFF2-40B4-BE49-F238E27FC236}">
                <a16:creationId xmlns:a16="http://schemas.microsoft.com/office/drawing/2014/main" id="{457242D4-BBEF-C76A-3C77-93F7F10AB31A}"/>
              </a:ext>
            </a:extLst>
          </p:cNvPr>
          <p:cNvSpPr/>
          <p:nvPr/>
        </p:nvSpPr>
        <p:spPr>
          <a:xfrm>
            <a:off x="7383315" y="2752028"/>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MH</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a:t>
            </a:r>
          </a:p>
        </p:txBody>
      </p:sp>
      <p:sp>
        <p:nvSpPr>
          <p:cNvPr id="34" name="矩形 33">
            <a:extLst>
              <a:ext uri="{FF2B5EF4-FFF2-40B4-BE49-F238E27FC236}">
                <a16:creationId xmlns:a16="http://schemas.microsoft.com/office/drawing/2014/main" id="{A27308F5-3E88-93D0-5F86-AD6D42162455}"/>
              </a:ext>
            </a:extLst>
          </p:cNvPr>
          <p:cNvSpPr/>
          <p:nvPr/>
        </p:nvSpPr>
        <p:spPr>
          <a:xfrm>
            <a:off x="7398553" y="4066628"/>
            <a:ext cx="708323" cy="150314"/>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KDA</a:t>
            </a:r>
          </a:p>
        </p:txBody>
      </p:sp>
    </p:spTree>
    <p:extLst>
      <p:ext uri="{BB962C8B-B14F-4D97-AF65-F5344CB8AC3E}">
        <p14:creationId xmlns:p14="http://schemas.microsoft.com/office/powerpoint/2010/main" val="25464001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B412F-F717-D1EC-5B0B-39785D3DA5F8}"/>
            </a:ext>
          </a:extLst>
        </p:cNvPr>
        <p:cNvGrpSpPr/>
        <p:nvPr/>
      </p:nvGrpSpPr>
      <p:grpSpPr>
        <a:xfrm>
          <a:off x="0" y="0"/>
          <a:ext cx="0" cy="0"/>
          <a:chOff x="0" y="0"/>
          <a:chExt cx="0" cy="0"/>
        </a:xfrm>
      </p:grpSpPr>
      <p:pic>
        <p:nvPicPr>
          <p:cNvPr id="8" name="圖片 7">
            <a:extLst>
              <a:ext uri="{FF2B5EF4-FFF2-40B4-BE49-F238E27FC236}">
                <a16:creationId xmlns:a16="http://schemas.microsoft.com/office/drawing/2014/main" id="{B849BDB7-A7B1-FD32-C24C-E9151F6D9427}"/>
              </a:ext>
            </a:extLst>
          </p:cNvPr>
          <p:cNvPicPr>
            <a:picLocks noChangeAspect="1"/>
          </p:cNvPicPr>
          <p:nvPr/>
        </p:nvPicPr>
        <p:blipFill>
          <a:blip r:embed="rId2"/>
          <a:stretch>
            <a:fillRect/>
          </a:stretch>
        </p:blipFill>
        <p:spPr>
          <a:xfrm>
            <a:off x="7175208" y="4083365"/>
            <a:ext cx="1853767" cy="1073827"/>
          </a:xfrm>
          <a:prstGeom prst="rect">
            <a:avLst/>
          </a:prstGeom>
          <a:noFill/>
          <a:ln>
            <a:noFill/>
          </a:ln>
          <a:effectLst>
            <a:glow rad="101600">
              <a:schemeClr val="bg1">
                <a:lumMod val="95000"/>
              </a:schemeClr>
            </a:glow>
            <a:softEdge rad="25400"/>
          </a:effectLst>
        </p:spPr>
      </p:pic>
      <p:sp>
        <p:nvSpPr>
          <p:cNvPr id="7" name="矩形 6">
            <a:extLst>
              <a:ext uri="{FF2B5EF4-FFF2-40B4-BE49-F238E27FC236}">
                <a16:creationId xmlns:a16="http://schemas.microsoft.com/office/drawing/2014/main" id="{C6B4CF8F-ADD7-749F-F88E-30C143A060E6}"/>
              </a:ext>
            </a:extLst>
          </p:cNvPr>
          <p:cNvSpPr/>
          <p:nvPr/>
        </p:nvSpPr>
        <p:spPr>
          <a:xfrm>
            <a:off x="501589" y="2141347"/>
            <a:ext cx="1704205" cy="3693064"/>
          </a:xfrm>
          <a:prstGeom prst="rect">
            <a:avLst/>
          </a:prstGeom>
          <a:solidFill>
            <a:schemeClr val="bg2"/>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ctr" anchorCtr="0"/>
          <a:lstStyle/>
          <a:p>
            <a:pPr defTabSz="231775">
              <a:lnSpc>
                <a:spcPts val="1600"/>
              </a:lnSpc>
            </a:pPr>
            <a:r>
              <a:rPr lang="en-US" altLang="zh-TW" sz="1600" b="1" dirty="0">
                <a:solidFill>
                  <a:schemeClr val="tx2"/>
                </a:solidFill>
                <a:ea typeface="微軟正黑體" panose="020B0604030504040204" pitchFamily="34" charset="-120"/>
              </a:rPr>
              <a:t>Tokenizer</a:t>
            </a:r>
          </a:p>
          <a:p>
            <a:pPr marL="0" lvl="1" defTabSz="231775">
              <a:lnSpc>
                <a:spcPts val="1600"/>
              </a:lnSpc>
            </a:pPr>
            <a:r>
              <a:rPr lang="en-US" altLang="zh-TW" sz="1400" dirty="0">
                <a:solidFill>
                  <a:schemeClr val="tx2"/>
                </a:solidFill>
                <a:ea typeface="微軟正黑體" panose="020B0604030504040204" pitchFamily="34" charset="-120"/>
              </a:rPr>
              <a:t>	Token Embedding</a:t>
            </a:r>
          </a:p>
          <a:p>
            <a:pPr marL="0" lvl="1" defTabSz="231775">
              <a:lnSpc>
                <a:spcPts val="1600"/>
              </a:lnSpc>
            </a:pPr>
            <a:r>
              <a:rPr lang="en-US" altLang="zh-TW" sz="1400" dirty="0">
                <a:solidFill>
                  <a:schemeClr val="tx2"/>
                </a:solidFill>
                <a:ea typeface="微軟正黑體" panose="020B0604030504040204" pitchFamily="34" charset="-120"/>
              </a:rPr>
              <a:t>	Position Encoding</a:t>
            </a:r>
          </a:p>
          <a:p>
            <a:pPr marL="0" lvl="1" defTabSz="231775">
              <a:lnSpc>
                <a:spcPts val="1600"/>
              </a:lnSpc>
            </a:pPr>
            <a:endParaRPr lang="en-US" altLang="zh-TW" sz="1400" dirty="0">
              <a:solidFill>
                <a:schemeClr val="tx2"/>
              </a:solidFill>
              <a:ea typeface="微軟正黑體" panose="020B0604030504040204" pitchFamily="34" charset="-120"/>
            </a:endParaRPr>
          </a:p>
          <a:p>
            <a:pPr marL="0" lvl="1" defTabSz="231775">
              <a:lnSpc>
                <a:spcPts val="1600"/>
              </a:lnSpc>
            </a:pPr>
            <a:endParaRPr lang="en-US" altLang="zh-TW" sz="1400" dirty="0">
              <a:solidFill>
                <a:schemeClr val="tx2"/>
              </a:solidFill>
              <a:ea typeface="微軟正黑體" panose="020B0604030504040204" pitchFamily="34" charset="-120"/>
            </a:endParaRPr>
          </a:p>
          <a:p>
            <a:pPr defTabSz="231775">
              <a:lnSpc>
                <a:spcPts val="1600"/>
              </a:lnSpc>
            </a:pPr>
            <a:r>
              <a:rPr lang="en-US" altLang="zh-TW" sz="1600" b="1" dirty="0">
                <a:solidFill>
                  <a:schemeClr val="tx2"/>
                </a:solidFill>
                <a:ea typeface="微軟正黑體" panose="020B0604030504040204" pitchFamily="34" charset="-120"/>
              </a:rPr>
              <a:t>n x Layer</a:t>
            </a:r>
          </a:p>
          <a:p>
            <a:pPr defTabSz="231775">
              <a:lnSpc>
                <a:spcPts val="1600"/>
              </a:lnSpc>
            </a:pPr>
            <a:r>
              <a:rPr lang="en-US" altLang="zh-TW" sz="1400" b="1" dirty="0">
                <a:solidFill>
                  <a:schemeClr val="tx2"/>
                </a:solidFill>
                <a:ea typeface="微軟正黑體" panose="020B0604030504040204" pitchFamily="34" charset="-120"/>
              </a:rPr>
              <a:t>	</a:t>
            </a:r>
            <a:r>
              <a:rPr lang="en-US" altLang="zh-TW" sz="1400" dirty="0">
                <a:solidFill>
                  <a:schemeClr val="tx2"/>
                </a:solidFill>
                <a:ea typeface="微軟正黑體" panose="020B0604030504040204" pitchFamily="34" charset="-120"/>
              </a:rPr>
              <a:t>Transformer</a:t>
            </a:r>
          </a:p>
          <a:p>
            <a:pPr defTabSz="231775">
              <a:lnSpc>
                <a:spcPts val="1600"/>
              </a:lnSpc>
            </a:pPr>
            <a:r>
              <a:rPr lang="en-US" altLang="zh-TW" sz="1400" dirty="0">
                <a:solidFill>
                  <a:schemeClr val="tx2"/>
                </a:solidFill>
                <a:ea typeface="微軟正黑體" panose="020B0604030504040204" pitchFamily="34" charset="-120"/>
              </a:rPr>
              <a:t>	Transformer</a:t>
            </a:r>
          </a:p>
          <a:p>
            <a:pPr defTabSz="231775">
              <a:lnSpc>
                <a:spcPts val="1600"/>
              </a:lnSpc>
            </a:pPr>
            <a:r>
              <a:rPr lang="en-US" altLang="zh-TW" sz="1400" dirty="0">
                <a:solidFill>
                  <a:schemeClr val="tx2"/>
                </a:solidFill>
                <a:ea typeface="微軟正黑體" panose="020B0604030504040204" pitchFamily="34" charset="-120"/>
              </a:rPr>
              <a:t>	…</a:t>
            </a:r>
          </a:p>
          <a:p>
            <a:pPr marL="0" lvl="1" defTabSz="231775">
              <a:lnSpc>
                <a:spcPts val="1600"/>
              </a:lnSpc>
            </a:pPr>
            <a:endParaRPr lang="en-US" altLang="zh-TW" sz="1400" dirty="0">
              <a:solidFill>
                <a:schemeClr val="tx2"/>
              </a:solidFill>
              <a:ea typeface="微軟正黑體" panose="020B0604030504040204" pitchFamily="34" charset="-120"/>
            </a:endParaRPr>
          </a:p>
          <a:p>
            <a:pPr defTabSz="231775">
              <a:lnSpc>
                <a:spcPts val="1600"/>
              </a:lnSpc>
            </a:pPr>
            <a:endParaRPr lang="en-US" altLang="zh-TW" sz="1600" b="1" dirty="0">
              <a:solidFill>
                <a:schemeClr val="tx2"/>
              </a:solidFill>
              <a:ea typeface="微軟正黑體" panose="020B0604030504040204" pitchFamily="34" charset="-120"/>
            </a:endParaRPr>
          </a:p>
          <a:p>
            <a:pPr defTabSz="231775">
              <a:lnSpc>
                <a:spcPts val="1600"/>
              </a:lnSpc>
            </a:pPr>
            <a:endParaRPr lang="en-US" altLang="zh-TW" sz="1600" b="1" dirty="0">
              <a:solidFill>
                <a:schemeClr val="tx2"/>
              </a:solidFill>
              <a:ea typeface="微軟正黑體" panose="020B0604030504040204" pitchFamily="34" charset="-120"/>
            </a:endParaRPr>
          </a:p>
          <a:p>
            <a:pPr defTabSz="231775">
              <a:lnSpc>
                <a:spcPts val="1600"/>
              </a:lnSpc>
            </a:pPr>
            <a:r>
              <a:rPr lang="en-US" altLang="zh-TW" sz="1600" b="1" dirty="0">
                <a:solidFill>
                  <a:schemeClr val="tx2"/>
                </a:solidFill>
                <a:ea typeface="微軟正黑體" panose="020B0604030504040204" pitchFamily="34" charset="-120"/>
              </a:rPr>
              <a:t>Linear Projection</a:t>
            </a:r>
          </a:p>
          <a:p>
            <a:pPr marL="0" lvl="1" defTabSz="231775">
              <a:lnSpc>
                <a:spcPts val="1600"/>
              </a:lnSpc>
            </a:pPr>
            <a:r>
              <a:rPr lang="en-US" altLang="zh-TW" sz="1400" dirty="0">
                <a:solidFill>
                  <a:schemeClr val="tx2"/>
                </a:solidFill>
                <a:ea typeface="微軟正黑體" panose="020B0604030504040204" pitchFamily="34" charset="-120"/>
              </a:rPr>
              <a:t>	Semantics Space</a:t>
            </a:r>
          </a:p>
          <a:p>
            <a:pPr marL="0" lvl="1" defTabSz="231775">
              <a:lnSpc>
                <a:spcPts val="1600"/>
              </a:lnSpc>
            </a:pPr>
            <a:r>
              <a:rPr lang="en-US" altLang="zh-TW" sz="1400" dirty="0">
                <a:solidFill>
                  <a:schemeClr val="tx2"/>
                </a:solidFill>
                <a:ea typeface="微軟正黑體" panose="020B0604030504040204" pitchFamily="34" charset="-120"/>
              </a:rPr>
              <a:t>	Vocabulary Space</a:t>
            </a:r>
            <a:endParaRPr lang="en-US" altLang="zh-TW" sz="1400" b="1" dirty="0">
              <a:solidFill>
                <a:schemeClr val="tx2"/>
              </a:solidFill>
              <a:ea typeface="微軟正黑體" panose="020B0604030504040204" pitchFamily="34" charset="-120"/>
            </a:endParaRPr>
          </a:p>
        </p:txBody>
      </p:sp>
      <p:sp>
        <p:nvSpPr>
          <p:cNvPr id="74" name="右中括弧 73">
            <a:extLst>
              <a:ext uri="{FF2B5EF4-FFF2-40B4-BE49-F238E27FC236}">
                <a16:creationId xmlns:a16="http://schemas.microsoft.com/office/drawing/2014/main" id="{A67047D2-E59A-A94F-AFF0-D2DFFBB2721D}"/>
              </a:ext>
            </a:extLst>
          </p:cNvPr>
          <p:cNvSpPr/>
          <p:nvPr/>
        </p:nvSpPr>
        <p:spPr>
          <a:xfrm flipH="1">
            <a:off x="654205" y="3818187"/>
            <a:ext cx="91641" cy="800153"/>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E934BD01-CE8C-1AF7-23F7-5239ED57881D}"/>
              </a:ext>
            </a:extLst>
          </p:cNvPr>
          <p:cNvSpPr/>
          <p:nvPr/>
        </p:nvSpPr>
        <p:spPr>
          <a:xfrm>
            <a:off x="4146345" y="3066931"/>
            <a:ext cx="1770003" cy="846642"/>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ctr" anchorCtr="0">
            <a:noAutofit/>
          </a:bodyPr>
          <a:lstStyle/>
          <a:p>
            <a:pPr>
              <a:lnSpc>
                <a:spcPts val="1600"/>
              </a:lnSpc>
            </a:pPr>
            <a:r>
              <a:rPr lang="en-US" altLang="zh-TW" sz="1200" b="1" dirty="0">
                <a:solidFill>
                  <a:schemeClr val="tx2"/>
                </a:solidFill>
                <a:ea typeface="微軟正黑體" panose="020B0604030504040204" pitchFamily="34" charset="-120"/>
              </a:rPr>
              <a:t>X = Norm(X)</a:t>
            </a:r>
          </a:p>
          <a:p>
            <a:pPr>
              <a:lnSpc>
                <a:spcPts val="1600"/>
              </a:lnSpc>
            </a:pPr>
            <a:r>
              <a:rPr lang="en-US" altLang="zh-TW" sz="1200" b="1" dirty="0">
                <a:solidFill>
                  <a:schemeClr val="tx2"/>
                </a:solidFill>
                <a:ea typeface="微軟正黑體" panose="020B0604030504040204" pitchFamily="34" charset="-120"/>
              </a:rPr>
              <a:t>A = Attention(X, Q, K, V) </a:t>
            </a:r>
          </a:p>
          <a:p>
            <a:pPr>
              <a:lnSpc>
                <a:spcPts val="1600"/>
              </a:lnSpc>
            </a:pPr>
            <a:r>
              <a:rPr lang="en-US" altLang="zh-TW" sz="1200" b="1" dirty="0">
                <a:solidFill>
                  <a:schemeClr val="tx2"/>
                </a:solidFill>
                <a:ea typeface="微軟正黑體" panose="020B0604030504040204" pitchFamily="34" charset="-120"/>
              </a:rPr>
              <a:t>H</a:t>
            </a:r>
            <a:r>
              <a:rPr lang="en-US" altLang="zh-TW" sz="1200" b="1" baseline="-25000" dirty="0">
                <a:solidFill>
                  <a:schemeClr val="tx2"/>
                </a:solidFill>
                <a:ea typeface="微軟正黑體" panose="020B0604030504040204" pitchFamily="34" charset="-120"/>
              </a:rPr>
              <a:t> Nxd</a:t>
            </a:r>
            <a:r>
              <a:rPr lang="en-US" altLang="zh-TW" sz="1200" b="1" dirty="0">
                <a:solidFill>
                  <a:schemeClr val="tx2"/>
                </a:solidFill>
                <a:ea typeface="微軟正黑體" panose="020B0604030504040204" pitchFamily="34" charset="-120"/>
              </a:rPr>
              <a:t> = cat(A</a:t>
            </a:r>
            <a:r>
              <a:rPr lang="en-US" altLang="zh-TW" sz="1200" b="1" baseline="-25000" dirty="0">
                <a:solidFill>
                  <a:schemeClr val="tx2"/>
                </a:solidFill>
                <a:ea typeface="微軟正黑體" panose="020B0604030504040204" pitchFamily="34" charset="-120"/>
              </a:rPr>
              <a:t>1~h</a:t>
            </a:r>
            <a:r>
              <a:rPr lang="en-US" altLang="zh-TW" sz="1200" b="1" dirty="0">
                <a:solidFill>
                  <a:schemeClr val="tx2"/>
                </a:solidFill>
                <a:ea typeface="微軟正黑體" panose="020B0604030504040204" pitchFamily="34" charset="-120"/>
              </a:rPr>
              <a:t>)</a:t>
            </a:r>
            <a:r>
              <a:rPr lang="en-US" altLang="zh-TW" sz="1200" b="1" baseline="-25000" dirty="0">
                <a:solidFill>
                  <a:schemeClr val="tx2"/>
                </a:solidFill>
                <a:ea typeface="微軟正黑體" panose="020B0604030504040204" pitchFamily="34" charset="-120"/>
              </a:rPr>
              <a:t>Nxd</a:t>
            </a:r>
            <a:r>
              <a:rPr lang="en-US" altLang="zh-TW" sz="1200" b="1" dirty="0">
                <a:solidFill>
                  <a:schemeClr val="tx2"/>
                </a:solidFill>
                <a:ea typeface="微軟正黑體" panose="020B0604030504040204" pitchFamily="34" charset="-120"/>
              </a:rPr>
              <a:t>*O</a:t>
            </a:r>
            <a:r>
              <a:rPr lang="en-US" altLang="zh-TW" sz="1200" b="1" baseline="-25000" dirty="0">
                <a:solidFill>
                  <a:schemeClr val="tx2"/>
                </a:solidFill>
                <a:ea typeface="微軟正黑體" panose="020B0604030504040204" pitchFamily="34" charset="-120"/>
              </a:rPr>
              <a:t>dxd</a:t>
            </a:r>
            <a:br>
              <a:rPr lang="en-US" altLang="zh-TW" sz="1200" b="1" dirty="0">
                <a:solidFill>
                  <a:schemeClr val="tx2"/>
                </a:solidFill>
                <a:ea typeface="微軟正黑體" panose="020B0604030504040204" pitchFamily="34" charset="-120"/>
              </a:rPr>
            </a:br>
            <a:r>
              <a:rPr lang="en-US" altLang="zh-TW" sz="1200" b="1" dirty="0">
                <a:solidFill>
                  <a:schemeClr val="tx2"/>
                </a:solidFill>
                <a:ea typeface="微軟正黑體" panose="020B0604030504040204" pitchFamily="34" charset="-120"/>
              </a:rPr>
              <a:t>X = X + H</a:t>
            </a:r>
          </a:p>
        </p:txBody>
      </p:sp>
      <p:cxnSp>
        <p:nvCxnSpPr>
          <p:cNvPr id="66" name="直線接點 65">
            <a:extLst>
              <a:ext uri="{FF2B5EF4-FFF2-40B4-BE49-F238E27FC236}">
                <a16:creationId xmlns:a16="http://schemas.microsoft.com/office/drawing/2014/main" id="{2EFAE664-C48E-7A28-C687-A0760B049CD4}"/>
              </a:ext>
            </a:extLst>
          </p:cNvPr>
          <p:cNvCxnSpPr>
            <a:cxnSpLocks/>
          </p:cNvCxnSpPr>
          <p:nvPr/>
        </p:nvCxnSpPr>
        <p:spPr>
          <a:xfrm flipV="1">
            <a:off x="3756088" y="1984555"/>
            <a:ext cx="326140" cy="6246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CA33FCC8-2312-EAA7-34B7-5C7253316B0E}"/>
              </a:ext>
            </a:extLst>
          </p:cNvPr>
          <p:cNvCxnSpPr>
            <a:cxnSpLocks/>
          </p:cNvCxnSpPr>
          <p:nvPr/>
        </p:nvCxnSpPr>
        <p:spPr>
          <a:xfrm>
            <a:off x="3756088" y="1477835"/>
            <a:ext cx="328667" cy="11177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73" name="矩形 72">
            <a:extLst>
              <a:ext uri="{FF2B5EF4-FFF2-40B4-BE49-F238E27FC236}">
                <a16:creationId xmlns:a16="http://schemas.microsoft.com/office/drawing/2014/main" id="{1935E340-622C-B63E-2CCE-B1FE939DDE95}"/>
              </a:ext>
            </a:extLst>
          </p:cNvPr>
          <p:cNvSpPr/>
          <p:nvPr/>
        </p:nvSpPr>
        <p:spPr>
          <a:xfrm>
            <a:off x="770570" y="3928295"/>
            <a:ext cx="1011599" cy="216024"/>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endParaRPr lang="en-US" altLang="zh-TW" sz="1200" b="1" dirty="0">
              <a:solidFill>
                <a:schemeClr val="tx2"/>
              </a:solidFill>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E16DD0AC-FF5F-E64E-3A60-CA28680E7D46}"/>
                  </a:ext>
                </a:extLst>
              </p:cNvPr>
              <p:cNvSpPr txBox="1"/>
              <p:nvPr/>
            </p:nvSpPr>
            <p:spPr>
              <a:xfrm>
                <a:off x="6236824" y="1916832"/>
                <a:ext cx="1692707" cy="1097865"/>
              </a:xfrm>
              <a:prstGeom prst="rect">
                <a:avLst/>
              </a:prstGeom>
              <a:noFill/>
            </p:spPr>
            <p:txBody>
              <a:bodyPr wrap="none" lIns="0" tIns="0" rIns="0" bIns="0" rtlCol="0">
                <a:spAutoFit/>
              </a:bodyPr>
              <a:lstStyle/>
              <a:p>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Norm</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𝑥</m:t>
                          </m:r>
                        </m:e>
                      </m:d>
                      <m:r>
                        <a:rPr lang="en-US" altLang="zh-TW" sz="1200" b="0" i="0" smtClean="0">
                          <a:latin typeface="Cambria Math" panose="02040503050406030204" pitchFamily="18" charset="0"/>
                        </a:rPr>
                        <m:t>=</m:t>
                      </m:r>
                      <m:d>
                        <m:dPr>
                          <m:begChr m:val="{"/>
                          <m:endChr m:val="}"/>
                          <m:ctrlPr>
                            <a:rPr lang="en-US" altLang="zh-TW" sz="1200" i="1" dirty="0">
                              <a:latin typeface="Cambria Math" panose="02040503050406030204" pitchFamily="18" charset="0"/>
                            </a:rPr>
                          </m:ctrlPr>
                        </m:dPr>
                        <m:e>
                          <m:f>
                            <m:fPr>
                              <m:ctrlPr>
                                <a:rPr lang="en-US" altLang="zh-TW" sz="1200" i="0" dirty="0"/>
                              </m:ctrlPr>
                            </m:fPr>
                            <m:num>
                              <m:r>
                                <m:rPr>
                                  <m:nor/>
                                </m:rPr>
                                <a:rPr lang="en-US" altLang="zh-TW" sz="1200" i="0" dirty="0"/>
                                <m:t>x</m:t>
                              </m:r>
                              <m:r>
                                <m:rPr>
                                  <m:nor/>
                                </m:rPr>
                                <a:rPr lang="en-US" altLang="zh-TW" sz="1200" i="0" baseline="-25000" dirty="0"/>
                                <m:t>i</m:t>
                              </m:r>
                              <m:r>
                                <m:rPr>
                                  <m:nor/>
                                </m:rPr>
                                <a:rPr lang="en-US" altLang="zh-TW" sz="1200" i="0" dirty="0"/>
                                <m:t>∗γi</m:t>
                              </m:r>
                            </m:num>
                            <m:den>
                              <m:r>
                                <m:rPr>
                                  <m:nor/>
                                </m:rPr>
                                <a:rPr lang="en-US" altLang="zh-TW" sz="1200" i="0" dirty="0"/>
                                <m:t>RMS(x)</m:t>
                              </m:r>
                            </m:den>
                          </m:f>
                        </m:e>
                      </m:d>
                      <m:r>
                        <a:rPr lang="en-US" altLang="zh-TW" sz="1200" b="0" i="0" smtClean="0">
                          <a:latin typeface="Cambria Math" panose="02040503050406030204" pitchFamily="18" charset="0"/>
                        </a:rPr>
                        <m:t>; </m:t>
                      </m:r>
                    </m:oMath>
                  </m:oMathPara>
                </a14:m>
                <a:endParaRPr lang="en-US" altLang="zh-TW" sz="1200" b="0" i="0" dirty="0">
                  <a:latin typeface="Cambria Math" panose="02040503050406030204" pitchFamily="18" charset="0"/>
                </a:endParaRPr>
              </a:p>
              <a:p>
                <a:endParaRPr lang="en-US" altLang="zh-TW" sz="1200" b="0" i="0" dirty="0">
                  <a:latin typeface="Cambria Math" panose="02040503050406030204" pitchFamily="18" charset="0"/>
                </a:endParaRPr>
              </a:p>
              <a:p>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RMS</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𝑥</m:t>
                          </m:r>
                        </m:e>
                      </m:d>
                      <m:r>
                        <a:rPr lang="en-US" altLang="zh-TW" sz="1200" b="0" i="1" smtClean="0">
                          <a:latin typeface="Cambria Math" panose="02040503050406030204" pitchFamily="18" charset="0"/>
                        </a:rPr>
                        <m:t>=</m:t>
                      </m:r>
                      <m:rad>
                        <m:radPr>
                          <m:degHide m:val="on"/>
                          <m:ctrlPr>
                            <a:rPr lang="en-US" altLang="zh-TW" sz="1200" b="0" i="1" smtClean="0">
                              <a:latin typeface="Cambria Math" panose="02040503050406030204" pitchFamily="18" charset="0"/>
                            </a:rPr>
                          </m:ctrlPr>
                        </m:radPr>
                        <m:deg/>
                        <m:e>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1</m:t>
                              </m:r>
                            </m:num>
                            <m:den>
                              <m:r>
                                <a:rPr lang="en-US" altLang="zh-TW" sz="1200" b="0" i="1" smtClean="0">
                                  <a:latin typeface="Cambria Math" panose="02040503050406030204" pitchFamily="18" charset="0"/>
                                </a:rPr>
                                <m:t>𝑑</m:t>
                              </m:r>
                            </m:den>
                          </m:f>
                          <m:nary>
                            <m:naryPr>
                              <m:chr m:val="∑"/>
                              <m:limLoc m:val="subSup"/>
                              <m:ctrlPr>
                                <a:rPr lang="en-US" altLang="zh-TW" sz="1200" i="1">
                                  <a:latin typeface="Cambria Math" panose="02040503050406030204" pitchFamily="18" charset="0"/>
                                </a:rPr>
                              </m:ctrlPr>
                            </m:naryPr>
                            <m:sub>
                              <m:r>
                                <m:rPr>
                                  <m:brk m:alnAt="25"/>
                                </m:rPr>
                                <a:rPr lang="en-US" altLang="zh-TW" sz="1200" i="1">
                                  <a:latin typeface="Cambria Math" panose="02040503050406030204" pitchFamily="18" charset="0"/>
                                </a:rPr>
                                <m:t>𝑖</m:t>
                              </m:r>
                            </m:sub>
                            <m:sup>
                              <m:r>
                                <a:rPr lang="en-US" altLang="zh-TW" sz="1200" i="1">
                                  <a:latin typeface="Cambria Math" panose="02040503050406030204" pitchFamily="18" charset="0"/>
                                </a:rPr>
                                <m:t>𝑑</m:t>
                              </m:r>
                            </m:sup>
                            <m:e>
                              <m:sSubSup>
                                <m:sSubSupPr>
                                  <m:ctrlPr>
                                    <a:rPr lang="en-US" altLang="zh-TW" sz="1200" i="1">
                                      <a:latin typeface="Cambria Math" panose="02040503050406030204" pitchFamily="18" charset="0"/>
                                    </a:rPr>
                                  </m:ctrlPr>
                                </m:sSubSupPr>
                                <m:e>
                                  <m:r>
                                    <a:rPr lang="en-US" altLang="zh-TW" sz="1200" i="1">
                                      <a:latin typeface="Cambria Math" panose="02040503050406030204" pitchFamily="18" charset="0"/>
                                    </a:rPr>
                                    <m:t>𝑥</m:t>
                                  </m:r>
                                </m:e>
                                <m:sub>
                                  <m:r>
                                    <a:rPr lang="en-US" altLang="zh-TW" sz="1200" i="1">
                                      <a:latin typeface="Cambria Math" panose="02040503050406030204" pitchFamily="18" charset="0"/>
                                    </a:rPr>
                                    <m:t>𝑖</m:t>
                                  </m:r>
                                </m:sub>
                                <m:sup>
                                  <m:r>
                                    <a:rPr lang="en-US" altLang="zh-TW" sz="1200" i="1">
                                      <a:latin typeface="Cambria Math" panose="02040503050406030204" pitchFamily="18" charset="0"/>
                                    </a:rPr>
                                    <m:t>2</m:t>
                                  </m:r>
                                </m:sup>
                              </m:sSubSup>
                              <m:r>
                                <a:rPr lang="en-US" altLang="zh-TW" sz="1200" i="1">
                                  <a:latin typeface="Cambria Math" panose="02040503050406030204" pitchFamily="18" charset="0"/>
                                </a:rPr>
                                <m:t>+</m:t>
                              </m:r>
                              <m:r>
                                <a:rPr lang="en-US" altLang="zh-TW" sz="1200" i="1">
                                  <a:latin typeface="Cambria Math" panose="02040503050406030204" pitchFamily="18" charset="0"/>
                                </a:rPr>
                                <m:t>𝑒</m:t>
                              </m:r>
                            </m:e>
                          </m:nary>
                        </m:e>
                      </m:rad>
                    </m:oMath>
                  </m:oMathPara>
                </a14:m>
                <a:endParaRPr lang="zh-TW" altLang="en-US" sz="1200" dirty="0"/>
              </a:p>
            </p:txBody>
          </p:sp>
        </mc:Choice>
        <mc:Fallback xmlns="">
          <p:sp>
            <p:nvSpPr>
              <p:cNvPr id="77" name="文字方塊 76">
                <a:extLst>
                  <a:ext uri="{FF2B5EF4-FFF2-40B4-BE49-F238E27FC236}">
                    <a16:creationId xmlns:a16="http://schemas.microsoft.com/office/drawing/2014/main" id="{E16DD0AC-FF5F-E64E-3A60-CA28680E7D46}"/>
                  </a:ext>
                </a:extLst>
              </p:cNvPr>
              <p:cNvSpPr txBox="1">
                <a:spLocks noRot="1" noChangeAspect="1" noMove="1" noResize="1" noEditPoints="1" noAdjustHandles="1" noChangeArrowheads="1" noChangeShapeType="1" noTextEdit="1"/>
              </p:cNvSpPr>
              <p:nvPr/>
            </p:nvSpPr>
            <p:spPr>
              <a:xfrm>
                <a:off x="6236824" y="1916832"/>
                <a:ext cx="1692707" cy="1097865"/>
              </a:xfrm>
              <a:prstGeom prst="rect">
                <a:avLst/>
              </a:prstGeom>
              <a:blipFill>
                <a:blip r:embed="rId3"/>
                <a:stretch>
                  <a:fillRect l="-3237" t="-1105"/>
                </a:stretch>
              </a:blipFill>
            </p:spPr>
            <p:txBody>
              <a:bodyPr/>
              <a:lstStyle/>
              <a:p>
                <a:r>
                  <a:rPr lang="zh-TW" altLang="en-US">
                    <a:noFill/>
                  </a:rPr>
                  <a:t> </a:t>
                </a:r>
              </a:p>
            </p:txBody>
          </p:sp>
        </mc:Fallback>
      </mc:AlternateContent>
      <p:sp>
        <p:nvSpPr>
          <p:cNvPr id="10" name="矩形 9">
            <a:extLst>
              <a:ext uri="{FF2B5EF4-FFF2-40B4-BE49-F238E27FC236}">
                <a16:creationId xmlns:a16="http://schemas.microsoft.com/office/drawing/2014/main" id="{1FBB3318-817D-36CA-CB7F-4FF5E1ADB026}"/>
              </a:ext>
            </a:extLst>
          </p:cNvPr>
          <p:cNvSpPr/>
          <p:nvPr/>
        </p:nvSpPr>
        <p:spPr>
          <a:xfrm>
            <a:off x="2430249" y="3026098"/>
            <a:ext cx="1599732" cy="1590529"/>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Normalization</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Multi-Head Attention</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Residual Connection</a:t>
            </a:r>
          </a:p>
          <a:p>
            <a:pPr marL="0" marR="0" lvl="1" algn="l" defTabSz="1425575" rtl="0" eaLnBrk="1" fontAlgn="auto" latinLnBrk="0" hangingPunct="1">
              <a:lnSpc>
                <a:spcPts val="1600"/>
              </a:lnSpc>
              <a:spcBef>
                <a:spcPts val="0"/>
              </a:spcBef>
              <a:spcAft>
                <a:spcPts val="0"/>
              </a:spcAft>
              <a:buClrTx/>
              <a:buSzTx/>
              <a:buFontTx/>
              <a:buNone/>
              <a:tabLst/>
              <a:defRPr/>
            </a:pPr>
            <a:endPar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endParaRP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Normalization</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Feed Forward Network</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Residual Connection</a:t>
            </a:r>
          </a:p>
        </p:txBody>
      </p:sp>
      <p:cxnSp>
        <p:nvCxnSpPr>
          <p:cNvPr id="12" name="直線接點 11">
            <a:extLst>
              <a:ext uri="{FF2B5EF4-FFF2-40B4-BE49-F238E27FC236}">
                <a16:creationId xmlns:a16="http://schemas.microsoft.com/office/drawing/2014/main" id="{482F4407-5DE8-EC04-552F-A876607C1EFB}"/>
              </a:ext>
            </a:extLst>
          </p:cNvPr>
          <p:cNvCxnSpPr>
            <a:cxnSpLocks/>
          </p:cNvCxnSpPr>
          <p:nvPr/>
        </p:nvCxnSpPr>
        <p:spPr>
          <a:xfrm flipV="1">
            <a:off x="1766613" y="3010904"/>
            <a:ext cx="617623" cy="91319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73A39969-7CD1-EDDD-D23B-5D4BF4C300AB}"/>
              </a:ext>
            </a:extLst>
          </p:cNvPr>
          <p:cNvCxnSpPr>
            <a:cxnSpLocks/>
          </p:cNvCxnSpPr>
          <p:nvPr/>
        </p:nvCxnSpPr>
        <p:spPr>
          <a:xfrm>
            <a:off x="1782169" y="4144319"/>
            <a:ext cx="602067" cy="472309"/>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8D070003-5528-B227-F18B-65FE16FD90ED}"/>
              </a:ext>
            </a:extLst>
          </p:cNvPr>
          <p:cNvSpPr/>
          <p:nvPr/>
        </p:nvSpPr>
        <p:spPr>
          <a:xfrm>
            <a:off x="4146345" y="3971585"/>
            <a:ext cx="1770003" cy="645042"/>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ctr" anchorCtr="0">
            <a:noAutofit/>
          </a:bodyPr>
          <a:lstStyle/>
          <a:p>
            <a:pPr>
              <a:lnSpc>
                <a:spcPts val="1600"/>
              </a:lnSpc>
            </a:pPr>
            <a:r>
              <a:rPr lang="en-US" altLang="zh-TW" sz="1200" b="1" dirty="0">
                <a:solidFill>
                  <a:schemeClr val="tx2"/>
                </a:solidFill>
                <a:ea typeface="微軟正黑體" panose="020B0604030504040204" pitchFamily="34" charset="-120"/>
              </a:rPr>
              <a:t>X = Normalization(X)</a:t>
            </a:r>
          </a:p>
          <a:p>
            <a:pPr>
              <a:lnSpc>
                <a:spcPts val="1600"/>
              </a:lnSpc>
            </a:pPr>
            <a:r>
              <a:rPr lang="en-US" altLang="zh-TW" sz="1200" b="1" dirty="0">
                <a:solidFill>
                  <a:schemeClr val="tx2"/>
                </a:solidFill>
                <a:ea typeface="微軟正黑體" panose="020B0604030504040204" pitchFamily="34" charset="-120"/>
              </a:rPr>
              <a:t>S = FFN(X, A, U, D)</a:t>
            </a:r>
          </a:p>
          <a:p>
            <a:pPr>
              <a:lnSpc>
                <a:spcPts val="1600"/>
              </a:lnSpc>
            </a:pPr>
            <a:r>
              <a:rPr lang="en-US" altLang="zh-TW" sz="1200" b="1" dirty="0">
                <a:solidFill>
                  <a:schemeClr val="tx2"/>
                </a:solidFill>
                <a:ea typeface="微軟正黑體" panose="020B0604030504040204" pitchFamily="34" charset="-120"/>
              </a:rPr>
              <a:t>X = X + S</a:t>
            </a:r>
          </a:p>
        </p:txBody>
      </p:sp>
      <p:sp>
        <p:nvSpPr>
          <p:cNvPr id="85" name="矩形 84">
            <a:extLst>
              <a:ext uri="{FF2B5EF4-FFF2-40B4-BE49-F238E27FC236}">
                <a16:creationId xmlns:a16="http://schemas.microsoft.com/office/drawing/2014/main" id="{D851F138-84D6-9A7C-BC23-8C9D5BD35785}"/>
              </a:ext>
            </a:extLst>
          </p:cNvPr>
          <p:cNvSpPr/>
          <p:nvPr/>
        </p:nvSpPr>
        <p:spPr>
          <a:xfrm>
            <a:off x="4101989" y="1585939"/>
            <a:ext cx="365952" cy="426232"/>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X</a:t>
            </a:r>
          </a:p>
        </p:txBody>
      </p:sp>
      <p:sp>
        <p:nvSpPr>
          <p:cNvPr id="87" name="文字方塊 86">
            <a:extLst>
              <a:ext uri="{FF2B5EF4-FFF2-40B4-BE49-F238E27FC236}">
                <a16:creationId xmlns:a16="http://schemas.microsoft.com/office/drawing/2014/main" id="{F348A588-C108-4341-2F19-3F2C39654DAB}"/>
              </a:ext>
            </a:extLst>
          </p:cNvPr>
          <p:cNvSpPr txBox="1"/>
          <p:nvPr/>
        </p:nvSpPr>
        <p:spPr>
          <a:xfrm>
            <a:off x="3860231" y="1680234"/>
            <a:ext cx="104240" cy="235664"/>
          </a:xfrm>
          <a:prstGeom prst="rect">
            <a:avLst/>
          </a:prstGeom>
          <a:noFill/>
        </p:spPr>
        <p:txBody>
          <a:bodyPr wrap="none" lIns="0" tIns="0" rIns="0" bIns="0" rtlCol="0" anchor="ctr" anchorCtr="1">
            <a:noAutofit/>
          </a:bodyPr>
          <a:lstStyle/>
          <a:p>
            <a:pPr algn="ctr"/>
            <a:r>
              <a:rPr lang="en-US" altLang="zh-TW" sz="1200" dirty="0"/>
              <a:t>=</a:t>
            </a:r>
            <a:endParaRPr lang="zh-TW" altLang="en-US" sz="1200" dirty="0"/>
          </a:p>
        </p:txBody>
      </p:sp>
      <p:grpSp>
        <p:nvGrpSpPr>
          <p:cNvPr id="97" name="群組 96">
            <a:extLst>
              <a:ext uri="{FF2B5EF4-FFF2-40B4-BE49-F238E27FC236}">
                <a16:creationId xmlns:a16="http://schemas.microsoft.com/office/drawing/2014/main" id="{F197F39C-D8DB-D23A-A1DC-825EE358F026}"/>
              </a:ext>
            </a:extLst>
          </p:cNvPr>
          <p:cNvGrpSpPr/>
          <p:nvPr/>
        </p:nvGrpSpPr>
        <p:grpSpPr>
          <a:xfrm>
            <a:off x="2301789" y="1081883"/>
            <a:ext cx="1406400" cy="1549267"/>
            <a:chOff x="1907704" y="476672"/>
            <a:chExt cx="1406400" cy="1549267"/>
          </a:xfrm>
        </p:grpSpPr>
        <p:sp>
          <p:nvSpPr>
            <p:cNvPr id="88" name="矩形 87">
              <a:extLst>
                <a:ext uri="{FF2B5EF4-FFF2-40B4-BE49-F238E27FC236}">
                  <a16:creationId xmlns:a16="http://schemas.microsoft.com/office/drawing/2014/main" id="{BBAFACF7-FE6F-8962-5536-5C301C5C1B91}"/>
                </a:ext>
              </a:extLst>
            </p:cNvPr>
            <p:cNvSpPr/>
            <p:nvPr/>
          </p:nvSpPr>
          <p:spPr>
            <a:xfrm>
              <a:off x="2230974" y="872832"/>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p:txBody>
        </p:sp>
        <p:sp>
          <p:nvSpPr>
            <p:cNvPr id="89" name="矩形 88">
              <a:extLst>
                <a:ext uri="{FF2B5EF4-FFF2-40B4-BE49-F238E27FC236}">
                  <a16:creationId xmlns:a16="http://schemas.microsoft.com/office/drawing/2014/main" id="{392A6AA1-E490-925E-9FE5-C1B69DE82D73}"/>
                </a:ext>
              </a:extLst>
            </p:cNvPr>
            <p:cNvSpPr/>
            <p:nvPr/>
          </p:nvSpPr>
          <p:spPr>
            <a:xfrm>
              <a:off x="2230974" y="859364"/>
              <a:ext cx="1083130" cy="412950"/>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System Prompt</a:t>
              </a:r>
            </a:p>
          </p:txBody>
        </p:sp>
        <p:sp>
          <p:nvSpPr>
            <p:cNvPr id="90" name="矩形 89">
              <a:extLst>
                <a:ext uri="{FF2B5EF4-FFF2-40B4-BE49-F238E27FC236}">
                  <a16:creationId xmlns:a16="http://schemas.microsoft.com/office/drawing/2014/main" id="{8E0E7A84-29E8-8C93-30D6-0BD8591074DA}"/>
                </a:ext>
              </a:extLst>
            </p:cNvPr>
            <p:cNvSpPr/>
            <p:nvPr/>
          </p:nvSpPr>
          <p:spPr>
            <a:xfrm>
              <a:off x="2230974" y="1272315"/>
              <a:ext cx="1083130" cy="240025"/>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Historical Chat</a:t>
              </a:r>
            </a:p>
          </p:txBody>
        </p:sp>
        <p:sp>
          <p:nvSpPr>
            <p:cNvPr id="91" name="矩形 90">
              <a:extLst>
                <a:ext uri="{FF2B5EF4-FFF2-40B4-BE49-F238E27FC236}">
                  <a16:creationId xmlns:a16="http://schemas.microsoft.com/office/drawing/2014/main" id="{977C8F42-B90D-A9E3-616C-CA1A9CAA4216}"/>
                </a:ext>
              </a:extLst>
            </p:cNvPr>
            <p:cNvSpPr/>
            <p:nvPr/>
          </p:nvSpPr>
          <p:spPr>
            <a:xfrm>
              <a:off x="2230974" y="1512340"/>
              <a:ext cx="1083130" cy="216023"/>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User Input Data</a:t>
              </a:r>
            </a:p>
          </p:txBody>
        </p:sp>
        <p:sp>
          <p:nvSpPr>
            <p:cNvPr id="92" name="矩形 91">
              <a:extLst>
                <a:ext uri="{FF2B5EF4-FFF2-40B4-BE49-F238E27FC236}">
                  <a16:creationId xmlns:a16="http://schemas.microsoft.com/office/drawing/2014/main" id="{E532E354-A8FC-8A42-7A62-6316A8779490}"/>
                </a:ext>
              </a:extLst>
            </p:cNvPr>
            <p:cNvSpPr/>
            <p:nvPr/>
          </p:nvSpPr>
          <p:spPr>
            <a:xfrm>
              <a:off x="2230974" y="1844824"/>
              <a:ext cx="1083130" cy="177826"/>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dirty="0">
                  <a:solidFill>
                    <a:schemeClr val="accent2"/>
                  </a:solidFill>
                  <a:latin typeface="微軟正黑體" panose="020B0604030504040204" pitchFamily="34" charset="-120"/>
                  <a:ea typeface="微軟正黑體" panose="020B0604030504040204" pitchFamily="34" charset="-120"/>
                </a:rPr>
                <a:t>new</a:t>
              </a:r>
            </a:p>
          </p:txBody>
        </p:sp>
        <p:sp>
          <p:nvSpPr>
            <p:cNvPr id="93" name="右中括弧 92">
              <a:extLst>
                <a:ext uri="{FF2B5EF4-FFF2-40B4-BE49-F238E27FC236}">
                  <a16:creationId xmlns:a16="http://schemas.microsoft.com/office/drawing/2014/main" id="{289B2AA8-9CB7-FD3E-598A-E05EEA063034}"/>
                </a:ext>
              </a:extLst>
            </p:cNvPr>
            <p:cNvSpPr/>
            <p:nvPr/>
          </p:nvSpPr>
          <p:spPr>
            <a:xfrm flipH="1">
              <a:off x="2073700" y="872624"/>
              <a:ext cx="50028" cy="1116216"/>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4" name="文字方塊 93">
              <a:extLst>
                <a:ext uri="{FF2B5EF4-FFF2-40B4-BE49-F238E27FC236}">
                  <a16:creationId xmlns:a16="http://schemas.microsoft.com/office/drawing/2014/main" id="{48DAE785-7CD8-7220-938F-D23D3DE88DFE}"/>
                </a:ext>
              </a:extLst>
            </p:cNvPr>
            <p:cNvSpPr txBox="1"/>
            <p:nvPr/>
          </p:nvSpPr>
          <p:spPr>
            <a:xfrm>
              <a:off x="1907704" y="1213079"/>
              <a:ext cx="123067" cy="278693"/>
            </a:xfrm>
            <a:prstGeom prst="rect">
              <a:avLst/>
            </a:prstGeom>
            <a:noFill/>
          </p:spPr>
          <p:txBody>
            <a:bodyPr wrap="none" lIns="0" tIns="0" rIns="0" bIns="0" rtlCol="0" anchor="ctr" anchorCtr="1">
              <a:noAutofit/>
            </a:bodyPr>
            <a:lstStyle/>
            <a:p>
              <a:pPr algn="ctr"/>
              <a:r>
                <a:rPr lang="en-US" altLang="zh-TW" sz="1400" dirty="0"/>
                <a:t>N</a:t>
              </a:r>
              <a:endParaRPr lang="zh-TW" altLang="en-US" sz="1400" dirty="0"/>
            </a:p>
          </p:txBody>
        </p:sp>
        <p:sp>
          <p:nvSpPr>
            <p:cNvPr id="95" name="矩形 94">
              <a:extLst>
                <a:ext uri="{FF2B5EF4-FFF2-40B4-BE49-F238E27FC236}">
                  <a16:creationId xmlns:a16="http://schemas.microsoft.com/office/drawing/2014/main" id="{4E789495-7FD8-8886-F2E5-D3E06364DBA2}"/>
                </a:ext>
              </a:extLst>
            </p:cNvPr>
            <p:cNvSpPr/>
            <p:nvPr/>
          </p:nvSpPr>
          <p:spPr>
            <a:xfrm>
              <a:off x="2699792" y="476672"/>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d</a:t>
              </a:r>
            </a:p>
          </p:txBody>
        </p:sp>
        <p:sp>
          <p:nvSpPr>
            <p:cNvPr id="96" name="右中括弧 95">
              <a:extLst>
                <a:ext uri="{FF2B5EF4-FFF2-40B4-BE49-F238E27FC236}">
                  <a16:creationId xmlns:a16="http://schemas.microsoft.com/office/drawing/2014/main" id="{C1D06676-1ABE-CD3B-6755-F2EB2961AEC4}"/>
                </a:ext>
              </a:extLst>
            </p:cNvPr>
            <p:cNvSpPr/>
            <p:nvPr/>
          </p:nvSpPr>
          <p:spPr>
            <a:xfrm rot="16200000">
              <a:off x="2723018" y="204090"/>
              <a:ext cx="90950" cy="1068162"/>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5" name="文字方塊 104">
                <a:extLst>
                  <a:ext uri="{FF2B5EF4-FFF2-40B4-BE49-F238E27FC236}">
                    <a16:creationId xmlns:a16="http://schemas.microsoft.com/office/drawing/2014/main" id="{06397DD8-8DC4-57B0-55B7-E29989C6201B}"/>
                  </a:ext>
                </a:extLst>
              </p:cNvPr>
              <p:cNvSpPr txBox="1"/>
              <p:nvPr/>
            </p:nvSpPr>
            <p:spPr>
              <a:xfrm>
                <a:off x="4186061" y="1826829"/>
                <a:ext cx="419984" cy="119150"/>
              </a:xfrm>
              <a:prstGeom prst="rect">
                <a:avLst/>
              </a:prstGeom>
              <a:solidFill>
                <a:schemeClr val="accent1">
                  <a:lumMod val="20000"/>
                  <a:lumOff val="80000"/>
                  <a:alpha val="60000"/>
                </a:schemeClr>
              </a:solidFill>
              <a:ln>
                <a:solidFill>
                  <a:schemeClr val="accent1">
                    <a:alpha val="40000"/>
                  </a:schemeClr>
                </a:solidFill>
              </a:ln>
            </p:spPr>
            <p:txBody>
              <a:bodyPr wrap="none" lIns="0" tIns="0" rIns="0" bIns="0" rtlCol="0" anchor="ctr" anchorCtr="1">
                <a:noAutofit/>
              </a:bodyPr>
              <a:lstStyle/>
              <a:p>
                <a:pPr algn="ctr"/>
                <a14:m>
                  <m:oMathPara xmlns:m="http://schemas.openxmlformats.org/officeDocument/2006/math">
                    <m:oMath>
                      <m:r>
                        <a:rPr lang="en-US" altLang="zh-TW" sz="1000" i="1">
                          <a:latin typeface="Cambria Math" panose="02040503050406030204" pitchFamily="18" charset="0"/>
                        </a:rPr>
                        <m:t>𝑥</m:t>
                      </m:r>
                    </m:oMath>
                  </m:oMathPara>
                </a14:m>
                <a:endParaRPr lang="zh-TW" altLang="en-US" sz="1000" i="1" dirty="0"/>
              </a:p>
            </p:txBody>
          </p:sp>
        </mc:Choice>
        <mc:Fallback xmlns="">
          <p:sp>
            <p:nvSpPr>
              <p:cNvPr id="105" name="文字方塊 104">
                <a:extLst>
                  <a:ext uri="{FF2B5EF4-FFF2-40B4-BE49-F238E27FC236}">
                    <a16:creationId xmlns:a16="http://schemas.microsoft.com/office/drawing/2014/main" id="{06397DD8-8DC4-57B0-55B7-E29989C6201B}"/>
                  </a:ext>
                </a:extLst>
              </p:cNvPr>
              <p:cNvSpPr txBox="1">
                <a:spLocks noRot="1" noChangeAspect="1" noMove="1" noResize="1" noEditPoints="1" noAdjustHandles="1" noChangeArrowheads="1" noChangeShapeType="1" noTextEdit="1"/>
              </p:cNvSpPr>
              <p:nvPr/>
            </p:nvSpPr>
            <p:spPr>
              <a:xfrm>
                <a:off x="4186061" y="1826829"/>
                <a:ext cx="419984" cy="119150"/>
              </a:xfrm>
              <a:prstGeom prst="rect">
                <a:avLst/>
              </a:prstGeom>
              <a:blipFill>
                <a:blip r:embed="rId4"/>
                <a:stretch>
                  <a:fillRect b="-9524"/>
                </a:stretch>
              </a:blipFill>
              <a:ln>
                <a:solidFill>
                  <a:schemeClr val="accent1">
                    <a:alpha val="40000"/>
                  </a:schemeClr>
                </a:solidFill>
              </a:ln>
            </p:spPr>
            <p:txBody>
              <a:bodyPr/>
              <a:lstStyle/>
              <a:p>
                <a:r>
                  <a:rPr lang="zh-TW" altLang="en-US">
                    <a:noFill/>
                  </a:rPr>
                  <a:t> </a:t>
                </a:r>
              </a:p>
            </p:txBody>
          </p:sp>
        </mc:Fallback>
      </mc:AlternateContent>
      <p:cxnSp>
        <p:nvCxnSpPr>
          <p:cNvPr id="106" name="接點: 弧形 105">
            <a:extLst>
              <a:ext uri="{FF2B5EF4-FFF2-40B4-BE49-F238E27FC236}">
                <a16:creationId xmlns:a16="http://schemas.microsoft.com/office/drawing/2014/main" id="{E338F06C-3D7C-4CCB-13C3-915E32D8E701}"/>
              </a:ext>
            </a:extLst>
          </p:cNvPr>
          <p:cNvCxnSpPr>
            <a:cxnSpLocks/>
            <a:stCxn id="105" idx="3"/>
            <a:endCxn id="120" idx="0"/>
          </p:cNvCxnSpPr>
          <p:nvPr/>
        </p:nvCxnSpPr>
        <p:spPr>
          <a:xfrm>
            <a:off x="4606045" y="1886404"/>
            <a:ext cx="425301" cy="54854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矩形 119">
            <a:extLst>
              <a:ext uri="{FF2B5EF4-FFF2-40B4-BE49-F238E27FC236}">
                <a16:creationId xmlns:a16="http://schemas.microsoft.com/office/drawing/2014/main" id="{6F27C02F-FC26-248D-16F2-903241A6CBC7}"/>
              </a:ext>
            </a:extLst>
          </p:cNvPr>
          <p:cNvSpPr/>
          <p:nvPr/>
        </p:nvSpPr>
        <p:spPr>
          <a:xfrm>
            <a:off x="4146344" y="2434945"/>
            <a:ext cx="1770003" cy="231114"/>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ctr" anchorCtr="0">
            <a:noAutofit/>
          </a:bodyPr>
          <a:lstStyle/>
          <a:p>
            <a:pPr>
              <a:lnSpc>
                <a:spcPts val="1600"/>
              </a:lnSpc>
            </a:pPr>
            <a:r>
              <a:rPr lang="en-US" altLang="zh-TW" sz="1200" b="1" i="1" dirty="0">
                <a:solidFill>
                  <a:schemeClr val="tx2"/>
                </a:solidFill>
                <a:ea typeface="微軟正黑體" panose="020B0604030504040204" pitchFamily="34" charset="-120"/>
              </a:rPr>
              <a:t>x</a:t>
            </a:r>
            <a:r>
              <a:rPr lang="en-US" altLang="zh-TW" sz="1200" b="1" dirty="0">
                <a:solidFill>
                  <a:schemeClr val="tx2"/>
                </a:solidFill>
                <a:ea typeface="微軟正黑體" panose="020B0604030504040204" pitchFamily="34" charset="-120"/>
              </a:rPr>
              <a:t> = Position Encoding (</a:t>
            </a:r>
            <a:r>
              <a:rPr lang="en-US" altLang="zh-TW" sz="1200" b="1" i="1" dirty="0">
                <a:solidFill>
                  <a:schemeClr val="tx2"/>
                </a:solidFill>
                <a:ea typeface="微軟正黑體" panose="020B0604030504040204" pitchFamily="34" charset="-120"/>
              </a:rPr>
              <a:t>x</a:t>
            </a:r>
            <a:r>
              <a:rPr lang="en-US" altLang="zh-TW" sz="1200" b="1" dirty="0">
                <a:solidFill>
                  <a:schemeClr val="tx2"/>
                </a:solidFill>
                <a:ea typeface="微軟正黑體" panose="020B0604030504040204" pitchFamily="34" charset="-120"/>
              </a:rPr>
              <a:t>)</a:t>
            </a:r>
          </a:p>
        </p:txBody>
      </p:sp>
      <p:sp>
        <p:nvSpPr>
          <p:cNvPr id="75" name="文字方塊 74">
            <a:extLst>
              <a:ext uri="{FF2B5EF4-FFF2-40B4-BE49-F238E27FC236}">
                <a16:creationId xmlns:a16="http://schemas.microsoft.com/office/drawing/2014/main" id="{66BAB4DB-6D4E-B602-A6FC-D415F16C410F}"/>
              </a:ext>
            </a:extLst>
          </p:cNvPr>
          <p:cNvSpPr txBox="1"/>
          <p:nvPr/>
        </p:nvSpPr>
        <p:spPr>
          <a:xfrm>
            <a:off x="285595" y="4009759"/>
            <a:ext cx="427061" cy="469714"/>
          </a:xfrm>
          <a:prstGeom prst="rect">
            <a:avLst/>
          </a:prstGeom>
          <a:noFill/>
        </p:spPr>
        <p:txBody>
          <a:bodyPr wrap="none" lIns="0" tIns="0" rIns="0" bIns="0" rtlCol="0" anchor="ctr" anchorCtr="1">
            <a:noAutofit/>
          </a:bodyPr>
          <a:lstStyle/>
          <a:p>
            <a:pPr algn="ctr"/>
            <a:r>
              <a:rPr lang="en-US" altLang="zh-TW" sz="1400" dirty="0"/>
              <a:t>n = </a:t>
            </a:r>
          </a:p>
          <a:p>
            <a:pPr algn="ctr"/>
            <a:r>
              <a:rPr lang="en-US" altLang="zh-TW" sz="1000" dirty="0"/>
              <a:t>64~100</a:t>
            </a:r>
            <a:endParaRPr lang="zh-TW" altLang="en-US" sz="1000" dirty="0"/>
          </a:p>
        </p:txBody>
      </p:sp>
      <p:sp>
        <p:nvSpPr>
          <p:cNvPr id="150" name="矩形 149">
            <a:extLst>
              <a:ext uri="{FF2B5EF4-FFF2-40B4-BE49-F238E27FC236}">
                <a16:creationId xmlns:a16="http://schemas.microsoft.com/office/drawing/2014/main" id="{5B914841-29BD-9578-671C-69108AD55B2E}"/>
              </a:ext>
            </a:extLst>
          </p:cNvPr>
          <p:cNvSpPr/>
          <p:nvPr/>
        </p:nvSpPr>
        <p:spPr>
          <a:xfrm>
            <a:off x="4146344" y="5030282"/>
            <a:ext cx="1971869" cy="1063014"/>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ctr" anchorCtr="0">
            <a:noAutofit/>
          </a:bodyPr>
          <a:lstStyle/>
          <a:p>
            <a:pPr>
              <a:lnSpc>
                <a:spcPts val="1600"/>
              </a:lnSpc>
            </a:pPr>
            <a:r>
              <a:rPr lang="en-US" altLang="zh-TW" sz="1200" b="1" dirty="0">
                <a:solidFill>
                  <a:schemeClr val="tx2"/>
                </a:solidFill>
                <a:ea typeface="微軟正黑體" panose="020B0604030504040204" pitchFamily="34" charset="-120"/>
              </a:rPr>
              <a:t>w = Last</a:t>
            </a:r>
            <a:r>
              <a:rPr lang="zh-TW" altLang="en-US" sz="1200" b="1" dirty="0">
                <a:solidFill>
                  <a:schemeClr val="tx2"/>
                </a:solidFill>
                <a:ea typeface="微軟正黑體" panose="020B0604030504040204" pitchFamily="34" charset="-120"/>
              </a:rPr>
              <a:t> </a:t>
            </a:r>
            <a:r>
              <a:rPr lang="en-US" altLang="zh-TW" sz="1200" b="1" dirty="0">
                <a:solidFill>
                  <a:schemeClr val="tx2"/>
                </a:solidFill>
                <a:ea typeface="微軟正黑體" panose="020B0604030504040204" pitchFamily="34" charset="-120"/>
              </a:rPr>
              <a:t>Vector(X)</a:t>
            </a:r>
          </a:p>
          <a:p>
            <a:pPr>
              <a:lnSpc>
                <a:spcPts val="1600"/>
              </a:lnSpc>
            </a:pPr>
            <a:r>
              <a:rPr lang="en-US" altLang="zh-TW" sz="1200" b="1" dirty="0">
                <a:solidFill>
                  <a:schemeClr val="tx2"/>
                </a:solidFill>
                <a:ea typeface="微軟正黑體" panose="020B0604030504040204" pitchFamily="34" charset="-120"/>
              </a:rPr>
              <a:t>P</a:t>
            </a:r>
            <a:r>
              <a:rPr lang="en-US" altLang="zh-TW" sz="1200" b="1" baseline="-25000" dirty="0">
                <a:solidFill>
                  <a:schemeClr val="tx2"/>
                </a:solidFill>
                <a:ea typeface="微軟正黑體" panose="020B0604030504040204" pitchFamily="34" charset="-120"/>
              </a:rPr>
              <a:t>Vx1</a:t>
            </a:r>
            <a:r>
              <a:rPr lang="en-US" altLang="zh-TW" sz="1200" b="1" dirty="0">
                <a:solidFill>
                  <a:schemeClr val="tx2"/>
                </a:solidFill>
                <a:ea typeface="微軟正黑體" panose="020B0604030504040204" pitchFamily="34" charset="-120"/>
              </a:rPr>
              <a:t> = Softmax(VC</a:t>
            </a:r>
            <a:r>
              <a:rPr lang="en-US" altLang="zh-TW" sz="1200" baseline="-25000" dirty="0">
                <a:solidFill>
                  <a:schemeClr val="tx2"/>
                </a:solidFill>
                <a:ea typeface="微軟正黑體" panose="020B0604030504040204" pitchFamily="34" charset="-120"/>
              </a:rPr>
              <a:t>Vxd</a:t>
            </a:r>
            <a:r>
              <a:rPr lang="en-US" altLang="zh-TW" sz="1200" b="1" dirty="0">
                <a:solidFill>
                  <a:schemeClr val="tx2"/>
                </a:solidFill>
                <a:ea typeface="微軟正黑體" panose="020B0604030504040204" pitchFamily="34" charset="-120"/>
              </a:rPr>
              <a:t> * w</a:t>
            </a:r>
            <a:r>
              <a:rPr lang="en-US" altLang="zh-TW" sz="1200" b="1" baseline="-25000" dirty="0">
                <a:solidFill>
                  <a:schemeClr val="tx2"/>
                </a:solidFill>
                <a:ea typeface="微軟正黑體" panose="020B0604030504040204" pitchFamily="34" charset="-120"/>
              </a:rPr>
              <a:t>dx1</a:t>
            </a:r>
            <a:r>
              <a:rPr lang="en-US" altLang="zh-TW" sz="1200" b="1" dirty="0">
                <a:solidFill>
                  <a:schemeClr val="tx2"/>
                </a:solidFill>
                <a:ea typeface="微軟正黑體" panose="020B0604030504040204" pitchFamily="34" charset="-120"/>
              </a:rPr>
              <a:t>)</a:t>
            </a:r>
          </a:p>
          <a:p>
            <a:pPr>
              <a:lnSpc>
                <a:spcPts val="1600"/>
              </a:lnSpc>
            </a:pPr>
            <a:endParaRPr lang="en-US" altLang="zh-TW" sz="1200" b="1" dirty="0">
              <a:solidFill>
                <a:schemeClr val="tx2"/>
              </a:solidFill>
              <a:ea typeface="微軟正黑體" panose="020B0604030504040204" pitchFamily="34" charset="-120"/>
            </a:endParaRPr>
          </a:p>
          <a:p>
            <a:pPr>
              <a:lnSpc>
                <a:spcPts val="1600"/>
              </a:lnSpc>
            </a:pPr>
            <a:r>
              <a:rPr lang="en-US" altLang="zh-TW" sz="1200" b="1" dirty="0">
                <a:solidFill>
                  <a:schemeClr val="tx2"/>
                </a:solidFill>
                <a:ea typeface="微軟正黑體" panose="020B0604030504040204" pitchFamily="34" charset="-120"/>
              </a:rPr>
              <a:t>P[I</a:t>
            </a:r>
            <a:r>
              <a:rPr lang="en-US" altLang="zh-TW" sz="1200" b="1" baseline="-25000" dirty="0">
                <a:solidFill>
                  <a:schemeClr val="tx2"/>
                </a:solidFill>
                <a:ea typeface="微軟正黑體" panose="020B0604030504040204" pitchFamily="34" charset="-120"/>
              </a:rPr>
              <a:t>max</a:t>
            </a:r>
            <a:r>
              <a:rPr lang="en-US" altLang="zh-TW" sz="1200" b="1" dirty="0">
                <a:solidFill>
                  <a:schemeClr val="tx2"/>
                </a:solidFill>
                <a:ea typeface="微軟正黑體" panose="020B0604030504040204" pitchFamily="34" charset="-120"/>
              </a:rPr>
              <a:t>] = Max Probability</a:t>
            </a:r>
          </a:p>
          <a:p>
            <a:pPr>
              <a:lnSpc>
                <a:spcPts val="1600"/>
              </a:lnSpc>
            </a:pPr>
            <a:r>
              <a:rPr lang="en-US" altLang="zh-TW" sz="1200" b="1" dirty="0">
                <a:solidFill>
                  <a:schemeClr val="tx2"/>
                </a:solidFill>
                <a:ea typeface="微軟正黑體" panose="020B0604030504040204" pitchFamily="34" charset="-120"/>
              </a:rPr>
              <a:t>Next = VC</a:t>
            </a:r>
            <a:r>
              <a:rPr lang="en-US" altLang="zh-TW" sz="1200" b="1" baseline="-25000" dirty="0">
                <a:solidFill>
                  <a:schemeClr val="tx2"/>
                </a:solidFill>
                <a:ea typeface="微軟正黑體" panose="020B0604030504040204" pitchFamily="34" charset="-120"/>
              </a:rPr>
              <a:t>Vxd</a:t>
            </a:r>
            <a:r>
              <a:rPr lang="en-US" altLang="zh-TW" sz="1200" b="1" dirty="0">
                <a:solidFill>
                  <a:schemeClr val="tx2"/>
                </a:solidFill>
                <a:ea typeface="微軟正黑體" panose="020B0604030504040204" pitchFamily="34" charset="-120"/>
              </a:rPr>
              <a:t>[I</a:t>
            </a:r>
            <a:r>
              <a:rPr lang="en-US" altLang="zh-TW" sz="1200" b="1" baseline="-25000" dirty="0">
                <a:solidFill>
                  <a:schemeClr val="tx2"/>
                </a:solidFill>
                <a:ea typeface="微軟正黑體" panose="020B0604030504040204" pitchFamily="34" charset="-120"/>
              </a:rPr>
              <a:t>max</a:t>
            </a:r>
            <a:r>
              <a:rPr lang="en-US" altLang="zh-TW" sz="1200" b="1" dirty="0">
                <a:solidFill>
                  <a:schemeClr val="tx2"/>
                </a:solidFill>
                <a:ea typeface="微軟正黑體" panose="020B0604030504040204" pitchFamily="34" charset="-120"/>
              </a:rPr>
              <a:t>]</a:t>
            </a:r>
          </a:p>
        </p:txBody>
      </p:sp>
      <mc:AlternateContent xmlns:mc="http://schemas.openxmlformats.org/markup-compatibility/2006" xmlns:a14="http://schemas.microsoft.com/office/drawing/2010/main">
        <mc:Choice Requires="a14">
          <p:sp>
            <p:nvSpPr>
              <p:cNvPr id="153" name="文字方塊 152">
                <a:extLst>
                  <a:ext uri="{FF2B5EF4-FFF2-40B4-BE49-F238E27FC236}">
                    <a16:creationId xmlns:a16="http://schemas.microsoft.com/office/drawing/2014/main" id="{008D5AC1-207D-EC4F-0771-2C8666C4DF47}"/>
                  </a:ext>
                </a:extLst>
              </p:cNvPr>
              <p:cNvSpPr txBox="1"/>
              <p:nvPr/>
            </p:nvSpPr>
            <p:spPr>
              <a:xfrm>
                <a:off x="6277905" y="3170115"/>
                <a:ext cx="1750479" cy="846642"/>
              </a:xfrm>
              <a:prstGeom prst="rect">
                <a:avLst/>
              </a:prstGeom>
              <a:noFill/>
            </p:spPr>
            <p:txBody>
              <a:bodyPr wrap="none" lIns="0" tIns="0" rIns="0" bIns="0" rtlCol="0">
                <a:spAutoFit/>
              </a:bodyPr>
              <a:lstStyle/>
              <a:p>
                <a:pPr/>
                <a14:m>
                  <m:oMathPara xmlns:m="http://schemas.openxmlformats.org/officeDocument/2006/math">
                    <m:oMathParaPr>
                      <m:jc m:val="left"/>
                    </m:oMathParaPr>
                    <m:oMath>
                      <m:sSub>
                        <m:sSubPr>
                          <m:ctrlPr>
                            <a:rPr lang="en-US" altLang="zh-TW" sz="1200" i="1">
                              <a:latin typeface="Cambria Math" panose="02040503050406030204" pitchFamily="18" charset="0"/>
                            </a:rPr>
                          </m:ctrlPr>
                        </m:sSubPr>
                        <m:e>
                          <m:r>
                            <m:rPr>
                              <m:sty m:val="p"/>
                            </m:rPr>
                            <a:rPr lang="en-US" altLang="zh-TW" sz="1200" i="1">
                              <a:latin typeface="Cambria Math" panose="02040503050406030204" pitchFamily="18" charset="0"/>
                            </a:rPr>
                            <m:t>A</m:t>
                          </m:r>
                        </m:e>
                        <m:sub>
                          <m:r>
                            <a:rPr lang="en-US" altLang="zh-TW" sz="1200" i="1">
                              <a:latin typeface="Cambria Math" panose="02040503050406030204" pitchFamily="18" charset="0"/>
                            </a:rPr>
                            <m:t>0</m:t>
                          </m:r>
                        </m:sub>
                      </m:sSub>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𝑠𝑜𝑓𝑡𝑚𝑎𝑥</m:t>
                      </m:r>
                      <m:d>
                        <m:dPr>
                          <m:ctrlPr>
                            <a:rPr lang="en-US" altLang="zh-TW" sz="1200" b="0" i="1" smtClean="0">
                              <a:latin typeface="Cambria Math" panose="02040503050406030204" pitchFamily="18" charset="0"/>
                            </a:rPr>
                          </m:ctrlPr>
                        </m:dPr>
                        <m:e>
                          <m:f>
                            <m:fPr>
                              <m:ctrlPr>
                                <a:rPr lang="en-US" altLang="zh-TW" sz="1200" b="0" i="1" smtClean="0">
                                  <a:latin typeface="Cambria Math" panose="02040503050406030204" pitchFamily="18" charset="0"/>
                                </a:rPr>
                              </m:ctrlPr>
                            </m:fPr>
                            <m:num>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𝑄𝐾</m:t>
                                  </m:r>
                                </m:e>
                                <m:sup>
                                  <m:r>
                                    <a:rPr lang="en-US" altLang="zh-TW" sz="1200" b="0" i="1" smtClean="0">
                                      <a:latin typeface="Cambria Math" panose="02040503050406030204" pitchFamily="18" charset="0"/>
                                    </a:rPr>
                                    <m:t>𝑇</m:t>
                                  </m:r>
                                </m:sup>
                              </m:sSup>
                            </m:num>
                            <m:den>
                              <m:rad>
                                <m:radPr>
                                  <m:degHide m:val="on"/>
                                  <m:ctrlPr>
                                    <a:rPr lang="en-US" altLang="zh-TW" sz="1200" b="0" i="1" smtClean="0">
                                      <a:latin typeface="Cambria Math" panose="02040503050406030204" pitchFamily="18" charset="0"/>
                                    </a:rPr>
                                  </m:ctrlPr>
                                </m:radPr>
                                <m:deg/>
                                <m:e>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𝑑</m:t>
                                      </m:r>
                                    </m:e>
                                    <m:sub>
                                      <m:r>
                                        <a:rPr lang="en-US" altLang="zh-TW" sz="1200" b="0" i="1" smtClean="0">
                                          <a:latin typeface="Cambria Math" panose="02040503050406030204" pitchFamily="18" charset="0"/>
                                        </a:rPr>
                                        <m:t>ℎ</m:t>
                                      </m:r>
                                    </m:sub>
                                  </m:sSub>
                                </m:e>
                              </m:rad>
                            </m:den>
                          </m:f>
                        </m:e>
                      </m:d>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V</m:t>
                      </m:r>
                    </m:oMath>
                  </m:oMathPara>
                </a14:m>
                <a:endParaRPr lang="en-US" altLang="zh-TW" sz="1200" b="0" i="0" dirty="0">
                  <a:latin typeface="Cambria Math" panose="02040503050406030204" pitchFamily="18" charset="0"/>
                </a:endParaRPr>
              </a:p>
              <a:p>
                <a:endParaRPr lang="en-US" altLang="zh-TW" sz="1200" b="0" i="0" dirty="0">
                  <a:latin typeface="Cambria Math" panose="02040503050406030204" pitchFamily="18" charset="0"/>
                </a:endParaRPr>
              </a:p>
              <a:p>
                <a:r>
                  <a:rPr lang="en-US" altLang="zh-TW" sz="1200" b="0" i="0" dirty="0">
                    <a:latin typeface="Cambria Math" panose="02040503050406030204" pitchFamily="18" charset="0"/>
                  </a:rPr>
                  <a:t>A = </a:t>
                </a:r>
                <a14:m>
                  <m:oMath xmlns:m="http://schemas.openxmlformats.org/officeDocument/2006/math">
                    <m:r>
                      <a:rPr lang="en-US" altLang="zh-TW" sz="1200" b="0" i="1" smtClean="0">
                        <a:latin typeface="Cambria Math" panose="02040503050406030204" pitchFamily="18" charset="0"/>
                      </a:rPr>
                      <m:t>𝐶𝑎𝑢𝑠𝑎𝑙𝑀𝑎𝑠𝑘</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𝐴</m:t>
                        </m:r>
                      </m:e>
                      <m:sub>
                        <m:r>
                          <a:rPr lang="en-US" altLang="zh-TW" sz="1200" b="0" i="1" smtClean="0">
                            <a:latin typeface="Cambria Math" panose="02040503050406030204" pitchFamily="18" charset="0"/>
                          </a:rPr>
                          <m:t>0</m:t>
                        </m:r>
                      </m:sub>
                    </m:sSub>
                    <m:r>
                      <a:rPr lang="en-US" altLang="zh-TW" sz="1200" b="0" i="1" smtClean="0">
                        <a:latin typeface="Cambria Math" panose="02040503050406030204" pitchFamily="18" charset="0"/>
                      </a:rPr>
                      <m:t>)</m:t>
                    </m:r>
                  </m:oMath>
                </a14:m>
                <a:endParaRPr lang="en-US" altLang="zh-TW" sz="1200" b="0" i="0" dirty="0">
                  <a:latin typeface="Cambria Math" panose="02040503050406030204" pitchFamily="18" charset="0"/>
                </a:endParaRPr>
              </a:p>
            </p:txBody>
          </p:sp>
        </mc:Choice>
        <mc:Fallback xmlns="">
          <p:sp>
            <p:nvSpPr>
              <p:cNvPr id="153" name="文字方塊 152">
                <a:extLst>
                  <a:ext uri="{FF2B5EF4-FFF2-40B4-BE49-F238E27FC236}">
                    <a16:creationId xmlns:a16="http://schemas.microsoft.com/office/drawing/2014/main" id="{008D5AC1-207D-EC4F-0771-2C8666C4DF47}"/>
                  </a:ext>
                </a:extLst>
              </p:cNvPr>
              <p:cNvSpPr txBox="1">
                <a:spLocks noRot="1" noChangeAspect="1" noMove="1" noResize="1" noEditPoints="1" noAdjustHandles="1" noChangeArrowheads="1" noChangeShapeType="1" noTextEdit="1"/>
              </p:cNvSpPr>
              <p:nvPr/>
            </p:nvSpPr>
            <p:spPr>
              <a:xfrm>
                <a:off x="6277905" y="3170115"/>
                <a:ext cx="1750479" cy="846642"/>
              </a:xfrm>
              <a:prstGeom prst="rect">
                <a:avLst/>
              </a:prstGeom>
              <a:blipFill>
                <a:blip r:embed="rId5"/>
                <a:stretch>
                  <a:fillRect l="-5575" r="-348" b="-1079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5" name="文字方塊 154">
                <a:extLst>
                  <a:ext uri="{FF2B5EF4-FFF2-40B4-BE49-F238E27FC236}">
                    <a16:creationId xmlns:a16="http://schemas.microsoft.com/office/drawing/2014/main" id="{7C8BE5E5-1135-80FF-4A29-D3651AA7AD8C}"/>
                  </a:ext>
                </a:extLst>
              </p:cNvPr>
              <p:cNvSpPr txBox="1"/>
              <p:nvPr/>
            </p:nvSpPr>
            <p:spPr>
              <a:xfrm>
                <a:off x="6277905" y="4290154"/>
                <a:ext cx="1595501" cy="506998"/>
              </a:xfrm>
              <a:prstGeom prst="rect">
                <a:avLst/>
              </a:prstGeom>
              <a:noFill/>
            </p:spPr>
            <p:txBody>
              <a:bodyPr wrap="none" lIns="0" tIns="0" rIns="0" bIns="0" rtlCol="0">
                <a:spAutoFit/>
              </a:bodyPr>
              <a:lstStyle/>
              <a:p>
                <a:r>
                  <a:rPr lang="en-US" altLang="zh-TW" sz="1200" dirty="0"/>
                  <a:t>FFN:</a:t>
                </a:r>
              </a:p>
              <a:p>
                <a:pPr/>
                <a14:m>
                  <m:oMathPara xmlns:m="http://schemas.openxmlformats.org/officeDocument/2006/math">
                    <m:oMath>
                      <m:r>
                        <a:rPr lang="en-US" altLang="zh-TW" sz="1200" b="0" i="1" smtClean="0">
                          <a:latin typeface="Cambria Math" panose="02040503050406030204" pitchFamily="18" charset="0"/>
                        </a:rPr>
                        <m:t>𝑠𝑤𝑖𝑠ℎ</m:t>
                      </m:r>
                      <m:d>
                        <m:dPr>
                          <m:ctrlPr>
                            <a:rPr lang="el-GR" altLang="zh-TW" sz="1200" i="1">
                              <a:latin typeface="Cambria Math" panose="02040503050406030204" pitchFamily="18" charset="0"/>
                            </a:rPr>
                          </m:ctrlPr>
                        </m:dPr>
                        <m:e>
                          <m:r>
                            <m:rPr>
                              <m:sty m:val="p"/>
                            </m:rPr>
                            <a:rPr lang="el-GR" altLang="zh-TW" sz="1200" i="1">
                              <a:latin typeface="Cambria Math" panose="02040503050406030204" pitchFamily="18" charset="0"/>
                            </a:rPr>
                            <m:t>β</m:t>
                          </m:r>
                          <m:r>
                            <a:rPr lang="en-US" altLang="zh-TW" sz="1200" i="1">
                              <a:latin typeface="Cambria Math" panose="02040503050406030204" pitchFamily="18" charset="0"/>
                            </a:rPr>
                            <m:t>,</m:t>
                          </m:r>
                          <m:r>
                            <a:rPr lang="en-US" altLang="zh-TW" sz="1200" b="0" i="1" smtClean="0">
                              <a:latin typeface="Cambria Math" panose="02040503050406030204" pitchFamily="18" charset="0"/>
                            </a:rPr>
                            <m:t>𝑧</m:t>
                          </m:r>
                        </m:e>
                      </m:d>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𝑧</m:t>
                          </m:r>
                        </m:num>
                        <m:den>
                          <m:r>
                            <a:rPr lang="en-US" altLang="zh-TW" sz="1200" b="0" i="1" smtClean="0">
                              <a:latin typeface="Cambria Math" panose="02040503050406030204" pitchFamily="18" charset="0"/>
                            </a:rPr>
                            <m:t>1+</m:t>
                          </m:r>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m:t>
                              </m:r>
                              <m:r>
                                <m:rPr>
                                  <m:sty m:val="p"/>
                                </m:rPr>
                                <a:rPr lang="el-GR" altLang="zh-TW" sz="1200" i="1">
                                  <a:latin typeface="Cambria Math" panose="02040503050406030204" pitchFamily="18" charset="0"/>
                                </a:rPr>
                                <m:t>β</m:t>
                              </m:r>
                              <m:r>
                                <a:rPr lang="en-US" altLang="zh-TW" sz="1200" b="0" i="1" smtClean="0">
                                  <a:latin typeface="Cambria Math" panose="02040503050406030204" pitchFamily="18" charset="0"/>
                                </a:rPr>
                                <m:t>𝑧</m:t>
                              </m:r>
                            </m:sup>
                          </m:sSup>
                        </m:den>
                      </m:f>
                    </m:oMath>
                  </m:oMathPara>
                </a14:m>
                <a:endParaRPr lang="zh-TW" altLang="en-US" sz="1200" dirty="0"/>
              </a:p>
            </p:txBody>
          </p:sp>
        </mc:Choice>
        <mc:Fallback xmlns="">
          <p:sp>
            <p:nvSpPr>
              <p:cNvPr id="155" name="文字方塊 154">
                <a:extLst>
                  <a:ext uri="{FF2B5EF4-FFF2-40B4-BE49-F238E27FC236}">
                    <a16:creationId xmlns:a16="http://schemas.microsoft.com/office/drawing/2014/main" id="{7C8BE5E5-1135-80FF-4A29-D3651AA7AD8C}"/>
                  </a:ext>
                </a:extLst>
              </p:cNvPr>
              <p:cNvSpPr txBox="1">
                <a:spLocks noRot="1" noChangeAspect="1" noMove="1" noResize="1" noEditPoints="1" noAdjustHandles="1" noChangeArrowheads="1" noChangeShapeType="1" noTextEdit="1"/>
              </p:cNvSpPr>
              <p:nvPr/>
            </p:nvSpPr>
            <p:spPr>
              <a:xfrm>
                <a:off x="6277905" y="4290154"/>
                <a:ext cx="1595501" cy="506998"/>
              </a:xfrm>
              <a:prstGeom prst="rect">
                <a:avLst/>
              </a:prstGeom>
              <a:blipFill>
                <a:blip r:embed="rId6"/>
                <a:stretch>
                  <a:fillRect l="-6107" t="-9639" b="-96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4A5A56A1-2A4A-5E79-12DE-B20D9935564A}"/>
                  </a:ext>
                </a:extLst>
              </p:cNvPr>
              <p:cNvSpPr txBox="1"/>
              <p:nvPr/>
            </p:nvSpPr>
            <p:spPr>
              <a:xfrm>
                <a:off x="6277905" y="5258347"/>
                <a:ext cx="813171" cy="448264"/>
              </a:xfrm>
              <a:prstGeom prst="rect">
                <a:avLst/>
              </a:prstGeom>
              <a:noFill/>
            </p:spPr>
            <p:txBody>
              <a:bodyPr wrap="none" lIns="0" tIns="0" rIns="0" bIns="0" rtlCol="0">
                <a:spAutoFit/>
              </a:bodyPr>
              <a:lstStyle/>
              <a:p>
                <a:pPr/>
                <a14:m>
                  <m:oMathPara xmlns:m="http://schemas.openxmlformats.org/officeDocument/2006/math">
                    <m:oMath>
                      <m:r>
                        <a:rPr lang="en-US" altLang="zh-TW" sz="1200" b="0" i="1" smtClean="0">
                          <a:latin typeface="Cambria Math" panose="02040503050406030204" pitchFamily="18" charset="0"/>
                        </a:rPr>
                        <m:t>𝑃𝑖</m:t>
                      </m:r>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𝑍𝑖</m:t>
                              </m:r>
                            </m:sup>
                          </m:sSup>
                        </m:num>
                        <m:den>
                          <m:nary>
                            <m:naryPr>
                              <m:chr m:val="∑"/>
                              <m:ctrlPr>
                                <a:rPr lang="en-US" altLang="zh-TW" sz="1200" b="0" i="1" smtClean="0">
                                  <a:latin typeface="Cambria Math" panose="02040503050406030204" pitchFamily="18" charset="0"/>
                                </a:rPr>
                              </m:ctrlPr>
                            </m:naryPr>
                            <m:sub>
                              <m:r>
                                <m:rPr>
                                  <m:brk m:alnAt="23"/>
                                </m:rPr>
                                <a:rPr lang="en-US" altLang="zh-TW" sz="1200" b="0" i="1" smtClean="0">
                                  <a:latin typeface="Cambria Math" panose="02040503050406030204" pitchFamily="18" charset="0"/>
                                </a:rPr>
                                <m:t>𝑗</m:t>
                              </m:r>
                            </m:sub>
                            <m:sup>
                              <m:r>
                                <a:rPr lang="en-US" altLang="zh-TW" sz="1200" b="0" i="1" smtClean="0">
                                  <a:latin typeface="Cambria Math" panose="02040503050406030204" pitchFamily="18" charset="0"/>
                                </a:rPr>
                                <m:t>𝑉</m:t>
                              </m:r>
                            </m:sup>
                            <m:e>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𝑍𝑗</m:t>
                                  </m:r>
                                </m:sup>
                              </m:sSup>
                            </m:e>
                          </m:nary>
                        </m:den>
                      </m:f>
                    </m:oMath>
                  </m:oMathPara>
                </a14:m>
                <a:endParaRPr lang="zh-TW" altLang="en-US" sz="1200" dirty="0"/>
              </a:p>
            </p:txBody>
          </p:sp>
        </mc:Choice>
        <mc:Fallback xmlns="">
          <p:sp>
            <p:nvSpPr>
              <p:cNvPr id="2" name="文字方塊 1">
                <a:extLst>
                  <a:ext uri="{FF2B5EF4-FFF2-40B4-BE49-F238E27FC236}">
                    <a16:creationId xmlns:a16="http://schemas.microsoft.com/office/drawing/2014/main" id="{4A5A56A1-2A4A-5E79-12DE-B20D9935564A}"/>
                  </a:ext>
                </a:extLst>
              </p:cNvPr>
              <p:cNvSpPr txBox="1">
                <a:spLocks noRot="1" noChangeAspect="1" noMove="1" noResize="1" noEditPoints="1" noAdjustHandles="1" noChangeArrowheads="1" noChangeShapeType="1" noTextEdit="1"/>
              </p:cNvSpPr>
              <p:nvPr/>
            </p:nvSpPr>
            <p:spPr>
              <a:xfrm>
                <a:off x="6277905" y="5258347"/>
                <a:ext cx="813171" cy="448264"/>
              </a:xfrm>
              <a:prstGeom prst="rect">
                <a:avLst/>
              </a:prstGeom>
              <a:blipFill>
                <a:blip r:embed="rId7"/>
                <a:stretch>
                  <a:fillRect l="-4511" t="-19178" r="-30827" b="-102740"/>
                </a:stretch>
              </a:blipFill>
            </p:spPr>
            <p:txBody>
              <a:bodyPr/>
              <a:lstStyle/>
              <a:p>
                <a:r>
                  <a:rPr lang="zh-TW" altLang="en-US">
                    <a:noFill/>
                  </a:rPr>
                  <a:t> </a:t>
                </a:r>
              </a:p>
            </p:txBody>
          </p:sp>
        </mc:Fallback>
      </mc:AlternateContent>
      <p:sp>
        <p:nvSpPr>
          <p:cNvPr id="3" name="標題 1">
            <a:extLst>
              <a:ext uri="{FF2B5EF4-FFF2-40B4-BE49-F238E27FC236}">
                <a16:creationId xmlns:a16="http://schemas.microsoft.com/office/drawing/2014/main" id="{334B01AD-8B9A-5965-E35E-5BDDEF0307AA}"/>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Program Flow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Tokenizer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Embeddings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Positional Encoding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Self-Attention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FFN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Linear Projection</a:t>
            </a:r>
            <a:endParaRPr lang="en-US" altLang="zh-TW" sz="1200" dirty="0">
              <a:latin typeface="ADLaM Display" panose="02010000000000000000" pitchFamily="2" charset="0"/>
              <a:ea typeface="ADLaM Display" panose="02010000000000000000" pitchFamily="2" charset="0"/>
              <a:cs typeface="ADLaM Display" panose="02010000000000000000" pitchFamily="2" charset="0"/>
              <a:sym typeface="Wingdings" panose="05000000000000000000" pitchFamily="2" charset="2"/>
            </a:endParaRPr>
          </a:p>
        </p:txBody>
      </p:sp>
    </p:spTree>
    <p:extLst>
      <p:ext uri="{BB962C8B-B14F-4D97-AF65-F5344CB8AC3E}">
        <p14:creationId xmlns:p14="http://schemas.microsoft.com/office/powerpoint/2010/main" val="8784588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0BA6C-BB7F-B835-C42D-3F241F6D7601}"/>
            </a:ext>
          </a:extLst>
        </p:cNvPr>
        <p:cNvGrpSpPr/>
        <p:nvPr/>
      </p:nvGrpSpPr>
      <p:grpSpPr>
        <a:xfrm>
          <a:off x="0" y="0"/>
          <a:ext cx="0" cy="0"/>
          <a:chOff x="0" y="0"/>
          <a:chExt cx="0" cy="0"/>
        </a:xfrm>
      </p:grpSpPr>
      <p:sp>
        <p:nvSpPr>
          <p:cNvPr id="73" name="矩形 72">
            <a:extLst>
              <a:ext uri="{FF2B5EF4-FFF2-40B4-BE49-F238E27FC236}">
                <a16:creationId xmlns:a16="http://schemas.microsoft.com/office/drawing/2014/main" id="{0CD39B9A-ED92-AB62-D7D4-6B2380FA472E}"/>
              </a:ext>
            </a:extLst>
          </p:cNvPr>
          <p:cNvSpPr/>
          <p:nvPr/>
        </p:nvSpPr>
        <p:spPr>
          <a:xfrm>
            <a:off x="5505654" y="1844824"/>
            <a:ext cx="3026786" cy="1014680"/>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Attention</a:t>
            </a:r>
          </a:p>
        </p:txBody>
      </p:sp>
      <p:sp>
        <p:nvSpPr>
          <p:cNvPr id="4" name="標題 1">
            <a:extLst>
              <a:ext uri="{FF2B5EF4-FFF2-40B4-BE49-F238E27FC236}">
                <a16:creationId xmlns:a16="http://schemas.microsoft.com/office/drawing/2014/main" id="{C7E932C9-3BC7-9E10-9963-24F3D3FFF1AA}"/>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Self-Attention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Capturing context,  compressed into the latest token.</a:t>
            </a:r>
          </a:p>
        </p:txBody>
      </p:sp>
      <p:cxnSp>
        <p:nvCxnSpPr>
          <p:cNvPr id="66" name="直線接點 65">
            <a:extLst>
              <a:ext uri="{FF2B5EF4-FFF2-40B4-BE49-F238E27FC236}">
                <a16:creationId xmlns:a16="http://schemas.microsoft.com/office/drawing/2014/main" id="{0412083C-ED18-54C7-8A7D-F0BC4CB3240D}"/>
              </a:ext>
            </a:extLst>
          </p:cNvPr>
          <p:cNvCxnSpPr>
            <a:cxnSpLocks/>
            <a:stCxn id="92" idx="3"/>
          </p:cNvCxnSpPr>
          <p:nvPr/>
        </p:nvCxnSpPr>
        <p:spPr>
          <a:xfrm flipV="1">
            <a:off x="2267744" y="2597721"/>
            <a:ext cx="531742" cy="24983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CCD1EE38-15A2-F146-BF93-0EB4D61FC3BE}"/>
              </a:ext>
            </a:extLst>
          </p:cNvPr>
          <p:cNvCxnSpPr>
            <a:cxnSpLocks/>
            <a:stCxn id="89" idx="3"/>
          </p:cNvCxnSpPr>
          <p:nvPr/>
        </p:nvCxnSpPr>
        <p:spPr>
          <a:xfrm>
            <a:off x="2267744" y="1959463"/>
            <a:ext cx="531742" cy="18385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5" name="矩形 84">
            <a:extLst>
              <a:ext uri="{FF2B5EF4-FFF2-40B4-BE49-F238E27FC236}">
                <a16:creationId xmlns:a16="http://schemas.microsoft.com/office/drawing/2014/main" id="{9A7236A9-7EEB-C01A-8050-70C9BF32BB8A}"/>
              </a:ext>
            </a:extLst>
          </p:cNvPr>
          <p:cNvSpPr/>
          <p:nvPr/>
        </p:nvSpPr>
        <p:spPr>
          <a:xfrm>
            <a:off x="2555776" y="2131101"/>
            <a:ext cx="313067" cy="426232"/>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X</a:t>
            </a:r>
          </a:p>
        </p:txBody>
      </p:sp>
      <p:sp>
        <p:nvSpPr>
          <p:cNvPr id="88" name="矩形 87">
            <a:extLst>
              <a:ext uri="{FF2B5EF4-FFF2-40B4-BE49-F238E27FC236}">
                <a16:creationId xmlns:a16="http://schemas.microsoft.com/office/drawing/2014/main" id="{2A3273B4-280D-2500-B3E2-D5398D25A019}"/>
              </a:ext>
            </a:extLst>
          </p:cNvPr>
          <p:cNvSpPr/>
          <p:nvPr/>
        </p:nvSpPr>
        <p:spPr>
          <a:xfrm>
            <a:off x="1294782" y="1766456"/>
            <a:ext cx="972962"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p:txBody>
      </p:sp>
      <p:sp>
        <p:nvSpPr>
          <p:cNvPr id="89" name="矩形 88">
            <a:extLst>
              <a:ext uri="{FF2B5EF4-FFF2-40B4-BE49-F238E27FC236}">
                <a16:creationId xmlns:a16="http://schemas.microsoft.com/office/drawing/2014/main" id="{5008C6EC-6CC1-84E3-E3C4-558B4A2D14F4}"/>
              </a:ext>
            </a:extLst>
          </p:cNvPr>
          <p:cNvSpPr/>
          <p:nvPr/>
        </p:nvSpPr>
        <p:spPr>
          <a:xfrm>
            <a:off x="1294782" y="1752988"/>
            <a:ext cx="972962" cy="412950"/>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System Prompt</a:t>
            </a:r>
          </a:p>
        </p:txBody>
      </p:sp>
      <p:sp>
        <p:nvSpPr>
          <p:cNvPr id="90" name="矩形 89">
            <a:extLst>
              <a:ext uri="{FF2B5EF4-FFF2-40B4-BE49-F238E27FC236}">
                <a16:creationId xmlns:a16="http://schemas.microsoft.com/office/drawing/2014/main" id="{7B8D5C38-9841-F5B4-516A-91E4CA49B1CD}"/>
              </a:ext>
            </a:extLst>
          </p:cNvPr>
          <p:cNvSpPr/>
          <p:nvPr/>
        </p:nvSpPr>
        <p:spPr>
          <a:xfrm>
            <a:off x="1294782" y="2165939"/>
            <a:ext cx="972962" cy="240025"/>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Historical Chat</a:t>
            </a:r>
          </a:p>
        </p:txBody>
      </p:sp>
      <p:sp>
        <p:nvSpPr>
          <p:cNvPr id="91" name="矩形 90">
            <a:extLst>
              <a:ext uri="{FF2B5EF4-FFF2-40B4-BE49-F238E27FC236}">
                <a16:creationId xmlns:a16="http://schemas.microsoft.com/office/drawing/2014/main" id="{E605785A-C720-DDB1-E785-3D8725DF0FC4}"/>
              </a:ext>
            </a:extLst>
          </p:cNvPr>
          <p:cNvSpPr/>
          <p:nvPr/>
        </p:nvSpPr>
        <p:spPr>
          <a:xfrm>
            <a:off x="1294782" y="2405964"/>
            <a:ext cx="972962" cy="216023"/>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User Input Data</a:t>
            </a:r>
          </a:p>
        </p:txBody>
      </p:sp>
      <p:sp>
        <p:nvSpPr>
          <p:cNvPr id="92" name="矩形 91">
            <a:extLst>
              <a:ext uri="{FF2B5EF4-FFF2-40B4-BE49-F238E27FC236}">
                <a16:creationId xmlns:a16="http://schemas.microsoft.com/office/drawing/2014/main" id="{989134F6-20AE-AEB9-8562-A763C64631BA}"/>
              </a:ext>
            </a:extLst>
          </p:cNvPr>
          <p:cNvSpPr/>
          <p:nvPr/>
        </p:nvSpPr>
        <p:spPr>
          <a:xfrm>
            <a:off x="1294782" y="2775547"/>
            <a:ext cx="972962" cy="144016"/>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dirty="0">
                <a:solidFill>
                  <a:schemeClr val="accent2"/>
                </a:solidFill>
                <a:latin typeface="微軟正黑體" panose="020B0604030504040204" pitchFamily="34" charset="-120"/>
                <a:ea typeface="微軟正黑體" panose="020B0604030504040204" pitchFamily="34" charset="-120"/>
              </a:rPr>
              <a:t>new</a:t>
            </a:r>
          </a:p>
        </p:txBody>
      </p:sp>
      <p:sp>
        <p:nvSpPr>
          <p:cNvPr id="93" name="右中括弧 92">
            <a:extLst>
              <a:ext uri="{FF2B5EF4-FFF2-40B4-BE49-F238E27FC236}">
                <a16:creationId xmlns:a16="http://schemas.microsoft.com/office/drawing/2014/main" id="{7C52D50F-9788-DE81-632A-8CDDDE7C0B39}"/>
              </a:ext>
            </a:extLst>
          </p:cNvPr>
          <p:cNvSpPr/>
          <p:nvPr/>
        </p:nvSpPr>
        <p:spPr>
          <a:xfrm flipH="1">
            <a:off x="1213912" y="1766248"/>
            <a:ext cx="45719" cy="1153106"/>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4" name="文字方塊 93">
            <a:extLst>
              <a:ext uri="{FF2B5EF4-FFF2-40B4-BE49-F238E27FC236}">
                <a16:creationId xmlns:a16="http://schemas.microsoft.com/office/drawing/2014/main" id="{E9A3C937-19AF-6C22-0544-D7965868DD17}"/>
              </a:ext>
            </a:extLst>
          </p:cNvPr>
          <p:cNvSpPr txBox="1"/>
          <p:nvPr/>
        </p:nvSpPr>
        <p:spPr>
          <a:xfrm>
            <a:off x="1143666" y="2181643"/>
            <a:ext cx="123067" cy="278693"/>
          </a:xfrm>
          <a:prstGeom prst="rect">
            <a:avLst/>
          </a:prstGeom>
          <a:noFill/>
        </p:spPr>
        <p:txBody>
          <a:bodyPr wrap="none" lIns="0" tIns="0" rIns="0" bIns="0" rtlCol="0" anchor="ctr" anchorCtr="1">
            <a:noAutofit/>
          </a:bodyPr>
          <a:lstStyle/>
          <a:p>
            <a:pPr algn="ctr"/>
            <a:r>
              <a:rPr lang="en-US" altLang="zh-TW" sz="1400" dirty="0"/>
              <a:t>N</a:t>
            </a:r>
            <a:endParaRPr lang="zh-TW" altLang="en-US" sz="1400" dirty="0"/>
          </a:p>
        </p:txBody>
      </p:sp>
      <p:sp>
        <p:nvSpPr>
          <p:cNvPr id="95" name="矩形 94">
            <a:extLst>
              <a:ext uri="{FF2B5EF4-FFF2-40B4-BE49-F238E27FC236}">
                <a16:creationId xmlns:a16="http://schemas.microsoft.com/office/drawing/2014/main" id="{6DF3AD3E-10E4-1095-51BB-4E59F1405146}"/>
              </a:ext>
            </a:extLst>
          </p:cNvPr>
          <p:cNvSpPr/>
          <p:nvPr/>
        </p:nvSpPr>
        <p:spPr>
          <a:xfrm>
            <a:off x="1664803" y="1570499"/>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d</a:t>
            </a:r>
          </a:p>
        </p:txBody>
      </p:sp>
      <p:sp>
        <p:nvSpPr>
          <p:cNvPr id="96" name="右中括弧 95">
            <a:extLst>
              <a:ext uri="{FF2B5EF4-FFF2-40B4-BE49-F238E27FC236}">
                <a16:creationId xmlns:a16="http://schemas.microsoft.com/office/drawing/2014/main" id="{B6BB993E-AE2E-3719-AB5B-9B4E7A2E13A3}"/>
              </a:ext>
            </a:extLst>
          </p:cNvPr>
          <p:cNvSpPr/>
          <p:nvPr/>
        </p:nvSpPr>
        <p:spPr>
          <a:xfrm rot="16200000">
            <a:off x="1758403" y="1207164"/>
            <a:ext cx="45719" cy="972962"/>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49EDF0B5-AB72-492D-3A92-9881C35CEEE8}"/>
              </a:ext>
            </a:extLst>
          </p:cNvPr>
          <p:cNvSpPr/>
          <p:nvPr/>
        </p:nvSpPr>
        <p:spPr>
          <a:xfrm>
            <a:off x="5655769" y="1256184"/>
            <a:ext cx="1508519" cy="372616"/>
          </a:xfrm>
          <a:prstGeom prst="rect">
            <a:avLst/>
          </a:prstGeom>
          <a:noFill/>
          <a:ln w="2540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p:txBody>
      </p:sp>
      <p:sp>
        <p:nvSpPr>
          <p:cNvPr id="55" name="矩形 54">
            <a:extLst>
              <a:ext uri="{FF2B5EF4-FFF2-40B4-BE49-F238E27FC236}">
                <a16:creationId xmlns:a16="http://schemas.microsoft.com/office/drawing/2014/main" id="{45B3CB3A-DF76-A954-7ACD-784F85AFB1BA}"/>
              </a:ext>
            </a:extLst>
          </p:cNvPr>
          <p:cNvSpPr/>
          <p:nvPr/>
        </p:nvSpPr>
        <p:spPr>
          <a:xfrm>
            <a:off x="2561850" y="2485325"/>
            <a:ext cx="313067" cy="84483"/>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baseline="-25000" dirty="0">
              <a:solidFill>
                <a:schemeClr val="tx1"/>
              </a:solidFill>
              <a:latin typeface="微軟正黑體" panose="020B0604030504040204" pitchFamily="34" charset="-120"/>
              <a:ea typeface="微軟正黑體" panose="020B0604030504040204" pitchFamily="34" charset="-120"/>
            </a:endParaRPr>
          </a:p>
        </p:txBody>
      </p:sp>
      <p:sp>
        <p:nvSpPr>
          <p:cNvPr id="62" name="左右大括弧 61">
            <a:extLst>
              <a:ext uri="{FF2B5EF4-FFF2-40B4-BE49-F238E27FC236}">
                <a16:creationId xmlns:a16="http://schemas.microsoft.com/office/drawing/2014/main" id="{8CE10F52-2583-64A4-7856-26F1465A74F4}"/>
              </a:ext>
            </a:extLst>
          </p:cNvPr>
          <p:cNvSpPr/>
          <p:nvPr/>
        </p:nvSpPr>
        <p:spPr>
          <a:xfrm>
            <a:off x="5942923" y="1310861"/>
            <a:ext cx="549922" cy="166639"/>
          </a:xfrm>
          <a:prstGeom prst="bracePair">
            <a:avLst/>
          </a:prstGeom>
        </p:spPr>
        <p:style>
          <a:lnRef idx="1">
            <a:schemeClr val="accent1"/>
          </a:lnRef>
          <a:fillRef idx="0">
            <a:schemeClr val="accent1"/>
          </a:fillRef>
          <a:effectRef idx="0">
            <a:schemeClr val="accent1"/>
          </a:effectRef>
          <a:fontRef idx="minor">
            <a:schemeClr val="tx1"/>
          </a:fontRef>
        </p:style>
        <p:txBody>
          <a:bodyPr wrap="none" lIns="0" tIns="0" rIns="0" bIns="0" rtlCol="0" anchor="ctr" anchorCtr="1"/>
          <a:lstStyle/>
          <a:p>
            <a:pPr algn="ctr"/>
            <a:r>
              <a:rPr lang="en-US" altLang="zh-TW" sz="1400" dirty="0"/>
              <a:t>Heads</a:t>
            </a:r>
            <a:endParaRPr lang="zh-TW" altLang="en-US" sz="1400" dirty="0"/>
          </a:p>
        </p:txBody>
      </p:sp>
      <p:sp>
        <p:nvSpPr>
          <p:cNvPr id="99" name="右中括弧 98">
            <a:extLst>
              <a:ext uri="{FF2B5EF4-FFF2-40B4-BE49-F238E27FC236}">
                <a16:creationId xmlns:a16="http://schemas.microsoft.com/office/drawing/2014/main" id="{716E358A-DD91-C615-64A9-F1DD46207106}"/>
              </a:ext>
            </a:extLst>
          </p:cNvPr>
          <p:cNvSpPr/>
          <p:nvPr/>
        </p:nvSpPr>
        <p:spPr>
          <a:xfrm rot="16200000">
            <a:off x="4463256" y="1272021"/>
            <a:ext cx="110578" cy="25199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00" name="文字方塊 99">
            <a:extLst>
              <a:ext uri="{FF2B5EF4-FFF2-40B4-BE49-F238E27FC236}">
                <a16:creationId xmlns:a16="http://schemas.microsoft.com/office/drawing/2014/main" id="{A1520AB4-80B0-5F64-C5B0-2E2EF372E12C}"/>
              </a:ext>
            </a:extLst>
          </p:cNvPr>
          <p:cNvSpPr txBox="1"/>
          <p:nvPr/>
        </p:nvSpPr>
        <p:spPr>
          <a:xfrm>
            <a:off x="4479509" y="1268760"/>
            <a:ext cx="78071" cy="217983"/>
          </a:xfrm>
          <a:prstGeom prst="rect">
            <a:avLst/>
          </a:prstGeom>
          <a:noFill/>
        </p:spPr>
        <p:txBody>
          <a:bodyPr wrap="none" lIns="0" tIns="0" rIns="0" bIns="0" rtlCol="0" anchor="ctr" anchorCtr="1">
            <a:noAutofit/>
          </a:bodyPr>
          <a:lstStyle/>
          <a:p>
            <a:pPr algn="ctr"/>
            <a:r>
              <a:rPr lang="en-US" altLang="zh-TW" sz="1200" dirty="0"/>
              <a:t>d</a:t>
            </a:r>
            <a:r>
              <a:rPr lang="en-US" altLang="zh-TW" sz="1200" baseline="-25000" dirty="0"/>
              <a:t>h</a:t>
            </a:r>
            <a:endParaRPr lang="zh-TW" altLang="en-US" sz="1200" dirty="0"/>
          </a:p>
        </p:txBody>
      </p:sp>
      <p:sp>
        <p:nvSpPr>
          <p:cNvPr id="101" name="右中括弧 100">
            <a:extLst>
              <a:ext uri="{FF2B5EF4-FFF2-40B4-BE49-F238E27FC236}">
                <a16:creationId xmlns:a16="http://schemas.microsoft.com/office/drawing/2014/main" id="{B9DD458B-E8AB-F085-C3D4-80CC43657575}"/>
              </a:ext>
            </a:extLst>
          </p:cNvPr>
          <p:cNvSpPr/>
          <p:nvPr/>
        </p:nvSpPr>
        <p:spPr>
          <a:xfrm>
            <a:off x="4716016" y="1503630"/>
            <a:ext cx="148828" cy="468936"/>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02" name="文字方塊 101">
            <a:extLst>
              <a:ext uri="{FF2B5EF4-FFF2-40B4-BE49-F238E27FC236}">
                <a16:creationId xmlns:a16="http://schemas.microsoft.com/office/drawing/2014/main" id="{8728D05F-1DCF-3875-8FAF-C7E9964A5610}"/>
              </a:ext>
            </a:extLst>
          </p:cNvPr>
          <p:cNvSpPr txBox="1"/>
          <p:nvPr/>
        </p:nvSpPr>
        <p:spPr>
          <a:xfrm>
            <a:off x="4808973" y="1621280"/>
            <a:ext cx="123067" cy="217983"/>
          </a:xfrm>
          <a:prstGeom prst="rect">
            <a:avLst/>
          </a:prstGeom>
          <a:noFill/>
        </p:spPr>
        <p:txBody>
          <a:bodyPr wrap="none" lIns="0" tIns="0" rIns="0" bIns="0" rtlCol="0" anchor="ctr" anchorCtr="1">
            <a:noAutofit/>
          </a:bodyPr>
          <a:lstStyle/>
          <a:p>
            <a:pPr algn="ctr"/>
            <a:r>
              <a:rPr lang="en-US" altLang="zh-TW" sz="1200" dirty="0"/>
              <a:t>N</a:t>
            </a:r>
            <a:endParaRPr lang="zh-TW" altLang="en-US" sz="1200" dirty="0"/>
          </a:p>
        </p:txBody>
      </p:sp>
      <p:sp>
        <p:nvSpPr>
          <p:cNvPr id="111" name="文字方塊 110">
            <a:extLst>
              <a:ext uri="{FF2B5EF4-FFF2-40B4-BE49-F238E27FC236}">
                <a16:creationId xmlns:a16="http://schemas.microsoft.com/office/drawing/2014/main" id="{082B2476-733E-16FA-DE3F-5B9EE6270CC8}"/>
              </a:ext>
            </a:extLst>
          </p:cNvPr>
          <p:cNvSpPr txBox="1"/>
          <p:nvPr/>
        </p:nvSpPr>
        <p:spPr>
          <a:xfrm>
            <a:off x="4211960" y="3304269"/>
            <a:ext cx="104240" cy="235664"/>
          </a:xfrm>
          <a:prstGeom prst="rect">
            <a:avLst/>
          </a:prstGeom>
          <a:noFill/>
        </p:spPr>
        <p:txBody>
          <a:bodyPr wrap="none" lIns="0" tIns="0" rIns="0" bIns="0" rtlCol="0" anchor="ctr" anchorCtr="1">
            <a:noAutofit/>
          </a:bodyPr>
          <a:lstStyle/>
          <a:p>
            <a:pPr algn="ctr"/>
            <a:r>
              <a:rPr lang="en-US" altLang="zh-TW" sz="1200" dirty="0"/>
              <a:t>+</a:t>
            </a:r>
            <a:endParaRPr lang="zh-TW" altLang="en-US" sz="1200" dirty="0"/>
          </a:p>
        </p:txBody>
      </p:sp>
      <p:sp>
        <p:nvSpPr>
          <p:cNvPr id="113" name="文字方塊 112">
            <a:extLst>
              <a:ext uri="{FF2B5EF4-FFF2-40B4-BE49-F238E27FC236}">
                <a16:creationId xmlns:a16="http://schemas.microsoft.com/office/drawing/2014/main" id="{2CAB38FF-F2B2-8DE6-59F7-3DC2C6266345}"/>
              </a:ext>
            </a:extLst>
          </p:cNvPr>
          <p:cNvSpPr txBox="1"/>
          <p:nvPr/>
        </p:nvSpPr>
        <p:spPr>
          <a:xfrm>
            <a:off x="3718705" y="3304269"/>
            <a:ext cx="104240" cy="235664"/>
          </a:xfrm>
          <a:prstGeom prst="rect">
            <a:avLst/>
          </a:prstGeom>
          <a:noFill/>
        </p:spPr>
        <p:txBody>
          <a:bodyPr wrap="none" lIns="0" tIns="0" rIns="0" bIns="0" rtlCol="0" anchor="ctr" anchorCtr="1">
            <a:noAutofit/>
          </a:bodyPr>
          <a:lstStyle/>
          <a:p>
            <a:pPr algn="ctr"/>
            <a:r>
              <a:rPr lang="en-US" altLang="zh-TW" sz="1200" dirty="0"/>
              <a:t>=</a:t>
            </a:r>
            <a:endParaRPr lang="zh-TW" altLang="en-US" sz="1200" dirty="0"/>
          </a:p>
        </p:txBody>
      </p:sp>
      <p:sp>
        <p:nvSpPr>
          <p:cNvPr id="119" name="矩形: 圓角 118">
            <a:extLst>
              <a:ext uri="{FF2B5EF4-FFF2-40B4-BE49-F238E27FC236}">
                <a16:creationId xmlns:a16="http://schemas.microsoft.com/office/drawing/2014/main" id="{20F4EA3B-B1EC-0871-547B-A709EEC04FF2}"/>
              </a:ext>
            </a:extLst>
          </p:cNvPr>
          <p:cNvSpPr/>
          <p:nvPr/>
        </p:nvSpPr>
        <p:spPr>
          <a:xfrm>
            <a:off x="9612560" y="4725666"/>
            <a:ext cx="914400" cy="914400"/>
          </a:xfrm>
          <a:prstGeom prst="roundRect">
            <a:avLst/>
          </a:prstGeom>
          <a:solidFill>
            <a:schemeClr val="tx1">
              <a:alpha val="7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4" name="群組 63">
            <a:extLst>
              <a:ext uri="{FF2B5EF4-FFF2-40B4-BE49-F238E27FC236}">
                <a16:creationId xmlns:a16="http://schemas.microsoft.com/office/drawing/2014/main" id="{21EF2EDA-3D93-72FC-F2FC-779EB111DA80}"/>
              </a:ext>
            </a:extLst>
          </p:cNvPr>
          <p:cNvGrpSpPr/>
          <p:nvPr/>
        </p:nvGrpSpPr>
        <p:grpSpPr>
          <a:xfrm>
            <a:off x="5592938" y="2038038"/>
            <a:ext cx="2813412" cy="738840"/>
            <a:chOff x="5367161" y="1956644"/>
            <a:chExt cx="2813412" cy="733203"/>
          </a:xfrm>
        </p:grpSpPr>
        <p:sp>
          <p:nvSpPr>
            <p:cNvPr id="57" name="矩形 56">
              <a:extLst>
                <a:ext uri="{FF2B5EF4-FFF2-40B4-BE49-F238E27FC236}">
                  <a16:creationId xmlns:a16="http://schemas.microsoft.com/office/drawing/2014/main" id="{BF8F8D13-9E03-AB21-3107-9AE8C2074AC0}"/>
                </a:ext>
              </a:extLst>
            </p:cNvPr>
            <p:cNvSpPr/>
            <p:nvPr/>
          </p:nvSpPr>
          <p:spPr>
            <a:xfrm>
              <a:off x="7874615" y="2037727"/>
              <a:ext cx="305958" cy="504056"/>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V</a:t>
              </a:r>
            </a:p>
          </p:txBody>
        </p:sp>
        <p:sp>
          <p:nvSpPr>
            <p:cNvPr id="70" name="左右中括弧 69">
              <a:extLst>
                <a:ext uri="{FF2B5EF4-FFF2-40B4-BE49-F238E27FC236}">
                  <a16:creationId xmlns:a16="http://schemas.microsoft.com/office/drawing/2014/main" id="{0846E78B-DE37-09F6-B908-E08C32E32479}"/>
                </a:ext>
              </a:extLst>
            </p:cNvPr>
            <p:cNvSpPr/>
            <p:nvPr/>
          </p:nvSpPr>
          <p:spPr>
            <a:xfrm>
              <a:off x="5788266" y="1976346"/>
              <a:ext cx="1190446" cy="575149"/>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2" name="矩形 71">
              <a:extLst>
                <a:ext uri="{FF2B5EF4-FFF2-40B4-BE49-F238E27FC236}">
                  <a16:creationId xmlns:a16="http://schemas.microsoft.com/office/drawing/2014/main" id="{0425A6A6-AEFB-EF05-54D7-A40F178B3C81}"/>
                </a:ext>
              </a:extLst>
            </p:cNvPr>
            <p:cNvSpPr/>
            <p:nvPr/>
          </p:nvSpPr>
          <p:spPr>
            <a:xfrm>
              <a:off x="5930489" y="2020208"/>
              <a:ext cx="298802" cy="504056"/>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a:t>
              </a:r>
            </a:p>
          </p:txBody>
        </p:sp>
        <p:sp>
          <p:nvSpPr>
            <p:cNvPr id="76" name="矩形 75">
              <a:extLst>
                <a:ext uri="{FF2B5EF4-FFF2-40B4-BE49-F238E27FC236}">
                  <a16:creationId xmlns:a16="http://schemas.microsoft.com/office/drawing/2014/main" id="{391FDFEE-4E39-F152-304E-97BA62A9C387}"/>
                </a:ext>
              </a:extLst>
            </p:cNvPr>
            <p:cNvSpPr/>
            <p:nvPr/>
          </p:nvSpPr>
          <p:spPr>
            <a:xfrm>
              <a:off x="5922740" y="2431750"/>
              <a:ext cx="298802" cy="95623"/>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600" baseline="-25000" dirty="0">
                <a:solidFill>
                  <a:schemeClr val="tx1"/>
                </a:solidFill>
                <a:latin typeface="微軟正黑體" panose="020B0604030504040204" pitchFamily="34" charset="-120"/>
                <a:ea typeface="微軟正黑體" panose="020B0604030504040204" pitchFamily="34" charset="-120"/>
              </a:endParaRPr>
            </a:p>
          </p:txBody>
        </p:sp>
        <p:sp>
          <p:nvSpPr>
            <p:cNvPr id="78" name="矩形 77">
              <a:extLst>
                <a:ext uri="{FF2B5EF4-FFF2-40B4-BE49-F238E27FC236}">
                  <a16:creationId xmlns:a16="http://schemas.microsoft.com/office/drawing/2014/main" id="{61850AAA-EAD0-0C84-5065-9178181E6239}"/>
                </a:ext>
              </a:extLst>
            </p:cNvPr>
            <p:cNvSpPr/>
            <p:nvPr/>
          </p:nvSpPr>
          <p:spPr>
            <a:xfrm>
              <a:off x="6347999" y="2113760"/>
              <a:ext cx="501145" cy="278694"/>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K</a:t>
              </a:r>
              <a:r>
                <a:rPr lang="en-US" altLang="zh-TW" sz="1400" baseline="80000" dirty="0">
                  <a:solidFill>
                    <a:schemeClr val="tx1"/>
                  </a:solidFill>
                  <a:latin typeface="微軟正黑體" panose="020B0604030504040204" pitchFamily="34" charset="-120"/>
                  <a:ea typeface="微軟正黑體" panose="020B0604030504040204" pitchFamily="34" charset="-120"/>
                </a:rPr>
                <a:t>T</a:t>
              </a:r>
            </a:p>
          </p:txBody>
        </p:sp>
        <p:sp>
          <p:nvSpPr>
            <p:cNvPr id="79" name="矩形 78">
              <a:extLst>
                <a:ext uri="{FF2B5EF4-FFF2-40B4-BE49-F238E27FC236}">
                  <a16:creationId xmlns:a16="http://schemas.microsoft.com/office/drawing/2014/main" id="{E9B41A6D-CB9F-8897-7EE5-717EA176BCC0}"/>
                </a:ext>
              </a:extLst>
            </p:cNvPr>
            <p:cNvSpPr/>
            <p:nvPr/>
          </p:nvSpPr>
          <p:spPr>
            <a:xfrm>
              <a:off x="6754437" y="2104422"/>
              <a:ext cx="87680" cy="275427"/>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600" baseline="-25000" dirty="0">
                <a:solidFill>
                  <a:schemeClr val="tx1"/>
                </a:solidFill>
                <a:latin typeface="微軟正黑體" panose="020B0604030504040204" pitchFamily="34" charset="-120"/>
                <a:ea typeface="微軟正黑體" panose="020B0604030504040204" pitchFamily="34" charset="-120"/>
              </a:endParaRPr>
            </a:p>
          </p:txBody>
        </p:sp>
        <p:sp>
          <p:nvSpPr>
            <p:cNvPr id="80" name="文字方塊 79">
              <a:extLst>
                <a:ext uri="{FF2B5EF4-FFF2-40B4-BE49-F238E27FC236}">
                  <a16:creationId xmlns:a16="http://schemas.microsoft.com/office/drawing/2014/main" id="{75E5CE86-5FD9-82F7-2F79-C30E2E6AEACA}"/>
                </a:ext>
              </a:extLst>
            </p:cNvPr>
            <p:cNvSpPr txBox="1"/>
            <p:nvPr/>
          </p:nvSpPr>
          <p:spPr>
            <a:xfrm>
              <a:off x="6921152" y="2105207"/>
              <a:ext cx="286745" cy="278693"/>
            </a:xfrm>
            <a:prstGeom prst="rect">
              <a:avLst/>
            </a:prstGeom>
            <a:noFill/>
          </p:spPr>
          <p:txBody>
            <a:bodyPr wrap="none" lIns="0" tIns="0" rIns="0" bIns="0" rtlCol="0" anchor="ctr" anchorCtr="1">
              <a:noAutofit/>
            </a:bodyPr>
            <a:lstStyle/>
            <a:p>
              <a:pPr algn="ctr"/>
              <a:r>
                <a:rPr lang="az-Cyrl-AZ" altLang="zh-TW" sz="1400" dirty="0"/>
                <a:t>ꚛ</a:t>
              </a:r>
              <a:endParaRPr lang="zh-TW" altLang="en-US" sz="1400" dirty="0"/>
            </a:p>
          </p:txBody>
        </p:sp>
        <mc:AlternateContent xmlns:mc="http://schemas.openxmlformats.org/markup-compatibility/2006" xmlns:a14="http://schemas.microsoft.com/office/drawing/2010/main">
          <mc:Choice Requires="a14">
            <p:sp>
              <p:nvSpPr>
                <p:cNvPr id="81" name="文字方塊 80">
                  <a:extLst>
                    <a:ext uri="{FF2B5EF4-FFF2-40B4-BE49-F238E27FC236}">
                      <a16:creationId xmlns:a16="http://schemas.microsoft.com/office/drawing/2014/main" id="{F63D7D1E-5656-A894-F761-3CDC029E0567}"/>
                    </a:ext>
                  </a:extLst>
                </p:cNvPr>
                <p:cNvSpPr txBox="1"/>
                <p:nvPr/>
              </p:nvSpPr>
              <p:spPr>
                <a:xfrm>
                  <a:off x="5396859" y="2060515"/>
                  <a:ext cx="319062" cy="424412"/>
                </a:xfrm>
                <a:prstGeom prst="rect">
                  <a:avLst/>
                </a:prstGeom>
                <a:noFill/>
              </p:spPr>
              <p:txBody>
                <a:bodyPr wrap="none" lIns="0" tIns="0" rIns="0" bIns="0" rtlCol="0">
                  <a:spAutoFit/>
                </a:bodyPr>
                <a:lstStyle/>
                <a:p>
                  <a:pPr/>
                  <a14:m>
                    <m:oMathPara xmlns:m="http://schemas.openxmlformats.org/officeDocument/2006/math">
                      <m:oMath>
                        <m:f>
                          <m:fPr>
                            <m:ctrlPr>
                              <a:rPr lang="zh-TW" altLang="en-US" sz="1200">
                                <a:latin typeface="Cambria Math" panose="02040503050406030204" pitchFamily="18" charset="0"/>
                              </a:rPr>
                            </m:ctrlPr>
                          </m:fPr>
                          <m:num>
                            <m:r>
                              <a:rPr lang="zh-TW" altLang="en-US" sz="1200">
                                <a:latin typeface="Cambria Math" panose="02040503050406030204" pitchFamily="18" charset="0"/>
                              </a:rPr>
                              <m:t>1</m:t>
                            </m:r>
                          </m:num>
                          <m:den>
                            <m:rad>
                              <m:radPr>
                                <m:degHide m:val="on"/>
                                <m:ctrlPr>
                                  <a:rPr lang="zh-TW" altLang="en-US" sz="1200" i="1">
                                    <a:latin typeface="Cambria Math" panose="02040503050406030204" pitchFamily="18" charset="0"/>
                                  </a:rPr>
                                </m:ctrlPr>
                              </m:radPr>
                              <m:deg/>
                              <m:e>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𝑑</m:t>
                                    </m:r>
                                  </m:e>
                                  <m:sub>
                                    <m:r>
                                      <a:rPr lang="zh-TW" altLang="en-US" sz="1200" i="1">
                                        <a:latin typeface="Cambria Math" panose="02040503050406030204" pitchFamily="18" charset="0"/>
                                      </a:rPr>
                                      <m:t>ℎ</m:t>
                                    </m:r>
                                  </m:sub>
                                </m:sSub>
                              </m:e>
                            </m:rad>
                          </m:den>
                        </m:f>
                      </m:oMath>
                    </m:oMathPara>
                  </a14:m>
                  <a:endParaRPr lang="zh-TW" altLang="en-US" sz="1200" dirty="0"/>
                </a:p>
              </p:txBody>
            </p:sp>
          </mc:Choice>
          <mc:Fallback xmlns="">
            <p:sp>
              <p:nvSpPr>
                <p:cNvPr id="81" name="文字方塊 80">
                  <a:extLst>
                    <a:ext uri="{FF2B5EF4-FFF2-40B4-BE49-F238E27FC236}">
                      <a16:creationId xmlns:a16="http://schemas.microsoft.com/office/drawing/2014/main" id="{F63D7D1E-5656-A894-F761-3CDC029E0567}"/>
                    </a:ext>
                  </a:extLst>
                </p:cNvPr>
                <p:cNvSpPr txBox="1">
                  <a:spLocks noRot="1" noChangeAspect="1" noMove="1" noResize="1" noEditPoints="1" noAdjustHandles="1" noChangeArrowheads="1" noChangeShapeType="1" noTextEdit="1"/>
                </p:cNvSpPr>
                <p:nvPr/>
              </p:nvSpPr>
              <p:spPr>
                <a:xfrm>
                  <a:off x="5396859" y="2060515"/>
                  <a:ext cx="319062" cy="424412"/>
                </a:xfrm>
                <a:prstGeom prst="rect">
                  <a:avLst/>
                </a:prstGeom>
                <a:blipFill>
                  <a:blip r:embed="rId3"/>
                  <a:stretch>
                    <a:fillRect t="-2899" r="-1923" b="-4348"/>
                  </a:stretch>
                </a:blipFill>
              </p:spPr>
              <p:txBody>
                <a:bodyPr/>
                <a:lstStyle/>
                <a:p>
                  <a:r>
                    <a:rPr lang="zh-TW" altLang="en-US">
                      <a:noFill/>
                    </a:rPr>
                    <a:t> </a:t>
                  </a:r>
                </a:p>
              </p:txBody>
            </p:sp>
          </mc:Fallback>
        </mc:AlternateContent>
        <p:sp>
          <p:nvSpPr>
            <p:cNvPr id="82" name="矩形 81">
              <a:extLst>
                <a:ext uri="{FF2B5EF4-FFF2-40B4-BE49-F238E27FC236}">
                  <a16:creationId xmlns:a16="http://schemas.microsoft.com/office/drawing/2014/main" id="{5E8A929B-9B2E-7F1C-D830-9DDFCF071C7E}"/>
                </a:ext>
              </a:extLst>
            </p:cNvPr>
            <p:cNvSpPr/>
            <p:nvPr/>
          </p:nvSpPr>
          <p:spPr>
            <a:xfrm>
              <a:off x="7203738" y="2031377"/>
              <a:ext cx="392598" cy="511490"/>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182880" rIns="182880" bIns="0" rtlCol="0" anchor="ctr" anchorCtr="1"/>
            <a:lstStyle/>
            <a:p>
              <a:pPr algn="ctr">
                <a:lnSpc>
                  <a:spcPts val="1600"/>
                </a:lnSpc>
              </a:pPr>
              <a:endParaRPr lang="en-US" altLang="zh-TW" sz="1400" baseline="80000" dirty="0">
                <a:solidFill>
                  <a:schemeClr val="tx1"/>
                </a:solidFill>
                <a:latin typeface="微軟正黑體" panose="020B0604030504040204" pitchFamily="34" charset="-120"/>
                <a:ea typeface="微軟正黑體" panose="020B0604030504040204" pitchFamily="34" charset="-120"/>
              </a:endParaRPr>
            </a:p>
          </p:txBody>
        </p:sp>
        <p:sp>
          <p:nvSpPr>
            <p:cNvPr id="83" name="直角三角形 82">
              <a:extLst>
                <a:ext uri="{FF2B5EF4-FFF2-40B4-BE49-F238E27FC236}">
                  <a16:creationId xmlns:a16="http://schemas.microsoft.com/office/drawing/2014/main" id="{0614F978-3824-C923-4FA5-D5B7F8412463}"/>
                </a:ext>
              </a:extLst>
            </p:cNvPr>
            <p:cNvSpPr/>
            <p:nvPr/>
          </p:nvSpPr>
          <p:spPr>
            <a:xfrm rot="10800000">
              <a:off x="7208539" y="2040399"/>
              <a:ext cx="360040" cy="503601"/>
            </a:xfrm>
            <a:prstGeom prst="rtTriangle">
              <a:avLst/>
            </a:prstGeom>
            <a:solidFill>
              <a:schemeClr val="tx1"/>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az-Cyrl-AZ" altLang="zh-TW" sz="1200" b="1" dirty="0">
                  <a:solidFill>
                    <a:srgbClr val="FFFF00"/>
                  </a:solidFill>
                </a:rPr>
                <a:t>ꚙ</a:t>
              </a:r>
              <a:r>
                <a:rPr lang="en-US" altLang="zh-TW" sz="1200" b="1" dirty="0">
                  <a:solidFill>
                    <a:srgbClr val="FFFF00"/>
                  </a:solidFill>
                </a:rPr>
                <a:t>-</a:t>
              </a:r>
              <a:endParaRPr lang="zh-TW" altLang="en-US" sz="1200" b="1" dirty="0">
                <a:solidFill>
                  <a:srgbClr val="FFFF00"/>
                </a:solidFill>
              </a:endParaRPr>
            </a:p>
          </p:txBody>
        </p:sp>
        <p:sp>
          <p:nvSpPr>
            <p:cNvPr id="120" name="左中括弧 119">
              <a:extLst>
                <a:ext uri="{FF2B5EF4-FFF2-40B4-BE49-F238E27FC236}">
                  <a16:creationId xmlns:a16="http://schemas.microsoft.com/office/drawing/2014/main" id="{5D7BC184-02C2-7DE4-133C-A739B5E71281}"/>
                </a:ext>
              </a:extLst>
            </p:cNvPr>
            <p:cNvSpPr/>
            <p:nvPr/>
          </p:nvSpPr>
          <p:spPr>
            <a:xfrm>
              <a:off x="5367161" y="1969646"/>
              <a:ext cx="59182" cy="72020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21" name="左中括弧 120">
              <a:extLst>
                <a:ext uri="{FF2B5EF4-FFF2-40B4-BE49-F238E27FC236}">
                  <a16:creationId xmlns:a16="http://schemas.microsoft.com/office/drawing/2014/main" id="{343217DE-F8C6-2ACD-437F-0DD31634649C}"/>
                </a:ext>
              </a:extLst>
            </p:cNvPr>
            <p:cNvSpPr/>
            <p:nvPr/>
          </p:nvSpPr>
          <p:spPr>
            <a:xfrm flipH="1">
              <a:off x="7638657" y="1956644"/>
              <a:ext cx="65654" cy="71389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23" name="文字方塊 122">
              <a:extLst>
                <a:ext uri="{FF2B5EF4-FFF2-40B4-BE49-F238E27FC236}">
                  <a16:creationId xmlns:a16="http://schemas.microsoft.com/office/drawing/2014/main" id="{E532109A-97ED-0949-9EF2-4CD995CB4254}"/>
                </a:ext>
              </a:extLst>
            </p:cNvPr>
            <p:cNvSpPr txBox="1"/>
            <p:nvPr/>
          </p:nvSpPr>
          <p:spPr>
            <a:xfrm>
              <a:off x="7730599" y="2180763"/>
              <a:ext cx="123067" cy="217983"/>
            </a:xfrm>
            <a:prstGeom prst="rect">
              <a:avLst/>
            </a:prstGeom>
            <a:noFill/>
          </p:spPr>
          <p:txBody>
            <a:bodyPr wrap="none" lIns="0" tIns="0" rIns="0" bIns="0" rtlCol="0" anchor="ctr" anchorCtr="1">
              <a:noAutofit/>
            </a:bodyPr>
            <a:lstStyle/>
            <a:p>
              <a:pPr algn="ctr"/>
              <a:r>
                <a:rPr lang="en-US" altLang="zh-TW" sz="1200" dirty="0"/>
                <a:t>x</a:t>
              </a:r>
              <a:endParaRPr lang="zh-TW" altLang="en-US" sz="1200" dirty="0"/>
            </a:p>
          </p:txBody>
        </p:sp>
      </p:grpSp>
      <p:sp>
        <p:nvSpPr>
          <p:cNvPr id="131" name="矩形 130">
            <a:extLst>
              <a:ext uri="{FF2B5EF4-FFF2-40B4-BE49-F238E27FC236}">
                <a16:creationId xmlns:a16="http://schemas.microsoft.com/office/drawing/2014/main" id="{D2E41A05-6318-000C-98AB-E11C7639A576}"/>
              </a:ext>
            </a:extLst>
          </p:cNvPr>
          <p:cNvSpPr/>
          <p:nvPr/>
        </p:nvSpPr>
        <p:spPr>
          <a:xfrm>
            <a:off x="2888130" y="3989528"/>
            <a:ext cx="531742" cy="1416043"/>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a:t>
            </a:r>
          </a:p>
        </p:txBody>
      </p:sp>
      <p:sp>
        <p:nvSpPr>
          <p:cNvPr id="132" name="矩形 131">
            <a:extLst>
              <a:ext uri="{FF2B5EF4-FFF2-40B4-BE49-F238E27FC236}">
                <a16:creationId xmlns:a16="http://schemas.microsoft.com/office/drawing/2014/main" id="{DCAE6307-0F7E-FDF4-922D-4553336DFD54}"/>
              </a:ext>
            </a:extLst>
          </p:cNvPr>
          <p:cNvSpPr/>
          <p:nvPr/>
        </p:nvSpPr>
        <p:spPr>
          <a:xfrm rot="16200000">
            <a:off x="4102163" y="3941822"/>
            <a:ext cx="531742" cy="1416043"/>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K</a:t>
            </a:r>
          </a:p>
        </p:txBody>
      </p:sp>
      <p:sp>
        <p:nvSpPr>
          <p:cNvPr id="139" name="矩形 138">
            <a:extLst>
              <a:ext uri="{FF2B5EF4-FFF2-40B4-BE49-F238E27FC236}">
                <a16:creationId xmlns:a16="http://schemas.microsoft.com/office/drawing/2014/main" id="{27E23837-6FAD-C75E-463A-AA3C4E0A8D8A}"/>
              </a:ext>
            </a:extLst>
          </p:cNvPr>
          <p:cNvSpPr/>
          <p:nvPr/>
        </p:nvSpPr>
        <p:spPr>
          <a:xfrm>
            <a:off x="956783" y="4008306"/>
            <a:ext cx="1416044" cy="1416043"/>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QK</a:t>
            </a:r>
          </a:p>
          <a:p>
            <a:pPr algn="ctr">
              <a:lnSpc>
                <a:spcPts val="1600"/>
              </a:lnSpc>
            </a:pPr>
            <a:r>
              <a:rPr lang="en-US" altLang="zh-TW" sz="1200" b="1" dirty="0">
                <a:solidFill>
                  <a:schemeClr val="tx1"/>
                </a:solidFill>
                <a:latin typeface="微軟正黑體" panose="020B0604030504040204" pitchFamily="34" charset="-120"/>
                <a:ea typeface="微軟正黑體" panose="020B0604030504040204" pitchFamily="34" charset="-120"/>
              </a:rPr>
              <a:t>Cache</a:t>
            </a:r>
          </a:p>
        </p:txBody>
      </p:sp>
      <p:cxnSp>
        <p:nvCxnSpPr>
          <p:cNvPr id="140" name="直線接點 139">
            <a:extLst>
              <a:ext uri="{FF2B5EF4-FFF2-40B4-BE49-F238E27FC236}">
                <a16:creationId xmlns:a16="http://schemas.microsoft.com/office/drawing/2014/main" id="{F48C0D5E-47CC-7A48-647B-3CDFA9F9E10E}"/>
              </a:ext>
            </a:extLst>
          </p:cNvPr>
          <p:cNvCxnSpPr>
            <a:cxnSpLocks/>
          </p:cNvCxnSpPr>
          <p:nvPr/>
        </p:nvCxnSpPr>
        <p:spPr>
          <a:xfrm>
            <a:off x="956784" y="4002421"/>
            <a:ext cx="1416043" cy="1421928"/>
          </a:xfrm>
          <a:prstGeom prst="line">
            <a:avLst/>
          </a:prstGeom>
        </p:spPr>
        <p:style>
          <a:lnRef idx="1">
            <a:schemeClr val="accent1"/>
          </a:lnRef>
          <a:fillRef idx="0">
            <a:schemeClr val="accent1"/>
          </a:fillRef>
          <a:effectRef idx="0">
            <a:schemeClr val="accent1"/>
          </a:effectRef>
          <a:fontRef idx="minor">
            <a:schemeClr val="tx1"/>
          </a:fontRef>
        </p:style>
      </p:cxnSp>
      <p:sp>
        <p:nvSpPr>
          <p:cNvPr id="145" name="矩形 144">
            <a:extLst>
              <a:ext uri="{FF2B5EF4-FFF2-40B4-BE49-F238E27FC236}">
                <a16:creationId xmlns:a16="http://schemas.microsoft.com/office/drawing/2014/main" id="{4AA218F1-0101-BE93-2018-D360744DF41B}"/>
              </a:ext>
            </a:extLst>
          </p:cNvPr>
          <p:cNvSpPr/>
          <p:nvPr/>
        </p:nvSpPr>
        <p:spPr>
          <a:xfrm>
            <a:off x="956782" y="5274862"/>
            <a:ext cx="1416042" cy="149487"/>
          </a:xfrm>
          <a:prstGeom prst="rect">
            <a:avLst/>
          </a:prstGeom>
          <a:gradFill flip="none" rotWithShape="1">
            <a:gsLst>
              <a:gs pos="0">
                <a:schemeClr val="bg1"/>
              </a:gs>
              <a:gs pos="100000">
                <a:schemeClr val="accent6">
                  <a:lumMod val="60000"/>
                  <a:lumOff val="40000"/>
                </a:schemeClr>
              </a:gs>
            </a:gsLst>
            <a:lin ang="10800000" scaled="1"/>
            <a:tileRect/>
          </a:gra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latin typeface="微軟正黑體" panose="020B0604030504040204" pitchFamily="34" charset="-120"/>
                <a:ea typeface="微軟正黑體" panose="020B0604030504040204" pitchFamily="34" charset="-120"/>
              </a:rPr>
              <a:t>token</a:t>
            </a:r>
          </a:p>
        </p:txBody>
      </p:sp>
      <p:sp>
        <p:nvSpPr>
          <p:cNvPr id="146" name="矩形 145">
            <a:extLst>
              <a:ext uri="{FF2B5EF4-FFF2-40B4-BE49-F238E27FC236}">
                <a16:creationId xmlns:a16="http://schemas.microsoft.com/office/drawing/2014/main" id="{F9ED9B25-56F9-303B-D500-502B8B68F75C}"/>
              </a:ext>
            </a:extLst>
          </p:cNvPr>
          <p:cNvSpPr/>
          <p:nvPr/>
        </p:nvSpPr>
        <p:spPr>
          <a:xfrm>
            <a:off x="2888130" y="5274862"/>
            <a:ext cx="531742" cy="149487"/>
          </a:xfrm>
          <a:prstGeom prst="rect">
            <a:avLst/>
          </a:prstGeom>
          <a:gradFill flip="none" rotWithShape="1">
            <a:gsLst>
              <a:gs pos="0">
                <a:schemeClr val="bg1"/>
              </a:gs>
              <a:gs pos="100000">
                <a:schemeClr val="accent6">
                  <a:lumMod val="60000"/>
                  <a:lumOff val="40000"/>
                </a:schemeClr>
              </a:gs>
            </a:gsLst>
            <a:lin ang="10800000" scaled="1"/>
            <a:tileRect/>
          </a:gra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latin typeface="微軟正黑體" panose="020B0604030504040204" pitchFamily="34" charset="-120"/>
                <a:ea typeface="微軟正黑體" panose="020B0604030504040204" pitchFamily="34" charset="-120"/>
              </a:rPr>
              <a:t>q</a:t>
            </a:r>
          </a:p>
        </p:txBody>
      </p:sp>
      <p:sp>
        <p:nvSpPr>
          <p:cNvPr id="147" name="矩形 146">
            <a:extLst>
              <a:ext uri="{FF2B5EF4-FFF2-40B4-BE49-F238E27FC236}">
                <a16:creationId xmlns:a16="http://schemas.microsoft.com/office/drawing/2014/main" id="{116F7E5F-4903-98D5-9B7E-AB3E68001B22}"/>
              </a:ext>
            </a:extLst>
          </p:cNvPr>
          <p:cNvSpPr/>
          <p:nvPr/>
        </p:nvSpPr>
        <p:spPr>
          <a:xfrm>
            <a:off x="3988873" y="4369867"/>
            <a:ext cx="151079" cy="550426"/>
          </a:xfrm>
          <a:prstGeom prst="rect">
            <a:avLst/>
          </a:prstGeom>
          <a:gradFill flip="none" rotWithShape="1">
            <a:gsLst>
              <a:gs pos="0">
                <a:schemeClr val="bg1"/>
              </a:gs>
              <a:gs pos="100000">
                <a:schemeClr val="accent6">
                  <a:lumMod val="60000"/>
                  <a:lumOff val="40000"/>
                </a:schemeClr>
              </a:gs>
            </a:gsLst>
            <a:lin ang="16200000" scaled="1"/>
            <a:tileRect/>
          </a:gra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latin typeface="微軟正黑體" panose="020B0604030504040204" pitchFamily="34" charset="-120"/>
                <a:ea typeface="微軟正黑體" panose="020B0604030504040204" pitchFamily="34" charset="-120"/>
              </a:rPr>
              <a:t>k</a:t>
            </a:r>
          </a:p>
        </p:txBody>
      </p:sp>
      <p:sp>
        <p:nvSpPr>
          <p:cNvPr id="150" name="矩形 149">
            <a:extLst>
              <a:ext uri="{FF2B5EF4-FFF2-40B4-BE49-F238E27FC236}">
                <a16:creationId xmlns:a16="http://schemas.microsoft.com/office/drawing/2014/main" id="{8C9D97CF-B202-7104-D3C9-612C0A5C7434}"/>
              </a:ext>
            </a:extLst>
          </p:cNvPr>
          <p:cNvSpPr/>
          <p:nvPr/>
        </p:nvSpPr>
        <p:spPr>
          <a:xfrm>
            <a:off x="943914" y="4200213"/>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x</a:t>
            </a:r>
          </a:p>
        </p:txBody>
      </p:sp>
      <p:sp>
        <p:nvSpPr>
          <p:cNvPr id="155" name="文字方塊 154">
            <a:extLst>
              <a:ext uri="{FF2B5EF4-FFF2-40B4-BE49-F238E27FC236}">
                <a16:creationId xmlns:a16="http://schemas.microsoft.com/office/drawing/2014/main" id="{CC038A0D-3ABF-A8B9-2BE9-F34133F62019}"/>
              </a:ext>
            </a:extLst>
          </p:cNvPr>
          <p:cNvSpPr txBox="1"/>
          <p:nvPr/>
        </p:nvSpPr>
        <p:spPr>
          <a:xfrm>
            <a:off x="3542561" y="5147900"/>
            <a:ext cx="585866" cy="369332"/>
          </a:xfrm>
          <a:prstGeom prst="rect">
            <a:avLst/>
          </a:prstGeom>
          <a:noFill/>
        </p:spPr>
        <p:txBody>
          <a:bodyPr wrap="none" rtlCol="0">
            <a:spAutoFit/>
          </a:bodyPr>
          <a:lstStyle/>
          <a:p>
            <a:r>
              <a:rPr lang="en-US" altLang="zh-TW" dirty="0"/>
              <a:t>new</a:t>
            </a:r>
            <a:endParaRPr lang="zh-TW" altLang="en-US" dirty="0"/>
          </a:p>
        </p:txBody>
      </p:sp>
      <p:sp>
        <p:nvSpPr>
          <p:cNvPr id="161" name="矩形 160">
            <a:extLst>
              <a:ext uri="{FF2B5EF4-FFF2-40B4-BE49-F238E27FC236}">
                <a16:creationId xmlns:a16="http://schemas.microsoft.com/office/drawing/2014/main" id="{5DE78BFE-EDA2-B825-6D13-D9A6B125228E}"/>
              </a:ext>
            </a:extLst>
          </p:cNvPr>
          <p:cNvSpPr/>
          <p:nvPr/>
        </p:nvSpPr>
        <p:spPr>
          <a:xfrm>
            <a:off x="3635896" y="4379392"/>
            <a:ext cx="171702" cy="536323"/>
          </a:xfrm>
          <a:prstGeom prst="rect">
            <a:avLst/>
          </a:prstGeom>
          <a:gradFill flip="none" rotWithShape="1">
            <a:gsLst>
              <a:gs pos="0">
                <a:schemeClr val="bg1"/>
              </a:gs>
              <a:gs pos="100000">
                <a:schemeClr val="accent6">
                  <a:lumMod val="60000"/>
                  <a:lumOff val="40000"/>
                </a:schemeClr>
              </a:gs>
            </a:gsLst>
            <a:lin ang="16200000" scaled="1"/>
            <a:tileRect/>
          </a:gra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latin typeface="微軟正黑體" panose="020B0604030504040204" pitchFamily="34" charset="-120"/>
                <a:ea typeface="微軟正黑體" panose="020B0604030504040204" pitchFamily="34" charset="-120"/>
              </a:rPr>
              <a:t>k</a:t>
            </a:r>
          </a:p>
        </p:txBody>
      </p:sp>
      <p:sp>
        <p:nvSpPr>
          <p:cNvPr id="162" name="矩形 161">
            <a:extLst>
              <a:ext uri="{FF2B5EF4-FFF2-40B4-BE49-F238E27FC236}">
                <a16:creationId xmlns:a16="http://schemas.microsoft.com/office/drawing/2014/main" id="{74765AE3-2FF0-401F-03FC-F1A6F4BBC62F}"/>
              </a:ext>
            </a:extLst>
          </p:cNvPr>
          <p:cNvSpPr/>
          <p:nvPr/>
        </p:nvSpPr>
        <p:spPr>
          <a:xfrm>
            <a:off x="3635896" y="4300173"/>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x</a:t>
            </a:r>
          </a:p>
        </p:txBody>
      </p:sp>
      <p:sp>
        <p:nvSpPr>
          <p:cNvPr id="163" name="矩形 162">
            <a:extLst>
              <a:ext uri="{FF2B5EF4-FFF2-40B4-BE49-F238E27FC236}">
                <a16:creationId xmlns:a16="http://schemas.microsoft.com/office/drawing/2014/main" id="{36339F44-4251-31BE-04DB-907A73D27E0F}"/>
              </a:ext>
            </a:extLst>
          </p:cNvPr>
          <p:cNvSpPr/>
          <p:nvPr/>
        </p:nvSpPr>
        <p:spPr>
          <a:xfrm>
            <a:off x="3988873" y="4303606"/>
            <a:ext cx="151079" cy="144438"/>
          </a:xfrm>
          <a:prstGeom prst="rect">
            <a:avLst/>
          </a:prstGeom>
          <a:solidFill>
            <a:schemeClr val="bg1">
              <a:alpha val="40000"/>
            </a:schemeClr>
          </a:soli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b="1" dirty="0">
              <a:solidFill>
                <a:schemeClr val="accent2"/>
              </a:solidFill>
              <a:latin typeface="微軟正黑體" panose="020B0604030504040204" pitchFamily="34" charset="-120"/>
              <a:ea typeface="微軟正黑體" panose="020B0604030504040204" pitchFamily="34" charset="-120"/>
            </a:endParaRPr>
          </a:p>
        </p:txBody>
      </p:sp>
      <p:cxnSp>
        <p:nvCxnSpPr>
          <p:cNvPr id="165" name="直線單箭頭接點 164">
            <a:extLst>
              <a:ext uri="{FF2B5EF4-FFF2-40B4-BE49-F238E27FC236}">
                <a16:creationId xmlns:a16="http://schemas.microsoft.com/office/drawing/2014/main" id="{58023D4A-518B-BD5F-4288-628FCE1031CA}"/>
              </a:ext>
            </a:extLst>
          </p:cNvPr>
          <p:cNvCxnSpPr>
            <a:stCxn id="158" idx="0"/>
            <a:endCxn id="150" idx="2"/>
          </p:cNvCxnSpPr>
          <p:nvPr/>
        </p:nvCxnSpPr>
        <p:spPr>
          <a:xfrm flipV="1">
            <a:off x="1029765" y="4356566"/>
            <a:ext cx="0" cy="851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9" name="矩形 168">
            <a:extLst>
              <a:ext uri="{FF2B5EF4-FFF2-40B4-BE49-F238E27FC236}">
                <a16:creationId xmlns:a16="http://schemas.microsoft.com/office/drawing/2014/main" id="{592FB36E-A68C-226D-BFB1-A9634096470D}"/>
              </a:ext>
            </a:extLst>
          </p:cNvPr>
          <p:cNvSpPr/>
          <p:nvPr/>
        </p:nvSpPr>
        <p:spPr>
          <a:xfrm>
            <a:off x="4919032" y="4291690"/>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Y</a:t>
            </a:r>
          </a:p>
        </p:txBody>
      </p:sp>
      <p:cxnSp>
        <p:nvCxnSpPr>
          <p:cNvPr id="171" name="直線接點 170">
            <a:extLst>
              <a:ext uri="{FF2B5EF4-FFF2-40B4-BE49-F238E27FC236}">
                <a16:creationId xmlns:a16="http://schemas.microsoft.com/office/drawing/2014/main" id="{EA5FBCEE-BB8E-7962-6AEB-3D1C400C3B94}"/>
              </a:ext>
            </a:extLst>
          </p:cNvPr>
          <p:cNvCxnSpPr/>
          <p:nvPr/>
        </p:nvCxnSpPr>
        <p:spPr>
          <a:xfrm>
            <a:off x="2771800" y="3974254"/>
            <a:ext cx="0" cy="1440706"/>
          </a:xfrm>
          <a:prstGeom prst="line">
            <a:avLst/>
          </a:prstGeom>
          <a:ln w="38100">
            <a:solidFill>
              <a:schemeClr val="accent6">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72" name="直線接點 171">
            <a:extLst>
              <a:ext uri="{FF2B5EF4-FFF2-40B4-BE49-F238E27FC236}">
                <a16:creationId xmlns:a16="http://schemas.microsoft.com/office/drawing/2014/main" id="{4EC5357E-B57D-5696-B511-76127ECAE7E3}"/>
              </a:ext>
            </a:extLst>
          </p:cNvPr>
          <p:cNvCxnSpPr>
            <a:cxnSpLocks/>
          </p:cNvCxnSpPr>
          <p:nvPr/>
        </p:nvCxnSpPr>
        <p:spPr>
          <a:xfrm flipV="1">
            <a:off x="3630897" y="4186887"/>
            <a:ext cx="1469275" cy="3391"/>
          </a:xfrm>
          <a:prstGeom prst="line">
            <a:avLst/>
          </a:prstGeom>
          <a:ln w="38100">
            <a:solidFill>
              <a:schemeClr val="accent6">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176" name="矩形 175">
            <a:extLst>
              <a:ext uri="{FF2B5EF4-FFF2-40B4-BE49-F238E27FC236}">
                <a16:creationId xmlns:a16="http://schemas.microsoft.com/office/drawing/2014/main" id="{55CE9919-2B60-6324-484E-21E7B0AE0DC6}"/>
              </a:ext>
            </a:extLst>
          </p:cNvPr>
          <p:cNvSpPr/>
          <p:nvPr/>
        </p:nvSpPr>
        <p:spPr>
          <a:xfrm>
            <a:off x="2195736" y="5208324"/>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Y</a:t>
            </a:r>
          </a:p>
        </p:txBody>
      </p:sp>
      <p:sp>
        <p:nvSpPr>
          <p:cNvPr id="148" name="矩形 147">
            <a:extLst>
              <a:ext uri="{FF2B5EF4-FFF2-40B4-BE49-F238E27FC236}">
                <a16:creationId xmlns:a16="http://schemas.microsoft.com/office/drawing/2014/main" id="{BF2089BB-BC6C-017D-8DF1-85369728E189}"/>
              </a:ext>
            </a:extLst>
          </p:cNvPr>
          <p:cNvSpPr/>
          <p:nvPr/>
        </p:nvSpPr>
        <p:spPr>
          <a:xfrm>
            <a:off x="1259632" y="5208325"/>
            <a:ext cx="144016" cy="149487"/>
          </a:xfrm>
          <a:prstGeom prst="rect">
            <a:avLst/>
          </a:prstGeom>
          <a:solidFill>
            <a:schemeClr val="bg1">
              <a:alpha val="40000"/>
            </a:schemeClr>
          </a:soli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b="1" dirty="0">
              <a:solidFill>
                <a:schemeClr val="accent2"/>
              </a:solidFill>
              <a:latin typeface="微軟正黑體" panose="020B0604030504040204" pitchFamily="34" charset="-120"/>
              <a:ea typeface="微軟正黑體" panose="020B0604030504040204" pitchFamily="34" charset="-120"/>
            </a:endParaRPr>
          </a:p>
        </p:txBody>
      </p:sp>
      <p:sp>
        <p:nvSpPr>
          <p:cNvPr id="158" name="矩形 157">
            <a:extLst>
              <a:ext uri="{FF2B5EF4-FFF2-40B4-BE49-F238E27FC236}">
                <a16:creationId xmlns:a16="http://schemas.microsoft.com/office/drawing/2014/main" id="{DF4F9B46-4036-0705-42F5-51A1C56471DA}"/>
              </a:ext>
            </a:extLst>
          </p:cNvPr>
          <p:cNvSpPr/>
          <p:nvPr/>
        </p:nvSpPr>
        <p:spPr>
          <a:xfrm>
            <a:off x="943914" y="5208325"/>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x</a:t>
            </a:r>
          </a:p>
        </p:txBody>
      </p:sp>
      <p:sp>
        <p:nvSpPr>
          <p:cNvPr id="6" name="右中括弧 5">
            <a:extLst>
              <a:ext uri="{FF2B5EF4-FFF2-40B4-BE49-F238E27FC236}">
                <a16:creationId xmlns:a16="http://schemas.microsoft.com/office/drawing/2014/main" id="{C81A02FB-AC09-8887-36BD-3E73264A3E4D}"/>
              </a:ext>
            </a:extLst>
          </p:cNvPr>
          <p:cNvSpPr/>
          <p:nvPr/>
        </p:nvSpPr>
        <p:spPr>
          <a:xfrm rot="16200000">
            <a:off x="6363534" y="503152"/>
            <a:ext cx="57842" cy="1473374"/>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EE6FBDB8-B933-F607-F838-66A97D79B1D5}"/>
              </a:ext>
            </a:extLst>
          </p:cNvPr>
          <p:cNvSpPr txBox="1"/>
          <p:nvPr/>
        </p:nvSpPr>
        <p:spPr>
          <a:xfrm>
            <a:off x="6029932" y="1017421"/>
            <a:ext cx="636399" cy="160281"/>
          </a:xfrm>
          <a:prstGeom prst="rect">
            <a:avLst/>
          </a:prstGeom>
          <a:noFill/>
        </p:spPr>
        <p:txBody>
          <a:bodyPr wrap="none" lIns="0" tIns="0" rIns="0" bIns="0" rtlCol="0" anchor="ctr" anchorCtr="1">
            <a:noAutofit/>
          </a:bodyPr>
          <a:lstStyle/>
          <a:p>
            <a:pPr algn="ctr"/>
            <a:r>
              <a:rPr lang="en-US" altLang="zh-TW" sz="1200" dirty="0"/>
              <a:t>h * d</a:t>
            </a:r>
            <a:r>
              <a:rPr lang="en-US" altLang="zh-TW" sz="1200" baseline="-25000" dirty="0"/>
              <a:t>h</a:t>
            </a:r>
            <a:endParaRPr lang="zh-TW" altLang="en-US" sz="1200" dirty="0"/>
          </a:p>
        </p:txBody>
      </p:sp>
      <p:sp>
        <p:nvSpPr>
          <p:cNvPr id="8" name="文字方塊 7">
            <a:extLst>
              <a:ext uri="{FF2B5EF4-FFF2-40B4-BE49-F238E27FC236}">
                <a16:creationId xmlns:a16="http://schemas.microsoft.com/office/drawing/2014/main" id="{CFA20B6E-2B67-5993-7195-A982227FA1B9}"/>
              </a:ext>
            </a:extLst>
          </p:cNvPr>
          <p:cNvSpPr txBox="1"/>
          <p:nvPr/>
        </p:nvSpPr>
        <p:spPr>
          <a:xfrm>
            <a:off x="5577662" y="5761680"/>
            <a:ext cx="809060" cy="594653"/>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CNN</a:t>
            </a:r>
          </a:p>
          <a:p>
            <a:r>
              <a:rPr lang="en-US" altLang="zh-TW" sz="1200" dirty="0">
                <a:solidFill>
                  <a:prstClr val="black"/>
                </a:solidFill>
                <a:ea typeface="Cambria Math" panose="02040503050406030204" pitchFamily="18" charset="0"/>
              </a:rPr>
              <a:t>Extract feature</a:t>
            </a:r>
          </a:p>
          <a:p>
            <a:r>
              <a:rPr lang="en-US" altLang="zh-TW" sz="1200" dirty="0">
                <a:solidFill>
                  <a:prstClr val="black"/>
                </a:solidFill>
                <a:ea typeface="Cambria Math" panose="02040503050406030204" pitchFamily="18" charset="0"/>
              </a:rPr>
              <a:t>from image</a:t>
            </a:r>
          </a:p>
        </p:txBody>
      </p:sp>
      <p:sp>
        <p:nvSpPr>
          <p:cNvPr id="10" name="文字方塊 9">
            <a:extLst>
              <a:ext uri="{FF2B5EF4-FFF2-40B4-BE49-F238E27FC236}">
                <a16:creationId xmlns:a16="http://schemas.microsoft.com/office/drawing/2014/main" id="{58470458-DBAF-2D3D-CADA-6CB7858AFDAB}"/>
              </a:ext>
            </a:extLst>
          </p:cNvPr>
          <p:cNvSpPr txBox="1"/>
          <p:nvPr/>
        </p:nvSpPr>
        <p:spPr>
          <a:xfrm>
            <a:off x="4413489" y="5761680"/>
            <a:ext cx="809060" cy="594653"/>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LLM</a:t>
            </a:r>
          </a:p>
          <a:p>
            <a:r>
              <a:rPr lang="en-US" altLang="zh-TW" sz="1200" dirty="0">
                <a:solidFill>
                  <a:prstClr val="black"/>
                </a:solidFill>
                <a:ea typeface="Cambria Math" panose="02040503050406030204" pitchFamily="18" charset="0"/>
              </a:rPr>
              <a:t>Extract semantics</a:t>
            </a:r>
          </a:p>
          <a:p>
            <a:r>
              <a:rPr lang="en-US" altLang="zh-TW" sz="1200" dirty="0">
                <a:solidFill>
                  <a:prstClr val="black"/>
                </a:solidFill>
                <a:ea typeface="Cambria Math" panose="02040503050406030204" pitchFamily="18" charset="0"/>
              </a:rPr>
              <a:t>From context</a:t>
            </a:r>
          </a:p>
        </p:txBody>
      </p:sp>
      <p:sp>
        <p:nvSpPr>
          <p:cNvPr id="30" name="矩形 29">
            <a:extLst>
              <a:ext uri="{FF2B5EF4-FFF2-40B4-BE49-F238E27FC236}">
                <a16:creationId xmlns:a16="http://schemas.microsoft.com/office/drawing/2014/main" id="{150BC86B-8DCF-00B8-5574-918588F2BF8D}"/>
              </a:ext>
            </a:extLst>
          </p:cNvPr>
          <p:cNvSpPr/>
          <p:nvPr/>
        </p:nvSpPr>
        <p:spPr>
          <a:xfrm>
            <a:off x="435487" y="1631794"/>
            <a:ext cx="362588" cy="148254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r>
              <a:rPr lang="en-US" altLang="zh-TW" sz="1200" b="1" dirty="0">
                <a:solidFill>
                  <a:schemeClr val="tx1"/>
                </a:solidFill>
                <a:ea typeface="ADLaM Display" panose="02010000000000000000" pitchFamily="2" charset="0"/>
                <a:cs typeface="ADLaM Display" panose="02010000000000000000" pitchFamily="2" charset="0"/>
              </a:rPr>
              <a:t>vocabulary</a:t>
            </a:r>
          </a:p>
        </p:txBody>
      </p:sp>
      <p:sp>
        <p:nvSpPr>
          <p:cNvPr id="32" name="文字方塊 31">
            <a:extLst>
              <a:ext uri="{FF2B5EF4-FFF2-40B4-BE49-F238E27FC236}">
                <a16:creationId xmlns:a16="http://schemas.microsoft.com/office/drawing/2014/main" id="{22E1A8D9-E47D-48A7-0C79-430830CF1E96}"/>
              </a:ext>
            </a:extLst>
          </p:cNvPr>
          <p:cNvSpPr txBox="1"/>
          <p:nvPr/>
        </p:nvSpPr>
        <p:spPr>
          <a:xfrm>
            <a:off x="175196" y="3204749"/>
            <a:ext cx="1335476" cy="368267"/>
          </a:xfrm>
          <a:prstGeom prst="rect">
            <a:avLst/>
          </a:prstGeom>
          <a:noFill/>
        </p:spPr>
        <p:txBody>
          <a:bodyPr wrap="none" lIns="0" tIns="0" rIns="0" bIns="0" rtlCol="0" anchor="ctr" anchorCtr="1">
            <a:noAutofit/>
          </a:bodyPr>
          <a:lstStyle/>
          <a:p>
            <a:pPr algn="ctr"/>
            <a:r>
              <a:rPr lang="en-US" altLang="zh-TW" sz="1200" b="1" dirty="0"/>
              <a:t>Lookup Table</a:t>
            </a:r>
            <a:r>
              <a:rPr lang="en-US" altLang="zh-TW" sz="1200" dirty="0"/>
              <a:t>:</a:t>
            </a:r>
          </a:p>
          <a:p>
            <a:pPr algn="ctr"/>
            <a:r>
              <a:rPr lang="en-US" altLang="zh-TW" sz="1200" dirty="0"/>
              <a:t>Token</a:t>
            </a:r>
            <a:r>
              <a:rPr kumimoji="0" lang="en-US" altLang="zh-TW" sz="12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lang="en-US" altLang="zh-TW" sz="1200" dirty="0">
                <a:sym typeface="Wingdings" panose="05000000000000000000" pitchFamily="2" charset="2"/>
              </a:rPr>
              <a:t>Embedding</a:t>
            </a:r>
            <a:endParaRPr lang="zh-TW" altLang="en-US" sz="1200" dirty="0"/>
          </a:p>
        </p:txBody>
      </p:sp>
      <p:cxnSp>
        <p:nvCxnSpPr>
          <p:cNvPr id="52" name="接點: 弧形 51">
            <a:extLst>
              <a:ext uri="{FF2B5EF4-FFF2-40B4-BE49-F238E27FC236}">
                <a16:creationId xmlns:a16="http://schemas.microsoft.com/office/drawing/2014/main" id="{EEC0D7CC-2B2E-CA1C-F1CF-5882E9D91B4C}"/>
              </a:ext>
            </a:extLst>
          </p:cNvPr>
          <p:cNvCxnSpPr>
            <a:cxnSpLocks/>
            <a:stCxn id="73" idx="2"/>
            <a:endCxn id="129" idx="0"/>
          </p:cNvCxnSpPr>
          <p:nvPr/>
        </p:nvCxnSpPr>
        <p:spPr>
          <a:xfrm rot="5400000">
            <a:off x="5612794" y="1773639"/>
            <a:ext cx="320389" cy="2492119"/>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8" name="箭號: 向下 97">
            <a:extLst>
              <a:ext uri="{FF2B5EF4-FFF2-40B4-BE49-F238E27FC236}">
                <a16:creationId xmlns:a16="http://schemas.microsoft.com/office/drawing/2014/main" id="{CEC2C0EE-4D67-DB0C-9DDE-E3E392DA3F75}"/>
              </a:ext>
            </a:extLst>
          </p:cNvPr>
          <p:cNvSpPr/>
          <p:nvPr/>
        </p:nvSpPr>
        <p:spPr>
          <a:xfrm rot="16200000">
            <a:off x="5151589" y="2176094"/>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8" name="接點: 弧形 27">
            <a:extLst>
              <a:ext uri="{FF2B5EF4-FFF2-40B4-BE49-F238E27FC236}">
                <a16:creationId xmlns:a16="http://schemas.microsoft.com/office/drawing/2014/main" id="{EFBAC067-C48C-5D37-B9E1-B192F77686ED}"/>
              </a:ext>
            </a:extLst>
          </p:cNvPr>
          <p:cNvCxnSpPr>
            <a:cxnSpLocks/>
            <a:stCxn id="85" idx="3"/>
            <a:endCxn id="23" idx="1"/>
          </p:cNvCxnSpPr>
          <p:nvPr/>
        </p:nvCxnSpPr>
        <p:spPr>
          <a:xfrm flipV="1">
            <a:off x="2868843" y="1736297"/>
            <a:ext cx="510357" cy="607920"/>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 name="接點: 弧形 32">
            <a:extLst>
              <a:ext uri="{FF2B5EF4-FFF2-40B4-BE49-F238E27FC236}">
                <a16:creationId xmlns:a16="http://schemas.microsoft.com/office/drawing/2014/main" id="{A21915EA-FFFF-23E3-13B6-4317B0E22E79}"/>
              </a:ext>
            </a:extLst>
          </p:cNvPr>
          <p:cNvCxnSpPr>
            <a:cxnSpLocks/>
            <a:stCxn id="85" idx="3"/>
            <a:endCxn id="29" idx="1"/>
          </p:cNvCxnSpPr>
          <p:nvPr/>
        </p:nvCxnSpPr>
        <p:spPr>
          <a:xfrm flipV="1">
            <a:off x="2868843" y="2266255"/>
            <a:ext cx="510357" cy="77962"/>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4" name="接點: 弧形 33">
            <a:extLst>
              <a:ext uri="{FF2B5EF4-FFF2-40B4-BE49-F238E27FC236}">
                <a16:creationId xmlns:a16="http://schemas.microsoft.com/office/drawing/2014/main" id="{44B569EF-A6E6-DC5E-99FE-5258EBB73229}"/>
              </a:ext>
            </a:extLst>
          </p:cNvPr>
          <p:cNvCxnSpPr>
            <a:cxnSpLocks/>
            <a:stCxn id="85" idx="3"/>
            <a:endCxn id="37" idx="1"/>
          </p:cNvCxnSpPr>
          <p:nvPr/>
        </p:nvCxnSpPr>
        <p:spPr>
          <a:xfrm>
            <a:off x="2868843" y="2344217"/>
            <a:ext cx="510357" cy="451246"/>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文字方塊 86">
            <a:extLst>
              <a:ext uri="{FF2B5EF4-FFF2-40B4-BE49-F238E27FC236}">
                <a16:creationId xmlns:a16="http://schemas.microsoft.com/office/drawing/2014/main" id="{F3962AD9-9B7E-81EB-AA05-54BD5CCBF9F4}"/>
              </a:ext>
            </a:extLst>
          </p:cNvPr>
          <p:cNvSpPr txBox="1"/>
          <p:nvPr/>
        </p:nvSpPr>
        <p:spPr>
          <a:xfrm>
            <a:off x="2333778" y="2502784"/>
            <a:ext cx="365952" cy="235664"/>
          </a:xfrm>
          <a:prstGeom prst="rect">
            <a:avLst/>
          </a:prstGeom>
          <a:solidFill>
            <a:schemeClr val="bg1">
              <a:alpha val="60000"/>
            </a:schemeClr>
          </a:solidFill>
        </p:spPr>
        <p:txBody>
          <a:bodyPr wrap="none" lIns="0" tIns="0" rIns="0" bIns="0" rtlCol="0" anchor="ctr" anchorCtr="1">
            <a:noAutofit/>
          </a:bodyPr>
          <a:lstStyle/>
          <a:p>
            <a:pPr algn="ctr"/>
            <a:r>
              <a:rPr lang="en-US" altLang="zh-TW" sz="1200" dirty="0"/>
              <a:t>RoPE</a:t>
            </a:r>
            <a:endParaRPr lang="zh-TW" altLang="en-US" sz="1200" dirty="0"/>
          </a:p>
        </p:txBody>
      </p:sp>
      <p:sp>
        <p:nvSpPr>
          <p:cNvPr id="12" name="矩形: 圓角 11">
            <a:extLst>
              <a:ext uri="{FF2B5EF4-FFF2-40B4-BE49-F238E27FC236}">
                <a16:creationId xmlns:a16="http://schemas.microsoft.com/office/drawing/2014/main" id="{F4F595E0-E3F4-A76E-1DB3-8C3F6C61D24E}"/>
              </a:ext>
            </a:extLst>
          </p:cNvPr>
          <p:cNvSpPr/>
          <p:nvPr/>
        </p:nvSpPr>
        <p:spPr>
          <a:xfrm>
            <a:off x="1435434" y="5895357"/>
            <a:ext cx="2012477" cy="414317"/>
          </a:xfrm>
          <a:prstGeom prst="roundRect">
            <a:avLst/>
          </a:prstGeom>
          <a:gradFill>
            <a:gsLst>
              <a:gs pos="100000">
                <a:schemeClr val="tx2">
                  <a:lumMod val="20000"/>
                  <a:lumOff val="80000"/>
                  <a:alpha val="90000"/>
                </a:schemeClr>
              </a:gs>
              <a:gs pos="0">
                <a:schemeClr val="accent1">
                  <a:lumMod val="45000"/>
                  <a:lumOff val="55000"/>
                </a:schemeClr>
              </a:gs>
              <a:gs pos="0">
                <a:schemeClr val="bg1"/>
              </a:gs>
              <a:gs pos="0">
                <a:schemeClr val="bg2">
                  <a:lumMod val="90000"/>
                </a:schemeClr>
              </a:gs>
            </a:gsLst>
            <a:lin ang="0" scaled="0"/>
          </a:gra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endParaRPr lang="zh-TW" altLang="en-US" sz="1200" b="1" dirty="0"/>
          </a:p>
        </p:txBody>
      </p:sp>
      <p:sp>
        <p:nvSpPr>
          <p:cNvPr id="13" name="箭號: 向下 12">
            <a:extLst>
              <a:ext uri="{FF2B5EF4-FFF2-40B4-BE49-F238E27FC236}">
                <a16:creationId xmlns:a16="http://schemas.microsoft.com/office/drawing/2014/main" id="{E6CD463A-74C4-E259-20C9-D61A29404AB3}"/>
              </a:ext>
            </a:extLst>
          </p:cNvPr>
          <p:cNvSpPr/>
          <p:nvPr/>
        </p:nvSpPr>
        <p:spPr>
          <a:xfrm rot="5400000">
            <a:off x="2344267" y="6016775"/>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200"/>
          </a:p>
        </p:txBody>
      </p:sp>
      <p:sp>
        <p:nvSpPr>
          <p:cNvPr id="14" name="矩形: 圓角 13">
            <a:extLst>
              <a:ext uri="{FF2B5EF4-FFF2-40B4-BE49-F238E27FC236}">
                <a16:creationId xmlns:a16="http://schemas.microsoft.com/office/drawing/2014/main" id="{9A1110FC-A4F3-2A16-F8EF-3AF34FFC6FF4}"/>
              </a:ext>
            </a:extLst>
          </p:cNvPr>
          <p:cNvSpPr/>
          <p:nvPr/>
        </p:nvSpPr>
        <p:spPr>
          <a:xfrm>
            <a:off x="1544967" y="5979824"/>
            <a:ext cx="700097" cy="267502"/>
          </a:xfrm>
          <a:prstGeom prst="round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Semantic</a:t>
            </a:r>
          </a:p>
          <a:p>
            <a:pPr marL="0" marR="0" lvl="0" indent="0" algn="ctr" defTabSz="914400" rtl="0" eaLnBrk="1" fontAlgn="auto" latinLnBrk="0" hangingPunct="1">
              <a:lnSpc>
                <a:spcPts val="1400"/>
              </a:lnSpc>
              <a:spcBef>
                <a:spcPts val="0"/>
              </a:spcBef>
              <a:spcAft>
                <a:spcPts val="0"/>
              </a:spcAft>
              <a:buClrTx/>
              <a:buSzTx/>
              <a:buFontTx/>
              <a:buNone/>
              <a:tabLst/>
              <a:defRPr/>
            </a:pPr>
            <a:r>
              <a:rPr lang="en-US" altLang="zh-TW" sz="1000" b="1"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space</a:t>
            </a:r>
            <a:endParaRPr lang="zh-TW" altLang="en-US" sz="1000" b="1" dirty="0"/>
          </a:p>
        </p:txBody>
      </p:sp>
      <p:sp>
        <p:nvSpPr>
          <p:cNvPr id="22" name="矩形: 圓角 21">
            <a:extLst>
              <a:ext uri="{FF2B5EF4-FFF2-40B4-BE49-F238E27FC236}">
                <a16:creationId xmlns:a16="http://schemas.microsoft.com/office/drawing/2014/main" id="{D1C99AD3-611E-AD6F-610E-20B54144682C}"/>
              </a:ext>
            </a:extLst>
          </p:cNvPr>
          <p:cNvSpPr/>
          <p:nvPr/>
        </p:nvSpPr>
        <p:spPr>
          <a:xfrm>
            <a:off x="2652743" y="5979823"/>
            <a:ext cx="700097" cy="267502"/>
          </a:xfrm>
          <a:prstGeom prst="round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Context</a:t>
            </a:r>
            <a:endParaRPr lang="zh-TW" altLang="en-US" sz="1000" b="1" dirty="0"/>
          </a:p>
        </p:txBody>
      </p:sp>
      <p:sp>
        <p:nvSpPr>
          <p:cNvPr id="23" name="矩形 22">
            <a:extLst>
              <a:ext uri="{FF2B5EF4-FFF2-40B4-BE49-F238E27FC236}">
                <a16:creationId xmlns:a16="http://schemas.microsoft.com/office/drawing/2014/main" id="{5A226102-EE1F-9C1C-DFDC-58964B364D02}"/>
              </a:ext>
            </a:extLst>
          </p:cNvPr>
          <p:cNvSpPr/>
          <p:nvPr/>
        </p:nvSpPr>
        <p:spPr>
          <a:xfrm>
            <a:off x="3379200" y="1507697"/>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26" name="矩形 25">
            <a:extLst>
              <a:ext uri="{FF2B5EF4-FFF2-40B4-BE49-F238E27FC236}">
                <a16:creationId xmlns:a16="http://schemas.microsoft.com/office/drawing/2014/main" id="{33D268C0-C849-5479-BF72-B6A4194981E3}"/>
              </a:ext>
            </a:extLst>
          </p:cNvPr>
          <p:cNvSpPr/>
          <p:nvPr/>
        </p:nvSpPr>
        <p:spPr>
          <a:xfrm>
            <a:off x="3854107" y="1572463"/>
            <a:ext cx="274320" cy="274320"/>
          </a:xfrm>
          <a:prstGeom prst="rect">
            <a:avLst/>
          </a:prstGeom>
          <a:solidFill>
            <a:schemeClr val="accent1">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q</a:t>
            </a:r>
          </a:p>
        </p:txBody>
      </p:sp>
      <p:sp>
        <p:nvSpPr>
          <p:cNvPr id="29" name="矩形 28">
            <a:extLst>
              <a:ext uri="{FF2B5EF4-FFF2-40B4-BE49-F238E27FC236}">
                <a16:creationId xmlns:a16="http://schemas.microsoft.com/office/drawing/2014/main" id="{4EFAFEF0-F9F8-5AFE-9859-1AA0DA13E9C9}"/>
              </a:ext>
            </a:extLst>
          </p:cNvPr>
          <p:cNvSpPr/>
          <p:nvPr/>
        </p:nvSpPr>
        <p:spPr>
          <a:xfrm>
            <a:off x="3379200" y="2037655"/>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35" name="矩形 34">
            <a:extLst>
              <a:ext uri="{FF2B5EF4-FFF2-40B4-BE49-F238E27FC236}">
                <a16:creationId xmlns:a16="http://schemas.microsoft.com/office/drawing/2014/main" id="{9716FF63-5297-520E-5942-35C1BEE3CA34}"/>
              </a:ext>
            </a:extLst>
          </p:cNvPr>
          <p:cNvSpPr/>
          <p:nvPr/>
        </p:nvSpPr>
        <p:spPr>
          <a:xfrm>
            <a:off x="3854560" y="2134815"/>
            <a:ext cx="274320" cy="274320"/>
          </a:xfrm>
          <a:prstGeom prst="rect">
            <a:avLst/>
          </a:prstGeom>
          <a:solidFill>
            <a:schemeClr val="accent1">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k</a:t>
            </a:r>
          </a:p>
        </p:txBody>
      </p:sp>
      <p:sp>
        <p:nvSpPr>
          <p:cNvPr id="37" name="矩形 36">
            <a:extLst>
              <a:ext uri="{FF2B5EF4-FFF2-40B4-BE49-F238E27FC236}">
                <a16:creationId xmlns:a16="http://schemas.microsoft.com/office/drawing/2014/main" id="{0759800B-8E4B-A401-0312-D3458DE21724}"/>
              </a:ext>
            </a:extLst>
          </p:cNvPr>
          <p:cNvSpPr/>
          <p:nvPr/>
        </p:nvSpPr>
        <p:spPr>
          <a:xfrm>
            <a:off x="3379200" y="2566863"/>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43" name="矩形 42">
            <a:extLst>
              <a:ext uri="{FF2B5EF4-FFF2-40B4-BE49-F238E27FC236}">
                <a16:creationId xmlns:a16="http://schemas.microsoft.com/office/drawing/2014/main" id="{D5D96FC3-7FA5-4284-C8F9-3D32EBE20BC7}"/>
              </a:ext>
            </a:extLst>
          </p:cNvPr>
          <p:cNvSpPr/>
          <p:nvPr/>
        </p:nvSpPr>
        <p:spPr>
          <a:xfrm>
            <a:off x="3846398" y="2652583"/>
            <a:ext cx="274320" cy="274320"/>
          </a:xfrm>
          <a:prstGeom prst="rect">
            <a:avLst/>
          </a:prstGeom>
          <a:solidFill>
            <a:schemeClr val="accent1">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v</a:t>
            </a:r>
          </a:p>
        </p:txBody>
      </p:sp>
      <p:sp>
        <p:nvSpPr>
          <p:cNvPr id="46" name="文字方塊 45">
            <a:extLst>
              <a:ext uri="{FF2B5EF4-FFF2-40B4-BE49-F238E27FC236}">
                <a16:creationId xmlns:a16="http://schemas.microsoft.com/office/drawing/2014/main" id="{072CD2C3-2D27-D727-7261-CEECAFF1ABE8}"/>
              </a:ext>
            </a:extLst>
          </p:cNvPr>
          <p:cNvSpPr txBox="1"/>
          <p:nvPr/>
        </p:nvSpPr>
        <p:spPr>
          <a:xfrm>
            <a:off x="4172643" y="1618183"/>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50" name="文字方塊 49">
            <a:extLst>
              <a:ext uri="{FF2B5EF4-FFF2-40B4-BE49-F238E27FC236}">
                <a16:creationId xmlns:a16="http://schemas.microsoft.com/office/drawing/2014/main" id="{A7566850-F189-1848-0621-1FF351E3898A}"/>
              </a:ext>
            </a:extLst>
          </p:cNvPr>
          <p:cNvSpPr txBox="1"/>
          <p:nvPr/>
        </p:nvSpPr>
        <p:spPr>
          <a:xfrm>
            <a:off x="3666779" y="1618183"/>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56" name="文字方塊 55">
            <a:extLst>
              <a:ext uri="{FF2B5EF4-FFF2-40B4-BE49-F238E27FC236}">
                <a16:creationId xmlns:a16="http://schemas.microsoft.com/office/drawing/2014/main" id="{50E36D0A-9B37-BB40-66FF-D6D428DB15F3}"/>
              </a:ext>
            </a:extLst>
          </p:cNvPr>
          <p:cNvSpPr txBox="1"/>
          <p:nvPr/>
        </p:nvSpPr>
        <p:spPr>
          <a:xfrm>
            <a:off x="3667232" y="2180535"/>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68" name="文字方塊 67">
            <a:extLst>
              <a:ext uri="{FF2B5EF4-FFF2-40B4-BE49-F238E27FC236}">
                <a16:creationId xmlns:a16="http://schemas.microsoft.com/office/drawing/2014/main" id="{CD7F8954-4E3F-6B99-FBB3-F45C60C64A8F}"/>
              </a:ext>
            </a:extLst>
          </p:cNvPr>
          <p:cNvSpPr txBox="1"/>
          <p:nvPr/>
        </p:nvSpPr>
        <p:spPr>
          <a:xfrm>
            <a:off x="3667232" y="2698303"/>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75" name="文字方塊 74">
            <a:extLst>
              <a:ext uri="{FF2B5EF4-FFF2-40B4-BE49-F238E27FC236}">
                <a16:creationId xmlns:a16="http://schemas.microsoft.com/office/drawing/2014/main" id="{04D8B84E-92AF-197C-412D-493826E70428}"/>
              </a:ext>
            </a:extLst>
          </p:cNvPr>
          <p:cNvSpPr txBox="1"/>
          <p:nvPr/>
        </p:nvSpPr>
        <p:spPr>
          <a:xfrm>
            <a:off x="4173096" y="2180535"/>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84" name="文字方塊 83">
            <a:extLst>
              <a:ext uri="{FF2B5EF4-FFF2-40B4-BE49-F238E27FC236}">
                <a16:creationId xmlns:a16="http://schemas.microsoft.com/office/drawing/2014/main" id="{46CE09A6-86D7-3E1F-0DF3-F5BE88C4A8C9}"/>
              </a:ext>
            </a:extLst>
          </p:cNvPr>
          <p:cNvSpPr txBox="1"/>
          <p:nvPr/>
        </p:nvSpPr>
        <p:spPr>
          <a:xfrm>
            <a:off x="4173096" y="2698303"/>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105" name="矩形 104">
            <a:extLst>
              <a:ext uri="{FF2B5EF4-FFF2-40B4-BE49-F238E27FC236}">
                <a16:creationId xmlns:a16="http://schemas.microsoft.com/office/drawing/2014/main" id="{1D3F311E-4E9E-EC4F-0D0D-E0D06449B569}"/>
              </a:ext>
            </a:extLst>
          </p:cNvPr>
          <p:cNvSpPr/>
          <p:nvPr/>
        </p:nvSpPr>
        <p:spPr>
          <a:xfrm>
            <a:off x="4389220" y="1507697"/>
            <a:ext cx="274320" cy="457200"/>
          </a:xfrm>
          <a:prstGeom prst="rect">
            <a:avLst/>
          </a:prstGeom>
          <a:solidFill>
            <a:schemeClr val="accent5">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Q</a:t>
            </a:r>
          </a:p>
        </p:txBody>
      </p:sp>
      <p:sp>
        <p:nvSpPr>
          <p:cNvPr id="107" name="矩形 106">
            <a:extLst>
              <a:ext uri="{FF2B5EF4-FFF2-40B4-BE49-F238E27FC236}">
                <a16:creationId xmlns:a16="http://schemas.microsoft.com/office/drawing/2014/main" id="{519F1973-687F-5B95-7057-D9C8E3F1629B}"/>
              </a:ext>
            </a:extLst>
          </p:cNvPr>
          <p:cNvSpPr/>
          <p:nvPr/>
        </p:nvSpPr>
        <p:spPr>
          <a:xfrm>
            <a:off x="4389220" y="2037655"/>
            <a:ext cx="274320" cy="457200"/>
          </a:xfrm>
          <a:prstGeom prst="rect">
            <a:avLst/>
          </a:prstGeom>
          <a:solidFill>
            <a:schemeClr val="accent5">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K</a:t>
            </a:r>
          </a:p>
        </p:txBody>
      </p:sp>
      <p:sp>
        <p:nvSpPr>
          <p:cNvPr id="114" name="矩形 113">
            <a:extLst>
              <a:ext uri="{FF2B5EF4-FFF2-40B4-BE49-F238E27FC236}">
                <a16:creationId xmlns:a16="http://schemas.microsoft.com/office/drawing/2014/main" id="{702C57CB-B9A0-5B59-8FDA-D4435F2A4386}"/>
              </a:ext>
            </a:extLst>
          </p:cNvPr>
          <p:cNvSpPr/>
          <p:nvPr/>
        </p:nvSpPr>
        <p:spPr>
          <a:xfrm>
            <a:off x="4389220" y="2566863"/>
            <a:ext cx="274320" cy="457200"/>
          </a:xfrm>
          <a:prstGeom prst="rect">
            <a:avLst/>
          </a:prstGeom>
          <a:solidFill>
            <a:schemeClr val="accent5">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V</a:t>
            </a:r>
          </a:p>
        </p:txBody>
      </p:sp>
      <p:sp>
        <p:nvSpPr>
          <p:cNvPr id="122" name="矩形 121">
            <a:extLst>
              <a:ext uri="{FF2B5EF4-FFF2-40B4-BE49-F238E27FC236}">
                <a16:creationId xmlns:a16="http://schemas.microsoft.com/office/drawing/2014/main" id="{917CC541-75EC-98E7-C3F7-00E2E3D8E186}"/>
              </a:ext>
            </a:extLst>
          </p:cNvPr>
          <p:cNvSpPr/>
          <p:nvPr/>
        </p:nvSpPr>
        <p:spPr>
          <a:xfrm>
            <a:off x="3865632" y="3179893"/>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27" name="矩形 126">
            <a:extLst>
              <a:ext uri="{FF2B5EF4-FFF2-40B4-BE49-F238E27FC236}">
                <a16:creationId xmlns:a16="http://schemas.microsoft.com/office/drawing/2014/main" id="{84C8E414-1A24-CE88-86D3-FC28BD98245A}"/>
              </a:ext>
            </a:extLst>
          </p:cNvPr>
          <p:cNvSpPr/>
          <p:nvPr/>
        </p:nvSpPr>
        <p:spPr>
          <a:xfrm>
            <a:off x="3379200" y="3187824"/>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29" name="矩形 128">
            <a:extLst>
              <a:ext uri="{FF2B5EF4-FFF2-40B4-BE49-F238E27FC236}">
                <a16:creationId xmlns:a16="http://schemas.microsoft.com/office/drawing/2014/main" id="{8B1BB408-9A5E-EC3A-E216-C01631FE7511}"/>
              </a:ext>
            </a:extLst>
          </p:cNvPr>
          <p:cNvSpPr/>
          <p:nvPr/>
        </p:nvSpPr>
        <p:spPr>
          <a:xfrm>
            <a:off x="4389768" y="3179893"/>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A</a:t>
            </a:r>
          </a:p>
        </p:txBody>
      </p:sp>
      <p:sp>
        <p:nvSpPr>
          <p:cNvPr id="133" name="矩形 132">
            <a:extLst>
              <a:ext uri="{FF2B5EF4-FFF2-40B4-BE49-F238E27FC236}">
                <a16:creationId xmlns:a16="http://schemas.microsoft.com/office/drawing/2014/main" id="{A9894C23-3E0C-35A5-F89C-09C80E69EC8F}"/>
              </a:ext>
            </a:extLst>
          </p:cNvPr>
          <p:cNvSpPr/>
          <p:nvPr/>
        </p:nvSpPr>
        <p:spPr>
          <a:xfrm>
            <a:off x="4801736" y="3284984"/>
            <a:ext cx="274320" cy="274320"/>
          </a:xfrm>
          <a:prstGeom prst="rect">
            <a:avLst/>
          </a:prstGeom>
          <a:solidFill>
            <a:schemeClr val="accent1">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o</a:t>
            </a:r>
          </a:p>
        </p:txBody>
      </p:sp>
      <p:sp>
        <p:nvSpPr>
          <p:cNvPr id="136" name="矩形 135">
            <a:extLst>
              <a:ext uri="{FF2B5EF4-FFF2-40B4-BE49-F238E27FC236}">
                <a16:creationId xmlns:a16="http://schemas.microsoft.com/office/drawing/2014/main" id="{B29BB397-509A-77A3-AD32-CF865443878E}"/>
              </a:ext>
            </a:extLst>
          </p:cNvPr>
          <p:cNvSpPr/>
          <p:nvPr/>
        </p:nvSpPr>
        <p:spPr>
          <a:xfrm>
            <a:off x="6883863" y="1256183"/>
            <a:ext cx="274320" cy="350747"/>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Tree>
    <p:extLst>
      <p:ext uri="{BB962C8B-B14F-4D97-AF65-F5344CB8AC3E}">
        <p14:creationId xmlns:p14="http://schemas.microsoft.com/office/powerpoint/2010/main" val="104112652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2765FB0B-B169-4129-2ACA-239130B0C4E2}"/>
              </a:ext>
            </a:extLst>
          </p:cNvPr>
          <p:cNvPicPr>
            <a:picLocks noChangeAspect="1"/>
          </p:cNvPicPr>
          <p:nvPr/>
        </p:nvPicPr>
        <p:blipFill>
          <a:blip r:embed="rId2"/>
          <a:stretch>
            <a:fillRect/>
          </a:stretch>
        </p:blipFill>
        <p:spPr>
          <a:xfrm>
            <a:off x="899592" y="116632"/>
            <a:ext cx="6219650" cy="2990022"/>
          </a:xfrm>
          <a:prstGeom prst="rect">
            <a:avLst/>
          </a:prstGeom>
        </p:spPr>
      </p:pic>
    </p:spTree>
    <p:extLst>
      <p:ext uri="{BB962C8B-B14F-4D97-AF65-F5344CB8AC3E}">
        <p14:creationId xmlns:p14="http://schemas.microsoft.com/office/powerpoint/2010/main" val="1828967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E2C96-8CCA-2513-9ED1-26FD67B6EE2D}"/>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AEA97777-5F60-72F7-9D59-5664DF27C842}"/>
              </a:ext>
            </a:extLst>
          </p:cNvPr>
          <p:cNvSpPr/>
          <p:nvPr/>
        </p:nvSpPr>
        <p:spPr>
          <a:xfrm>
            <a:off x="1907704" y="1906113"/>
            <a:ext cx="3828832" cy="1738912"/>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endPar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endParaRPr>
          </a:p>
        </p:txBody>
      </p:sp>
      <p:sp>
        <p:nvSpPr>
          <p:cNvPr id="17" name="左右中括弧 16">
            <a:extLst>
              <a:ext uri="{FF2B5EF4-FFF2-40B4-BE49-F238E27FC236}">
                <a16:creationId xmlns:a16="http://schemas.microsoft.com/office/drawing/2014/main" id="{6A12358E-68A9-8144-3B6E-BD6CE0D422A8}"/>
              </a:ext>
            </a:extLst>
          </p:cNvPr>
          <p:cNvSpPr/>
          <p:nvPr/>
        </p:nvSpPr>
        <p:spPr>
          <a:xfrm>
            <a:off x="2555776" y="2415685"/>
            <a:ext cx="2541274" cy="474585"/>
          </a:xfrm>
          <a:prstGeom prst="bracketPair">
            <a:avLst/>
          </a:prstGeom>
          <a:noFill/>
        </p:spPr>
        <p:style>
          <a:lnRef idx="1">
            <a:schemeClr val="accent1"/>
          </a:lnRef>
          <a:fillRef idx="0">
            <a:schemeClr val="accent1"/>
          </a:fillRef>
          <a:effectRef idx="0">
            <a:schemeClr val="accent1"/>
          </a:effectRef>
          <a:fontRef idx="minor">
            <a:schemeClr val="tx1"/>
          </a:fontRef>
        </p:style>
        <p:txBody>
          <a:bodyPr wrap="none" lIns="0" tIns="0" rIns="0" bIns="0" rtlCol="0" anchor="ctr" anchorCtr="1">
            <a:noAutofit/>
          </a:bodyPr>
          <a:lstStyle/>
          <a:p>
            <a:pPr algn="ctr"/>
            <a:endParaRPr lang="zh-TW" altLang="en-US" sz="1200" b="1" dirty="0"/>
          </a:p>
        </p:txBody>
      </p:sp>
      <p:sp>
        <p:nvSpPr>
          <p:cNvPr id="98" name="矩形 97">
            <a:extLst>
              <a:ext uri="{FF2B5EF4-FFF2-40B4-BE49-F238E27FC236}">
                <a16:creationId xmlns:a16="http://schemas.microsoft.com/office/drawing/2014/main" id="{D4D45948-527A-F778-AA65-12FA07A0CCF0}"/>
              </a:ext>
            </a:extLst>
          </p:cNvPr>
          <p:cNvSpPr/>
          <p:nvPr/>
        </p:nvSpPr>
        <p:spPr>
          <a:xfrm>
            <a:off x="1907704" y="4179018"/>
            <a:ext cx="3828830" cy="1770262"/>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endParaRPr lang="en-US" altLang="zh-TW" sz="1400" b="1" dirty="0">
              <a:solidFill>
                <a:srgbClr val="1F497D"/>
              </a:solidFill>
              <a:latin typeface="Calibri"/>
              <a:ea typeface="微軟正黑體" panose="020B0604030504040204" pitchFamily="34" charset="-120"/>
            </a:endParaRPr>
          </a:p>
        </p:txBody>
      </p:sp>
      <p:sp>
        <p:nvSpPr>
          <p:cNvPr id="122" name="矩形 121">
            <a:extLst>
              <a:ext uri="{FF2B5EF4-FFF2-40B4-BE49-F238E27FC236}">
                <a16:creationId xmlns:a16="http://schemas.microsoft.com/office/drawing/2014/main" id="{D8D9A589-D7BD-E59E-46E1-F9EE87A70466}"/>
              </a:ext>
            </a:extLst>
          </p:cNvPr>
          <p:cNvSpPr/>
          <p:nvPr/>
        </p:nvSpPr>
        <p:spPr>
          <a:xfrm>
            <a:off x="6228184" y="4077072"/>
            <a:ext cx="1119629"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FFN(x)*k1</a:t>
            </a:r>
          </a:p>
        </p:txBody>
      </p:sp>
      <p:sp>
        <p:nvSpPr>
          <p:cNvPr id="123" name="矩形 122">
            <a:extLst>
              <a:ext uri="{FF2B5EF4-FFF2-40B4-BE49-F238E27FC236}">
                <a16:creationId xmlns:a16="http://schemas.microsoft.com/office/drawing/2014/main" id="{9EA4E8C7-AE21-6B7F-9744-DB5030A39301}"/>
              </a:ext>
            </a:extLst>
          </p:cNvPr>
          <p:cNvSpPr/>
          <p:nvPr/>
        </p:nvSpPr>
        <p:spPr>
          <a:xfrm>
            <a:off x="7515677" y="4077072"/>
            <a:ext cx="771031"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FFN(x)*k2</a:t>
            </a:r>
          </a:p>
        </p:txBody>
      </p:sp>
      <p:sp>
        <p:nvSpPr>
          <p:cNvPr id="120" name="矩形 119">
            <a:extLst>
              <a:ext uri="{FF2B5EF4-FFF2-40B4-BE49-F238E27FC236}">
                <a16:creationId xmlns:a16="http://schemas.microsoft.com/office/drawing/2014/main" id="{5BD871C5-7650-32E5-1F21-AEFE9937B6E7}"/>
              </a:ext>
            </a:extLst>
          </p:cNvPr>
          <p:cNvSpPr/>
          <p:nvPr/>
        </p:nvSpPr>
        <p:spPr>
          <a:xfrm>
            <a:off x="6202915" y="2249227"/>
            <a:ext cx="2083794" cy="1396319"/>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MoE Router(X)</a:t>
            </a:r>
          </a:p>
        </p:txBody>
      </p:sp>
      <p:sp>
        <p:nvSpPr>
          <p:cNvPr id="4" name="標題 1">
            <a:extLst>
              <a:ext uri="{FF2B5EF4-FFF2-40B4-BE49-F238E27FC236}">
                <a16:creationId xmlns:a16="http://schemas.microsoft.com/office/drawing/2014/main" id="{D678E424-A792-0ECC-8A4B-F6AE1723D55F}"/>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Feed Forward Network</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Deepening token representations with non-linear mapping after context synthesis.</a:t>
            </a:r>
          </a:p>
        </p:txBody>
      </p:sp>
      <p:sp>
        <p:nvSpPr>
          <p:cNvPr id="3" name="矩形 2">
            <a:extLst>
              <a:ext uri="{FF2B5EF4-FFF2-40B4-BE49-F238E27FC236}">
                <a16:creationId xmlns:a16="http://schemas.microsoft.com/office/drawing/2014/main" id="{9EA9CF9A-00DF-3794-7D5B-29CDFD75AA9B}"/>
              </a:ext>
            </a:extLst>
          </p:cNvPr>
          <p:cNvSpPr/>
          <p:nvPr/>
        </p:nvSpPr>
        <p:spPr>
          <a:xfrm>
            <a:off x="2725207" y="2454042"/>
            <a:ext cx="249785" cy="364220"/>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X</a:t>
            </a:r>
          </a:p>
        </p:txBody>
      </p:sp>
      <p:sp>
        <p:nvSpPr>
          <p:cNvPr id="6" name="矩形 5">
            <a:extLst>
              <a:ext uri="{FF2B5EF4-FFF2-40B4-BE49-F238E27FC236}">
                <a16:creationId xmlns:a16="http://schemas.microsoft.com/office/drawing/2014/main" id="{F2E17025-5008-AC48-ABF1-5D8995C7E706}"/>
              </a:ext>
            </a:extLst>
          </p:cNvPr>
          <p:cNvSpPr/>
          <p:nvPr/>
        </p:nvSpPr>
        <p:spPr>
          <a:xfrm>
            <a:off x="3043180" y="2454043"/>
            <a:ext cx="690139" cy="212220"/>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A</a:t>
            </a:r>
            <a:r>
              <a:rPr lang="en-US" altLang="zh-TW" sz="800" dirty="0">
                <a:solidFill>
                  <a:schemeClr val="tx1"/>
                </a:solidFill>
                <a:latin typeface="微軟正黑體" panose="020B0604030504040204" pitchFamily="34" charset="-120"/>
                <a:ea typeface="微軟正黑體" panose="020B0604030504040204" pitchFamily="34" charset="-120"/>
              </a:rPr>
              <a:t>ctivation</a:t>
            </a:r>
          </a:p>
        </p:txBody>
      </p:sp>
      <p:sp>
        <p:nvSpPr>
          <p:cNvPr id="8" name="矩形 7">
            <a:extLst>
              <a:ext uri="{FF2B5EF4-FFF2-40B4-BE49-F238E27FC236}">
                <a16:creationId xmlns:a16="http://schemas.microsoft.com/office/drawing/2014/main" id="{1AC45CBD-8970-4C34-B74F-AF5645DD3186}"/>
              </a:ext>
            </a:extLst>
          </p:cNvPr>
          <p:cNvSpPr/>
          <p:nvPr/>
        </p:nvSpPr>
        <p:spPr>
          <a:xfrm>
            <a:off x="2716223" y="2447498"/>
            <a:ext cx="1039465" cy="377309"/>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endParaRPr lang="en-US" altLang="zh-TW" sz="800" dirty="0">
              <a:solidFill>
                <a:schemeClr val="tx1"/>
              </a:solidFill>
              <a:latin typeface="微軟正黑體" panose="020B0604030504040204" pitchFamily="34" charset="-120"/>
              <a:ea typeface="微軟正黑體" panose="020B0604030504040204" pitchFamily="34" charset="-120"/>
            </a:endParaRPr>
          </a:p>
        </p:txBody>
      </p:sp>
      <p:sp>
        <p:nvSpPr>
          <p:cNvPr id="9" name="矩形 8">
            <a:extLst>
              <a:ext uri="{FF2B5EF4-FFF2-40B4-BE49-F238E27FC236}">
                <a16:creationId xmlns:a16="http://schemas.microsoft.com/office/drawing/2014/main" id="{4C8DF73F-4F3C-A692-BD96-F71648DBE87A}"/>
              </a:ext>
            </a:extLst>
          </p:cNvPr>
          <p:cNvSpPr/>
          <p:nvPr/>
        </p:nvSpPr>
        <p:spPr>
          <a:xfrm>
            <a:off x="3969590" y="2462980"/>
            <a:ext cx="237183" cy="355282"/>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X</a:t>
            </a:r>
          </a:p>
        </p:txBody>
      </p:sp>
      <p:sp>
        <p:nvSpPr>
          <p:cNvPr id="13" name="矩形 12">
            <a:extLst>
              <a:ext uri="{FF2B5EF4-FFF2-40B4-BE49-F238E27FC236}">
                <a16:creationId xmlns:a16="http://schemas.microsoft.com/office/drawing/2014/main" id="{4C6EAD61-4A7B-16B8-C92D-E26BBC02A444}"/>
              </a:ext>
            </a:extLst>
          </p:cNvPr>
          <p:cNvSpPr/>
          <p:nvPr/>
        </p:nvSpPr>
        <p:spPr>
          <a:xfrm>
            <a:off x="4267316" y="2462981"/>
            <a:ext cx="690139" cy="212220"/>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U</a:t>
            </a:r>
            <a:r>
              <a:rPr lang="en-US" altLang="zh-TW" sz="800" dirty="0">
                <a:solidFill>
                  <a:schemeClr val="tx1"/>
                </a:solidFill>
                <a:latin typeface="微軟正黑體" panose="020B0604030504040204" pitchFamily="34" charset="-120"/>
                <a:ea typeface="微軟正黑體" panose="020B0604030504040204" pitchFamily="34" charset="-120"/>
              </a:rPr>
              <a:t>p</a:t>
            </a:r>
          </a:p>
        </p:txBody>
      </p:sp>
      <p:sp>
        <p:nvSpPr>
          <p:cNvPr id="14" name="矩形 13">
            <a:extLst>
              <a:ext uri="{FF2B5EF4-FFF2-40B4-BE49-F238E27FC236}">
                <a16:creationId xmlns:a16="http://schemas.microsoft.com/office/drawing/2014/main" id="{DAAAB223-9377-63D7-94BA-1B9732312813}"/>
              </a:ext>
            </a:extLst>
          </p:cNvPr>
          <p:cNvSpPr/>
          <p:nvPr/>
        </p:nvSpPr>
        <p:spPr>
          <a:xfrm>
            <a:off x="3953830" y="2453350"/>
            <a:ext cx="1010789" cy="374542"/>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endParaRPr lang="en-US" altLang="zh-TW" sz="800" dirty="0">
              <a:solidFill>
                <a:schemeClr val="tx1"/>
              </a:solidFill>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id="{5F011F37-1818-A942-23E9-2CC99561558F}"/>
              </a:ext>
            </a:extLst>
          </p:cNvPr>
          <p:cNvSpPr txBox="1"/>
          <p:nvPr/>
        </p:nvSpPr>
        <p:spPr>
          <a:xfrm>
            <a:off x="3805327" y="2584805"/>
            <a:ext cx="104240" cy="235664"/>
          </a:xfrm>
          <a:prstGeom prst="rect">
            <a:avLst/>
          </a:prstGeom>
          <a:noFill/>
        </p:spPr>
        <p:txBody>
          <a:bodyPr wrap="none" lIns="0" tIns="0" rIns="0" bIns="0" rtlCol="0" anchor="ctr" anchorCtr="1">
            <a:noAutofit/>
          </a:bodyPr>
          <a:lstStyle/>
          <a:p>
            <a:pPr algn="ctr"/>
            <a:r>
              <a:rPr lang="en-US" altLang="zh-TW" sz="1200" dirty="0"/>
              <a:t>Ꙩ</a:t>
            </a:r>
            <a:endParaRPr lang="zh-TW" altLang="en-US" sz="1200" dirty="0"/>
          </a:p>
        </p:txBody>
      </p:sp>
      <p:sp>
        <p:nvSpPr>
          <p:cNvPr id="20" name="文字方塊 19">
            <a:extLst>
              <a:ext uri="{FF2B5EF4-FFF2-40B4-BE49-F238E27FC236}">
                <a16:creationId xmlns:a16="http://schemas.microsoft.com/office/drawing/2014/main" id="{916A0708-2F84-32BF-2EDA-897BD4737441}"/>
              </a:ext>
            </a:extLst>
          </p:cNvPr>
          <p:cNvSpPr txBox="1"/>
          <p:nvPr/>
        </p:nvSpPr>
        <p:spPr>
          <a:xfrm>
            <a:off x="5101471" y="2512795"/>
            <a:ext cx="137497" cy="235664"/>
          </a:xfrm>
          <a:prstGeom prst="rect">
            <a:avLst/>
          </a:prstGeom>
          <a:noFill/>
        </p:spPr>
        <p:txBody>
          <a:bodyPr wrap="none" lIns="0" tIns="0" rIns="0" bIns="0" rtlCol="0" anchor="ctr" anchorCtr="1">
            <a:noAutofit/>
          </a:bodyPr>
          <a:lstStyle/>
          <a:p>
            <a:pPr algn="ctr"/>
            <a:r>
              <a:rPr lang="en-US" altLang="zh-TW" sz="1200" dirty="0"/>
              <a:t>x</a:t>
            </a:r>
            <a:endParaRPr lang="zh-TW" altLang="en-US" sz="1200" dirty="0"/>
          </a:p>
        </p:txBody>
      </p:sp>
      <p:sp>
        <p:nvSpPr>
          <p:cNvPr id="21" name="矩形 20">
            <a:extLst>
              <a:ext uri="{FF2B5EF4-FFF2-40B4-BE49-F238E27FC236}">
                <a16:creationId xmlns:a16="http://schemas.microsoft.com/office/drawing/2014/main" id="{47ED10C2-9F56-2A97-6D9F-EA161EE290B4}"/>
              </a:ext>
            </a:extLst>
          </p:cNvPr>
          <p:cNvSpPr/>
          <p:nvPr/>
        </p:nvSpPr>
        <p:spPr>
          <a:xfrm>
            <a:off x="2090155" y="2477939"/>
            <a:ext cx="306835" cy="426232"/>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S</a:t>
            </a:r>
          </a:p>
        </p:txBody>
      </p:sp>
      <p:sp>
        <p:nvSpPr>
          <p:cNvPr id="23" name="文字方塊 22">
            <a:extLst>
              <a:ext uri="{FF2B5EF4-FFF2-40B4-BE49-F238E27FC236}">
                <a16:creationId xmlns:a16="http://schemas.microsoft.com/office/drawing/2014/main" id="{B61AEF35-828B-545A-4220-B99579A27D57}"/>
              </a:ext>
            </a:extLst>
          </p:cNvPr>
          <p:cNvSpPr txBox="1"/>
          <p:nvPr/>
        </p:nvSpPr>
        <p:spPr>
          <a:xfrm>
            <a:off x="2483768" y="2596499"/>
            <a:ext cx="104240" cy="235664"/>
          </a:xfrm>
          <a:prstGeom prst="rect">
            <a:avLst/>
          </a:prstGeom>
          <a:noFill/>
        </p:spPr>
        <p:txBody>
          <a:bodyPr wrap="none" lIns="0" tIns="0" rIns="0" bIns="0" rtlCol="0" anchor="ctr" anchorCtr="1">
            <a:noAutofit/>
          </a:bodyPr>
          <a:lstStyle/>
          <a:p>
            <a:pPr algn="ctr"/>
            <a:r>
              <a:rPr lang="en-US" altLang="zh-TW" sz="1200" dirty="0"/>
              <a:t>=</a:t>
            </a:r>
            <a:endParaRPr lang="zh-TW" altLang="en-US" sz="1200" dirty="0"/>
          </a:p>
        </p:txBody>
      </p:sp>
      <p:cxnSp>
        <p:nvCxnSpPr>
          <p:cNvPr id="27" name="接點: 弧形 26">
            <a:extLst>
              <a:ext uri="{FF2B5EF4-FFF2-40B4-BE49-F238E27FC236}">
                <a16:creationId xmlns:a16="http://schemas.microsoft.com/office/drawing/2014/main" id="{3EDC2E05-0E41-6507-D4C1-37310A7BF654}"/>
              </a:ext>
            </a:extLst>
          </p:cNvPr>
          <p:cNvCxnSpPr>
            <a:cxnSpLocks/>
            <a:stCxn id="18" idx="2"/>
            <a:endCxn id="25" idx="0"/>
          </p:cNvCxnSpPr>
          <p:nvPr/>
        </p:nvCxnSpPr>
        <p:spPr>
          <a:xfrm>
            <a:off x="2424468" y="3523032"/>
            <a:ext cx="424576" cy="1332727"/>
          </a:xfrm>
          <a:prstGeom prst="curvedConnector2">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375EFAA5-D959-25A5-4144-958F784FCDCF}"/>
                  </a:ext>
                </a:extLst>
              </p:cNvPr>
              <p:cNvSpPr txBox="1"/>
              <p:nvPr/>
            </p:nvSpPr>
            <p:spPr>
              <a:xfrm>
                <a:off x="4766941" y="5072279"/>
                <a:ext cx="957187" cy="448264"/>
              </a:xfrm>
              <a:prstGeom prst="rect">
                <a:avLst/>
              </a:prstGeom>
              <a:noFill/>
            </p:spPr>
            <p:txBody>
              <a:bodyPr wrap="square" lIns="0" tIns="0" rIns="0" bIns="0" rtlCol="0">
                <a:spAutoFit/>
              </a:bodyPr>
              <a:lstStyle/>
              <a:p>
                <a:pPr/>
                <a14:m>
                  <m:oMathPara xmlns:m="http://schemas.openxmlformats.org/officeDocument/2006/math">
                    <m:oMath>
                      <m:r>
                        <a:rPr lang="en-US" altLang="zh-TW" sz="1200" b="0" i="1" smtClean="0">
                          <a:latin typeface="Cambria Math" panose="02040503050406030204" pitchFamily="18" charset="0"/>
                        </a:rPr>
                        <m:t>𝑃𝑖</m:t>
                      </m:r>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𝑍𝑖</m:t>
                              </m:r>
                            </m:sup>
                          </m:sSup>
                        </m:num>
                        <m:den>
                          <m:nary>
                            <m:naryPr>
                              <m:chr m:val="∑"/>
                              <m:ctrlPr>
                                <a:rPr lang="en-US" altLang="zh-TW" sz="1200" b="0" i="1" smtClean="0">
                                  <a:latin typeface="Cambria Math" panose="02040503050406030204" pitchFamily="18" charset="0"/>
                                </a:rPr>
                              </m:ctrlPr>
                            </m:naryPr>
                            <m:sub>
                              <m:r>
                                <m:rPr>
                                  <m:brk m:alnAt="23"/>
                                </m:rPr>
                                <a:rPr lang="en-US" altLang="zh-TW" sz="1200" b="0" i="1" smtClean="0">
                                  <a:latin typeface="Cambria Math" panose="02040503050406030204" pitchFamily="18" charset="0"/>
                                </a:rPr>
                                <m:t>𝑗</m:t>
                              </m:r>
                            </m:sub>
                            <m:sup>
                              <m:r>
                                <a:rPr lang="en-US" altLang="zh-TW" sz="1200" b="0" i="1" smtClean="0">
                                  <a:latin typeface="Cambria Math" panose="02040503050406030204" pitchFamily="18" charset="0"/>
                                </a:rPr>
                                <m:t>𝑉</m:t>
                              </m:r>
                            </m:sup>
                            <m:e>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𝑍𝑗</m:t>
                                  </m:r>
                                </m:sup>
                              </m:sSup>
                            </m:e>
                          </m:nary>
                        </m:den>
                      </m:f>
                    </m:oMath>
                  </m:oMathPara>
                </a14:m>
                <a:endParaRPr lang="zh-TW" altLang="en-US" sz="1200" dirty="0"/>
              </a:p>
            </p:txBody>
          </p:sp>
        </mc:Choice>
        <mc:Fallback xmlns="">
          <p:sp>
            <p:nvSpPr>
              <p:cNvPr id="34" name="文字方塊 33">
                <a:extLst>
                  <a:ext uri="{FF2B5EF4-FFF2-40B4-BE49-F238E27FC236}">
                    <a16:creationId xmlns:a16="http://schemas.microsoft.com/office/drawing/2014/main" id="{375EFAA5-D959-25A5-4144-958F784FCDCF}"/>
                  </a:ext>
                </a:extLst>
              </p:cNvPr>
              <p:cNvSpPr txBox="1">
                <a:spLocks noRot="1" noChangeAspect="1" noMove="1" noResize="1" noEditPoints="1" noAdjustHandles="1" noChangeArrowheads="1" noChangeShapeType="1" noTextEdit="1"/>
              </p:cNvSpPr>
              <p:nvPr/>
            </p:nvSpPr>
            <p:spPr>
              <a:xfrm>
                <a:off x="4766941" y="5072279"/>
                <a:ext cx="957187" cy="448264"/>
              </a:xfrm>
              <a:prstGeom prst="rect">
                <a:avLst/>
              </a:prstGeom>
              <a:blipFill>
                <a:blip r:embed="rId3"/>
                <a:stretch>
                  <a:fillRect t="-17568" r="-18471" b="-1013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8F02FD58-9203-490D-77BE-B66DD332BA3E}"/>
                  </a:ext>
                </a:extLst>
              </p:cNvPr>
              <p:cNvSpPr txBox="1"/>
              <p:nvPr/>
            </p:nvSpPr>
            <p:spPr>
              <a:xfrm>
                <a:off x="2586969" y="2924944"/>
                <a:ext cx="1547924" cy="322332"/>
              </a:xfrm>
              <a:prstGeom prst="rect">
                <a:avLst/>
              </a:prstGeom>
              <a:noFill/>
            </p:spPr>
            <p:txBody>
              <a:bodyPr wrap="square" lIns="0" tIns="0" rIns="0" bIns="0" rtlCol="0">
                <a:spAutoFit/>
              </a:bodyPr>
              <a:lstStyle/>
              <a:p>
                <a:pPr/>
                <a14:m>
                  <m:oMathPara xmlns:m="http://schemas.openxmlformats.org/officeDocument/2006/math">
                    <m:oMath>
                      <m:r>
                        <a:rPr lang="en-US" altLang="zh-TW" sz="1200" b="0" i="1" smtClean="0">
                          <a:latin typeface="Cambria Math" panose="02040503050406030204" pitchFamily="18" charset="0"/>
                        </a:rPr>
                        <m:t>𝑠𝑤𝑖𝑠ℎ</m:t>
                      </m:r>
                      <m:d>
                        <m:dPr>
                          <m:ctrlPr>
                            <a:rPr lang="el-GR" altLang="zh-TW" sz="1200" b="0" i="1" smtClean="0">
                              <a:latin typeface="Cambria Math" panose="02040503050406030204" pitchFamily="18" charset="0"/>
                            </a:rPr>
                          </m:ctrlPr>
                        </m:dPr>
                        <m:e>
                          <m:r>
                            <m:rPr>
                              <m:sty m:val="p"/>
                            </m:rPr>
                            <a:rPr lang="el-GR" altLang="zh-TW" sz="1200" b="0" i="1" smtClean="0">
                              <a:latin typeface="Cambria Math" panose="02040503050406030204" pitchFamily="18" charset="0"/>
                            </a:rPr>
                            <m:t>β</m:t>
                          </m:r>
                          <m:r>
                            <a:rPr lang="en-US" altLang="zh-TW" sz="1200" i="1">
                              <a:latin typeface="Cambria Math" panose="02040503050406030204" pitchFamily="18" charset="0"/>
                            </a:rPr>
                            <m:t>,</m:t>
                          </m:r>
                          <m:r>
                            <a:rPr lang="en-US" altLang="zh-TW" sz="1200" b="0" i="1" smtClean="0">
                              <a:latin typeface="Cambria Math" panose="02040503050406030204" pitchFamily="18" charset="0"/>
                            </a:rPr>
                            <m:t>𝑧</m:t>
                          </m:r>
                        </m:e>
                      </m:d>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𝑧</m:t>
                          </m:r>
                        </m:num>
                        <m:den>
                          <m:r>
                            <a:rPr lang="en-US" altLang="zh-TW" sz="1200" b="0" i="1" smtClean="0">
                              <a:latin typeface="Cambria Math" panose="02040503050406030204" pitchFamily="18" charset="0"/>
                            </a:rPr>
                            <m:t>1+</m:t>
                          </m:r>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m:t>
                              </m:r>
                              <m:r>
                                <m:rPr>
                                  <m:sty m:val="p"/>
                                </m:rPr>
                                <a:rPr lang="el-GR" altLang="zh-TW" sz="1200" i="1">
                                  <a:latin typeface="Cambria Math" panose="02040503050406030204" pitchFamily="18" charset="0"/>
                                </a:rPr>
                                <m:t>β</m:t>
                              </m:r>
                              <m:r>
                                <a:rPr lang="en-US" altLang="zh-TW" sz="1200" b="0" i="1" smtClean="0">
                                  <a:latin typeface="Cambria Math" panose="02040503050406030204" pitchFamily="18" charset="0"/>
                                </a:rPr>
                                <m:t>𝑧</m:t>
                              </m:r>
                            </m:sup>
                          </m:sSup>
                        </m:den>
                      </m:f>
                    </m:oMath>
                  </m:oMathPara>
                </a14:m>
                <a:endParaRPr lang="zh-TW" altLang="en-US" sz="1200" dirty="0"/>
              </a:p>
            </p:txBody>
          </p:sp>
        </mc:Choice>
        <mc:Fallback xmlns="">
          <p:sp>
            <p:nvSpPr>
              <p:cNvPr id="37" name="文字方塊 36">
                <a:extLst>
                  <a:ext uri="{FF2B5EF4-FFF2-40B4-BE49-F238E27FC236}">
                    <a16:creationId xmlns:a16="http://schemas.microsoft.com/office/drawing/2014/main" id="{8F02FD58-9203-490D-77BE-B66DD332BA3E}"/>
                  </a:ext>
                </a:extLst>
              </p:cNvPr>
              <p:cNvSpPr txBox="1">
                <a:spLocks noRot="1" noChangeAspect="1" noMove="1" noResize="1" noEditPoints="1" noAdjustHandles="1" noChangeArrowheads="1" noChangeShapeType="1" noTextEdit="1"/>
              </p:cNvSpPr>
              <p:nvPr/>
            </p:nvSpPr>
            <p:spPr>
              <a:xfrm>
                <a:off x="2586969" y="2924944"/>
                <a:ext cx="1547924" cy="322332"/>
              </a:xfrm>
              <a:prstGeom prst="rect">
                <a:avLst/>
              </a:prstGeom>
              <a:blipFill>
                <a:blip r:embed="rId4"/>
                <a:stretch>
                  <a:fillRect l="-1969" t="-1887" b="-15094"/>
                </a:stretch>
              </a:blipFill>
            </p:spPr>
            <p:txBody>
              <a:bodyPr/>
              <a:lstStyle/>
              <a:p>
                <a:r>
                  <a:rPr lang="zh-TW" altLang="en-US">
                    <a:noFill/>
                  </a:rPr>
                  <a:t> </a:t>
                </a:r>
              </a:p>
            </p:txBody>
          </p:sp>
        </mc:Fallback>
      </mc:AlternateContent>
      <p:grpSp>
        <p:nvGrpSpPr>
          <p:cNvPr id="108" name="群組 107">
            <a:extLst>
              <a:ext uri="{FF2B5EF4-FFF2-40B4-BE49-F238E27FC236}">
                <a16:creationId xmlns:a16="http://schemas.microsoft.com/office/drawing/2014/main" id="{0463C9CC-0508-4899-1996-502C0450246B}"/>
              </a:ext>
            </a:extLst>
          </p:cNvPr>
          <p:cNvGrpSpPr/>
          <p:nvPr/>
        </p:nvGrpSpPr>
        <p:grpSpPr>
          <a:xfrm>
            <a:off x="597428" y="1745756"/>
            <a:ext cx="806220" cy="2168341"/>
            <a:chOff x="312587" y="2086222"/>
            <a:chExt cx="806220" cy="2168341"/>
          </a:xfrm>
        </p:grpSpPr>
        <p:sp>
          <p:nvSpPr>
            <p:cNvPr id="88" name="矩形 87">
              <a:extLst>
                <a:ext uri="{FF2B5EF4-FFF2-40B4-BE49-F238E27FC236}">
                  <a16:creationId xmlns:a16="http://schemas.microsoft.com/office/drawing/2014/main" id="{6D47A4D7-3AAE-548A-B215-112D8959A04A}"/>
                </a:ext>
              </a:extLst>
            </p:cNvPr>
            <p:cNvSpPr/>
            <p:nvPr/>
          </p:nvSpPr>
          <p:spPr>
            <a:xfrm>
              <a:off x="502782" y="2351441"/>
              <a:ext cx="612469" cy="1405633"/>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p:txBody>
        </p:sp>
        <p:sp>
          <p:nvSpPr>
            <p:cNvPr id="89" name="矩形 88">
              <a:extLst>
                <a:ext uri="{FF2B5EF4-FFF2-40B4-BE49-F238E27FC236}">
                  <a16:creationId xmlns:a16="http://schemas.microsoft.com/office/drawing/2014/main" id="{5A9FE36E-9F3C-D719-A11A-9AF67D240D0A}"/>
                </a:ext>
              </a:extLst>
            </p:cNvPr>
            <p:cNvSpPr/>
            <p:nvPr/>
          </p:nvSpPr>
          <p:spPr>
            <a:xfrm>
              <a:off x="502782" y="2349552"/>
              <a:ext cx="616025" cy="479401"/>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System </a:t>
              </a:r>
            </a:p>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Prompt</a:t>
              </a:r>
            </a:p>
          </p:txBody>
        </p:sp>
        <p:sp>
          <p:nvSpPr>
            <p:cNvPr id="90" name="矩形 89">
              <a:extLst>
                <a:ext uri="{FF2B5EF4-FFF2-40B4-BE49-F238E27FC236}">
                  <a16:creationId xmlns:a16="http://schemas.microsoft.com/office/drawing/2014/main" id="{F9148EBB-AB20-B55F-FFB6-6EC6E59E140D}"/>
                </a:ext>
              </a:extLst>
            </p:cNvPr>
            <p:cNvSpPr/>
            <p:nvPr/>
          </p:nvSpPr>
          <p:spPr>
            <a:xfrm>
              <a:off x="502782" y="2828953"/>
              <a:ext cx="612469" cy="456031"/>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Historical</a:t>
              </a:r>
            </a:p>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Chat</a:t>
              </a:r>
            </a:p>
          </p:txBody>
        </p:sp>
        <p:sp>
          <p:nvSpPr>
            <p:cNvPr id="91" name="矩形 90">
              <a:extLst>
                <a:ext uri="{FF2B5EF4-FFF2-40B4-BE49-F238E27FC236}">
                  <a16:creationId xmlns:a16="http://schemas.microsoft.com/office/drawing/2014/main" id="{4D8F02BE-DCD2-0446-3A26-48B3DB41C014}"/>
                </a:ext>
              </a:extLst>
            </p:cNvPr>
            <p:cNvSpPr/>
            <p:nvPr/>
          </p:nvSpPr>
          <p:spPr>
            <a:xfrm>
              <a:off x="505171" y="3283727"/>
              <a:ext cx="612546" cy="441395"/>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Input</a:t>
              </a:r>
            </a:p>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Data</a:t>
              </a:r>
            </a:p>
          </p:txBody>
        </p:sp>
        <p:sp>
          <p:nvSpPr>
            <p:cNvPr id="92" name="矩形 91">
              <a:extLst>
                <a:ext uri="{FF2B5EF4-FFF2-40B4-BE49-F238E27FC236}">
                  <a16:creationId xmlns:a16="http://schemas.microsoft.com/office/drawing/2014/main" id="{08D00F58-3A7D-2E42-D9FA-7926C5EDC7C7}"/>
                </a:ext>
              </a:extLst>
            </p:cNvPr>
            <p:cNvSpPr/>
            <p:nvPr/>
          </p:nvSpPr>
          <p:spPr>
            <a:xfrm>
              <a:off x="489476" y="3861048"/>
              <a:ext cx="612801" cy="393515"/>
            </a:xfrm>
            <a:prstGeom prst="rect">
              <a:avLst/>
            </a:prstGeom>
            <a:no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ea typeface="微軟正黑體" panose="020B0604030504040204" pitchFamily="34" charset="-120"/>
                </a:rPr>
                <a:t>Predicted</a:t>
              </a:r>
            </a:p>
            <a:p>
              <a:pPr algn="ctr">
                <a:lnSpc>
                  <a:spcPts val="1600"/>
                </a:lnSpc>
              </a:pPr>
              <a:r>
                <a:rPr lang="en-US" altLang="zh-TW" sz="1200" b="1" dirty="0">
                  <a:solidFill>
                    <a:schemeClr val="accent2"/>
                  </a:solidFill>
                  <a:ea typeface="微軟正黑體" panose="020B0604030504040204" pitchFamily="34" charset="-120"/>
                </a:rPr>
                <a:t>Token</a:t>
              </a:r>
            </a:p>
          </p:txBody>
        </p:sp>
        <p:sp>
          <p:nvSpPr>
            <p:cNvPr id="93" name="右中括弧 92">
              <a:extLst>
                <a:ext uri="{FF2B5EF4-FFF2-40B4-BE49-F238E27FC236}">
                  <a16:creationId xmlns:a16="http://schemas.microsoft.com/office/drawing/2014/main" id="{726D4F6F-AD22-CDAC-8E4E-73A042283B0F}"/>
                </a:ext>
              </a:extLst>
            </p:cNvPr>
            <p:cNvSpPr/>
            <p:nvPr/>
          </p:nvSpPr>
          <p:spPr>
            <a:xfrm flipH="1">
              <a:off x="363663" y="2351187"/>
              <a:ext cx="103881" cy="1360663"/>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4" name="文字方塊 93">
              <a:extLst>
                <a:ext uri="{FF2B5EF4-FFF2-40B4-BE49-F238E27FC236}">
                  <a16:creationId xmlns:a16="http://schemas.microsoft.com/office/drawing/2014/main" id="{32886A3A-07CE-363A-C75B-60B16833F7C6}"/>
                </a:ext>
              </a:extLst>
            </p:cNvPr>
            <p:cNvSpPr txBox="1"/>
            <p:nvPr/>
          </p:nvSpPr>
          <p:spPr>
            <a:xfrm>
              <a:off x="312587" y="2815143"/>
              <a:ext cx="123067" cy="339726"/>
            </a:xfrm>
            <a:prstGeom prst="rect">
              <a:avLst/>
            </a:prstGeom>
            <a:noFill/>
          </p:spPr>
          <p:txBody>
            <a:bodyPr wrap="none" lIns="0" tIns="0" rIns="0" bIns="0" rtlCol="0" anchor="ctr" anchorCtr="1">
              <a:noAutofit/>
            </a:bodyPr>
            <a:lstStyle/>
            <a:p>
              <a:pPr algn="ctr"/>
              <a:r>
                <a:rPr lang="en-US" altLang="zh-TW" sz="1400" dirty="0"/>
                <a:t>N</a:t>
              </a:r>
              <a:endParaRPr lang="zh-TW" altLang="en-US" sz="1400" dirty="0"/>
            </a:p>
          </p:txBody>
        </p:sp>
        <p:sp>
          <p:nvSpPr>
            <p:cNvPr id="95" name="矩形 94">
              <a:extLst>
                <a:ext uri="{FF2B5EF4-FFF2-40B4-BE49-F238E27FC236}">
                  <a16:creationId xmlns:a16="http://schemas.microsoft.com/office/drawing/2014/main" id="{99A03B84-596F-F60C-204F-5B4D1275788B}"/>
                </a:ext>
              </a:extLst>
            </p:cNvPr>
            <p:cNvSpPr/>
            <p:nvPr/>
          </p:nvSpPr>
          <p:spPr>
            <a:xfrm>
              <a:off x="729330" y="2086222"/>
              <a:ext cx="161836" cy="26333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d</a:t>
              </a:r>
            </a:p>
          </p:txBody>
        </p:sp>
        <p:sp>
          <p:nvSpPr>
            <p:cNvPr id="96" name="右中括弧 95">
              <a:extLst>
                <a:ext uri="{FF2B5EF4-FFF2-40B4-BE49-F238E27FC236}">
                  <a16:creationId xmlns:a16="http://schemas.microsoft.com/office/drawing/2014/main" id="{ACD60F43-426B-744C-94D7-9C69E9678CB5}"/>
                </a:ext>
              </a:extLst>
            </p:cNvPr>
            <p:cNvSpPr/>
            <p:nvPr/>
          </p:nvSpPr>
          <p:spPr>
            <a:xfrm rot="16200000">
              <a:off x="758570" y="1962860"/>
              <a:ext cx="99521" cy="604222"/>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sp>
        <p:nvSpPr>
          <p:cNvPr id="110" name="矩形 109">
            <a:extLst>
              <a:ext uri="{FF2B5EF4-FFF2-40B4-BE49-F238E27FC236}">
                <a16:creationId xmlns:a16="http://schemas.microsoft.com/office/drawing/2014/main" id="{2A5B34E1-0657-B7B9-69A2-3D23E49C0407}"/>
              </a:ext>
            </a:extLst>
          </p:cNvPr>
          <p:cNvSpPr/>
          <p:nvPr/>
        </p:nvSpPr>
        <p:spPr>
          <a:xfrm>
            <a:off x="2103853" y="3119673"/>
            <a:ext cx="303429" cy="482344"/>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X+S</a:t>
            </a:r>
          </a:p>
        </p:txBody>
      </p:sp>
      <p:sp>
        <p:nvSpPr>
          <p:cNvPr id="56" name="文字方塊 55">
            <a:extLst>
              <a:ext uri="{FF2B5EF4-FFF2-40B4-BE49-F238E27FC236}">
                <a16:creationId xmlns:a16="http://schemas.microsoft.com/office/drawing/2014/main" id="{C8FE1119-F9FF-D03A-C39E-26169689D227}"/>
              </a:ext>
            </a:extLst>
          </p:cNvPr>
          <p:cNvSpPr txBox="1"/>
          <p:nvPr/>
        </p:nvSpPr>
        <p:spPr>
          <a:xfrm>
            <a:off x="6575885" y="2903675"/>
            <a:ext cx="123404" cy="289683"/>
          </a:xfrm>
          <a:prstGeom prst="rect">
            <a:avLst/>
          </a:prstGeom>
          <a:noFill/>
        </p:spPr>
        <p:txBody>
          <a:bodyPr wrap="none" lIns="0" tIns="0" rIns="0" bIns="0" rtlCol="0" anchor="ctr" anchorCtr="1">
            <a:noAutofit/>
          </a:bodyPr>
          <a:lstStyle/>
          <a:p>
            <a:pPr algn="ctr"/>
            <a:r>
              <a:rPr lang="en-US" altLang="zh-TW" sz="1200" dirty="0">
                <a:latin typeface="Noto Sans HK" panose="020B0200000000000000" pitchFamily="34" charset="-120"/>
                <a:ea typeface="Noto Sans HK" panose="020B0200000000000000" pitchFamily="34" charset="-120"/>
              </a:rPr>
              <a:t>*</a:t>
            </a:r>
            <a:endParaRPr lang="zh-TW" altLang="en-US" sz="1200" dirty="0">
              <a:latin typeface="Noto Sans HK" panose="020B0200000000000000" pitchFamily="34" charset="-120"/>
              <a:ea typeface="Noto Sans HK" panose="020B0200000000000000" pitchFamily="34" charset="-120"/>
            </a:endParaRPr>
          </a:p>
        </p:txBody>
      </p:sp>
      <p:sp>
        <p:nvSpPr>
          <p:cNvPr id="62" name="矩形 61">
            <a:extLst>
              <a:ext uri="{FF2B5EF4-FFF2-40B4-BE49-F238E27FC236}">
                <a16:creationId xmlns:a16="http://schemas.microsoft.com/office/drawing/2014/main" id="{9580A3F7-0ABE-23F3-CAEE-86771B6B7544}"/>
              </a:ext>
            </a:extLst>
          </p:cNvPr>
          <p:cNvSpPr/>
          <p:nvPr/>
        </p:nvSpPr>
        <p:spPr>
          <a:xfrm>
            <a:off x="7308304" y="2708920"/>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S</a:t>
            </a:r>
            <a:endParaRPr lang="en-US" altLang="zh-TW" sz="1200" b="1" baseline="-25000" dirty="0">
              <a:solidFill>
                <a:schemeClr val="tx1"/>
              </a:solidFill>
              <a:ea typeface="微軟正黑體" panose="020B0604030504040204" pitchFamily="34" charset="-120"/>
            </a:endParaRPr>
          </a:p>
        </p:txBody>
      </p:sp>
      <p:sp>
        <p:nvSpPr>
          <p:cNvPr id="65" name="文字方塊 64">
            <a:extLst>
              <a:ext uri="{FF2B5EF4-FFF2-40B4-BE49-F238E27FC236}">
                <a16:creationId xmlns:a16="http://schemas.microsoft.com/office/drawing/2014/main" id="{41E5E743-24FA-D667-C359-D4D00392854D}"/>
              </a:ext>
            </a:extLst>
          </p:cNvPr>
          <p:cNvSpPr txBox="1"/>
          <p:nvPr/>
        </p:nvSpPr>
        <p:spPr>
          <a:xfrm>
            <a:off x="6202915" y="1235383"/>
            <a:ext cx="307455" cy="300850"/>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P</a:t>
            </a:r>
            <a:r>
              <a:rPr kumimoji="0" lang="en-US" altLang="zh-TW" sz="1400" b="1" u="none" strike="noStrike" kern="1200" cap="none" spc="0" normalizeH="0" baseline="-25000" noProof="0" dirty="0">
                <a:ln>
                  <a:noFill/>
                </a:ln>
                <a:solidFill>
                  <a:prstClr val="black"/>
                </a:solidFill>
                <a:effectLst/>
                <a:uLnTx/>
                <a:uFillTx/>
                <a:ea typeface="Cambria Math" panose="02040503050406030204" pitchFamily="18" charset="0"/>
                <a:cs typeface="+mn-cs"/>
              </a:rPr>
              <a:t>2</a:t>
            </a:r>
            <a:r>
              <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rPr>
              <a:t> =</a:t>
            </a:r>
          </a:p>
        </p:txBody>
      </p:sp>
      <p:sp>
        <p:nvSpPr>
          <p:cNvPr id="54" name="矩形 53">
            <a:extLst>
              <a:ext uri="{FF2B5EF4-FFF2-40B4-BE49-F238E27FC236}">
                <a16:creationId xmlns:a16="http://schemas.microsoft.com/office/drawing/2014/main" id="{2A5B317B-E1E4-CFB6-3F15-1C4EBAA0C373}"/>
              </a:ext>
            </a:extLst>
          </p:cNvPr>
          <p:cNvSpPr/>
          <p:nvPr/>
        </p:nvSpPr>
        <p:spPr>
          <a:xfrm>
            <a:off x="6291580" y="2708920"/>
            <a:ext cx="254168"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X</a:t>
            </a:r>
          </a:p>
        </p:txBody>
      </p:sp>
      <p:sp>
        <p:nvSpPr>
          <p:cNvPr id="79" name="文字方塊 78">
            <a:extLst>
              <a:ext uri="{FF2B5EF4-FFF2-40B4-BE49-F238E27FC236}">
                <a16:creationId xmlns:a16="http://schemas.microsoft.com/office/drawing/2014/main" id="{96FDD76F-0283-791D-8F62-ECACD405233A}"/>
              </a:ext>
            </a:extLst>
          </p:cNvPr>
          <p:cNvSpPr txBox="1"/>
          <p:nvPr/>
        </p:nvSpPr>
        <p:spPr>
          <a:xfrm>
            <a:off x="7236296"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84" name="矩形 83">
            <a:extLst>
              <a:ext uri="{FF2B5EF4-FFF2-40B4-BE49-F238E27FC236}">
                <a16:creationId xmlns:a16="http://schemas.microsoft.com/office/drawing/2014/main" id="{FA79592B-F846-5072-23CD-098E7D52A09D}"/>
              </a:ext>
            </a:extLst>
          </p:cNvPr>
          <p:cNvSpPr/>
          <p:nvPr/>
        </p:nvSpPr>
        <p:spPr>
          <a:xfrm>
            <a:off x="8031178" y="2708920"/>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2</a:t>
            </a:r>
          </a:p>
        </p:txBody>
      </p:sp>
      <p:sp>
        <p:nvSpPr>
          <p:cNvPr id="86" name="文字方塊 85">
            <a:extLst>
              <a:ext uri="{FF2B5EF4-FFF2-40B4-BE49-F238E27FC236}">
                <a16:creationId xmlns:a16="http://schemas.microsoft.com/office/drawing/2014/main" id="{F88E85A2-D086-ADD5-7534-4B363BB6A964}"/>
              </a:ext>
            </a:extLst>
          </p:cNvPr>
          <p:cNvSpPr txBox="1"/>
          <p:nvPr/>
        </p:nvSpPr>
        <p:spPr>
          <a:xfrm>
            <a:off x="7481853" y="2804457"/>
            <a:ext cx="502689"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SoftMax</a:t>
            </a:r>
            <a:endParaRPr lang="zh-TW" altLang="en-US" sz="1000" dirty="0"/>
          </a:p>
        </p:txBody>
      </p:sp>
      <p:sp>
        <p:nvSpPr>
          <p:cNvPr id="18" name="矩形 17">
            <a:extLst>
              <a:ext uri="{FF2B5EF4-FFF2-40B4-BE49-F238E27FC236}">
                <a16:creationId xmlns:a16="http://schemas.microsoft.com/office/drawing/2014/main" id="{4FBC2DEF-1F94-22F9-5C1B-819E669197B3}"/>
              </a:ext>
            </a:extLst>
          </p:cNvPr>
          <p:cNvSpPr/>
          <p:nvPr/>
        </p:nvSpPr>
        <p:spPr>
          <a:xfrm rot="16200000">
            <a:off x="2192696" y="3355876"/>
            <a:ext cx="129232" cy="334311"/>
          </a:xfrm>
          <a:prstGeom prst="rect">
            <a:avLst/>
          </a:prstGeom>
          <a:solidFill>
            <a:schemeClr val="accent2">
              <a:lumMod val="20000"/>
              <a:lumOff val="80000"/>
              <a:alpha val="8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rgbClr val="C00000"/>
                </a:solidFill>
                <a:latin typeface="微軟正黑體" panose="020B0604030504040204" pitchFamily="34" charset="-120"/>
                <a:ea typeface="微軟正黑體" panose="020B0604030504040204" pitchFamily="34" charset="-120"/>
              </a:rPr>
              <a:t>W</a:t>
            </a:r>
          </a:p>
        </p:txBody>
      </p:sp>
      <p:sp>
        <p:nvSpPr>
          <p:cNvPr id="24" name="矩形 23">
            <a:extLst>
              <a:ext uri="{FF2B5EF4-FFF2-40B4-BE49-F238E27FC236}">
                <a16:creationId xmlns:a16="http://schemas.microsoft.com/office/drawing/2014/main" id="{A7397AC1-0701-51AC-DD03-D56D5FA42671}"/>
              </a:ext>
            </a:extLst>
          </p:cNvPr>
          <p:cNvSpPr/>
          <p:nvPr/>
        </p:nvSpPr>
        <p:spPr>
          <a:xfrm>
            <a:off x="2268502" y="4601980"/>
            <a:ext cx="346902" cy="882327"/>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6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ADLaM Display" panose="02010000000000000000" pitchFamily="2" charset="0"/>
                <a:ea typeface="ADLaM Display" panose="02010000000000000000" pitchFamily="2" charset="0"/>
                <a:cs typeface="ADLaM Display" panose="02010000000000000000" pitchFamily="2" charset="0"/>
              </a:rPr>
              <a:t>VC</a:t>
            </a:r>
          </a:p>
          <a:p>
            <a:pPr marL="0" marR="0" lvl="0" indent="0" algn="ctr" defTabSz="914400" rtl="0" eaLnBrk="1" fontAlgn="auto" latinLnBrk="0" hangingPunct="1">
              <a:lnSpc>
                <a:spcPts val="1600"/>
              </a:lnSpc>
              <a:spcBef>
                <a:spcPts val="0"/>
              </a:spcBef>
              <a:spcAft>
                <a:spcPts val="0"/>
              </a:spcAft>
              <a:buClrTx/>
              <a:buSzTx/>
              <a:buFontTx/>
              <a:buNone/>
              <a:tabLst/>
              <a:defRPr/>
            </a:pPr>
            <a:endParaRPr kumimoji="0" lang="en-US" altLang="zh-TW" sz="1600" b="0" i="0" u="none" strike="noStrike" kern="1200" cap="none" spc="0" normalizeH="0" baseline="0" noProof="0" dirty="0">
              <a:ln>
                <a:noFill/>
              </a:ln>
              <a:solidFill>
                <a:prstClr val="black"/>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p:txBody>
      </p:sp>
      <p:sp>
        <p:nvSpPr>
          <p:cNvPr id="25" name="矩形 24">
            <a:extLst>
              <a:ext uri="{FF2B5EF4-FFF2-40B4-BE49-F238E27FC236}">
                <a16:creationId xmlns:a16="http://schemas.microsoft.com/office/drawing/2014/main" id="{99E69F22-9523-53FD-5F4C-0D14B118F6E8}"/>
              </a:ext>
            </a:extLst>
          </p:cNvPr>
          <p:cNvSpPr/>
          <p:nvPr/>
        </p:nvSpPr>
        <p:spPr>
          <a:xfrm>
            <a:off x="2792433" y="4855759"/>
            <a:ext cx="113222" cy="374768"/>
          </a:xfrm>
          <a:prstGeom prst="rect">
            <a:avLst/>
          </a:prstGeom>
          <a:solidFill>
            <a:schemeClr val="accent2">
              <a:lumMod val="20000"/>
              <a:lumOff val="8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rgbClr val="C00000"/>
                </a:solidFill>
                <a:latin typeface="微軟正黑體" panose="020B0604030504040204" pitchFamily="34" charset="-120"/>
                <a:ea typeface="微軟正黑體" panose="020B0604030504040204" pitchFamily="34" charset="-120"/>
              </a:rPr>
              <a:t>W</a:t>
            </a:r>
          </a:p>
        </p:txBody>
      </p:sp>
      <p:sp>
        <p:nvSpPr>
          <p:cNvPr id="26" name="文字方塊 25">
            <a:extLst>
              <a:ext uri="{FF2B5EF4-FFF2-40B4-BE49-F238E27FC236}">
                <a16:creationId xmlns:a16="http://schemas.microsoft.com/office/drawing/2014/main" id="{E6AE0F62-C614-4559-BE28-38AB4D405DC9}"/>
              </a:ext>
            </a:extLst>
          </p:cNvPr>
          <p:cNvSpPr txBox="1"/>
          <p:nvPr/>
        </p:nvSpPr>
        <p:spPr>
          <a:xfrm>
            <a:off x="2642240" y="4899761"/>
            <a:ext cx="150357" cy="278693"/>
          </a:xfrm>
          <a:prstGeom prst="rect">
            <a:avLst/>
          </a:prstGeom>
          <a:noFill/>
        </p:spPr>
        <p:txBody>
          <a:bodyPr wrap="none" lIns="0" tIns="0" rIns="0" bIns="0" rtlCol="0" anchor="ctr" anchorCtr="1">
            <a:noAutofit/>
          </a:bodyPr>
          <a:lstStyle/>
          <a:p>
            <a:pPr algn="ctr"/>
            <a:r>
              <a:rPr lang="en-US" altLang="zh-TW" sz="1000" dirty="0"/>
              <a:t>x</a:t>
            </a:r>
            <a:endParaRPr lang="zh-TW" altLang="en-US" sz="1000" dirty="0"/>
          </a:p>
        </p:txBody>
      </p:sp>
      <p:sp>
        <p:nvSpPr>
          <p:cNvPr id="28" name="矩形 27">
            <a:extLst>
              <a:ext uri="{FF2B5EF4-FFF2-40B4-BE49-F238E27FC236}">
                <a16:creationId xmlns:a16="http://schemas.microsoft.com/office/drawing/2014/main" id="{DD572D28-E21B-EC18-BCC4-32209AD2D5A2}"/>
              </a:ext>
            </a:extLst>
          </p:cNvPr>
          <p:cNvSpPr/>
          <p:nvPr/>
        </p:nvSpPr>
        <p:spPr>
          <a:xfrm>
            <a:off x="3325791" y="4512649"/>
            <a:ext cx="194655" cy="1041916"/>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Z</a:t>
            </a:r>
            <a:r>
              <a:rPr lang="en-US" altLang="zh-TW" sz="1200" baseline="-25000" dirty="0">
                <a:solidFill>
                  <a:schemeClr val="tx1"/>
                </a:solidFill>
                <a:latin typeface="微軟正黑體" panose="020B0604030504040204" pitchFamily="34" charset="-120"/>
                <a:ea typeface="微軟正黑體" panose="020B0604030504040204" pitchFamily="34" charset="-120"/>
              </a:rPr>
              <a:t>1</a:t>
            </a:r>
          </a:p>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Z</a:t>
            </a:r>
            <a:r>
              <a:rPr lang="en-US" altLang="zh-TW" sz="1200" baseline="-25000" dirty="0">
                <a:solidFill>
                  <a:schemeClr val="tx1"/>
                </a:solidFill>
                <a:latin typeface="微軟正黑體" panose="020B0604030504040204" pitchFamily="34" charset="-120"/>
                <a:ea typeface="微軟正黑體" panose="020B0604030504040204" pitchFamily="34" charset="-120"/>
              </a:rPr>
              <a:t>2</a:t>
            </a:r>
          </a:p>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a:t>
            </a:r>
          </a:p>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Z</a:t>
            </a:r>
            <a:r>
              <a:rPr lang="en-US" altLang="zh-TW" sz="1200" baseline="-25000" dirty="0">
                <a:solidFill>
                  <a:schemeClr val="tx1"/>
                </a:solidFill>
                <a:latin typeface="微軟正黑體" panose="020B0604030504040204" pitchFamily="34" charset="-120"/>
                <a:ea typeface="微軟正黑體" panose="020B0604030504040204" pitchFamily="34" charset="-120"/>
              </a:rPr>
              <a:t>v</a:t>
            </a:r>
          </a:p>
        </p:txBody>
      </p:sp>
      <p:sp>
        <p:nvSpPr>
          <p:cNvPr id="30" name="矩形 29">
            <a:extLst>
              <a:ext uri="{FF2B5EF4-FFF2-40B4-BE49-F238E27FC236}">
                <a16:creationId xmlns:a16="http://schemas.microsoft.com/office/drawing/2014/main" id="{3A5C3284-5E4A-6C2B-0B16-3A6B39441A74}"/>
              </a:ext>
            </a:extLst>
          </p:cNvPr>
          <p:cNvSpPr/>
          <p:nvPr/>
        </p:nvSpPr>
        <p:spPr>
          <a:xfrm>
            <a:off x="4507327" y="4517689"/>
            <a:ext cx="187440" cy="1041916"/>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P</a:t>
            </a:r>
            <a:r>
              <a:rPr lang="en-US" altLang="zh-TW" sz="1200" baseline="-25000" dirty="0">
                <a:solidFill>
                  <a:schemeClr val="tx1"/>
                </a:solidFill>
                <a:latin typeface="微軟正黑體" panose="020B0604030504040204" pitchFamily="34" charset="-120"/>
                <a:ea typeface="微軟正黑體" panose="020B0604030504040204" pitchFamily="34" charset="-120"/>
              </a:rPr>
              <a:t>1</a:t>
            </a:r>
          </a:p>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P</a:t>
            </a:r>
            <a:r>
              <a:rPr lang="en-US" altLang="zh-TW" sz="1200" baseline="-25000" dirty="0">
                <a:solidFill>
                  <a:schemeClr val="tx1"/>
                </a:solidFill>
                <a:latin typeface="微軟正黑體" panose="020B0604030504040204" pitchFamily="34" charset="-120"/>
                <a:ea typeface="微軟正黑體" panose="020B0604030504040204" pitchFamily="34" charset="-120"/>
              </a:rPr>
              <a:t>2</a:t>
            </a:r>
          </a:p>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a:t>
            </a:r>
          </a:p>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P</a:t>
            </a:r>
            <a:r>
              <a:rPr lang="en-US" altLang="zh-TW" sz="1200" baseline="-25000" dirty="0">
                <a:solidFill>
                  <a:schemeClr val="tx1"/>
                </a:solidFill>
                <a:latin typeface="微軟正黑體" panose="020B0604030504040204" pitchFamily="34" charset="-120"/>
                <a:ea typeface="微軟正黑體" panose="020B0604030504040204" pitchFamily="34" charset="-120"/>
              </a:rPr>
              <a:t>v</a:t>
            </a:r>
          </a:p>
        </p:txBody>
      </p:sp>
      <p:sp>
        <p:nvSpPr>
          <p:cNvPr id="33" name="左右中括弧 32">
            <a:extLst>
              <a:ext uri="{FF2B5EF4-FFF2-40B4-BE49-F238E27FC236}">
                <a16:creationId xmlns:a16="http://schemas.microsoft.com/office/drawing/2014/main" id="{FD6EB530-7992-AFF7-31AB-DEB32DCBB475}"/>
              </a:ext>
            </a:extLst>
          </p:cNvPr>
          <p:cNvSpPr/>
          <p:nvPr/>
        </p:nvSpPr>
        <p:spPr>
          <a:xfrm>
            <a:off x="3224655" y="4601981"/>
            <a:ext cx="411241" cy="882327"/>
          </a:xfrm>
          <a:prstGeom prst="bracketPair">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5" name="左右中括弧 34">
            <a:extLst>
              <a:ext uri="{FF2B5EF4-FFF2-40B4-BE49-F238E27FC236}">
                <a16:creationId xmlns:a16="http://schemas.microsoft.com/office/drawing/2014/main" id="{C21B6252-6BFC-711D-27FF-00C512752E88}"/>
              </a:ext>
            </a:extLst>
          </p:cNvPr>
          <p:cNvSpPr/>
          <p:nvPr/>
        </p:nvSpPr>
        <p:spPr>
          <a:xfrm>
            <a:off x="4394169" y="4607261"/>
            <a:ext cx="411241" cy="882327"/>
          </a:xfrm>
          <a:prstGeom prst="bracketPair">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6" name="矩形 35">
            <a:extLst>
              <a:ext uri="{FF2B5EF4-FFF2-40B4-BE49-F238E27FC236}">
                <a16:creationId xmlns:a16="http://schemas.microsoft.com/office/drawing/2014/main" id="{FD40B967-E71A-372B-6291-20CBEAA6F0D4}"/>
              </a:ext>
            </a:extLst>
          </p:cNvPr>
          <p:cNvSpPr/>
          <p:nvPr/>
        </p:nvSpPr>
        <p:spPr>
          <a:xfrm>
            <a:off x="2254804" y="5201634"/>
            <a:ext cx="373738" cy="189555"/>
          </a:xfrm>
          <a:prstGeom prst="rect">
            <a:avLst/>
          </a:prstGeom>
          <a:solidFill>
            <a:schemeClr val="bg1">
              <a:alpha val="6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000" dirty="0">
                <a:solidFill>
                  <a:srgbClr val="FF0000"/>
                </a:solidFill>
                <a:latin typeface="微軟正黑體" panose="020B0604030504040204" pitchFamily="34" charset="-120"/>
                <a:ea typeface="微軟正黑體" panose="020B0604030504040204" pitchFamily="34" charset="-120"/>
              </a:rPr>
              <a:t>max</a:t>
            </a:r>
          </a:p>
        </p:txBody>
      </p:sp>
      <p:cxnSp>
        <p:nvCxnSpPr>
          <p:cNvPr id="144" name="直線單箭頭接點 143">
            <a:extLst>
              <a:ext uri="{FF2B5EF4-FFF2-40B4-BE49-F238E27FC236}">
                <a16:creationId xmlns:a16="http://schemas.microsoft.com/office/drawing/2014/main" id="{6B2C4577-B92C-F325-0B6D-5C71D775FEF2}"/>
              </a:ext>
            </a:extLst>
          </p:cNvPr>
          <p:cNvCxnSpPr>
            <a:cxnSpLocks/>
            <a:stCxn id="34" idx="1"/>
            <a:endCxn id="36" idx="3"/>
          </p:cNvCxnSpPr>
          <p:nvPr/>
        </p:nvCxnSpPr>
        <p:spPr>
          <a:xfrm flipH="1">
            <a:off x="2628542" y="5296411"/>
            <a:ext cx="2138399" cy="1"/>
          </a:xfrm>
          <a:prstGeom prst="straightConnector1">
            <a:avLst/>
          </a:prstGeom>
          <a:ln w="9525">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文字方塊 37">
            <a:extLst>
              <a:ext uri="{FF2B5EF4-FFF2-40B4-BE49-F238E27FC236}">
                <a16:creationId xmlns:a16="http://schemas.microsoft.com/office/drawing/2014/main" id="{B31B93FF-E34A-6029-C1FD-88A4C54C0C65}"/>
              </a:ext>
            </a:extLst>
          </p:cNvPr>
          <p:cNvSpPr txBox="1"/>
          <p:nvPr/>
        </p:nvSpPr>
        <p:spPr>
          <a:xfrm>
            <a:off x="2119558" y="4899760"/>
            <a:ext cx="148186" cy="278693"/>
          </a:xfrm>
          <a:prstGeom prst="rect">
            <a:avLst/>
          </a:prstGeom>
          <a:noFill/>
        </p:spPr>
        <p:txBody>
          <a:bodyPr wrap="none" lIns="0" tIns="0" rIns="0" bIns="0" rtlCol="0" anchor="ctr" anchorCtr="1">
            <a:noAutofit/>
          </a:bodyPr>
          <a:lstStyle/>
          <a:p>
            <a:pPr algn="ctr"/>
            <a:r>
              <a:rPr lang="en-US" altLang="zh-TW" sz="1200" dirty="0"/>
              <a:t>m</a:t>
            </a:r>
            <a:endParaRPr lang="zh-TW" altLang="en-US" sz="1200" dirty="0"/>
          </a:p>
        </p:txBody>
      </p:sp>
      <p:graphicFrame>
        <p:nvGraphicFramePr>
          <p:cNvPr id="5" name="表格 4">
            <a:extLst>
              <a:ext uri="{FF2B5EF4-FFF2-40B4-BE49-F238E27FC236}">
                <a16:creationId xmlns:a16="http://schemas.microsoft.com/office/drawing/2014/main" id="{28561163-0ACA-46A1-9AC6-83C1A7E32612}"/>
              </a:ext>
            </a:extLst>
          </p:cNvPr>
          <p:cNvGraphicFramePr>
            <a:graphicFrameLocks noGrp="1"/>
          </p:cNvGraphicFramePr>
          <p:nvPr>
            <p:extLst>
              <p:ext uri="{D42A27DB-BD31-4B8C-83A1-F6EECF244321}">
                <p14:modId xmlns:p14="http://schemas.microsoft.com/office/powerpoint/2010/main" val="3609546406"/>
              </p:ext>
            </p:extLst>
          </p:nvPr>
        </p:nvGraphicFramePr>
        <p:xfrm>
          <a:off x="6575885" y="1227404"/>
          <a:ext cx="2437328" cy="914400"/>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4015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39663110"/>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5127993"/>
                  </a:ext>
                </a:extLst>
              </a:tr>
              <a:tr h="14015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2413032"/>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0.08</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0.92</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59252951"/>
                  </a:ext>
                </a:extLst>
              </a:tr>
            </a:tbl>
          </a:graphicData>
        </a:graphic>
      </p:graphicFrame>
      <p:cxnSp>
        <p:nvCxnSpPr>
          <p:cNvPr id="11" name="接點: 肘形 10">
            <a:extLst>
              <a:ext uri="{FF2B5EF4-FFF2-40B4-BE49-F238E27FC236}">
                <a16:creationId xmlns:a16="http://schemas.microsoft.com/office/drawing/2014/main" id="{424B8408-23AF-F8AE-EEE2-6AEBE83A6D8D}"/>
              </a:ext>
            </a:extLst>
          </p:cNvPr>
          <p:cNvCxnSpPr>
            <a:cxnSpLocks/>
            <a:stCxn id="10" idx="3"/>
            <a:endCxn id="122" idx="1"/>
          </p:cNvCxnSpPr>
          <p:nvPr/>
        </p:nvCxnSpPr>
        <p:spPr>
          <a:xfrm>
            <a:off x="5736536" y="2775569"/>
            <a:ext cx="491648" cy="1412155"/>
          </a:xfrm>
          <a:prstGeom prst="bentConnector3">
            <a:avLst/>
          </a:prstGeom>
          <a:ln w="25400">
            <a:solidFill>
              <a:schemeClr val="accent1"/>
            </a:solidFill>
            <a:tailEnd type="triangle" w="med" len="med"/>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649532DE-4C89-CD6F-8D46-2F39420749E7}"/>
              </a:ext>
            </a:extLst>
          </p:cNvPr>
          <p:cNvSpPr/>
          <p:nvPr/>
        </p:nvSpPr>
        <p:spPr>
          <a:xfrm>
            <a:off x="2148578" y="5505155"/>
            <a:ext cx="664503" cy="379919"/>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nSpc>
                <a:spcPts val="1200"/>
              </a:lnSpc>
            </a:pPr>
            <a:r>
              <a:rPr lang="en-US" altLang="zh-TW" sz="1000" dirty="0">
                <a:solidFill>
                  <a:schemeClr val="tx1"/>
                </a:solidFill>
                <a:ea typeface="微軟正黑體" panose="020B0604030504040204" pitchFamily="34" charset="-120"/>
              </a:rPr>
              <a:t>Vocabulary</a:t>
            </a:r>
          </a:p>
          <a:p>
            <a:pPr>
              <a:lnSpc>
                <a:spcPts val="1200"/>
              </a:lnSpc>
            </a:pPr>
            <a:r>
              <a:rPr lang="en-US" altLang="zh-TW" sz="1000" dirty="0">
                <a:solidFill>
                  <a:schemeClr val="tx1"/>
                </a:solidFill>
                <a:ea typeface="微軟正黑體" panose="020B0604030504040204" pitchFamily="34" charset="-120"/>
              </a:rPr>
              <a:t>Table</a:t>
            </a:r>
          </a:p>
        </p:txBody>
      </p:sp>
      <p:cxnSp>
        <p:nvCxnSpPr>
          <p:cNvPr id="99" name="接點: 弧形 98">
            <a:extLst>
              <a:ext uri="{FF2B5EF4-FFF2-40B4-BE49-F238E27FC236}">
                <a16:creationId xmlns:a16="http://schemas.microsoft.com/office/drawing/2014/main" id="{4FB58B4A-82CC-3807-3CCB-D5389E7A868C}"/>
              </a:ext>
            </a:extLst>
          </p:cNvPr>
          <p:cNvCxnSpPr>
            <a:cxnSpLocks/>
            <a:stCxn id="148" idx="2"/>
            <a:endCxn id="123" idx="0"/>
          </p:cNvCxnSpPr>
          <p:nvPr/>
        </p:nvCxnSpPr>
        <p:spPr>
          <a:xfrm rot="5400000">
            <a:off x="7694893" y="3664717"/>
            <a:ext cx="618656" cy="206055"/>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5" name="接點: 弧形 104">
            <a:extLst>
              <a:ext uri="{FF2B5EF4-FFF2-40B4-BE49-F238E27FC236}">
                <a16:creationId xmlns:a16="http://schemas.microsoft.com/office/drawing/2014/main" id="{808A248C-384B-E7F6-871A-E7AF5D6CF8E4}"/>
              </a:ext>
            </a:extLst>
          </p:cNvPr>
          <p:cNvCxnSpPr>
            <a:cxnSpLocks/>
            <a:stCxn id="148" idx="2"/>
            <a:endCxn id="122" idx="0"/>
          </p:cNvCxnSpPr>
          <p:nvPr/>
        </p:nvCxnSpPr>
        <p:spPr>
          <a:xfrm rot="5400000">
            <a:off x="7138296" y="3108120"/>
            <a:ext cx="618656" cy="1319249"/>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2" name="標題 1">
            <a:extLst>
              <a:ext uri="{FF2B5EF4-FFF2-40B4-BE49-F238E27FC236}">
                <a16:creationId xmlns:a16="http://schemas.microsoft.com/office/drawing/2014/main" id="{F972B407-5A3A-F9A9-FC90-06CE6ACA9280}"/>
              </a:ext>
            </a:extLst>
          </p:cNvPr>
          <p:cNvSpPr txBox="1">
            <a:spLocks/>
          </p:cNvSpPr>
          <p:nvPr/>
        </p:nvSpPr>
        <p:spPr>
          <a:xfrm>
            <a:off x="7059781" y="3861048"/>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0.08</a:t>
            </a:r>
          </a:p>
        </p:txBody>
      </p:sp>
      <p:sp>
        <p:nvSpPr>
          <p:cNvPr id="114" name="標題 1">
            <a:extLst>
              <a:ext uri="{FF2B5EF4-FFF2-40B4-BE49-F238E27FC236}">
                <a16:creationId xmlns:a16="http://schemas.microsoft.com/office/drawing/2014/main" id="{46E91F13-EE9F-C456-440D-4E8AA9E6506B}"/>
              </a:ext>
            </a:extLst>
          </p:cNvPr>
          <p:cNvSpPr txBox="1">
            <a:spLocks/>
          </p:cNvSpPr>
          <p:nvPr/>
        </p:nvSpPr>
        <p:spPr>
          <a:xfrm>
            <a:off x="7947725" y="3861048"/>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0.92</a:t>
            </a:r>
          </a:p>
        </p:txBody>
      </p:sp>
      <p:sp>
        <p:nvSpPr>
          <p:cNvPr id="125" name="矩形 124">
            <a:extLst>
              <a:ext uri="{FF2B5EF4-FFF2-40B4-BE49-F238E27FC236}">
                <a16:creationId xmlns:a16="http://schemas.microsoft.com/office/drawing/2014/main" id="{AB9751A5-9C0F-EF9D-A4B9-460279598FBA}"/>
              </a:ext>
            </a:extLst>
          </p:cNvPr>
          <p:cNvSpPr/>
          <p:nvPr/>
        </p:nvSpPr>
        <p:spPr>
          <a:xfrm>
            <a:off x="1907704" y="4221088"/>
            <a:ext cx="1394953" cy="183880"/>
          </a:xfrm>
          <a:prstGeom prst="rect">
            <a:avLst/>
          </a:prstGeom>
          <a:noFill/>
          <a:ln w="317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lang="en-US" altLang="zh-TW" sz="1400" b="1" dirty="0">
                <a:solidFill>
                  <a:srgbClr val="1F497D"/>
                </a:solidFill>
                <a:latin typeface="Calibri"/>
                <a:ea typeface="微軟正黑體" panose="020B0604030504040204" pitchFamily="34" charset="-120"/>
              </a:rPr>
              <a:t>Linear Projection</a:t>
            </a:r>
          </a:p>
        </p:txBody>
      </p:sp>
      <p:sp>
        <p:nvSpPr>
          <p:cNvPr id="132" name="文字方塊 131">
            <a:extLst>
              <a:ext uri="{FF2B5EF4-FFF2-40B4-BE49-F238E27FC236}">
                <a16:creationId xmlns:a16="http://schemas.microsoft.com/office/drawing/2014/main" id="{BFBF2B27-00DC-09B2-E7DB-C92D38C8C330}"/>
              </a:ext>
            </a:extLst>
          </p:cNvPr>
          <p:cNvSpPr txBox="1"/>
          <p:nvPr/>
        </p:nvSpPr>
        <p:spPr>
          <a:xfrm>
            <a:off x="2843808" y="4897436"/>
            <a:ext cx="364202" cy="307777"/>
          </a:xfrm>
          <a:prstGeom prst="rect">
            <a:avLst/>
          </a:prstGeom>
          <a:noFill/>
        </p:spPr>
        <p:txBody>
          <a:bodyPr wrap="none" lIns="0" tIns="0" rIns="0" bIns="0" anchor="ctr" anchorCtr="1">
            <a:noAutofit/>
          </a:bodyPr>
          <a:lstStyle/>
          <a:p>
            <a:pPr algn="ct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200" dirty="0"/>
          </a:p>
        </p:txBody>
      </p:sp>
      <p:sp>
        <p:nvSpPr>
          <p:cNvPr id="134" name="文字方塊 133">
            <a:extLst>
              <a:ext uri="{FF2B5EF4-FFF2-40B4-BE49-F238E27FC236}">
                <a16:creationId xmlns:a16="http://schemas.microsoft.com/office/drawing/2014/main" id="{D5A9FA31-AF2D-A3C1-4502-DA7420EDD815}"/>
              </a:ext>
            </a:extLst>
          </p:cNvPr>
          <p:cNvSpPr txBox="1"/>
          <p:nvPr/>
        </p:nvSpPr>
        <p:spPr>
          <a:xfrm>
            <a:off x="3847758" y="4945361"/>
            <a:ext cx="364202" cy="211926"/>
          </a:xfrm>
          <a:prstGeom prst="rect">
            <a:avLst/>
          </a:prstGeom>
          <a:noFill/>
        </p:spPr>
        <p:txBody>
          <a:bodyPr wrap="none" lIns="0" tIns="0" rIns="0" bIns="0" anchor="ctr" anchorCtr="1">
            <a:noAutofit/>
          </a:bodyPr>
          <a:lstStyle/>
          <a:p>
            <a:pPr algn="ctr"/>
            <a:r>
              <a:rPr lang="en-US" altLang="zh-TW" sz="1200" dirty="0">
                <a:ln w="0"/>
                <a:solidFill>
                  <a:prstClr val="black"/>
                </a:solidFill>
              </a:rPr>
              <a:t> </a:t>
            </a:r>
            <a:r>
              <a:rPr lang="en-US" altLang="zh-TW" sz="12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200" dirty="0"/>
          </a:p>
        </p:txBody>
      </p:sp>
      <p:sp>
        <p:nvSpPr>
          <p:cNvPr id="136" name="文字方塊 135">
            <a:extLst>
              <a:ext uri="{FF2B5EF4-FFF2-40B4-BE49-F238E27FC236}">
                <a16:creationId xmlns:a16="http://schemas.microsoft.com/office/drawing/2014/main" id="{82705194-EA5F-B11E-D56B-3A52483B13DD}"/>
              </a:ext>
            </a:extLst>
          </p:cNvPr>
          <p:cNvSpPr txBox="1"/>
          <p:nvPr/>
        </p:nvSpPr>
        <p:spPr>
          <a:xfrm>
            <a:off x="6911151" y="2852936"/>
            <a:ext cx="364202" cy="307777"/>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38" name="文字方塊 137">
            <a:extLst>
              <a:ext uri="{FF2B5EF4-FFF2-40B4-BE49-F238E27FC236}">
                <a16:creationId xmlns:a16="http://schemas.microsoft.com/office/drawing/2014/main" id="{37C7ECCF-081A-5988-A53F-444E74B3E905}"/>
              </a:ext>
            </a:extLst>
          </p:cNvPr>
          <p:cNvSpPr txBox="1"/>
          <p:nvPr/>
        </p:nvSpPr>
        <p:spPr>
          <a:xfrm>
            <a:off x="7559223" y="2910218"/>
            <a:ext cx="364202" cy="230750"/>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2" name="矩形 11">
            <a:extLst>
              <a:ext uri="{FF2B5EF4-FFF2-40B4-BE49-F238E27FC236}">
                <a16:creationId xmlns:a16="http://schemas.microsoft.com/office/drawing/2014/main" id="{92C9729D-EF27-9154-E34C-DDD0F0A719C2}"/>
              </a:ext>
            </a:extLst>
          </p:cNvPr>
          <p:cNvSpPr/>
          <p:nvPr/>
        </p:nvSpPr>
        <p:spPr>
          <a:xfrm>
            <a:off x="2941232" y="1309251"/>
            <a:ext cx="1173924" cy="463565"/>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lang="en-US" altLang="zh-TW" sz="1400" b="1" dirty="0">
                <a:solidFill>
                  <a:srgbClr val="1F497D"/>
                </a:solidFill>
                <a:latin typeface="Calibri"/>
                <a:ea typeface="微軟正黑體" panose="020B0604030504040204" pitchFamily="34" charset="-120"/>
              </a:rPr>
              <a:t>X</a:t>
            </a: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 = </a:t>
            </a:r>
            <a:r>
              <a:rPr kumimoji="0" lang="en-US" altLang="zh-TW" sz="120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Attention(X)</a:t>
            </a:r>
          </a:p>
        </p:txBody>
      </p:sp>
      <p:cxnSp>
        <p:nvCxnSpPr>
          <p:cNvPr id="45" name="接點: 弧形 44">
            <a:extLst>
              <a:ext uri="{FF2B5EF4-FFF2-40B4-BE49-F238E27FC236}">
                <a16:creationId xmlns:a16="http://schemas.microsoft.com/office/drawing/2014/main" id="{E1C27ED4-A08C-7AA7-9D24-27EE7CE258F9}"/>
              </a:ext>
            </a:extLst>
          </p:cNvPr>
          <p:cNvCxnSpPr>
            <a:cxnSpLocks/>
            <a:stCxn id="36" idx="1"/>
            <a:endCxn id="111" idx="2"/>
          </p:cNvCxnSpPr>
          <p:nvPr/>
        </p:nvCxnSpPr>
        <p:spPr>
          <a:xfrm rot="10800000">
            <a:off x="1080718" y="4655712"/>
            <a:ext cx="1174086" cy="640701"/>
          </a:xfrm>
          <a:prstGeom prst="curvedConnector2">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接點: 弧形 47">
            <a:extLst>
              <a:ext uri="{FF2B5EF4-FFF2-40B4-BE49-F238E27FC236}">
                <a16:creationId xmlns:a16="http://schemas.microsoft.com/office/drawing/2014/main" id="{D6EC0052-F7B4-8510-FA68-7F641FAE5FC5}"/>
              </a:ext>
            </a:extLst>
          </p:cNvPr>
          <p:cNvCxnSpPr>
            <a:cxnSpLocks/>
            <a:stCxn id="12" idx="2"/>
            <a:endCxn id="9" idx="0"/>
          </p:cNvCxnSpPr>
          <p:nvPr/>
        </p:nvCxnSpPr>
        <p:spPr>
          <a:xfrm rot="16200000" flipH="1">
            <a:off x="3463106" y="1837904"/>
            <a:ext cx="690164" cy="559988"/>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9" name="接點: 弧形 58">
            <a:extLst>
              <a:ext uri="{FF2B5EF4-FFF2-40B4-BE49-F238E27FC236}">
                <a16:creationId xmlns:a16="http://schemas.microsoft.com/office/drawing/2014/main" id="{04753FBF-1829-9BD3-0818-201069FBB9AF}"/>
              </a:ext>
            </a:extLst>
          </p:cNvPr>
          <p:cNvCxnSpPr>
            <a:cxnSpLocks/>
            <a:stCxn id="12" idx="2"/>
            <a:endCxn id="3" idx="0"/>
          </p:cNvCxnSpPr>
          <p:nvPr/>
        </p:nvCxnSpPr>
        <p:spPr>
          <a:xfrm rot="5400000">
            <a:off x="2848534" y="1774382"/>
            <a:ext cx="681226" cy="678094"/>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1" name="菱形 110">
            <a:extLst>
              <a:ext uri="{FF2B5EF4-FFF2-40B4-BE49-F238E27FC236}">
                <a16:creationId xmlns:a16="http://schemas.microsoft.com/office/drawing/2014/main" id="{492BBA05-D0DF-824A-D505-9BAD3BF5FEC1}"/>
              </a:ext>
            </a:extLst>
          </p:cNvPr>
          <p:cNvSpPr/>
          <p:nvPr/>
        </p:nvSpPr>
        <p:spPr>
          <a:xfrm>
            <a:off x="875193" y="4241394"/>
            <a:ext cx="411049" cy="414317"/>
          </a:xfrm>
          <a:prstGeom prst="diamond">
            <a:avLst/>
          </a:prstGeom>
          <a:solidFill>
            <a:schemeClr val="accent1">
              <a:lumMod val="20000"/>
              <a:lumOff val="80000"/>
              <a:alpha val="9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b="1" dirty="0">
                <a:solidFill>
                  <a:schemeClr val="tx1"/>
                </a:solidFill>
              </a:rPr>
              <a:t>Ending</a:t>
            </a:r>
          </a:p>
          <a:p>
            <a:pPr algn="ctr"/>
            <a:r>
              <a:rPr lang="en-US" altLang="zh-TW" sz="1200" b="1" dirty="0">
                <a:solidFill>
                  <a:schemeClr val="tx1"/>
                </a:solidFill>
              </a:rPr>
              <a:t>Token</a:t>
            </a:r>
            <a:endParaRPr lang="zh-TW" altLang="en-US" sz="1200" b="1" dirty="0">
              <a:solidFill>
                <a:schemeClr val="tx1"/>
              </a:solidFill>
            </a:endParaRPr>
          </a:p>
        </p:txBody>
      </p:sp>
      <p:cxnSp>
        <p:nvCxnSpPr>
          <p:cNvPr id="124" name="直線單箭頭接點 123">
            <a:extLst>
              <a:ext uri="{FF2B5EF4-FFF2-40B4-BE49-F238E27FC236}">
                <a16:creationId xmlns:a16="http://schemas.microsoft.com/office/drawing/2014/main" id="{9D245E25-BAF5-34E7-D543-F091E3A751AE}"/>
              </a:ext>
            </a:extLst>
          </p:cNvPr>
          <p:cNvCxnSpPr>
            <a:cxnSpLocks/>
            <a:stCxn id="111" idx="0"/>
            <a:endCxn id="92" idx="2"/>
          </p:cNvCxnSpPr>
          <p:nvPr/>
        </p:nvCxnSpPr>
        <p:spPr>
          <a:xfrm flipV="1">
            <a:off x="1080718" y="3914097"/>
            <a:ext cx="0" cy="327297"/>
          </a:xfrm>
          <a:prstGeom prst="straightConnector1">
            <a:avLst/>
          </a:prstGeom>
          <a:ln w="9525">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0" name="文字方塊 139">
            <a:extLst>
              <a:ext uri="{FF2B5EF4-FFF2-40B4-BE49-F238E27FC236}">
                <a16:creationId xmlns:a16="http://schemas.microsoft.com/office/drawing/2014/main" id="{210CF3B3-F18F-29E1-B7EC-DF4942A14C84}"/>
              </a:ext>
            </a:extLst>
          </p:cNvPr>
          <p:cNvSpPr txBox="1"/>
          <p:nvPr/>
        </p:nvSpPr>
        <p:spPr>
          <a:xfrm>
            <a:off x="3781279" y="4845317"/>
            <a:ext cx="502689" cy="167859"/>
          </a:xfrm>
          <a:prstGeom prst="rect">
            <a:avLst/>
          </a:prstGeom>
          <a:noFill/>
        </p:spPr>
        <p:txBody>
          <a:bodyPr wrap="none" lIns="0" tIns="0" rIns="0" bIns="0" rtlCol="0" anchor="ctr" anchorCtr="1">
            <a:noAutofit/>
          </a:bodyPr>
          <a:lstStyle/>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sym typeface="Wingdings" panose="05000000000000000000" pitchFamily="2" charset="2"/>
              </a:rPr>
              <a:t>SoftMax</a:t>
            </a:r>
            <a:endParaRPr lang="zh-TW" altLang="en-US" sz="1000" dirty="0">
              <a:latin typeface="ADLaM Display" panose="02010000000000000000" pitchFamily="2" charset="0"/>
              <a:cs typeface="ADLaM Display" panose="02010000000000000000" pitchFamily="2" charset="0"/>
            </a:endParaRPr>
          </a:p>
        </p:txBody>
      </p:sp>
      <p:sp>
        <p:nvSpPr>
          <p:cNvPr id="148" name="文字方塊 147">
            <a:extLst>
              <a:ext uri="{FF2B5EF4-FFF2-40B4-BE49-F238E27FC236}">
                <a16:creationId xmlns:a16="http://schemas.microsoft.com/office/drawing/2014/main" id="{05FB8DF6-D9BB-F343-C83A-015290617C6B}"/>
              </a:ext>
            </a:extLst>
          </p:cNvPr>
          <p:cNvSpPr txBox="1"/>
          <p:nvPr/>
        </p:nvSpPr>
        <p:spPr>
          <a:xfrm>
            <a:off x="7970088"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152" name="文字方塊 151">
            <a:extLst>
              <a:ext uri="{FF2B5EF4-FFF2-40B4-BE49-F238E27FC236}">
                <a16:creationId xmlns:a16="http://schemas.microsoft.com/office/drawing/2014/main" id="{D5EAEF59-D438-F208-817F-864A84291EF0}"/>
              </a:ext>
            </a:extLst>
          </p:cNvPr>
          <p:cNvSpPr txBox="1"/>
          <p:nvPr/>
        </p:nvSpPr>
        <p:spPr>
          <a:xfrm>
            <a:off x="6713001"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dx16</a:t>
            </a:r>
          </a:p>
        </p:txBody>
      </p:sp>
      <p:sp>
        <p:nvSpPr>
          <p:cNvPr id="154" name="文字方塊 153">
            <a:extLst>
              <a:ext uri="{FF2B5EF4-FFF2-40B4-BE49-F238E27FC236}">
                <a16:creationId xmlns:a16="http://schemas.microsoft.com/office/drawing/2014/main" id="{DAD72A53-A9CA-CEB7-E525-805F6C85E1C1}"/>
              </a:ext>
            </a:extLst>
          </p:cNvPr>
          <p:cNvSpPr txBox="1"/>
          <p:nvPr/>
        </p:nvSpPr>
        <p:spPr>
          <a:xfrm>
            <a:off x="6280769"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Nxd</a:t>
            </a:r>
          </a:p>
        </p:txBody>
      </p:sp>
      <p:sp>
        <p:nvSpPr>
          <p:cNvPr id="156" name="文字方塊 155">
            <a:extLst>
              <a:ext uri="{FF2B5EF4-FFF2-40B4-BE49-F238E27FC236}">
                <a16:creationId xmlns:a16="http://schemas.microsoft.com/office/drawing/2014/main" id="{B9E70890-EF97-1130-83F4-F00A242018F6}"/>
              </a:ext>
            </a:extLst>
          </p:cNvPr>
          <p:cNvSpPr txBox="1"/>
          <p:nvPr/>
        </p:nvSpPr>
        <p:spPr>
          <a:xfrm>
            <a:off x="6906364" y="2804457"/>
            <a:ext cx="382683"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Top 2</a:t>
            </a:r>
            <a:endParaRPr lang="zh-TW" altLang="en-US" sz="1000" dirty="0"/>
          </a:p>
        </p:txBody>
      </p:sp>
      <p:sp>
        <p:nvSpPr>
          <p:cNvPr id="158" name="矩形 157">
            <a:extLst>
              <a:ext uri="{FF2B5EF4-FFF2-40B4-BE49-F238E27FC236}">
                <a16:creationId xmlns:a16="http://schemas.microsoft.com/office/drawing/2014/main" id="{6C61F458-87D0-A3BA-3A42-DF0B644252EC}"/>
              </a:ext>
            </a:extLst>
          </p:cNvPr>
          <p:cNvSpPr/>
          <p:nvPr/>
        </p:nvSpPr>
        <p:spPr>
          <a:xfrm>
            <a:off x="6732240" y="2822999"/>
            <a:ext cx="135693" cy="317969"/>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G</a:t>
            </a:r>
            <a:endParaRPr lang="en-US" altLang="zh-TW" sz="1200" b="1" baseline="-25000" dirty="0">
              <a:solidFill>
                <a:schemeClr val="tx1"/>
              </a:solidFill>
              <a:ea typeface="微軟正黑體" panose="020B0604030504040204" pitchFamily="34" charset="-120"/>
            </a:endParaRPr>
          </a:p>
        </p:txBody>
      </p:sp>
      <p:sp>
        <p:nvSpPr>
          <p:cNvPr id="160" name="矩形 159">
            <a:extLst>
              <a:ext uri="{FF2B5EF4-FFF2-40B4-BE49-F238E27FC236}">
                <a16:creationId xmlns:a16="http://schemas.microsoft.com/office/drawing/2014/main" id="{7672C011-FEE0-2530-8AE5-1BA5B4132ECB}"/>
              </a:ext>
            </a:extLst>
          </p:cNvPr>
          <p:cNvSpPr/>
          <p:nvPr/>
        </p:nvSpPr>
        <p:spPr>
          <a:xfrm>
            <a:off x="5245487" y="2242198"/>
            <a:ext cx="353037" cy="842748"/>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0" indent="0" algn="ctr" defTabSz="914400"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D</a:t>
            </a:r>
            <a:r>
              <a:rPr kumimoji="0" lang="en-US" altLang="zh-TW" sz="8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own</a:t>
            </a:r>
          </a:p>
        </p:txBody>
      </p:sp>
      <p:sp>
        <p:nvSpPr>
          <p:cNvPr id="166" name="矩形 165">
            <a:extLst>
              <a:ext uri="{FF2B5EF4-FFF2-40B4-BE49-F238E27FC236}">
                <a16:creationId xmlns:a16="http://schemas.microsoft.com/office/drawing/2014/main" id="{D9160E48-0688-B880-5E39-6F051979BF57}"/>
              </a:ext>
            </a:extLst>
          </p:cNvPr>
          <p:cNvSpPr/>
          <p:nvPr/>
        </p:nvSpPr>
        <p:spPr>
          <a:xfrm>
            <a:off x="6525756" y="1975850"/>
            <a:ext cx="2529877" cy="176939"/>
          </a:xfrm>
          <a:prstGeom prst="rect">
            <a:avLst/>
          </a:prstGeom>
          <a:solidFill>
            <a:schemeClr val="accent2">
              <a:lumMod val="20000"/>
              <a:lumOff val="80000"/>
              <a:alpha val="2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40" name="文字方塊 39">
            <a:extLst>
              <a:ext uri="{FF2B5EF4-FFF2-40B4-BE49-F238E27FC236}">
                <a16:creationId xmlns:a16="http://schemas.microsoft.com/office/drawing/2014/main" id="{5866B278-267D-91F9-14E3-7AE128272285}"/>
              </a:ext>
            </a:extLst>
          </p:cNvPr>
          <p:cNvSpPr txBox="1"/>
          <p:nvPr/>
        </p:nvSpPr>
        <p:spPr>
          <a:xfrm>
            <a:off x="2378299" y="4437112"/>
            <a:ext cx="129726" cy="216403"/>
          </a:xfrm>
          <a:prstGeom prst="rect">
            <a:avLst/>
          </a:prstGeom>
          <a:noFill/>
        </p:spPr>
        <p:txBody>
          <a:bodyPr wrap="none" lIns="0" tIns="0" rIns="0" bIns="0" anchor="ctr" anchorCtr="1">
            <a:noAutofit/>
          </a:bodyPr>
          <a:lstStyle/>
          <a:p>
            <a:pPr algn="ctr">
              <a:lnSpc>
                <a:spcPts val="1600"/>
              </a:lnSpc>
            </a:pPr>
            <a:r>
              <a:rPr lang="en-US" altLang="zh-TW" sz="1200" dirty="0">
                <a:solidFill>
                  <a:schemeClr val="tx1"/>
                </a:solidFill>
                <a:ea typeface="微軟正黑體" panose="020B0604030504040204" pitchFamily="34" charset="-120"/>
              </a:rPr>
              <a:t>d</a:t>
            </a:r>
          </a:p>
        </p:txBody>
      </p:sp>
      <p:sp>
        <p:nvSpPr>
          <p:cNvPr id="171" name="矩形 170">
            <a:extLst>
              <a:ext uri="{FF2B5EF4-FFF2-40B4-BE49-F238E27FC236}">
                <a16:creationId xmlns:a16="http://schemas.microsoft.com/office/drawing/2014/main" id="{553C815C-06A3-845D-CAB5-B1BF30BC9E6E}"/>
              </a:ext>
            </a:extLst>
          </p:cNvPr>
          <p:cNvSpPr/>
          <p:nvPr/>
        </p:nvSpPr>
        <p:spPr>
          <a:xfrm>
            <a:off x="1907705" y="1930957"/>
            <a:ext cx="576064" cy="201899"/>
          </a:xfrm>
          <a:prstGeom prst="rect">
            <a:avLst/>
          </a:prstGeom>
          <a:noFill/>
          <a:ln w="317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lang="en-US" altLang="zh-TW" sz="1400" b="1" dirty="0">
                <a:solidFill>
                  <a:srgbClr val="1F497D"/>
                </a:solidFill>
                <a:latin typeface="Calibri"/>
                <a:ea typeface="微軟正黑體" panose="020B0604030504040204" pitchFamily="34" charset="-120"/>
              </a:rPr>
              <a:t>FFN</a:t>
            </a:r>
          </a:p>
        </p:txBody>
      </p:sp>
      <p:sp>
        <p:nvSpPr>
          <p:cNvPr id="183" name="矩形 182">
            <a:extLst>
              <a:ext uri="{FF2B5EF4-FFF2-40B4-BE49-F238E27FC236}">
                <a16:creationId xmlns:a16="http://schemas.microsoft.com/office/drawing/2014/main" id="{A651291F-4D9E-F52B-1B4B-C01E1C3D8261}"/>
              </a:ext>
            </a:extLst>
          </p:cNvPr>
          <p:cNvSpPr/>
          <p:nvPr/>
        </p:nvSpPr>
        <p:spPr>
          <a:xfrm>
            <a:off x="4267537" y="5589240"/>
            <a:ext cx="664503" cy="229172"/>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nSpc>
                <a:spcPts val="1200"/>
              </a:lnSpc>
            </a:pPr>
            <a:r>
              <a:rPr lang="en-US" altLang="zh-TW" sz="1000" dirty="0">
                <a:solidFill>
                  <a:schemeClr val="tx1"/>
                </a:solidFill>
                <a:ea typeface="微軟正黑體" panose="020B0604030504040204" pitchFamily="34" charset="-120"/>
              </a:rPr>
              <a:t>Probability</a:t>
            </a:r>
          </a:p>
        </p:txBody>
      </p:sp>
      <p:sp>
        <p:nvSpPr>
          <p:cNvPr id="185" name="矩形 184">
            <a:extLst>
              <a:ext uri="{FF2B5EF4-FFF2-40B4-BE49-F238E27FC236}">
                <a16:creationId xmlns:a16="http://schemas.microsoft.com/office/drawing/2014/main" id="{4C439D06-F19B-C54F-A1E1-FB9ADF0695F2}"/>
              </a:ext>
            </a:extLst>
          </p:cNvPr>
          <p:cNvSpPr/>
          <p:nvPr/>
        </p:nvSpPr>
        <p:spPr>
          <a:xfrm>
            <a:off x="3247290" y="5589240"/>
            <a:ext cx="388606" cy="229172"/>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nSpc>
                <a:spcPts val="1200"/>
              </a:lnSpc>
            </a:pPr>
            <a:r>
              <a:rPr lang="en-US" altLang="zh-TW" sz="1000" dirty="0">
                <a:solidFill>
                  <a:schemeClr val="tx1"/>
                </a:solidFill>
                <a:ea typeface="微軟正黑體" panose="020B0604030504040204" pitchFamily="34" charset="-120"/>
              </a:rPr>
              <a:t>Logit</a:t>
            </a:r>
          </a:p>
        </p:txBody>
      </p:sp>
      <p:grpSp>
        <p:nvGrpSpPr>
          <p:cNvPr id="188" name="群組 187">
            <a:extLst>
              <a:ext uri="{FF2B5EF4-FFF2-40B4-BE49-F238E27FC236}">
                <a16:creationId xmlns:a16="http://schemas.microsoft.com/office/drawing/2014/main" id="{D2F8C693-BC2F-F911-1111-BDDF8A2DE8A1}"/>
              </a:ext>
            </a:extLst>
          </p:cNvPr>
          <p:cNvGrpSpPr/>
          <p:nvPr/>
        </p:nvGrpSpPr>
        <p:grpSpPr>
          <a:xfrm>
            <a:off x="1435434" y="5895357"/>
            <a:ext cx="2012477" cy="414317"/>
            <a:chOff x="2055466" y="6488755"/>
            <a:chExt cx="2012477" cy="414317"/>
          </a:xfrm>
        </p:grpSpPr>
        <p:sp>
          <p:nvSpPr>
            <p:cNvPr id="187" name="矩形: 圓角 186">
              <a:extLst>
                <a:ext uri="{FF2B5EF4-FFF2-40B4-BE49-F238E27FC236}">
                  <a16:creationId xmlns:a16="http://schemas.microsoft.com/office/drawing/2014/main" id="{7911255C-CEE6-0A92-72C5-85F9081403A9}"/>
                </a:ext>
              </a:extLst>
            </p:cNvPr>
            <p:cNvSpPr/>
            <p:nvPr/>
          </p:nvSpPr>
          <p:spPr>
            <a:xfrm>
              <a:off x="2055466" y="6488755"/>
              <a:ext cx="2012477" cy="414317"/>
            </a:xfrm>
            <a:prstGeom prst="roundRect">
              <a:avLst/>
            </a:prstGeom>
            <a:gradFill>
              <a:gsLst>
                <a:gs pos="100000">
                  <a:schemeClr val="tx2">
                    <a:lumMod val="20000"/>
                    <a:lumOff val="80000"/>
                    <a:alpha val="90000"/>
                  </a:schemeClr>
                </a:gs>
                <a:gs pos="0">
                  <a:schemeClr val="accent1">
                    <a:lumMod val="45000"/>
                    <a:lumOff val="55000"/>
                  </a:schemeClr>
                </a:gs>
                <a:gs pos="0">
                  <a:schemeClr val="bg1"/>
                </a:gs>
                <a:gs pos="0">
                  <a:schemeClr val="bg2">
                    <a:lumMod val="90000"/>
                  </a:schemeClr>
                </a:gs>
              </a:gsLst>
              <a:lin ang="0" scaled="0"/>
            </a:gra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endParaRPr lang="zh-TW" altLang="en-US" sz="1200" b="1" dirty="0"/>
            </a:p>
          </p:txBody>
        </p:sp>
        <p:sp>
          <p:nvSpPr>
            <p:cNvPr id="115" name="箭號: 向下 114">
              <a:extLst>
                <a:ext uri="{FF2B5EF4-FFF2-40B4-BE49-F238E27FC236}">
                  <a16:creationId xmlns:a16="http://schemas.microsoft.com/office/drawing/2014/main" id="{70A5DCA7-558F-1FFD-A0CF-B255006D64F3}"/>
                </a:ext>
              </a:extLst>
            </p:cNvPr>
            <p:cNvSpPr/>
            <p:nvPr/>
          </p:nvSpPr>
          <p:spPr>
            <a:xfrm rot="5400000">
              <a:off x="2964299" y="661017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200"/>
            </a:p>
          </p:txBody>
        </p:sp>
        <p:sp>
          <p:nvSpPr>
            <p:cNvPr id="179" name="矩形: 圓角 178">
              <a:extLst>
                <a:ext uri="{FF2B5EF4-FFF2-40B4-BE49-F238E27FC236}">
                  <a16:creationId xmlns:a16="http://schemas.microsoft.com/office/drawing/2014/main" id="{121293C9-FE4F-3ADF-7843-3EF9DBDDFF23}"/>
                </a:ext>
              </a:extLst>
            </p:cNvPr>
            <p:cNvSpPr/>
            <p:nvPr/>
          </p:nvSpPr>
          <p:spPr>
            <a:xfrm>
              <a:off x="2164999" y="6573222"/>
              <a:ext cx="700097" cy="267502"/>
            </a:xfrm>
            <a:prstGeom prst="round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Vocabulary</a:t>
              </a:r>
            </a:p>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Space</a:t>
              </a:r>
              <a:endParaRPr lang="zh-TW" altLang="en-US" sz="1000" b="1" dirty="0"/>
            </a:p>
          </p:txBody>
        </p:sp>
        <p:sp>
          <p:nvSpPr>
            <p:cNvPr id="181" name="矩形: 圓角 180">
              <a:extLst>
                <a:ext uri="{FF2B5EF4-FFF2-40B4-BE49-F238E27FC236}">
                  <a16:creationId xmlns:a16="http://schemas.microsoft.com/office/drawing/2014/main" id="{3891BB6A-8CFD-BF37-84D0-D147597CE2D5}"/>
                </a:ext>
              </a:extLst>
            </p:cNvPr>
            <p:cNvSpPr/>
            <p:nvPr/>
          </p:nvSpPr>
          <p:spPr>
            <a:xfrm>
              <a:off x="3272775" y="6573221"/>
              <a:ext cx="700097" cy="267502"/>
            </a:xfrm>
            <a:prstGeom prst="round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Semantics</a:t>
              </a:r>
            </a:p>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Space</a:t>
              </a:r>
              <a:endParaRPr lang="zh-TW" altLang="en-US" sz="1000" b="1" dirty="0"/>
            </a:p>
          </p:txBody>
        </p:sp>
      </p:grpSp>
      <p:sp>
        <p:nvSpPr>
          <p:cNvPr id="193" name="文字方塊 192">
            <a:extLst>
              <a:ext uri="{FF2B5EF4-FFF2-40B4-BE49-F238E27FC236}">
                <a16:creationId xmlns:a16="http://schemas.microsoft.com/office/drawing/2014/main" id="{1A163316-C3E3-818A-3951-92411C54FB1C}"/>
              </a:ext>
            </a:extLst>
          </p:cNvPr>
          <p:cNvSpPr txBox="1"/>
          <p:nvPr/>
        </p:nvSpPr>
        <p:spPr>
          <a:xfrm>
            <a:off x="2941232" y="159730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Nxd</a:t>
            </a:r>
          </a:p>
        </p:txBody>
      </p:sp>
      <p:sp>
        <p:nvSpPr>
          <p:cNvPr id="195" name="文字方塊 194">
            <a:extLst>
              <a:ext uri="{FF2B5EF4-FFF2-40B4-BE49-F238E27FC236}">
                <a16:creationId xmlns:a16="http://schemas.microsoft.com/office/drawing/2014/main" id="{DD38B431-231C-BC17-BCB9-56690E0C91C3}"/>
              </a:ext>
            </a:extLst>
          </p:cNvPr>
          <p:cNvSpPr txBox="1"/>
          <p:nvPr/>
        </p:nvSpPr>
        <p:spPr>
          <a:xfrm>
            <a:off x="3203848" y="2259602"/>
            <a:ext cx="372503" cy="161286"/>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 x S</a:t>
            </a:r>
          </a:p>
        </p:txBody>
      </p:sp>
      <p:sp>
        <p:nvSpPr>
          <p:cNvPr id="197" name="文字方塊 196">
            <a:extLst>
              <a:ext uri="{FF2B5EF4-FFF2-40B4-BE49-F238E27FC236}">
                <a16:creationId xmlns:a16="http://schemas.microsoft.com/office/drawing/2014/main" id="{6F7C8235-683F-433F-13F7-BCA96BE217A7}"/>
              </a:ext>
            </a:extLst>
          </p:cNvPr>
          <p:cNvSpPr txBox="1"/>
          <p:nvPr/>
        </p:nvSpPr>
        <p:spPr>
          <a:xfrm>
            <a:off x="4415521" y="2259601"/>
            <a:ext cx="372503" cy="161286"/>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 x S</a:t>
            </a:r>
          </a:p>
        </p:txBody>
      </p:sp>
      <p:sp>
        <p:nvSpPr>
          <p:cNvPr id="199" name="文字方塊 198">
            <a:extLst>
              <a:ext uri="{FF2B5EF4-FFF2-40B4-BE49-F238E27FC236}">
                <a16:creationId xmlns:a16="http://schemas.microsoft.com/office/drawing/2014/main" id="{118F8D81-8D13-5640-F84A-2C8168D27343}"/>
              </a:ext>
            </a:extLst>
          </p:cNvPr>
          <p:cNvSpPr txBox="1"/>
          <p:nvPr/>
        </p:nvSpPr>
        <p:spPr>
          <a:xfrm>
            <a:off x="5238968" y="2031906"/>
            <a:ext cx="372503" cy="161286"/>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S x d</a:t>
            </a:r>
          </a:p>
        </p:txBody>
      </p:sp>
      <p:sp>
        <p:nvSpPr>
          <p:cNvPr id="201" name="文字方塊 200">
            <a:extLst>
              <a:ext uri="{FF2B5EF4-FFF2-40B4-BE49-F238E27FC236}">
                <a16:creationId xmlns:a16="http://schemas.microsoft.com/office/drawing/2014/main" id="{7D1AED10-785C-6E21-8850-CB928EBA8EAB}"/>
              </a:ext>
            </a:extLst>
          </p:cNvPr>
          <p:cNvSpPr txBox="1"/>
          <p:nvPr/>
        </p:nvSpPr>
        <p:spPr>
          <a:xfrm>
            <a:off x="2051961" y="2279336"/>
            <a:ext cx="372503" cy="161286"/>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 x d</a:t>
            </a:r>
          </a:p>
        </p:txBody>
      </p:sp>
      <p:sp>
        <p:nvSpPr>
          <p:cNvPr id="207" name="矩形 206">
            <a:extLst>
              <a:ext uri="{FF2B5EF4-FFF2-40B4-BE49-F238E27FC236}">
                <a16:creationId xmlns:a16="http://schemas.microsoft.com/office/drawing/2014/main" id="{5F6DDAAA-5410-AB3B-392C-E80BC6D9B041}"/>
              </a:ext>
            </a:extLst>
          </p:cNvPr>
          <p:cNvSpPr/>
          <p:nvPr/>
        </p:nvSpPr>
        <p:spPr>
          <a:xfrm>
            <a:off x="6227887" y="4373204"/>
            <a:ext cx="2058821" cy="221302"/>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lumMod val="75000"/>
                  </a:schemeClr>
                </a:solidFill>
                <a:effectLst/>
                <a:uLnTx/>
                <a:uFillTx/>
                <a:latin typeface="Calibri"/>
                <a:ea typeface="微軟正黑體" panose="020B0604030504040204" pitchFamily="34" charset="-120"/>
                <a:cs typeface="+mn-cs"/>
              </a:rPr>
              <a:t>… other Experts</a:t>
            </a:r>
          </a:p>
        </p:txBody>
      </p:sp>
    </p:spTree>
    <p:extLst>
      <p:ext uri="{BB962C8B-B14F-4D97-AF65-F5344CB8AC3E}">
        <p14:creationId xmlns:p14="http://schemas.microsoft.com/office/powerpoint/2010/main" val="26475936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群組 54">
            <a:extLst>
              <a:ext uri="{FF2B5EF4-FFF2-40B4-BE49-F238E27FC236}">
                <a16:creationId xmlns:a16="http://schemas.microsoft.com/office/drawing/2014/main" id="{032E068C-BED4-DAAD-C477-AE10DD88BC4D}"/>
              </a:ext>
            </a:extLst>
          </p:cNvPr>
          <p:cNvGrpSpPr/>
          <p:nvPr/>
        </p:nvGrpSpPr>
        <p:grpSpPr>
          <a:xfrm>
            <a:off x="4372667" y="2472114"/>
            <a:ext cx="1728262" cy="1731863"/>
            <a:chOff x="5889783" y="2057354"/>
            <a:chExt cx="1739742" cy="1875702"/>
          </a:xfrm>
        </p:grpSpPr>
        <p:sp>
          <p:nvSpPr>
            <p:cNvPr id="33" name="局部圓 32">
              <a:extLst>
                <a:ext uri="{FF2B5EF4-FFF2-40B4-BE49-F238E27FC236}">
                  <a16:creationId xmlns:a16="http://schemas.microsoft.com/office/drawing/2014/main" id="{90FEF55D-352E-7939-49E0-A9B88A43848E}"/>
                </a:ext>
              </a:extLst>
            </p:cNvPr>
            <p:cNvSpPr/>
            <p:nvPr/>
          </p:nvSpPr>
          <p:spPr>
            <a:xfrm>
              <a:off x="5889783" y="2477244"/>
              <a:ext cx="1418521" cy="1455812"/>
            </a:xfrm>
            <a:prstGeom prst="pie">
              <a:avLst>
                <a:gd name="adj1" fmla="val 17363646"/>
                <a:gd name="adj2" fmla="val 19855348"/>
              </a:avLst>
            </a:prstGeom>
            <a:solidFill>
              <a:schemeClr val="accent2">
                <a:lumMod val="20000"/>
                <a:lumOff val="80000"/>
                <a:alpha val="7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cxnSp>
          <p:nvCxnSpPr>
            <p:cNvPr id="20" name="直線單箭頭接點 19">
              <a:extLst>
                <a:ext uri="{FF2B5EF4-FFF2-40B4-BE49-F238E27FC236}">
                  <a16:creationId xmlns:a16="http://schemas.microsoft.com/office/drawing/2014/main" id="{1DD52C49-034B-5D51-6CA7-1C3A6767E139}"/>
                </a:ext>
              </a:extLst>
            </p:cNvPr>
            <p:cNvCxnSpPr/>
            <p:nvPr/>
          </p:nvCxnSpPr>
          <p:spPr>
            <a:xfrm flipV="1">
              <a:off x="6588224" y="2057354"/>
              <a:ext cx="0" cy="13716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2CE1F358-8314-ED6F-737B-F54103AF1758}"/>
                </a:ext>
              </a:extLst>
            </p:cNvPr>
            <p:cNvCxnSpPr>
              <a:cxnSpLocks/>
            </p:cNvCxnSpPr>
            <p:nvPr/>
          </p:nvCxnSpPr>
          <p:spPr>
            <a:xfrm>
              <a:off x="6339011" y="3193314"/>
              <a:ext cx="10413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FCF20143-A1BD-B310-22E7-EF16A375CB3B}"/>
                </a:ext>
              </a:extLst>
            </p:cNvPr>
            <p:cNvCxnSpPr/>
            <p:nvPr/>
          </p:nvCxnSpPr>
          <p:spPr>
            <a:xfrm flipV="1">
              <a:off x="6597812" y="2501732"/>
              <a:ext cx="576064" cy="679874"/>
            </a:xfrm>
            <a:prstGeom prst="straightConnector1">
              <a:avLst/>
            </a:prstGeom>
            <a:ln>
              <a:tailEnd type="triangle" w="med" len="lg"/>
            </a:ln>
          </p:spPr>
          <p:style>
            <a:lnRef idx="1">
              <a:schemeClr val="accent2"/>
            </a:lnRef>
            <a:fillRef idx="0">
              <a:schemeClr val="accent2"/>
            </a:fillRef>
            <a:effectRef idx="0">
              <a:schemeClr val="accent2"/>
            </a:effectRef>
            <a:fontRef idx="minor">
              <a:schemeClr val="tx1"/>
            </a:fontRef>
          </p:style>
        </p:cxnSp>
        <p:cxnSp>
          <p:nvCxnSpPr>
            <p:cNvPr id="28" name="直線接點 27">
              <a:extLst>
                <a:ext uri="{FF2B5EF4-FFF2-40B4-BE49-F238E27FC236}">
                  <a16:creationId xmlns:a16="http://schemas.microsoft.com/office/drawing/2014/main" id="{8D17591A-26C0-F70D-7D2D-884084C8C255}"/>
                </a:ext>
              </a:extLst>
            </p:cNvPr>
            <p:cNvCxnSpPr>
              <a:cxnSpLocks/>
            </p:cNvCxnSpPr>
            <p:nvPr/>
          </p:nvCxnSpPr>
          <p:spPr>
            <a:xfrm flipV="1">
              <a:off x="6588224" y="2328248"/>
              <a:ext cx="304157" cy="864096"/>
            </a:xfrm>
            <a:prstGeom prst="line">
              <a:avLst/>
            </a:prstGeom>
            <a:ln>
              <a:solidFill>
                <a:schemeClr val="accent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D63BA61C-0F22-7A08-3438-46A8C009D045}"/>
                </a:ext>
              </a:extLst>
            </p:cNvPr>
            <p:cNvCxnSpPr>
              <a:cxnSpLocks/>
            </p:cNvCxnSpPr>
            <p:nvPr/>
          </p:nvCxnSpPr>
          <p:spPr>
            <a:xfrm flipV="1">
              <a:off x="6597809" y="2712093"/>
              <a:ext cx="792091" cy="493057"/>
            </a:xfrm>
            <a:prstGeom prst="line">
              <a:avLst/>
            </a:prstGeom>
            <a:ln>
              <a:solidFill>
                <a:schemeClr val="accent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063F8301-C40E-66CC-D9A5-3189DE4307BA}"/>
                    </a:ext>
                  </a:extLst>
                </p:cNvPr>
                <p:cNvSpPr txBox="1"/>
                <p:nvPr/>
              </p:nvSpPr>
              <p:spPr>
                <a:xfrm>
                  <a:off x="6925149" y="2703771"/>
                  <a:ext cx="704376" cy="400007"/>
                </a:xfrm>
                <a:prstGeom prst="rect">
                  <a:avLst/>
                </a:prstGeom>
                <a:noFill/>
              </p:spPr>
              <p:txBody>
                <a:bodyPr wrap="square">
                  <a:spAutoFit/>
                </a:bodyPr>
                <a:lstStyle/>
                <a:p>
                  <a:pPr/>
                  <a14:m>
                    <m:oMathPara xmlns:m="http://schemas.openxmlformats.org/officeDocument/2006/math">
                      <m:oMath>
                        <m:r>
                          <a:rPr lang="en-US" altLang="zh-TW" i="1">
                            <a:solidFill>
                              <a:srgbClr val="FF0000"/>
                            </a:solidFill>
                            <a:latin typeface="Cambria Math" panose="02040503050406030204" pitchFamily="18" charset="0"/>
                            <a:ea typeface="Cambria Math" panose="02040503050406030204" pitchFamily="18" charset="0"/>
                          </a:rPr>
                          <m:t>𝑙</m:t>
                        </m:r>
                        <m:r>
                          <a:rPr lang="zh-TW" altLang="en-US" i="1" smtClean="0">
                            <a:solidFill>
                              <a:srgbClr val="FF0000"/>
                            </a:solidFill>
                            <a:latin typeface="Cambria Math" panose="02040503050406030204" pitchFamily="18" charset="0"/>
                            <a:ea typeface="Cambria Math" panose="02040503050406030204" pitchFamily="18" charset="0"/>
                          </a:rPr>
                          <m:t>∗</m:t>
                        </m:r>
                        <m:sSub>
                          <m:sSubPr>
                            <m:ctrlPr>
                              <a:rPr lang="zh-TW" altLang="en-US" i="1">
                                <a:solidFill>
                                  <a:srgbClr val="FF0000"/>
                                </a:solidFill>
                                <a:latin typeface="Cambria Math" panose="02040503050406030204" pitchFamily="18" charset="0"/>
                                <a:ea typeface="Cambria Math" panose="02040503050406030204" pitchFamily="18" charset="0"/>
                              </a:rPr>
                            </m:ctrlPr>
                          </m:sSubPr>
                          <m:e>
                            <m:r>
                              <a:rPr lang="zh-TW" altLang="en-US" i="1">
                                <a:solidFill>
                                  <a:srgbClr val="FF0000"/>
                                </a:solidFill>
                                <a:latin typeface="Cambria Math" panose="02040503050406030204" pitchFamily="18" charset="0"/>
                                <a:ea typeface="Cambria Math" panose="02040503050406030204" pitchFamily="18" charset="0"/>
                              </a:rPr>
                              <m:t>𝜃</m:t>
                            </m:r>
                          </m:e>
                          <m:sub>
                            <m:r>
                              <a:rPr lang="en-US" altLang="zh-TW" i="1">
                                <a:solidFill>
                                  <a:srgbClr val="FF0000"/>
                                </a:solidFill>
                                <a:latin typeface="Cambria Math" panose="02040503050406030204" pitchFamily="18" charset="0"/>
                                <a:ea typeface="Cambria Math" panose="02040503050406030204" pitchFamily="18" charset="0"/>
                              </a:rPr>
                              <m:t>𝑖</m:t>
                            </m:r>
                          </m:sub>
                        </m:sSub>
                      </m:oMath>
                    </m:oMathPara>
                  </a14:m>
                  <a:endParaRPr lang="zh-TW" altLang="en-US" dirty="0"/>
                </a:p>
              </p:txBody>
            </p:sp>
          </mc:Choice>
          <mc:Fallback xmlns="">
            <p:sp>
              <p:nvSpPr>
                <p:cNvPr id="51" name="文字方塊 50">
                  <a:extLst>
                    <a:ext uri="{FF2B5EF4-FFF2-40B4-BE49-F238E27FC236}">
                      <a16:creationId xmlns:a16="http://schemas.microsoft.com/office/drawing/2014/main" id="{063F8301-C40E-66CC-D9A5-3189DE4307BA}"/>
                    </a:ext>
                  </a:extLst>
                </p:cNvPr>
                <p:cNvSpPr txBox="1">
                  <a:spLocks noRot="1" noChangeAspect="1" noMove="1" noResize="1" noEditPoints="1" noAdjustHandles="1" noChangeArrowheads="1" noChangeShapeType="1" noTextEdit="1"/>
                </p:cNvSpPr>
                <p:nvPr/>
              </p:nvSpPr>
              <p:spPr>
                <a:xfrm>
                  <a:off x="6925149" y="2703771"/>
                  <a:ext cx="704376" cy="400007"/>
                </a:xfrm>
                <a:prstGeom prst="rect">
                  <a:avLst/>
                </a:prstGeom>
                <a:blipFill>
                  <a:blip r:embed="rId3"/>
                  <a:stretch>
                    <a:fillRect/>
                  </a:stretch>
                </a:blipFill>
              </p:spPr>
              <p:txBody>
                <a:bodyPr/>
                <a:lstStyle/>
                <a:p>
                  <a:r>
                    <a:rPr lang="zh-TW" altLang="en-US">
                      <a:noFill/>
                    </a:rPr>
                    <a:t> </a:t>
                  </a:r>
                </a:p>
              </p:txBody>
            </p:sp>
          </mc:Fallback>
        </mc:AlternateContent>
      </p:grpSp>
      <p:sp>
        <p:nvSpPr>
          <p:cNvPr id="12" name="矩形: 圓角 11">
            <a:extLst>
              <a:ext uri="{FF2B5EF4-FFF2-40B4-BE49-F238E27FC236}">
                <a16:creationId xmlns:a16="http://schemas.microsoft.com/office/drawing/2014/main" id="{700D029E-B4F8-EA5F-0ADA-B740C8349817}"/>
              </a:ext>
            </a:extLst>
          </p:cNvPr>
          <p:cNvSpPr/>
          <p:nvPr/>
        </p:nvSpPr>
        <p:spPr>
          <a:xfrm>
            <a:off x="1076622" y="3550823"/>
            <a:ext cx="1629729" cy="220600"/>
          </a:xfrm>
          <a:prstGeom prst="roundRect">
            <a:avLst/>
          </a:prstGeom>
          <a:solidFill>
            <a:schemeClr val="bg1">
              <a:lumMod val="95000"/>
              <a:alpha val="6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58AAD6B0-29A5-F072-A23A-1590C3A19EC6}"/>
              </a:ext>
            </a:extLst>
          </p:cNvPr>
          <p:cNvSpPr/>
          <p:nvPr/>
        </p:nvSpPr>
        <p:spPr>
          <a:xfrm>
            <a:off x="733816" y="1699829"/>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X</a:t>
            </a:r>
          </a:p>
        </p:txBody>
      </p:sp>
      <p:sp>
        <p:nvSpPr>
          <p:cNvPr id="11" name="矩形: 圓角 10">
            <a:extLst>
              <a:ext uri="{FF2B5EF4-FFF2-40B4-BE49-F238E27FC236}">
                <a16:creationId xmlns:a16="http://schemas.microsoft.com/office/drawing/2014/main" id="{8020BDD0-86F7-07FC-6552-9284A65459B9}"/>
              </a:ext>
            </a:extLst>
          </p:cNvPr>
          <p:cNvSpPr/>
          <p:nvPr/>
        </p:nvSpPr>
        <p:spPr>
          <a:xfrm>
            <a:off x="728122" y="2454114"/>
            <a:ext cx="1099830" cy="107391"/>
          </a:xfrm>
          <a:prstGeom prst="roundRect">
            <a:avLst/>
          </a:prstGeom>
          <a:solidFill>
            <a:schemeClr val="bg1">
              <a:lumMod val="9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圓角 53">
            <a:extLst>
              <a:ext uri="{FF2B5EF4-FFF2-40B4-BE49-F238E27FC236}">
                <a16:creationId xmlns:a16="http://schemas.microsoft.com/office/drawing/2014/main" id="{7A412538-C8FD-A4B2-8E22-47E80D65D21C}"/>
              </a:ext>
            </a:extLst>
          </p:cNvPr>
          <p:cNvSpPr/>
          <p:nvPr/>
        </p:nvSpPr>
        <p:spPr>
          <a:xfrm>
            <a:off x="1460936" y="2455712"/>
            <a:ext cx="214615" cy="107149"/>
          </a:xfrm>
          <a:prstGeom prst="roundRect">
            <a:avLst/>
          </a:prstGeom>
          <a:solidFill>
            <a:schemeClr val="bg1">
              <a:lumMod val="7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E6DD3AC6-ABB1-653C-5DAE-1DE4C021A50E}"/>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Token Embeddings</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Pairwise dimension rotations enable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multi-scale</a:t>
            </a:r>
            <a:r>
              <a:rPr lang="en-US" altLang="zh-TW" sz="1400" dirty="0">
                <a:latin typeface="Noto Sans HK" panose="020B0200000000000000" pitchFamily="34" charset="-120"/>
                <a:ea typeface="Noto Sans HK" panose="020B0200000000000000" pitchFamily="34" charset="-120"/>
                <a:cs typeface="Arial" panose="020B0604020202020204" pitchFamily="34" charset="0"/>
              </a:rPr>
              <a:t> positional sensitivity across long contexts.</a:t>
            </a:r>
          </a:p>
        </p:txBody>
      </p:sp>
      <p:cxnSp>
        <p:nvCxnSpPr>
          <p:cNvPr id="6" name="直線接點 5">
            <a:extLst>
              <a:ext uri="{FF2B5EF4-FFF2-40B4-BE49-F238E27FC236}">
                <a16:creationId xmlns:a16="http://schemas.microsoft.com/office/drawing/2014/main" id="{AFF11F6A-29DE-67F7-D273-86946AC3BCD9}"/>
              </a:ext>
            </a:extLst>
          </p:cNvPr>
          <p:cNvCxnSpPr>
            <a:cxnSpLocks/>
            <a:endCxn id="54" idx="0"/>
          </p:cNvCxnSpPr>
          <p:nvPr/>
        </p:nvCxnSpPr>
        <p:spPr>
          <a:xfrm flipH="1">
            <a:off x="1568244" y="1562987"/>
            <a:ext cx="4833" cy="892725"/>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E24399CC-4C2F-7F05-1E04-F60111F9636D}"/>
              </a:ext>
            </a:extLst>
          </p:cNvPr>
          <p:cNvSpPr/>
          <p:nvPr/>
        </p:nvSpPr>
        <p:spPr>
          <a:xfrm>
            <a:off x="399059" y="1992134"/>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1"/>
                </a:solidFill>
                <a:ea typeface="STXingkai" panose="020B0503020204020204" pitchFamily="2" charset="-122"/>
              </a:rPr>
              <a:t>l</a:t>
            </a:r>
          </a:p>
        </p:txBody>
      </p:sp>
      <p:sp>
        <p:nvSpPr>
          <p:cNvPr id="17" name="左大括弧 16">
            <a:extLst>
              <a:ext uri="{FF2B5EF4-FFF2-40B4-BE49-F238E27FC236}">
                <a16:creationId xmlns:a16="http://schemas.microsoft.com/office/drawing/2014/main" id="{E166C875-0798-4B9E-B845-D3335E0BA09A}"/>
              </a:ext>
            </a:extLst>
          </p:cNvPr>
          <p:cNvSpPr/>
          <p:nvPr/>
        </p:nvSpPr>
        <p:spPr>
          <a:xfrm>
            <a:off x="571987" y="1699745"/>
            <a:ext cx="145042" cy="808186"/>
          </a:xfrm>
          <a:prstGeom prst="leftBrace">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DECEFE30-010A-BD0B-F32D-C4D1E4ADFAA6}"/>
                  </a:ext>
                </a:extLst>
              </p:cNvPr>
              <p:cNvSpPr txBox="1"/>
              <p:nvPr/>
            </p:nvSpPr>
            <p:spPr>
              <a:xfrm>
                <a:off x="1891575" y="2175738"/>
                <a:ext cx="2016225" cy="447885"/>
              </a:xfrm>
              <a:prstGeom prst="rect">
                <a:avLst/>
              </a:prstGeom>
              <a:noFill/>
            </p:spPr>
            <p:txBody>
              <a:bodyPr wrap="none" lIns="0" tIns="0" rIns="0" bIns="0" rtlCol="0" anchor="ctr" anchorCtr="0">
                <a:noAutofit/>
              </a:bodyPr>
              <a:lstStyle/>
              <a:p>
                <a:pPr algn="just">
                  <a:lnSpc>
                    <a:spcPct val="150000"/>
                  </a:lnSpc>
                </a:pPr>
                <a14:m>
                  <m:oMathPara xmlns:m="http://schemas.openxmlformats.org/officeDocument/2006/math">
                    <m:oMathParaPr>
                      <m:jc m:val="left"/>
                    </m:oMathParaPr>
                    <m:oMath>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𝑅</m:t>
                          </m:r>
                        </m:e>
                        <m:sub>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b="0" i="1" smtClean="0">
                                  <a:solidFill>
                                    <a:srgbClr val="FF0000"/>
                                  </a:solidFill>
                                  <a:latin typeface="Cambria Math" panose="02040503050406030204" pitchFamily="18" charset="0"/>
                                  <a:ea typeface="Cambria Math" panose="02040503050406030204" pitchFamily="18" charset="0"/>
                                </a:rPr>
                              </m:ctrlPr>
                            </m:sSubPr>
                            <m:e>
                              <m:r>
                                <a:rPr lang="zh-TW" altLang="en-US" sz="1200" b="0" i="1" smtClean="0">
                                  <a:solidFill>
                                    <a:srgbClr val="FF0000"/>
                                  </a:solidFill>
                                  <a:latin typeface="Cambria Math" panose="02040503050406030204" pitchFamily="18" charset="0"/>
                                  <a:ea typeface="Cambria Math" panose="02040503050406030204" pitchFamily="18" charset="0"/>
                                </a:rPr>
                                <m:t>𝜃</m:t>
                              </m:r>
                            </m:e>
                            <m:sub>
                              <m:r>
                                <a:rPr lang="en-US" altLang="zh-TW" sz="1200" b="0" i="1" smtClean="0">
                                  <a:solidFill>
                                    <a:srgbClr val="FF0000"/>
                                  </a:solidFill>
                                  <a:latin typeface="Cambria Math" panose="02040503050406030204" pitchFamily="18" charset="0"/>
                                  <a:ea typeface="Cambria Math" panose="02040503050406030204" pitchFamily="18" charset="0"/>
                                </a:rPr>
                                <m:t>𝑖</m:t>
                              </m:r>
                            </m:sub>
                          </m:sSub>
                        </m:sub>
                      </m:sSub>
                      <m:r>
                        <a:rPr lang="en-US" altLang="zh-TW" sz="1200" b="0" i="1" smtClean="0">
                          <a:latin typeface="Cambria Math" panose="02040503050406030204" pitchFamily="18" charset="0"/>
                          <a:ea typeface="Cambria Math" panose="02040503050406030204" pitchFamily="18" charset="0"/>
                        </a:rPr>
                        <m:t>=</m:t>
                      </m:r>
                      <m:d>
                        <m:dPr>
                          <m:begChr m:val="["/>
                          <m:endChr m:val="]"/>
                          <m:ctrlPr>
                            <a:rPr lang="en-US" altLang="zh-TW" sz="1200" b="0" i="1" smtClean="0">
                              <a:solidFill>
                                <a:srgbClr val="FF0000"/>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b="0" i="1" smtClean="0">
                                  <a:solidFill>
                                    <a:srgbClr val="FF0000"/>
                                  </a:solidFill>
                                  <a:latin typeface="Cambria Math" panose="02040503050406030204" pitchFamily="18" charset="0"/>
                                  <a:ea typeface="Cambria Math" panose="02040503050406030204" pitchFamily="18" charset="0"/>
                                </a:rPr>
                              </m:ctrlPr>
                            </m:mPr>
                            <m:mr>
                              <m:e>
                                <m:func>
                                  <m:funcPr>
                                    <m:ctrlPr>
                                      <a:rPr lang="en-US" altLang="zh-TW" sz="1200" b="0" i="0" smtClean="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b="0" i="0" smtClean="0">
                                        <a:solidFill>
                                          <a:srgbClr val="FF0000"/>
                                        </a:solidFill>
                                        <a:latin typeface="Cambria Math" panose="02040503050406030204" pitchFamily="18" charset="0"/>
                                        <a:ea typeface="Cambria Math" panose="02040503050406030204" pitchFamily="18" charset="0"/>
                                      </a:rPr>
                                      <m:t>c</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rgbClr val="FF0000"/>
                                        </a:solidFill>
                                        <a:latin typeface="Cambria Math" panose="02040503050406030204" pitchFamily="18" charset="0"/>
                                        <a:ea typeface="Cambria Math" panose="02040503050406030204" pitchFamily="18" charset="0"/>
                                      </a:rPr>
                                    </m:ctrlPr>
                                  </m:funcPr>
                                  <m:fName>
                                    <m:r>
                                      <a:rPr lang="en-US" altLang="zh-TW" sz="1200" b="0" i="0" smtClean="0">
                                        <a:solidFill>
                                          <a:srgbClr val="FF0000"/>
                                        </a:solidFill>
                                        <a:latin typeface="Cambria Math" panose="02040503050406030204" pitchFamily="18" charset="0"/>
                                        <a:ea typeface="Cambria Math" panose="02040503050406030204" pitchFamily="18" charset="0"/>
                                      </a:rPr>
                                      <m:t>−</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sin</m:t>
                                    </m:r>
                                  </m:fName>
                                  <m:e>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𝑙</m:t>
                                        </m:r>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r>
                              <m:e>
                                <m:func>
                                  <m:funcPr>
                                    <m:ctrlPr>
                                      <a:rPr lang="en-US" altLang="zh-TW" sz="1200" b="0" i="0" smtClean="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b="0" i="0" smtClean="0">
                                        <a:solidFill>
                                          <a:srgbClr val="FF0000"/>
                                        </a:solidFill>
                                        <a:latin typeface="Cambria Math" panose="02040503050406030204" pitchFamily="18" charset="0"/>
                                        <a:ea typeface="Cambria Math" panose="02040503050406030204" pitchFamily="18" charset="0"/>
                                      </a:rPr>
                                      <m:t>sin</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b="0" i="0" smtClean="0">
                                        <a:solidFill>
                                          <a:srgbClr val="FF0000"/>
                                        </a:solidFill>
                                        <a:latin typeface="Cambria Math" panose="02040503050406030204" pitchFamily="18" charset="0"/>
                                        <a:ea typeface="Cambria Math" panose="02040503050406030204" pitchFamily="18" charset="0"/>
                                      </a:rPr>
                                      <m:t>cos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
                        </m:e>
                      </m:d>
                    </m:oMath>
                  </m:oMathPara>
                </a14:m>
                <a:endParaRPr lang="en-US" altLang="zh-TW" sz="1200" b="0" i="1" dirty="0">
                  <a:latin typeface="Cambria Math" panose="02040503050406030204" pitchFamily="18" charset="0"/>
                  <a:ea typeface="Cambria Math" panose="02040503050406030204" pitchFamily="18" charset="0"/>
                </a:endParaRPr>
              </a:p>
            </p:txBody>
          </p:sp>
        </mc:Choice>
        <mc:Fallback xmlns="">
          <p:sp>
            <p:nvSpPr>
              <p:cNvPr id="25" name="文字方塊 24">
                <a:extLst>
                  <a:ext uri="{FF2B5EF4-FFF2-40B4-BE49-F238E27FC236}">
                    <a16:creationId xmlns:a16="http://schemas.microsoft.com/office/drawing/2014/main" id="{DECEFE30-010A-BD0B-F32D-C4D1E4ADFAA6}"/>
                  </a:ext>
                </a:extLst>
              </p:cNvPr>
              <p:cNvSpPr txBox="1">
                <a:spLocks noRot="1" noChangeAspect="1" noMove="1" noResize="1" noEditPoints="1" noAdjustHandles="1" noChangeArrowheads="1" noChangeShapeType="1" noTextEdit="1"/>
              </p:cNvSpPr>
              <p:nvPr/>
            </p:nvSpPr>
            <p:spPr>
              <a:xfrm>
                <a:off x="1891575" y="2175738"/>
                <a:ext cx="2016225" cy="44788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9320DAC2-A578-FDAB-0D7D-7C76D50F0F5A}"/>
                  </a:ext>
                </a:extLst>
              </p:cNvPr>
              <p:cNvSpPr txBox="1"/>
              <p:nvPr/>
            </p:nvSpPr>
            <p:spPr>
              <a:xfrm>
                <a:off x="5004048" y="4934972"/>
                <a:ext cx="2376264" cy="1518364"/>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d>
                        <m:dPr>
                          <m:begChr m:val="["/>
                          <m:endChr m:val="]"/>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dPr>
                        <m:e>
                          <m:m>
                            <m:mPr>
                              <m:mcs>
                                <m:mc>
                                  <m:mcPr>
                                    <m:count m:val="3"/>
                                    <m:mcJc m:val="center"/>
                                  </m:mcPr>
                                </m:mc>
                              </m:mcs>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mPr>
                            <m:mr>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m:t>
                                        </m:r>
                                        <m:r>
                                          <a:rPr lang="en-US" altLang="zh-TW" sz="1200" b="0" i="1" smtClean="0">
                                            <a:latin typeface="Cambria Math" panose="02040503050406030204" pitchFamily="18" charset="0"/>
                                            <a:ea typeface="Cambria Math" panose="02040503050406030204" pitchFamily="18" charset="0"/>
                                          </a:rPr>
                                          <m:t>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m:t>
                                            </m:r>
                                            <m:r>
                                              <a:rPr lang="en-US" altLang="zh-TW" sz="1200" i="1">
                                                <a:latin typeface="Cambria Math" panose="02040503050406030204" pitchFamily="18" charset="0"/>
                                                <a:ea typeface="Cambria Math" panose="02040503050406030204" pitchFamily="18" charset="0"/>
                                              </a:rPr>
                                              <m:t>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qArr>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b="0" i="0" smtClean="0">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m:t>
                                        </m:r>
                                        <m:r>
                                          <m:rPr>
                                            <m:sty m:val="p"/>
                                          </m:rPr>
                                          <a:rPr lang="en-US" altLang="zh-TW" sz="1200" b="0" i="0" smtClean="0">
                                            <a:latin typeface="Cambria Math" panose="02040503050406030204" pitchFamily="18" charset="0"/>
                                            <a:ea typeface="Cambria Math" panose="02040503050406030204" pitchFamily="18" charset="0"/>
                                          </a:rPr>
                                          <m:t>in</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b="0" i="0" smtClean="0">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b="0" i="0" smtClean="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
                                        <m:func>
                                          <m:funcPr>
                                            <m:ctrlPr>
                                              <a:rPr lang="en-US" altLang="zh-TW" sz="1200" b="0" i="1" smtClean="0">
                                                <a:latin typeface="Cambria Math" panose="02040503050406030204" pitchFamily="18" charset="0"/>
                                                <a:ea typeface="Cambria Math" panose="02040503050406030204" pitchFamily="18" charset="0"/>
                                              </a:rPr>
                                            </m:ctrlPr>
                                          </m:funcPr>
                                          <m:fName>
                                            <m:r>
                                              <a:rPr lang="en-US" altLang="zh-TW" sz="1200" b="0" i="1" smtClean="0">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qArr>
                                  </m:e>
                                </m:eqArr>
                              </m:e>
                            </m:mr>
                            <m:mr>
                              <m:e>
                                <m:eqArr>
                                  <m:eqArr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eqArr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e>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eqArr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e>
                                  <m:e>
                                    <m:func>
                                      <m:funcPr>
                                        <m:ctrlPr>
                                          <a:rPr lang="en-US" altLang="zh-TW" sz="1200" b="0" i="0" smtClean="0">
                                            <a:solidFill>
                                              <a:srgbClr val="FF0000"/>
                                            </a:solidFill>
                                            <a:latin typeface="Cambria Math" panose="02040503050406030204" pitchFamily="18" charset="0"/>
                                            <a:ea typeface="Cambria Math" panose="02040503050406030204" pitchFamily="18" charset="0"/>
                                          </a:rPr>
                                        </m:ctrlPr>
                                      </m:funcPr>
                                      <m:fName>
                                        <m:r>
                                          <a:rPr lang="en-US" altLang="zh-TW" sz="1200" b="0" i="0" smtClean="0">
                                            <a:solidFill>
                                              <a:srgbClr val="FF0000"/>
                                            </a:solidFill>
                                            <a:latin typeface="Cambria Math" panose="02040503050406030204" pitchFamily="18" charset="0"/>
                                            <a:ea typeface="Cambria Math" panose="02040503050406030204" pitchFamily="18" charset="0"/>
                                          </a:rPr>
                                          <m:t>−</m:t>
                                        </m:r>
                                        <m:r>
                                          <m:rPr>
                                            <m:sty m:val="p"/>
                                          </m:rPr>
                                          <a:rPr lang="en-US" altLang="zh-TW" sz="1200">
                                            <a:solidFill>
                                              <a:srgbClr val="FF0000"/>
                                            </a:solidFill>
                                            <a:latin typeface="Cambria Math" panose="02040503050406030204" pitchFamily="18" charset="0"/>
                                            <a:ea typeface="Cambria Math" panose="02040503050406030204" pitchFamily="18" charset="0"/>
                                          </a:rPr>
                                          <m:t>s</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in</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mr>
                            <m:mr>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s</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in</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mr>
                          </m:m>
                        </m:e>
                      </m:d>
                      <m:d>
                        <m:dPr>
                          <m:begChr m:val="["/>
                          <m:endChr m:val="]"/>
                          <m:ctrlP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dPr>
                        <m:e>
                          <m:eqArr>
                            <m:eqArrPr>
                              <m:ctrlP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eqArrPr>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m:t>
                                  </m:r>
                                </m:sub>
                              </m:sSub>
                            </m:e>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e>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b="0" i="1" smtClean="0">
                                      <a:solidFill>
                                        <a:prstClr val="black"/>
                                      </a:solidFill>
                                      <a:latin typeface="Cambria Math" panose="02040503050406030204" pitchFamily="18" charset="0"/>
                                      <a:ea typeface="Cambria Math" panose="02040503050406030204" pitchFamily="18" charset="0"/>
                                    </a:rPr>
                                    <m:t>2</m:t>
                                  </m:r>
                                </m:sub>
                              </m:sSub>
                            </m:e>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b="0" i="1" smtClean="0">
                                      <a:solidFill>
                                        <a:prstClr val="black"/>
                                      </a:solidFill>
                                      <a:latin typeface="Cambria Math" panose="02040503050406030204" pitchFamily="18" charset="0"/>
                                      <a:ea typeface="Cambria Math" panose="02040503050406030204" pitchFamily="18" charset="0"/>
                                    </a:rPr>
                                    <m:t>3</m:t>
                                  </m:r>
                                </m:sub>
                              </m:sSub>
                            </m:e>
                            <m:e>
                              <m:r>
                                <a:rPr lang="en-US" altLang="zh-TW" sz="1200" i="1">
                                  <a:solidFill>
                                    <a:prstClr val="black"/>
                                  </a:solidFill>
                                  <a:latin typeface="Cambria Math" panose="02040503050406030204" pitchFamily="18" charset="0"/>
                                  <a:ea typeface="Cambria Math" panose="02040503050406030204" pitchFamily="18" charset="0"/>
                                </a:rPr>
                                <m:t>⋮</m:t>
                              </m:r>
                            </m:e>
                            <m:e>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2</m:t>
                                  </m:r>
                                  <m:r>
                                    <a:rPr kumimoji="0" lang="en-US" altLang="zh-TW"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𝑖</m:t>
                                  </m:r>
                                </m:sub>
                              </m:sSub>
                            </m:e>
                            <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b="0" i="1" smtClean="0">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r>
                                    <a:rPr lang="en-US" altLang="zh-TW" sz="1200" b="0" i="1" smtClean="0">
                                      <a:solidFill>
                                        <a:srgbClr val="FF0000"/>
                                      </a:solidFill>
                                      <a:latin typeface="Cambria Math" panose="02040503050406030204" pitchFamily="18" charset="0"/>
                                      <a:ea typeface="Cambria Math" panose="02040503050406030204" pitchFamily="18" charset="0"/>
                                    </a:rPr>
                                    <m:t>+1</m:t>
                                  </m:r>
                                </m:sub>
                              </m:sSub>
                            </m:e>
                            <m:e>
                              <m:r>
                                <a:rPr lang="en-US" altLang="zh-TW" sz="1200" i="1">
                                  <a:solidFill>
                                    <a:prstClr val="black"/>
                                  </a:solidFill>
                                  <a:latin typeface="Cambria Math" panose="02040503050406030204" pitchFamily="18" charset="0"/>
                                  <a:ea typeface="Cambria Math" panose="02040503050406030204" pitchFamily="18" charset="0"/>
                                </a:rPr>
                                <m:t>⋮</m:t>
                              </m:r>
                            </m:e>
                          </m:eqArr>
                        </m:e>
                      </m:d>
                    </m:oMath>
                  </m:oMathPara>
                </a14:m>
                <a:endParaRPr lang="zh-TW" altLang="en-US" dirty="0"/>
              </a:p>
            </p:txBody>
          </p:sp>
        </mc:Choice>
        <mc:Fallback xmlns="">
          <p:sp>
            <p:nvSpPr>
              <p:cNvPr id="34" name="文字方塊 33">
                <a:extLst>
                  <a:ext uri="{FF2B5EF4-FFF2-40B4-BE49-F238E27FC236}">
                    <a16:creationId xmlns:a16="http://schemas.microsoft.com/office/drawing/2014/main" id="{9320DAC2-A578-FDAB-0D7D-7C76D50F0F5A}"/>
                  </a:ext>
                </a:extLst>
              </p:cNvPr>
              <p:cNvSpPr txBox="1">
                <a:spLocks noRot="1" noChangeAspect="1" noMove="1" noResize="1" noEditPoints="1" noAdjustHandles="1" noChangeArrowheads="1" noChangeShapeType="1" noTextEdit="1"/>
              </p:cNvSpPr>
              <p:nvPr/>
            </p:nvSpPr>
            <p:spPr>
              <a:xfrm>
                <a:off x="5004048" y="4934972"/>
                <a:ext cx="2376264" cy="151836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5E331054-5827-7B11-EFAF-E06442BE4DF0}"/>
                  </a:ext>
                </a:extLst>
              </p:cNvPr>
              <p:cNvSpPr txBox="1"/>
              <p:nvPr/>
            </p:nvSpPr>
            <p:spPr>
              <a:xfrm>
                <a:off x="1891575" y="1735632"/>
                <a:ext cx="2016225" cy="476674"/>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sSup>
                        <m:sSupPr>
                          <m:ctrlPr>
                            <a:rPr lang="zh-TW" altLang="en-US" sz="1200" b="0" i="1" smtClean="0">
                              <a:latin typeface="Cambria Math" panose="02040503050406030204" pitchFamily="18" charset="0"/>
                              <a:ea typeface="Cambria Math" panose="02040503050406030204" pitchFamily="18" charset="0"/>
                            </a:rPr>
                          </m:ctrlPr>
                        </m:sSupPr>
                        <m:e>
                          <m:sSub>
                            <m:sSubPr>
                              <m:ctrlPr>
                                <a:rPr lang="zh-TW" altLang="en-US" sz="1200" b="0" i="1" smtClean="0">
                                  <a:latin typeface="Cambria Math" panose="02040503050406030204" pitchFamily="18" charset="0"/>
                                  <a:ea typeface="Cambria Math" panose="02040503050406030204" pitchFamily="18" charset="0"/>
                                </a:rPr>
                              </m:ctrlPr>
                            </m:sSubPr>
                            <m:e>
                              <m:r>
                                <a:rPr lang="zh-TW" altLang="en-US" sz="1200" b="0" i="1" smtClean="0">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𝑏𝑎𝑠𝑒</m:t>
                          </m:r>
                        </m:e>
                        <m:sup>
                          <m:r>
                            <a:rPr lang="en-US" altLang="zh-TW" sz="1200" b="0" i="1" smtClean="0">
                              <a:latin typeface="Cambria Math" panose="02040503050406030204" pitchFamily="18" charset="0"/>
                              <a:ea typeface="Cambria Math" panose="02040503050406030204" pitchFamily="18" charset="0"/>
                            </a:rPr>
                            <m:t>−</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2</m:t>
                              </m:r>
                              <m:r>
                                <a:rPr lang="en-US" altLang="zh-TW" sz="1200" b="0" i="1" smtClean="0">
                                  <a:latin typeface="Cambria Math" panose="02040503050406030204" pitchFamily="18" charset="0"/>
                                  <a:ea typeface="Cambria Math" panose="02040503050406030204" pitchFamily="18" charset="0"/>
                                </a:rPr>
                                <m:t>𝑖</m:t>
                              </m:r>
                            </m:num>
                            <m:den>
                              <m:r>
                                <a:rPr lang="en-US" altLang="zh-TW" sz="1200" b="0" i="1" smtClean="0">
                                  <a:latin typeface="Cambria Math" panose="02040503050406030204" pitchFamily="18" charset="0"/>
                                  <a:ea typeface="Cambria Math" panose="02040503050406030204" pitchFamily="18" charset="0"/>
                                </a:rPr>
                                <m:t>𝑑</m:t>
                              </m:r>
                            </m:den>
                          </m:f>
                        </m:sup>
                      </m:sSup>
                      <m:r>
                        <a:rPr lang="en-US" altLang="zh-TW" sz="1200" b="0" i="1" smtClean="0">
                          <a:latin typeface="Cambria Math" panose="02040503050406030204" pitchFamily="18" charset="0"/>
                          <a:ea typeface="Cambria Math" panose="02040503050406030204" pitchFamily="18" charset="0"/>
                        </a:rPr>
                        <m:t> , </m:t>
                      </m:r>
                      <m:r>
                        <a:rPr lang="en-US" altLang="zh-TW" sz="1200" b="0" i="1" smtClean="0">
                          <a:latin typeface="Cambria Math" panose="02040503050406030204" pitchFamily="18" charset="0"/>
                          <a:ea typeface="Cambria Math" panose="02040503050406030204" pitchFamily="18" charset="0"/>
                        </a:rPr>
                        <m:t>𝑖</m:t>
                      </m:r>
                      <m:r>
                        <a:rPr lang="en-US" altLang="zh-TW" sz="1200" b="0" i="1" smtClean="0">
                          <a:latin typeface="Cambria Math" panose="02040503050406030204" pitchFamily="18" charset="0"/>
                          <a:ea typeface="Cambria Math" panose="02040503050406030204" pitchFamily="18" charset="0"/>
                        </a:rPr>
                        <m:t>=0,1,…,</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𝑑</m:t>
                          </m:r>
                        </m:num>
                        <m:den>
                          <m:r>
                            <a:rPr lang="en-US" altLang="zh-TW" sz="1200" b="0" i="1" smtClean="0">
                              <a:latin typeface="Cambria Math" panose="02040503050406030204" pitchFamily="18" charset="0"/>
                              <a:ea typeface="Cambria Math" panose="02040503050406030204" pitchFamily="18" charset="0"/>
                            </a:rPr>
                            <m:t>2</m:t>
                          </m:r>
                        </m:den>
                      </m:f>
                      <m:r>
                        <a:rPr lang="en-US" altLang="zh-TW" sz="1200" b="0" i="1" smtClean="0">
                          <a:latin typeface="Cambria Math" panose="02040503050406030204" pitchFamily="18" charset="0"/>
                          <a:ea typeface="Cambria Math" panose="02040503050406030204" pitchFamily="18" charset="0"/>
                        </a:rPr>
                        <m:t>−1 </m:t>
                      </m:r>
                    </m:oMath>
                  </m:oMathPara>
                </a14:m>
                <a:endParaRPr lang="en-US" altLang="zh-TW" sz="1200" b="0" i="1" dirty="0">
                  <a:latin typeface="Cambria Math" panose="02040503050406030204" pitchFamily="18" charset="0"/>
                  <a:ea typeface="Cambria Math" panose="02040503050406030204" pitchFamily="18" charset="0"/>
                </a:endParaRPr>
              </a:p>
            </p:txBody>
          </p:sp>
        </mc:Choice>
        <mc:Fallback xmlns="">
          <p:sp>
            <p:nvSpPr>
              <p:cNvPr id="36" name="文字方塊 35">
                <a:extLst>
                  <a:ext uri="{FF2B5EF4-FFF2-40B4-BE49-F238E27FC236}">
                    <a16:creationId xmlns:a16="http://schemas.microsoft.com/office/drawing/2014/main" id="{5E331054-5827-7B11-EFAF-E06442BE4DF0}"/>
                  </a:ext>
                </a:extLst>
              </p:cNvPr>
              <p:cNvSpPr txBox="1">
                <a:spLocks noRot="1" noChangeAspect="1" noMove="1" noResize="1" noEditPoints="1" noAdjustHandles="1" noChangeArrowheads="1" noChangeShapeType="1" noTextEdit="1"/>
              </p:cNvSpPr>
              <p:nvPr/>
            </p:nvSpPr>
            <p:spPr>
              <a:xfrm>
                <a:off x="1891575" y="1735632"/>
                <a:ext cx="2016225" cy="476674"/>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E8C236E5-E62F-6B00-D01F-96BAF6DFEACE}"/>
                  </a:ext>
                </a:extLst>
              </p:cNvPr>
              <p:cNvSpPr txBox="1"/>
              <p:nvPr/>
            </p:nvSpPr>
            <p:spPr>
              <a:xfrm>
                <a:off x="539552" y="3140968"/>
                <a:ext cx="3672405" cy="1018760"/>
              </a:xfrm>
              <a:prstGeom prst="rect">
                <a:avLst/>
              </a:prstGeom>
              <a:noFill/>
            </p:spPr>
            <p:txBody>
              <a:bodyPr wrap="none" lIns="0" tIns="0" rIns="0" bIns="0" rtlCol="0" anchor="ctr" anchorCtr="0">
                <a:noAutofit/>
              </a:bodyPr>
              <a:lstStyle/>
              <a:p>
                <a:pPr algn="ctr">
                  <a:lnSpc>
                    <a:spcPct val="150000"/>
                  </a:lnSpc>
                </a:pPr>
                <a14:m>
                  <m:oMathPara xmlns:m="http://schemas.openxmlformats.org/officeDocument/2006/math">
                    <m:oMathParaPr>
                      <m:jc m:val="left"/>
                    </m:oMathParaPr>
                    <m:oMath>
                      <m:r>
                        <a:rPr lang="en-US" altLang="zh-TW" sz="1200" i="1" smtClean="0">
                          <a:solidFill>
                            <a:prstClr val="black"/>
                          </a:solidFill>
                          <a:latin typeface="Cambria Math" panose="02040503050406030204" pitchFamily="18" charset="0"/>
                        </a:rPr>
                        <m:t>𝑅𝑜𝑃𝐸</m:t>
                      </m:r>
                      <m:d>
                        <m:dPr>
                          <m:ctrlPr>
                            <a:rPr lang="en-US" altLang="zh-TW" sz="1200" i="1">
                              <a:solidFill>
                                <a:prstClr val="black"/>
                              </a:solidFill>
                              <a:latin typeface="Cambria Math" panose="02040503050406030204" pitchFamily="18" charset="0"/>
                            </a:rPr>
                          </m:ctrlPr>
                        </m:dPr>
                        <m:e>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𝑙</m:t>
                              </m:r>
                            </m:sub>
                          </m:sSub>
                        </m:e>
                      </m:d>
                    </m:oMath>
                  </m:oMathPara>
                </a14:m>
                <a:endParaRPr lang="en-US" altLang="zh-TW" sz="1200" i="1" dirty="0">
                  <a:solidFill>
                    <a:prstClr val="black"/>
                  </a:solidFill>
                  <a:latin typeface="Cambria Math" panose="02040503050406030204" pitchFamily="18" charset="0"/>
                </a:endParaRPr>
              </a:p>
              <a:p>
                <a:pPr algn="ctr">
                  <a:lnSpc>
                    <a:spcPct val="150000"/>
                  </a:lnSpc>
                </a:pPr>
                <a14:m>
                  <m:oMathPara xmlns:m="http://schemas.openxmlformats.org/officeDocument/2006/math">
                    <m:oMathParaPr>
                      <m:jc m:val="left"/>
                    </m:oMathParaPr>
                    <m:oMath>
                      <m:r>
                        <a:rPr lang="en-US" altLang="zh-TW" sz="1200" i="1">
                          <a:solidFill>
                            <a:prstClr val="black"/>
                          </a:solidFill>
                          <a:latin typeface="Cambria Math" panose="02040503050406030204" pitchFamily="18" charset="0"/>
                        </a:rPr>
                        <m:t>=</m:t>
                      </m:r>
                      <m:r>
                        <a:rPr lang="en-US" altLang="zh-TW" sz="1200" i="1">
                          <a:solidFill>
                            <a:prstClr val="black"/>
                          </a:solidFill>
                          <a:latin typeface="Cambria Math" panose="02040503050406030204" pitchFamily="18" charset="0"/>
                        </a:rPr>
                        <m:t>𝑅𝑜𝑃𝐸</m:t>
                      </m:r>
                      <m:d>
                        <m:dPr>
                          <m:ctrlPr>
                            <a:rPr lang="en-US" altLang="zh-TW" sz="1200" i="1">
                              <a:solidFill>
                                <a:prstClr val="black"/>
                              </a:solidFill>
                              <a:latin typeface="Cambria Math" panose="02040503050406030204" pitchFamily="18" charset="0"/>
                            </a:rPr>
                          </m:ctrlPr>
                        </m:dPr>
                        <m:e>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0</m:t>
                              </m:r>
                            </m:sub>
                          </m:sSub>
                          <m:r>
                            <a:rPr lang="en-US" altLang="zh-TW" sz="1200" i="1">
                              <a:solidFill>
                                <a:prstClr val="black"/>
                              </a:solidFill>
                              <a:latin typeface="Cambria Math" panose="02040503050406030204" pitchFamily="18" charset="0"/>
                            </a:rPr>
                            <m:t>,</m:t>
                          </m:r>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1</m:t>
                              </m:r>
                            </m:sub>
                          </m:sSub>
                          <m:r>
                            <a:rPr lang="en-US" altLang="zh-TW" sz="1200" i="1">
                              <a:solidFill>
                                <a:prstClr val="black"/>
                              </a:solidFill>
                              <a:latin typeface="Cambria Math" panose="02040503050406030204" pitchFamily="18" charset="0"/>
                            </a:rPr>
                            <m:t>,</m:t>
                          </m:r>
                          <m:r>
                            <a:rPr lang="en-US" altLang="zh-TW" sz="1200">
                              <a:solidFill>
                                <a:prstClr val="black"/>
                              </a:solidFill>
                              <a:latin typeface="Cambria Math" panose="02040503050406030204" pitchFamily="18" charset="0"/>
                            </a:rPr>
                            <m:t>…</m:t>
                          </m:r>
                          <m:r>
                            <a:rPr lang="en-US" altLang="zh-TW" sz="1200" b="0" i="1" smtClean="0">
                              <a:solidFill>
                                <a:prstClr val="black"/>
                              </a:solidFill>
                              <a:latin typeface="Cambria Math" panose="02040503050406030204" pitchFamily="18" charset="0"/>
                            </a:rPr>
                            <m:t>                       </m:t>
                          </m:r>
                          <m:r>
                            <a:rPr lang="en-US" altLang="zh-TW" sz="1200" i="1">
                              <a:solidFill>
                                <a:prstClr val="black"/>
                              </a:solidFill>
                              <a:latin typeface="Cambria Math" panose="02040503050406030204" pitchFamily="18" charset="0"/>
                            </a:rPr>
                            <m:t>,…</m:t>
                          </m:r>
                        </m:e>
                      </m:d>
                      <m:r>
                        <a:rPr lang="en-US" altLang="zh-TW" sz="1200">
                          <a:solidFill>
                            <a:prstClr val="black"/>
                          </a:solidFill>
                          <a:latin typeface="Cambria Math" panose="02040503050406030204" pitchFamily="18" charset="0"/>
                        </a:rPr>
                        <m:t> </m:t>
                      </m:r>
                    </m:oMath>
                  </m:oMathPara>
                </a14:m>
                <a:endParaRPr lang="en-US" altLang="zh-TW" sz="1200" dirty="0">
                  <a:solidFill>
                    <a:prstClr val="black"/>
                  </a:solidFill>
                  <a:latin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i="1">
                          <a:latin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sub>
                      </m:sSub>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𝑣</m:t>
                              </m:r>
                            </m:e>
                            <m:sub>
                              <m:r>
                                <a:rPr lang="en-US" altLang="zh-TW" sz="1200" i="1">
                                  <a:latin typeface="Cambria Math" panose="02040503050406030204" pitchFamily="18" charset="0"/>
                                </a:rPr>
                                <m:t>0</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e>
                      </m:d>
                      <m:r>
                        <a:rPr lang="az-Cyrl-AZ" altLang="zh-TW" sz="1200" i="1">
                          <a:latin typeface="Cambria Math" panose="02040503050406030204" pitchFamily="18" charset="0"/>
                          <a:ea typeface="Cambria Math" panose="02040503050406030204" pitchFamily="18" charset="0"/>
                        </a:rPr>
                        <m:t>ꚛ</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sub>
                      </m:sSub>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𝑣</m:t>
                              </m:r>
                            </m:e>
                            <m:sub>
                              <m:r>
                                <a:rPr lang="en-US" altLang="zh-TW" sz="1200" i="1">
                                  <a:latin typeface="Cambria Math" panose="02040503050406030204" pitchFamily="18" charset="0"/>
                                </a:rPr>
                                <m:t>2</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i="1">
                                  <a:latin typeface="Cambria Math" panose="02040503050406030204" pitchFamily="18" charset="0"/>
                                </a:rPr>
                                <m:t>𝑣</m:t>
                              </m:r>
                            </m:e>
                            <m:sub>
                              <m:r>
                                <a:rPr lang="en-US" altLang="zh-TW" sz="1200" i="1">
                                  <a:latin typeface="Cambria Math" panose="02040503050406030204" pitchFamily="18" charset="0"/>
                                </a:rPr>
                                <m:t>3</m:t>
                              </m:r>
                            </m:sub>
                          </m:sSub>
                        </m:e>
                      </m:d>
                      <m:r>
                        <a:rPr lang="az-Cyrl-AZ" altLang="zh-TW" sz="1200" i="1">
                          <a:latin typeface="Cambria Math" panose="02040503050406030204" pitchFamily="18" charset="0"/>
                          <a:ea typeface="Cambria Math" panose="02040503050406030204" pitchFamily="18" charset="0"/>
                        </a:rPr>
                        <m:t>ꚛ</m:t>
                      </m:r>
                      <m:r>
                        <a:rPr lang="en-US" altLang="zh-TW" sz="1200" i="1">
                          <a:latin typeface="Cambria Math" panose="02040503050406030204" pitchFamily="18" charset="0"/>
                          <a:ea typeface="Cambria Math" panose="02040503050406030204" pitchFamily="18" charset="0"/>
                        </a:rPr>
                        <m:t>…</m:t>
                      </m:r>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𝑅</m:t>
                          </m:r>
                        </m:e>
                        <m:sub>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sub>
                      </m:sSub>
                      <m:d>
                        <m:dPr>
                          <m:ctrlPr>
                            <a:rPr lang="en-US" altLang="zh-TW" sz="1200" i="1">
                              <a:solidFill>
                                <a:srgbClr val="FF0000"/>
                              </a:solidFill>
                              <a:latin typeface="Cambria Math" panose="02040503050406030204" pitchFamily="18" charset="0"/>
                            </a:rPr>
                          </m:ctrlPr>
                        </m:dPr>
                        <m:e>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𝑣</m:t>
                              </m:r>
                            </m:e>
                            <m:sub>
                              <m:r>
                                <a:rPr lang="en-US" altLang="zh-TW" sz="1200" i="1">
                                  <a:solidFill>
                                    <a:srgbClr val="FF0000"/>
                                  </a:solidFill>
                                  <a:latin typeface="Cambria Math" panose="02040503050406030204" pitchFamily="18" charset="0"/>
                                </a:rPr>
                                <m:t>𝑖</m:t>
                              </m:r>
                            </m:sub>
                          </m:sSub>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m:t>
                              </m:r>
                              <m:r>
                                <a:rPr lang="en-US" altLang="zh-TW" sz="1200" i="1">
                                  <a:solidFill>
                                    <a:srgbClr val="FF0000"/>
                                  </a:solidFill>
                                  <a:latin typeface="Cambria Math" panose="02040503050406030204" pitchFamily="18" charset="0"/>
                                </a:rPr>
                                <m:t>𝑣</m:t>
                              </m:r>
                            </m:e>
                            <m:sub>
                              <m:r>
                                <a:rPr lang="en-US" altLang="zh-TW" sz="1200" i="1">
                                  <a:solidFill>
                                    <a:srgbClr val="FF0000"/>
                                  </a:solidFill>
                                  <a:latin typeface="Cambria Math" panose="02040503050406030204" pitchFamily="18" charset="0"/>
                                </a:rPr>
                                <m:t>2</m:t>
                              </m:r>
                              <m:r>
                                <a:rPr lang="en-US" altLang="zh-TW" sz="1200" i="1">
                                  <a:solidFill>
                                    <a:srgbClr val="FF0000"/>
                                  </a:solidFill>
                                  <a:latin typeface="Cambria Math" panose="02040503050406030204" pitchFamily="18" charset="0"/>
                                </a:rPr>
                                <m:t>𝑖</m:t>
                              </m:r>
                              <m:r>
                                <a:rPr lang="en-US" altLang="zh-TW" sz="1200" i="1">
                                  <a:solidFill>
                                    <a:srgbClr val="FF0000"/>
                                  </a:solidFill>
                                  <a:latin typeface="Cambria Math" panose="02040503050406030204" pitchFamily="18" charset="0"/>
                                </a:rPr>
                                <m:t>+1</m:t>
                              </m:r>
                            </m:sub>
                          </m:sSub>
                        </m:e>
                      </m:d>
                      <m:r>
                        <a:rPr lang="az-Cyrl-AZ" altLang="zh-TW" sz="1200" i="1">
                          <a:latin typeface="Cambria Math" panose="02040503050406030204" pitchFamily="18" charset="0"/>
                          <a:ea typeface="Cambria Math" panose="02040503050406030204" pitchFamily="18" charset="0"/>
                        </a:rPr>
                        <m:t>ꚛ</m:t>
                      </m:r>
                      <m:r>
                        <a:rPr lang="en-US" altLang="zh-TW" sz="1200" i="1">
                          <a:latin typeface="Cambria Math" panose="02040503050406030204" pitchFamily="18" charset="0"/>
                          <a:ea typeface="Cambria Math" panose="02040503050406030204" pitchFamily="18" charset="0"/>
                        </a:rPr>
                        <m:t>…</m:t>
                      </m:r>
                    </m:oMath>
                  </m:oMathPara>
                </a14:m>
                <a:endParaRPr lang="en-US" altLang="zh-TW" sz="1200" i="1" dirty="0">
                  <a:latin typeface="Cambria Math" panose="02040503050406030204" pitchFamily="18" charset="0"/>
                </a:endParaRPr>
              </a:p>
            </p:txBody>
          </p:sp>
        </mc:Choice>
        <mc:Fallback xmlns="">
          <p:sp>
            <p:nvSpPr>
              <p:cNvPr id="40" name="文字方塊 39">
                <a:extLst>
                  <a:ext uri="{FF2B5EF4-FFF2-40B4-BE49-F238E27FC236}">
                    <a16:creationId xmlns:a16="http://schemas.microsoft.com/office/drawing/2014/main" id="{E8C236E5-E62F-6B00-D01F-96BAF6DFEACE}"/>
                  </a:ext>
                </a:extLst>
              </p:cNvPr>
              <p:cNvSpPr txBox="1">
                <a:spLocks noRot="1" noChangeAspect="1" noMove="1" noResize="1" noEditPoints="1" noAdjustHandles="1" noChangeArrowheads="1" noChangeShapeType="1" noTextEdit="1"/>
              </p:cNvSpPr>
              <p:nvPr/>
            </p:nvSpPr>
            <p:spPr>
              <a:xfrm>
                <a:off x="539552" y="3140968"/>
                <a:ext cx="3672405" cy="1018760"/>
              </a:xfrm>
              <a:prstGeom prst="rect">
                <a:avLst/>
              </a:prstGeom>
              <a:blipFill>
                <a:blip r:embed="rId7"/>
                <a:stretch>
                  <a:fillRect l="-14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5EE6B8B5-7E70-C752-6DAD-D8F22799D214}"/>
                  </a:ext>
                </a:extLst>
              </p:cNvPr>
              <p:cNvSpPr txBox="1"/>
              <p:nvPr/>
            </p:nvSpPr>
            <p:spPr>
              <a:xfrm>
                <a:off x="3059832" y="4928993"/>
                <a:ext cx="1872208" cy="1518364"/>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i="1" smtClean="0">
                          <a:solidFill>
                            <a:prstClr val="black"/>
                          </a:solidFill>
                          <a:latin typeface="Cambria Math" panose="02040503050406030204" pitchFamily="18" charset="0"/>
                          <a:ea typeface="Cambria Math" panose="02040503050406030204" pitchFamily="18" charset="0"/>
                        </a:rPr>
                        <m:t>⇒</m:t>
                      </m:r>
                      <m:d>
                        <m:dPr>
                          <m:begChr m:val="["/>
                          <m:endChr m:val="]"/>
                          <m:ctrlPr>
                            <a:rPr lang="en-US" altLang="zh-TW" sz="1200" i="1">
                              <a:solidFill>
                                <a:prstClr val="black"/>
                              </a:solidFill>
                              <a:latin typeface="Cambria Math" panose="02040503050406030204" pitchFamily="18" charset="0"/>
                              <a:ea typeface="Cambria Math" panose="02040503050406030204" pitchFamily="18" charset="0"/>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func>
                                <m:funcPr>
                                  <m:ctrlPr>
                                    <a:rPr lang="en-US" altLang="zh-TW" sz="1200" i="1">
                                      <a:latin typeface="Cambria Math" panose="02040503050406030204" pitchFamily="18" charset="0"/>
                                      <a:ea typeface="Cambria Math" panose="02040503050406030204" pitchFamily="18" charset="0"/>
                                    </a:rPr>
                                  </m:ctrlPr>
                                </m:funcPr>
                                <m:fName>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1" name="文字方塊 40">
                <a:extLst>
                  <a:ext uri="{FF2B5EF4-FFF2-40B4-BE49-F238E27FC236}">
                    <a16:creationId xmlns:a16="http://schemas.microsoft.com/office/drawing/2014/main" id="{5EE6B8B5-7E70-C752-6DAD-D8F22799D214}"/>
                  </a:ext>
                </a:extLst>
              </p:cNvPr>
              <p:cNvSpPr txBox="1">
                <a:spLocks noRot="1" noChangeAspect="1" noMove="1" noResize="1" noEditPoints="1" noAdjustHandles="1" noChangeArrowheads="1" noChangeShapeType="1" noTextEdit="1"/>
              </p:cNvSpPr>
              <p:nvPr/>
            </p:nvSpPr>
            <p:spPr>
              <a:xfrm>
                <a:off x="3059832" y="4928993"/>
                <a:ext cx="1872208" cy="1518364"/>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49BF8C33-E713-F6C4-5866-95AD37D15273}"/>
                  </a:ext>
                </a:extLst>
              </p:cNvPr>
              <p:cNvSpPr txBox="1"/>
              <p:nvPr/>
            </p:nvSpPr>
            <p:spPr>
              <a:xfrm>
                <a:off x="930730" y="4935189"/>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b="0" i="1"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US" altLang="zh-TW" sz="1200" i="1">
                              <a:solidFill>
                                <a:prstClr val="black"/>
                              </a:solidFill>
                              <a:latin typeface="Cambria Math" panose="02040503050406030204" pitchFamily="18" charset="0"/>
                              <a:ea typeface="Cambria Math" panose="02040503050406030204" pitchFamily="18" charset="0"/>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func>
                                <m:funcPr>
                                  <m:ctrlPr>
                                    <a:rPr lang="en-US" altLang="zh-TW" sz="1200" i="1">
                                      <a:latin typeface="Cambria Math" panose="02040503050406030204" pitchFamily="18" charset="0"/>
                                      <a:ea typeface="Cambria Math" panose="02040503050406030204" pitchFamily="18" charset="0"/>
                                    </a:rPr>
                                  </m:ctrlPr>
                                </m:funcPr>
                                <m:fName>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5" name="文字方塊 44">
                <a:extLst>
                  <a:ext uri="{FF2B5EF4-FFF2-40B4-BE49-F238E27FC236}">
                    <a16:creationId xmlns:a16="http://schemas.microsoft.com/office/drawing/2014/main" id="{49BF8C33-E713-F6C4-5866-95AD37D15273}"/>
                  </a:ext>
                </a:extLst>
              </p:cNvPr>
              <p:cNvSpPr txBox="1">
                <a:spLocks noRot="1" noChangeAspect="1" noMove="1" noResize="1" noEditPoints="1" noAdjustHandles="1" noChangeArrowheads="1" noChangeShapeType="1" noTextEdit="1"/>
              </p:cNvSpPr>
              <p:nvPr/>
            </p:nvSpPr>
            <p:spPr>
              <a:xfrm>
                <a:off x="930730" y="4935189"/>
                <a:ext cx="1781018" cy="485356"/>
              </a:xfrm>
              <a:prstGeom prst="rect">
                <a:avLst/>
              </a:prstGeom>
              <a:blipFill>
                <a:blip r:embed="rId9"/>
                <a:stretch>
                  <a:fillRect l="-20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B53BA721-5E37-3CAF-FB71-FA50D4078BCA}"/>
                  </a:ext>
                </a:extLst>
              </p:cNvPr>
              <p:cNvSpPr txBox="1"/>
              <p:nvPr/>
            </p:nvSpPr>
            <p:spPr>
              <a:xfrm>
                <a:off x="925334" y="5276529"/>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i="1" noProof="0"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US" altLang="zh-TW" sz="1200" i="1" smtClean="0">
                              <a:solidFill>
                                <a:prstClr val="black"/>
                              </a:solidFill>
                              <a:latin typeface="Cambria Math" panose="02040503050406030204" pitchFamily="18" charset="0"/>
                              <a:ea typeface="Cambria Math" panose="02040503050406030204" pitchFamily="18" charset="0"/>
                            </a:rPr>
                          </m:ctrlPr>
                        </m:dPr>
                        <m:e>
                          <m:eqArr>
                            <m:eqArrPr>
                              <m:ctrlPr>
                                <a:rPr lang="en-US" altLang="zh-TW" sz="1200" i="1" smtClean="0">
                                  <a:solidFill>
                                    <a:prstClr val="black"/>
                                  </a:solidFill>
                                  <a:latin typeface="Cambria Math" panose="02040503050406030204" pitchFamily="18" charset="0"/>
                                  <a:ea typeface="Cambria Math" panose="02040503050406030204" pitchFamily="18" charset="0"/>
                                </a:rPr>
                              </m:ctrlPr>
                            </m:eqArrPr>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b="0" i="1" smtClean="0">
                                      <a:solidFill>
                                        <a:prstClr val="black"/>
                                      </a:solidFill>
                                      <a:latin typeface="Cambria Math" panose="02040503050406030204" pitchFamily="18" charset="0"/>
                                      <a:ea typeface="Cambria Math" panose="02040503050406030204" pitchFamily="18" charset="0"/>
                                    </a:rPr>
                                    <m:t> </m:t>
                                  </m:r>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6" name="文字方塊 45">
                <a:extLst>
                  <a:ext uri="{FF2B5EF4-FFF2-40B4-BE49-F238E27FC236}">
                    <a16:creationId xmlns:a16="http://schemas.microsoft.com/office/drawing/2014/main" id="{B53BA721-5E37-3CAF-FB71-FA50D4078BCA}"/>
                  </a:ext>
                </a:extLst>
              </p:cNvPr>
              <p:cNvSpPr txBox="1">
                <a:spLocks noRot="1" noChangeAspect="1" noMove="1" noResize="1" noEditPoints="1" noAdjustHandles="1" noChangeArrowheads="1" noChangeShapeType="1" noTextEdit="1"/>
              </p:cNvSpPr>
              <p:nvPr/>
            </p:nvSpPr>
            <p:spPr>
              <a:xfrm>
                <a:off x="925334" y="5276529"/>
                <a:ext cx="1781018" cy="485356"/>
              </a:xfrm>
              <a:prstGeom prst="rect">
                <a:avLst/>
              </a:prstGeom>
              <a:blipFill>
                <a:blip r:embed="rId10"/>
                <a:stretch>
                  <a:fillRect l="-20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38DBAE69-A98E-B82A-FC3A-CE1B6E52F339}"/>
                  </a:ext>
                </a:extLst>
              </p:cNvPr>
              <p:cNvSpPr txBox="1"/>
              <p:nvPr/>
            </p:nvSpPr>
            <p:spPr>
              <a:xfrm>
                <a:off x="1780653" y="6309320"/>
                <a:ext cx="91440" cy="216024"/>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 </a:t>
                </a:r>
                <a14:m>
                  <m:oMath xmlns:m="http://schemas.openxmlformats.org/officeDocument/2006/math">
                    <m:r>
                      <a:rPr lang="en-US" altLang="zh-TW" sz="1200" i="1">
                        <a:solidFill>
                          <a:prstClr val="black"/>
                        </a:solidFill>
                        <a:latin typeface="Cambria Math" panose="02040503050406030204" pitchFamily="18" charset="0"/>
                        <a:ea typeface="Cambria Math" panose="02040503050406030204" pitchFamily="18" charset="0"/>
                      </a:rPr>
                      <m:t>⋮</m:t>
                    </m:r>
                  </m:oMath>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7" name="文字方塊 46">
                <a:extLst>
                  <a:ext uri="{FF2B5EF4-FFF2-40B4-BE49-F238E27FC236}">
                    <a16:creationId xmlns:a16="http://schemas.microsoft.com/office/drawing/2014/main" id="{38DBAE69-A98E-B82A-FC3A-CE1B6E52F339}"/>
                  </a:ext>
                </a:extLst>
              </p:cNvPr>
              <p:cNvSpPr txBox="1">
                <a:spLocks noRot="1" noChangeAspect="1" noMove="1" noResize="1" noEditPoints="1" noAdjustHandles="1" noChangeArrowheads="1" noChangeShapeType="1" noTextEdit="1"/>
              </p:cNvSpPr>
              <p:nvPr/>
            </p:nvSpPr>
            <p:spPr>
              <a:xfrm>
                <a:off x="1780653" y="6309320"/>
                <a:ext cx="91440" cy="216024"/>
              </a:xfrm>
              <a:prstGeom prst="rect">
                <a:avLst/>
              </a:prstGeom>
              <a:blipFill>
                <a:blip r:embed="rId11"/>
                <a:stretch>
                  <a:fillRect l="-13333" r="-4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6219F9C4-8249-2BDF-9852-9F91F32180E9}"/>
                  </a:ext>
                </a:extLst>
              </p:cNvPr>
              <p:cNvSpPr txBox="1"/>
              <p:nvPr/>
            </p:nvSpPr>
            <p:spPr>
              <a:xfrm>
                <a:off x="925334" y="5852593"/>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i="1" noProof="0"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US" altLang="zh-TW" sz="1200" i="1">
                              <a:solidFill>
                                <a:prstClr val="black"/>
                              </a:solidFill>
                              <a:latin typeface="Cambria Math" panose="02040503050406030204" pitchFamily="18" charset="0"/>
                              <a:ea typeface="Cambria Math" panose="02040503050406030204" pitchFamily="18" charset="0"/>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8" name="文字方塊 47">
                <a:extLst>
                  <a:ext uri="{FF2B5EF4-FFF2-40B4-BE49-F238E27FC236}">
                    <a16:creationId xmlns:a16="http://schemas.microsoft.com/office/drawing/2014/main" id="{6219F9C4-8249-2BDF-9852-9F91F32180E9}"/>
                  </a:ext>
                </a:extLst>
              </p:cNvPr>
              <p:cNvSpPr txBox="1">
                <a:spLocks noRot="1" noChangeAspect="1" noMove="1" noResize="1" noEditPoints="1" noAdjustHandles="1" noChangeArrowheads="1" noChangeShapeType="1" noTextEdit="1"/>
              </p:cNvSpPr>
              <p:nvPr/>
            </p:nvSpPr>
            <p:spPr>
              <a:xfrm>
                <a:off x="925334" y="5852593"/>
                <a:ext cx="1781018" cy="485356"/>
              </a:xfrm>
              <a:prstGeom prst="rect">
                <a:avLst/>
              </a:prstGeom>
              <a:blipFill>
                <a:blip r:embed="rId12"/>
                <a:stretch>
                  <a:fillRect l="-2055" r="-23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8710FAEE-DC95-7B35-38E1-3851B10D3482}"/>
                  </a:ext>
                </a:extLst>
              </p:cNvPr>
              <p:cNvSpPr txBox="1"/>
              <p:nvPr/>
            </p:nvSpPr>
            <p:spPr>
              <a:xfrm>
                <a:off x="1763688" y="5733256"/>
                <a:ext cx="91440" cy="216024"/>
              </a:xfrm>
              <a:prstGeom prst="rect">
                <a:avLst/>
              </a:prstGeom>
              <a:noFill/>
            </p:spPr>
            <p:txBody>
              <a:bodyPr wrap="none" lIns="0" tIns="0" rIns="0" bIns="0" anchor="ctr" anchorCtr="1">
                <a:noAutofit/>
              </a:bodyPr>
              <a:lstStyle/>
              <a:p>
                <a:pPr algn="ctr"/>
                <a14:m>
                  <m:oMath xmlns:m="http://schemas.openxmlformats.org/officeDocument/2006/math">
                    <m:r>
                      <a:rPr lang="en-US" altLang="zh-TW" sz="1200" b="0" i="1" smtClean="0">
                        <a:solidFill>
                          <a:prstClr val="black"/>
                        </a:solidFill>
                        <a:latin typeface="Cambria Math" panose="02040503050406030204" pitchFamily="18" charset="0"/>
                        <a:ea typeface="Cambria Math" panose="02040503050406030204" pitchFamily="18" charset="0"/>
                      </a:rPr>
                      <m:t> </m:t>
                    </m:r>
                  </m:oMath>
                </a14:m>
                <a:r>
                  <a:rPr lang="en-US" altLang="zh-TW" sz="1200" dirty="0">
                    <a:solidFill>
                      <a:prstClr val="black"/>
                    </a:solidFill>
                    <a:ea typeface="Cambria Math" panose="02040503050406030204" pitchFamily="18" charset="0"/>
                  </a:rPr>
                  <a:t> </a:t>
                </a:r>
                <a14:m>
                  <m:oMath xmlns:m="http://schemas.openxmlformats.org/officeDocument/2006/math">
                    <m:r>
                      <a:rPr lang="en-US" altLang="zh-TW" sz="1200" i="1">
                        <a:solidFill>
                          <a:prstClr val="black"/>
                        </a:solidFill>
                        <a:latin typeface="Cambria Math" panose="02040503050406030204" pitchFamily="18" charset="0"/>
                        <a:ea typeface="Cambria Math" panose="02040503050406030204" pitchFamily="18" charset="0"/>
                      </a:rPr>
                      <m:t>⋮</m:t>
                    </m:r>
                  </m:oMath>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9" name="文字方塊 48">
                <a:extLst>
                  <a:ext uri="{FF2B5EF4-FFF2-40B4-BE49-F238E27FC236}">
                    <a16:creationId xmlns:a16="http://schemas.microsoft.com/office/drawing/2014/main" id="{8710FAEE-DC95-7B35-38E1-3851B10D3482}"/>
                  </a:ext>
                </a:extLst>
              </p:cNvPr>
              <p:cNvSpPr txBox="1">
                <a:spLocks noRot="1" noChangeAspect="1" noMove="1" noResize="1" noEditPoints="1" noAdjustHandles="1" noChangeArrowheads="1" noChangeShapeType="1" noTextEdit="1"/>
              </p:cNvSpPr>
              <p:nvPr/>
            </p:nvSpPr>
            <p:spPr>
              <a:xfrm>
                <a:off x="1763688" y="5733256"/>
                <a:ext cx="91440" cy="216024"/>
              </a:xfrm>
              <a:prstGeom prst="rect">
                <a:avLst/>
              </a:prstGeom>
              <a:blipFill>
                <a:blip r:embed="rId13"/>
                <a:stretch>
                  <a:fillRect l="-20000" r="-66667"/>
                </a:stretch>
              </a:blipFill>
            </p:spPr>
            <p:txBody>
              <a:bodyPr/>
              <a:lstStyle/>
              <a:p>
                <a:r>
                  <a:rPr lang="zh-TW" altLang="en-US">
                    <a:noFill/>
                  </a:rPr>
                  <a:t> </a:t>
                </a:r>
              </a:p>
            </p:txBody>
          </p:sp>
        </mc:Fallback>
      </mc:AlternateContent>
      <p:sp>
        <p:nvSpPr>
          <p:cNvPr id="50" name="左大括弧 49">
            <a:extLst>
              <a:ext uri="{FF2B5EF4-FFF2-40B4-BE49-F238E27FC236}">
                <a16:creationId xmlns:a16="http://schemas.microsoft.com/office/drawing/2014/main" id="{A127C043-67A0-1EB0-F629-CF6716731514}"/>
              </a:ext>
            </a:extLst>
          </p:cNvPr>
          <p:cNvSpPr/>
          <p:nvPr/>
        </p:nvSpPr>
        <p:spPr>
          <a:xfrm rot="16200000">
            <a:off x="3419134" y="1905361"/>
            <a:ext cx="133284" cy="5628834"/>
          </a:xfrm>
          <a:prstGeom prst="leftBrace">
            <a:avLst>
              <a:gd name="adj1" fmla="val 13879"/>
              <a:gd name="adj2" fmla="val 7406"/>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5FFBAF91-F5A1-E1C9-9298-0FDBD8F3E358}"/>
                  </a:ext>
                </a:extLst>
              </p:cNvPr>
              <p:cNvSpPr txBox="1"/>
              <p:nvPr/>
            </p:nvSpPr>
            <p:spPr>
              <a:xfrm>
                <a:off x="323528" y="2353798"/>
                <a:ext cx="214997" cy="196235"/>
              </a:xfrm>
              <a:prstGeom prst="rect">
                <a:avLst/>
              </a:prstGeom>
              <a:solidFill>
                <a:schemeClr val="bg1">
                  <a:alpha val="40000"/>
                </a:schemeClr>
              </a:solidFill>
            </p:spPr>
            <p:txBody>
              <a:bodyPr wrap="none" lIns="0" tIns="0" rIns="0" bIns="0" rtlCol="0" anchor="ctr" anchorCtr="1">
                <a:noAutofit/>
              </a:bodyPr>
              <a:lstStyle/>
              <a:p>
                <a:pPr/>
                <a14:m>
                  <m:oMathPara xmlns:m="http://schemas.openxmlformats.org/officeDocument/2006/math">
                    <m:oMath>
                      <m:sSub>
                        <m:sSubPr>
                          <m:ctrlPr>
                            <a:rPr lang="en-US" altLang="zh-TW" i="1">
                              <a:solidFill>
                                <a:prstClr val="black"/>
                              </a:solidFill>
                              <a:latin typeface="Cambria Math" panose="02040503050406030204" pitchFamily="18" charset="0"/>
                            </a:rPr>
                          </m:ctrlPr>
                        </m:sSubPr>
                        <m:e>
                          <m:r>
                            <a:rPr lang="en-US" altLang="zh-TW" i="1">
                              <a:solidFill>
                                <a:prstClr val="black"/>
                              </a:solidFill>
                              <a:latin typeface="Cambria Math" panose="02040503050406030204" pitchFamily="18" charset="0"/>
                            </a:rPr>
                            <m:t>𝑣</m:t>
                          </m:r>
                        </m:e>
                        <m:sub>
                          <m:r>
                            <a:rPr lang="en-US" altLang="zh-TW" i="1">
                              <a:solidFill>
                                <a:prstClr val="black"/>
                              </a:solidFill>
                              <a:latin typeface="Cambria Math" panose="02040503050406030204" pitchFamily="18" charset="0"/>
                            </a:rPr>
                            <m:t>𝑙</m:t>
                          </m:r>
                        </m:sub>
                      </m:sSub>
                    </m:oMath>
                  </m:oMathPara>
                </a14:m>
                <a:endParaRPr lang="en-US" altLang="zh-TW" baseline="-25000" dirty="0">
                  <a:solidFill>
                    <a:schemeClr val="accent1"/>
                  </a:solidFill>
                  <a:latin typeface="STXingkai" panose="020B0503020204020204" pitchFamily="2" charset="-122"/>
                  <a:ea typeface="STXingkai" panose="020B0503020204020204" pitchFamily="2" charset="-122"/>
                </a:endParaRPr>
              </a:p>
            </p:txBody>
          </p:sp>
        </mc:Choice>
        <mc:Fallback xmlns="">
          <p:sp>
            <p:nvSpPr>
              <p:cNvPr id="52" name="文字方塊 51">
                <a:extLst>
                  <a:ext uri="{FF2B5EF4-FFF2-40B4-BE49-F238E27FC236}">
                    <a16:creationId xmlns:a16="http://schemas.microsoft.com/office/drawing/2014/main" id="{5FFBAF91-F5A1-E1C9-9298-0FDBD8F3E358}"/>
                  </a:ext>
                </a:extLst>
              </p:cNvPr>
              <p:cNvSpPr txBox="1">
                <a:spLocks noRot="1" noChangeAspect="1" noMove="1" noResize="1" noEditPoints="1" noAdjustHandles="1" noChangeArrowheads="1" noChangeShapeType="1" noTextEdit="1"/>
              </p:cNvSpPr>
              <p:nvPr/>
            </p:nvSpPr>
            <p:spPr>
              <a:xfrm>
                <a:off x="323528" y="2353798"/>
                <a:ext cx="214997" cy="196235"/>
              </a:xfrm>
              <a:prstGeom prst="rect">
                <a:avLst/>
              </a:prstGeom>
              <a:blipFill>
                <a:blip r:embed="rId14"/>
                <a:stretch>
                  <a:fillRect l="-31429" r="-11429" b="-50000"/>
                </a:stretch>
              </a:blipFill>
            </p:spPr>
            <p:txBody>
              <a:bodyPr/>
              <a:lstStyle/>
              <a:p>
                <a:r>
                  <a:rPr lang="zh-TW" altLang="en-US">
                    <a:noFill/>
                  </a:rPr>
                  <a:t> </a:t>
                </a:r>
              </a:p>
            </p:txBody>
          </p:sp>
        </mc:Fallback>
      </mc:AlternateContent>
      <p:sp>
        <p:nvSpPr>
          <p:cNvPr id="57" name="左大括弧 56">
            <a:extLst>
              <a:ext uri="{FF2B5EF4-FFF2-40B4-BE49-F238E27FC236}">
                <a16:creationId xmlns:a16="http://schemas.microsoft.com/office/drawing/2014/main" id="{4B71AF04-8281-A938-B2D7-9B5E3236A288}"/>
              </a:ext>
            </a:extLst>
          </p:cNvPr>
          <p:cNvSpPr/>
          <p:nvPr/>
        </p:nvSpPr>
        <p:spPr>
          <a:xfrm>
            <a:off x="784490" y="5097457"/>
            <a:ext cx="135448" cy="1295665"/>
          </a:xfrm>
          <a:prstGeom prst="leftBrace">
            <a:avLst>
              <a:gd name="adj1" fmla="val 13879"/>
              <a:gd name="adj2" fmla="val 47568"/>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pSp>
        <p:nvGrpSpPr>
          <p:cNvPr id="70" name="群組 69">
            <a:extLst>
              <a:ext uri="{FF2B5EF4-FFF2-40B4-BE49-F238E27FC236}">
                <a16:creationId xmlns:a16="http://schemas.microsoft.com/office/drawing/2014/main" id="{EA2AD1D5-9877-95D6-BB11-D79D3C7B4D88}"/>
              </a:ext>
            </a:extLst>
          </p:cNvPr>
          <p:cNvGrpSpPr/>
          <p:nvPr/>
        </p:nvGrpSpPr>
        <p:grpSpPr>
          <a:xfrm>
            <a:off x="539552" y="4018020"/>
            <a:ext cx="5715350" cy="539765"/>
            <a:chOff x="2195736" y="2502079"/>
            <a:chExt cx="5715350" cy="539765"/>
          </a:xfrm>
        </p:grpSpPr>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2E507043-57B8-FE60-7B87-8DA1FE602112}"/>
                    </a:ext>
                  </a:extLst>
                </p:cNvPr>
                <p:cNvSpPr txBox="1"/>
                <p:nvPr/>
              </p:nvSpPr>
              <p:spPr>
                <a:xfrm>
                  <a:off x="2195736" y="2502079"/>
                  <a:ext cx="1693176" cy="539765"/>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mr>
                            </m:m>
                          </m:e>
                        </m:d>
                        <m:d>
                          <m:dPr>
                            <m:begChr m:val="["/>
                            <m:endChr m:val="]"/>
                            <m:ctrlPr>
                              <a:rPr lang="en-US" altLang="zh-TW" sz="1200" i="1" smtClean="0">
                                <a:latin typeface="Cambria Math" panose="02040503050406030204" pitchFamily="18" charset="0"/>
                                <a:ea typeface="Cambria Math" panose="02040503050406030204" pitchFamily="18" charset="0"/>
                              </a:rPr>
                            </m:ctrlPr>
                          </m:dPr>
                          <m:e>
                            <m:eqArr>
                              <m:eqArrPr>
                                <m:ctrlPr>
                                  <a:rPr lang="en-US" altLang="zh-TW" sz="1200" i="1" smtClean="0">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0</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1</m:t>
                                    </m:r>
                                  </m:sub>
                                </m:sSub>
                              </m:e>
                            </m:eqArr>
                          </m:e>
                        </m:d>
                      </m:oMath>
                    </m:oMathPara>
                  </a14:m>
                  <a:endParaRPr lang="en-US" altLang="zh-TW" sz="1200" dirty="0">
                    <a:ea typeface="Cambria Math" panose="02040503050406030204" pitchFamily="18" charset="0"/>
                  </a:endParaRPr>
                </a:p>
              </p:txBody>
            </p:sp>
          </mc:Choice>
          <mc:Fallback xmlns="">
            <p:sp>
              <p:nvSpPr>
                <p:cNvPr id="58" name="文字方塊 57">
                  <a:extLst>
                    <a:ext uri="{FF2B5EF4-FFF2-40B4-BE49-F238E27FC236}">
                      <a16:creationId xmlns:a16="http://schemas.microsoft.com/office/drawing/2014/main" id="{2E507043-57B8-FE60-7B87-8DA1FE602112}"/>
                    </a:ext>
                  </a:extLst>
                </p:cNvPr>
                <p:cNvSpPr txBox="1">
                  <a:spLocks noRot="1" noChangeAspect="1" noMove="1" noResize="1" noEditPoints="1" noAdjustHandles="1" noChangeArrowheads="1" noChangeShapeType="1" noTextEdit="1"/>
                </p:cNvSpPr>
                <p:nvPr/>
              </p:nvSpPr>
              <p:spPr>
                <a:xfrm>
                  <a:off x="2195736" y="2502079"/>
                  <a:ext cx="1693176" cy="539765"/>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6CCF481D-D445-2CC3-F70B-BF29361BC989}"/>
                    </a:ext>
                  </a:extLst>
                </p:cNvPr>
                <p:cNvSpPr txBox="1"/>
                <p:nvPr/>
              </p:nvSpPr>
              <p:spPr>
                <a:xfrm>
                  <a:off x="4067944" y="2502079"/>
                  <a:ext cx="1552651" cy="539765"/>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𝑙</m:t>
                                          </m:r>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mr>
                            </m:m>
                          </m:e>
                        </m:d>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2</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3</m:t>
                                    </m:r>
                                  </m:sub>
                                </m:sSub>
                              </m:e>
                            </m:eqArr>
                          </m:e>
                        </m:d>
                      </m:oMath>
                    </m:oMathPara>
                  </a14:m>
                  <a:endParaRPr lang="en-US" altLang="zh-TW" sz="1200" dirty="0">
                    <a:ea typeface="Cambria Math" panose="02040503050406030204" pitchFamily="18" charset="0"/>
                  </a:endParaRPr>
                </a:p>
              </p:txBody>
            </p:sp>
          </mc:Choice>
          <mc:Fallback xmlns="">
            <p:sp>
              <p:nvSpPr>
                <p:cNvPr id="59" name="文字方塊 58">
                  <a:extLst>
                    <a:ext uri="{FF2B5EF4-FFF2-40B4-BE49-F238E27FC236}">
                      <a16:creationId xmlns:a16="http://schemas.microsoft.com/office/drawing/2014/main" id="{6CCF481D-D445-2CC3-F70B-BF29361BC989}"/>
                    </a:ext>
                  </a:extLst>
                </p:cNvPr>
                <p:cNvSpPr txBox="1">
                  <a:spLocks noRot="1" noChangeAspect="1" noMove="1" noResize="1" noEditPoints="1" noAdjustHandles="1" noChangeArrowheads="1" noChangeShapeType="1" noTextEdit="1"/>
                </p:cNvSpPr>
                <p:nvPr/>
              </p:nvSpPr>
              <p:spPr>
                <a:xfrm>
                  <a:off x="4067944" y="2502079"/>
                  <a:ext cx="1552651" cy="539765"/>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DB0A07EF-8C6D-421E-750F-D9F271AB6482}"/>
                    </a:ext>
                  </a:extLst>
                </p:cNvPr>
                <p:cNvSpPr txBox="1"/>
                <p:nvPr/>
              </p:nvSpPr>
              <p:spPr>
                <a:xfrm>
                  <a:off x="5887766" y="2502079"/>
                  <a:ext cx="1792440" cy="539765"/>
                </a:xfrm>
                <a:prstGeom prst="rect">
                  <a:avLst/>
                </a:prstGeom>
                <a:noFill/>
              </p:spPr>
              <p:txBody>
                <a:bodyPr wrap="none" lIns="0" tIns="0" rIns="0" bIns="0" rtlCol="0" anchor="ctr" anchorCtr="0">
                  <a:noAutofit/>
                </a:bodyPr>
                <a:lstStyle/>
                <a:p>
                  <a:pPr>
                    <a:lnSpc>
                      <a:spcPct val="150000"/>
                    </a:lnSpc>
                  </a:pPr>
                  <a14:m>
                    <m:oMath xmlns:m="http://schemas.openxmlformats.org/officeDocument/2006/math">
                      <m:d>
                        <m:dPr>
                          <m:begChr m:val="["/>
                          <m:endChr m:val="]"/>
                          <m:ctrlPr>
                            <a:rPr lang="en-US" altLang="zh-TW" sz="1200" i="1" smtClean="0">
                              <a:solidFill>
                                <a:srgbClr val="FF0000"/>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smtClean="0">
                                  <a:solidFill>
                                    <a:srgbClr val="FF0000"/>
                                  </a:solidFill>
                                  <a:latin typeface="Cambria Math" panose="02040503050406030204" pitchFamily="18" charset="0"/>
                                  <a:ea typeface="Cambria Math" panose="02040503050406030204" pitchFamily="18" charset="0"/>
                                </a:rPr>
                              </m:ctrlPr>
                            </m:mPr>
                            <m:m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a:rPr lang="en-US" altLang="zh-TW" sz="1200">
                                        <a:solidFill>
                                          <a:srgbClr val="FF0000"/>
                                        </a:solidFill>
                                        <a:latin typeface="Cambria Math" panose="02040503050406030204" pitchFamily="18" charset="0"/>
                                        <a:ea typeface="Cambria Math" panose="02040503050406030204" pitchFamily="18" charset="0"/>
                                      </a:rPr>
                                      <m:t>−</m:t>
                                    </m:r>
                                    <m:r>
                                      <m:rPr>
                                        <m:sty m:val="p"/>
                                      </m:rPr>
                                      <a:rPr lang="en-US" altLang="zh-TW" sz="1200">
                                        <a:solidFill>
                                          <a:srgbClr val="FF0000"/>
                                        </a:solidFill>
                                        <a:latin typeface="Cambria Math" panose="02040503050406030204" pitchFamily="18" charset="0"/>
                                        <a:ea typeface="Cambria Math" panose="02040503050406030204" pitchFamily="18" charset="0"/>
                                      </a:rPr>
                                      <m:t>sin</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sin</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cos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solidFill>
                                <a:srgbClr val="FF0000"/>
                              </a:solidFill>
                              <a:latin typeface="Cambria Math" panose="02040503050406030204" pitchFamily="18" charset="0"/>
                              <a:ea typeface="Cambria Math" panose="02040503050406030204" pitchFamily="18" charset="0"/>
                            </a:rPr>
                          </m:ctrlPr>
                        </m:dPr>
                        <m:e>
                          <m:eqArr>
                            <m:eqArrPr>
                              <m:ctrlPr>
                                <a:rPr lang="en-US" altLang="zh-TW" sz="1200" i="1" smtClean="0">
                                  <a:solidFill>
                                    <a:srgbClr val="FF0000"/>
                                  </a:solidFill>
                                  <a:latin typeface="Cambria Math" panose="02040503050406030204" pitchFamily="18" charset="0"/>
                                  <a:ea typeface="Cambria Math" panose="02040503050406030204" pitchFamily="18" charset="0"/>
                                </a:rPr>
                              </m:ctrlPr>
                            </m:eqArrPr>
                            <m:e>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𝑣</m:t>
                                  </m:r>
                                </m:e>
                                <m:sub>
                                  <m:r>
                                    <a:rPr lang="en-US" altLang="zh-TW" sz="1200" b="0" i="1" smtClean="0">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sub>
                              </m:sSub>
                            </m:e>
                            <m:e>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r>
                                    <a:rPr lang="en-US" altLang="zh-TW" sz="1200" b="0" i="1" smtClean="0">
                                      <a:solidFill>
                                        <a:srgbClr val="FF0000"/>
                                      </a:solidFill>
                                      <a:latin typeface="Cambria Math" panose="02040503050406030204" pitchFamily="18" charset="0"/>
                                      <a:ea typeface="Cambria Math" panose="02040503050406030204" pitchFamily="18" charset="0"/>
                                    </a:rPr>
                                    <m:t>+1</m:t>
                                  </m:r>
                                </m:sub>
                              </m:sSub>
                            </m:e>
                          </m:eqArr>
                        </m:e>
                      </m:d>
                    </m:oMath>
                  </a14:m>
                  <a:r>
                    <a:rPr lang="az-Cyrl-AZ" altLang="zh-TW" sz="1200" dirty="0">
                      <a:ea typeface="Cambria Math" panose="02040503050406030204" pitchFamily="18" charset="0"/>
                    </a:rPr>
                    <a:t> </a:t>
                  </a:r>
                  <a:endParaRPr lang="en-US" altLang="zh-TW" sz="1200" dirty="0">
                    <a:ea typeface="Cambria Math" panose="02040503050406030204" pitchFamily="18" charset="0"/>
                  </a:endParaRPr>
                </a:p>
              </p:txBody>
            </p:sp>
          </mc:Choice>
          <mc:Fallback xmlns="">
            <p:sp>
              <p:nvSpPr>
                <p:cNvPr id="60" name="文字方塊 59">
                  <a:extLst>
                    <a:ext uri="{FF2B5EF4-FFF2-40B4-BE49-F238E27FC236}">
                      <a16:creationId xmlns:a16="http://schemas.microsoft.com/office/drawing/2014/main" id="{DB0A07EF-8C6D-421E-750F-D9F271AB6482}"/>
                    </a:ext>
                  </a:extLst>
                </p:cNvPr>
                <p:cNvSpPr txBox="1">
                  <a:spLocks noRot="1" noChangeAspect="1" noMove="1" noResize="1" noEditPoints="1" noAdjustHandles="1" noChangeArrowheads="1" noChangeShapeType="1" noTextEdit="1"/>
                </p:cNvSpPr>
                <p:nvPr/>
              </p:nvSpPr>
              <p:spPr>
                <a:xfrm>
                  <a:off x="5887766" y="2502079"/>
                  <a:ext cx="1792440" cy="539765"/>
                </a:xfrm>
                <a:prstGeom prst="rect">
                  <a:avLst/>
                </a:prstGeom>
                <a:blipFill>
                  <a:blip r:embed="rId17"/>
                  <a:stretch>
                    <a:fillRect b="-11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文字方塊 64">
                  <a:extLst>
                    <a:ext uri="{FF2B5EF4-FFF2-40B4-BE49-F238E27FC236}">
                      <a16:creationId xmlns:a16="http://schemas.microsoft.com/office/drawing/2014/main" id="{87104EDB-3AA3-9E42-67EE-AB4142DBF392}"/>
                    </a:ext>
                  </a:extLst>
                </p:cNvPr>
                <p:cNvSpPr txBox="1"/>
                <p:nvPr/>
              </p:nvSpPr>
              <p:spPr>
                <a:xfrm>
                  <a:off x="3906625" y="2660357"/>
                  <a:ext cx="211482" cy="307777"/>
                </a:xfrm>
                <a:prstGeom prst="rect">
                  <a:avLst/>
                </a:prstGeom>
                <a:noFill/>
              </p:spPr>
              <p:txBody>
                <a:bodyPr wrap="none" lIns="0" tIns="0" rIns="0" bIns="0" rtlCol="0" anchor="ctr" anchorCtr="1">
                  <a:noAutofit/>
                </a:bodyPr>
                <a:lstStyle/>
                <a:p>
                  <a:pPr/>
                  <a14:m>
                    <m:oMathPara xmlns:m="http://schemas.openxmlformats.org/officeDocument/2006/math">
                      <m:oMath>
                        <m:r>
                          <a:rPr lang="az-Cyrl-AZ" altLang="zh-TW" sz="1400">
                            <a:solidFill>
                              <a:prstClr val="black"/>
                            </a:solidFill>
                            <a:latin typeface="Cambria Math" panose="02040503050406030204" pitchFamily="18" charset="0"/>
                            <a:ea typeface="Cambria Math" panose="02040503050406030204" pitchFamily="18" charset="0"/>
                          </a:rPr>
                          <m:t>ꚛ</m:t>
                        </m:r>
                      </m:oMath>
                    </m:oMathPara>
                  </a14:m>
                  <a:endParaRPr lang="zh-TW" altLang="en-US" sz="1400" dirty="0"/>
                </a:p>
              </p:txBody>
            </p:sp>
          </mc:Choice>
          <mc:Fallback xmlns="">
            <p:sp>
              <p:nvSpPr>
                <p:cNvPr id="65" name="文字方塊 64">
                  <a:extLst>
                    <a:ext uri="{FF2B5EF4-FFF2-40B4-BE49-F238E27FC236}">
                      <a16:creationId xmlns:a16="http://schemas.microsoft.com/office/drawing/2014/main" id="{87104EDB-3AA3-9E42-67EE-AB4142DBF392}"/>
                    </a:ext>
                  </a:extLst>
                </p:cNvPr>
                <p:cNvSpPr txBox="1">
                  <a:spLocks noRot="1" noChangeAspect="1" noMove="1" noResize="1" noEditPoints="1" noAdjustHandles="1" noChangeArrowheads="1" noChangeShapeType="1" noTextEdit="1"/>
                </p:cNvSpPr>
                <p:nvPr/>
              </p:nvSpPr>
              <p:spPr>
                <a:xfrm>
                  <a:off x="3906625" y="2660357"/>
                  <a:ext cx="211482" cy="307777"/>
                </a:xfrm>
                <a:prstGeom prst="rect">
                  <a:avLst/>
                </a:prstGeom>
                <a:blipFill>
                  <a:blip r:embed="rId18"/>
                  <a:stretch>
                    <a:fillRect l="-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8" name="文字方塊 67">
                  <a:extLst>
                    <a:ext uri="{FF2B5EF4-FFF2-40B4-BE49-F238E27FC236}">
                      <a16:creationId xmlns:a16="http://schemas.microsoft.com/office/drawing/2014/main" id="{7F23FC21-3B90-5E5B-3F64-0847FB4CB71D}"/>
                    </a:ext>
                  </a:extLst>
                </p:cNvPr>
                <p:cNvSpPr txBox="1"/>
                <p:nvPr/>
              </p:nvSpPr>
              <p:spPr>
                <a:xfrm>
                  <a:off x="5600284" y="2660357"/>
                  <a:ext cx="283490" cy="307777"/>
                </a:xfrm>
                <a:prstGeom prst="rect">
                  <a:avLst/>
                </a:prstGeom>
                <a:noFill/>
              </p:spPr>
              <p:txBody>
                <a:bodyPr wrap="none" lIns="0" tIns="0" rIns="0" bIns="0" rtlCol="0" anchor="ctr" anchorCtr="1">
                  <a:noAutofit/>
                </a:bodyPr>
                <a:lstStyle/>
                <a:p>
                  <a14:m>
                    <m:oMath xmlns:m="http://schemas.openxmlformats.org/officeDocument/2006/math">
                      <m:r>
                        <a:rPr lang="az-Cyrl-AZ" altLang="zh-TW" sz="1400">
                          <a:solidFill>
                            <a:prstClr val="black"/>
                          </a:solidFill>
                          <a:latin typeface="Cambria Math" panose="02040503050406030204" pitchFamily="18" charset="0"/>
                          <a:ea typeface="Cambria Math" panose="02040503050406030204" pitchFamily="18" charset="0"/>
                        </a:rPr>
                        <m:t>ꚛ</m:t>
                      </m:r>
                      <m:r>
                        <a:rPr lang="zh-TW" altLang="en-US" sz="1400" i="1" smtClean="0">
                          <a:solidFill>
                            <a:prstClr val="black"/>
                          </a:solidFill>
                          <a:latin typeface="Cambria Math" panose="02040503050406030204" pitchFamily="18" charset="0"/>
                          <a:ea typeface="Cambria Math" panose="02040503050406030204" pitchFamily="18" charset="0"/>
                        </a:rPr>
                        <m:t> </m:t>
                      </m:r>
                    </m:oMath>
                  </a14:m>
                  <a:r>
                    <a:rPr lang="en-US" altLang="zh-TW" sz="1400" dirty="0"/>
                    <a:t>…</a:t>
                  </a:r>
                  <a:endParaRPr lang="zh-TW" altLang="en-US" sz="1400" dirty="0"/>
                </a:p>
              </p:txBody>
            </p:sp>
          </mc:Choice>
          <mc:Fallback xmlns="">
            <p:sp>
              <p:nvSpPr>
                <p:cNvPr id="68" name="文字方塊 67">
                  <a:extLst>
                    <a:ext uri="{FF2B5EF4-FFF2-40B4-BE49-F238E27FC236}">
                      <a16:creationId xmlns:a16="http://schemas.microsoft.com/office/drawing/2014/main" id="{7F23FC21-3B90-5E5B-3F64-0847FB4CB71D}"/>
                    </a:ext>
                  </a:extLst>
                </p:cNvPr>
                <p:cNvSpPr txBox="1">
                  <a:spLocks noRot="1" noChangeAspect="1" noMove="1" noResize="1" noEditPoints="1" noAdjustHandles="1" noChangeArrowheads="1" noChangeShapeType="1" noTextEdit="1"/>
                </p:cNvSpPr>
                <p:nvPr/>
              </p:nvSpPr>
              <p:spPr>
                <a:xfrm>
                  <a:off x="5600284" y="2660357"/>
                  <a:ext cx="283490" cy="307777"/>
                </a:xfrm>
                <a:prstGeom prst="rect">
                  <a:avLst/>
                </a:prstGeom>
                <a:blipFill>
                  <a:blip r:embed="rId19"/>
                  <a:stretch>
                    <a:fillRect l="-14894" t="-1961" r="-34043" b="-1960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CC116A41-F6DB-0BA0-76A7-74952D593CAD}"/>
                    </a:ext>
                  </a:extLst>
                </p:cNvPr>
                <p:cNvSpPr txBox="1"/>
                <p:nvPr/>
              </p:nvSpPr>
              <p:spPr>
                <a:xfrm>
                  <a:off x="7627596" y="2660357"/>
                  <a:ext cx="283490" cy="307777"/>
                </a:xfrm>
                <a:prstGeom prst="rect">
                  <a:avLst/>
                </a:prstGeom>
                <a:noFill/>
              </p:spPr>
              <p:txBody>
                <a:bodyPr wrap="none" lIns="0" tIns="0" rIns="0" bIns="0" rtlCol="0" anchor="ctr" anchorCtr="1">
                  <a:noAutofit/>
                </a:bodyPr>
                <a:lstStyle/>
                <a:p>
                  <a14:m>
                    <m:oMath xmlns:m="http://schemas.openxmlformats.org/officeDocument/2006/math">
                      <m:r>
                        <a:rPr lang="az-Cyrl-AZ" altLang="zh-TW" sz="1400">
                          <a:solidFill>
                            <a:prstClr val="black"/>
                          </a:solidFill>
                          <a:latin typeface="Cambria Math" panose="02040503050406030204" pitchFamily="18" charset="0"/>
                          <a:ea typeface="Cambria Math" panose="02040503050406030204" pitchFamily="18" charset="0"/>
                        </a:rPr>
                        <m:t>ꚛ</m:t>
                      </m:r>
                      <m:r>
                        <a:rPr lang="zh-TW" altLang="en-US" sz="1400" i="1" smtClean="0">
                          <a:solidFill>
                            <a:prstClr val="black"/>
                          </a:solidFill>
                          <a:latin typeface="Cambria Math" panose="02040503050406030204" pitchFamily="18" charset="0"/>
                          <a:ea typeface="Cambria Math" panose="02040503050406030204" pitchFamily="18" charset="0"/>
                        </a:rPr>
                        <m:t> </m:t>
                      </m:r>
                    </m:oMath>
                  </a14:m>
                  <a:r>
                    <a:rPr lang="en-US" altLang="zh-TW" sz="1400" dirty="0"/>
                    <a:t>…</a:t>
                  </a:r>
                  <a:endParaRPr lang="zh-TW" altLang="en-US" sz="1400" dirty="0"/>
                </a:p>
              </p:txBody>
            </p:sp>
          </mc:Choice>
          <mc:Fallback xmlns="">
            <p:sp>
              <p:nvSpPr>
                <p:cNvPr id="69" name="文字方塊 68">
                  <a:extLst>
                    <a:ext uri="{FF2B5EF4-FFF2-40B4-BE49-F238E27FC236}">
                      <a16:creationId xmlns:a16="http://schemas.microsoft.com/office/drawing/2014/main" id="{CC116A41-F6DB-0BA0-76A7-74952D593CAD}"/>
                    </a:ext>
                  </a:extLst>
                </p:cNvPr>
                <p:cNvSpPr txBox="1">
                  <a:spLocks noRot="1" noChangeAspect="1" noMove="1" noResize="1" noEditPoints="1" noAdjustHandles="1" noChangeArrowheads="1" noChangeShapeType="1" noTextEdit="1"/>
                </p:cNvSpPr>
                <p:nvPr/>
              </p:nvSpPr>
              <p:spPr>
                <a:xfrm>
                  <a:off x="7627596" y="2660357"/>
                  <a:ext cx="283490" cy="307777"/>
                </a:xfrm>
                <a:prstGeom prst="rect">
                  <a:avLst/>
                </a:prstGeom>
                <a:blipFill>
                  <a:blip r:embed="rId19"/>
                  <a:stretch>
                    <a:fillRect l="-15217" t="-1961" r="-36957" b="-19608"/>
                  </a:stretch>
                </a:blipFill>
              </p:spPr>
              <p:txBody>
                <a:bodyPr/>
                <a:lstStyle/>
                <a:p>
                  <a:r>
                    <a:rPr lang="zh-TW" altLang="en-US">
                      <a:noFill/>
                    </a:rPr>
                    <a:t> </a:t>
                  </a:r>
                </a:p>
              </p:txBody>
            </p:sp>
          </mc:Fallback>
        </mc:AlternateContent>
      </p:grpSp>
      <p:cxnSp>
        <p:nvCxnSpPr>
          <p:cNvPr id="72" name="直線接點 71">
            <a:extLst>
              <a:ext uri="{FF2B5EF4-FFF2-40B4-BE49-F238E27FC236}">
                <a16:creationId xmlns:a16="http://schemas.microsoft.com/office/drawing/2014/main" id="{B35E4B8E-03FB-79DB-2F06-CB53804C78E1}"/>
              </a:ext>
            </a:extLst>
          </p:cNvPr>
          <p:cNvCxnSpPr>
            <a:cxnSpLocks/>
            <a:stCxn id="17" idx="2"/>
            <a:endCxn id="54" idx="1"/>
          </p:cNvCxnSpPr>
          <p:nvPr/>
        </p:nvCxnSpPr>
        <p:spPr>
          <a:xfrm>
            <a:off x="717029" y="2507931"/>
            <a:ext cx="743907" cy="1356"/>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矩形: 圓角 85">
                <a:extLst>
                  <a:ext uri="{FF2B5EF4-FFF2-40B4-BE49-F238E27FC236}">
                    <a16:creationId xmlns:a16="http://schemas.microsoft.com/office/drawing/2014/main" id="{08B3A628-4E79-5EC6-7D70-3DC07D98B3CE}"/>
                  </a:ext>
                </a:extLst>
              </p:cNvPr>
              <p:cNvSpPr/>
              <p:nvPr/>
            </p:nvSpPr>
            <p:spPr>
              <a:xfrm>
                <a:off x="1835696" y="3557386"/>
                <a:ext cx="648072" cy="201657"/>
              </a:xfrm>
              <a:prstGeom prst="roundRect">
                <a:avLst/>
              </a:prstGeom>
              <a:solidFill>
                <a:schemeClr val="bg1">
                  <a:lumMod val="7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2</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2</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oMath>
                  </m:oMathPara>
                </a14:m>
                <a:endParaRPr lang="zh-TW" altLang="en-US" dirty="0"/>
              </a:p>
            </p:txBody>
          </p:sp>
        </mc:Choice>
        <mc:Fallback xmlns="">
          <p:sp>
            <p:nvSpPr>
              <p:cNvPr id="86" name="矩形: 圓角 85">
                <a:extLst>
                  <a:ext uri="{FF2B5EF4-FFF2-40B4-BE49-F238E27FC236}">
                    <a16:creationId xmlns:a16="http://schemas.microsoft.com/office/drawing/2014/main" id="{08B3A628-4E79-5EC6-7D70-3DC07D98B3CE}"/>
                  </a:ext>
                </a:extLst>
              </p:cNvPr>
              <p:cNvSpPr>
                <a:spLocks noRot="1" noChangeAspect="1" noMove="1" noResize="1" noEditPoints="1" noAdjustHandles="1" noChangeArrowheads="1" noChangeShapeType="1" noTextEdit="1"/>
              </p:cNvSpPr>
              <p:nvPr/>
            </p:nvSpPr>
            <p:spPr>
              <a:xfrm>
                <a:off x="1835696" y="3557386"/>
                <a:ext cx="648072" cy="201657"/>
              </a:xfrm>
              <a:prstGeom prst="roundRect">
                <a:avLst/>
              </a:prstGeom>
              <a:blipFill>
                <a:blip r:embed="rId20"/>
                <a:stretch>
                  <a:fillRect l="-3704" b="-5714"/>
                </a:stretch>
              </a:blipFill>
              <a:ln w="12700">
                <a:solidFill>
                  <a:schemeClr val="tx1">
                    <a:lumMod val="50000"/>
                    <a:lumOff val="50000"/>
                  </a:schemeClr>
                </a:solidFill>
                <a:prstDash val="sysDash"/>
              </a:ln>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B9AFDA67-3138-D2E5-A7C4-929650D98371}"/>
              </a:ext>
            </a:extLst>
          </p:cNvPr>
          <p:cNvSpPr/>
          <p:nvPr/>
        </p:nvSpPr>
        <p:spPr>
          <a:xfrm>
            <a:off x="1459527" y="1339707"/>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i</a:t>
            </a:r>
          </a:p>
        </p:txBody>
      </p:sp>
      <p:sp>
        <p:nvSpPr>
          <p:cNvPr id="5" name="左大括弧 4">
            <a:extLst>
              <a:ext uri="{FF2B5EF4-FFF2-40B4-BE49-F238E27FC236}">
                <a16:creationId xmlns:a16="http://schemas.microsoft.com/office/drawing/2014/main" id="{8850AEC9-1E47-0549-94F3-058D3F617E0A}"/>
              </a:ext>
            </a:extLst>
          </p:cNvPr>
          <p:cNvSpPr/>
          <p:nvPr/>
        </p:nvSpPr>
        <p:spPr>
          <a:xfrm rot="5400000">
            <a:off x="1203416" y="1050094"/>
            <a:ext cx="143930" cy="1083129"/>
          </a:xfrm>
          <a:prstGeom prst="leftBrace">
            <a:avLst>
              <a:gd name="adj1" fmla="val 8333"/>
              <a:gd name="adj2" fmla="val 2142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44DE6910-D0BB-7904-6428-150FA189C28F}"/>
              </a:ext>
            </a:extLst>
          </p:cNvPr>
          <p:cNvSpPr/>
          <p:nvPr/>
        </p:nvSpPr>
        <p:spPr>
          <a:xfrm>
            <a:off x="883463" y="1089456"/>
            <a:ext cx="1353050" cy="286136"/>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0 1</a:t>
            </a:r>
            <a:r>
              <a:rPr lang="zh-TW" altLang="en-US" sz="1400" dirty="0">
                <a:solidFill>
                  <a:schemeClr val="tx1"/>
                </a:solidFill>
              </a:rPr>
              <a:t> </a:t>
            </a:r>
            <a:r>
              <a:rPr lang="en-US" altLang="zh-TW" sz="1400" dirty="0">
                <a:solidFill>
                  <a:schemeClr val="tx1"/>
                </a:solidFill>
              </a:rPr>
              <a:t>…   </a:t>
            </a:r>
            <a:r>
              <a:rPr lang="en-US" altLang="zh-TW" sz="1400" dirty="0">
                <a:solidFill>
                  <a:schemeClr val="tx1"/>
                </a:solidFill>
                <a:latin typeface="STXingkai" panose="02010800040101010101" pitchFamily="2" charset="-122"/>
                <a:ea typeface="STXingkai" panose="02010800040101010101" pitchFamily="2" charset="-122"/>
              </a:rPr>
              <a:t>i</a:t>
            </a:r>
            <a:r>
              <a:rPr lang="en-US" altLang="zh-TW" sz="1400" dirty="0">
                <a:solidFill>
                  <a:schemeClr val="tx1"/>
                </a:solidFill>
              </a:rPr>
              <a:t> … d</a:t>
            </a:r>
            <a:r>
              <a:rPr lang="en-US" altLang="zh-TW" sz="1400" baseline="-25000" dirty="0">
                <a:solidFill>
                  <a:schemeClr val="tx1"/>
                </a:solidFill>
              </a:rPr>
              <a:t>/2</a:t>
            </a:r>
            <a:r>
              <a:rPr lang="en-US" altLang="zh-TW" sz="1400" dirty="0">
                <a:solidFill>
                  <a:schemeClr val="tx1"/>
                </a:solidFill>
              </a:rPr>
              <a:t>-1</a:t>
            </a:r>
          </a:p>
        </p:txBody>
      </p:sp>
      <p:cxnSp>
        <p:nvCxnSpPr>
          <p:cNvPr id="10" name="接點: 弧形 9">
            <a:extLst>
              <a:ext uri="{FF2B5EF4-FFF2-40B4-BE49-F238E27FC236}">
                <a16:creationId xmlns:a16="http://schemas.microsoft.com/office/drawing/2014/main" id="{935026FB-86FD-B997-33BF-0B3118BE38F4}"/>
              </a:ext>
            </a:extLst>
          </p:cNvPr>
          <p:cNvCxnSpPr>
            <a:stCxn id="54" idx="3"/>
            <a:endCxn id="86" idx="0"/>
          </p:cNvCxnSpPr>
          <p:nvPr/>
        </p:nvCxnSpPr>
        <p:spPr>
          <a:xfrm>
            <a:off x="1675551" y="2509287"/>
            <a:ext cx="484181" cy="1048099"/>
          </a:xfrm>
          <a:prstGeom prst="curved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接點: 弧形 12">
            <a:extLst>
              <a:ext uri="{FF2B5EF4-FFF2-40B4-BE49-F238E27FC236}">
                <a16:creationId xmlns:a16="http://schemas.microsoft.com/office/drawing/2014/main" id="{D6499392-D92D-9199-92F8-55FE1DD6A5CD}"/>
              </a:ext>
            </a:extLst>
          </p:cNvPr>
          <p:cNvCxnSpPr>
            <a:cxnSpLocks/>
            <a:stCxn id="86" idx="3"/>
            <a:endCxn id="60" idx="0"/>
          </p:cNvCxnSpPr>
          <p:nvPr/>
        </p:nvCxnSpPr>
        <p:spPr>
          <a:xfrm>
            <a:off x="2483768" y="3658215"/>
            <a:ext cx="2644034" cy="359805"/>
          </a:xfrm>
          <a:prstGeom prst="curved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1137EB63-2A95-2F3C-5AFE-F67130CC7222}"/>
                  </a:ext>
                </a:extLst>
              </p:cNvPr>
              <p:cNvSpPr txBox="1"/>
              <p:nvPr/>
            </p:nvSpPr>
            <p:spPr>
              <a:xfrm>
                <a:off x="5368649" y="2485153"/>
                <a:ext cx="1227970" cy="369332"/>
              </a:xfrm>
              <a:prstGeom prst="rect">
                <a:avLst/>
              </a:prstGeom>
              <a:noFill/>
            </p:spPr>
            <p:txBody>
              <a:bodyPr wrap="square">
                <a:spAutoFit/>
              </a:bodyPr>
              <a:lstStyle/>
              <a:p>
                <a:r>
                  <a:rPr lang="en-US" altLang="zh-TW" dirty="0">
                    <a:solidFill>
                      <a:srgbClr val="FF0000"/>
                    </a:solidFill>
                    <a:ea typeface="Cambria Math" panose="02040503050406030204" pitchFamily="18" charset="0"/>
                  </a:rPr>
                  <a:t>(</a:t>
                </a:r>
                <a14:m>
                  <m:oMath xmlns:m="http://schemas.openxmlformats.org/officeDocument/2006/math">
                    <m:sSub>
                      <m:sSubPr>
                        <m:ctrlPr>
                          <a:rPr lang="en-US" altLang="zh-TW" b="0" i="1" smtClean="0">
                            <a:solidFill>
                              <a:srgbClr val="FF0000"/>
                            </a:solidFill>
                            <a:latin typeface="Cambria Math" panose="02040503050406030204" pitchFamily="18" charset="0"/>
                            <a:ea typeface="Cambria Math" panose="02040503050406030204" pitchFamily="18" charset="0"/>
                          </a:rPr>
                        </m:ctrlPr>
                      </m:sSubPr>
                      <m:e>
                        <m:r>
                          <a:rPr lang="en-US" altLang="zh-TW" b="0" i="1" smtClean="0">
                            <a:solidFill>
                              <a:srgbClr val="FF0000"/>
                            </a:solidFill>
                            <a:latin typeface="Cambria Math" panose="02040503050406030204" pitchFamily="18" charset="0"/>
                            <a:ea typeface="Cambria Math" panose="02040503050406030204" pitchFamily="18" charset="0"/>
                          </a:rPr>
                          <m:t>𝑣</m:t>
                        </m:r>
                      </m:e>
                      <m:sub>
                        <m:r>
                          <a:rPr lang="en-US" altLang="zh-TW" b="0" i="1" smtClean="0">
                            <a:solidFill>
                              <a:srgbClr val="FF0000"/>
                            </a:solidFill>
                            <a:latin typeface="Cambria Math" panose="02040503050406030204" pitchFamily="18" charset="0"/>
                            <a:ea typeface="Cambria Math" panose="02040503050406030204" pitchFamily="18" charset="0"/>
                          </a:rPr>
                          <m:t>2</m:t>
                        </m:r>
                        <m:r>
                          <a:rPr lang="en-US" altLang="zh-TW" i="1">
                            <a:solidFill>
                              <a:srgbClr val="FF0000"/>
                            </a:solidFill>
                            <a:latin typeface="Cambria Math" panose="02040503050406030204" pitchFamily="18" charset="0"/>
                            <a:ea typeface="Cambria Math" panose="02040503050406030204" pitchFamily="18" charset="0"/>
                          </a:rPr>
                          <m:t>𝑖</m:t>
                        </m:r>
                      </m:sub>
                    </m:sSub>
                    <m:sSub>
                      <m:sSubPr>
                        <m:ctrlPr>
                          <a:rPr lang="en-US" altLang="zh-TW" b="0" i="1" smtClean="0">
                            <a:solidFill>
                              <a:srgbClr val="FF0000"/>
                            </a:solidFill>
                            <a:latin typeface="Cambria Math" panose="02040503050406030204" pitchFamily="18" charset="0"/>
                            <a:ea typeface="Cambria Math" panose="02040503050406030204" pitchFamily="18" charset="0"/>
                          </a:rPr>
                        </m:ctrlPr>
                      </m:sSubPr>
                      <m:e>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i="1">
                            <a:solidFill>
                              <a:srgbClr val="FF0000"/>
                            </a:solidFill>
                            <a:latin typeface="Cambria Math" panose="02040503050406030204" pitchFamily="18" charset="0"/>
                            <a:ea typeface="Cambria Math" panose="02040503050406030204" pitchFamily="18" charset="0"/>
                          </a:rPr>
                          <m:t>𝑣</m:t>
                        </m:r>
                      </m:e>
                      <m:sub>
                        <m:r>
                          <a:rPr lang="en-US" altLang="zh-TW" b="0" i="1" smtClean="0">
                            <a:solidFill>
                              <a:srgbClr val="FF0000"/>
                            </a:solidFill>
                            <a:latin typeface="Cambria Math" panose="02040503050406030204" pitchFamily="18" charset="0"/>
                            <a:ea typeface="Cambria Math" panose="02040503050406030204" pitchFamily="18" charset="0"/>
                          </a:rPr>
                          <m:t>2</m:t>
                        </m:r>
                        <m:r>
                          <a:rPr lang="en-US" altLang="zh-TW" i="1">
                            <a:solidFill>
                              <a:srgbClr val="FF0000"/>
                            </a:solidFill>
                            <a:latin typeface="Cambria Math" panose="02040503050406030204" pitchFamily="18" charset="0"/>
                            <a:ea typeface="Cambria Math" panose="02040503050406030204" pitchFamily="18" charset="0"/>
                          </a:rPr>
                          <m:t>𝑖</m:t>
                        </m:r>
                        <m:r>
                          <a:rPr lang="en-US" altLang="zh-TW" b="0" i="1" smtClean="0">
                            <a:solidFill>
                              <a:srgbClr val="FF0000"/>
                            </a:solidFill>
                            <a:latin typeface="Cambria Math" panose="02040503050406030204" pitchFamily="18" charset="0"/>
                            <a:ea typeface="Cambria Math" panose="02040503050406030204" pitchFamily="18" charset="0"/>
                          </a:rPr>
                          <m:t>+1</m:t>
                        </m:r>
                      </m:sub>
                    </m:sSub>
                  </m:oMath>
                </a14:m>
                <a:r>
                  <a:rPr lang="en-US" altLang="zh-TW" dirty="0">
                    <a:solidFill>
                      <a:srgbClr val="FF0000"/>
                    </a:solidFill>
                  </a:rPr>
                  <a:t>)</a:t>
                </a:r>
                <a:endParaRPr lang="zh-TW" altLang="en-US" dirty="0">
                  <a:solidFill>
                    <a:srgbClr val="FF0000"/>
                  </a:solidFill>
                </a:endParaRPr>
              </a:p>
            </p:txBody>
          </p:sp>
        </mc:Choice>
        <mc:Fallback xmlns="">
          <p:sp>
            <p:nvSpPr>
              <p:cNvPr id="61" name="文字方塊 60">
                <a:extLst>
                  <a:ext uri="{FF2B5EF4-FFF2-40B4-BE49-F238E27FC236}">
                    <a16:creationId xmlns:a16="http://schemas.microsoft.com/office/drawing/2014/main" id="{1137EB63-2A95-2F3C-5AFE-F67130CC7222}"/>
                  </a:ext>
                </a:extLst>
              </p:cNvPr>
              <p:cNvSpPr txBox="1">
                <a:spLocks noRot="1" noChangeAspect="1" noMove="1" noResize="1" noEditPoints="1" noAdjustHandles="1" noChangeArrowheads="1" noChangeShapeType="1" noTextEdit="1"/>
              </p:cNvSpPr>
              <p:nvPr/>
            </p:nvSpPr>
            <p:spPr>
              <a:xfrm>
                <a:off x="5368649" y="2485153"/>
                <a:ext cx="1227970" cy="369332"/>
              </a:xfrm>
              <a:prstGeom prst="rect">
                <a:avLst/>
              </a:prstGeom>
              <a:blipFill>
                <a:blip r:embed="rId21"/>
                <a:stretch>
                  <a:fillRect l="-4478" t="-10000" r="-3483" b="-26667"/>
                </a:stretch>
              </a:blipFill>
            </p:spPr>
            <p:txBody>
              <a:bodyPr/>
              <a:lstStyle/>
              <a:p>
                <a:r>
                  <a:rPr lang="zh-TW" altLang="en-US">
                    <a:noFill/>
                  </a:rPr>
                  <a:t> </a:t>
                </a:r>
              </a:p>
            </p:txBody>
          </p:sp>
        </mc:Fallback>
      </mc:AlternateContent>
      <p:sp>
        <p:nvSpPr>
          <p:cNvPr id="62" name="弧形 61">
            <a:extLst>
              <a:ext uri="{FF2B5EF4-FFF2-40B4-BE49-F238E27FC236}">
                <a16:creationId xmlns:a16="http://schemas.microsoft.com/office/drawing/2014/main" id="{71E3FCBD-921D-4AAD-66D2-0A4A1DC8FB05}"/>
              </a:ext>
            </a:extLst>
          </p:cNvPr>
          <p:cNvSpPr/>
          <p:nvPr/>
        </p:nvSpPr>
        <p:spPr>
          <a:xfrm>
            <a:off x="5140833" y="3272028"/>
            <a:ext cx="353745" cy="421056"/>
          </a:xfrm>
          <a:prstGeom prst="arc">
            <a:avLst>
              <a:gd name="adj1" fmla="val 16200000"/>
              <a:gd name="adj2" fmla="val 20363557"/>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4" name="直線單箭頭接點 3">
            <a:extLst>
              <a:ext uri="{FF2B5EF4-FFF2-40B4-BE49-F238E27FC236}">
                <a16:creationId xmlns:a16="http://schemas.microsoft.com/office/drawing/2014/main" id="{2D7E400D-B6F7-F2F9-777A-629A0393157B}"/>
              </a:ext>
            </a:extLst>
          </p:cNvPr>
          <p:cNvCxnSpPr>
            <a:cxnSpLocks/>
            <a:endCxn id="51" idx="2"/>
          </p:cNvCxnSpPr>
          <p:nvPr/>
        </p:nvCxnSpPr>
        <p:spPr>
          <a:xfrm flipV="1">
            <a:off x="5056975" y="3438292"/>
            <a:ext cx="694090" cy="93599"/>
          </a:xfrm>
          <a:prstGeom prst="straightConnector1">
            <a:avLst/>
          </a:prstGeom>
          <a:ln>
            <a:tailEnd type="triangle" w="med" len="lg"/>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723486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直線接點 47">
            <a:extLst>
              <a:ext uri="{FF2B5EF4-FFF2-40B4-BE49-F238E27FC236}">
                <a16:creationId xmlns:a16="http://schemas.microsoft.com/office/drawing/2014/main" id="{24C193FF-B938-0A29-7239-B1B89CC95EFE}"/>
              </a:ext>
            </a:extLst>
          </p:cNvPr>
          <p:cNvCxnSpPr/>
          <p:nvPr/>
        </p:nvCxnSpPr>
        <p:spPr>
          <a:xfrm>
            <a:off x="1292565" y="1448898"/>
            <a:ext cx="0" cy="1404038"/>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左大括弧 45">
            <a:extLst>
              <a:ext uri="{FF2B5EF4-FFF2-40B4-BE49-F238E27FC236}">
                <a16:creationId xmlns:a16="http://schemas.microsoft.com/office/drawing/2014/main" id="{A4B22DC8-3C8A-1A92-9A4D-F2496937F800}"/>
              </a:ext>
            </a:extLst>
          </p:cNvPr>
          <p:cNvSpPr/>
          <p:nvPr/>
        </p:nvSpPr>
        <p:spPr>
          <a:xfrm>
            <a:off x="520265" y="1661358"/>
            <a:ext cx="144887" cy="1153107"/>
          </a:xfrm>
          <a:prstGeom prst="leftBrace">
            <a:avLst>
              <a:gd name="adj1" fmla="val 8333"/>
              <a:gd name="adj2" fmla="val 91608"/>
            </a:avLst>
          </a:prstGeom>
          <a:ln>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 name="標題 1">
            <a:extLst>
              <a:ext uri="{FF2B5EF4-FFF2-40B4-BE49-F238E27FC236}">
                <a16:creationId xmlns:a16="http://schemas.microsoft.com/office/drawing/2014/main" id="{56F25196-03B9-1C85-2824-5F98C248CA1C}"/>
              </a:ext>
            </a:extLst>
          </p:cNvPr>
          <p:cNvSpPr txBox="1">
            <a:spLocks/>
          </p:cNvSpPr>
          <p:nvPr/>
        </p:nvSpPr>
        <p:spPr>
          <a:xfrm>
            <a:off x="179511" y="116632"/>
            <a:ext cx="8784975"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Rotary of Position Encoding</a:t>
            </a:r>
          </a:p>
          <a:p>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Relative Distance</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as the Core Variable.</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3" name="矩形 12">
            <a:extLst>
              <a:ext uri="{FF2B5EF4-FFF2-40B4-BE49-F238E27FC236}">
                <a16:creationId xmlns:a16="http://schemas.microsoft.com/office/drawing/2014/main" id="{C7149255-EE62-F2B3-F9EA-27B0D631BBA2}"/>
              </a:ext>
            </a:extLst>
          </p:cNvPr>
          <p:cNvSpPr/>
          <p:nvPr/>
        </p:nvSpPr>
        <p:spPr>
          <a:xfrm>
            <a:off x="2051720" y="1669329"/>
            <a:ext cx="793195" cy="115310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a:t>
            </a:r>
          </a:p>
        </p:txBody>
      </p:sp>
      <p:sp>
        <p:nvSpPr>
          <p:cNvPr id="15" name="矩形 14">
            <a:extLst>
              <a:ext uri="{FF2B5EF4-FFF2-40B4-BE49-F238E27FC236}">
                <a16:creationId xmlns:a16="http://schemas.microsoft.com/office/drawing/2014/main" id="{5EC13F2D-894D-7509-8FCE-C7698DA4D496}"/>
              </a:ext>
            </a:extLst>
          </p:cNvPr>
          <p:cNvSpPr/>
          <p:nvPr/>
        </p:nvSpPr>
        <p:spPr>
          <a:xfrm>
            <a:off x="3058851" y="1665005"/>
            <a:ext cx="1153109" cy="793196"/>
          </a:xfrm>
          <a:prstGeom prst="rect">
            <a:avLst/>
          </a:prstGeom>
          <a:no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K</a:t>
            </a:r>
            <a:r>
              <a:rPr lang="en-US" altLang="zh-TW" sz="1400" baseline="80000" dirty="0">
                <a:solidFill>
                  <a:schemeClr val="tx1"/>
                </a:solidFill>
                <a:latin typeface="微軟正黑體" panose="020B0604030504040204" pitchFamily="34" charset="-120"/>
                <a:ea typeface="微軟正黑體" panose="020B0604030504040204" pitchFamily="34" charset="-120"/>
              </a:rPr>
              <a:t>T</a:t>
            </a:r>
          </a:p>
        </p:txBody>
      </p:sp>
      <p:sp>
        <p:nvSpPr>
          <p:cNvPr id="19" name="矩形 18">
            <a:extLst>
              <a:ext uri="{FF2B5EF4-FFF2-40B4-BE49-F238E27FC236}">
                <a16:creationId xmlns:a16="http://schemas.microsoft.com/office/drawing/2014/main" id="{727E6B00-688E-B150-5987-5DF77B22C0F6}"/>
              </a:ext>
            </a:extLst>
          </p:cNvPr>
          <p:cNvSpPr/>
          <p:nvPr/>
        </p:nvSpPr>
        <p:spPr>
          <a:xfrm>
            <a:off x="677937" y="1665005"/>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X</a:t>
            </a:r>
          </a:p>
        </p:txBody>
      </p:sp>
      <p:cxnSp>
        <p:nvCxnSpPr>
          <p:cNvPr id="22" name="直線接點 21">
            <a:extLst>
              <a:ext uri="{FF2B5EF4-FFF2-40B4-BE49-F238E27FC236}">
                <a16:creationId xmlns:a16="http://schemas.microsoft.com/office/drawing/2014/main" id="{D8D68E0B-368E-FAB4-AE3A-7B98F7011A83}"/>
              </a:ext>
            </a:extLst>
          </p:cNvPr>
          <p:cNvCxnSpPr>
            <a:cxnSpLocks/>
          </p:cNvCxnSpPr>
          <p:nvPr/>
        </p:nvCxnSpPr>
        <p:spPr>
          <a:xfrm>
            <a:off x="682461" y="1952954"/>
            <a:ext cx="649179"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9E74ABB1-C392-86E8-9340-D7DE5DB90F75}"/>
              </a:ext>
            </a:extLst>
          </p:cNvPr>
          <p:cNvCxnSpPr>
            <a:cxnSpLocks/>
          </p:cNvCxnSpPr>
          <p:nvPr/>
        </p:nvCxnSpPr>
        <p:spPr>
          <a:xfrm>
            <a:off x="683568" y="2745042"/>
            <a:ext cx="607876" cy="0"/>
          </a:xfrm>
          <a:prstGeom prst="line">
            <a:avLst/>
          </a:prstGeom>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7F880E63-60DA-AA0D-3EDD-5FEA6C78B519}"/>
              </a:ext>
            </a:extLst>
          </p:cNvPr>
          <p:cNvCxnSpPr>
            <a:cxnSpLocks/>
          </p:cNvCxnSpPr>
          <p:nvPr/>
        </p:nvCxnSpPr>
        <p:spPr>
          <a:xfrm>
            <a:off x="2050613" y="1952954"/>
            <a:ext cx="649179"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D79BF9DE-5AEF-F8CE-8EA7-19C3E69E50DB}"/>
              </a:ext>
            </a:extLst>
          </p:cNvPr>
          <p:cNvSpPr/>
          <p:nvPr/>
        </p:nvSpPr>
        <p:spPr>
          <a:xfrm>
            <a:off x="2483768" y="1808938"/>
            <a:ext cx="504056" cy="235948"/>
          </a:xfrm>
          <a:prstGeom prst="rect">
            <a:avLst/>
          </a:prstGeom>
          <a:solidFill>
            <a:schemeClr val="accent2">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lumMod val="75000"/>
                  </a:schemeClr>
                </a:solidFill>
              </a:rPr>
              <a:t>(q</a:t>
            </a:r>
            <a:r>
              <a:rPr lang="en-US" altLang="zh-TW" sz="1400" baseline="-25000" dirty="0">
                <a:solidFill>
                  <a:schemeClr val="accent2">
                    <a:lumMod val="75000"/>
                  </a:schemeClr>
                </a:solidFill>
              </a:rPr>
              <a:t>1</a:t>
            </a:r>
            <a:r>
              <a:rPr lang="en-US" altLang="zh-TW" sz="1400" dirty="0">
                <a:solidFill>
                  <a:schemeClr val="accent2">
                    <a:lumMod val="75000"/>
                  </a:schemeClr>
                </a:solidFill>
              </a:rPr>
              <a:t>, q</a:t>
            </a:r>
            <a:r>
              <a:rPr lang="en-US" altLang="zh-TW" sz="1400" baseline="-25000" dirty="0">
                <a:solidFill>
                  <a:schemeClr val="accent2">
                    <a:lumMod val="75000"/>
                  </a:schemeClr>
                </a:solidFill>
              </a:rPr>
              <a:t>2</a:t>
            </a:r>
            <a:r>
              <a:rPr lang="en-US" altLang="zh-TW" sz="1400" dirty="0">
                <a:solidFill>
                  <a:schemeClr val="accent2">
                    <a:lumMod val="75000"/>
                  </a:schemeClr>
                </a:solidFill>
              </a:rPr>
              <a:t>)</a:t>
            </a:r>
            <a:endParaRPr lang="zh-TW" altLang="en-US" sz="1400" dirty="0">
              <a:solidFill>
                <a:schemeClr val="accent2">
                  <a:lumMod val="75000"/>
                </a:schemeClr>
              </a:solidFill>
            </a:endParaRPr>
          </a:p>
        </p:txBody>
      </p:sp>
      <p:cxnSp>
        <p:nvCxnSpPr>
          <p:cNvPr id="25" name="直線接點 24">
            <a:extLst>
              <a:ext uri="{FF2B5EF4-FFF2-40B4-BE49-F238E27FC236}">
                <a16:creationId xmlns:a16="http://schemas.microsoft.com/office/drawing/2014/main" id="{C50F45EF-71BD-F1BF-BAF5-1560075977FF}"/>
              </a:ext>
            </a:extLst>
          </p:cNvPr>
          <p:cNvCxnSpPr>
            <a:cxnSpLocks/>
          </p:cNvCxnSpPr>
          <p:nvPr/>
        </p:nvCxnSpPr>
        <p:spPr>
          <a:xfrm>
            <a:off x="4067944" y="1664922"/>
            <a:ext cx="0" cy="648072"/>
          </a:xfrm>
          <a:prstGeom prst="line">
            <a:avLst/>
          </a:prstGeom>
          <a:ln w="15875">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E49F5492-4F0F-88D2-C444-E97C23E35C80}"/>
              </a:ext>
            </a:extLst>
          </p:cNvPr>
          <p:cNvSpPr/>
          <p:nvPr/>
        </p:nvSpPr>
        <p:spPr>
          <a:xfrm rot="5400000">
            <a:off x="3816797" y="2258807"/>
            <a:ext cx="539695" cy="216022"/>
          </a:xfrm>
          <a:prstGeom prst="rect">
            <a:avLst/>
          </a:prstGeom>
          <a:solidFill>
            <a:schemeClr val="accent4">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lumMod val="75000"/>
                  </a:schemeClr>
                </a:solidFill>
              </a:rPr>
              <a:t>(k</a:t>
            </a:r>
            <a:r>
              <a:rPr lang="en-US" altLang="zh-TW" sz="1400" baseline="-25000" dirty="0">
                <a:solidFill>
                  <a:schemeClr val="accent4">
                    <a:lumMod val="75000"/>
                  </a:schemeClr>
                </a:solidFill>
              </a:rPr>
              <a:t>1</a:t>
            </a:r>
            <a:r>
              <a:rPr lang="en-US" altLang="zh-TW" sz="1400" dirty="0">
                <a:solidFill>
                  <a:schemeClr val="accent4">
                    <a:lumMod val="75000"/>
                  </a:schemeClr>
                </a:solidFill>
              </a:rPr>
              <a:t>, k</a:t>
            </a:r>
            <a:r>
              <a:rPr lang="en-US" altLang="zh-TW" sz="1400" baseline="-25000" dirty="0">
                <a:solidFill>
                  <a:schemeClr val="accent4">
                    <a:lumMod val="75000"/>
                  </a:schemeClr>
                </a:solidFill>
              </a:rPr>
              <a:t>2</a:t>
            </a:r>
            <a:r>
              <a:rPr lang="en-US" altLang="zh-TW" sz="1400" dirty="0">
                <a:solidFill>
                  <a:schemeClr val="accent4">
                    <a:lumMod val="75000"/>
                  </a:schemeClr>
                </a:solidFill>
              </a:rPr>
              <a:t>)</a:t>
            </a:r>
          </a:p>
        </p:txBody>
      </p:sp>
      <p:sp>
        <p:nvSpPr>
          <p:cNvPr id="33" name="矩形 32">
            <a:extLst>
              <a:ext uri="{FF2B5EF4-FFF2-40B4-BE49-F238E27FC236}">
                <a16:creationId xmlns:a16="http://schemas.microsoft.com/office/drawing/2014/main" id="{2EC998CA-3318-51E2-8FE3-653FC308401C}"/>
              </a:ext>
            </a:extLst>
          </p:cNvPr>
          <p:cNvSpPr/>
          <p:nvPr/>
        </p:nvSpPr>
        <p:spPr>
          <a:xfrm>
            <a:off x="1187624" y="1825655"/>
            <a:ext cx="207640" cy="235948"/>
          </a:xfrm>
          <a:prstGeom prst="rect">
            <a:avLst/>
          </a:prstGeom>
          <a:solidFill>
            <a:schemeClr val="accent2">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lumMod val="75000"/>
                  </a:schemeClr>
                </a:solidFill>
              </a:rPr>
              <a:t>(q)</a:t>
            </a:r>
            <a:endParaRPr lang="zh-TW" altLang="en-US" sz="1400" dirty="0">
              <a:solidFill>
                <a:schemeClr val="accent2">
                  <a:lumMod val="75000"/>
                </a:schemeClr>
              </a:solidFill>
            </a:endParaRPr>
          </a:p>
        </p:txBody>
      </p:sp>
      <p:sp>
        <p:nvSpPr>
          <p:cNvPr id="34" name="矩形 33">
            <a:extLst>
              <a:ext uri="{FF2B5EF4-FFF2-40B4-BE49-F238E27FC236}">
                <a16:creationId xmlns:a16="http://schemas.microsoft.com/office/drawing/2014/main" id="{071CA28F-3AE8-4268-FD6D-9B1FF40C68A3}"/>
              </a:ext>
            </a:extLst>
          </p:cNvPr>
          <p:cNvSpPr/>
          <p:nvPr/>
        </p:nvSpPr>
        <p:spPr>
          <a:xfrm>
            <a:off x="1245891" y="2632286"/>
            <a:ext cx="103052" cy="216022"/>
          </a:xfrm>
          <a:prstGeom prst="rect">
            <a:avLst/>
          </a:prstGeom>
          <a:solidFill>
            <a:schemeClr val="accent4">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lumMod val="75000"/>
                  </a:schemeClr>
                </a:solidFill>
              </a:rPr>
              <a:t>(k)</a:t>
            </a:r>
          </a:p>
        </p:txBody>
      </p:sp>
      <p:sp>
        <p:nvSpPr>
          <p:cNvPr id="36" name="矩形 35">
            <a:extLst>
              <a:ext uri="{FF2B5EF4-FFF2-40B4-BE49-F238E27FC236}">
                <a16:creationId xmlns:a16="http://schemas.microsoft.com/office/drawing/2014/main" id="{E1685F92-63D5-6A09-2CCA-DE5ED1C6DC64}"/>
              </a:ext>
            </a:extLst>
          </p:cNvPr>
          <p:cNvSpPr/>
          <p:nvPr/>
        </p:nvSpPr>
        <p:spPr>
          <a:xfrm>
            <a:off x="354271" y="2601026"/>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solidFill>
              </a:rPr>
              <a:t>n</a:t>
            </a:r>
          </a:p>
        </p:txBody>
      </p:sp>
      <p:sp>
        <p:nvSpPr>
          <p:cNvPr id="39" name="矩形 38">
            <a:extLst>
              <a:ext uri="{FF2B5EF4-FFF2-40B4-BE49-F238E27FC236}">
                <a16:creationId xmlns:a16="http://schemas.microsoft.com/office/drawing/2014/main" id="{F7060D8D-6187-ACDC-E55F-F5E71DC56607}"/>
              </a:ext>
            </a:extLst>
          </p:cNvPr>
          <p:cNvSpPr/>
          <p:nvPr/>
        </p:nvSpPr>
        <p:spPr>
          <a:xfrm>
            <a:off x="343180" y="1688229"/>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solidFill>
              </a:rPr>
              <a:t>m</a:t>
            </a:r>
          </a:p>
        </p:txBody>
      </p:sp>
      <p:sp>
        <p:nvSpPr>
          <p:cNvPr id="45" name="左大括弧 44">
            <a:extLst>
              <a:ext uri="{FF2B5EF4-FFF2-40B4-BE49-F238E27FC236}">
                <a16:creationId xmlns:a16="http://schemas.microsoft.com/office/drawing/2014/main" id="{FFF90071-FB99-0245-1ED9-E7DBC7B0A912}"/>
              </a:ext>
            </a:extLst>
          </p:cNvPr>
          <p:cNvSpPr/>
          <p:nvPr/>
        </p:nvSpPr>
        <p:spPr>
          <a:xfrm>
            <a:off x="516108" y="1664922"/>
            <a:ext cx="166354" cy="288032"/>
          </a:xfrm>
          <a:prstGeom prst="leftBrace">
            <a:avLst/>
          </a:prstGeom>
          <a:ln w="158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129BB3AF-76F0-75BA-1CE0-B2588BA6B7D1}"/>
              </a:ext>
            </a:extLst>
          </p:cNvPr>
          <p:cNvSpPr/>
          <p:nvPr/>
        </p:nvSpPr>
        <p:spPr>
          <a:xfrm>
            <a:off x="1218884" y="1304883"/>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i</a:t>
            </a:r>
          </a:p>
        </p:txBody>
      </p:sp>
      <p:sp>
        <p:nvSpPr>
          <p:cNvPr id="53" name="左大括弧 52">
            <a:extLst>
              <a:ext uri="{FF2B5EF4-FFF2-40B4-BE49-F238E27FC236}">
                <a16:creationId xmlns:a16="http://schemas.microsoft.com/office/drawing/2014/main" id="{194BF863-3822-AACA-4B0C-0E243D9D3231}"/>
              </a:ext>
            </a:extLst>
          </p:cNvPr>
          <p:cNvSpPr/>
          <p:nvPr/>
        </p:nvSpPr>
        <p:spPr>
          <a:xfrm rot="5400000">
            <a:off x="1020584" y="1178261"/>
            <a:ext cx="107892" cy="793185"/>
          </a:xfrm>
          <a:prstGeom prst="leftBrace">
            <a:avLst>
              <a:gd name="adj1" fmla="val 8333"/>
              <a:gd name="adj2" fmla="val 2142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pic>
        <p:nvPicPr>
          <p:cNvPr id="55" name="圖片 54">
            <a:extLst>
              <a:ext uri="{FF2B5EF4-FFF2-40B4-BE49-F238E27FC236}">
                <a16:creationId xmlns:a16="http://schemas.microsoft.com/office/drawing/2014/main" id="{99FEC9B0-0081-839F-29D5-3692BF794B58}"/>
              </a:ext>
            </a:extLst>
          </p:cNvPr>
          <p:cNvPicPr>
            <a:picLocks noChangeAspect="1"/>
          </p:cNvPicPr>
          <p:nvPr/>
        </p:nvPicPr>
        <p:blipFill>
          <a:blip r:embed="rId3"/>
          <a:stretch>
            <a:fillRect/>
          </a:stretch>
        </p:blipFill>
        <p:spPr>
          <a:xfrm>
            <a:off x="4653431" y="1844942"/>
            <a:ext cx="2588013" cy="1360292"/>
          </a:xfrm>
          <a:prstGeom prst="rect">
            <a:avLst/>
          </a:prstGeom>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8EEBC337-2ABD-9F06-0885-CEB6C91D9396}"/>
                  </a:ext>
                </a:extLst>
              </p:cNvPr>
              <p:cNvSpPr txBox="1"/>
              <p:nvPr/>
            </p:nvSpPr>
            <p:spPr>
              <a:xfrm>
                <a:off x="539552" y="3394630"/>
                <a:ext cx="3816421" cy="1018760"/>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𝑅𝑜𝑃𝐸</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𝑞</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𝑘</m:t>
                          </m:r>
                        </m:e>
                      </m:d>
                    </m:oMath>
                  </m:oMathPara>
                </a14:m>
                <a:endParaRPr lang="en-US" altLang="zh-TW" sz="1200" b="0" i="1" dirty="0">
                  <a:latin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𝑅𝑜𝑃𝐸</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𝑞</m:t>
                          </m:r>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𝑅𝑜𝑃𝐸</m:t>
                      </m:r>
                      <m:d>
                        <m:dPr>
                          <m:ctrlPr>
                            <a:rPr lang="en-US" altLang="zh-TW" sz="1200" b="0" i="1" smtClean="0">
                              <a:latin typeface="Cambria Math" panose="02040503050406030204" pitchFamily="18" charset="0"/>
                              <a:ea typeface="Cambria Math" panose="02040503050406030204" pitchFamily="18" charset="0"/>
                            </a:rPr>
                          </m:ctrlPr>
                        </m:dPr>
                        <m:e>
                          <m:r>
                            <a:rPr lang="en-US" altLang="zh-TW" sz="1200" b="0" i="1" smtClean="0">
                              <a:latin typeface="Cambria Math" panose="02040503050406030204" pitchFamily="18" charset="0"/>
                              <a:ea typeface="Cambria Math" panose="02040503050406030204" pitchFamily="18" charset="0"/>
                            </a:rPr>
                            <m:t>𝑘</m:t>
                          </m:r>
                        </m:e>
                      </m:d>
                    </m:oMath>
                  </m:oMathPara>
                </a14:m>
                <a:endParaRPr lang="en-US" altLang="zh-TW" sz="1200" b="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sub>
                      </m:sSub>
                      <m:d>
                        <m:dPr>
                          <m:ctrlPr>
                            <a:rPr lang="en-US" altLang="zh-TW" sz="1200" i="1" smtClean="0">
                              <a:latin typeface="Cambria Math" panose="02040503050406030204" pitchFamily="18" charset="0"/>
                            </a:rPr>
                          </m:ctrlPr>
                        </m:dPr>
                        <m:e>
                          <m:sSub>
                            <m:sSubPr>
                              <m:ctrlPr>
                                <a:rPr lang="en-US" altLang="zh-TW" sz="1200" i="1" smtClean="0">
                                  <a:latin typeface="Cambria Math" panose="02040503050406030204" pitchFamily="18" charset="0"/>
                                </a:rPr>
                              </m:ctrlPr>
                            </m:sSubPr>
                            <m:e>
                              <m:r>
                                <a:rPr lang="en-US" altLang="zh-TW" sz="1200" i="1" smtClean="0">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m:t>
                              </m:r>
                              <m:r>
                                <a:rPr lang="en-US" altLang="zh-TW" sz="1200" i="1">
                                  <a:latin typeface="Cambria Math" panose="02040503050406030204" pitchFamily="18" charset="0"/>
                                </a:rPr>
                                <m:t>𝑞</m:t>
                              </m:r>
                            </m:e>
                            <m:sub>
                              <m:r>
                                <a:rPr lang="en-US" altLang="zh-TW" sz="1200" i="1">
                                  <a:latin typeface="Cambria Math" panose="02040503050406030204" pitchFamily="18" charset="0"/>
                                </a:rPr>
                                <m:t>2</m:t>
                              </m:r>
                            </m:sub>
                          </m:sSub>
                        </m:e>
                      </m:d>
                      <m:r>
                        <a:rPr lang="en-US" altLang="zh-TW" sz="1200" b="0" i="1" smtClean="0">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sub>
                      </m:sSub>
                      <m:d>
                        <m:dPr>
                          <m:ctrlPr>
                            <a:rPr lang="en-US" altLang="zh-TW" sz="1200" b="0" i="1" smtClean="0">
                              <a:latin typeface="Cambria Math" panose="02040503050406030204" pitchFamily="18" charset="0"/>
                            </a:rPr>
                          </m:ctrlPr>
                        </m:dPr>
                        <m:e>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2</m:t>
                              </m:r>
                            </m:sub>
                          </m:sSub>
                        </m:e>
                      </m:d>
                    </m:oMath>
                  </m:oMathPara>
                </a14:m>
                <a:endParaRPr lang="en-US" altLang="zh-TW" sz="1200" i="1" dirty="0">
                  <a:latin typeface="Cambria Math" panose="02040503050406030204" pitchFamily="18" charset="0"/>
                </a:endParaRPr>
              </a:p>
            </p:txBody>
          </p:sp>
        </mc:Choice>
        <mc:Fallback xmlns="">
          <p:sp>
            <p:nvSpPr>
              <p:cNvPr id="4" name="文字方塊 3">
                <a:extLst>
                  <a:ext uri="{FF2B5EF4-FFF2-40B4-BE49-F238E27FC236}">
                    <a16:creationId xmlns:a16="http://schemas.microsoft.com/office/drawing/2014/main" id="{8EEBC337-2ABD-9F06-0885-CEB6C91D9396}"/>
                  </a:ext>
                </a:extLst>
              </p:cNvPr>
              <p:cNvSpPr txBox="1">
                <a:spLocks noRot="1" noChangeAspect="1" noMove="1" noResize="1" noEditPoints="1" noAdjustHandles="1" noChangeArrowheads="1" noChangeShapeType="1" noTextEdit="1"/>
              </p:cNvSpPr>
              <p:nvPr/>
            </p:nvSpPr>
            <p:spPr>
              <a:xfrm>
                <a:off x="539552" y="3394630"/>
                <a:ext cx="3816421" cy="1018760"/>
              </a:xfrm>
              <a:prstGeom prst="rect">
                <a:avLst/>
              </a:prstGeom>
              <a:blipFill>
                <a:blip r:embed="rId4"/>
                <a:stretch>
                  <a:fillRect l="-14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C736D0EF-242D-623C-3A9F-0D04A2BDB577}"/>
                  </a:ext>
                </a:extLst>
              </p:cNvPr>
              <p:cNvSpPr txBox="1"/>
              <p:nvPr/>
            </p:nvSpPr>
            <p:spPr>
              <a:xfrm>
                <a:off x="4606854" y="3284984"/>
                <a:ext cx="2111120" cy="1018764"/>
              </a:xfrm>
              <a:prstGeom prst="rect">
                <a:avLst/>
              </a:prstGeom>
              <a:noFill/>
            </p:spPr>
            <p:txBody>
              <a:bodyPr wrap="none" lIns="0" tIns="0" rIns="0" bIns="0" rtlCol="0" anchor="ctr" anchorCtr="1">
                <a:noAutofit/>
              </a:bodyPr>
              <a:lstStyle/>
              <a:p>
                <a:pPr>
                  <a:lnSpc>
                    <a:spcPct val="150000"/>
                  </a:lnSpc>
                </a:pPr>
                <a14:m>
                  <m:oMathPara xmlns:m="http://schemas.openxmlformats.org/officeDocument/2006/math">
                    <m:oMathParaPr>
                      <m:jc m:val="left"/>
                    </m:oMathParaPr>
                    <m:oMath>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𝑅</m:t>
                          </m:r>
                        </m:e>
                        <m:sub>
                          <m:r>
                            <a:rPr lang="en-US" altLang="zh-TW" sz="1200" b="0" i="1" smtClean="0">
                              <a:latin typeface="Cambria Math" panose="02040503050406030204" pitchFamily="18" charset="0"/>
                              <a:ea typeface="Cambria Math" panose="02040503050406030204" pitchFamily="18" charset="0"/>
                            </a:rPr>
                            <m:t>𝑚</m:t>
                          </m:r>
                          <m:sSub>
                            <m:sSubPr>
                              <m:ctrlPr>
                                <a:rPr lang="zh-TW" altLang="en-US" sz="1200" b="0" i="1" smtClean="0">
                                  <a:latin typeface="Cambria Math" panose="02040503050406030204" pitchFamily="18" charset="0"/>
                                  <a:ea typeface="Cambria Math" panose="02040503050406030204" pitchFamily="18" charset="0"/>
                                </a:rPr>
                              </m:ctrlPr>
                            </m:sSubPr>
                            <m:e>
                              <m:r>
                                <a:rPr lang="zh-TW" altLang="en-US" sz="1200" b="0" i="1" smtClean="0">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sub>
                      </m:sSub>
                      <m:r>
                        <a:rPr lang="en-US" altLang="zh-TW" sz="1200" b="0" i="1" smtClean="0">
                          <a:latin typeface="Cambria Math" panose="02040503050406030204" pitchFamily="18" charset="0"/>
                          <a:ea typeface="Cambria Math" panose="02040503050406030204" pitchFamily="18" charset="0"/>
                        </a:rPr>
                        <m:t>=</m:t>
                      </m:r>
                      <m:d>
                        <m:dPr>
                          <m:begChr m:val="["/>
                          <m:endChr m:val="]"/>
                          <m:ctrlPr>
                            <a:rPr lang="en-US" altLang="zh-TW" sz="1200"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b="0" i="1" smtClean="0">
                                  <a:latin typeface="Cambria Math" panose="02040503050406030204" pitchFamily="18" charset="0"/>
                                  <a:ea typeface="Cambria Math" panose="02040503050406030204" pitchFamily="18" charset="0"/>
                                </a:rPr>
                              </m:ctrlPr>
                            </m:mPr>
                            <m:mr>
                              <m:e>
                                <m:func>
                                  <m:funcPr>
                                    <m:ctrlPr>
                                      <a:rPr lang="en-US" altLang="zh-TW" sz="1200" b="0" i="0" smtClean="0">
                                        <a:latin typeface="Cambria Math" panose="02040503050406030204" pitchFamily="18" charset="0"/>
                                        <a:ea typeface="Cambria Math" panose="02040503050406030204" pitchFamily="18" charset="0"/>
                                      </a:rPr>
                                    </m:ctrlPr>
                                  </m:funcPr>
                                  <m:fName>
                                    <m:r>
                                      <m:rPr>
                                        <m:sty m:val="p"/>
                                        <m:brk m:alnAt="7"/>
                                      </m:rPr>
                                      <a:rPr lang="en-US" altLang="zh-TW" sz="1200" b="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b="0" i="0" smtClean="0">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b="0" i="0" smtClean="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b="0" i="0" smtClean="0">
                                        <a:latin typeface="Cambria Math" panose="02040503050406030204" pitchFamily="18" charset="0"/>
                                        <a:ea typeface="Cambria Math" panose="02040503050406030204" pitchFamily="18" charset="0"/>
                                      </a:rPr>
                                    </m:ctrlPr>
                                  </m:funcPr>
                                  <m:fName>
                                    <m:r>
                                      <m:rPr>
                                        <m:sty m:val="p"/>
                                      </m:rPr>
                                      <a:rPr lang="en-US" altLang="zh-TW" sz="1200" b="0" i="0" smtClean="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b="0" i="0" smtClean="0">
                                        <a:latin typeface="Cambria Math" panose="02040503050406030204" pitchFamily="18" charset="0"/>
                                        <a:ea typeface="Cambria Math" panose="02040503050406030204" pitchFamily="18" charset="0"/>
                                      </a:rPr>
                                    </m:ctrlPr>
                                  </m:funcPr>
                                  <m:fName>
                                    <m:r>
                                      <m:rPr>
                                        <m:sty m:val="p"/>
                                      </m:rPr>
                                      <a:rPr lang="en-US" altLang="zh-TW" sz="1200" b="0" i="0" smtClean="0">
                                        <a:latin typeface="Cambria Math" panose="02040503050406030204" pitchFamily="18" charset="0"/>
                                        <a:ea typeface="Cambria Math" panose="02040503050406030204" pitchFamily="18" charset="0"/>
                                      </a:rPr>
                                      <m:t>cos</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oMath>
                  </m:oMathPara>
                </a14:m>
                <a:endParaRPr lang="en-US" altLang="zh-TW" sz="120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𝑅</m:t>
                          </m:r>
                        </m:e>
                        <m:sub>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sub>
                      </m:sSub>
                      <m:r>
                        <a:rPr lang="en-US" altLang="zh-TW" sz="1200" i="1">
                          <a:latin typeface="Cambria Math" panose="02040503050406030204" pitchFamily="18" charset="0"/>
                          <a:ea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e>
                                </m:func>
                              </m:e>
                            </m:mr>
                          </m:m>
                        </m:e>
                      </m:d>
                    </m:oMath>
                  </m:oMathPara>
                </a14:m>
                <a:endParaRPr lang="zh-TW" altLang="en-US" sz="1200" dirty="0"/>
              </a:p>
            </p:txBody>
          </p:sp>
        </mc:Choice>
        <mc:Fallback xmlns="">
          <p:sp>
            <p:nvSpPr>
              <p:cNvPr id="8" name="文字方塊 7">
                <a:extLst>
                  <a:ext uri="{FF2B5EF4-FFF2-40B4-BE49-F238E27FC236}">
                    <a16:creationId xmlns:a16="http://schemas.microsoft.com/office/drawing/2014/main" id="{C736D0EF-242D-623C-3A9F-0D04A2BDB577}"/>
                  </a:ext>
                </a:extLst>
              </p:cNvPr>
              <p:cNvSpPr txBox="1">
                <a:spLocks noRot="1" noChangeAspect="1" noMove="1" noResize="1" noEditPoints="1" noAdjustHandles="1" noChangeArrowheads="1" noChangeShapeType="1" noTextEdit="1"/>
              </p:cNvSpPr>
              <p:nvPr/>
            </p:nvSpPr>
            <p:spPr>
              <a:xfrm>
                <a:off x="4606854" y="3284984"/>
                <a:ext cx="2111120" cy="101876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BB05E6DF-8A0D-67BB-DB5C-5980049090CA}"/>
                  </a:ext>
                </a:extLst>
              </p:cNvPr>
              <p:cNvSpPr txBox="1"/>
              <p:nvPr/>
            </p:nvSpPr>
            <p:spPr>
              <a:xfrm>
                <a:off x="4653431" y="4446396"/>
                <a:ext cx="3068084" cy="712549"/>
              </a:xfrm>
              <a:prstGeom prst="rect">
                <a:avLst/>
              </a:prstGeom>
              <a:noFill/>
            </p:spPr>
            <p:txBody>
              <a:bodyPr wrap="none" lIns="0" tIns="0" rIns="0" bIns="0" rtlCol="0" anchor="ctr" anchorCtr="1">
                <a:noAutofit/>
              </a:bodyPr>
              <a:lstStyle/>
              <a:p>
                <a:pPr>
                  <a:lnSpc>
                    <a:spcPct val="150000"/>
                  </a:lnSpc>
                </a:pPr>
                <a14:m>
                  <m:oMathPara xmlns:m="http://schemas.openxmlformats.org/officeDocument/2006/math">
                    <m:oMathParaPr>
                      <m:jc m:val="left"/>
                    </m:oMathParaPr>
                    <m:oMath>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d>
                            <m:dPr>
                              <m:ctrlPr>
                                <a:rPr lang="en-US" altLang="zh-TW" sz="1200" i="1">
                                  <a:latin typeface="Cambria Math" panose="02040503050406030204" pitchFamily="18" charset="0"/>
                                </a:rPr>
                              </m:ctrlPr>
                            </m:dPr>
                            <m:e>
                              <m:r>
                                <a:rPr lang="en-US" altLang="zh-TW" sz="1200" i="1">
                                  <a:latin typeface="Cambria Math" panose="02040503050406030204" pitchFamily="18" charset="0"/>
                                </a:rPr>
                                <m:t>𝑚</m:t>
                              </m:r>
                              <m:r>
                                <a:rPr lang="en-US" altLang="zh-TW" sz="1200" i="1">
                                  <a:latin typeface="Cambria Math" panose="02040503050406030204" pitchFamily="18" charset="0"/>
                                  <a:ea typeface="Cambria Math" panose="02040503050406030204" pitchFamily="18" charset="0"/>
                                </a:rPr>
                                <m:t>−</m:t>
                              </m:r>
                              <m:r>
                                <a:rPr lang="en-US" altLang="zh-TW" sz="1200" i="1">
                                  <a:latin typeface="Cambria Math" panose="02040503050406030204" pitchFamily="18" charset="0"/>
                                  <a:ea typeface="Cambria Math" panose="02040503050406030204" pitchFamily="18" charset="0"/>
                                </a:rPr>
                                <m:t>𝑛</m:t>
                              </m:r>
                            </m:e>
                          </m:d>
                        </m:e>
                      </m:func>
                      <m:r>
                        <a:rPr lang="en-US" altLang="zh-TW" sz="1200" i="1">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𝑛</m:t>
                          </m:r>
                          <m:r>
                            <a:rPr lang="en-US" altLang="zh-TW" sz="1200" b="0" i="1" smtClean="0">
                              <a:latin typeface="Cambria Math" panose="02040503050406030204" pitchFamily="18" charset="0"/>
                            </a:rPr>
                            <m:t>)</m:t>
                          </m:r>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𝑛</m:t>
                          </m:r>
                          <m:r>
                            <a:rPr lang="en-US" altLang="zh-TW" sz="1200" b="0" i="1" smtClean="0">
                              <a:latin typeface="Cambria Math" panose="02040503050406030204" pitchFamily="18" charset="0"/>
                            </a:rPr>
                            <m:t>)</m:t>
                          </m:r>
                        </m:e>
                      </m:func>
                    </m:oMath>
                  </m:oMathPara>
                </a14:m>
                <a:endParaRPr lang="en-US" altLang="zh-TW" sz="1200" i="1" dirty="0">
                  <a:latin typeface="Cambria Math" panose="02040503050406030204" pitchFamily="18" charset="0"/>
                </a:endParaRPr>
              </a:p>
              <a:p>
                <a:pPr>
                  <a:lnSpc>
                    <a:spcPct val="150000"/>
                  </a:lnSpc>
                </a:pPr>
                <a14:m>
                  <m:oMathPara xmlns:m="http://schemas.openxmlformats.org/officeDocument/2006/math">
                    <m:oMathParaPr>
                      <m:jc m:val="left"/>
                    </m:oMathParaPr>
                    <m:oMath>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cos</m:t>
                          </m:r>
                        </m:fName>
                        <m:e>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𝑚</m:t>
                              </m:r>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𝑛</m:t>
                              </m:r>
                            </m:e>
                          </m:d>
                        </m:e>
                      </m:func>
                      <m:r>
                        <a:rPr lang="en-US" altLang="zh-TW" sz="1200" i="1" smtClean="0">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e>
                      </m:func>
                      <m:r>
                        <a:rPr lang="en-US" altLang="zh-TW" sz="1200" b="0" i="1" smtClean="0">
                          <a:latin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b="0" i="0" smtClean="0">
                              <a:latin typeface="Cambria Math" panose="02040503050406030204" pitchFamily="18" charset="0"/>
                            </a:rPr>
                          </m:ctrlPr>
                        </m:funcPr>
                        <m:fName>
                          <m:r>
                            <m:rPr>
                              <m:sty m:val="p"/>
                            </m:rPr>
                            <a:rPr lang="en-US" altLang="zh-TW" sz="1200" b="0" i="0" smtClean="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e>
                      </m:func>
                    </m:oMath>
                  </m:oMathPara>
                </a14:m>
                <a:endParaRPr lang="en-US" altLang="zh-TW" sz="1200" i="1" dirty="0">
                  <a:latin typeface="Cambria Math" panose="02040503050406030204" pitchFamily="18" charset="0"/>
                </a:endParaRPr>
              </a:p>
            </p:txBody>
          </p:sp>
        </mc:Choice>
        <mc:Fallback xmlns="">
          <p:sp>
            <p:nvSpPr>
              <p:cNvPr id="10" name="文字方塊 9">
                <a:extLst>
                  <a:ext uri="{FF2B5EF4-FFF2-40B4-BE49-F238E27FC236}">
                    <a16:creationId xmlns:a16="http://schemas.microsoft.com/office/drawing/2014/main" id="{BB05E6DF-8A0D-67BB-DB5C-5980049090CA}"/>
                  </a:ext>
                </a:extLst>
              </p:cNvPr>
              <p:cNvSpPr txBox="1">
                <a:spLocks noRot="1" noChangeAspect="1" noMove="1" noResize="1" noEditPoints="1" noAdjustHandles="1" noChangeArrowheads="1" noChangeShapeType="1" noTextEdit="1"/>
              </p:cNvSpPr>
              <p:nvPr/>
            </p:nvSpPr>
            <p:spPr>
              <a:xfrm>
                <a:off x="4653431" y="4446396"/>
                <a:ext cx="3068084" cy="712549"/>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38833136-D2E0-FCFD-BF10-DE4A8DAECD23}"/>
                  </a:ext>
                </a:extLst>
              </p:cNvPr>
              <p:cNvSpPr txBox="1"/>
              <p:nvPr/>
            </p:nvSpPr>
            <p:spPr>
              <a:xfrm>
                <a:off x="527277" y="4584634"/>
                <a:ext cx="4076197" cy="1148622"/>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latin typeface="Cambria Math" panose="02040503050406030204" pitchFamily="18" charset="0"/>
                              <a:ea typeface="Cambria Math" panose="02040503050406030204" pitchFamily="18" charset="0"/>
                            </a:rPr>
                          </m:ctrlPr>
                        </m:dPr>
                        <m:e>
                          <m:eqArr>
                            <m:eqArrPr>
                              <m:ctrlPr>
                                <a:rPr lang="en-US" altLang="zh-TW" sz="1200" i="1" smtClean="0">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𝑞</m:t>
                                  </m:r>
                                </m:e>
                                <m:sub>
                                  <m:r>
                                    <a:rPr lang="en-US" altLang="zh-TW" sz="1200" b="0" i="1" smtClean="0">
                                      <a:latin typeface="Cambria Math" panose="02040503050406030204" pitchFamily="18" charset="0"/>
                                      <a:ea typeface="Cambria Math" panose="02040503050406030204" pitchFamily="18" charset="0"/>
                                    </a:rPr>
                                    <m:t>1</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𝑞</m:t>
                                  </m:r>
                                </m:e>
                                <m:sub>
                                  <m:r>
                                    <a:rPr lang="en-US" altLang="zh-TW" sz="1200" b="0" i="1" smtClean="0">
                                      <a:latin typeface="Cambria Math" panose="02040503050406030204" pitchFamily="18" charset="0"/>
                                      <a:ea typeface="Cambria Math" panose="02040503050406030204" pitchFamily="18" charset="0"/>
                                    </a:rPr>
                                    <m:t>2</m:t>
                                  </m:r>
                                </m:sub>
                              </m:sSub>
                            </m:e>
                          </m:eqArr>
                        </m:e>
                      </m:d>
                      <m:r>
                        <a:rPr lang="az-Cyrl-AZ" altLang="zh-TW" sz="1200" i="1" smtClean="0">
                          <a:latin typeface="Cambria Math" panose="02040503050406030204" pitchFamily="18" charset="0"/>
                          <a:ea typeface="Cambria Math" panose="02040503050406030204" pitchFamily="18" charset="0"/>
                        </a:rPr>
                        <m:t>ꚛ</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𝑘</m:t>
                                  </m:r>
                                </m:e>
                                <m:sub>
                                  <m:r>
                                    <a:rPr lang="en-US" altLang="zh-TW" sz="1200" i="1">
                                      <a:latin typeface="Cambria Math" panose="02040503050406030204" pitchFamily="18" charset="0"/>
                                      <a:ea typeface="Cambria Math" panose="02040503050406030204" pitchFamily="18" charset="0"/>
                                    </a:rPr>
                                    <m:t>1</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𝑘</m:t>
                                  </m:r>
                                </m:e>
                                <m:sub>
                                  <m:r>
                                    <a:rPr lang="en-US" altLang="zh-TW" sz="1200" i="1">
                                      <a:latin typeface="Cambria Math" panose="02040503050406030204" pitchFamily="18" charset="0"/>
                                      <a:ea typeface="Cambria Math" panose="02040503050406030204" pitchFamily="18" charset="0"/>
                                    </a:rPr>
                                    <m:t>2</m:t>
                                  </m:r>
                                </m:sub>
                              </m:sSub>
                            </m:e>
                          </m:eqArr>
                        </m:e>
                      </m:d>
                    </m:oMath>
                  </m:oMathPara>
                </a14:m>
                <a:endParaRPr lang="en-US" altLang="zh-TW" sz="1200" i="1" dirty="0">
                  <a:latin typeface="Cambria Math" panose="02040503050406030204" pitchFamily="18" charset="0"/>
                  <a:ea typeface="Cambria Math" panose="02040503050406030204" pitchFamily="18" charset="0"/>
                </a:endParaRPr>
              </a:p>
              <a:p>
                <a:pPr>
                  <a:lnSpc>
                    <a:spcPct val="150000"/>
                  </a:lnSpc>
                </a:pPr>
                <a:r>
                  <a:rPr lang="en-US" altLang="zh-TW" sz="1200" b="0" i="1" dirty="0">
                    <a:latin typeface="Cambria Math" panose="02040503050406030204" pitchFamily="18" charset="0"/>
                  </a:rPr>
                  <a:t>=  …</a:t>
                </a: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i="1">
                                  <a:latin typeface="Cambria Math" panose="02040503050406030204" pitchFamily="18" charset="0"/>
                                </a:rPr>
                                <m:t>2</m:t>
                              </m:r>
                            </m:sub>
                          </m:sSub>
                        </m:e>
                      </m:d>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cos</m:t>
                          </m:r>
                        </m:fName>
                        <m:e>
                          <m:d>
                            <m:dPr>
                              <m:ctrlPr>
                                <a:rPr lang="en-US" altLang="zh-TW" sz="1200" b="1" i="1" smtClean="0">
                                  <a:solidFill>
                                    <a:srgbClr val="FF0000"/>
                                  </a:solidFill>
                                  <a:latin typeface="Cambria Math" panose="02040503050406030204" pitchFamily="18" charset="0"/>
                                </a:rPr>
                              </m:ctrlPr>
                            </m:dPr>
                            <m:e>
                              <m:r>
                                <a:rPr lang="en-US" altLang="zh-TW" sz="1200" b="1" i="1" smtClean="0">
                                  <a:solidFill>
                                    <a:srgbClr val="FF0000"/>
                                  </a:solidFill>
                                  <a:latin typeface="Cambria Math" panose="02040503050406030204" pitchFamily="18" charset="0"/>
                                </a:rPr>
                                <m:t>𝒎</m:t>
                              </m:r>
                              <m:r>
                                <a:rPr lang="en-US" altLang="zh-TW" sz="1200" b="1" i="1" smtClean="0">
                                  <a:solidFill>
                                    <a:srgbClr val="FF0000"/>
                                  </a:solidFill>
                                  <a:latin typeface="Cambria Math" panose="02040503050406030204" pitchFamily="18" charset="0"/>
                                  <a:ea typeface="Cambria Math" panose="02040503050406030204" pitchFamily="18" charset="0"/>
                                </a:rPr>
                                <m:t>−</m:t>
                              </m:r>
                              <m:r>
                                <a:rPr lang="en-US" altLang="zh-TW" sz="1200" b="1" i="1" smtClean="0">
                                  <a:solidFill>
                                    <a:srgbClr val="FF0000"/>
                                  </a:solidFill>
                                  <a:latin typeface="Cambria Math" panose="02040503050406030204" pitchFamily="18" charset="0"/>
                                  <a:ea typeface="Cambria Math" panose="02040503050406030204" pitchFamily="18" charset="0"/>
                                </a:rPr>
                                <m:t>𝒏</m:t>
                              </m:r>
                            </m:e>
                          </m:d>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r>
                            <a:rPr lang="en-US" altLang="zh-TW" sz="1200" i="1" smtClean="0">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𝑞</m:t>
                                  </m:r>
                                </m:e>
                                <m:sub>
                                  <m:r>
                                    <a:rPr lang="en-US" altLang="zh-TW" sz="1200" b="0" i="1" smtClean="0">
                                      <a:latin typeface="Cambria Math" panose="02040503050406030204" pitchFamily="18" charset="0"/>
                                    </a:rPr>
                                    <m:t>2</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b="0" i="1" smtClean="0">
                                      <a:latin typeface="Cambria Math" panose="02040503050406030204" pitchFamily="18" charset="0"/>
                                    </a:rPr>
                                    <m:t>1</m:t>
                                  </m:r>
                                </m:sub>
                              </m:sSub>
                            </m:e>
                          </m:d>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sin</m:t>
                              </m:r>
                            </m:fName>
                            <m:e>
                              <m:d>
                                <m:dPr>
                                  <m:ctrlPr>
                                    <a:rPr lang="en-US" altLang="zh-TW" sz="1200" b="1" i="1" smtClean="0">
                                      <a:solidFill>
                                        <a:srgbClr val="FF0000"/>
                                      </a:solidFill>
                                      <a:latin typeface="Cambria Math" panose="02040503050406030204" pitchFamily="18" charset="0"/>
                                    </a:rPr>
                                  </m:ctrlPr>
                                </m:dPr>
                                <m:e>
                                  <m:r>
                                    <a:rPr lang="en-US" altLang="zh-TW" sz="1200" b="1" i="1" smtClean="0">
                                      <a:solidFill>
                                        <a:srgbClr val="FF0000"/>
                                      </a:solidFill>
                                      <a:latin typeface="Cambria Math" panose="02040503050406030204" pitchFamily="18" charset="0"/>
                                    </a:rPr>
                                    <m:t>𝒎</m:t>
                                  </m:r>
                                  <m:r>
                                    <a:rPr lang="en-US" altLang="zh-TW" sz="1200" b="1" i="1" smtClean="0">
                                      <a:solidFill>
                                        <a:srgbClr val="FF0000"/>
                                      </a:solidFill>
                                      <a:latin typeface="Cambria Math" panose="02040503050406030204" pitchFamily="18" charset="0"/>
                                    </a:rPr>
                                    <m:t>−</m:t>
                                  </m:r>
                                  <m:r>
                                    <a:rPr lang="en-US" altLang="zh-TW" sz="1200" b="1" i="1" smtClean="0">
                                      <a:solidFill>
                                        <a:srgbClr val="FF0000"/>
                                      </a:solidFill>
                                      <a:latin typeface="Cambria Math" panose="02040503050406030204" pitchFamily="18" charset="0"/>
                                    </a:rPr>
                                    <m:t>𝒏</m:t>
                                  </m:r>
                                </m:e>
                              </m:d>
                              <m:sSub>
                                <m:sSubPr>
                                  <m:ctrlPr>
                                    <a:rPr lang="zh-TW" altLang="en-US" sz="1200" i="1" smtClean="0">
                                      <a:latin typeface="Cambria Math" panose="02040503050406030204" pitchFamily="18" charset="0"/>
                                    </a:rPr>
                                  </m:ctrlPr>
                                </m:sSubPr>
                                <m:e>
                                  <m:r>
                                    <a:rPr lang="zh-TW" altLang="en-US" sz="1200" i="1" smtClean="0">
                                      <a:latin typeface="Cambria Math" panose="02040503050406030204" pitchFamily="18" charset="0"/>
                                    </a:rPr>
                                    <m:t>𝜃</m:t>
                                  </m:r>
                                </m:e>
                                <m:sub>
                                  <m:r>
                                    <a:rPr lang="en-US" altLang="zh-TW" sz="1200" b="0" i="1" smtClean="0">
                                      <a:latin typeface="Cambria Math" panose="02040503050406030204" pitchFamily="18" charset="0"/>
                                    </a:rPr>
                                    <m:t>𝑗</m:t>
                                  </m:r>
                                </m:sub>
                              </m:sSub>
                            </m:e>
                          </m:func>
                        </m:e>
                      </m:func>
                    </m:oMath>
                  </m:oMathPara>
                </a14:m>
                <a:endParaRPr lang="en-US" altLang="zh-TW" sz="1200" b="0" i="1" dirty="0">
                  <a:latin typeface="Cambria Math" panose="02040503050406030204" pitchFamily="18" charset="0"/>
                </a:endParaRPr>
              </a:p>
            </p:txBody>
          </p:sp>
        </mc:Choice>
        <mc:Fallback xmlns="">
          <p:sp>
            <p:nvSpPr>
              <p:cNvPr id="11" name="文字方塊 10">
                <a:extLst>
                  <a:ext uri="{FF2B5EF4-FFF2-40B4-BE49-F238E27FC236}">
                    <a16:creationId xmlns:a16="http://schemas.microsoft.com/office/drawing/2014/main" id="{38833136-D2E0-FCFD-BF10-DE4A8DAECD23}"/>
                  </a:ext>
                </a:extLst>
              </p:cNvPr>
              <p:cNvSpPr txBox="1">
                <a:spLocks noRot="1" noChangeAspect="1" noMove="1" noResize="1" noEditPoints="1" noAdjustHandles="1" noChangeArrowheads="1" noChangeShapeType="1" noTextEdit="1"/>
              </p:cNvSpPr>
              <p:nvPr/>
            </p:nvSpPr>
            <p:spPr>
              <a:xfrm>
                <a:off x="527277" y="4584634"/>
                <a:ext cx="4076197" cy="1148622"/>
              </a:xfrm>
              <a:prstGeom prst="rect">
                <a:avLst/>
              </a:prstGeom>
              <a:blipFill>
                <a:blip r:embed="rId7"/>
                <a:stretch>
                  <a:fillRect l="-2242" b="-53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800878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96F189B-CCA9-A190-9342-DFE45EE39B14}"/>
              </a:ext>
            </a:extLst>
          </p:cNvPr>
          <p:cNvPicPr>
            <a:picLocks noChangeAspect="1"/>
          </p:cNvPicPr>
          <p:nvPr/>
        </p:nvPicPr>
        <p:blipFill>
          <a:blip r:embed="rId3"/>
          <a:stretch>
            <a:fillRect/>
          </a:stretch>
        </p:blipFill>
        <p:spPr>
          <a:xfrm>
            <a:off x="3176392" y="2390630"/>
            <a:ext cx="2791215" cy="2076740"/>
          </a:xfrm>
          <a:prstGeom prst="rect">
            <a:avLst/>
          </a:prstGeom>
        </p:spPr>
      </p:pic>
      <p:sp>
        <p:nvSpPr>
          <p:cNvPr id="5" name="文字方塊 4">
            <a:extLst>
              <a:ext uri="{FF2B5EF4-FFF2-40B4-BE49-F238E27FC236}">
                <a16:creationId xmlns:a16="http://schemas.microsoft.com/office/drawing/2014/main" id="{ACDF7882-DCFE-49CC-16BA-3B03F5D9EC4F}"/>
              </a:ext>
            </a:extLst>
          </p:cNvPr>
          <p:cNvSpPr txBox="1"/>
          <p:nvPr/>
        </p:nvSpPr>
        <p:spPr>
          <a:xfrm>
            <a:off x="395536" y="260648"/>
            <a:ext cx="8352928" cy="797975"/>
          </a:xfrm>
          <a:prstGeom prst="rect">
            <a:avLst/>
          </a:prstGeom>
          <a:noFill/>
        </p:spPr>
        <p:txBody>
          <a:bodyPr wrap="square">
            <a:spAutoFit/>
          </a:bodyPr>
          <a:lstStyle/>
          <a:p>
            <a:pPr marL="0" marR="0">
              <a:lnSpc>
                <a:spcPts val="1400"/>
              </a:lnSpc>
              <a:buNone/>
            </a:pPr>
            <a:r>
              <a:rPr lang="zh-TW" altLang="zh-TW" sz="1100" b="1" u="none" strike="noStrike" dirty="0">
                <a:effectLst/>
                <a:latin typeface="微軟正黑體" panose="020B0604030504040204" pitchFamily="34" charset="-120"/>
                <a:ea typeface="微軟正黑體" panose="020B0604030504040204" pitchFamily="34" charset="-120"/>
              </a:rPr>
              <a:t>1. 編碼公式</a:t>
            </a:r>
          </a:p>
          <a:p>
            <a:pPr marL="0" marR="0">
              <a:lnSpc>
                <a:spcPts val="1400"/>
              </a:lnSpc>
              <a:buNone/>
            </a:pPr>
            <a:r>
              <a:rPr lang="zh-TW" altLang="zh-TW" sz="1100" b="0" u="none" strike="noStrike" dirty="0">
                <a:effectLst/>
                <a:latin typeface="微軟正黑體" panose="020B0604030504040204" pitchFamily="34" charset="-120"/>
                <a:ea typeface="微軟正黑體" panose="020B0604030504040204" pitchFamily="34" charset="-120"/>
              </a:rPr>
              <a:t>原始 Transformer 是直接在輸入的詞向量（Word Embedding）上，</a:t>
            </a:r>
            <a:r>
              <a:rPr lang="zh-TW" altLang="zh-TW" sz="1100" b="1" u="none" strike="noStrike" dirty="0">
                <a:effectLst/>
                <a:latin typeface="微軟正黑體" panose="020B0604030504040204" pitchFamily="34" charset="-120"/>
                <a:ea typeface="微軟正黑體" panose="020B0604030504040204" pitchFamily="34" charset="-120"/>
              </a:rPr>
              <a:t>「逐個維度相加」</a:t>
            </a:r>
            <a:r>
              <a:rPr lang="zh-TW" altLang="zh-TW" sz="1100" b="0" u="none" strike="noStrike" dirty="0">
                <a:effectLst/>
                <a:latin typeface="微軟正黑體" panose="020B0604030504040204" pitchFamily="34" charset="-120"/>
                <a:ea typeface="微軟正黑體" panose="020B0604030504040204" pitchFamily="34" charset="-120"/>
              </a:rPr>
              <a:t>一個固定計算出來的位置向量。</a:t>
            </a:r>
          </a:p>
          <a:p>
            <a:pPr marL="0" marR="0">
              <a:lnSpc>
                <a:spcPts val="1400"/>
              </a:lnSpc>
              <a:buNone/>
            </a:pPr>
            <a:r>
              <a:rPr lang="zh-TW" altLang="zh-TW" sz="1100" b="0" u="none" strike="noStrike" dirty="0">
                <a:effectLst/>
                <a:latin typeface="微軟正黑體" panose="020B0604030504040204" pitchFamily="34" charset="-120"/>
                <a:ea typeface="微軟正黑體" panose="020B0604030504040204" pitchFamily="34" charset="-120"/>
              </a:rPr>
              <a:t>對於句子中第 pos 個位置的字，它對應的編碼向量中第 i 個維度的計算公式如下：</a:t>
            </a:r>
            <a:endParaRPr lang="en-US" altLang="zh-TW" sz="1100" b="0" u="none" strike="noStrike" dirty="0">
              <a:effectLst/>
              <a:latin typeface="微軟正黑體" panose="020B0604030504040204" pitchFamily="34" charset="-120"/>
              <a:ea typeface="微軟正黑體" panose="020B0604030504040204" pitchFamily="34" charset="-120"/>
            </a:endParaRPr>
          </a:p>
          <a:p>
            <a:pPr marL="0" marR="0">
              <a:lnSpc>
                <a:spcPts val="1400"/>
              </a:lnSpc>
              <a:buNone/>
            </a:pPr>
            <a:r>
              <a:rPr lang="en-US" altLang="zh-TW" sz="1100" b="0" u="none" strike="noStrike" dirty="0">
                <a:effectLst/>
                <a:latin typeface="微軟正黑體" panose="020B0604030504040204" pitchFamily="34" charset="-120"/>
                <a:ea typeface="微軟正黑體" panose="020B0604030504040204" pitchFamily="34" charset="-120"/>
              </a:rPr>
              <a:t>.</a:t>
            </a:r>
            <a:endParaRPr lang="zh-TW" altLang="zh-TW" sz="1100" b="0" u="none" strike="noStrike" dirty="0">
              <a:effectLst/>
              <a:latin typeface="微軟正黑體" panose="020B0604030504040204" pitchFamily="34" charset="-120"/>
              <a:ea typeface="微軟正黑體" panose="020B0604030504040204" pitchFamily="34" charset="-120"/>
            </a:endParaRPr>
          </a:p>
        </p:txBody>
      </p:sp>
      <p:pic>
        <p:nvPicPr>
          <p:cNvPr id="7" name="圖片 6">
            <a:extLst>
              <a:ext uri="{FF2B5EF4-FFF2-40B4-BE49-F238E27FC236}">
                <a16:creationId xmlns:a16="http://schemas.microsoft.com/office/drawing/2014/main" id="{2179AD0A-1E04-6EE4-D5EC-F1355DDD6210}"/>
              </a:ext>
            </a:extLst>
          </p:cNvPr>
          <p:cNvPicPr>
            <a:picLocks noChangeAspect="1"/>
          </p:cNvPicPr>
          <p:nvPr/>
        </p:nvPicPr>
        <p:blipFill>
          <a:blip r:embed="rId4"/>
          <a:stretch>
            <a:fillRect/>
          </a:stretch>
        </p:blipFill>
        <p:spPr>
          <a:xfrm>
            <a:off x="1509284" y="4485279"/>
            <a:ext cx="6125430" cy="1333686"/>
          </a:xfrm>
          <a:prstGeom prst="rect">
            <a:avLst/>
          </a:prstGeom>
        </p:spPr>
      </p:pic>
    </p:spTree>
    <p:extLst>
      <p:ext uri="{BB962C8B-B14F-4D97-AF65-F5344CB8AC3E}">
        <p14:creationId xmlns:p14="http://schemas.microsoft.com/office/powerpoint/2010/main" val="36304154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783E2FE9-23D8-8321-7637-C17FA74FAB22}"/>
              </a:ext>
            </a:extLst>
          </p:cNvPr>
          <p:cNvSpPr txBox="1"/>
          <p:nvPr/>
        </p:nvSpPr>
        <p:spPr>
          <a:xfrm>
            <a:off x="287524" y="4976008"/>
            <a:ext cx="5076564" cy="1477328"/>
          </a:xfrm>
          <a:prstGeom prst="rect">
            <a:avLst/>
          </a:prstGeom>
          <a:noFill/>
        </p:spPr>
        <p:txBody>
          <a:bodyPr wrap="square">
            <a:spAutoFit/>
          </a:bodyPr>
          <a:lstStyle/>
          <a:p>
            <a:pPr>
              <a:lnSpc>
                <a:spcPts val="1800"/>
              </a:lnSpc>
              <a:spcBef>
                <a:spcPts val="600"/>
              </a:spcBef>
              <a:spcAft>
                <a:spcPts val="600"/>
              </a:spcAft>
            </a:pPr>
            <a:r>
              <a:rPr lang="en-US" altLang="zh-TW" sz="2000" b="1" dirty="0"/>
              <a:t>Inference</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ML: </a:t>
            </a:r>
            <a:r>
              <a:rPr lang="en-US" altLang="zh-TW" sz="1600" u="none" strike="noStrike" dirty="0">
                <a:effectLst/>
              </a:rPr>
              <a:t>Establish a model to predict unknown outcomes</a:t>
            </a:r>
          </a:p>
          <a:p>
            <a:pPr marL="285750" indent="-285750">
              <a:lnSpc>
                <a:spcPts val="1800"/>
              </a:lnSpc>
              <a:spcBef>
                <a:spcPts val="600"/>
              </a:spcBef>
              <a:spcAft>
                <a:spcPts val="600"/>
              </a:spcAft>
              <a:buFont typeface="Wingdings" panose="05000000000000000000" pitchFamily="2" charset="2"/>
              <a:buChar char="Ø"/>
            </a:pPr>
            <a:r>
              <a:rPr lang="en-US" altLang="zh-TW" sz="1600" b="1" dirty="0"/>
              <a:t>GPT</a:t>
            </a:r>
            <a:r>
              <a:rPr lang="en-US" altLang="zh-TW" sz="1600" dirty="0"/>
              <a:t>:</a:t>
            </a:r>
            <a:r>
              <a:rPr lang="zh-TW" altLang="en-US" sz="1600" dirty="0"/>
              <a:t> </a:t>
            </a:r>
            <a:r>
              <a:rPr lang="en-US" altLang="zh-TW" sz="1600" dirty="0"/>
              <a:t>Establish a language model to predict next token</a:t>
            </a:r>
          </a:p>
          <a:p>
            <a:pPr marL="285750" indent="-285750">
              <a:lnSpc>
                <a:spcPts val="1800"/>
              </a:lnSpc>
              <a:spcBef>
                <a:spcPts val="600"/>
              </a:spcBef>
              <a:spcAft>
                <a:spcPts val="600"/>
              </a:spcAft>
              <a:buFont typeface="Wingdings" panose="05000000000000000000" pitchFamily="2" charset="2"/>
              <a:buChar char="Ø"/>
            </a:pPr>
            <a:r>
              <a:rPr lang="en-US" altLang="zh-TW" sz="1600" b="1" dirty="0"/>
              <a:t>Training</a:t>
            </a:r>
            <a:r>
              <a:rPr lang="en-US" altLang="zh-TW" sz="1600" dirty="0"/>
              <a:t>: Minimize the prediction errors.</a:t>
            </a:r>
          </a:p>
        </p:txBody>
      </p:sp>
      <p:sp>
        <p:nvSpPr>
          <p:cNvPr id="11" name="標題 1">
            <a:extLst>
              <a:ext uri="{FF2B5EF4-FFF2-40B4-BE49-F238E27FC236}">
                <a16:creationId xmlns:a16="http://schemas.microsoft.com/office/drawing/2014/main" id="{D342347B-3406-5B70-888B-D0EE62A80FC4}"/>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Generative Pretrained Transformer</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ChatGPT is developed by OpenAI</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grpSp>
        <p:nvGrpSpPr>
          <p:cNvPr id="102" name="群組 101">
            <a:extLst>
              <a:ext uri="{FF2B5EF4-FFF2-40B4-BE49-F238E27FC236}">
                <a16:creationId xmlns:a16="http://schemas.microsoft.com/office/drawing/2014/main" id="{8FCF9956-704A-E7BC-B547-D9197FED39D4}"/>
              </a:ext>
            </a:extLst>
          </p:cNvPr>
          <p:cNvGrpSpPr/>
          <p:nvPr/>
        </p:nvGrpSpPr>
        <p:grpSpPr>
          <a:xfrm>
            <a:off x="1403648" y="1052736"/>
            <a:ext cx="2834823" cy="3373554"/>
            <a:chOff x="1262831" y="1264889"/>
            <a:chExt cx="2695542" cy="3087944"/>
          </a:xfrm>
        </p:grpSpPr>
        <p:pic>
          <p:nvPicPr>
            <p:cNvPr id="5" name="圖片 4" descr="一張含有 文字, 螢幕擷取畫面, 圖表, 字型 的圖片&#10;&#10;AI 產生的內容可能不正確。">
              <a:extLst>
                <a:ext uri="{FF2B5EF4-FFF2-40B4-BE49-F238E27FC236}">
                  <a16:creationId xmlns:a16="http://schemas.microsoft.com/office/drawing/2014/main" id="{2BCA7568-8E19-A6E4-C92F-833FC4128D3F}"/>
                </a:ext>
              </a:extLst>
            </p:cNvPr>
            <p:cNvPicPr>
              <a:picLocks noChangeAspect="1"/>
            </p:cNvPicPr>
            <p:nvPr/>
          </p:nvPicPr>
          <p:blipFill>
            <a:blip r:embed="rId3"/>
            <a:stretch>
              <a:fillRect/>
            </a:stretch>
          </p:blipFill>
          <p:spPr>
            <a:xfrm>
              <a:off x="1271735" y="1264889"/>
              <a:ext cx="2577367" cy="3087944"/>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63500">
                <a:schemeClr val="accent1">
                  <a:satMod val="175000"/>
                  <a:alpha val="40000"/>
                </a:schemeClr>
              </a:glow>
            </a:effectLst>
          </p:spPr>
        </p:pic>
        <p:sp>
          <p:nvSpPr>
            <p:cNvPr id="8" name="標題 1">
              <a:extLst>
                <a:ext uri="{FF2B5EF4-FFF2-40B4-BE49-F238E27FC236}">
                  <a16:creationId xmlns:a16="http://schemas.microsoft.com/office/drawing/2014/main" id="{525BE251-F62B-F004-400A-FC6BC5C705B4}"/>
                </a:ext>
              </a:extLst>
            </p:cNvPr>
            <p:cNvSpPr txBox="1">
              <a:spLocks/>
            </p:cNvSpPr>
            <p:nvPr/>
          </p:nvSpPr>
          <p:spPr>
            <a:xfrm>
              <a:off x="1262831" y="2097449"/>
              <a:ext cx="610509" cy="251431"/>
            </a:xfrm>
            <a:prstGeom prst="rect">
              <a:avLst/>
            </a:prstGeom>
          </p:spPr>
          <p:txBody>
            <a:bodyPr wrap="none"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200" b="1" dirty="0">
                  <a:latin typeface="Arial" panose="020B0604020202020204" pitchFamily="34" charset="0"/>
                  <a:cs typeface="Arial" panose="020B0604020202020204" pitchFamily="34" charset="0"/>
                  <a:sym typeface="Wingdings" panose="05000000000000000000" pitchFamily="2" charset="2"/>
                </a:rPr>
                <a:t>Encoder</a:t>
              </a:r>
              <a:endParaRPr lang="en-US" altLang="zh-TW" sz="1400" b="1" dirty="0">
                <a:latin typeface="Arial" panose="020B0604020202020204" pitchFamily="34" charset="0"/>
                <a:cs typeface="Arial" panose="020B0604020202020204" pitchFamily="34" charset="0"/>
                <a:sym typeface="Wingdings" panose="05000000000000000000" pitchFamily="2" charset="2"/>
              </a:endParaRPr>
            </a:p>
          </p:txBody>
        </p:sp>
        <p:sp>
          <p:nvSpPr>
            <p:cNvPr id="40" name="標題 1">
              <a:extLst>
                <a:ext uri="{FF2B5EF4-FFF2-40B4-BE49-F238E27FC236}">
                  <a16:creationId xmlns:a16="http://schemas.microsoft.com/office/drawing/2014/main" id="{9C23FA67-70C4-3768-1F74-DA78B9D624BB}"/>
                </a:ext>
              </a:extLst>
            </p:cNvPr>
            <p:cNvSpPr txBox="1">
              <a:spLocks/>
            </p:cNvSpPr>
            <p:nvPr/>
          </p:nvSpPr>
          <p:spPr>
            <a:xfrm>
              <a:off x="3347864" y="1665401"/>
              <a:ext cx="610509" cy="251431"/>
            </a:xfrm>
            <a:prstGeom prst="rect">
              <a:avLst/>
            </a:prstGeom>
          </p:spPr>
          <p:txBody>
            <a:bodyPr wrap="none"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200" b="1" dirty="0">
                  <a:latin typeface="Arial" panose="020B0604020202020204" pitchFamily="34" charset="0"/>
                  <a:cs typeface="Arial" panose="020B0604020202020204" pitchFamily="34" charset="0"/>
                  <a:sym typeface="Wingdings" panose="05000000000000000000" pitchFamily="2" charset="2"/>
                </a:rPr>
                <a:t>Decoder</a:t>
              </a:r>
              <a:endParaRPr lang="en-US" altLang="zh-TW" sz="1400" b="1" dirty="0">
                <a:latin typeface="Arial" panose="020B0604020202020204" pitchFamily="34" charset="0"/>
                <a:cs typeface="Arial" panose="020B0604020202020204" pitchFamily="34" charset="0"/>
                <a:sym typeface="Wingdings" panose="05000000000000000000" pitchFamily="2" charset="2"/>
              </a:endParaRPr>
            </a:p>
          </p:txBody>
        </p:sp>
      </p:grpSp>
      <p:sp>
        <p:nvSpPr>
          <p:cNvPr id="100" name="文字方塊 99">
            <a:extLst>
              <a:ext uri="{FF2B5EF4-FFF2-40B4-BE49-F238E27FC236}">
                <a16:creationId xmlns:a16="http://schemas.microsoft.com/office/drawing/2014/main" id="{1E34967F-7D17-B18F-EF29-ADF843C3ABDE}"/>
              </a:ext>
            </a:extLst>
          </p:cNvPr>
          <p:cNvSpPr txBox="1"/>
          <p:nvPr/>
        </p:nvSpPr>
        <p:spPr>
          <a:xfrm>
            <a:off x="5148064" y="1070493"/>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01" name="表格 100">
            <a:extLst>
              <a:ext uri="{FF2B5EF4-FFF2-40B4-BE49-F238E27FC236}">
                <a16:creationId xmlns:a16="http://schemas.microsoft.com/office/drawing/2014/main" id="{95517A14-39B7-2889-DF33-E453BC760876}"/>
              </a:ext>
            </a:extLst>
          </p:cNvPr>
          <p:cNvGraphicFramePr>
            <a:graphicFrameLocks noGrp="1"/>
          </p:cNvGraphicFramePr>
          <p:nvPr>
            <p:extLst>
              <p:ext uri="{D42A27DB-BD31-4B8C-83A1-F6EECF244321}">
                <p14:modId xmlns:p14="http://schemas.microsoft.com/office/powerpoint/2010/main" val="112201847"/>
              </p:ext>
            </p:extLst>
          </p:nvPr>
        </p:nvGraphicFramePr>
        <p:xfrm>
          <a:off x="5207041" y="1092619"/>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07" name="文字方塊 106">
            <a:extLst>
              <a:ext uri="{FF2B5EF4-FFF2-40B4-BE49-F238E27FC236}">
                <a16:creationId xmlns:a16="http://schemas.microsoft.com/office/drawing/2014/main" id="{F1C8B0C7-8D3E-084A-819C-41D5EF20519F}"/>
              </a:ext>
            </a:extLst>
          </p:cNvPr>
          <p:cNvSpPr txBox="1"/>
          <p:nvPr/>
        </p:nvSpPr>
        <p:spPr>
          <a:xfrm>
            <a:off x="5148064" y="2102606"/>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08" name="表格 107">
            <a:extLst>
              <a:ext uri="{FF2B5EF4-FFF2-40B4-BE49-F238E27FC236}">
                <a16:creationId xmlns:a16="http://schemas.microsoft.com/office/drawing/2014/main" id="{1F04AE3E-C6EB-D350-EFB3-26C2D1879152}"/>
              </a:ext>
            </a:extLst>
          </p:cNvPr>
          <p:cNvGraphicFramePr>
            <a:graphicFrameLocks noGrp="1"/>
          </p:cNvGraphicFramePr>
          <p:nvPr>
            <p:extLst>
              <p:ext uri="{D42A27DB-BD31-4B8C-83A1-F6EECF244321}">
                <p14:modId xmlns:p14="http://schemas.microsoft.com/office/powerpoint/2010/main" val="4017909049"/>
              </p:ext>
            </p:extLst>
          </p:nvPr>
        </p:nvGraphicFramePr>
        <p:xfrm>
          <a:off x="5207041" y="2124732"/>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09" name="文字方塊 108">
            <a:extLst>
              <a:ext uri="{FF2B5EF4-FFF2-40B4-BE49-F238E27FC236}">
                <a16:creationId xmlns:a16="http://schemas.microsoft.com/office/drawing/2014/main" id="{B98439EE-FD02-FC25-D93D-26FFC2AE0889}"/>
              </a:ext>
            </a:extLst>
          </p:cNvPr>
          <p:cNvSpPr txBox="1"/>
          <p:nvPr/>
        </p:nvSpPr>
        <p:spPr>
          <a:xfrm>
            <a:off x="5152301" y="3134719"/>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0" name="表格 109">
            <a:extLst>
              <a:ext uri="{FF2B5EF4-FFF2-40B4-BE49-F238E27FC236}">
                <a16:creationId xmlns:a16="http://schemas.microsoft.com/office/drawing/2014/main" id="{6CBE62CD-66DD-ADA7-37FD-2A4A9FF3FC96}"/>
              </a:ext>
            </a:extLst>
          </p:cNvPr>
          <p:cNvGraphicFramePr>
            <a:graphicFrameLocks noGrp="1"/>
          </p:cNvGraphicFramePr>
          <p:nvPr>
            <p:extLst>
              <p:ext uri="{D42A27DB-BD31-4B8C-83A1-F6EECF244321}">
                <p14:modId xmlns:p14="http://schemas.microsoft.com/office/powerpoint/2010/main" val="2991861615"/>
              </p:ext>
            </p:extLst>
          </p:nvPr>
        </p:nvGraphicFramePr>
        <p:xfrm>
          <a:off x="5211278" y="3156845"/>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1" cap="none" spc="0" dirty="0">
                          <a:ln w="0"/>
                          <a:solidFill>
                            <a:schemeClr val="tx1"/>
                          </a:solidFill>
                          <a:effectLst/>
                        </a:rPr>
                        <a:t>Input</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11" name="文字方塊 110">
            <a:extLst>
              <a:ext uri="{FF2B5EF4-FFF2-40B4-BE49-F238E27FC236}">
                <a16:creationId xmlns:a16="http://schemas.microsoft.com/office/drawing/2014/main" id="{F746BA90-4911-879D-BBE0-D8C6854D6136}"/>
              </a:ext>
            </a:extLst>
          </p:cNvPr>
          <p:cNvSpPr txBox="1"/>
          <p:nvPr/>
        </p:nvSpPr>
        <p:spPr>
          <a:xfrm>
            <a:off x="8172400" y="3839127"/>
            <a:ext cx="728464" cy="958025"/>
          </a:xfrm>
          <a:prstGeom prst="rect">
            <a:avLst/>
          </a:prstGeom>
          <a:solidFill>
            <a:srgbClr val="FDE7DA">
              <a:alpha val="8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2" name="表格 111">
            <a:extLst>
              <a:ext uri="{FF2B5EF4-FFF2-40B4-BE49-F238E27FC236}">
                <a16:creationId xmlns:a16="http://schemas.microsoft.com/office/drawing/2014/main" id="{4369CB11-5FD5-528A-DE9C-505B7E58E552}"/>
              </a:ext>
            </a:extLst>
          </p:cNvPr>
          <p:cNvGraphicFramePr>
            <a:graphicFrameLocks noGrp="1"/>
          </p:cNvGraphicFramePr>
          <p:nvPr>
            <p:extLst>
              <p:ext uri="{D42A27DB-BD31-4B8C-83A1-F6EECF244321}">
                <p14:modId xmlns:p14="http://schemas.microsoft.com/office/powerpoint/2010/main" val="2276687434"/>
              </p:ext>
            </p:extLst>
          </p:nvPr>
        </p:nvGraphicFramePr>
        <p:xfrm>
          <a:off x="8231377" y="3861253"/>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Input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algn="ctr"/>
                      <a:r>
                        <a:rPr lang="en-US" altLang="zh-TW" sz="1200" b="1" cap="none" spc="0" dirty="0">
                          <a:ln w="0"/>
                          <a:solidFill>
                            <a:schemeClr val="tx1"/>
                          </a:solidFill>
                          <a:effectLst/>
                        </a:rPr>
                        <a:t>Output</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68480023"/>
                  </a:ext>
                </a:extLst>
              </a:tr>
            </a:tbl>
          </a:graphicData>
        </a:graphic>
      </p:graphicFrame>
      <p:sp>
        <p:nvSpPr>
          <p:cNvPr id="114" name="箭號: 向下 113">
            <a:extLst>
              <a:ext uri="{FF2B5EF4-FFF2-40B4-BE49-F238E27FC236}">
                <a16:creationId xmlns:a16="http://schemas.microsoft.com/office/drawing/2014/main" id="{4B8AF1D3-A95C-2891-D86C-C73137410A5F}"/>
              </a:ext>
            </a:extLst>
          </p:cNvPr>
          <p:cNvSpPr/>
          <p:nvPr/>
        </p:nvSpPr>
        <p:spPr>
          <a:xfrm>
            <a:off x="5396876" y="1927947"/>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 name="箭號: 向下 114">
            <a:extLst>
              <a:ext uri="{FF2B5EF4-FFF2-40B4-BE49-F238E27FC236}">
                <a16:creationId xmlns:a16="http://schemas.microsoft.com/office/drawing/2014/main" id="{4996FDAD-F12E-7E38-59F8-896763677DF0}"/>
              </a:ext>
            </a:extLst>
          </p:cNvPr>
          <p:cNvSpPr/>
          <p:nvPr/>
        </p:nvSpPr>
        <p:spPr>
          <a:xfrm>
            <a:off x="5404284" y="296758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箭號: 向下 115">
            <a:extLst>
              <a:ext uri="{FF2B5EF4-FFF2-40B4-BE49-F238E27FC236}">
                <a16:creationId xmlns:a16="http://schemas.microsoft.com/office/drawing/2014/main" id="{5DAF6F4A-CD75-4918-BC49-EF906AE4E878}"/>
              </a:ext>
            </a:extLst>
          </p:cNvPr>
          <p:cNvSpPr/>
          <p:nvPr/>
        </p:nvSpPr>
        <p:spPr>
          <a:xfrm>
            <a:off x="8437036" y="367249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 name="群組 2">
            <a:extLst>
              <a:ext uri="{FF2B5EF4-FFF2-40B4-BE49-F238E27FC236}">
                <a16:creationId xmlns:a16="http://schemas.microsoft.com/office/drawing/2014/main" id="{313771C8-620C-0542-7B51-6B3D2BB7860E}"/>
              </a:ext>
            </a:extLst>
          </p:cNvPr>
          <p:cNvGrpSpPr/>
          <p:nvPr/>
        </p:nvGrpSpPr>
        <p:grpSpPr>
          <a:xfrm>
            <a:off x="5508104" y="947302"/>
            <a:ext cx="2153804" cy="4497922"/>
            <a:chOff x="5508104" y="947302"/>
            <a:chExt cx="2153804" cy="4497922"/>
          </a:xfrm>
        </p:grpSpPr>
        <p:sp>
          <p:nvSpPr>
            <p:cNvPr id="15" name="矩形: 圓角 14">
              <a:extLst>
                <a:ext uri="{FF2B5EF4-FFF2-40B4-BE49-F238E27FC236}">
                  <a16:creationId xmlns:a16="http://schemas.microsoft.com/office/drawing/2014/main" id="{0DA4822F-AD21-0C15-8299-8E0676744ED3}"/>
                </a:ext>
              </a:extLst>
            </p:cNvPr>
            <p:cNvSpPr/>
            <p:nvPr/>
          </p:nvSpPr>
          <p:spPr>
            <a:xfrm>
              <a:off x="6221748" y="2182260"/>
              <a:ext cx="1440160" cy="202800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1" name="文字方塊 20">
              <a:extLst>
                <a:ext uri="{FF2B5EF4-FFF2-40B4-BE49-F238E27FC236}">
                  <a16:creationId xmlns:a16="http://schemas.microsoft.com/office/drawing/2014/main" id="{8E129EE3-7A74-F9FC-FD3C-18FC908CE8A6}"/>
                </a:ext>
              </a:extLst>
            </p:cNvPr>
            <p:cNvSpPr txBox="1"/>
            <p:nvPr/>
          </p:nvSpPr>
          <p:spPr>
            <a:xfrm>
              <a:off x="6365764" y="232627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12" name="文字方塊 11">
              <a:extLst>
                <a:ext uri="{FF2B5EF4-FFF2-40B4-BE49-F238E27FC236}">
                  <a16:creationId xmlns:a16="http://schemas.microsoft.com/office/drawing/2014/main" id="{A2BFBE3B-FDA6-4D67-496D-01A022449EDC}"/>
                </a:ext>
              </a:extLst>
            </p:cNvPr>
            <p:cNvSpPr txBox="1"/>
            <p:nvPr/>
          </p:nvSpPr>
          <p:spPr>
            <a:xfrm>
              <a:off x="6365764" y="2720522"/>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Feed</a:t>
              </a:r>
              <a:r>
                <a:rPr lang="zh-TW" altLang="en-US" sz="1100" b="1" u="none" strike="noStrike" dirty="0">
                  <a:effectLst/>
                  <a:latin typeface="Gadugi" panose="020B0502040204020203" pitchFamily="34" charset="0"/>
                  <a:ea typeface="Gadugi" panose="020B0502040204020203" pitchFamily="34" charset="0"/>
                  <a:cs typeface="ADLaM Display" panose="02010000000000000000" pitchFamily="2" charset="0"/>
                </a:rPr>
                <a:t> </a:t>
              </a: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Forward</a:t>
              </a:r>
            </a:p>
          </p:txBody>
        </p:sp>
        <p:sp>
          <p:nvSpPr>
            <p:cNvPr id="13" name="文字方塊 12">
              <a:extLst>
                <a:ext uri="{FF2B5EF4-FFF2-40B4-BE49-F238E27FC236}">
                  <a16:creationId xmlns:a16="http://schemas.microsoft.com/office/drawing/2014/main" id="{8FF93134-1961-FF87-3518-31A31B4FD9AB}"/>
                </a:ext>
              </a:extLst>
            </p:cNvPr>
            <p:cNvSpPr txBox="1"/>
            <p:nvPr/>
          </p:nvSpPr>
          <p:spPr>
            <a:xfrm>
              <a:off x="6365764" y="310933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14" name="文字方塊 13">
              <a:extLst>
                <a:ext uri="{FF2B5EF4-FFF2-40B4-BE49-F238E27FC236}">
                  <a16:creationId xmlns:a16="http://schemas.microsoft.com/office/drawing/2014/main" id="{48DB52DE-8C3C-3B1B-F383-6B08F6084388}"/>
                </a:ext>
              </a:extLst>
            </p:cNvPr>
            <p:cNvSpPr txBox="1"/>
            <p:nvPr/>
          </p:nvSpPr>
          <p:spPr>
            <a:xfrm>
              <a:off x="6365764" y="3459238"/>
              <a:ext cx="1152128" cy="523222"/>
            </a:xfrm>
            <a:prstGeom prst="rect">
              <a:avLst/>
            </a:prstGeom>
            <a:solidFill>
              <a:srgbClr val="FEC203">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Masked</a:t>
              </a:r>
            </a:p>
            <a:p>
              <a:pPr algn="ctr">
                <a:lnSpc>
                  <a:spcPts val="1400"/>
                </a:lnSpc>
                <a:buNone/>
              </a:pPr>
              <a:r>
                <a:rPr lang="en-US" altLang="zh-TW" sz="1100" b="1" dirty="0">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Attention</a:t>
              </a:r>
            </a:p>
          </p:txBody>
        </p:sp>
        <p:sp>
          <p:nvSpPr>
            <p:cNvPr id="16" name="文字方塊 15">
              <a:extLst>
                <a:ext uri="{FF2B5EF4-FFF2-40B4-BE49-F238E27FC236}">
                  <a16:creationId xmlns:a16="http://schemas.microsoft.com/office/drawing/2014/main" id="{26626394-298E-FFEF-EB6B-953E1984D12C}"/>
                </a:ext>
              </a:extLst>
            </p:cNvPr>
            <p:cNvSpPr txBox="1"/>
            <p:nvPr/>
          </p:nvSpPr>
          <p:spPr>
            <a:xfrm>
              <a:off x="6507429"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7" name="文字方塊 16">
              <a:extLst>
                <a:ext uri="{FF2B5EF4-FFF2-40B4-BE49-F238E27FC236}">
                  <a16:creationId xmlns:a16="http://schemas.microsoft.com/office/drawing/2014/main" id="{ED598174-1231-7774-5223-4B76858CB8B2}"/>
                </a:ext>
              </a:extLst>
            </p:cNvPr>
            <p:cNvSpPr txBox="1"/>
            <p:nvPr/>
          </p:nvSpPr>
          <p:spPr>
            <a:xfrm>
              <a:off x="6507429"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(Next Token)</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8" name="文字方塊 17">
              <a:extLst>
                <a:ext uri="{FF2B5EF4-FFF2-40B4-BE49-F238E27FC236}">
                  <a16:creationId xmlns:a16="http://schemas.microsoft.com/office/drawing/2014/main" id="{AE122E59-E71C-BF7E-9FA2-246BB6BA8DCB}"/>
                </a:ext>
              </a:extLst>
            </p:cNvPr>
            <p:cNvSpPr txBox="1"/>
            <p:nvPr/>
          </p:nvSpPr>
          <p:spPr>
            <a:xfrm>
              <a:off x="6365764" y="1487362"/>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SoftMax</a:t>
              </a:r>
            </a:p>
          </p:txBody>
        </p:sp>
        <p:sp>
          <p:nvSpPr>
            <p:cNvPr id="19" name="文字方塊 18">
              <a:extLst>
                <a:ext uri="{FF2B5EF4-FFF2-40B4-BE49-F238E27FC236}">
                  <a16:creationId xmlns:a16="http://schemas.microsoft.com/office/drawing/2014/main" id="{4BBD43E6-F6A9-D473-B829-B1816F1F3439}"/>
                </a:ext>
              </a:extLst>
            </p:cNvPr>
            <p:cNvSpPr txBox="1"/>
            <p:nvPr/>
          </p:nvSpPr>
          <p:spPr>
            <a:xfrm>
              <a:off x="6365764" y="1811383"/>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Linear</a:t>
              </a:r>
            </a:p>
          </p:txBody>
        </p:sp>
        <p:cxnSp>
          <p:nvCxnSpPr>
            <p:cNvPr id="23" name="接點: 肘形 22">
              <a:extLst>
                <a:ext uri="{FF2B5EF4-FFF2-40B4-BE49-F238E27FC236}">
                  <a16:creationId xmlns:a16="http://schemas.microsoft.com/office/drawing/2014/main" id="{F7408739-59B0-0EFF-566F-8E702C7A5746}"/>
                </a:ext>
              </a:extLst>
            </p:cNvPr>
            <p:cNvCxnSpPr>
              <a:cxnSpLocks/>
            </p:cNvCxnSpPr>
            <p:nvPr/>
          </p:nvCxnSpPr>
          <p:spPr>
            <a:xfrm rot="5400000">
              <a:off x="6938650" y="3746567"/>
              <a:ext cx="6355" cy="456467"/>
            </a:xfrm>
            <a:prstGeom prst="bentConnector3">
              <a:avLst>
                <a:gd name="adj1" fmla="val 2048466"/>
              </a:avLst>
            </a:prstGeom>
            <a:ln w="1905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F96DF998-11B5-6DCD-260B-94D629BFAEF0}"/>
                </a:ext>
              </a:extLst>
            </p:cNvPr>
            <p:cNvCxnSpPr>
              <a:cxnSpLocks/>
              <a:stCxn id="16" idx="0"/>
              <a:endCxn id="45" idx="4"/>
            </p:cNvCxnSpPr>
            <p:nvPr/>
          </p:nvCxnSpPr>
          <p:spPr>
            <a:xfrm flipH="1" flipV="1">
              <a:off x="6941828" y="4426290"/>
              <a:ext cx="1841" cy="193405"/>
            </a:xfrm>
            <a:prstGeom prst="straightConnector1">
              <a:avLst/>
            </a:prstGeom>
            <a:ln w="19050">
              <a:solidFill>
                <a:srgbClr val="9E7800"/>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941C9E26-B687-4ED9-51F0-5E90918645ED}"/>
                </a:ext>
              </a:extLst>
            </p:cNvPr>
            <p:cNvSpPr txBox="1"/>
            <p:nvPr/>
          </p:nvSpPr>
          <p:spPr>
            <a:xfrm>
              <a:off x="6365764" y="947302"/>
              <a:ext cx="1152128"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Probabilities</a:t>
              </a:r>
            </a:p>
          </p:txBody>
        </p:sp>
        <p:cxnSp>
          <p:nvCxnSpPr>
            <p:cNvPr id="30" name="直線單箭頭接點 29">
              <a:extLst>
                <a:ext uri="{FF2B5EF4-FFF2-40B4-BE49-F238E27FC236}">
                  <a16:creationId xmlns:a16="http://schemas.microsoft.com/office/drawing/2014/main" id="{52A478B3-FF36-58DD-AAF2-9833A0BE5470}"/>
                </a:ext>
              </a:extLst>
            </p:cNvPr>
            <p:cNvCxnSpPr>
              <a:cxnSpLocks/>
              <a:stCxn id="18" idx="0"/>
              <a:endCxn id="28" idx="2"/>
            </p:cNvCxnSpPr>
            <p:nvPr/>
          </p:nvCxnSpPr>
          <p:spPr>
            <a:xfrm flipV="1">
              <a:off x="6941828" y="1307342"/>
              <a:ext cx="0" cy="18002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0BAE8AF3-776E-BC4D-708B-9DEC5223FB44}"/>
                </a:ext>
              </a:extLst>
            </p:cNvPr>
            <p:cNvCxnSpPr>
              <a:cxnSpLocks/>
              <a:stCxn id="19" idx="0"/>
              <a:endCxn id="18" idx="2"/>
            </p:cNvCxnSpPr>
            <p:nvPr/>
          </p:nvCxnSpPr>
          <p:spPr>
            <a:xfrm flipV="1">
              <a:off x="6941828" y="1712414"/>
              <a:ext cx="0" cy="98969"/>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DE7673E4-7421-8C17-22D8-760FD21345A3}"/>
                </a:ext>
              </a:extLst>
            </p:cNvPr>
            <p:cNvCxnSpPr>
              <a:cxnSpLocks/>
              <a:stCxn id="21" idx="0"/>
              <a:endCxn id="19" idx="2"/>
            </p:cNvCxnSpPr>
            <p:nvPr/>
          </p:nvCxnSpPr>
          <p:spPr>
            <a:xfrm flipV="1">
              <a:off x="6941828" y="2036435"/>
              <a:ext cx="0" cy="28984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43" name="橢圓 42">
              <a:extLst>
                <a:ext uri="{FF2B5EF4-FFF2-40B4-BE49-F238E27FC236}">
                  <a16:creationId xmlns:a16="http://schemas.microsoft.com/office/drawing/2014/main" id="{CFEAC299-EC47-6B68-B7EB-B8AB808179C7}"/>
                </a:ext>
              </a:extLst>
            </p:cNvPr>
            <p:cNvSpPr/>
            <p:nvPr/>
          </p:nvSpPr>
          <p:spPr>
            <a:xfrm>
              <a:off x="7236296"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r>
                <a:rPr lang="en-US" altLang="zh-TW" sz="24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400" dirty="0">
                <a:solidFill>
                  <a:schemeClr val="tx1"/>
                </a:solidFill>
              </a:endParaRPr>
            </a:p>
          </p:txBody>
        </p:sp>
        <p:sp>
          <p:nvSpPr>
            <p:cNvPr id="45" name="橢圓 44">
              <a:extLst>
                <a:ext uri="{FF2B5EF4-FFF2-40B4-BE49-F238E27FC236}">
                  <a16:creationId xmlns:a16="http://schemas.microsoft.com/office/drawing/2014/main" id="{380EBCE0-8A56-3CD8-39A0-674F5CC541D8}"/>
                </a:ext>
              </a:extLst>
            </p:cNvPr>
            <p:cNvSpPr/>
            <p:nvPr/>
          </p:nvSpPr>
          <p:spPr>
            <a:xfrm>
              <a:off x="6865628"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20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000" dirty="0">
                <a:solidFill>
                  <a:schemeClr val="tx1"/>
                </a:solidFill>
              </a:endParaRPr>
            </a:p>
          </p:txBody>
        </p:sp>
        <p:cxnSp>
          <p:nvCxnSpPr>
            <p:cNvPr id="47" name="直線單箭頭接點 46">
              <a:extLst>
                <a:ext uri="{FF2B5EF4-FFF2-40B4-BE49-F238E27FC236}">
                  <a16:creationId xmlns:a16="http://schemas.microsoft.com/office/drawing/2014/main" id="{47761A70-FD4B-667F-6C59-2728142DFC4D}"/>
                </a:ext>
              </a:extLst>
            </p:cNvPr>
            <p:cNvCxnSpPr>
              <a:cxnSpLocks/>
              <a:stCxn id="45" idx="6"/>
              <a:endCxn id="43" idx="2"/>
            </p:cNvCxnSpPr>
            <p:nvPr/>
          </p:nvCxnSpPr>
          <p:spPr>
            <a:xfrm>
              <a:off x="7018028" y="4354282"/>
              <a:ext cx="218268" cy="0"/>
            </a:xfrm>
            <a:prstGeom prst="straightConnector1">
              <a:avLst/>
            </a:prstGeom>
            <a:ln w="1905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C71B28EA-3A7D-4020-72BA-8F498504E3BF}"/>
                </a:ext>
              </a:extLst>
            </p:cNvPr>
            <p:cNvCxnSpPr>
              <a:cxnSpLocks/>
              <a:stCxn id="45" idx="0"/>
              <a:endCxn id="14" idx="2"/>
            </p:cNvCxnSpPr>
            <p:nvPr/>
          </p:nvCxnSpPr>
          <p:spPr>
            <a:xfrm flipV="1">
              <a:off x="6941828" y="3982460"/>
              <a:ext cx="0" cy="29981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A840CA12-EC17-F314-F2BD-183427A6D884}"/>
                </a:ext>
              </a:extLst>
            </p:cNvPr>
            <p:cNvCxnSpPr>
              <a:cxnSpLocks/>
              <a:stCxn id="14" idx="0"/>
              <a:endCxn id="13" idx="2"/>
            </p:cNvCxnSpPr>
            <p:nvPr/>
          </p:nvCxnSpPr>
          <p:spPr>
            <a:xfrm flipV="1">
              <a:off x="6941828" y="3334388"/>
              <a:ext cx="0" cy="12485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C334263B-961D-794D-245E-BCCB48172AD8}"/>
                </a:ext>
              </a:extLst>
            </p:cNvPr>
            <p:cNvCxnSpPr>
              <a:cxnSpLocks/>
              <a:stCxn id="12" idx="0"/>
              <a:endCxn id="21" idx="2"/>
            </p:cNvCxnSpPr>
            <p:nvPr/>
          </p:nvCxnSpPr>
          <p:spPr>
            <a:xfrm flipV="1">
              <a:off x="6941828" y="2551328"/>
              <a:ext cx="0" cy="16919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9" name="接點: 肘形 68">
              <a:extLst>
                <a:ext uri="{FF2B5EF4-FFF2-40B4-BE49-F238E27FC236}">
                  <a16:creationId xmlns:a16="http://schemas.microsoft.com/office/drawing/2014/main" id="{CA12EA47-2EC6-D640-ACF5-345508561799}"/>
                </a:ext>
              </a:extLst>
            </p:cNvPr>
            <p:cNvCxnSpPr>
              <a:cxnSpLocks/>
              <a:stCxn id="91" idx="0"/>
              <a:endCxn id="45" idx="2"/>
            </p:cNvCxnSpPr>
            <p:nvPr/>
          </p:nvCxnSpPr>
          <p:spPr>
            <a:xfrm rot="5400000" flipH="1" flipV="1">
              <a:off x="6272280" y="4026347"/>
              <a:ext cx="265413" cy="921284"/>
            </a:xfrm>
            <a:prstGeom prst="bentConnector2">
              <a:avLst/>
            </a:prstGeom>
            <a:ln w="19050">
              <a:solidFill>
                <a:schemeClr val="tx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1B96F702-EE29-F650-3477-168D4689C873}"/>
                </a:ext>
              </a:extLst>
            </p:cNvPr>
            <p:cNvCxnSpPr>
              <a:cxnSpLocks/>
              <a:stCxn id="13" idx="0"/>
              <a:endCxn id="12" idx="2"/>
            </p:cNvCxnSpPr>
            <p:nvPr/>
          </p:nvCxnSpPr>
          <p:spPr>
            <a:xfrm flipV="1">
              <a:off x="6941828" y="2945574"/>
              <a:ext cx="0" cy="16376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91" name="文字方塊 90">
              <a:extLst>
                <a:ext uri="{FF2B5EF4-FFF2-40B4-BE49-F238E27FC236}">
                  <a16:creationId xmlns:a16="http://schemas.microsoft.com/office/drawing/2014/main" id="{A60CBA71-8C1E-AABF-CC17-30A3F40B8433}"/>
                </a:ext>
              </a:extLst>
            </p:cNvPr>
            <p:cNvSpPr txBox="1"/>
            <p:nvPr/>
          </p:nvSpPr>
          <p:spPr>
            <a:xfrm>
              <a:off x="5508104"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92" name="文字方塊 91">
              <a:extLst>
                <a:ext uri="{FF2B5EF4-FFF2-40B4-BE49-F238E27FC236}">
                  <a16:creationId xmlns:a16="http://schemas.microsoft.com/office/drawing/2014/main" id="{65AFE4E3-3C98-DBC2-C378-FDBF78ABC7FC}"/>
                </a:ext>
              </a:extLst>
            </p:cNvPr>
            <p:cNvSpPr txBox="1"/>
            <p:nvPr/>
          </p:nvSpPr>
          <p:spPr>
            <a:xfrm>
              <a:off x="5508104"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(User)</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95" name="接點: 肘形 94">
              <a:extLst>
                <a:ext uri="{FF2B5EF4-FFF2-40B4-BE49-F238E27FC236}">
                  <a16:creationId xmlns:a16="http://schemas.microsoft.com/office/drawing/2014/main" id="{5572A0B8-E119-1449-0DCE-E6E70157C7D0}"/>
                </a:ext>
              </a:extLst>
            </p:cNvPr>
            <p:cNvCxnSpPr>
              <a:cxnSpLocks/>
              <a:stCxn id="28" idx="3"/>
              <a:endCxn id="16" idx="3"/>
            </p:cNvCxnSpPr>
            <p:nvPr/>
          </p:nvCxnSpPr>
          <p:spPr>
            <a:xfrm flipH="1">
              <a:off x="7379909" y="1127322"/>
              <a:ext cx="137983" cy="3672393"/>
            </a:xfrm>
            <a:prstGeom prst="bentConnector3">
              <a:avLst>
                <a:gd name="adj1" fmla="val -296831"/>
              </a:avLst>
            </a:prstGeom>
            <a:ln w="19050">
              <a:solidFill>
                <a:srgbClr val="9E7800"/>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C43073DE-0AC2-1372-21F9-F7CD4697B6EC}"/>
                </a:ext>
              </a:extLst>
            </p:cNvPr>
            <p:cNvSpPr txBox="1"/>
            <p:nvPr/>
          </p:nvSpPr>
          <p:spPr>
            <a:xfrm>
              <a:off x="6056570" y="3319995"/>
              <a:ext cx="294468" cy="205036"/>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N </a:t>
              </a:r>
              <a:r>
                <a:rPr lang="en-US" altLang="zh-TW" sz="1000" dirty="0">
                  <a:latin typeface="Gadugi" panose="020B0502040204020203" pitchFamily="34" charset="0"/>
                  <a:ea typeface="Gadugi" panose="020B0502040204020203" pitchFamily="34" charset="0"/>
                  <a:cs typeface="ADLaM Display" panose="02010000000000000000" pitchFamily="2" charset="0"/>
                </a:rPr>
                <a:t>x</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pSp>
      <p:pic>
        <p:nvPicPr>
          <p:cNvPr id="22" name="圖形 21" descr="使用者 外框">
            <a:extLst>
              <a:ext uri="{FF2B5EF4-FFF2-40B4-BE49-F238E27FC236}">
                <a16:creationId xmlns:a16="http://schemas.microsoft.com/office/drawing/2014/main" id="{916B75CB-0D23-AA1B-B0A1-C6915ABAEA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50436" y="5407653"/>
            <a:ext cx="387816" cy="387816"/>
          </a:xfrm>
          <a:prstGeom prst="rect">
            <a:avLst/>
          </a:prstGeom>
        </p:spPr>
      </p:pic>
    </p:spTree>
    <p:extLst>
      <p:ext uri="{BB962C8B-B14F-4D97-AF65-F5344CB8AC3E}">
        <p14:creationId xmlns:p14="http://schemas.microsoft.com/office/powerpoint/2010/main" val="33437141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22CCE-17C8-B632-0F8E-882715CE425E}"/>
            </a:ext>
          </a:extLst>
        </p:cNvPr>
        <p:cNvGrpSpPr/>
        <p:nvPr/>
      </p:nvGrpSpPr>
      <p:grpSpPr>
        <a:xfrm>
          <a:off x="0" y="0"/>
          <a:ext cx="0" cy="0"/>
          <a:chOff x="0" y="0"/>
          <a:chExt cx="0" cy="0"/>
        </a:xfrm>
      </p:grpSpPr>
      <p:sp>
        <p:nvSpPr>
          <p:cNvPr id="2" name="流程圖: 合併 1">
            <a:extLst>
              <a:ext uri="{FF2B5EF4-FFF2-40B4-BE49-F238E27FC236}">
                <a16:creationId xmlns:a16="http://schemas.microsoft.com/office/drawing/2014/main" id="{CC1B6168-1B69-118F-D463-70DDEEFBFBDB}"/>
              </a:ext>
            </a:extLst>
          </p:cNvPr>
          <p:cNvSpPr/>
          <p:nvPr/>
        </p:nvSpPr>
        <p:spPr>
          <a:xfrm>
            <a:off x="3545220" y="3614719"/>
            <a:ext cx="177215" cy="1966264"/>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矩形: 圓角 37">
            <a:extLst>
              <a:ext uri="{FF2B5EF4-FFF2-40B4-BE49-F238E27FC236}">
                <a16:creationId xmlns:a16="http://schemas.microsoft.com/office/drawing/2014/main" id="{AAFD800B-17DA-2CFB-836B-0EF6036B4BEF}"/>
              </a:ext>
            </a:extLst>
          </p:cNvPr>
          <p:cNvSpPr/>
          <p:nvPr/>
        </p:nvSpPr>
        <p:spPr>
          <a:xfrm>
            <a:off x="6221748" y="2182260"/>
            <a:ext cx="1440160" cy="202800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0" name="文字方塊 39">
            <a:extLst>
              <a:ext uri="{FF2B5EF4-FFF2-40B4-BE49-F238E27FC236}">
                <a16:creationId xmlns:a16="http://schemas.microsoft.com/office/drawing/2014/main" id="{BB594E6E-2F5C-C000-698B-5ECF549AA47A}"/>
              </a:ext>
            </a:extLst>
          </p:cNvPr>
          <p:cNvSpPr txBox="1"/>
          <p:nvPr/>
        </p:nvSpPr>
        <p:spPr>
          <a:xfrm>
            <a:off x="6365764" y="2720522"/>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Feed</a:t>
            </a:r>
            <a:r>
              <a:rPr lang="zh-TW" altLang="en-US"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 </a:t>
            </a: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Forward</a:t>
            </a:r>
          </a:p>
        </p:txBody>
      </p:sp>
      <p:sp>
        <p:nvSpPr>
          <p:cNvPr id="18" name="標題 1">
            <a:extLst>
              <a:ext uri="{FF2B5EF4-FFF2-40B4-BE49-F238E27FC236}">
                <a16:creationId xmlns:a16="http://schemas.microsoft.com/office/drawing/2014/main" id="{FD41704A-03CD-6D02-4D94-379D7717DEFA}"/>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Pre-Training</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Optimizes base model parameters via self-supervised learning.</a:t>
            </a:r>
          </a:p>
        </p:txBody>
      </p:sp>
      <p:sp>
        <p:nvSpPr>
          <p:cNvPr id="13" name="文字方塊 12">
            <a:extLst>
              <a:ext uri="{FF2B5EF4-FFF2-40B4-BE49-F238E27FC236}">
                <a16:creationId xmlns:a16="http://schemas.microsoft.com/office/drawing/2014/main" id="{9A59D008-BD50-9961-7FAD-5F166BEB6700}"/>
              </a:ext>
            </a:extLst>
          </p:cNvPr>
          <p:cNvSpPr txBox="1"/>
          <p:nvPr/>
        </p:nvSpPr>
        <p:spPr>
          <a:xfrm>
            <a:off x="287524" y="1211852"/>
            <a:ext cx="4860538" cy="1092607"/>
          </a:xfrm>
          <a:prstGeom prst="rect">
            <a:avLst/>
          </a:prstGeom>
          <a:noFill/>
        </p:spPr>
        <p:txBody>
          <a:bodyPr wrap="square">
            <a:spAutoFit/>
          </a:bodyPr>
          <a:lstStyle/>
          <a:p>
            <a:pPr>
              <a:lnSpc>
                <a:spcPts val="1800"/>
              </a:lnSpc>
              <a:spcBef>
                <a:spcPts val="600"/>
              </a:spcBef>
              <a:spcAft>
                <a:spcPts val="600"/>
              </a:spcAft>
            </a:pPr>
            <a:r>
              <a:rPr lang="en-US" altLang="zh-TW" sz="2000" b="1" dirty="0"/>
              <a:t>Transformer Lifecycle</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Forward (Inference)</a:t>
            </a:r>
            <a:r>
              <a:rPr lang="en-US" altLang="zh-TW" sz="1600" dirty="0"/>
              <a:t>: Predict next token.</a:t>
            </a:r>
          </a:p>
          <a:p>
            <a:pPr marL="285750" indent="-285750">
              <a:lnSpc>
                <a:spcPts val="1800"/>
              </a:lnSpc>
              <a:spcBef>
                <a:spcPts val="600"/>
              </a:spcBef>
              <a:spcAft>
                <a:spcPts val="600"/>
              </a:spcAft>
              <a:buFont typeface="Wingdings" panose="05000000000000000000" pitchFamily="2" charset="2"/>
              <a:buChar char="Ø"/>
            </a:pPr>
            <a:r>
              <a:rPr lang="en-US" altLang="zh-TW" sz="1600" b="1" dirty="0"/>
              <a:t>Backward (Training)</a:t>
            </a:r>
            <a:r>
              <a:rPr lang="en-US" altLang="zh-TW" sz="1600" u="none" strike="noStrike" dirty="0">
                <a:effectLst/>
              </a:rPr>
              <a:t>: Minimize prediction errors. </a:t>
            </a:r>
            <a:endParaRPr lang="en-US" altLang="zh-TW" sz="1600" dirty="0"/>
          </a:p>
        </p:txBody>
      </p:sp>
      <p:sp>
        <p:nvSpPr>
          <p:cNvPr id="39" name="文字方塊 38">
            <a:extLst>
              <a:ext uri="{FF2B5EF4-FFF2-40B4-BE49-F238E27FC236}">
                <a16:creationId xmlns:a16="http://schemas.microsoft.com/office/drawing/2014/main" id="{78824FE7-A3C7-C7F9-DF8A-49AA711E59C0}"/>
              </a:ext>
            </a:extLst>
          </p:cNvPr>
          <p:cNvSpPr txBox="1"/>
          <p:nvPr/>
        </p:nvSpPr>
        <p:spPr>
          <a:xfrm>
            <a:off x="6365764" y="232627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41" name="文字方塊 40">
            <a:extLst>
              <a:ext uri="{FF2B5EF4-FFF2-40B4-BE49-F238E27FC236}">
                <a16:creationId xmlns:a16="http://schemas.microsoft.com/office/drawing/2014/main" id="{6568F00C-E2DC-CE04-03E7-9F46D2F9F3AC}"/>
              </a:ext>
            </a:extLst>
          </p:cNvPr>
          <p:cNvSpPr txBox="1"/>
          <p:nvPr/>
        </p:nvSpPr>
        <p:spPr>
          <a:xfrm>
            <a:off x="6365764" y="310933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42" name="文字方塊 41">
            <a:extLst>
              <a:ext uri="{FF2B5EF4-FFF2-40B4-BE49-F238E27FC236}">
                <a16:creationId xmlns:a16="http://schemas.microsoft.com/office/drawing/2014/main" id="{AD922E72-968D-E212-8B94-CBE4AB7F49F9}"/>
              </a:ext>
            </a:extLst>
          </p:cNvPr>
          <p:cNvSpPr txBox="1"/>
          <p:nvPr/>
        </p:nvSpPr>
        <p:spPr>
          <a:xfrm>
            <a:off x="6365764" y="3459238"/>
            <a:ext cx="1152128" cy="523222"/>
          </a:xfrm>
          <a:prstGeom prst="rect">
            <a:avLst/>
          </a:prstGeom>
          <a:solidFill>
            <a:srgbClr val="FEC203">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Masked</a:t>
            </a:r>
          </a:p>
          <a:p>
            <a:pPr algn="ctr">
              <a:lnSpc>
                <a:spcPts val="1400"/>
              </a:lnSpc>
              <a:buNone/>
            </a:pPr>
            <a:r>
              <a:rPr lang="en-US" altLang="zh-TW" sz="11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Attention</a:t>
            </a:r>
          </a:p>
        </p:txBody>
      </p:sp>
      <p:sp>
        <p:nvSpPr>
          <p:cNvPr id="43" name="文字方塊 42">
            <a:extLst>
              <a:ext uri="{FF2B5EF4-FFF2-40B4-BE49-F238E27FC236}">
                <a16:creationId xmlns:a16="http://schemas.microsoft.com/office/drawing/2014/main" id="{F25BB647-D30C-6403-BD3C-89C8B4A415A3}"/>
              </a:ext>
            </a:extLst>
          </p:cNvPr>
          <p:cNvSpPr txBox="1"/>
          <p:nvPr/>
        </p:nvSpPr>
        <p:spPr>
          <a:xfrm>
            <a:off x="6507429"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45" name="文字方塊 44">
            <a:extLst>
              <a:ext uri="{FF2B5EF4-FFF2-40B4-BE49-F238E27FC236}">
                <a16:creationId xmlns:a16="http://schemas.microsoft.com/office/drawing/2014/main" id="{1311BD40-A308-C9A4-FC07-4A8F0AC4E9A1}"/>
              </a:ext>
            </a:extLst>
          </p:cNvPr>
          <p:cNvSpPr txBox="1"/>
          <p:nvPr/>
        </p:nvSpPr>
        <p:spPr>
          <a:xfrm>
            <a:off x="6365764" y="1487362"/>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SoftMax</a:t>
            </a:r>
          </a:p>
        </p:txBody>
      </p:sp>
      <p:sp>
        <p:nvSpPr>
          <p:cNvPr id="46" name="文字方塊 45">
            <a:extLst>
              <a:ext uri="{FF2B5EF4-FFF2-40B4-BE49-F238E27FC236}">
                <a16:creationId xmlns:a16="http://schemas.microsoft.com/office/drawing/2014/main" id="{9C11D834-3F69-466F-0DA5-FDF6EC73D129}"/>
              </a:ext>
            </a:extLst>
          </p:cNvPr>
          <p:cNvSpPr txBox="1"/>
          <p:nvPr/>
        </p:nvSpPr>
        <p:spPr>
          <a:xfrm>
            <a:off x="6365764" y="1811383"/>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Linear</a:t>
            </a:r>
          </a:p>
        </p:txBody>
      </p:sp>
      <p:cxnSp>
        <p:nvCxnSpPr>
          <p:cNvPr id="47" name="接點: 肘形 46">
            <a:extLst>
              <a:ext uri="{FF2B5EF4-FFF2-40B4-BE49-F238E27FC236}">
                <a16:creationId xmlns:a16="http://schemas.microsoft.com/office/drawing/2014/main" id="{172C6B7A-B68C-2F23-4EB2-17BC6D3377C0}"/>
              </a:ext>
            </a:extLst>
          </p:cNvPr>
          <p:cNvCxnSpPr>
            <a:cxnSpLocks/>
          </p:cNvCxnSpPr>
          <p:nvPr/>
        </p:nvCxnSpPr>
        <p:spPr>
          <a:xfrm rot="5400000">
            <a:off x="6938650" y="3746567"/>
            <a:ext cx="6355" cy="456467"/>
          </a:xfrm>
          <a:prstGeom prst="bentConnector3">
            <a:avLst>
              <a:gd name="adj1" fmla="val 2048466"/>
            </a:avLst>
          </a:prstGeom>
          <a:ln w="1905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8" name="直線單箭頭接點 47">
            <a:extLst>
              <a:ext uri="{FF2B5EF4-FFF2-40B4-BE49-F238E27FC236}">
                <a16:creationId xmlns:a16="http://schemas.microsoft.com/office/drawing/2014/main" id="{E46A0302-D7CC-5761-1C7B-ECE075DE08F3}"/>
              </a:ext>
            </a:extLst>
          </p:cNvPr>
          <p:cNvCxnSpPr>
            <a:cxnSpLocks/>
            <a:stCxn id="43" idx="0"/>
            <a:endCxn id="54" idx="4"/>
          </p:cNvCxnSpPr>
          <p:nvPr/>
        </p:nvCxnSpPr>
        <p:spPr>
          <a:xfrm flipH="1" flipV="1">
            <a:off x="6941828" y="4426290"/>
            <a:ext cx="1841" cy="193405"/>
          </a:xfrm>
          <a:prstGeom prst="straightConnector1">
            <a:avLst/>
          </a:prstGeom>
          <a:ln w="19050">
            <a:solidFill>
              <a:srgbClr val="C00000"/>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49" name="文字方塊 48">
            <a:extLst>
              <a:ext uri="{FF2B5EF4-FFF2-40B4-BE49-F238E27FC236}">
                <a16:creationId xmlns:a16="http://schemas.microsoft.com/office/drawing/2014/main" id="{104A363C-AE5B-C3FC-5F6D-21A857B3C684}"/>
              </a:ext>
            </a:extLst>
          </p:cNvPr>
          <p:cNvSpPr txBox="1"/>
          <p:nvPr/>
        </p:nvSpPr>
        <p:spPr>
          <a:xfrm>
            <a:off x="6365764" y="947302"/>
            <a:ext cx="1152128"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Probabilities</a:t>
            </a:r>
          </a:p>
        </p:txBody>
      </p:sp>
      <p:cxnSp>
        <p:nvCxnSpPr>
          <p:cNvPr id="50" name="直線單箭頭接點 49">
            <a:extLst>
              <a:ext uri="{FF2B5EF4-FFF2-40B4-BE49-F238E27FC236}">
                <a16:creationId xmlns:a16="http://schemas.microsoft.com/office/drawing/2014/main" id="{5E850AC5-29CF-9865-38FD-39CAC09EACB6}"/>
              </a:ext>
            </a:extLst>
          </p:cNvPr>
          <p:cNvCxnSpPr>
            <a:cxnSpLocks/>
            <a:stCxn id="45" idx="0"/>
            <a:endCxn id="49" idx="2"/>
          </p:cNvCxnSpPr>
          <p:nvPr/>
        </p:nvCxnSpPr>
        <p:spPr>
          <a:xfrm flipV="1">
            <a:off x="6941828" y="1307342"/>
            <a:ext cx="0" cy="18002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2F5C1827-A6A9-96BE-FB22-BA579B324CAA}"/>
              </a:ext>
            </a:extLst>
          </p:cNvPr>
          <p:cNvCxnSpPr>
            <a:cxnSpLocks/>
            <a:stCxn id="46" idx="0"/>
            <a:endCxn id="45" idx="2"/>
          </p:cNvCxnSpPr>
          <p:nvPr/>
        </p:nvCxnSpPr>
        <p:spPr>
          <a:xfrm flipV="1">
            <a:off x="6941828" y="1712414"/>
            <a:ext cx="0" cy="98969"/>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F2E4C3E4-4C47-C748-0AD1-4769DAEF6B8B}"/>
              </a:ext>
            </a:extLst>
          </p:cNvPr>
          <p:cNvCxnSpPr>
            <a:cxnSpLocks/>
            <a:stCxn id="39" idx="0"/>
            <a:endCxn id="46" idx="2"/>
          </p:cNvCxnSpPr>
          <p:nvPr/>
        </p:nvCxnSpPr>
        <p:spPr>
          <a:xfrm flipV="1">
            <a:off x="6941828" y="2036435"/>
            <a:ext cx="0" cy="28984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53" name="橢圓 52">
            <a:extLst>
              <a:ext uri="{FF2B5EF4-FFF2-40B4-BE49-F238E27FC236}">
                <a16:creationId xmlns:a16="http://schemas.microsoft.com/office/drawing/2014/main" id="{AA53DA14-9665-7BBA-9583-65B64BCAEFA6}"/>
              </a:ext>
            </a:extLst>
          </p:cNvPr>
          <p:cNvSpPr/>
          <p:nvPr/>
        </p:nvSpPr>
        <p:spPr>
          <a:xfrm>
            <a:off x="7236296"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r>
              <a:rPr lang="en-US" altLang="zh-TW" sz="24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400" dirty="0">
              <a:solidFill>
                <a:schemeClr val="tx1"/>
              </a:solidFill>
            </a:endParaRPr>
          </a:p>
        </p:txBody>
      </p:sp>
      <p:sp>
        <p:nvSpPr>
          <p:cNvPr id="54" name="橢圓 53">
            <a:extLst>
              <a:ext uri="{FF2B5EF4-FFF2-40B4-BE49-F238E27FC236}">
                <a16:creationId xmlns:a16="http://schemas.microsoft.com/office/drawing/2014/main" id="{1BE97C51-1D1D-229C-D2B6-1DA1336415DC}"/>
              </a:ext>
            </a:extLst>
          </p:cNvPr>
          <p:cNvSpPr/>
          <p:nvPr/>
        </p:nvSpPr>
        <p:spPr>
          <a:xfrm>
            <a:off x="6865628"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20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000" dirty="0">
              <a:solidFill>
                <a:schemeClr val="tx1"/>
              </a:solidFill>
            </a:endParaRPr>
          </a:p>
        </p:txBody>
      </p:sp>
      <p:cxnSp>
        <p:nvCxnSpPr>
          <p:cNvPr id="55" name="直線單箭頭接點 54">
            <a:extLst>
              <a:ext uri="{FF2B5EF4-FFF2-40B4-BE49-F238E27FC236}">
                <a16:creationId xmlns:a16="http://schemas.microsoft.com/office/drawing/2014/main" id="{4BDFD4F6-FFAD-CF1B-94AC-E2A9A31D8B96}"/>
              </a:ext>
            </a:extLst>
          </p:cNvPr>
          <p:cNvCxnSpPr>
            <a:cxnSpLocks/>
            <a:stCxn id="54" idx="6"/>
            <a:endCxn id="53" idx="2"/>
          </p:cNvCxnSpPr>
          <p:nvPr/>
        </p:nvCxnSpPr>
        <p:spPr>
          <a:xfrm>
            <a:off x="7018028" y="4354282"/>
            <a:ext cx="218268" cy="0"/>
          </a:xfrm>
          <a:prstGeom prst="straightConnector1">
            <a:avLst/>
          </a:prstGeom>
          <a:ln w="1905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BCA148E9-0598-EFCE-D742-0CBF5F78A836}"/>
              </a:ext>
            </a:extLst>
          </p:cNvPr>
          <p:cNvCxnSpPr>
            <a:cxnSpLocks/>
            <a:stCxn id="54" idx="0"/>
            <a:endCxn id="42" idx="2"/>
          </p:cNvCxnSpPr>
          <p:nvPr/>
        </p:nvCxnSpPr>
        <p:spPr>
          <a:xfrm flipV="1">
            <a:off x="6941828" y="3982460"/>
            <a:ext cx="0" cy="29981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9C06FCB8-E711-51BA-4D2D-E54FC110DAC9}"/>
              </a:ext>
            </a:extLst>
          </p:cNvPr>
          <p:cNvCxnSpPr>
            <a:cxnSpLocks/>
            <a:stCxn id="42" idx="0"/>
            <a:endCxn id="41" idx="2"/>
          </p:cNvCxnSpPr>
          <p:nvPr/>
        </p:nvCxnSpPr>
        <p:spPr>
          <a:xfrm flipV="1">
            <a:off x="6941828" y="3334388"/>
            <a:ext cx="0" cy="12485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9" name="接點: 肘形 58">
            <a:extLst>
              <a:ext uri="{FF2B5EF4-FFF2-40B4-BE49-F238E27FC236}">
                <a16:creationId xmlns:a16="http://schemas.microsoft.com/office/drawing/2014/main" id="{A273B059-B9B9-3CC0-320F-19F9F9AB337C}"/>
              </a:ext>
            </a:extLst>
          </p:cNvPr>
          <p:cNvCxnSpPr>
            <a:cxnSpLocks/>
            <a:stCxn id="61" idx="0"/>
            <a:endCxn id="54" idx="2"/>
          </p:cNvCxnSpPr>
          <p:nvPr/>
        </p:nvCxnSpPr>
        <p:spPr>
          <a:xfrm rot="5400000" flipH="1" flipV="1">
            <a:off x="6272280" y="4026347"/>
            <a:ext cx="265413" cy="921284"/>
          </a:xfrm>
          <a:prstGeom prst="bentConnector2">
            <a:avLst/>
          </a:prstGeom>
          <a:ln w="19050">
            <a:solidFill>
              <a:srgbClr val="FF0000"/>
            </a:solidFill>
            <a:prstDash val="sysDash"/>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888B0A8D-4335-FD1F-BBD7-A163963806CF}"/>
              </a:ext>
            </a:extLst>
          </p:cNvPr>
          <p:cNvCxnSpPr>
            <a:cxnSpLocks/>
            <a:stCxn id="41" idx="0"/>
            <a:endCxn id="40" idx="2"/>
          </p:cNvCxnSpPr>
          <p:nvPr/>
        </p:nvCxnSpPr>
        <p:spPr>
          <a:xfrm flipV="1">
            <a:off x="6941828" y="2945574"/>
            <a:ext cx="0" cy="16376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61" name="文字方塊 60">
            <a:extLst>
              <a:ext uri="{FF2B5EF4-FFF2-40B4-BE49-F238E27FC236}">
                <a16:creationId xmlns:a16="http://schemas.microsoft.com/office/drawing/2014/main" id="{5D1666DB-89CB-499D-E6CE-FAB597EB5A7A}"/>
              </a:ext>
            </a:extLst>
          </p:cNvPr>
          <p:cNvSpPr txBox="1"/>
          <p:nvPr/>
        </p:nvSpPr>
        <p:spPr>
          <a:xfrm>
            <a:off x="5508104"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62" name="文字方塊 61">
            <a:extLst>
              <a:ext uri="{FF2B5EF4-FFF2-40B4-BE49-F238E27FC236}">
                <a16:creationId xmlns:a16="http://schemas.microsoft.com/office/drawing/2014/main" id="{D57D002C-042A-8051-630C-4E19B8D4CF0A}"/>
              </a:ext>
            </a:extLst>
          </p:cNvPr>
          <p:cNvSpPr txBox="1"/>
          <p:nvPr/>
        </p:nvSpPr>
        <p:spPr>
          <a:xfrm>
            <a:off x="5508104"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(Datasets)</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63" name="接點: 肘形 62">
            <a:extLst>
              <a:ext uri="{FF2B5EF4-FFF2-40B4-BE49-F238E27FC236}">
                <a16:creationId xmlns:a16="http://schemas.microsoft.com/office/drawing/2014/main" id="{DBD4362F-4DAB-27FC-5CCC-DADD4A8C7A92}"/>
              </a:ext>
            </a:extLst>
          </p:cNvPr>
          <p:cNvCxnSpPr>
            <a:cxnSpLocks/>
            <a:stCxn id="49" idx="3"/>
            <a:endCxn id="43" idx="3"/>
          </p:cNvCxnSpPr>
          <p:nvPr/>
        </p:nvCxnSpPr>
        <p:spPr>
          <a:xfrm flipH="1">
            <a:off x="7379909" y="1127322"/>
            <a:ext cx="137983" cy="3672393"/>
          </a:xfrm>
          <a:prstGeom prst="bentConnector3">
            <a:avLst>
              <a:gd name="adj1" fmla="val -296831"/>
            </a:avLst>
          </a:prstGeom>
          <a:ln w="19050">
            <a:solidFill>
              <a:srgbClr val="9E7800">
                <a:alpha val="20000"/>
              </a:srgbClr>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64" name="文字方塊 63">
            <a:extLst>
              <a:ext uri="{FF2B5EF4-FFF2-40B4-BE49-F238E27FC236}">
                <a16:creationId xmlns:a16="http://schemas.microsoft.com/office/drawing/2014/main" id="{C0DAF25E-BDB4-50EE-6EEB-F2762A57710C}"/>
              </a:ext>
            </a:extLst>
          </p:cNvPr>
          <p:cNvSpPr txBox="1"/>
          <p:nvPr/>
        </p:nvSpPr>
        <p:spPr>
          <a:xfrm>
            <a:off x="6056570" y="3319995"/>
            <a:ext cx="294468" cy="205036"/>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N </a:t>
            </a:r>
            <a:r>
              <a:rPr lang="en-US" altLang="zh-TW" sz="1000" dirty="0">
                <a:latin typeface="Gadugi" panose="020B0502040204020203" pitchFamily="34" charset="0"/>
                <a:ea typeface="Gadugi" panose="020B0502040204020203" pitchFamily="34" charset="0"/>
                <a:cs typeface="ADLaM Display" panose="02010000000000000000" pitchFamily="2" charset="0"/>
              </a:rPr>
              <a:t>x</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pic>
        <p:nvPicPr>
          <p:cNvPr id="66" name="圖形 65" descr="橫條圖 以實心填滿">
            <a:extLst>
              <a:ext uri="{FF2B5EF4-FFF2-40B4-BE49-F238E27FC236}">
                <a16:creationId xmlns:a16="http://schemas.microsoft.com/office/drawing/2014/main" id="{260C39DA-875B-437B-9040-F4572C6806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1422" y="5484557"/>
            <a:ext cx="585843" cy="585843"/>
          </a:xfrm>
          <a:prstGeom prst="rect">
            <a:avLst/>
          </a:prstGeom>
        </p:spPr>
      </p:pic>
      <p:cxnSp>
        <p:nvCxnSpPr>
          <p:cNvPr id="73" name="接點: 肘形 72">
            <a:extLst>
              <a:ext uri="{FF2B5EF4-FFF2-40B4-BE49-F238E27FC236}">
                <a16:creationId xmlns:a16="http://schemas.microsoft.com/office/drawing/2014/main" id="{216E02E9-A3CE-76E5-497E-3DD85BBC6AB6}"/>
              </a:ext>
            </a:extLst>
          </p:cNvPr>
          <p:cNvCxnSpPr>
            <a:cxnSpLocks/>
            <a:stCxn id="9" idx="2"/>
            <a:endCxn id="109" idx="3"/>
          </p:cNvCxnSpPr>
          <p:nvPr/>
        </p:nvCxnSpPr>
        <p:spPr>
          <a:xfrm rot="5400000">
            <a:off x="7551230" y="2826034"/>
            <a:ext cx="1016966" cy="638722"/>
          </a:xfrm>
          <a:prstGeom prst="bentConnector2">
            <a:avLst/>
          </a:prstGeom>
          <a:ln w="19050">
            <a:solidFill>
              <a:schemeClr val="accent2"/>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接點: 肘形 76">
            <a:extLst>
              <a:ext uri="{FF2B5EF4-FFF2-40B4-BE49-F238E27FC236}">
                <a16:creationId xmlns:a16="http://schemas.microsoft.com/office/drawing/2014/main" id="{0E461973-1A74-307A-9816-3CD2BE9AE7F2}"/>
              </a:ext>
            </a:extLst>
          </p:cNvPr>
          <p:cNvCxnSpPr>
            <a:cxnSpLocks/>
            <a:stCxn id="45" idx="3"/>
            <a:endCxn id="9" idx="0"/>
          </p:cNvCxnSpPr>
          <p:nvPr/>
        </p:nvCxnSpPr>
        <p:spPr>
          <a:xfrm>
            <a:off x="7517892" y="1599888"/>
            <a:ext cx="861182" cy="582372"/>
          </a:xfrm>
          <a:prstGeom prst="bentConnector2">
            <a:avLst/>
          </a:prstGeom>
          <a:ln w="19050">
            <a:solidFill>
              <a:schemeClr val="accent2"/>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09" name="矩形: 圓角 108">
            <a:extLst>
              <a:ext uri="{FF2B5EF4-FFF2-40B4-BE49-F238E27FC236}">
                <a16:creationId xmlns:a16="http://schemas.microsoft.com/office/drawing/2014/main" id="{EAAA9432-3B8E-CE97-5586-DEB7A299AE33}"/>
              </a:ext>
            </a:extLst>
          </p:cNvPr>
          <p:cNvSpPr/>
          <p:nvPr/>
        </p:nvSpPr>
        <p:spPr>
          <a:xfrm>
            <a:off x="6141460" y="2126094"/>
            <a:ext cx="1598892" cy="3055568"/>
          </a:xfrm>
          <a:prstGeom prst="roundRect">
            <a:avLst>
              <a:gd name="adj" fmla="val 10053"/>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14" name="文字方塊 113">
            <a:extLst>
              <a:ext uri="{FF2B5EF4-FFF2-40B4-BE49-F238E27FC236}">
                <a16:creationId xmlns:a16="http://schemas.microsoft.com/office/drawing/2014/main" id="{7ABCDAB6-2DC5-0E8C-89AC-8E0D70851A57}"/>
              </a:ext>
            </a:extLst>
          </p:cNvPr>
          <p:cNvSpPr txBox="1"/>
          <p:nvPr/>
        </p:nvSpPr>
        <p:spPr>
          <a:xfrm>
            <a:off x="5152301" y="1075856"/>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5" name="表格 114">
            <a:extLst>
              <a:ext uri="{FF2B5EF4-FFF2-40B4-BE49-F238E27FC236}">
                <a16:creationId xmlns:a16="http://schemas.microsoft.com/office/drawing/2014/main" id="{EAE72022-DB67-8C5B-F34B-3FC9F913817F}"/>
              </a:ext>
            </a:extLst>
          </p:cNvPr>
          <p:cNvGraphicFramePr>
            <a:graphicFrameLocks noGrp="1"/>
          </p:cNvGraphicFramePr>
          <p:nvPr>
            <p:extLst>
              <p:ext uri="{D42A27DB-BD31-4B8C-83A1-F6EECF244321}">
                <p14:modId xmlns:p14="http://schemas.microsoft.com/office/powerpoint/2010/main" val="224556503"/>
              </p:ext>
            </p:extLst>
          </p:nvPr>
        </p:nvGraphicFramePr>
        <p:xfrm>
          <a:off x="5211278" y="1097982"/>
          <a:ext cx="610509" cy="83857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1" cap="none" spc="0" dirty="0">
                          <a:ln w="0"/>
                          <a:solidFill>
                            <a:schemeClr val="tx1"/>
                          </a:solidFill>
                          <a:effectLst/>
                        </a:rPr>
                        <a:t>Datasets</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1" cap="none" spc="0" dirty="0">
                          <a:ln w="0"/>
                          <a:solidFill>
                            <a:schemeClr val="tx1"/>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100" b="1" cap="none" spc="0" dirty="0">
                          <a:ln w="0"/>
                          <a:solidFill>
                            <a:srgbClr val="FF0000"/>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100" b="1" i="0" u="none" strike="noStrike" kern="1200" cap="none" spc="0" normalizeH="0" baseline="0" noProof="0" dirty="0">
                          <a:ln w="0"/>
                          <a:solidFill>
                            <a:srgbClr val="FF0000"/>
                          </a:solidFill>
                          <a:effectLst/>
                          <a:uLnTx/>
                          <a:uFillTx/>
                          <a:latin typeface="+mn-lt"/>
                          <a:ea typeface="+mn-ea"/>
                          <a:cs typeface="+mn-cs"/>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68480023"/>
                  </a:ext>
                </a:extLst>
              </a:tr>
            </a:tbl>
          </a:graphicData>
        </a:graphic>
      </p:graphicFrame>
      <p:cxnSp>
        <p:nvCxnSpPr>
          <p:cNvPr id="58" name="直線單箭頭接點 57">
            <a:extLst>
              <a:ext uri="{FF2B5EF4-FFF2-40B4-BE49-F238E27FC236}">
                <a16:creationId xmlns:a16="http://schemas.microsoft.com/office/drawing/2014/main" id="{E10BFB08-33FE-C5C4-323B-9AAA0E2811F3}"/>
              </a:ext>
            </a:extLst>
          </p:cNvPr>
          <p:cNvCxnSpPr>
            <a:cxnSpLocks/>
            <a:stCxn id="40" idx="0"/>
            <a:endCxn id="39" idx="2"/>
          </p:cNvCxnSpPr>
          <p:nvPr/>
        </p:nvCxnSpPr>
        <p:spPr>
          <a:xfrm flipV="1">
            <a:off x="6941828" y="2551328"/>
            <a:ext cx="0" cy="16919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graphicFrame>
        <p:nvGraphicFramePr>
          <p:cNvPr id="67" name="表格 66">
            <a:extLst>
              <a:ext uri="{FF2B5EF4-FFF2-40B4-BE49-F238E27FC236}">
                <a16:creationId xmlns:a16="http://schemas.microsoft.com/office/drawing/2014/main" id="{97B2F5E9-BA51-4010-0FCD-59CFC234E029}"/>
              </a:ext>
            </a:extLst>
          </p:cNvPr>
          <p:cNvGraphicFramePr>
            <a:graphicFrameLocks noGrp="1"/>
          </p:cNvGraphicFramePr>
          <p:nvPr>
            <p:extLst>
              <p:ext uri="{D42A27DB-BD31-4B8C-83A1-F6EECF244321}">
                <p14:modId xmlns:p14="http://schemas.microsoft.com/office/powerpoint/2010/main" val="2806820480"/>
              </p:ext>
            </p:extLst>
          </p:nvPr>
        </p:nvGraphicFramePr>
        <p:xfrm>
          <a:off x="498873" y="3573016"/>
          <a:ext cx="758739" cy="351587"/>
        </p:xfrm>
        <a:graphic>
          <a:graphicData uri="http://schemas.openxmlformats.org/drawingml/2006/table">
            <a:tbl>
              <a:tblPr firstRow="1" bandRow="1">
                <a:tableStyleId>{5C22544A-7EE6-4342-B048-85BDC9FD1C3A}</a:tableStyleId>
              </a:tblPr>
              <a:tblGrid>
                <a:gridCol w="256032">
                  <a:extLst>
                    <a:ext uri="{9D8B030D-6E8A-4147-A177-3AD203B41FA5}">
                      <a16:colId xmlns:a16="http://schemas.microsoft.com/office/drawing/2014/main" val="871242339"/>
                    </a:ext>
                  </a:extLst>
                </a:gridCol>
                <a:gridCol w="256032">
                  <a:extLst>
                    <a:ext uri="{9D8B030D-6E8A-4147-A177-3AD203B41FA5}">
                      <a16:colId xmlns:a16="http://schemas.microsoft.com/office/drawing/2014/main" val="506512337"/>
                    </a:ext>
                  </a:extLst>
                </a:gridCol>
                <a:gridCol w="246675">
                  <a:extLst>
                    <a:ext uri="{9D8B030D-6E8A-4147-A177-3AD203B41FA5}">
                      <a16:colId xmlns:a16="http://schemas.microsoft.com/office/drawing/2014/main" val="2345701098"/>
                    </a:ext>
                  </a:extLst>
                </a:gridCol>
              </a:tblGrid>
              <a:tr h="172866">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01187546"/>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bl>
          </a:graphicData>
        </a:graphic>
      </p:graphicFrame>
      <p:graphicFrame>
        <p:nvGraphicFramePr>
          <p:cNvPr id="72" name="表格 71">
            <a:extLst>
              <a:ext uri="{FF2B5EF4-FFF2-40B4-BE49-F238E27FC236}">
                <a16:creationId xmlns:a16="http://schemas.microsoft.com/office/drawing/2014/main" id="{5AB1DF24-F577-0D18-2843-A4FCB6E5B93A}"/>
              </a:ext>
            </a:extLst>
          </p:cNvPr>
          <p:cNvGraphicFramePr>
            <a:graphicFrameLocks noGrp="1"/>
          </p:cNvGraphicFramePr>
          <p:nvPr>
            <p:extLst>
              <p:ext uri="{D42A27DB-BD31-4B8C-83A1-F6EECF244321}">
                <p14:modId xmlns:p14="http://schemas.microsoft.com/office/powerpoint/2010/main" val="3715509146"/>
              </p:ext>
            </p:extLst>
          </p:nvPr>
        </p:nvGraphicFramePr>
        <p:xfrm>
          <a:off x="2524651" y="3212976"/>
          <a:ext cx="2191365" cy="725389"/>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370046">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Predicted</a:t>
                      </a:r>
                    </a:p>
                    <a:p>
                      <a:pPr algn="ctr"/>
                      <a:r>
                        <a:rPr lang="en-US" altLang="zh-TW" sz="1000" b="0" dirty="0">
                          <a:solidFill>
                            <a:schemeClr val="tx1"/>
                          </a:solidFill>
                          <a:latin typeface="ADLaM Display" panose="02010000000000000000" pitchFamily="2" charset="0"/>
                          <a:cs typeface="ADLaM Display" panose="02010000000000000000" pitchFamily="2" charset="0"/>
                        </a:rPr>
                        <a:t>Token</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Target</a:t>
                      </a:r>
                    </a:p>
                    <a:p>
                      <a:pPr algn="ctr"/>
                      <a:r>
                        <a:rPr lang="en-US" altLang="zh-TW" sz="1000" b="0" dirty="0">
                          <a:solidFill>
                            <a:schemeClr val="tx1"/>
                          </a:solidFill>
                          <a:latin typeface="ADLaM Display" panose="02010000000000000000" pitchFamily="2" charset="0"/>
                          <a:cs typeface="ADLaM Display" panose="02010000000000000000" pitchFamily="2" charset="0"/>
                        </a:rPr>
                        <a:t>Token</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151783597"/>
                  </a:ext>
                </a:extLst>
              </a:tr>
              <a:tr h="170319">
                <a:tc gridSpan="3">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“Fabulous”</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11</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75" name="表格 74">
            <a:extLst>
              <a:ext uri="{FF2B5EF4-FFF2-40B4-BE49-F238E27FC236}">
                <a16:creationId xmlns:a16="http://schemas.microsoft.com/office/drawing/2014/main" id="{F48C4132-80EE-41A7-1590-37A4EAEF8439}"/>
              </a:ext>
            </a:extLst>
          </p:cNvPr>
          <p:cNvGraphicFramePr>
            <a:graphicFrameLocks noGrp="1"/>
          </p:cNvGraphicFramePr>
          <p:nvPr>
            <p:extLst>
              <p:ext uri="{D42A27DB-BD31-4B8C-83A1-F6EECF244321}">
                <p14:modId xmlns:p14="http://schemas.microsoft.com/office/powerpoint/2010/main" val="1152780543"/>
              </p:ext>
            </p:extLst>
          </p:nvPr>
        </p:nvGraphicFramePr>
        <p:xfrm>
          <a:off x="539552" y="2708920"/>
          <a:ext cx="469803" cy="636108"/>
        </p:xfrm>
        <a:graphic>
          <a:graphicData uri="http://schemas.openxmlformats.org/drawingml/2006/table">
            <a:tbl>
              <a:tblPr firstRow="1" bandRow="1">
                <a:tableStyleId>{5C22544A-7EE6-4342-B048-85BDC9FD1C3A}</a:tableStyleId>
              </a:tblPr>
              <a:tblGrid>
                <a:gridCol w="469803">
                  <a:extLst>
                    <a:ext uri="{9D8B030D-6E8A-4147-A177-3AD203B41FA5}">
                      <a16:colId xmlns:a16="http://schemas.microsoft.com/office/drawing/2014/main" val="871242339"/>
                    </a:ext>
                  </a:extLst>
                </a:gridCol>
              </a:tblGrid>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How</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1579579499"/>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are</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2374285286"/>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You</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2660497382"/>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1151783597"/>
                  </a:ext>
                </a:extLst>
              </a:tr>
            </a:tbl>
          </a:graphicData>
        </a:graphic>
      </p:graphicFrame>
      <p:sp>
        <p:nvSpPr>
          <p:cNvPr id="5" name="箭號: 向下 4">
            <a:extLst>
              <a:ext uri="{FF2B5EF4-FFF2-40B4-BE49-F238E27FC236}">
                <a16:creationId xmlns:a16="http://schemas.microsoft.com/office/drawing/2014/main" id="{7672D427-201C-4736-BEA0-A3CAC7BE6873}"/>
              </a:ext>
            </a:extLst>
          </p:cNvPr>
          <p:cNvSpPr/>
          <p:nvPr/>
        </p:nvSpPr>
        <p:spPr>
          <a:xfrm>
            <a:off x="5396876" y="2060848"/>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1" name="接點: 弧形 20">
            <a:extLst>
              <a:ext uri="{FF2B5EF4-FFF2-40B4-BE49-F238E27FC236}">
                <a16:creationId xmlns:a16="http://schemas.microsoft.com/office/drawing/2014/main" id="{34301705-C84B-C3D0-5E5A-82DF40E8C7FB}"/>
              </a:ext>
            </a:extLst>
          </p:cNvPr>
          <p:cNvCxnSpPr>
            <a:cxnSpLocks/>
            <a:stCxn id="67" idx="0"/>
            <a:endCxn id="72" idx="0"/>
          </p:cNvCxnSpPr>
          <p:nvPr/>
        </p:nvCxnSpPr>
        <p:spPr>
          <a:xfrm rot="5400000" flipH="1" flipV="1">
            <a:off x="2069267" y="2021951"/>
            <a:ext cx="360040" cy="2742091"/>
          </a:xfrm>
          <a:prstGeom prst="curvedConnector3">
            <a:avLst>
              <a:gd name="adj1" fmla="val 163493"/>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AD3CD349-2055-27AA-D847-2FCB2CCC8867}"/>
              </a:ext>
            </a:extLst>
          </p:cNvPr>
          <p:cNvSpPr txBox="1"/>
          <p:nvPr/>
        </p:nvSpPr>
        <p:spPr>
          <a:xfrm>
            <a:off x="2217328" y="3698045"/>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44" name="文字方塊 43">
            <a:extLst>
              <a:ext uri="{FF2B5EF4-FFF2-40B4-BE49-F238E27FC236}">
                <a16:creationId xmlns:a16="http://schemas.microsoft.com/office/drawing/2014/main" id="{DDD77131-495F-1135-3025-F0FD2E1BADCC}"/>
              </a:ext>
            </a:extLst>
          </p:cNvPr>
          <p:cNvSpPr txBox="1"/>
          <p:nvPr/>
        </p:nvSpPr>
        <p:spPr>
          <a:xfrm>
            <a:off x="6507429" y="3933056"/>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Optimizer</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 SGD …</a:t>
            </a:r>
            <a:endParaRPr lang="en-US" altLang="zh-TW" sz="1000" u="none" strike="noStrike"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35" name="接點: 肘形 34">
            <a:extLst>
              <a:ext uri="{FF2B5EF4-FFF2-40B4-BE49-F238E27FC236}">
                <a16:creationId xmlns:a16="http://schemas.microsoft.com/office/drawing/2014/main" id="{764551C1-0056-8F64-15ED-F538AAC1D7F9}"/>
              </a:ext>
            </a:extLst>
          </p:cNvPr>
          <p:cNvCxnSpPr>
            <a:cxnSpLocks/>
            <a:stCxn id="71" idx="2"/>
            <a:endCxn id="3" idx="3"/>
          </p:cNvCxnSpPr>
          <p:nvPr/>
        </p:nvCxnSpPr>
        <p:spPr>
          <a:xfrm rot="5400000">
            <a:off x="3238818" y="4806443"/>
            <a:ext cx="1863951" cy="205698"/>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4F1CECED-5B95-D636-6228-8F40EA0AFDB7}"/>
              </a:ext>
            </a:extLst>
          </p:cNvPr>
          <p:cNvSpPr/>
          <p:nvPr/>
        </p:nvSpPr>
        <p:spPr>
          <a:xfrm>
            <a:off x="3774381" y="3573016"/>
            <a:ext cx="998522" cy="404301"/>
          </a:xfrm>
          <a:prstGeom prst="rect">
            <a:avLst/>
          </a:prstGeom>
          <a:noFill/>
          <a:ln w="25400">
            <a:solidFill>
              <a:schemeClr val="accent4"/>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76" name="矩形 75">
            <a:extLst>
              <a:ext uri="{FF2B5EF4-FFF2-40B4-BE49-F238E27FC236}">
                <a16:creationId xmlns:a16="http://schemas.microsoft.com/office/drawing/2014/main" id="{E5531A62-2205-D59C-0517-6508F064ADF9}"/>
              </a:ext>
            </a:extLst>
          </p:cNvPr>
          <p:cNvSpPr/>
          <p:nvPr/>
        </p:nvSpPr>
        <p:spPr>
          <a:xfrm>
            <a:off x="2477138" y="3573016"/>
            <a:ext cx="978524" cy="404301"/>
          </a:xfrm>
          <a:prstGeom prst="rect">
            <a:avLst/>
          </a:prstGeom>
          <a:noFill/>
          <a:ln w="25400">
            <a:solidFill>
              <a:schemeClr val="accent1">
                <a:lumMod val="60000"/>
                <a:lumOff val="40000"/>
              </a:schemeClr>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84" name="接點: 肘形 83">
            <a:extLst>
              <a:ext uri="{FF2B5EF4-FFF2-40B4-BE49-F238E27FC236}">
                <a16:creationId xmlns:a16="http://schemas.microsoft.com/office/drawing/2014/main" id="{112D467F-C646-BE8A-7F1D-31F9A509090E}"/>
              </a:ext>
            </a:extLst>
          </p:cNvPr>
          <p:cNvCxnSpPr>
            <a:cxnSpLocks/>
            <a:stCxn id="76" idx="2"/>
            <a:endCxn id="3" idx="1"/>
          </p:cNvCxnSpPr>
          <p:nvPr/>
        </p:nvCxnSpPr>
        <p:spPr>
          <a:xfrm rot="16200000" flipH="1">
            <a:off x="2148957" y="4794760"/>
            <a:ext cx="1863951" cy="229064"/>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03" name="表格 102">
            <a:extLst>
              <a:ext uri="{FF2B5EF4-FFF2-40B4-BE49-F238E27FC236}">
                <a16:creationId xmlns:a16="http://schemas.microsoft.com/office/drawing/2014/main" id="{9309C523-9461-DD9A-5FA5-187AB9B5B49E}"/>
              </a:ext>
            </a:extLst>
          </p:cNvPr>
          <p:cNvGraphicFramePr>
            <a:graphicFrameLocks noGrp="1"/>
          </p:cNvGraphicFramePr>
          <p:nvPr>
            <p:extLst>
              <p:ext uri="{D42A27DB-BD31-4B8C-83A1-F6EECF244321}">
                <p14:modId xmlns:p14="http://schemas.microsoft.com/office/powerpoint/2010/main" val="942274974"/>
              </p:ext>
            </p:extLst>
          </p:nvPr>
        </p:nvGraphicFramePr>
        <p:xfrm>
          <a:off x="971600" y="4236854"/>
          <a:ext cx="1219420" cy="357442"/>
        </p:xfrm>
        <a:graphic>
          <a:graphicData uri="http://schemas.openxmlformats.org/drawingml/2006/table">
            <a:tbl>
              <a:tblPr firstRow="1" bandRow="1">
                <a:tableStyleId>{5C22544A-7EE6-4342-B048-85BDC9FD1C3A}</a:tableStyleId>
              </a:tblPr>
              <a:tblGrid>
                <a:gridCol w="292627">
                  <a:extLst>
                    <a:ext uri="{9D8B030D-6E8A-4147-A177-3AD203B41FA5}">
                      <a16:colId xmlns:a16="http://schemas.microsoft.com/office/drawing/2014/main" val="2022031271"/>
                    </a:ext>
                  </a:extLst>
                </a:gridCol>
                <a:gridCol w="317083">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05" name="表格 104">
            <a:extLst>
              <a:ext uri="{FF2B5EF4-FFF2-40B4-BE49-F238E27FC236}">
                <a16:creationId xmlns:a16="http://schemas.microsoft.com/office/drawing/2014/main" id="{5DA37C5F-5036-3B5A-5A3D-5F3EC4E6542E}"/>
              </a:ext>
            </a:extLst>
          </p:cNvPr>
          <p:cNvGraphicFramePr>
            <a:graphicFrameLocks noGrp="1"/>
          </p:cNvGraphicFramePr>
          <p:nvPr>
            <p:extLst>
              <p:ext uri="{D42A27DB-BD31-4B8C-83A1-F6EECF244321}">
                <p14:modId xmlns:p14="http://schemas.microsoft.com/office/powerpoint/2010/main" val="3623818084"/>
              </p:ext>
            </p:extLst>
          </p:nvPr>
        </p:nvGraphicFramePr>
        <p:xfrm>
          <a:off x="2527296" y="4149080"/>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alpha val="60000"/>
                      </a:schemeClr>
                    </a:solid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3.6</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10" name="表格 109">
            <a:extLst>
              <a:ext uri="{FF2B5EF4-FFF2-40B4-BE49-F238E27FC236}">
                <a16:creationId xmlns:a16="http://schemas.microsoft.com/office/drawing/2014/main" id="{4ED82215-08B8-341E-0714-3666C3B565B2}"/>
              </a:ext>
            </a:extLst>
          </p:cNvPr>
          <p:cNvGraphicFramePr>
            <a:graphicFrameLocks noGrp="1"/>
          </p:cNvGraphicFramePr>
          <p:nvPr>
            <p:extLst>
              <p:ext uri="{D42A27DB-BD31-4B8C-83A1-F6EECF244321}">
                <p14:modId xmlns:p14="http://schemas.microsoft.com/office/powerpoint/2010/main" val="347564075"/>
              </p:ext>
            </p:extLst>
          </p:nvPr>
        </p:nvGraphicFramePr>
        <p:xfrm>
          <a:off x="971600" y="4692901"/>
          <a:ext cx="1219420" cy="357442"/>
        </p:xfrm>
        <a:graphic>
          <a:graphicData uri="http://schemas.openxmlformats.org/drawingml/2006/table">
            <a:tbl>
              <a:tblPr firstRow="1" bandRow="1">
                <a:tableStyleId>{5C22544A-7EE6-4342-B048-85BDC9FD1C3A}</a:tableStyleId>
              </a:tblPr>
              <a:tblGrid>
                <a:gridCol w="292627">
                  <a:extLst>
                    <a:ext uri="{9D8B030D-6E8A-4147-A177-3AD203B41FA5}">
                      <a16:colId xmlns:a16="http://schemas.microsoft.com/office/drawing/2014/main" val="2022031271"/>
                    </a:ext>
                  </a:extLst>
                </a:gridCol>
                <a:gridCol w="317083">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12" name="表格 111">
            <a:extLst>
              <a:ext uri="{FF2B5EF4-FFF2-40B4-BE49-F238E27FC236}">
                <a16:creationId xmlns:a16="http://schemas.microsoft.com/office/drawing/2014/main" id="{6FC1CF50-DCCD-3394-48AA-F5099897026F}"/>
              </a:ext>
            </a:extLst>
          </p:cNvPr>
          <p:cNvGraphicFramePr>
            <a:graphicFrameLocks noGrp="1"/>
          </p:cNvGraphicFramePr>
          <p:nvPr>
            <p:extLst>
              <p:ext uri="{D42A27DB-BD31-4B8C-83A1-F6EECF244321}">
                <p14:modId xmlns:p14="http://schemas.microsoft.com/office/powerpoint/2010/main" val="174313573"/>
              </p:ext>
            </p:extLst>
          </p:nvPr>
        </p:nvGraphicFramePr>
        <p:xfrm>
          <a:off x="2524651" y="4605127"/>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lumMod val="65000"/>
                              <a:lumOff val="35000"/>
                            </a:schemeClr>
                          </a:solidFill>
                          <a:latin typeface="ADLaM Display" panose="02010000000000000000" pitchFamily="2" charset="0"/>
                          <a:cs typeface="ADLaM Display" panose="02010000000000000000" pitchFamily="2" charset="0"/>
                        </a:rPr>
                        <a:t>“</a:t>
                      </a:r>
                      <a:r>
                        <a:rPr lang="en-US" altLang="zh-TW" sz="1000" b="0" dirty="0">
                          <a:solidFill>
                            <a:schemeClr val="tx1">
                              <a:lumMod val="50000"/>
                              <a:lumOff val="50000"/>
                            </a:schemeClr>
                          </a:solidFill>
                          <a:latin typeface="ADLaM Display" panose="02010000000000000000" pitchFamily="2" charset="0"/>
                          <a:cs typeface="ADLaM Display" panose="02010000000000000000" pitchFamily="2" charset="0"/>
                        </a:rPr>
                        <a:t>?</a:t>
                      </a:r>
                      <a:r>
                        <a:rPr lang="en-US" altLang="zh-TW" sz="1000" b="0" dirty="0">
                          <a:solidFill>
                            <a:schemeClr val="tx1">
                              <a:lumMod val="65000"/>
                              <a:lumOff val="35000"/>
                            </a:schemeClr>
                          </a:solidFill>
                          <a:latin typeface="ADLaM Display" panose="02010000000000000000" pitchFamily="2" charset="0"/>
                          <a:cs typeface="ADLaM Display" panose="02010000000000000000" pitchFamily="2" charset="0"/>
                        </a:rPr>
                        <a:t>”</a:t>
                      </a:r>
                      <a:endParaRPr lang="zh-TW" altLang="en-US" sz="1000" b="0" dirty="0">
                        <a:solidFill>
                          <a:schemeClr val="tx1">
                            <a:lumMod val="65000"/>
                            <a:lumOff val="3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alpha val="60000"/>
                      </a:schemeClr>
                    </a:solid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lumMod val="50000"/>
                              <a:lumOff val="50000"/>
                            </a:schemeClr>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0.4</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17" name="表格 116">
            <a:extLst>
              <a:ext uri="{FF2B5EF4-FFF2-40B4-BE49-F238E27FC236}">
                <a16:creationId xmlns:a16="http://schemas.microsoft.com/office/drawing/2014/main" id="{088585CB-4799-F63A-105E-8AE33E9BD2C4}"/>
              </a:ext>
            </a:extLst>
          </p:cNvPr>
          <p:cNvGraphicFramePr>
            <a:graphicFrameLocks noGrp="1"/>
          </p:cNvGraphicFramePr>
          <p:nvPr>
            <p:extLst>
              <p:ext uri="{D42A27DB-BD31-4B8C-83A1-F6EECF244321}">
                <p14:modId xmlns:p14="http://schemas.microsoft.com/office/powerpoint/2010/main" val="29541514"/>
              </p:ext>
            </p:extLst>
          </p:nvPr>
        </p:nvGraphicFramePr>
        <p:xfrm>
          <a:off x="971600" y="5138117"/>
          <a:ext cx="1219420" cy="357442"/>
        </p:xfrm>
        <a:graphic>
          <a:graphicData uri="http://schemas.openxmlformats.org/drawingml/2006/table">
            <a:tbl>
              <a:tblPr firstRow="1" bandRow="1">
                <a:tableStyleId>{5C22544A-7EE6-4342-B048-85BDC9FD1C3A}</a:tableStyleId>
              </a:tblPr>
              <a:tblGrid>
                <a:gridCol w="288032">
                  <a:extLst>
                    <a:ext uri="{9D8B030D-6E8A-4147-A177-3AD203B41FA5}">
                      <a16:colId xmlns:a16="http://schemas.microsoft.com/office/drawing/2014/main" val="2022031271"/>
                    </a:ext>
                  </a:extLst>
                </a:gridCol>
                <a:gridCol w="321678">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19" name="表格 118">
            <a:extLst>
              <a:ext uri="{FF2B5EF4-FFF2-40B4-BE49-F238E27FC236}">
                <a16:creationId xmlns:a16="http://schemas.microsoft.com/office/drawing/2014/main" id="{0652947B-9B37-BEDD-A13E-F8BAC61CF576}"/>
              </a:ext>
            </a:extLst>
          </p:cNvPr>
          <p:cNvGraphicFramePr>
            <a:graphicFrameLocks noGrp="1"/>
          </p:cNvGraphicFramePr>
          <p:nvPr>
            <p:extLst>
              <p:ext uri="{D42A27DB-BD31-4B8C-83A1-F6EECF244321}">
                <p14:modId xmlns:p14="http://schemas.microsoft.com/office/powerpoint/2010/main" val="946098686"/>
              </p:ext>
            </p:extLst>
          </p:nvPr>
        </p:nvGraphicFramePr>
        <p:xfrm>
          <a:off x="2524651" y="5089881"/>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cxnSp>
        <p:nvCxnSpPr>
          <p:cNvPr id="120" name="接點: 肘形 119">
            <a:extLst>
              <a:ext uri="{FF2B5EF4-FFF2-40B4-BE49-F238E27FC236}">
                <a16:creationId xmlns:a16="http://schemas.microsoft.com/office/drawing/2014/main" id="{ABFA85FE-B810-5BDE-E5FD-A0E932057638}"/>
              </a:ext>
            </a:extLst>
          </p:cNvPr>
          <p:cNvCxnSpPr>
            <a:cxnSpLocks/>
            <a:stCxn id="3" idx="2"/>
            <a:endCxn id="117" idx="2"/>
          </p:cNvCxnSpPr>
          <p:nvPr/>
        </p:nvCxnSpPr>
        <p:spPr>
          <a:xfrm rot="5400000" flipH="1">
            <a:off x="2343642" y="4733227"/>
            <a:ext cx="525729" cy="2050394"/>
          </a:xfrm>
          <a:prstGeom prst="bentConnector3">
            <a:avLst>
              <a:gd name="adj1" fmla="val -43482"/>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28" name="文字方塊 127">
            <a:extLst>
              <a:ext uri="{FF2B5EF4-FFF2-40B4-BE49-F238E27FC236}">
                <a16:creationId xmlns:a16="http://schemas.microsoft.com/office/drawing/2014/main" id="{66139389-0265-2F4C-B448-9BAC4F074D51}"/>
              </a:ext>
            </a:extLst>
          </p:cNvPr>
          <p:cNvSpPr txBox="1"/>
          <p:nvPr/>
        </p:nvSpPr>
        <p:spPr>
          <a:xfrm>
            <a:off x="2267744" y="6021288"/>
            <a:ext cx="1161905" cy="190577"/>
          </a:xfrm>
          <a:prstGeom prst="rect">
            <a:avLst/>
          </a:prstGeom>
          <a:noFill/>
          <a:ln w="15875">
            <a:noFill/>
          </a:ln>
        </p:spPr>
        <p:txBody>
          <a:bodyPr wrap="none" lIns="0" tIns="0" rIns="0" bIns="0" anchor="ctr"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Backpropagation</a:t>
            </a:r>
          </a:p>
        </p:txBody>
      </p:sp>
      <p:sp>
        <p:nvSpPr>
          <p:cNvPr id="130" name="文字方塊 129">
            <a:extLst>
              <a:ext uri="{FF2B5EF4-FFF2-40B4-BE49-F238E27FC236}">
                <a16:creationId xmlns:a16="http://schemas.microsoft.com/office/drawing/2014/main" id="{B028380C-F84E-1637-9781-4E545DD6C533}"/>
              </a:ext>
            </a:extLst>
          </p:cNvPr>
          <p:cNvSpPr txBox="1"/>
          <p:nvPr/>
        </p:nvSpPr>
        <p:spPr>
          <a:xfrm>
            <a:off x="2217328" y="4293096"/>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132" name="文字方塊 131">
            <a:extLst>
              <a:ext uri="{FF2B5EF4-FFF2-40B4-BE49-F238E27FC236}">
                <a16:creationId xmlns:a16="http://schemas.microsoft.com/office/drawing/2014/main" id="{7DC41F1E-9FCA-0BAB-4E77-9ADC7E341EDA}"/>
              </a:ext>
            </a:extLst>
          </p:cNvPr>
          <p:cNvSpPr txBox="1"/>
          <p:nvPr/>
        </p:nvSpPr>
        <p:spPr>
          <a:xfrm>
            <a:off x="2173920" y="4736177"/>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134" name="文字方塊 133">
            <a:extLst>
              <a:ext uri="{FF2B5EF4-FFF2-40B4-BE49-F238E27FC236}">
                <a16:creationId xmlns:a16="http://schemas.microsoft.com/office/drawing/2014/main" id="{C1BF2DD6-7AEB-CBD3-FA6F-AB7E20359649}"/>
              </a:ext>
            </a:extLst>
          </p:cNvPr>
          <p:cNvSpPr txBox="1"/>
          <p:nvPr/>
        </p:nvSpPr>
        <p:spPr>
          <a:xfrm>
            <a:off x="2195736" y="5157192"/>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3" name="文字方塊 2">
            <a:extLst>
              <a:ext uri="{FF2B5EF4-FFF2-40B4-BE49-F238E27FC236}">
                <a16:creationId xmlns:a16="http://schemas.microsoft.com/office/drawing/2014/main" id="{65874851-F729-00F0-F8DF-20479A1CC03C}"/>
              </a:ext>
            </a:extLst>
          </p:cNvPr>
          <p:cNvSpPr txBox="1"/>
          <p:nvPr/>
        </p:nvSpPr>
        <p:spPr>
          <a:xfrm>
            <a:off x="3195464" y="5661248"/>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Cross Entropy</a:t>
            </a:r>
          </a:p>
          <a:p>
            <a:pPr algn="ctr">
              <a:lnSpc>
                <a:spcPts val="1400"/>
              </a:lnSpc>
              <a:buNone/>
            </a:pPr>
            <a:r>
              <a:rPr lang="en-US" altLang="zh-TW" sz="1100" b="1"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a:t>
            </a:r>
            <a:endPar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9" name="文字方塊 8">
            <a:extLst>
              <a:ext uri="{FF2B5EF4-FFF2-40B4-BE49-F238E27FC236}">
                <a16:creationId xmlns:a16="http://schemas.microsoft.com/office/drawing/2014/main" id="{9A132A00-CC14-540B-FB24-FD5997BF85C6}"/>
              </a:ext>
            </a:extLst>
          </p:cNvPr>
          <p:cNvSpPr txBox="1"/>
          <p:nvPr/>
        </p:nvSpPr>
        <p:spPr>
          <a:xfrm>
            <a:off x="7942834" y="2182260"/>
            <a:ext cx="872480" cy="454652"/>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Cross Entropy</a:t>
            </a:r>
          </a:p>
          <a:p>
            <a:pPr algn="ctr">
              <a:lnSpc>
                <a:spcPts val="1400"/>
              </a:lnSpc>
              <a:buNone/>
            </a:pPr>
            <a:r>
              <a:rPr lang="en-US" altLang="zh-TW" sz="1100" b="1"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a:t>
            </a:r>
            <a:endPar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33" name="矩形: 圓角 32">
            <a:extLst>
              <a:ext uri="{FF2B5EF4-FFF2-40B4-BE49-F238E27FC236}">
                <a16:creationId xmlns:a16="http://schemas.microsoft.com/office/drawing/2014/main" id="{95402E6A-EB42-71D2-2D5A-ABBA1C5345C6}"/>
              </a:ext>
            </a:extLst>
          </p:cNvPr>
          <p:cNvSpPr/>
          <p:nvPr/>
        </p:nvSpPr>
        <p:spPr>
          <a:xfrm>
            <a:off x="1268147" y="5733256"/>
            <a:ext cx="927589" cy="585843"/>
          </a:xfrm>
          <a:prstGeom prst="roundRect">
            <a:avLst>
              <a:gd name="adj" fmla="val 10053"/>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glow rad="127000">
                    <a:srgbClr val="FFFF00"/>
                  </a:glow>
                </a:effectLst>
                <a:uLnTx/>
                <a:uFillTx/>
                <a:latin typeface="Gadugi" panose="020B0502040204020203" pitchFamily="34" charset="0"/>
                <a:ea typeface="Gadugi" panose="020B0502040204020203" pitchFamily="34" charset="0"/>
                <a:cs typeface="ADLaM Display" panose="02010000000000000000" pitchFamily="2" charset="0"/>
              </a:rPr>
              <a:t>Optimizer</a:t>
            </a:r>
          </a:p>
        </p:txBody>
      </p:sp>
      <p:sp>
        <p:nvSpPr>
          <p:cNvPr id="83" name="文字方塊 82">
            <a:extLst>
              <a:ext uri="{FF2B5EF4-FFF2-40B4-BE49-F238E27FC236}">
                <a16:creationId xmlns:a16="http://schemas.microsoft.com/office/drawing/2014/main" id="{6832CADE-A012-7F64-DDAB-6EF23DC2DFCB}"/>
              </a:ext>
            </a:extLst>
          </p:cNvPr>
          <p:cNvSpPr txBox="1"/>
          <p:nvPr/>
        </p:nvSpPr>
        <p:spPr>
          <a:xfrm>
            <a:off x="7740352" y="3633658"/>
            <a:ext cx="1161905" cy="267402"/>
          </a:xfrm>
          <a:prstGeom prst="rect">
            <a:avLst/>
          </a:prstGeom>
          <a:noFill/>
          <a:ln w="15875">
            <a:noFill/>
          </a:ln>
        </p:spPr>
        <p:txBody>
          <a:bodyPr wrap="none" lIns="0" tIns="0" rIns="0" bIns="0" anchor="ctr"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Backpropagation</a:t>
            </a:r>
          </a:p>
        </p:txBody>
      </p:sp>
      <p:cxnSp>
        <p:nvCxnSpPr>
          <p:cNvPr id="24" name="接點: 肘形 23">
            <a:extLst>
              <a:ext uri="{FF2B5EF4-FFF2-40B4-BE49-F238E27FC236}">
                <a16:creationId xmlns:a16="http://schemas.microsoft.com/office/drawing/2014/main" id="{33377085-380B-39FE-C2D3-B2162C984B2D}"/>
              </a:ext>
            </a:extLst>
          </p:cNvPr>
          <p:cNvCxnSpPr>
            <a:cxnSpLocks/>
            <a:stCxn id="5" idx="2"/>
            <a:endCxn id="75" idx="0"/>
          </p:cNvCxnSpPr>
          <p:nvPr/>
        </p:nvCxnSpPr>
        <p:spPr>
          <a:xfrm rot="5400000">
            <a:off x="2928160" y="132193"/>
            <a:ext cx="423020" cy="4730434"/>
          </a:xfrm>
          <a:prstGeom prst="bentConnector3">
            <a:avLst>
              <a:gd name="adj1" fmla="val 50000"/>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86" name="表格 85">
            <a:extLst>
              <a:ext uri="{FF2B5EF4-FFF2-40B4-BE49-F238E27FC236}">
                <a16:creationId xmlns:a16="http://schemas.microsoft.com/office/drawing/2014/main" id="{6E299434-A84D-CD95-E72A-61972F63AB34}"/>
              </a:ext>
            </a:extLst>
          </p:cNvPr>
          <p:cNvGraphicFramePr>
            <a:graphicFrameLocks noGrp="1"/>
          </p:cNvGraphicFramePr>
          <p:nvPr>
            <p:extLst>
              <p:ext uri="{D42A27DB-BD31-4B8C-83A1-F6EECF244321}">
                <p14:modId xmlns:p14="http://schemas.microsoft.com/office/powerpoint/2010/main" val="548296409"/>
              </p:ext>
            </p:extLst>
          </p:nvPr>
        </p:nvGraphicFramePr>
        <p:xfrm>
          <a:off x="1259632" y="3190244"/>
          <a:ext cx="931386" cy="886828"/>
        </p:xfrm>
        <a:graphic>
          <a:graphicData uri="http://schemas.openxmlformats.org/drawingml/2006/table">
            <a:tbl>
              <a:tblPr firstRow="1" bandRow="1">
                <a:tableStyleId>{5C22544A-7EE6-4342-B048-85BDC9FD1C3A}</a:tableStyleId>
              </a:tblPr>
              <a:tblGrid>
                <a:gridCol w="310462">
                  <a:extLst>
                    <a:ext uri="{9D8B030D-6E8A-4147-A177-3AD203B41FA5}">
                      <a16:colId xmlns:a16="http://schemas.microsoft.com/office/drawing/2014/main" val="871242339"/>
                    </a:ext>
                  </a:extLst>
                </a:gridCol>
                <a:gridCol w="310462">
                  <a:extLst>
                    <a:ext uri="{9D8B030D-6E8A-4147-A177-3AD203B41FA5}">
                      <a16:colId xmlns:a16="http://schemas.microsoft.com/office/drawing/2014/main" val="192921028"/>
                    </a:ext>
                  </a:extLst>
                </a:gridCol>
                <a:gridCol w="310462">
                  <a:extLst>
                    <a:ext uri="{9D8B030D-6E8A-4147-A177-3AD203B41FA5}">
                      <a16:colId xmlns:a16="http://schemas.microsoft.com/office/drawing/2014/main" val="1311854737"/>
                    </a:ext>
                  </a:extLst>
                </a:gridCol>
              </a:tblGrid>
              <a:tr h="446214">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Model</a:t>
                      </a:r>
                    </a:p>
                    <a:p>
                      <a:pPr algn="ctr"/>
                      <a:r>
                        <a:rPr lang="en-US" altLang="zh-TW" sz="1000" b="0" dirty="0">
                          <a:solidFill>
                            <a:schemeClr val="tx1"/>
                          </a:solidFill>
                          <a:latin typeface="ADLaM Display" panose="02010000000000000000" pitchFamily="2" charset="0"/>
                          <a:cs typeface="ADLaM Display" panose="02010000000000000000" pitchFamily="2" charset="0"/>
                        </a:rPr>
                        <a:t>(Parameters)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151783597"/>
                  </a:ext>
                </a:extLst>
              </a:tr>
              <a:tr h="220307">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p>
                  </a:txBody>
                  <a:tcPr marL="0" marR="0" marT="0" marB="0" anchor="ctr" anchorCtr="1">
                    <a:lnL w="12700" cap="flat" cmpd="sng" algn="ctr">
                      <a:solidFill>
                        <a:schemeClr val="bg1">
                          <a:lumMod val="6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p>
                  </a:txBody>
                  <a:tcPr marL="0" marR="0" marT="0" marB="0" anchor="ctr" anchorCtr="1">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p>
                  </a:txBody>
                  <a:tcPr marL="0" marR="0" marT="0" marB="0" anchor="ctr" anchorCtr="1">
                    <a:lnL w="190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810006561"/>
                  </a:ext>
                </a:extLst>
              </a:tr>
              <a:tr h="220307">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6" name="文字方塊 5">
            <a:extLst>
              <a:ext uri="{FF2B5EF4-FFF2-40B4-BE49-F238E27FC236}">
                <a16:creationId xmlns:a16="http://schemas.microsoft.com/office/drawing/2014/main" id="{98F34B11-0C96-5088-8387-96566B32495D}"/>
              </a:ext>
            </a:extLst>
          </p:cNvPr>
          <p:cNvSpPr txBox="1"/>
          <p:nvPr/>
        </p:nvSpPr>
        <p:spPr>
          <a:xfrm>
            <a:off x="2123728" y="2746973"/>
            <a:ext cx="469803" cy="189497"/>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rgbClr val="FF0000"/>
                </a:solidFill>
                <a:latin typeface="Gadugi" panose="020B0502040204020203" pitchFamily="34" charset="0"/>
                <a:ea typeface="Gadugi" panose="020B0502040204020203" pitchFamily="34" charset="0"/>
                <a:cs typeface="ADLaM Display" panose="02010000000000000000" pitchFamily="2" charset="0"/>
              </a:rPr>
              <a:t>Predict</a:t>
            </a:r>
            <a:endParaRPr lang="en-US" altLang="zh-TW" sz="1000" u="none" strike="noStrike" dirty="0">
              <a:solidFill>
                <a:srgbClr val="FF0000"/>
              </a:solidFill>
              <a:effectLst/>
              <a:latin typeface="Gadugi" panose="020B0502040204020203" pitchFamily="34" charset="0"/>
              <a:ea typeface="Gadugi" panose="020B0502040204020203" pitchFamily="34" charset="0"/>
              <a:cs typeface="ADLaM Display" panose="02010000000000000000" pitchFamily="2" charset="0"/>
            </a:endParaRPr>
          </a:p>
        </p:txBody>
      </p:sp>
    </p:spTree>
    <p:extLst>
      <p:ext uri="{BB962C8B-B14F-4D97-AF65-F5344CB8AC3E}">
        <p14:creationId xmlns:p14="http://schemas.microsoft.com/office/powerpoint/2010/main" val="10197872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11ED2-FA76-B368-57A6-A5DD61C10C4B}"/>
            </a:ext>
          </a:extLst>
        </p:cNvPr>
        <p:cNvGrpSpPr/>
        <p:nvPr/>
      </p:nvGrpSpPr>
      <p:grpSpPr>
        <a:xfrm>
          <a:off x="0" y="0"/>
          <a:ext cx="0" cy="0"/>
          <a:chOff x="0" y="0"/>
          <a:chExt cx="0" cy="0"/>
        </a:xfrm>
      </p:grpSpPr>
      <p:pic>
        <p:nvPicPr>
          <p:cNvPr id="6" name="圖片 5">
            <a:extLst>
              <a:ext uri="{FF2B5EF4-FFF2-40B4-BE49-F238E27FC236}">
                <a16:creationId xmlns:a16="http://schemas.microsoft.com/office/drawing/2014/main" id="{0FF8958A-2EBA-5092-1ED6-12833AB768BC}"/>
              </a:ext>
            </a:extLst>
          </p:cNvPr>
          <p:cNvPicPr>
            <a:picLocks noChangeAspect="1"/>
          </p:cNvPicPr>
          <p:nvPr/>
        </p:nvPicPr>
        <p:blipFill>
          <a:blip r:embed="rId3"/>
          <a:stretch>
            <a:fillRect/>
          </a:stretch>
        </p:blipFill>
        <p:spPr>
          <a:xfrm>
            <a:off x="5796136" y="1134865"/>
            <a:ext cx="2667231" cy="1646063"/>
          </a:xfrm>
          <a:prstGeom prst="rect">
            <a:avLst/>
          </a:prstGeom>
          <a:effectLst>
            <a:glow rad="127000">
              <a:schemeClr val="bg1">
                <a:lumMod val="95000"/>
              </a:schemeClr>
            </a:glow>
            <a:softEdge rad="12700"/>
          </a:effectLst>
        </p:spPr>
      </p:pic>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2F259157-8B53-FCE7-15CD-8D743D237BBF}"/>
                  </a:ext>
                </a:extLst>
              </p:cNvPr>
              <p:cNvSpPr txBox="1"/>
              <p:nvPr/>
            </p:nvSpPr>
            <p:spPr>
              <a:xfrm>
                <a:off x="287524" y="980728"/>
                <a:ext cx="4572508" cy="1120820"/>
              </a:xfrm>
              <a:prstGeom prst="rect">
                <a:avLst/>
              </a:prstGeom>
              <a:noFill/>
            </p:spPr>
            <p:txBody>
              <a:bodyPr wrap="square">
                <a:spAutoFit/>
              </a:bodyPr>
              <a:lstStyle/>
              <a:p>
                <a:pPr>
                  <a:lnSpc>
                    <a:spcPts val="1800"/>
                  </a:lnSpc>
                  <a:spcBef>
                    <a:spcPts val="600"/>
                  </a:spcBef>
                  <a:spcAft>
                    <a:spcPts val="600"/>
                  </a:spcAft>
                </a:pPr>
                <a:r>
                  <a:rPr lang="en-US" altLang="zh-TW" sz="2000" b="1" dirty="0"/>
                  <a:t>Backpropagation</a:t>
                </a:r>
                <a:endParaRPr lang="en-US" altLang="zh-TW" sz="1600" b="1" dirty="0"/>
              </a:p>
              <a:p>
                <a:pPr marL="285750" marR="0" lvl="0" indent="-285750" algn="l" defTabSz="1943100" rtl="0" eaLnBrk="1" fontAlgn="auto" latinLnBrk="0" hangingPunct="1">
                  <a:lnSpc>
                    <a:spcPts val="1800"/>
                  </a:lnSpc>
                  <a:spcBef>
                    <a:spcPts val="600"/>
                  </a:spcBef>
                  <a:spcAft>
                    <a:spcPts val="600"/>
                  </a:spcAft>
                  <a:buClrTx/>
                  <a:buSzTx/>
                  <a:buFont typeface="Wingdings" panose="05000000000000000000" pitchFamily="2" charset="2"/>
                  <a:buChar char="Ø"/>
                  <a:tabLst/>
                  <a:defRPr/>
                </a:pPr>
                <a:r>
                  <a:rPr kumimoji="0" lang="en-US" altLang="zh-TW" sz="16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Gradient Descent</a:t>
                </a:r>
                <a:r>
                  <a:rPr kumimoji="0" lang="en-US" altLang="zh-TW" sz="16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14:m>
                  <m:oMath xmlns:m="http://schemas.openxmlformats.org/officeDocument/2006/math">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𝑤</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𝜂</m:t>
                    </m:r>
                    <m:r>
                      <a:rPr kumimoji="0" lang="zh-TW" alt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m:rPr>
                        <m:sty m:val="p"/>
                      </m:rPr>
                      <a:rPr kumimoji="0" lang="zh-TW" altLang="en-US"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𝑓</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l-GR"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ω</m:t>
                        </m:r>
                      </m:e>
                      <m:sub>
                        <m:r>
                          <m:rPr>
                            <m:sty m:val="p"/>
                          </m:rP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i</m:t>
                        </m:r>
                      </m:sub>
                    </m:sSub>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en-US" altLang="zh-TW" sz="14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Chain Rule</a:t>
                </a:r>
                <a:r>
                  <a:rPr lang="en-US" altLang="zh-TW" sz="1600" dirty="0"/>
                  <a:t>: 	</a:t>
                </a:r>
                <a14:m>
                  <m:oMath xmlns:m="http://schemas.openxmlformats.org/officeDocument/2006/math">
                    <m:r>
                      <m:rPr>
                        <m:sty m:val="p"/>
                      </m:rPr>
                      <a:rPr lang="zh-TW" altLang="en-US" sz="1400" i="1">
                        <a:latin typeface="Cambria Math" panose="02040503050406030204" pitchFamily="18" charset="0"/>
                      </a:rPr>
                      <m:t>∇</m:t>
                    </m:r>
                    <m:r>
                      <a:rPr lang="en-US" altLang="zh-TW" sz="1400" i="1">
                        <a:latin typeface="Cambria Math" panose="02040503050406030204" pitchFamily="18" charset="0"/>
                      </a:rPr>
                      <m:t>𝑓</m:t>
                    </m:r>
                    <m:r>
                      <a:rPr lang="en-US" altLang="zh-TW" sz="1400" i="1">
                        <a:latin typeface="Cambria Math" panose="02040503050406030204" pitchFamily="18" charset="0"/>
                      </a:rPr>
                      <m:t>(</m:t>
                    </m:r>
                    <m:sSub>
                      <m:sSubPr>
                        <m:ctrlPr>
                          <a:rPr lang="el-GR"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r>
                      <a:rPr lang="en-US" altLang="zh-TW" sz="1400" i="1">
                        <a:latin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m:rPr>
                            <m:sty m:val="p"/>
                          </m:rPr>
                          <a:rPr lang="en-US" altLang="zh-TW" sz="1400" i="1">
                            <a:latin typeface="Cambria Math" panose="02040503050406030204" pitchFamily="18" charset="0"/>
                            <a:ea typeface="Cambria Math" panose="02040503050406030204" pitchFamily="18" charset="0"/>
                          </a:rPr>
                          <m:t>L</m:t>
                        </m:r>
                      </m:num>
                      <m:den>
                        <m:r>
                          <a:rPr lang="zh-TW" altLang="en-US" sz="1400" i="1">
                            <a:latin typeface="Cambria Math" panose="02040503050406030204" pitchFamily="18" charset="0"/>
                            <a:ea typeface="Cambria Math" panose="02040503050406030204" pitchFamily="18" charset="0"/>
                          </a:rPr>
                          <m:t>𝜕</m:t>
                        </m:r>
                        <m:sSub>
                          <m:sSubPr>
                            <m:ctrlPr>
                              <a:rPr lang="el-GR"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den>
                    </m:f>
                    <m:r>
                      <a:rPr lang="en-US" altLang="zh-TW" sz="1400" i="1">
                        <a:latin typeface="Cambria Math" panose="02040503050406030204" pitchFamily="18" charset="0"/>
                        <a:ea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𝑧</m:t>
                        </m:r>
                      </m:num>
                      <m:den>
                        <m:r>
                          <a:rPr lang="zh-TW" altLang="en-US" sz="1400" i="1">
                            <a:latin typeface="Cambria Math" panose="02040503050406030204" pitchFamily="18" charset="0"/>
                            <a:ea typeface="Cambria Math" panose="02040503050406030204" pitchFamily="18" charset="0"/>
                          </a:rPr>
                          <m:t>𝜕</m:t>
                        </m:r>
                        <m:sSub>
                          <m:sSubPr>
                            <m:ctrlPr>
                              <a:rPr lang="el-GR"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den>
                    </m:f>
                    <m:r>
                      <a:rPr lang="en-US" altLang="zh-TW" sz="1400" i="1">
                        <a:latin typeface="Cambria Math" panose="02040503050406030204" pitchFamily="18" charset="0"/>
                        <a:ea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𝑎</m:t>
                        </m:r>
                      </m:num>
                      <m:den>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𝑧</m:t>
                        </m:r>
                      </m:den>
                    </m:f>
                    <m:r>
                      <a:rPr lang="en-US" altLang="zh-TW" sz="1400" i="1">
                        <a:latin typeface="Cambria Math" panose="02040503050406030204" pitchFamily="18" charset="0"/>
                        <a:ea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𝐿</m:t>
                        </m:r>
                      </m:num>
                      <m:den>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𝑎</m:t>
                        </m:r>
                      </m:den>
                    </m:f>
                  </m:oMath>
                </a14:m>
                <a:endParaRPr lang="zh-TW" altLang="en-US" sz="1400" dirty="0"/>
              </a:p>
            </p:txBody>
          </p:sp>
        </mc:Choice>
        <mc:Fallback xmlns="">
          <p:sp>
            <p:nvSpPr>
              <p:cNvPr id="8" name="文字方塊 7">
                <a:extLst>
                  <a:ext uri="{FF2B5EF4-FFF2-40B4-BE49-F238E27FC236}">
                    <a16:creationId xmlns:a16="http://schemas.microsoft.com/office/drawing/2014/main" id="{2F259157-8B53-FCE7-15CD-8D743D237BBF}"/>
                  </a:ext>
                </a:extLst>
              </p:cNvPr>
              <p:cNvSpPr txBox="1">
                <a:spLocks noRot="1" noChangeAspect="1" noMove="1" noResize="1" noEditPoints="1" noAdjustHandles="1" noChangeArrowheads="1" noChangeShapeType="1" noTextEdit="1"/>
              </p:cNvSpPr>
              <p:nvPr/>
            </p:nvSpPr>
            <p:spPr>
              <a:xfrm>
                <a:off x="287524" y="980728"/>
                <a:ext cx="4572508" cy="1120820"/>
              </a:xfrm>
              <a:prstGeom prst="rect">
                <a:avLst/>
              </a:prstGeom>
              <a:blipFill>
                <a:blip r:embed="rId4"/>
                <a:stretch>
                  <a:fillRect l="-1333" t="-9239" b="-5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CC8998D7-EE90-92F1-BC37-6158316317D0}"/>
                  </a:ext>
                </a:extLst>
              </p:cNvPr>
              <p:cNvGraphicFramePr>
                <a:graphicFrameLocks noGrp="1"/>
              </p:cNvGraphicFramePr>
              <p:nvPr>
                <p:extLst>
                  <p:ext uri="{D42A27DB-BD31-4B8C-83A1-F6EECF244321}">
                    <p14:modId xmlns:p14="http://schemas.microsoft.com/office/powerpoint/2010/main" val="1620202089"/>
                  </p:ext>
                </p:extLst>
              </p:nvPr>
            </p:nvGraphicFramePr>
            <p:xfrm>
              <a:off x="322060" y="2353458"/>
              <a:ext cx="8499879" cy="4154122"/>
            </p:xfrm>
            <a:graphic>
              <a:graphicData uri="http://schemas.openxmlformats.org/drawingml/2006/table">
                <a:tbl>
                  <a:tblPr firstRow="1" bandRow="1">
                    <a:tableStyleId>{5C22544A-7EE6-4342-B048-85BDC9FD1C3A}</a:tableStyleId>
                  </a:tblPr>
                  <a:tblGrid>
                    <a:gridCol w="1657652">
                      <a:extLst>
                        <a:ext uri="{9D8B030D-6E8A-4147-A177-3AD203B41FA5}">
                          <a16:colId xmlns:a16="http://schemas.microsoft.com/office/drawing/2014/main" val="2211145501"/>
                        </a:ext>
                      </a:extLst>
                    </a:gridCol>
                    <a:gridCol w="2831891">
                      <a:extLst>
                        <a:ext uri="{9D8B030D-6E8A-4147-A177-3AD203B41FA5}">
                          <a16:colId xmlns:a16="http://schemas.microsoft.com/office/drawing/2014/main" val="767948712"/>
                        </a:ext>
                      </a:extLst>
                    </a:gridCol>
                    <a:gridCol w="2907893">
                      <a:extLst>
                        <a:ext uri="{9D8B030D-6E8A-4147-A177-3AD203B41FA5}">
                          <a16:colId xmlns:a16="http://schemas.microsoft.com/office/drawing/2014/main" val="1809051212"/>
                        </a:ext>
                      </a:extLst>
                    </a:gridCol>
                    <a:gridCol w="1102443">
                      <a:extLst>
                        <a:ext uri="{9D8B030D-6E8A-4147-A177-3AD203B41FA5}">
                          <a16:colId xmlns:a16="http://schemas.microsoft.com/office/drawing/2014/main" val="2936818418"/>
                        </a:ext>
                      </a:extLst>
                    </a:gridCol>
                  </a:tblGrid>
                  <a:tr h="6211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MLP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Multi-Layer</a:t>
                          </a:r>
                          <a:r>
                            <a:rPr lang="zh-TW" altLang="en-US" sz="1200" b="0" cap="none" spc="0" dirty="0">
                              <a:ln w="0"/>
                              <a:solidFill>
                                <a:schemeClr val="tx1"/>
                              </a:solidFill>
                              <a:effectLst/>
                            </a:rPr>
                            <a:t> </a:t>
                          </a:r>
                          <a:r>
                            <a:rPr lang="en-US" altLang="zh-TW" sz="1200" b="0" cap="none" spc="0" dirty="0">
                              <a:ln w="0"/>
                              <a:solidFill>
                                <a:schemeClr val="tx1"/>
                              </a:solidFill>
                              <a:effectLst/>
                            </a:rPr>
                            <a:t>Perception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bHide m:val="on"/>
                                    <m:supHide m:val="on"/>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e>
                                </m:nary>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f>
                                  <m:fPr>
                                    <m:ctrlP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𝑧</m:t>
                                    </m:r>
                                  </m:num>
                                  <m:den>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den>
                                </m:f>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f>
                                  <m:fPr>
                                    <m:ctrlP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𝑧</m:t>
                                    </m:r>
                                  </m:num>
                                  <m:den>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𝑏</m:t>
                                    </m:r>
                                  </m:den>
                                </m:f>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oMath>
                            </m:oMathPara>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52758469"/>
                      </a:ext>
                    </a:extLst>
                  </a:tr>
                  <a:tr h="254184">
                    <a:tc>
                      <a:txBody>
                        <a:bodyPr/>
                        <a:lstStyle/>
                        <a:p>
                          <a:r>
                            <a:rPr lang="en-US" altLang="zh-TW" sz="1200" b="0" cap="none" spc="0" dirty="0">
                              <a:ln w="0"/>
                              <a:solidFill>
                                <a:schemeClr val="tx1"/>
                              </a:solidFill>
                              <a:effectLst/>
                            </a:rPr>
                            <a:t>Combination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 BCE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ReLU, MSE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MoE</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821934">
                    <a:tc>
                      <a:txBody>
                        <a:bodyPr/>
                        <a:lstStyle/>
                        <a:p>
                          <a:r>
                            <a:rPr lang="en-US" altLang="zh-TW" sz="1200" b="0" cap="none" spc="0" dirty="0">
                              <a:ln w="0"/>
                              <a:solidFill>
                                <a:schemeClr val="tx1"/>
                              </a:solidFill>
                              <a:effectLst/>
                            </a:rPr>
                            <a:t>Activation</a:t>
                          </a:r>
                        </a:p>
                        <a:p>
                          <a:r>
                            <a:rPr lang="en-US" altLang="zh-TW" sz="1200" b="0" cap="none" spc="0" dirty="0">
                              <a:ln w="0"/>
                              <a:solidFill>
                                <a:schemeClr val="tx1"/>
                              </a:solidFill>
                              <a:effectLst/>
                            </a:rPr>
                            <a:t>Function </a:t>
                          </a:r>
                          <a14:m>
                            <m:oMath xmlns:m="http://schemas.openxmlformats.org/officeDocument/2006/math">
                              <m:r>
                                <m:rPr>
                                  <m:sty m:val="p"/>
                                </m:rPr>
                                <a:rPr lang="en-US" altLang="zh-TW" sz="1200" b="0" i="0" smtClean="0">
                                  <a:latin typeface="Cambria Math" panose="02040503050406030204" pitchFamily="18" charset="0"/>
                                </a:rPr>
                                <m:t>a</m:t>
                              </m:r>
                              <m:d>
                                <m:dPr>
                                  <m:ctrlPr>
                                    <a:rPr lang="en-US" altLang="zh-TW" sz="1200" b="0" i="0" smtClean="0">
                                      <a:latin typeface="Cambria Math" panose="02040503050406030204" pitchFamily="18" charset="0"/>
                                    </a:rPr>
                                  </m:ctrlPr>
                                </m:dPr>
                                <m:e>
                                  <m:r>
                                    <m:rPr>
                                      <m:sty m:val="p"/>
                                    </m:rPr>
                                    <a:rPr lang="en-US" altLang="zh-TW" sz="1200" b="0" i="0" smtClean="0">
                                      <a:latin typeface="Cambria Math" panose="02040503050406030204" pitchFamily="18" charset="0"/>
                                    </a:rPr>
                                    <m:t>z</m:t>
                                  </m:r>
                                </m:e>
                              </m:d>
                            </m:oMath>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a:t>
                          </a:r>
                        </a:p>
                        <a:p>
                          <a:pPr>
                            <a:lnSpc>
                              <a:spcPts val="2800"/>
                            </a:lnSpc>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a</m:t>
                                </m:r>
                                <m:d>
                                  <m:dPr>
                                    <m:ctrlPr>
                                      <a:rPr lang="en-US" altLang="zh-TW" sz="1200" b="0" i="0" smtClean="0">
                                        <a:latin typeface="Cambria Math" panose="02040503050406030204" pitchFamily="18" charset="0"/>
                                      </a:rPr>
                                    </m:ctrlPr>
                                  </m:dPr>
                                  <m:e>
                                    <m:r>
                                      <m:rPr>
                                        <m:sty m:val="p"/>
                                      </m:rPr>
                                      <a:rPr lang="en-US" altLang="zh-TW" sz="1200" b="0" i="0" smtClean="0">
                                        <a:latin typeface="Cambria Math" panose="02040503050406030204" pitchFamily="18" charset="0"/>
                                      </a:rPr>
                                      <m:t>z</m:t>
                                    </m:r>
                                  </m:e>
                                </m:d>
                                <m:r>
                                  <a:rPr lang="en-US" altLang="zh-TW" sz="1200" b="0" i="0" smtClean="0">
                                    <a:latin typeface="Cambria Math" panose="02040503050406030204" pitchFamily="18" charset="0"/>
                                  </a:rPr>
                                  <m:t>=</m:t>
                                </m:r>
                                <m:f>
                                  <m:fPr>
                                    <m:ctrlPr>
                                      <a:rPr lang="en-US" altLang="zh-TW" sz="1200" b="0" i="0" smtClean="0">
                                        <a:latin typeface="Cambria Math" panose="02040503050406030204" pitchFamily="18" charset="0"/>
                                      </a:rPr>
                                    </m:ctrlPr>
                                  </m:fPr>
                                  <m:num>
                                    <m:r>
                                      <a:rPr lang="en-US" altLang="zh-TW" sz="1200" b="0" i="0" smtClean="0">
                                        <a:latin typeface="Cambria Math" panose="02040503050406030204" pitchFamily="18" charset="0"/>
                                      </a:rPr>
                                      <m:t>1</m:t>
                                    </m:r>
                                  </m:num>
                                  <m:den>
                                    <m:r>
                                      <a:rPr lang="en-US" altLang="zh-TW" sz="1200" b="0" i="0" smtClean="0">
                                        <a:latin typeface="Cambria Math" panose="02040503050406030204" pitchFamily="18" charset="0"/>
                                      </a:rPr>
                                      <m:t>1+</m:t>
                                    </m:r>
                                    <m:sSup>
                                      <m:sSupPr>
                                        <m:ctrlPr>
                                          <a:rPr lang="en-US" altLang="zh-TW" sz="1200" b="0" i="0" smtClean="0">
                                            <a:latin typeface="Cambria Math" panose="02040503050406030204" pitchFamily="18" charset="0"/>
                                          </a:rPr>
                                        </m:ctrlPr>
                                      </m:sSupPr>
                                      <m:e>
                                        <m:r>
                                          <m:rPr>
                                            <m:sty m:val="p"/>
                                          </m:rPr>
                                          <a:rPr lang="en-US" altLang="zh-TW" sz="1200" b="0" i="0" smtClean="0">
                                            <a:latin typeface="Cambria Math" panose="02040503050406030204" pitchFamily="18" charset="0"/>
                                          </a:rPr>
                                          <m:t>e</m:t>
                                        </m:r>
                                      </m:e>
                                      <m:sup>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z</m:t>
                                        </m:r>
                                      </m:sup>
                                    </m:sSup>
                                  </m:den>
                                </m:f>
                              </m:oMath>
                            </m:oMathPara>
                          </a14:m>
                          <a:endParaRPr lang="en-US" altLang="zh-TW" sz="1200" b="0" i="0" dirty="0">
                            <a:latin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b="0" i="0" smtClean="0">
                                        <a:latin typeface="Cambria Math" panose="02040503050406030204" pitchFamily="18" charset="0"/>
                                      </a:rPr>
                                    </m:ctrlPr>
                                  </m:sSupPr>
                                  <m:e>
                                    <m:r>
                                      <m:rPr>
                                        <m:sty m:val="p"/>
                                      </m:rPr>
                                      <a:rPr lang="en-US" altLang="zh-TW" sz="1200" b="0" i="0" smtClean="0">
                                        <a:latin typeface="Cambria Math" panose="02040503050406030204" pitchFamily="18" charset="0"/>
                                      </a:rPr>
                                      <m:t>a</m:t>
                                    </m:r>
                                  </m:e>
                                  <m:sup>
                                    <m:r>
                                      <a:rPr lang="en-US" altLang="zh-TW" sz="1200" b="0" i="0" smtClean="0">
                                        <a:latin typeface="Cambria Math" panose="02040503050406030204" pitchFamily="18" charset="0"/>
                                      </a:rPr>
                                      <m:t>′</m:t>
                                    </m:r>
                                  </m:sup>
                                </m:sSup>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a</m:t>
                                </m:r>
                                <m:r>
                                  <a:rPr lang="en-US" altLang="zh-TW" sz="1200" b="0" i="0" smtClean="0">
                                    <a:latin typeface="Cambria Math" panose="02040503050406030204" pitchFamily="18" charset="0"/>
                                    <a:ea typeface="Cambria Math" panose="02040503050406030204" pitchFamily="18" charset="0"/>
                                  </a:rPr>
                                  <m:t>⋅</m:t>
                                </m:r>
                                <m:d>
                                  <m:dPr>
                                    <m:ctrlPr>
                                      <a:rPr lang="en-US" altLang="zh-TW" sz="1200" b="0" i="0" smtClean="0">
                                        <a:latin typeface="Cambria Math" panose="02040503050406030204" pitchFamily="18" charset="0"/>
                                        <a:ea typeface="Cambria Math" panose="02040503050406030204" pitchFamily="18" charset="0"/>
                                      </a:rPr>
                                    </m:ctrlPr>
                                  </m:dPr>
                                  <m:e>
                                    <m:r>
                                      <a:rPr lang="en-US" altLang="zh-TW" sz="1200" b="0" i="0" smtClean="0">
                                        <a:latin typeface="Cambria Math" panose="02040503050406030204" pitchFamily="18" charset="0"/>
                                        <a:ea typeface="Cambria Math" panose="02040503050406030204" pitchFamily="18" charset="0"/>
                                      </a:rPr>
                                      <m:t>1−</m:t>
                                    </m:r>
                                    <m:r>
                                      <m:rPr>
                                        <m:sty m:val="p"/>
                                      </m:rPr>
                                      <a:rPr lang="en-US" altLang="zh-TW" sz="1200" b="0" i="0" smtClean="0">
                                        <a:latin typeface="Cambria Math" panose="02040503050406030204" pitchFamily="18" charset="0"/>
                                        <a:ea typeface="Cambria Math" panose="02040503050406030204" pitchFamily="18" charset="0"/>
                                      </a:rPr>
                                      <m:t>a</m:t>
                                    </m:r>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Rectified Linear Unit:</a:t>
                          </a:r>
                        </a:p>
                        <a:p>
                          <a:pPr>
                            <a:lnSpc>
                              <a:spcPts val="2800"/>
                            </a:lnSpc>
                          </a:pPr>
                          <a14:m>
                            <m:oMathPara xmlns:m="http://schemas.openxmlformats.org/officeDocument/2006/math">
                              <m:oMathParaPr>
                                <m:jc m:val="left"/>
                              </m:oMathParaPr>
                              <m:oMath>
                                <m:r>
                                  <m:rPr>
                                    <m:sty m:val="p"/>
                                  </m:rPr>
                                  <a:rPr lang="en-US" altLang="zh-TW" sz="1200" b="0" i="1" smtClean="0">
                                    <a:latin typeface="Cambria Math" panose="02040503050406030204" pitchFamily="18" charset="0"/>
                                  </a:rPr>
                                  <m:t>a</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z</m:t>
                                    </m:r>
                                  </m:e>
                                </m:d>
                                <m:r>
                                  <a:rPr lang="en-US" altLang="zh-TW" sz="1200" b="0" i="1" smtClean="0">
                                    <a:latin typeface="Cambria Math" panose="02040503050406030204" pitchFamily="18" charset="0"/>
                                  </a:rPr>
                                  <m:t>=</m:t>
                                </m:r>
                                <m:r>
                                  <m:rPr>
                                    <m:sty m:val="p"/>
                                  </m:rPr>
                                  <a:rPr lang="en-US" altLang="zh-TW" sz="1200" b="0" i="1" smtClean="0">
                                    <a:latin typeface="Cambria Math" panose="02040503050406030204" pitchFamily="18" charset="0"/>
                                  </a:rPr>
                                  <m:t>max</m:t>
                                </m:r>
                                <m:r>
                                  <a:rPr lang="en-US" altLang="zh-TW" sz="1200" b="0" i="1" smtClean="0">
                                    <a:latin typeface="Cambria Math" panose="02040503050406030204" pitchFamily="18" charset="0"/>
                                  </a:rPr>
                                  <m:t>(0, </m:t>
                                </m:r>
                                <m:r>
                                  <m:rPr>
                                    <m:sty m:val="p"/>
                                  </m:rPr>
                                  <a:rPr lang="en-US" altLang="zh-TW" sz="1200" b="0" i="1" smtClean="0">
                                    <a:latin typeface="Cambria Math" panose="02040503050406030204" pitchFamily="18" charset="0"/>
                                  </a:rPr>
                                  <m:t>z</m:t>
                                </m:r>
                                <m:r>
                                  <a:rPr lang="en-US" altLang="zh-TW" sz="1200" b="0" i="1" smtClean="0">
                                    <a:latin typeface="Cambria Math" panose="02040503050406030204" pitchFamily="18" charset="0"/>
                                  </a:rPr>
                                  <m:t>);</m:t>
                                </m:r>
                              </m:oMath>
                            </m:oMathPara>
                          </a14:m>
                          <a:endParaRPr lang="en-US" altLang="zh-TW" sz="1200" b="0" i="0" dirty="0">
                            <a:latin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b="0" i="0" smtClean="0">
                                        <a:latin typeface="Cambria Math" panose="02040503050406030204" pitchFamily="18" charset="0"/>
                                      </a:rPr>
                                    </m:ctrlPr>
                                  </m:sSupPr>
                                  <m:e>
                                    <m:r>
                                      <m:rPr>
                                        <m:sty m:val="p"/>
                                      </m:rPr>
                                      <a:rPr lang="en-US" altLang="zh-TW" sz="1200" b="0" i="0" smtClean="0">
                                        <a:latin typeface="Cambria Math" panose="02040503050406030204" pitchFamily="18" charset="0"/>
                                      </a:rPr>
                                      <m:t>a</m:t>
                                    </m:r>
                                  </m:e>
                                  <m:sup>
                                    <m:r>
                                      <a:rPr lang="en-US" altLang="zh-TW" sz="1200" b="0" i="0" smtClean="0">
                                        <a:latin typeface="Cambria Math" panose="02040503050406030204" pitchFamily="18" charset="0"/>
                                      </a:rPr>
                                      <m:t>′</m:t>
                                    </m:r>
                                  </m:sup>
                                </m:sSup>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z</m:t>
                                    </m:r>
                                  </m:e>
                                </m:d>
                                <m:r>
                                  <a:rPr lang="en-US" altLang="zh-TW" sz="1200" b="0" i="0" smtClean="0">
                                    <a:latin typeface="Cambria Math" panose="02040503050406030204" pitchFamily="18" charset="0"/>
                                  </a:rPr>
                                  <m:t>=</m:t>
                                </m:r>
                                <m:d>
                                  <m:dPr>
                                    <m:begChr m:val="{"/>
                                    <m:endChr m:val=""/>
                                    <m:ctrlPr>
                                      <a:rPr lang="en-US" altLang="zh-TW" sz="1200" b="0" i="1" smtClean="0">
                                        <a:latin typeface="Cambria Math" panose="02040503050406030204" pitchFamily="18" charset="0"/>
                                      </a:rPr>
                                    </m:ctrlPr>
                                  </m:dPr>
                                  <m:e>
                                    <m:eqArr>
                                      <m:eqArrPr>
                                        <m:ctrlPr>
                                          <a:rPr lang="en-US" altLang="zh-TW" sz="1200" b="0" i="1" smtClean="0">
                                            <a:latin typeface="Cambria Math" panose="02040503050406030204" pitchFamily="18" charset="0"/>
                                          </a:rPr>
                                        </m:ctrlPr>
                                      </m:eqArrPr>
                                      <m:e>
                                        <m:r>
                                          <a:rPr lang="en-US" altLang="zh-TW" sz="1200" b="0" i="1" smtClean="0">
                                            <a:latin typeface="Cambria Math" panose="02040503050406030204" pitchFamily="18" charset="0"/>
                                          </a:rPr>
                                          <m:t>1,  </m:t>
                                        </m:r>
                                        <m:r>
                                          <a:rPr lang="zh-TW" altLang="en-US" sz="1200" b="0" i="1" smtClean="0">
                                            <a:latin typeface="Cambria Math" panose="02040503050406030204" pitchFamily="18" charset="0"/>
                                          </a:rPr>
                                          <m:t>𝑥</m:t>
                                        </m:r>
                                        <m:r>
                                          <a:rPr lang="en-US" altLang="zh-TW" sz="1200" b="0" i="1" smtClean="0">
                                            <a:latin typeface="Cambria Math" panose="02040503050406030204" pitchFamily="18" charset="0"/>
                                          </a:rPr>
                                          <m:t>&lt;0</m:t>
                                        </m:r>
                                      </m:e>
                                      <m:e>
                                        <m:r>
                                          <a:rPr lang="en-US" altLang="zh-TW" sz="1200" b="0" i="1" smtClean="0">
                                            <a:latin typeface="Cambria Math" panose="02040503050406030204" pitchFamily="18" charset="0"/>
                                          </a:rPr>
                                          <m:t>&amp;0,  </m:t>
                                        </m:r>
                                        <m:r>
                                          <a:rPr lang="zh-TW" altLang="en-US" sz="1200" b="0" i="1" smtClean="0">
                                            <a:latin typeface="Cambria Math" panose="02040503050406030204" pitchFamily="18" charset="0"/>
                                          </a:rPr>
                                          <m:t>𝑥</m:t>
                                        </m:r>
                                        <m:r>
                                          <a:rPr lang="zh-TW" altLang="en-US" sz="1200" b="0" i="1" smtClean="0">
                                            <a:latin typeface="Cambria Math" panose="02040503050406030204" pitchFamily="18" charset="0"/>
                                          </a:rPr>
                                          <m:t>≥0</m:t>
                                        </m:r>
                                      </m:e>
                                    </m:eqArr>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GELU,</a:t>
                          </a:r>
                          <a:r>
                            <a:rPr lang="zh-TW" altLang="en-US" sz="1200" b="0" cap="none" spc="0" dirty="0">
                              <a:ln w="0"/>
                              <a:solidFill>
                                <a:schemeClr val="tx1"/>
                              </a:solidFill>
                              <a:effectLst/>
                            </a:rPr>
                            <a:t> </a:t>
                          </a:r>
                          <a:endParaRPr lang="en-US" altLang="zh-TW"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SwiGLU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SoftMax</a:t>
                          </a:r>
                          <a:endParaRPr lang="zh-TW" altLang="en-US"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t>
                          </a:r>
                          <a:r>
                            <a:rPr lang="zh-TW" altLang="en-US" sz="1200" b="0" cap="none" spc="0" dirty="0">
                              <a:ln w="0"/>
                              <a:solidFill>
                                <a:schemeClr val="tx1"/>
                              </a:solidFill>
                              <a:effectLst/>
                            </a:rPr>
                            <a:t> </a:t>
                          </a: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63766316"/>
                      </a:ext>
                    </a:extLst>
                  </a:tr>
                  <a:tr h="857216">
                    <a:tc>
                      <a:txBody>
                        <a:bodyPr/>
                        <a:lstStyle/>
                        <a:p>
                          <a:r>
                            <a:rPr lang="en-US" altLang="zh-TW" sz="1200" b="0" cap="none" spc="0" dirty="0">
                              <a:ln w="0"/>
                              <a:solidFill>
                                <a:schemeClr val="tx1"/>
                              </a:solidFill>
                              <a:effectLst/>
                            </a:rPr>
                            <a:t>Loss</a:t>
                          </a:r>
                        </a:p>
                        <a:p>
                          <a:r>
                            <a:rPr lang="en-US" altLang="zh-TW" sz="1200" b="0" cap="none" spc="0" dirty="0">
                              <a:ln w="0"/>
                              <a:solidFill>
                                <a:schemeClr val="tx1"/>
                              </a:solidFill>
                              <a:effectLst/>
                            </a:rPr>
                            <a:t>Function </a:t>
                          </a:r>
                          <a14:m>
                            <m:oMath xmlns:m="http://schemas.openxmlformats.org/officeDocument/2006/math">
                              <m:r>
                                <a:rPr lang="en-US" altLang="zh-TW" sz="1200" i="1" smtClean="0">
                                  <a:latin typeface="Cambria Math" panose="02040503050406030204" pitchFamily="18" charset="0"/>
                                  <a:ea typeface="Cambria Math" panose="02040503050406030204" pitchFamily="18" charset="0"/>
                                </a:rPr>
                                <m:t>𝐿</m:t>
                              </m:r>
                            </m:oMath>
                          </a14:m>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Cross-Entropy:</a:t>
                          </a:r>
                        </a:p>
                        <a:p>
                          <a:pPr>
                            <a:lnSpc>
                              <a:spcPts val="2800"/>
                            </a:lnSpc>
                          </a:pPr>
                          <a14:m>
                            <m:oMathPara xmlns:m="http://schemas.openxmlformats.org/officeDocument/2006/math">
                              <m:oMathParaPr>
                                <m:jc m:val="left"/>
                              </m:oMathParaPr>
                              <m:oMath>
                                <m:r>
                                  <a:rPr lang="en-US" altLang="zh-TW" sz="1200" i="1" smtClean="0">
                                    <a:latin typeface="Cambria Math" panose="02040503050406030204" pitchFamily="18" charset="0"/>
                                    <a:ea typeface="Cambria Math" panose="02040503050406030204" pitchFamily="18" charset="0"/>
                                  </a:rPr>
                                  <m:t>𝐿</m:t>
                                </m:r>
                                <m:r>
                                  <a:rPr lang="en-US" altLang="zh-TW" sz="1200" i="1">
                                    <a:latin typeface="Cambria Math" panose="02040503050406030204" pitchFamily="18" charset="0"/>
                                    <a:ea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𝑦</m:t>
                                        </m:r>
                                      </m:e>
                                      <m:sub>
                                        <m:r>
                                          <a:rPr lang="en-US" altLang="zh-TW" sz="1200" i="1">
                                            <a:latin typeface="Cambria Math" panose="02040503050406030204" pitchFamily="18" charset="0"/>
                                            <a:ea typeface="Cambria Math" panose="02040503050406030204" pitchFamily="18" charset="0"/>
                                          </a:rPr>
                                          <m:t>𝑡</m:t>
                                        </m:r>
                                      </m:sub>
                                    </m:sSub>
                                    <m:r>
                                      <a:rPr lang="en-US" altLang="zh-TW" sz="1200" i="1">
                                        <a:latin typeface="Cambria Math" panose="02040503050406030204" pitchFamily="18" charset="0"/>
                                        <a:ea typeface="Cambria Math" panose="02040503050406030204" pitchFamily="18" charset="0"/>
                                      </a:rPr>
                                      <m:t>𝑙</m:t>
                                    </m:r>
                                    <m:func>
                                      <m:funcPr>
                                        <m:ctrlPr>
                                          <a:rPr lang="en-US" altLang="zh-TW" sz="1200" i="1">
                                            <a:latin typeface="Cambria Math" panose="02040503050406030204" pitchFamily="18" charset="0"/>
                                            <a:ea typeface="Cambria Math" panose="02040503050406030204" pitchFamily="18" charset="0"/>
                                          </a:rPr>
                                        </m:ctrlPr>
                                      </m:funcPr>
                                      <m:fName>
                                        <m:r>
                                          <a:rPr lang="en-US" altLang="zh-TW" sz="1200" i="1">
                                            <a:latin typeface="Cambria Math" panose="02040503050406030204" pitchFamily="18" charset="0"/>
                                            <a:ea typeface="Cambria Math" panose="02040503050406030204" pitchFamily="18" charset="0"/>
                                          </a:rPr>
                                          <m:t>𝑛</m:t>
                                        </m:r>
                                      </m:fName>
                                      <m:e>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𝑎</m:t>
                                            </m:r>
                                          </m:e>
                                        </m:d>
                                      </m:e>
                                    </m:func>
                                    <m:r>
                                      <a:rPr lang="en-US" altLang="zh-TW" sz="1200" i="1">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1−</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𝑦</m:t>
                                            </m:r>
                                          </m:e>
                                          <m:sub>
                                            <m:r>
                                              <a:rPr lang="en-US" altLang="zh-TW" sz="1200" i="1">
                                                <a:latin typeface="Cambria Math" panose="02040503050406030204" pitchFamily="18" charset="0"/>
                                                <a:ea typeface="Cambria Math" panose="02040503050406030204" pitchFamily="18" charset="0"/>
                                              </a:rPr>
                                              <m:t>𝑡</m:t>
                                            </m:r>
                                          </m:sub>
                                        </m:sSub>
                                      </m:e>
                                    </m:d>
                                    <m:r>
                                      <a:rPr lang="en-US" altLang="zh-TW" sz="1200" i="1">
                                        <a:latin typeface="Cambria Math" panose="02040503050406030204" pitchFamily="18" charset="0"/>
                                        <a:ea typeface="Cambria Math" panose="02040503050406030204" pitchFamily="18" charset="0"/>
                                      </a:rPr>
                                      <m:t>𝑙</m:t>
                                    </m:r>
                                    <m:func>
                                      <m:funcPr>
                                        <m:ctrlPr>
                                          <a:rPr lang="en-US" altLang="zh-TW" sz="1200" i="1">
                                            <a:latin typeface="Cambria Math" panose="02040503050406030204" pitchFamily="18" charset="0"/>
                                            <a:ea typeface="Cambria Math" panose="02040503050406030204" pitchFamily="18" charset="0"/>
                                          </a:rPr>
                                        </m:ctrlPr>
                                      </m:funcPr>
                                      <m:fName>
                                        <m:r>
                                          <a:rPr lang="en-US" altLang="zh-TW" sz="1200" i="1">
                                            <a:latin typeface="Cambria Math" panose="02040503050406030204" pitchFamily="18" charset="0"/>
                                            <a:ea typeface="Cambria Math" panose="02040503050406030204" pitchFamily="18" charset="0"/>
                                          </a:rPr>
                                          <m:t>𝑛</m:t>
                                        </m:r>
                                      </m:fName>
                                      <m:e>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1−</m:t>
                                            </m:r>
                                            <m:r>
                                              <a:rPr lang="en-US" altLang="zh-TW" sz="1200" i="1">
                                                <a:latin typeface="Cambria Math" panose="02040503050406030204" pitchFamily="18" charset="0"/>
                                                <a:ea typeface="Cambria Math" panose="02040503050406030204" pitchFamily="18" charset="0"/>
                                              </a:rPr>
                                              <m:t>𝑎</m:t>
                                            </m:r>
                                          </m:e>
                                        </m:d>
                                      </m:e>
                                    </m:func>
                                  </m:e>
                                </m:d>
                              </m:oMath>
                            </m:oMathPara>
                          </a14:m>
                          <a:endParaRPr lang="en-US" altLang="zh-TW" sz="1200" i="1" dirty="0">
                            <a:latin typeface="Cambria Math" panose="02040503050406030204" pitchFamily="18" charset="0"/>
                            <a:ea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𝐿</m:t>
                                    </m:r>
                                  </m:e>
                                  <m:sup>
                                    <m:r>
                                      <a:rPr lang="en-US" altLang="zh-TW" sz="1200" i="1">
                                        <a:latin typeface="Cambria Math" panose="02040503050406030204" pitchFamily="18" charset="0"/>
                                      </a:rPr>
                                      <m:t>′</m:t>
                                    </m:r>
                                  </m:sup>
                                </m:sSup>
                                <m:r>
                                  <a:rPr lang="en-US" altLang="zh-TW" sz="1200">
                                    <a:latin typeface="Cambria Math" panose="02040503050406030204" pitchFamily="18" charset="0"/>
                                  </a:rPr>
                                  <m:t>=</m:t>
                                </m:r>
                                <m:f>
                                  <m:fPr>
                                    <m:ctrlPr>
                                      <a:rPr lang="en-US" altLang="zh-TW" sz="1200" i="1">
                                        <a:latin typeface="Cambria Math" panose="02040503050406030204" pitchFamily="18" charset="0"/>
                                      </a:rPr>
                                    </m:ctrlPr>
                                  </m:fPr>
                                  <m:num>
                                    <m:sSub>
                                      <m:sSubPr>
                                        <m:ctrlPr>
                                          <a:rPr lang="en-US" altLang="zh-TW" sz="1200">
                                            <a:latin typeface="Cambria Math" panose="02040503050406030204" pitchFamily="18" charset="0"/>
                                          </a:rPr>
                                        </m:ctrlPr>
                                      </m:sSubPr>
                                      <m:e>
                                        <m:r>
                                          <m:rPr>
                                            <m:sty m:val="p"/>
                                          </m:rPr>
                                          <a:rPr lang="en-US" altLang="zh-TW" sz="1200">
                                            <a:latin typeface="Cambria Math" panose="02040503050406030204" pitchFamily="18" charset="0"/>
                                          </a:rPr>
                                          <m:t>a</m:t>
                                        </m:r>
                                        <m:r>
                                          <a:rPr lang="en-US" altLang="zh-TW" sz="1200">
                                            <a:latin typeface="Cambria Math" panose="02040503050406030204" pitchFamily="18" charset="0"/>
                                          </a:rPr>
                                          <m:t>−</m:t>
                                        </m:r>
                                        <m:r>
                                          <m:rPr>
                                            <m:sty m:val="p"/>
                                          </m:rPr>
                                          <a:rPr lang="en-US" altLang="zh-TW" sz="1200">
                                            <a:latin typeface="Cambria Math" panose="02040503050406030204" pitchFamily="18" charset="0"/>
                                          </a:rPr>
                                          <m:t>y</m:t>
                                        </m:r>
                                      </m:e>
                                      <m:sub>
                                        <m:r>
                                          <m:rPr>
                                            <m:sty m:val="p"/>
                                          </m:rPr>
                                          <a:rPr lang="en-US" altLang="zh-TW" sz="1200">
                                            <a:latin typeface="Cambria Math" panose="02040503050406030204" pitchFamily="18" charset="0"/>
                                          </a:rPr>
                                          <m:t>t</m:t>
                                        </m:r>
                                      </m:sub>
                                    </m:sSub>
                                  </m:num>
                                  <m:den>
                                    <m:r>
                                      <m:rPr>
                                        <m:sty m:val="p"/>
                                      </m:rPr>
                                      <a:rPr lang="en-US" altLang="zh-TW" sz="1200">
                                        <a:latin typeface="Cambria Math" panose="02040503050406030204" pitchFamily="18" charset="0"/>
                                      </a:rPr>
                                      <m:t>a</m:t>
                                    </m:r>
                                    <m:r>
                                      <a:rPr lang="en-US" altLang="zh-TW" sz="1200" smtClean="0">
                                        <a:latin typeface="Cambria Math" panose="02040503050406030204" pitchFamily="18" charset="0"/>
                                        <a:ea typeface="Cambria Math" panose="02040503050406030204" pitchFamily="18" charset="0"/>
                                      </a:rPr>
                                      <m:t>⋅</m:t>
                                    </m:r>
                                    <m:r>
                                      <a:rPr lang="en-US" altLang="zh-TW" sz="1200">
                                        <a:latin typeface="Cambria Math" panose="02040503050406030204" pitchFamily="18" charset="0"/>
                                        <a:ea typeface="Cambria Math" panose="02040503050406030204" pitchFamily="18" charset="0"/>
                                      </a:rPr>
                                      <m:t>(1−</m:t>
                                    </m:r>
                                    <m:r>
                                      <m:rPr>
                                        <m:sty m:val="p"/>
                                      </m:rPr>
                                      <a:rPr lang="en-US" altLang="zh-TW" sz="1200">
                                        <a:latin typeface="Cambria Math" panose="02040503050406030204" pitchFamily="18" charset="0"/>
                                        <a:ea typeface="Cambria Math" panose="02040503050406030204" pitchFamily="18" charset="0"/>
                                      </a:rPr>
                                      <m:t>a</m:t>
                                    </m:r>
                                    <m:r>
                                      <a:rPr lang="en-US" altLang="zh-TW" sz="1200">
                                        <a:latin typeface="Cambria Math" panose="02040503050406030204" pitchFamily="18" charset="0"/>
                                        <a:ea typeface="Cambria Math" panose="02040503050406030204" pitchFamily="18" charset="0"/>
                                      </a:rPr>
                                      <m:t>)</m:t>
                                    </m:r>
                                  </m:den>
                                </m:f>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Mean Square Error:</a:t>
                          </a:r>
                        </a:p>
                        <a:p>
                          <a:pPr>
                            <a:lnSpc>
                              <a:spcPts val="2800"/>
                            </a:lnSpc>
                          </a:pPr>
                          <a14:m>
                            <m:oMathPara xmlns:m="http://schemas.openxmlformats.org/officeDocument/2006/math">
                              <m:oMathParaPr>
                                <m:jc m:val="left"/>
                              </m:oMathParaPr>
                              <m:oMath>
                                <m:r>
                                  <a:rPr lang="en-US" altLang="zh-TW" sz="1200" i="1" smtClean="0">
                                    <a:latin typeface="Cambria Math" panose="02040503050406030204" pitchFamily="18" charset="0"/>
                                    <a:ea typeface="Cambria Math" panose="02040503050406030204" pitchFamily="18" charset="0"/>
                                  </a:rPr>
                                  <m:t>𝐿</m:t>
                                </m:r>
                                <m:r>
                                  <a:rPr lang="en-US" altLang="zh-TW" sz="1200" i="1">
                                    <a:latin typeface="Cambria Math" panose="02040503050406030204" pitchFamily="18" charset="0"/>
                                    <a:ea typeface="Cambria Math" panose="02040503050406030204" pitchFamily="18" charset="0"/>
                                  </a:rPr>
                                  <m:t>=</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1</m:t>
                                    </m:r>
                                  </m:num>
                                  <m:den>
                                    <m:r>
                                      <m:rPr>
                                        <m:sty m:val="p"/>
                                      </m:rPr>
                                      <a:rPr lang="en-US" altLang="zh-TW" sz="1200" b="0" i="1" smtClean="0">
                                        <a:latin typeface="Cambria Math" panose="02040503050406030204" pitchFamily="18" charset="0"/>
                                        <a:ea typeface="Cambria Math" panose="02040503050406030204" pitchFamily="18" charset="0"/>
                                      </a:rPr>
                                      <m:t>N</m:t>
                                    </m:r>
                                  </m:den>
                                </m:f>
                                <m:nary>
                                  <m:naryPr>
                                    <m:chr m:val="∑"/>
                                    <m:limLoc m:val="subSup"/>
                                    <m:ctrlPr>
                                      <a:rPr lang="en-US" altLang="zh-TW" sz="1200" b="0" i="1" smtClean="0">
                                        <a:latin typeface="Cambria Math" panose="02040503050406030204" pitchFamily="18" charset="0"/>
                                        <a:ea typeface="Cambria Math" panose="02040503050406030204" pitchFamily="18" charset="0"/>
                                      </a:rPr>
                                    </m:ctrlPr>
                                  </m:naryPr>
                                  <m:sub>
                                    <m:r>
                                      <m:rPr>
                                        <m:sty m:val="p"/>
                                        <m:brk m:alnAt="25"/>
                                      </m:rPr>
                                      <a:rPr lang="en-US" altLang="zh-TW" sz="1200" b="0" i="1" smtClean="0">
                                        <a:latin typeface="Cambria Math" panose="02040503050406030204" pitchFamily="18" charset="0"/>
                                        <a:ea typeface="Cambria Math" panose="02040503050406030204" pitchFamily="18" charset="0"/>
                                      </a:rPr>
                                      <m:t>i</m:t>
                                    </m:r>
                                    <m:r>
                                      <a:rPr lang="en-US" altLang="zh-TW" sz="1200" b="0" i="1" smtClean="0">
                                        <a:latin typeface="Cambria Math" panose="02040503050406030204" pitchFamily="18" charset="0"/>
                                        <a:ea typeface="Cambria Math" panose="02040503050406030204" pitchFamily="18" charset="0"/>
                                      </a:rPr>
                                      <m:t>=1</m:t>
                                    </m:r>
                                  </m:sub>
                                  <m:sup>
                                    <m:r>
                                      <m:rPr>
                                        <m:sty m:val="p"/>
                                      </m:rPr>
                                      <a:rPr lang="en-US" altLang="zh-TW" sz="1200" b="0" i="1" smtClean="0">
                                        <a:latin typeface="Cambria Math" panose="02040503050406030204" pitchFamily="18" charset="0"/>
                                        <a:ea typeface="Cambria Math" panose="02040503050406030204" pitchFamily="18" charset="0"/>
                                      </a:rPr>
                                      <m:t>n</m:t>
                                    </m:r>
                                  </m:sup>
                                  <m:e>
                                    <m:sSup>
                                      <m:sSupPr>
                                        <m:ctrlPr>
                                          <a:rPr lang="en-US" altLang="zh-TW" sz="1200" b="0" i="1" smtClean="0">
                                            <a:latin typeface="Cambria Math" panose="02040503050406030204" pitchFamily="18" charset="0"/>
                                            <a:ea typeface="Cambria Math" panose="02040503050406030204" pitchFamily="18" charset="0"/>
                                          </a:rPr>
                                        </m:ctrlPr>
                                      </m:sSupPr>
                                      <m:e>
                                        <m:d>
                                          <m:dPr>
                                            <m:ctrlPr>
                                              <a:rPr lang="en-US" altLang="zh-TW" sz="1200" b="0" i="1" smtClean="0">
                                                <a:latin typeface="Cambria Math" panose="02040503050406030204" pitchFamily="18" charset="0"/>
                                                <a:ea typeface="Cambria Math" panose="02040503050406030204" pitchFamily="18" charset="0"/>
                                              </a:rPr>
                                            </m:ctrlPr>
                                          </m:dPr>
                                          <m:e>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i</m:t>
                                                </m:r>
                                              </m:sub>
                                            </m:sSub>
                                            <m:r>
                                              <a:rPr lang="en-US" altLang="zh-TW" sz="1200" i="1" smtClean="0">
                                                <a:latin typeface="Cambria Math" panose="02040503050406030204" pitchFamily="18" charset="0"/>
                                                <a:ea typeface="Cambria Math" panose="02040503050406030204" pitchFamily="18" charset="0"/>
                                              </a:rPr>
                                              <m:t>−</m:t>
                                            </m:r>
                                            <m:r>
                                              <a:rPr lang="cy-GB" altLang="zh-TW" sz="1200" i="1" smtClean="0">
                                                <a:latin typeface="Cambria Math" panose="02040503050406030204" pitchFamily="18" charset="0"/>
                                                <a:ea typeface="Cambria Math" panose="02040503050406030204" pitchFamily="18" charset="0"/>
                                              </a:rPr>
                                              <m:t>ŷ</m:t>
                                            </m:r>
                                          </m:e>
                                        </m:d>
                                      </m:e>
                                      <m:sup>
                                        <m:r>
                                          <a:rPr lang="en-US" altLang="zh-TW" sz="1200" i="1" smtClean="0">
                                            <a:latin typeface="Cambria Math" panose="02040503050406030204" pitchFamily="18" charset="0"/>
                                            <a:ea typeface="Cambria Math" panose="02040503050406030204" pitchFamily="18" charset="0"/>
                                          </a:rPr>
                                          <m:t>2</m:t>
                                        </m:r>
                                      </m:sup>
                                    </m:sSup>
                                  </m:e>
                                </m:nary>
                                <m:r>
                                  <a:rPr lang="en-US" altLang="zh-TW" sz="1200" b="0" i="1" smtClean="0">
                                    <a:latin typeface="Cambria Math" panose="02040503050406030204" pitchFamily="18" charset="0"/>
                                    <a:ea typeface="Cambria Math" panose="02040503050406030204" pitchFamily="18" charset="0"/>
                                  </a:rPr>
                                  <m:t>=</m:t>
                                </m:r>
                                <m:sSup>
                                  <m:sSupPr>
                                    <m:ctrlPr>
                                      <a:rPr lang="en-US" altLang="zh-TW" sz="1200" b="0" i="1" smtClean="0">
                                        <a:latin typeface="Cambria Math" panose="02040503050406030204" pitchFamily="18" charset="0"/>
                                        <a:ea typeface="Cambria Math" panose="02040503050406030204" pitchFamily="18" charset="0"/>
                                      </a:rPr>
                                    </m:ctrlPr>
                                  </m:sSupPr>
                                  <m:e>
                                    <m:d>
                                      <m:dPr>
                                        <m:ctrlPr>
                                          <a:rPr lang="en-US" altLang="zh-TW" sz="1200" b="0" i="1" smtClean="0">
                                            <a:latin typeface="Cambria Math" panose="02040503050406030204" pitchFamily="18" charset="0"/>
                                            <a:ea typeface="Cambria Math" panose="02040503050406030204" pitchFamily="18" charset="0"/>
                                          </a:rPr>
                                        </m:ctrlPr>
                                      </m:dPr>
                                      <m:e>
                                        <m:r>
                                          <m:rPr>
                                            <m:sty m:val="p"/>
                                          </m:rPr>
                                          <a:rPr lang="en-US" altLang="zh-TW" sz="1200" b="0" i="1" smtClean="0">
                                            <a:latin typeface="Cambria Math" panose="02040503050406030204" pitchFamily="18" charset="0"/>
                                            <a:ea typeface="Cambria Math" panose="02040503050406030204" pitchFamily="18" charset="0"/>
                                          </a:rPr>
                                          <m:t>a</m:t>
                                        </m:r>
                                        <m:r>
                                          <a:rPr lang="en-US" altLang="zh-TW" sz="1200" i="1" smtClean="0">
                                            <a:latin typeface="Cambria Math" panose="02040503050406030204" pitchFamily="18" charset="0"/>
                                            <a:ea typeface="Cambria Math" panose="02040503050406030204" pitchFamily="18" charset="0"/>
                                          </a:rPr>
                                          <m:t>−</m:t>
                                        </m:r>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t</m:t>
                                            </m:r>
                                          </m:sub>
                                        </m:sSub>
                                      </m:e>
                                    </m:d>
                                  </m:e>
                                  <m:sup>
                                    <m:r>
                                      <a:rPr lang="en-US" altLang="zh-TW" sz="1200" i="1" smtClean="0">
                                        <a:latin typeface="Cambria Math" panose="02040503050406030204" pitchFamily="18" charset="0"/>
                                        <a:ea typeface="Cambria Math" panose="02040503050406030204" pitchFamily="18" charset="0"/>
                                      </a:rPr>
                                      <m:t>2</m:t>
                                    </m:r>
                                  </m:sup>
                                </m:sSup>
                                <m:r>
                                  <a:rPr lang="en-US" altLang="zh-TW" sz="1200" b="0" i="1" smtClean="0">
                                    <a:latin typeface="Cambria Math" panose="02040503050406030204" pitchFamily="18" charset="0"/>
                                    <a:ea typeface="Cambria Math" panose="02040503050406030204" pitchFamily="18" charset="0"/>
                                  </a:rPr>
                                  <m:t> </m:t>
                                </m:r>
                              </m:oMath>
                            </m:oMathPara>
                          </a14:m>
                          <a:endParaRPr lang="en-US" altLang="zh-TW" sz="1200" i="1" dirty="0">
                            <a:latin typeface="Cambria Math" panose="02040503050406030204" pitchFamily="18" charset="0"/>
                            <a:ea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𝐿</m:t>
                                    </m:r>
                                  </m:e>
                                  <m:sup>
                                    <m:r>
                                      <a:rPr lang="en-US" altLang="zh-TW" sz="1200" i="1">
                                        <a:latin typeface="Cambria Math" panose="02040503050406030204" pitchFamily="18" charset="0"/>
                                      </a:rPr>
                                      <m:t>′</m:t>
                                    </m:r>
                                  </m:sup>
                                </m:sSup>
                                <m:r>
                                  <a:rPr lang="en-US" altLang="zh-TW" sz="1200">
                                    <a:latin typeface="Cambria Math" panose="02040503050406030204" pitchFamily="18" charset="0"/>
                                  </a:rPr>
                                  <m:t>=</m:t>
                                </m:r>
                                <m:r>
                                  <a:rPr lang="en-US" altLang="zh-TW" sz="1200" b="0" i="1" smtClean="0">
                                    <a:latin typeface="Cambria Math" panose="02040503050406030204" pitchFamily="18" charset="0"/>
                                  </a:rPr>
                                  <m:t>2</m:t>
                                </m:r>
                                <m:d>
                                  <m:dPr>
                                    <m:ctrlPr>
                                      <a:rPr lang="en-US" altLang="zh-TW" sz="1200" b="0" i="1" smtClean="0">
                                        <a:latin typeface="Cambria Math" panose="02040503050406030204" pitchFamily="18" charset="0"/>
                                        <a:ea typeface="Cambria Math" panose="02040503050406030204" pitchFamily="18" charset="0"/>
                                      </a:rPr>
                                    </m:ctrlPr>
                                  </m:dPr>
                                  <m:e>
                                    <m:r>
                                      <m:rPr>
                                        <m:sty m:val="p"/>
                                      </m:rPr>
                                      <a:rPr lang="en-US" altLang="zh-TW" sz="1200" b="0" i="1" smtClean="0">
                                        <a:latin typeface="Cambria Math" panose="02040503050406030204" pitchFamily="18" charset="0"/>
                                        <a:ea typeface="Cambria Math" panose="02040503050406030204" pitchFamily="18" charset="0"/>
                                      </a:rPr>
                                      <m:t>a</m:t>
                                    </m:r>
                                    <m:r>
                                      <a:rPr lang="en-US" altLang="zh-TW" sz="1200" i="1" smtClean="0">
                                        <a:latin typeface="Cambria Math" panose="02040503050406030204" pitchFamily="18" charset="0"/>
                                        <a:ea typeface="Cambria Math" panose="02040503050406030204" pitchFamily="18" charset="0"/>
                                      </a:rPr>
                                      <m:t>−</m:t>
                                    </m:r>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t</m:t>
                                        </m:r>
                                      </m:sub>
                                    </m:sSub>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Cross-Entropy</a:t>
                          </a:r>
                        </a:p>
                        <a:p>
                          <a:r>
                            <a:rPr lang="en-US" altLang="zh-TW" sz="1200" b="0" cap="none" spc="0" dirty="0">
                              <a:ln w="0"/>
                              <a:solidFill>
                                <a:schemeClr val="tx1"/>
                              </a:solidFill>
                              <a:effectLst/>
                            </a:rPr>
                            <a:t>Load Balancing Loss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454740">
                    <a:tc>
                      <a:txBody>
                        <a:bodyPr/>
                        <a:lstStyle/>
                        <a:p>
                          <a:r>
                            <a:rPr lang="en-US" altLang="zh-TW" sz="1200" b="0" cap="none" spc="0" dirty="0">
                              <a:ln w="0"/>
                              <a:solidFill>
                                <a:schemeClr val="tx1"/>
                              </a:solidFill>
                              <a:effectLst/>
                            </a:rPr>
                            <a:t>Gradient</a:t>
                          </a:r>
                        </a:p>
                        <a:p>
                          <a:r>
                            <a:rPr lang="en-US" altLang="zh-TW" sz="1200" b="0" cap="none" spc="0" dirty="0">
                              <a:ln w="0"/>
                              <a:solidFill>
                                <a:schemeClr val="tx1"/>
                              </a:solidFill>
                              <a:effectLst/>
                            </a:rPr>
                            <a:t>Descent </a:t>
                          </a:r>
                          <a14:m>
                            <m:oMath xmlns:m="http://schemas.openxmlformats.org/officeDocument/2006/math">
                              <m:r>
                                <m:rPr>
                                  <m:sty m:val="p"/>
                                </m:rPr>
                                <a:rPr lang="zh-TW" altLang="en-US" sz="1200" i="1" smtClean="0">
                                  <a:latin typeface="Cambria Math" panose="02040503050406030204" pitchFamily="18" charset="0"/>
                                </a:rPr>
                                <m:t>∇</m:t>
                              </m:r>
                              <m:r>
                                <a:rPr lang="en-US" altLang="zh-TW" sz="1200" i="1">
                                  <a:latin typeface="Cambria Math" panose="02040503050406030204" pitchFamily="18" charset="0"/>
                                </a:rPr>
                                <m:t>𝑓</m:t>
                              </m:r>
                            </m:oMath>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14:m>
                            <m:oMathPara xmlns:m="http://schemas.openxmlformats.org/officeDocument/2006/math">
                              <m:oMathParaPr>
                                <m:jc m:val="left"/>
                              </m:oMathParaPr>
                              <m:oMath>
                                <m:r>
                                  <m:rPr>
                                    <m:sty m:val="p"/>
                                  </m:rPr>
                                  <a:rPr lang="el-GR"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𝑓</m:t>
                                </m:r>
                                <m:d>
                                  <m:dPr>
                                    <m:ctrlPr>
                                      <a:rPr lang="el-GR" altLang="zh-TW" sz="1200" b="0" i="1" smtClean="0">
                                        <a:latin typeface="Cambria Math" panose="02040503050406030204" pitchFamily="18" charset="0"/>
                                        <a:ea typeface="Cambria Math" panose="02040503050406030204" pitchFamily="18" charset="0"/>
                                      </a:rPr>
                                    </m:ctrlPr>
                                  </m:dPr>
                                  <m:e>
                                    <m:sSub>
                                      <m:sSubPr>
                                        <m:ctrlPr>
                                          <a:rPr lang="el-GR" altLang="zh-TW" sz="1200" b="0" i="1" smtClean="0">
                                            <a:latin typeface="Cambria Math" panose="02040503050406030204" pitchFamily="18" charset="0"/>
                                            <a:ea typeface="Cambria Math" panose="02040503050406030204" pitchFamily="18" charset="0"/>
                                          </a:rPr>
                                        </m:ctrlPr>
                                      </m:sSubPr>
                                      <m:e>
                                        <m:r>
                                          <m:rPr>
                                            <m:sty m:val="p"/>
                                          </m:rPr>
                                          <a:rPr lang="el-GR" altLang="zh-TW" sz="1200" b="0" i="1" smtClean="0">
                                            <a:latin typeface="Cambria Math" panose="02040503050406030204" pitchFamily="18" charset="0"/>
                                            <a:ea typeface="Cambria Math" panose="02040503050406030204" pitchFamily="18" charset="0"/>
                                          </a:rPr>
                                          <m:t>ω</m:t>
                                        </m:r>
                                      </m:e>
                                      <m:sub>
                                        <m:r>
                                          <m:rPr>
                                            <m:sty m:val="p"/>
                                          </m:rPr>
                                          <a:rPr lang="en-US" altLang="zh-TW" sz="1200" b="0" i="1" smtClean="0">
                                            <a:latin typeface="Cambria Math" panose="02040503050406030204" pitchFamily="18" charset="0"/>
                                            <a:ea typeface="Cambria Math" panose="02040503050406030204" pitchFamily="18" charset="0"/>
                                          </a:rPr>
                                          <m:t>i</m:t>
                                        </m:r>
                                      </m:sub>
                                    </m:sSub>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𝑧</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𝑎</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𝐿</m:t>
                                </m:r>
                                <m:r>
                                  <a:rPr lang="en-US" altLang="zh-TW" sz="1200" b="0" i="1" smtClean="0">
                                    <a:latin typeface="Cambria Math" panose="02040503050406030204" pitchFamily="18" charset="0"/>
                                  </a:rPr>
                                  <m:t>′=</m:t>
                                </m:r>
                                <m:f>
                                  <m:fPr>
                                    <m:ctrlPr>
                                      <a:rPr lang="zh-TW" altLang="en-US" sz="1200" i="1">
                                        <a:latin typeface="Cambria Math" panose="02040503050406030204" pitchFamily="18" charset="0"/>
                                        <a:ea typeface="Cambria Math" panose="02040503050406030204" pitchFamily="18" charset="0"/>
                                      </a:rPr>
                                    </m:ctrlPr>
                                  </m:fPr>
                                  <m:num>
                                    <m:r>
                                      <a:rPr lang="zh-TW" altLang="en-US"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𝑧</m:t>
                                    </m:r>
                                  </m:num>
                                  <m:den>
                                    <m:r>
                                      <a:rPr lang="zh-TW" altLang="en-US" sz="1200" i="1">
                                        <a:latin typeface="Cambria Math" panose="02040503050406030204" pitchFamily="18" charset="0"/>
                                        <a:ea typeface="Cambria Math" panose="02040503050406030204" pitchFamily="18" charset="0"/>
                                      </a:rPr>
                                      <m:t>𝜕</m:t>
                                    </m:r>
                                    <m:sSub>
                                      <m:sSubPr>
                                        <m:ctrlPr>
                                          <a:rPr lang="el-GR" altLang="zh-TW" sz="1200" i="1">
                                            <a:latin typeface="Cambria Math" panose="02040503050406030204" pitchFamily="18" charset="0"/>
                                            <a:ea typeface="Cambria Math" panose="02040503050406030204" pitchFamily="18" charset="0"/>
                                          </a:rPr>
                                        </m:ctrlPr>
                                      </m:sSubPr>
                                      <m:e>
                                        <m:r>
                                          <m:rPr>
                                            <m:sty m:val="p"/>
                                          </m:rPr>
                                          <a:rPr lang="el-GR" altLang="zh-TW" sz="1200" i="1">
                                            <a:latin typeface="Cambria Math" panose="02040503050406030204" pitchFamily="18" charset="0"/>
                                            <a:ea typeface="Cambria Math" panose="02040503050406030204" pitchFamily="18" charset="0"/>
                                          </a:rPr>
                                          <m:t>ω</m:t>
                                        </m:r>
                                      </m:e>
                                      <m:sub>
                                        <m:r>
                                          <m:rPr>
                                            <m:sty m:val="p"/>
                                          </m:rPr>
                                          <a:rPr lang="en-US" altLang="zh-TW" sz="1200" i="1">
                                            <a:latin typeface="Cambria Math" panose="02040503050406030204" pitchFamily="18" charset="0"/>
                                            <a:ea typeface="Cambria Math" panose="02040503050406030204" pitchFamily="18" charset="0"/>
                                          </a:rPr>
                                          <m:t>i</m:t>
                                        </m:r>
                                      </m:sub>
                                    </m:sSub>
                                  </m:den>
                                </m:f>
                                <m:r>
                                  <a:rPr lang="en-US" altLang="zh-TW" sz="1200" b="0" i="1" smtClean="0">
                                    <a:latin typeface="Cambria Math" panose="02040503050406030204" pitchFamily="18" charset="0"/>
                                  </a:rPr>
                                  <m:t>∙</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a</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m:rPr>
                                            <m:sty m:val="p"/>
                                          </m:rPr>
                                          <a:rPr lang="en-US" altLang="zh-TW" sz="1200" b="0" i="1" smtClean="0">
                                            <a:latin typeface="Cambria Math" panose="02040503050406030204" pitchFamily="18" charset="0"/>
                                          </a:rPr>
                                          <m:t>y</m:t>
                                        </m:r>
                                      </m:e>
                                      <m:sub>
                                        <m:r>
                                          <m:rPr>
                                            <m:sty m:val="p"/>
                                          </m:rPr>
                                          <a:rPr lang="en-US" altLang="zh-TW" sz="1200" b="0" i="1" smtClean="0">
                                            <a:latin typeface="Cambria Math" panose="02040503050406030204" pitchFamily="18" charset="0"/>
                                          </a:rPr>
                                          <m:t>t</m:t>
                                        </m:r>
                                      </m:sub>
                                    </m:sSub>
                                  </m:e>
                                </m:d>
                              </m:oMath>
                            </m:oMathPara>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14:m>
                            <m:oMathPara xmlns:m="http://schemas.openxmlformats.org/officeDocument/2006/math">
                              <m:oMathParaPr>
                                <m:jc m:val="left"/>
                              </m:oMathParaPr>
                              <m:oMath>
                                <m:r>
                                  <m:rPr>
                                    <m:sty m:val="p"/>
                                  </m:rPr>
                                  <a:rPr lang="el-GR"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𝑓</m:t>
                                </m:r>
                                <m:d>
                                  <m:dPr>
                                    <m:ctrlPr>
                                      <a:rPr lang="el-GR" altLang="zh-TW" sz="1200" b="0" i="1" smtClean="0">
                                        <a:latin typeface="Cambria Math" panose="02040503050406030204" pitchFamily="18" charset="0"/>
                                        <a:ea typeface="Cambria Math" panose="02040503050406030204" pitchFamily="18" charset="0"/>
                                      </a:rPr>
                                    </m:ctrlPr>
                                  </m:dPr>
                                  <m:e>
                                    <m:sSub>
                                      <m:sSubPr>
                                        <m:ctrlPr>
                                          <a:rPr lang="el-GR" altLang="zh-TW" sz="1200" b="0" i="1" smtClean="0">
                                            <a:latin typeface="Cambria Math" panose="02040503050406030204" pitchFamily="18" charset="0"/>
                                            <a:ea typeface="Cambria Math" panose="02040503050406030204" pitchFamily="18" charset="0"/>
                                          </a:rPr>
                                        </m:ctrlPr>
                                      </m:sSubPr>
                                      <m:e>
                                        <m:r>
                                          <m:rPr>
                                            <m:sty m:val="p"/>
                                          </m:rPr>
                                          <a:rPr lang="el-GR" altLang="zh-TW" sz="1200" b="0" i="1" smtClean="0">
                                            <a:latin typeface="Cambria Math" panose="02040503050406030204" pitchFamily="18" charset="0"/>
                                            <a:ea typeface="Cambria Math" panose="02040503050406030204" pitchFamily="18" charset="0"/>
                                          </a:rPr>
                                          <m:t>ω</m:t>
                                        </m:r>
                                      </m:e>
                                      <m:sub>
                                        <m:r>
                                          <m:rPr>
                                            <m:sty m:val="p"/>
                                          </m:rPr>
                                          <a:rPr lang="en-US" altLang="zh-TW" sz="1200" b="0" i="1" smtClean="0">
                                            <a:latin typeface="Cambria Math" panose="02040503050406030204" pitchFamily="18" charset="0"/>
                                            <a:ea typeface="Cambria Math" panose="02040503050406030204" pitchFamily="18" charset="0"/>
                                          </a:rPr>
                                          <m:t>i</m:t>
                                        </m:r>
                                      </m:sub>
                                    </m:sSub>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𝑧</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𝑎</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𝐿</m:t>
                                </m:r>
                                <m:r>
                                  <a:rPr lang="en-US" altLang="zh-TW" sz="1200" b="0" i="1" smtClean="0">
                                    <a:latin typeface="Cambria Math" panose="02040503050406030204" pitchFamily="18" charset="0"/>
                                  </a:rPr>
                                  <m:t>′=</m:t>
                                </m:r>
                                <m:f>
                                  <m:fPr>
                                    <m:ctrlPr>
                                      <a:rPr lang="zh-TW" altLang="en-US" sz="1200" i="1">
                                        <a:latin typeface="Cambria Math" panose="02040503050406030204" pitchFamily="18" charset="0"/>
                                        <a:ea typeface="Cambria Math" panose="02040503050406030204" pitchFamily="18" charset="0"/>
                                      </a:rPr>
                                    </m:ctrlPr>
                                  </m:fPr>
                                  <m:num>
                                    <m:r>
                                      <a:rPr lang="zh-TW" altLang="en-US"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𝑧</m:t>
                                    </m:r>
                                  </m:num>
                                  <m:den>
                                    <m:r>
                                      <a:rPr lang="zh-TW" altLang="en-US" sz="1200" i="1">
                                        <a:latin typeface="Cambria Math" panose="02040503050406030204" pitchFamily="18" charset="0"/>
                                        <a:ea typeface="Cambria Math" panose="02040503050406030204" pitchFamily="18" charset="0"/>
                                      </a:rPr>
                                      <m:t>𝜕</m:t>
                                    </m:r>
                                    <m:sSub>
                                      <m:sSubPr>
                                        <m:ctrlPr>
                                          <a:rPr lang="el-GR" altLang="zh-TW" sz="1200" i="1">
                                            <a:latin typeface="Cambria Math" panose="02040503050406030204" pitchFamily="18" charset="0"/>
                                            <a:ea typeface="Cambria Math" panose="02040503050406030204" pitchFamily="18" charset="0"/>
                                          </a:rPr>
                                        </m:ctrlPr>
                                      </m:sSubPr>
                                      <m:e>
                                        <m:r>
                                          <m:rPr>
                                            <m:sty m:val="p"/>
                                          </m:rPr>
                                          <a:rPr lang="el-GR" altLang="zh-TW" sz="1200" i="1">
                                            <a:latin typeface="Cambria Math" panose="02040503050406030204" pitchFamily="18" charset="0"/>
                                            <a:ea typeface="Cambria Math" panose="02040503050406030204" pitchFamily="18" charset="0"/>
                                          </a:rPr>
                                          <m:t>ω</m:t>
                                        </m:r>
                                      </m:e>
                                      <m:sub>
                                        <m:r>
                                          <m:rPr>
                                            <m:sty m:val="p"/>
                                          </m:rPr>
                                          <a:rPr lang="en-US" altLang="zh-TW" sz="1200" i="1">
                                            <a:latin typeface="Cambria Math" panose="02040503050406030204" pitchFamily="18" charset="0"/>
                                            <a:ea typeface="Cambria Math" panose="02040503050406030204" pitchFamily="18" charset="0"/>
                                          </a:rPr>
                                          <m:t>i</m:t>
                                        </m:r>
                                      </m:sub>
                                    </m:sSub>
                                  </m:den>
                                </m:f>
                                <m:r>
                                  <a:rPr lang="en-US" altLang="zh-TW" sz="1200" b="0" i="1" smtClean="0">
                                    <a:latin typeface="Cambria Math" panose="02040503050406030204" pitchFamily="18" charset="0"/>
                                  </a:rPr>
                                  <m:t>∙2</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a</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m:rPr>
                                            <m:sty m:val="p"/>
                                          </m:rPr>
                                          <a:rPr lang="en-US" altLang="zh-TW" sz="1200" b="0" i="1" smtClean="0">
                                            <a:latin typeface="Cambria Math" panose="02040503050406030204" pitchFamily="18" charset="0"/>
                                          </a:rPr>
                                          <m:t>y</m:t>
                                        </m:r>
                                      </m:e>
                                      <m:sub>
                                        <m:r>
                                          <m:rPr>
                                            <m:sty m:val="p"/>
                                          </m:rPr>
                                          <a:rPr lang="en-US" altLang="zh-TW" sz="1200" b="0" i="1" smtClean="0">
                                            <a:latin typeface="Cambria Math" panose="02040503050406030204" pitchFamily="18" charset="0"/>
                                          </a:rPr>
                                          <m:t>t</m:t>
                                        </m:r>
                                      </m:sub>
                                    </m:sSub>
                                  </m:e>
                                </m:d>
                              </m:oMath>
                            </m:oMathPara>
                          </a14:m>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178612504"/>
                      </a:ext>
                    </a:extLst>
                  </a:tr>
                  <a:tr h="670165">
                    <a:tc>
                      <a:txBody>
                        <a:bodyPr/>
                        <a:lstStyle/>
                        <a:p>
                          <a:r>
                            <a:rPr lang="en-US" altLang="zh-TW" sz="1200" b="0" cap="none" spc="0" dirty="0">
                              <a:ln w="0"/>
                              <a:solidFill>
                                <a:schemeClr val="tx1"/>
                              </a:solidFill>
                              <a:effectLst/>
                            </a:rPr>
                            <a:t>Optimize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 </a:t>
                          </a:r>
                          <a14:m>
                            <m:oMath xmlns:m="http://schemas.openxmlformats.org/officeDocument/2006/math">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𝜂</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a14:m>
                          <a: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1∗</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a14:m>
                          <a: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1∗2∗</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14:m>
                            <m:oMath xmlns:m="http://schemas.openxmlformats.org/officeDocument/2006/math">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oMath>
                          </a14:m>
                          <a:r>
                            <a:rPr lang="en-US" altLang="zh-TW" sz="1200" b="0" cap="none" spc="0" dirty="0">
                              <a:ln w="0"/>
                              <a:solidFill>
                                <a:schemeClr val="tx1"/>
                              </a:solidFill>
                              <a:effectLst/>
                            </a:rPr>
                            <a:t>: Target</a:t>
                          </a:r>
                        </a:p>
                        <a:p>
                          <a:r>
                            <a:rPr lang="en-US" altLang="zh-TW" sz="1200" b="0" cap="none" spc="0" dirty="0">
                              <a:ln w="0"/>
                              <a:solidFill>
                                <a:schemeClr val="tx1"/>
                              </a:solidFill>
                              <a:effectLst/>
                            </a:rPr>
                            <a:t>Learning Rate </a:t>
                          </a:r>
                          <a:r>
                            <a:rPr lang="el-GR" altLang="zh-TW" sz="1200" b="0" cap="none" spc="0" dirty="0">
                              <a:ln w="0"/>
                              <a:solidFill>
                                <a:schemeClr val="tx1"/>
                              </a:solidFill>
                              <a:effectLst/>
                            </a:rPr>
                            <a:t>η</a:t>
                          </a:r>
                          <a:endParaRPr lang="en-US" altLang="zh-TW" sz="1200" b="0" cap="none" spc="0" dirty="0">
                            <a:ln w="0"/>
                            <a:solidFill>
                              <a:schemeClr val="tx1"/>
                            </a:solidFill>
                            <a:effectLst/>
                          </a:endParaRPr>
                        </a:p>
                        <a:p>
                          <a:r>
                            <a:rPr lang="en-US" altLang="zh-TW" sz="1200" b="0" cap="none" spc="0" dirty="0">
                              <a:ln w="0"/>
                              <a:solidFill>
                                <a:schemeClr val="tx1"/>
                              </a:solidFill>
                              <a:effectLst/>
                            </a:rPr>
                            <a:t>is 10</a:t>
                          </a:r>
                          <a:r>
                            <a:rPr lang="en-US" altLang="zh-TW" sz="1200" b="0" cap="none" spc="0" baseline="30000" dirty="0">
                              <a:ln w="0"/>
                              <a:solidFill>
                                <a:schemeClr val="tx1"/>
                              </a:solidFill>
                              <a:effectLst/>
                            </a:rPr>
                            <a:t>-3</a:t>
                          </a:r>
                          <a:r>
                            <a:rPr lang="en-US" altLang="zh-TW" sz="1200" b="0" cap="none" spc="0" dirty="0">
                              <a:ln w="0"/>
                              <a:solidFill>
                                <a:schemeClr val="tx1"/>
                              </a:solidFill>
                              <a:effectLst/>
                            </a:rPr>
                            <a:t> ~ 10</a:t>
                          </a:r>
                          <a:r>
                            <a:rPr lang="en-US" altLang="zh-TW" sz="1200" b="0" cap="none" spc="0" baseline="30000" dirty="0">
                              <a:ln w="0"/>
                              <a:solidFill>
                                <a:schemeClr val="tx1"/>
                              </a:solidFill>
                              <a:effectLst/>
                            </a:rPr>
                            <a:t>-5</a:t>
                          </a: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365023">
                    <a:tc>
                      <a:txBody>
                        <a:bodyPr/>
                        <a:lstStyle/>
                        <a:p>
                          <a:r>
                            <a:rPr lang="en-US" altLang="zh-TW" sz="1200" b="0" cap="none" spc="0" dirty="0">
                              <a:ln w="0"/>
                              <a:solidFill>
                                <a:schemeClr val="tx1"/>
                              </a:solidFill>
                              <a:effectLst/>
                            </a:rPr>
                            <a:t>Suitable Uses</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and Multi-Label</a:t>
                          </a:r>
                        </a:p>
                        <a:p>
                          <a:r>
                            <a:rPr lang="en-US" altLang="zh-TW" sz="1200" b="0" cap="none" spc="0" dirty="0">
                              <a:ln w="0"/>
                              <a:solidFill>
                                <a:schemeClr val="tx1"/>
                              </a:solidFill>
                              <a:effectLst/>
                            </a:rPr>
                            <a:t>Classification</a:t>
                          </a:r>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Regression and</a:t>
                          </a:r>
                        </a:p>
                        <a:p>
                          <a:r>
                            <a:rPr lang="en-US" altLang="zh-TW" sz="1200" b="0" cap="none" spc="0" dirty="0">
                              <a:ln w="0"/>
                              <a:solidFill>
                                <a:schemeClr val="tx1"/>
                              </a:solidFill>
                              <a:effectLst/>
                            </a:rPr>
                            <a:t>Multi-Class Classification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7253587"/>
                      </a:ext>
                    </a:extLst>
                  </a:tr>
                </a:tbl>
              </a:graphicData>
            </a:graphic>
          </p:graphicFrame>
        </mc:Choice>
        <mc:Fallback xmlns="">
          <p:graphicFrame>
            <p:nvGraphicFramePr>
              <p:cNvPr id="9" name="表格 8">
                <a:extLst>
                  <a:ext uri="{FF2B5EF4-FFF2-40B4-BE49-F238E27FC236}">
                    <a16:creationId xmlns:a16="http://schemas.microsoft.com/office/drawing/2014/main" id="{CC8998D7-EE90-92F1-BC37-6158316317D0}"/>
                  </a:ext>
                </a:extLst>
              </p:cNvPr>
              <p:cNvGraphicFramePr>
                <a:graphicFrameLocks noGrp="1"/>
              </p:cNvGraphicFramePr>
              <p:nvPr>
                <p:extLst>
                  <p:ext uri="{D42A27DB-BD31-4B8C-83A1-F6EECF244321}">
                    <p14:modId xmlns:p14="http://schemas.microsoft.com/office/powerpoint/2010/main" val="1620202089"/>
                  </p:ext>
                </p:extLst>
              </p:nvPr>
            </p:nvGraphicFramePr>
            <p:xfrm>
              <a:off x="322060" y="2353458"/>
              <a:ext cx="8499879" cy="4154122"/>
            </p:xfrm>
            <a:graphic>
              <a:graphicData uri="http://schemas.openxmlformats.org/drawingml/2006/table">
                <a:tbl>
                  <a:tblPr firstRow="1" bandRow="1">
                    <a:tableStyleId>{5C22544A-7EE6-4342-B048-85BDC9FD1C3A}</a:tableStyleId>
                  </a:tblPr>
                  <a:tblGrid>
                    <a:gridCol w="1657652">
                      <a:extLst>
                        <a:ext uri="{9D8B030D-6E8A-4147-A177-3AD203B41FA5}">
                          <a16:colId xmlns:a16="http://schemas.microsoft.com/office/drawing/2014/main" val="2211145501"/>
                        </a:ext>
                      </a:extLst>
                    </a:gridCol>
                    <a:gridCol w="2831891">
                      <a:extLst>
                        <a:ext uri="{9D8B030D-6E8A-4147-A177-3AD203B41FA5}">
                          <a16:colId xmlns:a16="http://schemas.microsoft.com/office/drawing/2014/main" val="767948712"/>
                        </a:ext>
                      </a:extLst>
                    </a:gridCol>
                    <a:gridCol w="2907893">
                      <a:extLst>
                        <a:ext uri="{9D8B030D-6E8A-4147-A177-3AD203B41FA5}">
                          <a16:colId xmlns:a16="http://schemas.microsoft.com/office/drawing/2014/main" val="1809051212"/>
                        </a:ext>
                      </a:extLst>
                    </a:gridCol>
                    <a:gridCol w="1102443">
                      <a:extLst>
                        <a:ext uri="{9D8B030D-6E8A-4147-A177-3AD203B41FA5}">
                          <a16:colId xmlns:a16="http://schemas.microsoft.com/office/drawing/2014/main" val="2936818418"/>
                        </a:ext>
                      </a:extLst>
                    </a:gridCol>
                  </a:tblGrid>
                  <a:tr h="6211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MLP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Multi-Layer</a:t>
                          </a:r>
                          <a:r>
                            <a:rPr lang="zh-TW" altLang="en-US" sz="1200" b="0" cap="none" spc="0" dirty="0">
                              <a:ln w="0"/>
                              <a:solidFill>
                                <a:schemeClr val="tx1"/>
                              </a:solidFill>
                              <a:effectLst/>
                            </a:rPr>
                            <a:t> </a:t>
                          </a:r>
                          <a:r>
                            <a:rPr lang="en-US" altLang="zh-TW" sz="1200" b="0" cap="none" spc="0" dirty="0">
                              <a:ln w="0"/>
                              <a:solidFill>
                                <a:schemeClr val="tx1"/>
                              </a:solidFill>
                              <a:effectLst/>
                            </a:rPr>
                            <a:t>Perception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3">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24199" t="-94118" b="-583333"/>
                          </a:stretch>
                        </a:blip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52758469"/>
                      </a:ext>
                    </a:extLst>
                  </a:tr>
                  <a:tr h="254184">
                    <a:tc>
                      <a:txBody>
                        <a:bodyPr/>
                        <a:lstStyle/>
                        <a:p>
                          <a:r>
                            <a:rPr lang="en-US" altLang="zh-TW" sz="1200" b="0" cap="none" spc="0" dirty="0">
                              <a:ln w="0"/>
                              <a:solidFill>
                                <a:schemeClr val="tx1"/>
                              </a:solidFill>
                              <a:effectLst/>
                            </a:rPr>
                            <a:t>Combination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 BCE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ReLU, MSE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MoE</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89408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164384" r="-413235" b="-2787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164384" r="-141720" b="-2787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164384" r="-37866" b="-27876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GELU,</a:t>
                          </a:r>
                          <a:r>
                            <a:rPr lang="zh-TW" altLang="en-US" sz="1200" b="0" cap="none" spc="0" dirty="0">
                              <a:ln w="0"/>
                              <a:solidFill>
                                <a:schemeClr val="tx1"/>
                              </a:solidFill>
                              <a:effectLst/>
                            </a:rPr>
                            <a:t> </a:t>
                          </a:r>
                          <a:endParaRPr lang="en-US" altLang="zh-TW"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SwiGLU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SoftMax</a:t>
                          </a:r>
                          <a:endParaRPr lang="zh-TW" altLang="en-US"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t>
                          </a:r>
                          <a:r>
                            <a:rPr lang="zh-TW" altLang="en-US" sz="1200" b="0" cap="none" spc="0" dirty="0">
                              <a:ln w="0"/>
                              <a:solidFill>
                                <a:schemeClr val="tx1"/>
                              </a:solidFill>
                              <a:effectLst/>
                            </a:rPr>
                            <a:t> </a:t>
                          </a: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63766316"/>
                      </a:ext>
                    </a:extLst>
                  </a:tr>
                  <a:tr h="89408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262585" r="-413235" b="-176871"/>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262585" r="-141720" b="-176871"/>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262585" r="-37866" b="-176871"/>
                          </a:stretch>
                        </a:blipFill>
                      </a:tcPr>
                    </a:tc>
                    <a:tc>
                      <a:txBody>
                        <a:bodyPr/>
                        <a:lstStyle/>
                        <a:p>
                          <a:r>
                            <a:rPr lang="en-US" altLang="zh-TW" sz="1200" b="0" cap="none" spc="0" dirty="0">
                              <a:ln w="0"/>
                              <a:solidFill>
                                <a:schemeClr val="tx1"/>
                              </a:solidFill>
                              <a:effectLst/>
                            </a:rPr>
                            <a:t>Cross-Entropy</a:t>
                          </a:r>
                        </a:p>
                        <a:p>
                          <a:r>
                            <a:rPr lang="en-US" altLang="zh-TW" sz="1200" b="0" cap="none" spc="0" dirty="0">
                              <a:ln w="0"/>
                              <a:solidFill>
                                <a:schemeClr val="tx1"/>
                              </a:solidFill>
                              <a:effectLst/>
                            </a:rPr>
                            <a:t>Load Balancing Loss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45474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710667" r="-413235" b="-2466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710667" r="-141720" b="-2466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710667" r="-37866" b="-246667"/>
                          </a:stretch>
                        </a:blip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178612504"/>
                      </a:ext>
                    </a:extLst>
                  </a:tr>
                  <a:tr h="670165">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552727" r="-413235" b="-68182"/>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552727" r="-141720" b="-68182"/>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552727" r="-37866" b="-68182"/>
                          </a:stretch>
                        </a:blipFill>
                      </a:tcPr>
                    </a:tc>
                    <a:tc>
                      <a:txBody>
                        <a:bodyPr/>
                        <a:lstStyle/>
                        <a:p>
                          <a:endParaRPr lang="zh-TW"/>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671271" t="-552727" b="-68182"/>
                          </a:stretch>
                        </a:blipFill>
                      </a:tcPr>
                    </a:tc>
                    <a:extLst>
                      <a:ext uri="{0D108BD9-81ED-4DB2-BD59-A6C34878D82A}">
                        <a16:rowId xmlns:a16="http://schemas.microsoft.com/office/drawing/2014/main" val="1341340391"/>
                      </a:ext>
                    </a:extLst>
                  </a:tr>
                  <a:tr h="365760">
                    <a:tc>
                      <a:txBody>
                        <a:bodyPr/>
                        <a:lstStyle/>
                        <a:p>
                          <a:r>
                            <a:rPr lang="en-US" altLang="zh-TW" sz="1200" b="0" cap="none" spc="0" dirty="0">
                              <a:ln w="0"/>
                              <a:solidFill>
                                <a:schemeClr val="tx1"/>
                              </a:solidFill>
                              <a:effectLst/>
                            </a:rPr>
                            <a:t>Suitable Uses</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and Multi-Label</a:t>
                          </a:r>
                        </a:p>
                        <a:p>
                          <a:r>
                            <a:rPr lang="en-US" altLang="zh-TW" sz="1200" b="0" cap="none" spc="0" dirty="0">
                              <a:ln w="0"/>
                              <a:solidFill>
                                <a:schemeClr val="tx1"/>
                              </a:solidFill>
                              <a:effectLst/>
                            </a:rPr>
                            <a:t>Classification</a:t>
                          </a:r>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Regression and</a:t>
                          </a:r>
                        </a:p>
                        <a:p>
                          <a:r>
                            <a:rPr lang="en-US" altLang="zh-TW" sz="1200" b="0" cap="none" spc="0" dirty="0">
                              <a:ln w="0"/>
                              <a:solidFill>
                                <a:schemeClr val="tx1"/>
                              </a:solidFill>
                              <a:effectLst/>
                            </a:rPr>
                            <a:t>Multi-Class Classification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7253587"/>
                      </a:ext>
                    </a:extLst>
                  </a:tr>
                </a:tbl>
              </a:graphicData>
            </a:graphic>
          </p:graphicFrame>
        </mc:Fallback>
      </mc:AlternateContent>
      <p:sp>
        <p:nvSpPr>
          <p:cNvPr id="5" name="標題 1">
            <a:extLst>
              <a:ext uri="{FF2B5EF4-FFF2-40B4-BE49-F238E27FC236}">
                <a16:creationId xmlns:a16="http://schemas.microsoft.com/office/drawing/2014/main" id="{1B035E0B-32D5-59ED-6997-9338A230FFFA}"/>
              </a:ext>
            </a:extLst>
          </p:cNvPr>
          <p:cNvSpPr txBox="1">
            <a:spLocks/>
          </p:cNvSpPr>
          <p:nvPr/>
        </p:nvSpPr>
        <p:spPr>
          <a:xfrm>
            <a:off x="179512" y="116632"/>
            <a:ext cx="6120680"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Multilayer Perceptron</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MLP applies backpropagation to resolve intricate, non-linear problems.</a:t>
            </a:r>
          </a:p>
        </p:txBody>
      </p:sp>
      <p:pic>
        <p:nvPicPr>
          <p:cNvPr id="13" name="圖片 12">
            <a:extLst>
              <a:ext uri="{FF2B5EF4-FFF2-40B4-BE49-F238E27FC236}">
                <a16:creationId xmlns:a16="http://schemas.microsoft.com/office/drawing/2014/main" id="{2B189A7E-505F-ADE9-8E91-CD35493F2859}"/>
              </a:ext>
            </a:extLst>
          </p:cNvPr>
          <p:cNvPicPr>
            <a:picLocks noChangeAspect="1"/>
          </p:cNvPicPr>
          <p:nvPr/>
        </p:nvPicPr>
        <p:blipFill>
          <a:blip r:embed="rId6"/>
          <a:stretch>
            <a:fillRect/>
          </a:stretch>
        </p:blipFill>
        <p:spPr>
          <a:xfrm>
            <a:off x="6380769" y="3268354"/>
            <a:ext cx="994846" cy="615170"/>
          </a:xfrm>
          <a:prstGeom prst="rect">
            <a:avLst/>
          </a:prstGeom>
        </p:spPr>
      </p:pic>
      <p:pic>
        <p:nvPicPr>
          <p:cNvPr id="15" name="圖片 14">
            <a:extLst>
              <a:ext uri="{FF2B5EF4-FFF2-40B4-BE49-F238E27FC236}">
                <a16:creationId xmlns:a16="http://schemas.microsoft.com/office/drawing/2014/main" id="{8B3F7023-86A5-86C6-BCA1-ABE50B1D7DDB}"/>
              </a:ext>
            </a:extLst>
          </p:cNvPr>
          <p:cNvPicPr>
            <a:picLocks noChangeAspect="1"/>
          </p:cNvPicPr>
          <p:nvPr/>
        </p:nvPicPr>
        <p:blipFill>
          <a:blip r:embed="rId7"/>
          <a:stretch>
            <a:fillRect/>
          </a:stretch>
        </p:blipFill>
        <p:spPr>
          <a:xfrm>
            <a:off x="3195481" y="3321282"/>
            <a:ext cx="1068767" cy="562242"/>
          </a:xfrm>
          <a:prstGeom prst="rect">
            <a:avLst/>
          </a:prstGeom>
        </p:spPr>
      </p:pic>
      <mc:AlternateContent xmlns:mc="http://schemas.openxmlformats.org/markup-compatibility/2006">
        <mc:Choice xmlns:a14="http://schemas.microsoft.com/office/drawing/2010/main" Requires="a14">
          <p:sp>
            <p:nvSpPr>
              <p:cNvPr id="19" name="文字方塊 18">
                <a:extLst>
                  <a:ext uri="{FF2B5EF4-FFF2-40B4-BE49-F238E27FC236}">
                    <a16:creationId xmlns:a16="http://schemas.microsoft.com/office/drawing/2014/main" id="{36C3DCCE-5704-9750-F478-419CFFFF27A6}"/>
                  </a:ext>
                </a:extLst>
              </p:cNvPr>
              <p:cNvSpPr txBox="1"/>
              <p:nvPr/>
            </p:nvSpPr>
            <p:spPr>
              <a:xfrm>
                <a:off x="6588224" y="1089229"/>
                <a:ext cx="1421904" cy="539571"/>
              </a:xfrm>
              <a:prstGeom prst="rect">
                <a:avLst/>
              </a:prstGeom>
              <a:noFill/>
            </p:spPr>
            <p:txBody>
              <a:bodyPr wrap="square">
                <a:spAutoFit/>
              </a:bodyPr>
              <a:lstStyle/>
              <a:p>
                <a:pPr/>
                <a14:m>
                  <m:oMathPara xmlns:m="http://schemas.openxmlformats.org/officeDocument/2006/math">
                    <m:o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bHide m:val="on"/>
                          <m:supHide m:val="on"/>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e>
                      </m:nary>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oMath>
                  </m:oMathPara>
                </a14:m>
                <a:endParaRPr lang="zh-TW" altLang="en-US" dirty="0"/>
              </a:p>
            </p:txBody>
          </p:sp>
        </mc:Choice>
        <mc:Fallback>
          <p:sp>
            <p:nvSpPr>
              <p:cNvPr id="19" name="文字方塊 18">
                <a:extLst>
                  <a:ext uri="{FF2B5EF4-FFF2-40B4-BE49-F238E27FC236}">
                    <a16:creationId xmlns:a16="http://schemas.microsoft.com/office/drawing/2014/main" id="{36C3DCCE-5704-9750-F478-419CFFFF27A6}"/>
                  </a:ext>
                </a:extLst>
              </p:cNvPr>
              <p:cNvSpPr txBox="1">
                <a:spLocks noRot="1" noChangeAspect="1" noMove="1" noResize="1" noEditPoints="1" noAdjustHandles="1" noChangeArrowheads="1" noChangeShapeType="1" noTextEdit="1"/>
              </p:cNvSpPr>
              <p:nvPr/>
            </p:nvSpPr>
            <p:spPr>
              <a:xfrm>
                <a:off x="6588224" y="1089229"/>
                <a:ext cx="1421904" cy="539571"/>
              </a:xfrm>
              <a:prstGeom prst="rect">
                <a:avLst/>
              </a:prstGeom>
              <a:blipFill>
                <a:blip r:embed="rId8"/>
                <a:stretch>
                  <a:fillRect l="-13305" t="-117045" r="-22747" b="-165909"/>
                </a:stretch>
              </a:blipFill>
            </p:spPr>
            <p:txBody>
              <a:bodyPr/>
              <a:lstStyle/>
              <a:p>
                <a:r>
                  <a:rPr lang="zh-TW" altLang="en-US">
                    <a:noFill/>
                  </a:rPr>
                  <a:t> </a:t>
                </a:r>
              </a:p>
            </p:txBody>
          </p:sp>
        </mc:Fallback>
      </mc:AlternateContent>
      <p:sp>
        <p:nvSpPr>
          <p:cNvPr id="23" name="文字方塊 22">
            <a:extLst>
              <a:ext uri="{FF2B5EF4-FFF2-40B4-BE49-F238E27FC236}">
                <a16:creationId xmlns:a16="http://schemas.microsoft.com/office/drawing/2014/main" id="{360BE63E-7EC8-768F-2762-F4EC51AFBB8A}"/>
              </a:ext>
            </a:extLst>
          </p:cNvPr>
          <p:cNvSpPr txBox="1"/>
          <p:nvPr/>
        </p:nvSpPr>
        <p:spPr>
          <a:xfrm>
            <a:off x="7398853" y="2208165"/>
            <a:ext cx="629531" cy="369332"/>
          </a:xfrm>
          <a:prstGeom prst="rect">
            <a:avLst/>
          </a:prstGeom>
          <a:noFill/>
        </p:spPr>
        <p:txBody>
          <a:bodyPr wrap="none" lIns="0" tIns="0" rIns="0" bIns="0" anchor="ctr" anchorCtr="1">
            <a:spAutoFit/>
          </a:bodyPr>
          <a:lstStyle/>
          <a:p>
            <a:r>
              <a:rPr lang="en-US" altLang="zh-TW" sz="1200" b="0" cap="none" spc="0" dirty="0">
                <a:ln w="0"/>
                <a:solidFill>
                  <a:schemeClr val="tx1"/>
                </a:solidFill>
                <a:effectLst/>
              </a:rPr>
              <a:t>Activation</a:t>
            </a:r>
          </a:p>
          <a:p>
            <a:r>
              <a:rPr lang="en-US" altLang="zh-TW" sz="1200" b="0" cap="none" spc="0" dirty="0">
                <a:ln w="0"/>
                <a:solidFill>
                  <a:schemeClr val="tx1"/>
                </a:solidFill>
                <a:effectLst/>
              </a:rPr>
              <a:t>Function</a:t>
            </a:r>
          </a:p>
        </p:txBody>
      </p:sp>
    </p:spTree>
    <p:extLst>
      <p:ext uri="{BB962C8B-B14F-4D97-AF65-F5344CB8AC3E}">
        <p14:creationId xmlns:p14="http://schemas.microsoft.com/office/powerpoint/2010/main" val="150382875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E6E43-CC03-2DCD-18D3-87ED0D04D0A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89" name="表格 88">
                <a:extLst>
                  <a:ext uri="{FF2B5EF4-FFF2-40B4-BE49-F238E27FC236}">
                    <a16:creationId xmlns:a16="http://schemas.microsoft.com/office/drawing/2014/main" id="{4EDC2BD5-B59B-86AF-8096-D9E38CA888BF}"/>
                  </a:ext>
                </a:extLst>
              </p:cNvPr>
              <p:cNvGraphicFramePr>
                <a:graphicFrameLocks noGrp="1"/>
              </p:cNvGraphicFramePr>
              <p:nvPr>
                <p:extLst>
                  <p:ext uri="{D42A27DB-BD31-4B8C-83A1-F6EECF244321}">
                    <p14:modId xmlns:p14="http://schemas.microsoft.com/office/powerpoint/2010/main" val="3705678299"/>
                  </p:ext>
                </p:extLst>
              </p:nvPr>
            </p:nvGraphicFramePr>
            <p:xfrm>
              <a:off x="467544" y="1222960"/>
              <a:ext cx="6951798" cy="3693090"/>
            </p:xfrm>
            <a:graphic>
              <a:graphicData uri="http://schemas.openxmlformats.org/drawingml/2006/table">
                <a:tbl>
                  <a:tblPr firstRow="1" bandRow="1">
                    <a:tableStyleId>{5C22544A-7EE6-4342-B048-85BDC9FD1C3A}</a:tableStyleId>
                  </a:tblPr>
                  <a:tblGrid>
                    <a:gridCol w="385400">
                      <a:extLst>
                        <a:ext uri="{9D8B030D-6E8A-4147-A177-3AD203B41FA5}">
                          <a16:colId xmlns:a16="http://schemas.microsoft.com/office/drawing/2014/main" val="2171259255"/>
                        </a:ext>
                      </a:extLst>
                    </a:gridCol>
                    <a:gridCol w="587898">
                      <a:extLst>
                        <a:ext uri="{9D8B030D-6E8A-4147-A177-3AD203B41FA5}">
                          <a16:colId xmlns:a16="http://schemas.microsoft.com/office/drawing/2014/main" val="871242339"/>
                        </a:ext>
                      </a:extLst>
                    </a:gridCol>
                    <a:gridCol w="146975">
                      <a:extLst>
                        <a:ext uri="{9D8B030D-6E8A-4147-A177-3AD203B41FA5}">
                          <a16:colId xmlns:a16="http://schemas.microsoft.com/office/drawing/2014/main" val="1201755844"/>
                        </a:ext>
                      </a:extLst>
                    </a:gridCol>
                    <a:gridCol w="558250">
                      <a:extLst>
                        <a:ext uri="{9D8B030D-6E8A-4147-A177-3AD203B41FA5}">
                          <a16:colId xmlns:a16="http://schemas.microsoft.com/office/drawing/2014/main" val="506512337"/>
                        </a:ext>
                      </a:extLst>
                    </a:gridCol>
                    <a:gridCol w="216024">
                      <a:extLst>
                        <a:ext uri="{9D8B030D-6E8A-4147-A177-3AD203B41FA5}">
                          <a16:colId xmlns:a16="http://schemas.microsoft.com/office/drawing/2014/main" val="1340741050"/>
                        </a:ext>
                      </a:extLst>
                    </a:gridCol>
                    <a:gridCol w="475010">
                      <a:extLst>
                        <a:ext uri="{9D8B030D-6E8A-4147-A177-3AD203B41FA5}">
                          <a16:colId xmlns:a16="http://schemas.microsoft.com/office/drawing/2014/main" val="3047107006"/>
                        </a:ext>
                      </a:extLst>
                    </a:gridCol>
                    <a:gridCol w="440924">
                      <a:extLst>
                        <a:ext uri="{9D8B030D-6E8A-4147-A177-3AD203B41FA5}">
                          <a16:colId xmlns:a16="http://schemas.microsoft.com/office/drawing/2014/main" val="3476142927"/>
                        </a:ext>
                      </a:extLst>
                    </a:gridCol>
                    <a:gridCol w="220462">
                      <a:extLst>
                        <a:ext uri="{9D8B030D-6E8A-4147-A177-3AD203B41FA5}">
                          <a16:colId xmlns:a16="http://schemas.microsoft.com/office/drawing/2014/main" val="1396334188"/>
                        </a:ext>
                      </a:extLst>
                    </a:gridCol>
                    <a:gridCol w="344617">
                      <a:extLst>
                        <a:ext uri="{9D8B030D-6E8A-4147-A177-3AD203B41FA5}">
                          <a16:colId xmlns:a16="http://schemas.microsoft.com/office/drawing/2014/main" val="2978978417"/>
                        </a:ext>
                      </a:extLst>
                    </a:gridCol>
                    <a:gridCol w="316769">
                      <a:extLst>
                        <a:ext uri="{9D8B030D-6E8A-4147-A177-3AD203B41FA5}">
                          <a16:colId xmlns:a16="http://schemas.microsoft.com/office/drawing/2014/main" val="3064547975"/>
                        </a:ext>
                      </a:extLst>
                    </a:gridCol>
                    <a:gridCol w="506474">
                      <a:extLst>
                        <a:ext uri="{9D8B030D-6E8A-4147-A177-3AD203B41FA5}">
                          <a16:colId xmlns:a16="http://schemas.microsoft.com/office/drawing/2014/main" val="1863192475"/>
                        </a:ext>
                      </a:extLst>
                    </a:gridCol>
                    <a:gridCol w="340092">
                      <a:extLst>
                        <a:ext uri="{9D8B030D-6E8A-4147-A177-3AD203B41FA5}">
                          <a16:colId xmlns:a16="http://schemas.microsoft.com/office/drawing/2014/main" val="720974766"/>
                        </a:ext>
                      </a:extLst>
                    </a:gridCol>
                    <a:gridCol w="255744">
                      <a:extLst>
                        <a:ext uri="{9D8B030D-6E8A-4147-A177-3AD203B41FA5}">
                          <a16:colId xmlns:a16="http://schemas.microsoft.com/office/drawing/2014/main" val="2940898418"/>
                        </a:ext>
                      </a:extLst>
                    </a:gridCol>
                    <a:gridCol w="367436">
                      <a:extLst>
                        <a:ext uri="{9D8B030D-6E8A-4147-A177-3AD203B41FA5}">
                          <a16:colId xmlns:a16="http://schemas.microsoft.com/office/drawing/2014/main" val="3540488055"/>
                        </a:ext>
                      </a:extLst>
                    </a:gridCol>
                    <a:gridCol w="796175">
                      <a:extLst>
                        <a:ext uri="{9D8B030D-6E8A-4147-A177-3AD203B41FA5}">
                          <a16:colId xmlns:a16="http://schemas.microsoft.com/office/drawing/2014/main" val="750920784"/>
                        </a:ext>
                      </a:extLst>
                    </a:gridCol>
                    <a:gridCol w="715083">
                      <a:extLst>
                        <a:ext uri="{9D8B030D-6E8A-4147-A177-3AD203B41FA5}">
                          <a16:colId xmlns:a16="http://schemas.microsoft.com/office/drawing/2014/main" val="3374793549"/>
                        </a:ext>
                      </a:extLst>
                    </a:gridCol>
                    <a:gridCol w="278465">
                      <a:extLst>
                        <a:ext uri="{9D8B030D-6E8A-4147-A177-3AD203B41FA5}">
                          <a16:colId xmlns:a16="http://schemas.microsoft.com/office/drawing/2014/main" val="132511825"/>
                        </a:ext>
                      </a:extLst>
                    </a:gridCol>
                  </a:tblGrid>
                  <a:tr h="2880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Input</a:t>
                          </a: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Weight</a:t>
                          </a:r>
                        </a:p>
                      </a:txBody>
                      <a:tcPr marL="0" marR="0" marT="0" marB="0" anchor="ctr" anchorCtr="1">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Output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ReLU</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Error</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Loss</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Gradient Descent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p>
                          <a:pPr algn="ctr"/>
                          <a14:m>
                            <m:oMathPara xmlns:m="http://schemas.openxmlformats.org/officeDocument/2006/math">
                              <m:oMath>
                                <m:r>
                                  <m:rPr>
                                    <m:nor/>
                                  </m:rPr>
                                  <a:rPr kumimoji="0" lang="el-GR" altLang="zh-TW" sz="1200" b="0" i="0" u="none" strike="noStrike" kern="1200" cap="none" spc="0" normalizeH="0" baseline="0" noProof="0" dirty="0" smtClean="0">
                                    <a:ln>
                                      <a:noFill/>
                                    </a:ln>
                                    <a:solidFill>
                                      <a:schemeClr val="tx2">
                                        <a:lumMod val="50000"/>
                                      </a:schemeClr>
                                    </a:solidFill>
                                    <a:effectLst/>
                                    <a:uLnTx/>
                                    <a:uFillTx/>
                                    <a:latin typeface="+mn-lt"/>
                                    <a:ea typeface="Calibri" panose="020F0502020204030204" pitchFamily="34" charset="0"/>
                                    <a:cs typeface="Calibri" panose="020F0502020204030204" pitchFamily="34" charset="0"/>
                                  </a:rPr>
                                  <m:t>η</m:t>
                                </m:r>
                                <m:r>
                                  <a:rPr kumimoji="0" lang="el-GR" altLang="zh-TW" sz="1200" b="0" i="1" u="none" strike="noStrike" kern="1200" cap="none" spc="0" normalizeH="0" baseline="0" noProof="0" dirty="0" smtClean="0">
                                    <a:ln>
                                      <a:noFill/>
                                    </a:ln>
                                    <a:solidFill>
                                      <a:schemeClr val="tx2">
                                        <a:lumMod val="50000"/>
                                      </a:schemeClr>
                                    </a:solidFill>
                                    <a:effectLst/>
                                    <a:uLnTx/>
                                    <a:uFillTx/>
                                    <a:latin typeface="Cambria Math" panose="02040503050406030204" pitchFamily="18" charset="0"/>
                                    <a:ea typeface="Cambria Math" panose="02040503050406030204" pitchFamily="18" charset="0"/>
                                    <a:cs typeface="Calibri" panose="020F0502020204030204" pitchFamily="34" charset="0"/>
                                  </a:rPr>
                                  <m:t>∙</m:t>
                                </m:r>
                                <m:r>
                                  <m:rPr>
                                    <m:sty m:val="p"/>
                                  </m:r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a:ln>
                                      <a:noFill/>
                                    </a:ln>
                                    <a:solidFill>
                                      <a:schemeClr val="tx2">
                                        <a:lumMod val="50000"/>
                                      </a:schemeClr>
                                    </a:solidFill>
                                    <a:effectLst/>
                                    <a:uLnTx/>
                                    <a:uFillTx/>
                                    <a:latin typeface="Cambria Math" panose="02040503050406030204" pitchFamily="18" charset="0"/>
                                    <a:cs typeface="+mn-cs"/>
                                  </a:rPr>
                                  <m:t>𝑓</m:t>
                                </m:r>
                              </m:oMath>
                            </m:oMathPara>
                          </a14:m>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mn-ea"/>
                              <a:cs typeface="ADLaM Display" panose="02010000000000000000" pitchFamily="2" charset="0"/>
                            </a:rPr>
                            <a:t> w - </a:t>
                          </a:r>
                          <a14:m>
                            <m:oMath xmlns:m="http://schemas.openxmlformats.org/officeDocument/2006/math">
                              <m:r>
                                <m:rPr>
                                  <m:nor/>
                                </m:rPr>
                                <a:rPr kumimoji="0" lang="el-GR" altLang="zh-TW" sz="1200" b="0" i="0" u="none" strike="noStrike" kern="1200" cap="none" spc="0" normalizeH="0" baseline="0" noProof="0" dirty="0" smtClean="0">
                                  <a:ln>
                                    <a:noFill/>
                                  </a:ln>
                                  <a:solidFill>
                                    <a:schemeClr val="tx2">
                                      <a:lumMod val="50000"/>
                                    </a:schemeClr>
                                  </a:solidFill>
                                  <a:effectLst/>
                                  <a:uLnTx/>
                                  <a:uFillTx/>
                                  <a:latin typeface="+mn-lt"/>
                                  <a:ea typeface="Calibri" panose="020F0502020204030204" pitchFamily="34" charset="0"/>
                                  <a:cs typeface="Calibri" panose="020F0502020204030204" pitchFamily="34" charset="0"/>
                                </a:rPr>
                                <m:t>η</m:t>
                              </m:r>
                              <m:r>
                                <a:rPr kumimoji="0" lang="el-GR" altLang="zh-TW" sz="1200" b="0" i="1" u="none" strike="noStrike" kern="1200" cap="none" spc="0" normalizeH="0" baseline="0" noProof="0" dirty="0" smtClean="0">
                                  <a:ln>
                                    <a:noFill/>
                                  </a:ln>
                                  <a:solidFill>
                                    <a:schemeClr val="tx2">
                                      <a:lumMod val="50000"/>
                                    </a:schemeClr>
                                  </a:solidFill>
                                  <a:effectLst/>
                                  <a:uLnTx/>
                                  <a:uFillTx/>
                                  <a:latin typeface="Cambria Math" panose="02040503050406030204" pitchFamily="18" charset="0"/>
                                  <a:ea typeface="Cambria Math" panose="02040503050406030204" pitchFamily="18" charset="0"/>
                                  <a:cs typeface="Calibri" panose="020F0502020204030204" pitchFamily="34" charset="0"/>
                                </a:rPr>
                                <m:t>∙</m:t>
                              </m:r>
                              <m:r>
                                <m:rPr>
                                  <m:sty m:val="p"/>
                                </m:r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a:ln>
                                    <a:noFill/>
                                  </a:ln>
                                  <a:solidFill>
                                    <a:schemeClr val="tx2">
                                      <a:lumMod val="50000"/>
                                    </a:schemeClr>
                                  </a:solidFill>
                                  <a:effectLst/>
                                  <a:uLnTx/>
                                  <a:uFillTx/>
                                  <a:latin typeface="Cambria Math" panose="02040503050406030204" pitchFamily="18" charset="0"/>
                                  <a:cs typeface="+mn-cs"/>
                                </a:rPr>
                                <m:t>𝑓</m:t>
                              </m:r>
                            </m:oMath>
                          </a14:m>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5495302"/>
                      </a:ext>
                    </a:extLst>
                  </a:tr>
                  <a:tr h="2880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dirty="0">
                              <a:solidFill>
                                <a:schemeClr val="tx2">
                                  <a:lumMod val="50000"/>
                                </a:schemeClr>
                              </a:solidFill>
                              <a:latin typeface="+mn-lt"/>
                              <a:cs typeface="ADLaM Display" panose="02010000000000000000" pitchFamily="2" charset="0"/>
                            </a:rPr>
                            <a:t>(x</a:t>
                          </a:r>
                          <a:r>
                            <a:rPr lang="en-US" altLang="zh-TW" sz="1200" b="0" baseline="-25000" dirty="0">
                              <a:solidFill>
                                <a:schemeClr val="tx2">
                                  <a:lumMod val="50000"/>
                                </a:schemeClr>
                              </a:solidFill>
                              <a:latin typeface="+mn-lt"/>
                              <a:cs typeface="ADLaM Display" panose="02010000000000000000" pitchFamily="2" charset="0"/>
                            </a:rPr>
                            <a:t>2</a:t>
                          </a:r>
                          <a:r>
                            <a:rPr lang="en-US" altLang="zh-TW" sz="1200" b="0" dirty="0">
                              <a:solidFill>
                                <a:schemeClr val="tx2">
                                  <a:lumMod val="50000"/>
                                </a:schemeClr>
                              </a:solidFill>
                              <a:latin typeface="+mn-lt"/>
                              <a:cs typeface="ADLaM Display" panose="02010000000000000000" pitchFamily="2" charset="0"/>
                            </a:rPr>
                            <a:t>, x</a:t>
                          </a:r>
                          <a:r>
                            <a:rPr lang="en-US" altLang="zh-TW" sz="1200" b="0" baseline="-25000" dirty="0">
                              <a:solidFill>
                                <a:schemeClr val="tx2">
                                  <a:lumMod val="50000"/>
                                </a:schemeClr>
                              </a:solidFill>
                              <a:latin typeface="+mn-lt"/>
                              <a:cs typeface="ADLaM Display" panose="02010000000000000000" pitchFamily="2" charset="0"/>
                            </a:rPr>
                            <a:t>1</a:t>
                          </a:r>
                          <a:r>
                            <a:rPr lang="en-US" altLang="zh-TW" sz="1200" b="0" dirty="0">
                              <a:solidFill>
                                <a:schemeClr val="tx2">
                                  <a:lumMod val="50000"/>
                                </a:schemeClr>
                              </a:solidFill>
                              <a:latin typeface="+mn-lt"/>
                              <a:cs typeface="ADLaM Display" panose="02010000000000000000" pitchFamily="2" charset="0"/>
                            </a:rPr>
                            <a:t>, 1)</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y</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a</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l-GR"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η</a:t>
                          </a: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a:t>
                          </a:r>
                          <a:r>
                            <a:rPr kumimoji="0" lang="en-US" altLang="zh-TW" sz="10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0.01;</a:t>
                          </a:r>
                          <a:endParaRPr lang="zh-TW" altLang="en-US" dirty="0"/>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14:m>
                            <m:oMathPara xmlns:m="http://schemas.openxmlformats.org/officeDocument/2006/math">
                              <m:oMath>
                                <m:sSub>
                                  <m:sSubPr>
                                    <m:ctrlP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𝑖</m:t>
                                    </m:r>
                                  </m:sub>
                                </m:sSub>
                                <m: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2</m:t>
                                </m:r>
                                <m:d>
                                  <m:dPr>
                                    <m:ctrlP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𝑡</m:t>
                                        </m:r>
                                      </m:sub>
                                    </m:sSub>
                                  </m:e>
                                </m:d>
                              </m:oMath>
                            </m:oMathPara>
                          </a14:m>
                          <a:endParaRPr lang="zh-TW" altLang="en-US" dirty="0"/>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506302406"/>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9638735"/>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650314"/>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10.1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2025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 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5267731"/>
                      </a:ext>
                    </a:extLst>
                  </a:tr>
                  <a:tr h="30507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457459"/>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3246358"/>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4.3</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1278001"/>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638640"/>
                      </a:ext>
                    </a:extLst>
                  </a:tr>
                  <a:tr h="365409">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15834297"/>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1107603"/>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-2.0</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718607"/>
                      </a:ext>
                    </a:extLst>
                  </a:tr>
                  <a:tr h="24265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-0.41</a:t>
                          </a: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3006322"/>
                      </a:ext>
                    </a:extLst>
                  </a:tr>
                  <a:tr h="381067">
                    <a:tc gridSpan="17">
                      <a:txBody>
                        <a:bodyPr/>
                        <a:lstStyle/>
                        <a:p>
                          <a:pPr algn="l"/>
                          <a:r>
                            <a:rPr lang="en-US" altLang="zh-TW" sz="1000" b="0" dirty="0">
                              <a:solidFill>
                                <a:schemeClr val="tx1"/>
                              </a:solidFill>
                              <a:latin typeface="ADLaM Display" panose="02010000000000000000" pitchFamily="2" charset="0"/>
                              <a:cs typeface="ADLaM Display" panose="02010000000000000000" pitchFamily="2" charset="0"/>
                            </a:rPr>
                            <a:t>… </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360000" marR="0" marT="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en-US" altLang="zh-TW"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970761"/>
                      </a:ext>
                    </a:extLst>
                  </a:tr>
                </a:tbl>
              </a:graphicData>
            </a:graphic>
          </p:graphicFrame>
        </mc:Choice>
        <mc:Fallback xmlns="">
          <p:graphicFrame>
            <p:nvGraphicFramePr>
              <p:cNvPr id="89" name="表格 88">
                <a:extLst>
                  <a:ext uri="{FF2B5EF4-FFF2-40B4-BE49-F238E27FC236}">
                    <a16:creationId xmlns:a16="http://schemas.microsoft.com/office/drawing/2014/main" id="{4EDC2BD5-B59B-86AF-8096-D9E38CA888BF}"/>
                  </a:ext>
                </a:extLst>
              </p:cNvPr>
              <p:cNvGraphicFramePr>
                <a:graphicFrameLocks noGrp="1"/>
              </p:cNvGraphicFramePr>
              <p:nvPr>
                <p:extLst>
                  <p:ext uri="{D42A27DB-BD31-4B8C-83A1-F6EECF244321}">
                    <p14:modId xmlns:p14="http://schemas.microsoft.com/office/powerpoint/2010/main" val="3705678299"/>
                  </p:ext>
                </p:extLst>
              </p:nvPr>
            </p:nvGraphicFramePr>
            <p:xfrm>
              <a:off x="467544" y="1222960"/>
              <a:ext cx="6951798" cy="3693090"/>
            </p:xfrm>
            <a:graphic>
              <a:graphicData uri="http://schemas.openxmlformats.org/drawingml/2006/table">
                <a:tbl>
                  <a:tblPr firstRow="1" bandRow="1">
                    <a:tableStyleId>{5C22544A-7EE6-4342-B048-85BDC9FD1C3A}</a:tableStyleId>
                  </a:tblPr>
                  <a:tblGrid>
                    <a:gridCol w="385400">
                      <a:extLst>
                        <a:ext uri="{9D8B030D-6E8A-4147-A177-3AD203B41FA5}">
                          <a16:colId xmlns:a16="http://schemas.microsoft.com/office/drawing/2014/main" val="2171259255"/>
                        </a:ext>
                      </a:extLst>
                    </a:gridCol>
                    <a:gridCol w="587898">
                      <a:extLst>
                        <a:ext uri="{9D8B030D-6E8A-4147-A177-3AD203B41FA5}">
                          <a16:colId xmlns:a16="http://schemas.microsoft.com/office/drawing/2014/main" val="871242339"/>
                        </a:ext>
                      </a:extLst>
                    </a:gridCol>
                    <a:gridCol w="146975">
                      <a:extLst>
                        <a:ext uri="{9D8B030D-6E8A-4147-A177-3AD203B41FA5}">
                          <a16:colId xmlns:a16="http://schemas.microsoft.com/office/drawing/2014/main" val="1201755844"/>
                        </a:ext>
                      </a:extLst>
                    </a:gridCol>
                    <a:gridCol w="558250">
                      <a:extLst>
                        <a:ext uri="{9D8B030D-6E8A-4147-A177-3AD203B41FA5}">
                          <a16:colId xmlns:a16="http://schemas.microsoft.com/office/drawing/2014/main" val="506512337"/>
                        </a:ext>
                      </a:extLst>
                    </a:gridCol>
                    <a:gridCol w="216024">
                      <a:extLst>
                        <a:ext uri="{9D8B030D-6E8A-4147-A177-3AD203B41FA5}">
                          <a16:colId xmlns:a16="http://schemas.microsoft.com/office/drawing/2014/main" val="1340741050"/>
                        </a:ext>
                      </a:extLst>
                    </a:gridCol>
                    <a:gridCol w="475010">
                      <a:extLst>
                        <a:ext uri="{9D8B030D-6E8A-4147-A177-3AD203B41FA5}">
                          <a16:colId xmlns:a16="http://schemas.microsoft.com/office/drawing/2014/main" val="3047107006"/>
                        </a:ext>
                      </a:extLst>
                    </a:gridCol>
                    <a:gridCol w="440924">
                      <a:extLst>
                        <a:ext uri="{9D8B030D-6E8A-4147-A177-3AD203B41FA5}">
                          <a16:colId xmlns:a16="http://schemas.microsoft.com/office/drawing/2014/main" val="3476142927"/>
                        </a:ext>
                      </a:extLst>
                    </a:gridCol>
                    <a:gridCol w="220462">
                      <a:extLst>
                        <a:ext uri="{9D8B030D-6E8A-4147-A177-3AD203B41FA5}">
                          <a16:colId xmlns:a16="http://schemas.microsoft.com/office/drawing/2014/main" val="1396334188"/>
                        </a:ext>
                      </a:extLst>
                    </a:gridCol>
                    <a:gridCol w="344617">
                      <a:extLst>
                        <a:ext uri="{9D8B030D-6E8A-4147-A177-3AD203B41FA5}">
                          <a16:colId xmlns:a16="http://schemas.microsoft.com/office/drawing/2014/main" val="2978978417"/>
                        </a:ext>
                      </a:extLst>
                    </a:gridCol>
                    <a:gridCol w="316769">
                      <a:extLst>
                        <a:ext uri="{9D8B030D-6E8A-4147-A177-3AD203B41FA5}">
                          <a16:colId xmlns:a16="http://schemas.microsoft.com/office/drawing/2014/main" val="3064547975"/>
                        </a:ext>
                      </a:extLst>
                    </a:gridCol>
                    <a:gridCol w="506474">
                      <a:extLst>
                        <a:ext uri="{9D8B030D-6E8A-4147-A177-3AD203B41FA5}">
                          <a16:colId xmlns:a16="http://schemas.microsoft.com/office/drawing/2014/main" val="1863192475"/>
                        </a:ext>
                      </a:extLst>
                    </a:gridCol>
                    <a:gridCol w="340092">
                      <a:extLst>
                        <a:ext uri="{9D8B030D-6E8A-4147-A177-3AD203B41FA5}">
                          <a16:colId xmlns:a16="http://schemas.microsoft.com/office/drawing/2014/main" val="720974766"/>
                        </a:ext>
                      </a:extLst>
                    </a:gridCol>
                    <a:gridCol w="255744">
                      <a:extLst>
                        <a:ext uri="{9D8B030D-6E8A-4147-A177-3AD203B41FA5}">
                          <a16:colId xmlns:a16="http://schemas.microsoft.com/office/drawing/2014/main" val="2940898418"/>
                        </a:ext>
                      </a:extLst>
                    </a:gridCol>
                    <a:gridCol w="367436">
                      <a:extLst>
                        <a:ext uri="{9D8B030D-6E8A-4147-A177-3AD203B41FA5}">
                          <a16:colId xmlns:a16="http://schemas.microsoft.com/office/drawing/2014/main" val="3540488055"/>
                        </a:ext>
                      </a:extLst>
                    </a:gridCol>
                    <a:gridCol w="796175">
                      <a:extLst>
                        <a:ext uri="{9D8B030D-6E8A-4147-A177-3AD203B41FA5}">
                          <a16:colId xmlns:a16="http://schemas.microsoft.com/office/drawing/2014/main" val="750920784"/>
                        </a:ext>
                      </a:extLst>
                    </a:gridCol>
                    <a:gridCol w="715083">
                      <a:extLst>
                        <a:ext uri="{9D8B030D-6E8A-4147-A177-3AD203B41FA5}">
                          <a16:colId xmlns:a16="http://schemas.microsoft.com/office/drawing/2014/main" val="3374793549"/>
                        </a:ext>
                      </a:extLst>
                    </a:gridCol>
                    <a:gridCol w="278465">
                      <a:extLst>
                        <a:ext uri="{9D8B030D-6E8A-4147-A177-3AD203B41FA5}">
                          <a16:colId xmlns:a16="http://schemas.microsoft.com/office/drawing/2014/main" val="132511825"/>
                        </a:ext>
                      </a:extLst>
                    </a:gridCol>
                  </a:tblGrid>
                  <a:tr h="2880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Input</a:t>
                          </a: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Weight</a:t>
                          </a:r>
                        </a:p>
                      </a:txBody>
                      <a:tcPr marL="0" marR="0" marT="0" marB="0" anchor="ctr" anchorCtr="1">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Output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err="1">
                              <a:solidFill>
                                <a:schemeClr val="tx2">
                                  <a:lumMod val="50000"/>
                                </a:schemeClr>
                              </a:solidFill>
                              <a:latin typeface="+mn-lt"/>
                              <a:cs typeface="ADLaM Display" panose="02010000000000000000" pitchFamily="2" charset="0"/>
                            </a:rPr>
                            <a:t>ReLU</a:t>
                          </a:r>
                          <a:endParaRPr lang="en-US" altLang="zh-TW"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Error</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Loss</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Gradient Descent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647328" r="-124427" b="-538947"/>
                          </a:stretch>
                        </a:blipFill>
                      </a:tcPr>
                    </a:tc>
                    <a:tc rowSpan="2">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836752" r="-39316" b="-538947"/>
                          </a:stretch>
                        </a:blip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5495302"/>
                      </a:ext>
                    </a:extLst>
                  </a:tr>
                  <a:tr h="2880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dirty="0">
                              <a:solidFill>
                                <a:schemeClr val="tx2">
                                  <a:lumMod val="50000"/>
                                </a:schemeClr>
                              </a:solidFill>
                              <a:latin typeface="+mn-lt"/>
                              <a:cs typeface="ADLaM Display" panose="02010000000000000000" pitchFamily="2" charset="0"/>
                            </a:rPr>
                            <a:t>(x</a:t>
                          </a:r>
                          <a:r>
                            <a:rPr lang="en-US" altLang="zh-TW" sz="1200" b="0" baseline="-25000" dirty="0">
                              <a:solidFill>
                                <a:schemeClr val="tx2">
                                  <a:lumMod val="50000"/>
                                </a:schemeClr>
                              </a:solidFill>
                              <a:latin typeface="+mn-lt"/>
                              <a:cs typeface="ADLaM Display" panose="02010000000000000000" pitchFamily="2" charset="0"/>
                            </a:rPr>
                            <a:t>2</a:t>
                          </a:r>
                          <a:r>
                            <a:rPr lang="en-US" altLang="zh-TW" sz="1200" b="0" dirty="0">
                              <a:solidFill>
                                <a:schemeClr val="tx2">
                                  <a:lumMod val="50000"/>
                                </a:schemeClr>
                              </a:solidFill>
                              <a:latin typeface="+mn-lt"/>
                              <a:cs typeface="ADLaM Display" panose="02010000000000000000" pitchFamily="2" charset="0"/>
                            </a:rPr>
                            <a:t>, x</a:t>
                          </a:r>
                          <a:r>
                            <a:rPr lang="en-US" altLang="zh-TW" sz="1200" b="0" baseline="-25000" dirty="0">
                              <a:solidFill>
                                <a:schemeClr val="tx2">
                                  <a:lumMod val="50000"/>
                                </a:schemeClr>
                              </a:solidFill>
                              <a:latin typeface="+mn-lt"/>
                              <a:cs typeface="ADLaM Display" panose="02010000000000000000" pitchFamily="2" charset="0"/>
                            </a:rPr>
                            <a:t>1</a:t>
                          </a:r>
                          <a:r>
                            <a:rPr lang="en-US" altLang="zh-TW" sz="1200" b="0" dirty="0">
                              <a:solidFill>
                                <a:schemeClr val="tx2">
                                  <a:lumMod val="50000"/>
                                </a:schemeClr>
                              </a:solidFill>
                              <a:latin typeface="+mn-lt"/>
                              <a:cs typeface="ADLaM Display" panose="02010000000000000000" pitchFamily="2" charset="0"/>
                            </a:rPr>
                            <a:t>, 1)</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y</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a</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l-GR"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η</a:t>
                          </a: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a:t>
                          </a:r>
                          <a:r>
                            <a:rPr kumimoji="0" lang="en-US" altLang="zh-TW" sz="10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0.01;</a:t>
                          </a:r>
                          <a:endParaRPr lang="zh-TW" altLang="en-US" dirty="0"/>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6709" t="-97917" r="-186076" b="-1066667"/>
                          </a:stretch>
                        </a:blipFill>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506302406"/>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9638735"/>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650314"/>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10.1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2025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 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5267731"/>
                      </a:ext>
                    </a:extLst>
                  </a:tr>
                  <a:tr h="30507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457459"/>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3246358"/>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4.3</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1278001"/>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638640"/>
                      </a:ext>
                    </a:extLst>
                  </a:tr>
                  <a:tr h="365409">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15834297"/>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1107603"/>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-2.0</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718607"/>
                      </a:ext>
                    </a:extLst>
                  </a:tr>
                  <a:tr h="24265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-0.41</a:t>
                          </a: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3006322"/>
                      </a:ext>
                    </a:extLst>
                  </a:tr>
                  <a:tr h="381067">
                    <a:tc gridSpan="17">
                      <a:txBody>
                        <a:bodyPr/>
                        <a:lstStyle/>
                        <a:p>
                          <a:pPr algn="l"/>
                          <a:r>
                            <a:rPr lang="en-US" altLang="zh-TW" sz="1000" b="0" dirty="0">
                              <a:solidFill>
                                <a:schemeClr val="tx1"/>
                              </a:solidFill>
                              <a:latin typeface="ADLaM Display" panose="02010000000000000000" pitchFamily="2" charset="0"/>
                              <a:cs typeface="ADLaM Display" panose="02010000000000000000" pitchFamily="2" charset="0"/>
                            </a:rPr>
                            <a:t>… </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360000" marR="0" marT="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en-US" altLang="zh-TW"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970761"/>
                      </a:ext>
                    </a:extLst>
                  </a:tr>
                </a:tbl>
              </a:graphicData>
            </a:graphic>
          </p:graphicFrame>
        </mc:Fallback>
      </mc:AlternateContent>
      <p:sp>
        <p:nvSpPr>
          <p:cNvPr id="6" name="標題 1">
            <a:extLst>
              <a:ext uri="{FF2B5EF4-FFF2-40B4-BE49-F238E27FC236}">
                <a16:creationId xmlns:a16="http://schemas.microsoft.com/office/drawing/2014/main" id="{A39F0E86-405A-5B2E-22E4-96BE278CF5B3}"/>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Back Propagation</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Backpropagation is determined by the learning rate, input value and error term.</a:t>
            </a:r>
          </a:p>
        </p:txBody>
      </p:sp>
      <p:grpSp>
        <p:nvGrpSpPr>
          <p:cNvPr id="83" name="群組 82">
            <a:extLst>
              <a:ext uri="{FF2B5EF4-FFF2-40B4-BE49-F238E27FC236}">
                <a16:creationId xmlns:a16="http://schemas.microsoft.com/office/drawing/2014/main" id="{7399C8D1-E539-07B0-9E49-70916F21C3EB}"/>
              </a:ext>
            </a:extLst>
          </p:cNvPr>
          <p:cNvGrpSpPr/>
          <p:nvPr/>
        </p:nvGrpSpPr>
        <p:grpSpPr>
          <a:xfrm>
            <a:off x="7237101" y="2225824"/>
            <a:ext cx="1655379" cy="2098840"/>
            <a:chOff x="1688275" y="3861048"/>
            <a:chExt cx="1655379" cy="2098840"/>
          </a:xfrm>
        </p:grpSpPr>
        <p:grpSp>
          <p:nvGrpSpPr>
            <p:cNvPr id="82" name="群組 81">
              <a:extLst>
                <a:ext uri="{FF2B5EF4-FFF2-40B4-BE49-F238E27FC236}">
                  <a16:creationId xmlns:a16="http://schemas.microsoft.com/office/drawing/2014/main" id="{C4566A2E-254A-E44B-6576-C9CBB9F5A2B2}"/>
                </a:ext>
              </a:extLst>
            </p:cNvPr>
            <p:cNvGrpSpPr/>
            <p:nvPr/>
          </p:nvGrpSpPr>
          <p:grpSpPr>
            <a:xfrm>
              <a:off x="1870516" y="4210480"/>
              <a:ext cx="1473138" cy="1749408"/>
              <a:chOff x="1870516" y="4210480"/>
              <a:chExt cx="1473138" cy="1749408"/>
            </a:xfrm>
          </p:grpSpPr>
          <p:cxnSp>
            <p:nvCxnSpPr>
              <p:cNvPr id="79" name="直線單箭頭接點 78">
                <a:extLst>
                  <a:ext uri="{FF2B5EF4-FFF2-40B4-BE49-F238E27FC236}">
                    <a16:creationId xmlns:a16="http://schemas.microsoft.com/office/drawing/2014/main" id="{4C458C22-7F44-3DFD-A235-1704F25074B6}"/>
                  </a:ext>
                </a:extLst>
              </p:cNvPr>
              <p:cNvCxnSpPr>
                <a:cxnSpLocks/>
              </p:cNvCxnSpPr>
              <p:nvPr/>
            </p:nvCxnSpPr>
            <p:spPr>
              <a:xfrm flipV="1">
                <a:off x="2488505" y="4210480"/>
                <a:ext cx="0" cy="1738800"/>
              </a:xfrm>
              <a:prstGeom prst="straightConnector1">
                <a:avLst/>
              </a:prstGeom>
              <a:ln>
                <a:solidFill>
                  <a:schemeClr val="bg1">
                    <a:lumMod val="85000"/>
                  </a:schemeClr>
                </a:solidFill>
                <a:prstDash val="dash"/>
                <a:headEnd w="sm" len="sm"/>
                <a:tailEnd type="none" w="sm" len="med"/>
              </a:ln>
            </p:spPr>
            <p:style>
              <a:lnRef idx="1">
                <a:schemeClr val="accent1"/>
              </a:lnRef>
              <a:fillRef idx="0">
                <a:schemeClr val="accent1"/>
              </a:fillRef>
              <a:effectRef idx="0">
                <a:schemeClr val="accent1"/>
              </a:effectRef>
              <a:fontRef idx="minor">
                <a:schemeClr val="tx1"/>
              </a:fontRef>
            </p:style>
          </p:cxnSp>
          <p:cxnSp>
            <p:nvCxnSpPr>
              <p:cNvPr id="80" name="直線單箭頭接點 79">
                <a:extLst>
                  <a:ext uri="{FF2B5EF4-FFF2-40B4-BE49-F238E27FC236}">
                    <a16:creationId xmlns:a16="http://schemas.microsoft.com/office/drawing/2014/main" id="{E4FAE3A0-FC36-1DC5-47BB-B5058FF44380}"/>
                  </a:ext>
                </a:extLst>
              </p:cNvPr>
              <p:cNvCxnSpPr>
                <a:cxnSpLocks/>
              </p:cNvCxnSpPr>
              <p:nvPr/>
            </p:nvCxnSpPr>
            <p:spPr>
              <a:xfrm flipV="1">
                <a:off x="2843808" y="4210480"/>
                <a:ext cx="0" cy="1738800"/>
              </a:xfrm>
              <a:prstGeom prst="straightConnector1">
                <a:avLst/>
              </a:prstGeom>
              <a:ln>
                <a:solidFill>
                  <a:schemeClr val="bg1">
                    <a:lumMod val="85000"/>
                  </a:schemeClr>
                </a:solidFill>
                <a:prstDash val="dash"/>
                <a:headEnd w="sm" len="sm"/>
                <a:tailEnd type="none" w="sm" len="med"/>
              </a:ln>
            </p:spPr>
            <p:style>
              <a:lnRef idx="1">
                <a:schemeClr val="accent1"/>
              </a:lnRef>
              <a:fillRef idx="0">
                <a:schemeClr val="accent1"/>
              </a:fillRef>
              <a:effectRef idx="0">
                <a:schemeClr val="accent1"/>
              </a:effectRef>
              <a:fontRef idx="minor">
                <a:schemeClr val="tx1"/>
              </a:fontRef>
            </p:style>
          </p:cxnSp>
          <p:cxnSp>
            <p:nvCxnSpPr>
              <p:cNvPr id="4" name="直線單箭頭接點 3">
                <a:extLst>
                  <a:ext uri="{FF2B5EF4-FFF2-40B4-BE49-F238E27FC236}">
                    <a16:creationId xmlns:a16="http://schemas.microsoft.com/office/drawing/2014/main" id="{FF245A57-6C06-7DCB-67BA-353FA74DD111}"/>
                  </a:ext>
                </a:extLst>
              </p:cNvPr>
              <p:cNvCxnSpPr>
                <a:cxnSpLocks/>
              </p:cNvCxnSpPr>
              <p:nvPr/>
            </p:nvCxnSpPr>
            <p:spPr>
              <a:xfrm>
                <a:off x="1870516" y="5535078"/>
                <a:ext cx="1473138" cy="0"/>
              </a:xfrm>
              <a:prstGeom prst="straightConnector1">
                <a:avLst/>
              </a:prstGeom>
              <a:ln>
                <a:solidFill>
                  <a:schemeClr val="bg1">
                    <a:lumMod val="50000"/>
                  </a:schemeClr>
                </a:solidFill>
                <a:headEnd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5E230712-53E3-212F-209B-660328FDB890}"/>
                  </a:ext>
                </a:extLst>
              </p:cNvPr>
              <p:cNvCxnSpPr>
                <a:cxnSpLocks/>
              </p:cNvCxnSpPr>
              <p:nvPr/>
            </p:nvCxnSpPr>
            <p:spPr>
              <a:xfrm flipV="1">
                <a:off x="2051720" y="4221088"/>
                <a:ext cx="0" cy="1738800"/>
              </a:xfrm>
              <a:prstGeom prst="straightConnector1">
                <a:avLst/>
              </a:prstGeom>
              <a:ln>
                <a:solidFill>
                  <a:schemeClr val="bg1">
                    <a:lumMod val="50000"/>
                  </a:schemeClr>
                </a:solidFill>
                <a:headEnd w="sm" len="sm"/>
                <a:tailEnd type="triangle" w="sm" len="med"/>
              </a:ln>
            </p:spPr>
            <p:style>
              <a:lnRef idx="1">
                <a:schemeClr val="accent1"/>
              </a:lnRef>
              <a:fillRef idx="0">
                <a:schemeClr val="accent1"/>
              </a:fillRef>
              <a:effectRef idx="0">
                <a:schemeClr val="accent1"/>
              </a:effectRef>
              <a:fontRef idx="minor">
                <a:schemeClr val="tx1"/>
              </a:fontRef>
            </p:style>
          </p:cxnSp>
        </p:grpSp>
        <p:grpSp>
          <p:nvGrpSpPr>
            <p:cNvPr id="24" name="群組 23">
              <a:extLst>
                <a:ext uri="{FF2B5EF4-FFF2-40B4-BE49-F238E27FC236}">
                  <a16:creationId xmlns:a16="http://schemas.microsoft.com/office/drawing/2014/main" id="{9CD92A01-1942-9E37-BA34-71DDF77B67D4}"/>
                </a:ext>
              </a:extLst>
            </p:cNvPr>
            <p:cNvGrpSpPr/>
            <p:nvPr/>
          </p:nvGrpSpPr>
          <p:grpSpPr>
            <a:xfrm>
              <a:off x="1691680" y="5032226"/>
              <a:ext cx="1579966" cy="324145"/>
              <a:chOff x="1687320" y="4254766"/>
              <a:chExt cx="1579966" cy="324145"/>
            </a:xfrm>
          </p:grpSpPr>
          <p:cxnSp>
            <p:nvCxnSpPr>
              <p:cNvPr id="10" name="直線接點 9">
                <a:extLst>
                  <a:ext uri="{FF2B5EF4-FFF2-40B4-BE49-F238E27FC236}">
                    <a16:creationId xmlns:a16="http://schemas.microsoft.com/office/drawing/2014/main" id="{22CCF3E6-AE7A-A29D-FF65-AF3020C08A99}"/>
                  </a:ext>
                </a:extLst>
              </p:cNvPr>
              <p:cNvCxnSpPr>
                <a:cxnSpLocks/>
                <a:stCxn id="15" idx="3"/>
                <a:endCxn id="17" idx="2"/>
              </p:cNvCxnSpPr>
              <p:nvPr/>
            </p:nvCxnSpPr>
            <p:spPr>
              <a:xfrm flipV="1">
                <a:off x="2047360" y="4398782"/>
                <a:ext cx="376640" cy="108121"/>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86E9DEDA-83AC-61A5-02F7-83AB0CE03CBD}"/>
                  </a:ext>
                </a:extLst>
              </p:cNvPr>
              <p:cNvCxnSpPr>
                <a:cxnSpLocks/>
                <a:stCxn id="17" idx="2"/>
                <a:endCxn id="21" idx="1"/>
              </p:cNvCxnSpPr>
              <p:nvPr/>
            </p:nvCxnSpPr>
            <p:spPr>
              <a:xfrm flipV="1">
                <a:off x="2424000" y="4333654"/>
                <a:ext cx="483246" cy="65128"/>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7AFBB2D3-74D8-5146-994A-33582D351F3D}"/>
                  </a:ext>
                </a:extLst>
              </p:cNvPr>
              <p:cNvSpPr/>
              <p:nvPr/>
            </p:nvSpPr>
            <p:spPr>
              <a:xfrm>
                <a:off x="1687320" y="4434895"/>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1.5</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17" name="矩形 16">
                <a:extLst>
                  <a:ext uri="{FF2B5EF4-FFF2-40B4-BE49-F238E27FC236}">
                    <a16:creationId xmlns:a16="http://schemas.microsoft.com/office/drawing/2014/main" id="{5CD462E4-E129-7286-0FF2-3216E00749BE}"/>
                  </a:ext>
                </a:extLst>
              </p:cNvPr>
              <p:cNvSpPr/>
              <p:nvPr/>
            </p:nvSpPr>
            <p:spPr>
              <a:xfrm>
                <a:off x="2243980" y="425476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1.68</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21" name="矩形 20">
                <a:extLst>
                  <a:ext uri="{FF2B5EF4-FFF2-40B4-BE49-F238E27FC236}">
                    <a16:creationId xmlns:a16="http://schemas.microsoft.com/office/drawing/2014/main" id="{558F1E6E-9ED1-93C9-E374-CDA9F16CD020}"/>
                  </a:ext>
                </a:extLst>
              </p:cNvPr>
              <p:cNvSpPr/>
              <p:nvPr/>
            </p:nvSpPr>
            <p:spPr>
              <a:xfrm>
                <a:off x="2907246" y="426164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1.8</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25" name="群組 24">
              <a:extLst>
                <a:ext uri="{FF2B5EF4-FFF2-40B4-BE49-F238E27FC236}">
                  <a16:creationId xmlns:a16="http://schemas.microsoft.com/office/drawing/2014/main" id="{7C13D5C0-BFB9-1D18-36C6-348700006227}"/>
                </a:ext>
              </a:extLst>
            </p:cNvPr>
            <p:cNvGrpSpPr/>
            <p:nvPr/>
          </p:nvGrpSpPr>
          <p:grpSpPr>
            <a:xfrm>
              <a:off x="1688275" y="5464274"/>
              <a:ext cx="1515573" cy="263649"/>
              <a:chOff x="1671675" y="4436066"/>
              <a:chExt cx="1515573" cy="263649"/>
            </a:xfrm>
          </p:grpSpPr>
          <p:cxnSp>
            <p:nvCxnSpPr>
              <p:cNvPr id="26" name="直線接點 25">
                <a:extLst>
                  <a:ext uri="{FF2B5EF4-FFF2-40B4-BE49-F238E27FC236}">
                    <a16:creationId xmlns:a16="http://schemas.microsoft.com/office/drawing/2014/main" id="{D88D271C-3172-0C9E-0EC4-2AD331C3BCC8}"/>
                  </a:ext>
                </a:extLst>
              </p:cNvPr>
              <p:cNvCxnSpPr>
                <a:cxnSpLocks/>
                <a:stCxn id="28" idx="3"/>
                <a:endCxn id="29" idx="2"/>
              </p:cNvCxnSpPr>
              <p:nvPr/>
            </p:nvCxnSpPr>
            <p:spPr>
              <a:xfrm flipV="1">
                <a:off x="2031715" y="4580082"/>
                <a:ext cx="392285" cy="47625"/>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3C5298CE-67B6-1280-AF80-714130206165}"/>
                  </a:ext>
                </a:extLst>
              </p:cNvPr>
              <p:cNvCxnSpPr>
                <a:cxnSpLocks/>
                <a:stCxn id="29" idx="2"/>
                <a:endCxn id="30" idx="1"/>
              </p:cNvCxnSpPr>
              <p:nvPr/>
            </p:nvCxnSpPr>
            <p:spPr>
              <a:xfrm flipV="1">
                <a:off x="2424000" y="4543529"/>
                <a:ext cx="403208" cy="36553"/>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7B87B2C9-9B78-7946-6A9B-004A8794A5E4}"/>
                  </a:ext>
                </a:extLst>
              </p:cNvPr>
              <p:cNvSpPr/>
              <p:nvPr/>
            </p:nvSpPr>
            <p:spPr>
              <a:xfrm>
                <a:off x="1671675" y="4555699"/>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29" name="矩形 28">
                <a:extLst>
                  <a:ext uri="{FF2B5EF4-FFF2-40B4-BE49-F238E27FC236}">
                    <a16:creationId xmlns:a16="http://schemas.microsoft.com/office/drawing/2014/main" id="{1C157F29-5377-69B4-BB4C-C2DC5FF7F856}"/>
                  </a:ext>
                </a:extLst>
              </p:cNvPr>
              <p:cNvSpPr/>
              <p:nvPr/>
            </p:nvSpPr>
            <p:spPr>
              <a:xfrm>
                <a:off x="2243980" y="4436066"/>
                <a:ext cx="360040" cy="144016"/>
              </a:xfrm>
              <a:prstGeom prst="rect">
                <a:avLst/>
              </a:prstGeom>
              <a:solidFill>
                <a:schemeClr val="bg1">
                  <a:alpha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-0.23</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0" name="矩形 29">
                <a:extLst>
                  <a:ext uri="{FF2B5EF4-FFF2-40B4-BE49-F238E27FC236}">
                    <a16:creationId xmlns:a16="http://schemas.microsoft.com/office/drawing/2014/main" id="{A3263872-30EA-A867-D431-25E37983669F}"/>
                  </a:ext>
                </a:extLst>
              </p:cNvPr>
              <p:cNvSpPr/>
              <p:nvPr/>
            </p:nvSpPr>
            <p:spPr>
              <a:xfrm>
                <a:off x="2827208" y="447152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-0.05</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31" name="群組 30">
              <a:extLst>
                <a:ext uri="{FF2B5EF4-FFF2-40B4-BE49-F238E27FC236}">
                  <a16:creationId xmlns:a16="http://schemas.microsoft.com/office/drawing/2014/main" id="{1332AD67-294A-A8E6-1176-03B79D0A9AE6}"/>
                </a:ext>
              </a:extLst>
            </p:cNvPr>
            <p:cNvGrpSpPr/>
            <p:nvPr/>
          </p:nvGrpSpPr>
          <p:grpSpPr>
            <a:xfrm>
              <a:off x="1691680" y="5589240"/>
              <a:ext cx="1473360" cy="259457"/>
              <a:chOff x="1681200" y="4413450"/>
              <a:chExt cx="1473360" cy="259457"/>
            </a:xfrm>
          </p:grpSpPr>
          <p:cxnSp>
            <p:nvCxnSpPr>
              <p:cNvPr id="32" name="直線接點 31">
                <a:extLst>
                  <a:ext uri="{FF2B5EF4-FFF2-40B4-BE49-F238E27FC236}">
                    <a16:creationId xmlns:a16="http://schemas.microsoft.com/office/drawing/2014/main" id="{FD641E71-B7C6-D1EC-535F-DC522D98B380}"/>
                  </a:ext>
                </a:extLst>
              </p:cNvPr>
              <p:cNvCxnSpPr>
                <a:cxnSpLocks/>
                <a:stCxn id="34" idx="3"/>
                <a:endCxn id="35" idx="0"/>
              </p:cNvCxnSpPr>
              <p:nvPr/>
            </p:nvCxnSpPr>
            <p:spPr>
              <a:xfrm flipV="1">
                <a:off x="2041240" y="4500316"/>
                <a:ext cx="382760" cy="100583"/>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AEB5CDA9-16E5-7313-249E-C500C1AC7A6B}"/>
                  </a:ext>
                </a:extLst>
              </p:cNvPr>
              <p:cNvCxnSpPr>
                <a:cxnSpLocks/>
                <a:stCxn id="35" idx="0"/>
                <a:endCxn id="36" idx="1"/>
              </p:cNvCxnSpPr>
              <p:nvPr/>
            </p:nvCxnSpPr>
            <p:spPr>
              <a:xfrm flipV="1">
                <a:off x="2424000" y="4485458"/>
                <a:ext cx="370520" cy="14858"/>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0592B772-0B5D-2B66-BBE7-3A19FDB45343}"/>
                  </a:ext>
                </a:extLst>
              </p:cNvPr>
              <p:cNvSpPr/>
              <p:nvPr/>
            </p:nvSpPr>
            <p:spPr>
              <a:xfrm>
                <a:off x="1681200" y="452889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5" name="矩形 34">
                <a:extLst>
                  <a:ext uri="{FF2B5EF4-FFF2-40B4-BE49-F238E27FC236}">
                    <a16:creationId xmlns:a16="http://schemas.microsoft.com/office/drawing/2014/main" id="{E7AF7280-36D6-14C9-0A6C-54D50A89EA7E}"/>
                  </a:ext>
                </a:extLst>
              </p:cNvPr>
              <p:cNvSpPr/>
              <p:nvPr/>
            </p:nvSpPr>
            <p:spPr>
              <a:xfrm>
                <a:off x="2243980" y="450031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-0.59</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6" name="矩形 35">
                <a:extLst>
                  <a:ext uri="{FF2B5EF4-FFF2-40B4-BE49-F238E27FC236}">
                    <a16:creationId xmlns:a16="http://schemas.microsoft.com/office/drawing/2014/main" id="{CF31F6D1-1380-6E69-DD25-A8FFBF38CDDE}"/>
                  </a:ext>
                </a:extLst>
              </p:cNvPr>
              <p:cNvSpPr/>
              <p:nvPr/>
            </p:nvSpPr>
            <p:spPr>
              <a:xfrm>
                <a:off x="2794520" y="4413450"/>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-0.53</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66" name="群組 65">
              <a:extLst>
                <a:ext uri="{FF2B5EF4-FFF2-40B4-BE49-F238E27FC236}">
                  <a16:creationId xmlns:a16="http://schemas.microsoft.com/office/drawing/2014/main" id="{F74A8E59-D52B-271D-96C5-ACD6361D4D10}"/>
                </a:ext>
              </a:extLst>
            </p:cNvPr>
            <p:cNvGrpSpPr/>
            <p:nvPr/>
          </p:nvGrpSpPr>
          <p:grpSpPr>
            <a:xfrm>
              <a:off x="2267743" y="3861048"/>
              <a:ext cx="719727" cy="1511944"/>
              <a:chOff x="2196943" y="3838240"/>
              <a:chExt cx="787973" cy="930107"/>
            </a:xfrm>
          </p:grpSpPr>
          <p:cxnSp>
            <p:nvCxnSpPr>
              <p:cNvPr id="67" name="直線接點 66">
                <a:extLst>
                  <a:ext uri="{FF2B5EF4-FFF2-40B4-BE49-F238E27FC236}">
                    <a16:creationId xmlns:a16="http://schemas.microsoft.com/office/drawing/2014/main" id="{383999A8-90E7-A469-4A31-8FC89F92825E}"/>
                  </a:ext>
                </a:extLst>
              </p:cNvPr>
              <p:cNvCxnSpPr>
                <a:cxnSpLocks/>
                <a:stCxn id="69" idx="2"/>
                <a:endCxn id="70" idx="2"/>
              </p:cNvCxnSpPr>
              <p:nvPr/>
            </p:nvCxnSpPr>
            <p:spPr>
              <a:xfrm>
                <a:off x="2304668" y="3982256"/>
                <a:ext cx="119332" cy="387554"/>
              </a:xfrm>
              <a:prstGeom prst="line">
                <a:avLst/>
              </a:prstGeom>
              <a:ln w="1587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4B6ACD45-D925-A83F-BE8A-50760D35B843}"/>
                  </a:ext>
                </a:extLst>
              </p:cNvPr>
              <p:cNvCxnSpPr>
                <a:cxnSpLocks/>
                <a:stCxn id="70" idx="2"/>
                <a:endCxn id="71" idx="2"/>
              </p:cNvCxnSpPr>
              <p:nvPr/>
            </p:nvCxnSpPr>
            <p:spPr>
              <a:xfrm>
                <a:off x="2424000" y="4369810"/>
                <a:ext cx="380896" cy="398537"/>
              </a:xfrm>
              <a:prstGeom prst="line">
                <a:avLst/>
              </a:prstGeom>
              <a:ln w="1587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704DE2D3-1415-0AFE-9EE5-287061A393DE}"/>
                  </a:ext>
                </a:extLst>
              </p:cNvPr>
              <p:cNvSpPr/>
              <p:nvPr/>
            </p:nvSpPr>
            <p:spPr>
              <a:xfrm>
                <a:off x="2196943" y="3838240"/>
                <a:ext cx="21545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10</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70" name="矩形 69">
                <a:extLst>
                  <a:ext uri="{FF2B5EF4-FFF2-40B4-BE49-F238E27FC236}">
                    <a16:creationId xmlns:a16="http://schemas.microsoft.com/office/drawing/2014/main" id="{60383F97-3D3A-42DF-715E-6121EC2E707E}"/>
                  </a:ext>
                </a:extLst>
              </p:cNvPr>
              <p:cNvSpPr/>
              <p:nvPr/>
            </p:nvSpPr>
            <p:spPr>
              <a:xfrm>
                <a:off x="2243980" y="4225794"/>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4.3</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71" name="矩形 70">
                <a:extLst>
                  <a:ext uri="{FF2B5EF4-FFF2-40B4-BE49-F238E27FC236}">
                    <a16:creationId xmlns:a16="http://schemas.microsoft.com/office/drawing/2014/main" id="{E1F27AD9-0449-E8E7-2B83-38DBFEECBDA6}"/>
                  </a:ext>
                </a:extLst>
              </p:cNvPr>
              <p:cNvSpPr/>
              <p:nvPr/>
            </p:nvSpPr>
            <p:spPr>
              <a:xfrm>
                <a:off x="2624876" y="462433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1.1</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grpSp>
      </p:grpSp>
      <p:sp>
        <p:nvSpPr>
          <p:cNvPr id="136" name="文字方塊 135">
            <a:extLst>
              <a:ext uri="{FF2B5EF4-FFF2-40B4-BE49-F238E27FC236}">
                <a16:creationId xmlns:a16="http://schemas.microsoft.com/office/drawing/2014/main" id="{388AF234-2239-DC34-360E-2DF0EE082028}"/>
              </a:ext>
            </a:extLst>
          </p:cNvPr>
          <p:cNvSpPr txBox="1"/>
          <p:nvPr/>
        </p:nvSpPr>
        <p:spPr>
          <a:xfrm>
            <a:off x="287523" y="5360729"/>
            <a:ext cx="7323289" cy="1092607"/>
          </a:xfrm>
          <a:prstGeom prst="rect">
            <a:avLst/>
          </a:prstGeom>
          <a:noFill/>
        </p:spPr>
        <p:txBody>
          <a:bodyPr wrap="square">
            <a:spAutoFit/>
          </a:bodyPr>
          <a:lstStyle/>
          <a:p>
            <a:pPr>
              <a:lnSpc>
                <a:spcPts val="1800"/>
              </a:lnSpc>
              <a:spcBef>
                <a:spcPts val="600"/>
              </a:spcBef>
              <a:spcAft>
                <a:spcPts val="600"/>
              </a:spcAft>
            </a:pPr>
            <a:r>
              <a:rPr lang="en-US" altLang="zh-TW" sz="2000" b="1" dirty="0"/>
              <a:t>Why must we </a:t>
            </a:r>
            <a:r>
              <a:rPr lang="en-US" altLang="zh-TW" sz="2000" b="1" dirty="0">
                <a:solidFill>
                  <a:schemeClr val="accent6">
                    <a:lumMod val="75000"/>
                  </a:schemeClr>
                </a:solidFill>
              </a:rPr>
              <a:t>normalize</a:t>
            </a:r>
            <a:r>
              <a:rPr lang="en-US" altLang="zh-TW" sz="2000" b="1" dirty="0"/>
              <a:t> input?</a:t>
            </a:r>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Local Gradient</a:t>
            </a:r>
            <a:r>
              <a:rPr lang="en-US" altLang="zh-TW" sz="1600" dirty="0"/>
              <a:t>: Driving by input (x), not the weight value (w). </a:t>
            </a:r>
            <a:endParaRPr lang="zh-TW" altLang="en-US" sz="1400" dirty="0"/>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Error Amplification</a:t>
            </a:r>
            <a:r>
              <a:rPr lang="en-US" altLang="zh-TW" sz="1600" dirty="0"/>
              <a:t>:	 Large weights push more blame backward to previous layers.</a:t>
            </a:r>
          </a:p>
        </p:txBody>
      </p:sp>
      <p:grpSp>
        <p:nvGrpSpPr>
          <p:cNvPr id="2" name="群組 1">
            <a:extLst>
              <a:ext uri="{FF2B5EF4-FFF2-40B4-BE49-F238E27FC236}">
                <a16:creationId xmlns:a16="http://schemas.microsoft.com/office/drawing/2014/main" id="{1D64B100-2E30-3271-668F-C20F26FAF782}"/>
              </a:ext>
            </a:extLst>
          </p:cNvPr>
          <p:cNvGrpSpPr/>
          <p:nvPr/>
        </p:nvGrpSpPr>
        <p:grpSpPr>
          <a:xfrm>
            <a:off x="1534368" y="1891714"/>
            <a:ext cx="5653502" cy="3146580"/>
            <a:chOff x="1534368" y="1891714"/>
            <a:chExt cx="5653502" cy="3146580"/>
          </a:xfrm>
        </p:grpSpPr>
        <p:sp>
          <p:nvSpPr>
            <p:cNvPr id="85" name="矩形 84">
              <a:extLst>
                <a:ext uri="{FF2B5EF4-FFF2-40B4-BE49-F238E27FC236}">
                  <a16:creationId xmlns:a16="http://schemas.microsoft.com/office/drawing/2014/main" id="{B4007E10-EBE6-426F-0B1C-A491696B0EF8}"/>
                </a:ext>
              </a:extLst>
            </p:cNvPr>
            <p:cNvSpPr/>
            <p:nvPr/>
          </p:nvSpPr>
          <p:spPr>
            <a:xfrm>
              <a:off x="6372200" y="1975385"/>
              <a:ext cx="811744" cy="656515"/>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0" name="矩形 89">
              <a:extLst>
                <a:ext uri="{FF2B5EF4-FFF2-40B4-BE49-F238E27FC236}">
                  <a16:creationId xmlns:a16="http://schemas.microsoft.com/office/drawing/2014/main" id="{6CD609B9-5B43-4796-420B-A8E7CFC3C858}"/>
                </a:ext>
              </a:extLst>
            </p:cNvPr>
            <p:cNvSpPr/>
            <p:nvPr/>
          </p:nvSpPr>
          <p:spPr>
            <a:xfrm>
              <a:off x="1534369" y="2879312"/>
              <a:ext cx="661367" cy="661706"/>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91" name="接點: 肘形 90">
              <a:extLst>
                <a:ext uri="{FF2B5EF4-FFF2-40B4-BE49-F238E27FC236}">
                  <a16:creationId xmlns:a16="http://schemas.microsoft.com/office/drawing/2014/main" id="{80F4ED5D-B083-C928-CDAF-C3B22A2CD31E}"/>
                </a:ext>
              </a:extLst>
            </p:cNvPr>
            <p:cNvCxnSpPr>
              <a:cxnSpLocks/>
              <a:stCxn id="85" idx="2"/>
              <a:endCxn id="90" idx="0"/>
            </p:cNvCxnSpPr>
            <p:nvPr/>
          </p:nvCxnSpPr>
          <p:spPr>
            <a:xfrm rot="5400000">
              <a:off x="4197857" y="299097"/>
              <a:ext cx="247412" cy="4913019"/>
            </a:xfrm>
            <a:prstGeom prst="bentConnector3">
              <a:avLst>
                <a:gd name="adj1" fmla="val 50000"/>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05" name="矩形 104">
              <a:extLst>
                <a:ext uri="{FF2B5EF4-FFF2-40B4-BE49-F238E27FC236}">
                  <a16:creationId xmlns:a16="http://schemas.microsoft.com/office/drawing/2014/main" id="{12368C4E-5520-9E0A-DF10-92943D542206}"/>
                </a:ext>
              </a:extLst>
            </p:cNvPr>
            <p:cNvSpPr/>
            <p:nvPr/>
          </p:nvSpPr>
          <p:spPr>
            <a:xfrm>
              <a:off x="1534368" y="3856735"/>
              <a:ext cx="661367" cy="698848"/>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13" name="矩形 112">
              <a:extLst>
                <a:ext uri="{FF2B5EF4-FFF2-40B4-BE49-F238E27FC236}">
                  <a16:creationId xmlns:a16="http://schemas.microsoft.com/office/drawing/2014/main" id="{DF2E163F-10AA-854F-A9A9-B942B500958F}"/>
                </a:ext>
              </a:extLst>
            </p:cNvPr>
            <p:cNvSpPr/>
            <p:nvPr/>
          </p:nvSpPr>
          <p:spPr>
            <a:xfrm>
              <a:off x="6376126" y="2884502"/>
              <a:ext cx="811744" cy="656515"/>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14" name="接點: 肘形 113">
              <a:extLst>
                <a:ext uri="{FF2B5EF4-FFF2-40B4-BE49-F238E27FC236}">
                  <a16:creationId xmlns:a16="http://schemas.microsoft.com/office/drawing/2014/main" id="{ACD81FD0-4700-B89A-3E5A-E0320D607A2C}"/>
                </a:ext>
              </a:extLst>
            </p:cNvPr>
            <p:cNvCxnSpPr>
              <a:cxnSpLocks/>
              <a:stCxn id="113" idx="2"/>
              <a:endCxn id="105" idx="0"/>
            </p:cNvCxnSpPr>
            <p:nvPr/>
          </p:nvCxnSpPr>
          <p:spPr>
            <a:xfrm rot="5400000">
              <a:off x="4165666" y="1240403"/>
              <a:ext cx="315718" cy="4916946"/>
            </a:xfrm>
            <a:prstGeom prst="bentConnector3">
              <a:avLst>
                <a:gd name="adj1" fmla="val 50000"/>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19" name="矩形 118">
              <a:extLst>
                <a:ext uri="{FF2B5EF4-FFF2-40B4-BE49-F238E27FC236}">
                  <a16:creationId xmlns:a16="http://schemas.microsoft.com/office/drawing/2014/main" id="{C4DEB458-CBE9-6747-CD5A-BEADD6693165}"/>
                </a:ext>
              </a:extLst>
            </p:cNvPr>
            <p:cNvSpPr/>
            <p:nvPr/>
          </p:nvSpPr>
          <p:spPr>
            <a:xfrm>
              <a:off x="6376126" y="3856735"/>
              <a:ext cx="807818" cy="698848"/>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20" name="接點: 肘形 119">
              <a:extLst>
                <a:ext uri="{FF2B5EF4-FFF2-40B4-BE49-F238E27FC236}">
                  <a16:creationId xmlns:a16="http://schemas.microsoft.com/office/drawing/2014/main" id="{FE29745A-9102-4E5E-A4F0-1539A62BAD12}"/>
                </a:ext>
              </a:extLst>
            </p:cNvPr>
            <p:cNvCxnSpPr>
              <a:cxnSpLocks/>
              <a:stCxn id="119" idx="2"/>
            </p:cNvCxnSpPr>
            <p:nvPr/>
          </p:nvCxnSpPr>
          <p:spPr>
            <a:xfrm rot="5400000">
              <a:off x="6512876" y="4498654"/>
              <a:ext cx="210230" cy="324088"/>
            </a:xfrm>
            <a:prstGeom prst="bentConnector2">
              <a:avLst/>
            </a:prstGeom>
            <a:ln w="19050">
              <a:solidFill>
                <a:schemeClr val="accent2">
                  <a:lumMod val="60000"/>
                  <a:lumOff val="40000"/>
                </a:schemeClr>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39" name="語音泡泡: 圓角矩形 138">
              <a:extLst>
                <a:ext uri="{FF2B5EF4-FFF2-40B4-BE49-F238E27FC236}">
                  <a16:creationId xmlns:a16="http://schemas.microsoft.com/office/drawing/2014/main" id="{D1F42533-73DB-57E0-AF01-D7B592868FD3}"/>
                </a:ext>
              </a:extLst>
            </p:cNvPr>
            <p:cNvSpPr/>
            <p:nvPr/>
          </p:nvSpPr>
          <p:spPr>
            <a:xfrm>
              <a:off x="4268897" y="4653136"/>
              <a:ext cx="807159" cy="385158"/>
            </a:xfrm>
            <a:prstGeom prst="wedgeRoundRectCallout">
              <a:avLst>
                <a:gd name="adj1" fmla="val 23189"/>
                <a:gd name="adj2" fmla="val -91676"/>
                <a:gd name="adj3" fmla="val 16667"/>
              </a:avLst>
            </a:prstGeom>
            <a:solidFill>
              <a:schemeClr val="bg1">
                <a:alpha val="7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Gradient</a:t>
              </a:r>
            </a:p>
          </p:txBody>
        </p:sp>
        <p:sp>
          <p:nvSpPr>
            <p:cNvPr id="142" name="語音泡泡: 圓角矩形 141">
              <a:extLst>
                <a:ext uri="{FF2B5EF4-FFF2-40B4-BE49-F238E27FC236}">
                  <a16:creationId xmlns:a16="http://schemas.microsoft.com/office/drawing/2014/main" id="{EC7B9D75-BCBF-1657-3C50-796DE3E4E306}"/>
                </a:ext>
              </a:extLst>
            </p:cNvPr>
            <p:cNvSpPr/>
            <p:nvPr/>
          </p:nvSpPr>
          <p:spPr>
            <a:xfrm>
              <a:off x="5220072" y="4653136"/>
              <a:ext cx="807159" cy="385158"/>
            </a:xfrm>
            <a:prstGeom prst="wedgeRoundRectCallout">
              <a:avLst>
                <a:gd name="adj1" fmla="val -21182"/>
                <a:gd name="adj2" fmla="val -95633"/>
                <a:gd name="adj3" fmla="val 16667"/>
              </a:avLst>
            </a:prstGeom>
            <a:solidFill>
              <a:schemeClr val="bg1">
                <a:alpha val="7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Global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Gradient</a:t>
              </a:r>
            </a:p>
          </p:txBody>
        </p:sp>
        <p:cxnSp>
          <p:nvCxnSpPr>
            <p:cNvPr id="8" name="接點: 弧形 7">
              <a:extLst>
                <a:ext uri="{FF2B5EF4-FFF2-40B4-BE49-F238E27FC236}">
                  <a16:creationId xmlns:a16="http://schemas.microsoft.com/office/drawing/2014/main" id="{AAE85CC9-64E7-F678-B3AA-8556C48407C3}"/>
                </a:ext>
              </a:extLst>
            </p:cNvPr>
            <p:cNvCxnSpPr>
              <a:cxnSpLocks/>
              <a:stCxn id="18" idx="0"/>
              <a:endCxn id="11" idx="0"/>
            </p:cNvCxnSpPr>
            <p:nvPr/>
          </p:nvCxnSpPr>
          <p:spPr>
            <a:xfrm rot="5400000" flipH="1" flipV="1">
              <a:off x="3364049" y="1895509"/>
              <a:ext cx="12700" cy="610344"/>
            </a:xfrm>
            <a:prstGeom prst="curvedConnector3">
              <a:avLst>
                <a:gd name="adj1" fmla="val 1800000"/>
              </a:avLst>
            </a:prstGeom>
            <a:ln>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圓角 10">
              <a:extLst>
                <a:ext uri="{FF2B5EF4-FFF2-40B4-BE49-F238E27FC236}">
                  <a16:creationId xmlns:a16="http://schemas.microsoft.com/office/drawing/2014/main" id="{92E1E562-E816-CECA-7CEB-A55F9B8AFC70}"/>
                </a:ext>
              </a:extLst>
            </p:cNvPr>
            <p:cNvSpPr/>
            <p:nvPr/>
          </p:nvSpPr>
          <p:spPr>
            <a:xfrm>
              <a:off x="3505200" y="2200681"/>
              <a:ext cx="328042" cy="195653"/>
            </a:xfrm>
            <a:prstGeom prst="roundRect">
              <a:avLst/>
            </a:prstGeom>
            <a:no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200" dirty="0">
                <a:solidFill>
                  <a:schemeClr val="tx1"/>
                </a:solidFill>
              </a:endParaRPr>
            </a:p>
          </p:txBody>
        </p:sp>
        <p:sp>
          <p:nvSpPr>
            <p:cNvPr id="18" name="矩形: 圓角 17">
              <a:extLst>
                <a:ext uri="{FF2B5EF4-FFF2-40B4-BE49-F238E27FC236}">
                  <a16:creationId xmlns:a16="http://schemas.microsoft.com/office/drawing/2014/main" id="{9C70D630-F7E9-4788-7CAD-70E94E42B6E4}"/>
                </a:ext>
              </a:extLst>
            </p:cNvPr>
            <p:cNvSpPr/>
            <p:nvPr/>
          </p:nvSpPr>
          <p:spPr>
            <a:xfrm>
              <a:off x="2894856" y="2200681"/>
              <a:ext cx="328042" cy="195653"/>
            </a:xfrm>
            <a:prstGeom prst="roundRect">
              <a:avLst/>
            </a:prstGeom>
            <a:no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200" dirty="0">
                <a:solidFill>
                  <a:schemeClr val="tx1"/>
                </a:solidFill>
              </a:endParaRPr>
            </a:p>
          </p:txBody>
        </p:sp>
        <p:sp>
          <p:nvSpPr>
            <p:cNvPr id="5" name="矩形: 圓角 4">
              <a:extLst>
                <a:ext uri="{FF2B5EF4-FFF2-40B4-BE49-F238E27FC236}">
                  <a16:creationId xmlns:a16="http://schemas.microsoft.com/office/drawing/2014/main" id="{DD0DE01E-6BC0-5760-EA9A-71C40FFAEED3}"/>
                </a:ext>
              </a:extLst>
            </p:cNvPr>
            <p:cNvSpPr/>
            <p:nvPr/>
          </p:nvSpPr>
          <p:spPr>
            <a:xfrm>
              <a:off x="3190528" y="1891714"/>
              <a:ext cx="373360" cy="225799"/>
            </a:xfrm>
            <a:prstGeom prst="roundRect">
              <a:avLst/>
            </a:prstGeom>
            <a:solidFill>
              <a:schemeClr val="accent3">
                <a:lumMod val="20000"/>
                <a:lumOff val="80000"/>
                <a:alpha val="70000"/>
              </a:schemeClr>
            </a:solidFill>
            <a:ln w="254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b="1" dirty="0">
                  <a:solidFill>
                    <a:schemeClr val="tx1"/>
                  </a:solidFill>
                </a:rPr>
                <a:t>Y</a:t>
              </a:r>
              <a:r>
                <a:rPr lang="en-US" altLang="zh-TW" sz="1200" b="1" baseline="-25000" dirty="0">
                  <a:solidFill>
                    <a:schemeClr val="tx1"/>
                  </a:solidFill>
                </a:rPr>
                <a:t>t</a:t>
              </a:r>
              <a:r>
                <a:rPr lang="en-US" altLang="zh-TW" sz="1200" baseline="-25000" dirty="0">
                  <a:solidFill>
                    <a:schemeClr val="tx1"/>
                  </a:solidFill>
                </a:rPr>
                <a:t> </a:t>
              </a:r>
              <a:r>
                <a:rPr lang="en-US" altLang="zh-TW" sz="1200" dirty="0">
                  <a:solidFill>
                    <a:schemeClr val="tx1"/>
                  </a:solidFill>
                </a:rPr>
                <a:t>= 5</a:t>
              </a:r>
              <a:endParaRPr lang="zh-TW" altLang="en-US" sz="1200" dirty="0">
                <a:solidFill>
                  <a:schemeClr val="tx1"/>
                </a:solidFill>
              </a:endParaRPr>
            </a:p>
          </p:txBody>
        </p:sp>
      </p:grpSp>
    </p:spTree>
    <p:extLst>
      <p:ext uri="{BB962C8B-B14F-4D97-AF65-F5344CB8AC3E}">
        <p14:creationId xmlns:p14="http://schemas.microsoft.com/office/powerpoint/2010/main" val="14394868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C70CB-AA63-3B06-E356-844364904785}"/>
            </a:ext>
          </a:extLst>
        </p:cNvPr>
        <p:cNvGrpSpPr/>
        <p:nvPr/>
      </p:nvGrpSpPr>
      <p:grpSpPr>
        <a:xfrm>
          <a:off x="0" y="0"/>
          <a:ext cx="0" cy="0"/>
          <a:chOff x="0" y="0"/>
          <a:chExt cx="0" cy="0"/>
        </a:xfrm>
      </p:grpSpPr>
      <p:sp>
        <p:nvSpPr>
          <p:cNvPr id="109" name="標題 1">
            <a:extLst>
              <a:ext uri="{FF2B5EF4-FFF2-40B4-BE49-F238E27FC236}">
                <a16:creationId xmlns:a16="http://schemas.microsoft.com/office/drawing/2014/main" id="{96B9C5F0-B157-F2C0-DB21-FB6B55A298D6}"/>
              </a:ext>
            </a:extLst>
          </p:cNvPr>
          <p:cNvSpPr txBox="1">
            <a:spLocks/>
          </p:cNvSpPr>
          <p:nvPr/>
        </p:nvSpPr>
        <p:spPr>
          <a:xfrm>
            <a:off x="179512" y="116632"/>
            <a:ext cx="5328592"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Ecosystem</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Edge AI: Tiny Models, Lower Computing, Higher Privacy.</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3" name="圖片 2">
            <a:extLst>
              <a:ext uri="{FF2B5EF4-FFF2-40B4-BE49-F238E27FC236}">
                <a16:creationId xmlns:a16="http://schemas.microsoft.com/office/drawing/2014/main" id="{5C35A110-4772-E137-E4A2-FFDEC2A65AAC}"/>
              </a:ext>
            </a:extLst>
          </p:cNvPr>
          <p:cNvPicPr>
            <a:picLocks noChangeAspect="1"/>
          </p:cNvPicPr>
          <p:nvPr/>
        </p:nvPicPr>
        <p:blipFill>
          <a:blip r:embed="rId3"/>
          <a:stretch>
            <a:fillRect/>
          </a:stretch>
        </p:blipFill>
        <p:spPr>
          <a:xfrm>
            <a:off x="2389711" y="1259487"/>
            <a:ext cx="1878451" cy="1115566"/>
          </a:xfrm>
          <a:prstGeom prst="rect">
            <a:avLst/>
          </a:prstGeom>
          <a:effectLst>
            <a:glow>
              <a:schemeClr val="accent6">
                <a:satMod val="175000"/>
                <a:alpha val="20000"/>
              </a:schemeClr>
            </a:glow>
            <a:softEdge rad="101600"/>
          </a:effectLst>
        </p:spPr>
      </p:pic>
      <p:graphicFrame>
        <p:nvGraphicFramePr>
          <p:cNvPr id="9" name="表格 8">
            <a:extLst>
              <a:ext uri="{FF2B5EF4-FFF2-40B4-BE49-F238E27FC236}">
                <a16:creationId xmlns:a16="http://schemas.microsoft.com/office/drawing/2014/main" id="{2492F1F6-1F01-FB71-AB4A-86E65CF2A610}"/>
              </a:ext>
            </a:extLst>
          </p:cNvPr>
          <p:cNvGraphicFramePr>
            <a:graphicFrameLocks noGrp="1"/>
          </p:cNvGraphicFramePr>
          <p:nvPr>
            <p:extLst>
              <p:ext uri="{D42A27DB-BD31-4B8C-83A1-F6EECF244321}">
                <p14:modId xmlns:p14="http://schemas.microsoft.com/office/powerpoint/2010/main" val="1065151015"/>
              </p:ext>
            </p:extLst>
          </p:nvPr>
        </p:nvGraphicFramePr>
        <p:xfrm>
          <a:off x="5796138" y="3193339"/>
          <a:ext cx="2082198" cy="1243773"/>
        </p:xfrm>
        <a:graphic>
          <a:graphicData uri="http://schemas.openxmlformats.org/drawingml/2006/table">
            <a:tbl>
              <a:tblPr firstRow="1" bandRow="1">
                <a:tableStyleId>{5C22544A-7EE6-4342-B048-85BDC9FD1C3A}</a:tableStyleId>
              </a:tblPr>
              <a:tblGrid>
                <a:gridCol w="2082198">
                  <a:extLst>
                    <a:ext uri="{9D8B030D-6E8A-4147-A177-3AD203B41FA5}">
                      <a16:colId xmlns:a16="http://schemas.microsoft.com/office/drawing/2014/main" val="4512040"/>
                    </a:ext>
                  </a:extLst>
                </a:gridCol>
              </a:tblGrid>
              <a:tr h="3927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Cloud Infrastructure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lumMod val="75000"/>
                            </a:schemeClr>
                          </a:solidFill>
                          <a:effectLst/>
                          <a:uLnTx/>
                          <a:uFillTx/>
                          <a:latin typeface="+mn-lt"/>
                          <a:ea typeface="+mn-ea"/>
                          <a:cs typeface="+mn-cs"/>
                        </a:rPr>
                        <a:t>Training and Reasoning</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6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r>
                        <a:rPr kumimoji="0" lang="en-US" altLang="zh-TW" sz="1200" b="0" i="0" u="none" strike="noStrike" kern="1200" cap="none" spc="0" normalizeH="0" baseline="0" noProof="0" dirty="0">
                          <a:ln w="0"/>
                          <a:solidFill>
                            <a:schemeClr val="accent2"/>
                          </a:solidFill>
                          <a:effectLst/>
                          <a:uLnTx/>
                          <a:uFillTx/>
                          <a:latin typeface="+mn-lt"/>
                          <a:ea typeface="+mn-ea"/>
                          <a:cs typeface="+mn-cs"/>
                        </a:rPr>
                        <a:t>Blackwell</a:t>
                      </a:r>
                      <a:r>
                        <a:rPr kumimoji="0" lang="en-US" altLang="zh-TW" sz="1200" b="0" i="0" u="none" strike="noStrike" kern="1200" cap="none" spc="0" normalizeH="0" baseline="0" noProof="0" dirty="0">
                          <a:ln w="0"/>
                          <a:solidFill>
                            <a:schemeClr val="tx1"/>
                          </a:solidFill>
                          <a:effectLst/>
                          <a:uLnTx/>
                          <a:uFillTx/>
                          <a:latin typeface="+mn-lt"/>
                          <a:ea typeface="+mn-ea"/>
                          <a:cs typeface="+mn-cs"/>
                        </a:rPr>
                        <a:t>,</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TensorRT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6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AMD </a:t>
                      </a:r>
                      <a:r>
                        <a:rPr kumimoji="0" lang="en-US" altLang="zh-TW" sz="1200" b="0" i="0" u="none" strike="noStrike" kern="1200" cap="none" spc="0" normalizeH="0" baseline="0" noProof="0" dirty="0">
                          <a:ln w="0"/>
                          <a:solidFill>
                            <a:schemeClr val="accent2"/>
                          </a:solidFill>
                          <a:effectLst/>
                          <a:uLnTx/>
                          <a:uFillTx/>
                          <a:latin typeface="+mn-lt"/>
                          <a:ea typeface="+mn-ea"/>
                          <a:cs typeface="+mn-cs"/>
                        </a:rPr>
                        <a:t>Instinct</a:t>
                      </a:r>
                      <a:r>
                        <a:rPr kumimoji="0" lang="en-US" altLang="zh-TW" sz="1200" b="0" i="0" u="none" strike="noStrike" kern="1200" cap="none" spc="0" normalizeH="0" baseline="0" noProof="0" dirty="0">
                          <a:ln w="0"/>
                          <a:solidFill>
                            <a:schemeClr val="tx1"/>
                          </a:solidFill>
                          <a:effectLst/>
                          <a:uLnTx/>
                          <a:uFillTx/>
                          <a:latin typeface="+mn-lt"/>
                          <a:ea typeface="+mn-ea"/>
                          <a:cs typeface="+mn-cs"/>
                        </a:rPr>
                        <a:t>, ROCm</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62610432"/>
                  </a:ext>
                </a:extLst>
              </a:tr>
              <a:tr h="229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Google </a:t>
                      </a:r>
                      <a:r>
                        <a:rPr kumimoji="0" lang="en-US" altLang="zh-TW" sz="1200" b="0" i="0" u="none" strike="noStrike" kern="1200" cap="none" spc="0" normalizeH="0" baseline="0" noProof="0" dirty="0">
                          <a:ln w="0"/>
                          <a:solidFill>
                            <a:schemeClr val="accent2"/>
                          </a:solidFill>
                          <a:effectLst/>
                          <a:uLnTx/>
                          <a:uFillTx/>
                          <a:latin typeface="+mn-lt"/>
                          <a:ea typeface="+mn-ea"/>
                          <a:cs typeface="+mn-cs"/>
                        </a:rPr>
                        <a:t>Trillium(v6e)</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r>
                        <a:rPr kumimoji="0" lang="en-US" altLang="zh-TW" sz="1400" b="1" i="0" u="none" strike="noStrike" kern="1200" cap="none" spc="0" normalizeH="0" baseline="0" noProof="0" dirty="0">
                          <a:ln w="0"/>
                          <a:solidFill>
                            <a:schemeClr val="tx1"/>
                          </a:solidFill>
                          <a:effectLst/>
                          <a:uLnTx/>
                          <a:uFillTx/>
                          <a:latin typeface="+mn-lt"/>
                          <a:ea typeface="+mn-ea"/>
                          <a:cs typeface="+mn-cs"/>
                        </a:rPr>
                        <a:t>|</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rPr>
                        <a:t>TPU 8i</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84411595"/>
                  </a:ext>
                </a:extLst>
              </a:tr>
              <a:tr h="229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AWS ASIC </a:t>
                      </a:r>
                      <a:r>
                        <a:rPr kumimoji="0" lang="en-US" altLang="zh-TW" sz="1400" b="1" i="0" u="none" strike="noStrike" kern="1200" cap="none" spc="0" normalizeH="0" baseline="0" noProof="0" dirty="0">
                          <a:ln w="0"/>
                          <a:solidFill>
                            <a:prstClr val="black"/>
                          </a:solidFill>
                          <a:effectLst/>
                          <a:uLnTx/>
                          <a:uFillTx/>
                          <a:latin typeface="+mn-lt"/>
                          <a:ea typeface="+mn-ea"/>
                          <a:cs typeface="+mn-cs"/>
                        </a:rPr>
                        <a:t>|</a:t>
                      </a:r>
                      <a:r>
                        <a:rPr kumimoji="0" lang="en-US" altLang="zh-TW" sz="1200" b="0" i="0" u="none" strike="noStrike" kern="1200" cap="none" spc="0" normalizeH="0" baseline="0" noProof="0" dirty="0">
                          <a:ln w="0"/>
                          <a:solidFill>
                            <a:schemeClr val="tx2">
                              <a:lumMod val="75000"/>
                            </a:schemeClr>
                          </a:solidFill>
                          <a:effectLst/>
                          <a:uLnTx/>
                          <a:uFillTx/>
                          <a:latin typeface="+mn-lt"/>
                          <a:ea typeface="+mn-ea"/>
                          <a:cs typeface="+mn-cs"/>
                        </a:rPr>
                        <a:t> </a:t>
                      </a:r>
                      <a:r>
                        <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rPr>
                        <a:t>Inferentia2(Inf2)</a:t>
                      </a:r>
                      <a:r>
                        <a:rPr kumimoji="0" lang="en-US" altLang="zh-TW" sz="1200" b="0" i="0" u="none" strike="noStrike" kern="1200" cap="none" spc="0" normalizeH="0" baseline="0" noProof="0" dirty="0">
                          <a:ln w="0"/>
                          <a:solidFill>
                            <a:prstClr val="black"/>
                          </a:solidFill>
                          <a:effectLst/>
                          <a:uLnTx/>
                          <a:uFillTx/>
                          <a:latin typeface="+mn-lt"/>
                          <a:ea typeface="+mn-ea"/>
                          <a:cs typeface="+mn-cs"/>
                        </a:rPr>
                        <a:t>, -</a:t>
                      </a:r>
                      <a:endPar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72740898"/>
                  </a:ext>
                </a:extLst>
              </a:tr>
            </a:tbl>
          </a:graphicData>
        </a:graphic>
      </p:graphicFrame>
      <p:graphicFrame>
        <p:nvGraphicFramePr>
          <p:cNvPr id="12" name="表格 11">
            <a:extLst>
              <a:ext uri="{FF2B5EF4-FFF2-40B4-BE49-F238E27FC236}">
                <a16:creationId xmlns:a16="http://schemas.microsoft.com/office/drawing/2014/main" id="{CE258954-F26A-A436-1EB0-1C871A0C7D0E}"/>
              </a:ext>
            </a:extLst>
          </p:cNvPr>
          <p:cNvGraphicFramePr>
            <a:graphicFrameLocks noGrp="1"/>
          </p:cNvGraphicFramePr>
          <p:nvPr>
            <p:extLst>
              <p:ext uri="{D42A27DB-BD31-4B8C-83A1-F6EECF244321}">
                <p14:modId xmlns:p14="http://schemas.microsoft.com/office/powerpoint/2010/main" val="3034914990"/>
              </p:ext>
            </p:extLst>
          </p:nvPr>
        </p:nvGraphicFramePr>
        <p:xfrm>
          <a:off x="5796138" y="4718928"/>
          <a:ext cx="2082198" cy="1730385"/>
        </p:xfrm>
        <a:graphic>
          <a:graphicData uri="http://schemas.openxmlformats.org/drawingml/2006/table">
            <a:tbl>
              <a:tblPr firstRow="1" bandRow="1">
                <a:tableStyleId>{5C22544A-7EE6-4342-B048-85BDC9FD1C3A}</a:tableStyleId>
              </a:tblPr>
              <a:tblGrid>
                <a:gridCol w="2082198">
                  <a:extLst>
                    <a:ext uri="{9D8B030D-6E8A-4147-A177-3AD203B41FA5}">
                      <a16:colId xmlns:a16="http://schemas.microsoft.com/office/drawing/2014/main" val="4512040"/>
                    </a:ext>
                  </a:extLst>
                </a:gridCol>
              </a:tblGrid>
              <a:tr h="3845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AI</a:t>
                      </a:r>
                      <a:r>
                        <a:rPr kumimoji="0" lang="zh-TW" altLang="en-US" sz="1400" b="1" i="0" u="none" strike="noStrike" kern="1200" cap="none" spc="0" normalizeH="0" baseline="0" noProof="0" dirty="0">
                          <a:ln w="0"/>
                          <a:solidFill>
                            <a:prstClr val="black"/>
                          </a:solidFill>
                          <a:effectLst/>
                          <a:uLnTx/>
                          <a:uFillTx/>
                          <a:latin typeface="+mn-lt"/>
                          <a:ea typeface="+mn-ea"/>
                          <a:cs typeface="+mn-cs"/>
                        </a:rPr>
                        <a:t> </a:t>
                      </a:r>
                      <a:r>
                        <a:rPr kumimoji="0" lang="en-US" altLang="zh-TW" sz="1400" b="1" i="0" u="none" strike="noStrike" kern="1200" cap="none" spc="0" normalizeH="0" baseline="0" noProof="0" dirty="0">
                          <a:ln w="0"/>
                          <a:solidFill>
                            <a:prstClr val="black"/>
                          </a:solidFill>
                          <a:effectLst/>
                          <a:uLnTx/>
                          <a:uFillTx/>
                          <a:latin typeface="+mn-lt"/>
                          <a:ea typeface="+mn-ea"/>
                          <a:cs typeface="+mn-cs"/>
                        </a:rPr>
                        <a:t>PC</a:t>
                      </a:r>
                      <a:r>
                        <a:rPr kumimoji="0" lang="zh-TW" altLang="en-US" sz="1400" b="1" i="0" u="none" strike="noStrike" kern="1200" cap="none" spc="0" normalizeH="0" baseline="0" noProof="0" dirty="0">
                          <a:ln w="0"/>
                          <a:solidFill>
                            <a:prstClr val="black"/>
                          </a:solidFill>
                          <a:effectLst/>
                          <a:uLnTx/>
                          <a:uFillTx/>
                          <a:latin typeface="+mn-lt"/>
                          <a:ea typeface="+mn-ea"/>
                          <a:cs typeface="+mn-cs"/>
                        </a:rPr>
                        <a:t> </a:t>
                      </a:r>
                      <a:r>
                        <a:rPr kumimoji="0" lang="en-US" altLang="zh-TW" sz="1400" b="1" i="0" u="none" strike="noStrike" kern="1200" cap="none" spc="0" normalizeH="0" baseline="0" noProof="0" dirty="0">
                          <a:ln w="0"/>
                          <a:solidFill>
                            <a:prstClr val="black"/>
                          </a:solidFill>
                          <a:effectLst/>
                          <a:uLnTx/>
                          <a:uFillTx/>
                          <a:latin typeface="+mn-lt"/>
                          <a:ea typeface="+mn-ea"/>
                          <a:cs typeface="+mn-cs"/>
                        </a:rPr>
                        <a:t>Environment</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GeForce</a:t>
                      </a:r>
                      <a:r>
                        <a:rPr kumimoji="0" lang="en-US" altLang="zh-TW" sz="1200" b="0" i="0" u="none" strike="noStrike" kern="1200" cap="none" spc="0" normalizeH="0" baseline="0" noProof="0" dirty="0">
                          <a:ln w="0"/>
                          <a:solidFill>
                            <a:schemeClr val="tx1"/>
                          </a:solidFill>
                          <a:effectLst/>
                          <a:uLnTx/>
                          <a:uFillTx/>
                          <a:latin typeface="+mn-lt"/>
                          <a:ea typeface="+mn-ea"/>
                          <a:cs typeface="+mn-cs"/>
                        </a:rPr>
                        <a:t>, CUDA</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AMD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Ryzen</a:t>
                      </a:r>
                      <a:r>
                        <a:rPr kumimoji="0" lang="en-US" altLang="zh-TW" sz="1200" b="0" i="0" u="none" strike="noStrike" kern="1200" cap="none" spc="0" normalizeH="0" baseline="0" noProof="0" dirty="0">
                          <a:ln w="0"/>
                          <a:solidFill>
                            <a:schemeClr val="tx1"/>
                          </a:solidFill>
                          <a:effectLst/>
                          <a:uLnTx/>
                          <a:uFillTx/>
                          <a:latin typeface="+mn-lt"/>
                          <a:ea typeface="+mn-ea"/>
                          <a:cs typeface="+mn-cs"/>
                        </a:rPr>
                        <a:t> AI,</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XDNA</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62610432"/>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Intel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Core Ultra</a:t>
                      </a:r>
                      <a:r>
                        <a:rPr kumimoji="0" lang="en-US" altLang="zh-TW" sz="1200" b="0" i="0" u="none" strike="noStrike" kern="1200" cap="none" spc="0" normalizeH="0" baseline="0" noProof="0" dirty="0">
                          <a:ln w="0"/>
                          <a:solidFill>
                            <a:schemeClr val="tx1"/>
                          </a:solidFill>
                          <a:effectLst/>
                          <a:uLnTx/>
                          <a:uFillTx/>
                          <a:latin typeface="+mn-lt"/>
                          <a:ea typeface="+mn-ea"/>
                          <a:cs typeface="+mn-cs"/>
                        </a:rPr>
                        <a:t>,</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OpenVINO</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78085204"/>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Apple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M4/M3</a:t>
                      </a:r>
                      <a:r>
                        <a:rPr kumimoji="0" lang="en-US" altLang="zh-TW" sz="1200" b="0" i="0" u="none" strike="noStrike" kern="1200" cap="none" spc="0" normalizeH="0" baseline="0" noProof="0" dirty="0">
                          <a:ln w="0"/>
                          <a:solidFill>
                            <a:schemeClr val="tx1"/>
                          </a:solidFill>
                          <a:effectLst/>
                          <a:uLnTx/>
                          <a:uFillTx/>
                          <a:latin typeface="+mn-lt"/>
                          <a:ea typeface="+mn-ea"/>
                          <a:cs typeface="+mn-cs"/>
                        </a:rPr>
                        <a:t>, Core ML + MLX</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655826721"/>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Qualcomm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Hexagon</a:t>
                      </a:r>
                      <a:r>
                        <a:rPr kumimoji="0" lang="en-US" altLang="zh-TW" sz="1200" b="0" i="0" u="none" strike="noStrike" kern="1200" cap="none" spc="0" normalizeH="0" baseline="0" noProof="0" dirty="0">
                          <a:ln w="0"/>
                          <a:solidFill>
                            <a:schemeClr val="tx1"/>
                          </a:solidFill>
                          <a:effectLst/>
                          <a:uLnTx/>
                          <a:uFillTx/>
                          <a:latin typeface="+mn-lt"/>
                          <a:ea typeface="+mn-ea"/>
                          <a:cs typeface="+mn-cs"/>
                        </a:rPr>
                        <a:t>, QNN SDK</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43686885"/>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MS, - , </a:t>
                      </a:r>
                      <a:r>
                        <a:rPr kumimoji="0" lang="en-US" altLang="zh-TW" sz="1200" b="1" i="0" u="none" strike="noStrike" kern="1200" cap="none" spc="0" normalizeH="0" baseline="0" noProof="0" dirty="0">
                          <a:ln w="0"/>
                          <a:solidFill>
                            <a:schemeClr val="tx2">
                              <a:lumMod val="75000"/>
                            </a:schemeClr>
                          </a:solidFill>
                          <a:effectLst/>
                          <a:uLnTx/>
                          <a:uFillTx/>
                          <a:latin typeface="+mn-lt"/>
                          <a:ea typeface="+mn-ea"/>
                          <a:cs typeface="+mn-cs"/>
                        </a:rPr>
                        <a:t>ONNX</a:t>
                      </a:r>
                      <a:r>
                        <a:rPr kumimoji="0" lang="en-US" altLang="zh-TW" sz="1200" b="0" i="0" u="none" strike="noStrike" kern="1200" cap="none" spc="0" normalizeH="0" baseline="0" noProof="0" dirty="0">
                          <a:ln w="0"/>
                          <a:solidFill>
                            <a:schemeClr val="tx1"/>
                          </a:solidFill>
                          <a:effectLst/>
                          <a:uLnTx/>
                          <a:uFillTx/>
                          <a:latin typeface="+mn-lt"/>
                          <a:ea typeface="+mn-ea"/>
                          <a:cs typeface="+mn-cs"/>
                        </a:rPr>
                        <a:t> Runtime (ORT)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070332360"/>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Ollama, - , </a:t>
                      </a:r>
                      <a:r>
                        <a:rPr kumimoji="0" lang="en-US" altLang="zh-TW" sz="1200" b="1" i="0" u="none" strike="noStrike" kern="1200" cap="none" spc="0" normalizeH="0" baseline="0" noProof="0" dirty="0">
                          <a:ln w="0"/>
                          <a:solidFill>
                            <a:schemeClr val="tx2">
                              <a:lumMod val="75000"/>
                            </a:schemeClr>
                          </a:solidFill>
                          <a:effectLst/>
                          <a:uLnTx/>
                          <a:uFillTx/>
                          <a:latin typeface="+mn-lt"/>
                          <a:ea typeface="+mn-ea"/>
                          <a:cs typeface="+mn-cs"/>
                        </a:rPr>
                        <a:t>GGUF </a:t>
                      </a:r>
                      <a:endParaRPr kumimoji="0" lang="en-US" altLang="zh-TW" sz="1200" b="0" i="0" u="none" strike="noStrike" kern="1200" cap="none" spc="0" normalizeH="0" baseline="0" noProof="0" dirty="0">
                        <a:ln w="0"/>
                        <a:solidFill>
                          <a:schemeClr val="tx1"/>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54957636"/>
                  </a:ext>
                </a:extLst>
              </a:tr>
            </a:tbl>
          </a:graphicData>
        </a:graphic>
      </p:graphicFrame>
      <p:graphicFrame>
        <p:nvGraphicFramePr>
          <p:cNvPr id="4" name="表格 3">
            <a:extLst>
              <a:ext uri="{FF2B5EF4-FFF2-40B4-BE49-F238E27FC236}">
                <a16:creationId xmlns:a16="http://schemas.microsoft.com/office/drawing/2014/main" id="{64358141-6F02-5B5E-6D28-A7966D51A20E}"/>
              </a:ext>
            </a:extLst>
          </p:cNvPr>
          <p:cNvGraphicFramePr>
            <a:graphicFrameLocks noGrp="1"/>
          </p:cNvGraphicFramePr>
          <p:nvPr>
            <p:extLst>
              <p:ext uri="{D42A27DB-BD31-4B8C-83A1-F6EECF244321}">
                <p14:modId xmlns:p14="http://schemas.microsoft.com/office/powerpoint/2010/main" val="2125186809"/>
              </p:ext>
            </p:extLst>
          </p:nvPr>
        </p:nvGraphicFramePr>
        <p:xfrm>
          <a:off x="1888779" y="2699647"/>
          <a:ext cx="2880316" cy="1134149"/>
        </p:xfrm>
        <a:graphic>
          <a:graphicData uri="http://schemas.openxmlformats.org/drawingml/2006/table">
            <a:tbl>
              <a:tblPr firstRow="1" bandRow="1">
                <a:tableStyleId>{5C22544A-7EE6-4342-B048-85BDC9FD1C3A}</a:tableStyleId>
              </a:tblPr>
              <a:tblGrid>
                <a:gridCol w="720079">
                  <a:extLst>
                    <a:ext uri="{9D8B030D-6E8A-4147-A177-3AD203B41FA5}">
                      <a16:colId xmlns:a16="http://schemas.microsoft.com/office/drawing/2014/main" val="4512040"/>
                    </a:ext>
                  </a:extLst>
                </a:gridCol>
                <a:gridCol w="720079">
                  <a:extLst>
                    <a:ext uri="{9D8B030D-6E8A-4147-A177-3AD203B41FA5}">
                      <a16:colId xmlns:a16="http://schemas.microsoft.com/office/drawing/2014/main" val="684415633"/>
                    </a:ext>
                  </a:extLst>
                </a:gridCol>
                <a:gridCol w="720079">
                  <a:extLst>
                    <a:ext uri="{9D8B030D-6E8A-4147-A177-3AD203B41FA5}">
                      <a16:colId xmlns:a16="http://schemas.microsoft.com/office/drawing/2014/main" val="2477666515"/>
                    </a:ext>
                  </a:extLst>
                </a:gridCol>
                <a:gridCol w="720079">
                  <a:extLst>
                    <a:ext uri="{9D8B030D-6E8A-4147-A177-3AD203B41FA5}">
                      <a16:colId xmlns:a16="http://schemas.microsoft.com/office/drawing/2014/main" val="93325886"/>
                    </a:ext>
                  </a:extLst>
                </a:gridCol>
              </a:tblGrid>
              <a:tr h="267766">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Training Framework</a:t>
                      </a:r>
                      <a:endParaRPr lang="en-US" altLang="zh-TW" sz="10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tc hMerge="1">
                  <a:txBody>
                    <a:bodyPr/>
                    <a:lstStyle/>
                    <a:p>
                      <a:endParaRPr lang="zh-TW" altLang="en-US"/>
                    </a:p>
                  </a:txBody>
                  <a:tcPr>
                    <a:lnL w="12700" cmpd="sng">
                      <a:noFill/>
                    </a:ln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4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303812410"/>
                  </a:ext>
                </a:extLst>
              </a:tr>
              <a:tr h="220443">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6">
                              <a:lumMod val="75000"/>
                            </a:schemeClr>
                          </a:solidFill>
                          <a:effectLst/>
                        </a:rPr>
                        <a:t>PyTorch</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hMerge="1">
                  <a:txBody>
                    <a:bodyPr/>
                    <a:lstStyle/>
                    <a:p>
                      <a:endParaRPr lang="zh-TW" altLang="en-US"/>
                    </a:p>
                  </a:txBody>
                  <a:tcPr/>
                </a:tc>
                <a:tc hMerge="1">
                  <a:txBody>
                    <a:bodyPr/>
                    <a:lstStyle/>
                    <a:p>
                      <a:endParaRPr lang="zh-TW" altLang="en-US"/>
                    </a:p>
                  </a:txBody>
                  <a:tcP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rgbClr val="3079EF"/>
                          </a:solidFill>
                          <a:effectLst/>
                        </a:rPr>
                        <a:t>JAX/XLA</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3895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Meta: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TorchTitan</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DeepSpeed</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NV:</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Megatron-LM</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3">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Google: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MaxText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20000"/>
                        <a:lumOff val="80000"/>
                      </a:schemeClr>
                    </a:solidFill>
                  </a:tcPr>
                </a:tc>
                <a:extLst>
                  <a:ext uri="{0D108BD9-81ED-4DB2-BD59-A6C34878D82A}">
                    <a16:rowId xmlns:a16="http://schemas.microsoft.com/office/drawing/2014/main" val="3618650565"/>
                  </a:ext>
                </a:extLst>
              </a:tr>
              <a:tr h="256343">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GPU (CUDA C++ / Triton)</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2"/>
                    </a:solidFill>
                  </a:tcPr>
                </a:tc>
                <a:tc hMerge="1">
                  <a:txBody>
                    <a:bodyPr/>
                    <a:lstStyle/>
                    <a:p>
                      <a:endParaRPr lang="zh-TW" altLang="en-US"/>
                    </a:p>
                  </a:txBody>
                  <a:tcPr/>
                </a:tc>
                <a:tc hMerge="1">
                  <a:txBody>
                    <a:bodyPr/>
                    <a:lstStyle/>
                    <a:p>
                      <a:endParaRPr lang="zh-TW" altLang="en-US"/>
                    </a:p>
                  </a:txBody>
                  <a:tcP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TPU</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20000"/>
                        <a:lumOff val="80000"/>
                      </a:schemeClr>
                    </a:solidFill>
                  </a:tcPr>
                </a:tc>
                <a:extLst>
                  <a:ext uri="{0D108BD9-81ED-4DB2-BD59-A6C34878D82A}">
                    <a16:rowId xmlns:a16="http://schemas.microsoft.com/office/drawing/2014/main" val="165671214"/>
                  </a:ext>
                </a:extLst>
              </a:tr>
            </a:tbl>
          </a:graphicData>
        </a:graphic>
      </p:graphicFrame>
      <p:graphicFrame>
        <p:nvGraphicFramePr>
          <p:cNvPr id="16" name="表格 15">
            <a:extLst>
              <a:ext uri="{FF2B5EF4-FFF2-40B4-BE49-F238E27FC236}">
                <a16:creationId xmlns:a16="http://schemas.microsoft.com/office/drawing/2014/main" id="{D59EB19D-AF26-7917-73C3-6FF66FA34243}"/>
              </a:ext>
            </a:extLst>
          </p:cNvPr>
          <p:cNvGraphicFramePr>
            <a:graphicFrameLocks noGrp="1"/>
          </p:cNvGraphicFramePr>
          <p:nvPr>
            <p:extLst>
              <p:ext uri="{D42A27DB-BD31-4B8C-83A1-F6EECF244321}">
                <p14:modId xmlns:p14="http://schemas.microsoft.com/office/powerpoint/2010/main" val="3888378369"/>
              </p:ext>
            </p:extLst>
          </p:nvPr>
        </p:nvGraphicFramePr>
        <p:xfrm>
          <a:off x="1893264" y="4164002"/>
          <a:ext cx="2877378" cy="633150"/>
        </p:xfrm>
        <a:graphic>
          <a:graphicData uri="http://schemas.openxmlformats.org/drawingml/2006/table">
            <a:tbl>
              <a:tblPr firstRow="1" bandRow="1">
                <a:tableStyleId>{5C22544A-7EE6-4342-B048-85BDC9FD1C3A}</a:tableStyleId>
              </a:tblPr>
              <a:tblGrid>
                <a:gridCol w="959126">
                  <a:extLst>
                    <a:ext uri="{9D8B030D-6E8A-4147-A177-3AD203B41FA5}">
                      <a16:colId xmlns:a16="http://schemas.microsoft.com/office/drawing/2014/main" val="4512040"/>
                    </a:ext>
                  </a:extLst>
                </a:gridCol>
                <a:gridCol w="783506">
                  <a:extLst>
                    <a:ext uri="{9D8B030D-6E8A-4147-A177-3AD203B41FA5}">
                      <a16:colId xmlns:a16="http://schemas.microsoft.com/office/drawing/2014/main" val="2315159871"/>
                    </a:ext>
                  </a:extLst>
                </a:gridCol>
                <a:gridCol w="1134746">
                  <a:extLst>
                    <a:ext uri="{9D8B030D-6E8A-4147-A177-3AD203B41FA5}">
                      <a16:colId xmlns:a16="http://schemas.microsoft.com/office/drawing/2014/main" val="280693898"/>
                    </a:ext>
                  </a:extLst>
                </a:gridCol>
              </a:tblGrid>
              <a:tr h="260384">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Inference Engine</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tx2">
                        <a:lumMod val="20000"/>
                        <a:lumOff val="80000"/>
                        <a:alpha val="80000"/>
                      </a:schemeClr>
                    </a:solidFill>
                  </a:tcPr>
                </a:tc>
                <a:tc hMerge="1">
                  <a:txBody>
                    <a:bodyPr/>
                    <a:lstStyle/>
                    <a:p>
                      <a:endParaRPr lang="zh-TW" alt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1"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15531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1" i="0" u="none" strike="noStrike" kern="1200" cap="none" spc="0" normalizeH="0" baseline="0" noProof="0" dirty="0">
                          <a:ln w="0"/>
                          <a:solidFill>
                            <a:schemeClr val="tx2"/>
                          </a:solidFill>
                          <a:effectLst/>
                          <a:uLnTx/>
                          <a:uFillTx/>
                          <a:latin typeface="+mn-lt"/>
                          <a:ea typeface="Batang" panose="02030600000101010101" pitchFamily="18" charset="-127"/>
                          <a:cs typeface="+mn-cs"/>
                        </a:rPr>
                        <a:t>UC Berkeley</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9525" cap="flat" cmpd="sng" algn="ctr">
                      <a:solidFill>
                        <a:schemeClr val="accent1">
                          <a:lumMod val="20000"/>
                          <a:lumOff val="80000"/>
                        </a:schemeClr>
                      </a:solidFill>
                      <a:prstDash val="solid"/>
                      <a:round/>
                      <a:headEnd type="none" w="med" len="med"/>
                      <a:tailEnd type="none" w="med" len="med"/>
                    </a:lnB>
                    <a:lnTlToBr w="12700" cmpd="sng">
                      <a:noFill/>
                      <a:prstDash val="solid"/>
                    </a:lnTlToBr>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TensorRT-LLM</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3">
                        <a:lumMod val="40000"/>
                        <a:lumOff val="60000"/>
                      </a:schemeClr>
                    </a:solidFill>
                  </a:tcPr>
                </a:tc>
                <a:extLst>
                  <a:ext uri="{0D108BD9-81ED-4DB2-BD59-A6C34878D82A}">
                    <a16:rowId xmlns:a16="http://schemas.microsoft.com/office/drawing/2014/main" val="1642474553"/>
                  </a:ext>
                </a:extLst>
              </a:tr>
              <a:tr h="2174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vLLM</a:t>
                      </a:r>
                    </a:p>
                  </a:txBody>
                  <a:tcPr marL="0" marR="0" marT="0" marB="0" anchor="ctr" anchorCtr="1">
                    <a:lnL w="3175" cap="flat" cmpd="sng" algn="ctr">
                      <a:noFill/>
                      <a:prstDash val="solid"/>
                      <a:round/>
                      <a:headEnd type="none" w="med" len="med"/>
                      <a:tailEnd type="none" w="med" len="med"/>
                    </a:lnL>
                    <a:lnR w="12700" cmpd="sng">
                      <a:noFill/>
                    </a:lnR>
                    <a:lnT w="9525" cap="flat" cmpd="sng" algn="ctr">
                      <a:solidFill>
                        <a:schemeClr val="accent1">
                          <a:lumMod val="20000"/>
                          <a:lumOff val="8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60000"/>
                        <a:lumOff val="4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SGLang</a:t>
                      </a:r>
                    </a:p>
                  </a:txBody>
                  <a:tcPr marL="0" marR="0" marT="0" marB="0" anchor="ctr" anchorCtr="1">
                    <a:lnL w="3175" cap="flat" cmpd="sng" algn="ctr">
                      <a:noFill/>
                      <a:prstDash val="solid"/>
                      <a:round/>
                      <a:headEnd type="none" w="med" len="med"/>
                      <a:tailEnd type="none" w="med" len="med"/>
                    </a:lnL>
                    <a:lnR w="12700" cmpd="sng">
                      <a:noFill/>
                    </a:lnR>
                    <a:lnT w="9525" cap="flat" cmpd="sng" algn="ctr">
                      <a:solidFill>
                        <a:schemeClr val="accent1">
                          <a:lumMod val="20000"/>
                          <a:lumOff val="8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FFF00">
                        <a:alpha val="20000"/>
                      </a:srgbClr>
                    </a:solidFill>
                  </a:tcPr>
                </a:tc>
                <a:tc vMerge="1">
                  <a:txBody>
                    <a:bodyPr/>
                    <a:lstStyle/>
                    <a:p>
                      <a:endParaRPr lang="zh-TW" altLang="en-US"/>
                    </a:p>
                  </a:txBody>
                  <a:tcPr/>
                </a:tc>
                <a:extLst>
                  <a:ext uri="{0D108BD9-81ED-4DB2-BD59-A6C34878D82A}">
                    <a16:rowId xmlns:a16="http://schemas.microsoft.com/office/drawing/2014/main" val="2602182"/>
                  </a:ext>
                </a:extLst>
              </a:tr>
            </a:tbl>
          </a:graphicData>
        </a:graphic>
      </p:graphicFrame>
      <p:graphicFrame>
        <p:nvGraphicFramePr>
          <p:cNvPr id="22" name="表格 21">
            <a:extLst>
              <a:ext uri="{FF2B5EF4-FFF2-40B4-BE49-F238E27FC236}">
                <a16:creationId xmlns:a16="http://schemas.microsoft.com/office/drawing/2014/main" id="{B31F93D4-D1CD-5EE1-CCAA-59E43176F416}"/>
              </a:ext>
            </a:extLst>
          </p:cNvPr>
          <p:cNvGraphicFramePr>
            <a:graphicFrameLocks noGrp="1"/>
          </p:cNvGraphicFramePr>
          <p:nvPr>
            <p:extLst>
              <p:ext uri="{D42A27DB-BD31-4B8C-83A1-F6EECF244321}">
                <p14:modId xmlns:p14="http://schemas.microsoft.com/office/powerpoint/2010/main" val="2855625594"/>
              </p:ext>
            </p:extLst>
          </p:nvPr>
        </p:nvGraphicFramePr>
        <p:xfrm>
          <a:off x="5796137" y="728512"/>
          <a:ext cx="2088231" cy="2194560"/>
        </p:xfrm>
        <a:graphic>
          <a:graphicData uri="http://schemas.openxmlformats.org/drawingml/2006/table">
            <a:tbl>
              <a:tblPr firstRow="1" bandRow="1">
                <a:tableStyleId>{5C22544A-7EE6-4342-B048-85BDC9FD1C3A}</a:tableStyleId>
              </a:tblPr>
              <a:tblGrid>
                <a:gridCol w="2088231">
                  <a:extLst>
                    <a:ext uri="{9D8B030D-6E8A-4147-A177-3AD203B41FA5}">
                      <a16:colId xmlns:a16="http://schemas.microsoft.com/office/drawing/2014/main" val="4512040"/>
                    </a:ext>
                  </a:extLst>
                </a:gridCol>
              </a:tblGrid>
              <a:tr h="32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AI Frontier Models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accent1"/>
                          </a:solidFill>
                          <a:effectLst/>
                        </a:rPr>
                        <a:t>(MMLU, Throughput, TTFT, ITL)</a:t>
                      </a:r>
                    </a:p>
                  </a:txBody>
                  <a:tcPr marR="0" marT="0" marB="0" anchor="ctr">
                    <a:lnL w="3175"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815099"/>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Anthropic – Fable 5</a:t>
                      </a:r>
                    </a:p>
                  </a:txBody>
                  <a:tcPr marR="0" marT="0" marB="0" anchor="ctr">
                    <a:lnL w="3175"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OpenAI – GPT 5</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Google – Gemini 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90475292"/>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 Llama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76359884"/>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SpaceXAI</a:t>
                      </a:r>
                      <a:r>
                        <a:rPr lang="zh-TW" altLang="en-US" sz="1200" b="0" cap="none" spc="0" dirty="0">
                          <a:ln w="0"/>
                          <a:solidFill>
                            <a:schemeClr val="tx1"/>
                          </a:solidFill>
                          <a:effectLst/>
                        </a:rPr>
                        <a:t> </a:t>
                      </a:r>
                      <a:r>
                        <a:rPr lang="en-US" altLang="zh-TW" sz="1200" b="0" cap="none" spc="0" dirty="0">
                          <a:ln w="0"/>
                          <a:solidFill>
                            <a:schemeClr val="tx1"/>
                          </a:solidFill>
                          <a:effectLst/>
                        </a:rPr>
                        <a:t>–</a:t>
                      </a:r>
                      <a:r>
                        <a:rPr lang="zh-TW" altLang="en-US" sz="1200" b="0" cap="none" spc="0" dirty="0">
                          <a:ln w="0"/>
                          <a:solidFill>
                            <a:schemeClr val="tx1"/>
                          </a:solidFill>
                          <a:effectLst/>
                        </a:rPr>
                        <a:t> </a:t>
                      </a:r>
                      <a:r>
                        <a:rPr lang="en-US" altLang="zh-TW" sz="1200" b="0" cap="none" spc="0" dirty="0">
                          <a:ln w="0"/>
                          <a:solidFill>
                            <a:schemeClr val="tx1"/>
                          </a:solidFill>
                          <a:effectLst/>
                        </a:rPr>
                        <a:t>Grok 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841383449"/>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DeepSeek – V4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11109267"/>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Zhipu AI – GLM 5</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53373323"/>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Moonshot AI – Kimi K3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632884864"/>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Mistral AI – Pixtral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38269145"/>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Amazon – Nova</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486604265"/>
                  </a:ext>
                </a:extLst>
              </a:tr>
            </a:tbl>
          </a:graphicData>
        </a:graphic>
      </p:graphicFrame>
      <p:cxnSp>
        <p:nvCxnSpPr>
          <p:cNvPr id="37" name="直線單箭頭接點 36">
            <a:extLst>
              <a:ext uri="{FF2B5EF4-FFF2-40B4-BE49-F238E27FC236}">
                <a16:creationId xmlns:a16="http://schemas.microsoft.com/office/drawing/2014/main" id="{A1AFF9D2-7EC7-2AE0-2438-DE71FB19CAB1}"/>
              </a:ext>
            </a:extLst>
          </p:cNvPr>
          <p:cNvCxnSpPr>
            <a:cxnSpLocks/>
            <a:stCxn id="4" idx="2"/>
            <a:endCxn id="16" idx="0"/>
          </p:cNvCxnSpPr>
          <p:nvPr/>
        </p:nvCxnSpPr>
        <p:spPr>
          <a:xfrm>
            <a:off x="3328937" y="3833796"/>
            <a:ext cx="3016" cy="330206"/>
          </a:xfrm>
          <a:prstGeom prst="straightConnector1">
            <a:avLst/>
          </a:prstGeom>
          <a:ln w="25400">
            <a:solidFill>
              <a:schemeClr val="tx2">
                <a:lumMod val="60000"/>
                <a:lumOff val="4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6EBBFA59-4D72-87FB-DE2F-F1F9FDCD6B30}"/>
              </a:ext>
            </a:extLst>
          </p:cNvPr>
          <p:cNvCxnSpPr>
            <a:cxnSpLocks/>
            <a:stCxn id="3" idx="2"/>
            <a:endCxn id="4" idx="0"/>
          </p:cNvCxnSpPr>
          <p:nvPr/>
        </p:nvCxnSpPr>
        <p:spPr>
          <a:xfrm>
            <a:off x="3328937" y="2375053"/>
            <a:ext cx="0" cy="324594"/>
          </a:xfrm>
          <a:prstGeom prst="straightConnector1">
            <a:avLst/>
          </a:prstGeom>
          <a:ln w="25400">
            <a:solidFill>
              <a:schemeClr val="accent2"/>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53" name="表格 52">
            <a:extLst>
              <a:ext uri="{FF2B5EF4-FFF2-40B4-BE49-F238E27FC236}">
                <a16:creationId xmlns:a16="http://schemas.microsoft.com/office/drawing/2014/main" id="{5D78BAB3-D1A1-B6F0-AF00-BE6E1C510D26}"/>
              </a:ext>
            </a:extLst>
          </p:cNvPr>
          <p:cNvGraphicFramePr>
            <a:graphicFrameLocks noGrp="1"/>
          </p:cNvGraphicFramePr>
          <p:nvPr>
            <p:extLst>
              <p:ext uri="{D42A27DB-BD31-4B8C-83A1-F6EECF244321}">
                <p14:modId xmlns:p14="http://schemas.microsoft.com/office/powerpoint/2010/main" val="2561945640"/>
              </p:ext>
            </p:extLst>
          </p:nvPr>
        </p:nvGraphicFramePr>
        <p:xfrm>
          <a:off x="1891717" y="5219927"/>
          <a:ext cx="2877378" cy="762000"/>
        </p:xfrm>
        <a:graphic>
          <a:graphicData uri="http://schemas.openxmlformats.org/drawingml/2006/table">
            <a:tbl>
              <a:tblPr firstRow="1" bandRow="1">
                <a:tableStyleId>{5C22544A-7EE6-4342-B048-85BDC9FD1C3A}</a:tableStyleId>
              </a:tblPr>
              <a:tblGrid>
                <a:gridCol w="1438689">
                  <a:extLst>
                    <a:ext uri="{9D8B030D-6E8A-4147-A177-3AD203B41FA5}">
                      <a16:colId xmlns:a16="http://schemas.microsoft.com/office/drawing/2014/main" val="4512040"/>
                    </a:ext>
                  </a:extLst>
                </a:gridCol>
                <a:gridCol w="1438689">
                  <a:extLst>
                    <a:ext uri="{9D8B030D-6E8A-4147-A177-3AD203B41FA5}">
                      <a16:colId xmlns:a16="http://schemas.microsoft.com/office/drawing/2014/main" val="2560395032"/>
                    </a:ext>
                  </a:extLst>
                </a:gridCol>
              </a:tblGrid>
              <a:tr h="16215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AI PC Application</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5">
                        <a:lumMod val="20000"/>
                        <a:lumOff val="80000"/>
                        <a:alpha val="40000"/>
                      </a:schemeClr>
                    </a:solidFill>
                  </a:tcPr>
                </a:tc>
                <a:tc hMerge="1">
                  <a:txBody>
                    <a:bodyPr/>
                    <a:lstStyle/>
                    <a:p>
                      <a:endParaRPr lang="zh-TW" altLang="en-US"/>
                    </a:p>
                  </a:txBody>
                  <a:tcPr/>
                </a:tc>
                <a:extLst>
                  <a:ext uri="{0D108BD9-81ED-4DB2-BD59-A6C34878D82A}">
                    <a16:rowId xmlns:a16="http://schemas.microsoft.com/office/drawing/2014/main" val="1311258892"/>
                  </a:ext>
                </a:extLst>
              </a:tr>
              <a:tr h="1389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Agent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SDK</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938014660"/>
                  </a:ext>
                </a:extLst>
              </a:tr>
              <a:tr h="2779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OpenClaw,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Hermes</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CrewAI, LangGraph, Langflow, AG2, Dify</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lumMod val="95000"/>
                      </a:schemeClr>
                    </a:solidFill>
                  </a:tcPr>
                </a:tc>
                <a:extLst>
                  <a:ext uri="{0D108BD9-81ED-4DB2-BD59-A6C34878D82A}">
                    <a16:rowId xmlns:a16="http://schemas.microsoft.com/office/drawing/2014/main" val="1780859313"/>
                  </a:ext>
                </a:extLst>
              </a:tr>
            </a:tbl>
          </a:graphicData>
        </a:graphic>
      </p:graphicFrame>
      <p:pic>
        <p:nvPicPr>
          <p:cNvPr id="57" name="圖片 56">
            <a:extLst>
              <a:ext uri="{FF2B5EF4-FFF2-40B4-BE49-F238E27FC236}">
                <a16:creationId xmlns:a16="http://schemas.microsoft.com/office/drawing/2014/main" id="{802F6E56-989E-37A1-8310-D08CE4266372}"/>
              </a:ext>
            </a:extLst>
          </p:cNvPr>
          <p:cNvPicPr>
            <a:picLocks noChangeAspect="1"/>
          </p:cNvPicPr>
          <p:nvPr/>
        </p:nvPicPr>
        <p:blipFill>
          <a:blip r:embed="rId4"/>
          <a:stretch>
            <a:fillRect/>
          </a:stretch>
        </p:blipFill>
        <p:spPr>
          <a:xfrm>
            <a:off x="2461719" y="5999239"/>
            <a:ext cx="382089" cy="382089"/>
          </a:xfrm>
          <a:prstGeom prst="rect">
            <a:avLst/>
          </a:prstGeom>
        </p:spPr>
      </p:pic>
      <p:pic>
        <p:nvPicPr>
          <p:cNvPr id="59" name="圖片 58">
            <a:extLst>
              <a:ext uri="{FF2B5EF4-FFF2-40B4-BE49-F238E27FC236}">
                <a16:creationId xmlns:a16="http://schemas.microsoft.com/office/drawing/2014/main" id="{424306D1-0454-BA2D-39FB-D5BD45B9889E}"/>
              </a:ext>
            </a:extLst>
          </p:cNvPr>
          <p:cNvPicPr>
            <a:picLocks noChangeAspect="1"/>
          </p:cNvPicPr>
          <p:nvPr/>
        </p:nvPicPr>
        <p:blipFill>
          <a:blip r:embed="rId5"/>
          <a:stretch>
            <a:fillRect/>
          </a:stretch>
        </p:blipFill>
        <p:spPr>
          <a:xfrm>
            <a:off x="3847632" y="5999239"/>
            <a:ext cx="377313" cy="382089"/>
          </a:xfrm>
          <a:prstGeom prst="rect">
            <a:avLst/>
          </a:prstGeom>
          <a:effectLst>
            <a:glow rad="12700">
              <a:schemeClr val="tx1">
                <a:lumMod val="95000"/>
                <a:lumOff val="5000"/>
                <a:alpha val="40000"/>
              </a:schemeClr>
            </a:glow>
            <a:softEdge rad="12700"/>
          </a:effectLst>
        </p:spPr>
      </p:pic>
      <p:cxnSp>
        <p:nvCxnSpPr>
          <p:cNvPr id="62" name="直線單箭頭接點 61">
            <a:extLst>
              <a:ext uri="{FF2B5EF4-FFF2-40B4-BE49-F238E27FC236}">
                <a16:creationId xmlns:a16="http://schemas.microsoft.com/office/drawing/2014/main" id="{CA032212-6DB5-E989-0F04-A8E68B2F3469}"/>
              </a:ext>
            </a:extLst>
          </p:cNvPr>
          <p:cNvCxnSpPr>
            <a:cxnSpLocks/>
            <a:stCxn id="16" idx="2"/>
            <a:endCxn id="53" idx="0"/>
          </p:cNvCxnSpPr>
          <p:nvPr/>
        </p:nvCxnSpPr>
        <p:spPr>
          <a:xfrm flipH="1">
            <a:off x="3330406" y="4797152"/>
            <a:ext cx="1547" cy="422775"/>
          </a:xfrm>
          <a:prstGeom prst="straightConnector1">
            <a:avLst/>
          </a:prstGeom>
          <a:ln w="25400">
            <a:solidFill>
              <a:schemeClr val="bg1">
                <a:lumMod val="7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24019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橢圓 37">
            <a:extLst>
              <a:ext uri="{FF2B5EF4-FFF2-40B4-BE49-F238E27FC236}">
                <a16:creationId xmlns:a16="http://schemas.microsoft.com/office/drawing/2014/main" id="{1EBBF1BF-D7EC-04E3-A807-7BA8874E8C7D}"/>
              </a:ext>
            </a:extLst>
          </p:cNvPr>
          <p:cNvSpPr/>
          <p:nvPr/>
        </p:nvSpPr>
        <p:spPr>
          <a:xfrm>
            <a:off x="107504" y="4831668"/>
            <a:ext cx="1393781" cy="1415923"/>
          </a:xfrm>
          <a:prstGeom prst="ellipse">
            <a:avLst/>
          </a:prstGeom>
          <a:gradFill flip="none" rotWithShape="0">
            <a:gsLst>
              <a:gs pos="0">
                <a:schemeClr val="accent3">
                  <a:lumMod val="20000"/>
                  <a:lumOff val="80000"/>
                </a:schemeClr>
              </a:gs>
              <a:gs pos="90000">
                <a:srgbClr val="C0CEA4"/>
              </a:gs>
              <a:gs pos="100000">
                <a:schemeClr val="accent3">
                  <a:lumMod val="50000"/>
                </a:schemeClr>
              </a:gs>
              <a:gs pos="100000">
                <a:schemeClr val="accent3">
                  <a:lumMod val="50000"/>
                </a:schemeClr>
              </a:gs>
            </a:gsLst>
            <a:path path="shape">
              <a:fillToRect l="50000" t="50000" r="50000" b="50000"/>
            </a:path>
            <a:tileRect/>
          </a:gradFill>
          <a:ln w="53975">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6" name="群組 55">
            <a:extLst>
              <a:ext uri="{FF2B5EF4-FFF2-40B4-BE49-F238E27FC236}">
                <a16:creationId xmlns:a16="http://schemas.microsoft.com/office/drawing/2014/main" id="{7E729EF2-1324-CB02-728B-C79D90667E76}"/>
              </a:ext>
            </a:extLst>
          </p:cNvPr>
          <p:cNvGrpSpPr/>
          <p:nvPr/>
        </p:nvGrpSpPr>
        <p:grpSpPr>
          <a:xfrm>
            <a:off x="3677231" y="5517232"/>
            <a:ext cx="4197749" cy="1008111"/>
            <a:chOff x="2300018" y="3140968"/>
            <a:chExt cx="4871903" cy="2369355"/>
          </a:xfrm>
        </p:grpSpPr>
        <p:sp>
          <p:nvSpPr>
            <p:cNvPr id="30" name="矩形: 圓角 29">
              <a:extLst>
                <a:ext uri="{FF2B5EF4-FFF2-40B4-BE49-F238E27FC236}">
                  <a16:creationId xmlns:a16="http://schemas.microsoft.com/office/drawing/2014/main" id="{EB8FCF56-73AC-8074-3C38-3DAF4D2771EA}"/>
                </a:ext>
              </a:extLst>
            </p:cNvPr>
            <p:cNvSpPr/>
            <p:nvPr/>
          </p:nvSpPr>
          <p:spPr>
            <a:xfrm>
              <a:off x="2300018" y="3140968"/>
              <a:ext cx="4871903" cy="2369355"/>
            </a:xfrm>
            <a:custGeom>
              <a:avLst/>
              <a:gdLst>
                <a:gd name="csX0" fmla="*/ 0 w 4871903"/>
                <a:gd name="csY0" fmla="*/ 69612 h 2369355"/>
                <a:gd name="csX1" fmla="*/ 69612 w 4871903"/>
                <a:gd name="csY1" fmla="*/ 0 h 2369355"/>
                <a:gd name="csX2" fmla="*/ 661197 w 4871903"/>
                <a:gd name="csY2" fmla="*/ 0 h 2369355"/>
                <a:gd name="csX3" fmla="*/ 1158128 w 4871903"/>
                <a:gd name="csY3" fmla="*/ 0 h 2369355"/>
                <a:gd name="csX4" fmla="*/ 1607733 w 4871903"/>
                <a:gd name="csY4" fmla="*/ 0 h 2369355"/>
                <a:gd name="csX5" fmla="*/ 2104664 w 4871903"/>
                <a:gd name="csY5" fmla="*/ 0 h 2369355"/>
                <a:gd name="csX6" fmla="*/ 2743576 w 4871903"/>
                <a:gd name="csY6" fmla="*/ 0 h 2369355"/>
                <a:gd name="csX7" fmla="*/ 3240507 w 4871903"/>
                <a:gd name="csY7" fmla="*/ 0 h 2369355"/>
                <a:gd name="csX8" fmla="*/ 3690111 w 4871903"/>
                <a:gd name="csY8" fmla="*/ 0 h 2369355"/>
                <a:gd name="csX9" fmla="*/ 4187043 w 4871903"/>
                <a:gd name="csY9" fmla="*/ 0 h 2369355"/>
                <a:gd name="csX10" fmla="*/ 4802291 w 4871903"/>
                <a:gd name="csY10" fmla="*/ 0 h 2369355"/>
                <a:gd name="csX11" fmla="*/ 4871903 w 4871903"/>
                <a:gd name="csY11" fmla="*/ 69612 h 2369355"/>
                <a:gd name="csX12" fmla="*/ 4871903 w 4871903"/>
                <a:gd name="csY12" fmla="*/ 560241 h 2369355"/>
                <a:gd name="csX13" fmla="*/ 4871903 w 4871903"/>
                <a:gd name="csY13" fmla="*/ 1117774 h 2369355"/>
                <a:gd name="csX14" fmla="*/ 4871903 w 4871903"/>
                <a:gd name="csY14" fmla="*/ 1719909 h 2369355"/>
                <a:gd name="csX15" fmla="*/ 4871903 w 4871903"/>
                <a:gd name="csY15" fmla="*/ 2299743 h 2369355"/>
                <a:gd name="csX16" fmla="*/ 4802291 w 4871903"/>
                <a:gd name="csY16" fmla="*/ 2369355 h 2369355"/>
                <a:gd name="csX17" fmla="*/ 4258033 w 4871903"/>
                <a:gd name="csY17" fmla="*/ 2369355 h 2369355"/>
                <a:gd name="csX18" fmla="*/ 3666448 w 4871903"/>
                <a:gd name="csY18" fmla="*/ 2369355 h 2369355"/>
                <a:gd name="csX19" fmla="*/ 3216844 w 4871903"/>
                <a:gd name="csY19" fmla="*/ 2369355 h 2369355"/>
                <a:gd name="csX20" fmla="*/ 2530605 w 4871903"/>
                <a:gd name="csY20" fmla="*/ 2369355 h 2369355"/>
                <a:gd name="csX21" fmla="*/ 1939020 w 4871903"/>
                <a:gd name="csY21" fmla="*/ 2369355 h 2369355"/>
                <a:gd name="csX22" fmla="*/ 1252782 w 4871903"/>
                <a:gd name="csY22" fmla="*/ 2369355 h 2369355"/>
                <a:gd name="csX23" fmla="*/ 708524 w 4871903"/>
                <a:gd name="csY23" fmla="*/ 2369355 h 2369355"/>
                <a:gd name="csX24" fmla="*/ 69612 w 4871903"/>
                <a:gd name="csY24" fmla="*/ 2369355 h 2369355"/>
                <a:gd name="csX25" fmla="*/ 0 w 4871903"/>
                <a:gd name="csY25" fmla="*/ 2299743 h 2369355"/>
                <a:gd name="csX26" fmla="*/ 0 w 4871903"/>
                <a:gd name="csY26" fmla="*/ 1742210 h 2369355"/>
                <a:gd name="csX27" fmla="*/ 0 w 4871903"/>
                <a:gd name="csY27" fmla="*/ 1162376 h 2369355"/>
                <a:gd name="csX28" fmla="*/ 0 w 4871903"/>
                <a:gd name="csY28" fmla="*/ 560241 h 2369355"/>
                <a:gd name="csX29" fmla="*/ 0 w 4871903"/>
                <a:gd name="csY29" fmla="*/ 69612 h 2369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871903" h="2369355" fill="none" extrusionOk="0">
                  <a:moveTo>
                    <a:pt x="0" y="69612"/>
                  </a:moveTo>
                  <a:cubicBezTo>
                    <a:pt x="-3467" y="41976"/>
                    <a:pt x="28818" y="-7394"/>
                    <a:pt x="69612" y="0"/>
                  </a:cubicBezTo>
                  <a:cubicBezTo>
                    <a:pt x="242124" y="-34537"/>
                    <a:pt x="480013" y="26831"/>
                    <a:pt x="661197" y="0"/>
                  </a:cubicBezTo>
                  <a:cubicBezTo>
                    <a:pt x="842382" y="-26831"/>
                    <a:pt x="953104" y="33108"/>
                    <a:pt x="1158128" y="0"/>
                  </a:cubicBezTo>
                  <a:cubicBezTo>
                    <a:pt x="1363152" y="-33108"/>
                    <a:pt x="1512365" y="9925"/>
                    <a:pt x="1607733" y="0"/>
                  </a:cubicBezTo>
                  <a:cubicBezTo>
                    <a:pt x="1703102" y="-9925"/>
                    <a:pt x="1893219" y="1912"/>
                    <a:pt x="2104664" y="0"/>
                  </a:cubicBezTo>
                  <a:cubicBezTo>
                    <a:pt x="2316109" y="-1912"/>
                    <a:pt x="2446969" y="52063"/>
                    <a:pt x="2743576" y="0"/>
                  </a:cubicBezTo>
                  <a:cubicBezTo>
                    <a:pt x="3040183" y="-52063"/>
                    <a:pt x="3010113" y="16413"/>
                    <a:pt x="3240507" y="0"/>
                  </a:cubicBezTo>
                  <a:cubicBezTo>
                    <a:pt x="3470901" y="-16413"/>
                    <a:pt x="3540606" y="1032"/>
                    <a:pt x="3690111" y="0"/>
                  </a:cubicBezTo>
                  <a:cubicBezTo>
                    <a:pt x="3839616" y="-1032"/>
                    <a:pt x="4058410" y="6522"/>
                    <a:pt x="4187043" y="0"/>
                  </a:cubicBezTo>
                  <a:cubicBezTo>
                    <a:pt x="4315676" y="-6522"/>
                    <a:pt x="4510354" y="58710"/>
                    <a:pt x="4802291" y="0"/>
                  </a:cubicBezTo>
                  <a:cubicBezTo>
                    <a:pt x="4835583" y="618"/>
                    <a:pt x="4872952" y="32268"/>
                    <a:pt x="4871903" y="69612"/>
                  </a:cubicBezTo>
                  <a:cubicBezTo>
                    <a:pt x="4889464" y="253526"/>
                    <a:pt x="4839377" y="394331"/>
                    <a:pt x="4871903" y="560241"/>
                  </a:cubicBezTo>
                  <a:cubicBezTo>
                    <a:pt x="4904429" y="726151"/>
                    <a:pt x="4849730" y="894985"/>
                    <a:pt x="4871903" y="1117774"/>
                  </a:cubicBezTo>
                  <a:cubicBezTo>
                    <a:pt x="4894076" y="1340563"/>
                    <a:pt x="4867043" y="1540391"/>
                    <a:pt x="4871903" y="1719909"/>
                  </a:cubicBezTo>
                  <a:cubicBezTo>
                    <a:pt x="4876763" y="1899428"/>
                    <a:pt x="4861805" y="2163055"/>
                    <a:pt x="4871903" y="2299743"/>
                  </a:cubicBezTo>
                  <a:cubicBezTo>
                    <a:pt x="4870813" y="2342180"/>
                    <a:pt x="4846527" y="2359605"/>
                    <a:pt x="4802291" y="2369355"/>
                  </a:cubicBezTo>
                  <a:cubicBezTo>
                    <a:pt x="4660814" y="2394690"/>
                    <a:pt x="4454747" y="2332809"/>
                    <a:pt x="4258033" y="2369355"/>
                  </a:cubicBezTo>
                  <a:cubicBezTo>
                    <a:pt x="4061319" y="2405901"/>
                    <a:pt x="3942154" y="2321542"/>
                    <a:pt x="3666448" y="2369355"/>
                  </a:cubicBezTo>
                  <a:cubicBezTo>
                    <a:pt x="3390743" y="2417168"/>
                    <a:pt x="3415823" y="2323896"/>
                    <a:pt x="3216844" y="2369355"/>
                  </a:cubicBezTo>
                  <a:cubicBezTo>
                    <a:pt x="3017865" y="2414814"/>
                    <a:pt x="2872716" y="2315685"/>
                    <a:pt x="2530605" y="2369355"/>
                  </a:cubicBezTo>
                  <a:cubicBezTo>
                    <a:pt x="2188494" y="2423025"/>
                    <a:pt x="2195998" y="2319745"/>
                    <a:pt x="1939020" y="2369355"/>
                  </a:cubicBezTo>
                  <a:cubicBezTo>
                    <a:pt x="1682043" y="2418965"/>
                    <a:pt x="1472694" y="2322954"/>
                    <a:pt x="1252782" y="2369355"/>
                  </a:cubicBezTo>
                  <a:cubicBezTo>
                    <a:pt x="1032870" y="2415756"/>
                    <a:pt x="932634" y="2333110"/>
                    <a:pt x="708524" y="2369355"/>
                  </a:cubicBezTo>
                  <a:cubicBezTo>
                    <a:pt x="484414" y="2405600"/>
                    <a:pt x="352512" y="2362562"/>
                    <a:pt x="69612" y="2369355"/>
                  </a:cubicBezTo>
                  <a:cubicBezTo>
                    <a:pt x="28006" y="2378901"/>
                    <a:pt x="1846" y="2341442"/>
                    <a:pt x="0" y="2299743"/>
                  </a:cubicBezTo>
                  <a:cubicBezTo>
                    <a:pt x="-53951" y="2163263"/>
                    <a:pt x="12348" y="1948374"/>
                    <a:pt x="0" y="1742210"/>
                  </a:cubicBezTo>
                  <a:cubicBezTo>
                    <a:pt x="-12348" y="1536046"/>
                    <a:pt x="43785" y="1283191"/>
                    <a:pt x="0" y="1162376"/>
                  </a:cubicBezTo>
                  <a:cubicBezTo>
                    <a:pt x="-43785" y="1041561"/>
                    <a:pt x="53798" y="705745"/>
                    <a:pt x="0" y="560241"/>
                  </a:cubicBezTo>
                  <a:cubicBezTo>
                    <a:pt x="-53798" y="414737"/>
                    <a:pt x="27764" y="262879"/>
                    <a:pt x="0" y="69612"/>
                  </a:cubicBezTo>
                  <a:close/>
                </a:path>
                <a:path w="4871903" h="2369355" stroke="0" extrusionOk="0">
                  <a:moveTo>
                    <a:pt x="0" y="69612"/>
                  </a:moveTo>
                  <a:cubicBezTo>
                    <a:pt x="-2069" y="29889"/>
                    <a:pt x="25248" y="2221"/>
                    <a:pt x="69612" y="0"/>
                  </a:cubicBezTo>
                  <a:cubicBezTo>
                    <a:pt x="212228" y="-24984"/>
                    <a:pt x="588854" y="27711"/>
                    <a:pt x="755850" y="0"/>
                  </a:cubicBezTo>
                  <a:cubicBezTo>
                    <a:pt x="922846" y="-27711"/>
                    <a:pt x="1097670" y="56868"/>
                    <a:pt x="1300109" y="0"/>
                  </a:cubicBezTo>
                  <a:cubicBezTo>
                    <a:pt x="1502548" y="-56868"/>
                    <a:pt x="1653686" y="57181"/>
                    <a:pt x="1797040" y="0"/>
                  </a:cubicBezTo>
                  <a:cubicBezTo>
                    <a:pt x="1940394" y="-57181"/>
                    <a:pt x="2240469" y="17467"/>
                    <a:pt x="2435952" y="0"/>
                  </a:cubicBezTo>
                  <a:cubicBezTo>
                    <a:pt x="2631435" y="-17467"/>
                    <a:pt x="2844838" y="6372"/>
                    <a:pt x="2980210" y="0"/>
                  </a:cubicBezTo>
                  <a:cubicBezTo>
                    <a:pt x="3115582" y="-6372"/>
                    <a:pt x="3521301" y="62180"/>
                    <a:pt x="3666448" y="0"/>
                  </a:cubicBezTo>
                  <a:cubicBezTo>
                    <a:pt x="3811595" y="-62180"/>
                    <a:pt x="3923070" y="17892"/>
                    <a:pt x="4163379" y="0"/>
                  </a:cubicBezTo>
                  <a:cubicBezTo>
                    <a:pt x="4403688" y="-17892"/>
                    <a:pt x="4558641" y="6954"/>
                    <a:pt x="4802291" y="0"/>
                  </a:cubicBezTo>
                  <a:cubicBezTo>
                    <a:pt x="4846533" y="1394"/>
                    <a:pt x="4863129" y="29747"/>
                    <a:pt x="4871903" y="69612"/>
                  </a:cubicBezTo>
                  <a:cubicBezTo>
                    <a:pt x="4904914" y="286375"/>
                    <a:pt x="4842406" y="360100"/>
                    <a:pt x="4871903" y="627145"/>
                  </a:cubicBezTo>
                  <a:cubicBezTo>
                    <a:pt x="4901400" y="894190"/>
                    <a:pt x="4816104" y="1045038"/>
                    <a:pt x="4871903" y="1162376"/>
                  </a:cubicBezTo>
                  <a:cubicBezTo>
                    <a:pt x="4927702" y="1279714"/>
                    <a:pt x="4810207" y="1637633"/>
                    <a:pt x="4871903" y="1764512"/>
                  </a:cubicBezTo>
                  <a:cubicBezTo>
                    <a:pt x="4933599" y="1891391"/>
                    <a:pt x="4871410" y="2074783"/>
                    <a:pt x="4871903" y="2299743"/>
                  </a:cubicBezTo>
                  <a:cubicBezTo>
                    <a:pt x="4864178" y="2339457"/>
                    <a:pt x="4836790" y="2366632"/>
                    <a:pt x="4802291" y="2369355"/>
                  </a:cubicBezTo>
                  <a:cubicBezTo>
                    <a:pt x="4639252" y="2443284"/>
                    <a:pt x="4364597" y="2354103"/>
                    <a:pt x="4163379" y="2369355"/>
                  </a:cubicBezTo>
                  <a:cubicBezTo>
                    <a:pt x="3962161" y="2384607"/>
                    <a:pt x="3798279" y="2341081"/>
                    <a:pt x="3571794" y="2369355"/>
                  </a:cubicBezTo>
                  <a:cubicBezTo>
                    <a:pt x="3345309" y="2397629"/>
                    <a:pt x="3229217" y="2330823"/>
                    <a:pt x="3122190" y="2369355"/>
                  </a:cubicBezTo>
                  <a:cubicBezTo>
                    <a:pt x="3015163" y="2407887"/>
                    <a:pt x="2758351" y="2350025"/>
                    <a:pt x="2625259" y="2369355"/>
                  </a:cubicBezTo>
                  <a:cubicBezTo>
                    <a:pt x="2492167" y="2388685"/>
                    <a:pt x="2196771" y="2353341"/>
                    <a:pt x="1939020" y="2369355"/>
                  </a:cubicBezTo>
                  <a:cubicBezTo>
                    <a:pt x="1681269" y="2385369"/>
                    <a:pt x="1575671" y="2302866"/>
                    <a:pt x="1347435" y="2369355"/>
                  </a:cubicBezTo>
                  <a:cubicBezTo>
                    <a:pt x="1119199" y="2435844"/>
                    <a:pt x="1016476" y="2352088"/>
                    <a:pt x="850504" y="2369355"/>
                  </a:cubicBezTo>
                  <a:cubicBezTo>
                    <a:pt x="684532" y="2386622"/>
                    <a:pt x="388029" y="2314835"/>
                    <a:pt x="69612" y="2369355"/>
                  </a:cubicBezTo>
                  <a:cubicBezTo>
                    <a:pt x="24259" y="2368964"/>
                    <a:pt x="3463" y="2341170"/>
                    <a:pt x="0" y="2299743"/>
                  </a:cubicBezTo>
                  <a:cubicBezTo>
                    <a:pt x="-58616" y="2128167"/>
                    <a:pt x="61792" y="1942150"/>
                    <a:pt x="0" y="1742210"/>
                  </a:cubicBezTo>
                  <a:cubicBezTo>
                    <a:pt x="-61792" y="1542270"/>
                    <a:pt x="54977" y="1431901"/>
                    <a:pt x="0" y="1229280"/>
                  </a:cubicBezTo>
                  <a:cubicBezTo>
                    <a:pt x="-54977" y="1026659"/>
                    <a:pt x="10871" y="783775"/>
                    <a:pt x="0" y="649446"/>
                  </a:cubicBezTo>
                  <a:cubicBezTo>
                    <a:pt x="-10871" y="515117"/>
                    <a:pt x="37359" y="309011"/>
                    <a:pt x="0" y="69612"/>
                  </a:cubicBezTo>
                  <a:close/>
                </a:path>
              </a:pathLst>
            </a:custGeom>
            <a:solidFill>
              <a:schemeClr val="bg2">
                <a:alpha val="40000"/>
              </a:schemeClr>
            </a:solidFill>
            <a:ln w="50800">
              <a:solidFill>
                <a:schemeClr val="bg2">
                  <a:lumMod val="75000"/>
                  <a:alpha val="20000"/>
                </a:schemeClr>
              </a:solidFill>
              <a:extLst>
                <a:ext uri="{C807C97D-BFC1-408E-A445-0C87EB9F89A2}">
                  <ask:lineSketchStyleProps xmlns:ask="http://schemas.microsoft.com/office/drawing/2018/sketchyshapes" sd="1219033472">
                    <a:prstGeom prst="roundRect">
                      <a:avLst>
                        <a:gd name="adj" fmla="val 2938"/>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tIns="36000" rIns="182880" bIns="91440" rtlCol="0" anchor="t" anchorCtr="0"/>
            <a:lstStyle/>
            <a:p>
              <a:pPr algn="r"/>
              <a:r>
                <a:rPr lang="en-US" altLang="zh-TW" sz="1200" dirty="0">
                  <a:solidFill>
                    <a:schemeClr val="bg2">
                      <a:lumMod val="10000"/>
                    </a:schemeClr>
                  </a:solidFill>
                </a:rPr>
                <a:t>Data </a:t>
              </a:r>
            </a:p>
            <a:p>
              <a:pPr algn="r"/>
              <a:r>
                <a:rPr lang="en-US" altLang="zh-TW" sz="1200" dirty="0">
                  <a:solidFill>
                    <a:schemeClr val="bg2">
                      <a:lumMod val="10000"/>
                    </a:schemeClr>
                  </a:solidFill>
                </a:rPr>
                <a:t>Center</a:t>
              </a:r>
              <a:endParaRPr lang="zh-TW" altLang="en-US" sz="1200" dirty="0">
                <a:solidFill>
                  <a:schemeClr val="bg2">
                    <a:lumMod val="10000"/>
                  </a:schemeClr>
                </a:solidFill>
              </a:endParaRPr>
            </a:p>
          </p:txBody>
        </p:sp>
        <p:pic>
          <p:nvPicPr>
            <p:cNvPr id="9" name="圖形 8" descr="城市 外框">
              <a:extLst>
                <a:ext uri="{FF2B5EF4-FFF2-40B4-BE49-F238E27FC236}">
                  <a16:creationId xmlns:a16="http://schemas.microsoft.com/office/drawing/2014/main" id="{D0FFB431-F1C9-6B9E-3F36-A836E681AE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14758" y="4156407"/>
              <a:ext cx="610952" cy="1073364"/>
            </a:xfrm>
            <a:prstGeom prst="rect">
              <a:avLst/>
            </a:prstGeom>
            <a:effectLst>
              <a:glow rad="127000">
                <a:schemeClr val="bg2">
                  <a:lumMod val="90000"/>
                  <a:alpha val="80000"/>
                </a:schemeClr>
              </a:glow>
            </a:effectLst>
          </p:spPr>
        </p:pic>
      </p:grpSp>
      <p:grpSp>
        <p:nvGrpSpPr>
          <p:cNvPr id="29" name="群組 28">
            <a:extLst>
              <a:ext uri="{FF2B5EF4-FFF2-40B4-BE49-F238E27FC236}">
                <a16:creationId xmlns:a16="http://schemas.microsoft.com/office/drawing/2014/main" id="{73CE8D80-E43D-2ED2-4AE0-15BD67A2A604}"/>
              </a:ext>
            </a:extLst>
          </p:cNvPr>
          <p:cNvGrpSpPr/>
          <p:nvPr/>
        </p:nvGrpSpPr>
        <p:grpSpPr>
          <a:xfrm>
            <a:off x="3828609" y="2708920"/>
            <a:ext cx="2676085" cy="3733339"/>
            <a:chOff x="3029309" y="2457562"/>
            <a:chExt cx="2676085" cy="3733339"/>
          </a:xfrm>
        </p:grpSpPr>
        <p:sp>
          <p:nvSpPr>
            <p:cNvPr id="68" name="矩形: 圓角 67">
              <a:extLst>
                <a:ext uri="{FF2B5EF4-FFF2-40B4-BE49-F238E27FC236}">
                  <a16:creationId xmlns:a16="http://schemas.microsoft.com/office/drawing/2014/main" id="{3CF66C3D-095F-45C0-1BFF-5916653C570A}"/>
                </a:ext>
              </a:extLst>
            </p:cNvPr>
            <p:cNvSpPr/>
            <p:nvPr/>
          </p:nvSpPr>
          <p:spPr>
            <a:xfrm>
              <a:off x="3029309" y="2457562"/>
              <a:ext cx="2474323" cy="3733339"/>
            </a:xfrm>
            <a:prstGeom prst="roundRect">
              <a:avLst>
                <a:gd name="adj" fmla="val 1500"/>
              </a:avLst>
            </a:prstGeom>
            <a:solidFill>
              <a:schemeClr val="bg1">
                <a:alpha val="4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tIns="0" rIns="91440" bIns="91440" rtlCol="0" anchor="t" anchorCtr="0"/>
            <a:lstStyle/>
            <a:p>
              <a:r>
                <a:rPr kumimoji="0" lang="en-US" altLang="zh-TW" sz="1400" b="1" i="0" u="none" strike="noStrike" kern="1200" cap="none" spc="0" normalizeH="0" baseline="0" noProof="0" dirty="0">
                  <a:ln>
                    <a:noFill/>
                  </a:ln>
                  <a:solidFill>
                    <a:schemeClr val="tx1">
                      <a:lumMod val="65000"/>
                      <a:lumOff val="35000"/>
                    </a:schemeClr>
                  </a:solidFill>
                  <a:effectLst/>
                  <a:uLnTx/>
                  <a:uFillTx/>
                  <a:latin typeface="Calibri"/>
                  <a:ea typeface="新細明體" panose="02020500000000000000" pitchFamily="18" charset="-120"/>
                  <a:cs typeface="+mn-cs"/>
                </a:rPr>
                <a:t>Rack</a:t>
              </a:r>
              <a:endParaRPr lang="zh-TW" altLang="en-US" sz="1400" dirty="0">
                <a:solidFill>
                  <a:schemeClr val="tx1">
                    <a:lumMod val="65000"/>
                    <a:lumOff val="35000"/>
                  </a:schemeClr>
                </a:solidFill>
              </a:endParaRPr>
            </a:p>
          </p:txBody>
        </p:sp>
        <p:sp>
          <p:nvSpPr>
            <p:cNvPr id="12" name="文字方塊 11">
              <a:extLst>
                <a:ext uri="{FF2B5EF4-FFF2-40B4-BE49-F238E27FC236}">
                  <a16:creationId xmlns:a16="http://schemas.microsoft.com/office/drawing/2014/main" id="{3A9CECCE-5260-7440-05FE-4134E50CDFE5}"/>
                </a:ext>
              </a:extLst>
            </p:cNvPr>
            <p:cNvSpPr txBox="1"/>
            <p:nvPr/>
          </p:nvSpPr>
          <p:spPr>
            <a:xfrm>
              <a:off x="3173325" y="2730028"/>
              <a:ext cx="2080961" cy="2526109"/>
            </a:xfrm>
            <a:prstGeom prst="rect">
              <a:avLst/>
            </a:prstGeom>
            <a:solidFill>
              <a:schemeClr val="accent1">
                <a:lumMod val="75000"/>
              </a:schemeClr>
            </a:solidFill>
            <a:ln w="25400">
              <a:solidFill>
                <a:schemeClr val="bg1">
                  <a:lumMod val="75000"/>
                  <a:alpha val="60000"/>
                </a:schemeClr>
              </a:solidFill>
              <a:prstDash val="solid"/>
            </a:ln>
          </p:spPr>
          <p:txBody>
            <a:bodyPr wrap="none" lIns="0" tIns="182880" rIns="0" bIns="0" anchor="t" anchorCtr="1">
              <a:noAutofit/>
            </a:bodyPr>
            <a:lstStyle/>
            <a:p>
              <a:pPr algn="ctr">
                <a:lnSpc>
                  <a:spcPts val="1600"/>
                </a:lnSpc>
                <a:buNone/>
              </a:pPr>
              <a:r>
                <a:rPr lang="en-US" altLang="zh-TW" sz="1400" b="1" dirty="0">
                  <a:solidFill>
                    <a:schemeClr val="bg1"/>
                  </a:solidFill>
                </a:rPr>
                <a:t>Server</a:t>
              </a:r>
            </a:p>
          </p:txBody>
        </p:sp>
        <p:sp>
          <p:nvSpPr>
            <p:cNvPr id="20" name="文字方塊 19">
              <a:extLst>
                <a:ext uri="{FF2B5EF4-FFF2-40B4-BE49-F238E27FC236}">
                  <a16:creationId xmlns:a16="http://schemas.microsoft.com/office/drawing/2014/main" id="{3946E441-3AD6-F964-7325-A925D94AFB32}"/>
                </a:ext>
              </a:extLst>
            </p:cNvPr>
            <p:cNvSpPr txBox="1"/>
            <p:nvPr/>
          </p:nvSpPr>
          <p:spPr>
            <a:xfrm>
              <a:off x="3173325" y="5301169"/>
              <a:ext cx="2080961" cy="356880"/>
            </a:xfrm>
            <a:prstGeom prst="rect">
              <a:avLst/>
            </a:prstGeom>
            <a:solidFill>
              <a:schemeClr val="accent1">
                <a:lumMod val="7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bg1"/>
                  </a:solidFill>
                </a:rPr>
                <a:t>Server</a:t>
              </a:r>
            </a:p>
          </p:txBody>
        </p:sp>
        <p:sp>
          <p:nvSpPr>
            <p:cNvPr id="22" name="文字方塊 21">
              <a:extLst>
                <a:ext uri="{FF2B5EF4-FFF2-40B4-BE49-F238E27FC236}">
                  <a16:creationId xmlns:a16="http://schemas.microsoft.com/office/drawing/2014/main" id="{F1F84305-AC5E-1B04-4A10-150F97EA5730}"/>
                </a:ext>
              </a:extLst>
            </p:cNvPr>
            <p:cNvSpPr txBox="1"/>
            <p:nvPr/>
          </p:nvSpPr>
          <p:spPr>
            <a:xfrm>
              <a:off x="3173325" y="5707786"/>
              <a:ext cx="2080961" cy="356880"/>
            </a:xfrm>
            <a:prstGeom prst="rect">
              <a:avLst/>
            </a:prstGeom>
            <a:solidFill>
              <a:schemeClr val="accent1">
                <a:lumMod val="7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bg1"/>
                  </a:solidFill>
                </a:rPr>
                <a:t>...</a:t>
              </a:r>
            </a:p>
          </p:txBody>
        </p:sp>
        <p:grpSp>
          <p:nvGrpSpPr>
            <p:cNvPr id="52" name="群組 51">
              <a:extLst>
                <a:ext uri="{FF2B5EF4-FFF2-40B4-BE49-F238E27FC236}">
                  <a16:creationId xmlns:a16="http://schemas.microsoft.com/office/drawing/2014/main" id="{57C74759-241B-81DC-3017-39860E90775C}"/>
                </a:ext>
              </a:extLst>
            </p:cNvPr>
            <p:cNvGrpSpPr/>
            <p:nvPr/>
          </p:nvGrpSpPr>
          <p:grpSpPr>
            <a:xfrm>
              <a:off x="5098003" y="2891301"/>
              <a:ext cx="607391" cy="1298802"/>
              <a:chOff x="4336438" y="2128458"/>
              <a:chExt cx="607391" cy="1089088"/>
            </a:xfrm>
          </p:grpSpPr>
          <p:sp>
            <p:nvSpPr>
              <p:cNvPr id="16" name="文字方塊 15">
                <a:extLst>
                  <a:ext uri="{FF2B5EF4-FFF2-40B4-BE49-F238E27FC236}">
                    <a16:creationId xmlns:a16="http://schemas.microsoft.com/office/drawing/2014/main" id="{263A0E63-84A2-A201-12B5-0C41BE956EC2}"/>
                  </a:ext>
                </a:extLst>
              </p:cNvPr>
              <p:cNvSpPr txBox="1"/>
              <p:nvPr/>
            </p:nvSpPr>
            <p:spPr>
              <a:xfrm>
                <a:off x="4336438" y="2128458"/>
                <a:ext cx="607391" cy="1089088"/>
              </a:xfrm>
              <a:prstGeom prst="rect">
                <a:avLst/>
              </a:prstGeom>
              <a:solidFill>
                <a:schemeClr val="accent5">
                  <a:lumMod val="20000"/>
                  <a:lumOff val="80000"/>
                </a:schemeClr>
              </a:solidFill>
              <a:ln w="25400">
                <a:solidFill>
                  <a:schemeClr val="accent5">
                    <a:lumMod val="60000"/>
                    <a:lumOff val="40000"/>
                    <a:alpha val="60000"/>
                  </a:schemeClr>
                </a:solidFill>
                <a:prstDash val="solid"/>
              </a:ln>
            </p:spPr>
            <p:txBody>
              <a:bodyPr wrap="none" lIns="0" tIns="91440" rIns="0" bIns="0" anchor="t" anchorCtr="1">
                <a:noAutofit/>
              </a:bodyPr>
              <a:lstStyle/>
              <a:p>
                <a:pPr algn="ctr">
                  <a:lnSpc>
                    <a:spcPts val="1600"/>
                  </a:lnSpc>
                  <a:buNone/>
                </a:pPr>
                <a:r>
                  <a:rPr lang="en-US" altLang="zh-TW" sz="1200" dirty="0">
                    <a:solidFill>
                      <a:schemeClr val="accent5">
                        <a:lumMod val="75000"/>
                      </a:schemeClr>
                    </a:solidFill>
                  </a:rPr>
                  <a:t>Cooling</a:t>
                </a:r>
              </a:p>
              <a:p>
                <a:pPr algn="ctr">
                  <a:lnSpc>
                    <a:spcPts val="1600"/>
                  </a:lnSpc>
                  <a:buNone/>
                </a:pPr>
                <a:r>
                  <a:rPr lang="en-US" altLang="zh-TW" sz="1200" dirty="0">
                    <a:solidFill>
                      <a:schemeClr val="accent5">
                        <a:lumMod val="75000"/>
                      </a:schemeClr>
                    </a:solidFill>
                  </a:rPr>
                  <a:t>System</a:t>
                </a:r>
              </a:p>
            </p:txBody>
          </p:sp>
          <p:pic>
            <p:nvPicPr>
              <p:cNvPr id="23" name="圖片 22">
                <a:extLst>
                  <a:ext uri="{FF2B5EF4-FFF2-40B4-BE49-F238E27FC236}">
                    <a16:creationId xmlns:a16="http://schemas.microsoft.com/office/drawing/2014/main" id="{A9F8AC15-3589-E734-23EA-38B6F24A44E9}"/>
                  </a:ext>
                </a:extLst>
              </p:cNvPr>
              <p:cNvPicPr>
                <a:picLocks noChangeAspect="1"/>
              </p:cNvPicPr>
              <p:nvPr/>
            </p:nvPicPr>
            <p:blipFill>
              <a:blip r:embed="rId4"/>
              <a:stretch>
                <a:fillRect/>
              </a:stretch>
            </p:blipFill>
            <p:spPr>
              <a:xfrm>
                <a:off x="4454282" y="2749454"/>
                <a:ext cx="361811" cy="283302"/>
              </a:xfrm>
              <a:prstGeom prst="rect">
                <a:avLst/>
              </a:prstGeom>
              <a:effectLst>
                <a:glow rad="25400">
                  <a:schemeClr val="accent5">
                    <a:lumMod val="60000"/>
                    <a:lumOff val="40000"/>
                    <a:alpha val="40000"/>
                  </a:schemeClr>
                </a:glow>
                <a:softEdge rad="50800"/>
              </a:effectLst>
            </p:spPr>
          </p:pic>
        </p:grpSp>
        <p:pic>
          <p:nvPicPr>
            <p:cNvPr id="25" name="圖形 24" descr="電腦 以實心填滿">
              <a:extLst>
                <a:ext uri="{FF2B5EF4-FFF2-40B4-BE49-F238E27FC236}">
                  <a16:creationId xmlns:a16="http://schemas.microsoft.com/office/drawing/2014/main" id="{80C5D543-903B-386C-D769-B42FE0B947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94295" y="2759384"/>
              <a:ext cx="457625" cy="457625"/>
            </a:xfrm>
            <a:prstGeom prst="rect">
              <a:avLst/>
            </a:prstGeom>
          </p:spPr>
        </p:pic>
        <p:sp>
          <p:nvSpPr>
            <p:cNvPr id="10" name="文字方塊 9">
              <a:extLst>
                <a:ext uri="{FF2B5EF4-FFF2-40B4-BE49-F238E27FC236}">
                  <a16:creationId xmlns:a16="http://schemas.microsoft.com/office/drawing/2014/main" id="{B464E9F5-9B40-75AB-DE0A-F06FADB1761B}"/>
                </a:ext>
              </a:extLst>
            </p:cNvPr>
            <p:cNvSpPr txBox="1"/>
            <p:nvPr/>
          </p:nvSpPr>
          <p:spPr>
            <a:xfrm>
              <a:off x="3289175" y="3213165"/>
              <a:ext cx="1612342" cy="1948060"/>
            </a:xfrm>
            <a:prstGeom prst="rect">
              <a:avLst/>
            </a:prstGeom>
            <a:solidFill>
              <a:schemeClr val="bg2"/>
            </a:solidFill>
            <a:ln w="25400">
              <a:solidFill>
                <a:schemeClr val="bg1">
                  <a:lumMod val="75000"/>
                  <a:alpha val="60000"/>
                </a:schemeClr>
              </a:solidFill>
              <a:prstDash val="solid"/>
            </a:ln>
          </p:spPr>
          <p:txBody>
            <a:bodyPr wrap="none" lIns="0" tIns="0" rIns="0" bIns="0" anchor="t" anchorCtr="1">
              <a:noAutofit/>
            </a:bodyPr>
            <a:lstStyle/>
            <a:p>
              <a:pPr algn="ctr">
                <a:lnSpc>
                  <a:spcPts val="1600"/>
                </a:lnSpc>
                <a:buNone/>
              </a:pPr>
              <a:r>
                <a:rPr lang="en-US" altLang="zh-TW" sz="1200" b="1" dirty="0">
                  <a:solidFill>
                    <a:schemeClr val="accent1">
                      <a:lumMod val="75000"/>
                    </a:schemeClr>
                  </a:solidFill>
                </a:rPr>
                <a:t>Main Board</a:t>
              </a:r>
            </a:p>
          </p:txBody>
        </p:sp>
        <p:sp>
          <p:nvSpPr>
            <p:cNvPr id="3" name="文字方塊 2">
              <a:extLst>
                <a:ext uri="{FF2B5EF4-FFF2-40B4-BE49-F238E27FC236}">
                  <a16:creationId xmlns:a16="http://schemas.microsoft.com/office/drawing/2014/main" id="{B491C630-9906-E7C3-18A5-5A3B1FA74FD3}"/>
                </a:ext>
              </a:extLst>
            </p:cNvPr>
            <p:cNvSpPr txBox="1"/>
            <p:nvPr/>
          </p:nvSpPr>
          <p:spPr>
            <a:xfrm>
              <a:off x="3419242" y="4513053"/>
              <a:ext cx="860849" cy="576164"/>
            </a:xfrm>
            <a:prstGeom prst="rect">
              <a:avLst/>
            </a:prstGeom>
            <a:solidFill>
              <a:schemeClr val="accent3">
                <a:lumMod val="20000"/>
                <a:lumOff val="80000"/>
              </a:schemeClr>
            </a:solidFill>
            <a:ln w="25400">
              <a:solidFill>
                <a:schemeClr val="accent3">
                  <a:lumMod val="75000"/>
                </a:schemeClr>
              </a:solidFill>
              <a:prstDash val="solid"/>
            </a:ln>
          </p:spPr>
          <p:txBody>
            <a:bodyPr wrap="none" lIns="0" tIns="0" rIns="0" bIns="0" anchor="b" anchorCtr="1">
              <a:noAutofit/>
            </a:bodyPr>
            <a:lstStyle/>
            <a:p>
              <a:pPr algn="ctr">
                <a:lnSpc>
                  <a:spcPts val="1600"/>
                </a:lnSpc>
                <a:buNone/>
              </a:pPr>
              <a:r>
                <a:rPr lang="en-US" altLang="zh-TW" sz="1200" b="1" dirty="0">
                  <a:solidFill>
                    <a:schemeClr val="accent1">
                      <a:lumMod val="75000"/>
                    </a:schemeClr>
                  </a:solidFill>
                </a:rPr>
                <a:t>GPU</a:t>
              </a:r>
            </a:p>
          </p:txBody>
        </p:sp>
        <p:sp>
          <p:nvSpPr>
            <p:cNvPr id="14" name="文字方塊 13">
              <a:extLst>
                <a:ext uri="{FF2B5EF4-FFF2-40B4-BE49-F238E27FC236}">
                  <a16:creationId xmlns:a16="http://schemas.microsoft.com/office/drawing/2014/main" id="{D01A1104-73B5-00D7-C445-E411ABF45923}"/>
                </a:ext>
              </a:extLst>
            </p:cNvPr>
            <p:cNvSpPr txBox="1"/>
            <p:nvPr/>
          </p:nvSpPr>
          <p:spPr>
            <a:xfrm>
              <a:off x="4397461" y="4093655"/>
              <a:ext cx="593369" cy="990710"/>
            </a:xfrm>
            <a:prstGeom prst="rect">
              <a:avLst/>
            </a:prstGeom>
            <a:solidFill>
              <a:schemeClr val="bg2">
                <a:lumMod val="90000"/>
              </a:schemeClr>
            </a:solidFill>
            <a:ln w="25400">
              <a:solidFill>
                <a:schemeClr val="bg1">
                  <a:lumMod val="75000"/>
                  <a:alpha val="60000"/>
                </a:schemeClr>
              </a:solidFill>
              <a:prstDash val="solid"/>
            </a:ln>
          </p:spPr>
          <p:txBody>
            <a:bodyPr wrap="none" lIns="0" tIns="91440" rIns="0" bIns="0" anchor="t" anchorCtr="1">
              <a:noAutofit/>
            </a:bodyPr>
            <a:lstStyle/>
            <a:p>
              <a:pPr algn="ctr">
                <a:lnSpc>
                  <a:spcPts val="1600"/>
                </a:lnSpc>
                <a:buNone/>
              </a:pPr>
              <a:r>
                <a:rPr lang="en-US" altLang="zh-TW" sz="1200" dirty="0">
                  <a:solidFill>
                    <a:schemeClr val="accent1">
                      <a:lumMod val="75000"/>
                    </a:schemeClr>
                  </a:solidFill>
                </a:rPr>
                <a:t>Power</a:t>
              </a:r>
              <a:br>
                <a:rPr lang="en-US" altLang="zh-TW" sz="1200" dirty="0">
                  <a:solidFill>
                    <a:schemeClr val="accent1">
                      <a:lumMod val="75000"/>
                    </a:schemeClr>
                  </a:solidFill>
                </a:rPr>
              </a:br>
              <a:r>
                <a:rPr lang="en-US" altLang="zh-TW" sz="1200" dirty="0">
                  <a:solidFill>
                    <a:schemeClr val="accent1">
                      <a:lumMod val="75000"/>
                    </a:schemeClr>
                  </a:solidFill>
                </a:rPr>
                <a:t>Supply</a:t>
              </a:r>
            </a:p>
          </p:txBody>
        </p:sp>
        <p:pic>
          <p:nvPicPr>
            <p:cNvPr id="19" name="圖片 18">
              <a:extLst>
                <a:ext uri="{FF2B5EF4-FFF2-40B4-BE49-F238E27FC236}">
                  <a16:creationId xmlns:a16="http://schemas.microsoft.com/office/drawing/2014/main" id="{C84BDED7-0B93-3079-2719-BAB7E5456ECC}"/>
                </a:ext>
              </a:extLst>
            </p:cNvPr>
            <p:cNvPicPr>
              <a:picLocks noChangeAspect="1"/>
            </p:cNvPicPr>
            <p:nvPr/>
          </p:nvPicPr>
          <p:blipFill>
            <a:blip r:embed="rId6"/>
            <a:stretch>
              <a:fillRect/>
            </a:stretch>
          </p:blipFill>
          <p:spPr>
            <a:xfrm>
              <a:off x="4442118" y="4605603"/>
              <a:ext cx="501032" cy="417188"/>
            </a:xfrm>
            <a:prstGeom prst="rect">
              <a:avLst/>
            </a:prstGeom>
            <a:effectLst>
              <a:glow rad="25400">
                <a:schemeClr val="bg2">
                  <a:lumMod val="90000"/>
                  <a:alpha val="40000"/>
                </a:schemeClr>
              </a:glow>
              <a:softEdge rad="50800"/>
            </a:effectLst>
          </p:spPr>
        </p:pic>
        <p:sp>
          <p:nvSpPr>
            <p:cNvPr id="8" name="文字方塊 7">
              <a:extLst>
                <a:ext uri="{FF2B5EF4-FFF2-40B4-BE49-F238E27FC236}">
                  <a16:creationId xmlns:a16="http://schemas.microsoft.com/office/drawing/2014/main" id="{9D8C3707-1EA3-7FE0-9D95-1BE8C58F4FDD}"/>
                </a:ext>
              </a:extLst>
            </p:cNvPr>
            <p:cNvSpPr txBox="1"/>
            <p:nvPr/>
          </p:nvSpPr>
          <p:spPr>
            <a:xfrm>
              <a:off x="3489122" y="4580310"/>
              <a:ext cx="694443" cy="282507"/>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200" dirty="0">
                  <a:solidFill>
                    <a:schemeClr val="accent1">
                      <a:lumMod val="75000"/>
                    </a:schemeClr>
                  </a:solidFill>
                </a:rPr>
                <a:t>HBM</a:t>
              </a:r>
            </a:p>
          </p:txBody>
        </p:sp>
        <p:sp>
          <p:nvSpPr>
            <p:cNvPr id="26" name="文字方塊 25">
              <a:extLst>
                <a:ext uri="{FF2B5EF4-FFF2-40B4-BE49-F238E27FC236}">
                  <a16:creationId xmlns:a16="http://schemas.microsoft.com/office/drawing/2014/main" id="{0C0E51FE-B1B9-2F1D-8CEB-2305EE662E3B}"/>
                </a:ext>
              </a:extLst>
            </p:cNvPr>
            <p:cNvSpPr txBox="1"/>
            <p:nvPr/>
          </p:nvSpPr>
          <p:spPr>
            <a:xfrm>
              <a:off x="3482122" y="3410762"/>
              <a:ext cx="701444" cy="310303"/>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accent1">
                      <a:lumMod val="75000"/>
                    </a:schemeClr>
                  </a:solidFill>
                </a:rPr>
                <a:t>VRAM</a:t>
              </a:r>
            </a:p>
          </p:txBody>
        </p:sp>
        <p:sp>
          <p:nvSpPr>
            <p:cNvPr id="27" name="文字方塊 26">
              <a:extLst>
                <a:ext uri="{FF2B5EF4-FFF2-40B4-BE49-F238E27FC236}">
                  <a16:creationId xmlns:a16="http://schemas.microsoft.com/office/drawing/2014/main" id="{DC0F9EFC-2CDF-7EEE-5869-CBDFDC439659}"/>
                </a:ext>
              </a:extLst>
            </p:cNvPr>
            <p:cNvSpPr txBox="1"/>
            <p:nvPr/>
          </p:nvSpPr>
          <p:spPr>
            <a:xfrm>
              <a:off x="3482122" y="3793519"/>
              <a:ext cx="694443" cy="215578"/>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accent1">
                      <a:lumMod val="75000"/>
                    </a:schemeClr>
                  </a:solidFill>
                </a:rPr>
                <a:t>DRAM</a:t>
              </a:r>
            </a:p>
          </p:txBody>
        </p:sp>
        <p:sp>
          <p:nvSpPr>
            <p:cNvPr id="63" name="文字方塊 62">
              <a:extLst>
                <a:ext uri="{FF2B5EF4-FFF2-40B4-BE49-F238E27FC236}">
                  <a16:creationId xmlns:a16="http://schemas.microsoft.com/office/drawing/2014/main" id="{3FF28B19-630C-C4AF-CFA7-EAB52395F875}"/>
                </a:ext>
              </a:extLst>
            </p:cNvPr>
            <p:cNvSpPr txBox="1"/>
            <p:nvPr/>
          </p:nvSpPr>
          <p:spPr>
            <a:xfrm>
              <a:off x="3397169" y="4085197"/>
              <a:ext cx="374373" cy="283940"/>
            </a:xfrm>
            <a:prstGeom prst="rect">
              <a:avLst/>
            </a:prstGeom>
            <a:solidFill>
              <a:schemeClr val="accent1">
                <a:lumMod val="20000"/>
                <a:lumOff val="80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b="1" dirty="0">
                  <a:solidFill>
                    <a:schemeClr val="accent1">
                      <a:lumMod val="75000"/>
                    </a:schemeClr>
                  </a:solidFill>
                </a:rPr>
                <a:t>CPU</a:t>
              </a:r>
            </a:p>
          </p:txBody>
        </p:sp>
        <p:sp>
          <p:nvSpPr>
            <p:cNvPr id="64" name="文字方塊 63">
              <a:extLst>
                <a:ext uri="{FF2B5EF4-FFF2-40B4-BE49-F238E27FC236}">
                  <a16:creationId xmlns:a16="http://schemas.microsoft.com/office/drawing/2014/main" id="{A9BC8E6C-B231-2A66-CFDB-3B73F0F001DC}"/>
                </a:ext>
              </a:extLst>
            </p:cNvPr>
            <p:cNvSpPr txBox="1"/>
            <p:nvPr/>
          </p:nvSpPr>
          <p:spPr>
            <a:xfrm>
              <a:off x="3901225" y="4081005"/>
              <a:ext cx="374373" cy="288132"/>
            </a:xfrm>
            <a:prstGeom prst="rect">
              <a:avLst/>
            </a:prstGeom>
            <a:solidFill>
              <a:schemeClr val="accent3">
                <a:lumMod val="40000"/>
                <a:lumOff val="60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accent1">
                      <a:lumMod val="75000"/>
                    </a:schemeClr>
                  </a:solidFill>
                </a:rPr>
                <a:t>GPUs</a:t>
              </a:r>
            </a:p>
          </p:txBody>
        </p:sp>
        <p:sp>
          <p:nvSpPr>
            <p:cNvPr id="93" name="箭號: 左-右雙向 92">
              <a:extLst>
                <a:ext uri="{FF2B5EF4-FFF2-40B4-BE49-F238E27FC236}">
                  <a16:creationId xmlns:a16="http://schemas.microsoft.com/office/drawing/2014/main" id="{3B4E4F7A-91C2-D010-038A-A5232C7206A6}"/>
                </a:ext>
              </a:extLst>
            </p:cNvPr>
            <p:cNvSpPr/>
            <p:nvPr/>
          </p:nvSpPr>
          <p:spPr>
            <a:xfrm rot="5400000">
              <a:off x="3674485" y="4360316"/>
              <a:ext cx="314405" cy="194363"/>
            </a:xfrm>
            <a:prstGeom prst="leftRightArrow">
              <a:avLst/>
            </a:prstGeom>
            <a:solidFill>
              <a:schemeClr val="accent6">
                <a:lumMod val="20000"/>
                <a:lumOff val="80000"/>
              </a:schemeClr>
            </a:solidFill>
            <a:ln w="15875">
              <a:solidFill>
                <a:srgbClr val="FEC2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箭號: 左-右雙向 93">
              <a:extLst>
                <a:ext uri="{FF2B5EF4-FFF2-40B4-BE49-F238E27FC236}">
                  <a16:creationId xmlns:a16="http://schemas.microsoft.com/office/drawing/2014/main" id="{30A2E10D-A76F-DC3A-C485-9129A3786C2B}"/>
                </a:ext>
              </a:extLst>
            </p:cNvPr>
            <p:cNvSpPr/>
            <p:nvPr/>
          </p:nvSpPr>
          <p:spPr>
            <a:xfrm rot="5400000">
              <a:off x="3388169" y="5130875"/>
              <a:ext cx="433026" cy="204616"/>
            </a:xfrm>
            <a:prstGeom prst="leftRightArrow">
              <a:avLst/>
            </a:prstGeom>
            <a:solidFill>
              <a:schemeClr val="accent6">
                <a:lumMod val="20000"/>
                <a:lumOff val="80000"/>
              </a:schemeClr>
            </a:solidFill>
            <a:ln w="15875">
              <a:solidFill>
                <a:srgbClr val="FEC2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 name="文字方塊 3">
            <a:extLst>
              <a:ext uri="{FF2B5EF4-FFF2-40B4-BE49-F238E27FC236}">
                <a16:creationId xmlns:a16="http://schemas.microsoft.com/office/drawing/2014/main" id="{DD02B1F1-157F-CCBD-EC1B-B4EF121A31FC}"/>
              </a:ext>
            </a:extLst>
          </p:cNvPr>
          <p:cNvSpPr txBox="1"/>
          <p:nvPr/>
        </p:nvSpPr>
        <p:spPr>
          <a:xfrm>
            <a:off x="99753" y="2366219"/>
            <a:ext cx="2713240" cy="53889"/>
          </a:xfrm>
          <a:prstGeom prst="rect">
            <a:avLst/>
          </a:prstGeom>
          <a:solidFill>
            <a:schemeClr val="bg2">
              <a:lumMod val="90000"/>
              <a:alpha val="80000"/>
            </a:schemeClr>
          </a:solidFill>
          <a:ln w="12700">
            <a:solidFill>
              <a:schemeClr val="bg2">
                <a:lumMod val="50000"/>
                <a:alpha val="60000"/>
              </a:schemeClr>
            </a:solidFill>
            <a:prstDash val="solid"/>
          </a:ln>
        </p:spPr>
        <p:txBody>
          <a:bodyPr wrap="none" lIns="0" tIns="0" rIns="0" bIns="91440" anchor="ctr" anchorCtr="1">
            <a:noAutofit/>
          </a:bodyPr>
          <a:lstStyle/>
          <a:p>
            <a:pPr algn="ctr">
              <a:lnSpc>
                <a:spcPts val="1200"/>
              </a:lnSpc>
              <a:buNone/>
            </a:pPr>
            <a:r>
              <a:rPr lang="en-US" altLang="zh-TW" sz="800" dirty="0">
                <a:solidFill>
                  <a:schemeClr val="bg2">
                    <a:lumMod val="25000"/>
                  </a:schemeClr>
                </a:solidFill>
                <a:latin typeface="Consolas" panose="020B0609020204030204" pitchFamily="49" charset="0"/>
                <a:ea typeface="Dotum" panose="020B0600000101010101" pitchFamily="34" charset="-127"/>
              </a:rPr>
              <a:t>CCL</a:t>
            </a:r>
          </a:p>
        </p:txBody>
      </p:sp>
      <p:sp>
        <p:nvSpPr>
          <p:cNvPr id="72" name="圖說文字: 直線 71">
            <a:extLst>
              <a:ext uri="{FF2B5EF4-FFF2-40B4-BE49-F238E27FC236}">
                <a16:creationId xmlns:a16="http://schemas.microsoft.com/office/drawing/2014/main" id="{544BD0B8-6554-12C4-6C7E-D294362D7431}"/>
              </a:ext>
            </a:extLst>
          </p:cNvPr>
          <p:cNvSpPr/>
          <p:nvPr/>
        </p:nvSpPr>
        <p:spPr>
          <a:xfrm flipH="1">
            <a:off x="1614346" y="4984921"/>
            <a:ext cx="1948127" cy="1180383"/>
          </a:xfrm>
          <a:prstGeom prst="borderCallout1">
            <a:avLst>
              <a:gd name="adj1" fmla="val 15212"/>
              <a:gd name="adj2" fmla="val 9855"/>
              <a:gd name="adj3" fmla="val 15431"/>
              <a:gd name="adj4" fmla="val -44781"/>
            </a:avLst>
          </a:prstGeom>
          <a:solidFill>
            <a:schemeClr val="accent3">
              <a:lumMod val="20000"/>
              <a:lumOff val="80000"/>
              <a:alpha val="60000"/>
            </a:schemeClr>
          </a:solidFill>
          <a:ln w="127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graphicFrame>
        <p:nvGraphicFramePr>
          <p:cNvPr id="59" name="表格 58">
            <a:extLst>
              <a:ext uri="{FF2B5EF4-FFF2-40B4-BE49-F238E27FC236}">
                <a16:creationId xmlns:a16="http://schemas.microsoft.com/office/drawing/2014/main" id="{5636D711-FB7E-333E-E7C4-646F0828B748}"/>
              </a:ext>
            </a:extLst>
          </p:cNvPr>
          <p:cNvGraphicFramePr>
            <a:graphicFrameLocks noGrp="1"/>
          </p:cNvGraphicFramePr>
          <p:nvPr>
            <p:extLst>
              <p:ext uri="{D42A27DB-BD31-4B8C-83A1-F6EECF244321}">
                <p14:modId xmlns:p14="http://schemas.microsoft.com/office/powerpoint/2010/main" val="1768141321"/>
              </p:ext>
            </p:extLst>
          </p:nvPr>
        </p:nvGraphicFramePr>
        <p:xfrm>
          <a:off x="1679771" y="4992544"/>
          <a:ext cx="1805818" cy="1158201"/>
        </p:xfrm>
        <a:graphic>
          <a:graphicData uri="http://schemas.openxmlformats.org/drawingml/2006/table">
            <a:tbl>
              <a:tblPr firstRow="1" bandRow="1">
                <a:tableStyleId>{5C22544A-7EE6-4342-B048-85BDC9FD1C3A}</a:tableStyleId>
              </a:tblPr>
              <a:tblGrid>
                <a:gridCol w="1805818">
                  <a:extLst>
                    <a:ext uri="{9D8B030D-6E8A-4147-A177-3AD203B41FA5}">
                      <a16:colId xmlns:a16="http://schemas.microsoft.com/office/drawing/2014/main" val="4512040"/>
                    </a:ext>
                  </a:extLst>
                </a:gridCol>
              </a:tblGrid>
              <a:tr h="243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GPU</a:t>
                      </a: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2">
                          <a:lumMod val="40000"/>
                          <a:lumOff val="6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Heat Sink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2">
                          <a:lumMod val="40000"/>
                          <a:lumOff val="6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GPU</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NPU (TPU, LPU)</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1"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667885057"/>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H100</a:t>
                      </a:r>
                      <a:endParaRPr kumimoji="0" lang="zh-TW" altLang="en-US" sz="1200" b="1"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494769247"/>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Cost: $3k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 $30k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14490171"/>
                  </a:ext>
                </a:extLst>
              </a:tr>
            </a:tbl>
          </a:graphicData>
        </a:graphic>
      </p:graphicFrame>
      <p:grpSp>
        <p:nvGrpSpPr>
          <p:cNvPr id="83" name="群組 82">
            <a:extLst>
              <a:ext uri="{FF2B5EF4-FFF2-40B4-BE49-F238E27FC236}">
                <a16:creationId xmlns:a16="http://schemas.microsoft.com/office/drawing/2014/main" id="{51E2C6B6-8793-6529-AA7D-D3860FB1A902}"/>
              </a:ext>
            </a:extLst>
          </p:cNvPr>
          <p:cNvGrpSpPr/>
          <p:nvPr/>
        </p:nvGrpSpPr>
        <p:grpSpPr>
          <a:xfrm>
            <a:off x="341707" y="5063065"/>
            <a:ext cx="974139" cy="1059346"/>
            <a:chOff x="6114065" y="721121"/>
            <a:chExt cx="974139" cy="1059346"/>
          </a:xfrm>
        </p:grpSpPr>
        <p:sp>
          <p:nvSpPr>
            <p:cNvPr id="74" name="局部圓 73">
              <a:extLst>
                <a:ext uri="{FF2B5EF4-FFF2-40B4-BE49-F238E27FC236}">
                  <a16:creationId xmlns:a16="http://schemas.microsoft.com/office/drawing/2014/main" id="{6318DF37-E999-2DD5-1752-87FF1E412CC6}"/>
                </a:ext>
              </a:extLst>
            </p:cNvPr>
            <p:cNvSpPr/>
            <p:nvPr/>
          </p:nvSpPr>
          <p:spPr>
            <a:xfrm>
              <a:off x="6114742" y="721121"/>
              <a:ext cx="914400" cy="914400"/>
            </a:xfrm>
            <a:prstGeom prst="pie">
              <a:avLst>
                <a:gd name="adj1" fmla="val 7541408"/>
                <a:gd name="adj2" fmla="val 16216173"/>
              </a:avLst>
            </a:prstGeom>
            <a:solidFill>
              <a:schemeClr val="accent5">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75" name="局部圓 74">
              <a:extLst>
                <a:ext uri="{FF2B5EF4-FFF2-40B4-BE49-F238E27FC236}">
                  <a16:creationId xmlns:a16="http://schemas.microsoft.com/office/drawing/2014/main" id="{159C8DCC-F1B5-7DD7-55B5-E1F74FC268BF}"/>
                </a:ext>
              </a:extLst>
            </p:cNvPr>
            <p:cNvSpPr/>
            <p:nvPr/>
          </p:nvSpPr>
          <p:spPr>
            <a:xfrm>
              <a:off x="6114065" y="721121"/>
              <a:ext cx="914400" cy="914400"/>
            </a:xfrm>
            <a:prstGeom prst="pie">
              <a:avLst>
                <a:gd name="adj1" fmla="val 16168017"/>
                <a:gd name="adj2" fmla="val 20664875"/>
              </a:avLst>
            </a:prstGeom>
            <a:solidFill>
              <a:schemeClr val="accent2">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6" name="局部圓 75">
              <a:extLst>
                <a:ext uri="{FF2B5EF4-FFF2-40B4-BE49-F238E27FC236}">
                  <a16:creationId xmlns:a16="http://schemas.microsoft.com/office/drawing/2014/main" id="{E79DA6A8-C74C-7E42-D452-E6336876908F}"/>
                </a:ext>
              </a:extLst>
            </p:cNvPr>
            <p:cNvSpPr/>
            <p:nvPr/>
          </p:nvSpPr>
          <p:spPr>
            <a:xfrm>
              <a:off x="6114742" y="721121"/>
              <a:ext cx="914400" cy="914400"/>
            </a:xfrm>
            <a:prstGeom prst="pie">
              <a:avLst>
                <a:gd name="adj1" fmla="val 5382360"/>
                <a:gd name="adj2" fmla="val 7565593"/>
              </a:avLst>
            </a:prstGeom>
            <a:solidFill>
              <a:schemeClr val="accent3">
                <a:lumMod val="60000"/>
                <a:lumOff val="4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7" name="局部圓 76">
              <a:extLst>
                <a:ext uri="{FF2B5EF4-FFF2-40B4-BE49-F238E27FC236}">
                  <a16:creationId xmlns:a16="http://schemas.microsoft.com/office/drawing/2014/main" id="{398AE0E3-A20E-3CB5-C622-8E0853866E77}"/>
                </a:ext>
              </a:extLst>
            </p:cNvPr>
            <p:cNvSpPr/>
            <p:nvPr/>
          </p:nvSpPr>
          <p:spPr>
            <a:xfrm>
              <a:off x="6114742" y="721121"/>
              <a:ext cx="914400" cy="914400"/>
            </a:xfrm>
            <a:prstGeom prst="pie">
              <a:avLst>
                <a:gd name="adj1" fmla="val 20608227"/>
                <a:gd name="adj2" fmla="val 5417483"/>
              </a:avLst>
            </a:prstGeom>
            <a:solidFill>
              <a:schemeClr val="accent6">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9" name="文字方塊 78">
              <a:extLst>
                <a:ext uri="{FF2B5EF4-FFF2-40B4-BE49-F238E27FC236}">
                  <a16:creationId xmlns:a16="http://schemas.microsoft.com/office/drawing/2014/main" id="{D7EEC988-4220-9871-303F-58D7D4EE3486}"/>
                </a:ext>
              </a:extLst>
            </p:cNvPr>
            <p:cNvSpPr txBox="1"/>
            <p:nvPr/>
          </p:nvSpPr>
          <p:spPr>
            <a:xfrm>
              <a:off x="6316858" y="1472690"/>
              <a:ext cx="400751" cy="307777"/>
            </a:xfrm>
            <a:prstGeom prst="rect">
              <a:avLst/>
            </a:prstGeom>
            <a:noFill/>
          </p:spPr>
          <p:txBody>
            <a:bodyPr wrap="none" lIns="0" tIns="0" rIns="0" bIns="0" rtlCol="0">
              <a:spAutoFit/>
            </a:bodyPr>
            <a:lstStyle/>
            <a:p>
              <a:r>
                <a:rPr lang="en-US" altLang="zh-TW" sz="1000" dirty="0"/>
                <a:t>10%</a:t>
              </a:r>
            </a:p>
            <a:p>
              <a:r>
                <a:rPr lang="en-US" altLang="zh-TW" sz="1000" dirty="0"/>
                <a:t>AI Logic</a:t>
              </a:r>
            </a:p>
          </p:txBody>
        </p:sp>
        <p:sp>
          <p:nvSpPr>
            <p:cNvPr id="80" name="文字方塊 79">
              <a:extLst>
                <a:ext uri="{FF2B5EF4-FFF2-40B4-BE49-F238E27FC236}">
                  <a16:creationId xmlns:a16="http://schemas.microsoft.com/office/drawing/2014/main" id="{E2151F94-73FC-67A4-8164-AE08698F48E8}"/>
                </a:ext>
              </a:extLst>
            </p:cNvPr>
            <p:cNvSpPr txBox="1"/>
            <p:nvPr/>
          </p:nvSpPr>
          <p:spPr>
            <a:xfrm>
              <a:off x="6646361" y="1196752"/>
              <a:ext cx="427973" cy="307777"/>
            </a:xfrm>
            <a:prstGeom prst="rect">
              <a:avLst/>
            </a:prstGeom>
            <a:noFill/>
          </p:spPr>
          <p:txBody>
            <a:bodyPr wrap="square" lIns="0" tIns="0" rIns="0" bIns="0" rtlCol="0">
              <a:spAutoFit/>
            </a:bodyPr>
            <a:lstStyle/>
            <a:p>
              <a:r>
                <a:rPr lang="en-US" altLang="zh-TW" sz="1000" dirty="0"/>
                <a:t>Others</a:t>
              </a:r>
            </a:p>
            <a:p>
              <a:r>
                <a:rPr lang="en-US" altLang="zh-TW" sz="1000" dirty="0"/>
                <a:t>30%</a:t>
              </a:r>
              <a:endParaRPr lang="zh-TW" altLang="en-US" sz="1000" dirty="0"/>
            </a:p>
          </p:txBody>
        </p:sp>
        <p:sp>
          <p:nvSpPr>
            <p:cNvPr id="81" name="文字方塊 80">
              <a:extLst>
                <a:ext uri="{FF2B5EF4-FFF2-40B4-BE49-F238E27FC236}">
                  <a16:creationId xmlns:a16="http://schemas.microsoft.com/office/drawing/2014/main" id="{F84B974F-0120-1F4A-F7AE-A1AF219047CF}"/>
                </a:ext>
              </a:extLst>
            </p:cNvPr>
            <p:cNvSpPr txBox="1"/>
            <p:nvPr/>
          </p:nvSpPr>
          <p:spPr>
            <a:xfrm>
              <a:off x="6660231" y="744959"/>
              <a:ext cx="427973" cy="307777"/>
            </a:xfrm>
            <a:prstGeom prst="rect">
              <a:avLst/>
            </a:prstGeom>
            <a:noFill/>
          </p:spPr>
          <p:txBody>
            <a:bodyPr wrap="square" lIns="0" tIns="0" rIns="0" bIns="0" rtlCol="0">
              <a:spAutoFit/>
            </a:bodyPr>
            <a:lstStyle/>
            <a:p>
              <a:r>
                <a:rPr lang="en-US" altLang="zh-TW" sz="1000" dirty="0"/>
                <a:t>CoWoS</a:t>
              </a:r>
            </a:p>
            <a:p>
              <a:r>
                <a:rPr lang="en-US" altLang="zh-TW" sz="1000" dirty="0"/>
                <a:t>20%</a:t>
              </a:r>
              <a:endParaRPr lang="zh-TW" altLang="en-US" sz="1000" dirty="0"/>
            </a:p>
          </p:txBody>
        </p:sp>
        <p:sp>
          <p:nvSpPr>
            <p:cNvPr id="82" name="文字方塊 81">
              <a:extLst>
                <a:ext uri="{FF2B5EF4-FFF2-40B4-BE49-F238E27FC236}">
                  <a16:creationId xmlns:a16="http://schemas.microsoft.com/office/drawing/2014/main" id="{F5DC86B6-19C6-6CF7-6537-3527E6954E19}"/>
                </a:ext>
              </a:extLst>
            </p:cNvPr>
            <p:cNvSpPr txBox="1"/>
            <p:nvPr/>
          </p:nvSpPr>
          <p:spPr>
            <a:xfrm>
              <a:off x="6215096" y="975445"/>
              <a:ext cx="259686" cy="307777"/>
            </a:xfrm>
            <a:prstGeom prst="rect">
              <a:avLst/>
            </a:prstGeom>
            <a:noFill/>
          </p:spPr>
          <p:txBody>
            <a:bodyPr wrap="none" lIns="0" tIns="0" rIns="0" bIns="0" rtlCol="0">
              <a:spAutoFit/>
            </a:bodyPr>
            <a:lstStyle/>
            <a:p>
              <a:r>
                <a:rPr lang="en-US" altLang="zh-TW" sz="1000" dirty="0"/>
                <a:t>HBM</a:t>
              </a:r>
            </a:p>
            <a:p>
              <a:r>
                <a:rPr lang="en-US" altLang="zh-TW" sz="1000" dirty="0"/>
                <a:t>40%</a:t>
              </a:r>
              <a:endParaRPr lang="zh-TW" altLang="en-US" sz="1000" dirty="0"/>
            </a:p>
          </p:txBody>
        </p:sp>
      </p:grpSp>
      <p:sp>
        <p:nvSpPr>
          <p:cNvPr id="109" name="標題 1">
            <a:extLst>
              <a:ext uri="{FF2B5EF4-FFF2-40B4-BE49-F238E27FC236}">
                <a16:creationId xmlns:a16="http://schemas.microsoft.com/office/drawing/2014/main" id="{68E09E29-AD82-E2FC-CBF9-516DE03BD1C4}"/>
              </a:ext>
            </a:extLst>
          </p:cNvPr>
          <p:cNvSpPr txBox="1">
            <a:spLocks/>
          </p:cNvSpPr>
          <p:nvPr/>
        </p:nvSpPr>
        <p:spPr>
          <a:xfrm>
            <a:off x="179512" y="116632"/>
            <a:ext cx="7713554"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Training Cluster</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99% computing power is used for pre-training.</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19" name="文字方塊 118">
            <a:extLst>
              <a:ext uri="{FF2B5EF4-FFF2-40B4-BE49-F238E27FC236}">
                <a16:creationId xmlns:a16="http://schemas.microsoft.com/office/drawing/2014/main" id="{CA381C43-436B-65A1-4841-1037CA2C52E4}"/>
              </a:ext>
            </a:extLst>
          </p:cNvPr>
          <p:cNvSpPr txBox="1"/>
          <p:nvPr/>
        </p:nvSpPr>
        <p:spPr>
          <a:xfrm>
            <a:off x="1102153" y="1196966"/>
            <a:ext cx="1309608" cy="427273"/>
          </a:xfrm>
          <a:prstGeom prst="rect">
            <a:avLst/>
          </a:prstGeom>
          <a:solidFill>
            <a:schemeClr val="tx1">
              <a:alpha val="80000"/>
            </a:schemeClr>
          </a:solidFill>
          <a:ln w="12700">
            <a:solidFill>
              <a:schemeClr val="bg1">
                <a:lumMod val="75000"/>
                <a:alpha val="60000"/>
              </a:schemeClr>
            </a:solidFill>
            <a:prstDash val="solid"/>
          </a:ln>
        </p:spPr>
        <p:txBody>
          <a:bodyPr wrap="none" lIns="0" tIns="0" rIns="0" bIns="0" anchor="t" anchorCtr="1">
            <a:noAutofit/>
          </a:bodyPr>
          <a:lstStyle/>
          <a:p>
            <a:pPr algn="ctr">
              <a:lnSpc>
                <a:spcPts val="1400"/>
              </a:lnSpc>
              <a:buNone/>
            </a:pPr>
            <a:endParaRPr lang="en-US" altLang="zh-TW" sz="1000" dirty="0">
              <a:solidFill>
                <a:schemeClr val="bg1"/>
              </a:solidFill>
            </a:endParaRPr>
          </a:p>
        </p:txBody>
      </p:sp>
      <p:sp>
        <p:nvSpPr>
          <p:cNvPr id="112" name="文字方塊 111">
            <a:extLst>
              <a:ext uri="{FF2B5EF4-FFF2-40B4-BE49-F238E27FC236}">
                <a16:creationId xmlns:a16="http://schemas.microsoft.com/office/drawing/2014/main" id="{F371D4B4-9463-0DC8-DE44-9C6B8F4D3FA4}"/>
              </a:ext>
            </a:extLst>
          </p:cNvPr>
          <p:cNvSpPr txBox="1"/>
          <p:nvPr/>
        </p:nvSpPr>
        <p:spPr>
          <a:xfrm>
            <a:off x="107504" y="2462003"/>
            <a:ext cx="2713240" cy="174909"/>
          </a:xfrm>
          <a:prstGeom prst="rect">
            <a:avLst/>
          </a:prstGeom>
          <a:solidFill>
            <a:schemeClr val="accent1">
              <a:lumMod val="50000"/>
              <a:alpha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b="1" dirty="0">
                <a:solidFill>
                  <a:srgbClr val="FFFF00"/>
                </a:solidFill>
              </a:rPr>
              <a:t>PCB</a:t>
            </a:r>
            <a:endParaRPr lang="en-US" altLang="zh-TW" sz="1000" b="1" dirty="0">
              <a:solidFill>
                <a:schemeClr val="bg1"/>
              </a:solidFill>
            </a:endParaRPr>
          </a:p>
        </p:txBody>
      </p:sp>
      <p:sp>
        <p:nvSpPr>
          <p:cNvPr id="113" name="文字方塊 112">
            <a:extLst>
              <a:ext uri="{FF2B5EF4-FFF2-40B4-BE49-F238E27FC236}">
                <a16:creationId xmlns:a16="http://schemas.microsoft.com/office/drawing/2014/main" id="{D2BC7B88-305C-460C-34D8-E0B1F6E683E1}"/>
              </a:ext>
            </a:extLst>
          </p:cNvPr>
          <p:cNvSpPr txBox="1"/>
          <p:nvPr/>
        </p:nvSpPr>
        <p:spPr>
          <a:xfrm>
            <a:off x="228338" y="1669931"/>
            <a:ext cx="605575" cy="315406"/>
          </a:xfrm>
          <a:prstGeom prst="rect">
            <a:avLst/>
          </a:prstGeom>
          <a:solidFill>
            <a:schemeClr val="tx1">
              <a:alpha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endParaRPr lang="en-US" altLang="zh-TW" sz="1000" dirty="0">
              <a:solidFill>
                <a:schemeClr val="bg1"/>
              </a:solidFill>
            </a:endParaRPr>
          </a:p>
          <a:p>
            <a:pPr algn="ctr">
              <a:lnSpc>
                <a:spcPts val="1400"/>
              </a:lnSpc>
              <a:buNone/>
            </a:pPr>
            <a:endParaRPr lang="en-US" altLang="zh-TW" sz="1000" dirty="0">
              <a:solidFill>
                <a:schemeClr val="bg1"/>
              </a:solidFill>
            </a:endParaRPr>
          </a:p>
          <a:p>
            <a:pPr algn="ctr">
              <a:lnSpc>
                <a:spcPts val="1400"/>
              </a:lnSpc>
              <a:buNone/>
            </a:pPr>
            <a:endParaRPr lang="en-US" altLang="zh-TW" sz="1000" dirty="0">
              <a:solidFill>
                <a:schemeClr val="bg1"/>
              </a:solidFill>
            </a:endParaRPr>
          </a:p>
        </p:txBody>
      </p:sp>
      <p:sp>
        <p:nvSpPr>
          <p:cNvPr id="114" name="文字方塊 113">
            <a:extLst>
              <a:ext uri="{FF2B5EF4-FFF2-40B4-BE49-F238E27FC236}">
                <a16:creationId xmlns:a16="http://schemas.microsoft.com/office/drawing/2014/main" id="{ED769831-B92D-1740-0510-4C2533E871DB}"/>
              </a:ext>
            </a:extLst>
          </p:cNvPr>
          <p:cNvSpPr txBox="1"/>
          <p:nvPr/>
        </p:nvSpPr>
        <p:spPr>
          <a:xfrm>
            <a:off x="1216659" y="1262806"/>
            <a:ext cx="403014" cy="191102"/>
          </a:xfrm>
          <a:prstGeom prst="rect">
            <a:avLst/>
          </a:prstGeom>
          <a:solidFill>
            <a:schemeClr val="accent3">
              <a:lumMod val="20000"/>
              <a:lumOff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AI</a:t>
            </a:r>
          </a:p>
        </p:txBody>
      </p:sp>
      <p:sp>
        <p:nvSpPr>
          <p:cNvPr id="115" name="文字方塊 114">
            <a:extLst>
              <a:ext uri="{FF2B5EF4-FFF2-40B4-BE49-F238E27FC236}">
                <a16:creationId xmlns:a16="http://schemas.microsoft.com/office/drawing/2014/main" id="{08986BF0-1E74-CCBD-2478-ED99530A83AF}"/>
              </a:ext>
            </a:extLst>
          </p:cNvPr>
          <p:cNvSpPr txBox="1"/>
          <p:nvPr/>
        </p:nvSpPr>
        <p:spPr>
          <a:xfrm>
            <a:off x="1691680" y="1256532"/>
            <a:ext cx="605575" cy="191921"/>
          </a:xfrm>
          <a:prstGeom prst="rect">
            <a:avLst/>
          </a:prstGeom>
          <a:solidFill>
            <a:schemeClr val="bg1">
              <a:lumMod val="95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HBM</a:t>
            </a:r>
          </a:p>
        </p:txBody>
      </p:sp>
      <p:sp>
        <p:nvSpPr>
          <p:cNvPr id="116" name="文字方塊 115">
            <a:extLst>
              <a:ext uri="{FF2B5EF4-FFF2-40B4-BE49-F238E27FC236}">
                <a16:creationId xmlns:a16="http://schemas.microsoft.com/office/drawing/2014/main" id="{2B77AD39-9BAB-0EE9-2923-C4B861554419}"/>
              </a:ext>
            </a:extLst>
          </p:cNvPr>
          <p:cNvSpPr txBox="1"/>
          <p:nvPr/>
        </p:nvSpPr>
        <p:spPr>
          <a:xfrm>
            <a:off x="1105735" y="1617401"/>
            <a:ext cx="1610032" cy="109505"/>
          </a:xfrm>
          <a:prstGeom prst="rect">
            <a:avLst/>
          </a:prstGeom>
          <a:solidFill>
            <a:schemeClr val="bg1">
              <a:lumMod val="85000"/>
              <a:alpha val="80000"/>
            </a:schemeClr>
          </a:solidFill>
          <a:ln w="12700">
            <a:solidFill>
              <a:schemeClr val="accent5">
                <a:lumMod val="60000"/>
                <a:lumOff val="40000"/>
                <a:alpha val="60000"/>
              </a:schemeClr>
            </a:solidFill>
            <a:prstDash val="solid"/>
          </a:ln>
        </p:spPr>
        <p:txBody>
          <a:bodyPr wrap="none" lIns="0" tIns="0" rIns="0" bIns="0" anchor="ctr" anchorCtr="1">
            <a:noAutofit/>
          </a:bodyPr>
          <a:lstStyle/>
          <a:p>
            <a:pPr algn="ctr">
              <a:lnSpc>
                <a:spcPts val="1000"/>
              </a:lnSpc>
              <a:buNone/>
            </a:pPr>
            <a:r>
              <a:rPr lang="en-US" altLang="zh-TW" sz="800" b="1" dirty="0">
                <a:solidFill>
                  <a:schemeClr val="accent5">
                    <a:lumMod val="50000"/>
                  </a:schemeClr>
                </a:solidFill>
              </a:rPr>
              <a:t>ABF</a:t>
            </a:r>
          </a:p>
        </p:txBody>
      </p:sp>
      <p:sp>
        <p:nvSpPr>
          <p:cNvPr id="118" name="文字方塊 117">
            <a:extLst>
              <a:ext uri="{FF2B5EF4-FFF2-40B4-BE49-F238E27FC236}">
                <a16:creationId xmlns:a16="http://schemas.microsoft.com/office/drawing/2014/main" id="{2C32C415-C6A7-1A55-6B27-FAFCF026D7FC}"/>
              </a:ext>
            </a:extLst>
          </p:cNvPr>
          <p:cNvSpPr txBox="1"/>
          <p:nvPr/>
        </p:nvSpPr>
        <p:spPr>
          <a:xfrm>
            <a:off x="1102152" y="1477746"/>
            <a:ext cx="1613615" cy="139655"/>
          </a:xfrm>
          <a:prstGeom prst="rect">
            <a:avLst/>
          </a:prstGeom>
          <a:solidFill>
            <a:schemeClr val="bg1"/>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tx2"/>
                </a:solidFill>
              </a:rPr>
              <a:t>CoWoS</a:t>
            </a:r>
          </a:p>
        </p:txBody>
      </p:sp>
      <p:sp>
        <p:nvSpPr>
          <p:cNvPr id="120" name="文字方塊 119">
            <a:extLst>
              <a:ext uri="{FF2B5EF4-FFF2-40B4-BE49-F238E27FC236}">
                <a16:creationId xmlns:a16="http://schemas.microsoft.com/office/drawing/2014/main" id="{E7D59F8F-9CBB-3F05-9D8B-07B44A31052C}"/>
              </a:ext>
            </a:extLst>
          </p:cNvPr>
          <p:cNvSpPr txBox="1"/>
          <p:nvPr/>
        </p:nvSpPr>
        <p:spPr>
          <a:xfrm>
            <a:off x="302604" y="1737073"/>
            <a:ext cx="452972" cy="185217"/>
          </a:xfrm>
          <a:prstGeom prst="rect">
            <a:avLst/>
          </a:prstGeom>
          <a:solidFill>
            <a:schemeClr val="accent3">
              <a:lumMod val="20000"/>
              <a:lumOff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Die</a:t>
            </a:r>
          </a:p>
        </p:txBody>
      </p:sp>
      <p:sp>
        <p:nvSpPr>
          <p:cNvPr id="5" name="文字方塊 4">
            <a:extLst>
              <a:ext uri="{FF2B5EF4-FFF2-40B4-BE49-F238E27FC236}">
                <a16:creationId xmlns:a16="http://schemas.microsoft.com/office/drawing/2014/main" id="{121F7389-FE99-E25C-D080-D7D749297A20}"/>
              </a:ext>
            </a:extLst>
          </p:cNvPr>
          <p:cNvSpPr txBox="1"/>
          <p:nvPr/>
        </p:nvSpPr>
        <p:spPr>
          <a:xfrm>
            <a:off x="1446145" y="980728"/>
            <a:ext cx="605575" cy="185217"/>
          </a:xfrm>
          <a:prstGeom prst="rect">
            <a:avLst/>
          </a:prstGeom>
          <a:noFill/>
          <a:ln w="25400">
            <a:noFill/>
            <a:prstDash val="solid"/>
          </a:ln>
        </p:spPr>
        <p:txBody>
          <a:bodyPr wrap="none" lIns="0" tIns="0" rIns="0" bIns="0" anchor="ctr" anchorCtr="1">
            <a:noAutofit/>
          </a:bodyPr>
          <a:lstStyle/>
          <a:p>
            <a:pPr algn="ctr">
              <a:lnSpc>
                <a:spcPts val="1400"/>
              </a:lnSpc>
              <a:buNone/>
            </a:pPr>
            <a:r>
              <a:rPr lang="en-US" altLang="zh-TW" sz="1200" b="1" dirty="0"/>
              <a:t>GPU</a:t>
            </a:r>
          </a:p>
        </p:txBody>
      </p:sp>
      <p:sp>
        <p:nvSpPr>
          <p:cNvPr id="13" name="文字方塊 12">
            <a:extLst>
              <a:ext uri="{FF2B5EF4-FFF2-40B4-BE49-F238E27FC236}">
                <a16:creationId xmlns:a16="http://schemas.microsoft.com/office/drawing/2014/main" id="{3B30E217-7054-5F7A-FCE4-DEACEB8BA5DD}"/>
              </a:ext>
            </a:extLst>
          </p:cNvPr>
          <p:cNvSpPr txBox="1"/>
          <p:nvPr/>
        </p:nvSpPr>
        <p:spPr>
          <a:xfrm>
            <a:off x="293763" y="1453907"/>
            <a:ext cx="461813" cy="185217"/>
          </a:xfrm>
          <a:prstGeom prst="rect">
            <a:avLst/>
          </a:prstGeom>
          <a:noFill/>
          <a:ln w="25400">
            <a:noFill/>
            <a:prstDash val="solid"/>
          </a:ln>
        </p:spPr>
        <p:txBody>
          <a:bodyPr wrap="none" lIns="0" tIns="0" rIns="0" bIns="0" anchor="ctr" anchorCtr="1">
            <a:noAutofit/>
          </a:bodyPr>
          <a:lstStyle/>
          <a:p>
            <a:pPr algn="ctr">
              <a:lnSpc>
                <a:spcPts val="1400"/>
              </a:lnSpc>
              <a:buNone/>
            </a:pPr>
            <a:r>
              <a:rPr lang="en-US" altLang="zh-TW" sz="1200" b="1" dirty="0"/>
              <a:t>Chip</a:t>
            </a:r>
          </a:p>
        </p:txBody>
      </p:sp>
      <p:sp>
        <p:nvSpPr>
          <p:cNvPr id="15" name="箭號: 向下 14">
            <a:extLst>
              <a:ext uri="{FF2B5EF4-FFF2-40B4-BE49-F238E27FC236}">
                <a16:creationId xmlns:a16="http://schemas.microsoft.com/office/drawing/2014/main" id="{02A44DF4-8763-88E2-EB02-7ECB3ABE721C}"/>
              </a:ext>
            </a:extLst>
          </p:cNvPr>
          <p:cNvSpPr/>
          <p:nvPr/>
        </p:nvSpPr>
        <p:spPr>
          <a:xfrm>
            <a:off x="1864042" y="2314886"/>
            <a:ext cx="259686" cy="219125"/>
          </a:xfrm>
          <a:prstGeom prst="downArrow">
            <a:avLst/>
          </a:prstGeom>
          <a:solidFill>
            <a:srgbClr val="FFFF00">
              <a:alpha val="80000"/>
            </a:srgbClr>
          </a:solidFill>
          <a:ln w="2540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箭號: 向下 17">
            <a:extLst>
              <a:ext uri="{FF2B5EF4-FFF2-40B4-BE49-F238E27FC236}">
                <a16:creationId xmlns:a16="http://schemas.microsoft.com/office/drawing/2014/main" id="{83AEB59A-FB02-45AE-F570-F21A384D9005}"/>
              </a:ext>
            </a:extLst>
          </p:cNvPr>
          <p:cNvSpPr/>
          <p:nvPr/>
        </p:nvSpPr>
        <p:spPr>
          <a:xfrm>
            <a:off x="394826" y="2314886"/>
            <a:ext cx="259686" cy="219125"/>
          </a:xfrm>
          <a:prstGeom prst="downArrow">
            <a:avLst/>
          </a:prstGeom>
          <a:solidFill>
            <a:srgbClr val="FFFF00">
              <a:alpha val="80000"/>
            </a:srgbClr>
          </a:solidFill>
          <a:ln w="2540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圖說文字: 直線 72">
            <a:extLst>
              <a:ext uri="{FF2B5EF4-FFF2-40B4-BE49-F238E27FC236}">
                <a16:creationId xmlns:a16="http://schemas.microsoft.com/office/drawing/2014/main" id="{575E85F5-D77C-8B6C-0BC3-A39DE326F76A}"/>
              </a:ext>
            </a:extLst>
          </p:cNvPr>
          <p:cNvSpPr/>
          <p:nvPr/>
        </p:nvSpPr>
        <p:spPr>
          <a:xfrm flipH="1">
            <a:off x="1615761" y="3147029"/>
            <a:ext cx="1948127" cy="1608749"/>
          </a:xfrm>
          <a:prstGeom prst="borderCallout1">
            <a:avLst>
              <a:gd name="adj1" fmla="val 49078"/>
              <a:gd name="adj2" fmla="val 4692"/>
              <a:gd name="adj3" fmla="val 48932"/>
              <a:gd name="adj4" fmla="val -32098"/>
            </a:avLst>
          </a:prstGeom>
          <a:solidFill>
            <a:schemeClr val="bg2">
              <a:alpha val="60000"/>
            </a:schemeClr>
          </a:solidFill>
          <a:ln w="127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cxnSp>
        <p:nvCxnSpPr>
          <p:cNvPr id="28" name="直線接點 27">
            <a:extLst>
              <a:ext uri="{FF2B5EF4-FFF2-40B4-BE49-F238E27FC236}">
                <a16:creationId xmlns:a16="http://schemas.microsoft.com/office/drawing/2014/main" id="{62305786-A7FA-C135-0BA8-B4BDE13C1E9B}"/>
              </a:ext>
            </a:extLst>
          </p:cNvPr>
          <p:cNvCxnSpPr>
            <a:cxnSpLocks/>
          </p:cNvCxnSpPr>
          <p:nvPr/>
        </p:nvCxnSpPr>
        <p:spPr>
          <a:xfrm>
            <a:off x="2534072" y="980728"/>
            <a:ext cx="0" cy="1275987"/>
          </a:xfrm>
          <a:prstGeom prst="line">
            <a:avLst/>
          </a:prstGeom>
          <a:ln>
            <a:solidFill>
              <a:schemeClr val="accent2"/>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61" name="表格 60">
            <a:extLst>
              <a:ext uri="{FF2B5EF4-FFF2-40B4-BE49-F238E27FC236}">
                <a16:creationId xmlns:a16="http://schemas.microsoft.com/office/drawing/2014/main" id="{DE94A49E-E718-FCFB-673A-E9A4ED33459C}"/>
              </a:ext>
            </a:extLst>
          </p:cNvPr>
          <p:cNvGraphicFramePr>
            <a:graphicFrameLocks noGrp="1"/>
          </p:cNvGraphicFramePr>
          <p:nvPr>
            <p:extLst>
              <p:ext uri="{D42A27DB-BD31-4B8C-83A1-F6EECF244321}">
                <p14:modId xmlns:p14="http://schemas.microsoft.com/office/powerpoint/2010/main" val="92678699"/>
              </p:ext>
            </p:extLst>
          </p:nvPr>
        </p:nvGraphicFramePr>
        <p:xfrm>
          <a:off x="1679771" y="3163014"/>
          <a:ext cx="1799351" cy="1568191"/>
        </p:xfrm>
        <a:graphic>
          <a:graphicData uri="http://schemas.openxmlformats.org/drawingml/2006/table">
            <a:tbl>
              <a:tblPr firstRow="1" bandRow="1">
                <a:tableStyleId>{5C22544A-7EE6-4342-B048-85BDC9FD1C3A}</a:tableStyleId>
              </a:tblPr>
              <a:tblGrid>
                <a:gridCol w="1799351">
                  <a:extLst>
                    <a:ext uri="{9D8B030D-6E8A-4147-A177-3AD203B41FA5}">
                      <a16:colId xmlns:a16="http://schemas.microsoft.com/office/drawing/2014/main" val="4512040"/>
                    </a:ext>
                  </a:extLst>
                </a:gridCol>
              </a:tblGrid>
              <a:tr h="288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Main Board</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PCB: 20~30</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Layers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ABF:  12~20 Layers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MLCC </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90475292"/>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1"/>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Memory</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782683905"/>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HBM = 12 x DRAM Dies</a:t>
                      </a:r>
                      <a:endParaRPr kumimoji="0" lang="zh-TW" altLang="en-US" sz="1200" b="0" i="0" u="none" strike="noStrike" kern="1200" cap="none" spc="0" normalizeH="0" baseline="0" noProof="0" dirty="0">
                        <a:ln w="0"/>
                        <a:solidFill>
                          <a:schemeClr val="tx1"/>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76359884"/>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HBM</a:t>
                      </a:r>
                      <a:r>
                        <a:rPr kumimoji="0" lang="en-US" altLang="zh-TW" sz="1200" b="0" i="0" u="none" strike="noStrike" kern="1200" cap="none" spc="0" normalizeH="0" baseline="0" noProof="0" dirty="0">
                          <a:ln>
                            <a:noFill/>
                          </a:ln>
                          <a:solidFill>
                            <a:schemeClr val="tx1"/>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schemeClr val="tx1"/>
                          </a:solidFill>
                          <a:effectLst/>
                          <a:uLnTx/>
                          <a:uFillTx/>
                          <a:latin typeface="+mn-lt"/>
                          <a:ea typeface="+mn-ea"/>
                          <a:cs typeface="+mn-cs"/>
                        </a:rPr>
                        <a:t>DRAM</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841383449"/>
                  </a:ext>
                </a:extLst>
              </a:tr>
            </a:tbl>
          </a:graphicData>
        </a:graphic>
      </p:graphicFrame>
      <p:sp>
        <p:nvSpPr>
          <p:cNvPr id="36" name="文字方塊 35">
            <a:extLst>
              <a:ext uri="{FF2B5EF4-FFF2-40B4-BE49-F238E27FC236}">
                <a16:creationId xmlns:a16="http://schemas.microsoft.com/office/drawing/2014/main" id="{FE291B76-36A5-FC7A-2222-0D217D2D02F1}"/>
              </a:ext>
            </a:extLst>
          </p:cNvPr>
          <p:cNvSpPr txBox="1"/>
          <p:nvPr/>
        </p:nvSpPr>
        <p:spPr>
          <a:xfrm>
            <a:off x="2282044" y="2137550"/>
            <a:ext cx="504056" cy="141834"/>
          </a:xfrm>
          <a:prstGeom prst="rect">
            <a:avLst/>
          </a:prstGeom>
          <a:noFill/>
        </p:spPr>
        <p:txBody>
          <a:bodyPr wrap="square" lIns="0" tIns="0" rIns="0" bIns="0" anchor="ctr" anchorCtr="1">
            <a:spAutoFit/>
          </a:bodyPr>
          <a:lstStyle/>
          <a:p>
            <a:pPr algn="ctr">
              <a:lnSpc>
                <a:spcPts val="1200"/>
              </a:lnSpc>
              <a:buNone/>
            </a:pPr>
            <a:r>
              <a:rPr lang="en-US" altLang="zh-TW" sz="800" dirty="0">
                <a:solidFill>
                  <a:srgbClr val="C00000"/>
                </a:solidFill>
                <a:latin typeface="Consolas" panose="020B0609020204030204" pitchFamily="49" charset="0"/>
                <a:ea typeface="Dotum" panose="020B0600000101010101" pitchFamily="34" charset="-127"/>
              </a:rPr>
              <a:t>Die</a:t>
            </a:r>
            <a:r>
              <a:rPr lang="zh-TW" altLang="en-US" sz="800" dirty="0">
                <a:solidFill>
                  <a:srgbClr val="C00000"/>
                </a:solidFill>
                <a:latin typeface="Consolas" panose="020B0609020204030204" pitchFamily="49" charset="0"/>
                <a:ea typeface="Dotum" panose="020B0600000101010101" pitchFamily="34" charset="-127"/>
              </a:rPr>
              <a:t> </a:t>
            </a:r>
            <a:r>
              <a:rPr lang="en-US" altLang="zh-TW" sz="800" dirty="0">
                <a:solidFill>
                  <a:srgbClr val="C00000"/>
                </a:solidFill>
                <a:latin typeface="Consolas" panose="020B0609020204030204" pitchFamily="49" charset="0"/>
                <a:ea typeface="Dotum" panose="020B0600000101010101" pitchFamily="34" charset="-127"/>
              </a:rPr>
              <a:t>Saw</a:t>
            </a:r>
          </a:p>
        </p:txBody>
      </p:sp>
      <p:grpSp>
        <p:nvGrpSpPr>
          <p:cNvPr id="55" name="群組 54">
            <a:extLst>
              <a:ext uri="{FF2B5EF4-FFF2-40B4-BE49-F238E27FC236}">
                <a16:creationId xmlns:a16="http://schemas.microsoft.com/office/drawing/2014/main" id="{4DE2592A-D604-3D0C-91DE-89E097153AD3}"/>
              </a:ext>
            </a:extLst>
          </p:cNvPr>
          <p:cNvGrpSpPr/>
          <p:nvPr/>
        </p:nvGrpSpPr>
        <p:grpSpPr>
          <a:xfrm>
            <a:off x="6197511" y="5432652"/>
            <a:ext cx="831306" cy="1020684"/>
            <a:chOff x="5135962" y="4417631"/>
            <a:chExt cx="831306" cy="1020684"/>
          </a:xfrm>
        </p:grpSpPr>
        <p:sp>
          <p:nvSpPr>
            <p:cNvPr id="45" name="文字方塊 44">
              <a:extLst>
                <a:ext uri="{FF2B5EF4-FFF2-40B4-BE49-F238E27FC236}">
                  <a16:creationId xmlns:a16="http://schemas.microsoft.com/office/drawing/2014/main" id="{87EADC2A-442B-24AB-BF8E-75BCE8145054}"/>
                </a:ext>
              </a:extLst>
            </p:cNvPr>
            <p:cNvSpPr txBox="1"/>
            <p:nvPr/>
          </p:nvSpPr>
          <p:spPr>
            <a:xfrm>
              <a:off x="5508104" y="4588393"/>
              <a:ext cx="406427" cy="849922"/>
            </a:xfrm>
            <a:prstGeom prst="rect">
              <a:avLst/>
            </a:prstGeom>
            <a:solidFill>
              <a:schemeClr val="bg1">
                <a:alpha val="60000"/>
              </a:schemeClr>
            </a:solidFill>
            <a:ln w="25400">
              <a:solidFill>
                <a:schemeClr val="bg1">
                  <a:lumMod val="75000"/>
                  <a:alpha val="60000"/>
                </a:schemeClr>
              </a:solidFill>
              <a:prstDash val="solid"/>
            </a:ln>
          </p:spPr>
          <p:txBody>
            <a:bodyPr wrap="none" lIns="91440" tIns="91440" rIns="91440" bIns="91440" anchor="t" anchorCtr="1">
              <a:noAutofit/>
            </a:bodyPr>
            <a:lstStyle/>
            <a:p>
              <a:pPr algn="ctr">
                <a:lnSpc>
                  <a:spcPts val="1600"/>
                </a:lnSpc>
                <a:buNone/>
              </a:pPr>
              <a:r>
                <a:rPr lang="en-US" altLang="zh-TW" sz="1200" b="1" dirty="0">
                  <a:solidFill>
                    <a:schemeClr val="accent1">
                      <a:lumMod val="75000"/>
                    </a:schemeClr>
                  </a:solidFill>
                </a:rPr>
                <a:t>Rack</a:t>
              </a:r>
            </a:p>
          </p:txBody>
        </p:sp>
        <p:pic>
          <p:nvPicPr>
            <p:cNvPr id="46" name="圖片 45">
              <a:extLst>
                <a:ext uri="{FF2B5EF4-FFF2-40B4-BE49-F238E27FC236}">
                  <a16:creationId xmlns:a16="http://schemas.microsoft.com/office/drawing/2014/main" id="{4DEB1EEE-EAB3-E970-947E-78C13F601FB0}"/>
                </a:ext>
              </a:extLst>
            </p:cNvPr>
            <p:cNvPicPr>
              <a:picLocks noChangeAspect="1"/>
            </p:cNvPicPr>
            <p:nvPr/>
          </p:nvPicPr>
          <p:blipFill>
            <a:blip r:embed="rId7"/>
            <a:stretch>
              <a:fillRect/>
            </a:stretch>
          </p:blipFill>
          <p:spPr>
            <a:xfrm>
              <a:off x="5508104" y="4839285"/>
              <a:ext cx="380840" cy="599030"/>
            </a:xfrm>
            <a:prstGeom prst="rect">
              <a:avLst/>
            </a:prstGeom>
          </p:spPr>
        </p:pic>
        <p:sp>
          <p:nvSpPr>
            <p:cNvPr id="47" name="文字方塊 46">
              <a:extLst>
                <a:ext uri="{FF2B5EF4-FFF2-40B4-BE49-F238E27FC236}">
                  <a16:creationId xmlns:a16="http://schemas.microsoft.com/office/drawing/2014/main" id="{5E22CC08-ED18-A46F-157B-580E43DEEA91}"/>
                </a:ext>
              </a:extLst>
            </p:cNvPr>
            <p:cNvSpPr txBox="1"/>
            <p:nvPr/>
          </p:nvSpPr>
          <p:spPr>
            <a:xfrm>
              <a:off x="5754102" y="4956209"/>
              <a:ext cx="213166" cy="410098"/>
            </a:xfrm>
            <a:prstGeom prst="rect">
              <a:avLst/>
            </a:prstGeom>
            <a:solidFill>
              <a:schemeClr val="accent5">
                <a:lumMod val="20000"/>
                <a:lumOff val="80000"/>
                <a:alpha val="80000"/>
              </a:schemeClr>
            </a:solidFill>
            <a:ln w="25400">
              <a:solidFill>
                <a:schemeClr val="accent5">
                  <a:lumMod val="60000"/>
                  <a:lumOff val="40000"/>
                  <a:alpha val="80000"/>
                </a:schemeClr>
              </a:solidFill>
              <a:prstDash val="solid"/>
            </a:ln>
          </p:spPr>
          <p:txBody>
            <a:bodyPr wrap="none" lIns="0" tIns="91440" rIns="0" bIns="0" anchor="t" anchorCtr="1">
              <a:noAutofit/>
            </a:bodyPr>
            <a:lstStyle/>
            <a:p>
              <a:pPr algn="ctr">
                <a:lnSpc>
                  <a:spcPts val="1600"/>
                </a:lnSpc>
                <a:buNone/>
              </a:pPr>
              <a:endParaRPr lang="en-US" altLang="zh-TW" sz="1200" b="1" dirty="0">
                <a:solidFill>
                  <a:schemeClr val="accent1">
                    <a:lumMod val="75000"/>
                  </a:schemeClr>
                </a:solidFill>
              </a:endParaRPr>
            </a:p>
          </p:txBody>
        </p:sp>
        <p:sp>
          <p:nvSpPr>
            <p:cNvPr id="49" name="文字方塊 48">
              <a:extLst>
                <a:ext uri="{FF2B5EF4-FFF2-40B4-BE49-F238E27FC236}">
                  <a16:creationId xmlns:a16="http://schemas.microsoft.com/office/drawing/2014/main" id="{B5A41947-FD5F-E5F3-1BC3-98454FB5314F}"/>
                </a:ext>
              </a:extLst>
            </p:cNvPr>
            <p:cNvSpPr txBox="1"/>
            <p:nvPr/>
          </p:nvSpPr>
          <p:spPr>
            <a:xfrm>
              <a:off x="5135962" y="4417631"/>
              <a:ext cx="406427" cy="876667"/>
            </a:xfrm>
            <a:prstGeom prst="rect">
              <a:avLst/>
            </a:prstGeom>
            <a:solidFill>
              <a:schemeClr val="bg1"/>
            </a:solidFill>
            <a:ln w="25400">
              <a:solidFill>
                <a:schemeClr val="bg1">
                  <a:lumMod val="75000"/>
                  <a:alpha val="60000"/>
                </a:schemeClr>
              </a:solidFill>
              <a:prstDash val="solid"/>
            </a:ln>
          </p:spPr>
          <p:txBody>
            <a:bodyPr wrap="none" lIns="91440" tIns="91440" rIns="91440" bIns="91440" anchor="t" anchorCtr="1">
              <a:noAutofit/>
            </a:bodyPr>
            <a:lstStyle/>
            <a:p>
              <a:pPr algn="ctr">
                <a:lnSpc>
                  <a:spcPts val="1600"/>
                </a:lnSpc>
                <a:buNone/>
              </a:pPr>
              <a:r>
                <a:rPr lang="en-US" altLang="zh-TW" sz="1200" b="1" dirty="0">
                  <a:solidFill>
                    <a:schemeClr val="accent1">
                      <a:lumMod val="75000"/>
                    </a:schemeClr>
                  </a:solidFill>
                </a:rPr>
                <a:t>Rack</a:t>
              </a:r>
            </a:p>
          </p:txBody>
        </p:sp>
        <p:pic>
          <p:nvPicPr>
            <p:cNvPr id="50" name="圖片 49">
              <a:extLst>
                <a:ext uri="{FF2B5EF4-FFF2-40B4-BE49-F238E27FC236}">
                  <a16:creationId xmlns:a16="http://schemas.microsoft.com/office/drawing/2014/main" id="{D6BD72A6-DB9B-DC49-7E7B-D1DD5EB8780E}"/>
                </a:ext>
              </a:extLst>
            </p:cNvPr>
            <p:cNvPicPr>
              <a:picLocks noChangeAspect="1"/>
            </p:cNvPicPr>
            <p:nvPr/>
          </p:nvPicPr>
          <p:blipFill>
            <a:blip r:embed="rId7"/>
            <a:stretch>
              <a:fillRect/>
            </a:stretch>
          </p:blipFill>
          <p:spPr>
            <a:xfrm>
              <a:off x="5154380" y="4683992"/>
              <a:ext cx="388009" cy="610307"/>
            </a:xfrm>
            <a:prstGeom prst="rect">
              <a:avLst/>
            </a:prstGeom>
            <a:noFill/>
            <a:ln>
              <a:noFill/>
            </a:ln>
            <a:effectLst/>
          </p:spPr>
        </p:pic>
        <p:sp>
          <p:nvSpPr>
            <p:cNvPr id="51" name="文字方塊 50">
              <a:extLst>
                <a:ext uri="{FF2B5EF4-FFF2-40B4-BE49-F238E27FC236}">
                  <a16:creationId xmlns:a16="http://schemas.microsoft.com/office/drawing/2014/main" id="{472EA781-8409-172B-ED33-931C5B8C99DC}"/>
                </a:ext>
              </a:extLst>
            </p:cNvPr>
            <p:cNvSpPr txBox="1"/>
            <p:nvPr/>
          </p:nvSpPr>
          <p:spPr>
            <a:xfrm>
              <a:off x="5394062" y="4812193"/>
              <a:ext cx="213166" cy="410098"/>
            </a:xfrm>
            <a:prstGeom prst="rect">
              <a:avLst/>
            </a:prstGeom>
            <a:solidFill>
              <a:schemeClr val="accent5">
                <a:lumMod val="20000"/>
                <a:lumOff val="80000"/>
                <a:alpha val="80000"/>
              </a:schemeClr>
            </a:solidFill>
            <a:ln w="25400">
              <a:solidFill>
                <a:schemeClr val="accent5">
                  <a:lumMod val="60000"/>
                  <a:lumOff val="40000"/>
                  <a:alpha val="80000"/>
                </a:schemeClr>
              </a:solidFill>
              <a:prstDash val="solid"/>
            </a:ln>
          </p:spPr>
          <p:txBody>
            <a:bodyPr wrap="none" lIns="0" tIns="91440" rIns="0" bIns="0" anchor="t" anchorCtr="1">
              <a:noAutofit/>
            </a:bodyPr>
            <a:lstStyle/>
            <a:p>
              <a:pPr algn="ctr">
                <a:lnSpc>
                  <a:spcPts val="1600"/>
                </a:lnSpc>
                <a:buNone/>
              </a:pPr>
              <a:endParaRPr lang="en-US" altLang="zh-TW" sz="1200" b="1" dirty="0">
                <a:solidFill>
                  <a:schemeClr val="accent1">
                    <a:lumMod val="75000"/>
                  </a:schemeClr>
                </a:solidFill>
              </a:endParaRPr>
            </a:p>
          </p:txBody>
        </p:sp>
      </p:grpSp>
      <p:sp>
        <p:nvSpPr>
          <p:cNvPr id="71" name="圖說文字: 直線 70">
            <a:extLst>
              <a:ext uri="{FF2B5EF4-FFF2-40B4-BE49-F238E27FC236}">
                <a16:creationId xmlns:a16="http://schemas.microsoft.com/office/drawing/2014/main" id="{08C5454B-5544-DF83-0D81-16F49BC3CFC7}"/>
              </a:ext>
            </a:extLst>
          </p:cNvPr>
          <p:cNvSpPr/>
          <p:nvPr/>
        </p:nvSpPr>
        <p:spPr>
          <a:xfrm flipH="1">
            <a:off x="5796136" y="1140570"/>
            <a:ext cx="2004185" cy="1784374"/>
          </a:xfrm>
          <a:prstGeom prst="borderCallout1">
            <a:avLst>
              <a:gd name="adj1" fmla="val 97311"/>
              <a:gd name="adj2" fmla="val 97673"/>
              <a:gd name="adj3" fmla="val 118960"/>
              <a:gd name="adj4" fmla="val 118673"/>
            </a:avLst>
          </a:prstGeom>
          <a:solidFill>
            <a:schemeClr val="tx2">
              <a:lumMod val="40000"/>
              <a:lumOff val="60000"/>
              <a:alpha val="40000"/>
            </a:schemeClr>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graphicFrame>
        <p:nvGraphicFramePr>
          <p:cNvPr id="69" name="表格 68">
            <a:extLst>
              <a:ext uri="{FF2B5EF4-FFF2-40B4-BE49-F238E27FC236}">
                <a16:creationId xmlns:a16="http://schemas.microsoft.com/office/drawing/2014/main" id="{0B23166E-5851-EAA4-8927-173536755114}"/>
              </a:ext>
            </a:extLst>
          </p:cNvPr>
          <p:cNvGraphicFramePr>
            <a:graphicFrameLocks noGrp="1"/>
          </p:cNvGraphicFramePr>
          <p:nvPr>
            <p:extLst>
              <p:ext uri="{D42A27DB-BD31-4B8C-83A1-F6EECF244321}">
                <p14:modId xmlns:p14="http://schemas.microsoft.com/office/powerpoint/2010/main" val="4015763714"/>
              </p:ext>
            </p:extLst>
          </p:nvPr>
        </p:nvGraphicFramePr>
        <p:xfrm>
          <a:off x="5796136" y="1135830"/>
          <a:ext cx="2004182" cy="1806654"/>
        </p:xfrm>
        <a:graphic>
          <a:graphicData uri="http://schemas.openxmlformats.org/drawingml/2006/table">
            <a:tbl>
              <a:tblPr firstRow="1" bandRow="1">
                <a:tableStyleId>{5C22544A-7EE6-4342-B048-85BDC9FD1C3A}</a:tableStyleId>
              </a:tblPr>
              <a:tblGrid>
                <a:gridCol w="2004182">
                  <a:extLst>
                    <a:ext uri="{9D8B030D-6E8A-4147-A177-3AD203B41FA5}">
                      <a16:colId xmlns:a16="http://schemas.microsoft.com/office/drawing/2014/main" val="4512040"/>
                    </a:ext>
                  </a:extLst>
                </a:gridCol>
              </a:tblGrid>
              <a:tr h="3009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Rack &amp; Server</a:t>
                      </a:r>
                    </a:p>
                  </a:txBody>
                  <a:tcPr marR="0" marT="0" marB="0" anchor="ctr">
                    <a:lnL w="3175"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724815099"/>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NV-Link / MTK-SerDes</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Micro LED/Marvell CPO / WSE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2452236196"/>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2132145302"/>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Rubin NVL72:</a:t>
                      </a:r>
                    </a:p>
                  </a:txBody>
                  <a:tcPr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584017267"/>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Compute Server x 18 </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47108361"/>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Switch Server x 9</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642474553"/>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Cost: $7~8M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 9M</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365849749"/>
                  </a:ext>
                </a:extLst>
              </a:tr>
            </a:tbl>
          </a:graphicData>
        </a:graphic>
      </p:graphicFrame>
      <p:grpSp>
        <p:nvGrpSpPr>
          <p:cNvPr id="108" name="群組 107">
            <a:extLst>
              <a:ext uri="{FF2B5EF4-FFF2-40B4-BE49-F238E27FC236}">
                <a16:creationId xmlns:a16="http://schemas.microsoft.com/office/drawing/2014/main" id="{8B856D10-59CD-C186-CB30-9D364A137D47}"/>
              </a:ext>
            </a:extLst>
          </p:cNvPr>
          <p:cNvGrpSpPr/>
          <p:nvPr/>
        </p:nvGrpSpPr>
        <p:grpSpPr>
          <a:xfrm>
            <a:off x="7057301" y="2645681"/>
            <a:ext cx="1667973" cy="1584176"/>
            <a:chOff x="4139952" y="548680"/>
            <a:chExt cx="1667973" cy="1584176"/>
          </a:xfrm>
        </p:grpSpPr>
        <p:sp>
          <p:nvSpPr>
            <p:cNvPr id="99" name="局部圓 98">
              <a:extLst>
                <a:ext uri="{FF2B5EF4-FFF2-40B4-BE49-F238E27FC236}">
                  <a16:creationId xmlns:a16="http://schemas.microsoft.com/office/drawing/2014/main" id="{5EC83EB3-8670-C9DA-F10A-9F29C1CB587B}"/>
                </a:ext>
              </a:extLst>
            </p:cNvPr>
            <p:cNvSpPr/>
            <p:nvPr/>
          </p:nvSpPr>
          <p:spPr>
            <a:xfrm>
              <a:off x="4139952" y="548680"/>
              <a:ext cx="1280160" cy="1280160"/>
            </a:xfrm>
            <a:prstGeom prst="pie">
              <a:avLst>
                <a:gd name="adj1" fmla="val 16168017"/>
                <a:gd name="adj2" fmla="val 266300"/>
              </a:avLst>
            </a:prstGeom>
            <a:solidFill>
              <a:srgbClr val="B8EACA"/>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0" name="局部圓 99">
              <a:extLst>
                <a:ext uri="{FF2B5EF4-FFF2-40B4-BE49-F238E27FC236}">
                  <a16:creationId xmlns:a16="http://schemas.microsoft.com/office/drawing/2014/main" id="{9DF571B0-7590-A63F-651D-249CCDD59209}"/>
                </a:ext>
              </a:extLst>
            </p:cNvPr>
            <p:cNvSpPr/>
            <p:nvPr/>
          </p:nvSpPr>
          <p:spPr>
            <a:xfrm>
              <a:off x="4139952" y="548680"/>
              <a:ext cx="1280160" cy="1280160"/>
            </a:xfrm>
            <a:prstGeom prst="pie">
              <a:avLst>
                <a:gd name="adj1" fmla="val 4964117"/>
                <a:gd name="adj2" fmla="val 5996881"/>
              </a:avLst>
            </a:prstGeom>
            <a:solidFill>
              <a:schemeClr val="accent5">
                <a:lumMod val="20000"/>
                <a:lumOff val="80000"/>
              </a:schemeClr>
            </a:solidFill>
            <a:ln w="3175">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1" name="局部圓 100">
              <a:extLst>
                <a:ext uri="{FF2B5EF4-FFF2-40B4-BE49-F238E27FC236}">
                  <a16:creationId xmlns:a16="http://schemas.microsoft.com/office/drawing/2014/main" id="{D71B8CEE-88A6-26C0-804E-CE464CC7079A}"/>
                </a:ext>
              </a:extLst>
            </p:cNvPr>
            <p:cNvSpPr/>
            <p:nvPr/>
          </p:nvSpPr>
          <p:spPr>
            <a:xfrm>
              <a:off x="4139952" y="548680"/>
              <a:ext cx="1280160" cy="1280160"/>
            </a:xfrm>
            <a:prstGeom prst="pie">
              <a:avLst>
                <a:gd name="adj1" fmla="val 224965"/>
                <a:gd name="adj2" fmla="val 5067372"/>
              </a:avLst>
            </a:prstGeom>
            <a:solidFill>
              <a:schemeClr val="bg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2" name="文字方塊 101">
              <a:extLst>
                <a:ext uri="{FF2B5EF4-FFF2-40B4-BE49-F238E27FC236}">
                  <a16:creationId xmlns:a16="http://schemas.microsoft.com/office/drawing/2014/main" id="{5012A2D9-D0A6-7E61-B3DF-93DCD5A456DC}"/>
                </a:ext>
              </a:extLst>
            </p:cNvPr>
            <p:cNvSpPr txBox="1"/>
            <p:nvPr/>
          </p:nvSpPr>
          <p:spPr>
            <a:xfrm>
              <a:off x="4709409" y="1671191"/>
              <a:ext cx="450444" cy="461665"/>
            </a:xfrm>
            <a:prstGeom prst="rect">
              <a:avLst/>
            </a:prstGeom>
            <a:noFill/>
          </p:spPr>
          <p:txBody>
            <a:bodyPr wrap="none" lIns="0" tIns="0" rIns="0" bIns="0" rtlCol="0">
              <a:spAutoFit/>
            </a:bodyPr>
            <a:lstStyle/>
            <a:p>
              <a:r>
                <a:rPr lang="en-US" altLang="zh-TW" sz="1000" dirty="0"/>
                <a:t>3%</a:t>
              </a:r>
            </a:p>
            <a:p>
              <a:r>
                <a:rPr lang="en-US" altLang="zh-TW" sz="1000" dirty="0"/>
                <a:t>Power &amp;</a:t>
              </a:r>
            </a:p>
            <a:p>
              <a:r>
                <a:rPr lang="en-US" altLang="zh-TW" sz="1000" dirty="0"/>
                <a:t>Cooling</a:t>
              </a:r>
            </a:p>
          </p:txBody>
        </p:sp>
        <p:sp>
          <p:nvSpPr>
            <p:cNvPr id="103" name="文字方塊 102">
              <a:extLst>
                <a:ext uri="{FF2B5EF4-FFF2-40B4-BE49-F238E27FC236}">
                  <a16:creationId xmlns:a16="http://schemas.microsoft.com/office/drawing/2014/main" id="{AAB82C0B-E48F-EC47-43EF-3EFB25BE1F68}"/>
                </a:ext>
              </a:extLst>
            </p:cNvPr>
            <p:cNvSpPr txBox="1"/>
            <p:nvPr/>
          </p:nvSpPr>
          <p:spPr>
            <a:xfrm>
              <a:off x="4970970" y="1311151"/>
              <a:ext cx="836955" cy="461665"/>
            </a:xfrm>
            <a:prstGeom prst="rect">
              <a:avLst/>
            </a:prstGeom>
            <a:noFill/>
          </p:spPr>
          <p:txBody>
            <a:bodyPr wrap="square" lIns="0" tIns="0" rIns="0" bIns="0" rtlCol="0">
              <a:spAutoFit/>
            </a:bodyPr>
            <a:lstStyle/>
            <a:p>
              <a:r>
                <a:rPr lang="en-US" altLang="zh-TW" sz="1000" dirty="0"/>
                <a:t>Networking</a:t>
              </a:r>
            </a:p>
            <a:p>
              <a:r>
                <a:rPr lang="en-US" altLang="zh-TW" sz="1000" dirty="0"/>
                <a:t>&amp; PCBs</a:t>
              </a:r>
            </a:p>
            <a:p>
              <a:r>
                <a:rPr lang="en-US" altLang="zh-TW" sz="1000" dirty="0"/>
                <a:t>20%</a:t>
              </a:r>
              <a:endParaRPr lang="zh-TW" altLang="en-US" sz="1000" dirty="0"/>
            </a:p>
          </p:txBody>
        </p:sp>
        <p:sp>
          <p:nvSpPr>
            <p:cNvPr id="104" name="文字方塊 103">
              <a:extLst>
                <a:ext uri="{FF2B5EF4-FFF2-40B4-BE49-F238E27FC236}">
                  <a16:creationId xmlns:a16="http://schemas.microsoft.com/office/drawing/2014/main" id="{3C801A30-5EDE-0639-7F41-713E989B8BF8}"/>
                </a:ext>
              </a:extLst>
            </p:cNvPr>
            <p:cNvSpPr txBox="1"/>
            <p:nvPr/>
          </p:nvSpPr>
          <p:spPr>
            <a:xfrm>
              <a:off x="4970970" y="620688"/>
              <a:ext cx="836955" cy="461665"/>
            </a:xfrm>
            <a:prstGeom prst="rect">
              <a:avLst/>
            </a:prstGeom>
            <a:noFill/>
          </p:spPr>
          <p:txBody>
            <a:bodyPr wrap="square" lIns="0" tIns="0" rIns="0" bIns="0" rtlCol="0">
              <a:spAutoFit/>
            </a:bodyPr>
            <a:lstStyle/>
            <a:p>
              <a:r>
                <a:rPr lang="en-US" altLang="zh-TW" sz="1000" dirty="0"/>
                <a:t>Memory</a:t>
              </a:r>
            </a:p>
            <a:p>
              <a:r>
                <a:rPr lang="en-US" altLang="zh-TW" sz="1000" dirty="0"/>
                <a:t>(HBM4 &amp; DDR5)</a:t>
              </a:r>
            </a:p>
            <a:p>
              <a:r>
                <a:rPr lang="en-US" altLang="zh-TW" sz="1000" dirty="0"/>
                <a:t>35%</a:t>
              </a:r>
              <a:endParaRPr lang="zh-TW" altLang="en-US" sz="1000" dirty="0"/>
            </a:p>
          </p:txBody>
        </p:sp>
        <p:sp>
          <p:nvSpPr>
            <p:cNvPr id="106" name="局部圓 105">
              <a:extLst>
                <a:ext uri="{FF2B5EF4-FFF2-40B4-BE49-F238E27FC236}">
                  <a16:creationId xmlns:a16="http://schemas.microsoft.com/office/drawing/2014/main" id="{419AC8BC-07C1-5900-459B-709E37260888}"/>
                </a:ext>
              </a:extLst>
            </p:cNvPr>
            <p:cNvSpPr/>
            <p:nvPr/>
          </p:nvSpPr>
          <p:spPr>
            <a:xfrm>
              <a:off x="4139952" y="548680"/>
              <a:ext cx="1280160" cy="1280160"/>
            </a:xfrm>
            <a:prstGeom prst="pie">
              <a:avLst>
                <a:gd name="adj1" fmla="val 6071275"/>
                <a:gd name="adj2" fmla="val 6763131"/>
              </a:avLst>
            </a:prstGeom>
            <a:solidFill>
              <a:schemeClr val="accent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98" name="局部圓 97">
              <a:extLst>
                <a:ext uri="{FF2B5EF4-FFF2-40B4-BE49-F238E27FC236}">
                  <a16:creationId xmlns:a16="http://schemas.microsoft.com/office/drawing/2014/main" id="{A724A389-61D8-614C-CC46-5034DE14A6A0}"/>
                </a:ext>
              </a:extLst>
            </p:cNvPr>
            <p:cNvSpPr/>
            <p:nvPr/>
          </p:nvSpPr>
          <p:spPr>
            <a:xfrm>
              <a:off x="4139952" y="548680"/>
              <a:ext cx="1280160" cy="1280160"/>
            </a:xfrm>
            <a:prstGeom prst="pie">
              <a:avLst>
                <a:gd name="adj1" fmla="val 6784007"/>
                <a:gd name="adj2" fmla="val 16216173"/>
              </a:avLst>
            </a:prstGeom>
            <a:solidFill>
              <a:schemeClr val="accent3">
                <a:lumMod val="75000"/>
              </a:schemeClr>
            </a:solidFill>
            <a:ln w="127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105" name="文字方塊 104">
              <a:extLst>
                <a:ext uri="{FF2B5EF4-FFF2-40B4-BE49-F238E27FC236}">
                  <a16:creationId xmlns:a16="http://schemas.microsoft.com/office/drawing/2014/main" id="{0FA91BE8-267C-5FD6-6ADA-D3B31560CFCA}"/>
                </a:ext>
              </a:extLst>
            </p:cNvPr>
            <p:cNvSpPr txBox="1"/>
            <p:nvPr/>
          </p:nvSpPr>
          <p:spPr>
            <a:xfrm>
              <a:off x="4295757" y="1043444"/>
              <a:ext cx="277320" cy="369332"/>
            </a:xfrm>
            <a:prstGeom prst="rect">
              <a:avLst/>
            </a:prstGeom>
            <a:noFill/>
          </p:spPr>
          <p:txBody>
            <a:bodyPr wrap="none" lIns="0" tIns="0" rIns="0" bIns="0" rtlCol="0">
              <a:spAutoFit/>
            </a:bodyPr>
            <a:lstStyle/>
            <a:p>
              <a:r>
                <a:rPr lang="en-US" altLang="zh-TW" sz="1200" dirty="0">
                  <a:solidFill>
                    <a:schemeClr val="bg1"/>
                  </a:solidFill>
                </a:rPr>
                <a:t>GPU</a:t>
              </a:r>
            </a:p>
            <a:p>
              <a:r>
                <a:rPr lang="en-US" altLang="zh-TW" sz="1200" dirty="0">
                  <a:solidFill>
                    <a:schemeClr val="bg1"/>
                  </a:solidFill>
                </a:rPr>
                <a:t>44%</a:t>
              </a:r>
              <a:endParaRPr lang="zh-TW" altLang="en-US" sz="1200" dirty="0">
                <a:solidFill>
                  <a:schemeClr val="bg1"/>
                </a:solidFill>
              </a:endParaRPr>
            </a:p>
          </p:txBody>
        </p:sp>
        <p:sp>
          <p:nvSpPr>
            <p:cNvPr id="107" name="文字方塊 106">
              <a:extLst>
                <a:ext uri="{FF2B5EF4-FFF2-40B4-BE49-F238E27FC236}">
                  <a16:creationId xmlns:a16="http://schemas.microsoft.com/office/drawing/2014/main" id="{4BCE2FE1-8681-C659-0DCD-3F5AC785D5EF}"/>
                </a:ext>
              </a:extLst>
            </p:cNvPr>
            <p:cNvSpPr txBox="1"/>
            <p:nvPr/>
          </p:nvSpPr>
          <p:spPr>
            <a:xfrm>
              <a:off x="4427984" y="1772816"/>
              <a:ext cx="216406" cy="307777"/>
            </a:xfrm>
            <a:prstGeom prst="rect">
              <a:avLst/>
            </a:prstGeom>
            <a:noFill/>
          </p:spPr>
          <p:txBody>
            <a:bodyPr wrap="none" lIns="0" tIns="0" rIns="0" bIns="0" rtlCol="0">
              <a:spAutoFit/>
            </a:bodyPr>
            <a:lstStyle/>
            <a:p>
              <a:r>
                <a:rPr lang="en-US" altLang="zh-TW" sz="1000" dirty="0"/>
                <a:t>2%</a:t>
              </a:r>
            </a:p>
            <a:p>
              <a:r>
                <a:rPr lang="en-US" altLang="zh-TW" sz="1000" dirty="0"/>
                <a:t>CPU</a:t>
              </a:r>
            </a:p>
          </p:txBody>
        </p:sp>
      </p:grpSp>
      <p:cxnSp>
        <p:nvCxnSpPr>
          <p:cNvPr id="40" name="接點: 弧形 39">
            <a:extLst>
              <a:ext uri="{FF2B5EF4-FFF2-40B4-BE49-F238E27FC236}">
                <a16:creationId xmlns:a16="http://schemas.microsoft.com/office/drawing/2014/main" id="{25193D1B-BDE3-AFE9-F003-EC6A7A021529}"/>
              </a:ext>
            </a:extLst>
          </p:cNvPr>
          <p:cNvCxnSpPr>
            <a:cxnSpLocks/>
            <a:stCxn id="105" idx="0"/>
            <a:endCxn id="104" idx="1"/>
          </p:cNvCxnSpPr>
          <p:nvPr/>
        </p:nvCxnSpPr>
        <p:spPr>
          <a:xfrm rot="5400000" flipH="1" flipV="1">
            <a:off x="7524081" y="2776208"/>
            <a:ext cx="191923" cy="536553"/>
          </a:xfrm>
          <a:prstGeom prst="curvedConnector2">
            <a:avLst/>
          </a:prstGeom>
          <a:ln w="254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6" name="群組 5">
            <a:extLst>
              <a:ext uri="{FF2B5EF4-FFF2-40B4-BE49-F238E27FC236}">
                <a16:creationId xmlns:a16="http://schemas.microsoft.com/office/drawing/2014/main" id="{9B1F7AF4-88D8-4B3F-CECC-393296A65BC4}"/>
              </a:ext>
            </a:extLst>
          </p:cNvPr>
          <p:cNvGrpSpPr/>
          <p:nvPr/>
        </p:nvGrpSpPr>
        <p:grpSpPr>
          <a:xfrm>
            <a:off x="7756336" y="1369729"/>
            <a:ext cx="1280160" cy="1280161"/>
            <a:chOff x="4139952" y="3750910"/>
            <a:chExt cx="1280160" cy="1280161"/>
          </a:xfrm>
        </p:grpSpPr>
        <p:sp>
          <p:nvSpPr>
            <p:cNvPr id="7" name="局部圓 6">
              <a:extLst>
                <a:ext uri="{FF2B5EF4-FFF2-40B4-BE49-F238E27FC236}">
                  <a16:creationId xmlns:a16="http://schemas.microsoft.com/office/drawing/2014/main" id="{856A193C-754B-22DC-1AF0-BD2A27898431}"/>
                </a:ext>
              </a:extLst>
            </p:cNvPr>
            <p:cNvSpPr/>
            <p:nvPr/>
          </p:nvSpPr>
          <p:spPr>
            <a:xfrm>
              <a:off x="4139952" y="3750911"/>
              <a:ext cx="1280160" cy="1280160"/>
            </a:xfrm>
            <a:prstGeom prst="pie">
              <a:avLst>
                <a:gd name="adj1" fmla="val 16168017"/>
                <a:gd name="adj2" fmla="val 570035"/>
              </a:avLst>
            </a:prstGeom>
            <a:solidFill>
              <a:schemeClr val="accent1">
                <a:lumMod val="7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1" name="局部圓 10">
              <a:extLst>
                <a:ext uri="{FF2B5EF4-FFF2-40B4-BE49-F238E27FC236}">
                  <a16:creationId xmlns:a16="http://schemas.microsoft.com/office/drawing/2014/main" id="{48848AEA-E086-5BB0-AE8F-C515B21DBEBA}"/>
                </a:ext>
              </a:extLst>
            </p:cNvPr>
            <p:cNvSpPr/>
            <p:nvPr/>
          </p:nvSpPr>
          <p:spPr>
            <a:xfrm>
              <a:off x="4139952" y="3750911"/>
              <a:ext cx="1280160" cy="1280160"/>
            </a:xfrm>
            <a:prstGeom prst="pie">
              <a:avLst>
                <a:gd name="adj1" fmla="val 631188"/>
                <a:gd name="adj2" fmla="val 4440168"/>
              </a:avLst>
            </a:prstGeom>
            <a:solidFill>
              <a:schemeClr val="tx1"/>
            </a:solid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7" name="文字方塊 16">
              <a:extLst>
                <a:ext uri="{FF2B5EF4-FFF2-40B4-BE49-F238E27FC236}">
                  <a16:creationId xmlns:a16="http://schemas.microsoft.com/office/drawing/2014/main" id="{D53EDF8C-52CA-FB46-74CE-A46AF641F2D9}"/>
                </a:ext>
              </a:extLst>
            </p:cNvPr>
            <p:cNvSpPr txBox="1"/>
            <p:nvPr/>
          </p:nvSpPr>
          <p:spPr>
            <a:xfrm>
              <a:off x="4932040" y="4489375"/>
              <a:ext cx="379912" cy="307777"/>
            </a:xfrm>
            <a:prstGeom prst="rect">
              <a:avLst/>
            </a:prstGeom>
            <a:noFill/>
          </p:spPr>
          <p:txBody>
            <a:bodyPr wrap="none" lIns="0" tIns="0" rIns="0" bIns="0" rtlCol="0" anchor="ctr" anchorCtr="1">
              <a:noAutofit/>
            </a:bodyPr>
            <a:lstStyle/>
            <a:p>
              <a:r>
                <a:rPr lang="en-US" altLang="zh-TW" sz="1000" b="1" dirty="0">
                  <a:solidFill>
                    <a:schemeClr val="bg1"/>
                  </a:solidFill>
                </a:rPr>
                <a:t>Micron</a:t>
              </a:r>
            </a:p>
            <a:p>
              <a:r>
                <a:rPr lang="en-US" altLang="zh-TW" sz="1000" b="1" dirty="0">
                  <a:solidFill>
                    <a:schemeClr val="bg1"/>
                  </a:solidFill>
                </a:rPr>
                <a:t>15%</a:t>
              </a:r>
              <a:endParaRPr lang="zh-TW" altLang="en-US" sz="1000" b="1" dirty="0">
                <a:solidFill>
                  <a:schemeClr val="bg1"/>
                </a:solidFill>
              </a:endParaRPr>
            </a:p>
          </p:txBody>
        </p:sp>
        <p:sp>
          <p:nvSpPr>
            <p:cNvPr id="24" name="文字方塊 23">
              <a:extLst>
                <a:ext uri="{FF2B5EF4-FFF2-40B4-BE49-F238E27FC236}">
                  <a16:creationId xmlns:a16="http://schemas.microsoft.com/office/drawing/2014/main" id="{A257A509-5AD2-2E37-BC19-6E7BC7741759}"/>
                </a:ext>
              </a:extLst>
            </p:cNvPr>
            <p:cNvSpPr txBox="1"/>
            <p:nvPr/>
          </p:nvSpPr>
          <p:spPr>
            <a:xfrm>
              <a:off x="4870409" y="4077072"/>
              <a:ext cx="477695" cy="307777"/>
            </a:xfrm>
            <a:prstGeom prst="rect">
              <a:avLst/>
            </a:prstGeom>
            <a:noFill/>
          </p:spPr>
          <p:txBody>
            <a:bodyPr wrap="none" lIns="0" tIns="0" rIns="0" bIns="0" rtlCol="0" anchor="ctr" anchorCtr="1">
              <a:noAutofit/>
            </a:bodyPr>
            <a:lstStyle/>
            <a:p>
              <a:pPr algn="ctr"/>
              <a:r>
                <a:rPr lang="en-US" altLang="zh-TW" sz="1000" b="1" dirty="0">
                  <a:solidFill>
                    <a:schemeClr val="bg1"/>
                  </a:solidFill>
                </a:rPr>
                <a:t>SAMSUNG</a:t>
              </a:r>
            </a:p>
            <a:p>
              <a:pPr algn="ctr"/>
              <a:r>
                <a:rPr lang="en-US" altLang="zh-TW" sz="1000" b="1" dirty="0">
                  <a:solidFill>
                    <a:schemeClr val="bg1"/>
                  </a:solidFill>
                </a:rPr>
                <a:t>30%</a:t>
              </a:r>
              <a:endParaRPr lang="zh-TW" altLang="en-US" sz="1000" b="1" dirty="0">
                <a:solidFill>
                  <a:schemeClr val="bg1"/>
                </a:solidFill>
              </a:endParaRPr>
            </a:p>
          </p:txBody>
        </p:sp>
        <p:sp>
          <p:nvSpPr>
            <p:cNvPr id="32" name="局部圓 31">
              <a:extLst>
                <a:ext uri="{FF2B5EF4-FFF2-40B4-BE49-F238E27FC236}">
                  <a16:creationId xmlns:a16="http://schemas.microsoft.com/office/drawing/2014/main" id="{7CAD1737-598B-1678-9C44-7E8A328B632B}"/>
                </a:ext>
              </a:extLst>
            </p:cNvPr>
            <p:cNvSpPr/>
            <p:nvPr/>
          </p:nvSpPr>
          <p:spPr>
            <a:xfrm>
              <a:off x="4139952" y="3750910"/>
              <a:ext cx="1280160" cy="1262265"/>
            </a:xfrm>
            <a:prstGeom prst="pie">
              <a:avLst>
                <a:gd name="adj1" fmla="val 4509834"/>
                <a:gd name="adj2" fmla="val 16175134"/>
              </a:avLst>
            </a:prstGeom>
            <a:pattFill prst="lgGrid">
              <a:fgClr>
                <a:schemeClr val="bg1">
                  <a:lumMod val="85000"/>
                </a:schemeClr>
              </a:fgClr>
              <a:bgClr>
                <a:schemeClr val="bg1"/>
              </a:bgClr>
            </a:pattFill>
            <a:ln w="12700">
              <a:solidFill>
                <a:schemeClr val="bg1">
                  <a:lumMod val="85000"/>
                </a:schemeClr>
              </a:solidFill>
            </a:ln>
            <a:effectLst>
              <a:glow rad="50800">
                <a:srgbClr val="FFFF00"/>
              </a:glow>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34" name="文字方塊 33">
              <a:extLst>
                <a:ext uri="{FF2B5EF4-FFF2-40B4-BE49-F238E27FC236}">
                  <a16:creationId xmlns:a16="http://schemas.microsoft.com/office/drawing/2014/main" id="{6D8E0384-60DD-0988-4551-7D5D4B862ED6}"/>
                </a:ext>
              </a:extLst>
            </p:cNvPr>
            <p:cNvSpPr txBox="1"/>
            <p:nvPr/>
          </p:nvSpPr>
          <p:spPr>
            <a:xfrm>
              <a:off x="4196720" y="4268564"/>
              <a:ext cx="554639" cy="369332"/>
            </a:xfrm>
            <a:prstGeom prst="rect">
              <a:avLst/>
            </a:prstGeom>
            <a:solidFill>
              <a:schemeClr val="bg1">
                <a:alpha val="40000"/>
              </a:schemeClr>
            </a:solidFill>
            <a:effectLst/>
          </p:spPr>
          <p:txBody>
            <a:bodyPr wrap="none" lIns="0" tIns="0" rIns="0" bIns="0" rtlCol="0">
              <a:spAutoFit/>
            </a:bodyPr>
            <a:lstStyle/>
            <a:p>
              <a:pPr algn="ctr"/>
              <a:r>
                <a:rPr lang="en-US" altLang="zh-TW" sz="1200" b="1" dirty="0">
                  <a:solidFill>
                    <a:srgbClr val="FF0000"/>
                  </a:solidFill>
                </a:rPr>
                <a:t>SK</a:t>
              </a:r>
              <a:r>
                <a:rPr lang="en-US" altLang="zh-TW" sz="1200" b="1" dirty="0">
                  <a:solidFill>
                    <a:schemeClr val="bg1"/>
                  </a:solidFill>
                </a:rPr>
                <a:t> </a:t>
              </a:r>
              <a:r>
                <a:rPr lang="en-US" altLang="zh-TW" sz="1200" b="1" dirty="0">
                  <a:solidFill>
                    <a:schemeClr val="accent6">
                      <a:lumMod val="75000"/>
                    </a:schemeClr>
                  </a:solidFill>
                </a:rPr>
                <a:t>Hynix</a:t>
              </a:r>
            </a:p>
            <a:p>
              <a:pPr algn="ctr"/>
              <a:r>
                <a:rPr lang="en-US" altLang="zh-TW" sz="1200" dirty="0"/>
                <a:t>55%</a:t>
              </a:r>
              <a:endParaRPr lang="zh-TW" altLang="en-US" sz="1200" dirty="0"/>
            </a:p>
          </p:txBody>
        </p:sp>
      </p:grpSp>
      <p:graphicFrame>
        <p:nvGraphicFramePr>
          <p:cNvPr id="35" name="表格 34">
            <a:extLst>
              <a:ext uri="{FF2B5EF4-FFF2-40B4-BE49-F238E27FC236}">
                <a16:creationId xmlns:a16="http://schemas.microsoft.com/office/drawing/2014/main" id="{09E019C2-92F6-EF20-73A3-B334BF3FA378}"/>
              </a:ext>
            </a:extLst>
          </p:cNvPr>
          <p:cNvGraphicFramePr>
            <a:graphicFrameLocks noGrp="1"/>
          </p:cNvGraphicFramePr>
          <p:nvPr>
            <p:extLst>
              <p:ext uri="{D42A27DB-BD31-4B8C-83A1-F6EECF244321}">
                <p14:modId xmlns:p14="http://schemas.microsoft.com/office/powerpoint/2010/main" val="275062629"/>
              </p:ext>
            </p:extLst>
          </p:nvPr>
        </p:nvGraphicFramePr>
        <p:xfrm>
          <a:off x="3332495" y="1041556"/>
          <a:ext cx="2199907" cy="864095"/>
        </p:xfrm>
        <a:graphic>
          <a:graphicData uri="http://schemas.openxmlformats.org/drawingml/2006/table">
            <a:tbl>
              <a:tblPr firstRow="1" bandRow="1">
                <a:tableStyleId>{5C22544A-7EE6-4342-B048-85BDC9FD1C3A}</a:tableStyleId>
              </a:tblPr>
              <a:tblGrid>
                <a:gridCol w="395781">
                  <a:extLst>
                    <a:ext uri="{9D8B030D-6E8A-4147-A177-3AD203B41FA5}">
                      <a16:colId xmlns:a16="http://schemas.microsoft.com/office/drawing/2014/main" val="1907769079"/>
                    </a:ext>
                  </a:extLst>
                </a:gridCol>
                <a:gridCol w="1804126">
                  <a:extLst>
                    <a:ext uri="{9D8B030D-6E8A-4147-A177-3AD203B41FA5}">
                      <a16:colId xmlns:a16="http://schemas.microsoft.com/office/drawing/2014/main" val="4512040"/>
                    </a:ext>
                  </a:extLst>
                </a:gridCol>
              </a:tblGrid>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ABF</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Chip on Wafer </a:t>
                      </a:r>
                      <a:r>
                        <a:rPr lang="en-US" altLang="zh-TW" sz="1200" b="0" cap="none" spc="0" dirty="0">
                          <a:ln w="0"/>
                          <a:solidFill>
                            <a:schemeClr val="tx1"/>
                          </a:solidFill>
                          <a:effectLst/>
                        </a:rPr>
                        <a:t>on Substrate</a:t>
                      </a:r>
                    </a:p>
                  </a:txBody>
                  <a:tcPr marL="0"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extLst>
                  <a:ext uri="{0D108BD9-81ED-4DB2-BD59-A6C34878D82A}">
                    <a16:rowId xmlns:a16="http://schemas.microsoft.com/office/drawing/2014/main" val="2381454161"/>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5">
                              <a:lumMod val="50000"/>
                            </a:schemeClr>
                          </a:solidFill>
                          <a:effectLst/>
                        </a:rPr>
                        <a:t>RDL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Chip on Panel </a:t>
                      </a:r>
                      <a:r>
                        <a:rPr lang="en-US" altLang="zh-TW" sz="1200" b="0" cap="none" spc="0" dirty="0">
                          <a:ln w="0"/>
                          <a:solidFill>
                            <a:schemeClr val="tx1"/>
                          </a:solidFill>
                          <a:effectLst/>
                        </a:rPr>
                        <a:t>on Substrate</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extLst>
                  <a:ext uri="{0D108BD9-81ED-4DB2-BD59-A6C34878D82A}">
                    <a16:rowId xmlns:a16="http://schemas.microsoft.com/office/drawing/2014/main" val="1642474553"/>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PCB</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Chip on Wafer on Panel</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extLst>
                  <a:ext uri="{0D108BD9-81ED-4DB2-BD59-A6C34878D82A}">
                    <a16:rowId xmlns:a16="http://schemas.microsoft.com/office/drawing/2014/main" val="1341340391"/>
                  </a:ext>
                </a:extLst>
              </a:tr>
              <a:tr h="219833">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Intel EMIB </a:t>
                      </a:r>
                      <a:r>
                        <a:rPr lang="en-US" altLang="zh-TW" sz="1000" b="0" cap="none" spc="0" dirty="0">
                          <a:ln w="0"/>
                          <a:solidFill>
                            <a:schemeClr val="tx1"/>
                          </a:solidFill>
                          <a:effectLst/>
                          <a:latin typeface="Noto Sans HK" panose="020B0200000000000000" pitchFamily="34" charset="-120"/>
                          <a:ea typeface="Noto Sans HK" panose="020B0200000000000000" pitchFamily="34" charset="-120"/>
                          <a:sym typeface="Wingdings" panose="05000000000000000000" pitchFamily="2" charset="2"/>
                        </a:rPr>
                        <a:t></a:t>
                      </a:r>
                      <a:r>
                        <a:rPr lang="en-US" altLang="zh-TW" sz="1200" b="0" cap="none" spc="0" dirty="0">
                          <a:ln w="0"/>
                          <a:solidFill>
                            <a:schemeClr val="tx1"/>
                          </a:solidFill>
                          <a:effectLst/>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b="0" cap="none" spc="0" dirty="0">
                          <a:ln w="0"/>
                          <a:solidFill>
                            <a:schemeClr val="tx1"/>
                          </a:solidFill>
                          <a:effectLst/>
                          <a:sym typeface="Wingdings" panose="05000000000000000000" pitchFamily="2" charset="2"/>
                        </a:rPr>
                        <a:t>CoWoS L</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hMerge="1">
                  <a:txBody>
                    <a:bodyPr/>
                    <a:lstStyle/>
                    <a:p>
                      <a:endParaRPr dirty="0"/>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sp>
        <p:nvSpPr>
          <p:cNvPr id="39" name="文字方塊 38">
            <a:extLst>
              <a:ext uri="{FF2B5EF4-FFF2-40B4-BE49-F238E27FC236}">
                <a16:creationId xmlns:a16="http://schemas.microsoft.com/office/drawing/2014/main" id="{03FDE374-4C12-3AEA-E0E2-C95CBA712F79}"/>
              </a:ext>
            </a:extLst>
          </p:cNvPr>
          <p:cNvSpPr txBox="1"/>
          <p:nvPr/>
        </p:nvSpPr>
        <p:spPr>
          <a:xfrm>
            <a:off x="2189253" y="1895373"/>
            <a:ext cx="997635" cy="93467"/>
          </a:xfrm>
          <a:prstGeom prst="rect">
            <a:avLst/>
          </a:prstGeom>
          <a:solidFill>
            <a:schemeClr val="accent5">
              <a:lumMod val="20000"/>
              <a:lumOff val="80000"/>
            </a:schemeClr>
          </a:solidFill>
          <a:ln w="12700">
            <a:solidFill>
              <a:schemeClr val="accent5">
                <a:lumMod val="60000"/>
                <a:lumOff val="40000"/>
                <a:alpha val="60000"/>
              </a:schemeClr>
            </a:solidFill>
            <a:prstDash val="solid"/>
          </a:ln>
        </p:spPr>
        <p:txBody>
          <a:bodyPr wrap="none" lIns="0" tIns="0" rIns="0" bIns="0" anchor="ctr" anchorCtr="1">
            <a:noAutofit/>
          </a:bodyPr>
          <a:lstStyle/>
          <a:p>
            <a:pPr algn="ctr">
              <a:lnSpc>
                <a:spcPts val="1200"/>
              </a:lnSpc>
              <a:buNone/>
            </a:pPr>
            <a:r>
              <a:rPr lang="en-US" altLang="zh-TW" sz="800" b="1" dirty="0">
                <a:solidFill>
                  <a:schemeClr val="accent5">
                    <a:lumMod val="50000"/>
                  </a:schemeClr>
                </a:solidFill>
              </a:rPr>
              <a:t>RDL</a:t>
            </a:r>
          </a:p>
        </p:txBody>
      </p:sp>
      <p:cxnSp>
        <p:nvCxnSpPr>
          <p:cNvPr id="42" name="直線接點 41">
            <a:extLst>
              <a:ext uri="{FF2B5EF4-FFF2-40B4-BE49-F238E27FC236}">
                <a16:creationId xmlns:a16="http://schemas.microsoft.com/office/drawing/2014/main" id="{1EF9809E-21C1-B5D3-75CC-F99542316F76}"/>
              </a:ext>
            </a:extLst>
          </p:cNvPr>
          <p:cNvCxnSpPr>
            <a:cxnSpLocks/>
            <a:stCxn id="39" idx="3"/>
            <a:endCxn id="35" idx="1"/>
          </p:cNvCxnSpPr>
          <p:nvPr/>
        </p:nvCxnSpPr>
        <p:spPr>
          <a:xfrm flipV="1">
            <a:off x="3186888" y="1473603"/>
            <a:ext cx="145607" cy="468504"/>
          </a:xfrm>
          <a:prstGeom prst="line">
            <a:avLst/>
          </a:prstGeom>
          <a:ln>
            <a:solidFill>
              <a:schemeClr val="accent5">
                <a:lumMod val="60000"/>
                <a:lumOff val="40000"/>
              </a:schemeClr>
            </a:solidFill>
          </a:ln>
        </p:spPr>
        <p:style>
          <a:lnRef idx="1">
            <a:schemeClr val="accent5"/>
          </a:lnRef>
          <a:fillRef idx="0">
            <a:schemeClr val="accent5"/>
          </a:fillRef>
          <a:effectRef idx="0">
            <a:schemeClr val="accent5"/>
          </a:effectRef>
          <a:fontRef idx="minor">
            <a:schemeClr val="tx1"/>
          </a:fontRef>
        </p:style>
      </p:cxnSp>
      <p:sp>
        <p:nvSpPr>
          <p:cNvPr id="21" name="文字方塊 20">
            <a:extLst>
              <a:ext uri="{FF2B5EF4-FFF2-40B4-BE49-F238E27FC236}">
                <a16:creationId xmlns:a16="http://schemas.microsoft.com/office/drawing/2014/main" id="{C1B176B7-CD41-6730-44CB-89F7B0E31DA3}"/>
              </a:ext>
            </a:extLst>
          </p:cNvPr>
          <p:cNvSpPr txBox="1"/>
          <p:nvPr/>
        </p:nvSpPr>
        <p:spPr>
          <a:xfrm>
            <a:off x="2189253" y="1773890"/>
            <a:ext cx="997629" cy="117959"/>
          </a:xfrm>
          <a:prstGeom prst="rect">
            <a:avLst/>
          </a:prstGeom>
          <a:solidFill>
            <a:schemeClr val="bg1"/>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tx2"/>
                </a:solidFill>
              </a:rPr>
              <a:t>CoPoS</a:t>
            </a:r>
          </a:p>
        </p:txBody>
      </p:sp>
      <p:sp>
        <p:nvSpPr>
          <p:cNvPr id="33" name="文字方塊 32">
            <a:extLst>
              <a:ext uri="{FF2B5EF4-FFF2-40B4-BE49-F238E27FC236}">
                <a16:creationId xmlns:a16="http://schemas.microsoft.com/office/drawing/2014/main" id="{7A2C2642-4D40-0FA0-2713-A1B3B64FACBF}"/>
              </a:ext>
            </a:extLst>
          </p:cNvPr>
          <p:cNvSpPr txBox="1"/>
          <p:nvPr/>
        </p:nvSpPr>
        <p:spPr>
          <a:xfrm>
            <a:off x="2189250" y="1994275"/>
            <a:ext cx="997629" cy="96290"/>
          </a:xfrm>
          <a:prstGeom prst="rect">
            <a:avLst/>
          </a:prstGeom>
          <a:solidFill>
            <a:schemeClr val="bg1">
              <a:lumMod val="85000"/>
              <a:alpha val="80000"/>
            </a:schemeClr>
          </a:solidFill>
          <a:ln w="12700">
            <a:solidFill>
              <a:schemeClr val="accent5">
                <a:lumMod val="60000"/>
                <a:lumOff val="40000"/>
                <a:alpha val="60000"/>
              </a:schemeClr>
            </a:solidFill>
            <a:prstDash val="solid"/>
          </a:ln>
        </p:spPr>
        <p:txBody>
          <a:bodyPr wrap="none" lIns="0" tIns="0" rIns="0" bIns="0" anchor="ctr" anchorCtr="1">
            <a:noAutofit/>
          </a:bodyPr>
          <a:lstStyle/>
          <a:p>
            <a:pPr algn="ctr">
              <a:lnSpc>
                <a:spcPts val="1000"/>
              </a:lnSpc>
              <a:buNone/>
            </a:pPr>
            <a:r>
              <a:rPr lang="en-US" altLang="zh-TW" sz="800" b="1" dirty="0">
                <a:solidFill>
                  <a:schemeClr val="accent5">
                    <a:lumMod val="50000"/>
                  </a:schemeClr>
                </a:solidFill>
              </a:rPr>
              <a:t>ABF</a:t>
            </a:r>
          </a:p>
        </p:txBody>
      </p:sp>
    </p:spTree>
    <p:extLst>
      <p:ext uri="{BB962C8B-B14F-4D97-AF65-F5344CB8AC3E}">
        <p14:creationId xmlns:p14="http://schemas.microsoft.com/office/powerpoint/2010/main" val="38101809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C53877D2-9AAA-04DF-A01C-D330479182BF}"/>
              </a:ext>
            </a:extLst>
          </p:cNvPr>
          <p:cNvSpPr txBox="1">
            <a:spLocks/>
          </p:cNvSpPr>
          <p:nvPr/>
        </p:nvSpPr>
        <p:spPr>
          <a:xfrm>
            <a:off x="179512" y="116632"/>
            <a:ext cx="8784976"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NVidia</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NV</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dominates</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by</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flawlessly</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unifying</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specialized</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AI</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hardware</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with</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optimized</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memory-saving</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software.</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4" name="文字方塊 3">
            <a:extLst>
              <a:ext uri="{FF2B5EF4-FFF2-40B4-BE49-F238E27FC236}">
                <a16:creationId xmlns:a16="http://schemas.microsoft.com/office/drawing/2014/main" id="{7E446570-015B-77D0-844F-83AFB5903059}"/>
              </a:ext>
            </a:extLst>
          </p:cNvPr>
          <p:cNvSpPr txBox="1"/>
          <p:nvPr/>
        </p:nvSpPr>
        <p:spPr>
          <a:xfrm>
            <a:off x="107504" y="874452"/>
            <a:ext cx="4572000" cy="830997"/>
          </a:xfrm>
          <a:prstGeom prst="rect">
            <a:avLst/>
          </a:prstGeom>
          <a:noFill/>
        </p:spPr>
        <p:txBody>
          <a:bodyPr wrap="square">
            <a:spAutoFit/>
          </a:bodyPr>
          <a:lstStyle/>
          <a:p>
            <a:pPr marL="0" marR="0">
              <a:spcBef>
                <a:spcPts val="900"/>
              </a:spcBef>
              <a:spcAft>
                <a:spcPts val="1200"/>
              </a:spcAft>
              <a:buNone/>
            </a:pPr>
            <a:r>
              <a:rPr lang="zh-TW" altLang="zh-TW" sz="1200" b="1" u="none" strike="noStrike" dirty="0">
                <a:effectLst/>
                <a:latin typeface="Google Sans"/>
              </a:rPr>
              <a:t>NVIDIA 稱霸此領域的核心原因在於：「軟硬體協同設計（Co-design）」，將最強大的 AI 硬體與無可替代的軟體生態（CUDA、TensorRT、Transformer Engine）深度綁定，徹底解決了記憶體傳輸與算力瓶頸。</a:t>
            </a:r>
            <a:endParaRPr lang="zh-TW" altLang="zh-TW" sz="1200" b="0" u="none" strike="noStrike" dirty="0">
              <a:effectLst/>
              <a:latin typeface="Google Sans"/>
            </a:endParaRPr>
          </a:p>
        </p:txBody>
      </p:sp>
      <p:sp>
        <p:nvSpPr>
          <p:cNvPr id="6" name="文字方塊 5">
            <a:extLst>
              <a:ext uri="{FF2B5EF4-FFF2-40B4-BE49-F238E27FC236}">
                <a16:creationId xmlns:a16="http://schemas.microsoft.com/office/drawing/2014/main" id="{71C06515-C1FE-8E5D-9C9F-55A3E31A0391}"/>
              </a:ext>
            </a:extLst>
          </p:cNvPr>
          <p:cNvSpPr txBox="1"/>
          <p:nvPr/>
        </p:nvSpPr>
        <p:spPr>
          <a:xfrm>
            <a:off x="179512" y="2459504"/>
            <a:ext cx="8784976" cy="2594108"/>
          </a:xfrm>
          <a:prstGeom prst="rect">
            <a:avLst/>
          </a:prstGeom>
          <a:noFill/>
        </p:spPr>
        <p:txBody>
          <a:bodyPr wrap="square">
            <a:spAutoFit/>
          </a:bodyPr>
          <a:lstStyle/>
          <a:p>
            <a:pPr marL="0" marR="0">
              <a:lnSpc>
                <a:spcPts val="1400"/>
              </a:lnSpc>
              <a:buNone/>
            </a:pPr>
            <a:r>
              <a:rPr lang="zh-TW" altLang="zh-TW" sz="1000" b="1" u="none" strike="noStrike" dirty="0">
                <a:effectLst/>
                <a:latin typeface="Google Sans"/>
              </a:rPr>
              <a:t>1. 軟硬體高度一體化（Full-Stack Integration）</a:t>
            </a:r>
          </a:p>
          <a:p>
            <a:pPr marL="0" marR="0">
              <a:lnSpc>
                <a:spcPts val="1400"/>
              </a:lnSpc>
              <a:buNone/>
            </a:pPr>
            <a:r>
              <a:rPr lang="zh-TW" altLang="zh-TW" sz="1000" b="0" u="none" strike="noStrike" dirty="0">
                <a:effectLst/>
                <a:latin typeface="Google Sans"/>
              </a:rPr>
              <a:t>NVIDIA 不是單純賣晶片，而是賣「整套解決方案」。</a:t>
            </a:r>
          </a:p>
          <a:p>
            <a:pPr marL="0" marR="0">
              <a:lnSpc>
                <a:spcPts val="1400"/>
              </a:lnSpc>
              <a:buFont typeface="Arial" panose="020B0604020202020204" pitchFamily="34" charset="0"/>
              <a:buChar char="•"/>
            </a:pPr>
            <a:r>
              <a:rPr lang="zh-TW" altLang="zh-TW" sz="1000" b="1" u="none" strike="noStrike" dirty="0">
                <a:effectLst/>
                <a:latin typeface="Google Sans"/>
              </a:rPr>
              <a:t>硬體層面</a:t>
            </a:r>
            <a:r>
              <a:rPr lang="zh-TW" altLang="zh-TW" sz="1000" b="0" u="none" strike="noStrike" dirty="0">
                <a:effectLst/>
                <a:latin typeface="Google Sans"/>
              </a:rPr>
              <a:t>：推出了 Tensor Core、NVLink 高速互聯技術，以及支援 FP8/NVFP4 低精度的硬體架構（如 Hopper, Blackwell）。</a:t>
            </a:r>
          </a:p>
          <a:p>
            <a:pPr marL="0" marR="0">
              <a:lnSpc>
                <a:spcPts val="1400"/>
              </a:lnSpc>
              <a:buFont typeface="Arial" panose="020B0604020202020204" pitchFamily="34" charset="0"/>
              <a:buChar char="•"/>
            </a:pPr>
            <a:r>
              <a:rPr lang="zh-TW" altLang="zh-TW" sz="1000" b="1" u="none" strike="noStrike" dirty="0">
                <a:effectLst/>
                <a:latin typeface="Google Sans"/>
              </a:rPr>
              <a:t>軟體層面</a:t>
            </a:r>
            <a:r>
              <a:rPr lang="zh-TW" altLang="zh-TW" sz="1000" b="0" u="none" strike="noStrike" dirty="0">
                <a:effectLst/>
                <a:latin typeface="Google Sans"/>
              </a:rPr>
              <a:t>：開發了 Transformer Engine 和 ModelOpt 等軟體庫，能「自動且完美」地榨乾這些新硬體的每一滴效能，讓對手（如 AMD、Intel）難以望其項背。</a:t>
            </a:r>
          </a:p>
          <a:p>
            <a:pPr marL="0" marR="0">
              <a:lnSpc>
                <a:spcPts val="1400"/>
              </a:lnSpc>
              <a:buNone/>
            </a:pPr>
            <a:endParaRPr lang="en-US" altLang="zh-TW" sz="1000" b="1" u="none" strike="noStrike" dirty="0">
              <a:effectLst/>
              <a:latin typeface="Google Sans"/>
            </a:endParaRPr>
          </a:p>
          <a:p>
            <a:pPr marL="0" marR="0">
              <a:lnSpc>
                <a:spcPts val="1400"/>
              </a:lnSpc>
              <a:buNone/>
            </a:pPr>
            <a:r>
              <a:rPr lang="zh-TW" altLang="zh-TW" sz="1000" b="1" u="none" strike="noStrike" dirty="0">
                <a:effectLst/>
                <a:latin typeface="Google Sans"/>
              </a:rPr>
              <a:t>2. 無法被超越的 CUDA 生態護城河</a:t>
            </a:r>
          </a:p>
          <a:p>
            <a:pPr marL="0" marR="0">
              <a:lnSpc>
                <a:spcPts val="1400"/>
              </a:lnSpc>
              <a:buNone/>
            </a:pPr>
            <a:r>
              <a:rPr lang="zh-TW" altLang="zh-TW" sz="1000" b="0" u="none" strike="noStrike" dirty="0">
                <a:effectLst/>
                <a:latin typeface="Google Sans"/>
              </a:rPr>
              <a:t>自 2006 年起，NVIDIA 就在 CUDA（統一計算架構）軟體平台上投入了無數資源。</a:t>
            </a:r>
          </a:p>
          <a:p>
            <a:pPr marL="0" marR="0">
              <a:lnSpc>
                <a:spcPts val="1400"/>
              </a:lnSpc>
              <a:buFont typeface="Arial" panose="020B0604020202020204" pitchFamily="34" charset="0"/>
              <a:buChar char="•"/>
            </a:pPr>
            <a:r>
              <a:rPr lang="zh-TW" altLang="zh-TW" sz="1000" b="0" u="none" strike="noStrike" dirty="0">
                <a:effectLst/>
                <a:latin typeface="Google Sans"/>
              </a:rPr>
              <a:t>如今全球 99% 的主流 AI 框架（如 PyTorch、TensorFlow）與工具庫（如 </a:t>
            </a:r>
            <a:r>
              <a:rPr lang="zh-TW" altLang="zh-TW" sz="1000" b="0" u="none" strike="noStrike" dirty="0">
                <a:effectLst/>
                <a:latin typeface="Courier New" panose="02070309020205020404" pitchFamily="49" charset="0"/>
              </a:rPr>
              <a:t>bitsandbytes</a:t>
            </a:r>
            <a:r>
              <a:rPr lang="zh-TW" altLang="zh-TW" sz="1000" b="0" u="none" strike="noStrike" dirty="0">
                <a:effectLst/>
                <a:latin typeface="Google Sans"/>
              </a:rPr>
              <a:t> 中的 Paged AdamW）都是原生基於 CUDA 開發的。</a:t>
            </a:r>
          </a:p>
          <a:p>
            <a:pPr marL="0" marR="0">
              <a:lnSpc>
                <a:spcPts val="1400"/>
              </a:lnSpc>
              <a:buFont typeface="Arial" panose="020B0604020202020204" pitchFamily="34" charset="0"/>
              <a:buChar char="•"/>
            </a:pPr>
            <a:r>
              <a:rPr lang="zh-TW" altLang="zh-TW" sz="1000" b="0" u="none" strike="noStrike" dirty="0">
                <a:effectLst/>
                <a:latin typeface="Google Sans"/>
              </a:rPr>
              <a:t>工程師只要呼叫幾行代碼就能啟用極致的記憶體管理技術，轉換成本極高，讓客戶產生極強的生態黏著度。</a:t>
            </a:r>
          </a:p>
          <a:p>
            <a:pPr marL="0" marR="0">
              <a:lnSpc>
                <a:spcPts val="1400"/>
              </a:lnSpc>
              <a:buNone/>
            </a:pPr>
            <a:endParaRPr lang="en-US" altLang="zh-TW" sz="1000" b="1" u="none" strike="noStrike" dirty="0">
              <a:effectLst/>
              <a:latin typeface="Google Sans"/>
            </a:endParaRPr>
          </a:p>
          <a:p>
            <a:pPr marL="0" marR="0">
              <a:lnSpc>
                <a:spcPts val="1400"/>
              </a:lnSpc>
              <a:buNone/>
            </a:pPr>
            <a:r>
              <a:rPr lang="zh-TW" altLang="zh-TW" sz="1000" b="1" u="none" strike="noStrike" dirty="0">
                <a:effectLst/>
                <a:latin typeface="Google Sans"/>
              </a:rPr>
              <a:t>3. 精準擊中 AI 開發痛點：解決記憶體牆（Memory Wall）</a:t>
            </a:r>
          </a:p>
          <a:p>
            <a:pPr marL="0" marR="0">
              <a:lnSpc>
                <a:spcPts val="1400"/>
              </a:lnSpc>
              <a:buNone/>
            </a:pPr>
            <a:r>
              <a:rPr lang="zh-TW" altLang="zh-TW" sz="1000" b="0" u="none" strike="noStrike" dirty="0">
                <a:effectLst/>
                <a:latin typeface="Google Sans"/>
              </a:rPr>
              <a:t>AI 大模型訓練最怕 VRAM 爆炸（OOM）與傳輸延遲。</a:t>
            </a:r>
          </a:p>
          <a:p>
            <a:pPr marL="0" marR="0">
              <a:lnSpc>
                <a:spcPts val="1400"/>
              </a:lnSpc>
              <a:buFont typeface="Arial" panose="020B0604020202020204" pitchFamily="34" charset="0"/>
              <a:buChar char="•"/>
            </a:pPr>
            <a:r>
              <a:rPr lang="zh-TW" altLang="zh-TW" sz="1000" b="0" u="none" strike="noStrike" dirty="0">
                <a:effectLst/>
                <a:latin typeface="Google Sans"/>
              </a:rPr>
              <a:t>NVIDIA 在軟體端透過 </a:t>
            </a:r>
            <a:r>
              <a:rPr lang="zh-TW" altLang="zh-TW" sz="1000" b="1" u="none" strike="noStrike" dirty="0">
                <a:effectLst/>
                <a:latin typeface="Google Sans"/>
              </a:rPr>
              <a:t>NVLink-C2C</a:t>
            </a:r>
            <a:r>
              <a:rPr lang="zh-TW" altLang="zh-TW" sz="1000" b="0" u="none" strike="noStrike" dirty="0">
                <a:effectLst/>
                <a:latin typeface="Google Sans"/>
              </a:rPr>
              <a:t> 和 </a:t>
            </a:r>
            <a:r>
              <a:rPr lang="zh-TW" altLang="zh-TW" sz="1000" b="1" u="none" strike="noStrike" dirty="0">
                <a:effectLst/>
                <a:latin typeface="Google Sans"/>
              </a:rPr>
              <a:t>Unified Memory</a:t>
            </a:r>
            <a:r>
              <a:rPr lang="zh-TW" altLang="zh-TW" sz="1000" b="0" u="none" strike="noStrike" dirty="0">
                <a:effectLst/>
                <a:latin typeface="Google Sans"/>
              </a:rPr>
              <a:t> 的軟硬體融合，把 GPU 顯存與 CPU 記憶體打通，讓記憶體調度（如 Offloading 卸載技術）流暢得像在同一塊晶片上運作。</a:t>
            </a:r>
          </a:p>
        </p:txBody>
      </p:sp>
      <p:sp>
        <p:nvSpPr>
          <p:cNvPr id="8" name="文字方塊 7">
            <a:extLst>
              <a:ext uri="{FF2B5EF4-FFF2-40B4-BE49-F238E27FC236}">
                <a16:creationId xmlns:a16="http://schemas.microsoft.com/office/drawing/2014/main" id="{7E1BB295-BCDB-505F-F19F-FB69EF36B9A9}"/>
              </a:ext>
            </a:extLst>
          </p:cNvPr>
          <p:cNvSpPr txBox="1"/>
          <p:nvPr/>
        </p:nvSpPr>
        <p:spPr>
          <a:xfrm>
            <a:off x="1259632" y="5337217"/>
            <a:ext cx="4572000" cy="646331"/>
          </a:xfrm>
          <a:prstGeom prst="rect">
            <a:avLst/>
          </a:prstGeom>
          <a:noFill/>
        </p:spPr>
        <p:txBody>
          <a:bodyPr wrap="square">
            <a:spAutoFit/>
          </a:bodyPr>
          <a:lstStyle/>
          <a:p>
            <a:r>
              <a:rPr lang="zh-TW" altLang="zh-TW" dirty="0"/>
              <a:t>特定的 NVIDIA 技術（例如 </a:t>
            </a:r>
            <a:r>
              <a:rPr lang="zh-TW" altLang="zh-TW" sz="1200" b="1" u="none" strike="noStrike" dirty="0">
                <a:effectLst/>
                <a:latin typeface="Google Sans"/>
              </a:rPr>
              <a:t>TensorRT-LLM 部署</a:t>
            </a:r>
            <a:r>
              <a:rPr lang="zh-TW" altLang="zh-TW" dirty="0"/>
              <a:t> 或 </a:t>
            </a:r>
            <a:r>
              <a:rPr lang="zh-TW" altLang="zh-TW" sz="1200" b="1" u="none" strike="noStrike" dirty="0">
                <a:effectLst/>
                <a:latin typeface="Google Sans"/>
              </a:rPr>
              <a:t>Transformer Engine 混合精度設定</a:t>
            </a:r>
            <a:r>
              <a:rPr lang="zh-TW" altLang="zh-TW" dirty="0"/>
              <a:t>）</a:t>
            </a:r>
            <a:endParaRPr lang="zh-TW" altLang="en-US" dirty="0"/>
          </a:p>
        </p:txBody>
      </p:sp>
      <p:pic>
        <p:nvPicPr>
          <p:cNvPr id="7" name="圖片 6">
            <a:extLst>
              <a:ext uri="{FF2B5EF4-FFF2-40B4-BE49-F238E27FC236}">
                <a16:creationId xmlns:a16="http://schemas.microsoft.com/office/drawing/2014/main" id="{746558AA-835C-3304-AA98-B3CC912719E1}"/>
              </a:ext>
            </a:extLst>
          </p:cNvPr>
          <p:cNvPicPr>
            <a:picLocks noChangeAspect="1"/>
          </p:cNvPicPr>
          <p:nvPr/>
        </p:nvPicPr>
        <p:blipFill>
          <a:blip r:embed="rId3"/>
          <a:stretch>
            <a:fillRect/>
          </a:stretch>
        </p:blipFill>
        <p:spPr>
          <a:xfrm>
            <a:off x="0" y="1016616"/>
            <a:ext cx="9144000" cy="4824768"/>
          </a:xfrm>
          <a:prstGeom prst="rect">
            <a:avLst/>
          </a:prstGeom>
        </p:spPr>
      </p:pic>
    </p:spTree>
    <p:extLst>
      <p:ext uri="{BB962C8B-B14F-4D97-AF65-F5344CB8AC3E}">
        <p14:creationId xmlns:p14="http://schemas.microsoft.com/office/powerpoint/2010/main" val="24581598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8038C6C-A0CC-EECA-FADD-6DD0087298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1000"/>
            <a:ext cx="9144000" cy="6096000"/>
          </a:xfrm>
          <a:prstGeom prst="rect">
            <a:avLst/>
          </a:prstGeom>
        </p:spPr>
      </p:pic>
    </p:spTree>
    <p:extLst>
      <p:ext uri="{BB962C8B-B14F-4D97-AF65-F5344CB8AC3E}">
        <p14:creationId xmlns:p14="http://schemas.microsoft.com/office/powerpoint/2010/main" val="25988612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8FCFFB-A020-FD80-C327-271A0547EBB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04A0BC9-81E6-8EDA-7925-B0D513956CE7}"/>
              </a:ext>
            </a:extLst>
          </p:cNvPr>
          <p:cNvSpPr txBox="1">
            <a:spLocks/>
          </p:cNvSpPr>
          <p:nvPr/>
        </p:nvSpPr>
        <p:spPr>
          <a:xfrm>
            <a:off x="-8612" y="80510"/>
            <a:ext cx="7748963"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800" dirty="0">
                <a:latin typeface="Arial" panose="020B0604020202020204" pitchFamily="34" charset="0"/>
                <a:cs typeface="Arial" panose="020B0604020202020204" pitchFamily="34" charset="0"/>
              </a:rPr>
              <a:t>Memory</a:t>
            </a:r>
          </a:p>
          <a:p>
            <a:r>
              <a:rPr lang="en-US" altLang="zh-TW" sz="1200" dirty="0">
                <a:latin typeface="Arial" panose="020B0604020202020204" pitchFamily="34" charset="0"/>
                <a:cs typeface="Arial" panose="020B0604020202020204" pitchFamily="34" charset="0"/>
              </a:rPr>
              <a:t>A</a:t>
            </a:r>
            <a:endParaRPr lang="en-US" altLang="zh-TW" sz="1400" dirty="0">
              <a:latin typeface="Arial" panose="020B0604020202020204" pitchFamily="34" charset="0"/>
              <a:cs typeface="Arial" panose="020B0604020202020204" pitchFamily="34" charset="0"/>
              <a:sym typeface="Wingdings" panose="05000000000000000000" pitchFamily="2" charset="2"/>
            </a:endParaRPr>
          </a:p>
        </p:txBody>
      </p:sp>
      <p:sp>
        <p:nvSpPr>
          <p:cNvPr id="3" name="文字方塊 2">
            <a:extLst>
              <a:ext uri="{FF2B5EF4-FFF2-40B4-BE49-F238E27FC236}">
                <a16:creationId xmlns:a16="http://schemas.microsoft.com/office/drawing/2014/main" id="{9C0076D6-5376-EDAD-EF25-F1F33898A23A}"/>
              </a:ext>
            </a:extLst>
          </p:cNvPr>
          <p:cNvSpPr txBox="1"/>
          <p:nvPr/>
        </p:nvSpPr>
        <p:spPr>
          <a:xfrm>
            <a:off x="0" y="1412776"/>
            <a:ext cx="2117971" cy="1440160"/>
          </a:xfrm>
          <a:prstGeom prst="rect">
            <a:avLst/>
          </a:prstGeom>
          <a:noFill/>
        </p:spPr>
        <p:txBody>
          <a:bodyPr wrap="none" lIns="0" tIns="0" rIns="0" bIns="0" anchor="ctr" anchorCtr="1">
            <a:noAutofit/>
          </a:bodyPr>
          <a:lstStyle/>
          <a:p>
            <a:pPr algn="ctr">
              <a:lnSpc>
                <a:spcPts val="1400"/>
              </a:lnSpc>
              <a:tabLst>
                <a:tab pos="285750" algn="l"/>
              </a:tabLst>
            </a:pPr>
            <a:r>
              <a:rPr lang="en-US" altLang="zh-TW" sz="1200" dirty="0">
                <a:solidFill>
                  <a:schemeClr val="tx2"/>
                </a:solidFill>
                <a:latin typeface="微軟正黑體" panose="020B0604030504040204" pitchFamily="34" charset="-120"/>
                <a:ea typeface="微軟正黑體" panose="020B0604030504040204" pitchFamily="34" charset="-120"/>
              </a:rPr>
              <a:t>Bit Net</a:t>
            </a:r>
          </a:p>
          <a:p>
            <a:pPr algn="ctr">
              <a:lnSpc>
                <a:spcPts val="1400"/>
              </a:lnSpc>
              <a:tabLst>
                <a:tab pos="285750" algn="l"/>
              </a:tabLst>
            </a:pPr>
            <a:r>
              <a:rPr lang="en-US" altLang="zh-TW" sz="1200" dirty="0">
                <a:solidFill>
                  <a:schemeClr val="tx2"/>
                </a:solidFill>
                <a:latin typeface="微軟正黑體" panose="020B0604030504040204" pitchFamily="34" charset="-120"/>
                <a:ea typeface="微軟正黑體" panose="020B0604030504040204" pitchFamily="34" charset="-120"/>
              </a:rPr>
              <a:t>1.58b (2</a:t>
            </a:r>
            <a:r>
              <a:rPr lang="en-US" altLang="zh-TW" sz="1200" b="1" baseline="30000" dirty="0">
                <a:solidFill>
                  <a:srgbClr val="FF0000"/>
                </a:solidFill>
                <a:latin typeface="微軟正黑體" panose="020B0604030504040204" pitchFamily="34" charset="-120"/>
                <a:ea typeface="微軟正黑體" panose="020B0604030504040204" pitchFamily="34" charset="-120"/>
              </a:rPr>
              <a:t>1.58</a:t>
            </a:r>
            <a:r>
              <a:rPr lang="en-US" altLang="zh-TW" sz="1200" dirty="0">
                <a:solidFill>
                  <a:schemeClr val="tx2"/>
                </a:solidFill>
                <a:latin typeface="微軟正黑體" panose="020B0604030504040204" pitchFamily="34" charset="-120"/>
                <a:ea typeface="微軟正黑體" panose="020B0604030504040204" pitchFamily="34" charset="-120"/>
              </a:rPr>
              <a:t> =3)</a:t>
            </a:r>
          </a:p>
          <a:p>
            <a:pPr algn="ctr">
              <a:lnSpc>
                <a:spcPts val="1400"/>
              </a:lnSpc>
              <a:tabLst>
                <a:tab pos="285750" algn="l"/>
              </a:tabLst>
            </a:pPr>
            <a:endParaRPr lang="en-US" altLang="zh-TW" sz="1200" dirty="0">
              <a:solidFill>
                <a:schemeClr val="tx2"/>
              </a:solidFill>
              <a:latin typeface="微軟正黑體" panose="020B0604030504040204" pitchFamily="34" charset="-120"/>
              <a:ea typeface="微軟正黑體" panose="020B0604030504040204" pitchFamily="34" charset="-120"/>
            </a:endParaRPr>
          </a:p>
          <a:p>
            <a:pPr algn="ctr">
              <a:lnSpc>
                <a:spcPts val="1400"/>
              </a:lnSpc>
              <a:tabLst>
                <a:tab pos="285750" algn="l"/>
              </a:tabLst>
            </a:pPr>
            <a:r>
              <a:rPr lang="zh-TW" altLang="en-US" sz="1200" dirty="0">
                <a:solidFill>
                  <a:schemeClr val="tx2"/>
                </a:solidFill>
                <a:latin typeface="微軟正黑體" panose="020B0604030504040204" pitchFamily="34" charset="-120"/>
                <a:ea typeface="微軟正黑體" panose="020B0604030504040204" pitchFamily="34" charset="-120"/>
              </a:rPr>
              <a:t>大幅下降記憶體需求</a:t>
            </a:r>
            <a:endParaRPr lang="en-US" altLang="zh-TW" sz="1200" u="none" strike="noStrike" dirty="0">
              <a:solidFill>
                <a:schemeClr val="tx2"/>
              </a:solidFill>
              <a:effectLst/>
              <a:latin typeface="微軟正黑體" panose="020B0604030504040204" pitchFamily="34" charset="-120"/>
              <a:ea typeface="微軟正黑體" panose="020B0604030504040204" pitchFamily="34" charset="-120"/>
            </a:endParaRPr>
          </a:p>
        </p:txBody>
      </p:sp>
      <p:pic>
        <p:nvPicPr>
          <p:cNvPr id="6" name="圖片 5">
            <a:extLst>
              <a:ext uri="{FF2B5EF4-FFF2-40B4-BE49-F238E27FC236}">
                <a16:creationId xmlns:a16="http://schemas.microsoft.com/office/drawing/2014/main" id="{76B6E4EA-EFE8-AE03-ABF6-BA21A72E0B94}"/>
              </a:ext>
            </a:extLst>
          </p:cNvPr>
          <p:cNvPicPr>
            <a:picLocks noChangeAspect="1"/>
          </p:cNvPicPr>
          <p:nvPr/>
        </p:nvPicPr>
        <p:blipFill>
          <a:blip r:embed="rId2"/>
          <a:stretch>
            <a:fillRect/>
          </a:stretch>
        </p:blipFill>
        <p:spPr>
          <a:xfrm>
            <a:off x="21332" y="3140968"/>
            <a:ext cx="2705478" cy="1514686"/>
          </a:xfrm>
          <a:prstGeom prst="rect">
            <a:avLst/>
          </a:prstGeom>
        </p:spPr>
      </p:pic>
      <p:pic>
        <p:nvPicPr>
          <p:cNvPr id="8" name="圖片 7">
            <a:extLst>
              <a:ext uri="{FF2B5EF4-FFF2-40B4-BE49-F238E27FC236}">
                <a16:creationId xmlns:a16="http://schemas.microsoft.com/office/drawing/2014/main" id="{F8B5A82C-706F-F959-3445-79222273ACEA}"/>
              </a:ext>
            </a:extLst>
          </p:cNvPr>
          <p:cNvPicPr>
            <a:picLocks noChangeAspect="1"/>
          </p:cNvPicPr>
          <p:nvPr/>
        </p:nvPicPr>
        <p:blipFill>
          <a:blip r:embed="rId3"/>
          <a:stretch>
            <a:fillRect/>
          </a:stretch>
        </p:blipFill>
        <p:spPr>
          <a:xfrm>
            <a:off x="2843808" y="1412776"/>
            <a:ext cx="5419992" cy="4777739"/>
          </a:xfrm>
          <a:prstGeom prst="rect">
            <a:avLst/>
          </a:prstGeom>
        </p:spPr>
      </p:pic>
    </p:spTree>
    <p:extLst>
      <p:ext uri="{BB962C8B-B14F-4D97-AF65-F5344CB8AC3E}">
        <p14:creationId xmlns:p14="http://schemas.microsoft.com/office/powerpoint/2010/main" val="21415264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E851D-74F1-0D10-E4C1-0D67DB2BF52F}"/>
            </a:ext>
          </a:extLst>
        </p:cNvPr>
        <p:cNvGrpSpPr/>
        <p:nvPr/>
      </p:nvGrpSpPr>
      <p:grpSpPr>
        <a:xfrm>
          <a:off x="0" y="0"/>
          <a:ext cx="0" cy="0"/>
          <a:chOff x="0" y="0"/>
          <a:chExt cx="0" cy="0"/>
        </a:xfrm>
      </p:grpSpPr>
      <p:sp>
        <p:nvSpPr>
          <p:cNvPr id="25" name="文字方塊 24">
            <a:extLst>
              <a:ext uri="{FF2B5EF4-FFF2-40B4-BE49-F238E27FC236}">
                <a16:creationId xmlns:a16="http://schemas.microsoft.com/office/drawing/2014/main" id="{10EE06B5-09A0-C6B0-AEC5-E978463FBBC2}"/>
              </a:ext>
            </a:extLst>
          </p:cNvPr>
          <p:cNvSpPr txBox="1"/>
          <p:nvPr/>
        </p:nvSpPr>
        <p:spPr>
          <a:xfrm>
            <a:off x="2588775" y="4813260"/>
            <a:ext cx="3245348" cy="1329514"/>
          </a:xfrm>
          <a:prstGeom prst="rect">
            <a:avLst/>
          </a:prstGeom>
          <a:solidFill>
            <a:schemeClr val="accent3">
              <a:lumMod val="20000"/>
              <a:lumOff val="80000"/>
              <a:alpha val="20000"/>
            </a:schemeClr>
          </a:solidFill>
          <a:ln w="25400">
            <a:solidFill>
              <a:schemeClr val="accent3">
                <a:lumMod val="60000"/>
                <a:lumOff val="40000"/>
              </a:schemeClr>
            </a:solidFill>
            <a:prstDash val="sysDash"/>
          </a:ln>
        </p:spPr>
        <p:txBody>
          <a:bodyPr wrap="none" lIns="0" tIns="91440" rIns="91440" bIns="0" anchor="t" anchorCtr="0">
            <a:noAutofit/>
          </a:bodyPr>
          <a:lstStyle/>
          <a:p>
            <a:pPr algn="r">
              <a:lnSpc>
                <a:spcPts val="1400"/>
              </a:lnSpc>
              <a:buNone/>
            </a:pPr>
            <a:r>
              <a:rPr lang="en-US" altLang="zh-TW" sz="1400" b="1" u="none" strike="noStrike" dirty="0">
                <a:solidFill>
                  <a:schemeClr val="accent3">
                    <a:lumMod val="50000"/>
                  </a:schemeClr>
                </a:solidFill>
                <a:effectLst/>
              </a:rPr>
              <a:t>Agentic</a:t>
            </a:r>
          </a:p>
          <a:p>
            <a:pPr algn="r">
              <a:lnSpc>
                <a:spcPts val="1400"/>
              </a:lnSpc>
              <a:buNone/>
            </a:pPr>
            <a:r>
              <a:rPr lang="en-US" altLang="zh-TW" sz="1400" b="1" u="none" strike="noStrike" dirty="0">
                <a:solidFill>
                  <a:schemeClr val="accent3">
                    <a:lumMod val="50000"/>
                  </a:schemeClr>
                </a:solidFill>
                <a:effectLst/>
              </a:rPr>
              <a:t>RAG</a:t>
            </a:r>
            <a:endParaRPr lang="en-US" altLang="zh-TW" sz="1400" b="1" dirty="0">
              <a:solidFill>
                <a:schemeClr val="accent3">
                  <a:lumMod val="50000"/>
                </a:schemeClr>
              </a:solidFill>
            </a:endParaRPr>
          </a:p>
        </p:txBody>
      </p:sp>
      <p:sp>
        <p:nvSpPr>
          <p:cNvPr id="111" name="文字方塊 110">
            <a:extLst>
              <a:ext uri="{FF2B5EF4-FFF2-40B4-BE49-F238E27FC236}">
                <a16:creationId xmlns:a16="http://schemas.microsoft.com/office/drawing/2014/main" id="{51D0CA9D-CF00-4E8A-F3C1-7909D642D02E}"/>
              </a:ext>
            </a:extLst>
          </p:cNvPr>
          <p:cNvSpPr txBox="1"/>
          <p:nvPr/>
        </p:nvSpPr>
        <p:spPr>
          <a:xfrm>
            <a:off x="2953738" y="4493143"/>
            <a:ext cx="1497523" cy="495268"/>
          </a:xfrm>
          <a:prstGeom prst="rect">
            <a:avLst/>
          </a:prstGeom>
          <a:solidFill>
            <a:schemeClr val="accent6">
              <a:lumMod val="20000"/>
              <a:lumOff val="80000"/>
              <a:alpha val="80000"/>
            </a:schemeClr>
          </a:solidFill>
          <a:ln w="25400">
            <a:solidFill>
              <a:schemeClr val="bg1">
                <a:lumMod val="85000"/>
              </a:schemeClr>
            </a:solidFill>
          </a:ln>
        </p:spPr>
        <p:txBody>
          <a:bodyPr wrap="none" lIns="0" tIns="0" rIns="0" bIns="0" anchor="ctr" anchorCtr="1">
            <a:noAutofit/>
          </a:bodyPr>
          <a:lstStyle/>
          <a:p>
            <a:pPr algn="ctr">
              <a:lnSpc>
                <a:spcPts val="1200"/>
              </a:lnSpc>
              <a:buNone/>
            </a:pPr>
            <a:r>
              <a:rPr lang="en-US" altLang="zh-TW" sz="1400" b="1" dirty="0">
                <a:solidFill>
                  <a:schemeClr val="accent6">
                    <a:lumMod val="75000"/>
                  </a:schemeClr>
                </a:solidFill>
              </a:rPr>
              <a:t>AI Agent</a:t>
            </a:r>
            <a:endParaRPr lang="en-US" altLang="zh-TW" sz="1400" b="1" u="none" strike="noStrike" dirty="0">
              <a:solidFill>
                <a:schemeClr val="accent6">
                  <a:lumMod val="75000"/>
                </a:schemeClr>
              </a:solidFill>
              <a:effectLst/>
            </a:endParaRPr>
          </a:p>
          <a:p>
            <a:pPr algn="ctr">
              <a:lnSpc>
                <a:spcPts val="1200"/>
              </a:lnSpc>
              <a:buNone/>
            </a:pPr>
            <a:r>
              <a:rPr lang="en-US" altLang="zh-TW" sz="1200" u="none" strike="noStrike" dirty="0">
                <a:effectLst/>
              </a:rPr>
              <a:t>(Router)</a:t>
            </a:r>
          </a:p>
        </p:txBody>
      </p:sp>
      <p:cxnSp>
        <p:nvCxnSpPr>
          <p:cNvPr id="20" name="接點: 肘形 19">
            <a:extLst>
              <a:ext uri="{FF2B5EF4-FFF2-40B4-BE49-F238E27FC236}">
                <a16:creationId xmlns:a16="http://schemas.microsoft.com/office/drawing/2014/main" id="{3A2C6091-BB1A-C34C-2A3F-070C6AE9DAD4}"/>
              </a:ext>
            </a:extLst>
          </p:cNvPr>
          <p:cNvCxnSpPr>
            <a:cxnSpLocks/>
            <a:stCxn id="40" idx="2"/>
            <a:endCxn id="85" idx="2"/>
          </p:cNvCxnSpPr>
          <p:nvPr/>
        </p:nvCxnSpPr>
        <p:spPr>
          <a:xfrm rot="5400000" flipH="1" flipV="1">
            <a:off x="3364719" y="3839980"/>
            <a:ext cx="882008" cy="168240"/>
          </a:xfrm>
          <a:prstGeom prst="bentConnector3">
            <a:avLst>
              <a:gd name="adj1" fmla="val -25918"/>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 name="標題 1">
            <a:extLst>
              <a:ext uri="{FF2B5EF4-FFF2-40B4-BE49-F238E27FC236}">
                <a16:creationId xmlns:a16="http://schemas.microsoft.com/office/drawing/2014/main" id="{CEF95E4D-4041-AEF8-1FC6-6369323FE9CE}"/>
              </a:ext>
            </a:extLst>
          </p:cNvPr>
          <p:cNvSpPr txBox="1">
            <a:spLocks/>
          </p:cNvSpPr>
          <p:nvPr/>
        </p:nvSpPr>
        <p:spPr>
          <a:xfrm>
            <a:off x="179512" y="116632"/>
            <a:ext cx="8712968"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Runtime</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lvl="0">
              <a:spcBef>
                <a:spcPts val="0"/>
              </a:spcBef>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RAG boosts agent accuracy but adds latency; parallel frameworks like ReWOO restore speed.</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10" name="表格 9">
            <a:extLst>
              <a:ext uri="{FF2B5EF4-FFF2-40B4-BE49-F238E27FC236}">
                <a16:creationId xmlns:a16="http://schemas.microsoft.com/office/drawing/2014/main" id="{FAC317C6-4626-1B2B-AEC6-1890A96EE209}"/>
              </a:ext>
            </a:extLst>
          </p:cNvPr>
          <p:cNvGraphicFramePr>
            <a:graphicFrameLocks noGrp="1"/>
          </p:cNvGraphicFramePr>
          <p:nvPr/>
        </p:nvGraphicFramePr>
        <p:xfrm>
          <a:off x="1124810" y="3345031"/>
          <a:ext cx="1070926" cy="1148112"/>
        </p:xfrm>
        <a:graphic>
          <a:graphicData uri="http://schemas.openxmlformats.org/drawingml/2006/table">
            <a:tbl>
              <a:tblPr firstRow="1" bandRow="1">
                <a:tableStyleId>{5C22544A-7EE6-4342-B048-85BDC9FD1C3A}</a:tableStyleId>
              </a:tblPr>
              <a:tblGrid>
                <a:gridCol w="1070926">
                  <a:extLst>
                    <a:ext uri="{9D8B030D-6E8A-4147-A177-3AD203B41FA5}">
                      <a16:colId xmlns:a16="http://schemas.microsoft.com/office/drawing/2014/main" val="4512040"/>
                    </a:ext>
                  </a:extLst>
                </a:gridCol>
              </a:tblGrid>
              <a:tr h="3567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Workflow</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Input Processing</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Model Router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Tool Calling</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49642222"/>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Output Parsing</a:t>
                      </a: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0024983"/>
                  </a:ext>
                </a:extLst>
              </a:tr>
            </a:tbl>
          </a:graphicData>
        </a:graphic>
      </p:graphicFrame>
      <p:sp>
        <p:nvSpPr>
          <p:cNvPr id="23" name="文字方塊 22">
            <a:extLst>
              <a:ext uri="{FF2B5EF4-FFF2-40B4-BE49-F238E27FC236}">
                <a16:creationId xmlns:a16="http://schemas.microsoft.com/office/drawing/2014/main" id="{D8572D84-C893-C9E6-47D7-75D138C833BF}"/>
              </a:ext>
            </a:extLst>
          </p:cNvPr>
          <p:cNvSpPr txBox="1"/>
          <p:nvPr/>
        </p:nvSpPr>
        <p:spPr>
          <a:xfrm>
            <a:off x="2601922" y="2035739"/>
            <a:ext cx="3232202" cy="893822"/>
          </a:xfrm>
          <a:prstGeom prst="rect">
            <a:avLst/>
          </a:prstGeom>
          <a:solidFill>
            <a:schemeClr val="accent1">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5">
                    <a:lumMod val="75000"/>
                  </a:schemeClr>
                </a:solidFill>
                <a:effectLst/>
              </a:rPr>
              <a:t>LLM</a:t>
            </a:r>
          </a:p>
          <a:p>
            <a:pPr algn="ctr">
              <a:lnSpc>
                <a:spcPts val="1400"/>
              </a:lnSpc>
              <a:buNone/>
            </a:pPr>
            <a:r>
              <a:rPr lang="en-US" altLang="zh-TW" sz="1200" u="none" strike="noStrike" dirty="0">
                <a:effectLst/>
              </a:rPr>
              <a:t>Reasoning</a:t>
            </a:r>
          </a:p>
        </p:txBody>
      </p:sp>
      <p:sp>
        <p:nvSpPr>
          <p:cNvPr id="35" name="標題 1">
            <a:extLst>
              <a:ext uri="{FF2B5EF4-FFF2-40B4-BE49-F238E27FC236}">
                <a16:creationId xmlns:a16="http://schemas.microsoft.com/office/drawing/2014/main" id="{A6F6E1B2-4410-329F-F40B-BF387AFC3185}"/>
              </a:ext>
            </a:extLst>
          </p:cNvPr>
          <p:cNvSpPr txBox="1">
            <a:spLocks/>
          </p:cNvSpPr>
          <p:nvPr/>
        </p:nvSpPr>
        <p:spPr>
          <a:xfrm>
            <a:off x="3478324" y="1273175"/>
            <a:ext cx="1479398" cy="433217"/>
          </a:xfrm>
          <a:prstGeom prst="rect">
            <a:avLst/>
          </a:prstGeom>
        </p:spPr>
        <p:txBody>
          <a:bodyPr wrap="none" lIns="9144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latin typeface="Noto Sans HK" panose="020B0200000000000000" pitchFamily="34" charset="-120"/>
                <a:ea typeface="Noto Sans HK" panose="020B0200000000000000" pitchFamily="34" charset="-120"/>
                <a:cs typeface="Arial" panose="020B0604020202020204" pitchFamily="34" charset="0"/>
              </a:rPr>
              <a:t>Runtime</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(Goal: Smarter AI Agent)</a:t>
            </a:r>
          </a:p>
        </p:txBody>
      </p:sp>
      <p:grpSp>
        <p:nvGrpSpPr>
          <p:cNvPr id="38" name="群組 37">
            <a:extLst>
              <a:ext uri="{FF2B5EF4-FFF2-40B4-BE49-F238E27FC236}">
                <a16:creationId xmlns:a16="http://schemas.microsoft.com/office/drawing/2014/main" id="{3336D256-EDED-4696-A1BB-76862DCD076A}"/>
              </a:ext>
            </a:extLst>
          </p:cNvPr>
          <p:cNvGrpSpPr/>
          <p:nvPr/>
        </p:nvGrpSpPr>
        <p:grpSpPr>
          <a:xfrm>
            <a:off x="611560" y="1273176"/>
            <a:ext cx="1219522" cy="1756213"/>
            <a:chOff x="1331640" y="2203695"/>
            <a:chExt cx="1219522" cy="1756213"/>
          </a:xfrm>
        </p:grpSpPr>
        <p:sp>
          <p:nvSpPr>
            <p:cNvPr id="32" name="文字方塊 31">
              <a:extLst>
                <a:ext uri="{FF2B5EF4-FFF2-40B4-BE49-F238E27FC236}">
                  <a16:creationId xmlns:a16="http://schemas.microsoft.com/office/drawing/2014/main" id="{644E5DDD-D891-F4C5-E1BB-EEA8B9117949}"/>
                </a:ext>
              </a:extLst>
            </p:cNvPr>
            <p:cNvSpPr txBox="1"/>
            <p:nvPr/>
          </p:nvSpPr>
          <p:spPr>
            <a:xfrm>
              <a:off x="1331640" y="2867302"/>
              <a:ext cx="1219522" cy="109260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ctr" anchorCtr="1">
              <a:noAutofit/>
            </a:bodyPr>
            <a:lstStyle/>
            <a:p>
              <a:pPr algn="ctr">
                <a:lnSpc>
                  <a:spcPts val="1400"/>
                </a:lnSpc>
                <a:buNone/>
              </a:pPr>
              <a:r>
                <a:rPr lang="en-US" altLang="zh-TW" sz="1400" b="1" u="none" strike="noStrike" dirty="0">
                  <a:solidFill>
                    <a:schemeClr val="accent2">
                      <a:lumMod val="60000"/>
                      <a:lumOff val="40000"/>
                    </a:schemeClr>
                  </a:solidFill>
                  <a:effectLst/>
                </a:rPr>
                <a:t>Pre-Training</a:t>
              </a:r>
            </a:p>
            <a:p>
              <a:pPr algn="ctr">
                <a:lnSpc>
                  <a:spcPts val="1400"/>
                </a:lnSpc>
                <a:buNone/>
              </a:pPr>
              <a:r>
                <a:rPr lang="en-US" altLang="zh-TW" sz="1400" b="1" u="none" strike="noStrike" dirty="0">
                  <a:solidFill>
                    <a:schemeClr val="accent2">
                      <a:lumMod val="60000"/>
                      <a:lumOff val="40000"/>
                    </a:schemeClr>
                  </a:solidFill>
                  <a:effectLst/>
                </a:rPr>
                <a:t>&amp; SFT</a:t>
              </a:r>
            </a:p>
          </p:txBody>
        </p:sp>
        <p:sp>
          <p:nvSpPr>
            <p:cNvPr id="36" name="標題 1">
              <a:extLst>
                <a:ext uri="{FF2B5EF4-FFF2-40B4-BE49-F238E27FC236}">
                  <a16:creationId xmlns:a16="http://schemas.microsoft.com/office/drawing/2014/main" id="{4105B411-9718-432D-3492-4CCD58074E49}"/>
                </a:ext>
              </a:extLst>
            </p:cNvPr>
            <p:cNvSpPr txBox="1">
              <a:spLocks/>
            </p:cNvSpPr>
            <p:nvPr/>
          </p:nvSpPr>
          <p:spPr>
            <a:xfrm>
              <a:off x="1383399" y="2203695"/>
              <a:ext cx="1100369" cy="433217"/>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Training Stages </a:t>
              </a:r>
            </a:p>
            <a:p>
              <a:pPr algn="ctr"/>
              <a:r>
                <a:rPr lang="en-US" altLang="zh-TW" sz="10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(Goal: Alignment)</a:t>
              </a:r>
            </a:p>
          </p:txBody>
        </p:sp>
        <p:sp>
          <p:nvSpPr>
            <p:cNvPr id="37" name="右大括弧 36">
              <a:extLst>
                <a:ext uri="{FF2B5EF4-FFF2-40B4-BE49-F238E27FC236}">
                  <a16:creationId xmlns:a16="http://schemas.microsoft.com/office/drawing/2014/main" id="{E4C9916F-526C-2149-B47C-BC4FE91F2F9B}"/>
                </a:ext>
              </a:extLst>
            </p:cNvPr>
            <p:cNvSpPr/>
            <p:nvPr/>
          </p:nvSpPr>
          <p:spPr>
            <a:xfrm rot="16200000">
              <a:off x="1855526" y="2139505"/>
              <a:ext cx="153043" cy="110037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cxnSp>
        <p:nvCxnSpPr>
          <p:cNvPr id="13" name="直線單箭頭接點 12">
            <a:extLst>
              <a:ext uri="{FF2B5EF4-FFF2-40B4-BE49-F238E27FC236}">
                <a16:creationId xmlns:a16="http://schemas.microsoft.com/office/drawing/2014/main" id="{DB8A7D43-44B5-6F11-7DA9-57A063DEE63A}"/>
              </a:ext>
            </a:extLst>
          </p:cNvPr>
          <p:cNvCxnSpPr>
            <a:cxnSpLocks/>
            <a:stCxn id="32" idx="3"/>
            <a:endCxn id="23" idx="1"/>
          </p:cNvCxnSpPr>
          <p:nvPr/>
        </p:nvCxnSpPr>
        <p:spPr>
          <a:xfrm flipV="1">
            <a:off x="1831082" y="2482650"/>
            <a:ext cx="770840" cy="436"/>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59" name="箭號: 向下 58">
            <a:extLst>
              <a:ext uri="{FF2B5EF4-FFF2-40B4-BE49-F238E27FC236}">
                <a16:creationId xmlns:a16="http://schemas.microsoft.com/office/drawing/2014/main" id="{95F20FA0-F44A-3E96-8E3A-E2DBBF81ED21}"/>
              </a:ext>
            </a:extLst>
          </p:cNvPr>
          <p:cNvSpPr/>
          <p:nvPr/>
        </p:nvSpPr>
        <p:spPr>
          <a:xfrm rot="10800000">
            <a:off x="2732791" y="2546991"/>
            <a:ext cx="325849" cy="810000"/>
          </a:xfrm>
          <a:prstGeom prst="downArrow">
            <a:avLst>
              <a:gd name="adj1" fmla="val 62892"/>
              <a:gd name="adj2" fmla="val 52184"/>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wrap="none" lIns="0" tIns="0" rIns="0" bIns="0" rtlCol="0" anchor="ctr"/>
          <a:lstStyle/>
          <a:p>
            <a:pPr algn="ctr"/>
            <a:r>
              <a:rPr lang="en-US" altLang="zh-TW" sz="1000" dirty="0">
                <a:solidFill>
                  <a:schemeClr val="tx1"/>
                </a:solidFill>
              </a:rPr>
              <a:t>Prompt</a:t>
            </a:r>
            <a:endParaRPr lang="zh-TW" altLang="en-US" sz="1000" dirty="0">
              <a:solidFill>
                <a:schemeClr val="tx1"/>
              </a:solidFill>
            </a:endParaRPr>
          </a:p>
        </p:txBody>
      </p:sp>
      <p:cxnSp>
        <p:nvCxnSpPr>
          <p:cNvPr id="171" name="接點: 肘形 170">
            <a:extLst>
              <a:ext uri="{FF2B5EF4-FFF2-40B4-BE49-F238E27FC236}">
                <a16:creationId xmlns:a16="http://schemas.microsoft.com/office/drawing/2014/main" id="{79337494-4F56-4972-2B00-13C173F0D061}"/>
              </a:ext>
            </a:extLst>
          </p:cNvPr>
          <p:cNvCxnSpPr>
            <a:cxnSpLocks/>
            <a:stCxn id="114" idx="2"/>
            <a:endCxn id="132" idx="0"/>
          </p:cNvCxnSpPr>
          <p:nvPr/>
        </p:nvCxnSpPr>
        <p:spPr>
          <a:xfrm rot="16200000" flipH="1">
            <a:off x="4914779" y="2832182"/>
            <a:ext cx="936105" cy="365722"/>
          </a:xfrm>
          <a:prstGeom prst="bentConnector3">
            <a:avLst>
              <a:gd name="adj1" fmla="val -24420"/>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 name="語音泡泡: 圓角矩形 5">
            <a:extLst>
              <a:ext uri="{FF2B5EF4-FFF2-40B4-BE49-F238E27FC236}">
                <a16:creationId xmlns:a16="http://schemas.microsoft.com/office/drawing/2014/main" id="{578988E3-D386-548F-14BC-26F42CB8F679}"/>
              </a:ext>
            </a:extLst>
          </p:cNvPr>
          <p:cNvSpPr/>
          <p:nvPr/>
        </p:nvSpPr>
        <p:spPr>
          <a:xfrm>
            <a:off x="2267744" y="4365104"/>
            <a:ext cx="825087" cy="882539"/>
          </a:xfrm>
          <a:prstGeom prst="wedgeRoundRectCallout">
            <a:avLst>
              <a:gd name="adj1" fmla="val 56711"/>
              <a:gd name="adj2" fmla="val 59786"/>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sp>
        <p:nvSpPr>
          <p:cNvPr id="40" name="箭號: 向下 39">
            <a:extLst>
              <a:ext uri="{FF2B5EF4-FFF2-40B4-BE49-F238E27FC236}">
                <a16:creationId xmlns:a16="http://schemas.microsoft.com/office/drawing/2014/main" id="{C71631F2-520D-603B-D24A-C6556F32D4F7}"/>
              </a:ext>
            </a:extLst>
          </p:cNvPr>
          <p:cNvSpPr/>
          <p:nvPr/>
        </p:nvSpPr>
        <p:spPr>
          <a:xfrm>
            <a:off x="3630295" y="3993976"/>
            <a:ext cx="182616" cy="371128"/>
          </a:xfrm>
          <a:prstGeom prst="downArrow">
            <a:avLst>
              <a:gd name="adj1" fmla="val 62892"/>
              <a:gd name="adj2" fmla="val 52184"/>
            </a:avLst>
          </a:prstGeom>
          <a:solidFill>
            <a:schemeClr val="accent4">
              <a:lumMod val="20000"/>
              <a:lumOff val="80000"/>
              <a:alpha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rgbClr val="7030A0"/>
                </a:solidFill>
              </a:rPr>
              <a:t>MCP</a:t>
            </a:r>
            <a:endParaRPr lang="zh-TW" altLang="en-US" sz="1000" b="1" dirty="0">
              <a:solidFill>
                <a:srgbClr val="7030A0"/>
              </a:solidFill>
            </a:endParaRPr>
          </a:p>
        </p:txBody>
      </p:sp>
      <p:sp>
        <p:nvSpPr>
          <p:cNvPr id="45" name="箭號: 向下 44">
            <a:extLst>
              <a:ext uri="{FF2B5EF4-FFF2-40B4-BE49-F238E27FC236}">
                <a16:creationId xmlns:a16="http://schemas.microsoft.com/office/drawing/2014/main" id="{462AE830-760D-0E59-7995-536C09AC9A34}"/>
              </a:ext>
            </a:extLst>
          </p:cNvPr>
          <p:cNvSpPr/>
          <p:nvPr/>
        </p:nvSpPr>
        <p:spPr>
          <a:xfrm>
            <a:off x="4451262" y="3483096"/>
            <a:ext cx="297753" cy="810000"/>
          </a:xfrm>
          <a:prstGeom prst="downArrow">
            <a:avLst>
              <a:gd name="adj1" fmla="val 62892"/>
              <a:gd name="adj2" fmla="val 52184"/>
            </a:avLst>
          </a:prstGeom>
          <a:solidFill>
            <a:schemeClr val="bg1">
              <a:lumMod val="8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tx1"/>
                </a:solidFill>
              </a:rPr>
              <a:t>Final</a:t>
            </a:r>
          </a:p>
          <a:p>
            <a:pPr algn="ctr"/>
            <a:r>
              <a:rPr lang="en-US" altLang="zh-TW" sz="1000" b="1" dirty="0">
                <a:solidFill>
                  <a:schemeClr val="tx1"/>
                </a:solidFill>
              </a:rPr>
              <a:t>Answer</a:t>
            </a:r>
          </a:p>
        </p:txBody>
      </p:sp>
      <p:sp>
        <p:nvSpPr>
          <p:cNvPr id="43" name="右大括弧 42">
            <a:extLst>
              <a:ext uri="{FF2B5EF4-FFF2-40B4-BE49-F238E27FC236}">
                <a16:creationId xmlns:a16="http://schemas.microsoft.com/office/drawing/2014/main" id="{CE53BF93-8848-AA12-41EA-7817F672E6AC}"/>
              </a:ext>
            </a:extLst>
          </p:cNvPr>
          <p:cNvSpPr/>
          <p:nvPr/>
        </p:nvSpPr>
        <p:spPr>
          <a:xfrm rot="16200000">
            <a:off x="4141501" y="143068"/>
            <a:ext cx="153045" cy="323220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id="{09CE6EAC-0923-2447-ABF3-98900CC49349}"/>
              </a:ext>
            </a:extLst>
          </p:cNvPr>
          <p:cNvSpPr txBox="1"/>
          <p:nvPr/>
        </p:nvSpPr>
        <p:spPr>
          <a:xfrm>
            <a:off x="3403294" y="5671171"/>
            <a:ext cx="588206" cy="376017"/>
          </a:xfrm>
          <a:prstGeom prst="rect">
            <a:avLst/>
          </a:prstGeom>
          <a:solidFill>
            <a:schemeClr val="accent4">
              <a:lumMod val="20000"/>
              <a:lumOff val="80000"/>
              <a:alpha val="80000"/>
            </a:schemeClr>
          </a:solidFill>
          <a:ln w="25400">
            <a:solidFill>
              <a:schemeClr val="bg1">
                <a:lumMod val="85000"/>
              </a:schemeClr>
            </a:solidFill>
          </a:ln>
        </p:spPr>
        <p:txBody>
          <a:bodyPr wrap="none" lIns="0" tIns="45720" rIns="0" bIns="0" anchor="ctr" anchorCtr="1">
            <a:noAutofit/>
          </a:bodyPr>
          <a:lstStyle/>
          <a:p>
            <a:pPr algn="ctr">
              <a:lnSpc>
                <a:spcPts val="1200"/>
              </a:lnSpc>
              <a:buNone/>
            </a:pPr>
            <a:r>
              <a:rPr lang="en-US" altLang="zh-TW" sz="1400" b="1" u="none" strike="noStrike" dirty="0">
                <a:solidFill>
                  <a:schemeClr val="accent4">
                    <a:lumMod val="75000"/>
                  </a:schemeClr>
                </a:solidFill>
                <a:effectLst/>
              </a:rPr>
              <a:t>MCP</a:t>
            </a:r>
          </a:p>
          <a:p>
            <a:pPr algn="ctr">
              <a:lnSpc>
                <a:spcPts val="1200"/>
              </a:lnSpc>
              <a:buNone/>
            </a:pPr>
            <a:r>
              <a:rPr lang="en-US" altLang="zh-TW" sz="1200" u="none" strike="noStrike" dirty="0">
                <a:effectLst/>
              </a:rPr>
              <a:t>(Tools)</a:t>
            </a:r>
          </a:p>
        </p:txBody>
      </p:sp>
      <p:sp>
        <p:nvSpPr>
          <p:cNvPr id="18" name="文字方塊 17">
            <a:extLst>
              <a:ext uri="{FF2B5EF4-FFF2-40B4-BE49-F238E27FC236}">
                <a16:creationId xmlns:a16="http://schemas.microsoft.com/office/drawing/2014/main" id="{2BB8462C-5DC9-5929-62DF-BB7A759AFDE2}"/>
              </a:ext>
            </a:extLst>
          </p:cNvPr>
          <p:cNvSpPr txBox="1"/>
          <p:nvPr/>
        </p:nvSpPr>
        <p:spPr>
          <a:xfrm>
            <a:off x="4088801" y="5669254"/>
            <a:ext cx="588206" cy="376017"/>
          </a:xfrm>
          <a:prstGeom prst="rect">
            <a:avLst/>
          </a:prstGeom>
          <a:solidFill>
            <a:schemeClr val="bg1">
              <a:lumMod val="95000"/>
              <a:alpha val="60000"/>
            </a:schemeClr>
          </a:solidFill>
          <a:ln w="25400">
            <a:solidFill>
              <a:schemeClr val="bg1">
                <a:lumMod val="85000"/>
              </a:schemeClr>
            </a:solidFill>
          </a:ln>
        </p:spPr>
        <p:txBody>
          <a:bodyPr wrap="none" lIns="0" tIns="45720" rIns="0" bIns="0" anchor="ctr" anchorCtr="1">
            <a:noAutofit/>
          </a:bodyPr>
          <a:lstStyle/>
          <a:p>
            <a:pPr algn="ctr">
              <a:lnSpc>
                <a:spcPts val="1200"/>
              </a:lnSpc>
              <a:buNone/>
            </a:pPr>
            <a:r>
              <a:rPr lang="en-US" altLang="zh-TW" sz="1400" b="1" u="none" strike="noStrike" dirty="0">
                <a:solidFill>
                  <a:schemeClr val="accent4">
                    <a:lumMod val="75000"/>
                  </a:schemeClr>
                </a:solidFill>
                <a:effectLst/>
              </a:rPr>
              <a:t>Skill</a:t>
            </a:r>
          </a:p>
          <a:p>
            <a:pPr algn="ctr">
              <a:lnSpc>
                <a:spcPts val="1200"/>
              </a:lnSpc>
              <a:buNone/>
            </a:pPr>
            <a:r>
              <a:rPr lang="en-US" altLang="zh-TW" sz="1200" u="none" strike="noStrike" dirty="0">
                <a:effectLst/>
              </a:rPr>
              <a:t>(Scripts)</a:t>
            </a:r>
          </a:p>
        </p:txBody>
      </p:sp>
      <p:sp>
        <p:nvSpPr>
          <p:cNvPr id="22" name="矩形: 圓角 21">
            <a:extLst>
              <a:ext uri="{FF2B5EF4-FFF2-40B4-BE49-F238E27FC236}">
                <a16:creationId xmlns:a16="http://schemas.microsoft.com/office/drawing/2014/main" id="{CF2FCA05-8E66-2B4C-465D-BE76C9EE985A}"/>
              </a:ext>
            </a:extLst>
          </p:cNvPr>
          <p:cNvSpPr/>
          <p:nvPr/>
        </p:nvSpPr>
        <p:spPr>
          <a:xfrm>
            <a:off x="4893031" y="5663897"/>
            <a:ext cx="588206" cy="376017"/>
          </a:xfrm>
          <a:prstGeom prst="roundRect">
            <a:avLst>
              <a:gd name="adj" fmla="val 0"/>
            </a:avLst>
          </a:prstGeom>
          <a:solidFill>
            <a:schemeClr val="accent4">
              <a:lumMod val="75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4572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LLM</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Wiki</a:t>
            </a:r>
          </a:p>
        </p:txBody>
      </p:sp>
      <p:sp>
        <p:nvSpPr>
          <p:cNvPr id="53" name="文字方塊 52">
            <a:extLst>
              <a:ext uri="{FF2B5EF4-FFF2-40B4-BE49-F238E27FC236}">
                <a16:creationId xmlns:a16="http://schemas.microsoft.com/office/drawing/2014/main" id="{68F3F681-A993-A9DB-2D20-7252C481D779}"/>
              </a:ext>
            </a:extLst>
          </p:cNvPr>
          <p:cNvSpPr txBox="1"/>
          <p:nvPr/>
        </p:nvSpPr>
        <p:spPr>
          <a:xfrm>
            <a:off x="2732791" y="5669254"/>
            <a:ext cx="588206" cy="376017"/>
          </a:xfrm>
          <a:prstGeom prst="rect">
            <a:avLst/>
          </a:prstGeom>
          <a:solidFill>
            <a:schemeClr val="accent5">
              <a:lumMod val="20000"/>
              <a:lumOff val="80000"/>
              <a:alpha val="60000"/>
            </a:schemeClr>
          </a:solidFill>
          <a:ln w="25400">
            <a:solidFill>
              <a:schemeClr val="accent5">
                <a:lumMod val="40000"/>
                <a:lumOff val="60000"/>
              </a:schemeClr>
            </a:solidFill>
          </a:ln>
        </p:spPr>
        <p:txBody>
          <a:bodyPr wrap="none" lIns="0" tIns="45720" rIns="0" bIns="0" anchor="ctr" anchorCtr="1">
            <a:noAutofit/>
          </a:bodyPr>
          <a:lstStyle/>
          <a:p>
            <a:pPr algn="ctr">
              <a:lnSpc>
                <a:spcPts val="1200"/>
              </a:lnSpc>
              <a:buNone/>
            </a:pPr>
            <a:r>
              <a:rPr lang="en-US" altLang="zh-TW" sz="1200" b="1" u="none" strike="noStrike" dirty="0">
                <a:solidFill>
                  <a:schemeClr val="accent5">
                    <a:lumMod val="50000"/>
                  </a:schemeClr>
                </a:solidFill>
                <a:effectLst/>
              </a:rPr>
              <a:t>Vector</a:t>
            </a:r>
          </a:p>
          <a:p>
            <a:pPr algn="ctr">
              <a:lnSpc>
                <a:spcPts val="1200"/>
              </a:lnSpc>
              <a:buNone/>
            </a:pPr>
            <a:r>
              <a:rPr lang="en-US" altLang="zh-TW" sz="1200" b="1" u="none" strike="noStrike" dirty="0">
                <a:solidFill>
                  <a:schemeClr val="accent5">
                    <a:lumMod val="50000"/>
                  </a:schemeClr>
                </a:solidFill>
                <a:effectLst/>
              </a:rPr>
              <a:t>DB</a:t>
            </a:r>
          </a:p>
        </p:txBody>
      </p:sp>
      <p:sp>
        <p:nvSpPr>
          <p:cNvPr id="71" name="箭號: 向下 70">
            <a:extLst>
              <a:ext uri="{FF2B5EF4-FFF2-40B4-BE49-F238E27FC236}">
                <a16:creationId xmlns:a16="http://schemas.microsoft.com/office/drawing/2014/main" id="{9442F65E-5116-38EE-1587-DBACA9C3393E}"/>
              </a:ext>
            </a:extLst>
          </p:cNvPr>
          <p:cNvSpPr/>
          <p:nvPr/>
        </p:nvSpPr>
        <p:spPr>
          <a:xfrm>
            <a:off x="3217938" y="4008314"/>
            <a:ext cx="162925" cy="356790"/>
          </a:xfrm>
          <a:prstGeom prst="downArrow">
            <a:avLst>
              <a:gd name="adj1" fmla="val 62892"/>
              <a:gd name="adj2" fmla="val 52184"/>
            </a:avLst>
          </a:prstGeom>
          <a:solidFill>
            <a:schemeClr val="tx2">
              <a:lumMod val="20000"/>
              <a:lumOff val="80000"/>
              <a:alpha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accent5">
                    <a:lumMod val="50000"/>
                  </a:schemeClr>
                </a:solidFill>
              </a:rPr>
              <a:t>VDB</a:t>
            </a:r>
            <a:endParaRPr lang="zh-TW" altLang="en-US" sz="1000" b="1" dirty="0">
              <a:solidFill>
                <a:schemeClr val="accent5">
                  <a:lumMod val="50000"/>
                </a:schemeClr>
              </a:solidFill>
            </a:endParaRPr>
          </a:p>
        </p:txBody>
      </p:sp>
      <p:sp>
        <p:nvSpPr>
          <p:cNvPr id="85" name="箭號: 向上 84">
            <a:extLst>
              <a:ext uri="{FF2B5EF4-FFF2-40B4-BE49-F238E27FC236}">
                <a16:creationId xmlns:a16="http://schemas.microsoft.com/office/drawing/2014/main" id="{DC4667BB-AB07-7189-91BC-32CA1E5573AE}"/>
              </a:ext>
            </a:extLst>
          </p:cNvPr>
          <p:cNvSpPr/>
          <p:nvPr/>
        </p:nvSpPr>
        <p:spPr>
          <a:xfrm>
            <a:off x="3750751" y="2987668"/>
            <a:ext cx="278184" cy="495428"/>
          </a:xfrm>
          <a:prstGeom prst="upArrow">
            <a:avLst/>
          </a:prstGeom>
          <a:solidFill>
            <a:schemeClr val="accent4">
              <a:lumMod val="20000"/>
              <a:lumOff val="80000"/>
              <a:alpha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rgbClr val="7030A0"/>
                </a:solidFill>
              </a:rPr>
              <a:t>Result</a:t>
            </a:r>
            <a:endParaRPr lang="zh-TW" altLang="en-US" sz="1000" b="1" dirty="0">
              <a:solidFill>
                <a:srgbClr val="7030A0"/>
              </a:solidFill>
            </a:endParaRPr>
          </a:p>
        </p:txBody>
      </p:sp>
      <p:sp>
        <p:nvSpPr>
          <p:cNvPr id="96" name="箭號: 向上 95">
            <a:extLst>
              <a:ext uri="{FF2B5EF4-FFF2-40B4-BE49-F238E27FC236}">
                <a16:creationId xmlns:a16="http://schemas.microsoft.com/office/drawing/2014/main" id="{6F976072-6E37-DA33-B3EA-65C4240217B7}"/>
              </a:ext>
            </a:extLst>
          </p:cNvPr>
          <p:cNvSpPr/>
          <p:nvPr/>
        </p:nvSpPr>
        <p:spPr>
          <a:xfrm>
            <a:off x="3322402" y="2987668"/>
            <a:ext cx="274485" cy="495428"/>
          </a:xfrm>
          <a:prstGeom prst="upArrow">
            <a:avLst/>
          </a:prstGeom>
          <a:solidFill>
            <a:schemeClr val="accent1">
              <a:lumMod val="20000"/>
              <a:lumOff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chemeClr val="accent5">
                    <a:lumMod val="50000"/>
                  </a:schemeClr>
                </a:solidFill>
              </a:rPr>
              <a:t>Result</a:t>
            </a:r>
            <a:endParaRPr lang="zh-TW" altLang="en-US" sz="1000" b="1" dirty="0">
              <a:solidFill>
                <a:schemeClr val="accent5">
                  <a:lumMod val="50000"/>
                </a:schemeClr>
              </a:solidFill>
            </a:endParaRPr>
          </a:p>
        </p:txBody>
      </p:sp>
      <p:sp>
        <p:nvSpPr>
          <p:cNvPr id="114" name="箭號: 向下 113">
            <a:extLst>
              <a:ext uri="{FF2B5EF4-FFF2-40B4-BE49-F238E27FC236}">
                <a16:creationId xmlns:a16="http://schemas.microsoft.com/office/drawing/2014/main" id="{0E8551EA-8796-9BAB-1CD2-F622FB84A8DB}"/>
              </a:ext>
            </a:extLst>
          </p:cNvPr>
          <p:cNvSpPr/>
          <p:nvPr/>
        </p:nvSpPr>
        <p:spPr>
          <a:xfrm rot="10800000">
            <a:off x="5037047" y="2546991"/>
            <a:ext cx="325849" cy="810000"/>
          </a:xfrm>
          <a:prstGeom prst="downArrow">
            <a:avLst>
              <a:gd name="adj1" fmla="val 62892"/>
              <a:gd name="adj2" fmla="val 52184"/>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zh-TW" altLang="en-US" sz="1400" b="1" dirty="0">
                <a:solidFill>
                  <a:schemeClr val="tx1"/>
                </a:solidFill>
              </a:rPr>
              <a:t> </a:t>
            </a:r>
            <a:r>
              <a:rPr lang="en-US" altLang="zh-TW" sz="1400" b="1" dirty="0">
                <a:solidFill>
                  <a:schemeClr val="tx1"/>
                </a:solidFill>
              </a:rPr>
              <a:t>…</a:t>
            </a:r>
            <a:r>
              <a:rPr lang="zh-TW" altLang="en-US" sz="1400" b="1" dirty="0">
                <a:solidFill>
                  <a:schemeClr val="tx1"/>
                </a:solidFill>
              </a:rPr>
              <a:t> </a:t>
            </a:r>
          </a:p>
        </p:txBody>
      </p:sp>
      <p:cxnSp>
        <p:nvCxnSpPr>
          <p:cNvPr id="118" name="接點: 肘形 117">
            <a:extLst>
              <a:ext uri="{FF2B5EF4-FFF2-40B4-BE49-F238E27FC236}">
                <a16:creationId xmlns:a16="http://schemas.microsoft.com/office/drawing/2014/main" id="{E27141A3-132B-596A-F5FC-F68639555662}"/>
              </a:ext>
            </a:extLst>
          </p:cNvPr>
          <p:cNvCxnSpPr>
            <a:cxnSpLocks/>
            <a:stCxn id="71" idx="2"/>
            <a:endCxn id="96" idx="2"/>
          </p:cNvCxnSpPr>
          <p:nvPr/>
        </p:nvCxnSpPr>
        <p:spPr>
          <a:xfrm rot="5400000" flipH="1" flipV="1">
            <a:off x="2938519" y="3843978"/>
            <a:ext cx="882008" cy="160244"/>
          </a:xfrm>
          <a:prstGeom prst="bentConnector3">
            <a:avLst>
              <a:gd name="adj1" fmla="val -25918"/>
            </a:avLst>
          </a:prstGeom>
          <a:ln w="15875">
            <a:solidFill>
              <a:schemeClr val="accent3">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文字方塊 121">
            <a:extLst>
              <a:ext uri="{FF2B5EF4-FFF2-40B4-BE49-F238E27FC236}">
                <a16:creationId xmlns:a16="http://schemas.microsoft.com/office/drawing/2014/main" id="{9099F505-4990-FAA6-06FC-5DD3292E975B}"/>
              </a:ext>
            </a:extLst>
          </p:cNvPr>
          <p:cNvSpPr txBox="1"/>
          <p:nvPr/>
        </p:nvSpPr>
        <p:spPr>
          <a:xfrm>
            <a:off x="3387637" y="5276297"/>
            <a:ext cx="631450" cy="240935"/>
          </a:xfrm>
          <a:prstGeom prst="rect">
            <a:avLst/>
          </a:prstGeom>
          <a:noFill/>
        </p:spPr>
        <p:txBody>
          <a:bodyPr wrap="none" lIns="0" tIns="9144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123" name="直線單箭頭接點 122">
            <a:extLst>
              <a:ext uri="{FF2B5EF4-FFF2-40B4-BE49-F238E27FC236}">
                <a16:creationId xmlns:a16="http://schemas.microsoft.com/office/drawing/2014/main" id="{BD99DD98-B721-F06E-F383-798EFDD6D3D4}"/>
              </a:ext>
            </a:extLst>
          </p:cNvPr>
          <p:cNvCxnSpPr>
            <a:cxnSpLocks/>
            <a:stCxn id="122" idx="0"/>
            <a:endCxn id="111" idx="2"/>
          </p:cNvCxnSpPr>
          <p:nvPr/>
        </p:nvCxnSpPr>
        <p:spPr>
          <a:xfrm flipH="1" flipV="1">
            <a:off x="3702500" y="4988411"/>
            <a:ext cx="862" cy="287886"/>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2" name="箭號: 向下 131">
            <a:extLst>
              <a:ext uri="{FF2B5EF4-FFF2-40B4-BE49-F238E27FC236}">
                <a16:creationId xmlns:a16="http://schemas.microsoft.com/office/drawing/2014/main" id="{284919E8-0FB5-84A1-D92F-1402DAF25DE6}"/>
              </a:ext>
            </a:extLst>
          </p:cNvPr>
          <p:cNvSpPr/>
          <p:nvPr/>
        </p:nvSpPr>
        <p:spPr>
          <a:xfrm>
            <a:off x="5416816" y="3483096"/>
            <a:ext cx="297753" cy="810000"/>
          </a:xfrm>
          <a:prstGeom prst="downArrow">
            <a:avLst>
              <a:gd name="adj1" fmla="val 62892"/>
              <a:gd name="adj2" fmla="val 52184"/>
            </a:avLst>
          </a:prstGeom>
          <a:solidFill>
            <a:schemeClr val="bg1">
              <a:lumMod val="8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tx1"/>
                </a:solidFill>
              </a:rPr>
              <a:t>…</a:t>
            </a:r>
          </a:p>
        </p:txBody>
      </p:sp>
      <p:cxnSp>
        <p:nvCxnSpPr>
          <p:cNvPr id="135" name="接點: 肘形 134">
            <a:extLst>
              <a:ext uri="{FF2B5EF4-FFF2-40B4-BE49-F238E27FC236}">
                <a16:creationId xmlns:a16="http://schemas.microsoft.com/office/drawing/2014/main" id="{0902C794-519F-DC2B-51FE-445A4EFAA5F3}"/>
              </a:ext>
            </a:extLst>
          </p:cNvPr>
          <p:cNvCxnSpPr>
            <a:cxnSpLocks/>
            <a:stCxn id="142" idx="0"/>
            <a:endCxn id="45" idx="0"/>
          </p:cNvCxnSpPr>
          <p:nvPr/>
        </p:nvCxnSpPr>
        <p:spPr>
          <a:xfrm rot="16200000" flipH="1">
            <a:off x="4181939" y="3064896"/>
            <a:ext cx="486144" cy="350256"/>
          </a:xfrm>
          <a:prstGeom prst="bentConnector3">
            <a:avLst>
              <a:gd name="adj1" fmla="val -47023"/>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0" name="接點: 肘形 139">
            <a:extLst>
              <a:ext uri="{FF2B5EF4-FFF2-40B4-BE49-F238E27FC236}">
                <a16:creationId xmlns:a16="http://schemas.microsoft.com/office/drawing/2014/main" id="{A3643A1D-79C9-3E68-FB55-1B9D37A913F9}"/>
              </a:ext>
            </a:extLst>
          </p:cNvPr>
          <p:cNvCxnSpPr>
            <a:cxnSpLocks/>
            <a:stCxn id="141" idx="2"/>
            <a:endCxn id="142" idx="2"/>
          </p:cNvCxnSpPr>
          <p:nvPr/>
        </p:nvCxnSpPr>
        <p:spPr>
          <a:xfrm rot="5400000" flipH="1" flipV="1">
            <a:off x="3729683" y="3854188"/>
            <a:ext cx="882008" cy="158392"/>
          </a:xfrm>
          <a:prstGeom prst="bentConnector3">
            <a:avLst>
              <a:gd name="adj1" fmla="val -25918"/>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1" name="箭號: 向下 140">
            <a:extLst>
              <a:ext uri="{FF2B5EF4-FFF2-40B4-BE49-F238E27FC236}">
                <a16:creationId xmlns:a16="http://schemas.microsoft.com/office/drawing/2014/main" id="{3C28DCA6-0B63-EEC8-15A7-3073973535EA}"/>
              </a:ext>
            </a:extLst>
          </p:cNvPr>
          <p:cNvSpPr/>
          <p:nvPr/>
        </p:nvSpPr>
        <p:spPr>
          <a:xfrm>
            <a:off x="4000183" y="4003260"/>
            <a:ext cx="182616" cy="371128"/>
          </a:xfrm>
          <a:prstGeom prst="downArrow">
            <a:avLst>
              <a:gd name="adj1" fmla="val 62892"/>
              <a:gd name="adj2" fmla="val 52184"/>
            </a:avLst>
          </a:prstGeom>
          <a:solidFill>
            <a:schemeClr val="bg1">
              <a:lumMod val="9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accent4">
                    <a:lumMod val="75000"/>
                  </a:schemeClr>
                </a:solidFill>
              </a:rPr>
              <a:t>Skill</a:t>
            </a:r>
            <a:endParaRPr lang="zh-TW" altLang="en-US" sz="1000" b="1" dirty="0">
              <a:solidFill>
                <a:schemeClr val="accent4">
                  <a:lumMod val="75000"/>
                </a:schemeClr>
              </a:solidFill>
            </a:endParaRPr>
          </a:p>
        </p:txBody>
      </p:sp>
      <p:sp>
        <p:nvSpPr>
          <p:cNvPr id="142" name="箭號: 向上 141">
            <a:extLst>
              <a:ext uri="{FF2B5EF4-FFF2-40B4-BE49-F238E27FC236}">
                <a16:creationId xmlns:a16="http://schemas.microsoft.com/office/drawing/2014/main" id="{12EFF3BF-8C1F-06F3-5086-F1AF996CB200}"/>
              </a:ext>
            </a:extLst>
          </p:cNvPr>
          <p:cNvSpPr/>
          <p:nvPr/>
        </p:nvSpPr>
        <p:spPr>
          <a:xfrm>
            <a:off x="4110791" y="2996952"/>
            <a:ext cx="278184" cy="495428"/>
          </a:xfrm>
          <a:prstGeom prst="upArrow">
            <a:avLst/>
          </a:prstGeom>
          <a:solidFill>
            <a:schemeClr val="bg1">
              <a:lumMod val="9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chemeClr val="accent4">
                    <a:lumMod val="75000"/>
                  </a:schemeClr>
                </a:solidFill>
              </a:rPr>
              <a:t>Done</a:t>
            </a:r>
            <a:endParaRPr lang="zh-TW" altLang="en-US" sz="1000" b="1" dirty="0">
              <a:solidFill>
                <a:schemeClr val="accent4">
                  <a:lumMod val="75000"/>
                </a:schemeClr>
              </a:solidFill>
            </a:endParaRPr>
          </a:p>
        </p:txBody>
      </p:sp>
      <p:cxnSp>
        <p:nvCxnSpPr>
          <p:cNvPr id="147" name="接點: 肘形 146">
            <a:extLst>
              <a:ext uri="{FF2B5EF4-FFF2-40B4-BE49-F238E27FC236}">
                <a16:creationId xmlns:a16="http://schemas.microsoft.com/office/drawing/2014/main" id="{E8B0B3F5-0CC1-6272-389E-E91C07607706}"/>
              </a:ext>
            </a:extLst>
          </p:cNvPr>
          <p:cNvCxnSpPr>
            <a:cxnSpLocks/>
            <a:stCxn id="59" idx="2"/>
            <a:endCxn id="71" idx="0"/>
          </p:cNvCxnSpPr>
          <p:nvPr/>
        </p:nvCxnSpPr>
        <p:spPr>
          <a:xfrm rot="16200000" flipH="1">
            <a:off x="2366896" y="3075809"/>
            <a:ext cx="1461323" cy="403686"/>
          </a:xfrm>
          <a:prstGeom prst="bentConnector3">
            <a:avLst>
              <a:gd name="adj1" fmla="val -15643"/>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1" name="接點: 肘形 160">
            <a:extLst>
              <a:ext uri="{FF2B5EF4-FFF2-40B4-BE49-F238E27FC236}">
                <a16:creationId xmlns:a16="http://schemas.microsoft.com/office/drawing/2014/main" id="{7FB7F299-EA0D-88C4-EC62-102AA5744D08}"/>
              </a:ext>
            </a:extLst>
          </p:cNvPr>
          <p:cNvCxnSpPr>
            <a:cxnSpLocks/>
            <a:stCxn id="45" idx="2"/>
            <a:endCxn id="122" idx="3"/>
          </p:cNvCxnSpPr>
          <p:nvPr/>
        </p:nvCxnSpPr>
        <p:spPr>
          <a:xfrm rot="5400000">
            <a:off x="3757779" y="4554404"/>
            <a:ext cx="1103669" cy="581052"/>
          </a:xfrm>
          <a:prstGeom prst="bentConnector2">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 name="接點: 肘形 3">
            <a:extLst>
              <a:ext uri="{FF2B5EF4-FFF2-40B4-BE49-F238E27FC236}">
                <a16:creationId xmlns:a16="http://schemas.microsoft.com/office/drawing/2014/main" id="{A81EE32D-9554-29B8-CE12-008BDF9D2985}"/>
              </a:ext>
            </a:extLst>
          </p:cNvPr>
          <p:cNvCxnSpPr>
            <a:cxnSpLocks/>
            <a:stCxn id="6" idx="0"/>
            <a:endCxn id="59" idx="0"/>
          </p:cNvCxnSpPr>
          <p:nvPr/>
        </p:nvCxnSpPr>
        <p:spPr>
          <a:xfrm rot="5400000" flipH="1" flipV="1">
            <a:off x="2283945" y="3753335"/>
            <a:ext cx="1008113" cy="215427"/>
          </a:xfrm>
          <a:prstGeom prst="bentConnector3">
            <a:avLst>
              <a:gd name="adj1" fmla="val 50000"/>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24" name="群組 23">
            <a:extLst>
              <a:ext uri="{FF2B5EF4-FFF2-40B4-BE49-F238E27FC236}">
                <a16:creationId xmlns:a16="http://schemas.microsoft.com/office/drawing/2014/main" id="{E14887DE-633F-6477-C039-CE4DD5F68636}"/>
              </a:ext>
            </a:extLst>
          </p:cNvPr>
          <p:cNvGrpSpPr/>
          <p:nvPr/>
        </p:nvGrpSpPr>
        <p:grpSpPr>
          <a:xfrm>
            <a:off x="6946626" y="1369209"/>
            <a:ext cx="1619672" cy="1326756"/>
            <a:chOff x="6516216" y="4813260"/>
            <a:chExt cx="1512168" cy="1273320"/>
          </a:xfrm>
        </p:grpSpPr>
        <p:sp>
          <p:nvSpPr>
            <p:cNvPr id="184" name="箭號: 圓形 183">
              <a:extLst>
                <a:ext uri="{FF2B5EF4-FFF2-40B4-BE49-F238E27FC236}">
                  <a16:creationId xmlns:a16="http://schemas.microsoft.com/office/drawing/2014/main" id="{3A71D6D5-8EB3-6B9F-72C5-7A6D9DE9D0FF}"/>
                </a:ext>
              </a:extLst>
            </p:cNvPr>
            <p:cNvSpPr/>
            <p:nvPr/>
          </p:nvSpPr>
          <p:spPr>
            <a:xfrm rot="11669204">
              <a:off x="6602932" y="4813260"/>
              <a:ext cx="1166084" cy="1226766"/>
            </a:xfrm>
            <a:prstGeom prst="circularArrow">
              <a:avLst>
                <a:gd name="adj1" fmla="val 18161"/>
                <a:gd name="adj2" fmla="val 2382103"/>
                <a:gd name="adj3" fmla="val 18659249"/>
                <a:gd name="adj4" fmla="val 11944252"/>
                <a:gd name="adj5" fmla="val 17877"/>
              </a:avLst>
            </a:prstGeom>
            <a:solidFill>
              <a:schemeClr val="bg1">
                <a:lumMod val="95000"/>
                <a:alpha val="70000"/>
              </a:schemeClr>
            </a:solidFill>
            <a:ln w="25400">
              <a:solidFill>
                <a:schemeClr val="bg1">
                  <a:lumMod val="50000"/>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5" name="箭號: 圓形 184">
              <a:extLst>
                <a:ext uri="{FF2B5EF4-FFF2-40B4-BE49-F238E27FC236}">
                  <a16:creationId xmlns:a16="http://schemas.microsoft.com/office/drawing/2014/main" id="{FEA0BF70-7EBD-A742-8CC9-9C300F2E8553}"/>
                </a:ext>
              </a:extLst>
            </p:cNvPr>
            <p:cNvSpPr/>
            <p:nvPr/>
          </p:nvSpPr>
          <p:spPr>
            <a:xfrm rot="4315882">
              <a:off x="6584072" y="4854058"/>
              <a:ext cx="1166084" cy="1226766"/>
            </a:xfrm>
            <a:prstGeom prst="circularArrow">
              <a:avLst>
                <a:gd name="adj1" fmla="val 18161"/>
                <a:gd name="adj2" fmla="val 2382103"/>
                <a:gd name="adj3" fmla="val 18659249"/>
                <a:gd name="adj4" fmla="val 11944252"/>
                <a:gd name="adj5" fmla="val 17877"/>
              </a:avLst>
            </a:prstGeom>
            <a:solidFill>
              <a:schemeClr val="accent4">
                <a:lumMod val="20000"/>
                <a:lumOff val="80000"/>
                <a:alpha val="90000"/>
              </a:schemeClr>
            </a:solidFill>
            <a:ln w="25400">
              <a:solidFill>
                <a:schemeClr val="accent4">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6" name="標題 1">
              <a:extLst>
                <a:ext uri="{FF2B5EF4-FFF2-40B4-BE49-F238E27FC236}">
                  <a16:creationId xmlns:a16="http://schemas.microsoft.com/office/drawing/2014/main" id="{0FFD7938-CD99-26BD-A957-E32772382223}"/>
                </a:ext>
              </a:extLst>
            </p:cNvPr>
            <p:cNvSpPr txBox="1">
              <a:spLocks/>
            </p:cNvSpPr>
            <p:nvPr/>
          </p:nvSpPr>
          <p:spPr>
            <a:xfrm>
              <a:off x="7364060" y="5405645"/>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rgbClr val="7030A0"/>
                  </a:solidFill>
                  <a:latin typeface="Noto Sans HK" panose="020B0200000000000000" pitchFamily="34" charset="-120"/>
                  <a:ea typeface="Noto Sans HK" panose="020B0200000000000000" pitchFamily="34" charset="-120"/>
                  <a:cs typeface="Arial" panose="020B0604020202020204" pitchFamily="34" charset="0"/>
                </a:rPr>
                <a:t>Action</a:t>
              </a:r>
            </a:p>
          </p:txBody>
        </p:sp>
        <p:sp>
          <p:nvSpPr>
            <p:cNvPr id="187" name="標題 1">
              <a:extLst>
                <a:ext uri="{FF2B5EF4-FFF2-40B4-BE49-F238E27FC236}">
                  <a16:creationId xmlns:a16="http://schemas.microsoft.com/office/drawing/2014/main" id="{B6C6F9F4-0E3F-7257-9525-F04F9A2303B1}"/>
                </a:ext>
              </a:extLst>
            </p:cNvPr>
            <p:cNvSpPr txBox="1">
              <a:spLocks/>
            </p:cNvSpPr>
            <p:nvPr/>
          </p:nvSpPr>
          <p:spPr>
            <a:xfrm>
              <a:off x="6516216" y="5693677"/>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latin typeface="Noto Sans HK" panose="020B0200000000000000" pitchFamily="34" charset="-120"/>
                  <a:ea typeface="Noto Sans HK" panose="020B0200000000000000" pitchFamily="34" charset="-120"/>
                  <a:cs typeface="Arial" panose="020B0604020202020204" pitchFamily="34" charset="0"/>
                </a:rPr>
                <a:t>Observation</a:t>
              </a:r>
            </a:p>
          </p:txBody>
        </p:sp>
        <p:sp>
          <p:nvSpPr>
            <p:cNvPr id="188" name="箭號: 圓形 187">
              <a:extLst>
                <a:ext uri="{FF2B5EF4-FFF2-40B4-BE49-F238E27FC236}">
                  <a16:creationId xmlns:a16="http://schemas.microsoft.com/office/drawing/2014/main" id="{16E113E6-FF08-E353-9086-B083C7EDECBD}"/>
                </a:ext>
              </a:extLst>
            </p:cNvPr>
            <p:cNvSpPr/>
            <p:nvPr/>
          </p:nvSpPr>
          <p:spPr>
            <a:xfrm rot="19383568">
              <a:off x="6617398" y="4859814"/>
              <a:ext cx="1166084" cy="1226766"/>
            </a:xfrm>
            <a:prstGeom prst="circularArrow">
              <a:avLst>
                <a:gd name="adj1" fmla="val 18161"/>
                <a:gd name="adj2" fmla="val 2382103"/>
                <a:gd name="adj3" fmla="val 18659249"/>
                <a:gd name="adj4" fmla="val 11944252"/>
                <a:gd name="adj5" fmla="val 17877"/>
              </a:avLst>
            </a:prstGeom>
            <a:solidFill>
              <a:schemeClr val="accent1">
                <a:lumMod val="20000"/>
                <a:lumOff val="80000"/>
                <a:alpha val="70000"/>
              </a:schemeClr>
            </a:solidFill>
            <a:ln w="25400">
              <a:solidFill>
                <a:schemeClr val="accent1">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89" name="標題 1">
              <a:extLst>
                <a:ext uri="{FF2B5EF4-FFF2-40B4-BE49-F238E27FC236}">
                  <a16:creationId xmlns:a16="http://schemas.microsoft.com/office/drawing/2014/main" id="{CC273686-22A7-2490-7447-FE46D2286C97}"/>
                </a:ext>
              </a:extLst>
            </p:cNvPr>
            <p:cNvSpPr txBox="1">
              <a:spLocks/>
            </p:cNvSpPr>
            <p:nvPr/>
          </p:nvSpPr>
          <p:spPr>
            <a:xfrm>
              <a:off x="6661286" y="5002596"/>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lumMod val="75000"/>
                    </a:schemeClr>
                  </a:solidFill>
                  <a:latin typeface="Noto Sans HK" panose="020B0200000000000000" pitchFamily="34" charset="-120"/>
                  <a:ea typeface="Noto Sans HK" panose="020B0200000000000000" pitchFamily="34" charset="-120"/>
                  <a:cs typeface="Arial" panose="020B0604020202020204" pitchFamily="34" charset="0"/>
                </a:rPr>
                <a:t>Thought</a:t>
              </a:r>
            </a:p>
          </p:txBody>
        </p:sp>
        <p:sp>
          <p:nvSpPr>
            <p:cNvPr id="12" name="標題 1">
              <a:extLst>
                <a:ext uri="{FF2B5EF4-FFF2-40B4-BE49-F238E27FC236}">
                  <a16:creationId xmlns:a16="http://schemas.microsoft.com/office/drawing/2014/main" id="{7CBBEBFC-BD09-6F35-2DF5-4D1530336BEF}"/>
                </a:ext>
              </a:extLst>
            </p:cNvPr>
            <p:cNvSpPr txBox="1">
              <a:spLocks/>
            </p:cNvSpPr>
            <p:nvPr/>
          </p:nvSpPr>
          <p:spPr>
            <a:xfrm>
              <a:off x="6979236" y="5335033"/>
              <a:ext cx="402608" cy="256770"/>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ReAct</a:t>
              </a:r>
            </a:p>
          </p:txBody>
        </p:sp>
      </p:grpSp>
      <p:graphicFrame>
        <p:nvGraphicFramePr>
          <p:cNvPr id="28" name="表格 27">
            <a:extLst>
              <a:ext uri="{FF2B5EF4-FFF2-40B4-BE49-F238E27FC236}">
                <a16:creationId xmlns:a16="http://schemas.microsoft.com/office/drawing/2014/main" id="{36C6FF7B-B782-8122-2D06-32325E5B070F}"/>
              </a:ext>
            </a:extLst>
          </p:cNvPr>
          <p:cNvGraphicFramePr>
            <a:graphicFrameLocks noGrp="1"/>
          </p:cNvGraphicFramePr>
          <p:nvPr>
            <p:extLst>
              <p:ext uri="{D42A27DB-BD31-4B8C-83A1-F6EECF244321}">
                <p14:modId xmlns:p14="http://schemas.microsoft.com/office/powerpoint/2010/main" val="405256837"/>
              </p:ext>
            </p:extLst>
          </p:nvPr>
        </p:nvGraphicFramePr>
        <p:xfrm>
          <a:off x="6486775" y="3208190"/>
          <a:ext cx="2377424" cy="2934584"/>
        </p:xfrm>
        <a:graphic>
          <a:graphicData uri="http://schemas.openxmlformats.org/drawingml/2006/table">
            <a:tbl>
              <a:tblPr firstRow="1" bandRow="1">
                <a:tableStyleId>{5C22544A-7EE6-4342-B048-85BDC9FD1C3A}</a:tableStyleId>
              </a:tblPr>
              <a:tblGrid>
                <a:gridCol w="879787">
                  <a:extLst>
                    <a:ext uri="{9D8B030D-6E8A-4147-A177-3AD203B41FA5}">
                      <a16:colId xmlns:a16="http://schemas.microsoft.com/office/drawing/2014/main" val="4512040"/>
                    </a:ext>
                  </a:extLst>
                </a:gridCol>
                <a:gridCol w="1497637">
                  <a:extLst>
                    <a:ext uri="{9D8B030D-6E8A-4147-A177-3AD203B41FA5}">
                      <a16:colId xmlns:a16="http://schemas.microsoft.com/office/drawing/2014/main" val="3840409758"/>
                    </a:ext>
                  </a:extLst>
                </a:gridCol>
              </a:tblGrid>
              <a:tr h="54245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accent3">
                              <a:lumMod val="50000"/>
                            </a:schemeClr>
                          </a:solidFill>
                          <a:effectLst/>
                          <a:uLnTx/>
                          <a:uFillTx/>
                          <a:latin typeface="+mn-lt"/>
                          <a:ea typeface="+mn-ea"/>
                          <a:cs typeface="+mn-cs"/>
                        </a:rPr>
                        <a:t>Agentic RAG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accent3">
                              <a:lumMod val="50000"/>
                            </a:schemeClr>
                          </a:solidFill>
                          <a:effectLst/>
                          <a:uLnTx/>
                          <a:uFillTx/>
                          <a:latin typeface="+mn-lt"/>
                          <a:ea typeface="+mn-ea"/>
                          <a:cs typeface="+mn-cs"/>
                        </a:rPr>
                        <a:t>Retrieval-Augmented Generation</a:t>
                      </a:r>
                    </a:p>
                  </a:txBody>
                  <a:tcPr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extLst>
                  <a:ext uri="{0D108BD9-81ED-4DB2-BD59-A6C34878D82A}">
                    <a16:rowId xmlns:a16="http://schemas.microsoft.com/office/drawing/2014/main" val="1311258892"/>
                  </a:ext>
                </a:extLst>
              </a:tr>
              <a:tr h="173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Native</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No reasoning</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73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Modular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Heuristic rules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347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Early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Agentic</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ReAct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49642222"/>
                  </a:ext>
                </a:extLst>
              </a:tr>
              <a:tr h="347117">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Modern Agentic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Reflexion: Evaluator node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0024983"/>
                  </a:ext>
                </a:extLst>
              </a:tr>
              <a:tr h="3471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ReWOO:</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Reasoning without observation</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695012615"/>
                  </a:ext>
                </a:extLst>
              </a:tr>
              <a:tr h="234854">
                <a:tc vMerge="1">
                  <a:txBody>
                    <a:bodyPr/>
                    <a:lstStyle/>
                    <a:p>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Tree of thoughts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051169665"/>
                  </a:ext>
                </a:extLst>
              </a:tr>
              <a:tr h="6942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Language Agent Tree Search</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LATS =</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 ReAct + MCTS</a:t>
                      </a: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80310932"/>
                  </a:ext>
                </a:extLst>
              </a:tr>
            </a:tbl>
          </a:graphicData>
        </a:graphic>
      </p:graphicFrame>
    </p:spTree>
    <p:extLst>
      <p:ext uri="{BB962C8B-B14F-4D97-AF65-F5344CB8AC3E}">
        <p14:creationId xmlns:p14="http://schemas.microsoft.com/office/powerpoint/2010/main" val="15144843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圓角 16">
            <a:extLst>
              <a:ext uri="{FF2B5EF4-FFF2-40B4-BE49-F238E27FC236}">
                <a16:creationId xmlns:a16="http://schemas.microsoft.com/office/drawing/2014/main" id="{2535E2FB-B8F7-47F8-662C-1A5AEEF46AF4}"/>
              </a:ext>
            </a:extLst>
          </p:cNvPr>
          <p:cNvSpPr/>
          <p:nvPr/>
        </p:nvSpPr>
        <p:spPr>
          <a:xfrm>
            <a:off x="6942919" y="3144039"/>
            <a:ext cx="1013457" cy="484890"/>
          </a:xfrm>
          <a:prstGeom prst="roundRect">
            <a:avLst>
              <a:gd name="adj" fmla="val 8706"/>
            </a:avLst>
          </a:prstGeom>
          <a:solidFill>
            <a:schemeClr val="bg1">
              <a:lumMod val="95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lnSpc>
                <a:spcPts val="1200"/>
              </a:lnSpc>
            </a:pPr>
            <a:r>
              <a:rPr lang="en-US" altLang="zh-TW" sz="1200" b="1" dirty="0">
                <a:solidFill>
                  <a:schemeClr val="tx1">
                    <a:lumMod val="75000"/>
                    <a:lumOff val="25000"/>
                  </a:schemeClr>
                </a:solidFill>
              </a:rPr>
              <a:t>Skill</a:t>
            </a:r>
          </a:p>
          <a:p>
            <a:pPr algn="ctr">
              <a:lnSpc>
                <a:spcPts val="1200"/>
              </a:lnSpc>
            </a:pPr>
            <a:r>
              <a:rPr lang="en-US" altLang="zh-TW" sz="1200" b="1" dirty="0">
                <a:solidFill>
                  <a:schemeClr val="tx1">
                    <a:lumMod val="75000"/>
                    <a:lumOff val="25000"/>
                  </a:schemeClr>
                </a:solidFill>
              </a:rPr>
              <a:t>Scripts</a:t>
            </a:r>
            <a:endParaRPr lang="zh-TW" altLang="en-US" sz="1200" b="1" dirty="0">
              <a:solidFill>
                <a:schemeClr val="tx1">
                  <a:lumMod val="75000"/>
                  <a:lumOff val="25000"/>
                </a:schemeClr>
              </a:solidFill>
            </a:endParaRPr>
          </a:p>
        </p:txBody>
      </p:sp>
      <p:sp>
        <p:nvSpPr>
          <p:cNvPr id="94" name="矩形: 圓角 93">
            <a:extLst>
              <a:ext uri="{FF2B5EF4-FFF2-40B4-BE49-F238E27FC236}">
                <a16:creationId xmlns:a16="http://schemas.microsoft.com/office/drawing/2014/main" id="{246EBEC3-E2E8-7F76-E461-DF6BA0142B33}"/>
              </a:ext>
            </a:extLst>
          </p:cNvPr>
          <p:cNvSpPr/>
          <p:nvPr/>
        </p:nvSpPr>
        <p:spPr>
          <a:xfrm>
            <a:off x="6943030" y="3822338"/>
            <a:ext cx="1013457" cy="481201"/>
          </a:xfrm>
          <a:prstGeom prst="roundRect">
            <a:avLst>
              <a:gd name="adj" fmla="val 8706"/>
            </a:avLst>
          </a:prstGeom>
          <a:solidFill>
            <a:schemeClr val="bg1">
              <a:lumMod val="95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lnSpc>
                <a:spcPts val="1200"/>
              </a:lnSpc>
            </a:pPr>
            <a:r>
              <a:rPr lang="en-US" altLang="zh-TW" sz="1200" b="1" dirty="0">
                <a:solidFill>
                  <a:schemeClr val="tx1">
                    <a:lumMod val="75000"/>
                    <a:lumOff val="25000"/>
                  </a:schemeClr>
                </a:solidFill>
              </a:rPr>
              <a:t>RAG</a:t>
            </a:r>
            <a:r>
              <a:rPr lang="zh-TW" altLang="en-US" sz="1200" b="1" dirty="0">
                <a:solidFill>
                  <a:schemeClr val="tx1">
                    <a:lumMod val="75000"/>
                    <a:lumOff val="25000"/>
                  </a:schemeClr>
                </a:solidFill>
              </a:rPr>
              <a:t> </a:t>
            </a:r>
            <a:r>
              <a:rPr lang="en-US" altLang="zh-TW" sz="1200" b="1" dirty="0">
                <a:solidFill>
                  <a:schemeClr val="tx1">
                    <a:lumMod val="75000"/>
                    <a:lumOff val="25000"/>
                  </a:schemeClr>
                </a:solidFill>
              </a:rPr>
              <a:t>MCP</a:t>
            </a:r>
          </a:p>
          <a:p>
            <a:pPr algn="ctr">
              <a:lnSpc>
                <a:spcPts val="1200"/>
              </a:lnSpc>
            </a:pPr>
            <a:r>
              <a:rPr lang="en-US" altLang="zh-TW" sz="1200" b="1" dirty="0">
                <a:solidFill>
                  <a:schemeClr val="tx1">
                    <a:lumMod val="75000"/>
                    <a:lumOff val="25000"/>
                  </a:schemeClr>
                </a:solidFill>
              </a:rPr>
              <a:t>Server</a:t>
            </a:r>
            <a:endParaRPr lang="zh-TW" altLang="en-US" sz="1200" b="1" dirty="0">
              <a:solidFill>
                <a:schemeClr val="tx1">
                  <a:lumMod val="75000"/>
                  <a:lumOff val="25000"/>
                </a:schemeClr>
              </a:solidFill>
            </a:endParaRPr>
          </a:p>
        </p:txBody>
      </p:sp>
      <p:sp>
        <p:nvSpPr>
          <p:cNvPr id="74" name="文字方塊 73">
            <a:extLst>
              <a:ext uri="{FF2B5EF4-FFF2-40B4-BE49-F238E27FC236}">
                <a16:creationId xmlns:a16="http://schemas.microsoft.com/office/drawing/2014/main" id="{9BA05BA6-682F-E714-C62E-DEB3A66638F1}"/>
              </a:ext>
            </a:extLst>
          </p:cNvPr>
          <p:cNvSpPr txBox="1"/>
          <p:nvPr/>
        </p:nvSpPr>
        <p:spPr>
          <a:xfrm>
            <a:off x="2555776" y="2619977"/>
            <a:ext cx="648071" cy="230975"/>
          </a:xfrm>
          <a:prstGeom prst="rect">
            <a:avLst/>
          </a:prstGeom>
          <a:noFill/>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Get Price</a:t>
            </a:r>
            <a:r>
              <a:rPr lang="zh-TW" altLang="zh-TW" sz="1000" dirty="0">
                <a:latin typeface="Noto Sans HK" panose="020B0200000000000000" pitchFamily="34" charset="-120"/>
                <a:ea typeface="Noto Sans HK" panose="020B0200000000000000" pitchFamily="34" charset="-120"/>
              </a:rPr>
              <a:t> </a:t>
            </a:r>
            <a:endParaRPr lang="en-US" altLang="zh-TW" sz="1000" dirty="0">
              <a:latin typeface="Noto Sans HK" panose="020B0200000000000000" pitchFamily="34" charset="-120"/>
              <a:ea typeface="Noto Sans HK" panose="020B0200000000000000" pitchFamily="34" charset="-120"/>
            </a:endParaRPr>
          </a:p>
        </p:txBody>
      </p:sp>
      <p:sp>
        <p:nvSpPr>
          <p:cNvPr id="63" name="矩形: 圓角 62">
            <a:extLst>
              <a:ext uri="{FF2B5EF4-FFF2-40B4-BE49-F238E27FC236}">
                <a16:creationId xmlns:a16="http://schemas.microsoft.com/office/drawing/2014/main" id="{E4FB350E-E1A8-F9B4-5833-A320C32EEA10}"/>
              </a:ext>
            </a:extLst>
          </p:cNvPr>
          <p:cNvSpPr/>
          <p:nvPr/>
        </p:nvSpPr>
        <p:spPr>
          <a:xfrm>
            <a:off x="6943030" y="2488400"/>
            <a:ext cx="1013457" cy="481201"/>
          </a:xfrm>
          <a:prstGeom prst="roundRect">
            <a:avLst>
              <a:gd name="adj" fmla="val 8706"/>
            </a:avLst>
          </a:prstGeom>
          <a:solidFill>
            <a:schemeClr val="accent4">
              <a:lumMod val="20000"/>
              <a:lumOff val="80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Server</a:t>
            </a:r>
            <a:endParaRPr lang="zh-TW" altLang="en-US" sz="1200" b="1" dirty="0">
              <a:solidFill>
                <a:schemeClr val="accent4">
                  <a:lumMod val="75000"/>
                </a:schemeClr>
              </a:solidFill>
            </a:endParaRPr>
          </a:p>
        </p:txBody>
      </p:sp>
      <p:sp>
        <p:nvSpPr>
          <p:cNvPr id="34" name="矩形: 圓角 33">
            <a:extLst>
              <a:ext uri="{FF2B5EF4-FFF2-40B4-BE49-F238E27FC236}">
                <a16:creationId xmlns:a16="http://schemas.microsoft.com/office/drawing/2014/main" id="{B8E9871D-CD28-29D2-C3B9-17959FEDFB46}"/>
              </a:ext>
            </a:extLst>
          </p:cNvPr>
          <p:cNvSpPr/>
          <p:nvPr/>
        </p:nvSpPr>
        <p:spPr>
          <a:xfrm>
            <a:off x="6943031" y="1863606"/>
            <a:ext cx="1013457" cy="481201"/>
          </a:xfrm>
          <a:prstGeom prst="roundRect">
            <a:avLst>
              <a:gd name="adj" fmla="val 8706"/>
            </a:avLst>
          </a:prstGeom>
          <a:solidFill>
            <a:schemeClr val="accent5">
              <a:lumMod val="20000"/>
              <a:lumOff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r>
              <a:rPr lang="en-US" altLang="zh-TW" sz="1200" b="1" dirty="0">
                <a:solidFill>
                  <a:schemeClr val="accent5">
                    <a:lumMod val="50000"/>
                  </a:schemeClr>
                </a:solidFill>
              </a:rPr>
              <a:t>Vector</a:t>
            </a:r>
          </a:p>
          <a:p>
            <a:pPr algn="ctr"/>
            <a:r>
              <a:rPr lang="en-US" altLang="zh-TW" sz="1200" b="1" dirty="0">
                <a:solidFill>
                  <a:schemeClr val="accent5">
                    <a:lumMod val="50000"/>
                  </a:schemeClr>
                </a:solidFill>
              </a:rPr>
              <a:t>DB</a:t>
            </a:r>
            <a:endParaRPr lang="zh-TW" altLang="en-US" sz="1200" b="1" dirty="0">
              <a:solidFill>
                <a:schemeClr val="accent5">
                  <a:lumMod val="50000"/>
                </a:schemeClr>
              </a:solidFill>
            </a:endParaRPr>
          </a:p>
        </p:txBody>
      </p:sp>
      <p:sp>
        <p:nvSpPr>
          <p:cNvPr id="16" name="文字方塊 15">
            <a:extLst>
              <a:ext uri="{FF2B5EF4-FFF2-40B4-BE49-F238E27FC236}">
                <a16:creationId xmlns:a16="http://schemas.microsoft.com/office/drawing/2014/main" id="{E6B6C4F2-3F1E-6AE2-7DFF-8F6FA04D2EDF}"/>
              </a:ext>
            </a:extLst>
          </p:cNvPr>
          <p:cNvSpPr txBox="1"/>
          <p:nvPr/>
        </p:nvSpPr>
        <p:spPr>
          <a:xfrm>
            <a:off x="3779912" y="1700809"/>
            <a:ext cx="1224934" cy="1800199"/>
          </a:xfrm>
          <a:prstGeom prst="rect">
            <a:avLst/>
          </a:prstGeom>
          <a:solidFill>
            <a:schemeClr val="bg1">
              <a:lumMod val="95000"/>
            </a:schemeClr>
          </a:solidFill>
          <a:ln w="25400">
            <a:solidFill>
              <a:schemeClr val="tx1">
                <a:lumMod val="50000"/>
                <a:lumOff val="50000"/>
              </a:schemeClr>
            </a:solidFill>
          </a:ln>
        </p:spPr>
        <p:txBody>
          <a:bodyPr wrap="none" lIns="0" tIns="0" rIns="0" bIns="36000" anchor="b" anchorCtr="1">
            <a:noAutofit/>
          </a:bodyPr>
          <a:lstStyle/>
          <a:p>
            <a:pPr algn="ctr">
              <a:lnSpc>
                <a:spcPts val="1400"/>
              </a:lnSpc>
              <a:buNone/>
            </a:pPr>
            <a:r>
              <a:rPr lang="en-US" altLang="zh-TW" sz="1400" b="1" u="none" strike="noStrike" dirty="0">
                <a:effectLst/>
              </a:rPr>
              <a:t>AI Agent</a:t>
            </a:r>
          </a:p>
          <a:p>
            <a:pPr algn="ctr">
              <a:lnSpc>
                <a:spcPts val="1400"/>
              </a:lnSpc>
              <a:buNone/>
            </a:pPr>
            <a:r>
              <a:rPr lang="en-US" altLang="zh-TW" sz="1200" dirty="0"/>
              <a:t>(PC/NB)</a:t>
            </a:r>
            <a:endParaRPr lang="en-US" altLang="zh-TW" sz="1200" u="none" strike="noStrike" dirty="0">
              <a:effectLst/>
            </a:endParaRPr>
          </a:p>
        </p:txBody>
      </p:sp>
      <p:sp>
        <p:nvSpPr>
          <p:cNvPr id="134" name="矩形: 圓角 133">
            <a:extLst>
              <a:ext uri="{FF2B5EF4-FFF2-40B4-BE49-F238E27FC236}">
                <a16:creationId xmlns:a16="http://schemas.microsoft.com/office/drawing/2014/main" id="{202C397C-75BA-F777-FD3B-5046214DE27F}"/>
              </a:ext>
            </a:extLst>
          </p:cNvPr>
          <p:cNvSpPr/>
          <p:nvPr/>
        </p:nvSpPr>
        <p:spPr>
          <a:xfrm>
            <a:off x="4027099" y="1531881"/>
            <a:ext cx="797767" cy="240935"/>
          </a:xfrm>
          <a:prstGeom prst="roundRect">
            <a:avLst>
              <a:gd name="adj" fmla="val 8706"/>
            </a:avLst>
          </a:prstGeom>
          <a:solidFill>
            <a:schemeClr val="tx1">
              <a:lumMod val="85000"/>
              <a:lumOff val="15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MCP Host</a:t>
            </a:r>
            <a:endParaRPr lang="zh-TW" altLang="en-US" sz="1200" b="1" dirty="0">
              <a:solidFill>
                <a:schemeClr val="bg1"/>
              </a:solidFill>
            </a:endParaRPr>
          </a:p>
        </p:txBody>
      </p:sp>
      <p:sp>
        <p:nvSpPr>
          <p:cNvPr id="9" name="文字方塊 8">
            <a:extLst>
              <a:ext uri="{FF2B5EF4-FFF2-40B4-BE49-F238E27FC236}">
                <a16:creationId xmlns:a16="http://schemas.microsoft.com/office/drawing/2014/main" id="{7AAD28DF-6498-6387-F96E-656B98F80A89}"/>
              </a:ext>
            </a:extLst>
          </p:cNvPr>
          <p:cNvSpPr txBox="1"/>
          <p:nvPr/>
        </p:nvSpPr>
        <p:spPr>
          <a:xfrm>
            <a:off x="3983838" y="4484209"/>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42" name="直線單箭頭接點 41">
            <a:extLst>
              <a:ext uri="{FF2B5EF4-FFF2-40B4-BE49-F238E27FC236}">
                <a16:creationId xmlns:a16="http://schemas.microsoft.com/office/drawing/2014/main" id="{5C031ACB-F901-E82F-EC14-CA1BE0422B34}"/>
              </a:ext>
            </a:extLst>
          </p:cNvPr>
          <p:cNvCxnSpPr>
            <a:cxnSpLocks/>
            <a:stCxn id="9" idx="0"/>
            <a:endCxn id="16" idx="2"/>
          </p:cNvCxnSpPr>
          <p:nvPr/>
        </p:nvCxnSpPr>
        <p:spPr>
          <a:xfrm flipH="1" flipV="1">
            <a:off x="4392379" y="3501008"/>
            <a:ext cx="2358" cy="983201"/>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4" name="圖形 23" descr="資料庫 外框">
            <a:extLst>
              <a:ext uri="{FF2B5EF4-FFF2-40B4-BE49-F238E27FC236}">
                <a16:creationId xmlns:a16="http://schemas.microsoft.com/office/drawing/2014/main" id="{D596727D-E562-6026-F9B1-9D1D9C4256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1289" y="1914314"/>
            <a:ext cx="364339" cy="379784"/>
          </a:xfrm>
          <a:prstGeom prst="rect">
            <a:avLst/>
          </a:prstGeom>
          <a:effectLst>
            <a:glow rad="127000">
              <a:schemeClr val="accent5">
                <a:lumMod val="20000"/>
                <a:lumOff val="80000"/>
              </a:schemeClr>
            </a:glow>
          </a:effectLst>
        </p:spPr>
      </p:pic>
      <p:sp>
        <p:nvSpPr>
          <p:cNvPr id="61" name="文字方塊 60">
            <a:extLst>
              <a:ext uri="{FF2B5EF4-FFF2-40B4-BE49-F238E27FC236}">
                <a16:creationId xmlns:a16="http://schemas.microsoft.com/office/drawing/2014/main" id="{5CBD3571-7A57-2216-0FE5-E2ABCD70BF10}"/>
              </a:ext>
            </a:extLst>
          </p:cNvPr>
          <p:cNvSpPr txBox="1"/>
          <p:nvPr/>
        </p:nvSpPr>
        <p:spPr>
          <a:xfrm>
            <a:off x="8014078" y="2580364"/>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Real-Time</a:t>
            </a:r>
          </a:p>
          <a:p>
            <a:pPr>
              <a:lnSpc>
                <a:spcPts val="1200"/>
              </a:lnSpc>
              <a:buNone/>
            </a:pPr>
            <a:r>
              <a:rPr lang="en-US" altLang="zh-TW" sz="1000" dirty="0">
                <a:ea typeface="Meiryo" panose="020B0604030504040204" pitchFamily="34" charset="-128"/>
              </a:rPr>
              <a:t>Message</a:t>
            </a:r>
          </a:p>
        </p:txBody>
      </p:sp>
      <p:sp>
        <p:nvSpPr>
          <p:cNvPr id="89" name="矩形: 圓角 88">
            <a:extLst>
              <a:ext uri="{FF2B5EF4-FFF2-40B4-BE49-F238E27FC236}">
                <a16:creationId xmlns:a16="http://schemas.microsoft.com/office/drawing/2014/main" id="{C35C377F-104F-EB33-BFCB-9776ED9FED54}"/>
              </a:ext>
            </a:extLst>
          </p:cNvPr>
          <p:cNvSpPr/>
          <p:nvPr/>
        </p:nvSpPr>
        <p:spPr>
          <a:xfrm>
            <a:off x="5436096" y="2490721"/>
            <a:ext cx="504689" cy="488364"/>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sp>
        <p:nvSpPr>
          <p:cNvPr id="92" name="矩形: 圓角 91">
            <a:extLst>
              <a:ext uri="{FF2B5EF4-FFF2-40B4-BE49-F238E27FC236}">
                <a16:creationId xmlns:a16="http://schemas.microsoft.com/office/drawing/2014/main" id="{0F1F2219-D782-334F-44BA-F7E58D8E34C3}"/>
              </a:ext>
            </a:extLst>
          </p:cNvPr>
          <p:cNvSpPr/>
          <p:nvPr/>
        </p:nvSpPr>
        <p:spPr>
          <a:xfrm>
            <a:off x="5436096" y="3140967"/>
            <a:ext cx="504689" cy="487962"/>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102" name="直線單箭頭接點 101">
            <a:extLst>
              <a:ext uri="{FF2B5EF4-FFF2-40B4-BE49-F238E27FC236}">
                <a16:creationId xmlns:a16="http://schemas.microsoft.com/office/drawing/2014/main" id="{B5FECA90-B6A6-D5DE-34B7-0D2458B6B40E}"/>
              </a:ext>
            </a:extLst>
          </p:cNvPr>
          <p:cNvCxnSpPr>
            <a:cxnSpLocks/>
            <a:stCxn id="34" idx="1"/>
            <a:endCxn id="36" idx="3"/>
          </p:cNvCxnSpPr>
          <p:nvPr/>
        </p:nvCxnSpPr>
        <p:spPr>
          <a:xfrm flipH="1">
            <a:off x="5940785" y="2104207"/>
            <a:ext cx="1002246" cy="358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4B3B2844-3ED2-2107-9FA2-DDE0A38496FF}"/>
              </a:ext>
            </a:extLst>
          </p:cNvPr>
          <p:cNvCxnSpPr>
            <a:cxnSpLocks/>
            <a:stCxn id="63" idx="1"/>
            <a:endCxn id="89" idx="3"/>
          </p:cNvCxnSpPr>
          <p:nvPr/>
        </p:nvCxnSpPr>
        <p:spPr>
          <a:xfrm flipH="1">
            <a:off x="5940785" y="2729001"/>
            <a:ext cx="1002245" cy="590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DF5897A3-59AB-2800-B47B-61BAA4BE06CA}"/>
              </a:ext>
            </a:extLst>
          </p:cNvPr>
          <p:cNvCxnSpPr>
            <a:cxnSpLocks/>
            <a:stCxn id="17" idx="1"/>
            <a:endCxn id="92" idx="3"/>
          </p:cNvCxnSpPr>
          <p:nvPr/>
        </p:nvCxnSpPr>
        <p:spPr>
          <a:xfrm flipH="1" flipV="1">
            <a:off x="5940785" y="3384948"/>
            <a:ext cx="1002134" cy="1536"/>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128" name="文字方塊 127">
            <a:extLst>
              <a:ext uri="{FF2B5EF4-FFF2-40B4-BE49-F238E27FC236}">
                <a16:creationId xmlns:a16="http://schemas.microsoft.com/office/drawing/2014/main" id="{ACA7D7BF-DBE4-058F-367A-8356FF5D7ACD}"/>
              </a:ext>
            </a:extLst>
          </p:cNvPr>
          <p:cNvSpPr txBox="1"/>
          <p:nvPr/>
        </p:nvSpPr>
        <p:spPr>
          <a:xfrm>
            <a:off x="6191342" y="1956862"/>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130" name="文字方塊 129">
            <a:extLst>
              <a:ext uri="{FF2B5EF4-FFF2-40B4-BE49-F238E27FC236}">
                <a16:creationId xmlns:a16="http://schemas.microsoft.com/office/drawing/2014/main" id="{DCAF35C5-5518-CDF2-1AC5-4528F8B47E2A}"/>
              </a:ext>
            </a:extLst>
          </p:cNvPr>
          <p:cNvSpPr txBox="1"/>
          <p:nvPr/>
        </p:nvSpPr>
        <p:spPr>
          <a:xfrm>
            <a:off x="6191342" y="2573886"/>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132" name="文字方塊 131">
            <a:extLst>
              <a:ext uri="{FF2B5EF4-FFF2-40B4-BE49-F238E27FC236}">
                <a16:creationId xmlns:a16="http://schemas.microsoft.com/office/drawing/2014/main" id="{B27DB76A-51FC-8DE5-1DF8-7871A37C702C}"/>
              </a:ext>
            </a:extLst>
          </p:cNvPr>
          <p:cNvSpPr txBox="1"/>
          <p:nvPr/>
        </p:nvSpPr>
        <p:spPr>
          <a:xfrm>
            <a:off x="6191342" y="3233133"/>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27" name="標題 1">
            <a:extLst>
              <a:ext uri="{FF2B5EF4-FFF2-40B4-BE49-F238E27FC236}">
                <a16:creationId xmlns:a16="http://schemas.microsoft.com/office/drawing/2014/main" id="{714FED49-EBEA-804C-277F-87FC8CCB5235}"/>
              </a:ext>
            </a:extLst>
          </p:cNvPr>
          <p:cNvSpPr txBox="1">
            <a:spLocks/>
          </p:cNvSpPr>
          <p:nvPr/>
        </p:nvSpPr>
        <p:spPr>
          <a:xfrm>
            <a:off x="179512" y="116632"/>
            <a:ext cx="7713554"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Model Context Protocol</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MCP enables AI Agents to </a:t>
            </a:r>
            <a:r>
              <a:rPr kumimoji="0" lang="en-US" altLang="zh-TW" sz="1400" b="1" i="0" u="none" strike="noStrike" kern="1200" cap="none" spc="0" normalizeH="0" baseline="0" noProof="0" dirty="0">
                <a:ln>
                  <a:noFill/>
                </a:ln>
                <a:solidFill>
                  <a:schemeClr val="accent6">
                    <a:lumMod val="75000"/>
                  </a:schemeClr>
                </a:solidFill>
                <a:effectLst/>
                <a:uLnTx/>
                <a:uFillTx/>
                <a:latin typeface="Noto Sans HK" panose="020B0200000000000000" pitchFamily="34" charset="-120"/>
                <a:ea typeface="Noto Sans HK" panose="020B0200000000000000" pitchFamily="34" charset="-120"/>
                <a:cs typeface="Arial" panose="020B0604020202020204" pitchFamily="34" charset="0"/>
              </a:rPr>
              <a:t>connect</a:t>
            </a: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 with </a:t>
            </a:r>
            <a:r>
              <a:rPr kumimoji="0" lang="en-US" altLang="zh-TW" sz="1400" i="0" u="none" strike="noStrike" kern="1200" cap="none" spc="0" normalizeH="0" baseline="0" noProof="0" dirty="0">
                <a:ln>
                  <a:noFill/>
                </a:ln>
                <a:effectLst/>
                <a:uLnTx/>
                <a:uFillTx/>
                <a:latin typeface="Noto Sans HK" panose="020B0200000000000000" pitchFamily="34" charset="-120"/>
                <a:ea typeface="Noto Sans HK" panose="020B0200000000000000" pitchFamily="34" charset="-120"/>
                <a:cs typeface="Arial" panose="020B0604020202020204" pitchFamily="34" charset="0"/>
              </a:rPr>
              <a:t>external</a:t>
            </a: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 tools and data sources.</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22" name="圖形 121" descr="科學思想 以實心填滿">
            <a:extLst>
              <a:ext uri="{FF2B5EF4-FFF2-40B4-BE49-F238E27FC236}">
                <a16:creationId xmlns:a16="http://schemas.microsoft.com/office/drawing/2014/main" id="{53EAAAE7-6160-7CCC-5A4B-4BE4A3A490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04827" y="2517579"/>
            <a:ext cx="623389" cy="623389"/>
          </a:xfrm>
          <a:prstGeom prst="rect">
            <a:avLst/>
          </a:prstGeom>
          <a:effectLst>
            <a:glow rad="50800">
              <a:schemeClr val="accent4">
                <a:lumMod val="20000"/>
                <a:lumOff val="80000"/>
                <a:alpha val="40000"/>
              </a:schemeClr>
            </a:glow>
            <a:softEdge rad="0"/>
          </a:effectLst>
        </p:spPr>
      </p:pic>
      <p:grpSp>
        <p:nvGrpSpPr>
          <p:cNvPr id="174" name="群組 173">
            <a:extLst>
              <a:ext uri="{FF2B5EF4-FFF2-40B4-BE49-F238E27FC236}">
                <a16:creationId xmlns:a16="http://schemas.microsoft.com/office/drawing/2014/main" id="{BEE30526-718C-1AFB-A5C7-9709765E6B51}"/>
              </a:ext>
            </a:extLst>
          </p:cNvPr>
          <p:cNvGrpSpPr/>
          <p:nvPr/>
        </p:nvGrpSpPr>
        <p:grpSpPr>
          <a:xfrm>
            <a:off x="611561" y="1611402"/>
            <a:ext cx="1643158" cy="994885"/>
            <a:chOff x="611560" y="1474120"/>
            <a:chExt cx="1764115" cy="1132167"/>
          </a:xfrm>
        </p:grpSpPr>
        <p:sp>
          <p:nvSpPr>
            <p:cNvPr id="51" name="雲朵形 50">
              <a:extLst>
                <a:ext uri="{FF2B5EF4-FFF2-40B4-BE49-F238E27FC236}">
                  <a16:creationId xmlns:a16="http://schemas.microsoft.com/office/drawing/2014/main" id="{068ED43E-E3BC-FB12-2DE6-452E2E4EDCB0}"/>
                </a:ext>
              </a:extLst>
            </p:cNvPr>
            <p:cNvSpPr/>
            <p:nvPr/>
          </p:nvSpPr>
          <p:spPr>
            <a:xfrm>
              <a:off x="829914" y="1474120"/>
              <a:ext cx="1545761" cy="1132167"/>
            </a:xfrm>
            <a:prstGeom prst="cloud">
              <a:avLst/>
            </a:prstGeom>
            <a:solidFill>
              <a:schemeClr val="accent1">
                <a:lumMod val="20000"/>
                <a:lumOff val="80000"/>
                <a:alpha val="70000"/>
              </a:schemeClr>
            </a:solidFill>
            <a:ln w="508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dirty="0">
                <a:solidFill>
                  <a:schemeClr val="tx2"/>
                </a:solidFill>
              </a:endParaRPr>
            </a:p>
          </p:txBody>
        </p:sp>
        <p:sp>
          <p:nvSpPr>
            <p:cNvPr id="159" name="文字方塊 158">
              <a:extLst>
                <a:ext uri="{FF2B5EF4-FFF2-40B4-BE49-F238E27FC236}">
                  <a16:creationId xmlns:a16="http://schemas.microsoft.com/office/drawing/2014/main" id="{A73A3A98-EF76-CBC8-28B7-D5216CD68F70}"/>
                </a:ext>
              </a:extLst>
            </p:cNvPr>
            <p:cNvSpPr txBox="1"/>
            <p:nvPr/>
          </p:nvSpPr>
          <p:spPr>
            <a:xfrm>
              <a:off x="1085518" y="1657807"/>
              <a:ext cx="863628" cy="486484"/>
            </a:xfrm>
            <a:prstGeom prst="rect">
              <a:avLst/>
            </a:prstGeom>
            <a:noFill/>
            <a:ln w="25400">
              <a:noFill/>
            </a:ln>
          </p:spPr>
          <p:txBody>
            <a:bodyPr wrap="none" lIns="504000" tIns="0" rIns="0" bIns="36000" anchor="b" anchorCtr="1">
              <a:noAutofit/>
            </a:bodyPr>
            <a:lstStyle/>
            <a:p>
              <a:pPr>
                <a:lnSpc>
                  <a:spcPts val="1400"/>
                </a:lnSpc>
                <a:buNone/>
              </a:pPr>
              <a:r>
                <a:rPr lang="en-US" altLang="zh-TW" sz="1400" b="1" dirty="0"/>
                <a:t>LLM</a:t>
              </a:r>
              <a:r>
                <a:rPr lang="en-US" altLang="zh-TW" sz="1200" b="1" dirty="0"/>
                <a:t> </a:t>
              </a:r>
            </a:p>
            <a:p>
              <a:pPr>
                <a:lnSpc>
                  <a:spcPts val="1400"/>
                </a:lnSpc>
                <a:buNone/>
              </a:pPr>
              <a:r>
                <a:rPr lang="en-US" altLang="zh-TW" sz="1200" b="1" dirty="0"/>
                <a:t>Model</a:t>
              </a:r>
              <a:endParaRPr lang="en-US" altLang="zh-TW" sz="1400" b="1" dirty="0"/>
            </a:p>
          </p:txBody>
        </p:sp>
        <p:sp>
          <p:nvSpPr>
            <p:cNvPr id="166" name="矩形: 圓角 165">
              <a:extLst>
                <a:ext uri="{FF2B5EF4-FFF2-40B4-BE49-F238E27FC236}">
                  <a16:creationId xmlns:a16="http://schemas.microsoft.com/office/drawing/2014/main" id="{4C2F2724-9C95-61E4-4E18-182C73598EEB}"/>
                </a:ext>
              </a:extLst>
            </p:cNvPr>
            <p:cNvSpPr/>
            <p:nvPr/>
          </p:nvSpPr>
          <p:spPr>
            <a:xfrm>
              <a:off x="973930" y="2176134"/>
              <a:ext cx="1098050" cy="316762"/>
            </a:xfrm>
            <a:prstGeom prst="roundRect">
              <a:avLst>
                <a:gd name="adj" fmla="val 8706"/>
              </a:avLst>
            </a:prstGeom>
            <a:solidFill>
              <a:schemeClr val="tx1">
                <a:lumMod val="65000"/>
                <a:lumOff val="3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Model Engine</a:t>
              </a:r>
              <a:endParaRPr lang="zh-TW" altLang="en-US" sz="1200" b="1" dirty="0">
                <a:solidFill>
                  <a:schemeClr val="bg1"/>
                </a:solidFill>
              </a:endParaRPr>
            </a:p>
          </p:txBody>
        </p:sp>
        <p:pic>
          <p:nvPicPr>
            <p:cNvPr id="7" name="圖片 6">
              <a:extLst>
                <a:ext uri="{FF2B5EF4-FFF2-40B4-BE49-F238E27FC236}">
                  <a16:creationId xmlns:a16="http://schemas.microsoft.com/office/drawing/2014/main" id="{D82BC7A5-7FA1-4BBA-BF68-A20F3FC56D5F}"/>
                </a:ext>
              </a:extLst>
            </p:cNvPr>
            <p:cNvPicPr>
              <a:picLocks noChangeAspect="1"/>
            </p:cNvPicPr>
            <p:nvPr/>
          </p:nvPicPr>
          <p:blipFill>
            <a:blip r:embed="rId5"/>
            <a:stretch>
              <a:fillRect/>
            </a:stretch>
          </p:blipFill>
          <p:spPr>
            <a:xfrm>
              <a:off x="611560" y="1916832"/>
              <a:ext cx="434378" cy="426757"/>
            </a:xfrm>
            <a:prstGeom prst="rect">
              <a:avLst/>
            </a:prstGeom>
            <a:effectLst>
              <a:glow rad="63500">
                <a:schemeClr val="accent5">
                  <a:lumMod val="20000"/>
                  <a:lumOff val="80000"/>
                  <a:alpha val="40000"/>
                </a:schemeClr>
              </a:glow>
              <a:softEdge rad="50800"/>
            </a:effectLst>
          </p:spPr>
        </p:pic>
        <p:pic>
          <p:nvPicPr>
            <p:cNvPr id="151" name="圖形 150" descr="原子 以實心填滿">
              <a:extLst>
                <a:ext uri="{FF2B5EF4-FFF2-40B4-BE49-F238E27FC236}">
                  <a16:creationId xmlns:a16="http://schemas.microsoft.com/office/drawing/2014/main" id="{B4A2124C-0737-AE16-69D0-A17BAB91282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1736" y="1651945"/>
              <a:ext cx="497527" cy="497527"/>
            </a:xfrm>
            <a:prstGeom prst="rect">
              <a:avLst/>
            </a:prstGeom>
          </p:spPr>
        </p:pic>
      </p:grpSp>
      <p:sp>
        <p:nvSpPr>
          <p:cNvPr id="25" name="文字方塊 24">
            <a:extLst>
              <a:ext uri="{FF2B5EF4-FFF2-40B4-BE49-F238E27FC236}">
                <a16:creationId xmlns:a16="http://schemas.microsoft.com/office/drawing/2014/main" id="{5501C6B9-6DCD-10E9-0C12-453A6A83823F}"/>
              </a:ext>
            </a:extLst>
          </p:cNvPr>
          <p:cNvSpPr txBox="1"/>
          <p:nvPr/>
        </p:nvSpPr>
        <p:spPr>
          <a:xfrm>
            <a:off x="213023" y="5048016"/>
            <a:ext cx="7023273" cy="1477328"/>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Steps</a:t>
            </a:r>
          </a:p>
          <a:p>
            <a:pPr marL="285750" indent="-285750">
              <a:lnSpc>
                <a:spcPts val="1800"/>
              </a:lnSpc>
              <a:spcBef>
                <a:spcPts val="600"/>
              </a:spcBef>
              <a:spcAft>
                <a:spcPts val="600"/>
              </a:spcAft>
              <a:buFont typeface="Wingdings" panose="05000000000000000000" pitchFamily="2" charset="2"/>
              <a:buChar char="Ø"/>
            </a:pPr>
            <a:r>
              <a:rPr lang="en-US" altLang="zh-TW" sz="1600" b="1" dirty="0"/>
              <a:t>Initialization &amp; Discovery</a:t>
            </a:r>
            <a:r>
              <a:rPr lang="en-US" altLang="zh-TW" sz="1600" b="0" u="none" strike="noStrike" dirty="0">
                <a:effectLst/>
              </a:rPr>
              <a:t>: MCP server provides tool schemas to the host.</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Reasoning &amp; Tool Call</a:t>
            </a:r>
            <a:r>
              <a:rPr lang="en-US" altLang="zh-TW" sz="1600" b="0" u="none" strike="noStrike" dirty="0">
                <a:effectLst/>
              </a:rPr>
              <a:t>: LLM sends request to MCP server.</a:t>
            </a:r>
          </a:p>
          <a:p>
            <a:pPr marL="285750" indent="-285750">
              <a:lnSpc>
                <a:spcPts val="1800"/>
              </a:lnSpc>
              <a:spcBef>
                <a:spcPts val="600"/>
              </a:spcBef>
              <a:spcAft>
                <a:spcPts val="600"/>
              </a:spcAft>
              <a:buFont typeface="Wingdings" panose="05000000000000000000" pitchFamily="2" charset="2"/>
              <a:buChar char="Ø"/>
            </a:pPr>
            <a:r>
              <a:rPr lang="en-US" altLang="zh-TW" sz="1600" b="1" dirty="0"/>
              <a:t>Execution &amp; Injection</a:t>
            </a:r>
            <a:r>
              <a:rPr lang="en-US" altLang="zh-TW" sz="1600" dirty="0"/>
              <a:t>: Server returns data to host for LLM context injection.</a:t>
            </a:r>
          </a:p>
        </p:txBody>
      </p:sp>
      <p:sp>
        <p:nvSpPr>
          <p:cNvPr id="36" name="矩形: 圓角 35">
            <a:extLst>
              <a:ext uri="{FF2B5EF4-FFF2-40B4-BE49-F238E27FC236}">
                <a16:creationId xmlns:a16="http://schemas.microsoft.com/office/drawing/2014/main" id="{BCBF1B2A-C695-3EF2-5516-914B7DA9FBC2}"/>
              </a:ext>
            </a:extLst>
          </p:cNvPr>
          <p:cNvSpPr/>
          <p:nvPr/>
        </p:nvSpPr>
        <p:spPr>
          <a:xfrm>
            <a:off x="5436096" y="1863606"/>
            <a:ext cx="504689" cy="488365"/>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23" name="直線單箭頭接點 22">
            <a:extLst>
              <a:ext uri="{FF2B5EF4-FFF2-40B4-BE49-F238E27FC236}">
                <a16:creationId xmlns:a16="http://schemas.microsoft.com/office/drawing/2014/main" id="{F42A7713-E02E-4E9D-59E7-AB2551695208}"/>
              </a:ext>
            </a:extLst>
          </p:cNvPr>
          <p:cNvCxnSpPr>
            <a:cxnSpLocks/>
            <a:stCxn id="36" idx="1"/>
            <a:endCxn id="168" idx="3"/>
          </p:cNvCxnSpPr>
          <p:nvPr/>
        </p:nvCxnSpPr>
        <p:spPr>
          <a:xfrm flipH="1">
            <a:off x="3227331" y="2107789"/>
            <a:ext cx="2208765" cy="5942"/>
          </a:xfrm>
          <a:prstGeom prst="straightConnector1">
            <a:avLst/>
          </a:prstGeom>
          <a:ln w="15875">
            <a:solidFill>
              <a:schemeClr val="accent4">
                <a:lumMod val="75000"/>
              </a:schemeClr>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接點: 肘形 7">
            <a:extLst>
              <a:ext uri="{FF2B5EF4-FFF2-40B4-BE49-F238E27FC236}">
                <a16:creationId xmlns:a16="http://schemas.microsoft.com/office/drawing/2014/main" id="{B55E57A6-6BCE-F3CC-1266-7E54981EF350}"/>
              </a:ext>
            </a:extLst>
          </p:cNvPr>
          <p:cNvCxnSpPr>
            <a:cxnSpLocks/>
            <a:stCxn id="70" idx="1"/>
            <a:endCxn id="74" idx="1"/>
          </p:cNvCxnSpPr>
          <p:nvPr/>
        </p:nvCxnSpPr>
        <p:spPr>
          <a:xfrm rot="10800000" flipV="1">
            <a:off x="2555776" y="2271269"/>
            <a:ext cx="546964" cy="464195"/>
          </a:xfrm>
          <a:prstGeom prst="bentConnector3">
            <a:avLst>
              <a:gd name="adj1" fmla="val 141794"/>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30" name="圖形 29" descr="統計 以實心填滿">
            <a:extLst>
              <a:ext uri="{FF2B5EF4-FFF2-40B4-BE49-F238E27FC236}">
                <a16:creationId xmlns:a16="http://schemas.microsoft.com/office/drawing/2014/main" id="{2F417CFC-C08D-8AC7-FE07-C2FDB338322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61289" y="2564904"/>
            <a:ext cx="361524" cy="319529"/>
          </a:xfrm>
          <a:prstGeom prst="rect">
            <a:avLst/>
          </a:prstGeom>
          <a:effectLst>
            <a:glow rad="12700">
              <a:schemeClr val="accent4">
                <a:lumMod val="60000"/>
                <a:lumOff val="40000"/>
              </a:schemeClr>
            </a:glow>
          </a:effectLst>
        </p:spPr>
      </p:pic>
      <p:cxnSp>
        <p:nvCxnSpPr>
          <p:cNvPr id="52" name="直線單箭頭接點 51">
            <a:extLst>
              <a:ext uri="{FF2B5EF4-FFF2-40B4-BE49-F238E27FC236}">
                <a16:creationId xmlns:a16="http://schemas.microsoft.com/office/drawing/2014/main" id="{CF35FAE4-219A-F7C6-6930-F22BA619A0E6}"/>
              </a:ext>
            </a:extLst>
          </p:cNvPr>
          <p:cNvCxnSpPr>
            <a:cxnSpLocks/>
            <a:stCxn id="74" idx="3"/>
            <a:endCxn id="89" idx="1"/>
          </p:cNvCxnSpPr>
          <p:nvPr/>
        </p:nvCxnSpPr>
        <p:spPr>
          <a:xfrm flipV="1">
            <a:off x="3203847" y="2734903"/>
            <a:ext cx="2232249" cy="562"/>
          </a:xfrm>
          <a:prstGeom prst="straightConnector1">
            <a:avLst/>
          </a:prstGeom>
          <a:ln w="15875">
            <a:solidFill>
              <a:schemeClr val="accent4">
                <a:lumMod val="75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文字方塊 69">
            <a:extLst>
              <a:ext uri="{FF2B5EF4-FFF2-40B4-BE49-F238E27FC236}">
                <a16:creationId xmlns:a16="http://schemas.microsoft.com/office/drawing/2014/main" id="{AA224E60-31D4-446D-E4BA-7E52EEE0F947}"/>
              </a:ext>
            </a:extLst>
          </p:cNvPr>
          <p:cNvSpPr txBox="1"/>
          <p:nvPr/>
        </p:nvSpPr>
        <p:spPr>
          <a:xfrm>
            <a:off x="3102740" y="2174610"/>
            <a:ext cx="461148" cy="193320"/>
          </a:xfrm>
          <a:prstGeom prst="rect">
            <a:avLst/>
          </a:prstGeom>
          <a:noFill/>
          <a:ln>
            <a:noFill/>
          </a:ln>
        </p:spPr>
        <p:txBody>
          <a:bodyPr wrap="none" lIns="0" tIns="0" rIns="0" bIns="0" anchor="ctr" anchorCtr="1">
            <a:noAutofit/>
          </a:bodyPr>
          <a:lstStyle/>
          <a:p>
            <a:pPr algn="ctr">
              <a:lnSpc>
                <a:spcPts val="1600"/>
              </a:lnSpc>
              <a:buNone/>
            </a:pPr>
            <a:r>
              <a:rPr lang="en-US" altLang="zh-TW" sz="1000" u="none" strike="noStrike" dirty="0">
                <a:effectLst/>
                <a:latin typeface="Noto Sans HK" panose="020B0200000000000000" pitchFamily="34" charset="-120"/>
                <a:ea typeface="Noto Sans HK" panose="020B0200000000000000" pitchFamily="34" charset="-120"/>
                <a:cs typeface="ADLaM Display" panose="02010000000000000000" pitchFamily="2" charset="0"/>
              </a:rPr>
              <a:t>Result</a:t>
            </a:r>
          </a:p>
        </p:txBody>
      </p:sp>
      <p:sp>
        <p:nvSpPr>
          <p:cNvPr id="82" name="文字方塊 81">
            <a:extLst>
              <a:ext uri="{FF2B5EF4-FFF2-40B4-BE49-F238E27FC236}">
                <a16:creationId xmlns:a16="http://schemas.microsoft.com/office/drawing/2014/main" id="{063C9627-CD4E-2780-7259-9B95B68D7DF5}"/>
              </a:ext>
            </a:extLst>
          </p:cNvPr>
          <p:cNvSpPr txBox="1"/>
          <p:nvPr/>
        </p:nvSpPr>
        <p:spPr>
          <a:xfrm>
            <a:off x="8014078" y="1948870"/>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Accurate Data</a:t>
            </a:r>
          </a:p>
          <a:p>
            <a:pPr>
              <a:lnSpc>
                <a:spcPts val="1200"/>
              </a:lnSpc>
              <a:buNone/>
            </a:pPr>
            <a:r>
              <a:rPr lang="en-US" altLang="zh-TW" sz="1000" dirty="0">
                <a:ea typeface="Meiryo" panose="020B0604030504040204" pitchFamily="34" charset="-128"/>
              </a:rPr>
              <a:t>and Rules</a:t>
            </a:r>
          </a:p>
        </p:txBody>
      </p:sp>
      <p:sp>
        <p:nvSpPr>
          <p:cNvPr id="95" name="矩形: 圓角 94">
            <a:extLst>
              <a:ext uri="{FF2B5EF4-FFF2-40B4-BE49-F238E27FC236}">
                <a16:creationId xmlns:a16="http://schemas.microsoft.com/office/drawing/2014/main" id="{A9F366E9-4DE1-405D-D23C-15394384EFC8}"/>
              </a:ext>
            </a:extLst>
          </p:cNvPr>
          <p:cNvSpPr/>
          <p:nvPr/>
        </p:nvSpPr>
        <p:spPr>
          <a:xfrm>
            <a:off x="5436095" y="3811575"/>
            <a:ext cx="504689" cy="488364"/>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96" name="直線單箭頭接點 95">
            <a:extLst>
              <a:ext uri="{FF2B5EF4-FFF2-40B4-BE49-F238E27FC236}">
                <a16:creationId xmlns:a16="http://schemas.microsoft.com/office/drawing/2014/main" id="{8DA46341-076C-9538-5F65-7772C9BF8E97}"/>
              </a:ext>
            </a:extLst>
          </p:cNvPr>
          <p:cNvCxnSpPr>
            <a:cxnSpLocks/>
            <a:stCxn id="94" idx="1"/>
            <a:endCxn id="95" idx="3"/>
          </p:cNvCxnSpPr>
          <p:nvPr/>
        </p:nvCxnSpPr>
        <p:spPr>
          <a:xfrm flipH="1" flipV="1">
            <a:off x="5940784" y="4055757"/>
            <a:ext cx="1002246" cy="718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97" name="文字方塊 96">
            <a:extLst>
              <a:ext uri="{FF2B5EF4-FFF2-40B4-BE49-F238E27FC236}">
                <a16:creationId xmlns:a16="http://schemas.microsoft.com/office/drawing/2014/main" id="{5ECE1A84-39B0-E184-406D-098D2F900FB8}"/>
              </a:ext>
            </a:extLst>
          </p:cNvPr>
          <p:cNvSpPr txBox="1"/>
          <p:nvPr/>
        </p:nvSpPr>
        <p:spPr>
          <a:xfrm>
            <a:off x="6191341" y="3908413"/>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pic>
        <p:nvPicPr>
          <p:cNvPr id="98" name="圖形 97" descr="放大鏡 以實心填滿">
            <a:extLst>
              <a:ext uri="{FF2B5EF4-FFF2-40B4-BE49-F238E27FC236}">
                <a16:creationId xmlns:a16="http://schemas.microsoft.com/office/drawing/2014/main" id="{ED47DEB0-7937-1899-CCAB-0CF8E52A47E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7730429" y="4006957"/>
            <a:ext cx="429694" cy="421999"/>
          </a:xfrm>
          <a:prstGeom prst="rect">
            <a:avLst/>
          </a:prstGeom>
          <a:effectLst>
            <a:glow rad="127000">
              <a:schemeClr val="accent3">
                <a:lumMod val="40000"/>
                <a:lumOff val="60000"/>
                <a:alpha val="40000"/>
              </a:schemeClr>
            </a:glow>
          </a:effectLst>
        </p:spPr>
      </p:pic>
      <p:pic>
        <p:nvPicPr>
          <p:cNvPr id="103" name="圖形 102" descr="卷軸 以實心填滿">
            <a:extLst>
              <a:ext uri="{FF2B5EF4-FFF2-40B4-BE49-F238E27FC236}">
                <a16:creationId xmlns:a16="http://schemas.microsoft.com/office/drawing/2014/main" id="{667ED03B-A7F7-ACC2-A2B1-E2AFC98610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52160" y="3194165"/>
            <a:ext cx="379782" cy="354089"/>
          </a:xfrm>
          <a:prstGeom prst="rect">
            <a:avLst/>
          </a:prstGeom>
          <a:effectLst>
            <a:glow rad="12700">
              <a:schemeClr val="accent1">
                <a:alpha val="40000"/>
              </a:schemeClr>
            </a:glow>
          </a:effectLst>
        </p:spPr>
      </p:pic>
      <p:pic>
        <p:nvPicPr>
          <p:cNvPr id="119" name="圖形 118" descr="伺服器 以實心填滿">
            <a:extLst>
              <a:ext uri="{FF2B5EF4-FFF2-40B4-BE49-F238E27FC236}">
                <a16:creationId xmlns:a16="http://schemas.microsoft.com/office/drawing/2014/main" id="{71DF6DD6-7BC1-EF37-79EB-6ED391AC9D9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82142" y="3902931"/>
            <a:ext cx="318157" cy="318157"/>
          </a:xfrm>
          <a:prstGeom prst="rect">
            <a:avLst/>
          </a:prstGeom>
          <a:effectLst>
            <a:glow rad="12700">
              <a:schemeClr val="accent1">
                <a:alpha val="40000"/>
              </a:schemeClr>
            </a:glow>
          </a:effectLst>
        </p:spPr>
      </p:pic>
      <p:sp>
        <p:nvSpPr>
          <p:cNvPr id="121" name="語音泡泡: 圓角矩形 120">
            <a:extLst>
              <a:ext uri="{FF2B5EF4-FFF2-40B4-BE49-F238E27FC236}">
                <a16:creationId xmlns:a16="http://schemas.microsoft.com/office/drawing/2014/main" id="{E66BF7E8-3B44-838D-11B4-D798918A32E3}"/>
              </a:ext>
            </a:extLst>
          </p:cNvPr>
          <p:cNvSpPr/>
          <p:nvPr/>
        </p:nvSpPr>
        <p:spPr>
          <a:xfrm>
            <a:off x="2878380" y="3778030"/>
            <a:ext cx="1224934" cy="515066"/>
          </a:xfrm>
          <a:prstGeom prst="wedgeRoundRectCallout">
            <a:avLst>
              <a:gd name="adj1" fmla="val 60857"/>
              <a:gd name="adj2" fmla="val 47447"/>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 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cxnSp>
        <p:nvCxnSpPr>
          <p:cNvPr id="125" name="接點: 肘形 124">
            <a:extLst>
              <a:ext uri="{FF2B5EF4-FFF2-40B4-BE49-F238E27FC236}">
                <a16:creationId xmlns:a16="http://schemas.microsoft.com/office/drawing/2014/main" id="{6F975437-D854-70DF-C9D6-44997A400587}"/>
              </a:ext>
            </a:extLst>
          </p:cNvPr>
          <p:cNvCxnSpPr>
            <a:cxnSpLocks/>
            <a:stCxn id="150" idx="1"/>
            <a:endCxn id="181" idx="1"/>
          </p:cNvCxnSpPr>
          <p:nvPr/>
        </p:nvCxnSpPr>
        <p:spPr>
          <a:xfrm rot="10800000" flipV="1">
            <a:off x="2541225" y="2871940"/>
            <a:ext cx="590614" cy="514654"/>
          </a:xfrm>
          <a:prstGeom prst="bentConnector3">
            <a:avLst>
              <a:gd name="adj1" fmla="val 138705"/>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0" name="文字方塊 149">
            <a:extLst>
              <a:ext uri="{FF2B5EF4-FFF2-40B4-BE49-F238E27FC236}">
                <a16:creationId xmlns:a16="http://schemas.microsoft.com/office/drawing/2014/main" id="{617B5F58-14B7-E470-F4D6-CDD08C65DB3F}"/>
              </a:ext>
            </a:extLst>
          </p:cNvPr>
          <p:cNvSpPr txBox="1"/>
          <p:nvPr/>
        </p:nvSpPr>
        <p:spPr>
          <a:xfrm>
            <a:off x="3131839" y="2756452"/>
            <a:ext cx="503257" cy="230975"/>
          </a:xfrm>
          <a:prstGeom prst="rect">
            <a:avLst/>
          </a:prstGeom>
          <a:noFill/>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Result</a:t>
            </a:r>
            <a:endParaRPr lang="en-US" altLang="zh-TW" sz="1000" u="none" strike="noStrike" dirty="0">
              <a:effectLst/>
              <a:highlight>
                <a:srgbClr val="DFD8E8"/>
              </a:highlight>
              <a:latin typeface="Noto Sans HK" panose="020B0200000000000000" pitchFamily="34" charset="-120"/>
              <a:ea typeface="Noto Sans HK" panose="020B0200000000000000" pitchFamily="34" charset="-120"/>
              <a:cs typeface="ADLaM Display" panose="02010000000000000000" pitchFamily="2" charset="0"/>
            </a:endParaRPr>
          </a:p>
        </p:txBody>
      </p:sp>
      <p:sp>
        <p:nvSpPr>
          <p:cNvPr id="168" name="文字方塊 167">
            <a:extLst>
              <a:ext uri="{FF2B5EF4-FFF2-40B4-BE49-F238E27FC236}">
                <a16:creationId xmlns:a16="http://schemas.microsoft.com/office/drawing/2014/main" id="{8D008D54-BFC3-D132-9E53-A6D533AE9D5C}"/>
              </a:ext>
            </a:extLst>
          </p:cNvPr>
          <p:cNvSpPr txBox="1"/>
          <p:nvPr/>
        </p:nvSpPr>
        <p:spPr>
          <a:xfrm>
            <a:off x="2572827" y="1985896"/>
            <a:ext cx="654504" cy="255669"/>
          </a:xfrm>
          <a:prstGeom prst="rect">
            <a:avLst/>
          </a:prstGeom>
          <a:noFill/>
          <a:ln>
            <a:noFill/>
          </a:ln>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Retrieve</a:t>
            </a:r>
            <a:endParaRPr lang="en-US" altLang="zh-TW" sz="1000" dirty="0">
              <a:latin typeface="Noto Sans HK" panose="020B0200000000000000" pitchFamily="34" charset="-120"/>
              <a:ea typeface="Noto Sans HK" panose="020B0200000000000000" pitchFamily="34" charset="-120"/>
            </a:endParaRPr>
          </a:p>
        </p:txBody>
      </p:sp>
      <p:sp>
        <p:nvSpPr>
          <p:cNvPr id="181" name="文字方塊 180">
            <a:extLst>
              <a:ext uri="{FF2B5EF4-FFF2-40B4-BE49-F238E27FC236}">
                <a16:creationId xmlns:a16="http://schemas.microsoft.com/office/drawing/2014/main" id="{01584511-5D98-1263-73AB-4BA7623B0CF5}"/>
              </a:ext>
            </a:extLst>
          </p:cNvPr>
          <p:cNvSpPr txBox="1"/>
          <p:nvPr/>
        </p:nvSpPr>
        <p:spPr>
          <a:xfrm>
            <a:off x="2541225" y="3263641"/>
            <a:ext cx="576064" cy="245906"/>
          </a:xfrm>
          <a:prstGeom prst="rect">
            <a:avLst/>
          </a:prstGeom>
          <a:noFill/>
        </p:spPr>
        <p:txBody>
          <a:bodyPr wrap="none" lIns="0" tIns="0" rIns="0" bIns="0" anchor="ctr" anchorCtr="1">
            <a:noAutofit/>
          </a:bodyPr>
          <a:lstStyle/>
          <a:p>
            <a:pPr algn="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Action</a:t>
            </a:r>
            <a:endParaRPr lang="en-US" altLang="zh-TW" sz="1000" dirty="0">
              <a:latin typeface="Noto Sans HK" panose="020B0200000000000000" pitchFamily="34" charset="-120"/>
              <a:ea typeface="Noto Sans HK" panose="020B0200000000000000" pitchFamily="34" charset="-120"/>
            </a:endParaRPr>
          </a:p>
        </p:txBody>
      </p:sp>
      <p:cxnSp>
        <p:nvCxnSpPr>
          <p:cNvPr id="229" name="直線單箭頭接點 228">
            <a:extLst>
              <a:ext uri="{FF2B5EF4-FFF2-40B4-BE49-F238E27FC236}">
                <a16:creationId xmlns:a16="http://schemas.microsoft.com/office/drawing/2014/main" id="{7DCFF79B-1787-2F84-3993-6BF66E06D367}"/>
              </a:ext>
            </a:extLst>
          </p:cNvPr>
          <p:cNvCxnSpPr>
            <a:cxnSpLocks/>
            <a:stCxn id="181" idx="3"/>
            <a:endCxn id="92" idx="1"/>
          </p:cNvCxnSpPr>
          <p:nvPr/>
        </p:nvCxnSpPr>
        <p:spPr>
          <a:xfrm flipV="1">
            <a:off x="3117289" y="3384948"/>
            <a:ext cx="2318807" cy="1646"/>
          </a:xfrm>
          <a:prstGeom prst="straightConnector1">
            <a:avLst/>
          </a:prstGeom>
          <a:ln w="15875">
            <a:solidFill>
              <a:schemeClr val="tx1">
                <a:lumMod val="50000"/>
                <a:lumOff val="50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1" name="文字方塊 240">
            <a:extLst>
              <a:ext uri="{FF2B5EF4-FFF2-40B4-BE49-F238E27FC236}">
                <a16:creationId xmlns:a16="http://schemas.microsoft.com/office/drawing/2014/main" id="{2E096F5F-5E59-24B9-A111-67D2FA2A0304}"/>
              </a:ext>
            </a:extLst>
          </p:cNvPr>
          <p:cNvSpPr txBox="1"/>
          <p:nvPr/>
        </p:nvSpPr>
        <p:spPr>
          <a:xfrm>
            <a:off x="8042213" y="3253487"/>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Call</a:t>
            </a:r>
          </a:p>
          <a:p>
            <a:pPr>
              <a:lnSpc>
                <a:spcPts val="1200"/>
              </a:lnSpc>
              <a:buNone/>
            </a:pPr>
            <a:r>
              <a:rPr lang="en-US" altLang="zh-TW" sz="1000" dirty="0">
                <a:ea typeface="Meiryo" panose="020B0604030504040204" pitchFamily="34" charset="-128"/>
              </a:rPr>
              <a:t>Function</a:t>
            </a:r>
          </a:p>
        </p:txBody>
      </p:sp>
      <p:sp>
        <p:nvSpPr>
          <p:cNvPr id="3" name="文字方塊 2">
            <a:extLst>
              <a:ext uri="{FF2B5EF4-FFF2-40B4-BE49-F238E27FC236}">
                <a16:creationId xmlns:a16="http://schemas.microsoft.com/office/drawing/2014/main" id="{718521DB-40D2-C041-B91E-5C1FC39E6CE7}"/>
              </a:ext>
            </a:extLst>
          </p:cNvPr>
          <p:cNvSpPr txBox="1"/>
          <p:nvPr/>
        </p:nvSpPr>
        <p:spPr>
          <a:xfrm>
            <a:off x="2189968" y="1446628"/>
            <a:ext cx="664958" cy="481548"/>
          </a:xfrm>
          <a:prstGeom prst="rect">
            <a:avLst/>
          </a:prstGeom>
          <a:noFill/>
        </p:spPr>
        <p:txBody>
          <a:bodyPr wrap="none" lIns="0" tIns="0" rIns="0" bIns="0" anchor="ctr" anchorCtr="1">
            <a:noAutofit/>
          </a:bodyPr>
          <a:lstStyle/>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Semantic</a:t>
            </a:r>
          </a:p>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Search</a:t>
            </a:r>
          </a:p>
        </p:txBody>
      </p:sp>
    </p:spTree>
    <p:extLst>
      <p:ext uri="{BB962C8B-B14F-4D97-AF65-F5344CB8AC3E}">
        <p14:creationId xmlns:p14="http://schemas.microsoft.com/office/powerpoint/2010/main" val="30092789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18276-D0C6-01E6-A681-1240666C0210}"/>
            </a:ext>
          </a:extLst>
        </p:cNvPr>
        <p:cNvGrpSpPr/>
        <p:nvPr/>
      </p:nvGrpSpPr>
      <p:grpSpPr>
        <a:xfrm>
          <a:off x="0" y="0"/>
          <a:ext cx="0" cy="0"/>
          <a:chOff x="0" y="0"/>
          <a:chExt cx="0" cy="0"/>
        </a:xfrm>
      </p:grpSpPr>
      <p:cxnSp>
        <p:nvCxnSpPr>
          <p:cNvPr id="53" name="直線單箭頭接點 52">
            <a:extLst>
              <a:ext uri="{FF2B5EF4-FFF2-40B4-BE49-F238E27FC236}">
                <a16:creationId xmlns:a16="http://schemas.microsoft.com/office/drawing/2014/main" id="{B2792205-3AA0-7B75-C71F-40708CACFAD1}"/>
              </a:ext>
            </a:extLst>
          </p:cNvPr>
          <p:cNvCxnSpPr>
            <a:cxnSpLocks/>
            <a:stCxn id="43" idx="1"/>
            <a:endCxn id="39" idx="3"/>
          </p:cNvCxnSpPr>
          <p:nvPr/>
        </p:nvCxnSpPr>
        <p:spPr>
          <a:xfrm flipH="1" flipV="1">
            <a:off x="3110981" y="3377389"/>
            <a:ext cx="2324482" cy="7762"/>
          </a:xfrm>
          <a:prstGeom prst="straightConnector1">
            <a:avLst/>
          </a:prstGeom>
          <a:ln w="15875">
            <a:solidFill>
              <a:schemeClr val="tx1">
                <a:lumMod val="50000"/>
                <a:lumOff val="50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B6A8BEEF-A7AC-4877-7FC2-EFF0EC3A6A55}"/>
              </a:ext>
            </a:extLst>
          </p:cNvPr>
          <p:cNvSpPr txBox="1"/>
          <p:nvPr/>
        </p:nvSpPr>
        <p:spPr>
          <a:xfrm>
            <a:off x="3779912" y="1700809"/>
            <a:ext cx="1224934" cy="1800199"/>
          </a:xfrm>
          <a:prstGeom prst="rect">
            <a:avLst/>
          </a:prstGeom>
          <a:solidFill>
            <a:schemeClr val="bg1">
              <a:lumMod val="95000"/>
              <a:alpha val="60000"/>
            </a:schemeClr>
          </a:solidFill>
          <a:ln w="25400">
            <a:solidFill>
              <a:schemeClr val="tx1">
                <a:lumMod val="50000"/>
                <a:lumOff val="50000"/>
                <a:alpha val="40000"/>
              </a:schemeClr>
            </a:solidFill>
          </a:ln>
        </p:spPr>
        <p:txBody>
          <a:bodyPr wrap="none" lIns="0" tIns="0" rIns="0" bIns="36000" anchor="b" anchorCtr="1">
            <a:noAutofit/>
          </a:bodyPr>
          <a:lstStyle/>
          <a:p>
            <a:pPr algn="ctr">
              <a:lnSpc>
                <a:spcPts val="1400"/>
              </a:lnSpc>
              <a:buNone/>
            </a:pPr>
            <a:r>
              <a:rPr lang="en-US" altLang="zh-TW" sz="1400" b="1" u="none" strike="noStrike" dirty="0">
                <a:effectLst/>
              </a:rPr>
              <a:t>AI Agent</a:t>
            </a:r>
          </a:p>
          <a:p>
            <a:pPr algn="ctr">
              <a:lnSpc>
                <a:spcPts val="1400"/>
              </a:lnSpc>
              <a:buNone/>
            </a:pPr>
            <a:r>
              <a:rPr lang="en-US" altLang="zh-TW" sz="1200" dirty="0"/>
              <a:t>(PC/NB)</a:t>
            </a:r>
            <a:endParaRPr lang="en-US" altLang="zh-TW" sz="1200" u="none" strike="noStrike" dirty="0">
              <a:effectLst/>
            </a:endParaRPr>
          </a:p>
        </p:txBody>
      </p:sp>
      <p:sp>
        <p:nvSpPr>
          <p:cNvPr id="2" name="文字方塊 1">
            <a:extLst>
              <a:ext uri="{FF2B5EF4-FFF2-40B4-BE49-F238E27FC236}">
                <a16:creationId xmlns:a16="http://schemas.microsoft.com/office/drawing/2014/main" id="{BAC03CC8-25FD-DD77-EFCD-8368C75E36C3}"/>
              </a:ext>
            </a:extLst>
          </p:cNvPr>
          <p:cNvSpPr txBox="1"/>
          <p:nvPr/>
        </p:nvSpPr>
        <p:spPr>
          <a:xfrm>
            <a:off x="213023" y="5048016"/>
            <a:ext cx="8751465"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AI Agent Skills</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Autonomous Task Execution:</a:t>
            </a:r>
            <a:r>
              <a:rPr lang="en-US" altLang="zh-TW" sz="1600" dirty="0"/>
              <a:t> Empowers AI to move beyond text and directly trigger actions.</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Secure Guardrail Enforcement</a:t>
            </a:r>
            <a:r>
              <a:rPr lang="en-US" altLang="zh-TW" sz="1600" b="0" u="none" strike="noStrike" dirty="0">
                <a:effectLst/>
              </a:rPr>
              <a:t>:</a:t>
            </a:r>
            <a:r>
              <a:rPr lang="zh-TW" altLang="en-US" sz="1600" b="0" u="none" strike="noStrike" dirty="0">
                <a:effectLst/>
              </a:rPr>
              <a:t> </a:t>
            </a:r>
            <a:r>
              <a:rPr lang="en-US" altLang="zh-TW" sz="1600" dirty="0"/>
              <a:t>Restricts AI behavior within save boundaries</a:t>
            </a:r>
            <a:r>
              <a:rPr lang="en-US" altLang="zh-TW" sz="1600" b="0" u="none" strike="noStrike" dirty="0">
                <a:effectLst/>
              </a:rPr>
              <a:t>.</a:t>
            </a:r>
          </a:p>
        </p:txBody>
      </p:sp>
      <p:grpSp>
        <p:nvGrpSpPr>
          <p:cNvPr id="19" name="群組 18">
            <a:extLst>
              <a:ext uri="{FF2B5EF4-FFF2-40B4-BE49-F238E27FC236}">
                <a16:creationId xmlns:a16="http://schemas.microsoft.com/office/drawing/2014/main" id="{A240268A-08D1-72C5-DEDE-862B010C1800}"/>
              </a:ext>
            </a:extLst>
          </p:cNvPr>
          <p:cNvGrpSpPr/>
          <p:nvPr/>
        </p:nvGrpSpPr>
        <p:grpSpPr>
          <a:xfrm>
            <a:off x="611561" y="1608119"/>
            <a:ext cx="1643158" cy="994885"/>
            <a:chOff x="611560" y="1474120"/>
            <a:chExt cx="1764115" cy="1132167"/>
          </a:xfrm>
        </p:grpSpPr>
        <p:sp>
          <p:nvSpPr>
            <p:cNvPr id="20" name="雲朵形 19">
              <a:extLst>
                <a:ext uri="{FF2B5EF4-FFF2-40B4-BE49-F238E27FC236}">
                  <a16:creationId xmlns:a16="http://schemas.microsoft.com/office/drawing/2014/main" id="{B443BC11-6CD8-93A3-9CAD-ED23FA535DD1}"/>
                </a:ext>
              </a:extLst>
            </p:cNvPr>
            <p:cNvSpPr/>
            <p:nvPr/>
          </p:nvSpPr>
          <p:spPr>
            <a:xfrm>
              <a:off x="829914" y="1474120"/>
              <a:ext cx="1545761" cy="1132167"/>
            </a:xfrm>
            <a:prstGeom prst="cloud">
              <a:avLst/>
            </a:prstGeom>
            <a:solidFill>
              <a:schemeClr val="accent1">
                <a:lumMod val="20000"/>
                <a:lumOff val="80000"/>
                <a:alpha val="70000"/>
              </a:schemeClr>
            </a:solidFill>
            <a:ln w="508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dirty="0">
                <a:solidFill>
                  <a:schemeClr val="tx2"/>
                </a:solidFill>
              </a:endParaRPr>
            </a:p>
          </p:txBody>
        </p:sp>
        <p:sp>
          <p:nvSpPr>
            <p:cNvPr id="21" name="文字方塊 20">
              <a:extLst>
                <a:ext uri="{FF2B5EF4-FFF2-40B4-BE49-F238E27FC236}">
                  <a16:creationId xmlns:a16="http://schemas.microsoft.com/office/drawing/2014/main" id="{CDC53BB1-745C-28C9-2C0E-D684A1D58F55}"/>
                </a:ext>
              </a:extLst>
            </p:cNvPr>
            <p:cNvSpPr txBox="1"/>
            <p:nvPr/>
          </p:nvSpPr>
          <p:spPr>
            <a:xfrm>
              <a:off x="1085518" y="1657807"/>
              <a:ext cx="863628" cy="486484"/>
            </a:xfrm>
            <a:prstGeom prst="rect">
              <a:avLst/>
            </a:prstGeom>
            <a:noFill/>
            <a:ln w="25400">
              <a:noFill/>
            </a:ln>
          </p:spPr>
          <p:txBody>
            <a:bodyPr wrap="none" lIns="504000" tIns="0" rIns="0" bIns="36000" anchor="b" anchorCtr="1">
              <a:noAutofit/>
            </a:bodyPr>
            <a:lstStyle/>
            <a:p>
              <a:pPr>
                <a:lnSpc>
                  <a:spcPts val="1400"/>
                </a:lnSpc>
                <a:buNone/>
              </a:pPr>
              <a:r>
                <a:rPr lang="en-US" altLang="zh-TW" sz="1400" b="1" dirty="0"/>
                <a:t>LLM</a:t>
              </a:r>
              <a:r>
                <a:rPr lang="en-US" altLang="zh-TW" sz="1200" b="1" dirty="0"/>
                <a:t> </a:t>
              </a:r>
            </a:p>
            <a:p>
              <a:pPr>
                <a:lnSpc>
                  <a:spcPts val="1400"/>
                </a:lnSpc>
                <a:buNone/>
              </a:pPr>
              <a:r>
                <a:rPr lang="en-US" altLang="zh-TW" sz="1200" b="1" dirty="0"/>
                <a:t>Model</a:t>
              </a:r>
              <a:endParaRPr lang="en-US" altLang="zh-TW" sz="1400" b="1" dirty="0"/>
            </a:p>
          </p:txBody>
        </p:sp>
        <p:sp>
          <p:nvSpPr>
            <p:cNvPr id="22" name="矩形: 圓角 21">
              <a:extLst>
                <a:ext uri="{FF2B5EF4-FFF2-40B4-BE49-F238E27FC236}">
                  <a16:creationId xmlns:a16="http://schemas.microsoft.com/office/drawing/2014/main" id="{EDF613AB-BC81-FE68-9EB4-CB6A8217F91D}"/>
                </a:ext>
              </a:extLst>
            </p:cNvPr>
            <p:cNvSpPr/>
            <p:nvPr/>
          </p:nvSpPr>
          <p:spPr>
            <a:xfrm>
              <a:off x="973930" y="2176134"/>
              <a:ext cx="1098050" cy="316762"/>
            </a:xfrm>
            <a:prstGeom prst="roundRect">
              <a:avLst>
                <a:gd name="adj" fmla="val 8706"/>
              </a:avLst>
            </a:prstGeom>
            <a:solidFill>
              <a:schemeClr val="tx1">
                <a:lumMod val="65000"/>
                <a:lumOff val="3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Model Engine</a:t>
              </a:r>
              <a:endParaRPr lang="zh-TW" altLang="en-US" sz="1200" b="1" dirty="0">
                <a:solidFill>
                  <a:schemeClr val="bg1"/>
                </a:solidFill>
              </a:endParaRPr>
            </a:p>
          </p:txBody>
        </p:sp>
        <p:pic>
          <p:nvPicPr>
            <p:cNvPr id="23" name="圖片 22">
              <a:extLst>
                <a:ext uri="{FF2B5EF4-FFF2-40B4-BE49-F238E27FC236}">
                  <a16:creationId xmlns:a16="http://schemas.microsoft.com/office/drawing/2014/main" id="{1E5A1D11-8016-FA22-5DDF-98EDEFD495C7}"/>
                </a:ext>
              </a:extLst>
            </p:cNvPr>
            <p:cNvPicPr>
              <a:picLocks noChangeAspect="1"/>
            </p:cNvPicPr>
            <p:nvPr/>
          </p:nvPicPr>
          <p:blipFill>
            <a:blip r:embed="rId3"/>
            <a:stretch>
              <a:fillRect/>
            </a:stretch>
          </p:blipFill>
          <p:spPr>
            <a:xfrm>
              <a:off x="611560" y="1916832"/>
              <a:ext cx="434378" cy="426757"/>
            </a:xfrm>
            <a:prstGeom prst="rect">
              <a:avLst/>
            </a:prstGeom>
            <a:effectLst>
              <a:glow rad="63500">
                <a:schemeClr val="accent5">
                  <a:lumMod val="20000"/>
                  <a:lumOff val="80000"/>
                  <a:alpha val="40000"/>
                </a:schemeClr>
              </a:glow>
              <a:softEdge rad="50800"/>
            </a:effectLst>
          </p:spPr>
        </p:pic>
        <p:pic>
          <p:nvPicPr>
            <p:cNvPr id="24" name="圖形 23" descr="原子 以實心填滿">
              <a:extLst>
                <a:ext uri="{FF2B5EF4-FFF2-40B4-BE49-F238E27FC236}">
                  <a16:creationId xmlns:a16="http://schemas.microsoft.com/office/drawing/2014/main" id="{45DF5554-C31D-8B87-5ED6-038581B276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1736" y="1651945"/>
              <a:ext cx="497527" cy="497527"/>
            </a:xfrm>
            <a:prstGeom prst="rect">
              <a:avLst/>
            </a:prstGeom>
          </p:spPr>
        </p:pic>
      </p:grpSp>
      <p:sp>
        <p:nvSpPr>
          <p:cNvPr id="28" name="標題 1">
            <a:extLst>
              <a:ext uri="{FF2B5EF4-FFF2-40B4-BE49-F238E27FC236}">
                <a16:creationId xmlns:a16="http://schemas.microsoft.com/office/drawing/2014/main" id="{D3E7AE70-36F7-0237-B3F5-AF84E381DE6B}"/>
              </a:ext>
            </a:extLst>
          </p:cNvPr>
          <p:cNvSpPr txBox="1">
            <a:spLocks/>
          </p:cNvSpPr>
          <p:nvPr/>
        </p:nvSpPr>
        <p:spPr>
          <a:xfrm>
            <a:off x="179512" y="116632"/>
            <a:ext cx="8784976"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Agent Skills</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Skills are dynamic, on-demand SOPs that guide agents using tools.</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1" name="文字方塊 30">
            <a:extLst>
              <a:ext uri="{FF2B5EF4-FFF2-40B4-BE49-F238E27FC236}">
                <a16:creationId xmlns:a16="http://schemas.microsoft.com/office/drawing/2014/main" id="{46C34D94-78AE-3E9A-A03A-2EAA9BA28BBD}"/>
              </a:ext>
            </a:extLst>
          </p:cNvPr>
          <p:cNvSpPr txBox="1"/>
          <p:nvPr/>
        </p:nvSpPr>
        <p:spPr>
          <a:xfrm>
            <a:off x="3983838" y="4484209"/>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32" name="直線單箭頭接點 31">
            <a:extLst>
              <a:ext uri="{FF2B5EF4-FFF2-40B4-BE49-F238E27FC236}">
                <a16:creationId xmlns:a16="http://schemas.microsoft.com/office/drawing/2014/main" id="{DCF40326-B2CE-D08E-6915-55182B1D1102}"/>
              </a:ext>
            </a:extLst>
          </p:cNvPr>
          <p:cNvCxnSpPr>
            <a:cxnSpLocks/>
            <a:stCxn id="31" idx="0"/>
            <a:endCxn id="29" idx="2"/>
          </p:cNvCxnSpPr>
          <p:nvPr/>
        </p:nvCxnSpPr>
        <p:spPr>
          <a:xfrm flipH="1" flipV="1">
            <a:off x="4392379" y="3501008"/>
            <a:ext cx="2358" cy="983201"/>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圓角 42">
            <a:extLst>
              <a:ext uri="{FF2B5EF4-FFF2-40B4-BE49-F238E27FC236}">
                <a16:creationId xmlns:a16="http://schemas.microsoft.com/office/drawing/2014/main" id="{E59D2E4D-FED7-E499-36FC-4B36CAA95705}"/>
              </a:ext>
            </a:extLst>
          </p:cNvPr>
          <p:cNvSpPr/>
          <p:nvPr/>
        </p:nvSpPr>
        <p:spPr>
          <a:xfrm>
            <a:off x="5435463" y="3140968"/>
            <a:ext cx="504689" cy="488365"/>
          </a:xfrm>
          <a:prstGeom prst="roundRect">
            <a:avLst>
              <a:gd name="adj" fmla="val 8706"/>
            </a:avLst>
          </a:prstGeom>
          <a:solidFill>
            <a:schemeClr val="bg1">
              <a:lumMod val="95000"/>
            </a:schemeClr>
          </a:solidFill>
          <a:ln w="19050">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50000"/>
                  </a:schemeClr>
                </a:solidFill>
              </a:rPr>
              <a:t>Skill</a:t>
            </a:r>
          </a:p>
          <a:p>
            <a:pPr algn="ctr"/>
            <a:r>
              <a:rPr lang="en-US" altLang="zh-TW" sz="1200" b="1" dirty="0">
                <a:solidFill>
                  <a:schemeClr val="accent4">
                    <a:lumMod val="50000"/>
                  </a:schemeClr>
                </a:solidFill>
              </a:rPr>
              <a:t>Scripts</a:t>
            </a:r>
            <a:endParaRPr lang="zh-TW" altLang="en-US" sz="1200" b="1" dirty="0">
              <a:solidFill>
                <a:schemeClr val="accent4">
                  <a:lumMod val="50000"/>
                </a:schemeClr>
              </a:solidFill>
            </a:endParaRPr>
          </a:p>
        </p:txBody>
      </p:sp>
      <p:pic>
        <p:nvPicPr>
          <p:cNvPr id="46" name="圖形 45" descr="卷軸 以實心填滿">
            <a:extLst>
              <a:ext uri="{FF2B5EF4-FFF2-40B4-BE49-F238E27FC236}">
                <a16:creationId xmlns:a16="http://schemas.microsoft.com/office/drawing/2014/main" id="{57D7CD8C-80CC-F36D-8780-7AF090203F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90987" y="3231323"/>
            <a:ext cx="379782" cy="354089"/>
          </a:xfrm>
          <a:prstGeom prst="rect">
            <a:avLst/>
          </a:prstGeom>
        </p:spPr>
      </p:pic>
      <p:sp>
        <p:nvSpPr>
          <p:cNvPr id="14" name="語音泡泡: 圓角矩形 13">
            <a:extLst>
              <a:ext uri="{FF2B5EF4-FFF2-40B4-BE49-F238E27FC236}">
                <a16:creationId xmlns:a16="http://schemas.microsoft.com/office/drawing/2014/main" id="{CB345992-DE5F-A7FB-7DF7-6DACD25830F6}"/>
              </a:ext>
            </a:extLst>
          </p:cNvPr>
          <p:cNvSpPr/>
          <p:nvPr/>
        </p:nvSpPr>
        <p:spPr>
          <a:xfrm>
            <a:off x="3233339" y="1593282"/>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Search TSMC.</a:t>
            </a:r>
          </a:p>
        </p:txBody>
      </p:sp>
      <p:sp>
        <p:nvSpPr>
          <p:cNvPr id="34" name="語音泡泡: 圓角矩形 33">
            <a:extLst>
              <a:ext uri="{FF2B5EF4-FFF2-40B4-BE49-F238E27FC236}">
                <a16:creationId xmlns:a16="http://schemas.microsoft.com/office/drawing/2014/main" id="{C58512F8-827C-6573-B915-D87B2B70F5B7}"/>
              </a:ext>
            </a:extLst>
          </p:cNvPr>
          <p:cNvSpPr/>
          <p:nvPr/>
        </p:nvSpPr>
        <p:spPr>
          <a:xfrm>
            <a:off x="2878380" y="3778030"/>
            <a:ext cx="1224934" cy="515066"/>
          </a:xfrm>
          <a:prstGeom prst="wedgeRoundRectCallout">
            <a:avLst>
              <a:gd name="adj1" fmla="val 60857"/>
              <a:gd name="adj2" fmla="val 47447"/>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 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grpSp>
        <p:nvGrpSpPr>
          <p:cNvPr id="54" name="群組 53">
            <a:extLst>
              <a:ext uri="{FF2B5EF4-FFF2-40B4-BE49-F238E27FC236}">
                <a16:creationId xmlns:a16="http://schemas.microsoft.com/office/drawing/2014/main" id="{E177492D-9542-526B-840B-EC616526CF71}"/>
              </a:ext>
            </a:extLst>
          </p:cNvPr>
          <p:cNvGrpSpPr/>
          <p:nvPr/>
        </p:nvGrpSpPr>
        <p:grpSpPr>
          <a:xfrm>
            <a:off x="1996959" y="3159987"/>
            <a:ext cx="1114022" cy="701061"/>
            <a:chOff x="2881914" y="3789040"/>
            <a:chExt cx="1114022" cy="701061"/>
          </a:xfrm>
        </p:grpSpPr>
        <p:sp>
          <p:nvSpPr>
            <p:cNvPr id="39" name="語音泡泡: 圓角矩形 38">
              <a:extLst>
                <a:ext uri="{FF2B5EF4-FFF2-40B4-BE49-F238E27FC236}">
                  <a16:creationId xmlns:a16="http://schemas.microsoft.com/office/drawing/2014/main" id="{2804A24D-B98B-EC9F-CB2F-3D51D45D538F}"/>
                </a:ext>
              </a:extLst>
            </p:cNvPr>
            <p:cNvSpPr/>
            <p:nvPr/>
          </p:nvSpPr>
          <p:spPr>
            <a:xfrm>
              <a:off x="2881914" y="3789040"/>
              <a:ext cx="1114022" cy="434804"/>
            </a:xfrm>
            <a:prstGeom prst="wedgeRoundRectCallout">
              <a:avLst>
                <a:gd name="adj1" fmla="val -61512"/>
                <a:gd name="adj2" fmla="val -50054"/>
                <a:gd name="adj3" fmla="val 16667"/>
              </a:avLst>
            </a:prstGeom>
            <a:solidFill>
              <a:schemeClr val="bg1">
                <a:alpha val="8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Here you </a:t>
              </a: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are.</a:t>
              </a:r>
            </a:p>
          </p:txBody>
        </p:sp>
        <p:pic>
          <p:nvPicPr>
            <p:cNvPr id="41" name="圖形 40" descr="夾紙板 (徽章) 以實心填滿">
              <a:extLst>
                <a:ext uri="{FF2B5EF4-FFF2-40B4-BE49-F238E27FC236}">
                  <a16:creationId xmlns:a16="http://schemas.microsoft.com/office/drawing/2014/main" id="{A2807007-7BAB-C046-ECEA-75F84A520CC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52699" y="4096194"/>
              <a:ext cx="377960" cy="393907"/>
            </a:xfrm>
            <a:prstGeom prst="rect">
              <a:avLst/>
            </a:prstGeom>
            <a:effectLst>
              <a:glow rad="127000">
                <a:schemeClr val="accent4">
                  <a:lumMod val="20000"/>
                  <a:lumOff val="80000"/>
                </a:schemeClr>
              </a:glow>
            </a:effectLst>
          </p:spPr>
        </p:pic>
      </p:grpSp>
      <p:sp>
        <p:nvSpPr>
          <p:cNvPr id="59" name="語音泡泡: 圓角矩形 58">
            <a:extLst>
              <a:ext uri="{FF2B5EF4-FFF2-40B4-BE49-F238E27FC236}">
                <a16:creationId xmlns:a16="http://schemas.microsoft.com/office/drawing/2014/main" id="{D09692F8-BE29-99AB-B0D5-3772513753A3}"/>
              </a:ext>
            </a:extLst>
          </p:cNvPr>
          <p:cNvSpPr/>
          <p:nvPr/>
        </p:nvSpPr>
        <p:spPr>
          <a:xfrm>
            <a:off x="3233339" y="1910511"/>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What is TSMC Trading at?</a:t>
            </a:r>
          </a:p>
        </p:txBody>
      </p:sp>
      <p:sp>
        <p:nvSpPr>
          <p:cNvPr id="62" name="語音泡泡: 圓角矩形 61">
            <a:extLst>
              <a:ext uri="{FF2B5EF4-FFF2-40B4-BE49-F238E27FC236}">
                <a16:creationId xmlns:a16="http://schemas.microsoft.com/office/drawing/2014/main" id="{D93367F2-3AAC-6546-5F9A-45AA23F38EBD}"/>
              </a:ext>
            </a:extLst>
          </p:cNvPr>
          <p:cNvSpPr/>
          <p:nvPr/>
        </p:nvSpPr>
        <p:spPr>
          <a:xfrm>
            <a:off x="3233339" y="2240676"/>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Generate the report.</a:t>
            </a:r>
          </a:p>
        </p:txBody>
      </p:sp>
      <p:cxnSp>
        <p:nvCxnSpPr>
          <p:cNvPr id="63" name="接點: 弧形 62">
            <a:extLst>
              <a:ext uri="{FF2B5EF4-FFF2-40B4-BE49-F238E27FC236}">
                <a16:creationId xmlns:a16="http://schemas.microsoft.com/office/drawing/2014/main" id="{DBE7CEED-496C-7C7F-E2E1-F8C58EFE3043}"/>
              </a:ext>
            </a:extLst>
          </p:cNvPr>
          <p:cNvCxnSpPr>
            <a:cxnSpLocks/>
            <a:stCxn id="41" idx="2"/>
            <a:endCxn id="34" idx="1"/>
          </p:cNvCxnSpPr>
          <p:nvPr/>
        </p:nvCxnSpPr>
        <p:spPr>
          <a:xfrm rot="16200000" flipH="1">
            <a:off x="2580295" y="3737477"/>
            <a:ext cx="174515" cy="421656"/>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文字方塊 67">
            <a:extLst>
              <a:ext uri="{FF2B5EF4-FFF2-40B4-BE49-F238E27FC236}">
                <a16:creationId xmlns:a16="http://schemas.microsoft.com/office/drawing/2014/main" id="{6EEB10B3-3F35-4FBA-B436-06CC04D539A1}"/>
              </a:ext>
            </a:extLst>
          </p:cNvPr>
          <p:cNvSpPr txBox="1"/>
          <p:nvPr/>
        </p:nvSpPr>
        <p:spPr>
          <a:xfrm>
            <a:off x="2189968" y="1446628"/>
            <a:ext cx="664958" cy="481548"/>
          </a:xfrm>
          <a:prstGeom prst="rect">
            <a:avLst/>
          </a:prstGeom>
          <a:noFill/>
        </p:spPr>
        <p:txBody>
          <a:bodyPr wrap="none" lIns="0" tIns="0" rIns="0" bIns="0" anchor="ctr" anchorCtr="1">
            <a:noAutofit/>
          </a:bodyPr>
          <a:lstStyle/>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Semantic</a:t>
            </a:r>
          </a:p>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Search</a:t>
            </a:r>
          </a:p>
        </p:txBody>
      </p:sp>
      <p:cxnSp>
        <p:nvCxnSpPr>
          <p:cNvPr id="69" name="接點: 肘形 68">
            <a:extLst>
              <a:ext uri="{FF2B5EF4-FFF2-40B4-BE49-F238E27FC236}">
                <a16:creationId xmlns:a16="http://schemas.microsoft.com/office/drawing/2014/main" id="{5110B8D3-3930-64CF-F95F-B0C3AE80881B}"/>
              </a:ext>
            </a:extLst>
          </p:cNvPr>
          <p:cNvCxnSpPr>
            <a:cxnSpLocks/>
            <a:stCxn id="62" idx="3"/>
            <a:endCxn id="43" idx="0"/>
          </p:cNvCxnSpPr>
          <p:nvPr/>
        </p:nvCxnSpPr>
        <p:spPr>
          <a:xfrm>
            <a:off x="5249563" y="2366786"/>
            <a:ext cx="438245" cy="774182"/>
          </a:xfrm>
          <a:prstGeom prst="bentConnector2">
            <a:avLst/>
          </a:prstGeom>
          <a:ln w="15875">
            <a:solidFill>
              <a:schemeClr val="accent4"/>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76" name="圖形 75" descr="科學思想 以實心填滿">
            <a:extLst>
              <a:ext uri="{FF2B5EF4-FFF2-40B4-BE49-F238E27FC236}">
                <a16:creationId xmlns:a16="http://schemas.microsoft.com/office/drawing/2014/main" id="{174E6B0F-BB8A-784D-193F-AA6DE0CFE9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04827" y="2517579"/>
            <a:ext cx="623389" cy="623389"/>
          </a:xfrm>
          <a:prstGeom prst="rect">
            <a:avLst/>
          </a:prstGeom>
          <a:effectLst>
            <a:glow rad="50800">
              <a:schemeClr val="accent4">
                <a:lumMod val="20000"/>
                <a:lumOff val="80000"/>
                <a:alpha val="40000"/>
              </a:schemeClr>
            </a:glow>
            <a:softEdge rad="0"/>
          </a:effectLst>
        </p:spPr>
      </p:pic>
    </p:spTree>
    <p:extLst>
      <p:ext uri="{BB962C8B-B14F-4D97-AF65-F5344CB8AC3E}">
        <p14:creationId xmlns:p14="http://schemas.microsoft.com/office/powerpoint/2010/main" val="5928157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0F2CF-11A7-726A-D27F-288DAEACC371}"/>
            </a:ext>
          </a:extLst>
        </p:cNvPr>
        <p:cNvGrpSpPr/>
        <p:nvPr/>
      </p:nvGrpSpPr>
      <p:grpSpPr>
        <a:xfrm>
          <a:off x="0" y="0"/>
          <a:ext cx="0" cy="0"/>
          <a:chOff x="0" y="0"/>
          <a:chExt cx="0" cy="0"/>
        </a:xfrm>
      </p:grpSpPr>
      <p:sp>
        <p:nvSpPr>
          <p:cNvPr id="4" name="矩形: 圓角 3">
            <a:extLst>
              <a:ext uri="{FF2B5EF4-FFF2-40B4-BE49-F238E27FC236}">
                <a16:creationId xmlns:a16="http://schemas.microsoft.com/office/drawing/2014/main" id="{9182C9CB-190C-B5DD-2D63-BF54E7B24615}"/>
              </a:ext>
            </a:extLst>
          </p:cNvPr>
          <p:cNvSpPr/>
          <p:nvPr/>
        </p:nvSpPr>
        <p:spPr>
          <a:xfrm>
            <a:off x="3779912" y="2492897"/>
            <a:ext cx="1224934" cy="1800199"/>
          </a:xfrm>
          <a:prstGeom prst="roundRect">
            <a:avLst>
              <a:gd name="adj" fmla="val 8706"/>
            </a:avLst>
          </a:prstGeom>
          <a:solidFill>
            <a:schemeClr val="accent4">
              <a:lumMod val="5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LLM Wiki</a:t>
            </a:r>
          </a:p>
          <a:p>
            <a:pPr marL="0" marR="0" lvl="0" indent="0" algn="ctr" defTabSz="914400" rtl="0" eaLnBrk="1" fontAlgn="auto" latinLnBrk="0" hangingPunct="1">
              <a:lnSpc>
                <a:spcPts val="1400"/>
              </a:lnSpc>
              <a:spcBef>
                <a:spcPts val="0"/>
              </a:spcBef>
              <a:spcAft>
                <a:spcPts val="0"/>
              </a:spcAft>
              <a:buClrTx/>
              <a:buSzTx/>
              <a:buFontTx/>
              <a:buNone/>
              <a:tabLst/>
              <a:defRPr/>
            </a:pPr>
            <a:endPar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endParaRPr>
          </a:p>
        </p:txBody>
      </p:sp>
      <p:sp>
        <p:nvSpPr>
          <p:cNvPr id="29" name="文字方塊 28">
            <a:extLst>
              <a:ext uri="{FF2B5EF4-FFF2-40B4-BE49-F238E27FC236}">
                <a16:creationId xmlns:a16="http://schemas.microsoft.com/office/drawing/2014/main" id="{F92D9B42-3B09-1CD3-3E9A-F0CD5AE15C1A}"/>
              </a:ext>
            </a:extLst>
          </p:cNvPr>
          <p:cNvSpPr txBox="1"/>
          <p:nvPr/>
        </p:nvSpPr>
        <p:spPr>
          <a:xfrm>
            <a:off x="512390" y="2445570"/>
            <a:ext cx="1224934" cy="880037"/>
          </a:xfrm>
          <a:prstGeom prst="rect">
            <a:avLst/>
          </a:prstGeom>
          <a:solidFill>
            <a:schemeClr val="bg1">
              <a:lumMod val="95000"/>
            </a:schemeClr>
          </a:solidFill>
          <a:ln w="25400">
            <a:solidFill>
              <a:schemeClr val="tx1">
                <a:lumMod val="50000"/>
                <a:lumOff val="50000"/>
              </a:schemeClr>
            </a:solidFill>
          </a:ln>
        </p:spPr>
        <p:txBody>
          <a:bodyPr wrap="none" lIns="0" tIns="0" rIns="0" bIns="0" anchor="b" anchorCtr="1">
            <a:noAutofit/>
          </a:bodyPr>
          <a:lstStyle/>
          <a:p>
            <a:pPr algn="ctr">
              <a:lnSpc>
                <a:spcPts val="1400"/>
              </a:lnSpc>
            </a:pPr>
            <a:endParaRPr lang="en-US" altLang="zh-TW" sz="1200" b="1" dirty="0"/>
          </a:p>
          <a:p>
            <a:pPr algn="ctr">
              <a:lnSpc>
                <a:spcPts val="1400"/>
              </a:lnSpc>
            </a:pPr>
            <a:endParaRPr lang="en-US" altLang="zh-TW" sz="1200" b="1" dirty="0"/>
          </a:p>
          <a:p>
            <a:pPr algn="ctr">
              <a:lnSpc>
                <a:spcPts val="1400"/>
              </a:lnSpc>
            </a:pPr>
            <a:endParaRPr lang="en-US" altLang="zh-TW" sz="1200" b="1" dirty="0"/>
          </a:p>
          <a:p>
            <a:pPr algn="ctr">
              <a:lnSpc>
                <a:spcPts val="1400"/>
              </a:lnSpc>
            </a:pPr>
            <a:r>
              <a:rPr lang="en-US" altLang="zh-TW" sz="1400" b="1" dirty="0"/>
              <a:t>AI Agent</a:t>
            </a:r>
          </a:p>
        </p:txBody>
      </p:sp>
      <p:sp>
        <p:nvSpPr>
          <p:cNvPr id="2" name="文字方塊 1">
            <a:extLst>
              <a:ext uri="{FF2B5EF4-FFF2-40B4-BE49-F238E27FC236}">
                <a16:creationId xmlns:a16="http://schemas.microsoft.com/office/drawing/2014/main" id="{C350211F-8F9D-C9F9-1FDE-5B97D695C1C8}"/>
              </a:ext>
            </a:extLst>
          </p:cNvPr>
          <p:cNvSpPr txBox="1"/>
          <p:nvPr/>
        </p:nvSpPr>
        <p:spPr>
          <a:xfrm>
            <a:off x="213023" y="5048016"/>
            <a:ext cx="6807249"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Human-in-the-Loop Framework</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Ingest(raw)</a:t>
            </a:r>
            <a:r>
              <a:rPr lang="en-US" altLang="zh-TW" sz="1200" b="1" dirty="0">
                <a:latin typeface="Noto Sans HK" panose="020B0200000000000000" pitchFamily="34" charset="-120"/>
                <a:ea typeface="Noto Sans HK" panose="020B0200000000000000" pitchFamily="34" charset="-120"/>
              </a:rPr>
              <a:t> </a:t>
            </a:r>
            <a:r>
              <a:rPr lang="en-US" altLang="zh-TW" sz="12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lang="en-US" altLang="zh-TW" sz="1600" b="1" dirty="0"/>
              <a:t> Instruct(C/Q/L)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6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Review</a:t>
            </a:r>
            <a:r>
              <a:rPr kumimoji="0" lang="en-US" altLang="zh-TW" sz="16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6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Setup(schema)</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GitHub: </a:t>
            </a:r>
            <a:r>
              <a:rPr lang="en-US" altLang="zh-TW" sz="1600" u="sng" dirty="0">
                <a:solidFill>
                  <a:schemeClr val="accent5">
                    <a:lumMod val="50000"/>
                  </a:schemeClr>
                </a:solidFill>
              </a:rPr>
              <a:t>nashsu/llm_wiki</a:t>
            </a:r>
            <a:r>
              <a:rPr lang="en-US" altLang="zh-TW" sz="1600" dirty="0"/>
              <a:t>, </a:t>
            </a:r>
            <a:r>
              <a:rPr lang="en-US" altLang="zh-TW" sz="1600" u="sng" strike="noStrike" dirty="0">
                <a:solidFill>
                  <a:schemeClr val="accent5">
                    <a:lumMod val="50000"/>
                  </a:schemeClr>
                </a:solidFill>
                <a:effectLst/>
              </a:rPr>
              <a:t>atomicstrata/llm-wiki-compiler</a:t>
            </a:r>
            <a:r>
              <a:rPr lang="en-US" altLang="zh-TW" sz="1600" u="none" strike="noStrike" dirty="0">
                <a:effectLst/>
              </a:rPr>
              <a:t>, </a:t>
            </a:r>
            <a:r>
              <a:rPr lang="en-US" altLang="zh-TW" sz="1600" u="sng" dirty="0">
                <a:solidFill>
                  <a:schemeClr val="accent5">
                    <a:lumMod val="50000"/>
                  </a:schemeClr>
                </a:solidFill>
              </a:rPr>
              <a:t>Knowledge-vault</a:t>
            </a:r>
            <a:r>
              <a:rPr lang="en-US" altLang="zh-TW" sz="1600" dirty="0">
                <a:solidFill>
                  <a:schemeClr val="accent5">
                    <a:lumMod val="50000"/>
                  </a:schemeClr>
                </a:solidFill>
              </a:rPr>
              <a:t>.</a:t>
            </a:r>
          </a:p>
        </p:txBody>
      </p:sp>
      <p:sp>
        <p:nvSpPr>
          <p:cNvPr id="28" name="標題 1">
            <a:extLst>
              <a:ext uri="{FF2B5EF4-FFF2-40B4-BE49-F238E27FC236}">
                <a16:creationId xmlns:a16="http://schemas.microsoft.com/office/drawing/2014/main" id="{9F314D84-1AAB-B228-251F-99F15D589F7E}"/>
              </a:ext>
            </a:extLst>
          </p:cNvPr>
          <p:cNvSpPr txBox="1">
            <a:spLocks/>
          </p:cNvSpPr>
          <p:nvPr/>
        </p:nvSpPr>
        <p:spPr>
          <a:xfrm>
            <a:off x="179512" y="116632"/>
            <a:ext cx="8784976"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LLM</a:t>
            </a:r>
            <a:r>
              <a:rPr kumimoji="0" lang="zh-TW" altLang="en-US"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 </a:t>
            </a: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Wiki</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LLMs</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eliminate the boring bookkeeping of knowledge management, ensuring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wikis</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grow effortlessly.</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1" name="文字方塊 30">
            <a:extLst>
              <a:ext uri="{FF2B5EF4-FFF2-40B4-BE49-F238E27FC236}">
                <a16:creationId xmlns:a16="http://schemas.microsoft.com/office/drawing/2014/main" id="{92738DE3-C538-771F-1E0C-B8B7C3311206}"/>
              </a:ext>
            </a:extLst>
          </p:cNvPr>
          <p:cNvSpPr txBox="1"/>
          <p:nvPr/>
        </p:nvSpPr>
        <p:spPr>
          <a:xfrm>
            <a:off x="713958" y="3640052"/>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sp>
        <p:nvSpPr>
          <p:cNvPr id="105" name="矩形: 圓角 104">
            <a:extLst>
              <a:ext uri="{FF2B5EF4-FFF2-40B4-BE49-F238E27FC236}">
                <a16:creationId xmlns:a16="http://schemas.microsoft.com/office/drawing/2014/main" id="{64F7827C-F186-7D7D-4FA3-D9FA4AE1A51F}"/>
              </a:ext>
            </a:extLst>
          </p:cNvPr>
          <p:cNvSpPr/>
          <p:nvPr/>
        </p:nvSpPr>
        <p:spPr>
          <a:xfrm>
            <a:off x="1475023" y="3148813"/>
            <a:ext cx="504689" cy="488365"/>
          </a:xfrm>
          <a:prstGeom prst="roundRect">
            <a:avLst>
              <a:gd name="adj" fmla="val 8706"/>
            </a:avLst>
          </a:prstGeom>
          <a:gradFill flip="none" rotWithShape="1">
            <a:gsLst>
              <a:gs pos="88000">
                <a:srgbClr val="D7D2DB"/>
              </a:gs>
              <a:gs pos="0">
                <a:schemeClr val="accent3">
                  <a:lumMod val="40000"/>
                  <a:lumOff val="60000"/>
                </a:schemeClr>
              </a:gs>
              <a:gs pos="100000">
                <a:schemeClr val="accent4">
                  <a:lumMod val="60000"/>
                  <a:lumOff val="40000"/>
                </a:schemeClr>
              </a:gs>
            </a:gsLst>
            <a:path path="circle">
              <a:fillToRect l="100000" t="100000"/>
            </a:path>
            <a:tileRect r="-100000" b="-100000"/>
          </a:gra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graphicFrame>
        <p:nvGraphicFramePr>
          <p:cNvPr id="35" name="表格 34">
            <a:extLst>
              <a:ext uri="{FF2B5EF4-FFF2-40B4-BE49-F238E27FC236}">
                <a16:creationId xmlns:a16="http://schemas.microsoft.com/office/drawing/2014/main" id="{407DB130-C749-D9E8-D70D-CEB8209A0ACE}"/>
              </a:ext>
            </a:extLst>
          </p:cNvPr>
          <p:cNvGraphicFramePr>
            <a:graphicFrameLocks noGrp="1"/>
          </p:cNvGraphicFramePr>
          <p:nvPr/>
        </p:nvGraphicFramePr>
        <p:xfrm>
          <a:off x="5148064" y="2527100"/>
          <a:ext cx="3266106" cy="1731790"/>
        </p:xfrm>
        <a:graphic>
          <a:graphicData uri="http://schemas.openxmlformats.org/drawingml/2006/table">
            <a:tbl>
              <a:tblPr firstRow="1" bandRow="1">
                <a:tableStyleId>{5C22544A-7EE6-4342-B048-85BDC9FD1C3A}</a:tableStyleId>
              </a:tblPr>
              <a:tblGrid>
                <a:gridCol w="3266106">
                  <a:extLst>
                    <a:ext uri="{9D8B030D-6E8A-4147-A177-3AD203B41FA5}">
                      <a16:colId xmlns:a16="http://schemas.microsoft.com/office/drawing/2014/main" val="4512040"/>
                    </a:ext>
                  </a:extLst>
                </a:gridCol>
              </a:tblGrid>
              <a:tr h="4224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Andrej Karpathy’s Gist</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487313227"/>
                  </a:ext>
                </a:extLst>
              </a:tr>
              <a:tr h="2120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Data level: Raw / Wiki / Schema</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381454161"/>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Raw stores assets, Wiki compiles knowledge, and Schema directs the AI Agent.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Instruct: Compile / Query / Lint</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Compile integrate data, Query retrieves insights, and Lint audits the final knowledge base.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pic>
        <p:nvPicPr>
          <p:cNvPr id="8" name="圖片 7">
            <a:extLst>
              <a:ext uri="{FF2B5EF4-FFF2-40B4-BE49-F238E27FC236}">
                <a16:creationId xmlns:a16="http://schemas.microsoft.com/office/drawing/2014/main" id="{A7F2C415-DBCE-468D-EE83-BADC8BFEB629}"/>
              </a:ext>
            </a:extLst>
          </p:cNvPr>
          <p:cNvPicPr>
            <a:picLocks noChangeAspect="1"/>
          </p:cNvPicPr>
          <p:nvPr/>
        </p:nvPicPr>
        <p:blipFill>
          <a:blip r:embed="rId3"/>
          <a:stretch>
            <a:fillRect/>
          </a:stretch>
        </p:blipFill>
        <p:spPr>
          <a:xfrm flipH="1">
            <a:off x="4033066" y="2968587"/>
            <a:ext cx="718626" cy="676437"/>
          </a:xfrm>
          <a:prstGeom prst="rect">
            <a:avLst/>
          </a:prstGeom>
          <a:effectLst>
            <a:glow rad="25400">
              <a:schemeClr val="accent4">
                <a:lumMod val="60000"/>
                <a:lumOff val="40000"/>
                <a:alpha val="40000"/>
              </a:schemeClr>
            </a:glow>
            <a:softEdge rad="31750"/>
          </a:effectLst>
        </p:spPr>
      </p:pic>
      <p:cxnSp>
        <p:nvCxnSpPr>
          <p:cNvPr id="18" name="直線單箭頭接點 17">
            <a:extLst>
              <a:ext uri="{FF2B5EF4-FFF2-40B4-BE49-F238E27FC236}">
                <a16:creationId xmlns:a16="http://schemas.microsoft.com/office/drawing/2014/main" id="{96593FAD-CC06-C829-3F7E-087D4EC457BE}"/>
              </a:ext>
            </a:extLst>
          </p:cNvPr>
          <p:cNvCxnSpPr>
            <a:cxnSpLocks/>
            <a:stCxn id="4" idx="1"/>
            <a:endCxn id="105" idx="3"/>
          </p:cNvCxnSpPr>
          <p:nvPr/>
        </p:nvCxnSpPr>
        <p:spPr>
          <a:xfrm flipH="1" flipV="1">
            <a:off x="1979712" y="3392996"/>
            <a:ext cx="1800200" cy="1"/>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pic>
        <p:nvPicPr>
          <p:cNvPr id="39" name="圖形 38" descr="科學思想 以實心填滿">
            <a:extLst>
              <a:ext uri="{FF2B5EF4-FFF2-40B4-BE49-F238E27FC236}">
                <a16:creationId xmlns:a16="http://schemas.microsoft.com/office/drawing/2014/main" id="{EA236300-D8AB-566A-3CE5-C7422D3D16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230" y="2517579"/>
            <a:ext cx="623389" cy="623389"/>
          </a:xfrm>
          <a:prstGeom prst="rect">
            <a:avLst/>
          </a:prstGeom>
          <a:effectLst>
            <a:glow rad="50800">
              <a:schemeClr val="accent4">
                <a:lumMod val="20000"/>
                <a:lumOff val="80000"/>
                <a:alpha val="40000"/>
              </a:schemeClr>
            </a:glow>
            <a:softEdge rad="0"/>
          </a:effectLst>
        </p:spPr>
      </p:pic>
      <p:graphicFrame>
        <p:nvGraphicFramePr>
          <p:cNvPr id="5" name="表格 4">
            <a:extLst>
              <a:ext uri="{FF2B5EF4-FFF2-40B4-BE49-F238E27FC236}">
                <a16:creationId xmlns:a16="http://schemas.microsoft.com/office/drawing/2014/main" id="{C0CC1A86-0C18-AB72-F5A9-4306189B0A34}"/>
              </a:ext>
            </a:extLst>
          </p:cNvPr>
          <p:cNvGraphicFramePr>
            <a:graphicFrameLocks noGrp="1"/>
          </p:cNvGraphicFramePr>
          <p:nvPr>
            <p:extLst>
              <p:ext uri="{D42A27DB-BD31-4B8C-83A1-F6EECF244321}">
                <p14:modId xmlns:p14="http://schemas.microsoft.com/office/powerpoint/2010/main" val="1423659689"/>
              </p:ext>
            </p:extLst>
          </p:nvPr>
        </p:nvGraphicFramePr>
        <p:xfrm>
          <a:off x="5179640" y="1259994"/>
          <a:ext cx="2540034" cy="864095"/>
        </p:xfrm>
        <a:graphic>
          <a:graphicData uri="http://schemas.openxmlformats.org/drawingml/2006/table">
            <a:tbl>
              <a:tblPr firstRow="1" bandRow="1">
                <a:tableStyleId>{5C22544A-7EE6-4342-B048-85BDC9FD1C3A}</a:tableStyleId>
              </a:tblPr>
              <a:tblGrid>
                <a:gridCol w="811842">
                  <a:extLst>
                    <a:ext uri="{9D8B030D-6E8A-4147-A177-3AD203B41FA5}">
                      <a16:colId xmlns:a16="http://schemas.microsoft.com/office/drawing/2014/main" val="4512040"/>
                    </a:ext>
                  </a:extLst>
                </a:gridCol>
                <a:gridCol w="1728192">
                  <a:extLst>
                    <a:ext uri="{9D8B030D-6E8A-4147-A177-3AD203B41FA5}">
                      <a16:colId xmlns:a16="http://schemas.microsoft.com/office/drawing/2014/main" val="3031015462"/>
                    </a:ext>
                  </a:extLst>
                </a:gridCol>
              </a:tblGrid>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3">
                              <a:lumMod val="50000"/>
                            </a:schemeClr>
                          </a:solidFill>
                          <a:effectLst/>
                        </a:rPr>
                        <a:t>Vector RAG</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381454161"/>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Vanilla 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Rapid context retrieval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Graph 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Global document insights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219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LLM Wiki</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Knowledge Asset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spTree>
    <p:extLst>
      <p:ext uri="{BB962C8B-B14F-4D97-AF65-F5344CB8AC3E}">
        <p14:creationId xmlns:p14="http://schemas.microsoft.com/office/powerpoint/2010/main" val="41816992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BEB54-E13D-0276-16FE-3B8439DAECE6}"/>
            </a:ext>
          </a:extLst>
        </p:cNvPr>
        <p:cNvGrpSpPr/>
        <p:nvPr/>
      </p:nvGrpSpPr>
      <p:grpSpPr>
        <a:xfrm>
          <a:off x="0" y="0"/>
          <a:ext cx="0" cy="0"/>
          <a:chOff x="0" y="0"/>
          <a:chExt cx="0" cy="0"/>
        </a:xfrm>
      </p:grpSpPr>
      <p:graphicFrame>
        <p:nvGraphicFramePr>
          <p:cNvPr id="22" name="表格 21">
            <a:extLst>
              <a:ext uri="{FF2B5EF4-FFF2-40B4-BE49-F238E27FC236}">
                <a16:creationId xmlns:a16="http://schemas.microsoft.com/office/drawing/2014/main" id="{78C81D66-7DBF-D198-FAB7-3DFAAD6B25FC}"/>
              </a:ext>
            </a:extLst>
          </p:cNvPr>
          <p:cNvGraphicFramePr>
            <a:graphicFrameLocks noGrp="1"/>
          </p:cNvGraphicFramePr>
          <p:nvPr/>
        </p:nvGraphicFramePr>
        <p:xfrm>
          <a:off x="5984016" y="5308267"/>
          <a:ext cx="1369755" cy="1158240"/>
        </p:xfrm>
        <a:graphic>
          <a:graphicData uri="http://schemas.openxmlformats.org/drawingml/2006/table">
            <a:tbl>
              <a:tblPr firstRow="1" bandRow="1">
                <a:tableStyleId>{5C22544A-7EE6-4342-B048-85BDC9FD1C3A}</a:tableStyleId>
              </a:tblPr>
              <a:tblGrid>
                <a:gridCol w="1369755">
                  <a:extLst>
                    <a:ext uri="{9D8B030D-6E8A-4147-A177-3AD203B41FA5}">
                      <a16:colId xmlns:a16="http://schemas.microsoft.com/office/drawing/2014/main" val="4512040"/>
                    </a:ext>
                  </a:extLst>
                </a:gridCol>
              </a:tblGrid>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Edge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Engine</a:t>
                      </a:r>
                    </a:p>
                  </a:txBody>
                  <a:tcPr marL="36000"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576858249"/>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Ollama</a:t>
                      </a:r>
                    </a:p>
                  </a:txBody>
                  <a:tcPr marL="36000" marR="0" marT="0" marB="0" anchor="ctr">
                    <a:lnL w="3175"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642474553"/>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llama.cpp (Geek)</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41340391"/>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MLX (Apple)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940907060"/>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ONNX Runtime (MS)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631102146"/>
                  </a:ext>
                </a:extLst>
              </a:tr>
            </a:tbl>
          </a:graphicData>
        </a:graphic>
      </p:graphicFrame>
      <p:cxnSp>
        <p:nvCxnSpPr>
          <p:cNvPr id="16" name="直線單箭頭接點 15">
            <a:extLst>
              <a:ext uri="{FF2B5EF4-FFF2-40B4-BE49-F238E27FC236}">
                <a16:creationId xmlns:a16="http://schemas.microsoft.com/office/drawing/2014/main" id="{249B7A46-0ED9-7ED9-7510-EE78F29FE5F5}"/>
              </a:ext>
            </a:extLst>
          </p:cNvPr>
          <p:cNvCxnSpPr>
            <a:cxnSpLocks/>
            <a:stCxn id="15" idx="3"/>
            <a:endCxn id="11" idx="1"/>
          </p:cNvCxnSpPr>
          <p:nvPr/>
        </p:nvCxnSpPr>
        <p:spPr>
          <a:xfrm flipV="1">
            <a:off x="3005148" y="2758040"/>
            <a:ext cx="3223036" cy="4770"/>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A4DB92DA-78BD-3302-8B24-83FB829FB96B}"/>
              </a:ext>
            </a:extLst>
          </p:cNvPr>
          <p:cNvSpPr txBox="1"/>
          <p:nvPr/>
        </p:nvSpPr>
        <p:spPr>
          <a:xfrm>
            <a:off x="2123728" y="3846670"/>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SFT &amp;</a:t>
            </a:r>
          </a:p>
          <a:p>
            <a:pPr algn="ctr">
              <a:lnSpc>
                <a:spcPts val="1400"/>
              </a:lnSpc>
              <a:buNone/>
            </a:pPr>
            <a:r>
              <a:rPr lang="en-US" altLang="zh-TW" sz="1400" b="1" u="none" strike="noStrike" dirty="0">
                <a:solidFill>
                  <a:schemeClr val="accent6">
                    <a:lumMod val="75000"/>
                  </a:schemeClr>
                </a:solidFill>
                <a:effectLst/>
              </a:rPr>
              <a:t>Quantization</a:t>
            </a:r>
          </a:p>
          <a:p>
            <a:pPr algn="ctr">
              <a:lnSpc>
                <a:spcPts val="1400"/>
              </a:lnSpc>
              <a:buNone/>
            </a:pPr>
            <a:r>
              <a:rPr lang="en-US" altLang="zh-TW" sz="1200" u="none" strike="noStrike" dirty="0">
                <a:effectLst/>
              </a:rPr>
              <a:t>(Edge AI)</a:t>
            </a:r>
          </a:p>
        </p:txBody>
      </p:sp>
      <p:sp>
        <p:nvSpPr>
          <p:cNvPr id="11" name="文字方塊 10">
            <a:extLst>
              <a:ext uri="{FF2B5EF4-FFF2-40B4-BE49-F238E27FC236}">
                <a16:creationId xmlns:a16="http://schemas.microsoft.com/office/drawing/2014/main" id="{132786DE-BC20-A5F8-DB31-949D81B2F497}"/>
              </a:ext>
            </a:extLst>
          </p:cNvPr>
          <p:cNvSpPr txBox="1"/>
          <p:nvPr/>
        </p:nvSpPr>
        <p:spPr>
          <a:xfrm>
            <a:off x="6228184" y="2379882"/>
            <a:ext cx="881420" cy="756316"/>
          </a:xfrm>
          <a:prstGeom prst="rect">
            <a:avLst/>
          </a:prstGeom>
          <a:solidFill>
            <a:schemeClr val="accent1">
              <a:lumMod val="40000"/>
              <a:lumOff val="60000"/>
              <a:alpha val="90000"/>
            </a:schemeClr>
          </a:solidFill>
          <a:ln w="25400">
            <a:solidFill>
              <a:schemeClr val="bg1">
                <a:lumMod val="85000"/>
              </a:schemeClr>
            </a:solidFill>
          </a:ln>
        </p:spPr>
        <p:txBody>
          <a:bodyPr wrap="none" lIns="0" tIns="0" rIns="0" bIns="0" anchor="ctr" anchorCtr="1">
            <a:noAutofit/>
          </a:bodyPr>
          <a:lstStyle/>
          <a:p>
            <a:pPr algn="ctr">
              <a:lnSpc>
                <a:spcPts val="1400"/>
              </a:lnSpc>
              <a:buNone/>
            </a:pPr>
            <a:r>
              <a:rPr lang="en-US" altLang="zh-TW" sz="1400" b="1" u="none" strike="noStrike" dirty="0">
                <a:solidFill>
                  <a:schemeClr val="tx2"/>
                </a:solidFill>
                <a:effectLst/>
              </a:rPr>
              <a:t>Inference</a:t>
            </a:r>
          </a:p>
          <a:p>
            <a:pPr algn="ctr">
              <a:lnSpc>
                <a:spcPts val="1400"/>
              </a:lnSpc>
              <a:buNone/>
            </a:pPr>
            <a:r>
              <a:rPr lang="en-US" altLang="zh-TW" sz="1400" b="1" dirty="0">
                <a:solidFill>
                  <a:schemeClr val="tx2"/>
                </a:solidFill>
              </a:rPr>
              <a:t>Server</a:t>
            </a:r>
            <a:endParaRPr lang="en-US" altLang="zh-TW" sz="1400" b="1" u="none" strike="noStrike" dirty="0">
              <a:solidFill>
                <a:schemeClr val="tx2"/>
              </a:solidFill>
              <a:effectLst/>
            </a:endParaRPr>
          </a:p>
          <a:p>
            <a:pPr algn="ctr">
              <a:lnSpc>
                <a:spcPts val="1400"/>
              </a:lnSpc>
              <a:buNone/>
            </a:pPr>
            <a:r>
              <a:rPr lang="en-US" altLang="zh-TW" sz="1200" u="none" strike="noStrike" dirty="0">
                <a:solidFill>
                  <a:schemeClr val="tx2"/>
                </a:solidFill>
                <a:effectLst/>
              </a:rPr>
              <a:t>(LLM)</a:t>
            </a:r>
          </a:p>
        </p:txBody>
      </p:sp>
      <p:sp>
        <p:nvSpPr>
          <p:cNvPr id="13" name="文字方塊 12">
            <a:extLst>
              <a:ext uri="{FF2B5EF4-FFF2-40B4-BE49-F238E27FC236}">
                <a16:creationId xmlns:a16="http://schemas.microsoft.com/office/drawing/2014/main" id="{774BD80B-9201-734C-6443-E9C6EDE515F5}"/>
              </a:ext>
            </a:extLst>
          </p:cNvPr>
          <p:cNvSpPr txBox="1"/>
          <p:nvPr/>
        </p:nvSpPr>
        <p:spPr>
          <a:xfrm>
            <a:off x="6228185" y="3846670"/>
            <a:ext cx="881419" cy="756316"/>
          </a:xfrm>
          <a:prstGeom prst="rect">
            <a:avLst/>
          </a:prstGeom>
          <a:solidFill>
            <a:schemeClr val="bg1">
              <a:lumMod val="95000"/>
            </a:schemeClr>
          </a:solidFill>
          <a:ln w="25400">
            <a:solidFill>
              <a:schemeClr val="bg1">
                <a:lumMod val="85000"/>
              </a:schemeClr>
            </a:solidFill>
            <a:prstDash val="solid"/>
          </a:ln>
        </p:spPr>
        <p:txBody>
          <a:bodyPr wrap="none" lIns="0" tIns="0" rIns="0" bIns="0" anchor="ctr" anchorCtr="1">
            <a:noAutofit/>
          </a:bodyPr>
          <a:lstStyle/>
          <a:p>
            <a:pPr lvl="0" algn="ctr">
              <a:lnSpc>
                <a:spcPts val="1400"/>
              </a:lnSpc>
              <a:defRPr/>
            </a:pPr>
            <a:r>
              <a:rPr lang="en-US" altLang="zh-TW" sz="1400" b="1" dirty="0">
                <a:solidFill>
                  <a:schemeClr val="tx2"/>
                </a:solidFill>
                <a:latin typeface="Calibri"/>
                <a:ea typeface="新細明體" panose="02020500000000000000" pitchFamily="18" charset="-120"/>
              </a:rPr>
              <a:t>AI</a:t>
            </a:r>
            <a:r>
              <a:rPr lang="zh-TW" altLang="en-US" sz="1400" b="1" dirty="0">
                <a:solidFill>
                  <a:schemeClr val="tx2"/>
                </a:solidFill>
                <a:latin typeface="Calibri"/>
                <a:ea typeface="新細明體" panose="02020500000000000000" pitchFamily="18" charset="-120"/>
              </a:rPr>
              <a:t> </a:t>
            </a:r>
            <a:r>
              <a:rPr lang="en-US" altLang="zh-TW" sz="1400" b="1" dirty="0">
                <a:solidFill>
                  <a:schemeClr val="tx2"/>
                </a:solidFill>
                <a:latin typeface="Calibri"/>
                <a:ea typeface="新細明體" panose="02020500000000000000" pitchFamily="18" charset="-120"/>
              </a:rPr>
              <a:t>PC</a:t>
            </a:r>
            <a:br>
              <a:rPr lang="en-US" altLang="zh-TW" sz="1400" b="1" dirty="0">
                <a:solidFill>
                  <a:schemeClr val="tx2"/>
                </a:solidFill>
                <a:latin typeface="Calibri"/>
                <a:ea typeface="新細明體" panose="02020500000000000000" pitchFamily="18" charset="-120"/>
              </a:rPr>
            </a:br>
            <a:r>
              <a:rPr lang="en-US" altLang="zh-TW" sz="1200" b="1" dirty="0">
                <a:solidFill>
                  <a:schemeClr val="tx2"/>
                </a:solidFill>
                <a:latin typeface="Calibri"/>
                <a:ea typeface="新細明體" panose="02020500000000000000" pitchFamily="18" charset="-120"/>
              </a:rPr>
              <a:t>(SLM)</a:t>
            </a:r>
            <a:endParaRPr kumimoji="0" lang="en-US" altLang="zh-TW" sz="1200" b="0" i="0" u="none" strike="noStrike" kern="1200" cap="none" spc="0" normalizeH="0" baseline="0" noProof="0" dirty="0">
              <a:ln>
                <a:noFill/>
              </a:ln>
              <a:solidFill>
                <a:schemeClr val="tx2"/>
              </a:solidFill>
              <a:effectLst/>
              <a:uLnTx/>
              <a:uFillTx/>
              <a:latin typeface="Calibri"/>
              <a:ea typeface="新細明體" panose="02020500000000000000" pitchFamily="18" charset="-120"/>
              <a:cs typeface="+mn-cs"/>
            </a:endParaRPr>
          </a:p>
        </p:txBody>
      </p:sp>
      <p:sp>
        <p:nvSpPr>
          <p:cNvPr id="15" name="文字方塊 14">
            <a:extLst>
              <a:ext uri="{FF2B5EF4-FFF2-40B4-BE49-F238E27FC236}">
                <a16:creationId xmlns:a16="http://schemas.microsoft.com/office/drawing/2014/main" id="{309120A9-3216-3A4D-C130-3BB79B2385CA}"/>
              </a:ext>
            </a:extLst>
          </p:cNvPr>
          <p:cNvSpPr txBox="1"/>
          <p:nvPr/>
        </p:nvSpPr>
        <p:spPr>
          <a:xfrm>
            <a:off x="2123728" y="2384652"/>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Training</a:t>
            </a:r>
          </a:p>
          <a:p>
            <a:pPr algn="ctr">
              <a:lnSpc>
                <a:spcPts val="1400"/>
              </a:lnSpc>
              <a:buNone/>
            </a:pPr>
            <a:r>
              <a:rPr lang="en-US" altLang="zh-TW" sz="1400" b="1" u="none" strike="noStrike" dirty="0">
                <a:solidFill>
                  <a:schemeClr val="accent2"/>
                </a:solidFill>
                <a:effectLst/>
              </a:rPr>
              <a:t>Stage</a:t>
            </a:r>
          </a:p>
          <a:p>
            <a:pPr algn="ctr">
              <a:lnSpc>
                <a:spcPts val="1400"/>
              </a:lnSpc>
              <a:buNone/>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(Cloud)</a:t>
            </a:r>
            <a:endParaRPr lang="en-US" altLang="zh-TW" sz="1400" b="1" u="none" strike="noStrike" dirty="0">
              <a:solidFill>
                <a:schemeClr val="accent2"/>
              </a:solidFill>
              <a:effectLst/>
            </a:endParaRPr>
          </a:p>
        </p:txBody>
      </p:sp>
      <p:graphicFrame>
        <p:nvGraphicFramePr>
          <p:cNvPr id="37" name="表格 36">
            <a:extLst>
              <a:ext uri="{FF2B5EF4-FFF2-40B4-BE49-F238E27FC236}">
                <a16:creationId xmlns:a16="http://schemas.microsoft.com/office/drawing/2014/main" id="{A1EF5383-5464-5C40-CD95-1BC634B8A8F5}"/>
              </a:ext>
            </a:extLst>
          </p:cNvPr>
          <p:cNvGraphicFramePr>
            <a:graphicFrameLocks noGrp="1"/>
          </p:cNvGraphicFramePr>
          <p:nvPr/>
        </p:nvGraphicFramePr>
        <p:xfrm>
          <a:off x="1925027" y="4889888"/>
          <a:ext cx="1278821" cy="1178360"/>
        </p:xfrm>
        <a:graphic>
          <a:graphicData uri="http://schemas.openxmlformats.org/drawingml/2006/table">
            <a:tbl>
              <a:tblPr firstRow="1" bandRow="1">
                <a:tableStyleId>{5C22544A-7EE6-4342-B048-85BDC9FD1C3A}</a:tableStyleId>
              </a:tblPr>
              <a:tblGrid>
                <a:gridCol w="1278821">
                  <a:extLst>
                    <a:ext uri="{9D8B030D-6E8A-4147-A177-3AD203B41FA5}">
                      <a16:colId xmlns:a16="http://schemas.microsoft.com/office/drawing/2014/main" val="4512040"/>
                    </a:ext>
                  </a:extLst>
                </a:gridCol>
              </a:tblGrid>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FT-Engine</a:t>
                      </a:r>
                      <a:endParaRPr kumimoji="0" lang="zh-TW" altLang="en-US" sz="1400" b="1" i="0" u="none" strike="noStrike" kern="1200" cap="none" spc="0" normalizeH="0" baseline="0" noProof="0" dirty="0">
                        <a:ln w="0"/>
                        <a:solidFill>
                          <a:schemeClr val="tx1"/>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8871076"/>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Hugging Face TRL</a:t>
                      </a:r>
                      <a:endParaRPr kumimoji="0" lang="zh-TW" altLang="en-US" sz="1200" b="1" i="0" u="none" strike="noStrike" kern="1200" cap="none" spc="0" normalizeH="0" baseline="0" noProof="0" dirty="0">
                        <a:ln w="0"/>
                        <a:solidFill>
                          <a:srgbClr val="FF0000"/>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Unsloth</a:t>
                      </a:r>
                      <a:r>
                        <a:rPr kumimoji="0" lang="en-US" altLang="zh-TW" sz="1200" b="0" i="0" u="none" strike="noStrike" kern="1200" cap="none" spc="0" normalizeH="0" baseline="0" noProof="0" dirty="0">
                          <a:ln w="0"/>
                          <a:solidFill>
                            <a:prstClr val="black"/>
                          </a:solidFill>
                          <a:effectLst/>
                          <a:uLnTx/>
                          <a:uFillTx/>
                          <a:latin typeface="+mn-lt"/>
                          <a:ea typeface="+mn-ea"/>
                          <a:cs typeface="+mn-cs"/>
                        </a:rPr>
                        <a:t> (No Code)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510973834"/>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Axolotl</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(Geek)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LLaMA-Factory</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MLX-LM</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(Apple)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878602166"/>
                  </a:ext>
                </a:extLst>
              </a:tr>
            </a:tbl>
          </a:graphicData>
        </a:graphic>
      </p:graphicFrame>
      <p:sp>
        <p:nvSpPr>
          <p:cNvPr id="4" name="標題 1">
            <a:extLst>
              <a:ext uri="{FF2B5EF4-FFF2-40B4-BE49-F238E27FC236}">
                <a16:creationId xmlns:a16="http://schemas.microsoft.com/office/drawing/2014/main" id="{C51F32BB-AF5D-9A70-D14E-236B9B033709}"/>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SLM Engine</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Run language models locally and efficiently with minimal hardware resources.</a:t>
            </a:r>
          </a:p>
        </p:txBody>
      </p:sp>
      <p:pic>
        <p:nvPicPr>
          <p:cNvPr id="27" name="圖片 26">
            <a:extLst>
              <a:ext uri="{FF2B5EF4-FFF2-40B4-BE49-F238E27FC236}">
                <a16:creationId xmlns:a16="http://schemas.microsoft.com/office/drawing/2014/main" id="{135EA092-B215-BD47-7043-C4AF5B4B4F10}"/>
              </a:ext>
            </a:extLst>
          </p:cNvPr>
          <p:cNvPicPr>
            <a:picLocks noChangeAspect="1"/>
          </p:cNvPicPr>
          <p:nvPr/>
        </p:nvPicPr>
        <p:blipFill>
          <a:blip r:embed="rId2"/>
          <a:stretch>
            <a:fillRect/>
          </a:stretch>
        </p:blipFill>
        <p:spPr>
          <a:xfrm>
            <a:off x="1547664" y="4960218"/>
            <a:ext cx="306197" cy="288032"/>
          </a:xfrm>
          <a:prstGeom prst="rect">
            <a:avLst/>
          </a:prstGeom>
          <a:effectLst>
            <a:glow rad="76200">
              <a:schemeClr val="bg1">
                <a:alpha val="40000"/>
              </a:schemeClr>
            </a:glow>
          </a:effectLst>
        </p:spPr>
      </p:pic>
      <p:graphicFrame>
        <p:nvGraphicFramePr>
          <p:cNvPr id="9" name="表格 8">
            <a:extLst>
              <a:ext uri="{FF2B5EF4-FFF2-40B4-BE49-F238E27FC236}">
                <a16:creationId xmlns:a16="http://schemas.microsoft.com/office/drawing/2014/main" id="{DD8956EC-8C58-4EE6-3794-15E7D4F27A3B}"/>
              </a:ext>
            </a:extLst>
          </p:cNvPr>
          <p:cNvGraphicFramePr>
            <a:graphicFrameLocks noGrp="1"/>
          </p:cNvGraphicFramePr>
          <p:nvPr/>
        </p:nvGraphicFramePr>
        <p:xfrm>
          <a:off x="3297799" y="5313459"/>
          <a:ext cx="802885" cy="1127760"/>
        </p:xfrm>
        <a:graphic>
          <a:graphicData uri="http://schemas.openxmlformats.org/drawingml/2006/table">
            <a:tbl>
              <a:tblPr firstRow="1" bandRow="1">
                <a:tableStyleId>{5C22544A-7EE6-4342-B048-85BDC9FD1C3A}</a:tableStyleId>
              </a:tblPr>
              <a:tblGrid>
                <a:gridCol w="802885">
                  <a:extLst>
                    <a:ext uri="{9D8B030D-6E8A-4147-A177-3AD203B41FA5}">
                      <a16:colId xmlns:a16="http://schemas.microsoft.com/office/drawing/2014/main" val="4512040"/>
                    </a:ext>
                  </a:extLst>
                </a:gridCol>
              </a:tblGrid>
              <a:tr h="2091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Model</a:t>
                      </a:r>
                    </a:p>
                  </a:txBody>
                  <a:tcPr marR="0" marT="0" marB="0" anchor="ctr">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724815099"/>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rgbClr val="FF0000"/>
                          </a:solidFill>
                          <a:effectLst/>
                        </a:rPr>
                        <a:t>Gemma 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44704120"/>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534733770"/>
                  </a:ext>
                </a:extLst>
              </a:tr>
            </a:tbl>
          </a:graphicData>
        </a:graphic>
      </p:graphicFrame>
      <p:pic>
        <p:nvPicPr>
          <p:cNvPr id="30" name="圖片 29">
            <a:extLst>
              <a:ext uri="{FF2B5EF4-FFF2-40B4-BE49-F238E27FC236}">
                <a16:creationId xmlns:a16="http://schemas.microsoft.com/office/drawing/2014/main" id="{20DBAEDD-C1F2-2405-DE74-D94FB68D52D3}"/>
              </a:ext>
            </a:extLst>
          </p:cNvPr>
          <p:cNvPicPr>
            <a:picLocks noChangeAspect="1"/>
          </p:cNvPicPr>
          <p:nvPr/>
        </p:nvPicPr>
        <p:blipFill>
          <a:blip r:embed="rId3"/>
          <a:stretch>
            <a:fillRect/>
          </a:stretch>
        </p:blipFill>
        <p:spPr>
          <a:xfrm>
            <a:off x="6754329" y="5455513"/>
            <a:ext cx="337951" cy="390669"/>
          </a:xfrm>
          <a:prstGeom prst="rect">
            <a:avLst/>
          </a:prstGeom>
          <a:solidFill>
            <a:schemeClr val="bg1">
              <a:alpha val="60000"/>
            </a:schemeClr>
          </a:solidFill>
        </p:spPr>
      </p:pic>
      <p:sp>
        <p:nvSpPr>
          <p:cNvPr id="38" name="文字方塊 37">
            <a:extLst>
              <a:ext uri="{FF2B5EF4-FFF2-40B4-BE49-F238E27FC236}">
                <a16:creationId xmlns:a16="http://schemas.microsoft.com/office/drawing/2014/main" id="{AB992DA8-098A-C85A-0E0A-EC2464CCE1A3}"/>
              </a:ext>
            </a:extLst>
          </p:cNvPr>
          <p:cNvSpPr txBox="1"/>
          <p:nvPr/>
        </p:nvSpPr>
        <p:spPr>
          <a:xfrm>
            <a:off x="3106216" y="2444150"/>
            <a:ext cx="1033736" cy="314373"/>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Backward Pass</a:t>
            </a:r>
          </a:p>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Checkpointing</a:t>
            </a:r>
            <a:endParaRPr lang="zh-TW" altLang="en-US" sz="1200" dirty="0"/>
          </a:p>
        </p:txBody>
      </p:sp>
      <p:sp>
        <p:nvSpPr>
          <p:cNvPr id="42" name="文字方塊 41">
            <a:extLst>
              <a:ext uri="{FF2B5EF4-FFF2-40B4-BE49-F238E27FC236}">
                <a16:creationId xmlns:a16="http://schemas.microsoft.com/office/drawing/2014/main" id="{C011670A-AD18-D760-4725-AC87CA0E0A6E}"/>
              </a:ext>
            </a:extLst>
          </p:cNvPr>
          <p:cNvSpPr txBox="1"/>
          <p:nvPr/>
        </p:nvSpPr>
        <p:spPr>
          <a:xfrm>
            <a:off x="5500146" y="2444149"/>
            <a:ext cx="702888" cy="313891"/>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Attention</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KV-Cache</a:t>
            </a:r>
          </a:p>
        </p:txBody>
      </p:sp>
      <p:sp>
        <p:nvSpPr>
          <p:cNvPr id="88" name="文字方塊 87">
            <a:extLst>
              <a:ext uri="{FF2B5EF4-FFF2-40B4-BE49-F238E27FC236}">
                <a16:creationId xmlns:a16="http://schemas.microsoft.com/office/drawing/2014/main" id="{662A56FC-70A6-FA2D-9DC3-8EDA197AAAA4}"/>
              </a:ext>
            </a:extLst>
          </p:cNvPr>
          <p:cNvSpPr txBox="1"/>
          <p:nvPr/>
        </p:nvSpPr>
        <p:spPr>
          <a:xfrm>
            <a:off x="3103440" y="3865792"/>
            <a:ext cx="820488" cy="355297"/>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Throughput,</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PEFT</a:t>
            </a:r>
            <a:endParaRPr lang="zh-TW" altLang="en-US" sz="1200" dirty="0"/>
          </a:p>
        </p:txBody>
      </p:sp>
      <p:cxnSp>
        <p:nvCxnSpPr>
          <p:cNvPr id="118" name="直線單箭頭接點 117">
            <a:extLst>
              <a:ext uri="{FF2B5EF4-FFF2-40B4-BE49-F238E27FC236}">
                <a16:creationId xmlns:a16="http://schemas.microsoft.com/office/drawing/2014/main" id="{FEB0228A-4144-BC54-6225-6205E276FBE3}"/>
              </a:ext>
            </a:extLst>
          </p:cNvPr>
          <p:cNvCxnSpPr>
            <a:cxnSpLocks/>
            <a:stCxn id="3" idx="3"/>
            <a:endCxn id="13" idx="1"/>
          </p:cNvCxnSpPr>
          <p:nvPr/>
        </p:nvCxnSpPr>
        <p:spPr>
          <a:xfrm>
            <a:off x="3005148" y="4224828"/>
            <a:ext cx="3223037" cy="0"/>
          </a:xfrm>
          <a:prstGeom prst="straightConnector1">
            <a:avLst/>
          </a:prstGeom>
          <a:ln w="25400">
            <a:solidFill>
              <a:schemeClr val="bg1">
                <a:lumMod val="75000"/>
              </a:schemeClr>
            </a:solidFill>
            <a:headEnd w="med" len="lg"/>
            <a:tailEnd type="triangle" w="lg" len="med"/>
          </a:ln>
        </p:spPr>
        <p:style>
          <a:lnRef idx="1">
            <a:schemeClr val="accent1"/>
          </a:lnRef>
          <a:fillRef idx="0">
            <a:schemeClr val="accent1"/>
          </a:fillRef>
          <a:effectRef idx="0">
            <a:schemeClr val="accent1"/>
          </a:effectRef>
          <a:fontRef idx="minor">
            <a:schemeClr val="tx1"/>
          </a:fontRef>
        </p:style>
      </p:cxnSp>
      <p:pic>
        <p:nvPicPr>
          <p:cNvPr id="14" name="圖片 13">
            <a:extLst>
              <a:ext uri="{FF2B5EF4-FFF2-40B4-BE49-F238E27FC236}">
                <a16:creationId xmlns:a16="http://schemas.microsoft.com/office/drawing/2014/main" id="{6A19A26D-0595-B833-26F8-539F4EB87F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7664" y="5320258"/>
            <a:ext cx="288033" cy="288032"/>
          </a:xfrm>
          <a:prstGeom prst="rect">
            <a:avLst/>
          </a:prstGeom>
          <a:effectLst>
            <a:glow rad="76200">
              <a:srgbClr val="00B050">
                <a:alpha val="40000"/>
              </a:srgbClr>
            </a:glow>
          </a:effectLst>
        </p:spPr>
      </p:pic>
      <p:sp>
        <p:nvSpPr>
          <p:cNvPr id="17" name="文字方塊 16">
            <a:extLst>
              <a:ext uri="{FF2B5EF4-FFF2-40B4-BE49-F238E27FC236}">
                <a16:creationId xmlns:a16="http://schemas.microsoft.com/office/drawing/2014/main" id="{C1A9147E-F72B-ADB6-4DA8-0242A9E1BF56}"/>
              </a:ext>
            </a:extLst>
          </p:cNvPr>
          <p:cNvSpPr txBox="1"/>
          <p:nvPr/>
        </p:nvSpPr>
        <p:spPr>
          <a:xfrm>
            <a:off x="5076056" y="3865792"/>
            <a:ext cx="1107903" cy="349496"/>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Latency, TTFT,</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Operator Fusion</a:t>
            </a:r>
            <a:endParaRPr lang="zh-TW" altLang="en-US" sz="1200" dirty="0"/>
          </a:p>
        </p:txBody>
      </p:sp>
      <p:sp>
        <p:nvSpPr>
          <p:cNvPr id="102" name="文字方塊 101">
            <a:extLst>
              <a:ext uri="{FF2B5EF4-FFF2-40B4-BE49-F238E27FC236}">
                <a16:creationId xmlns:a16="http://schemas.microsoft.com/office/drawing/2014/main" id="{F3B204E8-9E74-B3D1-6886-09D4188A55E7}"/>
              </a:ext>
            </a:extLst>
          </p:cNvPr>
          <p:cNvSpPr txBox="1"/>
          <p:nvPr/>
        </p:nvSpPr>
        <p:spPr>
          <a:xfrm>
            <a:off x="3258531" y="4362433"/>
            <a:ext cx="881419" cy="365815"/>
          </a:xfrm>
          <a:prstGeom prst="rect">
            <a:avLst/>
          </a:prstGeom>
          <a:solidFill>
            <a:schemeClr val="bg1">
              <a:lumMod val="85000"/>
              <a:alpha val="80000"/>
            </a:schemeClr>
          </a:solidFill>
          <a:ln w="25400">
            <a:solidFill>
              <a:schemeClr val="bg1">
                <a:lumMod val="85000"/>
              </a:schemeClr>
            </a:solidFill>
          </a:ln>
        </p:spPr>
        <p:txBody>
          <a:bodyPr wrap="none" lIns="0" tIns="0" rIns="0" bIns="0" anchor="ctr" anchorCtr="1">
            <a:noAutofit/>
          </a:bodyPr>
          <a:lstStyle/>
          <a:p>
            <a:pPr algn="ctr">
              <a:lnSpc>
                <a:spcPts val="1400"/>
              </a:lnSpc>
              <a:buNone/>
            </a:pPr>
            <a:r>
              <a:rPr lang="en-US" altLang="zh-TW" sz="1200" b="1" u="none" strike="noStrike" dirty="0">
                <a:effectLst/>
              </a:rPr>
              <a:t>Model File</a:t>
            </a:r>
          </a:p>
          <a:p>
            <a:pPr algn="ctr">
              <a:lnSpc>
                <a:spcPts val="1200"/>
              </a:lnSpc>
              <a:buNone/>
            </a:pPr>
            <a:r>
              <a:rPr lang="en-US" altLang="zh-TW" sz="1000" dirty="0"/>
              <a:t>(GGUF, ONNX)</a:t>
            </a:r>
            <a:endParaRPr lang="en-US" altLang="zh-TW" sz="1000" u="none" strike="noStrike" dirty="0">
              <a:effectLst/>
            </a:endParaRPr>
          </a:p>
        </p:txBody>
      </p:sp>
      <p:sp>
        <p:nvSpPr>
          <p:cNvPr id="47" name="文字方塊 46">
            <a:extLst>
              <a:ext uri="{FF2B5EF4-FFF2-40B4-BE49-F238E27FC236}">
                <a16:creationId xmlns:a16="http://schemas.microsoft.com/office/drawing/2014/main" id="{400FAA8A-4147-8B00-9580-A50FE9BFA505}"/>
              </a:ext>
            </a:extLst>
          </p:cNvPr>
          <p:cNvSpPr txBox="1"/>
          <p:nvPr/>
        </p:nvSpPr>
        <p:spPr>
          <a:xfrm>
            <a:off x="213023" y="968241"/>
            <a:ext cx="8751465"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Engine</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Training Framework:</a:t>
            </a:r>
            <a:r>
              <a:rPr lang="en-US" altLang="zh-TW" sz="1600" dirty="0"/>
              <a:t> </a:t>
            </a:r>
            <a:r>
              <a:rPr lang="en-US" altLang="zh-TW" sz="1600" b="1" dirty="0">
                <a:solidFill>
                  <a:schemeClr val="accent6">
                    <a:lumMod val="75000"/>
                  </a:schemeClr>
                </a:solidFill>
              </a:rPr>
              <a:t>Optimizes</a:t>
            </a:r>
            <a:r>
              <a:rPr lang="en-US" altLang="zh-TW" sz="1600" dirty="0"/>
              <a:t> model weights using gradients.</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Inference Engine</a:t>
            </a:r>
            <a:r>
              <a:rPr lang="en-US" altLang="zh-TW" sz="1600" dirty="0"/>
              <a:t>:</a:t>
            </a:r>
            <a:r>
              <a:rPr lang="zh-TW" altLang="en-US" sz="1600" dirty="0"/>
              <a:t> </a:t>
            </a:r>
            <a:r>
              <a:rPr lang="en-US" altLang="zh-TW" sz="1600" b="1" dirty="0">
                <a:solidFill>
                  <a:schemeClr val="accent6">
                    <a:lumMod val="75000"/>
                  </a:schemeClr>
                </a:solidFill>
              </a:rPr>
              <a:t>Runs</a:t>
            </a:r>
            <a:r>
              <a:rPr lang="en-US" altLang="zh-TW" sz="1600" dirty="0"/>
              <a:t> trained models to generate predictions.</a:t>
            </a:r>
          </a:p>
        </p:txBody>
      </p:sp>
      <p:cxnSp>
        <p:nvCxnSpPr>
          <p:cNvPr id="64" name="直線接點 63">
            <a:extLst>
              <a:ext uri="{FF2B5EF4-FFF2-40B4-BE49-F238E27FC236}">
                <a16:creationId xmlns:a16="http://schemas.microsoft.com/office/drawing/2014/main" id="{4250BB2F-3E2E-142D-8E2C-0C55A2542BDA}"/>
              </a:ext>
            </a:extLst>
          </p:cNvPr>
          <p:cNvCxnSpPr>
            <a:cxnSpLocks/>
            <a:stCxn id="102" idx="2"/>
            <a:endCxn id="9" idx="0"/>
          </p:cNvCxnSpPr>
          <p:nvPr/>
        </p:nvCxnSpPr>
        <p:spPr>
          <a:xfrm>
            <a:off x="3699241" y="4728248"/>
            <a:ext cx="0" cy="585211"/>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58CF7F8B-C53A-57E9-4723-186600068448}"/>
              </a:ext>
            </a:extLst>
          </p:cNvPr>
          <p:cNvCxnSpPr>
            <a:cxnSpLocks/>
            <a:stCxn id="13" idx="2"/>
            <a:endCxn id="22" idx="0"/>
          </p:cNvCxnSpPr>
          <p:nvPr/>
        </p:nvCxnSpPr>
        <p:spPr>
          <a:xfrm flipH="1">
            <a:off x="6668893" y="4602986"/>
            <a:ext cx="2" cy="705281"/>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C75B7D8C-9A37-CC8D-DAA6-3D999E4C7378}"/>
              </a:ext>
            </a:extLst>
          </p:cNvPr>
          <p:cNvCxnSpPr>
            <a:cxnSpLocks/>
            <a:stCxn id="3" idx="2"/>
            <a:endCxn id="37" idx="0"/>
          </p:cNvCxnSpPr>
          <p:nvPr/>
        </p:nvCxnSpPr>
        <p:spPr>
          <a:xfrm flipH="1">
            <a:off x="2564437" y="4602986"/>
            <a:ext cx="1" cy="286902"/>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8" name="直線接點 77">
            <a:extLst>
              <a:ext uri="{FF2B5EF4-FFF2-40B4-BE49-F238E27FC236}">
                <a16:creationId xmlns:a16="http://schemas.microsoft.com/office/drawing/2014/main" id="{54291EA9-298A-7ADF-0020-17EE71DA7083}"/>
              </a:ext>
            </a:extLst>
          </p:cNvPr>
          <p:cNvCxnSpPr/>
          <p:nvPr/>
        </p:nvCxnSpPr>
        <p:spPr>
          <a:xfrm>
            <a:off x="899592" y="3501008"/>
            <a:ext cx="7560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0" name="文字方塊 79">
            <a:extLst>
              <a:ext uri="{FF2B5EF4-FFF2-40B4-BE49-F238E27FC236}">
                <a16:creationId xmlns:a16="http://schemas.microsoft.com/office/drawing/2014/main" id="{CA014519-788B-AB92-B84F-36E7C69222BC}"/>
              </a:ext>
            </a:extLst>
          </p:cNvPr>
          <p:cNvSpPr txBox="1"/>
          <p:nvPr/>
        </p:nvSpPr>
        <p:spPr>
          <a:xfrm>
            <a:off x="7699522" y="3188590"/>
            <a:ext cx="588146" cy="624835"/>
          </a:xfrm>
          <a:prstGeom prst="rect">
            <a:avLst/>
          </a:prstGeom>
          <a:noFill/>
        </p:spPr>
        <p:txBody>
          <a:bodyPr wrap="none" lIns="0" tIns="0" rIns="0" bIns="0" anchor="ctr" anchorCtr="1">
            <a:no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Cloud</a:t>
            </a:r>
          </a:p>
          <a:p>
            <a:pPr marL="0" marR="0" lvl="0" indent="0" algn="ctr" defTabSz="914400" rtl="0" eaLnBrk="1" fontAlgn="auto" latinLnBrk="0" hangingPunct="1">
              <a:lnSpc>
                <a:spcPts val="1800"/>
              </a:lnSpc>
              <a:spcBef>
                <a:spcPts val="0"/>
              </a:spcBef>
              <a:spcAft>
                <a:spcPts val="0"/>
              </a:spcAft>
              <a:buClrTx/>
              <a:buSzTx/>
              <a:buFontTx/>
              <a:buNone/>
              <a:tabLst/>
              <a:defRPr/>
            </a:pPr>
            <a:r>
              <a:rPr lang="en-US" altLang="zh-TW" sz="1200" dirty="0">
                <a:ln w="0"/>
              </a:rPr>
              <a:t>Edge</a:t>
            </a:r>
            <a:endParaRPr lang="zh-TW" altLang="en-US" sz="1200" dirty="0"/>
          </a:p>
        </p:txBody>
      </p:sp>
      <p:cxnSp>
        <p:nvCxnSpPr>
          <p:cNvPr id="2" name="接點: 弧形 1">
            <a:extLst>
              <a:ext uri="{FF2B5EF4-FFF2-40B4-BE49-F238E27FC236}">
                <a16:creationId xmlns:a16="http://schemas.microsoft.com/office/drawing/2014/main" id="{E5EFDDB6-079F-D664-EC81-212DD16CA4BA}"/>
              </a:ext>
            </a:extLst>
          </p:cNvPr>
          <p:cNvCxnSpPr>
            <a:cxnSpLocks/>
            <a:stCxn id="15" idx="1"/>
            <a:endCxn id="3" idx="1"/>
          </p:cNvCxnSpPr>
          <p:nvPr/>
        </p:nvCxnSpPr>
        <p:spPr>
          <a:xfrm rot="10800000" flipV="1">
            <a:off x="2123728" y="2762810"/>
            <a:ext cx="12700" cy="1462018"/>
          </a:xfrm>
          <a:prstGeom prst="curvedConnector3">
            <a:avLst>
              <a:gd name="adj1" fmla="val 1800000"/>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B5D44E94-54A1-E12B-6B9A-090CFA771E66}"/>
              </a:ext>
            </a:extLst>
          </p:cNvPr>
          <p:cNvSpPr txBox="1"/>
          <p:nvPr/>
        </p:nvSpPr>
        <p:spPr>
          <a:xfrm>
            <a:off x="1514783" y="3341477"/>
            <a:ext cx="1049654" cy="355297"/>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Computing</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Resource / 100</a:t>
            </a:r>
            <a:endParaRPr lang="zh-TW" altLang="en-US" sz="1200" dirty="0"/>
          </a:p>
        </p:txBody>
      </p:sp>
    </p:spTree>
    <p:extLst>
      <p:ext uri="{BB962C8B-B14F-4D97-AF65-F5344CB8AC3E}">
        <p14:creationId xmlns:p14="http://schemas.microsoft.com/office/powerpoint/2010/main" val="7794988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297A6AF-A59A-D8E8-D402-8B80C85090E0}"/>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1C0694D5-25AF-678F-4839-D5482C605504}"/>
              </a:ext>
            </a:extLst>
          </p:cNvPr>
          <p:cNvGraphicFramePr>
            <a:graphicFrameLocks noGrp="1"/>
          </p:cNvGraphicFramePr>
          <p:nvPr/>
        </p:nvGraphicFramePr>
        <p:xfrm>
          <a:off x="827584" y="2132856"/>
          <a:ext cx="7694238" cy="2851909"/>
        </p:xfrm>
        <a:graphic>
          <a:graphicData uri="http://schemas.openxmlformats.org/drawingml/2006/table">
            <a:tbl>
              <a:tblPr firstRow="1" bandRow="1">
                <a:tableStyleId>{5C22544A-7EE6-4342-B048-85BDC9FD1C3A}</a:tableStyleId>
              </a:tblPr>
              <a:tblGrid>
                <a:gridCol w="1282373">
                  <a:extLst>
                    <a:ext uri="{9D8B030D-6E8A-4147-A177-3AD203B41FA5}">
                      <a16:colId xmlns:a16="http://schemas.microsoft.com/office/drawing/2014/main" val="767948712"/>
                    </a:ext>
                  </a:extLst>
                </a:gridCol>
                <a:gridCol w="1282373">
                  <a:extLst>
                    <a:ext uri="{9D8B030D-6E8A-4147-A177-3AD203B41FA5}">
                      <a16:colId xmlns:a16="http://schemas.microsoft.com/office/drawing/2014/main" val="4512040"/>
                    </a:ext>
                  </a:extLst>
                </a:gridCol>
                <a:gridCol w="1282373">
                  <a:extLst>
                    <a:ext uri="{9D8B030D-6E8A-4147-A177-3AD203B41FA5}">
                      <a16:colId xmlns:a16="http://schemas.microsoft.com/office/drawing/2014/main" val="3551248890"/>
                    </a:ext>
                  </a:extLst>
                </a:gridCol>
                <a:gridCol w="1282373">
                  <a:extLst>
                    <a:ext uri="{9D8B030D-6E8A-4147-A177-3AD203B41FA5}">
                      <a16:colId xmlns:a16="http://schemas.microsoft.com/office/drawing/2014/main" val="204991320"/>
                    </a:ext>
                  </a:extLst>
                </a:gridCol>
                <a:gridCol w="1282373">
                  <a:extLst>
                    <a:ext uri="{9D8B030D-6E8A-4147-A177-3AD203B41FA5}">
                      <a16:colId xmlns:a16="http://schemas.microsoft.com/office/drawing/2014/main" val="795597008"/>
                    </a:ext>
                  </a:extLst>
                </a:gridCol>
                <a:gridCol w="1282373">
                  <a:extLst>
                    <a:ext uri="{9D8B030D-6E8A-4147-A177-3AD203B41FA5}">
                      <a16:colId xmlns:a16="http://schemas.microsoft.com/office/drawing/2014/main" val="3504260209"/>
                    </a:ext>
                  </a:extLst>
                </a:gridCol>
              </a:tblGrid>
              <a:tr h="628369">
                <a:tc>
                  <a:txBody>
                    <a:bodyPr/>
                    <a:lstStyle/>
                    <a:p>
                      <a:pPr algn="ctr"/>
                      <a:r>
                        <a:rPr lang="en-US" altLang="zh-TW" sz="1200" b="1" cap="none" spc="0" dirty="0">
                          <a:ln w="0"/>
                          <a:solidFill>
                            <a:schemeClr val="tx1"/>
                          </a:solidFill>
                          <a:effectLst/>
                          <a:latin typeface="+mn-lt"/>
                        </a:rPr>
                        <a:t>LLaMA-Factory</a:t>
                      </a:r>
                    </a:p>
                    <a:p>
                      <a:pPr algn="ctr"/>
                      <a:r>
                        <a:rPr lang="zh-TW" altLang="zh-TW" sz="1200" b="0" i="0" kern="1200" dirty="0">
                          <a:solidFill>
                            <a:schemeClr val="tx1"/>
                          </a:solidFill>
                          <a:effectLst/>
                          <a:latin typeface="+mn-lt"/>
                          <a:ea typeface="+mn-ea"/>
                          <a:cs typeface="+mn-cs"/>
                        </a:rPr>
                        <a:t>/ˈlɑː.mə/</a:t>
                      </a:r>
                      <a:r>
                        <a:rPr lang="zh-TW" altLang="en-US" sz="1000" b="0" i="0" kern="1200" dirty="0">
                          <a:solidFill>
                            <a:schemeClr val="tx1"/>
                          </a:solidFill>
                          <a:effectLst/>
                          <a:latin typeface="微軟正黑體" panose="020B0604030504040204" pitchFamily="34" charset="-120"/>
                          <a:ea typeface="微軟正黑體" panose="020B0604030504040204" pitchFamily="34" charset="-120"/>
                          <a:cs typeface="+mn-cs"/>
                        </a:rPr>
                        <a:t>小羊駝</a:t>
                      </a:r>
                      <a:endParaRPr lang="zh-TW" altLang="en-US" sz="1000" b="1"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Hugging Face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TRL</a:t>
                      </a: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MLX-LM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(Apple)</a:t>
                      </a: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1" cap="none" spc="0" dirty="0">
                          <a:ln w="0"/>
                          <a:solidFill>
                            <a:schemeClr val="tx1"/>
                          </a:solidFill>
                          <a:effectLst/>
                          <a:latin typeface="+mn-lt"/>
                        </a:rPr>
                        <a:t>Axolotl</a:t>
                      </a:r>
                    </a:p>
                    <a:p>
                      <a:pPr algn="ctr"/>
                      <a:r>
                        <a:rPr lang="zh-TW" altLang="zh-TW" sz="1200" b="0" i="0" kern="1200" dirty="0">
                          <a:solidFill>
                            <a:schemeClr val="tx1"/>
                          </a:solidFill>
                          <a:effectLst/>
                          <a:latin typeface="+mn-lt"/>
                          <a:ea typeface="+mn-ea"/>
                          <a:cs typeface="+mn-cs"/>
                        </a:rPr>
                        <a:t>/ˈæk.sə.lɑ.təl/</a:t>
                      </a:r>
                      <a:r>
                        <a:rPr lang="zh-TW" altLang="zh-TW" sz="1000" b="1" i="0" kern="1200" dirty="0">
                          <a:solidFill>
                            <a:schemeClr val="tx1"/>
                          </a:solidFill>
                          <a:effectLst/>
                          <a:latin typeface="微軟正黑體" panose="020B0604030504040204" pitchFamily="34" charset="-120"/>
                          <a:ea typeface="微軟正黑體" panose="020B0604030504040204" pitchFamily="34" charset="-120"/>
                          <a:cs typeface="+mn-cs"/>
                        </a:rPr>
                        <a:t>美西螈</a:t>
                      </a:r>
                      <a:endParaRPr lang="zh-TW" altLang="en-US" sz="1000" b="1"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1" cap="none" spc="0" dirty="0">
                          <a:ln w="0"/>
                          <a:solidFill>
                            <a:schemeClr val="tx1"/>
                          </a:solidFill>
                          <a:effectLst/>
                          <a:latin typeface="+mn-lt"/>
                        </a:rPr>
                        <a:t>Unsloth</a:t>
                      </a:r>
                    </a:p>
                    <a:p>
                      <a:pPr algn="ctr"/>
                      <a:r>
                        <a:rPr lang="zh-TW" altLang="zh-TW" sz="1200" b="0" i="0" kern="1200" dirty="0">
                          <a:solidFill>
                            <a:schemeClr val="tx1"/>
                          </a:solidFill>
                          <a:effectLst/>
                          <a:latin typeface="+mn-lt"/>
                          <a:ea typeface="+mn-ea"/>
                          <a:cs typeface="+mn-cs"/>
                        </a:rPr>
                        <a:t>/ʌn</a:t>
                      </a:r>
                      <a:r>
                        <a:rPr lang="en-US" altLang="zh-TW" sz="1200" b="0" i="0" kern="1200" dirty="0">
                          <a:solidFill>
                            <a:schemeClr val="tx1"/>
                          </a:solidFill>
                          <a:effectLst/>
                          <a:latin typeface="+mn-lt"/>
                          <a:ea typeface="+mn-ea"/>
                          <a:cs typeface="+mn-cs"/>
                        </a:rPr>
                        <a:t>.</a:t>
                      </a:r>
                      <a:r>
                        <a:rPr lang="zh-TW" altLang="zh-TW" sz="1200" b="0" i="0" kern="1200" dirty="0">
                          <a:solidFill>
                            <a:schemeClr val="tx1"/>
                          </a:solidFill>
                          <a:effectLst/>
                          <a:latin typeface="+mn-lt"/>
                          <a:ea typeface="+mn-ea"/>
                          <a:cs typeface="+mn-cs"/>
                        </a:rPr>
                        <a:t>slɑːθ/</a:t>
                      </a:r>
                      <a:r>
                        <a:rPr lang="zh-TW" altLang="zh-TW" sz="1000" b="0" i="0" kern="1200" dirty="0">
                          <a:solidFill>
                            <a:schemeClr val="tx1"/>
                          </a:solidFill>
                          <a:effectLst/>
                          <a:latin typeface="微軟正黑體" panose="020B0604030504040204" pitchFamily="34" charset="-120"/>
                          <a:ea typeface="微軟正黑體" panose="020B0604030504040204" pitchFamily="34" charset="-120"/>
                          <a:cs typeface="+mn-cs"/>
                        </a:rPr>
                        <a:t>樹懶</a:t>
                      </a:r>
                      <a:endParaRPr lang="en-US" altLang="zh-TW" sz="1000" b="1"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kumimoji="0" lang="zh-TW" altLang="zh-TW" sz="1200" b="1" i="0" u="none" strike="noStrike" kern="1200" cap="none" spc="0" normalizeH="0" baseline="0" noProof="0" dirty="0">
                          <a:ln>
                            <a:noFill/>
                          </a:ln>
                          <a:solidFill>
                            <a:prstClr val="black"/>
                          </a:solidFill>
                          <a:effectLst/>
                          <a:uLnTx/>
                          <a:uFillTx/>
                          <a:latin typeface="+mn-lt"/>
                          <a:ea typeface="+mn-ea"/>
                          <a:cs typeface="+mn-cs"/>
                        </a:rPr>
                        <a:t>Ultralytics</a:t>
                      </a:r>
                      <a:endParaRPr kumimoji="0" lang="en-US" altLang="zh-TW" sz="1200" b="1" i="0" u="none" strike="noStrike" kern="1200" cap="none" spc="0" normalizeH="0" baseline="0" noProof="0" dirty="0">
                        <a:ln>
                          <a:noFill/>
                        </a:ln>
                        <a:solidFill>
                          <a:prstClr val="black"/>
                        </a:solidFill>
                        <a:effectLst/>
                        <a:uLnTx/>
                        <a:uFillTx/>
                        <a:latin typeface="+mn-lt"/>
                        <a:ea typeface="+mn-ea"/>
                        <a:cs typeface="+mn-cs"/>
                      </a:endParaRPr>
                    </a:p>
                    <a:p>
                      <a:pPr algn="ctr"/>
                      <a:r>
                        <a:rPr lang="zh-TW" altLang="zh-TW" sz="1200" b="0" i="0" kern="1200" dirty="0">
                          <a:solidFill>
                            <a:schemeClr val="tx1"/>
                          </a:solidFill>
                          <a:effectLst/>
                          <a:latin typeface="+mn-lt"/>
                          <a:ea typeface="+mn-ea"/>
                          <a:cs typeface="+mn-cs"/>
                        </a:rPr>
                        <a:t>/ˈʌl.trə</a:t>
                      </a:r>
                      <a:r>
                        <a:rPr lang="en-US" altLang="zh-TW" sz="1200" b="0" i="0" kern="1200" dirty="0">
                          <a:solidFill>
                            <a:schemeClr val="tx1"/>
                          </a:solidFill>
                          <a:effectLst/>
                          <a:latin typeface="+mn-lt"/>
                          <a:ea typeface="+mn-ea"/>
                          <a:cs typeface="+mn-cs"/>
                        </a:rPr>
                        <a:t>.</a:t>
                      </a:r>
                      <a:r>
                        <a:rPr lang="zh-TW" altLang="zh-TW" sz="1200" b="0" i="0" kern="1200" dirty="0">
                          <a:solidFill>
                            <a:schemeClr val="tx1"/>
                          </a:solidFill>
                          <a:effectLst/>
                          <a:latin typeface="+mn-lt"/>
                          <a:ea typeface="+mn-ea"/>
                          <a:cs typeface="+mn-cs"/>
                        </a:rPr>
                        <a:t>ˈlɪt.ɪks/</a:t>
                      </a:r>
                      <a:r>
                        <a:rPr kumimoji="0" lang="zh-TW" altLang="zh-TW" sz="1200" b="1" i="0" u="none" strike="noStrike" kern="1200" cap="none" spc="0" normalizeH="0" baseline="0" noProof="0" dirty="0">
                          <a:ln>
                            <a:noFill/>
                          </a:ln>
                          <a:solidFill>
                            <a:prstClr val="black"/>
                          </a:solidFill>
                          <a:effectLst/>
                          <a:uLnTx/>
                          <a:uFillTx/>
                          <a:latin typeface="+mn-lt"/>
                          <a:ea typeface="+mn-ea"/>
                          <a:cs typeface="+mn-cs"/>
                        </a:rPr>
                        <a:t> </a:t>
                      </a:r>
                      <a:endParaRPr lang="en-US" altLang="zh-TW" sz="1200" b="1" cap="none" spc="0" dirty="0">
                        <a:ln w="0"/>
                        <a:solidFill>
                          <a:schemeClr val="tx1"/>
                        </a:solidFill>
                        <a:effectLst/>
                        <a:latin typeface="+mn-lt"/>
                      </a:endParaRP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335245">
                <a:tc>
                  <a:txBody>
                    <a:bodyPr/>
                    <a:lstStyle/>
                    <a:p>
                      <a:pPr algn="ctr"/>
                      <a:r>
                        <a:rPr lang="en-US" altLang="zh-TW" sz="1200" b="0" cap="none" spc="0" dirty="0">
                          <a:ln w="0"/>
                          <a:solidFill>
                            <a:schemeClr val="tx1"/>
                          </a:solidFill>
                          <a:effectLst/>
                        </a:rPr>
                        <a:t>Gradio</a:t>
                      </a:r>
                    </a:p>
                    <a:p>
                      <a:pPr algn="ctr"/>
                      <a:r>
                        <a:rPr lang="en-US" altLang="zh-TW" sz="1200" b="0" cap="none" spc="0" dirty="0">
                          <a:ln w="0"/>
                          <a:solidFill>
                            <a:schemeClr val="tx1"/>
                          </a:solidFill>
                          <a:effectLst/>
                        </a:rPr>
                        <a:t>WebUI</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HF</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One-command local fine-tuning</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YAML</a:t>
                      </a:r>
                      <a:br>
                        <a:rPr lang="en-US" altLang="zh-TW" sz="1200" b="0" cap="none" spc="0" dirty="0">
                          <a:ln w="0"/>
                          <a:solidFill>
                            <a:schemeClr val="tx1"/>
                          </a:solidFill>
                          <a:effectLst/>
                        </a:rPr>
                      </a:br>
                      <a:r>
                        <a:rPr lang="en-US" altLang="zh-TW" sz="1200" b="0" cap="none" spc="0" dirty="0">
                          <a:ln w="0"/>
                          <a:solidFill>
                            <a:schemeClr val="tx1"/>
                          </a:solidFill>
                          <a:effectLst/>
                        </a:rPr>
                        <a:t>Disruptive Tech</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Open WebUI</a:t>
                      </a:r>
                    </a:p>
                    <a:p>
                      <a:pPr algn="ctr"/>
                      <a:r>
                        <a:rPr lang="en-US" altLang="zh-TW" sz="1200" b="0" cap="none" spc="0" dirty="0">
                          <a:ln w="0"/>
                          <a:solidFill>
                            <a:schemeClr val="tx1"/>
                          </a:solidFill>
                          <a:effectLst/>
                        </a:rPr>
                        <a:t>Offline Dominator</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YOLO 11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ONNX</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335245">
                <a:tc>
                  <a:txBody>
                    <a:bodyPr/>
                    <a:lstStyle/>
                    <a:p>
                      <a:pPr algn="ctr"/>
                      <a:r>
                        <a:rPr lang="en-US" altLang="zh-TW" sz="1200" b="0" cap="none" spc="0" dirty="0">
                          <a:ln w="0"/>
                          <a:solidFill>
                            <a:schemeClr val="tx1"/>
                          </a:solidFill>
                          <a:effectLst/>
                        </a:rPr>
                        <a:t>Easy-to-use</a:t>
                      </a:r>
                    </a:p>
                    <a:p>
                      <a:pPr algn="ctr"/>
                      <a:r>
                        <a:rPr lang="en-US" altLang="zh-TW" sz="1200" b="0" cap="none" spc="0" dirty="0">
                          <a:ln w="0"/>
                          <a:solidFill>
                            <a:schemeClr val="tx1"/>
                          </a:solidFill>
                          <a:effectLst/>
                        </a:rPr>
                        <a:t>(Low-code)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Python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One-command local fine-tuning</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Flexible, </a:t>
                      </a:r>
                    </a:p>
                    <a:p>
                      <a:pPr algn="ctr"/>
                      <a:r>
                        <a:rPr lang="en-US" altLang="zh-TW" sz="1200" b="0" cap="none" spc="0" dirty="0">
                          <a:ln w="0"/>
                          <a:solidFill>
                            <a:schemeClr val="tx1"/>
                          </a:solidFill>
                          <a:effectLst/>
                        </a:rPr>
                        <a:t>config-driven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Ultra-fast,</a:t>
                      </a:r>
                    </a:p>
                    <a:p>
                      <a:pPr algn="ctr"/>
                      <a:r>
                        <a:rPr lang="en-US" altLang="zh-TW" sz="1200" b="0" cap="none" spc="0" dirty="0">
                          <a:ln w="0"/>
                          <a:solidFill>
                            <a:schemeClr val="tx1"/>
                          </a:solidFill>
                          <a:effectLst/>
                        </a:rPr>
                        <a:t>Low-memory</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High-performance, </a:t>
                      </a:r>
                    </a:p>
                    <a:p>
                      <a:pPr algn="ctr"/>
                      <a:r>
                        <a:rPr lang="en-US" altLang="zh-TW" sz="1200" b="0" cap="none" spc="0" dirty="0">
                          <a:ln w="0"/>
                          <a:solidFill>
                            <a:schemeClr val="tx1"/>
                          </a:solidFill>
                          <a:effectLst/>
                        </a:rPr>
                        <a:t>real-time object detection </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178612504"/>
                  </a:ext>
                </a:extLst>
              </a:tr>
              <a:tr h="288810">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3352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Meta PyTorch FSDP2,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Hugging Face TRL,</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lashAttention-3</a:t>
                      </a:r>
                    </a:p>
                    <a:p>
                      <a:pPr algn="ctr"/>
                      <a:r>
                        <a:rPr lang="en-US" altLang="zh-TW" sz="1200" b="0" cap="none" spc="0" dirty="0">
                          <a:ln w="0"/>
                          <a:solidFill>
                            <a:schemeClr val="tx1"/>
                          </a:solidFill>
                          <a:effectLst/>
                        </a:rPr>
                        <a:t>Multipack, xFormers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Improved PyTorch,</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OpenAI Triton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TensorRT,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 OpenVINO Toolkit</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r h="2888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MS DeepSpeed</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Megatron-DeepSpeed</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NV</a:t>
                      </a:r>
                      <a:r>
                        <a:rPr lang="zh-TW" altLang="en-US" sz="1200" b="0" cap="none" spc="0" dirty="0">
                          <a:ln w="0"/>
                          <a:solidFill>
                            <a:schemeClr val="tx1"/>
                          </a:solidFill>
                          <a:effectLst/>
                        </a:rPr>
                        <a:t> </a:t>
                      </a:r>
                      <a:r>
                        <a:rPr lang="en-US" altLang="zh-TW" sz="1200" b="0" cap="none" spc="0" dirty="0">
                          <a:ln w="0"/>
                          <a:solidFill>
                            <a:schemeClr val="tx1"/>
                          </a:solidFill>
                          <a:effectLst/>
                        </a:rPr>
                        <a:t>Megatron-LM, CUDA</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NV </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645482051"/>
                  </a:ext>
                </a:extLst>
              </a:tr>
              <a:tr h="288810">
                <a:tc>
                  <a:txBody>
                    <a:bodyPr/>
                    <a:lstStyle/>
                    <a:p>
                      <a:pPr algn="ctr"/>
                      <a:r>
                        <a:rPr lang="en-US" altLang="zh-TW" sz="1200" b="0" cap="none" spc="0" dirty="0">
                          <a:ln w="0"/>
                          <a:solidFill>
                            <a:schemeClr val="tx1"/>
                          </a:solidFill>
                          <a:effectLst/>
                        </a:rPr>
                        <a:t>PC/NB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PC/NB</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PC</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extLst>
                  <a:ext uri="{0D108BD9-81ED-4DB2-BD59-A6C34878D82A}">
                    <a16:rowId xmlns:a16="http://schemas.microsoft.com/office/drawing/2014/main" val="132523365"/>
                  </a:ext>
                </a:extLst>
              </a:tr>
            </a:tbl>
          </a:graphicData>
        </a:graphic>
      </p:graphicFrame>
      <p:pic>
        <p:nvPicPr>
          <p:cNvPr id="8" name="圖片 7">
            <a:extLst>
              <a:ext uri="{FF2B5EF4-FFF2-40B4-BE49-F238E27FC236}">
                <a16:creationId xmlns:a16="http://schemas.microsoft.com/office/drawing/2014/main" id="{3E4BF44D-72A8-155F-5FEF-FF52AE9835D0}"/>
              </a:ext>
            </a:extLst>
          </p:cNvPr>
          <p:cNvPicPr>
            <a:picLocks noChangeAspect="1"/>
          </p:cNvPicPr>
          <p:nvPr/>
        </p:nvPicPr>
        <p:blipFill>
          <a:blip r:embed="rId3"/>
          <a:stretch>
            <a:fillRect/>
          </a:stretch>
        </p:blipFill>
        <p:spPr>
          <a:xfrm>
            <a:off x="4918173" y="1571103"/>
            <a:ext cx="468845" cy="612186"/>
          </a:xfrm>
          <a:prstGeom prst="rect">
            <a:avLst/>
          </a:prstGeom>
        </p:spPr>
      </p:pic>
      <p:pic>
        <p:nvPicPr>
          <p:cNvPr id="10" name="圖片 9">
            <a:extLst>
              <a:ext uri="{FF2B5EF4-FFF2-40B4-BE49-F238E27FC236}">
                <a16:creationId xmlns:a16="http://schemas.microsoft.com/office/drawing/2014/main" id="{35AB2B3A-E1D8-12EC-C70D-F1D3314C8D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61324" y="1630331"/>
            <a:ext cx="511322" cy="511320"/>
          </a:xfrm>
          <a:prstGeom prst="rect">
            <a:avLst/>
          </a:prstGeom>
        </p:spPr>
      </p:pic>
      <p:pic>
        <p:nvPicPr>
          <p:cNvPr id="12" name="圖片 11">
            <a:extLst>
              <a:ext uri="{FF2B5EF4-FFF2-40B4-BE49-F238E27FC236}">
                <a16:creationId xmlns:a16="http://schemas.microsoft.com/office/drawing/2014/main" id="{8FE807A9-33DB-3107-644A-5FA5F14046A6}"/>
              </a:ext>
            </a:extLst>
          </p:cNvPr>
          <p:cNvPicPr>
            <a:picLocks noChangeAspect="1"/>
          </p:cNvPicPr>
          <p:nvPr/>
        </p:nvPicPr>
        <p:blipFill>
          <a:blip r:embed="rId5"/>
          <a:stretch>
            <a:fillRect/>
          </a:stretch>
        </p:blipFill>
        <p:spPr>
          <a:xfrm>
            <a:off x="971600" y="1609550"/>
            <a:ext cx="798718" cy="535293"/>
          </a:xfrm>
          <a:prstGeom prst="rect">
            <a:avLst/>
          </a:prstGeom>
        </p:spPr>
      </p:pic>
      <p:pic>
        <p:nvPicPr>
          <p:cNvPr id="14" name="圖片 13">
            <a:extLst>
              <a:ext uri="{FF2B5EF4-FFF2-40B4-BE49-F238E27FC236}">
                <a16:creationId xmlns:a16="http://schemas.microsoft.com/office/drawing/2014/main" id="{5C6322F9-E94E-0EA9-1F00-B7B8D76198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91292" y="1642124"/>
            <a:ext cx="511320" cy="511320"/>
          </a:xfrm>
          <a:prstGeom prst="rect">
            <a:avLst/>
          </a:prstGeom>
        </p:spPr>
      </p:pic>
      <p:pic>
        <p:nvPicPr>
          <p:cNvPr id="4" name="圖片 3">
            <a:extLst>
              <a:ext uri="{FF2B5EF4-FFF2-40B4-BE49-F238E27FC236}">
                <a16:creationId xmlns:a16="http://schemas.microsoft.com/office/drawing/2014/main" id="{17769C83-A1FB-75F4-4253-A03E2A898C7D}"/>
              </a:ext>
            </a:extLst>
          </p:cNvPr>
          <p:cNvPicPr>
            <a:picLocks noChangeAspect="1"/>
          </p:cNvPicPr>
          <p:nvPr/>
        </p:nvPicPr>
        <p:blipFill>
          <a:blip r:embed="rId7"/>
          <a:stretch>
            <a:fillRect/>
          </a:stretch>
        </p:blipFill>
        <p:spPr>
          <a:xfrm>
            <a:off x="3738578" y="1621837"/>
            <a:ext cx="584846" cy="561452"/>
          </a:xfrm>
          <a:prstGeom prst="rect">
            <a:avLst/>
          </a:prstGeom>
        </p:spPr>
      </p:pic>
      <p:pic>
        <p:nvPicPr>
          <p:cNvPr id="7" name="圖片 6">
            <a:extLst>
              <a:ext uri="{FF2B5EF4-FFF2-40B4-BE49-F238E27FC236}">
                <a16:creationId xmlns:a16="http://schemas.microsoft.com/office/drawing/2014/main" id="{A9192D10-9C29-66BC-B2D1-87AFD7FFA83B}"/>
              </a:ext>
            </a:extLst>
          </p:cNvPr>
          <p:cNvPicPr>
            <a:picLocks noChangeAspect="1"/>
          </p:cNvPicPr>
          <p:nvPr/>
        </p:nvPicPr>
        <p:blipFill>
          <a:blip r:embed="rId8"/>
          <a:stretch>
            <a:fillRect/>
          </a:stretch>
        </p:blipFill>
        <p:spPr>
          <a:xfrm>
            <a:off x="2428171" y="1608689"/>
            <a:ext cx="610836" cy="574600"/>
          </a:xfrm>
          <a:prstGeom prst="rect">
            <a:avLst/>
          </a:prstGeom>
        </p:spPr>
      </p:pic>
    </p:spTree>
    <p:extLst>
      <p:ext uri="{BB962C8B-B14F-4D97-AF65-F5344CB8AC3E}">
        <p14:creationId xmlns:p14="http://schemas.microsoft.com/office/powerpoint/2010/main" val="23446822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DE853544-DBA0-E3DB-54BF-4BDC27EE2E9F}"/>
              </a:ext>
            </a:extLst>
          </p:cNvPr>
          <p:cNvSpPr txBox="1"/>
          <p:nvPr/>
        </p:nvSpPr>
        <p:spPr>
          <a:xfrm>
            <a:off x="287524" y="4375264"/>
            <a:ext cx="8568952" cy="1862048"/>
          </a:xfrm>
          <a:prstGeom prst="rect">
            <a:avLst/>
          </a:prstGeom>
          <a:noFill/>
          <a:ln>
            <a:solidFill>
              <a:schemeClr val="bg1"/>
            </a:solidFill>
          </a:ln>
        </p:spPr>
        <p:txBody>
          <a:bodyPr wrap="square">
            <a:spAutoFit/>
          </a:bodyPr>
          <a:lstStyle/>
          <a:p>
            <a:pPr>
              <a:lnSpc>
                <a:spcPts val="1800"/>
              </a:lnSpc>
              <a:spcBef>
                <a:spcPts val="600"/>
              </a:spcBef>
              <a:spcAft>
                <a:spcPts val="600"/>
              </a:spcAft>
            </a:pPr>
            <a:r>
              <a:rPr lang="en-US" altLang="zh-TW" sz="2000" b="1" dirty="0"/>
              <a:t>Key Trends</a:t>
            </a:r>
            <a:endParaRPr lang="en-US" altLang="zh-TW" sz="16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Data Transition</a:t>
            </a:r>
            <a:r>
              <a:rPr lang="en-US" altLang="zh-TW" sz="1600" b="0" u="none" strike="noStrike" dirty="0">
                <a:effectLst/>
              </a:rPr>
              <a:t>: Shifting from Quantity (raw web) to </a:t>
            </a:r>
            <a:r>
              <a:rPr lang="en-US" altLang="zh-TW" sz="1600" b="0" u="none" strike="noStrike" dirty="0">
                <a:solidFill>
                  <a:schemeClr val="accent6">
                    <a:lumMod val="75000"/>
                  </a:schemeClr>
                </a:solidFill>
                <a:effectLst/>
              </a:rPr>
              <a:t>Quality</a:t>
            </a:r>
            <a:r>
              <a:rPr lang="en-US" altLang="zh-TW" sz="1600" b="0" u="none" strike="noStrike" dirty="0">
                <a:effectLst/>
              </a:rPr>
              <a:t> (curated c</a:t>
            </a:r>
            <a:r>
              <a:rPr lang="en-US" altLang="zh-TW" sz="1600" dirty="0"/>
              <a:t>orpora)</a:t>
            </a:r>
            <a:r>
              <a:rPr lang="en-US" altLang="zh-TW" sz="1600" b="0" u="none" strike="noStrike" dirty="0">
                <a:effectLst/>
              </a:rPr>
              <a:t>.</a:t>
            </a:r>
          </a:p>
          <a:p>
            <a:pPr marL="285750" indent="-285750">
              <a:lnSpc>
                <a:spcPts val="1800"/>
              </a:lnSpc>
              <a:spcBef>
                <a:spcPts val="600"/>
              </a:spcBef>
              <a:spcAft>
                <a:spcPts val="600"/>
              </a:spcAft>
              <a:buFont typeface="Wingdings" panose="05000000000000000000" pitchFamily="2" charset="2"/>
              <a:buChar char="Ø"/>
            </a:pPr>
            <a:r>
              <a:rPr lang="en-US" altLang="zh-TW" sz="1600" b="1" dirty="0"/>
              <a:t>Architecture (MoE)</a:t>
            </a:r>
            <a:r>
              <a:rPr lang="en-US" altLang="zh-TW" sz="1600" dirty="0"/>
              <a:t>: Activating only relevant sub-networks to drastically lower inference </a:t>
            </a:r>
            <a:r>
              <a:rPr lang="en-US" altLang="zh-TW" sz="1600" dirty="0">
                <a:solidFill>
                  <a:schemeClr val="accent6">
                    <a:lumMod val="75000"/>
                  </a:schemeClr>
                </a:solidFill>
              </a:rPr>
              <a:t>costs</a:t>
            </a:r>
            <a:r>
              <a:rPr lang="en-US" altLang="zh-TW" sz="1600" dirty="0"/>
              <a:t>.</a:t>
            </a:r>
            <a:endParaRPr lang="en-US" altLang="zh-TW" sz="1600" dirty="0">
              <a:solidFill>
                <a:schemeClr val="bg1">
                  <a:lumMod val="75000"/>
                </a:schemeClr>
              </a:solidFill>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Native Modality</a:t>
            </a:r>
            <a:r>
              <a:rPr lang="en-US" altLang="zh-TW" sz="1600" dirty="0"/>
              <a:t>: Integrating real-time voice and video natively for next-gen AI Agents.</a:t>
            </a:r>
          </a:p>
          <a:p>
            <a:pPr marL="285750" indent="-285750">
              <a:lnSpc>
                <a:spcPts val="1800"/>
              </a:lnSpc>
              <a:spcBef>
                <a:spcPts val="600"/>
              </a:spcBef>
              <a:spcAft>
                <a:spcPts val="600"/>
              </a:spcAft>
              <a:buFont typeface="Wingdings" panose="05000000000000000000" pitchFamily="2" charset="2"/>
              <a:buChar char="Ø"/>
            </a:pPr>
            <a:r>
              <a:rPr lang="en-US" altLang="zh-TW" sz="1600" b="1" dirty="0"/>
              <a:t>Efficient Deployment</a:t>
            </a:r>
            <a:r>
              <a:rPr lang="en-US" altLang="zh-TW" sz="1600" dirty="0"/>
              <a:t>: Embracing Smaller Language Models (SLMs) for </a:t>
            </a:r>
            <a:r>
              <a:rPr lang="en-US" altLang="zh-TW" sz="1600" dirty="0">
                <a:solidFill>
                  <a:schemeClr val="accent6">
                    <a:lumMod val="75000"/>
                  </a:schemeClr>
                </a:solidFill>
              </a:rPr>
              <a:t>secure</a:t>
            </a:r>
            <a:r>
              <a:rPr lang="en-US" altLang="zh-TW" sz="1600" dirty="0"/>
              <a:t>, on-device AI.</a:t>
            </a:r>
            <a:endParaRPr lang="en-US" altLang="zh-TW" sz="1600" dirty="0">
              <a:solidFill>
                <a:schemeClr val="bg1">
                  <a:lumMod val="75000"/>
                </a:schemeClr>
              </a:solidFill>
            </a:endParaRPr>
          </a:p>
        </p:txBody>
      </p:sp>
      <p:grpSp>
        <p:nvGrpSpPr>
          <p:cNvPr id="6" name="群組 5">
            <a:extLst>
              <a:ext uri="{FF2B5EF4-FFF2-40B4-BE49-F238E27FC236}">
                <a16:creationId xmlns:a16="http://schemas.microsoft.com/office/drawing/2014/main" id="{5E04EBFC-4EB4-0EDE-A780-590452CD0E38}"/>
              </a:ext>
            </a:extLst>
          </p:cNvPr>
          <p:cNvGrpSpPr/>
          <p:nvPr/>
        </p:nvGrpSpPr>
        <p:grpSpPr>
          <a:xfrm>
            <a:off x="899592" y="1124744"/>
            <a:ext cx="2137548" cy="2183010"/>
            <a:chOff x="852998" y="2783412"/>
            <a:chExt cx="2137548" cy="2183010"/>
          </a:xfrm>
        </p:grpSpPr>
        <p:sp>
          <p:nvSpPr>
            <p:cNvPr id="7" name="弧形 6">
              <a:extLst>
                <a:ext uri="{FF2B5EF4-FFF2-40B4-BE49-F238E27FC236}">
                  <a16:creationId xmlns:a16="http://schemas.microsoft.com/office/drawing/2014/main" id="{ADE78692-DD87-A403-B53B-072E2A6E9BC6}"/>
                </a:ext>
              </a:extLst>
            </p:cNvPr>
            <p:cNvSpPr/>
            <p:nvPr/>
          </p:nvSpPr>
          <p:spPr>
            <a:xfrm>
              <a:off x="852998" y="2869831"/>
              <a:ext cx="2137548" cy="2096591"/>
            </a:xfrm>
            <a:prstGeom prst="arc">
              <a:avLst>
                <a:gd name="adj1" fmla="val 16400852"/>
                <a:gd name="adj2" fmla="val 12348078"/>
              </a:avLst>
            </a:prstGeom>
            <a:solidFill>
              <a:schemeClr val="accent1">
                <a:lumMod val="20000"/>
                <a:lumOff val="80000"/>
                <a:alpha val="40000"/>
              </a:schemeClr>
            </a:solidFill>
            <a:ln w="25400">
              <a:solidFill>
                <a:schemeClr val="accent1">
                  <a:lumMod val="40000"/>
                  <a:lumOff val="60000"/>
                  <a:alpha val="40000"/>
                </a:schemeClr>
              </a:solidFill>
            </a:ln>
          </p:spPr>
          <p:style>
            <a:lnRef idx="1">
              <a:schemeClr val="accent1"/>
            </a:lnRef>
            <a:fillRef idx="0">
              <a:schemeClr val="accent1"/>
            </a:fillRef>
            <a:effectRef idx="0">
              <a:schemeClr val="accent1"/>
            </a:effectRef>
            <a:fontRef idx="minor">
              <a:schemeClr val="tx1"/>
            </a:fontRef>
          </p:style>
          <p:txBody>
            <a:bodyPr wrap="none" lIns="1097280" tIns="0" rIns="0" bIns="91440" rtlCol="0" anchor="b" anchorCtr="1"/>
            <a:lstStyle/>
            <a:p>
              <a:pPr algn="ctr"/>
              <a:endParaRPr lang="zh-TW" altLang="en-US" dirty="0">
                <a:solidFill>
                  <a:schemeClr val="accent5">
                    <a:lumMod val="75000"/>
                  </a:schemeClr>
                </a:solidFill>
                <a:latin typeface="ADLaM Display" panose="02010000000000000000" pitchFamily="2" charset="0"/>
                <a:cs typeface="ADLaM Display" panose="02010000000000000000" pitchFamily="2" charset="0"/>
              </a:endParaRPr>
            </a:p>
          </p:txBody>
        </p:sp>
        <p:sp>
          <p:nvSpPr>
            <p:cNvPr id="9" name="雲朵形 8">
              <a:extLst>
                <a:ext uri="{FF2B5EF4-FFF2-40B4-BE49-F238E27FC236}">
                  <a16:creationId xmlns:a16="http://schemas.microsoft.com/office/drawing/2014/main" id="{0D4D7F0B-3B8A-40C4-3859-2BE266019CFB}"/>
                </a:ext>
              </a:extLst>
            </p:cNvPr>
            <p:cNvSpPr/>
            <p:nvPr/>
          </p:nvSpPr>
          <p:spPr>
            <a:xfrm>
              <a:off x="852998" y="2783412"/>
              <a:ext cx="1400005" cy="818598"/>
            </a:xfrm>
            <a:prstGeom prst="cloud">
              <a:avLst/>
            </a:prstGeom>
            <a:solidFill>
              <a:schemeClr val="bg1">
                <a:alpha val="9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600" dirty="0">
                <a:solidFill>
                  <a:schemeClr val="tx2"/>
                </a:solidFill>
              </a:endParaRPr>
            </a:p>
          </p:txBody>
        </p:sp>
        <p:sp>
          <p:nvSpPr>
            <p:cNvPr id="10" name="文字方塊 9">
              <a:extLst>
                <a:ext uri="{FF2B5EF4-FFF2-40B4-BE49-F238E27FC236}">
                  <a16:creationId xmlns:a16="http://schemas.microsoft.com/office/drawing/2014/main" id="{0933DF4D-AD42-441A-13FF-5E50431F984F}"/>
                </a:ext>
              </a:extLst>
            </p:cNvPr>
            <p:cNvSpPr txBox="1"/>
            <p:nvPr/>
          </p:nvSpPr>
          <p:spPr>
            <a:xfrm>
              <a:off x="1285046" y="4223572"/>
              <a:ext cx="1024639" cy="323239"/>
            </a:xfrm>
            <a:prstGeom prst="rect">
              <a:avLst/>
            </a:prstGeom>
            <a:noFill/>
          </p:spPr>
          <p:txBody>
            <a:bodyPr wrap="none" tIns="0" rIns="0" bIns="0" anchor="ctr" anchorCtr="0">
              <a:noAutofit/>
            </a:bodyPr>
            <a:lstStyle/>
            <a:p>
              <a:r>
                <a:rPr lang="en-US" altLang="zh-TW"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Edge AI</a:t>
              </a:r>
            </a:p>
          </p:txBody>
        </p:sp>
        <p:cxnSp>
          <p:nvCxnSpPr>
            <p:cNvPr id="11" name="直線單箭頭接點 10">
              <a:extLst>
                <a:ext uri="{FF2B5EF4-FFF2-40B4-BE49-F238E27FC236}">
                  <a16:creationId xmlns:a16="http://schemas.microsoft.com/office/drawing/2014/main" id="{61D0780E-0D93-AC04-23AC-5BC70DB675D1}"/>
                </a:ext>
              </a:extLst>
            </p:cNvPr>
            <p:cNvCxnSpPr>
              <a:cxnSpLocks/>
              <a:stCxn id="13" idx="2"/>
              <a:endCxn id="10" idx="0"/>
            </p:cNvCxnSpPr>
            <p:nvPr/>
          </p:nvCxnSpPr>
          <p:spPr>
            <a:xfrm>
              <a:off x="1456803" y="3454996"/>
              <a:ext cx="340563" cy="768576"/>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1E98D504-3706-7625-D7D4-1EF4B42EEE93}"/>
                </a:ext>
              </a:extLst>
            </p:cNvPr>
            <p:cNvSpPr txBox="1"/>
            <p:nvPr/>
          </p:nvSpPr>
          <p:spPr>
            <a:xfrm>
              <a:off x="980487" y="2999436"/>
              <a:ext cx="952631" cy="455560"/>
            </a:xfrm>
            <a:prstGeom prst="rect">
              <a:avLst/>
            </a:prstGeom>
            <a:noFill/>
          </p:spPr>
          <p:txBody>
            <a:bodyPr wrap="none" lIns="0" tIns="0" rIns="0" bIns="0" anchor="ctr" anchorCtr="1">
              <a:noAutofit/>
            </a:bodyPr>
            <a:lstStyle/>
            <a:p>
              <a:pPr algn="ctr">
                <a:lnSpc>
                  <a:spcPts val="1800"/>
                </a:lnSpc>
              </a:pPr>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Cloude</a:t>
              </a:r>
            </a:p>
            <a:p>
              <a:pPr algn="ctr">
                <a:lnSpc>
                  <a:spcPts val="1800"/>
                </a:lnSpc>
              </a:pPr>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 AI</a:t>
              </a:r>
            </a:p>
          </p:txBody>
        </p:sp>
      </p:grpSp>
      <p:sp>
        <p:nvSpPr>
          <p:cNvPr id="8" name="標題 1">
            <a:extLst>
              <a:ext uri="{FF2B5EF4-FFF2-40B4-BE49-F238E27FC236}">
                <a16:creationId xmlns:a16="http://schemas.microsoft.com/office/drawing/2014/main" id="{173EE053-1FAE-538C-ABFD-598B0D03DD4E}"/>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Emerging Trends in AI Systems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From Scale-Driven infrastructure to intelligence at the edge.</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4" name="表格 3">
            <a:extLst>
              <a:ext uri="{FF2B5EF4-FFF2-40B4-BE49-F238E27FC236}">
                <a16:creationId xmlns:a16="http://schemas.microsoft.com/office/drawing/2014/main" id="{EBD64A5D-812A-71D3-28E3-739F618DBFC8}"/>
              </a:ext>
            </a:extLst>
          </p:cNvPr>
          <p:cNvGraphicFramePr>
            <a:graphicFrameLocks noGrp="1"/>
          </p:cNvGraphicFramePr>
          <p:nvPr>
            <p:extLst>
              <p:ext uri="{D42A27DB-BD31-4B8C-83A1-F6EECF244321}">
                <p14:modId xmlns:p14="http://schemas.microsoft.com/office/powerpoint/2010/main" val="353124642"/>
              </p:ext>
            </p:extLst>
          </p:nvPr>
        </p:nvGraphicFramePr>
        <p:xfrm>
          <a:off x="3635896" y="2060847"/>
          <a:ext cx="2736304" cy="1584177"/>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211145501"/>
                    </a:ext>
                  </a:extLst>
                </a:gridCol>
                <a:gridCol w="888098">
                  <a:extLst>
                    <a:ext uri="{9D8B030D-6E8A-4147-A177-3AD203B41FA5}">
                      <a16:colId xmlns:a16="http://schemas.microsoft.com/office/drawing/2014/main" val="767948712"/>
                    </a:ext>
                  </a:extLst>
                </a:gridCol>
                <a:gridCol w="912102">
                  <a:extLst>
                    <a:ext uri="{9D8B030D-6E8A-4147-A177-3AD203B41FA5}">
                      <a16:colId xmlns:a16="http://schemas.microsoft.com/office/drawing/2014/main" val="2975023522"/>
                    </a:ext>
                  </a:extLst>
                </a:gridCol>
              </a:tblGrid>
              <a:tr h="307254">
                <a:tc>
                  <a:txBody>
                    <a:bodyPr/>
                    <a:lstStyle/>
                    <a:p>
                      <a:endParaRPr lang="zh-TW" altLang="en-US" sz="1600" b="1"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400" b="0" cap="none" spc="0" dirty="0">
                          <a:ln w="0"/>
                          <a:solidFill>
                            <a:schemeClr val="tx1"/>
                          </a:solidFill>
                          <a:effectLst/>
                        </a:rPr>
                        <a:t>LLM</a:t>
                      </a:r>
                      <a:endParaRPr lang="zh-TW" altLang="en-US" sz="14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400" b="0" cap="none" spc="0" dirty="0">
                          <a:ln w="0"/>
                          <a:solidFill>
                            <a:schemeClr val="tx1"/>
                          </a:solidFill>
                          <a:effectLst/>
                        </a:rPr>
                        <a:t>SLM</a:t>
                      </a:r>
                      <a:endParaRPr lang="zh-TW" altLang="en-US" sz="14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307254">
                <a:tc>
                  <a:txBody>
                    <a:bodyPr/>
                    <a:lstStyle/>
                    <a:p>
                      <a:r>
                        <a:rPr lang="en-US" altLang="zh-TW" sz="1200" b="0" cap="none" spc="0" dirty="0">
                          <a:ln w="0"/>
                          <a:solidFill>
                            <a:schemeClr val="tx1"/>
                          </a:solidFill>
                          <a:effectLst/>
                        </a:rPr>
                        <a:t>Parameter</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70B~405B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3~8B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r h="307254">
                <a:tc>
                  <a:txBody>
                    <a:bodyPr/>
                    <a:lstStyle/>
                    <a:p>
                      <a:r>
                        <a:rPr lang="en-US" altLang="zh-TW" sz="1200" b="0" cap="none" spc="0" dirty="0">
                          <a:ln w="0"/>
                          <a:solidFill>
                            <a:schemeClr val="tx1"/>
                          </a:solidFill>
                          <a:effectLst/>
                        </a:rPr>
                        <a:t>H/W</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GPUs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NPU/SoC</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207449185"/>
                  </a:ext>
                </a:extLst>
              </a:tr>
              <a:tr h="294745">
                <a:tc>
                  <a:txBody>
                    <a:bodyPr/>
                    <a:lstStyle/>
                    <a:p>
                      <a:r>
                        <a:rPr lang="en-US" altLang="zh-TW" sz="1200" b="0" cap="none" spc="0" dirty="0">
                          <a:ln w="0"/>
                          <a:solidFill>
                            <a:schemeClr val="tx1"/>
                          </a:solidFill>
                          <a:effectLst/>
                        </a:rPr>
                        <a:t>Memory</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HBM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4~16GB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265565795"/>
                  </a:ext>
                </a:extLst>
              </a:tr>
              <a:tr h="367670">
                <a:tc>
                  <a:txBody>
                    <a:bodyPr/>
                    <a:lstStyle/>
                    <a:p>
                      <a:r>
                        <a:rPr lang="en-US" altLang="zh-TW" sz="1200" b="0" cap="none" spc="0" dirty="0">
                          <a:ln w="0">
                            <a:noFill/>
                          </a:ln>
                          <a:solidFill>
                            <a:schemeClr val="tx1"/>
                          </a:solidFill>
                          <a:effectLst/>
                        </a:rPr>
                        <a:t>Power</a:t>
                      </a:r>
                    </a:p>
                    <a:p>
                      <a:r>
                        <a:rPr lang="en-US" altLang="zh-TW" sz="1200" b="0" cap="none" spc="0" dirty="0">
                          <a:ln w="0">
                            <a:noFill/>
                          </a:ln>
                          <a:solidFill>
                            <a:schemeClr val="tx1"/>
                          </a:solidFill>
                          <a:effectLst/>
                        </a:rPr>
                        <a:t>Consumption</a:t>
                      </a:r>
                      <a:endParaRPr lang="zh-TW" altLang="en-US" sz="1200" b="0" cap="none" spc="0" dirty="0">
                        <a:ln w="0">
                          <a:noFill/>
                        </a:ln>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noFill/>
                          </a:ln>
                          <a:solidFill>
                            <a:schemeClr val="tx1"/>
                          </a:solidFill>
                          <a:effectLst/>
                        </a:rPr>
                        <a:t>MW</a:t>
                      </a:r>
                    </a:p>
                    <a:p>
                      <a:pPr algn="ctr"/>
                      <a:r>
                        <a:rPr lang="en-US" altLang="zh-TW" sz="1200" b="0" cap="none" spc="0" dirty="0">
                          <a:ln w="0">
                            <a:noFill/>
                          </a:ln>
                          <a:solidFill>
                            <a:schemeClr val="tx1"/>
                          </a:solidFill>
                          <a:effectLst/>
                        </a:rPr>
                        <a:t>(Cooling)</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noFill/>
                          </a:ln>
                          <a:solidFill>
                            <a:schemeClr val="tx1"/>
                          </a:solidFill>
                          <a:effectLst/>
                        </a:rPr>
                        <a:t>W</a:t>
                      </a:r>
                    </a:p>
                    <a:p>
                      <a:pPr algn="ctr"/>
                      <a:r>
                        <a:rPr lang="en-US" altLang="zh-TW" sz="1200" b="0" cap="none" spc="0" dirty="0">
                          <a:ln w="0">
                            <a:noFill/>
                          </a:ln>
                          <a:solidFill>
                            <a:schemeClr val="tx1"/>
                          </a:solidFill>
                          <a:effectLst/>
                        </a:rPr>
                        <a:t>(FAN)</a:t>
                      </a:r>
                      <a:endParaRPr lang="zh-TW" altLang="en-US" sz="1200" b="0" cap="none" spc="0" dirty="0">
                        <a:ln w="0">
                          <a:noFill/>
                        </a:ln>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201787730"/>
                  </a:ext>
                </a:extLst>
              </a:tr>
            </a:tbl>
          </a:graphicData>
        </a:graphic>
      </p:graphicFrame>
      <p:graphicFrame>
        <p:nvGraphicFramePr>
          <p:cNvPr id="2" name="表格 1">
            <a:extLst>
              <a:ext uri="{FF2B5EF4-FFF2-40B4-BE49-F238E27FC236}">
                <a16:creationId xmlns:a16="http://schemas.microsoft.com/office/drawing/2014/main" id="{6749B70F-5258-6FA9-79B1-4335864F07BE}"/>
              </a:ext>
            </a:extLst>
          </p:cNvPr>
          <p:cNvGraphicFramePr>
            <a:graphicFrameLocks noGrp="1"/>
          </p:cNvGraphicFramePr>
          <p:nvPr>
            <p:extLst>
              <p:ext uri="{D42A27DB-BD31-4B8C-83A1-F6EECF244321}">
                <p14:modId xmlns:p14="http://schemas.microsoft.com/office/powerpoint/2010/main" val="3834415938"/>
              </p:ext>
            </p:extLst>
          </p:nvPr>
        </p:nvGraphicFramePr>
        <p:xfrm>
          <a:off x="1115616" y="2880605"/>
          <a:ext cx="1645007" cy="764419"/>
        </p:xfrm>
        <a:graphic>
          <a:graphicData uri="http://schemas.openxmlformats.org/drawingml/2006/table">
            <a:tbl>
              <a:tblPr firstRow="1" bandRow="1">
                <a:tableStyleId>{5C22544A-7EE6-4342-B048-85BDC9FD1C3A}</a:tableStyleId>
              </a:tblPr>
              <a:tblGrid>
                <a:gridCol w="1645007">
                  <a:extLst>
                    <a:ext uri="{9D8B030D-6E8A-4147-A177-3AD203B41FA5}">
                      <a16:colId xmlns:a16="http://schemas.microsoft.com/office/drawing/2014/main" val="2211145501"/>
                    </a:ext>
                  </a:extLst>
                </a:gridCol>
              </a:tblGrid>
              <a:tr h="2157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solidFill>
                          <a:effectLst/>
                          <a:uLnTx/>
                          <a:uFillTx/>
                          <a:latin typeface="+mn-lt"/>
                          <a:ea typeface="+mn-ea"/>
                          <a:cs typeface="+mn-cs"/>
                        </a:rPr>
                        <a:t>On-premise and Local</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4061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1"/>
                          </a:solidFill>
                          <a:effectLst/>
                          <a:uLnTx/>
                          <a:uFillTx/>
                          <a:latin typeface="+mn-lt"/>
                          <a:ea typeface="+mn-ea"/>
                          <a:cs typeface="+mn-cs"/>
                        </a:rPr>
                        <a:t>Enabling secure, low-latency, and privacy-first on-device AI.</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642474553"/>
                  </a:ext>
                </a:extLst>
              </a:tr>
            </a:tbl>
          </a:graphicData>
        </a:graphic>
      </p:graphicFrame>
      <p:graphicFrame>
        <p:nvGraphicFramePr>
          <p:cNvPr id="3" name="表格 2">
            <a:extLst>
              <a:ext uri="{FF2B5EF4-FFF2-40B4-BE49-F238E27FC236}">
                <a16:creationId xmlns:a16="http://schemas.microsoft.com/office/drawing/2014/main" id="{8D203658-CE58-BAA2-6096-1412F7920719}"/>
              </a:ext>
            </a:extLst>
          </p:cNvPr>
          <p:cNvGraphicFramePr>
            <a:graphicFrameLocks noGrp="1"/>
          </p:cNvGraphicFramePr>
          <p:nvPr>
            <p:extLst>
              <p:ext uri="{D42A27DB-BD31-4B8C-83A1-F6EECF244321}">
                <p14:modId xmlns:p14="http://schemas.microsoft.com/office/powerpoint/2010/main" val="3028042699"/>
              </p:ext>
            </p:extLst>
          </p:nvPr>
        </p:nvGraphicFramePr>
        <p:xfrm>
          <a:off x="323528" y="1844824"/>
          <a:ext cx="1233671" cy="548640"/>
        </p:xfrm>
        <a:graphic>
          <a:graphicData uri="http://schemas.openxmlformats.org/drawingml/2006/table">
            <a:tbl>
              <a:tblPr firstRow="1" bandRow="1">
                <a:tableStyleId>{5C22544A-7EE6-4342-B048-85BDC9FD1C3A}</a:tableStyleId>
              </a:tblPr>
              <a:tblGrid>
                <a:gridCol w="1233671">
                  <a:extLst>
                    <a:ext uri="{9D8B030D-6E8A-4147-A177-3AD203B41FA5}">
                      <a16:colId xmlns:a16="http://schemas.microsoft.com/office/drawing/2014/main" val="4512040"/>
                    </a:ext>
                  </a:extLst>
                </a:gridCol>
              </a:tblGrid>
              <a:tr h="157083">
                <a:tc>
                  <a:txBody>
                    <a:bodyPr/>
                    <a:lstStyle/>
                    <a:p>
                      <a:pPr algn="ctr"/>
                      <a:r>
                        <a:rPr lang="en-US" altLang="zh-TW" sz="1200" b="1" cap="none" spc="0" dirty="0">
                          <a:ln w="0"/>
                          <a:solidFill>
                            <a:schemeClr val="tx1"/>
                          </a:solidFill>
                          <a:effectLst/>
                        </a:rPr>
                        <a:t>Data Center</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314166">
                <a:tc>
                  <a:txBody>
                    <a:bodyPr/>
                    <a:lstStyle/>
                    <a:p>
                      <a:pPr algn="ctr"/>
                      <a:r>
                        <a:rPr lang="en-US" altLang="zh-TW" sz="1200" b="0" cap="none" spc="0" dirty="0">
                          <a:ln w="0"/>
                          <a:solidFill>
                            <a:schemeClr val="tx1"/>
                          </a:solidFill>
                          <a:effectLst/>
                        </a:rPr>
                        <a:t>Azure, AWS, GPT, </a:t>
                      </a:r>
                    </a:p>
                    <a:p>
                      <a:pPr algn="ctr"/>
                      <a:r>
                        <a:rPr lang="en-US" altLang="zh-TW" sz="1200" b="0" cap="none" spc="0" dirty="0">
                          <a:ln w="0"/>
                          <a:solidFill>
                            <a:schemeClr val="tx1"/>
                          </a:solidFill>
                          <a:effectLst/>
                        </a:rPr>
                        <a:t>Cloud Code, Grok</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642474553"/>
                  </a:ext>
                </a:extLst>
              </a:tr>
            </a:tbl>
          </a:graphicData>
        </a:graphic>
      </p:graphicFrame>
      <p:pic>
        <p:nvPicPr>
          <p:cNvPr id="30" name="圖形 29" descr="聊天 外框">
            <a:extLst>
              <a:ext uri="{FF2B5EF4-FFF2-40B4-BE49-F238E27FC236}">
                <a16:creationId xmlns:a16="http://schemas.microsoft.com/office/drawing/2014/main" id="{420F4A24-C4A0-7481-631F-F979E20E42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4812" y="1611274"/>
            <a:ext cx="432048" cy="437310"/>
          </a:xfrm>
          <a:prstGeom prst="rect">
            <a:avLst/>
          </a:prstGeom>
        </p:spPr>
      </p:pic>
      <p:pic>
        <p:nvPicPr>
          <p:cNvPr id="36" name="圖形 35" descr="火箭 以實心填滿">
            <a:extLst>
              <a:ext uri="{FF2B5EF4-FFF2-40B4-BE49-F238E27FC236}">
                <a16:creationId xmlns:a16="http://schemas.microsoft.com/office/drawing/2014/main" id="{6F139867-337F-D82D-3EDB-17ACEAD4CB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4788022" y="1623537"/>
            <a:ext cx="432049" cy="412785"/>
          </a:xfrm>
          <a:prstGeom prst="rect">
            <a:avLst/>
          </a:prstGeom>
        </p:spPr>
      </p:pic>
      <p:grpSp>
        <p:nvGrpSpPr>
          <p:cNvPr id="65" name="群組 64">
            <a:extLst>
              <a:ext uri="{FF2B5EF4-FFF2-40B4-BE49-F238E27FC236}">
                <a16:creationId xmlns:a16="http://schemas.microsoft.com/office/drawing/2014/main" id="{1E469BA8-F7E1-AC03-F347-D7475012394A}"/>
              </a:ext>
            </a:extLst>
          </p:cNvPr>
          <p:cNvGrpSpPr/>
          <p:nvPr/>
        </p:nvGrpSpPr>
        <p:grpSpPr>
          <a:xfrm>
            <a:off x="6941351" y="2185041"/>
            <a:ext cx="1518309" cy="1602114"/>
            <a:chOff x="4274012" y="1078134"/>
            <a:chExt cx="1518309" cy="1602114"/>
          </a:xfrm>
        </p:grpSpPr>
        <p:sp>
          <p:nvSpPr>
            <p:cNvPr id="14" name="文字方塊 13">
              <a:extLst>
                <a:ext uri="{FF2B5EF4-FFF2-40B4-BE49-F238E27FC236}">
                  <a16:creationId xmlns:a16="http://schemas.microsoft.com/office/drawing/2014/main" id="{7AF41651-90D4-7A66-AD77-720473A37325}"/>
                </a:ext>
              </a:extLst>
            </p:cNvPr>
            <p:cNvSpPr txBox="1"/>
            <p:nvPr/>
          </p:nvSpPr>
          <p:spPr>
            <a:xfrm>
              <a:off x="4274012" y="1078134"/>
              <a:ext cx="1518309" cy="307855"/>
            </a:xfrm>
            <a:prstGeom prst="rect">
              <a:avLst/>
            </a:prstGeom>
            <a:noFill/>
          </p:spPr>
          <p:txBody>
            <a:bodyPr wrap="none" lIns="0" tIns="0" rIns="0" bIns="0" anchor="ctr" anchorCtr="1">
              <a:noAutofit/>
            </a:bodyPr>
            <a:lstStyle/>
            <a:p>
              <a:pPr marL="0" marR="0" lvl="0" indent="0"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w="0"/>
                  <a:effectLst/>
                  <a:uLnTx/>
                  <a:uFillTx/>
                  <a:latin typeface="+mn-lt"/>
                  <a:ea typeface="+mn-ea"/>
                  <a:cs typeface="+mn-cs"/>
                </a:rPr>
                <a:t>Prompt</a:t>
              </a:r>
              <a:r>
                <a:rPr kumimoji="0" lang="en-US" altLang="zh-TW" sz="1000" b="0" i="0" u="none" strike="noStrike" kern="1200" cap="none" spc="0" normalizeH="0" baseline="0" noProof="0" dirty="0">
                  <a:ln w="0"/>
                  <a:effectLst/>
                  <a:uLnTx/>
                  <a:uFillTx/>
                  <a:latin typeface="Noto Sans HK" panose="020B0200000000000000" pitchFamily="34" charset="-120"/>
                  <a:ea typeface="Noto Sans HK" panose="020B0200000000000000" pitchFamily="34" charset="-120"/>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effectLst/>
                  <a:uLnTx/>
                  <a:uFillTx/>
                  <a:latin typeface="Noto Sans HK" panose="020B0200000000000000" pitchFamily="34" charset="-120"/>
                  <a:ea typeface="Noto Sans HK" panose="020B0200000000000000" pitchFamily="34" charset="-120"/>
                </a:rPr>
                <a:t> </a:t>
              </a:r>
              <a:r>
                <a:rPr kumimoji="0" lang="en-US" altLang="zh-TW" sz="1000" b="0" i="0" u="none" strike="noStrike" kern="1200" cap="none" spc="0" normalizeH="0" baseline="0" noProof="0" dirty="0">
                  <a:ln w="0"/>
                  <a:effectLst/>
                  <a:uLnTx/>
                  <a:uFillTx/>
                  <a:latin typeface="+mn-lt"/>
                  <a:ea typeface="+mn-ea"/>
                  <a:cs typeface="+mn-cs"/>
                </a:rPr>
                <a:t>Context</a:t>
              </a:r>
              <a:r>
                <a:rPr kumimoji="0" lang="en-US" altLang="zh-TW" sz="1000" b="0" i="0" u="none" strike="noStrike" kern="1200" cap="none" spc="0" normalizeH="0" baseline="0" noProof="0" dirty="0">
                  <a:ln w="0"/>
                  <a:solidFill>
                    <a:prstClr val="black"/>
                  </a:solidFill>
                  <a:effectLst/>
                  <a:uLnTx/>
                  <a:uFillTx/>
                  <a:latin typeface="Noto Sans HK" panose="020B0200000000000000" pitchFamily="34" charset="-120"/>
                  <a:ea typeface="Noto Sans HK" panose="020B0200000000000000" pitchFamily="34" charset="-120"/>
                  <a:cs typeface="+mn-cs"/>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Noto Sans HK" panose="020B0200000000000000" pitchFamily="34" charset="-120"/>
                  <a:ea typeface="Noto Sans HK" panose="020B0200000000000000" pitchFamily="34" charset="-120"/>
                  <a:cs typeface="+mn-cs"/>
                </a:rPr>
                <a:t> </a:t>
              </a:r>
            </a:p>
            <a:p>
              <a:pPr marL="0" marR="0" lvl="0" indent="0"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w="0"/>
                  <a:effectLst/>
                  <a:uLnTx/>
                  <a:uFillTx/>
                  <a:latin typeface="+mn-lt"/>
                  <a:ea typeface="+mn-ea"/>
                  <a:cs typeface="+mn-cs"/>
                </a:rPr>
                <a:t>Loop </a:t>
              </a:r>
              <a:r>
                <a:rPr lang="en-US" altLang="zh-TW" sz="1000" dirty="0">
                  <a:ln w="0"/>
                </a:rPr>
                <a:t>Engineering</a:t>
              </a:r>
            </a:p>
          </p:txBody>
        </p:sp>
        <p:sp>
          <p:nvSpPr>
            <p:cNvPr id="38" name="標題 1">
              <a:extLst>
                <a:ext uri="{FF2B5EF4-FFF2-40B4-BE49-F238E27FC236}">
                  <a16:creationId xmlns:a16="http://schemas.microsoft.com/office/drawing/2014/main" id="{87D62E95-7E01-5332-D940-CF554EFD131C}"/>
                </a:ext>
              </a:extLst>
            </p:cNvPr>
            <p:cNvSpPr txBox="1">
              <a:spLocks/>
            </p:cNvSpPr>
            <p:nvPr/>
          </p:nvSpPr>
          <p:spPr>
            <a:xfrm>
              <a:off x="4800968" y="1885170"/>
              <a:ext cx="431230" cy="267546"/>
            </a:xfrm>
            <a:prstGeom prst="rect">
              <a:avLst/>
            </a:prstGeom>
            <a:solidFill>
              <a:schemeClr val="bg1">
                <a:lumMod val="95000"/>
              </a:schemeClr>
            </a:solidFill>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Inner</a:t>
              </a:r>
            </a:p>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Loop</a:t>
              </a:r>
            </a:p>
          </p:txBody>
        </p:sp>
        <p:sp>
          <p:nvSpPr>
            <p:cNvPr id="50" name="箭號: 圓形 49">
              <a:extLst>
                <a:ext uri="{FF2B5EF4-FFF2-40B4-BE49-F238E27FC236}">
                  <a16:creationId xmlns:a16="http://schemas.microsoft.com/office/drawing/2014/main" id="{0B8D31FF-A3E8-DC86-44F4-5106EBF06206}"/>
                </a:ext>
              </a:extLst>
            </p:cNvPr>
            <p:cNvSpPr/>
            <p:nvPr/>
          </p:nvSpPr>
          <p:spPr>
            <a:xfrm rot="16200000">
              <a:off x="4523405" y="1427573"/>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52" name="箭號: 圓形 51">
              <a:extLst>
                <a:ext uri="{FF2B5EF4-FFF2-40B4-BE49-F238E27FC236}">
                  <a16:creationId xmlns:a16="http://schemas.microsoft.com/office/drawing/2014/main" id="{149D98FB-0C8E-5136-534E-C763780C7F88}"/>
                </a:ext>
              </a:extLst>
            </p:cNvPr>
            <p:cNvSpPr/>
            <p:nvPr/>
          </p:nvSpPr>
          <p:spPr>
            <a:xfrm rot="12456023">
              <a:off x="4488268" y="1340768"/>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4" name="箭號: 圓形 43">
              <a:extLst>
                <a:ext uri="{FF2B5EF4-FFF2-40B4-BE49-F238E27FC236}">
                  <a16:creationId xmlns:a16="http://schemas.microsoft.com/office/drawing/2014/main" id="{DA0E1FC1-8732-E621-AB9F-97C45888F45E}"/>
                </a:ext>
              </a:extLst>
            </p:cNvPr>
            <p:cNvSpPr/>
            <p:nvPr/>
          </p:nvSpPr>
          <p:spPr>
            <a:xfrm rot="8156061">
              <a:off x="4369823" y="1340769"/>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6" name="箭號: 圓形 45">
              <a:extLst>
                <a:ext uri="{FF2B5EF4-FFF2-40B4-BE49-F238E27FC236}">
                  <a16:creationId xmlns:a16="http://schemas.microsoft.com/office/drawing/2014/main" id="{02D3CBA7-9E8C-E8F1-5B9F-FCEB52ED5E4E}"/>
                </a:ext>
              </a:extLst>
            </p:cNvPr>
            <p:cNvSpPr/>
            <p:nvPr/>
          </p:nvSpPr>
          <p:spPr>
            <a:xfrm rot="3488493">
              <a:off x="4336219" y="1453759"/>
              <a:ext cx="1160619" cy="1182741"/>
            </a:xfrm>
            <a:prstGeom prst="circularArrow">
              <a:avLst>
                <a:gd name="adj1" fmla="val 12179"/>
                <a:gd name="adj2" fmla="val 1779789"/>
                <a:gd name="adj3" fmla="val 18808865"/>
                <a:gd name="adj4" fmla="val 15599882"/>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56" name="標題 1">
              <a:extLst>
                <a:ext uri="{FF2B5EF4-FFF2-40B4-BE49-F238E27FC236}">
                  <a16:creationId xmlns:a16="http://schemas.microsoft.com/office/drawing/2014/main" id="{138EABD0-2C04-DF6F-1849-74ED87F7F169}"/>
                </a:ext>
              </a:extLst>
            </p:cNvPr>
            <p:cNvSpPr txBox="1">
              <a:spLocks/>
            </p:cNvSpPr>
            <p:nvPr/>
          </p:nvSpPr>
          <p:spPr>
            <a:xfrm>
              <a:off x="5327020" y="1965359"/>
              <a:ext cx="465301"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Action</a:t>
              </a:r>
            </a:p>
          </p:txBody>
        </p:sp>
        <p:sp>
          <p:nvSpPr>
            <p:cNvPr id="58" name="標題 1">
              <a:extLst>
                <a:ext uri="{FF2B5EF4-FFF2-40B4-BE49-F238E27FC236}">
                  <a16:creationId xmlns:a16="http://schemas.microsoft.com/office/drawing/2014/main" id="{FCA58CCC-1E8C-CFF0-980E-9215DF4E101E}"/>
                </a:ext>
              </a:extLst>
            </p:cNvPr>
            <p:cNvSpPr txBox="1">
              <a:spLocks/>
            </p:cNvSpPr>
            <p:nvPr/>
          </p:nvSpPr>
          <p:spPr>
            <a:xfrm>
              <a:off x="4946010" y="2324659"/>
              <a:ext cx="763092"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Observation</a:t>
              </a:r>
            </a:p>
          </p:txBody>
        </p:sp>
        <p:sp>
          <p:nvSpPr>
            <p:cNvPr id="62" name="標題 1">
              <a:extLst>
                <a:ext uri="{FF2B5EF4-FFF2-40B4-BE49-F238E27FC236}">
                  <a16:creationId xmlns:a16="http://schemas.microsoft.com/office/drawing/2014/main" id="{E0CF131C-F831-6A6D-4C79-FD3486882B43}"/>
                </a:ext>
              </a:extLst>
            </p:cNvPr>
            <p:cNvSpPr txBox="1">
              <a:spLocks/>
            </p:cNvSpPr>
            <p:nvPr/>
          </p:nvSpPr>
          <p:spPr>
            <a:xfrm>
              <a:off x="4368581" y="2108635"/>
              <a:ext cx="433413"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Adjustment</a:t>
              </a:r>
            </a:p>
          </p:txBody>
        </p:sp>
        <p:sp>
          <p:nvSpPr>
            <p:cNvPr id="48" name="箭號: 圓形 47">
              <a:extLst>
                <a:ext uri="{FF2B5EF4-FFF2-40B4-BE49-F238E27FC236}">
                  <a16:creationId xmlns:a16="http://schemas.microsoft.com/office/drawing/2014/main" id="{62963EC7-06CC-6D66-D4DD-2DF481D4E278}"/>
                </a:ext>
              </a:extLst>
            </p:cNvPr>
            <p:cNvSpPr/>
            <p:nvPr/>
          </p:nvSpPr>
          <p:spPr>
            <a:xfrm rot="20976356">
              <a:off x="4444793" y="1497507"/>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37" name="標題 1">
              <a:extLst>
                <a:ext uri="{FF2B5EF4-FFF2-40B4-BE49-F238E27FC236}">
                  <a16:creationId xmlns:a16="http://schemas.microsoft.com/office/drawing/2014/main" id="{C724F3AB-3E80-0D86-639D-2353C974E711}"/>
                </a:ext>
              </a:extLst>
            </p:cNvPr>
            <p:cNvSpPr txBox="1">
              <a:spLocks/>
            </p:cNvSpPr>
            <p:nvPr/>
          </p:nvSpPr>
          <p:spPr>
            <a:xfrm>
              <a:off x="5069766" y="1522467"/>
              <a:ext cx="433413"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Context</a:t>
              </a:r>
            </a:p>
          </p:txBody>
        </p:sp>
        <p:sp>
          <p:nvSpPr>
            <p:cNvPr id="60" name="標題 1">
              <a:extLst>
                <a:ext uri="{FF2B5EF4-FFF2-40B4-BE49-F238E27FC236}">
                  <a16:creationId xmlns:a16="http://schemas.microsoft.com/office/drawing/2014/main" id="{B40E21B5-83EE-286B-B6AB-AFE9612176F1}"/>
                </a:ext>
              </a:extLst>
            </p:cNvPr>
            <p:cNvSpPr txBox="1">
              <a:spLocks/>
            </p:cNvSpPr>
            <p:nvPr/>
          </p:nvSpPr>
          <p:spPr>
            <a:xfrm>
              <a:off x="4413254" y="1604579"/>
              <a:ext cx="464606" cy="214204"/>
            </a:xfrm>
            <a:prstGeom prst="rect">
              <a:avLst/>
            </a:prstGeom>
            <a:solidFill>
              <a:schemeClr val="bg1">
                <a:alpha val="6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Intent</a:t>
              </a:r>
            </a:p>
          </p:txBody>
        </p:sp>
      </p:grpSp>
      <p:sp>
        <p:nvSpPr>
          <p:cNvPr id="67" name="文字方塊 66">
            <a:extLst>
              <a:ext uri="{FF2B5EF4-FFF2-40B4-BE49-F238E27FC236}">
                <a16:creationId xmlns:a16="http://schemas.microsoft.com/office/drawing/2014/main" id="{55AA15AF-07E4-21AE-FD1F-75968C21AF29}"/>
              </a:ext>
            </a:extLst>
          </p:cNvPr>
          <p:cNvSpPr txBox="1"/>
          <p:nvPr/>
        </p:nvSpPr>
        <p:spPr>
          <a:xfrm>
            <a:off x="2760623" y="3670357"/>
            <a:ext cx="1024639" cy="323239"/>
          </a:xfrm>
          <a:prstGeom prst="rect">
            <a:avLst/>
          </a:prstGeom>
          <a:noFill/>
        </p:spPr>
        <p:txBody>
          <a:bodyPr wrap="none" tIns="0" rIns="0" bIns="0" anchor="ctr" anchorCtr="0">
            <a:noAutofit/>
          </a:bodyPr>
          <a:lstStyle/>
          <a:p>
            <a:r>
              <a:rPr lang="en-US" altLang="zh-TW" sz="1400"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AI Agent</a:t>
            </a:r>
          </a:p>
        </p:txBody>
      </p:sp>
      <p:cxnSp>
        <p:nvCxnSpPr>
          <p:cNvPr id="68" name="直線單箭頭接點 67">
            <a:extLst>
              <a:ext uri="{FF2B5EF4-FFF2-40B4-BE49-F238E27FC236}">
                <a16:creationId xmlns:a16="http://schemas.microsoft.com/office/drawing/2014/main" id="{17027F27-BC6C-F7FB-E459-B325FE5A0B38}"/>
              </a:ext>
            </a:extLst>
          </p:cNvPr>
          <p:cNvCxnSpPr>
            <a:cxnSpLocks/>
            <a:stCxn id="2" idx="3"/>
            <a:endCxn id="67" idx="0"/>
          </p:cNvCxnSpPr>
          <p:nvPr/>
        </p:nvCxnSpPr>
        <p:spPr>
          <a:xfrm>
            <a:off x="2760623" y="3262814"/>
            <a:ext cx="512320" cy="407543"/>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21731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流程圖: 合併 49">
            <a:extLst>
              <a:ext uri="{FF2B5EF4-FFF2-40B4-BE49-F238E27FC236}">
                <a16:creationId xmlns:a16="http://schemas.microsoft.com/office/drawing/2014/main" id="{8447D011-EBCC-D1FB-0C69-2143A03943FE}"/>
              </a:ext>
            </a:extLst>
          </p:cNvPr>
          <p:cNvSpPr/>
          <p:nvPr/>
        </p:nvSpPr>
        <p:spPr>
          <a:xfrm>
            <a:off x="4716016" y="4437112"/>
            <a:ext cx="432048" cy="2139202"/>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3" name="表格 12">
            <a:extLst>
              <a:ext uri="{FF2B5EF4-FFF2-40B4-BE49-F238E27FC236}">
                <a16:creationId xmlns:a16="http://schemas.microsoft.com/office/drawing/2014/main" id="{94A6F720-5FB8-E782-4A1C-29BF54922BED}"/>
              </a:ext>
            </a:extLst>
          </p:cNvPr>
          <p:cNvGraphicFramePr>
            <a:graphicFrameLocks noGrp="1"/>
          </p:cNvGraphicFramePr>
          <p:nvPr>
            <p:extLst>
              <p:ext uri="{D42A27DB-BD31-4B8C-83A1-F6EECF244321}">
                <p14:modId xmlns:p14="http://schemas.microsoft.com/office/powerpoint/2010/main" val="2760904480"/>
              </p:ext>
            </p:extLst>
          </p:nvPr>
        </p:nvGraphicFramePr>
        <p:xfrm>
          <a:off x="716896" y="4131303"/>
          <a:ext cx="7704856" cy="2322033"/>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4198244561"/>
                    </a:ext>
                  </a:extLst>
                </a:gridCol>
                <a:gridCol w="857032">
                  <a:extLst>
                    <a:ext uri="{9D8B030D-6E8A-4147-A177-3AD203B41FA5}">
                      <a16:colId xmlns:a16="http://schemas.microsoft.com/office/drawing/2014/main" val="2211145501"/>
                    </a:ext>
                  </a:extLst>
                </a:gridCol>
                <a:gridCol w="731974">
                  <a:extLst>
                    <a:ext uri="{9D8B030D-6E8A-4147-A177-3AD203B41FA5}">
                      <a16:colId xmlns:a16="http://schemas.microsoft.com/office/drawing/2014/main" val="767948712"/>
                    </a:ext>
                  </a:extLst>
                </a:gridCol>
                <a:gridCol w="1060818">
                  <a:extLst>
                    <a:ext uri="{9D8B030D-6E8A-4147-A177-3AD203B41FA5}">
                      <a16:colId xmlns:a16="http://schemas.microsoft.com/office/drawing/2014/main" val="3328686525"/>
                    </a:ext>
                  </a:extLst>
                </a:gridCol>
                <a:gridCol w="993728">
                  <a:extLst>
                    <a:ext uri="{9D8B030D-6E8A-4147-A177-3AD203B41FA5}">
                      <a16:colId xmlns:a16="http://schemas.microsoft.com/office/drawing/2014/main" val="3752581630"/>
                    </a:ext>
                  </a:extLst>
                </a:gridCol>
                <a:gridCol w="993728">
                  <a:extLst>
                    <a:ext uri="{9D8B030D-6E8A-4147-A177-3AD203B41FA5}">
                      <a16:colId xmlns:a16="http://schemas.microsoft.com/office/drawing/2014/main" val="3948573510"/>
                    </a:ext>
                  </a:extLst>
                </a:gridCol>
                <a:gridCol w="993728">
                  <a:extLst>
                    <a:ext uri="{9D8B030D-6E8A-4147-A177-3AD203B41FA5}">
                      <a16:colId xmlns:a16="http://schemas.microsoft.com/office/drawing/2014/main" val="2054525474"/>
                    </a:ext>
                  </a:extLst>
                </a:gridCol>
                <a:gridCol w="993728">
                  <a:extLst>
                    <a:ext uri="{9D8B030D-6E8A-4147-A177-3AD203B41FA5}">
                      <a16:colId xmlns:a16="http://schemas.microsoft.com/office/drawing/2014/main" val="1920063261"/>
                    </a:ext>
                  </a:extLst>
                </a:gridCol>
              </a:tblGrid>
              <a:tr h="328084">
                <a:tc rowSpan="2">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Version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Type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Language</a:t>
                      </a:r>
                    </a:p>
                    <a:p>
                      <a:pPr algn="ctr"/>
                      <a:r>
                        <a:rPr lang="en-US" altLang="zh-TW" sz="1200" b="0" cap="none" spc="0" dirty="0">
                          <a:ln w="0"/>
                          <a:solidFill>
                            <a:schemeClr val="tx1"/>
                          </a:solidFill>
                          <a:effectLst/>
                        </a:rPr>
                        <a:t>Model</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Context</a:t>
                      </a:r>
                    </a:p>
                    <a:p>
                      <a:pPr algn="ctr"/>
                      <a:r>
                        <a:rPr lang="en-US" altLang="zh-TW" sz="1200" b="0" cap="none" spc="0" dirty="0">
                          <a:ln w="0"/>
                          <a:solidFill>
                            <a:schemeClr val="tx1"/>
                          </a:solidFill>
                          <a:effectLst/>
                        </a:rPr>
                        <a:t>Window</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4">
                  <a:txBody>
                    <a:bodyPr/>
                    <a:lstStyle/>
                    <a:p>
                      <a:pPr algn="ctr"/>
                      <a:r>
                        <a:rPr lang="en-US" altLang="zh-TW" sz="1200" b="0" cap="none" spc="0" dirty="0">
                          <a:ln w="0"/>
                          <a:solidFill>
                            <a:schemeClr val="tx1"/>
                          </a:solidFill>
                          <a:effectLst/>
                        </a:rPr>
                        <a:t>Memory consumption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pPr algn="ct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6024">
                <a:tc vMerge="1">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lang="zh-TW" altLang="en-US"/>
                    </a:p>
                  </a:txBody>
                  <a:tcPr/>
                </a:tc>
                <a:tc vMerge="1">
                  <a:txBody>
                    <a:bodyPr/>
                    <a:lstStyle/>
                    <a:p>
                      <a:pPr algn="ct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Parameters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FP16</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SFP8</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Q4_0</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581155207"/>
                  </a:ext>
                </a:extLst>
              </a:tr>
              <a:tr h="280563">
                <a:tc rowSpan="2">
                  <a:txBody>
                    <a:bodyPr/>
                    <a:lstStyle/>
                    <a:p>
                      <a:pPr algn="l"/>
                      <a:r>
                        <a:rPr lang="en-US" altLang="zh-TW" sz="1200" b="0" cap="none" spc="0" dirty="0">
                          <a:ln w="0"/>
                          <a:solidFill>
                            <a:schemeClr val="tx1"/>
                          </a:solidFill>
                          <a:effectLst/>
                        </a:rPr>
                        <a:t>Server</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Dense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58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17.5</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382991">
                <a:tc v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26B </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MoE,</a:t>
                      </a:r>
                    </a:p>
                    <a:p>
                      <a:pPr algn="ctr"/>
                      <a:r>
                        <a:rPr lang="en-US" altLang="zh-TW" sz="1200" b="0" cap="none" spc="0" dirty="0">
                          <a:ln w="0"/>
                          <a:solidFill>
                            <a:schemeClr val="tx1"/>
                          </a:solidFill>
                          <a:effectLst/>
                        </a:rPr>
                        <a:t>Diffusion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256k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4B</a:t>
                      </a:r>
                      <a:r>
                        <a:rPr lang="zh-TW" altLang="en-US" sz="1200" b="0" cap="none" spc="0" dirty="0">
                          <a:ln w="0"/>
                          <a:solidFill>
                            <a:schemeClr val="tx1"/>
                          </a:solidFill>
                          <a:effectLst/>
                        </a:rPr>
                        <a:t> </a:t>
                      </a:r>
                      <a:r>
                        <a:rPr lang="en-US" altLang="zh-TW" sz="1200" b="0" cap="none" spc="0" dirty="0">
                          <a:ln w="0"/>
                          <a:solidFill>
                            <a:schemeClr val="tx1"/>
                          </a:solidFill>
                          <a:effectLst/>
                        </a:rPr>
                        <a:t>/26B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48</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26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14.4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439318">
                <a:tc>
                  <a:txBody>
                    <a:bodyPr/>
                    <a:lstStyle/>
                    <a:p>
                      <a:pPr algn="l"/>
                      <a:r>
                        <a:rPr lang="en-US" altLang="zh-TW" sz="1200" b="0" cap="none" spc="0" dirty="0">
                          <a:ln w="0"/>
                          <a:solidFill>
                            <a:schemeClr val="tx1"/>
                          </a:solidFill>
                          <a:effectLst/>
                        </a:rPr>
                        <a:t>PC/NB</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Dense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27</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6.7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2327442"/>
                  </a:ext>
                </a:extLst>
              </a:tr>
              <a:tr h="354133">
                <a:tc rowSpan="2">
                  <a:txBody>
                    <a:bodyPr/>
                    <a:lstStyle/>
                    <a:p>
                      <a:pPr algn="l"/>
                      <a:r>
                        <a:rPr lang="en-US" altLang="zh-TW" sz="1200" b="0" cap="none" spc="0" dirty="0">
                          <a:ln w="0"/>
                          <a:solidFill>
                            <a:schemeClr val="tx1"/>
                          </a:solidFill>
                          <a:effectLst/>
                        </a:rPr>
                        <a:t>Mobile</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E4B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Dense,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PLE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128k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(4.5+3.5)</a:t>
                      </a:r>
                      <a:r>
                        <a:rPr lang="zh-TW" altLang="en-US" sz="1200" b="0" cap="none" spc="0" dirty="0">
                          <a:ln w="0"/>
                          <a:solidFill>
                            <a:schemeClr val="tx1"/>
                          </a:solidFill>
                          <a:effectLst/>
                        </a:rPr>
                        <a:t> </a:t>
                      </a:r>
                      <a:r>
                        <a:rPr lang="en-US" altLang="zh-TW" sz="1200" b="0" cap="none" spc="0" dirty="0">
                          <a:ln w="0"/>
                          <a:solidFill>
                            <a:schemeClr val="tx1"/>
                          </a:solidFill>
                          <a:effectLst/>
                        </a:rPr>
                        <a:t>/8B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18</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9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~4.5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207449185"/>
                  </a:ext>
                </a:extLst>
              </a:tr>
              <a:tr h="320920">
                <a:tc vMerge="1">
                  <a:txBody>
                    <a:bodyPr/>
                    <a:lstStyle/>
                    <a:p>
                      <a:pPr algn="l"/>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noFill/>
                  </a:tcPr>
                </a:tc>
                <a:tc>
                  <a:txBody>
                    <a:bodyPr/>
                    <a:lstStyle/>
                    <a:p>
                      <a:pPr algn="ctr"/>
                      <a:r>
                        <a:rPr lang="en-US" altLang="zh-TW" sz="1200" b="0" cap="none" spc="0" dirty="0">
                          <a:ln w="0"/>
                          <a:solidFill>
                            <a:schemeClr val="tx1"/>
                          </a:solidFill>
                          <a:effectLst/>
                        </a:rPr>
                        <a:t>E2B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mpd="sng">
                      <a:noFill/>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noFill/>
                  </a:tcPr>
                </a:tc>
                <a:tc>
                  <a:txBody>
                    <a:bodyPr/>
                    <a:lstStyle/>
                    <a:p>
                      <a:pPr algn="ctr"/>
                      <a:r>
                        <a:rPr lang="en-US" altLang="zh-TW" sz="1200" b="0" cap="none" spc="0" dirty="0">
                          <a:ln w="0"/>
                          <a:solidFill>
                            <a:schemeClr val="tx1"/>
                          </a:solidFill>
                          <a:effectLst/>
                        </a:rPr>
                        <a:t>(2.3+2.8)</a:t>
                      </a:r>
                      <a:r>
                        <a:rPr lang="zh-TW" altLang="en-US" sz="1200" b="0" cap="none" spc="0" dirty="0">
                          <a:ln w="0"/>
                          <a:solidFill>
                            <a:schemeClr val="tx1"/>
                          </a:solidFill>
                          <a:effectLst/>
                        </a:rPr>
                        <a:t> </a:t>
                      </a:r>
                      <a:r>
                        <a:rPr lang="en-US" altLang="zh-TW" sz="1200" b="0" cap="none" spc="0" dirty="0">
                          <a:ln w="0"/>
                          <a:solidFill>
                            <a:schemeClr val="tx1"/>
                          </a:solidFill>
                          <a:effectLst/>
                        </a:rPr>
                        <a:t>/5B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~2.9</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65565795"/>
                  </a:ext>
                </a:extLst>
              </a:tr>
            </a:tbl>
          </a:graphicData>
        </a:graphic>
      </p:graphicFrame>
      <p:sp>
        <p:nvSpPr>
          <p:cNvPr id="8" name="文字方塊 7">
            <a:extLst>
              <a:ext uri="{FF2B5EF4-FFF2-40B4-BE49-F238E27FC236}">
                <a16:creationId xmlns:a16="http://schemas.microsoft.com/office/drawing/2014/main" id="{AF135B2E-EEC6-E246-846A-1EF62279E421}"/>
              </a:ext>
            </a:extLst>
          </p:cNvPr>
          <p:cNvSpPr txBox="1"/>
          <p:nvPr/>
        </p:nvSpPr>
        <p:spPr>
          <a:xfrm>
            <a:off x="179510" y="1377042"/>
            <a:ext cx="8136906" cy="1323439"/>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Gemma 3: </a:t>
            </a:r>
            <a:r>
              <a:rPr lang="en-US" altLang="zh-TW" sz="1600" dirty="0"/>
              <a:t>Multimodal, multilingual 140+ and single chip.</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Gemma 4: </a:t>
            </a:r>
            <a:r>
              <a:rPr lang="en-US" altLang="zh-TW" sz="1600" dirty="0"/>
              <a:t>Native Multimodal, Apache 2.0, CoT,  &lt;|think|&gt;</a:t>
            </a:r>
            <a:r>
              <a:rPr lang="zh-TW" altLang="en-US" sz="1600" dirty="0"/>
              <a:t> </a:t>
            </a:r>
            <a:r>
              <a:rPr lang="en-US" altLang="zh-TW" sz="1600" dirty="0"/>
              <a:t>and multi-token prediction</a:t>
            </a:r>
            <a:r>
              <a:rPr lang="zh-TW" altLang="en-US" sz="1600" dirty="0"/>
              <a:t> </a:t>
            </a:r>
            <a:r>
              <a:rPr lang="en-US" altLang="zh-TW" sz="1600" dirty="0"/>
              <a:t>(</a:t>
            </a:r>
            <a:r>
              <a:rPr lang="en-US" altLang="zh-TW" sz="1600" b="1" dirty="0">
                <a:solidFill>
                  <a:schemeClr val="accent6">
                    <a:lumMod val="75000"/>
                  </a:schemeClr>
                </a:solidFill>
              </a:rPr>
              <a:t>MTP</a:t>
            </a:r>
            <a:r>
              <a:rPr lang="en-US" altLang="zh-TW" sz="1600" dirty="0"/>
              <a:t>) and Per Layer Embedding (</a:t>
            </a:r>
            <a:r>
              <a:rPr lang="en-US" altLang="zh-TW" sz="1600" b="1" dirty="0">
                <a:solidFill>
                  <a:schemeClr val="accent6">
                    <a:lumMod val="75000"/>
                  </a:schemeClr>
                </a:solidFill>
              </a:rPr>
              <a:t>PLE</a:t>
            </a:r>
            <a:r>
              <a:rPr lang="en-US" altLang="zh-TW" sz="1600" dirty="0"/>
              <a:t>).</a:t>
            </a:r>
          </a:p>
        </p:txBody>
      </p:sp>
      <p:sp>
        <p:nvSpPr>
          <p:cNvPr id="5" name="標題 1">
            <a:extLst>
              <a:ext uri="{FF2B5EF4-FFF2-40B4-BE49-F238E27FC236}">
                <a16:creationId xmlns:a16="http://schemas.microsoft.com/office/drawing/2014/main" id="{5E6D0E09-6EF5-9848-658D-D41ED80B4BAA}"/>
              </a:ext>
            </a:extLst>
          </p:cNvPr>
          <p:cNvSpPr txBox="1">
            <a:spLocks/>
          </p:cNvSpPr>
          <p:nvPr/>
        </p:nvSpPr>
        <p:spPr>
          <a:xfrm>
            <a:off x="179511" y="116632"/>
            <a:ext cx="8779627"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Gemma Family</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Gemma 4 empowers local devices with autonomous agency.</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5" name="圖形 14" descr="伺服器 以實心填滿">
            <a:extLst>
              <a:ext uri="{FF2B5EF4-FFF2-40B4-BE49-F238E27FC236}">
                <a16:creationId xmlns:a16="http://schemas.microsoft.com/office/drawing/2014/main" id="{629E4120-1637-0AAB-6A3B-AB7FEACB71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2025" y="4830909"/>
            <a:ext cx="254275" cy="254275"/>
          </a:xfrm>
          <a:prstGeom prst="rect">
            <a:avLst/>
          </a:prstGeom>
        </p:spPr>
      </p:pic>
      <p:pic>
        <p:nvPicPr>
          <p:cNvPr id="17" name="圖形 16" descr="筆記型電腦 以實心填滿">
            <a:extLst>
              <a:ext uri="{FF2B5EF4-FFF2-40B4-BE49-F238E27FC236}">
                <a16:creationId xmlns:a16="http://schemas.microsoft.com/office/drawing/2014/main" id="{E0B85A7F-5C8E-F628-BF10-ADC5F47E11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38047" y="5517232"/>
            <a:ext cx="245454" cy="245454"/>
          </a:xfrm>
          <a:prstGeom prst="rect">
            <a:avLst/>
          </a:prstGeom>
        </p:spPr>
      </p:pic>
      <p:pic>
        <p:nvPicPr>
          <p:cNvPr id="19" name="圖形 18" descr="電腦 以實心填滿">
            <a:extLst>
              <a:ext uri="{FF2B5EF4-FFF2-40B4-BE49-F238E27FC236}">
                <a16:creationId xmlns:a16="http://schemas.microsoft.com/office/drawing/2014/main" id="{94FDF6EB-1889-FE73-1996-CB12F1E1426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01440" y="5208870"/>
            <a:ext cx="315444" cy="315444"/>
          </a:xfrm>
          <a:prstGeom prst="rect">
            <a:avLst/>
          </a:prstGeom>
        </p:spPr>
      </p:pic>
      <p:pic>
        <p:nvPicPr>
          <p:cNvPr id="21" name="圖形 20" descr="智慧型手機 以實心填滿">
            <a:extLst>
              <a:ext uri="{FF2B5EF4-FFF2-40B4-BE49-F238E27FC236}">
                <a16:creationId xmlns:a16="http://schemas.microsoft.com/office/drawing/2014/main" id="{174E9551-9AA7-A945-F67E-E80B80582E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44043" y="5805264"/>
            <a:ext cx="245454" cy="245454"/>
          </a:xfrm>
          <a:prstGeom prst="rect">
            <a:avLst/>
          </a:prstGeom>
        </p:spPr>
      </p:pic>
      <p:pic>
        <p:nvPicPr>
          <p:cNvPr id="23" name="圖形 22" descr="頭戴式耳機 以實心填滿">
            <a:extLst>
              <a:ext uri="{FF2B5EF4-FFF2-40B4-BE49-F238E27FC236}">
                <a16:creationId xmlns:a16="http://schemas.microsoft.com/office/drawing/2014/main" id="{92BA1BF4-2981-0AD1-D22C-7372851B626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36436" y="6093296"/>
            <a:ext cx="245454" cy="245454"/>
          </a:xfrm>
          <a:prstGeom prst="rect">
            <a:avLst/>
          </a:prstGeom>
        </p:spPr>
      </p:pic>
      <p:sp>
        <p:nvSpPr>
          <p:cNvPr id="26" name="雲朵形 25">
            <a:extLst>
              <a:ext uri="{FF2B5EF4-FFF2-40B4-BE49-F238E27FC236}">
                <a16:creationId xmlns:a16="http://schemas.microsoft.com/office/drawing/2014/main" id="{509766CE-DFB7-2679-00B7-E99E3812B74C}"/>
              </a:ext>
            </a:extLst>
          </p:cNvPr>
          <p:cNvSpPr/>
          <p:nvPr/>
        </p:nvSpPr>
        <p:spPr>
          <a:xfrm>
            <a:off x="291675" y="3212976"/>
            <a:ext cx="1400005" cy="654398"/>
          </a:xfrm>
          <a:prstGeom prst="cloud">
            <a:avLst/>
          </a:prstGeom>
          <a:solidFill>
            <a:schemeClr val="bg1">
              <a:alpha val="9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600" dirty="0">
              <a:solidFill>
                <a:schemeClr val="tx2"/>
              </a:solidFill>
            </a:endParaRPr>
          </a:p>
        </p:txBody>
      </p:sp>
      <p:sp>
        <p:nvSpPr>
          <p:cNvPr id="27" name="文字方塊 26">
            <a:extLst>
              <a:ext uri="{FF2B5EF4-FFF2-40B4-BE49-F238E27FC236}">
                <a16:creationId xmlns:a16="http://schemas.microsoft.com/office/drawing/2014/main" id="{28016021-6586-F018-2D1F-235DAF68DE53}"/>
              </a:ext>
            </a:extLst>
          </p:cNvPr>
          <p:cNvSpPr txBox="1"/>
          <p:nvPr/>
        </p:nvSpPr>
        <p:spPr>
          <a:xfrm>
            <a:off x="683568" y="4291005"/>
            <a:ext cx="1193834" cy="323239"/>
          </a:xfrm>
          <a:prstGeom prst="rect">
            <a:avLst/>
          </a:prstGeom>
          <a:noFill/>
        </p:spPr>
        <p:txBody>
          <a:bodyPr wrap="none" lIns="0" tIns="0" rIns="0" bIns="0" anchor="ctr" anchorCtr="1">
            <a:noAutofit/>
          </a:bodyPr>
          <a:lstStyle/>
          <a:p>
            <a:r>
              <a:rPr lang="en-US" altLang="zh-TW"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Gemma 4</a:t>
            </a:r>
          </a:p>
        </p:txBody>
      </p:sp>
      <p:cxnSp>
        <p:nvCxnSpPr>
          <p:cNvPr id="28" name="直線單箭頭接點 27">
            <a:extLst>
              <a:ext uri="{FF2B5EF4-FFF2-40B4-BE49-F238E27FC236}">
                <a16:creationId xmlns:a16="http://schemas.microsoft.com/office/drawing/2014/main" id="{2CE94DF6-B418-F3D9-7106-9607209A20C4}"/>
              </a:ext>
            </a:extLst>
          </p:cNvPr>
          <p:cNvCxnSpPr>
            <a:cxnSpLocks/>
            <a:stCxn id="29" idx="2"/>
            <a:endCxn id="27" idx="0"/>
          </p:cNvCxnSpPr>
          <p:nvPr/>
        </p:nvCxnSpPr>
        <p:spPr>
          <a:xfrm>
            <a:off x="981887" y="3726324"/>
            <a:ext cx="298598" cy="564681"/>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2AE78E0C-913E-773C-0B33-35D2814AA505}"/>
              </a:ext>
            </a:extLst>
          </p:cNvPr>
          <p:cNvSpPr txBox="1"/>
          <p:nvPr/>
        </p:nvSpPr>
        <p:spPr>
          <a:xfrm>
            <a:off x="469567" y="3356992"/>
            <a:ext cx="1024639" cy="369332"/>
          </a:xfrm>
          <a:prstGeom prst="rect">
            <a:avLst/>
          </a:prstGeom>
          <a:noFill/>
        </p:spPr>
        <p:txBody>
          <a:bodyPr wrap="none" lIns="0" tIns="0" rIns="0" bIns="0" anchor="ctr" anchorCtr="1">
            <a:noAutofit/>
          </a:bodyPr>
          <a:lstStyle/>
          <a:p>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Gemini 3</a:t>
            </a:r>
          </a:p>
        </p:txBody>
      </p:sp>
      <p:sp>
        <p:nvSpPr>
          <p:cNvPr id="4" name="矩形: 圓角 3">
            <a:extLst>
              <a:ext uri="{FF2B5EF4-FFF2-40B4-BE49-F238E27FC236}">
                <a16:creationId xmlns:a16="http://schemas.microsoft.com/office/drawing/2014/main" id="{24B0F035-97FD-79C3-C3A0-2E744AC34D19}"/>
              </a:ext>
            </a:extLst>
          </p:cNvPr>
          <p:cNvSpPr/>
          <p:nvPr/>
        </p:nvSpPr>
        <p:spPr>
          <a:xfrm>
            <a:off x="6670406" y="5838875"/>
            <a:ext cx="487445" cy="562041"/>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4692300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1BB2F-45C9-4DCF-22D2-CE8DB3062763}"/>
            </a:ext>
          </a:extLst>
        </p:cNvPr>
        <p:cNvGrpSpPr/>
        <p:nvPr/>
      </p:nvGrpSpPr>
      <p:grpSpPr>
        <a:xfrm>
          <a:off x="0" y="0"/>
          <a:ext cx="0" cy="0"/>
          <a:chOff x="0" y="0"/>
          <a:chExt cx="0" cy="0"/>
        </a:xfrm>
      </p:grpSpPr>
      <p:pic>
        <p:nvPicPr>
          <p:cNvPr id="6" name="圖片 5">
            <a:extLst>
              <a:ext uri="{FF2B5EF4-FFF2-40B4-BE49-F238E27FC236}">
                <a16:creationId xmlns:a16="http://schemas.microsoft.com/office/drawing/2014/main" id="{E798FE84-9387-1315-3091-EDB00726333D}"/>
              </a:ext>
            </a:extLst>
          </p:cNvPr>
          <p:cNvPicPr>
            <a:picLocks noChangeAspect="1"/>
          </p:cNvPicPr>
          <p:nvPr/>
        </p:nvPicPr>
        <p:blipFill>
          <a:blip r:embed="rId3"/>
          <a:stretch>
            <a:fillRect/>
          </a:stretch>
        </p:blipFill>
        <p:spPr>
          <a:xfrm>
            <a:off x="3707904" y="3809228"/>
            <a:ext cx="5436095" cy="2716116"/>
          </a:xfrm>
          <a:prstGeom prst="rect">
            <a:avLst/>
          </a:prstGeom>
        </p:spPr>
      </p:pic>
      <p:sp>
        <p:nvSpPr>
          <p:cNvPr id="3" name="標題 1">
            <a:extLst>
              <a:ext uri="{FF2B5EF4-FFF2-40B4-BE49-F238E27FC236}">
                <a16:creationId xmlns:a16="http://schemas.microsoft.com/office/drawing/2014/main" id="{D84E135E-560E-2431-FC70-7779E3A5036B}"/>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ulti-</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T</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oken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redication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QLoRA freezes the base model, squeezing updates through a narrow parameter bottleneck (r). </a:t>
            </a:r>
          </a:p>
        </p:txBody>
      </p:sp>
      <p:sp>
        <p:nvSpPr>
          <p:cNvPr id="8" name="文字方塊 7">
            <a:extLst>
              <a:ext uri="{FF2B5EF4-FFF2-40B4-BE49-F238E27FC236}">
                <a16:creationId xmlns:a16="http://schemas.microsoft.com/office/drawing/2014/main" id="{BD9A7B6B-0FB9-13EC-8BD2-B3B9E0AFADAE}"/>
              </a:ext>
            </a:extLst>
          </p:cNvPr>
          <p:cNvSpPr txBox="1"/>
          <p:nvPr/>
        </p:nvSpPr>
        <p:spPr>
          <a:xfrm>
            <a:off x="179510" y="1377042"/>
            <a:ext cx="8136906" cy="1092607"/>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Weight Memory Transfer:  </a:t>
            </a:r>
            <a:r>
              <a:rPr lang="en-US" altLang="zh-TW" sz="1600" dirty="0"/>
              <a:t>Occupy 99% time of GPU and waiting</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Gemma 4: </a:t>
            </a:r>
            <a:r>
              <a:rPr lang="en-US" altLang="zh-TW" sz="1600" dirty="0"/>
              <a:t>N</a:t>
            </a:r>
          </a:p>
        </p:txBody>
      </p:sp>
      <p:sp>
        <p:nvSpPr>
          <p:cNvPr id="30" name="文字方塊 29">
            <a:extLst>
              <a:ext uri="{FF2B5EF4-FFF2-40B4-BE49-F238E27FC236}">
                <a16:creationId xmlns:a16="http://schemas.microsoft.com/office/drawing/2014/main" id="{C68F4D52-7DDA-E906-AEF9-75AB0D6D67EB}"/>
              </a:ext>
            </a:extLst>
          </p:cNvPr>
          <p:cNvSpPr txBox="1"/>
          <p:nvPr/>
        </p:nvSpPr>
        <p:spPr>
          <a:xfrm>
            <a:off x="5631248" y="2050030"/>
            <a:ext cx="416433"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sp>
        <p:nvSpPr>
          <p:cNvPr id="32" name="文字方塊 31">
            <a:extLst>
              <a:ext uri="{FF2B5EF4-FFF2-40B4-BE49-F238E27FC236}">
                <a16:creationId xmlns:a16="http://schemas.microsoft.com/office/drawing/2014/main" id="{15D53514-7DA9-D9FB-4264-0830E97431FD}"/>
              </a:ext>
            </a:extLst>
          </p:cNvPr>
          <p:cNvSpPr txBox="1"/>
          <p:nvPr/>
        </p:nvSpPr>
        <p:spPr>
          <a:xfrm>
            <a:off x="6081288" y="2050030"/>
            <a:ext cx="190225"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34" name="文字方塊 33">
            <a:extLst>
              <a:ext uri="{FF2B5EF4-FFF2-40B4-BE49-F238E27FC236}">
                <a16:creationId xmlns:a16="http://schemas.microsoft.com/office/drawing/2014/main" id="{A3ED4D5A-2FA6-F6C0-FEE8-5735067DCADB}"/>
              </a:ext>
            </a:extLst>
          </p:cNvPr>
          <p:cNvSpPr txBox="1"/>
          <p:nvPr/>
        </p:nvSpPr>
        <p:spPr>
          <a:xfrm>
            <a:off x="6714248" y="2049946"/>
            <a:ext cx="416433" cy="370858"/>
          </a:xfrm>
          <a:prstGeom prst="rect">
            <a:avLst/>
          </a:prstGeom>
          <a:solidFill>
            <a:srgbClr val="FEC203">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sp>
        <p:nvSpPr>
          <p:cNvPr id="36" name="文字方塊 35">
            <a:extLst>
              <a:ext uri="{FF2B5EF4-FFF2-40B4-BE49-F238E27FC236}">
                <a16:creationId xmlns:a16="http://schemas.microsoft.com/office/drawing/2014/main" id="{6D41B027-6CB9-15A2-F2EB-19E086D5F65B}"/>
              </a:ext>
            </a:extLst>
          </p:cNvPr>
          <p:cNvSpPr txBox="1"/>
          <p:nvPr/>
        </p:nvSpPr>
        <p:spPr>
          <a:xfrm>
            <a:off x="7164288" y="2049946"/>
            <a:ext cx="190225" cy="370858"/>
          </a:xfrm>
          <a:prstGeom prst="rect">
            <a:avLst/>
          </a:prstGeom>
          <a:solidFill>
            <a:srgbClr val="FEC203">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38" name="文字方塊 37">
            <a:extLst>
              <a:ext uri="{FF2B5EF4-FFF2-40B4-BE49-F238E27FC236}">
                <a16:creationId xmlns:a16="http://schemas.microsoft.com/office/drawing/2014/main" id="{3E93E0DD-1CD6-2807-5949-BB79CACA7C2C}"/>
              </a:ext>
            </a:extLst>
          </p:cNvPr>
          <p:cNvSpPr txBox="1"/>
          <p:nvPr/>
        </p:nvSpPr>
        <p:spPr>
          <a:xfrm>
            <a:off x="5639306" y="1544868"/>
            <a:ext cx="416433" cy="433924"/>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45" name="矩形: 圓角 44">
            <a:extLst>
              <a:ext uri="{FF2B5EF4-FFF2-40B4-BE49-F238E27FC236}">
                <a16:creationId xmlns:a16="http://schemas.microsoft.com/office/drawing/2014/main" id="{C47303AB-CC78-3E3D-AA29-57163C0B7720}"/>
              </a:ext>
            </a:extLst>
          </p:cNvPr>
          <p:cNvSpPr/>
          <p:nvPr/>
        </p:nvSpPr>
        <p:spPr>
          <a:xfrm>
            <a:off x="632352" y="3809064"/>
            <a:ext cx="787215" cy="492888"/>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altLang="zh-TW" sz="1200" dirty="0">
                <a:solidFill>
                  <a:schemeClr val="tx1"/>
                </a:solidFill>
                <a:latin typeface="ADLaM Display" panose="02010000000000000000" pitchFamily="2" charset="0"/>
                <a:cs typeface="ADLaM Display" panose="02010000000000000000" pitchFamily="2" charset="0"/>
              </a:rPr>
              <a:t>Drafter</a:t>
            </a:r>
          </a:p>
          <a:p>
            <a:pPr algn="ctr"/>
            <a:r>
              <a:rPr lang="en-US" altLang="zh-TW" sz="1200" dirty="0">
                <a:solidFill>
                  <a:schemeClr val="tx1"/>
                </a:solidFill>
                <a:latin typeface="ADLaM Display" panose="02010000000000000000" pitchFamily="2" charset="0"/>
                <a:cs typeface="ADLaM Display" panose="02010000000000000000" pitchFamily="2" charset="0"/>
              </a:rPr>
              <a:t>Model</a:t>
            </a:r>
            <a:endParaRPr lang="zh-TW" altLang="en-US" sz="1200" dirty="0">
              <a:solidFill>
                <a:schemeClr val="tx1"/>
              </a:solidFill>
              <a:latin typeface="ADLaM Display" panose="02010000000000000000" pitchFamily="2" charset="0"/>
              <a:cs typeface="ADLaM Display" panose="02010000000000000000" pitchFamily="2" charset="0"/>
            </a:endParaRPr>
          </a:p>
        </p:txBody>
      </p:sp>
      <p:sp>
        <p:nvSpPr>
          <p:cNvPr id="48" name="矩形 47">
            <a:extLst>
              <a:ext uri="{FF2B5EF4-FFF2-40B4-BE49-F238E27FC236}">
                <a16:creationId xmlns:a16="http://schemas.microsoft.com/office/drawing/2014/main" id="{6AA1BDFE-7C72-CE53-B185-C9BFE01C1476}"/>
              </a:ext>
            </a:extLst>
          </p:cNvPr>
          <p:cNvSpPr/>
          <p:nvPr/>
        </p:nvSpPr>
        <p:spPr>
          <a:xfrm>
            <a:off x="179512" y="3861047"/>
            <a:ext cx="364371"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51" name="矩形: 圓角 50">
            <a:extLst>
              <a:ext uri="{FF2B5EF4-FFF2-40B4-BE49-F238E27FC236}">
                <a16:creationId xmlns:a16="http://schemas.microsoft.com/office/drawing/2014/main" id="{9E22C4DC-B23A-B0CB-8A30-3DA19108122B}"/>
              </a:ext>
            </a:extLst>
          </p:cNvPr>
          <p:cNvSpPr/>
          <p:nvPr/>
        </p:nvSpPr>
        <p:spPr>
          <a:xfrm>
            <a:off x="1948634" y="3517566"/>
            <a:ext cx="792088" cy="216024"/>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Multi-Token</a:t>
            </a:r>
          </a:p>
        </p:txBody>
      </p:sp>
      <p:sp>
        <p:nvSpPr>
          <p:cNvPr id="53" name="文字方塊 52">
            <a:extLst>
              <a:ext uri="{FF2B5EF4-FFF2-40B4-BE49-F238E27FC236}">
                <a16:creationId xmlns:a16="http://schemas.microsoft.com/office/drawing/2014/main" id="{B5CD0D50-A1D9-BAC1-7586-E02DC6AE1A76}"/>
              </a:ext>
            </a:extLst>
          </p:cNvPr>
          <p:cNvSpPr txBox="1"/>
          <p:nvPr/>
        </p:nvSpPr>
        <p:spPr>
          <a:xfrm>
            <a:off x="1944417" y="2780928"/>
            <a:ext cx="899391" cy="432048"/>
          </a:xfrm>
          <a:prstGeom prst="rect">
            <a:avLst/>
          </a:prstGeom>
          <a:noFill/>
        </p:spPr>
        <p:txBody>
          <a:bodyPr wrap="none" lIns="0" tIns="0" rIns="0" bIns="0" anchor="ctr" anchorCtr="1">
            <a:noAutofit/>
          </a:bodyPr>
          <a:lstStyle/>
          <a:p>
            <a:r>
              <a:rPr lang="en-US" altLang="zh-TW" sz="1200" b="1" dirty="0">
                <a:solidFill>
                  <a:prstClr val="black"/>
                </a:solidFill>
                <a:ea typeface="Cambria Math" panose="02040503050406030204" pitchFamily="18" charset="0"/>
              </a:rPr>
              <a:t>Speculative</a:t>
            </a:r>
          </a:p>
          <a:p>
            <a:r>
              <a:rPr kumimoji="0" lang="en-US" altLang="zh-TW" sz="1200" b="1" u="none" strike="noStrike" kern="1200" cap="none" spc="0" normalizeH="0" baseline="0" noProof="0" dirty="0">
                <a:ln>
                  <a:noFill/>
                </a:ln>
                <a:solidFill>
                  <a:prstClr val="black"/>
                </a:solidFill>
                <a:effectLst/>
                <a:uLnTx/>
                <a:uFillTx/>
                <a:ea typeface="Cambria Math" panose="02040503050406030204" pitchFamily="18" charset="0"/>
                <a:cs typeface="+mn-cs"/>
              </a:rPr>
              <a:t>Decoding</a:t>
            </a:r>
          </a:p>
        </p:txBody>
      </p:sp>
      <p:sp>
        <p:nvSpPr>
          <p:cNvPr id="66" name="矩形: 圓角 65">
            <a:extLst>
              <a:ext uri="{FF2B5EF4-FFF2-40B4-BE49-F238E27FC236}">
                <a16:creationId xmlns:a16="http://schemas.microsoft.com/office/drawing/2014/main" id="{62549C96-57A6-8E49-C72C-979C7315D3D7}"/>
              </a:ext>
            </a:extLst>
          </p:cNvPr>
          <p:cNvSpPr/>
          <p:nvPr/>
        </p:nvSpPr>
        <p:spPr>
          <a:xfrm>
            <a:off x="1944417" y="3949614"/>
            <a:ext cx="792088" cy="216024"/>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Multi-Token</a:t>
            </a:r>
          </a:p>
        </p:txBody>
      </p:sp>
      <p:sp>
        <p:nvSpPr>
          <p:cNvPr id="68" name="矩形: 圓角 67">
            <a:extLst>
              <a:ext uri="{FF2B5EF4-FFF2-40B4-BE49-F238E27FC236}">
                <a16:creationId xmlns:a16="http://schemas.microsoft.com/office/drawing/2014/main" id="{9BF39325-6633-3473-EC0D-37CF40B3796B}"/>
              </a:ext>
            </a:extLst>
          </p:cNvPr>
          <p:cNvSpPr/>
          <p:nvPr/>
        </p:nvSpPr>
        <p:spPr>
          <a:xfrm>
            <a:off x="1944417" y="4381662"/>
            <a:ext cx="792088" cy="216024"/>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Multi-Token</a:t>
            </a:r>
          </a:p>
        </p:txBody>
      </p:sp>
      <p:sp>
        <p:nvSpPr>
          <p:cNvPr id="70" name="文字方塊 69">
            <a:extLst>
              <a:ext uri="{FF2B5EF4-FFF2-40B4-BE49-F238E27FC236}">
                <a16:creationId xmlns:a16="http://schemas.microsoft.com/office/drawing/2014/main" id="{C39C5F38-7BE6-E27C-ADC0-D7659C83F68C}"/>
              </a:ext>
            </a:extLst>
          </p:cNvPr>
          <p:cNvSpPr txBox="1"/>
          <p:nvPr/>
        </p:nvSpPr>
        <p:spPr>
          <a:xfrm>
            <a:off x="677611" y="3425944"/>
            <a:ext cx="685869" cy="216026"/>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Guess</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76" name="接點: 肘形 75">
            <a:extLst>
              <a:ext uri="{FF2B5EF4-FFF2-40B4-BE49-F238E27FC236}">
                <a16:creationId xmlns:a16="http://schemas.microsoft.com/office/drawing/2014/main" id="{CBE0D687-6904-CD48-E1F7-D1BFA75F08C0}"/>
              </a:ext>
            </a:extLst>
          </p:cNvPr>
          <p:cNvCxnSpPr>
            <a:stCxn id="45" idx="3"/>
            <a:endCxn id="51" idx="1"/>
          </p:cNvCxnSpPr>
          <p:nvPr/>
        </p:nvCxnSpPr>
        <p:spPr>
          <a:xfrm flipV="1">
            <a:off x="1419567" y="3625578"/>
            <a:ext cx="529067" cy="42993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接點: 肘形 76">
            <a:extLst>
              <a:ext uri="{FF2B5EF4-FFF2-40B4-BE49-F238E27FC236}">
                <a16:creationId xmlns:a16="http://schemas.microsoft.com/office/drawing/2014/main" id="{0C85CF2B-F192-D938-C526-21161F0AD8C6}"/>
              </a:ext>
            </a:extLst>
          </p:cNvPr>
          <p:cNvCxnSpPr>
            <a:cxnSpLocks/>
            <a:stCxn id="45" idx="3"/>
            <a:endCxn id="68" idx="1"/>
          </p:cNvCxnSpPr>
          <p:nvPr/>
        </p:nvCxnSpPr>
        <p:spPr>
          <a:xfrm>
            <a:off x="1419567" y="4055508"/>
            <a:ext cx="524850" cy="43416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a:extLst>
              <a:ext uri="{FF2B5EF4-FFF2-40B4-BE49-F238E27FC236}">
                <a16:creationId xmlns:a16="http://schemas.microsoft.com/office/drawing/2014/main" id="{2A585DA7-3040-054D-5C25-75C150386D5A}"/>
              </a:ext>
            </a:extLst>
          </p:cNvPr>
          <p:cNvCxnSpPr>
            <a:stCxn id="45" idx="3"/>
            <a:endCxn id="66" idx="1"/>
          </p:cNvCxnSpPr>
          <p:nvPr/>
        </p:nvCxnSpPr>
        <p:spPr>
          <a:xfrm>
            <a:off x="1419567" y="4055508"/>
            <a:ext cx="524850" cy="2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8FBD71DA-F9C3-EF21-B37E-21EEC4D3134B}"/>
              </a:ext>
            </a:extLst>
          </p:cNvPr>
          <p:cNvSpPr/>
          <p:nvPr/>
        </p:nvSpPr>
        <p:spPr>
          <a:xfrm>
            <a:off x="838359" y="4725143"/>
            <a:ext cx="364371" cy="197917"/>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4xD</a:t>
            </a:r>
          </a:p>
        </p:txBody>
      </p:sp>
      <p:sp>
        <p:nvSpPr>
          <p:cNvPr id="86" name="文字方塊 85">
            <a:extLst>
              <a:ext uri="{FF2B5EF4-FFF2-40B4-BE49-F238E27FC236}">
                <a16:creationId xmlns:a16="http://schemas.microsoft.com/office/drawing/2014/main" id="{E9EE2942-ABD2-5BD4-E744-D02D15505AAD}"/>
              </a:ext>
            </a:extLst>
          </p:cNvPr>
          <p:cNvSpPr txBox="1"/>
          <p:nvPr/>
        </p:nvSpPr>
        <p:spPr>
          <a:xfrm>
            <a:off x="1997526" y="4678804"/>
            <a:ext cx="685868" cy="393156"/>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Cross</a:t>
            </a:r>
          </a:p>
          <a:p>
            <a:pPr algn="ct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Attention</a:t>
            </a:r>
          </a:p>
        </p:txBody>
      </p:sp>
      <p:pic>
        <p:nvPicPr>
          <p:cNvPr id="4" name="圖片 3">
            <a:extLst>
              <a:ext uri="{FF2B5EF4-FFF2-40B4-BE49-F238E27FC236}">
                <a16:creationId xmlns:a16="http://schemas.microsoft.com/office/drawing/2014/main" id="{9D68BBA3-60F4-05F6-FAA0-F121ECE3FC4D}"/>
              </a:ext>
            </a:extLst>
          </p:cNvPr>
          <p:cNvPicPr>
            <a:picLocks noChangeAspect="1"/>
          </p:cNvPicPr>
          <p:nvPr/>
        </p:nvPicPr>
        <p:blipFill>
          <a:blip r:embed="rId4"/>
          <a:stretch>
            <a:fillRect/>
          </a:stretch>
        </p:blipFill>
        <p:spPr>
          <a:xfrm>
            <a:off x="1494912" y="5211437"/>
            <a:ext cx="1869682" cy="1234073"/>
          </a:xfrm>
          <a:prstGeom prst="rect">
            <a:avLst/>
          </a:prstGeom>
        </p:spPr>
      </p:pic>
      <p:sp>
        <p:nvSpPr>
          <p:cNvPr id="58" name="文字方塊 57">
            <a:extLst>
              <a:ext uri="{FF2B5EF4-FFF2-40B4-BE49-F238E27FC236}">
                <a16:creationId xmlns:a16="http://schemas.microsoft.com/office/drawing/2014/main" id="{65BA10AA-33E3-ECA2-4515-138A0D1409A1}"/>
              </a:ext>
            </a:extLst>
          </p:cNvPr>
          <p:cNvSpPr txBox="1"/>
          <p:nvPr/>
        </p:nvSpPr>
        <p:spPr>
          <a:xfrm>
            <a:off x="3195392" y="3428998"/>
            <a:ext cx="685868" cy="216026"/>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Verify</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61" name="矩形: 圓角 60">
            <a:extLst>
              <a:ext uri="{FF2B5EF4-FFF2-40B4-BE49-F238E27FC236}">
                <a16:creationId xmlns:a16="http://schemas.microsoft.com/office/drawing/2014/main" id="{5A88E48D-B52B-E48D-6640-1A585B7A6A98}"/>
              </a:ext>
            </a:extLst>
          </p:cNvPr>
          <p:cNvSpPr/>
          <p:nvPr/>
        </p:nvSpPr>
        <p:spPr>
          <a:xfrm>
            <a:off x="3150133" y="3813298"/>
            <a:ext cx="787215" cy="488654"/>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altLang="zh-TW" sz="1200" dirty="0">
                <a:solidFill>
                  <a:schemeClr val="tx1"/>
                </a:solidFill>
                <a:latin typeface="ADLaM Display" panose="02010000000000000000" pitchFamily="2" charset="0"/>
                <a:cs typeface="ADLaM Display" panose="02010000000000000000" pitchFamily="2" charset="0"/>
              </a:rPr>
              <a:t>Target</a:t>
            </a:r>
          </a:p>
          <a:p>
            <a:pPr algn="ctr"/>
            <a:r>
              <a:rPr lang="en-US" altLang="zh-TW" sz="1200" dirty="0">
                <a:solidFill>
                  <a:schemeClr val="tx1"/>
                </a:solidFill>
                <a:latin typeface="ADLaM Display" panose="02010000000000000000" pitchFamily="2" charset="0"/>
                <a:cs typeface="ADLaM Display" panose="02010000000000000000" pitchFamily="2" charset="0"/>
              </a:rPr>
              <a:t>Model</a:t>
            </a:r>
            <a:endParaRPr lang="zh-TW" altLang="en-US" sz="1200" dirty="0">
              <a:solidFill>
                <a:schemeClr val="tx1"/>
              </a:solidFill>
              <a:latin typeface="ADLaM Display" panose="02010000000000000000" pitchFamily="2" charset="0"/>
              <a:cs typeface="ADLaM Display" panose="02010000000000000000" pitchFamily="2" charset="0"/>
            </a:endParaRPr>
          </a:p>
        </p:txBody>
      </p:sp>
      <p:sp>
        <p:nvSpPr>
          <p:cNvPr id="64" name="矩形 63">
            <a:extLst>
              <a:ext uri="{FF2B5EF4-FFF2-40B4-BE49-F238E27FC236}">
                <a16:creationId xmlns:a16="http://schemas.microsoft.com/office/drawing/2014/main" id="{939139B8-4151-0F3D-2D0F-B01B422C961E}"/>
              </a:ext>
            </a:extLst>
          </p:cNvPr>
          <p:cNvSpPr/>
          <p:nvPr/>
        </p:nvSpPr>
        <p:spPr>
          <a:xfrm>
            <a:off x="4283968" y="3861047"/>
            <a:ext cx="364371"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72" name="文字方塊 71">
            <a:extLst>
              <a:ext uri="{FF2B5EF4-FFF2-40B4-BE49-F238E27FC236}">
                <a16:creationId xmlns:a16="http://schemas.microsoft.com/office/drawing/2014/main" id="{765DBC9F-3032-1B58-3F70-6F270C5B9448}"/>
              </a:ext>
            </a:extLst>
          </p:cNvPr>
          <p:cNvSpPr txBox="1"/>
          <p:nvPr/>
        </p:nvSpPr>
        <p:spPr>
          <a:xfrm>
            <a:off x="4032649" y="3428998"/>
            <a:ext cx="899391" cy="216025"/>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Guarantee</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Tree>
    <p:extLst>
      <p:ext uri="{BB962C8B-B14F-4D97-AF65-F5344CB8AC3E}">
        <p14:creationId xmlns:p14="http://schemas.microsoft.com/office/powerpoint/2010/main" val="32166245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0FC98B3D-CE3A-2655-CAED-4A93F8E16C9C}"/>
              </a:ext>
            </a:extLst>
          </p:cNvPr>
          <p:cNvPicPr>
            <a:picLocks noChangeAspect="1"/>
          </p:cNvPicPr>
          <p:nvPr/>
        </p:nvPicPr>
        <p:blipFill>
          <a:blip r:embed="rId2"/>
          <a:stretch>
            <a:fillRect/>
          </a:stretch>
        </p:blipFill>
        <p:spPr>
          <a:xfrm>
            <a:off x="4901007" y="92208"/>
            <a:ext cx="3913986" cy="6550604"/>
          </a:xfrm>
          <a:prstGeom prst="rect">
            <a:avLst/>
          </a:prstGeom>
        </p:spPr>
      </p:pic>
      <p:sp>
        <p:nvSpPr>
          <p:cNvPr id="9" name="標題 1">
            <a:extLst>
              <a:ext uri="{FF2B5EF4-FFF2-40B4-BE49-F238E27FC236}">
                <a16:creationId xmlns:a16="http://schemas.microsoft.com/office/drawing/2014/main" id="{1280E1EC-97E0-5FC3-6A26-36F67C8121E1}"/>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Draft Model for E2B</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Gemma 4 models generate text autoregressively and produce one token at a time.</a:t>
            </a:r>
          </a:p>
        </p:txBody>
      </p:sp>
      <p:sp>
        <p:nvSpPr>
          <p:cNvPr id="11" name="文字方塊 10">
            <a:extLst>
              <a:ext uri="{FF2B5EF4-FFF2-40B4-BE49-F238E27FC236}">
                <a16:creationId xmlns:a16="http://schemas.microsoft.com/office/drawing/2014/main" id="{3398CB3A-483F-A496-9993-0FCAB38D1C3B}"/>
              </a:ext>
            </a:extLst>
          </p:cNvPr>
          <p:cNvSpPr txBox="1"/>
          <p:nvPr/>
        </p:nvSpPr>
        <p:spPr>
          <a:xfrm>
            <a:off x="153958" y="2204864"/>
            <a:ext cx="2041778" cy="307777"/>
          </a:xfrm>
          <a:prstGeom prst="rect">
            <a:avLst/>
          </a:prstGeom>
          <a:noFill/>
        </p:spPr>
        <p:txBody>
          <a:bodyPr wrap="square">
            <a:spAutoFit/>
          </a:bodyPr>
          <a:lstStyle/>
          <a:p>
            <a:r>
              <a:rPr lang="en-US" altLang="zh-TW" sz="1400" dirty="0">
                <a:latin typeface="Noto Sans HK" panose="020B0200000000000000" pitchFamily="34" charset="-120"/>
                <a:ea typeface="Noto Sans HK" panose="020B0200000000000000" pitchFamily="34" charset="-120"/>
                <a:cs typeface="Aharoni" panose="020F0502020204030204" pitchFamily="2" charset="-79"/>
                <a:hlinkClick r:id="rId3"/>
              </a:rPr>
              <a:t>Speculative Decoding</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endParaRPr>
          </a:p>
        </p:txBody>
      </p:sp>
      <p:sp>
        <p:nvSpPr>
          <p:cNvPr id="3" name="文字方塊 2">
            <a:extLst>
              <a:ext uri="{FF2B5EF4-FFF2-40B4-BE49-F238E27FC236}">
                <a16:creationId xmlns:a16="http://schemas.microsoft.com/office/drawing/2014/main" id="{C0F54843-5DBB-EA74-B49B-292EF4873A75}"/>
              </a:ext>
            </a:extLst>
          </p:cNvPr>
          <p:cNvSpPr txBox="1"/>
          <p:nvPr/>
        </p:nvSpPr>
        <p:spPr>
          <a:xfrm>
            <a:off x="179512" y="3861048"/>
            <a:ext cx="4572000" cy="646331"/>
          </a:xfrm>
          <a:prstGeom prst="rect">
            <a:avLst/>
          </a:prstGeom>
          <a:noFill/>
        </p:spPr>
        <p:txBody>
          <a:bodyPr wrap="square">
            <a:spAutoFit/>
          </a:bodyPr>
          <a:lstStyle/>
          <a:p>
            <a:r>
              <a:rPr lang="zh-TW" altLang="en-US" dirty="0"/>
              <a:t>https://x.com/googlegemma/status/2051694045869879749</a:t>
            </a:r>
          </a:p>
        </p:txBody>
      </p:sp>
    </p:spTree>
    <p:extLst>
      <p:ext uri="{BB962C8B-B14F-4D97-AF65-F5344CB8AC3E}">
        <p14:creationId xmlns:p14="http://schemas.microsoft.com/office/powerpoint/2010/main" val="22791932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86993-55F6-655D-6F3A-DCF41E0E7E23}"/>
            </a:ext>
          </a:extLst>
        </p:cNvPr>
        <p:cNvGrpSpPr/>
        <p:nvPr/>
      </p:nvGrpSpPr>
      <p:grpSpPr>
        <a:xfrm>
          <a:off x="0" y="0"/>
          <a:ext cx="0" cy="0"/>
          <a:chOff x="0" y="0"/>
          <a:chExt cx="0" cy="0"/>
        </a:xfrm>
      </p:grpSpPr>
      <p:sp>
        <p:nvSpPr>
          <p:cNvPr id="93" name="矩形: 圓角 92">
            <a:extLst>
              <a:ext uri="{FF2B5EF4-FFF2-40B4-BE49-F238E27FC236}">
                <a16:creationId xmlns:a16="http://schemas.microsoft.com/office/drawing/2014/main" id="{9BC5D209-CD0F-8B4F-B117-FFBA97F7BB22}"/>
              </a:ext>
            </a:extLst>
          </p:cNvPr>
          <p:cNvSpPr/>
          <p:nvPr/>
        </p:nvSpPr>
        <p:spPr>
          <a:xfrm>
            <a:off x="567640" y="1714074"/>
            <a:ext cx="1219522" cy="1720987"/>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8" name="文字方塊 7">
            <a:extLst>
              <a:ext uri="{FF2B5EF4-FFF2-40B4-BE49-F238E27FC236}">
                <a16:creationId xmlns:a16="http://schemas.microsoft.com/office/drawing/2014/main" id="{27688924-6F43-FE20-F39C-E0229359FB31}"/>
              </a:ext>
            </a:extLst>
          </p:cNvPr>
          <p:cNvSpPr txBox="1"/>
          <p:nvPr/>
        </p:nvSpPr>
        <p:spPr>
          <a:xfrm>
            <a:off x="635034" y="1793757"/>
            <a:ext cx="1086557" cy="936151"/>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9" name="文字方塊 28">
            <a:extLst>
              <a:ext uri="{FF2B5EF4-FFF2-40B4-BE49-F238E27FC236}">
                <a16:creationId xmlns:a16="http://schemas.microsoft.com/office/drawing/2014/main" id="{CA709BE2-1656-D0B4-AAC6-15D6C3575E40}"/>
              </a:ext>
            </a:extLst>
          </p:cNvPr>
          <p:cNvSpPr txBox="1"/>
          <p:nvPr/>
        </p:nvSpPr>
        <p:spPr>
          <a:xfrm>
            <a:off x="635034" y="2870996"/>
            <a:ext cx="1086557" cy="487960"/>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1" name="直線單箭頭接點 30">
            <a:extLst>
              <a:ext uri="{FF2B5EF4-FFF2-40B4-BE49-F238E27FC236}">
                <a16:creationId xmlns:a16="http://schemas.microsoft.com/office/drawing/2014/main" id="{942C8466-D1D5-4EF3-2363-E4C21E214E95}"/>
              </a:ext>
            </a:extLst>
          </p:cNvPr>
          <p:cNvCxnSpPr>
            <a:cxnSpLocks/>
            <a:stCxn id="8" idx="0"/>
            <a:endCxn id="137" idx="2"/>
          </p:cNvCxnSpPr>
          <p:nvPr/>
        </p:nvCxnSpPr>
        <p:spPr>
          <a:xfrm flipH="1" flipV="1">
            <a:off x="1177120" y="1513424"/>
            <a:ext cx="1193" cy="280333"/>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C78A0572-1A63-5E70-B09A-4C3D3A0EC38F}"/>
              </a:ext>
            </a:extLst>
          </p:cNvPr>
          <p:cNvCxnSpPr>
            <a:cxnSpLocks/>
            <a:stCxn id="73" idx="0"/>
            <a:endCxn id="29" idx="2"/>
          </p:cNvCxnSpPr>
          <p:nvPr/>
        </p:nvCxnSpPr>
        <p:spPr>
          <a:xfrm flipV="1">
            <a:off x="1177402" y="3358956"/>
            <a:ext cx="911" cy="27479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BED8C8EA-0B18-FE3A-ACAC-8ED247CD33DA}"/>
              </a:ext>
            </a:extLst>
          </p:cNvPr>
          <p:cNvCxnSpPr>
            <a:cxnSpLocks/>
            <a:stCxn id="29" idx="0"/>
            <a:endCxn id="8" idx="2"/>
          </p:cNvCxnSpPr>
          <p:nvPr/>
        </p:nvCxnSpPr>
        <p:spPr>
          <a:xfrm flipV="1">
            <a:off x="1178313" y="2729908"/>
            <a:ext cx="0" cy="14108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73" name="文字方塊 72">
            <a:extLst>
              <a:ext uri="{FF2B5EF4-FFF2-40B4-BE49-F238E27FC236}">
                <a16:creationId xmlns:a16="http://schemas.microsoft.com/office/drawing/2014/main" id="{89DFAE5F-76DE-A380-A8BC-634A17D2929C}"/>
              </a:ext>
            </a:extLst>
          </p:cNvPr>
          <p:cNvSpPr txBox="1"/>
          <p:nvPr/>
        </p:nvSpPr>
        <p:spPr>
          <a:xfrm>
            <a:off x="567641" y="3633747"/>
            <a:ext cx="1219522" cy="587341"/>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chemeClr val="tx1">
                    <a:lumMod val="50000"/>
                    <a:lumOff val="50000"/>
                  </a:schemeClr>
                </a:solidFill>
                <a:effectLst/>
                <a:latin typeface="Consolas" panose="020B0609020204030204" pitchFamily="49" charset="0"/>
              </a:rPr>
              <a:t>   </a:t>
            </a:r>
            <a:r>
              <a:rPr lang="en-US" altLang="zh-TW" sz="1200" b="1" u="sng" strike="noStrike" kern="1200" spc="0" dirty="0">
                <a:ln>
                  <a:noFill/>
                </a:ln>
                <a:solidFill>
                  <a:schemeClr val="tx1">
                    <a:lumMod val="50000"/>
                    <a:lumOff val="50000"/>
                  </a:schemeClr>
                </a:solidFill>
                <a:effectLst/>
                <a:latin typeface="Consolas" panose="020B0609020204030204" pitchFamily="49" charset="0"/>
              </a:rPr>
              <a:t>Dataset   </a:t>
            </a:r>
            <a:endParaRPr lang="en-US" altLang="zh-TW" sz="1200" u="sng" strike="noStrike" kern="1200" spc="0" dirty="0">
              <a:ln>
                <a:noFill/>
              </a:ln>
              <a:solidFill>
                <a:schemeClr val="tx1">
                  <a:lumMod val="50000"/>
                  <a:lumOff val="50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r>
              <a:rPr lang="en-US" altLang="zh-TW" sz="1200" u="sng" dirty="0">
                <a:solidFill>
                  <a:schemeClr val="tx1">
                    <a:lumMod val="50000"/>
                    <a:lumOff val="50000"/>
                  </a:schemeClr>
                </a:solidFill>
                <a:latin typeface="Consolas" panose="020B0609020204030204" pitchFamily="49" charset="0"/>
                <a:ea typeface="新細明體" panose="02020500000000000000" pitchFamily="18" charset="-120"/>
              </a:rPr>
              <a:t>…</a:t>
            </a: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endParaRPr>
          </a:p>
          <a:p>
            <a:pPr marL="0" marR="0" lvl="0" algn="ctr" defTabSz="914400" rtl="0" eaLnBrk="1" fontAlgn="ctr" latinLnBrk="0" hangingPunct="1">
              <a:lnSpc>
                <a:spcPts val="1200"/>
              </a:lnSpc>
              <a:buClrTx/>
              <a:buSzTx/>
              <a:buFontTx/>
              <a:buNone/>
              <a:tabLst/>
              <a:defRPr/>
            </a:pP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 </a:t>
            </a:r>
            <a:r>
              <a:rPr kumimoji="0" lang="zh-TW" altLang="en-US"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endPar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endParaRPr>
          </a:p>
        </p:txBody>
      </p:sp>
      <p:sp>
        <p:nvSpPr>
          <p:cNvPr id="117" name="矩形: 圓角 116">
            <a:extLst>
              <a:ext uri="{FF2B5EF4-FFF2-40B4-BE49-F238E27FC236}">
                <a16:creationId xmlns:a16="http://schemas.microsoft.com/office/drawing/2014/main" id="{CBBF751A-4841-643D-D672-6495988B1BA0}"/>
              </a:ext>
            </a:extLst>
          </p:cNvPr>
          <p:cNvSpPr/>
          <p:nvPr/>
        </p:nvSpPr>
        <p:spPr>
          <a:xfrm>
            <a:off x="2471724" y="1704468"/>
            <a:ext cx="1064550"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18" name="文字方塊 117">
            <a:extLst>
              <a:ext uri="{FF2B5EF4-FFF2-40B4-BE49-F238E27FC236}">
                <a16:creationId xmlns:a16="http://schemas.microsoft.com/office/drawing/2014/main" id="{0F5AF795-3B3C-801B-75CE-99F18D920572}"/>
              </a:ext>
            </a:extLst>
          </p:cNvPr>
          <p:cNvSpPr txBox="1"/>
          <p:nvPr/>
        </p:nvSpPr>
        <p:spPr>
          <a:xfrm>
            <a:off x="2539118" y="1768192"/>
            <a:ext cx="931588"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119" name="文字方塊 118">
            <a:extLst>
              <a:ext uri="{FF2B5EF4-FFF2-40B4-BE49-F238E27FC236}">
                <a16:creationId xmlns:a16="http://schemas.microsoft.com/office/drawing/2014/main" id="{4F679991-33F8-2BC7-D7D4-C417EBD90EEA}"/>
              </a:ext>
            </a:extLst>
          </p:cNvPr>
          <p:cNvSpPr txBox="1"/>
          <p:nvPr/>
        </p:nvSpPr>
        <p:spPr>
          <a:xfrm>
            <a:off x="2539118" y="2239634"/>
            <a:ext cx="9315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122" name="直線單箭頭接點 121">
            <a:extLst>
              <a:ext uri="{FF2B5EF4-FFF2-40B4-BE49-F238E27FC236}">
                <a16:creationId xmlns:a16="http://schemas.microsoft.com/office/drawing/2014/main" id="{BBCCED22-9B60-A6F6-30FE-BEE684D117D3}"/>
              </a:ext>
            </a:extLst>
          </p:cNvPr>
          <p:cNvCxnSpPr>
            <a:cxnSpLocks/>
            <a:stCxn id="125" idx="0"/>
            <a:endCxn id="119" idx="2"/>
          </p:cNvCxnSpPr>
          <p:nvPr/>
        </p:nvCxnSpPr>
        <p:spPr>
          <a:xfrm flipH="1" flipV="1">
            <a:off x="3004912" y="2610492"/>
            <a:ext cx="4083" cy="220905"/>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3" name="直線單箭頭接點 122">
            <a:extLst>
              <a:ext uri="{FF2B5EF4-FFF2-40B4-BE49-F238E27FC236}">
                <a16:creationId xmlns:a16="http://schemas.microsoft.com/office/drawing/2014/main" id="{76B940A6-6BCF-781A-CE7D-374C0654CC82}"/>
              </a:ext>
            </a:extLst>
          </p:cNvPr>
          <p:cNvCxnSpPr>
            <a:cxnSpLocks/>
            <a:stCxn id="119" idx="0"/>
            <a:endCxn id="118" idx="2"/>
          </p:cNvCxnSpPr>
          <p:nvPr/>
        </p:nvCxnSpPr>
        <p:spPr>
          <a:xfrm flipV="1">
            <a:off x="3004912" y="2139050"/>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25" name="文字方塊 124">
            <a:extLst>
              <a:ext uri="{FF2B5EF4-FFF2-40B4-BE49-F238E27FC236}">
                <a16:creationId xmlns:a16="http://schemas.microsoft.com/office/drawing/2014/main" id="{252A4D11-98C1-E2CE-76F9-54E64CE32887}"/>
              </a:ext>
            </a:extLst>
          </p:cNvPr>
          <p:cNvSpPr txBox="1"/>
          <p:nvPr/>
        </p:nvSpPr>
        <p:spPr>
          <a:xfrm>
            <a:off x="2651259" y="2831397"/>
            <a:ext cx="715471" cy="460130"/>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b="1" dirty="0">
                <a:solidFill>
                  <a:schemeClr val="tx1">
                    <a:lumMod val="50000"/>
                    <a:lumOff val="50000"/>
                  </a:schemeClr>
                </a:solidFill>
                <a:latin typeface="Consolas" panose="020B0609020204030204" pitchFamily="49" charset="0"/>
              </a:rPr>
              <a:t>Mentor</a:t>
            </a:r>
          </a:p>
          <a:p>
            <a:pPr marL="0" algn="ctr" rtl="0" eaLnBrk="1" fontAlgn="ctr" latinLnBrk="0" hangingPunct="1">
              <a:lnSpc>
                <a:spcPts val="1600"/>
              </a:lnSpc>
              <a:buNone/>
            </a:pPr>
            <a:r>
              <a:rPr lang="en-US" altLang="zh-TW" sz="1200" b="1" dirty="0">
                <a:solidFill>
                  <a:schemeClr val="tx1">
                    <a:lumMod val="50000"/>
                    <a:lumOff val="50000"/>
                  </a:schemeClr>
                </a:solidFill>
                <a:latin typeface="Consolas" panose="020B0609020204030204" pitchFamily="49" charset="0"/>
              </a:rPr>
              <a:t>Model</a:t>
            </a:r>
          </a:p>
        </p:txBody>
      </p:sp>
      <p:sp>
        <p:nvSpPr>
          <p:cNvPr id="137" name="文字方塊 136">
            <a:extLst>
              <a:ext uri="{FF2B5EF4-FFF2-40B4-BE49-F238E27FC236}">
                <a16:creationId xmlns:a16="http://schemas.microsoft.com/office/drawing/2014/main" id="{3B21D428-399E-48DA-FA3B-F4D2934EFEFE}"/>
              </a:ext>
            </a:extLst>
          </p:cNvPr>
          <p:cNvSpPr txBox="1"/>
          <p:nvPr/>
        </p:nvSpPr>
        <p:spPr>
          <a:xfrm>
            <a:off x="747752" y="1126708"/>
            <a:ext cx="858736" cy="3867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Next Token</a:t>
            </a:r>
          </a:p>
        </p:txBody>
      </p:sp>
      <p:sp>
        <p:nvSpPr>
          <p:cNvPr id="139" name="文字方塊 138">
            <a:extLst>
              <a:ext uri="{FF2B5EF4-FFF2-40B4-BE49-F238E27FC236}">
                <a16:creationId xmlns:a16="http://schemas.microsoft.com/office/drawing/2014/main" id="{D5B44D3B-4241-2BF9-F500-31CADFD0B569}"/>
              </a:ext>
            </a:extLst>
          </p:cNvPr>
          <p:cNvSpPr txBox="1"/>
          <p:nvPr/>
        </p:nvSpPr>
        <p:spPr>
          <a:xfrm>
            <a:off x="2539118" y="1143594"/>
            <a:ext cx="931583"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Next Token</a:t>
            </a:r>
          </a:p>
        </p:txBody>
      </p:sp>
      <p:sp>
        <p:nvSpPr>
          <p:cNvPr id="315" name="矩形: 圓角 314">
            <a:extLst>
              <a:ext uri="{FF2B5EF4-FFF2-40B4-BE49-F238E27FC236}">
                <a16:creationId xmlns:a16="http://schemas.microsoft.com/office/drawing/2014/main" id="{FAAA9A43-CE4C-B3F6-E773-87ECFC273B53}"/>
              </a:ext>
            </a:extLst>
          </p:cNvPr>
          <p:cNvSpPr/>
          <p:nvPr/>
        </p:nvSpPr>
        <p:spPr>
          <a:xfrm>
            <a:off x="5793256" y="2470586"/>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316" name="文字方塊 315">
            <a:extLst>
              <a:ext uri="{FF2B5EF4-FFF2-40B4-BE49-F238E27FC236}">
                <a16:creationId xmlns:a16="http://schemas.microsoft.com/office/drawing/2014/main" id="{777D1806-1AC5-A090-0E2F-7F659A74A141}"/>
              </a:ext>
            </a:extLst>
          </p:cNvPr>
          <p:cNvSpPr txBox="1"/>
          <p:nvPr/>
        </p:nvSpPr>
        <p:spPr>
          <a:xfrm>
            <a:off x="5870354" y="2534310"/>
            <a:ext cx="416433" cy="433924"/>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17" name="文字方塊 316">
            <a:extLst>
              <a:ext uri="{FF2B5EF4-FFF2-40B4-BE49-F238E27FC236}">
                <a16:creationId xmlns:a16="http://schemas.microsoft.com/office/drawing/2014/main" id="{B636CD72-4E44-11EE-89CB-634CD940FF09}"/>
              </a:ext>
            </a:extLst>
          </p:cNvPr>
          <p:cNvSpPr txBox="1"/>
          <p:nvPr/>
        </p:nvSpPr>
        <p:spPr>
          <a:xfrm>
            <a:off x="5870354" y="3005752"/>
            <a:ext cx="416433"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18" name="直線單箭頭接點 317">
            <a:extLst>
              <a:ext uri="{FF2B5EF4-FFF2-40B4-BE49-F238E27FC236}">
                <a16:creationId xmlns:a16="http://schemas.microsoft.com/office/drawing/2014/main" id="{47BCA9D0-43E0-3E34-1EAB-DAC8C02BE71F}"/>
              </a:ext>
            </a:extLst>
          </p:cNvPr>
          <p:cNvCxnSpPr>
            <a:cxnSpLocks/>
            <a:stCxn id="316" idx="0"/>
            <a:endCxn id="322" idx="2"/>
          </p:cNvCxnSpPr>
          <p:nvPr/>
        </p:nvCxnSpPr>
        <p:spPr>
          <a:xfrm flipH="1" flipV="1">
            <a:off x="6076721" y="2372434"/>
            <a:ext cx="1850" cy="161876"/>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19" name="直線單箭頭接點 318">
            <a:extLst>
              <a:ext uri="{FF2B5EF4-FFF2-40B4-BE49-F238E27FC236}">
                <a16:creationId xmlns:a16="http://schemas.microsoft.com/office/drawing/2014/main" id="{5085AE20-60EC-AD40-341B-68DC9CFF1AA3}"/>
              </a:ext>
            </a:extLst>
          </p:cNvPr>
          <p:cNvCxnSpPr>
            <a:cxnSpLocks/>
            <a:stCxn id="321" idx="0"/>
            <a:endCxn id="317" idx="2"/>
          </p:cNvCxnSpPr>
          <p:nvPr/>
        </p:nvCxnSpPr>
        <p:spPr>
          <a:xfrm flipV="1">
            <a:off x="6078570" y="3376610"/>
            <a:ext cx="1" cy="13808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21" name="文字方塊 320">
            <a:extLst>
              <a:ext uri="{FF2B5EF4-FFF2-40B4-BE49-F238E27FC236}">
                <a16:creationId xmlns:a16="http://schemas.microsoft.com/office/drawing/2014/main" id="{6050EABD-57B0-7FFB-D65A-5E5C8A88B497}"/>
              </a:ext>
            </a:extLst>
          </p:cNvPr>
          <p:cNvSpPr txBox="1"/>
          <p:nvPr/>
        </p:nvSpPr>
        <p:spPr>
          <a:xfrm>
            <a:off x="5862546" y="3514698"/>
            <a:ext cx="432048" cy="352634"/>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600"/>
              </a:lnSpc>
              <a:buNone/>
            </a:pPr>
            <a:r>
              <a:rPr lang="en-US" altLang="zh-TW" sz="1000" b="1" u="sng" dirty="0">
                <a:solidFill>
                  <a:schemeClr val="bg2">
                    <a:lumMod val="25000"/>
                  </a:schemeClr>
                </a:solidFill>
                <a:latin typeface="Consolas" panose="020B0609020204030204" pitchFamily="49" charset="0"/>
              </a:rPr>
              <a:t>Q&amp;A</a:t>
            </a:r>
            <a:endParaRPr lang="en-US" altLang="zh-TW" sz="1000" u="sng" strike="noStrike" kern="1200" spc="0" dirty="0">
              <a:ln>
                <a:noFill/>
              </a:ln>
              <a:solidFill>
                <a:schemeClr val="bg2">
                  <a:lumMod val="25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lang="en-US" altLang="zh-TW" sz="1000" dirty="0">
                <a:solidFill>
                  <a:schemeClr val="bg2">
                    <a:lumMod val="25000"/>
                  </a:schemeClr>
                </a:solidFill>
                <a:latin typeface="Consolas" panose="020B0609020204030204" pitchFamily="49" charset="0"/>
                <a:ea typeface="新細明體" panose="02020500000000000000" pitchFamily="18" charset="-120"/>
              </a:rPr>
              <a:t>(MCQ)</a:t>
            </a:r>
            <a:endParaRPr kumimoji="0" lang="zh-TW" altLang="zh-TW" sz="1000" strike="noStrike" kern="1200" cap="none" spc="0" normalizeH="0" noProof="0" dirty="0">
              <a:ln>
                <a:noFill/>
              </a:ln>
              <a:solidFill>
                <a:schemeClr val="bg2">
                  <a:lumMod val="25000"/>
                </a:schemeClr>
              </a:solidFill>
              <a:effectLst/>
              <a:uLnTx/>
              <a:uFillTx/>
              <a:latin typeface="Consolas" panose="020B0609020204030204" pitchFamily="49" charset="0"/>
              <a:ea typeface="新細明體" panose="02020500000000000000" pitchFamily="18" charset="-120"/>
              <a:cs typeface="+mn-cs"/>
            </a:endParaRPr>
          </a:p>
        </p:txBody>
      </p:sp>
      <p:sp>
        <p:nvSpPr>
          <p:cNvPr id="322" name="文字方塊 321">
            <a:extLst>
              <a:ext uri="{FF2B5EF4-FFF2-40B4-BE49-F238E27FC236}">
                <a16:creationId xmlns:a16="http://schemas.microsoft.com/office/drawing/2014/main" id="{BBB5E49F-166C-829A-96D9-BC04ED271FAF}"/>
              </a:ext>
            </a:extLst>
          </p:cNvPr>
          <p:cNvSpPr txBox="1"/>
          <p:nvPr/>
        </p:nvSpPr>
        <p:spPr>
          <a:xfrm>
            <a:off x="5853249" y="2181676"/>
            <a:ext cx="446943" cy="190758"/>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Score</a:t>
            </a:r>
          </a:p>
        </p:txBody>
      </p:sp>
      <p:sp>
        <p:nvSpPr>
          <p:cNvPr id="324" name="文字方塊 323">
            <a:extLst>
              <a:ext uri="{FF2B5EF4-FFF2-40B4-BE49-F238E27FC236}">
                <a16:creationId xmlns:a16="http://schemas.microsoft.com/office/drawing/2014/main" id="{D8AF711C-01F8-2383-A166-72304A75F5CF}"/>
              </a:ext>
            </a:extLst>
          </p:cNvPr>
          <p:cNvSpPr txBox="1"/>
          <p:nvPr/>
        </p:nvSpPr>
        <p:spPr>
          <a:xfrm>
            <a:off x="6320394" y="2534310"/>
            <a:ext cx="190225" cy="433924"/>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25" name="文字方塊 324">
            <a:extLst>
              <a:ext uri="{FF2B5EF4-FFF2-40B4-BE49-F238E27FC236}">
                <a16:creationId xmlns:a16="http://schemas.microsoft.com/office/drawing/2014/main" id="{4C6AA02B-3311-B121-FEAD-3A83EEDD19D0}"/>
              </a:ext>
            </a:extLst>
          </p:cNvPr>
          <p:cNvSpPr txBox="1"/>
          <p:nvPr/>
        </p:nvSpPr>
        <p:spPr>
          <a:xfrm>
            <a:off x="6320394" y="3005752"/>
            <a:ext cx="190225"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332" name="流程圖: 合併 331">
            <a:extLst>
              <a:ext uri="{FF2B5EF4-FFF2-40B4-BE49-F238E27FC236}">
                <a16:creationId xmlns:a16="http://schemas.microsoft.com/office/drawing/2014/main" id="{BCEAC993-7B03-4603-7D4F-16080ED42D99}"/>
              </a:ext>
            </a:extLst>
          </p:cNvPr>
          <p:cNvSpPr/>
          <p:nvPr/>
        </p:nvSpPr>
        <p:spPr>
          <a:xfrm>
            <a:off x="5174863" y="1303606"/>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VRAM</a:t>
            </a:r>
            <a:endParaRPr lang="zh-TW" altLang="en-US" sz="1200" b="1" dirty="0">
              <a:solidFill>
                <a:schemeClr val="accent2">
                  <a:lumMod val="75000"/>
                </a:schemeClr>
              </a:solidFill>
            </a:endParaRPr>
          </a:p>
        </p:txBody>
      </p:sp>
      <p:sp>
        <p:nvSpPr>
          <p:cNvPr id="368" name="矩形: 圓角 367">
            <a:extLst>
              <a:ext uri="{FF2B5EF4-FFF2-40B4-BE49-F238E27FC236}">
                <a16:creationId xmlns:a16="http://schemas.microsoft.com/office/drawing/2014/main" id="{9EA0A467-5651-59AE-9729-2BEAA8CBE8A7}"/>
              </a:ext>
            </a:extLst>
          </p:cNvPr>
          <p:cNvSpPr/>
          <p:nvPr/>
        </p:nvSpPr>
        <p:spPr>
          <a:xfrm>
            <a:off x="6876256" y="2470502"/>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369" name="文字方塊 368">
            <a:extLst>
              <a:ext uri="{FF2B5EF4-FFF2-40B4-BE49-F238E27FC236}">
                <a16:creationId xmlns:a16="http://schemas.microsoft.com/office/drawing/2014/main" id="{C0659B23-491F-B9F4-046F-3D6F8970265F}"/>
              </a:ext>
            </a:extLst>
          </p:cNvPr>
          <p:cNvSpPr txBox="1"/>
          <p:nvPr/>
        </p:nvSpPr>
        <p:spPr>
          <a:xfrm>
            <a:off x="6953354" y="2534226"/>
            <a:ext cx="416433" cy="433924"/>
          </a:xfrm>
          <a:prstGeom prst="rect">
            <a:avLst/>
          </a:prstGeom>
          <a:solidFill>
            <a:srgbClr val="B7C9E7">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70" name="文字方塊 369">
            <a:extLst>
              <a:ext uri="{FF2B5EF4-FFF2-40B4-BE49-F238E27FC236}">
                <a16:creationId xmlns:a16="http://schemas.microsoft.com/office/drawing/2014/main" id="{EF22FC26-3919-51CE-75E8-79C3F3E93FDE}"/>
              </a:ext>
            </a:extLst>
          </p:cNvPr>
          <p:cNvSpPr txBox="1"/>
          <p:nvPr/>
        </p:nvSpPr>
        <p:spPr>
          <a:xfrm>
            <a:off x="6953354" y="3005668"/>
            <a:ext cx="416433" cy="370858"/>
          </a:xfrm>
          <a:prstGeom prst="rect">
            <a:avLst/>
          </a:prstGeom>
          <a:solidFill>
            <a:srgbClr val="FEC203">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71" name="直線單箭頭接點 370">
            <a:extLst>
              <a:ext uri="{FF2B5EF4-FFF2-40B4-BE49-F238E27FC236}">
                <a16:creationId xmlns:a16="http://schemas.microsoft.com/office/drawing/2014/main" id="{DB65FBC4-B58B-615F-380B-357BFECFF890}"/>
              </a:ext>
            </a:extLst>
          </p:cNvPr>
          <p:cNvCxnSpPr>
            <a:cxnSpLocks/>
            <a:stCxn id="369" idx="0"/>
            <a:endCxn id="54" idx="2"/>
          </p:cNvCxnSpPr>
          <p:nvPr/>
        </p:nvCxnSpPr>
        <p:spPr>
          <a:xfrm flipH="1" flipV="1">
            <a:off x="7159721" y="2372434"/>
            <a:ext cx="1850" cy="16179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2" name="直線單箭頭接點 371">
            <a:extLst>
              <a:ext uri="{FF2B5EF4-FFF2-40B4-BE49-F238E27FC236}">
                <a16:creationId xmlns:a16="http://schemas.microsoft.com/office/drawing/2014/main" id="{80417F5D-C68B-59D2-FCA6-5DDA7D38F16F}"/>
              </a:ext>
            </a:extLst>
          </p:cNvPr>
          <p:cNvCxnSpPr>
            <a:cxnSpLocks/>
            <a:stCxn id="373" idx="0"/>
            <a:endCxn id="370" idx="2"/>
          </p:cNvCxnSpPr>
          <p:nvPr/>
        </p:nvCxnSpPr>
        <p:spPr>
          <a:xfrm flipV="1">
            <a:off x="7161570" y="3376526"/>
            <a:ext cx="1" cy="13817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73" name="文字方塊 372">
            <a:extLst>
              <a:ext uri="{FF2B5EF4-FFF2-40B4-BE49-F238E27FC236}">
                <a16:creationId xmlns:a16="http://schemas.microsoft.com/office/drawing/2014/main" id="{719E8EC6-A31B-D42A-C145-2ADBE0C744F6}"/>
              </a:ext>
            </a:extLst>
          </p:cNvPr>
          <p:cNvSpPr txBox="1"/>
          <p:nvPr/>
        </p:nvSpPr>
        <p:spPr>
          <a:xfrm>
            <a:off x="6945546" y="3514698"/>
            <a:ext cx="432048" cy="352634"/>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600"/>
              </a:lnSpc>
              <a:buNone/>
            </a:pPr>
            <a:r>
              <a:rPr lang="en-US" altLang="zh-TW" sz="1000" b="1" u="sng" dirty="0">
                <a:solidFill>
                  <a:schemeClr val="bg2">
                    <a:lumMod val="25000"/>
                  </a:schemeClr>
                </a:solidFill>
                <a:latin typeface="Consolas" panose="020B0609020204030204" pitchFamily="49" charset="0"/>
              </a:rPr>
              <a:t>Q&amp;A</a:t>
            </a:r>
            <a:endParaRPr lang="en-US" altLang="zh-TW" sz="1000" u="sng" strike="noStrike" kern="1200" spc="0" dirty="0">
              <a:ln>
                <a:noFill/>
              </a:ln>
              <a:solidFill>
                <a:schemeClr val="bg2">
                  <a:lumMod val="25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lang="en-US" altLang="zh-TW" sz="1000" dirty="0">
                <a:solidFill>
                  <a:schemeClr val="bg2">
                    <a:lumMod val="25000"/>
                  </a:schemeClr>
                </a:solidFill>
                <a:latin typeface="Consolas" panose="020B0609020204030204" pitchFamily="49" charset="0"/>
                <a:ea typeface="新細明體" panose="02020500000000000000" pitchFamily="18" charset="-120"/>
              </a:rPr>
              <a:t>(MCQ)</a:t>
            </a:r>
            <a:endParaRPr kumimoji="0" lang="zh-TW" altLang="zh-TW" sz="1000" strike="noStrike" kern="1200" cap="none" spc="0" normalizeH="0" noProof="0" dirty="0">
              <a:ln>
                <a:noFill/>
              </a:ln>
              <a:solidFill>
                <a:schemeClr val="bg2">
                  <a:lumMod val="25000"/>
                </a:schemeClr>
              </a:solidFill>
              <a:effectLst/>
              <a:uLnTx/>
              <a:uFillTx/>
              <a:latin typeface="Consolas" panose="020B0609020204030204" pitchFamily="49" charset="0"/>
              <a:ea typeface="新細明體" panose="02020500000000000000" pitchFamily="18" charset="-120"/>
              <a:cs typeface="+mn-cs"/>
            </a:endParaRPr>
          </a:p>
        </p:txBody>
      </p:sp>
      <p:sp>
        <p:nvSpPr>
          <p:cNvPr id="376" name="文字方塊 375">
            <a:extLst>
              <a:ext uri="{FF2B5EF4-FFF2-40B4-BE49-F238E27FC236}">
                <a16:creationId xmlns:a16="http://schemas.microsoft.com/office/drawing/2014/main" id="{26919418-A789-EDA6-86D0-96CC2155BFCB}"/>
              </a:ext>
            </a:extLst>
          </p:cNvPr>
          <p:cNvSpPr txBox="1"/>
          <p:nvPr/>
        </p:nvSpPr>
        <p:spPr>
          <a:xfrm>
            <a:off x="7403394" y="2534226"/>
            <a:ext cx="190225" cy="433924"/>
          </a:xfrm>
          <a:prstGeom prst="rect">
            <a:avLst/>
          </a:prstGeom>
          <a:solidFill>
            <a:srgbClr val="B7C9E7">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77" name="文字方塊 376">
            <a:extLst>
              <a:ext uri="{FF2B5EF4-FFF2-40B4-BE49-F238E27FC236}">
                <a16:creationId xmlns:a16="http://schemas.microsoft.com/office/drawing/2014/main" id="{385AF1C9-D14F-F596-B42A-EACBA5A9AD44}"/>
              </a:ext>
            </a:extLst>
          </p:cNvPr>
          <p:cNvSpPr txBox="1"/>
          <p:nvPr/>
        </p:nvSpPr>
        <p:spPr>
          <a:xfrm>
            <a:off x="7403394" y="3005668"/>
            <a:ext cx="190225" cy="370858"/>
          </a:xfrm>
          <a:prstGeom prst="rect">
            <a:avLst/>
          </a:prstGeom>
          <a:solidFill>
            <a:srgbClr val="FEC203">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379" name="矩形: 圓角 378">
            <a:extLst>
              <a:ext uri="{FF2B5EF4-FFF2-40B4-BE49-F238E27FC236}">
                <a16:creationId xmlns:a16="http://schemas.microsoft.com/office/drawing/2014/main" id="{BCA1F0A1-C78B-4C44-6484-9B782920E7FF}"/>
              </a:ext>
            </a:extLst>
          </p:cNvPr>
          <p:cNvSpPr/>
          <p:nvPr/>
        </p:nvSpPr>
        <p:spPr>
          <a:xfrm>
            <a:off x="484964" y="1607424"/>
            <a:ext cx="1394497" cy="1918598"/>
          </a:xfrm>
          <a:prstGeom prst="roundRect">
            <a:avLst>
              <a:gd name="adj" fmla="val 429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pPr algn="ctr"/>
            <a:endParaRPr lang="zh-TW" altLang="en-US" sz="1000">
              <a:latin typeface="ADLaM Display" panose="02010000000000000000" pitchFamily="2" charset="0"/>
              <a:cs typeface="ADLaM Display" panose="02010000000000000000" pitchFamily="2" charset="0"/>
            </a:endParaRPr>
          </a:p>
        </p:txBody>
      </p:sp>
      <p:sp>
        <p:nvSpPr>
          <p:cNvPr id="4" name="標題 1">
            <a:extLst>
              <a:ext uri="{FF2B5EF4-FFF2-40B4-BE49-F238E27FC236}">
                <a16:creationId xmlns:a16="http://schemas.microsoft.com/office/drawing/2014/main" id="{66B49238-60F6-67AA-9BF6-00D4A6557700}"/>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Supervised Fine-Tuning</a:t>
            </a:r>
          </a:p>
          <a:p>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SFT shapes behavior via structured, high-quality QA pairs, not knowledge</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a:t>
            </a:r>
          </a:p>
        </p:txBody>
      </p:sp>
      <p:sp>
        <p:nvSpPr>
          <p:cNvPr id="18" name="文字方塊 17">
            <a:extLst>
              <a:ext uri="{FF2B5EF4-FFF2-40B4-BE49-F238E27FC236}">
                <a16:creationId xmlns:a16="http://schemas.microsoft.com/office/drawing/2014/main" id="{618F6AD0-83FA-9357-73ED-4F671D392F32}"/>
              </a:ext>
            </a:extLst>
          </p:cNvPr>
          <p:cNvSpPr txBox="1"/>
          <p:nvPr/>
        </p:nvSpPr>
        <p:spPr>
          <a:xfrm>
            <a:off x="747752" y="1756903"/>
            <a:ext cx="872480" cy="1438867"/>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Optimizer</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SGD, </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 </a:t>
            </a:r>
          </a:p>
          <a:p>
            <a:pPr algn="ctr">
              <a:lnSpc>
                <a:spcPts val="1400"/>
              </a:lnSpc>
              <a:buNone/>
            </a:pPr>
            <a:r>
              <a:rPr lang="en-US" altLang="zh-TW" sz="1000" b="1" dirty="0">
                <a:solidFill>
                  <a:schemeClr val="accent6">
                    <a:lumMod val="75000"/>
                  </a:schemeClr>
                </a:solidFill>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t>
            </a: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AdamW,</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Paged AdamW</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 …</a:t>
            </a:r>
            <a:endParaRPr lang="en-US" altLang="zh-TW" sz="1000" u="none" strike="noStrike"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22" name="標題 1">
            <a:extLst>
              <a:ext uri="{FF2B5EF4-FFF2-40B4-BE49-F238E27FC236}">
                <a16:creationId xmlns:a16="http://schemas.microsoft.com/office/drawing/2014/main" id="{7A53AD3C-F2BB-4EE2-24CD-86C8D28B9CA8}"/>
              </a:ext>
            </a:extLst>
          </p:cNvPr>
          <p:cNvSpPr txBox="1">
            <a:spLocks/>
          </p:cNvSpPr>
          <p:nvPr/>
        </p:nvSpPr>
        <p:spPr>
          <a:xfrm>
            <a:off x="2760419" y="3326392"/>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65000"/>
                    <a:lumOff val="35000"/>
                  </a:schemeClr>
                </a:solidFill>
                <a:latin typeface="+mn-lt"/>
                <a:ea typeface="Noto Sans HK" panose="020B0200000000000000" pitchFamily="34" charset="-120"/>
                <a:cs typeface="Arial" panose="020B0604020202020204" pitchFamily="34" charset="0"/>
              </a:rPr>
              <a:t>Distillation</a:t>
            </a:r>
          </a:p>
        </p:txBody>
      </p:sp>
      <p:sp>
        <p:nvSpPr>
          <p:cNvPr id="24" name="流程圖: 合併 23">
            <a:extLst>
              <a:ext uri="{FF2B5EF4-FFF2-40B4-BE49-F238E27FC236}">
                <a16:creationId xmlns:a16="http://schemas.microsoft.com/office/drawing/2014/main" id="{CF8E78C1-A247-3230-83FA-CB76161D9B1F}"/>
              </a:ext>
            </a:extLst>
          </p:cNvPr>
          <p:cNvSpPr/>
          <p:nvPr/>
        </p:nvSpPr>
        <p:spPr>
          <a:xfrm>
            <a:off x="2123728" y="1317518"/>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Time</a:t>
            </a:r>
            <a:endParaRPr lang="zh-TW" altLang="en-US" sz="1200" b="1" dirty="0">
              <a:solidFill>
                <a:schemeClr val="accent2">
                  <a:lumMod val="75000"/>
                </a:schemeClr>
              </a:solidFill>
            </a:endParaRPr>
          </a:p>
        </p:txBody>
      </p:sp>
      <p:sp>
        <p:nvSpPr>
          <p:cNvPr id="55" name="標題 1">
            <a:extLst>
              <a:ext uri="{FF2B5EF4-FFF2-40B4-BE49-F238E27FC236}">
                <a16:creationId xmlns:a16="http://schemas.microsoft.com/office/drawing/2014/main" id="{B37A615F-552C-F797-9035-FB5C2D0F26EE}"/>
              </a:ext>
            </a:extLst>
          </p:cNvPr>
          <p:cNvSpPr txBox="1">
            <a:spLocks/>
          </p:cNvSpPr>
          <p:nvPr/>
        </p:nvSpPr>
        <p:spPr>
          <a:xfrm>
            <a:off x="6827284" y="3935370"/>
            <a:ext cx="640487" cy="272442"/>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lvl="0" algn="ctr">
              <a:lnSpc>
                <a:spcPts val="1000"/>
              </a:lnSpc>
              <a:spcBef>
                <a:spcPts val="0"/>
              </a:spcBef>
              <a:defRPr/>
            </a:pPr>
            <a:r>
              <a:rPr lang="en-US" altLang="zh-TW" sz="1200" b="1" dirty="0">
                <a:latin typeface="+mn-lt"/>
                <a:ea typeface="Noto Sans HK" panose="020B0200000000000000" pitchFamily="34" charset="-120"/>
                <a:cs typeface="Arial" panose="020B0604020202020204" pitchFamily="34" charset="0"/>
              </a:rPr>
              <a:t>PTQ</a:t>
            </a:r>
            <a:br>
              <a:rPr lang="en-US" altLang="zh-TW" sz="1000" dirty="0">
                <a:latin typeface="+mn-lt"/>
                <a:ea typeface="Noto Sans HK" panose="020B0200000000000000" pitchFamily="34" charset="-120"/>
                <a:cs typeface="Arial" panose="020B0604020202020204" pitchFamily="34" charset="0"/>
              </a:rPr>
            </a:br>
            <a:r>
              <a:rPr lang="en-US" altLang="zh-TW" sz="1000" dirty="0">
                <a:latin typeface="+mn-lt"/>
                <a:ea typeface="Noto Sans HK" panose="020B0200000000000000" pitchFamily="34" charset="-120"/>
                <a:cs typeface="Arial" panose="020B0604020202020204" pitchFamily="34" charset="0"/>
              </a:rPr>
              <a:t>(</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Precision</a:t>
            </a:r>
            <a:r>
              <a:rPr lang="en-US" altLang="zh-TW" sz="1000" b="1" dirty="0">
                <a:latin typeface="Noto Sans HK" panose="020B0200000000000000" pitchFamily="34" charset="-120"/>
                <a:ea typeface="Noto Sans HK" panose="020B0200000000000000" pitchFamily="34" charset="-120"/>
                <a:cs typeface="Calibri" panose="020F0502020204030204" pitchFamily="34" charset="0"/>
              </a:rPr>
              <a:t> ↓</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a:t>
            </a:r>
          </a:p>
        </p:txBody>
      </p:sp>
      <p:sp>
        <p:nvSpPr>
          <p:cNvPr id="58" name="標題 1">
            <a:extLst>
              <a:ext uri="{FF2B5EF4-FFF2-40B4-BE49-F238E27FC236}">
                <a16:creationId xmlns:a16="http://schemas.microsoft.com/office/drawing/2014/main" id="{0090CFC2-B2C3-795C-E73F-AE2C84936473}"/>
              </a:ext>
            </a:extLst>
          </p:cNvPr>
          <p:cNvSpPr txBox="1">
            <a:spLocks/>
          </p:cNvSpPr>
          <p:nvPr/>
        </p:nvSpPr>
        <p:spPr>
          <a:xfrm>
            <a:off x="5803721" y="3944782"/>
            <a:ext cx="640487" cy="272442"/>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lnSpc>
                <a:spcPts val="1000"/>
              </a:lnSpc>
            </a:pPr>
            <a:r>
              <a:rPr lang="en-US" altLang="zh-TW" sz="1200" b="1" dirty="0">
                <a:latin typeface="+mn-lt"/>
                <a:ea typeface="Noto Sans HK" panose="020B0200000000000000" pitchFamily="34" charset="-120"/>
                <a:cs typeface="Arial" panose="020B0604020202020204" pitchFamily="34" charset="0"/>
              </a:rPr>
              <a:t>PRUNING</a:t>
            </a:r>
          </a:p>
          <a:p>
            <a:pPr lvl="0" algn="ctr">
              <a:lnSpc>
                <a:spcPts val="1000"/>
              </a:lnSpc>
              <a:spcBef>
                <a:spcPts val="0"/>
              </a:spcBef>
              <a:defRPr/>
            </a:pP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(Dimension</a:t>
            </a:r>
            <a:r>
              <a:rPr lang="en-US" altLang="zh-TW" sz="1000" b="1" dirty="0">
                <a:latin typeface="Noto Sans HK" panose="020B0200000000000000" pitchFamily="34" charset="-120"/>
                <a:ea typeface="Noto Sans HK" panose="020B0200000000000000" pitchFamily="34" charset="-120"/>
                <a:cs typeface="Calibri" panose="020F0502020204030204" pitchFamily="34" charset="0"/>
              </a:rPr>
              <a:t> ↓</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a:t>
            </a:r>
          </a:p>
        </p:txBody>
      </p:sp>
      <p:sp>
        <p:nvSpPr>
          <p:cNvPr id="16" name="標題 1">
            <a:extLst>
              <a:ext uri="{FF2B5EF4-FFF2-40B4-BE49-F238E27FC236}">
                <a16:creationId xmlns:a16="http://schemas.microsoft.com/office/drawing/2014/main" id="{D7904C49-4BB8-1FF5-995D-DC1BDC65925E}"/>
              </a:ext>
            </a:extLst>
          </p:cNvPr>
          <p:cNvSpPr txBox="1">
            <a:spLocks/>
          </p:cNvSpPr>
          <p:nvPr/>
        </p:nvSpPr>
        <p:spPr>
          <a:xfrm>
            <a:off x="929053" y="4262496"/>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65000"/>
                    <a:lumOff val="35000"/>
                  </a:schemeClr>
                </a:solidFill>
                <a:latin typeface="+mn-lt"/>
                <a:ea typeface="Noto Sans HK" panose="020B0200000000000000" pitchFamily="34" charset="-120"/>
                <a:cs typeface="Arial" panose="020B0604020202020204" pitchFamily="34" charset="0"/>
              </a:rPr>
              <a:t>Pre-Training</a:t>
            </a:r>
          </a:p>
        </p:txBody>
      </p:sp>
      <p:sp>
        <p:nvSpPr>
          <p:cNvPr id="54" name="文字方塊 53">
            <a:extLst>
              <a:ext uri="{FF2B5EF4-FFF2-40B4-BE49-F238E27FC236}">
                <a16:creationId xmlns:a16="http://schemas.microsoft.com/office/drawing/2014/main" id="{9E691904-0820-18B0-4CA4-0C81702D74D5}"/>
              </a:ext>
            </a:extLst>
          </p:cNvPr>
          <p:cNvSpPr txBox="1"/>
          <p:nvPr/>
        </p:nvSpPr>
        <p:spPr>
          <a:xfrm>
            <a:off x="6936249" y="2181592"/>
            <a:ext cx="446943" cy="190842"/>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Score</a:t>
            </a:r>
          </a:p>
        </p:txBody>
      </p:sp>
      <p:sp>
        <p:nvSpPr>
          <p:cNvPr id="10" name="標題 1">
            <a:extLst>
              <a:ext uri="{FF2B5EF4-FFF2-40B4-BE49-F238E27FC236}">
                <a16:creationId xmlns:a16="http://schemas.microsoft.com/office/drawing/2014/main" id="{6D8F9B5A-AD42-7F5E-59D3-5A2BC7763CF0}"/>
              </a:ext>
            </a:extLst>
          </p:cNvPr>
          <p:cNvSpPr txBox="1">
            <a:spLocks/>
          </p:cNvSpPr>
          <p:nvPr/>
        </p:nvSpPr>
        <p:spPr>
          <a:xfrm>
            <a:off x="6899462" y="4376830"/>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QAD</a:t>
            </a:r>
          </a:p>
        </p:txBody>
      </p:sp>
      <p:cxnSp>
        <p:nvCxnSpPr>
          <p:cNvPr id="121" name="直線單箭頭接點 120">
            <a:extLst>
              <a:ext uri="{FF2B5EF4-FFF2-40B4-BE49-F238E27FC236}">
                <a16:creationId xmlns:a16="http://schemas.microsoft.com/office/drawing/2014/main" id="{958C702D-720A-4007-6D16-2D4BCAC13B6B}"/>
              </a:ext>
            </a:extLst>
          </p:cNvPr>
          <p:cNvCxnSpPr>
            <a:cxnSpLocks/>
            <a:stCxn id="118" idx="0"/>
            <a:endCxn id="139" idx="2"/>
          </p:cNvCxnSpPr>
          <p:nvPr/>
        </p:nvCxnSpPr>
        <p:spPr>
          <a:xfrm flipH="1" flipV="1">
            <a:off x="3004910" y="1521510"/>
            <a:ext cx="2" cy="24668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35" name="矩形: 圓角 134">
            <a:extLst>
              <a:ext uri="{FF2B5EF4-FFF2-40B4-BE49-F238E27FC236}">
                <a16:creationId xmlns:a16="http://schemas.microsoft.com/office/drawing/2014/main" id="{EFEB4379-478B-ED90-928C-8ABA214FEFAD}"/>
              </a:ext>
            </a:extLst>
          </p:cNvPr>
          <p:cNvSpPr/>
          <p:nvPr/>
        </p:nvSpPr>
        <p:spPr>
          <a:xfrm>
            <a:off x="2422005" y="1607424"/>
            <a:ext cx="1157348" cy="1121017"/>
          </a:xfrm>
          <a:prstGeom prst="roundRect">
            <a:avLst>
              <a:gd name="adj" fmla="val 429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9" name="文字方塊 18">
            <a:extLst>
              <a:ext uri="{FF2B5EF4-FFF2-40B4-BE49-F238E27FC236}">
                <a16:creationId xmlns:a16="http://schemas.microsoft.com/office/drawing/2014/main" id="{56AA90C8-F0F4-60D7-CC2D-4ACFC9D0DB57}"/>
              </a:ext>
            </a:extLst>
          </p:cNvPr>
          <p:cNvSpPr txBox="1"/>
          <p:nvPr/>
        </p:nvSpPr>
        <p:spPr>
          <a:xfrm>
            <a:off x="2619400" y="1855569"/>
            <a:ext cx="872480" cy="548097"/>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Layer</a:t>
            </a:r>
            <a:r>
              <a:rPr lang="en-US" altLang="zh-TW" sz="1000" b="1"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r>
              <a:rPr lang="en-US" altLang="zh-TW" sz="1000"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p>
          <a:p>
            <a:pPr algn="ctr">
              <a:lnSpc>
                <a:spcPts val="1400"/>
              </a:lnSpc>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Dimension</a:t>
            </a:r>
            <a:r>
              <a:rPr lang="en-US" altLang="zh-TW" sz="1000" b="1"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endParaRPr lang="en-US" altLang="zh-TW" sz="1000" b="1"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25" name="矩形: 圓角 24">
            <a:extLst>
              <a:ext uri="{FF2B5EF4-FFF2-40B4-BE49-F238E27FC236}">
                <a16:creationId xmlns:a16="http://schemas.microsoft.com/office/drawing/2014/main" id="{038139EC-2911-D766-E9F4-9EC4A47613F0}"/>
              </a:ext>
            </a:extLst>
          </p:cNvPr>
          <p:cNvSpPr/>
          <p:nvPr/>
        </p:nvSpPr>
        <p:spPr>
          <a:xfrm>
            <a:off x="6871636" y="4882671"/>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26" name="文字方塊 25">
            <a:extLst>
              <a:ext uri="{FF2B5EF4-FFF2-40B4-BE49-F238E27FC236}">
                <a16:creationId xmlns:a16="http://schemas.microsoft.com/office/drawing/2014/main" id="{888D032C-2C1E-12FF-C88A-C93002A64CFF}"/>
              </a:ext>
            </a:extLst>
          </p:cNvPr>
          <p:cNvSpPr txBox="1"/>
          <p:nvPr/>
        </p:nvSpPr>
        <p:spPr>
          <a:xfrm>
            <a:off x="6948734" y="4946395"/>
            <a:ext cx="416433" cy="433924"/>
          </a:xfrm>
          <a:prstGeom prst="rect">
            <a:avLst/>
          </a:prstGeom>
          <a:solidFill>
            <a:srgbClr val="B7C9E7">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7" name="文字方塊 26">
            <a:extLst>
              <a:ext uri="{FF2B5EF4-FFF2-40B4-BE49-F238E27FC236}">
                <a16:creationId xmlns:a16="http://schemas.microsoft.com/office/drawing/2014/main" id="{44886D9A-736F-C281-2F59-B52D321C5207}"/>
              </a:ext>
            </a:extLst>
          </p:cNvPr>
          <p:cNvSpPr txBox="1"/>
          <p:nvPr/>
        </p:nvSpPr>
        <p:spPr>
          <a:xfrm>
            <a:off x="6948734" y="5417837"/>
            <a:ext cx="416433" cy="370858"/>
          </a:xfrm>
          <a:prstGeom prst="rect">
            <a:avLst/>
          </a:prstGeom>
          <a:solidFill>
            <a:srgbClr val="FEC203">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0" name="直線單箭頭接點 29">
            <a:extLst>
              <a:ext uri="{FF2B5EF4-FFF2-40B4-BE49-F238E27FC236}">
                <a16:creationId xmlns:a16="http://schemas.microsoft.com/office/drawing/2014/main" id="{7858E5B8-E8AC-C548-9D59-288F9AD872C0}"/>
              </a:ext>
            </a:extLst>
          </p:cNvPr>
          <p:cNvCxnSpPr>
            <a:cxnSpLocks/>
            <a:stCxn id="34" idx="0"/>
            <a:endCxn id="27" idx="2"/>
          </p:cNvCxnSpPr>
          <p:nvPr/>
        </p:nvCxnSpPr>
        <p:spPr>
          <a:xfrm flipV="1">
            <a:off x="7155100" y="5788695"/>
            <a:ext cx="1851" cy="20277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BDF147AB-9484-60B6-4538-414E0D6275A5}"/>
              </a:ext>
            </a:extLst>
          </p:cNvPr>
          <p:cNvSpPr txBox="1"/>
          <p:nvPr/>
        </p:nvSpPr>
        <p:spPr>
          <a:xfrm>
            <a:off x="6899462" y="5991469"/>
            <a:ext cx="511276" cy="288032"/>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200"/>
              </a:lnSpc>
              <a:buNone/>
            </a:pPr>
            <a:r>
              <a:rPr kumimoji="0" lang="en-US" altLang="zh-TW" sz="1000" b="1" strike="noStrike" kern="1200" cap="none" spc="0" normalizeH="0" noProof="0" dirty="0">
                <a:ln>
                  <a:noFill/>
                </a:ln>
                <a:effectLst/>
                <a:uLnTx/>
                <a:uFillTx/>
                <a:latin typeface="Consolas" panose="020B0609020204030204" pitchFamily="49" charset="0"/>
                <a:ea typeface="新細明體" panose="02020500000000000000" pitchFamily="18" charset="-120"/>
                <a:cs typeface="+mn-cs"/>
              </a:rPr>
              <a:t>Mentor</a:t>
            </a:r>
          </a:p>
          <a:p>
            <a:pPr marL="0" algn="ctr" rtl="0" eaLnBrk="1" fontAlgn="ctr" latinLnBrk="0" hangingPunct="1">
              <a:lnSpc>
                <a:spcPts val="1200"/>
              </a:lnSpc>
              <a:buNone/>
            </a:pPr>
            <a:r>
              <a:rPr lang="en-US" altLang="zh-TW" sz="1000" b="1" dirty="0">
                <a:latin typeface="Consolas" panose="020B0609020204030204" pitchFamily="49" charset="0"/>
                <a:ea typeface="新細明體" panose="02020500000000000000" pitchFamily="18" charset="-120"/>
              </a:rPr>
              <a:t>Model</a:t>
            </a:r>
            <a:endParaRPr kumimoji="0" lang="zh-TW" altLang="zh-TW" sz="1000" strike="noStrike" kern="1200" cap="none" spc="0" normalizeH="0" noProof="0" dirty="0">
              <a:ln>
                <a:noFill/>
              </a:ln>
              <a:effectLst/>
              <a:uLnTx/>
              <a:uFillTx/>
              <a:latin typeface="Consolas" panose="020B0609020204030204" pitchFamily="49" charset="0"/>
              <a:ea typeface="新細明體" panose="02020500000000000000" pitchFamily="18" charset="-120"/>
              <a:cs typeface="+mn-cs"/>
            </a:endParaRPr>
          </a:p>
        </p:txBody>
      </p:sp>
      <p:sp>
        <p:nvSpPr>
          <p:cNvPr id="35" name="文字方塊 34">
            <a:extLst>
              <a:ext uri="{FF2B5EF4-FFF2-40B4-BE49-F238E27FC236}">
                <a16:creationId xmlns:a16="http://schemas.microsoft.com/office/drawing/2014/main" id="{B4E66B93-719D-CBB5-EF4B-34F3D4D5E385}"/>
              </a:ext>
            </a:extLst>
          </p:cNvPr>
          <p:cNvSpPr txBox="1"/>
          <p:nvPr/>
        </p:nvSpPr>
        <p:spPr>
          <a:xfrm>
            <a:off x="7398774" y="4946395"/>
            <a:ext cx="190225" cy="433924"/>
          </a:xfrm>
          <a:prstGeom prst="rect">
            <a:avLst/>
          </a:prstGeom>
          <a:solidFill>
            <a:srgbClr val="B7C9E7">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6" name="文字方塊 35">
            <a:extLst>
              <a:ext uri="{FF2B5EF4-FFF2-40B4-BE49-F238E27FC236}">
                <a16:creationId xmlns:a16="http://schemas.microsoft.com/office/drawing/2014/main" id="{778BE287-ABAE-8938-B37C-19FD2B4B229E}"/>
              </a:ext>
            </a:extLst>
          </p:cNvPr>
          <p:cNvSpPr txBox="1"/>
          <p:nvPr/>
        </p:nvSpPr>
        <p:spPr>
          <a:xfrm>
            <a:off x="7398774" y="5417837"/>
            <a:ext cx="190225" cy="370858"/>
          </a:xfrm>
          <a:prstGeom prst="rect">
            <a:avLst/>
          </a:prstGeom>
          <a:solidFill>
            <a:srgbClr val="FEC203">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44" name="矩形: 圓角 43">
            <a:extLst>
              <a:ext uri="{FF2B5EF4-FFF2-40B4-BE49-F238E27FC236}">
                <a16:creationId xmlns:a16="http://schemas.microsoft.com/office/drawing/2014/main" id="{5DE4A9B2-62EF-A9B5-5ECE-ED795AB7D94A}"/>
              </a:ext>
            </a:extLst>
          </p:cNvPr>
          <p:cNvSpPr/>
          <p:nvPr/>
        </p:nvSpPr>
        <p:spPr>
          <a:xfrm>
            <a:off x="6802561" y="4820861"/>
            <a:ext cx="862185" cy="1098601"/>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cxnSp>
        <p:nvCxnSpPr>
          <p:cNvPr id="60" name="直線單箭頭接點 59">
            <a:extLst>
              <a:ext uri="{FF2B5EF4-FFF2-40B4-BE49-F238E27FC236}">
                <a16:creationId xmlns:a16="http://schemas.microsoft.com/office/drawing/2014/main" id="{2C954AD7-E402-6AFC-8B91-CBAD6E53D57E}"/>
              </a:ext>
            </a:extLst>
          </p:cNvPr>
          <p:cNvCxnSpPr>
            <a:cxnSpLocks/>
            <a:stCxn id="26" idx="0"/>
            <a:endCxn id="62" idx="2"/>
          </p:cNvCxnSpPr>
          <p:nvPr/>
        </p:nvCxnSpPr>
        <p:spPr>
          <a:xfrm flipH="1" flipV="1">
            <a:off x="7155101" y="4747761"/>
            <a:ext cx="1850" cy="19863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D36BF304-77E9-0856-4BC0-AEEE5DDEDB92}"/>
              </a:ext>
            </a:extLst>
          </p:cNvPr>
          <p:cNvSpPr txBox="1"/>
          <p:nvPr/>
        </p:nvSpPr>
        <p:spPr>
          <a:xfrm>
            <a:off x="6931629" y="4592854"/>
            <a:ext cx="446943" cy="154907"/>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Logit</a:t>
            </a:r>
          </a:p>
        </p:txBody>
      </p:sp>
      <p:sp>
        <p:nvSpPr>
          <p:cNvPr id="90" name="文字方塊 89">
            <a:extLst>
              <a:ext uri="{FF2B5EF4-FFF2-40B4-BE49-F238E27FC236}">
                <a16:creationId xmlns:a16="http://schemas.microsoft.com/office/drawing/2014/main" id="{2AB2E4CD-81A2-C891-8A8A-C932E820910C}"/>
              </a:ext>
            </a:extLst>
          </p:cNvPr>
          <p:cNvSpPr txBox="1"/>
          <p:nvPr/>
        </p:nvSpPr>
        <p:spPr>
          <a:xfrm>
            <a:off x="8100392" y="2492896"/>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algn="ctr">
              <a:lnSpc>
                <a:spcPts val="1200"/>
              </a:lnSpc>
              <a:buNone/>
            </a:pPr>
            <a:r>
              <a:rPr lang="en-US" altLang="zh-TW" sz="1400" b="1" u="none" strike="noStrike" dirty="0">
                <a:effectLst/>
              </a:rPr>
              <a:t>Full-FT</a:t>
            </a:r>
            <a:br>
              <a:rPr lang="en-US" altLang="zh-TW" sz="1400" b="1" u="none" strike="noStrike" dirty="0">
                <a:effectLst/>
              </a:rPr>
            </a:br>
            <a:r>
              <a:rPr lang="en-US" altLang="zh-TW" sz="1200" u="none" strike="noStrike" dirty="0">
                <a:effectLst/>
              </a:rPr>
              <a:t>mobile</a:t>
            </a:r>
            <a:r>
              <a:rPr lang="zh-TW" altLang="en-US" sz="1200" u="none" strike="noStrike" dirty="0">
                <a:effectLst/>
              </a:rPr>
              <a:t> </a:t>
            </a:r>
            <a:r>
              <a:rPr lang="en-US" altLang="zh-TW" sz="1200" u="none" strike="noStrike" dirty="0">
                <a:effectLst/>
              </a:rPr>
              <a:t>phone</a:t>
            </a:r>
          </a:p>
        </p:txBody>
      </p:sp>
      <p:sp>
        <p:nvSpPr>
          <p:cNvPr id="97" name="文字方塊 96">
            <a:extLst>
              <a:ext uri="{FF2B5EF4-FFF2-40B4-BE49-F238E27FC236}">
                <a16:creationId xmlns:a16="http://schemas.microsoft.com/office/drawing/2014/main" id="{8E46294F-E8D5-8000-D7A7-61B2407B3F27}"/>
              </a:ext>
            </a:extLst>
          </p:cNvPr>
          <p:cNvSpPr txBox="1"/>
          <p:nvPr/>
        </p:nvSpPr>
        <p:spPr>
          <a:xfrm>
            <a:off x="8100392" y="4221088"/>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P </a:t>
            </a: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r>
              <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INT4</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200" dirty="0">
                <a:solidFill>
                  <a:prstClr val="black"/>
                </a:solidFill>
                <a:latin typeface="Calibri"/>
                <a:ea typeface="新細明體" panose="02020500000000000000" pitchFamily="18" charset="-120"/>
              </a:rPr>
              <a:t>NV, Qualcomm</a:t>
            </a:r>
            <a:endPar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p:txBody>
      </p:sp>
      <p:sp>
        <p:nvSpPr>
          <p:cNvPr id="99" name="文字方塊 98">
            <a:extLst>
              <a:ext uri="{FF2B5EF4-FFF2-40B4-BE49-F238E27FC236}">
                <a16:creationId xmlns:a16="http://schemas.microsoft.com/office/drawing/2014/main" id="{088F6325-C28A-4157-F3A9-7C1C0E7C8669}"/>
              </a:ext>
            </a:extLst>
          </p:cNvPr>
          <p:cNvSpPr txBox="1"/>
          <p:nvPr/>
        </p:nvSpPr>
        <p:spPr>
          <a:xfrm>
            <a:off x="8100392" y="3068960"/>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400" b="1" dirty="0">
                <a:solidFill>
                  <a:prstClr val="black"/>
                </a:solidFill>
                <a:latin typeface="Calibri"/>
                <a:ea typeface="新細明體" panose="02020500000000000000" pitchFamily="18" charset="-120"/>
              </a:rPr>
              <a:t>PEFT + Q</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4-bit / 8-bit</a:t>
            </a:r>
          </a:p>
        </p:txBody>
      </p:sp>
      <p:graphicFrame>
        <p:nvGraphicFramePr>
          <p:cNvPr id="101" name="表格 100">
            <a:extLst>
              <a:ext uri="{FF2B5EF4-FFF2-40B4-BE49-F238E27FC236}">
                <a16:creationId xmlns:a16="http://schemas.microsoft.com/office/drawing/2014/main" id="{62234615-AD4E-B363-8156-95B96ED52ACE}"/>
              </a:ext>
            </a:extLst>
          </p:cNvPr>
          <p:cNvGraphicFramePr>
            <a:graphicFrameLocks noGrp="1"/>
          </p:cNvGraphicFramePr>
          <p:nvPr>
            <p:extLst>
              <p:ext uri="{D42A27DB-BD31-4B8C-83A1-F6EECF244321}">
                <p14:modId xmlns:p14="http://schemas.microsoft.com/office/powerpoint/2010/main" val="2721847558"/>
              </p:ext>
            </p:extLst>
          </p:nvPr>
        </p:nvGraphicFramePr>
        <p:xfrm>
          <a:off x="446679" y="5769446"/>
          <a:ext cx="2061433" cy="760583"/>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211943">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Quantization-Aware (QA)</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68879">
                <a:tc>
                  <a:txBody>
                    <a:bodyPr/>
                    <a:lstStyle/>
                    <a:p>
                      <a:pPr algn="l"/>
                      <a:r>
                        <a:rPr lang="en-US" altLang="zh-TW" sz="1200" b="0" cap="none" spc="0" dirty="0">
                          <a:ln w="0"/>
                          <a:solidFill>
                            <a:schemeClr val="tx1"/>
                          </a:solidFill>
                          <a:effectLst/>
                        </a:rPr>
                        <a:t>Fake Quantization</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FP: Quantization Noise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49197690"/>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BP: Straight-Through Estimator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76899233"/>
                  </a:ext>
                </a:extLst>
              </a:tr>
            </a:tbl>
          </a:graphicData>
        </a:graphic>
      </p:graphicFrame>
      <p:sp>
        <p:nvSpPr>
          <p:cNvPr id="105" name="矩形: 圓角 104">
            <a:extLst>
              <a:ext uri="{FF2B5EF4-FFF2-40B4-BE49-F238E27FC236}">
                <a16:creationId xmlns:a16="http://schemas.microsoft.com/office/drawing/2014/main" id="{7C945779-99C8-E510-B0CC-B3511BDE59A2}"/>
              </a:ext>
            </a:extLst>
          </p:cNvPr>
          <p:cNvSpPr/>
          <p:nvPr/>
        </p:nvSpPr>
        <p:spPr>
          <a:xfrm>
            <a:off x="5604492" y="1916832"/>
            <a:ext cx="2204154" cy="4404214"/>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r>
              <a:rPr lang="en-US" altLang="zh-TW" sz="1000" dirty="0">
                <a:solidFill>
                  <a:schemeClr val="accent2">
                    <a:lumMod val="50000"/>
                  </a:schemeClr>
                </a:solidFill>
                <a:latin typeface="ADLaM Display" panose="02010000000000000000" pitchFamily="2" charset="0"/>
                <a:cs typeface="ADLaM Display" panose="02010000000000000000" pitchFamily="2" charset="0"/>
              </a:rPr>
              <a:t>Quantization</a:t>
            </a: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grpSp>
        <p:nvGrpSpPr>
          <p:cNvPr id="149" name="群組 148">
            <a:extLst>
              <a:ext uri="{FF2B5EF4-FFF2-40B4-BE49-F238E27FC236}">
                <a16:creationId xmlns:a16="http://schemas.microsoft.com/office/drawing/2014/main" id="{325668A4-D446-9102-28ED-F52E943FA4E6}"/>
              </a:ext>
            </a:extLst>
          </p:cNvPr>
          <p:cNvGrpSpPr/>
          <p:nvPr/>
        </p:nvGrpSpPr>
        <p:grpSpPr>
          <a:xfrm>
            <a:off x="3971048" y="1140776"/>
            <a:ext cx="1078066" cy="2271474"/>
            <a:chOff x="3971048" y="1140776"/>
            <a:chExt cx="1078066" cy="2271474"/>
          </a:xfrm>
        </p:grpSpPr>
        <p:sp>
          <p:nvSpPr>
            <p:cNvPr id="231" name="矩形: 圓角 230">
              <a:extLst>
                <a:ext uri="{FF2B5EF4-FFF2-40B4-BE49-F238E27FC236}">
                  <a16:creationId xmlns:a16="http://schemas.microsoft.com/office/drawing/2014/main" id="{45D54DA9-81FE-C438-046A-1A46ED3096E4}"/>
                </a:ext>
              </a:extLst>
            </p:cNvPr>
            <p:cNvSpPr/>
            <p:nvPr/>
          </p:nvSpPr>
          <p:spPr>
            <a:xfrm>
              <a:off x="4039595" y="1701650"/>
              <a:ext cx="88141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32" name="文字方塊 231">
              <a:extLst>
                <a:ext uri="{FF2B5EF4-FFF2-40B4-BE49-F238E27FC236}">
                  <a16:creationId xmlns:a16="http://schemas.microsoft.com/office/drawing/2014/main" id="{2915F053-5BA3-91A3-F3A0-E318E31CF1D9}"/>
                </a:ext>
              </a:extLst>
            </p:cNvPr>
            <p:cNvSpPr txBox="1"/>
            <p:nvPr/>
          </p:nvSpPr>
          <p:spPr>
            <a:xfrm>
              <a:off x="4106989" y="1765374"/>
              <a:ext cx="523087"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33" name="文字方塊 232">
              <a:extLst>
                <a:ext uri="{FF2B5EF4-FFF2-40B4-BE49-F238E27FC236}">
                  <a16:creationId xmlns:a16="http://schemas.microsoft.com/office/drawing/2014/main" id="{26EFE7DA-DC3D-61EF-CA7F-CDB6E8A8BB1F}"/>
                </a:ext>
              </a:extLst>
            </p:cNvPr>
            <p:cNvSpPr txBox="1"/>
            <p:nvPr/>
          </p:nvSpPr>
          <p:spPr>
            <a:xfrm>
              <a:off x="4106989" y="2236816"/>
              <a:ext cx="5230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235" name="直線單箭頭接點 234">
              <a:extLst>
                <a:ext uri="{FF2B5EF4-FFF2-40B4-BE49-F238E27FC236}">
                  <a16:creationId xmlns:a16="http://schemas.microsoft.com/office/drawing/2014/main" id="{280F35D4-BAD6-1EA4-8951-F083A9B10714}"/>
                </a:ext>
              </a:extLst>
            </p:cNvPr>
            <p:cNvCxnSpPr>
              <a:cxnSpLocks/>
              <a:stCxn id="237" idx="0"/>
              <a:endCxn id="233" idx="2"/>
            </p:cNvCxnSpPr>
            <p:nvPr/>
          </p:nvCxnSpPr>
          <p:spPr>
            <a:xfrm flipV="1">
              <a:off x="4366676" y="2607674"/>
              <a:ext cx="1857" cy="23811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6" name="直線單箭頭接點 235">
              <a:extLst>
                <a:ext uri="{FF2B5EF4-FFF2-40B4-BE49-F238E27FC236}">
                  <a16:creationId xmlns:a16="http://schemas.microsoft.com/office/drawing/2014/main" id="{FFBF7D4D-75E4-EAF1-B65E-C8CB1B654F37}"/>
                </a:ext>
              </a:extLst>
            </p:cNvPr>
            <p:cNvCxnSpPr>
              <a:cxnSpLocks/>
              <a:stCxn id="233" idx="0"/>
              <a:endCxn id="232" idx="2"/>
            </p:cNvCxnSpPr>
            <p:nvPr/>
          </p:nvCxnSpPr>
          <p:spPr>
            <a:xfrm flipV="1">
              <a:off x="4368533" y="2136232"/>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237" name="文字方塊 236">
              <a:extLst>
                <a:ext uri="{FF2B5EF4-FFF2-40B4-BE49-F238E27FC236}">
                  <a16:creationId xmlns:a16="http://schemas.microsoft.com/office/drawing/2014/main" id="{E79CA7A2-37EC-63CC-FF32-801B15CF6DFD}"/>
                </a:ext>
              </a:extLst>
            </p:cNvPr>
            <p:cNvSpPr txBox="1"/>
            <p:nvPr/>
          </p:nvSpPr>
          <p:spPr>
            <a:xfrm>
              <a:off x="4150652" y="2845785"/>
              <a:ext cx="432048" cy="367191"/>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rgbClr val="000000"/>
                  </a:solidFill>
                  <a:effectLst/>
                  <a:latin typeface="Consolas" panose="020B0609020204030204" pitchFamily="49" charset="0"/>
                </a:rPr>
                <a:t> </a:t>
              </a:r>
              <a:r>
                <a:rPr lang="en-US" altLang="zh-TW" sz="1200" b="1" u="sng" dirty="0">
                  <a:solidFill>
                    <a:srgbClr val="000000"/>
                  </a:solidFill>
                  <a:latin typeface="Consolas" panose="020B0609020204030204" pitchFamily="49" charset="0"/>
                </a:rPr>
                <a:t>Q&amp;A</a:t>
              </a:r>
              <a:r>
                <a:rPr lang="en-US" altLang="zh-TW" sz="1200" b="1" u="sng" strike="noStrike" kern="1200" spc="0" dirty="0">
                  <a:ln>
                    <a:noFill/>
                  </a:ln>
                  <a:effectLst/>
                  <a:latin typeface="Consolas" panose="020B0609020204030204" pitchFamily="49" charset="0"/>
                </a:rPr>
                <a:t> </a:t>
              </a:r>
              <a:endParaRPr lang="en-US" altLang="zh-TW" sz="1200" u="sng" strike="noStrike" kern="1200" spc="0" dirty="0">
                <a:ln>
                  <a:noFill/>
                </a:ln>
                <a:solidFill>
                  <a:srgbClr val="000000"/>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lang="en-US" altLang="zh-TW" sz="1200" dirty="0">
                  <a:solidFill>
                    <a:schemeClr val="bg1">
                      <a:lumMod val="50000"/>
                    </a:schemeClr>
                  </a:solidFill>
                  <a:latin typeface="Consolas" panose="020B0609020204030204" pitchFamily="49" charset="0"/>
                  <a:ea typeface="新細明體" panose="02020500000000000000" pitchFamily="18" charset="-120"/>
                </a:rPr>
                <a:t>…</a:t>
              </a: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endParaRPr>
            </a:p>
          </p:txBody>
        </p:sp>
        <p:sp>
          <p:nvSpPr>
            <p:cNvPr id="238" name="文字方塊 237">
              <a:extLst>
                <a:ext uri="{FF2B5EF4-FFF2-40B4-BE49-F238E27FC236}">
                  <a16:creationId xmlns:a16="http://schemas.microsoft.com/office/drawing/2014/main" id="{E4CBB606-3145-C366-F2CA-61F748F8E672}"/>
                </a:ext>
              </a:extLst>
            </p:cNvPr>
            <p:cNvSpPr txBox="1"/>
            <p:nvPr/>
          </p:nvSpPr>
          <p:spPr>
            <a:xfrm>
              <a:off x="3971048" y="1140776"/>
              <a:ext cx="794968"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Answer</a:t>
              </a:r>
            </a:p>
          </p:txBody>
        </p:sp>
        <p:sp>
          <p:nvSpPr>
            <p:cNvPr id="5" name="標題 1">
              <a:extLst>
                <a:ext uri="{FF2B5EF4-FFF2-40B4-BE49-F238E27FC236}">
                  <a16:creationId xmlns:a16="http://schemas.microsoft.com/office/drawing/2014/main" id="{6F6F6AAC-AA6F-4EE2-07D9-BB9A5FBD34B2}"/>
                </a:ext>
              </a:extLst>
            </p:cNvPr>
            <p:cNvSpPr txBox="1">
              <a:spLocks/>
            </p:cNvSpPr>
            <p:nvPr/>
          </p:nvSpPr>
          <p:spPr>
            <a:xfrm>
              <a:off x="4067944" y="3212976"/>
              <a:ext cx="981170" cy="199274"/>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Full-FT +</a:t>
              </a:r>
              <a:r>
                <a:rPr lang="zh-TW" altLang="en-US" sz="1200" b="1" dirty="0">
                  <a:solidFill>
                    <a:schemeClr val="tx2">
                      <a:lumMod val="50000"/>
                    </a:schemeClr>
                  </a:solidFill>
                  <a:latin typeface="+mn-lt"/>
                  <a:ea typeface="Noto Sans HK" panose="020B0200000000000000" pitchFamily="34" charset="-120"/>
                  <a:cs typeface="Arial" panose="020B0604020202020204" pitchFamily="34" charset="0"/>
                </a:rPr>
                <a:t> </a:t>
              </a: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QAT</a:t>
              </a:r>
            </a:p>
          </p:txBody>
        </p:sp>
        <p:cxnSp>
          <p:nvCxnSpPr>
            <p:cNvPr id="234" name="直線單箭頭接點 233">
              <a:extLst>
                <a:ext uri="{FF2B5EF4-FFF2-40B4-BE49-F238E27FC236}">
                  <a16:creationId xmlns:a16="http://schemas.microsoft.com/office/drawing/2014/main" id="{AFADEF92-C88A-CA53-FDE0-5F7892DC5CFD}"/>
                </a:ext>
              </a:extLst>
            </p:cNvPr>
            <p:cNvCxnSpPr>
              <a:cxnSpLocks/>
              <a:stCxn id="232" idx="0"/>
              <a:endCxn id="238" idx="2"/>
            </p:cNvCxnSpPr>
            <p:nvPr/>
          </p:nvCxnSpPr>
          <p:spPr>
            <a:xfrm flipH="1" flipV="1">
              <a:off x="4368532" y="1518692"/>
              <a:ext cx="1" cy="24668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00" name="矩形: 圓角 299">
              <a:extLst>
                <a:ext uri="{FF2B5EF4-FFF2-40B4-BE49-F238E27FC236}">
                  <a16:creationId xmlns:a16="http://schemas.microsoft.com/office/drawing/2014/main" id="{72283385-EF65-D064-44F7-ED7DF89F2AE4}"/>
                </a:ext>
              </a:extLst>
            </p:cNvPr>
            <p:cNvSpPr/>
            <p:nvPr/>
          </p:nvSpPr>
          <p:spPr>
            <a:xfrm>
              <a:off x="3976886" y="1605576"/>
              <a:ext cx="746408" cy="1121017"/>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grpSp>
      <p:grpSp>
        <p:nvGrpSpPr>
          <p:cNvPr id="128" name="群組 127">
            <a:extLst>
              <a:ext uri="{FF2B5EF4-FFF2-40B4-BE49-F238E27FC236}">
                <a16:creationId xmlns:a16="http://schemas.microsoft.com/office/drawing/2014/main" id="{54D06E2C-3FA0-3B42-0585-4F52CCF2DA87}"/>
              </a:ext>
            </a:extLst>
          </p:cNvPr>
          <p:cNvGrpSpPr/>
          <p:nvPr/>
        </p:nvGrpSpPr>
        <p:grpSpPr>
          <a:xfrm>
            <a:off x="3923928" y="3645024"/>
            <a:ext cx="1125186" cy="2088232"/>
            <a:chOff x="3923928" y="3645024"/>
            <a:chExt cx="1125186" cy="2088232"/>
          </a:xfrm>
        </p:grpSpPr>
        <p:sp>
          <p:nvSpPr>
            <p:cNvPr id="303" name="矩形: 圓角 302">
              <a:extLst>
                <a:ext uri="{FF2B5EF4-FFF2-40B4-BE49-F238E27FC236}">
                  <a16:creationId xmlns:a16="http://schemas.microsoft.com/office/drawing/2014/main" id="{E979668C-1675-047A-AB0A-72961AD64DC2}"/>
                </a:ext>
              </a:extLst>
            </p:cNvPr>
            <p:cNvSpPr/>
            <p:nvPr/>
          </p:nvSpPr>
          <p:spPr>
            <a:xfrm>
              <a:off x="3992475" y="4058948"/>
              <a:ext cx="88141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304" name="文字方塊 303">
              <a:extLst>
                <a:ext uri="{FF2B5EF4-FFF2-40B4-BE49-F238E27FC236}">
                  <a16:creationId xmlns:a16="http://schemas.microsoft.com/office/drawing/2014/main" id="{1BE78960-095F-03AA-5CF1-43CA262380D5}"/>
                </a:ext>
              </a:extLst>
            </p:cNvPr>
            <p:cNvSpPr txBox="1"/>
            <p:nvPr/>
          </p:nvSpPr>
          <p:spPr>
            <a:xfrm>
              <a:off x="4059869" y="4122672"/>
              <a:ext cx="523087"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05" name="文字方塊 304">
              <a:extLst>
                <a:ext uri="{FF2B5EF4-FFF2-40B4-BE49-F238E27FC236}">
                  <a16:creationId xmlns:a16="http://schemas.microsoft.com/office/drawing/2014/main" id="{BE3E2506-D931-6DDB-E8E2-4F6D4B155C8E}"/>
                </a:ext>
              </a:extLst>
            </p:cNvPr>
            <p:cNvSpPr txBox="1"/>
            <p:nvPr/>
          </p:nvSpPr>
          <p:spPr>
            <a:xfrm>
              <a:off x="4059869" y="4594114"/>
              <a:ext cx="5230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06" name="直線單箭頭接點 305">
              <a:extLst>
                <a:ext uri="{FF2B5EF4-FFF2-40B4-BE49-F238E27FC236}">
                  <a16:creationId xmlns:a16="http://schemas.microsoft.com/office/drawing/2014/main" id="{CED5AFD8-7F9E-115D-A10B-D6EB519C0C2C}"/>
                </a:ext>
              </a:extLst>
            </p:cNvPr>
            <p:cNvCxnSpPr>
              <a:cxnSpLocks/>
              <a:stCxn id="304" idx="0"/>
              <a:endCxn id="310" idx="2"/>
            </p:cNvCxnSpPr>
            <p:nvPr/>
          </p:nvCxnSpPr>
          <p:spPr>
            <a:xfrm flipH="1" flipV="1">
              <a:off x="4321412" y="4022940"/>
              <a:ext cx="1" cy="9973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7" name="直線單箭頭接點 306">
              <a:extLst>
                <a:ext uri="{FF2B5EF4-FFF2-40B4-BE49-F238E27FC236}">
                  <a16:creationId xmlns:a16="http://schemas.microsoft.com/office/drawing/2014/main" id="{E4C3FB2A-315E-23D6-2838-943D77BE79D1}"/>
                </a:ext>
              </a:extLst>
            </p:cNvPr>
            <p:cNvCxnSpPr>
              <a:cxnSpLocks/>
              <a:stCxn id="309" idx="0"/>
              <a:endCxn id="305" idx="2"/>
            </p:cNvCxnSpPr>
            <p:nvPr/>
          </p:nvCxnSpPr>
          <p:spPr>
            <a:xfrm flipV="1">
              <a:off x="4319556" y="4964972"/>
              <a:ext cx="1857" cy="17905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8" name="直線單箭頭接點 307">
              <a:extLst>
                <a:ext uri="{FF2B5EF4-FFF2-40B4-BE49-F238E27FC236}">
                  <a16:creationId xmlns:a16="http://schemas.microsoft.com/office/drawing/2014/main" id="{8AD3E93F-3282-D2F8-28FA-263D53C0A3D6}"/>
                </a:ext>
              </a:extLst>
            </p:cNvPr>
            <p:cNvCxnSpPr>
              <a:cxnSpLocks/>
              <a:stCxn id="305" idx="0"/>
              <a:endCxn id="304" idx="2"/>
            </p:cNvCxnSpPr>
            <p:nvPr/>
          </p:nvCxnSpPr>
          <p:spPr>
            <a:xfrm flipV="1">
              <a:off x="4321413" y="4493530"/>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09" name="文字方塊 308">
              <a:extLst>
                <a:ext uri="{FF2B5EF4-FFF2-40B4-BE49-F238E27FC236}">
                  <a16:creationId xmlns:a16="http://schemas.microsoft.com/office/drawing/2014/main" id="{C07C3214-A890-341F-2ABA-EC9F5BDE38A4}"/>
                </a:ext>
              </a:extLst>
            </p:cNvPr>
            <p:cNvSpPr txBox="1"/>
            <p:nvPr/>
          </p:nvSpPr>
          <p:spPr>
            <a:xfrm>
              <a:off x="4103532" y="5144030"/>
              <a:ext cx="432048" cy="373202"/>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rgbClr val="000000"/>
                  </a:solidFill>
                  <a:effectLst/>
                  <a:latin typeface="Consolas" panose="020B0609020204030204" pitchFamily="49" charset="0"/>
                </a:rPr>
                <a:t> </a:t>
              </a:r>
              <a:r>
                <a:rPr lang="en-US" altLang="zh-TW" sz="1200" b="1" u="sng" dirty="0">
                  <a:solidFill>
                    <a:srgbClr val="000000"/>
                  </a:solidFill>
                  <a:latin typeface="Consolas" panose="020B0609020204030204" pitchFamily="49" charset="0"/>
                </a:rPr>
                <a:t>Q&amp;A</a:t>
              </a:r>
              <a:r>
                <a:rPr lang="en-US" altLang="zh-TW" sz="1200" b="1" u="sng" strike="noStrike" kern="1200" spc="0" dirty="0">
                  <a:ln>
                    <a:noFill/>
                  </a:ln>
                  <a:effectLst/>
                  <a:latin typeface="Consolas" panose="020B0609020204030204" pitchFamily="49" charset="0"/>
                </a:rPr>
                <a:t> </a:t>
              </a:r>
              <a:endParaRPr lang="en-US" altLang="zh-TW" sz="1200" u="sng" strike="noStrike" kern="1200" spc="0" dirty="0">
                <a:ln>
                  <a:noFill/>
                </a:ln>
                <a:solidFill>
                  <a:srgbClr val="000000"/>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lang="en-US" altLang="zh-TW" sz="1200" dirty="0">
                  <a:solidFill>
                    <a:schemeClr val="bg1">
                      <a:lumMod val="50000"/>
                    </a:schemeClr>
                  </a:solidFill>
                  <a:latin typeface="Consolas" panose="020B0609020204030204" pitchFamily="49" charset="0"/>
                  <a:ea typeface="新細明體" panose="02020500000000000000" pitchFamily="18" charset="-120"/>
                </a:rPr>
                <a:t>…</a:t>
              </a: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endParaRPr>
            </a:p>
          </p:txBody>
        </p:sp>
        <p:sp>
          <p:nvSpPr>
            <p:cNvPr id="310" name="文字方塊 309">
              <a:extLst>
                <a:ext uri="{FF2B5EF4-FFF2-40B4-BE49-F238E27FC236}">
                  <a16:creationId xmlns:a16="http://schemas.microsoft.com/office/drawing/2014/main" id="{3EEE3D60-9DDA-59EF-9DF3-94A1CC72A610}"/>
                </a:ext>
              </a:extLst>
            </p:cNvPr>
            <p:cNvSpPr txBox="1"/>
            <p:nvPr/>
          </p:nvSpPr>
          <p:spPr>
            <a:xfrm>
              <a:off x="3923928" y="3645024"/>
              <a:ext cx="794968"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Answer</a:t>
              </a:r>
            </a:p>
          </p:txBody>
        </p:sp>
        <p:sp>
          <p:nvSpPr>
            <p:cNvPr id="312" name="文字方塊 311">
              <a:extLst>
                <a:ext uri="{FF2B5EF4-FFF2-40B4-BE49-F238E27FC236}">
                  <a16:creationId xmlns:a16="http://schemas.microsoft.com/office/drawing/2014/main" id="{8A5A3840-A3F7-2154-33FB-3424CAF267FE}"/>
                </a:ext>
              </a:extLst>
            </p:cNvPr>
            <p:cNvSpPr txBox="1"/>
            <p:nvPr/>
          </p:nvSpPr>
          <p:spPr>
            <a:xfrm>
              <a:off x="4642234" y="4122672"/>
              <a:ext cx="189751"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Adapter</a:t>
              </a:r>
            </a:p>
          </p:txBody>
        </p:sp>
        <p:sp>
          <p:nvSpPr>
            <p:cNvPr id="313" name="文字方塊 312">
              <a:extLst>
                <a:ext uri="{FF2B5EF4-FFF2-40B4-BE49-F238E27FC236}">
                  <a16:creationId xmlns:a16="http://schemas.microsoft.com/office/drawing/2014/main" id="{4C70843D-8C4D-B7FB-568A-374C7DC85E55}"/>
                </a:ext>
              </a:extLst>
            </p:cNvPr>
            <p:cNvSpPr txBox="1"/>
            <p:nvPr/>
          </p:nvSpPr>
          <p:spPr>
            <a:xfrm>
              <a:off x="4642234" y="4594114"/>
              <a:ext cx="19876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Adapter</a:t>
              </a:r>
            </a:p>
          </p:txBody>
        </p:sp>
        <p:sp>
          <p:nvSpPr>
            <p:cNvPr id="314" name="矩形: 圓角 313">
              <a:extLst>
                <a:ext uri="{FF2B5EF4-FFF2-40B4-BE49-F238E27FC236}">
                  <a16:creationId xmlns:a16="http://schemas.microsoft.com/office/drawing/2014/main" id="{0A3FD1D8-8B24-8160-A2DC-EA4E3F89C00E}"/>
                </a:ext>
              </a:extLst>
            </p:cNvPr>
            <p:cNvSpPr/>
            <p:nvPr/>
          </p:nvSpPr>
          <p:spPr>
            <a:xfrm>
              <a:off x="4581099" y="4013415"/>
              <a:ext cx="293347" cy="1060951"/>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3" name="標題 1">
              <a:extLst>
                <a:ext uri="{FF2B5EF4-FFF2-40B4-BE49-F238E27FC236}">
                  <a16:creationId xmlns:a16="http://schemas.microsoft.com/office/drawing/2014/main" id="{C54505D7-E619-DAEA-2B54-9E119C3FCDE0}"/>
                </a:ext>
              </a:extLst>
            </p:cNvPr>
            <p:cNvSpPr txBox="1">
              <a:spLocks/>
            </p:cNvSpPr>
            <p:nvPr/>
          </p:nvSpPr>
          <p:spPr>
            <a:xfrm>
              <a:off x="4067944" y="5533982"/>
              <a:ext cx="981170" cy="199274"/>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PEFT +</a:t>
              </a:r>
              <a:r>
                <a:rPr lang="zh-TW" altLang="en-US" sz="1200" b="1" dirty="0">
                  <a:solidFill>
                    <a:schemeClr val="tx2">
                      <a:lumMod val="50000"/>
                    </a:schemeClr>
                  </a:solidFill>
                  <a:latin typeface="+mn-lt"/>
                  <a:ea typeface="Noto Sans HK" panose="020B0200000000000000" pitchFamily="34" charset="-120"/>
                  <a:cs typeface="Arial" panose="020B0604020202020204" pitchFamily="34" charset="0"/>
                </a:rPr>
                <a:t> </a:t>
              </a: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QAT</a:t>
              </a:r>
            </a:p>
          </p:txBody>
        </p:sp>
        <p:sp>
          <p:nvSpPr>
            <p:cNvPr id="21" name="標題 1">
              <a:extLst>
                <a:ext uri="{FF2B5EF4-FFF2-40B4-BE49-F238E27FC236}">
                  <a16:creationId xmlns:a16="http://schemas.microsoft.com/office/drawing/2014/main" id="{38029C74-2663-CD68-BD22-D629C819599D}"/>
                </a:ext>
              </a:extLst>
            </p:cNvPr>
            <p:cNvSpPr txBox="1">
              <a:spLocks/>
            </p:cNvSpPr>
            <p:nvPr/>
          </p:nvSpPr>
          <p:spPr>
            <a:xfrm>
              <a:off x="4630988" y="5097167"/>
              <a:ext cx="180410"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rgbClr val="FF0000"/>
                  </a:solidFill>
                  <a:latin typeface="+mn-lt"/>
                  <a:ea typeface="Noto Sans HK" panose="020B0200000000000000" pitchFamily="34" charset="-120"/>
                  <a:cs typeface="Arial" panose="020B0604020202020204" pitchFamily="34" charset="0"/>
                </a:rPr>
                <a:t>1%</a:t>
              </a:r>
            </a:p>
          </p:txBody>
        </p:sp>
        <p:sp>
          <p:nvSpPr>
            <p:cNvPr id="109" name="矩形: 圓角 108">
              <a:extLst>
                <a:ext uri="{FF2B5EF4-FFF2-40B4-BE49-F238E27FC236}">
                  <a16:creationId xmlns:a16="http://schemas.microsoft.com/office/drawing/2014/main" id="{60F6AB3F-3534-E587-A360-D1486A2D7322}"/>
                </a:ext>
              </a:extLst>
            </p:cNvPr>
            <p:cNvSpPr/>
            <p:nvPr/>
          </p:nvSpPr>
          <p:spPr>
            <a:xfrm>
              <a:off x="4635144" y="5540621"/>
              <a:ext cx="340696" cy="186128"/>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grpSp>
      <p:sp>
        <p:nvSpPr>
          <p:cNvPr id="111" name="文字方塊 110">
            <a:extLst>
              <a:ext uri="{FF2B5EF4-FFF2-40B4-BE49-F238E27FC236}">
                <a16:creationId xmlns:a16="http://schemas.microsoft.com/office/drawing/2014/main" id="{3BEFA795-6B5D-D44D-7961-3C9B06DB3A44}"/>
              </a:ext>
            </a:extLst>
          </p:cNvPr>
          <p:cNvSpPr txBox="1"/>
          <p:nvPr/>
        </p:nvSpPr>
        <p:spPr>
          <a:xfrm>
            <a:off x="8097490" y="3645024"/>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400" b="1" dirty="0">
                <a:solidFill>
                  <a:prstClr val="black"/>
                </a:solidFill>
                <a:latin typeface="Calibri"/>
                <a:ea typeface="新細明體" panose="02020500000000000000" pitchFamily="18" charset="-120"/>
              </a:rPr>
              <a:t>P </a:t>
            </a: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r>
              <a:rPr lang="en-US" altLang="zh-TW" sz="1400" b="1" dirty="0">
                <a:solidFill>
                  <a:prstClr val="black"/>
                </a:solidFill>
                <a:latin typeface="Calibri"/>
                <a:ea typeface="新細明體" panose="02020500000000000000" pitchFamily="18" charset="-120"/>
              </a:rPr>
              <a:t> INT4</a:t>
            </a:r>
            <a:endPar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Quantization</a:t>
            </a:r>
          </a:p>
        </p:txBody>
      </p:sp>
      <p:sp>
        <p:nvSpPr>
          <p:cNvPr id="132" name="流程圖: 合併 131">
            <a:extLst>
              <a:ext uri="{FF2B5EF4-FFF2-40B4-BE49-F238E27FC236}">
                <a16:creationId xmlns:a16="http://schemas.microsoft.com/office/drawing/2014/main" id="{B318699F-9485-4652-8519-8E7321EEE6C1}"/>
              </a:ext>
            </a:extLst>
          </p:cNvPr>
          <p:cNvSpPr/>
          <p:nvPr/>
        </p:nvSpPr>
        <p:spPr>
          <a:xfrm>
            <a:off x="8388424" y="1327726"/>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Cost</a:t>
            </a:r>
            <a:endParaRPr lang="zh-TW" altLang="en-US" sz="1200" b="1" dirty="0">
              <a:solidFill>
                <a:schemeClr val="accent2">
                  <a:lumMod val="75000"/>
                </a:schemeClr>
              </a:solidFill>
            </a:endParaRPr>
          </a:p>
        </p:txBody>
      </p:sp>
      <p:cxnSp>
        <p:nvCxnSpPr>
          <p:cNvPr id="133" name="接點: 肘形 132">
            <a:extLst>
              <a:ext uri="{FF2B5EF4-FFF2-40B4-BE49-F238E27FC236}">
                <a16:creationId xmlns:a16="http://schemas.microsoft.com/office/drawing/2014/main" id="{25E3FDBC-A31D-8588-0E05-C4418761BDBC}"/>
              </a:ext>
            </a:extLst>
          </p:cNvPr>
          <p:cNvCxnSpPr>
            <a:cxnSpLocks/>
            <a:stCxn id="109" idx="3"/>
            <a:endCxn id="105" idx="1"/>
          </p:cNvCxnSpPr>
          <p:nvPr/>
        </p:nvCxnSpPr>
        <p:spPr>
          <a:xfrm flipV="1">
            <a:off x="4975840" y="4118939"/>
            <a:ext cx="628652" cy="1514746"/>
          </a:xfrm>
          <a:prstGeom prst="bentConnector3">
            <a:avLst>
              <a:gd name="adj1" fmla="val 56061"/>
            </a:avLst>
          </a:prstGeom>
          <a:ln w="19050">
            <a:solidFill>
              <a:schemeClr val="accent2"/>
            </a:solidFill>
            <a:prstDash val="sysDot"/>
            <a:headEnd type="none"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138" name="接點: 肘形 137">
            <a:extLst>
              <a:ext uri="{FF2B5EF4-FFF2-40B4-BE49-F238E27FC236}">
                <a16:creationId xmlns:a16="http://schemas.microsoft.com/office/drawing/2014/main" id="{98D0DC95-1A97-D891-3726-7D42B7DA65C9}"/>
              </a:ext>
            </a:extLst>
          </p:cNvPr>
          <p:cNvCxnSpPr>
            <a:cxnSpLocks/>
            <a:endCxn id="105" idx="1"/>
          </p:cNvCxnSpPr>
          <p:nvPr/>
        </p:nvCxnSpPr>
        <p:spPr>
          <a:xfrm>
            <a:off x="5061781" y="3309809"/>
            <a:ext cx="542711" cy="809130"/>
          </a:xfrm>
          <a:prstGeom prst="bentConnector3">
            <a:avLst>
              <a:gd name="adj1" fmla="val 50000"/>
            </a:avLst>
          </a:prstGeom>
          <a:ln w="19050">
            <a:solidFill>
              <a:schemeClr val="accent2"/>
            </a:solidFill>
            <a:prstDash val="sysDot"/>
            <a:headEnd type="none" w="sm" len="sm"/>
            <a:tailEnd type="triangle" w="sm" len="med"/>
          </a:ln>
        </p:spPr>
        <p:style>
          <a:lnRef idx="1">
            <a:schemeClr val="accent1"/>
          </a:lnRef>
          <a:fillRef idx="0">
            <a:schemeClr val="accent1"/>
          </a:fillRef>
          <a:effectRef idx="0">
            <a:schemeClr val="accent1"/>
          </a:effectRef>
          <a:fontRef idx="minor">
            <a:schemeClr val="tx1"/>
          </a:fontRef>
        </p:style>
      </p:cxnSp>
      <p:graphicFrame>
        <p:nvGraphicFramePr>
          <p:cNvPr id="9" name="表格 8">
            <a:extLst>
              <a:ext uri="{FF2B5EF4-FFF2-40B4-BE49-F238E27FC236}">
                <a16:creationId xmlns:a16="http://schemas.microsoft.com/office/drawing/2014/main" id="{B28934C4-E141-B876-09BC-40349200C9C7}"/>
              </a:ext>
            </a:extLst>
          </p:cNvPr>
          <p:cNvGraphicFramePr>
            <a:graphicFrameLocks noGrp="1"/>
          </p:cNvGraphicFramePr>
          <p:nvPr>
            <p:extLst>
              <p:ext uri="{D42A27DB-BD31-4B8C-83A1-F6EECF244321}">
                <p14:modId xmlns:p14="http://schemas.microsoft.com/office/powerpoint/2010/main" val="988163058"/>
              </p:ext>
            </p:extLst>
          </p:nvPr>
        </p:nvGraphicFramePr>
        <p:xfrm>
          <a:off x="446679" y="5085184"/>
          <a:ext cx="2061433" cy="580749"/>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387166">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Parameter-Efficient</a:t>
                      </a:r>
                    </a:p>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Fine-Tuning (PEFT)</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93583">
                <a:tc>
                  <a:txBody>
                    <a:bodyPr/>
                    <a:lstStyle/>
                    <a:p>
                      <a:pPr algn="l"/>
                      <a:r>
                        <a:rPr lang="en-US" altLang="zh-TW" sz="1200" b="0" cap="none" spc="0" dirty="0">
                          <a:ln w="0"/>
                          <a:solidFill>
                            <a:schemeClr val="tx1"/>
                          </a:solidFill>
                          <a:effectLst/>
                        </a:rPr>
                        <a:t>Fine-Tuning Framework</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bl>
          </a:graphicData>
        </a:graphic>
      </p:graphicFrame>
    </p:spTree>
    <p:extLst>
      <p:ext uri="{BB962C8B-B14F-4D97-AF65-F5344CB8AC3E}">
        <p14:creationId xmlns:p14="http://schemas.microsoft.com/office/powerpoint/2010/main" val="5161920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528F1A4-C5F2-B372-FD94-C6C887DEC259}"/>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21CCA31-8B62-ABC4-E286-F329C53D3421}"/>
              </a:ext>
            </a:extLst>
          </p:cNvPr>
          <p:cNvSpPr txBox="1"/>
          <p:nvPr/>
        </p:nvSpPr>
        <p:spPr>
          <a:xfrm>
            <a:off x="2867522" y="2643630"/>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8</a:t>
            </a:r>
          </a:p>
          <a:p>
            <a:pPr algn="ctr">
              <a:lnSpc>
                <a:spcPts val="1400"/>
              </a:lnSpc>
              <a:buNone/>
            </a:pPr>
            <a:endParaRPr lang="en-US" altLang="zh-TW" sz="1200" dirty="0"/>
          </a:p>
        </p:txBody>
      </p:sp>
      <p:sp>
        <p:nvSpPr>
          <p:cNvPr id="3" name="標題 1">
            <a:extLst>
              <a:ext uri="{FF2B5EF4-FFF2-40B4-BE49-F238E27FC236}">
                <a16:creationId xmlns:a16="http://schemas.microsoft.com/office/drawing/2014/main" id="{7795B43A-2DB0-CF61-22D8-74C6389C0F91}"/>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Lo</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w-</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R</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ank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A</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daptation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LoRA achieves PEFT by low-rank decomposition matrices while keeping the original model weights frozen. </a:t>
            </a:r>
          </a:p>
        </p:txBody>
      </p:sp>
      <p:sp>
        <p:nvSpPr>
          <p:cNvPr id="5" name="文字方塊 4">
            <a:extLst>
              <a:ext uri="{FF2B5EF4-FFF2-40B4-BE49-F238E27FC236}">
                <a16:creationId xmlns:a16="http://schemas.microsoft.com/office/drawing/2014/main" id="{7D4C9CE9-0B06-38A1-C39D-EAB1F5576FF4}"/>
              </a:ext>
            </a:extLst>
          </p:cNvPr>
          <p:cNvSpPr txBox="1"/>
          <p:nvPr/>
        </p:nvSpPr>
        <p:spPr>
          <a:xfrm>
            <a:off x="5546170" y="1432160"/>
            <a:ext cx="754022" cy="26336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sp>
        <p:nvSpPr>
          <p:cNvPr id="6" name="文字方塊 5">
            <a:extLst>
              <a:ext uri="{FF2B5EF4-FFF2-40B4-BE49-F238E27FC236}">
                <a16:creationId xmlns:a16="http://schemas.microsoft.com/office/drawing/2014/main" id="{6C5AC31E-D92E-A0DB-45D2-EEC916CF6E24}"/>
              </a:ext>
            </a:extLst>
          </p:cNvPr>
          <p:cNvSpPr txBox="1"/>
          <p:nvPr/>
        </p:nvSpPr>
        <p:spPr>
          <a:xfrm>
            <a:off x="5505822" y="2644706"/>
            <a:ext cx="79208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200</a:t>
            </a:r>
          </a:p>
          <a:p>
            <a:pPr algn="ctr">
              <a:lnSpc>
                <a:spcPts val="1400"/>
              </a:lnSpc>
              <a:buNone/>
            </a:pPr>
            <a:endParaRPr lang="en-US" altLang="zh-TW" sz="1200" dirty="0"/>
          </a:p>
        </p:txBody>
      </p:sp>
      <p:graphicFrame>
        <p:nvGraphicFramePr>
          <p:cNvPr id="7" name="表格 6">
            <a:extLst>
              <a:ext uri="{FF2B5EF4-FFF2-40B4-BE49-F238E27FC236}">
                <a16:creationId xmlns:a16="http://schemas.microsoft.com/office/drawing/2014/main" id="{6B16A943-AE6E-3543-09C3-ECF7F35BE195}"/>
              </a:ext>
            </a:extLst>
          </p:cNvPr>
          <p:cNvGraphicFramePr>
            <a:graphicFrameLocks noGrp="1"/>
          </p:cNvGraphicFramePr>
          <p:nvPr>
            <p:extLst>
              <p:ext uri="{D42A27DB-BD31-4B8C-83A1-F6EECF244321}">
                <p14:modId xmlns:p14="http://schemas.microsoft.com/office/powerpoint/2010/main" val="2282225692"/>
              </p:ext>
            </p:extLst>
          </p:nvPr>
        </p:nvGraphicFramePr>
        <p:xfrm>
          <a:off x="3120606" y="2931662"/>
          <a:ext cx="177959" cy="714884"/>
        </p:xfrm>
        <a:graphic>
          <a:graphicData uri="http://schemas.openxmlformats.org/drawingml/2006/table">
            <a:tbl>
              <a:tblPr firstRow="1" bandRow="1">
                <a:tableStyleId>{5C22544A-7EE6-4342-B048-85BDC9FD1C3A}</a:tableStyleId>
              </a:tblPr>
              <a:tblGrid>
                <a:gridCol w="177959">
                  <a:extLst>
                    <a:ext uri="{9D8B030D-6E8A-4147-A177-3AD203B41FA5}">
                      <a16:colId xmlns:a16="http://schemas.microsoft.com/office/drawing/2014/main" val="871242339"/>
                    </a:ext>
                  </a:extLst>
                </a:gridCol>
              </a:tblGrid>
              <a:tr h="714884">
                <a:tc>
                  <a:txBody>
                    <a:bodyPr/>
                    <a:lstStyle/>
                    <a:p>
                      <a:pPr algn="ctr"/>
                      <a:r>
                        <a:rPr lang="en-US" altLang="zh-TW" sz="1400" b="0" dirty="0">
                          <a:solidFill>
                            <a:schemeClr val="tx1"/>
                          </a:solidFill>
                          <a:latin typeface="ADLaM Display" panose="02010000000000000000" pitchFamily="2" charset="0"/>
                          <a:cs typeface="ADLaM Display" panose="02010000000000000000" pitchFamily="2" charset="0"/>
                        </a:rPr>
                        <a:t>A</a:t>
                      </a:r>
                      <a:endParaRPr lang="zh-TW" altLang="en-US" sz="14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2" name="表格 1">
            <a:extLst>
              <a:ext uri="{FF2B5EF4-FFF2-40B4-BE49-F238E27FC236}">
                <a16:creationId xmlns:a16="http://schemas.microsoft.com/office/drawing/2014/main" id="{D5C12B14-BECA-05BF-E62A-6E9934AEFDEC}"/>
              </a:ext>
            </a:extLst>
          </p:cNvPr>
          <p:cNvGraphicFramePr>
            <a:graphicFrameLocks noGrp="1"/>
          </p:cNvGraphicFramePr>
          <p:nvPr/>
        </p:nvGraphicFramePr>
        <p:xfrm>
          <a:off x="5295270" y="1725388"/>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sp>
        <p:nvSpPr>
          <p:cNvPr id="10" name="文字方塊 9">
            <a:extLst>
              <a:ext uri="{FF2B5EF4-FFF2-40B4-BE49-F238E27FC236}">
                <a16:creationId xmlns:a16="http://schemas.microsoft.com/office/drawing/2014/main" id="{4FBFF317-65B7-E19C-BE9C-2C4C128437E4}"/>
              </a:ext>
            </a:extLst>
          </p:cNvPr>
          <p:cNvSpPr txBox="1"/>
          <p:nvPr/>
        </p:nvSpPr>
        <p:spPr>
          <a:xfrm>
            <a:off x="3946839" y="2913354"/>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8</a:t>
            </a:r>
            <a:r>
              <a:rPr lang="en-US" altLang="zh-TW" sz="1400" b="1" u="none" strike="noStrike" dirty="0">
                <a:solidFill>
                  <a:schemeClr val="accent6">
                    <a:lumMod val="75000"/>
                  </a:schemeClr>
                </a:solidFill>
                <a:effectLst/>
              </a:rPr>
              <a:t> x 200</a:t>
            </a:r>
          </a:p>
          <a:p>
            <a:pPr algn="ctr">
              <a:lnSpc>
                <a:spcPts val="1400"/>
              </a:lnSpc>
              <a:buNone/>
            </a:pPr>
            <a:endParaRPr lang="en-US" altLang="zh-TW" sz="1200" dirty="0"/>
          </a:p>
        </p:txBody>
      </p:sp>
      <p:graphicFrame>
        <p:nvGraphicFramePr>
          <p:cNvPr id="11" name="表格 10">
            <a:extLst>
              <a:ext uri="{FF2B5EF4-FFF2-40B4-BE49-F238E27FC236}">
                <a16:creationId xmlns:a16="http://schemas.microsoft.com/office/drawing/2014/main" id="{A7CAAD2B-19AE-9980-2A62-187269884DF2}"/>
              </a:ext>
            </a:extLst>
          </p:cNvPr>
          <p:cNvGraphicFramePr>
            <a:graphicFrameLocks noGrp="1"/>
          </p:cNvGraphicFramePr>
          <p:nvPr>
            <p:extLst>
              <p:ext uri="{D42A27DB-BD31-4B8C-83A1-F6EECF244321}">
                <p14:modId xmlns:p14="http://schemas.microsoft.com/office/powerpoint/2010/main" val="3937663"/>
              </p:ext>
            </p:extLst>
          </p:nvPr>
        </p:nvGraphicFramePr>
        <p:xfrm>
          <a:off x="3748719" y="3153300"/>
          <a:ext cx="1218664" cy="213360"/>
        </p:xfrm>
        <a:graphic>
          <a:graphicData uri="http://schemas.openxmlformats.org/drawingml/2006/table">
            <a:tbl>
              <a:tblPr firstRow="1" bandRow="1">
                <a:tableStyleId>{5C22544A-7EE6-4342-B048-85BDC9FD1C3A}</a:tableStyleId>
              </a:tblPr>
              <a:tblGrid>
                <a:gridCol w="1218664">
                  <a:extLst>
                    <a:ext uri="{9D8B030D-6E8A-4147-A177-3AD203B41FA5}">
                      <a16:colId xmlns:a16="http://schemas.microsoft.com/office/drawing/2014/main" val="871242339"/>
                    </a:ext>
                  </a:extLst>
                </a:gridCol>
              </a:tblGrid>
              <a:tr h="178721">
                <a:tc>
                  <a:txBody>
                    <a:bodyPr/>
                    <a:lstStyle/>
                    <a:p>
                      <a:pPr algn="ctr"/>
                      <a:r>
                        <a:rPr lang="en-US" altLang="zh-TW" sz="1400" b="0" dirty="0">
                          <a:solidFill>
                            <a:schemeClr val="tx1"/>
                          </a:solidFill>
                          <a:latin typeface="ADLaM Display" panose="02010000000000000000" pitchFamily="2" charset="0"/>
                          <a:cs typeface="ADLaM Display" panose="02010000000000000000" pitchFamily="2" charset="0"/>
                        </a:rPr>
                        <a:t>B</a:t>
                      </a:r>
                      <a:endParaRPr lang="zh-TW" altLang="en-US" sz="14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2" name="表格 11">
            <a:extLst>
              <a:ext uri="{FF2B5EF4-FFF2-40B4-BE49-F238E27FC236}">
                <a16:creationId xmlns:a16="http://schemas.microsoft.com/office/drawing/2014/main" id="{0B25FCB5-FCE0-61EB-EEB9-12DE4CD92939}"/>
              </a:ext>
            </a:extLst>
          </p:cNvPr>
          <p:cNvGraphicFramePr>
            <a:graphicFrameLocks noGrp="1"/>
          </p:cNvGraphicFramePr>
          <p:nvPr/>
        </p:nvGraphicFramePr>
        <p:xfrm>
          <a:off x="5292080" y="2913354"/>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104674903"/>
                  </a:ext>
                </a:extLst>
              </a:tr>
            </a:tbl>
          </a:graphicData>
        </a:graphic>
      </p:graphicFrame>
      <p:sp>
        <p:nvSpPr>
          <p:cNvPr id="13" name="文字方塊 12">
            <a:extLst>
              <a:ext uri="{FF2B5EF4-FFF2-40B4-BE49-F238E27FC236}">
                <a16:creationId xmlns:a16="http://schemas.microsoft.com/office/drawing/2014/main" id="{19D10C5D-E703-AEC1-D9A7-83A4E472DAD5}"/>
              </a:ext>
            </a:extLst>
          </p:cNvPr>
          <p:cNvSpPr txBox="1"/>
          <p:nvPr/>
        </p:nvSpPr>
        <p:spPr>
          <a:xfrm>
            <a:off x="4010625" y="1721623"/>
            <a:ext cx="678086"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14" name="表格 13">
            <a:extLst>
              <a:ext uri="{FF2B5EF4-FFF2-40B4-BE49-F238E27FC236}">
                <a16:creationId xmlns:a16="http://schemas.microsoft.com/office/drawing/2014/main" id="{727F449C-324A-74B0-C234-3386A0999F0B}"/>
              </a:ext>
            </a:extLst>
          </p:cNvPr>
          <p:cNvGraphicFramePr>
            <a:graphicFrameLocks noGrp="1"/>
          </p:cNvGraphicFramePr>
          <p:nvPr/>
        </p:nvGraphicFramePr>
        <p:xfrm>
          <a:off x="3717516" y="1997327"/>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15" name="文字方塊 14">
            <a:extLst>
              <a:ext uri="{FF2B5EF4-FFF2-40B4-BE49-F238E27FC236}">
                <a16:creationId xmlns:a16="http://schemas.microsoft.com/office/drawing/2014/main" id="{8A4495B5-77BC-46A3-EE79-696BED0BF04C}"/>
              </a:ext>
            </a:extLst>
          </p:cNvPr>
          <p:cNvSpPr txBox="1"/>
          <p:nvPr/>
        </p:nvSpPr>
        <p:spPr>
          <a:xfrm>
            <a:off x="7030856" y="1721623"/>
            <a:ext cx="648072"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16" name="表格 15">
            <a:extLst>
              <a:ext uri="{FF2B5EF4-FFF2-40B4-BE49-F238E27FC236}">
                <a16:creationId xmlns:a16="http://schemas.microsoft.com/office/drawing/2014/main" id="{F3565446-85A7-C9C4-4A1D-47FEA6E2071E}"/>
              </a:ext>
            </a:extLst>
          </p:cNvPr>
          <p:cNvGraphicFramePr>
            <a:graphicFrameLocks noGrp="1"/>
          </p:cNvGraphicFramePr>
          <p:nvPr/>
        </p:nvGraphicFramePr>
        <p:xfrm>
          <a:off x="6729958" y="1987628"/>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17" name="文字方塊 16">
            <a:extLst>
              <a:ext uri="{FF2B5EF4-FFF2-40B4-BE49-F238E27FC236}">
                <a16:creationId xmlns:a16="http://schemas.microsoft.com/office/drawing/2014/main" id="{D94D7D1A-59F2-6565-206E-687583FA2657}"/>
              </a:ext>
            </a:extLst>
          </p:cNvPr>
          <p:cNvSpPr txBox="1"/>
          <p:nvPr/>
        </p:nvSpPr>
        <p:spPr>
          <a:xfrm>
            <a:off x="5793854" y="2457142"/>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0" name="文字方塊 19">
            <a:extLst>
              <a:ext uri="{FF2B5EF4-FFF2-40B4-BE49-F238E27FC236}">
                <a16:creationId xmlns:a16="http://schemas.microsoft.com/office/drawing/2014/main" id="{E3D52E99-CF74-358E-7CB9-468275F7423C}"/>
              </a:ext>
            </a:extLst>
          </p:cNvPr>
          <p:cNvSpPr txBox="1"/>
          <p:nvPr/>
        </p:nvSpPr>
        <p:spPr>
          <a:xfrm>
            <a:off x="5031780" y="1938722"/>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1" name="文字方塊 20">
            <a:extLst>
              <a:ext uri="{FF2B5EF4-FFF2-40B4-BE49-F238E27FC236}">
                <a16:creationId xmlns:a16="http://schemas.microsoft.com/office/drawing/2014/main" id="{76966BA9-55FA-A73F-1E8C-DEA8377CF15A}"/>
              </a:ext>
            </a:extLst>
          </p:cNvPr>
          <p:cNvSpPr txBox="1"/>
          <p:nvPr/>
        </p:nvSpPr>
        <p:spPr>
          <a:xfrm>
            <a:off x="6510744" y="1938722"/>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2" name="文字方塊 21">
            <a:extLst>
              <a:ext uri="{FF2B5EF4-FFF2-40B4-BE49-F238E27FC236}">
                <a16:creationId xmlns:a16="http://schemas.microsoft.com/office/drawing/2014/main" id="{F421E7A6-42EA-7C31-9EE3-E6013D8ED89D}"/>
              </a:ext>
            </a:extLst>
          </p:cNvPr>
          <p:cNvSpPr txBox="1"/>
          <p:nvPr/>
        </p:nvSpPr>
        <p:spPr>
          <a:xfrm>
            <a:off x="3421354" y="3178304"/>
            <a:ext cx="177958" cy="213360"/>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3" name="文字方塊 22">
            <a:extLst>
              <a:ext uri="{FF2B5EF4-FFF2-40B4-BE49-F238E27FC236}">
                <a16:creationId xmlns:a16="http://schemas.microsoft.com/office/drawing/2014/main" id="{FB8CF55E-F91C-C53B-CA11-D8E651B5808A}"/>
              </a:ext>
            </a:extLst>
          </p:cNvPr>
          <p:cNvSpPr txBox="1"/>
          <p:nvPr/>
        </p:nvSpPr>
        <p:spPr>
          <a:xfrm>
            <a:off x="5031780" y="315330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18" name="文字方塊 17">
            <a:extLst>
              <a:ext uri="{FF2B5EF4-FFF2-40B4-BE49-F238E27FC236}">
                <a16:creationId xmlns:a16="http://schemas.microsoft.com/office/drawing/2014/main" id="{4C6464BD-CB0F-1E4C-16C0-48EB91D59EEF}"/>
              </a:ext>
            </a:extLst>
          </p:cNvPr>
          <p:cNvSpPr txBox="1"/>
          <p:nvPr/>
        </p:nvSpPr>
        <p:spPr>
          <a:xfrm>
            <a:off x="179510" y="1377042"/>
            <a:ext cx="8136906" cy="707886"/>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SVD: </a:t>
            </a:r>
            <a:r>
              <a:rPr lang="en-US" altLang="zh-TW" sz="1600" dirty="0"/>
              <a:t>Matrix Decomposition.</a:t>
            </a:r>
            <a:endParaRPr lang="en-US" altLang="zh-TW" sz="1600" b="1" dirty="0"/>
          </a:p>
        </p:txBody>
      </p:sp>
    </p:spTree>
    <p:extLst>
      <p:ext uri="{BB962C8B-B14F-4D97-AF65-F5344CB8AC3E}">
        <p14:creationId xmlns:p14="http://schemas.microsoft.com/office/powerpoint/2010/main" val="1781003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7DFB4-612C-B0B9-4BE8-45819BE65B95}"/>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46EDBCD4-7EAC-421B-66FB-3388FFFF2900}"/>
              </a:ext>
            </a:extLst>
          </p:cNvPr>
          <p:cNvSpPr txBox="1"/>
          <p:nvPr/>
        </p:nvSpPr>
        <p:spPr>
          <a:xfrm>
            <a:off x="2456679" y="2515143"/>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8</a:t>
            </a:r>
          </a:p>
          <a:p>
            <a:pPr algn="ctr">
              <a:lnSpc>
                <a:spcPts val="1400"/>
              </a:lnSpc>
              <a:buNone/>
            </a:pPr>
            <a:endParaRPr lang="en-US" altLang="zh-TW" sz="1200" dirty="0"/>
          </a:p>
        </p:txBody>
      </p:sp>
      <p:sp>
        <p:nvSpPr>
          <p:cNvPr id="3" name="標題 1">
            <a:extLst>
              <a:ext uri="{FF2B5EF4-FFF2-40B4-BE49-F238E27FC236}">
                <a16:creationId xmlns:a16="http://schemas.microsoft.com/office/drawing/2014/main" id="{5B7B60AB-5109-7BAE-FA39-45AF0A7FD0FA}"/>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PEFT: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Q</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uantization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Lo</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w-</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R</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ank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A</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daptation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QLoRA freezes the base model, squeezing updates through a narrow parameter bottleneck (r). </a:t>
            </a:r>
          </a:p>
        </p:txBody>
      </p:sp>
      <p:sp>
        <p:nvSpPr>
          <p:cNvPr id="5" name="文字方塊 4">
            <a:extLst>
              <a:ext uri="{FF2B5EF4-FFF2-40B4-BE49-F238E27FC236}">
                <a16:creationId xmlns:a16="http://schemas.microsoft.com/office/drawing/2014/main" id="{6230C510-B223-AB07-63E6-5CA7DC527E06}"/>
              </a:ext>
            </a:extLst>
          </p:cNvPr>
          <p:cNvSpPr txBox="1"/>
          <p:nvPr/>
        </p:nvSpPr>
        <p:spPr>
          <a:xfrm>
            <a:off x="5546170" y="1432160"/>
            <a:ext cx="754022" cy="26336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sp>
        <p:nvSpPr>
          <p:cNvPr id="6" name="文字方塊 5">
            <a:extLst>
              <a:ext uri="{FF2B5EF4-FFF2-40B4-BE49-F238E27FC236}">
                <a16:creationId xmlns:a16="http://schemas.microsoft.com/office/drawing/2014/main" id="{7E11950E-8F49-2745-2EDD-097C758F04BA}"/>
              </a:ext>
            </a:extLst>
          </p:cNvPr>
          <p:cNvSpPr txBox="1"/>
          <p:nvPr/>
        </p:nvSpPr>
        <p:spPr>
          <a:xfrm>
            <a:off x="5505822" y="2644706"/>
            <a:ext cx="79208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200</a:t>
            </a:r>
          </a:p>
          <a:p>
            <a:pPr algn="ctr">
              <a:lnSpc>
                <a:spcPts val="1400"/>
              </a:lnSpc>
              <a:buNone/>
            </a:pPr>
            <a:endParaRPr lang="en-US" altLang="zh-TW" sz="1200" dirty="0"/>
          </a:p>
        </p:txBody>
      </p:sp>
      <p:graphicFrame>
        <p:nvGraphicFramePr>
          <p:cNvPr id="7" name="表格 6">
            <a:extLst>
              <a:ext uri="{FF2B5EF4-FFF2-40B4-BE49-F238E27FC236}">
                <a16:creationId xmlns:a16="http://schemas.microsoft.com/office/drawing/2014/main" id="{174A7689-58E1-25E4-CAB8-C95092422A3B}"/>
              </a:ext>
            </a:extLst>
          </p:cNvPr>
          <p:cNvGraphicFramePr>
            <a:graphicFrameLocks noGrp="1"/>
          </p:cNvGraphicFramePr>
          <p:nvPr/>
        </p:nvGraphicFramePr>
        <p:xfrm>
          <a:off x="2408514" y="2852936"/>
          <a:ext cx="768819" cy="864096"/>
        </p:xfrm>
        <a:graphic>
          <a:graphicData uri="http://schemas.openxmlformats.org/drawingml/2006/table">
            <a:tbl>
              <a:tblPr firstRow="1" bandRow="1">
                <a:tableStyleId>{5C22544A-7EE6-4342-B048-85BDC9FD1C3A}</a:tableStyleId>
              </a:tblPr>
              <a:tblGrid>
                <a:gridCol w="256273">
                  <a:extLst>
                    <a:ext uri="{9D8B030D-6E8A-4147-A177-3AD203B41FA5}">
                      <a16:colId xmlns:a16="http://schemas.microsoft.com/office/drawing/2014/main" val="871242339"/>
                    </a:ext>
                  </a:extLst>
                </a:gridCol>
                <a:gridCol w="256273">
                  <a:extLst>
                    <a:ext uri="{9D8B030D-6E8A-4147-A177-3AD203B41FA5}">
                      <a16:colId xmlns:a16="http://schemas.microsoft.com/office/drawing/2014/main" val="506512337"/>
                    </a:ext>
                  </a:extLst>
                </a:gridCol>
                <a:gridCol w="256273">
                  <a:extLst>
                    <a:ext uri="{9D8B030D-6E8A-4147-A177-3AD203B41FA5}">
                      <a16:colId xmlns:a16="http://schemas.microsoft.com/office/drawing/2014/main" val="3366401909"/>
                    </a:ext>
                  </a:extLst>
                </a:gridCol>
              </a:tblGrid>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2" name="表格 1">
            <a:extLst>
              <a:ext uri="{FF2B5EF4-FFF2-40B4-BE49-F238E27FC236}">
                <a16:creationId xmlns:a16="http://schemas.microsoft.com/office/drawing/2014/main" id="{4F6F6C15-94A2-C0C5-36A9-0DAC9AAC3735}"/>
              </a:ext>
            </a:extLst>
          </p:cNvPr>
          <p:cNvGraphicFramePr>
            <a:graphicFrameLocks noGrp="1"/>
          </p:cNvGraphicFramePr>
          <p:nvPr/>
        </p:nvGraphicFramePr>
        <p:xfrm>
          <a:off x="5295270" y="1725388"/>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sp>
        <p:nvSpPr>
          <p:cNvPr id="10" name="文字方塊 9">
            <a:extLst>
              <a:ext uri="{FF2B5EF4-FFF2-40B4-BE49-F238E27FC236}">
                <a16:creationId xmlns:a16="http://schemas.microsoft.com/office/drawing/2014/main" id="{FDAA76A0-7CB4-DA0D-EDD9-6D1BAA982226}"/>
              </a:ext>
            </a:extLst>
          </p:cNvPr>
          <p:cNvSpPr txBox="1"/>
          <p:nvPr/>
        </p:nvSpPr>
        <p:spPr>
          <a:xfrm>
            <a:off x="3801863" y="2780928"/>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8</a:t>
            </a:r>
            <a:r>
              <a:rPr lang="en-US" altLang="zh-TW" sz="1400" b="1" u="none" strike="noStrike" dirty="0">
                <a:solidFill>
                  <a:schemeClr val="accent6">
                    <a:lumMod val="75000"/>
                  </a:schemeClr>
                </a:solidFill>
                <a:effectLst/>
              </a:rPr>
              <a:t> x 200</a:t>
            </a:r>
          </a:p>
          <a:p>
            <a:pPr algn="ctr">
              <a:lnSpc>
                <a:spcPts val="1400"/>
              </a:lnSpc>
              <a:buNone/>
            </a:pPr>
            <a:endParaRPr lang="en-US" altLang="zh-TW" sz="1200" dirty="0"/>
          </a:p>
        </p:txBody>
      </p:sp>
      <p:graphicFrame>
        <p:nvGraphicFramePr>
          <p:cNvPr id="11" name="表格 10">
            <a:extLst>
              <a:ext uri="{FF2B5EF4-FFF2-40B4-BE49-F238E27FC236}">
                <a16:creationId xmlns:a16="http://schemas.microsoft.com/office/drawing/2014/main" id="{970FEFC2-8AF0-B494-88D8-630F4FEC9716}"/>
              </a:ext>
            </a:extLst>
          </p:cNvPr>
          <p:cNvGraphicFramePr>
            <a:graphicFrameLocks noGrp="1"/>
          </p:cNvGraphicFramePr>
          <p:nvPr/>
        </p:nvGraphicFramePr>
        <p:xfrm>
          <a:off x="3426644" y="3074156"/>
          <a:ext cx="1577404" cy="354844"/>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12" name="表格 11">
            <a:extLst>
              <a:ext uri="{FF2B5EF4-FFF2-40B4-BE49-F238E27FC236}">
                <a16:creationId xmlns:a16="http://schemas.microsoft.com/office/drawing/2014/main" id="{FDFCECAB-DFF2-9A96-42C1-C1A92C90C67A}"/>
              </a:ext>
            </a:extLst>
          </p:cNvPr>
          <p:cNvGraphicFramePr>
            <a:graphicFrameLocks noGrp="1"/>
          </p:cNvGraphicFramePr>
          <p:nvPr/>
        </p:nvGraphicFramePr>
        <p:xfrm>
          <a:off x="5292080" y="2913354"/>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104674903"/>
                  </a:ext>
                </a:extLst>
              </a:tr>
            </a:tbl>
          </a:graphicData>
        </a:graphic>
      </p:graphicFrame>
      <p:sp>
        <p:nvSpPr>
          <p:cNvPr id="13" name="文字方塊 12">
            <a:extLst>
              <a:ext uri="{FF2B5EF4-FFF2-40B4-BE49-F238E27FC236}">
                <a16:creationId xmlns:a16="http://schemas.microsoft.com/office/drawing/2014/main" id="{CA418A53-024F-5256-DFDC-38C367C98546}"/>
              </a:ext>
            </a:extLst>
          </p:cNvPr>
          <p:cNvSpPr txBox="1"/>
          <p:nvPr/>
        </p:nvSpPr>
        <p:spPr>
          <a:xfrm>
            <a:off x="4010625" y="1721623"/>
            <a:ext cx="678086"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14" name="表格 13">
            <a:extLst>
              <a:ext uri="{FF2B5EF4-FFF2-40B4-BE49-F238E27FC236}">
                <a16:creationId xmlns:a16="http://schemas.microsoft.com/office/drawing/2014/main" id="{3345E229-AD34-1F98-A1EE-ED0FCB96825E}"/>
              </a:ext>
            </a:extLst>
          </p:cNvPr>
          <p:cNvGraphicFramePr>
            <a:graphicFrameLocks noGrp="1"/>
          </p:cNvGraphicFramePr>
          <p:nvPr/>
        </p:nvGraphicFramePr>
        <p:xfrm>
          <a:off x="3717516" y="1997327"/>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15" name="文字方塊 14">
            <a:extLst>
              <a:ext uri="{FF2B5EF4-FFF2-40B4-BE49-F238E27FC236}">
                <a16:creationId xmlns:a16="http://schemas.microsoft.com/office/drawing/2014/main" id="{12B550F6-AAF7-C19A-A92E-CF87D9C54EF1}"/>
              </a:ext>
            </a:extLst>
          </p:cNvPr>
          <p:cNvSpPr txBox="1"/>
          <p:nvPr/>
        </p:nvSpPr>
        <p:spPr>
          <a:xfrm>
            <a:off x="7030856" y="1721623"/>
            <a:ext cx="648072"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16" name="表格 15">
            <a:extLst>
              <a:ext uri="{FF2B5EF4-FFF2-40B4-BE49-F238E27FC236}">
                <a16:creationId xmlns:a16="http://schemas.microsoft.com/office/drawing/2014/main" id="{996B90EC-11CB-52EE-8E93-6793DBEBCC4F}"/>
              </a:ext>
            </a:extLst>
          </p:cNvPr>
          <p:cNvGraphicFramePr>
            <a:graphicFrameLocks noGrp="1"/>
          </p:cNvGraphicFramePr>
          <p:nvPr/>
        </p:nvGraphicFramePr>
        <p:xfrm>
          <a:off x="6729958" y="1987628"/>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17" name="文字方塊 16">
            <a:extLst>
              <a:ext uri="{FF2B5EF4-FFF2-40B4-BE49-F238E27FC236}">
                <a16:creationId xmlns:a16="http://schemas.microsoft.com/office/drawing/2014/main" id="{AC4206E9-412D-FD84-36F9-9F12F7A65F2F}"/>
              </a:ext>
            </a:extLst>
          </p:cNvPr>
          <p:cNvSpPr txBox="1"/>
          <p:nvPr/>
        </p:nvSpPr>
        <p:spPr>
          <a:xfrm>
            <a:off x="5793854" y="2457142"/>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0" name="文字方塊 19">
            <a:extLst>
              <a:ext uri="{FF2B5EF4-FFF2-40B4-BE49-F238E27FC236}">
                <a16:creationId xmlns:a16="http://schemas.microsoft.com/office/drawing/2014/main" id="{4EEBCB8E-14AD-6B5D-4F80-0544704FC54A}"/>
              </a:ext>
            </a:extLst>
          </p:cNvPr>
          <p:cNvSpPr txBox="1"/>
          <p:nvPr/>
        </p:nvSpPr>
        <p:spPr>
          <a:xfrm>
            <a:off x="5031780" y="1938722"/>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1" name="文字方塊 20">
            <a:extLst>
              <a:ext uri="{FF2B5EF4-FFF2-40B4-BE49-F238E27FC236}">
                <a16:creationId xmlns:a16="http://schemas.microsoft.com/office/drawing/2014/main" id="{7C2A484D-460F-1A04-04CA-5C1908284B6D}"/>
              </a:ext>
            </a:extLst>
          </p:cNvPr>
          <p:cNvSpPr txBox="1"/>
          <p:nvPr/>
        </p:nvSpPr>
        <p:spPr>
          <a:xfrm>
            <a:off x="6510744" y="1938722"/>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2" name="文字方塊 21">
            <a:extLst>
              <a:ext uri="{FF2B5EF4-FFF2-40B4-BE49-F238E27FC236}">
                <a16:creationId xmlns:a16="http://schemas.microsoft.com/office/drawing/2014/main" id="{B37AEACB-00C0-87CF-71EE-829E83706821}"/>
              </a:ext>
            </a:extLst>
          </p:cNvPr>
          <p:cNvSpPr txBox="1"/>
          <p:nvPr/>
        </p:nvSpPr>
        <p:spPr>
          <a:xfrm>
            <a:off x="3223295" y="3119894"/>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3" name="文字方塊 22">
            <a:extLst>
              <a:ext uri="{FF2B5EF4-FFF2-40B4-BE49-F238E27FC236}">
                <a16:creationId xmlns:a16="http://schemas.microsoft.com/office/drawing/2014/main" id="{493FF47D-66F2-8021-8537-0B49581A514D}"/>
              </a:ext>
            </a:extLst>
          </p:cNvPr>
          <p:cNvSpPr txBox="1"/>
          <p:nvPr/>
        </p:nvSpPr>
        <p:spPr>
          <a:xfrm>
            <a:off x="5031780" y="315330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4" name="文字方塊 23">
            <a:extLst>
              <a:ext uri="{FF2B5EF4-FFF2-40B4-BE49-F238E27FC236}">
                <a16:creationId xmlns:a16="http://schemas.microsoft.com/office/drawing/2014/main" id="{166C89C2-E685-02E9-C209-61874A3350C9}"/>
              </a:ext>
            </a:extLst>
          </p:cNvPr>
          <p:cNvSpPr txBox="1"/>
          <p:nvPr/>
        </p:nvSpPr>
        <p:spPr>
          <a:xfrm>
            <a:off x="2577725" y="5199131"/>
            <a:ext cx="695847" cy="231316"/>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1</a:t>
            </a:r>
          </a:p>
          <a:p>
            <a:pPr algn="ctr">
              <a:lnSpc>
                <a:spcPts val="1400"/>
              </a:lnSpc>
              <a:buNone/>
            </a:pPr>
            <a:endParaRPr lang="en-US" altLang="zh-TW" sz="1200" dirty="0"/>
          </a:p>
        </p:txBody>
      </p:sp>
      <p:graphicFrame>
        <p:nvGraphicFramePr>
          <p:cNvPr id="25" name="表格 24">
            <a:extLst>
              <a:ext uri="{FF2B5EF4-FFF2-40B4-BE49-F238E27FC236}">
                <a16:creationId xmlns:a16="http://schemas.microsoft.com/office/drawing/2014/main" id="{3A408C77-9AA7-C9E5-0EEA-D090525596A0}"/>
              </a:ext>
            </a:extLst>
          </p:cNvPr>
          <p:cNvGraphicFramePr>
            <a:graphicFrameLocks noGrp="1"/>
          </p:cNvGraphicFramePr>
          <p:nvPr/>
        </p:nvGraphicFramePr>
        <p:xfrm>
          <a:off x="2793923" y="5462499"/>
          <a:ext cx="272530" cy="864096"/>
        </p:xfrm>
        <a:graphic>
          <a:graphicData uri="http://schemas.openxmlformats.org/drawingml/2006/table">
            <a:tbl>
              <a:tblPr firstRow="1" bandRow="1">
                <a:tableStyleId>{5C22544A-7EE6-4342-B048-85BDC9FD1C3A}</a:tableStyleId>
              </a:tblPr>
              <a:tblGrid>
                <a:gridCol w="272530">
                  <a:extLst>
                    <a:ext uri="{9D8B030D-6E8A-4147-A177-3AD203B41FA5}">
                      <a16:colId xmlns:a16="http://schemas.microsoft.com/office/drawing/2014/main" val="871242339"/>
                    </a:ext>
                  </a:extLst>
                </a:gridCol>
              </a:tblGrid>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sp>
        <p:nvSpPr>
          <p:cNvPr id="26" name="文字方塊 25">
            <a:extLst>
              <a:ext uri="{FF2B5EF4-FFF2-40B4-BE49-F238E27FC236}">
                <a16:creationId xmlns:a16="http://schemas.microsoft.com/office/drawing/2014/main" id="{46547153-3887-39D1-68AC-E63C5A9D08BB}"/>
              </a:ext>
            </a:extLst>
          </p:cNvPr>
          <p:cNvSpPr txBox="1"/>
          <p:nvPr/>
        </p:nvSpPr>
        <p:spPr>
          <a:xfrm>
            <a:off x="3801862" y="5517232"/>
            <a:ext cx="695847" cy="276999"/>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 x 200</a:t>
            </a:r>
          </a:p>
          <a:p>
            <a:pPr algn="ctr">
              <a:lnSpc>
                <a:spcPts val="1400"/>
              </a:lnSpc>
              <a:buNone/>
            </a:pPr>
            <a:endParaRPr lang="en-US" altLang="zh-TW" sz="1200" dirty="0"/>
          </a:p>
        </p:txBody>
      </p:sp>
      <p:graphicFrame>
        <p:nvGraphicFramePr>
          <p:cNvPr id="27" name="表格 26">
            <a:extLst>
              <a:ext uri="{FF2B5EF4-FFF2-40B4-BE49-F238E27FC236}">
                <a16:creationId xmlns:a16="http://schemas.microsoft.com/office/drawing/2014/main" id="{D856DEEC-0920-37CD-984E-6387928C97EB}"/>
              </a:ext>
            </a:extLst>
          </p:cNvPr>
          <p:cNvGraphicFramePr>
            <a:graphicFrameLocks noGrp="1"/>
          </p:cNvGraphicFramePr>
          <p:nvPr/>
        </p:nvGraphicFramePr>
        <p:xfrm>
          <a:off x="3424362" y="5777513"/>
          <a:ext cx="1577404" cy="177422"/>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sp>
        <p:nvSpPr>
          <p:cNvPr id="28" name="文字方塊 27">
            <a:extLst>
              <a:ext uri="{FF2B5EF4-FFF2-40B4-BE49-F238E27FC236}">
                <a16:creationId xmlns:a16="http://schemas.microsoft.com/office/drawing/2014/main" id="{8012E381-AA45-3D1A-CAEC-4D2813F6AB34}"/>
              </a:ext>
            </a:extLst>
          </p:cNvPr>
          <p:cNvSpPr txBox="1"/>
          <p:nvPr/>
        </p:nvSpPr>
        <p:spPr>
          <a:xfrm>
            <a:off x="3201566" y="573454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40" name="表格 39">
            <a:extLst>
              <a:ext uri="{FF2B5EF4-FFF2-40B4-BE49-F238E27FC236}">
                <a16:creationId xmlns:a16="http://schemas.microsoft.com/office/drawing/2014/main" id="{9E880617-74A7-3F1D-19E7-1C6CE624CCF5}"/>
              </a:ext>
            </a:extLst>
          </p:cNvPr>
          <p:cNvGraphicFramePr>
            <a:graphicFrameLocks noGrp="1"/>
          </p:cNvGraphicFramePr>
          <p:nvPr/>
        </p:nvGraphicFramePr>
        <p:xfrm>
          <a:off x="1835696" y="4819447"/>
          <a:ext cx="2823168" cy="263368"/>
        </p:xfrm>
        <a:graphic>
          <a:graphicData uri="http://schemas.openxmlformats.org/drawingml/2006/table">
            <a:tbl>
              <a:tblPr firstRow="1" bandRow="1">
                <a:tableStyleId>{5C22544A-7EE6-4342-B048-85BDC9FD1C3A}</a:tableStyleId>
              </a:tblPr>
              <a:tblGrid>
                <a:gridCol w="176448">
                  <a:extLst>
                    <a:ext uri="{9D8B030D-6E8A-4147-A177-3AD203B41FA5}">
                      <a16:colId xmlns:a16="http://schemas.microsoft.com/office/drawing/2014/main" val="871242339"/>
                    </a:ext>
                  </a:extLst>
                </a:gridCol>
                <a:gridCol w="176448">
                  <a:extLst>
                    <a:ext uri="{9D8B030D-6E8A-4147-A177-3AD203B41FA5}">
                      <a16:colId xmlns:a16="http://schemas.microsoft.com/office/drawing/2014/main" val="1424301285"/>
                    </a:ext>
                  </a:extLst>
                </a:gridCol>
                <a:gridCol w="176448">
                  <a:extLst>
                    <a:ext uri="{9D8B030D-6E8A-4147-A177-3AD203B41FA5}">
                      <a16:colId xmlns:a16="http://schemas.microsoft.com/office/drawing/2014/main" val="1288505345"/>
                    </a:ext>
                  </a:extLst>
                </a:gridCol>
                <a:gridCol w="176448">
                  <a:extLst>
                    <a:ext uri="{9D8B030D-6E8A-4147-A177-3AD203B41FA5}">
                      <a16:colId xmlns:a16="http://schemas.microsoft.com/office/drawing/2014/main" val="3066584392"/>
                    </a:ext>
                  </a:extLst>
                </a:gridCol>
                <a:gridCol w="176448">
                  <a:extLst>
                    <a:ext uri="{9D8B030D-6E8A-4147-A177-3AD203B41FA5}">
                      <a16:colId xmlns:a16="http://schemas.microsoft.com/office/drawing/2014/main" val="3404935993"/>
                    </a:ext>
                  </a:extLst>
                </a:gridCol>
                <a:gridCol w="176448">
                  <a:extLst>
                    <a:ext uri="{9D8B030D-6E8A-4147-A177-3AD203B41FA5}">
                      <a16:colId xmlns:a16="http://schemas.microsoft.com/office/drawing/2014/main" val="194789956"/>
                    </a:ext>
                  </a:extLst>
                </a:gridCol>
                <a:gridCol w="176448">
                  <a:extLst>
                    <a:ext uri="{9D8B030D-6E8A-4147-A177-3AD203B41FA5}">
                      <a16:colId xmlns:a16="http://schemas.microsoft.com/office/drawing/2014/main" val="4011389836"/>
                    </a:ext>
                  </a:extLst>
                </a:gridCol>
                <a:gridCol w="176448">
                  <a:extLst>
                    <a:ext uri="{9D8B030D-6E8A-4147-A177-3AD203B41FA5}">
                      <a16:colId xmlns:a16="http://schemas.microsoft.com/office/drawing/2014/main" val="506512337"/>
                    </a:ext>
                  </a:extLst>
                </a:gridCol>
                <a:gridCol w="176448">
                  <a:extLst>
                    <a:ext uri="{9D8B030D-6E8A-4147-A177-3AD203B41FA5}">
                      <a16:colId xmlns:a16="http://schemas.microsoft.com/office/drawing/2014/main" val="1056063242"/>
                    </a:ext>
                  </a:extLst>
                </a:gridCol>
                <a:gridCol w="176448">
                  <a:extLst>
                    <a:ext uri="{9D8B030D-6E8A-4147-A177-3AD203B41FA5}">
                      <a16:colId xmlns:a16="http://schemas.microsoft.com/office/drawing/2014/main" val="569222339"/>
                    </a:ext>
                  </a:extLst>
                </a:gridCol>
                <a:gridCol w="176448">
                  <a:extLst>
                    <a:ext uri="{9D8B030D-6E8A-4147-A177-3AD203B41FA5}">
                      <a16:colId xmlns:a16="http://schemas.microsoft.com/office/drawing/2014/main" val="2844237105"/>
                    </a:ext>
                  </a:extLst>
                </a:gridCol>
                <a:gridCol w="176448">
                  <a:extLst>
                    <a:ext uri="{9D8B030D-6E8A-4147-A177-3AD203B41FA5}">
                      <a16:colId xmlns:a16="http://schemas.microsoft.com/office/drawing/2014/main" val="312702483"/>
                    </a:ext>
                  </a:extLst>
                </a:gridCol>
                <a:gridCol w="176448">
                  <a:extLst>
                    <a:ext uri="{9D8B030D-6E8A-4147-A177-3AD203B41FA5}">
                      <a16:colId xmlns:a16="http://schemas.microsoft.com/office/drawing/2014/main" val="1426537453"/>
                    </a:ext>
                  </a:extLst>
                </a:gridCol>
                <a:gridCol w="176448">
                  <a:extLst>
                    <a:ext uri="{9D8B030D-6E8A-4147-A177-3AD203B41FA5}">
                      <a16:colId xmlns:a16="http://schemas.microsoft.com/office/drawing/2014/main" val="521542109"/>
                    </a:ext>
                  </a:extLst>
                </a:gridCol>
                <a:gridCol w="176448">
                  <a:extLst>
                    <a:ext uri="{9D8B030D-6E8A-4147-A177-3AD203B41FA5}">
                      <a16:colId xmlns:a16="http://schemas.microsoft.com/office/drawing/2014/main" val="1942328799"/>
                    </a:ext>
                  </a:extLst>
                </a:gridCol>
                <a:gridCol w="176448">
                  <a:extLst>
                    <a:ext uri="{9D8B030D-6E8A-4147-A177-3AD203B41FA5}">
                      <a16:colId xmlns:a16="http://schemas.microsoft.com/office/drawing/2014/main" val="3241487124"/>
                    </a:ext>
                  </a:extLst>
                </a:gridCol>
              </a:tblGrid>
              <a:tr h="263368">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1" name="表格 40">
            <a:extLst>
              <a:ext uri="{FF2B5EF4-FFF2-40B4-BE49-F238E27FC236}">
                <a16:creationId xmlns:a16="http://schemas.microsoft.com/office/drawing/2014/main" id="{9E930552-FE47-29BE-877E-18BE859F76FC}"/>
              </a:ext>
            </a:extLst>
          </p:cNvPr>
          <p:cNvGraphicFramePr>
            <a:graphicFrameLocks noGrp="1"/>
          </p:cNvGraphicFramePr>
          <p:nvPr/>
        </p:nvGraphicFramePr>
        <p:xfrm>
          <a:off x="2251383" y="4330399"/>
          <a:ext cx="2437328"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cxnSp>
        <p:nvCxnSpPr>
          <p:cNvPr id="43" name="直線單箭頭接點 42">
            <a:extLst>
              <a:ext uri="{FF2B5EF4-FFF2-40B4-BE49-F238E27FC236}">
                <a16:creationId xmlns:a16="http://schemas.microsoft.com/office/drawing/2014/main" id="{3D69D28E-D3BB-E57F-0654-C588ED181323}"/>
              </a:ext>
            </a:extLst>
          </p:cNvPr>
          <p:cNvCxnSpPr>
            <a:cxnSpLocks/>
          </p:cNvCxnSpPr>
          <p:nvPr/>
        </p:nvCxnSpPr>
        <p:spPr>
          <a:xfrm>
            <a:off x="2556939" y="4419193"/>
            <a:ext cx="0" cy="4002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F9A3051A-7393-2108-A65E-E17A5BDFC742}"/>
              </a:ext>
            </a:extLst>
          </p:cNvPr>
          <p:cNvCxnSpPr>
            <a:cxnSpLocks/>
            <a:endCxn id="40" idx="0"/>
          </p:cNvCxnSpPr>
          <p:nvPr/>
        </p:nvCxnSpPr>
        <p:spPr>
          <a:xfrm>
            <a:off x="2824829" y="4496168"/>
            <a:ext cx="422451" cy="323279"/>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D91FD903-5CA4-5DF9-C34F-F10FB97C112B}"/>
              </a:ext>
            </a:extLst>
          </p:cNvPr>
          <p:cNvSpPr txBox="1"/>
          <p:nvPr/>
        </p:nvSpPr>
        <p:spPr>
          <a:xfrm>
            <a:off x="2627784" y="4640726"/>
            <a:ext cx="422451" cy="183932"/>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4 bits</a:t>
            </a:r>
          </a:p>
        </p:txBody>
      </p:sp>
      <p:sp>
        <p:nvSpPr>
          <p:cNvPr id="18" name="文字方塊 17">
            <a:extLst>
              <a:ext uri="{FF2B5EF4-FFF2-40B4-BE49-F238E27FC236}">
                <a16:creationId xmlns:a16="http://schemas.microsoft.com/office/drawing/2014/main" id="{233890C5-0A88-D645-14E5-9AA7C51DF87A}"/>
              </a:ext>
            </a:extLst>
          </p:cNvPr>
          <p:cNvSpPr txBox="1"/>
          <p:nvPr/>
        </p:nvSpPr>
        <p:spPr>
          <a:xfrm>
            <a:off x="2503198" y="3966964"/>
            <a:ext cx="422451" cy="288032"/>
          </a:xfrm>
          <a:prstGeom prst="rect">
            <a:avLst/>
          </a:prstGeom>
          <a:noFill/>
        </p:spPr>
        <p:txBody>
          <a:bodyPr wrap="none" lIns="0" tIns="0" rIns="0" bIns="0" anchor="ctr" anchorCtr="1">
            <a:noAutofit/>
          </a:bodyPr>
          <a:lstStyle/>
          <a:p>
            <a:pPr>
              <a:lnSpc>
                <a:spcPts val="1200"/>
              </a:lnSpc>
            </a:pPr>
            <a:r>
              <a:rPr lang="en-US" altLang="zh-TW" sz="1200" dirty="0">
                <a:solidFill>
                  <a:prstClr val="black"/>
                </a:solidFill>
                <a:ea typeface="Cambria Math" panose="02040503050406030204" pitchFamily="18" charset="0"/>
              </a:rPr>
              <a:t>16</a:t>
            </a:r>
          </a:p>
          <a:p>
            <a:pPr>
              <a:lnSpc>
                <a:spcPts val="1200"/>
              </a:lnSpc>
            </a:pPr>
            <a:r>
              <a:rPr lang="en-US" altLang="zh-TW" sz="1200" dirty="0">
                <a:solidFill>
                  <a:prstClr val="black"/>
                </a:solidFill>
                <a:ea typeface="Cambria Math" panose="02040503050406030204" pitchFamily="18" charset="0"/>
              </a:rPr>
              <a:t>bits</a:t>
            </a:r>
          </a:p>
        </p:txBody>
      </p:sp>
      <p:sp>
        <p:nvSpPr>
          <p:cNvPr id="39" name="右大括弧 38">
            <a:extLst>
              <a:ext uri="{FF2B5EF4-FFF2-40B4-BE49-F238E27FC236}">
                <a16:creationId xmlns:a16="http://schemas.microsoft.com/office/drawing/2014/main" id="{43AD7CAA-9919-2BDC-C547-ADA2F3ADF7DF}"/>
              </a:ext>
            </a:extLst>
          </p:cNvPr>
          <p:cNvSpPr/>
          <p:nvPr/>
        </p:nvSpPr>
        <p:spPr>
          <a:xfrm rot="10800000">
            <a:off x="2043852" y="2728274"/>
            <a:ext cx="108700" cy="988757"/>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44" name="文字方塊 43">
            <a:extLst>
              <a:ext uri="{FF2B5EF4-FFF2-40B4-BE49-F238E27FC236}">
                <a16:creationId xmlns:a16="http://schemas.microsoft.com/office/drawing/2014/main" id="{8C236E84-CA66-55C6-A353-D96F41563DD1}"/>
              </a:ext>
            </a:extLst>
          </p:cNvPr>
          <p:cNvSpPr txBox="1"/>
          <p:nvPr/>
        </p:nvSpPr>
        <p:spPr>
          <a:xfrm>
            <a:off x="1547664" y="3079993"/>
            <a:ext cx="401072" cy="276999"/>
          </a:xfrm>
          <a:prstGeom prst="rect">
            <a:avLst/>
          </a:prstGeom>
          <a:noFill/>
        </p:spPr>
        <p:txBody>
          <a:bodyPr wrap="none" lIns="0" tIns="0" rIns="0" bIns="0" anchor="ctr" anchorCtr="1">
            <a:noAutofit/>
          </a:bodyPr>
          <a:lstStyle/>
          <a:p>
            <a:r>
              <a:rPr lang="en-US" altLang="zh-TW" sz="1400" b="1" dirty="0"/>
              <a:t>LoRA</a:t>
            </a:r>
            <a:endParaRPr lang="zh-TW" altLang="en-US" sz="1400" b="1" dirty="0"/>
          </a:p>
        </p:txBody>
      </p:sp>
      <p:sp>
        <p:nvSpPr>
          <p:cNvPr id="49" name="文字方塊 48">
            <a:extLst>
              <a:ext uri="{FF2B5EF4-FFF2-40B4-BE49-F238E27FC236}">
                <a16:creationId xmlns:a16="http://schemas.microsoft.com/office/drawing/2014/main" id="{99A5FBEF-DD1B-027F-7308-223EF51BE499}"/>
              </a:ext>
            </a:extLst>
          </p:cNvPr>
          <p:cNvSpPr txBox="1"/>
          <p:nvPr/>
        </p:nvSpPr>
        <p:spPr>
          <a:xfrm>
            <a:off x="971600" y="5517232"/>
            <a:ext cx="401072" cy="276999"/>
          </a:xfrm>
          <a:prstGeom prst="rect">
            <a:avLst/>
          </a:prstGeom>
          <a:noFill/>
        </p:spPr>
        <p:txBody>
          <a:bodyPr wrap="none" lIns="0" tIns="0" rIns="0" bIns="0" anchor="ctr" anchorCtr="1">
            <a:noAutofit/>
          </a:bodyPr>
          <a:lstStyle/>
          <a:p>
            <a:r>
              <a:rPr lang="en-US" altLang="zh-TW" sz="1400" b="1" dirty="0"/>
              <a:t>QLoRA</a:t>
            </a:r>
            <a:endParaRPr lang="zh-TW" altLang="en-US" sz="1400" b="1" dirty="0"/>
          </a:p>
        </p:txBody>
      </p:sp>
      <p:sp>
        <p:nvSpPr>
          <p:cNvPr id="55" name="右大括弧 54">
            <a:extLst>
              <a:ext uri="{FF2B5EF4-FFF2-40B4-BE49-F238E27FC236}">
                <a16:creationId xmlns:a16="http://schemas.microsoft.com/office/drawing/2014/main" id="{FDC02000-3510-2BFF-9245-7620E6943787}"/>
              </a:ext>
            </a:extLst>
          </p:cNvPr>
          <p:cNvSpPr/>
          <p:nvPr/>
        </p:nvSpPr>
        <p:spPr>
          <a:xfrm rot="10800000">
            <a:off x="1475656" y="4951131"/>
            <a:ext cx="138303" cy="1378626"/>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59" name="矩形: 圓角 58">
            <a:extLst>
              <a:ext uri="{FF2B5EF4-FFF2-40B4-BE49-F238E27FC236}">
                <a16:creationId xmlns:a16="http://schemas.microsoft.com/office/drawing/2014/main" id="{0B7BD835-FD81-3F02-5FD1-3F2F8343A2F6}"/>
              </a:ext>
            </a:extLst>
          </p:cNvPr>
          <p:cNvSpPr/>
          <p:nvPr/>
        </p:nvSpPr>
        <p:spPr>
          <a:xfrm>
            <a:off x="2324300" y="2814836"/>
            <a:ext cx="922980" cy="288032"/>
          </a:xfrm>
          <a:prstGeom prst="roundRect">
            <a:avLst>
              <a:gd name="adj" fmla="val 1682"/>
            </a:avLst>
          </a:prstGeom>
          <a:no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63" name="矩形: 圓角 62">
            <a:extLst>
              <a:ext uri="{FF2B5EF4-FFF2-40B4-BE49-F238E27FC236}">
                <a16:creationId xmlns:a16="http://schemas.microsoft.com/office/drawing/2014/main" id="{79368FC2-23FC-8AFF-A6B0-B3063BDB7FC4}"/>
              </a:ext>
            </a:extLst>
          </p:cNvPr>
          <p:cNvSpPr/>
          <p:nvPr/>
        </p:nvSpPr>
        <p:spPr>
          <a:xfrm>
            <a:off x="2166294" y="4278319"/>
            <a:ext cx="2621730" cy="288032"/>
          </a:xfrm>
          <a:prstGeom prst="roundRect">
            <a:avLst>
              <a:gd name="adj" fmla="val 1682"/>
            </a:avLst>
          </a:prstGeom>
          <a:no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graphicFrame>
        <p:nvGraphicFramePr>
          <p:cNvPr id="8" name="表格 7">
            <a:extLst>
              <a:ext uri="{FF2B5EF4-FFF2-40B4-BE49-F238E27FC236}">
                <a16:creationId xmlns:a16="http://schemas.microsoft.com/office/drawing/2014/main" id="{3E5C1892-EFAE-EC36-F73D-E996CC3D8860}"/>
              </a:ext>
            </a:extLst>
          </p:cNvPr>
          <p:cNvGraphicFramePr>
            <a:graphicFrameLocks noGrp="1"/>
          </p:cNvGraphicFramePr>
          <p:nvPr>
            <p:extLst>
              <p:ext uri="{D42A27DB-BD31-4B8C-83A1-F6EECF244321}">
                <p14:modId xmlns:p14="http://schemas.microsoft.com/office/powerpoint/2010/main" val="3641951112"/>
              </p:ext>
            </p:extLst>
          </p:nvPr>
        </p:nvGraphicFramePr>
        <p:xfrm>
          <a:off x="446679" y="1588297"/>
          <a:ext cx="2061433" cy="943463"/>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211943">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LoRA</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68879">
                <a:tc>
                  <a:txBody>
                    <a:bodyPr/>
                    <a:lstStyle/>
                    <a:p>
                      <a:pPr algn="l"/>
                      <a:r>
                        <a:rPr lang="en-US" altLang="zh-TW" sz="1200" b="0" cap="none" spc="0" dirty="0">
                          <a:ln w="0"/>
                          <a:solidFill>
                            <a:schemeClr val="tx1"/>
                          </a:solidFill>
                          <a:effectLst/>
                        </a:rPr>
                        <a:t>Freeze All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Inject Layers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49197690"/>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Active LoRA (A+B)</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76899233"/>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Quantization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00520025"/>
                  </a:ext>
                </a:extLst>
              </a:tr>
            </a:tbl>
          </a:graphicData>
        </a:graphic>
      </p:graphicFrame>
    </p:spTree>
    <p:extLst>
      <p:ext uri="{BB962C8B-B14F-4D97-AF65-F5344CB8AC3E}">
        <p14:creationId xmlns:p14="http://schemas.microsoft.com/office/powerpoint/2010/main" val="16814980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3889C-D10C-B36A-2721-EFF1DC29861C}"/>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D35E2BF1-6FE3-3015-8276-1481380950DB}"/>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PEFT: Weight-</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D</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ecomposed L</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oRA</a:t>
            </a:r>
          </a:p>
          <a:p>
            <a:r>
              <a:rPr lang="en-US" altLang="zh-TW" sz="1400" b="1" dirty="0">
                <a:latin typeface="Noto Sans HK" panose="020B0200000000000000" pitchFamily="34" charset="-120"/>
                <a:ea typeface="Noto Sans HK" panose="020B0200000000000000" pitchFamily="34" charset="-120"/>
                <a:cs typeface="Aharoni" panose="020F0502020204030204" pitchFamily="2" charset="-79"/>
              </a:rPr>
              <a:t>DoRA</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fundamentally improves LoRA by decomposing weights into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magnitude</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and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direction</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a:t>
            </a:r>
          </a:p>
        </p:txBody>
      </p:sp>
      <p:graphicFrame>
        <p:nvGraphicFramePr>
          <p:cNvPr id="7" name="表格 6">
            <a:extLst>
              <a:ext uri="{FF2B5EF4-FFF2-40B4-BE49-F238E27FC236}">
                <a16:creationId xmlns:a16="http://schemas.microsoft.com/office/drawing/2014/main" id="{EBEBCF88-3560-5ABF-5D6D-C099FC517E5B}"/>
              </a:ext>
            </a:extLst>
          </p:cNvPr>
          <p:cNvGraphicFramePr>
            <a:graphicFrameLocks noGrp="1"/>
          </p:cNvGraphicFramePr>
          <p:nvPr/>
        </p:nvGraphicFramePr>
        <p:xfrm>
          <a:off x="2938059" y="2204864"/>
          <a:ext cx="545060" cy="864096"/>
        </p:xfrm>
        <a:graphic>
          <a:graphicData uri="http://schemas.openxmlformats.org/drawingml/2006/table">
            <a:tbl>
              <a:tblPr firstRow="1" bandRow="1">
                <a:tableStyleId>{5C22544A-7EE6-4342-B048-85BDC9FD1C3A}</a:tableStyleId>
              </a:tblPr>
              <a:tblGrid>
                <a:gridCol w="272530">
                  <a:extLst>
                    <a:ext uri="{9D8B030D-6E8A-4147-A177-3AD203B41FA5}">
                      <a16:colId xmlns:a16="http://schemas.microsoft.com/office/drawing/2014/main" val="871242339"/>
                    </a:ext>
                  </a:extLst>
                </a:gridCol>
                <a:gridCol w="272530">
                  <a:extLst>
                    <a:ext uri="{9D8B030D-6E8A-4147-A177-3AD203B41FA5}">
                      <a16:colId xmlns:a16="http://schemas.microsoft.com/office/drawing/2014/main" val="506512337"/>
                    </a:ext>
                  </a:extLst>
                </a:gridCol>
              </a:tblGrid>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2" name="表格 1">
            <a:extLst>
              <a:ext uri="{FF2B5EF4-FFF2-40B4-BE49-F238E27FC236}">
                <a16:creationId xmlns:a16="http://schemas.microsoft.com/office/drawing/2014/main" id="{F5969713-48F1-14D8-0B44-BBB25E2E66B2}"/>
              </a:ext>
            </a:extLst>
          </p:cNvPr>
          <p:cNvGraphicFramePr>
            <a:graphicFrameLocks noGrp="1"/>
          </p:cNvGraphicFramePr>
          <p:nvPr/>
        </p:nvGraphicFramePr>
        <p:xfrm>
          <a:off x="5585584" y="1381276"/>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sp>
        <p:nvSpPr>
          <p:cNvPr id="10" name="文字方塊 9">
            <a:extLst>
              <a:ext uri="{FF2B5EF4-FFF2-40B4-BE49-F238E27FC236}">
                <a16:creationId xmlns:a16="http://schemas.microsoft.com/office/drawing/2014/main" id="{69F885FB-F8DB-3366-45FC-8F10E81744B6}"/>
              </a:ext>
            </a:extLst>
          </p:cNvPr>
          <p:cNvSpPr txBox="1"/>
          <p:nvPr/>
        </p:nvSpPr>
        <p:spPr>
          <a:xfrm>
            <a:off x="3320587" y="3597835"/>
            <a:ext cx="40357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0.1 x </a:t>
            </a:r>
          </a:p>
        </p:txBody>
      </p:sp>
      <p:graphicFrame>
        <p:nvGraphicFramePr>
          <p:cNvPr id="11" name="表格 10">
            <a:extLst>
              <a:ext uri="{FF2B5EF4-FFF2-40B4-BE49-F238E27FC236}">
                <a16:creationId xmlns:a16="http://schemas.microsoft.com/office/drawing/2014/main" id="{A0B7BCF8-5297-D373-E95B-1D2A0407EE38}"/>
              </a:ext>
            </a:extLst>
          </p:cNvPr>
          <p:cNvGraphicFramePr>
            <a:graphicFrameLocks noGrp="1"/>
          </p:cNvGraphicFramePr>
          <p:nvPr/>
        </p:nvGraphicFramePr>
        <p:xfrm>
          <a:off x="3658140" y="2430190"/>
          <a:ext cx="1577404" cy="354844"/>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7422">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sp>
        <p:nvSpPr>
          <p:cNvPr id="13" name="文字方塊 12">
            <a:extLst>
              <a:ext uri="{FF2B5EF4-FFF2-40B4-BE49-F238E27FC236}">
                <a16:creationId xmlns:a16="http://schemas.microsoft.com/office/drawing/2014/main" id="{A82BA1F2-8B0F-F56C-5C78-D715BD5F2455}"/>
              </a:ext>
            </a:extLst>
          </p:cNvPr>
          <p:cNvSpPr txBox="1"/>
          <p:nvPr/>
        </p:nvSpPr>
        <p:spPr>
          <a:xfrm>
            <a:off x="1048685" y="1340768"/>
            <a:ext cx="678086"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14" name="表格 13">
            <a:extLst>
              <a:ext uri="{FF2B5EF4-FFF2-40B4-BE49-F238E27FC236}">
                <a16:creationId xmlns:a16="http://schemas.microsoft.com/office/drawing/2014/main" id="{5EA5B1A1-E8FE-FFA5-DD35-8926472EC6EC}"/>
              </a:ext>
            </a:extLst>
          </p:cNvPr>
          <p:cNvGraphicFramePr>
            <a:graphicFrameLocks noGrp="1"/>
          </p:cNvGraphicFramePr>
          <p:nvPr/>
        </p:nvGraphicFramePr>
        <p:xfrm>
          <a:off x="755576" y="1641136"/>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15" name="文字方塊 14">
            <a:extLst>
              <a:ext uri="{FF2B5EF4-FFF2-40B4-BE49-F238E27FC236}">
                <a16:creationId xmlns:a16="http://schemas.microsoft.com/office/drawing/2014/main" id="{7A5A42F4-7CBD-9D47-F69F-2489A0F2911A}"/>
              </a:ext>
            </a:extLst>
          </p:cNvPr>
          <p:cNvSpPr txBox="1"/>
          <p:nvPr/>
        </p:nvSpPr>
        <p:spPr>
          <a:xfrm>
            <a:off x="7398650" y="1340768"/>
            <a:ext cx="648072"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16" name="表格 15">
            <a:extLst>
              <a:ext uri="{FF2B5EF4-FFF2-40B4-BE49-F238E27FC236}">
                <a16:creationId xmlns:a16="http://schemas.microsoft.com/office/drawing/2014/main" id="{A4887E64-451C-2A98-2140-B60E4788F5D4}"/>
              </a:ext>
            </a:extLst>
          </p:cNvPr>
          <p:cNvGraphicFramePr>
            <a:graphicFrameLocks noGrp="1"/>
          </p:cNvGraphicFramePr>
          <p:nvPr/>
        </p:nvGraphicFramePr>
        <p:xfrm>
          <a:off x="7169760" y="1631437"/>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20" name="文字方塊 19">
            <a:extLst>
              <a:ext uri="{FF2B5EF4-FFF2-40B4-BE49-F238E27FC236}">
                <a16:creationId xmlns:a16="http://schemas.microsoft.com/office/drawing/2014/main" id="{E5328391-F130-91DE-E826-96E58451F388}"/>
              </a:ext>
            </a:extLst>
          </p:cNvPr>
          <p:cNvSpPr txBox="1"/>
          <p:nvPr/>
        </p:nvSpPr>
        <p:spPr>
          <a:xfrm>
            <a:off x="2051720" y="1582531"/>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1" name="文字方塊 20">
            <a:extLst>
              <a:ext uri="{FF2B5EF4-FFF2-40B4-BE49-F238E27FC236}">
                <a16:creationId xmlns:a16="http://schemas.microsoft.com/office/drawing/2014/main" id="{CBE4D3F9-BE11-216C-0F65-9F89C76CEE67}"/>
              </a:ext>
            </a:extLst>
          </p:cNvPr>
          <p:cNvSpPr txBox="1"/>
          <p:nvPr/>
        </p:nvSpPr>
        <p:spPr>
          <a:xfrm>
            <a:off x="6878538" y="1582531"/>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2" name="文字方塊 21">
            <a:extLst>
              <a:ext uri="{FF2B5EF4-FFF2-40B4-BE49-F238E27FC236}">
                <a16:creationId xmlns:a16="http://schemas.microsoft.com/office/drawing/2014/main" id="{06666021-CE75-49AD-E5F2-0C852C147D4F}"/>
              </a:ext>
            </a:extLst>
          </p:cNvPr>
          <p:cNvSpPr txBox="1"/>
          <p:nvPr/>
        </p:nvSpPr>
        <p:spPr>
          <a:xfrm>
            <a:off x="3480182" y="2475928"/>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30" name="表格 29">
            <a:extLst>
              <a:ext uri="{FF2B5EF4-FFF2-40B4-BE49-F238E27FC236}">
                <a16:creationId xmlns:a16="http://schemas.microsoft.com/office/drawing/2014/main" id="{B73339CD-B5DB-548D-81FC-776E1139B353}"/>
              </a:ext>
            </a:extLst>
          </p:cNvPr>
          <p:cNvGraphicFramePr>
            <a:graphicFrameLocks noGrp="1"/>
          </p:cNvGraphicFramePr>
          <p:nvPr/>
        </p:nvGraphicFramePr>
        <p:xfrm>
          <a:off x="1043608" y="4043666"/>
          <a:ext cx="1577404" cy="177422"/>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sp>
        <p:nvSpPr>
          <p:cNvPr id="38" name="文字方塊 37">
            <a:extLst>
              <a:ext uri="{FF2B5EF4-FFF2-40B4-BE49-F238E27FC236}">
                <a16:creationId xmlns:a16="http://schemas.microsoft.com/office/drawing/2014/main" id="{CBFA29BC-16EA-8E29-DAF3-456E58026E7D}"/>
              </a:ext>
            </a:extLst>
          </p:cNvPr>
          <p:cNvSpPr txBox="1"/>
          <p:nvPr/>
        </p:nvSpPr>
        <p:spPr>
          <a:xfrm>
            <a:off x="5474120" y="4010908"/>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58" name="表格 57">
            <a:extLst>
              <a:ext uri="{FF2B5EF4-FFF2-40B4-BE49-F238E27FC236}">
                <a16:creationId xmlns:a16="http://schemas.microsoft.com/office/drawing/2014/main" id="{3C496CFB-6BBB-3BA0-2E6D-8F5F1098A95D}"/>
              </a:ext>
            </a:extLst>
          </p:cNvPr>
          <p:cNvGraphicFramePr>
            <a:graphicFrameLocks noGrp="1"/>
          </p:cNvGraphicFramePr>
          <p:nvPr/>
        </p:nvGraphicFramePr>
        <p:xfrm>
          <a:off x="4139953" y="4221088"/>
          <a:ext cx="444549" cy="4572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12276">
                  <a:extLst>
                    <a:ext uri="{9D8B030D-6E8A-4147-A177-3AD203B41FA5}">
                      <a16:colId xmlns:a16="http://schemas.microsoft.com/office/drawing/2014/main" val="871242339"/>
                    </a:ext>
                  </a:extLst>
                </a:gridCol>
                <a:gridCol w="81256">
                  <a:extLst>
                    <a:ext uri="{9D8B030D-6E8A-4147-A177-3AD203B41FA5}">
                      <a16:colId xmlns:a16="http://schemas.microsoft.com/office/drawing/2014/main" val="1424301285"/>
                    </a:ext>
                  </a:extLst>
                </a:gridCol>
                <a:gridCol w="81256">
                  <a:extLst>
                    <a:ext uri="{9D8B030D-6E8A-4147-A177-3AD203B41FA5}">
                      <a16:colId xmlns:a16="http://schemas.microsoft.com/office/drawing/2014/main" val="1288505345"/>
                    </a:ext>
                  </a:extLst>
                </a:gridCol>
                <a:gridCol w="118961">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bl>
          </a:graphicData>
        </a:graphic>
      </p:graphicFrame>
      <p:cxnSp>
        <p:nvCxnSpPr>
          <p:cNvPr id="60" name="直線接點 59">
            <a:extLst>
              <a:ext uri="{FF2B5EF4-FFF2-40B4-BE49-F238E27FC236}">
                <a16:creationId xmlns:a16="http://schemas.microsoft.com/office/drawing/2014/main" id="{EB1EA629-4209-A850-F1A1-D8BA04D9C9CC}"/>
              </a:ext>
            </a:extLst>
          </p:cNvPr>
          <p:cNvCxnSpPr>
            <a:cxnSpLocks/>
          </p:cNvCxnSpPr>
          <p:nvPr/>
        </p:nvCxnSpPr>
        <p:spPr>
          <a:xfrm>
            <a:off x="3310495" y="4135391"/>
            <a:ext cx="2163625"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479E246E-2FCC-8FE5-B733-A981CCE1C6B4}"/>
              </a:ext>
            </a:extLst>
          </p:cNvPr>
          <p:cNvSpPr txBox="1"/>
          <p:nvPr/>
        </p:nvSpPr>
        <p:spPr>
          <a:xfrm>
            <a:off x="4138467" y="4359499"/>
            <a:ext cx="444549" cy="199418"/>
          </a:xfrm>
          <a:prstGeom prst="rect">
            <a:avLst/>
          </a:prstGeom>
          <a:noFill/>
          <a:ln w="25400">
            <a:noFill/>
          </a:ln>
        </p:spPr>
        <p:txBody>
          <a:bodyPr wrap="none" lIns="0" tIns="72000" rIns="0" bIns="36000" anchor="t" anchorCtr="1">
            <a:noAutofit/>
          </a:bodyPr>
          <a:lstStyle/>
          <a:p>
            <a:pPr algn="ctr">
              <a:lnSpc>
                <a:spcPts val="1000"/>
              </a:lnSpc>
              <a:buNone/>
            </a:pPr>
            <a:r>
              <a:rPr lang="en-US" altLang="zh-TW" sz="1000" b="1" u="none" strike="noStrike" dirty="0">
                <a:effectLst/>
              </a:rPr>
              <a:t>Norm</a:t>
            </a:r>
          </a:p>
        </p:txBody>
      </p:sp>
      <p:graphicFrame>
        <p:nvGraphicFramePr>
          <p:cNvPr id="68" name="表格 67">
            <a:extLst>
              <a:ext uri="{FF2B5EF4-FFF2-40B4-BE49-F238E27FC236}">
                <a16:creationId xmlns:a16="http://schemas.microsoft.com/office/drawing/2014/main" id="{9EFD464C-B4A7-F135-02DA-626DD5A5720D}"/>
              </a:ext>
            </a:extLst>
          </p:cNvPr>
          <p:cNvGraphicFramePr>
            <a:graphicFrameLocks noGrp="1"/>
          </p:cNvGraphicFramePr>
          <p:nvPr/>
        </p:nvGraphicFramePr>
        <p:xfrm>
          <a:off x="3745928" y="3429000"/>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graphicFrame>
        <p:nvGraphicFramePr>
          <p:cNvPr id="70" name="表格 69">
            <a:extLst>
              <a:ext uri="{FF2B5EF4-FFF2-40B4-BE49-F238E27FC236}">
                <a16:creationId xmlns:a16="http://schemas.microsoft.com/office/drawing/2014/main" id="{81CA69A3-B5CC-02BB-7359-C1BA5E6B65F1}"/>
              </a:ext>
            </a:extLst>
          </p:cNvPr>
          <p:cNvGraphicFramePr>
            <a:graphicFrameLocks noGrp="1"/>
          </p:cNvGraphicFramePr>
          <p:nvPr/>
        </p:nvGraphicFramePr>
        <p:xfrm>
          <a:off x="4901041" y="3429000"/>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72" name="文字方塊 71">
            <a:extLst>
              <a:ext uri="{FF2B5EF4-FFF2-40B4-BE49-F238E27FC236}">
                <a16:creationId xmlns:a16="http://schemas.microsoft.com/office/drawing/2014/main" id="{947E49BB-0A02-34B7-7B44-573B60119A2B}"/>
              </a:ext>
            </a:extLst>
          </p:cNvPr>
          <p:cNvSpPr txBox="1"/>
          <p:nvPr/>
        </p:nvSpPr>
        <p:spPr>
          <a:xfrm>
            <a:off x="4394000" y="3595681"/>
            <a:ext cx="378033"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a:t>
            </a:r>
            <a:r>
              <a:rPr lang="en-US" altLang="zh-TW" sz="1400" b="1" dirty="0"/>
              <a:t> </a:t>
            </a:r>
            <a:r>
              <a:rPr lang="en-US" altLang="zh-TW" sz="1400" b="1" u="none" strike="noStrike" dirty="0">
                <a:effectLst/>
              </a:rPr>
              <a:t>+ 0.9</a:t>
            </a:r>
            <a:r>
              <a:rPr lang="zh-TW" altLang="en-US" sz="1400" b="1" u="none" strike="noStrike" dirty="0">
                <a:effectLst/>
              </a:rPr>
              <a:t> </a:t>
            </a:r>
            <a:r>
              <a:rPr lang="en-US" altLang="zh-TW" sz="1400" b="1" u="none" strike="noStrike" dirty="0">
                <a:effectLst/>
              </a:rPr>
              <a:t>x</a:t>
            </a:r>
            <a:r>
              <a:rPr lang="zh-TW" altLang="en-US" sz="1400" b="1" u="none" strike="noStrike" dirty="0">
                <a:effectLst/>
              </a:rPr>
              <a:t> </a:t>
            </a:r>
            <a:endParaRPr lang="en-US" altLang="zh-TW" sz="1400" b="1" u="none" strike="noStrike" dirty="0">
              <a:effectLst/>
            </a:endParaRPr>
          </a:p>
          <a:p>
            <a:pPr algn="ctr">
              <a:lnSpc>
                <a:spcPts val="1400"/>
              </a:lnSpc>
              <a:buNone/>
            </a:pPr>
            <a:endParaRPr lang="en-US" altLang="zh-TW" sz="1400" b="1" dirty="0"/>
          </a:p>
          <a:p>
            <a:pPr algn="ctr">
              <a:lnSpc>
                <a:spcPts val="1400"/>
              </a:lnSpc>
              <a:buNone/>
            </a:pPr>
            <a:endParaRPr lang="en-US" altLang="zh-TW" sz="1200" dirty="0"/>
          </a:p>
        </p:txBody>
      </p:sp>
      <p:sp>
        <p:nvSpPr>
          <p:cNvPr id="76" name="文字方塊 75">
            <a:extLst>
              <a:ext uri="{FF2B5EF4-FFF2-40B4-BE49-F238E27FC236}">
                <a16:creationId xmlns:a16="http://schemas.microsoft.com/office/drawing/2014/main" id="{92780C9C-6CB0-EE4E-3624-E9C83BEC065A}"/>
              </a:ext>
            </a:extLst>
          </p:cNvPr>
          <p:cNvSpPr txBox="1"/>
          <p:nvPr/>
        </p:nvSpPr>
        <p:spPr>
          <a:xfrm>
            <a:off x="2987824" y="4012575"/>
            <a:ext cx="177958" cy="263368"/>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r>
              <a:rPr kumimoji="0" lang="en-US"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 (</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66" name="文字方塊 65">
            <a:extLst>
              <a:ext uri="{FF2B5EF4-FFF2-40B4-BE49-F238E27FC236}">
                <a16:creationId xmlns:a16="http://schemas.microsoft.com/office/drawing/2014/main" id="{C4461DE9-71CF-6217-CB5B-A3A0EE539051}"/>
              </a:ext>
            </a:extLst>
          </p:cNvPr>
          <p:cNvSpPr txBox="1"/>
          <p:nvPr/>
        </p:nvSpPr>
        <p:spPr>
          <a:xfrm>
            <a:off x="4932961" y="360635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0</a:t>
            </a:r>
          </a:p>
        </p:txBody>
      </p:sp>
      <p:sp>
        <p:nvSpPr>
          <p:cNvPr id="82" name="文字方塊 81">
            <a:extLst>
              <a:ext uri="{FF2B5EF4-FFF2-40B4-BE49-F238E27FC236}">
                <a16:creationId xmlns:a16="http://schemas.microsoft.com/office/drawing/2014/main" id="{01F0EDB0-BF85-DC0D-9878-3554C87FB711}"/>
              </a:ext>
            </a:extLst>
          </p:cNvPr>
          <p:cNvSpPr txBox="1"/>
          <p:nvPr/>
        </p:nvSpPr>
        <p:spPr>
          <a:xfrm>
            <a:off x="3779912" y="360635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1</a:t>
            </a:r>
          </a:p>
        </p:txBody>
      </p:sp>
      <p:sp>
        <p:nvSpPr>
          <p:cNvPr id="84" name="右大括弧 83">
            <a:extLst>
              <a:ext uri="{FF2B5EF4-FFF2-40B4-BE49-F238E27FC236}">
                <a16:creationId xmlns:a16="http://schemas.microsoft.com/office/drawing/2014/main" id="{DE720BE9-4C36-0318-5B45-E24D7860CFCE}"/>
              </a:ext>
            </a:extLst>
          </p:cNvPr>
          <p:cNvSpPr/>
          <p:nvPr/>
        </p:nvSpPr>
        <p:spPr>
          <a:xfrm rot="5400000">
            <a:off x="4019893" y="2059133"/>
            <a:ext cx="133813" cy="2297484"/>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86" name="右大括弧 85">
            <a:extLst>
              <a:ext uri="{FF2B5EF4-FFF2-40B4-BE49-F238E27FC236}">
                <a16:creationId xmlns:a16="http://schemas.microsoft.com/office/drawing/2014/main" id="{CF43AA5F-9211-1098-2460-3701EE3A76BD}"/>
              </a:ext>
            </a:extLst>
          </p:cNvPr>
          <p:cNvSpPr/>
          <p:nvPr/>
        </p:nvSpPr>
        <p:spPr>
          <a:xfrm rot="5400000">
            <a:off x="6109823" y="1697396"/>
            <a:ext cx="137191" cy="1008112"/>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aphicFrame>
        <p:nvGraphicFramePr>
          <p:cNvPr id="88" name="表格 87">
            <a:extLst>
              <a:ext uri="{FF2B5EF4-FFF2-40B4-BE49-F238E27FC236}">
                <a16:creationId xmlns:a16="http://schemas.microsoft.com/office/drawing/2014/main" id="{E393108B-6E78-7538-15D5-25B450E877E7}"/>
              </a:ext>
            </a:extLst>
          </p:cNvPr>
          <p:cNvGraphicFramePr>
            <a:graphicFrameLocks noGrp="1"/>
          </p:cNvGraphicFramePr>
          <p:nvPr/>
        </p:nvGraphicFramePr>
        <p:xfrm>
          <a:off x="5893372" y="2315344"/>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90" name="文字方塊 89">
            <a:extLst>
              <a:ext uri="{FF2B5EF4-FFF2-40B4-BE49-F238E27FC236}">
                <a16:creationId xmlns:a16="http://schemas.microsoft.com/office/drawing/2014/main" id="{1CA08461-6A73-1D89-9315-A1074039A04F}"/>
              </a:ext>
            </a:extLst>
          </p:cNvPr>
          <p:cNvSpPr txBox="1"/>
          <p:nvPr/>
        </p:nvSpPr>
        <p:spPr>
          <a:xfrm>
            <a:off x="5925292" y="2492694"/>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0</a:t>
            </a:r>
          </a:p>
        </p:txBody>
      </p:sp>
      <p:sp>
        <p:nvSpPr>
          <p:cNvPr id="92" name="文字方塊 91">
            <a:extLst>
              <a:ext uri="{FF2B5EF4-FFF2-40B4-BE49-F238E27FC236}">
                <a16:creationId xmlns:a16="http://schemas.microsoft.com/office/drawing/2014/main" id="{DBF2618B-7ED8-C2C2-19D7-3BA9775AF4CF}"/>
              </a:ext>
            </a:extLst>
          </p:cNvPr>
          <p:cNvSpPr txBox="1"/>
          <p:nvPr/>
        </p:nvSpPr>
        <p:spPr>
          <a:xfrm>
            <a:off x="5366373" y="2451264"/>
            <a:ext cx="378033"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a:t>
            </a:r>
            <a:r>
              <a:rPr lang="en-US" altLang="zh-TW" sz="1400" b="1" dirty="0"/>
              <a:t> </a:t>
            </a:r>
            <a:r>
              <a:rPr lang="en-US" altLang="zh-TW" sz="1400" b="1" u="none" strike="noStrike" dirty="0">
                <a:effectLst/>
              </a:rPr>
              <a:t>+ 0.9</a:t>
            </a:r>
            <a:r>
              <a:rPr lang="zh-TW" altLang="en-US" sz="1400" b="1" u="none" strike="noStrike" dirty="0">
                <a:effectLst/>
              </a:rPr>
              <a:t> </a:t>
            </a:r>
            <a:r>
              <a:rPr lang="en-US" altLang="zh-TW" sz="1400" b="1" u="none" strike="noStrike" dirty="0">
                <a:effectLst/>
              </a:rPr>
              <a:t>x</a:t>
            </a:r>
            <a:r>
              <a:rPr lang="zh-TW" altLang="en-US" sz="1400" b="1" u="none" strike="noStrike" dirty="0">
                <a:effectLst/>
              </a:rPr>
              <a:t> </a:t>
            </a:r>
            <a:endParaRPr lang="en-US" altLang="zh-TW" sz="1400" b="1" u="none" strike="noStrike" dirty="0">
              <a:effectLst/>
            </a:endParaRPr>
          </a:p>
          <a:p>
            <a:pPr algn="ctr">
              <a:lnSpc>
                <a:spcPts val="1400"/>
              </a:lnSpc>
              <a:buNone/>
            </a:pPr>
            <a:endParaRPr lang="en-US" altLang="zh-TW" sz="1400" b="1" dirty="0"/>
          </a:p>
          <a:p>
            <a:pPr algn="ctr">
              <a:lnSpc>
                <a:spcPts val="1400"/>
              </a:lnSpc>
              <a:buNone/>
            </a:pPr>
            <a:endParaRPr lang="en-US" altLang="zh-TW" sz="1200" dirty="0"/>
          </a:p>
        </p:txBody>
      </p:sp>
      <p:sp>
        <p:nvSpPr>
          <p:cNvPr id="94" name="文字方塊 93">
            <a:extLst>
              <a:ext uri="{FF2B5EF4-FFF2-40B4-BE49-F238E27FC236}">
                <a16:creationId xmlns:a16="http://schemas.microsoft.com/office/drawing/2014/main" id="{32F7E401-3DF7-E006-A589-EECCFB9095AE}"/>
              </a:ext>
            </a:extLst>
          </p:cNvPr>
          <p:cNvSpPr txBox="1"/>
          <p:nvPr/>
        </p:nvSpPr>
        <p:spPr>
          <a:xfrm>
            <a:off x="2434003" y="2463423"/>
            <a:ext cx="40357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0.1 x </a:t>
            </a:r>
          </a:p>
        </p:txBody>
      </p:sp>
      <p:sp>
        <p:nvSpPr>
          <p:cNvPr id="5" name="文字方塊 4">
            <a:extLst>
              <a:ext uri="{FF2B5EF4-FFF2-40B4-BE49-F238E27FC236}">
                <a16:creationId xmlns:a16="http://schemas.microsoft.com/office/drawing/2014/main" id="{10173DE3-5F00-B4F7-46E1-11CEA7497299}"/>
              </a:ext>
            </a:extLst>
          </p:cNvPr>
          <p:cNvSpPr txBox="1"/>
          <p:nvPr/>
        </p:nvSpPr>
        <p:spPr>
          <a:xfrm>
            <a:off x="2862665" y="1921964"/>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8</a:t>
            </a:r>
          </a:p>
          <a:p>
            <a:pPr algn="ctr">
              <a:lnSpc>
                <a:spcPts val="1400"/>
              </a:lnSpc>
              <a:buNone/>
            </a:pPr>
            <a:endParaRPr lang="en-US" altLang="zh-TW" sz="1200" dirty="0"/>
          </a:p>
        </p:txBody>
      </p:sp>
      <p:sp>
        <p:nvSpPr>
          <p:cNvPr id="8" name="文字方塊 7">
            <a:extLst>
              <a:ext uri="{FF2B5EF4-FFF2-40B4-BE49-F238E27FC236}">
                <a16:creationId xmlns:a16="http://schemas.microsoft.com/office/drawing/2014/main" id="{BDAE5345-4FEF-8806-2B9A-F6EFAE99D6B2}"/>
              </a:ext>
            </a:extLst>
          </p:cNvPr>
          <p:cNvSpPr txBox="1"/>
          <p:nvPr/>
        </p:nvSpPr>
        <p:spPr>
          <a:xfrm>
            <a:off x="4115099" y="2142158"/>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8 x 200</a:t>
            </a:r>
          </a:p>
          <a:p>
            <a:pPr algn="ctr">
              <a:lnSpc>
                <a:spcPts val="1400"/>
              </a:lnSpc>
              <a:buNone/>
            </a:pPr>
            <a:endParaRPr lang="en-US" altLang="zh-TW" sz="1200" dirty="0"/>
          </a:p>
        </p:txBody>
      </p:sp>
      <p:sp>
        <p:nvSpPr>
          <p:cNvPr id="12" name="文字方塊 11">
            <a:extLst>
              <a:ext uri="{FF2B5EF4-FFF2-40B4-BE49-F238E27FC236}">
                <a16:creationId xmlns:a16="http://schemas.microsoft.com/office/drawing/2014/main" id="{79D5D804-4AE3-B471-BED8-5AE258E2B811}"/>
              </a:ext>
            </a:extLst>
          </p:cNvPr>
          <p:cNvSpPr txBox="1"/>
          <p:nvPr/>
        </p:nvSpPr>
        <p:spPr>
          <a:xfrm>
            <a:off x="1499889" y="3752028"/>
            <a:ext cx="695847" cy="263369"/>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M: 1 x 100</a:t>
            </a:r>
          </a:p>
          <a:p>
            <a:pPr algn="ctr">
              <a:lnSpc>
                <a:spcPts val="1400"/>
              </a:lnSpc>
              <a:buNone/>
            </a:pPr>
            <a:endParaRPr lang="en-US" altLang="zh-TW" sz="1200" dirty="0"/>
          </a:p>
        </p:txBody>
      </p:sp>
      <p:sp>
        <p:nvSpPr>
          <p:cNvPr id="18" name="文字方塊 17">
            <a:extLst>
              <a:ext uri="{FF2B5EF4-FFF2-40B4-BE49-F238E27FC236}">
                <a16:creationId xmlns:a16="http://schemas.microsoft.com/office/drawing/2014/main" id="{C5BB9756-EA36-B027-E7A2-71CE086E3B6A}"/>
              </a:ext>
            </a:extLst>
          </p:cNvPr>
          <p:cNvSpPr txBox="1"/>
          <p:nvPr/>
        </p:nvSpPr>
        <p:spPr>
          <a:xfrm>
            <a:off x="5796094" y="1106603"/>
            <a:ext cx="754022" cy="26336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sp>
        <p:nvSpPr>
          <p:cNvPr id="23" name="文字方塊 22">
            <a:extLst>
              <a:ext uri="{FF2B5EF4-FFF2-40B4-BE49-F238E27FC236}">
                <a16:creationId xmlns:a16="http://schemas.microsoft.com/office/drawing/2014/main" id="{47827DFC-85FE-6F70-3512-7A29995ED83A}"/>
              </a:ext>
            </a:extLst>
          </p:cNvPr>
          <p:cNvSpPr txBox="1"/>
          <p:nvPr/>
        </p:nvSpPr>
        <p:spPr>
          <a:xfrm>
            <a:off x="2339752" y="4296921"/>
            <a:ext cx="1362776" cy="591894"/>
          </a:xfrm>
          <a:prstGeom prst="rect">
            <a:avLst/>
          </a:prstGeom>
          <a:noFill/>
        </p:spPr>
        <p:txBody>
          <a:bodyPr wrap="none" lIns="0" tIns="0" rIns="0" bIns="0" anchor="ctr" anchorCtr="1">
            <a:noAutofit/>
          </a:bodyPr>
          <a:lstStyle/>
          <a:p>
            <a:r>
              <a:rPr lang="en-US" altLang="zh-TW" sz="1200" b="1" dirty="0">
                <a:solidFill>
                  <a:prstClr val="black"/>
                </a:solidFill>
                <a:ea typeface="Cambria Math" panose="02040503050406030204" pitchFamily="18" charset="0"/>
              </a:rPr>
              <a:t>Hadamard Product</a:t>
            </a:r>
            <a:br>
              <a:rPr lang="en-US" altLang="zh-TW" sz="1000" dirty="0">
                <a:solidFill>
                  <a:prstClr val="black"/>
                </a:solidFill>
                <a:ea typeface="Cambria Math" panose="02040503050406030204" pitchFamily="18" charset="0"/>
              </a:rPr>
            </a:br>
            <a:r>
              <a:rPr lang="en-US" altLang="zh-TW" sz="1000" dirty="0">
                <a:solidFill>
                  <a:prstClr val="black"/>
                </a:solidFill>
                <a:ea typeface="Cambria Math" panose="02040503050406030204" pitchFamily="18" charset="0"/>
              </a:rPr>
              <a:t>Element-wise</a:t>
            </a:r>
          </a:p>
          <a:p>
            <a:r>
              <a:rPr lang="en-US" altLang="zh-TW" sz="1000" dirty="0">
                <a:solidFill>
                  <a:prstClr val="black"/>
                </a:solidFill>
                <a:ea typeface="Cambria Math" panose="02040503050406030204" pitchFamily="18" charset="0"/>
              </a:rPr>
              <a:t>Multiplication</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 name="文字方塊 24">
            <a:extLst>
              <a:ext uri="{FF2B5EF4-FFF2-40B4-BE49-F238E27FC236}">
                <a16:creationId xmlns:a16="http://schemas.microsoft.com/office/drawing/2014/main" id="{D1F00872-DD77-6591-7CF4-63B351B612B9}"/>
              </a:ext>
            </a:extLst>
          </p:cNvPr>
          <p:cNvSpPr txBox="1"/>
          <p:nvPr/>
        </p:nvSpPr>
        <p:spPr>
          <a:xfrm>
            <a:off x="4025388" y="4797152"/>
            <a:ext cx="754022" cy="22144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graphicFrame>
        <p:nvGraphicFramePr>
          <p:cNvPr id="29" name="表格 28">
            <a:extLst>
              <a:ext uri="{FF2B5EF4-FFF2-40B4-BE49-F238E27FC236}">
                <a16:creationId xmlns:a16="http://schemas.microsoft.com/office/drawing/2014/main" id="{742C410A-5519-9D60-F89D-F24FCB8B6277}"/>
              </a:ext>
            </a:extLst>
          </p:cNvPr>
          <p:cNvGraphicFramePr>
            <a:graphicFrameLocks noGrp="1"/>
          </p:cNvGraphicFramePr>
          <p:nvPr/>
        </p:nvGraphicFramePr>
        <p:xfrm>
          <a:off x="4139952" y="5483696"/>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32" name="文字方塊 31">
            <a:extLst>
              <a:ext uri="{FF2B5EF4-FFF2-40B4-BE49-F238E27FC236}">
                <a16:creationId xmlns:a16="http://schemas.microsoft.com/office/drawing/2014/main" id="{8F638586-DD0F-7B38-ADEB-148121242354}"/>
              </a:ext>
            </a:extLst>
          </p:cNvPr>
          <p:cNvSpPr txBox="1"/>
          <p:nvPr/>
        </p:nvSpPr>
        <p:spPr>
          <a:xfrm>
            <a:off x="4171872" y="564448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Final</a:t>
            </a:r>
          </a:p>
        </p:txBody>
      </p:sp>
      <p:sp>
        <p:nvSpPr>
          <p:cNvPr id="34" name="文字方塊 33">
            <a:extLst>
              <a:ext uri="{FF2B5EF4-FFF2-40B4-BE49-F238E27FC236}">
                <a16:creationId xmlns:a16="http://schemas.microsoft.com/office/drawing/2014/main" id="{EE495000-44A7-A1D6-AFDB-A89929F61919}"/>
              </a:ext>
            </a:extLst>
          </p:cNvPr>
          <p:cNvSpPr txBox="1"/>
          <p:nvPr/>
        </p:nvSpPr>
        <p:spPr>
          <a:xfrm>
            <a:off x="2981052" y="5481110"/>
            <a:ext cx="678086"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36" name="表格 35">
            <a:extLst>
              <a:ext uri="{FF2B5EF4-FFF2-40B4-BE49-F238E27FC236}">
                <a16:creationId xmlns:a16="http://schemas.microsoft.com/office/drawing/2014/main" id="{D82F859B-7C9B-D910-AF09-635336C66F03}"/>
              </a:ext>
            </a:extLst>
          </p:cNvPr>
          <p:cNvGraphicFramePr>
            <a:graphicFrameLocks noGrp="1"/>
          </p:cNvGraphicFramePr>
          <p:nvPr/>
        </p:nvGraphicFramePr>
        <p:xfrm>
          <a:off x="2693565" y="5727685"/>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39" name="文字方塊 38">
            <a:extLst>
              <a:ext uri="{FF2B5EF4-FFF2-40B4-BE49-F238E27FC236}">
                <a16:creationId xmlns:a16="http://schemas.microsoft.com/office/drawing/2014/main" id="{AE3E24DD-8382-131D-AED4-CD0C90FD0F59}"/>
              </a:ext>
            </a:extLst>
          </p:cNvPr>
          <p:cNvSpPr txBox="1"/>
          <p:nvPr/>
        </p:nvSpPr>
        <p:spPr>
          <a:xfrm>
            <a:off x="3989709" y="566908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1" name="文字方塊 40">
            <a:extLst>
              <a:ext uri="{FF2B5EF4-FFF2-40B4-BE49-F238E27FC236}">
                <a16:creationId xmlns:a16="http://schemas.microsoft.com/office/drawing/2014/main" id="{38235047-EB09-64DA-E23A-B7F18CD8C13D}"/>
              </a:ext>
            </a:extLst>
          </p:cNvPr>
          <p:cNvSpPr txBox="1"/>
          <p:nvPr/>
        </p:nvSpPr>
        <p:spPr>
          <a:xfrm>
            <a:off x="5219948" y="5405912"/>
            <a:ext cx="648072"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43" name="表格 42">
            <a:extLst>
              <a:ext uri="{FF2B5EF4-FFF2-40B4-BE49-F238E27FC236}">
                <a16:creationId xmlns:a16="http://schemas.microsoft.com/office/drawing/2014/main" id="{911C3EE7-A426-ADFD-A68E-92DF32F50371}"/>
              </a:ext>
            </a:extLst>
          </p:cNvPr>
          <p:cNvGraphicFramePr>
            <a:graphicFrameLocks noGrp="1"/>
          </p:cNvGraphicFramePr>
          <p:nvPr/>
        </p:nvGraphicFramePr>
        <p:xfrm>
          <a:off x="4991058" y="5696581"/>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45" name="文字方塊 44">
            <a:extLst>
              <a:ext uri="{FF2B5EF4-FFF2-40B4-BE49-F238E27FC236}">
                <a16:creationId xmlns:a16="http://schemas.microsoft.com/office/drawing/2014/main" id="{DCA76E16-589B-9769-DD1E-F10E8D3A2835}"/>
              </a:ext>
            </a:extLst>
          </p:cNvPr>
          <p:cNvSpPr txBox="1"/>
          <p:nvPr/>
        </p:nvSpPr>
        <p:spPr>
          <a:xfrm>
            <a:off x="4699836" y="5647675"/>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7" name="矩形: 圓角 46">
            <a:extLst>
              <a:ext uri="{FF2B5EF4-FFF2-40B4-BE49-F238E27FC236}">
                <a16:creationId xmlns:a16="http://schemas.microsoft.com/office/drawing/2014/main" id="{60CCA852-9376-3C28-913E-AAC8857E093D}"/>
              </a:ext>
            </a:extLst>
          </p:cNvPr>
          <p:cNvSpPr/>
          <p:nvPr/>
        </p:nvSpPr>
        <p:spPr>
          <a:xfrm>
            <a:off x="971600" y="4010908"/>
            <a:ext cx="1726706" cy="263368"/>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
        <p:nvSpPr>
          <p:cNvPr id="49" name="矩形: 圓角 48">
            <a:extLst>
              <a:ext uri="{FF2B5EF4-FFF2-40B4-BE49-F238E27FC236}">
                <a16:creationId xmlns:a16="http://schemas.microsoft.com/office/drawing/2014/main" id="{7A2721A8-CA55-88EE-ED72-26D429AD1942}"/>
              </a:ext>
            </a:extLst>
          </p:cNvPr>
          <p:cNvSpPr/>
          <p:nvPr/>
        </p:nvSpPr>
        <p:spPr>
          <a:xfrm>
            <a:off x="3710889" y="3379160"/>
            <a:ext cx="652867" cy="704664"/>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
        <p:nvSpPr>
          <p:cNvPr id="6" name="文字方塊 5">
            <a:extLst>
              <a:ext uri="{FF2B5EF4-FFF2-40B4-BE49-F238E27FC236}">
                <a16:creationId xmlns:a16="http://schemas.microsoft.com/office/drawing/2014/main" id="{1AC6279B-7C82-7076-50F0-8DCC108C2EF4}"/>
              </a:ext>
            </a:extLst>
          </p:cNvPr>
          <p:cNvSpPr txBox="1"/>
          <p:nvPr/>
        </p:nvSpPr>
        <p:spPr>
          <a:xfrm>
            <a:off x="2954502" y="2473024"/>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A</a:t>
            </a:r>
            <a:endParaRPr lang="en-US" altLang="zh-TW" sz="1400" b="1" u="none" strike="noStrike" baseline="-25000" dirty="0">
              <a:effectLst/>
            </a:endParaRPr>
          </a:p>
        </p:txBody>
      </p:sp>
      <p:sp>
        <p:nvSpPr>
          <p:cNvPr id="17" name="文字方塊 16">
            <a:extLst>
              <a:ext uri="{FF2B5EF4-FFF2-40B4-BE49-F238E27FC236}">
                <a16:creationId xmlns:a16="http://schemas.microsoft.com/office/drawing/2014/main" id="{7D5FD221-D39C-00C4-4B77-1B45AF5D91EC}"/>
              </a:ext>
            </a:extLst>
          </p:cNvPr>
          <p:cNvSpPr txBox="1"/>
          <p:nvPr/>
        </p:nvSpPr>
        <p:spPr>
          <a:xfrm>
            <a:off x="4192223" y="2454603"/>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B</a:t>
            </a:r>
            <a:endParaRPr lang="en-US" altLang="zh-TW" sz="1400" b="1" u="none" strike="noStrike" baseline="-25000" dirty="0">
              <a:effectLst/>
            </a:endParaRPr>
          </a:p>
        </p:txBody>
      </p:sp>
      <p:sp>
        <p:nvSpPr>
          <p:cNvPr id="96" name="右大括弧 95">
            <a:extLst>
              <a:ext uri="{FF2B5EF4-FFF2-40B4-BE49-F238E27FC236}">
                <a16:creationId xmlns:a16="http://schemas.microsoft.com/office/drawing/2014/main" id="{09FEF152-97B2-87C8-447A-FE52110300CB}"/>
              </a:ext>
            </a:extLst>
          </p:cNvPr>
          <p:cNvSpPr/>
          <p:nvPr/>
        </p:nvSpPr>
        <p:spPr>
          <a:xfrm rot="5400000">
            <a:off x="4216932" y="4321960"/>
            <a:ext cx="370934" cy="2163625"/>
          </a:xfrm>
          <a:prstGeom prst="rightBrace">
            <a:avLst>
              <a:gd name="adj1" fmla="val 19145"/>
              <a:gd name="adj2" fmla="val 50440"/>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Tree>
    <p:extLst>
      <p:ext uri="{BB962C8B-B14F-4D97-AF65-F5344CB8AC3E}">
        <p14:creationId xmlns:p14="http://schemas.microsoft.com/office/powerpoint/2010/main" val="25475845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FE66-60E4-CAE7-B48E-D43A9C24AF4C}"/>
            </a:ext>
          </a:extLst>
        </p:cNvPr>
        <p:cNvGrpSpPr/>
        <p:nvPr/>
      </p:nvGrpSpPr>
      <p:grpSpPr>
        <a:xfrm>
          <a:off x="0" y="0"/>
          <a:ext cx="0" cy="0"/>
          <a:chOff x="0" y="0"/>
          <a:chExt cx="0" cy="0"/>
        </a:xfrm>
      </p:grpSpPr>
      <p:sp>
        <p:nvSpPr>
          <p:cNvPr id="210" name="矩形: 圓角 209">
            <a:extLst>
              <a:ext uri="{FF2B5EF4-FFF2-40B4-BE49-F238E27FC236}">
                <a16:creationId xmlns:a16="http://schemas.microsoft.com/office/drawing/2014/main" id="{8152BEA7-2384-6EDC-C5EE-8FA83875660D}"/>
              </a:ext>
            </a:extLst>
          </p:cNvPr>
          <p:cNvSpPr/>
          <p:nvPr/>
        </p:nvSpPr>
        <p:spPr>
          <a:xfrm>
            <a:off x="3780194" y="1910381"/>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54" name="矩形 453">
            <a:extLst>
              <a:ext uri="{FF2B5EF4-FFF2-40B4-BE49-F238E27FC236}">
                <a16:creationId xmlns:a16="http://schemas.microsoft.com/office/drawing/2014/main" id="{05AFD648-1F4F-AE9D-EF01-0F282686B55C}"/>
              </a:ext>
            </a:extLst>
          </p:cNvPr>
          <p:cNvSpPr/>
          <p:nvPr/>
        </p:nvSpPr>
        <p:spPr>
          <a:xfrm>
            <a:off x="8244408" y="2883915"/>
            <a:ext cx="648072" cy="1041669"/>
          </a:xfrm>
          <a:prstGeom prst="rect">
            <a:avLst/>
          </a:prstGeom>
          <a:solidFill>
            <a:schemeClr val="bg1">
              <a:lumMod val="95000"/>
            </a:schemeClr>
          </a:solidFill>
          <a:ln w="19050">
            <a:solidFill>
              <a:schemeClr val="bg2">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5" name="矩形 444">
            <a:extLst>
              <a:ext uri="{FF2B5EF4-FFF2-40B4-BE49-F238E27FC236}">
                <a16:creationId xmlns:a16="http://schemas.microsoft.com/office/drawing/2014/main" id="{F4F43444-68EC-669F-9DC6-881E853A6805}"/>
              </a:ext>
            </a:extLst>
          </p:cNvPr>
          <p:cNvSpPr/>
          <p:nvPr/>
        </p:nvSpPr>
        <p:spPr>
          <a:xfrm>
            <a:off x="8367367" y="2883915"/>
            <a:ext cx="241412" cy="1041669"/>
          </a:xfrm>
          <a:prstGeom prst="rect">
            <a:avLst/>
          </a:prstGeom>
          <a:solidFill>
            <a:schemeClr val="bg2">
              <a:lumMod val="90000"/>
              <a:alpha val="40000"/>
            </a:schemeClr>
          </a:solidFill>
          <a:ln w="1905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chemeClr val="tx1"/>
                </a:solidFill>
                <a:ea typeface="ADLaM Display" panose="02010000000000000000" pitchFamily="2" charset="0"/>
                <a:cs typeface="ADLaM Display" panose="02010000000000000000" pitchFamily="2" charset="0"/>
              </a:rPr>
              <a:t>VC</a:t>
            </a:r>
          </a:p>
          <a:p>
            <a:pPr algn="ctr">
              <a:lnSpc>
                <a:spcPts val="1000"/>
              </a:lnSpc>
            </a:pPr>
            <a:r>
              <a:rPr lang="en-US" altLang="zh-TW" sz="1000" dirty="0">
                <a:solidFill>
                  <a:schemeClr val="tx1"/>
                </a:solidFill>
                <a:ea typeface="ADLaM Display" panose="02010000000000000000" pitchFamily="2" charset="0"/>
                <a:cs typeface="ADLaM Display" panose="02010000000000000000" pitchFamily="2" charset="0"/>
              </a:rPr>
              <a:t>PLE</a:t>
            </a:r>
          </a:p>
          <a:p>
            <a:pPr algn="ctr">
              <a:lnSpc>
                <a:spcPts val="1000"/>
              </a:lnSpc>
            </a:pPr>
            <a:endParaRPr lang="en-US" altLang="zh-TW" sz="1000" dirty="0">
              <a:solidFill>
                <a:schemeClr val="tx1"/>
              </a:solidFill>
              <a:ea typeface="ADLaM Display" panose="02010000000000000000" pitchFamily="2" charset="0"/>
              <a:cs typeface="ADLaM Display" panose="02010000000000000000" pitchFamily="2" charset="0"/>
            </a:endParaRPr>
          </a:p>
        </p:txBody>
      </p:sp>
      <p:sp>
        <p:nvSpPr>
          <p:cNvPr id="170" name="矩形: 圓角 169">
            <a:extLst>
              <a:ext uri="{FF2B5EF4-FFF2-40B4-BE49-F238E27FC236}">
                <a16:creationId xmlns:a16="http://schemas.microsoft.com/office/drawing/2014/main" id="{BE19256F-39DD-757C-6459-C5C27369D12B}"/>
              </a:ext>
            </a:extLst>
          </p:cNvPr>
          <p:cNvSpPr/>
          <p:nvPr/>
        </p:nvSpPr>
        <p:spPr>
          <a:xfrm>
            <a:off x="2123728"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172" name="矩形: 圓角 171">
            <a:extLst>
              <a:ext uri="{FF2B5EF4-FFF2-40B4-BE49-F238E27FC236}">
                <a16:creationId xmlns:a16="http://schemas.microsoft.com/office/drawing/2014/main" id="{E4FBE54E-BF70-627C-7E2E-725B760BEB6D}"/>
              </a:ext>
            </a:extLst>
          </p:cNvPr>
          <p:cNvSpPr/>
          <p:nvPr/>
        </p:nvSpPr>
        <p:spPr>
          <a:xfrm>
            <a:off x="467544"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29" name="矩形: 圓角 228">
            <a:extLst>
              <a:ext uri="{FF2B5EF4-FFF2-40B4-BE49-F238E27FC236}">
                <a16:creationId xmlns:a16="http://schemas.microsoft.com/office/drawing/2014/main" id="{8F1B5488-7BCE-8EA6-44BE-77F3FE5C352E}"/>
              </a:ext>
            </a:extLst>
          </p:cNvPr>
          <p:cNvSpPr/>
          <p:nvPr/>
        </p:nvSpPr>
        <p:spPr>
          <a:xfrm>
            <a:off x="3779912"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 name="矩形: 圓角 1">
            <a:extLst>
              <a:ext uri="{FF2B5EF4-FFF2-40B4-BE49-F238E27FC236}">
                <a16:creationId xmlns:a16="http://schemas.microsoft.com/office/drawing/2014/main" id="{63207710-985C-7A28-4056-2FA6713D85CB}"/>
              </a:ext>
            </a:extLst>
          </p:cNvPr>
          <p:cNvSpPr/>
          <p:nvPr/>
        </p:nvSpPr>
        <p:spPr>
          <a:xfrm>
            <a:off x="467826"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 name="文字方塊 3">
            <a:extLst>
              <a:ext uri="{FF2B5EF4-FFF2-40B4-BE49-F238E27FC236}">
                <a16:creationId xmlns:a16="http://schemas.microsoft.com/office/drawing/2014/main" id="{F70EDC75-7385-5F95-B4BA-97F9859B8A9F}"/>
              </a:ext>
            </a:extLst>
          </p:cNvPr>
          <p:cNvSpPr txBox="1"/>
          <p:nvPr/>
        </p:nvSpPr>
        <p:spPr>
          <a:xfrm>
            <a:off x="535220" y="2002309"/>
            <a:ext cx="1086557"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5" name="文字方塊 4">
            <a:extLst>
              <a:ext uri="{FF2B5EF4-FFF2-40B4-BE49-F238E27FC236}">
                <a16:creationId xmlns:a16="http://schemas.microsoft.com/office/drawing/2014/main" id="{5587727A-BDEF-F32C-B3C5-7C3AB14BD1E5}"/>
              </a:ext>
            </a:extLst>
          </p:cNvPr>
          <p:cNvSpPr txBox="1"/>
          <p:nvPr/>
        </p:nvSpPr>
        <p:spPr>
          <a:xfrm>
            <a:off x="535220" y="3781568"/>
            <a:ext cx="1086557" cy="824652"/>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7" name="直線單箭頭接點 6">
            <a:extLst>
              <a:ext uri="{FF2B5EF4-FFF2-40B4-BE49-F238E27FC236}">
                <a16:creationId xmlns:a16="http://schemas.microsoft.com/office/drawing/2014/main" id="{EB078010-CFFF-9CD7-52C0-BC77FCB4C98B}"/>
              </a:ext>
            </a:extLst>
          </p:cNvPr>
          <p:cNvCxnSpPr>
            <a:cxnSpLocks/>
            <a:endCxn id="179" idx="2"/>
          </p:cNvCxnSpPr>
          <p:nvPr/>
        </p:nvCxnSpPr>
        <p:spPr>
          <a:xfrm flipH="1" flipV="1">
            <a:off x="1075281" y="4501648"/>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6" name="標題 1">
            <a:extLst>
              <a:ext uri="{FF2B5EF4-FFF2-40B4-BE49-F238E27FC236}">
                <a16:creationId xmlns:a16="http://schemas.microsoft.com/office/drawing/2014/main" id="{6437C88A-0580-6462-84EA-7D74708B04ED}"/>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Gemma 4:</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 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er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ayer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E</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mbeddings</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PLE is a soft-gated, lightweight MoE variant that dynamically activates layer-wise token embeddings.</a:t>
            </a:r>
          </a:p>
        </p:txBody>
      </p:sp>
      <p:sp>
        <p:nvSpPr>
          <p:cNvPr id="19" name="矩形: 圓角 18">
            <a:extLst>
              <a:ext uri="{FF2B5EF4-FFF2-40B4-BE49-F238E27FC236}">
                <a16:creationId xmlns:a16="http://schemas.microsoft.com/office/drawing/2014/main" id="{7D10604D-7C92-2E3B-35EC-F4C7CB2B62D2}"/>
              </a:ext>
            </a:extLst>
          </p:cNvPr>
          <p:cNvSpPr/>
          <p:nvPr/>
        </p:nvSpPr>
        <p:spPr>
          <a:xfrm>
            <a:off x="2123728"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0" name="文字方塊 19">
            <a:extLst>
              <a:ext uri="{FF2B5EF4-FFF2-40B4-BE49-F238E27FC236}">
                <a16:creationId xmlns:a16="http://schemas.microsoft.com/office/drawing/2014/main" id="{E6E0CA71-1BC7-E4CA-433F-7736D51728A0}"/>
              </a:ext>
            </a:extLst>
          </p:cNvPr>
          <p:cNvSpPr txBox="1"/>
          <p:nvPr/>
        </p:nvSpPr>
        <p:spPr>
          <a:xfrm>
            <a:off x="2200023"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1" name="文字方塊 20">
            <a:extLst>
              <a:ext uri="{FF2B5EF4-FFF2-40B4-BE49-F238E27FC236}">
                <a16:creationId xmlns:a16="http://schemas.microsoft.com/office/drawing/2014/main" id="{869BCEB1-E0B0-B90E-2045-1A27BA4B3F18}"/>
              </a:ext>
            </a:extLst>
          </p:cNvPr>
          <p:cNvSpPr txBox="1"/>
          <p:nvPr/>
        </p:nvSpPr>
        <p:spPr>
          <a:xfrm>
            <a:off x="2195735" y="3781568"/>
            <a:ext cx="1086557"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23" name="直線單箭頭接點 22">
            <a:extLst>
              <a:ext uri="{FF2B5EF4-FFF2-40B4-BE49-F238E27FC236}">
                <a16:creationId xmlns:a16="http://schemas.microsoft.com/office/drawing/2014/main" id="{A6DD51A0-4E9D-53D5-774B-7FB0D7B40776}"/>
              </a:ext>
            </a:extLst>
          </p:cNvPr>
          <p:cNvCxnSpPr>
            <a:cxnSpLocks/>
            <a:stCxn id="176" idx="0"/>
            <a:endCxn id="177" idx="2"/>
          </p:cNvCxnSpPr>
          <p:nvPr/>
        </p:nvCxnSpPr>
        <p:spPr>
          <a:xfrm flipH="1" flipV="1">
            <a:off x="2726271" y="4501648"/>
            <a:ext cx="2070" cy="25505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14" name="矩形: 圓角 113">
            <a:extLst>
              <a:ext uri="{FF2B5EF4-FFF2-40B4-BE49-F238E27FC236}">
                <a16:creationId xmlns:a16="http://schemas.microsoft.com/office/drawing/2014/main" id="{EEB91617-C124-5DE4-BE19-2CEB48DC1241}"/>
              </a:ext>
            </a:extLst>
          </p:cNvPr>
          <p:cNvSpPr/>
          <p:nvPr/>
        </p:nvSpPr>
        <p:spPr>
          <a:xfrm>
            <a:off x="2123728"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sp>
        <p:nvSpPr>
          <p:cNvPr id="116" name="矩形: 圓角 115">
            <a:extLst>
              <a:ext uri="{FF2B5EF4-FFF2-40B4-BE49-F238E27FC236}">
                <a16:creationId xmlns:a16="http://schemas.microsoft.com/office/drawing/2014/main" id="{880A86E0-5A57-1AAC-19B8-36E088E57F41}"/>
              </a:ext>
            </a:extLst>
          </p:cNvPr>
          <p:cNvSpPr/>
          <p:nvPr/>
        </p:nvSpPr>
        <p:spPr>
          <a:xfrm>
            <a:off x="467544"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17" name="直線單箭頭接點 116">
            <a:extLst>
              <a:ext uri="{FF2B5EF4-FFF2-40B4-BE49-F238E27FC236}">
                <a16:creationId xmlns:a16="http://schemas.microsoft.com/office/drawing/2014/main" id="{85BE5E5C-28BB-97A1-01B2-6768AAA67AEF}"/>
              </a:ext>
            </a:extLst>
          </p:cNvPr>
          <p:cNvCxnSpPr>
            <a:cxnSpLocks/>
            <a:stCxn id="2" idx="0"/>
            <a:endCxn id="116" idx="2"/>
          </p:cNvCxnSpPr>
          <p:nvPr/>
        </p:nvCxnSpPr>
        <p:spPr>
          <a:xfrm flipH="1" flipV="1">
            <a:off x="1077305"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20" name="直線單箭頭接點 119">
            <a:extLst>
              <a:ext uri="{FF2B5EF4-FFF2-40B4-BE49-F238E27FC236}">
                <a16:creationId xmlns:a16="http://schemas.microsoft.com/office/drawing/2014/main" id="{B696DE89-8A26-544F-3D66-7094163C735B}"/>
              </a:ext>
            </a:extLst>
          </p:cNvPr>
          <p:cNvCxnSpPr>
            <a:cxnSpLocks/>
            <a:stCxn id="19" idx="0"/>
            <a:endCxn id="114" idx="2"/>
          </p:cNvCxnSpPr>
          <p:nvPr/>
        </p:nvCxnSpPr>
        <p:spPr>
          <a:xfrm flipV="1">
            <a:off x="2733489" y="1750550"/>
            <a:ext cx="0"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29" name="文字方塊 128">
            <a:extLst>
              <a:ext uri="{FF2B5EF4-FFF2-40B4-BE49-F238E27FC236}">
                <a16:creationId xmlns:a16="http://schemas.microsoft.com/office/drawing/2014/main" id="{5E0CAF59-BBBF-C06E-BFAB-579759835897}"/>
              </a:ext>
            </a:extLst>
          </p:cNvPr>
          <p:cNvSpPr txBox="1"/>
          <p:nvPr/>
        </p:nvSpPr>
        <p:spPr>
          <a:xfrm>
            <a:off x="248805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38" name="文字方塊 137">
            <a:extLst>
              <a:ext uri="{FF2B5EF4-FFF2-40B4-BE49-F238E27FC236}">
                <a16:creationId xmlns:a16="http://schemas.microsoft.com/office/drawing/2014/main" id="{8F514093-6F77-65BB-A2D2-6043D3519CE7}"/>
              </a:ext>
            </a:extLst>
          </p:cNvPr>
          <p:cNvSpPr txBox="1"/>
          <p:nvPr/>
        </p:nvSpPr>
        <p:spPr>
          <a:xfrm>
            <a:off x="2787962"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0" name="文字方塊 139">
            <a:extLst>
              <a:ext uri="{FF2B5EF4-FFF2-40B4-BE49-F238E27FC236}">
                <a16:creationId xmlns:a16="http://schemas.microsoft.com/office/drawing/2014/main" id="{ECA51B2A-2ABF-6E33-0457-6751CBACF99B}"/>
              </a:ext>
            </a:extLst>
          </p:cNvPr>
          <p:cNvSpPr txBox="1"/>
          <p:nvPr/>
        </p:nvSpPr>
        <p:spPr>
          <a:xfrm>
            <a:off x="307459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2" name="文字方塊 141">
            <a:extLst>
              <a:ext uri="{FF2B5EF4-FFF2-40B4-BE49-F238E27FC236}">
                <a16:creationId xmlns:a16="http://schemas.microsoft.com/office/drawing/2014/main" id="{744B4012-ACB2-0F3C-758F-4D04EBA7F1FE}"/>
              </a:ext>
            </a:extLst>
          </p:cNvPr>
          <p:cNvSpPr txBox="1"/>
          <p:nvPr/>
        </p:nvSpPr>
        <p:spPr>
          <a:xfrm>
            <a:off x="2195736"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4" name="文字方塊 143">
            <a:extLst>
              <a:ext uri="{FF2B5EF4-FFF2-40B4-BE49-F238E27FC236}">
                <a16:creationId xmlns:a16="http://schemas.microsoft.com/office/drawing/2014/main" id="{6AE005A0-05D7-773E-285E-3FCA95F33F2D}"/>
              </a:ext>
            </a:extLst>
          </p:cNvPr>
          <p:cNvSpPr txBox="1"/>
          <p:nvPr/>
        </p:nvSpPr>
        <p:spPr>
          <a:xfrm>
            <a:off x="2483768" y="2350933"/>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6" name="文字方塊 145">
            <a:extLst>
              <a:ext uri="{FF2B5EF4-FFF2-40B4-BE49-F238E27FC236}">
                <a16:creationId xmlns:a16="http://schemas.microsoft.com/office/drawing/2014/main" id="{4051D90B-7D0B-401F-7F76-104C3902FCE5}"/>
              </a:ext>
            </a:extLst>
          </p:cNvPr>
          <p:cNvSpPr txBox="1"/>
          <p:nvPr/>
        </p:nvSpPr>
        <p:spPr>
          <a:xfrm>
            <a:off x="278367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8" name="文字方塊 147">
            <a:extLst>
              <a:ext uri="{FF2B5EF4-FFF2-40B4-BE49-F238E27FC236}">
                <a16:creationId xmlns:a16="http://schemas.microsoft.com/office/drawing/2014/main" id="{BF64FCE1-31A2-A9B7-C357-917B8D840233}"/>
              </a:ext>
            </a:extLst>
          </p:cNvPr>
          <p:cNvSpPr txBox="1"/>
          <p:nvPr/>
        </p:nvSpPr>
        <p:spPr>
          <a:xfrm>
            <a:off x="307459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0" name="文字方塊 149">
            <a:extLst>
              <a:ext uri="{FF2B5EF4-FFF2-40B4-BE49-F238E27FC236}">
                <a16:creationId xmlns:a16="http://schemas.microsoft.com/office/drawing/2014/main" id="{414B2865-C3D6-34B0-B1AB-48FB701BAEE5}"/>
              </a:ext>
            </a:extLst>
          </p:cNvPr>
          <p:cNvSpPr txBox="1"/>
          <p:nvPr/>
        </p:nvSpPr>
        <p:spPr>
          <a:xfrm>
            <a:off x="2199071"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2" name="文字方塊 151">
            <a:extLst>
              <a:ext uri="{FF2B5EF4-FFF2-40B4-BE49-F238E27FC236}">
                <a16:creationId xmlns:a16="http://schemas.microsoft.com/office/drawing/2014/main" id="{C36BF9ED-BB06-85E2-9031-050919357D81}"/>
              </a:ext>
            </a:extLst>
          </p:cNvPr>
          <p:cNvSpPr txBox="1"/>
          <p:nvPr/>
        </p:nvSpPr>
        <p:spPr>
          <a:xfrm>
            <a:off x="248710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4" name="文字方塊 153">
            <a:extLst>
              <a:ext uri="{FF2B5EF4-FFF2-40B4-BE49-F238E27FC236}">
                <a16:creationId xmlns:a16="http://schemas.microsoft.com/office/drawing/2014/main" id="{689A7308-C46C-A590-0867-D7C276AD8556}"/>
              </a:ext>
            </a:extLst>
          </p:cNvPr>
          <p:cNvSpPr txBox="1"/>
          <p:nvPr/>
        </p:nvSpPr>
        <p:spPr>
          <a:xfrm>
            <a:off x="2787010"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6" name="文字方塊 155">
            <a:extLst>
              <a:ext uri="{FF2B5EF4-FFF2-40B4-BE49-F238E27FC236}">
                <a16:creationId xmlns:a16="http://schemas.microsoft.com/office/drawing/2014/main" id="{439DE49D-B3C9-076B-1306-62B820CCC6AA}"/>
              </a:ext>
            </a:extLst>
          </p:cNvPr>
          <p:cNvSpPr txBox="1"/>
          <p:nvPr/>
        </p:nvSpPr>
        <p:spPr>
          <a:xfrm>
            <a:off x="307364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8" name="文字方塊 157">
            <a:extLst>
              <a:ext uri="{FF2B5EF4-FFF2-40B4-BE49-F238E27FC236}">
                <a16:creationId xmlns:a16="http://schemas.microsoft.com/office/drawing/2014/main" id="{3F814F05-AF87-78FB-274A-CB46919FC54B}"/>
              </a:ext>
            </a:extLst>
          </p:cNvPr>
          <p:cNvSpPr txBox="1"/>
          <p:nvPr/>
        </p:nvSpPr>
        <p:spPr>
          <a:xfrm>
            <a:off x="2194784"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0" name="文字方塊 159">
            <a:extLst>
              <a:ext uri="{FF2B5EF4-FFF2-40B4-BE49-F238E27FC236}">
                <a16:creationId xmlns:a16="http://schemas.microsoft.com/office/drawing/2014/main" id="{86604D7E-3B80-431C-B51D-7F28A1DC59B6}"/>
              </a:ext>
            </a:extLst>
          </p:cNvPr>
          <p:cNvSpPr txBox="1"/>
          <p:nvPr/>
        </p:nvSpPr>
        <p:spPr>
          <a:xfrm>
            <a:off x="2482816"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2" name="文字方塊 161">
            <a:extLst>
              <a:ext uri="{FF2B5EF4-FFF2-40B4-BE49-F238E27FC236}">
                <a16:creationId xmlns:a16="http://schemas.microsoft.com/office/drawing/2014/main" id="{99CA2173-A9DE-DD28-3E1F-D8D274448690}"/>
              </a:ext>
            </a:extLst>
          </p:cNvPr>
          <p:cNvSpPr txBox="1"/>
          <p:nvPr/>
        </p:nvSpPr>
        <p:spPr>
          <a:xfrm>
            <a:off x="2782723" y="2917472"/>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4" name="文字方塊 163">
            <a:extLst>
              <a:ext uri="{FF2B5EF4-FFF2-40B4-BE49-F238E27FC236}">
                <a16:creationId xmlns:a16="http://schemas.microsoft.com/office/drawing/2014/main" id="{DD71B362-A01D-EBB9-D617-94917BA6CDEC}"/>
              </a:ext>
            </a:extLst>
          </p:cNvPr>
          <p:cNvSpPr txBox="1"/>
          <p:nvPr/>
        </p:nvSpPr>
        <p:spPr>
          <a:xfrm>
            <a:off x="3073643"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8" name="矩形 167">
            <a:extLst>
              <a:ext uri="{FF2B5EF4-FFF2-40B4-BE49-F238E27FC236}">
                <a16:creationId xmlns:a16="http://schemas.microsoft.com/office/drawing/2014/main" id="{4984473E-2D74-7C5F-7523-1066200E0569}"/>
              </a:ext>
            </a:extLst>
          </p:cNvPr>
          <p:cNvSpPr/>
          <p:nvPr/>
        </p:nvSpPr>
        <p:spPr>
          <a:xfrm>
            <a:off x="607229"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6" name="矩形 175">
            <a:extLst>
              <a:ext uri="{FF2B5EF4-FFF2-40B4-BE49-F238E27FC236}">
                <a16:creationId xmlns:a16="http://schemas.microsoft.com/office/drawing/2014/main" id="{ACB06678-7FB7-4292-ABE6-B489A21D9B47}"/>
              </a:ext>
            </a:extLst>
          </p:cNvPr>
          <p:cNvSpPr/>
          <p:nvPr/>
        </p:nvSpPr>
        <p:spPr>
          <a:xfrm>
            <a:off x="2476313" y="4756705"/>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7" name="矩形: 圓角 176">
            <a:extLst>
              <a:ext uri="{FF2B5EF4-FFF2-40B4-BE49-F238E27FC236}">
                <a16:creationId xmlns:a16="http://schemas.microsoft.com/office/drawing/2014/main" id="{DA06AFCC-47AC-D0E2-83E9-2D3F7A51BC37}"/>
              </a:ext>
            </a:extLst>
          </p:cNvPr>
          <p:cNvSpPr/>
          <p:nvPr/>
        </p:nvSpPr>
        <p:spPr>
          <a:xfrm>
            <a:off x="2474243" y="4069600"/>
            <a:ext cx="504056"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2048</a:t>
            </a:r>
          </a:p>
        </p:txBody>
      </p:sp>
      <p:sp>
        <p:nvSpPr>
          <p:cNvPr id="179" name="矩形: 圓角 178">
            <a:extLst>
              <a:ext uri="{FF2B5EF4-FFF2-40B4-BE49-F238E27FC236}">
                <a16:creationId xmlns:a16="http://schemas.microsoft.com/office/drawing/2014/main" id="{EC117753-EFAC-91F3-0AE6-4EB0623CBA38}"/>
              </a:ext>
            </a:extLst>
          </p:cNvPr>
          <p:cNvSpPr/>
          <p:nvPr/>
        </p:nvSpPr>
        <p:spPr>
          <a:xfrm>
            <a:off x="607229" y="4069600"/>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8192</a:t>
            </a:r>
          </a:p>
        </p:txBody>
      </p:sp>
      <p:sp>
        <p:nvSpPr>
          <p:cNvPr id="181" name="矩形: 圓角 180">
            <a:extLst>
              <a:ext uri="{FF2B5EF4-FFF2-40B4-BE49-F238E27FC236}">
                <a16:creationId xmlns:a16="http://schemas.microsoft.com/office/drawing/2014/main" id="{1C7D8B6E-9018-D3B0-9050-78C4C703439B}"/>
              </a:ext>
            </a:extLst>
          </p:cNvPr>
          <p:cNvSpPr/>
          <p:nvPr/>
        </p:nvSpPr>
        <p:spPr>
          <a:xfrm>
            <a:off x="607229" y="2472158"/>
            <a:ext cx="936104" cy="1093386"/>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11" name="文字方塊 210">
            <a:extLst>
              <a:ext uri="{FF2B5EF4-FFF2-40B4-BE49-F238E27FC236}">
                <a16:creationId xmlns:a16="http://schemas.microsoft.com/office/drawing/2014/main" id="{E8BBC1BD-B857-3E87-A92C-9AD7F8FD3FDD}"/>
              </a:ext>
            </a:extLst>
          </p:cNvPr>
          <p:cNvSpPr txBox="1"/>
          <p:nvPr/>
        </p:nvSpPr>
        <p:spPr>
          <a:xfrm>
            <a:off x="3851920" y="1990064"/>
            <a:ext cx="754719"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12" name="文字方塊 211">
            <a:extLst>
              <a:ext uri="{FF2B5EF4-FFF2-40B4-BE49-F238E27FC236}">
                <a16:creationId xmlns:a16="http://schemas.microsoft.com/office/drawing/2014/main" id="{8BCA93BD-0565-5A58-CC44-CB484CF1AC63}"/>
              </a:ext>
            </a:extLst>
          </p:cNvPr>
          <p:cNvSpPr txBox="1"/>
          <p:nvPr/>
        </p:nvSpPr>
        <p:spPr>
          <a:xfrm>
            <a:off x="3851921" y="3769323"/>
            <a:ext cx="755000"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sp>
        <p:nvSpPr>
          <p:cNvPr id="214" name="矩形: 圓角 213">
            <a:extLst>
              <a:ext uri="{FF2B5EF4-FFF2-40B4-BE49-F238E27FC236}">
                <a16:creationId xmlns:a16="http://schemas.microsoft.com/office/drawing/2014/main" id="{B8497F08-95D0-F2C5-894C-7C8B7701641F}"/>
              </a:ext>
            </a:extLst>
          </p:cNvPr>
          <p:cNvSpPr/>
          <p:nvPr/>
        </p:nvSpPr>
        <p:spPr>
          <a:xfrm>
            <a:off x="3779912" y="1393059"/>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215" name="直線單箭頭接點 214">
            <a:extLst>
              <a:ext uri="{FF2B5EF4-FFF2-40B4-BE49-F238E27FC236}">
                <a16:creationId xmlns:a16="http://schemas.microsoft.com/office/drawing/2014/main" id="{28BE8337-43EE-0003-F107-E86F662BD722}"/>
              </a:ext>
            </a:extLst>
          </p:cNvPr>
          <p:cNvCxnSpPr>
            <a:cxnSpLocks/>
            <a:stCxn id="210" idx="0"/>
            <a:endCxn id="214" idx="2"/>
          </p:cNvCxnSpPr>
          <p:nvPr/>
        </p:nvCxnSpPr>
        <p:spPr>
          <a:xfrm flipH="1" flipV="1">
            <a:off x="4389673" y="1738305"/>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218" name="矩形: 圓角 217">
            <a:extLst>
              <a:ext uri="{FF2B5EF4-FFF2-40B4-BE49-F238E27FC236}">
                <a16:creationId xmlns:a16="http://schemas.microsoft.com/office/drawing/2014/main" id="{B1EC08CE-E011-D4FD-3B57-E460890E997B}"/>
              </a:ext>
            </a:extLst>
          </p:cNvPr>
          <p:cNvSpPr/>
          <p:nvPr/>
        </p:nvSpPr>
        <p:spPr>
          <a:xfrm>
            <a:off x="3995936" y="2468760"/>
            <a:ext cx="485573" cy="1096784"/>
          </a:xfrm>
          <a:prstGeom prst="roundRect">
            <a:avLst>
              <a:gd name="adj" fmla="val 13748"/>
            </a:avLst>
          </a:prstGeom>
          <a:solidFill>
            <a:schemeClr val="accent2">
              <a:lumMod val="20000"/>
              <a:lumOff val="80000"/>
            </a:schemeClr>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Nxd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cxnSp>
        <p:nvCxnSpPr>
          <p:cNvPr id="232" name="直線單箭頭接點 231">
            <a:extLst>
              <a:ext uri="{FF2B5EF4-FFF2-40B4-BE49-F238E27FC236}">
                <a16:creationId xmlns:a16="http://schemas.microsoft.com/office/drawing/2014/main" id="{F26B60A0-8C3B-AFEC-E949-85B592C35EA9}"/>
              </a:ext>
            </a:extLst>
          </p:cNvPr>
          <p:cNvCxnSpPr>
            <a:cxnSpLocks/>
            <a:stCxn id="233" idx="0"/>
            <a:endCxn id="234" idx="2"/>
          </p:cNvCxnSpPr>
          <p:nvPr/>
        </p:nvCxnSpPr>
        <p:spPr>
          <a:xfrm flipH="1" flipV="1">
            <a:off x="4226493" y="4508771"/>
            <a:ext cx="3979" cy="23328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233" name="矩形 232">
            <a:extLst>
              <a:ext uri="{FF2B5EF4-FFF2-40B4-BE49-F238E27FC236}">
                <a16:creationId xmlns:a16="http://schemas.microsoft.com/office/drawing/2014/main" id="{EE8233CC-685F-7D13-2602-C521F75A2832}"/>
              </a:ext>
            </a:extLst>
          </p:cNvPr>
          <p:cNvSpPr/>
          <p:nvPr/>
        </p:nvSpPr>
        <p:spPr>
          <a:xfrm>
            <a:off x="4032960" y="4742058"/>
            <a:ext cx="395024" cy="407662"/>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34" name="矩形: 圓角 233">
            <a:extLst>
              <a:ext uri="{FF2B5EF4-FFF2-40B4-BE49-F238E27FC236}">
                <a16:creationId xmlns:a16="http://schemas.microsoft.com/office/drawing/2014/main" id="{ECD326D8-B7FF-4E8B-8C79-96380FFA8CB5}"/>
              </a:ext>
            </a:extLst>
          </p:cNvPr>
          <p:cNvSpPr/>
          <p:nvPr/>
        </p:nvSpPr>
        <p:spPr>
          <a:xfrm>
            <a:off x="4025003" y="4069600"/>
            <a:ext cx="402980" cy="439171"/>
          </a:xfrm>
          <a:prstGeom prst="roundRect">
            <a:avLst/>
          </a:prstGeom>
          <a:solidFill>
            <a:schemeClr val="bg1"/>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Nx1536</a:t>
            </a:r>
          </a:p>
        </p:txBody>
      </p:sp>
      <p:sp>
        <p:nvSpPr>
          <p:cNvPr id="243" name="矩形: 圓角 242">
            <a:extLst>
              <a:ext uri="{FF2B5EF4-FFF2-40B4-BE49-F238E27FC236}">
                <a16:creationId xmlns:a16="http://schemas.microsoft.com/office/drawing/2014/main" id="{D2F0EB87-8852-A70A-3723-552C9C22DAC4}"/>
              </a:ext>
            </a:extLst>
          </p:cNvPr>
          <p:cNvSpPr/>
          <p:nvPr/>
        </p:nvSpPr>
        <p:spPr>
          <a:xfrm>
            <a:off x="2467914" y="3224554"/>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graphicFrame>
        <p:nvGraphicFramePr>
          <p:cNvPr id="247" name="表格 246">
            <a:extLst>
              <a:ext uri="{FF2B5EF4-FFF2-40B4-BE49-F238E27FC236}">
                <a16:creationId xmlns:a16="http://schemas.microsoft.com/office/drawing/2014/main" id="{61885D46-3697-0E37-AEE5-5620963F4DE3}"/>
              </a:ext>
            </a:extLst>
          </p:cNvPr>
          <p:cNvGraphicFramePr>
            <a:graphicFrameLocks noGrp="1"/>
          </p:cNvGraphicFramePr>
          <p:nvPr/>
        </p:nvGraphicFramePr>
        <p:xfrm>
          <a:off x="5652400" y="1777144"/>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253" name="表格 252">
            <a:extLst>
              <a:ext uri="{FF2B5EF4-FFF2-40B4-BE49-F238E27FC236}">
                <a16:creationId xmlns:a16="http://schemas.microsoft.com/office/drawing/2014/main" id="{DC5B4798-CEC6-AFB5-C676-A6C5088940D9}"/>
              </a:ext>
            </a:extLst>
          </p:cNvPr>
          <p:cNvGraphicFramePr>
            <a:graphicFrameLocks noGrp="1"/>
          </p:cNvGraphicFramePr>
          <p:nvPr/>
        </p:nvGraphicFramePr>
        <p:xfrm>
          <a:off x="6823274" y="3400354"/>
          <a:ext cx="1264220" cy="273655"/>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48">
                  <a:extLst>
                    <a:ext uri="{9D8B030D-6E8A-4147-A177-3AD203B41FA5}">
                      <a16:colId xmlns:a16="http://schemas.microsoft.com/office/drawing/2014/main" val="223754513"/>
                    </a:ext>
                  </a:extLst>
                </a:gridCol>
                <a:gridCol w="360040">
                  <a:extLst>
                    <a:ext uri="{9D8B030D-6E8A-4147-A177-3AD203B41FA5}">
                      <a16:colId xmlns:a16="http://schemas.microsoft.com/office/drawing/2014/main" val="213621589"/>
                    </a:ext>
                  </a:extLst>
                </a:gridCol>
              </a:tblGrid>
              <a:tr h="2736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59" name="表格 258">
            <a:extLst>
              <a:ext uri="{FF2B5EF4-FFF2-40B4-BE49-F238E27FC236}">
                <a16:creationId xmlns:a16="http://schemas.microsoft.com/office/drawing/2014/main" id="{BB345011-E72A-4B57-7623-0F079D3A82B2}"/>
              </a:ext>
            </a:extLst>
          </p:cNvPr>
          <p:cNvGraphicFramePr>
            <a:graphicFrameLocks noGrp="1"/>
          </p:cNvGraphicFramePr>
          <p:nvPr/>
        </p:nvGraphicFramePr>
        <p:xfrm>
          <a:off x="6823274" y="4066479"/>
          <a:ext cx="1264220" cy="276776"/>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50">
                  <a:extLst>
                    <a:ext uri="{9D8B030D-6E8A-4147-A177-3AD203B41FA5}">
                      <a16:colId xmlns:a16="http://schemas.microsoft.com/office/drawing/2014/main" val="223754513"/>
                    </a:ext>
                  </a:extLst>
                </a:gridCol>
                <a:gridCol w="360038">
                  <a:extLst>
                    <a:ext uri="{9D8B030D-6E8A-4147-A177-3AD203B41FA5}">
                      <a16:colId xmlns:a16="http://schemas.microsoft.com/office/drawing/2014/main" val="213621589"/>
                    </a:ext>
                  </a:extLst>
                </a:gridCol>
              </a:tblGrid>
              <a:tr h="276776">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75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61" name="表格 260">
            <a:extLst>
              <a:ext uri="{FF2B5EF4-FFF2-40B4-BE49-F238E27FC236}">
                <a16:creationId xmlns:a16="http://schemas.microsoft.com/office/drawing/2014/main" id="{FFB275EB-4E36-DB50-7280-FD028F56413F}"/>
              </a:ext>
            </a:extLst>
          </p:cNvPr>
          <p:cNvGraphicFramePr>
            <a:graphicFrameLocks noGrp="1"/>
          </p:cNvGraphicFramePr>
          <p:nvPr/>
        </p:nvGraphicFramePr>
        <p:xfrm>
          <a:off x="5652120" y="5265132"/>
          <a:ext cx="2520000" cy="302259"/>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cxnSp>
        <p:nvCxnSpPr>
          <p:cNvPr id="277" name="接點: 肘形 276">
            <a:extLst>
              <a:ext uri="{FF2B5EF4-FFF2-40B4-BE49-F238E27FC236}">
                <a16:creationId xmlns:a16="http://schemas.microsoft.com/office/drawing/2014/main" id="{928978F1-37A7-0A94-71DE-2F6FA9EC1494}"/>
              </a:ext>
            </a:extLst>
          </p:cNvPr>
          <p:cNvCxnSpPr>
            <a:cxnSpLocks/>
            <a:stCxn id="247" idx="1"/>
            <a:endCxn id="353" idx="3"/>
          </p:cNvCxnSpPr>
          <p:nvPr/>
        </p:nvCxnSpPr>
        <p:spPr>
          <a:xfrm rot="10800000" flipV="1">
            <a:off x="5148064" y="1908071"/>
            <a:ext cx="504336" cy="175749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278" name="接點: 肘形 277">
            <a:extLst>
              <a:ext uri="{FF2B5EF4-FFF2-40B4-BE49-F238E27FC236}">
                <a16:creationId xmlns:a16="http://schemas.microsoft.com/office/drawing/2014/main" id="{717C5D64-7B86-5E45-0548-0FDD29BF909A}"/>
              </a:ext>
            </a:extLst>
          </p:cNvPr>
          <p:cNvCxnSpPr>
            <a:cxnSpLocks/>
            <a:stCxn id="355" idx="3"/>
            <a:endCxn id="261" idx="1"/>
          </p:cNvCxnSpPr>
          <p:nvPr/>
        </p:nvCxnSpPr>
        <p:spPr>
          <a:xfrm>
            <a:off x="5148064" y="3789373"/>
            <a:ext cx="504056" cy="162688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293" name="直線接點 292">
            <a:extLst>
              <a:ext uri="{FF2B5EF4-FFF2-40B4-BE49-F238E27FC236}">
                <a16:creationId xmlns:a16="http://schemas.microsoft.com/office/drawing/2014/main" id="{A2D0A9B0-FA90-7699-CF4F-9C904905E5EC}"/>
              </a:ext>
            </a:extLst>
          </p:cNvPr>
          <p:cNvCxnSpPr>
            <a:cxnSpLocks/>
            <a:stCxn id="447" idx="1"/>
            <a:endCxn id="253" idx="3"/>
          </p:cNvCxnSpPr>
          <p:nvPr/>
        </p:nvCxnSpPr>
        <p:spPr>
          <a:xfrm flipH="1">
            <a:off x="8087494" y="3537181"/>
            <a:ext cx="275854" cy="0"/>
          </a:xfrm>
          <a:prstGeom prst="line">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323" name="文字方塊 322">
            <a:extLst>
              <a:ext uri="{FF2B5EF4-FFF2-40B4-BE49-F238E27FC236}">
                <a16:creationId xmlns:a16="http://schemas.microsoft.com/office/drawing/2014/main" id="{28DFD3BC-A87F-A5C7-534C-3F0D49144805}"/>
              </a:ext>
            </a:extLst>
          </p:cNvPr>
          <p:cNvSpPr txBox="1"/>
          <p:nvPr/>
        </p:nvSpPr>
        <p:spPr>
          <a:xfrm>
            <a:off x="5652120" y="5069655"/>
            <a:ext cx="899391" cy="209704"/>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Gating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Router</a:t>
            </a:r>
          </a:p>
        </p:txBody>
      </p:sp>
      <p:sp>
        <p:nvSpPr>
          <p:cNvPr id="238" name="矩形: 圓角 237">
            <a:extLst>
              <a:ext uri="{FF2B5EF4-FFF2-40B4-BE49-F238E27FC236}">
                <a16:creationId xmlns:a16="http://schemas.microsoft.com/office/drawing/2014/main" id="{4B06301D-1BE8-1326-B4FC-7F4CF91E61AE}"/>
              </a:ext>
            </a:extLst>
          </p:cNvPr>
          <p:cNvSpPr/>
          <p:nvPr/>
        </p:nvSpPr>
        <p:spPr>
          <a:xfrm>
            <a:off x="4755291" y="2941403"/>
            <a:ext cx="72008" cy="1093386"/>
          </a:xfrm>
          <a:prstGeom prst="roundRect">
            <a:avLst>
              <a:gd name="adj" fmla="val 13748"/>
            </a:avLst>
          </a:prstGeom>
          <a:solidFill>
            <a:schemeClr val="accent6">
              <a:lumMod val="60000"/>
              <a:lumOff val="40000"/>
              <a:alpha val="40000"/>
            </a:schemeClr>
          </a:solidFill>
          <a:ln w="15875">
            <a:solidFill>
              <a:schemeClr val="accent6">
                <a:lumMod val="7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363" name="文字方塊 362">
            <a:extLst>
              <a:ext uri="{FF2B5EF4-FFF2-40B4-BE49-F238E27FC236}">
                <a16:creationId xmlns:a16="http://schemas.microsoft.com/office/drawing/2014/main" id="{525FB032-A4CB-7C4D-2D54-F9DD83D1962B}"/>
              </a:ext>
            </a:extLst>
          </p:cNvPr>
          <p:cNvSpPr txBox="1"/>
          <p:nvPr/>
        </p:nvSpPr>
        <p:spPr>
          <a:xfrm>
            <a:off x="6823274" y="3839199"/>
            <a:ext cx="963697" cy="26450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Token Indexing</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365" name="接點: 肘形 364">
            <a:extLst>
              <a:ext uri="{FF2B5EF4-FFF2-40B4-BE49-F238E27FC236}">
                <a16:creationId xmlns:a16="http://schemas.microsoft.com/office/drawing/2014/main" id="{DD415140-B33D-1548-4B58-7C4C4747B9D4}"/>
              </a:ext>
            </a:extLst>
          </p:cNvPr>
          <p:cNvCxnSpPr>
            <a:cxnSpLocks/>
            <a:stCxn id="233" idx="3"/>
            <a:endCxn id="369" idx="2"/>
          </p:cNvCxnSpPr>
          <p:nvPr/>
        </p:nvCxnSpPr>
        <p:spPr>
          <a:xfrm flipV="1">
            <a:off x="4427984" y="4501648"/>
            <a:ext cx="357953" cy="444241"/>
          </a:xfrm>
          <a:prstGeom prst="bentConnector2">
            <a:avLst/>
          </a:prstGeom>
          <a:ln w="19050">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sp>
        <p:nvSpPr>
          <p:cNvPr id="369" name="矩形: 圓角 368">
            <a:extLst>
              <a:ext uri="{FF2B5EF4-FFF2-40B4-BE49-F238E27FC236}">
                <a16:creationId xmlns:a16="http://schemas.microsoft.com/office/drawing/2014/main" id="{DE9F4776-897F-EF38-755B-22FC78B99362}"/>
              </a:ext>
            </a:extLst>
          </p:cNvPr>
          <p:cNvSpPr/>
          <p:nvPr/>
        </p:nvSpPr>
        <p:spPr>
          <a:xfrm>
            <a:off x="4644008" y="4069600"/>
            <a:ext cx="283858" cy="432048"/>
          </a:xfrm>
          <a:prstGeom prst="roundRect">
            <a:avLst/>
          </a:prstGeom>
          <a:solidFill>
            <a:schemeClr val="bg1"/>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PLE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256</a:t>
            </a:r>
          </a:p>
        </p:txBody>
      </p:sp>
      <p:sp>
        <p:nvSpPr>
          <p:cNvPr id="379" name="矩形: 圓角 378">
            <a:extLst>
              <a:ext uri="{FF2B5EF4-FFF2-40B4-BE49-F238E27FC236}">
                <a16:creationId xmlns:a16="http://schemas.microsoft.com/office/drawing/2014/main" id="{C319F167-CD75-A554-5FB6-13D7673C674F}"/>
              </a:ext>
            </a:extLst>
          </p:cNvPr>
          <p:cNvSpPr/>
          <p:nvPr/>
        </p:nvSpPr>
        <p:spPr>
          <a:xfrm>
            <a:off x="8355366" y="5135343"/>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W</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402" name="文字方塊 401">
            <a:extLst>
              <a:ext uri="{FF2B5EF4-FFF2-40B4-BE49-F238E27FC236}">
                <a16:creationId xmlns:a16="http://schemas.microsoft.com/office/drawing/2014/main" id="{72FAC1CD-FDAF-2C4E-5F25-3580BA933392}"/>
              </a:ext>
            </a:extLst>
          </p:cNvPr>
          <p:cNvSpPr txBox="1"/>
          <p:nvPr/>
        </p:nvSpPr>
        <p:spPr>
          <a:xfrm>
            <a:off x="8172400" y="5135343"/>
            <a:ext cx="182966"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07" name="接點: 弧形 406">
            <a:extLst>
              <a:ext uri="{FF2B5EF4-FFF2-40B4-BE49-F238E27FC236}">
                <a16:creationId xmlns:a16="http://schemas.microsoft.com/office/drawing/2014/main" id="{6B75EBEC-48B3-25A0-46E3-2D8C9256BCD5}"/>
              </a:ext>
            </a:extLst>
          </p:cNvPr>
          <p:cNvCxnSpPr>
            <a:cxnSpLocks/>
            <a:stCxn id="406" idx="0"/>
            <a:endCxn id="259" idx="3"/>
          </p:cNvCxnSpPr>
          <p:nvPr/>
        </p:nvCxnSpPr>
        <p:spPr>
          <a:xfrm rot="16200000" flipV="1">
            <a:off x="8118153" y="4174208"/>
            <a:ext cx="354412" cy="415730"/>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4" name="接點: 弧形 413">
            <a:extLst>
              <a:ext uri="{FF2B5EF4-FFF2-40B4-BE49-F238E27FC236}">
                <a16:creationId xmlns:a16="http://schemas.microsoft.com/office/drawing/2014/main" id="{6A8855D9-5D93-9B03-FA67-8CB796C3379A}"/>
              </a:ext>
            </a:extLst>
          </p:cNvPr>
          <p:cNvCxnSpPr>
            <a:cxnSpLocks/>
            <a:stCxn id="379" idx="0"/>
            <a:endCxn id="404" idx="3"/>
          </p:cNvCxnSpPr>
          <p:nvPr/>
        </p:nvCxnSpPr>
        <p:spPr>
          <a:xfrm rot="16200000" flipV="1">
            <a:off x="8139011" y="4775254"/>
            <a:ext cx="321471" cy="398708"/>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0" name="文字方塊 399">
            <a:extLst>
              <a:ext uri="{FF2B5EF4-FFF2-40B4-BE49-F238E27FC236}">
                <a16:creationId xmlns:a16="http://schemas.microsoft.com/office/drawing/2014/main" id="{C2D0AA9D-2CF4-2067-F683-7B9B3215C81A}"/>
              </a:ext>
            </a:extLst>
          </p:cNvPr>
          <p:cNvSpPr txBox="1"/>
          <p:nvPr/>
        </p:nvSpPr>
        <p:spPr>
          <a:xfrm>
            <a:off x="8100392" y="4559279"/>
            <a:ext cx="252367" cy="276776"/>
          </a:xfrm>
          <a:prstGeom prst="rect">
            <a:avLst/>
          </a:prstGeom>
          <a:solidFill>
            <a:schemeClr val="bg1">
              <a:alpha val="60000"/>
            </a:schemeClr>
          </a:solid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06" name="矩形: 圓角 405">
            <a:extLst>
              <a:ext uri="{FF2B5EF4-FFF2-40B4-BE49-F238E27FC236}">
                <a16:creationId xmlns:a16="http://schemas.microsoft.com/office/drawing/2014/main" id="{67454EB2-CB74-516D-45F4-16E55A222BF8}"/>
              </a:ext>
            </a:extLst>
          </p:cNvPr>
          <p:cNvSpPr/>
          <p:nvPr/>
        </p:nvSpPr>
        <p:spPr>
          <a:xfrm>
            <a:off x="8365657" y="4559279"/>
            <a:ext cx="275134" cy="276776"/>
          </a:xfrm>
          <a:prstGeom prst="roundRect">
            <a:avLst>
              <a:gd name="adj" fmla="val 13748"/>
            </a:avLst>
          </a:prstGeom>
          <a:solidFill>
            <a:schemeClr val="bg1">
              <a:alpha val="60000"/>
            </a:scheme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lang="el-GR" altLang="zh-TW" sz="1400" b="1" dirty="0">
                <a:solidFill>
                  <a:prstClr val="black"/>
                </a:solidFill>
                <a:latin typeface="Calibri"/>
                <a:ea typeface="微軟正黑體" panose="020B0604030504040204" pitchFamily="34" charset="-120"/>
              </a:rPr>
              <a:t>σ</a:t>
            </a:r>
            <a:endParaRPr lang="en-US" altLang="zh-TW" sz="1400" b="1" dirty="0">
              <a:solidFill>
                <a:prstClr val="black"/>
              </a:solidFill>
              <a:latin typeface="Calibri"/>
              <a:ea typeface="微軟正黑體" panose="020B0604030504040204" pitchFamily="34" charset="-120"/>
            </a:endParaRPr>
          </a:p>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TW" sz="1000" i="0" u="none" strike="noStrike" kern="1200" cap="none" spc="0" normalizeH="0" noProof="0" dirty="0">
                <a:ln>
                  <a:noFill/>
                </a:ln>
                <a:solidFill>
                  <a:prstClr val="black"/>
                </a:solidFill>
                <a:effectLst/>
                <a:uLnTx/>
                <a:uFillTx/>
                <a:latin typeface="Calibri"/>
                <a:ea typeface="微軟正黑體" panose="020B0604030504040204" pitchFamily="34" charset="-120"/>
                <a:cs typeface="+mn-cs"/>
              </a:rPr>
              <a:t>1xd</a:t>
            </a:r>
          </a:p>
        </p:txBody>
      </p:sp>
      <p:graphicFrame>
        <p:nvGraphicFramePr>
          <p:cNvPr id="404" name="表格 403">
            <a:extLst>
              <a:ext uri="{FF2B5EF4-FFF2-40B4-BE49-F238E27FC236}">
                <a16:creationId xmlns:a16="http://schemas.microsoft.com/office/drawing/2014/main" id="{EC50C037-BABC-90C0-4103-A8A24C945726}"/>
              </a:ext>
            </a:extLst>
          </p:cNvPr>
          <p:cNvGraphicFramePr>
            <a:graphicFrameLocks noGrp="1"/>
          </p:cNvGraphicFramePr>
          <p:nvPr/>
        </p:nvGraphicFramePr>
        <p:xfrm>
          <a:off x="6836172" y="4662743"/>
          <a:ext cx="1264220" cy="302259"/>
        </p:xfrm>
        <a:graphic>
          <a:graphicData uri="http://schemas.openxmlformats.org/drawingml/2006/table">
            <a:tbl>
              <a:tblPr firstRow="1" bandRow="1">
                <a:tableStyleId>{5C22544A-7EE6-4342-B048-85BDC9FD1C3A}</a:tableStyleId>
              </a:tblPr>
              <a:tblGrid>
                <a:gridCol w="180603">
                  <a:extLst>
                    <a:ext uri="{9D8B030D-6E8A-4147-A177-3AD203B41FA5}">
                      <a16:colId xmlns:a16="http://schemas.microsoft.com/office/drawing/2014/main" val="871242339"/>
                    </a:ext>
                  </a:extLst>
                </a:gridCol>
                <a:gridCol w="219521">
                  <a:extLst>
                    <a:ext uri="{9D8B030D-6E8A-4147-A177-3AD203B41FA5}">
                      <a16:colId xmlns:a16="http://schemas.microsoft.com/office/drawing/2014/main" val="337396536"/>
                    </a:ext>
                  </a:extLst>
                </a:gridCol>
                <a:gridCol w="141685">
                  <a:extLst>
                    <a:ext uri="{9D8B030D-6E8A-4147-A177-3AD203B41FA5}">
                      <a16:colId xmlns:a16="http://schemas.microsoft.com/office/drawing/2014/main" val="334335693"/>
                    </a:ext>
                  </a:extLst>
                </a:gridCol>
                <a:gridCol w="180603">
                  <a:extLst>
                    <a:ext uri="{9D8B030D-6E8A-4147-A177-3AD203B41FA5}">
                      <a16:colId xmlns:a16="http://schemas.microsoft.com/office/drawing/2014/main" val="2850820999"/>
                    </a:ext>
                  </a:extLst>
                </a:gridCol>
                <a:gridCol w="180603">
                  <a:extLst>
                    <a:ext uri="{9D8B030D-6E8A-4147-A177-3AD203B41FA5}">
                      <a16:colId xmlns:a16="http://schemas.microsoft.com/office/drawing/2014/main" val="3242229700"/>
                    </a:ext>
                  </a:extLst>
                </a:gridCol>
                <a:gridCol w="361205">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427" name="文字方塊 426">
            <a:extLst>
              <a:ext uri="{FF2B5EF4-FFF2-40B4-BE49-F238E27FC236}">
                <a16:creationId xmlns:a16="http://schemas.microsoft.com/office/drawing/2014/main" id="{CA43E46A-4463-4F26-3FD5-3A646BC83E23}"/>
              </a:ext>
            </a:extLst>
          </p:cNvPr>
          <p:cNvSpPr txBox="1"/>
          <p:nvPr/>
        </p:nvSpPr>
        <p:spPr>
          <a:xfrm>
            <a:off x="6836172" y="4475026"/>
            <a:ext cx="646847" cy="203300"/>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Sigmoid</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35" name="矩形 434">
            <a:extLst>
              <a:ext uri="{FF2B5EF4-FFF2-40B4-BE49-F238E27FC236}">
                <a16:creationId xmlns:a16="http://schemas.microsoft.com/office/drawing/2014/main" id="{5197D484-ABC8-13C5-E5F6-FB749CE8FAC9}"/>
              </a:ext>
            </a:extLst>
          </p:cNvPr>
          <p:cNvSpPr/>
          <p:nvPr/>
        </p:nvSpPr>
        <p:spPr>
          <a:xfrm>
            <a:off x="282880"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37" name="矩形 436">
            <a:extLst>
              <a:ext uri="{FF2B5EF4-FFF2-40B4-BE49-F238E27FC236}">
                <a16:creationId xmlns:a16="http://schemas.microsoft.com/office/drawing/2014/main" id="{69BE9F70-005C-830C-0F84-3A9F03A44EB7}"/>
              </a:ext>
            </a:extLst>
          </p:cNvPr>
          <p:cNvSpPr/>
          <p:nvPr/>
        </p:nvSpPr>
        <p:spPr>
          <a:xfrm>
            <a:off x="1939064"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39" name="矩形 438">
            <a:extLst>
              <a:ext uri="{FF2B5EF4-FFF2-40B4-BE49-F238E27FC236}">
                <a16:creationId xmlns:a16="http://schemas.microsoft.com/office/drawing/2014/main" id="{5140CBF9-9A18-5C52-07CB-4AD7B2111DA5}"/>
              </a:ext>
            </a:extLst>
          </p:cNvPr>
          <p:cNvSpPr/>
          <p:nvPr/>
        </p:nvSpPr>
        <p:spPr>
          <a:xfrm>
            <a:off x="3595248" y="5300108"/>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3" name="矩形 442">
            <a:extLst>
              <a:ext uri="{FF2B5EF4-FFF2-40B4-BE49-F238E27FC236}">
                <a16:creationId xmlns:a16="http://schemas.microsoft.com/office/drawing/2014/main" id="{6FDA76AC-3819-6910-C4B2-7A5CE3BC76C1}"/>
              </a:ext>
            </a:extLst>
          </p:cNvPr>
          <p:cNvSpPr/>
          <p:nvPr/>
        </p:nvSpPr>
        <p:spPr>
          <a:xfrm>
            <a:off x="4870424" y="2942439"/>
            <a:ext cx="104230" cy="479089"/>
          </a:xfrm>
          <a:prstGeom prst="rect">
            <a:avLst/>
          </a:prstGeom>
          <a:solidFill>
            <a:schemeClr val="bg2">
              <a:lumMod val="90000"/>
            </a:schemeClr>
          </a:solid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0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7" name="矩形: 圓角 446">
            <a:extLst>
              <a:ext uri="{FF2B5EF4-FFF2-40B4-BE49-F238E27FC236}">
                <a16:creationId xmlns:a16="http://schemas.microsoft.com/office/drawing/2014/main" id="{C0B6E053-FF58-D53D-1860-D25BEA29989C}"/>
              </a:ext>
            </a:extLst>
          </p:cNvPr>
          <p:cNvSpPr/>
          <p:nvPr/>
        </p:nvSpPr>
        <p:spPr>
          <a:xfrm>
            <a:off x="8363348" y="3501266"/>
            <a:ext cx="257333" cy="71829"/>
          </a:xfrm>
          <a:prstGeom prst="roundRect">
            <a:avLst>
              <a:gd name="adj" fmla="val 13748"/>
            </a:avLst>
          </a:prstGeom>
          <a:solidFill>
            <a:schemeClr val="accent6">
              <a:lumMod val="60000"/>
              <a:lumOff val="40000"/>
            </a:schemeClr>
          </a:solid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cxnSp>
        <p:nvCxnSpPr>
          <p:cNvPr id="448" name="接點: 肘形 447">
            <a:extLst>
              <a:ext uri="{FF2B5EF4-FFF2-40B4-BE49-F238E27FC236}">
                <a16:creationId xmlns:a16="http://schemas.microsoft.com/office/drawing/2014/main" id="{7E15CB88-84AE-BF15-F851-06F42158E725}"/>
              </a:ext>
            </a:extLst>
          </p:cNvPr>
          <p:cNvCxnSpPr>
            <a:cxnSpLocks/>
            <a:stCxn id="363" idx="3"/>
            <a:endCxn id="447" idx="2"/>
          </p:cNvCxnSpPr>
          <p:nvPr/>
        </p:nvCxnSpPr>
        <p:spPr>
          <a:xfrm flipV="1">
            <a:off x="7786971" y="3573095"/>
            <a:ext cx="705044" cy="398354"/>
          </a:xfrm>
          <a:prstGeom prst="bentConnector2">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466" name="文字方塊 465">
            <a:extLst>
              <a:ext uri="{FF2B5EF4-FFF2-40B4-BE49-F238E27FC236}">
                <a16:creationId xmlns:a16="http://schemas.microsoft.com/office/drawing/2014/main" id="{9EDE28DD-20E0-22B3-9112-F36B0AF38090}"/>
              </a:ext>
            </a:extLst>
          </p:cNvPr>
          <p:cNvSpPr txBox="1"/>
          <p:nvPr/>
        </p:nvSpPr>
        <p:spPr>
          <a:xfrm>
            <a:off x="6823274" y="3191127"/>
            <a:ext cx="1135886" cy="209227"/>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Layer</a:t>
            </a:r>
            <a:r>
              <a:rPr lang="zh-TW" altLang="en-US" sz="1200" dirty="0">
                <a:solidFill>
                  <a:prstClr val="black"/>
                </a:solidFill>
                <a:ea typeface="Cambria Math" panose="02040503050406030204" pitchFamily="18" charset="0"/>
              </a:rPr>
              <a:t>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Embedding</a:t>
            </a:r>
          </a:p>
        </p:txBody>
      </p:sp>
      <p:sp>
        <p:nvSpPr>
          <p:cNvPr id="479" name="矩形: 圓角 478">
            <a:extLst>
              <a:ext uri="{FF2B5EF4-FFF2-40B4-BE49-F238E27FC236}">
                <a16:creationId xmlns:a16="http://schemas.microsoft.com/office/drawing/2014/main" id="{D1FB5A6B-242D-349D-5C43-049DCFA823B7}"/>
              </a:ext>
            </a:extLst>
          </p:cNvPr>
          <p:cNvSpPr/>
          <p:nvPr/>
        </p:nvSpPr>
        <p:spPr>
          <a:xfrm>
            <a:off x="7365587" y="2787416"/>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U</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graphicFrame>
        <p:nvGraphicFramePr>
          <p:cNvPr id="481" name="表格 480">
            <a:extLst>
              <a:ext uri="{FF2B5EF4-FFF2-40B4-BE49-F238E27FC236}">
                <a16:creationId xmlns:a16="http://schemas.microsoft.com/office/drawing/2014/main" id="{8198FD95-2130-DE8C-2894-D9D277FFDE88}"/>
              </a:ext>
            </a:extLst>
          </p:cNvPr>
          <p:cNvGraphicFramePr>
            <a:graphicFrameLocks noGrp="1"/>
          </p:cNvGraphicFramePr>
          <p:nvPr/>
        </p:nvGraphicFramePr>
        <p:xfrm>
          <a:off x="5652400" y="2209192"/>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83" name="表格 482">
            <a:extLst>
              <a:ext uri="{FF2B5EF4-FFF2-40B4-BE49-F238E27FC236}">
                <a16:creationId xmlns:a16="http://schemas.microsoft.com/office/drawing/2014/main" id="{ACBE89B7-C0CF-4307-100A-AE10558D9E6E}"/>
              </a:ext>
            </a:extLst>
          </p:cNvPr>
          <p:cNvGraphicFramePr>
            <a:graphicFrameLocks noGrp="1"/>
          </p:cNvGraphicFramePr>
          <p:nvPr/>
        </p:nvGraphicFramePr>
        <p:xfrm>
          <a:off x="6823274" y="2787342"/>
          <a:ext cx="375653" cy="293524"/>
        </p:xfrm>
        <a:graphic>
          <a:graphicData uri="http://schemas.openxmlformats.org/drawingml/2006/table">
            <a:tbl>
              <a:tblPr firstRow="1" bandRow="1">
                <a:tableStyleId>{5C22544A-7EE6-4342-B048-85BDC9FD1C3A}</a:tableStyleId>
              </a:tblPr>
              <a:tblGrid>
                <a:gridCol w="375653">
                  <a:extLst>
                    <a:ext uri="{9D8B030D-6E8A-4147-A177-3AD203B41FA5}">
                      <a16:colId xmlns:a16="http://schemas.microsoft.com/office/drawing/2014/main" val="871242339"/>
                    </a:ext>
                  </a:extLst>
                </a:gridCol>
              </a:tblGrid>
              <a:tr h="293524">
                <a:tc>
                  <a:txBody>
                    <a:bodyPr/>
                    <a:lstStyle/>
                    <a:p>
                      <a:pPr algn="ctr"/>
                      <a:r>
                        <a:rPr lang="en-US" altLang="zh-TW" sz="1200" b="0" dirty="0">
                          <a:solidFill>
                            <a:schemeClr val="tx1"/>
                          </a:solidFill>
                          <a:latin typeface="+mn-lt"/>
                          <a:ea typeface="ADLaM Display" panose="02010000000000000000" pitchFamily="2" charset="0"/>
                          <a:cs typeface="ADLaM Display" panose="02010000000000000000" pitchFamily="2" charset="0"/>
                        </a:rPr>
                        <a:t>1xd</a:t>
                      </a:r>
                      <a:endParaRPr lang="zh-TW" altLang="en-US" sz="1200" b="0" baseline="-25000" dirty="0">
                        <a:solidFill>
                          <a:schemeClr val="tx1"/>
                        </a:solidFill>
                        <a:latin typeface="+mn-lt"/>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sp>
        <p:nvSpPr>
          <p:cNvPr id="485" name="文字方塊 484">
            <a:extLst>
              <a:ext uri="{FF2B5EF4-FFF2-40B4-BE49-F238E27FC236}">
                <a16:creationId xmlns:a16="http://schemas.microsoft.com/office/drawing/2014/main" id="{CFCE0F9D-ED6F-C81A-D59B-0D98F8DCA129}"/>
              </a:ext>
            </a:extLst>
          </p:cNvPr>
          <p:cNvSpPr txBox="1"/>
          <p:nvPr/>
        </p:nvSpPr>
        <p:spPr>
          <a:xfrm>
            <a:off x="7211082" y="2831087"/>
            <a:ext cx="131861" cy="199518"/>
          </a:xfrm>
          <a:prstGeom prst="rect">
            <a:avLst/>
          </a:prstGeom>
          <a:noFill/>
        </p:spPr>
        <p:txBody>
          <a:bodyPr wrap="none" lIns="0" tIns="0" rIns="0" bIns="0" anchor="ctr" anchorCtr="1">
            <a:noAutofit/>
          </a:bodyPr>
          <a:lstStyle/>
          <a:p>
            <a:pPr algn="ct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7" name="文字方塊 256">
            <a:extLst>
              <a:ext uri="{FF2B5EF4-FFF2-40B4-BE49-F238E27FC236}">
                <a16:creationId xmlns:a16="http://schemas.microsoft.com/office/drawing/2014/main" id="{C7691DC9-6984-0D23-A0E0-6E7D19059F8F}"/>
              </a:ext>
            </a:extLst>
          </p:cNvPr>
          <p:cNvSpPr txBox="1"/>
          <p:nvPr/>
        </p:nvSpPr>
        <p:spPr>
          <a:xfrm>
            <a:off x="7936010" y="3839925"/>
            <a:ext cx="313421" cy="263368"/>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87" name="文字方塊 486">
            <a:extLst>
              <a:ext uri="{FF2B5EF4-FFF2-40B4-BE49-F238E27FC236}">
                <a16:creationId xmlns:a16="http://schemas.microsoft.com/office/drawing/2014/main" id="{8B4A16DF-DE69-01D3-C03A-0A8EAB36D537}"/>
              </a:ext>
            </a:extLst>
          </p:cNvPr>
          <p:cNvSpPr txBox="1"/>
          <p:nvPr/>
        </p:nvSpPr>
        <p:spPr>
          <a:xfrm>
            <a:off x="6588779" y="1981367"/>
            <a:ext cx="313421" cy="27365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lang="en-US" altLang="zh-TW" sz="1400" b="1" dirty="0">
                <a:solidFill>
                  <a:prstClr val="black"/>
                </a:solidFill>
                <a:latin typeface="Calibri" panose="020F0502020204030204" pitchFamily="34" charset="0"/>
                <a:ea typeface="Calibri" panose="020F0502020204030204" pitchFamily="34" charset="0"/>
                <a:cs typeface="Calibri" panose="020F0502020204030204" pitchFamily="34" charset="0"/>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93" name="文字方塊 492">
            <a:extLst>
              <a:ext uri="{FF2B5EF4-FFF2-40B4-BE49-F238E27FC236}">
                <a16:creationId xmlns:a16="http://schemas.microsoft.com/office/drawing/2014/main" id="{0ADB9979-292B-C90A-3C7E-205F7E7CC282}"/>
              </a:ext>
            </a:extLst>
          </p:cNvPr>
          <p:cNvSpPr txBox="1"/>
          <p:nvPr/>
        </p:nvSpPr>
        <p:spPr>
          <a:xfrm>
            <a:off x="5652120" y="1549320"/>
            <a:ext cx="1321377" cy="273655"/>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Residual Connection</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94" name="接點: 弧形 493">
            <a:extLst>
              <a:ext uri="{FF2B5EF4-FFF2-40B4-BE49-F238E27FC236}">
                <a16:creationId xmlns:a16="http://schemas.microsoft.com/office/drawing/2014/main" id="{903D6AF1-D490-6992-844B-1553A488E0AA}"/>
              </a:ext>
            </a:extLst>
          </p:cNvPr>
          <p:cNvCxnSpPr>
            <a:cxnSpLocks/>
            <a:stCxn id="479" idx="3"/>
            <a:endCxn id="481" idx="3"/>
          </p:cNvCxnSpPr>
          <p:nvPr/>
        </p:nvCxnSpPr>
        <p:spPr>
          <a:xfrm flipV="1">
            <a:off x="7653055" y="2340119"/>
            <a:ext cx="519345" cy="598427"/>
          </a:xfrm>
          <a:prstGeom prst="curvedConnector3">
            <a:avLst>
              <a:gd name="adj1" fmla="val 144017"/>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16" name="群組 515">
            <a:extLst>
              <a:ext uri="{FF2B5EF4-FFF2-40B4-BE49-F238E27FC236}">
                <a16:creationId xmlns:a16="http://schemas.microsoft.com/office/drawing/2014/main" id="{82F115A4-A0A4-7463-9E32-D2D6620DD405}"/>
              </a:ext>
            </a:extLst>
          </p:cNvPr>
          <p:cNvGrpSpPr/>
          <p:nvPr/>
        </p:nvGrpSpPr>
        <p:grpSpPr>
          <a:xfrm>
            <a:off x="4648622" y="3605968"/>
            <a:ext cx="499442" cy="247608"/>
            <a:chOff x="4648622" y="3181392"/>
            <a:chExt cx="499442" cy="247608"/>
          </a:xfrm>
        </p:grpSpPr>
        <p:sp>
          <p:nvSpPr>
            <p:cNvPr id="355" name="矩形 354">
              <a:extLst>
                <a:ext uri="{FF2B5EF4-FFF2-40B4-BE49-F238E27FC236}">
                  <a16:creationId xmlns:a16="http://schemas.microsoft.com/office/drawing/2014/main" id="{D1BE1B28-A0DE-7CDB-7938-F60BA3CC21F8}"/>
                </a:ext>
              </a:extLst>
            </p:cNvPr>
            <p:cNvSpPr/>
            <p:nvPr/>
          </p:nvSpPr>
          <p:spPr>
            <a:xfrm>
              <a:off x="4788024" y="3300594"/>
              <a:ext cx="360040" cy="128406"/>
            </a:xfrm>
            <a:prstGeom prst="rect">
              <a:avLst/>
            </a:prstGeom>
            <a:noFill/>
            <a:ln w="3175">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353" name="矩形 352">
              <a:extLst>
                <a:ext uri="{FF2B5EF4-FFF2-40B4-BE49-F238E27FC236}">
                  <a16:creationId xmlns:a16="http://schemas.microsoft.com/office/drawing/2014/main" id="{05F2B42F-45F0-D38D-1A71-B66F6E61569D}"/>
                </a:ext>
              </a:extLst>
            </p:cNvPr>
            <p:cNvSpPr/>
            <p:nvPr/>
          </p:nvSpPr>
          <p:spPr>
            <a:xfrm>
              <a:off x="4789926" y="3181392"/>
              <a:ext cx="358138" cy="119202"/>
            </a:xfrm>
            <a:prstGeom prst="rect">
              <a:avLst/>
            </a:prstGeom>
            <a:noFill/>
            <a:ln w="3175">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513" name="矩形 512">
              <a:extLst>
                <a:ext uri="{FF2B5EF4-FFF2-40B4-BE49-F238E27FC236}">
                  <a16:creationId xmlns:a16="http://schemas.microsoft.com/office/drawing/2014/main" id="{65F2EBF5-7322-0EF5-533C-66A32F123AD3}"/>
                </a:ext>
              </a:extLst>
            </p:cNvPr>
            <p:cNvSpPr/>
            <p:nvPr/>
          </p:nvSpPr>
          <p:spPr>
            <a:xfrm>
              <a:off x="4648622" y="3240992"/>
              <a:ext cx="427434" cy="123805"/>
            </a:xfrm>
            <a:prstGeom prst="rect">
              <a:avLst/>
            </a:prstGeom>
            <a:noFill/>
            <a:ln w="3175">
              <a:solidFill>
                <a:schemeClr val="tx1">
                  <a:lumMod val="85000"/>
                  <a:lumOff val="1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token</a:t>
              </a:r>
            </a:p>
          </p:txBody>
        </p:sp>
      </p:grpSp>
      <p:sp>
        <p:nvSpPr>
          <p:cNvPr id="6" name="右大括弧 5">
            <a:extLst>
              <a:ext uri="{FF2B5EF4-FFF2-40B4-BE49-F238E27FC236}">
                <a16:creationId xmlns:a16="http://schemas.microsoft.com/office/drawing/2014/main" id="{9E7BBFE7-8CE2-0E13-D1DA-41B96806AD58}"/>
              </a:ext>
            </a:extLst>
          </p:cNvPr>
          <p:cNvSpPr/>
          <p:nvPr/>
        </p:nvSpPr>
        <p:spPr>
          <a:xfrm rot="5400000">
            <a:off x="6865727" y="4375632"/>
            <a:ext cx="92783" cy="2519999"/>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9" name="文字方塊 8">
            <a:extLst>
              <a:ext uri="{FF2B5EF4-FFF2-40B4-BE49-F238E27FC236}">
                <a16:creationId xmlns:a16="http://schemas.microsoft.com/office/drawing/2014/main" id="{CEBDAFB9-FF64-AF0E-65A2-88DBF5A1232D}"/>
              </a:ext>
            </a:extLst>
          </p:cNvPr>
          <p:cNvSpPr txBox="1"/>
          <p:nvPr/>
        </p:nvSpPr>
        <p:spPr>
          <a:xfrm>
            <a:off x="6712434" y="5620158"/>
            <a:ext cx="247476" cy="226195"/>
          </a:xfrm>
          <a:prstGeom prst="rect">
            <a:avLst/>
          </a:prstGeom>
          <a:noFill/>
        </p:spPr>
        <p:txBody>
          <a:bodyPr wrap="none" lIns="0" tIns="0" rIns="0" bIns="0" anchor="ctr" anchorCtr="1">
            <a:noAutofit/>
          </a:bodyPr>
          <a:lstStyle/>
          <a:p>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D</a:t>
            </a:r>
          </a:p>
        </p:txBody>
      </p:sp>
    </p:spTree>
    <p:extLst>
      <p:ext uri="{BB962C8B-B14F-4D97-AF65-F5344CB8AC3E}">
        <p14:creationId xmlns:p14="http://schemas.microsoft.com/office/powerpoint/2010/main" val="29307279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2B1D888A-E512-8AFB-AB9A-F2663716C8A1}"/>
              </a:ext>
            </a:extLst>
          </p:cNvPr>
          <p:cNvPicPr>
            <a:picLocks noChangeAspect="1"/>
          </p:cNvPicPr>
          <p:nvPr/>
        </p:nvPicPr>
        <p:blipFill>
          <a:blip r:embed="rId3"/>
          <a:stretch>
            <a:fillRect/>
          </a:stretch>
        </p:blipFill>
        <p:spPr>
          <a:xfrm>
            <a:off x="0" y="980728"/>
            <a:ext cx="9144000" cy="4314654"/>
          </a:xfrm>
          <a:prstGeom prst="rect">
            <a:avLst/>
          </a:prstGeom>
        </p:spPr>
      </p:pic>
      <p:sp>
        <p:nvSpPr>
          <p:cNvPr id="5" name="標題 1">
            <a:extLst>
              <a:ext uri="{FF2B5EF4-FFF2-40B4-BE49-F238E27FC236}">
                <a16:creationId xmlns:a16="http://schemas.microsoft.com/office/drawing/2014/main" id="{39FE1AA6-4EAA-056D-8A24-89A81C3BF804}"/>
              </a:ext>
            </a:extLst>
          </p:cNvPr>
          <p:cNvSpPr txBox="1">
            <a:spLocks/>
          </p:cNvSpPr>
          <p:nvPr/>
        </p:nvSpPr>
        <p:spPr>
          <a:xfrm>
            <a:off x="179512" y="116632"/>
            <a:ext cx="856895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hlinkClick r:id="rId4"/>
              </a:rPr>
              <a:t>DeepSWE</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Deep S</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oftware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W</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ork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ngineering</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DeepSWE: Measuring Frontier Coding Agents on Original, Long-Horizon Engineering Tasks.</a:t>
            </a:r>
          </a:p>
        </p:txBody>
      </p:sp>
      <p:pic>
        <p:nvPicPr>
          <p:cNvPr id="11" name="圖片 10">
            <a:extLst>
              <a:ext uri="{FF2B5EF4-FFF2-40B4-BE49-F238E27FC236}">
                <a16:creationId xmlns:a16="http://schemas.microsoft.com/office/drawing/2014/main" id="{E94EF3C9-A35B-1FB9-3620-3D7C2BF4C72C}"/>
              </a:ext>
            </a:extLst>
          </p:cNvPr>
          <p:cNvPicPr>
            <a:picLocks noChangeAspect="1"/>
          </p:cNvPicPr>
          <p:nvPr/>
        </p:nvPicPr>
        <p:blipFill>
          <a:blip r:embed="rId5"/>
          <a:stretch>
            <a:fillRect/>
          </a:stretch>
        </p:blipFill>
        <p:spPr>
          <a:xfrm>
            <a:off x="899592" y="3212976"/>
            <a:ext cx="1584176" cy="3541099"/>
          </a:xfrm>
          <a:prstGeom prst="rect">
            <a:avLst/>
          </a:prstGeom>
        </p:spPr>
      </p:pic>
      <p:sp>
        <p:nvSpPr>
          <p:cNvPr id="15" name="文字方塊 14">
            <a:extLst>
              <a:ext uri="{FF2B5EF4-FFF2-40B4-BE49-F238E27FC236}">
                <a16:creationId xmlns:a16="http://schemas.microsoft.com/office/drawing/2014/main" id="{0C1D6EFB-5D4E-A0CF-32F7-D455AE736DAD}"/>
              </a:ext>
            </a:extLst>
          </p:cNvPr>
          <p:cNvSpPr txBox="1"/>
          <p:nvPr/>
        </p:nvSpPr>
        <p:spPr>
          <a:xfrm>
            <a:off x="3617893" y="5596037"/>
            <a:ext cx="1908212" cy="4972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Avg cost per task</a:t>
            </a:r>
          </a:p>
          <a:p>
            <a:pPr algn="ctr"/>
            <a:r>
              <a:rPr lang="en-US" altLang="zh-TW" sz="1200" dirty="0">
                <a:solidFill>
                  <a:schemeClr val="tx1">
                    <a:lumMod val="65000"/>
                    <a:lumOff val="35000"/>
                  </a:schemeClr>
                </a:solidFill>
                <a:ea typeface="Cambria Math" panose="02040503050406030204" pitchFamily="18" charset="0"/>
              </a:rPr>
              <a:t>(113 tasks, updated Aug 20, 2026)</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Tree>
    <p:extLst>
      <p:ext uri="{BB962C8B-B14F-4D97-AF65-F5344CB8AC3E}">
        <p14:creationId xmlns:p14="http://schemas.microsoft.com/office/powerpoint/2010/main" val="1895003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A5C4F568-3DFA-8382-4525-C8DD5A833A1B}"/>
              </a:ext>
            </a:extLst>
          </p:cNvPr>
          <p:cNvSpPr txBox="1">
            <a:spLocks/>
          </p:cNvSpPr>
          <p:nvPr/>
        </p:nvSpPr>
        <p:spPr>
          <a:xfrm>
            <a:off x="179512" y="116632"/>
            <a:ext cx="590465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hlinkClick r:id="rId3"/>
              </a:rPr>
              <a:t>Agent Arena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Dynamic ranking of models on how well they orchestrate tools for real-world agentic tasks, based on signals like tool reliability, task completion, and steerability.</a:t>
            </a:r>
          </a:p>
        </p:txBody>
      </p:sp>
      <p:pic>
        <p:nvPicPr>
          <p:cNvPr id="9" name="圖片 8">
            <a:extLst>
              <a:ext uri="{FF2B5EF4-FFF2-40B4-BE49-F238E27FC236}">
                <a16:creationId xmlns:a16="http://schemas.microsoft.com/office/drawing/2014/main" id="{7EA5FBFC-20E5-1BDE-8E12-0C96086F903F}"/>
              </a:ext>
            </a:extLst>
          </p:cNvPr>
          <p:cNvPicPr>
            <a:picLocks noChangeAspect="1"/>
          </p:cNvPicPr>
          <p:nvPr/>
        </p:nvPicPr>
        <p:blipFill>
          <a:blip r:embed="rId4"/>
          <a:stretch>
            <a:fillRect/>
          </a:stretch>
        </p:blipFill>
        <p:spPr>
          <a:xfrm>
            <a:off x="99388" y="2924944"/>
            <a:ext cx="8945223" cy="3362794"/>
          </a:xfrm>
          <a:prstGeom prst="rect">
            <a:avLst/>
          </a:prstGeom>
        </p:spPr>
      </p:pic>
      <p:pic>
        <p:nvPicPr>
          <p:cNvPr id="11" name="圖片 10">
            <a:extLst>
              <a:ext uri="{FF2B5EF4-FFF2-40B4-BE49-F238E27FC236}">
                <a16:creationId xmlns:a16="http://schemas.microsoft.com/office/drawing/2014/main" id="{0233300B-9750-0449-9CFB-9A96F6C19BE4}"/>
              </a:ext>
            </a:extLst>
          </p:cNvPr>
          <p:cNvPicPr>
            <a:picLocks noChangeAspect="1"/>
          </p:cNvPicPr>
          <p:nvPr/>
        </p:nvPicPr>
        <p:blipFill>
          <a:blip r:embed="rId5"/>
          <a:stretch>
            <a:fillRect/>
          </a:stretch>
        </p:blipFill>
        <p:spPr>
          <a:xfrm>
            <a:off x="6804248" y="116631"/>
            <a:ext cx="2240363" cy="3639549"/>
          </a:xfrm>
          <a:prstGeom prst="rect">
            <a:avLst/>
          </a:prstGeom>
          <a:effectLst>
            <a:glow rad="76200">
              <a:schemeClr val="accent3">
                <a:lumMod val="50000"/>
              </a:schemeClr>
            </a:glow>
            <a:softEdge rad="0"/>
          </a:effectLst>
        </p:spPr>
      </p:pic>
      <p:sp>
        <p:nvSpPr>
          <p:cNvPr id="13" name="文字方塊 12">
            <a:extLst>
              <a:ext uri="{FF2B5EF4-FFF2-40B4-BE49-F238E27FC236}">
                <a16:creationId xmlns:a16="http://schemas.microsoft.com/office/drawing/2014/main" id="{7469C923-C931-199B-D609-1EB0F4D754BF}"/>
              </a:ext>
            </a:extLst>
          </p:cNvPr>
          <p:cNvSpPr txBox="1"/>
          <p:nvPr/>
        </p:nvSpPr>
        <p:spPr>
          <a:xfrm>
            <a:off x="97131" y="2168742"/>
            <a:ext cx="1954589" cy="61218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Pareto Frontier</a:t>
            </a:r>
          </a:p>
          <a:p>
            <a:r>
              <a:rPr lang="en-US" altLang="zh-TW" sz="1200" dirty="0">
                <a:solidFill>
                  <a:schemeClr val="tx1">
                    <a:lumMod val="65000"/>
                    <a:lumOff val="35000"/>
                  </a:schemeClr>
                </a:solidFill>
                <a:ea typeface="Cambria Math" panose="02040503050406030204" pitchFamily="18" charset="0"/>
              </a:rPr>
              <a:t>Net Improvement x Cost/task </a:t>
            </a:r>
          </a:p>
          <a:p>
            <a:r>
              <a:rPr lang="en-US" altLang="zh-TW" sz="1200" dirty="0">
                <a:solidFill>
                  <a:schemeClr val="tx1">
                    <a:lumMod val="65000"/>
                    <a:lumOff val="35000"/>
                  </a:schemeClr>
                </a:solidFill>
                <a:ea typeface="Cambria Math" panose="02040503050406030204" pitchFamily="18" charset="0"/>
              </a:rPr>
              <a:t>from real Agent Mode tasks</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
        <p:nvSpPr>
          <p:cNvPr id="7" name="文字方塊 6">
            <a:extLst>
              <a:ext uri="{FF2B5EF4-FFF2-40B4-BE49-F238E27FC236}">
                <a16:creationId xmlns:a16="http://schemas.microsoft.com/office/drawing/2014/main" id="{A65F77F6-A88B-2FDF-1597-BE0605C993FA}"/>
              </a:ext>
            </a:extLst>
          </p:cNvPr>
          <p:cNvSpPr txBox="1"/>
          <p:nvPr/>
        </p:nvSpPr>
        <p:spPr>
          <a:xfrm>
            <a:off x="3617893" y="5445224"/>
            <a:ext cx="1908212" cy="4972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Median cost per task</a:t>
            </a:r>
          </a:p>
          <a:p>
            <a:pPr algn="ctr"/>
            <a:r>
              <a:rPr lang="en-US" altLang="zh-TW" sz="1200" dirty="0">
                <a:solidFill>
                  <a:schemeClr val="tx1">
                    <a:lumMod val="65000"/>
                    <a:lumOff val="35000"/>
                  </a:schemeClr>
                </a:solidFill>
                <a:ea typeface="Cambria Math" panose="02040503050406030204" pitchFamily="18" charset="0"/>
              </a:rPr>
              <a:t>(last 14 days, Aug 20, 2026)</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Tree>
    <p:extLst>
      <p:ext uri="{BB962C8B-B14F-4D97-AF65-F5344CB8AC3E}">
        <p14:creationId xmlns:p14="http://schemas.microsoft.com/office/powerpoint/2010/main" val="2945830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F917B-2BED-DF73-A3FB-B159764110DF}"/>
            </a:ext>
          </a:extLst>
        </p:cNvPr>
        <p:cNvGrpSpPr/>
        <p:nvPr/>
      </p:nvGrpSpPr>
      <p:grpSpPr>
        <a:xfrm>
          <a:off x="0" y="0"/>
          <a:ext cx="0" cy="0"/>
          <a:chOff x="0" y="0"/>
          <a:chExt cx="0" cy="0"/>
        </a:xfrm>
      </p:grpSpPr>
      <p:pic>
        <p:nvPicPr>
          <p:cNvPr id="6" name="圖片 5">
            <a:extLst>
              <a:ext uri="{FF2B5EF4-FFF2-40B4-BE49-F238E27FC236}">
                <a16:creationId xmlns:a16="http://schemas.microsoft.com/office/drawing/2014/main" id="{8719F25B-C5E7-AF78-E7FD-04744FCC3DB0}"/>
              </a:ext>
            </a:extLst>
          </p:cNvPr>
          <p:cNvPicPr>
            <a:picLocks noChangeAspect="1"/>
          </p:cNvPicPr>
          <p:nvPr/>
        </p:nvPicPr>
        <p:blipFill>
          <a:blip r:embed="rId3"/>
          <a:stretch>
            <a:fillRect/>
          </a:stretch>
        </p:blipFill>
        <p:spPr>
          <a:xfrm>
            <a:off x="0" y="1556792"/>
            <a:ext cx="9144000" cy="4993667"/>
          </a:xfrm>
          <a:prstGeom prst="rect">
            <a:avLst/>
          </a:prstGeom>
        </p:spPr>
      </p:pic>
      <p:sp>
        <p:nvSpPr>
          <p:cNvPr id="3" name="標題 1">
            <a:extLst>
              <a:ext uri="{FF2B5EF4-FFF2-40B4-BE49-F238E27FC236}">
                <a16:creationId xmlns:a16="http://schemas.microsoft.com/office/drawing/2014/main" id="{DBFEC646-8F67-91FB-5F07-2D5AB2CE5FB2}"/>
              </a:ext>
            </a:extLst>
          </p:cNvPr>
          <p:cNvSpPr txBox="1">
            <a:spLocks/>
          </p:cNvSpPr>
          <p:nvPr/>
        </p:nvSpPr>
        <p:spPr>
          <a:xfrm>
            <a:off x="179512" y="116632"/>
            <a:ext cx="590465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hlinkClick r:id="rId4"/>
              </a:rPr>
              <a:t>Text Arena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View overall rankings across various AI models in text-to-text tasks across math, coding, creative writing, and other open-ended domains.</a:t>
            </a:r>
          </a:p>
        </p:txBody>
      </p:sp>
      <p:sp>
        <p:nvSpPr>
          <p:cNvPr id="7" name="文字方塊 6">
            <a:extLst>
              <a:ext uri="{FF2B5EF4-FFF2-40B4-BE49-F238E27FC236}">
                <a16:creationId xmlns:a16="http://schemas.microsoft.com/office/drawing/2014/main" id="{CDB6239F-1717-B8E1-A207-B7F7EAE3058A}"/>
              </a:ext>
            </a:extLst>
          </p:cNvPr>
          <p:cNvSpPr txBox="1"/>
          <p:nvPr/>
        </p:nvSpPr>
        <p:spPr>
          <a:xfrm>
            <a:off x="3617893" y="6172101"/>
            <a:ext cx="1908212" cy="4972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Blended price per 1M tokens</a:t>
            </a:r>
          </a:p>
          <a:p>
            <a:pPr algn="ctr"/>
            <a:r>
              <a:rPr lang="en-US" altLang="zh-TW" sz="1200" dirty="0">
                <a:solidFill>
                  <a:schemeClr val="tx1">
                    <a:lumMod val="65000"/>
                    <a:lumOff val="35000"/>
                  </a:schemeClr>
                </a:solidFill>
                <a:ea typeface="Cambria Math" panose="02040503050406030204" pitchFamily="18" charset="0"/>
              </a:rPr>
              <a:t>(3:1 Ratio)</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
        <p:nvSpPr>
          <p:cNvPr id="13" name="文字方塊 12">
            <a:extLst>
              <a:ext uri="{FF2B5EF4-FFF2-40B4-BE49-F238E27FC236}">
                <a16:creationId xmlns:a16="http://schemas.microsoft.com/office/drawing/2014/main" id="{4A229551-220B-F2F4-DF9A-D98D727027A4}"/>
              </a:ext>
            </a:extLst>
          </p:cNvPr>
          <p:cNvSpPr txBox="1"/>
          <p:nvPr/>
        </p:nvSpPr>
        <p:spPr>
          <a:xfrm>
            <a:off x="99388" y="2204864"/>
            <a:ext cx="1450533" cy="720080"/>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Pareto Frontier</a:t>
            </a:r>
          </a:p>
          <a:p>
            <a:r>
              <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rPr>
              <a:t>Model performance</a:t>
            </a:r>
          </a:p>
          <a:p>
            <a:r>
              <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rPr>
              <a:t>at each price point</a:t>
            </a:r>
          </a:p>
        </p:txBody>
      </p:sp>
      <p:sp>
        <p:nvSpPr>
          <p:cNvPr id="10" name="文字方塊 9">
            <a:extLst>
              <a:ext uri="{FF2B5EF4-FFF2-40B4-BE49-F238E27FC236}">
                <a16:creationId xmlns:a16="http://schemas.microsoft.com/office/drawing/2014/main" id="{D7BDAB37-452B-E631-B1C7-62F168CA9B05}"/>
              </a:ext>
            </a:extLst>
          </p:cNvPr>
          <p:cNvSpPr txBox="1"/>
          <p:nvPr/>
        </p:nvSpPr>
        <p:spPr>
          <a:xfrm>
            <a:off x="2481511" y="6608231"/>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$20</a:t>
            </a:r>
          </a:p>
        </p:txBody>
      </p:sp>
      <p:sp>
        <p:nvSpPr>
          <p:cNvPr id="14" name="文字方塊 13">
            <a:extLst>
              <a:ext uri="{FF2B5EF4-FFF2-40B4-BE49-F238E27FC236}">
                <a16:creationId xmlns:a16="http://schemas.microsoft.com/office/drawing/2014/main" id="{70BEBE3D-2AF6-E1E3-173A-19BD0106F806}"/>
              </a:ext>
            </a:extLst>
          </p:cNvPr>
          <p:cNvSpPr txBox="1"/>
          <p:nvPr/>
        </p:nvSpPr>
        <p:spPr>
          <a:xfrm>
            <a:off x="1547664" y="6608231"/>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$50</a:t>
            </a:r>
          </a:p>
        </p:txBody>
      </p:sp>
      <p:sp>
        <p:nvSpPr>
          <p:cNvPr id="16" name="文字方塊 15">
            <a:extLst>
              <a:ext uri="{FF2B5EF4-FFF2-40B4-BE49-F238E27FC236}">
                <a16:creationId xmlns:a16="http://schemas.microsoft.com/office/drawing/2014/main" id="{BB625830-132C-851A-62C1-B42C286F2E11}"/>
              </a:ext>
            </a:extLst>
          </p:cNvPr>
          <p:cNvSpPr txBox="1"/>
          <p:nvPr/>
        </p:nvSpPr>
        <p:spPr>
          <a:xfrm>
            <a:off x="8460432" y="6608230"/>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$0.05</a:t>
            </a:r>
          </a:p>
        </p:txBody>
      </p:sp>
      <p:sp>
        <p:nvSpPr>
          <p:cNvPr id="18" name="文字方塊 17">
            <a:extLst>
              <a:ext uri="{FF2B5EF4-FFF2-40B4-BE49-F238E27FC236}">
                <a16:creationId xmlns:a16="http://schemas.microsoft.com/office/drawing/2014/main" id="{8ECD153E-8B4F-7FF8-013D-89B37FAAA210}"/>
              </a:ext>
            </a:extLst>
          </p:cNvPr>
          <p:cNvSpPr txBox="1"/>
          <p:nvPr/>
        </p:nvSpPr>
        <p:spPr>
          <a:xfrm>
            <a:off x="5652120" y="6608231"/>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$1</a:t>
            </a:r>
          </a:p>
        </p:txBody>
      </p:sp>
      <p:sp>
        <p:nvSpPr>
          <p:cNvPr id="20" name="文字方塊 19">
            <a:extLst>
              <a:ext uri="{FF2B5EF4-FFF2-40B4-BE49-F238E27FC236}">
                <a16:creationId xmlns:a16="http://schemas.microsoft.com/office/drawing/2014/main" id="{B1BB2824-A837-4B67-7896-D6E7DC46FF40}"/>
              </a:ext>
            </a:extLst>
          </p:cNvPr>
          <p:cNvSpPr txBox="1"/>
          <p:nvPr/>
        </p:nvSpPr>
        <p:spPr>
          <a:xfrm>
            <a:off x="5001791" y="6610227"/>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$2</a:t>
            </a:r>
          </a:p>
        </p:txBody>
      </p:sp>
      <p:sp>
        <p:nvSpPr>
          <p:cNvPr id="24" name="文字方塊 23">
            <a:extLst>
              <a:ext uri="{FF2B5EF4-FFF2-40B4-BE49-F238E27FC236}">
                <a16:creationId xmlns:a16="http://schemas.microsoft.com/office/drawing/2014/main" id="{BFDC8BDC-40D7-5347-05F5-1C9758BC2DD2}"/>
              </a:ext>
            </a:extLst>
          </p:cNvPr>
          <p:cNvSpPr txBox="1"/>
          <p:nvPr/>
        </p:nvSpPr>
        <p:spPr>
          <a:xfrm>
            <a:off x="205855" y="5589240"/>
            <a:ext cx="504056" cy="4253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Arena</a:t>
            </a:r>
          </a:p>
          <a:p>
            <a:pPr algn="ctr"/>
            <a:r>
              <a:rPr lang="en-US" altLang="zh-TW" sz="1400" b="1" dirty="0">
                <a:ea typeface="Cambria Math" panose="02040503050406030204" pitchFamily="18" charset="0"/>
              </a:rPr>
              <a:t>Score</a:t>
            </a:r>
          </a:p>
        </p:txBody>
      </p:sp>
      <p:pic>
        <p:nvPicPr>
          <p:cNvPr id="26" name="圖片 25">
            <a:extLst>
              <a:ext uri="{FF2B5EF4-FFF2-40B4-BE49-F238E27FC236}">
                <a16:creationId xmlns:a16="http://schemas.microsoft.com/office/drawing/2014/main" id="{BF72E690-F338-721D-9BAF-E5D2C81EEB8C}"/>
              </a:ext>
            </a:extLst>
          </p:cNvPr>
          <p:cNvPicPr>
            <a:picLocks noChangeAspect="1"/>
          </p:cNvPicPr>
          <p:nvPr/>
        </p:nvPicPr>
        <p:blipFill>
          <a:blip r:embed="rId5"/>
          <a:stretch>
            <a:fillRect/>
          </a:stretch>
        </p:blipFill>
        <p:spPr>
          <a:xfrm>
            <a:off x="6804248" y="1582341"/>
            <a:ext cx="1221486" cy="528210"/>
          </a:xfrm>
          <a:prstGeom prst="rect">
            <a:avLst/>
          </a:prstGeom>
        </p:spPr>
      </p:pic>
      <p:pic>
        <p:nvPicPr>
          <p:cNvPr id="28" name="圖片 27">
            <a:extLst>
              <a:ext uri="{FF2B5EF4-FFF2-40B4-BE49-F238E27FC236}">
                <a16:creationId xmlns:a16="http://schemas.microsoft.com/office/drawing/2014/main" id="{D3C265AA-0CC5-7950-04A6-DEE5E50044EA}"/>
              </a:ext>
            </a:extLst>
          </p:cNvPr>
          <p:cNvPicPr>
            <a:picLocks noChangeAspect="1"/>
          </p:cNvPicPr>
          <p:nvPr/>
        </p:nvPicPr>
        <p:blipFill>
          <a:blip r:embed="rId6"/>
          <a:stretch>
            <a:fillRect/>
          </a:stretch>
        </p:blipFill>
        <p:spPr>
          <a:xfrm>
            <a:off x="7867980" y="2396734"/>
            <a:ext cx="1184904" cy="528210"/>
          </a:xfrm>
          <a:prstGeom prst="rect">
            <a:avLst/>
          </a:prstGeom>
        </p:spPr>
      </p:pic>
    </p:spTree>
    <p:extLst>
      <p:ext uri="{BB962C8B-B14F-4D97-AF65-F5344CB8AC3E}">
        <p14:creationId xmlns:p14="http://schemas.microsoft.com/office/powerpoint/2010/main" val="830284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A6CC2-BDE4-965A-84C4-C8CEAFC9885E}"/>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F28CCEC3-1387-0743-9796-8CCF90C0AE03}"/>
              </a:ext>
            </a:extLst>
          </p:cNvPr>
          <p:cNvGraphicFramePr>
            <a:graphicFrameLocks noGrp="1"/>
          </p:cNvGraphicFramePr>
          <p:nvPr>
            <p:extLst>
              <p:ext uri="{D42A27DB-BD31-4B8C-83A1-F6EECF244321}">
                <p14:modId xmlns:p14="http://schemas.microsoft.com/office/powerpoint/2010/main" val="141976597"/>
              </p:ext>
            </p:extLst>
          </p:nvPr>
        </p:nvGraphicFramePr>
        <p:xfrm>
          <a:off x="300657" y="1084161"/>
          <a:ext cx="8542691" cy="4276923"/>
        </p:xfrm>
        <a:graphic>
          <a:graphicData uri="http://schemas.openxmlformats.org/drawingml/2006/table">
            <a:tbl>
              <a:tblPr firstRow="1" bandRow="1">
                <a:tableStyleId>{5C22544A-7EE6-4342-B048-85BDC9FD1C3A}</a:tableStyleId>
              </a:tblPr>
              <a:tblGrid>
                <a:gridCol w="382911">
                  <a:extLst>
                    <a:ext uri="{9D8B030D-6E8A-4147-A177-3AD203B41FA5}">
                      <a16:colId xmlns:a16="http://schemas.microsoft.com/office/drawing/2014/main" val="3115215194"/>
                    </a:ext>
                  </a:extLst>
                </a:gridCol>
                <a:gridCol w="766178">
                  <a:extLst>
                    <a:ext uri="{9D8B030D-6E8A-4147-A177-3AD203B41FA5}">
                      <a16:colId xmlns:a16="http://schemas.microsoft.com/office/drawing/2014/main" val="4024420245"/>
                    </a:ext>
                  </a:extLst>
                </a:gridCol>
                <a:gridCol w="766178">
                  <a:extLst>
                    <a:ext uri="{9D8B030D-6E8A-4147-A177-3AD203B41FA5}">
                      <a16:colId xmlns:a16="http://schemas.microsoft.com/office/drawing/2014/main" val="2857999959"/>
                    </a:ext>
                  </a:extLst>
                </a:gridCol>
                <a:gridCol w="766178">
                  <a:extLst>
                    <a:ext uri="{9D8B030D-6E8A-4147-A177-3AD203B41FA5}">
                      <a16:colId xmlns:a16="http://schemas.microsoft.com/office/drawing/2014/main" val="310011697"/>
                    </a:ext>
                  </a:extLst>
                </a:gridCol>
                <a:gridCol w="766178">
                  <a:extLst>
                    <a:ext uri="{9D8B030D-6E8A-4147-A177-3AD203B41FA5}">
                      <a16:colId xmlns:a16="http://schemas.microsoft.com/office/drawing/2014/main" val="932094440"/>
                    </a:ext>
                  </a:extLst>
                </a:gridCol>
                <a:gridCol w="1039744">
                  <a:extLst>
                    <a:ext uri="{9D8B030D-6E8A-4147-A177-3AD203B41FA5}">
                      <a16:colId xmlns:a16="http://schemas.microsoft.com/office/drawing/2014/main" val="1885199976"/>
                    </a:ext>
                  </a:extLst>
                </a:gridCol>
                <a:gridCol w="1080120">
                  <a:extLst>
                    <a:ext uri="{9D8B030D-6E8A-4147-A177-3AD203B41FA5}">
                      <a16:colId xmlns:a16="http://schemas.microsoft.com/office/drawing/2014/main" val="2502900903"/>
                    </a:ext>
                  </a:extLst>
                </a:gridCol>
                <a:gridCol w="743801">
                  <a:extLst>
                    <a:ext uri="{9D8B030D-6E8A-4147-A177-3AD203B41FA5}">
                      <a16:colId xmlns:a16="http://schemas.microsoft.com/office/drawing/2014/main" val="2600189719"/>
                    </a:ext>
                  </a:extLst>
                </a:gridCol>
                <a:gridCol w="743801">
                  <a:extLst>
                    <a:ext uri="{9D8B030D-6E8A-4147-A177-3AD203B41FA5}">
                      <a16:colId xmlns:a16="http://schemas.microsoft.com/office/drawing/2014/main" val="217543664"/>
                    </a:ext>
                  </a:extLst>
                </a:gridCol>
                <a:gridCol w="743801">
                  <a:extLst>
                    <a:ext uri="{9D8B030D-6E8A-4147-A177-3AD203B41FA5}">
                      <a16:colId xmlns:a16="http://schemas.microsoft.com/office/drawing/2014/main" val="2209626822"/>
                    </a:ext>
                  </a:extLst>
                </a:gridCol>
                <a:gridCol w="743801">
                  <a:extLst>
                    <a:ext uri="{9D8B030D-6E8A-4147-A177-3AD203B41FA5}">
                      <a16:colId xmlns:a16="http://schemas.microsoft.com/office/drawing/2014/main" val="2727600684"/>
                    </a:ext>
                  </a:extLst>
                </a:gridCol>
              </a:tblGrid>
              <a:tr h="668032">
                <a:tc>
                  <a:txBody>
                    <a:bodyPr/>
                    <a:lstStyle/>
                    <a:p>
                      <a:pPr algn="l"/>
                      <a:endParaRPr lang="en-US" altLang="zh-TW" sz="1200" b="1" cap="none" spc="0" dirty="0">
                        <a:ln w="0"/>
                        <a:solidFill>
                          <a:schemeClr val="tx1"/>
                        </a:solidFill>
                        <a:effectLst/>
                        <a:latin typeface="+mn-lt"/>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Modern Open-Source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Backbone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Cross-Border Academic Collaboration</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Community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-Driven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Pioneers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Independent &amp;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Native Pillars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latin typeface="+mn-lt"/>
                      </a:endParaRPr>
                    </a:p>
                  </a:txBody>
                  <a:tcPr marL="0" marR="0" marT="0" marB="0" anchor="ctr" anchorCtr="1">
                    <a:lnL w="6350" cap="flat" cmpd="sng" algn="ctr">
                      <a:solidFill>
                        <a:schemeClr val="accent4">
                          <a:lumMod val="75000"/>
                        </a:schemeClr>
                      </a:solidFill>
                      <a:prstDash val="solid"/>
                      <a:round/>
                      <a:headEnd type="none" w="med" len="med"/>
                      <a:tailEnd type="none" w="med" len="med"/>
                    </a:lnL>
                    <a:lnR w="6350" cap="flat" cmpd="sng" algn="ctr">
                      <a:solidFill>
                        <a:schemeClr val="accent4">
                          <a:lumMod val="75000"/>
                        </a:schemeClr>
                      </a:solidFill>
                      <a:prstDash val="solid"/>
                      <a:round/>
                      <a:headEnd type="none" w="med" len="med"/>
                      <a:tailEnd type="none" w="med" len="med"/>
                    </a:lnR>
                    <a:lnT w="6350" cap="flat" cmpd="sng" algn="ctr">
                      <a:solidFill>
                        <a:schemeClr val="accent4">
                          <a:lumMod val="75000"/>
                        </a:schemeClr>
                      </a:solidFill>
                      <a:prstDash val="solid"/>
                      <a:round/>
                      <a:headEnd type="none" w="med" len="med"/>
                      <a:tailEnd type="none" w="med" len="med"/>
                    </a:lnT>
                    <a:lnB w="63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213515898"/>
                  </a:ext>
                </a:extLst>
              </a:tr>
              <a:tr h="7578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DeepMind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(Google)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Phi</a:t>
                      </a:r>
                      <a:br>
                        <a:rPr kumimoji="0" lang="en-US" altLang="zh-TW" sz="1200" b="1" i="0" u="none" strike="noStrike" kern="1200" cap="none" spc="0" normalizeH="0" baseline="0" noProof="0" dirty="0">
                          <a:ln w="0"/>
                          <a:solidFill>
                            <a:schemeClr val="tx2"/>
                          </a:solidFill>
                          <a:effectLst/>
                          <a:uLnTx/>
                          <a:uFillTx/>
                          <a:latin typeface="+mn-lt"/>
                          <a:ea typeface="+mn-ea"/>
                          <a:cs typeface="+mn-cs"/>
                        </a:rPr>
                      </a:br>
                      <a:r>
                        <a:rPr kumimoji="0" lang="en-US" altLang="zh-TW" sz="1000" b="0" i="0" u="none" strike="noStrike" kern="1200" cap="none" spc="0" normalizeH="0" baseline="0" noProof="0" dirty="0">
                          <a:ln w="0"/>
                          <a:solidFill>
                            <a:schemeClr val="tx2"/>
                          </a:solidFill>
                          <a:effectLst/>
                          <a:uLnTx/>
                          <a:uFillTx/>
                          <a:latin typeface="+mn-lt"/>
                          <a:ea typeface="+mn-ea"/>
                          <a:cs typeface="+mn-cs"/>
                        </a:rPr>
                        <a:t>(Microsoft)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(FAIR)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(Europe)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BigScience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France</a:t>
                      </a:r>
                      <a:r>
                        <a:rPr kumimoji="0" lang="zh-TW" altLang="en-US" sz="1000" b="0" i="0" u="none" strike="noStrike" kern="1200" cap="none" spc="0" normalizeH="0" baseline="0" noProof="0" dirty="0">
                          <a:ln w="0"/>
                          <a:solidFill>
                            <a:schemeClr val="tx2"/>
                          </a:solidFill>
                          <a:effectLst/>
                          <a:uLnTx/>
                          <a:uFillTx/>
                          <a:latin typeface="+mn-lt"/>
                          <a:ea typeface="+mn-ea"/>
                          <a:cs typeface="+mn-cs"/>
                        </a:rPr>
                        <a:t> </a:t>
                      </a:r>
                      <a:r>
                        <a:rPr kumimoji="0" lang="en-US" altLang="zh-TW" sz="1000" b="0" i="0" u="none" strike="noStrike" kern="1200" cap="none" spc="0" normalizeH="0" baseline="0" noProof="0" dirty="0">
                          <a:ln w="0"/>
                          <a:solidFill>
                            <a:schemeClr val="tx2"/>
                          </a:solidFill>
                          <a:effectLst/>
                          <a:uLnTx/>
                          <a:uFillTx/>
                          <a:latin typeface="+mn-lt"/>
                          <a:ea typeface="+mn-ea"/>
                          <a:cs typeface="+mn-cs"/>
                        </a:rPr>
                        <a:t> and 1000+ scientists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EleutherAI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CoreWeave,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Stability AI,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Technology Innovation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Institute </a:t>
                      </a:r>
                      <a:r>
                        <a:rPr kumimoji="0" lang="en-US" altLang="zh-TW" sz="1000" b="0" i="0" u="none" strike="noStrike" kern="1200" cap="none" spc="0" normalizeH="0" baseline="0" noProof="0" dirty="0">
                          <a:ln w="0"/>
                          <a:solidFill>
                            <a:schemeClr val="tx2"/>
                          </a:solidFill>
                          <a:effectLst/>
                          <a:uLnTx/>
                          <a:uFillTx/>
                          <a:latin typeface="+mn-lt"/>
                          <a:ea typeface="+mn-ea"/>
                          <a:cs typeface="+mn-cs"/>
                        </a:rPr>
                        <a:t>(NV)</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(Alibaba)</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MoE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(DeepSeek)</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(Moonshot)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603224414"/>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GPT-Neo</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41340391"/>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GPT-J</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49642222"/>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2022</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bg2">
                              <a:lumMod val="50000"/>
                            </a:schemeClr>
                          </a:solidFill>
                          <a:effectLst/>
                          <a:uLnTx/>
                          <a:uFillTx/>
                          <a:latin typeface="+mn-lt"/>
                          <a:ea typeface="+mn-ea"/>
                          <a:cs typeface="+mn-cs"/>
                        </a:rPr>
                        <a:t>BLOOM</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r>
                        <a:rPr kumimoji="0" lang="en-US" altLang="zh-TW" sz="1200" b="0" i="0" u="none" strike="noStrike" kern="1200" cap="none" spc="0" normalizeH="0" baseline="0" noProof="0" dirty="0" err="1">
                          <a:ln w="0"/>
                          <a:solidFill>
                            <a:prstClr val="black"/>
                          </a:solidFill>
                          <a:effectLst/>
                          <a:uLnTx/>
                          <a:uFillTx/>
                          <a:latin typeface="+mn-lt"/>
                          <a:ea typeface="+mn-ea"/>
                          <a:cs typeface="+mn-cs"/>
                        </a:rPr>
                        <a:t>NeoX</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4832629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7B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Mixtral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LLeMA</a:t>
                      </a: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LLM</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14491690"/>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2.5</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5925935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Large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The Common Pile</a:t>
                      </a: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H1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3.0</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2492193"/>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Vision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Muse 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Small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LM-Evaluation-Harness</a:t>
                      </a:r>
                      <a:endParaRPr kumimoji="0" lang="zh-TW" altLang="en-US" sz="1200" b="0" i="0" u="none" strike="noStrike" kern="1200" cap="none" spc="0" normalizeH="0" baseline="0" noProof="0" dirty="0">
                        <a:ln w="0"/>
                        <a:solidFill>
                          <a:schemeClr val="tx1">
                            <a:lumMod val="50000"/>
                            <a:lumOff val="50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H1R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024983"/>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2451293"/>
                  </a:ext>
                </a:extLst>
              </a:tr>
            </a:tbl>
          </a:graphicData>
        </a:graphic>
      </p:graphicFrame>
      <p:sp>
        <p:nvSpPr>
          <p:cNvPr id="6" name="標題 1">
            <a:extLst>
              <a:ext uri="{FF2B5EF4-FFF2-40B4-BE49-F238E27FC236}">
                <a16:creationId xmlns:a16="http://schemas.microsoft.com/office/drawing/2014/main" id="{2584B682-80DC-5350-E199-F653A8484A51}"/>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The Evolution of Open-Source LLMs</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From 2020 to 2026.</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9C034926-36B1-924C-1E61-4CBCD515102C}"/>
              </a:ext>
            </a:extLst>
          </p:cNvPr>
          <p:cNvPicPr>
            <a:picLocks noChangeAspect="1"/>
          </p:cNvPicPr>
          <p:nvPr/>
        </p:nvPicPr>
        <p:blipFill>
          <a:blip r:embed="rId3"/>
          <a:stretch>
            <a:fillRect/>
          </a:stretch>
        </p:blipFill>
        <p:spPr>
          <a:xfrm>
            <a:off x="6807316" y="5216376"/>
            <a:ext cx="284964" cy="284964"/>
          </a:xfrm>
          <a:prstGeom prst="rect">
            <a:avLst/>
          </a:prstGeom>
          <a:effectLst>
            <a:glow rad="12700">
              <a:schemeClr val="bg1">
                <a:lumMod val="95000"/>
                <a:alpha val="40000"/>
              </a:schemeClr>
            </a:glow>
            <a:softEdge rad="25400"/>
          </a:effectLst>
        </p:spPr>
      </p:pic>
      <p:pic>
        <p:nvPicPr>
          <p:cNvPr id="12" name="圖片 11">
            <a:extLst>
              <a:ext uri="{FF2B5EF4-FFF2-40B4-BE49-F238E27FC236}">
                <a16:creationId xmlns:a16="http://schemas.microsoft.com/office/drawing/2014/main" id="{B49E799F-C565-ABB2-F1E1-804D95D1669C}"/>
              </a:ext>
            </a:extLst>
          </p:cNvPr>
          <p:cNvPicPr>
            <a:picLocks noChangeAspect="1"/>
          </p:cNvPicPr>
          <p:nvPr/>
        </p:nvPicPr>
        <p:blipFill>
          <a:blip r:embed="rId4"/>
          <a:stretch>
            <a:fillRect/>
          </a:stretch>
        </p:blipFill>
        <p:spPr>
          <a:xfrm>
            <a:off x="7533826" y="5208414"/>
            <a:ext cx="350542" cy="284964"/>
          </a:xfrm>
          <a:prstGeom prst="rect">
            <a:avLst/>
          </a:prstGeom>
        </p:spPr>
      </p:pic>
      <p:pic>
        <p:nvPicPr>
          <p:cNvPr id="16" name="圖片 15">
            <a:extLst>
              <a:ext uri="{FF2B5EF4-FFF2-40B4-BE49-F238E27FC236}">
                <a16:creationId xmlns:a16="http://schemas.microsoft.com/office/drawing/2014/main" id="{37610F10-8CC5-F71E-FB14-609A88EA39AD}"/>
              </a:ext>
            </a:extLst>
          </p:cNvPr>
          <p:cNvPicPr>
            <a:picLocks noChangeAspect="1"/>
          </p:cNvPicPr>
          <p:nvPr/>
        </p:nvPicPr>
        <p:blipFill>
          <a:blip r:embed="rId5"/>
          <a:stretch>
            <a:fillRect/>
          </a:stretch>
        </p:blipFill>
        <p:spPr>
          <a:xfrm>
            <a:off x="3275856" y="5184697"/>
            <a:ext cx="284964" cy="284964"/>
          </a:xfrm>
          <a:prstGeom prst="rect">
            <a:avLst/>
          </a:prstGeom>
        </p:spPr>
      </p:pic>
      <p:pic>
        <p:nvPicPr>
          <p:cNvPr id="20" name="圖片 19">
            <a:extLst>
              <a:ext uri="{FF2B5EF4-FFF2-40B4-BE49-F238E27FC236}">
                <a16:creationId xmlns:a16="http://schemas.microsoft.com/office/drawing/2014/main" id="{3C663D43-268C-53AE-455E-FD0977CCE05C}"/>
              </a:ext>
            </a:extLst>
          </p:cNvPr>
          <p:cNvPicPr>
            <a:picLocks noChangeAspect="1"/>
          </p:cNvPicPr>
          <p:nvPr/>
        </p:nvPicPr>
        <p:blipFill>
          <a:blip r:embed="rId6"/>
          <a:stretch>
            <a:fillRect/>
          </a:stretch>
        </p:blipFill>
        <p:spPr>
          <a:xfrm>
            <a:off x="879223" y="5151468"/>
            <a:ext cx="380409" cy="380409"/>
          </a:xfrm>
          <a:prstGeom prst="rect">
            <a:avLst/>
          </a:prstGeom>
          <a:effectLst>
            <a:glow rad="25400">
              <a:schemeClr val="accent5">
                <a:lumMod val="40000"/>
                <a:lumOff val="60000"/>
                <a:alpha val="40000"/>
              </a:schemeClr>
            </a:glow>
            <a:softEdge rad="12700"/>
          </a:effectLst>
        </p:spPr>
      </p:pic>
      <p:pic>
        <p:nvPicPr>
          <p:cNvPr id="9" name="圖片 8">
            <a:extLst>
              <a:ext uri="{FF2B5EF4-FFF2-40B4-BE49-F238E27FC236}">
                <a16:creationId xmlns:a16="http://schemas.microsoft.com/office/drawing/2014/main" id="{F5012F1A-6F0A-97DF-CC14-7D190C26E4F0}"/>
              </a:ext>
            </a:extLst>
          </p:cNvPr>
          <p:cNvPicPr>
            <a:picLocks noChangeAspect="1"/>
          </p:cNvPicPr>
          <p:nvPr/>
        </p:nvPicPr>
        <p:blipFill>
          <a:blip r:embed="rId7"/>
          <a:stretch>
            <a:fillRect/>
          </a:stretch>
        </p:blipFill>
        <p:spPr>
          <a:xfrm>
            <a:off x="2483768" y="5240323"/>
            <a:ext cx="284964" cy="225568"/>
          </a:xfrm>
          <a:prstGeom prst="rect">
            <a:avLst/>
          </a:prstGeom>
        </p:spPr>
      </p:pic>
      <p:pic>
        <p:nvPicPr>
          <p:cNvPr id="22" name="圖片 21">
            <a:extLst>
              <a:ext uri="{FF2B5EF4-FFF2-40B4-BE49-F238E27FC236}">
                <a16:creationId xmlns:a16="http://schemas.microsoft.com/office/drawing/2014/main" id="{3D4C8B4F-8579-798A-BD81-2A9ED45B4E54}"/>
              </a:ext>
            </a:extLst>
          </p:cNvPr>
          <p:cNvPicPr>
            <a:picLocks noChangeAspect="1"/>
          </p:cNvPicPr>
          <p:nvPr/>
        </p:nvPicPr>
        <p:blipFill>
          <a:blip r:embed="rId8"/>
          <a:stretch>
            <a:fillRect/>
          </a:stretch>
        </p:blipFill>
        <p:spPr>
          <a:xfrm>
            <a:off x="8317433" y="5208413"/>
            <a:ext cx="287015" cy="284965"/>
          </a:xfrm>
          <a:prstGeom prst="rect">
            <a:avLst/>
          </a:prstGeom>
        </p:spPr>
      </p:pic>
      <p:pic>
        <p:nvPicPr>
          <p:cNvPr id="30" name="圖片 29">
            <a:extLst>
              <a:ext uri="{FF2B5EF4-FFF2-40B4-BE49-F238E27FC236}">
                <a16:creationId xmlns:a16="http://schemas.microsoft.com/office/drawing/2014/main" id="{46A64EA5-8F7A-E610-5F8F-CE72FAA64EBE}"/>
              </a:ext>
            </a:extLst>
          </p:cNvPr>
          <p:cNvPicPr>
            <a:picLocks noChangeAspect="1"/>
          </p:cNvPicPr>
          <p:nvPr/>
        </p:nvPicPr>
        <p:blipFill>
          <a:blip r:embed="rId9"/>
          <a:stretch>
            <a:fillRect/>
          </a:stretch>
        </p:blipFill>
        <p:spPr>
          <a:xfrm>
            <a:off x="3779912" y="2942072"/>
            <a:ext cx="980309" cy="265437"/>
          </a:xfrm>
          <a:prstGeom prst="rect">
            <a:avLst/>
          </a:prstGeom>
          <a:effectLst>
            <a:glow rad="50800">
              <a:schemeClr val="tx1">
                <a:alpha val="20000"/>
              </a:schemeClr>
            </a:glow>
            <a:softEdge rad="0"/>
          </a:effectLst>
        </p:spPr>
      </p:pic>
      <p:pic>
        <p:nvPicPr>
          <p:cNvPr id="31" name="圖片 30" descr="EleutherAI">
            <a:extLst>
              <a:ext uri="{FF2B5EF4-FFF2-40B4-BE49-F238E27FC236}">
                <a16:creationId xmlns:a16="http://schemas.microsoft.com/office/drawing/2014/main" id="{B9927168-FE93-7A1D-D637-FBC5D13D256E}"/>
              </a:ext>
            </a:extLst>
          </p:cNvPr>
          <p:cNvPicPr>
            <a:picLocks noChangeAspect="1"/>
          </p:cNvPicPr>
          <p:nvPr/>
        </p:nvPicPr>
        <p:blipFill>
          <a:blip r:embed="rId10"/>
          <a:stretch>
            <a:fillRect/>
          </a:stretch>
        </p:blipFill>
        <p:spPr>
          <a:xfrm>
            <a:off x="4355976" y="3915928"/>
            <a:ext cx="1595502" cy="331066"/>
          </a:xfrm>
          <a:prstGeom prst="rect">
            <a:avLst/>
          </a:prstGeom>
          <a:effectLst>
            <a:glow rad="76200">
              <a:schemeClr val="tx1">
                <a:alpha val="80000"/>
              </a:schemeClr>
            </a:glow>
            <a:softEdge rad="0"/>
          </a:effectLst>
        </p:spPr>
      </p:pic>
      <p:pic>
        <p:nvPicPr>
          <p:cNvPr id="34" name="圖片 33">
            <a:extLst>
              <a:ext uri="{FF2B5EF4-FFF2-40B4-BE49-F238E27FC236}">
                <a16:creationId xmlns:a16="http://schemas.microsoft.com/office/drawing/2014/main" id="{736F2CD2-8368-1411-CDA1-CD7BED977C1D}"/>
              </a:ext>
            </a:extLst>
          </p:cNvPr>
          <p:cNvPicPr>
            <a:picLocks noChangeAspect="1"/>
          </p:cNvPicPr>
          <p:nvPr/>
        </p:nvPicPr>
        <p:blipFill>
          <a:blip r:embed="rId11"/>
          <a:stretch>
            <a:fillRect/>
          </a:stretch>
        </p:blipFill>
        <p:spPr>
          <a:xfrm>
            <a:off x="6084168" y="5184558"/>
            <a:ext cx="272407" cy="332674"/>
          </a:xfrm>
          <a:prstGeom prst="rect">
            <a:avLst/>
          </a:prstGeom>
        </p:spPr>
      </p:pic>
      <p:pic>
        <p:nvPicPr>
          <p:cNvPr id="36" name="圖片 35">
            <a:extLst>
              <a:ext uri="{FF2B5EF4-FFF2-40B4-BE49-F238E27FC236}">
                <a16:creationId xmlns:a16="http://schemas.microsoft.com/office/drawing/2014/main" id="{19738192-72EC-1EEB-D2CA-5EDC92128DB0}"/>
              </a:ext>
            </a:extLst>
          </p:cNvPr>
          <p:cNvPicPr>
            <a:picLocks noChangeAspect="1"/>
          </p:cNvPicPr>
          <p:nvPr/>
        </p:nvPicPr>
        <p:blipFill>
          <a:blip r:embed="rId12"/>
          <a:stretch>
            <a:fillRect/>
          </a:stretch>
        </p:blipFill>
        <p:spPr>
          <a:xfrm>
            <a:off x="1715117" y="5184558"/>
            <a:ext cx="288546" cy="281333"/>
          </a:xfrm>
          <a:prstGeom prst="rect">
            <a:avLst/>
          </a:prstGeom>
        </p:spPr>
      </p:pic>
    </p:spTree>
    <p:extLst>
      <p:ext uri="{BB962C8B-B14F-4D97-AF65-F5344CB8AC3E}">
        <p14:creationId xmlns:p14="http://schemas.microsoft.com/office/powerpoint/2010/main" val="23005067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0AD4ABC-CD64-231B-FB43-9435DC0B2782}"/>
              </a:ext>
            </a:extLst>
          </p:cNvPr>
          <p:cNvSpPr/>
          <p:nvPr/>
        </p:nvSpPr>
        <p:spPr>
          <a:xfrm>
            <a:off x="6327074" y="3870792"/>
            <a:ext cx="1653476" cy="1132637"/>
          </a:xfrm>
          <a:prstGeom prst="rect">
            <a:avLst/>
          </a:prstGeom>
          <a:noFill/>
          <a:ln w="381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t" anchorCtr="0"/>
          <a:lstStyle/>
          <a:p>
            <a:pPr algn="ctr">
              <a:lnSpc>
                <a:spcPts val="1600"/>
              </a:lnSpc>
            </a:pP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BioMCP</a:t>
            </a:r>
          </a:p>
          <a:p>
            <a:pPr algn="ctr">
              <a:lnSpc>
                <a:spcPts val="1600"/>
              </a:lnSpc>
            </a:pPr>
            <a:r>
              <a:rPr lang="en-US" altLang="zh-TW" sz="1000" dirty="0">
                <a:solidFill>
                  <a:schemeClr val="tx2"/>
                </a:solidFill>
                <a:ea typeface="ADLaM Display" panose="02010000000000000000" pitchFamily="2" charset="0"/>
                <a:cs typeface="ADLaM Display" panose="02010000000000000000" pitchFamily="2" charset="0"/>
              </a:rPr>
              <a:t>(GenomOncology)</a:t>
            </a:r>
          </a:p>
        </p:txBody>
      </p:sp>
      <p:pic>
        <p:nvPicPr>
          <p:cNvPr id="10" name="圖片 9">
            <a:extLst>
              <a:ext uri="{FF2B5EF4-FFF2-40B4-BE49-F238E27FC236}">
                <a16:creationId xmlns:a16="http://schemas.microsoft.com/office/drawing/2014/main" id="{E4147E76-B7BC-90E2-7BFF-C06ADDA56766}"/>
              </a:ext>
            </a:extLst>
          </p:cNvPr>
          <p:cNvPicPr preferRelativeResize="0">
            <a:picLocks/>
          </p:cNvPicPr>
          <p:nvPr/>
        </p:nvPicPr>
        <p:blipFill>
          <a:blip r:embed="rId2"/>
          <a:stretch>
            <a:fillRect/>
          </a:stretch>
        </p:blipFill>
        <p:spPr>
          <a:xfrm>
            <a:off x="7773142" y="3775247"/>
            <a:ext cx="337313" cy="341304"/>
          </a:xfrm>
          <a:prstGeom prst="rect">
            <a:avLst/>
          </a:prstGeom>
          <a:solidFill>
            <a:schemeClr val="accent4">
              <a:lumMod val="20000"/>
              <a:lumOff val="80000"/>
            </a:schemeClr>
          </a:solidFill>
          <a:ln w="19050">
            <a:solidFill>
              <a:schemeClr val="bg1">
                <a:lumMod val="95000"/>
              </a:schemeClr>
            </a:solidFill>
          </a:ln>
          <a:effectLst>
            <a:glow rad="50800">
              <a:schemeClr val="bg1">
                <a:lumMod val="95000"/>
                <a:alpha val="60000"/>
              </a:schemeClr>
            </a:glow>
            <a:softEdge rad="25400"/>
          </a:effectLst>
        </p:spPr>
      </p:pic>
      <p:sp>
        <p:nvSpPr>
          <p:cNvPr id="13" name="矩形 12">
            <a:extLst>
              <a:ext uri="{FF2B5EF4-FFF2-40B4-BE49-F238E27FC236}">
                <a16:creationId xmlns:a16="http://schemas.microsoft.com/office/drawing/2014/main" id="{B0DD0BED-91C0-BCE7-310E-4C34D250658A}"/>
              </a:ext>
            </a:extLst>
          </p:cNvPr>
          <p:cNvSpPr/>
          <p:nvPr/>
        </p:nvSpPr>
        <p:spPr>
          <a:xfrm>
            <a:off x="6416947" y="4429360"/>
            <a:ext cx="1473729" cy="450859"/>
          </a:xfrm>
          <a:prstGeom prst="rect">
            <a:avLst/>
          </a:prstGeom>
          <a:solidFill>
            <a:schemeClr val="accent3">
              <a:lumMod val="20000"/>
              <a:lumOff val="80000"/>
            </a:schemeClr>
          </a:solidFill>
          <a:ln w="254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18288" rIns="0" bIns="0" rtlCol="0" anchor="t" anchorCtr="0"/>
          <a:lstStyle/>
          <a:p>
            <a:pPr algn="ctr">
              <a:lnSpc>
                <a:spcPts val="1600"/>
              </a:lnSpc>
            </a:pPr>
            <a: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t>MyVariant.info</a:t>
            </a:r>
            <a:b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br>
            <a:r>
              <a:rPr lang="en-US" altLang="zh-TW" sz="1000" dirty="0">
                <a:solidFill>
                  <a:schemeClr val="tx2"/>
                </a:solidFill>
                <a:ea typeface="ADLaM Display" panose="02010000000000000000" pitchFamily="2" charset="0"/>
                <a:cs typeface="ADLaM Display" panose="02010000000000000000" pitchFamily="2" charset="0"/>
              </a:rPr>
              <a:t>(Scripps Research Institute)</a:t>
            </a:r>
          </a:p>
        </p:txBody>
      </p:sp>
      <p:pic>
        <p:nvPicPr>
          <p:cNvPr id="21" name="圖片 20">
            <a:extLst>
              <a:ext uri="{FF2B5EF4-FFF2-40B4-BE49-F238E27FC236}">
                <a16:creationId xmlns:a16="http://schemas.microsoft.com/office/drawing/2014/main" id="{2B983750-F74C-B5C1-10D1-73369C6FD831}"/>
              </a:ext>
            </a:extLst>
          </p:cNvPr>
          <p:cNvPicPr>
            <a:picLocks noChangeAspect="1"/>
          </p:cNvPicPr>
          <p:nvPr/>
        </p:nvPicPr>
        <p:blipFill>
          <a:blip r:embed="rId3"/>
          <a:stretch>
            <a:fillRect/>
          </a:stretch>
        </p:blipFill>
        <p:spPr>
          <a:xfrm>
            <a:off x="7795844" y="4283349"/>
            <a:ext cx="314611" cy="341305"/>
          </a:xfrm>
          <a:prstGeom prst="rect">
            <a:avLst/>
          </a:prstGeom>
          <a:effectLst>
            <a:glow rad="50800">
              <a:schemeClr val="tx1">
                <a:lumMod val="95000"/>
                <a:lumOff val="5000"/>
                <a:alpha val="60000"/>
              </a:schemeClr>
            </a:glow>
            <a:softEdge rad="25400"/>
          </a:effectLst>
        </p:spPr>
      </p:pic>
      <p:graphicFrame>
        <p:nvGraphicFramePr>
          <p:cNvPr id="109" name="表格 108">
            <a:extLst>
              <a:ext uri="{FF2B5EF4-FFF2-40B4-BE49-F238E27FC236}">
                <a16:creationId xmlns:a16="http://schemas.microsoft.com/office/drawing/2014/main" id="{21D0682F-D0D5-3FEB-FA02-4B5EAE7E36DD}"/>
              </a:ext>
            </a:extLst>
          </p:cNvPr>
          <p:cNvGraphicFramePr>
            <a:graphicFrameLocks noGrp="1"/>
          </p:cNvGraphicFramePr>
          <p:nvPr/>
        </p:nvGraphicFramePr>
        <p:xfrm>
          <a:off x="2334256" y="4034730"/>
          <a:ext cx="1432386" cy="2050040"/>
        </p:xfrm>
        <a:graphic>
          <a:graphicData uri="http://schemas.openxmlformats.org/drawingml/2006/table">
            <a:tbl>
              <a:tblPr firstRow="1" bandRow="1">
                <a:tableStyleId>{5C22544A-7EE6-4342-B048-85BDC9FD1C3A}</a:tableStyleId>
              </a:tblPr>
              <a:tblGrid>
                <a:gridCol w="1432386">
                  <a:extLst>
                    <a:ext uri="{9D8B030D-6E8A-4147-A177-3AD203B41FA5}">
                      <a16:colId xmlns:a16="http://schemas.microsoft.com/office/drawing/2014/main" val="2211145501"/>
                    </a:ext>
                  </a:extLst>
                </a:gridCol>
              </a:tblGrid>
              <a:tr h="122704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zh-TW" sz="1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6">
                              <a:lumMod val="75000"/>
                            </a:schemeClr>
                          </a:solidFill>
                          <a:effectLst/>
                          <a:uLnTx/>
                          <a:uFillTx/>
                          <a:latin typeface="+mn-lt"/>
                          <a:ea typeface="+mn-ea"/>
                          <a:cs typeface="+mn-cs"/>
                        </a:rPr>
                        <a:t>Fine-Tunning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6">
                              <a:lumMod val="75000"/>
                            </a:schemeClr>
                          </a:solidFill>
                          <a:effectLst/>
                          <a:uLnTx/>
                          <a:uFillTx/>
                          <a:latin typeface="+mn-lt"/>
                          <a:ea typeface="+mn-ea"/>
                          <a:cs typeface="+mn-cs"/>
                        </a:rPr>
                        <a:t>Environment</a:t>
                      </a:r>
                    </a:p>
                  </a:txBody>
                  <a:tcPr marL="0" marR="72000" marT="0" marB="72000" anchor="b">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28507786"/>
                  </a:ext>
                </a:extLst>
              </a:tr>
              <a:tr h="8229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GPU</a:t>
                      </a:r>
                    </a:p>
                  </a:txBody>
                  <a:tcPr marL="0" marR="0" marT="0" marB="0" anchor="ctr" anchorCtr="1">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60000"/>
                      </a:schemeClr>
                    </a:solidFill>
                  </a:tcPr>
                </a:tc>
                <a:extLst>
                  <a:ext uri="{0D108BD9-81ED-4DB2-BD59-A6C34878D82A}">
                    <a16:rowId xmlns:a16="http://schemas.microsoft.com/office/drawing/2014/main" val="1228831162"/>
                  </a:ext>
                </a:extLst>
              </a:tr>
            </a:tbl>
          </a:graphicData>
        </a:graphic>
      </p:graphicFrame>
      <p:sp>
        <p:nvSpPr>
          <p:cNvPr id="3" name="文字方塊 2">
            <a:extLst>
              <a:ext uri="{FF2B5EF4-FFF2-40B4-BE49-F238E27FC236}">
                <a16:creationId xmlns:a16="http://schemas.microsoft.com/office/drawing/2014/main" id="{F014465A-7992-6D2B-0ED2-2EFC285D37EC}"/>
              </a:ext>
            </a:extLst>
          </p:cNvPr>
          <p:cNvSpPr txBox="1"/>
          <p:nvPr/>
        </p:nvSpPr>
        <p:spPr>
          <a:xfrm>
            <a:off x="213023" y="1052736"/>
            <a:ext cx="8751465" cy="1477328"/>
          </a:xfrm>
          <a:prstGeom prst="rect">
            <a:avLst/>
          </a:prstGeom>
          <a:noFill/>
        </p:spPr>
        <p:txBody>
          <a:bodyPr wrap="square">
            <a:spAutoFit/>
          </a:bodyPr>
          <a:lstStyle/>
          <a:p>
            <a:pPr>
              <a:lnSpc>
                <a:spcPts val="1800"/>
              </a:lnSpc>
              <a:spcBef>
                <a:spcPts val="600"/>
              </a:spcBef>
              <a:spcAft>
                <a:spcPts val="600"/>
              </a:spcAft>
              <a:buNone/>
            </a:pPr>
            <a:r>
              <a:rPr lang="en-US" altLang="zh-TW" sz="2000" b="1" dirty="0"/>
              <a:t>Buildup</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Fine-Tuning Solution</a:t>
            </a:r>
            <a:r>
              <a:rPr lang="en-US" altLang="zh-TW" sz="1600" b="0" u="none" strike="noStrike" dirty="0">
                <a:effectLst/>
              </a:rPr>
              <a:t>:</a:t>
            </a:r>
            <a:r>
              <a:rPr lang="zh-TW" altLang="en-US" sz="1600" b="0" u="none" strike="noStrike" dirty="0">
                <a:effectLst/>
              </a:rPr>
              <a:t> </a:t>
            </a:r>
            <a:r>
              <a:rPr lang="en-US" altLang="zh-TW" sz="1600" b="0" u="none" strike="noStrike" dirty="0">
                <a:effectLst/>
              </a:rPr>
              <a:t>Support QLoRA</a:t>
            </a:r>
            <a:r>
              <a:rPr lang="en-US" altLang="zh-TW" sz="1600" dirty="0"/>
              <a:t>. (Unsloth,</a:t>
            </a:r>
            <a:r>
              <a:rPr lang="zh-TW" altLang="en-US" sz="1600" dirty="0"/>
              <a:t> </a:t>
            </a:r>
            <a:r>
              <a:rPr lang="en-US" altLang="zh-TW" sz="1600" dirty="0"/>
              <a:t>Hugging Face TRL)</a:t>
            </a:r>
          </a:p>
          <a:p>
            <a:pPr marL="285750" indent="-285750">
              <a:lnSpc>
                <a:spcPts val="1800"/>
              </a:lnSpc>
              <a:spcBef>
                <a:spcPts val="600"/>
              </a:spcBef>
              <a:spcAft>
                <a:spcPts val="600"/>
              </a:spcAft>
              <a:buFont typeface="Wingdings" panose="05000000000000000000" pitchFamily="2" charset="2"/>
              <a:buChar char="Ø"/>
            </a:pPr>
            <a:r>
              <a:rPr lang="en-US" altLang="zh-TW" sz="1600" b="1" dirty="0"/>
              <a:t>Model Engine</a:t>
            </a:r>
            <a:r>
              <a:rPr lang="en-US" altLang="zh-TW" sz="1600" dirty="0"/>
              <a:t>: Freeze base weight. ( llama, Gemma 4)</a:t>
            </a:r>
          </a:p>
          <a:p>
            <a:pPr marL="285750" indent="-285750">
              <a:lnSpc>
                <a:spcPts val="1800"/>
              </a:lnSpc>
              <a:spcBef>
                <a:spcPts val="600"/>
              </a:spcBef>
              <a:spcAft>
                <a:spcPts val="600"/>
              </a:spcAft>
              <a:buFont typeface="Wingdings" panose="05000000000000000000" pitchFamily="2" charset="2"/>
              <a:buChar char="Ø"/>
            </a:pPr>
            <a:r>
              <a:rPr lang="en-US" altLang="zh-TW" sz="1600" b="1" dirty="0"/>
              <a:t>Agent</a:t>
            </a:r>
            <a:r>
              <a:rPr lang="en-US" altLang="zh-TW" sz="1600" dirty="0"/>
              <a:t>:</a:t>
            </a:r>
            <a:r>
              <a:rPr lang="zh-TW" altLang="en-US" sz="1600" dirty="0"/>
              <a:t> </a:t>
            </a:r>
            <a:r>
              <a:rPr lang="en-US" altLang="zh-TW" sz="1600" dirty="0"/>
              <a:t>OpenClaw and bio-python library.</a:t>
            </a:r>
          </a:p>
        </p:txBody>
      </p:sp>
      <p:sp>
        <p:nvSpPr>
          <p:cNvPr id="5" name="標題 1">
            <a:extLst>
              <a:ext uri="{FF2B5EF4-FFF2-40B4-BE49-F238E27FC236}">
                <a16:creationId xmlns:a16="http://schemas.microsoft.com/office/drawing/2014/main" id="{A6861017-B894-8BC1-F162-75F3B0AC580D}"/>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Building the Bio-IT AI</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Agent</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AI agents will collaborate with Summit Spatial sequencers to complete tasks.</a:t>
            </a:r>
          </a:p>
        </p:txBody>
      </p:sp>
      <p:graphicFrame>
        <p:nvGraphicFramePr>
          <p:cNvPr id="20" name="表格 19">
            <a:extLst>
              <a:ext uri="{FF2B5EF4-FFF2-40B4-BE49-F238E27FC236}">
                <a16:creationId xmlns:a16="http://schemas.microsoft.com/office/drawing/2014/main" id="{45B540ED-60EE-58A7-8070-E5C33AF10E99}"/>
              </a:ext>
            </a:extLst>
          </p:cNvPr>
          <p:cNvGraphicFramePr>
            <a:graphicFrameLocks noGrp="1"/>
          </p:cNvGraphicFramePr>
          <p:nvPr/>
        </p:nvGraphicFramePr>
        <p:xfrm>
          <a:off x="4826419" y="4019587"/>
          <a:ext cx="1217339" cy="2050041"/>
        </p:xfrm>
        <a:graphic>
          <a:graphicData uri="http://schemas.openxmlformats.org/drawingml/2006/table">
            <a:tbl>
              <a:tblPr firstRow="1" bandRow="1">
                <a:tableStyleId>{5C22544A-7EE6-4342-B048-85BDC9FD1C3A}</a:tableStyleId>
              </a:tblPr>
              <a:tblGrid>
                <a:gridCol w="1217339">
                  <a:extLst>
                    <a:ext uri="{9D8B030D-6E8A-4147-A177-3AD203B41FA5}">
                      <a16:colId xmlns:a16="http://schemas.microsoft.com/office/drawing/2014/main" val="2211145501"/>
                    </a:ext>
                  </a:extLst>
                </a:gridCol>
              </a:tblGrid>
              <a:tr h="42944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solidFill>
                          <a:effectLst/>
                          <a:uLnTx/>
                          <a:uFillTx/>
                          <a:latin typeface="+mn-lt"/>
                          <a:ea typeface="+mn-ea"/>
                          <a:cs typeface="+mn-cs"/>
                        </a:rPr>
                        <a:t> </a:t>
                      </a:r>
                    </a:p>
                  </a:txBody>
                  <a:tcPr marL="0" marR="72000" marT="0" marB="36000" anchor="b">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28575" cap="flat" cmpd="sng" algn="ctr">
                      <a:solidFill>
                        <a:schemeClr val="accent1">
                          <a:lumMod val="20000"/>
                          <a:lumOff val="80000"/>
                        </a:schemeClr>
                      </a:solidFill>
                      <a:prstDash val="solid"/>
                      <a:round/>
                      <a:headEnd type="none" w="med" len="med"/>
                      <a:tailEnd type="none" w="med" len="med"/>
                    </a:lnT>
                    <a:lnB w="6350"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8507786"/>
                  </a:ext>
                </a:extLst>
              </a:tr>
              <a:tr h="79470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solidFill>
                          <a:effectLst/>
                          <a:uLnTx/>
                          <a:uFillTx/>
                          <a:latin typeface="+mn-lt"/>
                          <a:ea typeface="+mn-ea"/>
                          <a:cs typeface="+mn-cs"/>
                        </a:rPr>
                        <a:t>Inference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solidFill>
                          <a:effectLst/>
                          <a:uLnTx/>
                          <a:uFillTx/>
                          <a:latin typeface="+mn-lt"/>
                          <a:ea typeface="+mn-ea"/>
                          <a:cs typeface="+mn-cs"/>
                        </a:rPr>
                        <a:t>Environment</a:t>
                      </a:r>
                    </a:p>
                  </a:txBody>
                  <a:tcPr marL="0" marR="72000" marT="0" marB="72000" anchor="b">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6350" cap="flat" cmpd="sng" algn="ctr">
                      <a:solidFill>
                        <a:schemeClr val="tx2">
                          <a:lumMod val="40000"/>
                          <a:lumOff val="60000"/>
                        </a:schemeClr>
                      </a:solidFill>
                      <a:prstDash val="solid"/>
                      <a:round/>
                      <a:headEnd type="none" w="med" len="med"/>
                      <a:tailEnd type="none" w="med" len="med"/>
                    </a:lnT>
                    <a:lnB w="6350"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8426438"/>
                  </a:ext>
                </a:extLst>
              </a:tr>
              <a:tr h="8258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PC/NB</a:t>
                      </a:r>
                    </a:p>
                  </a:txBody>
                  <a:tcPr marL="0" marR="0" marT="0" marB="0" anchor="ctr" anchorCtr="1">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6350" cap="flat" cmpd="sng" algn="ctr">
                      <a:solidFill>
                        <a:schemeClr val="tx2">
                          <a:lumMod val="40000"/>
                          <a:lumOff val="60000"/>
                        </a:schemeClr>
                      </a:solidFill>
                      <a:prstDash val="solid"/>
                      <a:round/>
                      <a:headEnd type="none" w="med" len="med"/>
                      <a:tailEnd type="none" w="med" len="med"/>
                    </a:lnT>
                    <a:lnB w="28575" cap="flat" cmpd="sng" algn="ctr">
                      <a:solidFill>
                        <a:schemeClr val="accent1">
                          <a:lumMod val="20000"/>
                          <a:lumOff val="80000"/>
                        </a:schemeClr>
                      </a:solidFill>
                      <a:prstDash val="solid"/>
                      <a:round/>
                      <a:headEnd type="none" w="med" len="med"/>
                      <a:tailEnd type="none" w="med" len="med"/>
                    </a:lnB>
                    <a:lnTlToBr w="12700" cmpd="sng">
                      <a:noFill/>
                      <a:prstDash val="solid"/>
                    </a:lnTlToBr>
                    <a:solidFill>
                      <a:schemeClr val="bg1">
                        <a:lumMod val="95000"/>
                        <a:alpha val="60000"/>
                      </a:schemeClr>
                    </a:solidFill>
                  </a:tcPr>
                </a:tc>
                <a:extLst>
                  <a:ext uri="{0D108BD9-81ED-4DB2-BD59-A6C34878D82A}">
                    <a16:rowId xmlns:a16="http://schemas.microsoft.com/office/drawing/2014/main" val="4002830567"/>
                  </a:ext>
                </a:extLst>
              </a:tr>
            </a:tbl>
          </a:graphicData>
        </a:graphic>
      </p:graphicFrame>
      <p:pic>
        <p:nvPicPr>
          <p:cNvPr id="4" name="圖片 3">
            <a:extLst>
              <a:ext uri="{FF2B5EF4-FFF2-40B4-BE49-F238E27FC236}">
                <a16:creationId xmlns:a16="http://schemas.microsoft.com/office/drawing/2014/main" id="{F9EE3A7A-38B4-D1E9-5799-C8A7D35B9777}"/>
              </a:ext>
            </a:extLst>
          </p:cNvPr>
          <p:cNvPicPr>
            <a:picLocks noChangeAspect="1"/>
          </p:cNvPicPr>
          <p:nvPr/>
        </p:nvPicPr>
        <p:blipFill>
          <a:blip r:embed="rId4"/>
          <a:stretch>
            <a:fillRect/>
          </a:stretch>
        </p:blipFill>
        <p:spPr>
          <a:xfrm>
            <a:off x="5114451" y="3845698"/>
            <a:ext cx="432048" cy="432048"/>
          </a:xfrm>
          <a:prstGeom prst="rect">
            <a:avLst/>
          </a:prstGeom>
          <a:effectLst>
            <a:glow rad="25400">
              <a:schemeClr val="accent1">
                <a:lumMod val="20000"/>
                <a:lumOff val="80000"/>
                <a:alpha val="40000"/>
              </a:schemeClr>
            </a:glow>
            <a:softEdge rad="50800"/>
          </a:effectLst>
        </p:spPr>
      </p:pic>
      <p:cxnSp>
        <p:nvCxnSpPr>
          <p:cNvPr id="42" name="接點: 肘形 41">
            <a:extLst>
              <a:ext uri="{FF2B5EF4-FFF2-40B4-BE49-F238E27FC236}">
                <a16:creationId xmlns:a16="http://schemas.microsoft.com/office/drawing/2014/main" id="{FC7173A3-FD52-3361-7E1C-CBD7A5EB8814}"/>
              </a:ext>
            </a:extLst>
          </p:cNvPr>
          <p:cNvCxnSpPr>
            <a:cxnSpLocks/>
            <a:stCxn id="8" idx="2"/>
            <a:endCxn id="46" idx="1"/>
          </p:cNvCxnSpPr>
          <p:nvPr/>
        </p:nvCxnSpPr>
        <p:spPr>
          <a:xfrm rot="16200000" flipH="1">
            <a:off x="3519681" y="3964968"/>
            <a:ext cx="262708" cy="1206994"/>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063E6162-D5C9-01FE-BA92-C6CBDE280172}"/>
              </a:ext>
            </a:extLst>
          </p:cNvPr>
          <p:cNvSpPr/>
          <p:nvPr/>
        </p:nvSpPr>
        <p:spPr>
          <a:xfrm>
            <a:off x="4254532" y="4545827"/>
            <a:ext cx="859919" cy="307983"/>
          </a:xfrm>
          <a:prstGeom prst="rect">
            <a:avLst/>
          </a:prstGeom>
          <a:solidFill>
            <a:schemeClr val="accent1">
              <a:lumMod val="20000"/>
              <a:lumOff val="80000"/>
              <a:alpha val="40000"/>
            </a:schemeClr>
          </a:solidFill>
          <a:ln w="38100">
            <a:solidFill>
              <a:schemeClr val="tx2">
                <a:lumMod val="60000"/>
                <a:lumOff val="4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b="1" dirty="0">
                <a:solidFill>
                  <a:schemeClr val="tx2"/>
                </a:solidFill>
              </a:rPr>
              <a:t>Gemma 4</a:t>
            </a:r>
            <a:endParaRPr lang="zh-TW" altLang="en-US" dirty="0"/>
          </a:p>
        </p:txBody>
      </p:sp>
      <p:grpSp>
        <p:nvGrpSpPr>
          <p:cNvPr id="37" name="群組 36">
            <a:extLst>
              <a:ext uri="{FF2B5EF4-FFF2-40B4-BE49-F238E27FC236}">
                <a16:creationId xmlns:a16="http://schemas.microsoft.com/office/drawing/2014/main" id="{AD71FA00-73CF-96E2-DB9D-29D266518612}"/>
              </a:ext>
            </a:extLst>
          </p:cNvPr>
          <p:cNvGrpSpPr/>
          <p:nvPr/>
        </p:nvGrpSpPr>
        <p:grpSpPr>
          <a:xfrm>
            <a:off x="4484767" y="4781802"/>
            <a:ext cx="396274" cy="465099"/>
            <a:chOff x="283951" y="1194723"/>
            <a:chExt cx="487696" cy="626385"/>
          </a:xfrm>
          <a:effectLst>
            <a:glow rad="76200">
              <a:schemeClr val="accent1">
                <a:lumMod val="20000"/>
                <a:lumOff val="80000"/>
                <a:alpha val="20000"/>
              </a:schemeClr>
            </a:glow>
          </a:effectLst>
        </p:grpSpPr>
        <p:sp>
          <p:nvSpPr>
            <p:cNvPr id="38" name="文字方塊 37">
              <a:extLst>
                <a:ext uri="{FF2B5EF4-FFF2-40B4-BE49-F238E27FC236}">
                  <a16:creationId xmlns:a16="http://schemas.microsoft.com/office/drawing/2014/main" id="{DBE13760-C824-72A8-0F6C-52D418E9F327}"/>
                </a:ext>
              </a:extLst>
            </p:cNvPr>
            <p:cNvSpPr txBox="1"/>
            <p:nvPr/>
          </p:nvSpPr>
          <p:spPr>
            <a:xfrm>
              <a:off x="283951" y="1573740"/>
              <a:ext cx="487696" cy="247368"/>
            </a:xfrm>
            <a:prstGeom prst="rect">
              <a:avLst/>
            </a:prstGeom>
            <a:solidFill>
              <a:schemeClr val="bg1">
                <a:lumMod val="95000"/>
                <a:alpha val="40000"/>
              </a:schemeClr>
            </a:solidFill>
            <a:ln>
              <a:noFill/>
            </a:ln>
            <a:effectLst>
              <a:glow rad="25400">
                <a:schemeClr val="bg1">
                  <a:lumMod val="95000"/>
                  <a:alpha val="40000"/>
                </a:schemeClr>
              </a:glow>
              <a:softEdge rad="50800"/>
            </a:effectLst>
          </p:spPr>
          <p:txBody>
            <a:bodyPr wrap="none" lIns="0" tIns="0" rIns="0" bIns="0" anchor="ctr" anchorCtr="1">
              <a:noAutofit/>
            </a:bodyPr>
            <a:lstStyle/>
            <a:p>
              <a:r>
                <a:rPr lang="en-US" altLang="zh-TW" sz="1200" dirty="0">
                  <a:ln w="0"/>
                  <a:solidFill>
                    <a:schemeClr val="accent1">
                      <a:lumMod val="75000"/>
                    </a:schemeClr>
                  </a:solidFill>
                  <a:latin typeface="Calibri"/>
                  <a:ea typeface="新細明體" panose="02020500000000000000" pitchFamily="18" charset="-120"/>
                </a:rPr>
                <a:t>O</a:t>
              </a:r>
              <a:r>
                <a:rPr lang="en-US" altLang="zh-TW" sz="1200" dirty="0">
                  <a:ln w="0"/>
                  <a:solidFill>
                    <a:schemeClr val="tx1">
                      <a:lumMod val="95000"/>
                      <a:lumOff val="5000"/>
                    </a:schemeClr>
                  </a:solidFill>
                  <a:latin typeface="Calibri"/>
                  <a:ea typeface="新細明體" panose="02020500000000000000" pitchFamily="18" charset="-120"/>
                </a:rPr>
                <a:t>llama</a:t>
              </a:r>
            </a:p>
          </p:txBody>
        </p:sp>
        <p:pic>
          <p:nvPicPr>
            <p:cNvPr id="39" name="圖片 38">
              <a:extLst>
                <a:ext uri="{FF2B5EF4-FFF2-40B4-BE49-F238E27FC236}">
                  <a16:creationId xmlns:a16="http://schemas.microsoft.com/office/drawing/2014/main" id="{BDD586E3-E3B0-BBF3-6C2C-F304D5C0DCF3}"/>
                </a:ext>
              </a:extLst>
            </p:cNvPr>
            <p:cNvPicPr>
              <a:picLocks noChangeAspect="1"/>
            </p:cNvPicPr>
            <p:nvPr/>
          </p:nvPicPr>
          <p:blipFill>
            <a:blip r:embed="rId5"/>
            <a:stretch>
              <a:fillRect/>
            </a:stretch>
          </p:blipFill>
          <p:spPr>
            <a:xfrm>
              <a:off x="355960" y="1194723"/>
              <a:ext cx="337951" cy="390669"/>
            </a:xfrm>
            <a:prstGeom prst="rect">
              <a:avLst/>
            </a:prstGeom>
            <a:solidFill>
              <a:schemeClr val="bg1">
                <a:alpha val="20000"/>
              </a:schemeClr>
            </a:solidFill>
            <a:effectLst>
              <a:glow rad="76200">
                <a:schemeClr val="accent1">
                  <a:lumMod val="20000"/>
                  <a:lumOff val="80000"/>
                  <a:alpha val="40000"/>
                </a:schemeClr>
              </a:glow>
              <a:softEdge rad="25400"/>
            </a:effectLst>
          </p:spPr>
        </p:pic>
      </p:grpSp>
      <p:sp>
        <p:nvSpPr>
          <p:cNvPr id="61" name="文字方塊 60">
            <a:extLst>
              <a:ext uri="{FF2B5EF4-FFF2-40B4-BE49-F238E27FC236}">
                <a16:creationId xmlns:a16="http://schemas.microsoft.com/office/drawing/2014/main" id="{67F5AA83-B63F-1EB5-698E-7FFF4D222A30}"/>
              </a:ext>
            </a:extLst>
          </p:cNvPr>
          <p:cNvSpPr txBox="1"/>
          <p:nvPr/>
        </p:nvSpPr>
        <p:spPr>
          <a:xfrm>
            <a:off x="5010741" y="2981602"/>
            <a:ext cx="646161" cy="284703"/>
          </a:xfrm>
          <a:prstGeom prst="rect">
            <a:avLst/>
          </a:prstGeom>
          <a:noFill/>
        </p:spPr>
        <p:txBody>
          <a:bodyPr wrap="none" lIns="0" tIns="0" rIns="0" bIns="0" anchor="ctr" anchorCtr="1">
            <a:noAutofit/>
          </a:bodyPr>
          <a:lstStyle/>
          <a:p>
            <a:pPr algn="ctr">
              <a:lnSpc>
                <a:spcPts val="2000"/>
              </a:lnSpc>
              <a:buNone/>
            </a:pPr>
            <a:r>
              <a:rPr lang="en-US" altLang="zh-TW" sz="2000" b="1" u="none" strike="noStrike" dirty="0">
                <a:effectLst/>
              </a:rPr>
              <a:t>User</a:t>
            </a:r>
          </a:p>
        </p:txBody>
      </p:sp>
      <p:cxnSp>
        <p:nvCxnSpPr>
          <p:cNvPr id="62" name="直線單箭頭接點 61">
            <a:extLst>
              <a:ext uri="{FF2B5EF4-FFF2-40B4-BE49-F238E27FC236}">
                <a16:creationId xmlns:a16="http://schemas.microsoft.com/office/drawing/2014/main" id="{A496B558-57D1-8B0F-DD92-B32AFC3E6647}"/>
              </a:ext>
            </a:extLst>
          </p:cNvPr>
          <p:cNvCxnSpPr>
            <a:cxnSpLocks/>
            <a:stCxn id="61" idx="2"/>
            <a:endCxn id="4" idx="0"/>
          </p:cNvCxnSpPr>
          <p:nvPr/>
        </p:nvCxnSpPr>
        <p:spPr>
          <a:xfrm flipH="1">
            <a:off x="5330475" y="3266305"/>
            <a:ext cx="3347" cy="579393"/>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a:extLst>
              <a:ext uri="{FF2B5EF4-FFF2-40B4-BE49-F238E27FC236}">
                <a16:creationId xmlns:a16="http://schemas.microsoft.com/office/drawing/2014/main" id="{DA424801-F801-7754-6900-FA56043A9135}"/>
              </a:ext>
            </a:extLst>
          </p:cNvPr>
          <p:cNvCxnSpPr>
            <a:cxnSpLocks/>
            <a:stCxn id="4" idx="3"/>
            <a:endCxn id="122" idx="0"/>
          </p:cNvCxnSpPr>
          <p:nvPr/>
        </p:nvCxnSpPr>
        <p:spPr>
          <a:xfrm flipV="1">
            <a:off x="5546499" y="4061721"/>
            <a:ext cx="390288" cy="1"/>
          </a:xfrm>
          <a:prstGeom prst="straightConnector1">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2" name="箭號: 向下 121">
            <a:extLst>
              <a:ext uri="{FF2B5EF4-FFF2-40B4-BE49-F238E27FC236}">
                <a16:creationId xmlns:a16="http://schemas.microsoft.com/office/drawing/2014/main" id="{33B733D2-7161-33F4-79FD-E649F748C48C}"/>
              </a:ext>
            </a:extLst>
          </p:cNvPr>
          <p:cNvSpPr/>
          <p:nvPr/>
        </p:nvSpPr>
        <p:spPr>
          <a:xfrm rot="16200000">
            <a:off x="6003799" y="3831784"/>
            <a:ext cx="325849" cy="459874"/>
          </a:xfrm>
          <a:prstGeom prst="downArrow">
            <a:avLst>
              <a:gd name="adj1" fmla="val 62892"/>
              <a:gd name="adj2" fmla="val 52184"/>
            </a:avLst>
          </a:prstGeom>
          <a:solidFill>
            <a:schemeClr val="accent4">
              <a:lumMod val="20000"/>
              <a:lumOff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72000" rIns="0" bIns="0" rtlCol="0" anchor="ctr" anchorCtr="1"/>
          <a:lstStyle/>
          <a:p>
            <a:pPr algn="ctr"/>
            <a:r>
              <a:rPr lang="en-US" altLang="zh-TW" sz="1200" b="1" dirty="0">
                <a:solidFill>
                  <a:schemeClr val="accent4">
                    <a:lumMod val="75000"/>
                  </a:schemeClr>
                </a:solidFill>
              </a:rPr>
              <a:t>MCP</a:t>
            </a:r>
            <a:endParaRPr lang="zh-TW" altLang="en-US" sz="1200" b="1" dirty="0">
              <a:solidFill>
                <a:schemeClr val="accent4">
                  <a:lumMod val="75000"/>
                </a:schemeClr>
              </a:solidFill>
            </a:endParaRPr>
          </a:p>
        </p:txBody>
      </p:sp>
      <p:cxnSp>
        <p:nvCxnSpPr>
          <p:cNvPr id="123" name="接點: 肘形 122">
            <a:extLst>
              <a:ext uri="{FF2B5EF4-FFF2-40B4-BE49-F238E27FC236}">
                <a16:creationId xmlns:a16="http://schemas.microsoft.com/office/drawing/2014/main" id="{86FF8C34-7087-86E9-F333-164B1E3A395E}"/>
              </a:ext>
            </a:extLst>
          </p:cNvPr>
          <p:cNvCxnSpPr>
            <a:cxnSpLocks/>
            <a:stCxn id="4" idx="2"/>
            <a:endCxn id="46" idx="3"/>
          </p:cNvCxnSpPr>
          <p:nvPr/>
        </p:nvCxnSpPr>
        <p:spPr>
          <a:xfrm rot="5400000">
            <a:off x="5011427" y="4380770"/>
            <a:ext cx="422073" cy="216024"/>
          </a:xfrm>
          <a:prstGeom prst="bentConnector2">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語音泡泡: 圓角矩形 11">
            <a:extLst>
              <a:ext uri="{FF2B5EF4-FFF2-40B4-BE49-F238E27FC236}">
                <a16:creationId xmlns:a16="http://schemas.microsoft.com/office/drawing/2014/main" id="{805C6CFD-1267-A5F6-F337-D02B15A18DC9}"/>
              </a:ext>
            </a:extLst>
          </p:cNvPr>
          <p:cNvSpPr/>
          <p:nvPr/>
        </p:nvSpPr>
        <p:spPr>
          <a:xfrm>
            <a:off x="5690515" y="2864864"/>
            <a:ext cx="1329757" cy="636144"/>
          </a:xfrm>
          <a:prstGeom prst="wedgeRoundRectCallout">
            <a:avLst>
              <a:gd name="adj1" fmla="val -68885"/>
              <a:gd name="adj2" fmla="val 585"/>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Dr. BioByte,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Please interpret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My </a:t>
            </a: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gut biopsy.</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sp>
        <p:nvSpPr>
          <p:cNvPr id="15" name="語音泡泡: 圓角矩形 14">
            <a:extLst>
              <a:ext uri="{FF2B5EF4-FFF2-40B4-BE49-F238E27FC236}">
                <a16:creationId xmlns:a16="http://schemas.microsoft.com/office/drawing/2014/main" id="{7646EECD-3620-7195-6E62-42B29BED12D2}"/>
              </a:ext>
            </a:extLst>
          </p:cNvPr>
          <p:cNvSpPr/>
          <p:nvPr/>
        </p:nvSpPr>
        <p:spPr>
          <a:xfrm>
            <a:off x="3895382" y="3269634"/>
            <a:ext cx="1219070" cy="610905"/>
          </a:xfrm>
          <a:prstGeom prst="wedgeRoundRectCallout">
            <a:avLst>
              <a:gd name="adj1" fmla="val 59020"/>
              <a:gd name="adj2" fmla="val 57509"/>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Terrible, </a:t>
            </a:r>
            <a:b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b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Zero fast food.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Eat real grass.</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pic>
        <p:nvPicPr>
          <p:cNvPr id="8" name="圖片 7">
            <a:extLst>
              <a:ext uri="{FF2B5EF4-FFF2-40B4-BE49-F238E27FC236}">
                <a16:creationId xmlns:a16="http://schemas.microsoft.com/office/drawing/2014/main" id="{6BEE719D-AA9B-D04C-EC5E-E63F70E1E42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31514" y="4005064"/>
            <a:ext cx="432048" cy="432047"/>
          </a:xfrm>
          <a:prstGeom prst="rect">
            <a:avLst/>
          </a:prstGeom>
          <a:effectLst>
            <a:glow rad="76200">
              <a:srgbClr val="00B050">
                <a:alpha val="40000"/>
              </a:srgbClr>
            </a:glow>
          </a:effectLst>
        </p:spPr>
      </p:pic>
      <p:sp>
        <p:nvSpPr>
          <p:cNvPr id="114" name="文字方塊 113">
            <a:extLst>
              <a:ext uri="{FF2B5EF4-FFF2-40B4-BE49-F238E27FC236}">
                <a16:creationId xmlns:a16="http://schemas.microsoft.com/office/drawing/2014/main" id="{A157AB89-C11C-9FF7-93B3-94697A292BC9}"/>
              </a:ext>
            </a:extLst>
          </p:cNvPr>
          <p:cNvSpPr txBox="1"/>
          <p:nvPr/>
        </p:nvSpPr>
        <p:spPr>
          <a:xfrm>
            <a:off x="2843808" y="4477776"/>
            <a:ext cx="432048" cy="247368"/>
          </a:xfrm>
          <a:prstGeom prst="rect">
            <a:avLst/>
          </a:prstGeom>
          <a:solidFill>
            <a:schemeClr val="bg1">
              <a:lumMod val="95000"/>
              <a:alpha val="40000"/>
            </a:schemeClr>
          </a:solidFill>
          <a:ln>
            <a:noFill/>
          </a:ln>
          <a:effectLst/>
        </p:spPr>
        <p:txBody>
          <a:bodyPr wrap="none" lIns="0" tIns="0" rIns="0" bIns="0" anchor="ctr" anchorCtr="1">
            <a:noAutofit/>
          </a:bodyPr>
          <a:lstStyle/>
          <a:p>
            <a:r>
              <a:rPr lang="en-US" altLang="zh-TW" sz="1200" dirty="0">
                <a:ln w="0"/>
                <a:latin typeface="Calibri"/>
                <a:ea typeface="新細明體" panose="02020500000000000000" pitchFamily="18" charset="-120"/>
              </a:rPr>
              <a:t>Unsloth</a:t>
            </a:r>
            <a:endParaRPr lang="en-US" altLang="zh-TW" sz="1200" dirty="0">
              <a:ln w="0"/>
              <a:solidFill>
                <a:schemeClr val="tx1">
                  <a:lumMod val="95000"/>
                  <a:lumOff val="5000"/>
                </a:schemeClr>
              </a:solidFill>
              <a:latin typeface="Calibri"/>
              <a:ea typeface="新細明體" panose="02020500000000000000" pitchFamily="18" charset="-120"/>
            </a:endParaRPr>
          </a:p>
        </p:txBody>
      </p:sp>
      <p:pic>
        <p:nvPicPr>
          <p:cNvPr id="7" name="圖片 6">
            <a:extLst>
              <a:ext uri="{FF2B5EF4-FFF2-40B4-BE49-F238E27FC236}">
                <a16:creationId xmlns:a16="http://schemas.microsoft.com/office/drawing/2014/main" id="{65702545-0EF5-72BF-9149-DBDB7D6270A6}"/>
              </a:ext>
            </a:extLst>
          </p:cNvPr>
          <p:cNvPicPr>
            <a:picLocks noChangeAspect="1"/>
          </p:cNvPicPr>
          <p:nvPr/>
        </p:nvPicPr>
        <p:blipFill>
          <a:blip r:embed="rId7"/>
          <a:stretch>
            <a:fillRect/>
          </a:stretch>
        </p:blipFill>
        <p:spPr>
          <a:xfrm>
            <a:off x="2402102" y="4811708"/>
            <a:ext cx="411308" cy="386908"/>
          </a:xfrm>
          <a:prstGeom prst="rect">
            <a:avLst/>
          </a:prstGeom>
          <a:effectLst>
            <a:glow rad="76200">
              <a:schemeClr val="accent6">
                <a:lumMod val="20000"/>
                <a:lumOff val="80000"/>
              </a:schemeClr>
            </a:glow>
            <a:softEdge rad="50800"/>
          </a:effectLst>
        </p:spPr>
      </p:pic>
    </p:spTree>
    <p:extLst>
      <p:ext uri="{BB962C8B-B14F-4D97-AF65-F5344CB8AC3E}">
        <p14:creationId xmlns:p14="http://schemas.microsoft.com/office/powerpoint/2010/main" val="12455514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C2FA1-D71C-1571-5DF7-FBBBA4385E46}"/>
            </a:ext>
          </a:extLst>
        </p:cNvPr>
        <p:cNvGrpSpPr/>
        <p:nvPr/>
      </p:nvGrpSpPr>
      <p:grpSpPr>
        <a:xfrm>
          <a:off x="0" y="0"/>
          <a:ext cx="0" cy="0"/>
          <a:chOff x="0" y="0"/>
          <a:chExt cx="0" cy="0"/>
        </a:xfrm>
      </p:grpSpPr>
      <p:sp>
        <p:nvSpPr>
          <p:cNvPr id="6" name="文字方塊 5">
            <a:extLst>
              <a:ext uri="{FF2B5EF4-FFF2-40B4-BE49-F238E27FC236}">
                <a16:creationId xmlns:a16="http://schemas.microsoft.com/office/drawing/2014/main" id="{18753B56-4876-526F-D548-E446B615A4E6}"/>
              </a:ext>
            </a:extLst>
          </p:cNvPr>
          <p:cNvSpPr txBox="1"/>
          <p:nvPr/>
        </p:nvSpPr>
        <p:spPr>
          <a:xfrm>
            <a:off x="179512" y="1196752"/>
            <a:ext cx="4824536" cy="4267058"/>
          </a:xfrm>
          <a:prstGeom prst="rect">
            <a:avLst/>
          </a:prstGeom>
          <a:solidFill>
            <a:srgbClr val="EAEAEA"/>
          </a:solidFill>
        </p:spPr>
        <p:txBody>
          <a:bodyPr wrap="none">
            <a:noAutofit/>
          </a:bodyPr>
          <a:lstStyle/>
          <a:p>
            <a:pPr marL="0" marR="0" rtl="0">
              <a:lnSpc>
                <a:spcPts val="1200"/>
              </a:lnSpc>
              <a:buNone/>
            </a:pP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torch</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unsloth</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FastLanguageModel</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transformers</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TrainingArguments</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trl</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SFTTrainer</a:t>
            </a: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1. </a:t>
            </a:r>
            <a:r>
              <a:rPr lang="en-US" altLang="zh-TW" sz="1000" b="0" i="1" u="none" strike="noStrike" dirty="0">
                <a:solidFill>
                  <a:schemeClr val="bg1">
                    <a:lumMod val="50000"/>
                  </a:schemeClr>
                </a:solidFill>
                <a:effectLst/>
                <a:latin typeface="Consolas" panose="020B0609020204030204" pitchFamily="49" charset="0"/>
              </a:rPr>
              <a:t>Load Initialized</a:t>
            </a:r>
            <a:r>
              <a:rPr lang="zh-TW" altLang="zh-TW" sz="1000" b="0" i="1" u="none" strike="noStrike" dirty="0">
                <a:solidFill>
                  <a:schemeClr val="bg1">
                    <a:lumMod val="50000"/>
                  </a:schemeClr>
                </a:solidFill>
                <a:effectLst/>
                <a:latin typeface="Consolas" panose="020B0609020204030204" pitchFamily="49" charset="0"/>
              </a:rPr>
              <a:t> </a:t>
            </a:r>
            <a:r>
              <a:rPr lang="en-US" altLang="zh-TW" sz="1000" b="0" i="1" u="none" strike="noStrike" dirty="0">
                <a:solidFill>
                  <a:schemeClr val="bg1">
                    <a:lumMod val="50000"/>
                  </a:schemeClr>
                </a:solidFill>
                <a:effectLst/>
                <a:latin typeface="Consolas" panose="020B0609020204030204" pitchFamily="49" charset="0"/>
              </a:rPr>
              <a:t>Model and</a:t>
            </a:r>
            <a:r>
              <a:rPr lang="zh-TW" altLang="zh-TW" sz="1000" b="0" i="1" u="none" strike="noStrike" dirty="0">
                <a:solidFill>
                  <a:schemeClr val="bg1">
                    <a:lumMod val="50000"/>
                  </a:schemeClr>
                </a:solidFill>
                <a:effectLst/>
                <a:latin typeface="Consolas" panose="020B0609020204030204" pitchFamily="49" charset="0"/>
              </a:rPr>
              <a:t> Tokenizer</a:t>
            </a:r>
          </a:p>
          <a:p>
            <a:pPr marL="0" marR="0" rtl="0">
              <a:lnSpc>
                <a:spcPts val="1200"/>
              </a:lnSpc>
              <a:buNone/>
            </a:pPr>
            <a:r>
              <a:rPr lang="en-US" altLang="zh-TW" sz="1000" b="0" u="none" strike="noStrike" dirty="0">
                <a:solidFill>
                  <a:schemeClr val="accent6">
                    <a:lumMod val="50000"/>
                  </a:schemeClr>
                </a:solidFill>
                <a:effectLst/>
                <a:latin typeface="Consolas" panose="020B0609020204030204" pitchFamily="49" charset="0"/>
              </a:rPr>
              <a:t>m</a:t>
            </a:r>
            <a:r>
              <a:rPr lang="zh-TW" altLang="zh-TW" sz="1000" b="0" u="none" strike="noStrike" dirty="0">
                <a:solidFill>
                  <a:schemeClr val="accent6">
                    <a:lumMod val="50000"/>
                  </a:schemeClr>
                </a:solidFill>
                <a:effectLst/>
                <a:latin typeface="Consolas" panose="020B0609020204030204" pitchFamily="49" charset="0"/>
              </a:rPr>
              <a:t>ax_seq_length</a:t>
            </a:r>
            <a:r>
              <a:rPr lang="zh-TW" altLang="zh-TW" sz="1000" b="0" u="none" strike="noStrike" dirty="0">
                <a:effectLst/>
                <a:latin typeface="Consolas" panose="020B0609020204030204" pitchFamily="49" charset="0"/>
              </a:rPr>
              <a:t> = </a:t>
            </a:r>
            <a:r>
              <a:rPr lang="zh-TW" altLang="zh-TW" sz="1000" b="0" u="none" strike="noStrike" dirty="0">
                <a:solidFill>
                  <a:schemeClr val="accent6">
                    <a:lumMod val="50000"/>
                  </a:schemeClr>
                </a:solidFill>
                <a:effectLst/>
                <a:latin typeface="Consolas" panose="020B0609020204030204" pitchFamily="49" charset="0"/>
              </a:rPr>
              <a:t>2048</a:t>
            </a:r>
            <a:r>
              <a:rPr lang="zh-TW" altLang="zh-TW" sz="1000" b="0" u="none" strike="noStrike" dirty="0">
                <a:effectLst/>
                <a:latin typeface="Consolas" panose="020B0609020204030204" pitchFamily="49" charset="0"/>
              </a:rPr>
              <a:t>  # Context </a:t>
            </a:r>
            <a:r>
              <a:rPr lang="en-US" altLang="zh-TW" sz="1000" b="0" u="none" strike="noStrike" dirty="0">
                <a:effectLst/>
                <a:latin typeface="Consolas" panose="020B0609020204030204" pitchFamily="49" charset="0"/>
              </a:rPr>
              <a:t>Length</a:t>
            </a:r>
            <a:endParaRPr lang="zh-TW" altLang="zh-TW" sz="1000" b="0" u="none" strike="noStrike" dirty="0">
              <a:effectLst/>
              <a:latin typeface="Consolas" panose="020B0609020204030204" pitchFamily="49" charset="0"/>
            </a:endParaRPr>
          </a:p>
          <a:p>
            <a:pPr marL="0" marR="0" rtl="0">
              <a:lnSpc>
                <a:spcPts val="1200"/>
              </a:lnSpc>
              <a:buNone/>
            </a:pPr>
            <a:r>
              <a:rPr lang="en-US" altLang="zh-TW" sz="1000" b="0" u="none" strike="noStrike" dirty="0">
                <a:solidFill>
                  <a:schemeClr val="accent6">
                    <a:lumMod val="50000"/>
                  </a:schemeClr>
                </a:solidFill>
                <a:effectLst/>
                <a:latin typeface="Consolas" panose="020B0609020204030204" pitchFamily="49" charset="0"/>
              </a:rPr>
              <a:t>model</a:t>
            </a:r>
            <a:r>
              <a:rPr lang="en-US"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tokenizer</a:t>
            </a:r>
            <a:r>
              <a:rPr lang="zh-TW" altLang="zh-TW" sz="1000" b="0" u="none" strike="noStrike" dirty="0">
                <a:effectLst/>
                <a:latin typeface="Consolas" panose="020B0609020204030204" pitchFamily="49" charset="0"/>
              </a:rPr>
              <a:t> = FastLanguageModel.from_pretrained(</a:t>
            </a:r>
          </a:p>
          <a:p>
            <a:pPr marL="0" marR="0" rtl="0">
              <a:lnSpc>
                <a:spcPts val="1200"/>
              </a:lnSpc>
              <a:buNone/>
            </a:pPr>
            <a:r>
              <a:rPr lang="zh-TW" altLang="zh-TW" sz="1000" b="0" u="none" strike="noStrike" dirty="0">
                <a:effectLst/>
                <a:latin typeface="Consolas" panose="020B0609020204030204" pitchFamily="49" charset="0"/>
              </a:rPr>
              <a:t>    model_name=</a:t>
            </a:r>
            <a:r>
              <a:rPr lang="zh-TW" altLang="zh-TW" sz="1000" b="0" u="none" strike="noStrike" dirty="0">
                <a:solidFill>
                  <a:srgbClr val="008000"/>
                </a:solidFill>
                <a:effectLst/>
                <a:latin typeface="Consolas" panose="020B0609020204030204" pitchFamily="49" charset="0"/>
              </a:rPr>
              <a:t>"unsloth/gemma-2-9b-it"</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Init</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max_seq_length=max_seq_length,</a:t>
            </a:r>
          </a:p>
          <a:p>
            <a:pPr marL="0" marR="0" rtl="0">
              <a:lnSpc>
                <a:spcPts val="1200"/>
              </a:lnSpc>
              <a:buNone/>
            </a:pPr>
            <a:r>
              <a:rPr lang="zh-TW" altLang="zh-TW" sz="1000" b="0" u="none" strike="noStrike" dirty="0">
                <a:effectLst/>
                <a:latin typeface="Consolas" panose="020B0609020204030204" pitchFamily="49" charset="0"/>
              </a:rPr>
              <a:t>    load_in_4bit=</a:t>
            </a:r>
            <a:r>
              <a:rPr lang="zh-TW" altLang="zh-TW" sz="1000" b="0" u="none" strike="noStrike" dirty="0">
                <a:solidFill>
                  <a:srgbClr val="7030A0"/>
                </a:solidFill>
                <a:effectLst/>
                <a:latin typeface="Consolas" panose="020B0609020204030204" pitchFamily="49" charset="0"/>
              </a:rPr>
              <a:t>True</a:t>
            </a:r>
            <a:r>
              <a:rPr lang="zh-TW" altLang="zh-TW" sz="1000" b="0" u="none" strike="noStrike" dirty="0">
                <a:effectLst/>
                <a:latin typeface="Consolas" panose="020B0609020204030204" pitchFamily="49" charset="0"/>
              </a:rPr>
              <a:t>,                   # 4-bit</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2. </a:t>
            </a:r>
            <a:r>
              <a:rPr lang="en-US" altLang="zh-TW" sz="1000" b="0" i="1" u="none" strike="noStrike" dirty="0">
                <a:solidFill>
                  <a:schemeClr val="bg1">
                    <a:lumMod val="50000"/>
                  </a:schemeClr>
                </a:solidFill>
                <a:effectLst/>
                <a:latin typeface="Consolas" panose="020B0609020204030204" pitchFamily="49" charset="0"/>
              </a:rPr>
              <a:t>Setup</a:t>
            </a:r>
            <a:r>
              <a:rPr lang="zh-TW" altLang="zh-TW" sz="1000" b="0" i="1" u="none" strike="noStrike" dirty="0">
                <a:solidFill>
                  <a:schemeClr val="bg1">
                    <a:lumMod val="50000"/>
                  </a:schemeClr>
                </a:solidFill>
                <a:effectLst/>
                <a:latin typeface="Consolas" panose="020B0609020204030204" pitchFamily="49" charset="0"/>
              </a:rPr>
              <a:t> Unsloth PEFT(QLoRA) </a:t>
            </a: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model</a:t>
            </a:r>
            <a:r>
              <a:rPr lang="zh-TW" altLang="zh-TW" sz="1000" b="0" u="none" strike="noStrike" dirty="0">
                <a:effectLst/>
                <a:latin typeface="Consolas" panose="020B0609020204030204" pitchFamily="49" charset="0"/>
              </a:rPr>
              <a:t> = FastLanguageModel.get_peft_model(</a:t>
            </a:r>
          </a:p>
          <a:p>
            <a:pPr marL="0" marR="0" rtl="0">
              <a:lnSpc>
                <a:spcPts val="1200"/>
              </a:lnSpc>
              <a:buNone/>
            </a:pPr>
            <a:r>
              <a:rPr lang="zh-TW" altLang="zh-TW" sz="1000" b="0" u="none" strike="noStrike" dirty="0">
                <a:effectLst/>
                <a:latin typeface="Consolas" panose="020B0609020204030204" pitchFamily="49" charset="0"/>
              </a:rPr>
              <a:t>    model,</a:t>
            </a:r>
          </a:p>
          <a:p>
            <a:pPr marL="0" marR="0" rtl="0">
              <a:lnSpc>
                <a:spcPts val="1200"/>
              </a:lnSpc>
              <a:buNone/>
            </a:pPr>
            <a:r>
              <a:rPr lang="zh-TW" altLang="zh-TW" sz="1000" b="0" u="none" strike="noStrike" dirty="0">
                <a:effectLst/>
                <a:latin typeface="Consolas" panose="020B0609020204030204" pitchFamily="49" charset="0"/>
              </a:rPr>
              <a:t>    r=</a:t>
            </a:r>
            <a:r>
              <a:rPr lang="zh-TW" altLang="zh-TW" sz="1000" b="0" u="none" strike="noStrike" dirty="0">
                <a:solidFill>
                  <a:schemeClr val="accent6">
                    <a:lumMod val="50000"/>
                  </a:schemeClr>
                </a:solidFill>
                <a:effectLst/>
                <a:latin typeface="Consolas" panose="020B0609020204030204" pitchFamily="49" charset="0"/>
              </a:rPr>
              <a:t>16</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lora_alpha=</a:t>
            </a:r>
            <a:r>
              <a:rPr lang="zh-TW" altLang="zh-TW" sz="1000" b="0" u="none" strike="noStrike" dirty="0">
                <a:solidFill>
                  <a:schemeClr val="accent6">
                    <a:lumMod val="50000"/>
                  </a:schemeClr>
                </a:solidFill>
                <a:effectLst/>
                <a:latin typeface="Consolas" panose="020B0609020204030204" pitchFamily="49" charset="0"/>
              </a:rPr>
              <a:t>16</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target_modules=[</a:t>
            </a:r>
            <a:r>
              <a:rPr lang="zh-TW" altLang="zh-TW" sz="1000" b="0" u="none" strike="noStrike" dirty="0">
                <a:solidFill>
                  <a:srgbClr val="008000"/>
                </a:solidFill>
                <a:effectLst/>
                <a:latin typeface="Consolas" panose="020B0609020204030204" pitchFamily="49" charset="0"/>
              </a:rPr>
              <a:t>"q_proj"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"k_proj"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"v_proj"</a:t>
            </a:r>
            <a:r>
              <a:rPr lang="zh-TW" altLang="zh-TW" sz="1000" b="0" u="none" strike="noStrike" dirty="0">
                <a:effectLst/>
                <a:latin typeface="Consolas" panose="020B0609020204030204" pitchFamily="49" charset="0"/>
              </a:rPr>
              <a:t>, </a:t>
            </a:r>
            <a:br>
              <a:rPr lang="en-US" altLang="zh-TW" sz="1000" b="0" u="none" strike="noStrike" dirty="0">
                <a:effectLst/>
                <a:latin typeface="Consolas" panose="020B0609020204030204" pitchFamily="49" charset="0"/>
              </a:rPr>
            </a:br>
            <a:r>
              <a:rPr lang="en-US"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"o_proj"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"gate_proj"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"up_proj"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"down_proj"</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lora_dropout=</a:t>
            </a:r>
            <a:r>
              <a:rPr lang="zh-TW" altLang="zh-TW" sz="1000" b="0" u="none" strike="noStrike" dirty="0">
                <a:solidFill>
                  <a:schemeClr val="accent6">
                    <a:lumMod val="50000"/>
                  </a:schemeClr>
                </a:solidFill>
                <a:effectLst/>
                <a:latin typeface="Consolas" panose="020B0609020204030204" pitchFamily="49" charset="0"/>
              </a:rPr>
              <a:t>0</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Best performance</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bias=</a:t>
            </a:r>
            <a:r>
              <a:rPr lang="zh-TW" altLang="zh-TW" sz="1000" b="0" u="none" strike="noStrike" dirty="0">
                <a:solidFill>
                  <a:srgbClr val="008000"/>
                </a:solidFill>
                <a:effectLst/>
                <a:latin typeface="Consolas" panose="020B0609020204030204" pitchFamily="49" charset="0"/>
              </a:rPr>
              <a:t>"none"</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use_gradient_checkpointing=</a:t>
            </a:r>
            <a:r>
              <a:rPr lang="zh-TW" altLang="zh-TW" sz="1000" b="0" u="none" strike="noStrike" dirty="0">
                <a:solidFill>
                  <a:srgbClr val="008000"/>
                </a:solidFill>
                <a:effectLst/>
                <a:latin typeface="Consolas" panose="020B0609020204030204" pitchFamily="49" charset="0"/>
              </a:rPr>
              <a:t>"unsloth"</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Ultra-low </a:t>
            </a:r>
            <a:r>
              <a:rPr lang="zh-TW" altLang="zh-TW" sz="1000" b="0" u="none" strike="noStrike" dirty="0">
                <a:effectLst/>
                <a:latin typeface="Consolas" panose="020B0609020204030204" pitchFamily="49" charset="0"/>
              </a:rPr>
              <a:t>VRAM</a:t>
            </a:r>
          </a:p>
          <a:p>
            <a:pPr marL="0" marR="0" rtl="0">
              <a:lnSpc>
                <a:spcPts val="1200"/>
              </a:lnSpc>
              <a:buNone/>
            </a:pPr>
            <a:r>
              <a:rPr lang="zh-TW" altLang="zh-TW" sz="1000" b="0" u="none" strike="noStrike" dirty="0">
                <a:effectLst/>
                <a:latin typeface="Consolas" panose="020B0609020204030204" pitchFamily="49" charset="0"/>
              </a:rPr>
              <a:t>    random_state=</a:t>
            </a:r>
            <a:r>
              <a:rPr lang="zh-TW" altLang="zh-TW" sz="1000" b="0" u="none" strike="noStrike" dirty="0">
                <a:solidFill>
                  <a:schemeClr val="accent6">
                    <a:lumMod val="50000"/>
                  </a:schemeClr>
                </a:solidFill>
                <a:effectLst/>
                <a:latin typeface="Consolas" panose="020B0609020204030204" pitchFamily="49" charset="0"/>
              </a:rPr>
              <a:t>3407</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a:t>
            </a:r>
          </a:p>
          <a:p>
            <a:pPr>
              <a:lnSpc>
                <a:spcPts val="1200"/>
              </a:lnSpc>
            </a:pPr>
            <a:endParaRPr lang="zh-TW" altLang="en-US" sz="1000" dirty="0">
              <a:latin typeface="Consolas" panose="020B0609020204030204" pitchFamily="49" charset="0"/>
            </a:endParaRPr>
          </a:p>
        </p:txBody>
      </p:sp>
      <p:sp>
        <p:nvSpPr>
          <p:cNvPr id="11" name="文字方塊 10">
            <a:extLst>
              <a:ext uri="{FF2B5EF4-FFF2-40B4-BE49-F238E27FC236}">
                <a16:creationId xmlns:a16="http://schemas.microsoft.com/office/drawing/2014/main" id="{18F3D1BD-FEA1-1267-FF02-F5C2BD90F822}"/>
              </a:ext>
            </a:extLst>
          </p:cNvPr>
          <p:cNvSpPr txBox="1"/>
          <p:nvPr/>
        </p:nvSpPr>
        <p:spPr>
          <a:xfrm>
            <a:off x="5076056" y="1196752"/>
            <a:ext cx="3288080" cy="4267058"/>
          </a:xfrm>
          <a:prstGeom prst="rect">
            <a:avLst/>
          </a:prstGeom>
          <a:solidFill>
            <a:srgbClr val="EAEAEA"/>
          </a:solidFill>
        </p:spPr>
        <p:txBody>
          <a:bodyPr wrap="none">
            <a:noAutofit/>
          </a:bodyPr>
          <a:lstStyle/>
          <a:p>
            <a:pPr marL="0" marR="0" rtl="0">
              <a:lnSpc>
                <a:spcPts val="1200"/>
              </a:lnSpc>
              <a:buNone/>
            </a:pPr>
            <a:endParaRPr lang="en-US"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3. </a:t>
            </a:r>
            <a:r>
              <a:rPr lang="en-US" altLang="zh-TW" sz="1000" b="0" i="1" u="none" strike="noStrike" dirty="0">
                <a:solidFill>
                  <a:schemeClr val="bg1">
                    <a:lumMod val="50000"/>
                  </a:schemeClr>
                </a:solidFill>
                <a:effectLst/>
                <a:latin typeface="Consolas" panose="020B0609020204030204" pitchFamily="49" charset="0"/>
              </a:rPr>
              <a:t>Setup Unsloth Optimizer</a:t>
            </a:r>
            <a:endParaRPr lang="zh-TW" altLang="zh-TW" sz="1000" b="0" i="1"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training_args</a:t>
            </a:r>
            <a:r>
              <a:rPr lang="zh-TW" altLang="zh-TW" sz="1000" b="0" u="none" strike="noStrike" dirty="0">
                <a:effectLst/>
                <a:latin typeface="Consolas" panose="020B0609020204030204" pitchFamily="49" charset="0"/>
              </a:rPr>
              <a:t> = TrainingArguments(</a:t>
            </a:r>
          </a:p>
          <a:p>
            <a:pPr marL="0" marR="0" rtl="0">
              <a:lnSpc>
                <a:spcPts val="1200"/>
              </a:lnSpc>
              <a:buNone/>
            </a:pPr>
            <a:r>
              <a:rPr lang="zh-TW" altLang="zh-TW" sz="1000" b="0" u="none" strike="noStrike" dirty="0">
                <a:effectLst/>
                <a:latin typeface="Consolas" panose="020B0609020204030204" pitchFamily="49" charset="0"/>
              </a:rPr>
              <a:t>    output_dir=</a:t>
            </a:r>
            <a:r>
              <a:rPr lang="zh-TW" altLang="zh-TW" sz="1000" b="0" u="none" strike="noStrike" dirty="0">
                <a:solidFill>
                  <a:srgbClr val="008000"/>
                </a:solidFill>
                <a:effectLst/>
                <a:latin typeface="Consolas" panose="020B0609020204030204" pitchFamily="49" charset="0"/>
              </a:rPr>
              <a:t>"./gemma-unsloth-output"</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per_device_train_batch_size=</a:t>
            </a:r>
            <a:r>
              <a:rPr lang="zh-TW" altLang="zh-TW" sz="1000" b="0" u="none" strike="noStrike" dirty="0">
                <a:solidFill>
                  <a:schemeClr val="accent6">
                    <a:lumMod val="50000"/>
                  </a:schemeClr>
                </a:solidFill>
                <a:effectLst/>
                <a:latin typeface="Consolas" panose="020B0609020204030204" pitchFamily="49" charset="0"/>
              </a:rPr>
              <a:t>2</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gradient_accumulation_steps=</a:t>
            </a:r>
            <a:r>
              <a:rPr lang="zh-TW" altLang="zh-TW" sz="1000" b="0" u="none" strike="noStrike" dirty="0">
                <a:solidFill>
                  <a:schemeClr val="accent6">
                    <a:lumMod val="50000"/>
                  </a:schemeClr>
                </a:solidFill>
                <a:effectLst/>
                <a:latin typeface="Consolas" panose="020B0609020204030204" pitchFamily="49" charset="0"/>
              </a:rPr>
              <a:t>4</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warmup_steps=</a:t>
            </a:r>
            <a:r>
              <a:rPr lang="zh-TW" altLang="zh-TW" sz="1000" b="0" u="none" strike="noStrike" dirty="0">
                <a:solidFill>
                  <a:schemeClr val="accent6">
                    <a:lumMod val="50000"/>
                  </a:schemeClr>
                </a:solidFill>
                <a:effectLst/>
                <a:latin typeface="Consolas" panose="020B0609020204030204" pitchFamily="49" charset="0"/>
              </a:rPr>
              <a:t>5</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max_steps=</a:t>
            </a:r>
            <a:r>
              <a:rPr lang="zh-TW" altLang="zh-TW" sz="1000" b="0" u="none" strike="noStrike" dirty="0">
                <a:solidFill>
                  <a:schemeClr val="accent6">
                    <a:lumMod val="50000"/>
                  </a:schemeClr>
                </a:solidFill>
                <a:effectLst/>
                <a:latin typeface="Consolas" panose="020B0609020204030204" pitchFamily="49" charset="0"/>
              </a:rPr>
              <a:t>60</a:t>
            </a:r>
            <a:r>
              <a:rPr lang="zh-TW" altLang="zh-TW" sz="1000" b="0" u="none" strike="noStrike" dirty="0">
                <a:effectLst/>
                <a:latin typeface="Consolas" panose="020B0609020204030204" pitchFamily="49" charset="0"/>
              </a:rPr>
              <a:t>,</a:t>
            </a:r>
            <a:r>
              <a:rPr lang="en-US" altLang="zh-TW" sz="1000" dirty="0">
                <a:latin typeface="Consolas" panose="020B0609020204030204" pitchFamily="49" charset="0"/>
              </a:rPr>
              <a:t>	</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learning_rate=</a:t>
            </a:r>
            <a:r>
              <a:rPr lang="zh-TW" altLang="zh-TW" sz="1000" b="0" u="none" strike="noStrike" dirty="0">
                <a:solidFill>
                  <a:schemeClr val="accent6">
                    <a:lumMod val="50000"/>
                  </a:schemeClr>
                </a:solidFill>
                <a:effectLst/>
                <a:latin typeface="Consolas" panose="020B0609020204030204" pitchFamily="49" charset="0"/>
              </a:rPr>
              <a:t>2e-4</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fp16=</a:t>
            </a:r>
            <a:r>
              <a:rPr lang="zh-TW" altLang="zh-TW" sz="1000" b="0" u="none" strike="noStrike" dirty="0">
                <a:solidFill>
                  <a:srgbClr val="7030A0"/>
                </a:solidFill>
                <a:effectLst/>
                <a:latin typeface="Consolas" panose="020B0609020204030204" pitchFamily="49" charset="0"/>
              </a:rPr>
              <a:t>not</a:t>
            </a:r>
            <a:r>
              <a:rPr lang="zh-TW" altLang="zh-TW" sz="1000" b="0" u="none" strike="noStrike" dirty="0">
                <a:effectLst/>
                <a:latin typeface="Consolas" panose="020B0609020204030204" pitchFamily="49" charset="0"/>
              </a:rPr>
              <a:t> torch.cuda.is_bf16_supported(),</a:t>
            </a:r>
          </a:p>
          <a:p>
            <a:pPr marL="0" marR="0" rtl="0">
              <a:lnSpc>
                <a:spcPts val="1200"/>
              </a:lnSpc>
              <a:buNone/>
            </a:pPr>
            <a:r>
              <a:rPr lang="zh-TW" altLang="zh-TW" sz="1000" b="0" u="none" strike="noStrike" dirty="0">
                <a:effectLst/>
                <a:latin typeface="Consolas" panose="020B0609020204030204" pitchFamily="49" charset="0"/>
              </a:rPr>
              <a:t>    bf16=torch.cuda.is_bf16_supported(),</a:t>
            </a:r>
          </a:p>
          <a:p>
            <a:pPr marL="0" marR="0" rtl="0">
              <a:lnSpc>
                <a:spcPts val="1200"/>
              </a:lnSpc>
              <a:buNone/>
            </a:pPr>
            <a:r>
              <a:rPr lang="zh-TW" altLang="zh-TW" sz="1000" b="0" u="none" strike="noStrike" dirty="0">
                <a:effectLst/>
                <a:latin typeface="Consolas" panose="020B0609020204030204" pitchFamily="49" charset="0"/>
              </a:rPr>
              <a:t>    logging_steps=</a:t>
            </a:r>
            <a:r>
              <a:rPr lang="zh-TW" altLang="zh-TW" sz="1000" b="0" u="none" strike="noStrike" dirty="0">
                <a:solidFill>
                  <a:schemeClr val="accent6">
                    <a:lumMod val="50000"/>
                  </a:schemeClr>
                </a:solidFill>
                <a:effectLst/>
                <a:latin typeface="Consolas" panose="020B0609020204030204" pitchFamily="49" charset="0"/>
              </a:rPr>
              <a:t>1</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optim=</a:t>
            </a:r>
            <a:r>
              <a:rPr lang="zh-TW" altLang="zh-TW" sz="1000" b="0" u="none" strike="noStrike" dirty="0">
                <a:solidFill>
                  <a:srgbClr val="008000"/>
                </a:solidFill>
                <a:effectLst/>
                <a:latin typeface="Consolas" panose="020B0609020204030204" pitchFamily="49" charset="0"/>
              </a:rPr>
              <a:t>"adamw_8bit"</a:t>
            </a:r>
            <a:r>
              <a:rPr lang="zh-TW" altLang="zh-TW" sz="1000" b="0" u="none" strike="noStrike" dirty="0">
                <a:effectLst/>
                <a:latin typeface="Consolas" panose="020B0609020204030204" pitchFamily="49" charset="0"/>
              </a:rPr>
              <a:t>, </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endParaRPr lang="en-US" altLang="zh-TW" sz="1000" b="0" u="none" strike="noStrike" dirty="0">
              <a:effectLst/>
              <a:latin typeface="Consolas" panose="020B0609020204030204" pitchFamily="49" charset="0"/>
            </a:endParaRP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4. </a:t>
            </a:r>
            <a:r>
              <a:rPr lang="en-US" altLang="zh-TW" sz="1000" b="0" i="1" u="none" strike="noStrike" dirty="0">
                <a:solidFill>
                  <a:schemeClr val="bg1">
                    <a:lumMod val="50000"/>
                  </a:schemeClr>
                </a:solidFill>
                <a:effectLst/>
                <a:latin typeface="Consolas" panose="020B0609020204030204" pitchFamily="49" charset="0"/>
              </a:rPr>
              <a:t>Start Training</a:t>
            </a:r>
            <a:endParaRPr lang="zh-TW" altLang="zh-TW" sz="1000" b="0" i="1"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trainer</a:t>
            </a:r>
            <a:r>
              <a:rPr lang="zh-TW" altLang="zh-TW" sz="1000" b="0" u="none" strike="noStrike" dirty="0">
                <a:effectLst/>
                <a:latin typeface="Consolas" panose="020B0609020204030204" pitchFamily="49" charset="0"/>
              </a:rPr>
              <a:t> = SFTTrainer(</a:t>
            </a:r>
          </a:p>
          <a:p>
            <a:pPr marL="0" marR="0" rtl="0">
              <a:lnSpc>
                <a:spcPts val="1200"/>
              </a:lnSpc>
              <a:buNone/>
            </a:pPr>
            <a:r>
              <a:rPr lang="zh-TW" altLang="zh-TW" sz="1000" b="0" u="none" strike="noStrike" dirty="0">
                <a:effectLst/>
                <a:latin typeface="Consolas" panose="020B0609020204030204" pitchFamily="49" charset="0"/>
              </a:rPr>
              <a:t>    model=model,</a:t>
            </a:r>
          </a:p>
          <a:p>
            <a:pPr marL="0" marR="0" rtl="0">
              <a:lnSpc>
                <a:spcPts val="1200"/>
              </a:lnSpc>
              <a:buNone/>
            </a:pPr>
            <a:r>
              <a:rPr lang="zh-TW" altLang="zh-TW" sz="1000" b="0" u="none" strike="noStrike" dirty="0">
                <a:effectLst/>
                <a:latin typeface="Consolas" panose="020B0609020204030204" pitchFamily="49" charset="0"/>
              </a:rPr>
              <a:t>    tokenizer=tokenizer,</a:t>
            </a:r>
          </a:p>
          <a:p>
            <a:pPr marL="0" marR="0" rtl="0">
              <a:lnSpc>
                <a:spcPts val="1200"/>
              </a:lnSpc>
              <a:buNone/>
            </a:pPr>
            <a:r>
              <a:rPr lang="zh-TW" altLang="zh-TW" sz="1000" b="0" u="none" strike="noStrike" dirty="0">
                <a:effectLst/>
                <a:latin typeface="Consolas" panose="020B0609020204030204" pitchFamily="49" charset="0"/>
              </a:rPr>
              <a:t>    train_dataset=dataset,</a:t>
            </a:r>
            <a:r>
              <a:rPr lang="en-US" altLang="zh-TW" sz="1000" b="0" u="none" strike="noStrike" dirty="0">
                <a:effectLst/>
                <a:latin typeface="Consolas" panose="020B0609020204030204" pitchFamily="49" charset="0"/>
              </a:rPr>
              <a:t> </a:t>
            </a:r>
            <a:r>
              <a:rPr lang="zh-TW" altLang="zh-TW" sz="1000" b="0" u="none" strike="noStrike" dirty="0">
                <a:solidFill>
                  <a:schemeClr val="bg1">
                    <a:lumMod val="50000"/>
                  </a:schemeClr>
                </a:solidFill>
                <a:effectLst/>
                <a:latin typeface="Consolas" panose="020B0609020204030204" pitchFamily="49" charset="0"/>
              </a:rPr>
              <a:t>#</a:t>
            </a:r>
            <a:r>
              <a:rPr lang="en-US" altLang="zh-TW" sz="1000" b="0" u="none" strike="noStrike" dirty="0">
                <a:solidFill>
                  <a:schemeClr val="bg1">
                    <a:lumMod val="50000"/>
                  </a:schemeClr>
                </a:solidFill>
                <a:effectLst/>
                <a:latin typeface="Consolas" panose="020B0609020204030204" pitchFamily="49" charset="0"/>
              </a:rPr>
              <a:t> Aligned Data!!</a:t>
            </a:r>
            <a:endParaRPr lang="zh-TW" altLang="zh-TW" sz="1000" b="0"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dataset_text_field=</a:t>
            </a:r>
            <a:r>
              <a:rPr lang="zh-TW" altLang="zh-TW" sz="1000" b="0" u="none" strike="noStrike" dirty="0">
                <a:solidFill>
                  <a:srgbClr val="008000"/>
                </a:solidFill>
                <a:effectLst/>
                <a:latin typeface="Consolas" panose="020B0609020204030204" pitchFamily="49" charset="0"/>
              </a:rPr>
              <a:t>"text"</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max_seq_length=max_seq_length,</a:t>
            </a:r>
          </a:p>
          <a:p>
            <a:pPr marL="0" marR="0" rtl="0">
              <a:lnSpc>
                <a:spcPts val="1200"/>
              </a:lnSpc>
              <a:buNone/>
            </a:pPr>
            <a:r>
              <a:rPr lang="zh-TW" altLang="zh-TW" sz="1000" b="0" u="none" strike="noStrike" dirty="0">
                <a:effectLst/>
                <a:latin typeface="Consolas" panose="020B0609020204030204" pitchFamily="49" charset="0"/>
              </a:rPr>
              <a:t>    dataset_num_proc=</a:t>
            </a:r>
            <a:r>
              <a:rPr lang="zh-TW" altLang="zh-TW" sz="1000" b="0" u="none" strike="noStrike" dirty="0">
                <a:solidFill>
                  <a:schemeClr val="accent6">
                    <a:lumMod val="50000"/>
                  </a:schemeClr>
                </a:solidFill>
                <a:effectLst/>
                <a:latin typeface="Consolas" panose="020B0609020204030204" pitchFamily="49" charset="0"/>
              </a:rPr>
              <a:t>2</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args=training_args,</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trainer_stats</a:t>
            </a:r>
            <a:r>
              <a:rPr lang="zh-TW" altLang="zh-TW" sz="1000" b="0" u="none" strike="noStrike" dirty="0">
                <a:effectLst/>
                <a:latin typeface="Consolas" panose="020B0609020204030204" pitchFamily="49" charset="0"/>
              </a:rPr>
              <a:t> = trainer.train()</a:t>
            </a:r>
          </a:p>
        </p:txBody>
      </p:sp>
      <p:sp>
        <p:nvSpPr>
          <p:cNvPr id="19" name="文字方塊 18">
            <a:extLst>
              <a:ext uri="{FF2B5EF4-FFF2-40B4-BE49-F238E27FC236}">
                <a16:creationId xmlns:a16="http://schemas.microsoft.com/office/drawing/2014/main" id="{23593BEC-05A3-F409-07AD-D3589DE96DAB}"/>
              </a:ext>
            </a:extLst>
          </p:cNvPr>
          <p:cNvSpPr txBox="1"/>
          <p:nvPr/>
        </p:nvSpPr>
        <p:spPr>
          <a:xfrm>
            <a:off x="179512" y="5877272"/>
            <a:ext cx="8184624" cy="440429"/>
          </a:xfrm>
          <a:prstGeom prst="rect">
            <a:avLst/>
          </a:prstGeom>
          <a:solidFill>
            <a:srgbClr val="EAEAEA"/>
          </a:solidFill>
        </p:spPr>
        <p:txBody>
          <a:bodyPr wrap="none">
            <a:noAutofit/>
          </a:bodyPr>
          <a:lstStyle/>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a:t>
            </a:r>
            <a:r>
              <a:rPr lang="en-US" altLang="zh-TW" sz="1000" i="1" dirty="0">
                <a:solidFill>
                  <a:schemeClr val="bg1">
                    <a:lumMod val="50000"/>
                  </a:schemeClr>
                </a:solidFill>
                <a:latin typeface="Consolas" panose="020B0609020204030204" pitchFamily="49" charset="0"/>
              </a:rPr>
              <a:t>Save</a:t>
            </a:r>
            <a:r>
              <a:rPr lang="en-US" altLang="zh-TW" sz="1000" b="0" i="1" u="none" strike="noStrike" dirty="0">
                <a:solidFill>
                  <a:schemeClr val="bg1">
                    <a:lumMod val="50000"/>
                  </a:schemeClr>
                </a:solidFill>
                <a:effectLst/>
                <a:latin typeface="Consolas" panose="020B0609020204030204" pitchFamily="49" charset="0"/>
              </a:rPr>
              <a:t> tuned weights into compressed Ollama GGUF format</a:t>
            </a:r>
            <a:r>
              <a:rPr lang="zh-TW" altLang="zh-TW" sz="1000" b="0" i="1" u="none" strike="noStrike" dirty="0">
                <a:solidFill>
                  <a:schemeClr val="bg1">
                    <a:lumMod val="50000"/>
                  </a:schemeClr>
                </a:solidFill>
                <a:effectLst/>
                <a:latin typeface="Consolas" panose="020B0609020204030204" pitchFamily="49" charset="0"/>
              </a:rPr>
              <a:t> </a:t>
            </a:r>
          </a:p>
          <a:p>
            <a:pPr>
              <a:lnSpc>
                <a:spcPts val="1200"/>
              </a:lnSpc>
            </a:pPr>
            <a:r>
              <a:rPr lang="en-US" altLang="zh-TW" sz="1000" dirty="0">
                <a:latin typeface="Consolas" panose="020B0609020204030204" pitchFamily="49" charset="0"/>
              </a:rPr>
              <a:t>model.save_pretrained_gguf(</a:t>
            </a:r>
            <a:r>
              <a:rPr lang="en-US" altLang="zh-TW" sz="1000" b="0" u="none" strike="noStrike" dirty="0">
                <a:solidFill>
                  <a:srgbClr val="008000"/>
                </a:solidFill>
                <a:effectLst/>
                <a:latin typeface="Consolas" panose="020B0609020204030204" pitchFamily="49" charset="0"/>
              </a:rPr>
              <a:t>"my_gemma_model"</a:t>
            </a:r>
            <a:r>
              <a:rPr lang="en-US" altLang="zh-TW" sz="1000" b="0" u="none" strike="noStrike" dirty="0">
                <a:effectLst/>
                <a:latin typeface="Consolas" panose="020B0609020204030204" pitchFamily="49" charset="0"/>
              </a:rPr>
              <a:t>, tokenizer, quantization_method=</a:t>
            </a:r>
            <a:r>
              <a:rPr lang="en-US" altLang="zh-TW" sz="1000" b="0" u="none" strike="noStrike" dirty="0">
                <a:solidFill>
                  <a:srgbClr val="008000"/>
                </a:solidFill>
                <a:effectLst/>
                <a:latin typeface="Consolas" panose="020B0609020204030204" pitchFamily="49" charset="0"/>
              </a:rPr>
              <a:t>"q4_k_m"</a:t>
            </a:r>
            <a:r>
              <a:rPr lang="en-US" altLang="zh-TW" sz="1000" b="0" u="none" strike="noStrike" dirty="0">
                <a:effectLst/>
                <a:latin typeface="Consolas" panose="020B0609020204030204" pitchFamily="49" charset="0"/>
              </a:rPr>
              <a:t>)</a:t>
            </a:r>
            <a:endParaRPr lang="zh-TW" altLang="en-US" sz="1000" dirty="0">
              <a:latin typeface="Consolas" panose="020B0609020204030204" pitchFamily="49" charset="0"/>
            </a:endParaRPr>
          </a:p>
        </p:txBody>
      </p:sp>
      <p:sp>
        <p:nvSpPr>
          <p:cNvPr id="21" name="文字方塊 20">
            <a:extLst>
              <a:ext uri="{FF2B5EF4-FFF2-40B4-BE49-F238E27FC236}">
                <a16:creationId xmlns:a16="http://schemas.microsoft.com/office/drawing/2014/main" id="{0F9639B6-9ABE-ADFD-AEF2-698F1687076E}"/>
              </a:ext>
            </a:extLst>
          </p:cNvPr>
          <p:cNvSpPr txBox="1"/>
          <p:nvPr/>
        </p:nvSpPr>
        <p:spPr>
          <a:xfrm>
            <a:off x="179512" y="5661248"/>
            <a:ext cx="2304256" cy="247312"/>
          </a:xfrm>
          <a:prstGeom prst="rect">
            <a:avLst/>
          </a:prstGeom>
          <a:noFill/>
        </p:spPr>
        <p:txBody>
          <a:bodyPr wrap="square">
            <a:spAutoFit/>
          </a:bodyPr>
          <a:lstStyle/>
          <a:p>
            <a:pPr marL="0" marR="0">
              <a:lnSpc>
                <a:spcPts val="1200"/>
              </a:lnSpc>
              <a:buNone/>
            </a:pPr>
            <a:r>
              <a:rPr lang="en-US" altLang="zh-TW" sz="1200" b="1" u="none" strike="noStrike" dirty="0">
                <a:effectLst/>
                <a:latin typeface="Consolas" panose="020B0609020204030204" pitchFamily="49" charset="0"/>
              </a:rPr>
              <a:t>Exporting GGUF</a:t>
            </a:r>
            <a:endParaRPr lang="zh-TW" altLang="zh-TW" sz="1200" b="1" u="none" strike="noStrike" dirty="0">
              <a:effectLst/>
              <a:latin typeface="Consolas" panose="020B0609020204030204" pitchFamily="49" charset="0"/>
            </a:endParaRPr>
          </a:p>
        </p:txBody>
      </p:sp>
      <p:pic>
        <p:nvPicPr>
          <p:cNvPr id="23" name="圖片 22">
            <a:extLst>
              <a:ext uri="{FF2B5EF4-FFF2-40B4-BE49-F238E27FC236}">
                <a16:creationId xmlns:a16="http://schemas.microsoft.com/office/drawing/2014/main" id="{7DE70DD2-16BF-ECEA-19B3-80072208A0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3848" y="134693"/>
            <a:ext cx="576064" cy="576063"/>
          </a:xfrm>
          <a:prstGeom prst="rect">
            <a:avLst/>
          </a:prstGeom>
          <a:effectLst>
            <a:glow rad="76200">
              <a:srgbClr val="00B050">
                <a:alpha val="40000"/>
              </a:srgbClr>
            </a:glow>
          </a:effectLst>
        </p:spPr>
      </p:pic>
      <p:sp>
        <p:nvSpPr>
          <p:cNvPr id="4" name="標題 1">
            <a:extLst>
              <a:ext uri="{FF2B5EF4-FFF2-40B4-BE49-F238E27FC236}">
                <a16:creationId xmlns:a16="http://schemas.microsoft.com/office/drawing/2014/main" id="{8D3514BD-B7B4-ADB3-173D-B32B3B7287E0}"/>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Practice: Unsloth</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SFT and Quantization</a:t>
            </a:r>
          </a:p>
        </p:txBody>
      </p:sp>
    </p:spTree>
    <p:extLst>
      <p:ext uri="{BB962C8B-B14F-4D97-AF65-F5344CB8AC3E}">
        <p14:creationId xmlns:p14="http://schemas.microsoft.com/office/powerpoint/2010/main" val="22319526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874E382E-8463-3FA5-C6AE-276888641807}"/>
              </a:ext>
            </a:extLst>
          </p:cNvPr>
          <p:cNvPicPr>
            <a:picLocks noChangeAspect="1"/>
          </p:cNvPicPr>
          <p:nvPr/>
        </p:nvPicPr>
        <p:blipFill>
          <a:blip r:embed="rId2"/>
          <a:stretch>
            <a:fillRect/>
          </a:stretch>
        </p:blipFill>
        <p:spPr>
          <a:xfrm>
            <a:off x="782056" y="1526047"/>
            <a:ext cx="4770416" cy="4408106"/>
          </a:xfrm>
          <a:prstGeom prst="rect">
            <a:avLst/>
          </a:prstGeom>
          <a:ln>
            <a:noFill/>
          </a:ln>
          <a:effectLst>
            <a:outerShdw blurRad="292100" dist="139700" dir="2700000" algn="tl" rotWithShape="0">
              <a:srgbClr val="333333">
                <a:alpha val="65000"/>
              </a:srgbClr>
            </a:outerShdw>
          </a:effectLst>
        </p:spPr>
      </p:pic>
      <p:pic>
        <p:nvPicPr>
          <p:cNvPr id="9" name="圖片 8">
            <a:extLst>
              <a:ext uri="{FF2B5EF4-FFF2-40B4-BE49-F238E27FC236}">
                <a16:creationId xmlns:a16="http://schemas.microsoft.com/office/drawing/2014/main" id="{F90169FB-75A6-2D94-5957-D0CCC6555136}"/>
              </a:ext>
            </a:extLst>
          </p:cNvPr>
          <p:cNvPicPr>
            <a:picLocks noChangeAspect="1"/>
          </p:cNvPicPr>
          <p:nvPr/>
        </p:nvPicPr>
        <p:blipFill>
          <a:blip r:embed="rId3"/>
          <a:stretch>
            <a:fillRect/>
          </a:stretch>
        </p:blipFill>
        <p:spPr>
          <a:xfrm>
            <a:off x="5628113" y="3123411"/>
            <a:ext cx="3379206" cy="1334437"/>
          </a:xfrm>
          <a:prstGeom prst="rect">
            <a:avLst/>
          </a:prstGeom>
          <a:ln>
            <a:noFill/>
          </a:ln>
          <a:effectLst>
            <a:outerShdw blurRad="292100" dist="139700" dir="2700000" algn="tl" rotWithShape="0">
              <a:srgbClr val="333333">
                <a:alpha val="65000"/>
              </a:srgbClr>
            </a:outerShdw>
          </a:effectLst>
        </p:spPr>
      </p:pic>
      <p:sp>
        <p:nvSpPr>
          <p:cNvPr id="4" name="矩形 3">
            <a:extLst>
              <a:ext uri="{FF2B5EF4-FFF2-40B4-BE49-F238E27FC236}">
                <a16:creationId xmlns:a16="http://schemas.microsoft.com/office/drawing/2014/main" id="{3C007AF6-603A-629B-A06B-2CD59422F789}"/>
              </a:ext>
            </a:extLst>
          </p:cNvPr>
          <p:cNvSpPr/>
          <p:nvPr/>
        </p:nvSpPr>
        <p:spPr>
          <a:xfrm>
            <a:off x="1093866" y="2299698"/>
            <a:ext cx="2811213" cy="2833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6" name="矩形 5">
            <a:extLst>
              <a:ext uri="{FF2B5EF4-FFF2-40B4-BE49-F238E27FC236}">
                <a16:creationId xmlns:a16="http://schemas.microsoft.com/office/drawing/2014/main" id="{78C7F387-EE91-5D4B-E5AC-0E1E77536445}"/>
              </a:ext>
            </a:extLst>
          </p:cNvPr>
          <p:cNvSpPr/>
          <p:nvPr/>
        </p:nvSpPr>
        <p:spPr>
          <a:xfrm>
            <a:off x="1091173" y="1980201"/>
            <a:ext cx="4461299" cy="2833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cxnSp>
        <p:nvCxnSpPr>
          <p:cNvPr id="10" name="接點: 肘形 9">
            <a:extLst>
              <a:ext uri="{FF2B5EF4-FFF2-40B4-BE49-F238E27FC236}">
                <a16:creationId xmlns:a16="http://schemas.microsoft.com/office/drawing/2014/main" id="{6754D68A-EB7F-2542-2C66-96A76E5D917E}"/>
              </a:ext>
            </a:extLst>
          </p:cNvPr>
          <p:cNvCxnSpPr>
            <a:cxnSpLocks/>
            <a:stCxn id="6" idx="1"/>
            <a:endCxn id="15" idx="1"/>
          </p:cNvCxnSpPr>
          <p:nvPr/>
        </p:nvCxnSpPr>
        <p:spPr>
          <a:xfrm rot="10800000" flipV="1">
            <a:off x="858692" y="2121895"/>
            <a:ext cx="232483" cy="2835586"/>
          </a:xfrm>
          <a:prstGeom prst="bentConnector3">
            <a:avLst>
              <a:gd name="adj1" fmla="val 173747"/>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5" name="矩形 14">
            <a:extLst>
              <a:ext uri="{FF2B5EF4-FFF2-40B4-BE49-F238E27FC236}">
                <a16:creationId xmlns:a16="http://schemas.microsoft.com/office/drawing/2014/main" id="{B4154CAD-822E-9E5F-F445-E88460BEDF4E}"/>
              </a:ext>
            </a:extLst>
          </p:cNvPr>
          <p:cNvSpPr/>
          <p:nvPr/>
        </p:nvSpPr>
        <p:spPr>
          <a:xfrm>
            <a:off x="858691" y="3980809"/>
            <a:ext cx="4610420" cy="1953344"/>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2" name="矩形 21">
            <a:extLst>
              <a:ext uri="{FF2B5EF4-FFF2-40B4-BE49-F238E27FC236}">
                <a16:creationId xmlns:a16="http://schemas.microsoft.com/office/drawing/2014/main" id="{61F2C084-1F28-FEEC-1632-B2048A615545}"/>
              </a:ext>
            </a:extLst>
          </p:cNvPr>
          <p:cNvSpPr/>
          <p:nvPr/>
        </p:nvSpPr>
        <p:spPr>
          <a:xfrm>
            <a:off x="1166817" y="3247351"/>
            <a:ext cx="3905836" cy="402410"/>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4" name="矩形 23">
            <a:extLst>
              <a:ext uri="{FF2B5EF4-FFF2-40B4-BE49-F238E27FC236}">
                <a16:creationId xmlns:a16="http://schemas.microsoft.com/office/drawing/2014/main" id="{7378C543-AF30-55F2-D518-30A35928F329}"/>
              </a:ext>
            </a:extLst>
          </p:cNvPr>
          <p:cNvSpPr/>
          <p:nvPr/>
        </p:nvSpPr>
        <p:spPr>
          <a:xfrm>
            <a:off x="5824057" y="3623554"/>
            <a:ext cx="3183263" cy="521282"/>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5" name="文字方塊 24">
            <a:extLst>
              <a:ext uri="{FF2B5EF4-FFF2-40B4-BE49-F238E27FC236}">
                <a16:creationId xmlns:a16="http://schemas.microsoft.com/office/drawing/2014/main" id="{F3FF24D6-C98B-AED6-E8B3-C355AE7C4946}"/>
              </a:ext>
            </a:extLst>
          </p:cNvPr>
          <p:cNvSpPr txBox="1"/>
          <p:nvPr/>
        </p:nvSpPr>
        <p:spPr>
          <a:xfrm>
            <a:off x="247843" y="1316969"/>
            <a:ext cx="5270995"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1.</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傳出使用者的問話（</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user prompt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系統提示詞（</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system prompt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）包含工具的資訊給大模型</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29" name="文字方塊 28">
            <a:extLst>
              <a:ext uri="{FF2B5EF4-FFF2-40B4-BE49-F238E27FC236}">
                <a16:creationId xmlns:a16="http://schemas.microsoft.com/office/drawing/2014/main" id="{57EC669B-7AE9-2B92-0DD9-2197E6373F03}"/>
              </a:ext>
            </a:extLst>
          </p:cNvPr>
          <p:cNvSpPr txBox="1"/>
          <p:nvPr/>
        </p:nvSpPr>
        <p:spPr>
          <a:xfrm>
            <a:off x="321382" y="906789"/>
            <a:ext cx="2565126" cy="230832"/>
          </a:xfrm>
          <a:prstGeom prst="rect">
            <a:avLst/>
          </a:prstGeom>
          <a:noFill/>
        </p:spPr>
        <p:txBody>
          <a:bodyPr wrap="none" rtlCol="0">
            <a:spAutoFit/>
          </a:bodyPr>
          <a:lstStyle/>
          <a:p>
            <a:r>
              <a:rPr lang="en-US" altLang="zh-CN" sz="900" dirty="0">
                <a:solidFill>
                  <a:schemeClr val="accent1"/>
                </a:solidFill>
                <a:latin typeface="微軟正黑體" panose="020B0604030504040204" pitchFamily="34" charset="-120"/>
                <a:ea typeface="微軟正黑體" panose="020B0604030504040204" pitchFamily="34" charset="-120"/>
              </a:rPr>
              <a:t>AI Agent</a:t>
            </a:r>
            <a:r>
              <a:rPr lang="zh-CN" altLang="en-US" sz="900" dirty="0">
                <a:solidFill>
                  <a:schemeClr val="accent1"/>
                </a:solidFill>
                <a:latin typeface="微軟正黑體" panose="020B0604030504040204" pitchFamily="34" charset="-120"/>
                <a:ea typeface="微軟正黑體" panose="020B0604030504040204" pitchFamily="34" charset="-120"/>
              </a:rPr>
              <a:t>如何操作工具（</a:t>
            </a:r>
            <a:r>
              <a:rPr lang="en-US" altLang="zh-CN" sz="900" dirty="0">
                <a:solidFill>
                  <a:schemeClr val="accent1"/>
                </a:solidFill>
                <a:latin typeface="微軟正黑體" panose="020B0604030504040204" pitchFamily="34" charset="-120"/>
                <a:ea typeface="微軟正黑體" panose="020B0604030504040204" pitchFamily="34" charset="-120"/>
              </a:rPr>
              <a:t>openclaw</a:t>
            </a:r>
            <a:r>
              <a:rPr lang="zh-CN" altLang="en-US" sz="900" dirty="0">
                <a:solidFill>
                  <a:schemeClr val="accent1"/>
                </a:solidFill>
                <a:latin typeface="微軟正黑體" panose="020B0604030504040204" pitchFamily="34" charset="-120"/>
                <a:ea typeface="微軟正黑體" panose="020B0604030504040204" pitchFamily="34" charset="-120"/>
              </a:rPr>
              <a:t>具體實例）</a:t>
            </a:r>
            <a:endParaRPr lang="zh-TW" altLang="en-US" sz="900" dirty="0">
              <a:solidFill>
                <a:schemeClr val="accent1"/>
              </a:solidFill>
              <a:latin typeface="微軟正黑體" panose="020B0604030504040204" pitchFamily="34" charset="-120"/>
              <a:ea typeface="微軟正黑體" panose="020B0604030504040204" pitchFamily="34" charset="-120"/>
            </a:endParaRPr>
          </a:p>
        </p:txBody>
      </p:sp>
      <p:sp>
        <p:nvSpPr>
          <p:cNvPr id="31" name="文字方塊 30">
            <a:extLst>
              <a:ext uri="{FF2B5EF4-FFF2-40B4-BE49-F238E27FC236}">
                <a16:creationId xmlns:a16="http://schemas.microsoft.com/office/drawing/2014/main" id="{C5473FF9-5F65-496C-3E4D-6739B7ACC249}"/>
              </a:ext>
            </a:extLst>
          </p:cNvPr>
          <p:cNvSpPr txBox="1"/>
          <p:nvPr/>
        </p:nvSpPr>
        <p:spPr>
          <a:xfrm>
            <a:off x="2945361" y="4263294"/>
            <a:ext cx="1627369" cy="207749"/>
          </a:xfrm>
          <a:prstGeom prst="rect">
            <a:avLst/>
          </a:prstGeom>
          <a:noFill/>
          <a:ln>
            <a:noFill/>
          </a:ln>
        </p:spPr>
        <p:txBody>
          <a:bodyPr wrap="none" rtlCol="0">
            <a:spAutoFit/>
          </a:bodyPr>
          <a:lstStyle/>
          <a:p>
            <a:r>
              <a:rPr lang="zh-CN"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系統提示詞中也有工具的使用提示</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33" name="矩形 32">
            <a:extLst>
              <a:ext uri="{FF2B5EF4-FFF2-40B4-BE49-F238E27FC236}">
                <a16:creationId xmlns:a16="http://schemas.microsoft.com/office/drawing/2014/main" id="{F241F81F-5AC4-0B8A-5FA4-F469FCBDE7ED}"/>
              </a:ext>
            </a:extLst>
          </p:cNvPr>
          <p:cNvSpPr/>
          <p:nvPr/>
        </p:nvSpPr>
        <p:spPr>
          <a:xfrm>
            <a:off x="929514" y="4450616"/>
            <a:ext cx="3865418" cy="105940"/>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35" name="文字方塊 34">
            <a:extLst>
              <a:ext uri="{FF2B5EF4-FFF2-40B4-BE49-F238E27FC236}">
                <a16:creationId xmlns:a16="http://schemas.microsoft.com/office/drawing/2014/main" id="{0A6F5C07-5BDE-1968-4F1C-A6163A18180A}"/>
              </a:ext>
            </a:extLst>
          </p:cNvPr>
          <p:cNvSpPr txBox="1"/>
          <p:nvPr/>
        </p:nvSpPr>
        <p:spPr>
          <a:xfrm>
            <a:off x="2814048" y="3325125"/>
            <a:ext cx="1106393" cy="207749"/>
          </a:xfrm>
          <a:prstGeom prst="rect">
            <a:avLst/>
          </a:prstGeom>
          <a:noFill/>
          <a:ln>
            <a:noFill/>
          </a:ln>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有工具的使用説明</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37" name="文字方塊 36">
            <a:extLst>
              <a:ext uri="{FF2B5EF4-FFF2-40B4-BE49-F238E27FC236}">
                <a16:creationId xmlns:a16="http://schemas.microsoft.com/office/drawing/2014/main" id="{419F0917-D6D2-0663-28D0-87F98AF03E1A}"/>
              </a:ext>
            </a:extLst>
          </p:cNvPr>
          <p:cNvSpPr txBox="1"/>
          <p:nvPr/>
        </p:nvSpPr>
        <p:spPr>
          <a:xfrm>
            <a:off x="5809130" y="1789052"/>
            <a:ext cx="3049233"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2.</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收到大模型要求執行工具調用，本地執行這個工具指令</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pic>
        <p:nvPicPr>
          <p:cNvPr id="40" name="圖片 39">
            <a:extLst>
              <a:ext uri="{FF2B5EF4-FFF2-40B4-BE49-F238E27FC236}">
                <a16:creationId xmlns:a16="http://schemas.microsoft.com/office/drawing/2014/main" id="{C99635CC-FB5F-D773-BB77-E2A84660D4D1}"/>
              </a:ext>
            </a:extLst>
          </p:cNvPr>
          <p:cNvPicPr>
            <a:picLocks noChangeAspect="1"/>
          </p:cNvPicPr>
          <p:nvPr/>
        </p:nvPicPr>
        <p:blipFill>
          <a:blip r:embed="rId4"/>
          <a:stretch>
            <a:fillRect/>
          </a:stretch>
        </p:blipFill>
        <p:spPr>
          <a:xfrm>
            <a:off x="3058272" y="934820"/>
            <a:ext cx="2014380" cy="358957"/>
          </a:xfrm>
          <a:prstGeom prst="rect">
            <a:avLst/>
          </a:prstGeom>
          <a:ln>
            <a:noFill/>
          </a:ln>
          <a:effectLst>
            <a:outerShdw blurRad="292100" dist="139700" dir="2700000" algn="tl" rotWithShape="0">
              <a:srgbClr val="333333">
                <a:alpha val="65000"/>
              </a:srgbClr>
            </a:outerShdw>
          </a:effectLst>
        </p:spPr>
      </p:pic>
      <p:pic>
        <p:nvPicPr>
          <p:cNvPr id="45" name="圖片 44">
            <a:extLst>
              <a:ext uri="{FF2B5EF4-FFF2-40B4-BE49-F238E27FC236}">
                <a16:creationId xmlns:a16="http://schemas.microsoft.com/office/drawing/2014/main" id="{5E224571-6F7C-786B-B247-433971A9BD44}"/>
              </a:ext>
            </a:extLst>
          </p:cNvPr>
          <p:cNvPicPr>
            <a:picLocks noChangeAspect="1"/>
          </p:cNvPicPr>
          <p:nvPr/>
        </p:nvPicPr>
        <p:blipFill>
          <a:blip r:embed="rId5"/>
          <a:stretch>
            <a:fillRect/>
          </a:stretch>
        </p:blipFill>
        <p:spPr>
          <a:xfrm>
            <a:off x="5613186" y="2121895"/>
            <a:ext cx="3488703" cy="876422"/>
          </a:xfrm>
          <a:prstGeom prst="rect">
            <a:avLst/>
          </a:prstGeom>
          <a:ln>
            <a:noFill/>
          </a:ln>
          <a:effectLst>
            <a:outerShdw blurRad="292100" dist="139700" dir="2700000" algn="tl" rotWithShape="0">
              <a:srgbClr val="333333">
                <a:alpha val="65000"/>
              </a:srgbClr>
            </a:outerShdw>
          </a:effectLst>
        </p:spPr>
      </p:pic>
      <p:sp>
        <p:nvSpPr>
          <p:cNvPr id="48" name="文字方塊 47">
            <a:extLst>
              <a:ext uri="{FF2B5EF4-FFF2-40B4-BE49-F238E27FC236}">
                <a16:creationId xmlns:a16="http://schemas.microsoft.com/office/drawing/2014/main" id="{D323B715-0111-E94B-9337-93E4D794CF1E}"/>
              </a:ext>
            </a:extLst>
          </p:cNvPr>
          <p:cNvSpPr txBox="1"/>
          <p:nvPr/>
        </p:nvSpPr>
        <p:spPr>
          <a:xfrm>
            <a:off x="3862664" y="2356299"/>
            <a:ext cx="744114" cy="207749"/>
          </a:xfrm>
          <a:prstGeom prst="rect">
            <a:avLst/>
          </a:prstGeom>
          <a:noFill/>
          <a:ln>
            <a:noFill/>
          </a:ln>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user prompt</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662F09A1-E287-B0DF-2A9D-D0B4BD7C336A}"/>
              </a:ext>
            </a:extLst>
          </p:cNvPr>
          <p:cNvSpPr txBox="1"/>
          <p:nvPr/>
        </p:nvSpPr>
        <p:spPr>
          <a:xfrm>
            <a:off x="3446766" y="1794207"/>
            <a:ext cx="867545" cy="207749"/>
          </a:xfrm>
          <a:prstGeom prst="rect">
            <a:avLst/>
          </a:prstGeom>
          <a:noFill/>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system prompt</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0052412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856B6AA2-2CF4-DEEE-F773-18D1F3B9B267}"/>
              </a:ext>
            </a:extLst>
          </p:cNvPr>
          <p:cNvPicPr>
            <a:picLocks noChangeAspect="1"/>
          </p:cNvPicPr>
          <p:nvPr/>
        </p:nvPicPr>
        <p:blipFill>
          <a:blip r:embed="rId2"/>
          <a:stretch>
            <a:fillRect/>
          </a:stretch>
        </p:blipFill>
        <p:spPr>
          <a:xfrm>
            <a:off x="168393" y="2627209"/>
            <a:ext cx="4663905" cy="3181339"/>
          </a:xfrm>
          <a:prstGeom prst="rect">
            <a:avLst/>
          </a:prstGeom>
          <a:ln>
            <a:noFill/>
          </a:ln>
          <a:effectLst>
            <a:outerShdw blurRad="292100" dist="139700" dir="2700000" algn="tl" rotWithShape="0">
              <a:srgbClr val="333333">
                <a:alpha val="65000"/>
              </a:srgbClr>
            </a:outerShdw>
          </a:effectLst>
        </p:spPr>
      </p:pic>
      <p:pic>
        <p:nvPicPr>
          <p:cNvPr id="6" name="圖片 5">
            <a:extLst>
              <a:ext uri="{FF2B5EF4-FFF2-40B4-BE49-F238E27FC236}">
                <a16:creationId xmlns:a16="http://schemas.microsoft.com/office/drawing/2014/main" id="{C39014E0-7321-A89C-6FF8-1E27C5ABD1C9}"/>
              </a:ext>
            </a:extLst>
          </p:cNvPr>
          <p:cNvPicPr>
            <a:picLocks noChangeAspect="1"/>
          </p:cNvPicPr>
          <p:nvPr/>
        </p:nvPicPr>
        <p:blipFill>
          <a:blip r:embed="rId3"/>
          <a:stretch>
            <a:fillRect/>
          </a:stretch>
        </p:blipFill>
        <p:spPr>
          <a:xfrm>
            <a:off x="5080707" y="3429001"/>
            <a:ext cx="3894900" cy="615203"/>
          </a:xfrm>
          <a:prstGeom prst="rect">
            <a:avLst/>
          </a:prstGeom>
          <a:ln>
            <a:noFill/>
          </a:ln>
          <a:effectLst>
            <a:outerShdw blurRad="292100" dist="139700" dir="2700000" algn="tl" rotWithShape="0">
              <a:srgbClr val="333333">
                <a:alpha val="65000"/>
              </a:srgbClr>
            </a:outerShdw>
          </a:effectLst>
        </p:spPr>
      </p:pic>
      <p:sp>
        <p:nvSpPr>
          <p:cNvPr id="10" name="文字方塊 9">
            <a:extLst>
              <a:ext uri="{FF2B5EF4-FFF2-40B4-BE49-F238E27FC236}">
                <a16:creationId xmlns:a16="http://schemas.microsoft.com/office/drawing/2014/main" id="{14DD395C-3F44-7ADF-58F1-CEF8AC2ECA22}"/>
              </a:ext>
            </a:extLst>
          </p:cNvPr>
          <p:cNvSpPr txBox="1"/>
          <p:nvPr/>
        </p:nvSpPr>
        <p:spPr>
          <a:xfrm>
            <a:off x="391945" y="1011600"/>
            <a:ext cx="2507418"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3.</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傳出歷史記錄</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工具執行的結果給大模型</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51B4FDFE-4508-79C3-B679-B1C07E9802C0}"/>
              </a:ext>
            </a:extLst>
          </p:cNvPr>
          <p:cNvSpPr/>
          <p:nvPr/>
        </p:nvSpPr>
        <p:spPr>
          <a:xfrm>
            <a:off x="368475" y="4090928"/>
            <a:ext cx="4514483" cy="16712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18" name="矩形 17">
            <a:extLst>
              <a:ext uri="{FF2B5EF4-FFF2-40B4-BE49-F238E27FC236}">
                <a16:creationId xmlns:a16="http://schemas.microsoft.com/office/drawing/2014/main" id="{72ED081B-26E6-2AE6-20BF-EE441A86696D}"/>
              </a:ext>
            </a:extLst>
          </p:cNvPr>
          <p:cNvSpPr/>
          <p:nvPr/>
        </p:nvSpPr>
        <p:spPr>
          <a:xfrm>
            <a:off x="368475" y="4712751"/>
            <a:ext cx="1901738" cy="1176241"/>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cxnSp>
        <p:nvCxnSpPr>
          <p:cNvPr id="19" name="接點: 肘形 18">
            <a:extLst>
              <a:ext uri="{FF2B5EF4-FFF2-40B4-BE49-F238E27FC236}">
                <a16:creationId xmlns:a16="http://schemas.microsoft.com/office/drawing/2014/main" id="{9819C47E-C4F2-31B0-EC48-456E95AB83F6}"/>
              </a:ext>
            </a:extLst>
          </p:cNvPr>
          <p:cNvCxnSpPr>
            <a:cxnSpLocks/>
            <a:stCxn id="12" idx="1"/>
            <a:endCxn id="18" idx="1"/>
          </p:cNvCxnSpPr>
          <p:nvPr/>
        </p:nvCxnSpPr>
        <p:spPr>
          <a:xfrm rot="10800000" flipV="1">
            <a:off x="368474" y="4174492"/>
            <a:ext cx="9525" cy="1126379"/>
          </a:xfrm>
          <a:prstGeom prst="bentConnector3">
            <a:avLst>
              <a:gd name="adj1" fmla="val 180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3" name="文字方塊 22">
            <a:extLst>
              <a:ext uri="{FF2B5EF4-FFF2-40B4-BE49-F238E27FC236}">
                <a16:creationId xmlns:a16="http://schemas.microsoft.com/office/drawing/2014/main" id="{CF7B9993-F344-4E09-33FE-02603F8D4814}"/>
              </a:ext>
            </a:extLst>
          </p:cNvPr>
          <p:cNvSpPr txBox="1"/>
          <p:nvPr/>
        </p:nvSpPr>
        <p:spPr>
          <a:xfrm>
            <a:off x="5454386" y="1392913"/>
            <a:ext cx="1433406"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4.</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收到大模型最後的回答</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27" name="矩形 26">
            <a:extLst>
              <a:ext uri="{FF2B5EF4-FFF2-40B4-BE49-F238E27FC236}">
                <a16:creationId xmlns:a16="http://schemas.microsoft.com/office/drawing/2014/main" id="{693D411A-A3F0-8EA7-33DA-7D7C47F26E44}"/>
              </a:ext>
            </a:extLst>
          </p:cNvPr>
          <p:cNvSpPr/>
          <p:nvPr/>
        </p:nvSpPr>
        <p:spPr>
          <a:xfrm>
            <a:off x="5306845" y="3774343"/>
            <a:ext cx="3758393" cy="1718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pic>
        <p:nvPicPr>
          <p:cNvPr id="31" name="圖片 30">
            <a:extLst>
              <a:ext uri="{FF2B5EF4-FFF2-40B4-BE49-F238E27FC236}">
                <a16:creationId xmlns:a16="http://schemas.microsoft.com/office/drawing/2014/main" id="{DDB4C16D-8CD8-AF4E-9E8D-79BAC4650F83}"/>
              </a:ext>
            </a:extLst>
          </p:cNvPr>
          <p:cNvPicPr>
            <a:picLocks noChangeAspect="1"/>
          </p:cNvPicPr>
          <p:nvPr/>
        </p:nvPicPr>
        <p:blipFill>
          <a:blip r:embed="rId4"/>
          <a:stretch>
            <a:fillRect/>
          </a:stretch>
        </p:blipFill>
        <p:spPr>
          <a:xfrm>
            <a:off x="253573" y="1196537"/>
            <a:ext cx="2996696" cy="1350228"/>
          </a:xfrm>
          <a:prstGeom prst="rect">
            <a:avLst/>
          </a:prstGeom>
          <a:ln>
            <a:noFill/>
          </a:ln>
          <a:effectLst>
            <a:outerShdw blurRad="292100" dist="139700" dir="2700000" algn="tl" rotWithShape="0">
              <a:srgbClr val="333333">
                <a:alpha val="65000"/>
              </a:srgbClr>
            </a:outerShdw>
          </a:effectLst>
        </p:spPr>
      </p:pic>
      <p:pic>
        <p:nvPicPr>
          <p:cNvPr id="33" name="圖片 32">
            <a:extLst>
              <a:ext uri="{FF2B5EF4-FFF2-40B4-BE49-F238E27FC236}">
                <a16:creationId xmlns:a16="http://schemas.microsoft.com/office/drawing/2014/main" id="{CEF825C6-2C65-FED4-92C7-EAC8092EE9B4}"/>
              </a:ext>
            </a:extLst>
          </p:cNvPr>
          <p:cNvPicPr>
            <a:picLocks noChangeAspect="1"/>
          </p:cNvPicPr>
          <p:nvPr/>
        </p:nvPicPr>
        <p:blipFill>
          <a:blip r:embed="rId5"/>
          <a:stretch>
            <a:fillRect/>
          </a:stretch>
        </p:blipFill>
        <p:spPr>
          <a:xfrm>
            <a:off x="5127678" y="1705413"/>
            <a:ext cx="3553078" cy="15509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009063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7D88264F-8D27-8E9F-CBF6-F61243BD5B41}"/>
              </a:ext>
            </a:extLst>
          </p:cNvPr>
          <p:cNvSpPr/>
          <p:nvPr/>
        </p:nvSpPr>
        <p:spPr>
          <a:xfrm>
            <a:off x="5918111" y="1933659"/>
            <a:ext cx="2764248" cy="333300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b"/>
          <a:lstStyle/>
          <a:p>
            <a:r>
              <a:rPr lang="zh-TW" altLang="zh-TW" sz="900" b="1" dirty="0">
                <a:solidFill>
                  <a:schemeClr val="bg1"/>
                </a:solidFill>
                <a:latin typeface="微軟正黑體 Light" panose="020B0304030504040204" pitchFamily="34" charset="-120"/>
                <a:ea typeface="微軟正黑體 Light" panose="020B0304030504040204" pitchFamily="34" charset="-120"/>
              </a:rPr>
              <a:t>Thought</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13" name="矩形 12">
            <a:extLst>
              <a:ext uri="{FF2B5EF4-FFF2-40B4-BE49-F238E27FC236}">
                <a16:creationId xmlns:a16="http://schemas.microsoft.com/office/drawing/2014/main" id="{E70AF1FB-ED05-70F0-4DB3-6127255BC839}"/>
              </a:ext>
            </a:extLst>
          </p:cNvPr>
          <p:cNvSpPr/>
          <p:nvPr/>
        </p:nvSpPr>
        <p:spPr>
          <a:xfrm>
            <a:off x="6228599" y="2908192"/>
            <a:ext cx="2138553" cy="23506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System Prompt </a:t>
            </a:r>
            <a:endParaRPr lang="zh-TW" altLang="en-US" sz="900" dirty="0">
              <a:latin typeface="微軟正黑體 Light" panose="020B0304030504040204" pitchFamily="34" charset="-120"/>
              <a:ea typeface="微軟正黑體 Light" panose="020B0304030504040204" pitchFamily="34" charset="-120"/>
            </a:endParaRPr>
          </a:p>
        </p:txBody>
      </p:sp>
      <p:sp>
        <p:nvSpPr>
          <p:cNvPr id="15" name="矩形 14">
            <a:extLst>
              <a:ext uri="{FF2B5EF4-FFF2-40B4-BE49-F238E27FC236}">
                <a16:creationId xmlns:a16="http://schemas.microsoft.com/office/drawing/2014/main" id="{C07BA97E-C56E-E7DA-9BCB-13829BFBAF71}"/>
              </a:ext>
            </a:extLst>
          </p:cNvPr>
          <p:cNvSpPr/>
          <p:nvPr/>
        </p:nvSpPr>
        <p:spPr>
          <a:xfrm>
            <a:off x="6228599" y="2354902"/>
            <a:ext cx="2138553" cy="45396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zh-TW" sz="900" dirty="0">
                <a:latin typeface="微軟正黑體 Light" panose="020B0304030504040204" pitchFamily="34" charset="-120"/>
                <a:ea typeface="微軟正黑體 Light" panose="020B0304030504040204" pitchFamily="34" charset="-120"/>
              </a:rPr>
              <a:t>User Prompt</a:t>
            </a:r>
            <a:endParaRPr lang="en-US" altLang="zh-TW" sz="900" dirty="0">
              <a:latin typeface="微軟正黑體 Light" panose="020B0304030504040204" pitchFamily="34" charset="-120"/>
              <a:ea typeface="微軟正黑體 Light" panose="020B0304030504040204" pitchFamily="34" charset="-120"/>
            </a:endParaRPr>
          </a:p>
          <a:p>
            <a:pPr algn="ctr"/>
            <a:r>
              <a:rPr lang="zh-CN" altLang="en-US" sz="900" dirty="0">
                <a:latin typeface="微軟正黑體 Light" panose="020B0304030504040204" pitchFamily="34" charset="-120"/>
                <a:ea typeface="微軟正黑體 Light" panose="020B0304030504040204" pitchFamily="34" charset="-120"/>
              </a:rPr>
              <a:t>問話、檔案、圖片、聲音、影片</a:t>
            </a:r>
            <a:endParaRPr lang="zh-TW" altLang="en-US" sz="900" dirty="0">
              <a:latin typeface="微軟正黑體 Light" panose="020B0304030504040204" pitchFamily="34" charset="-120"/>
              <a:ea typeface="微軟正黑體 Light" panose="020B0304030504040204" pitchFamily="34" charset="-120"/>
            </a:endParaRPr>
          </a:p>
        </p:txBody>
      </p:sp>
      <p:sp>
        <p:nvSpPr>
          <p:cNvPr id="19" name="矩形 18">
            <a:extLst>
              <a:ext uri="{FF2B5EF4-FFF2-40B4-BE49-F238E27FC236}">
                <a16:creationId xmlns:a16="http://schemas.microsoft.com/office/drawing/2014/main" id="{DEFB6727-F3BA-A57C-3144-6772B21B5D15}"/>
              </a:ext>
            </a:extLst>
          </p:cNvPr>
          <p:cNvSpPr/>
          <p:nvPr/>
        </p:nvSpPr>
        <p:spPr>
          <a:xfrm>
            <a:off x="6211295" y="4334356"/>
            <a:ext cx="2138553" cy="5569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dirty="0">
                <a:latin typeface="微軟正黑體 Light" panose="020B0304030504040204" pitchFamily="34" charset="-120"/>
                <a:ea typeface="微軟正黑體 Light" panose="020B0304030504040204" pitchFamily="34" charset="-120"/>
              </a:rPr>
              <a:t>Block Hashing</a:t>
            </a:r>
            <a:br>
              <a:rPr lang="en-US" altLang="zh-TW"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KV Cache</a:t>
            </a:r>
            <a:endParaRPr lang="zh-TW" altLang="en-US" sz="900" dirty="0">
              <a:latin typeface="微軟正黑體 Light" panose="020B0304030504040204" pitchFamily="34" charset="-120"/>
              <a:ea typeface="微軟正黑體 Light" panose="020B0304030504040204" pitchFamily="34" charset="-120"/>
            </a:endParaRPr>
          </a:p>
        </p:txBody>
      </p:sp>
      <p:sp>
        <p:nvSpPr>
          <p:cNvPr id="23" name="矩形 22">
            <a:extLst>
              <a:ext uri="{FF2B5EF4-FFF2-40B4-BE49-F238E27FC236}">
                <a16:creationId xmlns:a16="http://schemas.microsoft.com/office/drawing/2014/main" id="{E032344B-9D17-C577-54A3-35184C84F7A8}"/>
              </a:ext>
            </a:extLst>
          </p:cNvPr>
          <p:cNvSpPr/>
          <p:nvPr/>
        </p:nvSpPr>
        <p:spPr>
          <a:xfrm>
            <a:off x="6225468" y="3644907"/>
            <a:ext cx="2138553" cy="249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Prompt Templating</a:t>
            </a:r>
            <a:endParaRPr lang="zh-TW" altLang="en-US" sz="900" dirty="0">
              <a:latin typeface="微軟正黑體 Light" panose="020B0304030504040204" pitchFamily="34" charset="-120"/>
              <a:ea typeface="微軟正黑體 Light" panose="020B0304030504040204" pitchFamily="34" charset="-120"/>
            </a:endParaRPr>
          </a:p>
        </p:txBody>
      </p:sp>
      <p:sp>
        <p:nvSpPr>
          <p:cNvPr id="31" name="矩形 30">
            <a:extLst>
              <a:ext uri="{FF2B5EF4-FFF2-40B4-BE49-F238E27FC236}">
                <a16:creationId xmlns:a16="http://schemas.microsoft.com/office/drawing/2014/main" id="{2AD862E8-6E61-CCD5-92B1-19DF3C04E057}"/>
              </a:ext>
            </a:extLst>
          </p:cNvPr>
          <p:cNvSpPr/>
          <p:nvPr/>
        </p:nvSpPr>
        <p:spPr>
          <a:xfrm>
            <a:off x="6211295" y="3995768"/>
            <a:ext cx="2138553" cy="249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Tokenization</a:t>
            </a:r>
            <a:endParaRPr lang="zh-TW" altLang="en-US" sz="900" dirty="0">
              <a:latin typeface="微軟正黑體 Light" panose="020B0304030504040204" pitchFamily="34" charset="-120"/>
              <a:ea typeface="微軟正黑體 Light" panose="020B0304030504040204" pitchFamily="34" charset="-120"/>
            </a:endParaRPr>
          </a:p>
        </p:txBody>
      </p:sp>
      <p:sp>
        <p:nvSpPr>
          <p:cNvPr id="39" name="文字方塊 38">
            <a:extLst>
              <a:ext uri="{FF2B5EF4-FFF2-40B4-BE49-F238E27FC236}">
                <a16:creationId xmlns:a16="http://schemas.microsoft.com/office/drawing/2014/main" id="{DFCD5701-21B1-1F5E-2482-B310571D001E}"/>
              </a:ext>
            </a:extLst>
          </p:cNvPr>
          <p:cNvSpPr txBox="1"/>
          <p:nvPr/>
        </p:nvSpPr>
        <p:spPr>
          <a:xfrm>
            <a:off x="3932018" y="1840642"/>
            <a:ext cx="1652125" cy="300082"/>
          </a:xfrm>
          <a:prstGeom prst="rect">
            <a:avLst/>
          </a:prstGeom>
          <a:noFill/>
        </p:spPr>
        <p:txBody>
          <a:bodyPr wrap="square">
            <a:spAutoFit/>
          </a:bodyPr>
          <a:lstStyle/>
          <a:p>
            <a:r>
              <a:rPr lang="en-US" altLang="zh-CN" sz="1350" b="1" dirty="0">
                <a:solidFill>
                  <a:schemeClr val="accent1"/>
                </a:solidFill>
                <a:latin typeface="微軟正黑體 Light" panose="020B0304030504040204" pitchFamily="34" charset="-120"/>
                <a:ea typeface="微軟正黑體 Light" panose="020B0304030504040204" pitchFamily="34" charset="-120"/>
              </a:rPr>
              <a:t>Agent (ReAct)</a:t>
            </a:r>
            <a:endParaRPr lang="zh-TW" altLang="en-US" sz="1350" b="1" dirty="0">
              <a:solidFill>
                <a:schemeClr val="accent1"/>
              </a:solidFill>
              <a:latin typeface="微軟正黑體 Light" panose="020B0304030504040204" pitchFamily="34" charset="-120"/>
              <a:ea typeface="微軟正黑體 Light" panose="020B0304030504040204" pitchFamily="34" charset="-120"/>
            </a:endParaRPr>
          </a:p>
        </p:txBody>
      </p:sp>
      <p:sp>
        <p:nvSpPr>
          <p:cNvPr id="41" name="矩形 40">
            <a:extLst>
              <a:ext uri="{FF2B5EF4-FFF2-40B4-BE49-F238E27FC236}">
                <a16:creationId xmlns:a16="http://schemas.microsoft.com/office/drawing/2014/main" id="{0CD72146-64C0-38AB-C94D-DB29869A769A}"/>
              </a:ext>
            </a:extLst>
          </p:cNvPr>
          <p:cNvSpPr/>
          <p:nvPr/>
        </p:nvSpPr>
        <p:spPr>
          <a:xfrm>
            <a:off x="5020175" y="3385045"/>
            <a:ext cx="8031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Action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7" name="矩形 6">
            <a:extLst>
              <a:ext uri="{FF2B5EF4-FFF2-40B4-BE49-F238E27FC236}">
                <a16:creationId xmlns:a16="http://schemas.microsoft.com/office/drawing/2014/main" id="{C397712A-50F4-F6E5-E88D-87EF4557CA99}"/>
              </a:ext>
            </a:extLst>
          </p:cNvPr>
          <p:cNvSpPr/>
          <p:nvPr/>
        </p:nvSpPr>
        <p:spPr>
          <a:xfrm>
            <a:off x="6063577" y="3415248"/>
            <a:ext cx="2462339" cy="1568706"/>
          </a:xfrm>
          <a:prstGeom prst="rect">
            <a:avLst/>
          </a:prstGeom>
          <a:noFill/>
        </p:spPr>
        <p:style>
          <a:lnRef idx="2">
            <a:schemeClr val="accent1"/>
          </a:lnRef>
          <a:fillRef idx="1">
            <a:schemeClr val="lt1"/>
          </a:fillRef>
          <a:effectRef idx="0">
            <a:schemeClr val="accent1"/>
          </a:effectRef>
          <a:fontRef idx="minor">
            <a:schemeClr val="dk1"/>
          </a:fontRef>
        </p:style>
        <p:txBody>
          <a:bodyPr rtlCol="0" anchor="t"/>
          <a:lstStyle/>
          <a:p>
            <a:r>
              <a:rPr lang="zh-CN" altLang="en-US" sz="900" dirty="0">
                <a:latin typeface="微軟正黑體 Light" panose="020B0304030504040204" pitchFamily="34" charset="-120"/>
                <a:ea typeface="微軟正黑體 Light" panose="020B0304030504040204" pitchFamily="34" charset="-120"/>
              </a:rPr>
              <a:t>大模型</a:t>
            </a:r>
            <a:endParaRPr lang="zh-TW" altLang="en-US" sz="900" dirty="0">
              <a:latin typeface="微軟正黑體 Light" panose="020B0304030504040204" pitchFamily="34" charset="-120"/>
              <a:ea typeface="微軟正黑體 Light" panose="020B0304030504040204" pitchFamily="34" charset="-120"/>
            </a:endParaRPr>
          </a:p>
        </p:txBody>
      </p:sp>
      <p:sp>
        <p:nvSpPr>
          <p:cNvPr id="9" name="矩形 8">
            <a:extLst>
              <a:ext uri="{FF2B5EF4-FFF2-40B4-BE49-F238E27FC236}">
                <a16:creationId xmlns:a16="http://schemas.microsoft.com/office/drawing/2014/main" id="{4B79AF00-F49A-7AF2-43C3-191C63509881}"/>
              </a:ext>
            </a:extLst>
          </p:cNvPr>
          <p:cNvSpPr/>
          <p:nvPr/>
        </p:nvSpPr>
        <p:spPr>
          <a:xfrm>
            <a:off x="6063576" y="2124619"/>
            <a:ext cx="2462339" cy="1078430"/>
          </a:xfrm>
          <a:prstGeom prst="rect">
            <a:avLst/>
          </a:prstGeom>
          <a:noFill/>
        </p:spPr>
        <p:style>
          <a:lnRef idx="2">
            <a:schemeClr val="accent1"/>
          </a:lnRef>
          <a:fillRef idx="1">
            <a:schemeClr val="lt1"/>
          </a:fillRef>
          <a:effectRef idx="0">
            <a:schemeClr val="accent1"/>
          </a:effectRef>
          <a:fontRef idx="minor">
            <a:schemeClr val="dk1"/>
          </a:fontRef>
        </p:style>
        <p:txBody>
          <a:bodyPr rtlCol="0" anchor="t"/>
          <a:lstStyle/>
          <a:p>
            <a:r>
              <a:rPr lang="zh-CN" altLang="en-US" sz="900" dirty="0">
                <a:latin typeface="微軟正黑體 Light" panose="020B0304030504040204" pitchFamily="34" charset="-120"/>
                <a:ea typeface="微軟正黑體 Light" panose="020B0304030504040204" pitchFamily="34" charset="-120"/>
              </a:rPr>
              <a:t>上下文管理</a:t>
            </a:r>
            <a:endParaRPr lang="zh-TW" altLang="en-US" sz="900" dirty="0">
              <a:latin typeface="微軟正黑體 Light" panose="020B0304030504040204" pitchFamily="34" charset="-120"/>
              <a:ea typeface="微軟正黑體 Light" panose="020B0304030504040204" pitchFamily="34" charset="-120"/>
            </a:endParaRPr>
          </a:p>
        </p:txBody>
      </p:sp>
      <p:sp>
        <p:nvSpPr>
          <p:cNvPr id="43" name="矩形 42">
            <a:extLst>
              <a:ext uri="{FF2B5EF4-FFF2-40B4-BE49-F238E27FC236}">
                <a16:creationId xmlns:a16="http://schemas.microsoft.com/office/drawing/2014/main" id="{71E3A592-835A-8275-6406-486816C11202}"/>
              </a:ext>
            </a:extLst>
          </p:cNvPr>
          <p:cNvSpPr/>
          <p:nvPr/>
        </p:nvSpPr>
        <p:spPr>
          <a:xfrm>
            <a:off x="5020175" y="2708017"/>
            <a:ext cx="803151"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Observation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cxnSp>
        <p:nvCxnSpPr>
          <p:cNvPr id="45" name="接點: 肘形 44">
            <a:extLst>
              <a:ext uri="{FF2B5EF4-FFF2-40B4-BE49-F238E27FC236}">
                <a16:creationId xmlns:a16="http://schemas.microsoft.com/office/drawing/2014/main" id="{FCF97746-0406-AF7D-A163-C26DD130A6D2}"/>
              </a:ext>
            </a:extLst>
          </p:cNvPr>
          <p:cNvCxnSpPr>
            <a:cxnSpLocks/>
            <a:stCxn id="11" idx="2"/>
            <a:endCxn id="41" idx="2"/>
          </p:cNvCxnSpPr>
          <p:nvPr/>
        </p:nvCxnSpPr>
        <p:spPr>
          <a:xfrm rot="5400000" flipH="1">
            <a:off x="5535601" y="3502028"/>
            <a:ext cx="1650785" cy="1878485"/>
          </a:xfrm>
          <a:prstGeom prst="bentConnector3">
            <a:avLst>
              <a:gd name="adj1" fmla="val -59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接點: 肘形 45">
            <a:extLst>
              <a:ext uri="{FF2B5EF4-FFF2-40B4-BE49-F238E27FC236}">
                <a16:creationId xmlns:a16="http://schemas.microsoft.com/office/drawing/2014/main" id="{2766C5AD-18D5-9375-0DD2-00BA9204801A}"/>
              </a:ext>
            </a:extLst>
          </p:cNvPr>
          <p:cNvCxnSpPr>
            <a:cxnSpLocks/>
            <a:stCxn id="43" idx="0"/>
            <a:endCxn id="15" idx="0"/>
          </p:cNvCxnSpPr>
          <p:nvPr/>
        </p:nvCxnSpPr>
        <p:spPr>
          <a:xfrm rot="5400000" flipH="1" flipV="1">
            <a:off x="6183255" y="1593397"/>
            <a:ext cx="353115" cy="1876125"/>
          </a:xfrm>
          <a:prstGeom prst="bentConnector3">
            <a:avLst>
              <a:gd name="adj1" fmla="val 19017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接點: 肘形 49">
            <a:extLst>
              <a:ext uri="{FF2B5EF4-FFF2-40B4-BE49-F238E27FC236}">
                <a16:creationId xmlns:a16="http://schemas.microsoft.com/office/drawing/2014/main" id="{49FD5CB2-9F5D-592A-DAEE-72750F2C19A6}"/>
              </a:ext>
            </a:extLst>
          </p:cNvPr>
          <p:cNvCxnSpPr>
            <a:cxnSpLocks/>
            <a:stCxn id="41" idx="0"/>
            <a:endCxn id="43" idx="2"/>
          </p:cNvCxnSpPr>
          <p:nvPr/>
        </p:nvCxnSpPr>
        <p:spPr>
          <a:xfrm rot="16200000" flipV="1">
            <a:off x="5198653" y="3161947"/>
            <a:ext cx="446195"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文字方塊 61">
            <a:extLst>
              <a:ext uri="{FF2B5EF4-FFF2-40B4-BE49-F238E27FC236}">
                <a16:creationId xmlns:a16="http://schemas.microsoft.com/office/drawing/2014/main" id="{C4933434-E99C-ACA0-C643-C8FD37F2A477}"/>
              </a:ext>
            </a:extLst>
          </p:cNvPr>
          <p:cNvSpPr txBox="1"/>
          <p:nvPr/>
        </p:nvSpPr>
        <p:spPr>
          <a:xfrm>
            <a:off x="3974512" y="3377636"/>
            <a:ext cx="777098" cy="253916"/>
          </a:xfrm>
          <a:prstGeom prst="rect">
            <a:avLst/>
          </a:prstGeom>
          <a:noFill/>
        </p:spPr>
        <p:txBody>
          <a:bodyPr wrap="square">
            <a:spAutoFit/>
          </a:bodyPr>
          <a:lstStyle/>
          <a:p>
            <a:r>
              <a:rPr lang="zh-TW" altLang="zh-TW" sz="1050" dirty="0">
                <a:latin typeface="微軟正黑體 Light" panose="020B0304030504040204" pitchFamily="34" charset="-120"/>
                <a:ea typeface="微軟正黑體 Light" panose="020B0304030504040204" pitchFamily="34" charset="-120"/>
              </a:rPr>
              <a:t>工具執行</a:t>
            </a:r>
            <a:endParaRPr lang="zh-TW" altLang="en-US" sz="1050" dirty="0">
              <a:latin typeface="微軟正黑體 Light" panose="020B0304030504040204" pitchFamily="34" charset="-120"/>
              <a:ea typeface="微軟正黑體 Light" panose="020B0304030504040204" pitchFamily="34" charset="-120"/>
            </a:endParaRPr>
          </a:p>
        </p:txBody>
      </p:sp>
      <p:sp>
        <p:nvSpPr>
          <p:cNvPr id="64" name="文字方塊 63">
            <a:extLst>
              <a:ext uri="{FF2B5EF4-FFF2-40B4-BE49-F238E27FC236}">
                <a16:creationId xmlns:a16="http://schemas.microsoft.com/office/drawing/2014/main" id="{9D8D8E31-9F9C-C709-59F8-96561CA4DFD3}"/>
              </a:ext>
            </a:extLst>
          </p:cNvPr>
          <p:cNvSpPr txBox="1"/>
          <p:nvPr/>
        </p:nvSpPr>
        <p:spPr>
          <a:xfrm>
            <a:off x="3958684" y="2686622"/>
            <a:ext cx="978980" cy="415498"/>
          </a:xfrm>
          <a:prstGeom prst="rect">
            <a:avLst/>
          </a:prstGeom>
          <a:noFill/>
        </p:spPr>
        <p:txBody>
          <a:bodyPr wrap="square">
            <a:spAutoFit/>
          </a:bodyPr>
          <a:lstStyle/>
          <a:p>
            <a:r>
              <a:rPr lang="zh-TW" altLang="zh-TW" sz="1050" dirty="0">
                <a:latin typeface="微軟正黑體 Light" panose="020B0304030504040204" pitchFamily="34" charset="-120"/>
                <a:ea typeface="微軟正黑體 Light" panose="020B0304030504040204" pitchFamily="34" charset="-120"/>
              </a:rPr>
              <a:t>執行</a:t>
            </a:r>
            <a:r>
              <a:rPr lang="zh-CN" altLang="en-US" sz="1050" dirty="0">
                <a:latin typeface="微軟正黑體 Light" panose="020B0304030504040204" pitchFamily="34" charset="-120"/>
                <a:ea typeface="微軟正黑體 Light" panose="020B0304030504040204" pitchFamily="34" charset="-120"/>
              </a:rPr>
              <a:t>結果反饋</a:t>
            </a:r>
            <a:endParaRPr lang="zh-TW" altLang="en-US" sz="1050" dirty="0">
              <a:latin typeface="微軟正黑體 Light" panose="020B0304030504040204" pitchFamily="34" charset="-120"/>
              <a:ea typeface="微軟正黑體 Light" panose="020B0304030504040204" pitchFamily="34" charset="-120"/>
            </a:endParaRPr>
          </a:p>
        </p:txBody>
      </p:sp>
      <p:sp>
        <p:nvSpPr>
          <p:cNvPr id="70" name="矩形 69">
            <a:extLst>
              <a:ext uri="{FF2B5EF4-FFF2-40B4-BE49-F238E27FC236}">
                <a16:creationId xmlns:a16="http://schemas.microsoft.com/office/drawing/2014/main" id="{E4E60699-5A1E-65BD-C11D-3D1653332DA6}"/>
              </a:ext>
            </a:extLst>
          </p:cNvPr>
          <p:cNvSpPr/>
          <p:nvPr/>
        </p:nvSpPr>
        <p:spPr>
          <a:xfrm>
            <a:off x="6939459" y="5709871"/>
            <a:ext cx="7215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Answer</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78" name="矩形 77">
            <a:extLst>
              <a:ext uri="{FF2B5EF4-FFF2-40B4-BE49-F238E27FC236}">
                <a16:creationId xmlns:a16="http://schemas.microsoft.com/office/drawing/2014/main" id="{A0FB29B3-449C-CA85-0143-4D39CE832474}"/>
              </a:ext>
            </a:extLst>
          </p:cNvPr>
          <p:cNvSpPr/>
          <p:nvPr/>
        </p:nvSpPr>
        <p:spPr>
          <a:xfrm>
            <a:off x="6937100" y="1426796"/>
            <a:ext cx="7215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b="1" dirty="0">
                <a:solidFill>
                  <a:schemeClr val="bg1"/>
                </a:solidFill>
                <a:latin typeface="微軟正黑體 Light" panose="020B0304030504040204" pitchFamily="34" charset="-120"/>
                <a:ea typeface="微軟正黑體 Light" panose="020B0304030504040204" pitchFamily="34" charset="-120"/>
              </a:rPr>
              <a:t>Question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cxnSp>
        <p:nvCxnSpPr>
          <p:cNvPr id="81" name="接點: 肘形 80">
            <a:extLst>
              <a:ext uri="{FF2B5EF4-FFF2-40B4-BE49-F238E27FC236}">
                <a16:creationId xmlns:a16="http://schemas.microsoft.com/office/drawing/2014/main" id="{B4677D52-B7BF-A2F3-BD7C-A3CE3D5BC62F}"/>
              </a:ext>
            </a:extLst>
          </p:cNvPr>
          <p:cNvCxnSpPr>
            <a:cxnSpLocks/>
            <a:stCxn id="78" idx="2"/>
            <a:endCxn id="15" idx="0"/>
          </p:cNvCxnSpPr>
          <p:nvPr/>
        </p:nvCxnSpPr>
        <p:spPr>
          <a:xfrm rot="5400000">
            <a:off x="6949240" y="2006266"/>
            <a:ext cx="697272"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接點: 肘形 84">
            <a:extLst>
              <a:ext uri="{FF2B5EF4-FFF2-40B4-BE49-F238E27FC236}">
                <a16:creationId xmlns:a16="http://schemas.microsoft.com/office/drawing/2014/main" id="{14C197BB-FF95-3F9F-2CF1-D8A0F38FABC2}"/>
              </a:ext>
            </a:extLst>
          </p:cNvPr>
          <p:cNvCxnSpPr>
            <a:cxnSpLocks/>
            <a:stCxn id="11" idx="2"/>
            <a:endCxn id="70" idx="0"/>
          </p:cNvCxnSpPr>
          <p:nvPr/>
        </p:nvCxnSpPr>
        <p:spPr>
          <a:xfrm rot="5400000">
            <a:off x="7078632" y="5488267"/>
            <a:ext cx="443209" cy="952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00" name="文字方塊 99">
            <a:extLst>
              <a:ext uri="{FF2B5EF4-FFF2-40B4-BE49-F238E27FC236}">
                <a16:creationId xmlns:a16="http://schemas.microsoft.com/office/drawing/2014/main" id="{E3159AEA-8130-A12D-8992-26D88711C085}"/>
              </a:ext>
            </a:extLst>
          </p:cNvPr>
          <p:cNvSpPr txBox="1"/>
          <p:nvPr/>
        </p:nvSpPr>
        <p:spPr>
          <a:xfrm>
            <a:off x="7340751" y="5288079"/>
            <a:ext cx="777098" cy="253916"/>
          </a:xfrm>
          <a:prstGeom prst="rect">
            <a:avLst/>
          </a:prstGeom>
          <a:noFill/>
        </p:spPr>
        <p:txBody>
          <a:bodyPr wrap="square">
            <a:spAutoFit/>
          </a:bodyPr>
          <a:lstStyle/>
          <a:p>
            <a:r>
              <a:rPr lang="zh-CN" altLang="en-US" sz="1050" dirty="0">
                <a:latin typeface="微軟正黑體 Light" panose="020B0304030504040204" pitchFamily="34" charset="-120"/>
                <a:ea typeface="微軟正黑體 Light" panose="020B0304030504040204" pitchFamily="34" charset="-120"/>
              </a:rPr>
              <a:t>規劃回應</a:t>
            </a:r>
            <a:endParaRPr lang="zh-TW" altLang="en-US" sz="1050" dirty="0">
              <a:latin typeface="微軟正黑體 Light" panose="020B0304030504040204" pitchFamily="34" charset="-120"/>
              <a:ea typeface="微軟正黑體 Light" panose="020B0304030504040204" pitchFamily="34" charset="-120"/>
            </a:endParaRPr>
          </a:p>
        </p:txBody>
      </p:sp>
      <p:sp>
        <p:nvSpPr>
          <p:cNvPr id="114" name="矩形 113">
            <a:extLst>
              <a:ext uri="{FF2B5EF4-FFF2-40B4-BE49-F238E27FC236}">
                <a16:creationId xmlns:a16="http://schemas.microsoft.com/office/drawing/2014/main" id="{D0BC473B-D15A-A468-6E2B-BBDD3F162373}"/>
              </a:ext>
            </a:extLst>
          </p:cNvPr>
          <p:cNvSpPr/>
          <p:nvPr/>
        </p:nvSpPr>
        <p:spPr>
          <a:xfrm>
            <a:off x="3927022" y="1748523"/>
            <a:ext cx="4911308" cy="3770389"/>
          </a:xfrm>
          <a:prstGeom prst="rect">
            <a:avLst/>
          </a:prstGeom>
          <a:no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b"/>
          <a:lstStyle/>
          <a:p>
            <a:r>
              <a:rPr lang="zh-TW" altLang="zh-TW" sz="900" b="1" dirty="0">
                <a:noFill/>
                <a:latin typeface="微軟正黑體 Light" panose="020B0304030504040204" pitchFamily="34" charset="-120"/>
                <a:ea typeface="微軟正黑體 Light" panose="020B0304030504040204" pitchFamily="34" charset="-120"/>
              </a:rPr>
              <a:t>Thought</a:t>
            </a:r>
            <a:endParaRPr lang="zh-TW" altLang="en-US" sz="900" b="1" dirty="0">
              <a:noFill/>
              <a:latin typeface="微軟正黑體 Light" panose="020B0304030504040204" pitchFamily="34" charset="-120"/>
              <a:ea typeface="微軟正黑體 Light" panose="020B0304030504040204" pitchFamily="34" charset="-120"/>
            </a:endParaRPr>
          </a:p>
        </p:txBody>
      </p:sp>
      <p:sp>
        <p:nvSpPr>
          <p:cNvPr id="117" name="文字方塊 116">
            <a:extLst>
              <a:ext uri="{FF2B5EF4-FFF2-40B4-BE49-F238E27FC236}">
                <a16:creationId xmlns:a16="http://schemas.microsoft.com/office/drawing/2014/main" id="{30CFBF44-512D-8D83-A5D7-53A882A9823F}"/>
              </a:ext>
            </a:extLst>
          </p:cNvPr>
          <p:cNvSpPr txBox="1"/>
          <p:nvPr/>
        </p:nvSpPr>
        <p:spPr>
          <a:xfrm>
            <a:off x="4049780" y="980045"/>
            <a:ext cx="4632579" cy="300082"/>
          </a:xfrm>
          <a:prstGeom prst="rect">
            <a:avLst/>
          </a:prstGeom>
          <a:noFill/>
        </p:spPr>
        <p:txBody>
          <a:bodyPr wrap="square">
            <a:spAutoFit/>
          </a:bodyPr>
          <a:lstStyle/>
          <a:p>
            <a:pPr>
              <a:buNone/>
            </a:pPr>
            <a:r>
              <a:rPr lang="zh-TW" altLang="zh-TW" sz="1350" dirty="0"/>
              <a:t>Agent 的上限由大模型決定，但下限由上下文管理決定。</a:t>
            </a:r>
          </a:p>
        </p:txBody>
      </p:sp>
      <p:sp>
        <p:nvSpPr>
          <p:cNvPr id="119" name="文字方塊 118">
            <a:extLst>
              <a:ext uri="{FF2B5EF4-FFF2-40B4-BE49-F238E27FC236}">
                <a16:creationId xmlns:a16="http://schemas.microsoft.com/office/drawing/2014/main" id="{DD4EBD5C-159C-4264-4591-18EC61B9DBA4}"/>
              </a:ext>
            </a:extLst>
          </p:cNvPr>
          <p:cNvSpPr txBox="1"/>
          <p:nvPr/>
        </p:nvSpPr>
        <p:spPr>
          <a:xfrm>
            <a:off x="3998628" y="3663028"/>
            <a:ext cx="1757590" cy="1892826"/>
          </a:xfrm>
          <a:prstGeom prst="rect">
            <a:avLst/>
          </a:prstGeom>
          <a:noFill/>
        </p:spPr>
        <p:txBody>
          <a:bodyPr wrap="square" rtlCol="0">
            <a:spAutoFit/>
          </a:bodyPr>
          <a:lstStyle/>
          <a:p>
            <a:r>
              <a:rPr lang="zh-TW" altLang="zh-TW" sz="900" dirty="0">
                <a:latin typeface="微軟正黑體 Light" panose="020B0304030504040204" pitchFamily="34" charset="-120"/>
                <a:ea typeface="微軟正黑體 Light" panose="020B0304030504040204" pitchFamily="34" charset="-120"/>
              </a:rPr>
              <a:t>Function Calling</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MCP</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skill</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A2A</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ACP</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Ephemeral Agent</a:t>
            </a:r>
            <a:r>
              <a:rPr lang="zh-CN" altLang="en-US" sz="900" dirty="0">
                <a:latin typeface="微軟正黑體 Light" panose="020B0304030504040204" pitchFamily="34" charset="-120"/>
                <a:ea typeface="微軟正黑體 Light" panose="020B0304030504040204" pitchFamily="34" charset="-120"/>
              </a:rPr>
              <a:t>（</a:t>
            </a:r>
            <a:r>
              <a:rPr lang="en-US" altLang="zh-CN" sz="900" dirty="0">
                <a:latin typeface="微軟正黑體 Light" panose="020B0304030504040204" pitchFamily="34" charset="-120"/>
                <a:ea typeface="微軟正黑體 Light" panose="020B0304030504040204" pitchFamily="34" charset="-120"/>
              </a:rPr>
              <a:t>Sub-agent</a:t>
            </a:r>
            <a:r>
              <a:rPr lang="zh-CN" altLang="en-US" sz="900" dirty="0">
                <a:latin typeface="微軟正黑體 Light" panose="020B0304030504040204" pitchFamily="34" charset="-120"/>
                <a:ea typeface="微軟正黑體 Light" panose="020B0304030504040204" pitchFamily="34" charset="-120"/>
              </a:rPr>
              <a:t>）</a:t>
            </a:r>
            <a:br>
              <a:rPr lang="en-US" altLang="zh-CN" sz="900" dirty="0">
                <a:latin typeface="微軟正黑體 Light" panose="020B0304030504040204" pitchFamily="34" charset="-120"/>
                <a:ea typeface="微軟正黑體 Light" panose="020B0304030504040204" pitchFamily="34" charset="-120"/>
              </a:rPr>
            </a:b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HITL</a:t>
            </a:r>
          </a:p>
          <a:p>
            <a:r>
              <a:rPr lang="en-US" altLang="zh-CN" sz="900" dirty="0">
                <a:latin typeface="微軟正黑體 Light" panose="020B0304030504040204" pitchFamily="34" charset="-120"/>
                <a:ea typeface="微軟正黑體 Light" panose="020B0304030504040204" pitchFamily="34" charset="-120"/>
              </a:rPr>
              <a:t>REPL</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Sandbox</a:t>
            </a:r>
          </a:p>
          <a:p>
            <a:r>
              <a:rPr lang="en-US" altLang="zh-CN" sz="900" dirty="0">
                <a:latin typeface="微軟正黑體 Light" panose="020B0304030504040204" pitchFamily="34" charset="-120"/>
                <a:ea typeface="微軟正黑體 Light" panose="020B0304030504040204" pitchFamily="34" charset="-120"/>
              </a:rPr>
              <a:t>Vision-Based Operation</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Computer Use</a:t>
            </a:r>
          </a:p>
          <a:p>
            <a:endParaRPr lang="zh-TW" altLang="en-US" sz="900" dirty="0">
              <a:latin typeface="微軟正黑體 Light" panose="020B0304030504040204" pitchFamily="34" charset="-120"/>
              <a:ea typeface="微軟正黑體 Light" panose="020B0304030504040204" pitchFamily="34" charset="-120"/>
            </a:endParaRPr>
          </a:p>
        </p:txBody>
      </p:sp>
      <p:pic>
        <p:nvPicPr>
          <p:cNvPr id="163" name="圖片 162">
            <a:extLst>
              <a:ext uri="{FF2B5EF4-FFF2-40B4-BE49-F238E27FC236}">
                <a16:creationId xmlns:a16="http://schemas.microsoft.com/office/drawing/2014/main" id="{B441A2AC-9804-55D0-23BA-CBE712AD29E5}"/>
              </a:ext>
            </a:extLst>
          </p:cNvPr>
          <p:cNvPicPr>
            <a:picLocks noChangeAspect="1"/>
          </p:cNvPicPr>
          <p:nvPr/>
        </p:nvPicPr>
        <p:blipFill>
          <a:blip r:embed="rId3"/>
          <a:stretch>
            <a:fillRect/>
          </a:stretch>
        </p:blipFill>
        <p:spPr>
          <a:xfrm>
            <a:off x="121989" y="1565392"/>
            <a:ext cx="3340335" cy="2687707"/>
          </a:xfrm>
          <a:prstGeom prst="rect">
            <a:avLst/>
          </a:prstGeom>
        </p:spPr>
      </p:pic>
      <p:pic>
        <p:nvPicPr>
          <p:cNvPr id="165" name="圖片 164">
            <a:extLst>
              <a:ext uri="{FF2B5EF4-FFF2-40B4-BE49-F238E27FC236}">
                <a16:creationId xmlns:a16="http://schemas.microsoft.com/office/drawing/2014/main" id="{5753F105-B0A1-0CA7-1F31-A462F5FFDF72}"/>
              </a:ext>
            </a:extLst>
          </p:cNvPr>
          <p:cNvPicPr>
            <a:picLocks noChangeAspect="1"/>
          </p:cNvPicPr>
          <p:nvPr/>
        </p:nvPicPr>
        <p:blipFill>
          <a:blip r:embed="rId4"/>
          <a:stretch>
            <a:fillRect/>
          </a:stretch>
        </p:blipFill>
        <p:spPr>
          <a:xfrm>
            <a:off x="400237" y="4313131"/>
            <a:ext cx="3018275" cy="1040924"/>
          </a:xfrm>
          <a:prstGeom prst="rect">
            <a:avLst/>
          </a:prstGeom>
        </p:spPr>
      </p:pic>
      <mc:AlternateContent xmlns:mc="http://schemas.openxmlformats.org/markup-compatibility/2006" xmlns:a14="http://schemas.microsoft.com/office/drawing/2010/main">
        <mc:Choice Requires="a14">
          <p:sp>
            <p:nvSpPr>
              <p:cNvPr id="167" name="文字方塊 166">
                <a:extLst>
                  <a:ext uri="{FF2B5EF4-FFF2-40B4-BE49-F238E27FC236}">
                    <a16:creationId xmlns:a16="http://schemas.microsoft.com/office/drawing/2014/main" id="{68428BF5-E137-79A2-9A22-6D73F9A159E5}"/>
                  </a:ext>
                </a:extLst>
              </p:cNvPr>
              <p:cNvSpPr txBox="1"/>
              <p:nvPr/>
            </p:nvSpPr>
            <p:spPr>
              <a:xfrm>
                <a:off x="214080" y="5403495"/>
                <a:ext cx="3332021" cy="369460"/>
              </a:xfrm>
              <a:prstGeom prst="rect">
                <a:avLst/>
              </a:prstGeom>
              <a:noFill/>
            </p:spPr>
            <p:txBody>
              <a:bodyPr wrap="square">
                <a:spAutoFit/>
              </a:bodyPr>
              <a:lstStyle/>
              <a:p>
                <a:pPr/>
                <a14:m>
                  <m:oMathPara xmlns:m="http://schemas.openxmlformats.org/officeDocument/2006/math">
                    <m:oMath>
                      <m:r>
                        <m:rPr>
                          <m:nor/>
                        </m:rPr>
                        <a:rPr lang="zh-TW" altLang="en-US" sz="900" i="0">
                          <a:latin typeface="微軟正黑體 Light" panose="020B0304030504040204" pitchFamily="34" charset="-120"/>
                          <a:ea typeface="微軟正黑體 Light" panose="020B0304030504040204" pitchFamily="34" charset="-120"/>
                        </a:rPr>
                        <m:t>Hash(Block 1)</m:t>
                      </m:r>
                      <m:r>
                        <a:rPr lang="zh-TW" altLang="en-US" sz="900" i="1">
                          <a:latin typeface="Cambria Math" panose="02040503050406030204" pitchFamily="18" charset="0"/>
                        </a:rPr>
                        <m:t>=</m:t>
                      </m:r>
                      <m:r>
                        <m:rPr>
                          <m:nor/>
                        </m:rPr>
                        <a:rPr lang="zh-TW" altLang="en-US" sz="900" i="0">
                          <a:latin typeface="微軟正黑體 Light" panose="020B0304030504040204" pitchFamily="34" charset="-120"/>
                          <a:ea typeface="微軟正黑體 Light" panose="020B0304030504040204" pitchFamily="34" charset="-120"/>
                        </a:rPr>
                        <m:t>SHA256</m:t>
                      </m:r>
                      <m:d>
                        <m:dPr>
                          <m:ctrlPr>
                            <a:rPr lang="zh-TW" altLang="en-US" sz="900" i="0">
                              <a:latin typeface="微軟正黑體 Light" panose="020B0304030504040204" pitchFamily="34" charset="-120"/>
                              <a:ea typeface="微軟正黑體 Light" panose="020B0304030504040204" pitchFamily="34" charset="-120"/>
                            </a:rPr>
                          </m:ctrlPr>
                        </m:dPr>
                        <m:e>
                          <m:r>
                            <m:rPr>
                              <m:nor/>
                            </m:rPr>
                            <a:rPr lang="zh-TW" altLang="en-US" sz="900" i="0">
                              <a:latin typeface="微軟正黑體 Light" panose="020B0304030504040204" pitchFamily="34" charset="-120"/>
                              <a:ea typeface="微軟正黑體 Light" panose="020B0304030504040204" pitchFamily="34" charset="-120"/>
                            </a:rPr>
                            <m:t>Hash(Block 0)</m:t>
                          </m:r>
                          <m:r>
                            <a:rPr lang="zh-TW" altLang="en-US" sz="900" i="1">
                              <a:latin typeface="Cambria Math" panose="02040503050406030204" pitchFamily="18" charset="0"/>
                            </a:rPr>
                            <m:t>+</m:t>
                          </m:r>
                          <m:r>
                            <m:rPr>
                              <m:nor/>
                            </m:rPr>
                            <a:rPr lang="zh-TW" altLang="en-US" sz="900" i="0">
                              <a:latin typeface="微軟正黑體 Light" panose="020B0304030504040204" pitchFamily="34" charset="-120"/>
                              <a:ea typeface="微軟正黑體 Light" panose="020B0304030504040204" pitchFamily="34" charset="-120"/>
                            </a:rPr>
                            <m:t>Block 1 的內容</m:t>
                          </m:r>
                        </m:e>
                      </m:d>
                    </m:oMath>
                    <m:oMath>
                      <m:r>
                        <m:rPr>
                          <m:nor/>
                        </m:rPr>
                        <a:rPr lang="zh-TW" altLang="en-US" sz="900" i="0">
                          <a:latin typeface="微軟正黑體 Light" panose="020B0304030504040204" pitchFamily="34" charset="-120"/>
                          <a:ea typeface="微軟正黑體 Light" panose="020B0304030504040204" pitchFamily="34" charset="-120"/>
                        </a:rPr>
                        <m:t>靜態在頂，動態在底；由穩入變，線性追加</m:t>
                      </m:r>
                    </m:oMath>
                  </m:oMathPara>
                </a14:m>
                <a:endParaRPr lang="zh-TW" altLang="en-US" sz="900" dirty="0">
                  <a:latin typeface="微軟正黑體 Light" panose="020B0304030504040204" pitchFamily="34" charset="-120"/>
                  <a:ea typeface="微軟正黑體 Light" panose="020B0304030504040204" pitchFamily="34" charset="-120"/>
                </a:endParaRPr>
              </a:p>
            </p:txBody>
          </p:sp>
        </mc:Choice>
        <mc:Fallback xmlns="">
          <p:sp>
            <p:nvSpPr>
              <p:cNvPr id="167" name="文字方塊 166">
                <a:extLst>
                  <a:ext uri="{FF2B5EF4-FFF2-40B4-BE49-F238E27FC236}">
                    <a16:creationId xmlns:a16="http://schemas.microsoft.com/office/drawing/2014/main" id="{68428BF5-E137-79A2-9A22-6D73F9A159E5}"/>
                  </a:ext>
                </a:extLst>
              </p:cNvPr>
              <p:cNvSpPr txBox="1">
                <a:spLocks noRot="1" noChangeAspect="1" noMove="1" noResize="1" noEditPoints="1" noAdjustHandles="1" noChangeArrowheads="1" noChangeShapeType="1" noTextEdit="1"/>
              </p:cNvSpPr>
              <p:nvPr/>
            </p:nvSpPr>
            <p:spPr>
              <a:xfrm>
                <a:off x="214080" y="5403495"/>
                <a:ext cx="3332021" cy="369460"/>
              </a:xfrm>
              <a:prstGeom prst="rect">
                <a:avLst/>
              </a:prstGeom>
              <a:blipFill>
                <a:blip r:embed="rId5"/>
                <a:stretch>
                  <a:fillRect b="-1639"/>
                </a:stretch>
              </a:blipFill>
            </p:spPr>
            <p:txBody>
              <a:bodyPr/>
              <a:lstStyle/>
              <a:p>
                <a:r>
                  <a:rPr lang="zh-TW" altLang="en-US">
                    <a:noFill/>
                  </a:rPr>
                  <a:t> </a:t>
                </a:r>
              </a:p>
            </p:txBody>
          </p:sp>
        </mc:Fallback>
      </mc:AlternateContent>
      <p:cxnSp>
        <p:nvCxnSpPr>
          <p:cNvPr id="171" name="直線單箭頭接點 170">
            <a:extLst>
              <a:ext uri="{FF2B5EF4-FFF2-40B4-BE49-F238E27FC236}">
                <a16:creationId xmlns:a16="http://schemas.microsoft.com/office/drawing/2014/main" id="{441632E2-FB6B-F197-DF26-1CCC2A6D969E}"/>
              </a:ext>
            </a:extLst>
          </p:cNvPr>
          <p:cNvCxnSpPr>
            <a:cxnSpLocks/>
            <a:stCxn id="161" idx="3"/>
          </p:cNvCxnSpPr>
          <p:nvPr/>
        </p:nvCxnSpPr>
        <p:spPr>
          <a:xfrm>
            <a:off x="3303820" y="1614323"/>
            <a:ext cx="4001179" cy="1756863"/>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2" name="直線單箭頭接點 171">
            <a:extLst>
              <a:ext uri="{FF2B5EF4-FFF2-40B4-BE49-F238E27FC236}">
                <a16:creationId xmlns:a16="http://schemas.microsoft.com/office/drawing/2014/main" id="{4F8379A8-E312-AAAB-0305-5F21D7A48075}"/>
              </a:ext>
            </a:extLst>
          </p:cNvPr>
          <p:cNvCxnSpPr>
            <a:cxnSpLocks/>
            <a:endCxn id="23" idx="1"/>
          </p:cNvCxnSpPr>
          <p:nvPr/>
        </p:nvCxnSpPr>
        <p:spPr>
          <a:xfrm>
            <a:off x="3080424" y="2908191"/>
            <a:ext cx="3145044" cy="861506"/>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9" name="直線單箭頭接點 178">
            <a:extLst>
              <a:ext uri="{FF2B5EF4-FFF2-40B4-BE49-F238E27FC236}">
                <a16:creationId xmlns:a16="http://schemas.microsoft.com/office/drawing/2014/main" id="{CB0339C0-FB3B-E9D5-6168-023B9B26187C}"/>
              </a:ext>
            </a:extLst>
          </p:cNvPr>
          <p:cNvCxnSpPr>
            <a:cxnSpLocks/>
            <a:stCxn id="165" idx="3"/>
            <a:endCxn id="31" idx="1"/>
          </p:cNvCxnSpPr>
          <p:nvPr/>
        </p:nvCxnSpPr>
        <p:spPr>
          <a:xfrm flipV="1">
            <a:off x="3418511" y="4120558"/>
            <a:ext cx="2792784" cy="713036"/>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2" name="直線單箭頭接點 181">
            <a:extLst>
              <a:ext uri="{FF2B5EF4-FFF2-40B4-BE49-F238E27FC236}">
                <a16:creationId xmlns:a16="http://schemas.microsoft.com/office/drawing/2014/main" id="{C2C124A4-03BF-CCAC-C4D6-0AB57500B2E6}"/>
              </a:ext>
            </a:extLst>
          </p:cNvPr>
          <p:cNvCxnSpPr>
            <a:cxnSpLocks/>
            <a:endCxn id="19" idx="1"/>
          </p:cNvCxnSpPr>
          <p:nvPr/>
        </p:nvCxnSpPr>
        <p:spPr>
          <a:xfrm flipV="1">
            <a:off x="3563977" y="4612810"/>
            <a:ext cx="2647319" cy="973959"/>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88" name="圖片 187">
            <a:extLst>
              <a:ext uri="{FF2B5EF4-FFF2-40B4-BE49-F238E27FC236}">
                <a16:creationId xmlns:a16="http://schemas.microsoft.com/office/drawing/2014/main" id="{A3436026-A169-47CF-A377-C870212F410A}"/>
              </a:ext>
            </a:extLst>
          </p:cNvPr>
          <p:cNvPicPr>
            <a:picLocks noChangeAspect="1"/>
          </p:cNvPicPr>
          <p:nvPr/>
        </p:nvPicPr>
        <p:blipFill>
          <a:blip r:embed="rId6"/>
          <a:stretch>
            <a:fillRect/>
          </a:stretch>
        </p:blipFill>
        <p:spPr>
          <a:xfrm>
            <a:off x="5185283" y="1426112"/>
            <a:ext cx="1697483" cy="139280"/>
          </a:xfrm>
          <a:prstGeom prst="rect">
            <a:avLst/>
          </a:prstGeom>
        </p:spPr>
      </p:pic>
      <p:pic>
        <p:nvPicPr>
          <p:cNvPr id="192" name="圖片 191">
            <a:extLst>
              <a:ext uri="{FF2B5EF4-FFF2-40B4-BE49-F238E27FC236}">
                <a16:creationId xmlns:a16="http://schemas.microsoft.com/office/drawing/2014/main" id="{DD6667E5-60F6-0869-8A1E-E007756D8E43}"/>
              </a:ext>
            </a:extLst>
          </p:cNvPr>
          <p:cNvPicPr>
            <a:picLocks noChangeAspect="1"/>
          </p:cNvPicPr>
          <p:nvPr/>
        </p:nvPicPr>
        <p:blipFill>
          <a:blip r:embed="rId7"/>
          <a:stretch>
            <a:fillRect/>
          </a:stretch>
        </p:blipFill>
        <p:spPr>
          <a:xfrm>
            <a:off x="6916478" y="2819990"/>
            <a:ext cx="1677644" cy="153246"/>
          </a:xfrm>
          <a:prstGeom prst="rect">
            <a:avLst/>
          </a:prstGeom>
        </p:spPr>
      </p:pic>
      <p:pic>
        <p:nvPicPr>
          <p:cNvPr id="161" name="圖片 160">
            <a:extLst>
              <a:ext uri="{FF2B5EF4-FFF2-40B4-BE49-F238E27FC236}">
                <a16:creationId xmlns:a16="http://schemas.microsoft.com/office/drawing/2014/main" id="{846CFD46-7FB4-E8C7-BCB8-ACCB38DC590D}"/>
              </a:ext>
            </a:extLst>
          </p:cNvPr>
          <p:cNvPicPr>
            <a:picLocks noChangeAspect="1"/>
          </p:cNvPicPr>
          <p:nvPr/>
        </p:nvPicPr>
        <p:blipFill>
          <a:blip r:embed="rId8"/>
          <a:stretch>
            <a:fillRect/>
          </a:stretch>
        </p:blipFill>
        <p:spPr>
          <a:xfrm>
            <a:off x="285545" y="1138729"/>
            <a:ext cx="3018275" cy="951188"/>
          </a:xfrm>
          <a:prstGeom prst="rect">
            <a:avLst/>
          </a:prstGeom>
        </p:spPr>
      </p:pic>
      <p:cxnSp>
        <p:nvCxnSpPr>
          <p:cNvPr id="4" name="接點: 肘形 3">
            <a:extLst>
              <a:ext uri="{FF2B5EF4-FFF2-40B4-BE49-F238E27FC236}">
                <a16:creationId xmlns:a16="http://schemas.microsoft.com/office/drawing/2014/main" id="{4EA7BBDC-7B61-EC8B-3736-ACD5249C1E37}"/>
              </a:ext>
            </a:extLst>
          </p:cNvPr>
          <p:cNvCxnSpPr>
            <a:cxnSpLocks/>
            <a:stCxn id="9" idx="2"/>
          </p:cNvCxnSpPr>
          <p:nvPr/>
        </p:nvCxnSpPr>
        <p:spPr>
          <a:xfrm rot="5400000">
            <a:off x="7099096" y="3398699"/>
            <a:ext cx="391299"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文字方塊 11">
            <a:extLst>
              <a:ext uri="{FF2B5EF4-FFF2-40B4-BE49-F238E27FC236}">
                <a16:creationId xmlns:a16="http://schemas.microsoft.com/office/drawing/2014/main" id="{A500A213-6C42-2B9F-F559-C623686766CC}"/>
              </a:ext>
            </a:extLst>
          </p:cNvPr>
          <p:cNvSpPr txBox="1"/>
          <p:nvPr/>
        </p:nvSpPr>
        <p:spPr>
          <a:xfrm>
            <a:off x="932451" y="1129909"/>
            <a:ext cx="4570821" cy="230832"/>
          </a:xfrm>
          <a:prstGeom prst="rect">
            <a:avLst/>
          </a:prstGeom>
          <a:noFill/>
        </p:spPr>
        <p:txBody>
          <a:bodyPr wrap="square">
            <a:spAutoFit/>
          </a:bodyPr>
          <a:lstStyle/>
          <a:p>
            <a:pPr>
              <a:buNone/>
            </a:pPr>
            <a:r>
              <a:rPr lang="zh-TW" altLang="zh-TW" sz="900" dirty="0">
                <a:solidFill>
                  <a:schemeClr val="bg1"/>
                </a:solidFill>
              </a:rPr>
              <a:t>OpenAI Chat Completions API 格式</a:t>
            </a:r>
          </a:p>
        </p:txBody>
      </p:sp>
      <p:sp>
        <p:nvSpPr>
          <p:cNvPr id="3" name="標題 1">
            <a:extLst>
              <a:ext uri="{FF2B5EF4-FFF2-40B4-BE49-F238E27FC236}">
                <a16:creationId xmlns:a16="http://schemas.microsoft.com/office/drawing/2014/main" id="{4549DA9B-39B4-7A51-A4AA-F9B9E6C6D9F2}"/>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a:t>
            </a:r>
            <a:r>
              <a:rPr lang="en-US" altLang="zh-TW" sz="1400" dirty="0">
                <a:latin typeface="Noto Sans HK" panose="020B0200000000000000" pitchFamily="34" charset="-120"/>
                <a:ea typeface="Noto Sans HK" panose="020B0200000000000000" pitchFamily="34" charset="-120"/>
                <a:cs typeface="Arial" panose="020B0604020202020204" pitchFamily="34" charset="0"/>
              </a:rPr>
              <a:t>SFT and Quantization</a:t>
            </a:r>
          </a:p>
        </p:txBody>
      </p:sp>
    </p:spTree>
    <p:extLst>
      <p:ext uri="{BB962C8B-B14F-4D97-AF65-F5344CB8AC3E}">
        <p14:creationId xmlns:p14="http://schemas.microsoft.com/office/powerpoint/2010/main" val="25705768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D871E9EB-038B-1CAB-C8C1-9B3E44316CC7}"/>
              </a:ext>
            </a:extLst>
          </p:cNvPr>
          <p:cNvSpPr txBox="1"/>
          <p:nvPr/>
        </p:nvSpPr>
        <p:spPr>
          <a:xfrm>
            <a:off x="3406032" y="926707"/>
            <a:ext cx="852563" cy="646331"/>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a:t>
            </a:r>
            <a:r>
              <a:rPr lang="zh-CN" altLang="en-US" sz="600" dirty="0">
                <a:latin typeface="微軟正黑體 Light" panose="020B0304030504040204" pitchFamily="34" charset="-120"/>
                <a:ea typeface="微軟正黑體 Light" panose="020B0304030504040204" pitchFamily="34" charset="-120"/>
              </a:rPr>
              <a:t>下載來源</a:t>
            </a:r>
            <a:r>
              <a:rPr lang="en-US" altLang="zh-CN" sz="600" dirty="0">
                <a:latin typeface="微軟正黑體 Light" panose="020B0304030504040204" pitchFamily="34" charset="-120"/>
                <a:ea typeface="微軟正黑體 Light" panose="020B0304030504040204" pitchFamily="34" charset="-120"/>
              </a:rPr>
              <a:t>]</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solidFill>
                  <a:srgbClr val="FF0000"/>
                </a:solidFill>
                <a:latin typeface="微軟正黑體 Light" panose="020B0304030504040204" pitchFamily="34" charset="-120"/>
                <a:ea typeface="微軟正黑體 Light" panose="020B0304030504040204" pitchFamily="34" charset="-120"/>
              </a:rPr>
              <a:t>Hugging Face Hub</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Civitai </a:t>
            </a:r>
            <a:br>
              <a:rPr lang="en-US" altLang="zh-TW" sz="600" dirty="0">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Kaggle Models</a:t>
            </a:r>
            <a:br>
              <a:rPr lang="en-US" altLang="zh-TW" sz="600" dirty="0">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ModelScope </a:t>
            </a:r>
            <a:endParaRPr lang="en-US" altLang="zh-TW" sz="600" dirty="0">
              <a:latin typeface="微軟正黑體 Light" panose="020B0304030504040204" pitchFamily="34" charset="-120"/>
              <a:ea typeface="微軟正黑體 Light" panose="020B0304030504040204" pitchFamily="34" charset="-120"/>
            </a:endParaRPr>
          </a:p>
          <a:p>
            <a:r>
              <a:rPr lang="zh-TW" altLang="zh-TW" sz="600" dirty="0">
                <a:latin typeface="微軟正黑體 Light" panose="020B0304030504040204" pitchFamily="34" charset="-120"/>
                <a:ea typeface="微軟正黑體 Light" panose="020B0304030504040204" pitchFamily="34" charset="-120"/>
              </a:rPr>
              <a:t>WiseModel </a:t>
            </a:r>
            <a:endParaRPr lang="zh-TW" altLang="en-US" sz="600" dirty="0">
              <a:latin typeface="微軟正黑體 Light" panose="020B0304030504040204" pitchFamily="34" charset="-120"/>
              <a:ea typeface="微軟正黑體 Light" panose="020B0304030504040204" pitchFamily="34" charset="-120"/>
            </a:endParaRPr>
          </a:p>
        </p:txBody>
      </p:sp>
      <p:sp>
        <p:nvSpPr>
          <p:cNvPr id="10" name="矩形 9">
            <a:extLst>
              <a:ext uri="{FF2B5EF4-FFF2-40B4-BE49-F238E27FC236}">
                <a16:creationId xmlns:a16="http://schemas.microsoft.com/office/drawing/2014/main" id="{D81F8168-4847-CF7D-8F9D-2111C391C931}"/>
              </a:ext>
            </a:extLst>
          </p:cNvPr>
          <p:cNvSpPr/>
          <p:nvPr/>
        </p:nvSpPr>
        <p:spPr>
          <a:xfrm>
            <a:off x="4533243" y="933330"/>
            <a:ext cx="852563"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下載模型</a:t>
            </a:r>
            <a:endParaRPr lang="zh-TW" altLang="en-US" sz="750" dirty="0">
              <a:latin typeface="微軟正黑體 Light" panose="020B0304030504040204" pitchFamily="34" charset="-120"/>
              <a:ea typeface="微軟正黑體 Light" panose="020B0304030504040204" pitchFamily="34" charset="-120"/>
            </a:endParaRPr>
          </a:p>
        </p:txBody>
      </p:sp>
      <p:sp>
        <p:nvSpPr>
          <p:cNvPr id="12" name="文字方塊 11">
            <a:extLst>
              <a:ext uri="{FF2B5EF4-FFF2-40B4-BE49-F238E27FC236}">
                <a16:creationId xmlns:a16="http://schemas.microsoft.com/office/drawing/2014/main" id="{D29966B9-F7E5-0499-6A5C-D6A8D2DE7588}"/>
              </a:ext>
            </a:extLst>
          </p:cNvPr>
          <p:cNvSpPr txBox="1"/>
          <p:nvPr/>
        </p:nvSpPr>
        <p:spPr>
          <a:xfrm>
            <a:off x="4937155" y="1193886"/>
            <a:ext cx="924021" cy="553998"/>
          </a:xfrm>
          <a:prstGeom prst="rect">
            <a:avLst/>
          </a:prstGeom>
          <a:noFill/>
          <a:ln w="12700">
            <a:noFill/>
          </a:ln>
        </p:spPr>
        <p:txBody>
          <a:bodyPr wrap="square">
            <a:spAutoFit/>
          </a:bodyPr>
          <a:lstStyle/>
          <a:p>
            <a:br>
              <a:rPr lang="en-US" altLang="zh-CN" sz="600" dirty="0">
                <a:latin typeface="微軟正黑體 Light" panose="020B0304030504040204" pitchFamily="34" charset="-120"/>
                <a:ea typeface="微軟正黑體 Light" panose="020B0304030504040204" pitchFamily="34" charset="-120"/>
              </a:rPr>
            </a:br>
            <a:r>
              <a:rPr lang="en-US" altLang="zh-TW" sz="600" dirty="0">
                <a:latin typeface="微軟正黑體 Light" panose="020B0304030504040204" pitchFamily="34" charset="-120"/>
                <a:ea typeface="微軟正黑體 Light" panose="020B0304030504040204" pitchFamily="34" charset="-120"/>
              </a:rPr>
              <a:t>config.json</a:t>
            </a:r>
          </a:p>
          <a:p>
            <a:r>
              <a:rPr lang="en-US" altLang="zh-TW" sz="600" dirty="0">
                <a:solidFill>
                  <a:srgbClr val="FF0000"/>
                </a:solidFill>
                <a:latin typeface="微軟正黑體 Light" panose="020B0304030504040204" pitchFamily="34" charset="-120"/>
                <a:ea typeface="微軟正黑體 Light" panose="020B0304030504040204" pitchFamily="34" charset="-120"/>
              </a:rPr>
              <a:t>model.safetensors</a:t>
            </a:r>
          </a:p>
          <a:p>
            <a:r>
              <a:rPr lang="en-US" altLang="zh-TW" sz="600" dirty="0">
                <a:latin typeface="微軟正黑體 Light" panose="020B0304030504040204" pitchFamily="34" charset="-120"/>
                <a:ea typeface="微軟正黑體 Light" panose="020B0304030504040204" pitchFamily="34" charset="-120"/>
              </a:rPr>
              <a:t>generation_config.json</a:t>
            </a:r>
            <a:endParaRPr lang="zh-TW" altLang="en-US" sz="600" dirty="0">
              <a:latin typeface="微軟正黑體 Light" panose="020B0304030504040204" pitchFamily="34" charset="-120"/>
              <a:ea typeface="微軟正黑體 Light" panose="020B0304030504040204" pitchFamily="34" charset="-120"/>
            </a:endParaRPr>
          </a:p>
        </p:txBody>
      </p:sp>
      <p:sp>
        <p:nvSpPr>
          <p:cNvPr id="14" name="矩形 13">
            <a:extLst>
              <a:ext uri="{FF2B5EF4-FFF2-40B4-BE49-F238E27FC236}">
                <a16:creationId xmlns:a16="http://schemas.microsoft.com/office/drawing/2014/main" id="{3520C49D-79FC-6920-1D5C-7808103E61EB}"/>
              </a:ext>
            </a:extLst>
          </p:cNvPr>
          <p:cNvSpPr/>
          <p:nvPr/>
        </p:nvSpPr>
        <p:spPr>
          <a:xfrm>
            <a:off x="7288922" y="934573"/>
            <a:ext cx="1032487"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下載或自定訓練資料</a:t>
            </a:r>
            <a:endParaRPr lang="zh-TW" altLang="en-US" sz="750" dirty="0">
              <a:latin typeface="微軟正黑體 Light" panose="020B0304030504040204" pitchFamily="34" charset="-120"/>
              <a:ea typeface="微軟正黑體 Light" panose="020B0304030504040204" pitchFamily="34" charset="-120"/>
            </a:endParaRPr>
          </a:p>
        </p:txBody>
      </p:sp>
      <p:sp>
        <p:nvSpPr>
          <p:cNvPr id="20" name="矩形 19">
            <a:extLst>
              <a:ext uri="{FF2B5EF4-FFF2-40B4-BE49-F238E27FC236}">
                <a16:creationId xmlns:a16="http://schemas.microsoft.com/office/drawing/2014/main" id="{3B7527AD-8CB3-9AE3-62DC-06B905D9F352}"/>
              </a:ext>
            </a:extLst>
          </p:cNvPr>
          <p:cNvSpPr/>
          <p:nvPr/>
        </p:nvSpPr>
        <p:spPr>
          <a:xfrm>
            <a:off x="7109102" y="2284877"/>
            <a:ext cx="1392126"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訓練資料物件</a:t>
            </a:r>
            <a:br>
              <a:rPr lang="en-US" altLang="zh-CN" sz="750" dirty="0">
                <a:latin typeface="微軟正黑體 Light" panose="020B0304030504040204" pitchFamily="34" charset="-120"/>
                <a:ea typeface="微軟正黑體 Light" panose="020B0304030504040204" pitchFamily="34" charset="-120"/>
              </a:rPr>
            </a:br>
            <a:r>
              <a:rPr lang="zh-CN" altLang="en-US" sz="750" dirty="0">
                <a:latin typeface="微軟正黑體 Light" panose="020B0304030504040204" pitchFamily="34" charset="-120"/>
                <a:ea typeface="微軟正黑體 Light" panose="020B0304030504040204" pitchFamily="34" charset="-120"/>
              </a:rPr>
              <a:t>（</a:t>
            </a:r>
            <a:r>
              <a:rPr lang="zh-TW" altLang="zh-TW" sz="750" dirty="0">
                <a:latin typeface="微軟正黑體 Light" panose="020B0304030504040204" pitchFamily="34" charset="-120"/>
                <a:ea typeface="微軟正黑體 Light" panose="020B0304030504040204" pitchFamily="34" charset="-120"/>
              </a:rPr>
              <a:t> Apache Arrow 二進位矩陣</a:t>
            </a:r>
            <a:r>
              <a:rPr lang="zh-CN" altLang="en-US" sz="750" dirty="0">
                <a:latin typeface="微軟正黑體 Light" panose="020B0304030504040204" pitchFamily="34" charset="-120"/>
                <a:ea typeface="微軟正黑體 Light" panose="020B0304030504040204" pitchFamily="34" charset="-120"/>
              </a:rPr>
              <a:t>）</a:t>
            </a:r>
            <a:endParaRPr lang="zh-TW" altLang="en-US" sz="750" dirty="0">
              <a:latin typeface="微軟正黑體 Light" panose="020B0304030504040204" pitchFamily="34" charset="-120"/>
              <a:ea typeface="微軟正黑體 Light" panose="020B0304030504040204" pitchFamily="34" charset="-120"/>
            </a:endParaRPr>
          </a:p>
        </p:txBody>
      </p:sp>
      <p:sp>
        <p:nvSpPr>
          <p:cNvPr id="22" name="矩形 21">
            <a:extLst>
              <a:ext uri="{FF2B5EF4-FFF2-40B4-BE49-F238E27FC236}">
                <a16:creationId xmlns:a16="http://schemas.microsoft.com/office/drawing/2014/main" id="{19C03F95-903A-6223-6AFC-6B304CCF2901}"/>
              </a:ext>
            </a:extLst>
          </p:cNvPr>
          <p:cNvSpPr/>
          <p:nvPr/>
        </p:nvSpPr>
        <p:spPr>
          <a:xfrm>
            <a:off x="1289137" y="1942016"/>
            <a:ext cx="7319657" cy="969428"/>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r>
              <a:rPr lang="zh-CN" altLang="en-US" sz="750" dirty="0">
                <a:latin typeface="微軟正黑體 Light" panose="020B0304030504040204" pitchFamily="34" charset="-120"/>
                <a:ea typeface="微軟正黑體 Light" panose="020B0304030504040204" pitchFamily="34" charset="-120"/>
              </a:rPr>
              <a:t>訓練物件</a:t>
            </a:r>
            <a:endParaRPr lang="zh-TW" altLang="en-US" sz="750" dirty="0">
              <a:latin typeface="微軟正黑體 Light" panose="020B0304030504040204" pitchFamily="34" charset="-120"/>
              <a:ea typeface="微軟正黑體 Light" panose="020B0304030504040204" pitchFamily="34" charset="-120"/>
            </a:endParaRPr>
          </a:p>
        </p:txBody>
      </p:sp>
      <p:sp>
        <p:nvSpPr>
          <p:cNvPr id="24" name="矩形 23">
            <a:extLst>
              <a:ext uri="{FF2B5EF4-FFF2-40B4-BE49-F238E27FC236}">
                <a16:creationId xmlns:a16="http://schemas.microsoft.com/office/drawing/2014/main" id="{894B8F03-7160-0260-331E-43923BD264A3}"/>
              </a:ext>
            </a:extLst>
          </p:cNvPr>
          <p:cNvSpPr/>
          <p:nvPr/>
        </p:nvSpPr>
        <p:spPr>
          <a:xfrm>
            <a:off x="4572000" y="4155133"/>
            <a:ext cx="777946" cy="16063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模型測試</a:t>
            </a:r>
            <a:endParaRPr lang="zh-TW" altLang="en-US" sz="750" dirty="0">
              <a:latin typeface="微軟正黑體 Light" panose="020B0304030504040204" pitchFamily="34" charset="-120"/>
              <a:ea typeface="微軟正黑體 Light" panose="020B0304030504040204" pitchFamily="34" charset="-120"/>
            </a:endParaRPr>
          </a:p>
        </p:txBody>
      </p:sp>
      <p:sp>
        <p:nvSpPr>
          <p:cNvPr id="26" name="矩形 25">
            <a:extLst>
              <a:ext uri="{FF2B5EF4-FFF2-40B4-BE49-F238E27FC236}">
                <a16:creationId xmlns:a16="http://schemas.microsoft.com/office/drawing/2014/main" id="{2AFD015C-1F9D-2D95-AEDC-C02433CEBE33}"/>
              </a:ext>
            </a:extLst>
          </p:cNvPr>
          <p:cNvSpPr/>
          <p:nvPr/>
        </p:nvSpPr>
        <p:spPr>
          <a:xfrm>
            <a:off x="4572000" y="4449047"/>
            <a:ext cx="777946" cy="173672"/>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模型產出</a:t>
            </a:r>
            <a:endParaRPr lang="zh-TW" altLang="en-US" sz="750" dirty="0">
              <a:latin typeface="微軟正黑體 Light" panose="020B0304030504040204" pitchFamily="34" charset="-120"/>
              <a:ea typeface="微軟正黑體 Light" panose="020B0304030504040204" pitchFamily="34" charset="-120"/>
            </a:endParaRPr>
          </a:p>
        </p:txBody>
      </p:sp>
      <p:pic>
        <p:nvPicPr>
          <p:cNvPr id="28" name="圖片 27">
            <a:extLst>
              <a:ext uri="{FF2B5EF4-FFF2-40B4-BE49-F238E27FC236}">
                <a16:creationId xmlns:a16="http://schemas.microsoft.com/office/drawing/2014/main" id="{CA67325C-624F-32CA-327A-EC0F55815353}"/>
              </a:ext>
            </a:extLst>
          </p:cNvPr>
          <p:cNvPicPr>
            <a:picLocks noChangeAspect="1"/>
          </p:cNvPicPr>
          <p:nvPr/>
        </p:nvPicPr>
        <p:blipFill>
          <a:blip r:embed="rId3"/>
          <a:stretch>
            <a:fillRect/>
          </a:stretch>
        </p:blipFill>
        <p:spPr>
          <a:xfrm>
            <a:off x="1410453" y="2152343"/>
            <a:ext cx="1879627" cy="719795"/>
          </a:xfrm>
          <a:prstGeom prst="rect">
            <a:avLst/>
          </a:prstGeom>
          <a:ln w="12700">
            <a:solidFill>
              <a:schemeClr val="tx1"/>
            </a:solidFill>
          </a:ln>
        </p:spPr>
      </p:pic>
      <p:pic>
        <p:nvPicPr>
          <p:cNvPr id="30" name="圖片 29">
            <a:extLst>
              <a:ext uri="{FF2B5EF4-FFF2-40B4-BE49-F238E27FC236}">
                <a16:creationId xmlns:a16="http://schemas.microsoft.com/office/drawing/2014/main" id="{16BF6715-9287-EC26-3307-4DDCD97FDC2E}"/>
              </a:ext>
            </a:extLst>
          </p:cNvPr>
          <p:cNvPicPr>
            <a:picLocks noChangeAspect="1"/>
          </p:cNvPicPr>
          <p:nvPr/>
        </p:nvPicPr>
        <p:blipFill>
          <a:blip r:embed="rId4"/>
          <a:stretch>
            <a:fillRect/>
          </a:stretch>
        </p:blipFill>
        <p:spPr>
          <a:xfrm>
            <a:off x="253425" y="2204471"/>
            <a:ext cx="983534" cy="476558"/>
          </a:xfrm>
          <a:prstGeom prst="rect">
            <a:avLst/>
          </a:prstGeom>
          <a:ln w="12700">
            <a:solidFill>
              <a:schemeClr val="tx1"/>
            </a:solidFill>
          </a:ln>
        </p:spPr>
      </p:pic>
      <p:pic>
        <p:nvPicPr>
          <p:cNvPr id="32" name="圖片 31">
            <a:extLst>
              <a:ext uri="{FF2B5EF4-FFF2-40B4-BE49-F238E27FC236}">
                <a16:creationId xmlns:a16="http://schemas.microsoft.com/office/drawing/2014/main" id="{83457B68-7A59-7497-577E-E94876509A9D}"/>
              </a:ext>
            </a:extLst>
          </p:cNvPr>
          <p:cNvPicPr>
            <a:picLocks noChangeAspect="1"/>
          </p:cNvPicPr>
          <p:nvPr/>
        </p:nvPicPr>
        <p:blipFill>
          <a:blip r:embed="rId5"/>
          <a:stretch>
            <a:fillRect/>
          </a:stretch>
        </p:blipFill>
        <p:spPr>
          <a:xfrm>
            <a:off x="5518268" y="3015979"/>
            <a:ext cx="2786069" cy="753353"/>
          </a:xfrm>
          <a:prstGeom prst="rect">
            <a:avLst/>
          </a:prstGeom>
          <a:ln w="12700">
            <a:solidFill>
              <a:schemeClr val="tx1"/>
            </a:solidFill>
          </a:ln>
        </p:spPr>
      </p:pic>
      <p:sp>
        <p:nvSpPr>
          <p:cNvPr id="34" name="矩形 33">
            <a:extLst>
              <a:ext uri="{FF2B5EF4-FFF2-40B4-BE49-F238E27FC236}">
                <a16:creationId xmlns:a16="http://schemas.microsoft.com/office/drawing/2014/main" id="{7E6842AC-5B91-0E0F-E4A9-D56BD2012DA0}"/>
              </a:ext>
            </a:extLst>
          </p:cNvPr>
          <p:cNvSpPr/>
          <p:nvPr/>
        </p:nvSpPr>
        <p:spPr>
          <a:xfrm>
            <a:off x="4240630" y="2041934"/>
            <a:ext cx="1429394" cy="78412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pPr algn="ctr"/>
            <a:r>
              <a:rPr lang="zh-CN" altLang="en-US" sz="750" dirty="0">
                <a:latin typeface="微軟正黑體 Light" panose="020B0304030504040204" pitchFamily="34" charset="-120"/>
                <a:ea typeface="微軟正黑體 Light" panose="020B0304030504040204" pitchFamily="34" charset="-120"/>
              </a:rPr>
              <a:t>模型物件（</a:t>
            </a:r>
            <a:r>
              <a:rPr lang="en-US" altLang="zh-CN" sz="750" dirty="0">
                <a:latin typeface="微軟正黑體 Light" panose="020B0304030504040204" pitchFamily="34" charset="-120"/>
                <a:ea typeface="微軟正黑體 Light" panose="020B0304030504040204" pitchFamily="34" charset="-120"/>
              </a:rPr>
              <a:t>PyTorch</a:t>
            </a:r>
            <a:r>
              <a:rPr lang="zh-CN" altLang="en-US" sz="750" dirty="0">
                <a:latin typeface="微軟正黑體 Light" panose="020B0304030504040204" pitchFamily="34" charset="-120"/>
                <a:ea typeface="微軟正黑體 Light" panose="020B0304030504040204" pitchFamily="34" charset="-120"/>
              </a:rPr>
              <a:t>）</a:t>
            </a:r>
            <a:endParaRPr lang="zh-TW" altLang="en-US" sz="750" dirty="0">
              <a:latin typeface="微軟正黑體 Light" panose="020B0304030504040204" pitchFamily="34" charset="-120"/>
              <a:ea typeface="微軟正黑體 Light" panose="020B0304030504040204" pitchFamily="34" charset="-120"/>
            </a:endParaRPr>
          </a:p>
        </p:txBody>
      </p:sp>
      <p:sp>
        <p:nvSpPr>
          <p:cNvPr id="36" name="矩形 35">
            <a:extLst>
              <a:ext uri="{FF2B5EF4-FFF2-40B4-BE49-F238E27FC236}">
                <a16:creationId xmlns:a16="http://schemas.microsoft.com/office/drawing/2014/main" id="{F252C65C-D672-5C68-794F-E0925F999210}"/>
              </a:ext>
            </a:extLst>
          </p:cNvPr>
          <p:cNvSpPr/>
          <p:nvPr/>
        </p:nvSpPr>
        <p:spPr>
          <a:xfrm>
            <a:off x="3333734" y="2351430"/>
            <a:ext cx="808909" cy="16081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訓練的參數物件</a:t>
            </a:r>
            <a:endParaRPr lang="zh-TW" altLang="en-US" sz="750" dirty="0">
              <a:latin typeface="微軟正黑體 Light" panose="020B0304030504040204" pitchFamily="34" charset="-120"/>
              <a:ea typeface="微軟正黑體 Light" panose="020B0304030504040204" pitchFamily="34" charset="-120"/>
            </a:endParaRPr>
          </a:p>
        </p:txBody>
      </p:sp>
      <p:sp>
        <p:nvSpPr>
          <p:cNvPr id="38" name="矩形 37">
            <a:extLst>
              <a:ext uri="{FF2B5EF4-FFF2-40B4-BE49-F238E27FC236}">
                <a16:creationId xmlns:a16="http://schemas.microsoft.com/office/drawing/2014/main" id="{D9A29691-5DC4-2523-0848-4376079D4EEA}"/>
              </a:ext>
            </a:extLst>
          </p:cNvPr>
          <p:cNvSpPr/>
          <p:nvPr/>
        </p:nvSpPr>
        <p:spPr>
          <a:xfrm>
            <a:off x="5936391" y="941546"/>
            <a:ext cx="852562"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下載分詞 </a:t>
            </a:r>
            <a:endParaRPr lang="zh-TW" altLang="en-US" sz="750" dirty="0">
              <a:latin typeface="微軟正黑體 Light" panose="020B0304030504040204" pitchFamily="34" charset="-120"/>
              <a:ea typeface="微軟正黑體 Light" panose="020B0304030504040204" pitchFamily="34" charset="-120"/>
            </a:endParaRPr>
          </a:p>
        </p:txBody>
      </p:sp>
      <p:sp>
        <p:nvSpPr>
          <p:cNvPr id="40" name="矩形 39">
            <a:extLst>
              <a:ext uri="{FF2B5EF4-FFF2-40B4-BE49-F238E27FC236}">
                <a16:creationId xmlns:a16="http://schemas.microsoft.com/office/drawing/2014/main" id="{BA7E9471-E2FD-7314-ED18-B23A9B912B1C}"/>
              </a:ext>
            </a:extLst>
          </p:cNvPr>
          <p:cNvSpPr/>
          <p:nvPr/>
        </p:nvSpPr>
        <p:spPr>
          <a:xfrm>
            <a:off x="5943002" y="1761251"/>
            <a:ext cx="852562" cy="122673"/>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分詞物件 </a:t>
            </a:r>
            <a:endParaRPr lang="zh-TW" altLang="en-US" sz="750" dirty="0">
              <a:latin typeface="微軟正黑體 Light" panose="020B0304030504040204" pitchFamily="34" charset="-120"/>
              <a:ea typeface="微軟正黑體 Light" panose="020B0304030504040204" pitchFamily="34" charset="-120"/>
            </a:endParaRPr>
          </a:p>
        </p:txBody>
      </p:sp>
      <p:sp>
        <p:nvSpPr>
          <p:cNvPr id="42" name="矩形 41">
            <a:extLst>
              <a:ext uri="{FF2B5EF4-FFF2-40B4-BE49-F238E27FC236}">
                <a16:creationId xmlns:a16="http://schemas.microsoft.com/office/drawing/2014/main" id="{1AF69022-FE0D-1F1B-3379-9209ADAC26DA}"/>
              </a:ext>
            </a:extLst>
          </p:cNvPr>
          <p:cNvSpPr/>
          <p:nvPr/>
        </p:nvSpPr>
        <p:spPr>
          <a:xfrm>
            <a:off x="5777589" y="2284877"/>
            <a:ext cx="852563"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資料核排物件</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48" name="接點: 肘形 47">
            <a:extLst>
              <a:ext uri="{FF2B5EF4-FFF2-40B4-BE49-F238E27FC236}">
                <a16:creationId xmlns:a16="http://schemas.microsoft.com/office/drawing/2014/main" id="{42A5639D-869E-B09B-00DF-F40598C0B66F}"/>
              </a:ext>
            </a:extLst>
          </p:cNvPr>
          <p:cNvCxnSpPr>
            <a:cxnSpLocks/>
            <a:stCxn id="40" idx="2"/>
            <a:endCxn id="20" idx="0"/>
          </p:cNvCxnSpPr>
          <p:nvPr/>
        </p:nvCxnSpPr>
        <p:spPr>
          <a:xfrm rot="16200000" flipH="1">
            <a:off x="6886748" y="1366459"/>
            <a:ext cx="400953" cy="1435883"/>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51" name="接點: 肘形 50">
            <a:extLst>
              <a:ext uri="{FF2B5EF4-FFF2-40B4-BE49-F238E27FC236}">
                <a16:creationId xmlns:a16="http://schemas.microsoft.com/office/drawing/2014/main" id="{E8184D6F-1194-89A9-2EBE-106D9054DF3D}"/>
              </a:ext>
            </a:extLst>
          </p:cNvPr>
          <p:cNvCxnSpPr>
            <a:cxnSpLocks/>
            <a:stCxn id="40" idx="2"/>
            <a:endCxn id="42" idx="0"/>
          </p:cNvCxnSpPr>
          <p:nvPr/>
        </p:nvCxnSpPr>
        <p:spPr>
          <a:xfrm rot="5400000">
            <a:off x="6086100" y="2001694"/>
            <a:ext cx="400953" cy="165413"/>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78" name="矩形 77">
            <a:extLst>
              <a:ext uri="{FF2B5EF4-FFF2-40B4-BE49-F238E27FC236}">
                <a16:creationId xmlns:a16="http://schemas.microsoft.com/office/drawing/2014/main" id="{E6C627EB-BF7F-9B14-B1F3-37E0A9AA5181}"/>
              </a:ext>
            </a:extLst>
          </p:cNvPr>
          <p:cNvSpPr/>
          <p:nvPr/>
        </p:nvSpPr>
        <p:spPr>
          <a:xfrm>
            <a:off x="4572000" y="3289905"/>
            <a:ext cx="772150"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啓動模型訓練</a:t>
            </a:r>
            <a:endParaRPr lang="zh-TW" altLang="en-US" sz="750" dirty="0">
              <a:latin typeface="微軟正黑體 Light" panose="020B0304030504040204" pitchFamily="34" charset="-120"/>
              <a:ea typeface="微軟正黑體 Light" panose="020B0304030504040204" pitchFamily="34" charset="-120"/>
            </a:endParaRPr>
          </a:p>
        </p:txBody>
      </p:sp>
      <p:sp>
        <p:nvSpPr>
          <p:cNvPr id="105" name="矩形 104">
            <a:extLst>
              <a:ext uri="{FF2B5EF4-FFF2-40B4-BE49-F238E27FC236}">
                <a16:creationId xmlns:a16="http://schemas.microsoft.com/office/drawing/2014/main" id="{3EC90861-398C-5499-A9B4-38CA12520ACD}"/>
              </a:ext>
            </a:extLst>
          </p:cNvPr>
          <p:cNvSpPr/>
          <p:nvPr/>
        </p:nvSpPr>
        <p:spPr>
          <a:xfrm>
            <a:off x="185739" y="4999033"/>
            <a:ext cx="8815387" cy="70474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zh-CN" altLang="en-US" sz="750" dirty="0">
                <a:latin typeface="微軟正黑體 Light" panose="020B0304030504040204" pitchFamily="34" charset="-120"/>
                <a:ea typeface="微軟正黑體 Light" panose="020B0304030504040204" pitchFamily="34" charset="-120"/>
              </a:rPr>
              <a:t>模型執行環境</a:t>
            </a:r>
            <a:endParaRPr lang="zh-TW" altLang="en-US" sz="750" dirty="0">
              <a:latin typeface="微軟正黑體 Light" panose="020B0304030504040204" pitchFamily="34" charset="-120"/>
              <a:ea typeface="微軟正黑體 Light" panose="020B0304030504040204" pitchFamily="34" charset="-120"/>
            </a:endParaRPr>
          </a:p>
        </p:txBody>
      </p:sp>
      <p:sp>
        <p:nvSpPr>
          <p:cNvPr id="110" name="矩形 109">
            <a:extLst>
              <a:ext uri="{FF2B5EF4-FFF2-40B4-BE49-F238E27FC236}">
                <a16:creationId xmlns:a16="http://schemas.microsoft.com/office/drawing/2014/main" id="{85109683-EDE3-2485-97C7-7F230C99D909}"/>
              </a:ext>
            </a:extLst>
          </p:cNvPr>
          <p:cNvSpPr/>
          <p:nvPr/>
        </p:nvSpPr>
        <p:spPr>
          <a:xfrm>
            <a:off x="185739" y="1679168"/>
            <a:ext cx="8815387" cy="228524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r>
              <a:rPr lang="zh-TW" altLang="en-US" sz="750" dirty="0">
                <a:latin typeface="微軟正黑體 Light" panose="020B0304030504040204" pitchFamily="34" charset="-120"/>
                <a:ea typeface="微軟正黑體 Light" panose="020B0304030504040204" pitchFamily="34" charset="-120"/>
              </a:rPr>
              <a:t>用 </a:t>
            </a:r>
            <a:r>
              <a:rPr lang="en-US" altLang="zh-TW" sz="750" dirty="0">
                <a:latin typeface="微軟正黑體 Light" panose="020B0304030504040204" pitchFamily="34" charset="-120"/>
                <a:ea typeface="微軟正黑體 Light" panose="020B0304030504040204" pitchFamily="34" charset="-120"/>
              </a:rPr>
              <a:t>PyTorch </a:t>
            </a:r>
            <a:r>
              <a:rPr lang="zh-TW" altLang="en-US" sz="750" dirty="0">
                <a:latin typeface="微軟正黑體 Light" panose="020B0304030504040204" pitchFamily="34" charset="-120"/>
                <a:ea typeface="微軟正黑體 Light" panose="020B0304030504040204" pitchFamily="34" charset="-120"/>
              </a:rPr>
              <a:t>從頭寫 </a:t>
            </a:r>
            <a:r>
              <a:rPr lang="en-US" altLang="zh-TW" sz="750" dirty="0">
                <a:latin typeface="微軟正黑體 Light" panose="020B0304030504040204" pitchFamily="34" charset="-120"/>
                <a:ea typeface="微軟正黑體 Light" panose="020B0304030504040204" pitchFamily="34" charset="-120"/>
              </a:rPr>
              <a:t>code </a:t>
            </a:r>
            <a:r>
              <a:rPr lang="zh-TW" altLang="en-US" sz="750" dirty="0">
                <a:latin typeface="微軟正黑體 Light" panose="020B0304030504040204" pitchFamily="34" charset="-120"/>
                <a:ea typeface="微軟正黑體 Light" panose="020B0304030504040204" pitchFamily="34" charset="-120"/>
              </a:rPr>
              <a:t>微調</a:t>
            </a:r>
          </a:p>
        </p:txBody>
      </p:sp>
      <p:cxnSp>
        <p:nvCxnSpPr>
          <p:cNvPr id="114" name="直線單箭頭接點 113">
            <a:extLst>
              <a:ext uri="{FF2B5EF4-FFF2-40B4-BE49-F238E27FC236}">
                <a16:creationId xmlns:a16="http://schemas.microsoft.com/office/drawing/2014/main" id="{E4ADABD1-954E-F32A-757A-287F2D9844C5}"/>
              </a:ext>
            </a:extLst>
          </p:cNvPr>
          <p:cNvCxnSpPr>
            <a:cxnSpLocks/>
            <a:stCxn id="10" idx="2"/>
            <a:endCxn id="34" idx="0"/>
          </p:cNvCxnSpPr>
          <p:nvPr/>
        </p:nvCxnSpPr>
        <p:spPr>
          <a:xfrm flipH="1">
            <a:off x="4955327" y="1108749"/>
            <a:ext cx="4198" cy="933185"/>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18" name="直線單箭頭接點 117">
            <a:extLst>
              <a:ext uri="{FF2B5EF4-FFF2-40B4-BE49-F238E27FC236}">
                <a16:creationId xmlns:a16="http://schemas.microsoft.com/office/drawing/2014/main" id="{785C6C88-C610-04FC-BF45-F4DAD511E4BD}"/>
              </a:ext>
            </a:extLst>
          </p:cNvPr>
          <p:cNvCxnSpPr>
            <a:cxnSpLocks/>
            <a:stCxn id="38" idx="2"/>
            <a:endCxn id="40" idx="0"/>
          </p:cNvCxnSpPr>
          <p:nvPr/>
        </p:nvCxnSpPr>
        <p:spPr>
          <a:xfrm>
            <a:off x="6362672" y="1116965"/>
            <a:ext cx="6611" cy="64428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1" name="直線單箭頭接點 120">
            <a:extLst>
              <a:ext uri="{FF2B5EF4-FFF2-40B4-BE49-F238E27FC236}">
                <a16:creationId xmlns:a16="http://schemas.microsoft.com/office/drawing/2014/main" id="{7C0638DC-7015-38BE-4FEE-43D8B83328C7}"/>
              </a:ext>
            </a:extLst>
          </p:cNvPr>
          <p:cNvCxnSpPr>
            <a:cxnSpLocks/>
            <a:stCxn id="14" idx="2"/>
            <a:endCxn id="20" idx="0"/>
          </p:cNvCxnSpPr>
          <p:nvPr/>
        </p:nvCxnSpPr>
        <p:spPr>
          <a:xfrm>
            <a:off x="7805165" y="1109992"/>
            <a:ext cx="0" cy="1174886"/>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8" name="直線單箭頭接點 127">
            <a:extLst>
              <a:ext uri="{FF2B5EF4-FFF2-40B4-BE49-F238E27FC236}">
                <a16:creationId xmlns:a16="http://schemas.microsoft.com/office/drawing/2014/main" id="{72A1A04D-60AD-D17B-5905-3D7A6E87482F}"/>
              </a:ext>
            </a:extLst>
          </p:cNvPr>
          <p:cNvCxnSpPr>
            <a:cxnSpLocks/>
            <a:stCxn id="20" idx="1"/>
            <a:endCxn id="42" idx="3"/>
          </p:cNvCxnSpPr>
          <p:nvPr/>
        </p:nvCxnSpPr>
        <p:spPr>
          <a:xfrm flipH="1">
            <a:off x="6630152" y="2431835"/>
            <a:ext cx="478951" cy="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3" name="直線單箭頭接點 132">
            <a:extLst>
              <a:ext uri="{FF2B5EF4-FFF2-40B4-BE49-F238E27FC236}">
                <a16:creationId xmlns:a16="http://schemas.microsoft.com/office/drawing/2014/main" id="{F8859C5C-E641-D46A-0DB8-C5E6FAD38385}"/>
              </a:ext>
            </a:extLst>
          </p:cNvPr>
          <p:cNvCxnSpPr>
            <a:cxnSpLocks/>
            <a:stCxn id="42" idx="1"/>
            <a:endCxn id="34" idx="3"/>
          </p:cNvCxnSpPr>
          <p:nvPr/>
        </p:nvCxnSpPr>
        <p:spPr>
          <a:xfrm flipH="1">
            <a:off x="5670023" y="2431834"/>
            <a:ext cx="107565" cy="2162"/>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7" name="直線單箭頭接點 136">
            <a:extLst>
              <a:ext uri="{FF2B5EF4-FFF2-40B4-BE49-F238E27FC236}">
                <a16:creationId xmlns:a16="http://schemas.microsoft.com/office/drawing/2014/main" id="{0F9F68E0-7684-F86B-A00C-A00298B706D2}"/>
              </a:ext>
            </a:extLst>
          </p:cNvPr>
          <p:cNvCxnSpPr>
            <a:cxnSpLocks/>
            <a:stCxn id="36" idx="3"/>
            <a:endCxn id="34" idx="1"/>
          </p:cNvCxnSpPr>
          <p:nvPr/>
        </p:nvCxnSpPr>
        <p:spPr>
          <a:xfrm>
            <a:off x="4142642" y="2431836"/>
            <a:ext cx="97988" cy="2161"/>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46" name="矩形 145">
            <a:extLst>
              <a:ext uri="{FF2B5EF4-FFF2-40B4-BE49-F238E27FC236}">
                <a16:creationId xmlns:a16="http://schemas.microsoft.com/office/drawing/2014/main" id="{7CC0C207-7DCD-90A4-3CEE-B5686A84904A}"/>
              </a:ext>
            </a:extLst>
          </p:cNvPr>
          <p:cNvSpPr/>
          <p:nvPr/>
        </p:nvSpPr>
        <p:spPr>
          <a:xfrm>
            <a:off x="4461654" y="2240520"/>
            <a:ext cx="852563" cy="1483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微調</a:t>
            </a:r>
            <a:r>
              <a:rPr lang="zh-CN" altLang="en-US" sz="750" dirty="0">
                <a:latin typeface="微軟正黑體 Light" panose="020B0304030504040204" pitchFamily="34" charset="-120"/>
                <a:ea typeface="微軟正黑體 Light" panose="020B0304030504040204" pitchFamily="34" charset="-120"/>
              </a:rPr>
              <a:t>手段</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163" name="直線單箭頭接點 162">
            <a:extLst>
              <a:ext uri="{FF2B5EF4-FFF2-40B4-BE49-F238E27FC236}">
                <a16:creationId xmlns:a16="http://schemas.microsoft.com/office/drawing/2014/main" id="{5A8FECF0-ECFE-CF5E-6405-F2FB24E48054}"/>
              </a:ext>
            </a:extLst>
          </p:cNvPr>
          <p:cNvCxnSpPr>
            <a:cxnSpLocks/>
            <a:stCxn id="34" idx="2"/>
            <a:endCxn id="78" idx="0"/>
          </p:cNvCxnSpPr>
          <p:nvPr/>
        </p:nvCxnSpPr>
        <p:spPr>
          <a:xfrm>
            <a:off x="4955327" y="2826058"/>
            <a:ext cx="2749" cy="46384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66" name="直線單箭頭接點 165">
            <a:extLst>
              <a:ext uri="{FF2B5EF4-FFF2-40B4-BE49-F238E27FC236}">
                <a16:creationId xmlns:a16="http://schemas.microsoft.com/office/drawing/2014/main" id="{3B95A4BC-289B-F123-E3F9-4A3D68D3C9D9}"/>
              </a:ext>
            </a:extLst>
          </p:cNvPr>
          <p:cNvCxnSpPr>
            <a:cxnSpLocks/>
            <a:stCxn id="78" idx="2"/>
            <a:endCxn id="24" idx="0"/>
          </p:cNvCxnSpPr>
          <p:nvPr/>
        </p:nvCxnSpPr>
        <p:spPr>
          <a:xfrm>
            <a:off x="4958075" y="3583819"/>
            <a:ext cx="2898" cy="571313"/>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71" name="直線單箭頭接點 170">
            <a:extLst>
              <a:ext uri="{FF2B5EF4-FFF2-40B4-BE49-F238E27FC236}">
                <a16:creationId xmlns:a16="http://schemas.microsoft.com/office/drawing/2014/main" id="{2EB35435-5FF8-4324-BF98-F63774C09651}"/>
              </a:ext>
            </a:extLst>
          </p:cNvPr>
          <p:cNvCxnSpPr>
            <a:cxnSpLocks/>
            <a:stCxn id="24" idx="2"/>
            <a:endCxn id="26" idx="0"/>
          </p:cNvCxnSpPr>
          <p:nvPr/>
        </p:nvCxnSpPr>
        <p:spPr>
          <a:xfrm>
            <a:off x="4960973" y="4315767"/>
            <a:ext cx="0" cy="13328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75" name="文字方塊 174">
            <a:extLst>
              <a:ext uri="{FF2B5EF4-FFF2-40B4-BE49-F238E27FC236}">
                <a16:creationId xmlns:a16="http://schemas.microsoft.com/office/drawing/2014/main" id="{DC63F816-AC5B-9D01-4FA4-51AFBA0D6F6E}"/>
              </a:ext>
            </a:extLst>
          </p:cNvPr>
          <p:cNvSpPr txBox="1"/>
          <p:nvPr/>
        </p:nvSpPr>
        <p:spPr>
          <a:xfrm>
            <a:off x="4266801" y="2370255"/>
            <a:ext cx="1382548" cy="553998"/>
          </a:xfrm>
          <a:prstGeom prst="rect">
            <a:avLst/>
          </a:prstGeom>
          <a:noFill/>
          <a:ln w="12700">
            <a:noFill/>
          </a:ln>
        </p:spPr>
        <p:txBody>
          <a:bodyPr wrap="square">
            <a:spAutoFit/>
          </a:bodyPr>
          <a:lstStyle/>
          <a:p>
            <a:r>
              <a:rPr lang="zh-CN" altLang="en-US" sz="600" dirty="0">
                <a:latin typeface="微軟正黑體 Light" panose="020B0304030504040204" pitchFamily="34" charset="-120"/>
                <a:ea typeface="微軟正黑體 Light" panose="020B0304030504040204" pitchFamily="34" charset="-120"/>
              </a:rPr>
              <a:t>開旁支：</a:t>
            </a:r>
            <a:r>
              <a:rPr lang="zh-TW" altLang="zh-TW" sz="600" dirty="0">
                <a:latin typeface="微軟正黑體 Light" panose="020B0304030504040204" pitchFamily="34" charset="-120"/>
                <a:ea typeface="微軟正黑體 Light" panose="020B0304030504040204" pitchFamily="34" charset="-120"/>
              </a:rPr>
              <a:t>LoRA / QLoRA / DoRA</a:t>
            </a:r>
          </a:p>
          <a:p>
            <a:r>
              <a:rPr lang="zh-CN" altLang="en-US" sz="600" dirty="0">
                <a:latin typeface="微軟正黑體 Light" panose="020B0304030504040204" pitchFamily="34" charset="-120"/>
                <a:ea typeface="微軟正黑體 Light" panose="020B0304030504040204" pitchFamily="34" charset="-120"/>
              </a:rPr>
              <a:t>層凍結：</a:t>
            </a:r>
            <a:r>
              <a:rPr lang="zh-TW" altLang="zh-TW" sz="600" dirty="0">
                <a:latin typeface="微軟正黑體 Light" panose="020B0304030504040204" pitchFamily="34" charset="-120"/>
                <a:ea typeface="微軟正黑體 Light" panose="020B0304030504040204" pitchFamily="34" charset="-120"/>
              </a:rPr>
              <a:t>Freeze</a:t>
            </a:r>
            <a:br>
              <a:rPr lang="en-US" altLang="zh-TW" sz="600" dirty="0">
                <a:latin typeface="微軟正黑體 Light" panose="020B0304030504040204" pitchFamily="34" charset="-120"/>
                <a:ea typeface="微軟正黑體 Light" panose="020B0304030504040204" pitchFamily="34" charset="-120"/>
              </a:rPr>
            </a:br>
            <a:r>
              <a:rPr lang="zh-TW" altLang="en-US" sz="600" dirty="0">
                <a:latin typeface="微軟正黑體 Light" panose="020B0304030504040204" pitchFamily="34" charset="-120"/>
                <a:ea typeface="微軟正黑體 Light" panose="020B0304030504040204" pitchFamily="34" charset="-120"/>
              </a:rPr>
              <a:t>虛擬 </a:t>
            </a:r>
            <a:r>
              <a:rPr lang="en-US" altLang="zh-TW" sz="600" dirty="0">
                <a:latin typeface="微軟正黑體 Light" panose="020B0304030504040204" pitchFamily="34" charset="-120"/>
                <a:ea typeface="微軟正黑體 Light" panose="020B0304030504040204" pitchFamily="34" charset="-120"/>
              </a:rPr>
              <a:t>Token</a:t>
            </a:r>
            <a:r>
              <a:rPr lang="zh-CN" altLang="en-US" sz="600" dirty="0">
                <a:latin typeface="微軟正黑體 Light" panose="020B0304030504040204" pitchFamily="34" charset="-120"/>
                <a:ea typeface="微軟正黑體 Light" panose="020B0304030504040204" pitchFamily="34" charset="-120"/>
              </a:rPr>
              <a:t>：</a:t>
            </a:r>
            <a:r>
              <a:rPr lang="zh-TW" altLang="zh-TW" sz="600" dirty="0">
                <a:latin typeface="微軟正黑體 Light" panose="020B0304030504040204" pitchFamily="34" charset="-120"/>
                <a:ea typeface="微軟正黑體 Light" panose="020B0304030504040204" pitchFamily="34" charset="-120"/>
              </a:rPr>
              <a:t>Prefix / Prompt Tuning</a:t>
            </a:r>
          </a:p>
          <a:p>
            <a:r>
              <a:rPr lang="zh-TW" altLang="en-US" sz="600" dirty="0">
                <a:latin typeface="微軟正黑體 Light" panose="020B0304030504040204" pitchFamily="34" charset="-120"/>
                <a:ea typeface="微軟正黑體 Light" panose="020B0304030504040204" pitchFamily="34" charset="-120"/>
              </a:rPr>
              <a:t>微調 </a:t>
            </a:r>
            <a:r>
              <a:rPr lang="en-US" altLang="zh-TW" sz="600" dirty="0">
                <a:latin typeface="微軟正黑體 Light" panose="020B0304030504040204" pitchFamily="34" charset="-120"/>
                <a:ea typeface="微軟正黑體 Light" panose="020B0304030504040204" pitchFamily="34" charset="-120"/>
              </a:rPr>
              <a:t>Bias</a:t>
            </a:r>
            <a:r>
              <a:rPr lang="zh-CN" altLang="en-US" sz="600" dirty="0">
                <a:latin typeface="微軟正黑體 Light" panose="020B0304030504040204" pitchFamily="34" charset="-120"/>
                <a:ea typeface="微軟正黑體 Light" panose="020B0304030504040204" pitchFamily="34" charset="-120"/>
              </a:rPr>
              <a:t>：</a:t>
            </a:r>
            <a:r>
              <a:rPr lang="zh-TW" altLang="zh-TW" sz="600" dirty="0">
                <a:latin typeface="微軟正黑體 Light" panose="020B0304030504040204" pitchFamily="34" charset="-120"/>
                <a:ea typeface="微軟正黑體 Light" panose="020B0304030504040204" pitchFamily="34" charset="-120"/>
              </a:rPr>
              <a:t>BitFit</a:t>
            </a:r>
          </a:p>
        </p:txBody>
      </p:sp>
      <p:sp>
        <p:nvSpPr>
          <p:cNvPr id="191" name="文字方塊 190">
            <a:extLst>
              <a:ext uri="{FF2B5EF4-FFF2-40B4-BE49-F238E27FC236}">
                <a16:creationId xmlns:a16="http://schemas.microsoft.com/office/drawing/2014/main" id="{5D76B831-1B92-6132-F84C-703420D62D33}"/>
              </a:ext>
            </a:extLst>
          </p:cNvPr>
          <p:cNvSpPr txBox="1"/>
          <p:nvPr/>
        </p:nvSpPr>
        <p:spPr>
          <a:xfrm>
            <a:off x="6369282" y="1116147"/>
            <a:ext cx="1274688" cy="553998"/>
          </a:xfrm>
          <a:prstGeom prst="rect">
            <a:avLst/>
          </a:prstGeom>
          <a:noFill/>
          <a:ln w="12700">
            <a:noFill/>
          </a:ln>
        </p:spPr>
        <p:txBody>
          <a:bodyPr wrap="square">
            <a:spAutoFit/>
          </a:bodyPr>
          <a:lstStyle/>
          <a:p>
            <a:r>
              <a:rPr lang="en-US" altLang="zh-TW" sz="600" dirty="0">
                <a:latin typeface="微軟正黑體 Light" panose="020B0304030504040204" pitchFamily="34" charset="-120"/>
                <a:ea typeface="微軟正黑體 Light" panose="020B0304030504040204" pitchFamily="34" charset="-120"/>
              </a:rPr>
              <a:t>tokenizer_config.json</a:t>
            </a:r>
          </a:p>
          <a:p>
            <a:r>
              <a:rPr lang="en-US" altLang="zh-TW" sz="600" dirty="0">
                <a:solidFill>
                  <a:srgbClr val="FF0000"/>
                </a:solidFill>
                <a:latin typeface="微軟正黑體 Light" panose="020B0304030504040204" pitchFamily="34" charset="-120"/>
                <a:ea typeface="微軟正黑體 Light" panose="020B0304030504040204" pitchFamily="34" charset="-120"/>
              </a:rPr>
              <a:t>vocab.json</a:t>
            </a:r>
          </a:p>
          <a:p>
            <a:r>
              <a:rPr lang="en-US" altLang="zh-TW" sz="600" dirty="0">
                <a:latin typeface="微軟正黑體 Light" panose="020B0304030504040204" pitchFamily="34" charset="-120"/>
                <a:ea typeface="微軟正黑體 Light" panose="020B0304030504040204" pitchFamily="34" charset="-120"/>
              </a:rPr>
              <a:t>merges.txt</a:t>
            </a:r>
          </a:p>
          <a:p>
            <a:r>
              <a:rPr lang="en-US" altLang="zh-TW" sz="600" dirty="0">
                <a:latin typeface="微軟正黑體 Light" panose="020B0304030504040204" pitchFamily="34" charset="-120"/>
                <a:ea typeface="微軟正黑體 Light" panose="020B0304030504040204" pitchFamily="34" charset="-120"/>
              </a:rPr>
              <a:t>tokenizer.json</a:t>
            </a:r>
          </a:p>
          <a:p>
            <a:r>
              <a:rPr lang="en-US" altLang="zh-TW" sz="600" dirty="0">
                <a:latin typeface="微軟正黑體 Light" panose="020B0304030504040204" pitchFamily="34" charset="-120"/>
                <a:ea typeface="微軟正黑體 Light" panose="020B0304030504040204" pitchFamily="34" charset="-120"/>
              </a:rPr>
              <a:t>special_tokens_map.json</a:t>
            </a:r>
          </a:p>
        </p:txBody>
      </p:sp>
      <p:sp>
        <p:nvSpPr>
          <p:cNvPr id="202" name="文字方塊 201">
            <a:extLst>
              <a:ext uri="{FF2B5EF4-FFF2-40B4-BE49-F238E27FC236}">
                <a16:creationId xmlns:a16="http://schemas.microsoft.com/office/drawing/2014/main" id="{86C78B19-240D-1AE5-CE33-34433538B3A6}"/>
              </a:ext>
            </a:extLst>
          </p:cNvPr>
          <p:cNvSpPr txBox="1"/>
          <p:nvPr/>
        </p:nvSpPr>
        <p:spPr>
          <a:xfrm>
            <a:off x="7788181" y="1164677"/>
            <a:ext cx="1212944" cy="369332"/>
          </a:xfrm>
          <a:prstGeom prst="rect">
            <a:avLst/>
          </a:prstGeom>
          <a:noFill/>
          <a:ln w="12700">
            <a:noFill/>
          </a:ln>
        </p:spPr>
        <p:txBody>
          <a:bodyPr wrap="square">
            <a:spAutoFit/>
          </a:bodyPr>
          <a:lstStyle/>
          <a:p>
            <a:r>
              <a:rPr lang="zh-TW" altLang="zh-TW" sz="600" dirty="0">
                <a:latin typeface="微軟正黑體 Light" panose="020B0304030504040204" pitchFamily="34" charset="-120"/>
                <a:ea typeface="微軟正黑體 Light" panose="020B0304030504040204" pitchFamily="34" charset="-120"/>
              </a:rPr>
              <a:t>README.md</a:t>
            </a:r>
            <a:endParaRPr lang="en-US" altLang="zh-TW" sz="600" dirty="0">
              <a:latin typeface="微軟正黑體 Light" panose="020B0304030504040204" pitchFamily="34" charset="-120"/>
              <a:ea typeface="微軟正黑體 Light" panose="020B0304030504040204" pitchFamily="34" charset="-120"/>
            </a:endParaRPr>
          </a:p>
          <a:p>
            <a:r>
              <a:rPr lang="zh-TW" altLang="zh-TW" sz="600" dirty="0">
                <a:solidFill>
                  <a:srgbClr val="FF0000"/>
                </a:solidFill>
                <a:latin typeface="微軟正黑體 Light" panose="020B0304030504040204" pitchFamily="34" charset="-120"/>
                <a:ea typeface="微軟正黑體 Light" panose="020B0304030504040204" pitchFamily="34" charset="-120"/>
              </a:rPr>
              <a:t>train-00000-of-00001.parquet</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solidFill>
                  <a:srgbClr val="FF0000"/>
                </a:solidFill>
                <a:latin typeface="微軟正黑體 Light" panose="020B0304030504040204" pitchFamily="34" charset="-120"/>
                <a:ea typeface="微軟正黑體 Light" panose="020B0304030504040204" pitchFamily="34" charset="-120"/>
              </a:rPr>
              <a:t>test-00000-of-00001.parquet</a:t>
            </a:r>
            <a:endParaRPr lang="en-US" altLang="zh-TW" sz="600" dirty="0">
              <a:solidFill>
                <a:srgbClr val="FF0000"/>
              </a:solidFill>
              <a:latin typeface="微軟正黑體 Light" panose="020B0304030504040204" pitchFamily="34" charset="-120"/>
              <a:ea typeface="微軟正黑體 Light" panose="020B0304030504040204" pitchFamily="34" charset="-120"/>
            </a:endParaRPr>
          </a:p>
        </p:txBody>
      </p:sp>
      <p:sp>
        <p:nvSpPr>
          <p:cNvPr id="247" name="文字方塊 246">
            <a:extLst>
              <a:ext uri="{FF2B5EF4-FFF2-40B4-BE49-F238E27FC236}">
                <a16:creationId xmlns:a16="http://schemas.microsoft.com/office/drawing/2014/main" id="{A5C640EF-71D1-9954-00E7-1DCD265E0930}"/>
              </a:ext>
            </a:extLst>
          </p:cNvPr>
          <p:cNvSpPr txBox="1"/>
          <p:nvPr/>
        </p:nvSpPr>
        <p:spPr>
          <a:xfrm>
            <a:off x="253425" y="926707"/>
            <a:ext cx="1081211" cy="646331"/>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a:t>
            </a:r>
            <a:r>
              <a:rPr lang="zh-CN" altLang="en-US" sz="600" dirty="0">
                <a:latin typeface="微軟正黑體 Light" panose="020B0304030504040204" pitchFamily="34" charset="-120"/>
                <a:ea typeface="微軟正黑體 Light" panose="020B0304030504040204" pitchFamily="34" charset="-120"/>
              </a:rPr>
              <a:t>直接可使用得微調工具</a:t>
            </a:r>
            <a:r>
              <a:rPr lang="en-US" altLang="zh-CN" sz="600" dirty="0">
                <a:latin typeface="微軟正黑體 Light" panose="020B0304030504040204" pitchFamily="34" charset="-120"/>
                <a:ea typeface="微軟正黑體 Light" panose="020B0304030504040204" pitchFamily="34" charset="-120"/>
              </a:rPr>
              <a:t>]</a:t>
            </a:r>
            <a:r>
              <a:rPr lang="zh-TW" altLang="zh-TW" sz="600" dirty="0"/>
              <a:t> </a:t>
            </a:r>
            <a:br>
              <a:rPr lang="en-US" altLang="zh-TW" sz="600" dirty="0"/>
            </a:br>
            <a:r>
              <a:rPr lang="zh-TW" altLang="zh-TW" sz="600" dirty="0"/>
              <a:t>Axolotl </a:t>
            </a:r>
            <a:endParaRPr lang="en-US" altLang="zh-TW" sz="600" dirty="0"/>
          </a:p>
          <a:p>
            <a:r>
              <a:rPr lang="zh-TW" altLang="zh-TW" sz="600" dirty="0">
                <a:solidFill>
                  <a:srgbClr val="FF0000"/>
                </a:solidFill>
              </a:rPr>
              <a:t>LLaMA Factory</a:t>
            </a:r>
            <a:endParaRPr lang="en-US" altLang="zh-TW" sz="600" dirty="0">
              <a:solidFill>
                <a:srgbClr val="FF0000"/>
              </a:solidFill>
            </a:endParaRPr>
          </a:p>
          <a:p>
            <a:r>
              <a:rPr lang="zh-TW" altLang="zh-TW" sz="600" dirty="0"/>
              <a:t>Unsloth </a:t>
            </a:r>
            <a:endParaRPr lang="en-US" altLang="zh-TW" sz="600" dirty="0"/>
          </a:p>
          <a:p>
            <a:r>
              <a:rPr lang="zh-TW" altLang="zh-TW" sz="600" dirty="0"/>
              <a:t>Torchtune </a:t>
            </a:r>
            <a:endParaRPr lang="en-US" altLang="zh-TW" sz="600" dirty="0"/>
          </a:p>
          <a:p>
            <a:r>
              <a:rPr lang="zh-TW" altLang="zh-TW" sz="600" dirty="0"/>
              <a:t>ModelScope SWIFT</a:t>
            </a:r>
          </a:p>
        </p:txBody>
      </p:sp>
      <p:sp>
        <p:nvSpPr>
          <p:cNvPr id="252" name="矩形 251">
            <a:extLst>
              <a:ext uri="{FF2B5EF4-FFF2-40B4-BE49-F238E27FC236}">
                <a16:creationId xmlns:a16="http://schemas.microsoft.com/office/drawing/2014/main" id="{9A6FC049-1187-D7E5-0630-C64F63C4816F}"/>
              </a:ext>
            </a:extLst>
          </p:cNvPr>
          <p:cNvSpPr/>
          <p:nvPr/>
        </p:nvSpPr>
        <p:spPr>
          <a:xfrm>
            <a:off x="1990764" y="514305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750" dirty="0">
                <a:latin typeface="微軟正黑體 Light" panose="020B0304030504040204" pitchFamily="34" charset="-120"/>
                <a:ea typeface="微軟正黑體 Light" panose="020B0304030504040204" pitchFamily="34" charset="-120"/>
              </a:rPr>
              <a:t>S</a:t>
            </a:r>
            <a:r>
              <a:rPr lang="zh-TW" altLang="zh-TW" sz="750" dirty="0">
                <a:latin typeface="微軟正黑體 Light" panose="020B0304030504040204" pitchFamily="34" charset="-120"/>
                <a:ea typeface="微軟正黑體 Light" panose="020B0304030504040204" pitchFamily="34" charset="-120"/>
              </a:rPr>
              <a:t>afetensors</a:t>
            </a:r>
            <a:endParaRPr lang="zh-TW" altLang="en-US" sz="750" dirty="0">
              <a:latin typeface="微軟正黑體 Light" panose="020B0304030504040204" pitchFamily="34" charset="-120"/>
              <a:ea typeface="微軟正黑體 Light" panose="020B0304030504040204" pitchFamily="34" charset="-120"/>
            </a:endParaRPr>
          </a:p>
        </p:txBody>
      </p:sp>
      <p:sp>
        <p:nvSpPr>
          <p:cNvPr id="258" name="矩形 257">
            <a:extLst>
              <a:ext uri="{FF2B5EF4-FFF2-40B4-BE49-F238E27FC236}">
                <a16:creationId xmlns:a16="http://schemas.microsoft.com/office/drawing/2014/main" id="{1ADAF727-5FDF-2842-C7DB-D8C277D46F95}"/>
              </a:ext>
            </a:extLst>
          </p:cNvPr>
          <p:cNvSpPr/>
          <p:nvPr/>
        </p:nvSpPr>
        <p:spPr>
          <a:xfrm>
            <a:off x="6935619" y="5139160"/>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GGUF</a:t>
            </a:r>
            <a:endParaRPr lang="zh-TW" altLang="en-US" sz="750" dirty="0">
              <a:latin typeface="微軟正黑體 Light" panose="020B0304030504040204" pitchFamily="34" charset="-120"/>
              <a:ea typeface="微軟正黑體 Light" panose="020B0304030504040204" pitchFamily="34" charset="-120"/>
            </a:endParaRPr>
          </a:p>
        </p:txBody>
      </p:sp>
      <p:sp>
        <p:nvSpPr>
          <p:cNvPr id="260" name="矩形 259">
            <a:extLst>
              <a:ext uri="{FF2B5EF4-FFF2-40B4-BE49-F238E27FC236}">
                <a16:creationId xmlns:a16="http://schemas.microsoft.com/office/drawing/2014/main" id="{231D6C02-3483-2589-2E13-924E757F37B9}"/>
              </a:ext>
            </a:extLst>
          </p:cNvPr>
          <p:cNvSpPr/>
          <p:nvPr/>
        </p:nvSpPr>
        <p:spPr>
          <a:xfrm>
            <a:off x="5155490" y="513456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MLX</a:t>
            </a:r>
            <a:endParaRPr lang="zh-TW" altLang="en-US" sz="750" dirty="0">
              <a:latin typeface="微軟正黑體 Light" panose="020B0304030504040204" pitchFamily="34" charset="-120"/>
              <a:ea typeface="微軟正黑體 Light" panose="020B0304030504040204" pitchFamily="34" charset="-120"/>
            </a:endParaRPr>
          </a:p>
        </p:txBody>
      </p:sp>
      <p:sp>
        <p:nvSpPr>
          <p:cNvPr id="262" name="矩形 261">
            <a:extLst>
              <a:ext uri="{FF2B5EF4-FFF2-40B4-BE49-F238E27FC236}">
                <a16:creationId xmlns:a16="http://schemas.microsoft.com/office/drawing/2014/main" id="{B2B955B9-2D46-C93F-B50E-EFFFE9188B34}"/>
              </a:ext>
            </a:extLst>
          </p:cNvPr>
          <p:cNvSpPr/>
          <p:nvPr/>
        </p:nvSpPr>
        <p:spPr>
          <a:xfrm>
            <a:off x="3395131" y="514177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750" dirty="0">
                <a:latin typeface="微軟正黑體 Light" panose="020B0304030504040204" pitchFamily="34" charset="-120"/>
                <a:ea typeface="微軟正黑體 Light" panose="020B0304030504040204" pitchFamily="34" charset="-120"/>
              </a:rPr>
              <a:t>ONNX</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265" name="接點: 肘形 264">
            <a:extLst>
              <a:ext uri="{FF2B5EF4-FFF2-40B4-BE49-F238E27FC236}">
                <a16:creationId xmlns:a16="http://schemas.microsoft.com/office/drawing/2014/main" id="{42D552B2-437C-65F9-520E-189C69CC693A}"/>
              </a:ext>
            </a:extLst>
          </p:cNvPr>
          <p:cNvCxnSpPr>
            <a:cxnSpLocks/>
            <a:stCxn id="26" idx="2"/>
            <a:endCxn id="252" idx="0"/>
          </p:cNvCxnSpPr>
          <p:nvPr/>
        </p:nvCxnSpPr>
        <p:spPr>
          <a:xfrm rot="5400000">
            <a:off x="3428842" y="3610922"/>
            <a:ext cx="520336" cy="2543928"/>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68" name="接點: 肘形 267">
            <a:extLst>
              <a:ext uri="{FF2B5EF4-FFF2-40B4-BE49-F238E27FC236}">
                <a16:creationId xmlns:a16="http://schemas.microsoft.com/office/drawing/2014/main" id="{0D4B1183-3F84-40E9-3BF3-22D2AECBA622}"/>
              </a:ext>
            </a:extLst>
          </p:cNvPr>
          <p:cNvCxnSpPr>
            <a:cxnSpLocks/>
            <a:stCxn id="26" idx="2"/>
            <a:endCxn id="258" idx="0"/>
          </p:cNvCxnSpPr>
          <p:nvPr/>
        </p:nvCxnSpPr>
        <p:spPr>
          <a:xfrm rot="16200000" flipH="1">
            <a:off x="5903217" y="3680476"/>
            <a:ext cx="516442" cy="2400927"/>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72" name="接點: 肘形 271">
            <a:extLst>
              <a:ext uri="{FF2B5EF4-FFF2-40B4-BE49-F238E27FC236}">
                <a16:creationId xmlns:a16="http://schemas.microsoft.com/office/drawing/2014/main" id="{68D0530A-C47E-1270-2FAA-27D23EC81278}"/>
              </a:ext>
            </a:extLst>
          </p:cNvPr>
          <p:cNvCxnSpPr>
            <a:cxnSpLocks/>
            <a:stCxn id="26" idx="2"/>
            <a:endCxn id="260" idx="0"/>
          </p:cNvCxnSpPr>
          <p:nvPr/>
        </p:nvCxnSpPr>
        <p:spPr>
          <a:xfrm rot="16200000" flipH="1">
            <a:off x="5015450" y="4568242"/>
            <a:ext cx="511846" cy="620798"/>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75" name="接點: 肘形 274">
            <a:extLst>
              <a:ext uri="{FF2B5EF4-FFF2-40B4-BE49-F238E27FC236}">
                <a16:creationId xmlns:a16="http://schemas.microsoft.com/office/drawing/2014/main" id="{19DE8891-6873-FDD2-E2BA-E7D41F288E63}"/>
              </a:ext>
            </a:extLst>
          </p:cNvPr>
          <p:cNvCxnSpPr>
            <a:cxnSpLocks/>
            <a:stCxn id="26" idx="2"/>
            <a:endCxn id="262" idx="0"/>
          </p:cNvCxnSpPr>
          <p:nvPr/>
        </p:nvCxnSpPr>
        <p:spPr>
          <a:xfrm rot="5400000">
            <a:off x="4131665" y="4312467"/>
            <a:ext cx="519056" cy="1139561"/>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283" name="文字方塊 282">
            <a:extLst>
              <a:ext uri="{FF2B5EF4-FFF2-40B4-BE49-F238E27FC236}">
                <a16:creationId xmlns:a16="http://schemas.microsoft.com/office/drawing/2014/main" id="{E73DAF14-0EDE-066F-1C03-22F3F7D00913}"/>
              </a:ext>
            </a:extLst>
          </p:cNvPr>
          <p:cNvSpPr txBox="1"/>
          <p:nvPr/>
        </p:nvSpPr>
        <p:spPr>
          <a:xfrm>
            <a:off x="1942286" y="5279398"/>
            <a:ext cx="852563" cy="276999"/>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 vLLM</a:t>
            </a:r>
            <a:br>
              <a:rPr lang="en-US" altLang="zh-CN" sz="600" dirty="0">
                <a:latin typeface="微軟正黑體 Light" panose="020B0304030504040204" pitchFamily="34" charset="-120"/>
                <a:ea typeface="微軟正黑體 Light" panose="020B0304030504040204" pitchFamily="34" charset="-120"/>
              </a:rPr>
            </a:br>
            <a:r>
              <a:rPr lang="en-US" altLang="zh-CN" sz="600" dirty="0">
                <a:latin typeface="微軟正黑體 Light" panose="020B0304030504040204" pitchFamily="34" charset="-120"/>
                <a:ea typeface="微軟正黑體 Light" panose="020B0304030504040204" pitchFamily="34" charset="-120"/>
              </a:rPr>
              <a:t> TGI </a:t>
            </a:r>
            <a:endParaRPr lang="zh-TW" altLang="zh-TW" sz="600" dirty="0">
              <a:latin typeface="微軟正黑體 Light" panose="020B0304030504040204" pitchFamily="34" charset="-120"/>
              <a:ea typeface="微軟正黑體 Light" panose="020B0304030504040204" pitchFamily="34" charset="-120"/>
            </a:endParaRPr>
          </a:p>
        </p:txBody>
      </p:sp>
      <p:sp>
        <p:nvSpPr>
          <p:cNvPr id="285" name="文字方塊 284">
            <a:extLst>
              <a:ext uri="{FF2B5EF4-FFF2-40B4-BE49-F238E27FC236}">
                <a16:creationId xmlns:a16="http://schemas.microsoft.com/office/drawing/2014/main" id="{FD0685BF-B94F-4A9B-9E8A-4034E88D406B}"/>
              </a:ext>
            </a:extLst>
          </p:cNvPr>
          <p:cNvSpPr txBox="1"/>
          <p:nvPr/>
        </p:nvSpPr>
        <p:spPr>
          <a:xfrm>
            <a:off x="6952602" y="5249248"/>
            <a:ext cx="852563" cy="276999"/>
          </a:xfrm>
          <a:prstGeom prst="rect">
            <a:avLst/>
          </a:prstGeom>
          <a:noFill/>
          <a:ln w="12700">
            <a:noFill/>
          </a:ln>
        </p:spPr>
        <p:txBody>
          <a:bodyPr wrap="square">
            <a:spAutoFit/>
          </a:bodyPr>
          <a:lstStyle/>
          <a:p>
            <a:r>
              <a:rPr lang="en-US" altLang="zh-CN" sz="600" dirty="0">
                <a:solidFill>
                  <a:srgbClr val="FF0000"/>
                </a:solidFill>
                <a:latin typeface="微軟正黑體 Light" panose="020B0304030504040204" pitchFamily="34" charset="-120"/>
                <a:ea typeface="微軟正黑體 Light" panose="020B0304030504040204" pitchFamily="34" charset="-120"/>
              </a:rPr>
              <a:t> Ollama </a:t>
            </a:r>
            <a:br>
              <a:rPr lang="en-US" altLang="zh-CN" sz="600" dirty="0">
                <a:latin typeface="微軟正黑體 Light" panose="020B0304030504040204" pitchFamily="34" charset="-120"/>
                <a:ea typeface="微軟正黑體 Light" panose="020B0304030504040204" pitchFamily="34" charset="-120"/>
              </a:rPr>
            </a:br>
            <a:r>
              <a:rPr lang="en-US" altLang="zh-CN" sz="600" dirty="0">
                <a:latin typeface="微軟正黑體 Light" panose="020B0304030504040204" pitchFamily="34" charset="-120"/>
                <a:ea typeface="微軟正黑體 Light" panose="020B0304030504040204" pitchFamily="34" charset="-120"/>
              </a:rPr>
              <a:t> TGI </a:t>
            </a:r>
            <a:endParaRPr lang="zh-TW" altLang="zh-TW" sz="600" dirty="0">
              <a:latin typeface="微軟正黑體 Light" panose="020B0304030504040204" pitchFamily="34" charset="-120"/>
              <a:ea typeface="微軟正黑體 Light" panose="020B0304030504040204" pitchFamily="34" charset="-120"/>
            </a:endParaRPr>
          </a:p>
        </p:txBody>
      </p:sp>
      <p:sp>
        <p:nvSpPr>
          <p:cNvPr id="287" name="文字方塊 286">
            <a:extLst>
              <a:ext uri="{FF2B5EF4-FFF2-40B4-BE49-F238E27FC236}">
                <a16:creationId xmlns:a16="http://schemas.microsoft.com/office/drawing/2014/main" id="{4B269E56-C728-6787-8E81-1981A87157F9}"/>
              </a:ext>
            </a:extLst>
          </p:cNvPr>
          <p:cNvSpPr txBox="1"/>
          <p:nvPr/>
        </p:nvSpPr>
        <p:spPr>
          <a:xfrm>
            <a:off x="5137010" y="5300545"/>
            <a:ext cx="852563" cy="276999"/>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mlx-lm</a:t>
            </a:r>
          </a:p>
          <a:p>
            <a:r>
              <a:rPr lang="en-US" altLang="zh-TW" sz="600" dirty="0">
                <a:latin typeface="微軟正黑體 Light" panose="020B0304030504040204" pitchFamily="34" charset="-120"/>
                <a:ea typeface="微軟正黑體 Light" panose="020B0304030504040204" pitchFamily="34" charset="-120"/>
              </a:rPr>
              <a:t>LLM Farm </a:t>
            </a:r>
            <a:endParaRPr lang="zh-TW" altLang="zh-TW" sz="600" dirty="0">
              <a:latin typeface="微軟正黑體 Light" panose="020B0304030504040204" pitchFamily="34" charset="-120"/>
              <a:ea typeface="微軟正黑體 Light" panose="020B0304030504040204" pitchFamily="34" charset="-120"/>
            </a:endParaRPr>
          </a:p>
        </p:txBody>
      </p:sp>
      <p:sp>
        <p:nvSpPr>
          <p:cNvPr id="289" name="文字方塊 288">
            <a:extLst>
              <a:ext uri="{FF2B5EF4-FFF2-40B4-BE49-F238E27FC236}">
                <a16:creationId xmlns:a16="http://schemas.microsoft.com/office/drawing/2014/main" id="{2941C4EB-ADCA-39E4-0A07-CA423DBA4878}"/>
              </a:ext>
            </a:extLst>
          </p:cNvPr>
          <p:cNvSpPr txBox="1"/>
          <p:nvPr/>
        </p:nvSpPr>
        <p:spPr>
          <a:xfrm>
            <a:off x="3495632" y="5270701"/>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ONNX Runtime </a:t>
            </a:r>
            <a:endParaRPr lang="zh-TW" altLang="zh-TW" sz="600" dirty="0">
              <a:latin typeface="微軟正黑體 Light" panose="020B0304030504040204" pitchFamily="34" charset="-120"/>
              <a:ea typeface="微軟正黑體 Light" panose="020B0304030504040204" pitchFamily="34" charset="-120"/>
            </a:endParaRPr>
          </a:p>
        </p:txBody>
      </p:sp>
      <p:sp>
        <p:nvSpPr>
          <p:cNvPr id="291" name="文字方塊 290">
            <a:extLst>
              <a:ext uri="{FF2B5EF4-FFF2-40B4-BE49-F238E27FC236}">
                <a16:creationId xmlns:a16="http://schemas.microsoft.com/office/drawing/2014/main" id="{38A2098C-65B1-BAEA-F313-AF7DEA58FB71}"/>
              </a:ext>
            </a:extLst>
          </p:cNvPr>
          <p:cNvSpPr txBox="1"/>
          <p:nvPr/>
        </p:nvSpPr>
        <p:spPr>
          <a:xfrm>
            <a:off x="1980422" y="5506129"/>
            <a:ext cx="852563" cy="184666"/>
          </a:xfrm>
          <a:prstGeom prst="rect">
            <a:avLst/>
          </a:prstGeom>
          <a:noFill/>
          <a:ln w="12700">
            <a:noFill/>
          </a:ln>
        </p:spPr>
        <p:txBody>
          <a:bodyPr wrap="square">
            <a:spAutoFit/>
          </a:bodyPr>
          <a:lstStyle/>
          <a:p>
            <a:r>
              <a:rPr lang="zh-CN" altLang="en-US" sz="600" dirty="0">
                <a:latin typeface="微軟正黑體 Light" panose="020B0304030504040204" pitchFamily="34" charset="-120"/>
                <a:ea typeface="微軟正黑體 Light" panose="020B0304030504040204" pitchFamily="34" charset="-120"/>
              </a:rPr>
              <a:t>雲端、開發階段</a:t>
            </a:r>
            <a:endParaRPr lang="zh-TW" altLang="zh-TW" sz="600" dirty="0">
              <a:latin typeface="微軟正黑體 Light" panose="020B0304030504040204" pitchFamily="34" charset="-120"/>
              <a:ea typeface="微軟正黑體 Light" panose="020B0304030504040204" pitchFamily="34" charset="-120"/>
            </a:endParaRPr>
          </a:p>
        </p:txBody>
      </p:sp>
      <p:sp>
        <p:nvSpPr>
          <p:cNvPr id="293" name="文字方塊 292">
            <a:extLst>
              <a:ext uri="{FF2B5EF4-FFF2-40B4-BE49-F238E27FC236}">
                <a16:creationId xmlns:a16="http://schemas.microsoft.com/office/drawing/2014/main" id="{F156262B-FBDE-F4B9-3888-D43495A0DCCB}"/>
              </a:ext>
            </a:extLst>
          </p:cNvPr>
          <p:cNvSpPr txBox="1"/>
          <p:nvPr/>
        </p:nvSpPr>
        <p:spPr>
          <a:xfrm>
            <a:off x="7056293" y="5489959"/>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pc</a:t>
            </a:r>
            <a:r>
              <a:rPr lang="zh-CN" altLang="en-US" sz="600" dirty="0">
                <a:latin typeface="微軟正黑體 Light" panose="020B0304030504040204" pitchFamily="34" charset="-120"/>
                <a:ea typeface="微軟正黑體 Light" panose="020B0304030504040204" pitchFamily="34" charset="-120"/>
              </a:rPr>
              <a:t>邊緣端</a:t>
            </a:r>
            <a:endParaRPr lang="zh-TW" altLang="zh-TW" sz="600" dirty="0">
              <a:latin typeface="微軟正黑體 Light" panose="020B0304030504040204" pitchFamily="34" charset="-120"/>
              <a:ea typeface="微軟正黑體 Light" panose="020B0304030504040204" pitchFamily="34" charset="-120"/>
            </a:endParaRPr>
          </a:p>
        </p:txBody>
      </p:sp>
      <p:sp>
        <p:nvSpPr>
          <p:cNvPr id="295" name="文字方塊 294">
            <a:extLst>
              <a:ext uri="{FF2B5EF4-FFF2-40B4-BE49-F238E27FC236}">
                <a16:creationId xmlns:a16="http://schemas.microsoft.com/office/drawing/2014/main" id="{43DD308C-3610-EE5B-A0AC-865CAC18D067}"/>
              </a:ext>
            </a:extLst>
          </p:cNvPr>
          <p:cNvSpPr txBox="1"/>
          <p:nvPr/>
        </p:nvSpPr>
        <p:spPr>
          <a:xfrm>
            <a:off x="5213282" y="5533312"/>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mac</a:t>
            </a:r>
            <a:r>
              <a:rPr lang="zh-CN" altLang="en-US" sz="600" dirty="0">
                <a:latin typeface="微軟正黑體 Light" panose="020B0304030504040204" pitchFamily="34" charset="-120"/>
                <a:ea typeface="微軟正黑體 Light" panose="020B0304030504040204" pitchFamily="34" charset="-120"/>
              </a:rPr>
              <a:t>邊緣端</a:t>
            </a:r>
            <a:endParaRPr lang="zh-TW" altLang="zh-TW" sz="600" dirty="0">
              <a:latin typeface="微軟正黑體 Light" panose="020B0304030504040204" pitchFamily="34" charset="-120"/>
              <a:ea typeface="微軟正黑體 Light" panose="020B0304030504040204" pitchFamily="34" charset="-120"/>
            </a:endParaRPr>
          </a:p>
        </p:txBody>
      </p:sp>
      <p:sp>
        <p:nvSpPr>
          <p:cNvPr id="297" name="文字方塊 296">
            <a:extLst>
              <a:ext uri="{FF2B5EF4-FFF2-40B4-BE49-F238E27FC236}">
                <a16:creationId xmlns:a16="http://schemas.microsoft.com/office/drawing/2014/main" id="{8AB96CAE-778C-04C3-758E-EA80F7D02DEC}"/>
              </a:ext>
            </a:extLst>
          </p:cNvPr>
          <p:cNvSpPr txBox="1"/>
          <p:nvPr/>
        </p:nvSpPr>
        <p:spPr>
          <a:xfrm>
            <a:off x="3648084" y="5510651"/>
            <a:ext cx="852563" cy="184666"/>
          </a:xfrm>
          <a:prstGeom prst="rect">
            <a:avLst/>
          </a:prstGeom>
          <a:noFill/>
          <a:ln w="12700">
            <a:noFill/>
          </a:ln>
        </p:spPr>
        <p:txBody>
          <a:bodyPr wrap="square">
            <a:spAutoFit/>
          </a:bodyPr>
          <a:lstStyle/>
          <a:p>
            <a:r>
              <a:rPr lang="zh-TW" altLang="en-US" sz="600" dirty="0">
                <a:latin typeface="微軟正黑體 Light" panose="020B0304030504040204" pitchFamily="34" charset="-120"/>
                <a:ea typeface="微軟正黑體 Light" panose="020B0304030504040204" pitchFamily="34" charset="-120"/>
              </a:rPr>
              <a:t>跨平台</a:t>
            </a:r>
            <a:endParaRPr lang="zh-TW" altLang="zh-TW" sz="600" dirty="0">
              <a:latin typeface="微軟正黑體 Light" panose="020B0304030504040204" pitchFamily="34" charset="-120"/>
              <a:ea typeface="微軟正黑體 Light" panose="020B0304030504040204" pitchFamily="34" charset="-120"/>
            </a:endParaRPr>
          </a:p>
        </p:txBody>
      </p:sp>
      <p:pic>
        <p:nvPicPr>
          <p:cNvPr id="299" name="圖片 298">
            <a:extLst>
              <a:ext uri="{FF2B5EF4-FFF2-40B4-BE49-F238E27FC236}">
                <a16:creationId xmlns:a16="http://schemas.microsoft.com/office/drawing/2014/main" id="{3068F5DA-67C4-16D0-25EA-B8EC477900A9}"/>
              </a:ext>
            </a:extLst>
          </p:cNvPr>
          <p:cNvPicPr>
            <a:picLocks noChangeAspect="1"/>
          </p:cNvPicPr>
          <p:nvPr/>
        </p:nvPicPr>
        <p:blipFill>
          <a:blip r:embed="rId6"/>
          <a:stretch>
            <a:fillRect/>
          </a:stretch>
        </p:blipFill>
        <p:spPr>
          <a:xfrm>
            <a:off x="3768385" y="3408287"/>
            <a:ext cx="619157" cy="90492"/>
          </a:xfrm>
          <a:prstGeom prst="rect">
            <a:avLst/>
          </a:prstGeom>
        </p:spPr>
      </p:pic>
      <p:pic>
        <p:nvPicPr>
          <p:cNvPr id="301" name="圖片 300">
            <a:extLst>
              <a:ext uri="{FF2B5EF4-FFF2-40B4-BE49-F238E27FC236}">
                <a16:creationId xmlns:a16="http://schemas.microsoft.com/office/drawing/2014/main" id="{10C7C000-FE46-F822-B7E7-CAB6A7324674}"/>
              </a:ext>
            </a:extLst>
          </p:cNvPr>
          <p:cNvPicPr>
            <a:picLocks noChangeAspect="1"/>
          </p:cNvPicPr>
          <p:nvPr/>
        </p:nvPicPr>
        <p:blipFill>
          <a:blip r:embed="rId7"/>
          <a:stretch>
            <a:fillRect/>
          </a:stretch>
        </p:blipFill>
        <p:spPr>
          <a:xfrm>
            <a:off x="3847853" y="4182410"/>
            <a:ext cx="519140" cy="133357"/>
          </a:xfrm>
          <a:prstGeom prst="rect">
            <a:avLst/>
          </a:prstGeom>
        </p:spPr>
      </p:pic>
      <p:pic>
        <p:nvPicPr>
          <p:cNvPr id="303" name="圖片 302">
            <a:extLst>
              <a:ext uri="{FF2B5EF4-FFF2-40B4-BE49-F238E27FC236}">
                <a16:creationId xmlns:a16="http://schemas.microsoft.com/office/drawing/2014/main" id="{92A525C8-3860-AAFC-0292-5954D4D603D8}"/>
              </a:ext>
            </a:extLst>
          </p:cNvPr>
          <p:cNvPicPr>
            <a:picLocks noChangeAspect="1"/>
          </p:cNvPicPr>
          <p:nvPr/>
        </p:nvPicPr>
        <p:blipFill>
          <a:blip r:embed="rId8"/>
          <a:stretch>
            <a:fillRect/>
          </a:stretch>
        </p:blipFill>
        <p:spPr>
          <a:xfrm>
            <a:off x="1144584" y="4582336"/>
            <a:ext cx="1519316" cy="190510"/>
          </a:xfrm>
          <a:prstGeom prst="rect">
            <a:avLst/>
          </a:prstGeom>
        </p:spPr>
      </p:pic>
      <p:pic>
        <p:nvPicPr>
          <p:cNvPr id="309" name="圖片 308">
            <a:extLst>
              <a:ext uri="{FF2B5EF4-FFF2-40B4-BE49-F238E27FC236}">
                <a16:creationId xmlns:a16="http://schemas.microsoft.com/office/drawing/2014/main" id="{53B8548D-F084-A213-2F4D-C298EC54CB47}"/>
              </a:ext>
            </a:extLst>
          </p:cNvPr>
          <p:cNvPicPr>
            <a:picLocks noChangeAspect="1"/>
          </p:cNvPicPr>
          <p:nvPr/>
        </p:nvPicPr>
        <p:blipFill>
          <a:blip r:embed="rId9"/>
          <a:stretch>
            <a:fillRect/>
          </a:stretch>
        </p:blipFill>
        <p:spPr>
          <a:xfrm>
            <a:off x="6847244" y="4345355"/>
            <a:ext cx="1761549" cy="463336"/>
          </a:xfrm>
          <a:prstGeom prst="rect">
            <a:avLst/>
          </a:prstGeom>
        </p:spPr>
      </p:pic>
      <p:sp>
        <p:nvSpPr>
          <p:cNvPr id="350" name="文字方塊 349">
            <a:extLst>
              <a:ext uri="{FF2B5EF4-FFF2-40B4-BE49-F238E27FC236}">
                <a16:creationId xmlns:a16="http://schemas.microsoft.com/office/drawing/2014/main" id="{39FF7848-8229-04D6-551E-93C8BD91D235}"/>
              </a:ext>
            </a:extLst>
          </p:cNvPr>
          <p:cNvSpPr txBox="1"/>
          <p:nvPr/>
        </p:nvSpPr>
        <p:spPr>
          <a:xfrm>
            <a:off x="4937155" y="1108277"/>
            <a:ext cx="1217945" cy="363882"/>
          </a:xfrm>
          <a:prstGeom prst="rect">
            <a:avLst/>
          </a:prstGeom>
          <a:noFill/>
        </p:spPr>
        <p:txBody>
          <a:bodyPr wrap="square">
            <a:spAutoFit/>
          </a:bodyPr>
          <a:lstStyle/>
          <a:p>
            <a:pPr>
              <a:lnSpc>
                <a:spcPts val="1069"/>
              </a:lnSpc>
            </a:pPr>
            <a:r>
              <a:rPr lang="zh-TW" altLang="zh-TW" sz="750" dirty="0">
                <a:solidFill>
                  <a:srgbClr val="CE9178"/>
                </a:solidFill>
                <a:latin typeface="Consolas" panose="020B0609020204030204" pitchFamily="49" charset="0"/>
              </a:rPr>
              <a:t>gemma-4-E2B-it</a:t>
            </a:r>
            <a:r>
              <a:rPr lang="en-US" altLang="zh-TW" sz="750" dirty="0">
                <a:solidFill>
                  <a:srgbClr val="CE9178"/>
                </a:solidFill>
                <a:latin typeface="Consolas" panose="020B0609020204030204" pitchFamily="49" charset="0"/>
              </a:rPr>
              <a:t> 10.2</a:t>
            </a:r>
            <a:r>
              <a:rPr lang="en-US" altLang="zh-CN" sz="750" dirty="0">
                <a:solidFill>
                  <a:srgbClr val="CE9178"/>
                </a:solidFill>
                <a:latin typeface="Consolas" panose="020B0609020204030204" pitchFamily="49" charset="0"/>
              </a:rPr>
              <a:t>G</a:t>
            </a:r>
            <a:endParaRPr lang="zh-TW" altLang="zh-TW" sz="750" dirty="0">
              <a:solidFill>
                <a:srgbClr val="CCCCCC"/>
              </a:solidFill>
              <a:latin typeface="Consolas" panose="020B0609020204030204" pitchFamily="49" charset="0"/>
            </a:endParaRPr>
          </a:p>
        </p:txBody>
      </p:sp>
    </p:spTree>
    <p:extLst>
      <p:ext uri="{BB962C8B-B14F-4D97-AF65-F5344CB8AC3E}">
        <p14:creationId xmlns:p14="http://schemas.microsoft.com/office/powerpoint/2010/main" val="24906059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Defaul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alpha val="70000"/>
          </a:schemeClr>
        </a:solidFill>
        <a:ln w="12700">
          <a:solidFill>
            <a:schemeClr val="bg1">
              <a:lumMod val="7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簡報1" id="{3349570C-DE3B-48BB-8671-1853FC12C45D}" vid="{424F00FA-23EC-402E-8D8B-A6A8EB04865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TM02900688[[fn=多面向]]</Template>
  <TotalTime>1294</TotalTime>
  <Words>18449</Words>
  <Application>Microsoft Office PowerPoint</Application>
  <PresentationFormat>如螢幕大小 (4:3)</PresentationFormat>
  <Paragraphs>2662</Paragraphs>
  <Slides>48</Slides>
  <Notes>39</Notes>
  <HiddenSlides>7</HiddenSlides>
  <MMClips>0</MMClips>
  <ScaleCrop>false</ScaleCrop>
  <HeadingPairs>
    <vt:vector size="6" baseType="variant">
      <vt:variant>
        <vt:lpstr>使用字型</vt:lpstr>
      </vt:variant>
      <vt:variant>
        <vt:i4>17</vt:i4>
      </vt:variant>
      <vt:variant>
        <vt:lpstr>佈景主題</vt:lpstr>
      </vt:variant>
      <vt:variant>
        <vt:i4>1</vt:i4>
      </vt:variant>
      <vt:variant>
        <vt:lpstr>投影片標題</vt:lpstr>
      </vt:variant>
      <vt:variant>
        <vt:i4>48</vt:i4>
      </vt:variant>
    </vt:vector>
  </HeadingPairs>
  <TitlesOfParts>
    <vt:vector size="66" baseType="lpstr">
      <vt:lpstr>Google Sans</vt:lpstr>
      <vt:lpstr>Meiryo</vt:lpstr>
      <vt:lpstr>Microsoft GothicNeo</vt:lpstr>
      <vt:lpstr>Microsoft YaHei Mono</vt:lpstr>
      <vt:lpstr>Noto Sans HK</vt:lpstr>
      <vt:lpstr>STXingkai</vt:lpstr>
      <vt:lpstr>微軟正黑體</vt:lpstr>
      <vt:lpstr>微軟正黑體 Light</vt:lpstr>
      <vt:lpstr>ADLaM Display</vt:lpstr>
      <vt:lpstr>Arial</vt:lpstr>
      <vt:lpstr>Calibri</vt:lpstr>
      <vt:lpstr>Cambria Math</vt:lpstr>
      <vt:lpstr>Comic Sans MS</vt:lpstr>
      <vt:lpstr>Consolas</vt:lpstr>
      <vt:lpstr>Courier New</vt:lpstr>
      <vt:lpstr>Gadugi</vt:lpstr>
      <vt:lpstr>Wingdings</vt:lpstr>
      <vt:lpstr>Default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Felix Tien(田慶豐)</dc:creator>
  <cp:lastModifiedBy>Allen Ni(倪士凱)</cp:lastModifiedBy>
  <cp:revision>1893</cp:revision>
  <cp:lastPrinted>2024-07-30T01:44:15Z</cp:lastPrinted>
  <dcterms:created xsi:type="dcterms:W3CDTF">2019-11-08T03:01:47Z</dcterms:created>
  <dcterms:modified xsi:type="dcterms:W3CDTF">2026-09-07T04:09:41Z</dcterms:modified>
</cp:coreProperties>
</file>