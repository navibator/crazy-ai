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3"/>
  </p:notesMasterIdLst>
  <p:handoutMasterIdLst>
    <p:handoutMasterId r:id="rId44"/>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489" r:id="rId35"/>
    <p:sldId id="3533"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 name="Edge AI" id="{53FF88DE-B3A4-42C9-8839-DDE9CA6AA9E3}">
          <p14:sldIdLst>
            <p14:sldId id="3531"/>
            <p14:sldId id="3499"/>
            <p14:sldId id="3444"/>
            <p14:sldId id="3532"/>
            <p14:sldId id="3520"/>
            <p14:sldId id="3518"/>
            <p14:sldId id="3475"/>
          </p14:sldIdLst>
        </p14:section>
        <p14:section name="Gemma" id="{4AE07F0F-1A3A-4225-AACF-3E87DCBDDC1F}">
          <p14:sldIdLst>
            <p14:sldId id="3527"/>
            <p14:sldId id="3515"/>
            <p14:sldId id="3528"/>
            <p14:sldId id="3514"/>
            <p14:sldId id="3529"/>
            <p14:sldId id="3489"/>
            <p14:sldId id="3533"/>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196" autoAdjust="0"/>
  </p:normalViewPr>
  <p:slideViewPr>
    <p:cSldViewPr>
      <p:cViewPr>
        <p:scale>
          <a:sx n="130" d="100"/>
          <a:sy n="130" d="100"/>
        </p:scale>
        <p:origin x="744" y="10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2026/7/31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2026/7/31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www.2cm.com.tw/2cm/zh-tw/market/0B0A1A53F59840AA83761E4A97E37E6B"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35133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41</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2026/7/31</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84.png"/><Relationship Id="rId7" Type="http://schemas.openxmlformats.org/officeDocument/2006/relationships/image" Target="../media/image68.png"/><Relationship Id="rId2" Type="http://schemas.openxmlformats.org/officeDocument/2006/relationships/image" Target="../media/image83.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85.png"/></Relationships>
</file>

<file path=ppt/slides/_rels/slide37.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4.xml"/><Relationship Id="rId5" Type="http://schemas.openxmlformats.org/officeDocument/2006/relationships/image" Target="../media/image89.png"/><Relationship Id="rId4" Type="http://schemas.openxmlformats.org/officeDocument/2006/relationships/image" Target="../media/image88.png"/></Relationships>
</file>

<file path=ppt/slides/_rels/slide3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93.png"/></Relationships>
</file>

<file path=ppt/slides/_rels/slide40.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5.png"/><Relationship Id="rId7" Type="http://schemas.openxmlformats.org/officeDocument/2006/relationships/image" Target="../media/image98.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97.png"/><Relationship Id="rId5" Type="http://schemas.openxmlformats.org/officeDocument/2006/relationships/image" Target="../media/image2300.png"/><Relationship Id="rId4" Type="http://schemas.openxmlformats.org/officeDocument/2006/relationships/image" Target="../media/image96.png"/></Relationships>
</file>

<file path=ppt/slides/_rels/slide41.xml.rels><?xml version="1.0" encoding="UTF-8" standalone="yes"?>
<Relationships xmlns="http://schemas.openxmlformats.org/package/2006/relationships"><Relationship Id="rId8" Type="http://schemas.openxmlformats.org/officeDocument/2006/relationships/image" Target="../media/image105.png"/><Relationship Id="rId3" Type="http://schemas.openxmlformats.org/officeDocument/2006/relationships/image" Target="../media/image100.png"/><Relationship Id="rId7" Type="http://schemas.openxmlformats.org/officeDocument/2006/relationships/image" Target="../media/image104.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101.png"/><Relationship Id="rId9" Type="http://schemas.openxmlformats.org/officeDocument/2006/relationships/image" Target="../media/image10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85361078"/>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3580833052"/>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60000"/>
            </a:schemeClr>
          </a:solidFill>
          <a:ln w="19050">
            <a:solidFill>
              <a:schemeClr val="bg2">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A7115C8-56FB-C1E8-48CB-42F4B251C3ED}"/>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A44451E-FF02-AF4A-2290-C616F7E8860B}"/>
              </a:ext>
            </a:extLst>
          </p:cNvPr>
          <p:cNvGraphicFramePr>
            <a:graphicFrameLocks noGrp="1"/>
          </p:cNvGraphicFramePr>
          <p:nvPr/>
        </p:nvGraphicFramePr>
        <p:xfrm>
          <a:off x="683568" y="1317641"/>
          <a:ext cx="7560839" cy="49684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l"/>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p>
                    <a:p>
                      <a:r>
                        <a:rPr lang="en-US" altLang="zh-TW" sz="1200" b="0" cap="none" spc="0" dirty="0">
                          <a:ln w="0"/>
                          <a:solidFill>
                            <a:schemeClr val="tx1"/>
                          </a:solidFill>
                          <a:effectLst/>
                        </a:rPr>
                        <a:t>Preview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Cloud-based</a:t>
                      </a:r>
                    </a:p>
                    <a:p>
                      <a:r>
                        <a:rPr lang="en-US" altLang="zh-TW" sz="1200" b="0" cap="none" spc="0" dirty="0">
                          <a:ln w="0"/>
                          <a:solidFill>
                            <a:schemeClr val="tx1"/>
                          </a:solidFill>
                          <a:effectLst/>
                        </a:rPr>
                        <a:t>Closed source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96.2%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目前最強的雲端閉源模型之一</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l"/>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zh-TW" sz="1100" b="0" dirty="0">
                          <a:latin typeface="微軟正黑體" panose="020B0604030504040204" pitchFamily="34" charset="-120"/>
                          <a:ea typeface="微軟正黑體" panose="020B0604030504040204" pitchFamily="34" charset="-120"/>
                        </a:rPr>
                        <a:t>高速推理的頂級代表</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l"/>
                      <a:r>
                        <a:rPr lang="en-US" altLang="zh-TW" sz="1200" b="0" cap="none" spc="0" dirty="0">
                          <a:ln w="0"/>
                          <a:solidFill>
                            <a:schemeClr val="tx1"/>
                          </a:solidFill>
                          <a:effectLst/>
                        </a:rPr>
                        <a:t>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3.8B/25.2B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開源模型</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極省電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(24GB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l"/>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a:t>
                      </a:r>
                      <a:r>
                        <a:rPr lang="zh-TW" altLang="en-US" sz="1200" b="0" cap="none" spc="0" dirty="0">
                          <a:ln w="0"/>
                          <a:solidFill>
                            <a:schemeClr val="tx1"/>
                          </a:solidFill>
                          <a:effectLst/>
                        </a:rPr>
                        <a:t> </a:t>
                      </a:r>
                      <a:r>
                        <a:rPr lang="en-US" altLang="zh-TW" sz="1200" b="0" cap="none" spc="0" dirty="0">
                          <a:ln w="0"/>
                          <a:solidFill>
                            <a:schemeClr val="tx1"/>
                          </a:solidFill>
                          <a:effectLst/>
                        </a:rPr>
                        <a:t>GPT-5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的主力旗艦模型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l"/>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具備深度思考推理</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(Reasoning)</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能力</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l"/>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o4-mini</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輕量化推理模型的代表</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l"/>
                      <a:r>
                        <a:rPr lang="en-US" altLang="zh-TW" sz="1200" b="0" cap="none" spc="0" dirty="0">
                          <a:ln w="0"/>
                          <a:solidFill>
                            <a:schemeClr val="tx1"/>
                          </a:solidFill>
                          <a:effectLst/>
                        </a:rPr>
                        <a:t>7_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51B/685B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89.6%~73%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Local 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l"/>
                      <a:r>
                        <a:rPr lang="en-US" altLang="zh-TW" sz="1200" b="0" cap="none" spc="0" dirty="0">
                          <a:ln w="0"/>
                          <a:solidFill>
                            <a:schemeClr val="tx1"/>
                          </a:solidFill>
                          <a:effectLst/>
                        </a:rPr>
                        <a:t>8_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88.9%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旗艦模型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l"/>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 premium Agent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l"/>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OpenAI o1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：本地無硬體要求，經典初代大文本思考模型。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l"/>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Opus 4.5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87.1%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深度邏輯強悍但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 </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成本較高。</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l"/>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3.5 Sonnet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200k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雲端 </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API</a:t>
                      </a:r>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：本地無硬體要求，企業最愛用的長青高性價比模型。</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l"/>
                      <a:r>
                        <a:rPr lang="en-US" altLang="zh-TW" sz="1200" b="0" cap="none" spc="0" dirty="0">
                          <a:ln w="0"/>
                          <a:solidFill>
                            <a:schemeClr val="tx1"/>
                          </a:solidFill>
                          <a:effectLst/>
                        </a:rPr>
                        <a:t>13_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V3.1 Terminus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zh-TW" altLang="en-US" sz="1100" b="0" cap="none" spc="0" dirty="0">
                          <a:ln w="0"/>
                          <a:solidFill>
                            <a:schemeClr val="tx1"/>
                          </a:solidFill>
                          <a:effectLst/>
                          <a:latin typeface="微軟正黑體" panose="020B0604030504040204" pitchFamily="34" charset="-120"/>
                          <a:ea typeface="微軟正黑體" panose="020B0604030504040204" pitchFamily="34" charset="-120"/>
                        </a:rPr>
                        <a:t>超大</a:t>
                      </a: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MoE (160GB+VRAM)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l"/>
                      <a:r>
                        <a:rPr lang="en-US" altLang="zh-TW" sz="1200" b="0" cap="none" spc="0" dirty="0">
                          <a:ln w="0"/>
                          <a:solidFill>
                            <a:schemeClr val="tx1"/>
                          </a:solidFill>
                          <a:effectLst/>
                        </a:rPr>
                        <a:t>14_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3 Nemotron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49B/49B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l"/>
                      <a:r>
                        <a:rPr lang="en-US" altLang="zh-TW" sz="1200" b="0" cap="none" spc="0" dirty="0">
                          <a:ln w="0"/>
                          <a:solidFill>
                            <a:schemeClr val="tx1"/>
                          </a:solidFill>
                          <a:effectLst/>
                        </a:rPr>
                        <a:t>15_</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Llama 4 Maverick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~70B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~72.0%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Dense, 48GB VRAM x 2</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2684705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1188</TotalTime>
  <Words>16996</Words>
  <Application>Microsoft Office PowerPoint</Application>
  <PresentationFormat>如螢幕大小 (4:3)</PresentationFormat>
  <Paragraphs>2554</Paragraphs>
  <Slides>41</Slides>
  <Notes>34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1808</cp:revision>
  <cp:lastPrinted>2024-07-30T01:44:15Z</cp:lastPrinted>
  <dcterms:created xsi:type="dcterms:W3CDTF">2019-11-08T03:01:47Z</dcterms:created>
  <dcterms:modified xsi:type="dcterms:W3CDTF">2026-07-31T07:14:26Z</dcterms:modified>
</cp:coreProperties>
</file>