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9"/>
  </p:notesMasterIdLst>
  <p:handoutMasterIdLst>
    <p:handoutMasterId r:id="rId50"/>
  </p:handoutMasterIdLst>
  <p:sldIdLst>
    <p:sldId id="3459" r:id="rId2"/>
    <p:sldId id="3472" r:id="rId3"/>
    <p:sldId id="3511" r:id="rId4"/>
    <p:sldId id="3504" r:id="rId5"/>
    <p:sldId id="3427" r:id="rId6"/>
    <p:sldId id="3503" r:id="rId7"/>
    <p:sldId id="3470" r:id="rId8"/>
    <p:sldId id="3471" r:id="rId9"/>
    <p:sldId id="3482" r:id="rId10"/>
    <p:sldId id="3557" r:id="rId11"/>
    <p:sldId id="3483" r:id="rId12"/>
    <p:sldId id="3428" r:id="rId13"/>
    <p:sldId id="3451" r:id="rId14"/>
    <p:sldId id="3552" r:id="rId15"/>
    <p:sldId id="3465" r:id="rId16"/>
    <p:sldId id="3558" r:id="rId17"/>
    <p:sldId id="3559" r:id="rId18"/>
    <p:sldId id="3505" r:id="rId19"/>
    <p:sldId id="3507" r:id="rId20"/>
    <p:sldId id="3460" r:id="rId21"/>
    <p:sldId id="3509" r:id="rId22"/>
    <p:sldId id="3479" r:id="rId23"/>
    <p:sldId id="3467" r:id="rId24"/>
    <p:sldId id="3531" r:id="rId25"/>
    <p:sldId id="3499" r:id="rId26"/>
    <p:sldId id="3444" r:id="rId27"/>
    <p:sldId id="3532" r:id="rId28"/>
    <p:sldId id="3520" r:id="rId29"/>
    <p:sldId id="3518" r:id="rId30"/>
    <p:sldId id="3475" r:id="rId31"/>
    <p:sldId id="3527" r:id="rId32"/>
    <p:sldId id="3550" r:id="rId33"/>
    <p:sldId id="3515" r:id="rId34"/>
    <p:sldId id="3556" r:id="rId35"/>
    <p:sldId id="3528" r:id="rId36"/>
    <p:sldId id="3514" r:id="rId37"/>
    <p:sldId id="3529" r:id="rId38"/>
    <p:sldId id="3555" r:id="rId39"/>
    <p:sldId id="3553" r:id="rId40"/>
    <p:sldId id="3554" r:id="rId41"/>
    <p:sldId id="3549" r:id="rId42"/>
    <p:sldId id="3519" r:id="rId43"/>
    <p:sldId id="3530" r:id="rId44"/>
    <p:sldId id="269" r:id="rId45"/>
    <p:sldId id="270" r:id="rId46"/>
    <p:sldId id="257" r:id="rId47"/>
    <p:sldId id="265" r:id="rId48"/>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557"/>
            <p14:sldId id="3483"/>
            <p14:sldId id="3428"/>
            <p14:sldId id="3451"/>
            <p14:sldId id="3552"/>
          </p14:sldIdLst>
        </p14:section>
        <p14:section name="OpenAI-GPT" id="{5A048767-0D58-44AF-B962-12C29493294F}">
          <p14:sldIdLst>
            <p14:sldId id="3465"/>
            <p14:sldId id="3558"/>
            <p14:sldId id="3559"/>
            <p14:sldId id="3505"/>
          </p14:sldIdLst>
        </p14:section>
        <p14:section name="Hardware" id="{69C35067-BEF2-4B7C-9B54-B6977EB05C72}">
          <p14:sldIdLst>
            <p14:sldId id="3507"/>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50"/>
            <p14:sldId id="3515"/>
            <p14:sldId id="3556"/>
            <p14:sldId id="3528"/>
            <p14:sldId id="3514"/>
            <p14:sldId id="3529"/>
          </p14:sldIdLst>
        </p14:section>
        <p14:section name="Conclusion" id="{D9E6914C-A73F-4176-B0F8-3F87EAC09119}">
          <p14:sldIdLst>
            <p14:sldId id="3555"/>
            <p14:sldId id="3553"/>
            <p14:sldId id="3554"/>
            <p14:sldId id="3549"/>
          </p14:sldIdLst>
        </p14:section>
        <p14:section name="Practice" id="{AB14B10E-2A9D-450D-89ED-7B2D6325130A}">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8194" autoAdjust="0"/>
  </p:normalViewPr>
  <p:slideViewPr>
    <p:cSldViewPr>
      <p:cViewPr varScale="1">
        <p:scale>
          <a:sx n="129" d="100"/>
          <a:sy n="129" d="100"/>
        </p:scale>
        <p:origin x="774" y="126"/>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handoutMaster" Target="handoutMasters/handoutMaster1.xml"/><Relationship Id="rId55"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2026/9/8</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2026/9/8</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arxiv.org/abs/2104.09864" TargetMode="External"/><Relationship Id="rId2" Type="http://schemas.openxmlformats.org/officeDocument/2006/relationships/slide" Target="../slides/slide13.xml"/><Relationship Id="rId1" Type="http://schemas.openxmlformats.org/officeDocument/2006/relationships/notesMaster" Target="../notesMasters/notesMaster1.xml"/><Relationship Id="rId4" Type="http://schemas.openxmlformats.org/officeDocument/2006/relationships/hyperlink" Target="https://arxiv.org/abs/2104.09864"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1.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openrouter.ai/upstage/solar-pro4"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3"/>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4"/>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在 2017 年 Google 提出的原始 Transformer 論文《</a:t>
            </a:r>
            <a:r>
              <a:rPr lang="zh-TW" altLang="zh-TW" sz="1200" b="0" i="1" u="none" strike="noStrike" kern="1200" dirty="0">
                <a:solidFill>
                  <a:schemeClr val="tx1"/>
                </a:solidFill>
                <a:effectLst/>
                <a:latin typeface="+mn-lt"/>
                <a:ea typeface="+mn-ea"/>
                <a:cs typeface="+mn-cs"/>
              </a:rPr>
              <a:t>Attention Is All You Need</a:t>
            </a:r>
            <a:r>
              <a:rPr lang="zh-TW" altLang="zh-TW" sz="1200" b="0" u="none" strike="noStrike" kern="1200" dirty="0">
                <a:solidFill>
                  <a:schemeClr val="tx1"/>
                </a:solidFill>
                <a:effectLst/>
                <a:latin typeface="+mn-lt"/>
                <a:ea typeface="+mn-ea"/>
                <a:cs typeface="+mn-cs"/>
              </a:rPr>
              <a:t>》中，使用的是</a:t>
            </a:r>
            <a:r>
              <a:rPr lang="zh-TW" altLang="zh-TW" sz="1200" b="1" u="none" strike="noStrike" kern="1200" dirty="0">
                <a:solidFill>
                  <a:schemeClr val="tx1"/>
                </a:solidFill>
                <a:effectLst/>
                <a:latin typeface="+mn-lt"/>
                <a:ea typeface="+mn-ea"/>
                <a:cs typeface="+mn-cs"/>
              </a:rPr>
              <a:t>正弦和餘弦函數的絕對位置編碼（Sinusoidal Position Embedding）</a:t>
            </a:r>
            <a:r>
              <a:rPr lang="zh-TW" altLang="zh-TW" sz="1200" b="0" u="none" strike="noStrike" kern="1200" dirty="0">
                <a:solidFill>
                  <a:schemeClr val="tx1"/>
                </a:solidFill>
                <a:effectLst/>
                <a:latin typeface="+mn-lt"/>
                <a:ea typeface="+mn-ea"/>
                <a:cs typeface="+mn-cs"/>
              </a:rPr>
              <a:t>。</a:t>
            </a:r>
          </a:p>
          <a:p>
            <a:r>
              <a:rPr lang="zh-TW" altLang="zh-TW" dirty="0"/>
              <a:t>因為 Transformer 的自注意力機制（Self-Attention）本身是「置換不變」的（把句子裡的字順序打亂，算出來的注意力分數完全一樣），所以必須在輸入端人工注入位置資訊。</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42113585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87461-455B-BEDB-76B5-75ACCB2C687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1879068-66F0-45C8-E23C-8864F6C70E5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74AD433-C54F-150C-EB90-6C30F289F391}"/>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低秩投影（Low-Rank Projection）</a:t>
            </a:r>
            <a:r>
              <a:rPr lang="zh-TW" altLang="zh-TW" sz="1200" b="0" u="none" strike="noStrike" kern="1200" dirty="0">
                <a:solidFill>
                  <a:schemeClr val="tx1"/>
                </a:solidFill>
                <a:effectLst/>
                <a:latin typeface="+mn-lt"/>
                <a:ea typeface="+mn-ea"/>
                <a:cs typeface="+mn-cs"/>
              </a:rPr>
              <a:t>是機器學習與大語言模型（LLM）中，用來</a:t>
            </a:r>
            <a:r>
              <a:rPr lang="zh-TW" altLang="zh-TW" sz="1200" b="1" u="none" strike="noStrike" kern="1200" dirty="0">
                <a:solidFill>
                  <a:schemeClr val="tx1"/>
                </a:solidFill>
                <a:effectLst/>
                <a:latin typeface="+mn-lt"/>
                <a:ea typeface="+mn-ea"/>
                <a:cs typeface="+mn-cs"/>
              </a:rPr>
              <a:t>「將高維度特徵極度壓縮、再還原」</a:t>
            </a:r>
            <a:r>
              <a:rPr lang="zh-TW" altLang="zh-TW" sz="1200" b="0" u="none" strike="noStrike" kern="1200" dirty="0">
                <a:solidFill>
                  <a:schemeClr val="tx1"/>
                </a:solidFill>
                <a:effectLst/>
                <a:latin typeface="+mn-lt"/>
                <a:ea typeface="+mn-ea"/>
                <a:cs typeface="+mn-cs"/>
              </a:rPr>
              <a:t>的核心數學技術。</a:t>
            </a:r>
          </a:p>
          <a:p>
            <a:r>
              <a:rPr lang="zh-TW" altLang="zh-TW" sz="1200" b="0" u="none" strike="noStrike" kern="1200" dirty="0">
                <a:solidFill>
                  <a:schemeClr val="tx1"/>
                </a:solidFill>
                <a:effectLst/>
                <a:latin typeface="+mn-lt"/>
                <a:ea typeface="+mn-ea"/>
                <a:cs typeface="+mn-cs"/>
              </a:rPr>
              <a:t>它的本質就是利用</a:t>
            </a:r>
            <a:r>
              <a:rPr lang="zh-TW" altLang="zh-TW" sz="1200" b="1" u="none" strike="noStrike" kern="1200" dirty="0">
                <a:solidFill>
                  <a:schemeClr val="tx1"/>
                </a:solidFill>
                <a:effectLst/>
                <a:latin typeface="+mn-lt"/>
                <a:ea typeface="+mn-ea"/>
                <a:cs typeface="+mn-cs"/>
              </a:rPr>
              <a:t>矩陣分解（Matrix Decomposition）</a:t>
            </a:r>
            <a:r>
              <a:rPr lang="zh-TW" altLang="zh-TW" sz="1200" b="0" u="none" strike="noStrike" kern="1200" dirty="0">
                <a:solidFill>
                  <a:schemeClr val="tx1"/>
                </a:solidFill>
                <a:effectLst/>
                <a:latin typeface="+mn-lt"/>
                <a:ea typeface="+mn-ea"/>
                <a:cs typeface="+mn-cs"/>
              </a:rPr>
              <a:t>，把一個原本體積巨大的矩陣，拆解成兩個或多個小矩陣的乘積，從而大幅減少計算量與記憶體佔用。</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核心數學原理</a:t>
            </a:r>
          </a:p>
          <a:p>
            <a:r>
              <a:rPr lang="zh-TW" altLang="zh-TW" sz="1200" b="0" u="none" strike="noStrike" kern="1200" dirty="0">
                <a:solidFill>
                  <a:schemeClr val="tx1"/>
                </a:solidFill>
                <a:effectLst/>
                <a:latin typeface="+mn-lt"/>
                <a:ea typeface="+mn-ea"/>
                <a:cs typeface="+mn-cs"/>
              </a:rPr>
              <a:t>假設你有一個尺寸為 d × d 的巨大特陣（例如大模型中的詞向量維度 d = 4096，那這個矩陣就有 4096 × 4096 = 1,677萬 個參數）。</a:t>
            </a:r>
          </a:p>
          <a:p>
            <a:pPr lvl="0"/>
            <a:r>
              <a:rPr lang="zh-TW" altLang="zh-TW" sz="1200" b="1" u="none" strike="noStrike" kern="1200" dirty="0">
                <a:solidFill>
                  <a:schemeClr val="tx1"/>
                </a:solidFill>
                <a:effectLst/>
                <a:latin typeface="+mn-lt"/>
                <a:ea typeface="+mn-ea"/>
                <a:cs typeface="+mn-cs"/>
              </a:rPr>
              <a:t>向下投影（Down-projection / 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d × r 的矩陣，把維度從 4096 壓到 128。這時特徵會被濃縮成一個高密度的「潛在向量（Latent Vector）」。</a:t>
            </a:r>
          </a:p>
          <a:p>
            <a:pPr lvl="0"/>
            <a:r>
              <a:rPr lang="zh-TW" altLang="zh-TW" sz="1200" b="1" u="none" strike="noStrike" kern="1200" dirty="0">
                <a:solidFill>
                  <a:schemeClr val="tx1"/>
                </a:solidFill>
                <a:effectLst/>
                <a:latin typeface="+mn-lt"/>
                <a:ea typeface="+mn-ea"/>
                <a:cs typeface="+mn-cs"/>
              </a:rPr>
              <a:t>向上投影（Up-projection / Decompression）：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r × d 的矩陣，在需要計算時，再把 128 維度放大回 4096。</a:t>
            </a:r>
          </a:p>
          <a:p>
            <a:r>
              <a:rPr lang="zh-TW" altLang="zh-TW" sz="1200" b="0" u="none" strike="noStrike" kern="1200" dirty="0">
                <a:solidFill>
                  <a:schemeClr val="tx1"/>
                </a:solidFill>
                <a:effectLst/>
                <a:latin typeface="+mn-lt"/>
                <a:ea typeface="+mn-ea"/>
                <a:cs typeface="+mn-cs"/>
              </a:rPr>
              <a:t>因為 r 遠小於 d，這就叫做</a:t>
            </a:r>
            <a:r>
              <a:rPr lang="zh-TW" altLang="zh-TW" sz="1200" b="1" u="none" strike="noStrike" kern="1200" dirty="0">
                <a:solidFill>
                  <a:schemeClr val="tx1"/>
                </a:solidFill>
                <a:effectLst/>
                <a:latin typeface="+mn-lt"/>
                <a:ea typeface="+mn-ea"/>
                <a:cs typeface="+mn-cs"/>
              </a:rPr>
              <a:t>低秩（Low-Rank）</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引進低秩前（直接計算）</a:t>
            </a:r>
            <a:r>
              <a:rPr lang="zh-TW" altLang="zh-TW" sz="1200" b="0" u="none" strike="noStrike" kern="1200" dirty="0">
                <a:solidFill>
                  <a:schemeClr val="tx1"/>
                </a:solidFill>
                <a:effectLst/>
                <a:latin typeface="+mn-lt"/>
                <a:ea typeface="+mn-ea"/>
                <a:cs typeface="+mn-cs"/>
              </a:rPr>
              <a:t>：參數量 = 4096 × 4096 ≈ 1,677 萬</a:t>
            </a:r>
          </a:p>
          <a:p>
            <a:pPr lvl="0"/>
            <a:r>
              <a:rPr lang="zh-TW" altLang="zh-TW" sz="1200" b="1" u="none" strike="noStrike" kern="1200" dirty="0">
                <a:solidFill>
                  <a:schemeClr val="tx1"/>
                </a:solidFill>
                <a:effectLst/>
                <a:latin typeface="+mn-lt"/>
                <a:ea typeface="+mn-ea"/>
                <a:cs typeface="+mn-cs"/>
              </a:rPr>
              <a:t>引進低秩後（拆成兩個）</a:t>
            </a:r>
            <a:r>
              <a:rPr lang="zh-TW" altLang="zh-TW" sz="1200" b="0" u="none" strike="noStrike" kern="1200" dirty="0">
                <a:solidFill>
                  <a:schemeClr val="tx1"/>
                </a:solidFill>
                <a:effectLst/>
                <a:latin typeface="+mn-lt"/>
                <a:ea typeface="+mn-ea"/>
                <a:cs typeface="+mn-cs"/>
              </a:rPr>
              <a:t>：參數量 = (4096 × 128) + (128 × 4096) ≈ 104 萬</a:t>
            </a:r>
          </a:p>
          <a:p>
            <a:pPr lvl="0"/>
            <a:r>
              <a:rPr lang="zh-TW" altLang="zh-TW" sz="1200" b="1" u="none" strike="noStrike" kern="1200" dirty="0">
                <a:solidFill>
                  <a:schemeClr val="tx1"/>
                </a:solidFill>
                <a:effectLst/>
                <a:latin typeface="+mn-lt"/>
                <a:ea typeface="+mn-ea"/>
                <a:cs typeface="+mn-cs"/>
              </a:rPr>
              <a:t>結果</a:t>
            </a:r>
            <a:r>
              <a:rPr lang="zh-TW" altLang="zh-TW" sz="1200" b="0" u="none" strike="noStrike" kern="1200" dirty="0">
                <a:solidFill>
                  <a:schemeClr val="tx1"/>
                </a:solidFill>
                <a:effectLst/>
                <a:latin typeface="+mn-lt"/>
                <a:ea typeface="+mn-ea"/>
                <a:cs typeface="+mn-cs"/>
              </a:rPr>
              <a:t>：記憶體與計算量直接暴減了 </a:t>
            </a:r>
            <a:r>
              <a:rPr lang="zh-TW" altLang="zh-TW" sz="1200" b="1" u="none" strike="noStrike" kern="1200" dirty="0">
                <a:solidFill>
                  <a:schemeClr val="tx1"/>
                </a:solidFill>
                <a:effectLst/>
                <a:latin typeface="+mn-lt"/>
                <a:ea typeface="+mn-ea"/>
                <a:cs typeface="+mn-cs"/>
              </a:rPr>
              <a:t>16 倍</a:t>
            </a:r>
            <a:r>
              <a:rPr lang="zh-TW" altLang="zh-TW" sz="1200" b="0" u="none" strike="noStrike" kern="1200" dirty="0">
                <a:solidFill>
                  <a:schemeClr val="tx1"/>
                </a:solidFill>
                <a:effectLst/>
                <a:latin typeface="+mn-lt"/>
                <a:ea typeface="+mn-ea"/>
                <a:cs typeface="+mn-cs"/>
              </a:rPr>
              <a:t>！</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為什麼大模型可以這樣做？（低秩假設）</a:t>
            </a:r>
          </a:p>
          <a:p>
            <a:r>
              <a:rPr lang="zh-TW" altLang="zh-TW" sz="1200" b="0" u="none" strike="noStrike" kern="1200" dirty="0">
                <a:solidFill>
                  <a:schemeClr val="tx1"/>
                </a:solidFill>
                <a:effectLst/>
                <a:latin typeface="+mn-lt"/>
                <a:ea typeface="+mn-ea"/>
                <a:cs typeface="+mn-cs"/>
              </a:rPr>
              <a:t>你可能會問：把 4096 維度壓到 128 維度，資訊不會全部漏光嗎？</a:t>
            </a:r>
          </a:p>
          <a:p>
            <a:r>
              <a:rPr lang="zh-TW" altLang="zh-TW" sz="1200" b="0" u="none" strike="noStrike" kern="1200" dirty="0">
                <a:solidFill>
                  <a:schemeClr val="tx1"/>
                </a:solidFill>
                <a:effectLst/>
                <a:latin typeface="+mn-lt"/>
                <a:ea typeface="+mn-ea"/>
                <a:cs typeface="+mn-cs"/>
              </a:rPr>
              <a:t>答案是：不會。因為在真實世界中，數據（如人類的語言）雖然表面上維度很高（高維空間），但它們背後真正起作用的「核心特徵」其實很少。大模型在處理語義時，很多維度是冗餘、重複或相關聯的。這在數學上稱為</a:t>
            </a:r>
            <a:r>
              <a:rPr lang="zh-TW" altLang="zh-TW" sz="1200" b="1" u="none" strike="noStrike" kern="1200" dirty="0">
                <a:solidFill>
                  <a:schemeClr val="tx1"/>
                </a:solidFill>
                <a:effectLst/>
                <a:latin typeface="+mn-lt"/>
                <a:ea typeface="+mn-ea"/>
                <a:cs typeface="+mn-cs"/>
              </a:rPr>
              <a:t>低秩假設（Low-Rank Hypothesis）</a:t>
            </a:r>
            <a:r>
              <a:rPr lang="zh-TW" altLang="zh-TW" sz="1200" b="0" u="none" strike="noStrike" kern="1200" dirty="0">
                <a:solidFill>
                  <a:schemeClr val="tx1"/>
                </a:solidFill>
                <a:effectLst/>
                <a:latin typeface="+mn-lt"/>
                <a:ea typeface="+mn-ea"/>
                <a:cs typeface="+mn-cs"/>
              </a:rPr>
              <a:t>。大模型只需要捕捉到那 128 個最核心的隱藏規律，就能完美還原原本的語義。</a:t>
            </a:r>
          </a:p>
          <a:p>
            <a:endParaRPr lang="en-US" altLang="zh-TW" dirty="0"/>
          </a:p>
          <a:p>
            <a:r>
              <a:rPr lang="zh-TW" altLang="zh-TW" sz="1200" b="1" u="none" strike="noStrike" kern="1200" dirty="0">
                <a:solidFill>
                  <a:schemeClr val="tx1"/>
                </a:solidFill>
                <a:effectLst/>
                <a:latin typeface="+mn-lt"/>
                <a:ea typeface="+mn-ea"/>
                <a:cs typeface="+mn-cs"/>
              </a:rPr>
              <a:t>3. 常見的熱門應用</a:t>
            </a:r>
          </a:p>
          <a:p>
            <a:r>
              <a:rPr lang="zh-TW" altLang="zh-TW" sz="1200" b="0" u="none" strike="noStrike" kern="1200" dirty="0">
                <a:solidFill>
                  <a:schemeClr val="tx1"/>
                </a:solidFill>
                <a:effectLst/>
                <a:latin typeface="+mn-lt"/>
                <a:ea typeface="+mn-ea"/>
                <a:cs typeface="+mn-cs"/>
              </a:rPr>
              <a:t>低秩投影是近代大模型得以走向「平民化」和「長文本化」的功臣，最著名的應用包括：</a:t>
            </a:r>
          </a:p>
          <a:p>
            <a:pPr lvl="0"/>
            <a:r>
              <a:rPr lang="zh-TW" altLang="zh-TW" sz="1200" b="1" u="none" strike="noStrike" kern="1200" dirty="0">
                <a:solidFill>
                  <a:schemeClr val="tx1"/>
                </a:solidFill>
                <a:effectLst/>
                <a:latin typeface="+mn-lt"/>
                <a:ea typeface="+mn-ea"/>
                <a:cs typeface="+mn-cs"/>
              </a:rPr>
              <a:t>LoRA (Low-Rank Adaptation) 微調技術</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在微調大模型時，凍結原本的幾百億參數（高秩），只在旁邊外掛兩個低秩投影的小矩陣（A 和 B）來訓練。讓一般人只用一張顯卡就能微調大模型。</a:t>
            </a:r>
          </a:p>
          <a:p>
            <a:pPr lvl="0"/>
            <a:r>
              <a:rPr lang="zh-TW" altLang="zh-TW" sz="1200" b="1" u="none" strike="noStrike" kern="1200" dirty="0">
                <a:solidFill>
                  <a:schemeClr val="tx1"/>
                </a:solidFill>
                <a:effectLst/>
                <a:latin typeface="+mn-lt"/>
                <a:ea typeface="+mn-ea"/>
                <a:cs typeface="+mn-cs"/>
              </a:rPr>
              <a:t>DeepSeek 的 MLA (Multi-head Latent Attention)</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這就是我們前面聊到的！傳統 Transformer 必須要把每個 Token 巨大的 KV 向量（高維）存進顯存（KV Cache）。DeepSeek 利用</a:t>
            </a:r>
            <a:r>
              <a:rPr lang="zh-TW" altLang="zh-TW" sz="1200" b="1" u="none" strike="noStrike" kern="1200" dirty="0">
                <a:solidFill>
                  <a:schemeClr val="tx1"/>
                </a:solidFill>
                <a:effectLst/>
                <a:latin typeface="+mn-lt"/>
                <a:ea typeface="+mn-ea"/>
                <a:cs typeface="+mn-cs"/>
              </a:rPr>
              <a:t>低秩投影</a:t>
            </a:r>
            <a:r>
              <a:rPr lang="zh-TW" altLang="zh-TW" sz="1200" b="0" u="none" strike="noStrike" kern="1200" dirty="0">
                <a:solidFill>
                  <a:schemeClr val="tx1"/>
                </a:solidFill>
                <a:effectLst/>
                <a:latin typeface="+mn-lt"/>
                <a:ea typeface="+mn-ea"/>
                <a:cs typeface="+mn-cs"/>
              </a:rPr>
              <a:t>，把所有 Token 的 KV 向量壓縮成一個極小的潛在向量存起來。等到要計算 Attention Score 時，再用向上投影矩陣</a:t>
            </a:r>
            <a:r>
              <a:rPr lang="zh-TW" altLang="zh-TW" sz="1200" b="1" u="none" strike="noStrike" kern="1200" dirty="0">
                <a:solidFill>
                  <a:schemeClr val="tx1"/>
                </a:solidFill>
                <a:effectLst/>
                <a:latin typeface="+mn-lt"/>
                <a:ea typeface="+mn-ea"/>
                <a:cs typeface="+mn-cs"/>
              </a:rPr>
              <a:t>「吸收（Absorb）」</a:t>
            </a:r>
            <a:r>
              <a:rPr lang="zh-TW" altLang="zh-TW" sz="1200" b="0" u="none" strike="noStrike" kern="1200" dirty="0">
                <a:solidFill>
                  <a:schemeClr val="tx1"/>
                </a:solidFill>
                <a:effectLst/>
                <a:latin typeface="+mn-lt"/>
                <a:ea typeface="+mn-ea"/>
                <a:cs typeface="+mn-cs"/>
              </a:rPr>
              <a:t>還原。這正是 NoPE 技術存在的前提。</a:t>
            </a: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低秩投影就像是</a:t>
            </a:r>
            <a:r>
              <a:rPr lang="zh-TW" altLang="zh-TW" sz="1200" b="1" u="none" strike="noStrike" kern="1200" dirty="0">
                <a:solidFill>
                  <a:schemeClr val="tx1"/>
                </a:solidFill>
                <a:effectLst/>
                <a:latin typeface="+mn-lt"/>
                <a:ea typeface="+mn-ea"/>
                <a:cs typeface="+mn-cs"/>
              </a:rPr>
              <a:t>「把 4K 高清影片壓縮成 MP4 檔案儲存（Down-projection），播放時再透過解碼器在螢幕上流暢渲染（Up-projection）」</a:t>
            </a:r>
            <a:r>
              <a:rPr lang="zh-TW" altLang="zh-TW" sz="1200" b="0" u="none" strike="noStrike" kern="1200" dirty="0">
                <a:solidFill>
                  <a:schemeClr val="tx1"/>
                </a:solidFill>
                <a:effectLst/>
                <a:latin typeface="+mn-lt"/>
                <a:ea typeface="+mn-ea"/>
                <a:cs typeface="+mn-cs"/>
              </a:rPr>
              <a:t>。它用極小的精度損失，換取了驚人的速度與空間。</a:t>
            </a:r>
          </a:p>
          <a:p>
            <a:endParaRPr lang="zh-TW" altLang="zh-TW" dirty="0"/>
          </a:p>
        </p:txBody>
      </p:sp>
      <p:sp>
        <p:nvSpPr>
          <p:cNvPr id="4" name="投影片編號版面配置區 3">
            <a:extLst>
              <a:ext uri="{FF2B5EF4-FFF2-40B4-BE49-F238E27FC236}">
                <a16:creationId xmlns:a16="http://schemas.microsoft.com/office/drawing/2014/main" id="{CA6E37FD-9424-18B4-0B03-40E88DF731AE}"/>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8723904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在程式碼實作中，LoRA 凍結原始模型權重的方式非常直接：</a:t>
            </a:r>
            <a:r>
              <a:rPr lang="zh-TW" altLang="zh-TW" sz="1200" b="1" u="none" strike="noStrike" kern="1200" dirty="0">
                <a:solidFill>
                  <a:schemeClr val="tx1"/>
                </a:solidFill>
                <a:effectLst/>
                <a:latin typeface="+mn-lt"/>
                <a:ea typeface="+mn-ea"/>
                <a:cs typeface="+mn-cs"/>
              </a:rPr>
              <a:t>將原始模型所有層的參數設定為「不計算梯度」（requires_grad = False）</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當你使用 Hugging Face 的 peft 函式庫時，底層的運作邏輯如下：</a:t>
            </a:r>
          </a:p>
          <a:p>
            <a:r>
              <a:rPr lang="zh-TW" altLang="zh-TW" sz="1200" b="1" u="none" strike="noStrike" kern="1200" dirty="0">
                <a:solidFill>
                  <a:schemeClr val="tx1"/>
                </a:solidFill>
                <a:effectLst/>
                <a:latin typeface="+mn-lt"/>
                <a:ea typeface="+mn-ea"/>
                <a:cs typeface="+mn-cs"/>
              </a:rPr>
              <a:t>🛠 核心實作三步驟</a:t>
            </a:r>
          </a:p>
          <a:p>
            <a:pPr lvl="0"/>
            <a:r>
              <a:rPr lang="zh-TW" altLang="zh-TW" sz="1200" b="1" u="none" strike="noStrike" kern="1200" dirty="0">
                <a:solidFill>
                  <a:schemeClr val="tx1"/>
                </a:solidFill>
                <a:effectLst/>
                <a:latin typeface="+mn-lt"/>
                <a:ea typeface="+mn-ea"/>
                <a:cs typeface="+mn-cs"/>
              </a:rPr>
              <a:t>步驟一：凍結全部 (Freeze All)</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遍歷原始模型（如 LLaMA 或 SVD）的所有參數，將它們的 requires_grad 屬性全部設為 False。此時反向傳播不會計算這些參數的梯度，記憶體（顯存）大解放。</a:t>
            </a:r>
          </a:p>
          <a:p>
            <a:pPr lvl="0"/>
            <a:r>
              <a:rPr lang="zh-TW" altLang="zh-TW" sz="1200" b="1" u="none" strike="noStrike" kern="1200" dirty="0">
                <a:solidFill>
                  <a:schemeClr val="tx1"/>
                </a:solidFill>
                <a:effectLst/>
                <a:latin typeface="+mn-lt"/>
                <a:ea typeface="+mn-ea"/>
                <a:cs typeface="+mn-cs"/>
              </a:rPr>
              <a:t>步驟二：注入 LoRA 旁路 (Inject Layers)</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在指定的線性層（Linear Layers）旁邊，外掛 A 和 B 兩個低秩矩陣。</a:t>
            </a:r>
          </a:p>
          <a:p>
            <a:pPr lvl="0"/>
            <a:r>
              <a:rPr lang="zh-TW" altLang="zh-TW" sz="1200" b="1" u="none" strike="noStrike" kern="1200" dirty="0">
                <a:solidFill>
                  <a:schemeClr val="tx1"/>
                </a:solidFill>
                <a:effectLst/>
                <a:latin typeface="+mn-lt"/>
                <a:ea typeface="+mn-ea"/>
                <a:cs typeface="+mn-cs"/>
              </a:rPr>
              <a:t>步驟三：單獨激活 (Activate LoRA)</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將這兩個新加入的 A 和 B 矩陣參數，其 requires_grad 屬性設定為 True。</a:t>
            </a:r>
          </a:p>
          <a:p>
            <a:endParaRPr lang="zh-TW" altLang="zh-TW" dirty="0"/>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深度的軟體工程測試</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DeepSWE</a:t>
            </a:r>
            <a:r>
              <a:rPr lang="zh-TW" altLang="zh-TW" dirty="0"/>
              <a:t> 是由 Datacurve 於 2026 年 5 月開源的一項 </a:t>
            </a:r>
            <a:r>
              <a:rPr lang="zh-TW" altLang="zh-TW" sz="1200" b="1" u="none" strike="noStrike" kern="1200" dirty="0">
                <a:solidFill>
                  <a:schemeClr val="tx1"/>
                </a:solidFill>
                <a:effectLst/>
                <a:latin typeface="+mn-lt"/>
                <a:ea typeface="+mn-ea"/>
                <a:cs typeface="+mn-cs"/>
              </a:rPr>
              <a:t>AI 程式碼生成與Agent基準測試（Benchmark）</a:t>
            </a:r>
            <a:r>
              <a:rPr lang="zh-TW" altLang="zh-TW" dirty="0"/>
              <a:t>，</a:t>
            </a:r>
            <a:endParaRPr lang="en-US" altLang="zh-TW" dirty="0"/>
          </a:p>
          <a:p>
            <a:r>
              <a:rPr lang="zh-TW" altLang="zh-TW" dirty="0"/>
              <a:t>專門用來評估大型語言模型在真實軟體工程任務中的自主處理能力。</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318013737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基於工具可靠性、任務完成度和可控性等指標，對模型在實際智慧任務中協調工具的能力進行動態排名。</a:t>
            </a:r>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39</a:t>
            </a:fld>
            <a:endParaRPr lang="zh-TW" altLang="en-US"/>
          </a:p>
        </p:txBody>
      </p:sp>
    </p:spTree>
    <p:extLst>
      <p:ext uri="{BB962C8B-B14F-4D97-AF65-F5344CB8AC3E}">
        <p14:creationId xmlns:p14="http://schemas.microsoft.com/office/powerpoint/2010/main" val="322822908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查看涵蓋數學、程式設計、創意寫作及其他開放領域中各種人工智慧模型在文字到文字任務中的總體排名。</a:t>
            </a:r>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Tencent Hy3</a:t>
            </a:r>
            <a:r>
              <a:rPr lang="zh-TW" altLang="zh-TW" dirty="0"/>
              <a:t>（騰訊混元 Hy3）</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是騰訊於 2026 年 7 月正式發布的大型語言模型，採用「快慢思考」融合的混合專家模型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MoE</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架構，總參數達 2,950 億、啟用參數 210 億，並支援 256K 超長上下文視窗。其性能足以比肩參數規模大其 2 至 5 倍的旗艦模型，主打高性價比與強大智能體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Agent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任務表現。 </a:t>
            </a:r>
            <a:br>
              <a:rPr lang="en-US" altLang="zh-TW" sz="1200" b="0" u="none" strike="noStrike" kern="1200" dirty="0">
                <a:solidFill>
                  <a:schemeClr val="tx1"/>
                </a:solidFill>
                <a:effectLst/>
                <a:latin typeface="+mn-lt"/>
                <a:ea typeface="+mn-ea"/>
                <a:cs typeface="+mn-cs"/>
              </a:rPr>
            </a:b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Korea Upstage solar-pro4: </a:t>
            </a:r>
            <a:r>
              <a:rPr lang="zh-TW" altLang="zh-TW" sz="1200" b="0" u="none" strike="noStrike" kern="1200" dirty="0">
                <a:solidFill>
                  <a:schemeClr val="tx1"/>
                </a:solidFill>
                <a:effectLst/>
                <a:latin typeface="+mn-lt"/>
                <a:ea typeface="+mn-ea"/>
                <a:cs typeface="+mn-cs"/>
              </a:rPr>
              <a:t>韓國人工智慧實驗室 Upstage</a:t>
            </a:r>
            <a:r>
              <a:rPr lang="zh-TW" altLang="zh-TW" dirty="0"/>
              <a:t> 於 2026 年 8 月推出全新商用大型語言模型 </a:t>
            </a:r>
            <a:r>
              <a:rPr lang="zh-TW" altLang="zh-TW" sz="1200" b="1" u="none" strike="noStrike" kern="1200" dirty="0">
                <a:solidFill>
                  <a:schemeClr val="tx1"/>
                </a:solidFill>
                <a:effectLst/>
                <a:latin typeface="+mn-lt"/>
                <a:ea typeface="+mn-ea"/>
                <a:cs typeface="+mn-cs"/>
              </a:rPr>
              <a:t>Solar Pro 4</a:t>
            </a:r>
            <a:r>
              <a:rPr lang="zh-TW" altLang="zh-TW" dirty="0"/>
              <a:t>，專為複雜的 AI 智慧體（Agent）任務與企業長文本工作流程所設計。該模型大幅強化推論與多步驟工具調用能力，是首個正式登入全球平台 </a:t>
            </a:r>
            <a:r>
              <a:rPr lang="zh-TW" altLang="zh-TW" sz="1200" b="0" u="none" strike="noStrike" kern="1200" dirty="0">
                <a:solidFill>
                  <a:schemeClr val="tx1"/>
                </a:solidFill>
                <a:effectLst/>
                <a:latin typeface="+mn-lt"/>
                <a:ea typeface="+mn-ea"/>
                <a:cs typeface="+mn-cs"/>
                <a:hlinkClick r:id="rId3"/>
              </a:rPr>
              <a:t>OpenRouter</a:t>
            </a:r>
            <a:r>
              <a:rPr lang="zh-TW" altLang="zh-TW" dirty="0"/>
              <a:t> 的韓國大型語言模型。</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40</a:t>
            </a:fld>
            <a:endParaRPr lang="zh-TW" altLang="en-US"/>
          </a:p>
        </p:txBody>
      </p:sp>
    </p:spTree>
    <p:extLst>
      <p:ext uri="{BB962C8B-B14F-4D97-AF65-F5344CB8AC3E}">
        <p14:creationId xmlns:p14="http://schemas.microsoft.com/office/powerpoint/2010/main" val="134069069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41</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46</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47</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2026/9/8</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2026/9/8</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0.png"/></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0.png"/><Relationship Id="rId9" Type="http://schemas.openxmlformats.org/officeDocument/2006/relationships/image" Target="../media/image22.png"/><Relationship Id="rId14" Type="http://schemas.openxmlformats.org/officeDocument/2006/relationships/image" Target="../media/image27.png"/></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0.png"/></Relationships>
</file>

<file path=ppt/slides/_rels/slide1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42.svg"/></Relationships>
</file>

<file path=ppt/slides/_rels/slide16.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8" Type="http://schemas.openxmlformats.org/officeDocument/2006/relationships/image" Target="../media/image440.png"/><Relationship Id="rId3" Type="http://schemas.openxmlformats.org/officeDocument/2006/relationships/image" Target="../media/image44.png"/><Relationship Id="rId7" Type="http://schemas.openxmlformats.org/officeDocument/2006/relationships/image" Target="../media/image46.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45.png"/><Relationship Id="rId5" Type="http://schemas.openxmlformats.org/officeDocument/2006/relationships/image" Target="../media/image410.png"/><Relationship Id="rId4" Type="http://schemas.openxmlformats.org/officeDocument/2006/relationships/image" Target="../media/image400.png"/></Relationships>
</file>

<file path=ppt/slides/_rels/slide18.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9.png"/><Relationship Id="rId4" Type="http://schemas.openxmlformats.org/officeDocument/2006/relationships/image" Target="../media/image48.png"/></Relationships>
</file>

<file path=ppt/slides/_rels/slide20.xml.rels><?xml version="1.0" encoding="UTF-8" standalone="yes"?>
<Relationships xmlns="http://schemas.openxmlformats.org/package/2006/relationships"><Relationship Id="rId3" Type="http://schemas.openxmlformats.org/officeDocument/2006/relationships/image" Target="../media/image50.svg"/><Relationship Id="rId7" Type="http://schemas.openxmlformats.org/officeDocument/2006/relationships/image" Target="../media/image55.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54.png"/><Relationship Id="rId5" Type="http://schemas.openxmlformats.org/officeDocument/2006/relationships/image" Target="../media/image52.svg"/><Relationship Id="rId4" Type="http://schemas.openxmlformats.org/officeDocument/2006/relationships/image" Target="../media/image51.png"/></Relationships>
</file>

<file path=ppt/slides/_rels/slide2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57.jp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8" Type="http://schemas.openxmlformats.org/officeDocument/2006/relationships/image" Target="../media/image66.svg"/><Relationship Id="rId3" Type="http://schemas.openxmlformats.org/officeDocument/2006/relationships/image" Target="../media/image60.svg"/><Relationship Id="rId7" Type="http://schemas.openxmlformats.org/officeDocument/2006/relationships/image" Target="../media/image65.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4.svg"/><Relationship Id="rId5" Type="http://schemas.openxmlformats.org/officeDocument/2006/relationships/image" Target="../media/image63.png"/><Relationship Id="rId10" Type="http://schemas.openxmlformats.org/officeDocument/2006/relationships/image" Target="../media/image68.svg"/><Relationship Id="rId4" Type="http://schemas.openxmlformats.org/officeDocument/2006/relationships/image" Target="../media/image61.svg"/><Relationship Id="rId9" Type="http://schemas.openxmlformats.org/officeDocument/2006/relationships/image" Target="../media/image67.svg"/></Relationships>
</file>

<file path=ppt/slides/_rels/slide26.xml.rels><?xml version="1.0" encoding="UTF-8" standalone="yes"?>
<Relationships xmlns="http://schemas.openxmlformats.org/package/2006/relationships"><Relationship Id="rId3" Type="http://schemas.openxmlformats.org/officeDocument/2006/relationships/image" Target="../media/image63.png"/><Relationship Id="rId7" Type="http://schemas.openxmlformats.org/officeDocument/2006/relationships/image" Target="../media/image61.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70.svg"/><Relationship Id="rId5" Type="http://schemas.openxmlformats.org/officeDocument/2006/relationships/image" Target="../media/image69.svg"/><Relationship Id="rId4" Type="http://schemas.openxmlformats.org/officeDocument/2006/relationships/image" Target="../media/image64.svg"/></Relationships>
</file>

<file path=ppt/slides/_rels/slide27.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72.svg"/></Relationships>
</file>

<file path=ppt/slides/_rels/slide2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73.png"/><Relationship Id="rId1" Type="http://schemas.openxmlformats.org/officeDocument/2006/relationships/slideLayout" Target="../slideLayouts/slideLayout3.xml"/><Relationship Id="rId4" Type="http://schemas.openxmlformats.org/officeDocument/2006/relationships/image" Target="../media/image74.jpeg"/></Relationships>
</file>

<file path=ppt/slides/_rels/slide29.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75.png"/><Relationship Id="rId7" Type="http://schemas.openxmlformats.org/officeDocument/2006/relationships/image" Target="../media/image79.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image" Target="../media/image76.jpeg"/></Relationships>
</file>

<file path=ppt/slides/_rels/slide30.xml.rels><?xml version="1.0" encoding="UTF-8" standalone="yes"?>
<Relationships xmlns="http://schemas.openxmlformats.org/package/2006/relationships"><Relationship Id="rId3" Type="http://schemas.openxmlformats.org/officeDocument/2006/relationships/image" Target="../media/image80.sv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81.svg"/></Relationships>
</file>

<file path=ppt/slides/_rels/slide31.xml.rels><?xml version="1.0" encoding="UTF-8" standalone="yes"?>
<Relationships xmlns="http://schemas.openxmlformats.org/package/2006/relationships"><Relationship Id="rId3" Type="http://schemas.openxmlformats.org/officeDocument/2006/relationships/image" Target="../media/image82.svg"/><Relationship Id="rId7" Type="http://schemas.openxmlformats.org/officeDocument/2006/relationships/image" Target="../media/image86.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85.svg"/><Relationship Id="rId5" Type="http://schemas.openxmlformats.org/officeDocument/2006/relationships/image" Target="../media/image84.svg"/><Relationship Id="rId4" Type="http://schemas.openxmlformats.org/officeDocument/2006/relationships/image" Target="../media/image83.svg"/></Relationships>
</file>

<file path=ppt/slides/_rels/slide32.xml.rels><?xml version="1.0" encoding="UTF-8" standalone="yes"?>
<Relationships xmlns="http://schemas.openxmlformats.org/package/2006/relationships"><Relationship Id="rId3" Type="http://schemas.openxmlformats.org/officeDocument/2006/relationships/image" Target="../media/image87.sv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88.sv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34.xml"/><Relationship Id="rId1" Type="http://schemas.openxmlformats.org/officeDocument/2006/relationships/slideLayout" Target="../slideLayouts/slideLayout3.xml"/><Relationship Id="rId5" Type="http://schemas.openxmlformats.org/officeDocument/2006/relationships/image" Target="../media/image91.png"/><Relationship Id="rId4" Type="http://schemas.openxmlformats.org/officeDocument/2006/relationships/hyperlink" Target="https://deepswe.datacurve.ai/"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arena.ai/leaderboard/agent/pareto" TargetMode="External"/><Relationship Id="rId2" Type="http://schemas.openxmlformats.org/officeDocument/2006/relationships/notesSlide" Target="../notesSlides/notesSlide35.xml"/><Relationship Id="rId1" Type="http://schemas.openxmlformats.org/officeDocument/2006/relationships/slideLayout" Target="../slideLayouts/slideLayout3.xml"/><Relationship Id="rId5" Type="http://schemas.openxmlformats.org/officeDocument/2006/relationships/image" Target="../media/image93.png"/><Relationship Id="rId4" Type="http://schemas.openxmlformats.org/officeDocument/2006/relationships/image" Target="../media/image92.png"/></Relationships>
</file>

<file path=ppt/slides/_rels/slide40.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6.xml"/><Relationship Id="rId1" Type="http://schemas.openxmlformats.org/officeDocument/2006/relationships/slideLayout" Target="../slideLayouts/slideLayout3.xml"/><Relationship Id="rId6" Type="http://schemas.openxmlformats.org/officeDocument/2006/relationships/image" Target="../media/image96.png"/><Relationship Id="rId5" Type="http://schemas.openxmlformats.org/officeDocument/2006/relationships/image" Target="../media/image95.png"/><Relationship Id="rId4" Type="http://schemas.openxmlformats.org/officeDocument/2006/relationships/hyperlink" Target="https://arena.ai/leaderboard/text/pareto" TargetMode="External"/></Relationships>
</file>

<file path=ppt/slides/_rels/slide41.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100.png"/><Relationship Id="rId2" Type="http://schemas.openxmlformats.org/officeDocument/2006/relationships/notesSlide" Target="../notesSlides/notesSlide37.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9.png"/><Relationship Id="rId5" Type="http://schemas.openxmlformats.org/officeDocument/2006/relationships/image" Target="../media/image3.png"/><Relationship Id="rId10" Type="http://schemas.openxmlformats.org/officeDocument/2006/relationships/image" Target="../media/image98.png"/><Relationship Id="rId4" Type="http://schemas.openxmlformats.org/officeDocument/2006/relationships/image" Target="../media/image2.png"/><Relationship Id="rId9" Type="http://schemas.openxmlformats.org/officeDocument/2006/relationships/image" Target="../media/image97.png"/></Relationships>
</file>

<file path=ppt/slides/_rels/slide42.xml.rels><?xml version="1.0" encoding="UTF-8" standalone="yes"?>
<Relationships xmlns="http://schemas.openxmlformats.org/package/2006/relationships"><Relationship Id="rId3" Type="http://schemas.openxmlformats.org/officeDocument/2006/relationships/image" Target="../media/image102.png"/><Relationship Id="rId7" Type="http://schemas.openxmlformats.org/officeDocument/2006/relationships/image" Target="../media/image73.png"/><Relationship Id="rId2" Type="http://schemas.openxmlformats.org/officeDocument/2006/relationships/image" Target="../media/image101.png"/><Relationship Id="rId1" Type="http://schemas.openxmlformats.org/officeDocument/2006/relationships/slideLayout" Target="../slideLayouts/slideLayout3.xml"/><Relationship Id="rId6" Type="http://schemas.openxmlformats.org/officeDocument/2006/relationships/image" Target="../media/image74.jpeg"/><Relationship Id="rId5" Type="http://schemas.openxmlformats.org/officeDocument/2006/relationships/image" Target="../media/image63.png"/><Relationship Id="rId4" Type="http://schemas.openxmlformats.org/officeDocument/2006/relationships/image" Target="../media/image103.png"/></Relationships>
</file>

<file path=ppt/slides/_rels/slide43.xml.rels><?xml version="1.0" encoding="UTF-8" standalone="yes"?>
<Relationships xmlns="http://schemas.openxmlformats.org/package/2006/relationships"><Relationship Id="rId2" Type="http://schemas.openxmlformats.org/officeDocument/2006/relationships/image" Target="../media/image74.jpe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4.xml"/><Relationship Id="rId5" Type="http://schemas.openxmlformats.org/officeDocument/2006/relationships/image" Target="../media/image107.png"/><Relationship Id="rId4" Type="http://schemas.openxmlformats.org/officeDocument/2006/relationships/image" Target="../media/image106.png"/></Relationships>
</file>

<file path=ppt/slides/_rels/slide45.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4.xml"/><Relationship Id="rId5" Type="http://schemas.openxmlformats.org/officeDocument/2006/relationships/image" Target="../media/image111.png"/><Relationship Id="rId4" Type="http://schemas.openxmlformats.org/officeDocument/2006/relationships/image" Target="../media/image110.png"/></Relationships>
</file>

<file path=ppt/slides/_rels/slide46.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2.png"/><Relationship Id="rId7" Type="http://schemas.openxmlformats.org/officeDocument/2006/relationships/image" Target="../media/image115.png"/><Relationship Id="rId2" Type="http://schemas.openxmlformats.org/officeDocument/2006/relationships/notesSlide" Target="../notesSlides/notesSlide38.xml"/><Relationship Id="rId1" Type="http://schemas.openxmlformats.org/officeDocument/2006/relationships/slideLayout" Target="../slideLayouts/slideLayout4.xml"/><Relationship Id="rId6" Type="http://schemas.openxmlformats.org/officeDocument/2006/relationships/image" Target="../media/image114.png"/><Relationship Id="rId5" Type="http://schemas.openxmlformats.org/officeDocument/2006/relationships/image" Target="../media/image2300.png"/><Relationship Id="rId4" Type="http://schemas.openxmlformats.org/officeDocument/2006/relationships/image" Target="../media/image113.png"/></Relationships>
</file>

<file path=ppt/slides/_rels/slide47.xml.rels><?xml version="1.0" encoding="UTF-8" standalone="yes"?>
<Relationships xmlns="http://schemas.openxmlformats.org/package/2006/relationships"><Relationship Id="rId8" Type="http://schemas.openxmlformats.org/officeDocument/2006/relationships/image" Target="../media/image122.png"/><Relationship Id="rId3" Type="http://schemas.openxmlformats.org/officeDocument/2006/relationships/image" Target="../media/image117.png"/><Relationship Id="rId7" Type="http://schemas.openxmlformats.org/officeDocument/2006/relationships/image" Target="../media/image121.png"/><Relationship Id="rId2" Type="http://schemas.openxmlformats.org/officeDocument/2006/relationships/notesSlide" Target="../notesSlides/notesSlide39.xml"/><Relationship Id="rId1" Type="http://schemas.openxmlformats.org/officeDocument/2006/relationships/slideLayout" Target="../slideLayouts/slideLayout4.xml"/><Relationship Id="rId6" Type="http://schemas.openxmlformats.org/officeDocument/2006/relationships/image" Target="../media/image120.png"/><Relationship Id="rId5" Type="http://schemas.openxmlformats.org/officeDocument/2006/relationships/image" Target="../media/image119.png"/><Relationship Id="rId4" Type="http://schemas.openxmlformats.org/officeDocument/2006/relationships/image" Target="../media/image118.png"/><Relationship Id="rId9" Type="http://schemas.openxmlformats.org/officeDocument/2006/relationships/image" Target="../media/image1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847730089"/>
              </p:ext>
            </p:extLst>
          </p:nvPr>
        </p:nvGraphicFramePr>
        <p:xfrm>
          <a:off x="467544" y="908720"/>
          <a:ext cx="8208915" cy="5162641"/>
        </p:xfrm>
        <a:graphic>
          <a:graphicData uri="http://schemas.openxmlformats.org/drawingml/2006/table">
            <a:tbl>
              <a:tblPr firstRow="1" bandRow="1">
                <a:tableStyleId>{5C22544A-7EE6-4342-B048-85BDC9FD1C3A}</a:tableStyleId>
              </a:tblPr>
              <a:tblGrid>
                <a:gridCol w="452323">
                  <a:extLst>
                    <a:ext uri="{9D8B030D-6E8A-4147-A177-3AD203B41FA5}">
                      <a16:colId xmlns:a16="http://schemas.microsoft.com/office/drawing/2014/main" val="3115215194"/>
                    </a:ext>
                  </a:extLst>
                </a:gridCol>
                <a:gridCol w="1083586">
                  <a:extLst>
                    <a:ext uri="{9D8B030D-6E8A-4147-A177-3AD203B41FA5}">
                      <a16:colId xmlns:a16="http://schemas.microsoft.com/office/drawing/2014/main" val="2438358024"/>
                    </a:ext>
                  </a:extLst>
                </a:gridCol>
                <a:gridCol w="938612">
                  <a:extLst>
                    <a:ext uri="{9D8B030D-6E8A-4147-A177-3AD203B41FA5}">
                      <a16:colId xmlns:a16="http://schemas.microsoft.com/office/drawing/2014/main" val="4024420245"/>
                    </a:ext>
                  </a:extLst>
                </a:gridCol>
                <a:gridCol w="938612">
                  <a:extLst>
                    <a:ext uri="{9D8B030D-6E8A-4147-A177-3AD203B41FA5}">
                      <a16:colId xmlns:a16="http://schemas.microsoft.com/office/drawing/2014/main" val="1885199976"/>
                    </a:ext>
                  </a:extLst>
                </a:gridCol>
                <a:gridCol w="938612">
                  <a:extLst>
                    <a:ext uri="{9D8B030D-6E8A-4147-A177-3AD203B41FA5}">
                      <a16:colId xmlns:a16="http://schemas.microsoft.com/office/drawing/2014/main" val="2600189719"/>
                    </a:ext>
                  </a:extLst>
                </a:gridCol>
                <a:gridCol w="688815">
                  <a:extLst>
                    <a:ext uri="{9D8B030D-6E8A-4147-A177-3AD203B41FA5}">
                      <a16:colId xmlns:a16="http://schemas.microsoft.com/office/drawing/2014/main" val="459902815"/>
                    </a:ext>
                  </a:extLst>
                </a:gridCol>
                <a:gridCol w="1393855">
                  <a:extLst>
                    <a:ext uri="{9D8B030D-6E8A-4147-A177-3AD203B41FA5}">
                      <a16:colId xmlns:a16="http://schemas.microsoft.com/office/drawing/2014/main" val="4019554014"/>
                    </a:ext>
                  </a:extLst>
                </a:gridCol>
                <a:gridCol w="835888">
                  <a:extLst>
                    <a:ext uri="{9D8B030D-6E8A-4147-A177-3AD203B41FA5}">
                      <a16:colId xmlns:a16="http://schemas.microsoft.com/office/drawing/2014/main" val="1289474231"/>
                    </a:ext>
                  </a:extLst>
                </a:gridCol>
                <a:gridCol w="938612">
                  <a:extLst>
                    <a:ext uri="{9D8B030D-6E8A-4147-A177-3AD203B41FA5}">
                      <a16:colId xmlns:a16="http://schemas.microsoft.com/office/drawing/2014/main" val="2173516547"/>
                    </a:ext>
                  </a:extLst>
                </a:gridCol>
              </a:tblGrid>
              <a:tr h="281591">
                <a:tc gridSpan="9">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624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Attention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2015</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RSN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NoPE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97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MLA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1748438"/>
                  </a:ext>
                </a:extLst>
              </a:tr>
              <a:tr h="21989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Net (1.58)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526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 V4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5796025"/>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 K3,</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5172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22045">
                <a:tc gridSpan="9">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Kimi K3,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473367" y="609329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265460" y="6093296"/>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139803" y="6093296"/>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511172" y="6093296"/>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499814" y="2276872"/>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499814" y="1848212"/>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557472"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557472"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544066"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381840" y="5895776"/>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75959" y="544587"/>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1835696" y="6120308"/>
            <a:ext cx="284964" cy="225568"/>
          </a:xfrm>
          <a:prstGeom prst="rect">
            <a:avLst/>
          </a:prstGeom>
        </p:spPr>
      </p:pic>
      <p:pic>
        <p:nvPicPr>
          <p:cNvPr id="8" name="圖片 7">
            <a:extLst>
              <a:ext uri="{FF2B5EF4-FFF2-40B4-BE49-F238E27FC236}">
                <a16:creationId xmlns:a16="http://schemas.microsoft.com/office/drawing/2014/main" id="{7ED36330-513F-6262-DF54-CFB02CB18314}"/>
              </a:ext>
            </a:extLst>
          </p:cNvPr>
          <p:cNvPicPr>
            <a:picLocks noChangeAspect="1"/>
          </p:cNvPicPr>
          <p:nvPr/>
        </p:nvPicPr>
        <p:blipFill>
          <a:blip r:embed="rId14"/>
          <a:stretch>
            <a:fillRect/>
          </a:stretch>
        </p:blipFill>
        <p:spPr>
          <a:xfrm>
            <a:off x="4886498" y="6093296"/>
            <a:ext cx="287015" cy="284965"/>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4" name="橢圓 3">
            <a:extLst>
              <a:ext uri="{FF2B5EF4-FFF2-40B4-BE49-F238E27FC236}">
                <a16:creationId xmlns:a16="http://schemas.microsoft.com/office/drawing/2014/main" id="{D2089391-8D65-40E5-5C46-54BA071E571E}"/>
              </a:ext>
            </a:extLst>
          </p:cNvPr>
          <p:cNvSpPr/>
          <p:nvPr/>
        </p:nvSpPr>
        <p:spPr>
          <a:xfrm>
            <a:off x="7151290" y="64811"/>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AI</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6" name="橢圓 5">
            <a:extLst>
              <a:ext uri="{FF2B5EF4-FFF2-40B4-BE49-F238E27FC236}">
                <a16:creationId xmlns:a16="http://schemas.microsoft.com/office/drawing/2014/main" id="{23BB26CE-8640-3B58-7377-5C53396750A5}"/>
              </a:ext>
            </a:extLst>
          </p:cNvPr>
          <p:cNvSpPr/>
          <p:nvPr/>
        </p:nvSpPr>
        <p:spPr>
          <a:xfrm>
            <a:off x="7386703" y="377756"/>
            <a:ext cx="1012726" cy="103502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10" name="橢圓 9">
            <a:extLst>
              <a:ext uri="{FF2B5EF4-FFF2-40B4-BE49-F238E27FC236}">
                <a16:creationId xmlns:a16="http://schemas.microsoft.com/office/drawing/2014/main" id="{17DAC82A-858D-C745-4919-0FB742A474CB}"/>
              </a:ext>
            </a:extLst>
          </p:cNvPr>
          <p:cNvSpPr/>
          <p:nvPr/>
        </p:nvSpPr>
        <p:spPr>
          <a:xfrm>
            <a:off x="7592817" y="748867"/>
            <a:ext cx="600497" cy="55700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6" name="橢圓 15">
            <a:extLst>
              <a:ext uri="{FF2B5EF4-FFF2-40B4-BE49-F238E27FC236}">
                <a16:creationId xmlns:a16="http://schemas.microsoft.com/office/drawing/2014/main" id="{E7B04C76-E215-E3F7-08DB-60F870A1C84E}"/>
              </a:ext>
            </a:extLst>
          </p:cNvPr>
          <p:cNvSpPr/>
          <p:nvPr/>
        </p:nvSpPr>
        <p:spPr>
          <a:xfrm>
            <a:off x="7770100" y="10273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LLM</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1382004302"/>
              </p:ext>
            </p:extLst>
          </p:nvPr>
        </p:nvGraphicFramePr>
        <p:xfrm>
          <a:off x="5490780" y="443711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47463446"/>
              </p:ext>
            </p:extLst>
          </p:nvPr>
        </p:nvGraphicFramePr>
        <p:xfrm>
          <a:off x="4410659" y="5301208"/>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28803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a:off x="4851370" y="4149080"/>
            <a:ext cx="0" cy="107690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915620249"/>
              </p:ext>
            </p:extLst>
          </p:nvPr>
        </p:nvGraphicFramePr>
        <p:xfrm>
          <a:off x="2621428" y="5013176"/>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86409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2D9BD50B-577F-B4B4-A220-E73A646B5989}"/>
              </a:ext>
            </a:extLst>
          </p:cNvPr>
          <p:cNvGraphicFramePr>
            <a:graphicFrameLocks noGrp="1"/>
          </p:cNvGraphicFramePr>
          <p:nvPr>
            <p:extLst>
              <p:ext uri="{D42A27DB-BD31-4B8C-83A1-F6EECF244321}">
                <p14:modId xmlns:p14="http://schemas.microsoft.com/office/powerpoint/2010/main" val="2533785094"/>
              </p:ext>
            </p:extLst>
          </p:nvPr>
        </p:nvGraphicFramePr>
        <p:xfrm>
          <a:off x="3485298" y="6093296"/>
          <a:ext cx="1366071" cy="395501"/>
        </p:xfrm>
        <a:graphic>
          <a:graphicData uri="http://schemas.openxmlformats.org/drawingml/2006/table">
            <a:tbl>
              <a:tblPr firstRow="1" bandRow="1">
                <a:tableStyleId>{5C22544A-7EE6-4342-B048-85BDC9FD1C3A}</a:tableStyleId>
              </a:tblPr>
              <a:tblGrid>
                <a:gridCol w="1366071">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On-Policy Distillation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 (PPO/GRPO)</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1122051268"/>
              </p:ext>
            </p:extLst>
          </p:nvPr>
        </p:nvGraphicFramePr>
        <p:xfrm>
          <a:off x="7022636" y="4375409"/>
          <a:ext cx="1005748" cy="594408"/>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369529">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cxnSp>
        <p:nvCxnSpPr>
          <p:cNvPr id="18" name="直線單箭頭接點 17">
            <a:extLst>
              <a:ext uri="{FF2B5EF4-FFF2-40B4-BE49-F238E27FC236}">
                <a16:creationId xmlns:a16="http://schemas.microsoft.com/office/drawing/2014/main" id="{88021678-B509-2729-868F-CB4CCC276C52}"/>
              </a:ext>
            </a:extLst>
          </p:cNvPr>
          <p:cNvCxnSpPr>
            <a:cxnSpLocks/>
            <a:stCxn id="32" idx="2"/>
            <a:endCxn id="34"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4384151F-FC65-7879-6037-7998E8B5865E}"/>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8" name="矩形 27">
            <a:extLst>
              <a:ext uri="{FF2B5EF4-FFF2-40B4-BE49-F238E27FC236}">
                <a16:creationId xmlns:a16="http://schemas.microsoft.com/office/drawing/2014/main" id="{8B2CFC32-B4FC-5A53-A12B-A62E6642F669}"/>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087EAF49-76A4-9855-A6DB-9CB73E1F2CF1}"/>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2" name="矩形 31">
            <a:extLst>
              <a:ext uri="{FF2B5EF4-FFF2-40B4-BE49-F238E27FC236}">
                <a16:creationId xmlns:a16="http://schemas.microsoft.com/office/drawing/2014/main" id="{457242D4-BBEF-C76A-3C77-93F7F10AB31A}"/>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4" name="矩形 33">
            <a:extLst>
              <a:ext uri="{FF2B5EF4-FFF2-40B4-BE49-F238E27FC236}">
                <a16:creationId xmlns:a16="http://schemas.microsoft.com/office/drawing/2014/main" id="{A27308F5-3E88-93D0-5F86-AD6D42162455}"/>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160109" y="5930691"/>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3995936" y="5930691"/>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7" name="圖片 16">
            <a:extLst>
              <a:ext uri="{FF2B5EF4-FFF2-40B4-BE49-F238E27FC236}">
                <a16:creationId xmlns:a16="http://schemas.microsoft.com/office/drawing/2014/main" id="{DA873DEB-8EF1-D03C-A893-DA181A2AF90C}"/>
              </a:ext>
            </a:extLst>
          </p:cNvPr>
          <p:cNvPicPr>
            <a:picLocks noChangeAspect="1"/>
          </p:cNvPicPr>
          <p:nvPr/>
        </p:nvPicPr>
        <p:blipFill>
          <a:blip r:embed="rId2"/>
          <a:stretch>
            <a:fillRect/>
          </a:stretch>
        </p:blipFill>
        <p:spPr>
          <a:xfrm>
            <a:off x="851986" y="4022519"/>
            <a:ext cx="708323" cy="630617"/>
          </a:xfrm>
          <a:prstGeom prst="rect">
            <a:avLst/>
          </a:prstGeom>
        </p:spPr>
      </p:pic>
      <p:pic>
        <p:nvPicPr>
          <p:cNvPr id="8" name="圖片 7">
            <a:extLst>
              <a:ext uri="{FF2B5EF4-FFF2-40B4-BE49-F238E27FC236}">
                <a16:creationId xmlns:a16="http://schemas.microsoft.com/office/drawing/2014/main" id="{2765FB0B-B169-4129-2ACA-239130B0C4E2}"/>
              </a:ext>
            </a:extLst>
          </p:cNvPr>
          <p:cNvPicPr>
            <a:picLocks noChangeAspect="1"/>
          </p:cNvPicPr>
          <p:nvPr/>
        </p:nvPicPr>
        <p:blipFill>
          <a:blip r:embed="rId3"/>
          <a:stretch>
            <a:fillRect/>
          </a:stretch>
        </p:blipFill>
        <p:spPr>
          <a:xfrm>
            <a:off x="899592" y="116631"/>
            <a:ext cx="3456384" cy="1661615"/>
          </a:xfrm>
          <a:prstGeom prst="rect">
            <a:avLst/>
          </a:prstGeom>
        </p:spPr>
      </p:pic>
      <p:sp>
        <p:nvSpPr>
          <p:cNvPr id="3" name="橢圓 2">
            <a:extLst>
              <a:ext uri="{FF2B5EF4-FFF2-40B4-BE49-F238E27FC236}">
                <a16:creationId xmlns:a16="http://schemas.microsoft.com/office/drawing/2014/main" id="{AEA0B1E4-3CC1-CAFE-7ACD-0B0E606CD5A2}"/>
              </a:ext>
            </a:extLst>
          </p:cNvPr>
          <p:cNvSpPr/>
          <p:nvPr/>
        </p:nvSpPr>
        <p:spPr>
          <a:xfrm>
            <a:off x="4716016" y="1700808"/>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NN</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5" name="橢圓 4">
            <a:extLst>
              <a:ext uri="{FF2B5EF4-FFF2-40B4-BE49-F238E27FC236}">
                <a16:creationId xmlns:a16="http://schemas.microsoft.com/office/drawing/2014/main" id="{881E42A9-3C14-33A5-57A8-6E87E4934D33}"/>
              </a:ext>
            </a:extLst>
          </p:cNvPr>
          <p:cNvSpPr/>
          <p:nvPr/>
        </p:nvSpPr>
        <p:spPr>
          <a:xfrm>
            <a:off x="5557587"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CNN</a:t>
            </a:r>
          </a:p>
        </p:txBody>
      </p:sp>
      <p:sp>
        <p:nvSpPr>
          <p:cNvPr id="7" name="橢圓 6">
            <a:extLst>
              <a:ext uri="{FF2B5EF4-FFF2-40B4-BE49-F238E27FC236}">
                <a16:creationId xmlns:a16="http://schemas.microsoft.com/office/drawing/2014/main" id="{AA368A15-3EB1-B632-32F7-35E0E54C152A}"/>
              </a:ext>
            </a:extLst>
          </p:cNvPr>
          <p:cNvSpPr/>
          <p:nvPr/>
        </p:nvSpPr>
        <p:spPr>
          <a:xfrm>
            <a:off x="5317440" y="2085656"/>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MLP</a:t>
            </a:r>
          </a:p>
        </p:txBody>
      </p:sp>
      <p:sp>
        <p:nvSpPr>
          <p:cNvPr id="10" name="橢圓 9">
            <a:extLst>
              <a:ext uri="{FF2B5EF4-FFF2-40B4-BE49-F238E27FC236}">
                <a16:creationId xmlns:a16="http://schemas.microsoft.com/office/drawing/2014/main" id="{E0141726-C312-30FF-5F17-291C4EB11CB6}"/>
              </a:ext>
            </a:extLst>
          </p:cNvPr>
          <p:cNvSpPr/>
          <p:nvPr/>
        </p:nvSpPr>
        <p:spPr>
          <a:xfrm>
            <a:off x="4821622"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RNN</a:t>
            </a:r>
          </a:p>
        </p:txBody>
      </p:sp>
      <p:sp>
        <p:nvSpPr>
          <p:cNvPr id="12" name="橢圓 11">
            <a:extLst>
              <a:ext uri="{FF2B5EF4-FFF2-40B4-BE49-F238E27FC236}">
                <a16:creationId xmlns:a16="http://schemas.microsoft.com/office/drawing/2014/main" id="{0DB21296-B2AC-876B-8C54-9C8E250C834F}"/>
              </a:ext>
            </a:extLst>
          </p:cNvPr>
          <p:cNvSpPr/>
          <p:nvPr/>
        </p:nvSpPr>
        <p:spPr>
          <a:xfrm>
            <a:off x="4644008" y="2581444"/>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LSTM</a:t>
            </a:r>
          </a:p>
        </p:txBody>
      </p:sp>
      <p:sp>
        <p:nvSpPr>
          <p:cNvPr id="14" name="橢圓 13">
            <a:extLst>
              <a:ext uri="{FF2B5EF4-FFF2-40B4-BE49-F238E27FC236}">
                <a16:creationId xmlns:a16="http://schemas.microsoft.com/office/drawing/2014/main" id="{004290F5-281E-93FC-60A1-A2E3666349C4}"/>
              </a:ext>
            </a:extLst>
          </p:cNvPr>
          <p:cNvSpPr/>
          <p:nvPr/>
        </p:nvSpPr>
        <p:spPr>
          <a:xfrm>
            <a:off x="4427984" y="2903790"/>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Attention</a:t>
            </a:r>
          </a:p>
        </p:txBody>
      </p:sp>
      <p:sp>
        <p:nvSpPr>
          <p:cNvPr id="16" name="橢圓 15">
            <a:extLst>
              <a:ext uri="{FF2B5EF4-FFF2-40B4-BE49-F238E27FC236}">
                <a16:creationId xmlns:a16="http://schemas.microsoft.com/office/drawing/2014/main" id="{52295574-F9E8-1BB0-0D3E-4D88512B5343}"/>
              </a:ext>
            </a:extLst>
          </p:cNvPr>
          <p:cNvSpPr/>
          <p:nvPr/>
        </p:nvSpPr>
        <p:spPr>
          <a:xfrm>
            <a:off x="5226439" y="3341155"/>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FNN</a:t>
            </a:r>
          </a:p>
        </p:txBody>
      </p:sp>
      <p:sp>
        <p:nvSpPr>
          <p:cNvPr id="20" name="橢圓 19">
            <a:extLst>
              <a:ext uri="{FF2B5EF4-FFF2-40B4-BE49-F238E27FC236}">
                <a16:creationId xmlns:a16="http://schemas.microsoft.com/office/drawing/2014/main" id="{78A2F39E-B570-C98D-37E5-754D1391B769}"/>
              </a:ext>
            </a:extLst>
          </p:cNvPr>
          <p:cNvSpPr/>
          <p:nvPr/>
        </p:nvSpPr>
        <p:spPr>
          <a:xfrm>
            <a:off x="5804374" y="2581443"/>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 CNN</a:t>
            </a:r>
          </a:p>
        </p:txBody>
      </p:sp>
      <p:sp>
        <p:nvSpPr>
          <p:cNvPr id="22" name="橢圓 21">
            <a:extLst>
              <a:ext uri="{FF2B5EF4-FFF2-40B4-BE49-F238E27FC236}">
                <a16:creationId xmlns:a16="http://schemas.microsoft.com/office/drawing/2014/main" id="{6EA6E73F-53FC-FCE3-3FE0-22F933B86A25}"/>
              </a:ext>
            </a:extLst>
          </p:cNvPr>
          <p:cNvSpPr/>
          <p:nvPr/>
        </p:nvSpPr>
        <p:spPr>
          <a:xfrm>
            <a:off x="6012160" y="2917255"/>
            <a:ext cx="673879" cy="655761"/>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Residual</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24" name="橢圓 23">
            <a:extLst>
              <a:ext uri="{FF2B5EF4-FFF2-40B4-BE49-F238E27FC236}">
                <a16:creationId xmlns:a16="http://schemas.microsoft.com/office/drawing/2014/main" id="{5AD84FAD-CD1C-1567-2DA1-5D10317355DF}"/>
              </a:ext>
            </a:extLst>
          </p:cNvPr>
          <p:cNvSpPr/>
          <p:nvPr/>
        </p:nvSpPr>
        <p:spPr>
          <a:xfrm>
            <a:off x="5226439" y="393305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a:t>
            </a:r>
            <a:r>
              <a:rPr lang="en-US" altLang="zh-TW" sz="1200" dirty="0" err="1">
                <a:solidFill>
                  <a:schemeClr val="tx1"/>
                </a:solidFill>
                <a:latin typeface="ADLaM Display" panose="02010000000000000000" pitchFamily="2" charset="0"/>
                <a:ea typeface="ADLaM Display" panose="02010000000000000000" pitchFamily="2" charset="0"/>
                <a:cs typeface="ADLaM Display" panose="02010000000000000000" pitchFamily="2" charset="0"/>
              </a:rPr>
              <a:t>MoE</a:t>
            </a:r>
            <a:endPar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27" name="直線單箭頭接點 26">
            <a:extLst>
              <a:ext uri="{FF2B5EF4-FFF2-40B4-BE49-F238E27FC236}">
                <a16:creationId xmlns:a16="http://schemas.microsoft.com/office/drawing/2014/main" id="{0CC5A7DD-41A0-7EEC-23DC-D93DBA4C6ABD}"/>
              </a:ext>
            </a:extLst>
          </p:cNvPr>
          <p:cNvCxnSpPr>
            <a:cxnSpLocks/>
            <a:endCxn id="32" idx="0"/>
          </p:cNvCxnSpPr>
          <p:nvPr/>
        </p:nvCxnSpPr>
        <p:spPr>
          <a:xfrm>
            <a:off x="3686775" y="3697255"/>
            <a:ext cx="15409" cy="1141935"/>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4B11118-85CB-E3B3-3B58-A81E7240DFBE}"/>
              </a:ext>
            </a:extLst>
          </p:cNvPr>
          <p:cNvSpPr/>
          <p:nvPr/>
        </p:nvSpPr>
        <p:spPr>
          <a:xfrm>
            <a:off x="3336424" y="3812622"/>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9" name="矩形 28">
            <a:extLst>
              <a:ext uri="{FF2B5EF4-FFF2-40B4-BE49-F238E27FC236}">
                <a16:creationId xmlns:a16="http://schemas.microsoft.com/office/drawing/2014/main" id="{019896D7-A914-F596-8731-06D7273EE94D}"/>
              </a:ext>
            </a:extLst>
          </p:cNvPr>
          <p:cNvSpPr/>
          <p:nvPr/>
        </p:nvSpPr>
        <p:spPr>
          <a:xfrm>
            <a:off x="3336424" y="4107883"/>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8E97BE1F-4641-F50D-115E-0BA3293DC4A9}"/>
              </a:ext>
            </a:extLst>
          </p:cNvPr>
          <p:cNvSpPr/>
          <p:nvPr/>
        </p:nvSpPr>
        <p:spPr>
          <a:xfrm>
            <a:off x="3336424" y="4388937"/>
            <a:ext cx="731520"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1" name="矩形 30">
            <a:extLst>
              <a:ext uri="{FF2B5EF4-FFF2-40B4-BE49-F238E27FC236}">
                <a16:creationId xmlns:a16="http://schemas.microsoft.com/office/drawing/2014/main" id="{E9F6D5AD-9561-8B3B-9EE9-975ADF9B9104}"/>
              </a:ext>
            </a:extLst>
          </p:cNvPr>
          <p:cNvSpPr/>
          <p:nvPr/>
        </p:nvSpPr>
        <p:spPr>
          <a:xfrm>
            <a:off x="3328805" y="3524590"/>
            <a:ext cx="731520" cy="172665"/>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2" name="矩形 31">
            <a:extLst>
              <a:ext uri="{FF2B5EF4-FFF2-40B4-BE49-F238E27FC236}">
                <a16:creationId xmlns:a16="http://schemas.microsoft.com/office/drawing/2014/main" id="{01E62B92-FEFC-1B8E-1469-71381B806F25}"/>
              </a:ext>
            </a:extLst>
          </p:cNvPr>
          <p:cNvSpPr/>
          <p:nvPr/>
        </p:nvSpPr>
        <p:spPr>
          <a:xfrm>
            <a:off x="3336424" y="4839190"/>
            <a:ext cx="731520"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cxnSp>
        <p:nvCxnSpPr>
          <p:cNvPr id="33" name="直線單箭頭接點 32">
            <a:extLst>
              <a:ext uri="{FF2B5EF4-FFF2-40B4-BE49-F238E27FC236}">
                <a16:creationId xmlns:a16="http://schemas.microsoft.com/office/drawing/2014/main" id="{618BFC6C-263A-5C9E-AE66-E90562B0DA8A}"/>
              </a:ext>
            </a:extLst>
          </p:cNvPr>
          <p:cNvCxnSpPr>
            <a:cxnSpLocks/>
          </p:cNvCxnSpPr>
          <p:nvPr/>
        </p:nvCxnSpPr>
        <p:spPr>
          <a:xfrm>
            <a:off x="8172400" y="1802846"/>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6" name="矩形 35">
            <a:extLst>
              <a:ext uri="{FF2B5EF4-FFF2-40B4-BE49-F238E27FC236}">
                <a16:creationId xmlns:a16="http://schemas.microsoft.com/office/drawing/2014/main" id="{E7568AED-D187-BF2E-B093-C9BD3DBBAEDD}"/>
              </a:ext>
            </a:extLst>
          </p:cNvPr>
          <p:cNvSpPr/>
          <p:nvPr/>
        </p:nvSpPr>
        <p:spPr>
          <a:xfrm>
            <a:off x="7525589" y="4067357"/>
            <a:ext cx="430785"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mHC</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38" name="矩形 37">
            <a:extLst>
              <a:ext uri="{FF2B5EF4-FFF2-40B4-BE49-F238E27FC236}">
                <a16:creationId xmlns:a16="http://schemas.microsoft.com/office/drawing/2014/main" id="{C3BBF09B-E535-6D8F-9D33-2BF80A6AE597}"/>
              </a:ext>
            </a:extLst>
          </p:cNvPr>
          <p:cNvSpPr/>
          <p:nvPr/>
        </p:nvSpPr>
        <p:spPr>
          <a:xfrm>
            <a:off x="6946085" y="4500463"/>
            <a:ext cx="628458" cy="361919"/>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AttnRes</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cxnSp>
        <p:nvCxnSpPr>
          <p:cNvPr id="39" name="直線單箭頭接點 38">
            <a:extLst>
              <a:ext uri="{FF2B5EF4-FFF2-40B4-BE49-F238E27FC236}">
                <a16:creationId xmlns:a16="http://schemas.microsoft.com/office/drawing/2014/main" id="{89B964A2-FE21-47BF-C892-9DCE0393D14E}"/>
              </a:ext>
            </a:extLst>
          </p:cNvPr>
          <p:cNvCxnSpPr>
            <a:cxnSpLocks/>
            <a:stCxn id="43" idx="2"/>
            <a:endCxn id="44" idx="0"/>
          </p:cNvCxnSpPr>
          <p:nvPr/>
        </p:nvCxnSpPr>
        <p:spPr>
          <a:xfrm>
            <a:off x="1206149" y="4718440"/>
            <a:ext cx="15238" cy="582768"/>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0A1996EB-D42C-740B-85D1-30E38FB4CF93}"/>
              </a:ext>
            </a:extLst>
          </p:cNvPr>
          <p:cNvSpPr/>
          <p:nvPr/>
        </p:nvSpPr>
        <p:spPr>
          <a:xfrm>
            <a:off x="851987" y="4545524"/>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Gopher</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4" name="矩形 43">
            <a:extLst>
              <a:ext uri="{FF2B5EF4-FFF2-40B4-BE49-F238E27FC236}">
                <a16:creationId xmlns:a16="http://schemas.microsoft.com/office/drawing/2014/main" id="{7E85ABA7-84D4-642D-6CF5-1F0E4E10A25E}"/>
              </a:ext>
            </a:extLst>
          </p:cNvPr>
          <p:cNvSpPr/>
          <p:nvPr/>
        </p:nvSpPr>
        <p:spPr>
          <a:xfrm>
            <a:off x="867225" y="530120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Chinchilla</a:t>
            </a:r>
          </a:p>
        </p:txBody>
      </p:sp>
      <p:cxnSp>
        <p:nvCxnSpPr>
          <p:cNvPr id="45" name="直線單箭頭接點 44">
            <a:extLst>
              <a:ext uri="{FF2B5EF4-FFF2-40B4-BE49-F238E27FC236}">
                <a16:creationId xmlns:a16="http://schemas.microsoft.com/office/drawing/2014/main" id="{4ED559E8-20A7-6144-F4C3-CB32FB2CB002}"/>
              </a:ext>
            </a:extLst>
          </p:cNvPr>
          <p:cNvCxnSpPr>
            <a:cxnSpLocks/>
            <a:stCxn id="49" idx="2"/>
            <a:endCxn id="50" idx="0"/>
          </p:cNvCxnSpPr>
          <p:nvPr/>
        </p:nvCxnSpPr>
        <p:spPr>
          <a:xfrm>
            <a:off x="2783628" y="3693314"/>
            <a:ext cx="0" cy="98644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2CE58CCD-7B0B-E793-E6B9-CF9404AF1D3F}"/>
              </a:ext>
            </a:extLst>
          </p:cNvPr>
          <p:cNvSpPr/>
          <p:nvPr/>
        </p:nvSpPr>
        <p:spPr>
          <a:xfrm>
            <a:off x="2417868" y="3808430"/>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RoPE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7" name="矩形 46">
            <a:extLst>
              <a:ext uri="{FF2B5EF4-FFF2-40B4-BE49-F238E27FC236}">
                <a16:creationId xmlns:a16="http://schemas.microsoft.com/office/drawing/2014/main" id="{D70EE51F-11F3-E227-6416-3EF6D0A0EF82}"/>
              </a:ext>
            </a:extLst>
          </p:cNvPr>
          <p:cNvSpPr/>
          <p:nvPr/>
        </p:nvSpPr>
        <p:spPr>
          <a:xfrm>
            <a:off x="2417868" y="4103691"/>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8" name="矩形 47">
            <a:extLst>
              <a:ext uri="{FF2B5EF4-FFF2-40B4-BE49-F238E27FC236}">
                <a16:creationId xmlns:a16="http://schemas.microsoft.com/office/drawing/2014/main" id="{8C481EE5-03DA-1F5B-927C-966083F6C882}"/>
              </a:ext>
            </a:extLst>
          </p:cNvPr>
          <p:cNvSpPr/>
          <p:nvPr/>
        </p:nvSpPr>
        <p:spPr>
          <a:xfrm>
            <a:off x="2417868" y="4365104"/>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p:txBody>
      </p:sp>
      <p:sp>
        <p:nvSpPr>
          <p:cNvPr id="49" name="矩形 48">
            <a:extLst>
              <a:ext uri="{FF2B5EF4-FFF2-40B4-BE49-F238E27FC236}">
                <a16:creationId xmlns:a16="http://schemas.microsoft.com/office/drawing/2014/main" id="{FFDB034B-47CC-EC94-72A4-65725CFB25A7}"/>
              </a:ext>
            </a:extLst>
          </p:cNvPr>
          <p:cNvSpPr/>
          <p:nvPr/>
        </p:nvSpPr>
        <p:spPr>
          <a:xfrm>
            <a:off x="2417868" y="3520398"/>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0" name="矩形 49">
            <a:extLst>
              <a:ext uri="{FF2B5EF4-FFF2-40B4-BE49-F238E27FC236}">
                <a16:creationId xmlns:a16="http://schemas.microsoft.com/office/drawing/2014/main" id="{E58CE629-9C97-E6A5-73B1-3258C20DCA38}"/>
              </a:ext>
            </a:extLst>
          </p:cNvPr>
          <p:cNvSpPr/>
          <p:nvPr/>
        </p:nvSpPr>
        <p:spPr>
          <a:xfrm>
            <a:off x="2417868" y="4679755"/>
            <a:ext cx="731520" cy="309749"/>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everywhere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 name="矩形 3">
            <a:extLst>
              <a:ext uri="{FF2B5EF4-FFF2-40B4-BE49-F238E27FC236}">
                <a16:creationId xmlns:a16="http://schemas.microsoft.com/office/drawing/2014/main" id="{0AF6AAD9-A49B-4E37-921F-F55608D4D506}"/>
              </a:ext>
            </a:extLst>
          </p:cNvPr>
          <p:cNvSpPr/>
          <p:nvPr/>
        </p:nvSpPr>
        <p:spPr>
          <a:xfrm>
            <a:off x="6473138" y="4507094"/>
            <a:ext cx="407112" cy="361918"/>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PLE</a:t>
            </a:r>
          </a:p>
        </p:txBody>
      </p:sp>
      <p:pic>
        <p:nvPicPr>
          <p:cNvPr id="13" name="圖片 12">
            <a:extLst>
              <a:ext uri="{FF2B5EF4-FFF2-40B4-BE49-F238E27FC236}">
                <a16:creationId xmlns:a16="http://schemas.microsoft.com/office/drawing/2014/main" id="{ECDE642D-68D6-0AEB-A994-C8203492E086}"/>
              </a:ext>
            </a:extLst>
          </p:cNvPr>
          <p:cNvPicPr>
            <a:picLocks noChangeAspect="1"/>
          </p:cNvPicPr>
          <p:nvPr/>
        </p:nvPicPr>
        <p:blipFill>
          <a:blip r:embed="rId4"/>
          <a:stretch>
            <a:fillRect/>
          </a:stretch>
        </p:blipFill>
        <p:spPr>
          <a:xfrm>
            <a:off x="990092" y="5486828"/>
            <a:ext cx="462587" cy="605198"/>
          </a:xfrm>
          <a:prstGeom prst="rect">
            <a:avLst/>
          </a:prstGeom>
        </p:spPr>
      </p:pic>
      <p:cxnSp>
        <p:nvCxnSpPr>
          <p:cNvPr id="41" name="接點: 肘形 40">
            <a:extLst>
              <a:ext uri="{FF2B5EF4-FFF2-40B4-BE49-F238E27FC236}">
                <a16:creationId xmlns:a16="http://schemas.microsoft.com/office/drawing/2014/main" id="{3F50133B-B797-9BF6-EE93-502F6DB7AD4A}"/>
              </a:ext>
            </a:extLst>
          </p:cNvPr>
          <p:cNvCxnSpPr>
            <a:cxnSpLocks/>
            <a:stCxn id="22" idx="6"/>
            <a:endCxn id="36" idx="0"/>
          </p:cNvCxnSpPr>
          <p:nvPr/>
        </p:nvCxnSpPr>
        <p:spPr>
          <a:xfrm>
            <a:off x="6686039" y="3245136"/>
            <a:ext cx="1054943" cy="822221"/>
          </a:xfrm>
          <a:prstGeom prst="bentConnector2">
            <a:avLst/>
          </a:prstGeom>
          <a:ln w="22225">
            <a:tailEnd type="triangle"/>
          </a:ln>
        </p:spPr>
        <p:style>
          <a:lnRef idx="1">
            <a:schemeClr val="accent1"/>
          </a:lnRef>
          <a:fillRef idx="0">
            <a:schemeClr val="accent1"/>
          </a:fillRef>
          <a:effectRef idx="0">
            <a:schemeClr val="accent1"/>
          </a:effectRef>
          <a:fontRef idx="minor">
            <a:schemeClr val="tx1"/>
          </a:fontRef>
        </p:style>
      </p:cxnSp>
      <p:cxnSp>
        <p:nvCxnSpPr>
          <p:cNvPr id="53" name="接點: 肘形 52">
            <a:extLst>
              <a:ext uri="{FF2B5EF4-FFF2-40B4-BE49-F238E27FC236}">
                <a16:creationId xmlns:a16="http://schemas.microsoft.com/office/drawing/2014/main" id="{93CC7F29-6E18-A8DB-4102-6436A1068764}"/>
              </a:ext>
            </a:extLst>
          </p:cNvPr>
          <p:cNvCxnSpPr>
            <a:cxnSpLocks/>
            <a:stCxn id="22" idx="6"/>
            <a:endCxn id="4" idx="0"/>
          </p:cNvCxnSpPr>
          <p:nvPr/>
        </p:nvCxnSpPr>
        <p:spPr>
          <a:xfrm flipH="1">
            <a:off x="6676694" y="3245136"/>
            <a:ext cx="9345" cy="1261958"/>
          </a:xfrm>
          <a:prstGeom prst="bentConnector4">
            <a:avLst>
              <a:gd name="adj1" fmla="val -2446228"/>
              <a:gd name="adj2" fmla="val 62991"/>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925A013C-BF7E-1854-1013-89582555D429}"/>
              </a:ext>
            </a:extLst>
          </p:cNvPr>
          <p:cNvSpPr/>
          <p:nvPr/>
        </p:nvSpPr>
        <p:spPr>
          <a:xfrm>
            <a:off x="7525592" y="3635309"/>
            <a:ext cx="430784"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HC</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cxnSp>
        <p:nvCxnSpPr>
          <p:cNvPr id="61" name="接點: 肘形 60">
            <a:extLst>
              <a:ext uri="{FF2B5EF4-FFF2-40B4-BE49-F238E27FC236}">
                <a16:creationId xmlns:a16="http://schemas.microsoft.com/office/drawing/2014/main" id="{F8D57CE2-A025-EBE6-5EAA-5F7513670AB1}"/>
              </a:ext>
            </a:extLst>
          </p:cNvPr>
          <p:cNvCxnSpPr>
            <a:cxnSpLocks/>
            <a:stCxn id="22" idx="6"/>
            <a:endCxn id="38" idx="0"/>
          </p:cNvCxnSpPr>
          <p:nvPr/>
        </p:nvCxnSpPr>
        <p:spPr>
          <a:xfrm>
            <a:off x="6686039" y="3245136"/>
            <a:ext cx="574275" cy="1255327"/>
          </a:xfrm>
          <a:prstGeom prst="bentConnector2">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21" name="橢圓 20">
            <a:extLst>
              <a:ext uri="{FF2B5EF4-FFF2-40B4-BE49-F238E27FC236}">
                <a16:creationId xmlns:a16="http://schemas.microsoft.com/office/drawing/2014/main" id="{2F0DFBC6-3A66-B6F7-00EF-312D32966A21}"/>
              </a:ext>
            </a:extLst>
          </p:cNvPr>
          <p:cNvSpPr/>
          <p:nvPr/>
        </p:nvSpPr>
        <p:spPr>
          <a:xfrm>
            <a:off x="6150790" y="3369607"/>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Dense</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40" name="橢圓 39">
            <a:extLst>
              <a:ext uri="{FF2B5EF4-FFF2-40B4-BE49-F238E27FC236}">
                <a16:creationId xmlns:a16="http://schemas.microsoft.com/office/drawing/2014/main" id="{C26C33D0-E4B4-743E-50E7-154C9AAEFFEE}"/>
              </a:ext>
            </a:extLst>
          </p:cNvPr>
          <p:cNvSpPr/>
          <p:nvPr/>
        </p:nvSpPr>
        <p:spPr>
          <a:xfrm>
            <a:off x="6169886" y="3717032"/>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MUDD</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Former</a:t>
            </a:r>
          </a:p>
        </p:txBody>
      </p:sp>
    </p:spTree>
    <p:extLst>
      <p:ext uri="{BB962C8B-B14F-4D97-AF65-F5344CB8AC3E}">
        <p14:creationId xmlns:p14="http://schemas.microsoft.com/office/powerpoint/2010/main" val="18289672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96F189B-CCA9-A190-9342-DFE45EE39B14}"/>
              </a:ext>
            </a:extLst>
          </p:cNvPr>
          <p:cNvPicPr>
            <a:picLocks noChangeAspect="1"/>
          </p:cNvPicPr>
          <p:nvPr/>
        </p:nvPicPr>
        <p:blipFill>
          <a:blip r:embed="rId3"/>
          <a:stretch>
            <a:fillRect/>
          </a:stretch>
        </p:blipFill>
        <p:spPr>
          <a:xfrm>
            <a:off x="3176392" y="2390630"/>
            <a:ext cx="2791215" cy="2076740"/>
          </a:xfrm>
          <a:prstGeom prst="rect">
            <a:avLst/>
          </a:prstGeom>
        </p:spPr>
      </p:pic>
      <p:sp>
        <p:nvSpPr>
          <p:cNvPr id="5" name="文字方塊 4">
            <a:extLst>
              <a:ext uri="{FF2B5EF4-FFF2-40B4-BE49-F238E27FC236}">
                <a16:creationId xmlns:a16="http://schemas.microsoft.com/office/drawing/2014/main" id="{ACDF7882-DCFE-49CC-16BA-3B03F5D9EC4F}"/>
              </a:ext>
            </a:extLst>
          </p:cNvPr>
          <p:cNvSpPr txBox="1"/>
          <p:nvPr/>
        </p:nvSpPr>
        <p:spPr>
          <a:xfrm>
            <a:off x="395536" y="260648"/>
            <a:ext cx="8352928" cy="797975"/>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1. 編碼公式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原始 Transformer 是直接在輸入的詞向量（Word Embedding）上，</a:t>
            </a:r>
            <a:r>
              <a:rPr lang="zh-TW" altLang="zh-TW" sz="1100" b="1" u="none" strike="noStrike" dirty="0">
                <a:effectLst/>
                <a:latin typeface="微軟正黑體" panose="020B0604030504040204" pitchFamily="34" charset="-120"/>
                <a:ea typeface="微軟正黑體" panose="020B0604030504040204" pitchFamily="34" charset="-120"/>
              </a:rPr>
              <a:t>「逐個維度相加」</a:t>
            </a:r>
            <a:r>
              <a:rPr lang="zh-TW" altLang="zh-TW" sz="1100" b="0" u="none" strike="noStrike" dirty="0">
                <a:effectLst/>
                <a:latin typeface="微軟正黑體" panose="020B0604030504040204" pitchFamily="34" charset="-120"/>
                <a:ea typeface="微軟正黑體" panose="020B0604030504040204" pitchFamily="34" charset="-120"/>
              </a:rPr>
              <a:t>一個固定計算出來的位置向量。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對於句子中第 pos 個位置的字，它對應的編碼向量中第 i 個維度的計算公式如下：</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en-US" altLang="zh-TW" sz="1100" b="0" u="none" strike="noStrike" dirty="0">
                <a:effectLst/>
                <a:latin typeface="微軟正黑體" panose="020B0604030504040204" pitchFamily="34" charset="-120"/>
                <a:ea typeface="微軟正黑體" panose="020B0604030504040204" pitchFamily="34" charset="-120"/>
              </a:rPr>
              <a:t>.</a:t>
            </a:r>
            <a:endParaRPr lang="zh-TW" altLang="zh-TW" sz="1100" b="0" u="none" strike="noStrike" dirty="0">
              <a:effectLst/>
              <a:latin typeface="微軟正黑體" panose="020B0604030504040204" pitchFamily="34" charset="-120"/>
              <a:ea typeface="微軟正黑體" panose="020B0604030504040204" pitchFamily="34" charset="-120"/>
            </a:endParaRPr>
          </a:p>
        </p:txBody>
      </p:sp>
      <p:pic>
        <p:nvPicPr>
          <p:cNvPr id="7" name="圖片 6">
            <a:extLst>
              <a:ext uri="{FF2B5EF4-FFF2-40B4-BE49-F238E27FC236}">
                <a16:creationId xmlns:a16="http://schemas.microsoft.com/office/drawing/2014/main" id="{2179AD0A-1E04-6EE4-D5EC-F1355DDD6210}"/>
              </a:ext>
            </a:extLst>
          </p:cNvPr>
          <p:cNvPicPr>
            <a:picLocks noChangeAspect="1"/>
          </p:cNvPicPr>
          <p:nvPr/>
        </p:nvPicPr>
        <p:blipFill>
          <a:blip r:embed="rId4"/>
          <a:stretch>
            <a:fillRect/>
          </a:stretch>
        </p:blipFill>
        <p:spPr>
          <a:xfrm>
            <a:off x="1509284" y="4485279"/>
            <a:ext cx="6125430" cy="1333686"/>
          </a:xfrm>
          <a:prstGeom prst="rect">
            <a:avLst/>
          </a:prstGeom>
        </p:spPr>
      </p:pic>
    </p:spTree>
    <p:extLst>
      <p:ext uri="{BB962C8B-B14F-4D97-AF65-F5344CB8AC3E}">
        <p14:creationId xmlns:p14="http://schemas.microsoft.com/office/powerpoint/2010/main" val="36304154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nvGraphicFramePr>
        <p:xfrm>
          <a:off x="539552" y="2708920"/>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1" name="接點: 弧形 20">
            <a:extLst>
              <a:ext uri="{FF2B5EF4-FFF2-40B4-BE49-F238E27FC236}">
                <a16:creationId xmlns:a16="http://schemas.microsoft.com/office/drawing/2014/main" id="{34301705-C84B-C3D0-5E5A-82DF40E8C7FB}"/>
              </a:ext>
            </a:extLst>
          </p:cNvPr>
          <p:cNvCxnSpPr>
            <a:cxnSpLocks/>
            <a:stCxn id="67" idx="0"/>
            <a:endCxn id="72" idx="0"/>
          </p:cNvCxnSpPr>
          <p:nvPr/>
        </p:nvCxnSpPr>
        <p:spPr>
          <a:xfrm rot="5400000" flipH="1" flipV="1">
            <a:off x="2069267" y="2021951"/>
            <a:ext cx="360040" cy="2742091"/>
          </a:xfrm>
          <a:prstGeom prst="curvedConnector3">
            <a:avLst>
              <a:gd name="adj1" fmla="val 163493"/>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28160" y="132193"/>
            <a:ext cx="423020"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6" name="文字方塊 5">
            <a:extLst>
              <a:ext uri="{FF2B5EF4-FFF2-40B4-BE49-F238E27FC236}">
                <a16:creationId xmlns:a16="http://schemas.microsoft.com/office/drawing/2014/main" id="{98F34B11-0C96-5088-8387-96566B32495D}"/>
              </a:ext>
            </a:extLst>
          </p:cNvPr>
          <p:cNvSpPr txBox="1"/>
          <p:nvPr/>
        </p:nvSpPr>
        <p:spPr>
          <a:xfrm>
            <a:off x="2123728" y="2746973"/>
            <a:ext cx="469803" cy="1894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rgbClr val="FF0000"/>
                </a:solidFill>
                <a:latin typeface="Gadugi" panose="020B0502040204020203" pitchFamily="34" charset="0"/>
                <a:ea typeface="Gadugi" panose="020B0502040204020203" pitchFamily="34" charset="0"/>
                <a:cs typeface="ADLaM Display" panose="02010000000000000000" pitchFamily="2" charset="0"/>
              </a:rPr>
              <a:t>Predict</a:t>
            </a:r>
            <a:endParaRPr lang="en-US" altLang="zh-TW" sz="1000" u="none" strike="noStrike" dirty="0">
              <a:solidFill>
                <a:srgbClr val="FF0000"/>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400057008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5796136" y="113486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120820"/>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marR="0" lvl="0" indent="-285750" algn="l" defTabSz="19431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Gradient Descent</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14:m>
                  <m:oMath xmlns:m="http://schemas.openxmlformats.org/officeDocument/2006/math">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𝑓</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sSub>
                      <m:sSubPr>
                        <m:ctrl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m:rPr>
                            <m:sty m:val="p"/>
                          </m:r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ω</m:t>
                        </m:r>
                      </m:e>
                      <m:sub>
                        <m:r>
                          <m:rPr>
                            <m:sty m:val="p"/>
                          </m:rP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i</m:t>
                        </m:r>
                      </m:sub>
                    </m:sSub>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oMath>
                </a14:m>
                <a:endParaRPr kumimoji="0" lang="en-US" altLang="zh-TW" sz="14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120820"/>
              </a:xfrm>
              <a:prstGeom prst="rect">
                <a:avLst/>
              </a:prstGeom>
              <a:blipFill>
                <a:blip r:embed="rId4"/>
                <a:stretch>
                  <a:fillRect l="-1333" t="-9239" b="-54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1620202089"/>
                  </p:ext>
                </p:extLst>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4199"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413235"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164384" r="-141720"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164384" r="-37866"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413235"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262585" r="-141720"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262585" r="-37866"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413235"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710667" r="-141720"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710667" r="-37866"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413235"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552727" r="-141720"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552727" r="-37866"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71271"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pic>
        <p:nvPicPr>
          <p:cNvPr id="13" name="圖片 12">
            <a:extLst>
              <a:ext uri="{FF2B5EF4-FFF2-40B4-BE49-F238E27FC236}">
                <a16:creationId xmlns:a16="http://schemas.microsoft.com/office/drawing/2014/main" id="{2B189A7E-505F-ADE9-8E91-CD35493F2859}"/>
              </a:ext>
            </a:extLst>
          </p:cNvPr>
          <p:cNvPicPr>
            <a:picLocks noChangeAspect="1"/>
          </p:cNvPicPr>
          <p:nvPr/>
        </p:nvPicPr>
        <p:blipFill>
          <a:blip r:embed="rId6"/>
          <a:stretch>
            <a:fillRect/>
          </a:stretch>
        </p:blipFill>
        <p:spPr>
          <a:xfrm>
            <a:off x="6380769" y="3268354"/>
            <a:ext cx="994846" cy="615170"/>
          </a:xfrm>
          <a:prstGeom prst="rect">
            <a:avLst/>
          </a:prstGeom>
        </p:spPr>
      </p:pic>
      <p:pic>
        <p:nvPicPr>
          <p:cNvPr id="15" name="圖片 14">
            <a:extLst>
              <a:ext uri="{FF2B5EF4-FFF2-40B4-BE49-F238E27FC236}">
                <a16:creationId xmlns:a16="http://schemas.microsoft.com/office/drawing/2014/main" id="{8B3F7023-86A5-86C6-BCA1-ABE50B1D7DDB}"/>
              </a:ext>
            </a:extLst>
          </p:cNvPr>
          <p:cNvPicPr>
            <a:picLocks noChangeAspect="1"/>
          </p:cNvPicPr>
          <p:nvPr/>
        </p:nvPicPr>
        <p:blipFill>
          <a:blip r:embed="rId7"/>
          <a:stretch>
            <a:fillRect/>
          </a:stretch>
        </p:blipFill>
        <p:spPr>
          <a:xfrm>
            <a:off x="3195481" y="3321282"/>
            <a:ext cx="1068767" cy="562242"/>
          </a:xfrm>
          <a:prstGeom prst="rect">
            <a:avLst/>
          </a:prstGeom>
        </p:spPr>
      </p:pic>
      <mc:AlternateContent xmlns:mc="http://schemas.openxmlformats.org/markup-compatibility/2006" xmlns:a14="http://schemas.microsoft.com/office/drawing/2010/main">
        <mc:Choice Requires="a14">
          <p:sp>
            <p:nvSpPr>
              <p:cNvPr id="19" name="文字方塊 18">
                <a:extLst>
                  <a:ext uri="{FF2B5EF4-FFF2-40B4-BE49-F238E27FC236}">
                    <a16:creationId xmlns:a16="http://schemas.microsoft.com/office/drawing/2014/main" id="{36C3DCCE-5704-9750-F478-419CFFFF27A6}"/>
                  </a:ext>
                </a:extLst>
              </p:cNvPr>
              <p:cNvSpPr txBox="1"/>
              <p:nvPr/>
            </p:nvSpPr>
            <p:spPr>
              <a:xfrm>
                <a:off x="6588224" y="1089229"/>
                <a:ext cx="1421904" cy="539571"/>
              </a:xfrm>
              <a:prstGeom prst="rect">
                <a:avLst/>
              </a:prstGeom>
              <a:noFill/>
            </p:spPr>
            <p:txBody>
              <a:bodyPr wrap="square">
                <a:spAutoFit/>
              </a:bodyPr>
              <a:lstStyle/>
              <a:p>
                <a:pPr/>
                <a14:m>
                  <m:oMathPara xmlns:m="http://schemas.openxmlformats.org/officeDocument/2006/math">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oMath>
                  </m:oMathPara>
                </a14:m>
                <a:endParaRPr lang="zh-TW" altLang="en-US" dirty="0"/>
              </a:p>
            </p:txBody>
          </p:sp>
        </mc:Choice>
        <mc:Fallback xmlns="">
          <p:sp>
            <p:nvSpPr>
              <p:cNvPr id="19" name="文字方塊 18">
                <a:extLst>
                  <a:ext uri="{FF2B5EF4-FFF2-40B4-BE49-F238E27FC236}">
                    <a16:creationId xmlns:a16="http://schemas.microsoft.com/office/drawing/2014/main" id="{36C3DCCE-5704-9750-F478-419CFFFF27A6}"/>
                  </a:ext>
                </a:extLst>
              </p:cNvPr>
              <p:cNvSpPr txBox="1">
                <a:spLocks noRot="1" noChangeAspect="1" noMove="1" noResize="1" noEditPoints="1" noAdjustHandles="1" noChangeArrowheads="1" noChangeShapeType="1" noTextEdit="1"/>
              </p:cNvSpPr>
              <p:nvPr/>
            </p:nvSpPr>
            <p:spPr>
              <a:xfrm>
                <a:off x="6588224" y="1089229"/>
                <a:ext cx="1421904" cy="539571"/>
              </a:xfrm>
              <a:prstGeom prst="rect">
                <a:avLst/>
              </a:prstGeom>
              <a:blipFill>
                <a:blip r:embed="rId8"/>
                <a:stretch>
                  <a:fillRect l="-13305" t="-117045" r="-22747" b="-165909"/>
                </a:stretch>
              </a:blipFill>
            </p:spPr>
            <p:txBody>
              <a:bodyPr/>
              <a:lstStyle/>
              <a:p>
                <a:r>
                  <a:rPr lang="zh-TW" altLang="en-US">
                    <a:noFill/>
                  </a:rPr>
                  <a:t> </a:t>
                </a:r>
              </a:p>
            </p:txBody>
          </p:sp>
        </mc:Fallback>
      </mc:AlternateContent>
      <p:sp>
        <p:nvSpPr>
          <p:cNvPr id="23" name="文字方塊 22">
            <a:extLst>
              <a:ext uri="{FF2B5EF4-FFF2-40B4-BE49-F238E27FC236}">
                <a16:creationId xmlns:a16="http://schemas.microsoft.com/office/drawing/2014/main" id="{360BE63E-7EC8-768F-2762-F4EC51AFBB8A}"/>
              </a:ext>
            </a:extLst>
          </p:cNvPr>
          <p:cNvSpPr txBox="1"/>
          <p:nvPr/>
        </p:nvSpPr>
        <p:spPr>
          <a:xfrm>
            <a:off x="7398853" y="2208165"/>
            <a:ext cx="629531" cy="369332"/>
          </a:xfrm>
          <a:prstGeom prst="rect">
            <a:avLst/>
          </a:prstGeom>
          <a:noFill/>
        </p:spPr>
        <p:txBody>
          <a:bodyPr wrap="none" lIns="0" tIns="0" rIns="0" bIns="0" anchor="ctr" anchorCtr="1">
            <a:spAutoFit/>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a:t>
            </a:r>
          </a:p>
        </p:txBody>
      </p:sp>
    </p:spTree>
    <p:extLst>
      <p:ext uri="{BB962C8B-B14F-4D97-AF65-F5344CB8AC3E}">
        <p14:creationId xmlns:p14="http://schemas.microsoft.com/office/powerpoint/2010/main" val="261573525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CoPoS</a:t>
            </a: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7" name="圖片 6">
            <a:extLst>
              <a:ext uri="{FF2B5EF4-FFF2-40B4-BE49-F238E27FC236}">
                <a16:creationId xmlns:a16="http://schemas.microsoft.com/office/drawing/2014/main" id="{746558AA-835C-3304-AA98-B3CC912719E1}"/>
              </a:ext>
            </a:extLst>
          </p:cNvPr>
          <p:cNvPicPr>
            <a:picLocks noChangeAspect="1"/>
          </p:cNvPicPr>
          <p:nvPr/>
        </p:nvPicPr>
        <p:blipFill>
          <a:blip r:embed="rId3"/>
          <a:stretch>
            <a:fillRect/>
          </a:stretch>
        </p:blipFill>
        <p:spPr>
          <a:xfrm>
            <a:off x="0" y="1016616"/>
            <a:ext cx="9144000" cy="4824768"/>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5039259"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pSp>
        <p:nvGrpSpPr>
          <p:cNvPr id="18" name="群組 17">
            <a:extLst>
              <a:ext uri="{FF2B5EF4-FFF2-40B4-BE49-F238E27FC236}">
                <a16:creationId xmlns:a16="http://schemas.microsoft.com/office/drawing/2014/main" id="{D1A64FBD-34BC-3434-2AE0-EFE31D2BB5D1}"/>
              </a:ext>
            </a:extLst>
          </p:cNvPr>
          <p:cNvGrpSpPr/>
          <p:nvPr/>
        </p:nvGrpSpPr>
        <p:grpSpPr>
          <a:xfrm>
            <a:off x="6941351" y="2185041"/>
            <a:ext cx="1518309" cy="1602114"/>
            <a:chOff x="6941351" y="2185041"/>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6941351" y="2185041"/>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7468307" y="2992077"/>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7190744" y="2534480"/>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7155607" y="2447675"/>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7037162" y="2447676"/>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7003558" y="2560666"/>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7994359" y="3072266"/>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7613349" y="3431566"/>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7035920" y="3215542"/>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7112132" y="2604414"/>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7737105" y="2629374"/>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7051013" y="2711486"/>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cxnSp>
          <p:nvCxnSpPr>
            <p:cNvPr id="15" name="直線接點 14">
              <a:extLst>
                <a:ext uri="{FF2B5EF4-FFF2-40B4-BE49-F238E27FC236}">
                  <a16:creationId xmlns:a16="http://schemas.microsoft.com/office/drawing/2014/main" id="{7D0B9D13-204D-64C6-3E6F-BD902E09E360}"/>
                </a:ext>
              </a:extLst>
            </p:cNvPr>
            <p:cNvCxnSpPr>
              <a:cxnSpLocks/>
            </p:cNvCxnSpPr>
            <p:nvPr/>
          </p:nvCxnSpPr>
          <p:spPr>
            <a:xfrm flipV="1">
              <a:off x="7550455" y="2682793"/>
              <a:ext cx="86503" cy="168982"/>
            </a:xfrm>
            <a:prstGeom prst="line">
              <a:avLst/>
            </a:prstGeom>
            <a:ln w="254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211960"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11343093"/>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470728">
                  <a:extLst>
                    <a:ext uri="{9D8B030D-6E8A-4147-A177-3AD203B41FA5}">
                      <a16:colId xmlns:a16="http://schemas.microsoft.com/office/drawing/2014/main" val="2211145501"/>
                    </a:ext>
                  </a:extLst>
                </a:gridCol>
                <a:gridCol w="504056">
                  <a:extLst>
                    <a:ext uri="{9D8B030D-6E8A-4147-A177-3AD203B41FA5}">
                      <a16:colId xmlns:a16="http://schemas.microsoft.com/office/drawing/2014/main" val="2862358741"/>
                    </a:ext>
                  </a:extLst>
                </a:gridCol>
                <a:gridCol w="792088">
                  <a:extLst>
                    <a:ext uri="{9D8B030D-6E8A-4147-A177-3AD203B41FA5}">
                      <a16:colId xmlns:a16="http://schemas.microsoft.com/office/drawing/2014/main" val="767948712"/>
                    </a:ext>
                  </a:extLst>
                </a:gridCol>
                <a:gridCol w="864096">
                  <a:extLst>
                    <a:ext uri="{9D8B030D-6E8A-4147-A177-3AD203B41FA5}">
                      <a16:colId xmlns:a16="http://schemas.microsoft.com/office/drawing/2014/main" val="3328686525"/>
                    </a:ext>
                  </a:extLst>
                </a:gridCol>
                <a:gridCol w="1012584">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 </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3">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PLE</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cxnSp>
        <p:nvCxnSpPr>
          <p:cNvPr id="6" name="直線單箭頭接點 5">
            <a:extLst>
              <a:ext uri="{FF2B5EF4-FFF2-40B4-BE49-F238E27FC236}">
                <a16:creationId xmlns:a16="http://schemas.microsoft.com/office/drawing/2014/main" id="{E83232AB-EF71-5805-B4E7-2C0A4A6434BA}"/>
              </a:ext>
            </a:extLst>
          </p:cNvPr>
          <p:cNvCxnSpPr/>
          <p:nvPr/>
        </p:nvCxnSpPr>
        <p:spPr>
          <a:xfrm flipV="1">
            <a:off x="6444208" y="3001486"/>
            <a:ext cx="0" cy="1014438"/>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7" name="直線單箭頭接點 6">
            <a:extLst>
              <a:ext uri="{FF2B5EF4-FFF2-40B4-BE49-F238E27FC236}">
                <a16:creationId xmlns:a16="http://schemas.microsoft.com/office/drawing/2014/main" id="{A09F545F-CCDC-9A94-7C27-90D107FCBDEA}"/>
              </a:ext>
            </a:extLst>
          </p:cNvPr>
          <p:cNvCxnSpPr>
            <a:cxnSpLocks/>
          </p:cNvCxnSpPr>
          <p:nvPr/>
        </p:nvCxnSpPr>
        <p:spPr>
          <a:xfrm>
            <a:off x="6300192" y="3874874"/>
            <a:ext cx="1802876" cy="0"/>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sp>
        <p:nvSpPr>
          <p:cNvPr id="12" name="矩形 11">
            <a:extLst>
              <a:ext uri="{FF2B5EF4-FFF2-40B4-BE49-F238E27FC236}">
                <a16:creationId xmlns:a16="http://schemas.microsoft.com/office/drawing/2014/main" id="{C63BE8D8-4135-439D-5EB5-55B4B5F8C0EF}"/>
              </a:ext>
            </a:extLst>
          </p:cNvPr>
          <p:cNvSpPr/>
          <p:nvPr/>
        </p:nvSpPr>
        <p:spPr>
          <a:xfrm>
            <a:off x="7236296"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12B/31B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16" name="矩形 15">
            <a:extLst>
              <a:ext uri="{FF2B5EF4-FFF2-40B4-BE49-F238E27FC236}">
                <a16:creationId xmlns:a16="http://schemas.microsoft.com/office/drawing/2014/main" id="{2D8D102A-4F1F-B6D8-BF2F-3B84C45B054B}"/>
              </a:ext>
            </a:extLst>
          </p:cNvPr>
          <p:cNvSpPr/>
          <p:nvPr/>
        </p:nvSpPr>
        <p:spPr>
          <a:xfrm>
            <a:off x="7236296" y="3001486"/>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26B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 name="矩形 1">
            <a:extLst>
              <a:ext uri="{FF2B5EF4-FFF2-40B4-BE49-F238E27FC236}">
                <a16:creationId xmlns:a16="http://schemas.microsoft.com/office/drawing/2014/main" id="{54A1F837-0522-FF48-3D64-19DE2061B5D2}"/>
              </a:ext>
            </a:extLst>
          </p:cNvPr>
          <p:cNvSpPr/>
          <p:nvPr/>
        </p:nvSpPr>
        <p:spPr>
          <a:xfrm>
            <a:off x="6577938"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E2B/E4B</a:t>
            </a:r>
            <a:b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(PLE)</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2" name="文字方塊 21">
            <a:extLst>
              <a:ext uri="{FF2B5EF4-FFF2-40B4-BE49-F238E27FC236}">
                <a16:creationId xmlns:a16="http://schemas.microsoft.com/office/drawing/2014/main" id="{917B13D3-A367-F8F6-FA15-10F9386ED196}"/>
              </a:ext>
            </a:extLst>
          </p:cNvPr>
          <p:cNvSpPr txBox="1"/>
          <p:nvPr/>
        </p:nvSpPr>
        <p:spPr>
          <a:xfrm>
            <a:off x="6015746" y="3140966"/>
            <a:ext cx="428462" cy="216026"/>
          </a:xfrm>
          <a:prstGeom prst="rect">
            <a:avLst/>
          </a:prstGeom>
          <a:noFill/>
        </p:spPr>
        <p:txBody>
          <a:bodyPr wrap="none" lIns="0" tIns="0" rIns="0" bIns="0" anchor="ctr" anchorCtr="1">
            <a:noAutofit/>
          </a:bodyPr>
          <a:lstStyle/>
          <a:p>
            <a:r>
              <a:rPr lang="en-US" altLang="zh-TW" sz="1200" dirty="0" err="1">
                <a:solidFill>
                  <a:prstClr val="black"/>
                </a:solidFill>
                <a:ea typeface="Cambria Math" panose="02040503050406030204" pitchFamily="18" charset="0"/>
              </a:rPr>
              <a:t>MoE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2EB118FD-3B34-D0E5-0D42-FC482A8235EB}"/>
              </a:ext>
            </a:extLst>
          </p:cNvPr>
          <p:cNvSpPr txBox="1"/>
          <p:nvPr/>
        </p:nvSpPr>
        <p:spPr>
          <a:xfrm>
            <a:off x="6015745" y="3501008"/>
            <a:ext cx="428463"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Dense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2" name="文字方塊 31">
            <a:extLst>
              <a:ext uri="{FF2B5EF4-FFF2-40B4-BE49-F238E27FC236}">
                <a16:creationId xmlns:a16="http://schemas.microsoft.com/office/drawing/2014/main" id="{87CF4B06-56F9-5DD9-59CB-1BB5213F5BFF}"/>
              </a:ext>
            </a:extLst>
          </p:cNvPr>
          <p:cNvSpPr txBox="1"/>
          <p:nvPr/>
        </p:nvSpPr>
        <p:spPr>
          <a:xfrm>
            <a:off x="1763688" y="6392361"/>
            <a:ext cx="487445"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MTP</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p:txBody>
      </p:sp>
      <p:sp>
        <p:nvSpPr>
          <p:cNvPr id="34" name="矩形: 圓角 33">
            <a:extLst>
              <a:ext uri="{FF2B5EF4-FFF2-40B4-BE49-F238E27FC236}">
                <a16:creationId xmlns:a16="http://schemas.microsoft.com/office/drawing/2014/main" id="{D5090950-DAC8-7293-F5BD-57F1E83032F8}"/>
              </a:ext>
            </a:extLst>
          </p:cNvPr>
          <p:cNvSpPr/>
          <p:nvPr/>
        </p:nvSpPr>
        <p:spPr>
          <a:xfrm>
            <a:off x="1780299" y="4725144"/>
            <a:ext cx="487445" cy="1675772"/>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sp>
        <p:nvSpPr>
          <p:cNvPr id="61" name="矩形: 圓角 60">
            <a:extLst>
              <a:ext uri="{FF2B5EF4-FFF2-40B4-BE49-F238E27FC236}">
                <a16:creationId xmlns:a16="http://schemas.microsoft.com/office/drawing/2014/main" id="{5A88E48D-B52B-E48D-6640-1A585B7A6A98}"/>
              </a:ext>
            </a:extLst>
          </p:cNvPr>
          <p:cNvSpPr/>
          <p:nvPr/>
        </p:nvSpPr>
        <p:spPr>
          <a:xfrm>
            <a:off x="3861813" y="3778494"/>
            <a:ext cx="2688241" cy="864096"/>
          </a:xfrm>
          <a:prstGeom prst="roundRect">
            <a:avLst>
              <a:gd name="adj" fmla="val 10053"/>
            </a:avLst>
          </a:prstGeom>
          <a:solidFill>
            <a:schemeClr val="bg1">
              <a:lumMod val="95000"/>
              <a:alpha val="40000"/>
            </a:scheme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731520" tIns="0" rIns="0" bIns="0" rtlCol="0" anchor="ctr"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p>
          <a:p>
            <a:pPr algn="ctr"/>
            <a:r>
              <a:rPr lang="en-US" altLang="zh-TW" sz="1000" dirty="0">
                <a:solidFill>
                  <a:schemeClr val="tx1"/>
                </a:solidFill>
                <a:cs typeface="ADLaM Display" panose="02010000000000000000" pitchFamily="2" charset="0"/>
              </a:rPr>
              <a:t>(30~60 Layers)</a:t>
            </a:r>
            <a:endParaRPr lang="zh-TW" altLang="en-US" sz="1000" dirty="0">
              <a:solidFill>
                <a:schemeClr val="tx1"/>
              </a:solidFill>
              <a:cs typeface="ADLaM Display" panose="02010000000000000000" pitchFamily="2" charset="0"/>
            </a:endParaRPr>
          </a:p>
        </p:txBody>
      </p:sp>
      <p:sp>
        <p:nvSpPr>
          <p:cNvPr id="39" name="文字方塊 38">
            <a:extLst>
              <a:ext uri="{FF2B5EF4-FFF2-40B4-BE49-F238E27FC236}">
                <a16:creationId xmlns:a16="http://schemas.microsoft.com/office/drawing/2014/main" id="{568739E1-C768-17E6-92CB-79EEA4DE438C}"/>
              </a:ext>
            </a:extLst>
          </p:cNvPr>
          <p:cNvSpPr txBox="1"/>
          <p:nvPr/>
        </p:nvSpPr>
        <p:spPr>
          <a:xfrm>
            <a:off x="179510" y="5889466"/>
            <a:ext cx="878497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solidFill>
                  <a:schemeClr val="tx1">
                    <a:lumMod val="50000"/>
                    <a:lumOff val="50000"/>
                  </a:schemeClr>
                </a:solidFill>
                <a:effectLst/>
              </a:rPr>
              <a:t>Next</a:t>
            </a:r>
          </a:p>
          <a:p>
            <a:pPr marL="285750" indent="-285750">
              <a:lnSpc>
                <a:spcPts val="1800"/>
              </a:lnSpc>
              <a:spcBef>
                <a:spcPts val="600"/>
              </a:spcBef>
              <a:spcAft>
                <a:spcPts val="600"/>
              </a:spcAft>
              <a:buFont typeface="Wingdings" panose="05000000000000000000" pitchFamily="2" charset="2"/>
              <a:buChar char="Ø"/>
            </a:pPr>
            <a:r>
              <a:rPr lang="en-US" altLang="zh-TW" sz="1600" b="1" dirty="0">
                <a:solidFill>
                  <a:schemeClr val="tx1">
                    <a:lumMod val="50000"/>
                    <a:lumOff val="50000"/>
                  </a:schemeClr>
                </a:solidFill>
              </a:rPr>
              <a:t>Gemma 4 + Gemini Diffusion</a:t>
            </a:r>
            <a:r>
              <a:rPr lang="en-US" altLang="zh-TW" sz="1600" dirty="0">
                <a:solidFill>
                  <a:schemeClr val="tx1">
                    <a:lumMod val="50000"/>
                    <a:lumOff val="50000"/>
                  </a:schemeClr>
                </a:solidFill>
              </a:rPr>
              <a:t>: Generate sequentially  </a:t>
            </a:r>
            <a:r>
              <a:rPr lang="en-US" altLang="zh-TW" sz="1600" dirty="0">
                <a:solidFill>
                  <a:schemeClr val="tx1">
                    <a:lumMod val="50000"/>
                    <a:lumOff val="50000"/>
                  </a:schemeClr>
                </a:solidFill>
                <a:sym typeface="Wingdings" panose="05000000000000000000" pitchFamily="2" charset="2"/>
              </a:rPr>
              <a:t>   </a:t>
            </a:r>
            <a:r>
              <a:rPr lang="en-US" altLang="zh-TW" sz="1600" dirty="0">
                <a:solidFill>
                  <a:schemeClr val="tx1">
                    <a:lumMod val="50000"/>
                    <a:lumOff val="50000"/>
                  </a:schemeClr>
                </a:solidFill>
              </a:rPr>
              <a:t>Parallel block refinement. </a:t>
            </a:r>
          </a:p>
        </p:txBody>
      </p:sp>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MTP breaks the single-token autoregressive limit.</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784976"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Traditional LM</a:t>
            </a:r>
            <a:r>
              <a:rPr lang="en-US" altLang="zh-TW" sz="1600" dirty="0"/>
              <a:t>: Massive initial prefill phase,  single-token autoregressive decoding.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MTP</a:t>
            </a:r>
            <a:r>
              <a:rPr lang="en-US" altLang="zh-TW" sz="1600" dirty="0"/>
              <a:t>: Shared KV-cache, tree attention, processes 12 tokens per layer, parallel verification.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Benefit: </a:t>
            </a:r>
            <a:r>
              <a:rPr lang="en-US" altLang="zh-TW" sz="1600" dirty="0"/>
              <a:t>Zero-prefill latency for all subsequent candidate tokens.</a:t>
            </a:r>
          </a:p>
        </p:txBody>
      </p:sp>
      <p:sp>
        <p:nvSpPr>
          <p:cNvPr id="45" name="矩形: 圓角 44">
            <a:extLst>
              <a:ext uri="{FF2B5EF4-FFF2-40B4-BE49-F238E27FC236}">
                <a16:creationId xmlns:a16="http://schemas.microsoft.com/office/drawing/2014/main" id="{C47303AB-CC78-3E3D-AA29-57163C0B7720}"/>
              </a:ext>
            </a:extLst>
          </p:cNvPr>
          <p:cNvSpPr/>
          <p:nvPr/>
        </p:nvSpPr>
        <p:spPr>
          <a:xfrm>
            <a:off x="1403648" y="3942534"/>
            <a:ext cx="504056"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000" dirty="0">
                <a:solidFill>
                  <a:schemeClr val="tx1"/>
                </a:solidFill>
                <a:latin typeface="ADLaM Display" panose="02010000000000000000" pitchFamily="2" charset="0"/>
                <a:cs typeface="ADLaM Display" panose="02010000000000000000" pitchFamily="2" charset="0"/>
              </a:rPr>
              <a:t>Drafter</a:t>
            </a:r>
          </a:p>
          <a:p>
            <a:pPr algn="ctr"/>
            <a:r>
              <a:rPr lang="en-US" altLang="zh-TW" sz="1000" dirty="0">
                <a:solidFill>
                  <a:schemeClr val="tx1"/>
                </a:solidFill>
                <a:latin typeface="ADLaM Display" panose="02010000000000000000" pitchFamily="2" charset="0"/>
                <a:cs typeface="ADLaM Display" panose="02010000000000000000" pitchFamily="2" charset="0"/>
              </a:rPr>
              <a:t>Model</a:t>
            </a:r>
          </a:p>
          <a:p>
            <a:pPr algn="ctr"/>
            <a:r>
              <a:rPr lang="en-US" altLang="zh-TW" sz="800" dirty="0">
                <a:solidFill>
                  <a:schemeClr val="tx1"/>
                </a:solidFill>
                <a:latin typeface="ADLaM Display" panose="02010000000000000000" pitchFamily="2" charset="0"/>
                <a:cs typeface="ADLaM Display" panose="02010000000000000000" pitchFamily="2" charset="0"/>
              </a:rPr>
              <a:t>(4 Layers)</a:t>
            </a:r>
            <a:endParaRPr lang="zh-TW" altLang="en-US" sz="8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683568"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2271961" y="3793645"/>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763688" y="3145573"/>
            <a:ext cx="899391" cy="432048"/>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b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br>
            <a:r>
              <a:rPr lang="en-US" altLang="zh-TW" sz="1200" dirty="0">
                <a:solidFill>
                  <a:prstClr val="black"/>
                </a:solidFill>
                <a:ea typeface="Cambria Math" panose="02040503050406030204" pitchFamily="18" charset="0"/>
              </a:rPr>
              <a:t>(Tokens: n=4)</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矩形: 圓角 65">
            <a:extLst>
              <a:ext uri="{FF2B5EF4-FFF2-40B4-BE49-F238E27FC236}">
                <a16:creationId xmlns:a16="http://schemas.microsoft.com/office/drawing/2014/main" id="{62549C96-57A6-8E49-C72C-979C7315D3D7}"/>
              </a:ext>
            </a:extLst>
          </p:cNvPr>
          <p:cNvSpPr/>
          <p:nvPr/>
        </p:nvSpPr>
        <p:spPr>
          <a:xfrm>
            <a:off x="2267744" y="408308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2267744" y="4369709"/>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cxnSp>
        <p:nvCxnSpPr>
          <p:cNvPr id="76" name="接點: 肘形 75">
            <a:extLst>
              <a:ext uri="{FF2B5EF4-FFF2-40B4-BE49-F238E27FC236}">
                <a16:creationId xmlns:a16="http://schemas.microsoft.com/office/drawing/2014/main" id="{CBE0D687-6904-CD48-E1F7-D1BFA75F08C0}"/>
              </a:ext>
            </a:extLst>
          </p:cNvPr>
          <p:cNvCxnSpPr>
            <a:cxnSpLocks/>
            <a:stCxn id="45" idx="3"/>
            <a:endCxn id="51" idx="1"/>
          </p:cNvCxnSpPr>
          <p:nvPr/>
        </p:nvCxnSpPr>
        <p:spPr>
          <a:xfrm flipV="1">
            <a:off x="1907704" y="3901657"/>
            <a:ext cx="364257" cy="28732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907704" y="4188978"/>
            <a:ext cx="360040" cy="28874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cxnSpLocks/>
            <a:stCxn id="45" idx="3"/>
            <a:endCxn id="66" idx="1"/>
          </p:cNvCxnSpPr>
          <p:nvPr/>
        </p:nvCxnSpPr>
        <p:spPr>
          <a:xfrm>
            <a:off x="1907704" y="4188978"/>
            <a:ext cx="36004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6" name="文字方塊 85">
            <a:extLst>
              <a:ext uri="{FF2B5EF4-FFF2-40B4-BE49-F238E27FC236}">
                <a16:creationId xmlns:a16="http://schemas.microsoft.com/office/drawing/2014/main" id="{E9EE2942-ABD2-5BD4-E744-D02D15505AAD}"/>
              </a:ext>
            </a:extLst>
          </p:cNvPr>
          <p:cNvSpPr txBox="1"/>
          <p:nvPr/>
        </p:nvSpPr>
        <p:spPr>
          <a:xfrm>
            <a:off x="1265367" y="4555624"/>
            <a:ext cx="787214" cy="318141"/>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SWA + 1</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Full Attention</a:t>
            </a:r>
          </a:p>
        </p:txBody>
      </p:sp>
      <p:sp>
        <p:nvSpPr>
          <p:cNvPr id="58" name="文字方塊 57">
            <a:extLst>
              <a:ext uri="{FF2B5EF4-FFF2-40B4-BE49-F238E27FC236}">
                <a16:creationId xmlns:a16="http://schemas.microsoft.com/office/drawing/2014/main" id="{65BA10AA-33E3-ECA2-4515-138A0D1409A1}"/>
              </a:ext>
            </a:extLst>
          </p:cNvPr>
          <p:cNvSpPr txBox="1"/>
          <p:nvPr/>
        </p:nvSpPr>
        <p:spPr>
          <a:xfrm>
            <a:off x="6842021" y="5226923"/>
            <a:ext cx="685868" cy="212972"/>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Verify</a:t>
            </a:r>
            <a:endPar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4" name="矩形 63">
            <a:extLst>
              <a:ext uri="{FF2B5EF4-FFF2-40B4-BE49-F238E27FC236}">
                <a16:creationId xmlns:a16="http://schemas.microsoft.com/office/drawing/2014/main" id="{939139B8-4151-0F3D-2D0F-B01B422C961E}"/>
              </a:ext>
            </a:extLst>
          </p:cNvPr>
          <p:cNvSpPr/>
          <p:nvPr/>
        </p:nvSpPr>
        <p:spPr>
          <a:xfrm>
            <a:off x="7808029"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 name="矩形: 圓角 20">
            <a:extLst>
              <a:ext uri="{FF2B5EF4-FFF2-40B4-BE49-F238E27FC236}">
                <a16:creationId xmlns:a16="http://schemas.microsoft.com/office/drawing/2014/main" id="{E8F23508-73DC-B988-D769-DF53C8FA5F17}"/>
              </a:ext>
            </a:extLst>
          </p:cNvPr>
          <p:cNvSpPr/>
          <p:nvPr/>
        </p:nvSpPr>
        <p:spPr>
          <a:xfrm rot="5400000">
            <a:off x="6123692" y="4106049"/>
            <a:ext cx="864095" cy="208985"/>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Activation</a:t>
            </a:r>
          </a:p>
        </p:txBody>
      </p:sp>
      <p:sp>
        <p:nvSpPr>
          <p:cNvPr id="23" name="文字方塊 22">
            <a:extLst>
              <a:ext uri="{FF2B5EF4-FFF2-40B4-BE49-F238E27FC236}">
                <a16:creationId xmlns:a16="http://schemas.microsoft.com/office/drawing/2014/main" id="{8144EF48-152D-DBF5-EE06-EF908A7D871F}"/>
              </a:ext>
            </a:extLst>
          </p:cNvPr>
          <p:cNvSpPr txBox="1"/>
          <p:nvPr/>
        </p:nvSpPr>
        <p:spPr>
          <a:xfrm>
            <a:off x="2267744" y="4657741"/>
            <a:ext cx="787214" cy="143575"/>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x 4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26" name="接點: 弧形 25">
            <a:extLst>
              <a:ext uri="{FF2B5EF4-FFF2-40B4-BE49-F238E27FC236}">
                <a16:creationId xmlns:a16="http://schemas.microsoft.com/office/drawing/2014/main" id="{FACABAC5-E7A6-DF00-3BE7-561EA59783EC}"/>
              </a:ext>
            </a:extLst>
          </p:cNvPr>
          <p:cNvCxnSpPr>
            <a:cxnSpLocks/>
            <a:stCxn id="17" idx="3"/>
            <a:endCxn id="64" idx="2"/>
          </p:cNvCxnSpPr>
          <p:nvPr/>
        </p:nvCxnSpPr>
        <p:spPr>
          <a:xfrm flipV="1">
            <a:off x="7691904" y="4387673"/>
            <a:ext cx="298311" cy="447284"/>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7" name="表格 16">
            <a:extLst>
              <a:ext uri="{FF2B5EF4-FFF2-40B4-BE49-F238E27FC236}">
                <a16:creationId xmlns:a16="http://schemas.microsoft.com/office/drawing/2014/main" id="{A1E2A3C6-DA7E-4478-D82B-99978EB4CDD2}"/>
              </a:ext>
            </a:extLst>
          </p:cNvPr>
          <p:cNvGraphicFramePr>
            <a:graphicFrameLocks noGrp="1"/>
          </p:cNvGraphicFramePr>
          <p:nvPr>
            <p:extLst>
              <p:ext uri="{D42A27DB-BD31-4B8C-83A1-F6EECF244321}">
                <p14:modId xmlns:p14="http://schemas.microsoft.com/office/powerpoint/2010/main" val="89489451"/>
              </p:ext>
            </p:extLst>
          </p:nvPr>
        </p:nvGraphicFramePr>
        <p:xfrm>
          <a:off x="6739612" y="4745597"/>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3</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9" name="表格 18">
            <a:extLst>
              <a:ext uri="{FF2B5EF4-FFF2-40B4-BE49-F238E27FC236}">
                <a16:creationId xmlns:a16="http://schemas.microsoft.com/office/drawing/2014/main" id="{63593A38-C228-9EF8-6497-272201A1E056}"/>
              </a:ext>
            </a:extLst>
          </p:cNvPr>
          <p:cNvGraphicFramePr>
            <a:graphicFrameLocks noGrp="1"/>
          </p:cNvGraphicFramePr>
          <p:nvPr>
            <p:extLst>
              <p:ext uri="{D42A27DB-BD31-4B8C-83A1-F6EECF244321}">
                <p14:modId xmlns:p14="http://schemas.microsoft.com/office/powerpoint/2010/main" val="2961520085"/>
              </p:ext>
            </p:extLst>
          </p:nvPr>
        </p:nvGraphicFramePr>
        <p:xfrm>
          <a:off x="6739612" y="497908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5" name="文字方塊 24">
            <a:extLst>
              <a:ext uri="{FF2B5EF4-FFF2-40B4-BE49-F238E27FC236}">
                <a16:creationId xmlns:a16="http://schemas.microsoft.com/office/drawing/2014/main" id="{5762A22A-16A3-448F-690C-5CF505056B40}"/>
              </a:ext>
            </a:extLst>
          </p:cNvPr>
          <p:cNvSpPr txBox="1"/>
          <p:nvPr/>
        </p:nvSpPr>
        <p:spPr>
          <a:xfrm>
            <a:off x="4922168" y="6340961"/>
            <a:ext cx="153888" cy="184666"/>
          </a:xfrm>
          <a:prstGeom prst="rect">
            <a:avLst/>
          </a:prstGeom>
          <a:noFill/>
        </p:spPr>
        <p:txBody>
          <a:bodyPr wrap="none" lIns="0" tIns="0" rIns="0" bIns="0" anchor="ctr" anchorCtr="1">
            <a:spAutoFit/>
          </a:bodyPr>
          <a:lstStyle/>
          <a:p>
            <a:r>
              <a:rPr kumimoji="0" lang="zh-TW"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a:t>
            </a:r>
            <a:endParaRPr lang="zh-TW" altLang="en-US" dirty="0">
              <a:latin typeface="Noto Sans HK" panose="020B0200000000000000" pitchFamily="34" charset="-120"/>
              <a:ea typeface="Noto Sans HK" panose="020B0200000000000000" pitchFamily="34" charset="-120"/>
            </a:endParaRPr>
          </a:p>
        </p:txBody>
      </p:sp>
      <p:sp>
        <p:nvSpPr>
          <p:cNvPr id="84" name="矩形 83">
            <a:extLst>
              <a:ext uri="{FF2B5EF4-FFF2-40B4-BE49-F238E27FC236}">
                <a16:creationId xmlns:a16="http://schemas.microsoft.com/office/drawing/2014/main" id="{8FBD71DA-F9C3-EF21-B37E-21EEC4D3134B}"/>
              </a:ext>
            </a:extLst>
          </p:cNvPr>
          <p:cNvSpPr/>
          <p:nvPr/>
        </p:nvSpPr>
        <p:spPr>
          <a:xfrm>
            <a:off x="7799279" y="4629293"/>
            <a:ext cx="508387" cy="178720"/>
          </a:xfrm>
          <a:prstGeom prst="rect">
            <a:avLst/>
          </a:prstGeom>
          <a:solidFill>
            <a:schemeClr val="bg1">
              <a:alpha val="80000"/>
            </a:schemeClr>
          </a:solidFill>
          <a:ln w="15875">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fontAlgn="ct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0 </a:t>
            </a: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1</a:t>
            </a:r>
            <a:r>
              <a:rPr lang="en-US" altLang="zh-TW" sz="1000" dirty="0">
                <a:solidFill>
                  <a:srgbClr val="000000"/>
                </a:solidFill>
                <a:latin typeface="ADLaM Display" panose="02010000000000000000" pitchFamily="2" charset="0"/>
                <a:cs typeface="ADLaM Display" panose="02010000000000000000" pitchFamily="2" charset="0"/>
              </a:rPr>
              <a:t> T</a:t>
            </a:r>
            <a:r>
              <a:rPr lang="en-US" altLang="zh-TW" sz="1000" baseline="-25000" dirty="0">
                <a:solidFill>
                  <a:srgbClr val="000000"/>
                </a:solidFill>
                <a:latin typeface="ADLaM Display" panose="02010000000000000000" pitchFamily="2" charset="0"/>
                <a:cs typeface="ADLaM Display" panose="02010000000000000000" pitchFamily="2" charset="0"/>
              </a:rPr>
              <a:t>2</a:t>
            </a:r>
            <a:endParaRPr lang="zh-TW" altLang="zh-TW" sz="1000" b="0" i="0" u="none" strike="noStrike" dirty="0">
              <a:effectLst/>
              <a:latin typeface="Arial" panose="020B0604020202020204" pitchFamily="34" charset="0"/>
            </a:endParaRPr>
          </a:p>
        </p:txBody>
      </p:sp>
      <p:pic>
        <p:nvPicPr>
          <p:cNvPr id="41" name="圖形 40" descr="藍圖 以實心填滿">
            <a:extLst>
              <a:ext uri="{FF2B5EF4-FFF2-40B4-BE49-F238E27FC236}">
                <a16:creationId xmlns:a16="http://schemas.microsoft.com/office/drawing/2014/main" id="{7F4C374F-FB80-D0C9-8C14-4847122ED87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40152" y="5877272"/>
            <a:ext cx="432048" cy="432048"/>
          </a:xfrm>
          <a:prstGeom prst="rect">
            <a:avLst/>
          </a:prstGeom>
        </p:spPr>
      </p:pic>
      <p:pic>
        <p:nvPicPr>
          <p:cNvPr id="43" name="圖形 42" descr="打字機 外框">
            <a:extLst>
              <a:ext uri="{FF2B5EF4-FFF2-40B4-BE49-F238E27FC236}">
                <a16:creationId xmlns:a16="http://schemas.microsoft.com/office/drawing/2014/main" id="{759A0C0C-3D22-0683-081A-8938568B01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79912" y="5889466"/>
            <a:ext cx="432048" cy="432048"/>
          </a:xfrm>
          <a:prstGeom prst="rect">
            <a:avLst/>
          </a:prstGeom>
        </p:spPr>
      </p:pic>
      <p:grpSp>
        <p:nvGrpSpPr>
          <p:cNvPr id="110" name="群組 109">
            <a:extLst>
              <a:ext uri="{FF2B5EF4-FFF2-40B4-BE49-F238E27FC236}">
                <a16:creationId xmlns:a16="http://schemas.microsoft.com/office/drawing/2014/main" id="{34DDE601-E518-E390-0FD1-A48CC4E05F92}"/>
              </a:ext>
            </a:extLst>
          </p:cNvPr>
          <p:cNvGrpSpPr/>
          <p:nvPr/>
        </p:nvGrpSpPr>
        <p:grpSpPr>
          <a:xfrm>
            <a:off x="3563888" y="3480948"/>
            <a:ext cx="836667" cy="1676244"/>
            <a:chOff x="3563888" y="3480948"/>
            <a:chExt cx="836667" cy="1676244"/>
          </a:xfrm>
        </p:grpSpPr>
        <p:sp>
          <p:nvSpPr>
            <p:cNvPr id="52" name="矩形 51">
              <a:extLst>
                <a:ext uri="{FF2B5EF4-FFF2-40B4-BE49-F238E27FC236}">
                  <a16:creationId xmlns:a16="http://schemas.microsoft.com/office/drawing/2014/main" id="{66DCB7DF-81B3-8511-DC84-3039486CB90C}"/>
                </a:ext>
              </a:extLst>
            </p:cNvPr>
            <p:cNvSpPr/>
            <p:nvPr/>
          </p:nvSpPr>
          <p:spPr>
            <a:xfrm>
              <a:off x="3772092" y="3701726"/>
              <a:ext cx="628463"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KV</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Cache</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6" name="矩形 55">
              <a:extLst>
                <a:ext uri="{FF2B5EF4-FFF2-40B4-BE49-F238E27FC236}">
                  <a16:creationId xmlns:a16="http://schemas.microsoft.com/office/drawing/2014/main" id="{663829DA-74D0-BE54-F152-D6664BDE3A96}"/>
                </a:ext>
              </a:extLst>
            </p:cNvPr>
            <p:cNvSpPr/>
            <p:nvPr/>
          </p:nvSpPr>
          <p:spPr>
            <a:xfrm>
              <a:off x="3563888" y="3707961"/>
              <a:ext cx="156584" cy="579503"/>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Q</a:t>
              </a:r>
            </a:p>
          </p:txBody>
        </p:sp>
        <p:sp>
          <p:nvSpPr>
            <p:cNvPr id="59" name="矩形 58">
              <a:extLst>
                <a:ext uri="{FF2B5EF4-FFF2-40B4-BE49-F238E27FC236}">
                  <a16:creationId xmlns:a16="http://schemas.microsoft.com/office/drawing/2014/main" id="{3D40BB0E-76DA-3D64-9275-A2AC658BFBFF}"/>
                </a:ext>
              </a:extLst>
            </p:cNvPr>
            <p:cNvSpPr/>
            <p:nvPr/>
          </p:nvSpPr>
          <p:spPr>
            <a:xfrm>
              <a:off x="3749046" y="3480948"/>
              <a:ext cx="650577" cy="185391"/>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K</a:t>
              </a:r>
            </a:p>
          </p:txBody>
        </p:sp>
        <p:sp>
          <p:nvSpPr>
            <p:cNvPr id="49" name="矩形 48">
              <a:extLst>
                <a:ext uri="{FF2B5EF4-FFF2-40B4-BE49-F238E27FC236}">
                  <a16:creationId xmlns:a16="http://schemas.microsoft.com/office/drawing/2014/main" id="{9E583EA5-C14D-250A-4328-9DC799155877}"/>
                </a:ext>
              </a:extLst>
            </p:cNvPr>
            <p:cNvSpPr/>
            <p:nvPr/>
          </p:nvSpPr>
          <p:spPr>
            <a:xfrm>
              <a:off x="3772092" y="4513905"/>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rgbClr val="000000"/>
                  </a:solidFill>
                  <a:effectLst/>
                  <a:cs typeface="ADLaM Display" panose="02010000000000000000" pitchFamily="2" charset="0"/>
                </a:rPr>
                <a:t>Attn </a:t>
              </a:r>
              <a:r>
                <a:rPr lang="en-US" altLang="zh-TW" sz="1000" b="0" i="0" u="none" strike="noStrike" kern="1200" baseline="-25000" dirty="0">
                  <a:solidFill>
                    <a:srgbClr val="000000"/>
                  </a:solidFill>
                  <a:effectLst/>
                  <a:cs typeface="ADLaM Display" panose="02010000000000000000" pitchFamily="2" charset="0"/>
                </a:rPr>
                <a:t>0</a:t>
              </a:r>
              <a:endParaRPr lang="zh-TW" altLang="zh-TW" sz="1000" b="0" i="0" u="none" strike="noStrike" dirty="0">
                <a:effectLst/>
              </a:endParaRPr>
            </a:p>
          </p:txBody>
        </p:sp>
        <p:sp>
          <p:nvSpPr>
            <p:cNvPr id="65" name="矩形 64">
              <a:extLst>
                <a:ext uri="{FF2B5EF4-FFF2-40B4-BE49-F238E27FC236}">
                  <a16:creationId xmlns:a16="http://schemas.microsoft.com/office/drawing/2014/main" id="{7D99565A-C912-D9DA-B8DB-7660160F2737}"/>
                </a:ext>
              </a:extLst>
            </p:cNvPr>
            <p:cNvSpPr/>
            <p:nvPr/>
          </p:nvSpPr>
          <p:spPr>
            <a:xfrm>
              <a:off x="3772092" y="4729929"/>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a:t>
              </a:r>
              <a:endParaRPr lang="zh-TW" altLang="zh-TW" sz="1000" b="0" i="0" u="none" strike="noStrike" dirty="0">
                <a:effectLst/>
              </a:endParaRPr>
            </a:p>
          </p:txBody>
        </p:sp>
        <p:sp>
          <p:nvSpPr>
            <p:cNvPr id="73" name="文字方塊 72">
              <a:extLst>
                <a:ext uri="{FF2B5EF4-FFF2-40B4-BE49-F238E27FC236}">
                  <a16:creationId xmlns:a16="http://schemas.microsoft.com/office/drawing/2014/main" id="{2554C1BC-FA9D-459C-5B9F-1272D406C4FA}"/>
                </a:ext>
              </a:extLst>
            </p:cNvPr>
            <p:cNvSpPr txBox="1"/>
            <p:nvPr/>
          </p:nvSpPr>
          <p:spPr>
            <a:xfrm>
              <a:off x="3772092" y="4850528"/>
              <a:ext cx="627531" cy="90640"/>
            </a:xfrm>
            <a:prstGeom prst="rect">
              <a:avLst/>
            </a:prstGeom>
            <a:noFill/>
          </p:spPr>
          <p:txBody>
            <a:bodyPr wrap="none" lIns="0" tIns="0" rIns="0" bIns="0" anchor="ctr" anchorCtr="1">
              <a:noAutofit/>
            </a:bodyPr>
            <a:lstStyle/>
            <a:p>
              <a:pPr algn="ctr"/>
              <a:r>
                <a:rPr lang="en-US" altLang="zh-TW" sz="1000" b="1" dirty="0">
                  <a:ea typeface="Cambria Math" panose="02040503050406030204" pitchFamily="18" charset="0"/>
                </a:rPr>
                <a:t>…</a:t>
              </a:r>
              <a:endParaRPr kumimoji="0" lang="en-US" altLang="zh-TW" sz="1000" b="1" u="none" strike="noStrike" kern="1200" cap="none" spc="0" normalizeH="0" baseline="0" noProof="0" dirty="0">
                <a:ln>
                  <a:noFill/>
                </a:ln>
                <a:effectLst/>
                <a:uLnTx/>
                <a:uFillTx/>
                <a:ea typeface="Cambria Math" panose="02040503050406030204" pitchFamily="18" charset="0"/>
                <a:cs typeface="+mn-cs"/>
              </a:endParaRPr>
            </a:p>
          </p:txBody>
        </p:sp>
        <p:sp>
          <p:nvSpPr>
            <p:cNvPr id="79" name="矩形 78">
              <a:extLst>
                <a:ext uri="{FF2B5EF4-FFF2-40B4-BE49-F238E27FC236}">
                  <a16:creationId xmlns:a16="http://schemas.microsoft.com/office/drawing/2014/main" id="{5F40BB2D-29FE-0F02-5FED-2F8B687B2DAE}"/>
                </a:ext>
              </a:extLst>
            </p:cNvPr>
            <p:cNvSpPr/>
            <p:nvPr/>
          </p:nvSpPr>
          <p:spPr>
            <a:xfrm>
              <a:off x="3768657" y="5017961"/>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11</a:t>
              </a:r>
              <a:endParaRPr lang="zh-TW" altLang="zh-TW" sz="1000" b="0" i="0" u="none" strike="noStrike" dirty="0">
                <a:effectLst/>
              </a:endParaRPr>
            </a:p>
          </p:txBody>
        </p:sp>
        <p:cxnSp>
          <p:nvCxnSpPr>
            <p:cNvPr id="80" name="接點: 弧形 79">
              <a:extLst>
                <a:ext uri="{FF2B5EF4-FFF2-40B4-BE49-F238E27FC236}">
                  <a16:creationId xmlns:a16="http://schemas.microsoft.com/office/drawing/2014/main" id="{7E0171A3-3FE4-7F18-9D4A-186EFDA74EA6}"/>
                </a:ext>
              </a:extLst>
            </p:cNvPr>
            <p:cNvCxnSpPr>
              <a:cxnSpLocks/>
              <a:stCxn id="52" idx="1"/>
              <a:endCxn id="49" idx="1"/>
            </p:cNvCxnSpPr>
            <p:nvPr/>
          </p:nvCxnSpPr>
          <p:spPr>
            <a:xfrm rot="10800000" flipV="1">
              <a:off x="3772092" y="3996593"/>
              <a:ext cx="12700" cy="586928"/>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85" name="接點: 弧形 84">
              <a:extLst>
                <a:ext uri="{FF2B5EF4-FFF2-40B4-BE49-F238E27FC236}">
                  <a16:creationId xmlns:a16="http://schemas.microsoft.com/office/drawing/2014/main" id="{109F29E4-553F-1236-656B-F2BB2B63DE04}"/>
                </a:ext>
              </a:extLst>
            </p:cNvPr>
            <p:cNvCxnSpPr>
              <a:cxnSpLocks/>
              <a:stCxn id="49" idx="1"/>
              <a:endCxn id="65" idx="1"/>
            </p:cNvCxnSpPr>
            <p:nvPr/>
          </p:nvCxnSpPr>
          <p:spPr>
            <a:xfrm rot="10800000" flipV="1">
              <a:off x="3772092" y="4583521"/>
              <a:ext cx="12700" cy="216024"/>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90" name="接點: 弧形 89">
              <a:extLst>
                <a:ext uri="{FF2B5EF4-FFF2-40B4-BE49-F238E27FC236}">
                  <a16:creationId xmlns:a16="http://schemas.microsoft.com/office/drawing/2014/main" id="{D4508643-FB9E-E548-CEE7-341F08E5A361}"/>
                </a:ext>
              </a:extLst>
            </p:cNvPr>
            <p:cNvCxnSpPr>
              <a:cxnSpLocks/>
              <a:stCxn id="73" idx="1"/>
              <a:endCxn id="79" idx="1"/>
            </p:cNvCxnSpPr>
            <p:nvPr/>
          </p:nvCxnSpPr>
          <p:spPr>
            <a:xfrm rot="10800000" flipV="1">
              <a:off x="3768658" y="4895847"/>
              <a:ext cx="3435" cy="191729"/>
            </a:xfrm>
            <a:prstGeom prst="curvedConnector3">
              <a:avLst>
                <a:gd name="adj1" fmla="val 6755022"/>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grpSp>
      <p:graphicFrame>
        <p:nvGraphicFramePr>
          <p:cNvPr id="98" name="表格 97">
            <a:extLst>
              <a:ext uri="{FF2B5EF4-FFF2-40B4-BE49-F238E27FC236}">
                <a16:creationId xmlns:a16="http://schemas.microsoft.com/office/drawing/2014/main" id="{716AA6C2-711B-0866-4214-AE322E37383E}"/>
              </a:ext>
            </a:extLst>
          </p:cNvPr>
          <p:cNvGraphicFramePr>
            <a:graphicFrameLocks noGrp="1"/>
          </p:cNvGraphicFramePr>
          <p:nvPr>
            <p:extLst>
              <p:ext uri="{D42A27DB-BD31-4B8C-83A1-F6EECF244321}">
                <p14:modId xmlns:p14="http://schemas.microsoft.com/office/powerpoint/2010/main" val="229418978"/>
              </p:ext>
            </p:extLst>
          </p:nvPr>
        </p:nvGraphicFramePr>
        <p:xfrm>
          <a:off x="6736191" y="449897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pSp>
        <p:nvGrpSpPr>
          <p:cNvPr id="109" name="群組 108">
            <a:extLst>
              <a:ext uri="{FF2B5EF4-FFF2-40B4-BE49-F238E27FC236}">
                <a16:creationId xmlns:a16="http://schemas.microsoft.com/office/drawing/2014/main" id="{67CD801F-76D8-B810-A3CD-002536555BAD}"/>
              </a:ext>
            </a:extLst>
          </p:cNvPr>
          <p:cNvGrpSpPr/>
          <p:nvPr/>
        </p:nvGrpSpPr>
        <p:grpSpPr>
          <a:xfrm>
            <a:off x="4572000" y="3701726"/>
            <a:ext cx="209200" cy="1455466"/>
            <a:chOff x="4572000" y="3701726"/>
            <a:chExt cx="209200" cy="1455466"/>
          </a:xfrm>
        </p:grpSpPr>
        <p:sp>
          <p:nvSpPr>
            <p:cNvPr id="101" name="矩形 100">
              <a:extLst>
                <a:ext uri="{FF2B5EF4-FFF2-40B4-BE49-F238E27FC236}">
                  <a16:creationId xmlns:a16="http://schemas.microsoft.com/office/drawing/2014/main" id="{EFFA3DFF-8B96-115C-10F5-8709C7948869}"/>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02" name="矩形 101">
              <a:extLst>
                <a:ext uri="{FF2B5EF4-FFF2-40B4-BE49-F238E27FC236}">
                  <a16:creationId xmlns:a16="http://schemas.microsoft.com/office/drawing/2014/main" id="{3C6507A6-1A4B-EE6B-9131-851B7244E399}"/>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03" name="矩形 102">
              <a:extLst>
                <a:ext uri="{FF2B5EF4-FFF2-40B4-BE49-F238E27FC236}">
                  <a16:creationId xmlns:a16="http://schemas.microsoft.com/office/drawing/2014/main" id="{8F10EB1B-BD2E-D404-C174-DE50D50A8E23}"/>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04" name="文字方塊 103">
              <a:extLst>
                <a:ext uri="{FF2B5EF4-FFF2-40B4-BE49-F238E27FC236}">
                  <a16:creationId xmlns:a16="http://schemas.microsoft.com/office/drawing/2014/main" id="{F90C6A99-B563-9A27-E610-C6B0A42A983B}"/>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05" name="矩形 104">
              <a:extLst>
                <a:ext uri="{FF2B5EF4-FFF2-40B4-BE49-F238E27FC236}">
                  <a16:creationId xmlns:a16="http://schemas.microsoft.com/office/drawing/2014/main" id="{3829921C-CF00-BBE3-2B57-36BBA0EE5BAF}"/>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grpSp>
        <p:nvGrpSpPr>
          <p:cNvPr id="111" name="群組 110">
            <a:extLst>
              <a:ext uri="{FF2B5EF4-FFF2-40B4-BE49-F238E27FC236}">
                <a16:creationId xmlns:a16="http://schemas.microsoft.com/office/drawing/2014/main" id="{FDC89DF3-4DDE-5058-6387-0624D04F9825}"/>
              </a:ext>
            </a:extLst>
          </p:cNvPr>
          <p:cNvGrpSpPr/>
          <p:nvPr/>
        </p:nvGrpSpPr>
        <p:grpSpPr>
          <a:xfrm>
            <a:off x="4860032" y="3701726"/>
            <a:ext cx="209200" cy="1455466"/>
            <a:chOff x="4572000" y="3701726"/>
            <a:chExt cx="209200" cy="1455466"/>
          </a:xfrm>
        </p:grpSpPr>
        <p:sp>
          <p:nvSpPr>
            <p:cNvPr id="112" name="矩形 111">
              <a:extLst>
                <a:ext uri="{FF2B5EF4-FFF2-40B4-BE49-F238E27FC236}">
                  <a16:creationId xmlns:a16="http://schemas.microsoft.com/office/drawing/2014/main" id="{F8DDEEC7-E03A-EFE9-DF17-6CFCD1BAFE45}"/>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13" name="矩形 112">
              <a:extLst>
                <a:ext uri="{FF2B5EF4-FFF2-40B4-BE49-F238E27FC236}">
                  <a16:creationId xmlns:a16="http://schemas.microsoft.com/office/drawing/2014/main" id="{8AF3A9DC-8996-E7CD-8BA7-4FD601424BAB}"/>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14" name="矩形 113">
              <a:extLst>
                <a:ext uri="{FF2B5EF4-FFF2-40B4-BE49-F238E27FC236}">
                  <a16:creationId xmlns:a16="http://schemas.microsoft.com/office/drawing/2014/main" id="{3F99CB8F-CE71-73B5-FEEA-CBC67ED224B4}"/>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15" name="文字方塊 114">
              <a:extLst>
                <a:ext uri="{FF2B5EF4-FFF2-40B4-BE49-F238E27FC236}">
                  <a16:creationId xmlns:a16="http://schemas.microsoft.com/office/drawing/2014/main" id="{1D48F34D-6A83-8C22-3E8D-4B1E0BFEA666}"/>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16" name="矩形 115">
              <a:extLst>
                <a:ext uri="{FF2B5EF4-FFF2-40B4-BE49-F238E27FC236}">
                  <a16:creationId xmlns:a16="http://schemas.microsoft.com/office/drawing/2014/main" id="{276A10F6-D303-9816-DA37-7C79B1D1EC83}"/>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sp>
        <p:nvSpPr>
          <p:cNvPr id="118" name="文字方塊 117">
            <a:extLst>
              <a:ext uri="{FF2B5EF4-FFF2-40B4-BE49-F238E27FC236}">
                <a16:creationId xmlns:a16="http://schemas.microsoft.com/office/drawing/2014/main" id="{5006C014-9B3D-45DB-E1D2-C6B4D6D0B2F3}"/>
              </a:ext>
            </a:extLst>
          </p:cNvPr>
          <p:cNvSpPr txBox="1"/>
          <p:nvPr/>
        </p:nvSpPr>
        <p:spPr>
          <a:xfrm>
            <a:off x="5087575" y="4765496"/>
            <a:ext cx="483526" cy="200222"/>
          </a:xfrm>
          <a:prstGeom prst="rect">
            <a:avLst/>
          </a:prstGeom>
          <a:noFill/>
        </p:spPr>
        <p:txBody>
          <a:bodyPr wrap="none" lIns="0" tIns="0" rIns="0" bIns="0" anchor="ctr" anchorCtr="1">
            <a:noAutofit/>
          </a:bodyPr>
          <a:lstStyle/>
          <a:p>
            <a:pPr algn="ctr"/>
            <a:r>
              <a:rPr lang="en-US" altLang="zh-TW" sz="1400" b="1" dirty="0">
                <a:solidFill>
                  <a:schemeClr val="accent4">
                    <a:lumMod val="75000"/>
                  </a:schemeClr>
                </a:solidFill>
                <a:ea typeface="Cambria Math" panose="02040503050406030204" pitchFamily="18" charset="0"/>
              </a:rPr>
              <a:t>…</a:t>
            </a:r>
            <a:endParaRPr kumimoji="0" lang="en-US" altLang="zh-TW" sz="1400" b="1" u="none" strike="noStrike" kern="1200" cap="none" spc="0" normalizeH="0" baseline="0" noProof="0" dirty="0">
              <a:ln>
                <a:noFill/>
              </a:ln>
              <a:solidFill>
                <a:schemeClr val="accent4">
                  <a:lumMod val="7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upervised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ine-</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extLst>
              <p:ext uri="{D42A27DB-BD31-4B8C-83A1-F6EECF244321}">
                <p14:modId xmlns:p14="http://schemas.microsoft.com/office/powerpoint/2010/main" val="2721847558"/>
              </p:ext>
            </p:extLst>
          </p:nvPr>
        </p:nvGraphicFramePr>
        <p:xfrm>
          <a:off x="446679" y="5769446"/>
          <a:ext cx="2061433" cy="76058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B28934C4-E141-B876-09BC-40349200C9C7}"/>
              </a:ext>
            </a:extLst>
          </p:cNvPr>
          <p:cNvGraphicFramePr>
            <a:graphicFrameLocks noGrp="1"/>
          </p:cNvGraphicFramePr>
          <p:nvPr>
            <p:extLst>
              <p:ext uri="{D42A27DB-BD31-4B8C-83A1-F6EECF244321}">
                <p14:modId xmlns:p14="http://schemas.microsoft.com/office/powerpoint/2010/main" val="988163058"/>
              </p:ext>
            </p:extLst>
          </p:nvPr>
        </p:nvGraphicFramePr>
        <p:xfrm>
          <a:off x="446679" y="5085184"/>
          <a:ext cx="2061433" cy="580749"/>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871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Parameter-Efficient</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Fine-Tuning (PEFT)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93583">
                <a:tc>
                  <a:txBody>
                    <a:bodyPr/>
                    <a:lstStyle/>
                    <a:p>
                      <a:pPr algn="l"/>
                      <a:r>
                        <a:rPr lang="en-US" altLang="zh-TW" sz="1200" b="0" cap="none" spc="0" dirty="0">
                          <a:ln w="0"/>
                          <a:solidFill>
                            <a:schemeClr val="tx1"/>
                          </a:solidFill>
                          <a:effectLst/>
                        </a:rPr>
                        <a:t>Fine-Tuning Framework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bl>
          </a:graphicData>
        </a:graphic>
      </p:graphicFrame>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528F1A4-C5F2-B372-FD94-C6C887DEC259}"/>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021CCA31-8B62-ABC4-E286-F329C53D3421}"/>
              </a:ext>
            </a:extLst>
          </p:cNvPr>
          <p:cNvSpPr txBox="1"/>
          <p:nvPr/>
        </p:nvSpPr>
        <p:spPr>
          <a:xfrm>
            <a:off x="1538110" y="4145907"/>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7795B43A-2DB0-CF61-22D8-74C6389C0F9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LoRA achieves PEFT by low-rank decomposition matrices while keeping the original model weights frozen. </a:t>
            </a:r>
          </a:p>
        </p:txBody>
      </p:sp>
      <p:sp>
        <p:nvSpPr>
          <p:cNvPr id="5" name="文字方塊 4">
            <a:extLst>
              <a:ext uri="{FF2B5EF4-FFF2-40B4-BE49-F238E27FC236}">
                <a16:creationId xmlns:a16="http://schemas.microsoft.com/office/drawing/2014/main" id="{7D4C9CE9-0B06-38A1-C39D-EAB1F5576FF4}"/>
              </a:ext>
            </a:extLst>
          </p:cNvPr>
          <p:cNvSpPr txBox="1"/>
          <p:nvPr/>
        </p:nvSpPr>
        <p:spPr>
          <a:xfrm>
            <a:off x="4216758" y="2934437"/>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6C5AC31E-D92E-A0DB-45D2-EEC916CF6E24}"/>
              </a:ext>
            </a:extLst>
          </p:cNvPr>
          <p:cNvSpPr txBox="1"/>
          <p:nvPr/>
        </p:nvSpPr>
        <p:spPr>
          <a:xfrm>
            <a:off x="4176410" y="4146983"/>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6B16A943-AE6E-3543-09C3-ECF7F35BE195}"/>
              </a:ext>
            </a:extLst>
          </p:cNvPr>
          <p:cNvGraphicFramePr>
            <a:graphicFrameLocks noGrp="1"/>
          </p:cNvGraphicFramePr>
          <p:nvPr>
            <p:extLst>
              <p:ext uri="{D42A27DB-BD31-4B8C-83A1-F6EECF244321}">
                <p14:modId xmlns:p14="http://schemas.microsoft.com/office/powerpoint/2010/main" val="839950108"/>
              </p:ext>
            </p:extLst>
          </p:nvPr>
        </p:nvGraphicFramePr>
        <p:xfrm>
          <a:off x="1791194" y="4433939"/>
          <a:ext cx="177959" cy="714884"/>
        </p:xfrm>
        <a:graphic>
          <a:graphicData uri="http://schemas.openxmlformats.org/drawingml/2006/table">
            <a:tbl>
              <a:tblPr firstRow="1" bandRow="1">
                <a:tableStyleId>{5C22544A-7EE6-4342-B048-85BDC9FD1C3A}</a:tableStyleId>
              </a:tblPr>
              <a:tblGrid>
                <a:gridCol w="177959">
                  <a:extLst>
                    <a:ext uri="{9D8B030D-6E8A-4147-A177-3AD203B41FA5}">
                      <a16:colId xmlns:a16="http://schemas.microsoft.com/office/drawing/2014/main" val="871242339"/>
                    </a:ext>
                  </a:extLst>
                </a:gridCol>
              </a:tblGrid>
              <a:tr h="714884">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A</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 name="表格 1">
            <a:extLst>
              <a:ext uri="{FF2B5EF4-FFF2-40B4-BE49-F238E27FC236}">
                <a16:creationId xmlns:a16="http://schemas.microsoft.com/office/drawing/2014/main" id="{D5C12B14-BECA-05BF-E62A-6E9934AEFDEC}"/>
              </a:ext>
            </a:extLst>
          </p:cNvPr>
          <p:cNvGraphicFramePr>
            <a:graphicFrameLocks noGrp="1"/>
          </p:cNvGraphicFramePr>
          <p:nvPr>
            <p:extLst>
              <p:ext uri="{D42A27DB-BD31-4B8C-83A1-F6EECF244321}">
                <p14:modId xmlns:p14="http://schemas.microsoft.com/office/powerpoint/2010/main" val="2263970451"/>
              </p:ext>
            </p:extLst>
          </p:nvPr>
        </p:nvGraphicFramePr>
        <p:xfrm>
          <a:off x="3965858" y="3227665"/>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4FBFF317-65B7-E19C-BE9C-2C4C128437E4}"/>
              </a:ext>
            </a:extLst>
          </p:cNvPr>
          <p:cNvSpPr txBox="1"/>
          <p:nvPr/>
        </p:nvSpPr>
        <p:spPr>
          <a:xfrm>
            <a:off x="2617427" y="4415631"/>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A7CAAD2B-19AE-9980-2A62-187269884DF2}"/>
              </a:ext>
            </a:extLst>
          </p:cNvPr>
          <p:cNvGraphicFramePr>
            <a:graphicFrameLocks noGrp="1"/>
          </p:cNvGraphicFramePr>
          <p:nvPr>
            <p:extLst>
              <p:ext uri="{D42A27DB-BD31-4B8C-83A1-F6EECF244321}">
                <p14:modId xmlns:p14="http://schemas.microsoft.com/office/powerpoint/2010/main" val="1528415552"/>
              </p:ext>
            </p:extLst>
          </p:nvPr>
        </p:nvGraphicFramePr>
        <p:xfrm>
          <a:off x="2419307" y="4655577"/>
          <a:ext cx="1218664" cy="213360"/>
        </p:xfrm>
        <a:graphic>
          <a:graphicData uri="http://schemas.openxmlformats.org/drawingml/2006/table">
            <a:tbl>
              <a:tblPr firstRow="1" bandRow="1">
                <a:tableStyleId>{5C22544A-7EE6-4342-B048-85BDC9FD1C3A}</a:tableStyleId>
              </a:tblPr>
              <a:tblGrid>
                <a:gridCol w="1218664">
                  <a:extLst>
                    <a:ext uri="{9D8B030D-6E8A-4147-A177-3AD203B41FA5}">
                      <a16:colId xmlns:a16="http://schemas.microsoft.com/office/drawing/2014/main" val="871242339"/>
                    </a:ext>
                  </a:extLst>
                </a:gridCol>
              </a:tblGrid>
              <a:tr h="178721">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B</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2" name="表格 11">
            <a:extLst>
              <a:ext uri="{FF2B5EF4-FFF2-40B4-BE49-F238E27FC236}">
                <a16:creationId xmlns:a16="http://schemas.microsoft.com/office/drawing/2014/main" id="{0B25FCB5-FCE0-61EB-EEB9-12DE4CD92939}"/>
              </a:ext>
            </a:extLst>
          </p:cNvPr>
          <p:cNvGraphicFramePr>
            <a:graphicFrameLocks noGrp="1"/>
          </p:cNvGraphicFramePr>
          <p:nvPr>
            <p:extLst>
              <p:ext uri="{D42A27DB-BD31-4B8C-83A1-F6EECF244321}">
                <p14:modId xmlns:p14="http://schemas.microsoft.com/office/powerpoint/2010/main" val="2582060314"/>
              </p:ext>
            </p:extLst>
          </p:nvPr>
        </p:nvGraphicFramePr>
        <p:xfrm>
          <a:off x="3962668" y="4415631"/>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19D10C5D-E703-AEC1-D9A7-83A4E472DAD5}"/>
              </a:ext>
            </a:extLst>
          </p:cNvPr>
          <p:cNvSpPr txBox="1"/>
          <p:nvPr/>
        </p:nvSpPr>
        <p:spPr>
          <a:xfrm>
            <a:off x="2681213" y="3223900"/>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727F449C-324A-74B0-C234-3386A0999F0B}"/>
              </a:ext>
            </a:extLst>
          </p:cNvPr>
          <p:cNvGraphicFramePr>
            <a:graphicFrameLocks noGrp="1"/>
          </p:cNvGraphicFramePr>
          <p:nvPr>
            <p:extLst>
              <p:ext uri="{D42A27DB-BD31-4B8C-83A1-F6EECF244321}">
                <p14:modId xmlns:p14="http://schemas.microsoft.com/office/powerpoint/2010/main" val="3092848734"/>
              </p:ext>
            </p:extLst>
          </p:nvPr>
        </p:nvGraphicFramePr>
        <p:xfrm>
          <a:off x="2388104" y="3499604"/>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8A4495B5-77BC-46A3-EE79-696BED0BF04C}"/>
              </a:ext>
            </a:extLst>
          </p:cNvPr>
          <p:cNvSpPr txBox="1"/>
          <p:nvPr/>
        </p:nvSpPr>
        <p:spPr>
          <a:xfrm>
            <a:off x="5701444" y="3223900"/>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F3565446-85A7-C9C4-4A1D-47FEA6E2071E}"/>
              </a:ext>
            </a:extLst>
          </p:cNvPr>
          <p:cNvGraphicFramePr>
            <a:graphicFrameLocks noGrp="1"/>
          </p:cNvGraphicFramePr>
          <p:nvPr>
            <p:extLst>
              <p:ext uri="{D42A27DB-BD31-4B8C-83A1-F6EECF244321}">
                <p14:modId xmlns:p14="http://schemas.microsoft.com/office/powerpoint/2010/main" val="3912017110"/>
              </p:ext>
            </p:extLst>
          </p:nvPr>
        </p:nvGraphicFramePr>
        <p:xfrm>
          <a:off x="5400546" y="348990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D94D7D1A-59F2-6565-206E-687583FA2657}"/>
              </a:ext>
            </a:extLst>
          </p:cNvPr>
          <p:cNvSpPr txBox="1"/>
          <p:nvPr/>
        </p:nvSpPr>
        <p:spPr>
          <a:xfrm>
            <a:off x="4464442" y="395941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E3D52E99-CF74-358E-7CB9-468275F7423C}"/>
              </a:ext>
            </a:extLst>
          </p:cNvPr>
          <p:cNvSpPr txBox="1"/>
          <p:nvPr/>
        </p:nvSpPr>
        <p:spPr>
          <a:xfrm>
            <a:off x="3702368" y="344099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6966BA9-55FA-A73F-1E8C-DEA8377CF15A}"/>
              </a:ext>
            </a:extLst>
          </p:cNvPr>
          <p:cNvSpPr txBox="1"/>
          <p:nvPr/>
        </p:nvSpPr>
        <p:spPr>
          <a:xfrm>
            <a:off x="5181332" y="3440999"/>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F421E7A6-42EA-7C31-9EE3-E6013D8ED89D}"/>
              </a:ext>
            </a:extLst>
          </p:cNvPr>
          <p:cNvSpPr txBox="1"/>
          <p:nvPr/>
        </p:nvSpPr>
        <p:spPr>
          <a:xfrm>
            <a:off x="2091942" y="4680581"/>
            <a:ext cx="177958" cy="21336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FB8CF55E-F91C-C53B-CA11-D8E651B5808A}"/>
              </a:ext>
            </a:extLst>
          </p:cNvPr>
          <p:cNvSpPr txBox="1"/>
          <p:nvPr/>
        </p:nvSpPr>
        <p:spPr>
          <a:xfrm>
            <a:off x="3702368" y="4655577"/>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18" name="文字方塊 17">
            <a:extLst>
              <a:ext uri="{FF2B5EF4-FFF2-40B4-BE49-F238E27FC236}">
                <a16:creationId xmlns:a16="http://schemas.microsoft.com/office/drawing/2014/main" id="{4C6464BD-CB0F-1E4C-16C0-48EB91D59EEF}"/>
              </a:ext>
            </a:extLst>
          </p:cNvPr>
          <p:cNvSpPr txBox="1"/>
          <p:nvPr/>
        </p:nvSpPr>
        <p:spPr>
          <a:xfrm>
            <a:off x="179510" y="1377042"/>
            <a:ext cx="813690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SVD: </a:t>
            </a:r>
            <a:r>
              <a:rPr lang="en-US" altLang="zh-TW" sz="1600" dirty="0"/>
              <a:t>Matrix Decomposition.</a:t>
            </a:r>
            <a:endParaRPr lang="en-US" altLang="zh-TW" sz="1600" b="1" dirty="0"/>
          </a:p>
        </p:txBody>
      </p:sp>
    </p:spTree>
    <p:extLst>
      <p:ext uri="{BB962C8B-B14F-4D97-AF65-F5344CB8AC3E}">
        <p14:creationId xmlns:p14="http://schemas.microsoft.com/office/powerpoint/2010/main" val="1781003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aphicFrame>
        <p:nvGraphicFramePr>
          <p:cNvPr id="8" name="表格 7">
            <a:extLst>
              <a:ext uri="{FF2B5EF4-FFF2-40B4-BE49-F238E27FC236}">
                <a16:creationId xmlns:a16="http://schemas.microsoft.com/office/drawing/2014/main" id="{3E5C1892-EFAE-EC36-F73D-E996CC3D8860}"/>
              </a:ext>
            </a:extLst>
          </p:cNvPr>
          <p:cNvGraphicFramePr>
            <a:graphicFrameLocks noGrp="1"/>
          </p:cNvGraphicFramePr>
          <p:nvPr>
            <p:extLst>
              <p:ext uri="{D42A27DB-BD31-4B8C-83A1-F6EECF244321}">
                <p14:modId xmlns:p14="http://schemas.microsoft.com/office/powerpoint/2010/main" val="3641951112"/>
              </p:ext>
            </p:extLst>
          </p:nvPr>
        </p:nvGraphicFramePr>
        <p:xfrm>
          <a:off x="446679" y="1588297"/>
          <a:ext cx="2061433" cy="94346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LoRA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Freeze All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Inject 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Active LoRA (A+B)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Quantization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00520025"/>
                  </a:ext>
                </a:extLst>
              </a:tr>
            </a:tbl>
          </a:graphicData>
        </a:graphic>
      </p:graphicFrame>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pSp>
        <p:nvGrpSpPr>
          <p:cNvPr id="3" name="群組 2">
            <a:extLst>
              <a:ext uri="{FF2B5EF4-FFF2-40B4-BE49-F238E27FC236}">
                <a16:creationId xmlns:a16="http://schemas.microsoft.com/office/drawing/2014/main" id="{7AF23005-989C-0817-83B8-9C68863919D4}"/>
              </a:ext>
            </a:extLst>
          </p:cNvPr>
          <p:cNvGrpSpPr/>
          <p:nvPr/>
        </p:nvGrpSpPr>
        <p:grpSpPr>
          <a:xfrm>
            <a:off x="282880" y="1405304"/>
            <a:ext cx="1404468" cy="4327952"/>
            <a:chOff x="282880" y="1405304"/>
            <a:chExt cx="1404468" cy="4327952"/>
          </a:xfrm>
        </p:grpSpPr>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grpSp>
        <p:nvGrpSpPr>
          <p:cNvPr id="8" name="群組 7">
            <a:extLst>
              <a:ext uri="{FF2B5EF4-FFF2-40B4-BE49-F238E27FC236}">
                <a16:creationId xmlns:a16="http://schemas.microsoft.com/office/drawing/2014/main" id="{84C7642D-755A-C0ED-3DD8-FA70E95B43E3}"/>
              </a:ext>
            </a:extLst>
          </p:cNvPr>
          <p:cNvGrpSpPr/>
          <p:nvPr/>
        </p:nvGrpSpPr>
        <p:grpSpPr>
          <a:xfrm>
            <a:off x="1939064" y="1405304"/>
            <a:ext cx="1404186" cy="4327952"/>
            <a:chOff x="1939064" y="1405304"/>
            <a:chExt cx="1404186" cy="4327952"/>
          </a:xfrm>
        </p:grpSpPr>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圖片 12">
            <a:extLst>
              <a:ext uri="{FF2B5EF4-FFF2-40B4-BE49-F238E27FC236}">
                <a16:creationId xmlns:a16="http://schemas.microsoft.com/office/drawing/2014/main" id="{2B1D888A-E512-8AFB-AB9A-F2663716C8A1}"/>
              </a:ext>
            </a:extLst>
          </p:cNvPr>
          <p:cNvPicPr>
            <a:picLocks noChangeAspect="1"/>
          </p:cNvPicPr>
          <p:nvPr/>
        </p:nvPicPr>
        <p:blipFill>
          <a:blip r:embed="rId3"/>
          <a:stretch>
            <a:fillRect/>
          </a:stretch>
        </p:blipFill>
        <p:spPr>
          <a:xfrm>
            <a:off x="0" y="980728"/>
            <a:ext cx="9144000" cy="4314654"/>
          </a:xfrm>
          <a:prstGeom prst="rect">
            <a:avLst/>
          </a:prstGeom>
        </p:spPr>
      </p:pic>
      <p:sp>
        <p:nvSpPr>
          <p:cNvPr id="5" name="標題 1">
            <a:extLst>
              <a:ext uri="{FF2B5EF4-FFF2-40B4-BE49-F238E27FC236}">
                <a16:creationId xmlns:a16="http://schemas.microsoft.com/office/drawing/2014/main" id="{39FE1AA6-4EAA-056D-8A24-89A81C3BF804}"/>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DeepSWE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 S</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oftware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W</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ork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ngineering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DeepSWE: Measuring Frontier Coding Agents on Original, Long-Horizon Engineering Tasks.</a:t>
            </a:r>
          </a:p>
        </p:txBody>
      </p:sp>
      <p:pic>
        <p:nvPicPr>
          <p:cNvPr id="11" name="圖片 10">
            <a:extLst>
              <a:ext uri="{FF2B5EF4-FFF2-40B4-BE49-F238E27FC236}">
                <a16:creationId xmlns:a16="http://schemas.microsoft.com/office/drawing/2014/main" id="{E94EF3C9-A35B-1FB9-3620-3D7C2BF4C72C}"/>
              </a:ext>
            </a:extLst>
          </p:cNvPr>
          <p:cNvPicPr>
            <a:picLocks noChangeAspect="1"/>
          </p:cNvPicPr>
          <p:nvPr/>
        </p:nvPicPr>
        <p:blipFill>
          <a:blip r:embed="rId5"/>
          <a:stretch>
            <a:fillRect/>
          </a:stretch>
        </p:blipFill>
        <p:spPr>
          <a:xfrm>
            <a:off x="899592" y="3212976"/>
            <a:ext cx="1584176" cy="3541099"/>
          </a:xfrm>
          <a:prstGeom prst="rect">
            <a:avLst/>
          </a:prstGeom>
        </p:spPr>
      </p:pic>
      <p:sp>
        <p:nvSpPr>
          <p:cNvPr id="15" name="文字方塊 14">
            <a:extLst>
              <a:ext uri="{FF2B5EF4-FFF2-40B4-BE49-F238E27FC236}">
                <a16:creationId xmlns:a16="http://schemas.microsoft.com/office/drawing/2014/main" id="{0C1D6EFB-5D4E-A0CF-32F7-D455AE736DAD}"/>
              </a:ext>
            </a:extLst>
          </p:cNvPr>
          <p:cNvSpPr txBox="1"/>
          <p:nvPr/>
        </p:nvSpPr>
        <p:spPr>
          <a:xfrm>
            <a:off x="3617893" y="5596037"/>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Avg cost per task</a:t>
            </a:r>
          </a:p>
          <a:p>
            <a:pPr algn="ctr"/>
            <a:r>
              <a:rPr lang="en-US" altLang="zh-TW" sz="1200" dirty="0">
                <a:solidFill>
                  <a:schemeClr val="tx1">
                    <a:lumMod val="65000"/>
                    <a:lumOff val="35000"/>
                  </a:schemeClr>
                </a:solidFill>
                <a:ea typeface="Cambria Math" panose="02040503050406030204" pitchFamily="18" charset="0"/>
              </a:rPr>
              <a:t>(113 tasks, updated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18950036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A5C4F568-3DFA-8382-4525-C8DD5A833A1B}"/>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3"/>
              </a:rPr>
              <a:t>Agent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Dynamic ranking of models on how well they orchestrate tools for real-world agentic tasks, based on signals like tool reliability, task completion, and steerability.</a:t>
            </a:r>
          </a:p>
        </p:txBody>
      </p:sp>
      <p:pic>
        <p:nvPicPr>
          <p:cNvPr id="9" name="圖片 8">
            <a:extLst>
              <a:ext uri="{FF2B5EF4-FFF2-40B4-BE49-F238E27FC236}">
                <a16:creationId xmlns:a16="http://schemas.microsoft.com/office/drawing/2014/main" id="{7EA5FBFC-20E5-1BDE-8E12-0C96086F903F}"/>
              </a:ext>
            </a:extLst>
          </p:cNvPr>
          <p:cNvPicPr>
            <a:picLocks noChangeAspect="1"/>
          </p:cNvPicPr>
          <p:nvPr/>
        </p:nvPicPr>
        <p:blipFill>
          <a:blip r:embed="rId4"/>
          <a:stretch>
            <a:fillRect/>
          </a:stretch>
        </p:blipFill>
        <p:spPr>
          <a:xfrm>
            <a:off x="99388" y="2924944"/>
            <a:ext cx="8945223" cy="3362794"/>
          </a:xfrm>
          <a:prstGeom prst="rect">
            <a:avLst/>
          </a:prstGeom>
        </p:spPr>
      </p:pic>
      <p:pic>
        <p:nvPicPr>
          <p:cNvPr id="11" name="圖片 10">
            <a:extLst>
              <a:ext uri="{FF2B5EF4-FFF2-40B4-BE49-F238E27FC236}">
                <a16:creationId xmlns:a16="http://schemas.microsoft.com/office/drawing/2014/main" id="{0233300B-9750-0449-9CFB-9A96F6C19BE4}"/>
              </a:ext>
            </a:extLst>
          </p:cNvPr>
          <p:cNvPicPr>
            <a:picLocks noChangeAspect="1"/>
          </p:cNvPicPr>
          <p:nvPr/>
        </p:nvPicPr>
        <p:blipFill>
          <a:blip r:embed="rId5"/>
          <a:stretch>
            <a:fillRect/>
          </a:stretch>
        </p:blipFill>
        <p:spPr>
          <a:xfrm>
            <a:off x="6804248" y="116631"/>
            <a:ext cx="2240363" cy="3639549"/>
          </a:xfrm>
          <a:prstGeom prst="rect">
            <a:avLst/>
          </a:prstGeom>
          <a:effectLst>
            <a:glow rad="76200">
              <a:schemeClr val="accent3">
                <a:lumMod val="50000"/>
              </a:schemeClr>
            </a:glow>
            <a:softEdge rad="0"/>
          </a:effectLst>
        </p:spPr>
      </p:pic>
      <p:sp>
        <p:nvSpPr>
          <p:cNvPr id="13" name="文字方塊 12">
            <a:extLst>
              <a:ext uri="{FF2B5EF4-FFF2-40B4-BE49-F238E27FC236}">
                <a16:creationId xmlns:a16="http://schemas.microsoft.com/office/drawing/2014/main" id="{7469C923-C931-199B-D609-1EB0F4D754BF}"/>
              </a:ext>
            </a:extLst>
          </p:cNvPr>
          <p:cNvSpPr txBox="1"/>
          <p:nvPr/>
        </p:nvSpPr>
        <p:spPr>
          <a:xfrm>
            <a:off x="97131" y="2168742"/>
            <a:ext cx="1954589" cy="61218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lang="en-US" altLang="zh-TW" sz="1200" dirty="0">
                <a:solidFill>
                  <a:schemeClr val="tx1">
                    <a:lumMod val="65000"/>
                    <a:lumOff val="35000"/>
                  </a:schemeClr>
                </a:solidFill>
                <a:ea typeface="Cambria Math" panose="02040503050406030204" pitchFamily="18" charset="0"/>
              </a:rPr>
              <a:t>Net Improvement x Cost/task </a:t>
            </a:r>
          </a:p>
          <a:p>
            <a:r>
              <a:rPr lang="en-US" altLang="zh-TW" sz="1200" dirty="0">
                <a:solidFill>
                  <a:schemeClr val="tx1">
                    <a:lumMod val="65000"/>
                    <a:lumOff val="35000"/>
                  </a:schemeClr>
                </a:solidFill>
                <a:ea typeface="Cambria Math" panose="02040503050406030204" pitchFamily="18" charset="0"/>
              </a:rPr>
              <a:t>from real Agent Mode tasks</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7" name="文字方塊 6">
            <a:extLst>
              <a:ext uri="{FF2B5EF4-FFF2-40B4-BE49-F238E27FC236}">
                <a16:creationId xmlns:a16="http://schemas.microsoft.com/office/drawing/2014/main" id="{A65F77F6-A88B-2FDF-1597-BE0605C993FA}"/>
              </a:ext>
            </a:extLst>
          </p:cNvPr>
          <p:cNvSpPr txBox="1"/>
          <p:nvPr/>
        </p:nvSpPr>
        <p:spPr>
          <a:xfrm>
            <a:off x="3617893" y="5445224"/>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Median cost per task</a:t>
            </a:r>
          </a:p>
          <a:p>
            <a:pPr algn="ctr"/>
            <a:r>
              <a:rPr lang="en-US" altLang="zh-TW" sz="1200" dirty="0">
                <a:solidFill>
                  <a:schemeClr val="tx1">
                    <a:lumMod val="65000"/>
                    <a:lumOff val="35000"/>
                  </a:schemeClr>
                </a:solidFill>
                <a:ea typeface="Cambria Math" panose="02040503050406030204" pitchFamily="18" charset="0"/>
              </a:rPr>
              <a:t>(last 14 days,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2945830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917B-2BED-DF73-A3FB-B159764110DF}"/>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719F25B-C5E7-AF78-E7FD-04744FCC3DB0}"/>
              </a:ext>
            </a:extLst>
          </p:cNvPr>
          <p:cNvPicPr>
            <a:picLocks noChangeAspect="1"/>
          </p:cNvPicPr>
          <p:nvPr/>
        </p:nvPicPr>
        <p:blipFill>
          <a:blip r:embed="rId3"/>
          <a:stretch>
            <a:fillRect/>
          </a:stretch>
        </p:blipFill>
        <p:spPr>
          <a:xfrm>
            <a:off x="0" y="1556792"/>
            <a:ext cx="9144000" cy="4993667"/>
          </a:xfrm>
          <a:prstGeom prst="rect">
            <a:avLst/>
          </a:prstGeom>
        </p:spPr>
      </p:pic>
      <p:sp>
        <p:nvSpPr>
          <p:cNvPr id="3" name="標題 1">
            <a:extLst>
              <a:ext uri="{FF2B5EF4-FFF2-40B4-BE49-F238E27FC236}">
                <a16:creationId xmlns:a16="http://schemas.microsoft.com/office/drawing/2014/main" id="{DBFEC646-8F67-91FB-5F07-2D5AB2CE5FB2}"/>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Text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View overall rankings across various AI models in text-to-text tasks across math, coding, creative writing, and other open-ended domains.</a:t>
            </a:r>
          </a:p>
        </p:txBody>
      </p:sp>
      <p:sp>
        <p:nvSpPr>
          <p:cNvPr id="7" name="文字方塊 6">
            <a:extLst>
              <a:ext uri="{FF2B5EF4-FFF2-40B4-BE49-F238E27FC236}">
                <a16:creationId xmlns:a16="http://schemas.microsoft.com/office/drawing/2014/main" id="{CDB6239F-1717-B8E1-A207-B7F7EAE3058A}"/>
              </a:ext>
            </a:extLst>
          </p:cNvPr>
          <p:cNvSpPr txBox="1"/>
          <p:nvPr/>
        </p:nvSpPr>
        <p:spPr>
          <a:xfrm>
            <a:off x="3617893" y="6172101"/>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Blended price per 1M tokens</a:t>
            </a:r>
          </a:p>
          <a:p>
            <a:pPr algn="ctr"/>
            <a:r>
              <a:rPr lang="en-US" altLang="zh-TW" sz="1200" dirty="0">
                <a:solidFill>
                  <a:schemeClr val="tx1">
                    <a:lumMod val="65000"/>
                    <a:lumOff val="35000"/>
                  </a:schemeClr>
                </a:solidFill>
                <a:ea typeface="Cambria Math" panose="02040503050406030204" pitchFamily="18" charset="0"/>
              </a:rPr>
              <a:t>(3:1 Ratio)</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13" name="文字方塊 12">
            <a:extLst>
              <a:ext uri="{FF2B5EF4-FFF2-40B4-BE49-F238E27FC236}">
                <a16:creationId xmlns:a16="http://schemas.microsoft.com/office/drawing/2014/main" id="{4A229551-220B-F2F4-DF9A-D98D727027A4}"/>
              </a:ext>
            </a:extLst>
          </p:cNvPr>
          <p:cNvSpPr txBox="1"/>
          <p:nvPr/>
        </p:nvSpPr>
        <p:spPr>
          <a:xfrm>
            <a:off x="99388" y="2204864"/>
            <a:ext cx="1450533" cy="720080"/>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Model performance</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at each price point</a:t>
            </a:r>
          </a:p>
        </p:txBody>
      </p:sp>
      <p:sp>
        <p:nvSpPr>
          <p:cNvPr id="10" name="文字方塊 9">
            <a:extLst>
              <a:ext uri="{FF2B5EF4-FFF2-40B4-BE49-F238E27FC236}">
                <a16:creationId xmlns:a16="http://schemas.microsoft.com/office/drawing/2014/main" id="{D7BDAB37-452B-E631-B1C7-62F168CA9B05}"/>
              </a:ext>
            </a:extLst>
          </p:cNvPr>
          <p:cNvSpPr txBox="1"/>
          <p:nvPr/>
        </p:nvSpPr>
        <p:spPr>
          <a:xfrm>
            <a:off x="2481511"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$20</a:t>
            </a:r>
          </a:p>
        </p:txBody>
      </p:sp>
      <p:sp>
        <p:nvSpPr>
          <p:cNvPr id="14" name="文字方塊 13">
            <a:extLst>
              <a:ext uri="{FF2B5EF4-FFF2-40B4-BE49-F238E27FC236}">
                <a16:creationId xmlns:a16="http://schemas.microsoft.com/office/drawing/2014/main" id="{70BEBE3D-2AF6-E1E3-173A-19BD0106F806}"/>
              </a:ext>
            </a:extLst>
          </p:cNvPr>
          <p:cNvSpPr txBox="1"/>
          <p:nvPr/>
        </p:nvSpPr>
        <p:spPr>
          <a:xfrm>
            <a:off x="1547664"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$50</a:t>
            </a:r>
          </a:p>
        </p:txBody>
      </p:sp>
      <p:sp>
        <p:nvSpPr>
          <p:cNvPr id="16" name="文字方塊 15">
            <a:extLst>
              <a:ext uri="{FF2B5EF4-FFF2-40B4-BE49-F238E27FC236}">
                <a16:creationId xmlns:a16="http://schemas.microsoft.com/office/drawing/2014/main" id="{BB625830-132C-851A-62C1-B42C286F2E11}"/>
              </a:ext>
            </a:extLst>
          </p:cNvPr>
          <p:cNvSpPr txBox="1"/>
          <p:nvPr/>
        </p:nvSpPr>
        <p:spPr>
          <a:xfrm>
            <a:off x="8460432" y="6608230"/>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$0.05</a:t>
            </a:r>
          </a:p>
        </p:txBody>
      </p:sp>
      <p:sp>
        <p:nvSpPr>
          <p:cNvPr id="18" name="文字方塊 17">
            <a:extLst>
              <a:ext uri="{FF2B5EF4-FFF2-40B4-BE49-F238E27FC236}">
                <a16:creationId xmlns:a16="http://schemas.microsoft.com/office/drawing/2014/main" id="{8ECD153E-8B4F-7FF8-013D-89B37FAAA210}"/>
              </a:ext>
            </a:extLst>
          </p:cNvPr>
          <p:cNvSpPr txBox="1"/>
          <p:nvPr/>
        </p:nvSpPr>
        <p:spPr>
          <a:xfrm>
            <a:off x="5652120"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$1</a:t>
            </a:r>
          </a:p>
        </p:txBody>
      </p:sp>
      <p:sp>
        <p:nvSpPr>
          <p:cNvPr id="20" name="文字方塊 19">
            <a:extLst>
              <a:ext uri="{FF2B5EF4-FFF2-40B4-BE49-F238E27FC236}">
                <a16:creationId xmlns:a16="http://schemas.microsoft.com/office/drawing/2014/main" id="{B1BB2824-A837-4B67-7896-D6E7DC46FF40}"/>
              </a:ext>
            </a:extLst>
          </p:cNvPr>
          <p:cNvSpPr txBox="1"/>
          <p:nvPr/>
        </p:nvSpPr>
        <p:spPr>
          <a:xfrm>
            <a:off x="5001791" y="6610227"/>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a:t>
            </a:r>
          </a:p>
        </p:txBody>
      </p:sp>
      <p:sp>
        <p:nvSpPr>
          <p:cNvPr id="24" name="文字方塊 23">
            <a:extLst>
              <a:ext uri="{FF2B5EF4-FFF2-40B4-BE49-F238E27FC236}">
                <a16:creationId xmlns:a16="http://schemas.microsoft.com/office/drawing/2014/main" id="{BFDC8BDC-40D7-5347-05F5-1C9758BC2DD2}"/>
              </a:ext>
            </a:extLst>
          </p:cNvPr>
          <p:cNvSpPr txBox="1"/>
          <p:nvPr/>
        </p:nvSpPr>
        <p:spPr>
          <a:xfrm>
            <a:off x="205855" y="5589240"/>
            <a:ext cx="504056" cy="4253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Arena</a:t>
            </a:r>
          </a:p>
          <a:p>
            <a:pPr algn="ctr"/>
            <a:r>
              <a:rPr lang="en-US" altLang="zh-TW" sz="1400" b="1" dirty="0">
                <a:ea typeface="Cambria Math" panose="02040503050406030204" pitchFamily="18" charset="0"/>
              </a:rPr>
              <a:t>Score</a:t>
            </a:r>
          </a:p>
        </p:txBody>
      </p:sp>
      <p:pic>
        <p:nvPicPr>
          <p:cNvPr id="26" name="圖片 25">
            <a:extLst>
              <a:ext uri="{FF2B5EF4-FFF2-40B4-BE49-F238E27FC236}">
                <a16:creationId xmlns:a16="http://schemas.microsoft.com/office/drawing/2014/main" id="{BF72E690-F338-721D-9BAF-E5D2C81EEB8C}"/>
              </a:ext>
            </a:extLst>
          </p:cNvPr>
          <p:cNvPicPr>
            <a:picLocks noChangeAspect="1"/>
          </p:cNvPicPr>
          <p:nvPr/>
        </p:nvPicPr>
        <p:blipFill>
          <a:blip r:embed="rId5"/>
          <a:stretch>
            <a:fillRect/>
          </a:stretch>
        </p:blipFill>
        <p:spPr>
          <a:xfrm>
            <a:off x="6804248" y="1582341"/>
            <a:ext cx="1221486" cy="528210"/>
          </a:xfrm>
          <a:prstGeom prst="rect">
            <a:avLst/>
          </a:prstGeom>
        </p:spPr>
      </p:pic>
      <p:pic>
        <p:nvPicPr>
          <p:cNvPr id="28" name="圖片 27">
            <a:extLst>
              <a:ext uri="{FF2B5EF4-FFF2-40B4-BE49-F238E27FC236}">
                <a16:creationId xmlns:a16="http://schemas.microsoft.com/office/drawing/2014/main" id="{D3C265AA-0CC5-7950-04A6-DEE5E50044EA}"/>
              </a:ext>
            </a:extLst>
          </p:cNvPr>
          <p:cNvPicPr>
            <a:picLocks noChangeAspect="1"/>
          </p:cNvPicPr>
          <p:nvPr/>
        </p:nvPicPr>
        <p:blipFill>
          <a:blip r:embed="rId6"/>
          <a:stretch>
            <a:fillRect/>
          </a:stretch>
        </p:blipFill>
        <p:spPr>
          <a:xfrm>
            <a:off x="7867980" y="2396734"/>
            <a:ext cx="1184904" cy="528210"/>
          </a:xfrm>
          <a:prstGeom prst="rect">
            <a:avLst/>
          </a:prstGeom>
        </p:spPr>
      </p:pic>
    </p:spTree>
    <p:extLst>
      <p:ext uri="{BB962C8B-B14F-4D97-AF65-F5344CB8AC3E}">
        <p14:creationId xmlns:p14="http://schemas.microsoft.com/office/powerpoint/2010/main" val="830284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LLeMA</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474</TotalTime>
  <Words>18558</Words>
  <Application>Microsoft Office PowerPoint</Application>
  <PresentationFormat>如螢幕大小 (4:3)</PresentationFormat>
  <Paragraphs>2747</Paragraphs>
  <Slides>47</Slides>
  <Notes>39</Notes>
  <HiddenSlides>7</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47</vt:i4>
      </vt:variant>
    </vt:vector>
  </HeadingPairs>
  <TitlesOfParts>
    <vt:vector size="65"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1895</cp:revision>
  <cp:lastPrinted>2024-07-30T01:44:15Z</cp:lastPrinted>
  <dcterms:created xsi:type="dcterms:W3CDTF">2019-11-08T03:01:47Z</dcterms:created>
  <dcterms:modified xsi:type="dcterms:W3CDTF">2026-09-08T09:55:12Z</dcterms:modified>
</cp:coreProperties>
</file>