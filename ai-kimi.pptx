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7"/>
  </p:notesMasterIdLst>
  <p:handoutMasterIdLst>
    <p:handoutMasterId r:id="rId28"/>
  </p:handoutMasterIdLst>
  <p:sldIdLst>
    <p:sldId id="3459" r:id="rId2"/>
    <p:sldId id="3472" r:id="rId3"/>
    <p:sldId id="3465" r:id="rId4"/>
    <p:sldId id="3566" r:id="rId5"/>
    <p:sldId id="3555" r:id="rId6"/>
    <p:sldId id="3559" r:id="rId7"/>
    <p:sldId id="3563" r:id="rId8"/>
    <p:sldId id="3562" r:id="rId9"/>
    <p:sldId id="3556" r:id="rId10"/>
    <p:sldId id="3551" r:id="rId11"/>
    <p:sldId id="3570" r:id="rId12"/>
    <p:sldId id="3571" r:id="rId13"/>
    <p:sldId id="3572" r:id="rId14"/>
    <p:sldId id="3567" r:id="rId15"/>
    <p:sldId id="3568" r:id="rId16"/>
    <p:sldId id="3561" r:id="rId17"/>
    <p:sldId id="3534" r:id="rId18"/>
    <p:sldId id="3565" r:id="rId19"/>
    <p:sldId id="3451" r:id="rId20"/>
    <p:sldId id="3560" r:id="rId21"/>
    <p:sldId id="3564" r:id="rId22"/>
    <p:sldId id="3536" r:id="rId23"/>
    <p:sldId id="3569" r:id="rId24"/>
    <p:sldId id="3535" r:id="rId25"/>
    <p:sldId id="3549" r:id="rId2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465"/>
            <p14:sldId id="3566"/>
            <p14:sldId id="3555"/>
            <p14:sldId id="3559"/>
          </p14:sldIdLst>
        </p14:section>
        <p14:section name="Optimizer-MuON" id="{D96295E3-C59A-456D-AE59-C3D5699A4263}">
          <p14:sldIdLst>
            <p14:sldId id="3563"/>
            <p14:sldId id="3562"/>
            <p14:sldId id="3556"/>
            <p14:sldId id="3551"/>
          </p14:sldIdLst>
        </p14:section>
        <p14:section name="Moonshot-Kimi" id="{7C2BE5B2-C507-46C7-871E-C935EB653EC3}">
          <p14:sldIdLst>
            <p14:sldId id="3570"/>
            <p14:sldId id="3571"/>
            <p14:sldId id="3572"/>
            <p14:sldId id="3567"/>
            <p14:sldId id="3568"/>
            <p14:sldId id="3561"/>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vocus.cc/article/6693787dfd89780001ac301a"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4.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4.png"/><Relationship Id="rId16"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6.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	</a:t>
            </a:r>
            <a:r>
              <a:rPr lang="en-US" altLang="zh-TW" sz="1000" dirty="0">
                <a:sym typeface="Wingdings" panose="05000000000000000000" pitchFamily="2" charset="2"/>
              </a:rPr>
              <a:t>	Kimi Team</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LSTM networks operate similarly to RNNs but include specialized mechanisms called gates.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These gates regulate how information flows through the network, allowing it to retain important information over extended periods.</a:t>
            </a:r>
          </a:p>
        </p:txBody>
      </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0A251C17-D9A1-5FBF-8E07-DD7E1122850A}"/>
              </a:ext>
            </a:extLst>
          </p:cNvPr>
          <p:cNvPicPr>
            <a:picLocks noChangeAspect="1"/>
          </p:cNvPicPr>
          <p:nvPr/>
        </p:nvPicPr>
        <p:blipFill>
          <a:blip r:embed="rId4"/>
          <a:stretch>
            <a:fillRect/>
          </a:stretch>
        </p:blipFill>
        <p:spPr>
          <a:xfrm>
            <a:off x="127453" y="3591374"/>
            <a:ext cx="5198703" cy="3077986"/>
          </a:xfrm>
          <a:prstGeom prst="rect">
            <a:avLst/>
          </a:prstGeom>
        </p:spPr>
      </p:pic>
      <p:sp>
        <p:nvSpPr>
          <p:cNvPr id="6" name="文字方塊 5">
            <a:hlinkClick r:id="rId5"/>
            <a:extLst>
              <a:ext uri="{FF2B5EF4-FFF2-40B4-BE49-F238E27FC236}">
                <a16:creationId xmlns:a16="http://schemas.microsoft.com/office/drawing/2014/main" id="{70855807-1161-E559-F5A2-B53DEF61F327}"/>
              </a:ext>
            </a:extLst>
          </p:cNvPr>
          <p:cNvSpPr txBox="1"/>
          <p:nvPr/>
        </p:nvSpPr>
        <p:spPr>
          <a:xfrm>
            <a:off x="179512" y="3192617"/>
            <a:ext cx="1195013" cy="369332"/>
          </a:xfrm>
          <a:prstGeom prst="rect">
            <a:avLst/>
          </a:prstGeom>
          <a:noFill/>
        </p:spPr>
        <p:txBody>
          <a:bodyPr wrap="square">
            <a:spAutoFit/>
          </a:bodyPr>
          <a:lstStyle/>
          <a:p>
            <a:r>
              <a:rPr lang="en-US" altLang="zh-TW" dirty="0">
                <a:hlinkClick r:id="rId5"/>
              </a:rPr>
              <a:t>LSTM</a:t>
            </a:r>
            <a:r>
              <a:rPr lang="zh-TW" altLang="en-US" dirty="0">
                <a:hlinkClick r:id="rId5"/>
              </a:rPr>
              <a:t>教學</a:t>
            </a:r>
            <a:endParaRPr lang="zh-TW" altLang="en-US" dirty="0"/>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MQA</a:t>
            </a:r>
          </a:p>
          <a:p>
            <a:pPr algn="ctr">
              <a:lnSpc>
                <a:spcPts val="1400"/>
              </a:lnSpc>
              <a:buNone/>
            </a:pPr>
            <a:r>
              <a:rPr lang="en-US" altLang="zh-TW" sz="1200" dirty="0"/>
              <a:t>Multi</a:t>
            </a:r>
          </a:p>
          <a:p>
            <a:pPr algn="ctr">
              <a:lnSpc>
                <a:spcPts val="1400"/>
              </a:lnSpc>
              <a:buNone/>
            </a:pPr>
            <a:r>
              <a:rPr lang="en-US" altLang="zh-TW" sz="1200" u="none" strike="noStrike" dirty="0">
                <a:effectLst/>
              </a:rPr>
              <a:t>Query</a:t>
            </a:r>
          </a:p>
          <a:p>
            <a:pPr algn="ctr">
              <a:lnSpc>
                <a:spcPts val="1400"/>
              </a:lnSpc>
              <a:buNone/>
            </a:pPr>
            <a:r>
              <a:rPr lang="en-US" altLang="zh-TW" sz="1200" dirty="0"/>
              <a:t>2019</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4499993"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GQA</a:t>
            </a:r>
          </a:p>
          <a:p>
            <a:pPr algn="ctr">
              <a:lnSpc>
                <a:spcPts val="1400"/>
              </a:lnSpc>
              <a:buNone/>
            </a:pPr>
            <a:r>
              <a:rPr lang="en-US" altLang="zh-TW" sz="1200" dirty="0"/>
              <a:t>Grouped</a:t>
            </a:r>
          </a:p>
          <a:p>
            <a:pPr algn="ctr">
              <a:lnSpc>
                <a:spcPts val="1400"/>
              </a:lnSpc>
              <a:buNone/>
            </a:pPr>
            <a:r>
              <a:rPr lang="en-US" altLang="zh-TW" sz="1200" dirty="0"/>
              <a:t>Query</a:t>
            </a:r>
          </a:p>
          <a:p>
            <a:pPr algn="ctr">
              <a:lnSpc>
                <a:spcPts val="1400"/>
              </a:lnSpc>
              <a:buNone/>
            </a:pPr>
            <a:r>
              <a:rPr lang="en-US" altLang="zh-TW" sz="1200" u="none" strike="noStrike" dirty="0">
                <a:effectLst/>
              </a:rPr>
              <a:t>2023</a:t>
            </a:r>
          </a:p>
        </p:txBody>
      </p:sp>
      <p:sp>
        <p:nvSpPr>
          <p:cNvPr id="9" name="文字方塊 8">
            <a:extLst>
              <a:ext uri="{FF2B5EF4-FFF2-40B4-BE49-F238E27FC236}">
                <a16:creationId xmlns:a16="http://schemas.microsoft.com/office/drawing/2014/main" id="{B13425BD-8E63-0EFC-AD98-38638AC090BD}"/>
              </a:ext>
            </a:extLst>
          </p:cNvPr>
          <p:cNvSpPr txBox="1"/>
          <p:nvPr/>
        </p:nvSpPr>
        <p:spPr>
          <a:xfrm>
            <a:off x="556278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MLA</a:t>
            </a:r>
          </a:p>
          <a:p>
            <a:pPr algn="ctr">
              <a:lnSpc>
                <a:spcPts val="1400"/>
              </a:lnSpc>
              <a:buNone/>
            </a:pPr>
            <a:r>
              <a:rPr lang="en-US" altLang="zh-TW" sz="1200" dirty="0"/>
              <a:t>Multi</a:t>
            </a:r>
          </a:p>
          <a:p>
            <a:pPr algn="ctr">
              <a:lnSpc>
                <a:spcPts val="1400"/>
              </a:lnSpc>
              <a:buNone/>
            </a:pPr>
            <a:r>
              <a:rPr lang="en-US" altLang="zh-TW" sz="1200" dirty="0"/>
              <a:t>Latent</a:t>
            </a:r>
          </a:p>
          <a:p>
            <a:pPr algn="ctr">
              <a:lnSpc>
                <a:spcPts val="1400"/>
              </a:lnSpc>
              <a:buNone/>
            </a:pPr>
            <a:r>
              <a:rPr lang="en-US" altLang="zh-TW" sz="1200" dirty="0"/>
              <a:t>2025</a:t>
            </a:r>
          </a:p>
          <a:p>
            <a:pPr algn="ctr">
              <a:lnSpc>
                <a:spcPts val="1400"/>
              </a:lnSpc>
              <a:buNone/>
            </a:pPr>
            <a:endParaRPr lang="en-US" altLang="zh-TW" sz="1200" dirty="0"/>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664290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KDA</a:t>
            </a:r>
            <a:endParaRPr lang="en-US" altLang="zh-TW" sz="1400" b="1" u="none" strike="noStrike" dirty="0">
              <a:effectLst/>
            </a:endParaRPr>
          </a:p>
          <a:p>
            <a:pPr algn="ctr">
              <a:lnSpc>
                <a:spcPts val="1400"/>
              </a:lnSpc>
              <a:buNone/>
            </a:pPr>
            <a:r>
              <a:rPr lang="en-US" altLang="zh-TW" sz="1200" dirty="0"/>
              <a:t>Kimi Delta</a:t>
            </a:r>
          </a:p>
          <a:p>
            <a:pPr algn="ctr">
              <a:lnSpc>
                <a:spcPts val="1400"/>
              </a:lnSpc>
              <a:buNone/>
            </a:pPr>
            <a:r>
              <a:rPr lang="en-US" altLang="zh-TW" sz="1200" dirty="0"/>
              <a:t>Attention</a:t>
            </a:r>
          </a:p>
          <a:p>
            <a:pPr algn="ctr">
              <a:lnSpc>
                <a:spcPts val="1400"/>
              </a:lnSpc>
              <a:buNone/>
            </a:pPr>
            <a:r>
              <a:rPr lang="en-US" altLang="zh-TW" sz="1200" dirty="0"/>
              <a:t>2026</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MHA</a:t>
            </a:r>
          </a:p>
          <a:p>
            <a:pPr algn="ctr">
              <a:lnSpc>
                <a:spcPts val="1400"/>
              </a:lnSpc>
              <a:buNone/>
            </a:pPr>
            <a:r>
              <a:rPr lang="en-US" altLang="zh-TW" sz="1200" dirty="0"/>
              <a:t>Multi</a:t>
            </a:r>
          </a:p>
          <a:p>
            <a:pPr algn="ctr">
              <a:lnSpc>
                <a:spcPts val="1400"/>
              </a:lnSpc>
              <a:buNone/>
            </a:pPr>
            <a:r>
              <a:rPr lang="en-US" altLang="zh-TW" sz="1200" dirty="0"/>
              <a:t>Head</a:t>
            </a:r>
          </a:p>
          <a:p>
            <a:pPr algn="ctr">
              <a:lnSpc>
                <a:spcPts val="1400"/>
              </a:lnSpc>
              <a:buNone/>
            </a:pPr>
            <a:r>
              <a:rPr lang="en-US" altLang="zh-TW" sz="1200" dirty="0"/>
              <a:t>2017</a:t>
            </a:r>
          </a:p>
        </p:txBody>
      </p:sp>
      <p:sp>
        <p:nvSpPr>
          <p:cNvPr id="12" name="右大括弧 11">
            <a:extLst>
              <a:ext uri="{FF2B5EF4-FFF2-40B4-BE49-F238E27FC236}">
                <a16:creationId xmlns:a16="http://schemas.microsoft.com/office/drawing/2014/main" id="{F7D623D8-E3EB-A23D-405F-B7C4DC6B3B36}"/>
              </a:ext>
            </a:extLst>
          </p:cNvPr>
          <p:cNvSpPr/>
          <p:nvPr/>
        </p:nvSpPr>
        <p:spPr>
          <a:xfrm rot="16200000">
            <a:off x="3208680" y="1047905"/>
            <a:ext cx="144374" cy="3466403"/>
          </a:xfrm>
          <a:prstGeom prst="rightBrace">
            <a:avLst>
              <a:gd name="adj1" fmla="val 8333"/>
              <a:gd name="adj2" fmla="val 66487"/>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8244408" y="3095765"/>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3322036250"/>
              </p:ext>
            </p:extLst>
          </p:nvPr>
        </p:nvGraphicFramePr>
        <p:xfrm>
          <a:off x="6534897" y="4519049"/>
          <a:ext cx="1349471" cy="622494"/>
        </p:xfrm>
        <a:graphic>
          <a:graphicData uri="http://schemas.openxmlformats.org/drawingml/2006/table">
            <a:tbl>
              <a:tblPr firstRow="1" bandRow="1">
                <a:tableStyleId>{5C22544A-7EE6-4342-B048-85BDC9FD1C3A}</a:tableStyleId>
              </a:tblPr>
              <a:tblGrid>
                <a:gridCol w="1349471">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Moonshot AI</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NoPE Everywhere</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32382004"/>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6534897" y="3840781"/>
            <a:ext cx="1349471"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a:endCxn id="15" idx="0"/>
          </p:cNvCxnSpPr>
          <p:nvPr/>
        </p:nvCxnSpPr>
        <p:spPr>
          <a:xfrm flipH="1">
            <a:off x="7209632" y="4149080"/>
            <a:ext cx="1" cy="369969"/>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graphicFrame>
        <p:nvGraphicFramePr>
          <p:cNvPr id="21" name="表格 20">
            <a:extLst>
              <a:ext uri="{FF2B5EF4-FFF2-40B4-BE49-F238E27FC236}">
                <a16:creationId xmlns:a16="http://schemas.microsoft.com/office/drawing/2014/main" id="{B63988D1-7A48-56F1-C555-9C16E500FE51}"/>
              </a:ext>
            </a:extLst>
          </p:cNvPr>
          <p:cNvGraphicFramePr>
            <a:graphicFrameLocks noGrp="1"/>
          </p:cNvGraphicFramePr>
          <p:nvPr>
            <p:extLst>
              <p:ext uri="{D42A27DB-BD31-4B8C-83A1-F6EECF244321}">
                <p14:modId xmlns:p14="http://schemas.microsoft.com/office/powerpoint/2010/main" val="2077371752"/>
              </p:ext>
            </p:extLst>
          </p:nvPr>
        </p:nvGraphicFramePr>
        <p:xfrm>
          <a:off x="1079612" y="3933056"/>
          <a:ext cx="1097443" cy="731520"/>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Brain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Original Transformer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3" name="表格 22">
            <a:extLst>
              <a:ext uri="{FF2B5EF4-FFF2-40B4-BE49-F238E27FC236}">
                <a16:creationId xmlns:a16="http://schemas.microsoft.com/office/drawing/2014/main" id="{B13AF0D5-623C-586B-2A02-62CC38472E6D}"/>
              </a:ext>
            </a:extLst>
          </p:cNvPr>
          <p:cNvGraphicFramePr>
            <a:graphicFrameLocks noGrp="1"/>
          </p:cNvGraphicFramePr>
          <p:nvPr>
            <p:extLst>
              <p:ext uri="{D42A27DB-BD31-4B8C-83A1-F6EECF244321}">
                <p14:modId xmlns:p14="http://schemas.microsoft.com/office/powerpoint/2010/main" val="1004929862"/>
              </p:ext>
            </p:extLst>
          </p:nvPr>
        </p:nvGraphicFramePr>
        <p:xfrm>
          <a:off x="2142408" y="4005064"/>
          <a:ext cx="1232798" cy="551945"/>
        </p:xfrm>
        <a:graphic>
          <a:graphicData uri="http://schemas.openxmlformats.org/drawingml/2006/table">
            <a:tbl>
              <a:tblPr firstRow="1" bandRow="1">
                <a:tableStyleId>{5C22544A-7EE6-4342-B048-85BDC9FD1C3A}</a:tableStyleId>
              </a:tblPr>
              <a:tblGrid>
                <a:gridCol w="1232798">
                  <a:extLst>
                    <a:ext uri="{9D8B030D-6E8A-4147-A177-3AD203B41FA5}">
                      <a16:colId xmlns:a16="http://schemas.microsoft.com/office/drawing/2014/main" val="4512040"/>
                    </a:ext>
                  </a:extLst>
                </a:gridCol>
              </a:tblGrid>
              <a:tr h="186185">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320982">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Share Key-Value</a:t>
                      </a:r>
                    </a:p>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Vector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5" name="表格 24">
            <a:extLst>
              <a:ext uri="{FF2B5EF4-FFF2-40B4-BE49-F238E27FC236}">
                <a16:creationId xmlns:a16="http://schemas.microsoft.com/office/drawing/2014/main" id="{4510516A-4A11-3856-A1AB-47AA0F81258B}"/>
              </a:ext>
            </a:extLst>
          </p:cNvPr>
          <p:cNvGraphicFramePr>
            <a:graphicFrameLocks noGrp="1"/>
          </p:cNvGraphicFramePr>
          <p:nvPr>
            <p:extLst>
              <p:ext uri="{D42A27DB-BD31-4B8C-83A1-F6EECF244321}">
                <p14:modId xmlns:p14="http://schemas.microsoft.com/office/powerpoint/2010/main" val="418159719"/>
              </p:ext>
            </p:extLst>
          </p:nvPr>
        </p:nvGraphicFramePr>
        <p:xfrm>
          <a:off x="4447065" y="4439918"/>
          <a:ext cx="1097443" cy="573258"/>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Research</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7" name="表格 26">
            <a:extLst>
              <a:ext uri="{FF2B5EF4-FFF2-40B4-BE49-F238E27FC236}">
                <a16:creationId xmlns:a16="http://schemas.microsoft.com/office/drawing/2014/main" id="{BF16B2F9-4384-6B9A-B1E2-A9242FADC75D}"/>
              </a:ext>
            </a:extLst>
          </p:cNvPr>
          <p:cNvGraphicFramePr>
            <a:graphicFrameLocks noGrp="1"/>
          </p:cNvGraphicFramePr>
          <p:nvPr>
            <p:extLst>
              <p:ext uri="{D42A27DB-BD31-4B8C-83A1-F6EECF244321}">
                <p14:modId xmlns:p14="http://schemas.microsoft.com/office/powerpoint/2010/main" val="3000799667"/>
              </p:ext>
            </p:extLst>
          </p:nvPr>
        </p:nvGraphicFramePr>
        <p:xfrm>
          <a:off x="5454777" y="5102236"/>
          <a:ext cx="1097443" cy="622494"/>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DeepSeek</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RoPE: </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lang="en-US" altLang="zh-TW" sz="1200" b="0" cap="none" spc="0" dirty="0">
                          <a:ln w="0"/>
                          <a:solidFill>
                            <a:schemeClr val="tx1"/>
                          </a:solidFill>
                          <a:effectLst/>
                        </a:rPr>
                        <a:t>NoPE: LoRA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29306133"/>
                  </a:ext>
                </a:extLst>
              </a:tr>
            </a:tbl>
          </a:graphicData>
        </a:graphic>
      </p:graphicFrame>
      <p:sp>
        <p:nvSpPr>
          <p:cNvPr id="29" name="文字方塊 28">
            <a:extLst>
              <a:ext uri="{FF2B5EF4-FFF2-40B4-BE49-F238E27FC236}">
                <a16:creationId xmlns:a16="http://schemas.microsoft.com/office/drawing/2014/main" id="{E97EF7E7-0036-D0B1-2B52-088EE420AB3F}"/>
              </a:ext>
            </a:extLst>
          </p:cNvPr>
          <p:cNvSpPr txBox="1"/>
          <p:nvPr/>
        </p:nvSpPr>
        <p:spPr>
          <a:xfrm>
            <a:off x="3375206"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RoPE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2021</a:t>
            </a:r>
            <a:endParaRPr lang="en-US" altLang="zh-TW" sz="1200" u="none" strike="noStrike" dirty="0">
              <a:effectLst/>
            </a:endParaRPr>
          </a:p>
          <a:p>
            <a:pPr algn="ctr">
              <a:lnSpc>
                <a:spcPts val="1400"/>
              </a:lnSpc>
              <a:buNone/>
            </a:pPr>
            <a:endParaRPr lang="en-US" altLang="zh-TW" sz="1200" u="none" strike="noStrike" dirty="0">
              <a:effectLst/>
            </a:endParaRPr>
          </a:p>
        </p:txBody>
      </p:sp>
      <p:graphicFrame>
        <p:nvGraphicFramePr>
          <p:cNvPr id="31" name="表格 30">
            <a:extLst>
              <a:ext uri="{FF2B5EF4-FFF2-40B4-BE49-F238E27FC236}">
                <a16:creationId xmlns:a16="http://schemas.microsoft.com/office/drawing/2014/main" id="{FE8506BC-9C66-DBCE-C833-B098DE12EAD8}"/>
              </a:ext>
            </a:extLst>
          </p:cNvPr>
          <p:cNvGraphicFramePr>
            <a:graphicFrameLocks noGrp="1"/>
          </p:cNvGraphicFramePr>
          <p:nvPr>
            <p:extLst>
              <p:ext uri="{D42A27DB-BD31-4B8C-83A1-F6EECF244321}">
                <p14:modId xmlns:p14="http://schemas.microsoft.com/office/powerpoint/2010/main" val="94709389"/>
              </p:ext>
            </p:extLst>
          </p:nvPr>
        </p:nvGraphicFramePr>
        <p:xfrm>
          <a:off x="3267194" y="3861048"/>
          <a:ext cx="1097443" cy="414996"/>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Zhuiyi</a:t>
                      </a:r>
                      <a:r>
                        <a:rPr kumimoji="0" lang="en-US" altLang="zh-TW" sz="1200" b="1" i="0" u="none" strike="noStrike" kern="1200" cap="none" spc="0" normalizeH="0" baseline="0" noProof="0" dirty="0">
                          <a:ln w="0"/>
                          <a:solidFill>
                            <a:schemeClr val="tx1"/>
                          </a:solidFill>
                          <a:effectLst/>
                          <a:uLnTx/>
                          <a:uFillTx/>
                          <a:latin typeface="+mn-lt"/>
                          <a:ea typeface="+mn-ea"/>
                          <a:cs typeface="+mn-cs"/>
                        </a:rPr>
                        <a:t> Tech.</a:t>
                      </a:r>
                      <a:endParaRPr kumimoji="0" lang="en-US" altLang="zh-TW"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sp>
        <p:nvSpPr>
          <p:cNvPr id="33" name="文字方塊 32">
            <a:extLst>
              <a:ext uri="{FF2B5EF4-FFF2-40B4-BE49-F238E27FC236}">
                <a16:creationId xmlns:a16="http://schemas.microsoft.com/office/drawing/2014/main" id="{09BF9E0E-BC99-1953-CAB8-AD87D1D61441}"/>
              </a:ext>
            </a:extLst>
          </p:cNvPr>
          <p:cNvSpPr txBox="1"/>
          <p:nvPr/>
        </p:nvSpPr>
        <p:spPr>
          <a:xfrm>
            <a:off x="5418772" y="187355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NoPE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2024</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5" name="文字方塊 34">
            <a:extLst>
              <a:ext uri="{FF2B5EF4-FFF2-40B4-BE49-F238E27FC236}">
                <a16:creationId xmlns:a16="http://schemas.microsoft.com/office/drawing/2014/main" id="{9125D1E6-3ED7-7524-C07D-0274C3E500A6}"/>
              </a:ext>
            </a:extLst>
          </p:cNvPr>
          <p:cNvSpPr txBox="1"/>
          <p:nvPr/>
        </p:nvSpPr>
        <p:spPr>
          <a:xfrm>
            <a:off x="1187624"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PE</a:t>
            </a:r>
            <a:endParaRPr lang="en-US" altLang="zh-TW" sz="1400" b="1" u="none" strike="noStrike" dirty="0">
              <a:effectLst/>
            </a:endParaRPr>
          </a:p>
          <a:p>
            <a:pPr algn="ctr">
              <a:lnSpc>
                <a:spcPts val="1400"/>
              </a:lnSpc>
              <a:buNone/>
            </a:pPr>
            <a:r>
              <a:rPr lang="en-US" altLang="zh-TW" sz="1200" dirty="0"/>
              <a:t>Position</a:t>
            </a:r>
          </a:p>
          <a:p>
            <a:pPr algn="ctr">
              <a:lnSpc>
                <a:spcPts val="1400"/>
              </a:lnSpc>
              <a:buNone/>
            </a:pPr>
            <a:r>
              <a:rPr lang="en-US" altLang="zh-TW" sz="1200" dirty="0"/>
              <a:t>Encoding</a:t>
            </a:r>
          </a:p>
          <a:p>
            <a:pPr algn="ctr">
              <a:lnSpc>
                <a:spcPts val="1400"/>
              </a:lnSpc>
              <a:buNone/>
            </a:pPr>
            <a:r>
              <a:rPr lang="en-US" altLang="zh-TW" sz="1200" dirty="0"/>
              <a:t>2017</a:t>
            </a:r>
            <a:endParaRPr lang="en-US" altLang="zh-TW" sz="1200" u="none" strike="noStrike" dirty="0">
              <a:effectLst/>
            </a:endParaRPr>
          </a:p>
          <a:p>
            <a:pPr algn="ctr">
              <a:lnSpc>
                <a:spcPts val="1400"/>
              </a:lnSpc>
              <a:buNone/>
            </a:pPr>
            <a:endParaRPr lang="en-US" altLang="zh-TW" sz="1200" u="none" strike="noStrike" dirty="0">
              <a:effectLst/>
            </a:endParaRPr>
          </a:p>
        </p:txBody>
      </p:sp>
      <p:cxnSp>
        <p:nvCxnSpPr>
          <p:cNvPr id="36" name="直線單箭頭接點 35">
            <a:extLst>
              <a:ext uri="{FF2B5EF4-FFF2-40B4-BE49-F238E27FC236}">
                <a16:creationId xmlns:a16="http://schemas.microsoft.com/office/drawing/2014/main" id="{FC05C6B0-B51A-0EAE-05F6-E09B811FED01}"/>
              </a:ext>
            </a:extLst>
          </p:cNvPr>
          <p:cNvCxnSpPr>
            <a:cxnSpLocks/>
            <a:stCxn id="7" idx="3"/>
            <a:endCxn id="8" idx="1"/>
          </p:cNvCxnSpPr>
          <p:nvPr/>
        </p:nvCxnSpPr>
        <p:spPr>
          <a:xfrm>
            <a:off x="3131840" y="3239781"/>
            <a:ext cx="1368153"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38">
            <a:extLst>
              <a:ext uri="{FF2B5EF4-FFF2-40B4-BE49-F238E27FC236}">
                <a16:creationId xmlns:a16="http://schemas.microsoft.com/office/drawing/2014/main" id="{A4078A93-6BBF-2531-A697-45E53782D62D}"/>
              </a:ext>
            </a:extLst>
          </p:cNvPr>
          <p:cNvCxnSpPr>
            <a:cxnSpLocks/>
            <a:stCxn id="35" idx="3"/>
            <a:endCxn id="29" idx="1"/>
          </p:cNvCxnSpPr>
          <p:nvPr/>
        </p:nvCxnSpPr>
        <p:spPr>
          <a:xfrm>
            <a:off x="2069044" y="2249836"/>
            <a:ext cx="1306162"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41">
            <a:extLst>
              <a:ext uri="{FF2B5EF4-FFF2-40B4-BE49-F238E27FC236}">
                <a16:creationId xmlns:a16="http://schemas.microsoft.com/office/drawing/2014/main" id="{ECF71182-EBAD-25FD-00D5-FB9F48BAE612}"/>
              </a:ext>
            </a:extLst>
          </p:cNvPr>
          <p:cNvCxnSpPr>
            <a:cxnSpLocks/>
            <a:stCxn id="29" idx="3"/>
            <a:endCxn id="33" idx="1"/>
          </p:cNvCxnSpPr>
          <p:nvPr/>
        </p:nvCxnSpPr>
        <p:spPr>
          <a:xfrm>
            <a:off x="4256626" y="2249836"/>
            <a:ext cx="1162146" cy="188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4" name="右大括弧 53">
            <a:extLst>
              <a:ext uri="{FF2B5EF4-FFF2-40B4-BE49-F238E27FC236}">
                <a16:creationId xmlns:a16="http://schemas.microsoft.com/office/drawing/2014/main" id="{7A40391B-3B1E-C2B9-496C-378A6E19E071}"/>
              </a:ext>
            </a:extLst>
          </p:cNvPr>
          <p:cNvSpPr/>
          <p:nvPr/>
        </p:nvSpPr>
        <p:spPr>
          <a:xfrm rot="16200000">
            <a:off x="6429211" y="2174616"/>
            <a:ext cx="144375" cy="1211824"/>
          </a:xfrm>
          <a:prstGeom prst="rightBrace">
            <a:avLst>
              <a:gd name="adj1" fmla="val 8333"/>
              <a:gd name="adj2" fmla="val 161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468</TotalTime>
  <Words>4639</Words>
  <Application>Microsoft Office PowerPoint</Application>
  <PresentationFormat>如螢幕大小 (4:3)</PresentationFormat>
  <Paragraphs>654</Paragraphs>
  <Slides>25</Slides>
  <Notes>14</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25</vt:i4>
      </vt:variant>
    </vt:vector>
  </HeadingPairs>
  <TitlesOfParts>
    <vt:vector size="35"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1877</cp:revision>
  <cp:lastPrinted>2024-07-30T01:44:15Z</cp:lastPrinted>
  <dcterms:created xsi:type="dcterms:W3CDTF">2019-11-08T03:01:47Z</dcterms:created>
  <dcterms:modified xsi:type="dcterms:W3CDTF">2026-08-26T09:37:08Z</dcterms:modified>
</cp:coreProperties>
</file>