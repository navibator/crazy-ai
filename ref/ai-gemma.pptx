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D5C_E5DE535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459" r:id="rId2"/>
    <p:sldId id="3472" r:id="rId3"/>
    <p:sldId id="3477" r:id="rId4"/>
    <p:sldId id="3493" r:id="rId5"/>
    <p:sldId id="3480" r:id="rId6"/>
    <p:sldId id="3478" r:id="rId7"/>
    <p:sldId id="3427" r:id="rId8"/>
    <p:sldId id="3494" r:id="rId9"/>
    <p:sldId id="3476" r:id="rId10"/>
    <p:sldId id="3475" r:id="rId11"/>
    <p:sldId id="3470" r:id="rId12"/>
    <p:sldId id="3471" r:id="rId13"/>
    <p:sldId id="3483" r:id="rId14"/>
    <p:sldId id="3465" r:id="rId15"/>
    <p:sldId id="3482" r:id="rId16"/>
    <p:sldId id="3481" r:id="rId17"/>
    <p:sldId id="3489" r:id="rId18"/>
    <p:sldId id="3490" r:id="rId19"/>
    <p:sldId id="3491" r:id="rId20"/>
    <p:sldId id="3461" r:id="rId21"/>
    <p:sldId id="3462" r:id="rId22"/>
    <p:sldId id="3420" r:id="rId23"/>
    <p:sldId id="3460" r:id="rId24"/>
  </p:sldIdLst>
  <p:sldSz cx="9144000" cy="6858000" type="screen4x3"/>
  <p:notesSz cx="6797675" cy="99250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mm 3 Technical Report" id="{30F6892D-1922-4A88-A82D-8CD0653C5411}">
          <p14:sldIdLst>
            <p14:sldId id="3459"/>
            <p14:sldId id="3472"/>
          </p14:sldIdLst>
        </p14:section>
        <p14:section name="Background Knowledge" id="{C5ADF914-F8F1-4215-8A34-A521DDB15BBF}">
          <p14:sldIdLst>
            <p14:sldId id="3477"/>
            <p14:sldId id="3493"/>
            <p14:sldId id="3480"/>
            <p14:sldId id="3478"/>
            <p14:sldId id="3427"/>
            <p14:sldId id="3494"/>
            <p14:sldId id="3476"/>
            <p14:sldId id="3475"/>
          </p14:sldIdLst>
        </p14:section>
        <p14:section name="Gemma 3" id="{91BFD2B5-A843-4933-9519-5889D1D7895D}">
          <p14:sldIdLst>
            <p14:sldId id="3470"/>
            <p14:sldId id="3471"/>
            <p14:sldId id="3483"/>
          </p14:sldIdLst>
        </p14:section>
        <p14:section name="Gemma 4" id="{5A048767-0D58-44AF-B962-12C29493294F}">
          <p14:sldIdLst>
            <p14:sldId id="3465"/>
            <p14:sldId id="3482"/>
            <p14:sldId id="3481"/>
            <p14:sldId id="3489"/>
          </p14:sldIdLst>
        </p14:section>
        <p14:section name="Hardware Trend" id="{033E25EB-BAB3-441E-BB67-FAB89428CA75}">
          <p14:sldIdLst>
            <p14:sldId id="3490"/>
            <p14:sldId id="3491"/>
            <p14:sldId id="3461"/>
            <p14:sldId id="3462"/>
            <p14:sldId id="3420"/>
          </p14:sldIdLst>
        </p14:section>
        <p14:section name="Conclusion" id="{69C35067-BEF2-4B7C-9B54-B6977EB05C72}">
          <p14:sldIdLst>
            <p14:sldId id="34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F1DDEA-D49D-B2A5-9D83-8BDFFC6C721F}" name="Allen Ni(倪士凱)" initials="AN" userId="S::ani@centrilliontech.com.tw::64a9ee61-01eb-41d1-8925-9f522fa76f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DDDD"/>
    <a:srgbClr val="FF0000"/>
    <a:srgbClr val="F2DCDB"/>
    <a:srgbClr val="DBFF94"/>
    <a:srgbClr val="CCFF66"/>
    <a:srgbClr val="FFFFFF"/>
    <a:srgbClr val="D7E7F7"/>
    <a:srgbClr val="DCE6F2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41" autoAdjust="0"/>
    <p:restoredTop sz="66455" autoAdjust="0"/>
  </p:normalViewPr>
  <p:slideViewPr>
    <p:cSldViewPr>
      <p:cViewPr varScale="1">
        <p:scale>
          <a:sx n="84" d="100"/>
          <a:sy n="84" d="100"/>
        </p:scale>
        <p:origin x="1908" y="96"/>
      </p:cViewPr>
      <p:guideLst>
        <p:guide orient="horz" pos="2160"/>
        <p:guide pos="1474"/>
      </p:guideLst>
    </p:cSldViewPr>
  </p:slideViewPr>
  <p:outlineViewPr>
    <p:cViewPr>
      <p:scale>
        <a:sx n="33" d="100"/>
        <a:sy n="33" d="100"/>
      </p:scale>
      <p:origin x="0" y="-1075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6" d="100"/>
          <a:sy n="96" d="100"/>
        </p:scale>
        <p:origin x="27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D5C_E5DE53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D91993-94B2-4C7B-9CD5-D9F83EC3A14C}" authorId="{DEF1DDEA-D49D-B2A5-9D83-8BDFFC6C721F}" created="2026-05-20T02:48:48.8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56552792" sldId="3420"/>
      <ac:spMk id="29" creationId="{D53A45AC-2EC1-50D2-D682-7CB10042CEC0}"/>
      <ac:txMk cp="0" len="378">
        <ac:context len="379" hash="3451841079"/>
      </ac:txMk>
    </ac:txMkLst>
    <p188:replyLst>
      <p188:reply id="{C66D0F87-A191-45F6-AD31-11862F22856F}" authorId="{DEF1DDEA-D49D-B2A5-9D83-8BDFFC6C721F}" created="2026-05-20T02:52:24.406">
        <p188:txBody>
          <a:bodyPr/>
          <a:lstStyle/>
          <a:p>
            <a:r>
              <a:rPr lang="zh-TW" altLang="en-US"/>
              <a:t>邏輯晶圓（Logic Die）35% - 45%: 包含 CPU、GPU、DSP 以及核心的 NPU（神經處理單元）。成本取決於製程節點（多採用成本良率平衡的 12nm / 16nm / 28nm 晶圓；高階如智慧手機與自駕車則會用到 3nm / 5nm / 7nm）。
記憶體（Memory）25% - 35%AI 運算需要極大頻寬。低成本方案採用內建 SRAM 或外掛 LPDDR5/DDR4；高階高頻寬方案（如高階自駕車 ADAS、邊緣生成式 AI）則會導入 HBM2e/HBM3 或 3D PIM（記憶體內運算），此時記憶體成本會大幅飆升。
先進封裝與測試15% - 25%晶片測試（包含汽車級 ISO 26262 驗證加價 10%-25%） 以及封裝技術（如 SiP 系統級封裝、或是 3D 堆疊/TSV 矽穿孔技術，這會視封裝複雜度增加 50–100 美元不等的成本）。
IP 授權與權利金5% - 10%晶片內部的架構多非全自研。例如向 Arm 授權的 CPU 架構（如 Cortex-M55/M85）、外購的 NPU IP，或 HBM 控制器 IP，每顆晶片需要支付一定比例的 Royalty（權利金）。</a:t>
            </a:r>
          </a:p>
        </p188:txBody>
      </p188:reply>
    </p188:replyLst>
    <p188:txBody>
      <a:bodyPr/>
      <a:lstStyle/>
      <a:p>
        <a:r>
          <a:rPr lang="zh-TW" altLang="en-US"/>
          <a:t>一、 Edge AI 晶片的硬體成本結構（BOM 結構）
Edge AI 晶片通常以 SoC（系統單晶片） 或 Chiplet（小晶片封裝） 的形式存在。一顆 Edge AI 晶片的硬體製造總成本，主要由以下四大核心區塊組成： 
成本組成項目估計佔比核心說明與成本驅動因子
邏輯晶圓（Logic Die）35% - 45%: 包含 CPU、GPU、DSP 以及核心的 NPU（神經處理單元）。成本取決於製程節點（多採用成本良率平衡的 12nm / 16nm / 28nm 晶圓；高階如智慧手機與自駕車則會用到 3nm / 5nm / 7nm）。
記憶體（Memory）25% - 35%AI 運算需要極大頻寬。低成本方案採用內建 SRAM 或外掛 LPDDR5/DDR4；高階高頻寬方案（如高階自駕車 ADAS、邊緣生成式 AI）則會導入 HBM2e/HBM3 或 3D PIM（記憶體內運算），此時記憶體成本會大幅飆升。
先進封裝與測試15% - 25%晶片測試（包含汽車級 ISO 26262 驗證加價 10%-25%） 以及封裝技術（如 SiP 系統級封裝、或是 3D 堆疊/TSV 矽穿孔技術，這會視封裝複雜度增加 50–100 美元不等的成本）。
IP 授權與權利金5% - 10%晶片內部的架構多非全自研。例如向 Arm 授權的 CPU 架構（如 Cortex-M55/M85）、外購的 NPU IP，或 HBM 控制器 IP，每顆晶片需要支付一定比例的 Royalty（權利金）。</a:t>
        </a:r>
      </a:p>
    </p188:txBody>
  </p188:cm>
  <p188:cm id="{FFC719A7-4826-4636-A3DD-EE1595D91AE4}" authorId="{DEF1DDEA-D49D-B2A5-9D83-8BDFFC6C721F}" created="2026-05-20T02:49:34.73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56552792" sldId="3420"/>
      <ac:spMk id="29" creationId="{D53A45AC-2EC1-50D2-D682-7CB10042CEC0}"/>
      <ac:txMk cp="0" len="378">
        <ac:context len="379" hash="3451841079"/>
      </ac:txMk>
    </ac:txMkLst>
    <p188:txBody>
      <a:bodyPr/>
      <a:lstStyle/>
      <a:p>
        <a:r>
          <a:rPr lang="zh-TW" altLang="en-US"/>
          <a:t>二、 晶片的晶圓晶粒（Die）內部面積結構分析）
如果將晶片放大來看，在矽晶圓的「晶粒面積（Die Area）」分配上，Edge AI 晶片呈現顯著的「記憶體與算力高度拉鋸」特徵。
記憶體佔地極大（SRAM / Cache, 約 40% - 50%）：AI 推論（Inference）需要频繁讀取權重（Weights）。
為了減少節能殺手——「離開晶片去抓外部記憶體資料」的功耗，設計師會把大量的晶片面積留給片上緩存（On-chip SRAM）。
神經網路加速核心（NPU, 約 25% - 35%）：專門用來執行大量矩陣乘法與累積運算（MAC Array）的硬體電路，是晶片能效比（TOPS/W）的關鍵。
控制與多媒體核心（CPU/DSP/ISP, 約 15% - 20%）：負責系統排程（如 Arm 核心）以及影像訊號預處理（ISP）、音訊處理等。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8509AA70-DCA8-F2B3-665C-D289623E16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60D9017-2A20-36CB-3124-1CE24A164F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982F7CBC-87DD-4F69-8F50-7ED68F7FF790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E2BC4B-E97F-2930-F9D4-22EF7E0E14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105500-21C2-E70A-A08C-9E9E3094A4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5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30EF305C-901E-49EC-B839-B172F94882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0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863167AA-796B-4B6A-95ED-1C0BCB3E580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4" rIns="91430" bIns="4571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4400"/>
            <a:ext cx="5438140" cy="4466272"/>
          </a:xfrm>
          <a:prstGeom prst="rect">
            <a:avLst/>
          </a:prstGeom>
        </p:spPr>
        <p:txBody>
          <a:bodyPr vert="horz" lIns="91430" tIns="45714" rIns="91430" bIns="45714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5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E3A6CE5E-F349-486D-8749-82EF2AD71F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00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742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B811-902A-94AB-AABB-4CC1382C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32B768C-5222-29ED-3563-1AFFE32A7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FC8048-7B6E-7E1E-EC2B-CCC4CC9FF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A622D0-F740-070B-33AA-93A0D57A4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356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「Data gravity」（數據引力 / 資料引力）</a:t>
            </a:r>
            <a:r>
              <a:rPr lang="zh-TW" altLang="zh-TW" dirty="0"/>
              <a:t> 是一個著名的科技與雲端運算架構術語，核心意思為：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「隨著資料的體積（規模）越來越大，它會像物理學中的質量一樣產生引力，吸引周圍的應用程式（Applications）、軟體服務與算力（Compute）向資料靠攏。」</a:t>
            </a:r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延遲（Latency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頻寬（Bandwidth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/ Cloud Egress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(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雲端服務商（如 AWS、Azure）通常實施「資料移入免費，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資料移出（Egress）大幅收費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」的策略。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這加劇了引力效應，讓資料一旦落地就形同被「鎖定（Lock-in）」。</a:t>
            </a:r>
          </a:p>
          <a:p>
            <a:br>
              <a:rPr lang="zh-TW" altLang="zh-TW" dirty="0"/>
            </a:br>
            <a:endParaRPr lang="zh-TW" altLang="zh-TW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2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9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3716D-FDAE-4C5D-F4E6-23AD8875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3EDA125-6F45-CE6F-2F1B-2F22B2B3E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7BAB8E-4169-67DC-BA86-8F5336FAF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在容器化（Container）的架構中，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本身「不分」SLM（小型語言模型）或 LLM（大型語言模型）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只是像一個貨櫃（外殼），裡面裝什麼模型都可以。但是，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裝載 SLM 的 Container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和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裝載 LLM 的 Container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，在實務的架構設計、硬體配置與部署策略上，有著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完全截然不同的生態與封裝方式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SLM 容器（小型語言模型，如 3B 到 14B 參數）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SLM 容器的核心目標是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「輕量化、去中心化、邊緣運算（Edge）」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常見內容物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：通常會將模型推理引擎（如 Ollama、vLLM、Llama.cpp）與模型權重檔（如 GGUF 格式）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直接打包在同一個 Container 镜像（Image）中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硬體依賴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：對硬體極度友善。可以用 Docker 部署在一般的 Mac mini、邊緣裝置（如 NVIDIA Jetson）、或一般內建消費級顯示卡（如 RTX 4060）的個人電腦上。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架構特性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：啟動速度極快。在 AI Agent Container 架構中，SLM 容器通常被當作「微服務（Microservices）」。例如：你可以同時開 5 個不同的 Docker Container，裡面各跑一個 8B 的小模型，分別擔任客服、翻譯、程式審查等不同角色的 Agent，彼此互不干擾。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LLM 容器（大型語言模型，如 70B 到 405B 以上參數）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容器的核心目標是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「高併發、極致吞吐量、企業級叢集（Cluster）」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常見內容物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：Container 內通常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只裝推理框架的程式碼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 vLLM、TensorRT-LLM、TGI），而高達幾百 GB 的模型權重檔（Weights）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絕對不會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打包進 Image，而是透過網路掛載（如雲端儲存、NFS、或高速快取磁碟）的方式動態載入。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硬體依賴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：極度依賴重型基礎設施。需要透過 NVIDIA Container Toolkit 將多張企業級 GPU（如 H100、A100）對應進 Container 內。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架構特性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：通常部署在 Kubernetes (K8s) 叢集或大廠的雲端環境中（如 AWS, Google Cloud）。在 Agent 架構中，這類 LLM 容器通常被當作「中央大腦 API」，多個 Agent 容器會同時發送請求給這個大型 LLM 容器來索取高難度的推理結果。</a:t>
            </a: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065DD2-E9F4-944C-FC9D-5FE1D22EB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27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EC35B-9FB9-7276-52D7-F5B2EDF6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D463FC-843B-5F10-FEAE-73037E01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885F2E-D9E5-7756-8D66-FED960A89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Context Protocol（MCP）是由 Anthropic 在 2024 年底推出的開放標準，它徹底改變了 AI 如何與「外部世界」互動的方式。你可以把它視為「AI 應用程式的 USB-C 接口」一種通用的連接方式，讓 AI 模型能安全、標準化地存取外部即時資料與工具。</a:t>
            </a:r>
            <a:endParaRPr lang="zh-TW" altLang="en-US" dirty="0"/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 的起源</a:t>
            </a:r>
          </a:p>
          <a:p>
            <a:pPr latinLnBrk="0"/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Anthropic（Claude 的開發公司）為了解決 AI 缺乏即時資訊與工具互動的需求，從零開始設計了 MCP 並開放原始碼，鼓勵業界廣泛採用與參與開發。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50EE5C-CA6E-261B-FF56-9E628C00E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898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49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264A-9B5B-702B-589D-801CC9E7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78889AF-CC29-7291-8DE6-5FABBFD4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7120B11-CEB2-0A80-1658-986E5E768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ONNX（Open Neural Network Exchange，開放神經網路交換）是由微軟與 Meta（Facebook）等科技巨頭主導的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開源機器學習模型通用格式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。它允許開發者將在 PyTorch、TensorFlow 或 Scikit-learn 等不同框架中訓練出的模型，轉換為統一的結構，以便在各種硬體和平台上進行高效能部署。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以下為您拆解 ONNX 的核心重點：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為什麼需要 ONNX？（核心價值）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打破框架限制（跨平台互通性）：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開發者可以自由選擇最順手的框架來訓練模型，訓練完成後將模型匯出為 .onnx 格式。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簡化部署流程：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解決了過去模型要上線到生產環境時，必須綁定原始複雜框架（如龐大的 PyTorch 環境）的問題。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極佳的硬體加速效能：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ONNX 專用的執行引擎（如 ONNX Runtime）能針對不同硬體（如 NVIDIA CUDA、Intel OpenVINO 等）進行底層優化，大幅提升推論速度。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運作原理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將機器學習模型具象化為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計算圖（Computation Graph）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。它定義了兩個核心要素： 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標準算子（Operators）：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定義模型中進行的各種數學運算（如卷積、加法、啟動函數等）。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標準檔案格式（File Format）：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通常以 Protobuf 為基礎儲存網路的架構、權重與資料流向。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生態系重要成員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匯出工具：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如 PyTorch 的 torch.onnx 模組、TensorFlow 的 tf2onnx 等。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Runtime (ORT)：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微軟開源的高效能推論引擎。透過它，開發者可以在雲端、邊緣設備（如樹莓派）甚至網頁瀏覽器上執行轉換後的 AI 模型，並享有極佳的效能與低資源佔用。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8871DF-EC42-FAD3-5613-9A7BC101E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457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BDA2-5CC6-68DA-B9E1-9325B03C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9D0FE7D-F083-76CB-66F6-B906138D5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29A2D0-F1DE-7F9D-85D1-793C18C12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半導體製造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封測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電路板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 被動元件</a:t>
            </a:r>
            <a:endParaRPr lang="en-US" altLang="zh-TW" dirty="0">
              <a:sym typeface="Wingdings" panose="05000000000000000000" pitchFamily="2" charset="2"/>
            </a:endParaRPr>
          </a:p>
          <a:p>
            <a:r>
              <a:rPr lang="zh-TW" altLang="en-US" dirty="0">
                <a:sym typeface="Wingdings" panose="05000000000000000000" pitchFamily="2" charset="2"/>
              </a:rPr>
              <a:t> </a:t>
            </a:r>
            <a:endParaRPr lang="en-US" altLang="zh-TW" dirty="0"/>
          </a:p>
          <a:p>
            <a:r>
              <a:rPr lang="en-US" altLang="zh-TW" dirty="0"/>
              <a:t>Multi GPU </a:t>
            </a:r>
            <a:r>
              <a:rPr lang="en-US" altLang="zh-TW" dirty="0">
                <a:sym typeface="Wingdings" panose="05000000000000000000" pitchFamily="2" charset="2"/>
              </a:rPr>
              <a:t> HBM  CoWoS/CoPos   CPO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WSE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TPU / AI CHIP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CoWoS  PCB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CCL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MLCC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>
                <a:sym typeface="Wingdings" panose="05000000000000000000" pitchFamily="2" charset="2"/>
              </a:rPr>
              <a:t>HBM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CPO</a:t>
            </a:r>
          </a:p>
          <a:p>
            <a:endParaRPr lang="en-US" altLang="zh-TW" dirty="0"/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銅箔基板</a:t>
            </a:r>
            <a:r>
              <a:rPr lang="zh-TW" altLang="zh-TW" dirty="0"/>
              <a:t>（Copper Clad Laminate, 簡稱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CCL</a:t>
            </a:r>
            <a:r>
              <a:rPr lang="zh-TW" altLang="zh-TW" dirty="0"/>
              <a:t>）是PCB的核心基礎材料，約占PCB成本的40%。</a:t>
            </a:r>
            <a:endParaRPr lang="en-US" altLang="zh-TW" dirty="0"/>
          </a:p>
          <a:p>
            <a:r>
              <a:rPr lang="zh-TW" altLang="zh-TW" dirty="0"/>
              <a:t>其結構猶如「夾心餅乾」，由外層的導電銅箔，與中間夾層的「絕緣補強材料（如玻璃纖維布）」加「樹脂」高溫高壓貼合而成。</a:t>
            </a:r>
            <a:endParaRPr lang="en-US" altLang="zh-TW" dirty="0"/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銅箔基板的組成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銅箔 (約占 40%)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導電層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樹脂 (約占 30%)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絕緣體提供耐熱性與黏合力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補強材料 (約占 30%)</a:t>
            </a:r>
            <a:r>
              <a:rPr lang="zh-TW" altLang="zh-TW" dirty="0"/>
              <a:t>：通常為玻璃纖維布</a:t>
            </a:r>
            <a:r>
              <a:rPr lang="en-US" altLang="zh-TW" dirty="0"/>
              <a:t>.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台廠 CCL 龍頭（概念股）</a:t>
            </a:r>
            <a:r>
              <a:rPr lang="zh-TW" altLang="zh-TW" dirty="0"/>
              <a:t>：包含台光電 (2383)、台燿 (6274)、聯茂 (6213)，以及南亞 (1303) 等。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隨著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伺服器</a:t>
            </a:r>
            <a:r>
              <a:rPr lang="zh-TW" altLang="zh-TW" dirty="0"/>
              <a:t>與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5G/高速通訊</a:t>
            </a:r>
            <a:r>
              <a:rPr lang="zh-TW" altLang="zh-TW" dirty="0"/>
              <a:t>快速發展，傳統消費電子的板材已無法負荷龐大的資料傳輸量與高發熱量。</a:t>
            </a:r>
            <a:endParaRPr lang="en-US" altLang="zh-TW" dirty="0"/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規格升級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：高階 AI 伺服器對 CCL 的用量是傳統伺服器的 5 至 7 倍，且「低損耗（Low Loss / M8-M9等級）」材料以避免訊號干擾。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長線商機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：高階 CCL 認證門檻高、驗證週期長（通常需 2~3 年），因此一旦打入特定供應鏈，訂單穩定度與毛利率皆相當可觀。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dirty="0"/>
              <a:t>紙質酚醛基板</a:t>
            </a:r>
            <a:r>
              <a:rPr lang="en-US" altLang="zh-TW" dirty="0"/>
              <a:t>(CCL/FR-1)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dirty="0">
                <a:sym typeface="Wingdings" panose="05000000000000000000" pitchFamily="2" charset="2"/>
              </a:rPr>
              <a:t>複合基板</a:t>
            </a:r>
            <a:r>
              <a:rPr lang="en-US" altLang="zh-TW" dirty="0">
                <a:sym typeface="Wingdings" panose="05000000000000000000" pitchFamily="2" charset="2"/>
              </a:rPr>
              <a:t>(CEM),</a:t>
            </a:r>
            <a:r>
              <a:rPr lang="zh-TW" altLang="en-US" dirty="0">
                <a:sym typeface="Wingdings" panose="05000000000000000000" pitchFamily="2" charset="2"/>
              </a:rPr>
              <a:t>玻璃纖維</a:t>
            </a:r>
            <a:r>
              <a:rPr lang="en-US" altLang="zh-TW" dirty="0">
                <a:sym typeface="Wingdings" panose="05000000000000000000" pitchFamily="2" charset="2"/>
              </a:rPr>
              <a:t>(FR-4)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銅箔基板</a:t>
            </a:r>
            <a:r>
              <a:rPr lang="zh-TW" altLang="zh-TW" dirty="0"/>
              <a:t>（Copper Clad Laminate, 簡稱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CCL</a:t>
            </a:r>
            <a:r>
              <a:rPr lang="zh-TW" altLang="zh-TW" dirty="0"/>
              <a:t>）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ABF</a:t>
            </a:r>
            <a:r>
              <a:rPr lang="zh-TW" altLang="en-US" dirty="0">
                <a:sym typeface="Wingdings" panose="05000000000000000000" pitchFamily="2" charset="2"/>
              </a:rPr>
              <a:t>載板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zh-TW" dirty="0"/>
              <a:t>在絕緣層上精準電鍍「長」出線路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zh-TW" dirty="0"/>
              <a:t>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玻璃基板（TGV）</a:t>
            </a:r>
            <a:r>
              <a:rPr lang="zh-TW" altLang="zh-TW" dirty="0"/>
              <a:t>」封裝技術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紙質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易碎、耐熱差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玻璃纖維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強韌、耐熱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高階塑膠/樹脂變革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高速、低損耗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純玻璃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極平整、半導體級微細線路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027E21-4B37-188C-8748-204EF3A48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365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計算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memory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用量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計算用電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如何知道級距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用雲端服務建立準線。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585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75"/>
              </a:spcBef>
              <a:spcAft>
                <a:spcPts val="1500"/>
              </a:spcAft>
              <a:buNone/>
            </a:pP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1. 長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上下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文窗口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128k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)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遠超 G2的8k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</a:t>
            </a:r>
            <a:endParaRPr lang="en-US" altLang="zh-TW" sz="1200" b="0" i="0" dirty="0">
              <a:solidFill>
                <a:srgbClr val="52515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just" latinLnBrk="0">
              <a:spcAft>
                <a:spcPts val="1875"/>
              </a:spcAft>
              <a:buNone/>
            </a:pP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2.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多模態能力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支援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文字處理與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圖像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內建 SigLIP 視覺編碼器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) ,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能夠處理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高清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圖像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圖片分析、OCR、圖像問答等應用。</a:t>
            </a:r>
          </a:p>
          <a:p>
            <a:pPr algn="l">
              <a:spcBef>
                <a:spcPts val="1875"/>
              </a:spcBef>
              <a:spcAft>
                <a:spcPts val="1500"/>
              </a:spcAft>
              <a:buNone/>
            </a:pP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3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跨語言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能力：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全新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分詞器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Tokenizer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)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與多語言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(35~140)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支持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。Google 強調，這將幫助開發者打造更國際化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翻譯能力。</a:t>
            </a:r>
          </a:p>
          <a:p>
            <a:pPr algn="l">
              <a:spcBef>
                <a:spcPts val="1875"/>
              </a:spcBef>
              <a:spcAft>
                <a:spcPts val="1500"/>
              </a:spcAft>
              <a:buNone/>
            </a:pP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4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 單加速器運行優化，適用 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GPU(NV&amp;AMD), 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TPU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Google 強調 Gemma 3 是「世界上最好的單加速器模型」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特化在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單一</a:t>
            </a:r>
            <a:r>
              <a:rPr lang="zh-TW" altLang="en-US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晶片發揮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高效能的 AI 應用。</a:t>
            </a:r>
            <a:endParaRPr lang="en-US" altLang="zh-TW" sz="1200" b="0" i="0" dirty="0">
              <a:solidFill>
                <a:srgbClr val="525151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75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5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 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可調式框架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支援多種邊緣平台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手機平板筆電桌機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1B,4B,12B,27B).</a:t>
            </a:r>
          </a:p>
          <a:p>
            <a:pPr algn="l">
              <a:spcBef>
                <a:spcPts val="1875"/>
              </a:spcBef>
              <a:spcAft>
                <a:spcPts val="1500"/>
              </a:spcAft>
              <a:buNone/>
            </a:pP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6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 支援函數呼叫與結構化輸出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 </a:t>
            </a:r>
            <a:r>
              <a:rPr lang="zh-TW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提升AI Agent 智能化</a:t>
            </a:r>
            <a:r>
              <a:rPr lang="en-US" altLang="zh-TW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sz="1200" b="1" i="0" dirty="0">
                <a:solidFill>
                  <a:srgbClr val="1990C6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Gemma 3 內建函數呼叫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Function Calling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)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與結構化輸出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Structured Output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),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使 AI 能夠更準確地與應用程式互動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適用於自動化工作流</a:t>
            </a:r>
            <a:r>
              <a:rPr lang="en-US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, </a:t>
            </a:r>
            <a:r>
              <a:rPr lang="zh-TW" altLang="zh-TW" sz="1200" b="0" i="0" dirty="0">
                <a:solidFill>
                  <a:srgbClr val="525151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AI Agent 開發。</a:t>
            </a:r>
          </a:p>
          <a:p>
            <a:br>
              <a:rPr lang="en-US" altLang="zh-TW" dirty="0"/>
            </a:br>
            <a:r>
              <a:rPr lang="zh-TW" altLang="en-US" dirty="0"/>
              <a:t>量化壓縮技術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位元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570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9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B3D8-A65A-8DC3-8125-3CF44F128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06C11EF-5DF2-9D2F-8C51-7239C10B2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9910A7-45D7-E240-8ACE-A65E4F59C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引發的趨勢討論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57B77A-B900-F0BB-5F92-0973EEDC0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601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br>
              <a:rPr lang="en-US" altLang="zh-TW" dirty="0"/>
            </a:br>
            <a:br>
              <a:rPr lang="en-US" altLang="zh-TW" dirty="0"/>
            </a:b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層級嵌入 (Per-Layer Embeddings, PLE)</a:t>
            </a:r>
            <a:r>
              <a:rPr lang="zh-TW" altLang="zh-TW" dirty="0"/>
              <a:t> 是 AI 模型（如 Google 的 Gemma 4 等語言模型）中的一種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記憶體優化技術</a:t>
            </a:r>
            <a:r>
              <a:rPr lang="zh-TW" altLang="zh-TW" dirty="0"/>
              <a:t>。它為模型的每一層提供獨立的低維度特徵訊號，讓小尺寸模型能以更少參數獲得更精準的特化能力，從而提升邊緣裝置（如手機、筆電）上的執行效率。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1949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95CE-C2D6-9D16-6D14-69ACBE53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352CE7-F871-B339-F340-2B51478FA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C8E757-4B05-165E-1607-0BCD6DE54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6E7571-A4C4-1EDD-1D49-0CFA2F6F9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00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Gemma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12B</a:t>
            </a:r>
            <a:r>
              <a:rPr lang="zh-TW" altLang="en-US" dirty="0"/>
              <a:t> 統一架構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zh-TW" altLang="zh-TW" dirty="0"/>
              <a:t>層級嵌入 PLE</a:t>
            </a:r>
            <a:endParaRPr lang="zh-TW" altLang="en-US" dirty="0"/>
          </a:p>
          <a:p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多模態 AI 的架構簡介（從傳統到現代）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要在同一個 AI 模型裡同時塞入「文字、圖片、聲音」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技術架構經歷了兩個世代演變：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傳統架構：橋接法 (Encoder-based Architecture)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以往的 LLaVA 或舊型多模態模型，就像是「拼裝車」：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外掛多個編編碼器 (Encoders)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：文字有文字的處理器、圖片有專屬的視覺編碼器（如 CLIP）、聲音有語音編碼器。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對齊層 (Projection Layer)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：中間用一個轉換層，把圖片和聲音的訊號「強行翻譯」成文字看得懂的向量。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丟入 LLM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：最後才餵給主要的大型語言模型。 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缺點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：編碼器體積龐大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數億參數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、會卡死微調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的彈性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且在轉換過程中容易漏掉細節。 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現代/未來架構：原生統一法 (Native Unified / Encoder-Free Architecture)</a:t>
            </a:r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這也是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Gemma 4 的核心突破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！科學家發現，不需要外掛這麼多編碼器，主要的大腦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本質上就夠聰明了。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直接線性投影 (Linear Projection)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：圖片或聲音不經過外部編碼器加工，直接切碎並透過一個極輕量的線性模組轉成標記（Tokens）。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一體化推論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：多種模態的資料直接在同一個核心架構（Backbone）裡混合、計算。 </a:t>
            </a:r>
          </a:p>
          <a:p>
            <a:r>
              <a:rPr lang="zh-TW" altLang="zh-TW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優點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：推論速度極快、模型體積大幅縮小，而且文字、圖片、音訊可以完美融合在同一個資料流中，大幅降低硬體門檻。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0517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近年來「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總參數量</a:t>
            </a:r>
            <a:r>
              <a:rPr lang="zh-TW" altLang="zh-TW" dirty="0"/>
              <a:t>」已不等於「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實際運算量</a:t>
            </a:r>
            <a:r>
              <a:rPr lang="zh-TW" altLang="zh-TW" dirty="0"/>
              <a:t>」，因為許多模型採用了 MoE 技術，讓模型雖然體積龐大，但每次處理一個字（Token）時只需要啟動一小部分參數。</a:t>
            </a:r>
            <a:endParaRPr lang="en-US" altLang="zh-TW" dirty="0"/>
          </a:p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 追求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極致的硬體成本效益（Cost-Effective）與演算法魔改</a:t>
            </a:r>
            <a:r>
              <a:rPr lang="zh-TW" altLang="zh-TW" dirty="0"/>
              <a:t>；</a:t>
            </a:r>
            <a:br>
              <a:rPr lang="en-US" altLang="zh-TW" dirty="0"/>
            </a:br>
            <a:r>
              <a:rPr lang="zh-TW" altLang="zh-TW" dirty="0"/>
              <a:t>Meta Llama 則追求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標準化、極致的架構穩定性（Scalability）與對開源生態的絕對相容</a:t>
            </a:r>
            <a:r>
              <a:rPr lang="zh-TW" altLang="zh-TW" dirty="0"/>
              <a:t>。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AWS </a:t>
            </a:r>
            <a:r>
              <a:rPr lang="en-US" altLang="zh-TW" dirty="0" err="1"/>
              <a:t>Trainium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AWS Graviton </a:t>
            </a:r>
            <a:r>
              <a:rPr lang="zh-TW" altLang="en-US" dirty="0"/>
              <a:t>是亞馬遜自研晶片體系中的兩大核心。</a:t>
            </a:r>
            <a:endParaRPr lang="en-US" altLang="zh-TW" dirty="0"/>
          </a:p>
          <a:p>
            <a:r>
              <a:rPr lang="en-US" altLang="zh-TW" dirty="0"/>
              <a:t>Graviton </a:t>
            </a:r>
            <a:r>
              <a:rPr lang="zh-TW" altLang="en-US" dirty="0"/>
              <a:t>是通用型 </a:t>
            </a:r>
            <a:r>
              <a:rPr lang="en-US" altLang="zh-TW" dirty="0"/>
              <a:t>CPU,</a:t>
            </a:r>
            <a:r>
              <a:rPr lang="zh-TW" altLang="en-US" dirty="0"/>
              <a:t> 負責處理日常雲端運算與後台任務；</a:t>
            </a:r>
            <a:endParaRPr lang="en-US" altLang="zh-TW" dirty="0"/>
          </a:p>
          <a:p>
            <a:r>
              <a:rPr lang="en-US" altLang="zh-TW" dirty="0" err="1"/>
              <a:t>Trainium</a:t>
            </a:r>
            <a:r>
              <a:rPr lang="en-US" altLang="zh-TW" dirty="0"/>
              <a:t> </a:t>
            </a:r>
            <a:r>
              <a:rPr lang="zh-TW" altLang="en-US" dirty="0"/>
              <a:t>是專門的 </a:t>
            </a:r>
            <a:r>
              <a:rPr lang="en-US" altLang="zh-TW" dirty="0"/>
              <a:t>AI </a:t>
            </a:r>
            <a:r>
              <a:rPr lang="zh-TW" altLang="en-US" dirty="0"/>
              <a:t>加速晶片</a:t>
            </a:r>
            <a:r>
              <a:rPr lang="en-US" altLang="zh-TW" dirty="0"/>
              <a:t>, </a:t>
            </a:r>
            <a:r>
              <a:rPr lang="zh-TW" altLang="en-US" dirty="0"/>
              <a:t>專為大型 </a:t>
            </a:r>
            <a:r>
              <a:rPr lang="en-US" altLang="zh-TW" dirty="0"/>
              <a:t>AI </a:t>
            </a:r>
            <a:r>
              <a:rPr lang="zh-TW" altLang="en-US" dirty="0"/>
              <a:t>模型的訓練與密集運算而生。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5133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8C3B-1545-C898-D171-B905BA85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FC4B966-8796-43CD-C78C-7291821E4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B02174-D403-E515-0280-CE2895F03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ONNX?</a:t>
            </a:r>
            <a:r>
              <a:rPr lang="zh-TW" altLang="en-US" dirty="0"/>
              <a:t> 有誰支持</a:t>
            </a:r>
            <a:r>
              <a:rPr lang="en-US" altLang="zh-TW" dirty="0"/>
              <a:t>, </a:t>
            </a:r>
            <a:r>
              <a:rPr lang="zh-TW" altLang="en-US" dirty="0"/>
              <a:t>影響為何</a:t>
            </a:r>
            <a:r>
              <a:rPr lang="en-US" altLang="zh-TW" dirty="0"/>
              <a:t>?</a:t>
            </a:r>
            <a:r>
              <a:rPr lang="zh-TW" altLang="en-US" dirty="0"/>
              <a:t> 架構如何</a:t>
            </a:r>
            <a:r>
              <a:rPr lang="en-US" altLang="zh-TW" dirty="0"/>
              <a:t>?</a:t>
            </a:r>
            <a:r>
              <a:rPr lang="zh-TW" altLang="en-US" dirty="0"/>
              <a:t> 目前發展</a:t>
            </a:r>
            <a:r>
              <a:rPr lang="en-US" altLang="zh-TW" dirty="0"/>
              <a:t>(</a:t>
            </a:r>
            <a:r>
              <a:rPr lang="zh-TW" altLang="en-US" dirty="0"/>
              <a:t>世界大廠</a:t>
            </a:r>
            <a:r>
              <a:rPr lang="en-US" altLang="zh-TW" dirty="0"/>
              <a:t>,</a:t>
            </a:r>
            <a:r>
              <a:rPr lang="zh-TW" altLang="en-US" dirty="0"/>
              <a:t> 台灣的機會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名稱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本質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比喻負責任務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檔案格式規格通用外語定義模型的標準結構與算子，讓不同框架可以互相轉換。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Runtime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軟體推論引擎同聲傳譯員偏向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軟體層面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，在常見的 CPU/GPU 上直接載入並即時執行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推論模型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849058-6753-C205-4DDB-1F11095A1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5290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2547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xxx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120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一、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Edge AI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晶片的硬體成本結構（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BOM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結構）</a:t>
            </a: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Edge AI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晶片通常以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SoC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（系統單晶片） 或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Chiplet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（小晶片封裝） 的形式存在。一顆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Edge AI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晶片的硬體製造總成本，主要由以下四大核心區塊組成： </a:t>
            </a: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成本組成項目估計佔比核心說明與成本驅動因子</a:t>
            </a: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邏輯晶圓（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Logic Die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35% - 45%: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包含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CPU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GPU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DSP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以及核心的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NPU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（神經處理單元）。成本取決於製程節點（多採用成本良率平衡的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12nm / 16nm / 28nm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晶圓；高階如智慧手機與自駕車則會用到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3nm / 5nm / 7nm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）。</a:t>
            </a: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記憶體（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Memory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25% - 35%AI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運算需要極大頻寬。低成本方案採用內建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SRAM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或外掛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LPDDR5/DDR4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；高階高頻寬方案（如高階自駕車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ADAS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、邊緣生成式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AI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）則會導入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HBM2e/HBM3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3D PIM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（記憶體內運算），此時記憶體成本會大幅飆升。</a:t>
            </a: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先進封裝與測試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15% - 25%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晶片測試（包含汽車級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ISO 26262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驗證加價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10%-25%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 以及封裝技術（如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SiP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系統級封裝、或是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3D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堆疊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/TSV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矽穿孔技術，這會視封裝複雜度增加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50–100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美元不等的成本）。</a:t>
            </a:r>
            <a:b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IP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授權與權利金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5% - 10%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晶片內部的架構多非全自研。例如向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Arm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授權的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CPU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架構（如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Cortex-M55/M85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）、外購的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NPU IP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，或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HBM 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控制器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IP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，每顆晶片需要支付一定比例的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Royalty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（權利</a:t>
            </a:r>
            <a:r>
              <a:rPr lang="zh-TW" altLang="en-US" sz="1400" baseline="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</a:t>
            </a:r>
            <a:r>
              <a:rPr lang="zh-TW" alt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）。</a:t>
            </a:r>
          </a:p>
          <a:p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37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0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5E997-4179-402B-B045-C290473E86F3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4A4CC-0142-4D0E-B207-47A74A717B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22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21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F852660B-5776-4457-897C-22F48580809B}"/>
              </a:ext>
            </a:extLst>
          </p:cNvPr>
          <p:cNvSpPr txBox="1">
            <a:spLocks/>
          </p:cNvSpPr>
          <p:nvPr userDrawn="1"/>
        </p:nvSpPr>
        <p:spPr>
          <a:xfrm>
            <a:off x="0" y="6628025"/>
            <a:ext cx="9144000" cy="2352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●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ibp=oshop&amp;prds=pvt:hg,pvo:29,imageDocid:3587070959964051833,headlineOfferDocid:4681429727312423067,productDocid:4681429727312423067&amp;q=product&amp;sa=X&amp;ved=2ahUKEwjfiPuhqMSUAxWvbvUHHaHBB2IQxa4PegYIAAgQEA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unclestocknotes.substack.com/p/ai-38c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capacity-question-behind-every-ai-chip-huan-ma-rcmo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yfuture.cloud/kb/gpu/how-much-does-the-nvidia-h100-gpu-cost-in-2025" TargetMode="External"/><Relationship Id="rId4" Type="http://schemas.openxmlformats.org/officeDocument/2006/relationships/hyperlink" Target="https://www.google.com/search?ibp=oshop&amp;prds=pvt:hg,pvo:29,imageDocid:950387411976338395,gpcid:17533605446176267153,headlineOfferDocid:11979813095487954154,catalogid:2401887616791462714,productDocid:1096713661396697429,rds:PC_17533605446176267153%7CPROD_PC_17533605446176267153&amp;q=product&amp;sa=X&amp;ved=2ahUKEwjfiPuhqMSUAxWvbvUHHaHBB2IQxa4PegYIAAgoEA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5C_E5DE535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1754-1A01-9656-056C-4B624E45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6A5153E-BD84-CB21-D566-B888A2F168CC}"/>
              </a:ext>
            </a:extLst>
          </p:cNvPr>
          <p:cNvSpPr txBox="1"/>
          <p:nvPr/>
        </p:nvSpPr>
        <p:spPr>
          <a:xfrm>
            <a:off x="3748825" y="5118283"/>
            <a:ext cx="1646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accent1"/>
                </a:solidFill>
              </a:rPr>
              <a:t>Centrillion Technology </a:t>
            </a:r>
          </a:p>
          <a:p>
            <a:pPr algn="ctr"/>
            <a:r>
              <a:rPr lang="en-US" altLang="zh-TW" sz="1200" b="1" dirty="0">
                <a:solidFill>
                  <a:schemeClr val="accent1"/>
                </a:solidFill>
              </a:rPr>
              <a:t>Bioinformation Dept. </a:t>
            </a:r>
          </a:p>
          <a:p>
            <a:pPr algn="ctr"/>
            <a:r>
              <a:rPr lang="en-US" altLang="zh-TW" sz="1400" dirty="0">
                <a:solidFill>
                  <a:schemeClr val="accent1"/>
                </a:solidFill>
              </a:rPr>
              <a:t>Allen &amp; Felix</a:t>
            </a:r>
          </a:p>
          <a:p>
            <a:pPr algn="ctr"/>
            <a:r>
              <a:rPr lang="en-US" altLang="zh-TW" sz="1000" dirty="0">
                <a:solidFill>
                  <a:schemeClr val="accent1"/>
                </a:solidFill>
              </a:rPr>
              <a:t>2026/05/21</a:t>
            </a:r>
            <a:endParaRPr lang="zh-TW" altLang="en-US" sz="1000" dirty="0">
              <a:solidFill>
                <a:schemeClr val="accent1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8C77BE7-A2CA-16B9-32EC-F267B3A21EBE}"/>
              </a:ext>
            </a:extLst>
          </p:cNvPr>
          <p:cNvSpPr txBox="1"/>
          <p:nvPr/>
        </p:nvSpPr>
        <p:spPr>
          <a:xfrm>
            <a:off x="809581" y="1500267"/>
            <a:ext cx="7524837" cy="146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/>
              <a:t>Gemma</a:t>
            </a:r>
            <a:r>
              <a:rPr lang="zh-TW" altLang="en-US" sz="4000" b="1" dirty="0"/>
              <a:t> </a:t>
            </a:r>
            <a:r>
              <a:rPr lang="en-US" altLang="zh-TW" sz="4000" b="1" dirty="0"/>
              <a:t>3 Technical Report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/>
              <a:t> </a:t>
            </a:r>
            <a:r>
              <a:rPr lang="en-US" altLang="zh-TW" sz="1000" b="1" dirty="0"/>
              <a:t>	2025</a:t>
            </a:r>
          </a:p>
          <a:p>
            <a:pPr defTabSz="6727825">
              <a:tabLst>
                <a:tab pos="2332038" algn="l"/>
              </a:tabLst>
            </a:pPr>
            <a:endParaRPr lang="en-US" altLang="zh-TW" sz="1200" b="1" dirty="0"/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/>
              <a:t>	</a:t>
            </a:r>
            <a:r>
              <a:rPr lang="en-US" altLang="zh-TW" sz="1200" b="1" dirty="0">
                <a:sym typeface="Wingdings" panose="05000000000000000000" pitchFamily="2" charset="2"/>
              </a:rPr>
              <a:t>Google DeepMind	</a:t>
            </a:r>
            <a:r>
              <a:rPr lang="en-US" altLang="zh-TW" sz="1000" dirty="0">
                <a:sym typeface="Wingdings" panose="05000000000000000000" pitchFamily="2" charset="2"/>
              </a:rPr>
              <a:t>	Gemma Team</a:t>
            </a:r>
            <a:endParaRPr lang="zh-TW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60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0B80-B722-2523-9202-3F21EBB1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B9CD27E-9C1A-3219-6A05-1CA47876AE20}"/>
              </a:ext>
            </a:extLst>
          </p:cNvPr>
          <p:cNvSpPr txBox="1"/>
          <p:nvPr/>
        </p:nvSpPr>
        <p:spPr>
          <a:xfrm>
            <a:off x="1187623" y="1124744"/>
            <a:ext cx="6552728" cy="49859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AI Trend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(Trend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of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Cloud Service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and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 Edge AI)</a:t>
            </a:r>
            <a:endParaRPr lang="en-US" altLang="zh-TW" sz="12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Edge AI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 (AI = Data + SW + HW)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LLM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vs SLM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(-)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Model Context Protocol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Hugging Face and GGUF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(Ollama, LM Studio/Jan, vLLM)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Hardware Solution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(-)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Summary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(-)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endParaRPr lang="en-US" altLang="zh-TW" sz="2400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Gemma 3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Open Weight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  <a:endParaRPr lang="en-US" altLang="zh-TW" sz="12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Architecture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(Multi-Modal)</a:t>
            </a:r>
            <a:endParaRPr lang="en-US" altLang="zh-TW" sz="12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Multi Modal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()</a:t>
            </a:r>
            <a:endParaRPr lang="en-US" altLang="zh-TW" sz="12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Gemma 4</a:t>
            </a:r>
            <a:r>
              <a:rPr lang="en-US" altLang="zh-TW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(Standard Dense Transformer vs Mixture of Experts)</a:t>
            </a:r>
            <a:endParaRPr lang="en-US" altLang="zh-TW" sz="14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Gemma4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en-US" altLang="zh-TW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(Output: weight matrix and parameters)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endParaRPr kumimoji="0" lang="en-US" altLang="zh-TW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Comparison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(Llama 4, Deep Seek)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Conclusion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</a:rPr>
              <a:t>(A Holistic Perspective on GPT and AI Technology)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94909093-0BFB-B658-A42D-64D3192A242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Agenda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D22EBD9-E3FC-5E44-CA96-0F576D5899F6}"/>
              </a:ext>
            </a:extLst>
          </p:cNvPr>
          <p:cNvSpPr txBox="1"/>
          <p:nvPr/>
        </p:nvSpPr>
        <p:spPr>
          <a:xfrm>
            <a:off x="7380312" y="116632"/>
            <a:ext cx="1694681" cy="1531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 Unsupervised</a:t>
            </a:r>
            <a:endParaRPr lang="en-US" altLang="zh-TW" sz="1400" u="none" strike="noStrike" dirty="0">
              <a:effectLst/>
            </a:endParaRPr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zh-TW" altLang="en-US" sz="1200" dirty="0"/>
              <a:t> </a:t>
            </a:r>
            <a:r>
              <a:rPr lang="en-US" altLang="zh-TW" sz="1200" dirty="0"/>
              <a:t>Reduction</a:t>
            </a:r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200" dirty="0"/>
              <a:t> Clustering</a:t>
            </a:r>
            <a:endParaRPr lang="en-US" altLang="zh-TW" sz="1200" u="none" strike="noStrike" dirty="0">
              <a:effectLst/>
            </a:endParaRP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 Supervised</a:t>
            </a:r>
            <a:endParaRPr lang="en-US" altLang="zh-TW" sz="1400" dirty="0"/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200" dirty="0"/>
              <a:t> Semi-Supervised</a:t>
            </a:r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200" dirty="0"/>
              <a:t> Self-Supervised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 Reinforcement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 Summary</a:t>
            </a:r>
            <a:endParaRPr lang="en-US" altLang="zh-TW" sz="140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064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A09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/>
      <p:bldP spid="2" grpId="1" uiExpand="1" build="allAtOnce"/>
      <p:bldP spid="2" grpId="2" uiExpand="1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3F7584-0AE7-4BD1-9075-F3E554300E9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Overview of AI Trend</a:t>
            </a:r>
            <a:b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</a:b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From cloud service to edge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93287DC2-DA04-D695-F422-FDB7BB72DE67}"/>
              </a:ext>
            </a:extLst>
          </p:cNvPr>
          <p:cNvSpPr/>
          <p:nvPr/>
        </p:nvSpPr>
        <p:spPr>
          <a:xfrm>
            <a:off x="748784" y="2670786"/>
            <a:ext cx="2457353" cy="1694318"/>
          </a:xfrm>
          <a:prstGeom prst="arc">
            <a:avLst>
              <a:gd name="adj1" fmla="val 19261614"/>
              <a:gd name="adj2" fmla="val 10879467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25400">
            <a:solidFill>
              <a:schemeClr val="accent1">
                <a:lumMod val="40000"/>
                <a:lumOff val="6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1097280" tIns="0" rIns="0" bIns="91440" rtlCol="0" anchor="b" anchorCtr="1"/>
          <a:lstStyle/>
          <a:p>
            <a:pPr algn="ctr"/>
            <a:endParaRPr lang="zh-TW" altLang="en-US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739BFD83-E302-63D0-BBF7-C1B75A1332F1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>
            <a:off x="1631091" y="3104965"/>
            <a:ext cx="774695" cy="746791"/>
          </a:xfrm>
          <a:prstGeom prst="straightConnector1">
            <a:avLst/>
          </a:prstGeom>
          <a:ln w="25400">
            <a:solidFill>
              <a:schemeClr val="accent6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85751DDB-B860-1672-0DF1-16AB4FF404FC}"/>
              </a:ext>
            </a:extLst>
          </p:cNvPr>
          <p:cNvSpPr txBox="1"/>
          <p:nvPr/>
        </p:nvSpPr>
        <p:spPr>
          <a:xfrm>
            <a:off x="1893466" y="3851756"/>
            <a:ext cx="1024639" cy="369332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Edge AI</a:t>
            </a:r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138D1DEF-D33F-1BB4-8BD0-1DBA1B78AF1F}"/>
              </a:ext>
            </a:extLst>
          </p:cNvPr>
          <p:cNvSpPr/>
          <p:nvPr/>
        </p:nvSpPr>
        <p:spPr>
          <a:xfrm>
            <a:off x="992148" y="2636913"/>
            <a:ext cx="1277885" cy="936104"/>
          </a:xfrm>
          <a:custGeom>
            <a:avLst/>
            <a:gdLst>
              <a:gd name="csX0" fmla="*/ 1067805 w 1277885"/>
              <a:gd name="csY0" fmla="*/ 121099 h 936104"/>
              <a:gd name="csX1" fmla="*/ 1105240 w 1277885"/>
              <a:gd name="csY1" fmla="*/ 788043 h 936104"/>
              <a:gd name="csX2" fmla="*/ 491895 w 1277885"/>
              <a:gd name="csY2" fmla="*/ 923540 h 936104"/>
              <a:gd name="csX3" fmla="*/ 318 w 1277885"/>
              <a:gd name="csY3" fmla="*/ 453287 h 936104"/>
              <a:gd name="csX4" fmla="*/ 306858 w 1277885"/>
              <a:gd name="csY4" fmla="*/ 460374 h 936104"/>
              <a:gd name="csX5" fmla="*/ 638943 w 1277885"/>
              <a:gd name="csY5" fmla="*/ 468052 h 936104"/>
              <a:gd name="csX6" fmla="*/ 1067805 w 1277885"/>
              <a:gd name="csY6" fmla="*/ 121099 h 936104"/>
              <a:gd name="csX0" fmla="*/ 1067805 w 1277885"/>
              <a:gd name="csY0" fmla="*/ 121099 h 936104"/>
              <a:gd name="csX1" fmla="*/ 1105240 w 1277885"/>
              <a:gd name="csY1" fmla="*/ 788043 h 936104"/>
              <a:gd name="csX2" fmla="*/ 491895 w 1277885"/>
              <a:gd name="csY2" fmla="*/ 923540 h 936104"/>
              <a:gd name="csX3" fmla="*/ 318 w 1277885"/>
              <a:gd name="csY3" fmla="*/ 453287 h 9361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77885" h="936104" stroke="0" extrusionOk="0">
                <a:moveTo>
                  <a:pt x="1067805" y="121099"/>
                </a:moveTo>
                <a:cubicBezTo>
                  <a:pt x="1304704" y="279527"/>
                  <a:pt x="1287134" y="620493"/>
                  <a:pt x="1105240" y="788043"/>
                </a:cubicBezTo>
                <a:cubicBezTo>
                  <a:pt x="959999" y="912829"/>
                  <a:pt x="679582" y="963258"/>
                  <a:pt x="491895" y="923540"/>
                </a:cubicBezTo>
                <a:cubicBezTo>
                  <a:pt x="186502" y="881859"/>
                  <a:pt x="-12616" y="694232"/>
                  <a:pt x="318" y="453287"/>
                </a:cubicBezTo>
                <a:cubicBezTo>
                  <a:pt x="81538" y="426481"/>
                  <a:pt x="192830" y="467955"/>
                  <a:pt x="306858" y="460374"/>
                </a:cubicBezTo>
                <a:cubicBezTo>
                  <a:pt x="420886" y="452793"/>
                  <a:pt x="536873" y="480637"/>
                  <a:pt x="638943" y="468052"/>
                </a:cubicBezTo>
                <a:cubicBezTo>
                  <a:pt x="738775" y="363313"/>
                  <a:pt x="1002568" y="254909"/>
                  <a:pt x="1067805" y="121099"/>
                </a:cubicBezTo>
                <a:close/>
              </a:path>
              <a:path w="1277885" h="936104" fill="none" extrusionOk="0">
                <a:moveTo>
                  <a:pt x="1067805" y="121099"/>
                </a:moveTo>
                <a:cubicBezTo>
                  <a:pt x="1359361" y="380057"/>
                  <a:pt x="1388583" y="558395"/>
                  <a:pt x="1105240" y="788043"/>
                </a:cubicBezTo>
                <a:cubicBezTo>
                  <a:pt x="989864" y="883910"/>
                  <a:pt x="708067" y="960440"/>
                  <a:pt x="491895" y="923540"/>
                </a:cubicBezTo>
                <a:cubicBezTo>
                  <a:pt x="234505" y="824853"/>
                  <a:pt x="-17933" y="672360"/>
                  <a:pt x="318" y="453287"/>
                </a:cubicBezTo>
              </a:path>
              <a:path w="1277885" h="936104" fill="none" stroke="0" extrusionOk="0">
                <a:moveTo>
                  <a:pt x="1067805" y="121099"/>
                </a:moveTo>
                <a:cubicBezTo>
                  <a:pt x="1340284" y="298070"/>
                  <a:pt x="1329646" y="629782"/>
                  <a:pt x="1105240" y="788043"/>
                </a:cubicBezTo>
                <a:cubicBezTo>
                  <a:pt x="940839" y="901331"/>
                  <a:pt x="718120" y="985692"/>
                  <a:pt x="491895" y="923540"/>
                </a:cubicBezTo>
                <a:cubicBezTo>
                  <a:pt x="146441" y="869475"/>
                  <a:pt x="2986" y="642115"/>
                  <a:pt x="318" y="453287"/>
                </a:cubicBezTo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 w="25400">
            <a:solidFill>
              <a:schemeClr val="accent1">
                <a:lumMod val="40000"/>
                <a:lumOff val="60000"/>
                <a:alpha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9261614"/>
                      <a:gd name="adj2" fmla="val 1087946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 AI</a:t>
            </a:r>
            <a:endParaRPr lang="zh-TW" alt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381DA9F-7B36-5F29-C52E-28C317E29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166651"/>
              </p:ext>
            </p:extLst>
          </p:nvPr>
        </p:nvGraphicFramePr>
        <p:xfrm>
          <a:off x="1946911" y="4293096"/>
          <a:ext cx="2195330" cy="14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330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2562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On-premise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425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Enterprise private server for data processing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5356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PC/NB, cellphone, wearables, car could inference by offline AI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2AF9BBC6-94AB-1269-6EBE-EAF523F2EB4E}"/>
              </a:ext>
            </a:extLst>
          </p:cNvPr>
          <p:cNvSpPr txBox="1"/>
          <p:nvPr/>
        </p:nvSpPr>
        <p:spPr>
          <a:xfrm>
            <a:off x="4858260" y="758201"/>
            <a:ext cx="1754279" cy="436998"/>
          </a:xfrm>
          <a:prstGeom prst="rect">
            <a:avLst/>
          </a:prstGeom>
          <a:noFill/>
        </p:spPr>
        <p:txBody>
          <a:bodyPr wrap="square" tIns="0" rIns="0" bIns="0" anchor="ctr" anchorCtr="0">
            <a:noAutofit/>
          </a:bodyPr>
          <a:lstStyle/>
          <a:p>
            <a:r>
              <a:rPr lang="en-US" altLang="zh-TW" sz="1200" dirty="0">
                <a:ea typeface="ADLaM Display" panose="02010000000000000000" pitchFamily="2" charset="0"/>
                <a:cs typeface="ADLaM Display" panose="02010000000000000000" pitchFamily="2" charset="0"/>
              </a:rPr>
              <a:t>Security, regulations, real-time,</a:t>
            </a:r>
            <a:r>
              <a:rPr lang="zh-TW" altLang="en-US" sz="1200" dirty="0"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zh-TW" sz="1200" dirty="0">
                <a:ea typeface="ADLaM Display" panose="02010000000000000000" pitchFamily="2" charset="0"/>
                <a:cs typeface="ADLaM Display" panose="02010000000000000000" pitchFamily="2" charset="0"/>
              </a:rPr>
              <a:t>cost, data gravity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E1069B1-A459-9BFD-8448-903594A78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106766"/>
              </p:ext>
            </p:extLst>
          </p:nvPr>
        </p:nvGraphicFramePr>
        <p:xfrm>
          <a:off x="4689929" y="2500021"/>
          <a:ext cx="1754279" cy="2953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27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956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Service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Pretraining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Mental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CUDA/Google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47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GPU/TPU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DE50E7B4-5212-6BFB-E1A9-AB282B9B51F6}"/>
              </a:ext>
            </a:extLst>
          </p:cNvPr>
          <p:cNvSpPr/>
          <p:nvPr/>
        </p:nvSpPr>
        <p:spPr>
          <a:xfrm>
            <a:off x="3866040" y="5453627"/>
            <a:ext cx="960037" cy="940716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Hardware</a:t>
            </a:r>
            <a:endParaRPr lang="en-US" altLang="zh-TW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Performance</a:t>
            </a: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of Server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B7E2B3C-B2FD-F444-143F-8A4B31203EBA}"/>
              </a:ext>
            </a:extLst>
          </p:cNvPr>
          <p:cNvSpPr/>
          <p:nvPr/>
        </p:nvSpPr>
        <p:spPr>
          <a:xfrm>
            <a:off x="5487885" y="1526885"/>
            <a:ext cx="960037" cy="940716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Data Analysis</a:t>
            </a:r>
            <a:endParaRPr lang="en-US" altLang="zh-TW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Performance</a:t>
            </a: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of Server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0C70837-7727-72F7-A6BF-84111B0A5086}"/>
              </a:ext>
            </a:extLst>
          </p:cNvPr>
          <p:cNvSpPr/>
          <p:nvPr/>
        </p:nvSpPr>
        <p:spPr>
          <a:xfrm>
            <a:off x="6976130" y="5484901"/>
            <a:ext cx="960037" cy="940716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NPU</a:t>
            </a:r>
            <a:endParaRPr lang="en-US" altLang="zh-TW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97A70BA-74F4-E56B-3029-6DE4E17F9F2F}"/>
              </a:ext>
            </a:extLst>
          </p:cNvPr>
          <p:cNvSpPr/>
          <p:nvPr/>
        </p:nvSpPr>
        <p:spPr>
          <a:xfrm>
            <a:off x="5194629" y="5484901"/>
            <a:ext cx="960037" cy="940716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Mentor</a:t>
            </a:r>
          </a:p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Model</a:t>
            </a:r>
            <a:endParaRPr lang="en-US" altLang="zh-TW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Distillation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7270F4F-9F11-7B63-7B00-2B7DB044EED6}"/>
              </a:ext>
            </a:extLst>
          </p:cNvPr>
          <p:cNvSpPr/>
          <p:nvPr/>
        </p:nvSpPr>
        <p:spPr>
          <a:xfrm>
            <a:off x="7464864" y="6066722"/>
            <a:ext cx="768155" cy="360040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LPU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B96665C-10A0-116E-D241-8EB1619790BE}"/>
              </a:ext>
            </a:extLst>
          </p:cNvPr>
          <p:cNvSpPr/>
          <p:nvPr/>
        </p:nvSpPr>
        <p:spPr>
          <a:xfrm>
            <a:off x="6607578" y="6066722"/>
            <a:ext cx="768155" cy="360040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TPU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F73FDDB-A09C-73FE-8340-5FF926C9D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18556"/>
              </p:ext>
            </p:extLst>
          </p:nvPr>
        </p:nvGraphicFramePr>
        <p:xfrm>
          <a:off x="6058081" y="2500021"/>
          <a:ext cx="1754279" cy="2952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27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95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Edge AI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95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Inference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495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Agent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495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495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4752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Computing Resources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17" name="橢圓 16">
            <a:extLst>
              <a:ext uri="{FF2B5EF4-FFF2-40B4-BE49-F238E27FC236}">
                <a16:creationId xmlns:a16="http://schemas.microsoft.com/office/drawing/2014/main" id="{86978511-3F9D-29C0-B9DE-01FAAB53398E}"/>
              </a:ext>
            </a:extLst>
          </p:cNvPr>
          <p:cNvSpPr/>
          <p:nvPr/>
        </p:nvSpPr>
        <p:spPr>
          <a:xfrm>
            <a:off x="7609597" y="3638000"/>
            <a:ext cx="960037" cy="940716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Ecosystem</a:t>
            </a:r>
            <a:endParaRPr lang="en-US" altLang="zh-TW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Format</a:t>
            </a:r>
            <a:b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Specification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08D7894-74E6-939A-FD07-6E767A76A912}"/>
              </a:ext>
            </a:extLst>
          </p:cNvPr>
          <p:cNvSpPr/>
          <p:nvPr/>
        </p:nvSpPr>
        <p:spPr>
          <a:xfrm>
            <a:off x="7720133" y="2273647"/>
            <a:ext cx="960037" cy="940716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Agent</a:t>
            </a:r>
            <a:endParaRPr lang="en-US" altLang="zh-TW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Performance</a:t>
            </a: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of Server</a:t>
            </a:r>
            <a:endParaRPr lang="en-US" altLang="zh-TW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2D1C961-4E28-F296-9539-2C5F5E7AC30E}"/>
              </a:ext>
            </a:extLst>
          </p:cNvPr>
          <p:cNvSpPr txBox="1"/>
          <p:nvPr/>
        </p:nvSpPr>
        <p:spPr>
          <a:xfrm>
            <a:off x="218381" y="1124744"/>
            <a:ext cx="8568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Considerations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Security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 Business or regulations.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Real Time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 .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Cost: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.Algorithm.</a:t>
            </a:r>
          </a:p>
        </p:txBody>
      </p:sp>
    </p:spTree>
    <p:extLst>
      <p:ext uri="{BB962C8B-B14F-4D97-AF65-F5344CB8AC3E}">
        <p14:creationId xmlns:p14="http://schemas.microsoft.com/office/powerpoint/2010/main" val="2103510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30CBCA-E06F-157F-31ED-053E755AD007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Stack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Understand the core tech behind AI stack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727E64D-5853-3D6E-FFA3-DE78C931C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436105"/>
              </p:ext>
            </p:extLst>
          </p:nvPr>
        </p:nvGraphicFramePr>
        <p:xfrm>
          <a:off x="3059832" y="1556792"/>
          <a:ext cx="2448272" cy="4104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9790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Application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 User Experience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 / API Gateway</a:t>
                      </a:r>
                    </a:p>
                  </a:txBody>
                  <a:tcPr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77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Software Infrastructure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Development Tools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MLOps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791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Training Algorithm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GPT, Llama, Gemma, DeepSeek</a:t>
                      </a:r>
                    </a:p>
                  </a:txBody>
                  <a:tcPr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791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Centers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Database, RAG and Parameters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OAWS / Google Cloud / MS Azure</a:t>
                      </a:r>
                    </a:p>
                  </a:txBody>
                  <a:tcPr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28217"/>
                  </a:ext>
                </a:extLst>
              </a:tr>
              <a:tr h="77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Chips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Hardware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 / TPU / NPU</a:t>
                      </a:r>
                    </a:p>
                  </a:txBody>
                  <a:tcPr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23425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92D1482-83E4-1510-CBFB-7BEDF0A24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904514"/>
              </p:ext>
            </p:extLst>
          </p:nvPr>
        </p:nvGraphicFramePr>
        <p:xfrm>
          <a:off x="1356300" y="5068024"/>
          <a:ext cx="130484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84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Container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Runtime Library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Driver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Docker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150688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16" name="圖說文字: 直線 15">
            <a:extLst>
              <a:ext uri="{FF2B5EF4-FFF2-40B4-BE49-F238E27FC236}">
                <a16:creationId xmlns:a16="http://schemas.microsoft.com/office/drawing/2014/main" id="{004256FF-859E-CCD1-81EC-075CA72A316C}"/>
              </a:ext>
            </a:extLst>
          </p:cNvPr>
          <p:cNvSpPr/>
          <p:nvPr/>
        </p:nvSpPr>
        <p:spPr>
          <a:xfrm>
            <a:off x="1246614" y="4941168"/>
            <a:ext cx="1525186" cy="1296144"/>
          </a:xfrm>
          <a:prstGeom prst="borderCallout1">
            <a:avLst>
              <a:gd name="adj1" fmla="val 9931"/>
              <a:gd name="adj2" fmla="val 95337"/>
              <a:gd name="adj3" fmla="val 6058"/>
              <a:gd name="adj4" fmla="val 120820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B75E2A6-347A-761E-AB56-2780620EB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568268"/>
              </p:ext>
            </p:extLst>
          </p:nvPr>
        </p:nvGraphicFramePr>
        <p:xfrm>
          <a:off x="6265862" y="3123808"/>
          <a:ext cx="130484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84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ONNX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 Neural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Network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 err="1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eXchange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TensorFlow / </a:t>
                      </a:r>
                      <a:r>
                        <a:rPr lang="en-US" altLang="zh-TW" sz="1200" b="0" cap="none" spc="0" dirty="0" err="1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PyTorch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en-US" altLang="zh-TW" sz="1200" b="0" cap="none" spc="0" dirty="0" err="1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MXNet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150688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19" name="圖說文字: 直線 18">
            <a:extLst>
              <a:ext uri="{FF2B5EF4-FFF2-40B4-BE49-F238E27FC236}">
                <a16:creationId xmlns:a16="http://schemas.microsoft.com/office/drawing/2014/main" id="{6E9F0E88-06B8-549D-1043-D6DE870C893F}"/>
              </a:ext>
            </a:extLst>
          </p:cNvPr>
          <p:cNvSpPr/>
          <p:nvPr/>
        </p:nvSpPr>
        <p:spPr>
          <a:xfrm>
            <a:off x="6156176" y="2996952"/>
            <a:ext cx="1525186" cy="1728192"/>
          </a:xfrm>
          <a:prstGeom prst="borderCallout1">
            <a:avLst>
              <a:gd name="adj1" fmla="val 36460"/>
              <a:gd name="adj2" fmla="val 3533"/>
              <a:gd name="adj3" fmla="val 38204"/>
              <a:gd name="adj4" fmla="val -55819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9B525CE6-5BA7-281A-BB87-60EE700FF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318196"/>
              </p:ext>
            </p:extLst>
          </p:nvPr>
        </p:nvGraphicFramePr>
        <p:xfrm>
          <a:off x="1187624" y="1556792"/>
          <a:ext cx="130484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84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MCP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 Context Protocol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157083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150688">
                <a:tc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21" name="圖說文字: 直線 20">
            <a:extLst>
              <a:ext uri="{FF2B5EF4-FFF2-40B4-BE49-F238E27FC236}">
                <a16:creationId xmlns:a16="http://schemas.microsoft.com/office/drawing/2014/main" id="{467D3037-6025-92CE-DBAB-7435C0B86405}"/>
              </a:ext>
            </a:extLst>
          </p:cNvPr>
          <p:cNvSpPr/>
          <p:nvPr/>
        </p:nvSpPr>
        <p:spPr>
          <a:xfrm>
            <a:off x="1102598" y="1484784"/>
            <a:ext cx="1525186" cy="1296144"/>
          </a:xfrm>
          <a:prstGeom prst="borderCallout1">
            <a:avLst>
              <a:gd name="adj1" fmla="val 59902"/>
              <a:gd name="adj2" fmla="val 95337"/>
              <a:gd name="adj3" fmla="val 75135"/>
              <a:gd name="adj4" fmla="val 135184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27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3F6D-7D64-721E-7EC7-658B580C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7D2B3343-8D73-85DF-84AB-321A4C4FEF9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</a:t>
            </a:r>
            <a:r>
              <a:rPr lang="zh-TW" altLang="en-US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 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Container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Major solution: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09B7BD-7CB6-70DB-20B2-01993FA3E37C}"/>
              </a:ext>
            </a:extLst>
          </p:cNvPr>
          <p:cNvSpPr txBox="1"/>
          <p:nvPr/>
        </p:nvSpPr>
        <p:spPr>
          <a:xfrm>
            <a:off x="7380312" y="116632"/>
            <a:ext cx="1694681" cy="171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Machine Learning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Unsupervised</a:t>
            </a:r>
            <a:endParaRPr lang="en-US" altLang="zh-TW" sz="1400" u="none" strike="noStrike" dirty="0">
              <a:effectLst/>
            </a:endParaRPr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zh-TW" altLang="en-US" sz="1200" dirty="0"/>
              <a:t> </a:t>
            </a:r>
            <a:r>
              <a:rPr lang="en-US" altLang="zh-TW" sz="1200" dirty="0"/>
              <a:t>Reduction</a:t>
            </a:r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200" dirty="0"/>
              <a:t> Clustering</a:t>
            </a:r>
            <a:endParaRPr lang="en-US" altLang="zh-TW" sz="1200" u="none" strike="noStrike" dirty="0">
              <a:effectLst/>
            </a:endParaRP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Supervised</a:t>
            </a:r>
            <a:endParaRPr lang="en-US" altLang="zh-TW" sz="1400" dirty="0"/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200" dirty="0"/>
              <a:t> Semi-Supervised</a:t>
            </a:r>
          </a:p>
          <a:p>
            <a:pPr marL="285750" lvl="2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200" dirty="0"/>
              <a:t> Self-Supervised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Reinforcement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Summary</a:t>
            </a:r>
            <a:endParaRPr lang="en-US" altLang="zh-TW" sz="140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A06DA42-8EFE-9247-227C-98F7DC54B09C}"/>
              </a:ext>
            </a:extLst>
          </p:cNvPr>
          <p:cNvSpPr txBox="1"/>
          <p:nvPr/>
        </p:nvSpPr>
        <p:spPr>
          <a:xfrm>
            <a:off x="179512" y="908720"/>
            <a:ext cx="7713554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為什麼要將 AI Agent 「容器化」？（解決三大痛點）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在架構設計上，不採傳統虛擬機而採用 Container（容器）主要是為了克服以下生產環境的挑戰：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解決「環境依賴地獄」 (Dependency Isolation)</a:t>
            </a:r>
            <a:b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AI 專案極度依賴特定版本的 PyTorch、CUDA、或特定 Python 套件（如 numpy==1.24）。容器化將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程式碼、依賴庫、設定檔甚至權重（Weights）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封裝在一起，避免不同 Agent 之間產生套件衝突。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防止 AI 拆家 (Blast Radius Control / Security)</a:t>
            </a:r>
            <a:b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具備自主能力的 Coding Agent（如 Claude Code 或 Devin 類型的工具）需要執行終端機指令（Shell Command）。容器沙盒能限制 AI 的網路存取、檔案讀寫權限，防止 AI 刪除主機重要資料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zh-TW" sz="1200" b="0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多智能體彈性擴展 (Scalability &amp; Multi-Agent Teams)</a:t>
            </a:r>
            <a:b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當一個任務需要「主導經理」、「資深工程師」、「QA測試員」三隻 Agent 協同運作時，架構可以透過 Docker Compose 或 Kubernetes 一鍵生成多個互相獨立、以網路溝通的 Agent 容器矩陣。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EAAAFB5-5C4D-3AAA-1040-FE1EAA68D49A}"/>
              </a:ext>
            </a:extLst>
          </p:cNvPr>
          <p:cNvSpPr txBox="1"/>
          <p:nvPr/>
        </p:nvSpPr>
        <p:spPr>
          <a:xfrm>
            <a:off x="0" y="3985771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目前業界極度推崇「宣告式 </a:t>
            </a:r>
            <a:r>
              <a:rPr lang="en-US" altLang="zh-TW" dirty="0"/>
              <a:t>Agent </a:t>
            </a:r>
            <a:r>
              <a:rPr lang="zh-TW" altLang="en-US" dirty="0"/>
              <a:t>容器（</a:t>
            </a:r>
            <a:r>
              <a:rPr lang="en-US" altLang="zh-TW" dirty="0"/>
              <a:t>Declarative Agent Container</a:t>
            </a:r>
            <a:r>
              <a:rPr lang="zh-TW" altLang="en-US" dirty="0"/>
              <a:t>）」。以 </a:t>
            </a:r>
            <a:r>
              <a:rPr lang="en-US" altLang="zh-TW" dirty="0"/>
              <a:t>Docker </a:t>
            </a:r>
            <a:r>
              <a:rPr lang="zh-TW" altLang="en-US" dirty="0"/>
              <a:t>近期推出的規範為例，開發者只需要撰寫一個 </a:t>
            </a:r>
            <a:r>
              <a:rPr lang="en-US" altLang="zh-TW" dirty="0"/>
              <a:t>cagent.yaml </a:t>
            </a:r>
            <a:r>
              <a:rPr lang="zh-TW" altLang="en-US" dirty="0"/>
              <a:t>定義檔，</a:t>
            </a:r>
            <a:r>
              <a:rPr lang="en-US" altLang="zh-TW" dirty="0"/>
              <a:t>Docker </a:t>
            </a:r>
            <a:r>
              <a:rPr lang="zh-TW" altLang="en-US" dirty="0"/>
              <a:t>就能自動將其轉化為標準的容器化架構</a:t>
            </a:r>
          </a:p>
        </p:txBody>
      </p:sp>
    </p:spTree>
    <p:extLst>
      <p:ext uri="{BB962C8B-B14F-4D97-AF65-F5344CB8AC3E}">
        <p14:creationId xmlns:p14="http://schemas.microsoft.com/office/powerpoint/2010/main" val="111099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7C2AA-0CE2-7F86-02D8-C11CB263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5BBA0A55-63B3-CDA7-392D-8B15E8DE6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00" y="1268760"/>
            <a:ext cx="3882681" cy="216144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94567F7-5D64-7522-5DF3-C722598498A2}"/>
              </a:ext>
            </a:extLst>
          </p:cNvPr>
          <p:cNvSpPr txBox="1"/>
          <p:nvPr/>
        </p:nvSpPr>
        <p:spPr>
          <a:xfrm>
            <a:off x="5004048" y="1268760"/>
            <a:ext cx="3654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MCP</a:t>
            </a:r>
            <a:r>
              <a:rPr lang="zh-TW" altLang="en-US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原則</a:t>
            </a:r>
            <a:endParaRPr lang="en-US" altLang="zh-TW" sz="1200" b="1" i="0" dirty="0">
              <a:solidFill>
                <a:srgbClr val="333333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buFont typeface="+mj-lt"/>
              <a:buAutoNum type="arabicPeriod"/>
            </a:pPr>
            <a:r>
              <a:rPr lang="zh-TW" altLang="zh-TW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標準化</a:t>
            </a:r>
            <a:r>
              <a:rPr lang="zh-TW" altLang="zh-TW" sz="12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：統一 AI 與外部資源的溝通方式</a:t>
            </a:r>
          </a:p>
          <a:p>
            <a:pPr algn="l">
              <a:buFont typeface="+mj-lt"/>
              <a:buAutoNum type="arabicPeriod"/>
            </a:pPr>
            <a:r>
              <a:rPr lang="zh-TW" altLang="zh-TW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模組化</a:t>
            </a:r>
            <a:r>
              <a:rPr lang="zh-TW" altLang="zh-TW" sz="12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：允許 AI 模型連接各種資料來源和工具</a:t>
            </a:r>
          </a:p>
          <a:p>
            <a:pPr algn="l">
              <a:buFont typeface="+mj-lt"/>
              <a:buAutoNum type="arabicPeriod"/>
            </a:pPr>
            <a:r>
              <a:rPr lang="zh-TW" altLang="zh-TW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安全性</a:t>
            </a:r>
            <a:r>
              <a:rPr lang="zh-TW" altLang="zh-TW" sz="12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：從設計開始就內建權限與存取控制</a:t>
            </a:r>
          </a:p>
          <a:p>
            <a:pPr algn="l">
              <a:buFont typeface="+mj-lt"/>
              <a:buAutoNum type="arabicPeriod"/>
            </a:pPr>
            <a:r>
              <a:rPr lang="zh-TW" altLang="zh-TW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來源註記</a:t>
            </a:r>
            <a:r>
              <a:rPr lang="zh-TW" altLang="zh-TW" sz="12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：確保資訊可追溯</a:t>
            </a:r>
          </a:p>
          <a:p>
            <a:pPr algn="l">
              <a:buFont typeface="+mj-lt"/>
              <a:buAutoNum type="arabicPeriod"/>
            </a:pPr>
            <a:r>
              <a:rPr lang="zh-TW" altLang="zh-TW" sz="1200" b="1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跨系統互通性</a:t>
            </a:r>
            <a:r>
              <a:rPr lang="zh-TW" altLang="zh-TW" sz="12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：讓不同 AI 模型也能通用 MCP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42A8F93-89BB-905B-4DCA-C957F60E3A7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Model Context Protocol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MCP 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48DBC41A-76B0-76A6-58D3-0083C5B86435}"/>
              </a:ext>
            </a:extLst>
          </p:cNvPr>
          <p:cNvSpPr txBox="1">
            <a:spLocks/>
          </p:cNvSpPr>
          <p:nvPr/>
        </p:nvSpPr>
        <p:spPr>
          <a:xfrm>
            <a:off x="185614" y="1051534"/>
            <a:ext cx="280831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MLP:</a:t>
            </a:r>
            <a:r>
              <a:rPr lang="zh-TW" altLang="en-US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Multi Layer Perception </a:t>
            </a: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F1DA14F-5E60-3006-2A4D-62252AC9E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17574"/>
              </p:ext>
            </p:extLst>
          </p:nvPr>
        </p:nvGraphicFramePr>
        <p:xfrm>
          <a:off x="351199" y="4415808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Ollama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93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B42F-8775-AC09-3933-1BD4B414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53E12340-3B58-15C0-9421-DB4C1461D7A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Hugging Face and GGUF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0D1300E-2988-7E18-4352-77EA6DBC974F}"/>
              </a:ext>
            </a:extLst>
          </p:cNvPr>
          <p:cNvSpPr txBox="1"/>
          <p:nvPr/>
        </p:nvSpPr>
        <p:spPr>
          <a:xfrm>
            <a:off x="213023" y="1124744"/>
            <a:ext cx="8568952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Hugging Face (AI / Mahine Learning Community)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200" b="1" dirty="0"/>
              <a:t>Platform</a:t>
            </a:r>
            <a:r>
              <a:rPr lang="en-US" altLang="zh-TW" sz="1200" b="1" u="none" strike="noStrike" dirty="0">
                <a:effectLst/>
              </a:rPr>
              <a:t>:</a:t>
            </a:r>
            <a:r>
              <a:rPr lang="en-US" altLang="zh-TW" sz="1200" b="0" u="none" strike="noStrike" dirty="0">
                <a:effectLst/>
              </a:rPr>
              <a:t> </a:t>
            </a:r>
            <a:r>
              <a:rPr lang="en-US" altLang="zh-TW" sz="1600" b="0" u="none" strike="noStrike" dirty="0">
                <a:effectLst/>
              </a:rPr>
              <a:t>For</a:t>
            </a:r>
            <a:r>
              <a:rPr lang="zh-TW" altLang="zh-TW" sz="1600" b="0" i="0" dirty="0">
                <a:effectLst/>
                <a:latin typeface="Source Sans Pro" panose="020B0503030403020204" pitchFamily="34" charset="0"/>
              </a:rPr>
              <a:t> community collaborates on models, datasets, and applications</a:t>
            </a:r>
            <a:r>
              <a:rPr lang="en-US" altLang="zh-TW" sz="1600" b="0" u="none" strike="noStrike" dirty="0">
                <a:effectLst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格式轉換的橋樑：GGUF 格式</a:t>
            </a:r>
          </a:p>
          <a:p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 Face 上的原始模型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：通常是 AI 科學家研究用的 PyTorch 或 Safetensors 格式，體積巨大（動輒幾十 GB）且需要昂貴的頂級顯卡才跑得動。</a:t>
            </a:r>
          </a:p>
          <a:p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本地工具所需的格式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：Ollama、LM Studio 為了讓一般家用筆電能流暢執行，需要使用一種名為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GGUF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的特殊格式。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DF6EA5E-8E13-CA32-D72C-473CD4987FE4}"/>
              </a:ext>
            </a:extLst>
          </p:cNvPr>
          <p:cNvSpPr txBox="1"/>
          <p:nvPr/>
        </p:nvSpPr>
        <p:spPr>
          <a:xfrm>
            <a:off x="213023" y="2996952"/>
            <a:ext cx="856895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1200" b="1" u="none" strike="noStrike" dirty="0">
                <a:effectLst/>
              </a:rPr>
              <a:t>Tools</a:t>
            </a:r>
          </a:p>
          <a:p>
            <a:pPr marL="171450" indent="-1714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200" b="1" u="none" strike="noStrike" dirty="0">
                <a:effectLst/>
              </a:rPr>
              <a:t>Ollama</a:t>
            </a:r>
            <a:r>
              <a:rPr lang="zh-TW" altLang="en-US" sz="1200" b="1" u="none" strike="noStrike" dirty="0">
                <a:effectLst/>
              </a:rPr>
              <a:t> </a:t>
            </a:r>
            <a:r>
              <a:rPr lang="en-US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半自動</a:t>
            </a:r>
            <a:r>
              <a:rPr lang="en-US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間接橋梁</a:t>
            </a:r>
            <a:r>
              <a:rPr lang="en-US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1200" b="0" u="none" strike="noStrike" dirty="0">
                <a:effectLst/>
              </a:rPr>
              <a:t>: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為了維持像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一樣極簡的體驗，它建立了自己的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Ollama Library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官方倉庫。你雖然不能直接在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Ollama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輸入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 Face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的網址下載，但你可以利用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Modelfile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中的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FROM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指令，指向你從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 Face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下載下來的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.gguf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檔案，將其打包成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Ollama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鏡像。</a:t>
            </a:r>
            <a:r>
              <a:rPr lang="en-US" altLang="zh-TW" sz="1200" dirty="0"/>
              <a:t> </a:t>
            </a:r>
            <a:endParaRPr lang="en-US" altLang="zh-TW" sz="1200" b="0" u="none" strike="noStrike" dirty="0">
              <a:effectLst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200" b="1" dirty="0">
                <a:ea typeface="微軟正黑體" panose="020B0604030504040204" pitchFamily="34" charset="-120"/>
              </a:rPr>
              <a:t>LM Studio / Jan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全自動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無縫直連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這類圖形介面工具與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 Face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的關係最為親密。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LM Studio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軟體內直接內建了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 Face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搜尋列。你可以在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LM Studio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裡直接輸入關鍵字（例如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Llama-4-Taiwan-GGUF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），它會透過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直接撈出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 Face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上的搜尋結果，讓你在軟體介面裡一鍵點擊下載，完全不需要打開瀏覽器。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vLLM (原生支援高階格式)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1200" dirty="0"/>
              <a:t>伺服器等級的 vLLM 與 Ollama 不同，它專門在高效能伺服器上執行。它</a:t>
            </a:r>
            <a:r>
              <a:rPr lang="zh-TW" altLang="zh-TW" sz="1200" b="1" dirty="0"/>
              <a:t>不需要</a:t>
            </a:r>
            <a:r>
              <a:rPr lang="zh-TW" altLang="zh-TW" sz="1200" dirty="0"/>
              <a:t>轉換成 GGUF 格式，而是可以直接連線到 Hugging Face，自動下載並直接載入最原始、無損的 Safetensors 高階模型檔案進行極速推論。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TW" sz="1600" b="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0869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6211-B591-F5D8-AAEC-5A2E722C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E7A2227F-3847-F213-289E-2188CB7D1D4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ONNX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ONNX: The PDF Format For Neural Networks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17B6D85-24D6-24A8-D95D-C0B074D107B5}"/>
              </a:ext>
            </a:extLst>
          </p:cNvPr>
          <p:cNvGraphicFramePr>
            <a:graphicFrameLocks noGrp="1"/>
          </p:cNvGraphicFramePr>
          <p:nvPr/>
        </p:nvGraphicFramePr>
        <p:xfrm>
          <a:off x="351199" y="4415808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Ollama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C6BB5C9-7988-A38C-8D37-410B00364592}"/>
              </a:ext>
            </a:extLst>
          </p:cNvPr>
          <p:cNvSpPr txBox="1"/>
          <p:nvPr/>
        </p:nvSpPr>
        <p:spPr>
          <a:xfrm>
            <a:off x="351199" y="1412776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如何編輯</a:t>
            </a:r>
            <a:r>
              <a:rPr lang="en-US" altLang="zh-TW" dirty="0"/>
              <a:t>ONNX?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36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71B84-1670-A048-1767-4044E543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71727CAD-B4FC-59D7-CEC3-B5693CC694D7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Hardware Solution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088F4F-3037-5FDB-EFDD-D772BA9672F5}"/>
              </a:ext>
            </a:extLst>
          </p:cNvPr>
          <p:cNvSpPr txBox="1"/>
          <p:nvPr/>
        </p:nvSpPr>
        <p:spPr>
          <a:xfrm>
            <a:off x="213023" y="980728"/>
            <a:ext cx="8568952" cy="148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Core Element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Data</a:t>
            </a:r>
            <a:r>
              <a:rPr lang="en-US" altLang="zh-TW" sz="1600" b="0" u="none" strike="noStrike" dirty="0">
                <a:effectLst/>
              </a:rPr>
              <a:t>: The fuel for ML, consisting of Features (inputs) and Labels (correct answers).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Model</a:t>
            </a:r>
            <a:r>
              <a:rPr lang="en-US" altLang="zh-TW" sz="1600" b="0" u="none" strike="noStrike" dirty="0">
                <a:effectLst/>
              </a:rPr>
              <a:t>: An optimized mathematical formula capable of making decisions.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Algorithm:</a:t>
            </a:r>
            <a:r>
              <a:rPr lang="en-US" altLang="zh-TW" sz="1600" dirty="0"/>
              <a:t> Learning tool (e.g., like loss function and optimizer).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6FE9F88-829E-6ED8-3DA1-FB8298CFDF1C}"/>
              </a:ext>
            </a:extLst>
          </p:cNvPr>
          <p:cNvSpPr txBox="1"/>
          <p:nvPr/>
        </p:nvSpPr>
        <p:spPr>
          <a:xfrm>
            <a:off x="213023" y="2996952"/>
            <a:ext cx="856895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u="none" strike="noStrike" dirty="0">
                <a:effectLst/>
              </a:rPr>
              <a:t>Main Types of ML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Unsupervised</a:t>
            </a:r>
            <a:r>
              <a:rPr lang="en-US" altLang="zh-TW" sz="1600" b="0" u="none" strike="noStrike" dirty="0">
                <a:effectLst/>
              </a:rPr>
              <a:t>: Data is unlabeled, no pre-defined answers provided.</a:t>
            </a:r>
          </a:p>
          <a:p>
            <a:pPr marL="742950" lvl="1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/>
              <a:t>Reduction: PCA, t-SNE and UMAP.</a:t>
            </a:r>
          </a:p>
          <a:p>
            <a:pPr marL="742950" lvl="1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/>
              <a:t>Clustering: K-mean and GMM. </a:t>
            </a:r>
            <a:endParaRPr lang="en-US" altLang="zh-TW" sz="1600" b="0" u="none" strike="noStrike" dirty="0">
              <a:effectLst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Supervised</a:t>
            </a:r>
            <a:r>
              <a:rPr lang="en-US" altLang="zh-TW" sz="1600" dirty="0"/>
              <a:t>: Data is labeled, comes with the correct answers.</a:t>
            </a:r>
          </a:p>
          <a:p>
            <a:pPr marL="742950" lvl="1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/>
              <a:t>Semi-Supervised: When labels are expensive.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Medical Imaging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742950" lvl="1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/>
              <a:t>Self-Supervised: When Labels are Plentiful.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GPT-Pretraining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Reinforcement</a:t>
            </a:r>
            <a:r>
              <a:rPr lang="en-US" altLang="zh-TW" sz="1600" dirty="0"/>
              <a:t>: Learning through trial and Error within an environment.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GPT-RLHF</a:t>
            </a:r>
            <a:endParaRPr lang="en-US" altLang="zh-TW" sz="1600" b="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748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173EE053-1FAE-538C-ABFD-598B0D03DD4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Summary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853544-DBA0-E3DB-54BF-4BDC27EE2E9F}"/>
              </a:ext>
            </a:extLst>
          </p:cNvPr>
          <p:cNvSpPr txBox="1"/>
          <p:nvPr/>
        </p:nvSpPr>
        <p:spPr>
          <a:xfrm>
            <a:off x="179512" y="971962"/>
            <a:ext cx="8568952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/>
              <a:t>S</a:t>
            </a:r>
            <a:r>
              <a:rPr lang="en-US" altLang="zh-TW" sz="2000" b="1" u="none" strike="noStrike" dirty="0">
                <a:effectLst/>
              </a:rPr>
              <a:t>LM vs LLM</a:t>
            </a:r>
            <a:endParaRPr lang="en-US" altLang="zh-TW" sz="1600" b="1" u="none" strike="noStrike" dirty="0">
              <a:effectLst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SLM(The Specialists)</a:t>
            </a:r>
            <a:r>
              <a:rPr lang="en-US" altLang="zh-TW" sz="1600" b="0" u="none" strike="noStrike" dirty="0">
                <a:effectLst/>
              </a:rPr>
              <a:t>: 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LLM (The Generalists)</a:t>
            </a:r>
            <a:r>
              <a:rPr lang="en-US" altLang="zh-TW" sz="1600" dirty="0"/>
              <a:t>: .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-</a:t>
            </a:r>
            <a:r>
              <a:rPr lang="en-US" altLang="zh-TW" sz="1600" dirty="0"/>
              <a:t>: Learning through trial and Error within an environment.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GPT-RLHF</a:t>
            </a:r>
            <a:endParaRPr lang="en-US" altLang="zh-TW" sz="1600" b="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D64A5D-812A-71D3-28E3-739F618DB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308689"/>
              </p:ext>
            </p:extLst>
          </p:nvPr>
        </p:nvGraphicFramePr>
        <p:xfrm>
          <a:off x="351199" y="2780928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Edge AI, Agent(Inference)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Service, Mentor Model (Pretraining)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3~14B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70B~405B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Single Chip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Multi GPU or CPU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&lt; 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17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B116-CCAD-8F24-3B05-0C6DFC37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75A6AA55-396E-4357-7D46-8E6D0A5F8034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3 Overview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4DA1361-4D8B-4FCC-584F-629F1294A318}"/>
              </a:ext>
            </a:extLst>
          </p:cNvPr>
          <p:cNvSpPr txBox="1"/>
          <p:nvPr/>
        </p:nvSpPr>
        <p:spPr>
          <a:xfrm>
            <a:off x="214908" y="980728"/>
            <a:ext cx="8568952" cy="224676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Features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Long Context Window</a:t>
            </a:r>
            <a:r>
              <a:rPr lang="en-US" altLang="zh-TW" sz="1600" dirty="0"/>
              <a:t>: More than 128K tokens.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Vision-Language</a:t>
            </a:r>
            <a:r>
              <a:rPr lang="en-US" altLang="zh-TW" sz="1600" dirty="0"/>
              <a:t>: Multi-Modal for text and vision input.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Multilingual </a:t>
            </a:r>
            <a:r>
              <a:rPr lang="en-US" altLang="zh-TW" sz="1600" dirty="0"/>
              <a:t>: Default support 35 languages, and 140+.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Single Chip</a:t>
            </a:r>
            <a:r>
              <a:rPr lang="en-US" altLang="zh-TW" sz="1600" dirty="0"/>
              <a:t>: Inference by only one GPU or TPU.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Model Quantization</a:t>
            </a:r>
            <a:r>
              <a:rPr lang="en-US" altLang="zh-TW" sz="1600" dirty="0"/>
              <a:t>: Q4 and FP16.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9ED30C9-7FBC-5372-F2D1-F80EA7C86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800"/>
              </p:ext>
            </p:extLst>
          </p:nvPr>
        </p:nvGraphicFramePr>
        <p:xfrm>
          <a:off x="351199" y="4221088"/>
          <a:ext cx="8225578" cy="2003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449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5393863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2276585">
                  <a:extLst>
                    <a:ext uri="{9D8B030D-6E8A-4147-A177-3AD203B41FA5}">
                      <a16:colId xmlns:a16="http://schemas.microsoft.com/office/drawing/2014/main" val="3854310234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  <a:p>
                      <a:pPr algn="ctr"/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Version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File Size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Q4</a:t>
                      </a:r>
                    </a:p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FP16</a:t>
                      </a:r>
                    </a:p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 VRAM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Platform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 0.5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 0.6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Cell phone, Raspberry, Wearables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2.6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3.5 ~ 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 ~ 10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Tablet, Notebook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6.7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 ~ 10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27 ~ 28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Notebook 16G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27B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15.1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18 ~ 20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60 ~ 64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 RTX 3090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40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412F-F717-D1EC-5B0B-39785D3D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154D0B0-A012-FFE2-DEEF-581261754A22}"/>
              </a:ext>
            </a:extLst>
          </p:cNvPr>
          <p:cNvSpPr/>
          <p:nvPr/>
        </p:nvSpPr>
        <p:spPr>
          <a:xfrm>
            <a:off x="5236384" y="3015780"/>
            <a:ext cx="1826222" cy="612186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000"/>
              </a:lnSpc>
            </a:pPr>
            <a:endParaRPr lang="en-US" altLang="zh-TW" sz="1600" b="1" baseline="-25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44238F-2DC9-5FA9-584F-4533B0CABD7E}"/>
              </a:ext>
            </a:extLst>
          </p:cNvPr>
          <p:cNvSpPr/>
          <p:nvPr/>
        </p:nvSpPr>
        <p:spPr>
          <a:xfrm>
            <a:off x="5236650" y="2024726"/>
            <a:ext cx="1826222" cy="612186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000"/>
              </a:lnSpc>
            </a:pPr>
            <a:endParaRPr lang="en-US" altLang="zh-TW" sz="1600" b="1" baseline="-25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52DF09C-7533-45DB-660C-A8780AFB42C0}"/>
              </a:ext>
            </a:extLst>
          </p:cNvPr>
          <p:cNvSpPr/>
          <p:nvPr/>
        </p:nvSpPr>
        <p:spPr>
          <a:xfrm>
            <a:off x="934674" y="5938621"/>
            <a:ext cx="1152128" cy="425944"/>
          </a:xfrm>
          <a:prstGeom prst="rect">
            <a:avLst/>
          </a:prstGeom>
          <a:solidFill>
            <a:schemeClr val="bg1"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0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Embedding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6F717D9E-49DD-2DF8-CCAA-FAC8D83212F6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3 Architecture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B4CF8F-ADD7-749F-F88E-30C143A060E6}"/>
              </a:ext>
            </a:extLst>
          </p:cNvPr>
          <p:cNvSpPr/>
          <p:nvPr/>
        </p:nvSpPr>
        <p:spPr>
          <a:xfrm>
            <a:off x="243254" y="1481908"/>
            <a:ext cx="2001785" cy="3419506"/>
          </a:xfrm>
          <a:prstGeom prst="rect">
            <a:avLst/>
          </a:prstGeom>
          <a:solidFill>
            <a:schemeClr val="bg1"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91440" rIns="0" bIns="0" rtlCol="0" anchor="ctr" anchorCtr="0"/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Tokenizer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 Embedding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 Encoding</a:t>
            </a:r>
          </a:p>
          <a:p>
            <a:pPr lvl="1">
              <a:lnSpc>
                <a:spcPts val="1600"/>
              </a:lnSpc>
            </a:pPr>
            <a:endParaRPr lang="en-US" altLang="zh-TW" sz="10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Normalization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Multi-Head Attention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Residual Connection</a:t>
            </a:r>
          </a:p>
          <a:p>
            <a:pPr lvl="1">
              <a:lnSpc>
                <a:spcPts val="1600"/>
              </a:lnSpc>
            </a:pPr>
            <a:endParaRPr lang="en-US" altLang="zh-TW" sz="10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Normalization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Feed Forward Network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Residual Connection</a:t>
            </a:r>
          </a:p>
          <a:p>
            <a:pPr lvl="1">
              <a:lnSpc>
                <a:spcPts val="1600"/>
              </a:lnSpc>
            </a:pPr>
            <a:endParaRPr lang="en-US" altLang="zh-TW" sz="10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Linear Projection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Semantics Space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Vocabulary Space</a:t>
            </a:r>
            <a:endParaRPr lang="en-US" altLang="zh-TW" sz="12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506C56-61B8-5016-4607-0FD7296D2DCA}"/>
              </a:ext>
            </a:extLst>
          </p:cNvPr>
          <p:cNvSpPr/>
          <p:nvPr/>
        </p:nvSpPr>
        <p:spPr>
          <a:xfrm>
            <a:off x="4294261" y="5637736"/>
            <a:ext cx="205731" cy="882327"/>
          </a:xfrm>
          <a:prstGeom prst="rect">
            <a:avLst/>
          </a:prstGeom>
          <a:noFill/>
          <a:ln w="25400">
            <a:solidFill>
              <a:schemeClr val="accent5">
                <a:lumMod val="7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en-US" altLang="zh-TW" sz="1200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en-US" altLang="zh-TW" sz="1200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en-US" altLang="zh-TW" sz="1200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08E9BC-5B6C-7908-7A50-E33D930F12DC}"/>
              </a:ext>
            </a:extLst>
          </p:cNvPr>
          <p:cNvSpPr/>
          <p:nvPr/>
        </p:nvSpPr>
        <p:spPr>
          <a:xfrm>
            <a:off x="4932040" y="5637737"/>
            <a:ext cx="205731" cy="882327"/>
          </a:xfrm>
          <a:prstGeom prst="rect">
            <a:avLst/>
          </a:prstGeom>
          <a:noFill/>
          <a:ln w="25400">
            <a:solidFill>
              <a:schemeClr val="accent5">
                <a:lumMod val="7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1200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1200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algn="ctr">
              <a:lnSpc>
                <a:spcPts val="1600"/>
              </a:lnSpc>
            </a:pP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1200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</a:p>
        </p:txBody>
      </p:sp>
      <p:sp>
        <p:nvSpPr>
          <p:cNvPr id="33" name="左右中括弧 32">
            <a:extLst>
              <a:ext uri="{FF2B5EF4-FFF2-40B4-BE49-F238E27FC236}">
                <a16:creationId xmlns:a16="http://schemas.microsoft.com/office/drawing/2014/main" id="{42E18961-4B5B-FC8A-9271-806682CB96B8}"/>
              </a:ext>
            </a:extLst>
          </p:cNvPr>
          <p:cNvSpPr/>
          <p:nvPr/>
        </p:nvSpPr>
        <p:spPr>
          <a:xfrm>
            <a:off x="4197966" y="5637737"/>
            <a:ext cx="411241" cy="882327"/>
          </a:xfrm>
          <a:prstGeom prst="bracketPair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左右中括弧 34">
            <a:extLst>
              <a:ext uri="{FF2B5EF4-FFF2-40B4-BE49-F238E27FC236}">
                <a16:creationId xmlns:a16="http://schemas.microsoft.com/office/drawing/2014/main" id="{7DB31623-6821-547C-AA7C-B0681736BBD2}"/>
              </a:ext>
            </a:extLst>
          </p:cNvPr>
          <p:cNvSpPr/>
          <p:nvPr/>
        </p:nvSpPr>
        <p:spPr>
          <a:xfrm>
            <a:off x="4837027" y="5643017"/>
            <a:ext cx="411241" cy="882327"/>
          </a:xfrm>
          <a:prstGeom prst="bracketPair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504929F-03B8-06AA-32AF-AFCF77AE7069}"/>
              </a:ext>
            </a:extLst>
          </p:cNvPr>
          <p:cNvSpPr/>
          <p:nvPr/>
        </p:nvSpPr>
        <p:spPr>
          <a:xfrm>
            <a:off x="2354191" y="1481908"/>
            <a:ext cx="2001785" cy="3419506"/>
          </a:xfrm>
          <a:prstGeom prst="rect">
            <a:avLst/>
          </a:prstGeom>
          <a:solidFill>
            <a:schemeClr val="bg1"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91440" rIns="0" bIns="0" rtlCol="0" anchor="ctr" anchorCtr="0"/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Multimodal Tokenizer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 Embedding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 Encoding</a:t>
            </a:r>
          </a:p>
          <a:p>
            <a:pPr lvl="1">
              <a:lnSpc>
                <a:spcPts val="1600"/>
              </a:lnSpc>
            </a:pPr>
            <a:endParaRPr lang="en-US" altLang="zh-TW" sz="10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Normalization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Multi-Head Attention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Residual Connection</a:t>
            </a:r>
          </a:p>
          <a:p>
            <a:pPr lvl="1">
              <a:lnSpc>
                <a:spcPts val="1600"/>
              </a:lnSpc>
            </a:pPr>
            <a:endParaRPr lang="en-US" altLang="zh-TW" sz="10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Normalization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Feed Forward Network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Residual Connection</a:t>
            </a:r>
          </a:p>
          <a:p>
            <a:pPr lvl="1">
              <a:lnSpc>
                <a:spcPts val="1600"/>
              </a:lnSpc>
            </a:pPr>
            <a:endParaRPr lang="en-US" altLang="zh-TW" sz="10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Linear Projection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Semantics Space</a:t>
            </a:r>
          </a:p>
          <a:p>
            <a:pPr lvl="1">
              <a:lnSpc>
                <a:spcPts val="1600"/>
              </a:lnSpc>
            </a:pPr>
            <a:r>
              <a:rPr lang="en-US" altLang="zh-TW" sz="10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Vocabulary Space</a:t>
            </a:r>
            <a:endParaRPr lang="en-US" altLang="zh-TW" sz="12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3BE6F5-3EED-E1FB-33FD-61B2D5004C98}"/>
              </a:ext>
            </a:extLst>
          </p:cNvPr>
          <p:cNvSpPr/>
          <p:nvPr/>
        </p:nvSpPr>
        <p:spPr>
          <a:xfrm>
            <a:off x="5334681" y="1844824"/>
            <a:ext cx="504056" cy="288032"/>
          </a:xfrm>
          <a:prstGeom prst="rect">
            <a:avLst/>
          </a:prstGeom>
          <a:solidFill>
            <a:schemeClr val="bg1">
              <a:alpha val="9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400" b="1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Text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DEAEBD-C019-403B-289D-A6622F3E7FFD}"/>
              </a:ext>
            </a:extLst>
          </p:cNvPr>
          <p:cNvSpPr/>
          <p:nvPr/>
        </p:nvSpPr>
        <p:spPr>
          <a:xfrm>
            <a:off x="5910745" y="1844824"/>
            <a:ext cx="504056" cy="288032"/>
          </a:xfrm>
          <a:prstGeom prst="rect">
            <a:avLst/>
          </a:prstGeom>
          <a:solidFill>
            <a:schemeClr val="bg1">
              <a:alpha val="9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400" b="1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Image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9856AD-0FAE-A713-FA44-C50A6566D00C}"/>
              </a:ext>
            </a:extLst>
          </p:cNvPr>
          <p:cNvSpPr/>
          <p:nvPr/>
        </p:nvSpPr>
        <p:spPr>
          <a:xfrm>
            <a:off x="6486809" y="1844824"/>
            <a:ext cx="504056" cy="288032"/>
          </a:xfrm>
          <a:prstGeom prst="rect">
            <a:avLst/>
          </a:prstGeom>
          <a:solidFill>
            <a:schemeClr val="bg1">
              <a:alpha val="9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400" b="1" baseline="-25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Audio</a:t>
            </a:r>
          </a:p>
        </p:txBody>
      </p:sp>
      <p:sp>
        <p:nvSpPr>
          <p:cNvPr id="16" name="右中括弧 15">
            <a:extLst>
              <a:ext uri="{FF2B5EF4-FFF2-40B4-BE49-F238E27FC236}">
                <a16:creationId xmlns:a16="http://schemas.microsoft.com/office/drawing/2014/main" id="{95E6BF77-2E61-8EC4-CBD0-EC6D36CA4F66}"/>
              </a:ext>
            </a:extLst>
          </p:cNvPr>
          <p:cNvSpPr/>
          <p:nvPr/>
        </p:nvSpPr>
        <p:spPr>
          <a:xfrm>
            <a:off x="7206889" y="2024726"/>
            <a:ext cx="45719" cy="61218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7329472-7D7F-C2B8-2D65-200565BBFC38}"/>
              </a:ext>
            </a:extLst>
          </p:cNvPr>
          <p:cNvSpPr txBox="1"/>
          <p:nvPr/>
        </p:nvSpPr>
        <p:spPr>
          <a:xfrm>
            <a:off x="7133147" y="2276753"/>
            <a:ext cx="577798" cy="21602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dirty="0"/>
              <a:t>Encoder</a:t>
            </a:r>
            <a:endParaRPr lang="zh-TW" altLang="en-US" sz="1200" dirty="0"/>
          </a:p>
        </p:txBody>
      </p:sp>
      <p:sp>
        <p:nvSpPr>
          <p:cNvPr id="18" name="右中括弧 17">
            <a:extLst>
              <a:ext uri="{FF2B5EF4-FFF2-40B4-BE49-F238E27FC236}">
                <a16:creationId xmlns:a16="http://schemas.microsoft.com/office/drawing/2014/main" id="{7362D288-3BCB-CABC-83B0-3C13F34344AF}"/>
              </a:ext>
            </a:extLst>
          </p:cNvPr>
          <p:cNvSpPr/>
          <p:nvPr/>
        </p:nvSpPr>
        <p:spPr>
          <a:xfrm>
            <a:off x="7206889" y="3032956"/>
            <a:ext cx="45719" cy="224642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A26E87E-7C29-6F00-FBCD-E71644C90FAD}"/>
              </a:ext>
            </a:extLst>
          </p:cNvPr>
          <p:cNvSpPr txBox="1"/>
          <p:nvPr/>
        </p:nvSpPr>
        <p:spPr>
          <a:xfrm>
            <a:off x="7133147" y="4005064"/>
            <a:ext cx="577798" cy="21602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dirty="0"/>
              <a:t>Decoder</a:t>
            </a:r>
            <a:endParaRPr lang="zh-TW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90CFA3-C618-D7BB-6CC6-0F59509E57D2}"/>
              </a:ext>
            </a:extLst>
          </p:cNvPr>
          <p:cNvSpPr/>
          <p:nvPr/>
        </p:nvSpPr>
        <p:spPr>
          <a:xfrm>
            <a:off x="5236384" y="3761040"/>
            <a:ext cx="1826222" cy="1428406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000"/>
              </a:lnSpc>
            </a:pPr>
            <a:endParaRPr lang="en-US" altLang="zh-TW" sz="1600" b="1" baseline="-25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F468A7-1820-9A81-4393-E17EDDD2F8CC}"/>
              </a:ext>
            </a:extLst>
          </p:cNvPr>
          <p:cNvSpPr/>
          <p:nvPr/>
        </p:nvSpPr>
        <p:spPr>
          <a:xfrm>
            <a:off x="5622713" y="3879758"/>
            <a:ext cx="1152128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Multi-Head</a:t>
            </a:r>
          </a:p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Attention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66C18A-8DBF-C0B5-D0AA-F4A8778DADD0}"/>
              </a:ext>
            </a:extLst>
          </p:cNvPr>
          <p:cNvSpPr/>
          <p:nvPr/>
        </p:nvSpPr>
        <p:spPr>
          <a:xfrm>
            <a:off x="5622713" y="4475470"/>
            <a:ext cx="1152128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FFN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3C5BA-B285-945D-3883-425368E5B507}"/>
              </a:ext>
            </a:extLst>
          </p:cNvPr>
          <p:cNvSpPr/>
          <p:nvPr/>
        </p:nvSpPr>
        <p:spPr>
          <a:xfrm>
            <a:off x="5622713" y="5398873"/>
            <a:ext cx="1152128" cy="1903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Linear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139155D-0E18-F31A-4BD0-2ACDA46C5655}"/>
              </a:ext>
            </a:extLst>
          </p:cNvPr>
          <p:cNvSpPr/>
          <p:nvPr/>
        </p:nvSpPr>
        <p:spPr>
          <a:xfrm>
            <a:off x="5619054" y="3236095"/>
            <a:ext cx="1152128" cy="264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TE + PE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9B0BC2E-8926-89A3-5C06-95AACD85563D}"/>
              </a:ext>
            </a:extLst>
          </p:cNvPr>
          <p:cNvSpPr/>
          <p:nvPr/>
        </p:nvSpPr>
        <p:spPr>
          <a:xfrm>
            <a:off x="5910478" y="2227983"/>
            <a:ext cx="504056" cy="264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SigLIP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10313E0-E91F-DA74-7004-459B37469F28}"/>
              </a:ext>
            </a:extLst>
          </p:cNvPr>
          <p:cNvSpPr/>
          <p:nvPr/>
        </p:nvSpPr>
        <p:spPr>
          <a:xfrm>
            <a:off x="5330155" y="2779366"/>
            <a:ext cx="508582" cy="397370"/>
          </a:xfrm>
          <a:prstGeom prst="rect">
            <a:avLst/>
          </a:prstGeom>
          <a:solidFill>
            <a:schemeClr val="bg1">
              <a:alpha val="9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Sub-word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token</a:t>
            </a:r>
            <a:endParaRPr lang="zh-TW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65C46A5-FA75-B980-D193-F7FFDDFB7C08}"/>
              </a:ext>
            </a:extLst>
          </p:cNvPr>
          <p:cNvSpPr/>
          <p:nvPr/>
        </p:nvSpPr>
        <p:spPr>
          <a:xfrm>
            <a:off x="5910745" y="2779366"/>
            <a:ext cx="508582" cy="397370"/>
          </a:xfrm>
          <a:prstGeom prst="rect">
            <a:avLst/>
          </a:prstGeom>
          <a:solidFill>
            <a:schemeClr val="bg1">
              <a:alpha val="9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Visual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token</a:t>
            </a:r>
            <a:endParaRPr lang="zh-TW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60727C0-C806-4AD6-A445-AA466FB2249F}"/>
              </a:ext>
            </a:extLst>
          </p:cNvPr>
          <p:cNvSpPr/>
          <p:nvPr/>
        </p:nvSpPr>
        <p:spPr>
          <a:xfrm>
            <a:off x="6486809" y="2779366"/>
            <a:ext cx="508582" cy="397370"/>
          </a:xfrm>
          <a:prstGeom prst="rect">
            <a:avLst/>
          </a:prstGeom>
          <a:solidFill>
            <a:schemeClr val="bg1">
              <a:alpha val="9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Audio</a:t>
            </a:r>
          </a:p>
          <a:p>
            <a:pPr algn="ctr"/>
            <a:r>
              <a:rPr lang="en-US" altLang="zh-TW" sz="1000" dirty="0">
                <a:solidFill>
                  <a:schemeClr val="tx1"/>
                </a:solidFill>
              </a:rPr>
              <a:t>token</a:t>
            </a:r>
            <a:endParaRPr lang="zh-TW" altLang="en-US" sz="1000" dirty="0">
              <a:solidFill>
                <a:schemeClr val="tx1"/>
              </a:solidFill>
            </a:endParaRP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1728A9D2-9290-72CA-E53C-590A1472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083152"/>
            <a:ext cx="1290487" cy="64524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7DDD8DD2-093E-6E40-6CD2-B34CA8E5C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27" y="1052752"/>
            <a:ext cx="201958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28B88-7AA3-B71D-342A-4048CF7A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208750D-5CFB-BEE0-D169-AA0C5A786D8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3 Highlight </a:t>
            </a:r>
            <a:endParaRPr lang="en-US" altLang="zh-TW" sz="2800" dirty="0"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2240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1A7D37EB-7260-5EE5-CFCC-9F3D3BBA2B2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Gemma 4 Overview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FAA0BB-7779-DF55-C2B5-6A404772F154}"/>
              </a:ext>
            </a:extLst>
          </p:cNvPr>
          <p:cNvSpPr txBox="1"/>
          <p:nvPr/>
        </p:nvSpPr>
        <p:spPr>
          <a:xfrm>
            <a:off x="7380312" y="116632"/>
            <a:ext cx="1694681" cy="117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GPT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Pretraining</a:t>
            </a:r>
            <a:endParaRPr lang="en-US" altLang="zh-TW" sz="1400" u="none" strike="noStrike" dirty="0">
              <a:effectLst/>
            </a:endParaRPr>
          </a:p>
          <a:p>
            <a:pPr marL="285750" marR="0" lvl="2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Distillation</a:t>
            </a:r>
          </a:p>
          <a:p>
            <a:pPr marL="285750" marR="0" lvl="2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t> Alignment</a:t>
            </a:r>
            <a:endParaRPr lang="en-US" altLang="zh-TW" sz="1400" dirty="0"/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Inferencing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Cloud vs Edge</a:t>
            </a:r>
            <a:endParaRPr lang="en-US" altLang="zh-TW" sz="1400" u="none" strike="noStrike" dirty="0">
              <a:effectLst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135B2E-EEC6-E246-846A-1EF62279E421}"/>
              </a:ext>
            </a:extLst>
          </p:cNvPr>
          <p:cNvSpPr txBox="1"/>
          <p:nvPr/>
        </p:nvSpPr>
        <p:spPr>
          <a:xfrm>
            <a:off x="213023" y="980728"/>
            <a:ext cx="8568952" cy="22467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000" b="1" u="none" strike="noStrike" dirty="0">
                <a:effectLst/>
              </a:rPr>
              <a:t>Features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Long Context Window</a:t>
            </a:r>
            <a:r>
              <a:rPr lang="en-US" altLang="zh-TW" sz="1600" dirty="0"/>
              <a:t>: More than 256K tokens.</a:t>
            </a:r>
            <a:endParaRPr lang="en-US" altLang="zh-TW" sz="1600" b="1" u="none" strike="noStrike" dirty="0">
              <a:effectLst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Native Unified / Encoder-Free</a:t>
            </a:r>
            <a:r>
              <a:rPr lang="en-US" altLang="zh-TW" sz="1600" u="none" strike="noStrike" dirty="0">
                <a:effectLst/>
              </a:rPr>
              <a:t>: Remove the image encoder (SigLIP).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Structured Thinking</a:t>
            </a:r>
            <a:r>
              <a:rPr lang="en-US" altLang="zh-TW" sz="1600" dirty="0"/>
              <a:t>: M?.</a:t>
            </a:r>
            <a:endParaRPr lang="en-US" altLang="zh-TW" sz="1600" b="1" u="none" strike="noStrike" dirty="0">
              <a:effectLst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Single Chip</a:t>
            </a:r>
            <a:r>
              <a:rPr lang="en-US" altLang="zh-TW" sz="1600" u="none" strike="noStrike" dirty="0">
                <a:effectLst/>
              </a:rPr>
              <a:t>: </a:t>
            </a:r>
            <a:r>
              <a:rPr lang="en-US" altLang="zh-TW" sz="1600" dirty="0"/>
              <a:t>I</a:t>
            </a:r>
            <a:r>
              <a:rPr lang="en-US" altLang="zh-TW" sz="1600" b="0" u="none" strike="noStrike" dirty="0">
                <a:effectLst/>
              </a:rPr>
              <a:t>nference by only one GPU or TPU.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Per-Layer Embeddings (PLE):</a:t>
            </a:r>
            <a:r>
              <a:rPr lang="en-US" altLang="zh-TW" sz="1600" dirty="0"/>
              <a:t>: .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70DC3E0-A9BD-E0C6-9AF7-57F236AC3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23837"/>
              </p:ext>
            </p:extLst>
          </p:nvPr>
        </p:nvGraphicFramePr>
        <p:xfrm>
          <a:off x="351199" y="4221088"/>
          <a:ext cx="8225579" cy="2003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449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5393863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54310234"/>
                    </a:ext>
                  </a:extLst>
                </a:gridCol>
                <a:gridCol w="620402">
                  <a:extLst>
                    <a:ext uri="{9D8B030D-6E8A-4147-A177-3AD203B41FA5}">
                      <a16:colId xmlns:a16="http://schemas.microsoft.com/office/drawing/2014/main" val="3929653818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  <a:p>
                      <a:pPr algn="ctr"/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Version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FP16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SFP8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Q4_0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Mobile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Text</a:t>
                      </a:r>
                    </a:p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Only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E2B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11.4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5.7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2.9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1.1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0.84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E4B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17.9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8.9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4.5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2.5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2.2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26.7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13.4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6.7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26B A4B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57.7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28.8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14.4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69.9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34.9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17.5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71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FE66-60E4-CAE7-B48E-D43A9C24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621033B1-FD4B-EB3F-A072-643EF25F1EB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Gemma 4 Architecture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5D7A9B25-8467-3B09-E346-049993962FA0}"/>
              </a:ext>
            </a:extLst>
          </p:cNvPr>
          <p:cNvGrpSpPr/>
          <p:nvPr/>
        </p:nvGrpSpPr>
        <p:grpSpPr>
          <a:xfrm>
            <a:off x="1835696" y="1196752"/>
            <a:ext cx="1310140" cy="4410291"/>
            <a:chOff x="1473034" y="1196752"/>
            <a:chExt cx="1310140" cy="4410291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8FE5E1F0-4507-2709-72C4-FBC1F3D5EE4F}"/>
                </a:ext>
              </a:extLst>
            </p:cNvPr>
            <p:cNvSpPr txBox="1"/>
            <p:nvPr/>
          </p:nvSpPr>
          <p:spPr>
            <a:xfrm>
              <a:off x="1579214" y="1196752"/>
              <a:ext cx="1104790" cy="280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zh-TW" altLang="zh-TW" dirty="0"/>
                <a:t>E</a:t>
              </a:r>
              <a:r>
                <a:rPr lang="en-US" altLang="zh-TW" dirty="0"/>
                <a:t>2B</a:t>
              </a:r>
              <a:r>
                <a:rPr lang="zh-TW" altLang="en-US" dirty="0"/>
                <a:t> </a:t>
              </a:r>
              <a:r>
                <a:rPr lang="en-US" altLang="zh-TW" dirty="0"/>
                <a:t>|</a:t>
              </a:r>
              <a:r>
                <a:rPr lang="zh-TW" altLang="en-US" dirty="0"/>
                <a:t> </a:t>
              </a:r>
              <a:r>
                <a:rPr lang="en-US" altLang="zh-TW" dirty="0"/>
                <a:t>E4B</a:t>
              </a:r>
              <a:endParaRPr lang="zh-TW" altLang="en-US" dirty="0"/>
            </a:p>
          </p:txBody>
        </p:sp>
        <p:sp>
          <p:nvSpPr>
            <p:cNvPr id="100" name="矩形: 圓角 99">
              <a:extLst>
                <a:ext uri="{FF2B5EF4-FFF2-40B4-BE49-F238E27FC236}">
                  <a16:creationId xmlns:a16="http://schemas.microsoft.com/office/drawing/2014/main" id="{7FDED451-8F6A-446D-1B14-B4E0156FD4D3}"/>
                </a:ext>
              </a:extLst>
            </p:cNvPr>
            <p:cNvSpPr/>
            <p:nvPr/>
          </p:nvSpPr>
          <p:spPr>
            <a:xfrm>
              <a:off x="1474380" y="1628800"/>
              <a:ext cx="1308794" cy="205743"/>
            </a:xfrm>
            <a:prstGeom prst="roundRect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Tiny</a:t>
              </a:r>
              <a:r>
                <a:rPr lang="en-US" altLang="zh-TW" sz="1400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</a:t>
              </a:r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models</a:t>
              </a:r>
              <a:r>
                <a:rPr lang="en-US" altLang="zh-TW" sz="1400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</a:t>
              </a:r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are</a:t>
              </a:r>
              <a:endParaRPr lang="zh-TW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13CCC5A4-D14B-5680-4041-1FA181265AEA}"/>
                </a:ext>
              </a:extLst>
            </p:cNvPr>
            <p:cNvGrpSpPr/>
            <p:nvPr/>
          </p:nvGrpSpPr>
          <p:grpSpPr>
            <a:xfrm>
              <a:off x="1473034" y="2060848"/>
              <a:ext cx="1310140" cy="3245081"/>
              <a:chOff x="1473034" y="2060848"/>
              <a:chExt cx="1310140" cy="3245081"/>
            </a:xfrm>
          </p:grpSpPr>
          <p:sp>
            <p:nvSpPr>
              <p:cNvPr id="55" name="矩形: 圓角 54">
                <a:extLst>
                  <a:ext uri="{FF2B5EF4-FFF2-40B4-BE49-F238E27FC236}">
                    <a16:creationId xmlns:a16="http://schemas.microsoft.com/office/drawing/2014/main" id="{61356441-B1DA-3ADB-EAD9-6303F990BAB9}"/>
                  </a:ext>
                </a:extLst>
              </p:cNvPr>
              <p:cNvSpPr/>
              <p:nvPr/>
            </p:nvSpPr>
            <p:spPr>
              <a:xfrm>
                <a:off x="1619672" y="4486691"/>
                <a:ext cx="1028304" cy="24317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70000"/>
                </a:schemeClr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b="1" dirty="0">
                    <a:solidFill>
                      <a:schemeClr val="accent2">
                        <a:lumMod val="50000"/>
                      </a:schemeClr>
                    </a:solidFill>
                  </a:rPr>
                  <a:t>PLE</a:t>
                </a:r>
                <a:endParaRPr lang="zh-TW" altLang="en-US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矩形: 圓角 59">
                <a:extLst>
                  <a:ext uri="{FF2B5EF4-FFF2-40B4-BE49-F238E27FC236}">
                    <a16:creationId xmlns:a16="http://schemas.microsoft.com/office/drawing/2014/main" id="{5016B45E-114D-E8BD-9EE1-4B3C5A0D4B8C}"/>
                  </a:ext>
                </a:extLst>
              </p:cNvPr>
              <p:cNvSpPr/>
              <p:nvPr/>
            </p:nvSpPr>
            <p:spPr>
              <a:xfrm>
                <a:off x="1606955" y="3163397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Attention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1" name="矩形: 圓角 60">
                <a:extLst>
                  <a:ext uri="{FF2B5EF4-FFF2-40B4-BE49-F238E27FC236}">
                    <a16:creationId xmlns:a16="http://schemas.microsoft.com/office/drawing/2014/main" id="{EAAF1AF3-F61B-22E1-64D4-AB6882B54946}"/>
                  </a:ext>
                </a:extLst>
              </p:cNvPr>
              <p:cNvSpPr/>
              <p:nvPr/>
            </p:nvSpPr>
            <p:spPr>
              <a:xfrm>
                <a:off x="1606955" y="2851682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RMS Norm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2" name="矩形: 圓角 61">
                <a:extLst>
                  <a:ext uri="{FF2B5EF4-FFF2-40B4-BE49-F238E27FC236}">
                    <a16:creationId xmlns:a16="http://schemas.microsoft.com/office/drawing/2014/main" id="{F27226A8-618A-460B-F7B0-9A91FD798FE0}"/>
                  </a:ext>
                </a:extLst>
              </p:cNvPr>
              <p:cNvSpPr/>
              <p:nvPr/>
            </p:nvSpPr>
            <p:spPr>
              <a:xfrm>
                <a:off x="1606955" y="4027493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Dense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7" name="矩形: 圓角 66">
                <a:extLst>
                  <a:ext uri="{FF2B5EF4-FFF2-40B4-BE49-F238E27FC236}">
                    <a16:creationId xmlns:a16="http://schemas.microsoft.com/office/drawing/2014/main" id="{446D0A23-CFB0-77CF-6681-193B02CD4BC2}"/>
                  </a:ext>
                </a:extLst>
              </p:cNvPr>
              <p:cNvSpPr/>
              <p:nvPr/>
            </p:nvSpPr>
            <p:spPr>
              <a:xfrm>
                <a:off x="1606955" y="3694603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RMS Norm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EDC9D96B-FA70-8B28-F060-321A9F715380}"/>
                  </a:ext>
                </a:extLst>
              </p:cNvPr>
              <p:cNvSpPr/>
              <p:nvPr/>
            </p:nvSpPr>
            <p:spPr>
              <a:xfrm>
                <a:off x="1473034" y="2614483"/>
                <a:ext cx="1310140" cy="1797695"/>
              </a:xfrm>
              <a:prstGeom prst="rect">
                <a:avLst/>
              </a:prstGeom>
              <a:noFill/>
              <a:ln w="19050">
                <a:solidFill>
                  <a:schemeClr val="accent5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91440" bIns="0" rtlCol="0" anchor="t" anchorCtr="0"/>
              <a:lstStyle/>
              <a:p>
                <a:pPr algn="r"/>
                <a:r>
                  <a:rPr lang="en-US" altLang="zh-TW" sz="1200" b="1" dirty="0">
                    <a:solidFill>
                      <a:schemeClr val="tx1"/>
                    </a:solidFill>
                  </a:rPr>
                  <a:t>Decoder</a:t>
                </a:r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3" name="接點: 肘形 72">
                <a:extLst>
                  <a:ext uri="{FF2B5EF4-FFF2-40B4-BE49-F238E27FC236}">
                    <a16:creationId xmlns:a16="http://schemas.microsoft.com/office/drawing/2014/main" id="{BB3A8C32-3EB2-F686-CAC5-BB82165F1204}"/>
                  </a:ext>
                </a:extLst>
              </p:cNvPr>
              <p:cNvCxnSpPr>
                <a:cxnSpLocks/>
                <a:stCxn id="55" idx="2"/>
                <a:endCxn id="68" idx="0"/>
              </p:cNvCxnSpPr>
              <p:nvPr/>
            </p:nvCxnSpPr>
            <p:spPr>
              <a:xfrm rot="5400000" flipH="1">
                <a:off x="1073273" y="3669314"/>
                <a:ext cx="2115382" cy="5720"/>
              </a:xfrm>
              <a:prstGeom prst="bentConnector5">
                <a:avLst>
                  <a:gd name="adj1" fmla="val -10807"/>
                  <a:gd name="adj2" fmla="val 15548776"/>
                  <a:gd name="adj3" fmla="val 110807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單箭頭接點 86">
                <a:extLst>
                  <a:ext uri="{FF2B5EF4-FFF2-40B4-BE49-F238E27FC236}">
                    <a16:creationId xmlns:a16="http://schemas.microsoft.com/office/drawing/2014/main" id="{63FC822F-BBDF-C96A-17A9-7AD6F755BD97}"/>
                  </a:ext>
                </a:extLst>
              </p:cNvPr>
              <p:cNvCxnSpPr>
                <a:stCxn id="60" idx="2"/>
                <a:endCxn id="67" idx="0"/>
              </p:cNvCxnSpPr>
              <p:nvPr/>
            </p:nvCxnSpPr>
            <p:spPr>
              <a:xfrm>
                <a:off x="2121107" y="3406571"/>
                <a:ext cx="0" cy="2880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單箭頭接點 87">
                <a:extLst>
                  <a:ext uri="{FF2B5EF4-FFF2-40B4-BE49-F238E27FC236}">
                    <a16:creationId xmlns:a16="http://schemas.microsoft.com/office/drawing/2014/main" id="{3D72D62E-80EC-57FB-06BC-90D556BA0ECA}"/>
                  </a:ext>
                </a:extLst>
              </p:cNvPr>
              <p:cNvCxnSpPr>
                <a:cxnSpLocks/>
                <a:stCxn id="68" idx="0"/>
                <a:endCxn id="61" idx="0"/>
              </p:cNvCxnSpPr>
              <p:nvPr/>
            </p:nvCxnSpPr>
            <p:spPr>
              <a:xfrm flipH="1">
                <a:off x="2121107" y="2614483"/>
                <a:ext cx="6997" cy="2371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: 圓角 98">
                <a:extLst>
                  <a:ext uri="{FF2B5EF4-FFF2-40B4-BE49-F238E27FC236}">
                    <a16:creationId xmlns:a16="http://schemas.microsoft.com/office/drawing/2014/main" id="{881310D7-8296-869F-341C-281D4F2B10A5}"/>
                  </a:ext>
                </a:extLst>
              </p:cNvPr>
              <p:cNvSpPr/>
              <p:nvPr/>
            </p:nvSpPr>
            <p:spPr>
              <a:xfrm>
                <a:off x="1619672" y="2060848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Tokenizer</a:t>
                </a:r>
                <a:endParaRPr lang="zh-TW" alt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" name="矩形: 圓角 101">
                <a:extLst>
                  <a:ext uri="{FF2B5EF4-FFF2-40B4-BE49-F238E27FC236}">
                    <a16:creationId xmlns:a16="http://schemas.microsoft.com/office/drawing/2014/main" id="{DC949A37-E7DC-E21F-C0D1-12CF26477043}"/>
                  </a:ext>
                </a:extLst>
              </p:cNvPr>
              <p:cNvSpPr/>
              <p:nvPr/>
            </p:nvSpPr>
            <p:spPr>
              <a:xfrm>
                <a:off x="1614625" y="5062755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Linear, SM</a:t>
                </a:r>
                <a:endParaRPr lang="zh-TW" alt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06" name="矩形: 圓角 105">
              <a:extLst>
                <a:ext uri="{FF2B5EF4-FFF2-40B4-BE49-F238E27FC236}">
                  <a16:creationId xmlns:a16="http://schemas.microsoft.com/office/drawing/2014/main" id="{FF1A4766-120F-EEDC-A210-B9D7EE35980C}"/>
                </a:ext>
              </a:extLst>
            </p:cNvPr>
            <p:cNvSpPr/>
            <p:nvPr/>
          </p:nvSpPr>
          <p:spPr>
            <a:xfrm>
              <a:off x="1664019" y="5401299"/>
              <a:ext cx="914176" cy="205744"/>
            </a:xfrm>
            <a:prstGeom prst="roundRect">
              <a:avLst>
                <a:gd name="adj" fmla="val 29689"/>
              </a:avLst>
            </a:prstGeom>
            <a:solidFill>
              <a:srgbClr val="FFFF0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cs typeface="ADLaM Display" panose="02010000000000000000" pitchFamily="2" charset="0"/>
                </a:rPr>
                <a:t>efficient</a:t>
              </a:r>
              <a:endParaRPr lang="zh-TW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65EBA2E8-16EC-3A46-D66A-987C3901716B}"/>
              </a:ext>
            </a:extLst>
          </p:cNvPr>
          <p:cNvGrpSpPr/>
          <p:nvPr/>
        </p:nvGrpSpPr>
        <p:grpSpPr>
          <a:xfrm>
            <a:off x="3765916" y="1201393"/>
            <a:ext cx="1310140" cy="4405650"/>
            <a:chOff x="3849298" y="1201393"/>
            <a:chExt cx="1310140" cy="4405650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3F52AA91-A73D-ADB6-95F2-020FAF6419D5}"/>
                </a:ext>
              </a:extLst>
            </p:cNvPr>
            <p:cNvSpPr txBox="1"/>
            <p:nvPr/>
          </p:nvSpPr>
          <p:spPr>
            <a:xfrm>
              <a:off x="4233171" y="1201393"/>
              <a:ext cx="543739" cy="280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en-US" altLang="zh-TW" dirty="0"/>
                <a:t>31B</a:t>
              </a:r>
              <a:endParaRPr lang="zh-TW" altLang="en-US" dirty="0"/>
            </a:p>
          </p:txBody>
        </p:sp>
        <p:sp>
          <p:nvSpPr>
            <p:cNvPr id="103" name="矩形: 圓角 102">
              <a:extLst>
                <a:ext uri="{FF2B5EF4-FFF2-40B4-BE49-F238E27FC236}">
                  <a16:creationId xmlns:a16="http://schemas.microsoft.com/office/drawing/2014/main" id="{75B6E067-45CE-B85B-0CAA-A43833E04B97}"/>
                </a:ext>
              </a:extLst>
            </p:cNvPr>
            <p:cNvSpPr/>
            <p:nvPr/>
          </p:nvSpPr>
          <p:spPr>
            <a:xfrm>
              <a:off x="4056480" y="5401299"/>
              <a:ext cx="914176" cy="205744"/>
            </a:xfrm>
            <a:prstGeom prst="roundRect">
              <a:avLst>
                <a:gd name="adj" fmla="val 29689"/>
              </a:avLst>
            </a:prstGeom>
            <a:solidFill>
              <a:srgbClr val="FFFF0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cs typeface="ADLaM Display" panose="02010000000000000000" pitchFamily="2" charset="0"/>
                </a:rPr>
                <a:t>strong</a:t>
              </a:r>
              <a:endParaRPr lang="zh-TW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grpSp>
          <p:nvGrpSpPr>
            <p:cNvPr id="148" name="群組 147">
              <a:extLst>
                <a:ext uri="{FF2B5EF4-FFF2-40B4-BE49-F238E27FC236}">
                  <a16:creationId xmlns:a16="http://schemas.microsoft.com/office/drawing/2014/main" id="{543C449C-D430-6EC4-6652-1406BB5D40CD}"/>
                </a:ext>
              </a:extLst>
            </p:cNvPr>
            <p:cNvGrpSpPr/>
            <p:nvPr/>
          </p:nvGrpSpPr>
          <p:grpSpPr>
            <a:xfrm>
              <a:off x="3849298" y="2060848"/>
              <a:ext cx="1310140" cy="3245081"/>
              <a:chOff x="3849298" y="2060848"/>
              <a:chExt cx="1310140" cy="3245081"/>
            </a:xfrm>
          </p:grpSpPr>
          <p:sp>
            <p:nvSpPr>
              <p:cNvPr id="108" name="矩形: 圓角 107">
                <a:extLst>
                  <a:ext uri="{FF2B5EF4-FFF2-40B4-BE49-F238E27FC236}">
                    <a16:creationId xmlns:a16="http://schemas.microsoft.com/office/drawing/2014/main" id="{81D65B75-1C95-0AA1-A90B-F98320248AB8}"/>
                  </a:ext>
                </a:extLst>
              </p:cNvPr>
              <p:cNvSpPr/>
              <p:nvPr/>
            </p:nvSpPr>
            <p:spPr>
              <a:xfrm>
                <a:off x="3983219" y="3163397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Attention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" name="矩形: 圓角 108">
                <a:extLst>
                  <a:ext uri="{FF2B5EF4-FFF2-40B4-BE49-F238E27FC236}">
                    <a16:creationId xmlns:a16="http://schemas.microsoft.com/office/drawing/2014/main" id="{B1A0C47A-43B4-48C9-5DDE-799140A31BBB}"/>
                  </a:ext>
                </a:extLst>
              </p:cNvPr>
              <p:cNvSpPr/>
              <p:nvPr/>
            </p:nvSpPr>
            <p:spPr>
              <a:xfrm>
                <a:off x="3983219" y="2851682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RMS Norm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" name="矩形: 圓角 109">
                <a:extLst>
                  <a:ext uri="{FF2B5EF4-FFF2-40B4-BE49-F238E27FC236}">
                    <a16:creationId xmlns:a16="http://schemas.microsoft.com/office/drawing/2014/main" id="{8786C929-30C5-9F6A-57FF-D524059DA39C}"/>
                  </a:ext>
                </a:extLst>
              </p:cNvPr>
              <p:cNvSpPr/>
              <p:nvPr/>
            </p:nvSpPr>
            <p:spPr>
              <a:xfrm>
                <a:off x="3983219" y="4027493"/>
                <a:ext cx="1028304" cy="24317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2">
                        <a:lumMod val="50000"/>
                      </a:schemeClr>
                    </a:solidFill>
                  </a:rPr>
                  <a:t>Dense</a:t>
                </a:r>
                <a:endParaRPr lang="zh-TW" altLang="en-US" sz="14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1" name="矩形: 圓角 110">
                <a:extLst>
                  <a:ext uri="{FF2B5EF4-FFF2-40B4-BE49-F238E27FC236}">
                    <a16:creationId xmlns:a16="http://schemas.microsoft.com/office/drawing/2014/main" id="{FA5DE809-863D-1BD6-5A79-6527343088E6}"/>
                  </a:ext>
                </a:extLst>
              </p:cNvPr>
              <p:cNvSpPr/>
              <p:nvPr/>
            </p:nvSpPr>
            <p:spPr>
              <a:xfrm>
                <a:off x="3983219" y="3694603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RMS Norm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954CA58C-ECA8-D0E6-96F1-F93BBFB1B144}"/>
                  </a:ext>
                </a:extLst>
              </p:cNvPr>
              <p:cNvSpPr/>
              <p:nvPr/>
            </p:nvSpPr>
            <p:spPr>
              <a:xfrm>
                <a:off x="3849298" y="2614483"/>
                <a:ext cx="1310140" cy="1797695"/>
              </a:xfrm>
              <a:prstGeom prst="rect">
                <a:avLst/>
              </a:prstGeom>
              <a:noFill/>
              <a:ln w="19050">
                <a:solidFill>
                  <a:schemeClr val="accent5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91440" bIns="0" rtlCol="0" anchor="t" anchorCtr="0"/>
              <a:lstStyle/>
              <a:p>
                <a:pPr algn="r"/>
                <a:r>
                  <a:rPr lang="en-US" altLang="zh-TW" sz="1200" b="1" dirty="0">
                    <a:solidFill>
                      <a:schemeClr val="tx1"/>
                    </a:solidFill>
                  </a:rPr>
                  <a:t>Decoder</a:t>
                </a:r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3" name="接點: 肘形 112">
                <a:extLst>
                  <a:ext uri="{FF2B5EF4-FFF2-40B4-BE49-F238E27FC236}">
                    <a16:creationId xmlns:a16="http://schemas.microsoft.com/office/drawing/2014/main" id="{EEAA8209-2A30-345D-A2F2-A445B86656F8}"/>
                  </a:ext>
                </a:extLst>
              </p:cNvPr>
              <p:cNvCxnSpPr>
                <a:cxnSpLocks/>
                <a:stCxn id="110" idx="2"/>
                <a:endCxn id="112" idx="0"/>
              </p:cNvCxnSpPr>
              <p:nvPr/>
            </p:nvCxnSpPr>
            <p:spPr>
              <a:xfrm rot="5400000" flipH="1" flipV="1">
                <a:off x="3672777" y="3439076"/>
                <a:ext cx="1656184" cy="6997"/>
              </a:xfrm>
              <a:prstGeom prst="bentConnector5">
                <a:avLst>
                  <a:gd name="adj1" fmla="val -13803"/>
                  <a:gd name="adj2" fmla="val 12729270"/>
                  <a:gd name="adj3" fmla="val 113803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單箭頭接點 113">
                <a:extLst>
                  <a:ext uri="{FF2B5EF4-FFF2-40B4-BE49-F238E27FC236}">
                    <a16:creationId xmlns:a16="http://schemas.microsoft.com/office/drawing/2014/main" id="{8364B025-C4C5-AB69-EE31-E3027A430931}"/>
                  </a:ext>
                </a:extLst>
              </p:cNvPr>
              <p:cNvCxnSpPr>
                <a:stCxn id="108" idx="2"/>
                <a:endCxn id="111" idx="0"/>
              </p:cNvCxnSpPr>
              <p:nvPr/>
            </p:nvCxnSpPr>
            <p:spPr>
              <a:xfrm>
                <a:off x="4497371" y="3406571"/>
                <a:ext cx="0" cy="2880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線單箭頭接點 114">
                <a:extLst>
                  <a:ext uri="{FF2B5EF4-FFF2-40B4-BE49-F238E27FC236}">
                    <a16:creationId xmlns:a16="http://schemas.microsoft.com/office/drawing/2014/main" id="{ADE31BC4-90E6-6D3F-59D3-813D286D61C0}"/>
                  </a:ext>
                </a:extLst>
              </p:cNvPr>
              <p:cNvCxnSpPr>
                <a:cxnSpLocks/>
                <a:stCxn id="112" idx="0"/>
                <a:endCxn id="109" idx="0"/>
              </p:cNvCxnSpPr>
              <p:nvPr/>
            </p:nvCxnSpPr>
            <p:spPr>
              <a:xfrm flipH="1">
                <a:off x="4497371" y="2614483"/>
                <a:ext cx="6997" cy="2371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矩形: 圓角 115">
                <a:extLst>
                  <a:ext uri="{FF2B5EF4-FFF2-40B4-BE49-F238E27FC236}">
                    <a16:creationId xmlns:a16="http://schemas.microsoft.com/office/drawing/2014/main" id="{30DF811A-5FC0-52F5-F149-597ED05963C1}"/>
                  </a:ext>
                </a:extLst>
              </p:cNvPr>
              <p:cNvSpPr/>
              <p:nvPr/>
            </p:nvSpPr>
            <p:spPr>
              <a:xfrm>
                <a:off x="3995936" y="2060848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Tokenizer</a:t>
                </a:r>
                <a:endParaRPr lang="zh-TW" alt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7" name="矩形: 圓角 116">
                <a:extLst>
                  <a:ext uri="{FF2B5EF4-FFF2-40B4-BE49-F238E27FC236}">
                    <a16:creationId xmlns:a16="http://schemas.microsoft.com/office/drawing/2014/main" id="{88C2B72B-1941-C2E9-CCDE-0E6EBA4C6A0E}"/>
                  </a:ext>
                </a:extLst>
              </p:cNvPr>
              <p:cNvSpPr/>
              <p:nvPr/>
            </p:nvSpPr>
            <p:spPr>
              <a:xfrm>
                <a:off x="3990889" y="5062755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Linear, SM</a:t>
                </a:r>
                <a:endParaRPr lang="zh-TW" alt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32" name="矩形: 圓角 131">
              <a:extLst>
                <a:ext uri="{FF2B5EF4-FFF2-40B4-BE49-F238E27FC236}">
                  <a16:creationId xmlns:a16="http://schemas.microsoft.com/office/drawing/2014/main" id="{BFD9E345-B80A-8E21-A3EB-86BEEE7EA026}"/>
                </a:ext>
              </a:extLst>
            </p:cNvPr>
            <p:cNvSpPr/>
            <p:nvPr/>
          </p:nvSpPr>
          <p:spPr>
            <a:xfrm>
              <a:off x="3850644" y="1628801"/>
              <a:ext cx="1308794" cy="205743"/>
            </a:xfrm>
            <a:prstGeom prst="roundRect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Tiny</a:t>
              </a:r>
              <a:r>
                <a:rPr lang="en-US" altLang="zh-TW" sz="1400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</a:t>
              </a:r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models</a:t>
              </a:r>
              <a:r>
                <a:rPr lang="en-US" altLang="zh-TW" sz="1400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</a:t>
              </a:r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are</a:t>
              </a:r>
              <a:endParaRPr lang="zh-TW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44A0B88C-90C5-45C8-77ED-D51E0DC93E47}"/>
              </a:ext>
            </a:extLst>
          </p:cNvPr>
          <p:cNvGrpSpPr/>
          <p:nvPr/>
        </p:nvGrpSpPr>
        <p:grpSpPr>
          <a:xfrm>
            <a:off x="5783486" y="1196752"/>
            <a:ext cx="1308794" cy="4410291"/>
            <a:chOff x="6802972" y="1196752"/>
            <a:chExt cx="1308794" cy="441029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BDFCCEC8-F9EA-2CE2-81B4-209FFFA8A01A}"/>
                </a:ext>
              </a:extLst>
            </p:cNvPr>
            <p:cNvSpPr txBox="1"/>
            <p:nvPr/>
          </p:nvSpPr>
          <p:spPr>
            <a:xfrm>
              <a:off x="6962972" y="1196752"/>
              <a:ext cx="971741" cy="280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en-US" altLang="zh-TW" dirty="0"/>
                <a:t>26B</a:t>
              </a:r>
              <a:r>
                <a:rPr lang="zh-TW" altLang="en-US" dirty="0"/>
                <a:t> </a:t>
              </a:r>
              <a:r>
                <a:rPr lang="en-US" altLang="zh-TW" dirty="0"/>
                <a:t>A4B</a:t>
              </a:r>
              <a:endParaRPr lang="zh-TW" altLang="en-US" dirty="0"/>
            </a:p>
          </p:txBody>
        </p:sp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914518BF-4D90-6E22-6D1D-F6151E3C3E6B}"/>
                </a:ext>
              </a:extLst>
            </p:cNvPr>
            <p:cNvGrpSpPr/>
            <p:nvPr/>
          </p:nvGrpSpPr>
          <p:grpSpPr>
            <a:xfrm>
              <a:off x="6802972" y="2060848"/>
              <a:ext cx="1308794" cy="3245081"/>
              <a:chOff x="6802972" y="2060848"/>
              <a:chExt cx="1308794" cy="3245081"/>
            </a:xfrm>
          </p:grpSpPr>
          <p:sp>
            <p:nvSpPr>
              <p:cNvPr id="119" name="矩形: 圓角 118">
                <a:extLst>
                  <a:ext uri="{FF2B5EF4-FFF2-40B4-BE49-F238E27FC236}">
                    <a16:creationId xmlns:a16="http://schemas.microsoft.com/office/drawing/2014/main" id="{68D4254A-F22C-4427-B75E-6C46E56E92BA}"/>
                  </a:ext>
                </a:extLst>
              </p:cNvPr>
              <p:cNvSpPr/>
              <p:nvPr/>
            </p:nvSpPr>
            <p:spPr>
              <a:xfrm>
                <a:off x="6935547" y="3163397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Attention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0" name="矩形: 圓角 119">
                <a:extLst>
                  <a:ext uri="{FF2B5EF4-FFF2-40B4-BE49-F238E27FC236}">
                    <a16:creationId xmlns:a16="http://schemas.microsoft.com/office/drawing/2014/main" id="{09CB361F-5F83-C5B1-3CD2-BC96CAAE3787}"/>
                  </a:ext>
                </a:extLst>
              </p:cNvPr>
              <p:cNvSpPr/>
              <p:nvPr/>
            </p:nvSpPr>
            <p:spPr>
              <a:xfrm>
                <a:off x="6935547" y="2851682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RMS Norm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1" name="矩形: 圓角 120">
                <a:extLst>
                  <a:ext uri="{FF2B5EF4-FFF2-40B4-BE49-F238E27FC236}">
                    <a16:creationId xmlns:a16="http://schemas.microsoft.com/office/drawing/2014/main" id="{C059B1DF-F859-05CF-02DD-BCF6FFE6EAC8}"/>
                  </a:ext>
                </a:extLst>
              </p:cNvPr>
              <p:cNvSpPr/>
              <p:nvPr/>
            </p:nvSpPr>
            <p:spPr>
              <a:xfrm>
                <a:off x="6935547" y="4027493"/>
                <a:ext cx="1028304" cy="24317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 err="1">
                    <a:solidFill>
                      <a:schemeClr val="accent2">
                        <a:lumMod val="50000"/>
                      </a:schemeClr>
                    </a:solidFill>
                  </a:rPr>
                  <a:t>MoE</a:t>
                </a:r>
                <a:endParaRPr lang="zh-TW" altLang="en-US" sz="14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2" name="矩形: 圓角 121">
                <a:extLst>
                  <a:ext uri="{FF2B5EF4-FFF2-40B4-BE49-F238E27FC236}">
                    <a16:creationId xmlns:a16="http://schemas.microsoft.com/office/drawing/2014/main" id="{28F14AED-9A2A-B96B-438E-CAB09C6EC09E}"/>
                  </a:ext>
                </a:extLst>
              </p:cNvPr>
              <p:cNvSpPr/>
              <p:nvPr/>
            </p:nvSpPr>
            <p:spPr>
              <a:xfrm>
                <a:off x="6935547" y="3694603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dirty="0">
                    <a:solidFill>
                      <a:schemeClr val="accent1">
                        <a:lumMod val="75000"/>
                      </a:schemeClr>
                    </a:solidFill>
                  </a:rPr>
                  <a:t>RMS Norm</a:t>
                </a:r>
                <a:endParaRPr lang="zh-TW" alt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C6649A89-BF96-006A-59D0-EA5169552E28}"/>
                  </a:ext>
                </a:extLst>
              </p:cNvPr>
              <p:cNvSpPr/>
              <p:nvPr/>
            </p:nvSpPr>
            <p:spPr>
              <a:xfrm>
                <a:off x="6802972" y="2614483"/>
                <a:ext cx="1308794" cy="1797695"/>
              </a:xfrm>
              <a:prstGeom prst="rect">
                <a:avLst/>
              </a:prstGeom>
              <a:noFill/>
              <a:ln w="19050">
                <a:solidFill>
                  <a:schemeClr val="accent5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91440" bIns="0" rtlCol="0" anchor="t" anchorCtr="0"/>
              <a:lstStyle/>
              <a:p>
                <a:pPr algn="r"/>
                <a:r>
                  <a:rPr lang="en-US" altLang="zh-TW" sz="1200" b="1" dirty="0">
                    <a:solidFill>
                      <a:schemeClr val="tx1"/>
                    </a:solidFill>
                  </a:rPr>
                  <a:t>Decoder</a:t>
                </a:r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4" name="接點: 肘形 123">
                <a:extLst>
                  <a:ext uri="{FF2B5EF4-FFF2-40B4-BE49-F238E27FC236}">
                    <a16:creationId xmlns:a16="http://schemas.microsoft.com/office/drawing/2014/main" id="{54BBA61F-933C-E302-2722-155492A374CD}"/>
                  </a:ext>
                </a:extLst>
              </p:cNvPr>
              <p:cNvCxnSpPr>
                <a:cxnSpLocks/>
                <a:stCxn id="121" idx="2"/>
                <a:endCxn id="123" idx="0"/>
              </p:cNvCxnSpPr>
              <p:nvPr/>
            </p:nvCxnSpPr>
            <p:spPr>
              <a:xfrm rot="5400000" flipH="1" flipV="1">
                <a:off x="6625442" y="3438740"/>
                <a:ext cx="1656184" cy="7670"/>
              </a:xfrm>
              <a:prstGeom prst="bentConnector5">
                <a:avLst>
                  <a:gd name="adj1" fmla="val -13803"/>
                  <a:gd name="adj2" fmla="val 11612347"/>
                  <a:gd name="adj3" fmla="val 113803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單箭頭接點 124">
                <a:extLst>
                  <a:ext uri="{FF2B5EF4-FFF2-40B4-BE49-F238E27FC236}">
                    <a16:creationId xmlns:a16="http://schemas.microsoft.com/office/drawing/2014/main" id="{2BD9A8CA-9389-393E-9448-914EF057A994}"/>
                  </a:ext>
                </a:extLst>
              </p:cNvPr>
              <p:cNvCxnSpPr>
                <a:stCxn id="119" idx="2"/>
                <a:endCxn id="122" idx="0"/>
              </p:cNvCxnSpPr>
              <p:nvPr/>
            </p:nvCxnSpPr>
            <p:spPr>
              <a:xfrm>
                <a:off x="7449699" y="3406571"/>
                <a:ext cx="0" cy="2880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線單箭頭接點 125">
                <a:extLst>
                  <a:ext uri="{FF2B5EF4-FFF2-40B4-BE49-F238E27FC236}">
                    <a16:creationId xmlns:a16="http://schemas.microsoft.com/office/drawing/2014/main" id="{678ADA3E-F566-DF55-2F67-868077547768}"/>
                  </a:ext>
                </a:extLst>
              </p:cNvPr>
              <p:cNvCxnSpPr>
                <a:cxnSpLocks/>
                <a:stCxn id="123" idx="0"/>
                <a:endCxn id="120" idx="0"/>
              </p:cNvCxnSpPr>
              <p:nvPr/>
            </p:nvCxnSpPr>
            <p:spPr>
              <a:xfrm flipH="1">
                <a:off x="7449699" y="2614483"/>
                <a:ext cx="7670" cy="2371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矩形: 圓角 126">
                <a:extLst>
                  <a:ext uri="{FF2B5EF4-FFF2-40B4-BE49-F238E27FC236}">
                    <a16:creationId xmlns:a16="http://schemas.microsoft.com/office/drawing/2014/main" id="{53C549A5-999E-64E3-9B66-C549447A4807}"/>
                  </a:ext>
                </a:extLst>
              </p:cNvPr>
              <p:cNvSpPr/>
              <p:nvPr/>
            </p:nvSpPr>
            <p:spPr>
              <a:xfrm>
                <a:off x="6948264" y="2060848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Tokenizer</a:t>
                </a:r>
                <a:endParaRPr lang="zh-TW" alt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8" name="矩形: 圓角 127">
                <a:extLst>
                  <a:ext uri="{FF2B5EF4-FFF2-40B4-BE49-F238E27FC236}">
                    <a16:creationId xmlns:a16="http://schemas.microsoft.com/office/drawing/2014/main" id="{798E2173-9DB8-9E98-4E1B-543E6352D905}"/>
                  </a:ext>
                </a:extLst>
              </p:cNvPr>
              <p:cNvSpPr/>
              <p:nvPr/>
            </p:nvSpPr>
            <p:spPr>
              <a:xfrm>
                <a:off x="6943217" y="5062755"/>
                <a:ext cx="1028304" cy="24317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Linear/SM</a:t>
                </a:r>
                <a:endParaRPr lang="zh-TW" alt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33" name="矩形: 圓角 132">
              <a:extLst>
                <a:ext uri="{FF2B5EF4-FFF2-40B4-BE49-F238E27FC236}">
                  <a16:creationId xmlns:a16="http://schemas.microsoft.com/office/drawing/2014/main" id="{4D690126-61CA-F258-22BB-2E940F65C604}"/>
                </a:ext>
              </a:extLst>
            </p:cNvPr>
            <p:cNvSpPr/>
            <p:nvPr/>
          </p:nvSpPr>
          <p:spPr>
            <a:xfrm>
              <a:off x="6802972" y="1630144"/>
              <a:ext cx="1308794" cy="205743"/>
            </a:xfrm>
            <a:prstGeom prst="roundRect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Tiny</a:t>
              </a:r>
              <a:r>
                <a:rPr lang="en-US" altLang="zh-TW" sz="1400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</a:t>
              </a:r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models</a:t>
              </a:r>
              <a:r>
                <a:rPr lang="en-US" altLang="zh-TW" sz="1400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 </a:t>
              </a:r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are</a:t>
              </a:r>
              <a:endParaRPr lang="zh-TW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50" name="矩形: 圓角 149">
              <a:extLst>
                <a:ext uri="{FF2B5EF4-FFF2-40B4-BE49-F238E27FC236}">
                  <a16:creationId xmlns:a16="http://schemas.microsoft.com/office/drawing/2014/main" id="{21AD1A59-C006-E11E-9DBF-E1BF5F701EE1}"/>
                </a:ext>
              </a:extLst>
            </p:cNvPr>
            <p:cNvSpPr/>
            <p:nvPr/>
          </p:nvSpPr>
          <p:spPr>
            <a:xfrm>
              <a:off x="6991754" y="5401299"/>
              <a:ext cx="914176" cy="205744"/>
            </a:xfrm>
            <a:prstGeom prst="roundRect">
              <a:avLst>
                <a:gd name="adj" fmla="val 29689"/>
              </a:avLst>
            </a:prstGeom>
            <a:solidFill>
              <a:srgbClr val="FFFF0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  <a:highlight>
                    <a:srgbClr val="000000"/>
                  </a:highlight>
                  <a:latin typeface="ADLaM Display" panose="02010000000000000000" pitchFamily="2" charset="0"/>
                  <a:cs typeface="ADLaM Display" panose="02010000000000000000" pitchFamily="2" charset="0"/>
                </a:rPr>
                <a:t>incredible</a:t>
              </a:r>
              <a:endParaRPr lang="zh-TW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72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C0F3DE-B1B4-8C50-8B97-912A51BD1BEA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Major Language Model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E8F0321-BB20-5A24-32C5-E1393817D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548174"/>
              </p:ext>
            </p:extLst>
          </p:nvPr>
        </p:nvGraphicFramePr>
        <p:xfrm>
          <a:off x="358814" y="4307678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Edge AI, Agent(Inference)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Service, Mentor Model (Pretraining)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063E60F-441C-61BB-27AB-426AD238E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298908"/>
              </p:ext>
            </p:extLst>
          </p:nvPr>
        </p:nvGraphicFramePr>
        <p:xfrm>
          <a:off x="358814" y="1967536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 Weight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Gemma 3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Gemma 4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Edge AI, Agent(Inference)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Service, Mentor Model (Pretraining)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8k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128k tokens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Single Chip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Multi GPU or CPU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&lt; 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6" name="橢圓 5">
            <a:extLst>
              <a:ext uri="{FF2B5EF4-FFF2-40B4-BE49-F238E27FC236}">
                <a16:creationId xmlns:a16="http://schemas.microsoft.com/office/drawing/2014/main" id="{8DCCBD18-7E95-64E0-3204-2B78F017F889}"/>
              </a:ext>
            </a:extLst>
          </p:cNvPr>
          <p:cNvSpPr/>
          <p:nvPr/>
        </p:nvSpPr>
        <p:spPr>
          <a:xfrm>
            <a:off x="6615723" y="279091"/>
            <a:ext cx="1432934" cy="1169807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0">
            <a:gradFill flip="none"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Open Weight</a:t>
            </a:r>
          </a:p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LM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32DA9AE-4DCE-1D0B-A5CB-F79D15A41C1A}"/>
              </a:ext>
            </a:extLst>
          </p:cNvPr>
          <p:cNvSpPr/>
          <p:nvPr/>
        </p:nvSpPr>
        <p:spPr>
          <a:xfrm>
            <a:off x="4949403" y="-33520"/>
            <a:ext cx="1432934" cy="1169807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0">
            <a:gradFill flip="none"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Enterprise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8D12BED-4A36-4654-883D-0A29302ADDD7}"/>
              </a:ext>
            </a:extLst>
          </p:cNvPr>
          <p:cNvSpPr/>
          <p:nvPr/>
        </p:nvSpPr>
        <p:spPr>
          <a:xfrm>
            <a:off x="3766163" y="503955"/>
            <a:ext cx="1432934" cy="1169807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0">
            <a:gradFill flip="none"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Cloud</a:t>
            </a:r>
          </a:p>
          <a:p>
            <a:pPr algn="ctr"/>
            <a:r>
              <a:rPr lang="en-US" altLang="zh-TW" sz="1400" b="1" dirty="0">
                <a:solidFill>
                  <a:schemeClr val="accent1">
                    <a:lumMod val="75000"/>
                  </a:schemeClr>
                </a:solidFill>
              </a:rPr>
              <a:t>Service</a:t>
            </a:r>
            <a:endParaRPr lang="en-US" altLang="zh-TW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9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115C8-56FB-C1E8-48CB-42F4B251C3E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Comparison of Language Models</a:t>
            </a:r>
          </a:p>
          <a:p>
            <a:pPr marL="285750" indent="-285750">
              <a:buFontTx/>
              <a:buChar char="-"/>
            </a:pPr>
            <a:r>
              <a:rPr lang="en-US" altLang="zh-TW" sz="1400" dirty="0" err="1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Cx</a:t>
            </a: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A44451E-FF02-AF4A-2290-C616F7E88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98217"/>
              </p:ext>
            </p:extLst>
          </p:nvPr>
        </p:nvGraphicFramePr>
        <p:xfrm>
          <a:off x="683568" y="1317641"/>
          <a:ext cx="7560839" cy="4968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57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1414443">
                  <a:extLst>
                    <a:ext uri="{9D8B030D-6E8A-4147-A177-3AD203B41FA5}">
                      <a16:colId xmlns:a16="http://schemas.microsoft.com/office/drawing/2014/main" val="40133407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43169216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768901619"/>
                    </a:ext>
                  </a:extLst>
                </a:gridCol>
                <a:gridCol w="1321184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242323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20084">
                <a:tc>
                  <a:txBody>
                    <a:bodyPr/>
                    <a:lstStyle/>
                    <a:p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Models</a:t>
                      </a:r>
                    </a:p>
                    <a:p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</a:p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(active/total)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</a:t>
                      </a:r>
                      <a:b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(tokens)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1" cap="none" spc="0" dirty="0" err="1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LiveCodeBench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(Pass@1)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(Requirement)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2008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Gemini 3 Pro</a:t>
                      </a:r>
                    </a:p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Preview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Cloud-based</a:t>
                      </a:r>
                    </a:p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Closed source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96.2%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目前最強的雲端閉源模型之一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9984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Gemini 3.5 Flash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95.5%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高速推理的頂級代表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9984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3_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Gemma 4 26B A4B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3.8B/25.2B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256k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94.8%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開源模型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極省電 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(24GB VRAM)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29984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GPT-5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128k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93.5%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OpenAI 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的主力旗艦模型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 o3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200k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91.9%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具備深度思考推理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(Reasoning)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 o4-mini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128k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90.7%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輕量化推理模型的代表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131705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7_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DeepSeek V3.2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51B/685B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128k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89.6%~73%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cap="none" spc="0" dirty="0" err="1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MoE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 Local open source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66719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8_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Gemma 4 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31B/31B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256k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88.9%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Dense 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旗艦模型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975361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Claude Fable 5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200k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89.7%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Anthropic premium Agent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205179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10*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 o1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200k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87.1%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 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API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：本地無硬體要求，經典初代大文本思考模型。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407724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11*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Claude Opus 4.5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200k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87.1%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深度邏輯強悍但 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API 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成本較高。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383965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12*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Claude 3.5 Sonnet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200k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83.3%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 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API</a:t>
                      </a:r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：本地無硬體要求，企業最愛用的長青高性價比模型。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32676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13_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DeepSeek V3.1 Terminus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37B/671B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128k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79.8%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超大</a:t>
                      </a:r>
                      <a:r>
                        <a:rPr lang="en-US" altLang="zh-TW" sz="1100" b="0" cap="none" spc="0" dirty="0" err="1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MoE</a:t>
                      </a:r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(160GB+VRAM)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056015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14_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Llama 3 </a:t>
                      </a:r>
                      <a:r>
                        <a:rPr lang="en-US" altLang="zh-TW" sz="1200" b="0" cap="none" spc="0" dirty="0" err="1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Nemotron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49B/49B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128k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73.7%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Dense, 48GB VRAM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574766"/>
                  </a:ext>
                </a:extLst>
              </a:tr>
              <a:tr h="28763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15_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Llama 4 Maverick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~70B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10M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~72.0%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Dense, 48GB VRAM x 2</a:t>
                      </a:r>
                      <a:endParaRPr lang="zh-TW" altLang="en-US" sz="11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035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E473-6DBC-0D95-99F6-04C1BA5F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F6D11C78-59E3-E29B-C2FB-1572B1992911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ONNX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Open Neural Network Exchange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C50474-2758-4C00-ACF9-D8281BE1153D}"/>
              </a:ext>
            </a:extLst>
          </p:cNvPr>
          <p:cNvSpPr txBox="1"/>
          <p:nvPr/>
        </p:nvSpPr>
        <p:spPr>
          <a:xfrm>
            <a:off x="179512" y="971962"/>
            <a:ext cx="8568952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/>
              <a:t>S</a:t>
            </a:r>
            <a:r>
              <a:rPr lang="en-US" altLang="zh-TW" sz="2000" b="1" u="none" strike="noStrike" dirty="0">
                <a:effectLst/>
              </a:rPr>
              <a:t>LM vs LLM</a:t>
            </a:r>
            <a:endParaRPr lang="en-US" altLang="zh-TW" sz="1600" b="1" u="none" strike="noStrike" dirty="0">
              <a:effectLst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u="none" strike="noStrike" dirty="0">
                <a:effectLst/>
              </a:rPr>
              <a:t>SLM(The Specialists)</a:t>
            </a:r>
            <a:r>
              <a:rPr lang="en-US" altLang="zh-TW" sz="1600" b="0" u="none" strike="noStrike" dirty="0">
                <a:effectLst/>
              </a:rPr>
              <a:t>: .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LLM (The Generalists)</a:t>
            </a:r>
            <a:r>
              <a:rPr lang="en-US" altLang="zh-TW" sz="1600" dirty="0"/>
              <a:t>: .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-</a:t>
            </a:r>
            <a:r>
              <a:rPr lang="en-US" altLang="zh-TW" sz="1600" dirty="0"/>
              <a:t>: Learning through trial and Error within an environment.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GPT-RLHF</a:t>
            </a:r>
            <a:endParaRPr lang="en-US" altLang="zh-TW" sz="1600" b="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C7585AD-F732-1C89-A102-239541D9086A}"/>
              </a:ext>
            </a:extLst>
          </p:cNvPr>
          <p:cNvGraphicFramePr>
            <a:graphicFrameLocks noGrp="1"/>
          </p:cNvGraphicFramePr>
          <p:nvPr/>
        </p:nvGraphicFramePr>
        <p:xfrm>
          <a:off x="351199" y="2780928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Edge AI, Agent(Inference)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Service, Mentor Model (Pretraining)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3~14B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70B~405B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Single Chip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Multi GPU or CPU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&lt; 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05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FFF3F94-99FF-E886-80E6-CCDB0AE53A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6766"/>
            <a:ext cx="9144000" cy="46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6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CF87D-D8A6-48A4-23C9-ED219CAE6D6A}"/>
              </a:ext>
            </a:extLst>
          </p:cNvPr>
          <p:cNvSpPr txBox="1">
            <a:spLocks/>
          </p:cNvSpPr>
          <p:nvPr/>
        </p:nvSpPr>
        <p:spPr>
          <a:xfrm>
            <a:off x="-8612" y="80510"/>
            <a:ext cx="7748963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The Role of Hardware: Cloud Chip</a:t>
            </a:r>
          </a:p>
          <a:p>
            <a:r>
              <a:rPr lang="en-US" altLang="zh-TW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altLang="zh-TW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38D2052-20CE-5307-D375-69FD3BA4E10D}"/>
              </a:ext>
            </a:extLst>
          </p:cNvPr>
          <p:cNvSpPr txBox="1"/>
          <p:nvPr/>
        </p:nvSpPr>
        <p:spPr>
          <a:xfrm>
            <a:off x="179512" y="1700808"/>
            <a:ext cx="46005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🧱 一、 雲端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晶片的硬體製造成本（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BOM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結構）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以最普及的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  <a:hlinkClick r:id="rId3"/>
              </a:rPr>
              <a:t>NVIDIA H100 (SXM5)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 晶片為基準，其硬體材料與封裝的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總生產成本約為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3,320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美元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。然而，因為市場極度供不應求與技術壟斷，其終端售價高達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28,000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至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35,000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美元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，這意味著晶片擁有高達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85% - 88%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的超高毛利率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7E885B6-DCC5-34B7-750B-0CDBA361DF3B}"/>
              </a:ext>
            </a:extLst>
          </p:cNvPr>
          <p:cNvSpPr txBox="1"/>
          <p:nvPr/>
        </p:nvSpPr>
        <p:spPr>
          <a:xfrm>
            <a:off x="160884" y="2982021"/>
            <a:ext cx="460057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NVIDIA H100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晶片製造成本拆解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$3,320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├─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邏輯晶粒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(Logic Die: TSMC 4N)  ──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$300 ( 9% )</a:t>
            </a:r>
          </a:p>
          <a:p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├─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高頻寬記憶體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(HBM3, 80GB)     ──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$1,350 ( 41% )</a:t>
            </a:r>
          </a:p>
          <a:p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├─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先進封裝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(TSMC CoWoS-S)        ──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$750 ( 22% )</a:t>
            </a:r>
          </a:p>
          <a:p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└─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測試、載板與其餘組裝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(Test/Assy)──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$920 ( 28% )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B76D4F8-3568-DF11-A00E-AE4776003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089433"/>
            <a:ext cx="6120680" cy="220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高頻寬記憶體（HBM）成為第一大成本怪獸 (佔比約 40% - 50%)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</a:b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雲端大模型（LLM）的運算瓶頸在於記憶體傳輸速度（稱為「記憶體牆」）。因此雲端晶片必須外掛 6 到 8 顆極其昂貴的 </a:t>
            </a: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HBM3 或 HBM3E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。</a:t>
            </a:r>
            <a:endParaRPr kumimoji="0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光是這些記憶體組件，在晶片 BOM 表中就佔據了 </a:t>
            </a: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1,000 ~ 1,500 美元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（下一代 B300 晶片搭載 288GB HBM3E 成本將更驚人）。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台積電先進封裝（CoWoS）是核心門檻 (佔比約 20% - 25%)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</a:b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要把龐大的邏輯主晶片（Logic Die）跟數顆 HBM 像蓋大樓一樣緊密接合，傳統封裝無法做到，必須使用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  <a:hlinkClick r:id="rId4"/>
              </a:rPr>
              <a:t>台積電的 CoWoS 先進封裝技術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。</a:t>
            </a:r>
            <a:endParaRPr kumimoji="0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這層「中介層（Interposer）」與先進封裝的成本每顆就高達 </a:t>
            </a: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500 ~ 1,500 美元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最核心的邏輯主晶片，成本占比反而最低 (佔比約 10%)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</a:b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負責算力的核心 Logic Die，雖然採用了台積電最頂尖的 4nm 或 3nm 等極紫外光（EUV）製程，但如果單純計算從 12 吋矽晶圓上切下來的「裸晶（Die）」成本，在良率穩定的情況下，單顆成本其實僅約 </a:t>
            </a: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250 ~ 350 美元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ea typeface="微軟正黑體" panose="020B0604030504040204" pitchFamily="34" charset="-120"/>
              </a:rPr>
              <a:t>。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22DAA9F-422D-5F46-A460-4C5974302240}"/>
              </a:ext>
            </a:extLst>
          </p:cNvPr>
          <p:cNvSpPr txBox="1"/>
          <p:nvPr/>
        </p:nvSpPr>
        <p:spPr>
          <a:xfrm>
            <a:off x="160884" y="451578"/>
            <a:ext cx="46005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雲端人工智慧晶片（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Cloud AI Chip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，如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NVIDIA H100 / B200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AMD MI300X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TPU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）的設計核心是「不惜一切代價追求極致算力與記憶體頻寬」。與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Edge AI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晶片斤斤計較於幾美元的低成本不同，雲端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晶片屬於動輒數千甚至數萬美元的晶片巨獸。根據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Silicon Analysts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最新產業研究與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Epoch AI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的數據，雲端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晶片的硬體製造成本（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BOM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）與整體結構分析如下：</a:t>
            </a:r>
          </a:p>
        </p:txBody>
      </p:sp>
    </p:spTree>
    <p:extLst>
      <p:ext uri="{BB962C8B-B14F-4D97-AF65-F5344CB8AC3E}">
        <p14:creationId xmlns:p14="http://schemas.microsoft.com/office/powerpoint/2010/main" val="61103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F9BCE9E-B799-4EF7-10FE-13770935932E}"/>
              </a:ext>
            </a:extLst>
          </p:cNvPr>
          <p:cNvSpPr txBox="1"/>
          <p:nvPr/>
        </p:nvSpPr>
        <p:spPr>
          <a:xfrm>
            <a:off x="107504" y="980728"/>
            <a:ext cx="8928992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📐 二、 雲端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晶片的三大結構性變化趨勢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進入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2025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、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2026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年，隨著晶片算力需求邁入「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Blackwell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」與「次世代架構」時代，雲端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晶片的結構正在發生激烈的物理與成本質變：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[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  <a:hlinkClick r:id="rId3"/>
              </a:rPr>
              <a:t>1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]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從「單一晶片（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Monolithic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）」走向「小晶片（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Chiplet / Multi-Die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）」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</a:b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由於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晶片的面積已經大到逼近曝光機的物理極限（光罩極限，約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858 mm²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），單一塊晶片再做大就會良率暴跌。現在的雲端晶片（如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AMD MI300X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、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  <a:hlinkClick r:id="rId4"/>
              </a:rPr>
              <a:t>NVIDIA Blackwell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）都改用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Chiplet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技術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：把兩塊或多塊較小的邏輯晶片拼在一起，這雖然增加了先進封裝的成本與複雜度，但極大提升了製造良率。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封裝技術從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CoWoS-S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演進至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CoWoS-L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</a:b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過去使用全矽中介層（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CoWoS-S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）的尺寸受到限制。為了塞入更多的邏輯晶片與更多堆疊的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HBM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，現在產業大量轉向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  <a:hlinkClick r:id="rId3"/>
              </a:rPr>
              <a:t>採用局部矽橋接的有機中介層技術（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  <a:hlinkClick r:id="rId3"/>
              </a:rPr>
              <a:t>CoWoS-L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  <a:hlinkClick r:id="rId3"/>
              </a:rPr>
              <a:t>）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，這能允許晶片封裝面積擴大數倍，支持更龐大的超級晶片架構。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系統級晶片（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System-on-Wafer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）與光子學（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Silicon Photonics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）興起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</a:b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為了徹底打破傳統銅線傳輸的延遲與功耗，高階雲端晶片開始導入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矽光子技術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，利用光訊號代替電訊號進行晶片間的高速傳輸；更有甚者（如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Cerebras WSE-3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）直接將整塊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12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吋晶圓做成單一顆超巨大晶片。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599599-67B4-B35F-D446-D9CC83D395EF}"/>
              </a:ext>
            </a:extLst>
          </p:cNvPr>
          <p:cNvSpPr txBox="1"/>
          <p:nvPr/>
        </p:nvSpPr>
        <p:spPr>
          <a:xfrm>
            <a:off x="112862" y="4085238"/>
            <a:ext cx="8923634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💰 三、 超越晶片本身的「隱形研發與系統成本」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買了雲端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晶片並不代表能直接運作，對於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IC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設計公司與資料中心（如微軟、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Google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、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Meta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）而言，還存在著巨大的結構性成本：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[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  <a:hlinkClick r:id="rId5"/>
              </a:rPr>
              <a:t>1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]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天文數字的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NRE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（研發與光罩費用）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</a:b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開發一款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3nm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級別的雲端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晶片，前期的晶片架構設計、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EDA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軟體授權、光罩（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Mask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）製作，一次投片失敗就是數億美元蒸發。這需要晶片公司有極強的資本支撐，也是為什麼目前全球只有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NVIDIA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、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AMD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以及少數幾家大型雲端巨頭（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CSPs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）有能力自行研發 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ASIC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晶片。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軟體生態系牆（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CUDA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護城河）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：</a:t>
            </a:r>
            <a:b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</a:b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雲端晶片極度依賴龐大的分散式運算軟體。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NVIDIA 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每年在 </a:t>
            </a:r>
            <a:r>
              <a:rPr lang="en-US" altLang="zh-TW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CUDA </a:t>
            </a:r>
            <a:r>
              <a:rPr lang="zh-TW" altLang="en-US" sz="1100" b="1" u="none" strike="noStrike" dirty="0">
                <a:effectLst/>
                <a:latin typeface="Google Sans"/>
                <a:ea typeface="微軟正黑體" panose="020B0604030504040204" pitchFamily="34" charset="-120"/>
              </a:rPr>
              <a:t>軟體平台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 上投入的研發工程師與資金不計其數。許多競爭對手的硬體成本雖然較低，但因為軟體編譯器（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Compiler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）無法完美將數千顆晶片串聯進行大型語言模型（</a:t>
            </a:r>
            <a:r>
              <a:rPr lang="en-US" altLang="zh-TW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LLM</a:t>
            </a:r>
            <a:r>
              <a:rPr lang="zh-TW" altLang="en-US" sz="1100" b="0" u="none" strike="noStrike" dirty="0">
                <a:effectLst/>
                <a:latin typeface="Google Sans"/>
                <a:ea typeface="微軟正黑體" panose="020B0604030504040204" pitchFamily="34" charset="-120"/>
              </a:rPr>
              <a:t>）的訓練，導致客戶轉向的軟體遷移成本高得難以想像。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37F542-CEC6-E44C-CC42-DEB0C8B20EC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Cloud AI Chip</a:t>
            </a: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99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EB37-4D02-FA99-CAFE-1AD2F6B6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461DE1F0-FD17-DB02-14FB-430F87768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876" y="2117974"/>
            <a:ext cx="698477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一、 Edge AI 晶片的硬體成本結構（BOM 結構）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Edge AI 晶片通常以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SoC（系統單晶片）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或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Chiplet（小晶片封裝）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的形式存在。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一顆 Edge AI 晶片的硬體製造總成本，主要由以下四大核心區塊組成： 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邏輯晶圓（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Logic Die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35% - 45%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記憶體（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Memory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25% - 35%AI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先進封裝與測試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15% - 25%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晶片測試。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IP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授權與權利金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5% - 10%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晶片內部的架構多非全自研。</a:t>
            </a: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CDC6BDD2-E286-4042-F93D-BFB1951021E2}"/>
              </a:ext>
            </a:extLst>
          </p:cNvPr>
          <p:cNvSpPr txBox="1">
            <a:spLocks/>
          </p:cNvSpPr>
          <p:nvPr/>
        </p:nvSpPr>
        <p:spPr>
          <a:xfrm>
            <a:off x="0" y="1235650"/>
            <a:ext cx="7748963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The Role of Hardware: Edge Chip</a:t>
            </a:r>
          </a:p>
          <a:p>
            <a:r>
              <a:rPr lang="en-US" altLang="zh-TW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altLang="zh-TW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A04C72F-8C65-07AE-FB45-4C8BEDA435F7}"/>
              </a:ext>
            </a:extLst>
          </p:cNvPr>
          <p:cNvSpPr txBox="1"/>
          <p:nvPr/>
        </p:nvSpPr>
        <p:spPr>
          <a:xfrm>
            <a:off x="251518" y="1610287"/>
            <a:ext cx="878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邊緣人工智慧晶片（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Edge AI Chip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）與雲端 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AI 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晶片（如 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NVIDIA H100 / B200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）在設計哲學上完全不同。雲端追求「極致算力」，而 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Edge AI 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晶片必須在極低功耗（通常 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sub-5W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）、極低延遲以及極其敏感的「低成本」之間取得平衡。</a:t>
            </a:r>
            <a:endParaRPr lang="en-US" altLang="zh-TW" sz="1200" dirty="0">
              <a:latin typeface="Google Sans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目前在市場上，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Edge AI 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晶片的硬體成本結構（</a:t>
            </a:r>
            <a:r>
              <a:rPr lang="en-US" altLang="zh-TW" sz="1200" dirty="0">
                <a:latin typeface="Google Sans"/>
                <a:ea typeface="微軟正黑體" panose="020B0604030504040204" pitchFamily="34" charset="-120"/>
              </a:rPr>
              <a:t>BOM </a:t>
            </a:r>
            <a:r>
              <a:rPr lang="zh-TW" altLang="en-US" sz="1200" dirty="0">
                <a:latin typeface="Google Sans"/>
                <a:ea typeface="微軟正黑體" panose="020B0604030504040204" pitchFamily="34" charset="-120"/>
              </a:rPr>
              <a:t>結構）與整體開發成本分析如下：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CD4472E-5DCB-1867-755F-D048A2459463}"/>
              </a:ext>
            </a:extLst>
          </p:cNvPr>
          <p:cNvSpPr txBox="1"/>
          <p:nvPr/>
        </p:nvSpPr>
        <p:spPr>
          <a:xfrm>
            <a:off x="7380312" y="116632"/>
            <a:ext cx="1694681" cy="99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GPT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Pretraining</a:t>
            </a:r>
            <a:endParaRPr lang="en-US" altLang="zh-TW" sz="1400" u="none" strike="noStrike" dirty="0">
              <a:effectLst/>
            </a:endParaRPr>
          </a:p>
          <a:p>
            <a:pPr marL="285750" marR="0" lvl="2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Distillation</a:t>
            </a:r>
            <a:endParaRPr lang="en-US" altLang="zh-TW" sz="1400" dirty="0"/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Alignment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Inferencing</a:t>
            </a:r>
            <a:endParaRPr lang="en-US" altLang="zh-TW" sz="140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DF56CFFE-8238-C779-C72D-48D71CB6ED0A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Edeg AI Chip</a:t>
            </a:r>
            <a:endParaRPr lang="en-US" altLang="zh-TW" sz="1400" dirty="0"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3B04CC4-B8FA-5538-0EE6-515422051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35660"/>
              </p:ext>
            </p:extLst>
          </p:nvPr>
        </p:nvGraphicFramePr>
        <p:xfrm>
          <a:off x="351199" y="3407696"/>
          <a:ext cx="8225578" cy="182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05658">
                <a:tc>
                  <a:txBody>
                    <a:bodyPr/>
                    <a:lstStyle/>
                    <a:p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Features</a:t>
                      </a:r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Edge AI, Agent(Inference)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Service, Mentor Model (Pretraining)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 Windows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~128k tokens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Total Parameters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5658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Single Chip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Multi GPU or CPU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3214">
                <a:tc>
                  <a:txBody>
                    <a:bodyPr/>
                    <a:lstStyle/>
                    <a:p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&lt; 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55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9D150-F62E-C82E-E18D-96661F0595EC}"/>
              </a:ext>
            </a:extLst>
          </p:cNvPr>
          <p:cNvSpPr txBox="1">
            <a:spLocks/>
          </p:cNvSpPr>
          <p:nvPr/>
        </p:nvSpPr>
        <p:spPr>
          <a:xfrm>
            <a:off x="-8612" y="80510"/>
            <a:ext cx="7748963" cy="6798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r>
              <a:rPr lang="en-US" altLang="zh-TW" sz="1200" dirty="0">
                <a:latin typeface="Arial" panose="020B0604020202020204" pitchFamily="34" charset="0"/>
                <a:cs typeface="Arial" panose="020B0604020202020204" pitchFamily="34" charset="0"/>
              </a:rPr>
              <a:t>Knowledge grounding is useful for reducing hallucinations.</a:t>
            </a:r>
          </a:p>
          <a:p>
            <a:endParaRPr lang="en-US" altLang="zh-TW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BCC476-64C9-2C91-8842-93864C2E3BD1}"/>
              </a:ext>
            </a:extLst>
          </p:cNvPr>
          <p:cNvSpPr txBox="1"/>
          <p:nvPr/>
        </p:nvSpPr>
        <p:spPr>
          <a:xfrm>
            <a:off x="7380312" y="116632"/>
            <a:ext cx="1694681" cy="99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GPT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u="none" strike="noStrike" dirty="0">
                <a:effectLst/>
              </a:rPr>
              <a:t>Pretraining</a:t>
            </a:r>
            <a:endParaRPr lang="en-US" altLang="zh-TW" sz="1400" u="none" strike="noStrike" dirty="0">
              <a:effectLst/>
            </a:endParaRPr>
          </a:p>
          <a:p>
            <a:pPr marL="285750" marR="0" lvl="2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Distillation</a:t>
            </a:r>
            <a:endParaRPr lang="en-US" altLang="zh-TW" sz="1400" dirty="0"/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Alignment</a:t>
            </a:r>
          </a:p>
          <a:p>
            <a:pPr>
              <a:lnSpc>
                <a:spcPts val="1400"/>
              </a:lnSpc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altLang="zh-TW" sz="1400" b="1" dirty="0"/>
              <a:t>Inferencing</a:t>
            </a:r>
            <a:endParaRPr lang="en-US" altLang="zh-TW" sz="140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1018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70000"/>
          </a:schemeClr>
        </a:solidFill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簡報1" id="{3349570C-DE3B-48BB-8671-1853FC12C45D}" vid="{424F00FA-23EC-402E-8D8B-A6A8EB04865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TM02900688[[fn=多面向]]</Template>
  <TotalTime>3741</TotalTime>
  <Words>6364</Words>
  <Application>Microsoft Office PowerPoint</Application>
  <PresentationFormat>如螢幕大小 (4:3)</PresentationFormat>
  <Paragraphs>706</Paragraphs>
  <Slides>23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4" baseType="lpstr">
      <vt:lpstr>Google Sans</vt:lpstr>
      <vt:lpstr>Microsoft JhengHei UI</vt:lpstr>
      <vt:lpstr>Noto Sans HK</vt:lpstr>
      <vt:lpstr>Noto Sans TC</vt:lpstr>
      <vt:lpstr>微軟正黑體</vt:lpstr>
      <vt:lpstr>ADLaM Display</vt:lpstr>
      <vt:lpstr>Arial</vt:lpstr>
      <vt:lpstr>Calibri</vt:lpstr>
      <vt:lpstr>Source Sans Pro</vt:lpstr>
      <vt:lpstr>Wingdings</vt:lpstr>
      <vt:lpstr>Default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Felix Tien(田慶豐)</dc:creator>
  <cp:lastModifiedBy>Allen Ni(倪士凱)</cp:lastModifiedBy>
  <cp:revision>1550</cp:revision>
  <cp:lastPrinted>2024-07-30T01:44:15Z</cp:lastPrinted>
  <dcterms:created xsi:type="dcterms:W3CDTF">2019-11-08T03:01:47Z</dcterms:created>
  <dcterms:modified xsi:type="dcterms:W3CDTF">2026-06-18T09:08:26Z</dcterms:modified>
</cp:coreProperties>
</file>