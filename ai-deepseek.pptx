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handoutMasterIdLst>
    <p:handoutMasterId r:id="rId30"/>
  </p:handoutMasterIdLst>
  <p:sldIdLst>
    <p:sldId id="3459" r:id="rId2"/>
    <p:sldId id="3472" r:id="rId3"/>
    <p:sldId id="3555" r:id="rId4"/>
    <p:sldId id="3554" r:id="rId5"/>
    <p:sldId id="3548" r:id="rId6"/>
    <p:sldId id="3547" r:id="rId7"/>
    <p:sldId id="3570" r:id="rId8"/>
    <p:sldId id="3572" r:id="rId9"/>
    <p:sldId id="3571" r:id="rId10"/>
    <p:sldId id="3578" r:id="rId11"/>
    <p:sldId id="3577" r:id="rId12"/>
    <p:sldId id="3576" r:id="rId13"/>
    <p:sldId id="3482" r:id="rId14"/>
    <p:sldId id="3575" r:id="rId15"/>
    <p:sldId id="3573" r:id="rId16"/>
    <p:sldId id="3537" r:id="rId17"/>
    <p:sldId id="3558" r:id="rId18"/>
    <p:sldId id="3564" r:id="rId19"/>
    <p:sldId id="3557" r:id="rId20"/>
    <p:sldId id="3544" r:id="rId21"/>
    <p:sldId id="3540" r:id="rId22"/>
    <p:sldId id="3543" r:id="rId23"/>
    <p:sldId id="3545" r:id="rId24"/>
    <p:sldId id="3539" r:id="rId25"/>
    <p:sldId id="3542" r:id="rId26"/>
    <p:sldId id="3538" r:id="rId27"/>
    <p:sldId id="3549" r:id="rId2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Attention" id="{F4A70ED6-EB89-4CD0-B015-FE550DC91F1A}">
          <p14:sldIdLst>
            <p14:sldId id="3578"/>
            <p14:sldId id="3577"/>
            <p14:sldId id="3576"/>
            <p14:sldId id="3482"/>
            <p14:sldId id="3575"/>
            <p14:sldId id="3573"/>
          </p14:sldIdLst>
        </p14:section>
        <p14:section name="Deepseek" id="{8CC3907E-2537-4761-B8B4-20CC1D391E20}">
          <p14:sldIdLst>
            <p14:sldId id="3537"/>
            <p14:sldId id="3558"/>
            <p14:sldId id="3564"/>
            <p14:sldId id="3557"/>
            <p14:sldId id="3544"/>
            <p14:sldId id="3540"/>
            <p14:sldId id="3543"/>
            <p14:sldId id="3545"/>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887" autoAdjust="0"/>
  </p:normalViewPr>
  <p:slideViewPr>
    <p:cSldViewPr>
      <p:cViewPr varScale="1">
        <p:scale>
          <a:sx n="92" d="100"/>
          <a:sy n="92" d="100"/>
        </p:scale>
        <p:origin x="84" y="76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8/10/relationships/authors" Target="author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模型初始化與蒸餾階段（Initialization / Knowledge Distillation）── </a:t>
            </a:r>
            <a:r>
              <a:rPr lang="zh-TW" altLang="zh-TW" sz="1200" b="1" i="1" u="none" strike="noStrike" kern="1200" dirty="0">
                <a:solidFill>
                  <a:schemeClr val="tx1"/>
                </a:solidFill>
                <a:effectLst/>
                <a:latin typeface="+mn-lt"/>
                <a:ea typeface="+mn-ea"/>
                <a:cs typeface="+mn-cs"/>
              </a:rPr>
              <a:t>非必須，可選</a:t>
            </a:r>
            <a:endParaRPr lang="zh-TW"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當科學家研發出一個像 Kimi Linear 這樣的架構時，如果從頭開始盲目訓練（Train from scratch），會消耗巨額的算力成本。 </a:t>
            </a:r>
          </a:p>
          <a:p>
            <a:pPr lvl="0"/>
            <a:r>
              <a:rPr lang="zh-TW" altLang="zh-TW" sz="1200" b="1" u="none" strike="noStrike" kern="1200" dirty="0">
                <a:solidFill>
                  <a:schemeClr val="tx1"/>
                </a:solidFill>
                <a:effectLst/>
                <a:latin typeface="+mn-lt"/>
                <a:ea typeface="+mn-ea"/>
                <a:cs typeface="+mn-cs"/>
              </a:rPr>
              <a:t>作法</a:t>
            </a:r>
            <a:r>
              <a:rPr lang="zh-TW" altLang="zh-TW" sz="1200" b="0" u="none" strike="noStrike" kern="1200" dirty="0">
                <a:solidFill>
                  <a:schemeClr val="tx1"/>
                </a:solidFill>
                <a:effectLst/>
                <a:latin typeface="+mn-lt"/>
                <a:ea typeface="+mn-ea"/>
                <a:cs typeface="+mn-cs"/>
              </a:rPr>
              <a:t>：工程師會希望把一個現成的、已經訓好的</a:t>
            </a:r>
            <a:r>
              <a:rPr lang="zh-TW" altLang="zh-TW" sz="1200" b="1" u="none" strike="noStrike" kern="1200" dirty="0">
                <a:solidFill>
                  <a:schemeClr val="tx1"/>
                </a:solidFill>
                <a:effectLst/>
                <a:latin typeface="+mn-lt"/>
                <a:ea typeface="+mn-ea"/>
                <a:cs typeface="+mn-cs"/>
              </a:rPr>
              <a:t>標準 Transformer（Full Attention，擁有 </a:t>
            </a:r>
            <a:r>
              <a:rPr lang="zh-TW" altLang="zh-TW" sz="1200" b="0" u="none" strike="noStrike" kern="1200" dirty="0">
                <a:solidFill>
                  <a:schemeClr val="tx1"/>
                </a:solidFill>
                <a:effectLst/>
                <a:latin typeface="+mn-lt"/>
                <a:ea typeface="+mn-ea"/>
                <a:cs typeface="+mn-cs"/>
              </a:rPr>
              <a:t>\(\mathcal{O}(L^2)\)</a:t>
            </a:r>
            <a:r>
              <a:rPr lang="zh-TW" altLang="zh-TW" sz="1200" b="1" u="none" strike="noStrike" kern="1200" dirty="0">
                <a:solidFill>
                  <a:schemeClr val="tx1"/>
                </a:solidFill>
                <a:effectLst/>
                <a:latin typeface="+mn-lt"/>
                <a:ea typeface="+mn-ea"/>
                <a:cs typeface="+mn-cs"/>
              </a:rPr>
              <a:t> 的大權重矩陣 </a:t>
            </a:r>
            <a:r>
              <a:rPr lang="zh-TW" altLang="zh-TW" sz="1200" b="0" u="none" strike="noStrike" kern="1200" dirty="0">
                <a:solidFill>
                  <a:schemeClr val="tx1"/>
                </a:solidFill>
                <a:effectLst/>
                <a:latin typeface="+mn-lt"/>
                <a:ea typeface="+mn-ea"/>
                <a:cs typeface="+mn-cs"/>
              </a:rPr>
              <a:t>\(W\)</a:t>
            </a:r>
            <a:r>
              <a:rPr lang="zh-TW"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直接「瘦身」轉化為線性注意力模型。 </a:t>
            </a:r>
          </a:p>
          <a:p>
            <a:pPr lvl="0"/>
            <a:r>
              <a:rPr lang="zh-TW" altLang="zh-TW" sz="1200" b="1" u="none" strike="noStrike" kern="1200" dirty="0">
                <a:solidFill>
                  <a:schemeClr val="tx1"/>
                </a:solidFill>
                <a:effectLst/>
                <a:latin typeface="+mn-lt"/>
                <a:ea typeface="+mn-ea"/>
                <a:cs typeface="+mn-cs"/>
              </a:rPr>
              <a:t>SVD 登場</a:t>
            </a:r>
            <a:r>
              <a:rPr lang="zh-TW" altLang="zh-TW" sz="1200" b="0" u="none" strike="noStrike" kern="1200" dirty="0">
                <a:solidFill>
                  <a:schemeClr val="tx1"/>
                </a:solidFill>
                <a:effectLst/>
                <a:latin typeface="+mn-lt"/>
                <a:ea typeface="+mn-ea"/>
                <a:cs typeface="+mn-cs"/>
              </a:rPr>
              <a:t>：在這個</a:t>
            </a:r>
            <a:r>
              <a:rPr lang="zh-TW" altLang="zh-TW" sz="1200" b="1" u="none" strike="noStrike" kern="1200" dirty="0">
                <a:solidFill>
                  <a:schemeClr val="tx1"/>
                </a:solidFill>
                <a:effectLst/>
                <a:latin typeface="+mn-lt"/>
                <a:ea typeface="+mn-ea"/>
                <a:cs typeface="+mn-cs"/>
              </a:rPr>
              <a:t>初始化轉換階段</a:t>
            </a:r>
            <a:r>
              <a:rPr lang="zh-TW" altLang="zh-TW" sz="1200" b="0" u="none" strike="noStrike" kern="1200" dirty="0">
                <a:solidFill>
                  <a:schemeClr val="tx1"/>
                </a:solidFill>
                <a:effectLst/>
                <a:latin typeface="+mn-lt"/>
                <a:ea typeface="+mn-ea"/>
                <a:cs typeface="+mn-cs"/>
              </a:rPr>
              <a:t>，會對原始模型的 \(W_q, W_k\) 矩陣執行 </a:t>
            </a:r>
            <a:r>
              <a:rPr lang="zh-TW" altLang="zh-TW" sz="1200" b="1" u="none" strike="noStrike" kern="1200" dirty="0">
                <a:solidFill>
                  <a:schemeClr val="tx1"/>
                </a:solidFill>
                <a:effectLst/>
                <a:latin typeface="+mn-lt"/>
                <a:ea typeface="+mn-ea"/>
                <a:cs typeface="+mn-cs"/>
              </a:rPr>
              <a:t>SVD 分解並進行低秩截斷</a:t>
            </a:r>
            <a:r>
              <a:rPr lang="zh-TW" altLang="zh-TW" sz="1200" b="0" u="none" strike="noStrike" kern="1200" dirty="0">
                <a:solidFill>
                  <a:schemeClr val="tx1"/>
                </a:solidFill>
                <a:effectLst/>
                <a:latin typeface="+mn-lt"/>
                <a:ea typeface="+mn-ea"/>
                <a:cs typeface="+mn-cs"/>
              </a:rPr>
              <a:t>，將提煉出來的正交基底向量（Orthogonal Bases）當作線性注意力層的</a:t>
            </a:r>
            <a:r>
              <a:rPr lang="zh-TW" altLang="zh-TW" sz="1200" b="1" u="none" strike="noStrike" kern="1200" dirty="0">
                <a:solidFill>
                  <a:schemeClr val="tx1"/>
                </a:solidFill>
                <a:effectLst/>
                <a:latin typeface="+mn-lt"/>
                <a:ea typeface="+mn-ea"/>
                <a:cs typeface="+mn-cs"/>
              </a:rPr>
              <a:t>權重初始值</a:t>
            </a:r>
            <a:r>
              <a:rPr lang="zh-TW" altLang="zh-TW" sz="1200" b="0" u="none" strike="noStrike" kern="1200" dirty="0">
                <a:solidFill>
                  <a:schemeClr val="tx1"/>
                </a:solidFill>
                <a:effectLst/>
                <a:latin typeface="+mn-lt"/>
                <a:ea typeface="+mn-ea"/>
                <a:cs typeface="+mn-cs"/>
              </a:rPr>
              <a:t>，讓新模型在起跑點就繼承舊模型的知識。</a:t>
            </a:r>
            <a:br>
              <a:rPr lang="zh-TW" altLang="zh-TW" sz="1200" b="0" u="none" strike="noStrike" kern="1200" dirty="0">
                <a:solidFill>
                  <a:schemeClr val="tx1"/>
                </a:solidFill>
                <a:effectLst/>
                <a:latin typeface="+mn-lt"/>
                <a:ea typeface="+mn-ea"/>
                <a:cs typeface="+mn-cs"/>
              </a:rPr>
            </a:br>
            <a:r>
              <a:rPr lang="zh-TW" altLang="zh-TW" sz="1200" b="0" i="1" u="none" strike="noStrike" kern="1200" dirty="0">
                <a:solidFill>
                  <a:schemeClr val="tx1"/>
                </a:solidFill>
                <a:effectLst/>
                <a:latin typeface="+mn-lt"/>
                <a:ea typeface="+mn-ea"/>
                <a:cs typeface="+mn-cs"/>
              </a:rPr>
              <a:t>(註：有些最新的實驗發現，直接用隨機初始化配合 Warmup 也能達到類似效果，因此這屬於可選方案)。</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F3119-3B80-CBDF-9BDF-BCB9A3B7BE3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9EABDD8-B617-3C29-A888-BA91063C546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641C824-E707-A559-1899-75602A737731}"/>
              </a:ext>
            </a:extLst>
          </p:cNvPr>
          <p:cNvSpPr>
            <a:spLocks noGrp="1"/>
          </p:cNvSpPr>
          <p:nvPr>
            <p:ph type="body" idx="1"/>
          </p:nvPr>
        </p:nvSpPr>
        <p:spPr/>
        <p:txBody>
          <a:bodyPr/>
          <a:lstStyle/>
          <a:p>
            <a:r>
              <a:rPr lang="zh-TW" altLang="zh-TW" dirty="0"/>
              <a:t>MLA（Multi-head Latent Attention，多頭潛在注意力）是 DeepSeek 在 DeepSeek-V2 和 V3/R1 等模型中推出的核心創新架構，</a:t>
            </a:r>
            <a:endParaRPr lang="en-US" altLang="zh-TW" dirty="0"/>
          </a:p>
          <a:p>
            <a:r>
              <a:rPr lang="zh-TW" altLang="zh-TW" dirty="0"/>
              <a:t>主要用來大幅降低大模型在推理時的 KV 快取（KV Cache）記憶體佔用，同時維持甚至超越傳統多頭注意力（MHA）的效能。</a:t>
            </a:r>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什麼是 KV Cache</a:t>
            </a:r>
            <a:r>
              <a:rPr lang="zh-TW" altLang="zh-TW" dirty="0"/>
              <a:t>：大型語言模型（LLM）在生成文字（推理）</a:t>
            </a:r>
            <a:endParaRPr lang="en-US" altLang="zh-TW" dirty="0"/>
          </a:p>
          <a:p>
            <a:r>
              <a:rPr lang="zh-TW" altLang="zh-TW" dirty="0"/>
              <a:t>時，為了不重複計算前面每個字的特徵，需要把歷史文字的 Key（鍵）和 Value（值）矩陣存放在 GPU 顯存中，這就是 KV Cache。</a:t>
            </a:r>
            <a:endParaRPr lang="en-US" altLang="zh-TW" dirty="0"/>
          </a:p>
          <a:p>
            <a:endParaRPr lang="en-US" altLang="zh-TW" dirty="0"/>
          </a:p>
          <a:p>
            <a:pPr lvl="0"/>
            <a:r>
              <a:rPr lang="zh-TW" altLang="zh-TW" sz="1200" b="1" u="none" strike="noStrike" kern="1200" dirty="0">
                <a:solidFill>
                  <a:schemeClr val="tx1"/>
                </a:solidFill>
                <a:effectLst/>
                <a:latin typeface="+mn-lt"/>
                <a:ea typeface="+mn-ea"/>
                <a:cs typeface="+mn-cs"/>
              </a:rPr>
              <a:t>記憶體爆炸</a:t>
            </a:r>
            <a:r>
              <a:rPr lang="zh-TW" altLang="zh-TW" sz="1200" b="0" u="none" strike="noStrike" kern="1200" dirty="0">
                <a:solidFill>
                  <a:schemeClr val="tx1"/>
                </a:solidFill>
                <a:effectLst/>
                <a:latin typeface="+mn-lt"/>
                <a:ea typeface="+mn-ea"/>
                <a:cs typeface="+mn-cs"/>
              </a:rPr>
              <a:t>：當處理極長文本（例如 128K 甚至更長上下文）或高併發時，KV Cache 的體積會隨著序列長度線性增長，佔滿整個 GPU 顯存，成為系統瓶頸。 </a:t>
            </a:r>
          </a:p>
          <a:p>
            <a:pPr lvl="0"/>
            <a:r>
              <a:rPr lang="zh-TW" altLang="zh-TW" sz="1200" b="1" u="none" strike="noStrike" kern="1200" dirty="0">
                <a:solidFill>
                  <a:schemeClr val="tx1"/>
                </a:solidFill>
                <a:effectLst/>
                <a:latin typeface="+mn-lt"/>
                <a:ea typeface="+mn-ea"/>
                <a:cs typeface="+mn-cs"/>
              </a:rPr>
              <a:t>傳統折衷方案的缺憾</a:t>
            </a:r>
            <a:r>
              <a:rPr lang="zh-TW" altLang="zh-TW" sz="1200" b="0" u="none" strike="noStrike" kern="1200" dirty="0">
                <a:solidFill>
                  <a:schemeClr val="tx1"/>
                </a:solidFill>
                <a:effectLst/>
                <a:latin typeface="+mn-lt"/>
                <a:ea typeface="+mn-ea"/>
                <a:cs typeface="+mn-cs"/>
              </a:rPr>
              <a:t>：過去雖有 MQA（Multi-Query Attention）或 GQA（Grouped-Query Attention）來減少快取，但往往會犧牲模型的表現能力。</a:t>
            </a:r>
          </a:p>
          <a:p>
            <a:endParaRPr lang="zh-TW" altLang="en-US" dirty="0"/>
          </a:p>
        </p:txBody>
      </p:sp>
      <p:sp>
        <p:nvSpPr>
          <p:cNvPr id="4" name="投影片編號版面配置區 3">
            <a:extLst>
              <a:ext uri="{FF2B5EF4-FFF2-40B4-BE49-F238E27FC236}">
                <a16:creationId xmlns:a16="http://schemas.microsoft.com/office/drawing/2014/main" id="{CA0C1F70-FC52-B31F-BF23-1C2D2C26CAAC}"/>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20705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D8BFB-7CCD-B713-A0D3-28C17A430CA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75E61F5-F81D-D83E-AAAD-3516131436A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0DB2834-7FDE-5944-2693-19B4C3EA77F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4FFA9E40-5DE7-9C2E-C798-BEA5B8327050}"/>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17524945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FD4D6-7E4D-EDA8-8CE4-F46CB445C38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7E7CACD-0692-25D0-2B6B-1DA20C9113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DB8BAF1-EF90-1822-35FE-6CF042B50F7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MLA 的核心祕密是</a:t>
            </a:r>
            <a:r>
              <a:rPr lang="zh-TW" altLang="zh-TW" sz="1200" b="1" u="none" strike="noStrike" kern="1200" dirty="0">
                <a:solidFill>
                  <a:schemeClr val="tx1"/>
                </a:solidFill>
                <a:effectLst/>
                <a:latin typeface="+mn-lt"/>
                <a:ea typeface="+mn-ea"/>
                <a:cs typeface="+mn-cs"/>
              </a:rPr>
              <a:t>低秩聯合壓縮（Low-rank Joint Compression）</a:t>
            </a:r>
            <a:r>
              <a:rPr lang="zh-TW" altLang="zh-TW" sz="1200" b="0" u="none" strike="noStrike" kern="1200" dirty="0">
                <a:solidFill>
                  <a:schemeClr val="tx1"/>
                </a:solidFill>
                <a:effectLst/>
                <a:latin typeface="+mn-lt"/>
                <a:ea typeface="+mn-ea"/>
                <a:cs typeface="+mn-cs"/>
              </a:rPr>
              <a:t>，概念類似圖像的 JPEG 壓縮 或 LoRA： </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壓縮 KV（降維快取）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傳統模型要把龐大的高維 Key 和 Value 完整存下來。</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MLA 在存儲時，先用一個低秩壓縮矩陣把高維的 KV 資訊投影到一個</a:t>
            </a:r>
            <a:r>
              <a:rPr lang="zh-TW" altLang="zh-TW" sz="1200" b="1" u="none" strike="noStrike" kern="1200" dirty="0">
                <a:solidFill>
                  <a:schemeClr val="tx1"/>
                </a:solidFill>
                <a:effectLst/>
                <a:latin typeface="+mn-lt"/>
                <a:ea typeface="+mn-ea"/>
                <a:cs typeface="+mn-cs"/>
              </a:rPr>
              <a:t>極小的低維潛在空間（Latent Vector）</a:t>
            </a:r>
            <a:r>
              <a:rPr lang="zh-TW" altLang="zh-TW" sz="1200" b="0" u="none" strike="noStrike" kern="1200" dirty="0">
                <a:solidFill>
                  <a:schemeClr val="tx1"/>
                </a:solidFill>
                <a:effectLst/>
                <a:latin typeface="+mn-lt"/>
                <a:ea typeface="+mn-ea"/>
                <a:cs typeface="+mn-cs"/>
              </a:rPr>
              <a:t>中。</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例如將原本高達數千維的特徵壓縮到幾百維，讓 </a:t>
            </a:r>
            <a:r>
              <a:rPr lang="zh-TW" altLang="zh-TW" sz="1200" b="1" u="none" strike="noStrike" kern="1200" dirty="0">
                <a:solidFill>
                  <a:schemeClr val="tx1"/>
                </a:solidFill>
                <a:effectLst/>
                <a:latin typeface="+mn-lt"/>
                <a:ea typeface="+mn-ea"/>
                <a:cs typeface="+mn-cs"/>
              </a:rPr>
              <a:t>KV 顯存佔用直接大降 90% 以上</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矩陣吸收（Matrix Absorption，推理加速）</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當需要進行注意力計算時，再利用上投影矩陣把低維向量還原。更厲害的是，透過</a:t>
            </a:r>
            <a:r>
              <a:rPr lang="zh-TW" altLang="zh-TW" sz="1200" b="1" u="none" strike="noStrike" kern="1200" dirty="0">
                <a:solidFill>
                  <a:schemeClr val="tx1"/>
                </a:solidFill>
                <a:effectLst/>
                <a:latin typeface="+mn-lt"/>
                <a:ea typeface="+mn-ea"/>
                <a:cs typeface="+mn-cs"/>
              </a:rPr>
              <a:t>矩陣乘法的結合律</a:t>
            </a:r>
            <a:r>
              <a:rPr lang="zh-TW" altLang="zh-TW" sz="1200" b="0" u="none" strike="noStrike" kern="1200" dirty="0">
                <a:solidFill>
                  <a:schemeClr val="tx1"/>
                </a:solidFill>
                <a:effectLst/>
                <a:latin typeface="+mn-lt"/>
                <a:ea typeface="+mn-ea"/>
                <a:cs typeface="+mn-cs"/>
              </a:rPr>
              <a:t>，DeepSeek 巧妙地把解壓矩陣「吸收到」相鄰的查詢矩陣 \(W^{Q}\) 或輸出矩陣中，避免了額外的即時解壓計算開銷，讓推理速度更快。</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解耦旋轉位置編碼（Decoupled RoPE）</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傳統位置編碼會和 Key/Value 綁定在一起，破壞了矩陣壓縮的結構。</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獨立出一小部分專門的維度來處理位置資訊（RoPE），完美兼顧了長文本位置感知與 KV 壓縮。</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9240F907-B297-0DEA-8915-E5EF81224F61}"/>
              </a:ext>
            </a:extLst>
          </p:cNvPr>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92061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youtu.be/AIRfT41A89s?si=wd8CxmH65YRXOa75"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16200000">
            <a:off x="3667387" y="868541"/>
            <a:ext cx="153042" cy="453650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796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6252-E53B-D26C-C3E4-91A5F61DDE4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BDF7ED8-15C7-CB1E-4B2C-2D4EE6ED61EA}"/>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28778817-A9D6-15FC-E16F-E4215AC43F2D}"/>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3" name="圖片 2">
            <a:extLst>
              <a:ext uri="{FF2B5EF4-FFF2-40B4-BE49-F238E27FC236}">
                <a16:creationId xmlns:a16="http://schemas.microsoft.com/office/drawing/2014/main" id="{40921D05-CE79-3714-95B5-A5234DF94F32}"/>
              </a:ext>
            </a:extLst>
          </p:cNvPr>
          <p:cNvPicPr>
            <a:picLocks noChangeAspect="1"/>
          </p:cNvPicPr>
          <p:nvPr/>
        </p:nvPicPr>
        <p:blipFill>
          <a:blip r:embed="rId3"/>
          <a:stretch>
            <a:fillRect/>
          </a:stretch>
        </p:blipFill>
        <p:spPr>
          <a:xfrm>
            <a:off x="683568" y="1484784"/>
            <a:ext cx="7452320" cy="3582613"/>
          </a:xfrm>
          <a:prstGeom prst="rect">
            <a:avLst/>
          </a:prstGeom>
        </p:spPr>
      </p:pic>
    </p:spTree>
    <p:extLst>
      <p:ext uri="{BB962C8B-B14F-4D97-AF65-F5344CB8AC3E}">
        <p14:creationId xmlns:p14="http://schemas.microsoft.com/office/powerpoint/2010/main" val="8679575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D65C6-BEC0-62CB-6358-4B31A25DD0A5}"/>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FFD0A0B-6A6C-81BA-ECB4-E1FBF4F7B2A4}"/>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rouped-</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DE353E63-4B9E-5328-1910-427015B91579}"/>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154C9210-7B99-570B-EC23-2C6884AAFB11}"/>
              </a:ext>
            </a:extLst>
          </p:cNvPr>
          <p:cNvPicPr>
            <a:picLocks noChangeAspect="1"/>
          </p:cNvPicPr>
          <p:nvPr/>
        </p:nvPicPr>
        <p:blipFill>
          <a:blip r:embed="rId3"/>
          <a:stretch>
            <a:fillRect/>
          </a:stretch>
        </p:blipFill>
        <p:spPr>
          <a:xfrm>
            <a:off x="1331640" y="671404"/>
            <a:ext cx="2572109" cy="1991003"/>
          </a:xfrm>
          <a:prstGeom prst="rect">
            <a:avLst/>
          </a:prstGeom>
        </p:spPr>
      </p:pic>
      <p:pic>
        <p:nvPicPr>
          <p:cNvPr id="8" name="圖片 7">
            <a:extLst>
              <a:ext uri="{FF2B5EF4-FFF2-40B4-BE49-F238E27FC236}">
                <a16:creationId xmlns:a16="http://schemas.microsoft.com/office/drawing/2014/main" id="{614D6B63-955B-CF53-9A05-4851EE3038F7}"/>
              </a:ext>
            </a:extLst>
          </p:cNvPr>
          <p:cNvPicPr>
            <a:picLocks noChangeAspect="1"/>
          </p:cNvPicPr>
          <p:nvPr/>
        </p:nvPicPr>
        <p:blipFill>
          <a:blip r:embed="rId4"/>
          <a:stretch>
            <a:fillRect/>
          </a:stretch>
        </p:blipFill>
        <p:spPr>
          <a:xfrm>
            <a:off x="179512" y="1124744"/>
            <a:ext cx="1095528" cy="981212"/>
          </a:xfrm>
          <a:prstGeom prst="rect">
            <a:avLst/>
          </a:prstGeom>
        </p:spPr>
      </p:pic>
      <p:pic>
        <p:nvPicPr>
          <p:cNvPr id="9" name="圖片 8">
            <a:extLst>
              <a:ext uri="{FF2B5EF4-FFF2-40B4-BE49-F238E27FC236}">
                <a16:creationId xmlns:a16="http://schemas.microsoft.com/office/drawing/2014/main" id="{524DCB0E-9E75-C915-F261-ED351656FDDB}"/>
              </a:ext>
            </a:extLst>
          </p:cNvPr>
          <p:cNvPicPr>
            <a:picLocks noChangeAspect="1"/>
          </p:cNvPicPr>
          <p:nvPr/>
        </p:nvPicPr>
        <p:blipFill>
          <a:blip r:embed="rId5"/>
          <a:stretch>
            <a:fillRect/>
          </a:stretch>
        </p:blipFill>
        <p:spPr>
          <a:xfrm>
            <a:off x="5009029" y="1873511"/>
            <a:ext cx="1362265" cy="990738"/>
          </a:xfrm>
          <a:prstGeom prst="rect">
            <a:avLst/>
          </a:prstGeom>
        </p:spPr>
      </p:pic>
      <p:pic>
        <p:nvPicPr>
          <p:cNvPr id="10" name="圖片 9">
            <a:extLst>
              <a:ext uri="{FF2B5EF4-FFF2-40B4-BE49-F238E27FC236}">
                <a16:creationId xmlns:a16="http://schemas.microsoft.com/office/drawing/2014/main" id="{CE95AE4A-5582-541A-F4BC-D1C26309C182}"/>
              </a:ext>
            </a:extLst>
          </p:cNvPr>
          <p:cNvPicPr>
            <a:picLocks noChangeAspect="1"/>
          </p:cNvPicPr>
          <p:nvPr/>
        </p:nvPicPr>
        <p:blipFill>
          <a:blip r:embed="rId6"/>
          <a:stretch>
            <a:fillRect/>
          </a:stretch>
        </p:blipFill>
        <p:spPr>
          <a:xfrm>
            <a:off x="6593205" y="1912715"/>
            <a:ext cx="1124107" cy="695422"/>
          </a:xfrm>
          <a:prstGeom prst="rect">
            <a:avLst/>
          </a:prstGeom>
        </p:spPr>
      </p:pic>
      <p:pic>
        <p:nvPicPr>
          <p:cNvPr id="12" name="圖片 11">
            <a:extLst>
              <a:ext uri="{FF2B5EF4-FFF2-40B4-BE49-F238E27FC236}">
                <a16:creationId xmlns:a16="http://schemas.microsoft.com/office/drawing/2014/main" id="{AEDF6C41-D583-3701-5763-980C3781C62A}"/>
              </a:ext>
            </a:extLst>
          </p:cNvPr>
          <p:cNvPicPr>
            <a:picLocks noChangeAspect="1"/>
          </p:cNvPicPr>
          <p:nvPr/>
        </p:nvPicPr>
        <p:blipFill>
          <a:blip r:embed="rId7"/>
          <a:stretch>
            <a:fillRect/>
          </a:stretch>
        </p:blipFill>
        <p:spPr>
          <a:xfrm>
            <a:off x="3859475" y="1124744"/>
            <a:ext cx="2440718" cy="245657"/>
          </a:xfrm>
          <a:prstGeom prst="rect">
            <a:avLst/>
          </a:prstGeom>
        </p:spPr>
      </p:pic>
      <p:pic>
        <p:nvPicPr>
          <p:cNvPr id="14" name="圖片 13">
            <a:extLst>
              <a:ext uri="{FF2B5EF4-FFF2-40B4-BE49-F238E27FC236}">
                <a16:creationId xmlns:a16="http://schemas.microsoft.com/office/drawing/2014/main" id="{A45D3C7D-2FD7-E69B-2EFF-89BE67A4B4B6}"/>
              </a:ext>
            </a:extLst>
          </p:cNvPr>
          <p:cNvPicPr>
            <a:picLocks noChangeAspect="1"/>
          </p:cNvPicPr>
          <p:nvPr/>
        </p:nvPicPr>
        <p:blipFill>
          <a:blip r:embed="rId8"/>
          <a:stretch>
            <a:fillRect/>
          </a:stretch>
        </p:blipFill>
        <p:spPr>
          <a:xfrm>
            <a:off x="3858617" y="1357225"/>
            <a:ext cx="1996624" cy="309681"/>
          </a:xfrm>
          <a:prstGeom prst="rect">
            <a:avLst/>
          </a:prstGeom>
        </p:spPr>
      </p:pic>
      <p:pic>
        <p:nvPicPr>
          <p:cNvPr id="3" name="圖片 2">
            <a:extLst>
              <a:ext uri="{FF2B5EF4-FFF2-40B4-BE49-F238E27FC236}">
                <a16:creationId xmlns:a16="http://schemas.microsoft.com/office/drawing/2014/main" id="{35F5BC4E-7C6B-0F92-1BAB-5F4B85A909F5}"/>
              </a:ext>
            </a:extLst>
          </p:cNvPr>
          <p:cNvPicPr>
            <a:picLocks noChangeAspect="1"/>
          </p:cNvPicPr>
          <p:nvPr/>
        </p:nvPicPr>
        <p:blipFill>
          <a:blip r:embed="rId9"/>
          <a:stretch>
            <a:fillRect/>
          </a:stretch>
        </p:blipFill>
        <p:spPr>
          <a:xfrm>
            <a:off x="412611" y="2864249"/>
            <a:ext cx="8345065" cy="3439005"/>
          </a:xfrm>
          <a:prstGeom prst="rect">
            <a:avLst/>
          </a:prstGeom>
        </p:spPr>
      </p:pic>
    </p:spTree>
    <p:extLst>
      <p:ext uri="{BB962C8B-B14F-4D97-AF65-F5344CB8AC3E}">
        <p14:creationId xmlns:p14="http://schemas.microsoft.com/office/powerpoint/2010/main" val="14105341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EB38F-DBD1-4342-785A-BDBBB6042DF8}"/>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321A5649-BA9C-F559-3548-66A103753B57}"/>
              </a:ext>
            </a:extLst>
          </p:cNvPr>
          <p:cNvPicPr>
            <a:picLocks noChangeAspect="1"/>
          </p:cNvPicPr>
          <p:nvPr/>
        </p:nvPicPr>
        <p:blipFill>
          <a:blip r:embed="rId3"/>
          <a:stretch>
            <a:fillRect/>
          </a:stretch>
        </p:blipFill>
        <p:spPr>
          <a:xfrm>
            <a:off x="1439652" y="188640"/>
            <a:ext cx="6264696" cy="5271286"/>
          </a:xfrm>
          <a:prstGeom prst="rect">
            <a:avLst/>
          </a:prstGeom>
        </p:spPr>
      </p:pic>
      <p:sp>
        <p:nvSpPr>
          <p:cNvPr id="4" name="標題 1">
            <a:extLst>
              <a:ext uri="{FF2B5EF4-FFF2-40B4-BE49-F238E27FC236}">
                <a16:creationId xmlns:a16="http://schemas.microsoft.com/office/drawing/2014/main" id="{B3D51DA1-2B48-59A5-CB41-A60288819733}"/>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0FDC90E7-D9C2-2F2E-D4A4-4E0237237B55}"/>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5" name="圖片 14">
            <a:extLst>
              <a:ext uri="{FF2B5EF4-FFF2-40B4-BE49-F238E27FC236}">
                <a16:creationId xmlns:a16="http://schemas.microsoft.com/office/drawing/2014/main" id="{77C51C42-3081-C424-E6D0-A1E655B2BB30}"/>
              </a:ext>
            </a:extLst>
          </p:cNvPr>
          <p:cNvPicPr>
            <a:picLocks noChangeAspect="1"/>
          </p:cNvPicPr>
          <p:nvPr/>
        </p:nvPicPr>
        <p:blipFill>
          <a:blip r:embed="rId4"/>
          <a:stretch>
            <a:fillRect/>
          </a:stretch>
        </p:blipFill>
        <p:spPr>
          <a:xfrm>
            <a:off x="539552" y="5646646"/>
            <a:ext cx="7840389" cy="1348547"/>
          </a:xfrm>
          <a:prstGeom prst="rect">
            <a:avLst/>
          </a:prstGeom>
        </p:spPr>
      </p:pic>
    </p:spTree>
    <p:extLst>
      <p:ext uri="{BB962C8B-B14F-4D97-AF65-F5344CB8AC3E}">
        <p14:creationId xmlns:p14="http://schemas.microsoft.com/office/powerpoint/2010/main" val="11975631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892899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Hybrid Attention = CSA</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HCA</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Compressed Sparse Attention and Heavily Compressed Attention </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圖片 9">
            <a:extLst>
              <a:ext uri="{FF2B5EF4-FFF2-40B4-BE49-F238E27FC236}">
                <a16:creationId xmlns:a16="http://schemas.microsoft.com/office/drawing/2014/main" id="{A4124255-11F6-026A-F82F-41429326C33C}"/>
              </a:ext>
            </a:extLst>
          </p:cNvPr>
          <p:cNvPicPr>
            <a:picLocks noChangeAspect="1"/>
          </p:cNvPicPr>
          <p:nvPr/>
        </p:nvPicPr>
        <p:blipFill>
          <a:blip r:embed="rId2"/>
          <a:stretch>
            <a:fillRect/>
          </a:stretch>
        </p:blipFill>
        <p:spPr>
          <a:xfrm>
            <a:off x="199415" y="332943"/>
            <a:ext cx="8745170" cy="6192114"/>
          </a:xfrm>
          <a:prstGeom prst="rect">
            <a:avLst/>
          </a:prstGeom>
        </p:spPr>
      </p:pic>
    </p:spTree>
    <p:extLst>
      <p:ext uri="{BB962C8B-B14F-4D97-AF65-F5344CB8AC3E}">
        <p14:creationId xmlns:p14="http://schemas.microsoft.com/office/powerpoint/2010/main" val="25798156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466444"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r>
              <a:rPr lang="en-US" altLang="zh-TW" sz="1200" dirty="0" err="1"/>
              <a:t>headbi</a:t>
            </a:r>
            <a:endParaRPr lang="en-US" altLang="zh-TW" sz="1200" dirty="0"/>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707904"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2809239" y="1457362"/>
            <a:ext cx="148250" cy="2671389"/>
          </a:xfrm>
          <a:prstGeom prst="rightBrace">
            <a:avLst>
              <a:gd name="adj1" fmla="val 8333"/>
              <a:gd name="adj2" fmla="val 503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397400"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2843808" y="151867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3" name="文字方塊 32">
            <a:extLst>
              <a:ext uri="{FF2B5EF4-FFF2-40B4-BE49-F238E27FC236}">
                <a16:creationId xmlns:a16="http://schemas.microsoft.com/office/drawing/2014/main" id="{09BF9E0E-BC99-1953-CAB8-AD87D1D61441}"/>
              </a:ext>
            </a:extLst>
          </p:cNvPr>
          <p:cNvSpPr txBox="1"/>
          <p:nvPr/>
        </p:nvSpPr>
        <p:spPr>
          <a:xfrm>
            <a:off x="5436096" y="152055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err="1"/>
              <a:t>NoPE</a:t>
            </a:r>
            <a:r>
              <a:rPr lang="en-US" altLang="zh-TW" sz="1200" dirty="0"/>
              <a:t> + </a:t>
            </a:r>
            <a:r>
              <a:rPr lang="en-US" altLang="zh-TW" sz="1200" dirty="0" err="1"/>
              <a:t>RoPE</a:t>
            </a:r>
            <a:endParaRPr lang="en-US" altLang="zh-TW" sz="1200" dirty="0"/>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51867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Sinusoidal</a:t>
            </a:r>
            <a:endParaRPr lang="en-US" altLang="zh-TW" sz="1400" b="1" u="none" strike="noStrike" dirty="0">
              <a:effectLst/>
            </a:endParaRPr>
          </a:p>
          <a:p>
            <a:pPr algn="ctr">
              <a:lnSpc>
                <a:spcPts val="1400"/>
              </a:lnSpc>
              <a:buNone/>
            </a:pPr>
            <a:r>
              <a:rPr lang="en-US" altLang="zh-TW" sz="1400" b="1" dirty="0"/>
              <a:t>P</a:t>
            </a:r>
            <a:r>
              <a:rPr lang="en-US" altLang="zh-TW" sz="1200" dirty="0"/>
              <a:t>osition </a:t>
            </a:r>
          </a:p>
          <a:p>
            <a:pPr algn="ctr">
              <a:lnSpc>
                <a:spcPts val="1400"/>
              </a:lnSpc>
              <a:buNone/>
            </a:pPr>
            <a:r>
              <a:rPr lang="en-US" altLang="zh-TW" sz="1400" b="1" dirty="0"/>
              <a:t>E</a:t>
            </a:r>
            <a:r>
              <a:rPr lang="en-US" altLang="zh-TW" sz="1200" dirty="0"/>
              <a:t>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347864" y="3239781"/>
            <a:ext cx="360040"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1896834"/>
            <a:ext cx="77476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3725228" y="1896834"/>
            <a:ext cx="1710868"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460771" y="1950221"/>
            <a:ext cx="148251" cy="1656183"/>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 name="文字方塊 3">
            <a:extLst>
              <a:ext uri="{FF2B5EF4-FFF2-40B4-BE49-F238E27FC236}">
                <a16:creationId xmlns:a16="http://schemas.microsoft.com/office/drawing/2014/main" id="{7376A68B-DFF6-9E8D-DCCB-37C57C7124D6}"/>
              </a:ext>
            </a:extLst>
          </p:cNvPr>
          <p:cNvSpPr txBox="1"/>
          <p:nvPr/>
        </p:nvSpPr>
        <p:spPr>
          <a:xfrm>
            <a:off x="1836358" y="409537"/>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a:effectLst/>
                <a:latin typeface="Gadugi" panose="020B0502040204020203" pitchFamily="34" charset="0"/>
                <a:ea typeface="Gadugi" panose="020B0502040204020203" pitchFamily="34" charset="0"/>
                <a:cs typeface="ADLaM Display" panose="02010000000000000000" pitchFamily="2" charset="0"/>
              </a:rPr>
              <a:t>PE</a:t>
            </a:r>
            <a:endPar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980102"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2021</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4219058"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2023</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454777"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2024</a:t>
            </a:r>
          </a:p>
        </p:txBody>
      </p:sp>
      <p:sp>
        <p:nvSpPr>
          <p:cNvPr id="5" name="文字方塊 4">
            <a:extLst>
              <a:ext uri="{FF2B5EF4-FFF2-40B4-BE49-F238E27FC236}">
                <a16:creationId xmlns:a16="http://schemas.microsoft.com/office/drawing/2014/main" id="{06191CB3-2960-1654-BF2A-189F3C55FDCD}"/>
              </a:ext>
            </a:extLst>
          </p:cNvPr>
          <p:cNvSpPr txBox="1"/>
          <p:nvPr/>
        </p:nvSpPr>
        <p:spPr>
          <a:xfrm>
            <a:off x="6663475"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2026683719"/>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MLP</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FFN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(Lighten Indexer)</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Shared-KV MQA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prstClr val="black">
                              <a:lumMod val="50000"/>
                              <a:lumOff val="50000"/>
                            </a:prstClr>
                          </a:solidFill>
                          <a:effectLst/>
                          <a:uLnTx/>
                          <a:uFillTx/>
                          <a:latin typeface="+mn-lt"/>
                          <a:ea typeface="+mn-ea"/>
                          <a:cs typeface="+mn-cs"/>
                        </a:rPr>
                        <a:t>(HCA+CSA)</a:t>
                      </a:r>
                      <a:endParaRPr kumimoji="0" lang="zh-TW" altLang="en-US" sz="1000" b="0" i="0" u="none" strike="noStrike" kern="1200" cap="none" spc="0" normalizeH="0" baseline="0" noProof="0" dirty="0">
                        <a:ln w="0"/>
                        <a:solidFill>
                          <a:prstClr val="black">
                            <a:lumMod val="50000"/>
                            <a:lumOff val="50000"/>
                          </a:prst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 DSpark Architecture</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310743" y="2348880"/>
            <a:ext cx="8311743" cy="424847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hlinkClick r:id="rId2"/>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2"/>
              </a:rPr>
              <a:t>The insane infrastructure design of DeepSeek V4</a:t>
            </a:r>
            <a:endParaRPr lang="zh-TW" altLang="en-US" dirty="0"/>
          </a:p>
        </p:txBody>
      </p:sp>
      <p:pic>
        <p:nvPicPr>
          <p:cNvPr id="4" name="圖片 3">
            <a:extLst>
              <a:ext uri="{FF2B5EF4-FFF2-40B4-BE49-F238E27FC236}">
                <a16:creationId xmlns:a16="http://schemas.microsoft.com/office/drawing/2014/main" id="{8066917F-E514-1635-588D-7BFDEACF72DF}"/>
              </a:ext>
            </a:extLst>
          </p:cNvPr>
          <p:cNvPicPr>
            <a:picLocks noChangeAspect="1"/>
          </p:cNvPicPr>
          <p:nvPr/>
        </p:nvPicPr>
        <p:blipFill>
          <a:blip r:embed="rId3"/>
          <a:stretch>
            <a:fillRect/>
          </a:stretch>
        </p:blipFill>
        <p:spPr>
          <a:xfrm>
            <a:off x="0" y="1100903"/>
            <a:ext cx="9144000" cy="4656193"/>
          </a:xfrm>
          <a:prstGeom prst="rect">
            <a:avLst/>
          </a:prstGeom>
        </p:spPr>
      </p:pic>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1" y="116632"/>
            <a:ext cx="8782669"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 Hybrid Attention</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391258"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1684</TotalTime>
  <Words>5018</Words>
  <Application>Microsoft Office PowerPoint</Application>
  <PresentationFormat>如螢幕大小 (4:3)</PresentationFormat>
  <Paragraphs>968</Paragraphs>
  <Slides>27</Slides>
  <Notes>16</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27</vt:i4>
      </vt:variant>
    </vt:vector>
  </HeadingPairs>
  <TitlesOfParts>
    <vt:vector size="37"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1881</cp:revision>
  <cp:lastPrinted>2024-07-30T01:44:15Z</cp:lastPrinted>
  <dcterms:created xsi:type="dcterms:W3CDTF">2019-11-08T03:01:47Z</dcterms:created>
  <dcterms:modified xsi:type="dcterms:W3CDTF">2026-09-04T06:34:39Z</dcterms:modified>
</cp:coreProperties>
</file>