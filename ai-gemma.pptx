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1"/>
  </p:notesMasterIdLst>
  <p:handoutMasterIdLst>
    <p:handoutMasterId r:id="rId52"/>
  </p:handoutMasterIdLst>
  <p:sldIdLst>
    <p:sldId id="3459" r:id="rId2"/>
    <p:sldId id="3472" r:id="rId3"/>
    <p:sldId id="3511" r:id="rId4"/>
    <p:sldId id="3504" r:id="rId5"/>
    <p:sldId id="3427" r:id="rId6"/>
    <p:sldId id="3503" r:id="rId7"/>
    <p:sldId id="3470" r:id="rId8"/>
    <p:sldId id="3471" r:id="rId9"/>
    <p:sldId id="3561" r:id="rId10"/>
    <p:sldId id="3482" r:id="rId11"/>
    <p:sldId id="3560" r:id="rId12"/>
    <p:sldId id="3557" r:id="rId13"/>
    <p:sldId id="3483" r:id="rId14"/>
    <p:sldId id="3428" r:id="rId15"/>
    <p:sldId id="3451" r:id="rId16"/>
    <p:sldId id="3552" r:id="rId17"/>
    <p:sldId id="3465" r:id="rId18"/>
    <p:sldId id="3558" r:id="rId19"/>
    <p:sldId id="3559" r:id="rId20"/>
    <p:sldId id="3505" r:id="rId21"/>
    <p:sldId id="3507" r:id="rId22"/>
    <p:sldId id="3460" r:id="rId23"/>
    <p:sldId id="3509" r:id="rId24"/>
    <p:sldId id="3479" r:id="rId25"/>
    <p:sldId id="3467" r:id="rId26"/>
    <p:sldId id="3531" r:id="rId27"/>
    <p:sldId id="3499" r:id="rId28"/>
    <p:sldId id="3444" r:id="rId29"/>
    <p:sldId id="3532" r:id="rId30"/>
    <p:sldId id="3520" r:id="rId31"/>
    <p:sldId id="3518" r:id="rId32"/>
    <p:sldId id="3475" r:id="rId33"/>
    <p:sldId id="3527" r:id="rId34"/>
    <p:sldId id="3550" r:id="rId35"/>
    <p:sldId id="3515" r:id="rId36"/>
    <p:sldId id="3556" r:id="rId37"/>
    <p:sldId id="3528" r:id="rId38"/>
    <p:sldId id="3514" r:id="rId39"/>
    <p:sldId id="3529" r:id="rId40"/>
    <p:sldId id="3555" r:id="rId41"/>
    <p:sldId id="3553" r:id="rId42"/>
    <p:sldId id="3554" r:id="rId43"/>
    <p:sldId id="3549" r:id="rId44"/>
    <p:sldId id="3519" r:id="rId45"/>
    <p:sldId id="3530" r:id="rId46"/>
    <p:sldId id="269" r:id="rId47"/>
    <p:sldId id="270" r:id="rId48"/>
    <p:sldId id="257" r:id="rId49"/>
    <p:sldId id="265" r:id="rId5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561"/>
            <p14:sldId id="3482"/>
            <p14:sldId id="3560"/>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p:scale>
          <a:sx n="110" d="100"/>
          <a:sy n="110" d="100"/>
        </p:scale>
        <p:origin x="126" y="52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5.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3.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49</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2026/9/11</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160.png"/></Relationships>
</file>

<file path=ppt/slides/_rels/slide14.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0.png"/><Relationship Id="rId1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43.svg"/></Relationships>
</file>

<file path=ppt/slides/_rels/slide18.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45.png"/><Relationship Id="rId7"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10.png"/><Relationship Id="rId4" Type="http://schemas.openxmlformats.org/officeDocument/2006/relationships/image" Target="../media/image400.png"/></Relationships>
</file>

<file path=ppt/slides/_rels/slide20.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3.svg"/><Relationship Id="rId4" Type="http://schemas.openxmlformats.org/officeDocument/2006/relationships/image" Target="../media/image52.png"/></Relationships>
</file>

<file path=ppt/slides/_rels/slide2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66.svg"/><Relationship Id="rId3" Type="http://schemas.openxmlformats.org/officeDocument/2006/relationships/image" Target="../media/image60.svg"/><Relationship Id="rId7" Type="http://schemas.openxmlformats.org/officeDocument/2006/relationships/image" Target="../media/image65.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4.svg"/><Relationship Id="rId5" Type="http://schemas.openxmlformats.org/officeDocument/2006/relationships/image" Target="../media/image63.png"/><Relationship Id="rId10" Type="http://schemas.openxmlformats.org/officeDocument/2006/relationships/image" Target="../media/image68.svg"/><Relationship Id="rId4" Type="http://schemas.openxmlformats.org/officeDocument/2006/relationships/image" Target="../media/image61.svg"/><Relationship Id="rId9" Type="http://schemas.openxmlformats.org/officeDocument/2006/relationships/image" Target="../media/image67.svg"/></Relationships>
</file>

<file path=ppt/slides/_rels/slide28.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1.sv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72.svg"/></Relationships>
</file>

<file path=ppt/slides/_rels/slide3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3.xml"/><Relationship Id="rId4" Type="http://schemas.openxmlformats.org/officeDocument/2006/relationships/image" Target="../media/image74.jpeg"/></Relationships>
</file>

<file path=ppt/slides/_rels/slide31.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jpeg"/></Relationships>
</file>

<file path=ppt/slides/_rels/slide32.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1.svg"/></Relationships>
</file>

<file path=ppt/slides/_rels/slide33.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34.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88.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1.png"/><Relationship Id="rId4" Type="http://schemas.openxmlformats.org/officeDocument/2006/relationships/hyperlink" Target="https://deepswe.datacurve.ai/"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6.xml"/><Relationship Id="rId1" Type="http://schemas.openxmlformats.org/officeDocument/2006/relationships/slideLayout" Target="../slideLayouts/slideLayout3.xml"/><Relationship Id="rId5" Type="http://schemas.openxmlformats.org/officeDocument/2006/relationships/image" Target="../media/image93.png"/><Relationship Id="rId4" Type="http://schemas.openxmlformats.org/officeDocument/2006/relationships/image" Target="../media/image92.png"/></Relationships>
</file>

<file path=ppt/slides/_rels/slide4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hyperlink" Target="https://arena.ai/leaderboard/text/pareto"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8.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4.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3.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4.jpeg"/><Relationship Id="rId5" Type="http://schemas.openxmlformats.org/officeDocument/2006/relationships/image" Target="../media/image63.png"/><Relationship Id="rId4" Type="http://schemas.openxmlformats.org/officeDocument/2006/relationships/image" Target="../media/image103.png"/></Relationships>
</file>

<file path=ppt/slides/_rels/slide45.xml.rels><?xml version="1.0" encoding="UTF-8" standalone="yes"?>
<Relationships xmlns="http://schemas.openxmlformats.org/package/2006/relationships"><Relationship Id="rId2" Type="http://schemas.openxmlformats.org/officeDocument/2006/relationships/image" Target="../media/image74.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9.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003070" y="3212032"/>
            <a:ext cx="1214323"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MHA</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248491"/>
            <a:ext cx="219591" cy="67561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187711" cy="61798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A472C21-C7F0-7F5F-BA8A-A3982575C3B1}"/>
              </a:ext>
            </a:extLst>
          </p:cNvPr>
          <p:cNvPicPr>
            <a:picLocks noChangeAspect="1"/>
          </p:cNvPicPr>
          <p:nvPr/>
        </p:nvPicPr>
        <p:blipFill>
          <a:blip r:embed="rId2"/>
          <a:stretch>
            <a:fillRect/>
          </a:stretch>
        </p:blipFill>
        <p:spPr>
          <a:xfrm>
            <a:off x="7175209" y="4232970"/>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mc:Choice xmlns:a14="http://schemas.microsoft.com/office/drawing/2010/main" Requires="a14">
          <p:sp>
            <p:nvSpPr>
              <p:cNvPr id="77" name="文字方塊 76">
                <a:extLst>
                  <a:ext uri="{FF2B5EF4-FFF2-40B4-BE49-F238E27FC236}">
                    <a16:creationId xmlns:a16="http://schemas.microsoft.com/office/drawing/2014/main" id="{D0B17E0D-2E78-D8E8-D8D4-0AB578261409}"/>
                  </a:ext>
                </a:extLst>
              </p:cNvPr>
              <p:cNvSpPr txBox="1"/>
              <p:nvPr/>
            </p:nvSpPr>
            <p:spPr>
              <a:xfrm>
                <a:off x="1220938" y="3946452"/>
                <a:ext cx="1409360" cy="761042"/>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Norm</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0" smtClean="0">
                          <a:latin typeface="Cambria Math" panose="02040503050406030204" pitchFamily="18" charset="0"/>
                        </a:rPr>
                        <m:t>=</m:t>
                      </m:r>
                      <m:d>
                        <m:dPr>
                          <m:begChr m:val="{"/>
                          <m:endChr m:val="}"/>
                          <m:ctrlPr>
                            <a:rPr lang="en-US" altLang="zh-TW" sz="1000" i="1" dirty="0">
                              <a:latin typeface="Cambria Math" panose="02040503050406030204" pitchFamily="18" charset="0"/>
                            </a:rPr>
                          </m:ctrlPr>
                        </m:dPr>
                        <m:e>
                          <m:f>
                            <m:fPr>
                              <m:ctrlPr>
                                <a:rPr lang="en-US" altLang="zh-TW" sz="1000" i="0" dirty="0"/>
                              </m:ctrlPr>
                            </m:fPr>
                            <m:num>
                              <m:r>
                                <m:rPr>
                                  <m:nor/>
                                </m:rPr>
                                <a:rPr lang="en-US" altLang="zh-TW" sz="1000" i="0" dirty="0"/>
                                <m:t>x</m:t>
                              </m:r>
                              <m:r>
                                <m:rPr>
                                  <m:nor/>
                                </m:rPr>
                                <a:rPr lang="en-US" altLang="zh-TW" sz="1000" i="0" baseline="-25000" dirty="0"/>
                                <m:t>i</m:t>
                              </m:r>
                              <m:r>
                                <m:rPr>
                                  <m:nor/>
                                </m:rPr>
                                <a:rPr lang="en-US" altLang="zh-TW" sz="1000" i="0" dirty="0"/>
                                <m:t>∗γi</m:t>
                              </m:r>
                            </m:num>
                            <m:den>
                              <m:r>
                                <m:rPr>
                                  <m:nor/>
                                </m:rPr>
                                <a:rPr lang="en-US" altLang="zh-TW" sz="1000" i="0" dirty="0"/>
                                <m:t>RMS(x)</m:t>
                              </m:r>
                            </m:den>
                          </m:f>
                        </m:e>
                      </m:d>
                      <m:r>
                        <a:rPr lang="en-US" altLang="zh-TW" sz="1000" b="0" i="0" smtClean="0">
                          <a:latin typeface="Cambria Math" panose="02040503050406030204" pitchFamily="18" charset="0"/>
                        </a:rPr>
                        <m:t>; </m:t>
                      </m:r>
                    </m:oMath>
                  </m:oMathPara>
                </a14:m>
                <a:endParaRPr lang="en-US" altLang="zh-TW" sz="10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RMS</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1" smtClean="0">
                          <a:latin typeface="Cambria Math" panose="02040503050406030204" pitchFamily="18" charset="0"/>
                        </a:rPr>
                        <m:t>=</m:t>
                      </m:r>
                      <m:rad>
                        <m:radPr>
                          <m:degHide m:val="on"/>
                          <m:ctrlPr>
                            <a:rPr lang="en-US" altLang="zh-TW" sz="1000" b="0" i="1" smtClean="0">
                              <a:latin typeface="Cambria Math" panose="02040503050406030204" pitchFamily="18" charset="0"/>
                            </a:rPr>
                          </m:ctrlPr>
                        </m:radPr>
                        <m:deg/>
                        <m:e>
                          <m:f>
                            <m:fPr>
                              <m:ctrlPr>
                                <a:rPr lang="en-US" altLang="zh-TW" sz="1000" b="0" i="1" smtClean="0">
                                  <a:latin typeface="Cambria Math" panose="02040503050406030204" pitchFamily="18" charset="0"/>
                                </a:rPr>
                              </m:ctrlPr>
                            </m:fPr>
                            <m:num>
                              <m:r>
                                <a:rPr lang="en-US" altLang="zh-TW" sz="1000" b="0" i="1" smtClean="0">
                                  <a:latin typeface="Cambria Math" panose="02040503050406030204" pitchFamily="18" charset="0"/>
                                </a:rPr>
                                <m:t>1</m:t>
                              </m:r>
                            </m:num>
                            <m:den>
                              <m:r>
                                <a:rPr lang="en-US" altLang="zh-TW" sz="1000" b="0" i="1" smtClean="0">
                                  <a:latin typeface="Cambria Math" panose="02040503050406030204" pitchFamily="18" charset="0"/>
                                </a:rPr>
                                <m:t>𝑑</m:t>
                              </m:r>
                            </m:den>
                          </m:f>
                          <m:nary>
                            <m:naryPr>
                              <m:chr m:val="∑"/>
                              <m:limLoc m:val="subSup"/>
                              <m:ctrlPr>
                                <a:rPr lang="en-US" altLang="zh-TW" sz="1000" i="1">
                                  <a:latin typeface="Cambria Math" panose="02040503050406030204" pitchFamily="18" charset="0"/>
                                </a:rPr>
                              </m:ctrlPr>
                            </m:naryPr>
                            <m:sub>
                              <m:r>
                                <m:rPr>
                                  <m:brk m:alnAt="25"/>
                                </m:rPr>
                                <a:rPr lang="en-US" altLang="zh-TW" sz="1000" i="1">
                                  <a:latin typeface="Cambria Math" panose="02040503050406030204" pitchFamily="18" charset="0"/>
                                </a:rPr>
                                <m:t>𝑖</m:t>
                              </m:r>
                            </m:sub>
                            <m:sup>
                              <m:r>
                                <a:rPr lang="en-US" altLang="zh-TW" sz="1000" i="1">
                                  <a:latin typeface="Cambria Math" panose="02040503050406030204" pitchFamily="18" charset="0"/>
                                </a:rPr>
                                <m:t>𝑑</m:t>
                              </m:r>
                            </m:sup>
                            <m:e>
                              <m:sSubSup>
                                <m:sSubSupPr>
                                  <m:ctrlPr>
                                    <a:rPr lang="en-US" altLang="zh-TW" sz="1000" i="1">
                                      <a:latin typeface="Cambria Math" panose="02040503050406030204" pitchFamily="18" charset="0"/>
                                    </a:rPr>
                                  </m:ctrlPr>
                                </m:sSubSupPr>
                                <m:e>
                                  <m:r>
                                    <a:rPr lang="en-US" altLang="zh-TW" sz="1000" i="1">
                                      <a:latin typeface="Cambria Math" panose="02040503050406030204" pitchFamily="18" charset="0"/>
                                    </a:rPr>
                                    <m:t>𝑥</m:t>
                                  </m:r>
                                </m:e>
                                <m:sub>
                                  <m:r>
                                    <a:rPr lang="en-US" altLang="zh-TW" sz="1000" i="1">
                                      <a:latin typeface="Cambria Math" panose="02040503050406030204" pitchFamily="18" charset="0"/>
                                    </a:rPr>
                                    <m:t>𝑖</m:t>
                                  </m:r>
                                </m:sub>
                                <m:sup>
                                  <m:r>
                                    <a:rPr lang="en-US" altLang="zh-TW" sz="1000" i="1">
                                      <a:latin typeface="Cambria Math" panose="02040503050406030204" pitchFamily="18" charset="0"/>
                                    </a:rPr>
                                    <m:t>2</m:t>
                                  </m:r>
                                </m:sup>
                              </m:sSubSup>
                              <m:r>
                                <a:rPr lang="en-US" altLang="zh-TW" sz="1000" i="1">
                                  <a:latin typeface="Cambria Math" panose="02040503050406030204" pitchFamily="18" charset="0"/>
                                </a:rPr>
                                <m:t>+</m:t>
                              </m:r>
                              <m:r>
                                <a:rPr lang="en-US" altLang="zh-TW" sz="1000" i="1">
                                  <a:latin typeface="Cambria Math" panose="02040503050406030204" pitchFamily="18" charset="0"/>
                                </a:rPr>
                                <m:t>𝑒</m:t>
                              </m:r>
                            </m:e>
                          </m:nary>
                        </m:e>
                      </m:rad>
                    </m:oMath>
                  </m:oMathPara>
                </a14:m>
                <a:endParaRPr lang="zh-TW" altLang="en-US" sz="1000" dirty="0"/>
              </a:p>
            </p:txBody>
          </p:sp>
        </mc:Choice>
        <mc:Fallback>
          <p:sp>
            <p:nvSpPr>
              <p:cNvPr id="77" name="文字方塊 76">
                <a:extLst>
                  <a:ext uri="{FF2B5EF4-FFF2-40B4-BE49-F238E27FC236}">
                    <a16:creationId xmlns:a16="http://schemas.microsoft.com/office/drawing/2014/main" id="{D0B17E0D-2E78-D8E8-D8D4-0AB578261409}"/>
                  </a:ext>
                </a:extLst>
              </p:cNvPr>
              <p:cNvSpPr txBox="1">
                <a:spLocks noRot="1" noChangeAspect="1" noMove="1" noResize="1" noEditPoints="1" noAdjustHandles="1" noChangeArrowheads="1" noChangeShapeType="1" noTextEdit="1"/>
              </p:cNvSpPr>
              <p:nvPr/>
            </p:nvSpPr>
            <p:spPr>
              <a:xfrm>
                <a:off x="1220938" y="3946452"/>
                <a:ext cx="1409360" cy="761042"/>
              </a:xfrm>
              <a:prstGeom prst="rect">
                <a:avLst/>
              </a:prstGeom>
              <a:blipFill>
                <a:blip r:embed="rId3"/>
                <a:stretch>
                  <a:fillRect l="-3030" t="-23200" r="-35931" b="-1016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3" name="文字方塊 152">
                <a:extLst>
                  <a:ext uri="{FF2B5EF4-FFF2-40B4-BE49-F238E27FC236}">
                    <a16:creationId xmlns:a16="http://schemas.microsoft.com/office/drawing/2014/main" id="{C1DAE41F-DE6E-908A-C787-B8211314D7D6}"/>
                  </a:ext>
                </a:extLst>
              </p:cNvPr>
              <p:cNvSpPr txBox="1"/>
              <p:nvPr/>
            </p:nvSpPr>
            <p:spPr>
              <a:xfrm>
                <a:off x="2962849" y="4083600"/>
                <a:ext cx="1383649" cy="551626"/>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000" i="0">
                              <a:latin typeface="Cambria Math" panose="02040503050406030204" pitchFamily="18" charset="0"/>
                            </a:rPr>
                          </m:ctrlPr>
                        </m:sSubPr>
                        <m:e>
                          <m:r>
                            <m:rPr>
                              <m:sty m:val="p"/>
                            </m:rPr>
                            <a:rPr lang="en-US" altLang="zh-TW" sz="1000" i="0">
                              <a:latin typeface="Cambria Math" panose="02040503050406030204" pitchFamily="18" charset="0"/>
                            </a:rPr>
                            <m:t>A</m:t>
                          </m:r>
                        </m:e>
                        <m:sub>
                          <m:r>
                            <a:rPr lang="en-US" altLang="zh-TW" sz="1000" i="0">
                              <a:latin typeface="Cambria Math" panose="02040503050406030204" pitchFamily="18" charset="0"/>
                            </a:rPr>
                            <m:t>0</m:t>
                          </m:r>
                        </m:sub>
                      </m:sSub>
                      <m:r>
                        <a:rPr lang="en-US" altLang="zh-TW" sz="1000" b="0" i="0" smtClean="0">
                          <a:latin typeface="Cambria Math" panose="02040503050406030204" pitchFamily="18" charset="0"/>
                        </a:rPr>
                        <m:t>=</m:t>
                      </m:r>
                      <m:r>
                        <m:rPr>
                          <m:sty m:val="p"/>
                        </m:rPr>
                        <a:rPr lang="en-US" altLang="zh-TW" sz="1000" b="0" i="0" smtClean="0">
                          <a:latin typeface="Cambria Math" panose="02040503050406030204" pitchFamily="18" charset="0"/>
                        </a:rPr>
                        <m:t>softmax</m:t>
                      </m:r>
                      <m:d>
                        <m:dPr>
                          <m:ctrlPr>
                            <a:rPr lang="en-US" altLang="zh-TW" sz="1000" b="0" smtClean="0">
                              <a:latin typeface="Cambria Math" panose="02040503050406030204" pitchFamily="18" charset="0"/>
                            </a:rPr>
                          </m:ctrlPr>
                        </m:dPr>
                        <m:e>
                          <m:f>
                            <m:fPr>
                              <m:ctrlPr>
                                <a:rPr lang="en-US" altLang="zh-TW" sz="1000" b="0"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QK</m:t>
                                  </m:r>
                                </m:e>
                                <m:sup>
                                  <m:r>
                                    <m:rPr>
                                      <m:sty m:val="p"/>
                                    </m:rPr>
                                    <a:rPr lang="en-US" altLang="zh-TW" sz="1000" b="0" i="0" smtClean="0">
                                      <a:latin typeface="Cambria Math" panose="02040503050406030204" pitchFamily="18" charset="0"/>
                                    </a:rPr>
                                    <m:t>T</m:t>
                                  </m:r>
                                </m:sup>
                              </m:sSup>
                            </m:num>
                            <m:den>
                              <m:rad>
                                <m:radPr>
                                  <m:degHide m:val="on"/>
                                  <m:ctrlPr>
                                    <a:rPr lang="en-US" altLang="zh-TW" sz="1000" b="0" smtClean="0">
                                      <a:latin typeface="Cambria Math" panose="02040503050406030204" pitchFamily="18" charset="0"/>
                                    </a:rPr>
                                  </m:ctrlPr>
                                </m:radPr>
                                <m:deg/>
                                <m:e>
                                  <m:sSub>
                                    <m:sSubPr>
                                      <m:ctrlPr>
                                        <a:rPr lang="en-US" altLang="zh-TW" sz="1000" b="0" i="0" smtClean="0">
                                          <a:latin typeface="Cambria Math" panose="02040503050406030204" pitchFamily="18" charset="0"/>
                                        </a:rPr>
                                      </m:ctrlPr>
                                    </m:sSubPr>
                                    <m:e>
                                      <m:r>
                                        <m:rPr>
                                          <m:sty m:val="p"/>
                                        </m:rPr>
                                        <a:rPr lang="en-US" altLang="zh-TW" sz="1000" b="0" i="0" smtClean="0">
                                          <a:latin typeface="Cambria Math" panose="02040503050406030204" pitchFamily="18" charset="0"/>
                                        </a:rPr>
                                        <m:t>d</m:t>
                                      </m:r>
                                    </m:e>
                                    <m:sub>
                                      <m:r>
                                        <m:rPr>
                                          <m:sty m:val="p"/>
                                        </m:rPr>
                                        <a:rPr lang="en-US" altLang="zh-TW" sz="1000" b="0" i="0" smtClean="0">
                                          <a:latin typeface="Cambria Math" panose="02040503050406030204" pitchFamily="18" charset="0"/>
                                        </a:rPr>
                                        <m:t>h</m:t>
                                      </m:r>
                                    </m:sub>
                                  </m:sSub>
                                </m:e>
                              </m:rad>
                            </m:den>
                          </m:f>
                        </m:e>
                      </m:d>
                      <m:r>
                        <a:rPr lang="en-US" altLang="zh-TW" sz="1000" b="0" i="0" smtClean="0">
                          <a:latin typeface="Cambria Math" panose="02040503050406030204" pitchFamily="18" charset="0"/>
                        </a:rPr>
                        <m:t>∗</m:t>
                      </m:r>
                      <m:r>
                        <m:rPr>
                          <m:sty m:val="p"/>
                        </m:rPr>
                        <a:rPr lang="en-US" altLang="zh-TW" sz="1000" b="0" i="0" smtClean="0">
                          <a:latin typeface="Cambria Math" panose="02040503050406030204" pitchFamily="18" charset="0"/>
                        </a:rPr>
                        <m:t>V</m:t>
                      </m:r>
                    </m:oMath>
                  </m:oMathPara>
                </a14:m>
                <a:endParaRPr lang="en-US" altLang="zh-TW" sz="1000" b="0" dirty="0">
                  <a:latin typeface="Cambria Math" panose="02040503050406030204" pitchFamily="18" charset="0"/>
                </a:endParaRPr>
              </a:p>
              <a:p>
                <a:r>
                  <a:rPr lang="en-US" altLang="zh-TW" sz="1000" b="0" dirty="0">
                    <a:latin typeface="Cambria Math" panose="02040503050406030204" pitchFamily="18" charset="0"/>
                  </a:rPr>
                  <a:t>A = </a:t>
                </a:r>
                <a14:m>
                  <m:oMath xmlns:m="http://schemas.openxmlformats.org/officeDocument/2006/math">
                    <m:r>
                      <m:rPr>
                        <m:sty m:val="p"/>
                      </m:rPr>
                      <a:rPr lang="en-US" altLang="zh-TW" sz="1000" b="0" i="0" smtClean="0">
                        <a:latin typeface="Cambria Math" panose="02040503050406030204" pitchFamily="18" charset="0"/>
                      </a:rPr>
                      <m:t>CausalMask</m:t>
                    </m:r>
                    <m:r>
                      <a:rPr lang="en-US" altLang="zh-TW" sz="1000" b="0" i="0" smtClean="0">
                        <a:latin typeface="Cambria Math" panose="02040503050406030204" pitchFamily="18" charset="0"/>
                      </a:rPr>
                      <m:t>(</m:t>
                    </m:r>
                    <m:sSub>
                      <m:sSubPr>
                        <m:ctrlPr>
                          <a:rPr lang="en-US" altLang="zh-TW" sz="1000" b="0" i="0" smtClean="0">
                            <a:latin typeface="Cambria Math" panose="02040503050406030204" pitchFamily="18" charset="0"/>
                          </a:rPr>
                        </m:ctrlPr>
                      </m:sSubPr>
                      <m:e>
                        <m:r>
                          <m:rPr>
                            <m:sty m:val="p"/>
                          </m:rPr>
                          <a:rPr lang="en-US" altLang="zh-TW" sz="1000" b="0" i="0" smtClean="0">
                            <a:latin typeface="Cambria Math" panose="02040503050406030204" pitchFamily="18" charset="0"/>
                          </a:rPr>
                          <m:t>A</m:t>
                        </m:r>
                      </m:e>
                      <m:sub>
                        <m:r>
                          <a:rPr lang="en-US" altLang="zh-TW" sz="1000" b="0" i="0" smtClean="0">
                            <a:latin typeface="Cambria Math" panose="02040503050406030204" pitchFamily="18" charset="0"/>
                          </a:rPr>
                          <m:t>0</m:t>
                        </m:r>
                      </m:sub>
                    </m:sSub>
                    <m:r>
                      <a:rPr lang="en-US" altLang="zh-TW" sz="1000" b="0" i="0" smtClean="0">
                        <a:latin typeface="Cambria Math" panose="02040503050406030204" pitchFamily="18" charset="0"/>
                      </a:rPr>
                      <m:t>)</m:t>
                    </m:r>
                  </m:oMath>
                </a14:m>
                <a:endParaRPr lang="en-US" altLang="zh-TW" sz="1000" b="0" dirty="0">
                  <a:latin typeface="Cambria Math" panose="02040503050406030204" pitchFamily="18" charset="0"/>
                </a:endParaRPr>
              </a:p>
            </p:txBody>
          </p:sp>
        </mc:Choice>
        <mc:Fallback>
          <p:sp>
            <p:nvSpPr>
              <p:cNvPr id="153" name="文字方塊 152">
                <a:extLst>
                  <a:ext uri="{FF2B5EF4-FFF2-40B4-BE49-F238E27FC236}">
                    <a16:creationId xmlns:a16="http://schemas.microsoft.com/office/drawing/2014/main" id="{C1DAE41F-DE6E-908A-C787-B8211314D7D6}"/>
                  </a:ext>
                </a:extLst>
              </p:cNvPr>
              <p:cNvSpPr txBox="1">
                <a:spLocks noRot="1" noChangeAspect="1" noMove="1" noResize="1" noEditPoints="1" noAdjustHandles="1" noChangeArrowheads="1" noChangeShapeType="1" noTextEdit="1"/>
              </p:cNvSpPr>
              <p:nvPr/>
            </p:nvSpPr>
            <p:spPr>
              <a:xfrm>
                <a:off x="2962849" y="4083600"/>
                <a:ext cx="1383649" cy="551626"/>
              </a:xfrm>
              <a:prstGeom prst="rect">
                <a:avLst/>
              </a:prstGeom>
              <a:blipFill>
                <a:blip r:embed="rId4"/>
                <a:stretch>
                  <a:fillRect l="-5727" r="-881" b="-1444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5" name="文字方塊 154">
                <a:extLst>
                  <a:ext uri="{FF2B5EF4-FFF2-40B4-BE49-F238E27FC236}">
                    <a16:creationId xmlns:a16="http://schemas.microsoft.com/office/drawing/2014/main" id="{C166DEC4-8F29-3C20-2572-E6A6FA84756C}"/>
                  </a:ext>
                </a:extLst>
              </p:cNvPr>
              <p:cNvSpPr txBox="1"/>
              <p:nvPr/>
            </p:nvSpPr>
            <p:spPr>
              <a:xfrm>
                <a:off x="2990483" y="4751053"/>
                <a:ext cx="1289327" cy="268728"/>
              </a:xfrm>
              <a:prstGeom prst="rect">
                <a:avLst/>
              </a:prstGeom>
              <a:noFill/>
            </p:spPr>
            <p:txBody>
              <a:bodyPr wrap="none" lIns="0" tIns="0" rIns="0" bIns="0" rtlCol="0">
                <a:spAutoFit/>
              </a:bodyPr>
              <a:lstStyle/>
              <a:p>
                <a:pPr/>
                <a14:m>
                  <m:oMathPara xmlns:m="http://schemas.openxmlformats.org/officeDocument/2006/math">
                    <m:oMath>
                      <m:r>
                        <a:rPr lang="en-US" altLang="zh-TW" sz="1000" b="0" i="1" smtClean="0">
                          <a:latin typeface="Cambria Math" panose="02040503050406030204" pitchFamily="18" charset="0"/>
                        </a:rPr>
                        <m:t>𝑠𝑤𝑖𝑠ℎ</m:t>
                      </m:r>
                      <m:d>
                        <m:dPr>
                          <m:ctrlPr>
                            <a:rPr lang="el-GR" altLang="zh-TW" sz="1000" i="1">
                              <a:latin typeface="Cambria Math" panose="02040503050406030204" pitchFamily="18" charset="0"/>
                            </a:rPr>
                          </m:ctrlPr>
                        </m:dPr>
                        <m:e>
                          <m:r>
                            <m:rPr>
                              <m:sty m:val="p"/>
                            </m:rPr>
                            <a:rPr lang="el-GR" altLang="zh-TW" sz="1000" i="1">
                              <a:latin typeface="Cambria Math" panose="02040503050406030204" pitchFamily="18" charset="0"/>
                            </a:rPr>
                            <m:t>β</m:t>
                          </m:r>
                          <m:r>
                            <a:rPr lang="en-US" altLang="zh-TW" sz="1000" i="1">
                              <a:latin typeface="Cambria Math" panose="02040503050406030204" pitchFamily="18" charset="0"/>
                            </a:rPr>
                            <m:t>,</m:t>
                          </m:r>
                          <m:r>
                            <a:rPr lang="en-US" altLang="zh-TW" sz="1000" b="0" i="1" smtClean="0">
                              <a:latin typeface="Cambria Math" panose="02040503050406030204" pitchFamily="18" charset="0"/>
                            </a:rPr>
                            <m:t>𝑧</m:t>
                          </m:r>
                        </m:e>
                      </m:d>
                      <m:r>
                        <a:rPr lang="en-US" altLang="zh-TW" sz="1000" b="0" i="1" smtClean="0">
                          <a:latin typeface="Cambria Math" panose="02040503050406030204" pitchFamily="18" charset="0"/>
                        </a:rPr>
                        <m:t>=</m:t>
                      </m:r>
                      <m:f>
                        <m:fPr>
                          <m:ctrlPr>
                            <a:rPr lang="en-US" altLang="zh-TW" sz="1000" b="0" i="1" smtClean="0">
                              <a:latin typeface="Cambria Math" panose="02040503050406030204" pitchFamily="18" charset="0"/>
                            </a:rPr>
                          </m:ctrlPr>
                        </m:fPr>
                        <m:num>
                          <m:r>
                            <a:rPr lang="en-US" altLang="zh-TW" sz="1000" b="0" i="1" smtClean="0">
                              <a:latin typeface="Cambria Math" panose="02040503050406030204" pitchFamily="18" charset="0"/>
                            </a:rPr>
                            <m:t>𝑧</m:t>
                          </m:r>
                        </m:num>
                        <m:den>
                          <m:r>
                            <a:rPr lang="en-US" altLang="zh-TW" sz="1000" b="0" i="1" smtClean="0">
                              <a:latin typeface="Cambria Math" panose="02040503050406030204" pitchFamily="18" charset="0"/>
                            </a:rPr>
                            <m:t>1+</m:t>
                          </m:r>
                          <m:sSup>
                            <m:sSupPr>
                              <m:ctrlPr>
                                <a:rPr lang="en-US" altLang="zh-TW" sz="1000" b="0" i="1" smtClean="0">
                                  <a:latin typeface="Cambria Math" panose="02040503050406030204" pitchFamily="18" charset="0"/>
                                </a:rPr>
                              </m:ctrlPr>
                            </m:sSupPr>
                            <m:e>
                              <m:r>
                                <a:rPr lang="en-US" altLang="zh-TW" sz="1000" b="0" i="1" smtClean="0">
                                  <a:latin typeface="Cambria Math" panose="02040503050406030204" pitchFamily="18" charset="0"/>
                                </a:rPr>
                                <m:t>𝑒</m:t>
                              </m:r>
                            </m:e>
                            <m:sup>
                              <m:r>
                                <a:rPr lang="en-US" altLang="zh-TW" sz="1000" b="0" i="1" smtClean="0">
                                  <a:latin typeface="Cambria Math" panose="02040503050406030204" pitchFamily="18" charset="0"/>
                                </a:rPr>
                                <m:t>−</m:t>
                              </m:r>
                              <m:r>
                                <m:rPr>
                                  <m:sty m:val="p"/>
                                </m:rPr>
                                <a:rPr lang="el-GR" altLang="zh-TW" sz="1000" i="1">
                                  <a:latin typeface="Cambria Math" panose="02040503050406030204" pitchFamily="18" charset="0"/>
                                </a:rPr>
                                <m:t>β</m:t>
                              </m:r>
                              <m:r>
                                <a:rPr lang="en-US" altLang="zh-TW" sz="1000" b="0" i="1" smtClean="0">
                                  <a:latin typeface="Cambria Math" panose="02040503050406030204" pitchFamily="18" charset="0"/>
                                </a:rPr>
                                <m:t>𝑧</m:t>
                              </m:r>
                            </m:sup>
                          </m:sSup>
                        </m:den>
                      </m:f>
                    </m:oMath>
                  </m:oMathPara>
                </a14:m>
                <a:endParaRPr lang="zh-TW" altLang="en-US" sz="1000" dirty="0"/>
              </a:p>
            </p:txBody>
          </p:sp>
        </mc:Choice>
        <mc:Fallback>
          <p:sp>
            <p:nvSpPr>
              <p:cNvPr id="155" name="文字方塊 154">
                <a:extLst>
                  <a:ext uri="{FF2B5EF4-FFF2-40B4-BE49-F238E27FC236}">
                    <a16:creationId xmlns:a16="http://schemas.microsoft.com/office/drawing/2014/main" id="{C166DEC4-8F29-3C20-2572-E6A6FA84756C}"/>
                  </a:ext>
                </a:extLst>
              </p:cNvPr>
              <p:cNvSpPr txBox="1">
                <a:spLocks noRot="1" noChangeAspect="1" noMove="1" noResize="1" noEditPoints="1" noAdjustHandles="1" noChangeArrowheads="1" noChangeShapeType="1" noTextEdit="1"/>
              </p:cNvSpPr>
              <p:nvPr/>
            </p:nvSpPr>
            <p:spPr>
              <a:xfrm>
                <a:off x="2990483" y="4751053"/>
                <a:ext cx="1289327" cy="268728"/>
              </a:xfrm>
              <a:prstGeom prst="rect">
                <a:avLst/>
              </a:prstGeom>
              <a:blipFill>
                <a:blip r:embed="rId5"/>
                <a:stretch>
                  <a:fillRect l="-2370" b="-18182"/>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 name="文字方塊 1">
                <a:extLst>
                  <a:ext uri="{FF2B5EF4-FFF2-40B4-BE49-F238E27FC236}">
                    <a16:creationId xmlns:a16="http://schemas.microsoft.com/office/drawing/2014/main" id="{4F0AB958-786E-EB27-AA4B-087EE6B5EC37}"/>
                  </a:ext>
                </a:extLst>
              </p:cNvPr>
              <p:cNvSpPr txBox="1"/>
              <p:nvPr/>
            </p:nvSpPr>
            <p:spPr>
              <a:xfrm>
                <a:off x="6753360" y="3424183"/>
                <a:ext cx="632866" cy="378502"/>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000" b="0" i="0" smtClean="0">
                          <a:latin typeface="Cambria Math" panose="02040503050406030204" pitchFamily="18" charset="0"/>
                        </a:rPr>
                        <m:t>Pi</m:t>
                      </m:r>
                      <m:r>
                        <a:rPr lang="en-US" altLang="zh-TW" sz="1000" b="0" i="0" smtClean="0">
                          <a:latin typeface="Cambria Math" panose="02040503050406030204" pitchFamily="18" charset="0"/>
                        </a:rPr>
                        <m:t>=</m:t>
                      </m:r>
                      <m:f>
                        <m:fPr>
                          <m:ctrlPr>
                            <a:rPr lang="en-US" altLang="zh-TW" sz="1000" b="0"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Zi</m:t>
                              </m:r>
                            </m:sup>
                          </m:sSup>
                        </m:num>
                        <m:den>
                          <m:nary>
                            <m:naryPr>
                              <m:chr m:val="∑"/>
                              <m:ctrlPr>
                                <a:rPr lang="en-US" altLang="zh-TW" sz="1000" b="0" i="0" smtClean="0">
                                  <a:latin typeface="Cambria Math" panose="02040503050406030204" pitchFamily="18" charset="0"/>
                                </a:rPr>
                              </m:ctrlPr>
                            </m:naryPr>
                            <m:sub>
                              <m:r>
                                <m:rPr>
                                  <m:sty m:val="p"/>
                                  <m:brk m:alnAt="23"/>
                                </m:rPr>
                                <a:rPr lang="en-US" altLang="zh-TW" sz="1000" b="0" i="0" smtClean="0">
                                  <a:latin typeface="Cambria Math" panose="02040503050406030204" pitchFamily="18" charset="0"/>
                                </a:rPr>
                                <m:t>j</m:t>
                              </m:r>
                            </m:sub>
                            <m:sup>
                              <m:r>
                                <m:rPr>
                                  <m:sty m:val="p"/>
                                </m:rPr>
                                <a:rPr lang="en-US" altLang="zh-TW" sz="1000" b="0" i="0" smtClean="0">
                                  <a:latin typeface="Cambria Math" panose="02040503050406030204" pitchFamily="18" charset="0"/>
                                </a:rPr>
                                <m:t>V</m:t>
                              </m:r>
                            </m:sup>
                            <m:e>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Zj</m:t>
                                  </m:r>
                                </m:sup>
                              </m:sSup>
                            </m:e>
                          </m:nary>
                        </m:den>
                      </m:f>
                    </m:oMath>
                  </m:oMathPara>
                </a14:m>
                <a:endParaRPr lang="zh-TW" altLang="en-US" sz="1000" dirty="0"/>
              </a:p>
            </p:txBody>
          </p:sp>
        </mc:Choice>
        <mc:Fallback>
          <p:sp>
            <p:nvSpPr>
              <p:cNvPr id="2" name="文字方塊 1">
                <a:extLst>
                  <a:ext uri="{FF2B5EF4-FFF2-40B4-BE49-F238E27FC236}">
                    <a16:creationId xmlns:a16="http://schemas.microsoft.com/office/drawing/2014/main" id="{4F0AB958-786E-EB27-AA4B-087EE6B5EC37}"/>
                  </a:ext>
                </a:extLst>
              </p:cNvPr>
              <p:cNvSpPr txBox="1">
                <a:spLocks noRot="1" noChangeAspect="1" noMove="1" noResize="1" noEditPoints="1" noAdjustHandles="1" noChangeArrowheads="1" noChangeShapeType="1" noTextEdit="1"/>
              </p:cNvSpPr>
              <p:nvPr/>
            </p:nvSpPr>
            <p:spPr>
              <a:xfrm>
                <a:off x="6753360" y="3424183"/>
                <a:ext cx="632866" cy="378502"/>
              </a:xfrm>
              <a:prstGeom prst="rect">
                <a:avLst/>
              </a:prstGeom>
              <a:blipFill>
                <a:blip r:embed="rId6"/>
                <a:stretch>
                  <a:fillRect l="-4808" t="-16129" r="-35577" b="-10000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4743301" y="1998899"/>
            <a:ext cx="74412" cy="174322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1762825" y="1063705"/>
            <a:ext cx="2062741" cy="1835509"/>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547664" y="163254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914656" y="129335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467544" y="2899215"/>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566405" y="180602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1987421" y="1412776"/>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1987874" y="190318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6" name="矩形 15">
            <a:extLst>
              <a:ext uri="{FF2B5EF4-FFF2-40B4-BE49-F238E27FC236}">
                <a16:creationId xmlns:a16="http://schemas.microsoft.com/office/drawing/2014/main" id="{C674EB33-6561-8356-79AD-1532190CD138}"/>
              </a:ext>
            </a:extLst>
          </p:cNvPr>
          <p:cNvSpPr/>
          <p:nvPr/>
        </p:nvSpPr>
        <p:spPr>
          <a:xfrm>
            <a:off x="1979712" y="2420952"/>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304149" y="1458496"/>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1835696" y="1458496"/>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1836149" y="194890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0" name="文字方塊 19">
            <a:extLst>
              <a:ext uri="{FF2B5EF4-FFF2-40B4-BE49-F238E27FC236}">
                <a16:creationId xmlns:a16="http://schemas.microsoft.com/office/drawing/2014/main" id="{8821CD1F-7007-F075-AB29-57AF18B103CE}"/>
              </a:ext>
            </a:extLst>
          </p:cNvPr>
          <p:cNvSpPr txBox="1"/>
          <p:nvPr/>
        </p:nvSpPr>
        <p:spPr>
          <a:xfrm>
            <a:off x="1836149" y="2466672"/>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304602" y="194890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304602" y="2466672"/>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497480" y="1276066"/>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497480" y="1806025"/>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497480" y="2335233"/>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1987421" y="1268760"/>
            <a:ext cx="274320" cy="118033"/>
          </a:xfrm>
          <a:prstGeom prst="rect">
            <a:avLst/>
          </a:prstGeom>
          <a:noFill/>
        </p:spPr>
        <p:txBody>
          <a:bodyPr wrap="none" lIns="0" tIns="0" rIns="0" bIns="0" rtlCol="0" anchor="ctr" anchorCtr="1">
            <a:noAutofit/>
          </a:bodyPr>
          <a:lstStyle/>
          <a:p>
            <a:pPr algn="ctr"/>
            <a:r>
              <a:rPr lang="en-US" altLang="zh-TW" sz="1200" b="1" dirty="0"/>
              <a:t>d *d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949419" y="1136299"/>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483768" y="112474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2962672" y="1556792"/>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4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2400" dirty="0">
              <a:solidFill>
                <a:schemeClr val="accent4"/>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056880" y="1607910"/>
            <a:ext cx="320040" cy="320040"/>
          </a:xfrm>
          <a:prstGeom prst="rtTriangle">
            <a:avLst/>
          </a:prstGeom>
          <a:solidFill>
            <a:schemeClr val="bg1">
              <a:alpha val="8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156404" y="2899214"/>
            <a:ext cx="1335476" cy="385769"/>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r>
              <a:rPr lang="en-US" altLang="zh-TW" sz="1200" dirty="0"/>
              <a:t>:</a:t>
            </a:r>
          </a:p>
          <a:p>
            <a:pPr algn="ct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Layer(</a:t>
            </a:r>
            <a:r>
              <a:rPr lang="en-US" altLang="zh-TW" sz="1200" dirty="0">
                <a:sym typeface="Wingdings" panose="05000000000000000000" pitchFamily="2" charset="2"/>
              </a:rPr>
              <a:t>X</a:t>
            </a:r>
            <a:r>
              <a:rPr lang="en-US" altLang="zh-TW" sz="1200" baseline="-25000" dirty="0">
                <a:sym typeface="Wingdings" panose="05000000000000000000" pitchFamily="2" charset="2"/>
              </a:rPr>
              <a:t>n</a:t>
            </a:r>
            <a:r>
              <a:rPr lang="en-US" altLang="zh-TW" sz="12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200" dirty="0">
                <a:sym typeface="Wingdings" panose="05000000000000000000" pitchFamily="2" charset="2"/>
              </a:rPr>
              <a:t> X</a:t>
            </a:r>
            <a:r>
              <a:rPr lang="en-US" altLang="zh-TW" sz="1200" baseline="-25000" dirty="0">
                <a:sym typeface="Wingdings" panose="05000000000000000000" pitchFamily="2" charset="2"/>
              </a:rPr>
              <a:t>n+1</a:t>
            </a:r>
            <a:endParaRPr lang="zh-TW" altLang="en-US" sz="1200" dirty="0"/>
          </a:p>
        </p:txBody>
      </p:sp>
      <p:sp>
        <p:nvSpPr>
          <p:cNvPr id="33" name="矩形: 圓角 32">
            <a:extLst>
              <a:ext uri="{FF2B5EF4-FFF2-40B4-BE49-F238E27FC236}">
                <a16:creationId xmlns:a16="http://schemas.microsoft.com/office/drawing/2014/main" id="{A921377A-40EF-78AB-6BEA-E608C1F5801B}"/>
              </a:ext>
            </a:extLst>
          </p:cNvPr>
          <p:cNvSpPr/>
          <p:nvPr/>
        </p:nvSpPr>
        <p:spPr>
          <a:xfrm>
            <a:off x="4193005" y="1495781"/>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3937640" y="18025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503067" y="1556791"/>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3775399" y="1908690"/>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圓角 36">
            <a:extLst>
              <a:ext uri="{FF2B5EF4-FFF2-40B4-BE49-F238E27FC236}">
                <a16:creationId xmlns:a16="http://schemas.microsoft.com/office/drawing/2014/main" id="{7BBCCE7F-4FEF-31F9-29F3-F7D897C4FFCD}"/>
              </a:ext>
            </a:extLst>
          </p:cNvPr>
          <p:cNvSpPr/>
          <p:nvPr/>
        </p:nvSpPr>
        <p:spPr>
          <a:xfrm>
            <a:off x="3131840" y="2348880"/>
            <a:ext cx="457200" cy="192976"/>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3614F6B8-3E13-7351-1B64-ADF46F07D6E9}"/>
              </a:ext>
            </a:extLst>
          </p:cNvPr>
          <p:cNvSpPr/>
          <p:nvPr/>
        </p:nvSpPr>
        <p:spPr>
          <a:xfrm>
            <a:off x="3131840" y="2587952"/>
            <a:ext cx="457200" cy="192976"/>
          </a:xfrm>
          <a:prstGeom prst="round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RC</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044848" y="1391127"/>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457972" y="139372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2" name="文字方塊 41">
            <a:extLst>
              <a:ext uri="{FF2B5EF4-FFF2-40B4-BE49-F238E27FC236}">
                <a16:creationId xmlns:a16="http://schemas.microsoft.com/office/drawing/2014/main" id="{F93D75D1-1C7E-4D67-C990-C83EBB7F7C9C}"/>
              </a:ext>
            </a:extLst>
          </p:cNvPr>
          <p:cNvSpPr txBox="1"/>
          <p:nvPr/>
        </p:nvSpPr>
        <p:spPr>
          <a:xfrm>
            <a:off x="3007086" y="2156158"/>
            <a:ext cx="700818" cy="144814"/>
          </a:xfrm>
          <a:prstGeom prst="rect">
            <a:avLst/>
          </a:prstGeom>
          <a:noFill/>
        </p:spPr>
        <p:txBody>
          <a:bodyPr wrap="none" lIns="0" tIns="0" rIns="0" bIns="0" rtlCol="0" anchor="ctr" anchorCtr="1">
            <a:noAutofit/>
          </a:bodyPr>
          <a:lstStyle/>
          <a:p>
            <a:pPr algn="ctr"/>
            <a:r>
              <a:rPr lang="en-US" altLang="zh-TW" sz="1200" b="1" dirty="0"/>
              <a:t>d*S, S*d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4769070" y="1495781"/>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4631282" y="1802565"/>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4567487" y="1912317"/>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5135338" y="1505843"/>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5436096" y="1802564"/>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5296595" y="1912316"/>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4036289" y="2907719"/>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N</a:t>
            </a:r>
          </a:p>
          <a:p>
            <a:pPr algn="ctr"/>
            <a:r>
              <a:rPr lang="en-US" altLang="zh-TW" sz="1000" dirty="0">
                <a:sym typeface="Wingdings" panose="05000000000000000000" pitchFamily="2" charset="2"/>
              </a:rPr>
              <a:t>Hidden Layers</a:t>
            </a:r>
            <a:endParaRPr lang="zh-TW" altLang="en-US" sz="1000" dirty="0"/>
          </a:p>
        </p:txBody>
      </p:sp>
      <p:sp>
        <p:nvSpPr>
          <p:cNvPr id="51" name="矩形 50">
            <a:extLst>
              <a:ext uri="{FF2B5EF4-FFF2-40B4-BE49-F238E27FC236}">
                <a16:creationId xmlns:a16="http://schemas.microsoft.com/office/drawing/2014/main" id="{F7C1906D-E521-4C0B-5AA7-25BAB494DD96}"/>
              </a:ext>
            </a:extLst>
          </p:cNvPr>
          <p:cNvSpPr/>
          <p:nvPr/>
        </p:nvSpPr>
        <p:spPr>
          <a:xfrm>
            <a:off x="5436096" y="2196480"/>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6300192" y="1628800"/>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6228184" y="1935514"/>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5868144" y="1298383"/>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6328574" y="1977804"/>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5902907" y="1134821"/>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stCxn id="51" idx="3"/>
            <a:endCxn id="56" idx="3"/>
          </p:cNvCxnSpPr>
          <p:nvPr/>
        </p:nvCxnSpPr>
        <p:spPr>
          <a:xfrm flipV="1">
            <a:off x="5664846" y="2156700"/>
            <a:ext cx="778103"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020272" y="1289891"/>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logit</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6084168" y="2899215"/>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7449772" y="129335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7480895" y="1124744"/>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6933710" y="1124744"/>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251520" y="1289891"/>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160109"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3995936"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sp>
        <p:nvSpPr>
          <p:cNvPr id="119" name="矩形: 圓角 118">
            <a:extLst>
              <a:ext uri="{FF2B5EF4-FFF2-40B4-BE49-F238E27FC236}">
                <a16:creationId xmlns:a16="http://schemas.microsoft.com/office/drawing/2014/main" id="{F7477F9B-D4A8-4756-1FCA-E84E000EF944}"/>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2883532776"/>
              </p:ext>
            </p:extLst>
          </p:nvPr>
        </p:nvGraphicFramePr>
        <p:xfrm>
          <a:off x="2233359" y="4737891"/>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985477625"/>
              </p:ext>
            </p:extLst>
          </p:nvPr>
        </p:nvGraphicFramePr>
        <p:xfrm>
          <a:off x="4453832" y="4737891"/>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826463657"/>
              </p:ext>
            </p:extLst>
          </p:nvPr>
        </p:nvGraphicFramePr>
        <p:xfrm>
          <a:off x="6332612"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2889581225"/>
              </p:ext>
            </p:extLst>
          </p:nvPr>
        </p:nvGraphicFramePr>
        <p:xfrm>
          <a:off x="1469798" y="4737891"/>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615811" y="4354489"/>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538765" y="4354489"/>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1625383457"/>
              </p:ext>
            </p:extLst>
          </p:nvPr>
        </p:nvGraphicFramePr>
        <p:xfrm>
          <a:off x="7349892"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87051" y="4354488"/>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122613" y="5354976"/>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412282" y="3678870"/>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3808866385"/>
              </p:ext>
            </p:extLst>
          </p:nvPr>
        </p:nvGraphicFramePr>
        <p:xfrm>
          <a:off x="2233358" y="3933056"/>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608090" y="4356439"/>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78859" y="3631729"/>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419872" y="4354488"/>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552433745"/>
              </p:ext>
            </p:extLst>
          </p:nvPr>
        </p:nvGraphicFramePr>
        <p:xfrm>
          <a:off x="4198085" y="4725666"/>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mc:Choice xmlns:a14="http://schemas.microsoft.com/office/drawing/2010/main" Requires="a14">
          <p:sp>
            <p:nvSpPr>
              <p:cNvPr id="6" name="文字方塊 5">
                <a:extLst>
                  <a:ext uri="{FF2B5EF4-FFF2-40B4-BE49-F238E27FC236}">
                    <a16:creationId xmlns:a16="http://schemas.microsoft.com/office/drawing/2014/main" id="{6533E10E-209C-5074-10A7-4E4A830D6AF9}"/>
                  </a:ext>
                </a:extLst>
              </p:cNvPr>
              <p:cNvSpPr txBox="1"/>
              <p:nvPr/>
            </p:nvSpPr>
            <p:spPr>
              <a:xfrm>
                <a:off x="6979064" y="3501008"/>
                <a:ext cx="1409360" cy="761042"/>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Norm</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0" smtClean="0">
                          <a:latin typeface="Cambria Math" panose="02040503050406030204" pitchFamily="18" charset="0"/>
                        </a:rPr>
                        <m:t>=</m:t>
                      </m:r>
                      <m:d>
                        <m:dPr>
                          <m:begChr m:val="{"/>
                          <m:endChr m:val="}"/>
                          <m:ctrlPr>
                            <a:rPr lang="en-US" altLang="zh-TW" sz="1000" i="1" dirty="0">
                              <a:latin typeface="Cambria Math" panose="02040503050406030204" pitchFamily="18" charset="0"/>
                            </a:rPr>
                          </m:ctrlPr>
                        </m:dPr>
                        <m:e>
                          <m:f>
                            <m:fPr>
                              <m:ctrlPr>
                                <a:rPr lang="en-US" altLang="zh-TW" sz="1000" i="0" dirty="0"/>
                              </m:ctrlPr>
                            </m:fPr>
                            <m:num>
                              <m:r>
                                <m:rPr>
                                  <m:nor/>
                                </m:rPr>
                                <a:rPr lang="en-US" altLang="zh-TW" sz="1000" i="0" dirty="0"/>
                                <m:t>x</m:t>
                              </m:r>
                              <m:r>
                                <m:rPr>
                                  <m:nor/>
                                </m:rPr>
                                <a:rPr lang="en-US" altLang="zh-TW" sz="1000" i="0" baseline="-25000" dirty="0"/>
                                <m:t>i</m:t>
                              </m:r>
                              <m:r>
                                <m:rPr>
                                  <m:nor/>
                                </m:rPr>
                                <a:rPr lang="en-US" altLang="zh-TW" sz="1000" i="0" dirty="0"/>
                                <m:t>∗γi</m:t>
                              </m:r>
                            </m:num>
                            <m:den>
                              <m:r>
                                <m:rPr>
                                  <m:nor/>
                                </m:rPr>
                                <a:rPr lang="en-US" altLang="zh-TW" sz="1000" i="0" dirty="0"/>
                                <m:t>RMS(x)</m:t>
                              </m:r>
                            </m:den>
                          </m:f>
                        </m:e>
                      </m:d>
                      <m:r>
                        <a:rPr lang="en-US" altLang="zh-TW" sz="1000" b="0" i="0" smtClean="0">
                          <a:latin typeface="Cambria Math" panose="02040503050406030204" pitchFamily="18" charset="0"/>
                        </a:rPr>
                        <m:t>; </m:t>
                      </m:r>
                    </m:oMath>
                  </m:oMathPara>
                </a14:m>
                <a:endParaRPr lang="en-US" altLang="zh-TW" sz="10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RMS</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1" smtClean="0">
                          <a:latin typeface="Cambria Math" panose="02040503050406030204" pitchFamily="18" charset="0"/>
                        </a:rPr>
                        <m:t>=</m:t>
                      </m:r>
                      <m:rad>
                        <m:radPr>
                          <m:degHide m:val="on"/>
                          <m:ctrlPr>
                            <a:rPr lang="en-US" altLang="zh-TW" sz="1000" b="0" i="1" smtClean="0">
                              <a:latin typeface="Cambria Math" panose="02040503050406030204" pitchFamily="18" charset="0"/>
                            </a:rPr>
                          </m:ctrlPr>
                        </m:radPr>
                        <m:deg/>
                        <m:e>
                          <m:f>
                            <m:fPr>
                              <m:ctrlPr>
                                <a:rPr lang="en-US" altLang="zh-TW" sz="1000" b="0" i="1" smtClean="0">
                                  <a:latin typeface="Cambria Math" panose="02040503050406030204" pitchFamily="18" charset="0"/>
                                </a:rPr>
                              </m:ctrlPr>
                            </m:fPr>
                            <m:num>
                              <m:r>
                                <a:rPr lang="en-US" altLang="zh-TW" sz="1000" b="0" i="1" smtClean="0">
                                  <a:latin typeface="Cambria Math" panose="02040503050406030204" pitchFamily="18" charset="0"/>
                                </a:rPr>
                                <m:t>1</m:t>
                              </m:r>
                            </m:num>
                            <m:den>
                              <m:r>
                                <a:rPr lang="en-US" altLang="zh-TW" sz="1000" b="0" i="1" smtClean="0">
                                  <a:latin typeface="Cambria Math" panose="02040503050406030204" pitchFamily="18" charset="0"/>
                                </a:rPr>
                                <m:t>𝑑</m:t>
                              </m:r>
                            </m:den>
                          </m:f>
                          <m:nary>
                            <m:naryPr>
                              <m:chr m:val="∑"/>
                              <m:limLoc m:val="subSup"/>
                              <m:ctrlPr>
                                <a:rPr lang="en-US" altLang="zh-TW" sz="1000" i="1">
                                  <a:latin typeface="Cambria Math" panose="02040503050406030204" pitchFamily="18" charset="0"/>
                                </a:rPr>
                              </m:ctrlPr>
                            </m:naryPr>
                            <m:sub>
                              <m:r>
                                <m:rPr>
                                  <m:brk m:alnAt="25"/>
                                </m:rPr>
                                <a:rPr lang="en-US" altLang="zh-TW" sz="1000" i="1">
                                  <a:latin typeface="Cambria Math" panose="02040503050406030204" pitchFamily="18" charset="0"/>
                                </a:rPr>
                                <m:t>𝑖</m:t>
                              </m:r>
                            </m:sub>
                            <m:sup>
                              <m:r>
                                <a:rPr lang="en-US" altLang="zh-TW" sz="1000" i="1">
                                  <a:latin typeface="Cambria Math" panose="02040503050406030204" pitchFamily="18" charset="0"/>
                                </a:rPr>
                                <m:t>𝑑</m:t>
                              </m:r>
                            </m:sup>
                            <m:e>
                              <m:sSubSup>
                                <m:sSubSupPr>
                                  <m:ctrlPr>
                                    <a:rPr lang="en-US" altLang="zh-TW" sz="1000" i="1">
                                      <a:latin typeface="Cambria Math" panose="02040503050406030204" pitchFamily="18" charset="0"/>
                                    </a:rPr>
                                  </m:ctrlPr>
                                </m:sSubSupPr>
                                <m:e>
                                  <m:r>
                                    <a:rPr lang="en-US" altLang="zh-TW" sz="1000" i="1">
                                      <a:latin typeface="Cambria Math" panose="02040503050406030204" pitchFamily="18" charset="0"/>
                                    </a:rPr>
                                    <m:t>𝑥</m:t>
                                  </m:r>
                                </m:e>
                                <m:sub>
                                  <m:r>
                                    <a:rPr lang="en-US" altLang="zh-TW" sz="1000" i="1">
                                      <a:latin typeface="Cambria Math" panose="02040503050406030204" pitchFamily="18" charset="0"/>
                                    </a:rPr>
                                    <m:t>𝑖</m:t>
                                  </m:r>
                                </m:sub>
                                <m:sup>
                                  <m:r>
                                    <a:rPr lang="en-US" altLang="zh-TW" sz="1000" i="1">
                                      <a:latin typeface="Cambria Math" panose="02040503050406030204" pitchFamily="18" charset="0"/>
                                    </a:rPr>
                                    <m:t>2</m:t>
                                  </m:r>
                                </m:sup>
                              </m:sSubSup>
                              <m:r>
                                <a:rPr lang="en-US" altLang="zh-TW" sz="1000" i="1">
                                  <a:latin typeface="Cambria Math" panose="02040503050406030204" pitchFamily="18" charset="0"/>
                                </a:rPr>
                                <m:t>+</m:t>
                              </m:r>
                              <m:r>
                                <a:rPr lang="en-US" altLang="zh-TW" sz="1000" i="1">
                                  <a:latin typeface="Cambria Math" panose="02040503050406030204" pitchFamily="18" charset="0"/>
                                </a:rPr>
                                <m:t>𝑒</m:t>
                              </m:r>
                            </m:e>
                          </m:nary>
                        </m:e>
                      </m:rad>
                    </m:oMath>
                  </m:oMathPara>
                </a14:m>
                <a:endParaRPr lang="zh-TW" altLang="en-US" sz="1000" dirty="0"/>
              </a:p>
            </p:txBody>
          </p:sp>
        </mc:Choice>
        <mc:Fallback>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979064" y="3501008"/>
                <a:ext cx="1409360" cy="761042"/>
              </a:xfrm>
              <a:prstGeom prst="rect">
                <a:avLst/>
              </a:prstGeom>
              <a:blipFill>
                <a:blip r:embed="rId3"/>
                <a:stretch>
                  <a:fillRect l="-3463" t="-23200" r="-35498" b="-1016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04C69D51-1D28-7D46-D4F3-7BE78FE1AE01}"/>
                  </a:ext>
                </a:extLst>
              </p:cNvPr>
              <p:cNvSpPr txBox="1"/>
              <p:nvPr/>
            </p:nvSpPr>
            <p:spPr>
              <a:xfrm>
                <a:off x="3188351" y="2420888"/>
                <a:ext cx="1383649" cy="551626"/>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000" i="0">
                              <a:latin typeface="Cambria Math" panose="02040503050406030204" pitchFamily="18" charset="0"/>
                            </a:rPr>
                          </m:ctrlPr>
                        </m:sSubPr>
                        <m:e>
                          <m:r>
                            <m:rPr>
                              <m:sty m:val="p"/>
                            </m:rPr>
                            <a:rPr lang="en-US" altLang="zh-TW" sz="1000" i="0">
                              <a:latin typeface="Cambria Math" panose="02040503050406030204" pitchFamily="18" charset="0"/>
                            </a:rPr>
                            <m:t>A</m:t>
                          </m:r>
                        </m:e>
                        <m:sub>
                          <m:r>
                            <a:rPr lang="en-US" altLang="zh-TW" sz="1000" i="0">
                              <a:latin typeface="Cambria Math" panose="02040503050406030204" pitchFamily="18" charset="0"/>
                            </a:rPr>
                            <m:t>0</m:t>
                          </m:r>
                        </m:sub>
                      </m:sSub>
                      <m:r>
                        <a:rPr lang="en-US" altLang="zh-TW" sz="1000" b="0" i="0" smtClean="0">
                          <a:latin typeface="Cambria Math" panose="02040503050406030204" pitchFamily="18" charset="0"/>
                        </a:rPr>
                        <m:t>=</m:t>
                      </m:r>
                      <m:r>
                        <m:rPr>
                          <m:sty m:val="p"/>
                        </m:rPr>
                        <a:rPr lang="en-US" altLang="zh-TW" sz="1000" b="0" i="0" smtClean="0">
                          <a:latin typeface="Cambria Math" panose="02040503050406030204" pitchFamily="18" charset="0"/>
                        </a:rPr>
                        <m:t>softmax</m:t>
                      </m:r>
                      <m:d>
                        <m:dPr>
                          <m:ctrlPr>
                            <a:rPr lang="en-US" altLang="zh-TW" sz="1000" b="0" i="1" smtClean="0">
                              <a:latin typeface="Cambria Math" panose="02040503050406030204" pitchFamily="18" charset="0"/>
                            </a:rPr>
                          </m:ctrlPr>
                        </m:dPr>
                        <m:e>
                          <m:f>
                            <m:fPr>
                              <m:ctrlPr>
                                <a:rPr lang="en-US" altLang="zh-TW" sz="1000" b="0" i="1"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QK</m:t>
                                  </m:r>
                                </m:e>
                                <m:sup>
                                  <m:r>
                                    <m:rPr>
                                      <m:sty m:val="p"/>
                                    </m:rPr>
                                    <a:rPr lang="en-US" altLang="zh-TW" sz="1000" b="0" i="0" smtClean="0">
                                      <a:latin typeface="Cambria Math" panose="02040503050406030204" pitchFamily="18" charset="0"/>
                                    </a:rPr>
                                    <m:t>T</m:t>
                                  </m:r>
                                </m:sup>
                              </m:sSup>
                            </m:num>
                            <m:den>
                              <m:rad>
                                <m:radPr>
                                  <m:degHide m:val="on"/>
                                  <m:ctrlPr>
                                    <a:rPr lang="en-US" altLang="zh-TW" sz="1000" b="0" i="1" smtClean="0">
                                      <a:latin typeface="Cambria Math" panose="02040503050406030204" pitchFamily="18" charset="0"/>
                                    </a:rPr>
                                  </m:ctrlPr>
                                </m:radPr>
                                <m:deg/>
                                <m:e>
                                  <m:sSub>
                                    <m:sSubPr>
                                      <m:ctrlPr>
                                        <a:rPr lang="en-US" altLang="zh-TW" sz="1000" b="0" i="0" smtClean="0">
                                          <a:latin typeface="Cambria Math" panose="02040503050406030204" pitchFamily="18" charset="0"/>
                                        </a:rPr>
                                      </m:ctrlPr>
                                    </m:sSubPr>
                                    <m:e>
                                      <m:r>
                                        <m:rPr>
                                          <m:sty m:val="p"/>
                                        </m:rPr>
                                        <a:rPr lang="en-US" altLang="zh-TW" sz="1000" b="0" i="0" smtClean="0">
                                          <a:latin typeface="Cambria Math" panose="02040503050406030204" pitchFamily="18" charset="0"/>
                                        </a:rPr>
                                        <m:t>d</m:t>
                                      </m:r>
                                    </m:e>
                                    <m:sub>
                                      <m:r>
                                        <m:rPr>
                                          <m:sty m:val="p"/>
                                        </m:rPr>
                                        <a:rPr lang="en-US" altLang="zh-TW" sz="1000" b="0" i="0" smtClean="0">
                                          <a:latin typeface="Cambria Math" panose="02040503050406030204" pitchFamily="18" charset="0"/>
                                        </a:rPr>
                                        <m:t>h</m:t>
                                      </m:r>
                                    </m:sub>
                                  </m:sSub>
                                </m:e>
                              </m:rad>
                            </m:den>
                          </m:f>
                        </m:e>
                      </m:d>
                      <m:r>
                        <a:rPr lang="en-US" altLang="zh-TW" sz="1000" b="0" i="0" smtClean="0">
                          <a:latin typeface="Cambria Math" panose="02040503050406030204" pitchFamily="18" charset="0"/>
                        </a:rPr>
                        <m:t>∗</m:t>
                      </m:r>
                      <m:r>
                        <m:rPr>
                          <m:sty m:val="p"/>
                        </m:rPr>
                        <a:rPr lang="en-US" altLang="zh-TW" sz="1000" b="0" i="0" smtClean="0">
                          <a:latin typeface="Cambria Math" panose="02040503050406030204" pitchFamily="18" charset="0"/>
                        </a:rPr>
                        <m:t>V</m:t>
                      </m:r>
                    </m:oMath>
                  </m:oMathPara>
                </a14:m>
                <a:endParaRPr lang="en-US" altLang="zh-TW" sz="1000" b="0" dirty="0">
                  <a:latin typeface="Cambria Math" panose="02040503050406030204" pitchFamily="18" charset="0"/>
                </a:endParaRPr>
              </a:p>
              <a:p>
                <a:r>
                  <a:rPr lang="en-US" altLang="zh-TW" sz="1000" b="0" dirty="0">
                    <a:latin typeface="Cambria Math" panose="02040503050406030204" pitchFamily="18" charset="0"/>
                  </a:rPr>
                  <a:t>A = </a:t>
                </a:r>
                <a14:m>
                  <m:oMath xmlns:m="http://schemas.openxmlformats.org/officeDocument/2006/math">
                    <m:r>
                      <m:rPr>
                        <m:sty m:val="p"/>
                      </m:rPr>
                      <a:rPr lang="en-US" altLang="zh-TW" sz="1000" b="0" i="0" smtClean="0">
                        <a:latin typeface="Cambria Math" panose="02040503050406030204" pitchFamily="18" charset="0"/>
                      </a:rPr>
                      <m:t>CausalMask</m:t>
                    </m:r>
                    <m:r>
                      <a:rPr lang="en-US" altLang="zh-TW" sz="1000" b="0" i="0" smtClean="0">
                        <a:latin typeface="Cambria Math" panose="02040503050406030204" pitchFamily="18" charset="0"/>
                      </a:rPr>
                      <m:t>(</m:t>
                    </m:r>
                    <m:sSub>
                      <m:sSubPr>
                        <m:ctrlPr>
                          <a:rPr lang="en-US" altLang="zh-TW" sz="1000" b="0" i="0" smtClean="0">
                            <a:latin typeface="Cambria Math" panose="02040503050406030204" pitchFamily="18" charset="0"/>
                          </a:rPr>
                        </m:ctrlPr>
                      </m:sSubPr>
                      <m:e>
                        <m:r>
                          <m:rPr>
                            <m:sty m:val="p"/>
                          </m:rPr>
                          <a:rPr lang="en-US" altLang="zh-TW" sz="1000" b="0" i="0" smtClean="0">
                            <a:latin typeface="Cambria Math" panose="02040503050406030204" pitchFamily="18" charset="0"/>
                          </a:rPr>
                          <m:t>A</m:t>
                        </m:r>
                      </m:e>
                      <m:sub>
                        <m:r>
                          <a:rPr lang="en-US" altLang="zh-TW" sz="1000" b="0" i="0" smtClean="0">
                            <a:latin typeface="Cambria Math" panose="02040503050406030204" pitchFamily="18" charset="0"/>
                          </a:rPr>
                          <m:t>0</m:t>
                        </m:r>
                      </m:sub>
                    </m:sSub>
                    <m:r>
                      <a:rPr lang="en-US" altLang="zh-TW" sz="1000" b="0" i="0" smtClean="0">
                        <a:latin typeface="Cambria Math" panose="02040503050406030204" pitchFamily="18" charset="0"/>
                      </a:rPr>
                      <m:t>)</m:t>
                    </m:r>
                  </m:oMath>
                </a14:m>
                <a:endParaRPr lang="en-US" altLang="zh-TW" sz="1000" b="0" dirty="0">
                  <a:latin typeface="Cambria Math" panose="02040503050406030204" pitchFamily="18" charset="0"/>
                </a:endParaRPr>
              </a:p>
            </p:txBody>
          </p:sp>
        </mc:Choice>
        <mc:Fallback>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188351" y="2420888"/>
                <a:ext cx="1383649" cy="551626"/>
              </a:xfrm>
              <a:prstGeom prst="rect">
                <a:avLst/>
              </a:prstGeom>
              <a:blipFill>
                <a:blip r:embed="rId4"/>
                <a:stretch>
                  <a:fillRect l="-5727" r="-881" b="-13187"/>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2" name="文字方塊 41">
                <a:extLst>
                  <a:ext uri="{FF2B5EF4-FFF2-40B4-BE49-F238E27FC236}">
                    <a16:creationId xmlns:a16="http://schemas.microsoft.com/office/drawing/2014/main" id="{4EDD026C-38F0-9E61-E131-591DA8A6D994}"/>
                  </a:ext>
                </a:extLst>
              </p:cNvPr>
              <p:cNvSpPr txBox="1"/>
              <p:nvPr/>
            </p:nvSpPr>
            <p:spPr>
              <a:xfrm>
                <a:off x="3755815" y="3029571"/>
                <a:ext cx="632866" cy="378502"/>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000" b="0" i="0" smtClean="0">
                          <a:latin typeface="Cambria Math" panose="02040503050406030204" pitchFamily="18" charset="0"/>
                        </a:rPr>
                        <m:t>Pi</m:t>
                      </m:r>
                      <m:r>
                        <a:rPr lang="en-US" altLang="zh-TW" sz="1000" b="0" i="0" smtClean="0">
                          <a:latin typeface="Cambria Math" panose="02040503050406030204" pitchFamily="18" charset="0"/>
                        </a:rPr>
                        <m:t>=</m:t>
                      </m:r>
                      <m:f>
                        <m:fPr>
                          <m:ctrlPr>
                            <a:rPr lang="en-US" altLang="zh-TW" sz="1000" b="0" i="1"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Zi</m:t>
                              </m:r>
                            </m:sup>
                          </m:sSup>
                        </m:num>
                        <m:den>
                          <m:nary>
                            <m:naryPr>
                              <m:chr m:val="∑"/>
                              <m:ctrlPr>
                                <a:rPr lang="en-US" altLang="zh-TW" sz="1000" b="0" i="0" smtClean="0">
                                  <a:latin typeface="Cambria Math" panose="02040503050406030204" pitchFamily="18" charset="0"/>
                                </a:rPr>
                              </m:ctrlPr>
                            </m:naryPr>
                            <m:sub>
                              <m:r>
                                <m:rPr>
                                  <m:sty m:val="p"/>
                                  <m:brk m:alnAt="23"/>
                                </m:rPr>
                                <a:rPr lang="en-US" altLang="zh-TW" sz="1000" b="0" i="0" smtClean="0">
                                  <a:latin typeface="Cambria Math" panose="02040503050406030204" pitchFamily="18" charset="0"/>
                                </a:rPr>
                                <m:t>j</m:t>
                              </m:r>
                            </m:sub>
                            <m:sup>
                              <m:r>
                                <m:rPr>
                                  <m:sty m:val="p"/>
                                </m:rPr>
                                <a:rPr lang="en-US" altLang="zh-TW" sz="1000" b="0" i="0" smtClean="0">
                                  <a:latin typeface="Cambria Math" panose="02040503050406030204" pitchFamily="18" charset="0"/>
                                </a:rPr>
                                <m:t>V</m:t>
                              </m:r>
                            </m:sup>
                            <m:e>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Zj</m:t>
                                  </m:r>
                                </m:sup>
                              </m:sSup>
                            </m:e>
                          </m:nary>
                        </m:den>
                      </m:f>
                    </m:oMath>
                  </m:oMathPara>
                </a14:m>
                <a:endParaRPr lang="zh-TW" altLang="en-US" sz="1000" dirty="0"/>
              </a:p>
            </p:txBody>
          </p:sp>
        </mc:Choice>
        <mc:Fallback>
          <p:sp>
            <p:nvSpPr>
              <p:cNvPr id="42" name="文字方塊 41">
                <a:extLst>
                  <a:ext uri="{FF2B5EF4-FFF2-40B4-BE49-F238E27FC236}">
                    <a16:creationId xmlns:a16="http://schemas.microsoft.com/office/drawing/2014/main" id="{4EDD026C-38F0-9E61-E131-591DA8A6D994}"/>
                  </a:ext>
                </a:extLst>
              </p:cNvPr>
              <p:cNvSpPr txBox="1">
                <a:spLocks noRot="1" noChangeAspect="1" noMove="1" noResize="1" noEditPoints="1" noAdjustHandles="1" noChangeArrowheads="1" noChangeShapeType="1" noTextEdit="1"/>
              </p:cNvSpPr>
              <p:nvPr/>
            </p:nvSpPr>
            <p:spPr>
              <a:xfrm>
                <a:off x="3755815" y="3029571"/>
                <a:ext cx="632866" cy="378502"/>
              </a:xfrm>
              <a:prstGeom prst="rect">
                <a:avLst/>
              </a:prstGeom>
              <a:blipFill>
                <a:blip r:embed="rId5"/>
                <a:stretch>
                  <a:fillRect l="-3846" t="-16129" r="-36538" b="-100000"/>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398443" y="5269333"/>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0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708477" y="5269334"/>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66496" y="3212976"/>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3"/>
          <a:stretch>
            <a:fillRect/>
          </a:stretch>
        </p:blipFill>
        <p:spPr>
          <a:xfrm>
            <a:off x="899592" y="116631"/>
            <a:ext cx="3456384" cy="1661615"/>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6961559"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6746166"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89577" y="5806037"/>
            <a:ext cx="407112"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4"/>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6746169"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150790"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169886"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32040"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mc:AlternateContent xmlns:mc="http://schemas.openxmlformats.org/markup-compatibility/2006">
        <mc:Choice xmlns:a14="http://schemas.microsoft.com/office/drawing/2010/main" Requires="a14">
          <p:sp>
            <p:nvSpPr>
              <p:cNvPr id="7" name="文字方塊 6">
                <a:extLst>
                  <a:ext uri="{FF2B5EF4-FFF2-40B4-BE49-F238E27FC236}">
                    <a16:creationId xmlns:a16="http://schemas.microsoft.com/office/drawing/2014/main" id="{55B1EB7E-397A-954F-56E5-1FC4D79CD776}"/>
                  </a:ext>
                </a:extLst>
              </p:cNvPr>
              <p:cNvSpPr txBox="1"/>
              <p:nvPr/>
            </p:nvSpPr>
            <p:spPr>
              <a:xfrm>
                <a:off x="5993239" y="5439910"/>
                <a:ext cx="632866" cy="378502"/>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000" b="0" i="0" smtClean="0">
                          <a:latin typeface="Cambria Math" panose="02040503050406030204" pitchFamily="18" charset="0"/>
                        </a:rPr>
                        <m:t>Pi</m:t>
                      </m:r>
                      <m:r>
                        <a:rPr lang="en-US" altLang="zh-TW" sz="1000" b="0" i="0" smtClean="0">
                          <a:latin typeface="Cambria Math" panose="02040503050406030204" pitchFamily="18" charset="0"/>
                        </a:rPr>
                        <m:t>=</m:t>
                      </m:r>
                      <m:f>
                        <m:fPr>
                          <m:ctrlPr>
                            <a:rPr lang="en-US" altLang="zh-TW" sz="1000" b="0" i="1"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Zi</m:t>
                              </m:r>
                            </m:sup>
                          </m:sSup>
                        </m:num>
                        <m:den>
                          <m:nary>
                            <m:naryPr>
                              <m:chr m:val="∑"/>
                              <m:ctrlPr>
                                <a:rPr lang="en-US" altLang="zh-TW" sz="1000" b="0" i="0" smtClean="0">
                                  <a:latin typeface="Cambria Math" panose="02040503050406030204" pitchFamily="18" charset="0"/>
                                </a:rPr>
                              </m:ctrlPr>
                            </m:naryPr>
                            <m:sub>
                              <m:r>
                                <m:rPr>
                                  <m:sty m:val="p"/>
                                  <m:brk m:alnAt="23"/>
                                </m:rPr>
                                <a:rPr lang="en-US" altLang="zh-TW" sz="1000" b="0" i="0" smtClean="0">
                                  <a:latin typeface="Cambria Math" panose="02040503050406030204" pitchFamily="18" charset="0"/>
                                </a:rPr>
                                <m:t>j</m:t>
                              </m:r>
                            </m:sub>
                            <m:sup>
                              <m:r>
                                <m:rPr>
                                  <m:sty m:val="p"/>
                                </m:rPr>
                                <a:rPr lang="en-US" altLang="zh-TW" sz="1000" b="0" i="0" smtClean="0">
                                  <a:latin typeface="Cambria Math" panose="02040503050406030204" pitchFamily="18" charset="0"/>
                                </a:rPr>
                                <m:t>V</m:t>
                              </m:r>
                            </m:sup>
                            <m:e>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Zj</m:t>
                                  </m:r>
                                </m:sup>
                              </m:sSup>
                            </m:e>
                          </m:nary>
                        </m:den>
                      </m:f>
                    </m:oMath>
                  </m:oMathPara>
                </a14:m>
                <a:endParaRPr lang="zh-TW" altLang="en-US" sz="1000" dirty="0"/>
              </a:p>
            </p:txBody>
          </p:sp>
        </mc:Choice>
        <mc:Fallback>
          <p:sp>
            <p:nvSpPr>
              <p:cNvPr id="7" name="文字方塊 6">
                <a:extLst>
                  <a:ext uri="{FF2B5EF4-FFF2-40B4-BE49-F238E27FC236}">
                    <a16:creationId xmlns:a16="http://schemas.microsoft.com/office/drawing/2014/main" id="{55B1EB7E-397A-954F-56E5-1FC4D79CD776}"/>
                  </a:ext>
                </a:extLst>
              </p:cNvPr>
              <p:cNvSpPr txBox="1">
                <a:spLocks noRot="1" noChangeAspect="1" noMove="1" noResize="1" noEditPoints="1" noAdjustHandles="1" noChangeArrowheads="1" noChangeShapeType="1" noTextEdit="1"/>
              </p:cNvSpPr>
              <p:nvPr/>
            </p:nvSpPr>
            <p:spPr>
              <a:xfrm>
                <a:off x="5993239" y="5439910"/>
                <a:ext cx="632866" cy="378502"/>
              </a:xfrm>
              <a:prstGeom prst="rect">
                <a:avLst/>
              </a:prstGeom>
              <a:blipFill>
                <a:blip r:embed="rId5"/>
                <a:stretch>
                  <a:fillRect l="-3846" t="-14516" r="-36538" b="-1016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err="1">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1672</TotalTime>
  <Words>18893</Words>
  <Application>Microsoft Office PowerPoint</Application>
  <PresentationFormat>如螢幕大小 (4:3)</PresentationFormat>
  <Paragraphs>2978</Paragraphs>
  <Slides>49</Slides>
  <Notes>40</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49</vt:i4>
      </vt:variant>
    </vt:vector>
  </HeadingPairs>
  <TitlesOfParts>
    <vt:vector size="67"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1906</cp:revision>
  <cp:lastPrinted>2024-07-30T01:44:15Z</cp:lastPrinted>
  <dcterms:created xsi:type="dcterms:W3CDTF">2019-11-08T03:01:47Z</dcterms:created>
  <dcterms:modified xsi:type="dcterms:W3CDTF">2026-09-11T09:25:00Z</dcterms:modified>
</cp:coreProperties>
</file>