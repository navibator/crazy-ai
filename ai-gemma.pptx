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3459" r:id="rId2"/>
    <p:sldId id="3472" r:id="rId3"/>
    <p:sldId id="3502" r:id="rId4"/>
    <p:sldId id="3499" r:id="rId5"/>
    <p:sldId id="3444" r:id="rId6"/>
    <p:sldId id="3521" r:id="rId7"/>
    <p:sldId id="3520" r:id="rId8"/>
    <p:sldId id="3518" r:id="rId9"/>
    <p:sldId id="3475" r:id="rId10"/>
    <p:sldId id="3465" r:id="rId11"/>
    <p:sldId id="3515" r:id="rId12"/>
    <p:sldId id="3505" r:id="rId13"/>
    <p:sldId id="3514" r:id="rId14"/>
    <p:sldId id="3482" r:id="rId15"/>
    <p:sldId id="3489" r:id="rId16"/>
    <p:sldId id="3519" r:id="rId17"/>
    <p:sldId id="3523" r:id="rId18"/>
    <p:sldId id="3522" r:id="rId19"/>
    <p:sldId id="3504" r:id="rId20"/>
    <p:sldId id="257" r:id="rId21"/>
    <p:sldId id="265" r:id="rId22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02"/>
            <p14:sldId id="3499"/>
            <p14:sldId id="3444"/>
            <p14:sldId id="3521"/>
            <p14:sldId id="3520"/>
            <p14:sldId id="3518"/>
            <p14:sldId id="3475"/>
          </p14:sldIdLst>
        </p14:section>
        <p14:section name="Gemma" id="{5A048767-0D58-44AF-B962-12C29493294F}">
          <p14:sldIdLst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9"/>
            <p14:sldId id="3523"/>
            <p14:sldId id="3522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8000"/>
    <a:srgbClr val="EAEAEA"/>
    <a:srgbClr val="DDDDDD"/>
    <a:srgbClr val="FF99FF"/>
    <a:srgbClr val="CCFF66"/>
    <a:srgbClr val="DCE6F2"/>
    <a:srgbClr val="FFFF99"/>
    <a:srgbClr val="E3C0AB"/>
    <a:srgbClr val="F3E4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406" autoAdjust="0"/>
    <p:restoredTop sz="38667" autoAdjust="0"/>
  </p:normalViewPr>
  <p:slideViewPr>
    <p:cSldViewPr>
      <p:cViewPr>
        <p:scale>
          <a:sx n="100" d="100"/>
          <a:sy n="100" d="100"/>
        </p:scale>
        <p:origin x="780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81A17-90A7-9331-3F44-AE3CEE56D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054187F-DC36-B286-6A5E-3E08FF7E4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73D078-FC4B-EEEB-EC56-F89C13CBA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5DF597F-45FE-5CE4-D640-6655A52604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92754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FA828-BB81-20B9-F8FF-D51EE5A55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EB7EF0-23BF-7613-C8F0-A77854388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1DE388F-6C85-7B21-1F63-CC5157628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C79EC1-ECFE-2D05-74F8-6C0BB1DEF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207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 Decay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又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泛化能力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Generalization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。目前 95% 以上的 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LLaMA, GPT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endParaRPr lang="zh-TW" altLang="zh-TW" dirty="0"/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QAT（Quantization-Aware Training，量化感知訓練）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TW" altLang="zh-TW" dirty="0"/>
              <a:t>是一種 AI 模型優化技術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。它在訓練過程中模擬低精度（如 INT8）的誤差，讓神經網路提前「適應」量化損失。相較於直接量化，這能大幅減少精準度下降，常用於邊緣設備。</a:t>
            </a:r>
            <a:b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核心原理與運作方式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偽量化（Fake Quantization）：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在訓練階段，將高精度（通常為 FP32）的權重與激活值壓縮為低精度（如 INT8），計算完後再解壓縮回高精度。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模擬誤差：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讓模型在訓練時就能察覺到量化所產生的噪聲（Noise），並學會自我調整去彌補這些誤差。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權重更新：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為了在不可微分的量化函數下進行反向傳播（Backpropagation），QAT 使用直通估計器（Straight-Through Estimator, STE）來順利更新權重。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STE（Straight-Through Estimator，直通估計器）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是深度學習中用於解決「不可微分函數」反向傳播問題的一種特殊技巧。在模型量化（如 QAT）或二值化神經網路（BNN）中，它是不可或缺的核心機制。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數學困境：</a:t>
            </a:r>
            <a:r>
              <a:rPr lang="zh-TW" altLang="zh-TW" dirty="0"/>
              <a:t> 階梯函數的導數（梯度）在絕大多數地方都是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TW" altLang="zh-TW" dirty="0"/>
              <a:t>，而在跳躍的邊界點則是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無限大（不存在）</a:t>
            </a:r>
            <a:r>
              <a:rPr lang="zh-TW" altLang="zh-TW" dirty="0"/>
              <a:t>。</a:t>
            </a:r>
            <a:br>
              <a:rPr lang="zh-TW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STE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 的核心思想非常直接且「粗暴」：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在正向傳播時使用量化函數，但在反向傳播時，直接假裝量化函數不存在。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正向傳播（Forward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正常執行量化運算（例如將 2.7 四捨五入變成 3），讓模型體驗低精度帶來的誤差與噪聲。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反向傳播（Backward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當梯度傳回來到這個量化節點時，STE 直接將梯度「原封不動」地傳遞過去（相當於假設該節點的導數為 1）。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簡單來說，它就像是在反向傳播時，在不可微分的階梯函數上架了一座「直通橋梁」，讓梯度順利通過並更新前一層的 FP32 權重。</a:t>
            </a:r>
          </a:p>
          <a:p>
            <a:endParaRPr lang="zh-TW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optimizer, 作法</a:t>
            </a:r>
          </a:p>
          <a:p>
            <a:pPr rt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Adam（Adaptive Moment Estimation，自適應動態矩量估計）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結合了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動態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RMSprop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均方根傳播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的優點，既能像動態法一樣衝過局部最小值，又能為每個參數獨立調整學習率。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9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5" Type="http://schemas.openxmlformats.org/officeDocument/2006/relationships/image" Target="../media/image230.png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340768"/>
            <a:ext cx="745282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Wiki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(Knowledge base architecture)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Engine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 Engine)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Building a Bio-IT AI Agent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(Select model and FT framework)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0" name="接點: 肘形 19">
            <a:extLst>
              <a:ext uri="{FF2B5EF4-FFF2-40B4-BE49-F238E27FC236}">
                <a16:creationId xmlns:a16="http://schemas.microsoft.com/office/drawing/2014/main" id="{5D7AB01A-42BF-1A83-D824-F58E8A1AE20D}"/>
              </a:ext>
            </a:extLst>
          </p:cNvPr>
          <p:cNvCxnSpPr>
            <a:cxnSpLocks/>
            <a:stCxn id="40" idx="2"/>
            <a:endCxn id="63" idx="0"/>
          </p:cNvCxnSpPr>
          <p:nvPr/>
        </p:nvCxnSpPr>
        <p:spPr>
          <a:xfrm rot="16200000" flipH="1">
            <a:off x="4492407" y="3044045"/>
            <a:ext cx="600688" cy="748443"/>
          </a:xfrm>
          <a:prstGeom prst="bentConnector3">
            <a:avLst>
              <a:gd name="adj1" fmla="val 138056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955689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53820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635239" y="2314941"/>
            <a:ext cx="423494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987802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of MR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76997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652120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2">
                    <a:lumMod val="50000"/>
                  </a:schemeClr>
                </a:solidFill>
              </a:rPr>
              <a:t>Prompt</a:t>
            </a:r>
            <a:endParaRPr lang="zh-TW" altLang="en-US" sz="1000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960661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5FBE2F2-1040-BE2C-2C2E-7066E339EACC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41683F14-6C8A-BAF4-78F4-8368F1F46B2A}"/>
              </a:ext>
            </a:extLst>
          </p:cNvPr>
          <p:cNvCxnSpPr>
            <a:cxnSpLocks/>
            <a:stCxn id="59" idx="2"/>
            <a:endCxn id="23" idx="2"/>
          </p:cNvCxnSpPr>
          <p:nvPr/>
        </p:nvCxnSpPr>
        <p:spPr>
          <a:xfrm flipV="1">
            <a:off x="4193051" y="2693099"/>
            <a:ext cx="1479" cy="668726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箭號: 向下 39">
            <a:extLst>
              <a:ext uri="{FF2B5EF4-FFF2-40B4-BE49-F238E27FC236}">
                <a16:creationId xmlns:a16="http://schemas.microsoft.com/office/drawing/2014/main" id="{1BB089C8-012C-34D1-344B-3B93D478B5EE}"/>
              </a:ext>
            </a:extLst>
          </p:cNvPr>
          <p:cNvSpPr/>
          <p:nvPr/>
        </p:nvSpPr>
        <p:spPr>
          <a:xfrm>
            <a:off x="4337067" y="2761133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rgbClr val="7030A0"/>
                </a:solidFill>
              </a:rPr>
              <a:t>Action</a:t>
            </a:r>
            <a:endParaRPr lang="zh-TW" altLang="en-US" sz="1000" b="1" dirty="0">
              <a:solidFill>
                <a:srgbClr val="7030A0"/>
              </a:solidFill>
            </a:endParaRPr>
          </a:p>
        </p:txBody>
      </p:sp>
      <p:sp>
        <p:nvSpPr>
          <p:cNvPr id="45" name="箭號: 向下 44">
            <a:extLst>
              <a:ext uri="{FF2B5EF4-FFF2-40B4-BE49-F238E27FC236}">
                <a16:creationId xmlns:a16="http://schemas.microsoft.com/office/drawing/2014/main" id="{DF8E6641-F783-5233-BC25-50FFF1CAFA2F}"/>
              </a:ext>
            </a:extLst>
          </p:cNvPr>
          <p:cNvSpPr/>
          <p:nvPr/>
        </p:nvSpPr>
        <p:spPr>
          <a:xfrm>
            <a:off x="3905019" y="2759993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2">
                    <a:lumMod val="75000"/>
                  </a:schemeClr>
                </a:solidFill>
              </a:rPr>
              <a:t>Text</a:t>
            </a:r>
          </a:p>
        </p:txBody>
      </p:sp>
      <p:cxnSp>
        <p:nvCxnSpPr>
          <p:cNvPr id="52" name="接點: 肘形 51">
            <a:extLst>
              <a:ext uri="{FF2B5EF4-FFF2-40B4-BE49-F238E27FC236}">
                <a16:creationId xmlns:a16="http://schemas.microsoft.com/office/drawing/2014/main" id="{4D5CF06A-126A-6901-6BC5-4F75C3A9BF39}"/>
              </a:ext>
            </a:extLst>
          </p:cNvPr>
          <p:cNvCxnSpPr>
            <a:cxnSpLocks/>
            <a:stCxn id="19" idx="3"/>
            <a:endCxn id="70" idx="0"/>
          </p:cNvCxnSpPr>
          <p:nvPr/>
        </p:nvCxnSpPr>
        <p:spPr>
          <a:xfrm>
            <a:off x="5508104" y="4029078"/>
            <a:ext cx="349541" cy="569781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0F2CF-11A7-726A-D27F-288DAEACC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9182C9CB-190C-B5DD-2D63-BF54E7B24615}"/>
              </a:ext>
            </a:extLst>
          </p:cNvPr>
          <p:cNvSpPr/>
          <p:nvPr/>
        </p:nvSpPr>
        <p:spPr>
          <a:xfrm>
            <a:off x="3779912" y="1700809"/>
            <a:ext cx="1224934" cy="1800199"/>
          </a:xfrm>
          <a:prstGeom prst="roundRect">
            <a:avLst>
              <a:gd name="adj" fmla="val 8706"/>
            </a:avLst>
          </a:prstGeom>
          <a:solidFill>
            <a:schemeClr val="accent4">
              <a:lumMod val="5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120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F92D9B42-3B09-1CD3-3E9A-F0CD5AE15C1A}"/>
              </a:ext>
            </a:extLst>
          </p:cNvPr>
          <p:cNvSpPr txBox="1"/>
          <p:nvPr/>
        </p:nvSpPr>
        <p:spPr>
          <a:xfrm>
            <a:off x="512390" y="1653482"/>
            <a:ext cx="1224934" cy="88003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r>
              <a:rPr lang="en-US" altLang="zh-TW" sz="1400" b="1" dirty="0"/>
              <a:t>AI Agent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50211F-8F9D-C9F9-1FDE-5B97D695C1C8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Human-in-the-Loop Framework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Ingest(raw)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/>
              <a:t> Instruct(C/Q/L)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GitHub: </a:t>
            </a:r>
            <a:r>
              <a:rPr lang="en-US" altLang="zh-TW" sz="1600" u="sng" dirty="0">
                <a:solidFill>
                  <a:schemeClr val="accent5">
                    <a:lumMod val="50000"/>
                  </a:schemeClr>
                </a:solidFill>
              </a:rPr>
              <a:t>nashsu/llm_wiki</a:t>
            </a:r>
            <a:r>
              <a:rPr lang="en-US" altLang="zh-TW" sz="1600" dirty="0"/>
              <a:t>, </a:t>
            </a:r>
            <a:r>
              <a:rPr lang="en-US" altLang="zh-TW" sz="1600" u="sng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atomicstrata/llm-wiki-compiler</a:t>
            </a:r>
            <a:r>
              <a:rPr lang="en-US" altLang="zh-TW" sz="1600" u="none" strike="noStrike" dirty="0">
                <a:effectLst/>
              </a:rPr>
              <a:t>, </a:t>
            </a:r>
            <a:r>
              <a:rPr lang="en-US" altLang="zh-TW" sz="1600" u="sng" dirty="0">
                <a:solidFill>
                  <a:schemeClr val="accent5">
                    <a:lumMod val="50000"/>
                  </a:schemeClr>
                </a:solidFill>
              </a:rPr>
              <a:t>Knowledge-vault</a:t>
            </a:r>
            <a:r>
              <a:rPr lang="en-US" altLang="zh-TW" sz="1600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28" name="標題 1">
            <a:extLst>
              <a:ext uri="{FF2B5EF4-FFF2-40B4-BE49-F238E27FC236}">
                <a16:creationId xmlns:a16="http://schemas.microsoft.com/office/drawing/2014/main" id="{9F314D84-1AAB-B228-251F-99F15D589F7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kumimoji="0" lang="zh-TW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2738DE3-C538-771F-1E0C-B8B7C3311206}"/>
              </a:ext>
            </a:extLst>
          </p:cNvPr>
          <p:cNvSpPr txBox="1"/>
          <p:nvPr/>
        </p:nvSpPr>
        <p:spPr>
          <a:xfrm>
            <a:off x="713958" y="2847964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4F7827C-F186-7D7D-4FA3-D9FA4AE1A51F}"/>
              </a:ext>
            </a:extLst>
          </p:cNvPr>
          <p:cNvSpPr/>
          <p:nvPr/>
        </p:nvSpPr>
        <p:spPr>
          <a:xfrm>
            <a:off x="1475023" y="2356725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407DB130-C749-D9E8-D70D-CEB8209A0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732052"/>
              </p:ext>
            </p:extLst>
          </p:nvPr>
        </p:nvGraphicFramePr>
        <p:xfrm>
          <a:off x="5148064" y="1735012"/>
          <a:ext cx="3266106" cy="1731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A7F2C415-DBCE-468D-EE83-BADC8BFEB6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033066" y="2176499"/>
            <a:ext cx="718626" cy="676437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96593FAD-CC06-C829-3F7E-087D4EC457BE}"/>
              </a:ext>
            </a:extLst>
          </p:cNvPr>
          <p:cNvCxnSpPr>
            <a:cxnSpLocks/>
            <a:stCxn id="4" idx="1"/>
            <a:endCxn id="105" idx="3"/>
          </p:cNvCxnSpPr>
          <p:nvPr/>
        </p:nvCxnSpPr>
        <p:spPr>
          <a:xfrm flipH="1" flipV="1">
            <a:off x="1979712" y="2600908"/>
            <a:ext cx="180020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圖形 38" descr="科學思想 以實心填滿">
            <a:extLst>
              <a:ext uri="{FF2B5EF4-FFF2-40B4-BE49-F238E27FC236}">
                <a16:creationId xmlns:a16="http://schemas.microsoft.com/office/drawing/2014/main" id="{EA236300-D8AB-566A-3CE5-C7422D3D16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0230" y="1725491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770205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EB54-E13D-0276-16FE-3B8439DAE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78C81D66-7DBF-D198-FAB7-3DFAAD6B2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323926"/>
              </p:ext>
            </p:extLst>
          </p:nvPr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49B7A46-0ED9-7ED9-7510-EE78F29FE5F5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4DB92DA-78BD-3302-8B24-83FB829FB96B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SFT &amp;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(Edge AI)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32786DE-BC20-A5F8-DB31-949D81B2F497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Inference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tx2"/>
                </a:solidFill>
              </a:rPr>
              <a:t>Server</a:t>
            </a:r>
            <a:endParaRPr lang="en-US" altLang="zh-TW" sz="1400" b="1" u="none" strike="noStrike" dirty="0">
              <a:solidFill>
                <a:schemeClr val="tx2"/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solidFill>
                  <a:schemeClr val="tx2"/>
                </a:solidFill>
                <a:effectLst/>
              </a:rPr>
              <a:t>(LLM)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74BD80B-9201-734C-6443-E9C6EDE515F5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lvl="0" algn="ctr">
              <a:lnSpc>
                <a:spcPts val="1400"/>
              </a:lnSpc>
              <a:defRPr/>
            </a:pP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AI</a:t>
            </a:r>
            <a:r>
              <a:rPr lang="zh-TW" altLang="en-US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 </a:t>
            </a: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PC</a:t>
            </a:r>
            <a:b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</a:br>
            <a:r>
              <a:rPr lang="en-US" altLang="zh-TW" sz="12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(SLM)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09120A9-3216-3A4D-C130-3BB79B2385CA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Stage</a:t>
            </a:r>
          </a:p>
          <a:p>
            <a:pPr algn="ctr">
              <a:lnSpc>
                <a:spcPts val="1400"/>
              </a:lnSpc>
              <a:buNone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(Cloud)</a:t>
            </a:r>
            <a:endParaRPr lang="en-US" altLang="zh-TW" sz="1400" b="1" u="none" strike="noStrike" dirty="0">
              <a:solidFill>
                <a:schemeClr val="accent2"/>
              </a:solidFill>
              <a:effectLst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A1EF5383-5464-5C40-CD95-1BC634B8A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986763"/>
              </p:ext>
            </p:extLst>
          </p:nvPr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51F32BB-AF5D-9A70-D14E-236B9B03370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135EA092-B215-BD47-7043-C4AF5B4B4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chemeClr val="bg1">
                <a:alpha val="40000"/>
              </a:schemeClr>
            </a:glow>
          </a:effectLst>
        </p:spPr>
      </p:pic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D8956EC-8C58-4EE6-3794-15E7D4F27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629276"/>
              </p:ext>
            </p:extLst>
          </p:nvPr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30" name="圖片 29">
            <a:extLst>
              <a:ext uri="{FF2B5EF4-FFF2-40B4-BE49-F238E27FC236}">
                <a16:creationId xmlns:a16="http://schemas.microsoft.com/office/drawing/2014/main" id="{20DBAEDD-C1F2-2405-DE74-D94FB68D5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AB992DA8-098A-C85A-0E0A-EC2464CCE1A3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Backward Pass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Checkpointing</a:t>
            </a:r>
            <a:endParaRPr lang="zh-TW" altLang="en-US" sz="12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011670A-AD18-D760-4725-AC87CA0E0A6E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Attention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KV-Cache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662A56FC-70A6-FA2D-9DC3-8EDA197AAAA4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Throughput,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PEFT</a:t>
            </a:r>
            <a:endParaRPr lang="zh-TW" altLang="en-US" sz="1200" dirty="0"/>
          </a:p>
        </p:txBody>
      </p: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FEB0228A-4144-BC54-6225-6205E276FBE3}"/>
              </a:ext>
            </a:extLst>
          </p:cNvPr>
          <p:cNvCxnSpPr>
            <a:cxnSpLocks/>
            <a:stCxn id="3" idx="3"/>
            <a:endCxn id="13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ln w="25400">
            <a:solidFill>
              <a:schemeClr val="bg1">
                <a:lumMod val="75000"/>
              </a:schemeClr>
            </a:solidFill>
            <a:headEnd w="med" len="lg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圖片 13">
            <a:extLst>
              <a:ext uri="{FF2B5EF4-FFF2-40B4-BE49-F238E27FC236}">
                <a16:creationId xmlns:a16="http://schemas.microsoft.com/office/drawing/2014/main" id="{6A19A26D-0595-B833-26F8-539F4EB87F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C1A9147E-F72B-ADB6-4DA8-0242A9E1BF56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Latency, TTFT,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Operator Fusion</a:t>
            </a:r>
            <a:endParaRPr lang="zh-TW" altLang="en-US" sz="1200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F3B204E8-9E74-B3D1-6886-09D4188A55E7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</a:rPr>
              <a:t>Model File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dirty="0"/>
              <a:t>(GGUF, ONNX)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400FAA8A-4147-8B00-9580-A50FE9BFA505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Framework:</a:t>
            </a:r>
            <a:r>
              <a:rPr lang="en-US" altLang="zh-TW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Optimizes</a:t>
            </a:r>
            <a:r>
              <a:rPr lang="en-US" altLang="zh-TW" sz="1600" dirty="0"/>
              <a:t> model weights using gradients.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Inference Engine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Runs</a:t>
            </a:r>
            <a:r>
              <a:rPr lang="en-US" altLang="zh-TW" sz="1600" dirty="0"/>
              <a:t> trained models to generate predictions.</a:t>
            </a:r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4250BB2F-3E2E-142D-8E2C-0C55A2542BDA}"/>
              </a:ext>
            </a:extLst>
          </p:cNvPr>
          <p:cNvCxnSpPr>
            <a:cxnSpLocks/>
            <a:stCxn id="102" idx="2"/>
            <a:endCxn id="9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8CF7F8B-C53A-57E9-4723-186600068448}"/>
              </a:ext>
            </a:extLst>
          </p:cNvPr>
          <p:cNvCxnSpPr>
            <a:cxnSpLocks/>
            <a:stCxn id="13" idx="2"/>
            <a:endCxn id="22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C75B7D8C-9A37-CC8D-DAA6-3D999E4C7378}"/>
              </a:ext>
            </a:extLst>
          </p:cNvPr>
          <p:cNvCxnSpPr>
            <a:cxnSpLocks/>
            <a:stCxn id="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4291EA9-298A-7ADF-0020-17EE71DA7083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CA014519-788B-AB92-B84F-36E7C69222BC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Cloud</a:t>
            </a:r>
          </a:p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Edge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79498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97A6AF-A59A-D8E8-D402-8B80C8509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C0694D5-25AF-678F-4839-D5482C605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464103"/>
              </p:ext>
            </p:extLst>
          </p:nvPr>
        </p:nvGraphicFramePr>
        <p:xfrm>
          <a:off x="827584" y="2132856"/>
          <a:ext cx="7694238" cy="2851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2373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5124889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20499132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795597008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HF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(Low-code)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3E4BF44D-72A8-155F-5FEF-FF52AE983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73" y="1571103"/>
            <a:ext cx="468845" cy="61218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5AB2B3A-E1D8-12EC-C70D-F1D3314C8D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324" y="1630331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8FE807A9-33DB-3107-644A-5FA5F1404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00" y="1609550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5C6322F9-E94E-0EA9-1F00-B7B8D7619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1292" y="1642124"/>
            <a:ext cx="511320" cy="51132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7769C83-A1FB-75F4-4253-A03E2A898C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578" y="1621837"/>
            <a:ext cx="584846" cy="56145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9192D10-9C29-66BC-B2D1-87AFD7FFA8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8171" y="1608689"/>
            <a:ext cx="610836" cy="5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82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43606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D26C871-0A6F-156B-6741-2D1BCEF1AF39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6" name="右大括弧 5">
            <a:extLst>
              <a:ext uri="{FF2B5EF4-FFF2-40B4-BE49-F238E27FC236}">
                <a16:creationId xmlns:a16="http://schemas.microsoft.com/office/drawing/2014/main" id="{9E7BBFE7-8CE2-0E13-D1DA-41B96806AD58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EBDAFB9-FF64-AF0E-65A2-88DBF5A1232D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21D0682F-D0D5-3FEB-FA02-4B5EAE7E36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823281"/>
              </p:ext>
            </p:extLst>
          </p:nvPr>
        </p:nvGraphicFramePr>
        <p:xfrm>
          <a:off x="2411760" y="4034730"/>
          <a:ext cx="1354882" cy="205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88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F014465A-7992-6D2B-0ED2-2EFC285D37EC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 Solution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Support QLoRA</a:t>
            </a:r>
            <a:r>
              <a:rPr lang="en-US" altLang="zh-TW" sz="1600" dirty="0"/>
              <a:t>. (Unsloth,</a:t>
            </a:r>
            <a:r>
              <a:rPr lang="zh-TW" altLang="en-US" sz="1600" dirty="0"/>
              <a:t> </a:t>
            </a:r>
            <a:r>
              <a:rPr lang="en-US" altLang="zh-TW" sz="1600" dirty="0"/>
              <a:t>Ollama)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</a:t>
            </a:r>
            <a:r>
              <a:rPr lang="en-US" altLang="zh-TW" sz="1600" dirty="0"/>
              <a:t>: Gemma 4.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Agent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OpenClaw and bio-python library.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A6861017-B894-8BC1-F162-75F3B0AC580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Designing an agent capable of interpreting genomic data and tissue images.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45B540ED-60EE-58A7-8070-E5C33AF10E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432599"/>
              </p:ext>
            </p:extLst>
          </p:nvPr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F9EE3A7A-38B4-D1E9-5799-C8A7D35B9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cxnSp>
        <p:nvCxnSpPr>
          <p:cNvPr id="42" name="接點: 肘形 41">
            <a:extLst>
              <a:ext uri="{FF2B5EF4-FFF2-40B4-BE49-F238E27FC236}">
                <a16:creationId xmlns:a16="http://schemas.microsoft.com/office/drawing/2014/main" id="{FC7173A3-FD52-3361-7E1C-CBD7A5EB8814}"/>
              </a:ext>
            </a:extLst>
          </p:cNvPr>
          <p:cNvCxnSpPr>
            <a:cxnSpLocks/>
            <a:stCxn id="8" idx="2"/>
            <a:endCxn id="46" idx="1"/>
          </p:cNvCxnSpPr>
          <p:nvPr/>
        </p:nvCxnSpPr>
        <p:spPr>
          <a:xfrm rot="16200000" flipH="1">
            <a:off x="3519681" y="3964968"/>
            <a:ext cx="262708" cy="120699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063E6162-D5C9-01FE-BA92-C6CBDE280172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D71FA00-73CF-96E2-DB9D-29D266518612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BE13760-C824-72A8-0F6C-52D418E9F327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BDD586E3-E3B0-BBF3-6C2C-F304D5C0D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51" name="矩形 50">
            <a:extLst>
              <a:ext uri="{FF2B5EF4-FFF2-40B4-BE49-F238E27FC236}">
                <a16:creationId xmlns:a16="http://schemas.microsoft.com/office/drawing/2014/main" id="{BD9F5FA8-DF10-F8FD-719D-E220A101592C}"/>
              </a:ext>
            </a:extLst>
          </p:cNvPr>
          <p:cNvSpPr/>
          <p:nvPr/>
        </p:nvSpPr>
        <p:spPr>
          <a:xfrm>
            <a:off x="6350708" y="3880539"/>
            <a:ext cx="534601" cy="39720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38100">
            <a:solidFill>
              <a:schemeClr val="accent3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Bio-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Python</a:t>
            </a:r>
            <a:endParaRPr lang="zh-TW" altLang="en-US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7F5AA83-B63F-1EB5-698E-7FFF4D222A30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496B558-57D1-8B0F-DD92-B32AFC3E6647}"/>
              </a:ext>
            </a:extLst>
          </p:cNvPr>
          <p:cNvCxnSpPr>
            <a:cxnSpLocks/>
            <a:stCxn id="61" idx="2"/>
            <a:endCxn id="4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DA424801-F801-7754-6900-FA56043A9135}"/>
              </a:ext>
            </a:extLst>
          </p:cNvPr>
          <p:cNvCxnSpPr>
            <a:cxnSpLocks/>
            <a:stCxn id="4" idx="3"/>
            <a:endCxn id="12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箭號: 向下 121">
            <a:extLst>
              <a:ext uri="{FF2B5EF4-FFF2-40B4-BE49-F238E27FC236}">
                <a16:creationId xmlns:a16="http://schemas.microsoft.com/office/drawing/2014/main" id="{33B733D2-7161-33F4-79FD-E649F748C48C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23" name="接點: 肘形 122">
            <a:extLst>
              <a:ext uri="{FF2B5EF4-FFF2-40B4-BE49-F238E27FC236}">
                <a16:creationId xmlns:a16="http://schemas.microsoft.com/office/drawing/2014/main" id="{86FF8C34-7087-86E9-F333-164B1E3A395E}"/>
              </a:ext>
            </a:extLst>
          </p:cNvPr>
          <p:cNvCxnSpPr>
            <a:cxnSpLocks/>
            <a:stCxn id="4" idx="2"/>
            <a:endCxn id="46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805C6CFD-1267-A5F6-F337-D02B15A18DC9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gut biopsy.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5" name="語音泡泡: 圓角矩形 14">
            <a:extLst>
              <a:ext uri="{FF2B5EF4-FFF2-40B4-BE49-F238E27FC236}">
                <a16:creationId xmlns:a16="http://schemas.microsoft.com/office/drawing/2014/main" id="{7646EECD-3620-7195-6E62-42B29BED12D2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BEE719D-AA9B-D04C-EC5E-E63F70E1E4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4005064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157AB89-C11C-9FF7-93B3-94697A292BC9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Unsloth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45551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48328-6D11-A467-2431-8B0B941B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48496AAB-B082-C826-3210-11C9B5962D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Hugging Face TRL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3DFF455-F351-0B33-ECC8-76D9C39A0A4B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torch</a:t>
            </a:r>
          </a:p>
          <a:p>
            <a:pPr>
              <a:lnSpc>
                <a:spcPts val="1200"/>
              </a:lnSpc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transformers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u="none" strike="noStrike" dirty="0" err="1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AutoModelForCausalLM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u="none" strike="noStrike" dirty="0" err="1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AutoTokenizer</a:t>
            </a:r>
            <a:r>
              <a:rPr lang="en-US" altLang="zh-TW" sz="1000" dirty="0">
                <a:latin typeface="Consolas" panose="020B0609020204030204" pitchFamily="49" charset="0"/>
              </a:rPr>
              <a:t>, </a:t>
            </a:r>
            <a:r>
              <a:rPr lang="en-US" altLang="zh-TW" sz="10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BitsAndBytesConfig</a:t>
            </a:r>
            <a:r>
              <a:rPr lang="en-US" altLang="zh-TW" sz="1000" dirty="0">
                <a:latin typeface="Consolas" panose="020B0609020204030204" pitchFamily="49" charset="0"/>
              </a:rPr>
              <a:t>, </a:t>
            </a:r>
            <a:endParaRPr lang="zh-TW" altLang="zh-TW" sz="1000" b="0" u="none" strike="noStrike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transformers</a:t>
            </a:r>
            <a:r>
              <a:rPr lang="zh-TW" altLang="zh-TW" sz="1000" dirty="0"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TrainingArguments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Load Initialized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 and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Tokenizer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ax_seq_length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2048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# Context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Length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tokenizer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FastLanguageModel.from_pretrained(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model_name=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"unsloth/gemma-2-9b-it"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Init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load_in_4bit=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                 # 4-bit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2.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Unsloth PEFT(QLoRA)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FastLanguageModel.get_peft_model(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lora_alpha=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target_modules=[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"k_proj"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"v_proj"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br>
              <a:rPr lang="en-US" altLang="zh-TW" sz="1000" b="0" u="none" strike="noStrike" dirty="0">
                <a:effectLst/>
                <a:latin typeface="Consolas" panose="020B0609020204030204" pitchFamily="49" charset="0"/>
              </a:rPr>
            </a:b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	      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"o_proj"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"gate_proj"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"up_proj"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"down_proj"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],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lora_dropout=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Best performance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bias=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"none"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Ultra-low 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VRAM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random_state=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3407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200"/>
              </a:lnSpc>
            </a:pP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383D9CD1-A4B4-0B00-EA29-4803A432A8F6}"/>
              </a:ext>
            </a:extLst>
          </p:cNvPr>
          <p:cNvSpPr txBox="1"/>
          <p:nvPr/>
        </p:nvSpPr>
        <p:spPr>
          <a:xfrm>
            <a:off x="5676408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4. Setup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training_args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TrainingArguments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output_dir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="./gemma4-qlora-output",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per_device_train_batch_size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gradient_accumulation_steps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learning_rate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logging_steps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=10,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bf16=True,  #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建議使用 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Ampere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架構以上的 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GPU (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如 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RTX 30/40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系列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)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max_steps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=100,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optim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="paged_adamw_8bit" #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使用 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Paged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優化器防止記憶體溢出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en-US" altLang="zh-TW" sz="1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en-US" altLang="zh-TW" sz="1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5.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開始 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SFT (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監督式微調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)#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註：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dataset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需預先準備為包涵 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text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欄位的 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Hugging Face Dataset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格式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 =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SFTTrainer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    model=model,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train_dataset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=dataset,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dataset_text_field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="text",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max_seq_length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=1024,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training_args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,)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trainer.train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7A54978-3E23-F4D0-B9E6-8B0435649250}"/>
              </a:ext>
            </a:extLst>
          </p:cNvPr>
          <p:cNvSpPr txBox="1"/>
          <p:nvPr/>
        </p:nvSpPr>
        <p:spPr>
          <a:xfrm>
            <a:off x="179512" y="98072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dirty="0">
                <a:latin typeface="Consolas" panose="020B0609020204030204" pitchFamily="49" charset="0"/>
              </a:rPr>
              <a:t>QLoRA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C7B8B59-256F-3D84-5C43-7187F1D5C7C6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Save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tuned weights into compressed Ollama GGUF format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"my_gemma_model"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"q4_k_m"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A9CDBED4-040A-62DF-9D18-A03162C4A6EB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u="none" strike="noStrike" dirty="0">
                <a:effectLst/>
                <a:latin typeface="Consolas" panose="020B0609020204030204" pitchFamily="49" charset="0"/>
              </a:rPr>
              <a:t>Exporting GGUF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283A388-02CA-1B32-10F1-7611E8479F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3092" y="180608"/>
            <a:ext cx="610836" cy="5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630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C2FA1-D71C-1571-5DF7-FBBBA4385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E7C0B290-8E6D-44B1-6DE3-7FBB5A30523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Unsloth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8753B56-4876-526F-D548-E446B615A4E6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torch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unsloth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FastLanguageModel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transformers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TrainingArguments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SFTTrainer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Load Initialized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 and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Tokenizer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ax_seq_length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2048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# Context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Length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tokenizer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FastLanguageModel.from_pretrained(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model_name=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"unsloth/gemma-2-9b-it"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Init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load_in_4bit=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                 # 4-bit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2.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Unsloth PEFT(QLoRA)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FastLanguageModel.get_peft_model(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lora_alpha=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target_modules=[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"k_proj"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"v_proj"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br>
              <a:rPr lang="en-US" altLang="zh-TW" sz="1000" b="0" u="none" strike="noStrike" dirty="0">
                <a:effectLst/>
                <a:latin typeface="Consolas" panose="020B0609020204030204" pitchFamily="49" charset="0"/>
              </a:rPr>
            </a:b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	      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"o_proj"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"gate_proj"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"up_proj"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"down_proj"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],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lora_dropout=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Best performance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bias=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"none"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Ultra-low 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VRAM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random_state=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3407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200"/>
              </a:lnSpc>
            </a:pP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8F3D1BD-FEA1-1267-FF02-F5C2BD90F822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3.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 Unsloth Optimizer</a:t>
            </a:r>
            <a:endParaRPr lang="zh-TW" altLang="zh-TW" sz="1000" b="0" i="1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training_args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output_dir=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"./gemma-unsloth-output"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warmup_steps=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latin typeface="Consolas" panose="020B0609020204030204" pitchFamily="49" charset="0"/>
              </a:rPr>
              <a:t>	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learning_rate=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2e-4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fp16=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torch.cuda.is_bf16_supported(),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bf16=torch.cuda.is_bf16_supported(),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logging_steps=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optim=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"adamw_8bit"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4.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Start Training</a:t>
            </a:r>
            <a:endParaRPr lang="zh-TW" altLang="zh-TW" sz="1000" b="0" i="1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SFTTrainer(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model=model,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tokenizer=tokenizer,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Aligned Data!!</a:t>
            </a:r>
            <a:endParaRPr lang="zh-TW" altLang="zh-TW" sz="1000" b="0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dataset_text_field=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"text"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dataset_num_proc=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args=training_args,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trainer_stats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D23E4A2-AF80-DE45-79B6-3B8FB1C15710}"/>
              </a:ext>
            </a:extLst>
          </p:cNvPr>
          <p:cNvSpPr txBox="1"/>
          <p:nvPr/>
        </p:nvSpPr>
        <p:spPr>
          <a:xfrm>
            <a:off x="179512" y="98072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dirty="0">
                <a:latin typeface="Consolas" panose="020B0609020204030204" pitchFamily="49" charset="0"/>
              </a:rPr>
              <a:t>SFT and Quantization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3593BEC-05A3-F409-07AD-D3589DE96DAB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Save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tuned weights into compressed Ollama GGUF format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"my_gemma_model"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"q4_k_m"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F9639B6-9ABE-ADFD-AEF2-698F1687076E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u="none" strike="noStrike" dirty="0">
                <a:effectLst/>
                <a:latin typeface="Consolas" panose="020B0609020204030204" pitchFamily="49" charset="0"/>
              </a:rPr>
              <a:t>Exporting GGUF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7DE70DD2-16BF-ECEA-19B3-80072208A0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680" y="179145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2313153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1767</TotalTime>
  <Words>9861</Words>
  <Application>Microsoft Office PowerPoint</Application>
  <PresentationFormat>如螢幕大小 (4:3)</PresentationFormat>
  <Paragraphs>1364</Paragraphs>
  <Slides>21</Slides>
  <Notes>16</Notes>
  <HiddenSlides>1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36" baseType="lpstr">
      <vt:lpstr>Google Sans</vt:lpstr>
      <vt:lpstr>Meiryo</vt:lpstr>
      <vt:lpstr>Noto Sans HK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1804</cp:revision>
  <cp:lastPrinted>2024-07-30T01:44:15Z</cp:lastPrinted>
  <dcterms:created xsi:type="dcterms:W3CDTF">2019-11-08T03:01:47Z</dcterms:created>
  <dcterms:modified xsi:type="dcterms:W3CDTF">2026-07-23T09:47:24Z</dcterms:modified>
</cp:coreProperties>
</file>