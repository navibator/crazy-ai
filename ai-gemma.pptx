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648" r:id="rId1"/>
  </p:sldMasterIdLst>
  <p:notesMasterIdLst>
    <p:notesMasterId r:id="rId43"/>
  </p:notesMasterIdLst>
  <p:handoutMasterIdLst>
    <p:handoutMasterId r:id="rId44"/>
  </p:handoutMasterIdLst>
  <p:sldIdLst>
    <p:sldId id="3459" r:id="rId2"/>
    <p:sldId id="3563" r:id="rId3"/>
    <p:sldId id="3504" r:id="rId4"/>
    <p:sldId id="3557" r:id="rId5"/>
    <p:sldId id="3427" r:id="rId6"/>
    <p:sldId id="3503" r:id="rId7"/>
    <p:sldId id="3470" r:id="rId8"/>
    <p:sldId id="3560" r:id="rId9"/>
    <p:sldId id="3564" r:id="rId10"/>
    <p:sldId id="3562" r:id="rId11"/>
    <p:sldId id="3428" r:id="rId12"/>
    <p:sldId id="3451" r:id="rId13"/>
    <p:sldId id="3561" r:id="rId14"/>
    <p:sldId id="3465" r:id="rId15"/>
    <p:sldId id="3558" r:id="rId16"/>
    <p:sldId id="3559" r:id="rId17"/>
    <p:sldId id="3505" r:id="rId18"/>
    <p:sldId id="3507" r:id="rId19"/>
    <p:sldId id="3460" r:id="rId20"/>
    <p:sldId id="3527" r:id="rId21"/>
    <p:sldId id="3550" r:id="rId22"/>
    <p:sldId id="3515" r:id="rId23"/>
    <p:sldId id="3528" r:id="rId24"/>
    <p:sldId id="3514" r:id="rId25"/>
    <p:sldId id="3529" r:id="rId26"/>
    <p:sldId id="3531" r:id="rId27"/>
    <p:sldId id="3499" r:id="rId28"/>
    <p:sldId id="3444" r:id="rId29"/>
    <p:sldId id="3532" r:id="rId30"/>
    <p:sldId id="3520" r:id="rId31"/>
    <p:sldId id="3475" r:id="rId32"/>
    <p:sldId id="3555" r:id="rId33"/>
    <p:sldId id="3553" r:id="rId34"/>
    <p:sldId id="3554" r:id="rId35"/>
    <p:sldId id="3549" r:id="rId36"/>
    <p:sldId id="3519" r:id="rId37"/>
    <p:sldId id="3530" r:id="rId38"/>
    <p:sldId id="269" r:id="rId39"/>
    <p:sldId id="270" r:id="rId40"/>
    <p:sldId id="257" r:id="rId41"/>
    <p:sldId id="265" r:id="rId4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563"/>
          </p14:sldIdLst>
        </p14:section>
        <p14:section name="Machine Learning" id="{B661AA10-C3FF-4E46-A114-E951FEA8A6DC}">
          <p14:sldIdLst>
            <p14:sldId id="3504"/>
            <p14:sldId id="3557"/>
            <p14:sldId id="3427"/>
            <p14:sldId id="3503"/>
          </p14:sldIdLst>
        </p14:section>
        <p14:section name="Transformer" id="{91BFD2B5-A843-4933-9519-5889D1D7895D}">
          <p14:sldIdLst>
            <p14:sldId id="3470"/>
            <p14:sldId id="3560"/>
            <p14:sldId id="3564"/>
            <p14:sldId id="3562"/>
            <p14:sldId id="3428"/>
            <p14:sldId id="3451"/>
            <p14:sldId id="3561"/>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Lst>
        </p14:section>
        <p14:section name="Google-Gemma" id="{4AE07F0F-1A3A-4225-AACF-3E87DCBDDC1F}">
          <p14:sldIdLst>
            <p14:sldId id="3527"/>
            <p14:sldId id="3550"/>
            <p14:sldId id="3515"/>
            <p14:sldId id="3528"/>
            <p14:sldId id="3514"/>
            <p14:sldId id="3529"/>
          </p14:sldIdLst>
        </p14:section>
        <p14:section name="Edge AI" id="{53FF88DE-B3A4-42C9-8839-DDE9CA6AA9E3}">
          <p14:sldIdLst>
            <p14:sldId id="3531"/>
            <p14:sldId id="3499"/>
            <p14:sldId id="3444"/>
            <p14:sldId id="3532"/>
            <p14:sldId id="3520"/>
            <p14:sldId id="3475"/>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00"/>
    <a:srgbClr val="FDF3DB"/>
    <a:srgbClr val="2260DC"/>
    <a:srgbClr val="F0F0F0"/>
    <a:srgbClr val="F8D462"/>
    <a:srgbClr val="4C6BFF"/>
    <a:srgbClr val="FF9900"/>
    <a:srgbClr val="FEC203"/>
    <a:srgbClr val="3079EF"/>
    <a:srgbClr val="B8EAC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5121" autoAdjust="0"/>
  </p:normalViewPr>
  <p:slideViewPr>
    <p:cSldViewPr>
      <p:cViewPr varScale="1">
        <p:scale>
          <a:sx n="129" d="100"/>
          <a:sy n="129" d="100"/>
        </p:scale>
        <p:origin x="774" y="126"/>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2026/9/14</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2026/9/14</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2.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0</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451899-0CB0-A1C7-3D09-B2C47673AA7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9916FE-8099-B8F2-AF31-B9114F9DF8E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C674E06-F27B-42A7-0C8B-8EA4912CEFAC}"/>
              </a:ext>
            </a:extLst>
          </p:cNvPr>
          <p:cNvSpPr>
            <a:spLocks noGrp="1"/>
          </p:cNvSpPr>
          <p:nvPr>
            <p:ph type="body" idx="1"/>
          </p:nvPr>
        </p:nvSpPr>
        <p:spPr/>
        <p:txBody>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 </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a:t>
            </a:r>
            <a:r>
              <a:rPr lang="en-US" altLang="zh-TW" dirty="0" err="1">
                <a:solidFill>
                  <a:prstClr val="black"/>
                </a:solidFill>
                <a:latin typeface="Noto Sans HK" panose="020B0200000000000000" pitchFamily="34" charset="-120"/>
                <a:ea typeface="Noto Sans HK" panose="020B0200000000000000" pitchFamily="34" charset="-120"/>
              </a:rPr>
              <a:t>DoRA</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kumimoji="0" lang="en-US" altLang="zh-TW" sz="1200" b="0" i="0" u="none" strike="noStrike" kern="1200" cap="none" spc="0" normalizeH="0" baseline="0" noProof="0" dirty="0" err="1">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err="1">
                <a:solidFill>
                  <a:prstClr val="black"/>
                </a:solidFill>
                <a:latin typeface="Noto Sans HK" panose="020B0200000000000000" pitchFamily="34" charset="-120"/>
                <a:ea typeface="Noto Sans HK" panose="020B0200000000000000" pitchFamily="34" charset="-120"/>
              </a:rPr>
              <a:t>Unsloth</a:t>
            </a:r>
            <a:r>
              <a:rPr lang="en-US" altLang="zh-TW" dirty="0">
                <a:solidFill>
                  <a:prstClr val="black"/>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p:txBody>
      </p:sp>
      <p:sp>
        <p:nvSpPr>
          <p:cNvPr id="4" name="投影片編號版面配置區 3">
            <a:extLst>
              <a:ext uri="{FF2B5EF4-FFF2-40B4-BE49-F238E27FC236}">
                <a16:creationId xmlns:a16="http://schemas.microsoft.com/office/drawing/2014/main" id="{2BF3F087-F326-9085-BF72-55BAE20BDD1B}"/>
              </a:ext>
            </a:extLst>
          </p:cNvPr>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929665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br>
              <a:rPr lang="en-US" altLang="zh-TW" dirty="0"/>
            </a:br>
            <a:br>
              <a:rPr lang="en-US" altLang="zh-TW" dirty="0"/>
            </a:br>
            <a:r>
              <a:rPr lang="en-US" altLang="zh-TW" dirty="0"/>
              <a:t>pre-training: </a:t>
            </a:r>
            <a:r>
              <a:rPr lang="zh-TW" altLang="en-US" dirty="0"/>
              <a:t>資料型態</a:t>
            </a:r>
            <a:r>
              <a:rPr lang="en-US" altLang="zh-TW" dirty="0"/>
              <a:t>/</a:t>
            </a:r>
            <a:r>
              <a:rPr lang="zh-TW" altLang="en-US" dirty="0"/>
              <a:t>向量文字</a:t>
            </a:r>
            <a:r>
              <a:rPr lang="en-US" altLang="zh-TW" dirty="0"/>
              <a:t>/</a:t>
            </a:r>
            <a:r>
              <a:rPr lang="zh-TW" altLang="en-US" dirty="0"/>
              <a:t>技術</a:t>
            </a:r>
            <a:r>
              <a:rPr lang="en-US" altLang="zh-TW" dirty="0"/>
              <a:t>/</a:t>
            </a:r>
            <a:r>
              <a:rPr lang="zh-TW" altLang="en-US" dirty="0"/>
              <a:t>思考方向</a:t>
            </a:r>
            <a:r>
              <a:rPr lang="en-US" altLang="zh-TW" dirty="0"/>
              <a:t>/</a:t>
            </a:r>
            <a:r>
              <a:rPr lang="zh-TW" altLang="en-US" dirty="0"/>
              <a:t>與人文</a:t>
            </a:r>
            <a:r>
              <a:rPr lang="en-US" altLang="zh-TW" dirty="0"/>
              <a:t>/</a:t>
            </a:r>
            <a:r>
              <a:rPr lang="zh-TW" altLang="en-US" dirty="0"/>
              <a:t>憲法</a:t>
            </a:r>
            <a:r>
              <a:rPr lang="en-US" altLang="zh-TW" dirty="0"/>
              <a:t>AI/</a:t>
            </a:r>
            <a:br>
              <a:rPr lang="en-US" altLang="zh-TW" dirty="0"/>
            </a:br>
            <a:r>
              <a:rPr lang="en-US" altLang="zh-TW" dirty="0"/>
              <a:t>fine-tuning: </a:t>
            </a:r>
            <a:r>
              <a:rPr lang="zh-TW" altLang="en-US" dirty="0"/>
              <a:t>目的</a:t>
            </a:r>
            <a:r>
              <a:rPr lang="en-US" altLang="zh-TW" dirty="0"/>
              <a:t>/</a:t>
            </a:r>
            <a:r>
              <a:rPr lang="zh-TW" altLang="en-US" dirty="0"/>
              <a:t>效果</a:t>
            </a:r>
            <a:r>
              <a:rPr lang="en-US" altLang="zh-TW" dirty="0"/>
              <a:t>/</a:t>
            </a:r>
            <a:r>
              <a:rPr lang="zh-TW" altLang="en-US" dirty="0"/>
              <a:t>自動化學習 </a:t>
            </a:r>
            <a:r>
              <a:rPr lang="en-US" altLang="zh-TW" dirty="0"/>
              <a:t>,…</a:t>
            </a:r>
            <a:r>
              <a:rPr lang="zh-TW" altLang="en-US" dirty="0"/>
              <a:t> 微調效率</a:t>
            </a:r>
            <a:br>
              <a:rPr lang="en-US" altLang="zh-TW" dirty="0"/>
            </a:br>
            <a:r>
              <a:rPr lang="en-US" altLang="zh-TW" dirty="0"/>
              <a:t>loss: </a:t>
            </a:r>
            <a:r>
              <a:rPr lang="zh-TW" altLang="en-US" dirty="0"/>
              <a:t>最佳化效率</a:t>
            </a:r>
            <a:r>
              <a:rPr lang="en-US" altLang="zh-TW" dirty="0"/>
              <a:t>/</a:t>
            </a:r>
            <a:r>
              <a:rPr lang="zh-TW" altLang="en-US" dirty="0"/>
              <a:t>結構優化</a:t>
            </a:r>
            <a:endParaRPr lang="en-US" altLang="zh-TW" dirty="0"/>
          </a:p>
          <a:p>
            <a:r>
              <a:rPr lang="en-US" altLang="zh-TW" dirty="0"/>
              <a:t>Parameters: </a:t>
            </a:r>
            <a:r>
              <a:rPr lang="zh-TW" altLang="en-US" dirty="0"/>
              <a:t>參數減量</a:t>
            </a:r>
            <a:r>
              <a:rPr lang="en-US" altLang="zh-TW" dirty="0"/>
              <a:t>/</a:t>
            </a:r>
            <a:r>
              <a:rPr lang="zh-TW" altLang="en-US" dirty="0"/>
              <a:t>低秩技術</a:t>
            </a:r>
            <a:r>
              <a:rPr lang="en-US" altLang="zh-TW" dirty="0"/>
              <a:t>/</a:t>
            </a:r>
            <a:r>
              <a:rPr lang="zh-TW" altLang="en-US" dirty="0"/>
              <a:t>量化技術</a:t>
            </a:r>
            <a:r>
              <a:rPr lang="en-US" altLang="zh-TW" dirty="0"/>
              <a:t>/</a:t>
            </a:r>
            <a:r>
              <a:rPr lang="zh-TW" altLang="en-US" dirty="0"/>
              <a:t> </a:t>
            </a:r>
            <a:r>
              <a:rPr lang="en-US" altLang="zh-TW" dirty="0"/>
              <a:t>token</a:t>
            </a:r>
            <a:r>
              <a:rPr lang="zh-TW" altLang="en-US" dirty="0"/>
              <a:t>效率</a:t>
            </a:r>
            <a:r>
              <a:rPr lang="en-US" altLang="zh-TW" dirty="0"/>
              <a:t>/</a:t>
            </a:r>
            <a:r>
              <a:rPr lang="zh-TW" altLang="en-US" dirty="0"/>
              <a:t> </a:t>
            </a:r>
            <a:br>
              <a:rPr lang="en-US" altLang="zh-TW" dirty="0"/>
            </a:br>
            <a:r>
              <a:rPr lang="en-US" altLang="zh-TW" dirty="0"/>
              <a:t>attention: </a:t>
            </a:r>
            <a:r>
              <a:rPr lang="zh-TW" altLang="en-US" dirty="0"/>
              <a:t>編碼改良</a:t>
            </a:r>
            <a:r>
              <a:rPr lang="en-US" altLang="zh-TW" dirty="0"/>
              <a:t>/</a:t>
            </a:r>
            <a:r>
              <a:rPr lang="zh-TW" altLang="en-US" dirty="0"/>
              <a:t> 特徵擷取更有效率</a:t>
            </a:r>
            <a:br>
              <a:rPr lang="en-US" altLang="zh-TW" dirty="0"/>
            </a:br>
            <a:r>
              <a:rPr lang="en-US" altLang="zh-TW" dirty="0"/>
              <a:t>model: </a:t>
            </a:r>
            <a:r>
              <a:rPr lang="zh-TW" altLang="en-US" dirty="0"/>
              <a:t>省電</a:t>
            </a:r>
            <a:r>
              <a:rPr lang="en-US" altLang="zh-TW" dirty="0"/>
              <a:t>/</a:t>
            </a:r>
            <a:r>
              <a:rPr lang="zh-TW" altLang="en-US" dirty="0"/>
              <a:t>高速</a:t>
            </a:r>
            <a:r>
              <a:rPr lang="en-US" altLang="zh-TW" dirty="0"/>
              <a:t>/</a:t>
            </a:r>
            <a:r>
              <a:rPr lang="zh-TW" altLang="en-US" dirty="0"/>
              <a:t>記憶體</a:t>
            </a:r>
            <a:r>
              <a:rPr lang="en-US" altLang="zh-TW" dirty="0"/>
              <a:t>/</a:t>
            </a:r>
            <a:r>
              <a:rPr lang="zh-TW" altLang="en-US" dirty="0"/>
              <a:t>算力優化</a:t>
            </a:r>
            <a:br>
              <a:rPr lang="en-US" altLang="zh-TW" dirty="0"/>
            </a:br>
            <a:r>
              <a:rPr lang="en-US" altLang="zh-TW" dirty="0"/>
              <a:t>agent: </a:t>
            </a:r>
            <a:r>
              <a:rPr lang="zh-TW" altLang="en-US" dirty="0"/>
              <a:t>防幻覺</a:t>
            </a:r>
            <a:r>
              <a:rPr lang="en-US" altLang="zh-TW" dirty="0"/>
              <a:t>/</a:t>
            </a:r>
            <a:r>
              <a:rPr lang="zh-TW" altLang="en-US" dirty="0"/>
              <a:t>事實查證</a:t>
            </a:r>
            <a:r>
              <a:rPr lang="en-US" altLang="zh-TW" dirty="0"/>
              <a:t>/</a:t>
            </a:r>
            <a:r>
              <a:rPr lang="zh-TW" altLang="en-US" dirty="0"/>
              <a:t>實用</a:t>
            </a:r>
            <a:r>
              <a:rPr lang="en-US" altLang="zh-TW" dirty="0"/>
              <a:t>/</a:t>
            </a:r>
            <a:r>
              <a:rPr lang="zh-TW" altLang="en-US" dirty="0"/>
              <a:t>多模態</a:t>
            </a:r>
            <a:r>
              <a:rPr lang="en-US" altLang="zh-TW" dirty="0"/>
              <a:t>/</a:t>
            </a:r>
            <a:r>
              <a:rPr lang="zh-TW" altLang="en-US" dirty="0"/>
              <a:t>獲利</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6C87C-F1D4-3D0B-F5BA-10B6D7D5E72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732815C-6209-93D8-7030-8EE8F864436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D9BA93D-6C5C-4421-21BC-3A07520D79D1}"/>
              </a:ext>
            </a:extLst>
          </p:cNvPr>
          <p:cNvSpPr>
            <a:spLocks noGrp="1"/>
          </p:cNvSpPr>
          <p:nvPr>
            <p:ph type="body" idx="1"/>
          </p:nvPr>
        </p:nvSpPr>
        <p:spPr/>
        <p:txBody>
          <a:bodyPr/>
          <a:lstStyle/>
          <a:p>
            <a:pPr marL="228600" indent="-228600">
              <a:buAutoNum type="arabicPeriod"/>
            </a:pPr>
            <a:endParaRPr lang="en-US" altLang="zh-TW" sz="1200" dirty="0">
              <a:latin typeface="微軟正黑體" panose="020B0604030504040204" pitchFamily="34" charset="-120"/>
              <a:ea typeface="微軟正黑體" panose="020B0604030504040204" pitchFamily="34" charset="-120"/>
            </a:endParaRPr>
          </a:p>
        </p:txBody>
      </p:sp>
      <p:sp>
        <p:nvSpPr>
          <p:cNvPr id="4" name="投影片編號版面配置區 3">
            <a:extLst>
              <a:ext uri="{FF2B5EF4-FFF2-40B4-BE49-F238E27FC236}">
                <a16:creationId xmlns:a16="http://schemas.microsoft.com/office/drawing/2014/main" id="{E6838917-C31E-56D7-F64A-5DDCEDE456C2}"/>
              </a:ext>
            </a:extLst>
          </p:cNvPr>
          <p:cNvSpPr>
            <a:spLocks noGrp="1"/>
          </p:cNvSpPr>
          <p:nvPr>
            <p:ph type="sldNum" sz="quarter" idx="5"/>
          </p:nvPr>
        </p:nvSpPr>
        <p:spPr/>
        <p:txBody>
          <a:bodyPr/>
          <a:lstStyle/>
          <a:p>
            <a:fld id="{E3A6CE5E-F349-486D-8749-82EF2AD71FA8}" type="slidenum">
              <a:rPr lang="zh-TW" altLang="en-US" smtClean="0"/>
              <a:t>8</a:t>
            </a:fld>
            <a:endParaRPr lang="zh-TW" altLang="en-US"/>
          </a:p>
        </p:txBody>
      </p:sp>
    </p:spTree>
    <p:extLst>
      <p:ext uri="{BB962C8B-B14F-4D97-AF65-F5344CB8AC3E}">
        <p14:creationId xmlns:p14="http://schemas.microsoft.com/office/powerpoint/2010/main" val="1376781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F364-EDE1-1C66-6068-75A8DCEC78A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8CCAAD1B-CCCD-50EC-8F02-813862B11F1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F4F7BCC-F1E6-ECEC-2EF8-ED9E29725E68}"/>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6A9B1C25-2C43-7626-EE13-319BE46BB3FA}"/>
              </a:ext>
            </a:extLst>
          </p:cNvPr>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310243055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lvl="0"/>
            <a:r>
              <a:rPr lang="zh-TW" altLang="en-US" dirty="0"/>
              <a:t>總結</a:t>
            </a:r>
            <a:r>
              <a:rPr lang="en-US" altLang="zh-TW" dirty="0"/>
              <a:t>:</a:t>
            </a:r>
            <a:r>
              <a:rPr lang="zh-TW" altLang="en-US" dirty="0"/>
              <a:t> </a:t>
            </a:r>
            <a:r>
              <a:rPr lang="en-US" altLang="zh-TW" dirty="0"/>
              <a:t>LLM </a:t>
            </a:r>
            <a:r>
              <a:rPr lang="zh-TW" altLang="en-US" dirty="0"/>
              <a:t>的運算是一堆線性組合</a:t>
            </a:r>
            <a:r>
              <a:rPr lang="en-US" altLang="zh-TW" dirty="0"/>
              <a:t>(</a:t>
            </a:r>
            <a:r>
              <a:rPr lang="zh-TW" altLang="en-US" dirty="0"/>
              <a:t>提取特徵</a:t>
            </a:r>
            <a:r>
              <a:rPr lang="en-US" altLang="zh-TW" dirty="0"/>
              <a:t>), </a:t>
            </a:r>
            <a:r>
              <a:rPr lang="zh-TW" altLang="en-US" dirty="0"/>
              <a:t>適當的用</a:t>
            </a:r>
            <a:r>
              <a:rPr lang="en-US" altLang="zh-TW" dirty="0"/>
              <a:t>”</a:t>
            </a:r>
            <a:r>
              <a:rPr lang="zh-TW" altLang="en-US" dirty="0"/>
              <a:t>非線性激活函數</a:t>
            </a:r>
            <a:r>
              <a:rPr lang="en-US" altLang="zh-TW" dirty="0"/>
              <a:t>(</a:t>
            </a:r>
            <a:r>
              <a:rPr lang="zh-TW" altLang="en-US" dirty="0"/>
              <a:t>過濾雜訊</a:t>
            </a:r>
            <a:r>
              <a:rPr lang="en-US" altLang="zh-TW" dirty="0"/>
              <a:t>,</a:t>
            </a:r>
            <a:r>
              <a:rPr lang="zh-TW" altLang="en-US" dirty="0"/>
              <a:t>防止潰縮</a:t>
            </a:r>
            <a:r>
              <a:rPr lang="en-US" altLang="zh-TW" dirty="0"/>
              <a:t>)”</a:t>
            </a:r>
            <a:r>
              <a:rPr lang="zh-TW" altLang="en-US" dirty="0"/>
              <a:t>穿插其中</a:t>
            </a:r>
            <a:r>
              <a:rPr lang="en-US" altLang="zh-TW" dirty="0"/>
              <a:t>.</a:t>
            </a:r>
            <a:br>
              <a:rPr lang="en-US" altLang="zh-TW" dirty="0"/>
            </a:br>
            <a:br>
              <a:rPr lang="en-US" altLang="zh-TW" dirty="0"/>
            </a:br>
            <a:r>
              <a:rPr lang="zh-TW" altLang="zh-TW" sz="1200" b="1" i="0" u="none" strike="noStrike" kern="1200" dirty="0">
                <a:solidFill>
                  <a:schemeClr val="tx1"/>
                </a:solidFill>
                <a:effectLst/>
                <a:latin typeface="+mn-lt"/>
                <a:ea typeface="+mn-ea"/>
                <a:cs typeface="+mn-cs"/>
              </a:rPr>
              <a:t>線性組合負責「提取特徵」：將不同的文字資訊進行矩陣相乘，在空間中揉合並提煉出深層的語意特徵。</a:t>
            </a:r>
            <a:endParaRPr lang="zh-TW" altLang="zh-TW" sz="1200" b="0" i="0" u="none" strike="noStrike" kern="1200" dirty="0">
              <a:solidFill>
                <a:schemeClr val="tx1"/>
              </a:solidFill>
              <a:effectLst/>
              <a:latin typeface="+mn-lt"/>
              <a:ea typeface="+mn-ea"/>
              <a:cs typeface="+mn-cs"/>
            </a:endParaRPr>
          </a:p>
          <a:p>
            <a:pPr lvl="0"/>
            <a:r>
              <a:rPr lang="zh-TW" altLang="zh-TW" sz="1200" b="0" i="0" u="none" strike="noStrike" kern="1200" dirty="0">
                <a:solidFill>
                  <a:schemeClr val="tx1"/>
                </a:solidFill>
                <a:effectLst/>
                <a:latin typeface="+mn-lt"/>
                <a:ea typeface="+mn-ea"/>
                <a:cs typeface="+mn-cs"/>
              </a:rPr>
              <a:t>Linear combination extracts features by mathematically blending and projecting textual inputs into rich semantic vectors within the space.</a:t>
            </a:r>
            <a:endParaRPr lang="en-US" altLang="zh-TW" sz="1200" b="0" i="0" u="none" strike="noStrike" kern="1200" dirty="0">
              <a:solidFill>
                <a:schemeClr val="tx1"/>
              </a:solidFill>
              <a:effectLst/>
              <a:latin typeface="+mn-lt"/>
              <a:ea typeface="+mn-ea"/>
              <a:cs typeface="+mn-cs"/>
            </a:endParaRPr>
          </a:p>
          <a:p>
            <a:pPr lvl="0"/>
            <a:endParaRPr lang="zh-TW" altLang="zh-TW" sz="1200" b="0" i="0" u="none" strike="noStrike" kern="1200" dirty="0">
              <a:solidFill>
                <a:schemeClr val="tx1"/>
              </a:solidFill>
              <a:effectLst/>
              <a:latin typeface="+mn-lt"/>
              <a:ea typeface="+mn-ea"/>
              <a:cs typeface="+mn-cs"/>
            </a:endParaRPr>
          </a:p>
          <a:p>
            <a:pPr lvl="0"/>
            <a:r>
              <a:rPr lang="zh-TW" altLang="zh-TW" sz="1200" b="1" i="0" u="none" strike="noStrike" kern="1200" dirty="0">
                <a:solidFill>
                  <a:schemeClr val="tx1"/>
                </a:solidFill>
                <a:effectLst/>
                <a:latin typeface="+mn-lt"/>
                <a:ea typeface="+mn-ea"/>
                <a:cs typeface="+mn-cs"/>
              </a:rPr>
              <a:t>非線性激活函數負責「過濾雜訊與防止潰縮」：它像神經元開關一樣篩選關鍵資訊，並藉由彎曲空間，防止多層網路退化成單一層的線性結構。</a:t>
            </a:r>
            <a:endParaRPr lang="zh-TW" altLang="zh-TW" sz="1200" b="0" i="0" u="none" strike="noStrike" kern="1200" dirty="0">
              <a:solidFill>
                <a:schemeClr val="tx1"/>
              </a:solidFill>
              <a:effectLst/>
              <a:latin typeface="+mn-lt"/>
              <a:ea typeface="+mn-ea"/>
              <a:cs typeface="+mn-cs"/>
            </a:endParaRPr>
          </a:p>
          <a:p>
            <a:pPr marL="0" indent="0">
              <a:buNone/>
            </a:pPr>
            <a:r>
              <a:rPr lang="zh-TW" altLang="zh-TW" sz="1200" b="0" i="0" u="none" strike="noStrike" kern="1200" dirty="0">
                <a:solidFill>
                  <a:schemeClr val="tx1"/>
                </a:solidFill>
                <a:effectLst/>
                <a:latin typeface="+mn-lt"/>
                <a:ea typeface="+mn-ea"/>
                <a:cs typeface="+mn-cs"/>
              </a:rPr>
              <a:t>Non-linear activation functions filter out conversational noise like neural switches and bend the geometric space to prevent the entire multi-layer architecture from collapsing into a single linear layer.</a:t>
            </a:r>
            <a:br>
              <a:rPr lang="en-US" altLang="zh-TW" sz="1200" b="0" i="0" u="none" strike="noStrike" kern="1200" dirty="0">
                <a:solidFill>
                  <a:schemeClr val="tx1"/>
                </a:solidFill>
                <a:effectLst/>
                <a:latin typeface="+mn-lt"/>
                <a:ea typeface="+mn-ea"/>
                <a:cs typeface="+mn-cs"/>
              </a:rPr>
            </a:br>
            <a:endParaRPr lang="en-US" altLang="zh-TW" sz="1200" b="0" i="0" u="none" strike="noStrike" kern="1200" dirty="0">
              <a:solidFill>
                <a:schemeClr val="tx1"/>
              </a:solidFill>
              <a:effectLst/>
              <a:latin typeface="+mn-lt"/>
              <a:ea typeface="+mn-ea"/>
              <a:cs typeface="+mn-cs"/>
            </a:endParaRPr>
          </a:p>
          <a:p>
            <a:pPr marL="0" indent="0">
              <a:buNone/>
            </a:pPr>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r>
              <a:rPr lang="en-US" altLang="zh-TW" sz="1200" dirty="0">
                <a:latin typeface="微軟正黑體" panose="020B0604030504040204" pitchFamily="34" charset="-120"/>
                <a:ea typeface="微軟正黑體" panose="020B0604030504040204" pitchFamily="34" charset="-120"/>
              </a:rPr>
              <a:t>1. </a:t>
            </a:r>
            <a:r>
              <a:rPr lang="zh-TW" altLang="en-US" sz="1200" dirty="0">
                <a:latin typeface="微軟正黑體" panose="020B0604030504040204" pitchFamily="34" charset="-120"/>
                <a:ea typeface="微軟正黑體" panose="020B0604030504040204" pitchFamily="34" charset="-120"/>
              </a:rPr>
              <a:t>防止梯度爆炸 </a:t>
            </a:r>
            <a:r>
              <a:rPr lang="en-US" altLang="zh-TW" sz="1200" dirty="0">
                <a:latin typeface="微軟正黑體" panose="020B0604030504040204" pitchFamily="34" charset="-120"/>
                <a:ea typeface="微軟正黑體" panose="020B0604030504040204" pitchFamily="34" charset="-120"/>
              </a:rPr>
              <a:t>(Gradient Explosion): </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Normalization:</a:t>
            </a: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RMS</a:t>
            </a:r>
          </a:p>
          <a:p>
            <a:pPr marL="0" indent="0">
              <a:buNone/>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Gradient Clipping</a:t>
            </a:r>
          </a:p>
          <a:p>
            <a:pPr marL="0" indent="0">
              <a:buNone/>
            </a:pPr>
            <a:br>
              <a:rPr lang="en-US" altLang="zh-TW" sz="1200" dirty="0">
                <a:latin typeface="微軟正黑體" panose="020B0604030504040204" pitchFamily="34" charset="-120"/>
                <a:ea typeface="微軟正黑體" panose="020B0604030504040204" pitchFamily="34" charset="-120"/>
              </a:rPr>
            </a:br>
            <a:r>
              <a:rPr lang="en-US" altLang="zh-TW" sz="1200" dirty="0">
                <a:latin typeface="微軟正黑體" panose="020B0604030504040204" pitchFamily="34" charset="-120"/>
                <a:ea typeface="微軟正黑體" panose="020B0604030504040204" pitchFamily="34" charset="-120"/>
              </a:rPr>
              <a:t>2.</a:t>
            </a:r>
            <a:r>
              <a:rPr lang="zh-TW" altLang="en-US" sz="1200" dirty="0">
                <a:latin typeface="微軟正黑體" panose="020B0604030504040204" pitchFamily="34" charset="-120"/>
                <a:ea typeface="微軟正黑體" panose="020B0604030504040204" pitchFamily="34" charset="-120"/>
              </a:rPr>
              <a:t> 防止梯度消失 </a:t>
            </a:r>
            <a:r>
              <a:rPr lang="en-US" altLang="zh-TW" sz="1200" dirty="0">
                <a:latin typeface="微軟正黑體" panose="020B0604030504040204" pitchFamily="34" charset="-120"/>
                <a:ea typeface="微軟正黑體" panose="020B0604030504040204" pitchFamily="34" charset="-120"/>
              </a:rPr>
              <a:t>(Gradient Vanishing)</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Activation Function: Sigmoid/Tanh/</a:t>
            </a:r>
            <a:r>
              <a:rPr lang="en-US" altLang="zh-TW" sz="1200" dirty="0" err="1">
                <a:latin typeface="微軟正黑體" panose="020B0604030504040204" pitchFamily="34" charset="-120"/>
                <a:ea typeface="微軟正黑體" panose="020B0604030504040204" pitchFamily="34" charset="-120"/>
              </a:rPr>
              <a:t>ReLU</a:t>
            </a:r>
            <a:r>
              <a:rPr lang="en-US" altLang="zh-TW"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GELU/</a:t>
            </a:r>
            <a:r>
              <a:rPr lang="en-US" altLang="zh-TW" sz="1200" dirty="0" err="1">
                <a:latin typeface="微軟正黑體" panose="020B0604030504040204" pitchFamily="34" charset="-120"/>
                <a:ea typeface="微軟正黑體" panose="020B0604030504040204" pitchFamily="34" charset="-120"/>
                <a:sym typeface="Wingdings" panose="05000000000000000000" pitchFamily="2" charset="2"/>
              </a:rPr>
              <a:t>SwiGLU</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t>
            </a:r>
            <a:r>
              <a:rPr lang="zh-TW" altLang="en-US" sz="1200" dirty="0">
                <a:latin typeface="微軟正黑體" panose="020B0604030504040204" pitchFamily="34" charset="-120"/>
                <a:ea typeface="微軟正黑體" panose="020B0604030504040204" pitchFamily="34" charset="-120"/>
                <a:sym typeface="Wingdings" panose="05000000000000000000" pitchFamily="2" charset="2"/>
              </a:rPr>
              <a:t>可導</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a:t>
            </a:r>
            <a:endParaRPr lang="en-US" altLang="zh-TW" sz="1200" dirty="0">
              <a:latin typeface="微軟正黑體" panose="020B0604030504040204" pitchFamily="34" charset="-120"/>
              <a:ea typeface="微軟正黑體" panose="020B0604030504040204" pitchFamily="34" charset="-12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latin typeface="微軟正黑體" panose="020B0604030504040204" pitchFamily="34" charset="-120"/>
                <a:ea typeface="微軟正黑體" panose="020B0604030504040204" pitchFamily="34" charset="-120"/>
              </a:rPr>
              <a:t>* </a:t>
            </a:r>
            <a:r>
              <a:rPr lang="en-US" altLang="zh-TW" sz="1200" dirty="0">
                <a:latin typeface="微軟正黑體" panose="020B0604030504040204" pitchFamily="34" charset="-120"/>
                <a:ea typeface="微軟正黑體" panose="020B0604030504040204" pitchFamily="34" charset="-120"/>
              </a:rPr>
              <a:t>Residual Connections,</a:t>
            </a:r>
          </a:p>
          <a:p>
            <a:pPr lvl="0"/>
            <a:endParaRPr lang="en-US" altLang="zh-TW" sz="1200" b="0" i="0" u="none" strike="noStrike" kern="1200" dirty="0">
              <a:solidFill>
                <a:schemeClr val="tx1"/>
              </a:solidFill>
              <a:effectLst/>
              <a:latin typeface="+mn-lt"/>
              <a:ea typeface="+mn-ea"/>
              <a:cs typeface="+mn-cs"/>
            </a:endParaRPr>
          </a:p>
          <a:p>
            <a:pPr lvl="0"/>
            <a:r>
              <a:rPr lang="en-US" altLang="zh-TW" sz="1200" b="0" i="0" u="none" strike="noStrike" kern="1200" dirty="0">
                <a:solidFill>
                  <a:schemeClr val="tx1"/>
                </a:solidFill>
                <a:effectLst/>
                <a:latin typeface="+mn-lt"/>
                <a:ea typeface="+mn-ea"/>
                <a:cs typeface="+mn-cs"/>
              </a:rPr>
              <a:t>==== ==== ==== ====</a:t>
            </a:r>
            <a:br>
              <a:rPr lang="en-US" altLang="zh-TW" sz="1200" b="0" i="0" u="none" strike="noStrike" kern="1200" dirty="0">
                <a:solidFill>
                  <a:schemeClr val="tx1"/>
                </a:solidFill>
                <a:effectLst/>
                <a:latin typeface="+mn-lt"/>
                <a:ea typeface="+mn-ea"/>
                <a:cs typeface="+mn-cs"/>
              </a:rPr>
            </a:br>
            <a:endParaRPr lang="zh-TW" altLang="zh-TW" sz="1200" b="0" i="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5105751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39</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
        <p:nvSpPr>
          <p:cNvPr id="2" name="頁尾版面配置區 1">
            <a:extLst>
              <a:ext uri="{FF2B5EF4-FFF2-40B4-BE49-F238E27FC236}">
                <a16:creationId xmlns:a16="http://schemas.microsoft.com/office/drawing/2014/main" id="{6A41804A-0DE5-8700-653F-2437BC576094}"/>
              </a:ext>
            </a:extLst>
          </p:cNvPr>
          <p:cNvSpPr>
            <a:spLocks noGrp="1"/>
          </p:cNvSpPr>
          <p:nvPr>
            <p:ph type="ftr" sz="quarter" idx="10"/>
          </p:nvPr>
        </p:nvSpPr>
        <p:spPr/>
        <p:txBody>
          <a:bodyPr/>
          <a:lstStyle/>
          <a:p>
            <a:r>
              <a:rPr lang="en-US" altLang="zh-TW" dirty="0"/>
              <a:t>&lt;#&gt;</a:t>
            </a:r>
            <a:endParaRPr lang="zh-TW" altLang="en-US" dirty="0"/>
          </a:p>
        </p:txBody>
      </p:sp>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標題投影片">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11" name="頁尾版面配置區 10">
            <a:extLst>
              <a:ext uri="{FF2B5EF4-FFF2-40B4-BE49-F238E27FC236}">
                <a16:creationId xmlns:a16="http://schemas.microsoft.com/office/drawing/2014/main" id="{7AE09A17-CF6E-E946-4E95-CD5EBCFCD64E}"/>
              </a:ext>
            </a:extLst>
          </p:cNvPr>
          <p:cNvSpPr>
            <a:spLocks noGrp="1"/>
          </p:cNvSpPr>
          <p:nvPr>
            <p:ph type="ftr" sz="quarter" idx="10"/>
          </p:nvPr>
        </p:nvSpPr>
        <p:spPr/>
        <p:txBody>
          <a:bodyPr/>
          <a:lstStyle/>
          <a:p>
            <a:r>
              <a:rPr lang="en-US" altLang="zh-TW" dirty="0"/>
              <a:t>&lt;#&gt;</a:t>
            </a:r>
            <a:endParaRPr lang="zh-TW" altLang="en-US" dirty="0"/>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頁尾版面配置區 1">
            <a:extLst>
              <a:ext uri="{FF2B5EF4-FFF2-40B4-BE49-F238E27FC236}">
                <a16:creationId xmlns:a16="http://schemas.microsoft.com/office/drawing/2014/main" id="{2DE7992A-25E4-2782-9BD1-54154564801B}"/>
              </a:ext>
            </a:extLst>
          </p:cNvPr>
          <p:cNvSpPr>
            <a:spLocks noGrp="1"/>
          </p:cNvSpPr>
          <p:nvPr>
            <p:ph type="ftr" sz="quarter" idx="10"/>
          </p:nvPr>
        </p:nvSpPr>
        <p:spPr/>
        <p:txBody>
          <a:bodyPr/>
          <a:lstStyle/>
          <a:p>
            <a:r>
              <a:rPr lang="en-US" altLang="zh-TW" dirty="0"/>
              <a:t>&lt;#&gt;</a:t>
            </a:r>
            <a:endParaRPr lang="zh-TW" altLang="en-US" dirty="0"/>
          </a:p>
        </p:txBody>
      </p:sp>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標題及內容">
    <p:spTree>
      <p:nvGrpSpPr>
        <p:cNvPr id="1" name=""/>
        <p:cNvGrpSpPr/>
        <p:nvPr/>
      </p:nvGrpSpPr>
      <p:grpSpPr>
        <a:xfrm>
          <a:off x="0" y="0"/>
          <a:ext cx="0" cy="0"/>
          <a:chOff x="0" y="0"/>
          <a:chExt cx="0" cy="0"/>
        </a:xfrm>
      </p:grpSpPr>
      <p:sp>
        <p:nvSpPr>
          <p:cNvPr id="7" name="頁尾版面配置區 6">
            <a:extLst>
              <a:ext uri="{FF2B5EF4-FFF2-40B4-BE49-F238E27FC236}">
                <a16:creationId xmlns:a16="http://schemas.microsoft.com/office/drawing/2014/main" id="{4FD5969F-9084-0570-5214-050D1E19324D}"/>
              </a:ext>
            </a:extLst>
          </p:cNvPr>
          <p:cNvSpPr>
            <a:spLocks noGrp="1"/>
          </p:cNvSpPr>
          <p:nvPr>
            <p:ph type="ftr" sz="quarter" idx="10"/>
          </p:nvPr>
        </p:nvSpPr>
        <p:spPr/>
        <p:txBody>
          <a:bodyPr/>
          <a:lstStyle/>
          <a:p>
            <a:r>
              <a:rPr lang="en-US" altLang="zh-TW" dirty="0"/>
              <a:t>&lt;#&gt;</a:t>
            </a:r>
            <a:endParaRPr lang="zh-TW" altLang="en-US" dirty="0"/>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
        <p:nvSpPr>
          <p:cNvPr id="2" name="頁尾版面配置區 1">
            <a:extLst>
              <a:ext uri="{FF2B5EF4-FFF2-40B4-BE49-F238E27FC236}">
                <a16:creationId xmlns:a16="http://schemas.microsoft.com/office/drawing/2014/main" id="{61CA5699-1703-D32E-2138-B8A2C4EF4E7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ltLang="zh-TW" dirty="0"/>
              <a:t>&lt;#&gt;</a:t>
            </a:r>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ftr="0" dt="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71.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10.png"/><Relationship Id="rId13" Type="http://schemas.openxmlformats.org/officeDocument/2006/relationships/image" Target="../media/image260.png"/><Relationship Id="rId18" Type="http://schemas.openxmlformats.org/officeDocument/2006/relationships/image" Target="../media/image37.png"/><Relationship Id="rId3" Type="http://schemas.openxmlformats.org/officeDocument/2006/relationships/image" Target="../media/image21.png"/><Relationship Id="rId21" Type="http://schemas.openxmlformats.org/officeDocument/2006/relationships/image" Target="../media/image22.png"/><Relationship Id="rId7" Type="http://schemas.openxmlformats.org/officeDocument/2006/relationships/image" Target="../media/image200.png"/><Relationship Id="rId12" Type="http://schemas.openxmlformats.org/officeDocument/2006/relationships/image" Target="../media/image25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1.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0.png"/><Relationship Id="rId19" Type="http://schemas.openxmlformats.org/officeDocument/2006/relationships/image" Target="../media/image38.png"/><Relationship Id="rId9" Type="http://schemas.openxmlformats.org/officeDocument/2006/relationships/image" Target="../media/image220.png"/><Relationship Id="rId14" Type="http://schemas.openxmlformats.org/officeDocument/2006/relationships/image" Target="../media/image27.png"/><Relationship Id="rId22" Type="http://schemas.openxmlformats.org/officeDocument/2006/relationships/image" Target="../media/image23.png"/></Relationships>
</file>

<file path=ppt/slides/_rels/slide1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4.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11" Type="http://schemas.openxmlformats.org/officeDocument/2006/relationships/image" Target="../media/image41.png"/><Relationship Id="rId5" Type="http://schemas.openxmlformats.org/officeDocument/2006/relationships/image" Target="../media/image30.png"/><Relationship Id="rId10" Type="http://schemas.openxmlformats.org/officeDocument/2006/relationships/image" Target="../media/image40.png"/><Relationship Id="rId4" Type="http://schemas.openxmlformats.org/officeDocument/2006/relationships/image" Target="../media/image31.png"/><Relationship Id="rId9" Type="http://schemas.openxmlformats.org/officeDocument/2006/relationships/image" Target="../media/image3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26.svg"/></Relationships>
</file>

<file path=ppt/slides/_rels/slide15.xml.rels><?xml version="1.0" encoding="UTF-8" standalone="yes"?>
<Relationships xmlns="http://schemas.openxmlformats.org/package/2006/relationships"><Relationship Id="rId3" Type="http://schemas.openxmlformats.org/officeDocument/2006/relationships/image" Target="../media/image27.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29.png"/><Relationship Id="rId7"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0.png"/><Relationship Id="rId4" Type="http://schemas.openxmlformats.org/officeDocument/2006/relationships/image" Target="../media/image400.png"/></Relationships>
</file>

<file path=ppt/slides/_rels/slide1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2.svg"/><Relationship Id="rId7" Type="http://schemas.openxmlformats.org/officeDocument/2006/relationships/image" Target="../media/image56.sv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21.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8" Type="http://schemas.openxmlformats.org/officeDocument/2006/relationships/image" Target="../media/image64.svg"/><Relationship Id="rId3" Type="http://schemas.openxmlformats.org/officeDocument/2006/relationships/image" Target="../media/image59.svg"/><Relationship Id="rId7" Type="http://schemas.openxmlformats.org/officeDocument/2006/relationships/image" Target="../media/image63.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62.svg"/><Relationship Id="rId5" Type="http://schemas.openxmlformats.org/officeDocument/2006/relationships/image" Target="../media/image61.png"/><Relationship Id="rId10" Type="http://schemas.openxmlformats.org/officeDocument/2006/relationships/image" Target="../media/image66.svg"/><Relationship Id="rId4" Type="http://schemas.openxmlformats.org/officeDocument/2006/relationships/image" Target="../media/image60.svg"/><Relationship Id="rId9" Type="http://schemas.openxmlformats.org/officeDocument/2006/relationships/image" Target="../media/image65.svg"/></Relationships>
</file>

<file path=ppt/slides/_rels/slide28.xml.rels><?xml version="1.0" encoding="UTF-8" standalone="yes"?>
<Relationships xmlns="http://schemas.openxmlformats.org/package/2006/relationships"><Relationship Id="rId3" Type="http://schemas.openxmlformats.org/officeDocument/2006/relationships/image" Target="../media/image61.png"/><Relationship Id="rId7" Type="http://schemas.openxmlformats.org/officeDocument/2006/relationships/image" Target="../media/image60.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2.svg"/></Relationships>
</file>

<file path=ppt/slides/_rels/slide2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70.svg"/></Relationships>
</file>

<file path=ppt/slides/_rels/slide3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2.jpeg"/></Relationships>
</file>

<file path=ppt/slides/_rels/slide31.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32.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image" Target="../media/image76.png"/><Relationship Id="rId4" Type="http://schemas.openxmlformats.org/officeDocument/2006/relationships/hyperlink" Target="https://deepswe.datacurve.ai/"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1.xml"/><Relationship Id="rId1" Type="http://schemas.openxmlformats.org/officeDocument/2006/relationships/slideLayout" Target="../slideLayouts/slideLayout3.xml"/><Relationship Id="rId5" Type="http://schemas.openxmlformats.org/officeDocument/2006/relationships/image" Target="../media/image78.png"/><Relationship Id="rId4" Type="http://schemas.openxmlformats.org/officeDocument/2006/relationships/image" Target="../media/image77.png"/></Relationships>
</file>

<file path=ppt/slides/_rels/slide34.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hyperlink" Target="https://arena.ai/leaderboard/text/pareto" TargetMode="External"/></Relationships>
</file>

<file path=ppt/slides/_rels/slide3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5.png"/><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4.png"/><Relationship Id="rId5" Type="http://schemas.openxmlformats.org/officeDocument/2006/relationships/image" Target="../media/image3.png"/><Relationship Id="rId10" Type="http://schemas.openxmlformats.org/officeDocument/2006/relationships/image" Target="../media/image83.png"/><Relationship Id="rId4" Type="http://schemas.openxmlformats.org/officeDocument/2006/relationships/image" Target="../media/image2.png"/><Relationship Id="rId9" Type="http://schemas.openxmlformats.org/officeDocument/2006/relationships/image" Target="../media/image82.png"/></Relationships>
</file>

<file path=ppt/slides/_rels/slide36.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87.png"/><Relationship Id="rId7" Type="http://schemas.openxmlformats.org/officeDocument/2006/relationships/image" Target="../media/image71.png"/><Relationship Id="rId2" Type="http://schemas.openxmlformats.org/officeDocument/2006/relationships/image" Target="../media/image86.png"/><Relationship Id="rId1" Type="http://schemas.openxmlformats.org/officeDocument/2006/relationships/slideLayout" Target="../slideLayouts/slideLayout3.xml"/><Relationship Id="rId6" Type="http://schemas.openxmlformats.org/officeDocument/2006/relationships/image" Target="../media/image72.jpeg"/><Relationship Id="rId5" Type="http://schemas.openxmlformats.org/officeDocument/2006/relationships/image" Target="../media/image61.png"/><Relationship Id="rId4" Type="http://schemas.openxmlformats.org/officeDocument/2006/relationships/image" Target="../media/image88.png"/><Relationship Id="rId9" Type="http://schemas.openxmlformats.org/officeDocument/2006/relationships/image" Target="../media/image90.png"/></Relationships>
</file>

<file path=ppt/slides/_rels/slide37.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4.xml"/><Relationship Id="rId5" Type="http://schemas.openxmlformats.org/officeDocument/2006/relationships/image" Target="../media/image94.png"/><Relationship Id="rId4" Type="http://schemas.openxmlformats.org/officeDocument/2006/relationships/image" Target="../media/image93.png"/></Relationships>
</file>

<file path=ppt/slides/_rels/slide3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4.xml"/><Relationship Id="rId5" Type="http://schemas.openxmlformats.org/officeDocument/2006/relationships/image" Target="../media/image98.png"/><Relationship Id="rId4" Type="http://schemas.openxmlformats.org/officeDocument/2006/relationships/image" Target="../media/image97.png"/></Relationships>
</file>

<file path=ppt/slides/_rels/slide40.xml.rels><?xml version="1.0" encoding="UTF-8" standalone="yes"?>
<Relationships xmlns="http://schemas.openxmlformats.org/package/2006/relationships"><Relationship Id="rId8" Type="http://schemas.openxmlformats.org/officeDocument/2006/relationships/image" Target="../media/image103.png"/><Relationship Id="rId3" Type="http://schemas.openxmlformats.org/officeDocument/2006/relationships/image" Target="../media/image99.png"/><Relationship Id="rId7" Type="http://schemas.openxmlformats.org/officeDocument/2006/relationships/image" Target="../media/image102.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1.png"/><Relationship Id="rId5" Type="http://schemas.openxmlformats.org/officeDocument/2006/relationships/image" Target="../media/image2300.png"/><Relationship Id="rId4" Type="http://schemas.openxmlformats.org/officeDocument/2006/relationships/image" Target="../media/image100.png"/></Relationships>
</file>

<file path=ppt/slides/_rels/slide41.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4.png"/><Relationship Id="rId7" Type="http://schemas.openxmlformats.org/officeDocument/2006/relationships/image" Target="../media/image108.png"/><Relationship Id="rId2" Type="http://schemas.openxmlformats.org/officeDocument/2006/relationships/notesSlide" Target="../notesSlides/notesSlide35.xml"/><Relationship Id="rId1" Type="http://schemas.openxmlformats.org/officeDocument/2006/relationships/slideLayout" Target="../slideLayouts/slideLayout4.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 Id="rId9" Type="http://schemas.openxmlformats.org/officeDocument/2006/relationships/image" Target="../media/image1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DFA8BA-E622-A1CC-404C-EB017E6BF95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C9739514-6554-72C8-3ED7-69B42C29B62B}"/>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6D48A04F-3EED-2752-2505-2887BD7E441F}"/>
              </a:ext>
            </a:extLst>
          </p:cNvPr>
          <p:cNvSpPr txBox="1"/>
          <p:nvPr/>
        </p:nvSpPr>
        <p:spPr>
          <a:xfrm>
            <a:off x="845586" y="1268760"/>
            <a:ext cx="6102678" cy="3339376"/>
          </a:xfrm>
          <a:prstGeom prst="rect">
            <a:avLst/>
          </a:prstGeom>
          <a:noFill/>
        </p:spPr>
        <p:txBody>
          <a:bodyPr wrap="square" rtlCol="0">
            <a:spAutoFit/>
          </a:bodyPr>
          <a:lstStyle/>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600"/>
              </a:spcBef>
              <a:spcAft>
                <a:spcPts val="60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285750" indent="-285750">
              <a:spcBef>
                <a:spcPts val="600"/>
              </a:spcBef>
              <a:spcAft>
                <a:spcPts val="600"/>
              </a:spcAft>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(Environment of AI Agent, SLM, LLM, RAG and MCP)</a:t>
            </a:r>
          </a:p>
          <a:p>
            <a:pPr marL="285750" indent="-285750">
              <a:spcBef>
                <a:spcPts val="600"/>
              </a:spcBef>
              <a:spcAft>
                <a:spcPts val="600"/>
              </a:spcAft>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lang="zh-TW" altLang="en-US"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p>
          <a:p>
            <a:pPr marL="285750" lvl="0" indent="-285750">
              <a:spcBef>
                <a:spcPts val="600"/>
              </a:spcBef>
              <a:spcAft>
                <a:spcPts val="600"/>
              </a:spcAft>
              <a:buFont typeface="Wingdings" panose="05000000000000000000" pitchFamily="2" charset="2"/>
              <a:buChar char="Ø"/>
              <a:defRPr/>
            </a:pPr>
            <a:r>
              <a:rPr lang="en-US" altLang="zh-TW" sz="2400" dirty="0">
                <a:solidFill>
                  <a:prstClr val="black"/>
                </a:solidFill>
                <a:latin typeface="Noto Sans HK" panose="020B0200000000000000" pitchFamily="34" charset="-120"/>
                <a:ea typeface="Noto Sans HK" panose="020B0200000000000000" pitchFamily="34" charset="-120"/>
              </a:rPr>
              <a:t>Conclusion</a:t>
            </a:r>
            <a:r>
              <a:rPr lang="en-US" altLang="zh-TW" sz="1400"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 Holistic Perspective)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5" name="文字方塊 4">
            <a:extLst>
              <a:ext uri="{FF2B5EF4-FFF2-40B4-BE49-F238E27FC236}">
                <a16:creationId xmlns:a16="http://schemas.microsoft.com/office/drawing/2014/main" id="{FC291065-9D27-7A60-F942-B3D58357404F}"/>
              </a:ext>
            </a:extLst>
          </p:cNvPr>
          <p:cNvSpPr txBox="1"/>
          <p:nvPr/>
        </p:nvSpPr>
        <p:spPr>
          <a:xfrm>
            <a:off x="7848364" y="44624"/>
            <a:ext cx="1240083" cy="4197816"/>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r>
              <a:rPr lang="zh-TW" altLang="en-US" sz="1000" dirty="0"/>
              <a:t> </a:t>
            </a:r>
            <a:r>
              <a:rPr lang="en-US" altLang="zh-TW" sz="1000" dirty="0"/>
              <a:t>and MoE</a:t>
            </a:r>
          </a:p>
          <a:p>
            <a:pPr marL="111125" lvl="2">
              <a:lnSpc>
                <a:spcPts val="1000"/>
              </a:lnSpc>
              <a:buFont typeface="Arial" panose="020B0604020202020204" pitchFamily="34" charset="0"/>
              <a:buChar char="•"/>
            </a:pPr>
            <a:r>
              <a:rPr lang="zh-TW" altLang="en-US" sz="1000" dirty="0"/>
              <a:t> </a:t>
            </a:r>
            <a:r>
              <a:rPr lang="en-US" altLang="zh-TW" sz="1000" dirty="0"/>
              <a:t>Linear Projection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marL="111125" lvl="2">
              <a:lnSpc>
                <a:spcPts val="1000"/>
              </a:lnSpc>
              <a:buFont typeface="Arial" panose="020B0604020202020204" pitchFamily="34" charset="0"/>
              <a:buChar char="•"/>
            </a:pPr>
            <a:r>
              <a:rPr lang="en-US" altLang="zh-TW" sz="1000" dirty="0"/>
              <a:t> Summary</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Gemma Family</a:t>
            </a:r>
          </a:p>
          <a:p>
            <a:pPr marL="111125" lvl="2">
              <a:lnSpc>
                <a:spcPts val="1000"/>
              </a:lnSpc>
              <a:buFont typeface="Arial" panose="020B0604020202020204" pitchFamily="34" charset="0"/>
              <a:buChar char="•"/>
              <a:defRPr/>
            </a:pPr>
            <a:r>
              <a:rPr lang="en-US" altLang="zh-TW" sz="1000" dirty="0"/>
              <a:t> MTP</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b="1" dirty="0"/>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39679383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MoE</a:t>
            </a: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7236926"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7021533"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mHC</a:t>
            </a: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AttnRes</a:t>
            </a: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43358" y="5809347"/>
            <a:ext cx="628457"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3"/>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7021536"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282141"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445253"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74143"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8" name="標題 1">
            <a:extLst>
              <a:ext uri="{FF2B5EF4-FFF2-40B4-BE49-F238E27FC236}">
                <a16:creationId xmlns:a16="http://schemas.microsoft.com/office/drawing/2014/main" id="{B36748D0-C94C-1474-C83D-0587CD10BB8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9" name="橢圓 18">
            <a:extLst>
              <a:ext uri="{FF2B5EF4-FFF2-40B4-BE49-F238E27FC236}">
                <a16:creationId xmlns:a16="http://schemas.microsoft.com/office/drawing/2014/main" id="{B60FF1D0-43BC-6603-EF59-36C96BEB0E9A}"/>
              </a:ext>
            </a:extLst>
          </p:cNvPr>
          <p:cNvSpPr/>
          <p:nvPr/>
        </p:nvSpPr>
        <p:spPr>
          <a:xfrm>
            <a:off x="3995936" y="2162671"/>
            <a:ext cx="389945" cy="330225"/>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W2V</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8353815" y="2803318"/>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996650" y="291843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8014891" y="3213695"/>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8014891" y="3494749"/>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999653" y="263040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8014891" y="3945002"/>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
        <p:nvSpPr>
          <p:cNvPr id="6" name="矩形: 圓角 5">
            <a:extLst>
              <a:ext uri="{FF2B5EF4-FFF2-40B4-BE49-F238E27FC236}">
                <a16:creationId xmlns:a16="http://schemas.microsoft.com/office/drawing/2014/main" id="{C165562B-0C22-70B1-31F2-3E50669FC44E}"/>
              </a:ext>
            </a:extLst>
          </p:cNvPr>
          <p:cNvSpPr/>
          <p:nvPr/>
        </p:nvSpPr>
        <p:spPr>
          <a:xfrm>
            <a:off x="3969498" y="6432596"/>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8" name="矩形: 圓角 7">
            <a:extLst>
              <a:ext uri="{FF2B5EF4-FFF2-40B4-BE49-F238E27FC236}">
                <a16:creationId xmlns:a16="http://schemas.microsoft.com/office/drawing/2014/main" id="{8C109D09-4906-C1F6-3742-452E67A961C2}"/>
              </a:ext>
            </a:extLst>
          </p:cNvPr>
          <p:cNvSpPr/>
          <p:nvPr/>
        </p:nvSpPr>
        <p:spPr>
          <a:xfrm>
            <a:off x="4454596" y="6418040"/>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14" name="矩形 13">
            <a:extLst>
              <a:ext uri="{FF2B5EF4-FFF2-40B4-BE49-F238E27FC236}">
                <a16:creationId xmlns:a16="http://schemas.microsoft.com/office/drawing/2014/main" id="{F96C8218-1559-7D81-3C83-97ED7848E608}"/>
              </a:ext>
            </a:extLst>
          </p:cNvPr>
          <p:cNvSpPr/>
          <p:nvPr/>
        </p:nvSpPr>
        <p:spPr>
          <a:xfrm>
            <a:off x="4499992" y="1011596"/>
            <a:ext cx="1440159" cy="645227"/>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119957269"/>
              </p:ext>
            </p:extLst>
          </p:nvPr>
        </p:nvGraphicFramePr>
        <p:xfrm>
          <a:off x="2182414" y="3873795"/>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040547199"/>
              </p:ext>
            </p:extLst>
          </p:nvPr>
        </p:nvGraphicFramePr>
        <p:xfrm>
          <a:off x="4402887" y="3873795"/>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490034796"/>
              </p:ext>
            </p:extLst>
          </p:nvPr>
        </p:nvGraphicFramePr>
        <p:xfrm>
          <a:off x="628166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1903365497"/>
              </p:ext>
            </p:extLst>
          </p:nvPr>
        </p:nvGraphicFramePr>
        <p:xfrm>
          <a:off x="1418853" y="3873795"/>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564866" y="3490393"/>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487820" y="3490393"/>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536403808"/>
              </p:ext>
            </p:extLst>
          </p:nvPr>
        </p:nvGraphicFramePr>
        <p:xfrm>
          <a:off x="7298947" y="3873795"/>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36106" y="3490392"/>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071668" y="4490880"/>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361337" y="2814774"/>
            <a:ext cx="2708436" cy="2630450"/>
          </a:xfrm>
          <a:prstGeom prst="rect">
            <a:avLst/>
          </a:prstGeom>
          <a:solidFill>
            <a:schemeClr val="accent4">
              <a:lumMod val="20000"/>
              <a:lumOff val="80000"/>
              <a:alpha val="20000"/>
            </a:schemeClr>
          </a:solidFill>
          <a:ln w="1905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939348478"/>
              </p:ext>
            </p:extLst>
          </p:nvPr>
        </p:nvGraphicFramePr>
        <p:xfrm>
          <a:off x="2182413" y="3068960"/>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557145" y="3532622"/>
            <a:ext cx="316238" cy="256418"/>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27914" y="2767633"/>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368927" y="3490392"/>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1150937947"/>
              </p:ext>
            </p:extLst>
          </p:nvPr>
        </p:nvGraphicFramePr>
        <p:xfrm>
          <a:off x="4147140" y="3861570"/>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6" name="文字方塊 5">
                <a:extLst>
                  <a:ext uri="{FF2B5EF4-FFF2-40B4-BE49-F238E27FC236}">
                    <a16:creationId xmlns:a16="http://schemas.microsoft.com/office/drawing/2014/main" id="{6533E10E-209C-5074-10A7-4E4A830D6AF9}"/>
                  </a:ext>
                </a:extLst>
              </p:cNvPr>
              <p:cNvSpPr txBox="1"/>
              <p:nvPr/>
            </p:nvSpPr>
            <p:spPr>
              <a:xfrm>
                <a:off x="6876256" y="5599951"/>
                <a:ext cx="1775422" cy="749244"/>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oMath>
                  </m:oMathPara>
                </a14:m>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m:t>
                          </m:r>
                          <m:f>
                            <m:fPr>
                              <m:ctrlPr>
                                <a:rPr lang="en-US" altLang="zh-TW" sz="1200" i="1">
                                  <a:latin typeface="Cambria Math" panose="02040503050406030204" pitchFamily="18" charset="0"/>
                                </a:rPr>
                              </m:ctrlPr>
                            </m:fPr>
                            <m:num>
                              <m:r>
                                <a:rPr lang="en-US" altLang="zh-TW" sz="1200" i="1">
                                  <a:latin typeface="Cambria Math" panose="02040503050406030204" pitchFamily="18" charset="0"/>
                                </a:rPr>
                                <m:t>1</m:t>
                              </m:r>
                            </m:num>
                            <m:den>
                              <m:r>
                                <a:rPr lang="en-US" altLang="zh-TW" sz="1200" i="1">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r>
                            <a:rPr lang="en-US" altLang="zh-TW" sz="1200" i="1">
                              <a:latin typeface="Cambria Math" panose="02040503050406030204" pitchFamily="18" charset="0"/>
                            </a:rPr>
                            <m:t>)</m:t>
                          </m:r>
                        </m:e>
                        <m:sup>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2</m:t>
                              </m:r>
                            </m:den>
                          </m:f>
                        </m:sup>
                      </m:sSup>
                    </m:oMath>
                  </m:oMathPara>
                </a14:m>
                <a:endParaRPr lang="zh-TW" altLang="en-US" sz="1200" dirty="0"/>
              </a:p>
            </p:txBody>
          </p:sp>
        </mc:Choice>
        <mc:Fallback xmlns="">
          <p:sp>
            <p:nvSpPr>
              <p:cNvPr id="6" name="文字方塊 5">
                <a:extLst>
                  <a:ext uri="{FF2B5EF4-FFF2-40B4-BE49-F238E27FC236}">
                    <a16:creationId xmlns:a16="http://schemas.microsoft.com/office/drawing/2014/main" id="{6533E10E-209C-5074-10A7-4E4A830D6AF9}"/>
                  </a:ext>
                </a:extLst>
              </p:cNvPr>
              <p:cNvSpPr txBox="1">
                <a:spLocks noRot="1" noChangeAspect="1" noMove="1" noResize="1" noEditPoints="1" noAdjustHandles="1" noChangeArrowheads="1" noChangeShapeType="1" noTextEdit="1"/>
              </p:cNvSpPr>
              <p:nvPr/>
            </p:nvSpPr>
            <p:spPr>
              <a:xfrm>
                <a:off x="6876256" y="5599951"/>
                <a:ext cx="1775422" cy="749244"/>
              </a:xfrm>
              <a:prstGeom prst="rect">
                <a:avLst/>
              </a:prstGeom>
              <a:blipFill>
                <a:blip r:embed="rId3"/>
                <a:stretch>
                  <a:fillRect l="-3093" t="-41463" r="-25773" b="-132520"/>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3" name="文字方塊 12">
                <a:extLst>
                  <a:ext uri="{FF2B5EF4-FFF2-40B4-BE49-F238E27FC236}">
                    <a16:creationId xmlns:a16="http://schemas.microsoft.com/office/drawing/2014/main" id="{04C69D51-1D28-7D46-D4F3-7BE78FE1AE01}"/>
                  </a:ext>
                </a:extLst>
              </p:cNvPr>
              <p:cNvSpPr txBox="1"/>
              <p:nvPr/>
            </p:nvSpPr>
            <p:spPr>
              <a:xfrm>
                <a:off x="3203848" y="5524053"/>
                <a:ext cx="2145524" cy="477310"/>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So</m:t>
                      </m:r>
                      <m:r>
                        <m:rPr>
                          <m:sty m:val="p"/>
                        </m:rPr>
                        <a:rPr lang="en-US" altLang="zh-TW" sz="1200">
                          <a:latin typeface="Cambria Math" panose="02040503050406030204" pitchFamily="18" charset="0"/>
                        </a:rPr>
                        <m:t>ftmax</m:t>
                      </m:r>
                      <m:d>
                        <m:dPr>
                          <m:ctrlPr>
                            <a:rPr lang="en-US" altLang="zh-TW" sz="1200" i="1">
                              <a:latin typeface="Cambria Math" panose="02040503050406030204" pitchFamily="18" charset="0"/>
                            </a:rPr>
                          </m:ctrlPr>
                        </m:dPr>
                        <m:e>
                          <m:f>
                            <m:fPr>
                              <m:ctrlPr>
                                <a:rPr lang="en-US" altLang="zh-TW" sz="1200" i="1">
                                  <a:latin typeface="Cambria Math" panose="02040503050406030204" pitchFamily="18" charset="0"/>
                                </a:rPr>
                              </m:ctrlPr>
                            </m:fPr>
                            <m:num>
                              <m:sSup>
                                <m:sSupPr>
                                  <m:ctrlPr>
                                    <a:rPr lang="en-US" altLang="zh-TW" sz="1200">
                                      <a:latin typeface="Cambria Math" panose="02040503050406030204" pitchFamily="18" charset="0"/>
                                    </a:rPr>
                                  </m:ctrlPr>
                                </m:sSupPr>
                                <m:e>
                                  <m:r>
                                    <m:rPr>
                                      <m:sty m:val="p"/>
                                    </m:rPr>
                                    <a:rPr lang="en-US" altLang="zh-TW" sz="1200">
                                      <a:latin typeface="Cambria Math" panose="02040503050406030204" pitchFamily="18" charset="0"/>
                                    </a:rPr>
                                    <m:t>QK</m:t>
                                  </m:r>
                                </m:e>
                                <m:sup>
                                  <m:r>
                                    <m:rPr>
                                      <m:sty m:val="p"/>
                                    </m:rPr>
                                    <a:rPr lang="en-US" altLang="zh-TW" sz="1200">
                                      <a:latin typeface="Cambria Math" panose="02040503050406030204" pitchFamily="18" charset="0"/>
                                    </a:rPr>
                                    <m:t>T</m:t>
                                  </m:r>
                                </m:sup>
                              </m:sSup>
                            </m:num>
                            <m:den>
                              <m:rad>
                                <m:radPr>
                                  <m:degHide m:val="on"/>
                                  <m:ctrlPr>
                                    <a:rPr lang="en-US" altLang="zh-TW" sz="1200" i="1">
                                      <a:latin typeface="Cambria Math" panose="02040503050406030204" pitchFamily="18" charset="0"/>
                                    </a:rPr>
                                  </m:ctrlPr>
                                </m:radPr>
                                <m:deg/>
                                <m:e>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d</m:t>
                                      </m:r>
                                    </m:e>
                                    <m:sub>
                                      <m:r>
                                        <m:rPr>
                                          <m:sty m:val="p"/>
                                        </m:rPr>
                                        <a:rPr lang="en-US" altLang="zh-TW" sz="1200">
                                          <a:latin typeface="Cambria Math" panose="02040503050406030204" pitchFamily="18" charset="0"/>
                                        </a:rPr>
                                        <m:t>h</m:t>
                                      </m:r>
                                    </m:sub>
                                  </m:sSub>
                                </m:e>
                              </m:rad>
                            </m:den>
                          </m:f>
                        </m:e>
                      </m:d>
                      <m:r>
                        <a:rPr lang="en-US" altLang="zh-TW" sz="1200">
                          <a:latin typeface="Cambria Math" panose="02040503050406030204" pitchFamily="18" charset="0"/>
                        </a:rPr>
                        <m:t>∗</m:t>
                      </m:r>
                      <m:r>
                        <m:rPr>
                          <m:sty m:val="p"/>
                        </m:rPr>
                        <a:rPr lang="en-US" altLang="zh-TW" sz="1200">
                          <a:latin typeface="Cambria Math" panose="02040503050406030204" pitchFamily="18" charset="0"/>
                        </a:rPr>
                        <m:t>V</m:t>
                      </m:r>
                      <m:r>
                        <a:rPr lang="en-US" altLang="zh-TW" sz="1200" b="0" i="0" smtClean="0">
                          <a:latin typeface="Cambria Math" panose="02040503050406030204" pitchFamily="18" charset="0"/>
                        </a:rPr>
                        <m:t> </m:t>
                      </m:r>
                      <m:r>
                        <m:rPr>
                          <m:nor/>
                        </m:rPr>
                        <a:rPr lang="zh-TW" altLang="zh-TW" sz="1200" i="0" dirty="0">
                          <a:solidFill>
                            <a:prstClr val="black"/>
                          </a:solidFill>
                        </a:rPr>
                        <m:t>➔</m:t>
                      </m:r>
                      <m:r>
                        <m:rPr>
                          <m:nor/>
                        </m:rPr>
                        <a:rPr lang="en-US" altLang="zh-TW" sz="1200" b="0" i="0" dirty="0" smtClean="0">
                          <a:solidFill>
                            <a:prstClr val="black"/>
                          </a:solidFill>
                        </a:rPr>
                        <m:t> </m:t>
                      </m:r>
                      <m:r>
                        <m:rPr>
                          <m:sty m:val="p"/>
                        </m:rPr>
                        <a:rPr lang="en-US" altLang="zh-TW" sz="1200" b="0" i="0" smtClean="0">
                          <a:latin typeface="Cambria Math" panose="02040503050406030204" pitchFamily="18" charset="0"/>
                        </a:rPr>
                        <m:t>Attention</m:t>
                      </m:r>
                    </m:oMath>
                  </m:oMathPara>
                </a14:m>
                <a:endParaRPr lang="en-US" altLang="zh-TW" sz="1200" b="0" dirty="0">
                  <a:latin typeface="Cambria Math" panose="02040503050406030204" pitchFamily="18" charset="0"/>
                </a:endParaRPr>
              </a:p>
            </p:txBody>
          </p:sp>
        </mc:Choice>
        <mc:Fallback xmlns="">
          <p:sp>
            <p:nvSpPr>
              <p:cNvPr id="13" name="文字方塊 12">
                <a:extLst>
                  <a:ext uri="{FF2B5EF4-FFF2-40B4-BE49-F238E27FC236}">
                    <a16:creationId xmlns:a16="http://schemas.microsoft.com/office/drawing/2014/main" id="{04C69D51-1D28-7D46-D4F3-7BE78FE1AE01}"/>
                  </a:ext>
                </a:extLst>
              </p:cNvPr>
              <p:cNvSpPr txBox="1">
                <a:spLocks noRot="1" noChangeAspect="1" noMove="1" noResize="1" noEditPoints="1" noAdjustHandles="1" noChangeArrowheads="1" noChangeShapeType="1" noTextEdit="1"/>
              </p:cNvSpPr>
              <p:nvPr/>
            </p:nvSpPr>
            <p:spPr>
              <a:xfrm>
                <a:off x="3203848" y="5524053"/>
                <a:ext cx="2145524" cy="477310"/>
              </a:xfrm>
              <a:prstGeom prst="rect">
                <a:avLst/>
              </a:prstGeom>
              <a:blipFill>
                <a:blip r:embed="rId4"/>
                <a:stretch>
                  <a:fillRect l="-2557" b="-5128"/>
                </a:stretch>
              </a:blipFill>
            </p:spPr>
            <p:txBody>
              <a:bodyPr/>
              <a:lstStyle/>
              <a:p>
                <a:r>
                  <a:rPr lang="zh-TW" altLang="en-US">
                    <a:noFill/>
                  </a:rPr>
                  <a:t> </a:t>
                </a:r>
              </a:p>
            </p:txBody>
          </p:sp>
        </mc:Fallback>
      </mc:AlternateContent>
      <p:sp>
        <p:nvSpPr>
          <p:cNvPr id="47" name="文字方塊 46">
            <a:extLst>
              <a:ext uri="{FF2B5EF4-FFF2-40B4-BE49-F238E27FC236}">
                <a16:creationId xmlns:a16="http://schemas.microsoft.com/office/drawing/2014/main" id="{33060B8A-A437-EC33-27D1-26D6696C9A74}"/>
              </a:ext>
            </a:extLst>
          </p:cNvPr>
          <p:cNvSpPr txBox="1"/>
          <p:nvPr/>
        </p:nvSpPr>
        <p:spPr>
          <a:xfrm rot="5400000">
            <a:off x="112589" y="4226173"/>
            <a:ext cx="1803468" cy="490618"/>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rgbClr val="FF0000"/>
                </a:solidFill>
                <a:latin typeface="ADLaM Display" panose="02010000000000000000" pitchFamily="2" charset="0"/>
                <a:cs typeface="ADLaM Display" panose="02010000000000000000" pitchFamily="2" charset="0"/>
              </a:rPr>
              <a:t>T</a:t>
            </a:r>
            <a:r>
              <a:rPr lang="en-US" altLang="zh-TW" sz="1200" dirty="0">
                <a:solidFill>
                  <a:schemeClr val="bg1">
                    <a:lumMod val="50000"/>
                  </a:schemeClr>
                </a:solidFill>
                <a:latin typeface="ADLaM Display" panose="02010000000000000000" pitchFamily="2" charset="0"/>
                <a:cs typeface="ADLaM Display" panose="02010000000000000000" pitchFamily="2" charset="0"/>
              </a:rPr>
              <a: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3" name="文字方塊 52">
            <a:extLst>
              <a:ext uri="{FF2B5EF4-FFF2-40B4-BE49-F238E27FC236}">
                <a16:creationId xmlns:a16="http://schemas.microsoft.com/office/drawing/2014/main" id="{6630B396-C42E-3017-9F89-D6D467930840}"/>
              </a:ext>
            </a:extLst>
          </p:cNvPr>
          <p:cNvSpPr txBox="1"/>
          <p:nvPr/>
        </p:nvSpPr>
        <p:spPr>
          <a:xfrm rot="5400000">
            <a:off x="7521954" y="4218716"/>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57" name="文字方塊 56">
            <a:extLst>
              <a:ext uri="{FF2B5EF4-FFF2-40B4-BE49-F238E27FC236}">
                <a16:creationId xmlns:a16="http://schemas.microsoft.com/office/drawing/2014/main" id="{3663AB4D-BDC1-4C93-2AEB-041AF8B095A9}"/>
              </a:ext>
            </a:extLst>
          </p:cNvPr>
          <p:cNvSpPr txBox="1"/>
          <p:nvPr/>
        </p:nvSpPr>
        <p:spPr>
          <a:xfrm rot="10800000">
            <a:off x="1881353" y="2348880"/>
            <a:ext cx="1409360" cy="382581"/>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FF0000"/>
                </a:solidFill>
                <a:effectLst/>
                <a:uLnTx/>
                <a:uFillTx/>
                <a:latin typeface="ADLaM Display" panose="02010000000000000000" pitchFamily="2" charset="0"/>
                <a:ea typeface="ADLaM Display" panose="02010000000000000000" pitchFamily="2" charset="0"/>
                <a:cs typeface="ADLaM Display" panose="02010000000000000000" pitchFamily="2" charset="0"/>
              </a:rPr>
              <a:t>T</a:t>
            </a: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he</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 name="矩形: 圓角 6">
            <a:extLst>
              <a:ext uri="{FF2B5EF4-FFF2-40B4-BE49-F238E27FC236}">
                <a16:creationId xmlns:a16="http://schemas.microsoft.com/office/drawing/2014/main" id="{79D62CE4-E91E-3981-9BF3-2C1BE29B1BC3}"/>
              </a:ext>
            </a:extLst>
          </p:cNvPr>
          <p:cNvSpPr/>
          <p:nvPr/>
        </p:nvSpPr>
        <p:spPr>
          <a:xfrm>
            <a:off x="5489321" y="1118107"/>
            <a:ext cx="378823" cy="457201"/>
          </a:xfrm>
          <a:prstGeom prst="roundRect">
            <a:avLst/>
          </a:prstGeom>
          <a:solidFill>
            <a:schemeClr val="accent3">
              <a:lumMod val="20000"/>
              <a:lumOff val="80000"/>
            </a:schemeClr>
          </a:solidFill>
          <a:ln w="25400">
            <a:solidFill>
              <a:schemeClr val="accent3">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FFN</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9" name="矩形 8">
            <a:extLst>
              <a:ext uri="{FF2B5EF4-FFF2-40B4-BE49-F238E27FC236}">
                <a16:creationId xmlns:a16="http://schemas.microsoft.com/office/drawing/2014/main" id="{25DF4894-29E0-7855-ACBE-49137CE41C09}"/>
              </a:ext>
            </a:extLst>
          </p:cNvPr>
          <p:cNvSpPr/>
          <p:nvPr/>
        </p:nvSpPr>
        <p:spPr>
          <a:xfrm>
            <a:off x="4073664" y="111955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箭號: 向下 10">
            <a:extLst>
              <a:ext uri="{FF2B5EF4-FFF2-40B4-BE49-F238E27FC236}">
                <a16:creationId xmlns:a16="http://schemas.microsoft.com/office/drawing/2014/main" id="{CEF5505A-877F-0AB9-92CB-3BEEFA4D3C43}"/>
              </a:ext>
            </a:extLst>
          </p:cNvPr>
          <p:cNvSpPr/>
          <p:nvPr/>
        </p:nvSpPr>
        <p:spPr>
          <a:xfrm rot="16200000">
            <a:off x="4288847" y="124632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 name="文字方塊 15">
            <a:extLst>
              <a:ext uri="{FF2B5EF4-FFF2-40B4-BE49-F238E27FC236}">
                <a16:creationId xmlns:a16="http://schemas.microsoft.com/office/drawing/2014/main" id="{878B2AA1-3FF7-5D57-9091-4447938193D0}"/>
              </a:ext>
            </a:extLst>
          </p:cNvPr>
          <p:cNvSpPr txBox="1"/>
          <p:nvPr/>
        </p:nvSpPr>
        <p:spPr>
          <a:xfrm>
            <a:off x="4755700" y="1682857"/>
            <a:ext cx="864000" cy="21434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p:txBody>
      </p:sp>
      <p:grpSp>
        <p:nvGrpSpPr>
          <p:cNvPr id="75" name="群組 74">
            <a:extLst>
              <a:ext uri="{FF2B5EF4-FFF2-40B4-BE49-F238E27FC236}">
                <a16:creationId xmlns:a16="http://schemas.microsoft.com/office/drawing/2014/main" id="{09A5A324-3DEC-03BE-2AE4-D9D702A8112A}"/>
              </a:ext>
            </a:extLst>
          </p:cNvPr>
          <p:cNvGrpSpPr/>
          <p:nvPr/>
        </p:nvGrpSpPr>
        <p:grpSpPr>
          <a:xfrm>
            <a:off x="251520" y="2944608"/>
            <a:ext cx="1066099" cy="628408"/>
            <a:chOff x="121525" y="3016616"/>
            <a:chExt cx="1066099" cy="628408"/>
          </a:xfrm>
        </p:grpSpPr>
        <p:sp>
          <p:nvSpPr>
            <p:cNvPr id="30" name="矩形 29">
              <a:extLst>
                <a:ext uri="{FF2B5EF4-FFF2-40B4-BE49-F238E27FC236}">
                  <a16:creationId xmlns:a16="http://schemas.microsoft.com/office/drawing/2014/main" id="{E2DE1953-49AE-101D-1BFB-FD07A518B130}"/>
                </a:ext>
              </a:extLst>
            </p:cNvPr>
            <p:cNvSpPr/>
            <p:nvPr/>
          </p:nvSpPr>
          <p:spPr>
            <a:xfrm>
              <a:off x="542232" y="3279264"/>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34" name="文字方塊 33">
              <a:extLst>
                <a:ext uri="{FF2B5EF4-FFF2-40B4-BE49-F238E27FC236}">
                  <a16:creationId xmlns:a16="http://schemas.microsoft.com/office/drawing/2014/main" id="{E3F54B8A-B657-67EA-3222-54AE4FAC6F79}"/>
                </a:ext>
              </a:extLst>
            </p:cNvPr>
            <p:cNvSpPr txBox="1"/>
            <p:nvPr/>
          </p:nvSpPr>
          <p:spPr>
            <a:xfrm>
              <a:off x="971600" y="332498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37" name="文字方塊 36">
              <a:extLst>
                <a:ext uri="{FF2B5EF4-FFF2-40B4-BE49-F238E27FC236}">
                  <a16:creationId xmlns:a16="http://schemas.microsoft.com/office/drawing/2014/main" id="{CF0BEBF6-5813-CF95-1FA4-C0C39E260B81}"/>
                </a:ext>
              </a:extLst>
            </p:cNvPr>
            <p:cNvSpPr txBox="1"/>
            <p:nvPr/>
          </p:nvSpPr>
          <p:spPr>
            <a:xfrm>
              <a:off x="390507" y="332498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1" name="文字方塊 50">
              <a:extLst>
                <a:ext uri="{FF2B5EF4-FFF2-40B4-BE49-F238E27FC236}">
                  <a16:creationId xmlns:a16="http://schemas.microsoft.com/office/drawing/2014/main" id="{D0C52DBD-DEB6-AFFA-E98D-75380BBC0371}"/>
                </a:ext>
              </a:extLst>
            </p:cNvPr>
            <p:cNvSpPr txBox="1"/>
            <p:nvPr/>
          </p:nvSpPr>
          <p:spPr>
            <a:xfrm>
              <a:off x="553264" y="3140968"/>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54" name="文字方塊 53">
              <a:extLst>
                <a:ext uri="{FF2B5EF4-FFF2-40B4-BE49-F238E27FC236}">
                  <a16:creationId xmlns:a16="http://schemas.microsoft.com/office/drawing/2014/main" id="{FD0449CD-2130-D541-F9FD-A9750EEB6BF7}"/>
                </a:ext>
              </a:extLst>
            </p:cNvPr>
            <p:cNvSpPr txBox="1"/>
            <p:nvPr/>
          </p:nvSpPr>
          <p:spPr>
            <a:xfrm>
              <a:off x="894563" y="3212976"/>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67" name="矩形 66">
              <a:extLst>
                <a:ext uri="{FF2B5EF4-FFF2-40B4-BE49-F238E27FC236}">
                  <a16:creationId xmlns:a16="http://schemas.microsoft.com/office/drawing/2014/main" id="{35A5F392-B90C-AD01-59A7-501B83DBBAC6}"/>
                </a:ext>
              </a:extLst>
            </p:cNvPr>
            <p:cNvSpPr/>
            <p:nvPr/>
          </p:nvSpPr>
          <p:spPr>
            <a:xfrm>
              <a:off x="126554"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4" name="文字方塊 73">
              <a:extLst>
                <a:ext uri="{FF2B5EF4-FFF2-40B4-BE49-F238E27FC236}">
                  <a16:creationId xmlns:a16="http://schemas.microsoft.com/office/drawing/2014/main" id="{92B6EA84-82D7-9B13-9C67-46BDF886A2A7}"/>
                </a:ext>
              </a:extLst>
            </p:cNvPr>
            <p:cNvSpPr txBox="1"/>
            <p:nvPr/>
          </p:nvSpPr>
          <p:spPr>
            <a:xfrm>
              <a:off x="121525" y="3016616"/>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grpSp>
        <p:nvGrpSpPr>
          <p:cNvPr id="82" name="群組 81">
            <a:extLst>
              <a:ext uri="{FF2B5EF4-FFF2-40B4-BE49-F238E27FC236}">
                <a16:creationId xmlns:a16="http://schemas.microsoft.com/office/drawing/2014/main" id="{2E09DC6D-F60A-A48C-51C2-6B9D5204E5DE}"/>
              </a:ext>
            </a:extLst>
          </p:cNvPr>
          <p:cNvGrpSpPr/>
          <p:nvPr/>
        </p:nvGrpSpPr>
        <p:grpSpPr>
          <a:xfrm>
            <a:off x="1187624" y="1628800"/>
            <a:ext cx="1066099" cy="638586"/>
            <a:chOff x="1091459" y="1303398"/>
            <a:chExt cx="1066099" cy="638586"/>
          </a:xfrm>
        </p:grpSpPr>
        <p:sp>
          <p:nvSpPr>
            <p:cNvPr id="32" name="矩形 31">
              <a:extLst>
                <a:ext uri="{FF2B5EF4-FFF2-40B4-BE49-F238E27FC236}">
                  <a16:creationId xmlns:a16="http://schemas.microsoft.com/office/drawing/2014/main" id="{BFFF05FC-B9A5-6CC5-758F-A8A192F39652}"/>
                </a:ext>
              </a:extLst>
            </p:cNvPr>
            <p:cNvSpPr/>
            <p:nvPr/>
          </p:nvSpPr>
          <p:spPr>
            <a:xfrm>
              <a:off x="1550421" y="1576314"/>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40" name="文字方塊 39">
              <a:extLst>
                <a:ext uri="{FF2B5EF4-FFF2-40B4-BE49-F238E27FC236}">
                  <a16:creationId xmlns:a16="http://schemas.microsoft.com/office/drawing/2014/main" id="{1A904E3C-14D7-4DD7-2DB3-3CE890071D3A}"/>
                </a:ext>
              </a:extLst>
            </p:cNvPr>
            <p:cNvSpPr txBox="1"/>
            <p:nvPr/>
          </p:nvSpPr>
          <p:spPr>
            <a:xfrm>
              <a:off x="1398696" y="1622034"/>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43" name="文字方塊 42">
              <a:extLst>
                <a:ext uri="{FF2B5EF4-FFF2-40B4-BE49-F238E27FC236}">
                  <a16:creationId xmlns:a16="http://schemas.microsoft.com/office/drawing/2014/main" id="{0572CC80-221C-CFA8-6CA0-C9209C8C0807}"/>
                </a:ext>
              </a:extLst>
            </p:cNvPr>
            <p:cNvSpPr txBox="1"/>
            <p:nvPr/>
          </p:nvSpPr>
          <p:spPr>
            <a:xfrm>
              <a:off x="1940848" y="1622034"/>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70" name="矩形 69">
              <a:extLst>
                <a:ext uri="{FF2B5EF4-FFF2-40B4-BE49-F238E27FC236}">
                  <a16:creationId xmlns:a16="http://schemas.microsoft.com/office/drawing/2014/main" id="{1C097F63-2D37-58F6-D724-29AD948117B6}"/>
                </a:ext>
              </a:extLst>
            </p:cNvPr>
            <p:cNvSpPr/>
            <p:nvPr/>
          </p:nvSpPr>
          <p:spPr>
            <a:xfrm>
              <a:off x="1115616" y="148478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77" name="文字方塊 76">
              <a:extLst>
                <a:ext uri="{FF2B5EF4-FFF2-40B4-BE49-F238E27FC236}">
                  <a16:creationId xmlns:a16="http://schemas.microsoft.com/office/drawing/2014/main" id="{830D44BB-39A0-3014-543C-89117CBE1B64}"/>
                </a:ext>
              </a:extLst>
            </p:cNvPr>
            <p:cNvSpPr txBox="1"/>
            <p:nvPr/>
          </p:nvSpPr>
          <p:spPr>
            <a:xfrm>
              <a:off x="1523198" y="1427750"/>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79" name="文字方塊 78">
              <a:extLst>
                <a:ext uri="{FF2B5EF4-FFF2-40B4-BE49-F238E27FC236}">
                  <a16:creationId xmlns:a16="http://schemas.microsoft.com/office/drawing/2014/main" id="{ED7EA4EE-F758-B904-E7DF-513A69A187EC}"/>
                </a:ext>
              </a:extLst>
            </p:cNvPr>
            <p:cNvSpPr txBox="1"/>
            <p:nvPr/>
          </p:nvSpPr>
          <p:spPr>
            <a:xfrm>
              <a:off x="1864497" y="149975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1" name="文字方塊 80">
              <a:extLst>
                <a:ext uri="{FF2B5EF4-FFF2-40B4-BE49-F238E27FC236}">
                  <a16:creationId xmlns:a16="http://schemas.microsoft.com/office/drawing/2014/main" id="{9F5A2A00-AA2B-2668-0A78-241389E1C38B}"/>
                </a:ext>
              </a:extLst>
            </p:cNvPr>
            <p:cNvSpPr txBox="1"/>
            <p:nvPr/>
          </p:nvSpPr>
          <p:spPr>
            <a:xfrm>
              <a:off x="1091459" y="1303398"/>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cxnSp>
        <p:nvCxnSpPr>
          <p:cNvPr id="84" name="接點: 肘形 83">
            <a:extLst>
              <a:ext uri="{FF2B5EF4-FFF2-40B4-BE49-F238E27FC236}">
                <a16:creationId xmlns:a16="http://schemas.microsoft.com/office/drawing/2014/main" id="{8F443832-6634-CC95-EFEB-76CC61FD2CA3}"/>
              </a:ext>
            </a:extLst>
          </p:cNvPr>
          <p:cNvCxnSpPr>
            <a:stCxn id="43" idx="3"/>
            <a:endCxn id="57" idx="2"/>
          </p:cNvCxnSpPr>
          <p:nvPr/>
        </p:nvCxnSpPr>
        <p:spPr>
          <a:xfrm>
            <a:off x="2219893" y="2038876"/>
            <a:ext cx="366140" cy="310004"/>
          </a:xfrm>
          <a:prstGeom prst="bentConnector2">
            <a:avLst/>
          </a:prstGeom>
          <a:ln w="15875">
            <a:solidFill>
              <a:schemeClr val="accent1">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grpSp>
        <p:nvGrpSpPr>
          <p:cNvPr id="91" name="群組 90">
            <a:extLst>
              <a:ext uri="{FF2B5EF4-FFF2-40B4-BE49-F238E27FC236}">
                <a16:creationId xmlns:a16="http://schemas.microsoft.com/office/drawing/2014/main" id="{B819329B-F084-4216-7BA9-DE8E75792C09}"/>
              </a:ext>
            </a:extLst>
          </p:cNvPr>
          <p:cNvGrpSpPr/>
          <p:nvPr/>
        </p:nvGrpSpPr>
        <p:grpSpPr>
          <a:xfrm>
            <a:off x="4572000" y="2892725"/>
            <a:ext cx="1026360" cy="636377"/>
            <a:chOff x="4739871" y="2964733"/>
            <a:chExt cx="1026360" cy="636377"/>
          </a:xfrm>
        </p:grpSpPr>
        <p:sp>
          <p:nvSpPr>
            <p:cNvPr id="25" name="文字方塊 24">
              <a:extLst>
                <a:ext uri="{FF2B5EF4-FFF2-40B4-BE49-F238E27FC236}">
                  <a16:creationId xmlns:a16="http://schemas.microsoft.com/office/drawing/2014/main" id="{181CB809-ECAA-D9D0-D1EB-2F3D9BA9F17C}"/>
                </a:ext>
              </a:extLst>
            </p:cNvPr>
            <p:cNvSpPr txBox="1"/>
            <p:nvPr/>
          </p:nvSpPr>
          <p:spPr>
            <a:xfrm>
              <a:off x="4739871" y="296473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8" name="矩形 27">
              <a:extLst>
                <a:ext uri="{FF2B5EF4-FFF2-40B4-BE49-F238E27FC236}">
                  <a16:creationId xmlns:a16="http://schemas.microsoft.com/office/drawing/2014/main" id="{66340DE9-B9F8-5D8E-F0D8-531BF19180DC}"/>
                </a:ext>
              </a:extLst>
            </p:cNvPr>
            <p:cNvSpPr/>
            <p:nvPr/>
          </p:nvSpPr>
          <p:spPr>
            <a:xfrm>
              <a:off x="4739871" y="314391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56" name="矩形 55">
              <a:extLst>
                <a:ext uri="{FF2B5EF4-FFF2-40B4-BE49-F238E27FC236}">
                  <a16:creationId xmlns:a16="http://schemas.microsoft.com/office/drawing/2014/main" id="{FDE51605-7F17-B0D7-1EE1-7A6FACF24754}"/>
                </a:ext>
              </a:extLst>
            </p:cNvPr>
            <p:cNvSpPr/>
            <p:nvPr/>
          </p:nvSpPr>
          <p:spPr>
            <a:xfrm>
              <a:off x="5130408" y="3229629"/>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60" name="文字方塊 59">
              <a:extLst>
                <a:ext uri="{FF2B5EF4-FFF2-40B4-BE49-F238E27FC236}">
                  <a16:creationId xmlns:a16="http://schemas.microsoft.com/office/drawing/2014/main" id="{589B9766-37D4-CE54-10FC-FC09AB6106AB}"/>
                </a:ext>
              </a:extLst>
            </p:cNvPr>
            <p:cNvSpPr txBox="1"/>
            <p:nvPr/>
          </p:nvSpPr>
          <p:spPr>
            <a:xfrm>
              <a:off x="4986845" y="3275349"/>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3" name="文字方塊 62">
              <a:extLst>
                <a:ext uri="{FF2B5EF4-FFF2-40B4-BE49-F238E27FC236}">
                  <a16:creationId xmlns:a16="http://schemas.microsoft.com/office/drawing/2014/main" id="{33EEE794-1D55-0142-2347-DA849F37E466}"/>
                </a:ext>
              </a:extLst>
            </p:cNvPr>
            <p:cNvSpPr txBox="1"/>
            <p:nvPr/>
          </p:nvSpPr>
          <p:spPr>
            <a:xfrm>
              <a:off x="5514236" y="327534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6" name="文字方塊 85">
              <a:extLst>
                <a:ext uri="{FF2B5EF4-FFF2-40B4-BE49-F238E27FC236}">
                  <a16:creationId xmlns:a16="http://schemas.microsoft.com/office/drawing/2014/main" id="{5B5DC91F-8035-D277-E5EB-16D37B4A6F00}"/>
                </a:ext>
              </a:extLst>
            </p:cNvPr>
            <p:cNvSpPr txBox="1"/>
            <p:nvPr/>
          </p:nvSpPr>
          <p:spPr>
            <a:xfrm>
              <a:off x="5131871" y="3079956"/>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88" name="文字方塊 87">
              <a:extLst>
                <a:ext uri="{FF2B5EF4-FFF2-40B4-BE49-F238E27FC236}">
                  <a16:creationId xmlns:a16="http://schemas.microsoft.com/office/drawing/2014/main" id="{C6440293-C01A-CD1D-8B26-EB5E7FF89915}"/>
                </a:ext>
              </a:extLst>
            </p:cNvPr>
            <p:cNvSpPr txBox="1"/>
            <p:nvPr/>
          </p:nvSpPr>
          <p:spPr>
            <a:xfrm>
              <a:off x="5473170" y="3151964"/>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grpSp>
      <p:sp>
        <p:nvSpPr>
          <p:cNvPr id="90" name="左中括弧 89">
            <a:extLst>
              <a:ext uri="{FF2B5EF4-FFF2-40B4-BE49-F238E27FC236}">
                <a16:creationId xmlns:a16="http://schemas.microsoft.com/office/drawing/2014/main" id="{5F5C135D-A705-2E2A-4B4F-4C7DB4C0E927}"/>
              </a:ext>
            </a:extLst>
          </p:cNvPr>
          <p:cNvSpPr/>
          <p:nvPr/>
        </p:nvSpPr>
        <p:spPr>
          <a:xfrm rot="16200000" flipH="1">
            <a:off x="5219676" y="-550677"/>
            <a:ext cx="98278" cy="4994029"/>
          </a:xfrm>
          <a:prstGeom prst="leftBracket">
            <a:avLst/>
          </a:prstGeom>
          <a:ln>
            <a:solidFill>
              <a:schemeClr val="accent6">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92" name="接點: 肘形 91">
            <a:extLst>
              <a:ext uri="{FF2B5EF4-FFF2-40B4-BE49-F238E27FC236}">
                <a16:creationId xmlns:a16="http://schemas.microsoft.com/office/drawing/2014/main" id="{5487B822-8698-F7FD-3F12-C96B513E5B22}"/>
              </a:ext>
            </a:extLst>
          </p:cNvPr>
          <p:cNvCxnSpPr>
            <a:cxnSpLocks/>
            <a:stCxn id="34" idx="3"/>
            <a:endCxn id="36" idx="0"/>
          </p:cNvCxnSpPr>
          <p:nvPr/>
        </p:nvCxnSpPr>
        <p:spPr>
          <a:xfrm>
            <a:off x="1284475" y="3344416"/>
            <a:ext cx="430789" cy="188206"/>
          </a:xfrm>
          <a:prstGeom prst="bentConnector2">
            <a:avLst/>
          </a:prstGeom>
          <a:ln w="15875">
            <a:solidFill>
              <a:schemeClr val="accent2">
                <a:lumMod val="60000"/>
                <a:lumOff val="4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cxnSp>
        <p:nvCxnSpPr>
          <p:cNvPr id="96" name="接點: 肘形 95">
            <a:extLst>
              <a:ext uri="{FF2B5EF4-FFF2-40B4-BE49-F238E27FC236}">
                <a16:creationId xmlns:a16="http://schemas.microsoft.com/office/drawing/2014/main" id="{5B806913-7DE1-6C59-985B-B6A05DE4267C}"/>
              </a:ext>
            </a:extLst>
          </p:cNvPr>
          <p:cNvCxnSpPr>
            <a:cxnSpLocks/>
            <a:stCxn id="63" idx="3"/>
            <a:endCxn id="41" idx="0"/>
          </p:cNvCxnSpPr>
          <p:nvPr/>
        </p:nvCxnSpPr>
        <p:spPr>
          <a:xfrm>
            <a:off x="5529245" y="3294781"/>
            <a:ext cx="193740" cy="195612"/>
          </a:xfrm>
          <a:prstGeom prst="bentConnector2">
            <a:avLst/>
          </a:prstGeom>
          <a:ln w="15875">
            <a:solidFill>
              <a:schemeClr val="accent3">
                <a:lumMod val="75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103" name="矩形: 圓角 102">
            <a:extLst>
              <a:ext uri="{FF2B5EF4-FFF2-40B4-BE49-F238E27FC236}">
                <a16:creationId xmlns:a16="http://schemas.microsoft.com/office/drawing/2014/main" id="{B0C79619-D968-AE9D-9EF0-27A69B99A3B8}"/>
              </a:ext>
            </a:extLst>
          </p:cNvPr>
          <p:cNvSpPr/>
          <p:nvPr/>
        </p:nvSpPr>
        <p:spPr>
          <a:xfrm>
            <a:off x="4572000" y="1117675"/>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4"/>
                </a:solidFill>
                <a:latin typeface="ADLaM Display" panose="02010000000000000000" pitchFamily="2" charset="0"/>
                <a:cs typeface="ADLaM Display" panose="02010000000000000000" pitchFamily="2" charset="0"/>
              </a:rPr>
              <a:t>Attn</a:t>
            </a:r>
            <a:endParaRPr lang="zh-TW" altLang="en-US" sz="12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106" name="文字方塊 105">
            <a:extLst>
              <a:ext uri="{FF2B5EF4-FFF2-40B4-BE49-F238E27FC236}">
                <a16:creationId xmlns:a16="http://schemas.microsoft.com/office/drawing/2014/main" id="{ED8138D6-F08E-4EEC-726E-2CBE7DD8AA4E}"/>
              </a:ext>
            </a:extLst>
          </p:cNvPr>
          <p:cNvSpPr txBox="1"/>
          <p:nvPr/>
        </p:nvSpPr>
        <p:spPr>
          <a:xfrm>
            <a:off x="5181208" y="1242769"/>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8" name="文字方塊 107">
            <a:extLst>
              <a:ext uri="{FF2B5EF4-FFF2-40B4-BE49-F238E27FC236}">
                <a16:creationId xmlns:a16="http://schemas.microsoft.com/office/drawing/2014/main" id="{331941BD-1F0A-7985-B5AD-509EE5A71819}"/>
              </a:ext>
            </a:extLst>
          </p:cNvPr>
          <p:cNvSpPr txBox="1"/>
          <p:nvPr/>
        </p:nvSpPr>
        <p:spPr>
          <a:xfrm>
            <a:off x="6499408"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0" name="文字方塊 109">
            <a:extLst>
              <a:ext uri="{FF2B5EF4-FFF2-40B4-BE49-F238E27FC236}">
                <a16:creationId xmlns:a16="http://schemas.microsoft.com/office/drawing/2014/main" id="{597F843D-2535-3972-0FCE-B49E5D1BC5AE}"/>
              </a:ext>
            </a:extLst>
          </p:cNvPr>
          <p:cNvSpPr txBox="1"/>
          <p:nvPr/>
        </p:nvSpPr>
        <p:spPr>
          <a:xfrm>
            <a:off x="7519299" y="3386221"/>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2" name="文字方塊 111">
            <a:extLst>
              <a:ext uri="{FF2B5EF4-FFF2-40B4-BE49-F238E27FC236}">
                <a16:creationId xmlns:a16="http://schemas.microsoft.com/office/drawing/2014/main" id="{09C897FE-19BF-2501-23EF-DC208C9BA9B7}"/>
              </a:ext>
            </a:extLst>
          </p:cNvPr>
          <p:cNvSpPr txBox="1"/>
          <p:nvPr/>
        </p:nvSpPr>
        <p:spPr>
          <a:xfrm>
            <a:off x="8244408" y="2889783"/>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114" name="矩形 113">
            <a:extLst>
              <a:ext uri="{FF2B5EF4-FFF2-40B4-BE49-F238E27FC236}">
                <a16:creationId xmlns:a16="http://schemas.microsoft.com/office/drawing/2014/main" id="{B8E866B7-6A7F-1A8A-4859-1E7634CD5A35}"/>
              </a:ext>
            </a:extLst>
          </p:cNvPr>
          <p:cNvSpPr/>
          <p:nvPr/>
        </p:nvSpPr>
        <p:spPr>
          <a:xfrm>
            <a:off x="8244408" y="3068960"/>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6" name="矩形: 圓角 115">
            <a:extLst>
              <a:ext uri="{FF2B5EF4-FFF2-40B4-BE49-F238E27FC236}">
                <a16:creationId xmlns:a16="http://schemas.microsoft.com/office/drawing/2014/main" id="{FFDADA24-F9F5-1B4A-8D88-A8ECB7DF7435}"/>
              </a:ext>
            </a:extLst>
          </p:cNvPr>
          <p:cNvSpPr/>
          <p:nvPr/>
        </p:nvSpPr>
        <p:spPr>
          <a:xfrm>
            <a:off x="5678732" y="764704"/>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9035F860-043F-CB1C-452D-12BB448F6CB0}"/>
              </a:ext>
            </a:extLst>
          </p:cNvPr>
          <p:cNvSpPr txBox="1"/>
          <p:nvPr/>
        </p:nvSpPr>
        <p:spPr>
          <a:xfrm>
            <a:off x="8462862" y="321238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6520B0-BEFF-7A6F-2EA5-02B6382B5F82}"/>
            </a:ext>
          </a:extLst>
        </p:cNvPr>
        <p:cNvGrpSpPr/>
        <p:nvPr/>
      </p:nvGrpSpPr>
      <p:grpSpPr>
        <a:xfrm>
          <a:off x="0" y="0"/>
          <a:ext cx="0" cy="0"/>
          <a:chOff x="0" y="0"/>
          <a:chExt cx="0" cy="0"/>
        </a:xfrm>
      </p:grpSpPr>
      <p:sp>
        <p:nvSpPr>
          <p:cNvPr id="179" name="矩形 178">
            <a:extLst>
              <a:ext uri="{FF2B5EF4-FFF2-40B4-BE49-F238E27FC236}">
                <a16:creationId xmlns:a16="http://schemas.microsoft.com/office/drawing/2014/main" id="{8FB58A0A-24D8-E664-F4BD-7805146B3F25}"/>
              </a:ext>
            </a:extLst>
          </p:cNvPr>
          <p:cNvSpPr/>
          <p:nvPr/>
        </p:nvSpPr>
        <p:spPr>
          <a:xfrm>
            <a:off x="8258120"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9" name="矩形: 圓角 118">
            <a:extLst>
              <a:ext uri="{FF2B5EF4-FFF2-40B4-BE49-F238E27FC236}">
                <a16:creationId xmlns:a16="http://schemas.microsoft.com/office/drawing/2014/main" id="{C5C47423-E8B1-D73B-FF11-9061E6FB763C}"/>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 name="標題 1">
            <a:extLst>
              <a:ext uri="{FF2B5EF4-FFF2-40B4-BE49-F238E27FC236}">
                <a16:creationId xmlns:a16="http://schemas.microsoft.com/office/drawing/2014/main" id="{85FE02F0-2D41-9303-763A-4903C2069F1C}"/>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FFN and MoE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b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b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4" name="文字方塊 3">
            <a:extLst>
              <a:ext uri="{FF2B5EF4-FFF2-40B4-BE49-F238E27FC236}">
                <a16:creationId xmlns:a16="http://schemas.microsoft.com/office/drawing/2014/main" id="{08595CBB-D535-54F3-634F-6E8985F0FF26}"/>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Dense FFN</a:t>
            </a:r>
            <a:r>
              <a:rPr lang="en-US" altLang="zh-TW" sz="1600" dirty="0"/>
              <a:t>: Straightforward architecture and H/W friendly deployment.</a:t>
            </a:r>
          </a:p>
          <a:p>
            <a:pPr marL="285750" indent="-285750">
              <a:lnSpc>
                <a:spcPts val="1800"/>
              </a:lnSpc>
              <a:spcBef>
                <a:spcPts val="600"/>
              </a:spcBef>
              <a:spcAft>
                <a:spcPts val="600"/>
              </a:spcAft>
              <a:buFont typeface="Wingdings" panose="05000000000000000000" pitchFamily="2" charset="2"/>
              <a:buChar char="Ø"/>
            </a:pPr>
            <a:r>
              <a:rPr lang="en-US" altLang="zh-TW" sz="1600" b="1" dirty="0"/>
              <a:t>Sparse MoE</a:t>
            </a:r>
            <a:r>
              <a:rPr lang="en-US" altLang="zh-TW" sz="1600" dirty="0"/>
              <a:t>: Minimal computational cost and maximized model capacity. </a:t>
            </a:r>
            <a:endParaRPr lang="en-US" altLang="zh-TW" sz="1600" b="1" dirty="0"/>
          </a:p>
        </p:txBody>
      </p:sp>
      <p:grpSp>
        <p:nvGrpSpPr>
          <p:cNvPr id="5" name="群組 4">
            <a:extLst>
              <a:ext uri="{FF2B5EF4-FFF2-40B4-BE49-F238E27FC236}">
                <a16:creationId xmlns:a16="http://schemas.microsoft.com/office/drawing/2014/main" id="{8387F6FA-116B-73E4-D141-F991685258E9}"/>
              </a:ext>
            </a:extLst>
          </p:cNvPr>
          <p:cNvGrpSpPr/>
          <p:nvPr/>
        </p:nvGrpSpPr>
        <p:grpSpPr>
          <a:xfrm>
            <a:off x="395536" y="2883447"/>
            <a:ext cx="3014965" cy="819997"/>
            <a:chOff x="1187624" y="3953478"/>
            <a:chExt cx="3014965" cy="819997"/>
          </a:xfrm>
        </p:grpSpPr>
        <p:sp>
          <p:nvSpPr>
            <p:cNvPr id="8" name="矩形 7">
              <a:extLst>
                <a:ext uri="{FF2B5EF4-FFF2-40B4-BE49-F238E27FC236}">
                  <a16:creationId xmlns:a16="http://schemas.microsoft.com/office/drawing/2014/main" id="{857A162F-B8A4-9566-5673-54D8C6464FAE}"/>
                </a:ext>
              </a:extLst>
            </p:cNvPr>
            <p:cNvSpPr/>
            <p:nvPr/>
          </p:nvSpPr>
          <p:spPr>
            <a:xfrm>
              <a:off x="1700818" y="4133282"/>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activate</a:t>
              </a:r>
            </a:p>
          </p:txBody>
        </p:sp>
        <p:sp>
          <p:nvSpPr>
            <p:cNvPr id="10" name="矩形 9">
              <a:extLst>
                <a:ext uri="{FF2B5EF4-FFF2-40B4-BE49-F238E27FC236}">
                  <a16:creationId xmlns:a16="http://schemas.microsoft.com/office/drawing/2014/main" id="{00F3746D-76ED-0F83-4ACB-52965404E318}"/>
                </a:ext>
              </a:extLst>
            </p:cNvPr>
            <p:cNvSpPr/>
            <p:nvPr/>
          </p:nvSpPr>
          <p:spPr>
            <a:xfrm>
              <a:off x="1340024" y="412392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1" name="矩形 10">
              <a:extLst>
                <a:ext uri="{FF2B5EF4-FFF2-40B4-BE49-F238E27FC236}">
                  <a16:creationId xmlns:a16="http://schemas.microsoft.com/office/drawing/2014/main" id="{8853F636-EBC3-83D0-9F17-C9FC8C2F290E}"/>
                </a:ext>
              </a:extLst>
            </p:cNvPr>
            <p:cNvSpPr/>
            <p:nvPr/>
          </p:nvSpPr>
          <p:spPr>
            <a:xfrm>
              <a:off x="2926879" y="4145821"/>
              <a:ext cx="63198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up</a:t>
              </a:r>
            </a:p>
          </p:txBody>
        </p:sp>
        <p:sp>
          <p:nvSpPr>
            <p:cNvPr id="12" name="矩形 11">
              <a:extLst>
                <a:ext uri="{FF2B5EF4-FFF2-40B4-BE49-F238E27FC236}">
                  <a16:creationId xmlns:a16="http://schemas.microsoft.com/office/drawing/2014/main" id="{3CFCA351-167D-2A5C-FBE2-2AFC48A2095E}"/>
                </a:ext>
              </a:extLst>
            </p:cNvPr>
            <p:cNvSpPr/>
            <p:nvPr/>
          </p:nvSpPr>
          <p:spPr>
            <a:xfrm>
              <a:off x="2566085" y="4136467"/>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文字方塊 13">
              <a:extLst>
                <a:ext uri="{FF2B5EF4-FFF2-40B4-BE49-F238E27FC236}">
                  <a16:creationId xmlns:a16="http://schemas.microsoft.com/office/drawing/2014/main" id="{2EFFA3CC-08E3-CA84-F4C4-CE247FC6CF0A}"/>
                </a:ext>
              </a:extLst>
            </p:cNvPr>
            <p:cNvSpPr txBox="1"/>
            <p:nvPr/>
          </p:nvSpPr>
          <p:spPr>
            <a:xfrm>
              <a:off x="2415414" y="41702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5" name="矩形 14">
              <a:extLst>
                <a:ext uri="{FF2B5EF4-FFF2-40B4-BE49-F238E27FC236}">
                  <a16:creationId xmlns:a16="http://schemas.microsoft.com/office/drawing/2014/main" id="{AF1E12CE-8B58-5721-8727-98E109AE463B}"/>
                </a:ext>
              </a:extLst>
            </p:cNvPr>
            <p:cNvSpPr/>
            <p:nvPr/>
          </p:nvSpPr>
          <p:spPr>
            <a:xfrm rot="16200000">
              <a:off x="3721460" y="4320325"/>
              <a:ext cx="631980" cy="274320"/>
            </a:xfrm>
            <a:prstGeom prst="rect">
              <a:avLst/>
            </a:prstGeom>
            <a:solidFill>
              <a:schemeClr val="accent3">
                <a:lumMod val="20000"/>
                <a:lumOff val="80000"/>
              </a:schemeClr>
            </a:solidFill>
            <a:ln w="254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600"/>
                </a:lnSpc>
              </a:pPr>
              <a:r>
                <a:rPr lang="en-US" altLang="zh-TW" sz="1200" b="1" dirty="0">
                  <a:solidFill>
                    <a:schemeClr val="tx1"/>
                  </a:solidFill>
                  <a:ea typeface="微軟正黑體" panose="020B0604030504040204" pitchFamily="34" charset="-120"/>
                </a:rPr>
                <a:t>W</a:t>
              </a:r>
            </a:p>
            <a:p>
              <a:pPr algn="ctr">
                <a:lnSpc>
                  <a:spcPts val="600"/>
                </a:lnSpc>
              </a:pPr>
              <a:r>
                <a:rPr lang="en-US" altLang="zh-TW" sz="1200" b="1" baseline="-25000" dirty="0">
                  <a:solidFill>
                    <a:schemeClr val="tx1"/>
                  </a:solidFill>
                  <a:ea typeface="微軟正黑體" panose="020B0604030504040204" pitchFamily="34" charset="-120"/>
                </a:rPr>
                <a:t>down</a:t>
              </a:r>
            </a:p>
          </p:txBody>
        </p:sp>
        <p:sp>
          <p:nvSpPr>
            <p:cNvPr id="18" name="文字方塊 17">
              <a:extLst>
                <a:ext uri="{FF2B5EF4-FFF2-40B4-BE49-F238E27FC236}">
                  <a16:creationId xmlns:a16="http://schemas.microsoft.com/office/drawing/2014/main" id="{CB988084-69E4-2C35-74BD-A27221F56B38}"/>
                </a:ext>
              </a:extLst>
            </p:cNvPr>
            <p:cNvSpPr txBox="1"/>
            <p:nvPr/>
          </p:nvSpPr>
          <p:spPr>
            <a:xfrm>
              <a:off x="3742113" y="4152610"/>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9" name="文字方塊 18">
              <a:extLst>
                <a:ext uri="{FF2B5EF4-FFF2-40B4-BE49-F238E27FC236}">
                  <a16:creationId xmlns:a16="http://schemas.microsoft.com/office/drawing/2014/main" id="{B690F013-D449-7B5A-C53D-9D64842E1820}"/>
                </a:ext>
              </a:extLst>
            </p:cNvPr>
            <p:cNvSpPr txBox="1"/>
            <p:nvPr/>
          </p:nvSpPr>
          <p:spPr>
            <a:xfrm>
              <a:off x="1340024" y="3953478"/>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20" name="文字方塊 19">
              <a:extLst>
                <a:ext uri="{FF2B5EF4-FFF2-40B4-BE49-F238E27FC236}">
                  <a16:creationId xmlns:a16="http://schemas.microsoft.com/office/drawing/2014/main" id="{7A182192-883D-C416-92C5-03E133FAD981}"/>
                </a:ext>
              </a:extLst>
            </p:cNvPr>
            <p:cNvSpPr txBox="1"/>
            <p:nvPr/>
          </p:nvSpPr>
          <p:spPr>
            <a:xfrm>
              <a:off x="1883934" y="3953478"/>
              <a:ext cx="293061" cy="129042"/>
            </a:xfrm>
            <a:prstGeom prst="rect">
              <a:avLst/>
            </a:prstGeom>
            <a:noFill/>
          </p:spPr>
          <p:txBody>
            <a:bodyPr wrap="none" lIns="0" tIns="0" rIns="0" bIns="0" rtlCol="0" anchor="ctr" anchorCtr="1">
              <a:noAutofit/>
            </a:bodyPr>
            <a:lstStyle/>
            <a:p>
              <a:pPr algn="ctr"/>
              <a:r>
                <a:rPr lang="en-US" altLang="zh-TW" sz="1200" b="1" dirty="0"/>
                <a:t>d*S</a:t>
              </a:r>
              <a:endParaRPr lang="zh-TW" altLang="en-US" sz="1200" b="1" dirty="0"/>
            </a:p>
          </p:txBody>
        </p:sp>
        <p:sp>
          <p:nvSpPr>
            <p:cNvPr id="22" name="文字方塊 21">
              <a:extLst>
                <a:ext uri="{FF2B5EF4-FFF2-40B4-BE49-F238E27FC236}">
                  <a16:creationId xmlns:a16="http://schemas.microsoft.com/office/drawing/2014/main" id="{088F27CD-C30A-43B1-2561-07AC9BDF5115}"/>
                </a:ext>
              </a:extLst>
            </p:cNvPr>
            <p:cNvSpPr txBox="1"/>
            <p:nvPr/>
          </p:nvSpPr>
          <p:spPr>
            <a:xfrm>
              <a:off x="3909528" y="3981387"/>
              <a:ext cx="293061" cy="129042"/>
            </a:xfrm>
            <a:prstGeom prst="rect">
              <a:avLst/>
            </a:prstGeom>
            <a:noFill/>
          </p:spPr>
          <p:txBody>
            <a:bodyPr wrap="none" lIns="0" tIns="0" rIns="0" bIns="0" rtlCol="0" anchor="ctr" anchorCtr="1">
              <a:noAutofit/>
            </a:bodyPr>
            <a:lstStyle/>
            <a:p>
              <a:pPr algn="ctr"/>
              <a:r>
                <a:rPr lang="en-US" altLang="zh-TW" sz="1200" b="1" dirty="0"/>
                <a:t>S*d</a:t>
              </a:r>
              <a:endParaRPr lang="zh-TW" altLang="en-US" sz="1200" b="1" dirty="0"/>
            </a:p>
          </p:txBody>
        </p:sp>
        <p:sp>
          <p:nvSpPr>
            <p:cNvPr id="23" name="左右中括弧 22">
              <a:extLst>
                <a:ext uri="{FF2B5EF4-FFF2-40B4-BE49-F238E27FC236}">
                  <a16:creationId xmlns:a16="http://schemas.microsoft.com/office/drawing/2014/main" id="{E46DC2B8-02E8-E1FB-7EC8-17793BDCFCD6}"/>
                </a:ext>
              </a:extLst>
            </p:cNvPr>
            <p:cNvSpPr/>
            <p:nvPr/>
          </p:nvSpPr>
          <p:spPr>
            <a:xfrm>
              <a:off x="1187624" y="4111332"/>
              <a:ext cx="2508058"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grpSp>
      <p:sp>
        <p:nvSpPr>
          <p:cNvPr id="27" name="左中括弧 26">
            <a:extLst>
              <a:ext uri="{FF2B5EF4-FFF2-40B4-BE49-F238E27FC236}">
                <a16:creationId xmlns:a16="http://schemas.microsoft.com/office/drawing/2014/main" id="{8539CAF7-56EA-733C-7429-1A0824F85AF2}"/>
              </a:ext>
            </a:extLst>
          </p:cNvPr>
          <p:cNvSpPr/>
          <p:nvPr/>
        </p:nvSpPr>
        <p:spPr>
          <a:xfrm rot="16200000" flipH="1">
            <a:off x="1940946" y="1574559"/>
            <a:ext cx="45719" cy="2508058"/>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28" name="群組 27">
            <a:extLst>
              <a:ext uri="{FF2B5EF4-FFF2-40B4-BE49-F238E27FC236}">
                <a16:creationId xmlns:a16="http://schemas.microsoft.com/office/drawing/2014/main" id="{36663390-B69E-B311-2BA9-3A379103EB8F}"/>
              </a:ext>
            </a:extLst>
          </p:cNvPr>
          <p:cNvGrpSpPr/>
          <p:nvPr/>
        </p:nvGrpSpPr>
        <p:grpSpPr>
          <a:xfrm>
            <a:off x="976246" y="3891514"/>
            <a:ext cx="1595502" cy="1210625"/>
            <a:chOff x="1109821" y="5005729"/>
            <a:chExt cx="1595502" cy="1210625"/>
          </a:xfrm>
        </p:grpSpPr>
        <p:pic>
          <p:nvPicPr>
            <p:cNvPr id="30" name="圖片 29">
              <a:extLst>
                <a:ext uri="{FF2B5EF4-FFF2-40B4-BE49-F238E27FC236}">
                  <a16:creationId xmlns:a16="http://schemas.microsoft.com/office/drawing/2014/main" id="{D031D34C-0754-836C-8D6A-D66B5F1F8555}"/>
                </a:ext>
              </a:extLst>
            </p:cNvPr>
            <p:cNvPicPr>
              <a:picLocks noChangeAspect="1"/>
            </p:cNvPicPr>
            <p:nvPr/>
          </p:nvPicPr>
          <p:blipFill>
            <a:blip r:embed="rId3"/>
            <a:stretch>
              <a:fillRect/>
            </a:stretch>
          </p:blipFill>
          <p:spPr>
            <a:xfrm>
              <a:off x="1109821" y="5005729"/>
              <a:ext cx="1595502" cy="924222"/>
            </a:xfrm>
            <a:prstGeom prst="rect">
              <a:avLst/>
            </a:prstGeom>
            <a:noFill/>
            <a:ln>
              <a:noFill/>
            </a:ln>
            <a:effectLst>
              <a:glow rad="101600">
                <a:schemeClr val="bg1">
                  <a:lumMod val="95000"/>
                </a:schemeClr>
              </a:glow>
              <a:softEdge rad="25400"/>
            </a:effectLst>
          </p:spPr>
        </p:pic>
        <mc:AlternateContent xmlns:mc="http://schemas.openxmlformats.org/markup-compatibility/2006" xmlns:a14="http://schemas.microsoft.com/office/drawing/2010/main">
          <mc:Choice Requires="a14">
            <p:sp>
              <p:nvSpPr>
                <p:cNvPr id="31" name="文字方塊 30">
                  <a:extLst>
                    <a:ext uri="{FF2B5EF4-FFF2-40B4-BE49-F238E27FC236}">
                      <a16:creationId xmlns:a16="http://schemas.microsoft.com/office/drawing/2014/main" id="{DCB40673-8E90-429E-7658-FAFA69FC3883}"/>
                    </a:ext>
                  </a:extLst>
                </p:cNvPr>
                <p:cNvSpPr txBox="1"/>
                <p:nvPr/>
              </p:nvSpPr>
              <p:spPr>
                <a:xfrm>
                  <a:off x="1133610" y="5892739"/>
                  <a:ext cx="1547924" cy="323615"/>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𝑥</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𝑥</m:t>
                                </m:r>
                              </m:sup>
                            </m:sSup>
                          </m:den>
                        </m:f>
                      </m:oMath>
                    </m:oMathPara>
                  </a14:m>
                  <a:endParaRPr lang="zh-TW" altLang="en-US" sz="1200" dirty="0"/>
                </a:p>
              </p:txBody>
            </p:sp>
          </mc:Choice>
          <mc:Fallback xmlns="">
            <p:sp>
              <p:nvSpPr>
                <p:cNvPr id="106" name="文字方塊 105">
                  <a:extLst>
                    <a:ext uri="{FF2B5EF4-FFF2-40B4-BE49-F238E27FC236}">
                      <a16:creationId xmlns:a16="http://schemas.microsoft.com/office/drawing/2014/main" id="{E5FB5135-9DDC-266F-5225-B48F121EAE3C}"/>
                    </a:ext>
                  </a:extLst>
                </p:cNvPr>
                <p:cNvSpPr txBox="1">
                  <a:spLocks noRot="1" noChangeAspect="1" noMove="1" noResize="1" noEditPoints="1" noAdjustHandles="1" noChangeArrowheads="1" noChangeShapeType="1" noTextEdit="1"/>
                </p:cNvSpPr>
                <p:nvPr/>
              </p:nvSpPr>
              <p:spPr>
                <a:xfrm>
                  <a:off x="1133610" y="5892739"/>
                  <a:ext cx="1547924" cy="323615"/>
                </a:xfrm>
                <a:prstGeom prst="rect">
                  <a:avLst/>
                </a:prstGeom>
                <a:blipFill>
                  <a:blip r:embed="rId4"/>
                  <a:stretch>
                    <a:fillRect l="-2362" r="-394" b="-16981"/>
                  </a:stretch>
                </a:blipFill>
              </p:spPr>
              <p:txBody>
                <a:bodyPr/>
                <a:lstStyle/>
                <a:p>
                  <a:r>
                    <a:rPr lang="zh-TW" altLang="en-US">
                      <a:noFill/>
                    </a:rPr>
                    <a:t> </a:t>
                  </a:r>
                </a:p>
              </p:txBody>
            </p:sp>
          </mc:Fallback>
        </mc:AlternateContent>
      </p:grpSp>
      <p:sp>
        <p:nvSpPr>
          <p:cNvPr id="32" name="文字方塊 31">
            <a:extLst>
              <a:ext uri="{FF2B5EF4-FFF2-40B4-BE49-F238E27FC236}">
                <a16:creationId xmlns:a16="http://schemas.microsoft.com/office/drawing/2014/main" id="{C83F665C-610C-F499-A6B1-DD2517469EC9}"/>
              </a:ext>
            </a:extLst>
          </p:cNvPr>
          <p:cNvSpPr txBox="1"/>
          <p:nvPr/>
        </p:nvSpPr>
        <p:spPr>
          <a:xfrm>
            <a:off x="1000036" y="2564904"/>
            <a:ext cx="1985336" cy="276999"/>
          </a:xfrm>
          <a:prstGeom prst="rect">
            <a:avLst/>
          </a:prstGeom>
          <a:noFill/>
        </p:spPr>
        <p:txBody>
          <a:bodyPr wrap="none" anchor="ctr" anchorCtr="1">
            <a:noAutofit/>
          </a:bodyPr>
          <a:lstStyle/>
          <a:p>
            <a:r>
              <a:rPr lang="en-US" altLang="zh-TW" sz="1200" b="1" dirty="0">
                <a:solidFill>
                  <a:schemeClr val="accent3">
                    <a:lumMod val="50000"/>
                  </a:schemeClr>
                </a:solidFill>
              </a:rPr>
              <a:t>Dense Feed Forward Network</a:t>
            </a:r>
          </a:p>
        </p:txBody>
      </p:sp>
      <p:graphicFrame>
        <p:nvGraphicFramePr>
          <p:cNvPr id="39" name="表格 38">
            <a:extLst>
              <a:ext uri="{FF2B5EF4-FFF2-40B4-BE49-F238E27FC236}">
                <a16:creationId xmlns:a16="http://schemas.microsoft.com/office/drawing/2014/main" id="{394AB1E5-1778-8E1C-8044-06DD8A63E295}"/>
              </a:ext>
            </a:extLst>
          </p:cNvPr>
          <p:cNvGraphicFramePr>
            <a:graphicFrameLocks noGrp="1"/>
          </p:cNvGraphicFramePr>
          <p:nvPr>
            <p:extLst>
              <p:ext uri="{D42A27DB-BD31-4B8C-83A1-F6EECF244321}">
                <p14:modId xmlns:p14="http://schemas.microsoft.com/office/powerpoint/2010/main" val="1193541049"/>
              </p:ext>
            </p:extLst>
          </p:nvPr>
        </p:nvGraphicFramePr>
        <p:xfrm>
          <a:off x="5634356" y="2610929"/>
          <a:ext cx="2440637" cy="102558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0930">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0.81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0.7</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1.1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8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8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70930">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0.75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0.9</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0.14</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0.25</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0.2</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7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7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70930">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4.8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2.1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0.6</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1.9</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1.5</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70930">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70930">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41" name="矩形 40">
            <a:extLst>
              <a:ext uri="{FF2B5EF4-FFF2-40B4-BE49-F238E27FC236}">
                <a16:creationId xmlns:a16="http://schemas.microsoft.com/office/drawing/2014/main" id="{CF5973AA-C4B4-515F-3E30-2080778F1C4F}"/>
              </a:ext>
            </a:extLst>
          </p:cNvPr>
          <p:cNvSpPr/>
          <p:nvPr/>
        </p:nvSpPr>
        <p:spPr>
          <a:xfrm>
            <a:off x="5584227" y="3430761"/>
            <a:ext cx="2529877" cy="234564"/>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92" name="矩形 91">
            <a:extLst>
              <a:ext uri="{FF2B5EF4-FFF2-40B4-BE49-F238E27FC236}">
                <a16:creationId xmlns:a16="http://schemas.microsoft.com/office/drawing/2014/main" id="{616F3CF7-8D6A-9A67-A439-4B8E6B457A2C}"/>
              </a:ext>
            </a:extLst>
          </p:cNvPr>
          <p:cNvSpPr/>
          <p:nvPr/>
        </p:nvSpPr>
        <p:spPr>
          <a:xfrm>
            <a:off x="4453251" y="3064108"/>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5" name="文字方塊 94">
            <a:extLst>
              <a:ext uri="{FF2B5EF4-FFF2-40B4-BE49-F238E27FC236}">
                <a16:creationId xmlns:a16="http://schemas.microsoft.com/office/drawing/2014/main" id="{A7F00FB4-B30A-29B9-565C-B4C1F71B2FC2}"/>
              </a:ext>
            </a:extLst>
          </p:cNvPr>
          <p:cNvSpPr txBox="1"/>
          <p:nvPr/>
        </p:nvSpPr>
        <p:spPr>
          <a:xfrm>
            <a:off x="4453251" y="290318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7" name="矩形 96">
            <a:extLst>
              <a:ext uri="{FF2B5EF4-FFF2-40B4-BE49-F238E27FC236}">
                <a16:creationId xmlns:a16="http://schemas.microsoft.com/office/drawing/2014/main" id="{C567480A-5A39-FE54-7522-F872BC070B39}"/>
              </a:ext>
            </a:extLst>
          </p:cNvPr>
          <p:cNvSpPr/>
          <p:nvPr/>
        </p:nvSpPr>
        <p:spPr>
          <a:xfrm>
            <a:off x="4877931" y="3135301"/>
            <a:ext cx="274320" cy="274320"/>
          </a:xfrm>
          <a:prstGeom prst="rect">
            <a:avLst/>
          </a:prstGeom>
          <a:solidFill>
            <a:schemeClr val="accent5">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G</a:t>
            </a:r>
          </a:p>
        </p:txBody>
      </p:sp>
      <p:sp>
        <p:nvSpPr>
          <p:cNvPr id="99" name="文字方塊 98">
            <a:extLst>
              <a:ext uri="{FF2B5EF4-FFF2-40B4-BE49-F238E27FC236}">
                <a16:creationId xmlns:a16="http://schemas.microsoft.com/office/drawing/2014/main" id="{B71EA900-5279-3AB7-59E5-E006FFE4273D}"/>
              </a:ext>
            </a:extLst>
          </p:cNvPr>
          <p:cNvSpPr txBox="1"/>
          <p:nvPr/>
        </p:nvSpPr>
        <p:spPr>
          <a:xfrm>
            <a:off x="4887456" y="2982984"/>
            <a:ext cx="274320" cy="118033"/>
          </a:xfrm>
          <a:prstGeom prst="rect">
            <a:avLst/>
          </a:prstGeom>
          <a:noFill/>
        </p:spPr>
        <p:txBody>
          <a:bodyPr wrap="none" lIns="0" tIns="0" rIns="0" bIns="0" rtlCol="0" anchor="ctr" anchorCtr="1">
            <a:noAutofit/>
          </a:bodyPr>
          <a:lstStyle/>
          <a:p>
            <a:pPr algn="ctr"/>
            <a:r>
              <a:rPr lang="en-US" altLang="zh-TW" sz="1200" b="1" dirty="0"/>
              <a:t>d*16</a:t>
            </a:r>
            <a:endParaRPr lang="zh-TW" altLang="en-US" sz="1200" b="1" dirty="0"/>
          </a:p>
        </p:txBody>
      </p:sp>
      <p:grpSp>
        <p:nvGrpSpPr>
          <p:cNvPr id="145" name="群組 144">
            <a:extLst>
              <a:ext uri="{FF2B5EF4-FFF2-40B4-BE49-F238E27FC236}">
                <a16:creationId xmlns:a16="http://schemas.microsoft.com/office/drawing/2014/main" id="{CA67B1F5-D787-89FC-61EC-186D9F19145B}"/>
              </a:ext>
            </a:extLst>
          </p:cNvPr>
          <p:cNvGrpSpPr/>
          <p:nvPr/>
        </p:nvGrpSpPr>
        <p:grpSpPr>
          <a:xfrm>
            <a:off x="4989863" y="3897752"/>
            <a:ext cx="603961" cy="343638"/>
            <a:chOff x="5070690" y="3751735"/>
            <a:chExt cx="574464" cy="406636"/>
          </a:xfrm>
        </p:grpSpPr>
        <p:sp>
          <p:nvSpPr>
            <p:cNvPr id="106" name="文字方塊 105">
              <a:extLst>
                <a:ext uri="{FF2B5EF4-FFF2-40B4-BE49-F238E27FC236}">
                  <a16:creationId xmlns:a16="http://schemas.microsoft.com/office/drawing/2014/main" id="{DAB2CD08-A78E-7641-5656-EB434A63650B}"/>
                </a:ext>
              </a:extLst>
            </p:cNvPr>
            <p:cNvSpPr txBox="1"/>
            <p:nvPr/>
          </p:nvSpPr>
          <p:spPr>
            <a:xfrm>
              <a:off x="5344654"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08" name="文字方塊 107">
              <a:extLst>
                <a:ext uri="{FF2B5EF4-FFF2-40B4-BE49-F238E27FC236}">
                  <a16:creationId xmlns:a16="http://schemas.microsoft.com/office/drawing/2014/main" id="{A571EEBD-BE15-6CCF-9553-767CAF2B78FA}"/>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Softmax</a:t>
              </a:r>
              <a:endParaRPr lang="zh-TW" altLang="en-US" sz="1200" b="1" dirty="0">
                <a:cs typeface="ADLaM Display" panose="02010000000000000000" pitchFamily="2" charset="0"/>
              </a:endParaRPr>
            </a:p>
          </p:txBody>
        </p:sp>
      </p:grpSp>
      <p:graphicFrame>
        <p:nvGraphicFramePr>
          <p:cNvPr id="110" name="表格 109">
            <a:extLst>
              <a:ext uri="{FF2B5EF4-FFF2-40B4-BE49-F238E27FC236}">
                <a16:creationId xmlns:a16="http://schemas.microsoft.com/office/drawing/2014/main" id="{D037CF37-D0FE-BC04-5158-941C8C2041E1}"/>
              </a:ext>
            </a:extLst>
          </p:cNvPr>
          <p:cNvGraphicFramePr>
            <a:graphicFrameLocks noGrp="1"/>
          </p:cNvGraphicFramePr>
          <p:nvPr>
            <p:extLst>
              <p:ext uri="{D42A27DB-BD31-4B8C-83A1-F6EECF244321}">
                <p14:modId xmlns:p14="http://schemas.microsoft.com/office/powerpoint/2010/main" val="2124336932"/>
              </p:ext>
            </p:extLst>
          </p:nvPr>
        </p:nvGraphicFramePr>
        <p:xfrm>
          <a:off x="5634574" y="3843360"/>
          <a:ext cx="2440637" cy="470036"/>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7975">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235018">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0.07</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0.25</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accent2"/>
                          </a:solidFill>
                          <a:latin typeface="ADLaM Display" panose="02010000000000000000" pitchFamily="2" charset="0"/>
                          <a:cs typeface="ADLaM Display" panose="02010000000000000000" pitchFamily="2" charset="0"/>
                        </a:rPr>
                        <a:t>0.17</a:t>
                      </a:r>
                      <a:endParaRPr lang="zh-TW" altLang="en-US" sz="1000" b="0" dirty="0">
                        <a:solidFill>
                          <a:schemeClr val="accent2"/>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0.1</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0.08</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54524538"/>
                  </a:ext>
                </a:extLst>
              </a:tr>
              <a:tr h="23501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24%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bg1">
                              <a:lumMod val="65000"/>
                            </a:schemeClr>
                          </a:solidFill>
                          <a:latin typeface="ADLaM Display" panose="02010000000000000000" pitchFamily="2" charset="0"/>
                          <a:cs typeface="ADLaM Display" panose="02010000000000000000" pitchFamily="2" charset="0"/>
                        </a:rPr>
                        <a:t>-ꚙ</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grpSp>
        <p:nvGrpSpPr>
          <p:cNvPr id="144" name="群組 143">
            <a:extLst>
              <a:ext uri="{FF2B5EF4-FFF2-40B4-BE49-F238E27FC236}">
                <a16:creationId xmlns:a16="http://schemas.microsoft.com/office/drawing/2014/main" id="{5EDBC784-1940-6644-28F4-382EDC2FC879}"/>
              </a:ext>
            </a:extLst>
          </p:cNvPr>
          <p:cNvGrpSpPr/>
          <p:nvPr/>
        </p:nvGrpSpPr>
        <p:grpSpPr>
          <a:xfrm>
            <a:off x="5665832" y="4601428"/>
            <a:ext cx="2359224" cy="611916"/>
            <a:chOff x="6045118" y="4561680"/>
            <a:chExt cx="2359224" cy="611916"/>
          </a:xfrm>
        </p:grpSpPr>
        <p:sp>
          <p:nvSpPr>
            <p:cNvPr id="112" name="矩形: 圓角 111">
              <a:extLst>
                <a:ext uri="{FF2B5EF4-FFF2-40B4-BE49-F238E27FC236}">
                  <a16:creationId xmlns:a16="http://schemas.microsoft.com/office/drawing/2014/main" id="{7A7970CB-DECC-0CFB-8A52-05F105BE6D1C}"/>
                </a:ext>
              </a:extLst>
            </p:cNvPr>
            <p:cNvSpPr/>
            <p:nvPr/>
          </p:nvSpPr>
          <p:spPr>
            <a:xfrm>
              <a:off x="6045118"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4" name="矩形: 圓角 113">
              <a:extLst>
                <a:ext uri="{FF2B5EF4-FFF2-40B4-BE49-F238E27FC236}">
                  <a16:creationId xmlns:a16="http://schemas.microsoft.com/office/drawing/2014/main" id="{C44FF93E-C18C-2F88-D0BE-48E4DE95E8BC}"/>
                </a:ext>
              </a:extLst>
            </p:cNvPr>
            <p:cNvSpPr/>
            <p:nvPr/>
          </p:nvSpPr>
          <p:spPr>
            <a:xfrm>
              <a:off x="6345407" y="4561680"/>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cs typeface="ADLaM Display" panose="02010000000000000000" pitchFamily="2" charset="0"/>
                </a:rPr>
                <a:t>2</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16" name="矩形: 圓角 115">
              <a:extLst>
                <a:ext uri="{FF2B5EF4-FFF2-40B4-BE49-F238E27FC236}">
                  <a16:creationId xmlns:a16="http://schemas.microsoft.com/office/drawing/2014/main" id="{860E7781-D2D4-CF2E-8EC9-E3C95C3F85B4}"/>
                </a:ext>
              </a:extLst>
            </p:cNvPr>
            <p:cNvSpPr/>
            <p:nvPr/>
          </p:nvSpPr>
          <p:spPr>
            <a:xfrm>
              <a:off x="6647953"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18" name="矩形: 圓角 117">
              <a:extLst>
                <a:ext uri="{FF2B5EF4-FFF2-40B4-BE49-F238E27FC236}">
                  <a16:creationId xmlns:a16="http://schemas.microsoft.com/office/drawing/2014/main" id="{651A4350-FF5D-2EDD-9F94-4A5C2303C24C}"/>
                </a:ext>
              </a:extLst>
            </p:cNvPr>
            <p:cNvSpPr/>
            <p:nvPr/>
          </p:nvSpPr>
          <p:spPr>
            <a:xfrm>
              <a:off x="694824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1" name="矩形: 圓角 120">
              <a:extLst>
                <a:ext uri="{FF2B5EF4-FFF2-40B4-BE49-F238E27FC236}">
                  <a16:creationId xmlns:a16="http://schemas.microsoft.com/office/drawing/2014/main" id="{EAA39E58-6494-90E5-D779-AE9061BBD24B}"/>
                </a:ext>
              </a:extLst>
            </p:cNvPr>
            <p:cNvSpPr/>
            <p:nvPr/>
          </p:nvSpPr>
          <p:spPr>
            <a:xfrm>
              <a:off x="7250582"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3" name="矩形: 圓角 122">
              <a:extLst>
                <a:ext uri="{FF2B5EF4-FFF2-40B4-BE49-F238E27FC236}">
                  <a16:creationId xmlns:a16="http://schemas.microsoft.com/office/drawing/2014/main" id="{5137AFA9-62AF-E641-9112-E55653311E7D}"/>
                </a:ext>
              </a:extLst>
            </p:cNvPr>
            <p:cNvSpPr/>
            <p:nvPr/>
          </p:nvSpPr>
          <p:spPr>
            <a:xfrm>
              <a:off x="7550871"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5" name="矩形: 圓角 124">
              <a:extLst>
                <a:ext uri="{FF2B5EF4-FFF2-40B4-BE49-F238E27FC236}">
                  <a16:creationId xmlns:a16="http://schemas.microsoft.com/office/drawing/2014/main" id="{E7F25576-EA8F-77BC-2EE1-6D195FAFC3E5}"/>
                </a:ext>
              </a:extLst>
            </p:cNvPr>
            <p:cNvSpPr/>
            <p:nvPr/>
          </p:nvSpPr>
          <p:spPr>
            <a:xfrm>
              <a:off x="7853417"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7" name="矩形: 圓角 126">
              <a:extLst>
                <a:ext uri="{FF2B5EF4-FFF2-40B4-BE49-F238E27FC236}">
                  <a16:creationId xmlns:a16="http://schemas.microsoft.com/office/drawing/2014/main" id="{74F280B7-8BEF-072F-9416-067203993C49}"/>
                </a:ext>
              </a:extLst>
            </p:cNvPr>
            <p:cNvSpPr/>
            <p:nvPr/>
          </p:nvSpPr>
          <p:spPr>
            <a:xfrm>
              <a:off x="8153706" y="4561680"/>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29" name="矩形: 圓角 128">
              <a:extLst>
                <a:ext uri="{FF2B5EF4-FFF2-40B4-BE49-F238E27FC236}">
                  <a16:creationId xmlns:a16="http://schemas.microsoft.com/office/drawing/2014/main" id="{D8EF51B2-F172-4958-24ED-8B2181BD8949}"/>
                </a:ext>
              </a:extLst>
            </p:cNvPr>
            <p:cNvSpPr/>
            <p:nvPr/>
          </p:nvSpPr>
          <p:spPr>
            <a:xfrm>
              <a:off x="6045118"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1" name="矩形: 圓角 130">
              <a:extLst>
                <a:ext uri="{FF2B5EF4-FFF2-40B4-BE49-F238E27FC236}">
                  <a16:creationId xmlns:a16="http://schemas.microsoft.com/office/drawing/2014/main" id="{D94A0000-5D9B-3BBF-2115-A42B56B77788}"/>
                </a:ext>
              </a:extLst>
            </p:cNvPr>
            <p:cNvSpPr/>
            <p:nvPr/>
          </p:nvSpPr>
          <p:spPr>
            <a:xfrm>
              <a:off x="634540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3" name="矩形: 圓角 132">
              <a:extLst>
                <a:ext uri="{FF2B5EF4-FFF2-40B4-BE49-F238E27FC236}">
                  <a16:creationId xmlns:a16="http://schemas.microsoft.com/office/drawing/2014/main" id="{6BB678BB-D5ED-98DA-6A82-7701A8D8C294}"/>
                </a:ext>
              </a:extLst>
            </p:cNvPr>
            <p:cNvSpPr/>
            <p:nvPr/>
          </p:nvSpPr>
          <p:spPr>
            <a:xfrm>
              <a:off x="6647953"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5" name="矩形: 圓角 134">
              <a:extLst>
                <a:ext uri="{FF2B5EF4-FFF2-40B4-BE49-F238E27FC236}">
                  <a16:creationId xmlns:a16="http://schemas.microsoft.com/office/drawing/2014/main" id="{379DE69A-4C47-208D-4D10-C6FAD1307FE6}"/>
                </a:ext>
              </a:extLst>
            </p:cNvPr>
            <p:cNvSpPr/>
            <p:nvPr/>
          </p:nvSpPr>
          <p:spPr>
            <a:xfrm>
              <a:off x="694824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7" name="矩形: 圓角 136">
              <a:extLst>
                <a:ext uri="{FF2B5EF4-FFF2-40B4-BE49-F238E27FC236}">
                  <a16:creationId xmlns:a16="http://schemas.microsoft.com/office/drawing/2014/main" id="{28311E0D-257B-89E4-03BE-7B2FF2172057}"/>
                </a:ext>
              </a:extLst>
            </p:cNvPr>
            <p:cNvSpPr/>
            <p:nvPr/>
          </p:nvSpPr>
          <p:spPr>
            <a:xfrm>
              <a:off x="7250582"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39" name="矩形: 圓角 138">
              <a:extLst>
                <a:ext uri="{FF2B5EF4-FFF2-40B4-BE49-F238E27FC236}">
                  <a16:creationId xmlns:a16="http://schemas.microsoft.com/office/drawing/2014/main" id="{B0E16842-EA4E-5AA7-27CB-2AB4B327D4AF}"/>
                </a:ext>
              </a:extLst>
            </p:cNvPr>
            <p:cNvSpPr/>
            <p:nvPr/>
          </p:nvSpPr>
          <p:spPr>
            <a:xfrm>
              <a:off x="7550871" y="4889698"/>
              <a:ext cx="250636" cy="283898"/>
            </a:xfrm>
            <a:prstGeom prst="roundRect">
              <a:avLst/>
            </a:prstGeom>
            <a:solidFill>
              <a:schemeClr val="accent3">
                <a:lumMod val="20000"/>
                <a:lumOff val="80000"/>
              </a:schemeClr>
            </a:solidFill>
            <a:ln w="25400">
              <a:solidFill>
                <a:schemeClr val="accent3"/>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14</a:t>
              </a:r>
              <a:endParaRPr lang="zh-TW" altLang="en-US" sz="1200" dirty="0">
                <a:solidFill>
                  <a:schemeClr val="accent3">
                    <a:lumMod val="50000"/>
                  </a:schemeClr>
                </a:solidFill>
                <a:latin typeface="ADLaM Display" panose="02010000000000000000" pitchFamily="2" charset="0"/>
                <a:cs typeface="ADLaM Display" panose="02010000000000000000" pitchFamily="2" charset="0"/>
              </a:endParaRPr>
            </a:p>
          </p:txBody>
        </p:sp>
        <p:sp>
          <p:nvSpPr>
            <p:cNvPr id="141" name="矩形: 圓角 140">
              <a:extLst>
                <a:ext uri="{FF2B5EF4-FFF2-40B4-BE49-F238E27FC236}">
                  <a16:creationId xmlns:a16="http://schemas.microsoft.com/office/drawing/2014/main" id="{1911891A-462C-825D-A31D-996B30F24073}"/>
                </a:ext>
              </a:extLst>
            </p:cNvPr>
            <p:cNvSpPr/>
            <p:nvPr/>
          </p:nvSpPr>
          <p:spPr>
            <a:xfrm>
              <a:off x="7853417"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sp>
          <p:nvSpPr>
            <p:cNvPr id="143" name="矩形: 圓角 142">
              <a:extLst>
                <a:ext uri="{FF2B5EF4-FFF2-40B4-BE49-F238E27FC236}">
                  <a16:creationId xmlns:a16="http://schemas.microsoft.com/office/drawing/2014/main" id="{927C8366-3D47-34BC-19D7-A1A2DD445983}"/>
                </a:ext>
              </a:extLst>
            </p:cNvPr>
            <p:cNvSpPr/>
            <p:nvPr/>
          </p:nvSpPr>
          <p:spPr>
            <a:xfrm>
              <a:off x="8153706" y="4889698"/>
              <a:ext cx="250636" cy="283898"/>
            </a:xfrm>
            <a:prstGeom prst="roundRect">
              <a:avLst/>
            </a:prstGeom>
            <a:solidFill>
              <a:schemeClr val="accent5">
                <a:lumMod val="20000"/>
                <a:lumOff val="80000"/>
              </a:schemeClr>
            </a:solidFill>
            <a:ln w="25400">
              <a:solidFill>
                <a:schemeClr val="accent5">
                  <a:lumMod val="40000"/>
                  <a:lumOff val="6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dirty="0">
                <a:solidFill>
                  <a:schemeClr val="accent5">
                    <a:lumMod val="60000"/>
                    <a:lumOff val="40000"/>
                  </a:schemeClr>
                </a:solidFill>
                <a:latin typeface="ADLaM Display" panose="02010000000000000000" pitchFamily="2" charset="0"/>
                <a:cs typeface="ADLaM Display" panose="02010000000000000000" pitchFamily="2" charset="0"/>
              </a:endParaRPr>
            </a:p>
          </p:txBody>
        </p:sp>
      </p:grpSp>
      <p:grpSp>
        <p:nvGrpSpPr>
          <p:cNvPr id="146" name="群組 145">
            <a:extLst>
              <a:ext uri="{FF2B5EF4-FFF2-40B4-BE49-F238E27FC236}">
                <a16:creationId xmlns:a16="http://schemas.microsoft.com/office/drawing/2014/main" id="{F5F54983-5154-7116-6423-AD2F47D14812}"/>
              </a:ext>
            </a:extLst>
          </p:cNvPr>
          <p:cNvGrpSpPr/>
          <p:nvPr/>
        </p:nvGrpSpPr>
        <p:grpSpPr>
          <a:xfrm>
            <a:off x="5084180" y="4725690"/>
            <a:ext cx="581652" cy="343638"/>
            <a:chOff x="5070690" y="3751735"/>
            <a:chExt cx="553245" cy="406636"/>
          </a:xfrm>
        </p:grpSpPr>
        <p:sp>
          <p:nvSpPr>
            <p:cNvPr id="147" name="文字方塊 146">
              <a:extLst>
                <a:ext uri="{FF2B5EF4-FFF2-40B4-BE49-F238E27FC236}">
                  <a16:creationId xmlns:a16="http://schemas.microsoft.com/office/drawing/2014/main" id="{447F90E6-A5B6-0D7B-83F0-6D12012D612E}"/>
                </a:ext>
              </a:extLst>
            </p:cNvPr>
            <p:cNvSpPr txBox="1"/>
            <p:nvPr/>
          </p:nvSpPr>
          <p:spPr>
            <a:xfrm>
              <a:off x="5254943" y="3974732"/>
              <a:ext cx="300500"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48" name="文字方塊 147">
              <a:extLst>
                <a:ext uri="{FF2B5EF4-FFF2-40B4-BE49-F238E27FC236}">
                  <a16:creationId xmlns:a16="http://schemas.microsoft.com/office/drawing/2014/main" id="{7FC22F64-BC76-256C-601C-9DD6325C50F2}"/>
                </a:ext>
              </a:extLst>
            </p:cNvPr>
            <p:cNvSpPr txBox="1"/>
            <p:nvPr/>
          </p:nvSpPr>
          <p:spPr>
            <a:xfrm>
              <a:off x="5070690"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Top 2</a:t>
              </a:r>
              <a:endParaRPr lang="zh-TW" altLang="en-US" sz="1200" b="1" dirty="0">
                <a:cs typeface="ADLaM Display" panose="02010000000000000000" pitchFamily="2" charset="0"/>
              </a:endParaRPr>
            </a:p>
          </p:txBody>
        </p:sp>
      </p:grpSp>
      <p:sp>
        <p:nvSpPr>
          <p:cNvPr id="150" name="矩形 149">
            <a:extLst>
              <a:ext uri="{FF2B5EF4-FFF2-40B4-BE49-F238E27FC236}">
                <a16:creationId xmlns:a16="http://schemas.microsoft.com/office/drawing/2014/main" id="{6F8B8E3B-127F-3858-5E18-E6213E17A33A}"/>
              </a:ext>
            </a:extLst>
          </p:cNvPr>
          <p:cNvSpPr/>
          <p:nvPr/>
        </p:nvSpPr>
        <p:spPr>
          <a:xfrm>
            <a:off x="5953864"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2</a:t>
            </a:r>
          </a:p>
        </p:txBody>
      </p:sp>
      <p:sp>
        <p:nvSpPr>
          <p:cNvPr id="152" name="矩形 151">
            <a:extLst>
              <a:ext uri="{FF2B5EF4-FFF2-40B4-BE49-F238E27FC236}">
                <a16:creationId xmlns:a16="http://schemas.microsoft.com/office/drawing/2014/main" id="{F4E04034-27F9-2CF0-00BD-30BC393C4216}"/>
              </a:ext>
            </a:extLst>
          </p:cNvPr>
          <p:cNvSpPr/>
          <p:nvPr/>
        </p:nvSpPr>
        <p:spPr>
          <a:xfrm>
            <a:off x="7176426" y="536836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r>
              <a:rPr lang="en-US" altLang="zh-TW" sz="1400" b="1" baseline="-25000" dirty="0">
                <a:solidFill>
                  <a:schemeClr val="tx1"/>
                </a:solidFill>
                <a:ea typeface="微軟正黑體" panose="020B0604030504040204" pitchFamily="34" charset="-120"/>
              </a:rPr>
              <a:t>14</a:t>
            </a:r>
          </a:p>
        </p:txBody>
      </p:sp>
      <p:sp>
        <p:nvSpPr>
          <p:cNvPr id="154" name="文字方塊 153">
            <a:extLst>
              <a:ext uri="{FF2B5EF4-FFF2-40B4-BE49-F238E27FC236}">
                <a16:creationId xmlns:a16="http://schemas.microsoft.com/office/drawing/2014/main" id="{718D2704-6A0E-929E-0DE6-18A0AA6CD4DE}"/>
              </a:ext>
            </a:extLst>
          </p:cNvPr>
          <p:cNvSpPr txBox="1"/>
          <p:nvPr/>
        </p:nvSpPr>
        <p:spPr>
          <a:xfrm>
            <a:off x="6273172" y="5480406"/>
            <a:ext cx="410297" cy="235664"/>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0.8</a:t>
            </a:r>
            <a:endParaRPr lang="zh-TW" altLang="en-US" sz="1200" dirty="0"/>
          </a:p>
        </p:txBody>
      </p:sp>
      <p:sp>
        <p:nvSpPr>
          <p:cNvPr id="158" name="文字方塊 157">
            <a:extLst>
              <a:ext uri="{FF2B5EF4-FFF2-40B4-BE49-F238E27FC236}">
                <a16:creationId xmlns:a16="http://schemas.microsoft.com/office/drawing/2014/main" id="{95CE442C-0D3B-4DD6-A724-5A0B96AAC1CE}"/>
              </a:ext>
            </a:extLst>
          </p:cNvPr>
          <p:cNvSpPr txBox="1"/>
          <p:nvPr/>
        </p:nvSpPr>
        <p:spPr>
          <a:xfrm>
            <a:off x="6817960" y="5479132"/>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0" name="文字方塊 159">
            <a:extLst>
              <a:ext uri="{FF2B5EF4-FFF2-40B4-BE49-F238E27FC236}">
                <a16:creationId xmlns:a16="http://schemas.microsoft.com/office/drawing/2014/main" id="{B8E4C61E-A02E-D31B-9635-533F47D2150C}"/>
              </a:ext>
            </a:extLst>
          </p:cNvPr>
          <p:cNvSpPr txBox="1"/>
          <p:nvPr/>
        </p:nvSpPr>
        <p:spPr>
          <a:xfrm>
            <a:off x="7487783" y="5479132"/>
            <a:ext cx="410297" cy="241106"/>
          </a:xfrm>
          <a:prstGeom prst="rect">
            <a:avLst/>
          </a:prstGeom>
          <a:solidFill>
            <a:schemeClr val="accent3">
              <a:lumMod val="20000"/>
              <a:lumOff val="80000"/>
            </a:schemeClr>
          </a:solidFill>
          <a:ln w="25400">
            <a:noFill/>
          </a:ln>
        </p:spPr>
        <p:txBody>
          <a:bodyPr wrap="none" lIns="0" tIns="0" rIns="0" bIns="0" rtlCol="0" anchor="ctr" anchorCtr="1">
            <a:noAutofit/>
          </a:bodyPr>
          <a:lstStyle/>
          <a:p>
            <a:pPr algn="ctr"/>
            <a:r>
              <a:rPr lang="en-US" altLang="zh-TW" sz="1200" dirty="0"/>
              <a:t>x 0.2</a:t>
            </a:r>
            <a:endParaRPr lang="zh-TW" altLang="en-US" sz="1200" dirty="0"/>
          </a:p>
        </p:txBody>
      </p:sp>
      <p:sp>
        <p:nvSpPr>
          <p:cNvPr id="162" name="左右中括弧 161">
            <a:extLst>
              <a:ext uri="{FF2B5EF4-FFF2-40B4-BE49-F238E27FC236}">
                <a16:creationId xmlns:a16="http://schemas.microsoft.com/office/drawing/2014/main" id="{3A32DA56-1316-ACC1-EC6A-39F7D26CE015}"/>
              </a:ext>
            </a:extLst>
          </p:cNvPr>
          <p:cNvSpPr/>
          <p:nvPr/>
        </p:nvSpPr>
        <p:spPr>
          <a:xfrm>
            <a:off x="5791150" y="5368364"/>
            <a:ext cx="2233906" cy="474585"/>
          </a:xfrm>
          <a:prstGeom prst="bracketPair">
            <a:avLst/>
          </a:prstGeom>
          <a:noFill/>
          <a:ln w="38100">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166" name="箭號: 向下 165">
            <a:extLst>
              <a:ext uri="{FF2B5EF4-FFF2-40B4-BE49-F238E27FC236}">
                <a16:creationId xmlns:a16="http://schemas.microsoft.com/office/drawing/2014/main" id="{2861CAF5-7232-B863-1D06-3D83C11F4414}"/>
              </a:ext>
            </a:extLst>
          </p:cNvPr>
          <p:cNvSpPr/>
          <p:nvPr/>
        </p:nvSpPr>
        <p:spPr>
          <a:xfrm rot="16200000">
            <a:off x="8109591" y="548443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68" name="文字方塊 167">
            <a:extLst>
              <a:ext uri="{FF2B5EF4-FFF2-40B4-BE49-F238E27FC236}">
                <a16:creationId xmlns:a16="http://schemas.microsoft.com/office/drawing/2014/main" id="{D3B63B98-28BF-C867-5D74-40CFBAE9BDD6}"/>
              </a:ext>
            </a:extLst>
          </p:cNvPr>
          <p:cNvSpPr txBox="1"/>
          <p:nvPr/>
        </p:nvSpPr>
        <p:spPr>
          <a:xfrm>
            <a:off x="4741283" y="3082579"/>
            <a:ext cx="122043"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0" name="左中括弧 169">
            <a:extLst>
              <a:ext uri="{FF2B5EF4-FFF2-40B4-BE49-F238E27FC236}">
                <a16:creationId xmlns:a16="http://schemas.microsoft.com/office/drawing/2014/main" id="{8EE08A25-904D-5191-BEB8-A8014E3568F6}"/>
              </a:ext>
            </a:extLst>
          </p:cNvPr>
          <p:cNvSpPr/>
          <p:nvPr/>
        </p:nvSpPr>
        <p:spPr>
          <a:xfrm rot="16200000" flipH="1">
            <a:off x="6124536" y="914548"/>
            <a:ext cx="51180" cy="3207876"/>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nvGrpSpPr>
          <p:cNvPr id="171" name="群組 170">
            <a:extLst>
              <a:ext uri="{FF2B5EF4-FFF2-40B4-BE49-F238E27FC236}">
                <a16:creationId xmlns:a16="http://schemas.microsoft.com/office/drawing/2014/main" id="{6C35A820-7B6D-B0AF-3B36-85BC34C7DDDB}"/>
              </a:ext>
            </a:extLst>
          </p:cNvPr>
          <p:cNvGrpSpPr/>
          <p:nvPr/>
        </p:nvGrpSpPr>
        <p:grpSpPr>
          <a:xfrm>
            <a:off x="5252834" y="2960396"/>
            <a:ext cx="351092" cy="343638"/>
            <a:chOff x="5007514" y="3751735"/>
            <a:chExt cx="553245" cy="406636"/>
          </a:xfrm>
        </p:grpSpPr>
        <p:sp>
          <p:nvSpPr>
            <p:cNvPr id="172" name="文字方塊 171">
              <a:extLst>
                <a:ext uri="{FF2B5EF4-FFF2-40B4-BE49-F238E27FC236}">
                  <a16:creationId xmlns:a16="http://schemas.microsoft.com/office/drawing/2014/main" id="{BD8A91C7-A1C3-D7E6-1AD9-C2D54B929143}"/>
                </a:ext>
              </a:extLst>
            </p:cNvPr>
            <p:cNvSpPr txBox="1"/>
            <p:nvPr/>
          </p:nvSpPr>
          <p:spPr>
            <a:xfrm>
              <a:off x="5106883" y="3974732"/>
              <a:ext cx="300499" cy="183639"/>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73" name="文字方塊 172">
              <a:extLst>
                <a:ext uri="{FF2B5EF4-FFF2-40B4-BE49-F238E27FC236}">
                  <a16:creationId xmlns:a16="http://schemas.microsoft.com/office/drawing/2014/main" id="{1BC4F546-B69F-9226-3682-1B82306347FF}"/>
                </a:ext>
              </a:extLst>
            </p:cNvPr>
            <p:cNvSpPr txBox="1"/>
            <p:nvPr/>
          </p:nvSpPr>
          <p:spPr>
            <a:xfrm>
              <a:off x="5007514" y="3751735"/>
              <a:ext cx="553245" cy="191540"/>
            </a:xfrm>
            <a:prstGeom prst="rect">
              <a:avLst/>
            </a:prstGeom>
            <a:noFill/>
          </p:spPr>
          <p:txBody>
            <a:bodyPr wrap="none" lIns="0" tIns="0" rIns="0" bIns="0" rtlCol="0" anchor="ctr" anchorCtr="1">
              <a:noAutofit/>
            </a:bodyPr>
            <a:lstStyle/>
            <a:p>
              <a:pPr algn="ctr"/>
              <a:r>
                <a:rPr lang="en-US" altLang="zh-TW" sz="1200" b="1" dirty="0">
                  <a:ea typeface="ADLaM Display" panose="02010000000000000000" pitchFamily="2" charset="0"/>
                  <a:cs typeface="ADLaM Display" panose="02010000000000000000" pitchFamily="2" charset="0"/>
                </a:rPr>
                <a:t>N*16</a:t>
              </a:r>
              <a:endParaRPr lang="zh-TW" altLang="en-US" sz="1200" b="1" dirty="0">
                <a:cs typeface="ADLaM Display" panose="02010000000000000000" pitchFamily="2" charset="0"/>
              </a:endParaRPr>
            </a:p>
          </p:txBody>
        </p:sp>
      </p:grpSp>
      <p:sp>
        <p:nvSpPr>
          <p:cNvPr id="177" name="文字方塊 176">
            <a:extLst>
              <a:ext uri="{FF2B5EF4-FFF2-40B4-BE49-F238E27FC236}">
                <a16:creationId xmlns:a16="http://schemas.microsoft.com/office/drawing/2014/main" id="{EC5BAD59-6969-5888-36F6-2A8479EA17D0}"/>
              </a:ext>
            </a:extLst>
          </p:cNvPr>
          <p:cNvSpPr txBox="1"/>
          <p:nvPr/>
        </p:nvSpPr>
        <p:spPr>
          <a:xfrm>
            <a:off x="5233784" y="2215897"/>
            <a:ext cx="1985336" cy="276999"/>
          </a:xfrm>
          <a:prstGeom prst="rect">
            <a:avLst/>
          </a:prstGeom>
          <a:noFill/>
        </p:spPr>
        <p:txBody>
          <a:bodyPr wrap="none" anchor="ctr" anchorCtr="1">
            <a:noAutofit/>
          </a:bodyPr>
          <a:lstStyle/>
          <a:p>
            <a:r>
              <a:rPr lang="en-US" altLang="zh-TW" sz="1200" b="1" dirty="0">
                <a:solidFill>
                  <a:schemeClr val="accent5">
                    <a:lumMod val="50000"/>
                  </a:schemeClr>
                </a:solidFill>
              </a:rPr>
              <a:t>Mixture Of Exports</a:t>
            </a:r>
          </a:p>
        </p:txBody>
      </p:sp>
      <p:sp>
        <p:nvSpPr>
          <p:cNvPr id="3" name="文字方塊 2">
            <a:extLst>
              <a:ext uri="{FF2B5EF4-FFF2-40B4-BE49-F238E27FC236}">
                <a16:creationId xmlns:a16="http://schemas.microsoft.com/office/drawing/2014/main" id="{6DD06DF5-E92E-E902-A256-2C08E045551A}"/>
              </a:ext>
            </a:extLst>
          </p:cNvPr>
          <p:cNvSpPr txBox="1"/>
          <p:nvPr/>
        </p:nvSpPr>
        <p:spPr>
          <a:xfrm>
            <a:off x="179512" y="3191057"/>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Tree>
    <p:extLst>
      <p:ext uri="{BB962C8B-B14F-4D97-AF65-F5344CB8AC3E}">
        <p14:creationId xmlns:p14="http://schemas.microsoft.com/office/powerpoint/2010/main" val="132676085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BA220-D674-0845-75E2-0EDBA5B26B49}"/>
            </a:ext>
          </a:extLst>
        </p:cNvPr>
        <p:cNvGrpSpPr/>
        <p:nvPr/>
      </p:nvGrpSpPr>
      <p:grpSpPr>
        <a:xfrm>
          <a:off x="0" y="0"/>
          <a:ext cx="0" cy="0"/>
          <a:chOff x="0" y="0"/>
          <a:chExt cx="0" cy="0"/>
        </a:xfrm>
      </p:grpSpPr>
      <p:sp>
        <p:nvSpPr>
          <p:cNvPr id="119" name="矩形: 圓角 118">
            <a:extLst>
              <a:ext uri="{FF2B5EF4-FFF2-40B4-BE49-F238E27FC236}">
                <a16:creationId xmlns:a16="http://schemas.microsoft.com/office/drawing/2014/main" id="{04C37466-04DA-E6AF-B8D1-85F86E147E41}"/>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59" name="表格 58">
            <a:extLst>
              <a:ext uri="{FF2B5EF4-FFF2-40B4-BE49-F238E27FC236}">
                <a16:creationId xmlns:a16="http://schemas.microsoft.com/office/drawing/2014/main" id="{004C7245-4CF4-A980-8014-E6085B80EE29}"/>
              </a:ext>
            </a:extLst>
          </p:cNvPr>
          <p:cNvGraphicFramePr>
            <a:graphicFrameLocks noGrp="1"/>
          </p:cNvGraphicFramePr>
          <p:nvPr>
            <p:extLst>
              <p:ext uri="{D42A27DB-BD31-4B8C-83A1-F6EECF244321}">
                <p14:modId xmlns:p14="http://schemas.microsoft.com/office/powerpoint/2010/main" val="3548796616"/>
              </p:ext>
            </p:extLst>
          </p:nvPr>
        </p:nvGraphicFramePr>
        <p:xfrm>
          <a:off x="5427293" y="4231512"/>
          <a:ext cx="329690" cy="642609"/>
        </p:xfrm>
        <a:graphic>
          <a:graphicData uri="http://schemas.openxmlformats.org/drawingml/2006/table">
            <a:tbl>
              <a:tblPr firstRow="1" bandRow="1">
                <a:tableStyleId>{5C22544A-7EE6-4342-B048-85BDC9FD1C3A}</a:tableStyleId>
              </a:tblPr>
              <a:tblGrid>
                <a:gridCol w="329690">
                  <a:extLst>
                    <a:ext uri="{9D8B030D-6E8A-4147-A177-3AD203B41FA5}">
                      <a16:colId xmlns:a16="http://schemas.microsoft.com/office/drawing/2014/main" val="871242339"/>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bl>
          </a:graphicData>
        </a:graphic>
      </p:graphicFrame>
      <p:sp>
        <p:nvSpPr>
          <p:cNvPr id="71" name="文字方塊 70">
            <a:extLst>
              <a:ext uri="{FF2B5EF4-FFF2-40B4-BE49-F238E27FC236}">
                <a16:creationId xmlns:a16="http://schemas.microsoft.com/office/drawing/2014/main" id="{A9409AB7-AD7E-6304-69A6-D422C0B3B45D}"/>
              </a:ext>
            </a:extLst>
          </p:cNvPr>
          <p:cNvSpPr txBox="1"/>
          <p:nvPr/>
        </p:nvSpPr>
        <p:spPr>
          <a:xfrm>
            <a:off x="5861262" y="4452934"/>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7" name="標題 1">
            <a:extLst>
              <a:ext uri="{FF2B5EF4-FFF2-40B4-BE49-F238E27FC236}">
                <a16:creationId xmlns:a16="http://schemas.microsoft.com/office/drawing/2014/main" id="{316C7A2F-4EA3-D959-806A-D568D6A40693}"/>
              </a:ext>
            </a:extLst>
          </p:cNvPr>
          <p:cNvSpPr txBox="1">
            <a:spLocks/>
          </p:cNvSpPr>
          <p:nvPr/>
        </p:nvSpPr>
        <p:spPr>
          <a:xfrm>
            <a:off x="179512" y="116632"/>
            <a:ext cx="86546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Liner Projection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Converts continuous vectors from the semantic space back into human-readable words.</a:t>
            </a:r>
          </a:p>
        </p:txBody>
      </p:sp>
      <p:graphicFrame>
        <p:nvGraphicFramePr>
          <p:cNvPr id="16" name="表格 15">
            <a:extLst>
              <a:ext uri="{FF2B5EF4-FFF2-40B4-BE49-F238E27FC236}">
                <a16:creationId xmlns:a16="http://schemas.microsoft.com/office/drawing/2014/main" id="{CDB54C7F-6BC2-E8A6-2F84-7F6624ABA247}"/>
              </a:ext>
            </a:extLst>
          </p:cNvPr>
          <p:cNvGraphicFramePr>
            <a:graphicFrameLocks noGrp="1"/>
          </p:cNvGraphicFramePr>
          <p:nvPr>
            <p:extLst>
              <p:ext uri="{D42A27DB-BD31-4B8C-83A1-F6EECF244321}">
                <p14:modId xmlns:p14="http://schemas.microsoft.com/office/powerpoint/2010/main" val="131157956"/>
              </p:ext>
            </p:extLst>
          </p:nvPr>
        </p:nvGraphicFramePr>
        <p:xfrm>
          <a:off x="4716324" y="3521039"/>
          <a:ext cx="653931" cy="2356233"/>
        </p:xfrm>
        <a:graphic>
          <a:graphicData uri="http://schemas.openxmlformats.org/drawingml/2006/table">
            <a:tbl>
              <a:tblPr firstRow="1" bandRow="1">
                <a:tableStyleId>{5C22544A-7EE6-4342-B048-85BDC9FD1C3A}</a:tableStyleId>
              </a:tblPr>
              <a:tblGrid>
                <a:gridCol w="223729">
                  <a:extLst>
                    <a:ext uri="{9D8B030D-6E8A-4147-A177-3AD203B41FA5}">
                      <a16:colId xmlns:a16="http://schemas.microsoft.com/office/drawing/2014/main" val="871242339"/>
                    </a:ext>
                  </a:extLst>
                </a:gridCol>
                <a:gridCol w="215101">
                  <a:extLst>
                    <a:ext uri="{9D8B030D-6E8A-4147-A177-3AD203B41FA5}">
                      <a16:colId xmlns:a16="http://schemas.microsoft.com/office/drawing/2014/main" val="1823401774"/>
                    </a:ext>
                  </a:extLst>
                </a:gridCol>
                <a:gridCol w="215101">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FFFF00">
                        <a:alpha val="40000"/>
                      </a:srgb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FFF00">
                        <a:alpha val="40000"/>
                      </a:srgbClr>
                    </a:solidFill>
                  </a:tcPr>
                </a:tc>
                <a:extLst>
                  <a:ext uri="{0D108BD9-81ED-4DB2-BD59-A6C34878D82A}">
                    <a16:rowId xmlns:a16="http://schemas.microsoft.com/office/drawing/2014/main" val="2789904019"/>
                  </a:ext>
                </a:extLst>
              </a:tr>
            </a:tbl>
          </a:graphicData>
        </a:graphic>
      </p:graphicFrame>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D9CA7174-5DCE-717E-8631-0A0929E65FD9}"/>
                  </a:ext>
                </a:extLst>
              </p:cNvPr>
              <p:cNvSpPr txBox="1"/>
              <p:nvPr/>
            </p:nvSpPr>
            <p:spPr>
              <a:xfrm>
                <a:off x="6077429" y="2530360"/>
                <a:ext cx="887935" cy="529697"/>
              </a:xfrm>
              <a:prstGeom prst="rect">
                <a:avLst/>
              </a:prstGeom>
              <a:noFill/>
            </p:spPr>
            <p:txBody>
              <a:bodyPr wrap="none" lIns="0" tIns="0" rIns="0" bIns="0" rtlCol="0">
                <a:spAutoFit/>
              </a:bodyPr>
              <a:lstStyle/>
              <a:p>
                <a:pPr/>
                <a14:m>
                  <m:oMathPara xmlns:m="http://schemas.openxmlformats.org/officeDocument/2006/math">
                    <m:oMath>
                      <m:r>
                        <m:rPr>
                          <m:sty m:val="p"/>
                        </m:rPr>
                        <a:rPr lang="en-US" altLang="zh-TW" sz="1400" b="0" i="0" smtClean="0">
                          <a:latin typeface="Cambria Math" panose="02040503050406030204" pitchFamily="18" charset="0"/>
                        </a:rPr>
                        <m:t>Pi</m:t>
                      </m:r>
                      <m:r>
                        <a:rPr lang="en-US" altLang="zh-TW" sz="1400" b="0" i="0" smtClean="0">
                          <a:latin typeface="Cambria Math" panose="02040503050406030204" pitchFamily="18" charset="0"/>
                        </a:rPr>
                        <m:t>=</m:t>
                      </m:r>
                      <m:f>
                        <m:fPr>
                          <m:ctrlPr>
                            <a:rPr lang="en-US" altLang="zh-TW" sz="1400" b="0" i="1" smtClean="0">
                              <a:latin typeface="Cambria Math" panose="02040503050406030204" pitchFamily="18" charset="0"/>
                            </a:rPr>
                          </m:ctrlPr>
                        </m:fPr>
                        <m:num>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Zi</m:t>
                              </m:r>
                            </m:sup>
                          </m:sSup>
                        </m:num>
                        <m:den>
                          <m:nary>
                            <m:naryPr>
                              <m:chr m:val="∑"/>
                              <m:ctrlPr>
                                <a:rPr lang="en-US" altLang="zh-TW" sz="1400" b="0" i="0" smtClean="0">
                                  <a:latin typeface="Cambria Math" panose="02040503050406030204" pitchFamily="18" charset="0"/>
                                </a:rPr>
                              </m:ctrlPr>
                            </m:naryPr>
                            <m:sub>
                              <m:r>
                                <m:rPr>
                                  <m:sty m:val="p"/>
                                  <m:brk m:alnAt="23"/>
                                </m:rPr>
                                <a:rPr lang="en-US" altLang="zh-TW" sz="1400" b="0" i="0" smtClean="0">
                                  <a:latin typeface="Cambria Math" panose="02040503050406030204" pitchFamily="18" charset="0"/>
                                </a:rPr>
                                <m:t>j</m:t>
                              </m:r>
                            </m:sub>
                            <m:sup>
                              <m:r>
                                <m:rPr>
                                  <m:sty m:val="p"/>
                                </m:rPr>
                                <a:rPr lang="en-US" altLang="zh-TW" sz="1400" b="0" i="0" smtClean="0">
                                  <a:latin typeface="Cambria Math" panose="02040503050406030204" pitchFamily="18" charset="0"/>
                                </a:rPr>
                                <m:t>V</m:t>
                              </m:r>
                            </m:sup>
                            <m:e>
                              <m:sSup>
                                <m:sSupPr>
                                  <m:ctrlPr>
                                    <a:rPr lang="en-US" altLang="zh-TW" sz="1400" b="0" i="0" smtClean="0">
                                      <a:latin typeface="Cambria Math" panose="02040503050406030204" pitchFamily="18" charset="0"/>
                                    </a:rPr>
                                  </m:ctrlPr>
                                </m:sSupPr>
                                <m:e>
                                  <m:r>
                                    <m:rPr>
                                      <m:sty m:val="p"/>
                                    </m:rPr>
                                    <a:rPr lang="en-US" altLang="zh-TW" sz="1400" b="0" i="0" smtClean="0">
                                      <a:latin typeface="Cambria Math" panose="02040503050406030204" pitchFamily="18" charset="0"/>
                                    </a:rPr>
                                    <m:t>e</m:t>
                                  </m:r>
                                </m:e>
                                <m:sup>
                                  <m:r>
                                    <m:rPr>
                                      <m:sty m:val="p"/>
                                    </m:rPr>
                                    <a:rPr lang="en-US" altLang="zh-TW" sz="1400" b="0" i="0" smtClean="0">
                                      <a:latin typeface="Cambria Math" panose="02040503050406030204" pitchFamily="18" charset="0"/>
                                    </a:rPr>
                                    <m:t>Zj</m:t>
                                  </m:r>
                                </m:sup>
                              </m:sSup>
                            </m:e>
                          </m:nary>
                        </m:den>
                      </m:f>
                    </m:oMath>
                  </m:oMathPara>
                </a14:m>
                <a:endParaRPr lang="zh-TW" altLang="en-US" sz="1400" dirty="0"/>
              </a:p>
            </p:txBody>
          </p:sp>
        </mc:Choice>
        <mc:Fallback xmlns="">
          <p:sp>
            <p:nvSpPr>
              <p:cNvPr id="17" name="文字方塊 16">
                <a:extLst>
                  <a:ext uri="{FF2B5EF4-FFF2-40B4-BE49-F238E27FC236}">
                    <a16:creationId xmlns:a16="http://schemas.microsoft.com/office/drawing/2014/main" id="{D9CA7174-5DCE-717E-8631-0A0929E65FD9}"/>
                  </a:ext>
                </a:extLst>
              </p:cNvPr>
              <p:cNvSpPr txBox="1">
                <a:spLocks noRot="1" noChangeAspect="1" noMove="1" noResize="1" noEditPoints="1" noAdjustHandles="1" noChangeArrowheads="1" noChangeShapeType="1" noTextEdit="1"/>
              </p:cNvSpPr>
              <p:nvPr/>
            </p:nvSpPr>
            <p:spPr>
              <a:xfrm>
                <a:off x="6077429" y="2530360"/>
                <a:ext cx="887935" cy="529697"/>
              </a:xfrm>
              <a:prstGeom prst="rect">
                <a:avLst/>
              </a:prstGeom>
              <a:blipFill>
                <a:blip r:embed="rId3"/>
                <a:stretch>
                  <a:fillRect b="-1149"/>
                </a:stretch>
              </a:blipFill>
            </p:spPr>
            <p:txBody>
              <a:bodyPr/>
              <a:lstStyle/>
              <a:p>
                <a:r>
                  <a:rPr lang="zh-TW" altLang="en-US">
                    <a:noFill/>
                  </a:rPr>
                  <a:t> </a:t>
                </a:r>
              </a:p>
            </p:txBody>
          </p:sp>
        </mc:Fallback>
      </mc:AlternateContent>
      <p:cxnSp>
        <p:nvCxnSpPr>
          <p:cNvPr id="29" name="接點: 弧形 28">
            <a:extLst>
              <a:ext uri="{FF2B5EF4-FFF2-40B4-BE49-F238E27FC236}">
                <a16:creationId xmlns:a16="http://schemas.microsoft.com/office/drawing/2014/main" id="{7D7E1976-1F2C-2A7B-3013-1D1813EB39CB}"/>
              </a:ext>
            </a:extLst>
          </p:cNvPr>
          <p:cNvCxnSpPr>
            <a:cxnSpLocks/>
            <a:stCxn id="21" idx="3"/>
            <a:endCxn id="59" idx="2"/>
          </p:cNvCxnSpPr>
          <p:nvPr/>
        </p:nvCxnSpPr>
        <p:spPr>
          <a:xfrm flipV="1">
            <a:off x="4344906" y="4874121"/>
            <a:ext cx="1247232" cy="126279"/>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7" name="表格 36">
            <a:extLst>
              <a:ext uri="{FF2B5EF4-FFF2-40B4-BE49-F238E27FC236}">
                <a16:creationId xmlns:a16="http://schemas.microsoft.com/office/drawing/2014/main" id="{07E99AC8-247B-A4E7-58B6-175022D8A184}"/>
              </a:ext>
            </a:extLst>
          </p:cNvPr>
          <p:cNvGraphicFramePr>
            <a:graphicFrameLocks noGrp="1"/>
          </p:cNvGraphicFramePr>
          <p:nvPr>
            <p:extLst>
              <p:ext uri="{D42A27DB-BD31-4B8C-83A1-F6EECF244321}">
                <p14:modId xmlns:p14="http://schemas.microsoft.com/office/powerpoint/2010/main" val="2171440800"/>
              </p:ext>
            </p:extLst>
          </p:nvPr>
        </p:nvGraphicFramePr>
        <p:xfrm>
          <a:off x="6224726" y="3521039"/>
          <a:ext cx="593344" cy="2356233"/>
        </p:xfrm>
        <a:graphic>
          <a:graphicData uri="http://schemas.openxmlformats.org/drawingml/2006/table">
            <a:tbl>
              <a:tblPr firstRow="1" bandRow="1">
                <a:tableStyleId>{5C22544A-7EE6-4342-B048-85BDC9FD1C3A}</a:tableStyleId>
              </a:tblPr>
              <a:tblGrid>
                <a:gridCol w="296672">
                  <a:extLst>
                    <a:ext uri="{9D8B030D-6E8A-4147-A177-3AD203B41FA5}">
                      <a16:colId xmlns:a16="http://schemas.microsoft.com/office/drawing/2014/main" val="1424301285"/>
                    </a:ext>
                  </a:extLst>
                </a:gridCol>
                <a:gridCol w="296672">
                  <a:extLst>
                    <a:ext uri="{9D8B030D-6E8A-4147-A177-3AD203B41FA5}">
                      <a16:colId xmlns:a16="http://schemas.microsoft.com/office/drawing/2014/main" val="390976553"/>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2.58</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3.82</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4.05</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3.13</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90000"/>
                        <a:alpha val="60000"/>
                      </a:schemeClr>
                    </a:solidFill>
                  </a:tcPr>
                </a:tc>
                <a:extLst>
                  <a:ext uri="{0D108BD9-81ED-4DB2-BD59-A6C34878D82A}">
                    <a16:rowId xmlns:a16="http://schemas.microsoft.com/office/drawing/2014/main" val="2789904019"/>
                  </a:ext>
                </a:extLst>
              </a:tr>
            </a:tbl>
          </a:graphicData>
        </a:graphic>
      </p:graphicFrame>
      <p:graphicFrame>
        <p:nvGraphicFramePr>
          <p:cNvPr id="45" name="表格 44">
            <a:extLst>
              <a:ext uri="{FF2B5EF4-FFF2-40B4-BE49-F238E27FC236}">
                <a16:creationId xmlns:a16="http://schemas.microsoft.com/office/drawing/2014/main" id="{E766FA3A-794A-171A-9E07-F82827C8A6BB}"/>
              </a:ext>
            </a:extLst>
          </p:cNvPr>
          <p:cNvGraphicFramePr>
            <a:graphicFrameLocks noGrp="1"/>
          </p:cNvGraphicFramePr>
          <p:nvPr>
            <p:extLst>
              <p:ext uri="{D42A27DB-BD31-4B8C-83A1-F6EECF244321}">
                <p14:modId xmlns:p14="http://schemas.microsoft.com/office/powerpoint/2010/main" val="348714402"/>
              </p:ext>
            </p:extLst>
          </p:nvPr>
        </p:nvGraphicFramePr>
        <p:xfrm>
          <a:off x="7114799" y="3521039"/>
          <a:ext cx="593345" cy="2356233"/>
        </p:xfrm>
        <a:graphic>
          <a:graphicData uri="http://schemas.openxmlformats.org/drawingml/2006/table">
            <a:tbl>
              <a:tblPr firstRow="1" bandRow="1">
                <a:tableStyleId>{5C22544A-7EE6-4342-B048-85BDC9FD1C3A}</a:tableStyleId>
              </a:tblPr>
              <a:tblGrid>
                <a:gridCol w="593345">
                  <a:extLst>
                    <a:ext uri="{9D8B030D-6E8A-4147-A177-3AD203B41FA5}">
                      <a16:colId xmlns:a16="http://schemas.microsoft.com/office/drawing/2014/main" val="1424301285"/>
                    </a:ext>
                  </a:extLst>
                </a:gridCol>
              </a:tblGrid>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7225911"/>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1370384225"/>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120357507"/>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254723209"/>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406736585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36408785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Pangram</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3136641310"/>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2">
                        <a:lumMod val="75000"/>
                      </a:schemeClr>
                    </a:solidFill>
                  </a:tcPr>
                </a:tc>
                <a:extLst>
                  <a:ext uri="{0D108BD9-81ED-4DB2-BD59-A6C34878D82A}">
                    <a16:rowId xmlns:a16="http://schemas.microsoft.com/office/drawing/2014/main" val="2789904019"/>
                  </a:ext>
                </a:extLst>
              </a:tr>
            </a:tbl>
          </a:graphicData>
        </a:graphic>
      </p:graphicFrame>
      <p:graphicFrame>
        <p:nvGraphicFramePr>
          <p:cNvPr id="48" name="表格 47">
            <a:extLst>
              <a:ext uri="{FF2B5EF4-FFF2-40B4-BE49-F238E27FC236}">
                <a16:creationId xmlns:a16="http://schemas.microsoft.com/office/drawing/2014/main" id="{C4CB5144-9E6A-A78A-28A1-11B5AEEF1451}"/>
              </a:ext>
            </a:extLst>
          </p:cNvPr>
          <p:cNvGraphicFramePr>
            <a:graphicFrameLocks noGrp="1"/>
          </p:cNvGraphicFramePr>
          <p:nvPr>
            <p:extLst>
              <p:ext uri="{D42A27DB-BD31-4B8C-83A1-F6EECF244321}">
                <p14:modId xmlns:p14="http://schemas.microsoft.com/office/powerpoint/2010/main" val="3400013005"/>
              </p:ext>
            </p:extLst>
          </p:nvPr>
        </p:nvGraphicFramePr>
        <p:xfrm>
          <a:off x="3571929" y="3610586"/>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21" name="矩形 20">
            <a:extLst>
              <a:ext uri="{FF2B5EF4-FFF2-40B4-BE49-F238E27FC236}">
                <a16:creationId xmlns:a16="http://schemas.microsoft.com/office/drawing/2014/main" id="{7F14CD4B-AF5E-BD8F-3EFC-A1025EBD01C8}"/>
              </a:ext>
            </a:extLst>
          </p:cNvPr>
          <p:cNvSpPr/>
          <p:nvPr/>
        </p:nvSpPr>
        <p:spPr>
          <a:xfrm>
            <a:off x="3493291" y="4854511"/>
            <a:ext cx="851615"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4" name="矩形 53">
            <a:extLst>
              <a:ext uri="{FF2B5EF4-FFF2-40B4-BE49-F238E27FC236}">
                <a16:creationId xmlns:a16="http://schemas.microsoft.com/office/drawing/2014/main" id="{71397E8F-C433-C4B3-A35C-AF3C0AE21D66}"/>
              </a:ext>
            </a:extLst>
          </p:cNvPr>
          <p:cNvSpPr/>
          <p:nvPr/>
        </p:nvSpPr>
        <p:spPr>
          <a:xfrm>
            <a:off x="7062830" y="5193369"/>
            <a:ext cx="692447" cy="291778"/>
          </a:xfrm>
          <a:prstGeom prst="rect">
            <a:avLst/>
          </a:prstGeom>
          <a:no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60" name="矩形 59">
            <a:extLst>
              <a:ext uri="{FF2B5EF4-FFF2-40B4-BE49-F238E27FC236}">
                <a16:creationId xmlns:a16="http://schemas.microsoft.com/office/drawing/2014/main" id="{FB8070AC-1AF7-6EC9-CF72-771626A3F4BE}"/>
              </a:ext>
            </a:extLst>
          </p:cNvPr>
          <p:cNvSpPr/>
          <p:nvPr/>
        </p:nvSpPr>
        <p:spPr>
          <a:xfrm>
            <a:off x="1485026" y="4131696"/>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sp>
        <p:nvSpPr>
          <p:cNvPr id="65" name="矩形 64">
            <a:extLst>
              <a:ext uri="{FF2B5EF4-FFF2-40B4-BE49-F238E27FC236}">
                <a16:creationId xmlns:a16="http://schemas.microsoft.com/office/drawing/2014/main" id="{F1F9DC47-045E-21F6-CD89-AA9A7B79DD98}"/>
              </a:ext>
            </a:extLst>
          </p:cNvPr>
          <p:cNvSpPr/>
          <p:nvPr/>
        </p:nvSpPr>
        <p:spPr>
          <a:xfrm>
            <a:off x="1475656" y="4529151"/>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ADLaM Display" panose="02010000000000000000" pitchFamily="2" charset="0"/>
                <a:ea typeface="ADLaM Display" panose="02010000000000000000" pitchFamily="2" charset="0"/>
                <a:cs typeface="ADLaM Display" panose="02010000000000000000" pitchFamily="2" charset="0"/>
              </a:rPr>
              <a:t>new</a:t>
            </a:r>
          </a:p>
        </p:txBody>
      </p:sp>
      <p:sp>
        <p:nvSpPr>
          <p:cNvPr id="74" name="文字方塊 73">
            <a:extLst>
              <a:ext uri="{FF2B5EF4-FFF2-40B4-BE49-F238E27FC236}">
                <a16:creationId xmlns:a16="http://schemas.microsoft.com/office/drawing/2014/main" id="{269A41B6-9085-A715-E14B-EB9361B7E6AC}"/>
              </a:ext>
            </a:extLst>
          </p:cNvPr>
          <p:cNvSpPr txBox="1"/>
          <p:nvPr/>
        </p:nvSpPr>
        <p:spPr>
          <a:xfrm>
            <a:off x="6853966" y="5247818"/>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cxnSp>
        <p:nvCxnSpPr>
          <p:cNvPr id="79" name="接點: 肘形 78">
            <a:extLst>
              <a:ext uri="{FF2B5EF4-FFF2-40B4-BE49-F238E27FC236}">
                <a16:creationId xmlns:a16="http://schemas.microsoft.com/office/drawing/2014/main" id="{6EEED89E-FB74-A4B7-C7FC-62751F06F991}"/>
              </a:ext>
            </a:extLst>
          </p:cNvPr>
          <p:cNvCxnSpPr>
            <a:cxnSpLocks/>
            <a:stCxn id="54" idx="2"/>
            <a:endCxn id="65" idx="2"/>
          </p:cNvCxnSpPr>
          <p:nvPr/>
        </p:nvCxnSpPr>
        <p:spPr>
          <a:xfrm rot="5400000" flipH="1">
            <a:off x="4116382" y="2192475"/>
            <a:ext cx="798476" cy="5786868"/>
          </a:xfrm>
          <a:prstGeom prst="bentConnector3">
            <a:avLst>
              <a:gd name="adj1" fmla="val -62031"/>
            </a:avLst>
          </a:prstGeom>
          <a:ln w="254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83" name="矩形 82">
            <a:extLst>
              <a:ext uri="{FF2B5EF4-FFF2-40B4-BE49-F238E27FC236}">
                <a16:creationId xmlns:a16="http://schemas.microsoft.com/office/drawing/2014/main" id="{E84E440B-3B37-4C61-027B-C40CE1DDC966}"/>
              </a:ext>
            </a:extLst>
          </p:cNvPr>
          <p:cNvSpPr/>
          <p:nvPr/>
        </p:nvSpPr>
        <p:spPr>
          <a:xfrm>
            <a:off x="1962697" y="3737063"/>
            <a:ext cx="463988" cy="1263338"/>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600" b="1" dirty="0">
                <a:solidFill>
                  <a:srgbClr val="FF0000"/>
                </a:solidFill>
                <a:ea typeface="微軟正黑體" panose="020B0604030504040204" pitchFamily="34" charset="-120"/>
              </a:rPr>
              <a:t>…</a:t>
            </a:r>
          </a:p>
        </p:txBody>
      </p:sp>
      <p:sp>
        <p:nvSpPr>
          <p:cNvPr id="56" name="矩形: 圓角 55">
            <a:extLst>
              <a:ext uri="{FF2B5EF4-FFF2-40B4-BE49-F238E27FC236}">
                <a16:creationId xmlns:a16="http://schemas.microsoft.com/office/drawing/2014/main" id="{58430F90-8B83-79EE-756C-5D92AA85DAC8}"/>
              </a:ext>
            </a:extLst>
          </p:cNvPr>
          <p:cNvSpPr/>
          <p:nvPr/>
        </p:nvSpPr>
        <p:spPr>
          <a:xfrm flipH="1">
            <a:off x="2512406" y="4143959"/>
            <a:ext cx="274319" cy="457200"/>
          </a:xfrm>
          <a:prstGeom prst="roundRect">
            <a:avLst/>
          </a:prstGeom>
          <a:solidFill>
            <a:schemeClr val="accent6">
              <a:lumMod val="20000"/>
              <a:lumOff val="80000"/>
            </a:schemeClr>
          </a:solidFill>
          <a:ln w="254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6">
                    <a:lumMod val="75000"/>
                  </a:schemeClr>
                </a:solidFill>
                <a:latin typeface="ADLaM Display" panose="02010000000000000000" pitchFamily="2" charset="0"/>
                <a:cs typeface="ADLaM Display" panose="02010000000000000000" pitchFamily="2" charset="0"/>
              </a:rPr>
              <a:t>X</a:t>
            </a:r>
            <a:r>
              <a:rPr lang="en-US" altLang="zh-TW" sz="1400" baseline="-25000" dirty="0">
                <a:solidFill>
                  <a:schemeClr val="accent6">
                    <a:lumMod val="75000"/>
                  </a:schemeClr>
                </a:solidFill>
                <a:latin typeface="ADLaM Display" panose="02010000000000000000" pitchFamily="2" charset="0"/>
                <a:cs typeface="ADLaM Display" panose="02010000000000000000" pitchFamily="2" charset="0"/>
              </a:rPr>
              <a:t>L</a:t>
            </a:r>
            <a:endParaRPr lang="zh-TW" altLang="en-US" sz="1400" baseline="-250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85" name="文字方塊 84">
            <a:extLst>
              <a:ext uri="{FF2B5EF4-FFF2-40B4-BE49-F238E27FC236}">
                <a16:creationId xmlns:a16="http://schemas.microsoft.com/office/drawing/2014/main" id="{6EC46F66-CBDA-2F0A-91D4-5129A7201517}"/>
              </a:ext>
            </a:extLst>
          </p:cNvPr>
          <p:cNvSpPr txBox="1"/>
          <p:nvPr/>
        </p:nvSpPr>
        <p:spPr>
          <a:xfrm>
            <a:off x="2498693" y="395855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87" name="文字方塊 86">
            <a:extLst>
              <a:ext uri="{FF2B5EF4-FFF2-40B4-BE49-F238E27FC236}">
                <a16:creationId xmlns:a16="http://schemas.microsoft.com/office/drawing/2014/main" id="{86B99801-562D-5257-FAD2-710CF1C17BD9}"/>
              </a:ext>
            </a:extLst>
          </p:cNvPr>
          <p:cNvSpPr txBox="1"/>
          <p:nvPr/>
        </p:nvSpPr>
        <p:spPr>
          <a:xfrm>
            <a:off x="7262522" y="5024043"/>
            <a:ext cx="293061" cy="144971"/>
          </a:xfrm>
          <a:prstGeom prst="rect">
            <a:avLst/>
          </a:prstGeom>
          <a:noFill/>
        </p:spPr>
        <p:txBody>
          <a:bodyPr wrap="none" lIns="0" tIns="0" rIns="0" bIns="0" rtlCol="0" anchor="ctr" anchorCtr="1">
            <a:noAutofit/>
          </a:bodyPr>
          <a:lstStyle/>
          <a:p>
            <a:pPr algn="ctr"/>
            <a:r>
              <a:rPr lang="en-US" altLang="zh-TW" sz="1200" b="1" dirty="0"/>
              <a:t>1*d</a:t>
            </a:r>
            <a:endParaRPr lang="zh-TW" altLang="en-US" sz="1200" b="1" dirty="0"/>
          </a:p>
        </p:txBody>
      </p:sp>
      <p:sp>
        <p:nvSpPr>
          <p:cNvPr id="89" name="文字方塊 88">
            <a:extLst>
              <a:ext uri="{FF2B5EF4-FFF2-40B4-BE49-F238E27FC236}">
                <a16:creationId xmlns:a16="http://schemas.microsoft.com/office/drawing/2014/main" id="{6C7414D9-AFED-F622-8E44-652E7F655FE8}"/>
              </a:ext>
            </a:extLst>
          </p:cNvPr>
          <p:cNvSpPr txBox="1"/>
          <p:nvPr/>
        </p:nvSpPr>
        <p:spPr>
          <a:xfrm>
            <a:off x="4896758" y="3351713"/>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91" name="文字方塊 90">
            <a:extLst>
              <a:ext uri="{FF2B5EF4-FFF2-40B4-BE49-F238E27FC236}">
                <a16:creationId xmlns:a16="http://schemas.microsoft.com/office/drawing/2014/main" id="{F1777611-7A8F-7844-B1A9-BA6DBA484F5C}"/>
              </a:ext>
            </a:extLst>
          </p:cNvPr>
          <p:cNvSpPr txBox="1"/>
          <p:nvPr/>
        </p:nvSpPr>
        <p:spPr>
          <a:xfrm>
            <a:off x="5442056" y="4024140"/>
            <a:ext cx="293061" cy="144971"/>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93" name="文字方塊 92">
            <a:extLst>
              <a:ext uri="{FF2B5EF4-FFF2-40B4-BE49-F238E27FC236}">
                <a16:creationId xmlns:a16="http://schemas.microsoft.com/office/drawing/2014/main" id="{ED318108-B6F5-9A25-8AA9-E3F0F5141359}"/>
              </a:ext>
            </a:extLst>
          </p:cNvPr>
          <p:cNvSpPr txBox="1"/>
          <p:nvPr/>
        </p:nvSpPr>
        <p:spPr>
          <a:xfrm>
            <a:off x="7262522" y="3351711"/>
            <a:ext cx="293061" cy="144971"/>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3" name="文字方塊 2">
            <a:extLst>
              <a:ext uri="{FF2B5EF4-FFF2-40B4-BE49-F238E27FC236}">
                <a16:creationId xmlns:a16="http://schemas.microsoft.com/office/drawing/2014/main" id="{4EB56F21-2F29-4203-DC5F-7022D192163F}"/>
              </a:ext>
            </a:extLst>
          </p:cNvPr>
          <p:cNvSpPr txBox="1"/>
          <p:nvPr/>
        </p:nvSpPr>
        <p:spPr>
          <a:xfrm rot="5400000">
            <a:off x="2281774" y="4073163"/>
            <a:ext cx="1803469" cy="505535"/>
          </a:xfrm>
          <a:prstGeom prst="rect">
            <a:avLst/>
          </a:prstGeom>
          <a:noFill/>
        </p:spPr>
        <p:txBody>
          <a:bodyPr vert="vert270"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2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2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BC023A85-B9A2-08A0-CD89-1AFE2292339A}"/>
              </a:ext>
            </a:extLst>
          </p:cNvPr>
          <p:cNvSpPr txBox="1"/>
          <p:nvPr/>
        </p:nvSpPr>
        <p:spPr>
          <a:xfrm>
            <a:off x="6216733" y="3351710"/>
            <a:ext cx="591098" cy="144971"/>
          </a:xfrm>
          <a:prstGeom prst="rect">
            <a:avLst/>
          </a:prstGeom>
          <a:noFill/>
        </p:spPr>
        <p:txBody>
          <a:bodyPr wrap="none" lIns="0" tIns="0" rIns="0" bIns="0" rtlCol="0" anchor="ctr" anchorCtr="1">
            <a:noAutofit/>
          </a:bodyPr>
          <a:lstStyle/>
          <a:p>
            <a:pPr algn="ctr"/>
            <a:r>
              <a:rPr lang="en-US" altLang="zh-TW" sz="1200" b="1" dirty="0"/>
              <a:t>V</a:t>
            </a:r>
            <a:r>
              <a:rPr lang="zh-TW" altLang="en-US" sz="1200" b="1" dirty="0"/>
              <a:t>*</a:t>
            </a:r>
            <a:r>
              <a:rPr lang="en-US" altLang="zh-TW" sz="1200" b="1" dirty="0"/>
              <a:t>2</a:t>
            </a:r>
            <a:endParaRPr lang="zh-TW" altLang="en-US" sz="1200" b="1" dirty="0"/>
          </a:p>
        </p:txBody>
      </p:sp>
      <p:sp>
        <p:nvSpPr>
          <p:cNvPr id="9" name="文字方塊 8">
            <a:extLst>
              <a:ext uri="{FF2B5EF4-FFF2-40B4-BE49-F238E27FC236}">
                <a16:creationId xmlns:a16="http://schemas.microsoft.com/office/drawing/2014/main" id="{EE278255-EEC8-5438-442D-BC130E147683}"/>
              </a:ext>
            </a:extLst>
          </p:cNvPr>
          <p:cNvSpPr txBox="1"/>
          <p:nvPr/>
        </p:nvSpPr>
        <p:spPr>
          <a:xfrm>
            <a:off x="6177416" y="3127979"/>
            <a:ext cx="687963" cy="144971"/>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Softmax</a:t>
            </a:r>
            <a:endParaRPr lang="zh-TW" altLang="en-US" sz="1200" b="1" dirty="0">
              <a:solidFill>
                <a:schemeClr val="accent6">
                  <a:lumMod val="75000"/>
                </a:schemeClr>
              </a:solidFill>
            </a:endParaRPr>
          </a:p>
        </p:txBody>
      </p:sp>
      <p:sp>
        <p:nvSpPr>
          <p:cNvPr id="13" name="文字方塊 12">
            <a:extLst>
              <a:ext uri="{FF2B5EF4-FFF2-40B4-BE49-F238E27FC236}">
                <a16:creationId xmlns:a16="http://schemas.microsoft.com/office/drawing/2014/main" id="{DEA15AC2-8309-6506-905B-864049D3352F}"/>
              </a:ext>
            </a:extLst>
          </p:cNvPr>
          <p:cNvSpPr txBox="1"/>
          <p:nvPr/>
        </p:nvSpPr>
        <p:spPr>
          <a:xfrm>
            <a:off x="287524" y="1196752"/>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Semantics Space</a:t>
            </a:r>
            <a:r>
              <a:rPr lang="en-US" altLang="zh-TW" sz="1600" dirty="0"/>
              <a:t>: LLM use Embedding Matrix to sketch and shape by attention.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Next Token</a:t>
            </a:r>
            <a:r>
              <a:rPr lang="en-US" altLang="zh-TW" sz="1600" u="none" strike="noStrike" dirty="0">
                <a:effectLst/>
              </a:rPr>
              <a:t>: First word of the following response. </a:t>
            </a:r>
            <a:endParaRPr lang="en-US" altLang="zh-TW" sz="1600" dirty="0"/>
          </a:p>
        </p:txBody>
      </p:sp>
    </p:spTree>
    <p:extLst>
      <p:ext uri="{BB962C8B-B14F-4D97-AF65-F5344CB8AC3E}">
        <p14:creationId xmlns:p14="http://schemas.microsoft.com/office/powerpoint/2010/main" val="28598052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𝑙</m:t>
                                        </m:r>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solidFill>
                    <a:schemeClr val="tx1"/>
                  </a:solidFill>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33" name="局部圓 32">
            <a:extLst>
              <a:ext uri="{FF2B5EF4-FFF2-40B4-BE49-F238E27FC236}">
                <a16:creationId xmlns:a16="http://schemas.microsoft.com/office/drawing/2014/main" id="{90FEF55D-352E-7939-49E0-A9B88A43848E}"/>
              </a:ext>
            </a:extLst>
          </p:cNvPr>
          <p:cNvSpPr/>
          <p:nvPr/>
        </p:nvSpPr>
        <p:spPr>
          <a:xfrm>
            <a:off x="3779912" y="2859805"/>
            <a:ext cx="1409161" cy="134417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4473744" y="2472114"/>
            <a:ext cx="0" cy="126646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4226176" y="3520962"/>
            <a:ext cx="10344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4483269" y="2882415"/>
            <a:ext cx="572263" cy="627738"/>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4473744" y="2722234"/>
            <a:ext cx="302150" cy="797832"/>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4483266" y="3076644"/>
            <a:ext cx="786864" cy="45524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4808446" y="3068960"/>
                <a:ext cx="699728" cy="338554"/>
              </a:xfrm>
              <a:prstGeom prst="rect">
                <a:avLst/>
              </a:prstGeom>
              <a:noFill/>
            </p:spPr>
            <p:txBody>
              <a:bodyPr wrap="square">
                <a:spAutoFit/>
              </a:bodyPr>
              <a:lstStyle/>
              <a:p>
                <a:pPr/>
                <a14:m>
                  <m:oMathPara xmlns:m="http://schemas.openxmlformats.org/officeDocument/2006/math">
                    <m:oMath>
                      <m:r>
                        <a:rPr lang="en-US" altLang="zh-TW" sz="1600" i="1">
                          <a:solidFill>
                            <a:srgbClr val="FF0000"/>
                          </a:solidFill>
                          <a:latin typeface="Cambria Math" panose="02040503050406030204" pitchFamily="18" charset="0"/>
                          <a:ea typeface="Cambria Math" panose="02040503050406030204" pitchFamily="18" charset="0"/>
                        </a:rPr>
                        <m:t>𝑙</m:t>
                      </m:r>
                      <m:r>
                        <a:rPr lang="zh-TW" altLang="en-US" sz="1600" i="1" smtClean="0">
                          <a:solidFill>
                            <a:srgbClr val="FF0000"/>
                          </a:solidFill>
                          <a:latin typeface="Cambria Math" panose="02040503050406030204" pitchFamily="18" charset="0"/>
                          <a:ea typeface="Cambria Math" panose="02040503050406030204" pitchFamily="18" charset="0"/>
                        </a:rPr>
                        <m:t>∗</m:t>
                      </m:r>
                      <m:sSub>
                        <m:sSubPr>
                          <m:ctrlPr>
                            <a:rPr lang="zh-TW" altLang="en-US" sz="1600" i="1">
                              <a:solidFill>
                                <a:srgbClr val="FF0000"/>
                              </a:solidFill>
                              <a:latin typeface="Cambria Math" panose="02040503050406030204" pitchFamily="18" charset="0"/>
                              <a:ea typeface="Cambria Math" panose="02040503050406030204" pitchFamily="18" charset="0"/>
                            </a:rPr>
                          </m:ctrlPr>
                        </m:sSubPr>
                        <m:e>
                          <m:r>
                            <a:rPr lang="zh-TW" altLang="en-US" sz="1600" i="1">
                              <a:solidFill>
                                <a:srgbClr val="FF0000"/>
                              </a:solidFill>
                              <a:latin typeface="Cambria Math" panose="02040503050406030204" pitchFamily="18" charset="0"/>
                              <a:ea typeface="Cambria Math" panose="02040503050406030204" pitchFamily="18" charset="0"/>
                            </a:rPr>
                            <m:t>𝜃</m:t>
                          </m:r>
                        </m:e>
                        <m:sub>
                          <m:r>
                            <a:rPr lang="en-US" altLang="zh-TW" sz="1600"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sz="1600"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4808446" y="3068960"/>
                <a:ext cx="699728" cy="338554"/>
              </a:xfrm>
              <a:prstGeom prst="rect">
                <a:avLst/>
              </a:prstGeom>
              <a:blipFill>
                <a:blip r:embed="rId21"/>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4948800" y="2555612"/>
                <a:ext cx="271272" cy="369332"/>
              </a:xfrm>
              <a:prstGeom prst="rect">
                <a:avLst/>
              </a:prstGeom>
              <a:noFill/>
            </p:spPr>
            <p:txBody>
              <a:bodyPr wrap="none" anchor="ctr" anchorCtr="1">
                <a:noAutofit/>
              </a:bodyPr>
              <a:lstStyle/>
              <a:p>
                <a:pPr/>
                <a14:m>
                  <m:oMathPara xmlns:m="http://schemas.openxmlformats.org/officeDocument/2006/math">
                    <m:oMath>
                      <m:acc>
                        <m:accPr>
                          <m:chr m:val="⃑"/>
                          <m:ctrlPr>
                            <a:rPr lang="en-US" altLang="zh-TW" i="1">
                              <a:solidFill>
                                <a:srgbClr val="FF0000"/>
                              </a:solidFill>
                              <a:latin typeface="Cambria Math" panose="02040503050406030204" pitchFamily="18" charset="0"/>
                              <a:ea typeface="Cambria Math" panose="02040503050406030204" pitchFamily="18" charset="0"/>
                            </a:rPr>
                          </m:ctrlPr>
                        </m:accPr>
                        <m:e>
                          <m:r>
                            <a:rPr lang="en-US" altLang="zh-TW" i="1">
                              <a:solidFill>
                                <a:srgbClr val="FF0000"/>
                              </a:solidFill>
                              <a:latin typeface="Cambria Math" panose="02040503050406030204" pitchFamily="18" charset="0"/>
                              <a:ea typeface="Cambria Math" panose="02040503050406030204" pitchFamily="18" charset="0"/>
                            </a:rPr>
                            <m:t>𝑣</m:t>
                          </m:r>
                        </m:e>
                      </m:acc>
                    </m:oMath>
                  </m:oMathPara>
                </a14:m>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4948800" y="2555612"/>
                <a:ext cx="271272" cy="369332"/>
              </a:xfrm>
              <a:prstGeom prst="rect">
                <a:avLst/>
              </a:prstGeom>
              <a:blipFill>
                <a:blip r:embed="rId22"/>
                <a:stretch>
                  <a:fillRect l="-6818" t="-4918"/>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4556444"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p:cNvCxnSpPr>
          <p:nvPr/>
        </p:nvCxnSpPr>
        <p:spPr>
          <a:xfrm flipV="1">
            <a:off x="4472586"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523844" y="1146853"/>
            <a:ext cx="3067282" cy="161220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1907704" y="5812536"/>
                <a:ext cx="3068084" cy="501482"/>
              </a:xfrm>
              <a:prstGeom prst="rect">
                <a:avLst/>
              </a:prstGeom>
              <a:solidFill>
                <a:schemeClr val="bg1">
                  <a:lumMod val="95000"/>
                </a:schemeClr>
              </a:solid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1907704" y="5812536"/>
                <a:ext cx="3068084" cy="501482"/>
              </a:xfrm>
              <a:prstGeom prst="rect">
                <a:avLst/>
              </a:prstGeom>
              <a:blipFill>
                <a:blip r:embed="rId5"/>
                <a:stretch>
                  <a:fillRect b="-1341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
        <p:nvSpPr>
          <p:cNvPr id="7" name="矩形 6">
            <a:extLst>
              <a:ext uri="{FF2B5EF4-FFF2-40B4-BE49-F238E27FC236}">
                <a16:creationId xmlns:a16="http://schemas.microsoft.com/office/drawing/2014/main" id="{23B91EF4-F06B-892E-2B46-747AA73BD25E}"/>
              </a:ext>
            </a:extLst>
          </p:cNvPr>
          <p:cNvSpPr/>
          <p:nvPr/>
        </p:nvSpPr>
        <p:spPr>
          <a:xfrm>
            <a:off x="82680" y="989795"/>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p>
        </p:txBody>
      </p:sp>
      <p:grpSp>
        <p:nvGrpSpPr>
          <p:cNvPr id="9" name="群組 8">
            <a:extLst>
              <a:ext uri="{FF2B5EF4-FFF2-40B4-BE49-F238E27FC236}">
                <a16:creationId xmlns:a16="http://schemas.microsoft.com/office/drawing/2014/main" id="{ACE055E3-20CB-208B-7111-6E288157CB1C}"/>
              </a:ext>
            </a:extLst>
          </p:cNvPr>
          <p:cNvGrpSpPr/>
          <p:nvPr/>
        </p:nvGrpSpPr>
        <p:grpSpPr>
          <a:xfrm>
            <a:off x="6264694" y="4149080"/>
            <a:ext cx="2699792" cy="2304257"/>
            <a:chOff x="6444208" y="1124743"/>
            <a:chExt cx="2699792" cy="2304257"/>
          </a:xfrm>
        </p:grpSpPr>
        <p:sp>
          <p:nvSpPr>
            <p:cNvPr id="12" name="矩形 11">
              <a:extLst>
                <a:ext uri="{FF2B5EF4-FFF2-40B4-BE49-F238E27FC236}">
                  <a16:creationId xmlns:a16="http://schemas.microsoft.com/office/drawing/2014/main" id="{63EBB46D-BD3E-9377-9BE6-F61BC5DE09DA}"/>
                </a:ext>
              </a:extLst>
            </p:cNvPr>
            <p:cNvSpPr/>
            <p:nvPr/>
          </p:nvSpPr>
          <p:spPr>
            <a:xfrm>
              <a:off x="6444208" y="1124743"/>
              <a:ext cx="2334722" cy="2304257"/>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dirty="0">
                  <a:solidFill>
                    <a:schemeClr val="tx1"/>
                  </a:solidFill>
                  <a:ea typeface="微軟正黑體" panose="020B0604030504040204" pitchFamily="34" charset="-120"/>
                </a:rPr>
                <a:t>Sinusoidal Position Encoding</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b="1" dirty="0">
                  <a:solidFill>
                    <a:schemeClr val="tx1"/>
                  </a:solidFill>
                  <a:ea typeface="微軟正黑體" panose="020B0604030504040204" pitchFamily="34" charset="-120"/>
                </a:rPr>
                <a:t>Rotary PE</a:t>
              </a: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endParaRPr lang="en-US" altLang="zh-TW" sz="1200" b="1" dirty="0">
                <a:solidFill>
                  <a:schemeClr val="tx1">
                    <a:lumMod val="50000"/>
                    <a:lumOff val="50000"/>
                  </a:schemeClr>
                </a:solidFill>
                <a:ea typeface="微軟正黑體" panose="020B0604030504040204" pitchFamily="34" charset="-120"/>
              </a:endParaRPr>
            </a:p>
            <a:p>
              <a:pPr>
                <a:lnSpc>
                  <a:spcPts val="1600"/>
                </a:lnSpc>
              </a:pPr>
              <a:r>
                <a:rPr lang="en-US" altLang="zh-TW" sz="1200" dirty="0">
                  <a:solidFill>
                    <a:schemeClr val="tx1"/>
                  </a:solidFill>
                  <a:ea typeface="微軟正黑體" panose="020B0604030504040204" pitchFamily="34" charset="-120"/>
                </a:rPr>
                <a:t>No PE</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Decoupling</a:t>
              </a:r>
            </a:p>
            <a:p>
              <a:pPr marL="171450" indent="-171450">
                <a:lnSpc>
                  <a:spcPts val="1600"/>
                </a:lnSpc>
                <a:buFont typeface="Arial" panose="020B0604020202020204" pitchFamily="34" charset="0"/>
                <a:buChar char="•"/>
              </a:pPr>
              <a:r>
                <a:rPr lang="en-US" altLang="zh-TW" sz="1200" dirty="0">
                  <a:solidFill>
                    <a:schemeClr val="tx1">
                      <a:lumMod val="50000"/>
                      <a:lumOff val="50000"/>
                    </a:schemeClr>
                  </a:solidFill>
                  <a:ea typeface="微軟正黑體" panose="020B0604030504040204" pitchFamily="34" charset="-120"/>
                </a:rPr>
                <a:t>PE Every where</a:t>
              </a:r>
            </a:p>
          </p:txBody>
        </p:sp>
        <mc:AlternateContent xmlns:mc="http://schemas.openxmlformats.org/markup-compatibility/2006" xmlns:a14="http://schemas.microsoft.com/office/drawing/2010/main">
          <mc:Choice Requires="a14">
            <p:sp>
              <p:nvSpPr>
                <p:cNvPr id="14" name="文字方塊 13">
                  <a:extLst>
                    <a:ext uri="{FF2B5EF4-FFF2-40B4-BE49-F238E27FC236}">
                      <a16:creationId xmlns:a16="http://schemas.microsoft.com/office/drawing/2014/main" id="{203740B3-4B05-83D5-5C0C-B157F945BEC3}"/>
                    </a:ext>
                  </a:extLst>
                </p:cNvPr>
                <p:cNvSpPr txBox="1"/>
                <p:nvPr/>
              </p:nvSpPr>
              <p:spPr>
                <a:xfrm>
                  <a:off x="6588224" y="1305267"/>
                  <a:ext cx="2190706" cy="611565"/>
                </a:xfrm>
                <a:prstGeom prst="rect">
                  <a:avLst/>
                </a:prstGeom>
                <a:noFill/>
              </p:spPr>
              <p:txBody>
                <a:bodyPr wrap="none" lIns="0" tIns="0" rIns="0" bIns="0" rtlCol="0" anchor="ctr" anchorCtr="0">
                  <a:noAutofit/>
                </a:bodyPr>
                <a:lstStyle/>
                <a:p>
                  <a:r>
                    <a:rPr lang="en-US" altLang="zh-TW" sz="1200" dirty="0">
                      <a:solidFill>
                        <a:schemeClr val="tx1"/>
                      </a:solidFill>
                      <a:ea typeface="Cambria Math" panose="02040503050406030204" pitchFamily="18" charset="0"/>
                    </a:rPr>
                    <a:t> </a:t>
                  </a:r>
                  <a14:m>
                    <m:oMath xmlns:m="http://schemas.openxmlformats.org/officeDocument/2006/math">
                      <m:r>
                        <m:rPr>
                          <m:sty m:val="p"/>
                        </m:rPr>
                        <a:rPr lang="en-US" altLang="zh-TW" sz="1200" b="0" i="0" smtClean="0">
                          <a:solidFill>
                            <a:schemeClr val="tx1"/>
                          </a:solidFill>
                          <a:latin typeface="Cambria Math" panose="02040503050406030204" pitchFamily="18" charset="0"/>
                          <a:ea typeface="Cambria Math" panose="02040503050406030204" pitchFamily="18" charset="0"/>
                        </a:rPr>
                        <m:t>PE</m:t>
                      </m:r>
                      <m:d>
                        <m:dPr>
                          <m:ctrlPr>
                            <a:rPr lang="en-US" altLang="zh-TW" sz="1200" i="1">
                              <a:latin typeface="Cambria Math" panose="02040503050406030204" pitchFamily="18" charset="0"/>
                              <a:ea typeface="Cambria Math" panose="02040503050406030204" pitchFamily="18" charset="0"/>
                            </a:rPr>
                          </m:ctrlPr>
                        </m:dPr>
                        <m:e>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𝑣</m:t>
                                      </m:r>
                                    </m:e>
                                    <m:sub>
                                      <m:r>
                                        <a:rPr lang="en-US" altLang="zh-TW" sz="1200" i="1">
                                          <a:latin typeface="Cambria Math" panose="02040503050406030204" pitchFamily="18" charset="0"/>
                                          <a:ea typeface="Cambria Math" panose="02040503050406030204" pitchFamily="18" charset="0"/>
                                        </a:rPr>
                                        <m:t>2</m:t>
                                      </m:r>
                                      <m:r>
                                        <a:rPr lang="en-US" altLang="zh-TW" sz="1200" i="1">
                                          <a:latin typeface="Cambria Math" panose="02040503050406030204" pitchFamily="18" charset="0"/>
                                          <a:ea typeface="Cambria Math" panose="02040503050406030204" pitchFamily="18" charset="0"/>
                                        </a:rPr>
                                        <m:t>𝑖</m:t>
                                      </m:r>
                                      <m:r>
                                        <a:rPr lang="en-US" altLang="zh-TW" sz="1200" i="1">
                                          <a:latin typeface="Cambria Math" panose="02040503050406030204" pitchFamily="18" charset="0"/>
                                          <a:ea typeface="Cambria Math" panose="02040503050406030204" pitchFamily="18" charset="0"/>
                                        </a:rPr>
                                        <m:t>+1</m:t>
                                      </m:r>
                                    </m:sub>
                                  </m:sSub>
                                </m:e>
                              </m:eqArr>
                            </m:e>
                          </m:d>
                        </m:e>
                      </m:d>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m:t>
                                  </m:r>
                                  <m:r>
                                    <m:rPr>
                                      <m:sty m:val="p"/>
                                    </m:rPr>
                                    <a:rPr lang="en-US" altLang="zh-TW" sz="1200" b="0" i="0" smtClean="0">
                                      <a:solidFill>
                                        <a:schemeClr val="tx1"/>
                                      </a:solidFill>
                                      <a:latin typeface="Cambria Math" panose="02040503050406030204" pitchFamily="18" charset="0"/>
                                      <a:ea typeface="Cambria Math" panose="02040503050406030204" pitchFamily="18" charset="0"/>
                                    </a:rPr>
                                    <m:t>in</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sub>
                                          </m:sSub>
                                        </m:num>
                                        <m:den>
                                          <m:sSup>
                                            <m:sSupPr>
                                              <m:ctrlPr>
                                                <a:rPr lang="en-US" altLang="zh-TW" sz="1200" i="1">
                                                  <a:solidFill>
                                                    <a:schemeClr val="tx1"/>
                                                  </a:solidFill>
                                                  <a:latin typeface="Cambria Math" panose="02040503050406030204" pitchFamily="18" charset="0"/>
                                                  <a:ea typeface="Cambria Math" panose="02040503050406030204" pitchFamily="18" charset="0"/>
                                                </a:rPr>
                                              </m:ctrlPr>
                                            </m:sSupPr>
                                            <m:e>
                                              <m:r>
                                                <a:rPr lang="en-US" altLang="zh-TW" sz="1200" i="1">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d>
                                    <m:dPr>
                                      <m:ctrlPr>
                                        <a:rPr lang="en-US" altLang="zh-TW" sz="1200" i="1">
                                          <a:solidFill>
                                            <a:schemeClr val="tx1"/>
                                          </a:solidFill>
                                          <a:latin typeface="Cambria Math" panose="02040503050406030204" pitchFamily="18" charset="0"/>
                                          <a:ea typeface="Cambria Math" panose="02040503050406030204" pitchFamily="18" charset="0"/>
                                        </a:rPr>
                                      </m:ctrlPr>
                                    </m:dPr>
                                    <m:e>
                                      <m:f>
                                        <m:fPr>
                                          <m:ctrlPr>
                                            <a:rPr lang="en-US" altLang="zh-TW" sz="1200" i="1">
                                              <a:solidFill>
                                                <a:schemeClr val="tx1"/>
                                              </a:solidFill>
                                              <a:latin typeface="Cambria Math" panose="02040503050406030204" pitchFamily="18" charset="0"/>
                                              <a:ea typeface="Cambria Math" panose="02040503050406030204" pitchFamily="18" charset="0"/>
                                            </a:rPr>
                                          </m:ctrlPr>
                                        </m:fPr>
                                        <m:num>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i="1">
                                                  <a:solidFill>
                                                    <a:schemeClr val="tx1"/>
                                                  </a:solidFill>
                                                  <a:latin typeface="Cambria Math" panose="02040503050406030204" pitchFamily="18" charset="0"/>
                                                  <a:ea typeface="Cambria Math" panose="02040503050406030204" pitchFamily="18" charset="0"/>
                                                </a:rPr>
                                                <m:t>𝑖</m:t>
                                              </m:r>
                                              <m:r>
                                                <a:rPr lang="en-US" altLang="zh-TW" sz="1200" i="1">
                                                  <a:solidFill>
                                                    <a:schemeClr val="tx1"/>
                                                  </a:solidFill>
                                                  <a:latin typeface="Cambria Math" panose="02040503050406030204" pitchFamily="18" charset="0"/>
                                                  <a:ea typeface="Cambria Math" panose="02040503050406030204" pitchFamily="18" charset="0"/>
                                                </a:rPr>
                                                <m:t>+1</m:t>
                                              </m:r>
                                            </m:sub>
                                          </m:sSub>
                                        </m:num>
                                        <m:den>
                                          <m:sSup>
                                            <m:sSupPr>
                                              <m:ctrlPr>
                                                <a:rPr lang="en-US" altLang="zh-TW" sz="1200" b="0" i="1" smtClean="0">
                                                  <a:solidFill>
                                                    <a:schemeClr val="tx1"/>
                                                  </a:solidFill>
                                                  <a:latin typeface="Cambria Math" panose="02040503050406030204" pitchFamily="18" charset="0"/>
                                                  <a:ea typeface="Cambria Math" panose="02040503050406030204" pitchFamily="18" charset="0"/>
                                                </a:rPr>
                                              </m:ctrlPr>
                                            </m:sSupPr>
                                            <m:e>
                                              <m:r>
                                                <a:rPr lang="en-US" altLang="zh-TW" sz="1200" b="0" i="1" smtClean="0">
                                                  <a:solidFill>
                                                    <a:schemeClr val="tx1"/>
                                                  </a:solidFill>
                                                  <a:latin typeface="Cambria Math" panose="02040503050406030204" pitchFamily="18" charset="0"/>
                                                  <a:ea typeface="Cambria Math" panose="02040503050406030204" pitchFamily="18" charset="0"/>
                                                </a:rPr>
                                                <m:t>10000</m:t>
                                              </m:r>
                                            </m:e>
                                            <m:sup>
                                              <m:f>
                                                <m:fPr>
                                                  <m:type m:val="lin"/>
                                                  <m:ctrlPr>
                                                    <a:rPr lang="en-US" altLang="zh-TW" sz="1200" b="0" i="1" smtClean="0">
                                                      <a:solidFill>
                                                        <a:schemeClr val="tx1"/>
                                                      </a:solidFill>
                                                      <a:latin typeface="Cambria Math" panose="02040503050406030204" pitchFamily="18" charset="0"/>
                                                      <a:ea typeface="Cambria Math" panose="02040503050406030204" pitchFamily="18" charset="0"/>
                                                    </a:rPr>
                                                  </m:ctrlPr>
                                                </m:fPr>
                                                <m:num>
                                                  <m:r>
                                                    <a:rPr lang="en-US" altLang="zh-TW" sz="1200" b="0" i="1" smtClean="0">
                                                      <a:solidFill>
                                                        <a:schemeClr val="tx1"/>
                                                      </a:solidFill>
                                                      <a:latin typeface="Cambria Math" panose="02040503050406030204" pitchFamily="18" charset="0"/>
                                                      <a:ea typeface="Cambria Math" panose="02040503050406030204" pitchFamily="18" charset="0"/>
                                                    </a:rPr>
                                                    <m:t>2</m:t>
                                                  </m:r>
                                                  <m:r>
                                                    <m:rPr>
                                                      <m:sty m:val="p"/>
                                                    </m:rPr>
                                                    <a:rPr lang="en-US" altLang="zh-TW" sz="1200" b="0" i="1" smtClean="0">
                                                      <a:solidFill>
                                                        <a:schemeClr val="tx1"/>
                                                      </a:solidFill>
                                                      <a:latin typeface="Cambria Math" panose="02040503050406030204" pitchFamily="18" charset="0"/>
                                                      <a:ea typeface="Cambria Math" panose="02040503050406030204" pitchFamily="18" charset="0"/>
                                                    </a:rPr>
                                                    <m:t>i</m:t>
                                                  </m:r>
                                                </m:num>
                                                <m:den>
                                                  <m:r>
                                                    <m:rPr>
                                                      <m:sty m:val="p"/>
                                                    </m:rPr>
                                                    <a:rPr lang="en-US" altLang="zh-TW" sz="1200" b="0" i="1" smtClean="0">
                                                      <a:solidFill>
                                                        <a:schemeClr val="tx1"/>
                                                      </a:solidFill>
                                                      <a:latin typeface="Cambria Math" panose="02040503050406030204" pitchFamily="18" charset="0"/>
                                                      <a:ea typeface="Cambria Math" panose="02040503050406030204" pitchFamily="18" charset="0"/>
                                                    </a:rPr>
                                                    <m:t>d</m:t>
                                                  </m:r>
                                                </m:den>
                                              </m:f>
                                            </m:sup>
                                          </m:sSup>
                                        </m:den>
                                      </m:f>
                                    </m:e>
                                  </m:d>
                                </m:e>
                              </m:func>
                            </m:e>
                          </m:eqArr>
                        </m:e>
                      </m:d>
                    </m:oMath>
                  </a14:m>
                  <a:endParaRPr lang="en-US" altLang="zh-TW" sz="1200" dirty="0">
                    <a:solidFill>
                      <a:schemeClr val="tx1"/>
                    </a:solidFill>
                    <a:ea typeface="Cambria Math" panose="02040503050406030204" pitchFamily="18" charset="0"/>
                  </a:endParaRPr>
                </a:p>
              </p:txBody>
            </p:sp>
          </mc:Choice>
          <mc:Fallback xmlns="">
            <p:sp>
              <p:nvSpPr>
                <p:cNvPr id="14" name="文字方塊 13">
                  <a:extLst>
                    <a:ext uri="{FF2B5EF4-FFF2-40B4-BE49-F238E27FC236}">
                      <a16:creationId xmlns:a16="http://schemas.microsoft.com/office/drawing/2014/main" id="{203740B3-4B05-83D5-5C0C-B157F945BEC3}"/>
                    </a:ext>
                  </a:extLst>
                </p:cNvPr>
                <p:cNvSpPr txBox="1">
                  <a:spLocks noRot="1" noChangeAspect="1" noMove="1" noResize="1" noEditPoints="1" noAdjustHandles="1" noChangeArrowheads="1" noChangeShapeType="1" noTextEdit="1"/>
                </p:cNvSpPr>
                <p:nvPr/>
              </p:nvSpPr>
              <p:spPr>
                <a:xfrm>
                  <a:off x="6588224" y="1305267"/>
                  <a:ext cx="2190706" cy="611565"/>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6" name="文字方塊 15">
                  <a:extLst>
                    <a:ext uri="{FF2B5EF4-FFF2-40B4-BE49-F238E27FC236}">
                      <a16:creationId xmlns:a16="http://schemas.microsoft.com/office/drawing/2014/main" id="{9D82930F-0234-77E2-D32F-85E5AACF1DCA}"/>
                    </a:ext>
                  </a:extLst>
                </p:cNvPr>
                <p:cNvSpPr txBox="1"/>
                <p:nvPr/>
              </p:nvSpPr>
              <p:spPr>
                <a:xfrm>
                  <a:off x="7700236" y="2771636"/>
                  <a:ext cx="1078694" cy="369332"/>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m:rPr>
                            <m:sty m:val="p"/>
                          </m:rPr>
                          <a:rPr lang="en-US" altLang="zh-TW" sz="1200" b="0" i="1" smtClean="0">
                            <a:solidFill>
                              <a:schemeClr val="tx1"/>
                            </a:solidFill>
                            <a:latin typeface="Cambria Math" panose="02040503050406030204" pitchFamily="18" charset="0"/>
                            <a:ea typeface="Cambria Math" panose="02040503050406030204" pitchFamily="18" charset="0"/>
                          </a:rPr>
                          <m:t>No</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r>
                          <a:rPr lang="en-US" altLang="zh-TW" sz="1200" b="0" i="1" smtClean="0">
                            <a:solidFill>
                              <a:schemeClr val="tx1"/>
                            </a:solidFill>
                            <a:latin typeface="Cambria Math" panose="02040503050406030204" pitchFamily="18" charset="0"/>
                            <a:ea typeface="Cambria Math" panose="02040503050406030204" pitchFamily="18" charset="0"/>
                          </a:rPr>
                          <m:t> +</m:t>
                        </m:r>
                        <m:r>
                          <m:rPr>
                            <m:sty m:val="p"/>
                          </m:rPr>
                          <a:rPr lang="en-US" altLang="zh-TW" sz="1200" b="0" i="1" smtClean="0">
                            <a:solidFill>
                              <a:schemeClr val="tx1"/>
                            </a:solidFill>
                            <a:latin typeface="Cambria Math" panose="02040503050406030204" pitchFamily="18" charset="0"/>
                            <a:ea typeface="Cambria Math" panose="02040503050406030204" pitchFamily="18" charset="0"/>
                          </a:rPr>
                          <m:t>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oMath>
                    </m:oMathPara>
                  </a14:m>
                  <a:endParaRPr lang="en-US" altLang="zh-TW" sz="1200" dirty="0">
                    <a:solidFill>
                      <a:schemeClr val="tx1"/>
                    </a:solidFill>
                    <a:ea typeface="Cambria Math" panose="02040503050406030204" pitchFamily="18" charset="0"/>
                  </a:endParaRPr>
                </a:p>
                <a:p>
                  <a:pPr/>
                  <a14:m>
                    <m:oMathPara xmlns:m="http://schemas.openxmlformats.org/officeDocument/2006/math">
                      <m:oMathParaPr>
                        <m:jc m:val="left"/>
                      </m:oMathParaPr>
                      <m:oMath>
                        <m:r>
                          <m:rPr>
                            <m:sty m:val="p"/>
                          </m:rPr>
                          <a:rPr lang="en-US" altLang="zh-TW" sz="1200" i="1">
                            <a:solidFill>
                              <a:schemeClr val="tx1"/>
                            </a:solidFill>
                            <a:latin typeface="Cambria Math" panose="02040503050406030204" pitchFamily="18" charset="0"/>
                            <a:ea typeface="Cambria Math" panose="02040503050406030204" pitchFamily="18" charset="0"/>
                          </a:rPr>
                          <m:t>No</m:t>
                        </m:r>
                        <m:r>
                          <a:rPr lang="en-US" altLang="zh-TW" sz="1200" i="1">
                            <a:solidFill>
                              <a:schemeClr val="tx1"/>
                            </a:solidFill>
                            <a:latin typeface="Cambria Math" panose="02040503050406030204" pitchFamily="18" charset="0"/>
                            <a:ea typeface="Cambria Math" panose="02040503050406030204" pitchFamily="18" charset="0"/>
                          </a:rPr>
                          <m:t> </m:t>
                        </m:r>
                        <m:r>
                          <m:rPr>
                            <m:sty m:val="p"/>
                          </m:rPr>
                          <a:rPr lang="en-US" altLang="zh-TW" sz="1200" i="1">
                            <a:solidFill>
                              <a:schemeClr val="tx1"/>
                            </a:solidFill>
                            <a:latin typeface="Cambria Math" panose="02040503050406030204" pitchFamily="18" charset="0"/>
                            <a:ea typeface="Cambria Math" panose="02040503050406030204" pitchFamily="18" charset="0"/>
                          </a:rPr>
                          <m:t>PE</m:t>
                        </m:r>
                      </m:oMath>
                    </m:oMathPara>
                  </a14:m>
                  <a:endParaRPr lang="en-US" altLang="zh-TW" sz="1200" dirty="0">
                    <a:solidFill>
                      <a:schemeClr val="tx1"/>
                    </a:solidFill>
                    <a:ea typeface="Cambria Math" panose="02040503050406030204" pitchFamily="18" charset="0"/>
                  </a:endParaRPr>
                </a:p>
              </p:txBody>
            </p:sp>
          </mc:Choice>
          <mc:Fallback xmlns="">
            <p:sp>
              <p:nvSpPr>
                <p:cNvPr id="16" name="文字方塊 15">
                  <a:extLst>
                    <a:ext uri="{FF2B5EF4-FFF2-40B4-BE49-F238E27FC236}">
                      <a16:creationId xmlns:a16="http://schemas.microsoft.com/office/drawing/2014/main" id="{9D82930F-0234-77E2-D32F-85E5AACF1DCA}"/>
                    </a:ext>
                  </a:extLst>
                </p:cNvPr>
                <p:cNvSpPr txBox="1">
                  <a:spLocks noRot="1" noChangeAspect="1" noMove="1" noResize="1" noEditPoints="1" noAdjustHandles="1" noChangeArrowheads="1" noChangeShapeType="1" noTextEdit="1"/>
                </p:cNvSpPr>
                <p:nvPr/>
              </p:nvSpPr>
              <p:spPr>
                <a:xfrm>
                  <a:off x="7700236" y="2771636"/>
                  <a:ext cx="1078694" cy="369332"/>
                </a:xfrm>
                <a:prstGeom prst="rect">
                  <a:avLst/>
                </a:prstGeom>
                <a:blipFill>
                  <a:blip r:embed="rId9"/>
                  <a:stretch>
                    <a:fillRect l="-5085" b="-333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7" name="文字方塊 16">
                  <a:extLst>
                    <a:ext uri="{FF2B5EF4-FFF2-40B4-BE49-F238E27FC236}">
                      <a16:creationId xmlns:a16="http://schemas.microsoft.com/office/drawing/2014/main" id="{1787CFAB-11BF-D57F-32EE-FE77C0DFD8B3}"/>
                    </a:ext>
                  </a:extLst>
                </p:cNvPr>
                <p:cNvSpPr txBox="1"/>
                <p:nvPr/>
              </p:nvSpPr>
              <p:spPr>
                <a:xfrm>
                  <a:off x="6588224" y="2060848"/>
                  <a:ext cx="2555776" cy="455247"/>
                </a:xfrm>
                <a:prstGeom prst="rect">
                  <a:avLst/>
                </a:prstGeom>
                <a:noFill/>
              </p:spPr>
              <p:txBody>
                <a:bodyPr wrap="none" lIns="0" tIns="0" rIns="0" bIns="0" anchor="ctr" anchorCtr="1">
                  <a:noAutofit/>
                </a:bodyPr>
                <a:lstStyle/>
                <a:p>
                  <a14:m>
                    <m:oMath xmlns:m="http://schemas.openxmlformats.org/officeDocument/2006/math">
                      <m:r>
                        <m:rPr>
                          <m:sty m:val="p"/>
                        </m:rPr>
                        <a:rPr lang="en-US" altLang="zh-TW" sz="1200" b="0" i="1" smtClean="0">
                          <a:solidFill>
                            <a:schemeClr val="tx1"/>
                          </a:solidFill>
                          <a:latin typeface="Cambria Math" panose="02040503050406030204" pitchFamily="18" charset="0"/>
                          <a:ea typeface="Cambria Math" panose="02040503050406030204" pitchFamily="18" charset="0"/>
                        </a:rPr>
                        <m:t>RoPE</m:t>
                      </m:r>
                      <m:d>
                        <m:dPr>
                          <m:ctrlPr>
                            <a:rPr lang="en-US" altLang="zh-TW" sz="1200" i="1">
                              <a:solidFill>
                                <a:schemeClr val="tx1"/>
                              </a:solidFill>
                              <a:latin typeface="Cambria Math" panose="02040503050406030204" pitchFamily="18" charset="0"/>
                              <a:ea typeface="Cambria Math" panose="02040503050406030204" pitchFamily="18" charset="0"/>
                            </a:rPr>
                          </m:ctrlPr>
                        </m:dPr>
                        <m:e>
                          <m:acc>
                            <m:accPr>
                              <m:chr m:val="⃑"/>
                              <m:ctrlPr>
                                <a:rPr lang="en-US" altLang="zh-TW" sz="1200" i="1">
                                  <a:solidFill>
                                    <a:schemeClr val="tx1"/>
                                  </a:solidFill>
                                  <a:latin typeface="Cambria Math" panose="02040503050406030204" pitchFamily="18" charset="0"/>
                                  <a:ea typeface="Cambria Math" panose="02040503050406030204" pitchFamily="18" charset="0"/>
                                </a:rPr>
                              </m:ctrlPr>
                            </m:accPr>
                            <m:e>
                              <m:r>
                                <m:rPr>
                                  <m:sty m:val="p"/>
                                </m:rPr>
                                <a:rPr lang="en-US" altLang="zh-TW" sz="1200" i="1">
                                  <a:solidFill>
                                    <a:schemeClr val="tx1"/>
                                  </a:solidFill>
                                  <a:latin typeface="Cambria Math" panose="02040503050406030204" pitchFamily="18" charset="0"/>
                                  <a:ea typeface="Cambria Math" panose="02040503050406030204" pitchFamily="18" charset="0"/>
                                </a:rPr>
                                <m:t>v</m:t>
                              </m:r>
                            </m:e>
                          </m:acc>
                        </m:e>
                      </m:d>
                      <m:r>
                        <a:rPr lang="en-US" altLang="zh-TW" sz="1200" b="0" i="1" smtClean="0">
                          <a:solidFill>
                            <a:schemeClr val="tx1"/>
                          </a:solidFill>
                          <a:latin typeface="Cambria Math" panose="02040503050406030204" pitchFamily="18" charset="0"/>
                          <a:ea typeface="Cambria Math" panose="02040503050406030204" pitchFamily="18" charset="0"/>
                        </a:rPr>
                        <m:t> =</m:t>
                      </m:r>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en-US" altLang="zh-TW" sz="1200" b="0" i="1" smtClean="0">
                                        <a:solidFill>
                                          <a:schemeClr val="tx1"/>
                                        </a:solidFill>
                                        <a:latin typeface="Cambria Math" panose="02040503050406030204" pitchFamily="18" charset="0"/>
                                        <a:ea typeface="Cambria Math" panose="02040503050406030204" pitchFamily="18" charset="0"/>
                                      </a:rPr>
                                      <m:t>𝑙</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chemeClr val="tx1"/>
                              </a:solidFill>
                              <a:latin typeface="Cambria Math" panose="02040503050406030204" pitchFamily="18" charset="0"/>
                              <a:ea typeface="Cambria Math" panose="02040503050406030204" pitchFamily="18" charset="0"/>
                            </a:rPr>
                          </m:ctrlPr>
                        </m:dPr>
                        <m:e>
                          <m:eqArr>
                            <m:eqArrPr>
                              <m:ctrlPr>
                                <a:rPr lang="en-US" altLang="zh-TW" sz="1200" i="1" smtClean="0">
                                  <a:solidFill>
                                    <a:schemeClr val="tx1"/>
                                  </a:solidFill>
                                  <a:latin typeface="Cambria Math" panose="02040503050406030204" pitchFamily="18" charset="0"/>
                                  <a:ea typeface="Cambria Math" panose="02040503050406030204" pitchFamily="18" charset="0"/>
                                </a:rPr>
                              </m:ctrlPr>
                            </m:eqArrPr>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b="0" i="1" smtClean="0">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𝑣</m:t>
                                  </m:r>
                                </m:e>
                                <m:sub>
                                  <m:r>
                                    <a:rPr lang="en-US" altLang="zh-TW" sz="1200" i="1">
                                      <a:solidFill>
                                        <a:schemeClr val="tx1"/>
                                      </a:solidFill>
                                      <a:latin typeface="Cambria Math" panose="02040503050406030204" pitchFamily="18" charset="0"/>
                                      <a:ea typeface="Cambria Math" panose="02040503050406030204" pitchFamily="18" charset="0"/>
                                    </a:rPr>
                                    <m:t>2</m:t>
                                  </m:r>
                                  <m:r>
                                    <a:rPr lang="en-US" altLang="zh-TW" sz="1200" b="0" i="1" smtClean="0">
                                      <a:solidFill>
                                        <a:schemeClr val="tx1"/>
                                      </a:solidFill>
                                      <a:latin typeface="Cambria Math" panose="02040503050406030204" pitchFamily="18" charset="0"/>
                                      <a:ea typeface="Cambria Math" panose="02040503050406030204" pitchFamily="18" charset="0"/>
                                    </a:rPr>
                                    <m:t>𝑖</m:t>
                                  </m:r>
                                  <m:r>
                                    <a:rPr lang="en-US" altLang="zh-TW" sz="1200" b="0" i="1" smtClean="0">
                                      <a:solidFill>
                                        <a:schemeClr val="tx1"/>
                                      </a:solidFill>
                                      <a:latin typeface="Cambria Math" panose="02040503050406030204" pitchFamily="18" charset="0"/>
                                      <a:ea typeface="Cambria Math" panose="02040503050406030204" pitchFamily="18" charset="0"/>
                                    </a:rPr>
                                    <m:t>+1</m:t>
                                  </m:r>
                                </m:sub>
                              </m:sSub>
                            </m:e>
                          </m:eqArr>
                        </m:e>
                      </m:d>
                    </m:oMath>
                  </a14:m>
                  <a:r>
                    <a:rPr lang="az-Cyrl-AZ" altLang="zh-TW" sz="1200" dirty="0">
                      <a:solidFill>
                        <a:schemeClr val="tx1"/>
                      </a:solidFill>
                      <a:ea typeface="Cambria Math" panose="02040503050406030204" pitchFamily="18" charset="0"/>
                    </a:rPr>
                    <a:t> </a:t>
                  </a:r>
                  <a:endParaRPr lang="zh-TW" altLang="en-US" dirty="0">
                    <a:solidFill>
                      <a:schemeClr val="tx1"/>
                    </a:solidFill>
                  </a:endParaRPr>
                </a:p>
              </p:txBody>
            </p:sp>
          </mc:Choice>
          <mc:Fallback xmlns="">
            <p:sp>
              <p:nvSpPr>
                <p:cNvPr id="17" name="文字方塊 16">
                  <a:extLst>
                    <a:ext uri="{FF2B5EF4-FFF2-40B4-BE49-F238E27FC236}">
                      <a16:creationId xmlns:a16="http://schemas.microsoft.com/office/drawing/2014/main" id="{1787CFAB-11BF-D57F-32EE-FE77C0DFD8B3}"/>
                    </a:ext>
                  </a:extLst>
                </p:cNvPr>
                <p:cNvSpPr txBox="1">
                  <a:spLocks noRot="1" noChangeAspect="1" noMove="1" noResize="1" noEditPoints="1" noAdjustHandles="1" noChangeArrowheads="1" noChangeShapeType="1" noTextEdit="1"/>
                </p:cNvSpPr>
                <p:nvPr/>
              </p:nvSpPr>
              <p:spPr>
                <a:xfrm>
                  <a:off x="6588224" y="2060848"/>
                  <a:ext cx="2555776" cy="455247"/>
                </a:xfrm>
                <a:prstGeom prst="rect">
                  <a:avLst/>
                </a:prstGeom>
                <a:blipFill>
                  <a:blip r:embed="rId10"/>
                  <a:stretch>
                    <a:fillRect l="-952"/>
                  </a:stretch>
                </a:blipFill>
              </p:spPr>
              <p:txBody>
                <a:bodyPr/>
                <a:lstStyle/>
                <a:p>
                  <a:r>
                    <a:rPr lang="zh-TW" altLang="en-US">
                      <a:noFill/>
                    </a:rPr>
                    <a:t> </a:t>
                  </a:r>
                </a:p>
              </p:txBody>
            </p:sp>
          </mc:Fallback>
        </mc:AlternateContent>
      </p:grpSp>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2153762" y="3223386"/>
                <a:ext cx="2024523" cy="770384"/>
              </a:xfrm>
              <a:prstGeom prst="rect">
                <a:avLst/>
              </a:prstGeom>
              <a:solidFill>
                <a:schemeClr val="bg1">
                  <a:lumMod val="95000"/>
                </a:schemeClr>
              </a:solidFill>
            </p:spPr>
            <p:txBody>
              <a:bodyPr wrap="none" lIns="0" tIns="0" rIns="0" bIns="0" rtlCol="0" anchor="ctr" anchorCtr="1">
                <a:noAutofit/>
              </a:bodyPr>
              <a:lstStyle/>
              <a:p>
                <a:pPr/>
                <a14:m>
                  <m:oMathPara xmlns:m="http://schemas.openxmlformats.org/officeDocument/2006/math">
                    <m:oMathParaPr>
                      <m:jc m:val="left"/>
                    </m:oMathParaPr>
                    <m:oMath>
                      <m:sSub>
                        <m:sSubPr>
                          <m:ctrlPr>
                            <a:rPr lang="en-US" altLang="zh-TW" sz="1200" b="0" i="1" smtClean="0">
                              <a:solidFill>
                                <a:schemeClr val="tx1"/>
                              </a:solidFill>
                              <a:latin typeface="Cambria Math" panose="02040503050406030204" pitchFamily="18" charset="0"/>
                              <a:ea typeface="Cambria Math" panose="02040503050406030204" pitchFamily="18" charset="0"/>
                            </a:rPr>
                          </m:ctrlPr>
                        </m:sSubPr>
                        <m:e>
                          <m:r>
                            <a:rPr lang="en-US" altLang="zh-TW" sz="1200" b="0" i="1" smtClean="0">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𝑚</m:t>
                          </m:r>
                          <m:sSub>
                            <m:sSubPr>
                              <m:ctrlPr>
                                <a:rPr lang="zh-TW" altLang="en-US" sz="1200" b="0" i="1" smtClean="0">
                                  <a:solidFill>
                                    <a:schemeClr val="tx1"/>
                                  </a:solidFill>
                                  <a:latin typeface="Cambria Math" panose="02040503050406030204" pitchFamily="18" charset="0"/>
                                  <a:ea typeface="Cambria Math" panose="02040503050406030204" pitchFamily="18" charset="0"/>
                                </a:rPr>
                              </m:ctrlPr>
                            </m:sSubPr>
                            <m:e>
                              <m:r>
                                <a:rPr lang="zh-TW" altLang="en-US" sz="1200" b="0" i="1" smtClean="0">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en-US" altLang="zh-TW" sz="1200" b="0" i="1" smtClean="0">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b="0" i="1" smtClean="0">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chemeClr val="tx1"/>
                                  </a:solidFill>
                                  <a:latin typeface="Cambria Math" panose="02040503050406030204" pitchFamily="18" charset="0"/>
                                  <a:ea typeface="Cambria Math" panose="02040503050406030204" pitchFamily="18" charset="0"/>
                                </a:rPr>
                              </m:ctrlPr>
                            </m:mP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chemeClr val="tx1"/>
                                        </a:solidFill>
                                        <a:latin typeface="Cambria Math" panose="02040503050406030204" pitchFamily="18" charset="0"/>
                                        <a:ea typeface="Cambria Math" panose="02040503050406030204" pitchFamily="18" charset="0"/>
                                      </a:rPr>
                                      <m:t>c</m:t>
                                    </m:r>
                                    <m:r>
                                      <m:rPr>
                                        <m:sty m:val="p"/>
                                      </m:rPr>
                                      <a:rPr lang="en-US" altLang="zh-TW" sz="1200" b="0" i="0" smtClean="0">
                                        <a:solidFill>
                                          <a:schemeClr val="tx1"/>
                                        </a:solidFill>
                                        <a:latin typeface="Cambria Math" panose="02040503050406030204" pitchFamily="18" charset="0"/>
                                        <a:ea typeface="Cambria Math" panose="02040503050406030204" pitchFamily="18" charset="0"/>
                                      </a:rPr>
                                      <m:t>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a:rPr lang="en-US" altLang="zh-TW" sz="1200" b="0" i="0" smtClean="0">
                                        <a:solidFill>
                                          <a:schemeClr val="tx1"/>
                                        </a:solidFill>
                                        <a:latin typeface="Cambria Math" panose="02040503050406030204" pitchFamily="18" charset="0"/>
                                        <a:ea typeface="Cambria Math" panose="02040503050406030204" pitchFamily="18" charset="0"/>
                                      </a:rPr>
                                      <m:t>−</m:t>
                                    </m:r>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sin</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b="0" i="0" smtClean="0">
                                        <a:solidFill>
                                          <a:schemeClr val="tx1"/>
                                        </a:solidFill>
                                        <a:latin typeface="Cambria Math" panose="02040503050406030204" pitchFamily="18" charset="0"/>
                                        <a:ea typeface="Cambria Math" panose="02040503050406030204" pitchFamily="18" charset="0"/>
                                      </a:rPr>
                                      <m:t>cos</m:t>
                                    </m:r>
                                  </m:fName>
                                  <m:e>
                                    <m:r>
                                      <a:rPr lang="en-US" altLang="zh-TW" sz="1200" i="1">
                                        <a:solidFill>
                                          <a:schemeClr val="tx1"/>
                                        </a:solidFill>
                                        <a:latin typeface="Cambria Math" panose="02040503050406030204" pitchFamily="18" charset="0"/>
                                        <a:ea typeface="Cambria Math" panose="02040503050406030204" pitchFamily="18" charset="0"/>
                                      </a:rPr>
                                      <m:t>𝑚</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i="1">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solidFill>
                    <a:schemeClr val="tx1"/>
                  </a:solidFill>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m:sSub>
                        <m:sSubPr>
                          <m:ctrlPr>
                            <a:rPr lang="en-US" altLang="zh-TW" sz="1200" i="1">
                              <a:solidFill>
                                <a:schemeClr val="tx1"/>
                              </a:solidFill>
                              <a:latin typeface="Cambria Math" panose="02040503050406030204" pitchFamily="18" charset="0"/>
                              <a:ea typeface="Cambria Math" panose="02040503050406030204" pitchFamily="18" charset="0"/>
                            </a:rPr>
                          </m:ctrlPr>
                        </m:sSubPr>
                        <m:e>
                          <m:r>
                            <a:rPr lang="en-US" altLang="zh-TW" sz="1200" i="1">
                              <a:solidFill>
                                <a:schemeClr val="tx1"/>
                              </a:solidFill>
                              <a:latin typeface="Cambria Math" panose="02040503050406030204" pitchFamily="18" charset="0"/>
                              <a:ea typeface="Cambria Math" panose="02040503050406030204" pitchFamily="18" charset="0"/>
                            </a:rPr>
                            <m:t>𝑅</m:t>
                          </m:r>
                        </m:e>
                        <m:sub>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sub>
                      </m:sSub>
                      <m:r>
                        <a:rPr lang="zh-TW" altLang="en-US" sz="1200" i="1">
                          <a:latin typeface="Cambria Math" panose="02040503050406030204" pitchFamily="18" charset="0"/>
                          <a:ea typeface="Cambria Math" panose="02040503050406030204" pitchFamily="18" charset="0"/>
                        </a:rPr>
                        <m:t> </m:t>
                      </m:r>
                      <m:r>
                        <a:rPr lang="en-US" altLang="zh-TW" sz="1200" i="1">
                          <a:solidFill>
                            <a:schemeClr val="tx1"/>
                          </a:solidFill>
                          <a:latin typeface="Cambria Math" panose="02040503050406030204" pitchFamily="18" charset="0"/>
                          <a:ea typeface="Cambria Math" panose="02040503050406030204" pitchFamily="18" charset="0"/>
                        </a:rPr>
                        <m:t>=</m:t>
                      </m:r>
                      <m:d>
                        <m:dPr>
                          <m:begChr m:val="["/>
                          <m:endChr m:val="]"/>
                          <m:ctrlPr>
                            <a:rPr lang="en-US" altLang="zh-TW" sz="1200" i="1">
                              <a:solidFill>
                                <a:schemeClr val="tx1"/>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solidFill>
                                    <a:schemeClr val="tx1"/>
                                  </a:solidFill>
                                  <a:latin typeface="Cambria Math" panose="02040503050406030204" pitchFamily="18" charset="0"/>
                                  <a:ea typeface="Cambria Math" panose="02040503050406030204" pitchFamily="18" charset="0"/>
                                </a:rPr>
                              </m:ctrlPr>
                            </m:mP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brk m:alnAt="7"/>
                                      </m:rPr>
                                      <a:rPr lang="en-US" altLang="zh-TW" sz="1200">
                                        <a:solidFill>
                                          <a:schemeClr val="tx1"/>
                                        </a:solidFill>
                                        <a:latin typeface="Cambria Math" panose="02040503050406030204" pitchFamily="18" charset="0"/>
                                        <a:ea typeface="Cambria Math" panose="02040503050406030204" pitchFamily="18" charset="0"/>
                                      </a:rPr>
                                      <m:t>c</m:t>
                                    </m:r>
                                    <m:r>
                                      <m:rPr>
                                        <m:sty m:val="p"/>
                                      </m:rPr>
                                      <a:rPr lang="en-US" altLang="zh-TW" sz="1200">
                                        <a:solidFill>
                                          <a:schemeClr val="tx1"/>
                                        </a:solidFill>
                                        <a:latin typeface="Cambria Math" panose="02040503050406030204" pitchFamily="18" charset="0"/>
                                        <a:ea typeface="Cambria Math" panose="02040503050406030204" pitchFamily="18" charset="0"/>
                                      </a:rPr>
                                      <m:t>os</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func>
                                  <m:funcPr>
                                    <m:ctrlPr>
                                      <a:rPr lang="zh-TW" altLang="en-US" sz="1200" i="1">
                                        <a:latin typeface="Cambria Math" panose="02040503050406030204" pitchFamily="18" charset="0"/>
                                        <a:ea typeface="Cambria Math" panose="02040503050406030204" pitchFamily="18" charset="0"/>
                                      </a:rPr>
                                    </m:ctrlPr>
                                  </m:funcPr>
                                  <m:fName>
                                    <m:r>
                                      <a:rPr lang="zh-TW" altLang="en-US" sz="1200" i="1">
                                        <a:latin typeface="Cambria Math" panose="02040503050406030204" pitchFamily="18" charset="0"/>
                                        <a:ea typeface="Cambria Math" panose="02040503050406030204" pitchFamily="18" charset="0"/>
                                      </a:rPr>
                                      <m:t> </m:t>
                                    </m:r>
                                    <m:r>
                                      <a:rPr lang="en-US" altLang="zh-TW" sz="1200">
                                        <a:solidFill>
                                          <a:schemeClr val="tx1"/>
                                        </a:solidFill>
                                        <a:latin typeface="Cambria Math" panose="02040503050406030204" pitchFamily="18" charset="0"/>
                                        <a:ea typeface="Cambria Math" panose="02040503050406030204" pitchFamily="18" charset="0"/>
                                      </a:rPr>
                                      <m:t>−</m:t>
                                    </m:r>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sin</m:t>
                                    </m:r>
                                  </m:fName>
                                  <m:e>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e>
                                <m:r>
                                  <a:rPr lang="zh-TW" altLang="en-US" sz="1200" i="1">
                                    <a:latin typeface="Cambria Math" panose="02040503050406030204" pitchFamily="18" charset="0"/>
                                    <a:ea typeface="Cambria Math" panose="02040503050406030204" pitchFamily="18" charset="0"/>
                                  </a:rPr>
                                  <m:t> </m:t>
                                </m:r>
                                <m:func>
                                  <m:funcPr>
                                    <m:ctrlPr>
                                      <a:rPr lang="en-US" altLang="zh-TW" sz="1200">
                                        <a:solidFill>
                                          <a:schemeClr val="tx1"/>
                                        </a:solidFill>
                                        <a:latin typeface="Cambria Math" panose="02040503050406030204" pitchFamily="18" charset="0"/>
                                        <a:ea typeface="Cambria Math" panose="02040503050406030204" pitchFamily="18" charset="0"/>
                                      </a:rPr>
                                    </m:ctrlPr>
                                  </m:funcPr>
                                  <m:fName>
                                    <m:r>
                                      <m:rPr>
                                        <m:sty m:val="p"/>
                                      </m:rPr>
                                      <a:rPr lang="en-US" altLang="zh-TW" sz="1200">
                                        <a:solidFill>
                                          <a:schemeClr val="tx1"/>
                                        </a:solidFill>
                                        <a:latin typeface="Cambria Math" panose="02040503050406030204" pitchFamily="18" charset="0"/>
                                        <a:ea typeface="Cambria Math" panose="02040503050406030204" pitchFamily="18" charset="0"/>
                                      </a:rPr>
                                      <m:t>cos</m:t>
                                    </m:r>
                                  </m:fName>
                                  <m:e>
                                    <m:r>
                                      <a:rPr lang="zh-TW" altLang="en-US" sz="1200" i="1">
                                        <a:latin typeface="Cambria Math" panose="02040503050406030204" pitchFamily="18" charset="0"/>
                                        <a:ea typeface="Cambria Math" panose="02040503050406030204" pitchFamily="18" charset="0"/>
                                      </a:rPr>
                                      <m:t> </m:t>
                                    </m:r>
                                    <m:r>
                                      <a:rPr lang="en-US" altLang="zh-TW" sz="1200" b="0" i="1" smtClean="0">
                                        <a:solidFill>
                                          <a:schemeClr val="tx1"/>
                                        </a:solidFill>
                                        <a:latin typeface="Cambria Math" panose="02040503050406030204" pitchFamily="18" charset="0"/>
                                        <a:ea typeface="Cambria Math" panose="02040503050406030204" pitchFamily="18" charset="0"/>
                                      </a:rPr>
                                      <m:t>𝑛</m:t>
                                    </m:r>
                                    <m:sSub>
                                      <m:sSubPr>
                                        <m:ctrlPr>
                                          <a:rPr lang="zh-TW" altLang="en-US" sz="1200" i="1">
                                            <a:solidFill>
                                              <a:schemeClr val="tx1"/>
                                            </a:solidFill>
                                            <a:latin typeface="Cambria Math" panose="02040503050406030204" pitchFamily="18" charset="0"/>
                                            <a:ea typeface="Cambria Math" panose="02040503050406030204" pitchFamily="18" charset="0"/>
                                          </a:rPr>
                                        </m:ctrlPr>
                                      </m:sSubPr>
                                      <m:e>
                                        <m:r>
                                          <a:rPr lang="zh-TW" altLang="en-US" sz="1200" i="1">
                                            <a:solidFill>
                                              <a:schemeClr val="tx1"/>
                                            </a:solidFill>
                                            <a:latin typeface="Cambria Math" panose="02040503050406030204" pitchFamily="18" charset="0"/>
                                            <a:ea typeface="Cambria Math" panose="02040503050406030204" pitchFamily="18" charset="0"/>
                                          </a:rPr>
                                          <m:t>𝜃</m:t>
                                        </m:r>
                                      </m:e>
                                      <m:sub>
                                        <m:r>
                                          <a:rPr lang="en-US" altLang="zh-TW" sz="1200" b="0" i="1" smtClean="0">
                                            <a:solidFill>
                                              <a:schemeClr val="tx1"/>
                                            </a:solidFill>
                                            <a:latin typeface="Cambria Math" panose="02040503050406030204" pitchFamily="18" charset="0"/>
                                            <a:ea typeface="Cambria Math" panose="02040503050406030204" pitchFamily="18" charset="0"/>
                                          </a:rPr>
                                          <m:t>𝑖</m:t>
                                        </m:r>
                                      </m:sub>
                                    </m:sSub>
                                  </m:e>
                                </m:func>
                              </m:e>
                            </m:mr>
                          </m:m>
                        </m:e>
                      </m:d>
                    </m:oMath>
                  </m:oMathPara>
                </a14:m>
                <a:endParaRPr lang="zh-TW" altLang="en-US" sz="1200" dirty="0">
                  <a:solidFill>
                    <a:schemeClr val="tx1"/>
                  </a:solidFill>
                </a:endParaRPr>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2153762" y="3223386"/>
                <a:ext cx="2024523" cy="770384"/>
              </a:xfrm>
              <a:prstGeom prst="rect">
                <a:avLst/>
              </a:prstGeom>
              <a:blipFill>
                <a:blip r:embed="rId11"/>
                <a:stretch>
                  <a:fillRect b="-794"/>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B10DB-CF6A-1B43-D3F4-1F816D455121}"/>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6D56A37-52E4-8E2C-6F84-A4ABA37860F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Summary: 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
        <p:nvSpPr>
          <p:cNvPr id="4" name="左中括弧 3">
            <a:extLst>
              <a:ext uri="{FF2B5EF4-FFF2-40B4-BE49-F238E27FC236}">
                <a16:creationId xmlns:a16="http://schemas.microsoft.com/office/drawing/2014/main" id="{63EFA957-2DB8-D18D-C964-1D399C63734C}"/>
              </a:ext>
            </a:extLst>
          </p:cNvPr>
          <p:cNvSpPr/>
          <p:nvPr/>
        </p:nvSpPr>
        <p:spPr>
          <a:xfrm rot="16200000">
            <a:off x="5809825" y="2767240"/>
            <a:ext cx="54557" cy="1522095"/>
          </a:xfrm>
          <a:prstGeom prst="leftBracket">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 name="矩形 4">
            <a:extLst>
              <a:ext uri="{FF2B5EF4-FFF2-40B4-BE49-F238E27FC236}">
                <a16:creationId xmlns:a16="http://schemas.microsoft.com/office/drawing/2014/main" id="{290E9D89-6323-7CF0-13A3-D6B64A8C95D2}"/>
              </a:ext>
            </a:extLst>
          </p:cNvPr>
          <p:cNvSpPr/>
          <p:nvPr/>
        </p:nvSpPr>
        <p:spPr>
          <a:xfrm>
            <a:off x="2044376" y="1844824"/>
            <a:ext cx="2600671" cy="1886806"/>
          </a:xfrm>
          <a:prstGeom prst="rect">
            <a:avLst/>
          </a:prstGeom>
          <a:solidFill>
            <a:schemeClr val="accent6">
              <a:lumMod val="20000"/>
              <a:lumOff val="80000"/>
              <a:alpha val="20000"/>
            </a:schemeClr>
          </a:solidFill>
          <a:ln w="19050">
            <a:solidFill>
              <a:schemeClr val="accent6"/>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6" name="文字方塊 5">
            <a:extLst>
              <a:ext uri="{FF2B5EF4-FFF2-40B4-BE49-F238E27FC236}">
                <a16:creationId xmlns:a16="http://schemas.microsoft.com/office/drawing/2014/main" id="{19B3EA6E-3064-B2A1-07DF-2E0124A54FDC}"/>
              </a:ext>
            </a:extLst>
          </p:cNvPr>
          <p:cNvSpPr txBox="1"/>
          <p:nvPr/>
        </p:nvSpPr>
        <p:spPr>
          <a:xfrm>
            <a:off x="1829216" y="2413662"/>
            <a:ext cx="293061" cy="144971"/>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9" name="矩形 8">
            <a:extLst>
              <a:ext uri="{FF2B5EF4-FFF2-40B4-BE49-F238E27FC236}">
                <a16:creationId xmlns:a16="http://schemas.microsoft.com/office/drawing/2014/main" id="{7DFC1F65-6F58-074D-DB7A-B007F78FCEE6}"/>
              </a:ext>
            </a:extLst>
          </p:cNvPr>
          <p:cNvSpPr/>
          <p:nvPr/>
        </p:nvSpPr>
        <p:spPr>
          <a:xfrm>
            <a:off x="1227362" y="2074471"/>
            <a:ext cx="331433"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11" name="文字方塊 10">
            <a:extLst>
              <a:ext uri="{FF2B5EF4-FFF2-40B4-BE49-F238E27FC236}">
                <a16:creationId xmlns:a16="http://schemas.microsoft.com/office/drawing/2014/main" id="{8B8DFA56-285D-F52E-9815-6769EC852F7B}"/>
              </a:ext>
            </a:extLst>
          </p:cNvPr>
          <p:cNvSpPr txBox="1"/>
          <p:nvPr/>
        </p:nvSpPr>
        <p:spPr>
          <a:xfrm>
            <a:off x="899592"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Lookup Table</a:t>
            </a:r>
            <a:r>
              <a:rPr lang="en-US" altLang="zh-TW" sz="1200" dirty="0"/>
              <a:t>:</a:t>
            </a:r>
          </a:p>
          <a:p>
            <a:pPr algn="ctr"/>
            <a:r>
              <a:rPr lang="en-US" altLang="zh-TW" sz="1000" dirty="0"/>
              <a:t>Token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Embedding</a:t>
            </a:r>
            <a:endParaRPr lang="zh-TW" altLang="en-US" sz="1000" dirty="0"/>
          </a:p>
        </p:txBody>
      </p:sp>
      <p:sp>
        <p:nvSpPr>
          <p:cNvPr id="13" name="矩形 12">
            <a:extLst>
              <a:ext uri="{FF2B5EF4-FFF2-40B4-BE49-F238E27FC236}">
                <a16:creationId xmlns:a16="http://schemas.microsoft.com/office/drawing/2014/main" id="{F5C87372-C0F1-3364-2CBF-2894C7F60DC1}"/>
              </a:ext>
            </a:extLst>
          </p:cNvPr>
          <p:cNvSpPr/>
          <p:nvPr/>
        </p:nvSpPr>
        <p:spPr>
          <a:xfrm>
            <a:off x="1847957" y="258714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4" name="矩形 13">
            <a:extLst>
              <a:ext uri="{FF2B5EF4-FFF2-40B4-BE49-F238E27FC236}">
                <a16:creationId xmlns:a16="http://schemas.microsoft.com/office/drawing/2014/main" id="{70859162-71CA-BB4E-CA13-472203A6AD7F}"/>
              </a:ext>
            </a:extLst>
          </p:cNvPr>
          <p:cNvSpPr/>
          <p:nvPr/>
        </p:nvSpPr>
        <p:spPr>
          <a:xfrm>
            <a:off x="2268973" y="2193895"/>
            <a:ext cx="274320" cy="274320"/>
          </a:xfrm>
          <a:prstGeom prst="rect">
            <a:avLst/>
          </a:prstGeom>
          <a:solidFill>
            <a:schemeClr val="accent2">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15" name="矩形 14">
            <a:extLst>
              <a:ext uri="{FF2B5EF4-FFF2-40B4-BE49-F238E27FC236}">
                <a16:creationId xmlns:a16="http://schemas.microsoft.com/office/drawing/2014/main" id="{748635C9-F847-88F6-BC22-D67F2EEAB784}"/>
              </a:ext>
            </a:extLst>
          </p:cNvPr>
          <p:cNvSpPr/>
          <p:nvPr/>
        </p:nvSpPr>
        <p:spPr>
          <a:xfrm>
            <a:off x="2269426" y="2684303"/>
            <a:ext cx="274320" cy="274320"/>
          </a:xfrm>
          <a:prstGeom prst="rect">
            <a:avLst/>
          </a:prstGeom>
          <a:solidFill>
            <a:schemeClr val="accent1">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17" name="文字方塊 16">
            <a:extLst>
              <a:ext uri="{FF2B5EF4-FFF2-40B4-BE49-F238E27FC236}">
                <a16:creationId xmlns:a16="http://schemas.microsoft.com/office/drawing/2014/main" id="{6169CDA7-0DD2-147F-271D-6B78F26FAE13}"/>
              </a:ext>
            </a:extLst>
          </p:cNvPr>
          <p:cNvSpPr txBox="1"/>
          <p:nvPr/>
        </p:nvSpPr>
        <p:spPr>
          <a:xfrm>
            <a:off x="2585701" y="223961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8" name="文字方塊 17">
            <a:extLst>
              <a:ext uri="{FF2B5EF4-FFF2-40B4-BE49-F238E27FC236}">
                <a16:creationId xmlns:a16="http://schemas.microsoft.com/office/drawing/2014/main" id="{462E0A75-E024-7E84-9447-CA16AB2D3DC8}"/>
              </a:ext>
            </a:extLst>
          </p:cNvPr>
          <p:cNvSpPr txBox="1"/>
          <p:nvPr/>
        </p:nvSpPr>
        <p:spPr>
          <a:xfrm>
            <a:off x="2117248" y="223961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791FF62D-C942-8B99-5558-A921C6C1ED64}"/>
              </a:ext>
            </a:extLst>
          </p:cNvPr>
          <p:cNvSpPr txBox="1"/>
          <p:nvPr/>
        </p:nvSpPr>
        <p:spPr>
          <a:xfrm>
            <a:off x="2117701" y="273002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1" name="文字方塊 20">
            <a:extLst>
              <a:ext uri="{FF2B5EF4-FFF2-40B4-BE49-F238E27FC236}">
                <a16:creationId xmlns:a16="http://schemas.microsoft.com/office/drawing/2014/main" id="{07990E07-7657-FC60-58C0-76A919475C9D}"/>
              </a:ext>
            </a:extLst>
          </p:cNvPr>
          <p:cNvSpPr txBox="1"/>
          <p:nvPr/>
        </p:nvSpPr>
        <p:spPr>
          <a:xfrm>
            <a:off x="2586154"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3" name="文字方塊 22">
            <a:extLst>
              <a:ext uri="{FF2B5EF4-FFF2-40B4-BE49-F238E27FC236}">
                <a16:creationId xmlns:a16="http://schemas.microsoft.com/office/drawing/2014/main" id="{EB62D418-50DE-43AA-7DD4-27BD0BBF2725}"/>
              </a:ext>
            </a:extLst>
          </p:cNvPr>
          <p:cNvSpPr txBox="1"/>
          <p:nvPr/>
        </p:nvSpPr>
        <p:spPr>
          <a:xfrm>
            <a:off x="2779032" y="2057185"/>
            <a:ext cx="274320" cy="457200"/>
          </a:xfrm>
          <a:prstGeom prst="rect">
            <a:avLst/>
          </a:prstGeom>
          <a:solidFill>
            <a:schemeClr val="accent2">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7BAAA32B-0BFC-3AAD-9888-2CFEF1A450DD}"/>
              </a:ext>
            </a:extLst>
          </p:cNvPr>
          <p:cNvSpPr txBox="1"/>
          <p:nvPr/>
        </p:nvSpPr>
        <p:spPr>
          <a:xfrm>
            <a:off x="2779032" y="2587144"/>
            <a:ext cx="274320" cy="457200"/>
          </a:xfrm>
          <a:prstGeom prst="rect">
            <a:avLst/>
          </a:prstGeom>
          <a:solidFill>
            <a:schemeClr val="accent1">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409E4349-1E51-82AF-E415-CE2BDBDB29CE}"/>
              </a:ext>
            </a:extLst>
          </p:cNvPr>
          <p:cNvSpPr txBox="1"/>
          <p:nvPr/>
        </p:nvSpPr>
        <p:spPr>
          <a:xfrm>
            <a:off x="2268973" y="2049879"/>
            <a:ext cx="274320" cy="118033"/>
          </a:xfrm>
          <a:prstGeom prst="rect">
            <a:avLst/>
          </a:prstGeom>
          <a:noFill/>
        </p:spPr>
        <p:txBody>
          <a:bodyPr wrap="none" lIns="0" tIns="0" rIns="0" bIns="0" rtlCol="0" anchor="ctr" anchorCtr="1">
            <a:noAutofit/>
          </a:bodyPr>
          <a:lstStyle/>
          <a:p>
            <a:pPr algn="ctr"/>
            <a:r>
              <a:rPr lang="en-US" altLang="zh-TW" sz="1200" b="1" dirty="0"/>
              <a:t>d*d</a:t>
            </a:r>
            <a:endParaRPr lang="zh-TW" altLang="en-US" sz="1200" b="1" dirty="0"/>
          </a:p>
        </p:txBody>
      </p:sp>
      <p:sp>
        <p:nvSpPr>
          <p:cNvPr id="28" name="文字方塊 27">
            <a:extLst>
              <a:ext uri="{FF2B5EF4-FFF2-40B4-BE49-F238E27FC236}">
                <a16:creationId xmlns:a16="http://schemas.microsoft.com/office/drawing/2014/main" id="{AB90136F-6402-A8B2-F37E-352372EF52B4}"/>
              </a:ext>
            </a:extLst>
          </p:cNvPr>
          <p:cNvSpPr txBox="1"/>
          <p:nvPr/>
        </p:nvSpPr>
        <p:spPr>
          <a:xfrm>
            <a:off x="1230971" y="1917418"/>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29" name="文字方塊 28">
            <a:extLst>
              <a:ext uri="{FF2B5EF4-FFF2-40B4-BE49-F238E27FC236}">
                <a16:creationId xmlns:a16="http://schemas.microsoft.com/office/drawing/2014/main" id="{658FAD2A-174D-6946-B561-0E72A3E16268}"/>
              </a:ext>
            </a:extLst>
          </p:cNvPr>
          <p:cNvSpPr txBox="1"/>
          <p:nvPr/>
        </p:nvSpPr>
        <p:spPr>
          <a:xfrm>
            <a:off x="2765320" y="1905863"/>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30" name="矩形: 圓角 29">
            <a:extLst>
              <a:ext uri="{FF2B5EF4-FFF2-40B4-BE49-F238E27FC236}">
                <a16:creationId xmlns:a16="http://schemas.microsoft.com/office/drawing/2014/main" id="{8460842A-B71B-82E8-CAA5-FCC8C883EDFA}"/>
              </a:ext>
            </a:extLst>
          </p:cNvPr>
          <p:cNvSpPr/>
          <p:nvPr/>
        </p:nvSpPr>
        <p:spPr>
          <a:xfrm>
            <a:off x="3205986" y="2329243"/>
            <a:ext cx="457200" cy="457200"/>
          </a:xfrm>
          <a:prstGeom prst="roundRect">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4"/>
                </a:solidFill>
                <a:latin typeface="ADLaM Display" panose="02010000000000000000" pitchFamily="2" charset="0"/>
                <a:cs typeface="ADLaM Display" panose="02010000000000000000" pitchFamily="2" charset="0"/>
              </a:rPr>
              <a:t>QK</a:t>
            </a:r>
            <a:r>
              <a:rPr lang="en-US" altLang="zh-TW" sz="1600" baseline="30000" dirty="0">
                <a:solidFill>
                  <a:schemeClr val="accent4">
                    <a:lumMod val="75000"/>
                  </a:schemeClr>
                </a:solidFill>
                <a:latin typeface="ADLaM Display" panose="02010000000000000000" pitchFamily="2" charset="0"/>
                <a:cs typeface="ADLaM Display" panose="02010000000000000000" pitchFamily="2" charset="0"/>
              </a:rPr>
              <a:t>T</a:t>
            </a:r>
            <a:endParaRPr lang="zh-TW" altLang="en-US" sz="1600" baseline="30000" dirty="0">
              <a:solidFill>
                <a:schemeClr val="accent4">
                  <a:lumMod val="75000"/>
                </a:schemeClr>
              </a:solidFill>
              <a:latin typeface="ADLaM Display" panose="02010000000000000000" pitchFamily="2" charset="0"/>
              <a:cs typeface="ADLaM Display" panose="02010000000000000000" pitchFamily="2" charset="0"/>
            </a:endParaRPr>
          </a:p>
        </p:txBody>
      </p:sp>
      <p:sp>
        <p:nvSpPr>
          <p:cNvPr id="31" name="直角三角形 30">
            <a:extLst>
              <a:ext uri="{FF2B5EF4-FFF2-40B4-BE49-F238E27FC236}">
                <a16:creationId xmlns:a16="http://schemas.microsoft.com/office/drawing/2014/main" id="{88A9F6C2-3F41-40BB-AA84-72F065C1D326}"/>
              </a:ext>
            </a:extLst>
          </p:cNvPr>
          <p:cNvSpPr/>
          <p:nvPr/>
        </p:nvSpPr>
        <p:spPr>
          <a:xfrm rot="16200000" flipH="1">
            <a:off x="3300194" y="2380361"/>
            <a:ext cx="320040" cy="320040"/>
          </a:xfrm>
          <a:prstGeom prst="rtTriangle">
            <a:avLst/>
          </a:prstGeom>
          <a:solidFill>
            <a:schemeClr val="bg1">
              <a:alpha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endParaRPr lang="zh-TW" altLang="en-US" sz="1200" b="1" dirty="0">
              <a:solidFill>
                <a:schemeClr val="bg1">
                  <a:lumMod val="50000"/>
                </a:schemeClr>
              </a:solidFill>
              <a:latin typeface="ADLaM Display" panose="02010000000000000000" pitchFamily="2" charset="0"/>
              <a:cs typeface="ADLaM Display" panose="02010000000000000000" pitchFamily="2" charset="0"/>
            </a:endParaRPr>
          </a:p>
        </p:txBody>
      </p:sp>
      <p:sp>
        <p:nvSpPr>
          <p:cNvPr id="32" name="文字方塊 31">
            <a:extLst>
              <a:ext uri="{FF2B5EF4-FFF2-40B4-BE49-F238E27FC236}">
                <a16:creationId xmlns:a16="http://schemas.microsoft.com/office/drawing/2014/main" id="{392DD1FF-1A24-3118-74B8-0516482618DA}"/>
              </a:ext>
            </a:extLst>
          </p:cNvPr>
          <p:cNvSpPr txBox="1"/>
          <p:nvPr/>
        </p:nvSpPr>
        <p:spPr>
          <a:xfrm>
            <a:off x="2727097"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6">
                    <a:lumMod val="75000"/>
                  </a:schemeClr>
                </a:solidFill>
              </a:rPr>
              <a:t>Transformer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Attention</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MoE</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33" name="矩形: 圓角 32">
            <a:extLst>
              <a:ext uri="{FF2B5EF4-FFF2-40B4-BE49-F238E27FC236}">
                <a16:creationId xmlns:a16="http://schemas.microsoft.com/office/drawing/2014/main" id="{A921377A-40EF-78AB-6BEA-E608C1F5801B}"/>
              </a:ext>
            </a:extLst>
          </p:cNvPr>
          <p:cNvSpPr/>
          <p:nvPr/>
        </p:nvSpPr>
        <p:spPr>
          <a:xfrm>
            <a:off x="5138137" y="2276900"/>
            <a:ext cx="306987"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6">
                    <a:lumMod val="75000"/>
                  </a:schemeClr>
                </a:solidFill>
                <a:latin typeface="ADLaM Display" panose="02010000000000000000" pitchFamily="2" charset="0"/>
                <a:ea typeface="ADLaM Display" panose="02010000000000000000" pitchFamily="2" charset="0"/>
                <a:cs typeface="ADLaM Display" panose="02010000000000000000" pitchFamily="2" charset="0"/>
              </a:rPr>
              <a:t>Transformer</a:t>
            </a:r>
            <a:endParaRPr lang="zh-TW" altLang="en-US" sz="1200" dirty="0">
              <a:solidFill>
                <a:schemeClr val="accent6">
                  <a:lumMod val="75000"/>
                </a:schemeClr>
              </a:solidFill>
              <a:latin typeface="ADLaM Display" panose="02010000000000000000" pitchFamily="2" charset="0"/>
              <a:cs typeface="ADLaM Display" panose="02010000000000000000" pitchFamily="2" charset="0"/>
            </a:endParaRPr>
          </a:p>
        </p:txBody>
      </p:sp>
      <p:sp>
        <p:nvSpPr>
          <p:cNvPr id="34" name="矩形 33">
            <a:extLst>
              <a:ext uri="{FF2B5EF4-FFF2-40B4-BE49-F238E27FC236}">
                <a16:creationId xmlns:a16="http://schemas.microsoft.com/office/drawing/2014/main" id="{B633A983-4194-15EA-D87A-192C7C2579F2}"/>
              </a:ext>
            </a:extLst>
          </p:cNvPr>
          <p:cNvSpPr/>
          <p:nvPr/>
        </p:nvSpPr>
        <p:spPr>
          <a:xfrm>
            <a:off x="4882772" y="2583683"/>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圓角 34">
            <a:extLst>
              <a:ext uri="{FF2B5EF4-FFF2-40B4-BE49-F238E27FC236}">
                <a16:creationId xmlns:a16="http://schemas.microsoft.com/office/drawing/2014/main" id="{1FA0C5F2-4C3B-4E16-5014-505B7EBD0488}"/>
              </a:ext>
            </a:extLst>
          </p:cNvPr>
          <p:cNvSpPr/>
          <p:nvPr/>
        </p:nvSpPr>
        <p:spPr>
          <a:xfrm>
            <a:off x="3746381" y="2329242"/>
            <a:ext cx="204837" cy="457201"/>
          </a:xfrm>
          <a:prstGeom prst="roundRect">
            <a:avLst/>
          </a:prstGeom>
          <a:solidFill>
            <a:schemeClr val="accent3">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600" dirty="0">
                <a:solidFill>
                  <a:schemeClr val="accent3">
                    <a:lumMod val="75000"/>
                  </a:schemeClr>
                </a:solidFill>
                <a:latin typeface="ADLaM Display" panose="02010000000000000000" pitchFamily="2" charset="0"/>
                <a:cs typeface="ADLaM Display" panose="02010000000000000000" pitchFamily="2" charset="0"/>
              </a:rPr>
              <a:t>v</a:t>
            </a:r>
            <a:endParaRPr lang="zh-TW" altLang="en-US" sz="1600"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36" name="箭號: 向下 35">
            <a:extLst>
              <a:ext uri="{FF2B5EF4-FFF2-40B4-BE49-F238E27FC236}">
                <a16:creationId xmlns:a16="http://schemas.microsoft.com/office/drawing/2014/main" id="{600B8542-F8FF-608E-BAA3-1DA0F166F12C}"/>
              </a:ext>
            </a:extLst>
          </p:cNvPr>
          <p:cNvSpPr/>
          <p:nvPr/>
        </p:nvSpPr>
        <p:spPr>
          <a:xfrm rot="16200000">
            <a:off x="4720531" y="2689809"/>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0" name="文字方塊 39">
            <a:extLst>
              <a:ext uri="{FF2B5EF4-FFF2-40B4-BE49-F238E27FC236}">
                <a16:creationId xmlns:a16="http://schemas.microsoft.com/office/drawing/2014/main" id="{8ABFCEF5-20A4-11F1-FC1D-81768FA58A34}"/>
              </a:ext>
            </a:extLst>
          </p:cNvPr>
          <p:cNvSpPr txBox="1"/>
          <p:nvPr/>
        </p:nvSpPr>
        <p:spPr>
          <a:xfrm>
            <a:off x="3288162" y="2163578"/>
            <a:ext cx="293061" cy="129042"/>
          </a:xfrm>
          <a:prstGeom prst="rect">
            <a:avLst/>
          </a:prstGeom>
          <a:noFill/>
        </p:spPr>
        <p:txBody>
          <a:bodyPr wrap="none" lIns="0" tIns="0" rIns="0" bIns="0" rtlCol="0" anchor="ctr" anchorCtr="1">
            <a:noAutofit/>
          </a:bodyPr>
          <a:lstStyle/>
          <a:p>
            <a:pPr algn="ctr"/>
            <a:r>
              <a:rPr lang="en-US" altLang="zh-TW" sz="1200" b="1" dirty="0"/>
              <a:t>N*N</a:t>
            </a:r>
            <a:endParaRPr lang="zh-TW" altLang="en-US" sz="1200" b="1" dirty="0"/>
          </a:p>
        </p:txBody>
      </p:sp>
      <p:sp>
        <p:nvSpPr>
          <p:cNvPr id="41" name="文字方塊 40">
            <a:extLst>
              <a:ext uri="{FF2B5EF4-FFF2-40B4-BE49-F238E27FC236}">
                <a16:creationId xmlns:a16="http://schemas.microsoft.com/office/drawing/2014/main" id="{E6A91C32-B212-25B0-800B-DA7D0BB81DFD}"/>
              </a:ext>
            </a:extLst>
          </p:cNvPr>
          <p:cNvSpPr txBox="1"/>
          <p:nvPr/>
        </p:nvSpPr>
        <p:spPr>
          <a:xfrm>
            <a:off x="3701286" y="2166177"/>
            <a:ext cx="293061" cy="129042"/>
          </a:xfrm>
          <a:prstGeom prst="rect">
            <a:avLst/>
          </a:prstGeom>
          <a:noFill/>
        </p:spPr>
        <p:txBody>
          <a:bodyPr wrap="none" lIns="0" tIns="0" rIns="0" bIns="0" rtlCol="0" anchor="ctr" anchorCtr="1">
            <a:noAutofit/>
          </a:bodyPr>
          <a:lstStyle/>
          <a:p>
            <a:pPr algn="ctr"/>
            <a:r>
              <a:rPr lang="en-US" altLang="zh-TW" sz="1200" b="1" dirty="0"/>
              <a:t>N*d</a:t>
            </a:r>
            <a:endParaRPr lang="zh-TW" altLang="en-US" sz="1200" b="1" dirty="0"/>
          </a:p>
        </p:txBody>
      </p:sp>
      <p:sp>
        <p:nvSpPr>
          <p:cNvPr id="43" name="矩形: 圓角 42">
            <a:extLst>
              <a:ext uri="{FF2B5EF4-FFF2-40B4-BE49-F238E27FC236}">
                <a16:creationId xmlns:a16="http://schemas.microsoft.com/office/drawing/2014/main" id="{BCDFF028-64C4-1CFF-4ABB-0636415FD2FB}"/>
              </a:ext>
            </a:extLst>
          </p:cNvPr>
          <p:cNvSpPr/>
          <p:nvPr/>
        </p:nvSpPr>
        <p:spPr>
          <a:xfrm>
            <a:off x="5714202" y="2276900"/>
            <a:ext cx="228750" cy="1030744"/>
          </a:xfrm>
          <a:prstGeom prst="roundRect">
            <a:avLst>
              <a:gd name="adj" fmla="val 6506"/>
            </a:avLst>
          </a:prstGeom>
          <a:solidFill>
            <a:schemeClr val="accent6">
              <a:lumMod val="20000"/>
              <a:lumOff val="80000"/>
              <a:alpha val="40000"/>
            </a:schemeClr>
          </a:solidFill>
          <a:ln w="25400">
            <a:solidFill>
              <a:schemeClr val="accent6">
                <a:lumMod val="40000"/>
                <a:lumOff val="6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18288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4" name="矩形 43">
            <a:extLst>
              <a:ext uri="{FF2B5EF4-FFF2-40B4-BE49-F238E27FC236}">
                <a16:creationId xmlns:a16="http://schemas.microsoft.com/office/drawing/2014/main" id="{B62E9D48-92C6-7292-385A-98F07EB8B319}"/>
              </a:ext>
            </a:extLst>
          </p:cNvPr>
          <p:cNvSpPr/>
          <p:nvPr/>
        </p:nvSpPr>
        <p:spPr>
          <a:xfrm>
            <a:off x="5576414" y="2583684"/>
            <a:ext cx="228750" cy="457200"/>
          </a:xfrm>
          <a:prstGeom prst="rect">
            <a:avLst/>
          </a:prstGeom>
          <a:solidFill>
            <a:schemeClr val="bg1">
              <a:lumMod val="95000"/>
              <a:alpha val="80000"/>
            </a:schemeClr>
          </a:solidFill>
          <a:ln w="25400">
            <a:solidFill>
              <a:schemeClr val="bg1">
                <a:lumMod val="75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5" name="箭號: 向下 44">
            <a:extLst>
              <a:ext uri="{FF2B5EF4-FFF2-40B4-BE49-F238E27FC236}">
                <a16:creationId xmlns:a16="http://schemas.microsoft.com/office/drawing/2014/main" id="{1A827B6B-64EB-6D4C-B50F-D907007C0A5E}"/>
              </a:ext>
            </a:extLst>
          </p:cNvPr>
          <p:cNvSpPr/>
          <p:nvPr/>
        </p:nvSpPr>
        <p:spPr>
          <a:xfrm rot="16200000">
            <a:off x="5512619" y="2693436"/>
            <a:ext cx="216022" cy="225052"/>
          </a:xfrm>
          <a:prstGeom prst="downArrow">
            <a:avLst/>
          </a:prstGeom>
          <a:solidFill>
            <a:schemeClr val="accent2">
              <a:alpha val="50000"/>
            </a:schemeClr>
          </a:solidFill>
          <a:ln w="12700">
            <a:solidFill>
              <a:schemeClr val="accent2">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47" name="矩形: 圓角 46">
            <a:extLst>
              <a:ext uri="{FF2B5EF4-FFF2-40B4-BE49-F238E27FC236}">
                <a16:creationId xmlns:a16="http://schemas.microsoft.com/office/drawing/2014/main" id="{8A9EE4F2-6E0E-B482-906C-8517F809291D}"/>
              </a:ext>
            </a:extLst>
          </p:cNvPr>
          <p:cNvSpPr/>
          <p:nvPr/>
        </p:nvSpPr>
        <p:spPr>
          <a:xfrm>
            <a:off x="6080470" y="2286962"/>
            <a:ext cx="228750" cy="1030744"/>
          </a:xfrm>
          <a:prstGeom prst="roundRect">
            <a:avLst>
              <a:gd name="adj" fmla="val 6506"/>
            </a:avLst>
          </a:prstGeom>
          <a:solidFill>
            <a:schemeClr val="accent6">
              <a:lumMod val="20000"/>
              <a:lumOff val="80000"/>
              <a:alpha val="60000"/>
            </a:schemeClr>
          </a:solidFill>
          <a:ln w="254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 wrap="none" lIns="0" tIns="0" rIns="0" bIns="0" rtlCol="0" anchor="ctr" anchorCtr="1"/>
          <a:lstStyle/>
          <a:p>
            <a:pPr algn="ctr"/>
            <a:r>
              <a:rPr lang="en-US" altLang="zh-TW" sz="1200" dirty="0">
                <a:solidFill>
                  <a:schemeClr val="accent2"/>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solidFill>
                <a:schemeClr val="accent2"/>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C0518FC2-2818-CA4D-8165-B5A764BCB9A8}"/>
              </a:ext>
            </a:extLst>
          </p:cNvPr>
          <p:cNvSpPr/>
          <p:nvPr/>
        </p:nvSpPr>
        <p:spPr>
          <a:xfrm>
            <a:off x="6381228" y="2583683"/>
            <a:ext cx="22875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49" name="箭號: 向下 48">
            <a:extLst>
              <a:ext uri="{FF2B5EF4-FFF2-40B4-BE49-F238E27FC236}">
                <a16:creationId xmlns:a16="http://schemas.microsoft.com/office/drawing/2014/main" id="{C28A0934-A766-E62D-3F9E-0165C2525D54}"/>
              </a:ext>
            </a:extLst>
          </p:cNvPr>
          <p:cNvSpPr/>
          <p:nvPr/>
        </p:nvSpPr>
        <p:spPr>
          <a:xfrm rot="16200000">
            <a:off x="6241727" y="269343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0" name="文字方塊 49">
            <a:extLst>
              <a:ext uri="{FF2B5EF4-FFF2-40B4-BE49-F238E27FC236}">
                <a16:creationId xmlns:a16="http://schemas.microsoft.com/office/drawing/2014/main" id="{55A39E27-2EA7-16B3-B445-9BD7FFC521D7}"/>
              </a:ext>
            </a:extLst>
          </p:cNvPr>
          <p:cNvSpPr txBox="1"/>
          <p:nvPr/>
        </p:nvSpPr>
        <p:spPr>
          <a:xfrm>
            <a:off x="5436192" y="3737709"/>
            <a:ext cx="864000" cy="432000"/>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L</a:t>
            </a:r>
            <a:r>
              <a:rPr kumimoji="0" lang="zh-TW" altLang="en-US"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 </a:t>
            </a:r>
            <a:r>
              <a:rPr kumimoji="0" lang="en-US" altLang="zh-TW" sz="1200" b="1" i="0" u="none" strike="noStrike" kern="1200" cap="none" spc="0" normalizeH="0" baseline="0" noProof="0" dirty="0">
                <a:ln w="0"/>
                <a:solidFill>
                  <a:schemeClr val="accent6">
                    <a:lumMod val="50000"/>
                  </a:schemeClr>
                </a:solidFill>
                <a:effectLst/>
                <a:uLnTx/>
                <a:uFillTx/>
                <a:ea typeface="新細明體" panose="02020500000000000000" pitchFamily="18" charset="-120"/>
                <a:cs typeface="+mn-cs"/>
              </a:rPr>
              <a:t>x Layers</a:t>
            </a:r>
            <a:b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b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X</a:t>
            </a:r>
            <a:r>
              <a:rPr kumimoji="0" lang="en-US" altLang="zh-TW" sz="1000" b="0" i="0" u="none" strike="noStrike" kern="1200" cap="none" spc="0" normalizeH="0" baseline="-2500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n+1</a:t>
            </a:r>
            <a:endParaRPr kumimoji="0" lang="zh-TW" altLang="en-US"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51" name="矩形 50">
            <a:extLst>
              <a:ext uri="{FF2B5EF4-FFF2-40B4-BE49-F238E27FC236}">
                <a16:creationId xmlns:a16="http://schemas.microsoft.com/office/drawing/2014/main" id="{F7C1906D-E521-4C0B-5AA7-25BAB494DD96}"/>
              </a:ext>
            </a:extLst>
          </p:cNvPr>
          <p:cNvSpPr/>
          <p:nvPr/>
        </p:nvSpPr>
        <p:spPr>
          <a:xfrm>
            <a:off x="6381228" y="2977599"/>
            <a:ext cx="228750" cy="152400"/>
          </a:xfrm>
          <a:prstGeom prst="rect">
            <a:avLst/>
          </a:prstGeom>
          <a:solidFill>
            <a:schemeClr val="bg1">
              <a:lumMod val="95000"/>
              <a:alpha val="60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3" name="文字方塊 52">
            <a:extLst>
              <a:ext uri="{FF2B5EF4-FFF2-40B4-BE49-F238E27FC236}">
                <a16:creationId xmlns:a16="http://schemas.microsoft.com/office/drawing/2014/main" id="{BCF8A4EE-4848-4EC5-34A4-E862075E5E25}"/>
              </a:ext>
            </a:extLst>
          </p:cNvPr>
          <p:cNvSpPr txBox="1"/>
          <p:nvPr/>
        </p:nvSpPr>
        <p:spPr>
          <a:xfrm>
            <a:off x="7159259" y="2409919"/>
            <a:ext cx="293061" cy="129042"/>
          </a:xfrm>
          <a:prstGeom prst="rect">
            <a:avLst/>
          </a:prstGeom>
          <a:noFill/>
        </p:spPr>
        <p:txBody>
          <a:bodyPr wrap="none" lIns="0" tIns="0" rIns="0" bIns="0" rtlCol="0" anchor="ctr" anchorCtr="1">
            <a:noAutofit/>
          </a:bodyPr>
          <a:lstStyle/>
          <a:p>
            <a:pPr algn="ctr"/>
            <a:r>
              <a:rPr lang="en-US" altLang="zh-TW" sz="1200" b="1" dirty="0"/>
              <a:t>d*1</a:t>
            </a:r>
            <a:endParaRPr lang="zh-TW" altLang="en-US" sz="1200" b="1" dirty="0"/>
          </a:p>
        </p:txBody>
      </p:sp>
      <p:sp>
        <p:nvSpPr>
          <p:cNvPr id="54" name="文字方塊 53">
            <a:extLst>
              <a:ext uri="{FF2B5EF4-FFF2-40B4-BE49-F238E27FC236}">
                <a16:creationId xmlns:a16="http://schemas.microsoft.com/office/drawing/2014/main" id="{27D3AD06-7DBE-97DC-15EC-4664D706492F}"/>
              </a:ext>
            </a:extLst>
          </p:cNvPr>
          <p:cNvSpPr txBox="1"/>
          <p:nvPr/>
        </p:nvSpPr>
        <p:spPr>
          <a:xfrm>
            <a:off x="7087251" y="2716633"/>
            <a:ext cx="150244" cy="215151"/>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55" name="矩形 54">
            <a:extLst>
              <a:ext uri="{FF2B5EF4-FFF2-40B4-BE49-F238E27FC236}">
                <a16:creationId xmlns:a16="http://schemas.microsoft.com/office/drawing/2014/main" id="{75664257-E83C-390B-D81E-3EC4FB47EFAC}"/>
              </a:ext>
            </a:extLst>
          </p:cNvPr>
          <p:cNvSpPr/>
          <p:nvPr/>
        </p:nvSpPr>
        <p:spPr>
          <a:xfrm>
            <a:off x="6727211" y="2079502"/>
            <a:ext cx="362588" cy="1482545"/>
          </a:xfrm>
          <a:prstGeom prst="rect">
            <a:avLst/>
          </a:prstGeom>
          <a:solidFill>
            <a:srgbClr val="FFFF00">
              <a:alpha val="40000"/>
            </a:srgb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400" baseline="-250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z</a:t>
            </a:r>
            <a:endParaRPr lang="en-US" altLang="zh-TW" sz="1400" b="1" baseline="-25000" dirty="0">
              <a:solidFill>
                <a:schemeClr val="bg2">
                  <a:lumMod val="25000"/>
                </a:schemeClr>
              </a:solidFill>
              <a:ea typeface="ADLaM Display" panose="02010000000000000000" pitchFamily="2" charset="0"/>
              <a:cs typeface="ADLaM Display" panose="02010000000000000000" pitchFamily="2" charset="0"/>
            </a:endParaRPr>
          </a:p>
        </p:txBody>
      </p:sp>
      <p:sp>
        <p:nvSpPr>
          <p:cNvPr id="56" name="矩形 55">
            <a:extLst>
              <a:ext uri="{FF2B5EF4-FFF2-40B4-BE49-F238E27FC236}">
                <a16:creationId xmlns:a16="http://schemas.microsoft.com/office/drawing/2014/main" id="{6832FDB9-6C4B-71F1-01BF-D8CDA2DB7B1E}"/>
              </a:ext>
            </a:extLst>
          </p:cNvPr>
          <p:cNvSpPr/>
          <p:nvPr/>
        </p:nvSpPr>
        <p:spPr>
          <a:xfrm rot="5400000">
            <a:off x="7187641" y="2758923"/>
            <a:ext cx="228750" cy="129042"/>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400" b="1" dirty="0">
              <a:solidFill>
                <a:schemeClr val="tx1"/>
              </a:solidFill>
              <a:ea typeface="微軟正黑體" panose="020B0604030504040204" pitchFamily="34" charset="-120"/>
            </a:endParaRPr>
          </a:p>
        </p:txBody>
      </p:sp>
      <p:sp>
        <p:nvSpPr>
          <p:cNvPr id="57" name="文字方塊 56">
            <a:extLst>
              <a:ext uri="{FF2B5EF4-FFF2-40B4-BE49-F238E27FC236}">
                <a16:creationId xmlns:a16="http://schemas.microsoft.com/office/drawing/2014/main" id="{58086032-889F-B3B9-E4E1-385459F211C3}"/>
              </a:ext>
            </a:extLst>
          </p:cNvPr>
          <p:cNvSpPr txBox="1"/>
          <p:nvPr/>
        </p:nvSpPr>
        <p:spPr>
          <a:xfrm>
            <a:off x="6761974" y="1915940"/>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cxnSp>
        <p:nvCxnSpPr>
          <p:cNvPr id="58" name="接點: 弧形 57">
            <a:extLst>
              <a:ext uri="{FF2B5EF4-FFF2-40B4-BE49-F238E27FC236}">
                <a16:creationId xmlns:a16="http://schemas.microsoft.com/office/drawing/2014/main" id="{4A14E8D3-8621-D8E5-BA87-E9B69A98F69D}"/>
              </a:ext>
            </a:extLst>
          </p:cNvPr>
          <p:cNvCxnSpPr>
            <a:cxnSpLocks/>
            <a:endCxn id="56" idx="3"/>
          </p:cNvCxnSpPr>
          <p:nvPr/>
        </p:nvCxnSpPr>
        <p:spPr>
          <a:xfrm flipV="1">
            <a:off x="6674409" y="2937819"/>
            <a:ext cx="627607" cy="11598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ED8EC2C7-3E0F-60BB-B725-5C6A827A8C33}"/>
              </a:ext>
            </a:extLst>
          </p:cNvPr>
          <p:cNvSpPr/>
          <p:nvPr/>
        </p:nvSpPr>
        <p:spPr>
          <a:xfrm>
            <a:off x="7814908" y="2071010"/>
            <a:ext cx="99043" cy="1482545"/>
          </a:xfrm>
          <a:prstGeom prst="rect">
            <a:avLst/>
          </a:prstGeom>
          <a:solidFill>
            <a:schemeClr val="bg2">
              <a:lumMod val="90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P</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Prob.</a:t>
            </a:r>
          </a:p>
        </p:txBody>
      </p:sp>
      <p:sp>
        <p:nvSpPr>
          <p:cNvPr id="60" name="文字方塊 59">
            <a:extLst>
              <a:ext uri="{FF2B5EF4-FFF2-40B4-BE49-F238E27FC236}">
                <a16:creationId xmlns:a16="http://schemas.microsoft.com/office/drawing/2014/main" id="{F89E2BA9-E551-B0A4-D63B-D4E1223528D3}"/>
              </a:ext>
            </a:extLst>
          </p:cNvPr>
          <p:cNvSpPr txBox="1"/>
          <p:nvPr/>
        </p:nvSpPr>
        <p:spPr>
          <a:xfrm>
            <a:off x="7092280"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bg2">
                    <a:lumMod val="25000"/>
                  </a:schemeClr>
                </a:solidFill>
              </a:rPr>
              <a:t>Linear Projection</a:t>
            </a:r>
            <a:endParaRPr lang="en-US" altLang="zh-TW" sz="1200" dirty="0"/>
          </a:p>
          <a:p>
            <a:pPr algn="ct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Semantic space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000" dirty="0">
                <a:sym typeface="Wingdings" panose="05000000000000000000" pitchFamily="2" charset="2"/>
              </a:rPr>
              <a:t>Next token</a:t>
            </a:r>
            <a:endParaRPr lang="zh-TW" altLang="en-US" sz="1000" dirty="0"/>
          </a:p>
        </p:txBody>
      </p:sp>
      <p:sp>
        <p:nvSpPr>
          <p:cNvPr id="61" name="矩形 60">
            <a:extLst>
              <a:ext uri="{FF2B5EF4-FFF2-40B4-BE49-F238E27FC236}">
                <a16:creationId xmlns:a16="http://schemas.microsoft.com/office/drawing/2014/main" id="{01D22422-8722-9DFE-1032-12CC7888F0CF}"/>
              </a:ext>
            </a:extLst>
          </p:cNvPr>
          <p:cNvSpPr/>
          <p:nvPr/>
        </p:nvSpPr>
        <p:spPr>
          <a:xfrm>
            <a:off x="8244408" y="2074471"/>
            <a:ext cx="324184"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25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bg2">
                    <a:lumMod val="25000"/>
                  </a:schemeClr>
                </a:solidFill>
                <a:ea typeface="ADLaM Display" panose="02010000000000000000" pitchFamily="2" charset="0"/>
                <a:cs typeface="ADLaM Display" panose="02010000000000000000" pitchFamily="2" charset="0"/>
              </a:rPr>
              <a:t>vocabulary</a:t>
            </a:r>
          </a:p>
        </p:txBody>
      </p:sp>
      <p:sp>
        <p:nvSpPr>
          <p:cNvPr id="62" name="文字方塊 61">
            <a:extLst>
              <a:ext uri="{FF2B5EF4-FFF2-40B4-BE49-F238E27FC236}">
                <a16:creationId xmlns:a16="http://schemas.microsoft.com/office/drawing/2014/main" id="{6A90E8FD-96E1-F893-7DD0-09859DD965D3}"/>
              </a:ext>
            </a:extLst>
          </p:cNvPr>
          <p:cNvSpPr txBox="1"/>
          <p:nvPr/>
        </p:nvSpPr>
        <p:spPr>
          <a:xfrm>
            <a:off x="8275531" y="1905863"/>
            <a:ext cx="293061" cy="129042"/>
          </a:xfrm>
          <a:prstGeom prst="rect">
            <a:avLst/>
          </a:prstGeom>
          <a:noFill/>
        </p:spPr>
        <p:txBody>
          <a:bodyPr wrap="none" lIns="0" tIns="0" rIns="0" bIns="0" rtlCol="0" anchor="ctr" anchorCtr="1">
            <a:noAutofit/>
          </a:bodyPr>
          <a:lstStyle/>
          <a:p>
            <a:pPr algn="ctr"/>
            <a:r>
              <a:rPr lang="en-US" altLang="zh-TW" sz="1200" b="1" dirty="0"/>
              <a:t>V*d</a:t>
            </a:r>
            <a:endParaRPr lang="zh-TW" altLang="en-US" sz="1200" b="1" dirty="0"/>
          </a:p>
        </p:txBody>
      </p:sp>
      <p:sp>
        <p:nvSpPr>
          <p:cNvPr id="63" name="文字方塊 62">
            <a:extLst>
              <a:ext uri="{FF2B5EF4-FFF2-40B4-BE49-F238E27FC236}">
                <a16:creationId xmlns:a16="http://schemas.microsoft.com/office/drawing/2014/main" id="{1549779F-9D8C-12A8-3D2E-121DCD5430D1}"/>
              </a:ext>
            </a:extLst>
          </p:cNvPr>
          <p:cNvSpPr txBox="1"/>
          <p:nvPr/>
        </p:nvSpPr>
        <p:spPr>
          <a:xfrm>
            <a:off x="7728346" y="1905863"/>
            <a:ext cx="293061" cy="129042"/>
          </a:xfrm>
          <a:prstGeom prst="rect">
            <a:avLst/>
          </a:prstGeom>
          <a:noFill/>
        </p:spPr>
        <p:txBody>
          <a:bodyPr wrap="none" lIns="0" tIns="0" rIns="0" bIns="0" rtlCol="0" anchor="ctr" anchorCtr="1">
            <a:noAutofit/>
          </a:bodyPr>
          <a:lstStyle/>
          <a:p>
            <a:pPr algn="ctr"/>
            <a:r>
              <a:rPr lang="en-US" altLang="zh-TW" sz="1200" b="1" dirty="0"/>
              <a:t>V*1</a:t>
            </a:r>
            <a:endParaRPr lang="zh-TW" altLang="en-US" sz="1200" b="1" dirty="0"/>
          </a:p>
        </p:txBody>
      </p:sp>
      <p:sp>
        <p:nvSpPr>
          <p:cNvPr id="65" name="文字方塊 64">
            <a:extLst>
              <a:ext uri="{FF2B5EF4-FFF2-40B4-BE49-F238E27FC236}">
                <a16:creationId xmlns:a16="http://schemas.microsoft.com/office/drawing/2014/main" id="{7CBA4F9A-7B23-84F2-66A2-C5EFB202C27B}"/>
              </a:ext>
            </a:extLst>
          </p:cNvPr>
          <p:cNvSpPr txBox="1"/>
          <p:nvPr/>
        </p:nvSpPr>
        <p:spPr>
          <a:xfrm>
            <a:off x="533072" y="2071010"/>
            <a:ext cx="352519" cy="1502395"/>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ADLaM Display" panose="02010000000000000000" pitchFamily="2" charset="0"/>
                <a:cs typeface="ADLaM Display" panose="02010000000000000000" pitchFamily="2" charset="0"/>
              </a:rPr>
              <a:t>…</a:t>
            </a:r>
            <a:endParaRPr kumimoji="0" lang="zh-TW" altLang="en-US" sz="1000" b="0" i="0" u="none" strike="noStrike" kern="1200" cap="none" spc="0" normalizeH="0" baseline="0" noProof="0" dirty="0">
              <a:ln>
                <a:noFill/>
              </a:ln>
              <a:solidFill>
                <a:schemeClr val="bg1">
                  <a:lumMod val="50000"/>
                </a:schemeClr>
              </a:solidFill>
              <a:effectLst/>
              <a:uLnTx/>
              <a:uFillTx/>
              <a:latin typeface="ADLaM Display" panose="02010000000000000000" pitchFamily="2" charset="0"/>
              <a:ea typeface="新細明體" panose="02020500000000000000" pitchFamily="18" charset="-120"/>
              <a:cs typeface="ADLaM Display" panose="02010000000000000000" pitchFamily="2" charset="0"/>
            </a:endParaRP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t>
            </a:r>
          </a:p>
          <a:p>
            <a:pPr algn="ctr"/>
            <a:r>
              <a:rPr lang="en-US" altLang="zh-TW" sz="10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dog</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lazy</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over</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jumps</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fox</a:t>
            </a:r>
          </a:p>
          <a:p>
            <a:pPr algn="ctr"/>
            <a:r>
              <a:rPr lang="en-US" altLang="zh-TW" sz="100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sp>
        <p:nvSpPr>
          <p:cNvPr id="89" name="矩形 88">
            <a:extLst>
              <a:ext uri="{FF2B5EF4-FFF2-40B4-BE49-F238E27FC236}">
                <a16:creationId xmlns:a16="http://schemas.microsoft.com/office/drawing/2014/main" id="{5357FF38-719F-1678-8C73-C2830F15A809}"/>
              </a:ext>
            </a:extLst>
          </p:cNvPr>
          <p:cNvSpPr/>
          <p:nvPr/>
        </p:nvSpPr>
        <p:spPr>
          <a:xfrm>
            <a:off x="3779912" y="3187824"/>
            <a:ext cx="274320" cy="457200"/>
          </a:xfrm>
          <a:prstGeom prst="rect">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97" name="文字方塊 96">
            <a:extLst>
              <a:ext uri="{FF2B5EF4-FFF2-40B4-BE49-F238E27FC236}">
                <a16:creationId xmlns:a16="http://schemas.microsoft.com/office/drawing/2014/main" id="{70710644-6C73-9DC4-2ED5-22CF3065CF2C}"/>
              </a:ext>
            </a:extLst>
          </p:cNvPr>
          <p:cNvSpPr txBox="1"/>
          <p:nvPr/>
        </p:nvSpPr>
        <p:spPr>
          <a:xfrm>
            <a:off x="3923928" y="3737709"/>
            <a:ext cx="864000" cy="432000"/>
          </a:xfrm>
          <a:prstGeom prst="rect">
            <a:avLst/>
          </a:prstGeom>
          <a:noFill/>
        </p:spPr>
        <p:txBody>
          <a:bodyPr wrap="none" lIns="0" tIns="0" rIns="0" bIns="0" rtlCol="0" anchor="ctr" anchorCtr="1">
            <a:noAutofit/>
          </a:bodyPr>
          <a:lstStyle/>
          <a:p>
            <a:pPr algn="ctr"/>
            <a:r>
              <a:rPr lang="en-US" altLang="zh-TW" sz="1200" b="1" dirty="0">
                <a:solidFill>
                  <a:schemeClr val="accent2"/>
                </a:solidFill>
              </a:rPr>
              <a:t>Residual</a:t>
            </a:r>
          </a:p>
          <a:p>
            <a:pPr algn="ctr"/>
            <a:r>
              <a:rPr lang="en-US" altLang="zh-TW" sz="1000" dirty="0">
                <a:ln w="0"/>
                <a:solidFill>
                  <a:prstClr val="black"/>
                </a:solidFill>
                <a:latin typeface="Calibri"/>
                <a:ea typeface="新細明體" panose="02020500000000000000" pitchFamily="18" charset="-120"/>
              </a:rPr>
              <a:t>Add</a:t>
            </a:r>
            <a:r>
              <a:rPr kumimoji="0" lang="en-US" altLang="zh-TW" sz="10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(R, </a:t>
            </a:r>
            <a:r>
              <a:rPr lang="en-US" altLang="zh-TW" sz="1000" dirty="0">
                <a:sym typeface="Wingdings" panose="05000000000000000000" pitchFamily="2" charset="2"/>
              </a:rPr>
              <a:t>X</a:t>
            </a:r>
            <a:r>
              <a:rPr lang="en-US" altLang="zh-TW" sz="1000" baseline="-25000" dirty="0">
                <a:sym typeface="Wingdings" panose="05000000000000000000" pitchFamily="2" charset="2"/>
              </a:rPr>
              <a:t>n</a:t>
            </a:r>
            <a:r>
              <a:rPr lang="en-US" altLang="zh-TW" sz="1000" dirty="0">
                <a:sym typeface="Wingdings" panose="05000000000000000000" pitchFamily="2" charset="2"/>
              </a:rPr>
              <a:t>)</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000" dirty="0">
                <a:sym typeface="Wingdings" panose="05000000000000000000" pitchFamily="2" charset="2"/>
              </a:rPr>
              <a:t> X</a:t>
            </a:r>
            <a:r>
              <a:rPr lang="en-US" altLang="zh-TW" sz="1000" baseline="-25000" dirty="0">
                <a:sym typeface="Wingdings" panose="05000000000000000000" pitchFamily="2" charset="2"/>
              </a:rPr>
              <a:t>n+1</a:t>
            </a:r>
            <a:endParaRPr lang="zh-TW" altLang="en-US" sz="1000" dirty="0"/>
          </a:p>
        </p:txBody>
      </p:sp>
      <p:sp>
        <p:nvSpPr>
          <p:cNvPr id="115" name="文字方塊 114">
            <a:extLst>
              <a:ext uri="{FF2B5EF4-FFF2-40B4-BE49-F238E27FC236}">
                <a16:creationId xmlns:a16="http://schemas.microsoft.com/office/drawing/2014/main" id="{0990FE57-347B-07DA-EAEC-0A1F50529771}"/>
              </a:ext>
            </a:extLst>
          </p:cNvPr>
          <p:cNvSpPr txBox="1"/>
          <p:nvPr/>
        </p:nvSpPr>
        <p:spPr>
          <a:xfrm>
            <a:off x="7445840" y="273002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17" name="矩形 116">
            <a:extLst>
              <a:ext uri="{FF2B5EF4-FFF2-40B4-BE49-F238E27FC236}">
                <a16:creationId xmlns:a16="http://schemas.microsoft.com/office/drawing/2014/main" id="{3E3AF772-A3C8-A98D-913B-FA18BE2364FC}"/>
              </a:ext>
            </a:extLst>
          </p:cNvPr>
          <p:cNvSpPr/>
          <p:nvPr/>
        </p:nvSpPr>
        <p:spPr>
          <a:xfrm>
            <a:off x="8259970" y="3238946"/>
            <a:ext cx="293060" cy="157520"/>
          </a:xfrm>
          <a:prstGeom prst="rect">
            <a:avLst/>
          </a:prstGeom>
          <a:solidFill>
            <a:schemeClr val="bg1">
              <a:lumMod val="95000"/>
            </a:schemeClr>
          </a:solidFill>
          <a:ln w="25400">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微軟正黑體" panose="020B0604030504040204" pitchFamily="34" charset="-120"/>
              </a:rPr>
              <a:t>Max</a:t>
            </a:r>
          </a:p>
        </p:txBody>
      </p:sp>
      <p:sp>
        <p:nvSpPr>
          <p:cNvPr id="119" name="矩形 118">
            <a:extLst>
              <a:ext uri="{FF2B5EF4-FFF2-40B4-BE49-F238E27FC236}">
                <a16:creationId xmlns:a16="http://schemas.microsoft.com/office/drawing/2014/main" id="{649BE6FB-9583-6F23-7BA2-BBD937CFE47F}"/>
              </a:ext>
            </a:extLst>
          </p:cNvPr>
          <p:cNvSpPr/>
          <p:nvPr/>
        </p:nvSpPr>
        <p:spPr>
          <a:xfrm>
            <a:off x="2123840"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Attention</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 </a:t>
            </a:r>
          </a:p>
          <a:p>
            <a:pPr>
              <a:lnSpc>
                <a:spcPts val="1600"/>
              </a:lnSpc>
            </a:pPr>
            <a:r>
              <a:rPr lang="en-US" altLang="zh-TW" sz="1200" b="1" dirty="0">
                <a:solidFill>
                  <a:schemeClr val="tx2"/>
                </a:solidFill>
                <a:ea typeface="微軟正黑體" panose="020B0604030504040204" pitchFamily="34" charset="-120"/>
              </a:rPr>
              <a:t>X = X + A</a:t>
            </a:r>
          </a:p>
        </p:txBody>
      </p:sp>
      <p:sp>
        <p:nvSpPr>
          <p:cNvPr id="121" name="矩形 120">
            <a:extLst>
              <a:ext uri="{FF2B5EF4-FFF2-40B4-BE49-F238E27FC236}">
                <a16:creationId xmlns:a16="http://schemas.microsoft.com/office/drawing/2014/main" id="{6146B611-31D0-5910-CF55-828F50333C2C}"/>
              </a:ext>
            </a:extLst>
          </p:cNvPr>
          <p:cNvSpPr/>
          <p:nvPr/>
        </p:nvSpPr>
        <p:spPr>
          <a:xfrm>
            <a:off x="3384044" y="1196816"/>
            <a:ext cx="1008000" cy="576000"/>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RMS (X)</a:t>
            </a:r>
          </a:p>
          <a:p>
            <a:pPr>
              <a:lnSpc>
                <a:spcPts val="1600"/>
              </a:lnSpc>
            </a:pPr>
            <a:r>
              <a:rPr lang="en-US" altLang="zh-TW" sz="1200" b="1" dirty="0">
                <a:solidFill>
                  <a:schemeClr val="tx2"/>
                </a:solidFill>
                <a:ea typeface="微軟正黑體" panose="020B0604030504040204" pitchFamily="34" charset="-120"/>
              </a:rPr>
              <a:t>FFN(X, A, U, D)</a:t>
            </a:r>
          </a:p>
          <a:p>
            <a:pPr>
              <a:lnSpc>
                <a:spcPts val="1600"/>
              </a:lnSpc>
            </a:pPr>
            <a:r>
              <a:rPr lang="en-US" altLang="zh-TW" sz="1200" b="1" dirty="0">
                <a:solidFill>
                  <a:schemeClr val="tx2"/>
                </a:solidFill>
                <a:ea typeface="微軟正黑體" panose="020B0604030504040204" pitchFamily="34" charset="-120"/>
              </a:rPr>
              <a:t>X = R + X</a:t>
            </a:r>
          </a:p>
        </p:txBody>
      </p:sp>
      <p:sp>
        <p:nvSpPr>
          <p:cNvPr id="123" name="矩形 122">
            <a:extLst>
              <a:ext uri="{FF2B5EF4-FFF2-40B4-BE49-F238E27FC236}">
                <a16:creationId xmlns:a16="http://schemas.microsoft.com/office/drawing/2014/main" id="{3F186879-A995-4816-866A-FC32252746E7}"/>
              </a:ext>
            </a:extLst>
          </p:cNvPr>
          <p:cNvSpPr/>
          <p:nvPr/>
        </p:nvSpPr>
        <p:spPr>
          <a:xfrm>
            <a:off x="1115616" y="1196816"/>
            <a:ext cx="648072" cy="328918"/>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Position</a:t>
            </a:r>
          </a:p>
          <a:p>
            <a:pPr>
              <a:lnSpc>
                <a:spcPts val="1600"/>
              </a:lnSpc>
            </a:pPr>
            <a:r>
              <a:rPr lang="en-US" altLang="zh-TW" sz="1200" b="1" dirty="0">
                <a:solidFill>
                  <a:schemeClr val="tx2"/>
                </a:solidFill>
                <a:ea typeface="微軟正黑體" panose="020B0604030504040204" pitchFamily="34" charset="-120"/>
              </a:rPr>
              <a:t>Encoding</a:t>
            </a:r>
          </a:p>
        </p:txBody>
      </p:sp>
      <p:sp>
        <p:nvSpPr>
          <p:cNvPr id="125" name="矩形 124">
            <a:extLst>
              <a:ext uri="{FF2B5EF4-FFF2-40B4-BE49-F238E27FC236}">
                <a16:creationId xmlns:a16="http://schemas.microsoft.com/office/drawing/2014/main" id="{7A5F39D9-D768-3CCB-A2E0-168877F12823}"/>
              </a:ext>
            </a:extLst>
          </p:cNvPr>
          <p:cNvSpPr/>
          <p:nvPr/>
        </p:nvSpPr>
        <p:spPr>
          <a:xfrm>
            <a:off x="6878804" y="1196816"/>
            <a:ext cx="1008000" cy="42734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0">
            <a:noAutofit/>
          </a:bodyPr>
          <a:lstStyle/>
          <a:p>
            <a:pPr>
              <a:lnSpc>
                <a:spcPts val="1600"/>
              </a:lnSpc>
            </a:pPr>
            <a:r>
              <a:rPr lang="en-US" altLang="zh-TW" sz="1200" b="1" dirty="0">
                <a:solidFill>
                  <a:schemeClr val="tx2"/>
                </a:solidFill>
                <a:ea typeface="微軟正黑體" panose="020B0604030504040204" pitchFamily="34" charset="-120"/>
              </a:rPr>
              <a:t>Softmax</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(X)</a:t>
            </a:r>
          </a:p>
          <a:p>
            <a:pPr>
              <a:lnSpc>
                <a:spcPts val="1600"/>
              </a:lnSpc>
            </a:pPr>
            <a:r>
              <a:rPr lang="en-US" altLang="zh-TW" sz="1200" b="1" dirty="0">
                <a:solidFill>
                  <a:schemeClr val="tx2"/>
                </a:solidFill>
                <a:ea typeface="微軟正黑體" panose="020B0604030504040204" pitchFamily="34" charset="-120"/>
              </a:rPr>
              <a:t>Max Prob.</a:t>
            </a:r>
          </a:p>
        </p:txBody>
      </p:sp>
      <p:sp>
        <p:nvSpPr>
          <p:cNvPr id="39" name="文字方塊 38">
            <a:extLst>
              <a:ext uri="{FF2B5EF4-FFF2-40B4-BE49-F238E27FC236}">
                <a16:creationId xmlns:a16="http://schemas.microsoft.com/office/drawing/2014/main" id="{DD237284-F921-8EC2-15F0-53F9DC85BDFD}"/>
              </a:ext>
            </a:extLst>
          </p:cNvPr>
          <p:cNvSpPr txBox="1"/>
          <p:nvPr/>
        </p:nvSpPr>
        <p:spPr>
          <a:xfrm>
            <a:off x="4079149" y="2132856"/>
            <a:ext cx="605603" cy="159764"/>
          </a:xfrm>
          <a:prstGeom prst="rect">
            <a:avLst/>
          </a:prstGeom>
          <a:noFill/>
        </p:spPr>
        <p:txBody>
          <a:bodyPr wrap="none" lIns="0" tIns="0" rIns="0" bIns="0" rtlCol="0" anchor="ctr" anchorCtr="1">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d</a:t>
            </a:r>
            <a:endParaRPr kumimoji="0" lang="zh-TW" altLang="en-US" sz="1200" b="1" i="0" u="none" strike="noStrike" kern="1200" cap="none" spc="0" normalizeH="0" baseline="0" noProof="0" dirty="0">
              <a:ln>
                <a:noFill/>
              </a:ln>
              <a:solidFill>
                <a:prstClr val="black"/>
              </a:solidFill>
              <a:effectLst/>
              <a:uLnTx/>
              <a:uFillTx/>
              <a:ea typeface="新細明體" panose="02020500000000000000" pitchFamily="18" charset="-120"/>
              <a:cs typeface="+mn-cs"/>
            </a:endParaRPr>
          </a:p>
        </p:txBody>
      </p:sp>
      <p:sp>
        <p:nvSpPr>
          <p:cNvPr id="52" name="矩形 51">
            <a:extLst>
              <a:ext uri="{FF2B5EF4-FFF2-40B4-BE49-F238E27FC236}">
                <a16:creationId xmlns:a16="http://schemas.microsoft.com/office/drawing/2014/main" id="{EBD0682A-F808-25C6-D9B9-4980D0572498}"/>
              </a:ext>
            </a:extLst>
          </p:cNvPr>
          <p:cNvSpPr/>
          <p:nvPr/>
        </p:nvSpPr>
        <p:spPr>
          <a:xfrm>
            <a:off x="4248108" y="3187824"/>
            <a:ext cx="274320" cy="457200"/>
          </a:xfrm>
          <a:prstGeom prst="rect">
            <a:avLst/>
          </a:prstGeom>
          <a:solidFill>
            <a:schemeClr val="accent2">
              <a:lumMod val="20000"/>
              <a:lumOff val="80000"/>
            </a:schemeClr>
          </a:solidFill>
          <a:ln w="25400">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nchorCtr="1"/>
          <a:lstStyle/>
          <a:p>
            <a:pPr algn="ctr">
              <a:lnSpc>
                <a:spcPts val="1600"/>
              </a:lnSpc>
            </a:pPr>
            <a:r>
              <a:rPr lang="en-US" altLang="zh-TW" sz="1200" dirty="0">
                <a:solidFill>
                  <a:schemeClr val="tx1">
                    <a:lumMod val="65000"/>
                    <a:lumOff val="35000"/>
                  </a:schemeClr>
                </a:solidFill>
                <a:latin typeface="ADLaM Display" panose="02010000000000000000" pitchFamily="2" charset="0"/>
                <a:ea typeface="ADLaM Display" panose="02010000000000000000" pitchFamily="2" charset="0"/>
                <a:cs typeface="ADLaM Display" panose="02010000000000000000" pitchFamily="2" charset="0"/>
              </a:rPr>
              <a:t>R</a:t>
            </a:r>
          </a:p>
        </p:txBody>
      </p:sp>
      <p:sp>
        <p:nvSpPr>
          <p:cNvPr id="67" name="文字方塊 66">
            <a:extLst>
              <a:ext uri="{FF2B5EF4-FFF2-40B4-BE49-F238E27FC236}">
                <a16:creationId xmlns:a16="http://schemas.microsoft.com/office/drawing/2014/main" id="{CCC2D414-852F-3FE7-9DC0-89A69FD395F0}"/>
              </a:ext>
            </a:extLst>
          </p:cNvPr>
          <p:cNvSpPr txBox="1"/>
          <p:nvPr/>
        </p:nvSpPr>
        <p:spPr>
          <a:xfrm rot="5400000">
            <a:off x="4290217" y="2886080"/>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68" name="十字形 67">
            <a:extLst>
              <a:ext uri="{FF2B5EF4-FFF2-40B4-BE49-F238E27FC236}">
                <a16:creationId xmlns:a16="http://schemas.microsoft.com/office/drawing/2014/main" id="{145DEE16-EB6F-4035-961B-D9CA4DA12F6A}"/>
              </a:ext>
            </a:extLst>
          </p:cNvPr>
          <p:cNvSpPr/>
          <p:nvPr/>
        </p:nvSpPr>
        <p:spPr>
          <a:xfrm>
            <a:off x="4093330" y="3296532"/>
            <a:ext cx="132956" cy="125317"/>
          </a:xfrm>
          <a:prstGeom prst="plus">
            <a:avLst>
              <a:gd name="adj" fmla="val 36556"/>
            </a:avLst>
          </a:prstGeom>
          <a:solidFill>
            <a:schemeClr val="tx1">
              <a:lumMod val="50000"/>
              <a:lumOff val="50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70" name="接點: 肘形 69">
            <a:extLst>
              <a:ext uri="{FF2B5EF4-FFF2-40B4-BE49-F238E27FC236}">
                <a16:creationId xmlns:a16="http://schemas.microsoft.com/office/drawing/2014/main" id="{E05A9245-E13F-CE4C-E982-2F199766CF39}"/>
              </a:ext>
            </a:extLst>
          </p:cNvPr>
          <p:cNvCxnSpPr>
            <a:stCxn id="13" idx="2"/>
            <a:endCxn id="89" idx="1"/>
          </p:cNvCxnSpPr>
          <p:nvPr/>
        </p:nvCxnSpPr>
        <p:spPr>
          <a:xfrm rot="16200000" flipH="1">
            <a:off x="2696474" y="2332986"/>
            <a:ext cx="372080" cy="1794795"/>
          </a:xfrm>
          <a:prstGeom prst="bentConnector2">
            <a:avLst/>
          </a:prstGeom>
          <a:ln w="22225">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C674EB33-6561-8356-79AD-1532190CD138}"/>
              </a:ext>
            </a:extLst>
          </p:cNvPr>
          <p:cNvSpPr/>
          <p:nvPr/>
        </p:nvSpPr>
        <p:spPr>
          <a:xfrm>
            <a:off x="2261264" y="3202071"/>
            <a:ext cx="274320" cy="274320"/>
          </a:xfrm>
          <a:prstGeom prst="rect">
            <a:avLst/>
          </a:prstGeom>
          <a:solidFill>
            <a:schemeClr val="accent3">
              <a:lumMod val="20000"/>
              <a:lumOff val="80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20" name="文字方塊 19">
            <a:extLst>
              <a:ext uri="{FF2B5EF4-FFF2-40B4-BE49-F238E27FC236}">
                <a16:creationId xmlns:a16="http://schemas.microsoft.com/office/drawing/2014/main" id="{8821CD1F-7007-F075-AB29-57AF18B103CE}"/>
              </a:ext>
            </a:extLst>
          </p:cNvPr>
          <p:cNvSpPr txBox="1"/>
          <p:nvPr/>
        </p:nvSpPr>
        <p:spPr>
          <a:xfrm>
            <a:off x="2117701" y="3247791"/>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22" name="文字方塊 21">
            <a:extLst>
              <a:ext uri="{FF2B5EF4-FFF2-40B4-BE49-F238E27FC236}">
                <a16:creationId xmlns:a16="http://schemas.microsoft.com/office/drawing/2014/main" id="{424EF0F9-EF13-9A07-2DEF-03514B5F77A3}"/>
              </a:ext>
            </a:extLst>
          </p:cNvPr>
          <p:cNvSpPr txBox="1"/>
          <p:nvPr/>
        </p:nvSpPr>
        <p:spPr>
          <a:xfrm>
            <a:off x="2586154" y="3247791"/>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25" name="文字方塊 24">
            <a:extLst>
              <a:ext uri="{FF2B5EF4-FFF2-40B4-BE49-F238E27FC236}">
                <a16:creationId xmlns:a16="http://schemas.microsoft.com/office/drawing/2014/main" id="{A5877399-946F-01F7-2CC1-62FAE6998D3B}"/>
              </a:ext>
            </a:extLst>
          </p:cNvPr>
          <p:cNvSpPr txBox="1"/>
          <p:nvPr/>
        </p:nvSpPr>
        <p:spPr>
          <a:xfrm>
            <a:off x="2779032" y="3116352"/>
            <a:ext cx="274320" cy="457054"/>
          </a:xfrm>
          <a:prstGeom prst="rect">
            <a:avLst/>
          </a:prstGeom>
          <a:solidFill>
            <a:schemeClr val="accent3">
              <a:lumMod val="20000"/>
              <a:lumOff val="80000"/>
            </a:schemeClr>
          </a:solidFill>
          <a:ln w="25400">
            <a:solidFill>
              <a:schemeClr val="bg1">
                <a:lumMod val="75000"/>
              </a:schemeClr>
            </a:solidFill>
          </a:ln>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7" name="文字方塊 6">
            <a:extLst>
              <a:ext uri="{FF2B5EF4-FFF2-40B4-BE49-F238E27FC236}">
                <a16:creationId xmlns:a16="http://schemas.microsoft.com/office/drawing/2014/main" id="{1F872557-5661-EA42-4B4C-63AFF79C9102}"/>
              </a:ext>
            </a:extLst>
          </p:cNvPr>
          <p:cNvSpPr txBox="1"/>
          <p:nvPr/>
        </p:nvSpPr>
        <p:spPr>
          <a:xfrm>
            <a:off x="287524" y="4869160"/>
            <a:ext cx="8546660" cy="707886"/>
          </a:xfrm>
          <a:prstGeom prst="rect">
            <a:avLst/>
          </a:prstGeom>
          <a:noFill/>
        </p:spPr>
        <p:txBody>
          <a:bodyPr wrap="square">
            <a:spAutoFit/>
          </a:bodyPr>
          <a:lstStyle/>
          <a:p>
            <a:pPr marL="285750" indent="-285750">
              <a:lnSpc>
                <a:spcPts val="1800"/>
              </a:lnSpc>
              <a:spcBef>
                <a:spcPts val="600"/>
              </a:spcBef>
              <a:spcAft>
                <a:spcPts val="600"/>
              </a:spcAft>
              <a:buFont typeface="Wingdings" panose="05000000000000000000" pitchFamily="2" charset="2"/>
              <a:buChar char="Ø"/>
            </a:pPr>
            <a:r>
              <a:rPr lang="en-US" altLang="zh-TW" sz="1600" b="1" dirty="0"/>
              <a:t>Linear Combination</a:t>
            </a:r>
            <a:r>
              <a:rPr lang="en-US" altLang="zh-TW" sz="1600" dirty="0"/>
              <a:t>: Feature extraction, semantic fusion.</a:t>
            </a:r>
          </a:p>
          <a:p>
            <a:pPr marL="285750" indent="-285750">
              <a:lnSpc>
                <a:spcPts val="1800"/>
              </a:lnSpc>
              <a:spcBef>
                <a:spcPts val="600"/>
              </a:spcBef>
              <a:spcAft>
                <a:spcPts val="600"/>
              </a:spcAft>
              <a:buFont typeface="Wingdings" panose="05000000000000000000" pitchFamily="2" charset="2"/>
              <a:buChar char="Ø"/>
            </a:pPr>
            <a:r>
              <a:rPr lang="en-US" altLang="zh-TW" sz="1600" b="1" dirty="0"/>
              <a:t>Non-linear Activation</a:t>
            </a:r>
            <a:r>
              <a:rPr lang="en-US" altLang="zh-TW" sz="1600" dirty="0"/>
              <a:t>: Noise filtering, modeling capabilities, collapse prevention. </a:t>
            </a:r>
          </a:p>
        </p:txBody>
      </p:sp>
      <p:sp>
        <p:nvSpPr>
          <p:cNvPr id="38" name="矩形: 圓角 37">
            <a:extLst>
              <a:ext uri="{FF2B5EF4-FFF2-40B4-BE49-F238E27FC236}">
                <a16:creationId xmlns:a16="http://schemas.microsoft.com/office/drawing/2014/main" id="{D27EB96D-FE85-B4FB-4DD0-66E8245F8C40}"/>
              </a:ext>
            </a:extLst>
          </p:cNvPr>
          <p:cNvSpPr/>
          <p:nvPr/>
        </p:nvSpPr>
        <p:spPr>
          <a:xfrm>
            <a:off x="4179437" y="2316941"/>
            <a:ext cx="378823" cy="457201"/>
          </a:xfrm>
          <a:prstGeom prst="roundRect">
            <a:avLst/>
          </a:prstGeom>
          <a:solidFill>
            <a:schemeClr val="accent5">
              <a:lumMod val="20000"/>
              <a:lumOff val="80000"/>
            </a:schemeClr>
          </a:solidFill>
          <a:ln w="25400">
            <a:solidFill>
              <a:schemeClr val="accent5">
                <a:lumMod val="60000"/>
                <a:lumOff val="40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accent5">
                    <a:lumMod val="50000"/>
                  </a:schemeClr>
                </a:solidFill>
                <a:latin typeface="ADLaM Display" panose="02010000000000000000" pitchFamily="2" charset="0"/>
                <a:ea typeface="ADLaM Display" panose="02010000000000000000" pitchFamily="2" charset="0"/>
                <a:cs typeface="ADLaM Display" panose="02010000000000000000" pitchFamily="2" charset="0"/>
              </a:rPr>
              <a:t>MoE</a:t>
            </a:r>
            <a:endParaRPr lang="zh-TW" altLang="en-US" sz="1200" dirty="0">
              <a:solidFill>
                <a:schemeClr val="accent5">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401002270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406953" y="4233895"/>
            <a:ext cx="92261" cy="2264998"/>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pic>
        <p:nvPicPr>
          <p:cNvPr id="9" name="圖片 8">
            <a:extLst>
              <a:ext uri="{FF2B5EF4-FFF2-40B4-BE49-F238E27FC236}">
                <a16:creationId xmlns:a16="http://schemas.microsoft.com/office/drawing/2014/main" id="{4FCB9C1E-BD83-7515-69C1-1B6325EEED85}"/>
              </a:ext>
            </a:extLst>
          </p:cNvPr>
          <p:cNvPicPr>
            <a:picLocks noChangeAspect="1"/>
          </p:cNvPicPr>
          <p:nvPr/>
        </p:nvPicPr>
        <p:blipFill>
          <a:blip r:embed="rId8"/>
          <a:stretch>
            <a:fillRect/>
          </a:stretch>
        </p:blipFill>
        <p:spPr>
          <a:xfrm>
            <a:off x="316790" y="4336932"/>
            <a:ext cx="468845" cy="612186"/>
          </a:xfrm>
          <a:prstGeom prst="rect">
            <a:avLst/>
          </a:prstGeom>
        </p:spPr>
      </p:pic>
      <p:pic>
        <p:nvPicPr>
          <p:cNvPr id="17" name="圖片 16">
            <a:extLst>
              <a:ext uri="{FF2B5EF4-FFF2-40B4-BE49-F238E27FC236}">
                <a16:creationId xmlns:a16="http://schemas.microsoft.com/office/drawing/2014/main" id="{46C41939-65F1-FE38-C585-CF9508F23DA2}"/>
              </a:ext>
            </a:extLst>
          </p:cNvPr>
          <p:cNvPicPr>
            <a:picLocks noChangeAspect="1"/>
          </p:cNvPicPr>
          <p:nvPr/>
        </p:nvPicPr>
        <p:blipFill>
          <a:blip r:embed="rId9"/>
          <a:stretch>
            <a:fillRect/>
          </a:stretch>
        </p:blipFill>
        <p:spPr>
          <a:xfrm>
            <a:off x="155125" y="5589654"/>
            <a:ext cx="798718" cy="535293"/>
          </a:xfrm>
          <a:prstGeom prst="rect">
            <a:avLst/>
          </a:prstGeom>
        </p:spPr>
      </p:pic>
      <p:sp>
        <p:nvSpPr>
          <p:cNvPr id="25" name="文字方塊 24">
            <a:extLst>
              <a:ext uri="{FF2B5EF4-FFF2-40B4-BE49-F238E27FC236}">
                <a16:creationId xmlns:a16="http://schemas.microsoft.com/office/drawing/2014/main" id="{FB93C9DF-226A-624A-016D-BFEFE3941329}"/>
              </a:ext>
            </a:extLst>
          </p:cNvPr>
          <p:cNvSpPr txBox="1"/>
          <p:nvPr/>
        </p:nvSpPr>
        <p:spPr>
          <a:xfrm>
            <a:off x="0" y="6090806"/>
            <a:ext cx="1152128"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LLaMA</a:t>
            </a:r>
            <a:r>
              <a:rPr lang="en-US" altLang="zh-TW" sz="1200" b="1" cap="none" spc="0" dirty="0">
                <a:ln w="0"/>
                <a:solidFill>
                  <a:schemeClr val="tx1"/>
                </a:solidFill>
                <a:effectLst/>
                <a:latin typeface="+mn-lt"/>
              </a:rPr>
              <a:t>-Factory</a:t>
            </a:r>
          </a:p>
          <a:p>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sp>
        <p:nvSpPr>
          <p:cNvPr id="27" name="文字方塊 26">
            <a:extLst>
              <a:ext uri="{FF2B5EF4-FFF2-40B4-BE49-F238E27FC236}">
                <a16:creationId xmlns:a16="http://schemas.microsoft.com/office/drawing/2014/main" id="{A78A6CE1-C8FB-08B8-BB5A-1A02D7F0D4CB}"/>
              </a:ext>
            </a:extLst>
          </p:cNvPr>
          <p:cNvSpPr txBox="1"/>
          <p:nvPr/>
        </p:nvSpPr>
        <p:spPr>
          <a:xfrm>
            <a:off x="21390" y="4911551"/>
            <a:ext cx="1066189" cy="461665"/>
          </a:xfrm>
          <a:prstGeom prst="rect">
            <a:avLst/>
          </a:prstGeom>
          <a:noFill/>
        </p:spPr>
        <p:txBody>
          <a:bodyPr wrap="none" tIns="0" rIns="0" bIns="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Axolotl</a:t>
            </a:r>
            <a:r>
              <a:rPr lang="zh-TW" altLang="en-US" sz="1200" b="1" cap="none" spc="0" dirty="0">
                <a:ln w="0"/>
                <a:solidFill>
                  <a:schemeClr val="tx1"/>
                </a:solidFill>
                <a:effectLst/>
                <a:latin typeface="+mn-lt"/>
              </a:rPr>
              <a:t> </a:t>
            </a:r>
            <a:r>
              <a:rPr kumimoji="0" lang="zh-TW" altLang="zh-TW" sz="1000" b="1"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美西螈</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/ˈæk.sə.lɑ.təl/</a:t>
            </a:r>
            <a:endParaRPr lang="en-US" altLang="zh-TW" sz="1200" b="0" i="0" kern="1200" dirty="0">
              <a:solidFill>
                <a:schemeClr val="tx1"/>
              </a:solidFill>
              <a:effectLst/>
              <a:latin typeface="+mn-lt"/>
              <a:ea typeface="+mn-ea"/>
              <a:cs typeface="+mn-cs"/>
            </a:endParaRPr>
          </a:p>
        </p:txBody>
      </p:sp>
      <p:sp>
        <p:nvSpPr>
          <p:cNvPr id="29" name="文字方塊 28">
            <a:extLst>
              <a:ext uri="{FF2B5EF4-FFF2-40B4-BE49-F238E27FC236}">
                <a16:creationId xmlns:a16="http://schemas.microsoft.com/office/drawing/2014/main" id="{D4729018-1274-88CF-2C19-525CAEF18D23}"/>
              </a:ext>
            </a:extLst>
          </p:cNvPr>
          <p:cNvSpPr txBox="1"/>
          <p:nvPr/>
        </p:nvSpPr>
        <p:spPr>
          <a:xfrm>
            <a:off x="81198" y="3759423"/>
            <a:ext cx="1107996" cy="461665"/>
          </a:xfrm>
          <a:prstGeom prst="rect">
            <a:avLst/>
          </a:prstGeom>
          <a:noFill/>
        </p:spPr>
        <p:txBody>
          <a:bodyPr wrap="none" tIns="0" rIns="0" bIns="0" anchor="ctr" anchorCtr="0">
            <a:noAutofit/>
          </a:bodyPr>
          <a:lstStyle/>
          <a:p>
            <a:r>
              <a:rPr lang="en-US" altLang="zh-TW" sz="1200" b="1" cap="none" spc="0" dirty="0" err="1">
                <a:ln w="0"/>
                <a:solidFill>
                  <a:schemeClr val="tx1"/>
                </a:solidFill>
                <a:effectLst/>
                <a:latin typeface="+mn-lt"/>
              </a:rPr>
              <a:t>Unsloth</a:t>
            </a:r>
            <a:r>
              <a:rPr lang="zh-TW" altLang="en-US" sz="1200" b="1" dirty="0">
                <a:ln w="0"/>
              </a:rPr>
              <a:t> </a:t>
            </a:r>
            <a:r>
              <a:rPr kumimoji="0" lang="zh-TW" altLang="en-US"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非</a:t>
            </a:r>
            <a:r>
              <a:rPr kumimoji="0" lang="zh-TW" altLang="zh-TW" sz="10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樹懶</a:t>
            </a:r>
            <a:endParaRPr lang="en-US" altLang="zh-TW" sz="1200" b="1" cap="none" spc="0" dirty="0">
              <a:ln w="0"/>
              <a:solidFill>
                <a:schemeClr val="tx1"/>
              </a:solidFill>
              <a:effectLst/>
              <a:latin typeface="+mn-lt"/>
            </a:endParaRPr>
          </a:p>
          <a:p>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p:txBody>
      </p:sp>
      <p:pic>
        <p:nvPicPr>
          <p:cNvPr id="31" name="圖片 30">
            <a:extLst>
              <a:ext uri="{FF2B5EF4-FFF2-40B4-BE49-F238E27FC236}">
                <a16:creationId xmlns:a16="http://schemas.microsoft.com/office/drawing/2014/main" id="{3ED4EA63-09FB-0009-22B8-3197E9792C2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60040" y="3276713"/>
            <a:ext cx="432048" cy="432047"/>
          </a:xfrm>
          <a:prstGeom prst="rect">
            <a:avLst/>
          </a:prstGeom>
          <a:effectLst>
            <a:glow rad="76200">
              <a:srgbClr val="00B050">
                <a:alpha val="40000"/>
              </a:srgbClr>
            </a:glow>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564</TotalTime>
  <Words>15259</Words>
  <Application>Microsoft Office PowerPoint</Application>
  <PresentationFormat>如螢幕大小 (4:3)</PresentationFormat>
  <Paragraphs>2720</Paragraphs>
  <Slides>41</Slides>
  <Notes>35</Notes>
  <HiddenSlides>1</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41</vt:i4>
      </vt:variant>
    </vt:vector>
  </HeadingPairs>
  <TitlesOfParts>
    <vt:vector size="59" baseType="lpstr">
      <vt:lpstr>Google Sans</vt:lpstr>
      <vt:lpstr>Meiryo</vt:lpstr>
      <vt:lpstr>Microsoft GothicNeo</vt:lpstr>
      <vt:lpstr>Microsoft YaHei Mono</vt:lpstr>
      <vt:lpstr>Noto Sans HK</vt:lpstr>
      <vt:lpstr>STXingkai</vt:lpstr>
      <vt:lpstr>微軟正黑體</vt:lpstr>
      <vt:lpstr>微軟正黑體 Light</vt:lpstr>
      <vt:lpstr>新細明體</vt:lpstr>
      <vt:lpstr>ADLaM Display</vt:lpstr>
      <vt:lpstr>Arial</vt:lpstr>
      <vt:lpstr>Calibri</vt:lpstr>
      <vt:lpstr>Cambria Math</vt:lpstr>
      <vt:lpstr>Comic Sans MS</vt:lpstr>
      <vt:lpstr>Consolas</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1938</cp:revision>
  <cp:lastPrinted>2024-07-30T01:44:15Z</cp:lastPrinted>
  <dcterms:created xsi:type="dcterms:W3CDTF">2019-11-08T03:01:47Z</dcterms:created>
  <dcterms:modified xsi:type="dcterms:W3CDTF">2026-09-14T09:42:27Z</dcterms:modified>
</cp:coreProperties>
</file>