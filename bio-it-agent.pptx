
<file path=[Content_Types].xml><?xml version="1.0" encoding="utf-8"?>
<Types xmlns="http://schemas.openxmlformats.org/package/2006/content-types"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3459" r:id="rId2"/>
    <p:sldId id="3472" r:id="rId3"/>
    <p:sldId id="3518" r:id="rId4"/>
    <p:sldId id="3521" r:id="rId5"/>
    <p:sldId id="3519" r:id="rId6"/>
    <p:sldId id="3520" r:id="rId7"/>
    <p:sldId id="3517" r:id="rId8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  <p14:sldId id="3518"/>
            <p14:sldId id="3521"/>
            <p14:sldId id="3519"/>
            <p14:sldId id="3520"/>
            <p14:sldId id="351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E6F2"/>
    <a:srgbClr val="FF0000"/>
    <a:srgbClr val="FFFF99"/>
    <a:srgbClr val="E3C0AB"/>
    <a:srgbClr val="F3E4DB"/>
    <a:srgbClr val="FFCC99"/>
    <a:srgbClr val="CBDCA8"/>
    <a:srgbClr val="C5D8A0"/>
    <a:srgbClr val="CCFF66"/>
    <a:srgbClr val="DBFF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27" autoAdjust="0"/>
    <p:restoredTop sz="38667" autoAdjust="0"/>
  </p:normalViewPr>
  <p:slideViewPr>
    <p:cSldViewPr>
      <p:cViewPr>
        <p:scale>
          <a:sx n="100" d="100"/>
          <a:sy n="100" d="100"/>
        </p:scale>
        <p:origin x="768" y="73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2026/7/17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2026/7/17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2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7.07467v1" TargetMode="External"/><Relationship Id="rId2" Type="http://schemas.openxmlformats.org/officeDocument/2006/relationships/hyperlink" Target="https://pubmed.ncbi.nlm.nih.gov/40236029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iorxiv.org/content/10.64898/2025.12.11.693669" TargetMode="External"/><Relationship Id="rId2" Type="http://schemas.openxmlformats.org/officeDocument/2006/relationships/hyperlink" Target="https://www.insideprecisionmedicine.com/topics/oncology/novel-ai-tool-enables-spatial-quantification-of-tumor-biopsy-images/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transgen.med.upenn.edu/research/ai-driven-spatial-omics/" TargetMode="External"/><Relationship Id="rId2" Type="http://schemas.openxmlformats.org/officeDocument/2006/relationships/hyperlink" Target="https://www.nature.com/articles/s41591-025-04060-4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civicdb.org/" TargetMode="External"/><Relationship Id="rId2" Type="http://schemas.openxmlformats.org/officeDocument/2006/relationships/hyperlink" Target="https://www.oncokb.or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medskills.qingsonghealth.com/skills/spatial-transcriptomics-agent" TargetMode="External"/><Relationship Id="rId2" Type="http://schemas.openxmlformats.org/officeDocument/2006/relationships/hyperlink" Target="https://github.com/LiuLab-Bioelectronics-Harvard/STAgent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aEUop05RINY" TargetMode="External"/><Relationship Id="rId4" Type="http://schemas.openxmlformats.org/officeDocument/2006/relationships/hyperlink" Target="https://www.linkedin.com/posts/zuwan-lin-545b1b214_spatial-transcriptomics-ai-agent-charts-hpsc-pancreas-activity-7314038901742927872-5MG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BIO-IT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Agent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 err="1">
                <a:sym typeface="Wingdings" panose="05000000000000000000" pitchFamily="2" charset="2"/>
              </a:rPr>
              <a:t>Centrillion</a:t>
            </a:r>
            <a:r>
              <a:rPr lang="en-US" altLang="zh-TW" sz="1200" b="1" dirty="0">
                <a:sym typeface="Wingdings" panose="05000000000000000000" pitchFamily="2" charset="2"/>
              </a:rPr>
              <a:t> Tech	</a:t>
            </a:r>
            <a:r>
              <a:rPr lang="en-US" altLang="zh-TW" sz="1000" dirty="0">
                <a:sym typeface="Wingdings" panose="05000000000000000000" pitchFamily="2" charset="2"/>
              </a:rPr>
              <a:t>	Bio-Info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129266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47373A5A-8B35-4E4C-4D4B-0AA5B5D35F64}"/>
              </a:ext>
            </a:extLst>
          </p:cNvPr>
          <p:cNvSpPr txBox="1"/>
          <p:nvPr/>
        </p:nvSpPr>
        <p:spPr>
          <a:xfrm>
            <a:off x="16396" y="0"/>
            <a:ext cx="4572000" cy="1284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2025 年起，科學界已陸續發表了如 </a:t>
            </a:r>
            <a:r>
              <a:rPr lang="zh-TW" altLang="zh-TW" sz="1200" b="0" u="none" strike="noStrike" dirty="0">
                <a:effectLst/>
                <a:latin typeface="Google Sans"/>
                <a:hlinkClick r:id="rId2"/>
              </a:rPr>
              <a:t>STAgent</a:t>
            </a:r>
            <a:r>
              <a:rPr lang="zh-TW" altLang="zh-TW" sz="1200" b="0" u="none" strike="noStrike" dirty="0">
                <a:effectLst/>
                <a:latin typeface="Google Sans"/>
              </a:rPr>
              <a:t>、</a:t>
            </a:r>
            <a:r>
              <a:rPr lang="zh-TW" altLang="zh-TW" sz="1200" b="0" u="none" strike="noStrike" dirty="0">
                <a:effectLst/>
                <a:latin typeface="Google Sans"/>
                <a:hlinkClick r:id="rId3"/>
              </a:rPr>
              <a:t>SpaCellAgent</a:t>
            </a:r>
            <a:r>
              <a:rPr lang="zh-TW" altLang="zh-TW" sz="1200" b="0" u="none" strike="noStrike" dirty="0">
                <a:effectLst/>
                <a:latin typeface="Google Sans"/>
              </a:rPr>
              <a:t> 等突破性模型，證明了利用 AI Agent 自動化分析組織影像與空間定序數據、並給出臨床解讀的架構是完全走得通的。 [</a:t>
            </a:r>
            <a:r>
              <a:rPr lang="zh-TW" altLang="zh-TW" sz="1200" b="0" u="none" strike="noStrike" dirty="0">
                <a:effectLst/>
                <a:latin typeface="Google Sans"/>
                <a:hlinkClick r:id="rId2"/>
              </a:rPr>
              <a:t>1</a:t>
            </a:r>
            <a:r>
              <a:rPr lang="zh-TW" altLang="zh-TW" sz="1200" b="0" u="none" strike="noStrike" dirty="0">
                <a:effectLst/>
                <a:latin typeface="Google Sans"/>
              </a:rPr>
              <a:t>, </a:t>
            </a:r>
            <a:r>
              <a:rPr lang="zh-TW" altLang="zh-TW" sz="1200" b="0" u="none" strike="noStrike" dirty="0">
                <a:effectLst/>
                <a:latin typeface="Google Sans"/>
                <a:hlinkClick r:id="rId3"/>
              </a:rPr>
              <a:t>2</a:t>
            </a:r>
            <a:r>
              <a:rPr lang="zh-TW" altLang="zh-TW" sz="1200" b="0" u="none" strike="noStrike" dirty="0">
                <a:effectLst/>
                <a:latin typeface="Google Sans"/>
              </a:rPr>
              <a:t>]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要實現這個極具潛力的構想，您的 AI Agent 需要具備以下底層架構，同時也必須克服相應的技術挑戰：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E52BC1B-AF24-9BC0-A0BC-F8E96F42D463}"/>
              </a:ext>
            </a:extLst>
          </p:cNvPr>
          <p:cNvSpPr txBox="1"/>
          <p:nvPr/>
        </p:nvSpPr>
        <p:spPr>
          <a:xfrm>
            <a:off x="395536" y="1518027"/>
            <a:ext cx="4572000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zh-TW" sz="1500" b="1" u="none" strike="noStrike" dirty="0">
                <a:effectLst/>
                <a:latin typeface="Google Sans"/>
              </a:rPr>
              <a:t>核心架構：AI Agent 如何運作？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您的問診 AI Agent 不能只靠一個 ChatGPT 類型的純文字模型，它必須是一個</a:t>
            </a:r>
            <a:r>
              <a:rPr lang="zh-TW" altLang="zh-TW" sz="1200" b="1" u="none" strike="noStrike" dirty="0">
                <a:effectLst/>
                <a:latin typeface="Google Sans"/>
              </a:rPr>
              <a:t>多模態的複合系統</a:t>
            </a:r>
            <a:r>
              <a:rPr lang="zh-TW" altLang="zh-TW" sz="1200" b="0" u="none" strike="noStrike" dirty="0">
                <a:effectLst/>
                <a:latin typeface="Google Sans"/>
              </a:rPr>
              <a:t>，通常包含以下三個核心層級</a:t>
            </a:r>
            <a:endParaRPr lang="en-US" altLang="zh-TW" sz="1200" b="0" u="none" strike="noStrike" dirty="0">
              <a:effectLst/>
              <a:latin typeface="Google Sans"/>
            </a:endParaRP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endParaRPr lang="en-US" altLang="zh-TW" sz="1200" dirty="0">
              <a:latin typeface="Google Sans"/>
            </a:endParaRP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200" b="0" u="none" strike="noStrike">
                <a:effectLst/>
                <a:latin typeface="Google Sans"/>
              </a:rPr>
              <a:t>已經有的系統</a:t>
            </a:r>
            <a:endParaRPr lang="zh-TW" altLang="zh-TW" sz="1200" b="0" u="none" strike="noStrike" dirty="0">
              <a:effectLst/>
              <a:latin typeface="Google Sans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78FD5A1-81A3-FADA-268B-9B17C5FF48ED}"/>
              </a:ext>
            </a:extLst>
          </p:cNvPr>
          <p:cNvSpPr txBox="1"/>
          <p:nvPr/>
        </p:nvSpPr>
        <p:spPr>
          <a:xfrm>
            <a:off x="251520" y="4093403"/>
            <a:ext cx="3445024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*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感知與特徵提取層 (Perception Layer) </a:t>
            </a:r>
            <a:b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*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病理大模型 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視覺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): 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提取 H&amp;E 切片微環境特徵</a:t>
            </a:r>
            <a:b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*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空間組學模型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數據): 識別細胞聚類與基因矩陣</a:t>
            </a:r>
            <a:endParaRPr lang="zh-TW" alt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B0F4FF4A-5E78-A356-45BB-108C224742C8}"/>
              </a:ext>
            </a:extLst>
          </p:cNvPr>
          <p:cNvSpPr txBox="1"/>
          <p:nvPr/>
        </p:nvSpPr>
        <p:spPr>
          <a:xfrm>
            <a:off x="251520" y="5054560"/>
            <a:ext cx="3445024" cy="64633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* 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思考與規劃大腦 (LLM Agent Brain)</a:t>
            </a:r>
            <a:endParaRPr lang="en-US" altLang="zh-TW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* 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呼叫計算工具 (如 Scanpy / Seurat 跑分析)</a:t>
            </a:r>
            <a:b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*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檢索醫學文獻 (RAG) 尋找特定突變與藥物關係 </a:t>
            </a:r>
            <a:endParaRPr lang="zh-TW" alt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DE8CB52-CE31-2E02-2A59-3B2DE2F0888F}"/>
              </a:ext>
            </a:extLst>
          </p:cNvPr>
          <p:cNvSpPr txBox="1"/>
          <p:nvPr/>
        </p:nvSpPr>
        <p:spPr>
          <a:xfrm>
            <a:off x="713334" y="5848727"/>
            <a:ext cx="2281758" cy="46166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精準醫療問診解答、腫瘤微環境圖表、治療建議</a:t>
            </a:r>
            <a:endParaRPr lang="zh-TW" alt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30D8ED11-C401-96A3-079D-669C4D65EE49}"/>
              </a:ext>
            </a:extLst>
          </p:cNvPr>
          <p:cNvSpPr txBox="1"/>
          <p:nvPr/>
        </p:nvSpPr>
        <p:spPr>
          <a:xfrm>
            <a:off x="745754" y="4768224"/>
            <a:ext cx="16124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zh-TW" sz="1200" dirty="0"/>
              <a:t> (多模態特徵對齊) </a:t>
            </a:r>
            <a:endParaRPr lang="en-US" altLang="zh-TW" sz="1200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371D88D-D6D1-AB1B-14E0-25D37481F646}"/>
              </a:ext>
            </a:extLst>
          </p:cNvPr>
          <p:cNvSpPr txBox="1"/>
          <p:nvPr/>
        </p:nvSpPr>
        <p:spPr>
          <a:xfrm>
            <a:off x="716807" y="3328447"/>
            <a:ext cx="2278285" cy="46166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病理圖片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空間定序 CSV/BAM</a:t>
            </a:r>
            <a:r>
              <a:rPr lang="en-US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臨床問題</a:t>
            </a:r>
            <a:endParaRPr lang="zh-TW" alt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0300F95D-991D-C471-C060-F16E57122A6A}"/>
              </a:ext>
            </a:extLst>
          </p:cNvPr>
          <p:cNvSpPr txBox="1"/>
          <p:nvPr/>
        </p:nvSpPr>
        <p:spPr>
          <a:xfrm>
            <a:off x="2843808" y="2726055"/>
            <a:ext cx="4576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/>
              <a:t>https://pubmed.ncbi.nlm.nih.gov/40236029/</a:t>
            </a:r>
            <a:endParaRPr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61E43B6B-E35B-6BDF-36C9-A4EBF6B0DB38}"/>
              </a:ext>
            </a:extLst>
          </p:cNvPr>
          <p:cNvSpPr txBox="1"/>
          <p:nvPr/>
        </p:nvSpPr>
        <p:spPr>
          <a:xfrm>
            <a:off x="3203848" y="3244334"/>
            <a:ext cx="4576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dirty="0"/>
              <a:t>https://arxiv.org/html/2607.07467v1</a:t>
            </a:r>
          </a:p>
        </p:txBody>
      </p:sp>
    </p:spTree>
    <p:extLst>
      <p:ext uri="{BB962C8B-B14F-4D97-AF65-F5344CB8AC3E}">
        <p14:creationId xmlns:p14="http://schemas.microsoft.com/office/powerpoint/2010/main" val="23595964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B98FC580-18F7-3B6C-2674-F6724C62BCE7}"/>
              </a:ext>
            </a:extLst>
          </p:cNvPr>
          <p:cNvSpPr txBox="1"/>
          <p:nvPr/>
        </p:nvSpPr>
        <p:spPr>
          <a:xfrm>
            <a:off x="251520" y="1586032"/>
            <a:ext cx="864096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buAutoNum type="arabicPeriod"/>
            </a:pPr>
            <a:r>
              <a:rPr lang="zh-TW" altLang="zh-TW" sz="1200" b="1" u="none" strike="noStrike" dirty="0">
                <a:effectLst/>
                <a:latin typeface="Google Sans"/>
              </a:rPr>
              <a:t>視覺感知（Vision）：</a:t>
            </a:r>
            <a:r>
              <a:rPr lang="zh-TW" altLang="zh-TW" sz="1200" b="0" u="none" strike="noStrike" dirty="0">
                <a:effectLst/>
                <a:latin typeface="Google Sans"/>
              </a:rPr>
              <a:t> 使用現成的</a:t>
            </a:r>
            <a:r>
              <a:rPr lang="zh-TW" altLang="zh-TW" sz="1200" b="1" u="none" strike="noStrike" dirty="0">
                <a:effectLst/>
                <a:latin typeface="Google Sans"/>
              </a:rPr>
              <a:t>病理學基座大模型（Pathology Foundation Models）</a:t>
            </a:r>
            <a:r>
              <a:rPr lang="zh-TW" altLang="zh-TW" sz="1200" b="0" u="none" strike="noStrike" dirty="0">
                <a:effectLst/>
                <a:latin typeface="Google Sans"/>
              </a:rPr>
              <a:t>（例如百萬級 H&amp;E 切片訓練出的 </a:t>
            </a:r>
            <a:r>
              <a:rPr lang="zh-TW" altLang="zh-TW" sz="1200" b="0" u="none" strike="noStrike" dirty="0">
                <a:effectLst/>
                <a:latin typeface="Google Sans"/>
                <a:hlinkClick r:id="rId2"/>
              </a:rPr>
              <a:t>SMMILe</a:t>
            </a:r>
            <a:r>
              <a:rPr lang="zh-TW" altLang="zh-TW" sz="1200" b="0" u="none" strike="noStrike" dirty="0">
                <a:effectLst/>
                <a:latin typeface="Google Sans"/>
              </a:rPr>
              <a:t> 或 </a:t>
            </a:r>
            <a:r>
              <a:rPr lang="zh-TW" altLang="zh-TW" sz="1200" b="0" u="none" strike="noStrike" dirty="0">
                <a:effectLst/>
                <a:latin typeface="Google Sans"/>
                <a:hlinkClick r:id="rId3"/>
              </a:rPr>
              <a:t>TissueCraftAI</a:t>
            </a:r>
            <a:r>
              <a:rPr lang="zh-TW" altLang="zh-TW" sz="1200" b="0" u="none" strike="noStrike" dirty="0">
                <a:effectLst/>
                <a:latin typeface="Google Sans"/>
              </a:rPr>
              <a:t>），自動辨識組織切片高解析照片中的腫瘤區域、浸潤免疫細胞（如 T 細胞、巨噬細胞）以及基質結構。</a:t>
            </a:r>
            <a:endParaRPr lang="en-US" altLang="zh-TW" dirty="0"/>
          </a:p>
          <a:p>
            <a:pPr marL="228600" indent="-228600">
              <a:buAutoNum type="arabicPeriod"/>
            </a:pPr>
            <a:endParaRPr lang="en-US" altLang="zh-TW" sz="1200" b="1" u="none" strike="noStrike" dirty="0">
              <a:effectLst/>
              <a:latin typeface="Google Sans"/>
            </a:endParaRPr>
          </a:p>
          <a:p>
            <a:pPr marL="228600" indent="-228600">
              <a:buAutoNum type="arabicPeriod"/>
            </a:pPr>
            <a:r>
              <a:rPr lang="zh-TW" altLang="zh-TW" sz="1200" b="1" u="none" strike="noStrike" dirty="0">
                <a:effectLst/>
                <a:latin typeface="Google Sans"/>
              </a:rPr>
              <a:t>空間數據對齊（Spatial Alignment）：</a:t>
            </a:r>
            <a:r>
              <a:rPr lang="zh-TW" altLang="zh-TW" sz="1200" b="0" u="none" strike="noStrike" dirty="0">
                <a:effectLst/>
                <a:latin typeface="Google Sans"/>
              </a:rPr>
              <a:t> 將空間定序（Spatial Transcriptomics, ST）數據與高解析照片進行</a:t>
            </a:r>
            <a:r>
              <a:rPr lang="zh-TW" altLang="zh-TW" sz="1200" b="1" u="none" strike="noStrike" dirty="0">
                <a:effectLst/>
                <a:latin typeface="Google Sans"/>
              </a:rPr>
              <a:t>空間座標對齊（Spatial Registration）</a:t>
            </a:r>
            <a:r>
              <a:rPr lang="zh-TW" altLang="zh-TW" sz="1200" b="0" u="none" strike="noStrike" dirty="0">
                <a:effectLst/>
                <a:latin typeface="Google Sans"/>
              </a:rPr>
              <a:t>。AI 會知道這張照片的哪個細胞「精確對應」哪一組基因表現矩陣（RNA / 蛋白質表現量）。</a:t>
            </a:r>
            <a:endParaRPr lang="en-US" altLang="zh-TW" dirty="0"/>
          </a:p>
          <a:p>
            <a:pPr marL="228600" indent="-228600">
              <a:buAutoNum type="arabicPeriod"/>
            </a:pPr>
            <a:endParaRPr lang="en-US" altLang="zh-TW" sz="1200" b="1" u="none" strike="noStrike" dirty="0">
              <a:effectLst/>
              <a:latin typeface="Google Sans"/>
            </a:endParaRPr>
          </a:p>
          <a:p>
            <a:pPr marL="228600" indent="-228600">
              <a:buAutoNum type="arabicPeriod"/>
            </a:pPr>
            <a:r>
              <a:rPr lang="zh-TW" altLang="zh-TW" sz="1200" b="1" u="none" strike="noStrike" dirty="0">
                <a:effectLst/>
                <a:latin typeface="Google Sans"/>
              </a:rPr>
              <a:t>Agent 規劃與工具呼叫（Tool-Use）：</a:t>
            </a:r>
            <a:r>
              <a:rPr lang="zh-TW" altLang="zh-TW" sz="1200" b="0" u="none" strike="noStrike" dirty="0">
                <a:effectLst/>
                <a:latin typeface="Google Sans"/>
              </a:rPr>
              <a:t> 當醫生問「該患者是否對 PD-1 免疫療法有耐藥性？」時，Agent 大腦會</a:t>
            </a:r>
            <a:r>
              <a:rPr lang="zh-TW" altLang="zh-TW" sz="1200" b="1" u="none" strike="noStrike" dirty="0">
                <a:effectLst/>
                <a:latin typeface="Google Sans"/>
              </a:rPr>
              <a:t>自動生成並執行 R 或 Python 程式碼</a:t>
            </a:r>
            <a:r>
              <a:rPr lang="zh-TW" altLang="zh-TW" sz="1200" b="0" u="none" strike="noStrike" dirty="0">
                <a:effectLst/>
                <a:latin typeface="Google Sans"/>
              </a:rPr>
              <a:t>（利用本機的生物信息工具如 Squidpy/Scanpy），分析腫瘤微環境（TME）中的配體-受體配對（如 PD-L1/PD-1 的空間鄰近距離），並將結果回傳給大模型。</a:t>
            </a:r>
            <a:endParaRPr lang="en-US" altLang="zh-TW" dirty="0"/>
          </a:p>
          <a:p>
            <a:pPr marL="228600" indent="-228600">
              <a:buAutoNum type="arabicPeriod"/>
            </a:pPr>
            <a:endParaRPr lang="en-US" altLang="zh-TW" sz="1200" b="1" u="none" strike="noStrike" dirty="0">
              <a:effectLst/>
              <a:latin typeface="Google Sans"/>
            </a:endParaRPr>
          </a:p>
          <a:p>
            <a:pPr marL="228600" indent="-228600">
              <a:buAutoNum type="arabicPeriod"/>
            </a:pPr>
            <a:r>
              <a:rPr lang="zh-TW" altLang="zh-TW" sz="1200" b="1" u="none" strike="noStrike" dirty="0">
                <a:effectLst/>
                <a:latin typeface="Google Sans"/>
              </a:rPr>
              <a:t>知識檢索（RAG）：</a:t>
            </a:r>
            <a:r>
              <a:rPr lang="zh-TW" altLang="zh-TW" sz="1200" b="0" u="none" strike="noStrike" dirty="0">
                <a:effectLst/>
                <a:latin typeface="Google Sans"/>
              </a:rPr>
              <a:t> Agent 透過文獻檢索系統，比對 FDA 最新批准的靶向藥物與臨床指南，將定序發現的空間特徵（如特定的免疫逃逸生態位）轉化為人類醫生看得懂的</a:t>
            </a:r>
            <a:r>
              <a:rPr lang="zh-TW" altLang="zh-TW" sz="1200" b="1" u="none" strike="noStrike" dirty="0">
                <a:effectLst/>
                <a:latin typeface="Google Sans"/>
              </a:rPr>
              <a:t>問診解答與治療建議</a:t>
            </a:r>
            <a:r>
              <a:rPr lang="zh-TW" altLang="zh-TW" sz="1200" b="0" u="none" strike="noStrike" dirty="0">
                <a:effectLst/>
                <a:latin typeface="Google Sans"/>
              </a:rPr>
              <a:t>。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041367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5EF5722E-A223-C66A-1248-5F2D626557BC}"/>
              </a:ext>
            </a:extLst>
          </p:cNvPr>
          <p:cNvSpPr txBox="1"/>
          <p:nvPr/>
        </p:nvSpPr>
        <p:spPr>
          <a:xfrm>
            <a:off x="526579" y="2564904"/>
            <a:ext cx="7992888" cy="3547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zh-TW" sz="1500" b="1" u="none" strike="noStrike" dirty="0">
                <a:effectLst/>
                <a:latin typeface="Google Sans"/>
              </a:rPr>
              <a:t>三、 開發此系統面臨的重大挑戰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雖然技術上可行，但在落地為「臨床問診 Agent」時，您必須解決以下四大瓶頸：</a:t>
            </a:r>
          </a:p>
          <a:p>
            <a:pPr marL="0" marR="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Google Sans"/>
              </a:rPr>
              <a:t>數據極度龐大與多模態對齊：</a:t>
            </a:r>
            <a:r>
              <a:rPr lang="zh-TW" altLang="zh-TW" sz="1200" b="0" u="none" strike="noStrike" dirty="0">
                <a:effectLst/>
                <a:latin typeface="Google Sans"/>
              </a:rPr>
              <a:t> 單張 WSI（全切片影像）高達數 GB，空間定序數據更是包含數萬個基因與百萬個空間座標。如何建立輕量化的嵌入向量（Embedding）讓大模型能夠同時「看圖」又「讀矩陣」，需要極高的運算資源與優秀的演算法。</a:t>
            </a:r>
          </a:p>
          <a:p>
            <a:pPr marL="0" marR="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Google Sans"/>
              </a:rPr>
              <a:t>幻覺（Hallucination）與醫療安全：</a:t>
            </a:r>
            <a:r>
              <a:rPr lang="zh-TW" altLang="zh-TW" sz="1200" b="0" u="none" strike="noStrike" dirty="0">
                <a:effectLst/>
                <a:latin typeface="Google Sans"/>
              </a:rPr>
              <a:t> 大語言模型常會胡言亂語（幻覺）。在精準醫療中，一個錯誤的基因解讀可能導致錯誤的用藥建議。系統必須設計</a:t>
            </a:r>
            <a:r>
              <a:rPr lang="zh-TW" altLang="zh-TW" sz="1200" b="1" u="none" strike="noStrike" dirty="0">
                <a:effectLst/>
                <a:latin typeface="Google Sans"/>
              </a:rPr>
              <a:t>嚴格的確定性規則審查（Deterministic Guards）</a:t>
            </a:r>
            <a:r>
              <a:rPr lang="zh-TW" altLang="zh-TW" sz="1200" b="0" u="none" strike="noStrike" dirty="0">
                <a:effectLst/>
                <a:latin typeface="Google Sans"/>
              </a:rPr>
              <a:t>，限制 Agent 只能基於真實分析數據與經核准的臨床指南（如 NCCN Guidelines）進行回答。</a:t>
            </a:r>
          </a:p>
          <a:p>
            <a:pPr marL="0" marR="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Google Sans"/>
              </a:rPr>
              <a:t>黑盒子與可解釋性（Explainability）：</a:t>
            </a:r>
            <a:r>
              <a:rPr lang="zh-TW" altLang="zh-TW" sz="1200" b="0" u="none" strike="noStrike" dirty="0">
                <a:effectLst/>
                <a:latin typeface="Google Sans"/>
              </a:rPr>
              <a:t> 醫生不會盲目相信 AI 給出的診斷。您的 Agent 在回答時，</a:t>
            </a:r>
            <a:r>
              <a:rPr lang="zh-TW" altLang="zh-TW" sz="1200" b="1" u="none" strike="noStrike" dirty="0">
                <a:effectLst/>
                <a:latin typeface="Google Sans"/>
              </a:rPr>
              <a:t>必須標註出「它是基於切片照片的哪一個像素區域」以及「哪一組空間基因群」得出此結論的</a:t>
            </a:r>
            <a:r>
              <a:rPr lang="zh-TW" altLang="zh-TW" sz="1200" b="0" u="none" strike="noStrike" dirty="0">
                <a:effectLst/>
                <a:latin typeface="Google Sans"/>
              </a:rPr>
              <a:t>。</a:t>
            </a:r>
          </a:p>
          <a:p>
            <a:pPr marL="0" marR="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Google Sans"/>
              </a:rPr>
              <a:t>醫療隱私與法規（HIPAA / GDPR）：</a:t>
            </a:r>
            <a:r>
              <a:rPr lang="zh-TW" altLang="zh-TW" sz="1200" b="0" u="none" strike="noStrike" dirty="0">
                <a:effectLst/>
                <a:latin typeface="Google Sans"/>
              </a:rPr>
              <a:t> 基因與病理切片屬於最高級別的隱私。正如前文所述，這個 AI Agent </a:t>
            </a:r>
            <a:r>
              <a:rPr lang="zh-TW" altLang="zh-TW" sz="1200" b="1" u="none" strike="noStrike" dirty="0">
                <a:effectLst/>
                <a:latin typeface="Google Sans"/>
              </a:rPr>
              <a:t>強烈建議部署在 Edge（邊緣端/醫院內網環境）</a:t>
            </a:r>
            <a:r>
              <a:rPr lang="zh-TW" altLang="zh-TW" sz="1200" b="0" u="none" strike="noStrike" dirty="0">
                <a:effectLst/>
                <a:latin typeface="Google Sans"/>
              </a:rPr>
              <a:t>，不可將未去識別化的患者原始數據上傳至公共雲端 API。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A4039491-48B6-B08A-DD0A-FF7617DAEE2F}"/>
              </a:ext>
            </a:extLst>
          </p:cNvPr>
          <p:cNvSpPr txBox="1"/>
          <p:nvPr/>
        </p:nvSpPr>
        <p:spPr>
          <a:xfrm>
            <a:off x="539552" y="260648"/>
            <a:ext cx="8352928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zh-TW" sz="1500" b="1" u="none" strike="noStrike" dirty="0">
                <a:effectLst/>
                <a:latin typeface="Google Sans"/>
              </a:rPr>
              <a:t>二、 目前已實現的技術可行性（您的立足點）</a:t>
            </a:r>
          </a:p>
          <a:p>
            <a:pPr marL="0" marR="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Google Sans"/>
              </a:rPr>
              <a:t>空間虛擬預測（Virtual Proteomics/Transcriptomics）：</a:t>
            </a:r>
            <a:r>
              <a:rPr lang="zh-TW" altLang="zh-TW" sz="1200" b="0" u="none" strike="noStrike" dirty="0">
                <a:effectLst/>
                <a:latin typeface="Google Sans"/>
              </a:rPr>
              <a:t> 2026 最新技術如 Nature 發表的 </a:t>
            </a:r>
            <a:r>
              <a:rPr lang="zh-TW" altLang="zh-TW" sz="1200" b="0" u="none" strike="noStrike" dirty="0">
                <a:effectLst/>
                <a:latin typeface="Google Sans"/>
                <a:hlinkClick r:id="rId2"/>
              </a:rPr>
              <a:t>HEX 模型</a:t>
            </a:r>
            <a:r>
              <a:rPr lang="zh-TW" altLang="zh-TW" sz="1200" b="0" u="none" strike="noStrike" dirty="0">
                <a:effectLst/>
                <a:latin typeface="Google Sans"/>
              </a:rPr>
              <a:t>，已經能做到</a:t>
            </a:r>
            <a:r>
              <a:rPr lang="zh-TW" altLang="zh-TW" sz="1200" b="1" u="none" strike="noStrike" dirty="0">
                <a:effectLst/>
                <a:latin typeface="Google Sans"/>
              </a:rPr>
              <a:t>光看 H&amp;E 影像就預測出 40 種空間蛋白質表現</a:t>
            </a:r>
            <a:r>
              <a:rPr lang="zh-TW" altLang="zh-TW" sz="1200" b="0" u="none" strike="noStrike" dirty="0">
                <a:effectLst/>
                <a:latin typeface="Google Sans"/>
              </a:rPr>
              <a:t>，並提升了 24% 的免疫治療效果預測準確率。這意味著影像與數據的跨模態互補性極高。 [</a:t>
            </a:r>
            <a:r>
              <a:rPr lang="zh-TW" altLang="zh-TW" sz="1200" b="0" u="none" strike="noStrike" dirty="0">
                <a:effectLst/>
                <a:latin typeface="Google Sans"/>
                <a:hlinkClick r:id="rId2"/>
              </a:rPr>
              <a:t>1</a:t>
            </a:r>
            <a:r>
              <a:rPr lang="zh-TW" altLang="zh-TW" sz="1200" b="0" u="none" strike="noStrike" dirty="0">
                <a:effectLst/>
                <a:latin typeface="Google Sans"/>
              </a:rPr>
              <a:t>, </a:t>
            </a:r>
            <a:r>
              <a:rPr lang="zh-TW" altLang="zh-TW" sz="1200" b="0" u="none" strike="noStrike" dirty="0">
                <a:effectLst/>
                <a:latin typeface="Google Sans"/>
                <a:hlinkClick r:id="rId3"/>
              </a:rPr>
              <a:t>2</a:t>
            </a:r>
            <a:r>
              <a:rPr lang="zh-TW" altLang="zh-TW" sz="1200" b="0" u="none" strike="noStrike" dirty="0">
                <a:effectLst/>
                <a:latin typeface="Google Sans"/>
              </a:rPr>
              <a:t>]</a:t>
            </a:r>
          </a:p>
          <a:p>
            <a:pPr marL="0" marR="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200" b="1" u="none" strike="noStrike" dirty="0">
                <a:effectLst/>
                <a:latin typeface="Google Sans"/>
              </a:rPr>
              <a:t>自動化科學研究助手：</a:t>
            </a:r>
            <a:r>
              <a:rPr lang="zh-TW" altLang="zh-TW" sz="1200" b="0" u="none" strike="noStrike" dirty="0">
                <a:effectLst/>
                <a:latin typeface="Google Sans"/>
              </a:rPr>
              <a:t> STAgent 的實驗證明，AI Agent 能在幾分鐘內完成人類專家需要花費數週的空間生物學圖譜解讀、富集分析與文獻對齊，大大降低了高門檻數據的使用難度。</a:t>
            </a:r>
          </a:p>
        </p:txBody>
      </p:sp>
    </p:spTree>
    <p:extLst>
      <p:ext uri="{BB962C8B-B14F-4D97-AF65-F5344CB8AC3E}">
        <p14:creationId xmlns:p14="http://schemas.microsoft.com/office/powerpoint/2010/main" val="3928785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文字方塊 38">
            <a:extLst>
              <a:ext uri="{FF2B5EF4-FFF2-40B4-BE49-F238E27FC236}">
                <a16:creationId xmlns:a16="http://schemas.microsoft.com/office/drawing/2014/main" id="{BC8BA039-385B-D587-79A1-F21AE63171E1}"/>
              </a:ext>
            </a:extLst>
          </p:cNvPr>
          <p:cNvSpPr txBox="1"/>
          <p:nvPr/>
        </p:nvSpPr>
        <p:spPr>
          <a:xfrm>
            <a:off x="395536" y="1198535"/>
            <a:ext cx="8424936" cy="3547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zh-TW" sz="1500" b="1" u="none" strike="noStrike" dirty="0">
                <a:effectLst/>
                <a:latin typeface="Google Sans"/>
              </a:rPr>
              <a:t>四、 建議的切入步驟（How to Start?）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200" b="0" u="none" strike="noStrike" dirty="0">
                <a:effectLst/>
                <a:latin typeface="Google Sans"/>
              </a:rPr>
              <a:t>如果您要動手建立這個 Agent，建議不要從頭訓練大模型，而是採取</a:t>
            </a:r>
            <a:r>
              <a:rPr lang="zh-TW" altLang="zh-TW" sz="1200" b="1" u="none" strike="noStrike" dirty="0">
                <a:effectLst/>
                <a:latin typeface="Google Sans"/>
              </a:rPr>
              <a:t>組合拳策略</a:t>
            </a:r>
            <a:r>
              <a:rPr lang="zh-TW" altLang="zh-TW" sz="1200" b="0" u="none" strike="noStrike" dirty="0">
                <a:effectLst/>
                <a:latin typeface="Google Sans"/>
              </a:rPr>
              <a:t>：</a:t>
            </a:r>
          </a:p>
          <a:p>
            <a:pPr marL="0" marR="0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  <a:latin typeface="Google Sans"/>
              </a:rPr>
              <a:t>第一步：選用開源病理基礎模型</a:t>
            </a:r>
            <a:br>
              <a:rPr lang="zh-TW" altLang="zh-TW" sz="1200" b="0" u="none" strike="noStrike" dirty="0">
                <a:effectLst/>
                <a:latin typeface="Google Sans"/>
              </a:rPr>
            </a:br>
            <a:r>
              <a:rPr lang="zh-TW" altLang="zh-TW" sz="1200" b="0" u="none" strike="noStrike" dirty="0">
                <a:effectLst/>
                <a:latin typeface="Google Sans"/>
              </a:rPr>
              <a:t>先引入像是 PLAM 或其他醫學影像開源模型，負責將高解析組織照片轉化為 AI 看得懂的特徵向量。</a:t>
            </a:r>
          </a:p>
          <a:p>
            <a:pPr marL="0" marR="0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  <a:latin typeface="Google Sans"/>
              </a:rPr>
              <a:t>第二步：建立 Tool-Anvil（工具庫）</a:t>
            </a:r>
            <a:br>
              <a:rPr lang="zh-TW" altLang="zh-TW" sz="1200" b="0" u="none" strike="noStrike" dirty="0">
                <a:effectLst/>
                <a:latin typeface="Google Sans"/>
              </a:rPr>
            </a:br>
            <a:r>
              <a:rPr lang="zh-TW" altLang="zh-TW" sz="1200" b="0" u="none" strike="noStrike" dirty="0">
                <a:effectLst/>
                <a:latin typeface="Google Sans"/>
              </a:rPr>
              <a:t>寫好分析空間定序常用的 Python 腳本範本（例如計算細胞鄰近度、空間聚類分析）。讓大模型作為 Agent，學會根據問題去「呼叫」這些腳本。</a:t>
            </a:r>
          </a:p>
          <a:p>
            <a:pPr marL="0" marR="0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  <a:latin typeface="Google Sans"/>
              </a:rPr>
              <a:t>第三步：精準醫療知識庫建置（RAG）</a:t>
            </a:r>
            <a:br>
              <a:rPr lang="zh-TW" altLang="zh-TW" sz="1200" b="0" u="none" strike="noStrike" dirty="0">
                <a:effectLst/>
                <a:latin typeface="Google Sans"/>
              </a:rPr>
            </a:br>
            <a:r>
              <a:rPr lang="zh-TW" altLang="zh-TW" sz="1200" b="0" u="none" strike="noStrike" dirty="0">
                <a:effectLst/>
                <a:latin typeface="Google Sans"/>
              </a:rPr>
              <a:t>將 </a:t>
            </a:r>
            <a:r>
              <a:rPr lang="zh-TW" altLang="zh-TW" sz="1200" b="0" u="none" strike="noStrike" dirty="0">
                <a:effectLst/>
                <a:latin typeface="Google Sans"/>
                <a:hlinkClick r:id="rId2"/>
              </a:rPr>
              <a:t>OncoKB</a:t>
            </a:r>
            <a:r>
              <a:rPr lang="zh-TW" altLang="zh-TW" sz="1200" b="0" u="none" strike="noStrike" dirty="0">
                <a:effectLst/>
                <a:latin typeface="Google Sans"/>
              </a:rPr>
              <a:t>、</a:t>
            </a:r>
            <a:r>
              <a:rPr lang="zh-TW" altLang="zh-TW" sz="1200" b="0" u="none" strike="noStrike" dirty="0">
                <a:effectLst/>
                <a:latin typeface="Google Sans"/>
                <a:hlinkClick r:id="rId3"/>
              </a:rPr>
              <a:t>Civic</a:t>
            </a:r>
            <a:r>
              <a:rPr lang="zh-TW" altLang="zh-TW" sz="1200" b="0" u="none" strike="noStrike" dirty="0">
                <a:effectLst/>
                <a:latin typeface="Google Sans"/>
              </a:rPr>
              <a:t> 等權威癌症基因治療資料庫以及臨床指南向量化，作為 Agent 的專屬大腦智庫。</a:t>
            </a:r>
          </a:p>
          <a:p>
            <a:pPr marL="0" marR="0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zh-TW" sz="1200" b="1" u="none" strike="noStrike" dirty="0">
                <a:effectLst/>
                <a:latin typeface="Google Sans"/>
              </a:rPr>
              <a:t>第四步：提示詞工程（Prompt Engineering）與多 Agent 協同</a:t>
            </a:r>
            <a:br>
              <a:rPr lang="zh-TW" altLang="zh-TW" sz="1200" b="0" u="none" strike="noStrike" dirty="0">
                <a:effectLst/>
                <a:latin typeface="Google Sans"/>
              </a:rPr>
            </a:br>
            <a:r>
              <a:rPr lang="zh-TW" altLang="zh-TW" sz="1200" b="0" u="none" strike="noStrike" dirty="0">
                <a:effectLst/>
                <a:latin typeface="Google Sans"/>
              </a:rPr>
              <a:t>採用類似 SpaCellAgent 的架構，設計三個 AI 角色互評：</a:t>
            </a:r>
            <a:r>
              <a:rPr lang="zh-TW" altLang="zh-TW" sz="1200" b="1" u="none" strike="noStrike" dirty="0">
                <a:effectLst/>
                <a:latin typeface="Google Sans"/>
              </a:rPr>
              <a:t>「生信分析 Agent」</a:t>
            </a:r>
            <a:r>
              <a:rPr lang="zh-TW" altLang="zh-TW" sz="1200" b="0" u="none" strike="noStrike" dirty="0">
                <a:effectLst/>
                <a:latin typeface="Google Sans"/>
              </a:rPr>
              <a:t>負責跑數據、</a:t>
            </a:r>
            <a:r>
              <a:rPr lang="zh-TW" altLang="zh-TW" sz="1200" b="1" u="none" strike="noStrike" dirty="0">
                <a:effectLst/>
                <a:latin typeface="Google Sans"/>
              </a:rPr>
              <a:t>「病理影像 Agent」</a:t>
            </a:r>
            <a:r>
              <a:rPr lang="zh-TW" altLang="zh-TW" sz="1200" b="0" u="none" strike="noStrike" dirty="0">
                <a:effectLst/>
                <a:latin typeface="Google Sans"/>
              </a:rPr>
              <a:t>負責看圖、</a:t>
            </a:r>
            <a:r>
              <a:rPr lang="zh-TW" altLang="zh-TW" sz="1200" b="1" u="none" strike="noStrike" dirty="0">
                <a:effectLst/>
                <a:latin typeface="Google Sans"/>
              </a:rPr>
              <a:t>「臨床諮詢 Agent」</a:t>
            </a:r>
            <a:r>
              <a:rPr lang="zh-TW" altLang="zh-TW" sz="1200" b="0" u="none" strike="noStrike" dirty="0">
                <a:effectLst/>
                <a:latin typeface="Google Sans"/>
              </a:rPr>
              <a:t>負責整合兩者並用溫和直白的語言回答問診。</a:t>
            </a:r>
          </a:p>
        </p:txBody>
      </p:sp>
    </p:spTree>
    <p:extLst>
      <p:ext uri="{BB962C8B-B14F-4D97-AF65-F5344CB8AC3E}">
        <p14:creationId xmlns:p14="http://schemas.microsoft.com/office/powerpoint/2010/main" val="32378408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EB19A21F-439B-649C-1202-64BBA3D06DB7}"/>
              </a:ext>
            </a:extLst>
          </p:cNvPr>
          <p:cNvSpPr txBox="1"/>
          <p:nvPr/>
        </p:nvSpPr>
        <p:spPr>
          <a:xfrm>
            <a:off x="251520" y="836712"/>
            <a:ext cx="8640960" cy="3285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STAgent 的四大核心運作機制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STAgent 之所以強大，在於它不是一個單純的聊天機器人，而是一個具備「眼、腦、手、智庫」的完整科學助手：</a:t>
            </a:r>
          </a:p>
          <a:p>
            <a:pPr marL="0" marR="0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視覺推理（眼 - Visual Reasoning）：</a:t>
            </a:r>
            <a:b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內建多模態視覺大模型（VLM），它能直接「看懂」空間聚類圖、高解析 H&amp;E 組織照片或細胞分布圖。它能自主識別出圖像中細胞的空間特徵（例如：早期細胞呈散落未組織狀，而後期會緊密聚集成群，重塑成熟的組織結構）。</a:t>
            </a:r>
          </a:p>
          <a:p>
            <a:pPr marL="0" marR="0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動態程式碼生成與工具呼叫（手 - Code Generation &amp; Tool-Use）：</a:t>
            </a:r>
            <a:b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當面臨複雜的生物信息任務（如數據預處理、空間鄰近度計算或基因插補）時，它會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自主編寫 Python 程式碼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（調用 Scanpy、Squidpy、Tangram、STAligner 等專業生物資訊工具庫），直接在本機運行分析並產出圖表。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2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2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0" marR="0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實時文獻檢索與知識對齊（智庫 - Literature Retrieval &amp; RAG）：</a:t>
            </a:r>
            <a:b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AI 發現某個空間特徵後，會動態連線至權威醫學資料庫，檢索同行評審（Peer-reviewed）的科學文獻。它能把實驗數據（如某個配體-受體的空間高度集中）與真實世界的醫學研究進行交叉比對，給出具備科學文獻支持的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機制性解釋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5"/>
              </a:rPr>
              <a:t>2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0" marR="0"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端到端報告與決策生成（腦 - End-to-End Automation）：</a:t>
            </a:r>
            <a:b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最終，它會將上述的影像發現、數據分析圖表、文獻依據，整合提煉成一份具備高度可解釋性的完整科學或臨床診斷報告</a:t>
            </a:r>
          </a:p>
        </p:txBody>
      </p:sp>
    </p:spTree>
    <p:extLst>
      <p:ext uri="{BB962C8B-B14F-4D97-AF65-F5344CB8AC3E}">
        <p14:creationId xmlns:p14="http://schemas.microsoft.com/office/powerpoint/2010/main" val="19136711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169</TotalTime>
  <Words>1789</Words>
  <Application>Microsoft Office PowerPoint</Application>
  <PresentationFormat>如螢幕大小 (4:3)</PresentationFormat>
  <Paragraphs>58</Paragraphs>
  <Slides>7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4" baseType="lpstr">
      <vt:lpstr>Google Sans</vt:lpstr>
      <vt:lpstr>Noto Sans HK</vt:lpstr>
      <vt:lpstr>微軟正黑體</vt:lpstr>
      <vt:lpstr>Arial</vt:lpstr>
      <vt:lpstr>Calibri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1775</cp:revision>
  <cp:lastPrinted>2024-07-30T01:44:15Z</cp:lastPrinted>
  <dcterms:created xsi:type="dcterms:W3CDTF">2019-11-08T03:01:47Z</dcterms:created>
  <dcterms:modified xsi:type="dcterms:W3CDTF">2026-07-17T09:25:34Z</dcterms:modified>
</cp:coreProperties>
</file>