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3561" r:id="rId2"/>
    <p:sldId id="3560" r:id="rId3"/>
    <p:sldId id="3563" r:id="rId4"/>
    <p:sldId id="3565" r:id="rId5"/>
    <p:sldId id="3574" r:id="rId6"/>
    <p:sldId id="3572" r:id="rId7"/>
    <p:sldId id="3566" r:id="rId8"/>
    <p:sldId id="3571" r:id="rId9"/>
    <p:sldId id="3573" r:id="rId10"/>
    <p:sldId id="3564" r:id="rId11"/>
    <p:sldId id="3570" r:id="rId12"/>
    <p:sldId id="3569" r:id="rId13"/>
    <p:sldId id="3568" r:id="rId14"/>
  </p:sldIdLst>
  <p:sldSz cx="9144000" cy="6858000" type="screen4x3"/>
  <p:notesSz cx="6797675" cy="992505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147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EF1DDEA-D49D-B2A5-9D83-8BDFFC6C721F}" name="Allen Ni(倪士凱)" initials="AN" userId="S::ani@centrilliontech.com.tw::64a9ee61-01eb-41d1-8925-9f522fa76fb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C00"/>
    <a:srgbClr val="CC9900"/>
    <a:srgbClr val="FFFF99"/>
    <a:srgbClr val="DBD600"/>
    <a:srgbClr val="FFFFCC"/>
    <a:srgbClr val="F3E5E5"/>
    <a:srgbClr val="EBD1D1"/>
    <a:srgbClr val="FCF8F8"/>
    <a:srgbClr val="996600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0" autoAdjust="0"/>
    <p:restoredTop sz="65121" autoAdjust="0"/>
  </p:normalViewPr>
  <p:slideViewPr>
    <p:cSldViewPr>
      <p:cViewPr>
        <p:scale>
          <a:sx n="100" d="100"/>
          <a:sy n="100" d="100"/>
        </p:scale>
        <p:origin x="900" y="738"/>
      </p:cViewPr>
      <p:guideLst>
        <p:guide orient="horz" pos="2160"/>
        <p:guide pos="1474"/>
      </p:guideLst>
    </p:cSldViewPr>
  </p:slideViewPr>
  <p:outlineViewPr>
    <p:cViewPr>
      <p:scale>
        <a:sx n="33" d="100"/>
        <a:sy n="33" d="100"/>
      </p:scale>
      <p:origin x="0" y="-1075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96" d="100"/>
          <a:sy n="96" d="100"/>
        </p:scale>
        <p:origin x="278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8509AA70-DCA8-F2B3-665C-D289623E162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2" y="0"/>
            <a:ext cx="2945659" cy="497976"/>
          </a:xfrm>
          <a:prstGeom prst="rect">
            <a:avLst/>
          </a:prstGeom>
        </p:spPr>
        <p:txBody>
          <a:bodyPr vert="horz" lIns="91430" tIns="45714" rIns="91430" bIns="45714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60D9017-2A20-36CB-3124-1CE24A164FF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5" y="0"/>
            <a:ext cx="2945659" cy="497976"/>
          </a:xfrm>
          <a:prstGeom prst="rect">
            <a:avLst/>
          </a:prstGeom>
        </p:spPr>
        <p:txBody>
          <a:bodyPr vert="horz" lIns="91430" tIns="45714" rIns="91430" bIns="45714" rtlCol="0"/>
          <a:lstStyle>
            <a:lvl1pPr algn="r">
              <a:defRPr sz="1200"/>
            </a:lvl1pPr>
          </a:lstStyle>
          <a:p>
            <a:fld id="{982F7CBC-87DD-4F69-8F50-7ED68F7FF790}" type="datetimeFigureOut">
              <a:rPr lang="zh-TW" altLang="en-US" smtClean="0"/>
              <a:t>2026/10/22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2E2BC4B-E97F-2930-F9D4-22EF7E0E14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" y="9427077"/>
            <a:ext cx="2945659" cy="497975"/>
          </a:xfrm>
          <a:prstGeom prst="rect">
            <a:avLst/>
          </a:prstGeom>
        </p:spPr>
        <p:txBody>
          <a:bodyPr vert="horz" lIns="91430" tIns="45714" rIns="91430" bIns="45714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9105500-21C2-E70A-A08C-9E9E3094A4E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5" y="9427077"/>
            <a:ext cx="2945659" cy="497975"/>
          </a:xfrm>
          <a:prstGeom prst="rect">
            <a:avLst/>
          </a:prstGeom>
        </p:spPr>
        <p:txBody>
          <a:bodyPr vert="horz" lIns="91430" tIns="45714" rIns="91430" bIns="45714" rtlCol="0" anchor="b"/>
          <a:lstStyle>
            <a:lvl1pPr algn="r">
              <a:defRPr sz="1200"/>
            </a:lvl1pPr>
          </a:lstStyle>
          <a:p>
            <a:fld id="{30EF305C-901E-49EC-B839-B172F948820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1901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45659" cy="496253"/>
          </a:xfrm>
          <a:prstGeom prst="rect">
            <a:avLst/>
          </a:prstGeom>
        </p:spPr>
        <p:txBody>
          <a:bodyPr vert="horz" lIns="91430" tIns="45714" rIns="91430" bIns="45714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0445" y="1"/>
            <a:ext cx="2945659" cy="496253"/>
          </a:xfrm>
          <a:prstGeom prst="rect">
            <a:avLst/>
          </a:prstGeom>
        </p:spPr>
        <p:txBody>
          <a:bodyPr vert="horz" lIns="91430" tIns="45714" rIns="91430" bIns="45714" rtlCol="0"/>
          <a:lstStyle>
            <a:lvl1pPr algn="r">
              <a:defRPr sz="1200"/>
            </a:lvl1pPr>
          </a:lstStyle>
          <a:p>
            <a:fld id="{863167AA-796B-4B6A-95ED-1C0BCB3E5802}" type="datetimeFigureOut">
              <a:rPr lang="zh-TW" altLang="en-US" smtClean="0"/>
              <a:t>2026/10/22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0" tIns="45714" rIns="91430" bIns="45714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79768" y="4714400"/>
            <a:ext cx="5438140" cy="4466272"/>
          </a:xfrm>
          <a:prstGeom prst="rect">
            <a:avLst/>
          </a:prstGeom>
        </p:spPr>
        <p:txBody>
          <a:bodyPr vert="horz" lIns="91430" tIns="45714" rIns="91430" bIns="45714" rtlCol="0"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2" y="9427075"/>
            <a:ext cx="2945659" cy="496253"/>
          </a:xfrm>
          <a:prstGeom prst="rect">
            <a:avLst/>
          </a:prstGeom>
        </p:spPr>
        <p:txBody>
          <a:bodyPr vert="horz" lIns="91430" tIns="45714" rIns="91430" bIns="45714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0445" y="9427075"/>
            <a:ext cx="2945659" cy="496253"/>
          </a:xfrm>
          <a:prstGeom prst="rect">
            <a:avLst/>
          </a:prstGeom>
        </p:spPr>
        <p:txBody>
          <a:bodyPr vert="horz" lIns="91430" tIns="45714" rIns="91430" bIns="45714" rtlCol="0" anchor="b"/>
          <a:lstStyle>
            <a:lvl1pPr algn="r">
              <a:defRPr sz="1200"/>
            </a:lvl1pPr>
          </a:lstStyle>
          <a:p>
            <a:fld id="{E3A6CE5E-F349-486D-8749-82EF2AD71F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6009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CA118-237F-B4E2-2712-8830EBE37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3453D5E-C352-FFB5-43A0-8712E05100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A023EC0-FDAF-3863-C8C3-E505C2CD18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3FBD2B7-44AF-48A0-03E5-A8221130D6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A6CE5E-F349-486D-8749-82EF2AD71FA8}" type="slidenum">
              <a:rPr lang="zh-TW" altLang="en-US" smtClean="0"/>
              <a:t>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69551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4101F-2887-956A-A20B-ED3DCF165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456C118-83A0-204A-526E-A2E69C5E54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719A5F2-8E55-3987-CC5F-D50EDB9D9F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E750DFB-5486-524C-10D1-424B3401F6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A6CE5E-F349-486D-8749-82EF2AD71FA8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97250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4101F-2887-956A-A20B-ED3DCF165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456C118-83A0-204A-526E-A2E69C5E54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719A5F2-8E55-3987-CC5F-D50EDB9D9F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E750DFB-5486-524C-10D1-424B3401F6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A6CE5E-F349-486D-8749-82EF2AD71FA8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97250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A8DB3-6B20-93ED-F863-831DBCFDF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DFD8EE6-B9DF-E307-AC98-43ECEB2A19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587BD88-FF6A-4138-E1BA-535EA46C91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F176D6B-5E66-275F-C3FD-CAC657876A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A6CE5E-F349-486D-8749-82EF2AD71FA8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51338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77363-197C-7B45-FA55-45B9238DA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9CEA96C-8D1D-7C80-76B8-FC279CEAF4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5491E57-7AA1-6217-1528-27FAD567A3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C0B9E17-8A5B-7323-A004-9838D9EEC3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A6CE5E-F349-486D-8749-82EF2AD71FA8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07117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346DD-3495-D146-7FF7-F33893297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E3875CB-58BA-075C-55BB-5FA9A35E9D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513316A-3D7F-E97A-D122-E1ACB60E6C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7C9223C-1F05-4634-F98B-5887B80B03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A6CE5E-F349-486D-8749-82EF2AD71FA8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67090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D2DAF-CB07-9EE1-277C-50B67690F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B1B7FB3-22F2-06CA-D1A5-9800E5FD84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831CC3A-B0FF-0B4C-F895-792B31A955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9639DC5-7BB6-A50C-9A56-8176BFF938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A6CE5E-F349-486D-8749-82EF2AD71FA8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35426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7AAAE-5853-E855-D26E-097677ADF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B295FC2-5C6D-5267-F6CD-000B94FBA8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6868EA4-188D-1C46-852C-B9BAB6751B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DF1D34A-083C-0AF6-A112-8E99BDCC08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A6CE5E-F349-486D-8749-82EF2AD71FA8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38864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856FB-322B-36BC-0638-44F8E8DA0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F9DA01F-1167-ED2C-D7A9-8713727588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6A8EB89-B341-773E-2E3C-8ED8F938A5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FAC4C7F-8220-2109-8D1B-872C435E93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A6CE5E-F349-486D-8749-82EF2AD71FA8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12413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6A63A-8654-C8B7-FC5E-E84D7EA5E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07AF56C-A6AB-7BFF-0A0F-36EF96D6E4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B3308F4-8A70-3683-84B0-9F122D0E13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A87F17D-1FC8-A7E2-4E8D-12814EBE76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A6CE5E-F349-486D-8749-82EF2AD71FA8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06188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6A090-B544-FF9B-E97A-8098CD07D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CC0B598-0BE9-8DB3-1BD0-4ECF83D5D1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3ED7304-B2CF-7A66-7C30-810D61A1E9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狀態空間模型與線性注意力是「一體兩面」</a:t>
            </a:r>
            <a:r>
              <a:rPr lang="zh-TW" altLang="zh-TW" dirty="0"/>
              <a:t>。</a:t>
            </a:r>
            <a:br>
              <a:rPr lang="en-US" altLang="zh-TW" dirty="0"/>
            </a:br>
            <a:r>
              <a:rPr lang="zh-TW" altLang="zh-TW" dirty="0"/>
              <a:t>SSM 是從「控制工程與時間序列微分」出發的連續視角；線性注意力是從「矩陣乘法與關聯檢索」出發的離散視角。</a:t>
            </a:r>
            <a:br>
              <a:rPr lang="en-US" altLang="zh-TW" dirty="0"/>
            </a:br>
            <a:r>
              <a:rPr lang="zh-TW" altLang="zh-TW" dirty="0"/>
              <a:t>前沿</a:t>
            </a:r>
            <a:r>
              <a:rPr lang="zh-TW" altLang="en-US" dirty="0"/>
              <a:t>模型</a:t>
            </a:r>
            <a:r>
              <a:rPr lang="en-US" altLang="zh-TW" dirty="0"/>
              <a:t>(</a:t>
            </a:r>
            <a:r>
              <a:rPr lang="zh-TW" altLang="zh-TW" dirty="0"/>
              <a:t>如GDN2與Mamba-3</a:t>
            </a:r>
            <a:r>
              <a:rPr lang="en-US" altLang="zh-TW" dirty="0"/>
              <a:t>)</a:t>
            </a:r>
            <a:r>
              <a:rPr lang="zh-TW" altLang="zh-TW" dirty="0"/>
              <a:t>已將兩者融合成同一個高速</a:t>
            </a:r>
            <a:r>
              <a:rPr lang="en-US" altLang="zh-TW" dirty="0"/>
              <a:t>,</a:t>
            </a:r>
            <a:r>
              <a:rPr lang="zh-TW" altLang="zh-TW" dirty="0"/>
              <a:t> subquadratic 的線性矩陣家族。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3987CC0-EDAB-F27A-94DD-109144DAA2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A6CE5E-F349-486D-8749-82EF2AD71FA8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1327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87095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62284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1" r:id="rId2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spcBef>
          <a:spcPct val="20000"/>
        </a:spcBef>
        <a:buClr>
          <a:schemeClr val="tx1"/>
        </a:buClr>
        <a:buFont typeface="Calibri" pitchFamily="34" charset="0"/>
        <a:buChar char="●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20000" indent="-360000" algn="l" defTabSz="914400" rtl="0" eaLnBrk="1" latinLnBrk="0" hangingPunct="1">
        <a:spcBef>
          <a:spcPct val="20000"/>
        </a:spcBef>
        <a:buClr>
          <a:schemeClr val="tx1"/>
        </a:buClr>
        <a:buFont typeface="Calibri" pitchFamily="34" charset="0"/>
        <a:buChar char="○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spcBef>
          <a:spcPct val="20000"/>
        </a:spcBef>
        <a:buClr>
          <a:schemeClr val="tx1"/>
        </a:buClr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40000" indent="-360000" algn="l" defTabSz="914400" rtl="0" eaLnBrk="1" latinLnBrk="0" hangingPunct="1">
        <a:spcBef>
          <a:spcPct val="20000"/>
        </a:spcBef>
        <a:buClr>
          <a:schemeClr val="tx1"/>
        </a:buClr>
        <a:buFont typeface="Arial" pitchFamily="34" charset="0"/>
        <a:buChar char="‒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spcBef>
          <a:spcPct val="20000"/>
        </a:spcBef>
        <a:buClr>
          <a:schemeClr val="tx1"/>
        </a:buClr>
        <a:buFont typeface="Arial" pitchFamily="34" charset="0"/>
        <a:buChar char="‒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8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11" Type="http://schemas.openxmlformats.org/officeDocument/2006/relationships/image" Target="../media/image12.png"/><Relationship Id="rId5" Type="http://schemas.openxmlformats.org/officeDocument/2006/relationships/image" Target="../media/image70.png"/><Relationship Id="rId4" Type="http://schemas.openxmlformats.org/officeDocument/2006/relationships/image" Target="../media/image60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60.png"/><Relationship Id="rId9" Type="http://schemas.openxmlformats.org/officeDocument/2006/relationships/image" Target="../media/image240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0.png"/><Relationship Id="rId18" Type="http://schemas.openxmlformats.org/officeDocument/2006/relationships/image" Target="../media/image30.png"/><Relationship Id="rId7" Type="http://schemas.openxmlformats.org/officeDocument/2006/relationships/image" Target="../media/image141.png"/><Relationship Id="rId17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28.png"/><Relationship Id="rId20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60.png"/><Relationship Id="rId15" Type="http://schemas.openxmlformats.org/officeDocument/2006/relationships/image" Target="../media/image27.png"/><Relationship Id="rId10" Type="http://schemas.openxmlformats.org/officeDocument/2006/relationships/image" Target="../media/image250.png"/><Relationship Id="rId19" Type="http://schemas.openxmlformats.org/officeDocument/2006/relationships/image" Target="../media/image31.png"/><Relationship Id="rId9" Type="http://schemas.openxmlformats.org/officeDocument/2006/relationships/image" Target="../media/image240.png"/><Relationship Id="rId14" Type="http://schemas.openxmlformats.org/officeDocument/2006/relationships/image" Target="../media/image2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GDN%E8%88%87EDA%2C+%E8%AA%B0%E6%8F%90%E5%87%BA%E7%9A%84%3F&amp;sca_esv=ff747ee1c8df38fc&amp;rlz=1C1KNTJ_zh-TWTW1073TW1073&amp;sxsrf=APpeQnsN9efzRGuJ9OiPcwrgCmELj7BtSQ%3A1792310514629&amp;ei=wXvUauOpFfDQ2roPmKfusQY&amp;biw=1920&amp;bih=945&amp;uact=5&amp;sclient=gws-wiz-serp&amp;fbs=ABfTbFVyMZGZf1hfvX9uKjN_-G8cxpBkeIeqYwoCbfNVc4vKEzfJsZm6euHh2bPtNTAJBYD8HI5K-4_bUf9wsDMuQjv_7v17u85a9_mhuoivOS3lJjYQdwryKQmWssk3Jx4oB_xB3o8hZ4Zcq7a0DP4PBYIT3hoTUUQh4vqswNlUUmqqw8N3uHGGoAVi-dqcUFMTkZA7evE0Aku_K1wTnxr-Qpeza8qFUw&amp;aep=10&amp;ntc=1&amp;mstk=AUtExfC0wt-io3zoro_1-_uiMnkmtMi9-Ut7UbEWV1Q-oYKvvJpHHZ0XxClwltyxY6iC4XAEgDcMjX1sIkcLjdrA20gexSF0-GK-fw1KkuHYR61meP7lIJrkLonaY3a-5kphqorPPOJhLQBC3e7loXDoTqo5fNlH3hMWmlHzKM8-uXCjrpHck7PjazJ3nyt3MoapCnYIFijfP_1W9plfsN98KsVQKwEHq9EqPiuMrkGFWWBv48fwzOZeXuj6M2TU0dta09A38mEdASRVJ7e9-fBw-0Kb-huvFwV2Mq0ivzFkN9eRzysTg9X7RtO-EdyFM0LyBQf3o99R6md1hg&amp;aioh=3&amp;csuir=1&amp;cs=0&amp;mtid=83zUavr3C_jZ1e8PzLmn0QY&amp;udm=50" TargetMode="External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1E5A2-1B7E-98CC-E06F-676BB9443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FE0760D2-0E21-8BFC-EA96-4344CC953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208" y="5833151"/>
            <a:ext cx="2300180" cy="620185"/>
          </a:xfrm>
          <a:prstGeom prst="rect">
            <a:avLst/>
          </a:prstGeom>
        </p:spPr>
      </p:pic>
      <p:graphicFrame>
        <p:nvGraphicFramePr>
          <p:cNvPr id="68" name="表格 67">
            <a:extLst>
              <a:ext uri="{FF2B5EF4-FFF2-40B4-BE49-F238E27FC236}">
                <a16:creationId xmlns:a16="http://schemas.microsoft.com/office/drawing/2014/main" id="{E6325FBF-F975-BC66-BE0D-C4F3241865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4340773"/>
              </p:ext>
            </p:extLst>
          </p:nvPr>
        </p:nvGraphicFramePr>
        <p:xfrm>
          <a:off x="4810962" y="2436221"/>
          <a:ext cx="1093275" cy="14994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615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16915">
                  <a:extLst>
                    <a:ext uri="{9D8B030D-6E8A-4147-A177-3AD203B41FA5}">
                      <a16:colId xmlns:a16="http://schemas.microsoft.com/office/drawing/2014/main" val="1823401774"/>
                    </a:ext>
                  </a:extLst>
                </a:gridCol>
                <a:gridCol w="216915">
                  <a:extLst>
                    <a:ext uri="{9D8B030D-6E8A-4147-A177-3AD203B41FA5}">
                      <a16:colId xmlns:a16="http://schemas.microsoft.com/office/drawing/2014/main" val="3463907018"/>
                    </a:ext>
                  </a:extLst>
                </a:gridCol>
                <a:gridCol w="216915">
                  <a:extLst>
                    <a:ext uri="{9D8B030D-6E8A-4147-A177-3AD203B41FA5}">
                      <a16:colId xmlns:a16="http://schemas.microsoft.com/office/drawing/2014/main" val="3232046640"/>
                    </a:ext>
                  </a:extLst>
                </a:gridCol>
                <a:gridCol w="216915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</a:tblGrid>
              <a:tr h="21420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96678"/>
                  </a:ext>
                </a:extLst>
              </a:tr>
              <a:tr h="214203"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225911"/>
                  </a:ext>
                </a:extLst>
              </a:tr>
              <a:tr h="21420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971003"/>
                  </a:ext>
                </a:extLst>
              </a:tr>
              <a:tr h="214203"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384225"/>
                  </a:ext>
                </a:extLst>
              </a:tr>
              <a:tr h="21420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019256"/>
                  </a:ext>
                </a:extLst>
              </a:tr>
              <a:tr h="214203"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641310"/>
                  </a:ext>
                </a:extLst>
              </a:tr>
              <a:tr h="21420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904019"/>
                  </a:ext>
                </a:extLst>
              </a:tr>
            </a:tbl>
          </a:graphicData>
        </a:graphic>
      </p:graphicFrame>
      <p:graphicFrame>
        <p:nvGraphicFramePr>
          <p:cNvPr id="111" name="表格 110">
            <a:extLst>
              <a:ext uri="{FF2B5EF4-FFF2-40B4-BE49-F238E27FC236}">
                <a16:creationId xmlns:a16="http://schemas.microsoft.com/office/drawing/2014/main" id="{7E260945-4FEC-01AF-525F-DDA0D523AE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5136741"/>
              </p:ext>
            </p:extLst>
          </p:nvPr>
        </p:nvGraphicFramePr>
        <p:xfrm>
          <a:off x="6983362" y="2436221"/>
          <a:ext cx="365760" cy="14994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</a:tblGrid>
              <a:tr h="21420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96678"/>
                  </a:ext>
                </a:extLst>
              </a:tr>
              <a:tr h="214203"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225911"/>
                  </a:ext>
                </a:extLst>
              </a:tr>
              <a:tr h="21420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971003"/>
                  </a:ext>
                </a:extLst>
              </a:tr>
              <a:tr h="214203"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384225"/>
                  </a:ext>
                </a:extLst>
              </a:tr>
              <a:tr h="21420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019256"/>
                  </a:ext>
                </a:extLst>
              </a:tr>
              <a:tr h="214203"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641310"/>
                  </a:ext>
                </a:extLst>
              </a:tr>
              <a:tr h="21420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904019"/>
                  </a:ext>
                </a:extLst>
              </a:tr>
            </a:tbl>
          </a:graphicData>
        </a:graphic>
      </p:graphicFrame>
      <p:sp>
        <p:nvSpPr>
          <p:cNvPr id="149" name="矩形 148">
            <a:extLst>
              <a:ext uri="{FF2B5EF4-FFF2-40B4-BE49-F238E27FC236}">
                <a16:creationId xmlns:a16="http://schemas.microsoft.com/office/drawing/2014/main" id="{0840C22B-81C7-644A-23E5-50CEDE5C5372}"/>
              </a:ext>
            </a:extLst>
          </p:cNvPr>
          <p:cNvSpPr/>
          <p:nvPr/>
        </p:nvSpPr>
        <p:spPr>
          <a:xfrm>
            <a:off x="6957996" y="3693456"/>
            <a:ext cx="422316" cy="261528"/>
          </a:xfrm>
          <a:prstGeom prst="rect">
            <a:avLst/>
          </a:prstGeom>
          <a:solidFill>
            <a:schemeClr val="accent2">
              <a:lumMod val="20000"/>
              <a:lumOff val="80000"/>
              <a:alpha val="20000"/>
            </a:schemeClr>
          </a:solidFill>
          <a:ln w="15875">
            <a:solidFill>
              <a:schemeClr val="accent2">
                <a:lumMod val="75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500"/>
              </a:lnSpc>
            </a:pPr>
            <a:endParaRPr lang="en-US" altLang="zh-TW" sz="1400" b="1" baseline="-25000" dirty="0">
              <a:solidFill>
                <a:schemeClr val="tx2"/>
              </a:solidFill>
              <a:ea typeface="微軟正黑體" panose="020B0604030504040204" pitchFamily="34" charset="-120"/>
            </a:endParaRPr>
          </a:p>
        </p:txBody>
      </p:sp>
      <p:graphicFrame>
        <p:nvGraphicFramePr>
          <p:cNvPr id="175" name="表格 174">
            <a:extLst>
              <a:ext uri="{FF2B5EF4-FFF2-40B4-BE49-F238E27FC236}">
                <a16:creationId xmlns:a16="http://schemas.microsoft.com/office/drawing/2014/main" id="{FE4DA193-8730-665B-0F33-7162CBB46C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6766828"/>
              </p:ext>
            </p:extLst>
          </p:nvPr>
        </p:nvGraphicFramePr>
        <p:xfrm>
          <a:off x="4810961" y="2065255"/>
          <a:ext cx="1093276" cy="214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080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22080">
                  <a:extLst>
                    <a:ext uri="{9D8B030D-6E8A-4147-A177-3AD203B41FA5}">
                      <a16:colId xmlns:a16="http://schemas.microsoft.com/office/drawing/2014/main" val="2146389038"/>
                    </a:ext>
                  </a:extLst>
                </a:gridCol>
                <a:gridCol w="222080">
                  <a:extLst>
                    <a:ext uri="{9D8B030D-6E8A-4147-A177-3AD203B41FA5}">
                      <a16:colId xmlns:a16="http://schemas.microsoft.com/office/drawing/2014/main" val="1092904530"/>
                    </a:ext>
                  </a:extLst>
                </a:gridCol>
                <a:gridCol w="213518">
                  <a:extLst>
                    <a:ext uri="{9D8B030D-6E8A-4147-A177-3AD203B41FA5}">
                      <a16:colId xmlns:a16="http://schemas.microsoft.com/office/drawing/2014/main" val="545989195"/>
                    </a:ext>
                  </a:extLst>
                </a:gridCol>
                <a:gridCol w="213518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</a:tblGrid>
              <a:tr h="21420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96678"/>
                  </a:ext>
                </a:extLst>
              </a:tr>
            </a:tbl>
          </a:graphicData>
        </a:graphic>
      </p:graphicFrame>
      <p:cxnSp>
        <p:nvCxnSpPr>
          <p:cNvPr id="110" name="直線單箭頭接點 109">
            <a:extLst>
              <a:ext uri="{FF2B5EF4-FFF2-40B4-BE49-F238E27FC236}">
                <a16:creationId xmlns:a16="http://schemas.microsoft.com/office/drawing/2014/main" id="{1D57BE8B-0F0D-F24A-2460-42F43D67A94C}"/>
              </a:ext>
            </a:extLst>
          </p:cNvPr>
          <p:cNvCxnSpPr>
            <a:cxnSpLocks/>
          </p:cNvCxnSpPr>
          <p:nvPr/>
        </p:nvCxnSpPr>
        <p:spPr>
          <a:xfrm>
            <a:off x="6211319" y="3222850"/>
            <a:ext cx="505265" cy="0"/>
          </a:xfrm>
          <a:prstGeom prst="straightConnector1">
            <a:avLst/>
          </a:prstGeom>
          <a:ln w="15875">
            <a:solidFill>
              <a:schemeClr val="accent2"/>
            </a:solidFill>
            <a:prstDash val="sysDot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5" name="表格 64">
            <a:extLst>
              <a:ext uri="{FF2B5EF4-FFF2-40B4-BE49-F238E27FC236}">
                <a16:creationId xmlns:a16="http://schemas.microsoft.com/office/drawing/2014/main" id="{43EC8D90-DE05-7696-BF5D-7128E18B15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2773891"/>
              </p:ext>
            </p:extLst>
          </p:nvPr>
        </p:nvGraphicFramePr>
        <p:xfrm>
          <a:off x="2898951" y="2436221"/>
          <a:ext cx="415217" cy="14994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691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03526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</a:tblGrid>
              <a:tr h="21420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96678"/>
                  </a:ext>
                </a:extLst>
              </a:tr>
              <a:tr h="214203"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225911"/>
                  </a:ext>
                </a:extLst>
              </a:tr>
              <a:tr h="21420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971003"/>
                  </a:ext>
                </a:extLst>
              </a:tr>
              <a:tr h="214203"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384225"/>
                  </a:ext>
                </a:extLst>
              </a:tr>
              <a:tr h="21420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019256"/>
                  </a:ext>
                </a:extLst>
              </a:tr>
              <a:tr h="214203"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641310"/>
                  </a:ext>
                </a:extLst>
              </a:tr>
              <a:tr h="21420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904019"/>
                  </a:ext>
                </a:extLst>
              </a:tr>
            </a:tbl>
          </a:graphicData>
        </a:graphic>
      </p:graphicFrame>
      <p:graphicFrame>
        <p:nvGraphicFramePr>
          <p:cNvPr id="178" name="表格 177">
            <a:extLst>
              <a:ext uri="{FF2B5EF4-FFF2-40B4-BE49-F238E27FC236}">
                <a16:creationId xmlns:a16="http://schemas.microsoft.com/office/drawing/2014/main" id="{8DDF1167-3B3F-205E-18C9-A211CB0C15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3674208"/>
              </p:ext>
            </p:extLst>
          </p:nvPr>
        </p:nvGraphicFramePr>
        <p:xfrm>
          <a:off x="6983362" y="2053556"/>
          <a:ext cx="365761" cy="212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1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</a:tblGrid>
              <a:tr h="21215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96678"/>
                  </a:ext>
                </a:extLst>
              </a:tr>
            </a:tbl>
          </a:graphicData>
        </a:graphic>
      </p:graphicFrame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561E3745-692F-B7C1-2D8E-F65C1DAB03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572540"/>
              </p:ext>
            </p:extLst>
          </p:nvPr>
        </p:nvGraphicFramePr>
        <p:xfrm>
          <a:off x="1009511" y="2436221"/>
          <a:ext cx="597080" cy="14994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278">
                  <a:extLst>
                    <a:ext uri="{9D8B030D-6E8A-4147-A177-3AD203B41FA5}">
                      <a16:colId xmlns:a16="http://schemas.microsoft.com/office/drawing/2014/main" val="1603514915"/>
                    </a:ext>
                  </a:extLst>
                </a:gridCol>
                <a:gridCol w="196401">
                  <a:extLst>
                    <a:ext uri="{9D8B030D-6E8A-4147-A177-3AD203B41FA5}">
                      <a16:colId xmlns:a16="http://schemas.microsoft.com/office/drawing/2014/main" val="1823401774"/>
                    </a:ext>
                  </a:extLst>
                </a:gridCol>
                <a:gridCol w="196401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</a:tblGrid>
              <a:tr h="21420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96678"/>
                  </a:ext>
                </a:extLst>
              </a:tr>
              <a:tr h="214203"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225911"/>
                  </a:ext>
                </a:extLst>
              </a:tr>
              <a:tr h="21420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971003"/>
                  </a:ext>
                </a:extLst>
              </a:tr>
              <a:tr h="214203"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384225"/>
                  </a:ext>
                </a:extLst>
              </a:tr>
              <a:tr h="21420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019256"/>
                  </a:ext>
                </a:extLst>
              </a:tr>
              <a:tr h="214203"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641310"/>
                  </a:ext>
                </a:extLst>
              </a:tr>
              <a:tr h="21420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904019"/>
                  </a:ext>
                </a:extLst>
              </a:tr>
            </a:tbl>
          </a:graphicData>
        </a:graphic>
      </p:graphicFrame>
      <p:sp>
        <p:nvSpPr>
          <p:cNvPr id="8" name="標題 1">
            <a:extLst>
              <a:ext uri="{FF2B5EF4-FFF2-40B4-BE49-F238E27FC236}">
                <a16:creationId xmlns:a16="http://schemas.microsoft.com/office/drawing/2014/main" id="{21DE8883-3968-CF7D-74E3-0742E8294D7D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b="1" dirty="0">
                <a:solidFill>
                  <a:schemeClr val="accent6">
                    <a:lumMod val="75000"/>
                  </a:scheme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R</a:t>
            </a:r>
            <a:r>
              <a:rPr lang="en-US" altLang="zh-TW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ecurrent  </a:t>
            </a:r>
            <a:r>
              <a:rPr lang="en-US" altLang="zh-TW" sz="2800" b="1" dirty="0">
                <a:solidFill>
                  <a:schemeClr val="accent6">
                    <a:lumMod val="75000"/>
                  </a:scheme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N</a:t>
            </a:r>
            <a:r>
              <a:rPr lang="en-US" altLang="zh-TW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eural </a:t>
            </a:r>
            <a:r>
              <a:rPr lang="en-US" altLang="zh-TW" sz="2800" b="1" dirty="0">
                <a:solidFill>
                  <a:schemeClr val="accent6">
                    <a:lumMod val="75000"/>
                  </a:scheme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N</a:t>
            </a:r>
            <a:r>
              <a:rPr lang="en-US" altLang="zh-TW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etwork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Vanishing gradient limits long-term memory.</a:t>
            </a:r>
          </a:p>
        </p:txBody>
      </p:sp>
      <p:sp>
        <p:nvSpPr>
          <p:cNvPr id="80" name="文字方塊 79">
            <a:extLst>
              <a:ext uri="{FF2B5EF4-FFF2-40B4-BE49-F238E27FC236}">
                <a16:creationId xmlns:a16="http://schemas.microsoft.com/office/drawing/2014/main" id="{23BFE739-12E8-B948-EBCC-08BCC0A1B97B}"/>
              </a:ext>
            </a:extLst>
          </p:cNvPr>
          <p:cNvSpPr txBox="1"/>
          <p:nvPr/>
        </p:nvSpPr>
        <p:spPr>
          <a:xfrm>
            <a:off x="2073493" y="4007650"/>
            <a:ext cx="1257506" cy="190663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200"/>
              </a:lnSpc>
            </a:pPr>
            <a:r>
              <a:rPr lang="en-US" altLang="zh-TW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4*3 x 3*2</a:t>
            </a:r>
            <a:r>
              <a:rPr lang="en-US" altLang="zh-TW" sz="1000" b="1" dirty="0">
                <a:latin typeface="Noto Sans HK" panose="020B0200000000000000" pitchFamily="34" charset="-120"/>
                <a:ea typeface="Noto Sans HK" panose="020B0200000000000000" pitchFamily="34" charset="-120"/>
              </a:rPr>
              <a:t> </a:t>
            </a:r>
            <a:r>
              <a:rPr lang="en-US" altLang="zh-TW" sz="1000" dirty="0">
                <a:latin typeface="Noto Sans HK" panose="020B0200000000000000" pitchFamily="34" charset="-120"/>
                <a:ea typeface="Noto Sans HK" panose="020B0200000000000000" pitchFamily="34" charset="-120"/>
                <a:sym typeface="Wingdings" panose="05000000000000000000" pitchFamily="2" charset="2"/>
              </a:rPr>
              <a:t></a:t>
            </a:r>
            <a:r>
              <a:rPr lang="en-US" altLang="zh-TW" sz="1000" b="1" dirty="0">
                <a:latin typeface="Noto Sans HK" panose="020B0200000000000000" pitchFamily="34" charset="-120"/>
                <a:ea typeface="Noto Sans HK" panose="020B0200000000000000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1200" b="1" dirty="0">
                <a:sym typeface="Wingdings" panose="05000000000000000000" pitchFamily="2" charset="2"/>
              </a:rPr>
              <a:t>4*2</a:t>
            </a:r>
            <a:endParaRPr lang="zh-TW" altLang="en-US" sz="1200" b="1" dirty="0"/>
          </a:p>
        </p:txBody>
      </p:sp>
      <p:sp>
        <p:nvSpPr>
          <p:cNvPr id="98" name="文字方塊 97">
            <a:extLst>
              <a:ext uri="{FF2B5EF4-FFF2-40B4-BE49-F238E27FC236}">
                <a16:creationId xmlns:a16="http://schemas.microsoft.com/office/drawing/2014/main" id="{718AE05A-8AB3-63E8-DC18-C7D5DDEF63AC}"/>
              </a:ext>
            </a:extLst>
          </p:cNvPr>
          <p:cNvSpPr txBox="1"/>
          <p:nvPr/>
        </p:nvSpPr>
        <p:spPr>
          <a:xfrm>
            <a:off x="5178905" y="2737142"/>
            <a:ext cx="365760" cy="158584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200" b="1" dirty="0"/>
              <a:t>1*5</a:t>
            </a:r>
            <a:endParaRPr lang="zh-TW" altLang="en-US" sz="1200" b="1" dirty="0"/>
          </a:p>
        </p:txBody>
      </p:sp>
      <p:graphicFrame>
        <p:nvGraphicFramePr>
          <p:cNvPr id="139" name="表格 138">
            <a:extLst>
              <a:ext uri="{FF2B5EF4-FFF2-40B4-BE49-F238E27FC236}">
                <a16:creationId xmlns:a16="http://schemas.microsoft.com/office/drawing/2014/main" id="{2FE7D103-E76F-68B6-BCC7-EE2E52B354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6247287"/>
              </p:ext>
            </p:extLst>
          </p:nvPr>
        </p:nvGraphicFramePr>
        <p:xfrm>
          <a:off x="2898951" y="2073159"/>
          <a:ext cx="415217" cy="214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691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03526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</a:tblGrid>
              <a:tr h="21420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96678"/>
                  </a:ext>
                </a:extLst>
              </a:tr>
            </a:tbl>
          </a:graphicData>
        </a:graphic>
      </p:graphicFrame>
      <p:sp>
        <p:nvSpPr>
          <p:cNvPr id="163" name="文字方塊 162">
            <a:extLst>
              <a:ext uri="{FF2B5EF4-FFF2-40B4-BE49-F238E27FC236}">
                <a16:creationId xmlns:a16="http://schemas.microsoft.com/office/drawing/2014/main" id="{684FD4A8-A4B2-594F-93DF-0827CBEA6437}"/>
              </a:ext>
            </a:extLst>
          </p:cNvPr>
          <p:cNvSpPr txBox="1"/>
          <p:nvPr/>
        </p:nvSpPr>
        <p:spPr>
          <a:xfrm>
            <a:off x="892048" y="1268761"/>
            <a:ext cx="782767" cy="184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zh-TW" sz="1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</a:t>
            </a:r>
            <a:r>
              <a:rPr lang="en-US" altLang="zh-TW" sz="1200" b="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nput h0(t)</a:t>
            </a:r>
            <a:endParaRPr lang="zh-TW" altLang="en-US" sz="1200" dirty="0"/>
          </a:p>
        </p:txBody>
      </p:sp>
      <p:graphicFrame>
        <p:nvGraphicFramePr>
          <p:cNvPr id="169" name="表格 168">
            <a:extLst>
              <a:ext uri="{FF2B5EF4-FFF2-40B4-BE49-F238E27FC236}">
                <a16:creationId xmlns:a16="http://schemas.microsoft.com/office/drawing/2014/main" id="{B2FF5E38-1281-8626-137A-68A6601925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373442"/>
              </p:ext>
            </p:extLst>
          </p:nvPr>
        </p:nvGraphicFramePr>
        <p:xfrm>
          <a:off x="572126" y="2007815"/>
          <a:ext cx="365377" cy="19278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377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</a:tblGrid>
              <a:tr h="21420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t=0</a:t>
                      </a:r>
                      <a:endParaRPr lang="zh-TW" altLang="en-US" sz="1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310418"/>
                  </a:ext>
                </a:extLst>
              </a:tr>
              <a:tr h="214203"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3796171"/>
                  </a:ext>
                </a:extLst>
              </a:tr>
              <a:tr h="21420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t=1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96678"/>
                  </a:ext>
                </a:extLst>
              </a:tr>
              <a:tr h="214203"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225911"/>
                  </a:ext>
                </a:extLst>
              </a:tr>
              <a:tr h="21420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t=2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971003"/>
                  </a:ext>
                </a:extLst>
              </a:tr>
              <a:tr h="214203"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384225"/>
                  </a:ext>
                </a:extLst>
              </a:tr>
              <a:tr h="21420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t=3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019256"/>
                  </a:ext>
                </a:extLst>
              </a:tr>
              <a:tr h="214203"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641310"/>
                  </a:ext>
                </a:extLst>
              </a:tr>
              <a:tr h="21420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t=4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904019"/>
                  </a:ext>
                </a:extLst>
              </a:tr>
            </a:tbl>
          </a:graphicData>
        </a:graphic>
      </p:graphicFrame>
      <p:grpSp>
        <p:nvGrpSpPr>
          <p:cNvPr id="211" name="群組 210">
            <a:extLst>
              <a:ext uri="{FF2B5EF4-FFF2-40B4-BE49-F238E27FC236}">
                <a16:creationId xmlns:a16="http://schemas.microsoft.com/office/drawing/2014/main" id="{F1359D4F-1182-59DF-45ED-07EADBB81931}"/>
              </a:ext>
            </a:extLst>
          </p:cNvPr>
          <p:cNvGrpSpPr/>
          <p:nvPr/>
        </p:nvGrpSpPr>
        <p:grpSpPr>
          <a:xfrm>
            <a:off x="1950696" y="1268761"/>
            <a:ext cx="2132828" cy="446292"/>
            <a:chOff x="6047368" y="1223009"/>
            <a:chExt cx="2132828" cy="4462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2" name="文字方塊 211">
                  <a:extLst>
                    <a:ext uri="{FF2B5EF4-FFF2-40B4-BE49-F238E27FC236}">
                      <a16:creationId xmlns:a16="http://schemas.microsoft.com/office/drawing/2014/main" id="{0F3F451B-770A-5D03-9477-F3D604E3B0CB}"/>
                    </a:ext>
                  </a:extLst>
                </p:cNvPr>
                <p:cNvSpPr txBox="1"/>
                <p:nvPr/>
              </p:nvSpPr>
              <p:spPr>
                <a:xfrm>
                  <a:off x="6047368" y="1453601"/>
                  <a:ext cx="2132828" cy="2157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m:rPr>
                            <m:sty m:val="p"/>
                          </m:rPr>
                          <a:rPr lang="en-US" altLang="zh-TW" sz="1200" b="0" i="0" smtClean="0">
                            <a:latin typeface="Cambria Math" panose="02040503050406030204" pitchFamily="18" charset="0"/>
                          </a:rPr>
                          <m:t>tanh</m:t>
                        </m:r>
                        <m:d>
                          <m:dPr>
                            <m:ctrlPr>
                              <a:rPr lang="en-US" altLang="zh-TW" sz="1200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200" b="1" i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200" b="1" i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  <m:r>
                                  <a:rPr lang="en-US" altLang="zh-TW" sz="1200" b="1" i="0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  <m:sub>
                                <m:r>
                                  <a:rPr lang="en-US" altLang="zh-TW" sz="12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(4</m:t>
                                </m:r>
                                <m:r>
                                  <a:rPr lang="en-US" altLang="zh-TW" sz="12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b>
                            </m:sSub>
                            <m:r>
                              <a:rPr lang="en-US" altLang="zh-TW" sz="1200" b="1" i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𝐖𝟏</m:t>
                            </m:r>
                            <m:r>
                              <a:rPr lang="en-US" altLang="zh-TW" sz="1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TW" sz="12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12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US" altLang="zh-TW" sz="12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sub>
                                <m:r>
                                  <a:rPr lang="en-US" altLang="zh-TW" sz="12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(3)</m:t>
                                </m:r>
                              </m:sub>
                            </m:sSub>
                            <m:r>
                              <a:rPr lang="en-US" altLang="zh-TW" sz="1200" b="1" i="0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𝐔𝟏</m:t>
                            </m:r>
                            <m:r>
                              <a:rPr lang="en-US" altLang="zh-TW" sz="1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 altLang="zh-TW" sz="1200" b="0" i="1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  <m:r>
                              <a:rPr lang="en-US" altLang="zh-TW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212" name="文字方塊 211">
                  <a:extLst>
                    <a:ext uri="{FF2B5EF4-FFF2-40B4-BE49-F238E27FC236}">
                      <a16:creationId xmlns:a16="http://schemas.microsoft.com/office/drawing/2014/main" id="{0F3F451B-770A-5D03-9477-F3D604E3B0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47368" y="1453601"/>
                  <a:ext cx="2132828" cy="215700"/>
                </a:xfrm>
                <a:prstGeom prst="rect">
                  <a:avLst/>
                </a:prstGeom>
                <a:blipFill>
                  <a:blip r:embed="rId4"/>
                  <a:stretch>
                    <a:fillRect l="-2865" b="-2222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3" name="矩形 212">
              <a:extLst>
                <a:ext uri="{FF2B5EF4-FFF2-40B4-BE49-F238E27FC236}">
                  <a16:creationId xmlns:a16="http://schemas.microsoft.com/office/drawing/2014/main" id="{6880CA49-2418-B49D-2B41-D95EF986D9BF}"/>
                </a:ext>
              </a:extLst>
            </p:cNvPr>
            <p:cNvSpPr/>
            <p:nvPr/>
          </p:nvSpPr>
          <p:spPr>
            <a:xfrm>
              <a:off x="6047368" y="1223009"/>
              <a:ext cx="1339534" cy="184667"/>
            </a:xfrm>
            <a:prstGeom prst="rect">
              <a:avLst/>
            </a:prstGeom>
            <a:noFill/>
            <a:ln w="19050">
              <a:noFill/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t" anchorCtr="0">
              <a:noAutofit/>
            </a:bodyPr>
            <a:lstStyle/>
            <a:p>
              <a:pPr>
                <a:lnSpc>
                  <a:spcPts val="1600"/>
                </a:lnSpc>
              </a:pPr>
              <a:r>
                <a:rPr lang="en-US" altLang="zh-TW" sz="1200" b="1" dirty="0">
                  <a:solidFill>
                    <a:schemeClr val="tx1"/>
                  </a:solidFill>
                  <a:ea typeface="微軟正黑體" panose="020B0604030504040204" pitchFamily="34" charset="-120"/>
                </a:rPr>
                <a:t>RNN h1(1)</a:t>
              </a:r>
              <a:endParaRPr lang="en-US" altLang="zh-TW" sz="1200" baseline="-25000" dirty="0">
                <a:solidFill>
                  <a:schemeClr val="tx1"/>
                </a:solidFill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214" name="群組 213">
            <a:extLst>
              <a:ext uri="{FF2B5EF4-FFF2-40B4-BE49-F238E27FC236}">
                <a16:creationId xmlns:a16="http://schemas.microsoft.com/office/drawing/2014/main" id="{C6D2DF37-42AF-BCB9-964F-E6DF8AB313B9}"/>
              </a:ext>
            </a:extLst>
          </p:cNvPr>
          <p:cNvGrpSpPr/>
          <p:nvPr/>
        </p:nvGrpSpPr>
        <p:grpSpPr>
          <a:xfrm>
            <a:off x="4195095" y="1268760"/>
            <a:ext cx="2132828" cy="446292"/>
            <a:chOff x="6047368" y="1223009"/>
            <a:chExt cx="2132828" cy="4462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" name="文字方塊 214">
                  <a:extLst>
                    <a:ext uri="{FF2B5EF4-FFF2-40B4-BE49-F238E27FC236}">
                      <a16:creationId xmlns:a16="http://schemas.microsoft.com/office/drawing/2014/main" id="{8FE6EBEB-6DD2-1864-3460-C241A9ED92B4}"/>
                    </a:ext>
                  </a:extLst>
                </p:cNvPr>
                <p:cNvSpPr txBox="1"/>
                <p:nvPr/>
              </p:nvSpPr>
              <p:spPr>
                <a:xfrm>
                  <a:off x="6047368" y="1453601"/>
                  <a:ext cx="2132828" cy="2157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m:rPr>
                            <m:sty m:val="p"/>
                          </m:rPr>
                          <a:rPr lang="en-US" altLang="zh-TW" sz="1200" b="0" i="0" smtClean="0">
                            <a:latin typeface="Cambria Math" panose="02040503050406030204" pitchFamily="18" charset="0"/>
                          </a:rPr>
                          <m:t>tanh</m:t>
                        </m:r>
                        <m:d>
                          <m:dPr>
                            <m:ctrlPr>
                              <a:rPr lang="en-US" altLang="zh-TW" sz="1200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200" b="1" i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200" b="1" i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  <m:r>
                                  <a:rPr lang="en-US" altLang="zh-TW" sz="1200" b="1" i="0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sub>
                                <m:r>
                                  <a:rPr lang="en-US" altLang="zh-TW" sz="12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sz="12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1)</m:t>
                                </m:r>
                              </m:sub>
                            </m:sSub>
                            <m:r>
                              <a:rPr lang="en-US" altLang="zh-TW" sz="1200" b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𝐖𝟏</m:t>
                            </m:r>
                            <m:r>
                              <a:rPr lang="en-US" altLang="zh-TW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TW" sz="12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12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US" altLang="zh-TW" sz="12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b>
                                <m:r>
                                  <a:rPr lang="en-US" altLang="zh-TW" sz="12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(0)</m:t>
                                </m:r>
                              </m:sub>
                            </m:sSub>
                            <m:r>
                              <a:rPr lang="en-US" altLang="zh-TW" sz="1200" b="1" i="0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𝐔𝟐</m:t>
                            </m:r>
                            <m:r>
                              <a:rPr lang="en-US" altLang="zh-TW" sz="1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 altLang="zh-TW" sz="1200" b="0" i="1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  <m:r>
                              <a:rPr lang="en-US" altLang="zh-TW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215" name="文字方塊 214">
                  <a:extLst>
                    <a:ext uri="{FF2B5EF4-FFF2-40B4-BE49-F238E27FC236}">
                      <a16:creationId xmlns:a16="http://schemas.microsoft.com/office/drawing/2014/main" id="{8FE6EBEB-6DD2-1864-3460-C241A9ED92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47368" y="1453601"/>
                  <a:ext cx="2132828" cy="215700"/>
                </a:xfrm>
                <a:prstGeom prst="rect">
                  <a:avLst/>
                </a:prstGeom>
                <a:blipFill>
                  <a:blip r:embed="rId5"/>
                  <a:stretch>
                    <a:fillRect l="-2857" b="-2222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6" name="矩形 215">
              <a:extLst>
                <a:ext uri="{FF2B5EF4-FFF2-40B4-BE49-F238E27FC236}">
                  <a16:creationId xmlns:a16="http://schemas.microsoft.com/office/drawing/2014/main" id="{03856099-A7A0-2C7F-BB47-C2902EDD9426}"/>
                </a:ext>
              </a:extLst>
            </p:cNvPr>
            <p:cNvSpPr/>
            <p:nvPr/>
          </p:nvSpPr>
          <p:spPr>
            <a:xfrm>
              <a:off x="6047368" y="1223009"/>
              <a:ext cx="1339534" cy="184667"/>
            </a:xfrm>
            <a:prstGeom prst="rect">
              <a:avLst/>
            </a:prstGeom>
            <a:noFill/>
            <a:ln w="19050">
              <a:noFill/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t" anchorCtr="0">
              <a:noAutofit/>
            </a:bodyPr>
            <a:lstStyle/>
            <a:p>
              <a:pPr>
                <a:lnSpc>
                  <a:spcPts val="1600"/>
                </a:lnSpc>
              </a:pPr>
              <a:r>
                <a:rPr lang="en-US" altLang="zh-TW" sz="1200" b="1" dirty="0">
                  <a:solidFill>
                    <a:schemeClr val="tx1"/>
                  </a:solidFill>
                  <a:ea typeface="微軟正黑體" panose="020B0604030504040204" pitchFamily="34" charset="-120"/>
                </a:rPr>
                <a:t>RNN h2(3) …</a:t>
              </a:r>
              <a:endParaRPr lang="en-US" altLang="zh-TW" sz="1200" baseline="-25000" dirty="0">
                <a:solidFill>
                  <a:schemeClr val="tx1"/>
                </a:solidFill>
                <a:ea typeface="微軟正黑體" panose="020B0604030504040204" pitchFamily="34" charset="-120"/>
              </a:endParaRPr>
            </a:p>
          </p:txBody>
        </p:sp>
      </p:grpSp>
      <p:sp>
        <p:nvSpPr>
          <p:cNvPr id="221" name="文字方塊 220">
            <a:extLst>
              <a:ext uri="{FF2B5EF4-FFF2-40B4-BE49-F238E27FC236}">
                <a16:creationId xmlns:a16="http://schemas.microsoft.com/office/drawing/2014/main" id="{63B9291D-18FE-56EE-EE29-081EE4CBEDB5}"/>
              </a:ext>
            </a:extLst>
          </p:cNvPr>
          <p:cNvSpPr txBox="1"/>
          <p:nvPr/>
        </p:nvSpPr>
        <p:spPr>
          <a:xfrm>
            <a:off x="4017709" y="4007650"/>
            <a:ext cx="1257506" cy="190663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200"/>
              </a:lnSpc>
            </a:pPr>
            <a:r>
              <a:rPr lang="en-US" altLang="zh-TW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4*2 x 2*5</a:t>
            </a:r>
            <a:r>
              <a:rPr lang="en-US" altLang="zh-TW" sz="1000" b="1" dirty="0">
                <a:latin typeface="Noto Sans HK" panose="020B0200000000000000" pitchFamily="34" charset="-120"/>
                <a:ea typeface="Noto Sans HK" panose="020B0200000000000000" pitchFamily="34" charset="-120"/>
              </a:rPr>
              <a:t> </a:t>
            </a:r>
            <a:r>
              <a:rPr lang="en-US" altLang="zh-TW" sz="1000" dirty="0">
                <a:latin typeface="Noto Sans HK" panose="020B0200000000000000" pitchFamily="34" charset="-120"/>
                <a:ea typeface="Noto Sans HK" panose="020B0200000000000000" pitchFamily="34" charset="-120"/>
                <a:sym typeface="Wingdings" panose="05000000000000000000" pitchFamily="2" charset="2"/>
              </a:rPr>
              <a:t></a:t>
            </a:r>
            <a:r>
              <a:rPr lang="en-US" altLang="zh-TW" sz="1000" b="1" dirty="0">
                <a:latin typeface="Noto Sans HK" panose="020B0200000000000000" pitchFamily="34" charset="-120"/>
                <a:ea typeface="Noto Sans HK" panose="020B0200000000000000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1200" b="1" dirty="0">
                <a:sym typeface="Wingdings" panose="05000000000000000000" pitchFamily="2" charset="2"/>
              </a:rPr>
              <a:t>4*5</a:t>
            </a:r>
            <a:endParaRPr lang="zh-TW" altLang="en-US" sz="1200" b="1" dirty="0"/>
          </a:p>
        </p:txBody>
      </p:sp>
      <p:sp>
        <p:nvSpPr>
          <p:cNvPr id="223" name="文字方塊 222">
            <a:extLst>
              <a:ext uri="{FF2B5EF4-FFF2-40B4-BE49-F238E27FC236}">
                <a16:creationId xmlns:a16="http://schemas.microsoft.com/office/drawing/2014/main" id="{9A816E49-1E23-B7A3-5DFB-43BD22AE96D9}"/>
              </a:ext>
            </a:extLst>
          </p:cNvPr>
          <p:cNvSpPr txBox="1"/>
          <p:nvPr/>
        </p:nvSpPr>
        <p:spPr>
          <a:xfrm>
            <a:off x="6105941" y="4010196"/>
            <a:ext cx="1257506" cy="190663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200"/>
              </a:lnSpc>
            </a:pPr>
            <a:r>
              <a:rPr lang="en-US" altLang="zh-TW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4*5 x 5*n</a:t>
            </a:r>
            <a:r>
              <a:rPr lang="en-US" altLang="zh-TW" sz="1000" b="1" dirty="0">
                <a:latin typeface="Noto Sans HK" panose="020B0200000000000000" pitchFamily="34" charset="-120"/>
                <a:ea typeface="Noto Sans HK" panose="020B0200000000000000" pitchFamily="34" charset="-120"/>
              </a:rPr>
              <a:t> </a:t>
            </a:r>
            <a:r>
              <a:rPr lang="en-US" altLang="zh-TW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HK" panose="020B0200000000000000" pitchFamily="34" charset="-120"/>
                <a:ea typeface="Noto Sans HK" panose="020B0200000000000000" pitchFamily="34" charset="-120"/>
                <a:sym typeface="Wingdings" panose="05000000000000000000" pitchFamily="2" charset="2"/>
              </a:rPr>
              <a:t></a:t>
            </a:r>
            <a:r>
              <a:rPr lang="en-US" altLang="zh-TW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HK" panose="020B0200000000000000" pitchFamily="34" charset="-120"/>
                <a:ea typeface="Noto Sans HK" panose="020B0200000000000000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1200" b="1" dirty="0">
                <a:solidFill>
                  <a:schemeClr val="tx1">
                    <a:lumMod val="50000"/>
                    <a:lumOff val="50000"/>
                  </a:schemeClr>
                </a:solidFill>
                <a:sym typeface="Wingdings" panose="05000000000000000000" pitchFamily="2" charset="2"/>
              </a:rPr>
              <a:t>4*n</a:t>
            </a:r>
            <a:endParaRPr lang="zh-TW" altLang="en-US" sz="12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92" name="接點: 肘形 91">
            <a:extLst>
              <a:ext uri="{FF2B5EF4-FFF2-40B4-BE49-F238E27FC236}">
                <a16:creationId xmlns:a16="http://schemas.microsoft.com/office/drawing/2014/main" id="{1CE6DD42-D886-51F8-EEED-3CC552E0D9DB}"/>
              </a:ext>
            </a:extLst>
          </p:cNvPr>
          <p:cNvCxnSpPr>
            <a:cxnSpLocks/>
            <a:stCxn id="262" idx="1"/>
            <a:endCxn id="64" idx="0"/>
          </p:cNvCxnSpPr>
          <p:nvPr/>
        </p:nvCxnSpPr>
        <p:spPr>
          <a:xfrm rot="10800000" flipV="1">
            <a:off x="4516051" y="2968442"/>
            <a:ext cx="274158" cy="304899"/>
          </a:xfrm>
          <a:prstGeom prst="bentConnector2">
            <a:avLst/>
          </a:prstGeom>
          <a:ln w="15875">
            <a:solidFill>
              <a:schemeClr val="accent1">
                <a:lumMod val="75000"/>
              </a:schemeClr>
            </a:solidFill>
            <a:prstDash val="sysDot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直線單箭頭接點 279">
            <a:extLst>
              <a:ext uri="{FF2B5EF4-FFF2-40B4-BE49-F238E27FC236}">
                <a16:creationId xmlns:a16="http://schemas.microsoft.com/office/drawing/2014/main" id="{6BEF386E-B437-8EEB-70E0-26F6BEDEC8FB}"/>
              </a:ext>
            </a:extLst>
          </p:cNvPr>
          <p:cNvCxnSpPr>
            <a:cxnSpLocks/>
            <a:stCxn id="80" idx="3"/>
            <a:endCxn id="221" idx="1"/>
          </p:cNvCxnSpPr>
          <p:nvPr/>
        </p:nvCxnSpPr>
        <p:spPr>
          <a:xfrm>
            <a:off x="3330999" y="4102982"/>
            <a:ext cx="686710" cy="0"/>
          </a:xfrm>
          <a:prstGeom prst="straightConnector1">
            <a:avLst/>
          </a:prstGeom>
          <a:ln w="25400">
            <a:gradFill flip="none" rotWithShape="1">
              <a:gsLst>
                <a:gs pos="0">
                  <a:schemeClr val="bg1"/>
                </a:gs>
                <a:gs pos="45000">
                  <a:srgbClr val="FF0000"/>
                </a:gs>
                <a:gs pos="100000">
                  <a:srgbClr val="FF0000"/>
                </a:gs>
              </a:gsLst>
              <a:lin ang="0" scaled="1"/>
              <a:tileRect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接點: 肘形 299">
            <a:extLst>
              <a:ext uri="{FF2B5EF4-FFF2-40B4-BE49-F238E27FC236}">
                <a16:creationId xmlns:a16="http://schemas.microsoft.com/office/drawing/2014/main" id="{F990CA25-D6BD-A772-7F78-61ACBB21EB26}"/>
              </a:ext>
            </a:extLst>
          </p:cNvPr>
          <p:cNvCxnSpPr>
            <a:cxnSpLocks/>
            <a:stCxn id="297" idx="1"/>
            <a:endCxn id="312" idx="0"/>
          </p:cNvCxnSpPr>
          <p:nvPr/>
        </p:nvCxnSpPr>
        <p:spPr>
          <a:xfrm rot="10800000" flipV="1">
            <a:off x="2327741" y="2183125"/>
            <a:ext cx="537626" cy="222328"/>
          </a:xfrm>
          <a:prstGeom prst="bentConnector2">
            <a:avLst/>
          </a:prstGeom>
          <a:ln w="15875">
            <a:solidFill>
              <a:schemeClr val="tx2"/>
            </a:solidFill>
            <a:prstDash val="sysDot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5" name="群組 274">
            <a:extLst>
              <a:ext uri="{FF2B5EF4-FFF2-40B4-BE49-F238E27FC236}">
                <a16:creationId xmlns:a16="http://schemas.microsoft.com/office/drawing/2014/main" id="{9E0FB743-6958-A578-6C99-83473B9DD004}"/>
              </a:ext>
            </a:extLst>
          </p:cNvPr>
          <p:cNvGrpSpPr/>
          <p:nvPr/>
        </p:nvGrpSpPr>
        <p:grpSpPr>
          <a:xfrm>
            <a:off x="4334082" y="2711506"/>
            <a:ext cx="293061" cy="359271"/>
            <a:chOff x="1851922" y="1748433"/>
            <a:chExt cx="293061" cy="359271"/>
          </a:xfrm>
        </p:grpSpPr>
        <p:sp>
          <p:nvSpPr>
            <p:cNvPr id="274" name="矩形 273">
              <a:extLst>
                <a:ext uri="{FF2B5EF4-FFF2-40B4-BE49-F238E27FC236}">
                  <a16:creationId xmlns:a16="http://schemas.microsoft.com/office/drawing/2014/main" id="{32F470CD-9527-484C-ED91-2B1420E1135D}"/>
                </a:ext>
              </a:extLst>
            </p:cNvPr>
            <p:cNvSpPr/>
            <p:nvPr/>
          </p:nvSpPr>
          <p:spPr>
            <a:xfrm>
              <a:off x="1851922" y="1833384"/>
              <a:ext cx="274320" cy="2743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1"/>
            <a:lstStyle/>
            <a:p>
              <a:pPr algn="ctr">
                <a:lnSpc>
                  <a:spcPts val="1600"/>
                </a:lnSpc>
              </a:pPr>
              <a:r>
                <a:rPr lang="en-US" altLang="zh-TW" sz="1200" b="1" dirty="0">
                  <a:solidFill>
                    <a:schemeClr val="tx1"/>
                  </a:solidFill>
                  <a:ea typeface="微軟正黑體" panose="020B0604030504040204" pitchFamily="34" charset="-120"/>
                </a:rPr>
                <a:t>U2</a:t>
              </a:r>
              <a:endParaRPr lang="en-US" altLang="zh-TW" sz="1200" b="1" baseline="-25000" dirty="0">
                <a:solidFill>
                  <a:schemeClr val="tx1"/>
                </a:solidFill>
                <a:ea typeface="微軟正黑體" panose="020B0604030504040204" pitchFamily="34" charset="-120"/>
              </a:endParaRPr>
            </a:p>
          </p:txBody>
        </p:sp>
        <p:sp>
          <p:nvSpPr>
            <p:cNvPr id="249" name="文字方塊 248">
              <a:extLst>
                <a:ext uri="{FF2B5EF4-FFF2-40B4-BE49-F238E27FC236}">
                  <a16:creationId xmlns:a16="http://schemas.microsoft.com/office/drawing/2014/main" id="{48222D2F-EDAC-9F8B-7F64-4B77B4877A2C}"/>
                </a:ext>
              </a:extLst>
            </p:cNvPr>
            <p:cNvSpPr txBox="1"/>
            <p:nvPr/>
          </p:nvSpPr>
          <p:spPr>
            <a:xfrm>
              <a:off x="1851922" y="1748433"/>
              <a:ext cx="293061" cy="158592"/>
            </a:xfrm>
            <a:prstGeom prst="rect">
              <a:avLst/>
            </a:prstGeom>
            <a:solidFill>
              <a:schemeClr val="bg1">
                <a:alpha val="40000"/>
              </a:schemeClr>
            </a:solidFill>
            <a:ln>
              <a:noFill/>
            </a:ln>
          </p:spPr>
          <p:txBody>
            <a:bodyPr wrap="none" lIns="0" tIns="0" rIns="0" bIns="0" rtlCol="0" anchor="ctr" anchorCtr="1">
              <a:noAutofit/>
            </a:bodyPr>
            <a:lstStyle/>
            <a:p>
              <a:pPr algn="ctr"/>
              <a:r>
                <a:rPr lang="en-US" altLang="zh-TW" sz="1200" b="1" dirty="0"/>
                <a:t>5*5</a:t>
              </a:r>
              <a:endParaRPr lang="zh-TW" altLang="en-US" sz="1200" b="1" dirty="0"/>
            </a:p>
          </p:txBody>
        </p:sp>
      </p:grpSp>
      <p:cxnSp>
        <p:nvCxnSpPr>
          <p:cNvPr id="310" name="直線單箭頭接點 309">
            <a:extLst>
              <a:ext uri="{FF2B5EF4-FFF2-40B4-BE49-F238E27FC236}">
                <a16:creationId xmlns:a16="http://schemas.microsoft.com/office/drawing/2014/main" id="{34F2EA24-E4AB-F1DB-7DA5-DD4DAA0F44F8}"/>
              </a:ext>
            </a:extLst>
          </p:cNvPr>
          <p:cNvCxnSpPr>
            <a:cxnSpLocks/>
            <a:stCxn id="306" idx="3"/>
            <a:endCxn id="312" idx="1"/>
          </p:cNvCxnSpPr>
          <p:nvPr/>
        </p:nvCxnSpPr>
        <p:spPr>
          <a:xfrm flipV="1">
            <a:off x="1633488" y="2530318"/>
            <a:ext cx="545832" cy="2269"/>
          </a:xfrm>
          <a:prstGeom prst="straightConnector1">
            <a:avLst/>
          </a:prstGeom>
          <a:ln w="15875">
            <a:solidFill>
              <a:schemeClr val="accent2"/>
            </a:solidFill>
            <a:prstDash val="sysDot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2" name="矩形 311">
            <a:extLst>
              <a:ext uri="{FF2B5EF4-FFF2-40B4-BE49-F238E27FC236}">
                <a16:creationId xmlns:a16="http://schemas.microsoft.com/office/drawing/2014/main" id="{C8E41C1D-C73C-1EFE-AA5B-A5F8547852D3}"/>
              </a:ext>
            </a:extLst>
          </p:cNvPr>
          <p:cNvSpPr/>
          <p:nvPr/>
        </p:nvSpPr>
        <p:spPr>
          <a:xfrm>
            <a:off x="2179320" y="2405453"/>
            <a:ext cx="296842" cy="249729"/>
          </a:xfrm>
          <a:prstGeom prst="rect">
            <a:avLst/>
          </a:prstGeom>
          <a:solidFill>
            <a:schemeClr val="bg1">
              <a:alpha val="60000"/>
            </a:schemeClr>
          </a:solidFill>
          <a:ln w="19050">
            <a:noFill/>
            <a:prstDash val="sysDot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lvl="0" algn="ctr"/>
            <a:r>
              <a:rPr lang="zh-TW" altLang="en-US" sz="1200" b="1" dirty="0">
                <a:solidFill>
                  <a:schemeClr val="accent4"/>
                </a:solidFill>
                <a:cs typeface="Calibri" panose="020F0502020204030204" pitchFamily="34" charset="0"/>
              </a:rPr>
              <a:t> </a:t>
            </a:r>
            <a:r>
              <a:rPr lang="en-US" altLang="zh-TW" sz="1200" b="1" dirty="0">
                <a:solidFill>
                  <a:schemeClr val="accent4"/>
                </a:solidFill>
                <a:cs typeface="Calibri" panose="020F0502020204030204" pitchFamily="34" charset="0"/>
              </a:rPr>
              <a:t>+</a:t>
            </a:r>
            <a:r>
              <a:rPr lang="zh-TW" altLang="en-US" sz="1200" b="1" dirty="0">
                <a:solidFill>
                  <a:schemeClr val="accent4"/>
                </a:solidFill>
                <a:cs typeface="Calibri" panose="020F0502020204030204" pitchFamily="34" charset="0"/>
              </a:rPr>
              <a:t> </a:t>
            </a:r>
            <a:r>
              <a:rPr lang="en-US" altLang="zh-TW" sz="1200" b="1" dirty="0">
                <a:solidFill>
                  <a:schemeClr val="accent4"/>
                </a:solidFill>
                <a:cs typeface="Calibri" panose="020F0502020204030204" pitchFamily="34" charset="0"/>
              </a:rPr>
              <a:t>b1</a:t>
            </a:r>
            <a:endParaRPr lang="en-US" altLang="zh-TW" sz="1200" b="1" baseline="-25000" dirty="0">
              <a:solidFill>
                <a:schemeClr val="accent4"/>
              </a:solidFill>
            </a:endParaRPr>
          </a:p>
        </p:txBody>
      </p:sp>
      <p:sp>
        <p:nvSpPr>
          <p:cNvPr id="332" name="矩形 331">
            <a:extLst>
              <a:ext uri="{FF2B5EF4-FFF2-40B4-BE49-F238E27FC236}">
                <a16:creationId xmlns:a16="http://schemas.microsoft.com/office/drawing/2014/main" id="{20B01458-E876-5430-4919-69BEE4E45C77}"/>
              </a:ext>
            </a:extLst>
          </p:cNvPr>
          <p:cNvSpPr/>
          <p:nvPr/>
        </p:nvSpPr>
        <p:spPr>
          <a:xfrm>
            <a:off x="2870376" y="3245332"/>
            <a:ext cx="474037" cy="302600"/>
          </a:xfrm>
          <a:prstGeom prst="rect">
            <a:avLst/>
          </a:prstGeom>
          <a:solidFill>
            <a:schemeClr val="accent2">
              <a:lumMod val="20000"/>
              <a:lumOff val="80000"/>
              <a:alpha val="20000"/>
            </a:schemeClr>
          </a:solidFill>
          <a:ln w="15875">
            <a:solidFill>
              <a:schemeClr val="accent2">
                <a:lumMod val="75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500"/>
              </a:lnSpc>
            </a:pPr>
            <a:endParaRPr lang="en-US" altLang="zh-TW" sz="1400" b="1" baseline="-25000" dirty="0">
              <a:solidFill>
                <a:schemeClr val="tx2"/>
              </a:solidFill>
              <a:ea typeface="微軟正黑體" panose="020B0604030504040204" pitchFamily="34" charset="-120"/>
            </a:endParaRPr>
          </a:p>
        </p:txBody>
      </p:sp>
      <p:sp>
        <p:nvSpPr>
          <p:cNvPr id="306" name="矩形 305">
            <a:extLst>
              <a:ext uri="{FF2B5EF4-FFF2-40B4-BE49-F238E27FC236}">
                <a16:creationId xmlns:a16="http://schemas.microsoft.com/office/drawing/2014/main" id="{2D411C6B-126D-99EA-9FB1-FFCCD1C728DD}"/>
              </a:ext>
            </a:extLst>
          </p:cNvPr>
          <p:cNvSpPr/>
          <p:nvPr/>
        </p:nvSpPr>
        <p:spPr>
          <a:xfrm>
            <a:off x="985651" y="2401823"/>
            <a:ext cx="647837" cy="261528"/>
          </a:xfrm>
          <a:prstGeom prst="rect">
            <a:avLst/>
          </a:prstGeom>
          <a:solidFill>
            <a:schemeClr val="accent2">
              <a:lumMod val="20000"/>
              <a:lumOff val="80000"/>
              <a:alpha val="20000"/>
            </a:schemeClr>
          </a:solidFill>
          <a:ln w="15875">
            <a:solidFill>
              <a:schemeClr val="accent2">
                <a:lumMod val="75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500"/>
              </a:lnSpc>
            </a:pPr>
            <a:endParaRPr lang="en-US" altLang="zh-TW" sz="1400" b="1" baseline="-25000" dirty="0">
              <a:solidFill>
                <a:schemeClr val="tx2"/>
              </a:solidFill>
              <a:ea typeface="微軟正黑體" panose="020B0604030504040204" pitchFamily="34" charset="-120"/>
            </a:endParaRPr>
          </a:p>
        </p:txBody>
      </p:sp>
      <p:grpSp>
        <p:nvGrpSpPr>
          <p:cNvPr id="291" name="群組 290">
            <a:extLst>
              <a:ext uri="{FF2B5EF4-FFF2-40B4-BE49-F238E27FC236}">
                <a16:creationId xmlns:a16="http://schemas.microsoft.com/office/drawing/2014/main" id="{EF6DB055-83E6-CC1E-9C79-605D602F6F61}"/>
              </a:ext>
            </a:extLst>
          </p:cNvPr>
          <p:cNvGrpSpPr/>
          <p:nvPr/>
        </p:nvGrpSpPr>
        <p:grpSpPr>
          <a:xfrm>
            <a:off x="1741794" y="2279458"/>
            <a:ext cx="293061" cy="359271"/>
            <a:chOff x="1851922" y="1748433"/>
            <a:chExt cx="293061" cy="359271"/>
          </a:xfrm>
        </p:grpSpPr>
        <p:sp>
          <p:nvSpPr>
            <p:cNvPr id="292" name="矩形 291">
              <a:extLst>
                <a:ext uri="{FF2B5EF4-FFF2-40B4-BE49-F238E27FC236}">
                  <a16:creationId xmlns:a16="http://schemas.microsoft.com/office/drawing/2014/main" id="{1FD8F5AC-B96D-1D39-D534-9612DB8FDDD9}"/>
                </a:ext>
              </a:extLst>
            </p:cNvPr>
            <p:cNvSpPr/>
            <p:nvPr/>
          </p:nvSpPr>
          <p:spPr>
            <a:xfrm>
              <a:off x="1851922" y="1833384"/>
              <a:ext cx="274320" cy="27432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1"/>
            <a:lstStyle/>
            <a:p>
              <a:pPr algn="ctr">
                <a:lnSpc>
                  <a:spcPts val="1600"/>
                </a:lnSpc>
              </a:pPr>
              <a:r>
                <a:rPr lang="en-US" altLang="zh-TW" sz="1200" b="1" dirty="0">
                  <a:solidFill>
                    <a:schemeClr val="tx1"/>
                  </a:solidFill>
                  <a:ea typeface="微軟正黑體" panose="020B0604030504040204" pitchFamily="34" charset="-120"/>
                </a:rPr>
                <a:t>W1</a:t>
              </a:r>
              <a:endParaRPr lang="en-US" altLang="zh-TW" sz="1200" b="1" baseline="-25000" dirty="0">
                <a:solidFill>
                  <a:schemeClr val="tx1"/>
                </a:solidFill>
                <a:ea typeface="微軟正黑體" panose="020B0604030504040204" pitchFamily="34" charset="-120"/>
              </a:endParaRPr>
            </a:p>
          </p:txBody>
        </p:sp>
        <p:sp>
          <p:nvSpPr>
            <p:cNvPr id="293" name="文字方塊 292">
              <a:extLst>
                <a:ext uri="{FF2B5EF4-FFF2-40B4-BE49-F238E27FC236}">
                  <a16:creationId xmlns:a16="http://schemas.microsoft.com/office/drawing/2014/main" id="{1FD601AD-E3DB-FFCF-B2C4-276B9A7DD670}"/>
                </a:ext>
              </a:extLst>
            </p:cNvPr>
            <p:cNvSpPr txBox="1"/>
            <p:nvPr/>
          </p:nvSpPr>
          <p:spPr>
            <a:xfrm>
              <a:off x="1851922" y="1748433"/>
              <a:ext cx="293061" cy="158592"/>
            </a:xfrm>
            <a:prstGeom prst="rect">
              <a:avLst/>
            </a:prstGeom>
            <a:solidFill>
              <a:schemeClr val="bg1">
                <a:alpha val="40000"/>
              </a:schemeClr>
            </a:solidFill>
          </p:spPr>
          <p:txBody>
            <a:bodyPr wrap="none" lIns="0" tIns="0" rIns="0" bIns="0" rtlCol="0" anchor="ctr" anchorCtr="1">
              <a:noAutofit/>
            </a:bodyPr>
            <a:lstStyle/>
            <a:p>
              <a:pPr algn="ctr"/>
              <a:r>
                <a:rPr lang="en-US" altLang="zh-TW" sz="1200" b="1" dirty="0"/>
                <a:t>3*2</a:t>
              </a:r>
              <a:endParaRPr lang="zh-TW" altLang="en-US" sz="1200" b="1" dirty="0"/>
            </a:p>
          </p:txBody>
        </p:sp>
      </p:grpSp>
      <p:grpSp>
        <p:nvGrpSpPr>
          <p:cNvPr id="288" name="群組 287">
            <a:extLst>
              <a:ext uri="{FF2B5EF4-FFF2-40B4-BE49-F238E27FC236}">
                <a16:creationId xmlns:a16="http://schemas.microsoft.com/office/drawing/2014/main" id="{33B91837-FDE7-2B98-4E9A-670ABC005091}"/>
              </a:ext>
            </a:extLst>
          </p:cNvPr>
          <p:cNvGrpSpPr/>
          <p:nvPr/>
        </p:nvGrpSpPr>
        <p:grpSpPr>
          <a:xfrm>
            <a:off x="2178871" y="1879214"/>
            <a:ext cx="293061" cy="359271"/>
            <a:chOff x="1842397" y="1748433"/>
            <a:chExt cx="293061" cy="359271"/>
          </a:xfrm>
        </p:grpSpPr>
        <p:sp>
          <p:nvSpPr>
            <p:cNvPr id="289" name="矩形 288">
              <a:extLst>
                <a:ext uri="{FF2B5EF4-FFF2-40B4-BE49-F238E27FC236}">
                  <a16:creationId xmlns:a16="http://schemas.microsoft.com/office/drawing/2014/main" id="{5B33FBFE-ABD7-B319-632E-F2F996102A22}"/>
                </a:ext>
              </a:extLst>
            </p:cNvPr>
            <p:cNvSpPr/>
            <p:nvPr/>
          </p:nvSpPr>
          <p:spPr>
            <a:xfrm>
              <a:off x="1851922" y="1833384"/>
              <a:ext cx="274320" cy="2743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1"/>
            <a:lstStyle/>
            <a:p>
              <a:pPr algn="ctr">
                <a:lnSpc>
                  <a:spcPts val="1600"/>
                </a:lnSpc>
              </a:pPr>
              <a:r>
                <a:rPr lang="en-US" altLang="zh-TW" sz="1200" b="1" dirty="0">
                  <a:solidFill>
                    <a:schemeClr val="tx1"/>
                  </a:solidFill>
                  <a:ea typeface="微軟正黑體" panose="020B0604030504040204" pitchFamily="34" charset="-120"/>
                </a:rPr>
                <a:t>U1</a:t>
              </a:r>
              <a:endParaRPr lang="en-US" altLang="zh-TW" sz="1200" b="1" baseline="-25000" dirty="0">
                <a:solidFill>
                  <a:schemeClr val="tx1"/>
                </a:solidFill>
                <a:ea typeface="微軟正黑體" panose="020B0604030504040204" pitchFamily="34" charset="-120"/>
              </a:endParaRPr>
            </a:p>
          </p:txBody>
        </p:sp>
        <p:sp>
          <p:nvSpPr>
            <p:cNvPr id="290" name="文字方塊 289">
              <a:extLst>
                <a:ext uri="{FF2B5EF4-FFF2-40B4-BE49-F238E27FC236}">
                  <a16:creationId xmlns:a16="http://schemas.microsoft.com/office/drawing/2014/main" id="{2AFCC578-CC3E-4310-5021-62CB5C872210}"/>
                </a:ext>
              </a:extLst>
            </p:cNvPr>
            <p:cNvSpPr txBox="1"/>
            <p:nvPr/>
          </p:nvSpPr>
          <p:spPr>
            <a:xfrm>
              <a:off x="1842397" y="1748433"/>
              <a:ext cx="293061" cy="158592"/>
            </a:xfrm>
            <a:prstGeom prst="rect">
              <a:avLst/>
            </a:prstGeom>
            <a:solidFill>
              <a:schemeClr val="bg1">
                <a:alpha val="40000"/>
              </a:schemeClr>
            </a:solidFill>
          </p:spPr>
          <p:txBody>
            <a:bodyPr wrap="none" lIns="0" tIns="0" rIns="0" bIns="0" rtlCol="0" anchor="ctr" anchorCtr="1">
              <a:noAutofit/>
            </a:bodyPr>
            <a:lstStyle/>
            <a:p>
              <a:pPr algn="ctr"/>
              <a:r>
                <a:rPr lang="en-US" altLang="zh-TW" sz="1200" b="1" dirty="0"/>
                <a:t>2*2</a:t>
              </a:r>
              <a:endParaRPr lang="zh-TW" altLang="en-US" sz="1200" b="1" dirty="0"/>
            </a:p>
          </p:txBody>
        </p:sp>
      </p:grpSp>
      <p:cxnSp>
        <p:nvCxnSpPr>
          <p:cNvPr id="57" name="直線單箭頭接點 56">
            <a:extLst>
              <a:ext uri="{FF2B5EF4-FFF2-40B4-BE49-F238E27FC236}">
                <a16:creationId xmlns:a16="http://schemas.microsoft.com/office/drawing/2014/main" id="{49DB63AE-DFF3-A1FB-E310-2EDAD36A7F17}"/>
              </a:ext>
            </a:extLst>
          </p:cNvPr>
          <p:cNvCxnSpPr>
            <a:cxnSpLocks/>
            <a:stCxn id="332" idx="3"/>
            <a:endCxn id="64" idx="1"/>
          </p:cNvCxnSpPr>
          <p:nvPr/>
        </p:nvCxnSpPr>
        <p:spPr>
          <a:xfrm>
            <a:off x="3344413" y="3396632"/>
            <a:ext cx="988538" cy="1575"/>
          </a:xfrm>
          <a:prstGeom prst="straightConnector1">
            <a:avLst/>
          </a:prstGeom>
          <a:ln w="15875">
            <a:solidFill>
              <a:schemeClr val="accent2"/>
            </a:solidFill>
            <a:prstDash val="sysDot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>
            <a:extLst>
              <a:ext uri="{FF2B5EF4-FFF2-40B4-BE49-F238E27FC236}">
                <a16:creationId xmlns:a16="http://schemas.microsoft.com/office/drawing/2014/main" id="{520FAB37-D34F-3198-04BF-4F56F1547C66}"/>
              </a:ext>
            </a:extLst>
          </p:cNvPr>
          <p:cNvSpPr/>
          <p:nvPr/>
        </p:nvSpPr>
        <p:spPr>
          <a:xfrm>
            <a:off x="4332951" y="3273342"/>
            <a:ext cx="366200" cy="249729"/>
          </a:xfrm>
          <a:prstGeom prst="rect">
            <a:avLst/>
          </a:prstGeom>
          <a:solidFill>
            <a:schemeClr val="bg1">
              <a:alpha val="60000"/>
            </a:schemeClr>
          </a:solidFill>
          <a:ln w="19050">
            <a:noFill/>
            <a:prstDash val="sysDot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lvl="0" algn="ctr"/>
            <a:r>
              <a:rPr lang="zh-TW" altLang="en-US" sz="1200" b="1" dirty="0">
                <a:solidFill>
                  <a:schemeClr val="accent4"/>
                </a:solidFill>
                <a:cs typeface="Calibri" panose="020F0502020204030204" pitchFamily="34" charset="0"/>
              </a:rPr>
              <a:t> </a:t>
            </a:r>
            <a:r>
              <a:rPr lang="en-US" altLang="zh-TW" sz="1200" b="1" dirty="0">
                <a:solidFill>
                  <a:schemeClr val="accent4"/>
                </a:solidFill>
                <a:cs typeface="Calibri" panose="020F0502020204030204" pitchFamily="34" charset="0"/>
              </a:rPr>
              <a:t>+</a:t>
            </a:r>
            <a:r>
              <a:rPr lang="zh-TW" altLang="en-US" sz="1200" b="1" dirty="0">
                <a:solidFill>
                  <a:schemeClr val="accent4"/>
                </a:solidFill>
                <a:cs typeface="Calibri" panose="020F0502020204030204" pitchFamily="34" charset="0"/>
              </a:rPr>
              <a:t> </a:t>
            </a:r>
            <a:r>
              <a:rPr lang="en-US" altLang="zh-TW" sz="1200" b="1" dirty="0">
                <a:solidFill>
                  <a:schemeClr val="accent4"/>
                </a:solidFill>
                <a:cs typeface="Calibri" panose="020F0502020204030204" pitchFamily="34" charset="0"/>
              </a:rPr>
              <a:t>b2</a:t>
            </a:r>
            <a:endParaRPr lang="en-US" altLang="zh-TW" sz="1200" b="1" baseline="-25000" dirty="0">
              <a:solidFill>
                <a:schemeClr val="accent4"/>
              </a:solidFill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D3D0FE2D-01F1-EFCA-9D69-857B6ABCD528}"/>
              </a:ext>
            </a:extLst>
          </p:cNvPr>
          <p:cNvSpPr/>
          <p:nvPr/>
        </p:nvSpPr>
        <p:spPr>
          <a:xfrm>
            <a:off x="4736329" y="3267751"/>
            <a:ext cx="754910" cy="249729"/>
          </a:xfrm>
          <a:prstGeom prst="rect">
            <a:avLst/>
          </a:prstGeom>
          <a:solidFill>
            <a:schemeClr val="bg1">
              <a:alpha val="60000"/>
            </a:schemeClr>
          </a:solidFill>
          <a:ln w="19050">
            <a:noFill/>
            <a:prstDash val="sysDot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lvl="0" algn="ctr"/>
            <a:r>
              <a:rPr lang="zh-TW" altLang="en-US" sz="1200" b="1" dirty="0">
                <a:solidFill>
                  <a:schemeClr val="accent4"/>
                </a:solidFill>
              </a:rPr>
              <a:t> </a:t>
            </a:r>
            <a:r>
              <a:rPr lang="zh-TW" altLang="zh-TW" sz="1200" b="1" dirty="0">
                <a:solidFill>
                  <a:schemeClr val="accent4"/>
                </a:solidFill>
              </a:rPr>
              <a:t>➔</a:t>
            </a:r>
            <a:r>
              <a:rPr lang="en-US" altLang="zh-TW" sz="1200" b="1" dirty="0">
                <a:solidFill>
                  <a:schemeClr val="accent4"/>
                </a:solidFill>
              </a:rPr>
              <a:t> </a:t>
            </a:r>
            <a:r>
              <a:rPr lang="el-GR" altLang="zh-TW" b="1" dirty="0">
                <a:solidFill>
                  <a:schemeClr val="accent4"/>
                </a:solidFill>
                <a:cs typeface="Calibri" panose="020F0502020204030204" pitchFamily="34" charset="0"/>
              </a:rPr>
              <a:t>σ</a:t>
            </a:r>
            <a:r>
              <a:rPr lang="en-US" altLang="zh-TW" b="1" dirty="0">
                <a:solidFill>
                  <a:schemeClr val="accent4"/>
                </a:solidFill>
                <a:cs typeface="Calibri" panose="020F0502020204030204" pitchFamily="34" charset="0"/>
              </a:rPr>
              <a:t> </a:t>
            </a:r>
            <a:r>
              <a:rPr lang="en-US" altLang="zh-TW" sz="1200" b="1" dirty="0">
                <a:solidFill>
                  <a:schemeClr val="accent4"/>
                </a:solidFill>
                <a:cs typeface="Calibri" panose="020F0502020204030204" pitchFamily="34" charset="0"/>
              </a:rPr>
              <a:t>=</a:t>
            </a:r>
            <a:r>
              <a:rPr lang="zh-TW" altLang="en-US" sz="1200" b="1" dirty="0">
                <a:solidFill>
                  <a:schemeClr val="accent4"/>
                </a:solidFill>
                <a:cs typeface="Calibri" panose="020F0502020204030204" pitchFamily="34" charset="0"/>
              </a:rPr>
              <a:t> </a:t>
            </a:r>
            <a:r>
              <a:rPr lang="en-US" altLang="zh-TW" sz="1200" b="1" dirty="0">
                <a:solidFill>
                  <a:schemeClr val="accent4"/>
                </a:solidFill>
                <a:cs typeface="Calibri" panose="020F0502020204030204" pitchFamily="34" charset="0"/>
              </a:rPr>
              <a:t>h2(3)</a:t>
            </a:r>
            <a:endParaRPr lang="en-US" altLang="zh-TW" sz="1200" b="1" baseline="-25000" dirty="0">
              <a:solidFill>
                <a:schemeClr val="accent4"/>
              </a:solidFill>
            </a:endParaRP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5C466F9D-B161-613C-7EE9-E24545A427AF}"/>
              </a:ext>
            </a:extLst>
          </p:cNvPr>
          <p:cNvSpPr/>
          <p:nvPr/>
        </p:nvSpPr>
        <p:spPr>
          <a:xfrm>
            <a:off x="2491205" y="2387685"/>
            <a:ext cx="754910" cy="249729"/>
          </a:xfrm>
          <a:prstGeom prst="rect">
            <a:avLst/>
          </a:prstGeom>
          <a:solidFill>
            <a:schemeClr val="bg1">
              <a:alpha val="60000"/>
            </a:schemeClr>
          </a:solidFill>
          <a:ln w="19050">
            <a:noFill/>
            <a:prstDash val="sysDot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lvl="0" algn="ctr"/>
            <a:r>
              <a:rPr lang="zh-TW" altLang="en-US" sz="1200" b="1" dirty="0">
                <a:solidFill>
                  <a:schemeClr val="accent4"/>
                </a:solidFill>
              </a:rPr>
              <a:t> </a:t>
            </a:r>
            <a:r>
              <a:rPr lang="zh-TW" altLang="zh-TW" sz="1200" b="1" dirty="0">
                <a:solidFill>
                  <a:schemeClr val="accent4"/>
                </a:solidFill>
              </a:rPr>
              <a:t>➔</a:t>
            </a:r>
            <a:r>
              <a:rPr lang="en-US" altLang="zh-TW" sz="1200" b="1" dirty="0">
                <a:solidFill>
                  <a:schemeClr val="accent4"/>
                </a:solidFill>
              </a:rPr>
              <a:t> </a:t>
            </a:r>
            <a:r>
              <a:rPr lang="el-GR" altLang="zh-TW" b="1" dirty="0">
                <a:solidFill>
                  <a:schemeClr val="accent4"/>
                </a:solidFill>
                <a:cs typeface="Calibri" panose="020F0502020204030204" pitchFamily="34" charset="0"/>
              </a:rPr>
              <a:t>σ</a:t>
            </a:r>
            <a:r>
              <a:rPr lang="en-US" altLang="zh-TW" b="1" dirty="0">
                <a:solidFill>
                  <a:schemeClr val="accent4"/>
                </a:solidFill>
                <a:cs typeface="Calibri" panose="020F0502020204030204" pitchFamily="34" charset="0"/>
              </a:rPr>
              <a:t> </a:t>
            </a:r>
            <a:r>
              <a:rPr lang="en-US" altLang="zh-TW" sz="1200" b="1" dirty="0">
                <a:solidFill>
                  <a:schemeClr val="accent4"/>
                </a:solidFill>
                <a:cs typeface="Calibri" panose="020F0502020204030204" pitchFamily="34" charset="0"/>
              </a:rPr>
              <a:t>=</a:t>
            </a:r>
            <a:r>
              <a:rPr lang="zh-TW" altLang="en-US" sz="1200" b="1" dirty="0">
                <a:solidFill>
                  <a:schemeClr val="accent4"/>
                </a:solidFill>
                <a:cs typeface="Calibri" panose="020F0502020204030204" pitchFamily="34" charset="0"/>
              </a:rPr>
              <a:t> </a:t>
            </a:r>
            <a:r>
              <a:rPr lang="en-US" altLang="zh-TW" sz="1200" b="1" dirty="0">
                <a:solidFill>
                  <a:schemeClr val="accent4"/>
                </a:solidFill>
                <a:cs typeface="Calibri" panose="020F0502020204030204" pitchFamily="34" charset="0"/>
              </a:rPr>
              <a:t>h1(1)</a:t>
            </a:r>
            <a:endParaRPr lang="en-US" altLang="zh-TW" sz="1200" b="1" baseline="-25000" dirty="0">
              <a:solidFill>
                <a:schemeClr val="accent4"/>
              </a:solidFill>
            </a:endParaRPr>
          </a:p>
        </p:txBody>
      </p:sp>
      <p:grpSp>
        <p:nvGrpSpPr>
          <p:cNvPr id="276" name="群組 275">
            <a:extLst>
              <a:ext uri="{FF2B5EF4-FFF2-40B4-BE49-F238E27FC236}">
                <a16:creationId xmlns:a16="http://schemas.microsoft.com/office/drawing/2014/main" id="{3ABBED2F-0124-EC11-CD0E-3D0F8A23719B}"/>
              </a:ext>
            </a:extLst>
          </p:cNvPr>
          <p:cNvGrpSpPr/>
          <p:nvPr/>
        </p:nvGrpSpPr>
        <p:grpSpPr>
          <a:xfrm>
            <a:off x="3909985" y="3143554"/>
            <a:ext cx="293061" cy="349746"/>
            <a:chOff x="1850348" y="1757958"/>
            <a:chExt cx="293061" cy="349746"/>
          </a:xfrm>
        </p:grpSpPr>
        <p:sp>
          <p:nvSpPr>
            <p:cNvPr id="277" name="矩形 276">
              <a:extLst>
                <a:ext uri="{FF2B5EF4-FFF2-40B4-BE49-F238E27FC236}">
                  <a16:creationId xmlns:a16="http://schemas.microsoft.com/office/drawing/2014/main" id="{C924978A-FDED-4E3D-AC22-631138F99753}"/>
                </a:ext>
              </a:extLst>
            </p:cNvPr>
            <p:cNvSpPr/>
            <p:nvPr/>
          </p:nvSpPr>
          <p:spPr>
            <a:xfrm>
              <a:off x="1851922" y="1833384"/>
              <a:ext cx="274320" cy="27432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1"/>
            <a:lstStyle/>
            <a:p>
              <a:pPr algn="ctr">
                <a:lnSpc>
                  <a:spcPts val="1600"/>
                </a:lnSpc>
              </a:pPr>
              <a:r>
                <a:rPr lang="en-US" altLang="zh-TW" sz="1200" b="1" dirty="0">
                  <a:solidFill>
                    <a:schemeClr val="tx1"/>
                  </a:solidFill>
                  <a:ea typeface="微軟正黑體" panose="020B0604030504040204" pitchFamily="34" charset="-120"/>
                </a:rPr>
                <a:t>W2</a:t>
              </a:r>
              <a:endParaRPr lang="en-US" altLang="zh-TW" sz="1200" b="1" baseline="-25000" dirty="0">
                <a:solidFill>
                  <a:schemeClr val="tx1"/>
                </a:solidFill>
                <a:ea typeface="微軟正黑體" panose="020B0604030504040204" pitchFamily="34" charset="-120"/>
              </a:endParaRPr>
            </a:p>
          </p:txBody>
        </p:sp>
        <p:sp>
          <p:nvSpPr>
            <p:cNvPr id="278" name="文字方塊 277">
              <a:extLst>
                <a:ext uri="{FF2B5EF4-FFF2-40B4-BE49-F238E27FC236}">
                  <a16:creationId xmlns:a16="http://schemas.microsoft.com/office/drawing/2014/main" id="{E8CDCB51-4984-2BF4-90E9-5A4429C5BA4B}"/>
                </a:ext>
              </a:extLst>
            </p:cNvPr>
            <p:cNvSpPr txBox="1"/>
            <p:nvPr/>
          </p:nvSpPr>
          <p:spPr>
            <a:xfrm>
              <a:off x="1850348" y="1757958"/>
              <a:ext cx="293061" cy="158592"/>
            </a:xfrm>
            <a:prstGeom prst="rect">
              <a:avLst/>
            </a:prstGeom>
            <a:solidFill>
              <a:schemeClr val="bg1">
                <a:alpha val="40000"/>
              </a:schemeClr>
            </a:solidFill>
          </p:spPr>
          <p:txBody>
            <a:bodyPr wrap="none" lIns="0" tIns="0" rIns="0" bIns="0" rtlCol="0" anchor="ctr" anchorCtr="1">
              <a:noAutofit/>
            </a:bodyPr>
            <a:lstStyle/>
            <a:p>
              <a:pPr algn="ctr"/>
              <a:r>
                <a:rPr lang="en-US" altLang="zh-TW" sz="1200" b="1" dirty="0"/>
                <a:t>2*5</a:t>
              </a:r>
              <a:endParaRPr lang="zh-TW" altLang="en-US" sz="1200" b="1" dirty="0"/>
            </a:p>
          </p:txBody>
        </p:sp>
      </p:grpSp>
      <p:sp>
        <p:nvSpPr>
          <p:cNvPr id="297" name="矩形 296">
            <a:extLst>
              <a:ext uri="{FF2B5EF4-FFF2-40B4-BE49-F238E27FC236}">
                <a16:creationId xmlns:a16="http://schemas.microsoft.com/office/drawing/2014/main" id="{36B2297C-8EF7-B756-250E-09F88E3ADCDE}"/>
              </a:ext>
            </a:extLst>
          </p:cNvPr>
          <p:cNvSpPr/>
          <p:nvPr/>
        </p:nvSpPr>
        <p:spPr>
          <a:xfrm>
            <a:off x="2865367" y="2055034"/>
            <a:ext cx="484682" cy="256181"/>
          </a:xfrm>
          <a:prstGeom prst="rect">
            <a:avLst/>
          </a:prstGeom>
          <a:solidFill>
            <a:schemeClr val="accent5">
              <a:lumMod val="20000"/>
              <a:lumOff val="80000"/>
              <a:alpha val="20000"/>
            </a:schemeClr>
          </a:solidFill>
          <a:ln w="15875">
            <a:solidFill>
              <a:schemeClr val="tx2">
                <a:alpha val="20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500"/>
              </a:lnSpc>
            </a:pPr>
            <a:endParaRPr lang="en-US" altLang="zh-TW" sz="1400" b="1" baseline="-25000" dirty="0">
              <a:solidFill>
                <a:schemeClr val="tx2"/>
              </a:solidFill>
              <a:ea typeface="微軟正黑體" panose="020B0604030504040204" pitchFamily="34" charset="-120"/>
            </a:endParaRPr>
          </a:p>
        </p:txBody>
      </p:sp>
      <p:grpSp>
        <p:nvGrpSpPr>
          <p:cNvPr id="101" name="群組 100">
            <a:extLst>
              <a:ext uri="{FF2B5EF4-FFF2-40B4-BE49-F238E27FC236}">
                <a16:creationId xmlns:a16="http://schemas.microsoft.com/office/drawing/2014/main" id="{52AE4122-43B8-6063-5A34-A9387B30DA3D}"/>
              </a:ext>
            </a:extLst>
          </p:cNvPr>
          <p:cNvGrpSpPr/>
          <p:nvPr/>
        </p:nvGrpSpPr>
        <p:grpSpPr>
          <a:xfrm>
            <a:off x="6286249" y="2983636"/>
            <a:ext cx="293061" cy="365648"/>
            <a:chOff x="1850348" y="1742056"/>
            <a:chExt cx="293061" cy="365648"/>
          </a:xfrm>
        </p:grpSpPr>
        <p:sp>
          <p:nvSpPr>
            <p:cNvPr id="102" name="矩形 101">
              <a:extLst>
                <a:ext uri="{FF2B5EF4-FFF2-40B4-BE49-F238E27FC236}">
                  <a16:creationId xmlns:a16="http://schemas.microsoft.com/office/drawing/2014/main" id="{259FEBB2-F300-FDC1-339B-99FCD629334E}"/>
                </a:ext>
              </a:extLst>
            </p:cNvPr>
            <p:cNvSpPr/>
            <p:nvPr/>
          </p:nvSpPr>
          <p:spPr>
            <a:xfrm>
              <a:off x="1851922" y="1833384"/>
              <a:ext cx="274320" cy="27432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1"/>
            <a:lstStyle/>
            <a:p>
              <a:pPr algn="ctr">
                <a:lnSpc>
                  <a:spcPts val="1600"/>
                </a:lnSpc>
              </a:pPr>
              <a:r>
                <a:rPr lang="en-US" altLang="zh-TW" sz="1200" b="1" dirty="0">
                  <a:solidFill>
                    <a:schemeClr val="tx1"/>
                  </a:solidFill>
                  <a:ea typeface="微軟正黑體" panose="020B0604030504040204" pitchFamily="34" charset="-120"/>
                </a:rPr>
                <a:t>W3</a:t>
              </a:r>
              <a:endParaRPr lang="en-US" altLang="zh-TW" sz="1200" b="1" baseline="-25000" dirty="0">
                <a:solidFill>
                  <a:schemeClr val="tx1"/>
                </a:solidFill>
                <a:ea typeface="微軟正黑體" panose="020B0604030504040204" pitchFamily="34" charset="-120"/>
              </a:endParaRPr>
            </a:p>
          </p:txBody>
        </p:sp>
        <p:sp>
          <p:nvSpPr>
            <p:cNvPr id="103" name="文字方塊 102">
              <a:extLst>
                <a:ext uri="{FF2B5EF4-FFF2-40B4-BE49-F238E27FC236}">
                  <a16:creationId xmlns:a16="http://schemas.microsoft.com/office/drawing/2014/main" id="{7E5B9F85-360F-57CB-7894-1ABA649915A5}"/>
                </a:ext>
              </a:extLst>
            </p:cNvPr>
            <p:cNvSpPr txBox="1"/>
            <p:nvPr/>
          </p:nvSpPr>
          <p:spPr>
            <a:xfrm>
              <a:off x="1850348" y="1742056"/>
              <a:ext cx="293061" cy="158592"/>
            </a:xfrm>
            <a:prstGeom prst="rect">
              <a:avLst/>
            </a:prstGeom>
            <a:solidFill>
              <a:schemeClr val="bg1">
                <a:alpha val="40000"/>
              </a:schemeClr>
            </a:solidFill>
          </p:spPr>
          <p:txBody>
            <a:bodyPr wrap="none" lIns="0" tIns="0" rIns="0" bIns="0" rtlCol="0" anchor="ctr" anchorCtr="1">
              <a:noAutofit/>
            </a:bodyPr>
            <a:lstStyle/>
            <a:p>
              <a:pPr algn="ctr"/>
              <a:r>
                <a:rPr lang="en-US" altLang="zh-TW" sz="1200" b="1" dirty="0"/>
                <a:t>5</a:t>
              </a:r>
              <a:r>
                <a:rPr lang="en-US" altLang="zh-TW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*n</a:t>
              </a:r>
              <a:endParaRPr lang="zh-TW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cxnSp>
        <p:nvCxnSpPr>
          <p:cNvPr id="113" name="接點: 肘形 112">
            <a:extLst>
              <a:ext uri="{FF2B5EF4-FFF2-40B4-BE49-F238E27FC236}">
                <a16:creationId xmlns:a16="http://schemas.microsoft.com/office/drawing/2014/main" id="{54E104F4-C2F9-AAD8-F297-0BB56D54CEC0}"/>
              </a:ext>
            </a:extLst>
          </p:cNvPr>
          <p:cNvCxnSpPr>
            <a:cxnSpLocks/>
          </p:cNvCxnSpPr>
          <p:nvPr/>
        </p:nvCxnSpPr>
        <p:spPr>
          <a:xfrm rot="10800000" flipV="1">
            <a:off x="6715375" y="2737361"/>
            <a:ext cx="255108" cy="340912"/>
          </a:xfrm>
          <a:prstGeom prst="bentConnector2">
            <a:avLst/>
          </a:prstGeom>
          <a:ln w="15875">
            <a:solidFill>
              <a:schemeClr val="accent1">
                <a:lumMod val="75000"/>
              </a:schemeClr>
            </a:solidFill>
            <a:prstDash val="sysDot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5" name="群組 104">
            <a:extLst>
              <a:ext uri="{FF2B5EF4-FFF2-40B4-BE49-F238E27FC236}">
                <a16:creationId xmlns:a16="http://schemas.microsoft.com/office/drawing/2014/main" id="{0F2A7129-DF7B-2583-8AB0-C70EF3449E59}"/>
              </a:ext>
            </a:extLst>
          </p:cNvPr>
          <p:cNvGrpSpPr/>
          <p:nvPr/>
        </p:nvGrpSpPr>
        <p:grpSpPr>
          <a:xfrm>
            <a:off x="6499351" y="2495482"/>
            <a:ext cx="293061" cy="359271"/>
            <a:chOff x="1851922" y="1748433"/>
            <a:chExt cx="293061" cy="359271"/>
          </a:xfrm>
        </p:grpSpPr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FE551E02-3DF8-21A3-1643-5031F2A31399}"/>
                </a:ext>
              </a:extLst>
            </p:cNvPr>
            <p:cNvSpPr/>
            <p:nvPr/>
          </p:nvSpPr>
          <p:spPr>
            <a:xfrm>
              <a:off x="1851922" y="1833384"/>
              <a:ext cx="274320" cy="2743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1"/>
            <a:lstStyle/>
            <a:p>
              <a:pPr algn="ctr">
                <a:lnSpc>
                  <a:spcPts val="1600"/>
                </a:lnSpc>
              </a:pPr>
              <a:r>
                <a:rPr lang="en-US" altLang="zh-TW" sz="1200" b="1" dirty="0">
                  <a:solidFill>
                    <a:schemeClr val="tx1"/>
                  </a:solidFill>
                  <a:ea typeface="微軟正黑體" panose="020B0604030504040204" pitchFamily="34" charset="-120"/>
                </a:rPr>
                <a:t>U2</a:t>
              </a:r>
              <a:endParaRPr lang="en-US" altLang="zh-TW" sz="1200" b="1" baseline="-25000" dirty="0">
                <a:solidFill>
                  <a:schemeClr val="tx1"/>
                </a:solidFill>
                <a:ea typeface="微軟正黑體" panose="020B0604030504040204" pitchFamily="34" charset="-120"/>
              </a:endParaRPr>
            </a:p>
          </p:txBody>
        </p:sp>
        <p:sp>
          <p:nvSpPr>
            <p:cNvPr id="107" name="文字方塊 106">
              <a:extLst>
                <a:ext uri="{FF2B5EF4-FFF2-40B4-BE49-F238E27FC236}">
                  <a16:creationId xmlns:a16="http://schemas.microsoft.com/office/drawing/2014/main" id="{986A3C14-CD05-4596-DA8A-7C868838B0D7}"/>
                </a:ext>
              </a:extLst>
            </p:cNvPr>
            <p:cNvSpPr txBox="1"/>
            <p:nvPr/>
          </p:nvSpPr>
          <p:spPr>
            <a:xfrm>
              <a:off x="1851922" y="1748433"/>
              <a:ext cx="293061" cy="158592"/>
            </a:xfrm>
            <a:prstGeom prst="rect">
              <a:avLst/>
            </a:prstGeom>
            <a:solidFill>
              <a:schemeClr val="bg1">
                <a:alpha val="40000"/>
              </a:schemeClr>
            </a:solidFill>
            <a:ln>
              <a:noFill/>
            </a:ln>
          </p:spPr>
          <p:txBody>
            <a:bodyPr wrap="none" lIns="0" tIns="0" rIns="0" bIns="0" rtlCol="0" anchor="ctr" anchorCtr="1">
              <a:noAutofit/>
            </a:bodyPr>
            <a:lstStyle/>
            <a:p>
              <a:pPr algn="ctr"/>
              <a:r>
                <a:rPr lang="en-US" altLang="zh-TW" sz="1200" b="1" dirty="0"/>
                <a:t>5</a:t>
              </a:r>
              <a:r>
                <a:rPr lang="en-US" altLang="zh-TW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*n</a:t>
              </a:r>
              <a:endParaRPr lang="zh-TW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153" name="矩形 152">
            <a:extLst>
              <a:ext uri="{FF2B5EF4-FFF2-40B4-BE49-F238E27FC236}">
                <a16:creationId xmlns:a16="http://schemas.microsoft.com/office/drawing/2014/main" id="{FE340EAF-8015-F24F-0591-C0397374DCC3}"/>
              </a:ext>
            </a:extLst>
          </p:cNvPr>
          <p:cNvSpPr/>
          <p:nvPr/>
        </p:nvSpPr>
        <p:spPr>
          <a:xfrm>
            <a:off x="8193969" y="2434351"/>
            <a:ext cx="477458" cy="1468498"/>
          </a:xfrm>
          <a:prstGeom prst="rect">
            <a:avLst/>
          </a:prstGeom>
          <a:solidFill>
            <a:schemeClr val="bg2">
              <a:lumMod val="90000"/>
              <a:alpha val="40000"/>
            </a:schemeClr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600"/>
              </a:lnSpc>
            </a:pPr>
            <a:r>
              <a:rPr lang="en-US" altLang="zh-TW" sz="1200" b="1" dirty="0">
                <a:solidFill>
                  <a:schemeClr val="bg2">
                    <a:lumMod val="25000"/>
                  </a:schemeClr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Linear</a:t>
            </a:r>
          </a:p>
          <a:p>
            <a:pPr algn="ctr">
              <a:lnSpc>
                <a:spcPts val="1600"/>
              </a:lnSpc>
            </a:pPr>
            <a:r>
              <a:rPr lang="en-US" altLang="zh-TW" sz="1200" b="1" dirty="0">
                <a:solidFill>
                  <a:schemeClr val="bg2">
                    <a:lumMod val="25000"/>
                  </a:schemeClr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Projection</a:t>
            </a: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DB5524BD-2687-595C-69CC-2C7B45C58AEF}"/>
              </a:ext>
            </a:extLst>
          </p:cNvPr>
          <p:cNvSpPr/>
          <p:nvPr/>
        </p:nvSpPr>
        <p:spPr>
          <a:xfrm rot="5400000">
            <a:off x="8694534" y="2991977"/>
            <a:ext cx="228750" cy="129042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600"/>
              </a:lnSpc>
            </a:pPr>
            <a:endParaRPr lang="en-US" altLang="zh-TW" sz="1400" b="1" dirty="0">
              <a:solidFill>
                <a:schemeClr val="tx1"/>
              </a:solidFill>
              <a:ea typeface="微軟正黑體" panose="020B0604030504040204" pitchFamily="34" charset="-120"/>
            </a:endParaRPr>
          </a:p>
        </p:txBody>
      </p:sp>
      <p:sp>
        <p:nvSpPr>
          <p:cNvPr id="155" name="文字方塊 154">
            <a:extLst>
              <a:ext uri="{FF2B5EF4-FFF2-40B4-BE49-F238E27FC236}">
                <a16:creationId xmlns:a16="http://schemas.microsoft.com/office/drawing/2014/main" id="{2B58A63D-DAA1-CB26-2C25-0B13BC334E48}"/>
              </a:ext>
            </a:extLst>
          </p:cNvPr>
          <p:cNvSpPr txBox="1"/>
          <p:nvPr/>
        </p:nvSpPr>
        <p:spPr>
          <a:xfrm>
            <a:off x="8292508" y="2278689"/>
            <a:ext cx="293061" cy="12904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200" b="1" dirty="0"/>
              <a:t>V*n</a:t>
            </a:r>
            <a:endParaRPr lang="zh-TW" altLang="en-US" sz="1200" b="1" dirty="0"/>
          </a:p>
        </p:txBody>
      </p:sp>
      <p:sp>
        <p:nvSpPr>
          <p:cNvPr id="151" name="文字方塊 150">
            <a:extLst>
              <a:ext uri="{FF2B5EF4-FFF2-40B4-BE49-F238E27FC236}">
                <a16:creationId xmlns:a16="http://schemas.microsoft.com/office/drawing/2014/main" id="{DF1EF63D-FC6F-5D8A-7EDF-63EDC5AF2CE4}"/>
              </a:ext>
            </a:extLst>
          </p:cNvPr>
          <p:cNvSpPr txBox="1"/>
          <p:nvPr/>
        </p:nvSpPr>
        <p:spPr>
          <a:xfrm>
            <a:off x="8671427" y="2784097"/>
            <a:ext cx="293061" cy="12904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200" b="1" dirty="0"/>
              <a:t>n*1</a:t>
            </a:r>
            <a:endParaRPr lang="zh-TW" altLang="en-US" sz="1200" b="1" dirty="0"/>
          </a:p>
        </p:txBody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C64E2EE9-CE8E-2656-29F1-70CF4AC18045}"/>
              </a:ext>
            </a:extLst>
          </p:cNvPr>
          <p:cNvSpPr/>
          <p:nvPr/>
        </p:nvSpPr>
        <p:spPr>
          <a:xfrm>
            <a:off x="8193969" y="4013188"/>
            <a:ext cx="477459" cy="351916"/>
          </a:xfrm>
          <a:prstGeom prst="rect">
            <a:avLst/>
          </a:prstGeom>
          <a:solidFill>
            <a:schemeClr val="bg1">
              <a:lumMod val="95000"/>
            </a:schemeClr>
          </a:solidFill>
          <a:ln w="15875">
            <a:solidFill>
              <a:schemeClr val="accent2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200"/>
              </a:lnSpc>
            </a:pPr>
            <a:r>
              <a:rPr lang="en-US" altLang="zh-TW" sz="1200" b="1" dirty="0">
                <a:solidFill>
                  <a:srgbClr val="FF0000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Next</a:t>
            </a:r>
          </a:p>
          <a:p>
            <a:pPr algn="ctr">
              <a:lnSpc>
                <a:spcPts val="1200"/>
              </a:lnSpc>
            </a:pPr>
            <a:r>
              <a:rPr lang="en-US" altLang="zh-TW" sz="1200" b="1" dirty="0">
                <a:solidFill>
                  <a:srgbClr val="FF0000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Token</a:t>
            </a:r>
          </a:p>
        </p:txBody>
      </p:sp>
      <p:cxnSp>
        <p:nvCxnSpPr>
          <p:cNvPr id="235" name="接點: 弧形 234">
            <a:extLst>
              <a:ext uri="{FF2B5EF4-FFF2-40B4-BE49-F238E27FC236}">
                <a16:creationId xmlns:a16="http://schemas.microsoft.com/office/drawing/2014/main" id="{51F08E47-959E-C904-DB40-EFD69B6D5493}"/>
              </a:ext>
            </a:extLst>
          </p:cNvPr>
          <p:cNvCxnSpPr>
            <a:cxnSpLocks/>
            <a:stCxn id="149" idx="3"/>
            <a:endCxn id="154" idx="3"/>
          </p:cNvCxnSpPr>
          <p:nvPr/>
        </p:nvCxnSpPr>
        <p:spPr>
          <a:xfrm flipV="1">
            <a:off x="7380312" y="3170873"/>
            <a:ext cx="1428597" cy="653347"/>
          </a:xfrm>
          <a:prstGeom prst="curvedConnector2">
            <a:avLst/>
          </a:prstGeom>
          <a:ln w="25400">
            <a:gradFill>
              <a:gsLst>
                <a:gs pos="0">
                  <a:schemeClr val="bg1"/>
                </a:gs>
                <a:gs pos="54000">
                  <a:srgbClr val="FF0000"/>
                </a:gs>
                <a:gs pos="100000">
                  <a:srgbClr val="FF0000"/>
                </a:gs>
              </a:gsLst>
              <a:lin ang="5400000" scaled="1"/>
            </a:gra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箭號: 向下 167">
            <a:extLst>
              <a:ext uri="{FF2B5EF4-FFF2-40B4-BE49-F238E27FC236}">
                <a16:creationId xmlns:a16="http://schemas.microsoft.com/office/drawing/2014/main" id="{C7D39922-F3FD-E684-C8C6-C50999916550}"/>
              </a:ext>
            </a:extLst>
          </p:cNvPr>
          <p:cNvSpPr/>
          <p:nvPr/>
        </p:nvSpPr>
        <p:spPr>
          <a:xfrm>
            <a:off x="8324687" y="3807938"/>
            <a:ext cx="216022" cy="225052"/>
          </a:xfrm>
          <a:prstGeom prst="downArrow">
            <a:avLst/>
          </a:prstGeom>
          <a:solidFill>
            <a:schemeClr val="accent2">
              <a:alpha val="70000"/>
            </a:schemeClr>
          </a:solidFill>
          <a:ln w="127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6" name="直線單箭頭接點 175">
            <a:extLst>
              <a:ext uri="{FF2B5EF4-FFF2-40B4-BE49-F238E27FC236}">
                <a16:creationId xmlns:a16="http://schemas.microsoft.com/office/drawing/2014/main" id="{A52EB32D-E23A-127A-0579-8C401BFA8AF1}"/>
              </a:ext>
            </a:extLst>
          </p:cNvPr>
          <p:cNvCxnSpPr>
            <a:cxnSpLocks/>
            <a:stCxn id="221" idx="3"/>
            <a:endCxn id="223" idx="1"/>
          </p:cNvCxnSpPr>
          <p:nvPr/>
        </p:nvCxnSpPr>
        <p:spPr>
          <a:xfrm>
            <a:off x="5275215" y="4102982"/>
            <a:ext cx="830726" cy="2546"/>
          </a:xfrm>
          <a:prstGeom prst="straightConnector1">
            <a:avLst/>
          </a:prstGeom>
          <a:ln w="25400">
            <a:gradFill flip="none" rotWithShape="1">
              <a:gsLst>
                <a:gs pos="0">
                  <a:schemeClr val="bg1"/>
                </a:gs>
                <a:gs pos="45000">
                  <a:srgbClr val="FF0000"/>
                </a:gs>
                <a:gs pos="100000">
                  <a:srgbClr val="FF0000"/>
                </a:gs>
              </a:gsLst>
              <a:lin ang="0" scaled="1"/>
              <a:tileRect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1" name="群組 180">
            <a:extLst>
              <a:ext uri="{FF2B5EF4-FFF2-40B4-BE49-F238E27FC236}">
                <a16:creationId xmlns:a16="http://schemas.microsoft.com/office/drawing/2014/main" id="{3828A788-4A83-E850-4A23-2144BFE83204}"/>
              </a:ext>
            </a:extLst>
          </p:cNvPr>
          <p:cNvGrpSpPr/>
          <p:nvPr/>
        </p:nvGrpSpPr>
        <p:grpSpPr>
          <a:xfrm>
            <a:off x="6372200" y="1277727"/>
            <a:ext cx="2472612" cy="446292"/>
            <a:chOff x="6147994" y="1223009"/>
            <a:chExt cx="2563670" cy="4462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文字方塊 181">
                  <a:extLst>
                    <a:ext uri="{FF2B5EF4-FFF2-40B4-BE49-F238E27FC236}">
                      <a16:creationId xmlns:a16="http://schemas.microsoft.com/office/drawing/2014/main" id="{0703BE9B-658F-AF58-434C-E3356BF77601}"/>
                    </a:ext>
                  </a:extLst>
                </p:cNvPr>
                <p:cNvSpPr txBox="1"/>
                <p:nvPr/>
              </p:nvSpPr>
              <p:spPr>
                <a:xfrm>
                  <a:off x="6173277" y="1453601"/>
                  <a:ext cx="2538387" cy="2157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m:rPr>
                            <m:sty m:val="p"/>
                          </m:rPr>
                          <a:rPr lang="en-US" altLang="zh-TW" sz="1200" b="0" i="0" smtClean="0">
                            <a:latin typeface="Cambria Math" panose="02040503050406030204" pitchFamily="18" charset="0"/>
                          </a:rPr>
                          <m:t>tanh</m:t>
                        </m:r>
                        <m:d>
                          <m:dPr>
                            <m:ctrlPr>
                              <a:rPr lang="en-US" altLang="zh-TW" sz="1200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200" b="1" i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200" b="1" i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en-US" altLang="zh-TW" sz="12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sz="12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#</m:t>
                                </m:r>
                                <m:r>
                                  <a:rPr lang="en-US" altLang="zh-TW" sz="120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2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1,   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12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  <m:r>
                                  <a:rPr lang="en-US" altLang="zh-TW" sz="12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b>
                            </m:sSub>
                            <m:r>
                              <a:rPr lang="en-US" altLang="zh-TW" sz="1200" b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𝐖</m:t>
                            </m:r>
                            <m:r>
                              <a:rPr lang="en-US" altLang="zh-TW" sz="1200" b="1" i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#</m:t>
                            </m:r>
                            <m:r>
                              <a:rPr lang="en-US" altLang="zh-TW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TW" sz="12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12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zh-TW" sz="12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sz="12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#</m:t>
                                </m:r>
                                <m:r>
                                  <a:rPr lang="en-US" altLang="zh-TW" sz="120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zh-TW" altLang="en-US" sz="12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TW" sz="12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12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  <m:r>
                                  <a:rPr lang="en-US" altLang="zh-TW" sz="12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−1)</m:t>
                                </m:r>
                              </m:sub>
                            </m:sSub>
                            <m:r>
                              <a:rPr lang="en-US" altLang="zh-TW" sz="1200" b="1" i="0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𝐔</m:t>
                            </m:r>
                            <m:r>
                              <a:rPr lang="en-US" altLang="zh-TW" sz="1200" b="1" i="0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#+</m:t>
                            </m:r>
                            <m:r>
                              <m:rPr>
                                <m:sty m:val="p"/>
                              </m:rPr>
                              <a:rPr lang="en-US" altLang="zh-TW" sz="1200" b="0" i="1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  <m:r>
                              <a:rPr lang="en-US" altLang="zh-TW" sz="1200" b="0" i="1" smtClean="0">
                                <a:latin typeface="Cambria Math" panose="02040503050406030204" pitchFamily="18" charset="0"/>
                              </a:rPr>
                              <m:t>#</m:t>
                            </m:r>
                          </m:e>
                        </m:d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182" name="文字方塊 181">
                  <a:extLst>
                    <a:ext uri="{FF2B5EF4-FFF2-40B4-BE49-F238E27FC236}">
                      <a16:creationId xmlns:a16="http://schemas.microsoft.com/office/drawing/2014/main" id="{0703BE9B-658F-AF58-434C-E3356BF776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3277" y="1453601"/>
                  <a:ext cx="2538387" cy="215700"/>
                </a:xfrm>
                <a:prstGeom prst="rect">
                  <a:avLst/>
                </a:prstGeom>
                <a:blipFill>
                  <a:blip r:embed="rId6"/>
                  <a:stretch>
                    <a:fillRect l="-2239" b="-2222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3" name="矩形 182">
              <a:extLst>
                <a:ext uri="{FF2B5EF4-FFF2-40B4-BE49-F238E27FC236}">
                  <a16:creationId xmlns:a16="http://schemas.microsoft.com/office/drawing/2014/main" id="{67D818AB-EA0D-7447-9E83-A5D8E492CE45}"/>
                </a:ext>
              </a:extLst>
            </p:cNvPr>
            <p:cNvSpPr/>
            <p:nvPr/>
          </p:nvSpPr>
          <p:spPr>
            <a:xfrm>
              <a:off x="6147994" y="1223009"/>
              <a:ext cx="983227" cy="212140"/>
            </a:xfrm>
            <a:prstGeom prst="rect">
              <a:avLst/>
            </a:prstGeom>
            <a:noFill/>
            <a:ln w="19050">
              <a:noFill/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t" anchorCtr="0">
              <a:noAutofit/>
            </a:bodyPr>
            <a:lstStyle/>
            <a:p>
              <a:pPr>
                <a:lnSpc>
                  <a:spcPts val="1600"/>
                </a:lnSpc>
              </a:pPr>
              <a:r>
                <a:rPr lang="en-US" altLang="zh-TW" sz="1200" b="1" dirty="0">
                  <a:solidFill>
                    <a:schemeClr val="tx2"/>
                  </a:solidFill>
                  <a:ea typeface="微軟正黑體" panose="020B0604030504040204" pitchFamily="34" charset="-120"/>
                </a:rPr>
                <a:t>RNN h#(t)</a:t>
              </a:r>
              <a:endParaRPr lang="en-US" altLang="zh-TW" sz="1200" baseline="-25000" dirty="0">
                <a:solidFill>
                  <a:schemeClr val="tx2"/>
                </a:solidFill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209" name="群組 208">
            <a:extLst>
              <a:ext uri="{FF2B5EF4-FFF2-40B4-BE49-F238E27FC236}">
                <a16:creationId xmlns:a16="http://schemas.microsoft.com/office/drawing/2014/main" id="{931BE1F1-5968-469A-CFDD-05AC75BE87B5}"/>
              </a:ext>
            </a:extLst>
          </p:cNvPr>
          <p:cNvGrpSpPr/>
          <p:nvPr/>
        </p:nvGrpSpPr>
        <p:grpSpPr>
          <a:xfrm>
            <a:off x="6474361" y="5921889"/>
            <a:ext cx="977959" cy="310785"/>
            <a:chOff x="5842380" y="5769283"/>
            <a:chExt cx="1094551" cy="360231"/>
          </a:xfrm>
          <a:solidFill>
            <a:schemeClr val="bg1">
              <a:alpha val="80000"/>
            </a:schemeClr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AC56C106-18F0-7DA9-0923-8B7802CE8292}"/>
                    </a:ext>
                  </a:extLst>
                </p:cNvPr>
                <p:cNvSpPr txBox="1"/>
                <p:nvPr/>
              </p:nvSpPr>
              <p:spPr>
                <a:xfrm>
                  <a:off x="5902454" y="5946872"/>
                  <a:ext cx="1034477" cy="182642"/>
                </a:xfrm>
                <a:prstGeom prst="rect">
                  <a:avLst/>
                </a:prstGeom>
                <a:grpFill/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m:rPr>
                            <m:sty m:val="p"/>
                          </m:rPr>
                          <a:rPr lang="en-US" altLang="zh-TW" sz="12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y</m:t>
                        </m:r>
                        <m:r>
                          <a:rPr lang="en-US" altLang="zh-TW" sz="1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altLang="zh-TW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max</m:t>
                        </m:r>
                        <m:r>
                          <a:rPr lang="en-US" altLang="zh-TW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(0, </m:t>
                        </m:r>
                        <m:r>
                          <m:rPr>
                            <m:sty m:val="p"/>
                          </m:rPr>
                          <a:rPr lang="en-US" altLang="zh-TW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  <m:r>
                          <a:rPr lang="en-US" altLang="zh-TW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TW" altLang="en-US" sz="1200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AC56C106-18F0-7DA9-0923-8B7802CE82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02454" y="5946872"/>
                  <a:ext cx="1034477" cy="182642"/>
                </a:xfrm>
                <a:prstGeom prst="rect">
                  <a:avLst/>
                </a:prstGeom>
                <a:blipFill>
                  <a:blip r:embed="rId7"/>
                  <a:stretch>
                    <a:fillRect l="-5960" t="-12000" r="-4636" b="-60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4EF308A9-861C-B735-3F55-3A6B6E04B998}"/>
                </a:ext>
              </a:extLst>
            </p:cNvPr>
            <p:cNvSpPr/>
            <p:nvPr/>
          </p:nvSpPr>
          <p:spPr>
            <a:xfrm>
              <a:off x="5842380" y="5769283"/>
              <a:ext cx="388205" cy="218977"/>
            </a:xfrm>
            <a:prstGeom prst="rect">
              <a:avLst/>
            </a:prstGeom>
            <a:noFill/>
            <a:ln w="19050">
              <a:noFill/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t" anchorCtr="0">
              <a:noAutofit/>
            </a:bodyPr>
            <a:lstStyle/>
            <a:p>
              <a:pPr>
                <a:lnSpc>
                  <a:spcPts val="1600"/>
                </a:lnSpc>
              </a:pPr>
              <a:r>
                <a:rPr lang="en-US" altLang="zh-TW" sz="1200" b="1" dirty="0">
                  <a:solidFill>
                    <a:schemeClr val="tx2"/>
                  </a:solidFill>
                  <a:ea typeface="微軟正黑體" panose="020B0604030504040204" pitchFamily="34" charset="-120"/>
                </a:rPr>
                <a:t>ReLU</a:t>
              </a:r>
            </a:p>
          </p:txBody>
        </p:sp>
      </p:grpSp>
      <p:sp>
        <p:nvSpPr>
          <p:cNvPr id="262" name="矩形 261">
            <a:extLst>
              <a:ext uri="{FF2B5EF4-FFF2-40B4-BE49-F238E27FC236}">
                <a16:creationId xmlns:a16="http://schemas.microsoft.com/office/drawing/2014/main" id="{D21908EB-6E30-409C-0CC4-C4BC68570BE2}"/>
              </a:ext>
            </a:extLst>
          </p:cNvPr>
          <p:cNvSpPr/>
          <p:nvPr/>
        </p:nvSpPr>
        <p:spPr>
          <a:xfrm>
            <a:off x="4790209" y="2839620"/>
            <a:ext cx="1138808" cy="257645"/>
          </a:xfrm>
          <a:prstGeom prst="rect">
            <a:avLst/>
          </a:prstGeom>
          <a:solidFill>
            <a:schemeClr val="accent5">
              <a:lumMod val="20000"/>
              <a:lumOff val="80000"/>
              <a:alpha val="20000"/>
            </a:schemeClr>
          </a:solidFill>
          <a:ln w="15875">
            <a:solidFill>
              <a:schemeClr val="accent1">
                <a:lumMod val="75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500"/>
              </a:lnSpc>
            </a:pPr>
            <a:endParaRPr lang="en-US" altLang="zh-TW" sz="1400" b="1" baseline="-25000" dirty="0">
              <a:solidFill>
                <a:schemeClr val="tx2"/>
              </a:solidFill>
              <a:ea typeface="微軟正黑體" panose="020B0604030504040204" pitchFamily="34" charset="-120"/>
            </a:endParaRPr>
          </a:p>
        </p:txBody>
      </p:sp>
      <p:sp>
        <p:nvSpPr>
          <p:cNvPr id="173" name="文字方塊 172">
            <a:extLst>
              <a:ext uri="{FF2B5EF4-FFF2-40B4-BE49-F238E27FC236}">
                <a16:creationId xmlns:a16="http://schemas.microsoft.com/office/drawing/2014/main" id="{D9D73DE7-93FD-FD53-4CD7-A18CBBEA4C9E}"/>
              </a:ext>
            </a:extLst>
          </p:cNvPr>
          <p:cNvSpPr txBox="1"/>
          <p:nvPr/>
        </p:nvSpPr>
        <p:spPr>
          <a:xfrm>
            <a:off x="1121170" y="2328939"/>
            <a:ext cx="365760" cy="15859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200"/>
              </a:lnSpc>
            </a:pPr>
            <a:r>
              <a:rPr lang="en-US" altLang="zh-TW" sz="1200" b="1" dirty="0"/>
              <a:t>1*3</a:t>
            </a:r>
            <a:endParaRPr lang="zh-TW" altLang="en-US" sz="1200" b="1" dirty="0"/>
          </a:p>
        </p:txBody>
      </p:sp>
      <p:sp>
        <p:nvSpPr>
          <p:cNvPr id="159" name="文字方塊 158">
            <a:extLst>
              <a:ext uri="{FF2B5EF4-FFF2-40B4-BE49-F238E27FC236}">
                <a16:creationId xmlns:a16="http://schemas.microsoft.com/office/drawing/2014/main" id="{7C520102-8550-4651-560C-673AF2CD6250}"/>
              </a:ext>
            </a:extLst>
          </p:cNvPr>
          <p:cNvSpPr txBox="1"/>
          <p:nvPr/>
        </p:nvSpPr>
        <p:spPr>
          <a:xfrm>
            <a:off x="7026873" y="3619151"/>
            <a:ext cx="293061" cy="129042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200" b="1" dirty="0"/>
              <a:t>1</a:t>
            </a:r>
            <a:r>
              <a:rPr lang="en-US" altLang="zh-TW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*n</a:t>
            </a:r>
            <a:endParaRPr lang="zh-TW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DDE2D7C0-3AFF-6B86-8C06-8BCF4E2D107A}"/>
              </a:ext>
            </a:extLst>
          </p:cNvPr>
          <p:cNvSpPr txBox="1"/>
          <p:nvPr/>
        </p:nvSpPr>
        <p:spPr>
          <a:xfrm>
            <a:off x="2930755" y="1942827"/>
            <a:ext cx="365760" cy="158584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200" b="1" dirty="0"/>
              <a:t>1*2</a:t>
            </a:r>
            <a:endParaRPr lang="zh-TW" altLang="en-US" sz="1200" b="1" dirty="0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C561452D-4525-BD72-7DCE-F9D3B98C94C7}"/>
              </a:ext>
            </a:extLst>
          </p:cNvPr>
          <p:cNvSpPr/>
          <p:nvPr/>
        </p:nvSpPr>
        <p:spPr>
          <a:xfrm>
            <a:off x="1547665" y="5013176"/>
            <a:ext cx="1521742" cy="1334069"/>
          </a:xfrm>
          <a:prstGeom prst="rect">
            <a:avLst/>
          </a:prstGeom>
          <a:solidFill>
            <a:schemeClr val="accent4">
              <a:lumMod val="20000"/>
              <a:lumOff val="80000"/>
              <a:alpha val="20000"/>
            </a:schemeClr>
          </a:solidFill>
          <a:ln w="19050">
            <a:solidFill>
              <a:schemeClr val="accent4"/>
            </a:solidFill>
            <a:prstDash val="sysDot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200"/>
              </a:lnSpc>
            </a:pPr>
            <a:endParaRPr lang="en-US" altLang="zh-TW" sz="1000" dirty="0">
              <a:solidFill>
                <a:srgbClr val="FF0000"/>
              </a:solidFill>
              <a:ea typeface="微軟正黑體" panose="020B0604030504040204" pitchFamily="34" charset="-120"/>
            </a:endParaRPr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E0FCD6E3-84BA-EABC-4A8E-6A16A4AA6B87}"/>
              </a:ext>
            </a:extLst>
          </p:cNvPr>
          <p:cNvSpPr/>
          <p:nvPr/>
        </p:nvSpPr>
        <p:spPr>
          <a:xfrm>
            <a:off x="1403648" y="5818200"/>
            <a:ext cx="27432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600"/>
              </a:lnSpc>
            </a:pPr>
            <a:r>
              <a:rPr lang="en-US" altLang="zh-TW" sz="1400" b="1" dirty="0">
                <a:solidFill>
                  <a:schemeClr val="tx1"/>
                </a:solidFill>
                <a:ea typeface="微軟正黑體" panose="020B0604030504040204" pitchFamily="34" charset="-120"/>
              </a:rPr>
              <a:t>X</a:t>
            </a:r>
            <a:r>
              <a:rPr lang="en-US" altLang="zh-TW" sz="1400" b="1" baseline="-25000" dirty="0">
                <a:solidFill>
                  <a:schemeClr val="tx1"/>
                </a:solidFill>
                <a:ea typeface="微軟正黑體" panose="020B0604030504040204" pitchFamily="34" charset="-120"/>
              </a:rPr>
              <a:t>n-1</a:t>
            </a:r>
            <a:endParaRPr lang="en-US" altLang="zh-TW" sz="1400" b="1" dirty="0">
              <a:solidFill>
                <a:schemeClr val="tx1"/>
              </a:solidFill>
              <a:ea typeface="微軟正黑體" panose="020B0604030504040204" pitchFamily="34" charset="-120"/>
            </a:endParaRPr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938DD872-03E6-B880-FB40-EB6850491B7B}"/>
              </a:ext>
            </a:extLst>
          </p:cNvPr>
          <p:cNvSpPr/>
          <p:nvPr/>
        </p:nvSpPr>
        <p:spPr>
          <a:xfrm>
            <a:off x="2352942" y="5818200"/>
            <a:ext cx="27432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600"/>
              </a:lnSpc>
            </a:pPr>
            <a:r>
              <a:rPr lang="en-US" altLang="zh-TW" sz="1400" b="1" dirty="0">
                <a:solidFill>
                  <a:schemeClr val="tx1"/>
                </a:solidFill>
                <a:ea typeface="微軟正黑體" panose="020B0604030504040204" pitchFamily="34" charset="-120"/>
              </a:rPr>
              <a:t>H</a:t>
            </a:r>
          </a:p>
        </p:txBody>
      </p:sp>
      <p:cxnSp>
        <p:nvCxnSpPr>
          <p:cNvPr id="133" name="直線單箭頭接點 132">
            <a:extLst>
              <a:ext uri="{FF2B5EF4-FFF2-40B4-BE49-F238E27FC236}">
                <a16:creationId xmlns:a16="http://schemas.microsoft.com/office/drawing/2014/main" id="{6940260D-7178-6F4E-079B-5750E75F4CB1}"/>
              </a:ext>
            </a:extLst>
          </p:cNvPr>
          <p:cNvCxnSpPr>
            <a:cxnSpLocks/>
            <a:stCxn id="140" idx="2"/>
            <a:endCxn id="138" idx="0"/>
          </p:cNvCxnSpPr>
          <p:nvPr/>
        </p:nvCxnSpPr>
        <p:spPr>
          <a:xfrm>
            <a:off x="1986568" y="5359504"/>
            <a:ext cx="1" cy="187427"/>
          </a:xfrm>
          <a:prstGeom prst="straightConnector1">
            <a:avLst/>
          </a:prstGeom>
          <a:ln w="15875">
            <a:solidFill>
              <a:schemeClr val="tx2"/>
            </a:solidFill>
            <a:prstDash val="sysDot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矩形 133">
            <a:extLst>
              <a:ext uri="{FF2B5EF4-FFF2-40B4-BE49-F238E27FC236}">
                <a16:creationId xmlns:a16="http://schemas.microsoft.com/office/drawing/2014/main" id="{98BA09B9-FBA3-0236-B291-A71887784281}"/>
              </a:ext>
            </a:extLst>
          </p:cNvPr>
          <p:cNvSpPr/>
          <p:nvPr/>
        </p:nvSpPr>
        <p:spPr>
          <a:xfrm>
            <a:off x="3230750" y="5818325"/>
            <a:ext cx="27432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600"/>
              </a:lnSpc>
            </a:pPr>
            <a:r>
              <a:rPr lang="en-US" altLang="zh-TW" sz="1400" b="1" dirty="0">
                <a:solidFill>
                  <a:schemeClr val="tx1"/>
                </a:solidFill>
                <a:ea typeface="微軟正黑體" panose="020B0604030504040204" pitchFamily="34" charset="-120"/>
              </a:rPr>
              <a:t>X</a:t>
            </a:r>
            <a:r>
              <a:rPr lang="en-US" altLang="zh-TW" sz="1400" b="1" baseline="-25000" dirty="0">
                <a:solidFill>
                  <a:schemeClr val="tx1"/>
                </a:solidFill>
                <a:ea typeface="微軟正黑體" panose="020B0604030504040204" pitchFamily="34" charset="-120"/>
              </a:rPr>
              <a:t>n</a:t>
            </a:r>
            <a:endParaRPr lang="en-US" altLang="zh-TW" sz="1400" b="1" dirty="0">
              <a:solidFill>
                <a:schemeClr val="tx1"/>
              </a:solidFill>
              <a:ea typeface="微軟正黑體" panose="020B0604030504040204" pitchFamily="34" charset="-120"/>
            </a:endParaRPr>
          </a:p>
        </p:txBody>
      </p:sp>
      <p:cxnSp>
        <p:nvCxnSpPr>
          <p:cNvPr id="135" name="直線單箭頭接點 134">
            <a:extLst>
              <a:ext uri="{FF2B5EF4-FFF2-40B4-BE49-F238E27FC236}">
                <a16:creationId xmlns:a16="http://schemas.microsoft.com/office/drawing/2014/main" id="{4295B2EB-D7DC-CDCD-E16C-B76860155D3D}"/>
              </a:ext>
            </a:extLst>
          </p:cNvPr>
          <p:cNvCxnSpPr>
            <a:cxnSpLocks/>
            <a:stCxn id="132" idx="3"/>
            <a:endCxn id="134" idx="1"/>
          </p:cNvCxnSpPr>
          <p:nvPr/>
        </p:nvCxnSpPr>
        <p:spPr>
          <a:xfrm>
            <a:off x="2627262" y="6046800"/>
            <a:ext cx="603488" cy="125"/>
          </a:xfrm>
          <a:prstGeom prst="straightConnector1">
            <a:avLst/>
          </a:prstGeom>
          <a:ln w="25400">
            <a:solidFill>
              <a:schemeClr val="accent2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接點: 肘形 135">
            <a:extLst>
              <a:ext uri="{FF2B5EF4-FFF2-40B4-BE49-F238E27FC236}">
                <a16:creationId xmlns:a16="http://schemas.microsoft.com/office/drawing/2014/main" id="{C28B9630-0002-CC1F-00CD-E9E28CC9012F}"/>
              </a:ext>
            </a:extLst>
          </p:cNvPr>
          <p:cNvCxnSpPr>
            <a:cxnSpLocks/>
            <a:stCxn id="137" idx="0"/>
            <a:endCxn id="140" idx="3"/>
          </p:cNvCxnSpPr>
          <p:nvPr/>
        </p:nvCxnSpPr>
        <p:spPr>
          <a:xfrm rot="16200000" flipV="1">
            <a:off x="2008524" y="5337549"/>
            <a:ext cx="525297" cy="294888"/>
          </a:xfrm>
          <a:prstGeom prst="bentConnector2">
            <a:avLst/>
          </a:prstGeom>
          <a:ln w="15875">
            <a:solidFill>
              <a:schemeClr val="tx2"/>
            </a:solidFill>
            <a:prstDash val="sysDot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矩形 136">
            <a:extLst>
              <a:ext uri="{FF2B5EF4-FFF2-40B4-BE49-F238E27FC236}">
                <a16:creationId xmlns:a16="http://schemas.microsoft.com/office/drawing/2014/main" id="{3931017A-BDB6-6675-47CF-E51EDE1EEEF7}"/>
              </a:ext>
            </a:extLst>
          </p:cNvPr>
          <p:cNvSpPr/>
          <p:nvPr/>
        </p:nvSpPr>
        <p:spPr>
          <a:xfrm>
            <a:off x="2281456" y="5747641"/>
            <a:ext cx="274320" cy="190663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600"/>
              </a:lnSpc>
            </a:pPr>
            <a:r>
              <a:rPr lang="en-US" altLang="zh-TW" sz="1400" b="1" dirty="0">
                <a:solidFill>
                  <a:schemeClr val="tx1"/>
                </a:solidFill>
                <a:ea typeface="微軟正黑體" panose="020B0604030504040204" pitchFamily="34" charset="-120"/>
              </a:rPr>
              <a:t>h</a:t>
            </a:r>
            <a:endParaRPr lang="en-US" altLang="zh-TW" sz="1400" b="1" baseline="-25000" dirty="0">
              <a:solidFill>
                <a:schemeClr val="tx1"/>
              </a:solidFill>
              <a:ea typeface="微軟正黑體" panose="020B0604030504040204" pitchFamily="34" charset="-120"/>
            </a:endParaRPr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0EB6FD30-4D2D-E702-A904-67601699C185}"/>
              </a:ext>
            </a:extLst>
          </p:cNvPr>
          <p:cNvSpPr/>
          <p:nvPr/>
        </p:nvSpPr>
        <p:spPr>
          <a:xfrm>
            <a:off x="1907705" y="5546931"/>
            <a:ext cx="157728" cy="178374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600"/>
              </a:lnSpc>
            </a:pPr>
            <a:r>
              <a:rPr lang="el-GR" altLang="zh-TW" sz="1400" b="1" dirty="0">
                <a:solidFill>
                  <a:schemeClr val="accent4"/>
                </a:solidFill>
                <a:cs typeface="Calibri" panose="020F0502020204030204" pitchFamily="34" charset="0"/>
              </a:rPr>
              <a:t>σ</a:t>
            </a:r>
            <a:endParaRPr lang="en-US" altLang="zh-TW" sz="1400" b="1" baseline="-25000" dirty="0">
              <a:solidFill>
                <a:schemeClr val="accent4"/>
              </a:solidFill>
              <a:ea typeface="微軟正黑體" panose="020B0604030504040204" pitchFamily="34" charset="-120"/>
            </a:endParaRPr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2649E3E4-D321-0ED6-A717-BC96D8795BF4}"/>
              </a:ext>
            </a:extLst>
          </p:cNvPr>
          <p:cNvSpPr/>
          <p:nvPr/>
        </p:nvSpPr>
        <p:spPr>
          <a:xfrm>
            <a:off x="1849408" y="5085184"/>
            <a:ext cx="274320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600"/>
              </a:lnSpc>
            </a:pPr>
            <a:r>
              <a:rPr lang="en-US" altLang="zh-TW" sz="1200" b="1" dirty="0">
                <a:solidFill>
                  <a:schemeClr val="tx1"/>
                </a:solidFill>
                <a:ea typeface="微軟正黑體" panose="020B0604030504040204" pitchFamily="34" charset="-120"/>
              </a:rPr>
              <a:t>U</a:t>
            </a:r>
            <a:r>
              <a:rPr lang="en-US" altLang="zh-TW" sz="1200" b="1" baseline="-25000" dirty="0">
                <a:solidFill>
                  <a:schemeClr val="tx1"/>
                </a:solidFill>
                <a:ea typeface="微軟正黑體" panose="020B0604030504040204" pitchFamily="34" charset="-120"/>
              </a:rPr>
              <a:t>t</a:t>
            </a:r>
          </a:p>
        </p:txBody>
      </p:sp>
      <p:cxnSp>
        <p:nvCxnSpPr>
          <p:cNvPr id="145" name="接點: 肘形 144">
            <a:extLst>
              <a:ext uri="{FF2B5EF4-FFF2-40B4-BE49-F238E27FC236}">
                <a16:creationId xmlns:a16="http://schemas.microsoft.com/office/drawing/2014/main" id="{05EB9C48-906D-3D19-2BB2-85CE104AC443}"/>
              </a:ext>
            </a:extLst>
          </p:cNvPr>
          <p:cNvCxnSpPr>
            <a:cxnSpLocks/>
            <a:stCxn id="131" idx="3"/>
            <a:endCxn id="138" idx="2"/>
          </p:cNvCxnSpPr>
          <p:nvPr/>
        </p:nvCxnSpPr>
        <p:spPr>
          <a:xfrm flipV="1">
            <a:off x="1677968" y="5725305"/>
            <a:ext cx="308601" cy="321495"/>
          </a:xfrm>
          <a:prstGeom prst="bentConnector2">
            <a:avLst/>
          </a:prstGeom>
          <a:ln w="15875">
            <a:solidFill>
              <a:schemeClr val="accent2"/>
            </a:solidFill>
            <a:prstDash val="sysDot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矩形 145">
            <a:extLst>
              <a:ext uri="{FF2B5EF4-FFF2-40B4-BE49-F238E27FC236}">
                <a16:creationId xmlns:a16="http://schemas.microsoft.com/office/drawing/2014/main" id="{774487CF-DC05-D346-BA6F-D17AA9981B51}"/>
              </a:ext>
            </a:extLst>
          </p:cNvPr>
          <p:cNvSpPr/>
          <p:nvPr/>
        </p:nvSpPr>
        <p:spPr>
          <a:xfrm>
            <a:off x="1852501" y="5902424"/>
            <a:ext cx="274320" cy="2743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600"/>
              </a:lnSpc>
            </a:pPr>
            <a:r>
              <a:rPr lang="en-US" altLang="zh-TW" sz="1200" b="1" dirty="0">
                <a:solidFill>
                  <a:schemeClr val="tx1"/>
                </a:solidFill>
                <a:ea typeface="微軟正黑體" panose="020B0604030504040204" pitchFamily="34" charset="-120"/>
              </a:rPr>
              <a:t>W</a:t>
            </a:r>
            <a:r>
              <a:rPr lang="en-US" altLang="zh-TW" sz="1200" b="1" baseline="-25000" dirty="0">
                <a:solidFill>
                  <a:schemeClr val="tx1"/>
                </a:solidFill>
                <a:ea typeface="微軟正黑體" panose="020B0604030504040204" pitchFamily="34" charset="-120"/>
              </a:rPr>
              <a:t>t</a:t>
            </a:r>
          </a:p>
        </p:txBody>
      </p:sp>
      <p:cxnSp>
        <p:nvCxnSpPr>
          <p:cNvPr id="157" name="接點: 肘形 156">
            <a:extLst>
              <a:ext uri="{FF2B5EF4-FFF2-40B4-BE49-F238E27FC236}">
                <a16:creationId xmlns:a16="http://schemas.microsoft.com/office/drawing/2014/main" id="{8290B55F-20C7-F4C7-9200-C9589356585E}"/>
              </a:ext>
            </a:extLst>
          </p:cNvPr>
          <p:cNvCxnSpPr>
            <a:cxnSpLocks/>
            <a:stCxn id="138" idx="3"/>
            <a:endCxn id="137" idx="1"/>
          </p:cNvCxnSpPr>
          <p:nvPr/>
        </p:nvCxnSpPr>
        <p:spPr>
          <a:xfrm>
            <a:off x="2065433" y="5636118"/>
            <a:ext cx="216023" cy="206855"/>
          </a:xfrm>
          <a:prstGeom prst="bentConnector3">
            <a:avLst>
              <a:gd name="adj1" fmla="val 50000"/>
            </a:avLst>
          </a:prstGeom>
          <a:ln w="15875">
            <a:solidFill>
              <a:schemeClr val="accent4"/>
            </a:solidFill>
            <a:prstDash val="sysDot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語音泡泡: 圓角矩形 11">
            <a:extLst>
              <a:ext uri="{FF2B5EF4-FFF2-40B4-BE49-F238E27FC236}">
                <a16:creationId xmlns:a16="http://schemas.microsoft.com/office/drawing/2014/main" id="{B576A91A-2F76-34FB-DA00-29B48F0BC02E}"/>
              </a:ext>
            </a:extLst>
          </p:cNvPr>
          <p:cNvSpPr/>
          <p:nvPr/>
        </p:nvSpPr>
        <p:spPr>
          <a:xfrm>
            <a:off x="2464262" y="4861293"/>
            <a:ext cx="929488" cy="356236"/>
          </a:xfrm>
          <a:prstGeom prst="wedgeRoundRectCallout">
            <a:avLst>
              <a:gd name="adj1" fmla="val -47953"/>
              <a:gd name="adj2" fmla="val 112513"/>
              <a:gd name="adj3" fmla="val 16667"/>
            </a:avLst>
          </a:prstGeom>
          <a:solidFill>
            <a:schemeClr val="accent6">
              <a:lumMod val="20000"/>
              <a:lumOff val="80000"/>
              <a:alpha val="70000"/>
            </a:schemeClr>
          </a:solidFill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TW" sz="1400" dirty="0">
                <a:solidFill>
                  <a:schemeClr val="accent6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Recurrent</a:t>
            </a:r>
            <a:endParaRPr lang="zh-TW" altLang="en-US" sz="1400" dirty="0">
              <a:solidFill>
                <a:schemeClr val="accent6">
                  <a:lumMod val="75000"/>
                </a:scheme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530B601E-7796-FC6E-8B67-AF06C7881C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4282" y="4735123"/>
            <a:ext cx="2260692" cy="898734"/>
          </a:xfrm>
          <a:prstGeom prst="rect">
            <a:avLst/>
          </a:prstGeom>
        </p:spPr>
      </p:pic>
      <p:grpSp>
        <p:nvGrpSpPr>
          <p:cNvPr id="3" name="群組 2">
            <a:extLst>
              <a:ext uri="{FF2B5EF4-FFF2-40B4-BE49-F238E27FC236}">
                <a16:creationId xmlns:a16="http://schemas.microsoft.com/office/drawing/2014/main" id="{EBBD4BEE-5C6D-731D-E6D1-C9F48A21AD8A}"/>
              </a:ext>
            </a:extLst>
          </p:cNvPr>
          <p:cNvGrpSpPr/>
          <p:nvPr/>
        </p:nvGrpSpPr>
        <p:grpSpPr>
          <a:xfrm>
            <a:off x="6228184" y="4769761"/>
            <a:ext cx="1240345" cy="576064"/>
            <a:chOff x="5580643" y="5625267"/>
            <a:chExt cx="1240345" cy="576064"/>
          </a:xfrm>
          <a:solidFill>
            <a:schemeClr val="bg1">
              <a:alpha val="80000"/>
            </a:schemeClr>
          </a:solidFill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D0093A0B-DBE1-AD18-1009-791D1BFBFABD}"/>
                </a:ext>
              </a:extLst>
            </p:cNvPr>
            <p:cNvSpPr/>
            <p:nvPr/>
          </p:nvSpPr>
          <p:spPr>
            <a:xfrm>
              <a:off x="5580643" y="5625267"/>
              <a:ext cx="1240345" cy="418842"/>
            </a:xfrm>
            <a:prstGeom prst="rect">
              <a:avLst/>
            </a:prstGeom>
            <a:noFill/>
            <a:ln w="19050">
              <a:noFill/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t" anchorCtr="0">
              <a:noAutofit/>
            </a:bodyPr>
            <a:lstStyle/>
            <a:p>
              <a:pPr>
                <a:lnSpc>
                  <a:spcPts val="1600"/>
                </a:lnSpc>
              </a:pPr>
              <a:r>
                <a:rPr lang="en-US" altLang="zh-TW" sz="1200" b="1" dirty="0">
                  <a:solidFill>
                    <a:schemeClr val="tx2"/>
                  </a:solidFill>
                  <a:ea typeface="微軟正黑體" panose="020B0604030504040204" pitchFamily="34" charset="-120"/>
                </a:rPr>
                <a:t>Hyperbolic tangent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字方塊 4">
                  <a:extLst>
                    <a:ext uri="{FF2B5EF4-FFF2-40B4-BE49-F238E27FC236}">
                      <a16:creationId xmlns:a16="http://schemas.microsoft.com/office/drawing/2014/main" id="{F7EE0D6B-1AC3-6DB3-B975-611D9BCBD74A}"/>
                    </a:ext>
                  </a:extLst>
                </p:cNvPr>
                <p:cNvSpPr txBox="1"/>
                <p:nvPr/>
              </p:nvSpPr>
              <p:spPr>
                <a:xfrm>
                  <a:off x="5580643" y="5836632"/>
                  <a:ext cx="1240345" cy="364699"/>
                </a:xfrm>
                <a:prstGeom prst="rect">
                  <a:avLst/>
                </a:prstGeom>
                <a:grpFill/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m:rPr>
                            <m:sty m:val="p"/>
                          </m:rPr>
                          <a:rPr lang="en-US" altLang="zh-TW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tanh</m:t>
                        </m:r>
                        <m:r>
                          <a:rPr lang="en-US" altLang="zh-TW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zh-TW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  <m:r>
                          <a:rPr lang="en-US" altLang="zh-TW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)=</m:t>
                        </m:r>
                        <m:f>
                          <m:fPr>
                            <m:ctrlPr>
                              <a:rPr lang="en-US" altLang="zh-TW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TW" sz="12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12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zh-TW" sz="12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x</m:t>
                                </m:r>
                              </m:sup>
                            </m:sSup>
                            <m:r>
                              <a:rPr lang="en-US" altLang="zh-TW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TW" sz="1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1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a:rPr lang="en-US" altLang="zh-TW" sz="12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1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x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altLang="zh-TW" sz="1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1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zh-TW" sz="1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x</m:t>
                                </m:r>
                              </m:sup>
                            </m:sSup>
                            <m:r>
                              <a:rPr lang="en-US" altLang="zh-TW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TW" sz="1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1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a:rPr lang="en-US" altLang="zh-TW" sz="12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1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x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lang="zh-TW" altLang="en-US" sz="1200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" name="文字方塊 4">
                  <a:extLst>
                    <a:ext uri="{FF2B5EF4-FFF2-40B4-BE49-F238E27FC236}">
                      <a16:creationId xmlns:a16="http://schemas.microsoft.com/office/drawing/2014/main" id="{F7EE0D6B-1AC3-6DB3-B975-611D9BCBD7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80643" y="5836632"/>
                  <a:ext cx="1240345" cy="364699"/>
                </a:xfrm>
                <a:prstGeom prst="rect">
                  <a:avLst/>
                </a:prstGeom>
                <a:blipFill>
                  <a:blip r:embed="rId9"/>
                  <a:stretch>
                    <a:fillRect l="-4926" r="-1970" b="-13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29B29A71-614F-BAFE-0BC7-F9097650DC03}"/>
              </a:ext>
            </a:extLst>
          </p:cNvPr>
          <p:cNvSpPr/>
          <p:nvPr/>
        </p:nvSpPr>
        <p:spPr>
          <a:xfrm>
            <a:off x="3904505" y="5817866"/>
            <a:ext cx="477458" cy="457534"/>
          </a:xfrm>
          <a:prstGeom prst="rect">
            <a:avLst/>
          </a:prstGeom>
          <a:solidFill>
            <a:schemeClr val="bg2">
              <a:lumMod val="90000"/>
              <a:alpha val="40000"/>
            </a:schemeClr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600"/>
              </a:lnSpc>
            </a:pPr>
            <a:r>
              <a:rPr lang="en-US" altLang="zh-TW" sz="1000" b="1" dirty="0">
                <a:solidFill>
                  <a:schemeClr val="tx1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Linear</a:t>
            </a:r>
          </a:p>
          <a:p>
            <a:pPr algn="ctr">
              <a:lnSpc>
                <a:spcPts val="1600"/>
              </a:lnSpc>
            </a:pPr>
            <a:r>
              <a:rPr lang="en-US" altLang="zh-TW" sz="1000" b="1" dirty="0">
                <a:solidFill>
                  <a:schemeClr val="tx1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Projection</a:t>
            </a:r>
          </a:p>
        </p:txBody>
      </p:sp>
      <p:sp>
        <p:nvSpPr>
          <p:cNvPr id="11" name="箭號: 向下 10">
            <a:extLst>
              <a:ext uri="{FF2B5EF4-FFF2-40B4-BE49-F238E27FC236}">
                <a16:creationId xmlns:a16="http://schemas.microsoft.com/office/drawing/2014/main" id="{3E4A8E9F-2D9E-D70F-5FE5-FFCCFEC917BA}"/>
              </a:ext>
            </a:extLst>
          </p:cNvPr>
          <p:cNvSpPr/>
          <p:nvPr/>
        </p:nvSpPr>
        <p:spPr>
          <a:xfrm>
            <a:off x="4036289" y="6228284"/>
            <a:ext cx="216022" cy="225052"/>
          </a:xfrm>
          <a:prstGeom prst="downArrow">
            <a:avLst/>
          </a:prstGeom>
          <a:solidFill>
            <a:schemeClr val="accent2">
              <a:alpha val="70000"/>
            </a:schemeClr>
          </a:solidFill>
          <a:ln w="127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" name="接點: 肘形 12">
            <a:extLst>
              <a:ext uri="{FF2B5EF4-FFF2-40B4-BE49-F238E27FC236}">
                <a16:creationId xmlns:a16="http://schemas.microsoft.com/office/drawing/2014/main" id="{FE47362E-A28D-E845-DD39-9A485DD23645}"/>
              </a:ext>
            </a:extLst>
          </p:cNvPr>
          <p:cNvCxnSpPr>
            <a:cxnSpLocks/>
            <a:stCxn id="11" idx="2"/>
            <a:endCxn id="17" idx="2"/>
          </p:cNvCxnSpPr>
          <p:nvPr/>
        </p:nvCxnSpPr>
        <p:spPr>
          <a:xfrm rot="5400000" flipH="1">
            <a:off x="2334271" y="4643307"/>
            <a:ext cx="177936" cy="3442123"/>
          </a:xfrm>
          <a:prstGeom prst="bentConnector3">
            <a:avLst>
              <a:gd name="adj1" fmla="val -128473"/>
            </a:avLst>
          </a:prstGeom>
          <a:ln w="15875">
            <a:solidFill>
              <a:schemeClr val="accent2"/>
            </a:solidFill>
            <a:prstDash val="sysDot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2F46EE7F-90EE-073A-BFC3-A6CF1F6DE881}"/>
              </a:ext>
            </a:extLst>
          </p:cNvPr>
          <p:cNvSpPr/>
          <p:nvPr/>
        </p:nvSpPr>
        <p:spPr>
          <a:xfrm>
            <a:off x="565017" y="5818200"/>
            <a:ext cx="27432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600"/>
              </a:lnSpc>
            </a:pPr>
            <a:r>
              <a:rPr lang="en-US" altLang="zh-TW" sz="1000" b="1" dirty="0">
                <a:solidFill>
                  <a:schemeClr val="tx1"/>
                </a:solidFill>
                <a:ea typeface="微軟正黑體" panose="020B0604030504040204" pitchFamily="34" charset="-120"/>
              </a:rPr>
              <a:t>Tokenizer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D035B068-1459-234D-A969-D8B5B7156E50}"/>
              </a:ext>
            </a:extLst>
          </p:cNvPr>
          <p:cNvSpPr txBox="1"/>
          <p:nvPr/>
        </p:nvSpPr>
        <p:spPr>
          <a:xfrm>
            <a:off x="1789863" y="6503285"/>
            <a:ext cx="1257506" cy="190663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200"/>
              </a:lnSpc>
            </a:pPr>
            <a:r>
              <a:rPr lang="en-US" altLang="zh-TW" sz="1200" b="1" dirty="0">
                <a:sym typeface="Wingdings" panose="05000000000000000000" pitchFamily="2" charset="2"/>
              </a:rPr>
              <a:t>A</a:t>
            </a:r>
            <a:r>
              <a:rPr lang="en-US" altLang="zh-TW" sz="1200" dirty="0">
                <a:sym typeface="Wingdings" panose="05000000000000000000" pitchFamily="2" charset="2"/>
              </a:rPr>
              <a:t>uto-</a:t>
            </a:r>
            <a:r>
              <a:rPr lang="en-US" altLang="zh-TW" sz="1200" b="1" dirty="0">
                <a:sym typeface="Wingdings" panose="05000000000000000000" pitchFamily="2" charset="2"/>
              </a:rPr>
              <a:t>R</a:t>
            </a:r>
            <a:r>
              <a:rPr lang="en-US" altLang="zh-TW" sz="1200" dirty="0">
                <a:sym typeface="Wingdings" panose="05000000000000000000" pitchFamily="2" charset="2"/>
              </a:rPr>
              <a:t>egressive model</a:t>
            </a:r>
            <a:endParaRPr lang="zh-TW" altLang="en-US" sz="1200" dirty="0"/>
          </a:p>
        </p:txBody>
      </p:sp>
      <p:sp>
        <p:nvSpPr>
          <p:cNvPr id="10" name="箭號: 向下 9">
            <a:extLst>
              <a:ext uri="{FF2B5EF4-FFF2-40B4-BE49-F238E27FC236}">
                <a16:creationId xmlns:a16="http://schemas.microsoft.com/office/drawing/2014/main" id="{20C391BD-B042-A3D6-E9C6-14E7B1BBF657}"/>
              </a:ext>
            </a:extLst>
          </p:cNvPr>
          <p:cNvSpPr/>
          <p:nvPr/>
        </p:nvSpPr>
        <p:spPr>
          <a:xfrm>
            <a:off x="1191825" y="2708920"/>
            <a:ext cx="223136" cy="520840"/>
          </a:xfrm>
          <a:prstGeom prst="downArrow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40000"/>
                </a:schemeClr>
              </a:gs>
              <a:gs pos="15000">
                <a:schemeClr val="bg1"/>
              </a:gs>
              <a:gs pos="83000">
                <a:schemeClr val="accent2"/>
              </a:gs>
              <a:gs pos="100000">
                <a:schemeClr val="accent2"/>
              </a:gs>
            </a:gsLst>
            <a:lin ang="5400000" scaled="1"/>
            <a:tileRect/>
          </a:gradFill>
          <a:ln w="12700" cap="flat" cmpd="sng" algn="ctr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0">
                  <a:schemeClr val="bg1"/>
                </a:gs>
                <a:gs pos="83000">
                  <a:schemeClr val="accent2"/>
                </a:gs>
                <a:gs pos="100000">
                  <a:srgbClr val="FF0000"/>
                </a:gs>
              </a:gsLst>
              <a:lin ang="5400000" scaled="1"/>
            </a:gra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5" name="左大括弧 14">
            <a:extLst>
              <a:ext uri="{FF2B5EF4-FFF2-40B4-BE49-F238E27FC236}">
                <a16:creationId xmlns:a16="http://schemas.microsoft.com/office/drawing/2014/main" id="{7A315810-3856-A224-CA50-2F38BA1CEF2F}"/>
              </a:ext>
            </a:extLst>
          </p:cNvPr>
          <p:cNvSpPr/>
          <p:nvPr/>
        </p:nvSpPr>
        <p:spPr>
          <a:xfrm>
            <a:off x="395536" y="2565323"/>
            <a:ext cx="120537" cy="1295725"/>
          </a:xfrm>
          <a:prstGeom prst="leftBrace">
            <a:avLst>
              <a:gd name="adj1" fmla="val 41469"/>
              <a:gd name="adj2" fmla="val 50000"/>
            </a:avLst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116627BA-4A11-1540-31DE-089B2A982A8C}"/>
              </a:ext>
            </a:extLst>
          </p:cNvPr>
          <p:cNvSpPr txBox="1"/>
          <p:nvPr/>
        </p:nvSpPr>
        <p:spPr>
          <a:xfrm>
            <a:off x="71481" y="3135840"/>
            <a:ext cx="295480" cy="15859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200"/>
              </a:lnSpc>
            </a:pPr>
            <a:r>
              <a:rPr lang="en-US" altLang="zh-TW" sz="1200" b="1" dirty="0"/>
              <a:t>T = 4</a:t>
            </a:r>
            <a:endParaRPr lang="zh-TW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2308387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2E1FC-954E-4851-B5E5-4B3914093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5FDD14D1-5EDB-867D-A4A3-517143F1E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91" y="5500883"/>
            <a:ext cx="3027713" cy="870916"/>
          </a:xfrm>
          <a:prstGeom prst="rect">
            <a:avLst/>
          </a:prstGeom>
        </p:spPr>
      </p:pic>
      <p:sp>
        <p:nvSpPr>
          <p:cNvPr id="4" name="標題 1">
            <a:extLst>
              <a:ext uri="{FF2B5EF4-FFF2-40B4-BE49-F238E27FC236}">
                <a16:creationId xmlns:a16="http://schemas.microsoft.com/office/drawing/2014/main" id="{9F53878C-97BE-D6C4-AADF-0D0B425134EF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b="1" dirty="0">
                <a:solidFill>
                  <a:schemeClr val="accent6">
                    <a:lumMod val="75000"/>
                  </a:scheme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L</a:t>
            </a:r>
            <a:r>
              <a:rPr lang="en-US" altLang="zh-TW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ong</a:t>
            </a:r>
            <a:r>
              <a:rPr lang="zh-TW" altLang="en-US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 </a:t>
            </a:r>
            <a:r>
              <a:rPr lang="en-US" altLang="zh-TW" sz="2800" b="1" dirty="0">
                <a:solidFill>
                  <a:schemeClr val="accent6">
                    <a:lumMod val="75000"/>
                  </a:scheme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S</a:t>
            </a:r>
            <a:r>
              <a:rPr lang="en-US" altLang="zh-TW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hort-</a:t>
            </a:r>
            <a:r>
              <a:rPr lang="en-US" altLang="zh-TW" sz="2800" b="1" dirty="0">
                <a:solidFill>
                  <a:schemeClr val="accent6">
                    <a:lumMod val="75000"/>
                  </a:scheme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T</a:t>
            </a:r>
            <a:r>
              <a:rPr lang="en-US" altLang="zh-TW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erm </a:t>
            </a:r>
            <a:r>
              <a:rPr lang="en-US" altLang="zh-TW" sz="2800" b="1" dirty="0">
                <a:solidFill>
                  <a:schemeClr val="accent6">
                    <a:lumMod val="75000"/>
                  </a:scheme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M</a:t>
            </a:r>
            <a:r>
              <a:rPr lang="en-US" altLang="zh-TW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emory </a:t>
            </a:r>
          </a:p>
          <a:p>
            <a:r>
              <a:rPr lang="en-US" altLang="zh-TW" sz="14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LSTM struggles with context.</a:t>
            </a:r>
          </a:p>
        </p:txBody>
      </p:sp>
      <p:graphicFrame>
        <p:nvGraphicFramePr>
          <p:cNvPr id="36" name="表格 35">
            <a:extLst>
              <a:ext uri="{FF2B5EF4-FFF2-40B4-BE49-F238E27FC236}">
                <a16:creationId xmlns:a16="http://schemas.microsoft.com/office/drawing/2014/main" id="{2C2FE945-38AF-A8FF-BB83-5F5DEDC09A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8832544"/>
              </p:ext>
            </p:extLst>
          </p:nvPr>
        </p:nvGraphicFramePr>
        <p:xfrm>
          <a:off x="1028346" y="2216228"/>
          <a:ext cx="597080" cy="14994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278">
                  <a:extLst>
                    <a:ext uri="{9D8B030D-6E8A-4147-A177-3AD203B41FA5}">
                      <a16:colId xmlns:a16="http://schemas.microsoft.com/office/drawing/2014/main" val="1603514915"/>
                    </a:ext>
                  </a:extLst>
                </a:gridCol>
                <a:gridCol w="196401">
                  <a:extLst>
                    <a:ext uri="{9D8B030D-6E8A-4147-A177-3AD203B41FA5}">
                      <a16:colId xmlns:a16="http://schemas.microsoft.com/office/drawing/2014/main" val="1823401774"/>
                    </a:ext>
                  </a:extLst>
                </a:gridCol>
                <a:gridCol w="196401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</a:tblGrid>
              <a:tr h="21420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96678"/>
                  </a:ext>
                </a:extLst>
              </a:tr>
              <a:tr h="214203"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225911"/>
                  </a:ext>
                </a:extLst>
              </a:tr>
              <a:tr h="21420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971003"/>
                  </a:ext>
                </a:extLst>
              </a:tr>
              <a:tr h="214203"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384225"/>
                  </a:ext>
                </a:extLst>
              </a:tr>
              <a:tr h="21420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019256"/>
                  </a:ext>
                </a:extLst>
              </a:tr>
              <a:tr h="214203"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641310"/>
                  </a:ext>
                </a:extLst>
              </a:tr>
              <a:tr h="21420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904019"/>
                  </a:ext>
                </a:extLst>
              </a:tr>
            </a:tbl>
          </a:graphicData>
        </a:graphic>
      </p:graphicFrame>
      <p:graphicFrame>
        <p:nvGraphicFramePr>
          <p:cNvPr id="56" name="表格 55">
            <a:extLst>
              <a:ext uri="{FF2B5EF4-FFF2-40B4-BE49-F238E27FC236}">
                <a16:creationId xmlns:a16="http://schemas.microsoft.com/office/drawing/2014/main" id="{131D2534-2502-86A3-221D-E415C6E5C9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4367153"/>
              </p:ext>
            </p:extLst>
          </p:nvPr>
        </p:nvGraphicFramePr>
        <p:xfrm>
          <a:off x="590961" y="1787822"/>
          <a:ext cx="365377" cy="19278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377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</a:tblGrid>
              <a:tr h="21420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t=0</a:t>
                      </a:r>
                      <a:endParaRPr lang="zh-TW" altLang="en-US" sz="1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310418"/>
                  </a:ext>
                </a:extLst>
              </a:tr>
              <a:tr h="214203"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3796171"/>
                  </a:ext>
                </a:extLst>
              </a:tr>
              <a:tr h="21420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t=1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96678"/>
                  </a:ext>
                </a:extLst>
              </a:tr>
              <a:tr h="214203"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225911"/>
                  </a:ext>
                </a:extLst>
              </a:tr>
              <a:tr h="21420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t=2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971003"/>
                  </a:ext>
                </a:extLst>
              </a:tr>
              <a:tr h="214203"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384225"/>
                  </a:ext>
                </a:extLst>
              </a:tr>
              <a:tr h="21420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t=3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019256"/>
                  </a:ext>
                </a:extLst>
              </a:tr>
              <a:tr h="214203"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641310"/>
                  </a:ext>
                </a:extLst>
              </a:tr>
              <a:tr h="21420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t=4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904019"/>
                  </a:ext>
                </a:extLst>
              </a:tr>
            </a:tbl>
          </a:graphicData>
        </a:graphic>
      </p:graphicFrame>
      <p:cxnSp>
        <p:nvCxnSpPr>
          <p:cNvPr id="65" name="接點: 肘形 64">
            <a:extLst>
              <a:ext uri="{FF2B5EF4-FFF2-40B4-BE49-F238E27FC236}">
                <a16:creationId xmlns:a16="http://schemas.microsoft.com/office/drawing/2014/main" id="{0A7D2A98-83C3-AE12-3E60-1D7AECB5C209}"/>
              </a:ext>
            </a:extLst>
          </p:cNvPr>
          <p:cNvCxnSpPr>
            <a:cxnSpLocks/>
            <a:stCxn id="80" idx="3"/>
            <a:endCxn id="116" idx="1"/>
          </p:cNvCxnSpPr>
          <p:nvPr/>
        </p:nvCxnSpPr>
        <p:spPr>
          <a:xfrm flipV="1">
            <a:off x="1672259" y="1760043"/>
            <a:ext cx="462809" cy="1831183"/>
          </a:xfrm>
          <a:prstGeom prst="bentConnector3">
            <a:avLst>
              <a:gd name="adj1" fmla="val 50000"/>
            </a:avLst>
          </a:prstGeom>
          <a:ln w="15875">
            <a:solidFill>
              <a:schemeClr val="accent2"/>
            </a:solidFill>
            <a:prstDash val="sysDot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群組 82">
            <a:extLst>
              <a:ext uri="{FF2B5EF4-FFF2-40B4-BE49-F238E27FC236}">
                <a16:creationId xmlns:a16="http://schemas.microsoft.com/office/drawing/2014/main" id="{C71E388A-F08D-0C54-2219-4EC6502694AC}"/>
              </a:ext>
            </a:extLst>
          </p:cNvPr>
          <p:cNvGrpSpPr/>
          <p:nvPr/>
        </p:nvGrpSpPr>
        <p:grpSpPr>
          <a:xfrm>
            <a:off x="2130871" y="2541620"/>
            <a:ext cx="293061" cy="359271"/>
            <a:chOff x="1851922" y="1748433"/>
            <a:chExt cx="293061" cy="359271"/>
          </a:xfrm>
        </p:grpSpPr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9A64EA7C-A485-7C0A-EA4A-B2EA3650A249}"/>
                </a:ext>
              </a:extLst>
            </p:cNvPr>
            <p:cNvSpPr/>
            <p:nvPr/>
          </p:nvSpPr>
          <p:spPr>
            <a:xfrm>
              <a:off x="1851922" y="1833384"/>
              <a:ext cx="274320" cy="27432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1"/>
            <a:lstStyle/>
            <a:p>
              <a:pPr algn="ctr">
                <a:lnSpc>
                  <a:spcPts val="1600"/>
                </a:lnSpc>
              </a:pPr>
              <a:r>
                <a:rPr lang="en-US" altLang="zh-TW" sz="1200" b="1" dirty="0">
                  <a:solidFill>
                    <a:schemeClr val="tx1"/>
                  </a:solidFill>
                  <a:ea typeface="微軟正黑體" panose="020B0604030504040204" pitchFamily="34" charset="-120"/>
                </a:rPr>
                <a:t>Wc</a:t>
              </a:r>
              <a:endParaRPr lang="en-US" altLang="zh-TW" sz="1200" b="1" baseline="-25000" dirty="0">
                <a:solidFill>
                  <a:schemeClr val="tx1"/>
                </a:solidFill>
                <a:ea typeface="微軟正黑體" panose="020B0604030504040204" pitchFamily="34" charset="-120"/>
              </a:endParaRPr>
            </a:p>
          </p:txBody>
        </p:sp>
        <p:sp>
          <p:nvSpPr>
            <p:cNvPr id="86" name="文字方塊 85">
              <a:extLst>
                <a:ext uri="{FF2B5EF4-FFF2-40B4-BE49-F238E27FC236}">
                  <a16:creationId xmlns:a16="http://schemas.microsoft.com/office/drawing/2014/main" id="{80A543D7-1F13-E4CD-F27F-E725B8FB4D70}"/>
                </a:ext>
              </a:extLst>
            </p:cNvPr>
            <p:cNvSpPr txBox="1"/>
            <p:nvPr/>
          </p:nvSpPr>
          <p:spPr>
            <a:xfrm>
              <a:off x="1851922" y="1748433"/>
              <a:ext cx="293061" cy="158592"/>
            </a:xfrm>
            <a:prstGeom prst="rect">
              <a:avLst/>
            </a:prstGeom>
            <a:solidFill>
              <a:schemeClr val="bg1">
                <a:alpha val="40000"/>
              </a:schemeClr>
            </a:solidFill>
          </p:spPr>
          <p:txBody>
            <a:bodyPr wrap="none" lIns="0" tIns="0" rIns="0" bIns="0" rtlCol="0" anchor="ctr" anchorCtr="1">
              <a:noAutofit/>
            </a:bodyPr>
            <a:lstStyle/>
            <a:p>
              <a:pPr algn="ctr"/>
              <a:r>
                <a:rPr lang="en-US" altLang="zh-TW" sz="1200" b="1" dirty="0"/>
                <a:t>3*2</a:t>
              </a:r>
              <a:endParaRPr lang="zh-TW" altLang="en-US" sz="1200" b="1" dirty="0"/>
            </a:p>
          </p:txBody>
        </p:sp>
      </p:grpSp>
      <p:grpSp>
        <p:nvGrpSpPr>
          <p:cNvPr id="87" name="群組 86">
            <a:extLst>
              <a:ext uri="{FF2B5EF4-FFF2-40B4-BE49-F238E27FC236}">
                <a16:creationId xmlns:a16="http://schemas.microsoft.com/office/drawing/2014/main" id="{5B89B6E7-4337-5D30-9486-AD329A42C906}"/>
              </a:ext>
            </a:extLst>
          </p:cNvPr>
          <p:cNvGrpSpPr/>
          <p:nvPr/>
        </p:nvGrpSpPr>
        <p:grpSpPr>
          <a:xfrm>
            <a:off x="4352917" y="2541620"/>
            <a:ext cx="293061" cy="359271"/>
            <a:chOff x="1842397" y="1748433"/>
            <a:chExt cx="293061" cy="359271"/>
          </a:xfrm>
        </p:grpSpPr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EB677A2C-F14A-5D33-05BA-55B9BEB3F497}"/>
                </a:ext>
              </a:extLst>
            </p:cNvPr>
            <p:cNvSpPr/>
            <p:nvPr/>
          </p:nvSpPr>
          <p:spPr>
            <a:xfrm>
              <a:off x="1851922" y="1833384"/>
              <a:ext cx="274320" cy="2743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1"/>
            <a:lstStyle/>
            <a:p>
              <a:pPr algn="ctr">
                <a:lnSpc>
                  <a:spcPts val="1600"/>
                </a:lnSpc>
              </a:pPr>
              <a:r>
                <a:rPr lang="en-US" altLang="zh-TW" sz="1200" b="1" dirty="0">
                  <a:solidFill>
                    <a:schemeClr val="tx1"/>
                  </a:solidFill>
                  <a:ea typeface="微軟正黑體" panose="020B0604030504040204" pitchFamily="34" charset="-120"/>
                </a:rPr>
                <a:t>Uc</a:t>
              </a:r>
              <a:endParaRPr lang="en-US" altLang="zh-TW" sz="1200" b="1" baseline="-25000" dirty="0">
                <a:solidFill>
                  <a:schemeClr val="tx1"/>
                </a:solidFill>
                <a:ea typeface="微軟正黑體" panose="020B0604030504040204" pitchFamily="34" charset="-120"/>
              </a:endParaRPr>
            </a:p>
          </p:txBody>
        </p:sp>
        <p:sp>
          <p:nvSpPr>
            <p:cNvPr id="89" name="文字方塊 88">
              <a:extLst>
                <a:ext uri="{FF2B5EF4-FFF2-40B4-BE49-F238E27FC236}">
                  <a16:creationId xmlns:a16="http://schemas.microsoft.com/office/drawing/2014/main" id="{6FE65A53-AFE0-04BB-EC70-5AD492DA0932}"/>
                </a:ext>
              </a:extLst>
            </p:cNvPr>
            <p:cNvSpPr txBox="1"/>
            <p:nvPr/>
          </p:nvSpPr>
          <p:spPr>
            <a:xfrm>
              <a:off x="1842397" y="1748433"/>
              <a:ext cx="293061" cy="158592"/>
            </a:xfrm>
            <a:prstGeom prst="rect">
              <a:avLst/>
            </a:prstGeom>
            <a:solidFill>
              <a:schemeClr val="bg1">
                <a:alpha val="40000"/>
              </a:schemeClr>
            </a:solidFill>
          </p:spPr>
          <p:txBody>
            <a:bodyPr wrap="none" lIns="0" tIns="0" rIns="0" bIns="0" rtlCol="0" anchor="ctr" anchorCtr="1">
              <a:noAutofit/>
            </a:bodyPr>
            <a:lstStyle/>
            <a:p>
              <a:pPr algn="ctr"/>
              <a:r>
                <a:rPr lang="en-US" altLang="zh-TW" sz="1200" b="1" dirty="0"/>
                <a:t>2*2</a:t>
              </a:r>
              <a:endParaRPr lang="zh-TW" altLang="en-US" sz="1200" b="1" dirty="0"/>
            </a:p>
          </p:txBody>
        </p:sp>
      </p:grpSp>
      <p:graphicFrame>
        <p:nvGraphicFramePr>
          <p:cNvPr id="104" name="表格 103">
            <a:extLst>
              <a:ext uri="{FF2B5EF4-FFF2-40B4-BE49-F238E27FC236}">
                <a16:creationId xmlns:a16="http://schemas.microsoft.com/office/drawing/2014/main" id="{25FA4C0D-AC5B-9E17-0A56-AE2C945FDE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043389"/>
              </p:ext>
            </p:extLst>
          </p:nvPr>
        </p:nvGraphicFramePr>
        <p:xfrm>
          <a:off x="5157340" y="2230750"/>
          <a:ext cx="415217" cy="14994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691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03526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</a:tblGrid>
              <a:tr h="21420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96678"/>
                  </a:ext>
                </a:extLst>
              </a:tr>
              <a:tr h="214203"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225911"/>
                  </a:ext>
                </a:extLst>
              </a:tr>
              <a:tr h="21420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971003"/>
                  </a:ext>
                </a:extLst>
              </a:tr>
              <a:tr h="214203"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384225"/>
                  </a:ext>
                </a:extLst>
              </a:tr>
              <a:tr h="21420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019256"/>
                  </a:ext>
                </a:extLst>
              </a:tr>
              <a:tr h="214203"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641310"/>
                  </a:ext>
                </a:extLst>
              </a:tr>
              <a:tr h="21420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904019"/>
                  </a:ext>
                </a:extLst>
              </a:tr>
            </a:tbl>
          </a:graphicData>
        </a:graphic>
      </p:graphicFrame>
      <p:graphicFrame>
        <p:nvGraphicFramePr>
          <p:cNvPr id="106" name="表格 105">
            <a:extLst>
              <a:ext uri="{FF2B5EF4-FFF2-40B4-BE49-F238E27FC236}">
                <a16:creationId xmlns:a16="http://schemas.microsoft.com/office/drawing/2014/main" id="{316E06D6-F6F3-3D27-C91B-B0888D7E3A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3866438"/>
              </p:ext>
            </p:extLst>
          </p:nvPr>
        </p:nvGraphicFramePr>
        <p:xfrm>
          <a:off x="5157341" y="1787776"/>
          <a:ext cx="415216" cy="214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690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03526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</a:tblGrid>
              <a:tr h="21420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96678"/>
                  </a:ext>
                </a:extLst>
              </a:tr>
            </a:tbl>
          </a:graphicData>
        </a:graphic>
      </p:graphicFrame>
      <p:sp>
        <p:nvSpPr>
          <p:cNvPr id="108" name="矩形 107">
            <a:extLst>
              <a:ext uri="{FF2B5EF4-FFF2-40B4-BE49-F238E27FC236}">
                <a16:creationId xmlns:a16="http://schemas.microsoft.com/office/drawing/2014/main" id="{02B3FD55-5E2A-F45B-8571-08CA93683AB4}"/>
              </a:ext>
            </a:extLst>
          </p:cNvPr>
          <p:cNvSpPr/>
          <p:nvPr/>
        </p:nvSpPr>
        <p:spPr>
          <a:xfrm>
            <a:off x="5078026" y="3053058"/>
            <a:ext cx="569295" cy="273876"/>
          </a:xfrm>
          <a:prstGeom prst="rect">
            <a:avLst/>
          </a:prstGeom>
          <a:noFill/>
          <a:ln w="15875">
            <a:solidFill>
              <a:schemeClr val="accent5">
                <a:lumMod val="75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400"/>
              </a:lnSpc>
            </a:pPr>
            <a:r>
              <a:rPr lang="en-US" altLang="zh-TW" sz="1400" b="1" dirty="0">
                <a:solidFill>
                  <a:schemeClr val="tx2"/>
                </a:solidFill>
                <a:ea typeface="微軟正黑體" panose="020B0604030504040204" pitchFamily="34" charset="-120"/>
              </a:rPr>
              <a:t>h3</a:t>
            </a:r>
          </a:p>
        </p:txBody>
      </p:sp>
      <p:grpSp>
        <p:nvGrpSpPr>
          <p:cNvPr id="109" name="群組 108">
            <a:extLst>
              <a:ext uri="{FF2B5EF4-FFF2-40B4-BE49-F238E27FC236}">
                <a16:creationId xmlns:a16="http://schemas.microsoft.com/office/drawing/2014/main" id="{D2FE488C-C8CE-12A5-FD96-68E6B159EF46}"/>
              </a:ext>
            </a:extLst>
          </p:cNvPr>
          <p:cNvGrpSpPr/>
          <p:nvPr/>
        </p:nvGrpSpPr>
        <p:grpSpPr>
          <a:xfrm>
            <a:off x="2125698" y="3588918"/>
            <a:ext cx="293061" cy="368796"/>
            <a:chOff x="1861447" y="1748433"/>
            <a:chExt cx="293061" cy="368796"/>
          </a:xfrm>
        </p:grpSpPr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1E665E32-28AC-5935-6C39-AE0974638C80}"/>
                </a:ext>
              </a:extLst>
            </p:cNvPr>
            <p:cNvSpPr/>
            <p:nvPr/>
          </p:nvSpPr>
          <p:spPr>
            <a:xfrm>
              <a:off x="1861447" y="1842909"/>
              <a:ext cx="274320" cy="27432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1"/>
            <a:lstStyle/>
            <a:p>
              <a:pPr algn="ctr">
                <a:lnSpc>
                  <a:spcPts val="1600"/>
                </a:lnSpc>
              </a:pPr>
              <a:r>
                <a:rPr lang="en-US" altLang="zh-TW" sz="1200" b="1" dirty="0">
                  <a:solidFill>
                    <a:schemeClr val="tx1"/>
                  </a:solidFill>
                  <a:ea typeface="微軟正黑體" panose="020B0604030504040204" pitchFamily="34" charset="-120"/>
                </a:rPr>
                <a:t>Wo</a:t>
              </a:r>
              <a:endParaRPr lang="en-US" altLang="zh-TW" sz="1200" b="1" baseline="-25000" dirty="0">
                <a:solidFill>
                  <a:schemeClr val="tx1"/>
                </a:solidFill>
                <a:ea typeface="微軟正黑體" panose="020B0604030504040204" pitchFamily="34" charset="-120"/>
              </a:endParaRPr>
            </a:p>
          </p:txBody>
        </p:sp>
        <p:sp>
          <p:nvSpPr>
            <p:cNvPr id="111" name="文字方塊 110">
              <a:extLst>
                <a:ext uri="{FF2B5EF4-FFF2-40B4-BE49-F238E27FC236}">
                  <a16:creationId xmlns:a16="http://schemas.microsoft.com/office/drawing/2014/main" id="{10839A9E-5DBB-49EB-E87F-D509F818189A}"/>
                </a:ext>
              </a:extLst>
            </p:cNvPr>
            <p:cNvSpPr txBox="1"/>
            <p:nvPr/>
          </p:nvSpPr>
          <p:spPr>
            <a:xfrm>
              <a:off x="1861447" y="1748433"/>
              <a:ext cx="293061" cy="158592"/>
            </a:xfrm>
            <a:prstGeom prst="rect">
              <a:avLst/>
            </a:prstGeom>
            <a:solidFill>
              <a:schemeClr val="bg1">
                <a:alpha val="40000"/>
              </a:schemeClr>
            </a:solidFill>
          </p:spPr>
          <p:txBody>
            <a:bodyPr wrap="none" lIns="0" tIns="0" rIns="0" bIns="0" rtlCol="0" anchor="ctr" anchorCtr="1">
              <a:noAutofit/>
            </a:bodyPr>
            <a:lstStyle/>
            <a:p>
              <a:pPr algn="ctr"/>
              <a:r>
                <a:rPr lang="en-US" altLang="zh-TW" sz="1200" b="1" dirty="0"/>
                <a:t>3*2</a:t>
              </a:r>
              <a:endParaRPr lang="zh-TW" altLang="en-US" sz="1200" b="1" dirty="0"/>
            </a:p>
          </p:txBody>
        </p:sp>
      </p:grpSp>
      <p:grpSp>
        <p:nvGrpSpPr>
          <p:cNvPr id="112" name="群組 111">
            <a:extLst>
              <a:ext uri="{FF2B5EF4-FFF2-40B4-BE49-F238E27FC236}">
                <a16:creationId xmlns:a16="http://schemas.microsoft.com/office/drawing/2014/main" id="{717ABC37-93DC-B781-F59D-E4273211E858}"/>
              </a:ext>
            </a:extLst>
          </p:cNvPr>
          <p:cNvGrpSpPr/>
          <p:nvPr/>
        </p:nvGrpSpPr>
        <p:grpSpPr>
          <a:xfrm>
            <a:off x="2125698" y="2047090"/>
            <a:ext cx="293061" cy="359271"/>
            <a:chOff x="1851922" y="1748433"/>
            <a:chExt cx="293061" cy="359271"/>
          </a:xfrm>
        </p:grpSpPr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713A8773-5C22-7602-CEF2-03AA964806CF}"/>
                </a:ext>
              </a:extLst>
            </p:cNvPr>
            <p:cNvSpPr/>
            <p:nvPr/>
          </p:nvSpPr>
          <p:spPr>
            <a:xfrm>
              <a:off x="1851922" y="1833384"/>
              <a:ext cx="274320" cy="27432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1"/>
            <a:lstStyle/>
            <a:p>
              <a:pPr algn="ctr">
                <a:lnSpc>
                  <a:spcPts val="1600"/>
                </a:lnSpc>
              </a:pPr>
              <a:r>
                <a:rPr lang="en-US" altLang="zh-TW" sz="1200" b="1" dirty="0">
                  <a:solidFill>
                    <a:schemeClr val="tx1"/>
                  </a:solidFill>
                  <a:ea typeface="微軟正黑體" panose="020B0604030504040204" pitchFamily="34" charset="-120"/>
                </a:rPr>
                <a:t>Wi</a:t>
              </a:r>
              <a:endParaRPr lang="en-US" altLang="zh-TW" sz="1200" b="1" baseline="-25000" dirty="0">
                <a:solidFill>
                  <a:schemeClr val="tx1"/>
                </a:solidFill>
                <a:ea typeface="微軟正黑體" panose="020B0604030504040204" pitchFamily="34" charset="-120"/>
              </a:endParaRPr>
            </a:p>
          </p:txBody>
        </p:sp>
        <p:sp>
          <p:nvSpPr>
            <p:cNvPr id="114" name="文字方塊 113">
              <a:extLst>
                <a:ext uri="{FF2B5EF4-FFF2-40B4-BE49-F238E27FC236}">
                  <a16:creationId xmlns:a16="http://schemas.microsoft.com/office/drawing/2014/main" id="{8EE5941B-7881-6CCE-2AE4-4F30E69C64E1}"/>
                </a:ext>
              </a:extLst>
            </p:cNvPr>
            <p:cNvSpPr txBox="1"/>
            <p:nvPr/>
          </p:nvSpPr>
          <p:spPr>
            <a:xfrm>
              <a:off x="1851922" y="1748433"/>
              <a:ext cx="293061" cy="158592"/>
            </a:xfrm>
            <a:prstGeom prst="rect">
              <a:avLst/>
            </a:prstGeom>
            <a:solidFill>
              <a:schemeClr val="bg1">
                <a:alpha val="40000"/>
              </a:schemeClr>
            </a:solidFill>
          </p:spPr>
          <p:txBody>
            <a:bodyPr wrap="none" lIns="0" tIns="0" rIns="0" bIns="0" rtlCol="0" anchor="ctr" anchorCtr="1">
              <a:noAutofit/>
            </a:bodyPr>
            <a:lstStyle/>
            <a:p>
              <a:pPr algn="ctr"/>
              <a:r>
                <a:rPr lang="en-US" altLang="zh-TW" sz="1200" b="1" dirty="0"/>
                <a:t>3*2</a:t>
              </a:r>
              <a:endParaRPr lang="zh-TW" altLang="en-US" sz="1200" b="1" dirty="0"/>
            </a:p>
          </p:txBody>
        </p:sp>
      </p:grpSp>
      <p:grpSp>
        <p:nvGrpSpPr>
          <p:cNvPr id="115" name="群組 114">
            <a:extLst>
              <a:ext uri="{FF2B5EF4-FFF2-40B4-BE49-F238E27FC236}">
                <a16:creationId xmlns:a16="http://schemas.microsoft.com/office/drawing/2014/main" id="{CBF440CA-19D2-DDD5-67BD-1BC15169F976}"/>
              </a:ext>
            </a:extLst>
          </p:cNvPr>
          <p:cNvGrpSpPr/>
          <p:nvPr/>
        </p:nvGrpSpPr>
        <p:grpSpPr>
          <a:xfrm>
            <a:off x="2125698" y="1538806"/>
            <a:ext cx="293061" cy="358397"/>
            <a:chOff x="1851922" y="1748433"/>
            <a:chExt cx="293061" cy="358397"/>
          </a:xfrm>
        </p:grpSpPr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D195AE0E-F511-8B02-751F-0BC4794A079D}"/>
                </a:ext>
              </a:extLst>
            </p:cNvPr>
            <p:cNvSpPr/>
            <p:nvPr/>
          </p:nvSpPr>
          <p:spPr>
            <a:xfrm>
              <a:off x="1861292" y="1832510"/>
              <a:ext cx="274320" cy="27432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1"/>
            <a:lstStyle/>
            <a:p>
              <a:pPr algn="ctr">
                <a:lnSpc>
                  <a:spcPts val="1600"/>
                </a:lnSpc>
              </a:pPr>
              <a:r>
                <a:rPr lang="en-US" altLang="zh-TW" sz="1200" b="1" dirty="0">
                  <a:solidFill>
                    <a:schemeClr val="tx1"/>
                  </a:solidFill>
                  <a:ea typeface="微軟正黑體" panose="020B0604030504040204" pitchFamily="34" charset="-120"/>
                </a:rPr>
                <a:t>Wf</a:t>
              </a:r>
              <a:endParaRPr lang="en-US" altLang="zh-TW" sz="1200" b="1" baseline="-25000" dirty="0">
                <a:solidFill>
                  <a:schemeClr val="tx1"/>
                </a:solidFill>
                <a:ea typeface="微軟正黑體" panose="020B0604030504040204" pitchFamily="34" charset="-120"/>
              </a:endParaRPr>
            </a:p>
          </p:txBody>
        </p:sp>
        <p:sp>
          <p:nvSpPr>
            <p:cNvPr id="117" name="文字方塊 116">
              <a:extLst>
                <a:ext uri="{FF2B5EF4-FFF2-40B4-BE49-F238E27FC236}">
                  <a16:creationId xmlns:a16="http://schemas.microsoft.com/office/drawing/2014/main" id="{2633DA82-ADAE-47B5-825C-1A972054FE3A}"/>
                </a:ext>
              </a:extLst>
            </p:cNvPr>
            <p:cNvSpPr txBox="1"/>
            <p:nvPr/>
          </p:nvSpPr>
          <p:spPr>
            <a:xfrm>
              <a:off x="1851922" y="1748433"/>
              <a:ext cx="293061" cy="158592"/>
            </a:xfrm>
            <a:prstGeom prst="rect">
              <a:avLst/>
            </a:prstGeom>
            <a:solidFill>
              <a:schemeClr val="bg1">
                <a:alpha val="40000"/>
              </a:schemeClr>
            </a:solidFill>
          </p:spPr>
          <p:txBody>
            <a:bodyPr wrap="none" lIns="0" tIns="0" rIns="0" bIns="0" rtlCol="0" anchor="ctr" anchorCtr="1">
              <a:noAutofit/>
            </a:bodyPr>
            <a:lstStyle/>
            <a:p>
              <a:pPr algn="ctr"/>
              <a:r>
                <a:rPr lang="en-US" altLang="zh-TW" sz="1200" b="1" dirty="0"/>
                <a:t>3*2</a:t>
              </a:r>
              <a:endParaRPr lang="zh-TW" altLang="en-US" sz="1200" b="1" dirty="0"/>
            </a:p>
          </p:txBody>
        </p:sp>
      </p:grpSp>
      <p:grpSp>
        <p:nvGrpSpPr>
          <p:cNvPr id="118" name="群組 117">
            <a:extLst>
              <a:ext uri="{FF2B5EF4-FFF2-40B4-BE49-F238E27FC236}">
                <a16:creationId xmlns:a16="http://schemas.microsoft.com/office/drawing/2014/main" id="{73805786-EC88-AF27-C3B9-D4DEF43D9AB3}"/>
              </a:ext>
            </a:extLst>
          </p:cNvPr>
          <p:cNvGrpSpPr/>
          <p:nvPr/>
        </p:nvGrpSpPr>
        <p:grpSpPr>
          <a:xfrm>
            <a:off x="4352917" y="3588918"/>
            <a:ext cx="293061" cy="361362"/>
            <a:chOff x="1842397" y="1748433"/>
            <a:chExt cx="293061" cy="361362"/>
          </a:xfrm>
        </p:grpSpPr>
        <p:sp>
          <p:nvSpPr>
            <p:cNvPr id="119" name="矩形 118">
              <a:extLst>
                <a:ext uri="{FF2B5EF4-FFF2-40B4-BE49-F238E27FC236}">
                  <a16:creationId xmlns:a16="http://schemas.microsoft.com/office/drawing/2014/main" id="{03033A16-BF33-517C-16F1-C7DD2C2B086F}"/>
                </a:ext>
              </a:extLst>
            </p:cNvPr>
            <p:cNvSpPr/>
            <p:nvPr/>
          </p:nvSpPr>
          <p:spPr>
            <a:xfrm>
              <a:off x="1851922" y="1835475"/>
              <a:ext cx="274320" cy="2743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1"/>
            <a:lstStyle/>
            <a:p>
              <a:pPr algn="ctr">
                <a:lnSpc>
                  <a:spcPts val="1600"/>
                </a:lnSpc>
              </a:pPr>
              <a:r>
                <a:rPr lang="en-US" altLang="zh-TW" sz="1200" b="1" dirty="0">
                  <a:solidFill>
                    <a:schemeClr val="tx1"/>
                  </a:solidFill>
                  <a:ea typeface="微軟正黑體" panose="020B0604030504040204" pitchFamily="34" charset="-120"/>
                </a:rPr>
                <a:t>Uo</a:t>
              </a:r>
              <a:endParaRPr lang="en-US" altLang="zh-TW" sz="1200" b="1" baseline="-25000" dirty="0">
                <a:solidFill>
                  <a:schemeClr val="tx1"/>
                </a:solidFill>
                <a:ea typeface="微軟正黑體" panose="020B0604030504040204" pitchFamily="34" charset="-120"/>
              </a:endParaRPr>
            </a:p>
          </p:txBody>
        </p:sp>
        <p:sp>
          <p:nvSpPr>
            <p:cNvPr id="120" name="文字方塊 119">
              <a:extLst>
                <a:ext uri="{FF2B5EF4-FFF2-40B4-BE49-F238E27FC236}">
                  <a16:creationId xmlns:a16="http://schemas.microsoft.com/office/drawing/2014/main" id="{122834FE-1391-3E21-2566-88EE7CFA8E6F}"/>
                </a:ext>
              </a:extLst>
            </p:cNvPr>
            <p:cNvSpPr txBox="1"/>
            <p:nvPr/>
          </p:nvSpPr>
          <p:spPr>
            <a:xfrm>
              <a:off x="1842397" y="1748433"/>
              <a:ext cx="293061" cy="158592"/>
            </a:xfrm>
            <a:prstGeom prst="rect">
              <a:avLst/>
            </a:prstGeom>
            <a:solidFill>
              <a:schemeClr val="bg1">
                <a:alpha val="40000"/>
              </a:schemeClr>
            </a:solidFill>
          </p:spPr>
          <p:txBody>
            <a:bodyPr wrap="none" lIns="0" tIns="0" rIns="0" bIns="0" rtlCol="0" anchor="ctr" anchorCtr="1">
              <a:noAutofit/>
            </a:bodyPr>
            <a:lstStyle/>
            <a:p>
              <a:pPr algn="ctr"/>
              <a:r>
                <a:rPr lang="en-US" altLang="zh-TW" sz="1200" b="1" dirty="0"/>
                <a:t>2*2</a:t>
              </a:r>
              <a:endParaRPr lang="zh-TW" altLang="en-US" sz="1200" b="1" dirty="0"/>
            </a:p>
          </p:txBody>
        </p:sp>
      </p:grpSp>
      <p:grpSp>
        <p:nvGrpSpPr>
          <p:cNvPr id="121" name="群組 120">
            <a:extLst>
              <a:ext uri="{FF2B5EF4-FFF2-40B4-BE49-F238E27FC236}">
                <a16:creationId xmlns:a16="http://schemas.microsoft.com/office/drawing/2014/main" id="{70D3C14D-AAA5-71BF-5647-4E86C9288FCF}"/>
              </a:ext>
            </a:extLst>
          </p:cNvPr>
          <p:cNvGrpSpPr/>
          <p:nvPr/>
        </p:nvGrpSpPr>
        <p:grpSpPr>
          <a:xfrm>
            <a:off x="4352917" y="2037565"/>
            <a:ext cx="293061" cy="359271"/>
            <a:chOff x="1842397" y="1748433"/>
            <a:chExt cx="293061" cy="359271"/>
          </a:xfrm>
        </p:grpSpPr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ABF1AA26-3B58-2BB4-B2ED-51C384D09A79}"/>
                </a:ext>
              </a:extLst>
            </p:cNvPr>
            <p:cNvSpPr/>
            <p:nvPr/>
          </p:nvSpPr>
          <p:spPr>
            <a:xfrm>
              <a:off x="1851922" y="1833384"/>
              <a:ext cx="274320" cy="2743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1"/>
            <a:lstStyle/>
            <a:p>
              <a:pPr algn="ctr">
                <a:lnSpc>
                  <a:spcPts val="1600"/>
                </a:lnSpc>
              </a:pPr>
              <a:r>
                <a:rPr lang="en-US" altLang="zh-TW" sz="1200" b="1" dirty="0">
                  <a:solidFill>
                    <a:schemeClr val="tx1"/>
                  </a:solidFill>
                  <a:ea typeface="微軟正黑體" panose="020B0604030504040204" pitchFamily="34" charset="-120"/>
                </a:rPr>
                <a:t>Ui</a:t>
              </a:r>
              <a:endParaRPr lang="en-US" altLang="zh-TW" sz="1200" b="1" baseline="-25000" dirty="0">
                <a:solidFill>
                  <a:schemeClr val="tx1"/>
                </a:solidFill>
                <a:ea typeface="微軟正黑體" panose="020B0604030504040204" pitchFamily="34" charset="-120"/>
              </a:endParaRPr>
            </a:p>
          </p:txBody>
        </p:sp>
        <p:sp>
          <p:nvSpPr>
            <p:cNvPr id="123" name="文字方塊 122">
              <a:extLst>
                <a:ext uri="{FF2B5EF4-FFF2-40B4-BE49-F238E27FC236}">
                  <a16:creationId xmlns:a16="http://schemas.microsoft.com/office/drawing/2014/main" id="{FD5C7378-6C79-4A8F-0E56-D846EE1A26AA}"/>
                </a:ext>
              </a:extLst>
            </p:cNvPr>
            <p:cNvSpPr txBox="1"/>
            <p:nvPr/>
          </p:nvSpPr>
          <p:spPr>
            <a:xfrm>
              <a:off x="1842397" y="1748433"/>
              <a:ext cx="293061" cy="158592"/>
            </a:xfrm>
            <a:prstGeom prst="rect">
              <a:avLst/>
            </a:prstGeom>
            <a:solidFill>
              <a:schemeClr val="bg1">
                <a:alpha val="40000"/>
              </a:schemeClr>
            </a:solidFill>
          </p:spPr>
          <p:txBody>
            <a:bodyPr wrap="none" lIns="0" tIns="0" rIns="0" bIns="0" rtlCol="0" anchor="ctr" anchorCtr="1">
              <a:noAutofit/>
            </a:bodyPr>
            <a:lstStyle/>
            <a:p>
              <a:pPr algn="ctr"/>
              <a:r>
                <a:rPr lang="en-US" altLang="zh-TW" sz="1200" b="1" dirty="0"/>
                <a:t>2*2</a:t>
              </a:r>
              <a:endParaRPr lang="zh-TW" altLang="en-US" sz="1200" b="1" dirty="0"/>
            </a:p>
          </p:txBody>
        </p:sp>
      </p:grpSp>
      <p:grpSp>
        <p:nvGrpSpPr>
          <p:cNvPr id="124" name="群組 123">
            <a:extLst>
              <a:ext uri="{FF2B5EF4-FFF2-40B4-BE49-F238E27FC236}">
                <a16:creationId xmlns:a16="http://schemas.microsoft.com/office/drawing/2014/main" id="{3FBF4843-C86F-70FA-F432-BE147C6D17F4}"/>
              </a:ext>
            </a:extLst>
          </p:cNvPr>
          <p:cNvGrpSpPr/>
          <p:nvPr/>
        </p:nvGrpSpPr>
        <p:grpSpPr>
          <a:xfrm>
            <a:off x="4352917" y="1532294"/>
            <a:ext cx="293061" cy="359271"/>
            <a:chOff x="1842397" y="1748433"/>
            <a:chExt cx="293061" cy="359271"/>
          </a:xfrm>
        </p:grpSpPr>
        <p:sp>
          <p:nvSpPr>
            <p:cNvPr id="125" name="矩形 124">
              <a:extLst>
                <a:ext uri="{FF2B5EF4-FFF2-40B4-BE49-F238E27FC236}">
                  <a16:creationId xmlns:a16="http://schemas.microsoft.com/office/drawing/2014/main" id="{2A747336-2D6A-5061-F7C7-1AE22D1CDD65}"/>
                </a:ext>
              </a:extLst>
            </p:cNvPr>
            <p:cNvSpPr/>
            <p:nvPr/>
          </p:nvSpPr>
          <p:spPr>
            <a:xfrm>
              <a:off x="1851922" y="1833384"/>
              <a:ext cx="274320" cy="2743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1"/>
            <a:lstStyle/>
            <a:p>
              <a:pPr algn="ctr">
                <a:lnSpc>
                  <a:spcPts val="1600"/>
                </a:lnSpc>
              </a:pPr>
              <a:r>
                <a:rPr lang="en-US" altLang="zh-TW" sz="1200" b="1" dirty="0">
                  <a:solidFill>
                    <a:schemeClr val="tx1"/>
                  </a:solidFill>
                  <a:ea typeface="微軟正黑體" panose="020B0604030504040204" pitchFamily="34" charset="-120"/>
                </a:rPr>
                <a:t>Uf</a:t>
              </a:r>
              <a:endParaRPr lang="en-US" altLang="zh-TW" sz="1200" b="1" baseline="-25000" dirty="0">
                <a:solidFill>
                  <a:schemeClr val="tx1"/>
                </a:solidFill>
                <a:ea typeface="微軟正黑體" panose="020B0604030504040204" pitchFamily="34" charset="-120"/>
              </a:endParaRPr>
            </a:p>
          </p:txBody>
        </p:sp>
        <p:sp>
          <p:nvSpPr>
            <p:cNvPr id="126" name="文字方塊 125">
              <a:extLst>
                <a:ext uri="{FF2B5EF4-FFF2-40B4-BE49-F238E27FC236}">
                  <a16:creationId xmlns:a16="http://schemas.microsoft.com/office/drawing/2014/main" id="{4068EE75-2630-5FC3-DCBF-132A43793278}"/>
                </a:ext>
              </a:extLst>
            </p:cNvPr>
            <p:cNvSpPr txBox="1"/>
            <p:nvPr/>
          </p:nvSpPr>
          <p:spPr>
            <a:xfrm>
              <a:off x="1842397" y="1748433"/>
              <a:ext cx="293061" cy="158592"/>
            </a:xfrm>
            <a:prstGeom prst="rect">
              <a:avLst/>
            </a:prstGeom>
            <a:solidFill>
              <a:schemeClr val="bg1">
                <a:alpha val="40000"/>
              </a:schemeClr>
            </a:solidFill>
          </p:spPr>
          <p:txBody>
            <a:bodyPr wrap="none" lIns="0" tIns="0" rIns="0" bIns="0" rtlCol="0" anchor="ctr" anchorCtr="1">
              <a:noAutofit/>
            </a:bodyPr>
            <a:lstStyle/>
            <a:p>
              <a:pPr algn="ctr"/>
              <a:r>
                <a:rPr lang="en-US" altLang="zh-TW" sz="1200" b="1" dirty="0"/>
                <a:t>2*2</a:t>
              </a:r>
              <a:endParaRPr lang="zh-TW" altLang="en-US" sz="1200" b="1" dirty="0"/>
            </a:p>
          </p:txBody>
        </p:sp>
      </p:grpSp>
      <p:grpSp>
        <p:nvGrpSpPr>
          <p:cNvPr id="129" name="群組 128">
            <a:extLst>
              <a:ext uri="{FF2B5EF4-FFF2-40B4-BE49-F238E27FC236}">
                <a16:creationId xmlns:a16="http://schemas.microsoft.com/office/drawing/2014/main" id="{BA74B1DE-402B-C21C-59FB-9DDBD6632F7D}"/>
              </a:ext>
            </a:extLst>
          </p:cNvPr>
          <p:cNvGrpSpPr/>
          <p:nvPr/>
        </p:nvGrpSpPr>
        <p:grpSpPr>
          <a:xfrm>
            <a:off x="6676405" y="1357582"/>
            <a:ext cx="1781129" cy="353943"/>
            <a:chOff x="5916347" y="715731"/>
            <a:chExt cx="1781129" cy="3539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文字方塊 129">
                  <a:extLst>
                    <a:ext uri="{FF2B5EF4-FFF2-40B4-BE49-F238E27FC236}">
                      <a16:creationId xmlns:a16="http://schemas.microsoft.com/office/drawing/2014/main" id="{081C200E-0457-D456-393A-7C29E9A726BD}"/>
                    </a:ext>
                  </a:extLst>
                </p:cNvPr>
                <p:cNvSpPr txBox="1"/>
                <p:nvPr/>
              </p:nvSpPr>
              <p:spPr>
                <a:xfrm>
                  <a:off x="5916347" y="885008"/>
                  <a:ext cx="1781129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en-US" altLang="zh-TW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sz="1200" b="0" i="1" smtClean="0"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200" b="0" i="1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  <m:r>
                          <a:rPr lang="en-US" altLang="zh-TW" sz="1200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TW" altLang="en-US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1200" i="1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1200" i="1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W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f</m:t>
                                </m:r>
                              </m:sub>
                            </m:sSub>
                            <m:r>
                              <a:rPr lang="en-US" altLang="zh-TW" sz="1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1200" i="1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TW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1200" i="1">
                                    <a:latin typeface="Cambria Math" panose="02040503050406030204" pitchFamily="18" charset="0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1200" i="1">
                                    <a:latin typeface="Cambria Math" panose="02040503050406030204" pitchFamily="18" charset="0"/>
                                  </a:rPr>
                                  <m:t>f</m:t>
                                </m:r>
                              </m:sub>
                            </m:sSub>
                            <m:r>
                              <a:rPr lang="en-US" altLang="zh-TW" sz="1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f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130" name="文字方塊 129">
                  <a:extLst>
                    <a:ext uri="{FF2B5EF4-FFF2-40B4-BE49-F238E27FC236}">
                      <a16:creationId xmlns:a16="http://schemas.microsoft.com/office/drawing/2014/main" id="{081C200E-0457-D456-393A-7C29E9A726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16347" y="885008"/>
                  <a:ext cx="1781129" cy="184666"/>
                </a:xfrm>
                <a:prstGeom prst="rect">
                  <a:avLst/>
                </a:prstGeom>
                <a:blipFill>
                  <a:blip r:embed="rId4"/>
                  <a:stretch>
                    <a:fillRect l="-3072" b="-166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1" name="矩形 130">
              <a:extLst>
                <a:ext uri="{FF2B5EF4-FFF2-40B4-BE49-F238E27FC236}">
                  <a16:creationId xmlns:a16="http://schemas.microsoft.com/office/drawing/2014/main" id="{1647F371-F9D9-76C2-A372-54CA5A275BA8}"/>
                </a:ext>
              </a:extLst>
            </p:cNvPr>
            <p:cNvSpPr/>
            <p:nvPr/>
          </p:nvSpPr>
          <p:spPr>
            <a:xfrm>
              <a:off x="5916347" y="715731"/>
              <a:ext cx="1339534" cy="184667"/>
            </a:xfrm>
            <a:prstGeom prst="rect">
              <a:avLst/>
            </a:prstGeom>
            <a:noFill/>
            <a:ln w="19050">
              <a:noFill/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t" anchorCtr="0">
              <a:noAutofit/>
            </a:bodyPr>
            <a:lstStyle/>
            <a:p>
              <a:pPr>
                <a:lnSpc>
                  <a:spcPts val="1600"/>
                </a:lnSpc>
              </a:pPr>
              <a:r>
                <a:rPr lang="en-US" altLang="zh-TW" sz="1200" b="1" dirty="0">
                  <a:solidFill>
                    <a:schemeClr val="tx2"/>
                  </a:solidFill>
                  <a:ea typeface="微軟正黑體" panose="020B0604030504040204" pitchFamily="34" charset="-120"/>
                </a:rPr>
                <a:t>Forget Gate</a:t>
              </a:r>
            </a:p>
          </p:txBody>
        </p:sp>
      </p:grpSp>
      <p:grpSp>
        <p:nvGrpSpPr>
          <p:cNvPr id="132" name="群組 131">
            <a:extLst>
              <a:ext uri="{FF2B5EF4-FFF2-40B4-BE49-F238E27FC236}">
                <a16:creationId xmlns:a16="http://schemas.microsoft.com/office/drawing/2014/main" id="{D01FA724-CCFD-02C9-C07E-0CD8E3868CD1}"/>
              </a:ext>
            </a:extLst>
          </p:cNvPr>
          <p:cNvGrpSpPr/>
          <p:nvPr/>
        </p:nvGrpSpPr>
        <p:grpSpPr>
          <a:xfrm>
            <a:off x="6676405" y="1798638"/>
            <a:ext cx="1812932" cy="351032"/>
            <a:chOff x="5916347" y="715731"/>
            <a:chExt cx="1812932" cy="3510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文字方塊 132">
                  <a:extLst>
                    <a:ext uri="{FF2B5EF4-FFF2-40B4-BE49-F238E27FC236}">
                      <a16:creationId xmlns:a16="http://schemas.microsoft.com/office/drawing/2014/main" id="{34D6A436-208E-C912-CF58-37B0EAD473A7}"/>
                    </a:ext>
                  </a:extLst>
                </p:cNvPr>
                <p:cNvSpPr txBox="1"/>
                <p:nvPr/>
              </p:nvSpPr>
              <p:spPr>
                <a:xfrm>
                  <a:off x="5916347" y="882097"/>
                  <a:ext cx="1812932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en-US" altLang="zh-TW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  <m:r>
                          <a:rPr lang="en-US" altLang="zh-TW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zh-TW" altLang="en-US" sz="12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altLang="zh-TW" sz="12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zh-TW" sz="120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t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en-US" altLang="zh-TW" sz="12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W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12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i</m:t>
                                </m:r>
                              </m:sub>
                            </m:sSub>
                            <m:r>
                              <a:rPr lang="en-US" altLang="zh-TW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TW" sz="12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12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1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</m:t>
                                </m:r>
                                <m:r>
                                  <a:rPr lang="en-US" altLang="zh-TW" sz="12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TW" sz="1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1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1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i</m:t>
                                </m:r>
                              </m:sub>
                            </m:sSub>
                            <m:r>
                              <a:rPr lang="en-US" altLang="zh-TW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TW" sz="12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12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12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i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TW" altLang="en-US" sz="1200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33" name="文字方塊 132">
                  <a:extLst>
                    <a:ext uri="{FF2B5EF4-FFF2-40B4-BE49-F238E27FC236}">
                      <a16:creationId xmlns:a16="http://schemas.microsoft.com/office/drawing/2014/main" id="{34D6A436-208E-C912-CF58-37B0EAD473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16347" y="882097"/>
                  <a:ext cx="1812932" cy="184666"/>
                </a:xfrm>
                <a:prstGeom prst="rect">
                  <a:avLst/>
                </a:prstGeom>
                <a:blipFill>
                  <a:blip r:embed="rId5"/>
                  <a:stretch>
                    <a:fillRect l="-3030" b="-20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4" name="矩形 133">
              <a:extLst>
                <a:ext uri="{FF2B5EF4-FFF2-40B4-BE49-F238E27FC236}">
                  <a16:creationId xmlns:a16="http://schemas.microsoft.com/office/drawing/2014/main" id="{C29F377C-255B-42EA-21AE-3D40C72A5946}"/>
                </a:ext>
              </a:extLst>
            </p:cNvPr>
            <p:cNvSpPr/>
            <p:nvPr/>
          </p:nvSpPr>
          <p:spPr>
            <a:xfrm>
              <a:off x="5916347" y="715731"/>
              <a:ext cx="1339534" cy="184667"/>
            </a:xfrm>
            <a:prstGeom prst="rect">
              <a:avLst/>
            </a:prstGeom>
            <a:noFill/>
            <a:ln w="19050">
              <a:noFill/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t" anchorCtr="0">
              <a:noAutofit/>
            </a:bodyPr>
            <a:lstStyle/>
            <a:p>
              <a:pPr>
                <a:lnSpc>
                  <a:spcPts val="1600"/>
                </a:lnSpc>
              </a:pPr>
              <a:r>
                <a:rPr lang="en-US" altLang="zh-TW" sz="1200" b="1" dirty="0">
                  <a:solidFill>
                    <a:schemeClr val="tx2"/>
                  </a:solidFill>
                  <a:ea typeface="微軟正黑體" panose="020B0604030504040204" pitchFamily="34" charset="-120"/>
                </a:rPr>
                <a:t>Input Gate</a:t>
              </a:r>
            </a:p>
          </p:txBody>
        </p:sp>
      </p:grpSp>
      <p:grpSp>
        <p:nvGrpSpPr>
          <p:cNvPr id="135" name="群組 134">
            <a:extLst>
              <a:ext uri="{FF2B5EF4-FFF2-40B4-BE49-F238E27FC236}">
                <a16:creationId xmlns:a16="http://schemas.microsoft.com/office/drawing/2014/main" id="{7D3465E4-A596-FF91-0B57-A432C2FBE898}"/>
              </a:ext>
            </a:extLst>
          </p:cNvPr>
          <p:cNvGrpSpPr/>
          <p:nvPr/>
        </p:nvGrpSpPr>
        <p:grpSpPr>
          <a:xfrm>
            <a:off x="6676408" y="2204864"/>
            <a:ext cx="2110488" cy="347483"/>
            <a:chOff x="5916347" y="715731"/>
            <a:chExt cx="2128054" cy="3474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文字方塊 135">
                  <a:extLst>
                    <a:ext uri="{FF2B5EF4-FFF2-40B4-BE49-F238E27FC236}">
                      <a16:creationId xmlns:a16="http://schemas.microsoft.com/office/drawing/2014/main" id="{0865CDF7-1BB9-4444-2BD6-16F8F58FBFCA}"/>
                    </a:ext>
                  </a:extLst>
                </p:cNvPr>
                <p:cNvSpPr txBox="1"/>
                <p:nvPr/>
              </p:nvSpPr>
              <p:spPr>
                <a:xfrm>
                  <a:off x="5919102" y="878548"/>
                  <a:ext cx="2125299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en-US" altLang="zh-TW" sz="1200" i="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altLang="zh-TW" sz="1200" i="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€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  <m:r>
                          <a:rPr lang="en-US" altLang="zh-TW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altLang="zh-TW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tanh</m:t>
                        </m:r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1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1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TW" sz="12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12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W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12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c</m:t>
                                </m:r>
                              </m:sub>
                            </m:sSub>
                            <m:r>
                              <a:rPr lang="en-US" altLang="zh-TW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TW" sz="12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12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1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</m:t>
                                </m:r>
                                <m:r>
                                  <a:rPr lang="en-US" altLang="zh-TW" sz="12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TW" sz="1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1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1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c</m:t>
                                </m:r>
                              </m:sub>
                            </m:sSub>
                            <m:r>
                              <a:rPr lang="en-US" altLang="zh-TW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TW" sz="12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12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12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c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TW" altLang="en-US" sz="1200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36" name="文字方塊 135">
                  <a:extLst>
                    <a:ext uri="{FF2B5EF4-FFF2-40B4-BE49-F238E27FC236}">
                      <a16:creationId xmlns:a16="http://schemas.microsoft.com/office/drawing/2014/main" id="{0865CDF7-1BB9-4444-2BD6-16F8F58FBF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19102" y="878548"/>
                  <a:ext cx="2125299" cy="184666"/>
                </a:xfrm>
                <a:prstGeom prst="rect">
                  <a:avLst/>
                </a:prstGeom>
                <a:blipFill>
                  <a:blip r:embed="rId6"/>
                  <a:stretch>
                    <a:fillRect l="-2601" b="-166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7" name="矩形 136">
              <a:extLst>
                <a:ext uri="{FF2B5EF4-FFF2-40B4-BE49-F238E27FC236}">
                  <a16:creationId xmlns:a16="http://schemas.microsoft.com/office/drawing/2014/main" id="{CB0813B4-C840-F49E-E189-BC1EF6A6853D}"/>
                </a:ext>
              </a:extLst>
            </p:cNvPr>
            <p:cNvSpPr/>
            <p:nvPr/>
          </p:nvSpPr>
          <p:spPr>
            <a:xfrm>
              <a:off x="5916347" y="715731"/>
              <a:ext cx="1339534" cy="184667"/>
            </a:xfrm>
            <a:prstGeom prst="rect">
              <a:avLst/>
            </a:prstGeom>
            <a:noFill/>
            <a:ln w="19050">
              <a:noFill/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t" anchorCtr="0">
              <a:noAutofit/>
            </a:bodyPr>
            <a:lstStyle/>
            <a:p>
              <a:pPr>
                <a:lnSpc>
                  <a:spcPts val="1600"/>
                </a:lnSpc>
              </a:pPr>
              <a:r>
                <a:rPr lang="en-US" altLang="zh-TW" sz="1200" b="1" dirty="0">
                  <a:solidFill>
                    <a:schemeClr val="tx2"/>
                  </a:solidFill>
                  <a:ea typeface="ADLaM Display" panose="02010000000000000000" pitchFamily="2" charset="0"/>
                  <a:cs typeface="ADLaM Display" panose="02010000000000000000" pitchFamily="2" charset="0"/>
                </a:rPr>
                <a:t>C</a:t>
              </a:r>
              <a:r>
                <a:rPr lang="en-US" altLang="zh-TW" sz="1200" b="1" dirty="0">
                  <a:solidFill>
                    <a:schemeClr val="tx2"/>
                  </a:solidFill>
                  <a:ea typeface="微軟正黑體" panose="020B0604030504040204" pitchFamily="34" charset="-120"/>
                </a:rPr>
                <a:t>andidate Cell Status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文字方塊 138">
                <a:extLst>
                  <a:ext uri="{FF2B5EF4-FFF2-40B4-BE49-F238E27FC236}">
                    <a16:creationId xmlns:a16="http://schemas.microsoft.com/office/drawing/2014/main" id="{3EDD72A1-0F9C-CA1E-9B68-D253ABE31A1E}"/>
                  </a:ext>
                </a:extLst>
              </p:cNvPr>
              <p:cNvSpPr txBox="1"/>
              <p:nvPr/>
            </p:nvSpPr>
            <p:spPr>
              <a:xfrm>
                <a:off x="7085489" y="2819299"/>
                <a:ext cx="156825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zh-TW" alt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altLang="zh-TW" sz="1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zh-TW" altLang="en-US" sz="1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sz="1200" b="0" i="1" smtClean="0">
                          <a:latin typeface="Cambria Math" panose="02040503050406030204" pitchFamily="18" charset="0"/>
                        </a:rPr>
                        <m:t>⨀</m:t>
                      </m:r>
                      <m:sSub>
                        <m:sSubPr>
                          <m:ctrlPr>
                            <a:rPr lang="zh-TW" alt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zh-TW" altLang="en-US" sz="1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zh-TW" altLang="en-US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⨀</m:t>
                      </m:r>
                      <m:sSub>
                        <m:sSubPr>
                          <m:ctrlPr>
                            <a:rPr lang="zh-TW" alt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12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€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  <a:endParaRPr lang="zh-TW" altLang="en-US" sz="1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9" name="文字方塊 138">
                <a:extLst>
                  <a:ext uri="{FF2B5EF4-FFF2-40B4-BE49-F238E27FC236}">
                    <a16:creationId xmlns:a16="http://schemas.microsoft.com/office/drawing/2014/main" id="{3EDD72A1-0F9C-CA1E-9B68-D253ABE31A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5489" y="2819299"/>
                <a:ext cx="1568250" cy="184666"/>
              </a:xfrm>
              <a:prstGeom prst="rect">
                <a:avLst/>
              </a:prstGeom>
              <a:blipFill>
                <a:blip r:embed="rId7"/>
                <a:stretch>
                  <a:fillRect l="-1163" b="-161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0" name="矩形 139">
            <a:extLst>
              <a:ext uri="{FF2B5EF4-FFF2-40B4-BE49-F238E27FC236}">
                <a16:creationId xmlns:a16="http://schemas.microsoft.com/office/drawing/2014/main" id="{E8BD2197-07E4-05BC-BCEB-50C25DBCC67B}"/>
              </a:ext>
            </a:extLst>
          </p:cNvPr>
          <p:cNvSpPr/>
          <p:nvPr/>
        </p:nvSpPr>
        <p:spPr>
          <a:xfrm>
            <a:off x="7125001" y="2658074"/>
            <a:ext cx="1570657" cy="193030"/>
          </a:xfrm>
          <a:prstGeom prst="rect">
            <a:avLst/>
          </a:prstGeom>
          <a:noFill/>
          <a:ln w="190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>
            <a:noAutofit/>
          </a:bodyPr>
          <a:lstStyle/>
          <a:p>
            <a:pPr>
              <a:lnSpc>
                <a:spcPts val="1600"/>
              </a:lnSpc>
            </a:pPr>
            <a:r>
              <a:rPr lang="en-US" altLang="zh-TW" sz="1200" b="1" dirty="0">
                <a:solidFill>
                  <a:schemeClr val="accent4"/>
                </a:solidFill>
                <a:ea typeface="微軟正黑體" panose="020B0604030504040204" pitchFamily="34" charset="-120"/>
              </a:rPr>
              <a:t>Cell Status Update</a:t>
            </a:r>
            <a:endParaRPr lang="en-US" altLang="zh-TW" sz="1200" b="1" baseline="-25000" dirty="0">
              <a:solidFill>
                <a:schemeClr val="tx1"/>
              </a:solidFill>
              <a:ea typeface="微軟正黑體" panose="020B0604030504040204" pitchFamily="34" charset="-120"/>
            </a:endParaRPr>
          </a:p>
        </p:txBody>
      </p:sp>
      <p:grpSp>
        <p:nvGrpSpPr>
          <p:cNvPr id="141" name="群組 140">
            <a:extLst>
              <a:ext uri="{FF2B5EF4-FFF2-40B4-BE49-F238E27FC236}">
                <a16:creationId xmlns:a16="http://schemas.microsoft.com/office/drawing/2014/main" id="{A59394E8-4A79-5722-59E7-DBBFF937991A}"/>
              </a:ext>
            </a:extLst>
          </p:cNvPr>
          <p:cNvGrpSpPr/>
          <p:nvPr/>
        </p:nvGrpSpPr>
        <p:grpSpPr>
          <a:xfrm>
            <a:off x="6676405" y="3501008"/>
            <a:ext cx="1939826" cy="351431"/>
            <a:chOff x="5916347" y="715731"/>
            <a:chExt cx="1939826" cy="3514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文字方塊 141">
                  <a:extLst>
                    <a:ext uri="{FF2B5EF4-FFF2-40B4-BE49-F238E27FC236}">
                      <a16:creationId xmlns:a16="http://schemas.microsoft.com/office/drawing/2014/main" id="{74E2E5E0-A631-C948-94A5-B04F4C650126}"/>
                    </a:ext>
                  </a:extLst>
                </p:cNvPr>
                <p:cNvSpPr txBox="1"/>
                <p:nvPr/>
              </p:nvSpPr>
              <p:spPr>
                <a:xfrm>
                  <a:off x="5916347" y="882496"/>
                  <a:ext cx="1939826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en-US" altLang="zh-TW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sz="1200" b="0" i="1" smtClean="0">
                                <a:latin typeface="Cambria Math" panose="02040503050406030204" pitchFamily="18" charset="0"/>
                              </a:rPr>
                              <m:t>O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200" b="0" i="1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  <m:r>
                          <a:rPr lang="en-US" altLang="zh-TW" sz="1200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TW" altLang="en-US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altLang="zh-TW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TW" altLang="en-US" sz="12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TW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W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o</m:t>
                                </m:r>
                              </m:sub>
                            </m:sSub>
                            <m:r>
                              <a:rPr lang="en-US" altLang="zh-TW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TW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TW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o</m:t>
                                </m:r>
                              </m:sub>
                            </m:sSub>
                            <m:r>
                              <a:rPr lang="en-US" altLang="zh-TW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TW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o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TW" altLang="en-US" sz="1200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42" name="文字方塊 141">
                  <a:extLst>
                    <a:ext uri="{FF2B5EF4-FFF2-40B4-BE49-F238E27FC236}">
                      <a16:creationId xmlns:a16="http://schemas.microsoft.com/office/drawing/2014/main" id="{74E2E5E0-A631-C948-94A5-B04F4C6501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16347" y="882496"/>
                  <a:ext cx="1939826" cy="184666"/>
                </a:xfrm>
                <a:prstGeom prst="rect">
                  <a:avLst/>
                </a:prstGeom>
                <a:blipFill>
                  <a:blip r:embed="rId8"/>
                  <a:stretch>
                    <a:fillRect l="-2830" b="-1290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3" name="矩形 142">
              <a:extLst>
                <a:ext uri="{FF2B5EF4-FFF2-40B4-BE49-F238E27FC236}">
                  <a16:creationId xmlns:a16="http://schemas.microsoft.com/office/drawing/2014/main" id="{1CCB144B-5D59-5941-2D86-E03B082D9ADF}"/>
                </a:ext>
              </a:extLst>
            </p:cNvPr>
            <p:cNvSpPr/>
            <p:nvPr/>
          </p:nvSpPr>
          <p:spPr>
            <a:xfrm>
              <a:off x="5916347" y="715731"/>
              <a:ext cx="1339534" cy="184667"/>
            </a:xfrm>
            <a:prstGeom prst="rect">
              <a:avLst/>
            </a:prstGeom>
            <a:noFill/>
            <a:ln w="19050">
              <a:noFill/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t" anchorCtr="0">
              <a:noAutofit/>
            </a:bodyPr>
            <a:lstStyle/>
            <a:p>
              <a:pPr>
                <a:lnSpc>
                  <a:spcPts val="1600"/>
                </a:lnSpc>
              </a:pPr>
              <a:r>
                <a:rPr lang="en-US" altLang="zh-TW" sz="1200" b="1" dirty="0">
                  <a:solidFill>
                    <a:schemeClr val="tx2"/>
                  </a:solidFill>
                  <a:ea typeface="微軟正黑體" panose="020B0604030504040204" pitchFamily="34" charset="-120"/>
                </a:rPr>
                <a:t>Output Gate</a:t>
              </a:r>
            </a:p>
          </p:txBody>
        </p:sp>
      </p:grpSp>
      <p:grpSp>
        <p:nvGrpSpPr>
          <p:cNvPr id="144" name="群組 143">
            <a:extLst>
              <a:ext uri="{FF2B5EF4-FFF2-40B4-BE49-F238E27FC236}">
                <a16:creationId xmlns:a16="http://schemas.microsoft.com/office/drawing/2014/main" id="{10CA4E9B-D9CF-38E1-ABC5-1CE0FE3C91A0}"/>
              </a:ext>
            </a:extLst>
          </p:cNvPr>
          <p:cNvGrpSpPr/>
          <p:nvPr/>
        </p:nvGrpSpPr>
        <p:grpSpPr>
          <a:xfrm>
            <a:off x="7134526" y="3889930"/>
            <a:ext cx="1339534" cy="345969"/>
            <a:chOff x="5916347" y="715731"/>
            <a:chExt cx="1339534" cy="31246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文字方塊 144">
                  <a:extLst>
                    <a:ext uri="{FF2B5EF4-FFF2-40B4-BE49-F238E27FC236}">
                      <a16:creationId xmlns:a16="http://schemas.microsoft.com/office/drawing/2014/main" id="{AE7CEAFA-69DC-C69D-9857-69FCA7123327}"/>
                    </a:ext>
                  </a:extLst>
                </p:cNvPr>
                <p:cNvSpPr txBox="1"/>
                <p:nvPr/>
              </p:nvSpPr>
              <p:spPr>
                <a:xfrm>
                  <a:off x="5932260" y="861411"/>
                  <a:ext cx="1224053" cy="16678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en-US" altLang="zh-TW" sz="1200" b="0" i="0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sz="1200" b="0" i="0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h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2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  <m:r>
                          <a:rPr lang="en-US" altLang="zh-TW" sz="1200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TW" sz="1200" b="0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sz="1200" b="0" i="0" smtClean="0">
                                <a:latin typeface="Cambria Math" panose="02040503050406030204" pitchFamily="18" charset="0"/>
                              </a:rPr>
                              <m:t>O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200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  <m:r>
                          <a:rPr lang="en-US" altLang="zh-TW" sz="120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⨀</m:t>
                        </m:r>
                        <m:r>
                          <m:rPr>
                            <m:sty m:val="p"/>
                          </m:rPr>
                          <a:rPr lang="en-US" altLang="zh-TW" sz="1200" b="0" i="0" smtClean="0">
                            <a:latin typeface="Cambria Math" panose="02040503050406030204" pitchFamily="18" charset="0"/>
                          </a:rPr>
                          <m:t>tanh</m:t>
                        </m:r>
                        <m:r>
                          <a:rPr lang="en-US" altLang="zh-TW" sz="12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1200" b="0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sz="1200" b="0" i="0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200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  <m:r>
                          <a:rPr lang="en-US" altLang="zh-TW" sz="1200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145" name="文字方塊 144">
                  <a:extLst>
                    <a:ext uri="{FF2B5EF4-FFF2-40B4-BE49-F238E27FC236}">
                      <a16:creationId xmlns:a16="http://schemas.microsoft.com/office/drawing/2014/main" id="{AE7CEAFA-69DC-C69D-9857-69FCA71233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32260" y="861411"/>
                  <a:ext cx="1224053" cy="166781"/>
                </a:xfrm>
                <a:prstGeom prst="rect">
                  <a:avLst/>
                </a:prstGeom>
                <a:blipFill>
                  <a:blip r:embed="rId9"/>
                  <a:stretch>
                    <a:fillRect l="-4478" t="-3333" r="-1990" b="-40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6" name="矩形 145">
              <a:extLst>
                <a:ext uri="{FF2B5EF4-FFF2-40B4-BE49-F238E27FC236}">
                  <a16:creationId xmlns:a16="http://schemas.microsoft.com/office/drawing/2014/main" id="{04420F9B-238D-DFD9-0976-3A25AF8D23F2}"/>
                </a:ext>
              </a:extLst>
            </p:cNvPr>
            <p:cNvSpPr/>
            <p:nvPr/>
          </p:nvSpPr>
          <p:spPr>
            <a:xfrm>
              <a:off x="5916347" y="715731"/>
              <a:ext cx="1339534" cy="184667"/>
            </a:xfrm>
            <a:prstGeom prst="rect">
              <a:avLst/>
            </a:prstGeom>
            <a:noFill/>
            <a:ln w="19050">
              <a:noFill/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t" anchorCtr="0">
              <a:noAutofit/>
            </a:bodyPr>
            <a:lstStyle/>
            <a:p>
              <a:pPr>
                <a:lnSpc>
                  <a:spcPts val="1600"/>
                </a:lnSpc>
              </a:pPr>
              <a:r>
                <a:rPr lang="en-US" altLang="zh-TW" sz="1200" b="1" dirty="0">
                  <a:solidFill>
                    <a:schemeClr val="accent4"/>
                  </a:solidFill>
                  <a:ea typeface="微軟正黑體" panose="020B0604030504040204" pitchFamily="34" charset="-120"/>
                </a:rPr>
                <a:t>Hidden State</a:t>
              </a:r>
            </a:p>
          </p:txBody>
        </p:sp>
      </p:grpSp>
      <p:cxnSp>
        <p:nvCxnSpPr>
          <p:cNvPr id="148" name="接點: 肘形 147">
            <a:extLst>
              <a:ext uri="{FF2B5EF4-FFF2-40B4-BE49-F238E27FC236}">
                <a16:creationId xmlns:a16="http://schemas.microsoft.com/office/drawing/2014/main" id="{AB1C0EC9-D2B2-966C-EA0D-E5ACDED4C38C}"/>
              </a:ext>
            </a:extLst>
          </p:cNvPr>
          <p:cNvCxnSpPr>
            <a:cxnSpLocks/>
            <a:stCxn id="108" idx="1"/>
            <a:endCxn id="122" idx="3"/>
          </p:cNvCxnSpPr>
          <p:nvPr/>
        </p:nvCxnSpPr>
        <p:spPr>
          <a:xfrm rot="10800000">
            <a:off x="4636762" y="2259676"/>
            <a:ext cx="441264" cy="930320"/>
          </a:xfrm>
          <a:prstGeom prst="bentConnector3">
            <a:avLst>
              <a:gd name="adj1" fmla="val 50000"/>
            </a:avLst>
          </a:prstGeom>
          <a:ln w="15875">
            <a:solidFill>
              <a:schemeClr val="tx2"/>
            </a:solidFill>
            <a:prstDash val="sysDot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接點: 肘形 150">
            <a:extLst>
              <a:ext uri="{FF2B5EF4-FFF2-40B4-BE49-F238E27FC236}">
                <a16:creationId xmlns:a16="http://schemas.microsoft.com/office/drawing/2014/main" id="{901C4FDA-8E8E-9831-2797-7D3A682A1672}"/>
              </a:ext>
            </a:extLst>
          </p:cNvPr>
          <p:cNvCxnSpPr>
            <a:cxnSpLocks/>
            <a:stCxn id="108" idx="1"/>
            <a:endCxn id="125" idx="3"/>
          </p:cNvCxnSpPr>
          <p:nvPr/>
        </p:nvCxnSpPr>
        <p:spPr>
          <a:xfrm rot="10800000">
            <a:off x="4636762" y="1754406"/>
            <a:ext cx="441264" cy="1435591"/>
          </a:xfrm>
          <a:prstGeom prst="bentConnector3">
            <a:avLst>
              <a:gd name="adj1" fmla="val 50000"/>
            </a:avLst>
          </a:prstGeom>
          <a:ln w="15875">
            <a:solidFill>
              <a:schemeClr val="tx2"/>
            </a:solidFill>
            <a:prstDash val="sysDot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接點: 肘形 153">
            <a:extLst>
              <a:ext uri="{FF2B5EF4-FFF2-40B4-BE49-F238E27FC236}">
                <a16:creationId xmlns:a16="http://schemas.microsoft.com/office/drawing/2014/main" id="{6409D390-2ADB-E4B8-FC6D-C29DB4EFBF04}"/>
              </a:ext>
            </a:extLst>
          </p:cNvPr>
          <p:cNvCxnSpPr>
            <a:cxnSpLocks/>
            <a:stCxn id="108" idx="1"/>
            <a:endCxn id="119" idx="3"/>
          </p:cNvCxnSpPr>
          <p:nvPr/>
        </p:nvCxnSpPr>
        <p:spPr>
          <a:xfrm rot="10800000" flipV="1">
            <a:off x="4636762" y="3189996"/>
            <a:ext cx="441264" cy="623124"/>
          </a:xfrm>
          <a:prstGeom prst="bentConnector3">
            <a:avLst>
              <a:gd name="adj1" fmla="val 50000"/>
            </a:avLst>
          </a:prstGeom>
          <a:ln w="15875">
            <a:solidFill>
              <a:schemeClr val="tx2"/>
            </a:solidFill>
            <a:prstDash val="sysDot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接點: 肘形 210">
            <a:extLst>
              <a:ext uri="{FF2B5EF4-FFF2-40B4-BE49-F238E27FC236}">
                <a16:creationId xmlns:a16="http://schemas.microsoft.com/office/drawing/2014/main" id="{C0D5BEEF-9914-3A23-58C4-90D6ADE7E3DC}"/>
              </a:ext>
            </a:extLst>
          </p:cNvPr>
          <p:cNvCxnSpPr>
            <a:cxnSpLocks/>
            <a:stCxn id="80" idx="3"/>
            <a:endCxn id="110" idx="1"/>
          </p:cNvCxnSpPr>
          <p:nvPr/>
        </p:nvCxnSpPr>
        <p:spPr>
          <a:xfrm>
            <a:off x="1672259" y="3591226"/>
            <a:ext cx="453439" cy="229328"/>
          </a:xfrm>
          <a:prstGeom prst="bentConnector3">
            <a:avLst>
              <a:gd name="adj1" fmla="val 50000"/>
            </a:avLst>
          </a:prstGeom>
          <a:ln w="15875">
            <a:solidFill>
              <a:schemeClr val="accent2"/>
            </a:solidFill>
            <a:prstDash val="sysDot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直線單箭頭接點 213">
            <a:extLst>
              <a:ext uri="{FF2B5EF4-FFF2-40B4-BE49-F238E27FC236}">
                <a16:creationId xmlns:a16="http://schemas.microsoft.com/office/drawing/2014/main" id="{18BAA581-F47A-B4A1-FE50-4BE1EF815837}"/>
              </a:ext>
            </a:extLst>
          </p:cNvPr>
          <p:cNvCxnSpPr>
            <a:cxnSpLocks/>
            <a:stCxn id="125" idx="1"/>
            <a:endCxn id="177" idx="3"/>
          </p:cNvCxnSpPr>
          <p:nvPr/>
        </p:nvCxnSpPr>
        <p:spPr>
          <a:xfrm flipH="1">
            <a:off x="3197959" y="1754405"/>
            <a:ext cx="1164483" cy="3657"/>
          </a:xfrm>
          <a:prstGeom prst="straightConnector1">
            <a:avLst/>
          </a:prstGeom>
          <a:ln w="15875">
            <a:solidFill>
              <a:schemeClr val="tx2"/>
            </a:solidFill>
            <a:prstDash val="sysDot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接點: 肘形 220">
            <a:extLst>
              <a:ext uri="{FF2B5EF4-FFF2-40B4-BE49-F238E27FC236}">
                <a16:creationId xmlns:a16="http://schemas.microsoft.com/office/drawing/2014/main" id="{C4730DCD-881E-2FAA-7D3E-71F62C32477C}"/>
              </a:ext>
            </a:extLst>
          </p:cNvPr>
          <p:cNvCxnSpPr>
            <a:cxnSpLocks/>
            <a:stCxn id="80" idx="3"/>
            <a:endCxn id="113" idx="1"/>
          </p:cNvCxnSpPr>
          <p:nvPr/>
        </p:nvCxnSpPr>
        <p:spPr>
          <a:xfrm flipV="1">
            <a:off x="1672259" y="2269201"/>
            <a:ext cx="453439" cy="1322025"/>
          </a:xfrm>
          <a:prstGeom prst="bentConnector3">
            <a:avLst>
              <a:gd name="adj1" fmla="val 50000"/>
            </a:avLst>
          </a:prstGeom>
          <a:ln w="15875">
            <a:solidFill>
              <a:schemeClr val="accent2"/>
            </a:solidFill>
            <a:prstDash val="sysDot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線單箭頭接點 229">
            <a:extLst>
              <a:ext uri="{FF2B5EF4-FFF2-40B4-BE49-F238E27FC236}">
                <a16:creationId xmlns:a16="http://schemas.microsoft.com/office/drawing/2014/main" id="{5B0D1E0D-E664-00FC-3E47-024A28EB74D7}"/>
              </a:ext>
            </a:extLst>
          </p:cNvPr>
          <p:cNvCxnSpPr>
            <a:cxnSpLocks/>
            <a:stCxn id="116" idx="3"/>
            <a:endCxn id="177" idx="1"/>
          </p:cNvCxnSpPr>
          <p:nvPr/>
        </p:nvCxnSpPr>
        <p:spPr>
          <a:xfrm flipV="1">
            <a:off x="2409388" y="1758062"/>
            <a:ext cx="253754" cy="1981"/>
          </a:xfrm>
          <a:prstGeom prst="straightConnector1">
            <a:avLst/>
          </a:prstGeom>
          <a:ln w="15875">
            <a:solidFill>
              <a:schemeClr val="accent2"/>
            </a:solidFill>
            <a:prstDash val="sysDot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線單箭頭接點 234">
            <a:extLst>
              <a:ext uri="{FF2B5EF4-FFF2-40B4-BE49-F238E27FC236}">
                <a16:creationId xmlns:a16="http://schemas.microsoft.com/office/drawing/2014/main" id="{A978C1DF-3B51-390F-BD4C-E2F19FBA30F6}"/>
              </a:ext>
            </a:extLst>
          </p:cNvPr>
          <p:cNvCxnSpPr>
            <a:cxnSpLocks/>
            <a:stCxn id="113" idx="3"/>
            <a:endCxn id="27" idx="1"/>
          </p:cNvCxnSpPr>
          <p:nvPr/>
        </p:nvCxnSpPr>
        <p:spPr>
          <a:xfrm flipV="1">
            <a:off x="2400018" y="2263921"/>
            <a:ext cx="595438" cy="5280"/>
          </a:xfrm>
          <a:prstGeom prst="straightConnector1">
            <a:avLst/>
          </a:prstGeom>
          <a:ln w="15875">
            <a:solidFill>
              <a:schemeClr val="accent2"/>
            </a:solidFill>
            <a:prstDash val="sysDot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直線單箭頭接點 241">
            <a:extLst>
              <a:ext uri="{FF2B5EF4-FFF2-40B4-BE49-F238E27FC236}">
                <a16:creationId xmlns:a16="http://schemas.microsoft.com/office/drawing/2014/main" id="{C9127C74-9AF3-ACF4-5E1C-720DCC09C3CE}"/>
              </a:ext>
            </a:extLst>
          </p:cNvPr>
          <p:cNvCxnSpPr>
            <a:cxnSpLocks/>
            <a:stCxn id="110" idx="3"/>
            <a:endCxn id="37" idx="1"/>
          </p:cNvCxnSpPr>
          <p:nvPr/>
        </p:nvCxnSpPr>
        <p:spPr>
          <a:xfrm flipV="1">
            <a:off x="2400018" y="3818624"/>
            <a:ext cx="733792" cy="1930"/>
          </a:xfrm>
          <a:prstGeom prst="straightConnector1">
            <a:avLst/>
          </a:prstGeom>
          <a:ln w="15875">
            <a:solidFill>
              <a:schemeClr val="accent2"/>
            </a:solidFill>
            <a:prstDash val="sysDot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直線單箭頭接點 244">
            <a:extLst>
              <a:ext uri="{FF2B5EF4-FFF2-40B4-BE49-F238E27FC236}">
                <a16:creationId xmlns:a16="http://schemas.microsoft.com/office/drawing/2014/main" id="{989B40BE-F003-A484-2E4D-EED5BB956596}"/>
              </a:ext>
            </a:extLst>
          </p:cNvPr>
          <p:cNvCxnSpPr>
            <a:cxnSpLocks/>
            <a:stCxn id="119" idx="1"/>
            <a:endCxn id="37" idx="3"/>
          </p:cNvCxnSpPr>
          <p:nvPr/>
        </p:nvCxnSpPr>
        <p:spPr>
          <a:xfrm flipH="1">
            <a:off x="3660086" y="3813120"/>
            <a:ext cx="702356" cy="5504"/>
          </a:xfrm>
          <a:prstGeom prst="straightConnector1">
            <a:avLst/>
          </a:prstGeom>
          <a:ln w="15875">
            <a:solidFill>
              <a:schemeClr val="accent1">
                <a:lumMod val="75000"/>
              </a:schemeClr>
            </a:solidFill>
            <a:prstDash val="sysDot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直線單箭頭接點 270">
            <a:extLst>
              <a:ext uri="{FF2B5EF4-FFF2-40B4-BE49-F238E27FC236}">
                <a16:creationId xmlns:a16="http://schemas.microsoft.com/office/drawing/2014/main" id="{D48B3759-EBAD-617E-74CF-EA602B2D7FB3}"/>
              </a:ext>
            </a:extLst>
          </p:cNvPr>
          <p:cNvCxnSpPr>
            <a:cxnSpLocks/>
            <a:stCxn id="122" idx="1"/>
            <a:endCxn id="27" idx="3"/>
          </p:cNvCxnSpPr>
          <p:nvPr/>
        </p:nvCxnSpPr>
        <p:spPr>
          <a:xfrm flipH="1">
            <a:off x="3493850" y="2259676"/>
            <a:ext cx="868592" cy="4245"/>
          </a:xfrm>
          <a:prstGeom prst="straightConnector1">
            <a:avLst/>
          </a:prstGeom>
          <a:ln w="15875">
            <a:solidFill>
              <a:schemeClr val="tx2"/>
            </a:solidFill>
            <a:prstDash val="sysDot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接點: 肘形 271">
            <a:extLst>
              <a:ext uri="{FF2B5EF4-FFF2-40B4-BE49-F238E27FC236}">
                <a16:creationId xmlns:a16="http://schemas.microsoft.com/office/drawing/2014/main" id="{8B233174-6544-05A1-7A52-C4177A891ED8}"/>
              </a:ext>
            </a:extLst>
          </p:cNvPr>
          <p:cNvCxnSpPr>
            <a:cxnSpLocks/>
            <a:stCxn id="80" idx="3"/>
            <a:endCxn id="85" idx="1"/>
          </p:cNvCxnSpPr>
          <p:nvPr/>
        </p:nvCxnSpPr>
        <p:spPr>
          <a:xfrm flipV="1">
            <a:off x="1672259" y="2763731"/>
            <a:ext cx="458612" cy="827495"/>
          </a:xfrm>
          <a:prstGeom prst="bentConnector3">
            <a:avLst>
              <a:gd name="adj1" fmla="val 50000"/>
            </a:avLst>
          </a:prstGeom>
          <a:ln w="15875">
            <a:solidFill>
              <a:schemeClr val="accent2"/>
            </a:solidFill>
            <a:prstDash val="sysDot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直線單箭頭接點 274">
            <a:extLst>
              <a:ext uri="{FF2B5EF4-FFF2-40B4-BE49-F238E27FC236}">
                <a16:creationId xmlns:a16="http://schemas.microsoft.com/office/drawing/2014/main" id="{0A74BBD9-2635-12D5-1AA4-456EEE5F37FF}"/>
              </a:ext>
            </a:extLst>
          </p:cNvPr>
          <p:cNvCxnSpPr>
            <a:cxnSpLocks/>
            <a:stCxn id="85" idx="3"/>
            <a:endCxn id="206" idx="1"/>
          </p:cNvCxnSpPr>
          <p:nvPr/>
        </p:nvCxnSpPr>
        <p:spPr>
          <a:xfrm flipV="1">
            <a:off x="2405191" y="2760538"/>
            <a:ext cx="956286" cy="3193"/>
          </a:xfrm>
          <a:prstGeom prst="straightConnector1">
            <a:avLst/>
          </a:prstGeom>
          <a:ln w="15875">
            <a:solidFill>
              <a:schemeClr val="accent2"/>
            </a:solidFill>
            <a:prstDash val="sysDot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線單箭頭接點 1">
            <a:extLst>
              <a:ext uri="{FF2B5EF4-FFF2-40B4-BE49-F238E27FC236}">
                <a16:creationId xmlns:a16="http://schemas.microsoft.com/office/drawing/2014/main" id="{ED28A4CC-FA8C-9F29-6518-AE25490AB870}"/>
              </a:ext>
            </a:extLst>
          </p:cNvPr>
          <p:cNvCxnSpPr>
            <a:cxnSpLocks/>
            <a:stCxn id="88" idx="1"/>
            <a:endCxn id="206" idx="3"/>
          </p:cNvCxnSpPr>
          <p:nvPr/>
        </p:nvCxnSpPr>
        <p:spPr>
          <a:xfrm flipH="1" flipV="1">
            <a:off x="4069914" y="2760538"/>
            <a:ext cx="292528" cy="3193"/>
          </a:xfrm>
          <a:prstGeom prst="straightConnector1">
            <a:avLst/>
          </a:prstGeom>
          <a:ln w="15875">
            <a:solidFill>
              <a:schemeClr val="tx2"/>
            </a:solidFill>
            <a:prstDash val="sysDot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7DA902CA-D722-D4AB-6963-ECF5F84BBE19}"/>
              </a:ext>
            </a:extLst>
          </p:cNvPr>
          <p:cNvSpPr txBox="1"/>
          <p:nvPr/>
        </p:nvSpPr>
        <p:spPr>
          <a:xfrm>
            <a:off x="2995456" y="2147673"/>
            <a:ext cx="498394" cy="232495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+b</a:t>
            </a:r>
            <a:r>
              <a:rPr kumimoji="0" lang="zh-TW" altLang="zh-TW" sz="10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➔</a:t>
            </a:r>
            <a:r>
              <a:rPr kumimoji="0" lang="en-US" altLang="zh-TW" sz="10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 </a:t>
            </a:r>
            <a:r>
              <a:rPr kumimoji="0" lang="el-GR" altLang="zh-TW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cs typeface="Calibri" panose="020F0502020204030204" pitchFamily="34" charset="0"/>
              </a:rPr>
              <a:t>σ</a:t>
            </a:r>
            <a:r>
              <a:rPr kumimoji="0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EC0E8637-4215-FA16-993B-E6FE19BD43A2}"/>
              </a:ext>
            </a:extLst>
          </p:cNvPr>
          <p:cNvSpPr txBox="1"/>
          <p:nvPr/>
        </p:nvSpPr>
        <p:spPr>
          <a:xfrm>
            <a:off x="3133810" y="3717032"/>
            <a:ext cx="526276" cy="203184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+b</a:t>
            </a:r>
            <a:r>
              <a:rPr kumimoji="0" lang="zh-TW" altLang="zh-TW" sz="10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➔</a:t>
            </a:r>
            <a:r>
              <a:rPr kumimoji="0" lang="en-US" altLang="zh-TW" sz="10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 </a:t>
            </a:r>
            <a:r>
              <a:rPr kumimoji="0" lang="el-GR" altLang="zh-TW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Calibri" panose="020F0502020204030204" pitchFamily="34" charset="0"/>
              </a:rPr>
              <a:t>σ</a:t>
            </a:r>
            <a:endParaRPr kumimoji="0" lang="en-US" altLang="zh-TW" sz="1600" b="1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60000"/>
                  <a:lumOff val="40000"/>
                </a:schemeClr>
              </a:solidFill>
              <a:effectLst/>
              <a:uLnTx/>
              <a:uFillTx/>
              <a:cs typeface="Calibri" panose="020F0502020204030204" pitchFamily="34" charset="0"/>
            </a:endParaRPr>
          </a:p>
        </p:txBody>
      </p:sp>
      <p:cxnSp>
        <p:nvCxnSpPr>
          <p:cNvPr id="45" name="接點: 肘形 44">
            <a:extLst>
              <a:ext uri="{FF2B5EF4-FFF2-40B4-BE49-F238E27FC236}">
                <a16:creationId xmlns:a16="http://schemas.microsoft.com/office/drawing/2014/main" id="{3B47887B-7C3A-06DA-647A-4F2DEE064CB4}"/>
              </a:ext>
            </a:extLst>
          </p:cNvPr>
          <p:cNvCxnSpPr>
            <a:cxnSpLocks/>
            <a:stCxn id="108" idx="1"/>
            <a:endCxn id="88" idx="3"/>
          </p:cNvCxnSpPr>
          <p:nvPr/>
        </p:nvCxnSpPr>
        <p:spPr>
          <a:xfrm rot="10800000">
            <a:off x="4636762" y="2763732"/>
            <a:ext cx="441264" cy="426265"/>
          </a:xfrm>
          <a:prstGeom prst="bentConnector3">
            <a:avLst>
              <a:gd name="adj1" fmla="val 50000"/>
            </a:avLst>
          </a:prstGeom>
          <a:ln w="15875">
            <a:solidFill>
              <a:schemeClr val="tx2"/>
            </a:solidFill>
            <a:prstDash val="sysDot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B1A1E97A-4774-FDA2-7F81-3825B10F33C3}"/>
              </a:ext>
            </a:extLst>
          </p:cNvPr>
          <p:cNvSpPr txBox="1"/>
          <p:nvPr/>
        </p:nvSpPr>
        <p:spPr>
          <a:xfrm>
            <a:off x="910883" y="1484784"/>
            <a:ext cx="782767" cy="184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zh-TW" sz="1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</a:t>
            </a:r>
            <a:r>
              <a:rPr lang="en-US" altLang="zh-TW" sz="1200" b="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nput x(t)</a:t>
            </a:r>
            <a:endParaRPr lang="zh-TW" altLang="en-US" sz="1200" dirty="0"/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06EFEB9E-A81C-1674-DBBD-69AB5910C07B}"/>
              </a:ext>
            </a:extLst>
          </p:cNvPr>
          <p:cNvSpPr txBox="1"/>
          <p:nvPr/>
        </p:nvSpPr>
        <p:spPr>
          <a:xfrm>
            <a:off x="5146318" y="1556792"/>
            <a:ext cx="415217" cy="184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altLang="zh-TW" sz="1200" b="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h(t)</a:t>
            </a:r>
            <a:endParaRPr lang="zh-TW" altLang="en-US" sz="1200" dirty="0"/>
          </a:p>
        </p:txBody>
      </p:sp>
      <p:sp>
        <p:nvSpPr>
          <p:cNvPr id="206" name="文字方塊 205">
            <a:extLst>
              <a:ext uri="{FF2B5EF4-FFF2-40B4-BE49-F238E27FC236}">
                <a16:creationId xmlns:a16="http://schemas.microsoft.com/office/drawing/2014/main" id="{D7160AE8-7A03-0531-A60B-836455A6276D}"/>
              </a:ext>
            </a:extLst>
          </p:cNvPr>
          <p:cNvSpPr txBox="1"/>
          <p:nvPr/>
        </p:nvSpPr>
        <p:spPr>
          <a:xfrm>
            <a:off x="3361477" y="2679137"/>
            <a:ext cx="708437" cy="1628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+b</a:t>
            </a:r>
            <a:r>
              <a:rPr kumimoji="0" lang="zh-TW" altLang="zh-TW" sz="10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➔</a:t>
            </a:r>
            <a:r>
              <a:rPr kumimoji="0" lang="en-US" altLang="zh-TW" sz="10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 </a:t>
            </a:r>
            <a:r>
              <a:rPr kumimoji="0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Calibri" panose="020F0502020204030204" pitchFamily="34" charset="0"/>
              </a:rPr>
              <a:t>tanh </a:t>
            </a:r>
          </a:p>
        </p:txBody>
      </p: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5636790C-44F1-422D-C96B-0684D774D0CF}"/>
              </a:ext>
            </a:extLst>
          </p:cNvPr>
          <p:cNvSpPr txBox="1"/>
          <p:nvPr/>
        </p:nvSpPr>
        <p:spPr>
          <a:xfrm>
            <a:off x="3586222" y="2852936"/>
            <a:ext cx="339676" cy="133397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400" b="1" dirty="0">
                <a:solidFill>
                  <a:schemeClr val="accent4">
                    <a:lumMod val="60000"/>
                    <a:lumOff val="40000"/>
                  </a:schemeClr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= </a:t>
            </a:r>
            <a:r>
              <a:rPr lang="en-US" altLang="zh-TW" sz="1400" b="1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€</a:t>
            </a:r>
            <a:r>
              <a:rPr lang="en-US" altLang="zh-TW" sz="1400" b="1" dirty="0">
                <a:solidFill>
                  <a:schemeClr val="accent4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4</a:t>
            </a:r>
            <a:endParaRPr lang="zh-TW" altLang="en-US" sz="1400" b="1" baseline="-25000" dirty="0">
              <a:solidFill>
                <a:schemeClr val="accent4"/>
              </a:solidFill>
            </a:endParaRPr>
          </a:p>
        </p:txBody>
      </p:sp>
      <p:sp>
        <p:nvSpPr>
          <p:cNvPr id="177" name="文字方塊 176">
            <a:extLst>
              <a:ext uri="{FF2B5EF4-FFF2-40B4-BE49-F238E27FC236}">
                <a16:creationId xmlns:a16="http://schemas.microsoft.com/office/drawing/2014/main" id="{84DBD70E-B8C0-89B1-F630-AF61FF591373}"/>
              </a:ext>
            </a:extLst>
          </p:cNvPr>
          <p:cNvSpPr txBox="1"/>
          <p:nvPr/>
        </p:nvSpPr>
        <p:spPr>
          <a:xfrm>
            <a:off x="2663142" y="1645351"/>
            <a:ext cx="534817" cy="22542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+b</a:t>
            </a:r>
            <a:r>
              <a:rPr kumimoji="0" lang="zh-TW" altLang="zh-TW" sz="10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➔</a:t>
            </a:r>
            <a:r>
              <a:rPr kumimoji="0" lang="en-US" altLang="zh-TW" sz="10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 </a:t>
            </a:r>
            <a:r>
              <a:rPr kumimoji="0" lang="el-GR" altLang="zh-TW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cs typeface="Calibri" panose="020F0502020204030204" pitchFamily="34" charset="0"/>
              </a:rPr>
              <a:t>σ</a:t>
            </a:r>
            <a:r>
              <a:rPr kumimoji="0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100" name="文字方塊 99">
            <a:extLst>
              <a:ext uri="{FF2B5EF4-FFF2-40B4-BE49-F238E27FC236}">
                <a16:creationId xmlns:a16="http://schemas.microsoft.com/office/drawing/2014/main" id="{D9D0C396-BA14-09D0-9E72-56A9A3E764D5}"/>
              </a:ext>
            </a:extLst>
          </p:cNvPr>
          <p:cNvSpPr txBox="1"/>
          <p:nvPr/>
        </p:nvSpPr>
        <p:spPr>
          <a:xfrm>
            <a:off x="2633946" y="1844824"/>
            <a:ext cx="352899" cy="182880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400" b="1" dirty="0">
                <a:solidFill>
                  <a:schemeClr val="accent4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= </a:t>
            </a:r>
            <a:r>
              <a:rPr lang="en-US" altLang="zh-TW" sz="1400" b="1" dirty="0">
                <a:solidFill>
                  <a:schemeClr val="accent4"/>
                </a:solidFill>
              </a:rPr>
              <a:t>f4</a:t>
            </a:r>
            <a:endParaRPr lang="zh-TW" altLang="en-US" sz="1400" b="1" baseline="-25000" dirty="0">
              <a:solidFill>
                <a:schemeClr val="accent4"/>
              </a:solidFill>
            </a:endParaRPr>
          </a:p>
        </p:txBody>
      </p:sp>
      <p:sp>
        <p:nvSpPr>
          <p:cNvPr id="158" name="文字方塊 157">
            <a:extLst>
              <a:ext uri="{FF2B5EF4-FFF2-40B4-BE49-F238E27FC236}">
                <a16:creationId xmlns:a16="http://schemas.microsoft.com/office/drawing/2014/main" id="{9279C120-8B7D-2C0C-C8E7-3F2C6006EEA3}"/>
              </a:ext>
            </a:extLst>
          </p:cNvPr>
          <p:cNvSpPr txBox="1"/>
          <p:nvPr/>
        </p:nvSpPr>
        <p:spPr>
          <a:xfrm>
            <a:off x="2988604" y="2323949"/>
            <a:ext cx="361230" cy="174575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400" b="1" dirty="0">
                <a:solidFill>
                  <a:schemeClr val="accent4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= </a:t>
            </a:r>
            <a:r>
              <a:rPr lang="en-US" altLang="zh-TW" sz="1400" b="1" dirty="0">
                <a:solidFill>
                  <a:schemeClr val="accent4"/>
                </a:solidFill>
              </a:rPr>
              <a:t>i4</a:t>
            </a:r>
            <a:endParaRPr lang="zh-TW" altLang="en-US" sz="1400" b="1" baseline="-25000" dirty="0">
              <a:solidFill>
                <a:schemeClr val="accent4"/>
              </a:solidFill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45D15400-0AD2-169A-6F71-5FB3C845F9A3}"/>
              </a:ext>
            </a:extLst>
          </p:cNvPr>
          <p:cNvSpPr/>
          <p:nvPr/>
        </p:nvSpPr>
        <p:spPr>
          <a:xfrm>
            <a:off x="983095" y="3419844"/>
            <a:ext cx="689164" cy="342763"/>
          </a:xfrm>
          <a:prstGeom prst="rect">
            <a:avLst/>
          </a:prstGeom>
          <a:solidFill>
            <a:schemeClr val="accent2">
              <a:lumMod val="20000"/>
              <a:lumOff val="80000"/>
              <a:alpha val="20000"/>
            </a:schemeClr>
          </a:solidFill>
          <a:ln w="15875">
            <a:solidFill>
              <a:schemeClr val="accent2">
                <a:lumMod val="75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500"/>
              </a:lnSpc>
            </a:pPr>
            <a:r>
              <a:rPr lang="en-US" altLang="zh-TW" sz="1400" b="1" dirty="0">
                <a:solidFill>
                  <a:schemeClr val="accent2"/>
                </a:solidFill>
                <a:ea typeface="微軟正黑體" panose="020B0604030504040204" pitchFamily="34" charset="-120"/>
              </a:rPr>
              <a:t>x(4)</a:t>
            </a:r>
          </a:p>
        </p:txBody>
      </p:sp>
      <p:cxnSp>
        <p:nvCxnSpPr>
          <p:cNvPr id="212" name="接點: 肘形 211">
            <a:extLst>
              <a:ext uri="{FF2B5EF4-FFF2-40B4-BE49-F238E27FC236}">
                <a16:creationId xmlns:a16="http://schemas.microsoft.com/office/drawing/2014/main" id="{F74F3668-7891-A338-BD45-C31E65FE1CC6}"/>
              </a:ext>
            </a:extLst>
          </p:cNvPr>
          <p:cNvCxnSpPr>
            <a:cxnSpLocks/>
            <a:stCxn id="158" idx="2"/>
            <a:endCxn id="306" idx="0"/>
          </p:cNvCxnSpPr>
          <p:nvPr/>
        </p:nvCxnSpPr>
        <p:spPr>
          <a:xfrm rot="16200000" flipH="1">
            <a:off x="2924529" y="2743213"/>
            <a:ext cx="786460" cy="297081"/>
          </a:xfrm>
          <a:prstGeom prst="bentConnector3">
            <a:avLst>
              <a:gd name="adj1" fmla="val 50000"/>
            </a:avLst>
          </a:prstGeom>
          <a:ln w="15875">
            <a:solidFill>
              <a:schemeClr val="accent4"/>
            </a:solidFill>
            <a:prstDash val="sysDot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接點: 肘形 216">
            <a:extLst>
              <a:ext uri="{FF2B5EF4-FFF2-40B4-BE49-F238E27FC236}">
                <a16:creationId xmlns:a16="http://schemas.microsoft.com/office/drawing/2014/main" id="{DD17F48B-17BE-BA11-CF4C-79DFFD95FB03}"/>
              </a:ext>
            </a:extLst>
          </p:cNvPr>
          <p:cNvCxnSpPr>
            <a:cxnSpLocks/>
            <a:stCxn id="77" idx="2"/>
            <a:endCxn id="319" idx="0"/>
          </p:cNvCxnSpPr>
          <p:nvPr/>
        </p:nvCxnSpPr>
        <p:spPr>
          <a:xfrm rot="16200000" flipH="1">
            <a:off x="3643298" y="3099095"/>
            <a:ext cx="298651" cy="73126"/>
          </a:xfrm>
          <a:prstGeom prst="bentConnector3">
            <a:avLst>
              <a:gd name="adj1" fmla="val 50000"/>
            </a:avLst>
          </a:prstGeom>
          <a:ln w="15875">
            <a:solidFill>
              <a:schemeClr val="accent4"/>
            </a:solidFill>
            <a:prstDash val="sysDot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矩形 240">
            <a:extLst>
              <a:ext uri="{FF2B5EF4-FFF2-40B4-BE49-F238E27FC236}">
                <a16:creationId xmlns:a16="http://schemas.microsoft.com/office/drawing/2014/main" id="{208C2ADA-4A55-5920-4045-5CA9706A897C}"/>
              </a:ext>
            </a:extLst>
          </p:cNvPr>
          <p:cNvSpPr/>
          <p:nvPr/>
        </p:nvSpPr>
        <p:spPr>
          <a:xfrm>
            <a:off x="5078026" y="3435762"/>
            <a:ext cx="569295" cy="355845"/>
          </a:xfrm>
          <a:prstGeom prst="rect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  <a:ln w="15875">
            <a:solidFill>
              <a:schemeClr val="accent4"/>
            </a:solidFill>
            <a:prstDash val="sysDot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500"/>
              </a:lnSpc>
            </a:pPr>
            <a:r>
              <a:rPr lang="en-US" altLang="zh-TW" sz="1400" b="1" dirty="0">
                <a:solidFill>
                  <a:schemeClr val="accent4"/>
                </a:solidFill>
                <a:ea typeface="微軟正黑體" panose="020B0604030504040204" pitchFamily="34" charset="-120"/>
              </a:rPr>
              <a:t>h4</a:t>
            </a:r>
          </a:p>
        </p:txBody>
      </p:sp>
      <p:graphicFrame>
        <p:nvGraphicFramePr>
          <p:cNvPr id="244" name="表格 243">
            <a:extLst>
              <a:ext uri="{FF2B5EF4-FFF2-40B4-BE49-F238E27FC236}">
                <a16:creationId xmlns:a16="http://schemas.microsoft.com/office/drawing/2014/main" id="{A25279DA-52BF-B9C1-15DA-A140FD666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5890721"/>
              </p:ext>
            </p:extLst>
          </p:nvPr>
        </p:nvGraphicFramePr>
        <p:xfrm>
          <a:off x="5812181" y="2230750"/>
          <a:ext cx="415217" cy="14994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691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03526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</a:tblGrid>
              <a:tr h="21420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96678"/>
                  </a:ext>
                </a:extLst>
              </a:tr>
              <a:tr h="214203"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225911"/>
                  </a:ext>
                </a:extLst>
              </a:tr>
              <a:tr h="21420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971003"/>
                  </a:ext>
                </a:extLst>
              </a:tr>
              <a:tr h="214203"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384225"/>
                  </a:ext>
                </a:extLst>
              </a:tr>
              <a:tr h="21420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019256"/>
                  </a:ext>
                </a:extLst>
              </a:tr>
              <a:tr h="214203"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641310"/>
                  </a:ext>
                </a:extLst>
              </a:tr>
              <a:tr h="21420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904019"/>
                  </a:ext>
                </a:extLst>
              </a:tr>
            </a:tbl>
          </a:graphicData>
        </a:graphic>
      </p:graphicFrame>
      <p:graphicFrame>
        <p:nvGraphicFramePr>
          <p:cNvPr id="247" name="表格 246">
            <a:extLst>
              <a:ext uri="{FF2B5EF4-FFF2-40B4-BE49-F238E27FC236}">
                <a16:creationId xmlns:a16="http://schemas.microsoft.com/office/drawing/2014/main" id="{3AC4EF3F-1274-2ADF-A4D9-35B0888743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4947291"/>
              </p:ext>
            </p:extLst>
          </p:nvPr>
        </p:nvGraphicFramePr>
        <p:xfrm>
          <a:off x="5812182" y="1787776"/>
          <a:ext cx="415216" cy="214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690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03526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</a:tblGrid>
              <a:tr h="21420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96678"/>
                  </a:ext>
                </a:extLst>
              </a:tr>
            </a:tbl>
          </a:graphicData>
        </a:graphic>
      </p:graphicFrame>
      <p:sp>
        <p:nvSpPr>
          <p:cNvPr id="253" name="文字方塊 252">
            <a:extLst>
              <a:ext uri="{FF2B5EF4-FFF2-40B4-BE49-F238E27FC236}">
                <a16:creationId xmlns:a16="http://schemas.microsoft.com/office/drawing/2014/main" id="{45A15D45-61C9-D3E2-0EC7-8ABD4A586C80}"/>
              </a:ext>
            </a:extLst>
          </p:cNvPr>
          <p:cNvSpPr txBox="1"/>
          <p:nvPr/>
        </p:nvSpPr>
        <p:spPr>
          <a:xfrm>
            <a:off x="5801159" y="1556792"/>
            <a:ext cx="415217" cy="184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altLang="zh-TW" sz="1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</a:t>
            </a:r>
            <a:r>
              <a:rPr lang="en-US" altLang="zh-TW" sz="1200" b="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(t)</a:t>
            </a:r>
            <a:endParaRPr lang="zh-TW" altLang="en-US" sz="1200" dirty="0"/>
          </a:p>
        </p:txBody>
      </p:sp>
      <p:sp>
        <p:nvSpPr>
          <p:cNvPr id="255" name="矩形 254">
            <a:extLst>
              <a:ext uri="{FF2B5EF4-FFF2-40B4-BE49-F238E27FC236}">
                <a16:creationId xmlns:a16="http://schemas.microsoft.com/office/drawing/2014/main" id="{39D3F783-DCBF-8166-592E-9053AF6E1A01}"/>
              </a:ext>
            </a:extLst>
          </p:cNvPr>
          <p:cNvSpPr/>
          <p:nvPr/>
        </p:nvSpPr>
        <p:spPr>
          <a:xfrm>
            <a:off x="5733137" y="3435762"/>
            <a:ext cx="569295" cy="355845"/>
          </a:xfrm>
          <a:prstGeom prst="rect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  <a:ln w="15875">
            <a:solidFill>
              <a:schemeClr val="accent4">
                <a:lumMod val="75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500"/>
              </a:lnSpc>
            </a:pPr>
            <a:r>
              <a:rPr lang="en-US" altLang="zh-TW" sz="1400" b="1" dirty="0">
                <a:solidFill>
                  <a:schemeClr val="accent4"/>
                </a:solidFill>
                <a:latin typeface="+mj-lt"/>
                <a:ea typeface="+mj-ea"/>
              </a:rPr>
              <a:t>C4</a:t>
            </a:r>
          </a:p>
        </p:txBody>
      </p:sp>
      <p:sp>
        <p:nvSpPr>
          <p:cNvPr id="261" name="矩形 260">
            <a:extLst>
              <a:ext uri="{FF2B5EF4-FFF2-40B4-BE49-F238E27FC236}">
                <a16:creationId xmlns:a16="http://schemas.microsoft.com/office/drawing/2014/main" id="{45AD05D0-537C-353F-B140-C4376E317C2B}"/>
              </a:ext>
            </a:extLst>
          </p:cNvPr>
          <p:cNvSpPr/>
          <p:nvPr/>
        </p:nvSpPr>
        <p:spPr>
          <a:xfrm>
            <a:off x="5732867" y="3053059"/>
            <a:ext cx="569295" cy="273876"/>
          </a:xfrm>
          <a:prstGeom prst="rect">
            <a:avLst/>
          </a:prstGeom>
          <a:noFill/>
          <a:ln w="15875">
            <a:solidFill>
              <a:schemeClr val="accent5">
                <a:lumMod val="75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400"/>
              </a:lnSpc>
            </a:pPr>
            <a:r>
              <a:rPr lang="en-US" altLang="zh-TW" sz="1400" b="1" dirty="0">
                <a:solidFill>
                  <a:schemeClr val="accent5">
                    <a:lumMod val="75000"/>
                  </a:schemeClr>
                </a:solidFill>
                <a:ea typeface="微軟正黑體" panose="020B0604030504040204" pitchFamily="34" charset="-120"/>
              </a:rPr>
              <a:t>C3</a:t>
            </a:r>
          </a:p>
        </p:txBody>
      </p:sp>
      <p:cxnSp>
        <p:nvCxnSpPr>
          <p:cNvPr id="268" name="接點: 肘形 267">
            <a:extLst>
              <a:ext uri="{FF2B5EF4-FFF2-40B4-BE49-F238E27FC236}">
                <a16:creationId xmlns:a16="http://schemas.microsoft.com/office/drawing/2014/main" id="{7EF87034-03F1-240B-BAF7-FF0E3F939EC3}"/>
              </a:ext>
            </a:extLst>
          </p:cNvPr>
          <p:cNvCxnSpPr>
            <a:cxnSpLocks/>
            <a:stCxn id="100" idx="2"/>
            <a:endCxn id="333" idx="0"/>
          </p:cNvCxnSpPr>
          <p:nvPr/>
        </p:nvCxnSpPr>
        <p:spPr>
          <a:xfrm rot="5400000">
            <a:off x="2133462" y="2608050"/>
            <a:ext cx="1257280" cy="96589"/>
          </a:xfrm>
          <a:prstGeom prst="bentConnector3">
            <a:avLst>
              <a:gd name="adj1" fmla="val 50000"/>
            </a:avLst>
          </a:prstGeom>
          <a:ln w="15875">
            <a:solidFill>
              <a:schemeClr val="accent4"/>
            </a:solidFill>
            <a:prstDash val="sysDot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5" name="群組 364">
            <a:extLst>
              <a:ext uri="{FF2B5EF4-FFF2-40B4-BE49-F238E27FC236}">
                <a16:creationId xmlns:a16="http://schemas.microsoft.com/office/drawing/2014/main" id="{1B01C14B-B4B6-771F-4A3D-AA77FCF8B5C7}"/>
              </a:ext>
            </a:extLst>
          </p:cNvPr>
          <p:cNvGrpSpPr/>
          <p:nvPr/>
        </p:nvGrpSpPr>
        <p:grpSpPr>
          <a:xfrm>
            <a:off x="2557746" y="3284984"/>
            <a:ext cx="1775224" cy="192822"/>
            <a:chOff x="2277562" y="3566144"/>
            <a:chExt cx="1775224" cy="182880"/>
          </a:xfrm>
        </p:grpSpPr>
        <p:sp>
          <p:nvSpPr>
            <p:cNvPr id="93" name="文字方塊 92">
              <a:extLst>
                <a:ext uri="{FF2B5EF4-FFF2-40B4-BE49-F238E27FC236}">
                  <a16:creationId xmlns:a16="http://schemas.microsoft.com/office/drawing/2014/main" id="{202A9E67-9667-A38D-40C2-597520F7CD55}"/>
                </a:ext>
              </a:extLst>
            </p:cNvPr>
            <p:cNvSpPr txBox="1"/>
            <p:nvPr/>
          </p:nvSpPr>
          <p:spPr>
            <a:xfrm>
              <a:off x="3661616" y="3566144"/>
              <a:ext cx="391170" cy="18288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algn="ctr">
                <a:lnSpc>
                  <a:spcPts val="1400"/>
                </a:lnSpc>
              </a:pPr>
              <a:r>
                <a:rPr lang="en-US" altLang="zh-TW" sz="1400" b="1" dirty="0">
                  <a:solidFill>
                    <a:schemeClr val="accent4">
                      <a:lumMod val="60000"/>
                      <a:lumOff val="40000"/>
                    </a:schemeClr>
                  </a:solidFill>
                  <a:ea typeface="ADLaM Display" panose="02010000000000000000" pitchFamily="2" charset="0"/>
                  <a:cs typeface="ADLaM Display" panose="02010000000000000000" pitchFamily="2" charset="0"/>
                </a:rPr>
                <a:t>= </a:t>
              </a:r>
              <a:r>
                <a:rPr lang="en-US" altLang="zh-TW" sz="1400" b="1" dirty="0">
                  <a:solidFill>
                    <a:schemeClr val="accent4"/>
                  </a:solidFill>
                  <a:ea typeface="ADLaM Display" panose="02010000000000000000" pitchFamily="2" charset="0"/>
                  <a:cs typeface="ADLaM Display" panose="02010000000000000000" pitchFamily="2" charset="0"/>
                </a:rPr>
                <a:t>C4</a:t>
              </a:r>
              <a:endParaRPr lang="zh-TW" altLang="en-US" sz="1400" b="1" baseline="-25000" dirty="0">
                <a:solidFill>
                  <a:schemeClr val="accent4"/>
                </a:solidFill>
              </a:endParaRPr>
            </a:p>
          </p:txBody>
        </p:sp>
        <p:sp>
          <p:nvSpPr>
            <p:cNvPr id="296" name="文字方塊 295">
              <a:extLst>
                <a:ext uri="{FF2B5EF4-FFF2-40B4-BE49-F238E27FC236}">
                  <a16:creationId xmlns:a16="http://schemas.microsoft.com/office/drawing/2014/main" id="{393BD97A-B14F-525F-59EC-8B80FE622B25}"/>
                </a:ext>
              </a:extLst>
            </p:cNvPr>
            <p:cNvSpPr txBox="1"/>
            <p:nvPr/>
          </p:nvSpPr>
          <p:spPr>
            <a:xfrm>
              <a:off x="2941536" y="3566144"/>
              <a:ext cx="139565" cy="18288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algn="ctr">
                <a:lnSpc>
                  <a:spcPts val="1400"/>
                </a:lnSpc>
              </a:pPr>
              <a:r>
                <a:rPr lang="en-US" altLang="zh-TW" sz="1400" b="1" dirty="0">
                  <a:solidFill>
                    <a:schemeClr val="accent4">
                      <a:lumMod val="60000"/>
                      <a:lumOff val="40000"/>
                    </a:schemeClr>
                  </a:solidFill>
                  <a:ea typeface="ADLaM Display" panose="02010000000000000000" pitchFamily="2" charset="0"/>
                  <a:cs typeface="ADLaM Display" panose="02010000000000000000" pitchFamily="2" charset="0"/>
                </a:rPr>
                <a:t>+</a:t>
              </a:r>
              <a:endParaRPr lang="zh-TW" altLang="en-US" sz="1400" b="1" baseline="-25000" dirty="0">
                <a:solidFill>
                  <a:schemeClr val="accent4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306" name="文字方塊 305">
              <a:extLst>
                <a:ext uri="{FF2B5EF4-FFF2-40B4-BE49-F238E27FC236}">
                  <a16:creationId xmlns:a16="http://schemas.microsoft.com/office/drawing/2014/main" id="{85A1A1DE-9FA4-3618-40E6-A1023D3809A6}"/>
                </a:ext>
              </a:extLst>
            </p:cNvPr>
            <p:cNvSpPr txBox="1"/>
            <p:nvPr/>
          </p:nvSpPr>
          <p:spPr>
            <a:xfrm>
              <a:off x="3086557" y="3566144"/>
              <a:ext cx="199117" cy="18288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algn="ctr">
                <a:lnSpc>
                  <a:spcPts val="1400"/>
                </a:lnSpc>
              </a:pPr>
              <a:r>
                <a:rPr lang="en-US" altLang="zh-TW" sz="1400" b="1" dirty="0">
                  <a:solidFill>
                    <a:schemeClr val="accent4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i4</a:t>
              </a:r>
              <a:endParaRPr lang="zh-TW" altLang="en-US" sz="1400" b="1" baseline="-25000" dirty="0">
                <a:solidFill>
                  <a:schemeClr val="accent4"/>
                </a:solidFill>
              </a:endParaRPr>
            </a:p>
          </p:txBody>
        </p:sp>
        <p:sp>
          <p:nvSpPr>
            <p:cNvPr id="308" name="文字方塊 307">
              <a:extLst>
                <a:ext uri="{FF2B5EF4-FFF2-40B4-BE49-F238E27FC236}">
                  <a16:creationId xmlns:a16="http://schemas.microsoft.com/office/drawing/2014/main" id="{58110583-06D2-26F7-0EF0-7BA9CC1F2A19}"/>
                </a:ext>
              </a:extLst>
            </p:cNvPr>
            <p:cNvSpPr txBox="1"/>
            <p:nvPr/>
          </p:nvSpPr>
          <p:spPr>
            <a:xfrm>
              <a:off x="2565594" y="3566144"/>
              <a:ext cx="355320" cy="18288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algn="ctr">
                <a:lnSpc>
                  <a:spcPts val="1400"/>
                </a:lnSpc>
              </a:pPr>
              <a:r>
                <a:rPr lang="az-Cyrl-AZ" altLang="zh-TW" sz="1400" b="1" dirty="0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Ꙩ</a:t>
              </a:r>
              <a:r>
                <a:rPr lang="en-US" altLang="zh-TW" sz="1400" b="1" dirty="0">
                  <a:solidFill>
                    <a:schemeClr val="accent4">
                      <a:lumMod val="60000"/>
                      <a:lumOff val="40000"/>
                    </a:schemeClr>
                  </a:solidFill>
                  <a:ea typeface="ADLaM Display" panose="02010000000000000000" pitchFamily="2" charset="0"/>
                  <a:cs typeface="ADLaM Display" panose="02010000000000000000" pitchFamily="2" charset="0"/>
                </a:rPr>
                <a:t> </a:t>
              </a:r>
              <a:r>
                <a:rPr lang="en-US" altLang="zh-TW" sz="1400" b="1" dirty="0">
                  <a:solidFill>
                    <a:schemeClr val="accent5">
                      <a:lumMod val="75000"/>
                    </a:schemeClr>
                  </a:solidFill>
                  <a:ea typeface="ADLaM Display" panose="02010000000000000000" pitchFamily="2" charset="0"/>
                  <a:cs typeface="ADLaM Display" panose="02010000000000000000" pitchFamily="2" charset="0"/>
                </a:rPr>
                <a:t>C3</a:t>
              </a:r>
              <a:endParaRPr lang="zh-TW" altLang="en-US" sz="1400" b="1" baseline="-25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19" name="文字方塊 318">
              <a:extLst>
                <a:ext uri="{FF2B5EF4-FFF2-40B4-BE49-F238E27FC236}">
                  <a16:creationId xmlns:a16="http://schemas.microsoft.com/office/drawing/2014/main" id="{0CFB4FC7-B016-8FE8-808F-18DF0A3C9AFF}"/>
                </a:ext>
              </a:extLst>
            </p:cNvPr>
            <p:cNvSpPr txBox="1"/>
            <p:nvPr/>
          </p:nvSpPr>
          <p:spPr>
            <a:xfrm>
              <a:off x="3429690" y="3566144"/>
              <a:ext cx="238623" cy="18288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algn="ctr">
                <a:lnSpc>
                  <a:spcPts val="1400"/>
                </a:lnSpc>
              </a:pPr>
              <a:r>
                <a:rPr lang="en-US" altLang="zh-TW" sz="1400" b="1" dirty="0">
                  <a:solidFill>
                    <a:schemeClr val="accent4">
                      <a:lumMod val="60000"/>
                      <a:lumOff val="40000"/>
                    </a:schemeClr>
                  </a:solidFill>
                  <a:ea typeface="ADLaM Display" panose="02010000000000000000" pitchFamily="2" charset="0"/>
                  <a:cs typeface="ADLaM Display" panose="02010000000000000000" pitchFamily="2" charset="0"/>
                </a:rPr>
                <a:t> </a:t>
              </a:r>
              <a:r>
                <a:rPr lang="en-US" altLang="zh-TW" sz="1400" b="1" dirty="0">
                  <a:solidFill>
                    <a:schemeClr val="accent4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€</a:t>
              </a:r>
              <a:r>
                <a:rPr lang="en-US" altLang="zh-TW" sz="1400" b="1" dirty="0">
                  <a:solidFill>
                    <a:schemeClr val="accent4"/>
                  </a:solidFill>
                  <a:ea typeface="ADLaM Display" panose="02010000000000000000" pitchFamily="2" charset="0"/>
                  <a:cs typeface="ADLaM Display" panose="02010000000000000000" pitchFamily="2" charset="0"/>
                </a:rPr>
                <a:t>4</a:t>
              </a:r>
              <a:endParaRPr lang="zh-TW" altLang="en-US" sz="1400" b="1" baseline="-25000" dirty="0">
                <a:solidFill>
                  <a:schemeClr val="accent4"/>
                </a:solidFill>
              </a:endParaRPr>
            </a:p>
          </p:txBody>
        </p:sp>
        <p:sp>
          <p:nvSpPr>
            <p:cNvPr id="333" name="文字方塊 332">
              <a:extLst>
                <a:ext uri="{FF2B5EF4-FFF2-40B4-BE49-F238E27FC236}">
                  <a16:creationId xmlns:a16="http://schemas.microsoft.com/office/drawing/2014/main" id="{335FF69B-A873-42BA-973E-F11253D9A9AD}"/>
                </a:ext>
              </a:extLst>
            </p:cNvPr>
            <p:cNvSpPr txBox="1"/>
            <p:nvPr/>
          </p:nvSpPr>
          <p:spPr>
            <a:xfrm>
              <a:off x="2277562" y="3566144"/>
              <a:ext cx="312122" cy="18288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algn="ctr">
                <a:lnSpc>
                  <a:spcPts val="1400"/>
                </a:lnSpc>
              </a:pPr>
              <a:r>
                <a:rPr lang="en-US" altLang="zh-TW" sz="1400" b="1" dirty="0">
                  <a:solidFill>
                    <a:schemeClr val="accent4"/>
                  </a:solidFill>
                </a:rPr>
                <a:t>f4</a:t>
              </a:r>
              <a:endParaRPr lang="zh-TW" altLang="en-US" sz="1400" b="1" baseline="-25000" dirty="0">
                <a:solidFill>
                  <a:schemeClr val="accent4"/>
                </a:solidFill>
              </a:endParaRPr>
            </a:p>
          </p:txBody>
        </p:sp>
        <p:sp>
          <p:nvSpPr>
            <p:cNvPr id="361" name="文字方塊 360">
              <a:extLst>
                <a:ext uri="{FF2B5EF4-FFF2-40B4-BE49-F238E27FC236}">
                  <a16:creationId xmlns:a16="http://schemas.microsoft.com/office/drawing/2014/main" id="{89E2B554-1E9D-542F-320A-5113401505CF}"/>
                </a:ext>
              </a:extLst>
            </p:cNvPr>
            <p:cNvSpPr txBox="1"/>
            <p:nvPr/>
          </p:nvSpPr>
          <p:spPr>
            <a:xfrm>
              <a:off x="3274548" y="3566144"/>
              <a:ext cx="187395" cy="18288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algn="ctr">
                <a:lnSpc>
                  <a:spcPts val="1400"/>
                </a:lnSpc>
              </a:pPr>
              <a:r>
                <a:rPr lang="az-Cyrl-AZ" altLang="zh-TW" sz="1400" b="1" dirty="0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Ꙩ</a:t>
              </a:r>
              <a:endParaRPr lang="zh-TW" altLang="en-US" sz="1400" b="1" baseline="-25000" dirty="0">
                <a:solidFill>
                  <a:schemeClr val="accent4"/>
                </a:solidFill>
              </a:endParaRPr>
            </a:p>
          </p:txBody>
        </p:sp>
      </p:grpSp>
      <p:grpSp>
        <p:nvGrpSpPr>
          <p:cNvPr id="400" name="群組 399">
            <a:extLst>
              <a:ext uri="{FF2B5EF4-FFF2-40B4-BE49-F238E27FC236}">
                <a16:creationId xmlns:a16="http://schemas.microsoft.com/office/drawing/2014/main" id="{678B9CFC-5C6F-CD91-2BD7-7779CABCD7C0}"/>
              </a:ext>
            </a:extLst>
          </p:cNvPr>
          <p:cNvGrpSpPr/>
          <p:nvPr/>
        </p:nvGrpSpPr>
        <p:grpSpPr>
          <a:xfrm>
            <a:off x="2810232" y="4244097"/>
            <a:ext cx="1423372" cy="193015"/>
            <a:chOff x="2636069" y="4580518"/>
            <a:chExt cx="1423372" cy="193015"/>
          </a:xfrm>
        </p:grpSpPr>
        <p:sp>
          <p:nvSpPr>
            <p:cNvPr id="380" name="文字方塊 379">
              <a:extLst>
                <a:ext uri="{FF2B5EF4-FFF2-40B4-BE49-F238E27FC236}">
                  <a16:creationId xmlns:a16="http://schemas.microsoft.com/office/drawing/2014/main" id="{3013227B-A0B4-E97B-5F66-456084D82003}"/>
                </a:ext>
              </a:extLst>
            </p:cNvPr>
            <p:cNvSpPr txBox="1"/>
            <p:nvPr/>
          </p:nvSpPr>
          <p:spPr>
            <a:xfrm>
              <a:off x="3668271" y="4590653"/>
              <a:ext cx="391170" cy="18288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algn="ctr">
                <a:lnSpc>
                  <a:spcPts val="1400"/>
                </a:lnSpc>
              </a:pPr>
              <a:r>
                <a:rPr lang="en-US" altLang="zh-TW" sz="1400" b="1" dirty="0">
                  <a:solidFill>
                    <a:schemeClr val="accent4">
                      <a:lumMod val="60000"/>
                      <a:lumOff val="40000"/>
                    </a:schemeClr>
                  </a:solidFill>
                  <a:ea typeface="ADLaM Display" panose="02010000000000000000" pitchFamily="2" charset="0"/>
                  <a:cs typeface="ADLaM Display" panose="02010000000000000000" pitchFamily="2" charset="0"/>
                </a:rPr>
                <a:t>= </a:t>
              </a:r>
              <a:r>
                <a:rPr lang="en-US" altLang="zh-TW" sz="1400" b="1" dirty="0">
                  <a:solidFill>
                    <a:schemeClr val="accent4"/>
                  </a:solidFill>
                  <a:ea typeface="ADLaM Display" panose="02010000000000000000" pitchFamily="2" charset="0"/>
                  <a:cs typeface="ADLaM Display" panose="02010000000000000000" pitchFamily="2" charset="0"/>
                </a:rPr>
                <a:t>h4</a:t>
              </a:r>
              <a:endParaRPr lang="zh-TW" altLang="en-US" sz="1400" b="1" baseline="-25000" dirty="0">
                <a:solidFill>
                  <a:schemeClr val="accent4"/>
                </a:solidFill>
              </a:endParaRPr>
            </a:p>
          </p:txBody>
        </p:sp>
        <p:sp>
          <p:nvSpPr>
            <p:cNvPr id="384" name="文字方塊 383">
              <a:extLst>
                <a:ext uri="{FF2B5EF4-FFF2-40B4-BE49-F238E27FC236}">
                  <a16:creationId xmlns:a16="http://schemas.microsoft.com/office/drawing/2014/main" id="{D9E098ED-B1A0-4BB9-A0AB-BB889550DB95}"/>
                </a:ext>
              </a:extLst>
            </p:cNvPr>
            <p:cNvSpPr txBox="1"/>
            <p:nvPr/>
          </p:nvSpPr>
          <p:spPr>
            <a:xfrm>
              <a:off x="3016082" y="4580518"/>
              <a:ext cx="654556" cy="193015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algn="ctr">
                <a:lnSpc>
                  <a:spcPts val="1400"/>
                </a:lnSpc>
              </a:pPr>
              <a:r>
                <a:rPr lang="en-US" altLang="zh-TW" sz="1400" b="1" dirty="0">
                  <a:solidFill>
                    <a:schemeClr val="accent4">
                      <a:lumMod val="60000"/>
                      <a:lumOff val="40000"/>
                    </a:schemeClr>
                  </a:solidFill>
                  <a:ea typeface="ADLaM Display" panose="02010000000000000000" pitchFamily="2" charset="0"/>
                  <a:cs typeface="ADLaM Display" panose="02010000000000000000" pitchFamily="2" charset="0"/>
                </a:rPr>
                <a:t> </a:t>
              </a:r>
              <a:r>
                <a:rPr lang="en-US" altLang="zh-TW" sz="1400" b="1" dirty="0">
                  <a:solidFill>
                    <a:schemeClr val="accent4">
                      <a:lumMod val="60000"/>
                      <a:lumOff val="40000"/>
                    </a:schemeClr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tanh</a:t>
              </a:r>
              <a:r>
                <a:rPr lang="en-US" altLang="zh-TW" sz="1400" b="1" dirty="0">
                  <a:solidFill>
                    <a:schemeClr val="accent4">
                      <a:lumMod val="60000"/>
                      <a:lumOff val="40000"/>
                    </a:schemeClr>
                  </a:solidFill>
                  <a:ea typeface="ADLaM Display" panose="02010000000000000000" pitchFamily="2" charset="0"/>
                  <a:cs typeface="ADLaM Display" panose="02010000000000000000" pitchFamily="2" charset="0"/>
                </a:rPr>
                <a:t>(</a:t>
              </a:r>
              <a:r>
                <a:rPr lang="en-US" altLang="zh-TW" sz="1400" b="1" dirty="0">
                  <a:solidFill>
                    <a:schemeClr val="accent4"/>
                  </a:solidFill>
                  <a:ea typeface="ADLaM Display" panose="02010000000000000000" pitchFamily="2" charset="0"/>
                  <a:cs typeface="ADLaM Display" panose="02010000000000000000" pitchFamily="2" charset="0"/>
                </a:rPr>
                <a:t>C4</a:t>
              </a:r>
              <a:r>
                <a:rPr lang="en-US" altLang="zh-TW" sz="1400" b="1" dirty="0">
                  <a:solidFill>
                    <a:schemeClr val="accent4">
                      <a:lumMod val="60000"/>
                      <a:lumOff val="40000"/>
                    </a:schemeClr>
                  </a:solidFill>
                  <a:ea typeface="ADLaM Display" panose="02010000000000000000" pitchFamily="2" charset="0"/>
                  <a:cs typeface="ADLaM Display" panose="02010000000000000000" pitchFamily="2" charset="0"/>
                </a:rPr>
                <a:t>)</a:t>
              </a:r>
              <a:endParaRPr lang="zh-TW" altLang="en-US" sz="1400" b="1" baseline="-25000" dirty="0">
                <a:solidFill>
                  <a:schemeClr val="accent4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385" name="文字方塊 384">
              <a:extLst>
                <a:ext uri="{FF2B5EF4-FFF2-40B4-BE49-F238E27FC236}">
                  <a16:creationId xmlns:a16="http://schemas.microsoft.com/office/drawing/2014/main" id="{B9032771-847E-7D05-A59B-E10CFADBB86E}"/>
                </a:ext>
              </a:extLst>
            </p:cNvPr>
            <p:cNvSpPr txBox="1"/>
            <p:nvPr/>
          </p:nvSpPr>
          <p:spPr>
            <a:xfrm>
              <a:off x="2636069" y="4590653"/>
              <a:ext cx="312122" cy="18288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algn="ctr">
                <a:lnSpc>
                  <a:spcPts val="1400"/>
                </a:lnSpc>
              </a:pPr>
              <a:r>
                <a:rPr lang="en-US" altLang="zh-TW" sz="1400" b="1" dirty="0">
                  <a:solidFill>
                    <a:schemeClr val="accent4"/>
                  </a:solidFill>
                </a:rPr>
                <a:t>O4</a:t>
              </a:r>
              <a:endParaRPr lang="zh-TW" altLang="en-US" sz="1400" b="1" baseline="-25000" dirty="0">
                <a:solidFill>
                  <a:schemeClr val="accent4"/>
                </a:solidFill>
              </a:endParaRPr>
            </a:p>
          </p:txBody>
        </p:sp>
        <p:sp>
          <p:nvSpPr>
            <p:cNvPr id="386" name="文字方塊 385">
              <a:extLst>
                <a:ext uri="{FF2B5EF4-FFF2-40B4-BE49-F238E27FC236}">
                  <a16:creationId xmlns:a16="http://schemas.microsoft.com/office/drawing/2014/main" id="{BEF18A3B-6F2A-C7EB-ABC2-B56A88322765}"/>
                </a:ext>
              </a:extLst>
            </p:cNvPr>
            <p:cNvSpPr txBox="1"/>
            <p:nvPr/>
          </p:nvSpPr>
          <p:spPr>
            <a:xfrm>
              <a:off x="2876183" y="4590653"/>
              <a:ext cx="187395" cy="18288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algn="ctr">
                <a:lnSpc>
                  <a:spcPts val="1400"/>
                </a:lnSpc>
              </a:pPr>
              <a:r>
                <a:rPr lang="az-Cyrl-AZ" altLang="zh-TW" sz="1400" b="1" dirty="0">
                  <a:solidFill>
                    <a:schemeClr val="accent4">
                      <a:lumMod val="60000"/>
                      <a:lumOff val="40000"/>
                    </a:schemeClr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Ꙩ</a:t>
              </a:r>
              <a:endParaRPr lang="zh-TW" altLang="en-US" sz="1400" b="1" baseline="-25000" dirty="0">
                <a:solidFill>
                  <a:schemeClr val="accent4"/>
                </a:solidFill>
              </a:endParaRPr>
            </a:p>
          </p:txBody>
        </p:sp>
      </p:grpSp>
      <p:sp>
        <p:nvSpPr>
          <p:cNvPr id="394" name="文字方塊 393">
            <a:extLst>
              <a:ext uri="{FF2B5EF4-FFF2-40B4-BE49-F238E27FC236}">
                <a16:creationId xmlns:a16="http://schemas.microsoft.com/office/drawing/2014/main" id="{05AB4175-609F-2C99-587F-458524FC6275}"/>
              </a:ext>
            </a:extLst>
          </p:cNvPr>
          <p:cNvSpPr txBox="1"/>
          <p:nvPr/>
        </p:nvSpPr>
        <p:spPr>
          <a:xfrm>
            <a:off x="3205818" y="3879371"/>
            <a:ext cx="339942" cy="165897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400" b="1" dirty="0">
                <a:solidFill>
                  <a:schemeClr val="accent4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= </a:t>
            </a:r>
            <a:r>
              <a:rPr lang="en-US" altLang="zh-TW" sz="1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O4</a:t>
            </a:r>
            <a:endParaRPr lang="zh-TW" altLang="en-US" sz="1400" b="1" baseline="-25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401" name="接點: 肘形 400">
            <a:extLst>
              <a:ext uri="{FF2B5EF4-FFF2-40B4-BE49-F238E27FC236}">
                <a16:creationId xmlns:a16="http://schemas.microsoft.com/office/drawing/2014/main" id="{5DC1FA8A-A973-2818-A492-E778176837C0}"/>
              </a:ext>
            </a:extLst>
          </p:cNvPr>
          <p:cNvCxnSpPr>
            <a:cxnSpLocks/>
            <a:stCxn id="394" idx="2"/>
          </p:cNvCxnSpPr>
          <p:nvPr/>
        </p:nvCxnSpPr>
        <p:spPr>
          <a:xfrm rot="5400000">
            <a:off x="3156340" y="4034783"/>
            <a:ext cx="208964" cy="229934"/>
          </a:xfrm>
          <a:prstGeom prst="bentConnector3">
            <a:avLst>
              <a:gd name="adj1" fmla="val 50000"/>
            </a:avLst>
          </a:prstGeom>
          <a:ln w="15875">
            <a:solidFill>
              <a:schemeClr val="accent4"/>
            </a:solidFill>
            <a:prstDash val="sysDot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4" name="矩形 273">
            <a:extLst>
              <a:ext uri="{FF2B5EF4-FFF2-40B4-BE49-F238E27FC236}">
                <a16:creationId xmlns:a16="http://schemas.microsoft.com/office/drawing/2014/main" id="{071D2768-FAD8-3B3B-2C79-EE9083B16E28}"/>
              </a:ext>
            </a:extLst>
          </p:cNvPr>
          <p:cNvSpPr/>
          <p:nvPr/>
        </p:nvSpPr>
        <p:spPr>
          <a:xfrm>
            <a:off x="1547665" y="5013176"/>
            <a:ext cx="1521742" cy="1334069"/>
          </a:xfrm>
          <a:prstGeom prst="rect">
            <a:avLst/>
          </a:prstGeom>
          <a:solidFill>
            <a:schemeClr val="accent4">
              <a:lumMod val="20000"/>
              <a:lumOff val="80000"/>
              <a:alpha val="20000"/>
            </a:schemeClr>
          </a:solidFill>
          <a:ln w="19050">
            <a:solidFill>
              <a:schemeClr val="accent4"/>
            </a:solidFill>
            <a:prstDash val="sysDot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200"/>
              </a:lnSpc>
            </a:pPr>
            <a:endParaRPr lang="en-US" altLang="zh-TW" sz="1000" dirty="0">
              <a:solidFill>
                <a:srgbClr val="FF0000"/>
              </a:solidFill>
              <a:ea typeface="微軟正黑體" panose="020B0604030504040204" pitchFamily="34" charset="-120"/>
            </a:endParaRPr>
          </a:p>
        </p:txBody>
      </p:sp>
      <p:sp>
        <p:nvSpPr>
          <p:cNvPr id="276" name="矩形 275">
            <a:extLst>
              <a:ext uri="{FF2B5EF4-FFF2-40B4-BE49-F238E27FC236}">
                <a16:creationId xmlns:a16="http://schemas.microsoft.com/office/drawing/2014/main" id="{B1E1564A-5C39-01A3-3052-1273C47189C1}"/>
              </a:ext>
            </a:extLst>
          </p:cNvPr>
          <p:cNvSpPr/>
          <p:nvPr/>
        </p:nvSpPr>
        <p:spPr>
          <a:xfrm>
            <a:off x="1403648" y="5818200"/>
            <a:ext cx="27432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600"/>
              </a:lnSpc>
            </a:pPr>
            <a:r>
              <a:rPr lang="en-US" altLang="zh-TW" sz="1400" b="1" dirty="0">
                <a:solidFill>
                  <a:schemeClr val="tx1"/>
                </a:solidFill>
                <a:ea typeface="微軟正黑體" panose="020B0604030504040204" pitchFamily="34" charset="-120"/>
              </a:rPr>
              <a:t>X</a:t>
            </a:r>
            <a:r>
              <a:rPr lang="en-US" altLang="zh-TW" sz="1400" b="1" baseline="-25000" dirty="0">
                <a:solidFill>
                  <a:schemeClr val="tx1"/>
                </a:solidFill>
                <a:ea typeface="微軟正黑體" panose="020B0604030504040204" pitchFamily="34" charset="-120"/>
              </a:rPr>
              <a:t>n-1</a:t>
            </a:r>
            <a:endParaRPr lang="en-US" altLang="zh-TW" sz="1400" b="1" dirty="0">
              <a:solidFill>
                <a:schemeClr val="tx1"/>
              </a:solidFill>
              <a:ea typeface="微軟正黑體" panose="020B0604030504040204" pitchFamily="34" charset="-120"/>
            </a:endParaRPr>
          </a:p>
        </p:txBody>
      </p:sp>
      <p:sp>
        <p:nvSpPr>
          <p:cNvPr id="277" name="矩形 276">
            <a:extLst>
              <a:ext uri="{FF2B5EF4-FFF2-40B4-BE49-F238E27FC236}">
                <a16:creationId xmlns:a16="http://schemas.microsoft.com/office/drawing/2014/main" id="{038FA1F8-7759-BA7D-94A9-BF2FCD8E227F}"/>
              </a:ext>
            </a:extLst>
          </p:cNvPr>
          <p:cNvSpPr/>
          <p:nvPr/>
        </p:nvSpPr>
        <p:spPr>
          <a:xfrm>
            <a:off x="2352942" y="5818200"/>
            <a:ext cx="27432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600"/>
              </a:lnSpc>
            </a:pPr>
            <a:r>
              <a:rPr lang="en-US" altLang="zh-TW" sz="1400" b="1" dirty="0">
                <a:solidFill>
                  <a:schemeClr val="tx1"/>
                </a:solidFill>
                <a:ea typeface="微軟正黑體" panose="020B0604030504040204" pitchFamily="34" charset="-120"/>
              </a:rPr>
              <a:t>H</a:t>
            </a:r>
          </a:p>
        </p:txBody>
      </p:sp>
      <p:cxnSp>
        <p:nvCxnSpPr>
          <p:cNvPr id="278" name="直線單箭頭接點 277">
            <a:extLst>
              <a:ext uri="{FF2B5EF4-FFF2-40B4-BE49-F238E27FC236}">
                <a16:creationId xmlns:a16="http://schemas.microsoft.com/office/drawing/2014/main" id="{C8150E48-D24A-F896-322F-56BD031CF3F1}"/>
              </a:ext>
            </a:extLst>
          </p:cNvPr>
          <p:cNvCxnSpPr>
            <a:cxnSpLocks/>
            <a:stCxn id="284" idx="2"/>
            <a:endCxn id="283" idx="0"/>
          </p:cNvCxnSpPr>
          <p:nvPr/>
        </p:nvCxnSpPr>
        <p:spPr>
          <a:xfrm>
            <a:off x="1986568" y="5359504"/>
            <a:ext cx="1" cy="187427"/>
          </a:xfrm>
          <a:prstGeom prst="straightConnector1">
            <a:avLst/>
          </a:prstGeom>
          <a:ln w="15875">
            <a:solidFill>
              <a:schemeClr val="tx2"/>
            </a:solidFill>
            <a:prstDash val="sysDot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9" name="矩形 278">
            <a:extLst>
              <a:ext uri="{FF2B5EF4-FFF2-40B4-BE49-F238E27FC236}">
                <a16:creationId xmlns:a16="http://schemas.microsoft.com/office/drawing/2014/main" id="{D8D66347-8CDE-D988-AF4E-D0F8B1C2ED4E}"/>
              </a:ext>
            </a:extLst>
          </p:cNvPr>
          <p:cNvSpPr/>
          <p:nvPr/>
        </p:nvSpPr>
        <p:spPr>
          <a:xfrm>
            <a:off x="3230750" y="5818325"/>
            <a:ext cx="27432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600"/>
              </a:lnSpc>
            </a:pPr>
            <a:r>
              <a:rPr lang="en-US" altLang="zh-TW" sz="1400" b="1" dirty="0">
                <a:solidFill>
                  <a:schemeClr val="tx1"/>
                </a:solidFill>
                <a:ea typeface="微軟正黑體" panose="020B0604030504040204" pitchFamily="34" charset="-120"/>
              </a:rPr>
              <a:t>X</a:t>
            </a:r>
            <a:r>
              <a:rPr lang="en-US" altLang="zh-TW" sz="1400" b="1" baseline="-25000" dirty="0">
                <a:solidFill>
                  <a:schemeClr val="tx1"/>
                </a:solidFill>
                <a:ea typeface="微軟正黑體" panose="020B0604030504040204" pitchFamily="34" charset="-120"/>
              </a:rPr>
              <a:t>n</a:t>
            </a:r>
            <a:endParaRPr lang="en-US" altLang="zh-TW" sz="1400" b="1" dirty="0">
              <a:solidFill>
                <a:schemeClr val="tx1"/>
              </a:solidFill>
              <a:ea typeface="微軟正黑體" panose="020B0604030504040204" pitchFamily="34" charset="-120"/>
            </a:endParaRPr>
          </a:p>
        </p:txBody>
      </p:sp>
      <p:cxnSp>
        <p:nvCxnSpPr>
          <p:cNvPr id="280" name="直線單箭頭接點 279">
            <a:extLst>
              <a:ext uri="{FF2B5EF4-FFF2-40B4-BE49-F238E27FC236}">
                <a16:creationId xmlns:a16="http://schemas.microsoft.com/office/drawing/2014/main" id="{C61301F1-EA43-54A9-33B3-E7EC6861289E}"/>
              </a:ext>
            </a:extLst>
          </p:cNvPr>
          <p:cNvCxnSpPr>
            <a:cxnSpLocks/>
            <a:stCxn id="277" idx="3"/>
            <a:endCxn id="279" idx="1"/>
          </p:cNvCxnSpPr>
          <p:nvPr/>
        </p:nvCxnSpPr>
        <p:spPr>
          <a:xfrm>
            <a:off x="2627262" y="6046800"/>
            <a:ext cx="603488" cy="125"/>
          </a:xfrm>
          <a:prstGeom prst="straightConnector1">
            <a:avLst/>
          </a:prstGeom>
          <a:ln w="25400">
            <a:solidFill>
              <a:schemeClr val="accent2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接點: 肘形 280">
            <a:extLst>
              <a:ext uri="{FF2B5EF4-FFF2-40B4-BE49-F238E27FC236}">
                <a16:creationId xmlns:a16="http://schemas.microsoft.com/office/drawing/2014/main" id="{89E4670A-525F-5D87-622C-1C0959C0EC8C}"/>
              </a:ext>
            </a:extLst>
          </p:cNvPr>
          <p:cNvCxnSpPr>
            <a:cxnSpLocks/>
            <a:stCxn id="282" idx="0"/>
            <a:endCxn id="284" idx="3"/>
          </p:cNvCxnSpPr>
          <p:nvPr/>
        </p:nvCxnSpPr>
        <p:spPr>
          <a:xfrm rot="16200000" flipV="1">
            <a:off x="2008524" y="5337549"/>
            <a:ext cx="525297" cy="294888"/>
          </a:xfrm>
          <a:prstGeom prst="bentConnector2">
            <a:avLst/>
          </a:prstGeom>
          <a:ln w="15875">
            <a:solidFill>
              <a:schemeClr val="tx2"/>
            </a:solidFill>
            <a:prstDash val="sysDot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2" name="矩形 281">
            <a:extLst>
              <a:ext uri="{FF2B5EF4-FFF2-40B4-BE49-F238E27FC236}">
                <a16:creationId xmlns:a16="http://schemas.microsoft.com/office/drawing/2014/main" id="{53590014-355F-590D-3EA8-3F9E7FAE30A7}"/>
              </a:ext>
            </a:extLst>
          </p:cNvPr>
          <p:cNvSpPr/>
          <p:nvPr/>
        </p:nvSpPr>
        <p:spPr>
          <a:xfrm>
            <a:off x="2281456" y="5747641"/>
            <a:ext cx="274320" cy="190663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600"/>
              </a:lnSpc>
            </a:pPr>
            <a:r>
              <a:rPr lang="en-US" altLang="zh-TW" sz="1400" b="1" dirty="0">
                <a:solidFill>
                  <a:schemeClr val="tx1"/>
                </a:solidFill>
                <a:ea typeface="微軟正黑體" panose="020B0604030504040204" pitchFamily="34" charset="-120"/>
              </a:rPr>
              <a:t>h</a:t>
            </a:r>
            <a:endParaRPr lang="en-US" altLang="zh-TW" sz="1400" b="1" baseline="-25000" dirty="0">
              <a:solidFill>
                <a:schemeClr val="tx1"/>
              </a:solidFill>
              <a:ea typeface="微軟正黑體" panose="020B0604030504040204" pitchFamily="34" charset="-120"/>
            </a:endParaRPr>
          </a:p>
        </p:txBody>
      </p:sp>
      <p:sp>
        <p:nvSpPr>
          <p:cNvPr id="283" name="矩形 282">
            <a:extLst>
              <a:ext uri="{FF2B5EF4-FFF2-40B4-BE49-F238E27FC236}">
                <a16:creationId xmlns:a16="http://schemas.microsoft.com/office/drawing/2014/main" id="{7C355137-E43A-A086-33FE-2F30D619C4E4}"/>
              </a:ext>
            </a:extLst>
          </p:cNvPr>
          <p:cNvSpPr/>
          <p:nvPr/>
        </p:nvSpPr>
        <p:spPr>
          <a:xfrm>
            <a:off x="1907705" y="5546931"/>
            <a:ext cx="157728" cy="178374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600"/>
              </a:lnSpc>
            </a:pPr>
            <a:r>
              <a:rPr lang="el-GR" altLang="zh-TW" sz="1400" b="1" dirty="0">
                <a:solidFill>
                  <a:schemeClr val="accent4"/>
                </a:solidFill>
                <a:cs typeface="Calibri" panose="020F0502020204030204" pitchFamily="34" charset="0"/>
              </a:rPr>
              <a:t>σ</a:t>
            </a:r>
            <a:endParaRPr lang="en-US" altLang="zh-TW" sz="1400" b="1" baseline="-25000" dirty="0">
              <a:solidFill>
                <a:schemeClr val="accent4"/>
              </a:solidFill>
              <a:ea typeface="微軟正黑體" panose="020B0604030504040204" pitchFamily="34" charset="-120"/>
            </a:endParaRPr>
          </a:p>
        </p:txBody>
      </p:sp>
      <p:sp>
        <p:nvSpPr>
          <p:cNvPr id="284" name="矩形 283">
            <a:extLst>
              <a:ext uri="{FF2B5EF4-FFF2-40B4-BE49-F238E27FC236}">
                <a16:creationId xmlns:a16="http://schemas.microsoft.com/office/drawing/2014/main" id="{69A79D37-4D83-271F-A58A-887493204A95}"/>
              </a:ext>
            </a:extLst>
          </p:cNvPr>
          <p:cNvSpPr/>
          <p:nvPr/>
        </p:nvSpPr>
        <p:spPr>
          <a:xfrm>
            <a:off x="1849408" y="5085184"/>
            <a:ext cx="274320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600"/>
              </a:lnSpc>
            </a:pPr>
            <a:r>
              <a:rPr lang="en-US" altLang="zh-TW" sz="1200" b="1" dirty="0">
                <a:solidFill>
                  <a:schemeClr val="tx1"/>
                </a:solidFill>
                <a:ea typeface="微軟正黑體" panose="020B0604030504040204" pitchFamily="34" charset="-120"/>
              </a:rPr>
              <a:t>U</a:t>
            </a:r>
            <a:r>
              <a:rPr lang="en-US" altLang="zh-TW" sz="1200" b="1" baseline="-25000" dirty="0">
                <a:solidFill>
                  <a:schemeClr val="tx1"/>
                </a:solidFill>
                <a:ea typeface="微軟正黑體" panose="020B0604030504040204" pitchFamily="34" charset="-120"/>
              </a:rPr>
              <a:t>t</a:t>
            </a:r>
          </a:p>
        </p:txBody>
      </p:sp>
      <p:sp>
        <p:nvSpPr>
          <p:cNvPr id="285" name="矩形 284">
            <a:extLst>
              <a:ext uri="{FF2B5EF4-FFF2-40B4-BE49-F238E27FC236}">
                <a16:creationId xmlns:a16="http://schemas.microsoft.com/office/drawing/2014/main" id="{4C7E1D27-3DD2-7473-57DC-C0F4E61B5279}"/>
              </a:ext>
            </a:extLst>
          </p:cNvPr>
          <p:cNvSpPr/>
          <p:nvPr/>
        </p:nvSpPr>
        <p:spPr>
          <a:xfrm>
            <a:off x="2718146" y="5636096"/>
            <a:ext cx="27432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600"/>
              </a:lnSpc>
            </a:pPr>
            <a:r>
              <a:rPr lang="en-US" altLang="zh-TW" sz="1400" b="1" dirty="0">
                <a:solidFill>
                  <a:schemeClr val="tx1"/>
                </a:solidFill>
                <a:ea typeface="微軟正黑體" panose="020B0604030504040204" pitchFamily="34" charset="-120"/>
              </a:rPr>
              <a:t>C</a:t>
            </a:r>
          </a:p>
        </p:txBody>
      </p:sp>
      <p:sp>
        <p:nvSpPr>
          <p:cNvPr id="286" name="矩形 285">
            <a:extLst>
              <a:ext uri="{FF2B5EF4-FFF2-40B4-BE49-F238E27FC236}">
                <a16:creationId xmlns:a16="http://schemas.microsoft.com/office/drawing/2014/main" id="{F8152F6A-5F26-2B22-6037-81083793B3D6}"/>
              </a:ext>
            </a:extLst>
          </p:cNvPr>
          <p:cNvSpPr/>
          <p:nvPr/>
        </p:nvSpPr>
        <p:spPr>
          <a:xfrm>
            <a:off x="2659850" y="5542593"/>
            <a:ext cx="274320" cy="190663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600"/>
              </a:lnSpc>
            </a:pPr>
            <a:r>
              <a:rPr lang="en-US" altLang="zh-TW" sz="1400" b="1" dirty="0">
                <a:solidFill>
                  <a:schemeClr val="tx1"/>
                </a:solidFill>
                <a:ea typeface="微軟正黑體" panose="020B0604030504040204" pitchFamily="34" charset="-120"/>
              </a:rPr>
              <a:t>c</a:t>
            </a:r>
            <a:endParaRPr lang="en-US" altLang="zh-TW" sz="1400" b="1" baseline="-25000" dirty="0">
              <a:solidFill>
                <a:schemeClr val="tx1"/>
              </a:solidFill>
              <a:ea typeface="微軟正黑體" panose="020B0604030504040204" pitchFamily="34" charset="-120"/>
            </a:endParaRPr>
          </a:p>
        </p:txBody>
      </p:sp>
      <p:cxnSp>
        <p:nvCxnSpPr>
          <p:cNvPr id="287" name="直線單箭頭接點 286">
            <a:extLst>
              <a:ext uri="{FF2B5EF4-FFF2-40B4-BE49-F238E27FC236}">
                <a16:creationId xmlns:a16="http://schemas.microsoft.com/office/drawing/2014/main" id="{9BDE83C7-862B-E97A-C073-03DA051D6066}"/>
              </a:ext>
            </a:extLst>
          </p:cNvPr>
          <p:cNvCxnSpPr>
            <a:cxnSpLocks/>
            <a:stCxn id="286" idx="1"/>
            <a:endCxn id="283" idx="3"/>
          </p:cNvCxnSpPr>
          <p:nvPr/>
        </p:nvCxnSpPr>
        <p:spPr>
          <a:xfrm flipH="1" flipV="1">
            <a:off x="2065433" y="5636118"/>
            <a:ext cx="594417" cy="1807"/>
          </a:xfrm>
          <a:prstGeom prst="straightConnector1">
            <a:avLst/>
          </a:prstGeom>
          <a:ln w="15875">
            <a:solidFill>
              <a:schemeClr val="accent4"/>
            </a:solidFill>
            <a:prstDash val="sysDot"/>
            <a:headEnd type="triangle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接點: 肘形 287">
            <a:extLst>
              <a:ext uri="{FF2B5EF4-FFF2-40B4-BE49-F238E27FC236}">
                <a16:creationId xmlns:a16="http://schemas.microsoft.com/office/drawing/2014/main" id="{36CC8CF1-E579-7E91-6984-41915E1A6A27}"/>
              </a:ext>
            </a:extLst>
          </p:cNvPr>
          <p:cNvCxnSpPr>
            <a:cxnSpLocks/>
            <a:stCxn id="286" idx="0"/>
            <a:endCxn id="284" idx="3"/>
          </p:cNvCxnSpPr>
          <p:nvPr/>
        </p:nvCxnSpPr>
        <p:spPr>
          <a:xfrm rot="16200000" flipV="1">
            <a:off x="2300245" y="5045828"/>
            <a:ext cx="320249" cy="673282"/>
          </a:xfrm>
          <a:prstGeom prst="bentConnector2">
            <a:avLst/>
          </a:prstGeom>
          <a:ln w="15875">
            <a:solidFill>
              <a:schemeClr val="tx2"/>
            </a:solidFill>
            <a:prstDash val="sysDot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接點: 肘形 288">
            <a:extLst>
              <a:ext uri="{FF2B5EF4-FFF2-40B4-BE49-F238E27FC236}">
                <a16:creationId xmlns:a16="http://schemas.microsoft.com/office/drawing/2014/main" id="{8B3A98BF-784B-284E-6DC0-9D74FE2C07B1}"/>
              </a:ext>
            </a:extLst>
          </p:cNvPr>
          <p:cNvCxnSpPr>
            <a:cxnSpLocks/>
            <a:stCxn id="276" idx="3"/>
            <a:endCxn id="283" idx="2"/>
          </p:cNvCxnSpPr>
          <p:nvPr/>
        </p:nvCxnSpPr>
        <p:spPr>
          <a:xfrm flipV="1">
            <a:off x="1677968" y="5725305"/>
            <a:ext cx="308601" cy="321495"/>
          </a:xfrm>
          <a:prstGeom prst="bentConnector2">
            <a:avLst/>
          </a:prstGeom>
          <a:ln w="15875">
            <a:solidFill>
              <a:schemeClr val="accent2"/>
            </a:solidFill>
            <a:prstDash val="sysDot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0" name="矩形 289">
            <a:extLst>
              <a:ext uri="{FF2B5EF4-FFF2-40B4-BE49-F238E27FC236}">
                <a16:creationId xmlns:a16="http://schemas.microsoft.com/office/drawing/2014/main" id="{8FD110E4-ECC6-061D-CCD7-7E646B6E6C18}"/>
              </a:ext>
            </a:extLst>
          </p:cNvPr>
          <p:cNvSpPr/>
          <p:nvPr/>
        </p:nvSpPr>
        <p:spPr>
          <a:xfrm>
            <a:off x="1852501" y="5902424"/>
            <a:ext cx="274320" cy="2743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600"/>
              </a:lnSpc>
            </a:pPr>
            <a:r>
              <a:rPr lang="en-US" altLang="zh-TW" sz="1200" b="1" dirty="0">
                <a:solidFill>
                  <a:schemeClr val="tx1"/>
                </a:solidFill>
                <a:ea typeface="微軟正黑體" panose="020B0604030504040204" pitchFamily="34" charset="-120"/>
              </a:rPr>
              <a:t>W</a:t>
            </a:r>
            <a:r>
              <a:rPr lang="en-US" altLang="zh-TW" sz="1200" b="1" baseline="-25000" dirty="0">
                <a:solidFill>
                  <a:schemeClr val="tx1"/>
                </a:solidFill>
                <a:ea typeface="微軟正黑體" panose="020B0604030504040204" pitchFamily="34" charset="-120"/>
              </a:rPr>
              <a:t>t</a:t>
            </a:r>
          </a:p>
        </p:txBody>
      </p:sp>
      <p:cxnSp>
        <p:nvCxnSpPr>
          <p:cNvPr id="291" name="接點: 肘形 290">
            <a:extLst>
              <a:ext uri="{FF2B5EF4-FFF2-40B4-BE49-F238E27FC236}">
                <a16:creationId xmlns:a16="http://schemas.microsoft.com/office/drawing/2014/main" id="{523D5D04-DA3B-1F24-D3CD-146D326AADC6}"/>
              </a:ext>
            </a:extLst>
          </p:cNvPr>
          <p:cNvCxnSpPr>
            <a:cxnSpLocks/>
            <a:stCxn id="283" idx="3"/>
            <a:endCxn id="282" idx="1"/>
          </p:cNvCxnSpPr>
          <p:nvPr/>
        </p:nvCxnSpPr>
        <p:spPr>
          <a:xfrm>
            <a:off x="2065433" y="5636118"/>
            <a:ext cx="216023" cy="206855"/>
          </a:xfrm>
          <a:prstGeom prst="bentConnector3">
            <a:avLst>
              <a:gd name="adj1" fmla="val 50000"/>
            </a:avLst>
          </a:prstGeom>
          <a:ln w="15875">
            <a:solidFill>
              <a:schemeClr val="accent4"/>
            </a:solidFill>
            <a:prstDash val="sysDot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3" name="語音泡泡: 圓角矩形 292">
            <a:extLst>
              <a:ext uri="{FF2B5EF4-FFF2-40B4-BE49-F238E27FC236}">
                <a16:creationId xmlns:a16="http://schemas.microsoft.com/office/drawing/2014/main" id="{BAB6774C-E066-B95E-DDF8-ECB34BBEEA36}"/>
              </a:ext>
            </a:extLst>
          </p:cNvPr>
          <p:cNvSpPr/>
          <p:nvPr/>
        </p:nvSpPr>
        <p:spPr>
          <a:xfrm>
            <a:off x="2888808" y="5133772"/>
            <a:ext cx="733900" cy="356236"/>
          </a:xfrm>
          <a:prstGeom prst="wedgeRoundRectCallout">
            <a:avLst>
              <a:gd name="adj1" fmla="val -31982"/>
              <a:gd name="adj2" fmla="val 85729"/>
              <a:gd name="adj3" fmla="val 16667"/>
            </a:avLst>
          </a:prstGeom>
          <a:solidFill>
            <a:schemeClr val="accent6">
              <a:lumMod val="20000"/>
              <a:lumOff val="80000"/>
              <a:alpha val="70000"/>
            </a:schemeClr>
          </a:solidFill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TW" sz="1400" dirty="0">
                <a:solidFill>
                  <a:schemeClr val="accent6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Long</a:t>
            </a:r>
            <a:endParaRPr lang="zh-TW" altLang="en-US" sz="1400" dirty="0">
              <a:solidFill>
                <a:schemeClr val="accent6">
                  <a:lumMod val="75000"/>
                </a:scheme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232A2E64-4989-26BC-680E-E0BBBFE04411}"/>
              </a:ext>
            </a:extLst>
          </p:cNvPr>
          <p:cNvGrpSpPr/>
          <p:nvPr/>
        </p:nvGrpSpPr>
        <p:grpSpPr>
          <a:xfrm>
            <a:off x="6298414" y="5473804"/>
            <a:ext cx="1252209" cy="628700"/>
            <a:chOff x="5696586" y="5581839"/>
            <a:chExt cx="1252209" cy="628700"/>
          </a:xfrm>
          <a:solidFill>
            <a:schemeClr val="bg1">
              <a:alpha val="80000"/>
            </a:schemeClr>
          </a:solidFill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85F080A9-3D21-2749-C54B-80AE08BB809B}"/>
                </a:ext>
              </a:extLst>
            </p:cNvPr>
            <p:cNvSpPr/>
            <p:nvPr/>
          </p:nvSpPr>
          <p:spPr>
            <a:xfrm>
              <a:off x="5708450" y="5581839"/>
              <a:ext cx="1240345" cy="418842"/>
            </a:xfrm>
            <a:prstGeom prst="rect">
              <a:avLst/>
            </a:prstGeom>
            <a:noFill/>
            <a:ln w="19050">
              <a:noFill/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t" anchorCtr="0">
              <a:noAutofit/>
            </a:bodyPr>
            <a:lstStyle/>
            <a:p>
              <a:pPr>
                <a:lnSpc>
                  <a:spcPts val="1600"/>
                </a:lnSpc>
              </a:pPr>
              <a:r>
                <a:rPr lang="en-US" altLang="zh-TW" sz="1200" b="1" dirty="0">
                  <a:solidFill>
                    <a:schemeClr val="tx2"/>
                  </a:solidFill>
                  <a:ea typeface="微軟正黑體" panose="020B0604030504040204" pitchFamily="34" charset="-120"/>
                </a:rPr>
                <a:t>Sigmoid Function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字方塊 6">
                  <a:extLst>
                    <a:ext uri="{FF2B5EF4-FFF2-40B4-BE49-F238E27FC236}">
                      <a16:creationId xmlns:a16="http://schemas.microsoft.com/office/drawing/2014/main" id="{D2471618-86C4-FBBE-7181-298DC31C73CD}"/>
                    </a:ext>
                  </a:extLst>
                </p:cNvPr>
                <p:cNvSpPr txBox="1"/>
                <p:nvPr/>
              </p:nvSpPr>
              <p:spPr>
                <a:xfrm>
                  <a:off x="5696586" y="5805264"/>
                  <a:ext cx="1240345" cy="405275"/>
                </a:xfrm>
                <a:prstGeom prst="rect">
                  <a:avLst/>
                </a:prstGeom>
                <a:grpFill/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m:rPr>
                            <m:sty m:val="p"/>
                          </m:rPr>
                          <a:rPr lang="el-GR" altLang="zh-TW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  <m:d>
                          <m:dPr>
                            <m:ctrlPr>
                              <a:rPr lang="en-US" altLang="zh-TW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TW" sz="1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TW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altLang="zh-TW" sz="1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1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a:rPr lang="en-US" altLang="zh-TW" sz="12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1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x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lang="zh-TW" altLang="en-US" sz="1200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7" name="文字方塊 6">
                  <a:extLst>
                    <a:ext uri="{FF2B5EF4-FFF2-40B4-BE49-F238E27FC236}">
                      <a16:creationId xmlns:a16="http://schemas.microsoft.com/office/drawing/2014/main" id="{D2471618-86C4-FBBE-7181-298DC31C73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96586" y="5805264"/>
                  <a:ext cx="1240345" cy="405275"/>
                </a:xfrm>
                <a:prstGeom prst="rect">
                  <a:avLst/>
                </a:prstGeom>
                <a:blipFill>
                  <a:blip r:embed="rId11"/>
                  <a:stretch>
                    <a:fillRect l="-2941" b="-606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D596469-84FF-2A12-9C89-8875BE341A6D}"/>
              </a:ext>
            </a:extLst>
          </p:cNvPr>
          <p:cNvSpPr txBox="1"/>
          <p:nvPr/>
        </p:nvSpPr>
        <p:spPr>
          <a:xfrm>
            <a:off x="1144797" y="3819589"/>
            <a:ext cx="365760" cy="15859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200"/>
              </a:lnSpc>
            </a:pPr>
            <a:r>
              <a:rPr lang="en-US" altLang="zh-TW" sz="1200" b="1" dirty="0"/>
              <a:t>1*3</a:t>
            </a:r>
            <a:endParaRPr lang="zh-TW" altLang="en-US" sz="1200" b="1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EB1B9B4A-EAEE-5F90-4718-751F218473EF}"/>
              </a:ext>
            </a:extLst>
          </p:cNvPr>
          <p:cNvSpPr txBox="1"/>
          <p:nvPr/>
        </p:nvSpPr>
        <p:spPr>
          <a:xfrm>
            <a:off x="5216322" y="3826347"/>
            <a:ext cx="365760" cy="15859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200"/>
              </a:lnSpc>
            </a:pPr>
            <a:r>
              <a:rPr lang="en-US" altLang="zh-TW" sz="1200" b="1" dirty="0"/>
              <a:t>1*2</a:t>
            </a:r>
            <a:endParaRPr lang="zh-TW" altLang="en-US" sz="1200" b="1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C6276F62-C8A0-6CB4-BB7C-2B8CD11B8B89}"/>
              </a:ext>
            </a:extLst>
          </p:cNvPr>
          <p:cNvSpPr txBox="1"/>
          <p:nvPr/>
        </p:nvSpPr>
        <p:spPr>
          <a:xfrm>
            <a:off x="5864394" y="3826347"/>
            <a:ext cx="365760" cy="15859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200"/>
              </a:lnSpc>
            </a:pPr>
            <a:r>
              <a:rPr lang="en-US" altLang="zh-TW" sz="1200" b="1" dirty="0"/>
              <a:t>1*2</a:t>
            </a:r>
            <a:endParaRPr lang="zh-TW" altLang="en-US" sz="1200" b="1" dirty="0"/>
          </a:p>
        </p:txBody>
      </p:sp>
      <p:sp>
        <p:nvSpPr>
          <p:cNvPr id="8" name="箭號: 向下 7">
            <a:extLst>
              <a:ext uri="{FF2B5EF4-FFF2-40B4-BE49-F238E27FC236}">
                <a16:creationId xmlns:a16="http://schemas.microsoft.com/office/drawing/2014/main" id="{F7694204-971E-60AA-6EA4-970D11771CB6}"/>
              </a:ext>
            </a:extLst>
          </p:cNvPr>
          <p:cNvSpPr/>
          <p:nvPr/>
        </p:nvSpPr>
        <p:spPr>
          <a:xfrm>
            <a:off x="1206865" y="2937683"/>
            <a:ext cx="223136" cy="520840"/>
          </a:xfrm>
          <a:prstGeom prst="downArrow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40000"/>
                </a:schemeClr>
              </a:gs>
              <a:gs pos="15000">
                <a:schemeClr val="bg1"/>
              </a:gs>
              <a:gs pos="83000">
                <a:schemeClr val="accent2"/>
              </a:gs>
              <a:gs pos="100000">
                <a:schemeClr val="accent2"/>
              </a:gs>
            </a:gsLst>
            <a:lin ang="5400000" scaled="1"/>
            <a:tileRect/>
          </a:gradFill>
          <a:ln w="12700" cap="flat" cmpd="sng" algn="ctr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0">
                  <a:schemeClr val="bg1"/>
                </a:gs>
                <a:gs pos="83000">
                  <a:schemeClr val="accent2"/>
                </a:gs>
                <a:gs pos="100000">
                  <a:srgbClr val="FF0000"/>
                </a:gs>
              </a:gsLst>
              <a:lin ang="5400000" scaled="1"/>
            </a:gra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2" name="左大括弧 11">
            <a:extLst>
              <a:ext uri="{FF2B5EF4-FFF2-40B4-BE49-F238E27FC236}">
                <a16:creationId xmlns:a16="http://schemas.microsoft.com/office/drawing/2014/main" id="{607750DE-1431-85EB-AC83-0DAA792F1DFA}"/>
              </a:ext>
            </a:extLst>
          </p:cNvPr>
          <p:cNvSpPr/>
          <p:nvPr/>
        </p:nvSpPr>
        <p:spPr>
          <a:xfrm>
            <a:off x="395536" y="2323949"/>
            <a:ext cx="120537" cy="1295725"/>
          </a:xfrm>
          <a:prstGeom prst="leftBrace">
            <a:avLst>
              <a:gd name="adj1" fmla="val 41469"/>
              <a:gd name="adj2" fmla="val 50000"/>
            </a:avLst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D726659F-FED3-5403-42FC-48EAAF8C58A9}"/>
              </a:ext>
            </a:extLst>
          </p:cNvPr>
          <p:cNvSpPr txBox="1"/>
          <p:nvPr/>
        </p:nvSpPr>
        <p:spPr>
          <a:xfrm>
            <a:off x="71481" y="2894466"/>
            <a:ext cx="295480" cy="15859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200"/>
              </a:lnSpc>
            </a:pPr>
            <a:r>
              <a:rPr lang="en-US" altLang="zh-TW" sz="1200" b="1" dirty="0"/>
              <a:t>T = 4</a:t>
            </a:r>
            <a:endParaRPr lang="zh-TW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005006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2E1FC-954E-4851-B5E5-4B3914093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A8B9D399-18EA-2438-0644-69D112C1EAFB}"/>
              </a:ext>
            </a:extLst>
          </p:cNvPr>
          <p:cNvSpPr/>
          <p:nvPr/>
        </p:nvSpPr>
        <p:spPr>
          <a:xfrm>
            <a:off x="5680907" y="4266237"/>
            <a:ext cx="547277" cy="708839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600"/>
              </a:lnSpc>
            </a:pPr>
            <a:r>
              <a:rPr lang="en-US" altLang="zh-TW" sz="1400" b="1" dirty="0">
                <a:solidFill>
                  <a:schemeClr val="tx1"/>
                </a:solidFill>
                <a:ea typeface="微軟正黑體" panose="020B0604030504040204" pitchFamily="34" charset="-120"/>
              </a:rPr>
              <a:t>X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754F19F-3CB2-C8C7-CD09-C9D9C6962E05}"/>
              </a:ext>
            </a:extLst>
          </p:cNvPr>
          <p:cNvSpPr/>
          <p:nvPr/>
        </p:nvSpPr>
        <p:spPr>
          <a:xfrm>
            <a:off x="5693702" y="4267363"/>
            <a:ext cx="114638" cy="707713"/>
          </a:xfrm>
          <a:prstGeom prst="rect">
            <a:avLst/>
          </a:prstGeom>
          <a:solidFill>
            <a:schemeClr val="accent6">
              <a:lumMod val="40000"/>
              <a:lumOff val="60000"/>
              <a:alpha val="20000"/>
            </a:schemeClr>
          </a:solidFill>
          <a:ln w="15875">
            <a:solidFill>
              <a:schemeClr val="accent6"/>
            </a:solidFill>
            <a:prstDash val="sysDot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500"/>
              </a:lnSpc>
            </a:pPr>
            <a:endParaRPr lang="en-US" altLang="zh-TW" sz="1400" b="1" baseline="-25000" dirty="0">
              <a:solidFill>
                <a:schemeClr val="accent2"/>
              </a:solidFill>
              <a:ea typeface="微軟正黑體" panose="020B0604030504040204" pitchFamily="34" charset="-120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3A371627-2129-1CD8-EEF3-68E2865946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0996401"/>
              </p:ext>
            </p:extLst>
          </p:nvPr>
        </p:nvGraphicFramePr>
        <p:xfrm>
          <a:off x="1623654" y="2633783"/>
          <a:ext cx="236077" cy="12921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077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</a:tblGrid>
              <a:tr h="18459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t=1</a:t>
                      </a:r>
                      <a:endParaRPr lang="zh-TW" altLang="en-US" sz="10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96678"/>
                  </a:ext>
                </a:extLst>
              </a:tr>
              <a:tr h="184594"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225911"/>
                  </a:ext>
                </a:extLst>
              </a:tr>
              <a:tr h="18459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t=2</a:t>
                      </a:r>
                      <a:endParaRPr lang="zh-TW" altLang="en-US" sz="10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971003"/>
                  </a:ext>
                </a:extLst>
              </a:tr>
              <a:tr h="184594"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384225"/>
                  </a:ext>
                </a:extLst>
              </a:tr>
              <a:tr h="18459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t=3</a:t>
                      </a:r>
                      <a:endParaRPr lang="zh-TW" altLang="en-US" sz="10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019256"/>
                  </a:ext>
                </a:extLst>
              </a:tr>
              <a:tr h="184594"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641310"/>
                  </a:ext>
                </a:extLst>
              </a:tr>
              <a:tr h="18459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t=4</a:t>
                      </a:r>
                      <a:endParaRPr lang="zh-TW" altLang="en-US" sz="10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904019"/>
                  </a:ext>
                </a:extLst>
              </a:tr>
            </a:tbl>
          </a:graphicData>
        </a:graphic>
      </p:graphicFrame>
      <p:sp>
        <p:nvSpPr>
          <p:cNvPr id="124" name="矩形 123">
            <a:extLst>
              <a:ext uri="{FF2B5EF4-FFF2-40B4-BE49-F238E27FC236}">
                <a16:creationId xmlns:a16="http://schemas.microsoft.com/office/drawing/2014/main" id="{D768AF2D-7E38-DF71-F863-EC7C0D0FBF2F}"/>
              </a:ext>
            </a:extLst>
          </p:cNvPr>
          <p:cNvSpPr/>
          <p:nvPr/>
        </p:nvSpPr>
        <p:spPr>
          <a:xfrm>
            <a:off x="1533952" y="4938637"/>
            <a:ext cx="1089818" cy="1505565"/>
          </a:xfrm>
          <a:prstGeom prst="rect">
            <a:avLst/>
          </a:prstGeom>
          <a:solidFill>
            <a:schemeClr val="accent4">
              <a:lumMod val="20000"/>
              <a:lumOff val="80000"/>
              <a:alpha val="20000"/>
            </a:schemeClr>
          </a:solidFill>
          <a:ln w="19050">
            <a:solidFill>
              <a:schemeClr val="accent4"/>
            </a:solidFill>
            <a:prstDash val="sysDot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0" bIns="0" rtlCol="0" anchor="t" anchorCtr="0"/>
          <a:lstStyle/>
          <a:p>
            <a:pPr>
              <a:lnSpc>
                <a:spcPts val="1200"/>
              </a:lnSpc>
            </a:pPr>
            <a:r>
              <a:rPr lang="en-US" altLang="zh-TW" sz="1000" b="1" dirty="0">
                <a:solidFill>
                  <a:schemeClr val="accent4">
                    <a:lumMod val="75000"/>
                  </a:schemeClr>
                </a:solidFill>
                <a:ea typeface="微軟正黑體" panose="020B0604030504040204" pitchFamily="34" charset="-120"/>
              </a:rPr>
              <a:t>GPU</a:t>
            </a:r>
          </a:p>
          <a:p>
            <a:pPr>
              <a:lnSpc>
                <a:spcPts val="1200"/>
              </a:lnSpc>
            </a:pPr>
            <a:r>
              <a:rPr lang="en-US" altLang="zh-TW" sz="1000" b="1" dirty="0">
                <a:solidFill>
                  <a:schemeClr val="accent4">
                    <a:lumMod val="75000"/>
                  </a:schemeClr>
                </a:solidFill>
                <a:ea typeface="微軟正黑體" panose="020B0604030504040204" pitchFamily="34" charset="-120"/>
              </a:rPr>
              <a:t>parallelism</a:t>
            </a:r>
          </a:p>
        </p:txBody>
      </p:sp>
      <p:cxnSp>
        <p:nvCxnSpPr>
          <p:cNvPr id="84" name="接點: 肘形 83">
            <a:extLst>
              <a:ext uri="{FF2B5EF4-FFF2-40B4-BE49-F238E27FC236}">
                <a16:creationId xmlns:a16="http://schemas.microsoft.com/office/drawing/2014/main" id="{8F443832-6634-CC95-EFEB-76CC61FD2CA3}"/>
              </a:ext>
            </a:extLst>
          </p:cNvPr>
          <p:cNvCxnSpPr>
            <a:cxnSpLocks/>
            <a:stCxn id="145" idx="3"/>
            <a:endCxn id="126" idx="0"/>
          </p:cNvCxnSpPr>
          <p:nvPr/>
        </p:nvCxnSpPr>
        <p:spPr>
          <a:xfrm>
            <a:off x="2110016" y="5496182"/>
            <a:ext cx="411214" cy="276694"/>
          </a:xfrm>
          <a:prstGeom prst="bentConnector2">
            <a:avLst/>
          </a:prstGeom>
          <a:ln w="15875">
            <a:solidFill>
              <a:schemeClr val="accent4">
                <a:lumMod val="75000"/>
              </a:schemeClr>
            </a:solidFill>
            <a:prstDash val="sysDot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A4E4C2DD-DA9F-4C94-3335-3160B11006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4473992"/>
              </p:ext>
            </p:extLst>
          </p:nvPr>
        </p:nvGraphicFramePr>
        <p:xfrm>
          <a:off x="2612067" y="2657773"/>
          <a:ext cx="1681896" cy="1276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577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198577">
                  <a:extLst>
                    <a:ext uri="{9D8B030D-6E8A-4147-A177-3AD203B41FA5}">
                      <a16:colId xmlns:a16="http://schemas.microsoft.com/office/drawing/2014/main" val="4108446047"/>
                    </a:ext>
                  </a:extLst>
                </a:gridCol>
                <a:gridCol w="198577">
                  <a:extLst>
                    <a:ext uri="{9D8B030D-6E8A-4147-A177-3AD203B41FA5}">
                      <a16:colId xmlns:a16="http://schemas.microsoft.com/office/drawing/2014/main" val="1986383383"/>
                    </a:ext>
                  </a:extLst>
                </a:gridCol>
                <a:gridCol w="198577">
                  <a:extLst>
                    <a:ext uri="{9D8B030D-6E8A-4147-A177-3AD203B41FA5}">
                      <a16:colId xmlns:a16="http://schemas.microsoft.com/office/drawing/2014/main" val="3805389299"/>
                    </a:ext>
                  </a:extLst>
                </a:gridCol>
                <a:gridCol w="178992">
                  <a:extLst>
                    <a:ext uri="{9D8B030D-6E8A-4147-A177-3AD203B41FA5}">
                      <a16:colId xmlns:a16="http://schemas.microsoft.com/office/drawing/2014/main" val="4066581974"/>
                    </a:ext>
                  </a:extLst>
                </a:gridCol>
                <a:gridCol w="177149">
                  <a:extLst>
                    <a:ext uri="{9D8B030D-6E8A-4147-A177-3AD203B41FA5}">
                      <a16:colId xmlns:a16="http://schemas.microsoft.com/office/drawing/2014/main" val="1508433019"/>
                    </a:ext>
                  </a:extLst>
                </a:gridCol>
                <a:gridCol w="177149">
                  <a:extLst>
                    <a:ext uri="{9D8B030D-6E8A-4147-A177-3AD203B41FA5}">
                      <a16:colId xmlns:a16="http://schemas.microsoft.com/office/drawing/2014/main" val="1970694898"/>
                    </a:ext>
                  </a:extLst>
                </a:gridCol>
                <a:gridCol w="177149">
                  <a:extLst>
                    <a:ext uri="{9D8B030D-6E8A-4147-A177-3AD203B41FA5}">
                      <a16:colId xmlns:a16="http://schemas.microsoft.com/office/drawing/2014/main" val="1823401774"/>
                    </a:ext>
                  </a:extLst>
                </a:gridCol>
                <a:gridCol w="177149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</a:tblGrid>
              <a:tr h="18232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16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24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32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31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1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96678"/>
                  </a:ext>
                </a:extLst>
              </a:tr>
              <a:tr h="182326"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225911"/>
                  </a:ext>
                </a:extLst>
              </a:tr>
              <a:tr h="18232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18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24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34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28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971003"/>
                  </a:ext>
                </a:extLst>
              </a:tr>
              <a:tr h="182326"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z-Cyrl-AZ" altLang="zh-TW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Ꙩ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384225"/>
                  </a:ext>
                </a:extLst>
              </a:tr>
              <a:tr h="18232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12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20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22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29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019256"/>
                  </a:ext>
                </a:extLst>
              </a:tr>
              <a:tr h="182326"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641310"/>
                  </a:ext>
                </a:extLst>
              </a:tr>
              <a:tr h="18232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11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20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22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28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904019"/>
                  </a:ext>
                </a:extLst>
              </a:tr>
            </a:tbl>
          </a:graphicData>
        </a:graphic>
      </p:graphicFrame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15E45F6B-A916-9975-2772-A70378D9C8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7232341"/>
              </p:ext>
            </p:extLst>
          </p:nvPr>
        </p:nvGraphicFramePr>
        <p:xfrm>
          <a:off x="4406696" y="2649659"/>
          <a:ext cx="724420" cy="1276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105">
                  <a:extLst>
                    <a:ext uri="{9D8B030D-6E8A-4147-A177-3AD203B41FA5}">
                      <a16:colId xmlns:a16="http://schemas.microsoft.com/office/drawing/2014/main" val="1508433019"/>
                    </a:ext>
                  </a:extLst>
                </a:gridCol>
                <a:gridCol w="181105">
                  <a:extLst>
                    <a:ext uri="{9D8B030D-6E8A-4147-A177-3AD203B41FA5}">
                      <a16:colId xmlns:a16="http://schemas.microsoft.com/office/drawing/2014/main" val="1970694898"/>
                    </a:ext>
                  </a:extLst>
                </a:gridCol>
                <a:gridCol w="181105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181105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18232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96678"/>
                  </a:ext>
                </a:extLst>
              </a:tr>
              <a:tr h="182326"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225911"/>
                  </a:ext>
                </a:extLst>
              </a:tr>
              <a:tr h="18232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971003"/>
                  </a:ext>
                </a:extLst>
              </a:tr>
              <a:tr h="182326"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=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384225"/>
                  </a:ext>
                </a:extLst>
              </a:tr>
              <a:tr h="18232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019256"/>
                  </a:ext>
                </a:extLst>
              </a:tr>
              <a:tr h="182326"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641310"/>
                  </a:ext>
                </a:extLst>
              </a:tr>
              <a:tr h="18232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904019"/>
                  </a:ext>
                </a:extLst>
              </a:tr>
            </a:tbl>
          </a:graphicData>
        </a:graphic>
      </p:graphicFrame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9987F561-B119-663F-2EE6-7CC8B85849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5596911"/>
              </p:ext>
            </p:extLst>
          </p:nvPr>
        </p:nvGraphicFramePr>
        <p:xfrm>
          <a:off x="5131117" y="2649660"/>
          <a:ext cx="665019" cy="1276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23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18748">
                  <a:extLst>
                    <a:ext uri="{9D8B030D-6E8A-4147-A177-3AD203B41FA5}">
                      <a16:colId xmlns:a16="http://schemas.microsoft.com/office/drawing/2014/main" val="1823401774"/>
                    </a:ext>
                  </a:extLst>
                </a:gridCol>
                <a:gridCol w="218748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</a:tblGrid>
              <a:tr h="18232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cs typeface="ADLaM Display" panose="02010000000000000000" pitchFamily="2" charset="0"/>
                        </a:rPr>
                        <a:t>16</a:t>
                      </a:r>
                      <a:endParaRPr lang="zh-TW" altLang="en-US" sz="1000" b="1" dirty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cs typeface="ADLaM Display" panose="02010000000000000000" pitchFamily="2" charset="0"/>
                        </a:rPr>
                        <a:t>16</a:t>
                      </a:r>
                      <a:endParaRPr lang="zh-TW" altLang="en-US" sz="1000" b="1" dirty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cs typeface="ADLaM Display" panose="02010000000000000000" pitchFamily="2" charset="0"/>
                        </a:rPr>
                        <a:t>32</a:t>
                      </a:r>
                      <a:endParaRPr lang="zh-TW" altLang="en-US" sz="1000" b="1" dirty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96678"/>
                  </a:ext>
                </a:extLst>
              </a:tr>
              <a:tr h="182326">
                <a:tc>
                  <a:txBody>
                    <a:bodyPr/>
                    <a:lstStyle/>
                    <a:p>
                      <a:pPr algn="ctr"/>
                      <a:endParaRPr lang="zh-TW" altLang="en-US" sz="1000" b="1" dirty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1" dirty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1" dirty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225911"/>
                  </a:ext>
                </a:extLst>
              </a:tr>
              <a:tr h="18232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cs typeface="ADLaM Display" panose="02010000000000000000" pitchFamily="2" charset="0"/>
                        </a:rPr>
                        <a:t>66</a:t>
                      </a:r>
                      <a:endParaRPr lang="zh-TW" altLang="en-US" sz="1000" b="1" dirty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cs typeface="ADLaM Display" panose="02010000000000000000" pitchFamily="2" charset="0"/>
                        </a:rPr>
                        <a:t>42</a:t>
                      </a:r>
                      <a:endParaRPr lang="zh-TW" altLang="en-US" sz="1000" b="1" dirty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cs typeface="ADLaM Display" panose="02010000000000000000" pitchFamily="2" charset="0"/>
                        </a:rPr>
                        <a:t>60</a:t>
                      </a:r>
                      <a:endParaRPr lang="zh-TW" altLang="en-US" sz="1000" b="1" dirty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971003"/>
                  </a:ext>
                </a:extLst>
              </a:tr>
              <a:tr h="182326">
                <a:tc>
                  <a:txBody>
                    <a:bodyPr/>
                    <a:lstStyle/>
                    <a:p>
                      <a:pPr algn="ctr"/>
                      <a:endParaRPr lang="zh-TW" altLang="en-US" sz="1000" b="1" dirty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1" dirty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1" dirty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384225"/>
                  </a:ext>
                </a:extLst>
              </a:tr>
              <a:tr h="18232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cs typeface="ADLaM Display" panose="02010000000000000000" pitchFamily="2" charset="0"/>
                        </a:rPr>
                        <a:t>74</a:t>
                      </a:r>
                      <a:endParaRPr lang="zh-TW" altLang="en-US" sz="1000" b="1" dirty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cs typeface="ADLaM Display" panose="02010000000000000000" pitchFamily="2" charset="0"/>
                        </a:rPr>
                        <a:t>76</a:t>
                      </a:r>
                      <a:endParaRPr lang="zh-TW" altLang="en-US" sz="1000" b="1" dirty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cs typeface="ADLaM Display" panose="02010000000000000000" pitchFamily="2" charset="0"/>
                        </a:rPr>
                        <a:t>66</a:t>
                      </a:r>
                      <a:endParaRPr lang="zh-TW" altLang="en-US" sz="1000" b="1" dirty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019256"/>
                  </a:ext>
                </a:extLst>
              </a:tr>
              <a:tr h="182326">
                <a:tc>
                  <a:txBody>
                    <a:bodyPr/>
                    <a:lstStyle/>
                    <a:p>
                      <a:pPr algn="ctr"/>
                      <a:endParaRPr lang="zh-TW" altLang="en-US" sz="1000" b="1" dirty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1" dirty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1" dirty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641310"/>
                  </a:ext>
                </a:extLst>
              </a:tr>
              <a:tr h="18232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cs typeface="ADLaM Display" panose="02010000000000000000" pitchFamily="2" charset="0"/>
                        </a:rPr>
                        <a:t>101</a:t>
                      </a:r>
                      <a:endParaRPr lang="zh-TW" altLang="en-US" sz="1000" b="1" dirty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cs typeface="ADLaM Display" panose="02010000000000000000" pitchFamily="2" charset="0"/>
                        </a:rPr>
                        <a:t>159</a:t>
                      </a:r>
                      <a:endParaRPr lang="zh-TW" altLang="en-US" sz="1000" b="1" dirty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cs typeface="ADLaM Display" panose="02010000000000000000" pitchFamily="2" charset="0"/>
                        </a:rPr>
                        <a:t>92</a:t>
                      </a:r>
                      <a:endParaRPr lang="zh-TW" altLang="en-US" sz="1000" b="1" dirty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904019"/>
                  </a:ext>
                </a:extLst>
              </a:tr>
            </a:tbl>
          </a:graphicData>
        </a:graphic>
      </p:graphicFrame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C05BFBB7-38E4-72AF-90CB-0BA8048D0B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2328938"/>
              </p:ext>
            </p:extLst>
          </p:nvPr>
        </p:nvGraphicFramePr>
        <p:xfrm>
          <a:off x="1917886" y="2649660"/>
          <a:ext cx="565882" cy="1276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282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181800">
                  <a:extLst>
                    <a:ext uri="{9D8B030D-6E8A-4147-A177-3AD203B41FA5}">
                      <a16:colId xmlns:a16="http://schemas.microsoft.com/office/drawing/2014/main" val="1823401774"/>
                    </a:ext>
                  </a:extLst>
                </a:gridCol>
                <a:gridCol w="181800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</a:tblGrid>
              <a:tr h="18232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96678"/>
                  </a:ext>
                </a:extLst>
              </a:tr>
              <a:tr h="182326"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225911"/>
                  </a:ext>
                </a:extLst>
              </a:tr>
              <a:tr h="18232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971003"/>
                  </a:ext>
                </a:extLst>
              </a:tr>
              <a:tr h="182326"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384225"/>
                  </a:ext>
                </a:extLst>
              </a:tr>
              <a:tr h="18232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019256"/>
                  </a:ext>
                </a:extLst>
              </a:tr>
              <a:tr h="182326"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641310"/>
                  </a:ext>
                </a:extLst>
              </a:tr>
              <a:tr h="18232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904019"/>
                  </a:ext>
                </a:extLst>
              </a:tr>
            </a:tbl>
          </a:graphicData>
        </a:graphic>
      </p:graphicFrame>
      <p:sp>
        <p:nvSpPr>
          <p:cNvPr id="44" name="文字方塊 43">
            <a:extLst>
              <a:ext uri="{FF2B5EF4-FFF2-40B4-BE49-F238E27FC236}">
                <a16:creationId xmlns:a16="http://schemas.microsoft.com/office/drawing/2014/main" id="{950B938C-E16C-1969-3AB6-CA551EEB16DB}"/>
              </a:ext>
            </a:extLst>
          </p:cNvPr>
          <p:cNvSpPr txBox="1"/>
          <p:nvPr/>
        </p:nvSpPr>
        <p:spPr>
          <a:xfrm>
            <a:off x="5317095" y="3140968"/>
            <a:ext cx="316238" cy="30220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dirty="0">
                <a:solidFill>
                  <a:schemeClr val="bg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</a:t>
            </a:r>
            <a:r>
              <a:rPr lang="en-US" altLang="zh-TW" baseline="30000" dirty="0">
                <a:solidFill>
                  <a:schemeClr val="bg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</a:t>
            </a:r>
            <a:endParaRPr lang="zh-TW" altLang="en-US" sz="1000" baseline="30000" dirty="0">
              <a:solidFill>
                <a:schemeClr val="bg1">
                  <a:lumMod val="50000"/>
                </a:scheme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C8088BAC-BEC6-2D08-54B1-5CD74FAFBB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4772291"/>
              </p:ext>
            </p:extLst>
          </p:nvPr>
        </p:nvGraphicFramePr>
        <p:xfrm>
          <a:off x="2604277" y="1962499"/>
          <a:ext cx="794308" cy="6426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493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196605">
                  <a:extLst>
                    <a:ext uri="{9D8B030D-6E8A-4147-A177-3AD203B41FA5}">
                      <a16:colId xmlns:a16="http://schemas.microsoft.com/office/drawing/2014/main" val="1823401774"/>
                    </a:ext>
                  </a:extLst>
                </a:gridCol>
                <a:gridCol w="196605">
                  <a:extLst>
                    <a:ext uri="{9D8B030D-6E8A-4147-A177-3AD203B41FA5}">
                      <a16:colId xmlns:a16="http://schemas.microsoft.com/office/drawing/2014/main" val="2361940216"/>
                    </a:ext>
                  </a:extLst>
                </a:gridCol>
                <a:gridCol w="196605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</a:tblGrid>
              <a:tr h="21420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4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5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96678"/>
                  </a:ext>
                </a:extLst>
              </a:tr>
              <a:tr h="21420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4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2610666"/>
                  </a:ext>
                </a:extLst>
              </a:tr>
              <a:tr h="21420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4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5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8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6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225911"/>
                  </a:ext>
                </a:extLst>
              </a:tr>
            </a:tbl>
          </a:graphicData>
        </a:graphic>
      </p:graphicFrame>
      <p:sp>
        <p:nvSpPr>
          <p:cNvPr id="104" name="文字方塊 103">
            <a:extLst>
              <a:ext uri="{FF2B5EF4-FFF2-40B4-BE49-F238E27FC236}">
                <a16:creationId xmlns:a16="http://schemas.microsoft.com/office/drawing/2014/main" id="{6FCD64FD-F98B-8AC4-C4AC-D3B0F56692A6}"/>
              </a:ext>
            </a:extLst>
          </p:cNvPr>
          <p:cNvSpPr txBox="1"/>
          <p:nvPr/>
        </p:nvSpPr>
        <p:spPr>
          <a:xfrm>
            <a:off x="3804604" y="2735137"/>
            <a:ext cx="530084" cy="333823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000" dirty="0">
                <a:solidFill>
                  <a:schemeClr val="accent4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Causal</a:t>
            </a:r>
          </a:p>
          <a:p>
            <a:pPr algn="ctr">
              <a:lnSpc>
                <a:spcPts val="1400"/>
              </a:lnSpc>
            </a:pPr>
            <a:r>
              <a:rPr lang="en-US" altLang="zh-TW" sz="1000" dirty="0">
                <a:solidFill>
                  <a:schemeClr val="accent4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Mask</a:t>
            </a:r>
            <a:endParaRPr lang="zh-TW" altLang="en-US" sz="1000" dirty="0">
              <a:solidFill>
                <a:schemeClr val="accent4">
                  <a:lumMod val="60000"/>
                  <a:lumOff val="40000"/>
                </a:scheme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cxnSp>
        <p:nvCxnSpPr>
          <p:cNvPr id="96" name="接點: 肘形 95">
            <a:extLst>
              <a:ext uri="{FF2B5EF4-FFF2-40B4-BE49-F238E27FC236}">
                <a16:creationId xmlns:a16="http://schemas.microsoft.com/office/drawing/2014/main" id="{5B806913-7DE1-6C59-985B-B6A05DE4267C}"/>
              </a:ext>
            </a:extLst>
          </p:cNvPr>
          <p:cNvCxnSpPr>
            <a:cxnSpLocks/>
            <a:stCxn id="56" idx="3"/>
            <a:endCxn id="41" idx="0"/>
          </p:cNvCxnSpPr>
          <p:nvPr/>
        </p:nvCxnSpPr>
        <p:spPr>
          <a:xfrm>
            <a:off x="1461944" y="1825697"/>
            <a:ext cx="3246887" cy="624808"/>
          </a:xfrm>
          <a:prstGeom prst="bentConnector2">
            <a:avLst/>
          </a:prstGeom>
          <a:ln w="15875">
            <a:solidFill>
              <a:schemeClr val="accent2"/>
            </a:solidFill>
            <a:prstDash val="sysDot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文字方塊 107">
            <a:extLst>
              <a:ext uri="{FF2B5EF4-FFF2-40B4-BE49-F238E27FC236}">
                <a16:creationId xmlns:a16="http://schemas.microsoft.com/office/drawing/2014/main" id="{331941BD-1F0A-7985-B5AD-509EE5A71819}"/>
              </a:ext>
            </a:extLst>
          </p:cNvPr>
          <p:cNvSpPr txBox="1"/>
          <p:nvPr/>
        </p:nvSpPr>
        <p:spPr>
          <a:xfrm>
            <a:off x="5300860" y="2924944"/>
            <a:ext cx="293061" cy="12904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200" b="1" dirty="0"/>
              <a:t>4*3</a:t>
            </a:r>
            <a:endParaRPr lang="zh-TW" altLang="en-US" sz="1200" b="1" dirty="0"/>
          </a:p>
        </p:txBody>
      </p:sp>
      <p:sp>
        <p:nvSpPr>
          <p:cNvPr id="49" name="標題 1">
            <a:extLst>
              <a:ext uri="{FF2B5EF4-FFF2-40B4-BE49-F238E27FC236}">
                <a16:creationId xmlns:a16="http://schemas.microsoft.com/office/drawing/2014/main" id="{8D48DF79-2115-79B2-4C1F-E7C4E8F2FEDC}"/>
              </a:ext>
            </a:extLst>
          </p:cNvPr>
          <p:cNvSpPr txBox="1">
            <a:spLocks/>
          </p:cNvSpPr>
          <p:nvPr/>
        </p:nvSpPr>
        <p:spPr>
          <a:xfrm>
            <a:off x="179511" y="116632"/>
            <a:ext cx="8840039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b="1" dirty="0">
                <a:solidFill>
                  <a:schemeClr val="accent6">
                    <a:lumMod val="75000"/>
                  </a:scheme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M</a:t>
            </a:r>
            <a:r>
              <a:rPr lang="en-US" altLang="zh-TW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ulti </a:t>
            </a:r>
            <a:r>
              <a:rPr lang="en-US" altLang="zh-TW" sz="2800" b="1" dirty="0">
                <a:solidFill>
                  <a:schemeClr val="accent6">
                    <a:lumMod val="75000"/>
                  </a:scheme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H</a:t>
            </a:r>
            <a:r>
              <a:rPr lang="en-US" altLang="zh-TW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ead </a:t>
            </a:r>
            <a:r>
              <a:rPr lang="en-US" altLang="zh-TW" sz="2800" b="1" dirty="0">
                <a:solidFill>
                  <a:schemeClr val="accent6">
                    <a:lumMod val="75000"/>
                  </a:scheme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A</a:t>
            </a:r>
            <a:r>
              <a:rPr lang="en-US" altLang="zh-TW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ttention </a:t>
            </a:r>
          </a:p>
          <a:p>
            <a:r>
              <a:rPr lang="en-US" altLang="zh-TW" sz="14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Spatial point-to-point direct links bypass the temporal </a:t>
            </a:r>
            <a:r>
              <a:rPr lang="en-US" altLang="zh-TW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Wingdings" panose="05000000000000000000" pitchFamily="2" charset="2"/>
              </a:rPr>
              <a:t>‘</a:t>
            </a:r>
            <a:r>
              <a:rPr lang="en-US" altLang="zh-TW" sz="14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for-loop</a:t>
            </a:r>
            <a:r>
              <a:rPr lang="en-US" altLang="zh-TW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Wingdings" panose="05000000000000000000" pitchFamily="2" charset="2"/>
              </a:rPr>
              <a:t>’</a:t>
            </a:r>
            <a:r>
              <a:rPr lang="en-US" altLang="zh-TW" sz="14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, unlocking perfect parallelism.</a:t>
            </a:r>
          </a:p>
        </p:txBody>
      </p:sp>
      <p:grpSp>
        <p:nvGrpSpPr>
          <p:cNvPr id="45" name="群組 44">
            <a:extLst>
              <a:ext uri="{FF2B5EF4-FFF2-40B4-BE49-F238E27FC236}">
                <a16:creationId xmlns:a16="http://schemas.microsoft.com/office/drawing/2014/main" id="{1B8953C2-8B59-74D2-F109-F69A3194A087}"/>
              </a:ext>
            </a:extLst>
          </p:cNvPr>
          <p:cNvGrpSpPr/>
          <p:nvPr/>
        </p:nvGrpSpPr>
        <p:grpSpPr>
          <a:xfrm>
            <a:off x="6317136" y="1802215"/>
            <a:ext cx="2647352" cy="1780768"/>
            <a:chOff x="6372199" y="366192"/>
            <a:chExt cx="2647352" cy="178076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字方塊 12">
                  <a:extLst>
                    <a:ext uri="{FF2B5EF4-FFF2-40B4-BE49-F238E27FC236}">
                      <a16:creationId xmlns:a16="http://schemas.microsoft.com/office/drawing/2014/main" id="{04C69D51-1D28-7D46-D4F3-7BE78FE1AE01}"/>
                    </a:ext>
                  </a:extLst>
                </p:cNvPr>
                <p:cNvSpPr txBox="1"/>
                <p:nvPr/>
              </p:nvSpPr>
              <p:spPr>
                <a:xfrm>
                  <a:off x="6372199" y="1276711"/>
                  <a:ext cx="2283638" cy="47731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Sup>
                          <m:sSubSupPr>
                            <m:ctrlPr>
                              <a:rPr lang="en-US" altLang="zh-TW" sz="1200" i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TW" sz="1200" i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TW" sz="1200" b="0" i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1200" b="0" i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  <m:r>
                                  <a:rPr lang="en-US" altLang="zh-TW" sz="1200" b="0" i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1200" i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1200" i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 altLang="zh-TW" sz="1200" b="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p>
                        </m:sSubSup>
                        <m:r>
                          <a:rPr lang="en-US" altLang="zh-TW" sz="1200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altLang="zh-TW" sz="1200" b="0" i="0" smtClean="0">
                            <a:latin typeface="Cambria Math" panose="02040503050406030204" pitchFamily="18" charset="0"/>
                          </a:rPr>
                          <m:t>Softmax</m:t>
                        </m:r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TW" sz="1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zh-TW" sz="1200" i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 i="0">
                                        <a:latin typeface="Cambria Math" panose="02040503050406030204" pitchFamily="18" charset="0"/>
                                      </a:rPr>
                                      <m:t>QK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altLang="zh-TW" sz="1200" i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sup>
                                </m:sSup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b>
                                      <m:sSubPr>
                                        <m:ctrlPr>
                                          <a:rPr lang="en-US" altLang="zh-TW" sz="1200" i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 i="0">
                                            <a:latin typeface="Cambria Math" panose="02040503050406030204" pitchFamily="18" charset="0"/>
                                          </a:rPr>
                                          <m:t>d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 i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sub>
                                    </m:sSub>
                                  </m:e>
                                </m:rad>
                              </m:den>
                            </m:f>
                            <m:r>
                              <a:rPr lang="en-US" altLang="zh-TW" sz="120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⊙</m:t>
                            </m:r>
                            <m:r>
                              <m:rPr>
                                <m:sty m:val="p"/>
                              </m:rPr>
                              <a:rPr lang="en-US" altLang="zh-TW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</m:t>
                            </m:r>
                          </m:e>
                        </m:d>
                        <m:r>
                          <a:rPr lang="en-US" altLang="zh-TW" sz="1200" i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m:rPr>
                            <m:sty m:val="p"/>
                          </m:rPr>
                          <a:rPr lang="en-US" altLang="zh-TW" sz="1200" i="0">
                            <a:latin typeface="Cambria Math" panose="02040503050406030204" pitchFamily="18" charset="0"/>
                          </a:rPr>
                          <m:t>V</m:t>
                        </m:r>
                      </m:oMath>
                    </m:oMathPara>
                  </a14:m>
                  <a:endParaRPr lang="en-US" altLang="zh-TW" sz="1200" b="0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3" name="文字方塊 12">
                  <a:extLst>
                    <a:ext uri="{FF2B5EF4-FFF2-40B4-BE49-F238E27FC236}">
                      <a16:creationId xmlns:a16="http://schemas.microsoft.com/office/drawing/2014/main" id="{04C69D51-1D28-7D46-D4F3-7BE78FE1AE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2199" y="1276711"/>
                  <a:ext cx="2283638" cy="477310"/>
                </a:xfrm>
                <a:prstGeom prst="rect">
                  <a:avLst/>
                </a:prstGeom>
                <a:blipFill>
                  <a:blip r:embed="rId3"/>
                  <a:stretch>
                    <a:fillRect l="-2400" b="-512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391CB475-84D3-5EE9-07FB-87DD34DCAE3E}"/>
                </a:ext>
              </a:extLst>
            </p:cNvPr>
            <p:cNvSpPr/>
            <p:nvPr/>
          </p:nvSpPr>
          <p:spPr>
            <a:xfrm>
              <a:off x="6372200" y="366192"/>
              <a:ext cx="884899" cy="189832"/>
            </a:xfrm>
            <a:prstGeom prst="rect">
              <a:avLst/>
            </a:prstGeom>
            <a:noFill/>
            <a:ln w="19050">
              <a:noFill/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t" anchorCtr="0">
              <a:noAutofit/>
            </a:bodyPr>
            <a:lstStyle/>
            <a:p>
              <a:pPr>
                <a:lnSpc>
                  <a:spcPts val="1600"/>
                </a:lnSpc>
              </a:pPr>
              <a:r>
                <a:rPr lang="en-US" altLang="zh-TW" sz="1200" b="1" dirty="0">
                  <a:solidFill>
                    <a:schemeClr val="tx2"/>
                  </a:solidFill>
                  <a:ea typeface="微軟正黑體" panose="020B0604030504040204" pitchFamily="34" charset="-120"/>
                </a:rPr>
                <a:t>Transformer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99C3D748-9104-6AF5-735B-BAB565F31482}"/>
                    </a:ext>
                  </a:extLst>
                </p:cNvPr>
                <p:cNvSpPr txBox="1"/>
                <p:nvPr/>
              </p:nvSpPr>
              <p:spPr>
                <a:xfrm>
                  <a:off x="6383497" y="556024"/>
                  <a:ext cx="780791" cy="56829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m:rPr>
                            <m:sty m:val="p"/>
                          </m:rPr>
                          <a:rPr lang="en-US" altLang="zh-TW" sz="1200" b="0" i="0" smtClean="0"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en-US" altLang="zh-TW" sz="1200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TW" sz="1200" b="0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sz="1200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200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altLang="zh-TW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TW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oMath>
                    </m:oMathPara>
                  </a14:m>
                  <a:endParaRPr lang="en-US" altLang="zh-TW" sz="1200" b="0" i="0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m:rPr>
                            <m:sty m:val="p"/>
                          </m:rPr>
                          <a:rPr lang="en-US" altLang="zh-TW" sz="1200" b="0" i="0" smtClean="0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US" altLang="zh-TW" sz="120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TW" sz="12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sz="120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20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TW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m:rPr>
                            <m:sty m:val="p"/>
                          </m:rPr>
                          <a:rPr lang="en-US" altLang="zh-TW" sz="1200" b="0" i="0" smtClean="0">
                            <a:latin typeface="Cambria Math" panose="02040503050406030204" pitchFamily="18" charset="0"/>
                          </a:rPr>
                          <m:t>V</m:t>
                        </m:r>
                        <m:r>
                          <a:rPr lang="en-US" altLang="zh-TW" sz="120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TW" sz="12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sz="120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20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TW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oMath>
                    </m:oMathPara>
                  </a14:m>
                  <a:endParaRPr lang="en-US" altLang="zh-TW" sz="1200" b="0" i="0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99C3D748-9104-6AF5-735B-BAB565F314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83497" y="556024"/>
                  <a:ext cx="780791" cy="568297"/>
                </a:xfrm>
                <a:prstGeom prst="rect">
                  <a:avLst/>
                </a:prstGeom>
                <a:blipFill>
                  <a:blip r:embed="rId4"/>
                  <a:stretch>
                    <a:fillRect l="-9375" b="-645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347BCF5B-2A03-36D0-E25B-1164A4C07353}"/>
                </a:ext>
              </a:extLst>
            </p:cNvPr>
            <p:cNvSpPr/>
            <p:nvPr/>
          </p:nvSpPr>
          <p:spPr>
            <a:xfrm>
              <a:off x="6372199" y="1212654"/>
              <a:ext cx="987529" cy="223623"/>
            </a:xfrm>
            <a:prstGeom prst="rect">
              <a:avLst/>
            </a:prstGeom>
            <a:noFill/>
            <a:ln w="19050">
              <a:noFill/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t" anchorCtr="0">
              <a:noAutofit/>
            </a:bodyPr>
            <a:lstStyle/>
            <a:p>
              <a:pPr>
                <a:lnSpc>
                  <a:spcPts val="1600"/>
                </a:lnSpc>
              </a:pPr>
              <a:r>
                <a:rPr lang="en-US" altLang="zh-TW" sz="1200" b="1" dirty="0">
                  <a:solidFill>
                    <a:schemeClr val="tx2"/>
                  </a:solidFill>
                  <a:ea typeface="微軟正黑體" panose="020B0604030504040204" pitchFamily="34" charset="-120"/>
                </a:rPr>
                <a:t>Attention</a:t>
              </a:r>
              <a:r>
                <a:rPr lang="en-US" altLang="zh-TW" sz="1200" b="1" dirty="0">
                  <a:solidFill>
                    <a:schemeClr val="tx1"/>
                  </a:solidFill>
                  <a:ea typeface="微軟正黑體" panose="020B0604030504040204" pitchFamily="34" charset="-120"/>
                </a:rPr>
                <a:t>( </a:t>
              </a:r>
              <a:r>
                <a:rPr lang="en-US" altLang="zh-TW" sz="1200" dirty="0">
                  <a:solidFill>
                    <a:schemeClr val="tx1"/>
                  </a:solidFill>
                  <a:ea typeface="微軟正黑體" panose="020B0604030504040204" pitchFamily="34" charset="-120"/>
                </a:rPr>
                <a:t>X</a:t>
              </a:r>
              <a:r>
                <a:rPr lang="en-US" altLang="zh-TW" sz="1200" b="1" baseline="-25000" dirty="0">
                  <a:solidFill>
                    <a:schemeClr val="tx1"/>
                  </a:solidFill>
                  <a:ea typeface="微軟正黑體" panose="020B0604030504040204" pitchFamily="34" charset="-120"/>
                </a:rPr>
                <a:t>i</a:t>
              </a:r>
              <a:r>
                <a:rPr lang="en-US" altLang="zh-TW" sz="1200" b="1" dirty="0">
                  <a:solidFill>
                    <a:schemeClr val="tx1"/>
                  </a:solidFill>
                  <a:ea typeface="微軟正黑體" panose="020B0604030504040204" pitchFamily="34" charset="-120"/>
                </a:rPr>
                <a:t> 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字方塊 32">
                  <a:extLst>
                    <a:ext uri="{FF2B5EF4-FFF2-40B4-BE49-F238E27FC236}">
                      <a16:creationId xmlns:a16="http://schemas.microsoft.com/office/drawing/2014/main" id="{0267F4FA-43C6-50D0-0E40-638A2EE762A9}"/>
                    </a:ext>
                  </a:extLst>
                </p:cNvPr>
                <p:cNvSpPr txBox="1"/>
                <p:nvPr/>
              </p:nvSpPr>
              <p:spPr>
                <a:xfrm>
                  <a:off x="6732241" y="1916832"/>
                  <a:ext cx="2287310" cy="23012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en-US" altLang="zh-TW" sz="1200" b="0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sz="1200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200" b="0" i="0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US" altLang="zh-TW" sz="1200" b="0" i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m:rPr>
                                <m:sty m:val="p"/>
                              </m:rPr>
                              <a:rPr lang="en-US" altLang="zh-TW" sz="12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sub>
                        </m:sSub>
                        <m:r>
                          <a:rPr lang="en-US" altLang="zh-TW" sz="1200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altLang="zh-TW" sz="1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GPU</m:t>
                        </m:r>
                        <m:r>
                          <a:rPr lang="en-US" altLang="zh-TW" sz="1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zh-TW" sz="1200" b="0" i="0" smtClean="0">
                            <a:latin typeface="Cambria Math" panose="02040503050406030204" pitchFamily="18" charset="0"/>
                          </a:rPr>
                          <m:t>cat</m:t>
                        </m:r>
                        <m:r>
                          <a:rPr lang="en-US" altLang="zh-TW" sz="12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en-US" altLang="zh-TW" sz="1200" b="0" i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TW" sz="12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TW" sz="1200" b="0" i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1200" b="0" i="0" smtClean="0"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1200" b="0" i="0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</m:sub>
                          <m:sup>
                            <m:r>
                              <a:rPr lang="en-US" altLang="zh-TW" sz="12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bSup>
                        <m:r>
                          <a:rPr lang="en-US" altLang="zh-TW" sz="1200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TW" sz="1200" i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TW" sz="1200" i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TW" sz="1200" i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1200" i="0"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1200" i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</m:sub>
                          <m:sup>
                            <m:r>
                              <a:rPr lang="en-US" altLang="zh-TW" sz="12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  <m:r>
                          <a:rPr lang="en-US" altLang="zh-TW" sz="1200" b="0" i="0" smtClean="0">
                            <a:latin typeface="Cambria Math" panose="02040503050406030204" pitchFamily="18" charset="0"/>
                          </a:rPr>
                          <m:t>,…,</m:t>
                        </m:r>
                        <m:sSubSup>
                          <m:sSubSupPr>
                            <m:ctrlPr>
                              <a:rPr lang="en-US" altLang="zh-TW" sz="1200" i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TW" sz="1200" i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TW" sz="1200" i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1200" i="0"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1200" i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 altLang="zh-TW" sz="1200" b="0" i="0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altLang="zh-TW" sz="1200" b="0" i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  <m:r>
                          <a:rPr lang="en-US" altLang="zh-TW" sz="1200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altLang="zh-TW" sz="1200" b="0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3" name="文字方塊 32">
                  <a:extLst>
                    <a:ext uri="{FF2B5EF4-FFF2-40B4-BE49-F238E27FC236}">
                      <a16:creationId xmlns:a16="http://schemas.microsoft.com/office/drawing/2014/main" id="{0267F4FA-43C6-50D0-0E40-638A2EE762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2241" y="1916832"/>
                  <a:ext cx="2287310" cy="230128"/>
                </a:xfrm>
                <a:prstGeom prst="rect">
                  <a:avLst/>
                </a:prstGeom>
                <a:blipFill>
                  <a:blip r:embed="rId5"/>
                  <a:stretch>
                    <a:fillRect l="-2400" r="-2133" b="-2105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FAC0C1D1-E921-38BA-59CB-4A066A64C1B2}"/>
                </a:ext>
              </a:extLst>
            </p:cNvPr>
            <p:cNvSpPr/>
            <p:nvPr/>
          </p:nvSpPr>
          <p:spPr>
            <a:xfrm>
              <a:off x="6705106" y="1741364"/>
              <a:ext cx="459182" cy="223623"/>
            </a:xfrm>
            <a:prstGeom prst="rect">
              <a:avLst/>
            </a:prstGeom>
            <a:noFill/>
            <a:ln w="19050">
              <a:noFill/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t" anchorCtr="0">
              <a:noAutofit/>
            </a:bodyPr>
            <a:lstStyle/>
            <a:p>
              <a:pPr>
                <a:lnSpc>
                  <a:spcPts val="1600"/>
                </a:lnSpc>
              </a:pPr>
              <a:r>
                <a:rPr lang="en-US" altLang="zh-TW" sz="1200" b="1" dirty="0">
                  <a:solidFill>
                    <a:schemeClr val="accent6">
                      <a:lumMod val="75000"/>
                    </a:schemeClr>
                  </a:solidFill>
                  <a:ea typeface="微軟正黑體" panose="020B0604030504040204" pitchFamily="34" charset="-120"/>
                </a:rPr>
                <a:t>MHA</a:t>
              </a:r>
            </a:p>
          </p:txBody>
        </p:sp>
      </p:grp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33E48F48-8282-E2BB-74DB-B22D64BC651C}"/>
              </a:ext>
            </a:extLst>
          </p:cNvPr>
          <p:cNvSpPr txBox="1"/>
          <p:nvPr/>
        </p:nvSpPr>
        <p:spPr>
          <a:xfrm>
            <a:off x="4262680" y="3182176"/>
            <a:ext cx="150967" cy="207257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200" b="1" dirty="0"/>
              <a:t>x</a:t>
            </a:r>
            <a:endParaRPr lang="zh-TW" altLang="en-US" sz="1200" b="1" dirty="0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DE51605-7F17-B0D7-1EE1-7A6FACF24754}"/>
              </a:ext>
            </a:extLst>
          </p:cNvPr>
          <p:cNvSpPr/>
          <p:nvPr/>
        </p:nvSpPr>
        <p:spPr>
          <a:xfrm>
            <a:off x="1187624" y="1688537"/>
            <a:ext cx="274320" cy="2743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600"/>
              </a:lnSpc>
            </a:pPr>
            <a:r>
              <a:rPr lang="en-US" altLang="zh-TW" sz="1200" b="1" dirty="0">
                <a:solidFill>
                  <a:schemeClr val="tx1"/>
                </a:solidFill>
                <a:ea typeface="微軟正黑體" panose="020B0604030504040204" pitchFamily="34" charset="-120"/>
              </a:rPr>
              <a:t>W</a:t>
            </a:r>
            <a:r>
              <a:rPr lang="en-US" altLang="zh-TW" sz="1200" b="1" baseline="-25000" dirty="0">
                <a:solidFill>
                  <a:schemeClr val="tx1"/>
                </a:solidFill>
                <a:ea typeface="微軟正黑體" panose="020B0604030504040204" pitchFamily="34" charset="-120"/>
              </a:rPr>
              <a:t>v</a:t>
            </a:r>
          </a:p>
        </p:txBody>
      </p: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5B5DC91F-8035-D277-E5EB-16D37B4A6F00}"/>
              </a:ext>
            </a:extLst>
          </p:cNvPr>
          <p:cNvSpPr txBox="1"/>
          <p:nvPr/>
        </p:nvSpPr>
        <p:spPr>
          <a:xfrm>
            <a:off x="1195575" y="1556792"/>
            <a:ext cx="274320" cy="118033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200" b="1" dirty="0"/>
              <a:t>3*3</a:t>
            </a:r>
            <a:endParaRPr lang="zh-TW" altLang="en-US" sz="1200" b="1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2DE1953-49AE-101D-1BFB-FD07A518B130}"/>
              </a:ext>
            </a:extLst>
          </p:cNvPr>
          <p:cNvSpPr/>
          <p:nvPr/>
        </p:nvSpPr>
        <p:spPr>
          <a:xfrm>
            <a:off x="1187624" y="2775208"/>
            <a:ext cx="274320" cy="2743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600"/>
              </a:lnSpc>
            </a:pPr>
            <a:r>
              <a:rPr lang="en-US" altLang="zh-TW" sz="1200" b="1" dirty="0">
                <a:solidFill>
                  <a:schemeClr val="tx1"/>
                </a:solidFill>
                <a:ea typeface="微軟正黑體" panose="020B0604030504040204" pitchFamily="34" charset="-120"/>
              </a:rPr>
              <a:t>W</a:t>
            </a:r>
            <a:r>
              <a:rPr lang="en-US" altLang="zh-TW" sz="1200" b="1" baseline="-25000" dirty="0">
                <a:solidFill>
                  <a:schemeClr val="tx1"/>
                </a:solidFill>
                <a:ea typeface="微軟正黑體" panose="020B0604030504040204" pitchFamily="34" charset="-120"/>
              </a:rPr>
              <a:t>q</a:t>
            </a: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D0C52DBD-DEB6-AFFA-E98D-75380BBC0371}"/>
              </a:ext>
            </a:extLst>
          </p:cNvPr>
          <p:cNvSpPr txBox="1"/>
          <p:nvPr/>
        </p:nvSpPr>
        <p:spPr>
          <a:xfrm>
            <a:off x="1201336" y="2636912"/>
            <a:ext cx="274320" cy="118033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200" b="1" dirty="0"/>
              <a:t>3*3</a:t>
            </a:r>
            <a:endParaRPr lang="zh-TW" altLang="en-US" sz="1200" b="1" dirty="0"/>
          </a:p>
        </p:txBody>
      </p:sp>
      <p:cxnSp>
        <p:nvCxnSpPr>
          <p:cNvPr id="92" name="接點: 肘形 91">
            <a:extLst>
              <a:ext uri="{FF2B5EF4-FFF2-40B4-BE49-F238E27FC236}">
                <a16:creationId xmlns:a16="http://schemas.microsoft.com/office/drawing/2014/main" id="{5487B822-8698-F7FD-3F12-C96B513E5B22}"/>
              </a:ext>
            </a:extLst>
          </p:cNvPr>
          <p:cNvCxnSpPr>
            <a:cxnSpLocks/>
            <a:stCxn id="30" idx="2"/>
            <a:endCxn id="36" idx="1"/>
          </p:cNvCxnSpPr>
          <p:nvPr/>
        </p:nvCxnSpPr>
        <p:spPr>
          <a:xfrm rot="16200000" flipH="1">
            <a:off x="1595237" y="2779075"/>
            <a:ext cx="219649" cy="760554"/>
          </a:xfrm>
          <a:prstGeom prst="bentConnector2">
            <a:avLst/>
          </a:prstGeom>
          <a:ln w="15875">
            <a:solidFill>
              <a:schemeClr val="accent2"/>
            </a:solidFill>
            <a:prstDash val="sysDot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69F0847B-09A8-F6C5-C9D8-00166C3A61C1}"/>
              </a:ext>
            </a:extLst>
          </p:cNvPr>
          <p:cNvSpPr txBox="1"/>
          <p:nvPr/>
        </p:nvSpPr>
        <p:spPr>
          <a:xfrm>
            <a:off x="2866322" y="2224386"/>
            <a:ext cx="316238" cy="19650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dirty="0">
                <a:solidFill>
                  <a:schemeClr val="accent5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</a:t>
            </a:r>
            <a:r>
              <a:rPr lang="en-US" altLang="zh-TW" baseline="30000" dirty="0">
                <a:solidFill>
                  <a:schemeClr val="accent5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</a:t>
            </a:r>
            <a:endParaRPr lang="zh-TW" altLang="en-US" baseline="30000" dirty="0">
              <a:solidFill>
                <a:schemeClr val="accent5">
                  <a:lumMod val="75000"/>
                </a:scheme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FFF05FC-B9A5-6CC5-758F-A8A192F39652}"/>
              </a:ext>
            </a:extLst>
          </p:cNvPr>
          <p:cNvSpPr/>
          <p:nvPr/>
        </p:nvSpPr>
        <p:spPr>
          <a:xfrm>
            <a:off x="1187624" y="2192593"/>
            <a:ext cx="274320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600"/>
              </a:lnSpc>
            </a:pPr>
            <a:r>
              <a:rPr lang="en-US" altLang="zh-TW" sz="1200" b="1" dirty="0">
                <a:solidFill>
                  <a:schemeClr val="tx1"/>
                </a:solidFill>
                <a:ea typeface="微軟正黑體" panose="020B0604030504040204" pitchFamily="34" charset="-120"/>
              </a:rPr>
              <a:t>W</a:t>
            </a:r>
            <a:r>
              <a:rPr lang="en-US" altLang="zh-TW" sz="1200" b="1" baseline="-25000" dirty="0">
                <a:solidFill>
                  <a:schemeClr val="tx1"/>
                </a:solidFill>
                <a:ea typeface="微軟正黑體" panose="020B0604030504040204" pitchFamily="34" charset="-120"/>
              </a:rPr>
              <a:t>k</a:t>
            </a:r>
          </a:p>
        </p:txBody>
      </p: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830D44BB-39A0-3014-543C-89117CBE1B64}"/>
              </a:ext>
            </a:extLst>
          </p:cNvPr>
          <p:cNvSpPr txBox="1"/>
          <p:nvPr/>
        </p:nvSpPr>
        <p:spPr>
          <a:xfrm>
            <a:off x="1195575" y="2060848"/>
            <a:ext cx="274320" cy="118033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200" b="1" dirty="0"/>
              <a:t>3*3</a:t>
            </a:r>
            <a:endParaRPr lang="zh-TW" altLang="en-US" sz="1200" b="1" dirty="0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1C097F63-2D37-58F6-D724-29AD948117B6}"/>
              </a:ext>
            </a:extLst>
          </p:cNvPr>
          <p:cNvSpPr/>
          <p:nvPr/>
        </p:nvSpPr>
        <p:spPr>
          <a:xfrm>
            <a:off x="553264" y="2322897"/>
            <a:ext cx="27432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600"/>
              </a:lnSpc>
            </a:pPr>
            <a:r>
              <a:rPr lang="en-US" altLang="zh-TW" sz="1400" b="1" dirty="0">
                <a:solidFill>
                  <a:schemeClr val="tx1"/>
                </a:solidFill>
                <a:ea typeface="微軟正黑體" panose="020B0604030504040204" pitchFamily="34" charset="-120"/>
              </a:rPr>
              <a:t>X</a:t>
            </a:r>
            <a:r>
              <a:rPr lang="en-US" altLang="zh-TW" sz="1400" b="1" baseline="-25000" dirty="0">
                <a:solidFill>
                  <a:schemeClr val="tx1"/>
                </a:solidFill>
                <a:ea typeface="微軟正黑體" panose="020B0604030504040204" pitchFamily="34" charset="-120"/>
              </a:rPr>
              <a:t>i</a:t>
            </a:r>
          </a:p>
        </p:txBody>
      </p:sp>
      <p:sp>
        <p:nvSpPr>
          <p:cNvPr id="81" name="文字方塊 80">
            <a:extLst>
              <a:ext uri="{FF2B5EF4-FFF2-40B4-BE49-F238E27FC236}">
                <a16:creationId xmlns:a16="http://schemas.microsoft.com/office/drawing/2014/main" id="{9F5A2A00-AA2B-2668-0A78-241389E1C38B}"/>
              </a:ext>
            </a:extLst>
          </p:cNvPr>
          <p:cNvSpPr txBox="1"/>
          <p:nvPr/>
        </p:nvSpPr>
        <p:spPr>
          <a:xfrm>
            <a:off x="539552" y="2156680"/>
            <a:ext cx="293061" cy="14497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200" b="1" dirty="0"/>
              <a:t>4*3</a:t>
            </a:r>
            <a:endParaRPr lang="zh-TW" altLang="en-US" sz="1200" b="1" dirty="0"/>
          </a:p>
        </p:txBody>
      </p:sp>
      <p:cxnSp>
        <p:nvCxnSpPr>
          <p:cNvPr id="78" name="接點: 肘形 77">
            <a:extLst>
              <a:ext uri="{FF2B5EF4-FFF2-40B4-BE49-F238E27FC236}">
                <a16:creationId xmlns:a16="http://schemas.microsoft.com/office/drawing/2014/main" id="{9780D645-79F6-9B95-BD1C-7F5A3B50E5FF}"/>
              </a:ext>
            </a:extLst>
          </p:cNvPr>
          <p:cNvCxnSpPr>
            <a:cxnSpLocks/>
            <a:stCxn id="70" idx="3"/>
            <a:endCxn id="56" idx="1"/>
          </p:cNvCxnSpPr>
          <p:nvPr/>
        </p:nvCxnSpPr>
        <p:spPr>
          <a:xfrm flipV="1">
            <a:off x="827584" y="1825697"/>
            <a:ext cx="360040" cy="725800"/>
          </a:xfrm>
          <a:prstGeom prst="bentConnector3">
            <a:avLst>
              <a:gd name="adj1" fmla="val 50000"/>
            </a:avLst>
          </a:prstGeom>
          <a:ln w="15875">
            <a:solidFill>
              <a:schemeClr val="accent2"/>
            </a:solidFill>
            <a:prstDash val="sysDot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接點: 肘形 84">
            <a:extLst>
              <a:ext uri="{FF2B5EF4-FFF2-40B4-BE49-F238E27FC236}">
                <a16:creationId xmlns:a16="http://schemas.microsoft.com/office/drawing/2014/main" id="{DA41AC1E-B157-6C0B-9FF1-0CC9FA169B0B}"/>
              </a:ext>
            </a:extLst>
          </p:cNvPr>
          <p:cNvCxnSpPr>
            <a:cxnSpLocks/>
            <a:stCxn id="70" idx="3"/>
            <a:endCxn id="30" idx="1"/>
          </p:cNvCxnSpPr>
          <p:nvPr/>
        </p:nvCxnSpPr>
        <p:spPr>
          <a:xfrm>
            <a:off x="827584" y="2551497"/>
            <a:ext cx="360040" cy="360871"/>
          </a:xfrm>
          <a:prstGeom prst="bentConnector3">
            <a:avLst>
              <a:gd name="adj1" fmla="val 50000"/>
            </a:avLst>
          </a:prstGeom>
          <a:ln w="15875">
            <a:solidFill>
              <a:schemeClr val="accent2"/>
            </a:solidFill>
            <a:prstDash val="sysDot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C19F77F4-4ABF-D590-91B3-B66B0B400E7B}"/>
              </a:ext>
            </a:extLst>
          </p:cNvPr>
          <p:cNvSpPr txBox="1"/>
          <p:nvPr/>
        </p:nvSpPr>
        <p:spPr>
          <a:xfrm>
            <a:off x="2085338" y="3140968"/>
            <a:ext cx="316238" cy="256418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dirty="0">
                <a:solidFill>
                  <a:schemeClr val="accent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Q</a:t>
            </a:r>
            <a:endParaRPr lang="zh-TW" altLang="en-US" dirty="0">
              <a:solidFill>
                <a:schemeClr val="accent2">
                  <a:lumMod val="60000"/>
                  <a:lumOff val="40000"/>
                </a:scheme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F013A126-5BE6-0C42-FF3D-56641B2F6C9A}"/>
              </a:ext>
            </a:extLst>
          </p:cNvPr>
          <p:cNvSpPr txBox="1"/>
          <p:nvPr/>
        </p:nvSpPr>
        <p:spPr>
          <a:xfrm>
            <a:off x="4550712" y="2450505"/>
            <a:ext cx="316238" cy="256418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dirty="0">
                <a:solidFill>
                  <a:schemeClr val="accent3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</a:t>
            </a:r>
            <a:endParaRPr lang="zh-TW" altLang="en-US" dirty="0">
              <a:solidFill>
                <a:schemeClr val="accent3">
                  <a:lumMod val="75000"/>
                </a:scheme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cxnSp>
        <p:nvCxnSpPr>
          <p:cNvPr id="111" name="直線單箭頭接點 110">
            <a:extLst>
              <a:ext uri="{FF2B5EF4-FFF2-40B4-BE49-F238E27FC236}">
                <a16:creationId xmlns:a16="http://schemas.microsoft.com/office/drawing/2014/main" id="{E10D7A5D-6730-D6B5-0FAB-4DFE84DDC910}"/>
              </a:ext>
            </a:extLst>
          </p:cNvPr>
          <p:cNvCxnSpPr>
            <a:cxnSpLocks/>
            <a:stCxn id="32" idx="3"/>
            <a:endCxn id="39" idx="1"/>
          </p:cNvCxnSpPr>
          <p:nvPr/>
        </p:nvCxnSpPr>
        <p:spPr>
          <a:xfrm flipV="1">
            <a:off x="1461944" y="2322637"/>
            <a:ext cx="1404378" cy="7116"/>
          </a:xfrm>
          <a:prstGeom prst="straightConnector1">
            <a:avLst/>
          </a:prstGeom>
          <a:ln w="15875">
            <a:solidFill>
              <a:schemeClr val="accent2"/>
            </a:solidFill>
            <a:prstDash val="sysDot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矩形 124">
            <a:extLst>
              <a:ext uri="{FF2B5EF4-FFF2-40B4-BE49-F238E27FC236}">
                <a16:creationId xmlns:a16="http://schemas.microsoft.com/office/drawing/2014/main" id="{6C45D836-F515-E8EE-E253-E07C6BCB4B8C}"/>
              </a:ext>
            </a:extLst>
          </p:cNvPr>
          <p:cNvSpPr/>
          <p:nvPr/>
        </p:nvSpPr>
        <p:spPr>
          <a:xfrm>
            <a:off x="1187624" y="5772876"/>
            <a:ext cx="27432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600"/>
              </a:lnSpc>
            </a:pPr>
            <a:r>
              <a:rPr lang="en-US" altLang="zh-TW" sz="1400" b="1" dirty="0">
                <a:solidFill>
                  <a:schemeClr val="tx1"/>
                </a:solidFill>
                <a:ea typeface="微軟正黑體" panose="020B0604030504040204" pitchFamily="34" charset="-120"/>
              </a:rPr>
              <a:t>X</a:t>
            </a:r>
            <a:r>
              <a:rPr lang="en-US" altLang="zh-TW" sz="1400" b="1" baseline="-25000" dirty="0">
                <a:solidFill>
                  <a:schemeClr val="tx1"/>
                </a:solidFill>
                <a:ea typeface="微軟正黑體" panose="020B0604030504040204" pitchFamily="34" charset="-120"/>
              </a:rPr>
              <a:t>n-1</a:t>
            </a:r>
            <a:endParaRPr lang="en-US" altLang="zh-TW" sz="1400" b="1" dirty="0">
              <a:solidFill>
                <a:schemeClr val="tx1"/>
              </a:solidFill>
              <a:ea typeface="微軟正黑體" panose="020B0604030504040204" pitchFamily="34" charset="-120"/>
            </a:endParaRPr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AED1B7E7-C524-DE82-FBD1-04999EEE8F37}"/>
              </a:ext>
            </a:extLst>
          </p:cNvPr>
          <p:cNvSpPr/>
          <p:nvPr/>
        </p:nvSpPr>
        <p:spPr>
          <a:xfrm>
            <a:off x="2345510" y="5772876"/>
            <a:ext cx="351439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600"/>
              </a:lnSpc>
            </a:pPr>
            <a:r>
              <a:rPr lang="en-US" altLang="zh-TW" sz="1400" b="1" dirty="0">
                <a:solidFill>
                  <a:schemeClr val="accent4"/>
                </a:solidFill>
                <a:ea typeface="微軟正黑體" panose="020B0604030504040204" pitchFamily="34" charset="-120"/>
              </a:rPr>
              <a:t>QK</a:t>
            </a:r>
            <a:r>
              <a:rPr lang="en-US" altLang="zh-TW" sz="1400" b="1" baseline="30000" dirty="0">
                <a:solidFill>
                  <a:schemeClr val="accent4"/>
                </a:solidFill>
                <a:ea typeface="微軟正黑體" panose="020B0604030504040204" pitchFamily="34" charset="-120"/>
              </a:rPr>
              <a:t>T</a:t>
            </a:r>
            <a:r>
              <a:rPr lang="en-US" altLang="zh-TW" sz="1400" b="1" dirty="0">
                <a:solidFill>
                  <a:schemeClr val="accent4"/>
                </a:solidFill>
                <a:ea typeface="微軟正黑體" panose="020B0604030504040204" pitchFamily="34" charset="-120"/>
              </a:rPr>
              <a:t>i</a:t>
            </a:r>
            <a:endParaRPr lang="en-US" altLang="zh-TW" sz="1400" b="1" baseline="30000" dirty="0">
              <a:solidFill>
                <a:schemeClr val="accent4"/>
              </a:solidFill>
              <a:ea typeface="微軟正黑體" panose="020B0604030504040204" pitchFamily="34" charset="-120"/>
            </a:endParaRP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02E4C738-7EB8-F008-8CA7-4DD654D53812}"/>
              </a:ext>
            </a:extLst>
          </p:cNvPr>
          <p:cNvSpPr/>
          <p:nvPr/>
        </p:nvSpPr>
        <p:spPr>
          <a:xfrm>
            <a:off x="2987824" y="5773001"/>
            <a:ext cx="27432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600"/>
              </a:lnSpc>
            </a:pPr>
            <a:r>
              <a:rPr lang="en-US" altLang="zh-TW" sz="1400" b="1" dirty="0">
                <a:solidFill>
                  <a:schemeClr val="accent4"/>
                </a:solidFill>
                <a:ea typeface="微軟正黑體" panose="020B0604030504040204" pitchFamily="34" charset="-120"/>
              </a:rPr>
              <a:t>A</a:t>
            </a:r>
          </a:p>
        </p:txBody>
      </p:sp>
      <p:cxnSp>
        <p:nvCxnSpPr>
          <p:cNvPr id="129" name="直線單箭頭接點 128">
            <a:extLst>
              <a:ext uri="{FF2B5EF4-FFF2-40B4-BE49-F238E27FC236}">
                <a16:creationId xmlns:a16="http://schemas.microsoft.com/office/drawing/2014/main" id="{3E62EFFE-C10C-4669-9F07-325C98AF81A2}"/>
              </a:ext>
            </a:extLst>
          </p:cNvPr>
          <p:cNvCxnSpPr>
            <a:cxnSpLocks/>
            <a:stCxn id="128" idx="3"/>
            <a:endCxn id="179" idx="1"/>
          </p:cNvCxnSpPr>
          <p:nvPr/>
        </p:nvCxnSpPr>
        <p:spPr>
          <a:xfrm flipV="1">
            <a:off x="3262144" y="6001476"/>
            <a:ext cx="354282" cy="125"/>
          </a:xfrm>
          <a:prstGeom prst="straightConnector1">
            <a:avLst/>
          </a:prstGeom>
          <a:ln w="25400">
            <a:solidFill>
              <a:schemeClr val="accent2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接點: 肘形 129">
            <a:extLst>
              <a:ext uri="{FF2B5EF4-FFF2-40B4-BE49-F238E27FC236}">
                <a16:creationId xmlns:a16="http://schemas.microsoft.com/office/drawing/2014/main" id="{B62D200B-EA3C-1E62-5622-B4562FF5DE80}"/>
              </a:ext>
            </a:extLst>
          </p:cNvPr>
          <p:cNvCxnSpPr>
            <a:cxnSpLocks/>
            <a:stCxn id="139" idx="3"/>
            <a:endCxn id="126" idx="1"/>
          </p:cNvCxnSpPr>
          <p:nvPr/>
        </p:nvCxnSpPr>
        <p:spPr>
          <a:xfrm flipV="1">
            <a:off x="2110016" y="6001476"/>
            <a:ext cx="235494" cy="125360"/>
          </a:xfrm>
          <a:prstGeom prst="bentConnector3">
            <a:avLst>
              <a:gd name="adj1" fmla="val 50000"/>
            </a:avLst>
          </a:prstGeom>
          <a:ln w="15875">
            <a:solidFill>
              <a:schemeClr val="tx2"/>
            </a:solidFill>
            <a:prstDash val="sysDot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矩形 132">
            <a:extLst>
              <a:ext uri="{FF2B5EF4-FFF2-40B4-BE49-F238E27FC236}">
                <a16:creationId xmlns:a16="http://schemas.microsoft.com/office/drawing/2014/main" id="{C86B3D57-7A10-FF89-F031-04F4E9A2F113}"/>
              </a:ext>
            </a:extLst>
          </p:cNvPr>
          <p:cNvSpPr/>
          <p:nvPr/>
        </p:nvSpPr>
        <p:spPr>
          <a:xfrm>
            <a:off x="1835696" y="5678074"/>
            <a:ext cx="274320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600"/>
              </a:lnSpc>
            </a:pPr>
            <a:r>
              <a:rPr lang="en-US" altLang="zh-TW" sz="1200" b="1" dirty="0">
                <a:solidFill>
                  <a:schemeClr val="tx1"/>
                </a:solidFill>
                <a:ea typeface="微軟正黑體" panose="020B0604030504040204" pitchFamily="34" charset="-120"/>
              </a:rPr>
              <a:t>W</a:t>
            </a:r>
            <a:r>
              <a:rPr lang="en-US" altLang="zh-TW" sz="1200" b="1" baseline="-25000" dirty="0">
                <a:solidFill>
                  <a:schemeClr val="tx1"/>
                </a:solidFill>
                <a:ea typeface="微軟正黑體" panose="020B0604030504040204" pitchFamily="34" charset="-120"/>
              </a:rPr>
              <a:t>k</a:t>
            </a:r>
          </a:p>
        </p:txBody>
      </p:sp>
      <p:cxnSp>
        <p:nvCxnSpPr>
          <p:cNvPr id="137" name="接點: 肘形 136">
            <a:extLst>
              <a:ext uri="{FF2B5EF4-FFF2-40B4-BE49-F238E27FC236}">
                <a16:creationId xmlns:a16="http://schemas.microsoft.com/office/drawing/2014/main" id="{383FB5D2-087D-7FBA-4275-84407B8CD255}"/>
              </a:ext>
            </a:extLst>
          </p:cNvPr>
          <p:cNvCxnSpPr>
            <a:cxnSpLocks/>
            <a:stCxn id="133" idx="3"/>
            <a:endCxn id="126" idx="1"/>
          </p:cNvCxnSpPr>
          <p:nvPr/>
        </p:nvCxnSpPr>
        <p:spPr>
          <a:xfrm>
            <a:off x="2110016" y="5815234"/>
            <a:ext cx="235494" cy="186242"/>
          </a:xfrm>
          <a:prstGeom prst="bentConnector3">
            <a:avLst>
              <a:gd name="adj1" fmla="val 50000"/>
            </a:avLst>
          </a:prstGeom>
          <a:ln w="15875">
            <a:solidFill>
              <a:schemeClr val="tx2"/>
            </a:solidFill>
            <a:prstDash val="sysDot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接點: 肘形 137">
            <a:extLst>
              <a:ext uri="{FF2B5EF4-FFF2-40B4-BE49-F238E27FC236}">
                <a16:creationId xmlns:a16="http://schemas.microsoft.com/office/drawing/2014/main" id="{8D4038DE-73A1-AF5F-C388-5E1630F6833B}"/>
              </a:ext>
            </a:extLst>
          </p:cNvPr>
          <p:cNvCxnSpPr>
            <a:cxnSpLocks/>
            <a:stCxn id="125" idx="3"/>
            <a:endCxn id="145" idx="1"/>
          </p:cNvCxnSpPr>
          <p:nvPr/>
        </p:nvCxnSpPr>
        <p:spPr>
          <a:xfrm flipV="1">
            <a:off x="1461944" y="5496182"/>
            <a:ext cx="373752" cy="505294"/>
          </a:xfrm>
          <a:prstGeom prst="bentConnector3">
            <a:avLst>
              <a:gd name="adj1" fmla="val 50000"/>
            </a:avLst>
          </a:prstGeom>
          <a:ln w="15875">
            <a:solidFill>
              <a:schemeClr val="accent2"/>
            </a:solidFill>
            <a:prstDash val="sysDot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矩形 138">
            <a:extLst>
              <a:ext uri="{FF2B5EF4-FFF2-40B4-BE49-F238E27FC236}">
                <a16:creationId xmlns:a16="http://schemas.microsoft.com/office/drawing/2014/main" id="{6ECD6B83-B49D-5FEC-73D8-DC7780573155}"/>
              </a:ext>
            </a:extLst>
          </p:cNvPr>
          <p:cNvSpPr/>
          <p:nvPr/>
        </p:nvSpPr>
        <p:spPr>
          <a:xfrm>
            <a:off x="1835696" y="5989676"/>
            <a:ext cx="274320" cy="2743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600"/>
              </a:lnSpc>
            </a:pPr>
            <a:r>
              <a:rPr lang="en-US" altLang="zh-TW" sz="1200" b="1" dirty="0">
                <a:solidFill>
                  <a:schemeClr val="tx1"/>
                </a:solidFill>
                <a:ea typeface="微軟正黑體" panose="020B0604030504040204" pitchFamily="34" charset="-120"/>
              </a:rPr>
              <a:t>W</a:t>
            </a:r>
            <a:r>
              <a:rPr lang="en-US" altLang="zh-TW" sz="1200" b="1" baseline="-25000" dirty="0">
                <a:solidFill>
                  <a:schemeClr val="tx1"/>
                </a:solidFill>
                <a:ea typeface="微軟正黑體" panose="020B0604030504040204" pitchFamily="34" charset="-120"/>
              </a:rPr>
              <a:t>q</a:t>
            </a:r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97167A91-18DE-C4D1-5393-73340FD3FD83}"/>
              </a:ext>
            </a:extLst>
          </p:cNvPr>
          <p:cNvSpPr/>
          <p:nvPr/>
        </p:nvSpPr>
        <p:spPr>
          <a:xfrm>
            <a:off x="1835696" y="5359022"/>
            <a:ext cx="274320" cy="2743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600"/>
              </a:lnSpc>
            </a:pPr>
            <a:r>
              <a:rPr lang="en-US" altLang="zh-TW" sz="1200" b="1" dirty="0">
                <a:solidFill>
                  <a:schemeClr val="tx1"/>
                </a:solidFill>
                <a:ea typeface="微軟正黑體" panose="020B0604030504040204" pitchFamily="34" charset="-120"/>
              </a:rPr>
              <a:t>W</a:t>
            </a:r>
            <a:r>
              <a:rPr lang="en-US" altLang="zh-TW" sz="1200" b="1" baseline="-25000" dirty="0">
                <a:solidFill>
                  <a:schemeClr val="tx1"/>
                </a:solidFill>
                <a:ea typeface="微軟正黑體" panose="020B0604030504040204" pitchFamily="34" charset="-120"/>
              </a:rPr>
              <a:t>v</a:t>
            </a:r>
          </a:p>
        </p:txBody>
      </p:sp>
      <p:cxnSp>
        <p:nvCxnSpPr>
          <p:cNvPr id="156" name="接點: 肘形 155">
            <a:extLst>
              <a:ext uri="{FF2B5EF4-FFF2-40B4-BE49-F238E27FC236}">
                <a16:creationId xmlns:a16="http://schemas.microsoft.com/office/drawing/2014/main" id="{35EEDFA5-FA59-E085-01A0-57DA1B44F199}"/>
              </a:ext>
            </a:extLst>
          </p:cNvPr>
          <p:cNvCxnSpPr>
            <a:cxnSpLocks/>
            <a:stCxn id="125" idx="3"/>
            <a:endCxn id="139" idx="1"/>
          </p:cNvCxnSpPr>
          <p:nvPr/>
        </p:nvCxnSpPr>
        <p:spPr>
          <a:xfrm>
            <a:off x="1461944" y="6001476"/>
            <a:ext cx="373752" cy="125360"/>
          </a:xfrm>
          <a:prstGeom prst="bentConnector3">
            <a:avLst>
              <a:gd name="adj1" fmla="val 50000"/>
            </a:avLst>
          </a:prstGeom>
          <a:ln w="15875">
            <a:solidFill>
              <a:schemeClr val="accent2"/>
            </a:solidFill>
            <a:prstDash val="sysDot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矩形 176">
            <a:extLst>
              <a:ext uri="{FF2B5EF4-FFF2-40B4-BE49-F238E27FC236}">
                <a16:creationId xmlns:a16="http://schemas.microsoft.com/office/drawing/2014/main" id="{A8684918-E2C6-7C17-1314-61424879D27C}"/>
              </a:ext>
            </a:extLst>
          </p:cNvPr>
          <p:cNvSpPr/>
          <p:nvPr/>
        </p:nvSpPr>
        <p:spPr>
          <a:xfrm>
            <a:off x="2418522" y="5082627"/>
            <a:ext cx="281269" cy="175123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75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200"/>
              </a:lnSpc>
            </a:pPr>
            <a:r>
              <a:rPr lang="en-US" altLang="zh-TW" sz="1000" b="1" dirty="0">
                <a:solidFill>
                  <a:schemeClr val="accent4"/>
                </a:solidFill>
                <a:ea typeface="微軟正黑體" panose="020B0604030504040204" pitchFamily="34" charset="-120"/>
              </a:rPr>
              <a:t>QK</a:t>
            </a:r>
            <a:r>
              <a:rPr lang="en-US" altLang="zh-TW" sz="1000" b="1" baseline="30000" dirty="0">
                <a:solidFill>
                  <a:schemeClr val="accent4"/>
                </a:solidFill>
                <a:ea typeface="微軟正黑體" panose="020B0604030504040204" pitchFamily="34" charset="-120"/>
              </a:rPr>
              <a:t>T</a:t>
            </a:r>
            <a:r>
              <a:rPr lang="en-US" altLang="zh-TW" sz="1000" b="1" dirty="0">
                <a:solidFill>
                  <a:schemeClr val="accent4"/>
                </a:solidFill>
                <a:ea typeface="微軟正黑體" panose="020B0604030504040204" pitchFamily="34" charset="-120"/>
              </a:rPr>
              <a:t>2</a:t>
            </a:r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E75FB2B1-0D2A-2B1D-A18A-BE44324695DA}"/>
              </a:ext>
            </a:extLst>
          </p:cNvPr>
          <p:cNvSpPr/>
          <p:nvPr/>
        </p:nvSpPr>
        <p:spPr>
          <a:xfrm>
            <a:off x="3616426" y="5772876"/>
            <a:ext cx="27432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600"/>
              </a:lnSpc>
            </a:pPr>
            <a:r>
              <a:rPr lang="en-US" altLang="zh-TW" sz="1400" b="1" dirty="0">
                <a:solidFill>
                  <a:schemeClr val="tx1"/>
                </a:solidFill>
                <a:ea typeface="微軟正黑體" panose="020B0604030504040204" pitchFamily="34" charset="-120"/>
              </a:rPr>
              <a:t>X</a:t>
            </a:r>
            <a:r>
              <a:rPr lang="en-US" altLang="zh-TW" sz="1400" b="1" baseline="-25000" dirty="0">
                <a:solidFill>
                  <a:schemeClr val="tx1"/>
                </a:solidFill>
                <a:ea typeface="微軟正黑體" panose="020B0604030504040204" pitchFamily="34" charset="-120"/>
              </a:rPr>
              <a:t>n</a:t>
            </a:r>
            <a:endParaRPr lang="en-US" altLang="zh-TW" sz="1400" b="1" dirty="0">
              <a:solidFill>
                <a:schemeClr val="tx1"/>
              </a:solidFill>
              <a:ea typeface="微軟正黑體" panose="020B0604030504040204" pitchFamily="34" charset="-120"/>
            </a:endParaRPr>
          </a:p>
        </p:txBody>
      </p:sp>
      <p:sp>
        <p:nvSpPr>
          <p:cNvPr id="183" name="矩形 182">
            <a:extLst>
              <a:ext uri="{FF2B5EF4-FFF2-40B4-BE49-F238E27FC236}">
                <a16:creationId xmlns:a16="http://schemas.microsoft.com/office/drawing/2014/main" id="{1D2C09CB-4C90-4CA0-37C7-5AC2C94C5CD9}"/>
              </a:ext>
            </a:extLst>
          </p:cNvPr>
          <p:cNvSpPr/>
          <p:nvPr/>
        </p:nvSpPr>
        <p:spPr>
          <a:xfrm>
            <a:off x="2425472" y="6382031"/>
            <a:ext cx="274320" cy="16999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75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200"/>
              </a:lnSpc>
            </a:pPr>
            <a:r>
              <a:rPr lang="en-US" altLang="zh-TW" sz="1000" b="1" dirty="0">
                <a:solidFill>
                  <a:schemeClr val="accent4"/>
                </a:solidFill>
                <a:ea typeface="微軟正黑體" panose="020B0604030504040204" pitchFamily="34" charset="-120"/>
              </a:rPr>
              <a:t>QK</a:t>
            </a:r>
            <a:r>
              <a:rPr lang="en-US" altLang="zh-TW" sz="1000" b="1" baseline="30000" dirty="0">
                <a:solidFill>
                  <a:schemeClr val="accent4"/>
                </a:solidFill>
                <a:ea typeface="微軟正黑體" panose="020B0604030504040204" pitchFamily="34" charset="-120"/>
              </a:rPr>
              <a:t>T</a:t>
            </a:r>
            <a:r>
              <a:rPr lang="en-US" altLang="zh-TW" sz="1000" b="1" dirty="0">
                <a:solidFill>
                  <a:schemeClr val="accent4"/>
                </a:solidFill>
                <a:ea typeface="微軟正黑體" panose="020B0604030504040204" pitchFamily="34" charset="-120"/>
              </a:rPr>
              <a:t>h</a:t>
            </a:r>
          </a:p>
        </p:txBody>
      </p:sp>
      <p:cxnSp>
        <p:nvCxnSpPr>
          <p:cNvPr id="186" name="接點: 肘形 185">
            <a:extLst>
              <a:ext uri="{FF2B5EF4-FFF2-40B4-BE49-F238E27FC236}">
                <a16:creationId xmlns:a16="http://schemas.microsoft.com/office/drawing/2014/main" id="{37BBB08F-2C86-92C9-6C1E-6172056DFABC}"/>
              </a:ext>
            </a:extLst>
          </p:cNvPr>
          <p:cNvCxnSpPr>
            <a:cxnSpLocks/>
            <a:stCxn id="181" idx="3"/>
            <a:endCxn id="128" idx="1"/>
          </p:cNvCxnSpPr>
          <p:nvPr/>
        </p:nvCxnSpPr>
        <p:spPr>
          <a:xfrm>
            <a:off x="2699792" y="4953866"/>
            <a:ext cx="288032" cy="1047735"/>
          </a:xfrm>
          <a:prstGeom prst="bentConnector3">
            <a:avLst>
              <a:gd name="adj1" fmla="val 50000"/>
            </a:avLst>
          </a:prstGeom>
          <a:ln w="15875">
            <a:solidFill>
              <a:schemeClr val="accent4">
                <a:lumMod val="75000"/>
              </a:schemeClr>
            </a:solidFill>
            <a:prstDash val="sysDot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接點: 肘形 188">
            <a:extLst>
              <a:ext uri="{FF2B5EF4-FFF2-40B4-BE49-F238E27FC236}">
                <a16:creationId xmlns:a16="http://schemas.microsoft.com/office/drawing/2014/main" id="{6DC96FA7-AC15-752E-CF88-B725C5A75ABF}"/>
              </a:ext>
            </a:extLst>
          </p:cNvPr>
          <p:cNvCxnSpPr>
            <a:cxnSpLocks/>
            <a:stCxn id="183" idx="3"/>
            <a:endCxn id="128" idx="1"/>
          </p:cNvCxnSpPr>
          <p:nvPr/>
        </p:nvCxnSpPr>
        <p:spPr>
          <a:xfrm flipV="1">
            <a:off x="2699792" y="6001601"/>
            <a:ext cx="288032" cy="465429"/>
          </a:xfrm>
          <a:prstGeom prst="bentConnector3">
            <a:avLst>
              <a:gd name="adj1" fmla="val 50000"/>
            </a:avLst>
          </a:prstGeom>
          <a:ln w="15875">
            <a:solidFill>
              <a:schemeClr val="accent4">
                <a:lumMod val="75000"/>
              </a:schemeClr>
            </a:solidFill>
            <a:prstDash val="sysDot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線單箭頭接點 191">
            <a:extLst>
              <a:ext uri="{FF2B5EF4-FFF2-40B4-BE49-F238E27FC236}">
                <a16:creationId xmlns:a16="http://schemas.microsoft.com/office/drawing/2014/main" id="{088D1B0F-0ABA-EC34-FED4-001C775953E2}"/>
              </a:ext>
            </a:extLst>
          </p:cNvPr>
          <p:cNvCxnSpPr>
            <a:cxnSpLocks/>
            <a:stCxn id="126" idx="3"/>
            <a:endCxn id="128" idx="1"/>
          </p:cNvCxnSpPr>
          <p:nvPr/>
        </p:nvCxnSpPr>
        <p:spPr>
          <a:xfrm>
            <a:off x="2696949" y="6001476"/>
            <a:ext cx="290875" cy="125"/>
          </a:xfrm>
          <a:prstGeom prst="straightConnector1">
            <a:avLst/>
          </a:prstGeom>
          <a:ln w="15875">
            <a:solidFill>
              <a:schemeClr val="accent4"/>
            </a:solidFill>
            <a:prstDash val="sysDot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矩形 197">
            <a:extLst>
              <a:ext uri="{FF2B5EF4-FFF2-40B4-BE49-F238E27FC236}">
                <a16:creationId xmlns:a16="http://schemas.microsoft.com/office/drawing/2014/main" id="{AF33E3F8-35E0-D8F1-EFD4-586712EF5677}"/>
              </a:ext>
            </a:extLst>
          </p:cNvPr>
          <p:cNvSpPr/>
          <p:nvPr/>
        </p:nvSpPr>
        <p:spPr>
          <a:xfrm rot="5400000">
            <a:off x="2446343" y="5362476"/>
            <a:ext cx="281269" cy="81612"/>
          </a:xfrm>
          <a:prstGeom prst="rect">
            <a:avLst/>
          </a:prstGeom>
          <a:solidFill>
            <a:schemeClr val="bg1">
              <a:alpha val="60000"/>
            </a:schemeClr>
          </a:solidFill>
          <a:ln w="19050">
            <a:noFill/>
            <a:prstDash val="sysDot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800"/>
              </a:lnSpc>
            </a:pPr>
            <a:r>
              <a:rPr lang="en-US" altLang="zh-TW" sz="1000" b="1" dirty="0">
                <a:solidFill>
                  <a:schemeClr val="accent4"/>
                </a:solidFill>
                <a:ea typeface="微軟正黑體" panose="020B0604030504040204" pitchFamily="34" charset="-120"/>
              </a:rPr>
              <a:t>…</a:t>
            </a:r>
          </a:p>
        </p:txBody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20B8C9D4-4FBD-960F-34F3-C196CB732768}"/>
              </a:ext>
            </a:extLst>
          </p:cNvPr>
          <p:cNvSpPr/>
          <p:nvPr/>
        </p:nvSpPr>
        <p:spPr>
          <a:xfrm>
            <a:off x="2425472" y="4869160"/>
            <a:ext cx="274320" cy="16941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75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200"/>
              </a:lnSpc>
            </a:pPr>
            <a:r>
              <a:rPr lang="en-US" altLang="zh-TW" sz="1000" b="1" dirty="0">
                <a:solidFill>
                  <a:schemeClr val="accent4"/>
                </a:solidFill>
                <a:ea typeface="微軟正黑體" panose="020B0604030504040204" pitchFamily="34" charset="-120"/>
              </a:rPr>
              <a:t>QK</a:t>
            </a:r>
            <a:r>
              <a:rPr lang="en-US" altLang="zh-TW" sz="1000" b="1" baseline="30000" dirty="0">
                <a:solidFill>
                  <a:schemeClr val="accent4"/>
                </a:solidFill>
                <a:ea typeface="微軟正黑體" panose="020B0604030504040204" pitchFamily="34" charset="-120"/>
              </a:rPr>
              <a:t>T</a:t>
            </a:r>
            <a:r>
              <a:rPr lang="en-US" altLang="zh-TW" sz="1000" b="1" dirty="0">
                <a:solidFill>
                  <a:schemeClr val="accent4"/>
                </a:solidFill>
                <a:ea typeface="微軟正黑體" panose="020B0604030504040204" pitchFamily="34" charset="-120"/>
              </a:rPr>
              <a:t>1</a:t>
            </a:r>
          </a:p>
        </p:txBody>
      </p:sp>
      <p:sp>
        <p:nvSpPr>
          <p:cNvPr id="217" name="矩形 216">
            <a:extLst>
              <a:ext uri="{FF2B5EF4-FFF2-40B4-BE49-F238E27FC236}">
                <a16:creationId xmlns:a16="http://schemas.microsoft.com/office/drawing/2014/main" id="{409D2116-BED6-9CF2-32FC-6E99121D91FF}"/>
              </a:ext>
            </a:extLst>
          </p:cNvPr>
          <p:cNvSpPr/>
          <p:nvPr/>
        </p:nvSpPr>
        <p:spPr>
          <a:xfrm>
            <a:off x="2411760" y="6248093"/>
            <a:ext cx="281269" cy="88553"/>
          </a:xfrm>
          <a:prstGeom prst="rect">
            <a:avLst/>
          </a:prstGeom>
          <a:solidFill>
            <a:schemeClr val="bg1">
              <a:alpha val="60000"/>
            </a:schemeClr>
          </a:solidFill>
          <a:ln w="19050">
            <a:noFill/>
            <a:prstDash val="sysDot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600"/>
              </a:lnSpc>
            </a:pPr>
            <a:r>
              <a:rPr lang="en-US" altLang="zh-TW" sz="1000" b="1" dirty="0">
                <a:solidFill>
                  <a:schemeClr val="accent4"/>
                </a:solidFill>
                <a:ea typeface="微軟正黑體" panose="020B0604030504040204" pitchFamily="34" charset="-120"/>
              </a:rPr>
              <a:t>…</a:t>
            </a:r>
          </a:p>
        </p:txBody>
      </p:sp>
      <p:cxnSp>
        <p:nvCxnSpPr>
          <p:cNvPr id="218" name="接點: 肘形 217">
            <a:extLst>
              <a:ext uri="{FF2B5EF4-FFF2-40B4-BE49-F238E27FC236}">
                <a16:creationId xmlns:a16="http://schemas.microsoft.com/office/drawing/2014/main" id="{43FBFE49-E3D5-EA04-36AB-7A11735B74D2}"/>
              </a:ext>
            </a:extLst>
          </p:cNvPr>
          <p:cNvCxnSpPr>
            <a:cxnSpLocks/>
            <a:stCxn id="125" idx="3"/>
            <a:endCxn id="133" idx="1"/>
          </p:cNvCxnSpPr>
          <p:nvPr/>
        </p:nvCxnSpPr>
        <p:spPr>
          <a:xfrm flipV="1">
            <a:off x="1461944" y="5815234"/>
            <a:ext cx="373752" cy="186242"/>
          </a:xfrm>
          <a:prstGeom prst="bentConnector3">
            <a:avLst>
              <a:gd name="adj1" fmla="val 50000"/>
            </a:avLst>
          </a:prstGeom>
          <a:ln w="15875">
            <a:solidFill>
              <a:schemeClr val="accent2"/>
            </a:solidFill>
            <a:prstDash val="sysDot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語音泡泡: 圓角矩形 140">
            <a:extLst>
              <a:ext uri="{FF2B5EF4-FFF2-40B4-BE49-F238E27FC236}">
                <a16:creationId xmlns:a16="http://schemas.microsoft.com/office/drawing/2014/main" id="{53504315-6D58-A850-0F1E-BA0E8B98869A}"/>
              </a:ext>
            </a:extLst>
          </p:cNvPr>
          <p:cNvSpPr/>
          <p:nvPr/>
        </p:nvSpPr>
        <p:spPr>
          <a:xfrm>
            <a:off x="4428299" y="4149080"/>
            <a:ext cx="1079805" cy="356236"/>
          </a:xfrm>
          <a:prstGeom prst="wedgeRoundRectCallout">
            <a:avLst>
              <a:gd name="adj1" fmla="val 63247"/>
              <a:gd name="adj2" fmla="val -3369"/>
              <a:gd name="adj3" fmla="val 16667"/>
            </a:avLst>
          </a:prstGeom>
          <a:solidFill>
            <a:schemeClr val="accent6">
              <a:lumMod val="20000"/>
              <a:lumOff val="80000"/>
              <a:alpha val="70000"/>
            </a:schemeClr>
          </a:solidFill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TW" sz="1400" dirty="0">
                <a:solidFill>
                  <a:schemeClr val="accent6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Multi-Head</a:t>
            </a:r>
            <a:endParaRPr lang="zh-TW" altLang="en-US" sz="1400" dirty="0">
              <a:solidFill>
                <a:schemeClr val="accent6">
                  <a:lumMod val="75000"/>
                </a:scheme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5737298-2681-FB87-7730-5CA338C76CC7}"/>
              </a:ext>
            </a:extLst>
          </p:cNvPr>
          <p:cNvSpPr/>
          <p:nvPr/>
        </p:nvSpPr>
        <p:spPr>
          <a:xfrm>
            <a:off x="2562610" y="2628037"/>
            <a:ext cx="887712" cy="1338375"/>
          </a:xfrm>
          <a:prstGeom prst="rect">
            <a:avLst/>
          </a:prstGeom>
          <a:solidFill>
            <a:schemeClr val="accent6">
              <a:lumMod val="20000"/>
              <a:lumOff val="80000"/>
              <a:alpha val="20000"/>
            </a:schemeClr>
          </a:solidFill>
          <a:ln w="15875">
            <a:solidFill>
              <a:schemeClr val="accent6">
                <a:lumMod val="75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0" rIns="0" bIns="216000" rtlCol="0" anchor="b" anchorCtr="0"/>
          <a:lstStyle/>
          <a:p>
            <a:pPr>
              <a:lnSpc>
                <a:spcPts val="1400"/>
              </a:lnSpc>
            </a:pPr>
            <a:r>
              <a:rPr lang="en-US" altLang="zh-TW" sz="1000" b="1" dirty="0">
                <a:solidFill>
                  <a:schemeClr val="accent6"/>
                </a:solidFill>
                <a:ea typeface="微軟正黑體" panose="020B0604030504040204" pitchFamily="34" charset="-120"/>
              </a:rPr>
              <a:t>Layer n</a:t>
            </a:r>
          </a:p>
        </p:txBody>
      </p:sp>
      <p:sp>
        <p:nvSpPr>
          <p:cNvPr id="5" name="語音泡泡: 圓角矩形 4">
            <a:extLst>
              <a:ext uri="{FF2B5EF4-FFF2-40B4-BE49-F238E27FC236}">
                <a16:creationId xmlns:a16="http://schemas.microsoft.com/office/drawing/2014/main" id="{ADE4B3A5-5AEE-53F2-3F6F-BE9CB09EADB8}"/>
              </a:ext>
            </a:extLst>
          </p:cNvPr>
          <p:cNvSpPr/>
          <p:nvPr/>
        </p:nvSpPr>
        <p:spPr>
          <a:xfrm>
            <a:off x="2842386" y="4020507"/>
            <a:ext cx="1079805" cy="356236"/>
          </a:xfrm>
          <a:prstGeom prst="wedgeRoundRectCallout">
            <a:avLst>
              <a:gd name="adj1" fmla="val -32718"/>
              <a:gd name="adj2" fmla="val -86139"/>
              <a:gd name="adj3" fmla="val 16667"/>
            </a:avLst>
          </a:prstGeom>
          <a:solidFill>
            <a:schemeClr val="accent6">
              <a:lumMod val="20000"/>
              <a:lumOff val="80000"/>
              <a:alpha val="70000"/>
            </a:schemeClr>
          </a:solidFill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TW" sz="1400" dirty="0">
                <a:solidFill>
                  <a:schemeClr val="accent6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KV cache</a:t>
            </a:r>
            <a:endParaRPr lang="zh-TW" altLang="en-US" sz="1400" dirty="0">
              <a:solidFill>
                <a:schemeClr val="accent6">
                  <a:lumMod val="75000"/>
                </a:scheme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BC1C481B-F75F-26CC-D936-72C1D2D9564C}"/>
              </a:ext>
            </a:extLst>
          </p:cNvPr>
          <p:cNvSpPr txBox="1"/>
          <p:nvPr/>
        </p:nvSpPr>
        <p:spPr>
          <a:xfrm>
            <a:off x="5508104" y="4517766"/>
            <a:ext cx="171771" cy="220483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200" b="1" dirty="0"/>
              <a:t>N</a:t>
            </a:r>
            <a:endParaRPr lang="zh-TW" altLang="en-US" sz="1200" b="1" baseline="-25000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CE0AE20F-63C4-0DB4-012F-885E957120E2}"/>
              </a:ext>
            </a:extLst>
          </p:cNvPr>
          <p:cNvSpPr txBox="1"/>
          <p:nvPr/>
        </p:nvSpPr>
        <p:spPr>
          <a:xfrm>
            <a:off x="5632418" y="4328293"/>
            <a:ext cx="238841" cy="127334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200" b="1" dirty="0">
                <a:solidFill>
                  <a:schemeClr val="accent6">
                    <a:lumMod val="75000"/>
                  </a:schemeClr>
                </a:solidFill>
              </a:rPr>
              <a:t>d</a:t>
            </a:r>
            <a:r>
              <a:rPr lang="en-US" altLang="zh-TW" sz="1200" b="1" baseline="-25000" dirty="0">
                <a:solidFill>
                  <a:schemeClr val="accent6">
                    <a:lumMod val="75000"/>
                  </a:schemeClr>
                </a:solidFill>
              </a:rPr>
              <a:t>h</a:t>
            </a:r>
            <a:endParaRPr lang="zh-TW" altLang="en-US" sz="1200" b="1" dirty="0"/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9317D5D7-B142-A685-7C9E-D51FCF2A63B0}"/>
              </a:ext>
            </a:extLst>
          </p:cNvPr>
          <p:cNvSpPr txBox="1"/>
          <p:nvPr/>
        </p:nvSpPr>
        <p:spPr>
          <a:xfrm>
            <a:off x="6677178" y="3628549"/>
            <a:ext cx="555712" cy="234489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200" dirty="0"/>
              <a:t>d = d</a:t>
            </a:r>
            <a:r>
              <a:rPr lang="en-US" altLang="zh-TW" sz="1200" baseline="-25000" dirty="0"/>
              <a:t>h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新細明體" panose="02020500000000000000" pitchFamily="18" charset="-120"/>
                <a:cs typeface="+mn-cs"/>
              </a:rPr>
              <a:t>* h</a:t>
            </a:r>
            <a:endParaRPr lang="zh-TW" altLang="en-US" sz="12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CA776DA-54DC-E50C-3134-7435E0E3C642}"/>
              </a:ext>
            </a:extLst>
          </p:cNvPr>
          <p:cNvSpPr txBox="1"/>
          <p:nvPr/>
        </p:nvSpPr>
        <p:spPr>
          <a:xfrm>
            <a:off x="5311496" y="2428245"/>
            <a:ext cx="320922" cy="177924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200" b="1" dirty="0"/>
              <a:t>N</a:t>
            </a:r>
            <a:r>
              <a:rPr lang="zh-TW" altLang="en-US" sz="1200" b="1" dirty="0"/>
              <a:t>*</a:t>
            </a:r>
            <a:r>
              <a:rPr lang="en-US" altLang="zh-TW" sz="1200" b="1" dirty="0"/>
              <a:t>d</a:t>
            </a:r>
            <a:r>
              <a:rPr lang="en-US" altLang="zh-TW" sz="1200" b="1" baseline="-25000" dirty="0"/>
              <a:t>h</a:t>
            </a:r>
            <a:endParaRPr lang="zh-TW" altLang="en-US" sz="1200" b="1" dirty="0"/>
          </a:p>
        </p:txBody>
      </p:sp>
      <p:cxnSp>
        <p:nvCxnSpPr>
          <p:cNvPr id="16" name="接點: 肘形 15">
            <a:extLst>
              <a:ext uri="{FF2B5EF4-FFF2-40B4-BE49-F238E27FC236}">
                <a16:creationId xmlns:a16="http://schemas.microsoft.com/office/drawing/2014/main" id="{5B6A6983-A428-5828-1191-4BD17EBCD169}"/>
              </a:ext>
            </a:extLst>
          </p:cNvPr>
          <p:cNvCxnSpPr>
            <a:cxnSpLocks/>
            <a:stCxn id="20" idx="2"/>
            <a:endCxn id="29" idx="0"/>
          </p:cNvCxnSpPr>
          <p:nvPr/>
        </p:nvCxnSpPr>
        <p:spPr>
          <a:xfrm rot="16200000" flipH="1">
            <a:off x="5436613" y="3952954"/>
            <a:ext cx="341421" cy="287395"/>
          </a:xfrm>
          <a:prstGeom prst="bentConnector3">
            <a:avLst>
              <a:gd name="adj1" fmla="val 50000"/>
            </a:avLst>
          </a:prstGeom>
          <a:ln w="15875">
            <a:solidFill>
              <a:schemeClr val="accent2"/>
            </a:solidFill>
            <a:prstDash val="sysDot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0F805D0-5DA8-0A88-5752-A074216163C4}"/>
              </a:ext>
            </a:extLst>
          </p:cNvPr>
          <p:cNvSpPr txBox="1"/>
          <p:nvPr/>
        </p:nvSpPr>
        <p:spPr>
          <a:xfrm flipH="1">
            <a:off x="5811738" y="4058607"/>
            <a:ext cx="249352" cy="207547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200" b="1" dirty="0"/>
              <a:t>d</a:t>
            </a:r>
            <a:endParaRPr lang="zh-TW" altLang="en-US" sz="1200" b="1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B532574-8CED-E976-9B16-86AEF8A21C82}"/>
              </a:ext>
            </a:extLst>
          </p:cNvPr>
          <p:cNvSpPr/>
          <p:nvPr/>
        </p:nvSpPr>
        <p:spPr>
          <a:xfrm>
            <a:off x="5679875" y="4800388"/>
            <a:ext cx="547276" cy="194173"/>
          </a:xfrm>
          <a:prstGeom prst="rect">
            <a:avLst/>
          </a:prstGeom>
          <a:solidFill>
            <a:schemeClr val="accent2">
              <a:lumMod val="20000"/>
              <a:lumOff val="80000"/>
              <a:alpha val="60000"/>
            </a:schemeClr>
          </a:solidFill>
          <a:ln w="15875">
            <a:solidFill>
              <a:schemeClr val="accent2">
                <a:lumMod val="75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576" rtlCol="0" anchor="ctr" anchorCtr="1"/>
          <a:lstStyle/>
          <a:p>
            <a:pPr algn="ctr">
              <a:lnSpc>
                <a:spcPts val="1400"/>
              </a:lnSpc>
            </a:pPr>
            <a:r>
              <a:rPr lang="en-US" altLang="zh-TW" sz="1400" b="1" dirty="0">
                <a:solidFill>
                  <a:schemeClr val="accent2"/>
                </a:solidFill>
                <a:ea typeface="微軟正黑體" panose="020B0604030504040204" pitchFamily="34" charset="-120"/>
              </a:rPr>
              <a:t>x</a:t>
            </a:r>
            <a:r>
              <a:rPr lang="en-US" altLang="zh-TW" sz="1200" dirty="0">
                <a:solidFill>
                  <a:schemeClr val="accent2"/>
                </a:solidFill>
                <a:ea typeface="微軟正黑體" panose="020B0604030504040204" pitchFamily="34" charset="-120"/>
              </a:rPr>
              <a:t> </a:t>
            </a:r>
            <a:r>
              <a:rPr lang="en-US" altLang="zh-TW" sz="1200" baseline="-25000" dirty="0">
                <a:solidFill>
                  <a:schemeClr val="accent2">
                    <a:lumMod val="50000"/>
                  </a:schemeClr>
                </a:solidFill>
                <a:ea typeface="微軟正黑體" panose="020B0604030504040204" pitchFamily="34" charset="-120"/>
              </a:rPr>
              <a:t>t=4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8D0D644A-4AE2-53D9-93B8-057864169286}"/>
                  </a:ext>
                </a:extLst>
              </p:cNvPr>
              <p:cNvSpPr/>
              <p:nvPr/>
            </p:nvSpPr>
            <p:spPr>
              <a:xfrm>
                <a:off x="5679875" y="5074936"/>
                <a:ext cx="2826864" cy="47799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6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 anchorCtr="1"/>
              <a:lstStyle/>
              <a:p>
                <a:pPr algn="ctr"/>
                <a:r>
                  <a:rPr lang="en-US" altLang="zh-TW" sz="1200" b="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sz="1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sz="12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TW" sz="1200" b="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⋮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TW" sz="1200" b="1" i="0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200" b="1" i="0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1200" b="0" i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</m:t>
                                </m:r>
                                <m:r>
                                  <a:rPr lang="en-US" altLang="zh-TW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TW" sz="120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en-US" altLang="zh-TW" sz="12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sz="1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TW" sz="120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⋮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TW" sz="1200" b="0" i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1200" b="0" i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1200" b="0" i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en-US" altLang="zh-TW" sz="1200" b="0" i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1200" b="0" i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k</m:t>
                                </m:r>
                              </m:e>
                              <m:sub>
                                <m:r>
                                  <a:rPr lang="en-US" altLang="zh-TW" sz="1200" b="0" i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zh-TW" sz="1200" b="0" i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</m:t>
                                </m:r>
                              </m:sup>
                            </m:sSubSup>
                            <m:r>
                              <m:rPr>
                                <m:nor/>
                              </m:rPr>
                              <a:rPr lang="en-US" altLang="zh-TW" sz="120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sz="1200" b="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TW" sz="1200" b="0" i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1200" b="0" i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1200" b="0" i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en-US" altLang="zh-TW" sz="1200" b="0" i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1200" b="0" i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k</m:t>
                                </m:r>
                              </m:e>
                              <m:sub>
                                <m:r>
                                  <a:rPr lang="en-US" altLang="zh-TW" sz="1200" b="0" i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zh-TW" sz="1200" b="0" i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</m:t>
                                </m:r>
                              </m:sup>
                            </m:sSubSup>
                            <m:r>
                              <a:rPr lang="en-US" altLang="zh-TW" sz="1200" b="0" i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⋯</m:t>
                            </m:r>
                            <m:r>
                              <a:rPr lang="en-US" altLang="zh-TW" sz="1200" b="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TW" sz="1200" b="0" i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200" b="0" i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1200" b="0" i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1200" b="0" i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en-US" altLang="zh-TW" sz="1200" b="0" i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1200" b="0" i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k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1200" b="0" i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zh-TW" sz="1200" b="0" i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</m:t>
                                </m:r>
                              </m:sup>
                            </m:sSubSup>
                          </m:e>
                        </m:eqArr>
                      </m:e>
                    </m:d>
                    <m:r>
                      <a:rPr lang="en-US" altLang="zh-TW" sz="12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TW" sz="1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zh-TW" sz="12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12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2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  <m:r>
                          <a:rPr lang="en-US" altLang="zh-TW" sz="12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altLang="zh-TW" sz="12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j</m:t>
                        </m:r>
                      </m:sub>
                    </m:sSub>
                    <m:r>
                      <a:rPr lang="en-US" altLang="zh-TW" sz="12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TW" sz="1200" baseline="-25000" dirty="0">
                  <a:solidFill>
                    <a:schemeClr val="tx1"/>
                  </a:solidFill>
                  <a:ea typeface="微軟正黑體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8D0D644A-4AE2-53D9-93B8-0578641692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9875" y="5074936"/>
                <a:ext cx="2826864" cy="47799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17F0A3EF-803B-A445-7AEA-19E56F5C407D}"/>
                  </a:ext>
                </a:extLst>
              </p:cNvPr>
              <p:cNvSpPr txBox="1"/>
              <p:nvPr/>
            </p:nvSpPr>
            <p:spPr>
              <a:xfrm>
                <a:off x="6023140" y="5598911"/>
                <a:ext cx="1658916" cy="309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zh-TW" altLang="en-US" sz="1200" dirty="0"/>
                  <a:t> </a:t>
                </a:r>
                <a14:m>
                  <m:oMath xmlns:m="http://schemas.openxmlformats.org/officeDocument/2006/math">
                    <m:r>
                      <a:rPr lang="zh-TW" altLang="en-US" sz="1200" i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TW" sz="1200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1200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2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en-US" altLang="zh-TW" sz="1200" b="0" i="0" smtClean="0">
                        <a:latin typeface="Cambria Math" panose="02040503050406030204" pitchFamily="18" charset="0"/>
                      </a:rPr>
                      <m:t>=</m:t>
                    </m:r>
                    <m:borderBox>
                      <m:borderBoxPr>
                        <m:ctrlPr>
                          <a:rPr lang="en-US" altLang="zh-TW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nary>
                          <m:naryPr>
                            <m:chr m:val="∑"/>
                            <m:limLoc m:val="subSup"/>
                            <m:ctrlPr>
                              <a:rPr lang="en-US" altLang="zh-TW" sz="1200" i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  <m:brk m:alnAt="25"/>
                              </m:rPr>
                              <a:rPr lang="en-US" altLang="zh-TW" sz="1200" i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 altLang="zh-TW" sz="1200" i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sup>
                          <m:e>
                            <m:r>
                              <a:rPr lang="zh-TW" altLang="en-US" sz="1200" i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sz="1200" b="1" i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altLang="zh-TW" sz="1200" b="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sz="1200" i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TW" sz="1200" i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1200" i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1200" i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  <m:r>
                              <a:rPr lang="en-US" altLang="zh-TW" sz="1200" i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⋅</m:t>
                            </m:r>
                            <m:sSubSup>
                              <m:sSubSupPr>
                                <m:ctrlPr>
                                  <a:rPr lang="en-US" altLang="zh-TW" sz="1200" i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1200" i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k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1200" i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j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zh-TW" sz="1200" i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p>
                            </m:sSubSup>
                          </m:e>
                        </m:nary>
                        <m:r>
                          <a:rPr lang="en-US" altLang="zh-TW" sz="1200" i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TW" sz="1200" i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altLang="zh-TW" sz="1200" i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sz="1200" i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200" i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</m:sSub>
                        <m:r>
                          <a:rPr lang="zh-TW" altLang="en-US" sz="1200" i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1200" b="1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borderBox>
                  </m:oMath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17F0A3EF-803B-A445-7AEA-19E56F5C40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3140" y="5598911"/>
                <a:ext cx="1658916" cy="309444"/>
              </a:xfrm>
              <a:prstGeom prst="rect">
                <a:avLst/>
              </a:prstGeom>
              <a:blipFill>
                <a:blip r:embed="rId7"/>
                <a:stretch>
                  <a:fillRect t="-82353" r="-2206" b="-1352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9445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642906-5278-0707-1719-9D4BBCC79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文字方塊 69">
            <a:extLst>
              <a:ext uri="{FF2B5EF4-FFF2-40B4-BE49-F238E27FC236}">
                <a16:creationId xmlns:a16="http://schemas.microsoft.com/office/drawing/2014/main" id="{C0651763-3797-26C8-2EFA-16D41A2C5FBD}"/>
              </a:ext>
            </a:extLst>
          </p:cNvPr>
          <p:cNvSpPr txBox="1"/>
          <p:nvPr/>
        </p:nvSpPr>
        <p:spPr>
          <a:xfrm>
            <a:off x="6746819" y="1992661"/>
            <a:ext cx="348940" cy="653834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  <a:prstDash val="dash"/>
          </a:ln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400"/>
              </a:lnSpc>
            </a:pPr>
            <a:endParaRPr lang="zh-TW" altLang="en-US" sz="1200" baseline="-25000" dirty="0">
              <a:solidFill>
                <a:schemeClr val="tx1">
                  <a:lumMod val="50000"/>
                  <a:lumOff val="50000"/>
                </a:scheme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62DACEC4-ACF7-D407-4126-BD8D6409AAEA}"/>
              </a:ext>
            </a:extLst>
          </p:cNvPr>
          <p:cNvSpPr/>
          <p:nvPr/>
        </p:nvSpPr>
        <p:spPr>
          <a:xfrm>
            <a:off x="7312447" y="1992661"/>
            <a:ext cx="329432" cy="66018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91440" rIns="0" bIns="0" rtlCol="0" anchor="ctr" anchorCtr="1"/>
          <a:lstStyle/>
          <a:p>
            <a:pPr algn="ctr">
              <a:lnSpc>
                <a:spcPts val="1200"/>
              </a:lnSpc>
            </a:pPr>
            <a:r>
              <a:rPr lang="en-US" altLang="zh-TW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History</a:t>
            </a:r>
            <a:br>
              <a:rPr lang="en-US" altLang="zh-TW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altLang="zh-TW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Prompt</a:t>
            </a:r>
          </a:p>
          <a:p>
            <a:pPr algn="ctr">
              <a:lnSpc>
                <a:spcPts val="1200"/>
              </a:lnSpc>
            </a:pPr>
            <a:r>
              <a:rPr lang="en-US" altLang="zh-TW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X</a:t>
            </a:r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83332411-D54A-D21C-2882-6299E9D035DA}"/>
              </a:ext>
            </a:extLst>
          </p:cNvPr>
          <p:cNvSpPr/>
          <p:nvPr/>
        </p:nvSpPr>
        <p:spPr>
          <a:xfrm>
            <a:off x="2507197" y="2270626"/>
            <a:ext cx="2928899" cy="1299598"/>
          </a:xfrm>
          <a:prstGeom prst="rect">
            <a:avLst/>
          </a:prstGeom>
          <a:solidFill>
            <a:schemeClr val="accent6">
              <a:lumMod val="20000"/>
              <a:lumOff val="80000"/>
              <a:alpha val="20000"/>
            </a:schemeClr>
          </a:solidFill>
          <a:ln w="15875">
            <a:solidFill>
              <a:schemeClr val="accent6">
                <a:lumMod val="75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0" rIns="0" bIns="0" rtlCol="0" anchor="b" anchorCtr="0"/>
          <a:lstStyle/>
          <a:p>
            <a:pPr>
              <a:lnSpc>
                <a:spcPts val="1000"/>
              </a:lnSpc>
            </a:pPr>
            <a:r>
              <a:rPr lang="en-US" altLang="zh-TW" sz="1000" b="1" dirty="0">
                <a:solidFill>
                  <a:schemeClr val="accent6">
                    <a:lumMod val="75000"/>
                  </a:schemeClr>
                </a:solidFill>
                <a:ea typeface="微軟正黑體" panose="020B0604030504040204" pitchFamily="34" charset="-120"/>
              </a:rPr>
              <a:t>RNN Form</a:t>
            </a: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52C71AD2-F34A-155E-DCB3-D6AA561DB6C0}"/>
              </a:ext>
            </a:extLst>
          </p:cNvPr>
          <p:cNvSpPr txBox="1"/>
          <p:nvPr/>
        </p:nvSpPr>
        <p:spPr>
          <a:xfrm>
            <a:off x="3938654" y="2344634"/>
            <a:ext cx="169036" cy="1070619"/>
          </a:xfrm>
          <a:prstGeom prst="rect">
            <a:avLst/>
          </a:prstGeom>
          <a:solidFill>
            <a:schemeClr val="accent3">
              <a:lumMod val="20000"/>
              <a:lumOff val="80000"/>
              <a:alpha val="20000"/>
            </a:schemeClr>
          </a:solidFill>
          <a:ln w="15875">
            <a:solidFill>
              <a:schemeClr val="accent3">
                <a:lumMod val="60000"/>
                <a:lumOff val="40000"/>
              </a:schemeClr>
            </a:solidFill>
            <a:prstDash val="sysDot"/>
          </a:ln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800"/>
              </a:lnSpc>
            </a:pPr>
            <a:r>
              <a:rPr lang="en-US" altLang="zh-TW" sz="800" dirty="0">
                <a:solidFill>
                  <a:schemeClr val="accent3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</a:t>
            </a:r>
          </a:p>
          <a:p>
            <a:pPr algn="ctr">
              <a:lnSpc>
                <a:spcPts val="800"/>
              </a:lnSpc>
            </a:pPr>
            <a:endParaRPr lang="en-US" altLang="zh-TW" sz="800" dirty="0">
              <a:solidFill>
                <a:schemeClr val="accent3">
                  <a:lumMod val="75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ctr">
              <a:lnSpc>
                <a:spcPts val="800"/>
              </a:lnSpc>
            </a:pPr>
            <a:r>
              <a:rPr lang="en-US" altLang="zh-TW" sz="800" dirty="0">
                <a:solidFill>
                  <a:schemeClr val="accent3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pPr algn="ctr">
              <a:lnSpc>
                <a:spcPts val="800"/>
              </a:lnSpc>
            </a:pPr>
            <a:r>
              <a:rPr lang="en-US" altLang="zh-TW" sz="800" dirty="0">
                <a:solidFill>
                  <a:schemeClr val="accent3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pPr algn="ctr">
              <a:lnSpc>
                <a:spcPts val="800"/>
              </a:lnSpc>
            </a:pPr>
            <a:r>
              <a:rPr lang="en-US" altLang="zh-TW" sz="800" dirty="0">
                <a:solidFill>
                  <a:schemeClr val="accent3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pPr algn="ctr">
              <a:lnSpc>
                <a:spcPts val="1400"/>
              </a:lnSpc>
            </a:pPr>
            <a:r>
              <a:rPr lang="en-US" altLang="zh-TW" dirty="0">
                <a:solidFill>
                  <a:schemeClr val="accent3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</a:t>
            </a:r>
            <a:r>
              <a:rPr lang="en-US" altLang="zh-TW" baseline="-25000" dirty="0">
                <a:solidFill>
                  <a:schemeClr val="accent3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</a:t>
            </a:r>
            <a:endParaRPr lang="en-US" altLang="zh-TW" sz="800" dirty="0">
              <a:solidFill>
                <a:schemeClr val="accent3">
                  <a:lumMod val="75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ctr">
              <a:lnSpc>
                <a:spcPts val="800"/>
              </a:lnSpc>
            </a:pPr>
            <a:r>
              <a:rPr lang="en-US" altLang="zh-TW" sz="800" dirty="0">
                <a:solidFill>
                  <a:schemeClr val="accent3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pPr algn="ctr">
              <a:lnSpc>
                <a:spcPts val="800"/>
              </a:lnSpc>
            </a:pPr>
            <a:r>
              <a:rPr lang="en-US" altLang="zh-TW" sz="800" dirty="0">
                <a:solidFill>
                  <a:schemeClr val="accent3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pPr algn="ctr">
              <a:lnSpc>
                <a:spcPts val="800"/>
              </a:lnSpc>
            </a:pPr>
            <a:r>
              <a:rPr lang="en-US" altLang="zh-TW" sz="800" dirty="0">
                <a:solidFill>
                  <a:schemeClr val="accent3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pPr algn="ctr">
              <a:lnSpc>
                <a:spcPts val="800"/>
              </a:lnSpc>
            </a:pPr>
            <a:r>
              <a:rPr lang="en-US" altLang="zh-TW" sz="800" dirty="0">
                <a:solidFill>
                  <a:schemeClr val="accent3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</a:t>
            </a:r>
            <a:endParaRPr lang="zh-TW" altLang="en-US" sz="800" dirty="0">
              <a:solidFill>
                <a:schemeClr val="accent3">
                  <a:lumMod val="75000"/>
                </a:scheme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aphicFrame>
        <p:nvGraphicFramePr>
          <p:cNvPr id="147" name="表格 146">
            <a:extLst>
              <a:ext uri="{FF2B5EF4-FFF2-40B4-BE49-F238E27FC236}">
                <a16:creationId xmlns:a16="http://schemas.microsoft.com/office/drawing/2014/main" id="{D930FD23-9087-89A3-2189-E7D64384B9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1466310"/>
              </p:ext>
            </p:extLst>
          </p:nvPr>
        </p:nvGraphicFramePr>
        <p:xfrm>
          <a:off x="893080" y="2429887"/>
          <a:ext cx="539841" cy="1130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695">
                  <a:extLst>
                    <a:ext uri="{9D8B030D-6E8A-4147-A177-3AD203B41FA5}">
                      <a16:colId xmlns:a16="http://schemas.microsoft.com/office/drawing/2014/main" val="1603514915"/>
                    </a:ext>
                  </a:extLst>
                </a:gridCol>
                <a:gridCol w="177573">
                  <a:extLst>
                    <a:ext uri="{9D8B030D-6E8A-4147-A177-3AD203B41FA5}">
                      <a16:colId xmlns:a16="http://schemas.microsoft.com/office/drawing/2014/main" val="1823401774"/>
                    </a:ext>
                  </a:extLst>
                </a:gridCol>
                <a:gridCol w="177573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</a:tblGrid>
              <a:tr h="1614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96678"/>
                  </a:ext>
                </a:extLst>
              </a:tr>
              <a:tr h="161496"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225911"/>
                  </a:ext>
                </a:extLst>
              </a:tr>
              <a:tr h="1614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971003"/>
                  </a:ext>
                </a:extLst>
              </a:tr>
              <a:tr h="161496"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384225"/>
                  </a:ext>
                </a:extLst>
              </a:tr>
              <a:tr h="1614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019256"/>
                  </a:ext>
                </a:extLst>
              </a:tr>
              <a:tr h="161496"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641310"/>
                  </a:ext>
                </a:extLst>
              </a:tr>
              <a:tr h="1614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904019"/>
                  </a:ext>
                </a:extLst>
              </a:tr>
            </a:tbl>
          </a:graphicData>
        </a:graphic>
      </p:graphicFrame>
      <p:sp>
        <p:nvSpPr>
          <p:cNvPr id="49" name="標題 1">
            <a:extLst>
              <a:ext uri="{FF2B5EF4-FFF2-40B4-BE49-F238E27FC236}">
                <a16:creationId xmlns:a16="http://schemas.microsoft.com/office/drawing/2014/main" id="{653C2F0C-4A58-0FDB-04B9-CB90365354E2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885698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b="1" dirty="0">
                <a:solidFill>
                  <a:schemeClr val="accent6">
                    <a:lumMod val="75000"/>
                  </a:scheme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L</a:t>
            </a:r>
            <a:r>
              <a:rPr lang="en-US" altLang="zh-TW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inear </a:t>
            </a:r>
            <a:r>
              <a:rPr lang="en-US" altLang="zh-TW" sz="2800" b="1" dirty="0">
                <a:solidFill>
                  <a:schemeClr val="accent6">
                    <a:lumMod val="75000"/>
                  </a:scheme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A</a:t>
            </a:r>
            <a:r>
              <a:rPr lang="en-US" altLang="zh-TW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ttention</a:t>
            </a:r>
          </a:p>
          <a:p>
            <a:r>
              <a:rPr lang="en-US" altLang="zh-TW" sz="14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Eliminates growing KV cache by compressing pass context into a fixed-size state matrix.</a:t>
            </a:r>
          </a:p>
        </p:txBody>
      </p:sp>
      <p:graphicFrame>
        <p:nvGraphicFramePr>
          <p:cNvPr id="119" name="表格 118">
            <a:extLst>
              <a:ext uri="{FF2B5EF4-FFF2-40B4-BE49-F238E27FC236}">
                <a16:creationId xmlns:a16="http://schemas.microsoft.com/office/drawing/2014/main" id="{DD417494-56D3-F260-E47C-01D8D7346E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9906266"/>
              </p:ext>
            </p:extLst>
          </p:nvPr>
        </p:nvGraphicFramePr>
        <p:xfrm>
          <a:off x="583467" y="2429887"/>
          <a:ext cx="236077" cy="11541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077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</a:tblGrid>
              <a:tr h="16488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t=1</a:t>
                      </a:r>
                      <a:endParaRPr lang="zh-TW" altLang="en-US" sz="10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96678"/>
                  </a:ext>
                </a:extLst>
              </a:tr>
              <a:tr h="164885"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225911"/>
                  </a:ext>
                </a:extLst>
              </a:tr>
              <a:tr h="16488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t=2</a:t>
                      </a:r>
                      <a:endParaRPr lang="zh-TW" altLang="en-US" sz="10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971003"/>
                  </a:ext>
                </a:extLst>
              </a:tr>
              <a:tr h="164885"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384225"/>
                  </a:ext>
                </a:extLst>
              </a:tr>
              <a:tr h="16488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t=3</a:t>
                      </a:r>
                      <a:endParaRPr lang="zh-TW" altLang="en-US" sz="10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019256"/>
                  </a:ext>
                </a:extLst>
              </a:tr>
              <a:tr h="164885"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641310"/>
                  </a:ext>
                </a:extLst>
              </a:tr>
              <a:tr h="16488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t=4</a:t>
                      </a:r>
                      <a:endParaRPr lang="zh-TW" altLang="en-US" sz="10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904019"/>
                  </a:ext>
                </a:extLst>
              </a:tr>
            </a:tbl>
          </a:graphicData>
        </a:graphic>
      </p:graphicFrame>
      <p:graphicFrame>
        <p:nvGraphicFramePr>
          <p:cNvPr id="120" name="表格 119">
            <a:extLst>
              <a:ext uri="{FF2B5EF4-FFF2-40B4-BE49-F238E27FC236}">
                <a16:creationId xmlns:a16="http://schemas.microsoft.com/office/drawing/2014/main" id="{7A9907B2-6C12-64CE-9D1A-EFFBF3E4FA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708228"/>
              </p:ext>
            </p:extLst>
          </p:nvPr>
        </p:nvGraphicFramePr>
        <p:xfrm>
          <a:off x="4264534" y="2349693"/>
          <a:ext cx="1065052" cy="106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263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66263">
                  <a:extLst>
                    <a:ext uri="{9D8B030D-6E8A-4147-A177-3AD203B41FA5}">
                      <a16:colId xmlns:a16="http://schemas.microsoft.com/office/drawing/2014/main" val="4108446047"/>
                    </a:ext>
                  </a:extLst>
                </a:gridCol>
                <a:gridCol w="266263">
                  <a:extLst>
                    <a:ext uri="{9D8B030D-6E8A-4147-A177-3AD203B41FA5}">
                      <a16:colId xmlns:a16="http://schemas.microsoft.com/office/drawing/2014/main" val="1986383383"/>
                    </a:ext>
                  </a:extLst>
                </a:gridCol>
                <a:gridCol w="266263">
                  <a:extLst>
                    <a:ext uri="{9D8B030D-6E8A-4147-A177-3AD203B41FA5}">
                      <a16:colId xmlns:a16="http://schemas.microsoft.com/office/drawing/2014/main" val="3805389299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9667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22591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97100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38422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01925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64131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904019"/>
                  </a:ext>
                </a:extLst>
              </a:tr>
            </a:tbl>
          </a:graphicData>
        </a:graphic>
      </p:graphicFrame>
      <p:cxnSp>
        <p:nvCxnSpPr>
          <p:cNvPr id="127" name="接點: 肘形 126">
            <a:extLst>
              <a:ext uri="{FF2B5EF4-FFF2-40B4-BE49-F238E27FC236}">
                <a16:creationId xmlns:a16="http://schemas.microsoft.com/office/drawing/2014/main" id="{AD1CDEDB-1426-E68D-82D3-88E06B027EE6}"/>
              </a:ext>
            </a:extLst>
          </p:cNvPr>
          <p:cNvCxnSpPr>
            <a:cxnSpLocks/>
            <a:stCxn id="149" idx="3"/>
            <a:endCxn id="135" idx="1"/>
          </p:cNvCxnSpPr>
          <p:nvPr/>
        </p:nvCxnSpPr>
        <p:spPr>
          <a:xfrm flipV="1">
            <a:off x="1465845" y="2574055"/>
            <a:ext cx="585875" cy="258522"/>
          </a:xfrm>
          <a:prstGeom prst="bentConnector3">
            <a:avLst>
              <a:gd name="adj1" fmla="val 50000"/>
            </a:avLst>
          </a:prstGeom>
          <a:ln w="15875">
            <a:solidFill>
              <a:schemeClr val="accent2"/>
            </a:solidFill>
            <a:prstDash val="sysDot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文字方塊 134">
            <a:extLst>
              <a:ext uri="{FF2B5EF4-FFF2-40B4-BE49-F238E27FC236}">
                <a16:creationId xmlns:a16="http://schemas.microsoft.com/office/drawing/2014/main" id="{8E025679-96E3-D00B-8FCB-48D86B490984}"/>
              </a:ext>
            </a:extLst>
          </p:cNvPr>
          <p:cNvSpPr txBox="1"/>
          <p:nvPr/>
        </p:nvSpPr>
        <p:spPr>
          <a:xfrm>
            <a:off x="2051720" y="2348880"/>
            <a:ext cx="188274" cy="450350"/>
          </a:xfrm>
          <a:prstGeom prst="rect">
            <a:avLst/>
          </a:prstGeom>
          <a:noFill/>
          <a:ln w="15875">
            <a:solidFill>
              <a:schemeClr val="accent1">
                <a:lumMod val="40000"/>
                <a:lumOff val="60000"/>
              </a:schemeClr>
            </a:solidFill>
            <a:prstDash val="sysDot"/>
          </a:ln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dirty="0">
                <a:solidFill>
                  <a:schemeClr val="accent5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</a:t>
            </a:r>
            <a:r>
              <a:rPr lang="en-US" altLang="zh-TW" baseline="-25000" dirty="0">
                <a:solidFill>
                  <a:schemeClr val="accent5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</a:t>
            </a:r>
            <a:endParaRPr lang="zh-TW" altLang="en-US" baseline="-25000" dirty="0">
              <a:solidFill>
                <a:schemeClr val="accent5">
                  <a:lumMod val="75000"/>
                </a:scheme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cxnSp>
        <p:nvCxnSpPr>
          <p:cNvPr id="140" name="接點: 肘形 139">
            <a:extLst>
              <a:ext uri="{FF2B5EF4-FFF2-40B4-BE49-F238E27FC236}">
                <a16:creationId xmlns:a16="http://schemas.microsoft.com/office/drawing/2014/main" id="{C6166ECD-85DE-3ACA-61FE-CE65BF466FF7}"/>
              </a:ext>
            </a:extLst>
          </p:cNvPr>
          <p:cNvCxnSpPr>
            <a:cxnSpLocks/>
            <a:stCxn id="149" idx="3"/>
            <a:endCxn id="143" idx="1"/>
          </p:cNvCxnSpPr>
          <p:nvPr/>
        </p:nvCxnSpPr>
        <p:spPr>
          <a:xfrm flipV="1">
            <a:off x="1465845" y="1946614"/>
            <a:ext cx="585875" cy="885963"/>
          </a:xfrm>
          <a:prstGeom prst="bentConnector3">
            <a:avLst>
              <a:gd name="adj1" fmla="val 50000"/>
            </a:avLst>
          </a:prstGeom>
          <a:ln w="15875">
            <a:solidFill>
              <a:schemeClr val="accent2"/>
            </a:solidFill>
            <a:prstDash val="sysDot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接點: 肘形 140">
            <a:extLst>
              <a:ext uri="{FF2B5EF4-FFF2-40B4-BE49-F238E27FC236}">
                <a16:creationId xmlns:a16="http://schemas.microsoft.com/office/drawing/2014/main" id="{AAF554DB-F503-8B4A-BA6F-F197EB8807FD}"/>
              </a:ext>
            </a:extLst>
          </p:cNvPr>
          <p:cNvCxnSpPr>
            <a:cxnSpLocks/>
            <a:stCxn id="149" idx="3"/>
            <a:endCxn id="25" idx="1"/>
          </p:cNvCxnSpPr>
          <p:nvPr/>
        </p:nvCxnSpPr>
        <p:spPr>
          <a:xfrm>
            <a:off x="1465845" y="2832577"/>
            <a:ext cx="585875" cy="502675"/>
          </a:xfrm>
          <a:prstGeom prst="bentConnector3">
            <a:avLst>
              <a:gd name="adj1" fmla="val 50000"/>
            </a:avLst>
          </a:prstGeom>
          <a:ln w="15875">
            <a:solidFill>
              <a:schemeClr val="accent2"/>
            </a:solidFill>
            <a:prstDash val="sysDot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文字方塊 142">
            <a:extLst>
              <a:ext uri="{FF2B5EF4-FFF2-40B4-BE49-F238E27FC236}">
                <a16:creationId xmlns:a16="http://schemas.microsoft.com/office/drawing/2014/main" id="{F489447C-8BF7-7785-2467-04B07699F956}"/>
              </a:ext>
            </a:extLst>
          </p:cNvPr>
          <p:cNvSpPr txBox="1"/>
          <p:nvPr/>
        </p:nvSpPr>
        <p:spPr>
          <a:xfrm>
            <a:off x="2051720" y="1694586"/>
            <a:ext cx="188274" cy="504056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3">
                <a:lumMod val="60000"/>
                <a:lumOff val="40000"/>
              </a:schemeClr>
            </a:solidFill>
            <a:prstDash val="sysDot"/>
          </a:ln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dirty="0">
                <a:solidFill>
                  <a:schemeClr val="accent3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</a:t>
            </a:r>
            <a:r>
              <a:rPr lang="en-US" altLang="zh-TW" baseline="-25000" dirty="0">
                <a:solidFill>
                  <a:schemeClr val="accent3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</a:t>
            </a:r>
            <a:endParaRPr lang="zh-TW" altLang="en-US" baseline="-25000" dirty="0">
              <a:solidFill>
                <a:schemeClr val="accent3">
                  <a:lumMod val="75000"/>
                </a:scheme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83" name="文字方塊 182">
            <a:extLst>
              <a:ext uri="{FF2B5EF4-FFF2-40B4-BE49-F238E27FC236}">
                <a16:creationId xmlns:a16="http://schemas.microsoft.com/office/drawing/2014/main" id="{84E03C48-92BF-2A9B-3C8C-4F4228D67726}"/>
              </a:ext>
            </a:extLst>
          </p:cNvPr>
          <p:cNvSpPr txBox="1"/>
          <p:nvPr/>
        </p:nvSpPr>
        <p:spPr>
          <a:xfrm>
            <a:off x="1028768" y="2318748"/>
            <a:ext cx="293061" cy="12904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200" b="1" dirty="0"/>
              <a:t>T*d</a:t>
            </a:r>
            <a:endParaRPr lang="zh-TW" altLang="en-US" sz="1200" b="1" dirty="0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8E34D3ED-654B-D07D-6F4F-176F3F12D4B2}"/>
              </a:ext>
            </a:extLst>
          </p:cNvPr>
          <p:cNvSpPr/>
          <p:nvPr/>
        </p:nvSpPr>
        <p:spPr>
          <a:xfrm>
            <a:off x="1625433" y="1841024"/>
            <a:ext cx="274320" cy="2743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600"/>
              </a:lnSpc>
            </a:pPr>
            <a:r>
              <a:rPr lang="en-US" altLang="zh-TW" sz="1200" b="1" dirty="0">
                <a:solidFill>
                  <a:schemeClr val="tx1"/>
                </a:solidFill>
                <a:ea typeface="微軟正黑體" panose="020B0604030504040204" pitchFamily="34" charset="-120"/>
              </a:rPr>
              <a:t>W</a:t>
            </a:r>
            <a:r>
              <a:rPr lang="en-US" altLang="zh-TW" sz="1200" b="1" baseline="-25000" dirty="0">
                <a:solidFill>
                  <a:schemeClr val="tx1"/>
                </a:solidFill>
                <a:ea typeface="微軟正黑體" panose="020B0604030504040204" pitchFamily="34" charset="-120"/>
              </a:rPr>
              <a:t>v</a:t>
            </a:r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F6322906-CFEA-7B00-1648-3640A8C4A706}"/>
              </a:ext>
            </a:extLst>
          </p:cNvPr>
          <p:cNvSpPr/>
          <p:nvPr/>
        </p:nvSpPr>
        <p:spPr>
          <a:xfrm>
            <a:off x="1625433" y="3192791"/>
            <a:ext cx="274320" cy="2743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600"/>
              </a:lnSpc>
            </a:pPr>
            <a:r>
              <a:rPr lang="en-US" altLang="zh-TW" sz="1200" b="1" dirty="0">
                <a:solidFill>
                  <a:schemeClr val="tx1"/>
                </a:solidFill>
                <a:ea typeface="微軟正黑體" panose="020B0604030504040204" pitchFamily="34" charset="-120"/>
              </a:rPr>
              <a:t>W</a:t>
            </a:r>
            <a:r>
              <a:rPr lang="en-US" altLang="zh-TW" sz="1200" b="1" baseline="-25000" dirty="0">
                <a:solidFill>
                  <a:schemeClr val="tx1"/>
                </a:solidFill>
                <a:ea typeface="微軟正黑體" panose="020B0604030504040204" pitchFamily="34" charset="-120"/>
              </a:rPr>
              <a:t>q</a:t>
            </a: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04328CD8-FF47-FA84-E293-A4C3D6264C6A}"/>
              </a:ext>
            </a:extLst>
          </p:cNvPr>
          <p:cNvSpPr/>
          <p:nvPr/>
        </p:nvSpPr>
        <p:spPr>
          <a:xfrm>
            <a:off x="1625433" y="2420888"/>
            <a:ext cx="274320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600"/>
              </a:lnSpc>
            </a:pPr>
            <a:r>
              <a:rPr lang="en-US" altLang="zh-TW" sz="1200" b="1" dirty="0">
                <a:solidFill>
                  <a:schemeClr val="tx1"/>
                </a:solidFill>
                <a:ea typeface="微軟正黑體" panose="020B0604030504040204" pitchFamily="34" charset="-120"/>
              </a:rPr>
              <a:t>W</a:t>
            </a:r>
            <a:r>
              <a:rPr lang="en-US" altLang="zh-TW" sz="1200" b="1" baseline="-25000" dirty="0">
                <a:solidFill>
                  <a:schemeClr val="tx1"/>
                </a:solidFill>
                <a:ea typeface="微軟正黑體" panose="020B0604030504040204" pitchFamily="34" charset="-120"/>
              </a:rPr>
              <a:t>k</a:t>
            </a:r>
          </a:p>
        </p:txBody>
      </p:sp>
      <p:sp>
        <p:nvSpPr>
          <p:cNvPr id="137" name="文字方塊 136">
            <a:extLst>
              <a:ext uri="{FF2B5EF4-FFF2-40B4-BE49-F238E27FC236}">
                <a16:creationId xmlns:a16="http://schemas.microsoft.com/office/drawing/2014/main" id="{C235CCDA-306B-D955-666B-80C58C630B01}"/>
              </a:ext>
            </a:extLst>
          </p:cNvPr>
          <p:cNvSpPr txBox="1"/>
          <p:nvPr/>
        </p:nvSpPr>
        <p:spPr>
          <a:xfrm>
            <a:off x="1633384" y="1694562"/>
            <a:ext cx="274320" cy="118033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200" b="1" dirty="0"/>
              <a:t>d*d</a:t>
            </a:r>
            <a:endParaRPr lang="zh-TW" altLang="en-US" sz="1200" b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94FBE12-77B4-8311-8A12-F04A7DF09505}"/>
              </a:ext>
            </a:extLst>
          </p:cNvPr>
          <p:cNvSpPr txBox="1"/>
          <p:nvPr/>
        </p:nvSpPr>
        <p:spPr>
          <a:xfrm>
            <a:off x="6305393" y="2349693"/>
            <a:ext cx="166215" cy="1063521"/>
          </a:xfrm>
          <a:prstGeom prst="rect">
            <a:avLst/>
          </a:prstGeom>
          <a:solidFill>
            <a:schemeClr val="accent2">
              <a:lumMod val="20000"/>
              <a:lumOff val="80000"/>
              <a:alpha val="20000"/>
            </a:schemeClr>
          </a:solidFill>
          <a:ln w="15875">
            <a:solidFill>
              <a:schemeClr val="accent2">
                <a:lumMod val="40000"/>
                <a:lumOff val="60000"/>
              </a:schemeClr>
            </a:solidFill>
            <a:prstDash val="sysDot"/>
          </a:ln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800"/>
              </a:lnSpc>
            </a:pPr>
            <a:r>
              <a:rPr lang="en-US" altLang="zh-TW" sz="800" dirty="0">
                <a:solidFill>
                  <a:schemeClr val="accent2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</a:t>
            </a:r>
          </a:p>
          <a:p>
            <a:pPr algn="ctr">
              <a:lnSpc>
                <a:spcPts val="800"/>
              </a:lnSpc>
            </a:pPr>
            <a:r>
              <a:rPr lang="en-US" altLang="zh-TW" sz="800" dirty="0">
                <a:solidFill>
                  <a:schemeClr val="accent2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</a:p>
          <a:p>
            <a:pPr algn="ctr">
              <a:lnSpc>
                <a:spcPts val="800"/>
              </a:lnSpc>
            </a:pPr>
            <a:r>
              <a:rPr lang="en-US" altLang="zh-TW" sz="800" dirty="0">
                <a:solidFill>
                  <a:schemeClr val="accent2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pPr algn="ctr">
              <a:lnSpc>
                <a:spcPts val="800"/>
              </a:lnSpc>
            </a:pPr>
            <a:r>
              <a:rPr lang="en-US" altLang="zh-TW" sz="800" dirty="0">
                <a:solidFill>
                  <a:schemeClr val="accent2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pPr algn="ctr">
              <a:lnSpc>
                <a:spcPts val="800"/>
              </a:lnSpc>
            </a:pPr>
            <a:r>
              <a:rPr lang="en-US" altLang="zh-TW" sz="800" dirty="0">
                <a:solidFill>
                  <a:schemeClr val="accent2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pPr algn="ctr">
              <a:lnSpc>
                <a:spcPts val="1400"/>
              </a:lnSpc>
            </a:pPr>
            <a:r>
              <a:rPr lang="en-US" altLang="zh-TW" dirty="0">
                <a:solidFill>
                  <a:schemeClr val="accent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q</a:t>
            </a:r>
            <a:r>
              <a:rPr lang="en-US" altLang="zh-TW" baseline="-25000" dirty="0">
                <a:solidFill>
                  <a:schemeClr val="accent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</a:t>
            </a:r>
          </a:p>
          <a:p>
            <a:pPr algn="ctr">
              <a:lnSpc>
                <a:spcPts val="800"/>
              </a:lnSpc>
            </a:pPr>
            <a:r>
              <a:rPr lang="en-US" altLang="zh-TW" sz="800" dirty="0">
                <a:solidFill>
                  <a:schemeClr val="accent2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pPr algn="ctr">
              <a:lnSpc>
                <a:spcPts val="800"/>
              </a:lnSpc>
            </a:pPr>
            <a:r>
              <a:rPr lang="en-US" altLang="zh-TW" sz="800" dirty="0">
                <a:solidFill>
                  <a:schemeClr val="accent2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pPr algn="ctr">
              <a:lnSpc>
                <a:spcPts val="800"/>
              </a:lnSpc>
            </a:pPr>
            <a:r>
              <a:rPr lang="en-US" altLang="zh-TW" sz="800" dirty="0">
                <a:solidFill>
                  <a:schemeClr val="accent2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pPr algn="ctr">
              <a:lnSpc>
                <a:spcPts val="800"/>
              </a:lnSpc>
            </a:pPr>
            <a:r>
              <a:rPr lang="en-US" altLang="zh-TW" sz="800" dirty="0">
                <a:solidFill>
                  <a:schemeClr val="accent2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</a:t>
            </a:r>
            <a:endParaRPr lang="zh-TW" altLang="en-US" sz="800" dirty="0">
              <a:solidFill>
                <a:schemeClr val="accent2">
                  <a:lumMod val="75000"/>
                </a:scheme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1F15DB7-E6FE-06A4-6AF5-F3BF88AD9E69}"/>
              </a:ext>
            </a:extLst>
          </p:cNvPr>
          <p:cNvSpPr txBox="1"/>
          <p:nvPr/>
        </p:nvSpPr>
        <p:spPr>
          <a:xfrm>
            <a:off x="4264534" y="2038553"/>
            <a:ext cx="1065052" cy="172726"/>
          </a:xfrm>
          <a:prstGeom prst="rect">
            <a:avLst/>
          </a:prstGeom>
          <a:solidFill>
            <a:schemeClr val="accent5">
              <a:lumMod val="20000"/>
              <a:lumOff val="80000"/>
              <a:alpha val="20000"/>
            </a:schemeClr>
          </a:solidFill>
          <a:ln w="15875">
            <a:solidFill>
              <a:schemeClr val="accent1">
                <a:lumMod val="40000"/>
                <a:lumOff val="60000"/>
              </a:schemeClr>
            </a:solidFill>
            <a:prstDash val="sysDot"/>
          </a:ln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800" dirty="0">
                <a:solidFill>
                  <a:schemeClr val="accent5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1 .  .  . </a:t>
            </a:r>
            <a:r>
              <a:rPr lang="en-US" altLang="zh-TW" dirty="0">
                <a:solidFill>
                  <a:schemeClr val="accent5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</a:t>
            </a:r>
            <a:r>
              <a:rPr lang="en-US" altLang="zh-TW" baseline="-25000" dirty="0">
                <a:solidFill>
                  <a:schemeClr val="accent5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</a:t>
            </a:r>
            <a:r>
              <a:rPr lang="en-US" altLang="zh-TW" baseline="30000" dirty="0">
                <a:solidFill>
                  <a:schemeClr val="accent5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</a:t>
            </a:r>
            <a:r>
              <a:rPr lang="en-US" altLang="zh-TW" sz="800" dirty="0">
                <a:solidFill>
                  <a:schemeClr val="accent5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. . . d</a:t>
            </a:r>
            <a:endParaRPr lang="zh-TW" altLang="en-US" sz="800" dirty="0">
              <a:solidFill>
                <a:schemeClr val="accent5">
                  <a:lumMod val="75000"/>
                </a:scheme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002EA871-FCDD-4871-B4AE-D0E083A334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6139855"/>
              </p:ext>
            </p:extLst>
          </p:nvPr>
        </p:nvGraphicFramePr>
        <p:xfrm>
          <a:off x="2623433" y="2348453"/>
          <a:ext cx="1065052" cy="106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263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66263">
                  <a:extLst>
                    <a:ext uri="{9D8B030D-6E8A-4147-A177-3AD203B41FA5}">
                      <a16:colId xmlns:a16="http://schemas.microsoft.com/office/drawing/2014/main" val="4108446047"/>
                    </a:ext>
                  </a:extLst>
                </a:gridCol>
                <a:gridCol w="266263">
                  <a:extLst>
                    <a:ext uri="{9D8B030D-6E8A-4147-A177-3AD203B41FA5}">
                      <a16:colId xmlns:a16="http://schemas.microsoft.com/office/drawing/2014/main" val="1986383383"/>
                    </a:ext>
                  </a:extLst>
                </a:gridCol>
                <a:gridCol w="266263">
                  <a:extLst>
                    <a:ext uri="{9D8B030D-6E8A-4147-A177-3AD203B41FA5}">
                      <a16:colId xmlns:a16="http://schemas.microsoft.com/office/drawing/2014/main" val="3805389299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9667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22591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97100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38422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01925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64131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904019"/>
                  </a:ext>
                </a:extLst>
              </a:tr>
            </a:tbl>
          </a:graphicData>
        </a:graphic>
      </p:graphicFrame>
      <p:sp>
        <p:nvSpPr>
          <p:cNvPr id="19" name="文字方塊 18">
            <a:extLst>
              <a:ext uri="{FF2B5EF4-FFF2-40B4-BE49-F238E27FC236}">
                <a16:creationId xmlns:a16="http://schemas.microsoft.com/office/drawing/2014/main" id="{10060B2A-71CD-5B03-27D8-14DB59A6CDCE}"/>
              </a:ext>
            </a:extLst>
          </p:cNvPr>
          <p:cNvSpPr txBox="1"/>
          <p:nvPr/>
        </p:nvSpPr>
        <p:spPr>
          <a:xfrm>
            <a:off x="3027670" y="2714541"/>
            <a:ext cx="256577" cy="333823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dirty="0">
                <a:solidFill>
                  <a:schemeClr val="accent4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</a:t>
            </a:r>
            <a:r>
              <a:rPr lang="en-US" altLang="zh-TW" baseline="-25000" dirty="0">
                <a:solidFill>
                  <a:schemeClr val="accent4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t-1</a:t>
            </a:r>
            <a:endParaRPr lang="zh-TW" altLang="en-US" baseline="-25000" dirty="0">
              <a:solidFill>
                <a:schemeClr val="accent4">
                  <a:lumMod val="75000"/>
                </a:scheme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C7011C-9573-98B5-6E4F-C4A09925CFE7}"/>
              </a:ext>
            </a:extLst>
          </p:cNvPr>
          <p:cNvSpPr txBox="1"/>
          <p:nvPr/>
        </p:nvSpPr>
        <p:spPr>
          <a:xfrm>
            <a:off x="3722630" y="2743686"/>
            <a:ext cx="157260" cy="274320"/>
          </a:xfrm>
          <a:prstGeom prst="rect">
            <a:avLst/>
          </a:prstGeom>
          <a:noFill/>
        </p:spPr>
        <p:txBody>
          <a:bodyPr wrap="none" lIns="0" tIns="91440" rIns="0" bIns="0" rtlCol="0" anchor="ctr" anchorCtr="1">
            <a:noAutofit/>
          </a:bodyPr>
          <a:lstStyle/>
          <a:p>
            <a:pPr algn="ctr">
              <a:lnSpc>
                <a:spcPts val="1200"/>
              </a:lnSpc>
            </a:pPr>
            <a:r>
              <a:rPr lang="en-US" altLang="zh-TW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+</a:t>
            </a:r>
            <a:endParaRPr lang="zh-TW" altLang="en-US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49FAE370-2446-F8F9-549F-3C81FCC7B84E}"/>
              </a:ext>
            </a:extLst>
          </p:cNvPr>
          <p:cNvSpPr txBox="1"/>
          <p:nvPr/>
        </p:nvSpPr>
        <p:spPr>
          <a:xfrm>
            <a:off x="4645414" y="1822529"/>
            <a:ext cx="293061" cy="14497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200" b="1" dirty="0"/>
              <a:t>1*d</a:t>
            </a:r>
            <a:endParaRPr lang="zh-TW" altLang="en-US" sz="1200" b="1" dirty="0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10CC66E9-7DA2-0873-0BFA-38B0B8634B1F}"/>
              </a:ext>
            </a:extLst>
          </p:cNvPr>
          <p:cNvSpPr txBox="1"/>
          <p:nvPr/>
        </p:nvSpPr>
        <p:spPr>
          <a:xfrm>
            <a:off x="5378814" y="2744290"/>
            <a:ext cx="157260" cy="274320"/>
          </a:xfrm>
          <a:prstGeom prst="rect">
            <a:avLst/>
          </a:prstGeom>
          <a:noFill/>
        </p:spPr>
        <p:txBody>
          <a:bodyPr wrap="none" lIns="0" tIns="91440" rIns="0" bIns="0" rtlCol="0" anchor="ctr" anchorCtr="1">
            <a:noAutofit/>
          </a:bodyPr>
          <a:lstStyle/>
          <a:p>
            <a:pPr algn="ctr">
              <a:lnSpc>
                <a:spcPts val="1200"/>
              </a:lnSpc>
            </a:pPr>
            <a:r>
              <a:rPr lang="en-US" altLang="zh-TW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=</a:t>
            </a:r>
            <a:endParaRPr lang="zh-TW" altLang="en-US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33" name="文字方塊 232">
            <a:extLst>
              <a:ext uri="{FF2B5EF4-FFF2-40B4-BE49-F238E27FC236}">
                <a16:creationId xmlns:a16="http://schemas.microsoft.com/office/drawing/2014/main" id="{F8720125-FAB9-AD24-D4A4-DBC11C89DC0C}"/>
              </a:ext>
            </a:extLst>
          </p:cNvPr>
          <p:cNvSpPr txBox="1"/>
          <p:nvPr/>
        </p:nvSpPr>
        <p:spPr>
          <a:xfrm>
            <a:off x="3866646" y="2413687"/>
            <a:ext cx="293061" cy="14497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200" b="1" dirty="0"/>
              <a:t>d*1</a:t>
            </a:r>
            <a:endParaRPr lang="zh-TW" altLang="en-US" sz="1200" b="1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7E71C0DD-090D-0C5D-8B29-5F1008F2BE52}"/>
              </a:ext>
            </a:extLst>
          </p:cNvPr>
          <p:cNvSpPr txBox="1"/>
          <p:nvPr/>
        </p:nvSpPr>
        <p:spPr>
          <a:xfrm>
            <a:off x="6242910" y="2422396"/>
            <a:ext cx="293061" cy="14497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200" b="1" dirty="0"/>
              <a:t>d*1</a:t>
            </a:r>
            <a:endParaRPr lang="zh-TW" altLang="en-US" sz="1200" b="1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4B91F377-18D9-5791-17BE-B09E92872A85}"/>
              </a:ext>
            </a:extLst>
          </p:cNvPr>
          <p:cNvSpPr txBox="1"/>
          <p:nvPr/>
        </p:nvSpPr>
        <p:spPr>
          <a:xfrm>
            <a:off x="6157658" y="2743686"/>
            <a:ext cx="157260" cy="274320"/>
          </a:xfrm>
          <a:prstGeom prst="rect">
            <a:avLst/>
          </a:prstGeom>
          <a:noFill/>
        </p:spPr>
        <p:txBody>
          <a:bodyPr wrap="none" lIns="0" tIns="91440" rIns="0" bIns="0" rtlCol="0" anchor="ctr" anchorCtr="1">
            <a:noAutofit/>
          </a:bodyPr>
          <a:lstStyle/>
          <a:p>
            <a:pPr algn="ctr">
              <a:lnSpc>
                <a:spcPts val="1200"/>
              </a:lnSpc>
            </a:pPr>
            <a:r>
              <a:rPr lang="en-US" altLang="zh-TW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•</a:t>
            </a:r>
            <a:endParaRPr lang="zh-TW" altLang="en-US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91F68BF-C9C7-FBE1-E39B-D7D61EAE2F38}"/>
              </a:ext>
            </a:extLst>
          </p:cNvPr>
          <p:cNvSpPr/>
          <p:nvPr/>
        </p:nvSpPr>
        <p:spPr>
          <a:xfrm>
            <a:off x="5594838" y="2620099"/>
            <a:ext cx="555837" cy="522705"/>
          </a:xfrm>
          <a:prstGeom prst="rect">
            <a:avLst/>
          </a:prstGeom>
          <a:solidFill>
            <a:schemeClr val="accent4">
              <a:lumMod val="20000"/>
              <a:lumOff val="80000"/>
              <a:alpha val="60000"/>
            </a:schemeClr>
          </a:solidFill>
          <a:ln w="25400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18288" rIns="0" bIns="0" rtlCol="0" anchor="t" anchorCtr="0"/>
          <a:lstStyle/>
          <a:p>
            <a:endParaRPr lang="zh-TW" altLang="en-US" sz="1400" b="1" baseline="-25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A2853EBE-75AA-D759-1348-75BC5C0A9161}"/>
              </a:ext>
            </a:extLst>
          </p:cNvPr>
          <p:cNvSpPr txBox="1"/>
          <p:nvPr/>
        </p:nvSpPr>
        <p:spPr>
          <a:xfrm>
            <a:off x="5744467" y="2714539"/>
            <a:ext cx="256577" cy="333823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dirty="0">
                <a:solidFill>
                  <a:schemeClr val="accent4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</a:t>
            </a:r>
            <a:r>
              <a:rPr lang="en-US" altLang="zh-TW" baseline="-25000" dirty="0">
                <a:solidFill>
                  <a:schemeClr val="accent4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</a:t>
            </a:r>
            <a:endParaRPr lang="zh-TW" altLang="en-US" baseline="-25000" dirty="0">
              <a:solidFill>
                <a:schemeClr val="accent4">
                  <a:lumMod val="75000"/>
                </a:scheme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3278F48-015A-FBB9-486E-E61D3F359B8B}"/>
              </a:ext>
            </a:extLst>
          </p:cNvPr>
          <p:cNvSpPr/>
          <p:nvPr/>
        </p:nvSpPr>
        <p:spPr>
          <a:xfrm>
            <a:off x="7313637" y="2652850"/>
            <a:ext cx="328242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182880" rIns="0" bIns="0" rtlCol="0" anchor="ctr" anchorCtr="1"/>
          <a:lstStyle/>
          <a:p>
            <a:pPr algn="ctr">
              <a:lnSpc>
                <a:spcPts val="1600"/>
              </a:lnSpc>
            </a:pPr>
            <a:r>
              <a:rPr lang="en-US" altLang="zh-TW" sz="14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X</a:t>
            </a:r>
            <a:r>
              <a:rPr lang="en-US" altLang="zh-TW" sz="1400" baseline="-250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483BF8D9-C46E-EDAD-9917-7CDA8B01D372}"/>
              </a:ext>
            </a:extLst>
          </p:cNvPr>
          <p:cNvSpPr txBox="1"/>
          <p:nvPr/>
        </p:nvSpPr>
        <p:spPr>
          <a:xfrm>
            <a:off x="7107006" y="2790511"/>
            <a:ext cx="202684" cy="205364"/>
          </a:xfrm>
          <a:prstGeom prst="rect">
            <a:avLst/>
          </a:prstGeom>
          <a:noFill/>
        </p:spPr>
        <p:txBody>
          <a:bodyPr wrap="none" lIns="0" tIns="91440" rIns="0" bIns="0" rtlCol="0" anchor="ctr" anchorCtr="1">
            <a:noAutofit/>
          </a:bodyPr>
          <a:lstStyle/>
          <a:p>
            <a:pPr algn="ctr">
              <a:lnSpc>
                <a:spcPts val="1200"/>
              </a:lnSpc>
            </a:pPr>
            <a:r>
              <a:rPr lang="az-Cyrl-AZ" altLang="zh-TW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Ꚛ</a:t>
            </a:r>
            <a:endParaRPr lang="zh-TW" altLang="en-US" sz="1400" b="1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42" name="矩形: 圓角 41">
            <a:extLst>
              <a:ext uri="{FF2B5EF4-FFF2-40B4-BE49-F238E27FC236}">
                <a16:creationId xmlns:a16="http://schemas.microsoft.com/office/drawing/2014/main" id="{01CB805E-09AF-7F2F-493E-7446C07FC8F7}"/>
              </a:ext>
            </a:extLst>
          </p:cNvPr>
          <p:cNvSpPr/>
          <p:nvPr/>
        </p:nvSpPr>
        <p:spPr>
          <a:xfrm>
            <a:off x="7740352" y="2651771"/>
            <a:ext cx="419992" cy="457200"/>
          </a:xfrm>
          <a:prstGeom prst="roundRect">
            <a:avLst>
              <a:gd name="adj" fmla="val 4619"/>
            </a:avLst>
          </a:prstGeom>
          <a:solidFill>
            <a:srgbClr val="4BACC6">
              <a:lumMod val="20000"/>
              <a:lumOff val="80000"/>
            </a:srgbClr>
          </a:solidFill>
          <a:ln w="25400" cap="flat" cmpd="sng" algn="ctr">
            <a:solidFill>
              <a:srgbClr val="4BACC6">
                <a:lumMod val="60000"/>
                <a:lumOff val="40000"/>
              </a:srgb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5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MLP</a:t>
            </a:r>
            <a:b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5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5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SwiGLU</a:t>
            </a:r>
            <a:endParaRPr kumimoji="0" lang="zh-TW" altLang="en-US" sz="800" b="0" i="0" u="none" strike="noStrike" kern="0" cap="none" spc="0" normalizeH="0" baseline="0" noProof="0" dirty="0">
              <a:ln>
                <a:noFill/>
              </a:ln>
              <a:solidFill>
                <a:srgbClr val="4BACC6">
                  <a:lumMod val="50000"/>
                </a:srgbClr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63151AC1-6C17-F335-192B-2035423C282F}"/>
              </a:ext>
            </a:extLst>
          </p:cNvPr>
          <p:cNvSpPr/>
          <p:nvPr/>
        </p:nvSpPr>
        <p:spPr>
          <a:xfrm>
            <a:off x="8529892" y="2162479"/>
            <a:ext cx="362588" cy="1482545"/>
          </a:xfrm>
          <a:prstGeom prst="rect">
            <a:avLst/>
          </a:prstGeom>
          <a:solidFill>
            <a:srgbClr val="FFFF00">
              <a:alpha val="40000"/>
            </a:srgb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</a:t>
            </a:r>
            <a:r>
              <a:rPr kumimoji="0" lang="en-US" altLang="zh-TW" sz="1400" b="0" i="0" u="none" strike="noStrike" kern="0" cap="none" spc="0" normalizeH="0" baseline="-2500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z</a:t>
            </a: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BC648232-1BFD-98BC-8131-A17F45D0A5FE}"/>
              </a:ext>
            </a:extLst>
          </p:cNvPr>
          <p:cNvSpPr txBox="1"/>
          <p:nvPr/>
        </p:nvSpPr>
        <p:spPr>
          <a:xfrm>
            <a:off x="8316416" y="1710391"/>
            <a:ext cx="644018" cy="343991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200"/>
              </a:lnSpc>
            </a:pPr>
            <a:r>
              <a:rPr lang="en-US" altLang="zh-TW" sz="1200" dirty="0"/>
              <a:t>Linear</a:t>
            </a:r>
          </a:p>
          <a:p>
            <a:pPr algn="ctr">
              <a:lnSpc>
                <a:spcPts val="1200"/>
              </a:lnSpc>
            </a:pPr>
            <a:r>
              <a:rPr lang="en-US" altLang="zh-TW" sz="1200" dirty="0"/>
              <a:t>Projection</a:t>
            </a:r>
            <a:endParaRPr lang="zh-TW" altLang="en-US" sz="1200" dirty="0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F9A39323-DC75-773F-C973-F1D568AA2C20}"/>
              </a:ext>
            </a:extLst>
          </p:cNvPr>
          <p:cNvSpPr txBox="1"/>
          <p:nvPr/>
        </p:nvSpPr>
        <p:spPr>
          <a:xfrm>
            <a:off x="8579112" y="2085429"/>
            <a:ext cx="293061" cy="12904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200" b="1" dirty="0"/>
              <a:t>V*d</a:t>
            </a:r>
            <a:endParaRPr lang="zh-TW" altLang="en-US" sz="1200" b="1" dirty="0"/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97BD2BE8-49E6-3CA9-1409-65F8EEAB8785}"/>
              </a:ext>
            </a:extLst>
          </p:cNvPr>
          <p:cNvSpPr txBox="1"/>
          <p:nvPr/>
        </p:nvSpPr>
        <p:spPr>
          <a:xfrm>
            <a:off x="5738854" y="2413687"/>
            <a:ext cx="293061" cy="15459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200" b="1" dirty="0"/>
              <a:t>d*d</a:t>
            </a:r>
            <a:endParaRPr lang="zh-TW" altLang="en-US" sz="1200" b="1" dirty="0"/>
          </a:p>
        </p:txBody>
      </p:sp>
      <p:sp>
        <p:nvSpPr>
          <p:cNvPr id="82" name="文字方塊 81">
            <a:extLst>
              <a:ext uri="{FF2B5EF4-FFF2-40B4-BE49-F238E27FC236}">
                <a16:creationId xmlns:a16="http://schemas.microsoft.com/office/drawing/2014/main" id="{8FB0B030-47E7-E02B-27F4-5674E5F085B8}"/>
              </a:ext>
            </a:extLst>
          </p:cNvPr>
          <p:cNvSpPr txBox="1"/>
          <p:nvPr/>
        </p:nvSpPr>
        <p:spPr>
          <a:xfrm>
            <a:off x="7308476" y="3131304"/>
            <a:ext cx="293061" cy="14497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200" b="1" dirty="0"/>
              <a:t>T*d</a:t>
            </a:r>
            <a:endParaRPr lang="zh-TW" altLang="en-US" sz="1200" b="1" dirty="0"/>
          </a:p>
        </p:txBody>
      </p:sp>
      <p:cxnSp>
        <p:nvCxnSpPr>
          <p:cNvPr id="36" name="接點: 肘形 35">
            <a:extLst>
              <a:ext uri="{FF2B5EF4-FFF2-40B4-BE49-F238E27FC236}">
                <a16:creationId xmlns:a16="http://schemas.microsoft.com/office/drawing/2014/main" id="{889345C5-2C05-B6E5-B93E-90E9864DE35C}"/>
              </a:ext>
            </a:extLst>
          </p:cNvPr>
          <p:cNvCxnSpPr>
            <a:cxnSpLocks/>
            <a:stCxn id="3" idx="3"/>
            <a:endCxn id="35" idx="1"/>
          </p:cNvCxnSpPr>
          <p:nvPr/>
        </p:nvCxnSpPr>
        <p:spPr>
          <a:xfrm flipV="1">
            <a:off x="6471608" y="2808833"/>
            <a:ext cx="233656" cy="72621"/>
          </a:xfrm>
          <a:prstGeom prst="bentConnector3">
            <a:avLst>
              <a:gd name="adj1" fmla="val 50000"/>
            </a:avLst>
          </a:prstGeom>
          <a:ln w="15875">
            <a:solidFill>
              <a:schemeClr val="accent2"/>
            </a:solidFill>
            <a:prstDash val="sysDot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接點: 弧形 1">
            <a:extLst>
              <a:ext uri="{FF2B5EF4-FFF2-40B4-BE49-F238E27FC236}">
                <a16:creationId xmlns:a16="http://schemas.microsoft.com/office/drawing/2014/main" id="{68B8CCC0-27E7-7A72-C64A-A4D2C75F7EE0}"/>
              </a:ext>
            </a:extLst>
          </p:cNvPr>
          <p:cNvCxnSpPr>
            <a:cxnSpLocks/>
            <a:stCxn id="25" idx="2"/>
            <a:endCxn id="3" idx="2"/>
          </p:cNvCxnSpPr>
          <p:nvPr/>
        </p:nvCxnSpPr>
        <p:spPr>
          <a:xfrm rot="5400000" flipH="1" flipV="1">
            <a:off x="4171415" y="1384458"/>
            <a:ext cx="188330" cy="4245841"/>
          </a:xfrm>
          <a:prstGeom prst="curvedConnector3">
            <a:avLst>
              <a:gd name="adj1" fmla="val -121383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ACAA3A5E-3B1F-7DFF-3961-201D69AFEF96}"/>
              </a:ext>
            </a:extLst>
          </p:cNvPr>
          <p:cNvSpPr txBox="1"/>
          <p:nvPr/>
        </p:nvSpPr>
        <p:spPr>
          <a:xfrm>
            <a:off x="3016425" y="2054602"/>
            <a:ext cx="274320" cy="118033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200" b="1" dirty="0"/>
              <a:t>d*d</a:t>
            </a:r>
            <a:endParaRPr lang="zh-TW" altLang="en-US" sz="1200" b="1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F9881FD1-E89A-69B3-F9B4-C70476E930ED}"/>
              </a:ext>
            </a:extLst>
          </p:cNvPr>
          <p:cNvSpPr txBox="1"/>
          <p:nvPr/>
        </p:nvSpPr>
        <p:spPr>
          <a:xfrm>
            <a:off x="2051720" y="3068960"/>
            <a:ext cx="181879" cy="532584"/>
          </a:xfrm>
          <a:prstGeom prst="rect">
            <a:avLst/>
          </a:prstGeom>
          <a:noFill/>
          <a:ln w="15875">
            <a:solidFill>
              <a:schemeClr val="accent2">
                <a:lumMod val="40000"/>
                <a:lumOff val="60000"/>
              </a:schemeClr>
            </a:solidFill>
            <a:prstDash val="sysDot"/>
          </a:ln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800" dirty="0">
                <a:solidFill>
                  <a:schemeClr val="accent2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</a:t>
            </a:r>
          </a:p>
          <a:p>
            <a:pPr algn="ctr">
              <a:lnSpc>
                <a:spcPts val="1400"/>
              </a:lnSpc>
            </a:pPr>
            <a:r>
              <a:rPr lang="en-US" altLang="zh-TW" dirty="0">
                <a:solidFill>
                  <a:schemeClr val="accent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q</a:t>
            </a:r>
            <a:r>
              <a:rPr lang="en-US" altLang="zh-TW" baseline="-25000" dirty="0">
                <a:solidFill>
                  <a:schemeClr val="accent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</a:t>
            </a:r>
          </a:p>
          <a:p>
            <a:pPr algn="ctr">
              <a:lnSpc>
                <a:spcPts val="1400"/>
              </a:lnSpc>
            </a:pPr>
            <a:r>
              <a:rPr lang="en-US" altLang="zh-TW" sz="800" dirty="0">
                <a:solidFill>
                  <a:schemeClr val="accent2">
                    <a:lumMod val="75000"/>
                  </a:scheme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d</a:t>
            </a:r>
            <a:endParaRPr lang="zh-TW" altLang="en-US" sz="800" dirty="0">
              <a:solidFill>
                <a:schemeClr val="accent2">
                  <a:lumMod val="75000"/>
                </a:scheme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FA76EF11-4673-3706-F320-6369BAA9D5CE}"/>
              </a:ext>
            </a:extLst>
          </p:cNvPr>
          <p:cNvSpPr txBox="1"/>
          <p:nvPr/>
        </p:nvSpPr>
        <p:spPr>
          <a:xfrm>
            <a:off x="2123728" y="5047715"/>
            <a:ext cx="563960" cy="467611"/>
          </a:xfrm>
          <a:prstGeom prst="rect">
            <a:avLst/>
          </a:prstGeom>
          <a:solidFill>
            <a:schemeClr val="bg1">
              <a:alpha val="60000"/>
            </a:schemeClr>
          </a:solidFill>
          <a:ln w="6350">
            <a:solidFill>
              <a:schemeClr val="accent4"/>
            </a:solidFill>
            <a:prstDash val="sysDash"/>
          </a:ln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400"/>
              </a:lnSpc>
            </a:pPr>
            <a:endParaRPr lang="zh-TW" altLang="en-US" sz="1200" baseline="-25000" dirty="0">
              <a:solidFill>
                <a:schemeClr val="accent5">
                  <a:lumMod val="75000"/>
                </a:scheme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7A3C9C8B-6856-ECA8-57F9-7952B30D100C}"/>
              </a:ext>
            </a:extLst>
          </p:cNvPr>
          <p:cNvSpPr txBox="1"/>
          <p:nvPr/>
        </p:nvSpPr>
        <p:spPr>
          <a:xfrm>
            <a:off x="1494477" y="5685364"/>
            <a:ext cx="557244" cy="487105"/>
          </a:xfrm>
          <a:prstGeom prst="rect">
            <a:avLst/>
          </a:prstGeom>
          <a:noFill/>
          <a:ln w="6350">
            <a:solidFill>
              <a:schemeClr val="accent4"/>
            </a:solidFill>
            <a:prstDash val="sysDash"/>
          </a:ln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400"/>
              </a:lnSpc>
            </a:pPr>
            <a:endParaRPr lang="zh-TW" altLang="en-US" sz="1200" baseline="-25000" dirty="0">
              <a:solidFill>
                <a:schemeClr val="accent3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A0F8FDBD-F57F-A85D-E887-212C105A5BEE}"/>
              </a:ext>
            </a:extLst>
          </p:cNvPr>
          <p:cNvSpPr txBox="1"/>
          <p:nvPr/>
        </p:nvSpPr>
        <p:spPr>
          <a:xfrm>
            <a:off x="2123729" y="5053826"/>
            <a:ext cx="563960" cy="185756"/>
          </a:xfrm>
          <a:prstGeom prst="rect">
            <a:avLst/>
          </a:prstGeom>
          <a:solidFill>
            <a:schemeClr val="accent5">
              <a:lumMod val="20000"/>
              <a:lumOff val="80000"/>
              <a:alpha val="20000"/>
            </a:schemeClr>
          </a:solidFill>
          <a:ln w="15875">
            <a:solidFill>
              <a:schemeClr val="accent1">
                <a:lumMod val="40000"/>
                <a:lumOff val="60000"/>
              </a:schemeClr>
            </a:solidFill>
            <a:prstDash val="sysDot"/>
          </a:ln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200" dirty="0">
                <a:solidFill>
                  <a:schemeClr val="accent5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</a:t>
            </a:r>
            <a:r>
              <a:rPr lang="en-US" altLang="zh-TW" sz="1200" baseline="-25000" dirty="0">
                <a:solidFill>
                  <a:schemeClr val="accent5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</a:t>
            </a:r>
            <a:endParaRPr lang="zh-TW" altLang="en-US" sz="1200" baseline="-25000" dirty="0">
              <a:solidFill>
                <a:schemeClr val="accent5">
                  <a:lumMod val="75000"/>
                </a:scheme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6" name="文字方塊 75">
            <a:extLst>
              <a:ext uri="{FF2B5EF4-FFF2-40B4-BE49-F238E27FC236}">
                <a16:creationId xmlns:a16="http://schemas.microsoft.com/office/drawing/2014/main" id="{950ED34C-CD37-4726-B581-98340B559A15}"/>
              </a:ext>
            </a:extLst>
          </p:cNvPr>
          <p:cNvSpPr txBox="1"/>
          <p:nvPr/>
        </p:nvSpPr>
        <p:spPr>
          <a:xfrm>
            <a:off x="2123729" y="4831419"/>
            <a:ext cx="563960" cy="185756"/>
          </a:xfrm>
          <a:prstGeom prst="rect">
            <a:avLst/>
          </a:prstGeom>
          <a:solidFill>
            <a:schemeClr val="accent5">
              <a:lumMod val="20000"/>
              <a:lumOff val="80000"/>
              <a:alpha val="20000"/>
            </a:schemeClr>
          </a:solidFill>
          <a:ln w="15875">
            <a:solidFill>
              <a:schemeClr val="accent1">
                <a:lumMod val="40000"/>
                <a:lumOff val="60000"/>
              </a:schemeClr>
            </a:solidFill>
            <a:prstDash val="sysDot"/>
          </a:ln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200" dirty="0">
                <a:solidFill>
                  <a:schemeClr val="accent5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</a:t>
            </a:r>
            <a:r>
              <a:rPr lang="en-US" altLang="zh-TW" sz="1200" baseline="-25000" dirty="0">
                <a:solidFill>
                  <a:schemeClr val="accent5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t-1</a:t>
            </a:r>
            <a:endParaRPr lang="zh-TW" altLang="en-US" sz="1200" baseline="-25000" dirty="0">
              <a:solidFill>
                <a:schemeClr val="accent5">
                  <a:lumMod val="75000"/>
                </a:scheme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8" name="文字方塊 77">
            <a:extLst>
              <a:ext uri="{FF2B5EF4-FFF2-40B4-BE49-F238E27FC236}">
                <a16:creationId xmlns:a16="http://schemas.microsoft.com/office/drawing/2014/main" id="{A1CB3067-926E-43EE-A7D2-0AAF1FE29619}"/>
              </a:ext>
            </a:extLst>
          </p:cNvPr>
          <p:cNvSpPr txBox="1"/>
          <p:nvPr/>
        </p:nvSpPr>
        <p:spPr>
          <a:xfrm>
            <a:off x="2123729" y="4221088"/>
            <a:ext cx="563960" cy="185756"/>
          </a:xfrm>
          <a:prstGeom prst="rect">
            <a:avLst/>
          </a:prstGeom>
          <a:solidFill>
            <a:schemeClr val="accent5">
              <a:lumMod val="20000"/>
              <a:lumOff val="80000"/>
              <a:alpha val="20000"/>
            </a:schemeClr>
          </a:solidFill>
          <a:ln w="15875">
            <a:solidFill>
              <a:schemeClr val="accent1">
                <a:lumMod val="40000"/>
                <a:lumOff val="60000"/>
              </a:schemeClr>
            </a:solidFill>
            <a:prstDash val="sysDot"/>
          </a:ln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200" dirty="0">
                <a:solidFill>
                  <a:schemeClr val="accent5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</a:t>
            </a:r>
            <a:r>
              <a:rPr lang="en-US" altLang="zh-TW" sz="1200" baseline="-25000" dirty="0">
                <a:solidFill>
                  <a:schemeClr val="accent5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</a:t>
            </a:r>
            <a:endParaRPr lang="zh-TW" altLang="en-US" sz="1200" baseline="-25000" dirty="0">
              <a:solidFill>
                <a:schemeClr val="accent5">
                  <a:lumMod val="75000"/>
                </a:scheme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92" name="文字方塊 91">
            <a:extLst>
              <a:ext uri="{FF2B5EF4-FFF2-40B4-BE49-F238E27FC236}">
                <a16:creationId xmlns:a16="http://schemas.microsoft.com/office/drawing/2014/main" id="{936C4F10-1350-71AF-E355-A3194B83A5A5}"/>
              </a:ext>
            </a:extLst>
          </p:cNvPr>
          <p:cNvSpPr txBox="1"/>
          <p:nvPr/>
        </p:nvSpPr>
        <p:spPr>
          <a:xfrm>
            <a:off x="2123729" y="4508873"/>
            <a:ext cx="563960" cy="290927"/>
          </a:xfrm>
          <a:prstGeom prst="rect">
            <a:avLst/>
          </a:prstGeom>
          <a:solidFill>
            <a:schemeClr val="accent5">
              <a:lumMod val="20000"/>
              <a:lumOff val="80000"/>
              <a:alpha val="20000"/>
            </a:schemeClr>
          </a:solidFill>
          <a:ln w="15875">
            <a:solidFill>
              <a:schemeClr val="accent1">
                <a:lumMod val="40000"/>
                <a:lumOff val="60000"/>
              </a:schemeClr>
            </a:solidFill>
            <a:prstDash val="sysDot"/>
          </a:ln>
        </p:spPr>
        <p:txBody>
          <a:bodyPr vert="eaVert" wrap="none" lIns="91440" tIns="0" rIns="0" bIns="0" rtlCol="0" anchor="ctr" anchorCtr="1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200" dirty="0">
                <a:solidFill>
                  <a:schemeClr val="accent5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…</a:t>
            </a:r>
            <a:endParaRPr lang="zh-TW" altLang="en-US" sz="1200" baseline="-25000" dirty="0">
              <a:solidFill>
                <a:schemeClr val="accent5">
                  <a:lumMod val="75000"/>
                </a:scheme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C929511A-9EEF-4E59-FC85-21E1E8FFD538}"/>
              </a:ext>
            </a:extLst>
          </p:cNvPr>
          <p:cNvSpPr/>
          <p:nvPr/>
        </p:nvSpPr>
        <p:spPr>
          <a:xfrm>
            <a:off x="780033" y="4221088"/>
            <a:ext cx="538795" cy="483796"/>
          </a:xfrm>
          <a:prstGeom prst="rect">
            <a:avLst/>
          </a:prstGeom>
          <a:solidFill>
            <a:schemeClr val="accent4">
              <a:lumMod val="20000"/>
              <a:lumOff val="80000"/>
              <a:alpha val="20000"/>
            </a:schemeClr>
          </a:solidFill>
          <a:ln w="12700">
            <a:solidFill>
              <a:schemeClr val="accent4">
                <a:lumMod val="40000"/>
                <a:lumOff val="60000"/>
                <a:alpha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288" tIns="18288" rIns="0" bIns="0" rtlCol="0" anchor="t" anchorCtr="0"/>
          <a:lstStyle/>
          <a:p>
            <a:r>
              <a:rPr lang="en-US" altLang="zh-TW" sz="1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</a:t>
            </a:r>
            <a:r>
              <a:rPr lang="en-US" altLang="zh-TW" sz="1200" b="1" baseline="-25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</a:t>
            </a:r>
            <a:endParaRPr lang="zh-TW" altLang="en-US" sz="1200" b="1" baseline="-25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0" name="文字方塊 99">
            <a:extLst>
              <a:ext uri="{FF2B5EF4-FFF2-40B4-BE49-F238E27FC236}">
                <a16:creationId xmlns:a16="http://schemas.microsoft.com/office/drawing/2014/main" id="{95BCDCC0-1EC4-EC48-7E06-12F7ABA306ED}"/>
              </a:ext>
            </a:extLst>
          </p:cNvPr>
          <p:cNvSpPr txBox="1"/>
          <p:nvPr/>
        </p:nvSpPr>
        <p:spPr>
          <a:xfrm>
            <a:off x="3528562" y="5688450"/>
            <a:ext cx="140374" cy="487105"/>
          </a:xfrm>
          <a:prstGeom prst="rect">
            <a:avLst/>
          </a:prstGeom>
          <a:solidFill>
            <a:schemeClr val="bg1">
              <a:alpha val="6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  <a:prstDash val="sysDot"/>
          </a:ln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200" dirty="0">
                <a:solidFill>
                  <a:schemeClr val="accent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q</a:t>
            </a:r>
            <a:r>
              <a:rPr lang="en-US" altLang="zh-TW" sz="1200" baseline="-25000" dirty="0">
                <a:solidFill>
                  <a:schemeClr val="accent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</a:t>
            </a:r>
            <a:endParaRPr lang="zh-TW" altLang="en-US" sz="1200" baseline="-25000" dirty="0">
              <a:solidFill>
                <a:schemeClr val="accent2">
                  <a:lumMod val="60000"/>
                  <a:lumOff val="40000"/>
                </a:scheme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06" name="文字方塊 105">
            <a:extLst>
              <a:ext uri="{FF2B5EF4-FFF2-40B4-BE49-F238E27FC236}">
                <a16:creationId xmlns:a16="http://schemas.microsoft.com/office/drawing/2014/main" id="{06946514-7903-83FC-A8FA-A378C60078E9}"/>
              </a:ext>
            </a:extLst>
          </p:cNvPr>
          <p:cNvSpPr txBox="1"/>
          <p:nvPr/>
        </p:nvSpPr>
        <p:spPr>
          <a:xfrm>
            <a:off x="2783919" y="5689176"/>
            <a:ext cx="140374" cy="487105"/>
          </a:xfrm>
          <a:prstGeom prst="rect">
            <a:avLst/>
          </a:prstGeom>
          <a:solidFill>
            <a:schemeClr val="bg1">
              <a:alpha val="6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  <a:prstDash val="sysDot"/>
          </a:ln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200" dirty="0">
                <a:solidFill>
                  <a:schemeClr val="accent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q</a:t>
            </a:r>
            <a:r>
              <a:rPr lang="en-US" altLang="zh-TW" sz="1200" baseline="-25000" dirty="0">
                <a:solidFill>
                  <a:schemeClr val="accent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</a:t>
            </a:r>
            <a:endParaRPr lang="zh-TW" altLang="en-US" sz="1200" baseline="-25000" dirty="0">
              <a:solidFill>
                <a:schemeClr val="accent2">
                  <a:lumMod val="60000"/>
                  <a:lumOff val="40000"/>
                </a:scheme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10" name="文字方塊 109">
            <a:extLst>
              <a:ext uri="{FF2B5EF4-FFF2-40B4-BE49-F238E27FC236}">
                <a16:creationId xmlns:a16="http://schemas.microsoft.com/office/drawing/2014/main" id="{0EA98BAB-419A-D12B-443B-3EB91CDBB4C7}"/>
              </a:ext>
            </a:extLst>
          </p:cNvPr>
          <p:cNvSpPr txBox="1"/>
          <p:nvPr/>
        </p:nvSpPr>
        <p:spPr>
          <a:xfrm>
            <a:off x="3319905" y="5688450"/>
            <a:ext cx="140374" cy="487105"/>
          </a:xfrm>
          <a:prstGeom prst="rect">
            <a:avLst/>
          </a:prstGeom>
          <a:solidFill>
            <a:schemeClr val="bg1">
              <a:alpha val="6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  <a:prstDash val="sysDot"/>
          </a:ln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200" dirty="0">
                <a:solidFill>
                  <a:schemeClr val="accent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q</a:t>
            </a:r>
            <a:r>
              <a:rPr lang="en-US" altLang="zh-TW" sz="1200" baseline="-25000" dirty="0">
                <a:solidFill>
                  <a:schemeClr val="accent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t-1</a:t>
            </a:r>
            <a:endParaRPr lang="zh-TW" altLang="en-US" sz="1200" baseline="-25000" dirty="0">
              <a:solidFill>
                <a:schemeClr val="accent2">
                  <a:lumMod val="60000"/>
                  <a:lumOff val="40000"/>
                </a:scheme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14" name="文字方塊 113">
            <a:extLst>
              <a:ext uri="{FF2B5EF4-FFF2-40B4-BE49-F238E27FC236}">
                <a16:creationId xmlns:a16="http://schemas.microsoft.com/office/drawing/2014/main" id="{E306870E-E58D-441E-4790-80588ADAC3EC}"/>
              </a:ext>
            </a:extLst>
          </p:cNvPr>
          <p:cNvSpPr txBox="1"/>
          <p:nvPr/>
        </p:nvSpPr>
        <p:spPr>
          <a:xfrm>
            <a:off x="2960659" y="5689176"/>
            <a:ext cx="293061" cy="487105"/>
          </a:xfrm>
          <a:prstGeom prst="rect">
            <a:avLst/>
          </a:prstGeom>
          <a:solidFill>
            <a:schemeClr val="bg1">
              <a:alpha val="6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  <a:prstDash val="sysDot"/>
          </a:ln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200" dirty="0">
                <a:solidFill>
                  <a:schemeClr val="accent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…</a:t>
            </a:r>
            <a:endParaRPr lang="zh-TW" altLang="en-US" sz="1200" baseline="-25000" dirty="0">
              <a:solidFill>
                <a:schemeClr val="accent2">
                  <a:lumMod val="60000"/>
                  <a:lumOff val="40000"/>
                </a:scheme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2AAEC48-A8AA-BD3F-42CA-F2D7F66955D9}"/>
              </a:ext>
            </a:extLst>
          </p:cNvPr>
          <p:cNvSpPr txBox="1"/>
          <p:nvPr/>
        </p:nvSpPr>
        <p:spPr>
          <a:xfrm>
            <a:off x="1498118" y="5691126"/>
            <a:ext cx="140374" cy="487105"/>
          </a:xfrm>
          <a:prstGeom prst="rect">
            <a:avLst/>
          </a:prstGeom>
          <a:solidFill>
            <a:schemeClr val="accent3">
              <a:lumMod val="20000"/>
              <a:lumOff val="80000"/>
              <a:alpha val="60000"/>
            </a:schemeClr>
          </a:solidFill>
          <a:ln w="15875">
            <a:solidFill>
              <a:schemeClr val="accent3">
                <a:lumMod val="60000"/>
                <a:lumOff val="40000"/>
              </a:schemeClr>
            </a:solidFill>
            <a:prstDash val="sysDot"/>
          </a:ln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200" dirty="0">
                <a:solidFill>
                  <a:schemeClr val="accent3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</a:t>
            </a:r>
            <a:r>
              <a:rPr lang="en-US" altLang="zh-TW" sz="1200" baseline="-25000" dirty="0">
                <a:solidFill>
                  <a:schemeClr val="accent3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</a:t>
            </a:r>
            <a:endParaRPr lang="zh-TW" altLang="en-US" sz="1200" baseline="-25000" dirty="0">
              <a:solidFill>
                <a:schemeClr val="accent3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3F53D7D-C928-788A-5689-52502A87547D}"/>
              </a:ext>
            </a:extLst>
          </p:cNvPr>
          <p:cNvSpPr txBox="1"/>
          <p:nvPr/>
        </p:nvSpPr>
        <p:spPr>
          <a:xfrm>
            <a:off x="738297" y="5685364"/>
            <a:ext cx="140374" cy="487105"/>
          </a:xfrm>
          <a:prstGeom prst="rect">
            <a:avLst/>
          </a:prstGeom>
          <a:solidFill>
            <a:schemeClr val="accent3">
              <a:lumMod val="20000"/>
              <a:lumOff val="80000"/>
              <a:alpha val="60000"/>
            </a:schemeClr>
          </a:solidFill>
          <a:ln w="15875">
            <a:solidFill>
              <a:schemeClr val="accent3">
                <a:lumMod val="60000"/>
                <a:lumOff val="40000"/>
              </a:schemeClr>
            </a:solidFill>
            <a:prstDash val="sysDot"/>
          </a:ln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200" dirty="0">
                <a:solidFill>
                  <a:schemeClr val="accent3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</a:t>
            </a:r>
            <a:r>
              <a:rPr lang="en-US" altLang="zh-TW" sz="1200" baseline="-25000" dirty="0">
                <a:solidFill>
                  <a:schemeClr val="accent3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</a:t>
            </a:r>
            <a:endParaRPr lang="zh-TW" altLang="en-US" sz="1200" baseline="-25000" dirty="0">
              <a:solidFill>
                <a:schemeClr val="accent3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7D25203-FF07-FCEA-FCEA-6EA0D7A6F874}"/>
              </a:ext>
            </a:extLst>
          </p:cNvPr>
          <p:cNvSpPr txBox="1"/>
          <p:nvPr/>
        </p:nvSpPr>
        <p:spPr>
          <a:xfrm>
            <a:off x="1291619" y="5691126"/>
            <a:ext cx="140374" cy="487105"/>
          </a:xfrm>
          <a:prstGeom prst="rect">
            <a:avLst/>
          </a:prstGeom>
          <a:solidFill>
            <a:schemeClr val="accent3">
              <a:lumMod val="20000"/>
              <a:lumOff val="80000"/>
              <a:alpha val="60000"/>
            </a:schemeClr>
          </a:solidFill>
          <a:ln w="15875">
            <a:solidFill>
              <a:schemeClr val="accent3">
                <a:lumMod val="60000"/>
                <a:lumOff val="40000"/>
              </a:schemeClr>
            </a:solidFill>
            <a:prstDash val="sysDot"/>
          </a:ln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200" dirty="0">
                <a:solidFill>
                  <a:schemeClr val="accent3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</a:t>
            </a:r>
            <a:r>
              <a:rPr lang="en-US" altLang="zh-TW" sz="1200" baseline="-25000" dirty="0">
                <a:solidFill>
                  <a:schemeClr val="accent3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t-1</a:t>
            </a:r>
            <a:endParaRPr lang="zh-TW" altLang="en-US" sz="1200" baseline="-25000" dirty="0">
              <a:solidFill>
                <a:schemeClr val="accent3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970B9120-8E23-F7E8-9975-39A719DFDAB7}"/>
              </a:ext>
            </a:extLst>
          </p:cNvPr>
          <p:cNvSpPr txBox="1"/>
          <p:nvPr/>
        </p:nvSpPr>
        <p:spPr>
          <a:xfrm>
            <a:off x="936075" y="5685364"/>
            <a:ext cx="293061" cy="487105"/>
          </a:xfrm>
          <a:prstGeom prst="rect">
            <a:avLst/>
          </a:prstGeom>
          <a:solidFill>
            <a:schemeClr val="accent3">
              <a:lumMod val="20000"/>
              <a:lumOff val="80000"/>
              <a:alpha val="60000"/>
            </a:schemeClr>
          </a:solidFill>
          <a:ln w="15875">
            <a:solidFill>
              <a:schemeClr val="accent3">
                <a:lumMod val="60000"/>
                <a:lumOff val="40000"/>
              </a:schemeClr>
            </a:solidFill>
            <a:prstDash val="sysDot"/>
          </a:ln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200" dirty="0">
                <a:solidFill>
                  <a:schemeClr val="accent3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…</a:t>
            </a:r>
            <a:endParaRPr lang="zh-TW" altLang="en-US" sz="1200" baseline="-25000" dirty="0">
              <a:solidFill>
                <a:schemeClr val="accent3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8" name="左大括弧 17">
            <a:extLst>
              <a:ext uri="{FF2B5EF4-FFF2-40B4-BE49-F238E27FC236}">
                <a16:creationId xmlns:a16="http://schemas.microsoft.com/office/drawing/2014/main" id="{BD2D487F-8694-12BA-6A0F-CE48B2D9B58F}"/>
              </a:ext>
            </a:extLst>
          </p:cNvPr>
          <p:cNvSpPr/>
          <p:nvPr/>
        </p:nvSpPr>
        <p:spPr>
          <a:xfrm rot="5400000">
            <a:off x="1113244" y="5157911"/>
            <a:ext cx="121111" cy="876215"/>
          </a:xfrm>
          <a:prstGeom prst="leftBrace">
            <a:avLst>
              <a:gd name="adj1" fmla="val 41469"/>
              <a:gd name="adj2" fmla="val 50000"/>
            </a:avLst>
          </a:prstGeom>
          <a:ln w="158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左大括弧 26">
            <a:extLst>
              <a:ext uri="{FF2B5EF4-FFF2-40B4-BE49-F238E27FC236}">
                <a16:creationId xmlns:a16="http://schemas.microsoft.com/office/drawing/2014/main" id="{7070120A-63D2-CE04-2ABF-CACAFD3E2566}"/>
              </a:ext>
            </a:extLst>
          </p:cNvPr>
          <p:cNvSpPr/>
          <p:nvPr/>
        </p:nvSpPr>
        <p:spPr>
          <a:xfrm rot="5400000">
            <a:off x="3149352" y="5155625"/>
            <a:ext cx="121111" cy="876215"/>
          </a:xfrm>
          <a:prstGeom prst="leftBrace">
            <a:avLst>
              <a:gd name="adj1" fmla="val 41469"/>
              <a:gd name="adj2" fmla="val 50000"/>
            </a:avLst>
          </a:prstGeom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左大括弧 30">
            <a:extLst>
              <a:ext uri="{FF2B5EF4-FFF2-40B4-BE49-F238E27FC236}">
                <a16:creationId xmlns:a16="http://schemas.microsoft.com/office/drawing/2014/main" id="{4696DE85-35DA-91CB-C34C-6B704A325891}"/>
              </a:ext>
            </a:extLst>
          </p:cNvPr>
          <p:cNvSpPr/>
          <p:nvPr/>
        </p:nvSpPr>
        <p:spPr>
          <a:xfrm rot="10800000">
            <a:off x="2732730" y="4261738"/>
            <a:ext cx="109871" cy="931181"/>
          </a:xfrm>
          <a:prstGeom prst="leftBrace">
            <a:avLst>
              <a:gd name="adj1" fmla="val 41469"/>
              <a:gd name="adj2" fmla="val 50000"/>
            </a:avLst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4A4C3D2F-6006-C780-5829-C4650EA12BE4}"/>
              </a:ext>
            </a:extLst>
          </p:cNvPr>
          <p:cNvSpPr txBox="1"/>
          <p:nvPr/>
        </p:nvSpPr>
        <p:spPr>
          <a:xfrm>
            <a:off x="2861279" y="4636471"/>
            <a:ext cx="293061" cy="14497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200" b="1" dirty="0"/>
              <a:t>T</a:t>
            </a:r>
            <a:r>
              <a:rPr lang="en-US" altLang="zh-TW" sz="1200" b="1" dirty="0">
                <a:solidFill>
                  <a:schemeClr val="bg1">
                    <a:lumMod val="50000"/>
                  </a:schemeClr>
                </a:solidFill>
              </a:rPr>
              <a:t>*d</a:t>
            </a:r>
            <a:endParaRPr lang="zh-TW" altLang="en-US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85D614CC-C572-DAD0-9E53-4E132793B495}"/>
              </a:ext>
            </a:extLst>
          </p:cNvPr>
          <p:cNvSpPr txBox="1"/>
          <p:nvPr/>
        </p:nvSpPr>
        <p:spPr>
          <a:xfrm>
            <a:off x="3054803" y="5373216"/>
            <a:ext cx="293061" cy="14497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200" b="1" dirty="0"/>
              <a:t>T</a:t>
            </a:r>
            <a:r>
              <a:rPr lang="en-US" altLang="zh-TW" sz="1200" b="1" dirty="0">
                <a:solidFill>
                  <a:schemeClr val="bg1">
                    <a:lumMod val="50000"/>
                  </a:schemeClr>
                </a:solidFill>
              </a:rPr>
              <a:t>*d</a:t>
            </a:r>
            <a:endParaRPr lang="zh-TW" altLang="en-US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1A30A3FF-0319-21ED-4919-8A1BB2258875}"/>
              </a:ext>
            </a:extLst>
          </p:cNvPr>
          <p:cNvSpPr txBox="1"/>
          <p:nvPr/>
        </p:nvSpPr>
        <p:spPr>
          <a:xfrm>
            <a:off x="1030638" y="5373216"/>
            <a:ext cx="293061" cy="14497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200" b="1" dirty="0">
                <a:solidFill>
                  <a:schemeClr val="bg1">
                    <a:lumMod val="50000"/>
                  </a:schemeClr>
                </a:solidFill>
              </a:rPr>
              <a:t>d*</a:t>
            </a:r>
            <a:r>
              <a:rPr lang="en-US" altLang="zh-TW" sz="1200" b="1" dirty="0"/>
              <a:t>T</a:t>
            </a:r>
            <a:endParaRPr lang="zh-TW" altLang="en-US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8378D43-7DE9-1F85-DC5D-24C423F9689F}"/>
              </a:ext>
            </a:extLst>
          </p:cNvPr>
          <p:cNvSpPr/>
          <p:nvPr/>
        </p:nvSpPr>
        <p:spPr>
          <a:xfrm>
            <a:off x="949110" y="4365104"/>
            <a:ext cx="598554" cy="483796"/>
          </a:xfrm>
          <a:prstGeom prst="rect">
            <a:avLst/>
          </a:prstGeom>
          <a:solidFill>
            <a:schemeClr val="accent4">
              <a:lumMod val="20000"/>
              <a:lumOff val="80000"/>
              <a:alpha val="20000"/>
            </a:schemeClr>
          </a:solidFill>
          <a:ln w="12700">
            <a:solidFill>
              <a:schemeClr val="accent4">
                <a:lumMod val="40000"/>
                <a:lumOff val="60000"/>
                <a:alpha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288" tIns="18288" rIns="0" bIns="0" rtlCol="0" anchor="t" anchorCtr="0"/>
          <a:lstStyle/>
          <a:p>
            <a:r>
              <a:rPr lang="en-US" altLang="zh-TW" sz="1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</a:t>
            </a:r>
            <a:r>
              <a:rPr lang="en-US" altLang="zh-TW" sz="1200" b="1" baseline="-25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</a:t>
            </a:r>
            <a:r>
              <a:rPr lang="en-US" altLang="zh-TW" sz="1200" b="1" baseline="30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. . .</a:t>
            </a:r>
            <a:r>
              <a:rPr lang="en-US" altLang="zh-TW" sz="1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endParaRPr lang="zh-TW" altLang="en-US" sz="12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E6E6AA3-812C-66BB-3832-E798F359FAD5}"/>
              </a:ext>
            </a:extLst>
          </p:cNvPr>
          <p:cNvSpPr/>
          <p:nvPr/>
        </p:nvSpPr>
        <p:spPr>
          <a:xfrm>
            <a:off x="1259632" y="4725144"/>
            <a:ext cx="532663" cy="559878"/>
          </a:xfrm>
          <a:prstGeom prst="rect">
            <a:avLst/>
          </a:prstGeom>
          <a:solidFill>
            <a:schemeClr val="accent4">
              <a:lumMod val="20000"/>
              <a:lumOff val="80000"/>
              <a:alpha val="60000"/>
            </a:schemeClr>
          </a:solidFill>
          <a:ln w="12700">
            <a:solidFill>
              <a:schemeClr val="accent4">
                <a:lumMod val="40000"/>
                <a:lumOff val="60000"/>
                <a:alpha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288" tIns="18288" rIns="0" bIns="0" rtlCol="0" anchor="t" anchorCtr="0"/>
          <a:lstStyle/>
          <a:p>
            <a:r>
              <a:rPr lang="en-US" altLang="zh-TW" sz="1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 </a:t>
            </a:r>
            <a:r>
              <a:rPr lang="en-US" altLang="zh-TW" sz="1200" b="1" baseline="-25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t-1</a:t>
            </a:r>
            <a:endParaRPr lang="zh-TW" altLang="en-US" sz="1200" b="1" baseline="-25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D77D4486-0911-BBB9-DD84-082FB2A0B81D}"/>
              </a:ext>
            </a:extLst>
          </p:cNvPr>
          <p:cNvSpPr/>
          <p:nvPr/>
        </p:nvSpPr>
        <p:spPr>
          <a:xfrm>
            <a:off x="1519057" y="5049621"/>
            <a:ext cx="532663" cy="467611"/>
          </a:xfrm>
          <a:prstGeom prst="rect">
            <a:avLst/>
          </a:prstGeom>
          <a:solidFill>
            <a:schemeClr val="accent4">
              <a:lumMod val="40000"/>
              <a:lumOff val="60000"/>
              <a:alpha val="40000"/>
            </a:schemeClr>
          </a:solidFill>
          <a:ln w="15875">
            <a:solidFill>
              <a:schemeClr val="accent4">
                <a:lumMod val="75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500"/>
              </a:lnSpc>
            </a:pPr>
            <a:r>
              <a:rPr lang="en-US" altLang="zh-TW" sz="1400" b="1" dirty="0">
                <a:solidFill>
                  <a:schemeClr val="accent4"/>
                </a:solidFill>
                <a:ea typeface="微軟正黑體" panose="020B0604030504040204" pitchFamily="34" charset="-120"/>
              </a:rPr>
              <a:t>S</a:t>
            </a:r>
            <a:r>
              <a:rPr lang="en-US" altLang="zh-TW" sz="1400" b="1" baseline="-25000" dirty="0">
                <a:solidFill>
                  <a:schemeClr val="accent4"/>
                </a:solidFill>
                <a:ea typeface="微軟正黑體" panose="020B0604030504040204" pitchFamily="34" charset="-120"/>
              </a:rPr>
              <a:t> t</a:t>
            </a: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05D1DE29-1680-FF9F-0407-2F913C5C6C7D}"/>
              </a:ext>
            </a:extLst>
          </p:cNvPr>
          <p:cNvSpPr txBox="1"/>
          <p:nvPr/>
        </p:nvSpPr>
        <p:spPr>
          <a:xfrm>
            <a:off x="766107" y="4005064"/>
            <a:ext cx="2046394" cy="18466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altLang="zh-TW" sz="1200" dirty="0">
                <a:ea typeface="HGGothicE" panose="020B0400000000000000" pitchFamily="49" charset="-128"/>
                <a:cs typeface="ADLaM Display" panose="02010000000000000000" pitchFamily="2" charset="0"/>
                <a:sym typeface="Wingdings" panose="05000000000000000000" pitchFamily="2" charset="2"/>
              </a:rPr>
              <a:t>Remove vk</a:t>
            </a:r>
            <a:r>
              <a:rPr lang="en-US" altLang="zh-TW" sz="1200" baseline="30000" dirty="0">
                <a:ea typeface="HGGothicE" panose="020B0400000000000000" pitchFamily="49" charset="-128"/>
                <a:cs typeface="ADLaM Display" panose="02010000000000000000" pitchFamily="2" charset="0"/>
                <a:sym typeface="Wingdings" panose="05000000000000000000" pitchFamily="2" charset="2"/>
              </a:rPr>
              <a:t>T</a:t>
            </a:r>
            <a:r>
              <a:rPr lang="en-US" altLang="zh-TW" sz="1200" dirty="0">
                <a:ea typeface="HGGothicE" panose="020B0400000000000000" pitchFamily="49" charset="-128"/>
                <a:cs typeface="ADLaM Display" panose="02010000000000000000" pitchFamily="2" charset="0"/>
                <a:sym typeface="Wingdings" panose="05000000000000000000" pitchFamily="2" charset="2"/>
              </a:rPr>
              <a:t> loop by </a:t>
            </a:r>
            <a:r>
              <a:rPr lang="en-US" altLang="zh-TW" sz="1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Wingdings" panose="05000000000000000000" pitchFamily="2" charset="2"/>
              </a:rPr>
              <a:t>“</a:t>
            </a:r>
            <a:r>
              <a:rPr lang="en-US" altLang="zh-TW" sz="1200" dirty="0">
                <a:ea typeface="HGGothicE" panose="020B0400000000000000" pitchFamily="49" charset="-128"/>
                <a:cs typeface="ADLaM Display" panose="02010000000000000000" pitchFamily="2" charset="0"/>
                <a:sym typeface="Wingdings" panose="05000000000000000000" pitchFamily="2" charset="2"/>
              </a:rPr>
              <a:t>qk</a:t>
            </a:r>
            <a:r>
              <a:rPr lang="en-US" altLang="zh-TW" sz="1200" baseline="30000" dirty="0">
                <a:ea typeface="HGGothicE" panose="020B0400000000000000" pitchFamily="49" charset="-128"/>
                <a:cs typeface="ADLaM Display" panose="02010000000000000000" pitchFamily="2" charset="0"/>
                <a:sym typeface="Wingdings" panose="05000000000000000000" pitchFamily="2" charset="2"/>
              </a:rPr>
              <a:t>T </a:t>
            </a:r>
            <a:r>
              <a:rPr lang="en-US" altLang="zh-TW" sz="1200" dirty="0">
                <a:ea typeface="HGGothicE" panose="020B0400000000000000" pitchFamily="49" charset="-128"/>
                <a:cs typeface="ADLaM Display" panose="02010000000000000000" pitchFamily="2" charset="0"/>
                <a:sym typeface="Wingdings" panose="05000000000000000000" pitchFamily="2" charset="2"/>
              </a:rPr>
              <a:t>matrix</a:t>
            </a:r>
            <a:r>
              <a:rPr lang="en-US" altLang="zh-TW" sz="1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Wingdings" panose="05000000000000000000" pitchFamily="2" charset="2"/>
              </a:rPr>
              <a:t>”</a:t>
            </a:r>
            <a:endParaRPr lang="zh-TW" altLang="en-US" sz="1200" b="1" dirty="0">
              <a:latin typeface="ADLaM Display" panose="02010000000000000000" pitchFamily="2" charset="0"/>
              <a:ea typeface="HGGothicE" panose="020B0909000000000000" pitchFamily="49" charset="-128"/>
              <a:cs typeface="ADLaM Display" panose="02010000000000000000" pitchFamily="2" charset="0"/>
            </a:endParaRPr>
          </a:p>
        </p:txBody>
      </p:sp>
      <p:grpSp>
        <p:nvGrpSpPr>
          <p:cNvPr id="97" name="群組 96">
            <a:extLst>
              <a:ext uri="{FF2B5EF4-FFF2-40B4-BE49-F238E27FC236}">
                <a16:creationId xmlns:a16="http://schemas.microsoft.com/office/drawing/2014/main" id="{2898230F-694A-FF83-FE08-E8FBA332359B}"/>
              </a:ext>
            </a:extLst>
          </p:cNvPr>
          <p:cNvGrpSpPr/>
          <p:nvPr/>
        </p:nvGrpSpPr>
        <p:grpSpPr>
          <a:xfrm>
            <a:off x="4964257" y="4221088"/>
            <a:ext cx="4072239" cy="2160240"/>
            <a:chOff x="4860032" y="3861048"/>
            <a:chExt cx="4164554" cy="21602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字方塊 58">
                  <a:extLst>
                    <a:ext uri="{FF2B5EF4-FFF2-40B4-BE49-F238E27FC236}">
                      <a16:creationId xmlns:a16="http://schemas.microsoft.com/office/drawing/2014/main" id="{FB4C9D0F-A566-8346-FFDA-82BBFE2D7B42}"/>
                    </a:ext>
                  </a:extLst>
                </p:cNvPr>
                <p:cNvSpPr txBox="1"/>
                <p:nvPr/>
              </p:nvSpPr>
              <p:spPr>
                <a:xfrm>
                  <a:off x="4860033" y="4572500"/>
                  <a:ext cx="1351982" cy="22465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noAutofit/>
                </a:bodyPr>
                <a:lstStyle/>
                <a:p>
                  <a:pPr>
                    <a:lnSpc>
                      <a:spcPts val="1800"/>
                    </a:lnSpc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altLang="zh-TW" sz="12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2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sSub>
                        <m:sSubPr>
                          <m:ctrlPr>
                            <a:rPr lang="en-US" altLang="zh-TW" sz="12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</m:oMath>
                  </a14:m>
                  <a:r>
                    <a:rPr lang="en-US" altLang="zh-TW" sz="1200" dirty="0"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TW" sz="1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TW" sz="12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R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dx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a14:m>
                  <a:endParaRPr lang="en-US" altLang="zh-TW" sz="1200" b="0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9" name="文字方塊 58">
                  <a:extLst>
                    <a:ext uri="{FF2B5EF4-FFF2-40B4-BE49-F238E27FC236}">
                      <a16:creationId xmlns:a16="http://schemas.microsoft.com/office/drawing/2014/main" id="{FB4C9D0F-A566-8346-FFDA-82BBFE2D7B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60033" y="4572500"/>
                  <a:ext cx="1351982" cy="224652"/>
                </a:xfrm>
                <a:prstGeom prst="rect">
                  <a:avLst/>
                </a:prstGeom>
                <a:blipFill>
                  <a:blip r:embed="rId3"/>
                  <a:stretch>
                    <a:fillRect l="-4167" b="-1351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B2BC8C01-F33E-DDF5-F2EA-8EAA6C0D6CCB}"/>
                </a:ext>
              </a:extLst>
            </p:cNvPr>
            <p:cNvSpPr/>
            <p:nvPr/>
          </p:nvSpPr>
          <p:spPr>
            <a:xfrm>
              <a:off x="4860034" y="5044533"/>
              <a:ext cx="482534" cy="184667"/>
            </a:xfrm>
            <a:prstGeom prst="rect">
              <a:avLst/>
            </a:prstGeom>
            <a:noFill/>
            <a:ln w="19050">
              <a:noFill/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0">
              <a:noAutofit/>
            </a:bodyPr>
            <a:lstStyle/>
            <a:p>
              <a:pPr>
                <a:lnSpc>
                  <a:spcPts val="1600"/>
                </a:lnSpc>
              </a:pPr>
              <a:r>
                <a:rPr lang="en-US" altLang="zh-TW" sz="1200" b="1" dirty="0">
                  <a:solidFill>
                    <a:schemeClr val="tx2"/>
                  </a:solidFill>
                  <a:ea typeface="微軟正黑體" panose="020B0604030504040204" pitchFamily="34" charset="-120"/>
                </a:rPr>
                <a:t>Prefill</a:t>
              </a:r>
            </a:p>
          </p:txBody>
        </p:sp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71EB7653-2802-CB01-45D4-682F88321E1A}"/>
                </a:ext>
              </a:extLst>
            </p:cNvPr>
            <p:cNvSpPr/>
            <p:nvPr/>
          </p:nvSpPr>
          <p:spPr>
            <a:xfrm>
              <a:off x="4860033" y="3861048"/>
              <a:ext cx="884899" cy="189832"/>
            </a:xfrm>
            <a:prstGeom prst="rect">
              <a:avLst/>
            </a:prstGeom>
            <a:noFill/>
            <a:ln w="19050">
              <a:noFill/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t" anchorCtr="0">
              <a:noAutofit/>
            </a:bodyPr>
            <a:lstStyle/>
            <a:p>
              <a:pPr>
                <a:lnSpc>
                  <a:spcPts val="1600"/>
                </a:lnSpc>
              </a:pPr>
              <a:r>
                <a:rPr lang="en-US" altLang="zh-TW" sz="1200" b="1" dirty="0">
                  <a:solidFill>
                    <a:schemeClr val="tx2"/>
                  </a:solidFill>
                  <a:ea typeface="微軟正黑體" panose="020B0604030504040204" pitchFamily="34" charset="-120"/>
                </a:rPr>
                <a:t>State Memory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文字方塊 87">
                  <a:extLst>
                    <a:ext uri="{FF2B5EF4-FFF2-40B4-BE49-F238E27FC236}">
                      <a16:creationId xmlns:a16="http://schemas.microsoft.com/office/drawing/2014/main" id="{F558DE43-A67C-BA0B-4D6D-A93A99973723}"/>
                    </a:ext>
                  </a:extLst>
                </p:cNvPr>
                <p:cNvSpPr txBox="1"/>
                <p:nvPr/>
              </p:nvSpPr>
              <p:spPr>
                <a:xfrm>
                  <a:off x="4860033" y="4028150"/>
                  <a:ext cx="1707968" cy="19293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TW" sz="12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altLang="zh-TW" sz="12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2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altLang="zh-TW" sz="120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TW" sz="12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i="1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i="1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altLang="zh-TW" sz="120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bSup>
                    </m:oMath>
                  </a14:m>
                  <a:r>
                    <a:rPr lang="en-US" altLang="zh-TW" sz="1200" dirty="0">
                      <a:latin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TW" sz="1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TW" sz="12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R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dxd</m:t>
                          </m:r>
                        </m:sup>
                      </m:sSup>
                    </m:oMath>
                  </a14:m>
                  <a:endParaRPr lang="en-US" altLang="zh-TW" sz="12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88" name="文字方塊 87">
                  <a:extLst>
                    <a:ext uri="{FF2B5EF4-FFF2-40B4-BE49-F238E27FC236}">
                      <a16:creationId xmlns:a16="http://schemas.microsoft.com/office/drawing/2014/main" id="{F558DE43-A67C-BA0B-4D6D-A93A999737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60033" y="4028150"/>
                  <a:ext cx="1707968" cy="192938"/>
                </a:xfrm>
                <a:prstGeom prst="rect">
                  <a:avLst/>
                </a:prstGeom>
                <a:blipFill>
                  <a:blip r:embed="rId4"/>
                  <a:stretch>
                    <a:fillRect l="-3285" b="-2258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010B6A77-3EC5-711B-B6F8-E07A5B216265}"/>
                </a:ext>
              </a:extLst>
            </p:cNvPr>
            <p:cNvSpPr/>
            <p:nvPr/>
          </p:nvSpPr>
          <p:spPr>
            <a:xfrm>
              <a:off x="4860033" y="4400938"/>
              <a:ext cx="987529" cy="223623"/>
            </a:xfrm>
            <a:prstGeom prst="rect">
              <a:avLst/>
            </a:prstGeom>
            <a:noFill/>
            <a:ln w="19050">
              <a:noFill/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t" anchorCtr="0">
              <a:noAutofit/>
            </a:bodyPr>
            <a:lstStyle/>
            <a:p>
              <a:pPr>
                <a:lnSpc>
                  <a:spcPts val="1600"/>
                </a:lnSpc>
              </a:pPr>
              <a:r>
                <a:rPr lang="en-US" altLang="zh-TW" sz="1200" b="1" dirty="0">
                  <a:solidFill>
                    <a:schemeClr val="tx2"/>
                  </a:solidFill>
                  <a:ea typeface="微軟正黑體" panose="020B0604030504040204" pitchFamily="34" charset="-120"/>
                </a:rPr>
                <a:t>Output</a:t>
              </a:r>
              <a:r>
                <a:rPr lang="en-US" altLang="zh-TW" sz="1200" b="1" dirty="0">
                  <a:solidFill>
                    <a:schemeClr val="tx1"/>
                  </a:solidFill>
                  <a:ea typeface="微軟正黑體" panose="020B0604030504040204" pitchFamily="34" charset="-120"/>
                </a:rPr>
                <a:t>( </a:t>
              </a:r>
              <a:r>
                <a:rPr lang="en-US" altLang="zh-TW" sz="1200" dirty="0">
                  <a:solidFill>
                    <a:schemeClr val="tx1"/>
                  </a:solidFill>
                  <a:ea typeface="微軟正黑體" panose="020B0604030504040204" pitchFamily="34" charset="-120"/>
                </a:rPr>
                <a:t>X</a:t>
              </a:r>
              <a:r>
                <a:rPr lang="en-US" altLang="zh-TW" sz="1200" b="1" baseline="-25000" dirty="0">
                  <a:solidFill>
                    <a:schemeClr val="tx1"/>
                  </a:solidFill>
                  <a:ea typeface="微軟正黑體" panose="020B0604030504040204" pitchFamily="34" charset="-120"/>
                </a:rPr>
                <a:t>i</a:t>
              </a:r>
              <a:r>
                <a:rPr lang="en-US" altLang="zh-TW" sz="1200" b="1" dirty="0">
                  <a:solidFill>
                    <a:schemeClr val="tx1"/>
                  </a:solidFill>
                  <a:ea typeface="微軟正黑體" panose="020B0604030504040204" pitchFamily="34" charset="-120"/>
                </a:rPr>
                <a:t> 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文字方塊 93">
                  <a:extLst>
                    <a:ext uri="{FF2B5EF4-FFF2-40B4-BE49-F238E27FC236}">
                      <a16:creationId xmlns:a16="http://schemas.microsoft.com/office/drawing/2014/main" id="{27216D4D-35AA-F822-CA46-08EB02F6C06C}"/>
                    </a:ext>
                  </a:extLst>
                </p:cNvPr>
                <p:cNvSpPr txBox="1"/>
                <p:nvPr/>
              </p:nvSpPr>
              <p:spPr>
                <a:xfrm>
                  <a:off x="4860032" y="5241115"/>
                  <a:ext cx="4164554" cy="78017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>
                    <a:lnSpc>
                      <a:spcPts val="2000"/>
                    </a:lnSpc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altLang="zh-TW" sz="12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2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altLang="zh-TW" sz="1200" i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TW" sz="12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12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altLang="zh-TW" sz="1200" i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altLang="zh-TW" sz="1200" i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bSup>
                      <m:r>
                        <a:rPr lang="en-US" altLang="zh-TW" sz="1200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TW" sz="1200" i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5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m:rPr>
                              <m:brk m:alnAt="25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5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sz="1200" i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200" i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sz="1200" i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altLang="zh-TW" sz="1200" i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200" i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sz="1200" i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zh-TW" sz="120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bSup>
                        </m:e>
                      </m:nary>
                    </m:oMath>
                  </a14:m>
                  <a:r>
                    <a:rPr lang="en-US" altLang="zh-TW" sz="1200" dirty="0">
                      <a:latin typeface="Cambria Math" panose="02040503050406030204" pitchFamily="18" charset="0"/>
                    </a:rPr>
                    <a:t> </a:t>
                  </a:r>
                  <a:endParaRPr lang="en-US" altLang="zh-TW" sz="1200" b="0" dirty="0">
                    <a:latin typeface="Cambria Math" panose="02040503050406030204" pitchFamily="18" charset="0"/>
                  </a:endParaRPr>
                </a:p>
                <a:p>
                  <a:pPr>
                    <a:lnSpc>
                      <a:spcPts val="2000"/>
                    </a:lnSpc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altLang="zh-TW" sz="12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2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sSub>
                        <m:sSubPr>
                          <m:ctrlPr>
                            <a:rPr lang="en-US" altLang="zh-TW" sz="12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altLang="zh-TW" sz="120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200" b="0" i="0" smtClean="0">
                          <a:latin typeface="Cambria Math" panose="02040503050406030204" pitchFamily="18" charset="0"/>
                        </a:rPr>
                        <m:t>(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TW" sz="1200" i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5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m:rPr>
                              <m:brk m:alnAt="25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5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sz="1200" i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200" i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sz="1200" i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altLang="zh-TW" sz="1200" i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200" i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sz="1200" i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zh-TW" sz="120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bSup>
                        </m:e>
                      </m:nary>
                      <m:r>
                        <a:rPr lang="en-US" altLang="zh-TW" sz="1200" b="0" i="0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altLang="zh-TW" sz="1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altLang="zh-TW" sz="1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TW" sz="1200" i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5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m:rPr>
                              <m:brk m:alnAt="25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5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sz="1200" i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200" i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sz="1200" i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</m:sSub>
                          <m:r>
                            <a:rPr lang="en-US" altLang="zh-TW" sz="1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altLang="zh-TW" sz="1200" i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200" i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sz="1200" i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zh-TW" sz="120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bSup>
                        </m:e>
                      </m:nary>
                      <m:sSub>
                        <m:sSubPr>
                          <m:ctrlPr>
                            <a:rPr lang="en-US" altLang="zh-TW" sz="12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altLang="zh-TW" sz="1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altLang="zh-TW" sz="1200" b="0" dirty="0">
                      <a:latin typeface="Cambria Math" panose="02040503050406030204" pitchFamily="18" charset="0"/>
                    </a:rPr>
                    <a:t> = </a:t>
                  </a:r>
                  <a14:m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ctrlPr>
                            <a:rPr lang="en-US" altLang="zh-TW" sz="1200" i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5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m:rPr>
                              <m:brk m:alnAt="25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5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  <m:e>
                          <m:r>
                            <a:rPr lang="en-US" altLang="zh-TW" sz="12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TW" sz="12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altLang="zh-TW" sz="1200" b="0" i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200" b="0" i="0" smtClean="0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sz="1200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zh-TW" sz="120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TW" sz="12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2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sz="12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j</m:t>
                              </m:r>
                            </m:sub>
                          </m:sSub>
                          <m:r>
                            <a:rPr lang="en-US" altLang="zh-TW" sz="12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)∙</m:t>
                          </m:r>
                          <m:sSub>
                            <m:sSubPr>
                              <m:ctrlPr>
                                <a:rPr lang="en-US" altLang="zh-TW" sz="1200" i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200" i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sz="1200" i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</m:sSub>
                          <m:r>
                            <a:rPr lang="en-US" altLang="zh-TW" sz="12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a14:m>
                  <a:endParaRPr lang="en-US" altLang="zh-TW" sz="1200" dirty="0">
                    <a:latin typeface="Cambria Math" panose="02040503050406030204" pitchFamily="18" charset="0"/>
                  </a:endParaRPr>
                </a:p>
                <a:p>
                  <a:pPr>
                    <a:lnSpc>
                      <a:spcPts val="2200"/>
                    </a:lnSpc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m:rPr>
                            <m:sty m:val="p"/>
                          </m:rPr>
                          <a:rPr lang="el-GR" altLang="zh-TW" sz="120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Ο</m:t>
                        </m:r>
                        <m:r>
                          <a:rPr lang="en-US" altLang="zh-TW" sz="1200" i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TW" sz="1200" b="0" i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TW" sz="1200" b="0" i="0" smtClean="0">
                                <a:latin typeface="Cambria Math" panose="02040503050406030204" pitchFamily="18" charset="0"/>
                              </a:rPr>
                              <m:t>Q</m:t>
                            </m:r>
                            <m:sSup>
                              <m:sSupPr>
                                <m:ctrlPr>
                                  <a:rPr lang="en-US" altLang="zh-TW" sz="1200" b="0" i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1200" b="0" i="0" smtClean="0">
                                    <a:latin typeface="Cambria Math" panose="02040503050406030204" pitchFamily="18" charset="0"/>
                                  </a:rPr>
                                  <m:t>K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zh-TW" sz="1200" b="0" i="0" smtClean="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p>
                            </m:sSup>
                            <m:r>
                              <a:rPr lang="en-US" altLang="zh-TW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⨀ </m:t>
                            </m:r>
                            <m:r>
                              <m:rPr>
                                <m:sty m:val="p"/>
                              </m:rPr>
                              <a:rPr lang="en-US" altLang="zh-TW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altLang="zh-TW" sz="1200" b="0" i="0" smtClean="0">
                            <a:latin typeface="Cambria Math" panose="02040503050406030204" pitchFamily="18" charset="0"/>
                          </a:rPr>
                          <m:t>V</m:t>
                        </m:r>
                        <m:r>
                          <a:rPr lang="en-US" altLang="zh-TW" sz="1200" b="0" i="0" smtClean="0">
                            <a:latin typeface="Cambria Math" panose="02040503050406030204" pitchFamily="18" charset="0"/>
                          </a:rPr>
                          <m:t> ⨁ </m:t>
                        </m:r>
                        <m:r>
                          <m:rPr>
                            <m:sty m:val="p"/>
                          </m:rPr>
                          <a:rPr lang="en-US" altLang="zh-TW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  <m:r>
                          <a:rPr lang="en-US" altLang="zh-TW" sz="1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altLang="zh-TW" sz="12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TW" sz="12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R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TW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en-US" altLang="zh-TW" sz="12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en-US" altLang="zh-TW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d</m:t>
                            </m:r>
                          </m:sup>
                        </m:sSup>
                      </m:oMath>
                    </m:oMathPara>
                  </a14:m>
                  <a:endParaRPr lang="en-US" altLang="zh-TW" sz="1200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94" name="文字方塊 93">
                  <a:extLst>
                    <a:ext uri="{FF2B5EF4-FFF2-40B4-BE49-F238E27FC236}">
                      <a16:creationId xmlns:a16="http://schemas.microsoft.com/office/drawing/2014/main" id="{27216D4D-35AA-F822-CA46-08EB02F6C0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60032" y="5241115"/>
                  <a:ext cx="4164554" cy="780173"/>
                </a:xfrm>
                <a:prstGeom prst="rect">
                  <a:avLst/>
                </a:prstGeom>
                <a:blipFill>
                  <a:blip r:embed="rId5"/>
                  <a:stretch>
                    <a:fillRect l="-1347" t="-35938" b="-2343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4" name="文字方塊 123">
            <a:extLst>
              <a:ext uri="{FF2B5EF4-FFF2-40B4-BE49-F238E27FC236}">
                <a16:creationId xmlns:a16="http://schemas.microsoft.com/office/drawing/2014/main" id="{B9708898-DE1F-F140-44C5-BBB06FF0C4EC}"/>
              </a:ext>
            </a:extLst>
          </p:cNvPr>
          <p:cNvSpPr txBox="1"/>
          <p:nvPr/>
        </p:nvSpPr>
        <p:spPr>
          <a:xfrm>
            <a:off x="6746819" y="2652850"/>
            <a:ext cx="348939" cy="456120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accent4">
                  <a:lumMod val="20000"/>
                  <a:lumOff val="80000"/>
                  <a:alpha val="80000"/>
                </a:schemeClr>
              </a:gs>
              <a:gs pos="79000">
                <a:schemeClr val="accent2">
                  <a:lumMod val="20000"/>
                  <a:lumOff val="80000"/>
                  <a:alpha val="60000"/>
                </a:schemeClr>
              </a:gs>
              <a:gs pos="100000">
                <a:schemeClr val="accent2">
                  <a:lumMod val="40000"/>
                  <a:lumOff val="60000"/>
                </a:schemeClr>
              </a:gs>
            </a:gsLst>
            <a:lin ang="0" scaled="1"/>
            <a:tileRect/>
          </a:gradFill>
          <a:ln w="15875">
            <a:solidFill>
              <a:schemeClr val="bg1">
                <a:lumMod val="65000"/>
              </a:schemeClr>
            </a:solidFill>
            <a:prstDash val="sysDot"/>
          </a:ln>
        </p:spPr>
        <p:txBody>
          <a:bodyPr wrap="none" lIns="0" tIns="182880" rIns="0" bIns="0" rtlCol="0" anchor="ctr" anchorCtr="1">
            <a:noAutofit/>
          </a:bodyPr>
          <a:lstStyle/>
          <a:p>
            <a:pPr algn="ctr"/>
            <a:r>
              <a:rPr lang="en-US" altLang="zh-TW" dirty="0">
                <a:solidFill>
                  <a:schemeClr val="bg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</a:t>
            </a:r>
            <a:endParaRPr lang="zh-TW" altLang="en-US" sz="1000" baseline="30000" dirty="0">
              <a:solidFill>
                <a:schemeClr val="bg1">
                  <a:lumMod val="50000"/>
                </a:scheme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6ED4306E-4437-F861-2472-666AB03DE50D}"/>
              </a:ext>
            </a:extLst>
          </p:cNvPr>
          <p:cNvSpPr txBox="1"/>
          <p:nvPr/>
        </p:nvSpPr>
        <p:spPr>
          <a:xfrm>
            <a:off x="6774758" y="3131304"/>
            <a:ext cx="293061" cy="153680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200" b="1" dirty="0"/>
              <a:t>T*d</a:t>
            </a:r>
            <a:endParaRPr lang="zh-TW" altLang="en-US" sz="1200" b="1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15A7CD0-FF5B-A6A4-3921-B153DCC92F47}"/>
              </a:ext>
            </a:extLst>
          </p:cNvPr>
          <p:cNvSpPr/>
          <p:nvPr/>
        </p:nvSpPr>
        <p:spPr>
          <a:xfrm>
            <a:off x="6705264" y="2740289"/>
            <a:ext cx="432048" cy="137088"/>
          </a:xfrm>
          <a:prstGeom prst="rect">
            <a:avLst/>
          </a:prstGeom>
          <a:solidFill>
            <a:srgbClr val="F3E5E5">
              <a:alpha val="70000"/>
            </a:srgbClr>
          </a:solidFill>
          <a:ln w="15875">
            <a:solidFill>
              <a:schemeClr val="accent2">
                <a:lumMod val="75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36576" rtlCol="0" anchor="ctr" anchorCtr="1"/>
          <a:lstStyle/>
          <a:p>
            <a:pPr algn="ctr">
              <a:lnSpc>
                <a:spcPts val="1800"/>
              </a:lnSpc>
            </a:pPr>
            <a:r>
              <a:rPr lang="en-US" altLang="zh-TW" sz="1200" b="1" dirty="0">
                <a:solidFill>
                  <a:schemeClr val="tx1"/>
                </a:solidFill>
                <a:ea typeface="微軟正黑體" panose="020B0604030504040204" pitchFamily="34" charset="-120"/>
              </a:rPr>
              <a:t>O</a:t>
            </a:r>
            <a:r>
              <a:rPr lang="en-US" altLang="zh-TW" sz="1200" b="1" baseline="-25000" dirty="0">
                <a:solidFill>
                  <a:schemeClr val="tx1"/>
                </a:solidFill>
                <a:ea typeface="微軟正黑體" panose="020B0604030504040204" pitchFamily="34" charset="-120"/>
              </a:rPr>
              <a:t>t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F151290-8E67-D7B6-3544-346E0BF624FA}"/>
              </a:ext>
            </a:extLst>
          </p:cNvPr>
          <p:cNvSpPr txBox="1"/>
          <p:nvPr/>
        </p:nvSpPr>
        <p:spPr>
          <a:xfrm>
            <a:off x="6774758" y="2646495"/>
            <a:ext cx="293061" cy="146682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200" b="1" dirty="0">
                <a:solidFill>
                  <a:schemeClr val="accent2"/>
                </a:solidFill>
              </a:rPr>
              <a:t>1*d</a:t>
            </a:r>
            <a:endParaRPr lang="zh-TW" altLang="en-US" sz="1200" b="1" dirty="0">
              <a:solidFill>
                <a:schemeClr val="accent2"/>
              </a:solidFill>
            </a:endParaRPr>
          </a:p>
        </p:txBody>
      </p:sp>
      <p:sp>
        <p:nvSpPr>
          <p:cNvPr id="81" name="文字方塊 80">
            <a:extLst>
              <a:ext uri="{FF2B5EF4-FFF2-40B4-BE49-F238E27FC236}">
                <a16:creationId xmlns:a16="http://schemas.microsoft.com/office/drawing/2014/main" id="{D134CEE8-15EF-28A2-B9E7-FD5CBE969D3D}"/>
              </a:ext>
            </a:extLst>
          </p:cNvPr>
          <p:cNvSpPr txBox="1"/>
          <p:nvPr/>
        </p:nvSpPr>
        <p:spPr>
          <a:xfrm>
            <a:off x="6890982" y="1412776"/>
            <a:ext cx="644018" cy="318228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200"/>
              </a:lnSpc>
            </a:pPr>
            <a:r>
              <a:rPr lang="en-US" altLang="zh-TW" sz="1200" dirty="0"/>
              <a:t>Residual</a:t>
            </a:r>
          </a:p>
          <a:p>
            <a:pPr algn="ctr">
              <a:lnSpc>
                <a:spcPts val="1200"/>
              </a:lnSpc>
            </a:pPr>
            <a:r>
              <a:rPr lang="en-US" altLang="zh-TW" sz="1200" dirty="0"/>
              <a:t>Connection</a:t>
            </a:r>
            <a:endParaRPr lang="zh-TW" altLang="en-US" sz="1200" dirty="0"/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F02CB56F-B943-37D7-491F-290799C4EB90}"/>
              </a:ext>
            </a:extLst>
          </p:cNvPr>
          <p:cNvSpPr txBox="1"/>
          <p:nvPr/>
        </p:nvSpPr>
        <p:spPr>
          <a:xfrm>
            <a:off x="8100392" y="2778388"/>
            <a:ext cx="405619" cy="274320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000" b="1" dirty="0">
                <a:latin typeface="Noto Sans HK" panose="020B0200000000000000" pitchFamily="34" charset="-120"/>
                <a:ea typeface="Noto Sans HK" panose="020B0200000000000000" pitchFamily="34" charset="-120"/>
                <a:cs typeface="ADLaM Display" panose="02010000000000000000" pitchFamily="2" charset="0"/>
                <a:sym typeface="Wingdings" panose="05000000000000000000" pitchFamily="2" charset="2"/>
              </a:rPr>
              <a:t>……</a:t>
            </a:r>
            <a:r>
              <a:rPr lang="zh-TW" altLang="en-US" sz="1000" b="1" dirty="0">
                <a:latin typeface="Noto Sans HK" panose="020B0200000000000000" pitchFamily="34" charset="-120"/>
                <a:ea typeface="Noto Sans HK" panose="020B0200000000000000" pitchFamily="34" charset="-120"/>
                <a:cs typeface="ADLaM Display" panose="02010000000000000000" pitchFamily="2" charset="0"/>
                <a:sym typeface="Wingdings" panose="05000000000000000000" pitchFamily="2" charset="2"/>
              </a:rPr>
              <a:t> </a:t>
            </a:r>
            <a:r>
              <a:rPr lang="en-US" altLang="zh-TW" sz="1000" b="1" dirty="0">
                <a:latin typeface="Noto Sans HK" panose="020B0200000000000000" pitchFamily="34" charset="-120"/>
                <a:ea typeface="Noto Sans HK" panose="020B0200000000000000" pitchFamily="34" charset="-120"/>
                <a:cs typeface="ADLaM Display" panose="02010000000000000000" pitchFamily="2" charset="0"/>
                <a:sym typeface="Wingdings" panose="05000000000000000000" pitchFamily="2" charset="2"/>
              </a:rPr>
              <a:t></a:t>
            </a:r>
            <a:endParaRPr lang="zh-TW" altLang="en-US" sz="1000" b="1" dirty="0">
              <a:latin typeface="Noto Sans HK" panose="020B0200000000000000" pitchFamily="34" charset="-120"/>
              <a:ea typeface="Noto Sans HK" panose="020B0200000000000000" pitchFamily="34" charset="-120"/>
              <a:cs typeface="ADLaM Display" panose="02010000000000000000" pitchFamily="2" charset="0"/>
            </a:endParaRPr>
          </a:p>
        </p:txBody>
      </p:sp>
      <p:sp>
        <p:nvSpPr>
          <p:cNvPr id="10" name="箭號: 向下 9">
            <a:extLst>
              <a:ext uri="{FF2B5EF4-FFF2-40B4-BE49-F238E27FC236}">
                <a16:creationId xmlns:a16="http://schemas.microsoft.com/office/drawing/2014/main" id="{453D59A5-38CD-56A3-223D-11B5DCDE6A9C}"/>
              </a:ext>
            </a:extLst>
          </p:cNvPr>
          <p:cNvSpPr/>
          <p:nvPr/>
        </p:nvSpPr>
        <p:spPr>
          <a:xfrm>
            <a:off x="1048751" y="2916012"/>
            <a:ext cx="223136" cy="520840"/>
          </a:xfrm>
          <a:prstGeom prst="downArrow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40000"/>
                </a:schemeClr>
              </a:gs>
              <a:gs pos="15000">
                <a:schemeClr val="bg1"/>
              </a:gs>
              <a:gs pos="83000">
                <a:schemeClr val="accent2"/>
              </a:gs>
              <a:gs pos="100000">
                <a:schemeClr val="accent2"/>
              </a:gs>
            </a:gsLst>
            <a:lin ang="5400000" scaled="1"/>
            <a:tileRect/>
          </a:gradFill>
          <a:ln w="12700" cap="flat" cmpd="sng" algn="ctr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0">
                  <a:schemeClr val="bg1"/>
                </a:gs>
                <a:gs pos="83000">
                  <a:schemeClr val="accent2"/>
                </a:gs>
                <a:gs pos="100000">
                  <a:srgbClr val="FF0000"/>
                </a:gs>
              </a:gsLst>
              <a:lin ang="5400000" scaled="1"/>
            </a:gra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DA5081B-FA2C-EF0F-B752-96ABCDF8CB4C}"/>
              </a:ext>
            </a:extLst>
          </p:cNvPr>
          <p:cNvSpPr/>
          <p:nvPr/>
        </p:nvSpPr>
        <p:spPr>
          <a:xfrm>
            <a:off x="975311" y="1589465"/>
            <a:ext cx="377561" cy="60577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91440" rIns="0" bIns="0" rtlCol="0" anchor="ctr" anchorCtr="1"/>
          <a:lstStyle/>
          <a:p>
            <a:pPr algn="ctr">
              <a:lnSpc>
                <a:spcPts val="1000"/>
              </a:lnSpc>
            </a:pPr>
            <a:r>
              <a:rPr lang="en-US" altLang="zh-TW" sz="8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History</a:t>
            </a:r>
            <a:br>
              <a:rPr lang="en-US" altLang="zh-TW" sz="8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altLang="zh-TW" sz="8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Prompt</a:t>
            </a:r>
          </a:p>
          <a:p>
            <a:pPr algn="ctr">
              <a:lnSpc>
                <a:spcPts val="1000"/>
              </a:lnSpc>
            </a:pPr>
            <a:br>
              <a:rPr lang="en-US" altLang="zh-TW" sz="8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altLang="zh-TW" sz="10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X</a:t>
            </a:r>
            <a:r>
              <a:rPr lang="en-US" altLang="zh-TW" sz="1000" baseline="-250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458E4130-0B39-CC8D-4227-AAE3E1A121B7}"/>
              </a:ext>
            </a:extLst>
          </p:cNvPr>
          <p:cNvSpPr txBox="1"/>
          <p:nvPr/>
        </p:nvSpPr>
        <p:spPr>
          <a:xfrm>
            <a:off x="1025767" y="1417294"/>
            <a:ext cx="293061" cy="12904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200" b="1" dirty="0"/>
              <a:t>N*d</a:t>
            </a:r>
            <a:endParaRPr lang="zh-TW" altLang="en-US" sz="1200" b="1" dirty="0"/>
          </a:p>
        </p:txBody>
      </p:sp>
      <p:sp>
        <p:nvSpPr>
          <p:cNvPr id="46" name="左大括弧 45">
            <a:extLst>
              <a:ext uri="{FF2B5EF4-FFF2-40B4-BE49-F238E27FC236}">
                <a16:creationId xmlns:a16="http://schemas.microsoft.com/office/drawing/2014/main" id="{B39747E0-D0DE-BEE6-C02F-9316E09AE22F}"/>
              </a:ext>
            </a:extLst>
          </p:cNvPr>
          <p:cNvSpPr/>
          <p:nvPr/>
        </p:nvSpPr>
        <p:spPr>
          <a:xfrm>
            <a:off x="787036" y="2038552"/>
            <a:ext cx="83728" cy="166311"/>
          </a:xfrm>
          <a:prstGeom prst="leftBrace">
            <a:avLst>
              <a:gd name="adj1" fmla="val 41469"/>
              <a:gd name="adj2" fmla="val 50000"/>
            </a:avLst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9E686714-69E2-E04C-ABAA-5FD70C0122EE}"/>
              </a:ext>
            </a:extLst>
          </p:cNvPr>
          <p:cNvSpPr txBox="1"/>
          <p:nvPr/>
        </p:nvSpPr>
        <p:spPr>
          <a:xfrm>
            <a:off x="674063" y="2020159"/>
            <a:ext cx="142126" cy="240145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200"/>
              </a:lnSpc>
            </a:pPr>
            <a:r>
              <a:rPr lang="en-US" altLang="zh-TW" sz="1200" b="1" dirty="0"/>
              <a:t>T </a:t>
            </a:r>
            <a:endParaRPr lang="zh-TW" altLang="en-US" sz="1200" b="1" dirty="0"/>
          </a:p>
        </p:txBody>
      </p:sp>
      <p:sp>
        <p:nvSpPr>
          <p:cNvPr id="85" name="左大括弧 84">
            <a:extLst>
              <a:ext uri="{FF2B5EF4-FFF2-40B4-BE49-F238E27FC236}">
                <a16:creationId xmlns:a16="http://schemas.microsoft.com/office/drawing/2014/main" id="{8EAE8D10-AD5A-FC28-433B-EF384BEDAB54}"/>
              </a:ext>
            </a:extLst>
          </p:cNvPr>
          <p:cNvSpPr/>
          <p:nvPr/>
        </p:nvSpPr>
        <p:spPr>
          <a:xfrm rot="5400000">
            <a:off x="7133900" y="1341137"/>
            <a:ext cx="74008" cy="876215"/>
          </a:xfrm>
          <a:prstGeom prst="leftBrace">
            <a:avLst>
              <a:gd name="adj1" fmla="val 41469"/>
              <a:gd name="adj2" fmla="val 50000"/>
            </a:avLst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314717E2-776F-9F29-0AA0-C80D8ABE7B12}"/>
              </a:ext>
            </a:extLst>
          </p:cNvPr>
          <p:cNvSpPr txBox="1"/>
          <p:nvPr/>
        </p:nvSpPr>
        <p:spPr>
          <a:xfrm>
            <a:off x="7328805" y="1874605"/>
            <a:ext cx="293061" cy="9193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N*d</a:t>
            </a:r>
            <a:endParaRPr lang="zh-TW" altLang="en-US" sz="12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213FE673-F8C7-00A7-7042-711CAEB11A8E}"/>
              </a:ext>
            </a:extLst>
          </p:cNvPr>
          <p:cNvSpPr txBox="1"/>
          <p:nvPr/>
        </p:nvSpPr>
        <p:spPr>
          <a:xfrm>
            <a:off x="6780229" y="1835160"/>
            <a:ext cx="293061" cy="153680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N*d</a:t>
            </a:r>
            <a:endParaRPr lang="zh-TW" altLang="en-US" sz="12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9" name="左大括弧 78">
            <a:extLst>
              <a:ext uri="{FF2B5EF4-FFF2-40B4-BE49-F238E27FC236}">
                <a16:creationId xmlns:a16="http://schemas.microsoft.com/office/drawing/2014/main" id="{12118E3A-3DCA-9ABF-1FEC-C061F7494D60}"/>
              </a:ext>
            </a:extLst>
          </p:cNvPr>
          <p:cNvSpPr/>
          <p:nvPr/>
        </p:nvSpPr>
        <p:spPr>
          <a:xfrm>
            <a:off x="513367" y="1594831"/>
            <a:ext cx="98193" cy="605777"/>
          </a:xfrm>
          <a:prstGeom prst="leftBrace">
            <a:avLst>
              <a:gd name="adj1" fmla="val 41469"/>
              <a:gd name="adj2" fmla="val 50000"/>
            </a:avLst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3" name="文字方塊 82">
            <a:extLst>
              <a:ext uri="{FF2B5EF4-FFF2-40B4-BE49-F238E27FC236}">
                <a16:creationId xmlns:a16="http://schemas.microsoft.com/office/drawing/2014/main" id="{7A985FA0-D19A-5189-47C7-3070B63C0559}"/>
              </a:ext>
            </a:extLst>
          </p:cNvPr>
          <p:cNvSpPr txBox="1"/>
          <p:nvPr/>
        </p:nvSpPr>
        <p:spPr>
          <a:xfrm>
            <a:off x="369351" y="1791405"/>
            <a:ext cx="162246" cy="240145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200"/>
              </a:lnSpc>
            </a:pPr>
            <a:r>
              <a:rPr lang="en-US" altLang="zh-TW" sz="1200" b="1" dirty="0"/>
              <a:t>N </a:t>
            </a:r>
            <a:endParaRPr lang="zh-TW" altLang="en-US" sz="1200" b="1" dirty="0"/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600839EA-8E0B-96A2-8109-3E9CCDB39B90}"/>
              </a:ext>
            </a:extLst>
          </p:cNvPr>
          <p:cNvSpPr/>
          <p:nvPr/>
        </p:nvSpPr>
        <p:spPr>
          <a:xfrm>
            <a:off x="849706" y="2720566"/>
            <a:ext cx="616139" cy="224021"/>
          </a:xfrm>
          <a:prstGeom prst="rect">
            <a:avLst/>
          </a:prstGeom>
          <a:solidFill>
            <a:schemeClr val="accent2">
              <a:lumMod val="20000"/>
              <a:lumOff val="80000"/>
              <a:alpha val="20000"/>
            </a:schemeClr>
          </a:solidFill>
          <a:ln w="15875">
            <a:solidFill>
              <a:schemeClr val="accent2">
                <a:lumMod val="75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500"/>
              </a:lnSpc>
            </a:pPr>
            <a:r>
              <a:rPr lang="en-US" altLang="zh-TW" sz="1400" b="1" dirty="0">
                <a:solidFill>
                  <a:schemeClr val="accent2"/>
                </a:solidFill>
                <a:ea typeface="微軟正黑體" panose="020B0604030504040204" pitchFamily="34" charset="-120"/>
              </a:rPr>
              <a:t> x </a:t>
            </a:r>
            <a:r>
              <a:rPr lang="en-US" altLang="zh-TW" sz="1400" b="1" baseline="-25000" dirty="0">
                <a:solidFill>
                  <a:schemeClr val="accent2"/>
                </a:solidFill>
                <a:ea typeface="微軟正黑體" panose="020B0604030504040204" pitchFamily="34" charset="-120"/>
              </a:rPr>
              <a:t>t</a:t>
            </a:r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3D6AF6EB-46DF-2AAB-9802-B1F91980105E}"/>
              </a:ext>
            </a:extLst>
          </p:cNvPr>
          <p:cNvSpPr txBox="1"/>
          <p:nvPr/>
        </p:nvSpPr>
        <p:spPr>
          <a:xfrm>
            <a:off x="1010233" y="2633503"/>
            <a:ext cx="293061" cy="129042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200" b="1" dirty="0">
                <a:solidFill>
                  <a:schemeClr val="accent2"/>
                </a:solidFill>
              </a:rPr>
              <a:t>1*d</a:t>
            </a:r>
            <a:endParaRPr lang="zh-TW" altLang="en-US" sz="1200" b="1" dirty="0">
              <a:solidFill>
                <a:schemeClr val="accent2"/>
              </a:solidFill>
            </a:endParaRPr>
          </a:p>
        </p:txBody>
      </p:sp>
      <p:sp>
        <p:nvSpPr>
          <p:cNvPr id="93" name="文字方塊 92">
            <a:extLst>
              <a:ext uri="{FF2B5EF4-FFF2-40B4-BE49-F238E27FC236}">
                <a16:creationId xmlns:a16="http://schemas.microsoft.com/office/drawing/2014/main" id="{E41887A7-DA65-B5EC-64F4-B17ED6B2AC7F}"/>
              </a:ext>
            </a:extLst>
          </p:cNvPr>
          <p:cNvSpPr txBox="1"/>
          <p:nvPr/>
        </p:nvSpPr>
        <p:spPr>
          <a:xfrm>
            <a:off x="4213987" y="1002676"/>
            <a:ext cx="644018" cy="213431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200"/>
              </a:lnSpc>
            </a:pPr>
            <a:r>
              <a:rPr lang="en-US" altLang="zh-TW" sz="1200" dirty="0"/>
              <a:t>Layer </a:t>
            </a:r>
            <a:r>
              <a:rPr lang="en-US" altLang="zh-TW" sz="1200" b="1" dirty="0"/>
              <a:t>n</a:t>
            </a:r>
            <a:endParaRPr lang="zh-TW" altLang="en-US" sz="1200" b="1" dirty="0"/>
          </a:p>
        </p:txBody>
      </p:sp>
      <p:sp>
        <p:nvSpPr>
          <p:cNvPr id="99" name="左大括弧 98">
            <a:extLst>
              <a:ext uri="{FF2B5EF4-FFF2-40B4-BE49-F238E27FC236}">
                <a16:creationId xmlns:a16="http://schemas.microsoft.com/office/drawing/2014/main" id="{A916CD93-CCC8-FD60-5049-5693564D32E3}"/>
              </a:ext>
            </a:extLst>
          </p:cNvPr>
          <p:cNvSpPr/>
          <p:nvPr/>
        </p:nvSpPr>
        <p:spPr>
          <a:xfrm rot="5400000">
            <a:off x="4473666" y="-2069934"/>
            <a:ext cx="124660" cy="6696744"/>
          </a:xfrm>
          <a:prstGeom prst="leftBrace">
            <a:avLst>
              <a:gd name="adj1" fmla="val 41469"/>
              <a:gd name="adj2" fmla="val 50000"/>
            </a:avLst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2" name="直線接點 101">
            <a:extLst>
              <a:ext uri="{FF2B5EF4-FFF2-40B4-BE49-F238E27FC236}">
                <a16:creationId xmlns:a16="http://schemas.microsoft.com/office/drawing/2014/main" id="{8BBDF5F1-CC31-C29A-376C-290B3D0E9D51}"/>
              </a:ext>
            </a:extLst>
          </p:cNvPr>
          <p:cNvCxnSpPr>
            <a:cxnSpLocks/>
          </p:cNvCxnSpPr>
          <p:nvPr/>
        </p:nvCxnSpPr>
        <p:spPr>
          <a:xfrm>
            <a:off x="960599" y="2020159"/>
            <a:ext cx="392273" cy="0"/>
          </a:xfrm>
          <a:prstGeom prst="line">
            <a:avLst/>
          </a:prstGeom>
          <a:ln w="63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1" name="矩形 110">
            <a:extLst>
              <a:ext uri="{FF2B5EF4-FFF2-40B4-BE49-F238E27FC236}">
                <a16:creationId xmlns:a16="http://schemas.microsoft.com/office/drawing/2014/main" id="{0B84D7D3-90C5-91E4-C95F-4D75CDBCB1F3}"/>
              </a:ext>
            </a:extLst>
          </p:cNvPr>
          <p:cNvSpPr/>
          <p:nvPr/>
        </p:nvSpPr>
        <p:spPr>
          <a:xfrm>
            <a:off x="193651" y="4869160"/>
            <a:ext cx="377561" cy="60577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91440" rIns="0" bIns="0" rtlCol="0" anchor="ctr" anchorCtr="1"/>
          <a:lstStyle/>
          <a:p>
            <a:pPr algn="ctr">
              <a:lnSpc>
                <a:spcPts val="1000"/>
              </a:lnSpc>
            </a:pPr>
            <a:r>
              <a:rPr lang="en-US" altLang="zh-TW" sz="10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X</a:t>
            </a:r>
            <a:endParaRPr lang="en-US" altLang="zh-TW" sz="1000" baseline="-25000" dirty="0">
              <a:solidFill>
                <a:schemeClr val="tx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ctr">
              <a:lnSpc>
                <a:spcPts val="1000"/>
              </a:lnSpc>
            </a:pPr>
            <a:endParaRPr lang="en-US" altLang="zh-TW" sz="1000" baseline="-25000" dirty="0">
              <a:solidFill>
                <a:schemeClr val="tx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5EB8586C-1D7F-A115-CC38-DDCC1B93E823}"/>
              </a:ext>
            </a:extLst>
          </p:cNvPr>
          <p:cNvSpPr/>
          <p:nvPr/>
        </p:nvSpPr>
        <p:spPr>
          <a:xfrm>
            <a:off x="189037" y="5282158"/>
            <a:ext cx="387946" cy="196974"/>
          </a:xfrm>
          <a:prstGeom prst="rect">
            <a:avLst/>
          </a:prstGeom>
          <a:noFill/>
          <a:ln w="15875">
            <a:solidFill>
              <a:schemeClr val="accent2">
                <a:lumMod val="75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400"/>
              </a:lnSpc>
            </a:pPr>
            <a:r>
              <a:rPr lang="en-US" altLang="zh-TW" sz="1200" b="1" dirty="0">
                <a:solidFill>
                  <a:schemeClr val="tx1"/>
                </a:solidFill>
                <a:ea typeface="微軟正黑體" panose="020B0604030504040204" pitchFamily="34" charset="-120"/>
              </a:rPr>
              <a:t>X</a:t>
            </a:r>
            <a:r>
              <a:rPr lang="en-US" altLang="zh-TW" sz="1200" b="1" baseline="-25000" dirty="0">
                <a:solidFill>
                  <a:schemeClr val="tx1"/>
                </a:solidFill>
                <a:ea typeface="微軟正黑體" panose="020B0604030504040204" pitchFamily="34" charset="-120"/>
              </a:rPr>
              <a:t>n</a:t>
            </a: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18A0BA1A-FF43-E1FF-1C1A-8C2CD33A85D5}"/>
              </a:ext>
            </a:extLst>
          </p:cNvPr>
          <p:cNvSpPr/>
          <p:nvPr/>
        </p:nvSpPr>
        <p:spPr>
          <a:xfrm>
            <a:off x="3612604" y="4874734"/>
            <a:ext cx="377561" cy="60577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91440" rIns="0" bIns="0" rtlCol="0" anchor="ctr" anchorCtr="1"/>
          <a:lstStyle/>
          <a:p>
            <a:pPr algn="ctr">
              <a:lnSpc>
                <a:spcPts val="1000"/>
              </a:lnSpc>
            </a:pPr>
            <a:r>
              <a:rPr lang="en-US" altLang="zh-TW" sz="10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X</a:t>
            </a:r>
            <a:endParaRPr lang="en-US" altLang="zh-TW" sz="1000" baseline="-25000" dirty="0">
              <a:solidFill>
                <a:schemeClr val="tx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ctr">
              <a:lnSpc>
                <a:spcPts val="1000"/>
              </a:lnSpc>
            </a:pPr>
            <a:endParaRPr lang="en-US" altLang="zh-TW" sz="1000" baseline="-25000" dirty="0">
              <a:solidFill>
                <a:schemeClr val="tx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D9BF962C-8753-9F21-36F9-A0DCF1452E05}"/>
              </a:ext>
            </a:extLst>
          </p:cNvPr>
          <p:cNvSpPr/>
          <p:nvPr/>
        </p:nvSpPr>
        <p:spPr>
          <a:xfrm>
            <a:off x="3607990" y="5287732"/>
            <a:ext cx="387946" cy="196974"/>
          </a:xfrm>
          <a:prstGeom prst="rect">
            <a:avLst/>
          </a:prstGeom>
          <a:solidFill>
            <a:srgbClr val="F3E5E5">
              <a:alpha val="70000"/>
            </a:srgbClr>
          </a:solidFill>
          <a:ln w="15875">
            <a:solidFill>
              <a:schemeClr val="accent2">
                <a:lumMod val="75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400"/>
              </a:lnSpc>
            </a:pPr>
            <a:r>
              <a:rPr lang="en-US" altLang="zh-TW" sz="1200" b="1" dirty="0">
                <a:solidFill>
                  <a:schemeClr val="tx1"/>
                </a:solidFill>
                <a:ea typeface="微軟正黑體" panose="020B0604030504040204" pitchFamily="34" charset="-120"/>
              </a:rPr>
              <a:t>X</a:t>
            </a:r>
            <a:r>
              <a:rPr lang="en-US" altLang="zh-TW" sz="1200" b="1" baseline="-25000" dirty="0">
                <a:solidFill>
                  <a:schemeClr val="tx1"/>
                </a:solidFill>
                <a:ea typeface="微軟正黑體" panose="020B0604030504040204" pitchFamily="34" charset="-120"/>
              </a:rPr>
              <a:t>n+1</a:t>
            </a:r>
          </a:p>
        </p:txBody>
      </p:sp>
    </p:spTree>
    <p:extLst>
      <p:ext uri="{BB962C8B-B14F-4D97-AF65-F5344CB8AC3E}">
        <p14:creationId xmlns:p14="http://schemas.microsoft.com/office/powerpoint/2010/main" val="99553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397A0-28F3-C545-90BC-B9066CC0E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矩形 96">
            <a:extLst>
              <a:ext uri="{FF2B5EF4-FFF2-40B4-BE49-F238E27FC236}">
                <a16:creationId xmlns:a16="http://schemas.microsoft.com/office/drawing/2014/main" id="{FC6BB0AA-E243-AB5E-7020-6022AB0E0C78}"/>
              </a:ext>
            </a:extLst>
          </p:cNvPr>
          <p:cNvSpPr/>
          <p:nvPr/>
        </p:nvSpPr>
        <p:spPr>
          <a:xfrm>
            <a:off x="1366214" y="5028021"/>
            <a:ext cx="325466" cy="345195"/>
          </a:xfrm>
          <a:prstGeom prst="rect">
            <a:avLst/>
          </a:prstGeom>
          <a:solidFill>
            <a:schemeClr val="accent2">
              <a:lumMod val="20000"/>
              <a:lumOff val="80000"/>
              <a:alpha val="20000"/>
            </a:schemeClr>
          </a:solidFill>
          <a:ln w="15875">
            <a:solidFill>
              <a:schemeClr val="accent2">
                <a:lumMod val="60000"/>
                <a:lumOff val="40000"/>
                <a:alpha val="8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288" tIns="0" rIns="0" bIns="0" rtlCol="0" anchor="t" anchorCtr="0"/>
          <a:lstStyle/>
          <a:p>
            <a:r>
              <a:rPr lang="en-US" altLang="zh-TW" sz="1200" b="1" baseline="-25000" dirty="0">
                <a:solidFill>
                  <a:srgbClr val="C00000"/>
                </a:solidFill>
              </a:rPr>
              <a:t>0</a:t>
            </a:r>
            <a:endParaRPr lang="zh-TW" altLang="en-US" sz="1200" b="1" baseline="-25000" dirty="0">
              <a:solidFill>
                <a:srgbClr val="C00000"/>
              </a:solidFill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464EECA0-4B2C-B328-327A-D6C4E66DC950}"/>
              </a:ext>
            </a:extLst>
          </p:cNvPr>
          <p:cNvSpPr/>
          <p:nvPr/>
        </p:nvSpPr>
        <p:spPr>
          <a:xfrm>
            <a:off x="1447081" y="5109554"/>
            <a:ext cx="325466" cy="345195"/>
          </a:xfrm>
          <a:prstGeom prst="rect">
            <a:avLst/>
          </a:prstGeom>
          <a:solidFill>
            <a:schemeClr val="accent2">
              <a:lumMod val="20000"/>
              <a:lumOff val="80000"/>
              <a:alpha val="20000"/>
            </a:schemeClr>
          </a:solidFill>
          <a:ln w="15875">
            <a:solidFill>
              <a:schemeClr val="accent2">
                <a:lumMod val="60000"/>
                <a:lumOff val="40000"/>
                <a:alpha val="8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288" tIns="0" rIns="0" bIns="0" rtlCol="0" anchor="t" anchorCtr="0"/>
          <a:lstStyle/>
          <a:p>
            <a:r>
              <a:rPr lang="en-US" altLang="zh-TW" sz="1200" b="1" baseline="-25000" dirty="0">
                <a:solidFill>
                  <a:srgbClr val="C00000"/>
                </a:solidFill>
              </a:rPr>
              <a:t>1</a:t>
            </a:r>
            <a:endParaRPr lang="zh-TW" altLang="en-US" sz="1200" b="1" baseline="-25000" dirty="0">
              <a:solidFill>
                <a:srgbClr val="C00000"/>
              </a:solidFill>
            </a:endParaRP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ECAC7AF0-6430-FA05-50C0-393AAA34F4F6}"/>
              </a:ext>
            </a:extLst>
          </p:cNvPr>
          <p:cNvSpPr/>
          <p:nvPr/>
        </p:nvSpPr>
        <p:spPr>
          <a:xfrm>
            <a:off x="1547664" y="5229187"/>
            <a:ext cx="325466" cy="345195"/>
          </a:xfrm>
          <a:prstGeom prst="rect">
            <a:avLst/>
          </a:prstGeom>
          <a:solidFill>
            <a:schemeClr val="accent2">
              <a:lumMod val="20000"/>
              <a:lumOff val="80000"/>
              <a:alpha val="20000"/>
            </a:schemeClr>
          </a:solidFill>
          <a:ln w="15875">
            <a:solidFill>
              <a:schemeClr val="accent2">
                <a:lumMod val="60000"/>
                <a:lumOff val="40000"/>
                <a:alpha val="8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576" tIns="0" rIns="0" bIns="0" rtlCol="0" anchor="t" anchorCtr="0"/>
          <a:lstStyle/>
          <a:p>
            <a:pPr>
              <a:lnSpc>
                <a:spcPts val="400"/>
              </a:lnSpc>
            </a:pPr>
            <a:r>
              <a:rPr lang="en-US" altLang="zh-TW" sz="1200" b="1" baseline="-25000" dirty="0">
                <a:solidFill>
                  <a:srgbClr val="C00000"/>
                </a:solidFill>
              </a:rPr>
              <a:t>.. .</a:t>
            </a:r>
            <a:endParaRPr lang="zh-TW" altLang="en-US" sz="1200" b="1" baseline="-25000" dirty="0">
              <a:solidFill>
                <a:srgbClr val="C00000"/>
              </a:solidFill>
            </a:endParaRP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094E3A0B-B187-41A3-C357-27FDCED9F1B5}"/>
              </a:ext>
            </a:extLst>
          </p:cNvPr>
          <p:cNvSpPr/>
          <p:nvPr/>
        </p:nvSpPr>
        <p:spPr>
          <a:xfrm>
            <a:off x="3635896" y="5182691"/>
            <a:ext cx="648072" cy="982613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548640" rIns="0" bIns="0" rtlCol="0" anchor="ctr" anchorCtr="1"/>
          <a:lstStyle/>
          <a:p>
            <a:pPr algn="ctr">
              <a:lnSpc>
                <a:spcPts val="1600"/>
              </a:lnSpc>
            </a:pPr>
            <a:r>
              <a:rPr lang="en-US" altLang="zh-TW" sz="1400" b="1" dirty="0">
                <a:solidFill>
                  <a:schemeClr val="tx1"/>
                </a:solidFill>
                <a:ea typeface="微軟正黑體" panose="020B0604030504040204" pitchFamily="34" charset="-120"/>
              </a:rPr>
              <a:t>X</a:t>
            </a:r>
            <a:endParaRPr lang="en-US" altLang="zh-TW" sz="1400" b="1" baseline="-25000" dirty="0">
              <a:solidFill>
                <a:schemeClr val="tx1"/>
              </a:solidFill>
              <a:ea typeface="微軟正黑體" panose="020B0604030504040204" pitchFamily="34" charset="-120"/>
            </a:endParaRPr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19368FA4-FF3F-3CBB-2B90-9559B1A45B1E}"/>
              </a:ext>
            </a:extLst>
          </p:cNvPr>
          <p:cNvSpPr/>
          <p:nvPr/>
        </p:nvSpPr>
        <p:spPr>
          <a:xfrm>
            <a:off x="2966056" y="4228215"/>
            <a:ext cx="460592" cy="481166"/>
          </a:xfrm>
          <a:prstGeom prst="rect">
            <a:avLst/>
          </a:prstGeom>
          <a:solidFill>
            <a:schemeClr val="accent6">
              <a:lumMod val="20000"/>
              <a:lumOff val="80000"/>
              <a:alpha val="20000"/>
            </a:schemeClr>
          </a:solidFill>
          <a:ln w="25400">
            <a:solidFill>
              <a:schemeClr val="accent6">
                <a:lumMod val="75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dirty="0">
                <a:solidFill>
                  <a:schemeClr val="accent6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LA</a:t>
            </a:r>
          </a:p>
        </p:txBody>
      </p:sp>
      <p:sp>
        <p:nvSpPr>
          <p:cNvPr id="49" name="標題 1">
            <a:extLst>
              <a:ext uri="{FF2B5EF4-FFF2-40B4-BE49-F238E27FC236}">
                <a16:creationId xmlns:a16="http://schemas.microsoft.com/office/drawing/2014/main" id="{219E3951-A155-82A0-EF3F-87F7523243FA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885698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Gated DeltaNet</a:t>
            </a:r>
            <a:endParaRPr lang="en-US" altLang="zh-TW" sz="2800" b="1" dirty="0">
              <a:solidFill>
                <a:schemeClr val="accent6">
                  <a:lumMod val="75000"/>
                </a:schemeClr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</a:endParaRPr>
          </a:p>
          <a:p>
            <a:r>
              <a:rPr lang="en-US" altLang="zh-TW" sz="14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A GDN model that evolves blind accumulation into precise erasing and overwriting.</a:t>
            </a:r>
          </a:p>
        </p:txBody>
      </p:sp>
      <p:sp>
        <p:nvSpPr>
          <p:cNvPr id="153" name="文字方塊 152">
            <a:extLst>
              <a:ext uri="{FF2B5EF4-FFF2-40B4-BE49-F238E27FC236}">
                <a16:creationId xmlns:a16="http://schemas.microsoft.com/office/drawing/2014/main" id="{5852B7B4-971C-41B3-0CFF-B456A7A76F17}"/>
              </a:ext>
            </a:extLst>
          </p:cNvPr>
          <p:cNvSpPr txBox="1"/>
          <p:nvPr/>
        </p:nvSpPr>
        <p:spPr>
          <a:xfrm>
            <a:off x="287524" y="980728"/>
            <a:ext cx="3996444" cy="1082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19431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/>
              <a:t>Delta Rule</a:t>
            </a:r>
            <a:r>
              <a:rPr lang="en-US" altLang="zh-TW" sz="1600" dirty="0"/>
              <a:t>: .. Mamba2/GLA.</a:t>
            </a:r>
          </a:p>
          <a:p>
            <a:pPr marL="285750" indent="-285750" defTabSz="19431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400" b="1" dirty="0"/>
              <a:t>Chunk-wise</a:t>
            </a:r>
            <a:r>
              <a:rPr lang="en-US" altLang="zh-TW" sz="1400" dirty="0"/>
              <a:t>: boosts hardware efficiency.</a:t>
            </a:r>
            <a:endParaRPr lang="zh-TW" altLang="en-US" sz="1200" dirty="0"/>
          </a:p>
          <a:p>
            <a:pPr marL="285750" indent="-285750" defTabSz="19431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altLang="zh-TW" sz="1400" dirty="0"/>
          </a:p>
        </p:txBody>
      </p:sp>
      <p:sp>
        <p:nvSpPr>
          <p:cNvPr id="126" name="文字方塊 125">
            <a:extLst>
              <a:ext uri="{FF2B5EF4-FFF2-40B4-BE49-F238E27FC236}">
                <a16:creationId xmlns:a16="http://schemas.microsoft.com/office/drawing/2014/main" id="{68CA0E81-DA85-7B38-2DB1-4D83E5BC1980}"/>
              </a:ext>
            </a:extLst>
          </p:cNvPr>
          <p:cNvSpPr txBox="1"/>
          <p:nvPr/>
        </p:nvSpPr>
        <p:spPr>
          <a:xfrm>
            <a:off x="7206485" y="5653750"/>
            <a:ext cx="256577" cy="333823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dirty="0">
                <a:solidFill>
                  <a:schemeClr val="accent4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</a:t>
            </a:r>
            <a:endParaRPr lang="zh-TW" altLang="en-US" dirty="0">
              <a:solidFill>
                <a:schemeClr val="accent4">
                  <a:lumMod val="60000"/>
                  <a:lumOff val="40000"/>
                </a:scheme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0" name="直角三角形 19">
            <a:extLst>
              <a:ext uri="{FF2B5EF4-FFF2-40B4-BE49-F238E27FC236}">
                <a16:creationId xmlns:a16="http://schemas.microsoft.com/office/drawing/2014/main" id="{8E9E5F58-0691-8D79-433B-90A504486B95}"/>
              </a:ext>
            </a:extLst>
          </p:cNvPr>
          <p:cNvSpPr/>
          <p:nvPr/>
        </p:nvSpPr>
        <p:spPr>
          <a:xfrm rot="10800000">
            <a:off x="7858031" y="1502705"/>
            <a:ext cx="493177" cy="758314"/>
          </a:xfrm>
          <a:prstGeom prst="rtTriangle">
            <a:avLst/>
          </a:prstGeom>
          <a:solidFill>
            <a:schemeClr val="bg1">
              <a:lumMod val="95000"/>
              <a:alpha val="60000"/>
            </a:schemeClr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4A6DBCD8-60B7-8013-79F3-352440183DC2}"/>
                  </a:ext>
                </a:extLst>
              </p:cNvPr>
              <p:cNvSpPr txBox="1"/>
              <p:nvPr/>
            </p:nvSpPr>
            <p:spPr>
              <a:xfrm>
                <a:off x="8029574" y="1574713"/>
                <a:ext cx="293061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l-GR" altLang="zh-TW" sz="1400" b="1" i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r>
                        <a:rPr lang="el-GR" altLang="zh-TW" sz="1400" b="1" i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𝚪</m:t>
                      </m:r>
                    </m:oMath>
                  </m:oMathPara>
                </a14:m>
                <a:endParaRPr lang="zh-TW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Symbol" panose="05050102010706020507" pitchFamily="18" charset="2"/>
                  <a:ea typeface="Dotum" panose="020B0600000101010101" pitchFamily="34" charset="-127"/>
                  <a:cs typeface="ADLaM Display" panose="02010000000000000000" pitchFamily="2" charset="0"/>
                </a:endParaRPr>
              </a:p>
            </p:txBody>
          </p:sp>
        </mc:Choice>
        <mc:Fallback xmlns="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4A6DBCD8-60B7-8013-79F3-352440183D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9574" y="1574713"/>
                <a:ext cx="293061" cy="215444"/>
              </a:xfrm>
              <a:prstGeom prst="rect">
                <a:avLst/>
              </a:prstGeom>
              <a:blipFill>
                <a:blip r:embed="rId3"/>
                <a:stretch>
                  <a:fillRect l="-14583" r="-18750" b="-8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文字方塊 30">
            <a:extLst>
              <a:ext uri="{FF2B5EF4-FFF2-40B4-BE49-F238E27FC236}">
                <a16:creationId xmlns:a16="http://schemas.microsoft.com/office/drawing/2014/main" id="{50C87664-0831-93CA-935E-0571475991DF}"/>
              </a:ext>
            </a:extLst>
          </p:cNvPr>
          <p:cNvSpPr txBox="1"/>
          <p:nvPr/>
        </p:nvSpPr>
        <p:spPr>
          <a:xfrm>
            <a:off x="7608987" y="1131737"/>
            <a:ext cx="1018303" cy="400585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none" rtlCol="0" anchor="ctr" anchorCtr="0">
            <a:noAutofit/>
          </a:bodyPr>
          <a:lstStyle/>
          <a:p>
            <a:pPr>
              <a:lnSpc>
                <a:spcPts val="1200"/>
              </a:lnSpc>
            </a:pPr>
            <a:r>
              <a:rPr lang="en-US" altLang="zh-TW" sz="1200" dirty="0"/>
              <a:t>Deprioritize</a:t>
            </a:r>
          </a:p>
          <a:p>
            <a:pPr>
              <a:lnSpc>
                <a:spcPts val="1200"/>
              </a:lnSpc>
            </a:pPr>
            <a:r>
              <a:rPr lang="en-US" altLang="zh-TW" sz="1200" dirty="0"/>
              <a:t>Outdated data</a:t>
            </a:r>
            <a:endParaRPr lang="zh-TW" altLang="en-US" sz="1200" dirty="0"/>
          </a:p>
        </p:txBody>
      </p: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CA9DAA0E-0A6F-D3D9-30C9-3878A6ADA34D}"/>
              </a:ext>
            </a:extLst>
          </p:cNvPr>
          <p:cNvGrpSpPr/>
          <p:nvPr/>
        </p:nvGrpSpPr>
        <p:grpSpPr>
          <a:xfrm>
            <a:off x="208087" y="5009386"/>
            <a:ext cx="981422" cy="1155918"/>
            <a:chOff x="1223839" y="4497831"/>
            <a:chExt cx="981422" cy="1155918"/>
          </a:xfrm>
        </p:grpSpPr>
        <p:sp>
          <p:nvSpPr>
            <p:cNvPr id="138" name="矩形 137">
              <a:extLst>
                <a:ext uri="{FF2B5EF4-FFF2-40B4-BE49-F238E27FC236}">
                  <a16:creationId xmlns:a16="http://schemas.microsoft.com/office/drawing/2014/main" id="{2DA41433-A20B-AE1B-1507-12E8FCE8E319}"/>
                </a:ext>
              </a:extLst>
            </p:cNvPr>
            <p:cNvSpPr/>
            <p:nvPr/>
          </p:nvSpPr>
          <p:spPr>
            <a:xfrm>
              <a:off x="1547664" y="4671136"/>
              <a:ext cx="648072" cy="9826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548640" rIns="0" bIns="0" rtlCol="0" anchor="ctr" anchorCtr="1"/>
            <a:lstStyle/>
            <a:p>
              <a:pPr algn="ctr">
                <a:lnSpc>
                  <a:spcPts val="1600"/>
                </a:lnSpc>
              </a:pPr>
              <a:r>
                <a:rPr lang="en-US" altLang="zh-TW" sz="1400" b="1" dirty="0">
                  <a:solidFill>
                    <a:schemeClr val="tx1"/>
                  </a:solidFill>
                  <a:ea typeface="微軟正黑體" panose="020B0604030504040204" pitchFamily="34" charset="-120"/>
                </a:rPr>
                <a:t>X</a:t>
              </a:r>
              <a:endParaRPr lang="en-US" altLang="zh-TW" sz="1400" b="1" baseline="-25000" dirty="0">
                <a:solidFill>
                  <a:schemeClr val="tx1"/>
                </a:solidFill>
                <a:ea typeface="微軟正黑體" panose="020B0604030504040204" pitchFamily="34" charset="-120"/>
              </a:endParaRPr>
            </a:p>
          </p:txBody>
        </p:sp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1A075305-1E21-300E-6DCB-BB2FE8FF52B7}"/>
                </a:ext>
              </a:extLst>
            </p:cNvPr>
            <p:cNvSpPr txBox="1"/>
            <p:nvPr/>
          </p:nvSpPr>
          <p:spPr>
            <a:xfrm>
              <a:off x="1601860" y="4497831"/>
              <a:ext cx="601913" cy="15263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algn="ctr"/>
              <a:r>
                <a:rPr lang="en-US" altLang="zh-TW" sz="1200" b="1" dirty="0"/>
                <a:t>n x (c*d)</a:t>
              </a:r>
              <a:endParaRPr lang="zh-TW" altLang="en-US" sz="1200" b="1" dirty="0"/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54F198EF-F40E-C333-6AD5-174194E34BE1}"/>
                </a:ext>
              </a:extLst>
            </p:cNvPr>
            <p:cNvSpPr/>
            <p:nvPr/>
          </p:nvSpPr>
          <p:spPr>
            <a:xfrm>
              <a:off x="1551428" y="4858221"/>
              <a:ext cx="653833" cy="375988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40000"/>
              </a:schemeClr>
            </a:solidFill>
            <a:ln w="15875">
              <a:solidFill>
                <a:schemeClr val="accent4">
                  <a:lumMod val="60000"/>
                  <a:lumOff val="40000"/>
                </a:schemeClr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1"/>
            <a:lstStyle/>
            <a:p>
              <a:pPr algn="ctr">
                <a:lnSpc>
                  <a:spcPts val="1500"/>
                </a:lnSpc>
              </a:pPr>
              <a:r>
                <a:rPr lang="en-US" altLang="zh-TW" sz="1200" b="1" dirty="0">
                  <a:solidFill>
                    <a:schemeClr val="accent4"/>
                  </a:solidFill>
                  <a:ea typeface="微軟正黑體" panose="020B0604030504040204" pitchFamily="34" charset="-120"/>
                </a:rPr>
                <a:t>Chunk</a:t>
              </a:r>
              <a:r>
                <a:rPr lang="zh-TW" altLang="en-US" sz="1200" b="1" dirty="0">
                  <a:solidFill>
                    <a:schemeClr val="accent4"/>
                  </a:solidFill>
                  <a:ea typeface="微軟正黑體" panose="020B0604030504040204" pitchFamily="34" charset="-120"/>
                </a:rPr>
                <a:t> </a:t>
              </a:r>
              <a:r>
                <a:rPr lang="en-US" altLang="zh-TW" sz="1200" b="1" dirty="0">
                  <a:solidFill>
                    <a:schemeClr val="accent4"/>
                  </a:solidFill>
                  <a:ea typeface="微軟正黑體" panose="020B0604030504040204" pitchFamily="34" charset="-120"/>
                </a:rPr>
                <a:t>i</a:t>
              </a:r>
              <a:endParaRPr lang="en-US" altLang="zh-TW" sz="1200" b="1" baseline="-25000" dirty="0">
                <a:solidFill>
                  <a:schemeClr val="accent4"/>
                </a:solidFill>
                <a:ea typeface="微軟正黑體" panose="020B0604030504040204" pitchFamily="34" charset="-120"/>
              </a:endParaRPr>
            </a:p>
          </p:txBody>
        </p:sp>
        <p:sp>
          <p:nvSpPr>
            <p:cNvPr id="67" name="文字方塊 66">
              <a:extLst>
                <a:ext uri="{FF2B5EF4-FFF2-40B4-BE49-F238E27FC236}">
                  <a16:creationId xmlns:a16="http://schemas.microsoft.com/office/drawing/2014/main" id="{B3BFFB55-3254-6308-00AA-2F8798156457}"/>
                </a:ext>
              </a:extLst>
            </p:cNvPr>
            <p:cNvSpPr txBox="1"/>
            <p:nvPr/>
          </p:nvSpPr>
          <p:spPr>
            <a:xfrm>
              <a:off x="1734338" y="4789653"/>
              <a:ext cx="293061" cy="129042"/>
            </a:xfrm>
            <a:prstGeom prst="rect">
              <a:avLst/>
            </a:prstGeom>
            <a:solidFill>
              <a:schemeClr val="bg1">
                <a:alpha val="40000"/>
              </a:schemeClr>
            </a:solidFill>
          </p:spPr>
          <p:txBody>
            <a:bodyPr wrap="none" lIns="0" tIns="0" rIns="0" bIns="0" rtlCol="0" anchor="ctr" anchorCtr="1">
              <a:noAutofit/>
            </a:bodyPr>
            <a:lstStyle/>
            <a:p>
              <a:pPr algn="ctr"/>
              <a:r>
                <a:rPr lang="en-US" altLang="zh-TW" sz="1200" b="1" dirty="0">
                  <a:solidFill>
                    <a:schemeClr val="accent4"/>
                  </a:solidFill>
                </a:rPr>
                <a:t>c*d</a:t>
              </a:r>
              <a:endParaRPr lang="zh-TW" altLang="en-US" sz="1200" b="1" dirty="0">
                <a:solidFill>
                  <a:schemeClr val="accent4"/>
                </a:solidFill>
              </a:endParaRPr>
            </a:p>
          </p:txBody>
        </p:sp>
        <p:sp>
          <p:nvSpPr>
            <p:cNvPr id="8" name="左大括弧 7">
              <a:extLst>
                <a:ext uri="{FF2B5EF4-FFF2-40B4-BE49-F238E27FC236}">
                  <a16:creationId xmlns:a16="http://schemas.microsoft.com/office/drawing/2014/main" id="{C9BB9107-A959-BB7F-1CD4-B3050CA28531}"/>
                </a:ext>
              </a:extLst>
            </p:cNvPr>
            <p:cNvSpPr/>
            <p:nvPr/>
          </p:nvSpPr>
          <p:spPr>
            <a:xfrm>
              <a:off x="1340730" y="4876508"/>
              <a:ext cx="144016" cy="345194"/>
            </a:xfrm>
            <a:prstGeom prst="leftBrac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A84A4C7E-FA12-B61E-CEC2-024F6174FB26}"/>
                </a:ext>
              </a:extLst>
            </p:cNvPr>
            <p:cNvSpPr txBox="1"/>
            <p:nvPr/>
          </p:nvSpPr>
          <p:spPr>
            <a:xfrm>
              <a:off x="1223839" y="4939326"/>
              <a:ext cx="108012" cy="195509"/>
            </a:xfrm>
            <a:prstGeom prst="rect">
              <a:avLst/>
            </a:prstGeom>
            <a:solidFill>
              <a:schemeClr val="bg1">
                <a:alpha val="40000"/>
              </a:schemeClr>
            </a:solidFill>
          </p:spPr>
          <p:txBody>
            <a:bodyPr wrap="none" lIns="0" tIns="0" rIns="0" bIns="0" rtlCol="0" anchor="ctr" anchorCtr="1">
              <a:noAutofit/>
            </a:bodyPr>
            <a:lstStyle/>
            <a:p>
              <a:pPr algn="ctr"/>
              <a:r>
                <a:rPr lang="en-US" altLang="zh-TW" sz="1400" b="1" dirty="0">
                  <a:solidFill>
                    <a:schemeClr val="accent2"/>
                  </a:solidFill>
                </a:rPr>
                <a:t>c</a:t>
              </a:r>
              <a:endParaRPr lang="zh-TW" altLang="en-US" sz="1400" b="1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8322BB64-1B5E-24A8-1D4A-5BCC52DAD338}"/>
              </a:ext>
            </a:extLst>
          </p:cNvPr>
          <p:cNvSpPr txBox="1"/>
          <p:nvPr/>
        </p:nvSpPr>
        <p:spPr>
          <a:xfrm>
            <a:off x="510028" y="5762467"/>
            <a:ext cx="173540" cy="375988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600"/>
              </a:lnSpc>
            </a:pPr>
            <a:r>
              <a:rPr lang="en-US" altLang="zh-TW" sz="1200" b="1" dirty="0">
                <a:solidFill>
                  <a:schemeClr val="accent2"/>
                </a:solidFill>
              </a:rPr>
              <a:t>.</a:t>
            </a:r>
          </a:p>
          <a:p>
            <a:pPr algn="ctr">
              <a:lnSpc>
                <a:spcPts val="600"/>
              </a:lnSpc>
            </a:pPr>
            <a:r>
              <a:rPr lang="en-US" altLang="zh-TW" sz="1200" b="1" dirty="0">
                <a:solidFill>
                  <a:schemeClr val="accent2"/>
                </a:solidFill>
              </a:rPr>
              <a:t>.</a:t>
            </a:r>
          </a:p>
          <a:p>
            <a:pPr algn="ctr">
              <a:lnSpc>
                <a:spcPts val="600"/>
              </a:lnSpc>
            </a:pPr>
            <a:r>
              <a:rPr lang="en-US" altLang="zh-TW" sz="1200" b="1" dirty="0">
                <a:solidFill>
                  <a:schemeClr val="accent2"/>
                </a:solidFill>
              </a:rPr>
              <a:t>.</a:t>
            </a:r>
          </a:p>
          <a:p>
            <a:pPr algn="ctr">
              <a:lnSpc>
                <a:spcPts val="600"/>
              </a:lnSpc>
            </a:pPr>
            <a:endParaRPr lang="en-US" altLang="zh-TW" sz="1200" b="1" dirty="0">
              <a:solidFill>
                <a:schemeClr val="accent2"/>
              </a:solidFill>
            </a:endParaRPr>
          </a:p>
          <a:p>
            <a:pPr algn="ctr">
              <a:lnSpc>
                <a:spcPts val="600"/>
              </a:lnSpc>
            </a:pPr>
            <a:r>
              <a:rPr lang="en-US" altLang="zh-TW" sz="1200" b="1" dirty="0">
                <a:solidFill>
                  <a:schemeClr val="accent2"/>
                </a:solidFill>
              </a:rPr>
              <a:t>n</a:t>
            </a:r>
            <a:endParaRPr lang="zh-TW" altLang="en-US" sz="1200" b="1" dirty="0">
              <a:solidFill>
                <a:schemeClr val="accent2"/>
              </a:solidFill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78B84A22-2361-294B-DB09-260698E785BE}"/>
              </a:ext>
            </a:extLst>
          </p:cNvPr>
          <p:cNvSpPr/>
          <p:nvPr/>
        </p:nvSpPr>
        <p:spPr>
          <a:xfrm>
            <a:off x="1889320" y="5362125"/>
            <a:ext cx="365760" cy="365760"/>
          </a:xfrm>
          <a:prstGeom prst="rect">
            <a:avLst/>
          </a:prstGeom>
          <a:solidFill>
            <a:schemeClr val="accent2">
              <a:lumMod val="20000"/>
              <a:lumOff val="80000"/>
              <a:alpha val="7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400" b="1" dirty="0">
                <a:solidFill>
                  <a:schemeClr val="accent2"/>
                </a:solidFill>
              </a:rPr>
              <a:t>H</a:t>
            </a:r>
            <a:r>
              <a:rPr lang="en-US" altLang="zh-TW" sz="1400" b="1" baseline="-25000" dirty="0">
                <a:solidFill>
                  <a:schemeClr val="accent2"/>
                </a:solidFill>
              </a:rPr>
              <a:t>i</a:t>
            </a:r>
            <a:endParaRPr lang="zh-TW" altLang="en-US" sz="1400" b="1" baseline="-25000" dirty="0">
              <a:solidFill>
                <a:schemeClr val="accent4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F71BAC99-A13E-2428-D208-AE05560EBAA2}"/>
              </a:ext>
            </a:extLst>
          </p:cNvPr>
          <p:cNvSpPr txBox="1"/>
          <p:nvPr/>
        </p:nvSpPr>
        <p:spPr>
          <a:xfrm>
            <a:off x="1662274" y="5371651"/>
            <a:ext cx="144016" cy="335670"/>
          </a:xfrm>
          <a:prstGeom prst="rect">
            <a:avLst/>
          </a:prstGeom>
          <a:solidFill>
            <a:schemeClr val="bg1">
              <a:alpha val="60000"/>
            </a:schemeClr>
          </a:solidFill>
          <a:ln w="15875">
            <a:solidFill>
              <a:schemeClr val="accent3"/>
            </a:solidFill>
            <a:prstDash val="sysDot"/>
          </a:ln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200" dirty="0">
                <a:solidFill>
                  <a:schemeClr val="accent3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</a:t>
            </a:r>
            <a:r>
              <a:rPr lang="en-US" altLang="zh-TW" sz="1200" baseline="-25000" dirty="0">
                <a:solidFill>
                  <a:schemeClr val="accent3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</a:t>
            </a:r>
            <a:endParaRPr lang="zh-TW" altLang="en-US" sz="1200" baseline="-25000" dirty="0">
              <a:solidFill>
                <a:schemeClr val="accent3">
                  <a:lumMod val="75000"/>
                </a:scheme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40" name="左右中括弧 39">
            <a:extLst>
              <a:ext uri="{FF2B5EF4-FFF2-40B4-BE49-F238E27FC236}">
                <a16:creationId xmlns:a16="http://schemas.microsoft.com/office/drawing/2014/main" id="{848A4B4B-8541-5AF9-C0F6-8FBDFE2A5A76}"/>
              </a:ext>
            </a:extLst>
          </p:cNvPr>
          <p:cNvSpPr/>
          <p:nvPr/>
        </p:nvSpPr>
        <p:spPr>
          <a:xfrm>
            <a:off x="5774200" y="6002258"/>
            <a:ext cx="723497" cy="260579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8A5BA3CF-EC4B-72B3-5728-B967654A1F2E}"/>
              </a:ext>
            </a:extLst>
          </p:cNvPr>
          <p:cNvSpPr/>
          <p:nvPr/>
        </p:nvSpPr>
        <p:spPr>
          <a:xfrm>
            <a:off x="2478048" y="5362125"/>
            <a:ext cx="365760" cy="365760"/>
          </a:xfrm>
          <a:prstGeom prst="rect">
            <a:avLst/>
          </a:prstGeom>
          <a:solidFill>
            <a:schemeClr val="accent4">
              <a:lumMod val="20000"/>
              <a:lumOff val="80000"/>
              <a:alpha val="60000"/>
            </a:schemeClr>
          </a:solidFill>
          <a:ln w="15875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400" b="1" dirty="0">
                <a:solidFill>
                  <a:schemeClr val="accent4"/>
                </a:solidFill>
              </a:rPr>
              <a:t>H</a:t>
            </a:r>
            <a:r>
              <a:rPr lang="en-US" altLang="zh-TW" sz="1400" b="1" baseline="-25000" dirty="0">
                <a:solidFill>
                  <a:schemeClr val="accent4"/>
                </a:solidFill>
              </a:rPr>
              <a:t>i+1</a:t>
            </a:r>
            <a:endParaRPr lang="zh-TW" altLang="en-US" sz="1400" b="1" baseline="-25000" dirty="0">
              <a:solidFill>
                <a:schemeClr val="accent4"/>
              </a:solidFill>
            </a:endParaRPr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A2EBD249-DE12-7C54-F392-47773F9A7F60}"/>
              </a:ext>
            </a:extLst>
          </p:cNvPr>
          <p:cNvSpPr txBox="1"/>
          <p:nvPr/>
        </p:nvSpPr>
        <p:spPr>
          <a:xfrm>
            <a:off x="3131840" y="5393731"/>
            <a:ext cx="225603" cy="274320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000" b="1" dirty="0">
                <a:latin typeface="Noto Sans HK" panose="020B0200000000000000" pitchFamily="34" charset="-120"/>
                <a:ea typeface="Noto Sans HK" panose="020B0200000000000000" pitchFamily="34" charset="-120"/>
                <a:cs typeface="ADLaM Display" panose="02010000000000000000" pitchFamily="2" charset="0"/>
                <a:sym typeface="Wingdings" panose="05000000000000000000" pitchFamily="2" charset="2"/>
              </a:rPr>
              <a:t>…</a:t>
            </a:r>
            <a:endParaRPr lang="zh-TW" altLang="en-US" sz="1000" b="1" dirty="0">
              <a:latin typeface="Noto Sans HK" panose="020B0200000000000000" pitchFamily="34" charset="-120"/>
              <a:ea typeface="Noto Sans HK" panose="020B0200000000000000" pitchFamily="34" charset="-120"/>
              <a:cs typeface="ADLaM Display" panose="02010000000000000000" pitchFamily="2" charset="0"/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2A78D349-60C7-C110-9DBF-FD4000232F1C}"/>
              </a:ext>
            </a:extLst>
          </p:cNvPr>
          <p:cNvSpPr/>
          <p:nvPr/>
        </p:nvSpPr>
        <p:spPr>
          <a:xfrm>
            <a:off x="6608637" y="5953429"/>
            <a:ext cx="548640" cy="5486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endParaRPr lang="zh-TW" altLang="en-US" sz="1400" b="1" baseline="-25000" dirty="0">
              <a:solidFill>
                <a:schemeClr val="accent4"/>
              </a:solidFill>
            </a:endParaRPr>
          </a:p>
        </p:txBody>
      </p:sp>
      <p:grpSp>
        <p:nvGrpSpPr>
          <p:cNvPr id="80" name="群組 79">
            <a:extLst>
              <a:ext uri="{FF2B5EF4-FFF2-40B4-BE49-F238E27FC236}">
                <a16:creationId xmlns:a16="http://schemas.microsoft.com/office/drawing/2014/main" id="{B4AD385F-9221-902C-6456-A135E9642BF2}"/>
              </a:ext>
            </a:extLst>
          </p:cNvPr>
          <p:cNvGrpSpPr/>
          <p:nvPr/>
        </p:nvGrpSpPr>
        <p:grpSpPr>
          <a:xfrm>
            <a:off x="5794372" y="5599814"/>
            <a:ext cx="610499" cy="712496"/>
            <a:chOff x="1902675" y="4463429"/>
            <a:chExt cx="610499" cy="712496"/>
          </a:xfrm>
        </p:grpSpPr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74D9BA7D-49D4-2A04-7317-7CBF7491A3E9}"/>
                </a:ext>
              </a:extLst>
            </p:cNvPr>
            <p:cNvSpPr/>
            <p:nvPr/>
          </p:nvSpPr>
          <p:spPr>
            <a:xfrm>
              <a:off x="2187708" y="4830730"/>
              <a:ext cx="325466" cy="345195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60000"/>
              </a:schemeClr>
            </a:solidFill>
            <a:ln w="15875">
              <a:solidFill>
                <a:schemeClr val="accent2">
                  <a:lumMod val="60000"/>
                  <a:lumOff val="4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1"/>
            <a:lstStyle/>
            <a:p>
              <a:pPr algn="ctr"/>
              <a:r>
                <a:rPr lang="en-US" altLang="zh-TW" sz="1200" b="1" dirty="0">
                  <a:solidFill>
                    <a:schemeClr val="accent2"/>
                  </a:solidFill>
                </a:rPr>
                <a:t>KV</a:t>
              </a:r>
              <a:r>
                <a:rPr lang="en-US" altLang="zh-TW" sz="1200" b="1" baseline="-25000" dirty="0">
                  <a:solidFill>
                    <a:schemeClr val="accent2"/>
                  </a:solidFill>
                </a:rPr>
                <a:t>i</a:t>
              </a:r>
              <a:r>
                <a:rPr lang="en-US" altLang="zh-TW" sz="1400" b="1" baseline="-25000" dirty="0">
                  <a:solidFill>
                    <a:schemeClr val="accent4"/>
                  </a:solidFill>
                </a:rPr>
                <a:t> </a:t>
              </a:r>
              <a:endParaRPr lang="zh-TW" altLang="en-US" sz="1400" b="1" baseline="-25000" dirty="0">
                <a:solidFill>
                  <a:schemeClr val="accent4"/>
                </a:solidFill>
              </a:endParaRPr>
            </a:p>
          </p:txBody>
        </p:sp>
        <p:sp>
          <p:nvSpPr>
            <p:cNvPr id="83" name="文字方塊 82">
              <a:extLst>
                <a:ext uri="{FF2B5EF4-FFF2-40B4-BE49-F238E27FC236}">
                  <a16:creationId xmlns:a16="http://schemas.microsoft.com/office/drawing/2014/main" id="{1023FA07-069A-1AA6-F3EC-6D438F165700}"/>
                </a:ext>
              </a:extLst>
            </p:cNvPr>
            <p:cNvSpPr txBox="1"/>
            <p:nvPr/>
          </p:nvSpPr>
          <p:spPr>
            <a:xfrm>
              <a:off x="1979712" y="4840255"/>
              <a:ext cx="144016" cy="33567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accent3">
                  <a:lumMod val="60000"/>
                  <a:lumOff val="40000"/>
                </a:schemeClr>
              </a:solidFill>
              <a:prstDash val="sysDot"/>
            </a:ln>
          </p:spPr>
          <p:txBody>
            <a:bodyPr wrap="none" lIns="0" tIns="0" rIns="0" bIns="0" rtlCol="0" anchor="ctr" anchorCtr="1">
              <a:noAutofit/>
            </a:bodyPr>
            <a:lstStyle/>
            <a:p>
              <a:pPr algn="ctr">
                <a:lnSpc>
                  <a:spcPts val="1400"/>
                </a:lnSpc>
              </a:pPr>
              <a:r>
                <a:rPr lang="en-US" altLang="zh-TW" sz="1400" dirty="0">
                  <a:solidFill>
                    <a:schemeClr val="accent3">
                      <a:lumMod val="75000"/>
                    </a:schemeClr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v</a:t>
              </a:r>
              <a:endParaRPr lang="zh-TW" altLang="en-US" sz="1400" dirty="0">
                <a:solidFill>
                  <a:schemeClr val="accent3">
                    <a:lumMod val="75000"/>
                  </a:schemeClr>
                </a:solidFill>
                <a:latin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sp>
          <p:nvSpPr>
            <p:cNvPr id="85" name="文字方塊 84">
              <a:extLst>
                <a:ext uri="{FF2B5EF4-FFF2-40B4-BE49-F238E27FC236}">
                  <a16:creationId xmlns:a16="http://schemas.microsoft.com/office/drawing/2014/main" id="{B66D1CEC-58C4-02CE-7815-5EB3B69FAE53}"/>
                </a:ext>
              </a:extLst>
            </p:cNvPr>
            <p:cNvSpPr txBox="1"/>
            <p:nvPr/>
          </p:nvSpPr>
          <p:spPr>
            <a:xfrm>
              <a:off x="2207795" y="4616970"/>
              <a:ext cx="293061" cy="144971"/>
            </a:xfrm>
            <a:prstGeom prst="rect">
              <a:avLst/>
            </a:prstGeom>
            <a:noFill/>
            <a:ln w="15875">
              <a:solidFill>
                <a:schemeClr val="accent1">
                  <a:lumMod val="40000"/>
                  <a:lumOff val="60000"/>
                </a:schemeClr>
              </a:solidFill>
              <a:prstDash val="sysDot"/>
            </a:ln>
          </p:spPr>
          <p:txBody>
            <a:bodyPr wrap="none" lIns="0" tIns="0" rIns="0" bIns="0" rtlCol="0" anchor="ctr" anchorCtr="1">
              <a:noAutofit/>
            </a:bodyPr>
            <a:lstStyle/>
            <a:p>
              <a:pPr algn="ctr">
                <a:lnSpc>
                  <a:spcPts val="1400"/>
                </a:lnSpc>
              </a:pPr>
              <a:r>
                <a:rPr lang="en-US" altLang="zh-TW" sz="1400" dirty="0">
                  <a:solidFill>
                    <a:schemeClr val="accent5">
                      <a:lumMod val="75000"/>
                    </a:schemeClr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k</a:t>
              </a:r>
              <a:endParaRPr lang="zh-TW" altLang="en-US" sz="1400" baseline="30000" dirty="0">
                <a:solidFill>
                  <a:schemeClr val="accent5">
                    <a:lumMod val="75000"/>
                  </a:schemeClr>
                </a:solidFill>
                <a:latin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sp>
          <p:nvSpPr>
            <p:cNvPr id="86" name="文字方塊 85">
              <a:extLst>
                <a:ext uri="{FF2B5EF4-FFF2-40B4-BE49-F238E27FC236}">
                  <a16:creationId xmlns:a16="http://schemas.microsoft.com/office/drawing/2014/main" id="{EFE78BF0-EE6B-7548-B58D-C48CA2DF738B}"/>
                </a:ext>
              </a:extLst>
            </p:cNvPr>
            <p:cNvSpPr txBox="1"/>
            <p:nvPr/>
          </p:nvSpPr>
          <p:spPr>
            <a:xfrm>
              <a:off x="2214786" y="4463429"/>
              <a:ext cx="293061" cy="144971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algn="ctr"/>
              <a:r>
                <a:rPr lang="en-US" altLang="zh-TW" sz="1200" b="1" dirty="0">
                  <a:solidFill>
                    <a:schemeClr val="bg1">
                      <a:lumMod val="65000"/>
                    </a:schemeClr>
                  </a:solidFill>
                </a:rPr>
                <a:t>c</a:t>
              </a:r>
              <a:r>
                <a:rPr lang="en-US" altLang="zh-TW" sz="1200" b="1" dirty="0"/>
                <a:t>*d</a:t>
              </a:r>
              <a:endParaRPr lang="zh-TW" altLang="en-US" sz="1200" b="1" dirty="0"/>
            </a:p>
          </p:txBody>
        </p:sp>
        <p:sp>
          <p:nvSpPr>
            <p:cNvPr id="87" name="文字方塊 86">
              <a:extLst>
                <a:ext uri="{FF2B5EF4-FFF2-40B4-BE49-F238E27FC236}">
                  <a16:creationId xmlns:a16="http://schemas.microsoft.com/office/drawing/2014/main" id="{AE5131CD-2300-CBA9-CD43-679F9EBB7FB3}"/>
                </a:ext>
              </a:extLst>
            </p:cNvPr>
            <p:cNvSpPr txBox="1"/>
            <p:nvPr/>
          </p:nvSpPr>
          <p:spPr>
            <a:xfrm>
              <a:off x="1902675" y="4685759"/>
              <a:ext cx="293061" cy="144971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algn="ctr"/>
              <a:r>
                <a:rPr lang="en-US" altLang="zh-TW" sz="1200" b="1" dirty="0"/>
                <a:t>d*</a:t>
              </a:r>
              <a:r>
                <a:rPr lang="en-US" altLang="zh-TW" sz="1200" b="1" dirty="0">
                  <a:solidFill>
                    <a:schemeClr val="bg1">
                      <a:lumMod val="65000"/>
                    </a:schemeClr>
                  </a:solidFill>
                </a:rPr>
                <a:t>c</a:t>
              </a:r>
              <a:endParaRPr lang="zh-TW" altLang="en-US" sz="1200" b="1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sp>
        <p:nvSpPr>
          <p:cNvPr id="95" name="文字方塊 94">
            <a:extLst>
              <a:ext uri="{FF2B5EF4-FFF2-40B4-BE49-F238E27FC236}">
                <a16:creationId xmlns:a16="http://schemas.microsoft.com/office/drawing/2014/main" id="{B44D23D8-C4DA-27DE-16C9-6FA9510AECF0}"/>
              </a:ext>
            </a:extLst>
          </p:cNvPr>
          <p:cNvSpPr txBox="1"/>
          <p:nvPr/>
        </p:nvSpPr>
        <p:spPr>
          <a:xfrm>
            <a:off x="2514397" y="5156127"/>
            <a:ext cx="293061" cy="14497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200" b="1" dirty="0"/>
              <a:t>d*d</a:t>
            </a:r>
            <a:endParaRPr lang="zh-TW" altLang="en-US" sz="1200" b="1" dirty="0"/>
          </a:p>
        </p:txBody>
      </p:sp>
      <p:sp>
        <p:nvSpPr>
          <p:cNvPr id="99" name="文字方塊 98">
            <a:extLst>
              <a:ext uri="{FF2B5EF4-FFF2-40B4-BE49-F238E27FC236}">
                <a16:creationId xmlns:a16="http://schemas.microsoft.com/office/drawing/2014/main" id="{42893BF3-61D7-4986-9F62-F3EB4C1F15E1}"/>
              </a:ext>
            </a:extLst>
          </p:cNvPr>
          <p:cNvSpPr txBox="1"/>
          <p:nvPr/>
        </p:nvSpPr>
        <p:spPr>
          <a:xfrm>
            <a:off x="2909659" y="5362123"/>
            <a:ext cx="176167" cy="365761"/>
          </a:xfrm>
          <a:prstGeom prst="rect">
            <a:avLst/>
          </a:prstGeom>
          <a:noFill/>
          <a:ln w="15875">
            <a:solidFill>
              <a:schemeClr val="accent2">
                <a:lumMod val="40000"/>
                <a:lumOff val="60000"/>
              </a:schemeClr>
            </a:solidFill>
            <a:prstDash val="sysDot"/>
          </a:ln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200" dirty="0">
                <a:solidFill>
                  <a:schemeClr val="accent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Q</a:t>
            </a:r>
            <a:r>
              <a:rPr lang="en-US" altLang="zh-TW" sz="1200" baseline="-25000" dirty="0">
                <a:solidFill>
                  <a:schemeClr val="accent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</a:t>
            </a:r>
            <a:endParaRPr lang="zh-TW" altLang="en-US" sz="1200" baseline="-25000" dirty="0">
              <a:solidFill>
                <a:schemeClr val="accent2">
                  <a:lumMod val="60000"/>
                  <a:lumOff val="40000"/>
                </a:scheme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01" name="文字方塊 100">
            <a:extLst>
              <a:ext uri="{FF2B5EF4-FFF2-40B4-BE49-F238E27FC236}">
                <a16:creationId xmlns:a16="http://schemas.microsoft.com/office/drawing/2014/main" id="{D4FF48C3-6600-5624-3370-E3B242159EB6}"/>
              </a:ext>
            </a:extLst>
          </p:cNvPr>
          <p:cNvSpPr txBox="1"/>
          <p:nvPr/>
        </p:nvSpPr>
        <p:spPr>
          <a:xfrm>
            <a:off x="2838779" y="5156805"/>
            <a:ext cx="293061" cy="14497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200" b="1" dirty="0"/>
              <a:t>d*c</a:t>
            </a:r>
            <a:endParaRPr lang="zh-TW" altLang="en-US" sz="1200" b="1" dirty="0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9ECECF0D-0EBA-ECCD-71EA-F1DA5D9D4124}"/>
              </a:ext>
            </a:extLst>
          </p:cNvPr>
          <p:cNvSpPr/>
          <p:nvPr/>
        </p:nvSpPr>
        <p:spPr>
          <a:xfrm>
            <a:off x="3635896" y="5370393"/>
            <a:ext cx="648072" cy="365760"/>
          </a:xfrm>
          <a:prstGeom prst="rect">
            <a:avLst/>
          </a:prstGeom>
          <a:solidFill>
            <a:schemeClr val="accent4">
              <a:lumMod val="40000"/>
              <a:lumOff val="60000"/>
              <a:alpha val="40000"/>
            </a:schemeClr>
          </a:solidFill>
          <a:ln w="15875">
            <a:solidFill>
              <a:schemeClr val="accent4">
                <a:lumMod val="75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500"/>
              </a:lnSpc>
            </a:pPr>
            <a:endParaRPr lang="en-US" altLang="zh-TW" sz="1400" b="1" baseline="-25000" dirty="0">
              <a:solidFill>
                <a:schemeClr val="accent2"/>
              </a:solidFill>
              <a:ea typeface="微軟正黑體" panose="020B0604030504040204" pitchFamily="34" charset="-120"/>
            </a:endParaRPr>
          </a:p>
        </p:txBody>
      </p:sp>
      <p:sp>
        <p:nvSpPr>
          <p:cNvPr id="107" name="文字方塊 106">
            <a:extLst>
              <a:ext uri="{FF2B5EF4-FFF2-40B4-BE49-F238E27FC236}">
                <a16:creationId xmlns:a16="http://schemas.microsoft.com/office/drawing/2014/main" id="{A60B9B31-89AE-8198-75D2-2C8AE96D4CEE}"/>
              </a:ext>
            </a:extLst>
          </p:cNvPr>
          <p:cNvSpPr txBox="1"/>
          <p:nvPr/>
        </p:nvSpPr>
        <p:spPr>
          <a:xfrm>
            <a:off x="3818316" y="5012221"/>
            <a:ext cx="293061" cy="14497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200" b="1" dirty="0"/>
              <a:t>N*d</a:t>
            </a:r>
            <a:endParaRPr lang="zh-TW" altLang="en-US" sz="1200" b="1" dirty="0"/>
          </a:p>
        </p:txBody>
      </p:sp>
      <p:sp>
        <p:nvSpPr>
          <p:cNvPr id="109" name="文字方塊 108">
            <a:extLst>
              <a:ext uri="{FF2B5EF4-FFF2-40B4-BE49-F238E27FC236}">
                <a16:creationId xmlns:a16="http://schemas.microsoft.com/office/drawing/2014/main" id="{15AA0210-756F-9586-38A2-CD4B0BB41304}"/>
              </a:ext>
            </a:extLst>
          </p:cNvPr>
          <p:cNvSpPr txBox="1"/>
          <p:nvPr/>
        </p:nvSpPr>
        <p:spPr>
          <a:xfrm>
            <a:off x="3433425" y="5134141"/>
            <a:ext cx="168024" cy="146620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400" b="1" dirty="0">
                <a:solidFill>
                  <a:srgbClr val="C00000"/>
                </a:solidFill>
              </a:rPr>
              <a:t>c</a:t>
            </a:r>
            <a:endParaRPr lang="zh-TW" altLang="en-US" sz="1400" b="1" dirty="0">
              <a:solidFill>
                <a:srgbClr val="C00000"/>
              </a:solidFill>
            </a:endParaRPr>
          </a:p>
        </p:txBody>
      </p:sp>
      <p:sp>
        <p:nvSpPr>
          <p:cNvPr id="113" name="文字方塊 112">
            <a:extLst>
              <a:ext uri="{FF2B5EF4-FFF2-40B4-BE49-F238E27FC236}">
                <a16:creationId xmlns:a16="http://schemas.microsoft.com/office/drawing/2014/main" id="{8C53DB90-EFA7-F026-DF01-F94A8CD56E25}"/>
              </a:ext>
            </a:extLst>
          </p:cNvPr>
          <p:cNvSpPr txBox="1"/>
          <p:nvPr/>
        </p:nvSpPr>
        <p:spPr>
          <a:xfrm>
            <a:off x="3056969" y="5850413"/>
            <a:ext cx="225603" cy="274320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400"/>
              </a:lnSpc>
            </a:pPr>
            <a:r>
              <a:rPr lang="el-GR" altLang="zh-TW" sz="1000" b="1" dirty="0">
                <a:latin typeface="Noto Sans HK" panose="020B0200000000000000" pitchFamily="34" charset="-120"/>
                <a:ea typeface="Noto Sans HK" panose="020B0200000000000000" pitchFamily="34" charset="-120"/>
                <a:cs typeface="ADLaM Display" panose="02010000000000000000" pitchFamily="2" charset="0"/>
                <a:sym typeface="Wingdings" panose="05000000000000000000" pitchFamily="2" charset="2"/>
              </a:rPr>
              <a:t>Σ</a:t>
            </a:r>
            <a:endParaRPr lang="zh-TW" altLang="en-US" sz="1000" b="1" dirty="0">
              <a:latin typeface="Noto Sans HK" panose="020B0200000000000000" pitchFamily="34" charset="-120"/>
              <a:ea typeface="Noto Sans HK" panose="020B0200000000000000" pitchFamily="34" charset="-120"/>
              <a:cs typeface="ADLaM Display" panose="02010000000000000000" pitchFamily="2" charset="0"/>
            </a:endParaRPr>
          </a:p>
        </p:txBody>
      </p:sp>
      <p:sp>
        <p:nvSpPr>
          <p:cNvPr id="115" name="箭號: 向下 114">
            <a:extLst>
              <a:ext uri="{FF2B5EF4-FFF2-40B4-BE49-F238E27FC236}">
                <a16:creationId xmlns:a16="http://schemas.microsoft.com/office/drawing/2014/main" id="{491318D1-A0C3-13AF-AD25-F7EC4B4AEEC5}"/>
              </a:ext>
            </a:extLst>
          </p:cNvPr>
          <p:cNvSpPr/>
          <p:nvPr/>
        </p:nvSpPr>
        <p:spPr>
          <a:xfrm rot="16200000">
            <a:off x="2100226" y="5452306"/>
            <a:ext cx="365761" cy="185395"/>
          </a:xfrm>
          <a:prstGeom prst="downArrow">
            <a:avLst/>
          </a:prstGeom>
          <a:solidFill>
            <a:schemeClr val="accent2">
              <a:lumMod val="40000"/>
              <a:lumOff val="60000"/>
              <a:alpha val="7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lIns="0" tIns="0" rIns="0" bIns="0" rtlCol="0" anchor="ctr" anchorCtr="1"/>
          <a:lstStyle/>
          <a:p>
            <a:pPr marL="0" marR="0" lvl="0" indent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zh-TW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HK" panose="020B0200000000000000" pitchFamily="34" charset="-120"/>
                <a:ea typeface="Noto Sans HK" panose="020B0200000000000000" pitchFamily="34" charset="-120"/>
                <a:cs typeface="ADLaM Display" panose="02010000000000000000" pitchFamily="2" charset="0"/>
                <a:sym typeface="Wingdings" panose="05000000000000000000" pitchFamily="2" charset="2"/>
              </a:rPr>
              <a:t>Σ</a:t>
            </a:r>
            <a:endParaRPr kumimoji="0" lang="zh-TW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HK" panose="020B0200000000000000" pitchFamily="34" charset="-120"/>
              <a:ea typeface="Noto Sans HK" panose="020B0200000000000000" pitchFamily="34" charset="-120"/>
              <a:cs typeface="ADLaM Display" panose="02010000000000000000" pitchFamily="2" charset="0"/>
            </a:endParaRPr>
          </a:p>
        </p:txBody>
      </p:sp>
      <p:cxnSp>
        <p:nvCxnSpPr>
          <p:cNvPr id="117" name="直線接點 116">
            <a:extLst>
              <a:ext uri="{FF2B5EF4-FFF2-40B4-BE49-F238E27FC236}">
                <a16:creationId xmlns:a16="http://schemas.microsoft.com/office/drawing/2014/main" id="{1958B989-83EF-5819-5017-26F792DB1E0A}"/>
              </a:ext>
            </a:extLst>
          </p:cNvPr>
          <p:cNvCxnSpPr/>
          <p:nvPr/>
        </p:nvCxnSpPr>
        <p:spPr>
          <a:xfrm>
            <a:off x="196439" y="6453336"/>
            <a:ext cx="48245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90FE43EB-5A25-C18C-A5B5-76880D82E86F}"/>
              </a:ext>
            </a:extLst>
          </p:cNvPr>
          <p:cNvSpPr txBox="1"/>
          <p:nvPr/>
        </p:nvSpPr>
        <p:spPr>
          <a:xfrm>
            <a:off x="1916398" y="4994825"/>
            <a:ext cx="293061" cy="144971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200" b="1" dirty="0">
                <a:solidFill>
                  <a:schemeClr val="bg1">
                    <a:lumMod val="65000"/>
                  </a:schemeClr>
                </a:solidFill>
              </a:rPr>
              <a:t>c</a:t>
            </a:r>
            <a:r>
              <a:rPr lang="en-US" altLang="zh-TW" sz="1200" b="1" dirty="0"/>
              <a:t>*d</a:t>
            </a:r>
            <a:endParaRPr lang="zh-TW" altLang="en-US" sz="1200" b="1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F06C0042-9FF6-2F6D-3F04-831C1A30668E}"/>
              </a:ext>
            </a:extLst>
          </p:cNvPr>
          <p:cNvSpPr txBox="1"/>
          <p:nvPr/>
        </p:nvSpPr>
        <p:spPr>
          <a:xfrm>
            <a:off x="1890357" y="5148366"/>
            <a:ext cx="364723" cy="144971"/>
          </a:xfrm>
          <a:prstGeom prst="rect">
            <a:avLst/>
          </a:prstGeom>
          <a:solidFill>
            <a:schemeClr val="bg1">
              <a:alpha val="60000"/>
            </a:schemeClr>
          </a:solidFill>
          <a:ln w="15875">
            <a:solidFill>
              <a:schemeClr val="accent1">
                <a:lumMod val="40000"/>
                <a:lumOff val="60000"/>
              </a:schemeClr>
            </a:solidFill>
            <a:prstDash val="sysDot"/>
          </a:ln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200" dirty="0">
                <a:solidFill>
                  <a:schemeClr val="accent5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</a:t>
            </a:r>
            <a:r>
              <a:rPr lang="en-US" altLang="zh-TW" sz="1200" baseline="-25000" dirty="0">
                <a:solidFill>
                  <a:schemeClr val="accent5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</a:t>
            </a:r>
            <a:endParaRPr lang="zh-TW" altLang="en-US" sz="1200" baseline="-25000" dirty="0">
              <a:solidFill>
                <a:schemeClr val="accent5">
                  <a:lumMod val="75000"/>
                </a:scheme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E74377FE-F6FF-3028-5495-493062971939}"/>
              </a:ext>
            </a:extLst>
          </p:cNvPr>
          <p:cNvSpPr txBox="1"/>
          <p:nvPr/>
        </p:nvSpPr>
        <p:spPr>
          <a:xfrm>
            <a:off x="1595289" y="5217155"/>
            <a:ext cx="293061" cy="144971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200" b="1" dirty="0"/>
              <a:t>d*</a:t>
            </a:r>
            <a:r>
              <a:rPr lang="en-US" altLang="zh-TW" sz="1200" b="1" dirty="0">
                <a:solidFill>
                  <a:schemeClr val="bg1">
                    <a:lumMod val="65000"/>
                  </a:schemeClr>
                </a:solidFill>
              </a:rPr>
              <a:t>c</a:t>
            </a:r>
            <a:endParaRPr lang="zh-TW" altLang="en-US" sz="12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8EAD3FD-CB49-499E-2E50-54C92F74F050}"/>
              </a:ext>
            </a:extLst>
          </p:cNvPr>
          <p:cNvSpPr/>
          <p:nvPr/>
        </p:nvSpPr>
        <p:spPr>
          <a:xfrm>
            <a:off x="5580110" y="4556849"/>
            <a:ext cx="555837" cy="522705"/>
          </a:xfrm>
          <a:prstGeom prst="rect">
            <a:avLst/>
          </a:prstGeom>
          <a:solidFill>
            <a:schemeClr val="accent4">
              <a:lumMod val="20000"/>
              <a:lumOff val="80000"/>
              <a:alpha val="60000"/>
            </a:schemeClr>
          </a:solidFill>
          <a:ln w="25400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18288" rIns="0" bIns="0" rtlCol="0" anchor="t" anchorCtr="0"/>
          <a:lstStyle/>
          <a:p>
            <a:endParaRPr lang="zh-TW" altLang="en-US" sz="1400" b="1" baseline="-25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17B68AC-F0E9-832F-905F-C62938F8743E}"/>
              </a:ext>
            </a:extLst>
          </p:cNvPr>
          <p:cNvSpPr/>
          <p:nvPr/>
        </p:nvSpPr>
        <p:spPr>
          <a:xfrm>
            <a:off x="553264" y="2322897"/>
            <a:ext cx="27432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600"/>
              </a:lnSpc>
            </a:pPr>
            <a:r>
              <a:rPr lang="en-US" altLang="zh-TW" sz="1400" b="1" dirty="0">
                <a:solidFill>
                  <a:schemeClr val="tx1"/>
                </a:solidFill>
                <a:ea typeface="微軟正黑體" panose="020B0604030504040204" pitchFamily="34" charset="-120"/>
              </a:rPr>
              <a:t>X</a:t>
            </a:r>
            <a:endParaRPr lang="en-US" altLang="zh-TW" sz="1400" b="1" baseline="-25000" dirty="0">
              <a:solidFill>
                <a:schemeClr val="tx1"/>
              </a:solidFill>
              <a:ea typeface="微軟正黑體" panose="020B0604030504040204" pitchFamily="34" charset="-120"/>
            </a:endParaRP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A5C47415-1EAD-0E24-94AD-96655881A90D}"/>
              </a:ext>
            </a:extLst>
          </p:cNvPr>
          <p:cNvSpPr txBox="1"/>
          <p:nvPr/>
        </p:nvSpPr>
        <p:spPr>
          <a:xfrm>
            <a:off x="539552" y="2156680"/>
            <a:ext cx="293061" cy="14497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200" b="1" dirty="0"/>
              <a:t>N*d</a:t>
            </a:r>
            <a:endParaRPr lang="zh-TW" altLang="en-US" sz="1200" b="1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82FC4F2-E56E-767A-855B-745E97DDDBA0}"/>
              </a:ext>
            </a:extLst>
          </p:cNvPr>
          <p:cNvSpPr/>
          <p:nvPr/>
        </p:nvSpPr>
        <p:spPr>
          <a:xfrm>
            <a:off x="4479923" y="1135391"/>
            <a:ext cx="1339534" cy="184667"/>
          </a:xfrm>
          <a:prstGeom prst="rect">
            <a:avLst/>
          </a:prstGeom>
          <a:noFill/>
          <a:ln w="190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>
            <a:noAutofit/>
          </a:bodyPr>
          <a:lstStyle/>
          <a:p>
            <a:pPr>
              <a:lnSpc>
                <a:spcPts val="1600"/>
              </a:lnSpc>
            </a:pPr>
            <a:r>
              <a:rPr lang="en-US" altLang="zh-TW" sz="1200" b="1" dirty="0">
                <a:solidFill>
                  <a:schemeClr val="tx2"/>
                </a:solidFill>
                <a:ea typeface="微軟正黑體" panose="020B0604030504040204" pitchFamily="34" charset="-120"/>
              </a:rPr>
              <a:t>Manba2/Gated LA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BE528675-2C5D-4657-4A72-DC232343535E}"/>
                  </a:ext>
                </a:extLst>
              </p:cNvPr>
              <p:cNvSpPr txBox="1"/>
              <p:nvPr/>
            </p:nvSpPr>
            <p:spPr>
              <a:xfrm>
                <a:off x="4498947" y="1410825"/>
                <a:ext cx="3795296" cy="120545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ts val="2000"/>
                  </a:lnSpc>
                </a:pPr>
                <a14:m>
                  <m:oMath xmlns:m="http://schemas.openxmlformats.org/officeDocument/2006/math">
                    <m:limUpp>
                      <m:limUppPr>
                        <m:ctrlPr>
                          <a:rPr lang="en-US" altLang="zh-TW" sz="1200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groupChr>
                          <m:groupChrPr>
                            <m:chr m:val="⏞"/>
                            <m:pos m:val="top"/>
                            <m:vertJc m:val="bot"/>
                            <m:ctrlPr>
                              <a:rPr lang="en-US" altLang="zh-TW" sz="1200" b="0" i="1" smtClean="0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sSub>
                              <m:sSubPr>
                                <m:ctrlPr>
                                  <a:rPr lang="en-US" altLang="zh-TW" sz="1200" b="0" i="1" smtClean="0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1200" b="0" i="1" smtClean="0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en-US" altLang="zh-TW" sz="1200" b="0" i="1" smtClean="0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groupChr>
                      </m:e>
                      <m:lim>
                        <m:r>
                          <m:rPr>
                            <m:sty m:val="p"/>
                          </m:rPr>
                          <a:rPr lang="en-US" altLang="zh-TW" sz="1200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dxd</m:t>
                        </m:r>
                      </m:lim>
                    </m:limUpp>
                  </m:oMath>
                </a14:m>
                <a:r>
                  <a:rPr lang="en-US" altLang="zh-TW" sz="1200" dirty="0">
                    <a:solidFill>
                      <a:schemeClr val="bg1">
                        <a:lumMod val="6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200" b="0" i="0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1200" i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1200" i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US" altLang="zh-TW" sz="1200" i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sSubSup>
                      <m:sSubSupPr>
                        <m:ctrlPr>
                          <a:rPr lang="en-US" altLang="zh-TW" sz="1200" i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sz="1200" i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altLang="zh-TW" sz="1200" b="0" i="0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TW" sz="1200" i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bSup>
                  </m:oMath>
                </a14:m>
                <a:endParaRPr lang="en-US" altLang="zh-TW" sz="1200" dirty="0">
                  <a:solidFill>
                    <a:schemeClr val="bg1">
                      <a:lumMod val="65000"/>
                    </a:schemeClr>
                  </a:solidFill>
                </a:endParaRPr>
              </a:p>
              <a:p>
                <a:pPr>
                  <a:lnSpc>
                    <a:spcPts val="2000"/>
                  </a:lnSpc>
                </a:pPr>
                <a:r>
                  <a:rPr lang="en-US" altLang="zh-TW" sz="1200" dirty="0">
                    <a:solidFill>
                      <a:schemeClr val="bg1">
                        <a:lumMod val="6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1200" i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altLang="zh-TW" sz="1200" b="0" i="0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1200" i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TW" altLang="en-US" sz="1200" i="0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TW" altLang="en-US" sz="1200" i="0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US" altLang="zh-TW" sz="1200" b="0" i="0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sz="1200" i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1200" i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altLang="zh-TW" sz="1200" b="0" i="0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TW" sz="1200" i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sz="1200" i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1200" i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US" altLang="zh-TW" sz="1200" b="0" i="0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en-US" altLang="zh-TW" sz="1200" b="0" i="0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sz="1200" b="0" i="0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altLang="zh-TW" sz="1200" b="0" i="0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TW" sz="1200" b="0" i="0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bSup>
                  </m:oMath>
                </a14:m>
                <a:endParaRPr lang="en-US" altLang="zh-TW" sz="1200" b="0" i="1" dirty="0">
                  <a:solidFill>
                    <a:schemeClr val="bg1">
                      <a:lumMod val="6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ts val="2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b="0" i="0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0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TW" sz="120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altLang="zh-TW" sz="1200" b="0" i="0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TW" altLang="en-US" sz="1200" i="1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120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TW" altLang="en-US" sz="120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TW" altLang="en-US" sz="120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1200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TW" altLang="en-US" sz="120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TW" altLang="en-US" sz="120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US" altLang="zh-TW" sz="120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sz="120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120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altLang="zh-TW" sz="120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TW" sz="120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sz="120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120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US" altLang="zh-TW" sz="120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en-US" altLang="zh-TW" sz="120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sz="120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altLang="zh-TW" sz="120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TW" sz="120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bSup>
                    <m:r>
                      <a:rPr lang="en-US" altLang="zh-TW" sz="1200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1200" dirty="0">
                    <a:solidFill>
                      <a:schemeClr val="bg1">
                        <a:lumMod val="65000"/>
                      </a:schemeClr>
                    </a:solidFill>
                  </a:rPr>
                  <a:t>+</a:t>
                </a:r>
                <a:r>
                  <a:rPr lang="en-US" altLang="zh-TW" sz="1200" dirty="0">
                    <a:solidFill>
                      <a:schemeClr val="bg1">
                        <a:lumMod val="65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120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US" altLang="zh-TW" sz="1200" b="0" i="0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Sup>
                      <m:sSubSupPr>
                        <m:ctrlPr>
                          <a:rPr lang="en-US" altLang="zh-TW" sz="120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sz="120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altLang="zh-TW" sz="1200" b="0" i="0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TW" sz="120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bSup>
                  </m:oMath>
                </a14:m>
                <a:endParaRPr lang="en-US" altLang="zh-TW" sz="1200" dirty="0">
                  <a:solidFill>
                    <a:schemeClr val="bg1">
                      <a:lumMod val="65000"/>
                    </a:schemeClr>
                  </a:solidFill>
                </a:endParaRPr>
              </a:p>
              <a:p>
                <a:pPr>
                  <a:lnSpc>
                    <a:spcPts val="2000"/>
                  </a:lnSpc>
                </a:pPr>
                <a14:m>
                  <m:oMath xmlns:m="http://schemas.openxmlformats.org/officeDocument/2006/math">
                    <m:r>
                      <a:rPr lang="en-US" altLang="zh-TW" sz="1200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TW" sz="120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120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sz="120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120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zh-TW" altLang="en-US" sz="120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US" altLang="zh-TW" sz="1200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sz="1200" i="1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...</m:t>
                    </m:r>
                    <m:sSub>
                      <m:sSubPr>
                        <m:ctrlPr>
                          <a:rPr lang="zh-TW" altLang="en-US" sz="120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TW" altLang="en-US" sz="120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US" altLang="zh-TW" sz="120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1200" i="1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US" altLang="zh-TW" sz="1200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1200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US" altLang="zh-TW" sz="120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Sup>
                      <m:sSubSupPr>
                        <m:ctrlPr>
                          <a:rPr lang="en-US" altLang="zh-TW" sz="120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sz="120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altLang="zh-TW" sz="120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TW" sz="120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bSup>
                  </m:oMath>
                </a14:m>
                <a:r>
                  <a:rPr lang="en-US" altLang="zh-TW" sz="1200" dirty="0">
                    <a:solidFill>
                      <a:schemeClr val="bg1">
                        <a:lumMod val="65000"/>
                      </a:schemeClr>
                    </a:solidFill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zh-TW" altLang="en-US" sz="120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1200" i="1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...</m:t>
                    </m:r>
                    <m:sSub>
                      <m:sSubPr>
                        <m:ctrlPr>
                          <a:rPr lang="zh-TW" altLang="en-US" sz="120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TW" altLang="en-US" sz="120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US" altLang="zh-TW" sz="120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1200" i="1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US" altLang="zh-TW" sz="1200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1200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US" altLang="zh-TW" sz="1200" b="0" i="0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en-US" altLang="zh-TW" sz="120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sz="120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altLang="zh-TW" sz="1200" b="0" i="0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TW" sz="120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bSup>
                  </m:oMath>
                </a14:m>
                <a:r>
                  <a:rPr lang="en-US" altLang="zh-TW" sz="1200" dirty="0">
                    <a:solidFill>
                      <a:schemeClr val="bg1">
                        <a:lumMod val="65000"/>
                      </a:schemeClr>
                    </a:solidFill>
                  </a:rPr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zh-TW" altLang="en-US" sz="120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US" altLang="zh-TW" sz="1200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sz="1200" i="1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US" altLang="zh-TW" sz="1200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1200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US" altLang="zh-TW" sz="1200" b="0" i="0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Sup>
                      <m:sSubSupPr>
                        <m:ctrlPr>
                          <a:rPr lang="en-US" altLang="zh-TW" sz="120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sz="120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altLang="zh-TW" sz="1200" b="0" i="0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TW" sz="120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bSup>
                  </m:oMath>
                </a14:m>
                <a:r>
                  <a:rPr lang="en-US" altLang="zh-TW" sz="1200" dirty="0">
                    <a:solidFill>
                      <a:schemeClr val="bg1">
                        <a:lumMod val="65000"/>
                      </a:schemeClr>
                    </a:solidFill>
                  </a:rPr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1200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US" altLang="zh-TW" sz="1200" b="0" i="0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Sup>
                      <m:sSubSupPr>
                        <m:ctrlPr>
                          <a:rPr lang="en-US" altLang="zh-TW" sz="120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sz="120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altLang="zh-TW" sz="1200" b="0" i="0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TW" sz="120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bSup>
                  </m:oMath>
                </a14:m>
                <a:r>
                  <a:rPr lang="en-US" altLang="zh-TW" sz="1200" dirty="0">
                    <a:solidFill>
                      <a:schemeClr val="bg1">
                        <a:lumMod val="65000"/>
                      </a:schemeClr>
                    </a:solidFill>
                  </a:rPr>
                  <a:t>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ts val="1000"/>
                  </a:lnSpc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>
                        <a:lumMod val="65000"/>
                      </a:schemeClr>
                    </a:solidFill>
                    <a:effectLst/>
                    <a:uLnTx/>
                    <a:uFillTx/>
                    <a:latin typeface="Calibri"/>
                    <a:ea typeface="新細明體" panose="02020500000000000000" pitchFamily="18" charset="-120"/>
                    <a:cs typeface="+mn-cs"/>
                  </a:rPr>
                  <a:t> … </a:t>
                </a:r>
                <a:r>
                  <a:rPr lang="zh-TW" altLang="en-US" sz="1200" dirty="0">
                    <a:solidFill>
                      <a:schemeClr val="bg1">
                        <a:lumMod val="65000"/>
                      </a:schemeClr>
                    </a:solidFill>
                    <a:sym typeface="Wingdings" panose="05000000000000000000" pitchFamily="2" charset="2"/>
                  </a:rPr>
                  <a:t> </a:t>
                </a:r>
                <a:r>
                  <a:rPr lang="en-US" altLang="zh-TW" sz="1200" dirty="0">
                    <a:solidFill>
                      <a:schemeClr val="bg1">
                        <a:lumMod val="65000"/>
                      </a:schemeClr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BE528675-2C5D-4657-4A72-DC23234353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8947" y="1410825"/>
                <a:ext cx="3795296" cy="1205458"/>
              </a:xfrm>
              <a:prstGeom prst="rect">
                <a:avLst/>
              </a:prstGeom>
              <a:blipFill>
                <a:blip r:embed="rId4"/>
                <a:stretch>
                  <a:fillRect l="-1445" t="-7071" b="-353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6D3ADD8C-D269-DDAF-D8F2-8EA8B7B0475F}"/>
                  </a:ext>
                </a:extLst>
              </p:cNvPr>
              <p:cNvSpPr txBox="1"/>
              <p:nvPr/>
            </p:nvSpPr>
            <p:spPr>
              <a:xfrm>
                <a:off x="4529434" y="2575551"/>
                <a:ext cx="4120007" cy="2221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12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2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en-US" altLang="zh-TW" sz="1200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TW" altLang="en-US" sz="1200" b="1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1200" b="1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𝛂</m:t>
                        </m:r>
                      </m:e>
                      <m:sub>
                        <m:r>
                          <a:rPr lang="en-US" altLang="zh-TW" sz="1200" b="1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𝐭</m:t>
                        </m:r>
                      </m:sub>
                    </m:sSub>
                    <m:r>
                      <a:rPr lang="en-US" altLang="zh-TW" sz="1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zh-TW" sz="1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1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2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altLang="zh-TW" sz="1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TW" sz="1200" i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200" i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m:rPr>
                        <m:nor/>
                      </m:rPr>
                      <a:rPr lang="en-US" altLang="zh-TW" sz="1200" i="0" dirty="0" smtClean="0"/>
                      <m:t> </m:t>
                    </m:r>
                    <m:sSubSup>
                      <m:sSubSupPr>
                        <m:ctrlPr>
                          <a:rPr lang="en-US" altLang="zh-TW" sz="1200" b="0" i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sz="1200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2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TW" sz="12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bSup>
                    <m:r>
                      <a:rPr lang="en-US" altLang="zh-TW" sz="1200" b="0" i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zh-TW" sz="1200" b="0" i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5"/>
                          </m:rPr>
                          <a:rPr lang="en-US" altLang="zh-TW" sz="1200" b="0" i="0" smtClean="0">
                            <a:latin typeface="Cambria Math" panose="02040503050406030204" pitchFamily="18" charset="0"/>
                          </a:rPr>
                          <m:t>j</m:t>
                        </m:r>
                        <m:r>
                          <m:rPr>
                            <m:brk m:alnAt="25"/>
                          </m:rPr>
                          <a:rPr lang="en-US" altLang="zh-TW" sz="1200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5"/>
                          </m:rPr>
                          <a:rPr lang="en-US" altLang="zh-TW" sz="12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TW" sz="12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  <m:e>
                        <m:r>
                          <a:rPr lang="en-US" altLang="zh-TW" sz="12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∏"/>
                            <m:limLoc m:val="subSup"/>
                            <m:ctrlPr>
                              <a:rPr lang="zh-TW" altLang="en-US" sz="1200" b="1" i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zh-TW" altLang="en-US" sz="1200" b="1" i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𝛕</m:t>
                            </m:r>
                            <m:r>
                              <m:rPr>
                                <m:brk m:alnAt="25"/>
                              </m:rPr>
                              <a:rPr lang="en-US" altLang="zh-TW" sz="1200" b="1" i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brk m:alnAt="25"/>
                              </m:rPr>
                              <a:rPr lang="en-US" altLang="zh-TW" sz="1200" b="1" i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𝐣</m:t>
                            </m:r>
                            <m:r>
                              <m:rPr>
                                <m:brk m:alnAt="25"/>
                              </m:rPr>
                              <a:rPr lang="en-US" altLang="zh-TW" sz="1200" b="1" i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brk m:alnAt="25"/>
                              </m:rPr>
                              <a:rPr lang="en-US" altLang="zh-TW" sz="1200" b="1" i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US" altLang="zh-TW" sz="1200" b="1" i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𝐭</m:t>
                            </m:r>
                          </m:sup>
                          <m:e>
                            <m:sSub>
                              <m:sSubPr>
                                <m:ctrlPr>
                                  <a:rPr lang="zh-TW" altLang="en-US" sz="1200" b="1" i="0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sz="1200" b="1" i="0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𝛂</m:t>
                                </m:r>
                              </m:e>
                              <m:sub>
                                <m:r>
                                  <a:rPr lang="en-US" altLang="zh-TW" sz="1200" b="1" i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𝛕</m:t>
                                </m:r>
                              </m:sub>
                            </m:sSub>
                          </m:e>
                        </m:nary>
                        <m:r>
                          <a:rPr lang="en-US" altLang="zh-TW" sz="1200" b="0" i="0" smtClean="0">
                            <a:latin typeface="Cambria Math" panose="02040503050406030204" pitchFamily="18" charset="0"/>
                          </a:rPr>
                          <m:t>)</m:t>
                        </m:r>
                        <m:sSub>
                          <m:sSubPr>
                            <m:ctrlPr>
                              <a:rPr lang="en-US" altLang="zh-TW" sz="1200" b="0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sz="1200" b="0" i="0" smtClean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200" b="0" i="0" smtClean="0"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zh-TW" sz="1200" i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TW" sz="1200" i="0"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200" i="0"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 altLang="zh-TW" sz="1200" i="0"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bSup>
                      </m:e>
                    </m:nary>
                    <m:r>
                      <a:rPr lang="en-US" altLang="zh-TW" sz="1200" b="0" i="0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zh-TW" altLang="en-US" sz="120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zh-TW" altLang="en-US" sz="120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TW" altLang="en-US" sz="1200" i="0" smtClean="0"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2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zh-TW" altLang="en-US" sz="1200" i="0" smtClean="0">
                        <a:latin typeface="Cambria Math" panose="02040503050406030204" pitchFamily="18" charset="0"/>
                      </a:rPr>
                      <m:t>∈ </m:t>
                    </m:r>
                    <m:r>
                      <a:rPr lang="en-US" altLang="zh-TW" sz="1200" b="0" i="0" smtClean="0"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r>
                  <a:rPr lang="en-US" altLang="zh-TW" sz="1200" b="0" dirty="0">
                    <a:latin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6D3ADD8C-D269-DDAF-D8F2-8EA8B7B047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9434" y="2575551"/>
                <a:ext cx="4120007" cy="222177"/>
              </a:xfrm>
              <a:prstGeom prst="rect">
                <a:avLst/>
              </a:prstGeom>
              <a:blipFill>
                <a:blip r:embed="rId5"/>
                <a:stretch>
                  <a:fillRect l="-1331" t="-132432" b="-2054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2DB18F16-BB4A-5318-6F11-8C5CEBBD902A}"/>
                  </a:ext>
                </a:extLst>
              </p:cNvPr>
              <p:cNvSpPr txBox="1"/>
              <p:nvPr/>
            </p:nvSpPr>
            <p:spPr>
              <a:xfrm>
                <a:off x="5547717" y="3322250"/>
                <a:ext cx="1858570" cy="2084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zh-TW" sz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sSub>
                        <m:sSubPr>
                          <m:ctrlPr>
                            <a:rPr lang="en-US" altLang="zh-TW" sz="12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  <m:r>
                            <a:rPr lang="en-US" altLang="zh-TW" sz="12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r>
                            <m:rPr>
                              <m:sty m:val="p"/>
                            </m:rPr>
                            <a:rPr lang="en-US" altLang="zh-TW" sz="12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</m:t>
                          </m:r>
                        </m:sub>
                      </m:sSub>
                      <m:r>
                        <a:rPr lang="en-US" altLang="zh-TW" sz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2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120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20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QK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TW" sz="120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altLang="zh-TW" sz="120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⊙</m:t>
                          </m:r>
                          <m:r>
                            <a:rPr lang="el-GR" altLang="zh-TW" sz="1200" b="1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𝚪</m:t>
                          </m:r>
                        </m:e>
                      </m:d>
                      <m:r>
                        <a:rPr lang="en-US" altLang="zh-TW" sz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altLang="zh-TW" sz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en-US" altLang="zh-TW" sz="1200" b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2DB18F16-BB4A-5318-6F11-8C5CEBBD90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7717" y="3322250"/>
                <a:ext cx="1858570" cy="208455"/>
              </a:xfrm>
              <a:prstGeom prst="rect">
                <a:avLst/>
              </a:prstGeom>
              <a:blipFill>
                <a:blip r:embed="rId6"/>
                <a:stretch>
                  <a:fillRect l="-2623" b="-235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BEA5792F-AAB0-D921-9067-BF9A4CD5A979}"/>
                  </a:ext>
                </a:extLst>
              </p:cNvPr>
              <p:cNvSpPr txBox="1"/>
              <p:nvPr/>
            </p:nvSpPr>
            <p:spPr>
              <a:xfrm>
                <a:off x="4519461" y="2930258"/>
                <a:ext cx="4198865" cy="40826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>
                  <a:lnSpc>
                    <a:spcPts val="2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altLang="zh-TW" sz="12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altLang="zh-TW" sz="12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1200" b="1" i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1200" b="1" i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𝛂</m:t>
                          </m:r>
                        </m:e>
                        <m:sub>
                          <m:r>
                            <a:rPr lang="en-US" altLang="zh-TW" sz="1200" b="1" i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𝐭</m:t>
                          </m:r>
                        </m:sub>
                      </m:sSub>
                      <m:r>
                        <a:rPr lang="en-US" altLang="zh-TW" sz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zh-TW" sz="12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sSub>
                        <m:sSub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altLang="zh-TW" sz="12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1200" b="0" i="1" smtClean="0">
                          <a:latin typeface="Cambria Math" panose="02040503050406030204" pitchFamily="18" charset="0"/>
                        </a:rPr>
                        <m:t> =</m:t>
                      </m:r>
                      <m:borderBox>
                        <m:borderBox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zh-TW" sz="120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25"/>
                                </m:rPr>
                                <a:rPr lang="en-US" altLang="zh-TW" sz="120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  <m:r>
                                <m:rPr>
                                  <m:brk m:alnAt="25"/>
                                </m:rPr>
                                <a:rPr lang="en-US" altLang="zh-TW" sz="120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5"/>
                                </m:rPr>
                                <a:rPr lang="en-US" altLang="zh-TW" sz="1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zh-TW" sz="120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  <m:e>
                              <m:r>
                                <a:rPr lang="el-GR" altLang="zh-TW" sz="1200" b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𝚪</m:t>
                              </m:r>
                              <m:d>
                                <m:d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TW" sz="120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200">
                                          <a:latin typeface="Cambria Math" panose="02040503050406030204" pitchFamily="18" charset="0"/>
                                        </a:rPr>
                                        <m:t>q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200">
                                          <a:latin typeface="Cambria Math" panose="02040503050406030204" pitchFamily="18" charset="0"/>
                                        </a:rPr>
                                        <m:t>t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200">
                                          <a:latin typeface="Cambria Math" panose="02040503050406030204" pitchFamily="18" charset="0"/>
                                        </a:rPr>
                                        <m:t>T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en-US" altLang="zh-TW" sz="120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200">
                                          <a:latin typeface="Cambria Math" panose="02040503050406030204" pitchFamily="18" charset="0"/>
                                        </a:rPr>
                                        <m:t>k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200">
                                          <a:latin typeface="Cambria Math" panose="02040503050406030204" pitchFamily="18" charset="0"/>
                                        </a:rPr>
                                        <m:t>j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latin typeface="Cambria Math" panose="02040503050406030204" pitchFamily="18" charset="0"/>
                                    </a:rPr>
                                    <m:t>j</m:t>
                                  </m:r>
                                </m:sub>
                              </m:sSub>
                            </m:e>
                          </m:nary>
                        </m:e>
                      </m:borderBox>
                      <m:r>
                        <a:rPr lang="en-US" altLang="zh-TW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l-GR" altLang="zh-TW" sz="1200" b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𝚪</m:t>
                      </m:r>
                      <m:r>
                        <a:rPr lang="en-US" altLang="zh-TW" sz="1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1200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TW" altLang="en-US" sz="1200" b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200" b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𝛄</m:t>
                              </m:r>
                            </m:e>
                            <m:sub>
                              <m:r>
                                <a:rPr lang="en-US" altLang="zh-TW" sz="1200" b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𝐭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TW" altLang="en-US" sz="1200" b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200" b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𝛄</m:t>
                              </m:r>
                            </m:e>
                            <m:sub>
                              <m:r>
                                <a:rPr lang="en-US" altLang="zh-TW" sz="1200" b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𝐣</m:t>
                              </m:r>
                            </m:sub>
                          </m:sSub>
                        </m:den>
                      </m:f>
                      <m:r>
                        <a:rPr lang="en-US" altLang="zh-TW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zh-TW" altLang="en-US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TW" altLang="en-US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TW" altLang="en-US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..</m:t>
                          </m:r>
                          <m:sSub>
                            <m:sSubPr>
                              <m:ctrlPr>
                                <a:rPr lang="zh-TW" altLang="en-US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sz="1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TW" altLang="en-US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  <m:r>
                                <a:rPr lang="en-US" altLang="zh-TW" sz="1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zh-TW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..</m:t>
                          </m:r>
                          <m:sSub>
                            <m:sSubPr>
                              <m:ctrlPr>
                                <a:rPr lang="zh-TW" altLang="en-US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TW" altLang="en-US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TW" altLang="en-US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..</m:t>
                          </m:r>
                          <m:sSub>
                            <m:sSubPr>
                              <m:ctrlPr>
                                <a:rPr lang="zh-TW" altLang="en-US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sz="1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</m:sSub>
                          <m:r>
                            <a:rPr lang="en-US" altLang="zh-TW" sz="1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               </m:t>
                          </m:r>
                        </m:den>
                      </m:f>
                      <m:r>
                        <a:rPr lang="en-US" altLang="zh-TW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TW" sz="1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BEA5792F-AAB0-D921-9067-BF9A4CD5A9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9461" y="2930258"/>
                <a:ext cx="4198865" cy="408264"/>
              </a:xfrm>
              <a:prstGeom prst="rect">
                <a:avLst/>
              </a:prstGeom>
              <a:blipFill>
                <a:blip r:embed="rId7"/>
                <a:stretch>
                  <a:fillRect l="-1306" t="-179104" b="-2238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>
            <a:extLst>
              <a:ext uri="{FF2B5EF4-FFF2-40B4-BE49-F238E27FC236}">
                <a16:creationId xmlns:a16="http://schemas.microsoft.com/office/drawing/2014/main" id="{45E309C3-74F9-6432-3B3D-98386741E4DE}"/>
              </a:ext>
            </a:extLst>
          </p:cNvPr>
          <p:cNvSpPr/>
          <p:nvPr/>
        </p:nvSpPr>
        <p:spPr>
          <a:xfrm>
            <a:off x="342961" y="3197978"/>
            <a:ext cx="1339534" cy="184667"/>
          </a:xfrm>
          <a:prstGeom prst="rect">
            <a:avLst/>
          </a:prstGeom>
          <a:noFill/>
          <a:ln w="190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>
            <a:noAutofit/>
          </a:bodyPr>
          <a:lstStyle/>
          <a:p>
            <a:pPr>
              <a:lnSpc>
                <a:spcPts val="1600"/>
              </a:lnSpc>
            </a:pPr>
            <a:r>
              <a:rPr lang="en-US" altLang="zh-TW" sz="1200" b="1" dirty="0">
                <a:solidFill>
                  <a:schemeClr val="tx2"/>
                </a:solidFill>
                <a:ea typeface="微軟正黑體" panose="020B0604030504040204" pitchFamily="34" charset="-120"/>
              </a:rPr>
              <a:t>Chunk-wise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D908D7B9-895B-E2B0-0EE3-E189A7D16CA9}"/>
                  </a:ext>
                </a:extLst>
              </p:cNvPr>
              <p:cNvSpPr txBox="1"/>
              <p:nvPr/>
            </p:nvSpPr>
            <p:spPr>
              <a:xfrm>
                <a:off x="397254" y="3376492"/>
                <a:ext cx="2615496" cy="2764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12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2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en-US" altLang="zh-TW" sz="1200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1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1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2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altLang="zh-TW" sz="1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d>
                      <m:dPr>
                        <m:ctrlPr>
                          <a:rPr lang="zh-TW" alt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TW" alt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12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TW" sz="1200" b="0" i="1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en-US" altLang="zh-TW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TW" alt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TW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k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en-US" altLang="zh-TW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k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zh-TW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</m:t>
                                </m:r>
                              </m:sup>
                            </m:sSubSup>
                          </m:e>
                        </m:d>
                      </m:e>
                    </m:d>
                    <m:r>
                      <a:rPr lang="en-US" altLang="zh-TW" sz="12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TW" alt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sub>
                    </m:sSub>
                    <m:sSub>
                      <m:sSubPr>
                        <m:ctrlPr>
                          <a:rPr lang="zh-TW" altLang="en-US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𝜐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sub>
                    </m:sSub>
                    <m:sSubSup>
                      <m:sSubSupPr>
                        <m:ctrlP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sup>
                    </m:sSubSup>
                    <m:r>
                      <a:rPr lang="en-US" altLang="zh-TW" sz="12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altLang="zh-TW" sz="1200" dirty="0">
                    <a:latin typeface="Cambria Math" panose="02040503050406030204" pitchFamily="18" charset="0"/>
                  </a:rPr>
                  <a:t> </a:t>
                </a:r>
                <a:endParaRPr lang="en-US" altLang="zh-TW" sz="1200" b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D908D7B9-895B-E2B0-0EE3-E189A7D16C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254" y="3376492"/>
                <a:ext cx="2615496" cy="276422"/>
              </a:xfrm>
              <a:prstGeom prst="rect">
                <a:avLst/>
              </a:prstGeom>
              <a:blipFill>
                <a:blip r:embed="rId8"/>
                <a:stretch>
                  <a:fillRect l="-2098"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字方塊 13">
            <a:extLst>
              <a:ext uri="{FF2B5EF4-FFF2-40B4-BE49-F238E27FC236}">
                <a16:creationId xmlns:a16="http://schemas.microsoft.com/office/drawing/2014/main" id="{9BD4C784-3504-8DD9-3CAF-BC7B7CD3C840}"/>
              </a:ext>
            </a:extLst>
          </p:cNvPr>
          <p:cNvSpPr txBox="1"/>
          <p:nvPr/>
        </p:nvSpPr>
        <p:spPr>
          <a:xfrm>
            <a:off x="4730186" y="3633198"/>
            <a:ext cx="644018" cy="153841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200"/>
              </a:lnSpc>
            </a:pPr>
            <a:r>
              <a:rPr lang="en-US" altLang="zh-TW" sz="1200" dirty="0"/>
              <a:t>Delta Rule</a:t>
            </a:r>
          </a:p>
        </p:txBody>
      </p:sp>
      <p:sp>
        <p:nvSpPr>
          <p:cNvPr id="19" name="左大括弧 18">
            <a:extLst>
              <a:ext uri="{FF2B5EF4-FFF2-40B4-BE49-F238E27FC236}">
                <a16:creationId xmlns:a16="http://schemas.microsoft.com/office/drawing/2014/main" id="{1FE33451-0A93-4D99-7405-B80FF15CDEA4}"/>
              </a:ext>
            </a:extLst>
          </p:cNvPr>
          <p:cNvSpPr/>
          <p:nvPr/>
        </p:nvSpPr>
        <p:spPr>
          <a:xfrm rot="5400000">
            <a:off x="4973104" y="3385936"/>
            <a:ext cx="74008" cy="876215"/>
          </a:xfrm>
          <a:prstGeom prst="leftBrace">
            <a:avLst>
              <a:gd name="adj1" fmla="val 41469"/>
              <a:gd name="adj2" fmla="val 50000"/>
            </a:avLst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8602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00502-3DFC-76C8-A27F-69B9B0495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標題 1">
            <a:extLst>
              <a:ext uri="{FF2B5EF4-FFF2-40B4-BE49-F238E27FC236}">
                <a16:creationId xmlns:a16="http://schemas.microsoft.com/office/drawing/2014/main" id="{AEA4271A-A72C-2E4E-C5B6-4DBF7492B6AD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885698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Chunk-wise</a:t>
            </a:r>
          </a:p>
          <a:p>
            <a:r>
              <a:rPr lang="en-US" altLang="zh-TW" sz="14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Chunkwise GDN boosts hardware efficiency during prefill and pre-training stages.</a:t>
            </a:r>
          </a:p>
        </p:txBody>
      </p:sp>
      <p:sp>
        <p:nvSpPr>
          <p:cNvPr id="153" name="文字方塊 152">
            <a:extLst>
              <a:ext uri="{FF2B5EF4-FFF2-40B4-BE49-F238E27FC236}">
                <a16:creationId xmlns:a16="http://schemas.microsoft.com/office/drawing/2014/main" id="{3E69C0E3-FBFD-1737-3B98-1709BE220234}"/>
              </a:ext>
            </a:extLst>
          </p:cNvPr>
          <p:cNvSpPr txBox="1"/>
          <p:nvPr/>
        </p:nvSpPr>
        <p:spPr>
          <a:xfrm>
            <a:off x="4527952" y="4174650"/>
            <a:ext cx="2651033" cy="543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943100">
              <a:lnSpc>
                <a:spcPts val="1800"/>
              </a:lnSpc>
            </a:pPr>
            <a:r>
              <a:rPr lang="en-US" altLang="zh-TW" sz="1600" b="1" dirty="0"/>
              <a:t>Intra-chunk</a:t>
            </a:r>
            <a:r>
              <a:rPr lang="en-US" altLang="zh-TW" sz="1600" dirty="0"/>
              <a:t>: ... Attention</a:t>
            </a:r>
          </a:p>
          <a:p>
            <a:pPr defTabSz="1943100">
              <a:lnSpc>
                <a:spcPts val="1800"/>
              </a:lnSpc>
            </a:pPr>
            <a:r>
              <a:rPr lang="en-US" altLang="zh-TW" sz="1400" b="1" dirty="0"/>
              <a:t>Inter-chuck</a:t>
            </a:r>
            <a:r>
              <a:rPr lang="en-US" altLang="zh-TW" sz="1400" dirty="0"/>
              <a:t>: .. RNN</a:t>
            </a:r>
            <a:endParaRPr lang="zh-TW" altLang="en-US" sz="1200" dirty="0"/>
          </a:p>
        </p:txBody>
      </p:sp>
      <p:sp>
        <p:nvSpPr>
          <p:cNvPr id="126" name="文字方塊 125">
            <a:extLst>
              <a:ext uri="{FF2B5EF4-FFF2-40B4-BE49-F238E27FC236}">
                <a16:creationId xmlns:a16="http://schemas.microsoft.com/office/drawing/2014/main" id="{DCE2929A-897D-C3D6-B2C2-1F4F80A78D78}"/>
              </a:ext>
            </a:extLst>
          </p:cNvPr>
          <p:cNvSpPr txBox="1"/>
          <p:nvPr/>
        </p:nvSpPr>
        <p:spPr>
          <a:xfrm>
            <a:off x="7206485" y="5653750"/>
            <a:ext cx="256577" cy="333823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dirty="0">
                <a:solidFill>
                  <a:schemeClr val="accent4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</a:t>
            </a:r>
            <a:endParaRPr lang="zh-TW" altLang="en-US" dirty="0">
              <a:solidFill>
                <a:schemeClr val="accent4">
                  <a:lumMod val="60000"/>
                  <a:lumOff val="40000"/>
                </a:scheme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C930CF9C-144B-DB12-807B-F6CBA739BBBA}"/>
              </a:ext>
            </a:extLst>
          </p:cNvPr>
          <p:cNvSpPr/>
          <p:nvPr/>
        </p:nvSpPr>
        <p:spPr>
          <a:xfrm>
            <a:off x="718142" y="2687201"/>
            <a:ext cx="648072" cy="1698565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548640" rIns="0" bIns="0" rtlCol="0" anchor="ctr" anchorCtr="1"/>
          <a:lstStyle/>
          <a:p>
            <a:pPr algn="ctr">
              <a:lnSpc>
                <a:spcPts val="1600"/>
              </a:lnSpc>
            </a:pPr>
            <a:endParaRPr lang="en-US" altLang="zh-TW" sz="1400" b="1" baseline="-25000" dirty="0">
              <a:solidFill>
                <a:schemeClr val="tx1"/>
              </a:solidFill>
              <a:ea typeface="微軟正黑體" panose="020B0604030504040204" pitchFamily="34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51B0C24-3919-2826-A76F-0BF22E377F92}"/>
              </a:ext>
            </a:extLst>
          </p:cNvPr>
          <p:cNvSpPr txBox="1"/>
          <p:nvPr/>
        </p:nvSpPr>
        <p:spPr>
          <a:xfrm>
            <a:off x="744644" y="2522530"/>
            <a:ext cx="601913" cy="15263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200" b="1" dirty="0"/>
              <a:t>n x (c*d)</a:t>
            </a:r>
            <a:endParaRPr lang="zh-TW" altLang="en-US" sz="1200" b="1" dirty="0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CB07C54D-A621-67C6-795C-D473B0B2891A}"/>
              </a:ext>
            </a:extLst>
          </p:cNvPr>
          <p:cNvSpPr/>
          <p:nvPr/>
        </p:nvSpPr>
        <p:spPr>
          <a:xfrm>
            <a:off x="721906" y="4018750"/>
            <a:ext cx="653833" cy="375988"/>
          </a:xfrm>
          <a:prstGeom prst="rect">
            <a:avLst/>
          </a:prstGeom>
          <a:solidFill>
            <a:schemeClr val="accent4">
              <a:lumMod val="40000"/>
              <a:lumOff val="60000"/>
              <a:alpha val="40000"/>
            </a:schemeClr>
          </a:solidFill>
          <a:ln w="15875">
            <a:solidFill>
              <a:schemeClr val="accent4">
                <a:lumMod val="60000"/>
                <a:lumOff val="40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500"/>
              </a:lnSpc>
            </a:pPr>
            <a:r>
              <a:rPr lang="en-US" altLang="zh-TW" sz="1200" b="1" dirty="0">
                <a:solidFill>
                  <a:schemeClr val="accent4"/>
                </a:solidFill>
                <a:ea typeface="微軟正黑體" panose="020B0604030504040204" pitchFamily="34" charset="-120"/>
              </a:rPr>
              <a:t>Chunk</a:t>
            </a:r>
            <a:r>
              <a:rPr lang="zh-TW" altLang="en-US" sz="1200" b="1" dirty="0">
                <a:solidFill>
                  <a:schemeClr val="accent4"/>
                </a:solidFill>
                <a:ea typeface="微軟正黑體" panose="020B0604030504040204" pitchFamily="34" charset="-120"/>
              </a:rPr>
              <a:t> </a:t>
            </a:r>
            <a:r>
              <a:rPr lang="en-US" altLang="zh-TW" sz="1200" b="1" dirty="0">
                <a:solidFill>
                  <a:schemeClr val="accent4"/>
                </a:solidFill>
                <a:ea typeface="微軟正黑體" panose="020B0604030504040204" pitchFamily="34" charset="-120"/>
              </a:rPr>
              <a:t>i</a:t>
            </a:r>
            <a:endParaRPr lang="en-US" altLang="zh-TW" sz="1200" b="1" baseline="-25000" dirty="0">
              <a:solidFill>
                <a:schemeClr val="accent4"/>
              </a:solidFill>
              <a:ea typeface="微軟正黑體" panose="020B0604030504040204" pitchFamily="34" charset="-120"/>
            </a:endParaRPr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7CB98988-07A9-45F4-0CD8-38B00EFF1E03}"/>
              </a:ext>
            </a:extLst>
          </p:cNvPr>
          <p:cNvSpPr txBox="1"/>
          <p:nvPr/>
        </p:nvSpPr>
        <p:spPr>
          <a:xfrm>
            <a:off x="904816" y="3950182"/>
            <a:ext cx="293061" cy="129042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200" b="1" dirty="0">
                <a:solidFill>
                  <a:schemeClr val="accent4"/>
                </a:solidFill>
              </a:rPr>
              <a:t>c*d</a:t>
            </a:r>
            <a:endParaRPr lang="zh-TW" altLang="en-US" sz="1200" b="1" dirty="0">
              <a:solidFill>
                <a:schemeClr val="accent4"/>
              </a:solidFill>
            </a:endParaRPr>
          </a:p>
        </p:txBody>
      </p:sp>
      <p:sp>
        <p:nvSpPr>
          <p:cNvPr id="8" name="左大括弧 7">
            <a:extLst>
              <a:ext uri="{FF2B5EF4-FFF2-40B4-BE49-F238E27FC236}">
                <a16:creationId xmlns:a16="http://schemas.microsoft.com/office/drawing/2014/main" id="{6C32B8F0-B153-841A-C510-8909313A9A32}"/>
              </a:ext>
            </a:extLst>
          </p:cNvPr>
          <p:cNvSpPr/>
          <p:nvPr/>
        </p:nvSpPr>
        <p:spPr>
          <a:xfrm>
            <a:off x="529278" y="2687200"/>
            <a:ext cx="132975" cy="1707538"/>
          </a:xfrm>
          <a:prstGeom prst="leftBrace">
            <a:avLst/>
          </a:prstGeom>
          <a:ln w="158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CE9B5BDB-9057-0CE5-11D2-F0F8765C5D4E}"/>
              </a:ext>
            </a:extLst>
          </p:cNvPr>
          <p:cNvSpPr txBox="1"/>
          <p:nvPr/>
        </p:nvSpPr>
        <p:spPr>
          <a:xfrm>
            <a:off x="327580" y="3242610"/>
            <a:ext cx="163822" cy="593116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600"/>
              </a:lnSpc>
            </a:pPr>
            <a:r>
              <a:rPr lang="en-US" altLang="zh-TW" sz="1200" b="1" dirty="0">
                <a:solidFill>
                  <a:schemeClr val="accent2"/>
                </a:solidFill>
              </a:rPr>
              <a:t>1</a:t>
            </a:r>
          </a:p>
          <a:p>
            <a:pPr algn="ctr">
              <a:lnSpc>
                <a:spcPts val="600"/>
              </a:lnSpc>
            </a:pPr>
            <a:r>
              <a:rPr lang="en-US" altLang="zh-TW" sz="1200" b="1" dirty="0">
                <a:solidFill>
                  <a:schemeClr val="accent2"/>
                </a:solidFill>
              </a:rPr>
              <a:t>.</a:t>
            </a:r>
          </a:p>
          <a:p>
            <a:pPr algn="ctr">
              <a:lnSpc>
                <a:spcPts val="600"/>
              </a:lnSpc>
            </a:pPr>
            <a:r>
              <a:rPr lang="en-US" altLang="zh-TW" sz="1200" b="1" dirty="0">
                <a:solidFill>
                  <a:schemeClr val="accent2"/>
                </a:solidFill>
              </a:rPr>
              <a:t>.</a:t>
            </a:r>
          </a:p>
          <a:p>
            <a:pPr algn="ctr">
              <a:lnSpc>
                <a:spcPts val="600"/>
              </a:lnSpc>
            </a:pPr>
            <a:r>
              <a:rPr lang="en-US" altLang="zh-TW" sz="1200" b="1" dirty="0">
                <a:solidFill>
                  <a:schemeClr val="accent2"/>
                </a:solidFill>
              </a:rPr>
              <a:t>.</a:t>
            </a:r>
          </a:p>
          <a:p>
            <a:pPr algn="ctr">
              <a:lnSpc>
                <a:spcPts val="600"/>
              </a:lnSpc>
            </a:pPr>
            <a:endParaRPr lang="en-US" altLang="zh-TW" sz="1200" b="1" dirty="0">
              <a:solidFill>
                <a:schemeClr val="accent2"/>
              </a:solidFill>
            </a:endParaRPr>
          </a:p>
          <a:p>
            <a:pPr algn="ctr">
              <a:lnSpc>
                <a:spcPts val="600"/>
              </a:lnSpc>
            </a:pPr>
            <a:r>
              <a:rPr lang="en-US" altLang="zh-TW" sz="1200" b="1" dirty="0">
                <a:solidFill>
                  <a:schemeClr val="accent2"/>
                </a:solidFill>
              </a:rPr>
              <a:t>n</a:t>
            </a:r>
            <a:endParaRPr lang="zh-TW" altLang="en-US" sz="1200" b="1" dirty="0">
              <a:solidFill>
                <a:schemeClr val="accent2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38A6E0C-6F2E-C039-77CA-8E4F083ADDD3}"/>
              </a:ext>
            </a:extLst>
          </p:cNvPr>
          <p:cNvSpPr txBox="1"/>
          <p:nvPr/>
        </p:nvSpPr>
        <p:spPr>
          <a:xfrm>
            <a:off x="5679008" y="5065700"/>
            <a:ext cx="140374" cy="653834"/>
          </a:xfrm>
          <a:prstGeom prst="rect">
            <a:avLst/>
          </a:prstGeom>
          <a:solidFill>
            <a:schemeClr val="bg1">
              <a:alpha val="60000"/>
            </a:schemeClr>
          </a:solidFill>
          <a:ln w="15875">
            <a:solidFill>
              <a:schemeClr val="accent3"/>
            </a:solidFill>
            <a:prstDash val="sysDot"/>
          </a:ln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200" dirty="0">
                <a:solidFill>
                  <a:schemeClr val="accent3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</a:t>
            </a:r>
            <a:r>
              <a:rPr lang="en-US" altLang="zh-TW" sz="1200" baseline="-25000" dirty="0">
                <a:solidFill>
                  <a:schemeClr val="accent3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</a:t>
            </a:r>
            <a:endParaRPr lang="zh-TW" altLang="en-US" sz="1200" baseline="-25000" dirty="0">
              <a:solidFill>
                <a:schemeClr val="accent3">
                  <a:lumMod val="75000"/>
                </a:scheme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40" name="左右中括弧 39">
            <a:extLst>
              <a:ext uri="{FF2B5EF4-FFF2-40B4-BE49-F238E27FC236}">
                <a16:creationId xmlns:a16="http://schemas.microsoft.com/office/drawing/2014/main" id="{C28BB96A-E1CD-5A75-8DBC-5CF184AD12F6}"/>
              </a:ext>
            </a:extLst>
          </p:cNvPr>
          <p:cNvSpPr/>
          <p:nvPr/>
        </p:nvSpPr>
        <p:spPr>
          <a:xfrm>
            <a:off x="5774200" y="6002258"/>
            <a:ext cx="723497" cy="260579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550C9228-FA7E-E532-D2C1-5BBD82FB946D}"/>
              </a:ext>
            </a:extLst>
          </p:cNvPr>
          <p:cNvSpPr/>
          <p:nvPr/>
        </p:nvSpPr>
        <p:spPr>
          <a:xfrm>
            <a:off x="6608637" y="5953429"/>
            <a:ext cx="548640" cy="5486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endParaRPr lang="zh-TW" altLang="en-US" sz="1400" b="1" baseline="-25000" dirty="0">
              <a:solidFill>
                <a:schemeClr val="accent4"/>
              </a:solidFill>
            </a:endParaRPr>
          </a:p>
        </p:txBody>
      </p:sp>
      <p:grpSp>
        <p:nvGrpSpPr>
          <p:cNvPr id="80" name="群組 79">
            <a:extLst>
              <a:ext uri="{FF2B5EF4-FFF2-40B4-BE49-F238E27FC236}">
                <a16:creationId xmlns:a16="http://schemas.microsoft.com/office/drawing/2014/main" id="{2F4EB874-6783-9814-4BF8-9ED50298F19B}"/>
              </a:ext>
            </a:extLst>
          </p:cNvPr>
          <p:cNvGrpSpPr/>
          <p:nvPr/>
        </p:nvGrpSpPr>
        <p:grpSpPr>
          <a:xfrm>
            <a:off x="5794372" y="5599814"/>
            <a:ext cx="610499" cy="712496"/>
            <a:chOff x="1902675" y="4463429"/>
            <a:chExt cx="610499" cy="712496"/>
          </a:xfrm>
        </p:grpSpPr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F1976F8F-589A-C3CF-FC65-EF3F5D57D6DB}"/>
                </a:ext>
              </a:extLst>
            </p:cNvPr>
            <p:cNvSpPr/>
            <p:nvPr/>
          </p:nvSpPr>
          <p:spPr>
            <a:xfrm>
              <a:off x="2187708" y="4830730"/>
              <a:ext cx="325466" cy="345195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60000"/>
              </a:schemeClr>
            </a:solidFill>
            <a:ln w="15875">
              <a:solidFill>
                <a:schemeClr val="accent2">
                  <a:lumMod val="60000"/>
                  <a:lumOff val="4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1"/>
            <a:lstStyle/>
            <a:p>
              <a:pPr algn="ctr"/>
              <a:r>
                <a:rPr lang="en-US" altLang="zh-TW" sz="1200" b="1" dirty="0">
                  <a:solidFill>
                    <a:schemeClr val="accent2"/>
                  </a:solidFill>
                </a:rPr>
                <a:t>KV</a:t>
              </a:r>
              <a:r>
                <a:rPr lang="en-US" altLang="zh-TW" sz="1200" b="1" baseline="-25000" dirty="0">
                  <a:solidFill>
                    <a:schemeClr val="accent2"/>
                  </a:solidFill>
                </a:rPr>
                <a:t>i</a:t>
              </a:r>
              <a:r>
                <a:rPr lang="en-US" altLang="zh-TW" sz="1400" b="1" baseline="-25000" dirty="0">
                  <a:solidFill>
                    <a:schemeClr val="accent4"/>
                  </a:solidFill>
                </a:rPr>
                <a:t> </a:t>
              </a:r>
              <a:endParaRPr lang="zh-TW" altLang="en-US" sz="1400" b="1" baseline="-25000" dirty="0">
                <a:solidFill>
                  <a:schemeClr val="accent4"/>
                </a:solidFill>
              </a:endParaRPr>
            </a:p>
          </p:txBody>
        </p:sp>
        <p:sp>
          <p:nvSpPr>
            <p:cNvPr id="83" name="文字方塊 82">
              <a:extLst>
                <a:ext uri="{FF2B5EF4-FFF2-40B4-BE49-F238E27FC236}">
                  <a16:creationId xmlns:a16="http://schemas.microsoft.com/office/drawing/2014/main" id="{316DDAC5-D58F-2060-E584-02D7F56FFF4C}"/>
                </a:ext>
              </a:extLst>
            </p:cNvPr>
            <p:cNvSpPr txBox="1"/>
            <p:nvPr/>
          </p:nvSpPr>
          <p:spPr>
            <a:xfrm>
              <a:off x="1979712" y="4840255"/>
              <a:ext cx="144016" cy="33567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accent3">
                  <a:lumMod val="60000"/>
                  <a:lumOff val="40000"/>
                </a:schemeClr>
              </a:solidFill>
              <a:prstDash val="sysDot"/>
            </a:ln>
          </p:spPr>
          <p:txBody>
            <a:bodyPr wrap="none" lIns="0" tIns="0" rIns="0" bIns="0" rtlCol="0" anchor="ctr" anchorCtr="1">
              <a:noAutofit/>
            </a:bodyPr>
            <a:lstStyle/>
            <a:p>
              <a:pPr algn="ctr">
                <a:lnSpc>
                  <a:spcPts val="1400"/>
                </a:lnSpc>
              </a:pPr>
              <a:r>
                <a:rPr lang="en-US" altLang="zh-TW" sz="1400" dirty="0">
                  <a:solidFill>
                    <a:schemeClr val="accent3">
                      <a:lumMod val="75000"/>
                    </a:schemeClr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v</a:t>
              </a:r>
              <a:endParaRPr lang="zh-TW" altLang="en-US" sz="1400" dirty="0">
                <a:solidFill>
                  <a:schemeClr val="accent3">
                    <a:lumMod val="75000"/>
                  </a:schemeClr>
                </a:solidFill>
                <a:latin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sp>
          <p:nvSpPr>
            <p:cNvPr id="85" name="文字方塊 84">
              <a:extLst>
                <a:ext uri="{FF2B5EF4-FFF2-40B4-BE49-F238E27FC236}">
                  <a16:creationId xmlns:a16="http://schemas.microsoft.com/office/drawing/2014/main" id="{D2D134FB-B8F6-8458-3291-6A88AFFCD8B9}"/>
                </a:ext>
              </a:extLst>
            </p:cNvPr>
            <p:cNvSpPr txBox="1"/>
            <p:nvPr/>
          </p:nvSpPr>
          <p:spPr>
            <a:xfrm>
              <a:off x="2207795" y="4616970"/>
              <a:ext cx="293061" cy="144971"/>
            </a:xfrm>
            <a:prstGeom prst="rect">
              <a:avLst/>
            </a:prstGeom>
            <a:noFill/>
            <a:ln w="15875">
              <a:solidFill>
                <a:schemeClr val="accent1">
                  <a:lumMod val="40000"/>
                  <a:lumOff val="60000"/>
                </a:schemeClr>
              </a:solidFill>
              <a:prstDash val="sysDot"/>
            </a:ln>
          </p:spPr>
          <p:txBody>
            <a:bodyPr wrap="none" lIns="0" tIns="0" rIns="0" bIns="0" rtlCol="0" anchor="ctr" anchorCtr="1">
              <a:noAutofit/>
            </a:bodyPr>
            <a:lstStyle/>
            <a:p>
              <a:pPr algn="ctr">
                <a:lnSpc>
                  <a:spcPts val="1400"/>
                </a:lnSpc>
              </a:pPr>
              <a:r>
                <a:rPr lang="en-US" altLang="zh-TW" sz="1400" dirty="0">
                  <a:solidFill>
                    <a:schemeClr val="accent5">
                      <a:lumMod val="75000"/>
                    </a:schemeClr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k</a:t>
              </a:r>
              <a:endParaRPr lang="zh-TW" altLang="en-US" sz="1400" baseline="30000" dirty="0">
                <a:solidFill>
                  <a:schemeClr val="accent5">
                    <a:lumMod val="75000"/>
                  </a:schemeClr>
                </a:solidFill>
                <a:latin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sp>
          <p:nvSpPr>
            <p:cNvPr id="86" name="文字方塊 85">
              <a:extLst>
                <a:ext uri="{FF2B5EF4-FFF2-40B4-BE49-F238E27FC236}">
                  <a16:creationId xmlns:a16="http://schemas.microsoft.com/office/drawing/2014/main" id="{2B06660B-7125-B656-4DC7-BEABA3843DC9}"/>
                </a:ext>
              </a:extLst>
            </p:cNvPr>
            <p:cNvSpPr txBox="1"/>
            <p:nvPr/>
          </p:nvSpPr>
          <p:spPr>
            <a:xfrm>
              <a:off x="2214786" y="4463429"/>
              <a:ext cx="293061" cy="144971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algn="ctr"/>
              <a:r>
                <a:rPr lang="en-US" altLang="zh-TW" sz="1200" b="1" dirty="0">
                  <a:solidFill>
                    <a:schemeClr val="bg1">
                      <a:lumMod val="65000"/>
                    </a:schemeClr>
                  </a:solidFill>
                </a:rPr>
                <a:t>c</a:t>
              </a:r>
              <a:r>
                <a:rPr lang="en-US" altLang="zh-TW" sz="1200" b="1" dirty="0"/>
                <a:t>*d</a:t>
              </a:r>
              <a:endParaRPr lang="zh-TW" altLang="en-US" sz="1200" b="1" dirty="0"/>
            </a:p>
          </p:txBody>
        </p:sp>
        <p:sp>
          <p:nvSpPr>
            <p:cNvPr id="87" name="文字方塊 86">
              <a:extLst>
                <a:ext uri="{FF2B5EF4-FFF2-40B4-BE49-F238E27FC236}">
                  <a16:creationId xmlns:a16="http://schemas.microsoft.com/office/drawing/2014/main" id="{DF5D6B57-C618-257C-3F86-EA2B9EE9F7A0}"/>
                </a:ext>
              </a:extLst>
            </p:cNvPr>
            <p:cNvSpPr txBox="1"/>
            <p:nvPr/>
          </p:nvSpPr>
          <p:spPr>
            <a:xfrm>
              <a:off x="1902675" y="4685759"/>
              <a:ext cx="293061" cy="144971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algn="ctr"/>
              <a:r>
                <a:rPr lang="en-US" altLang="zh-TW" sz="1200" b="1" dirty="0"/>
                <a:t>d*</a:t>
              </a:r>
              <a:r>
                <a:rPr lang="en-US" altLang="zh-TW" sz="1200" b="1" dirty="0">
                  <a:solidFill>
                    <a:schemeClr val="bg1">
                      <a:lumMod val="65000"/>
                    </a:schemeClr>
                  </a:solidFill>
                </a:rPr>
                <a:t>c</a:t>
              </a:r>
              <a:endParaRPr lang="zh-TW" altLang="en-US" sz="1200" b="1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cxnSp>
        <p:nvCxnSpPr>
          <p:cNvPr id="117" name="直線接點 116">
            <a:extLst>
              <a:ext uri="{FF2B5EF4-FFF2-40B4-BE49-F238E27FC236}">
                <a16:creationId xmlns:a16="http://schemas.microsoft.com/office/drawing/2014/main" id="{1D80986B-97EA-E875-925F-981EF8730858}"/>
              </a:ext>
            </a:extLst>
          </p:cNvPr>
          <p:cNvCxnSpPr/>
          <p:nvPr/>
        </p:nvCxnSpPr>
        <p:spPr>
          <a:xfrm>
            <a:off x="196439" y="6741368"/>
            <a:ext cx="48245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0F8AC103-62CE-19F9-C7F2-A5616E34FE80}"/>
              </a:ext>
            </a:extLst>
          </p:cNvPr>
          <p:cNvSpPr txBox="1"/>
          <p:nvPr/>
        </p:nvSpPr>
        <p:spPr>
          <a:xfrm>
            <a:off x="4468336" y="2277273"/>
            <a:ext cx="3027602" cy="719679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r>
              <a:rPr lang="en-US" altLang="zh-TW" sz="1200" dirty="0"/>
              <a:t>Attention</a:t>
            </a:r>
            <a:r>
              <a:rPr lang="zh-TW" altLang="en-US" sz="1200" dirty="0"/>
              <a:t> </a:t>
            </a:r>
            <a:r>
              <a:rPr lang="en-US" altLang="zh-TW" sz="1200" dirty="0"/>
              <a:t>View: </a:t>
            </a:r>
            <a:br>
              <a:rPr lang="en-US" altLang="zh-TW" sz="1200" dirty="0"/>
            </a:b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Out = </a:t>
            </a:r>
            <a:r>
              <a:rPr kumimoji="0" lang="en-US" altLang="zh-TW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softmax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(QK</a:t>
            </a:r>
            <a:r>
              <a:rPr kumimoji="0" lang="en-US" altLang="zh-TW" sz="12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T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)V </a:t>
            </a: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HK" panose="020B0200000000000000" pitchFamily="34" charset="-120"/>
                <a:ea typeface="Noto Sans HK" panose="020B0200000000000000" pitchFamily="34" charset="-120"/>
                <a:cs typeface="+mn-cs"/>
                <a:sym typeface="Wingdings" panose="05000000000000000000" pitchFamily="2" charset="2"/>
              </a:rPr>
              <a:t>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  <a:sym typeface="Wingdings" panose="05000000000000000000" pitchFamily="2" charset="2"/>
              </a:rPr>
              <a:t> (QK</a:t>
            </a:r>
            <a:r>
              <a:rPr kumimoji="0" lang="en-US" altLang="zh-TW" sz="12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  <a:sym typeface="Wingdings" panose="05000000000000000000" pitchFamily="2" charset="2"/>
              </a:rPr>
              <a:t>T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  <a:sym typeface="Wingdings" panose="05000000000000000000" pitchFamily="2" charset="2"/>
              </a:rPr>
              <a:t> </a:t>
            </a:r>
            <a:r>
              <a:rPr kumimoji="0" lang="az-Cyrl-AZ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Ꙩ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  <a:sym typeface="Wingdings" panose="05000000000000000000" pitchFamily="2" charset="2"/>
              </a:rPr>
              <a:t> M) •V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  <a:sym typeface="Wingdings" panose="05000000000000000000" pitchFamily="2" charset="2"/>
              </a:rPr>
              <a:t>在乎</a:t>
            </a: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  <a:sym typeface="Wingdings" panose="05000000000000000000" pitchFamily="2" charset="2"/>
              </a:rPr>
              <a:t>Global </a:t>
            </a:r>
            <a:r>
              <a:rPr kumimoji="0" lang="zh-TW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  <a:sym typeface="Wingdings" panose="05000000000000000000" pitchFamily="2" charset="2"/>
              </a:rPr>
              <a:t>性</a:t>
            </a: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  <a:sym typeface="Wingdings" panose="05000000000000000000" pitchFamily="2" charset="2"/>
              </a:rPr>
              <a:t>,</a:t>
            </a:r>
            <a:r>
              <a:rPr kumimoji="0" lang="zh-TW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  <a:sym typeface="Wingdings" panose="05000000000000000000" pitchFamily="2" charset="2"/>
              </a:rPr>
              <a:t> 因果性</a:t>
            </a: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  <a:sym typeface="Wingdings" panose="05000000000000000000" pitchFamily="2" charset="2"/>
              </a:rPr>
              <a:t>,Training</a:t>
            </a:r>
            <a:r>
              <a:rPr kumimoji="0" lang="zh-TW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  <a:sym typeface="Wingdings" panose="05000000000000000000" pitchFamily="2" charset="2"/>
              </a:rPr>
              <a:t>與</a:t>
            </a: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  <a:sym typeface="Wingdings" panose="05000000000000000000" pitchFamily="2" charset="2"/>
              </a:rPr>
              <a:t>Prefill</a:t>
            </a:r>
            <a:r>
              <a:rPr kumimoji="0" lang="zh-TW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  <a:sym typeface="Wingdings" panose="05000000000000000000" pitchFamily="2" charset="2"/>
              </a:rPr>
              <a:t>階段</a:t>
            </a: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  <a:sym typeface="Wingdings" panose="05000000000000000000" pitchFamily="2" charset="2"/>
              </a:rPr>
              <a:t>,</a:t>
            </a:r>
            <a:r>
              <a:rPr kumimoji="0" lang="zh-TW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  <a:sym typeface="Wingdings" panose="05000000000000000000" pitchFamily="2" charset="2"/>
              </a:rPr>
              <a:t> 全部資料一起來</a:t>
            </a: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  <a:sym typeface="Wingdings" panose="05000000000000000000" pitchFamily="2" charset="2"/>
              </a:rPr>
              <a:t>,</a:t>
            </a:r>
          </a:p>
          <a:p>
            <a:pPr lvl="0">
              <a:defRPr/>
            </a:pPr>
            <a:r>
              <a:rPr kumimoji="0" lang="zh-TW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  <a:sym typeface="Wingdings" panose="05000000000000000000" pitchFamily="2" charset="2"/>
              </a:rPr>
              <a:t>有利於</a:t>
            </a:r>
            <a:r>
              <a:rPr lang="en-US" altLang="zh-TW" sz="1000" dirty="0">
                <a:solidFill>
                  <a:prstClr val="black"/>
                </a:solidFill>
                <a:ea typeface="微軟正黑體" panose="020B0604030504040204" pitchFamily="34" charset="-120"/>
                <a:sym typeface="Wingdings" panose="05000000000000000000" pitchFamily="2" charset="2"/>
              </a:rPr>
              <a:t>Chunk</a:t>
            </a:r>
            <a:r>
              <a:rPr lang="zh-TW" altLang="en-US" sz="1000" dirty="0">
                <a:solidFill>
                  <a:prstClr val="black"/>
                </a:solidFill>
                <a:ea typeface="微軟正黑體" panose="020B0604030504040204" pitchFamily="34" charset="-120"/>
                <a:sym typeface="Wingdings" panose="05000000000000000000" pitchFamily="2" charset="2"/>
              </a:rPr>
              <a:t>處理</a:t>
            </a:r>
            <a:r>
              <a:rPr lang="en-US" altLang="zh-TW" sz="1000" dirty="0">
                <a:solidFill>
                  <a:prstClr val="black"/>
                </a:solidFill>
                <a:ea typeface="微軟正黑體" panose="020B0604030504040204" pitchFamily="34" charset="-120"/>
                <a:sym typeface="Wingdings" panose="05000000000000000000" pitchFamily="2" charset="2"/>
              </a:rPr>
              <a:t>.</a:t>
            </a:r>
            <a:endParaRPr lang="zh-TW" alt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3A055BD-0CF7-9CEB-3436-625131266067}"/>
              </a:ext>
            </a:extLst>
          </p:cNvPr>
          <p:cNvSpPr txBox="1"/>
          <p:nvPr/>
        </p:nvSpPr>
        <p:spPr>
          <a:xfrm>
            <a:off x="4465070" y="3011395"/>
            <a:ext cx="3027602" cy="1137685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r>
              <a:rPr lang="en-US" altLang="zh-TW" sz="1200" dirty="0"/>
              <a:t>RNN: (Hidden State), favor inference</a:t>
            </a:r>
          </a:p>
          <a:p>
            <a:r>
              <a:rPr lang="en-US" altLang="zh-TW" sz="1200" dirty="0"/>
              <a:t>Out = Q </a:t>
            </a:r>
            <a:r>
              <a:rPr lang="en-US" altLang="zh-TW" sz="1200" dirty="0">
                <a:sym typeface="Wingdings" panose="05000000000000000000" pitchFamily="2" charset="2"/>
              </a:rPr>
              <a:t>• (</a:t>
            </a:r>
            <a:r>
              <a:rPr lang="en-US" altLang="zh-TW" sz="1200" dirty="0"/>
              <a:t>K</a:t>
            </a:r>
            <a:r>
              <a:rPr lang="en-US" altLang="zh-TW" sz="1200" baseline="30000" dirty="0"/>
              <a:t>T </a:t>
            </a:r>
            <a:r>
              <a:rPr lang="en-US" altLang="zh-TW" sz="1200" dirty="0">
                <a:sym typeface="Wingdings" panose="05000000000000000000" pitchFamily="2" charset="2"/>
              </a:rPr>
              <a:t>• </a:t>
            </a:r>
            <a:r>
              <a:rPr lang="en-US" altLang="zh-TW" sz="1200" dirty="0"/>
              <a:t>V) </a:t>
            </a:r>
          </a:p>
          <a:p>
            <a:r>
              <a:rPr lang="en-US" altLang="zh-TW" sz="1200" dirty="0"/>
              <a:t>O</a:t>
            </a:r>
            <a:r>
              <a:rPr lang="en-US" altLang="zh-TW" sz="1200" baseline="-25000" dirty="0"/>
              <a:t>i</a:t>
            </a:r>
            <a:r>
              <a:rPr lang="en-US" altLang="zh-TW" sz="1200" dirty="0"/>
              <a:t> = q</a:t>
            </a:r>
            <a:r>
              <a:rPr lang="en-US" altLang="zh-TW" sz="1200" baseline="-25000" dirty="0"/>
              <a:t>i</a:t>
            </a:r>
            <a:r>
              <a:rPr lang="en-US" altLang="zh-TW" sz="1200" dirty="0">
                <a:sym typeface="Wingdings" panose="05000000000000000000" pitchFamily="2" charset="2"/>
              </a:rPr>
              <a:t>·(</a:t>
            </a:r>
            <a:r>
              <a:rPr lang="en-US" altLang="zh-TW" sz="1200" dirty="0"/>
              <a:t>k</a:t>
            </a:r>
            <a:r>
              <a:rPr lang="en-US" altLang="zh-TW" sz="1200" baseline="30000" dirty="0"/>
              <a:t>T</a:t>
            </a:r>
            <a:r>
              <a:rPr lang="en-US" altLang="zh-TW" sz="1200" baseline="-25000" dirty="0">
                <a:sym typeface="Wingdings" panose="05000000000000000000" pitchFamily="2" charset="2"/>
              </a:rPr>
              <a:t>0~i</a:t>
            </a:r>
            <a:r>
              <a:rPr lang="en-US" altLang="zh-TW" sz="1200" dirty="0">
                <a:sym typeface="Wingdings" panose="05000000000000000000" pitchFamily="2" charset="2"/>
              </a:rPr>
              <a:t>·</a:t>
            </a:r>
            <a:r>
              <a:rPr lang="en-US" altLang="zh-TW" sz="1200" dirty="0"/>
              <a:t>v</a:t>
            </a:r>
            <a:r>
              <a:rPr lang="en-US" altLang="zh-TW" sz="1200" baseline="-25000" dirty="0"/>
              <a:t>0~i</a:t>
            </a:r>
            <a:r>
              <a:rPr lang="en-US" altLang="zh-TW" sz="1200" dirty="0"/>
              <a:t>)=q</a:t>
            </a:r>
            <a:r>
              <a:rPr lang="en-US" altLang="zh-TW" sz="1200" baseline="-25000" dirty="0"/>
              <a:t>i</a:t>
            </a:r>
            <a:r>
              <a:rPr lang="en-US" altLang="zh-TW" sz="1200" dirty="0">
                <a:sym typeface="Wingdings" panose="05000000000000000000" pitchFamily="2" charset="2"/>
              </a:rPr>
              <a:t>·(H</a:t>
            </a:r>
            <a:r>
              <a:rPr lang="en-US" altLang="zh-TW" sz="1200" baseline="-25000" dirty="0">
                <a:sym typeface="Wingdings" panose="05000000000000000000" pitchFamily="2" charset="2"/>
              </a:rPr>
              <a:t>i</a:t>
            </a:r>
            <a:r>
              <a:rPr lang="en-US" altLang="zh-TW" sz="1200" dirty="0"/>
              <a:t>)=q</a:t>
            </a:r>
            <a:r>
              <a:rPr lang="en-US" altLang="zh-TW" sz="1200" baseline="-25000" dirty="0"/>
              <a:t>i</a:t>
            </a:r>
            <a:r>
              <a:rPr lang="en-US" altLang="zh-TW" sz="1200" dirty="0">
                <a:sym typeface="Wingdings" panose="05000000000000000000" pitchFamily="2" charset="2"/>
              </a:rPr>
              <a:t>·(H</a:t>
            </a:r>
            <a:r>
              <a:rPr lang="en-US" altLang="zh-TW" sz="1200" baseline="-25000" dirty="0">
                <a:sym typeface="Wingdings" panose="05000000000000000000" pitchFamily="2" charset="2"/>
              </a:rPr>
              <a:t>i~1</a:t>
            </a:r>
            <a:r>
              <a:rPr lang="en-US" altLang="zh-TW" sz="1200" dirty="0"/>
              <a:t>+k</a:t>
            </a:r>
            <a:r>
              <a:rPr lang="en-US" altLang="zh-TW" sz="1200" baseline="30000" dirty="0"/>
              <a:t>T</a:t>
            </a:r>
            <a:r>
              <a:rPr lang="en-US" altLang="zh-TW" sz="1200" baseline="-25000" dirty="0">
                <a:sym typeface="Wingdings" panose="05000000000000000000" pitchFamily="2" charset="2"/>
              </a:rPr>
              <a:t>i</a:t>
            </a:r>
            <a:r>
              <a:rPr lang="en-US" altLang="zh-TW" sz="1200" dirty="0"/>
              <a:t>v</a:t>
            </a:r>
            <a:r>
              <a:rPr lang="en-US" altLang="zh-TW" sz="1200" baseline="-25000" dirty="0"/>
              <a:t>i </a:t>
            </a:r>
            <a:r>
              <a:rPr lang="en-US" altLang="zh-TW" sz="1200" dirty="0"/>
              <a:t>)=q</a:t>
            </a:r>
            <a:r>
              <a:rPr lang="en-US" altLang="zh-TW" sz="1200" baseline="-25000" dirty="0"/>
              <a:t>i</a:t>
            </a:r>
            <a:r>
              <a:rPr lang="en-US" altLang="zh-TW" sz="1200" dirty="0">
                <a:sym typeface="Wingdings" panose="05000000000000000000" pitchFamily="2" charset="2"/>
              </a:rPr>
              <a:t>·H</a:t>
            </a:r>
            <a:r>
              <a:rPr lang="en-US" altLang="zh-TW" sz="1200" baseline="-25000" dirty="0">
                <a:sym typeface="Wingdings" panose="05000000000000000000" pitchFamily="2" charset="2"/>
              </a:rPr>
              <a:t>i-1 </a:t>
            </a:r>
            <a:r>
              <a:rPr lang="en-US" altLang="zh-TW" sz="1200" dirty="0"/>
              <a:t>+ </a:t>
            </a:r>
            <a:r>
              <a:rPr lang="en-US" altLang="zh-TW" sz="1200" dirty="0" err="1"/>
              <a:t>q</a:t>
            </a:r>
            <a:r>
              <a:rPr lang="en-US" altLang="zh-TW" sz="1200" baseline="-25000" dirty="0" err="1"/>
              <a:t>i</a:t>
            </a:r>
            <a:r>
              <a:rPr lang="en-US" altLang="zh-TW" sz="1200" dirty="0" err="1">
                <a:sym typeface="Wingdings" panose="05000000000000000000" pitchFamily="2" charset="2"/>
              </a:rPr>
              <a:t>·</a:t>
            </a:r>
            <a:r>
              <a:rPr lang="en-US" altLang="zh-TW" sz="1200" dirty="0" err="1"/>
              <a:t>k</a:t>
            </a:r>
            <a:r>
              <a:rPr lang="en-US" altLang="zh-TW" sz="1200" baseline="30000" dirty="0" err="1"/>
              <a:t>T</a:t>
            </a:r>
            <a:r>
              <a:rPr lang="en-US" altLang="zh-TW" sz="1200" baseline="-25000" dirty="0" err="1">
                <a:sym typeface="Wingdings" panose="05000000000000000000" pitchFamily="2" charset="2"/>
              </a:rPr>
              <a:t>i</a:t>
            </a:r>
            <a:r>
              <a:rPr lang="en-US" altLang="zh-TW" sz="1200" dirty="0" err="1"/>
              <a:t>v</a:t>
            </a:r>
            <a:r>
              <a:rPr lang="en-US" altLang="zh-TW" sz="1200" baseline="-25000" dirty="0" err="1"/>
              <a:t>i</a:t>
            </a:r>
            <a:r>
              <a:rPr lang="en-US" altLang="zh-TW" sz="1200" baseline="-25000" dirty="0"/>
              <a:t> </a:t>
            </a:r>
          </a:p>
          <a:p>
            <a:endParaRPr lang="en-US" altLang="zh-TW" sz="1200" baseline="-250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  <a:sym typeface="Wingdings" panose="05000000000000000000" pitchFamily="2" charset="2"/>
              </a:rPr>
              <a:t>在乎</a:t>
            </a:r>
            <a:r>
              <a:rPr lang="zh-TW" altLang="en-US" sz="1000" dirty="0">
                <a:solidFill>
                  <a:prstClr val="black"/>
                </a:solidFill>
                <a:latin typeface="Calibri"/>
                <a:ea typeface="微軟正黑體" panose="020B0604030504040204" pitchFamily="34" charset="-120"/>
                <a:sym typeface="Wingdings" panose="05000000000000000000" pitchFamily="2" charset="2"/>
              </a:rPr>
              <a:t>隱藏矩陣</a:t>
            </a: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  <a:sym typeface="Wingdings" panose="05000000000000000000" pitchFamily="2" charset="2"/>
              </a:rPr>
              <a:t>,</a:t>
            </a:r>
            <a:r>
              <a:rPr kumimoji="0" lang="zh-TW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  <a:sym typeface="Wingdings" panose="05000000000000000000" pitchFamily="2" charset="2"/>
              </a:rPr>
              <a:t> </a:t>
            </a: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  <a:sym typeface="Wingdings" panose="05000000000000000000" pitchFamily="2" charset="2"/>
              </a:rPr>
              <a:t>..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  <a:sym typeface="Wingdings" panose="05000000000000000000" pitchFamily="2" charset="2"/>
              </a:rPr>
              <a:t>有利於平行的實作</a:t>
            </a: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  <a:sym typeface="Wingdings" panose="05000000000000000000" pitchFamily="2" charset="2"/>
              </a:rPr>
              <a:t>.</a:t>
            </a:r>
            <a:endParaRPr kumimoji="0" lang="zh-TW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endParaRPr lang="zh-TW" altLang="en-US" sz="12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99A17F-C8FA-144C-9746-5C544BFA7C47}"/>
              </a:ext>
            </a:extLst>
          </p:cNvPr>
          <p:cNvSpPr/>
          <p:nvPr/>
        </p:nvSpPr>
        <p:spPr>
          <a:xfrm rot="5400000">
            <a:off x="117192" y="4613737"/>
            <a:ext cx="653833" cy="375988"/>
          </a:xfrm>
          <a:prstGeom prst="rect">
            <a:avLst/>
          </a:prstGeom>
          <a:solidFill>
            <a:schemeClr val="accent4">
              <a:lumMod val="40000"/>
              <a:lumOff val="60000"/>
              <a:alpha val="40000"/>
            </a:schemeClr>
          </a:solidFill>
          <a:ln w="15875">
            <a:solidFill>
              <a:schemeClr val="accent4">
                <a:lumMod val="60000"/>
                <a:lumOff val="40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500"/>
              </a:lnSpc>
            </a:pPr>
            <a:r>
              <a:rPr lang="en-US" altLang="zh-TW" sz="1200" b="1" dirty="0">
                <a:solidFill>
                  <a:schemeClr val="accent4"/>
                </a:solidFill>
                <a:ea typeface="微軟正黑體" panose="020B0604030504040204" pitchFamily="34" charset="-120"/>
              </a:rPr>
              <a:t>Chunk</a:t>
            </a:r>
            <a:r>
              <a:rPr lang="zh-TW" altLang="en-US" sz="1200" b="1" dirty="0">
                <a:solidFill>
                  <a:schemeClr val="accent4"/>
                </a:solidFill>
                <a:ea typeface="微軟正黑體" panose="020B0604030504040204" pitchFamily="34" charset="-120"/>
              </a:rPr>
              <a:t> </a:t>
            </a:r>
            <a:r>
              <a:rPr lang="en-US" altLang="zh-TW" sz="1200" b="1" dirty="0">
                <a:solidFill>
                  <a:schemeClr val="accent4"/>
                </a:solidFill>
                <a:ea typeface="微軟正黑體" panose="020B0604030504040204" pitchFamily="34" charset="-120"/>
              </a:rPr>
              <a:t>i</a:t>
            </a:r>
            <a:endParaRPr lang="en-US" altLang="zh-TW" sz="1200" b="1" baseline="-25000" dirty="0">
              <a:solidFill>
                <a:schemeClr val="accent4"/>
              </a:solidFill>
              <a:ea typeface="微軟正黑體" panose="020B0604030504040204" pitchFamily="34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C659C00-F108-9AFF-93AA-64D303674647}"/>
              </a:ext>
            </a:extLst>
          </p:cNvPr>
          <p:cNvSpPr txBox="1"/>
          <p:nvPr/>
        </p:nvSpPr>
        <p:spPr>
          <a:xfrm>
            <a:off x="4670896" y="5065700"/>
            <a:ext cx="140374" cy="653834"/>
          </a:xfrm>
          <a:prstGeom prst="rect">
            <a:avLst/>
          </a:prstGeom>
          <a:solidFill>
            <a:schemeClr val="bg1">
              <a:alpha val="60000"/>
            </a:schemeClr>
          </a:solidFill>
          <a:ln w="15875">
            <a:solidFill>
              <a:schemeClr val="accent3"/>
            </a:solidFill>
            <a:prstDash val="sysDot"/>
          </a:ln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200" dirty="0">
                <a:solidFill>
                  <a:schemeClr val="accent3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</a:t>
            </a:r>
            <a:r>
              <a:rPr lang="en-US" altLang="zh-TW" sz="1200" baseline="-25000" dirty="0">
                <a:solidFill>
                  <a:schemeClr val="accent3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</a:t>
            </a:r>
            <a:endParaRPr lang="zh-TW" altLang="en-US" sz="1200" baseline="-25000" dirty="0">
              <a:solidFill>
                <a:schemeClr val="accent3">
                  <a:lumMod val="75000"/>
                </a:scheme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7919357-781A-4363-AEE4-4A142848CFFD}"/>
              </a:ext>
            </a:extLst>
          </p:cNvPr>
          <p:cNvSpPr txBox="1"/>
          <p:nvPr/>
        </p:nvSpPr>
        <p:spPr>
          <a:xfrm>
            <a:off x="4886920" y="5065700"/>
            <a:ext cx="140374" cy="653834"/>
          </a:xfrm>
          <a:prstGeom prst="rect">
            <a:avLst/>
          </a:prstGeom>
          <a:solidFill>
            <a:schemeClr val="bg1">
              <a:alpha val="60000"/>
            </a:schemeClr>
          </a:solidFill>
          <a:ln w="15875">
            <a:solidFill>
              <a:schemeClr val="accent3"/>
            </a:solidFill>
            <a:prstDash val="sysDot"/>
          </a:ln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200" dirty="0">
                <a:solidFill>
                  <a:schemeClr val="accent3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</a:t>
            </a:r>
            <a:r>
              <a:rPr lang="en-US" altLang="zh-TW" sz="1200" baseline="-25000" dirty="0">
                <a:solidFill>
                  <a:schemeClr val="accent3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2</a:t>
            </a:r>
            <a:endParaRPr lang="zh-TW" altLang="en-US" sz="1200" baseline="-25000" dirty="0">
              <a:solidFill>
                <a:schemeClr val="accent3">
                  <a:lumMod val="75000"/>
                </a:scheme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ECCD530-EE31-4059-40A4-64FF6A8BA373}"/>
              </a:ext>
            </a:extLst>
          </p:cNvPr>
          <p:cNvSpPr txBox="1"/>
          <p:nvPr/>
        </p:nvSpPr>
        <p:spPr>
          <a:xfrm>
            <a:off x="5462984" y="5065700"/>
            <a:ext cx="140374" cy="653834"/>
          </a:xfrm>
          <a:prstGeom prst="rect">
            <a:avLst/>
          </a:prstGeom>
          <a:solidFill>
            <a:schemeClr val="bg1">
              <a:alpha val="60000"/>
            </a:schemeClr>
          </a:solidFill>
          <a:ln w="15875">
            <a:solidFill>
              <a:schemeClr val="accent3"/>
            </a:solidFill>
            <a:prstDash val="sysDot"/>
          </a:ln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200" dirty="0">
                <a:solidFill>
                  <a:schemeClr val="accent3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</a:t>
            </a:r>
            <a:r>
              <a:rPr lang="en-US" altLang="zh-TW" sz="1200" baseline="-25000" dirty="0">
                <a:solidFill>
                  <a:schemeClr val="accent3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t-1</a:t>
            </a:r>
            <a:endParaRPr lang="zh-TW" altLang="en-US" sz="1200" baseline="-25000" dirty="0">
              <a:solidFill>
                <a:schemeClr val="accent3">
                  <a:lumMod val="75000"/>
                </a:scheme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E6695D2-14C9-BD74-576C-191B351E01E4}"/>
              </a:ext>
            </a:extLst>
          </p:cNvPr>
          <p:cNvSpPr txBox="1"/>
          <p:nvPr/>
        </p:nvSpPr>
        <p:spPr>
          <a:xfrm>
            <a:off x="5102944" y="5065700"/>
            <a:ext cx="293061" cy="653834"/>
          </a:xfrm>
          <a:prstGeom prst="rect">
            <a:avLst/>
          </a:prstGeom>
          <a:solidFill>
            <a:schemeClr val="bg1">
              <a:alpha val="60000"/>
            </a:schemeClr>
          </a:solidFill>
          <a:ln w="15875">
            <a:solidFill>
              <a:schemeClr val="accent3"/>
            </a:solidFill>
            <a:prstDash val="sysDot"/>
          </a:ln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200" dirty="0">
                <a:solidFill>
                  <a:schemeClr val="accent3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…</a:t>
            </a:r>
            <a:endParaRPr lang="zh-TW" altLang="en-US" sz="1200" baseline="-25000" dirty="0">
              <a:solidFill>
                <a:schemeClr val="accent3">
                  <a:lumMod val="75000"/>
                </a:scheme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9D844FCB-6A4C-BB81-B39F-153A9A9DFC8E}"/>
              </a:ext>
            </a:extLst>
          </p:cNvPr>
          <p:cNvSpPr txBox="1"/>
          <p:nvPr/>
        </p:nvSpPr>
        <p:spPr>
          <a:xfrm>
            <a:off x="6327309" y="4366615"/>
            <a:ext cx="166215" cy="1063521"/>
          </a:xfrm>
          <a:prstGeom prst="rect">
            <a:avLst/>
          </a:prstGeom>
          <a:noFill/>
          <a:ln w="15875">
            <a:solidFill>
              <a:schemeClr val="accent2">
                <a:lumMod val="40000"/>
                <a:lumOff val="60000"/>
              </a:schemeClr>
            </a:solidFill>
            <a:prstDash val="sysDot"/>
          </a:ln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dirty="0">
                <a:solidFill>
                  <a:schemeClr val="accent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q</a:t>
            </a:r>
            <a:r>
              <a:rPr lang="en-US" altLang="zh-TW" baseline="-25000" dirty="0">
                <a:solidFill>
                  <a:schemeClr val="accent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</a:t>
            </a:r>
            <a:endParaRPr lang="zh-TW" altLang="en-US" baseline="-25000" dirty="0">
              <a:solidFill>
                <a:schemeClr val="accent2">
                  <a:lumMod val="60000"/>
                  <a:lumOff val="40000"/>
                </a:scheme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A18F84F-6A9D-10A9-2342-7913D9335F86}"/>
              </a:ext>
            </a:extLst>
          </p:cNvPr>
          <p:cNvSpPr/>
          <p:nvPr/>
        </p:nvSpPr>
        <p:spPr>
          <a:xfrm>
            <a:off x="1366214" y="5388061"/>
            <a:ext cx="325466" cy="345195"/>
          </a:xfrm>
          <a:prstGeom prst="rect">
            <a:avLst/>
          </a:prstGeom>
          <a:solidFill>
            <a:schemeClr val="accent2">
              <a:lumMod val="20000"/>
              <a:lumOff val="80000"/>
              <a:alpha val="20000"/>
            </a:schemeClr>
          </a:solidFill>
          <a:ln w="15875">
            <a:solidFill>
              <a:schemeClr val="accent2">
                <a:lumMod val="60000"/>
                <a:lumOff val="40000"/>
                <a:alpha val="8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288" tIns="0" rIns="0" bIns="0" rtlCol="0" anchor="t" anchorCtr="0"/>
          <a:lstStyle/>
          <a:p>
            <a:r>
              <a:rPr lang="en-US" altLang="zh-TW" sz="1200" b="1" baseline="-25000" dirty="0">
                <a:solidFill>
                  <a:srgbClr val="C00000"/>
                </a:solidFill>
              </a:rPr>
              <a:t>0</a:t>
            </a:r>
            <a:endParaRPr lang="zh-TW" altLang="en-US" sz="1200" b="1" baseline="-25000" dirty="0">
              <a:solidFill>
                <a:srgbClr val="C00000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FFF3627-5BF4-5688-C389-6C75579C4BF9}"/>
              </a:ext>
            </a:extLst>
          </p:cNvPr>
          <p:cNvSpPr/>
          <p:nvPr/>
        </p:nvSpPr>
        <p:spPr>
          <a:xfrm>
            <a:off x="1447081" y="5469594"/>
            <a:ext cx="325466" cy="345195"/>
          </a:xfrm>
          <a:prstGeom prst="rect">
            <a:avLst/>
          </a:prstGeom>
          <a:solidFill>
            <a:schemeClr val="accent2">
              <a:lumMod val="20000"/>
              <a:lumOff val="80000"/>
              <a:alpha val="20000"/>
            </a:schemeClr>
          </a:solidFill>
          <a:ln w="15875">
            <a:solidFill>
              <a:schemeClr val="accent2">
                <a:lumMod val="60000"/>
                <a:lumOff val="40000"/>
                <a:alpha val="8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288" tIns="0" rIns="0" bIns="0" rtlCol="0" anchor="t" anchorCtr="0"/>
          <a:lstStyle/>
          <a:p>
            <a:r>
              <a:rPr lang="en-US" altLang="zh-TW" sz="1200" b="1" baseline="-25000" dirty="0">
                <a:solidFill>
                  <a:srgbClr val="C00000"/>
                </a:solidFill>
              </a:rPr>
              <a:t>1</a:t>
            </a:r>
            <a:endParaRPr lang="zh-TW" altLang="en-US" sz="1200" b="1" baseline="-25000" dirty="0">
              <a:solidFill>
                <a:srgbClr val="C00000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CA43EF8-ECB5-B5C0-09B8-280B541B2CDC}"/>
              </a:ext>
            </a:extLst>
          </p:cNvPr>
          <p:cNvSpPr/>
          <p:nvPr/>
        </p:nvSpPr>
        <p:spPr>
          <a:xfrm>
            <a:off x="1547664" y="5589227"/>
            <a:ext cx="325466" cy="345195"/>
          </a:xfrm>
          <a:prstGeom prst="rect">
            <a:avLst/>
          </a:prstGeom>
          <a:solidFill>
            <a:schemeClr val="accent2">
              <a:lumMod val="20000"/>
              <a:lumOff val="80000"/>
              <a:alpha val="20000"/>
            </a:schemeClr>
          </a:solidFill>
          <a:ln w="15875">
            <a:solidFill>
              <a:schemeClr val="accent2">
                <a:lumMod val="60000"/>
                <a:lumOff val="40000"/>
                <a:alpha val="8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576" tIns="0" rIns="0" bIns="0" rtlCol="0" anchor="t" anchorCtr="0"/>
          <a:lstStyle/>
          <a:p>
            <a:pPr>
              <a:lnSpc>
                <a:spcPts val="400"/>
              </a:lnSpc>
            </a:pPr>
            <a:r>
              <a:rPr lang="en-US" altLang="zh-TW" sz="1200" b="1" baseline="-25000" dirty="0">
                <a:solidFill>
                  <a:srgbClr val="C00000"/>
                </a:solidFill>
              </a:rPr>
              <a:t>.. .</a:t>
            </a:r>
            <a:endParaRPr lang="zh-TW" altLang="en-US" sz="1200" b="1" baseline="-25000" dirty="0">
              <a:solidFill>
                <a:srgbClr val="C00000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4B90B7F-4E7C-40A9-68BF-658D47030760}"/>
              </a:ext>
            </a:extLst>
          </p:cNvPr>
          <p:cNvSpPr/>
          <p:nvPr/>
        </p:nvSpPr>
        <p:spPr>
          <a:xfrm>
            <a:off x="3635896" y="5542731"/>
            <a:ext cx="648072" cy="982613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548640" rIns="0" bIns="0" rtlCol="0" anchor="ctr" anchorCtr="1"/>
          <a:lstStyle/>
          <a:p>
            <a:pPr algn="ctr">
              <a:lnSpc>
                <a:spcPts val="1600"/>
              </a:lnSpc>
            </a:pPr>
            <a:r>
              <a:rPr lang="en-US" altLang="zh-TW" sz="1400" b="1" dirty="0">
                <a:solidFill>
                  <a:schemeClr val="tx1"/>
                </a:solidFill>
                <a:ea typeface="微軟正黑體" panose="020B0604030504040204" pitchFamily="34" charset="-120"/>
              </a:rPr>
              <a:t>X</a:t>
            </a:r>
            <a:endParaRPr lang="en-US" altLang="zh-TW" sz="1400" b="1" baseline="-25000" dirty="0">
              <a:solidFill>
                <a:schemeClr val="tx1"/>
              </a:solidFill>
              <a:ea typeface="微軟正黑體" panose="020B0604030504040204" pitchFamily="34" charset="-120"/>
            </a:endParaRPr>
          </a:p>
        </p:txBody>
      </p:sp>
      <p:grpSp>
        <p:nvGrpSpPr>
          <p:cNvPr id="37" name="群組 36">
            <a:extLst>
              <a:ext uri="{FF2B5EF4-FFF2-40B4-BE49-F238E27FC236}">
                <a16:creationId xmlns:a16="http://schemas.microsoft.com/office/drawing/2014/main" id="{0EBC2C99-051D-1A8C-FA89-789E91051686}"/>
              </a:ext>
            </a:extLst>
          </p:cNvPr>
          <p:cNvGrpSpPr/>
          <p:nvPr/>
        </p:nvGrpSpPr>
        <p:grpSpPr>
          <a:xfrm>
            <a:off x="208087" y="5369426"/>
            <a:ext cx="981422" cy="1155918"/>
            <a:chOff x="1223839" y="4497831"/>
            <a:chExt cx="981422" cy="1155918"/>
          </a:xfrm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E53F2F20-3538-8EF5-E325-625A87CFF3B1}"/>
                </a:ext>
              </a:extLst>
            </p:cNvPr>
            <p:cNvSpPr/>
            <p:nvPr/>
          </p:nvSpPr>
          <p:spPr>
            <a:xfrm>
              <a:off x="1547664" y="4671136"/>
              <a:ext cx="648072" cy="9826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548640" rIns="0" bIns="0" rtlCol="0" anchor="ctr" anchorCtr="1"/>
            <a:lstStyle/>
            <a:p>
              <a:pPr algn="ctr">
                <a:lnSpc>
                  <a:spcPts val="1600"/>
                </a:lnSpc>
              </a:pPr>
              <a:r>
                <a:rPr lang="en-US" altLang="zh-TW" sz="1400" b="1" dirty="0">
                  <a:solidFill>
                    <a:schemeClr val="tx1"/>
                  </a:solidFill>
                  <a:ea typeface="微軟正黑體" panose="020B0604030504040204" pitchFamily="34" charset="-120"/>
                </a:rPr>
                <a:t>X</a:t>
              </a:r>
              <a:endParaRPr lang="en-US" altLang="zh-TW" sz="1400" b="1" baseline="-25000" dirty="0">
                <a:solidFill>
                  <a:schemeClr val="tx1"/>
                </a:solidFill>
                <a:ea typeface="微軟正黑體" panose="020B0604030504040204" pitchFamily="34" charset="-120"/>
              </a:endParaRPr>
            </a:p>
          </p:txBody>
        </p: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A755035E-797B-724F-F97D-1AA44912DFE5}"/>
                </a:ext>
              </a:extLst>
            </p:cNvPr>
            <p:cNvSpPr txBox="1"/>
            <p:nvPr/>
          </p:nvSpPr>
          <p:spPr>
            <a:xfrm>
              <a:off x="1601860" y="4497831"/>
              <a:ext cx="601913" cy="15263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algn="ctr"/>
              <a:r>
                <a:rPr lang="en-US" altLang="zh-TW" sz="1200" b="1" dirty="0"/>
                <a:t>n x (c*d)</a:t>
              </a:r>
              <a:endParaRPr lang="zh-TW" altLang="en-US" sz="1200" b="1" dirty="0"/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B469E8D9-6E60-D809-5379-6EF9DC8A0FBC}"/>
                </a:ext>
              </a:extLst>
            </p:cNvPr>
            <p:cNvSpPr/>
            <p:nvPr/>
          </p:nvSpPr>
          <p:spPr>
            <a:xfrm>
              <a:off x="1551428" y="4858221"/>
              <a:ext cx="653833" cy="375988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40000"/>
              </a:schemeClr>
            </a:solidFill>
            <a:ln w="15875">
              <a:solidFill>
                <a:schemeClr val="accent4">
                  <a:lumMod val="60000"/>
                  <a:lumOff val="40000"/>
                </a:schemeClr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1"/>
            <a:lstStyle/>
            <a:p>
              <a:pPr algn="ctr">
                <a:lnSpc>
                  <a:spcPts val="1500"/>
                </a:lnSpc>
              </a:pPr>
              <a:r>
                <a:rPr lang="en-US" altLang="zh-TW" sz="1200" b="1" dirty="0">
                  <a:solidFill>
                    <a:schemeClr val="accent4"/>
                  </a:solidFill>
                  <a:ea typeface="微軟正黑體" panose="020B0604030504040204" pitchFamily="34" charset="-120"/>
                </a:rPr>
                <a:t>Chunk</a:t>
              </a:r>
              <a:r>
                <a:rPr lang="zh-TW" altLang="en-US" sz="1200" b="1" dirty="0">
                  <a:solidFill>
                    <a:schemeClr val="accent4"/>
                  </a:solidFill>
                  <a:ea typeface="微軟正黑體" panose="020B0604030504040204" pitchFamily="34" charset="-120"/>
                </a:rPr>
                <a:t> </a:t>
              </a:r>
              <a:r>
                <a:rPr lang="en-US" altLang="zh-TW" sz="1200" b="1" dirty="0">
                  <a:solidFill>
                    <a:schemeClr val="accent4"/>
                  </a:solidFill>
                  <a:ea typeface="微軟正黑體" panose="020B0604030504040204" pitchFamily="34" charset="-120"/>
                </a:rPr>
                <a:t>i</a:t>
              </a:r>
              <a:endParaRPr lang="en-US" altLang="zh-TW" sz="1200" b="1" baseline="-25000" dirty="0">
                <a:solidFill>
                  <a:schemeClr val="accent4"/>
                </a:solidFill>
                <a:ea typeface="微軟正黑體" panose="020B0604030504040204" pitchFamily="34" charset="-120"/>
              </a:endParaRPr>
            </a:p>
          </p:txBody>
        </p:sp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0BCF83CC-C0FC-A6D4-4327-CD423B0FB698}"/>
                </a:ext>
              </a:extLst>
            </p:cNvPr>
            <p:cNvSpPr txBox="1"/>
            <p:nvPr/>
          </p:nvSpPr>
          <p:spPr>
            <a:xfrm>
              <a:off x="1734338" y="4789653"/>
              <a:ext cx="293061" cy="129042"/>
            </a:xfrm>
            <a:prstGeom prst="rect">
              <a:avLst/>
            </a:prstGeom>
            <a:solidFill>
              <a:schemeClr val="bg1">
                <a:alpha val="40000"/>
              </a:schemeClr>
            </a:solidFill>
          </p:spPr>
          <p:txBody>
            <a:bodyPr wrap="none" lIns="0" tIns="0" rIns="0" bIns="0" rtlCol="0" anchor="ctr" anchorCtr="1">
              <a:noAutofit/>
            </a:bodyPr>
            <a:lstStyle/>
            <a:p>
              <a:pPr algn="ctr"/>
              <a:r>
                <a:rPr lang="en-US" altLang="zh-TW" sz="1200" b="1" dirty="0">
                  <a:solidFill>
                    <a:schemeClr val="accent4"/>
                  </a:solidFill>
                </a:rPr>
                <a:t>c*d</a:t>
              </a:r>
              <a:endParaRPr lang="zh-TW" altLang="en-US" sz="1200" b="1" dirty="0">
                <a:solidFill>
                  <a:schemeClr val="accent4"/>
                </a:solidFill>
              </a:endParaRPr>
            </a:p>
          </p:txBody>
        </p:sp>
        <p:sp>
          <p:nvSpPr>
            <p:cNvPr id="43" name="左大括弧 42">
              <a:extLst>
                <a:ext uri="{FF2B5EF4-FFF2-40B4-BE49-F238E27FC236}">
                  <a16:creationId xmlns:a16="http://schemas.microsoft.com/office/drawing/2014/main" id="{5B3F2960-F063-1E79-30D7-2D331DC30912}"/>
                </a:ext>
              </a:extLst>
            </p:cNvPr>
            <p:cNvSpPr/>
            <p:nvPr/>
          </p:nvSpPr>
          <p:spPr>
            <a:xfrm>
              <a:off x="1340730" y="4876508"/>
              <a:ext cx="144016" cy="345194"/>
            </a:xfrm>
            <a:prstGeom prst="leftBrac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" name="文字方塊 43">
              <a:extLst>
                <a:ext uri="{FF2B5EF4-FFF2-40B4-BE49-F238E27FC236}">
                  <a16:creationId xmlns:a16="http://schemas.microsoft.com/office/drawing/2014/main" id="{614600A7-895C-4B9E-2086-6C164134CC75}"/>
                </a:ext>
              </a:extLst>
            </p:cNvPr>
            <p:cNvSpPr txBox="1"/>
            <p:nvPr/>
          </p:nvSpPr>
          <p:spPr>
            <a:xfrm>
              <a:off x="1223839" y="4939326"/>
              <a:ext cx="108012" cy="195509"/>
            </a:xfrm>
            <a:prstGeom prst="rect">
              <a:avLst/>
            </a:prstGeom>
            <a:solidFill>
              <a:schemeClr val="bg1">
                <a:alpha val="40000"/>
              </a:schemeClr>
            </a:solidFill>
          </p:spPr>
          <p:txBody>
            <a:bodyPr wrap="none" lIns="0" tIns="0" rIns="0" bIns="0" rtlCol="0" anchor="ctr" anchorCtr="1">
              <a:noAutofit/>
            </a:bodyPr>
            <a:lstStyle/>
            <a:p>
              <a:pPr algn="ctr"/>
              <a:r>
                <a:rPr lang="en-US" altLang="zh-TW" sz="1400" b="1" dirty="0">
                  <a:solidFill>
                    <a:schemeClr val="accent2"/>
                  </a:solidFill>
                </a:rPr>
                <a:t>c</a:t>
              </a:r>
              <a:endParaRPr lang="zh-TW" altLang="en-US" sz="1400" b="1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41F2D5E6-BB46-8AE0-20A8-7D731FE881BA}"/>
              </a:ext>
            </a:extLst>
          </p:cNvPr>
          <p:cNvSpPr txBox="1"/>
          <p:nvPr/>
        </p:nvSpPr>
        <p:spPr>
          <a:xfrm>
            <a:off x="510028" y="6122507"/>
            <a:ext cx="173540" cy="375988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600"/>
              </a:lnSpc>
            </a:pPr>
            <a:r>
              <a:rPr lang="en-US" altLang="zh-TW" sz="1200" b="1" dirty="0">
                <a:solidFill>
                  <a:schemeClr val="accent2"/>
                </a:solidFill>
              </a:rPr>
              <a:t>.</a:t>
            </a:r>
          </a:p>
          <a:p>
            <a:pPr algn="ctr">
              <a:lnSpc>
                <a:spcPts val="600"/>
              </a:lnSpc>
            </a:pPr>
            <a:r>
              <a:rPr lang="en-US" altLang="zh-TW" sz="1200" b="1" dirty="0">
                <a:solidFill>
                  <a:schemeClr val="accent2"/>
                </a:solidFill>
              </a:rPr>
              <a:t>.</a:t>
            </a:r>
          </a:p>
          <a:p>
            <a:pPr algn="ctr">
              <a:lnSpc>
                <a:spcPts val="600"/>
              </a:lnSpc>
            </a:pPr>
            <a:r>
              <a:rPr lang="en-US" altLang="zh-TW" sz="1200" b="1" dirty="0">
                <a:solidFill>
                  <a:schemeClr val="accent2"/>
                </a:solidFill>
              </a:rPr>
              <a:t>.</a:t>
            </a:r>
          </a:p>
          <a:p>
            <a:pPr algn="ctr">
              <a:lnSpc>
                <a:spcPts val="600"/>
              </a:lnSpc>
            </a:pPr>
            <a:endParaRPr lang="en-US" altLang="zh-TW" sz="1200" b="1" dirty="0">
              <a:solidFill>
                <a:schemeClr val="accent2"/>
              </a:solidFill>
            </a:endParaRPr>
          </a:p>
          <a:p>
            <a:pPr algn="ctr">
              <a:lnSpc>
                <a:spcPts val="600"/>
              </a:lnSpc>
            </a:pPr>
            <a:r>
              <a:rPr lang="en-US" altLang="zh-TW" sz="1200" b="1" dirty="0">
                <a:solidFill>
                  <a:schemeClr val="accent2"/>
                </a:solidFill>
              </a:rPr>
              <a:t>n</a:t>
            </a:r>
            <a:endParaRPr lang="zh-TW" altLang="en-US" sz="1200" b="1" dirty="0">
              <a:solidFill>
                <a:schemeClr val="accent2"/>
              </a:solidFill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F67716BF-F2E0-7A2B-46C8-97B004720FBB}"/>
              </a:ext>
            </a:extLst>
          </p:cNvPr>
          <p:cNvSpPr/>
          <p:nvPr/>
        </p:nvSpPr>
        <p:spPr>
          <a:xfrm>
            <a:off x="1889320" y="5722165"/>
            <a:ext cx="365760" cy="365760"/>
          </a:xfrm>
          <a:prstGeom prst="rect">
            <a:avLst/>
          </a:prstGeom>
          <a:solidFill>
            <a:schemeClr val="accent2">
              <a:lumMod val="20000"/>
              <a:lumOff val="80000"/>
              <a:alpha val="7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400" b="1" dirty="0">
                <a:solidFill>
                  <a:schemeClr val="accent2"/>
                </a:solidFill>
              </a:rPr>
              <a:t>H</a:t>
            </a:r>
            <a:r>
              <a:rPr lang="en-US" altLang="zh-TW" sz="1400" b="1" baseline="-25000" dirty="0">
                <a:solidFill>
                  <a:schemeClr val="accent2"/>
                </a:solidFill>
              </a:rPr>
              <a:t>i</a:t>
            </a:r>
            <a:endParaRPr lang="zh-TW" altLang="en-US" sz="1400" b="1" baseline="-25000" dirty="0">
              <a:solidFill>
                <a:schemeClr val="accent4"/>
              </a:solidFill>
            </a:endParaRP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DE3C29B2-04B4-6AF9-33D5-2FBCD439807A}"/>
              </a:ext>
            </a:extLst>
          </p:cNvPr>
          <p:cNvSpPr txBox="1"/>
          <p:nvPr/>
        </p:nvSpPr>
        <p:spPr>
          <a:xfrm>
            <a:off x="1662274" y="5731691"/>
            <a:ext cx="144016" cy="335670"/>
          </a:xfrm>
          <a:prstGeom prst="rect">
            <a:avLst/>
          </a:prstGeom>
          <a:solidFill>
            <a:schemeClr val="bg1">
              <a:alpha val="60000"/>
            </a:schemeClr>
          </a:solidFill>
          <a:ln w="15875">
            <a:solidFill>
              <a:schemeClr val="accent3"/>
            </a:solidFill>
            <a:prstDash val="sysDot"/>
          </a:ln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200" dirty="0">
                <a:solidFill>
                  <a:schemeClr val="accent3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</a:t>
            </a:r>
            <a:r>
              <a:rPr lang="en-US" altLang="zh-TW" sz="1200" baseline="-25000" dirty="0">
                <a:solidFill>
                  <a:schemeClr val="accent3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</a:t>
            </a:r>
            <a:endParaRPr lang="zh-TW" altLang="en-US" sz="1200" baseline="-25000" dirty="0">
              <a:solidFill>
                <a:schemeClr val="accent3">
                  <a:lumMod val="75000"/>
                </a:scheme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D43B6497-6F2C-5FF6-9544-41D9076E4A82}"/>
              </a:ext>
            </a:extLst>
          </p:cNvPr>
          <p:cNvSpPr/>
          <p:nvPr/>
        </p:nvSpPr>
        <p:spPr>
          <a:xfrm>
            <a:off x="2478048" y="5722165"/>
            <a:ext cx="365760" cy="365760"/>
          </a:xfrm>
          <a:prstGeom prst="rect">
            <a:avLst/>
          </a:prstGeom>
          <a:solidFill>
            <a:schemeClr val="accent4">
              <a:lumMod val="20000"/>
              <a:lumOff val="80000"/>
              <a:alpha val="60000"/>
            </a:schemeClr>
          </a:solidFill>
          <a:ln w="15875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400" b="1" dirty="0">
                <a:solidFill>
                  <a:schemeClr val="accent4"/>
                </a:solidFill>
              </a:rPr>
              <a:t>H</a:t>
            </a:r>
            <a:r>
              <a:rPr lang="en-US" altLang="zh-TW" sz="1400" b="1" baseline="-25000" dirty="0">
                <a:solidFill>
                  <a:schemeClr val="accent4"/>
                </a:solidFill>
              </a:rPr>
              <a:t>i+1</a:t>
            </a:r>
            <a:endParaRPr lang="zh-TW" altLang="en-US" sz="1400" b="1" baseline="-25000" dirty="0">
              <a:solidFill>
                <a:schemeClr val="accent4"/>
              </a:solidFill>
            </a:endParaRP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11E3D73A-E6E9-6CD7-24FB-B00AF9BA3832}"/>
              </a:ext>
            </a:extLst>
          </p:cNvPr>
          <p:cNvSpPr txBox="1"/>
          <p:nvPr/>
        </p:nvSpPr>
        <p:spPr>
          <a:xfrm>
            <a:off x="3131840" y="5753771"/>
            <a:ext cx="225603" cy="274320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000" b="1" dirty="0">
                <a:latin typeface="Noto Sans HK" panose="020B0200000000000000" pitchFamily="34" charset="-120"/>
                <a:ea typeface="Noto Sans HK" panose="020B0200000000000000" pitchFamily="34" charset="-120"/>
                <a:cs typeface="ADLaM Display" panose="02010000000000000000" pitchFamily="2" charset="0"/>
                <a:sym typeface="Wingdings" panose="05000000000000000000" pitchFamily="2" charset="2"/>
              </a:rPr>
              <a:t>…</a:t>
            </a:r>
            <a:endParaRPr lang="zh-TW" altLang="en-US" sz="1000" b="1" dirty="0">
              <a:latin typeface="Noto Sans HK" panose="020B0200000000000000" pitchFamily="34" charset="-120"/>
              <a:ea typeface="Noto Sans HK" panose="020B0200000000000000" pitchFamily="34" charset="-120"/>
              <a:cs typeface="ADLaM Display" panose="02010000000000000000" pitchFamily="2" charset="0"/>
            </a:endParaRP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3CDE3740-12D7-09A6-BC28-5ED6F1768D24}"/>
              </a:ext>
            </a:extLst>
          </p:cNvPr>
          <p:cNvSpPr txBox="1"/>
          <p:nvPr/>
        </p:nvSpPr>
        <p:spPr>
          <a:xfrm>
            <a:off x="2514397" y="5516167"/>
            <a:ext cx="293061" cy="14497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200" b="1" dirty="0"/>
              <a:t>d*d</a:t>
            </a:r>
            <a:endParaRPr lang="zh-TW" altLang="en-US" sz="1200" b="1" dirty="0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BBA056B1-20F1-344F-9FE5-8636BF9D8326}"/>
              </a:ext>
            </a:extLst>
          </p:cNvPr>
          <p:cNvSpPr txBox="1"/>
          <p:nvPr/>
        </p:nvSpPr>
        <p:spPr>
          <a:xfrm>
            <a:off x="2909659" y="5722163"/>
            <a:ext cx="176167" cy="365761"/>
          </a:xfrm>
          <a:prstGeom prst="rect">
            <a:avLst/>
          </a:prstGeom>
          <a:noFill/>
          <a:ln w="15875">
            <a:solidFill>
              <a:schemeClr val="accent2">
                <a:lumMod val="40000"/>
                <a:lumOff val="60000"/>
              </a:schemeClr>
            </a:solidFill>
            <a:prstDash val="sysDot"/>
          </a:ln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200" dirty="0">
                <a:solidFill>
                  <a:schemeClr val="accent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Q</a:t>
            </a:r>
            <a:r>
              <a:rPr lang="en-US" altLang="zh-TW" sz="1200" baseline="-25000" dirty="0">
                <a:solidFill>
                  <a:schemeClr val="accent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</a:t>
            </a:r>
            <a:endParaRPr lang="zh-TW" altLang="en-US" sz="1200" baseline="-25000" dirty="0">
              <a:solidFill>
                <a:schemeClr val="accent2">
                  <a:lumMod val="60000"/>
                  <a:lumOff val="40000"/>
                </a:scheme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9C16A4CB-87D0-3861-6C7C-634471DF07E0}"/>
              </a:ext>
            </a:extLst>
          </p:cNvPr>
          <p:cNvSpPr txBox="1"/>
          <p:nvPr/>
        </p:nvSpPr>
        <p:spPr>
          <a:xfrm>
            <a:off x="2838779" y="5516845"/>
            <a:ext cx="293061" cy="14497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200" b="1" dirty="0"/>
              <a:t>d*c</a:t>
            </a:r>
            <a:endParaRPr lang="zh-TW" altLang="en-US" sz="1200" b="1" dirty="0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172E72AB-F1E4-FCF8-1C57-6D61AB29F17B}"/>
              </a:ext>
            </a:extLst>
          </p:cNvPr>
          <p:cNvSpPr/>
          <p:nvPr/>
        </p:nvSpPr>
        <p:spPr>
          <a:xfrm>
            <a:off x="3635896" y="5730433"/>
            <a:ext cx="648072" cy="365760"/>
          </a:xfrm>
          <a:prstGeom prst="rect">
            <a:avLst/>
          </a:prstGeom>
          <a:solidFill>
            <a:schemeClr val="accent4">
              <a:lumMod val="40000"/>
              <a:lumOff val="60000"/>
              <a:alpha val="40000"/>
            </a:schemeClr>
          </a:solidFill>
          <a:ln w="15875">
            <a:solidFill>
              <a:schemeClr val="accent4">
                <a:lumMod val="75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500"/>
              </a:lnSpc>
            </a:pPr>
            <a:endParaRPr lang="en-US" altLang="zh-TW" sz="1400" b="1" baseline="-25000" dirty="0">
              <a:solidFill>
                <a:schemeClr val="accent2"/>
              </a:solidFill>
              <a:ea typeface="微軟正黑體" panose="020B0604030504040204" pitchFamily="34" charset="-120"/>
            </a:endParaRP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3B49A473-C327-E2A0-84CF-6F37B6507BF1}"/>
              </a:ext>
            </a:extLst>
          </p:cNvPr>
          <p:cNvSpPr txBox="1"/>
          <p:nvPr/>
        </p:nvSpPr>
        <p:spPr>
          <a:xfrm>
            <a:off x="3818316" y="5372261"/>
            <a:ext cx="293061" cy="14497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200" b="1" dirty="0"/>
              <a:t>N*d</a:t>
            </a:r>
            <a:endParaRPr lang="zh-TW" altLang="en-US" sz="1200" b="1" dirty="0"/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79EA3860-1F69-2D79-602B-BA8D9B745B75}"/>
              </a:ext>
            </a:extLst>
          </p:cNvPr>
          <p:cNvSpPr txBox="1"/>
          <p:nvPr/>
        </p:nvSpPr>
        <p:spPr>
          <a:xfrm>
            <a:off x="3433425" y="5494181"/>
            <a:ext cx="168024" cy="146620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400" b="1" dirty="0">
                <a:solidFill>
                  <a:srgbClr val="C00000"/>
                </a:solidFill>
              </a:rPr>
              <a:t>c</a:t>
            </a:r>
            <a:endParaRPr lang="zh-TW" altLang="en-US" sz="1400" b="1" dirty="0">
              <a:solidFill>
                <a:srgbClr val="C00000"/>
              </a:solidFill>
            </a:endParaRPr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77001742-9F31-1689-2B00-3009AFD6C1BB}"/>
              </a:ext>
            </a:extLst>
          </p:cNvPr>
          <p:cNvSpPr txBox="1"/>
          <p:nvPr/>
        </p:nvSpPr>
        <p:spPr>
          <a:xfrm>
            <a:off x="3056969" y="6210453"/>
            <a:ext cx="225603" cy="274320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400"/>
              </a:lnSpc>
            </a:pPr>
            <a:r>
              <a:rPr lang="el-GR" altLang="zh-TW" sz="1000" b="1" dirty="0">
                <a:latin typeface="Noto Sans HK" panose="020B0200000000000000" pitchFamily="34" charset="-120"/>
                <a:ea typeface="Noto Sans HK" panose="020B0200000000000000" pitchFamily="34" charset="-120"/>
                <a:cs typeface="ADLaM Display" panose="02010000000000000000" pitchFamily="2" charset="0"/>
                <a:sym typeface="Wingdings" panose="05000000000000000000" pitchFamily="2" charset="2"/>
              </a:rPr>
              <a:t>Σ</a:t>
            </a:r>
            <a:endParaRPr lang="zh-TW" altLang="en-US" sz="1000" b="1" dirty="0">
              <a:latin typeface="Noto Sans HK" panose="020B0200000000000000" pitchFamily="34" charset="-120"/>
              <a:ea typeface="Noto Sans HK" panose="020B0200000000000000" pitchFamily="34" charset="-120"/>
              <a:cs typeface="ADLaM Display" panose="02010000000000000000" pitchFamily="2" charset="0"/>
            </a:endParaRPr>
          </a:p>
        </p:txBody>
      </p:sp>
      <p:sp>
        <p:nvSpPr>
          <p:cNvPr id="59" name="箭號: 向下 58">
            <a:extLst>
              <a:ext uri="{FF2B5EF4-FFF2-40B4-BE49-F238E27FC236}">
                <a16:creationId xmlns:a16="http://schemas.microsoft.com/office/drawing/2014/main" id="{44F5A235-A599-CEE0-F402-1F6833A02B0B}"/>
              </a:ext>
            </a:extLst>
          </p:cNvPr>
          <p:cNvSpPr/>
          <p:nvPr/>
        </p:nvSpPr>
        <p:spPr>
          <a:xfrm rot="16200000">
            <a:off x="2100226" y="5812346"/>
            <a:ext cx="365761" cy="185395"/>
          </a:xfrm>
          <a:prstGeom prst="downArrow">
            <a:avLst/>
          </a:prstGeom>
          <a:solidFill>
            <a:schemeClr val="accent2">
              <a:lumMod val="40000"/>
              <a:lumOff val="60000"/>
              <a:alpha val="7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lIns="0" tIns="0" rIns="0" bIns="0" rtlCol="0" anchor="ctr" anchorCtr="1"/>
          <a:lstStyle/>
          <a:p>
            <a:pPr marL="0" marR="0" lvl="0" indent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zh-TW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HK" panose="020B0200000000000000" pitchFamily="34" charset="-120"/>
                <a:ea typeface="Noto Sans HK" panose="020B0200000000000000" pitchFamily="34" charset="-120"/>
                <a:cs typeface="ADLaM Display" panose="02010000000000000000" pitchFamily="2" charset="0"/>
                <a:sym typeface="Wingdings" panose="05000000000000000000" pitchFamily="2" charset="2"/>
              </a:rPr>
              <a:t>Σ</a:t>
            </a:r>
            <a:endParaRPr kumimoji="0" lang="zh-TW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HK" panose="020B0200000000000000" pitchFamily="34" charset="-120"/>
              <a:ea typeface="Noto Sans HK" panose="020B0200000000000000" pitchFamily="34" charset="-120"/>
              <a:cs typeface="ADLaM Display" panose="02010000000000000000" pitchFamily="2" charset="0"/>
            </a:endParaRPr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01EB94B7-A142-4A8C-82A9-669902EDF512}"/>
              </a:ext>
            </a:extLst>
          </p:cNvPr>
          <p:cNvSpPr txBox="1"/>
          <p:nvPr/>
        </p:nvSpPr>
        <p:spPr>
          <a:xfrm>
            <a:off x="1916398" y="5354865"/>
            <a:ext cx="293061" cy="144971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200" b="1" dirty="0">
                <a:solidFill>
                  <a:schemeClr val="bg1">
                    <a:lumMod val="65000"/>
                  </a:schemeClr>
                </a:solidFill>
              </a:rPr>
              <a:t>c</a:t>
            </a:r>
            <a:r>
              <a:rPr lang="en-US" altLang="zh-TW" sz="1200" b="1" dirty="0"/>
              <a:t>*d</a:t>
            </a:r>
            <a:endParaRPr lang="zh-TW" altLang="en-US" sz="1200" b="1" dirty="0"/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894392B3-EA04-CA6F-4077-045635A3D3A2}"/>
              </a:ext>
            </a:extLst>
          </p:cNvPr>
          <p:cNvSpPr txBox="1"/>
          <p:nvPr/>
        </p:nvSpPr>
        <p:spPr>
          <a:xfrm>
            <a:off x="1890357" y="5508406"/>
            <a:ext cx="364723" cy="144971"/>
          </a:xfrm>
          <a:prstGeom prst="rect">
            <a:avLst/>
          </a:prstGeom>
          <a:solidFill>
            <a:schemeClr val="bg1">
              <a:alpha val="60000"/>
            </a:schemeClr>
          </a:solidFill>
          <a:ln w="15875">
            <a:solidFill>
              <a:schemeClr val="accent1">
                <a:lumMod val="40000"/>
                <a:lumOff val="60000"/>
              </a:schemeClr>
            </a:solidFill>
            <a:prstDash val="sysDot"/>
          </a:ln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200" dirty="0">
                <a:solidFill>
                  <a:schemeClr val="accent5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</a:t>
            </a:r>
            <a:r>
              <a:rPr lang="en-US" altLang="zh-TW" sz="1200" baseline="-25000" dirty="0">
                <a:solidFill>
                  <a:schemeClr val="accent5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</a:t>
            </a:r>
            <a:endParaRPr lang="zh-TW" altLang="en-US" sz="1200" baseline="-25000" dirty="0">
              <a:solidFill>
                <a:schemeClr val="accent5">
                  <a:lumMod val="75000"/>
                </a:scheme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895FF8EC-88B3-E494-CEBF-56740BDE2C50}"/>
              </a:ext>
            </a:extLst>
          </p:cNvPr>
          <p:cNvSpPr txBox="1"/>
          <p:nvPr/>
        </p:nvSpPr>
        <p:spPr>
          <a:xfrm>
            <a:off x="1595289" y="5577195"/>
            <a:ext cx="293061" cy="144971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200" b="1" dirty="0"/>
              <a:t>d*</a:t>
            </a:r>
            <a:r>
              <a:rPr lang="en-US" altLang="zh-TW" sz="1200" b="1" dirty="0">
                <a:solidFill>
                  <a:schemeClr val="bg1">
                    <a:lumMod val="65000"/>
                  </a:schemeClr>
                </a:solidFill>
              </a:rPr>
              <a:t>c</a:t>
            </a:r>
            <a:endParaRPr lang="zh-TW" altLang="en-US" sz="12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0A4BFDC0-1ADB-EB3B-BD74-A58FB3732FAE}"/>
              </a:ext>
            </a:extLst>
          </p:cNvPr>
          <p:cNvSpPr txBox="1"/>
          <p:nvPr/>
        </p:nvSpPr>
        <p:spPr>
          <a:xfrm>
            <a:off x="287524" y="980728"/>
            <a:ext cx="586865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19431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/>
              <a:t>Delta Rule</a:t>
            </a:r>
            <a:r>
              <a:rPr lang="en-US" altLang="zh-TW" sz="1600" dirty="0"/>
              <a:t>: ...</a:t>
            </a:r>
            <a:endParaRPr lang="en-US" altLang="zh-TW" sz="1400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653178E-3BCA-AF78-3E30-E31323A389C1}"/>
              </a:ext>
            </a:extLst>
          </p:cNvPr>
          <p:cNvSpPr/>
          <p:nvPr/>
        </p:nvSpPr>
        <p:spPr>
          <a:xfrm>
            <a:off x="4572000" y="1086203"/>
            <a:ext cx="1339534" cy="184667"/>
          </a:xfrm>
          <a:prstGeom prst="rect">
            <a:avLst/>
          </a:prstGeom>
          <a:noFill/>
          <a:ln w="190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>
            <a:noAutofit/>
          </a:bodyPr>
          <a:lstStyle/>
          <a:p>
            <a:pPr>
              <a:lnSpc>
                <a:spcPts val="1600"/>
              </a:lnSpc>
            </a:pPr>
            <a:r>
              <a:rPr lang="en-US" altLang="zh-TW" sz="1200" b="1" dirty="0">
                <a:solidFill>
                  <a:schemeClr val="tx2"/>
                </a:solidFill>
                <a:ea typeface="微軟正黑體" panose="020B0604030504040204" pitchFamily="34" charset="-120"/>
              </a:rPr>
              <a:t>Manba2/Gated LA </a:t>
            </a:r>
          </a:p>
        </p:txBody>
      </p: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875CBFC2-A30E-BF42-6B23-413C3CC24513}"/>
              </a:ext>
            </a:extLst>
          </p:cNvPr>
          <p:cNvGrpSpPr/>
          <p:nvPr/>
        </p:nvGrpSpPr>
        <p:grpSpPr>
          <a:xfrm>
            <a:off x="4572000" y="1342878"/>
            <a:ext cx="4198865" cy="762971"/>
            <a:chOff x="111742" y="2772698"/>
            <a:chExt cx="3904317" cy="76297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字方塊 26">
                  <a:extLst>
                    <a:ext uri="{FF2B5EF4-FFF2-40B4-BE49-F238E27FC236}">
                      <a16:creationId xmlns:a16="http://schemas.microsoft.com/office/drawing/2014/main" id="{11A67DC1-1773-F546-E1CA-8F94F33727FD}"/>
                    </a:ext>
                  </a:extLst>
                </p:cNvPr>
                <p:cNvSpPr txBox="1"/>
                <p:nvPr/>
              </p:nvSpPr>
              <p:spPr>
                <a:xfrm>
                  <a:off x="121015" y="2772698"/>
                  <a:ext cx="3830991" cy="2221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altLang="zh-TW" sz="12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1200" b="1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1200" b="1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𝛂</m:t>
                          </m:r>
                        </m:e>
                        <m:sub>
                          <m:r>
                            <a:rPr lang="en-US" altLang="zh-TW" sz="1200" b="1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𝐭</m:t>
                          </m:r>
                        </m:sub>
                      </m:sSub>
                      <m:r>
                        <a:rPr lang="en-US" altLang="zh-TW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zh-TW" sz="1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altLang="zh-TW" sz="1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TW" sz="12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1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m:rPr>
                          <m:nor/>
                        </m:rPr>
                        <a:rPr lang="en-US" altLang="zh-TW" sz="1200" i="0" dirty="0" smtClean="0"/>
                        <m:t> </m:t>
                      </m:r>
                      <m:sSubSup>
                        <m:sSubSupPr>
                          <m:ctrl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bSup>
                      <m:r>
                        <a:rPr lang="en-US" altLang="zh-TW" sz="1200" b="0" i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5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m:rPr>
                              <m:brk m:alnAt="25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5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  <m:e>
                          <m: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nary>
                            <m:naryPr>
                              <m:chr m:val="∏"/>
                              <m:limLoc m:val="subSup"/>
                              <m:ctrlPr>
                                <a:rPr lang="zh-TW" altLang="en-US" sz="1200" b="1" i="0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zh-TW" altLang="en-US" sz="1200" b="1" i="0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𝛕</m:t>
                              </m:r>
                              <m:r>
                                <m:rPr>
                                  <m:brk m:alnAt="25"/>
                                </m:rPr>
                                <a:rPr lang="en-US" altLang="zh-TW" sz="1200" b="1" i="0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5"/>
                                </m:rPr>
                                <a:rPr lang="en-US" altLang="zh-TW" sz="1200" b="1" i="0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𝐣</m:t>
                              </m:r>
                              <m:r>
                                <m:rPr>
                                  <m:brk m:alnAt="25"/>
                                </m:rPr>
                                <a:rPr lang="en-US" altLang="zh-TW" sz="1200" b="1" i="0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brk m:alnAt="25"/>
                                </m:rPr>
                                <a:rPr lang="en-US" altLang="zh-TW" sz="1200" b="1" i="0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TW" sz="1200" b="1" i="0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𝐭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TW" altLang="en-US" sz="1200" b="1" i="0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1200" b="1" i="0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𝛂</m:t>
                                  </m:r>
                                </m:e>
                                <m:sub>
                                  <m:r>
                                    <a:rPr lang="en-US" altLang="zh-TW" sz="1200" b="1" i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𝛕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altLang="zh-TW" sz="1200" b="0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200" b="0" i="0" smtClean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sz="1200" b="0" i="0" smtClean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altLang="zh-TW" sz="1200" i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200" i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sz="1200" i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zh-TW" sz="120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bSup>
                        </m:e>
                      </m:nary>
                      <m:r>
                        <a:rPr lang="en-US" altLang="zh-TW" sz="1200" b="0" i="0" smtClean="0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zh-TW" altLang="en-US" sz="1200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zh-TW" altLang="en-US" sz="120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1200" i="0" smtClean="0">
                              <a:latin typeface="Cambria Math" panose="02040503050406030204" pitchFamily="18" charset="0"/>
                            </a:rPr>
                            <m:t>α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zh-TW" altLang="en-US" sz="1200" i="0" smtClean="0">
                          <a:latin typeface="Cambria Math" panose="02040503050406030204" pitchFamily="18" charset="0"/>
                        </a:rPr>
                        <m:t>∈ </m:t>
                      </m:r>
                      <m:r>
                        <a:rPr lang="en-US" altLang="zh-TW" sz="1200" b="0" i="0" smtClean="0">
                          <a:latin typeface="Cambria Math" panose="02040503050406030204" pitchFamily="18" charset="0"/>
                        </a:rPr>
                        <m:t>(0,1)</m:t>
                      </m:r>
                    </m:oMath>
                  </a14:m>
                  <a:r>
                    <a:rPr lang="en-US" altLang="zh-TW" sz="1200" b="0" dirty="0">
                      <a:latin typeface="Cambria Math" panose="020405030504060302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53" name="文字方塊 52">
                  <a:extLst>
                    <a:ext uri="{FF2B5EF4-FFF2-40B4-BE49-F238E27FC236}">
                      <a16:creationId xmlns:a16="http://schemas.microsoft.com/office/drawing/2014/main" id="{A99C4051-802B-1A20-FE39-5DFE699E61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015" y="2772698"/>
                  <a:ext cx="3830991" cy="222177"/>
                </a:xfrm>
                <a:prstGeom prst="rect">
                  <a:avLst/>
                </a:prstGeom>
                <a:blipFill>
                  <a:blip r:embed="rId9"/>
                  <a:stretch>
                    <a:fillRect l="-1333" t="-138889" b="-21111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字方塊 27">
                  <a:extLst>
                    <a:ext uri="{FF2B5EF4-FFF2-40B4-BE49-F238E27FC236}">
                      <a16:creationId xmlns:a16="http://schemas.microsoft.com/office/drawing/2014/main" id="{96D73826-FBFB-FFE3-2BBD-A92E1B6B5521}"/>
                    </a:ext>
                  </a:extLst>
                </p:cNvPr>
                <p:cNvSpPr txBox="1"/>
                <p:nvPr/>
              </p:nvSpPr>
              <p:spPr>
                <a:xfrm>
                  <a:off x="111742" y="3127405"/>
                  <a:ext cx="3904317" cy="40826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>
                    <a:lnSpc>
                      <a:spcPts val="2000"/>
                    </a:lnSpc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en-US" altLang="zh-TW" sz="12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sz="1200">
                                <a:latin typeface="Cambria Math" panose="02040503050406030204" pitchFamily="18" charset="0"/>
                              </a:rPr>
                              <m:t>O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200"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  <m:r>
                          <a:rPr lang="en-US" altLang="zh-TW" sz="120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TW" altLang="en-US" sz="1200" b="1" i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1200" b="1" i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𝛂</m:t>
                            </m:r>
                          </m:e>
                          <m:sub>
                            <m:r>
                              <a:rPr lang="en-US" altLang="zh-TW" sz="1200" b="1" i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𝐭</m:t>
                            </m:r>
                          </m:sub>
                        </m:sSub>
                        <m:r>
                          <a:rPr lang="en-US" altLang="zh-TW" sz="120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altLang="zh-TW" sz="12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sz="120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200"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200">
                                <a:latin typeface="Cambria Math" panose="02040503050406030204" pitchFamily="18" charset="0"/>
                              </a:rPr>
                              <m:t>t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altLang="zh-TW" sz="120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 =</m:t>
                        </m:r>
                        <m:borderBox>
                          <m:borderBox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borderBoxPr>
                          <m:e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altLang="zh-TW" sz="120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sty m:val="p"/>
                                    <m:brk m:alnAt="25"/>
                                  </m:rPr>
                                  <a:rPr lang="en-US" altLang="zh-TW" sz="1200">
                                    <a:latin typeface="Cambria Math" panose="020405030504060302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brk m:alnAt="25"/>
                                  </m:rPr>
                                  <a:rPr lang="en-US" altLang="zh-TW" sz="12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brk m:alnAt="25"/>
                                  </m:rPr>
                                  <a:rPr lang="en-US" altLang="zh-TW" sz="12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zh-TW" sz="120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p>
                              <m:e>
                                <m:r>
                                  <a:rPr lang="el-GR" altLang="zh-TW" sz="1200" b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𝚪</m:t>
                                </m:r>
                                <m:d>
                                  <m:dPr>
                                    <m:ctrlP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altLang="zh-TW" sz="12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>
                                            <a:latin typeface="Cambria Math" panose="02040503050406030204" pitchFamily="18" charset="0"/>
                                          </a:rPr>
                                          <m:t>q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sub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sup>
                                    </m:sSubSup>
                                    <m:sSub>
                                      <m:sSubPr>
                                        <m:ctrlPr>
                                          <a:rPr lang="en-US" altLang="zh-TW" sz="12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>
                                            <a:latin typeface="Cambria Math" panose="02040503050406030204" pitchFamily="18" charset="0"/>
                                          </a:rPr>
                                          <m:t>k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>
                                            <a:latin typeface="Cambria Math" panose="02040503050406030204" pitchFamily="18" charset="0"/>
                                          </a:rPr>
                                          <m:t>j</m:t>
                                        </m:r>
                                      </m:sub>
                                    </m:sSub>
                                  </m:e>
                                </m:d>
                                <m:sSub>
                                  <m:sSubPr>
                                    <m:ctrlPr>
                                      <a:rPr lang="en-US" altLang="zh-TW" sz="120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latin typeface="Cambria Math" panose="02040503050406030204" pitchFamily="18" charset="0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latin typeface="Cambria Math" panose="02040503050406030204" pitchFamily="18" charset="0"/>
                                      </a:rPr>
                                      <m:t>j</m:t>
                                    </m:r>
                                  </m:sub>
                                </m:sSub>
                              </m:e>
                            </m:nary>
                          </m:e>
                        </m:borderBox>
                        <m:r>
                          <a:rPr lang="en-US" altLang="zh-TW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l-GR" altLang="zh-TW" sz="1200" b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𝚪</m:t>
                        </m:r>
                        <m:r>
                          <a:rPr lang="en-US" altLang="zh-TW" sz="12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TW" altLang="en-US" sz="1200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TW" altLang="en-US" sz="1200" b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sz="1200" b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𝛄</m:t>
                                </m:r>
                              </m:e>
                              <m:sub>
                                <m:r>
                                  <a:rPr lang="en-US" altLang="zh-TW" sz="1200" b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𝐭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zh-TW" altLang="en-US" sz="1200" b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sz="1200" b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𝛄</m:t>
                                </m:r>
                              </m:e>
                              <m:sub>
                                <m:r>
                                  <a:rPr lang="en-US" altLang="zh-TW" sz="1200" b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𝐣</m:t>
                                </m:r>
                              </m:sub>
                            </m:sSub>
                          </m:den>
                        </m:f>
                        <m:r>
                          <a:rPr lang="en-US" altLang="zh-TW" sz="1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 </m:t>
                        </m:r>
                        <m:f>
                          <m:fPr>
                            <m:ctrlPr>
                              <a:rPr lang="zh-TW" altLang="en-US" sz="1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TW" altLang="en-US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TW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TW" altLang="en-US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TW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TW" sz="1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..</m:t>
                            </m:r>
                            <m:sSub>
                              <m:sSubPr>
                                <m:ctrlPr>
                                  <a:rPr lang="zh-TW" altLang="en-US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12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j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TW" altLang="en-US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j</m:t>
                                </m:r>
                                <m:r>
                                  <a:rPr lang="en-US" altLang="zh-TW" sz="12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altLang="zh-TW" sz="1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..</m:t>
                            </m:r>
                            <m:sSub>
                              <m:sSubPr>
                                <m:ctrlPr>
                                  <a:rPr lang="zh-TW" altLang="en-US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zh-TW" altLang="en-US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TW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TW" altLang="en-US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TW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TW" sz="1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..</m:t>
                            </m:r>
                            <m:sSub>
                              <m:sSubPr>
                                <m:ctrlPr>
                                  <a:rPr lang="zh-TW" altLang="en-US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12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j</m:t>
                                </m:r>
                              </m:sub>
                            </m:sSub>
                            <m:r>
                              <a:rPr lang="en-US" altLang="zh-TW" sz="12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                </m:t>
                            </m:r>
                          </m:den>
                        </m:f>
                        <m:r>
                          <a:rPr lang="en-US" altLang="zh-TW" sz="1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altLang="zh-TW" sz="1200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1" name="文字方塊 10">
                  <a:extLst>
                    <a:ext uri="{FF2B5EF4-FFF2-40B4-BE49-F238E27FC236}">
                      <a16:creationId xmlns:a16="http://schemas.microsoft.com/office/drawing/2014/main" id="{D19F05B3-CB36-95E7-012B-9809A39CE7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742" y="3127405"/>
                  <a:ext cx="3904317" cy="408264"/>
                </a:xfrm>
                <a:prstGeom prst="rect">
                  <a:avLst/>
                </a:prstGeom>
                <a:blipFill>
                  <a:blip r:embed="rId11"/>
                  <a:stretch>
                    <a:fillRect l="-1306" t="-179104" b="-22388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293733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8A41C-41D9-DDB6-3FAA-94C6B9773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文字方塊 150">
            <a:extLst>
              <a:ext uri="{FF2B5EF4-FFF2-40B4-BE49-F238E27FC236}">
                <a16:creationId xmlns:a16="http://schemas.microsoft.com/office/drawing/2014/main" id="{626820B1-0E88-C11C-C119-800C2F5A09C5}"/>
              </a:ext>
            </a:extLst>
          </p:cNvPr>
          <p:cNvSpPr txBox="1"/>
          <p:nvPr/>
        </p:nvSpPr>
        <p:spPr>
          <a:xfrm>
            <a:off x="3621724" y="6381328"/>
            <a:ext cx="365760" cy="15859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200"/>
              </a:lnSpc>
            </a:pPr>
            <a:r>
              <a:rPr lang="en-US" altLang="zh-TW" sz="1200" b="1" dirty="0"/>
              <a:t>1*3</a:t>
            </a:r>
            <a:endParaRPr lang="zh-TW" altLang="en-US" sz="1200" b="1" dirty="0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53738325-0B54-231E-E74D-B3F86F7A3B6F}"/>
              </a:ext>
            </a:extLst>
          </p:cNvPr>
          <p:cNvSpPr/>
          <p:nvPr/>
        </p:nvSpPr>
        <p:spPr>
          <a:xfrm>
            <a:off x="4483107" y="2838900"/>
            <a:ext cx="1339534" cy="184667"/>
          </a:xfrm>
          <a:prstGeom prst="rect">
            <a:avLst/>
          </a:prstGeom>
          <a:noFill/>
          <a:ln w="190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>
            <a:noAutofit/>
          </a:bodyPr>
          <a:lstStyle/>
          <a:p>
            <a:pPr>
              <a:lnSpc>
                <a:spcPts val="1600"/>
              </a:lnSpc>
            </a:pPr>
            <a:r>
              <a:rPr lang="en-US" altLang="zh-TW" sz="1200" b="1" dirty="0">
                <a:solidFill>
                  <a:schemeClr val="tx2"/>
                </a:solidFill>
                <a:ea typeface="微軟正黑體" panose="020B0604030504040204" pitchFamily="34" charset="-120"/>
              </a:rPr>
              <a:t>Manba2/Gated LA </a:t>
            </a:r>
          </a:p>
        </p:txBody>
      </p: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2015DB44-9A01-49F0-904E-7442EE3F5734}"/>
              </a:ext>
            </a:extLst>
          </p:cNvPr>
          <p:cNvGrpSpPr/>
          <p:nvPr/>
        </p:nvGrpSpPr>
        <p:grpSpPr>
          <a:xfrm>
            <a:off x="4502131" y="3114334"/>
            <a:ext cx="4219379" cy="2119880"/>
            <a:chOff x="92667" y="1607972"/>
            <a:chExt cx="3923392" cy="21198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A5F70F50-C174-7992-54A9-44ED263A85C2}"/>
                    </a:ext>
                  </a:extLst>
                </p:cNvPr>
                <p:cNvSpPr txBox="1"/>
                <p:nvPr/>
              </p:nvSpPr>
              <p:spPr>
                <a:xfrm>
                  <a:off x="92667" y="1607972"/>
                  <a:ext cx="3529058" cy="120545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ts val="2000"/>
                    </a:lnSpc>
                  </a:pPr>
                  <a14:m>
                    <m:oMath xmlns:m="http://schemas.openxmlformats.org/officeDocument/2006/math">
                      <m:limUpp>
                        <m:limUppPr>
                          <m:ctrlPr>
                            <a:rPr lang="en-US" altLang="zh-TW" sz="1200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groupChr>
                            <m:groupChrPr>
                              <m:chr m:val="⏞"/>
                              <m:pos m:val="top"/>
                              <m:vertJc m:val="bot"/>
                              <m:ctrlPr>
                                <a:rPr lang="en-US" altLang="zh-TW" sz="1200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b>
                                <m:sSubPr>
                                  <m:ctrlPr>
                                    <a:rPr lang="en-US" altLang="zh-TW" sz="12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n-US" altLang="zh-TW" sz="1200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groupChr>
                        </m:e>
                        <m:lim>
                          <m:r>
                            <m:rPr>
                              <m:sty m:val="p"/>
                            </m:rPr>
                            <a:rPr lang="en-US" altLang="zh-TW" sz="1200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dxd</m:t>
                          </m:r>
                        </m:lim>
                      </m:limUpp>
                    </m:oMath>
                  </a14:m>
                  <a:r>
                    <a:rPr lang="en-US" altLang="zh-TW" sz="1200" dirty="0">
                      <a:solidFill>
                        <a:schemeClr val="bg1">
                          <a:lumMod val="65000"/>
                        </a:schemeClr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TW" sz="1200" b="0" i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200" i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i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US" altLang="zh-TW" sz="1200" i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Sup>
                        <m:sSubSupPr>
                          <m:ctrlPr>
                            <a:rPr lang="en-US" altLang="zh-TW" sz="1200" i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200" i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 altLang="zh-TW" sz="1200" b="0" i="0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sz="1200" i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bSup>
                    </m:oMath>
                  </a14:m>
                  <a:endParaRPr lang="en-US" altLang="zh-TW" sz="1200" dirty="0">
                    <a:solidFill>
                      <a:schemeClr val="bg1">
                        <a:lumMod val="65000"/>
                      </a:schemeClr>
                    </a:solidFill>
                  </a:endParaRPr>
                </a:p>
                <a:p>
                  <a:pPr>
                    <a:lnSpc>
                      <a:spcPts val="2000"/>
                    </a:lnSpc>
                  </a:pPr>
                  <a:r>
                    <a:rPr lang="en-US" altLang="zh-TW" sz="1200" dirty="0">
                      <a:solidFill>
                        <a:schemeClr val="bg1">
                          <a:lumMod val="65000"/>
                        </a:schemeClr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i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altLang="zh-TW" sz="1200" b="0" i="0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1200" i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1200" i="0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1200" i="0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α</m:t>
                          </m:r>
                        </m:e>
                        <m:sub>
                          <m:r>
                            <a:rPr lang="en-US" altLang="zh-TW" sz="1200" b="0" i="0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TW" sz="1200" i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i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altLang="zh-TW" sz="1200" b="0" i="0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TW" sz="1200" i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1200" i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i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US" altLang="zh-TW" sz="1200" b="0" i="0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US" altLang="zh-TW" sz="1200" b="0" i="0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 altLang="zh-TW" sz="1200" b="0" i="0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bSup>
                    </m:oMath>
                  </a14:m>
                  <a:endParaRPr lang="en-US" altLang="zh-TW" sz="1200" b="0" i="1" dirty="0">
                    <a:solidFill>
                      <a:schemeClr val="bg1">
                        <a:lumMod val="65000"/>
                      </a:schemeClr>
                    </a:solidFill>
                    <a:latin typeface="Cambria Math" panose="02040503050406030204" pitchFamily="18" charset="0"/>
                  </a:endParaRPr>
                </a:p>
                <a:p>
                  <a:pPr>
                    <a:lnSpc>
                      <a:spcPts val="2000"/>
                    </a:lnSpc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TW" sz="1200" b="0" i="0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0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20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altLang="zh-TW" sz="1200" b="0" i="0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TW" altLang="en-US" sz="120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12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120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120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α</m:t>
                          </m:r>
                        </m:e>
                        <m:sub>
                          <m:r>
                            <a:rPr lang="en-US" altLang="zh-TW" sz="1200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1200" b="0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TW" altLang="en-US" sz="120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120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α</m:t>
                          </m:r>
                        </m:e>
                        <m:sub>
                          <m:r>
                            <a:rPr lang="en-US" altLang="zh-TW" sz="120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TW" sz="120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altLang="zh-TW" sz="120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TW" sz="12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120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US" altLang="zh-TW" sz="120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US" altLang="zh-TW" sz="120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 altLang="zh-TW" sz="120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sz="120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bSup>
                      <m:r>
                        <a:rPr lang="en-US" altLang="zh-TW" sz="1200" b="0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altLang="zh-TW" sz="1200" dirty="0">
                      <a:solidFill>
                        <a:schemeClr val="bg1">
                          <a:lumMod val="65000"/>
                        </a:schemeClr>
                      </a:solidFill>
                    </a:rPr>
                    <a:t>+</a:t>
                  </a:r>
                  <a:r>
                    <a:rPr lang="en-US" altLang="zh-TW" sz="1200" dirty="0">
                      <a:solidFill>
                        <a:schemeClr val="bg1">
                          <a:lumMod val="65000"/>
                        </a:schemeClr>
                      </a:solidFill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TW" sz="120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US" altLang="zh-TW" sz="1200" b="0" i="0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US" altLang="zh-TW" sz="120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 altLang="zh-TW" sz="1200" b="0" i="0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sz="120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bSup>
                    </m:oMath>
                  </a14:m>
                  <a:endParaRPr lang="en-US" altLang="zh-TW" sz="1200" dirty="0">
                    <a:solidFill>
                      <a:schemeClr val="bg1">
                        <a:lumMod val="65000"/>
                      </a:schemeClr>
                    </a:solidFill>
                  </a:endParaRPr>
                </a:p>
                <a:p>
                  <a:pPr>
                    <a:lnSpc>
                      <a:spcPts val="2000"/>
                    </a:lnSpc>
                  </a:pPr>
                  <a14:m>
                    <m:oMath xmlns:m="http://schemas.openxmlformats.org/officeDocument/2006/math">
                      <m:r>
                        <a:rPr lang="en-US" altLang="zh-TW" sz="1200" b="0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TW" sz="120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altLang="zh-TW" sz="1200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TW" sz="120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20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zh-TW" altLang="en-US" sz="120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α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TW" sz="120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...</m:t>
                      </m:r>
                      <m:sSub>
                        <m:sSubPr>
                          <m:ctrlPr>
                            <a:rPr lang="zh-TW" altLang="en-US" sz="120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120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α</m:t>
                          </m:r>
                        </m:e>
                        <m:sub>
                          <m:r>
                            <a:rPr lang="en-US" altLang="zh-TW" sz="120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120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altLang="zh-TW" sz="1200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US" altLang="zh-TW" sz="120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Sup>
                        <m:sSubSupPr>
                          <m:ctrlPr>
                            <a:rPr lang="en-US" altLang="zh-TW" sz="120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 altLang="zh-TW" sz="120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sz="120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bSup>
                    </m:oMath>
                  </a14:m>
                  <a:r>
                    <a:rPr lang="en-US" altLang="zh-TW" sz="1200" dirty="0">
                      <a:solidFill>
                        <a:schemeClr val="bg1">
                          <a:lumMod val="65000"/>
                        </a:schemeClr>
                      </a:solidFill>
                    </a:rPr>
                    <a:t>+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TW" sz="120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zh-TW" altLang="en-US" sz="120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α</m:t>
                          </m:r>
                        </m:e>
                        <m:sub>
                          <m:r>
                            <a:rPr lang="en-US" altLang="zh-TW" sz="1200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120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...</m:t>
                      </m:r>
                      <m:sSub>
                        <m:sSubPr>
                          <m:ctrlPr>
                            <a:rPr lang="zh-TW" altLang="en-US" sz="120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120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α</m:t>
                          </m:r>
                        </m:e>
                        <m:sub>
                          <m:r>
                            <a:rPr lang="en-US" altLang="zh-TW" sz="120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120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altLang="zh-TW" sz="1200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US" altLang="zh-TW" sz="1200" b="0" i="0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US" altLang="zh-TW" sz="120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 altLang="zh-TW" sz="1200" b="0" i="0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sz="120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bSup>
                    </m:oMath>
                  </a14:m>
                  <a:r>
                    <a:rPr lang="en-US" altLang="zh-TW" sz="1200" dirty="0">
                      <a:solidFill>
                        <a:schemeClr val="bg1">
                          <a:lumMod val="65000"/>
                        </a:schemeClr>
                      </a:solidFill>
                    </a:rPr>
                    <a:t>+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TW" sz="120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zh-TW" altLang="en-US" sz="120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α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TW" sz="120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altLang="zh-TW" sz="1200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US" altLang="zh-TW" sz="1200" b="0" i="0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US" altLang="zh-TW" sz="120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 altLang="zh-TW" sz="1200" b="0" i="0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sz="120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bSup>
                    </m:oMath>
                  </a14:m>
                  <a:r>
                    <a:rPr lang="en-US" altLang="zh-TW" sz="1200" dirty="0">
                      <a:solidFill>
                        <a:schemeClr val="bg1">
                          <a:lumMod val="65000"/>
                        </a:schemeClr>
                      </a:solidFill>
                    </a:rPr>
                    <a:t>+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US" altLang="zh-TW" sz="1200" b="0" i="0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Sup>
                        <m:sSubSupPr>
                          <m:ctrlPr>
                            <a:rPr lang="en-US" altLang="zh-TW" sz="120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 altLang="zh-TW" sz="1200" b="0" i="0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sz="120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bSup>
                    </m:oMath>
                  </a14:m>
                  <a:r>
                    <a:rPr lang="en-US" altLang="zh-TW" sz="1200" dirty="0">
                      <a:solidFill>
                        <a:schemeClr val="bg1">
                          <a:lumMod val="65000"/>
                        </a:schemeClr>
                      </a:solidFill>
                    </a:rPr>
                    <a:t> 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ts val="1000"/>
                    </a:lnSpc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bg1">
                          <a:lumMod val="65000"/>
                        </a:schemeClr>
                      </a:solidFill>
                      <a:effectLst/>
                      <a:uLnTx/>
                      <a:uFillTx/>
                      <a:latin typeface="Calibri"/>
                      <a:ea typeface="新細明體" panose="02020500000000000000" pitchFamily="18" charset="-120"/>
                      <a:cs typeface="+mn-cs"/>
                    </a:rPr>
                    <a:t> … </a:t>
                  </a:r>
                  <a:r>
                    <a:rPr lang="zh-TW" altLang="en-US" sz="1200" dirty="0">
                      <a:solidFill>
                        <a:schemeClr val="bg1">
                          <a:lumMod val="65000"/>
                        </a:schemeClr>
                      </a:solidFill>
                      <a:sym typeface="Wingdings" panose="05000000000000000000" pitchFamily="2" charset="2"/>
                    </a:rPr>
                    <a:t> </a:t>
                  </a:r>
                  <a:r>
                    <a:rPr lang="en-US" altLang="zh-TW" sz="1200" dirty="0">
                      <a:solidFill>
                        <a:schemeClr val="bg1">
                          <a:lumMod val="65000"/>
                        </a:schemeClr>
                      </a:solidFill>
                    </a:rPr>
                    <a:t>  </a:t>
                  </a:r>
                </a:p>
              </p:txBody>
            </p:sp>
          </mc:Choice>
          <mc:Fallback xmlns=""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A5F70F50-C174-7992-54A9-44ED263A85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667" y="1607972"/>
                  <a:ext cx="3529058" cy="1205458"/>
                </a:xfrm>
                <a:prstGeom prst="rect">
                  <a:avLst/>
                </a:prstGeom>
                <a:blipFill>
                  <a:blip r:embed="rId7"/>
                  <a:stretch>
                    <a:fillRect l="-1608" t="-7576" b="-303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字方塊 52">
                  <a:extLst>
                    <a:ext uri="{FF2B5EF4-FFF2-40B4-BE49-F238E27FC236}">
                      <a16:creationId xmlns:a16="http://schemas.microsoft.com/office/drawing/2014/main" id="{A99C4051-802B-1A20-FE39-5DFE699E61B6}"/>
                    </a:ext>
                  </a:extLst>
                </p:cNvPr>
                <p:cNvSpPr txBox="1"/>
                <p:nvPr/>
              </p:nvSpPr>
              <p:spPr>
                <a:xfrm>
                  <a:off x="121015" y="2772698"/>
                  <a:ext cx="3830991" cy="2221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altLang="zh-TW" sz="12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1200" b="1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1200" b="1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𝛂</m:t>
                          </m:r>
                        </m:e>
                        <m:sub>
                          <m:r>
                            <a:rPr lang="en-US" altLang="zh-TW" sz="1200" b="1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𝐭</m:t>
                          </m:r>
                        </m:sub>
                      </m:sSub>
                      <m:r>
                        <a:rPr lang="en-US" altLang="zh-TW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zh-TW" sz="1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altLang="zh-TW" sz="1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TW" sz="12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1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m:rPr>
                          <m:nor/>
                        </m:rPr>
                        <a:rPr lang="en-US" altLang="zh-TW" sz="1200" i="0" dirty="0" smtClean="0"/>
                        <m:t> </m:t>
                      </m:r>
                      <m:sSubSup>
                        <m:sSubSupPr>
                          <m:ctrl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bSup>
                      <m:r>
                        <a:rPr lang="en-US" altLang="zh-TW" sz="1200" b="0" i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5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m:rPr>
                              <m:brk m:alnAt="25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5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  <m:e>
                          <m: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nary>
                            <m:naryPr>
                              <m:chr m:val="∏"/>
                              <m:limLoc m:val="subSup"/>
                              <m:ctrlPr>
                                <a:rPr lang="zh-TW" altLang="en-US" sz="1200" b="1" i="0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zh-TW" altLang="en-US" sz="1200" b="1" i="0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𝛕</m:t>
                              </m:r>
                              <m:r>
                                <m:rPr>
                                  <m:brk m:alnAt="25"/>
                                </m:rPr>
                                <a:rPr lang="en-US" altLang="zh-TW" sz="1200" b="1" i="0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5"/>
                                </m:rPr>
                                <a:rPr lang="en-US" altLang="zh-TW" sz="1200" b="1" i="0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𝐣</m:t>
                              </m:r>
                              <m:r>
                                <m:rPr>
                                  <m:brk m:alnAt="25"/>
                                </m:rPr>
                                <a:rPr lang="en-US" altLang="zh-TW" sz="1200" b="1" i="0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brk m:alnAt="25"/>
                                </m:rPr>
                                <a:rPr lang="en-US" altLang="zh-TW" sz="1200" b="1" i="0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TW" sz="1200" b="1" i="0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𝐭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TW" altLang="en-US" sz="1200" b="1" i="0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1200" b="1" i="0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𝛂</m:t>
                                  </m:r>
                                </m:e>
                                <m:sub>
                                  <m:r>
                                    <a:rPr lang="en-US" altLang="zh-TW" sz="1200" b="1" i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𝛕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altLang="zh-TW" sz="1200" b="0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200" b="0" i="0" smtClean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sz="1200" b="0" i="0" smtClean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altLang="zh-TW" sz="1200" i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200" i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sz="1200" i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zh-TW" sz="120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bSup>
                        </m:e>
                      </m:nary>
                      <m:r>
                        <a:rPr lang="en-US" altLang="zh-TW" sz="1200" b="0" i="0" smtClean="0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zh-TW" altLang="en-US" sz="1200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zh-TW" altLang="en-US" sz="120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1200" i="0" smtClean="0">
                              <a:latin typeface="Cambria Math" panose="02040503050406030204" pitchFamily="18" charset="0"/>
                            </a:rPr>
                            <m:t>α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zh-TW" altLang="en-US" sz="1200" i="0" smtClean="0">
                          <a:latin typeface="Cambria Math" panose="02040503050406030204" pitchFamily="18" charset="0"/>
                        </a:rPr>
                        <m:t>∈ </m:t>
                      </m:r>
                      <m:r>
                        <a:rPr lang="en-US" altLang="zh-TW" sz="1200" b="0" i="0" smtClean="0">
                          <a:latin typeface="Cambria Math" panose="02040503050406030204" pitchFamily="18" charset="0"/>
                        </a:rPr>
                        <m:t>(0,1)</m:t>
                      </m:r>
                    </m:oMath>
                  </a14:m>
                  <a:r>
                    <a:rPr lang="en-US" altLang="zh-TW" sz="1200" b="0" dirty="0">
                      <a:latin typeface="Cambria Math" panose="020405030504060302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53" name="文字方塊 52">
                  <a:extLst>
                    <a:ext uri="{FF2B5EF4-FFF2-40B4-BE49-F238E27FC236}">
                      <a16:creationId xmlns:a16="http://schemas.microsoft.com/office/drawing/2014/main" id="{A99C4051-802B-1A20-FE39-5DFE699E61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015" y="2772698"/>
                  <a:ext cx="3830991" cy="222177"/>
                </a:xfrm>
                <a:prstGeom prst="rect">
                  <a:avLst/>
                </a:prstGeom>
                <a:blipFill>
                  <a:blip r:embed="rId9"/>
                  <a:stretch>
                    <a:fillRect l="-1333" t="-138889" b="-21111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字方塊 6">
                  <a:extLst>
                    <a:ext uri="{FF2B5EF4-FFF2-40B4-BE49-F238E27FC236}">
                      <a16:creationId xmlns:a16="http://schemas.microsoft.com/office/drawing/2014/main" id="{63CAC148-CC53-376E-F21A-239358E915E8}"/>
                    </a:ext>
                  </a:extLst>
                </p:cNvPr>
                <p:cNvSpPr txBox="1"/>
                <p:nvPr/>
              </p:nvSpPr>
              <p:spPr>
                <a:xfrm>
                  <a:off x="1067866" y="3519397"/>
                  <a:ext cx="1728192" cy="20845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altLang="zh-TW" sz="120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≅</m:t>
                        </m:r>
                        <m:sSub>
                          <m:sSubPr>
                            <m:ctrlPr>
                              <a:rPr lang="en-US" altLang="zh-TW" sz="1200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sz="1200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O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200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US" altLang="zh-TW" sz="1200" b="0" i="1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  <m:r>
                              <m:rPr>
                                <m:sty m:val="p"/>
                              </m:rPr>
                              <a:rPr lang="en-US" altLang="zh-TW" sz="1200" b="0" i="1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d</m:t>
                            </m:r>
                          </m:sub>
                        </m:sSub>
                        <m:r>
                          <a:rPr lang="en-US" altLang="zh-TW" sz="120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TW" sz="1200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TW" sz="1200">
                                    <a:solidFill>
                                      <a:schemeClr val="tx1">
                                        <a:lumMod val="50000"/>
                                        <a:lumOff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1200">
                                    <a:solidFill>
                                      <a:schemeClr val="tx1">
                                        <a:lumMod val="50000"/>
                                        <a:lumOff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QK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zh-TW" sz="1200">
                                    <a:solidFill>
                                      <a:schemeClr val="tx1">
                                        <a:lumMod val="50000"/>
                                        <a:lumOff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p>
                            </m:sSup>
                            <m:r>
                              <a:rPr lang="en-US" altLang="zh-TW" sz="120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⊙</m:t>
                            </m:r>
                            <m:r>
                              <a:rPr lang="el-GR" altLang="zh-TW" sz="1200" b="1" i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𝚪</m:t>
                            </m:r>
                          </m:e>
                        </m:d>
                        <m:r>
                          <a:rPr lang="en-US" altLang="zh-TW" sz="120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m:rPr>
                            <m:sty m:val="p"/>
                          </m:rPr>
                          <a:rPr lang="en-US" altLang="zh-TW" sz="120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oMath>
                    </m:oMathPara>
                  </a14:m>
                  <a:endParaRPr lang="en-US" altLang="zh-TW" sz="1200" b="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7" name="文字方塊 6">
                  <a:extLst>
                    <a:ext uri="{FF2B5EF4-FFF2-40B4-BE49-F238E27FC236}">
                      <a16:creationId xmlns:a16="http://schemas.microsoft.com/office/drawing/2014/main" id="{63CAC148-CC53-376E-F21A-239358E915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7866" y="3519397"/>
                  <a:ext cx="1728192" cy="208455"/>
                </a:xfrm>
                <a:prstGeom prst="rect">
                  <a:avLst/>
                </a:prstGeom>
                <a:blipFill>
                  <a:blip r:embed="rId10"/>
                  <a:stretch>
                    <a:fillRect l="-2632" b="-2285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字方塊 10">
                  <a:extLst>
                    <a:ext uri="{FF2B5EF4-FFF2-40B4-BE49-F238E27FC236}">
                      <a16:creationId xmlns:a16="http://schemas.microsoft.com/office/drawing/2014/main" id="{D19F05B3-CB36-95E7-012B-9809A39CE744}"/>
                    </a:ext>
                  </a:extLst>
                </p:cNvPr>
                <p:cNvSpPr txBox="1"/>
                <p:nvPr/>
              </p:nvSpPr>
              <p:spPr>
                <a:xfrm>
                  <a:off x="111742" y="3127405"/>
                  <a:ext cx="3904317" cy="40826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>
                    <a:lnSpc>
                      <a:spcPts val="2000"/>
                    </a:lnSpc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en-US" altLang="zh-TW" sz="12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sz="1200">
                                <a:latin typeface="Cambria Math" panose="02040503050406030204" pitchFamily="18" charset="0"/>
                              </a:rPr>
                              <m:t>O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200"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  <m:r>
                          <a:rPr lang="en-US" altLang="zh-TW" sz="120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TW" altLang="en-US" sz="1200" b="1" i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1200" b="1" i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𝛂</m:t>
                            </m:r>
                          </m:e>
                          <m:sub>
                            <m:r>
                              <a:rPr lang="en-US" altLang="zh-TW" sz="1200" b="1" i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𝐭</m:t>
                            </m:r>
                          </m:sub>
                        </m:sSub>
                        <m:r>
                          <a:rPr lang="en-US" altLang="zh-TW" sz="120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altLang="zh-TW" sz="12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sz="120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200"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200">
                                <a:latin typeface="Cambria Math" panose="02040503050406030204" pitchFamily="18" charset="0"/>
                              </a:rPr>
                              <m:t>t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altLang="zh-TW" sz="120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 =</m:t>
                        </m:r>
                        <m:borderBox>
                          <m:borderBox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borderBoxPr>
                          <m:e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altLang="zh-TW" sz="120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sty m:val="p"/>
                                    <m:brk m:alnAt="25"/>
                                  </m:rPr>
                                  <a:rPr lang="en-US" altLang="zh-TW" sz="1200">
                                    <a:latin typeface="Cambria Math" panose="020405030504060302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brk m:alnAt="25"/>
                                  </m:rPr>
                                  <a:rPr lang="en-US" altLang="zh-TW" sz="12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brk m:alnAt="25"/>
                                  </m:rPr>
                                  <a:rPr lang="en-US" altLang="zh-TW" sz="12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zh-TW" sz="120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p>
                              <m:e>
                                <m:r>
                                  <a:rPr lang="el-GR" altLang="zh-TW" sz="1200" b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𝚪</m:t>
                                </m:r>
                                <m:d>
                                  <m:dPr>
                                    <m:ctrlP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altLang="zh-TW" sz="12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>
                                            <a:latin typeface="Cambria Math" panose="02040503050406030204" pitchFamily="18" charset="0"/>
                                          </a:rPr>
                                          <m:t>q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sub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sup>
                                    </m:sSubSup>
                                    <m:sSub>
                                      <m:sSubPr>
                                        <m:ctrlPr>
                                          <a:rPr lang="en-US" altLang="zh-TW" sz="12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>
                                            <a:latin typeface="Cambria Math" panose="02040503050406030204" pitchFamily="18" charset="0"/>
                                          </a:rPr>
                                          <m:t>k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>
                                            <a:latin typeface="Cambria Math" panose="02040503050406030204" pitchFamily="18" charset="0"/>
                                          </a:rPr>
                                          <m:t>j</m:t>
                                        </m:r>
                                      </m:sub>
                                    </m:sSub>
                                  </m:e>
                                </m:d>
                                <m:sSub>
                                  <m:sSubPr>
                                    <m:ctrlPr>
                                      <a:rPr lang="en-US" altLang="zh-TW" sz="120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latin typeface="Cambria Math" panose="02040503050406030204" pitchFamily="18" charset="0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latin typeface="Cambria Math" panose="02040503050406030204" pitchFamily="18" charset="0"/>
                                      </a:rPr>
                                      <m:t>j</m:t>
                                    </m:r>
                                  </m:sub>
                                </m:sSub>
                              </m:e>
                            </m:nary>
                          </m:e>
                        </m:borderBox>
                        <m:r>
                          <a:rPr lang="en-US" altLang="zh-TW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l-GR" altLang="zh-TW" sz="1200" b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𝚪</m:t>
                        </m:r>
                        <m:r>
                          <a:rPr lang="en-US" altLang="zh-TW" sz="12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TW" altLang="en-US" sz="1200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TW" altLang="en-US" sz="1200" b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sz="1200" b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𝛄</m:t>
                                </m:r>
                              </m:e>
                              <m:sub>
                                <m:r>
                                  <a:rPr lang="en-US" altLang="zh-TW" sz="1200" b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𝐭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zh-TW" altLang="en-US" sz="1200" b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sz="1200" b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𝛄</m:t>
                                </m:r>
                              </m:e>
                              <m:sub>
                                <m:r>
                                  <a:rPr lang="en-US" altLang="zh-TW" sz="1200" b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𝐣</m:t>
                                </m:r>
                              </m:sub>
                            </m:sSub>
                          </m:den>
                        </m:f>
                        <m:r>
                          <a:rPr lang="en-US" altLang="zh-TW" sz="1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 </m:t>
                        </m:r>
                        <m:f>
                          <m:fPr>
                            <m:ctrlPr>
                              <a:rPr lang="zh-TW" altLang="en-US" sz="1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TW" altLang="en-US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TW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TW" altLang="en-US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TW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TW" sz="1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..</m:t>
                            </m:r>
                            <m:sSub>
                              <m:sSubPr>
                                <m:ctrlPr>
                                  <a:rPr lang="zh-TW" altLang="en-US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12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j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TW" altLang="en-US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j</m:t>
                                </m:r>
                                <m:r>
                                  <a:rPr lang="en-US" altLang="zh-TW" sz="12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altLang="zh-TW" sz="1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..</m:t>
                            </m:r>
                            <m:sSub>
                              <m:sSubPr>
                                <m:ctrlPr>
                                  <a:rPr lang="zh-TW" altLang="en-US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zh-TW" altLang="en-US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TW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TW" altLang="en-US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TW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TW" sz="1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..</m:t>
                            </m:r>
                            <m:sSub>
                              <m:sSubPr>
                                <m:ctrlPr>
                                  <a:rPr lang="zh-TW" altLang="en-US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12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j</m:t>
                                </m:r>
                              </m:sub>
                            </m:sSub>
                            <m:r>
                              <a:rPr lang="en-US" altLang="zh-TW" sz="12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                </m:t>
                            </m:r>
                          </m:den>
                        </m:f>
                        <m:r>
                          <a:rPr lang="en-US" altLang="zh-TW" sz="1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altLang="zh-TW" sz="1200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1" name="文字方塊 10">
                  <a:extLst>
                    <a:ext uri="{FF2B5EF4-FFF2-40B4-BE49-F238E27FC236}">
                      <a16:creationId xmlns:a16="http://schemas.microsoft.com/office/drawing/2014/main" id="{D19F05B3-CB36-95E7-012B-9809A39CE7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742" y="3127405"/>
                  <a:ext cx="3904317" cy="408264"/>
                </a:xfrm>
                <a:prstGeom prst="rect">
                  <a:avLst/>
                </a:prstGeom>
                <a:blipFill>
                  <a:blip r:embed="rId11"/>
                  <a:stretch>
                    <a:fillRect l="-1306" t="-179104" b="-22388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2E0126CD-C3E3-1EA8-1F9C-A54B7CFE201E}"/>
              </a:ext>
            </a:extLst>
          </p:cNvPr>
          <p:cNvSpPr/>
          <p:nvPr/>
        </p:nvSpPr>
        <p:spPr>
          <a:xfrm>
            <a:off x="4483107" y="5404573"/>
            <a:ext cx="1339534" cy="184667"/>
          </a:xfrm>
          <a:prstGeom prst="rect">
            <a:avLst/>
          </a:prstGeom>
          <a:noFill/>
          <a:ln w="190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>
            <a:noAutofit/>
          </a:bodyPr>
          <a:lstStyle/>
          <a:p>
            <a:pPr>
              <a:lnSpc>
                <a:spcPts val="1600"/>
              </a:lnSpc>
            </a:pPr>
            <a:r>
              <a:rPr lang="en-US" altLang="zh-TW" sz="1200" b="1" dirty="0">
                <a:solidFill>
                  <a:schemeClr val="tx2"/>
                </a:solidFill>
                <a:ea typeface="微軟正黑體" panose="020B0604030504040204" pitchFamily="34" charset="-120"/>
              </a:rPr>
              <a:t>Chunk-wise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11BA60BD-CE02-851F-1AD1-D011312ADBA3}"/>
                  </a:ext>
                </a:extLst>
              </p:cNvPr>
              <p:cNvSpPr txBox="1"/>
              <p:nvPr/>
            </p:nvSpPr>
            <p:spPr>
              <a:xfrm>
                <a:off x="4537399" y="5583087"/>
                <a:ext cx="4120007" cy="2764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12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2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en-US" altLang="zh-TW" sz="1200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1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1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2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altLang="zh-TW" sz="1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d>
                      <m:dPr>
                        <m:ctrlPr>
                          <a:rPr lang="zh-TW" alt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TW" alt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12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TW" sz="1200" b="0" i="1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en-US" altLang="zh-TW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TW" alt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TW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k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en-US" altLang="zh-TW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k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zh-TW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</m:t>
                                </m:r>
                              </m:sup>
                            </m:sSubSup>
                          </m:e>
                        </m:d>
                      </m:e>
                    </m:d>
                    <m:r>
                      <a:rPr lang="en-US" altLang="zh-TW" sz="12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TW" alt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sub>
                    </m:sSub>
                    <m:sSub>
                      <m:sSubPr>
                        <m:ctrlPr>
                          <a:rPr lang="zh-TW" altLang="en-US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𝜐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sub>
                    </m:sSub>
                    <m:sSubSup>
                      <m:sSubSupPr>
                        <m:ctrlP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sup>
                    </m:sSubSup>
                    <m:r>
                      <a:rPr lang="en-US" altLang="zh-TW" sz="12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altLang="zh-TW" sz="1200" dirty="0">
                    <a:latin typeface="Cambria Math" panose="02040503050406030204" pitchFamily="18" charset="0"/>
                  </a:rPr>
                  <a:t> </a:t>
                </a:r>
                <a:endParaRPr lang="en-US" altLang="zh-TW" sz="1200" b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11BA60BD-CE02-851F-1AD1-D011312ADB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7399" y="5583087"/>
                <a:ext cx="4120007" cy="276422"/>
              </a:xfrm>
              <a:prstGeom prst="rect">
                <a:avLst/>
              </a:prstGeom>
              <a:blipFill>
                <a:blip r:embed="rId13"/>
                <a:stretch>
                  <a:fillRect l="-1331"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C7ADD149-91A5-0E06-8BD1-BB705F24FE06}"/>
                  </a:ext>
                </a:extLst>
              </p:cNvPr>
              <p:cNvSpPr txBox="1"/>
              <p:nvPr/>
            </p:nvSpPr>
            <p:spPr>
              <a:xfrm>
                <a:off x="4851607" y="512637"/>
                <a:ext cx="3096343" cy="113576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TW" sz="1200" b="0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120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20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en-US" altLang="zh-TW" sz="12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12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120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20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altLang="zh-TW" sz="120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d>
                      <m:dPr>
                        <m:ctrlPr>
                          <a:rPr lang="zh-TW" alt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TW" alt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12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TW" alt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TW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k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en-US" altLang="zh-TW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k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zh-TW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</m:t>
                                </m:r>
                              </m:sup>
                            </m:sSubSup>
                          </m:e>
                        </m:d>
                      </m:e>
                    </m:d>
                    <m:r>
                      <a:rPr lang="en-US" altLang="zh-TW" sz="12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TW" alt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sub>
                    </m:sSub>
                    <m:sSub>
                      <m:sSubPr>
                        <m:ctrlPr>
                          <a:rPr lang="zh-TW" alt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𝜐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sub>
                    </m:sSub>
                    <m:sSubSup>
                      <m:sSubSupPr>
                        <m:ctrlP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sup>
                    </m:sSubSup>
                  </m:oMath>
                </a14:m>
                <a:r>
                  <a:rPr lang="en-US" altLang="zh-TW" sz="1200" b="0" i="1" dirty="0">
                    <a:latin typeface="Cambria Math" panose="020405030504060302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12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2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en-US" altLang="zh-TW" sz="1200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1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1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2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altLang="zh-TW" sz="1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d>
                      <m:dPr>
                        <m:ctrlPr>
                          <a:rPr lang="zh-TW" alt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TW" alt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12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TW" sz="1200" b="0" i="1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en-US" altLang="zh-TW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TW" alt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TW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k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en-US" altLang="zh-TW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k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zh-TW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</m:t>
                                </m:r>
                              </m:sup>
                            </m:sSubSup>
                          </m:e>
                        </m:d>
                      </m:e>
                    </m:d>
                    <m:r>
                      <a:rPr lang="en-US" altLang="zh-TW" sz="12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TW" alt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sub>
                    </m:sSub>
                    <m:sSub>
                      <m:sSubPr>
                        <m:ctrlPr>
                          <a:rPr lang="zh-TW" altLang="en-US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𝜐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sub>
                    </m:sSub>
                    <m:sSubSup>
                      <m:sSubSupPr>
                        <m:ctrlP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sup>
                    </m:sSubSup>
                    <m:r>
                      <a:rPr lang="en-US" altLang="zh-TW" sz="12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altLang="zh-TW" sz="1200" dirty="0">
                    <a:latin typeface="Cambria Math" panose="020405030504060302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120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20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en-US" altLang="zh-TW" sz="12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12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120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20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altLang="zh-TW" sz="120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d>
                      <m:dPr>
                        <m:ctrlPr>
                          <a:rPr lang="zh-TW" alt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TW" alt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12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  <m: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TW" alt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12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  <m:sSub>
                          <m:sSubPr>
                            <m:ctrlPr>
                              <a:rPr lang="zh-TW" alt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k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k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sup>
                        </m:sSubSup>
                      </m:e>
                    </m:d>
                    <m:r>
                      <a:rPr lang="en-US" altLang="zh-TW" sz="12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TW" alt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sub>
                    </m:sSub>
                    <m:sSub>
                      <m:sSubPr>
                        <m:ctrlPr>
                          <a:rPr lang="zh-TW" alt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𝜐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sub>
                    </m:sSub>
                    <m:sSubSup>
                      <m:sSubSupPr>
                        <m:ctrlP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sup>
                    </m:sSubSup>
                    <m:r>
                      <a:rPr lang="en-US" altLang="zh-TW" sz="12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TW" sz="12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1200" dirty="0">
                    <a:latin typeface="Cambria Math" panose="020405030504060302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120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20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en-US" altLang="zh-TW" sz="12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TW" alt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zh-TW" alt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12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altLang="zh-TW" sz="120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20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altLang="zh-TW" sz="120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TW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TW" alt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zh-TW" alt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12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  <m:sSub>
                          <m:sSubPr>
                            <m:ctrlPr>
                              <a:rPr lang="zh-TW" alt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k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k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US" altLang="zh-TW" sz="120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20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altLang="zh-TW" sz="120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TW" sz="12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TW" alt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sub>
                    </m:sSub>
                    <m:sSub>
                      <m:sSubPr>
                        <m:ctrlPr>
                          <a:rPr lang="zh-TW" alt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𝜐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sub>
                    </m:sSub>
                    <m:sSubSup>
                      <m:sSubSupPr>
                        <m:ctrlP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sup>
                    </m:sSubSup>
                  </m:oMath>
                </a14:m>
                <a:r>
                  <a:rPr lang="en-US" altLang="zh-TW" sz="1200" dirty="0">
                    <a:latin typeface="Cambria Math" panose="02040503050406030204" pitchFamily="18" charset="0"/>
                  </a:rPr>
                  <a:t>  </a:t>
                </a:r>
              </a:p>
              <a:p>
                <a:endParaRPr lang="en-US" altLang="zh-TW" sz="1200" b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C7ADD149-91A5-0E06-8BD1-BB705F24FE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1607" y="512637"/>
                <a:ext cx="3096343" cy="1135760"/>
              </a:xfrm>
              <a:prstGeom prst="rect">
                <a:avLst/>
              </a:prstGeom>
              <a:blipFill>
                <a:blip r:embed="rId14"/>
                <a:stretch>
                  <a:fillRect l="-177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>
            <a:extLst>
              <a:ext uri="{FF2B5EF4-FFF2-40B4-BE49-F238E27FC236}">
                <a16:creationId xmlns:a16="http://schemas.microsoft.com/office/drawing/2014/main" id="{E6FA136D-9401-A6D7-7D1B-9FAA375CB6E5}"/>
              </a:ext>
            </a:extLst>
          </p:cNvPr>
          <p:cNvSpPr/>
          <p:nvPr/>
        </p:nvSpPr>
        <p:spPr>
          <a:xfrm>
            <a:off x="358318" y="2614024"/>
            <a:ext cx="1981433" cy="184667"/>
          </a:xfrm>
          <a:prstGeom prst="rect">
            <a:avLst/>
          </a:prstGeom>
          <a:noFill/>
          <a:ln w="190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>
            <a:noAutofit/>
          </a:bodyPr>
          <a:lstStyle/>
          <a:p>
            <a:pPr>
              <a:lnSpc>
                <a:spcPts val="1600"/>
              </a:lnSpc>
            </a:pPr>
            <a:r>
              <a:rPr lang="en-US" altLang="zh-TW" sz="1200" b="1" dirty="0">
                <a:solidFill>
                  <a:schemeClr val="tx2"/>
                </a:solidFill>
                <a:ea typeface="微軟正黑體" panose="020B0604030504040204" pitchFamily="34" charset="-120"/>
              </a:rPr>
              <a:t>Inter-chunk: Recurrent Scan Serially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0B254A07-CFC3-CC5E-D940-5B183B99D657}"/>
                  </a:ext>
                </a:extLst>
              </p:cNvPr>
              <p:cNvSpPr txBox="1"/>
              <p:nvPr/>
            </p:nvSpPr>
            <p:spPr>
              <a:xfrm>
                <a:off x="412611" y="2792538"/>
                <a:ext cx="334850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out</m:t>
                          </m:r>
                        </m:sub>
                      </m:sSub>
                      <m:r>
                        <a:rPr lang="en-US" altLang="zh-TW" sz="12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altLang="zh-TW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TW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</m:oMath>
                  </m:oMathPara>
                </a14:m>
                <a:endParaRPr lang="en-US" altLang="zh-TW" sz="1200" b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0B254A07-CFC3-CC5E-D940-5B183B99D6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611" y="2792538"/>
                <a:ext cx="3348503" cy="184666"/>
              </a:xfrm>
              <a:prstGeom prst="rect">
                <a:avLst/>
              </a:prstGeom>
              <a:blipFill>
                <a:blip r:embed="rId15"/>
                <a:stretch>
                  <a:fillRect l="-1639" b="-2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>
            <a:extLst>
              <a:ext uri="{FF2B5EF4-FFF2-40B4-BE49-F238E27FC236}">
                <a16:creationId xmlns:a16="http://schemas.microsoft.com/office/drawing/2014/main" id="{816DC84B-8288-C92C-0488-C3FE5B59284D}"/>
              </a:ext>
            </a:extLst>
          </p:cNvPr>
          <p:cNvSpPr/>
          <p:nvPr/>
        </p:nvSpPr>
        <p:spPr>
          <a:xfrm>
            <a:off x="358318" y="2008314"/>
            <a:ext cx="1981433" cy="184667"/>
          </a:xfrm>
          <a:prstGeom prst="rect">
            <a:avLst/>
          </a:prstGeom>
          <a:noFill/>
          <a:ln w="190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>
            <a:noAutofit/>
          </a:bodyPr>
          <a:lstStyle/>
          <a:p>
            <a:pPr>
              <a:lnSpc>
                <a:spcPts val="1600"/>
              </a:lnSpc>
            </a:pPr>
            <a:r>
              <a:rPr lang="en-US" altLang="zh-TW" sz="1200" b="1" dirty="0">
                <a:solidFill>
                  <a:schemeClr val="tx2"/>
                </a:solidFill>
                <a:ea typeface="微軟正黑體" panose="020B0604030504040204" pitchFamily="34" charset="-120"/>
              </a:rPr>
              <a:t>Intra-chunk: Training and Prefill Parallelly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1C10C416-A038-E3B5-D981-F9C5899A962B}"/>
                  </a:ext>
                </a:extLst>
              </p:cNvPr>
              <p:cNvSpPr txBox="1"/>
              <p:nvPr/>
            </p:nvSpPr>
            <p:spPr>
              <a:xfrm>
                <a:off x="412611" y="2186828"/>
                <a:ext cx="3348503" cy="372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altLang="zh-TW" sz="1200" i="1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2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1200" i="1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altLang="zh-TW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altLang="zh-TW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W</m:t>
                      </m:r>
                      <m:sSup>
                        <m:sSupPr>
                          <m:ctrlP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Y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en-US" altLang="zh-TW" sz="1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altLang="zh-TW" sz="1200" dirty="0">
                    <a:latin typeface="Cambria Math" panose="02040503050406030204" pitchFamily="18" charset="0"/>
                  </a:rPr>
                  <a:t>B</a:t>
                </a: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1C10C416-A038-E3B5-D981-F9C5899A96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611" y="2186828"/>
                <a:ext cx="3348503" cy="372666"/>
              </a:xfrm>
              <a:prstGeom prst="rect">
                <a:avLst/>
              </a:prstGeom>
              <a:blipFill>
                <a:blip r:embed="rId16"/>
                <a:stretch>
                  <a:fillRect l="-2914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3E540E66-F12A-AA34-4077-41CABE6478B1}"/>
                  </a:ext>
                </a:extLst>
              </p:cNvPr>
              <p:cNvSpPr txBox="1"/>
              <p:nvPr/>
            </p:nvSpPr>
            <p:spPr>
              <a:xfrm>
                <a:off x="634868" y="5772618"/>
                <a:ext cx="1734864" cy="5040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out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2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TW" sz="1200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TW" sz="1200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altLang="zh-TW" sz="1200" b="0" dirty="0">
                    <a:latin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altLang="zh-TW" sz="120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5"/>
                          </m:rPr>
                          <a:rPr lang="en-US" altLang="zh-TW" sz="1200">
                            <a:latin typeface="Cambria Math" panose="02040503050406030204" pitchFamily="18" charset="0"/>
                          </a:rPr>
                          <m:t>j</m:t>
                        </m:r>
                        <m:r>
                          <m:rPr>
                            <m:brk m:alnAt="25"/>
                          </m:rPr>
                          <a:rPr lang="en-US" altLang="zh-TW" sz="12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5"/>
                          </m:rPr>
                          <a:rPr lang="en-US" altLang="zh-TW" sz="12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TW" sz="120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  <m:e>
                        <m:r>
                          <a:rPr lang="en-US" altLang="zh-TW" sz="120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1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en-US" altLang="zh-TW" sz="1200" b="0" i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TW" sz="1200" b="0" i="0" smtClean="0"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200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 altLang="zh-TW" sz="1200"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bSup>
                      </m:e>
                    </m:nary>
                    <m:sSub>
                      <m:sSubPr>
                        <m:ctrlPr>
                          <a:rPr lang="en-US" altLang="zh-TW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j</m:t>
                        </m:r>
                      </m:sub>
                    </m:sSub>
                    <m:r>
                      <a:rPr lang="en-US" altLang="zh-TW" sz="1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zh-TW" sz="120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TW" sz="12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120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200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</m:oMath>
                </a14:m>
                <a:endParaRPr lang="en-US" altLang="zh-TW" sz="1200" b="0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3E540E66-F12A-AA34-4077-41CABE647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868" y="5772618"/>
                <a:ext cx="1734864" cy="504056"/>
              </a:xfrm>
              <a:prstGeom prst="rect">
                <a:avLst/>
              </a:prstGeom>
              <a:blipFill>
                <a:blip r:embed="rId17"/>
                <a:stretch>
                  <a:fillRect l="-2807" t="-61446" b="-3373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矩形 19">
            <a:extLst>
              <a:ext uri="{FF2B5EF4-FFF2-40B4-BE49-F238E27FC236}">
                <a16:creationId xmlns:a16="http://schemas.microsoft.com/office/drawing/2014/main" id="{622BADDF-AAA6-6A13-8D1E-1DE1361F879D}"/>
              </a:ext>
            </a:extLst>
          </p:cNvPr>
          <p:cNvSpPr/>
          <p:nvPr/>
        </p:nvSpPr>
        <p:spPr>
          <a:xfrm>
            <a:off x="445476" y="5516780"/>
            <a:ext cx="1339534" cy="184667"/>
          </a:xfrm>
          <a:prstGeom prst="rect">
            <a:avLst/>
          </a:prstGeom>
          <a:noFill/>
          <a:ln w="190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>
            <a:noAutofit/>
          </a:bodyPr>
          <a:lstStyle/>
          <a:p>
            <a:pPr>
              <a:lnSpc>
                <a:spcPts val="1600"/>
              </a:lnSpc>
            </a:pPr>
            <a:r>
              <a:rPr lang="en-US" altLang="zh-TW" sz="1200" b="1" dirty="0">
                <a:solidFill>
                  <a:schemeClr val="tx2"/>
                </a:solidFill>
                <a:ea typeface="微軟正黑體" panose="020B0604030504040204" pitchFamily="34" charset="-120"/>
              </a:rPr>
              <a:t>Out = Inter + Intra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8EFEC0D8-9EA6-78A9-1A4F-47DF2C933841}"/>
                  </a:ext>
                </a:extLst>
              </p:cNvPr>
              <p:cNvSpPr txBox="1"/>
              <p:nvPr/>
            </p:nvSpPr>
            <p:spPr>
              <a:xfrm>
                <a:off x="807569" y="5229443"/>
                <a:ext cx="1285241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out</m:t>
                          </m:r>
                        </m:sub>
                      </m:sSub>
                      <m:r>
                        <a:rPr lang="en-US" altLang="zh-TW" sz="12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altLang="zh-TW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TW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</m:oMath>
                  </m:oMathPara>
                </a14:m>
                <a:endParaRPr lang="en-US" altLang="zh-TW" sz="1200" b="0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8EFEC0D8-9EA6-78A9-1A4F-47DF2C9338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569" y="5229443"/>
                <a:ext cx="1285241" cy="184666"/>
              </a:xfrm>
              <a:prstGeom prst="rect">
                <a:avLst/>
              </a:prstGeom>
              <a:blipFill>
                <a:blip r:embed="rId18"/>
                <a:stretch>
                  <a:fillRect l="-4265" b="-2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字方塊 24">
            <a:extLst>
              <a:ext uri="{FF2B5EF4-FFF2-40B4-BE49-F238E27FC236}">
                <a16:creationId xmlns:a16="http://schemas.microsoft.com/office/drawing/2014/main" id="{CBBB3F0A-3876-2F81-9C7F-5AD7A5F88D97}"/>
              </a:ext>
            </a:extLst>
          </p:cNvPr>
          <p:cNvSpPr txBox="1"/>
          <p:nvPr/>
        </p:nvSpPr>
        <p:spPr>
          <a:xfrm>
            <a:off x="509648" y="6016175"/>
            <a:ext cx="1734864" cy="236958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altLang="zh-TW" sz="1200" dirty="0"/>
              <a:t>Sum(KV</a:t>
            </a:r>
            <a:r>
              <a:rPr lang="en-US" altLang="zh-TW" sz="1200" baseline="-25000" dirty="0"/>
              <a:t>0</a:t>
            </a:r>
            <a:r>
              <a:rPr lang="en-US" altLang="zh-TW" sz="1200" dirty="0"/>
              <a:t>, KV</a:t>
            </a:r>
            <a:r>
              <a:rPr lang="en-US" altLang="zh-TW" sz="1200" baseline="-25000" dirty="0"/>
              <a:t>1</a:t>
            </a:r>
            <a:r>
              <a:rPr lang="en-US" altLang="zh-TW" sz="1200" dirty="0"/>
              <a:t>,…, KV</a:t>
            </a:r>
            <a:r>
              <a:rPr lang="en-US" altLang="zh-TW" sz="1200" baseline="-25000" dirty="0"/>
              <a:t>i</a:t>
            </a:r>
            <a:r>
              <a:rPr lang="en-US" altLang="zh-TW" sz="1200" dirty="0"/>
              <a:t>)*Qi</a:t>
            </a:r>
            <a:endParaRPr lang="zh-TW" alt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DCC735DC-4876-D6D3-13DD-9B59420B84DE}"/>
                  </a:ext>
                </a:extLst>
              </p:cNvPr>
              <p:cNvSpPr txBox="1"/>
              <p:nvPr/>
            </p:nvSpPr>
            <p:spPr>
              <a:xfrm>
                <a:off x="442078" y="4589133"/>
                <a:ext cx="2016224" cy="5680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>
                  <a:lnSpc>
                    <a:spcPts val="1600"/>
                  </a:lnSpc>
                </a:pPr>
                <a:r>
                  <a:rPr lang="en-US" altLang="zh-TW" sz="1000" b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mbria Math" panose="02040503050406030204" pitchFamily="18" charset="0"/>
                  </a:rPr>
                  <a:t>Chunkwise</a:t>
                </a:r>
              </a:p>
              <a:p>
                <a:pPr>
                  <a:lnSpc>
                    <a:spcPts val="16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US" altLang="zh-TW" sz="12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altLang="zh-TW" sz="1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TW" sz="1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TW" sz="120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TW" sz="120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Y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TW" sz="120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altLang="zh-TW" sz="1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K</m:t>
                      </m:r>
                    </m:oMath>
                  </m:oMathPara>
                </a14:m>
                <a:endParaRPr lang="en-US" altLang="zh-TW" sz="1200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ts val="16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altLang="zh-TW" sz="1200" b="0" i="0" smtClean="0"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en-US" altLang="zh-TW" sz="12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1200" b="0" i="0" smtClean="0">
                          <a:latin typeface="Cambria Math" panose="02040503050406030204" pitchFamily="18" charset="0"/>
                        </a:rPr>
                        <m:t>tril</m:t>
                      </m:r>
                      <m:r>
                        <a:rPr lang="en-US" altLang="zh-TW" sz="12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TW" sz="1200" b="0" i="0" smtClean="0">
                          <a:latin typeface="Cambria Math" panose="02040503050406030204" pitchFamily="18" charset="0"/>
                        </a:rPr>
                        <m:t>K</m:t>
                      </m:r>
                      <m:sSup>
                        <m:sSupPr>
                          <m:ctrlPr>
                            <a:rPr lang="en-US" altLang="zh-TW" sz="120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TW" sz="120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Y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TW" sz="120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altLang="zh-TW" sz="1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altLang="zh-TW" sz="1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</m:t>
                      </m:r>
                      <m:r>
                        <a:rPr lang="en-US" altLang="zh-TW" sz="1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TW" sz="1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Q</m:t>
                      </m:r>
                      <m:sSubSup>
                        <m:sSubSupPr>
                          <m:ctrlPr>
                            <a:rPr lang="en-US" altLang="zh-TW" sz="1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altLang="zh-TW" sz="1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sup>
                      </m:sSubSup>
                    </m:oMath>
                  </m:oMathPara>
                </a14:m>
                <a:endParaRPr lang="en-US" altLang="zh-TW" sz="1200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DCC735DC-4876-D6D3-13DD-9B59420B84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078" y="4589133"/>
                <a:ext cx="2016224" cy="568059"/>
              </a:xfrm>
              <a:prstGeom prst="rect">
                <a:avLst/>
              </a:prstGeom>
              <a:blipFill>
                <a:blip r:embed="rId19"/>
                <a:stretch>
                  <a:fillRect l="-3939" t="-5376" b="-150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BC4DBC68-A6E0-49F2-FD7B-AD50F3261BF1}"/>
                  </a:ext>
                </a:extLst>
              </p:cNvPr>
              <p:cNvSpPr txBox="1"/>
              <p:nvPr/>
            </p:nvSpPr>
            <p:spPr>
              <a:xfrm>
                <a:off x="449931" y="3937308"/>
                <a:ext cx="2119426" cy="6186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1600"/>
                  </a:lnSpc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新細明體" panose="02020500000000000000" pitchFamily="18" charset="-120"/>
                    <a:cs typeface="+mn-cs"/>
                  </a:rPr>
                  <a:t>Inference</a:t>
                </a:r>
              </a:p>
              <a:p>
                <a:pPr>
                  <a:lnSpc>
                    <a:spcPts val="16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altLang="zh-TW" sz="12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1200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1200" b="0" i="0" smtClean="0">
                              <a:latin typeface="Cambria Math" panose="02040503050406030204" pitchFamily="18" charset="0"/>
                            </a:rPr>
                            <m:t>α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sSub>
                        <m:sSubPr>
                          <m:ctrl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en-US" sz="1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1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β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sSub>
                        <m:sSubPr>
                          <m:ctrl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altLang="zh-TW" sz="1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TW" sz="12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altLang="zh-TW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TW" sz="12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sSub>
                        <m:sSubPr>
                          <m:ctrl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TW" sz="1200" b="0" i="0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bSup>
                    </m:oMath>
                  </m:oMathPara>
                </a14:m>
                <a:endParaRPr lang="en-US" altLang="zh-TW" sz="1200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ts val="16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1200" i="0">
                            <a:latin typeface="Cambria Math" panose="02040503050406030204" pitchFamily="18" charset="0"/>
                          </a:rPr>
                          <m:t>O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200" i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en-US" altLang="zh-TW" sz="1200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1200" i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1200" i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200" i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sSub>
                      <m:sSubPr>
                        <m:ctrlPr>
                          <a:rPr lang="en-US" altLang="zh-TW" sz="1200" i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1200" i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200" i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zh-TW" altLang="en-US" sz="1200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zh-TW" altLang="en-US" sz="1200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200" i="1" dirty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zh-TW" sz="1200" i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5"/>
                          </m:rPr>
                          <a:rPr lang="en-US" altLang="zh-TW" sz="1200" i="0">
                            <a:latin typeface="Cambria Math" panose="02040503050406030204" pitchFamily="18" charset="0"/>
                          </a:rPr>
                          <m:t>j</m:t>
                        </m:r>
                        <m:r>
                          <m:rPr>
                            <m:brk m:alnAt="25"/>
                          </m:rPr>
                          <a:rPr lang="en-US" altLang="zh-TW" sz="1200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5"/>
                          </m:rPr>
                          <a:rPr lang="en-US" altLang="zh-TW" sz="120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TW" sz="1200" i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  <m:e>
                        <m:r>
                          <a:rPr lang="en-US" altLang="zh-TW" sz="1200" i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1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en-US" altLang="zh-TW" sz="1200" i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TW" sz="1200" i="0"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200" i="0"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 altLang="zh-TW" sz="1200" i="0"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bSup>
                      </m:e>
                    </m:nary>
                    <m:sSub>
                      <m:sSubPr>
                        <m:ctrlPr>
                          <a:rPr lang="en-US" altLang="zh-TW" sz="1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1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j</m:t>
                        </m:r>
                      </m:sub>
                    </m:sSub>
                    <m:r>
                      <a:rPr lang="en-US" altLang="zh-TW" sz="12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zh-TW" sz="1200" i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TW" sz="1200" i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1200" i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200" i="0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</m:oMath>
                </a14:m>
                <a:endParaRPr lang="en-US" altLang="zh-TW" sz="1200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BC4DBC68-A6E0-49F2-FD7B-AD50F3261B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931" y="3937308"/>
                <a:ext cx="2119426" cy="618696"/>
              </a:xfrm>
              <a:prstGeom prst="rect">
                <a:avLst/>
              </a:prstGeom>
              <a:blipFill>
                <a:blip r:embed="rId20"/>
                <a:stretch>
                  <a:fillRect l="-3746" t="-1980" b="-742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矩形 30">
            <a:extLst>
              <a:ext uri="{FF2B5EF4-FFF2-40B4-BE49-F238E27FC236}">
                <a16:creationId xmlns:a16="http://schemas.microsoft.com/office/drawing/2014/main" id="{FF3BA4FC-488D-8DD6-DDA4-CA3DA86E4943}"/>
              </a:ext>
            </a:extLst>
          </p:cNvPr>
          <p:cNvSpPr/>
          <p:nvPr/>
        </p:nvSpPr>
        <p:spPr>
          <a:xfrm>
            <a:off x="361536" y="3789040"/>
            <a:ext cx="1618176" cy="184667"/>
          </a:xfrm>
          <a:prstGeom prst="rect">
            <a:avLst/>
          </a:prstGeom>
          <a:noFill/>
          <a:ln w="190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>
            <a:noAutofit/>
          </a:bodyPr>
          <a:lstStyle/>
          <a:p>
            <a:pPr>
              <a:lnSpc>
                <a:spcPts val="1600"/>
              </a:lnSpc>
            </a:pPr>
            <a:r>
              <a:rPr lang="en-US" altLang="zh-TW" sz="1200" b="1" dirty="0">
                <a:solidFill>
                  <a:schemeClr val="tx2"/>
                </a:solidFill>
                <a:ea typeface="微軟正黑體" panose="020B0604030504040204" pitchFamily="34" charset="-120"/>
              </a:rPr>
              <a:t>DeltaNet (Delta Rule + WY)</a:t>
            </a:r>
          </a:p>
        </p:txBody>
      </p:sp>
    </p:spTree>
    <p:extLst>
      <p:ext uri="{BB962C8B-B14F-4D97-AF65-F5344CB8AC3E}">
        <p14:creationId xmlns:p14="http://schemas.microsoft.com/office/powerpoint/2010/main" val="887080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C8D61-2B6F-C5C7-F5AE-29A4CB22F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標題 1">
            <a:extLst>
              <a:ext uri="{FF2B5EF4-FFF2-40B4-BE49-F238E27FC236}">
                <a16:creationId xmlns:a16="http://schemas.microsoft.com/office/drawing/2014/main" id="{F2D8A0F2-D716-5D6D-E75A-E82694D082BA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885698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LA and RNN in 2026</a:t>
            </a:r>
            <a:endParaRPr lang="en-US" altLang="zh-TW" sz="2800" b="1" dirty="0">
              <a:solidFill>
                <a:schemeClr val="accent6">
                  <a:lumMod val="75000"/>
                </a:schemeClr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</a:endParaRPr>
          </a:p>
          <a:p>
            <a:r>
              <a:rPr lang="en-US" altLang="zh-TW" sz="14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GDN(Delta Rule) KDA(Channel-wise) GND2(Decoupled Intensity) EDA(Decoupled Addresses)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E7F3C27E-59F6-DEE3-6C91-C32B992F19B7}"/>
              </a:ext>
            </a:extLst>
          </p:cNvPr>
          <p:cNvSpPr/>
          <p:nvPr/>
        </p:nvSpPr>
        <p:spPr>
          <a:xfrm>
            <a:off x="5292081" y="3875007"/>
            <a:ext cx="2594428" cy="231682"/>
          </a:xfrm>
          <a:prstGeom prst="rect">
            <a:avLst/>
          </a:prstGeom>
          <a:noFill/>
          <a:ln w="190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noAutofit/>
          </a:bodyPr>
          <a:lstStyle/>
          <a:p>
            <a:pPr>
              <a:lnSpc>
                <a:spcPts val="1600"/>
              </a:lnSpc>
            </a:pPr>
            <a:r>
              <a:rPr lang="en-US" altLang="zh-TW" sz="1200" b="1" dirty="0">
                <a:solidFill>
                  <a:schemeClr val="tx2"/>
                </a:solidFill>
                <a:ea typeface="微軟正黑體" panose="020B0604030504040204" pitchFamily="34" charset="-120"/>
              </a:rPr>
              <a:t>Kimi Delta Attention</a:t>
            </a:r>
            <a:r>
              <a:rPr lang="zh-TW" altLang="en-US" sz="1200" b="1" dirty="0">
                <a:solidFill>
                  <a:schemeClr val="tx2"/>
                </a:solidFill>
                <a:ea typeface="微軟正黑體" panose="020B0604030504040204" pitchFamily="34" charset="-120"/>
              </a:rPr>
              <a:t> </a:t>
            </a:r>
            <a:r>
              <a:rPr lang="en-US" altLang="zh-TW" sz="1200" b="1" dirty="0">
                <a:solidFill>
                  <a:schemeClr val="tx2"/>
                </a:solidFill>
                <a:ea typeface="微軟正黑體" panose="020B0604030504040204" pitchFamily="34" charset="-120"/>
              </a:rPr>
              <a:t>(KDA) 2025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1B5BCC7-AA46-CF82-1E3F-2D3458745856}"/>
              </a:ext>
            </a:extLst>
          </p:cNvPr>
          <p:cNvSpPr/>
          <p:nvPr/>
        </p:nvSpPr>
        <p:spPr>
          <a:xfrm>
            <a:off x="5292080" y="4911551"/>
            <a:ext cx="3674547" cy="217756"/>
          </a:xfrm>
          <a:prstGeom prst="rect">
            <a:avLst/>
          </a:prstGeom>
          <a:noFill/>
          <a:ln w="190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noAutofit/>
          </a:bodyPr>
          <a:lstStyle/>
          <a:p>
            <a:pPr>
              <a:lnSpc>
                <a:spcPts val="1600"/>
              </a:lnSpc>
            </a:pPr>
            <a:r>
              <a:rPr lang="en-US" altLang="zh-TW" sz="1200" b="1" dirty="0">
                <a:solidFill>
                  <a:schemeClr val="tx2"/>
                </a:solidFill>
                <a:ea typeface="微軟正黑體" panose="020B0604030504040204" pitchFamily="34" charset="-120"/>
              </a:rPr>
              <a:t>NV</a:t>
            </a:r>
            <a:r>
              <a:rPr lang="zh-TW" altLang="en-US" sz="1200" b="1" dirty="0">
                <a:solidFill>
                  <a:schemeClr val="tx2"/>
                </a:solidFill>
                <a:ea typeface="微軟正黑體" panose="020B0604030504040204" pitchFamily="34" charset="-120"/>
              </a:rPr>
              <a:t> </a:t>
            </a:r>
            <a:r>
              <a:rPr lang="en-US" altLang="zh-TW" sz="1200" b="1" dirty="0">
                <a:solidFill>
                  <a:schemeClr val="tx2"/>
                </a:solidFill>
                <a:ea typeface="微軟正黑體" panose="020B0604030504040204" pitchFamily="34" charset="-120"/>
              </a:rPr>
              <a:t>Gated DeltaNet-2</a:t>
            </a:r>
            <a:r>
              <a:rPr lang="zh-TW" altLang="en-US" sz="1200" b="1" dirty="0">
                <a:solidFill>
                  <a:schemeClr val="tx2"/>
                </a:solidFill>
                <a:ea typeface="微軟正黑體" panose="020B0604030504040204" pitchFamily="34" charset="-120"/>
              </a:rPr>
              <a:t> </a:t>
            </a:r>
            <a:r>
              <a:rPr lang="en-US" altLang="zh-TW" sz="1200" b="1" dirty="0">
                <a:solidFill>
                  <a:schemeClr val="tx2"/>
                </a:solidFill>
                <a:ea typeface="微軟正黑體" panose="020B0604030504040204" pitchFamily="34" charset="-120"/>
              </a:rPr>
              <a:t>(GDN2) 2026</a:t>
            </a:r>
          </a:p>
        </p:txBody>
      </p:sp>
      <p:sp>
        <p:nvSpPr>
          <p:cNvPr id="6" name="文字方塊 5">
            <a:hlinkClick r:id="rId3"/>
            <a:extLst>
              <a:ext uri="{FF2B5EF4-FFF2-40B4-BE49-F238E27FC236}">
                <a16:creationId xmlns:a16="http://schemas.microsoft.com/office/drawing/2014/main" id="{4084258E-8A70-76CB-0D86-91C8E30521EB}"/>
              </a:ext>
            </a:extLst>
          </p:cNvPr>
          <p:cNvSpPr txBox="1"/>
          <p:nvPr/>
        </p:nvSpPr>
        <p:spPr>
          <a:xfrm>
            <a:off x="184498" y="6456766"/>
            <a:ext cx="1111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xx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8715D945-CBFD-FA35-248C-92FB53721142}"/>
                  </a:ext>
                </a:extLst>
              </p:cNvPr>
              <p:cNvSpPr txBox="1"/>
              <p:nvPr/>
            </p:nvSpPr>
            <p:spPr>
              <a:xfrm>
                <a:off x="5292080" y="6135687"/>
                <a:ext cx="3674547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>
                  <a:lnSpc>
                    <a:spcPts val="18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altLang="zh-TW" sz="12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altLang="zh-TW" sz="1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1200" i="0">
                          <a:latin typeface="Cambria Math" panose="02040503050406030204" pitchFamily="18" charset="0"/>
                        </a:rPr>
                        <m:t>Diag</m:t>
                      </m:r>
                      <m:r>
                        <a:rPr lang="en-US" altLang="zh-TW" sz="1200" i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TW" altLang="en-US" sz="12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1200" i="0">
                              <a:latin typeface="Cambria Math" panose="02040503050406030204" pitchFamily="18" charset="0"/>
                            </a:rPr>
                            <m:t>α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altLang="zh-TW" sz="1200" i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TW" sz="1200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zh-TW" sz="12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altLang="zh-TW" sz="1200" i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TW" sz="1200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zh-TW" sz="1200" i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altLang="zh-TW" sz="1200" i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altLang="zh-TW" sz="120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altLang="zh-TW" sz="1200" i="0">
                          <a:latin typeface="Cambria Math" panose="02040503050406030204" pitchFamily="18" charset="0"/>
                        </a:rPr>
                        <m:t>Diag</m:t>
                      </m:r>
                      <m:r>
                        <a:rPr lang="en-US" altLang="zh-TW" sz="1200" i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TW" altLang="en-US" sz="12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1200" i="0">
                              <a:latin typeface="Cambria Math" panose="02040503050406030204" pitchFamily="18" charset="0"/>
                            </a:rPr>
                            <m:t>β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altLang="zh-TW" sz="1200" i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altLang="zh-TW" sz="12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sSubSup>
                        <m:sSubSupPr>
                          <m:ctrlPr>
                            <a:rPr lang="en-US" altLang="zh-TW" sz="12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sz="12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bSup>
                      <m:r>
                        <a:rPr lang="en-US" altLang="zh-TW" sz="1200" i="0">
                          <a:latin typeface="Cambria Math" panose="02040503050406030204" pitchFamily="18" charset="0"/>
                        </a:rPr>
                        <m:t>] +</m:t>
                      </m:r>
                      <m:r>
                        <m:rPr>
                          <m:sty m:val="p"/>
                        </m:rPr>
                        <a:rPr lang="en-US" altLang="zh-TW" sz="1200" i="0">
                          <a:latin typeface="Cambria Math" panose="02040503050406030204" pitchFamily="18" charset="0"/>
                        </a:rPr>
                        <m:t>Diag</m:t>
                      </m:r>
                      <m:r>
                        <a:rPr lang="en-US" altLang="zh-TW" sz="1200" i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l-GR" altLang="zh-TW" sz="120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TW" sz="120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altLang="zh-TW" sz="1200" i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altLang="zh-TW" sz="12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l-GR" altLang="zh-TW" sz="12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ν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sSubSup>
                        <m:sSubSupPr>
                          <m:ctrlPr>
                            <a:rPr lang="en-US" altLang="zh-TW" sz="1200" i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bSup>
                    </m:oMath>
                  </m:oMathPara>
                </a14:m>
                <a:endParaRPr lang="en-US" altLang="zh-TW" sz="1200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ts val="18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altLang="zh-TW" sz="12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altLang="zh-TW" sz="12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Diag</m:t>
                          </m:r>
                          <m: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TW" sz="1200" b="0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200" b="0" i="0" smtClean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sz="1200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  <m: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sSub>
                        <m:sSubPr>
                          <m:ctrlPr>
                            <a:rPr lang="en-US" altLang="zh-TW" sz="12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altLang="zh-TW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1200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8715D945-CBFD-FA35-248C-92FB537211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2080" y="6135687"/>
                <a:ext cx="3674547" cy="461665"/>
              </a:xfrm>
              <a:prstGeom prst="rect">
                <a:avLst/>
              </a:prstGeom>
              <a:blipFill>
                <a:blip r:embed="rId4"/>
                <a:stretch>
                  <a:fillRect l="-1493" r="-829" b="-12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>
            <a:extLst>
              <a:ext uri="{FF2B5EF4-FFF2-40B4-BE49-F238E27FC236}">
                <a16:creationId xmlns:a16="http://schemas.microsoft.com/office/drawing/2014/main" id="{A7C35DB0-DB57-E601-5A1C-7A79A28A9D91}"/>
              </a:ext>
            </a:extLst>
          </p:cNvPr>
          <p:cNvSpPr/>
          <p:nvPr/>
        </p:nvSpPr>
        <p:spPr>
          <a:xfrm>
            <a:off x="5292080" y="5917931"/>
            <a:ext cx="3674547" cy="217756"/>
          </a:xfrm>
          <a:prstGeom prst="rect">
            <a:avLst/>
          </a:prstGeom>
          <a:noFill/>
          <a:ln w="190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noAutofit/>
          </a:bodyPr>
          <a:lstStyle/>
          <a:p>
            <a:pPr>
              <a:lnSpc>
                <a:spcPts val="1600"/>
              </a:lnSpc>
            </a:pPr>
            <a:r>
              <a:rPr lang="en-US" altLang="zh-TW" sz="1200" b="1" dirty="0">
                <a:solidFill>
                  <a:schemeClr val="tx2"/>
                </a:solidFill>
                <a:ea typeface="微軟正黑體" panose="020B0604030504040204" pitchFamily="34" charset="-120"/>
              </a:rPr>
              <a:t>NV Erase-then-Delta Attention (EDA)</a:t>
            </a:r>
            <a:r>
              <a:rPr lang="zh-TW" altLang="en-US" sz="1200" b="1" dirty="0">
                <a:solidFill>
                  <a:schemeClr val="tx2"/>
                </a:solidFill>
                <a:ea typeface="微軟正黑體" panose="020B0604030504040204" pitchFamily="34" charset="-120"/>
              </a:rPr>
              <a:t> </a:t>
            </a:r>
            <a:r>
              <a:rPr lang="en-US" altLang="zh-TW" sz="1200" b="1" dirty="0">
                <a:solidFill>
                  <a:schemeClr val="tx2"/>
                </a:solidFill>
                <a:ea typeface="微軟正黑體" panose="020B0604030504040204" pitchFamily="34" charset="-120"/>
              </a:rPr>
              <a:t>2026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4EB624C9-5FA3-5259-A6BC-4F33F7F653B7}"/>
                  </a:ext>
                </a:extLst>
              </p:cNvPr>
              <p:cNvSpPr txBox="1"/>
              <p:nvPr/>
            </p:nvSpPr>
            <p:spPr>
              <a:xfrm>
                <a:off x="5292080" y="5127575"/>
                <a:ext cx="3674547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>
                  <a:lnSpc>
                    <a:spcPts val="18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altLang="zh-TW" sz="12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altLang="zh-TW" sz="120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1200" i="1">
                          <a:latin typeface="Cambria Math" panose="02040503050406030204" pitchFamily="18" charset="0"/>
                        </a:rPr>
                        <m:t>Diag</m:t>
                      </m:r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TW" altLang="en-US" sz="12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1200">
                              <a:latin typeface="Cambria Math" panose="02040503050406030204" pitchFamily="18" charset="0"/>
                            </a:rPr>
                            <m:t>α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TW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zh-TW" sz="12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altLang="zh-TW" sz="120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TW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altLang="zh-TW" sz="1200" i="1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altLang="zh-TW" sz="120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altLang="zh-TW" sz="12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Diag</m:t>
                      </m:r>
                      <m:r>
                        <a:rPr lang="en-US" altLang="zh-TW" sz="12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TW" altLang="en-US" sz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β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altLang="zh-TW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altLang="zh-TW" sz="12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sSubSup>
                        <m:sSubSupPr>
                          <m:ctrlPr>
                            <a:rPr lang="en-US" altLang="zh-TW" sz="120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bSup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] </m:t>
                      </m:r>
                      <m:r>
                        <a:rPr lang="en-US" altLang="zh-TW" sz="120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TW" sz="12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Diag</m:t>
                      </m:r>
                      <m:r>
                        <a:rPr lang="en-US" altLang="zh-TW" sz="12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l-GR" altLang="zh-TW" sz="12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TW" sz="12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altLang="zh-TW" sz="12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altLang="zh-TW" sz="12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l-GR" altLang="zh-TW" sz="12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ν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sSubSup>
                        <m:sSubSupPr>
                          <m:ctrlPr>
                            <a:rPr lang="en-US" altLang="zh-TW" sz="120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bSup>
                    </m:oMath>
                  </m:oMathPara>
                </a14:m>
                <a:endParaRPr lang="en-US" altLang="zh-TW" sz="1200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ts val="18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altLang="zh-TW" sz="12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altLang="zh-TW" sz="12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Diag</m:t>
                          </m:r>
                          <m: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TW" sz="1200" b="0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200" b="0" i="0" smtClean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sz="1200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  <m: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sSub>
                        <m:sSubPr>
                          <m:ctrlPr>
                            <a:rPr lang="en-US" altLang="zh-TW" sz="12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altLang="zh-TW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1200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4EB624C9-5FA3-5259-A6BC-4F33F7F653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2080" y="5127575"/>
                <a:ext cx="3674547" cy="461665"/>
              </a:xfrm>
              <a:prstGeom prst="rect">
                <a:avLst/>
              </a:prstGeom>
              <a:blipFill>
                <a:blip r:embed="rId5"/>
                <a:stretch>
                  <a:fillRect l="-1493" r="-1327" b="-1184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D73D19A9-7CC0-DF24-4DA5-98E3E8D43421}"/>
                  </a:ext>
                </a:extLst>
              </p:cNvPr>
              <p:cNvSpPr txBox="1"/>
              <p:nvPr/>
            </p:nvSpPr>
            <p:spPr>
              <a:xfrm>
                <a:off x="5292080" y="4119463"/>
                <a:ext cx="3024336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>
                  <a:lnSpc>
                    <a:spcPts val="18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altLang="zh-TW" sz="12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altLang="zh-TW" sz="120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Diag</m:t>
                      </m:r>
                      <m:r>
                        <a:rPr lang="en-US" altLang="zh-TW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TW" altLang="en-US" sz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α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altLang="zh-TW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TW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zh-TW" sz="12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altLang="zh-TW" sz="120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TW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altLang="zh-TW" sz="1200" i="1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altLang="zh-TW" sz="120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TW" altLang="en-US" sz="12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1200">
                              <a:latin typeface="Cambria Math" panose="02040503050406030204" pitchFamily="18" charset="0"/>
                            </a:rPr>
                            <m:t>β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sSub>
                        <m:sSubPr>
                          <m:ctrlPr>
                            <a:rPr lang="en-US" altLang="zh-TW" sz="12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sSubSup>
                        <m:sSubSupPr>
                          <m:ctrlPr>
                            <a:rPr lang="en-US" altLang="zh-TW" sz="120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bSup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] </m:t>
                      </m:r>
                      <m:r>
                        <a:rPr lang="en-US" altLang="zh-TW" sz="12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en-US" sz="12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1200">
                              <a:latin typeface="Cambria Math" panose="02040503050406030204" pitchFamily="18" charset="0"/>
                            </a:rPr>
                            <m:t>β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sSub>
                        <m:sSubPr>
                          <m:ctrlPr>
                            <a:rPr lang="en-US" altLang="zh-TW" sz="12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l-GR" altLang="zh-TW" sz="12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ν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sSubSup>
                        <m:sSubSupPr>
                          <m:ctrlPr>
                            <a:rPr lang="en-US" altLang="zh-TW" sz="120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bSup>
                    </m:oMath>
                  </m:oMathPara>
                </a14:m>
                <a:endParaRPr lang="en-US" altLang="zh-TW" sz="1200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ts val="18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altLang="zh-TW" sz="12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altLang="zh-TW" sz="12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2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sSub>
                        <m:sSubPr>
                          <m:ctrlPr>
                            <a:rPr lang="en-US" altLang="zh-TW" sz="12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D73D19A9-7CC0-DF24-4DA5-98E3E8D434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2080" y="4119463"/>
                <a:ext cx="3024336" cy="461665"/>
              </a:xfrm>
              <a:prstGeom prst="rect">
                <a:avLst/>
              </a:prstGeom>
              <a:blipFill>
                <a:blip r:embed="rId6"/>
                <a:stretch>
                  <a:fillRect l="-1815"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矩形 19">
            <a:extLst>
              <a:ext uri="{FF2B5EF4-FFF2-40B4-BE49-F238E27FC236}">
                <a16:creationId xmlns:a16="http://schemas.microsoft.com/office/drawing/2014/main" id="{769AA3A1-F1B0-0A7D-B8D4-06E5AF6F4FE3}"/>
              </a:ext>
            </a:extLst>
          </p:cNvPr>
          <p:cNvSpPr/>
          <p:nvPr/>
        </p:nvSpPr>
        <p:spPr>
          <a:xfrm>
            <a:off x="5292081" y="2046923"/>
            <a:ext cx="2306396" cy="229950"/>
          </a:xfrm>
          <a:prstGeom prst="rect">
            <a:avLst/>
          </a:prstGeom>
          <a:noFill/>
          <a:ln w="190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noAutofit/>
          </a:bodyPr>
          <a:lstStyle/>
          <a:p>
            <a:pPr>
              <a:lnSpc>
                <a:spcPts val="1600"/>
              </a:lnSpc>
            </a:pPr>
            <a:r>
              <a:rPr lang="en-US" altLang="zh-TW" sz="1200" b="1" dirty="0">
                <a:solidFill>
                  <a:schemeClr val="tx2"/>
                </a:solidFill>
                <a:ea typeface="微軟正黑體" panose="020B0604030504040204" pitchFamily="34" charset="-120"/>
              </a:rPr>
              <a:t>Gated </a:t>
            </a:r>
            <a:r>
              <a:rPr lang="zh-TW" altLang="en-US" sz="1200" b="1" dirty="0">
                <a:solidFill>
                  <a:schemeClr val="tx2"/>
                </a:solidFill>
                <a:ea typeface="微軟正黑體" panose="020B0604030504040204" pitchFamily="34" charset="-120"/>
              </a:rPr>
              <a:t> </a:t>
            </a:r>
            <a:r>
              <a:rPr lang="en-US" altLang="zh-TW" sz="1200" b="1" dirty="0">
                <a:solidFill>
                  <a:schemeClr val="tx2"/>
                </a:solidFill>
                <a:ea typeface="微軟正黑體" panose="020B0604030504040204" pitchFamily="34" charset="-120"/>
              </a:rPr>
              <a:t>Delta Network (GDN) 2024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6DFBCC9B-F87E-B797-5C3A-539916E7C844}"/>
                  </a:ext>
                </a:extLst>
              </p:cNvPr>
              <p:cNvSpPr txBox="1"/>
              <p:nvPr/>
            </p:nvSpPr>
            <p:spPr>
              <a:xfrm>
                <a:off x="5292080" y="2637519"/>
                <a:ext cx="2898089" cy="86348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>
                  <a:lnSpc>
                    <a:spcPts val="18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altLang="zh-TW" sz="12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altLang="zh-TW" sz="12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α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altLang="zh-TW" sz="12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zh-TW" sz="12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altLang="zh-TW" sz="120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TW" sz="1200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en-US" sz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β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altLang="zh-TW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1200" b="0" i="0" smtClean="0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altLang="zh-TW" sz="12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l-GR" altLang="zh-TW" sz="12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ν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altLang="zh-TW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12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12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TW" sz="12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altLang="zh-TW" sz="120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sSub>
                        <m:sSubPr>
                          <m:ctrlPr>
                            <a:rPr lang="en-US" altLang="zh-TW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altLang="zh-TW" sz="1200" b="0" i="1" smtClean="0">
                          <a:latin typeface="Cambria Math" panose="02040503050406030204" pitchFamily="18" charset="0"/>
                        </a:rPr>
                        <m:t>] </m:t>
                      </m:r>
                      <m:sSubSup>
                        <m:sSubSupPr>
                          <m:ctrlPr>
                            <a:rPr lang="en-US" altLang="zh-TW" sz="120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bSup>
                    </m:oMath>
                  </m:oMathPara>
                </a14:m>
                <a:endParaRPr lang="en-US" altLang="zh-TW" sz="1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ts val="1800"/>
                  </a:lnSpc>
                </a:pPr>
                <a:endParaRPr lang="en-US" altLang="zh-TW" sz="12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ts val="18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altLang="zh-TW" sz="12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12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12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α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altLang="zh-TW" sz="12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zh-TW" sz="12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altLang="zh-TW" sz="1200" i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TW" sz="12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zh-TW" sz="1200" b="0" i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altLang="zh-TW" sz="12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altLang="zh-TW" sz="12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TW" altLang="en-US" sz="12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12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β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sSub>
                        <m:sSubPr>
                          <m:ctrlPr>
                            <a:rPr lang="en-US" altLang="zh-TW" sz="12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sSubSup>
                        <m:sSubSupPr>
                          <m:ctrlPr>
                            <a:rPr lang="en-US" altLang="zh-TW" sz="12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2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sz="12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bSup>
                      <m:r>
                        <a:rPr lang="en-US" altLang="zh-TW" sz="1200" b="0" i="0" smtClean="0">
                          <a:latin typeface="Cambria Math" panose="02040503050406030204" pitchFamily="18" charset="0"/>
                        </a:rPr>
                        <m:t>] +</m:t>
                      </m:r>
                      <m:sSub>
                        <m:sSubPr>
                          <m:ctrlPr>
                            <a:rPr lang="zh-TW" altLang="en-US" sz="12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12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β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sSub>
                        <m:sSubPr>
                          <m:ctrl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l-GR" altLang="zh-TW" sz="1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ν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sSubSup>
                        <m:sSubSupPr>
                          <m:ctrl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bSup>
                    </m:oMath>
                  </m:oMathPara>
                </a14:m>
                <a:endParaRPr lang="en-US" altLang="zh-TW" sz="1200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ts val="18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altLang="zh-TW" sz="12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altLang="zh-TW" sz="12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2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sSub>
                        <m:sSubPr>
                          <m:ctrlPr>
                            <a:rPr lang="en-US" altLang="zh-TW" sz="12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6DFBCC9B-F87E-B797-5C3A-539916E7C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2080" y="2637519"/>
                <a:ext cx="2898089" cy="863489"/>
              </a:xfrm>
              <a:prstGeom prst="rect">
                <a:avLst/>
              </a:prstGeom>
              <a:blipFill>
                <a:blip r:embed="rId7"/>
                <a:stretch>
                  <a:fillRect l="-1891" t="-709" b="-638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字方塊 23">
            <a:extLst>
              <a:ext uri="{FF2B5EF4-FFF2-40B4-BE49-F238E27FC236}">
                <a16:creationId xmlns:a16="http://schemas.microsoft.com/office/drawing/2014/main" id="{AE6A647D-58C1-42C5-A745-D14C47882EE7}"/>
              </a:ext>
            </a:extLst>
          </p:cNvPr>
          <p:cNvSpPr txBox="1"/>
          <p:nvPr/>
        </p:nvSpPr>
        <p:spPr>
          <a:xfrm>
            <a:off x="5582252" y="2339356"/>
            <a:ext cx="644018" cy="229950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000"/>
              </a:lnSpc>
            </a:pPr>
            <a:r>
              <a:rPr lang="en-US" altLang="zh-TW" sz="1000" dirty="0"/>
              <a:t>Mamba-2</a:t>
            </a:r>
          </a:p>
          <a:p>
            <a:pPr algn="ctr">
              <a:lnSpc>
                <a:spcPts val="1000"/>
              </a:lnSpc>
            </a:pPr>
            <a:r>
              <a:rPr lang="en-US" altLang="zh-TW" sz="1000" dirty="0"/>
              <a:t>Gating</a:t>
            </a:r>
          </a:p>
        </p:txBody>
      </p:sp>
      <p:sp>
        <p:nvSpPr>
          <p:cNvPr id="26" name="左大括弧 25">
            <a:extLst>
              <a:ext uri="{FF2B5EF4-FFF2-40B4-BE49-F238E27FC236}">
                <a16:creationId xmlns:a16="http://schemas.microsoft.com/office/drawing/2014/main" id="{5A4458D2-C82D-775D-5A0C-2529CD8E71CE}"/>
              </a:ext>
            </a:extLst>
          </p:cNvPr>
          <p:cNvSpPr/>
          <p:nvPr/>
        </p:nvSpPr>
        <p:spPr>
          <a:xfrm rot="5400000">
            <a:off x="5830142" y="2402935"/>
            <a:ext cx="61233" cy="432047"/>
          </a:xfrm>
          <a:prstGeom prst="leftBrace">
            <a:avLst>
              <a:gd name="adj1" fmla="val 41469"/>
              <a:gd name="adj2" fmla="val 50000"/>
            </a:avLst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AF656949-0954-0FB7-F415-648C32418BEF}"/>
              </a:ext>
            </a:extLst>
          </p:cNvPr>
          <p:cNvSpPr txBox="1"/>
          <p:nvPr/>
        </p:nvSpPr>
        <p:spPr>
          <a:xfrm>
            <a:off x="6844350" y="2339356"/>
            <a:ext cx="355986" cy="253767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000"/>
              </a:lnSpc>
            </a:pPr>
            <a:r>
              <a:rPr lang="en-US" altLang="zh-TW" sz="1000" dirty="0"/>
              <a:t>Delta</a:t>
            </a:r>
          </a:p>
          <a:p>
            <a:pPr algn="ctr">
              <a:lnSpc>
                <a:spcPts val="1000"/>
              </a:lnSpc>
            </a:pPr>
            <a:r>
              <a:rPr lang="en-US" altLang="zh-TW" sz="1000" dirty="0"/>
              <a:t>Rule</a:t>
            </a:r>
          </a:p>
        </p:txBody>
      </p:sp>
      <p:sp>
        <p:nvSpPr>
          <p:cNvPr id="32" name="左大括弧 31">
            <a:extLst>
              <a:ext uri="{FF2B5EF4-FFF2-40B4-BE49-F238E27FC236}">
                <a16:creationId xmlns:a16="http://schemas.microsoft.com/office/drawing/2014/main" id="{572843F8-ED01-2BB2-4143-62A9C01144A6}"/>
              </a:ext>
            </a:extLst>
          </p:cNvPr>
          <p:cNvSpPr/>
          <p:nvPr/>
        </p:nvSpPr>
        <p:spPr>
          <a:xfrm rot="5400000">
            <a:off x="6979348" y="2180851"/>
            <a:ext cx="74008" cy="876215"/>
          </a:xfrm>
          <a:prstGeom prst="leftBrace">
            <a:avLst>
              <a:gd name="adj1" fmla="val 41469"/>
              <a:gd name="adj2" fmla="val 50000"/>
            </a:avLst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5712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F2DED-E7D5-6A45-E442-1298FC8C1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矩形 133">
            <a:extLst>
              <a:ext uri="{FF2B5EF4-FFF2-40B4-BE49-F238E27FC236}">
                <a16:creationId xmlns:a16="http://schemas.microsoft.com/office/drawing/2014/main" id="{2C457B21-6908-77A8-7C2C-EF56545C552A}"/>
              </a:ext>
            </a:extLst>
          </p:cNvPr>
          <p:cNvSpPr/>
          <p:nvPr/>
        </p:nvSpPr>
        <p:spPr>
          <a:xfrm>
            <a:off x="251520" y="3854951"/>
            <a:ext cx="648072" cy="982613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600"/>
              </a:lnSpc>
            </a:pPr>
            <a:r>
              <a:rPr lang="en-US" altLang="zh-TW" sz="1400" b="1" dirty="0">
                <a:solidFill>
                  <a:schemeClr val="tx1"/>
                </a:solidFill>
                <a:ea typeface="微軟正黑體" panose="020B0604030504040204" pitchFamily="34" charset="-120"/>
              </a:rPr>
              <a:t>X</a:t>
            </a:r>
            <a:r>
              <a:rPr lang="en-US" altLang="zh-TW" sz="1400" b="1" baseline="-25000" dirty="0">
                <a:solidFill>
                  <a:schemeClr val="tx1"/>
                </a:solidFill>
                <a:ea typeface="微軟正黑體" panose="020B0604030504040204" pitchFamily="34" charset="-120"/>
              </a:rPr>
              <a:t>HP</a:t>
            </a:r>
          </a:p>
          <a:p>
            <a:pPr algn="ctr">
              <a:lnSpc>
                <a:spcPts val="1600"/>
              </a:lnSpc>
            </a:pPr>
            <a:endParaRPr lang="en-US" altLang="zh-TW" sz="1400" b="1" baseline="-25000" dirty="0">
              <a:solidFill>
                <a:schemeClr val="tx1"/>
              </a:solidFill>
              <a:ea typeface="微軟正黑體" panose="020B0604030504040204" pitchFamily="34" charset="-120"/>
            </a:endParaRPr>
          </a:p>
          <a:p>
            <a:pPr algn="ctr">
              <a:lnSpc>
                <a:spcPts val="1600"/>
              </a:lnSpc>
            </a:pPr>
            <a:endParaRPr lang="en-US" altLang="zh-TW" sz="1400" b="1" baseline="-25000" dirty="0">
              <a:solidFill>
                <a:schemeClr val="tx1"/>
              </a:solidFill>
              <a:ea typeface="微軟正黑體" panose="020B0604030504040204" pitchFamily="34" charset="-120"/>
            </a:endParaRPr>
          </a:p>
        </p:txBody>
      </p:sp>
      <p:cxnSp>
        <p:nvCxnSpPr>
          <p:cNvPr id="126" name="接點: 肘形 125">
            <a:extLst>
              <a:ext uri="{FF2B5EF4-FFF2-40B4-BE49-F238E27FC236}">
                <a16:creationId xmlns:a16="http://schemas.microsoft.com/office/drawing/2014/main" id="{0BF212FC-598B-C951-078B-819B9E384B5C}"/>
              </a:ext>
            </a:extLst>
          </p:cNvPr>
          <p:cNvCxnSpPr>
            <a:cxnSpLocks/>
            <a:stCxn id="18" idx="3"/>
            <a:endCxn id="90" idx="1"/>
          </p:cNvCxnSpPr>
          <p:nvPr/>
        </p:nvCxnSpPr>
        <p:spPr>
          <a:xfrm flipV="1">
            <a:off x="899592" y="3304601"/>
            <a:ext cx="595507" cy="1362589"/>
          </a:xfrm>
          <a:prstGeom prst="bentConnector3">
            <a:avLst>
              <a:gd name="adj1" fmla="val 50000"/>
            </a:avLst>
          </a:prstGeom>
          <a:ln w="15875">
            <a:solidFill>
              <a:schemeClr val="accent2"/>
            </a:solidFill>
            <a:prstDash val="sysDot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接點: 肘形 10">
            <a:extLst>
              <a:ext uri="{FF2B5EF4-FFF2-40B4-BE49-F238E27FC236}">
                <a16:creationId xmlns:a16="http://schemas.microsoft.com/office/drawing/2014/main" id="{D0348627-4307-A636-B60F-69734DFEA39E}"/>
              </a:ext>
            </a:extLst>
          </p:cNvPr>
          <p:cNvCxnSpPr>
            <a:cxnSpLocks/>
            <a:stCxn id="18" idx="3"/>
            <a:endCxn id="12" idx="1"/>
          </p:cNvCxnSpPr>
          <p:nvPr/>
        </p:nvCxnSpPr>
        <p:spPr>
          <a:xfrm flipV="1">
            <a:off x="899592" y="4428289"/>
            <a:ext cx="595507" cy="238901"/>
          </a:xfrm>
          <a:prstGeom prst="bentConnector3">
            <a:avLst>
              <a:gd name="adj1" fmla="val 50000"/>
            </a:avLst>
          </a:prstGeom>
          <a:ln w="15875">
            <a:solidFill>
              <a:schemeClr val="accent2"/>
            </a:solidFill>
            <a:prstDash val="sysDot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1D9CD78-EE73-46AF-6908-D8F4F46DF679}"/>
              </a:ext>
            </a:extLst>
          </p:cNvPr>
          <p:cNvSpPr txBox="1"/>
          <p:nvPr/>
        </p:nvSpPr>
        <p:spPr>
          <a:xfrm>
            <a:off x="1495099" y="4289922"/>
            <a:ext cx="183798" cy="276733"/>
          </a:xfrm>
          <a:prstGeom prst="rect">
            <a:avLst/>
          </a:prstGeom>
          <a:noFill/>
          <a:ln w="15875">
            <a:solidFill>
              <a:schemeClr val="accent1">
                <a:lumMod val="40000"/>
                <a:lumOff val="60000"/>
              </a:schemeClr>
            </a:solidFill>
            <a:prstDash val="sysDot"/>
          </a:ln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400" dirty="0">
                <a:solidFill>
                  <a:schemeClr val="accent5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</a:t>
            </a:r>
            <a:r>
              <a:rPr lang="en-US" altLang="zh-TW" sz="1400" baseline="-25000" dirty="0">
                <a:solidFill>
                  <a:schemeClr val="accent5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</a:t>
            </a:r>
            <a:endParaRPr lang="zh-TW" altLang="en-US" sz="1400" baseline="-25000" dirty="0">
              <a:solidFill>
                <a:schemeClr val="accent5">
                  <a:lumMod val="75000"/>
                </a:scheme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cxnSp>
        <p:nvCxnSpPr>
          <p:cNvPr id="15" name="接點: 肘形 14">
            <a:extLst>
              <a:ext uri="{FF2B5EF4-FFF2-40B4-BE49-F238E27FC236}">
                <a16:creationId xmlns:a16="http://schemas.microsoft.com/office/drawing/2014/main" id="{CF8D9346-56AA-BD6C-4379-5E8252E9E9DA}"/>
              </a:ext>
            </a:extLst>
          </p:cNvPr>
          <p:cNvCxnSpPr>
            <a:cxnSpLocks/>
            <a:stCxn id="18" idx="3"/>
            <a:endCxn id="17" idx="1"/>
          </p:cNvCxnSpPr>
          <p:nvPr/>
        </p:nvCxnSpPr>
        <p:spPr>
          <a:xfrm flipV="1">
            <a:off x="899592" y="3889454"/>
            <a:ext cx="595507" cy="777736"/>
          </a:xfrm>
          <a:prstGeom prst="bentConnector3">
            <a:avLst>
              <a:gd name="adj1" fmla="val 50000"/>
            </a:avLst>
          </a:prstGeom>
          <a:ln w="15875">
            <a:solidFill>
              <a:schemeClr val="accent2"/>
            </a:solidFill>
            <a:prstDash val="sysDot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接點: 肘形 15">
            <a:extLst>
              <a:ext uri="{FF2B5EF4-FFF2-40B4-BE49-F238E27FC236}">
                <a16:creationId xmlns:a16="http://schemas.microsoft.com/office/drawing/2014/main" id="{3CCC2715-2829-6866-40D6-432103206A30}"/>
              </a:ext>
            </a:extLst>
          </p:cNvPr>
          <p:cNvCxnSpPr>
            <a:cxnSpLocks/>
            <a:stCxn id="18" idx="3"/>
            <a:endCxn id="81" idx="1"/>
          </p:cNvCxnSpPr>
          <p:nvPr/>
        </p:nvCxnSpPr>
        <p:spPr>
          <a:xfrm>
            <a:off x="899592" y="4667190"/>
            <a:ext cx="595507" cy="295716"/>
          </a:xfrm>
          <a:prstGeom prst="bentConnector3">
            <a:avLst>
              <a:gd name="adj1" fmla="val 50000"/>
            </a:avLst>
          </a:prstGeom>
          <a:ln w="15875">
            <a:solidFill>
              <a:schemeClr val="accent2"/>
            </a:solidFill>
            <a:prstDash val="sysDot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082EA213-7A3C-7047-EA09-9B009783B511}"/>
              </a:ext>
            </a:extLst>
          </p:cNvPr>
          <p:cNvSpPr txBox="1"/>
          <p:nvPr/>
        </p:nvSpPr>
        <p:spPr>
          <a:xfrm>
            <a:off x="1495099" y="3734586"/>
            <a:ext cx="183798" cy="309735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3">
                <a:lumMod val="60000"/>
                <a:lumOff val="40000"/>
              </a:schemeClr>
            </a:solidFill>
            <a:prstDash val="sysDot"/>
          </a:ln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400" dirty="0">
                <a:solidFill>
                  <a:schemeClr val="accent3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</a:t>
            </a:r>
            <a:r>
              <a:rPr lang="en-US" altLang="zh-TW" sz="1400" baseline="-25000" dirty="0">
                <a:solidFill>
                  <a:schemeClr val="accent3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</a:t>
            </a:r>
            <a:endParaRPr lang="zh-TW" altLang="en-US" sz="1400" baseline="-25000" dirty="0">
              <a:solidFill>
                <a:schemeClr val="accent3">
                  <a:lumMod val="75000"/>
                </a:scheme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9A9A2D0-55E3-4EC5-97C4-B1DB9F9D6484}"/>
              </a:ext>
            </a:extLst>
          </p:cNvPr>
          <p:cNvSpPr/>
          <p:nvPr/>
        </p:nvSpPr>
        <p:spPr>
          <a:xfrm>
            <a:off x="251520" y="4496815"/>
            <a:ext cx="648072" cy="340750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 w="25400">
            <a:solidFill>
              <a:schemeClr val="bg1">
                <a:lumMod val="50000"/>
                <a:alpha val="60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500"/>
              </a:lnSpc>
            </a:pPr>
            <a:endParaRPr lang="en-US" altLang="zh-TW" sz="1400" b="1" baseline="-25000" dirty="0">
              <a:solidFill>
                <a:schemeClr val="accent2"/>
              </a:solidFill>
              <a:ea typeface="微軟正黑體" panose="020B0604030504040204" pitchFamily="34" charset="-120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9DDB6F1D-5746-95F4-644D-D1D2A064C93A}"/>
              </a:ext>
            </a:extLst>
          </p:cNvPr>
          <p:cNvSpPr txBox="1"/>
          <p:nvPr/>
        </p:nvSpPr>
        <p:spPr>
          <a:xfrm>
            <a:off x="432169" y="3776557"/>
            <a:ext cx="293061" cy="12904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200" b="1" dirty="0"/>
              <a:t>N*d</a:t>
            </a:r>
            <a:endParaRPr lang="zh-TW" altLang="en-US" sz="1200" b="1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802E419-7A3A-70A5-AC8C-F231714823C7}"/>
              </a:ext>
            </a:extLst>
          </p:cNvPr>
          <p:cNvSpPr/>
          <p:nvPr/>
        </p:nvSpPr>
        <p:spPr>
          <a:xfrm>
            <a:off x="1063051" y="3732173"/>
            <a:ext cx="274320" cy="2743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600"/>
              </a:lnSpc>
            </a:pPr>
            <a:r>
              <a:rPr lang="en-US" altLang="zh-TW" sz="1200" b="1" dirty="0">
                <a:solidFill>
                  <a:schemeClr val="tx1"/>
                </a:solidFill>
                <a:ea typeface="微軟正黑體" panose="020B0604030504040204" pitchFamily="34" charset="-120"/>
              </a:rPr>
              <a:t>W</a:t>
            </a:r>
            <a:r>
              <a:rPr lang="en-US" altLang="zh-TW" sz="1200" b="1" baseline="-25000" dirty="0">
                <a:solidFill>
                  <a:schemeClr val="tx1"/>
                </a:solidFill>
                <a:ea typeface="微軟正黑體" panose="020B0604030504040204" pitchFamily="34" charset="-120"/>
              </a:rPr>
              <a:t>v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267EB94-D267-6A2B-CC3E-C13D85C0BFAB}"/>
              </a:ext>
            </a:extLst>
          </p:cNvPr>
          <p:cNvSpPr/>
          <p:nvPr/>
        </p:nvSpPr>
        <p:spPr>
          <a:xfrm>
            <a:off x="1063051" y="4797152"/>
            <a:ext cx="274320" cy="2743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600"/>
              </a:lnSpc>
            </a:pPr>
            <a:r>
              <a:rPr lang="en-US" altLang="zh-TW" sz="1200" b="1" dirty="0">
                <a:solidFill>
                  <a:schemeClr val="tx1"/>
                </a:solidFill>
                <a:ea typeface="微軟正黑體" panose="020B0604030504040204" pitchFamily="34" charset="-120"/>
              </a:rPr>
              <a:t>W</a:t>
            </a:r>
            <a:r>
              <a:rPr lang="en-US" altLang="zh-TW" sz="1200" b="1" baseline="-25000" dirty="0">
                <a:solidFill>
                  <a:schemeClr val="tx1"/>
                </a:solidFill>
                <a:ea typeface="微軟正黑體" panose="020B0604030504040204" pitchFamily="34" charset="-120"/>
              </a:rPr>
              <a:t>q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9CA7A63-EC6C-9147-7DD8-56327354B235}"/>
              </a:ext>
            </a:extLst>
          </p:cNvPr>
          <p:cNvSpPr/>
          <p:nvPr/>
        </p:nvSpPr>
        <p:spPr>
          <a:xfrm>
            <a:off x="1063051" y="4229425"/>
            <a:ext cx="274320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600"/>
              </a:lnSpc>
            </a:pPr>
            <a:r>
              <a:rPr lang="en-US" altLang="zh-TW" sz="1200" b="1" dirty="0">
                <a:solidFill>
                  <a:schemeClr val="tx1"/>
                </a:solidFill>
                <a:ea typeface="微軟正黑體" panose="020B0604030504040204" pitchFamily="34" charset="-120"/>
              </a:rPr>
              <a:t>W</a:t>
            </a:r>
            <a:r>
              <a:rPr lang="en-US" altLang="zh-TW" sz="1200" b="1" baseline="-25000" dirty="0">
                <a:solidFill>
                  <a:schemeClr val="tx1"/>
                </a:solidFill>
                <a:ea typeface="微軟正黑體" panose="020B0604030504040204" pitchFamily="34" charset="-120"/>
              </a:rPr>
              <a:t>k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3CB4A213-BDCD-A959-0A91-A6CDD8F77FE2}"/>
              </a:ext>
            </a:extLst>
          </p:cNvPr>
          <p:cNvSpPr txBox="1"/>
          <p:nvPr/>
        </p:nvSpPr>
        <p:spPr>
          <a:xfrm>
            <a:off x="1063051" y="2708852"/>
            <a:ext cx="274320" cy="15169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200" b="1" dirty="0"/>
              <a:t>d*d</a:t>
            </a:r>
            <a:endParaRPr lang="zh-TW" altLang="en-US" sz="1200" b="1" dirty="0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D195A3BC-A722-B8D3-C198-53AE5D3E3565}"/>
              </a:ext>
            </a:extLst>
          </p:cNvPr>
          <p:cNvSpPr txBox="1"/>
          <p:nvPr/>
        </p:nvSpPr>
        <p:spPr>
          <a:xfrm>
            <a:off x="3814834" y="2672817"/>
            <a:ext cx="293061" cy="14497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200" b="1" dirty="0"/>
              <a:t>1*d</a:t>
            </a:r>
            <a:endParaRPr lang="zh-TW" altLang="en-US" sz="1200" b="1" dirty="0"/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76E99868-E317-C4AE-A1BF-BC307072B532}"/>
              </a:ext>
            </a:extLst>
          </p:cNvPr>
          <p:cNvSpPr txBox="1"/>
          <p:nvPr/>
        </p:nvSpPr>
        <p:spPr>
          <a:xfrm>
            <a:off x="5134820" y="3129074"/>
            <a:ext cx="157260" cy="274320"/>
          </a:xfrm>
          <a:prstGeom prst="rect">
            <a:avLst/>
          </a:prstGeom>
          <a:noFill/>
        </p:spPr>
        <p:txBody>
          <a:bodyPr wrap="none" lIns="0" tIns="91440" rIns="0" bIns="0" rtlCol="0" anchor="ctr" anchorCtr="1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000" b="1" dirty="0">
                <a:ea typeface="ADLaM Display" panose="02010000000000000000" pitchFamily="2" charset="0"/>
                <a:cs typeface="ADLaM Display" panose="02010000000000000000" pitchFamily="2" charset="0"/>
                <a:sym typeface="Wingdings" panose="05000000000000000000" pitchFamily="2" charset="2"/>
              </a:rPr>
              <a:t></a:t>
            </a:r>
            <a:endParaRPr lang="zh-TW" altLang="en-US" sz="1000" b="1" dirty="0">
              <a:cs typeface="ADLaM Display" panose="02010000000000000000" pitchFamily="2" charset="0"/>
            </a:endParaRPr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B3CFE702-EDEE-D7A8-AFA6-FEA9FB0D8D6A}"/>
              </a:ext>
            </a:extLst>
          </p:cNvPr>
          <p:cNvSpPr txBox="1"/>
          <p:nvPr/>
        </p:nvSpPr>
        <p:spPr>
          <a:xfrm>
            <a:off x="3486684" y="2934587"/>
            <a:ext cx="293061" cy="14497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200" b="1" dirty="0"/>
              <a:t>d*1</a:t>
            </a:r>
            <a:endParaRPr lang="zh-TW" altLang="en-US" sz="1200" b="1" dirty="0"/>
          </a:p>
        </p:txBody>
      </p:sp>
      <p:sp>
        <p:nvSpPr>
          <p:cNvPr id="80" name="文字方塊 79">
            <a:extLst>
              <a:ext uri="{FF2B5EF4-FFF2-40B4-BE49-F238E27FC236}">
                <a16:creationId xmlns:a16="http://schemas.microsoft.com/office/drawing/2014/main" id="{A1A9E3D8-FEFB-9502-8E4D-A6D614A086D0}"/>
              </a:ext>
            </a:extLst>
          </p:cNvPr>
          <p:cNvSpPr txBox="1"/>
          <p:nvPr/>
        </p:nvSpPr>
        <p:spPr>
          <a:xfrm>
            <a:off x="2411760" y="2950927"/>
            <a:ext cx="274320" cy="118033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200" b="1" dirty="0"/>
              <a:t>d*d</a:t>
            </a:r>
            <a:endParaRPr lang="zh-TW" altLang="en-US" sz="1200" b="1" dirty="0"/>
          </a:p>
        </p:txBody>
      </p:sp>
      <p:sp>
        <p:nvSpPr>
          <p:cNvPr id="81" name="文字方塊 80">
            <a:extLst>
              <a:ext uri="{FF2B5EF4-FFF2-40B4-BE49-F238E27FC236}">
                <a16:creationId xmlns:a16="http://schemas.microsoft.com/office/drawing/2014/main" id="{1A9FA3D5-3297-7CAC-0890-A0F6C6F9DF4C}"/>
              </a:ext>
            </a:extLst>
          </p:cNvPr>
          <p:cNvSpPr txBox="1"/>
          <p:nvPr/>
        </p:nvSpPr>
        <p:spPr>
          <a:xfrm>
            <a:off x="1495099" y="4799273"/>
            <a:ext cx="177555" cy="327265"/>
          </a:xfrm>
          <a:prstGeom prst="rect">
            <a:avLst/>
          </a:prstGeom>
          <a:noFill/>
          <a:ln w="15875">
            <a:solidFill>
              <a:schemeClr val="accent2">
                <a:lumMod val="40000"/>
                <a:lumOff val="60000"/>
              </a:schemeClr>
            </a:solidFill>
            <a:prstDash val="sysDot"/>
          </a:ln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q</a:t>
            </a:r>
            <a:r>
              <a:rPr lang="en-US" altLang="zh-TW" sz="1400" baseline="-25000" dirty="0">
                <a:solidFill>
                  <a:schemeClr val="accent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</a:t>
            </a:r>
          </a:p>
        </p:txBody>
      </p:sp>
      <p:sp>
        <p:nvSpPr>
          <p:cNvPr id="83" name="文字方塊 82">
            <a:extLst>
              <a:ext uri="{FF2B5EF4-FFF2-40B4-BE49-F238E27FC236}">
                <a16:creationId xmlns:a16="http://schemas.microsoft.com/office/drawing/2014/main" id="{E12BE346-375E-10B1-22A8-83CF762B23EB}"/>
              </a:ext>
            </a:extLst>
          </p:cNvPr>
          <p:cNvSpPr txBox="1"/>
          <p:nvPr/>
        </p:nvSpPr>
        <p:spPr>
          <a:xfrm rot="10800000" flipV="1">
            <a:off x="432169" y="4370653"/>
            <a:ext cx="293061" cy="197992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200" b="1" dirty="0">
                <a:solidFill>
                  <a:schemeClr val="accent2"/>
                </a:solidFill>
              </a:rPr>
              <a:t>T</a:t>
            </a:r>
            <a:r>
              <a:rPr lang="en-US" altLang="zh-TW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*d</a:t>
            </a:r>
            <a:endParaRPr lang="zh-TW" altLang="en-US" sz="12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1464EAC2-D478-CA92-3938-CEBF8264419A}"/>
              </a:ext>
            </a:extLst>
          </p:cNvPr>
          <p:cNvSpPr/>
          <p:nvPr/>
        </p:nvSpPr>
        <p:spPr>
          <a:xfrm>
            <a:off x="1071002" y="3115880"/>
            <a:ext cx="274320" cy="27432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600"/>
              </a:lnSpc>
            </a:pPr>
            <a:r>
              <a:rPr lang="en-US" altLang="zh-TW" sz="1200" b="1" dirty="0">
                <a:solidFill>
                  <a:schemeClr val="tx1"/>
                </a:solidFill>
                <a:ea typeface="微軟正黑體" panose="020B0604030504040204" pitchFamily="34" charset="-120"/>
              </a:rPr>
              <a:t>W</a:t>
            </a:r>
            <a:r>
              <a:rPr lang="en-US" altLang="zh-TW" sz="1200" b="1" baseline="-25000" dirty="0">
                <a:solidFill>
                  <a:schemeClr val="tx1"/>
                </a:solidFill>
                <a:ea typeface="微軟正黑體" panose="020B0604030504040204" pitchFamily="34" charset="-120"/>
              </a:rPr>
              <a:t>e</a:t>
            </a:r>
          </a:p>
        </p:txBody>
      </p:sp>
      <p:sp>
        <p:nvSpPr>
          <p:cNvPr id="90" name="文字方塊 89">
            <a:extLst>
              <a:ext uri="{FF2B5EF4-FFF2-40B4-BE49-F238E27FC236}">
                <a16:creationId xmlns:a16="http://schemas.microsoft.com/office/drawing/2014/main" id="{7DD74189-366E-D52C-F1F4-B74D87F3A35F}"/>
              </a:ext>
            </a:extLst>
          </p:cNvPr>
          <p:cNvSpPr txBox="1"/>
          <p:nvPr/>
        </p:nvSpPr>
        <p:spPr>
          <a:xfrm>
            <a:off x="1495099" y="3140968"/>
            <a:ext cx="177555" cy="327265"/>
          </a:xfrm>
          <a:prstGeom prst="rect">
            <a:avLst/>
          </a:prstGeom>
          <a:noFill/>
          <a:ln w="15875">
            <a:solidFill>
              <a:srgbClr val="CCCC00"/>
            </a:solidFill>
            <a:prstDash val="sysDot"/>
          </a:ln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400" dirty="0">
                <a:solidFill>
                  <a:srgbClr val="CC99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</a:t>
            </a:r>
            <a:r>
              <a:rPr lang="en-US" altLang="zh-TW" sz="1400" baseline="-25000" dirty="0">
                <a:solidFill>
                  <a:srgbClr val="CC99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</a:t>
            </a:r>
          </a:p>
        </p:txBody>
      </p:sp>
      <p:sp>
        <p:nvSpPr>
          <p:cNvPr id="94" name="文字方塊 93">
            <a:extLst>
              <a:ext uri="{FF2B5EF4-FFF2-40B4-BE49-F238E27FC236}">
                <a16:creationId xmlns:a16="http://schemas.microsoft.com/office/drawing/2014/main" id="{B506782A-72B2-4533-0871-5F677CDAA0C2}"/>
              </a:ext>
            </a:extLst>
          </p:cNvPr>
          <p:cNvSpPr txBox="1"/>
          <p:nvPr/>
        </p:nvSpPr>
        <p:spPr>
          <a:xfrm>
            <a:off x="1927147" y="3140968"/>
            <a:ext cx="344205" cy="332274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  <a:prstDash val="sysDot"/>
          </a:ln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400"/>
              </a:lnSpc>
            </a:pPr>
            <a:r>
              <a:rPr lang="el-GR" altLang="zh-TW" sz="1400" dirty="0">
                <a:latin typeface="Cambria Math" panose="02040503050406030204" pitchFamily="18" charset="0"/>
                <a:ea typeface="Cambria Math" panose="02040503050406030204" pitchFamily="18" charset="0"/>
                <a:cs typeface="ADLaM Display" panose="02010000000000000000" pitchFamily="2" charset="0"/>
                <a:sym typeface="Symbol" panose="05050102010706020507" pitchFamily="18" charset="2"/>
              </a:rPr>
              <a:t></a:t>
            </a:r>
            <a:r>
              <a:rPr lang="en-US" altLang="zh-TW" sz="1400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ADLaM Display" panose="02010000000000000000" pitchFamily="2" charset="0"/>
              </a:rPr>
              <a:t>t</a:t>
            </a: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F4ACBD06-A522-B923-DEC7-FEE1D52F3280}"/>
              </a:ext>
            </a:extLst>
          </p:cNvPr>
          <p:cNvSpPr/>
          <p:nvPr/>
        </p:nvSpPr>
        <p:spPr>
          <a:xfrm>
            <a:off x="3814781" y="4992994"/>
            <a:ext cx="555837" cy="542029"/>
          </a:xfrm>
          <a:prstGeom prst="rect">
            <a:avLst/>
          </a:prstGeom>
          <a:solidFill>
            <a:schemeClr val="accent4">
              <a:lumMod val="20000"/>
              <a:lumOff val="80000"/>
              <a:alpha val="60000"/>
            </a:schemeClr>
          </a:solidFill>
          <a:ln w="19050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</a:t>
            </a:r>
            <a:r>
              <a:rPr kumimoji="0" lang="en-US" altLang="zh-TW" sz="1800" b="0" i="0" u="none" strike="noStrike" kern="1200" cap="none" spc="0" normalizeH="0" baseline="-2500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</a:t>
            </a:r>
            <a:endParaRPr kumimoji="0" lang="zh-TW" altLang="en-US" sz="1800" b="0" i="0" u="none" strike="noStrike" kern="1200" cap="none" spc="0" normalizeH="0" baseline="-25000" noProof="0" dirty="0">
              <a:ln>
                <a:noFill/>
              </a:ln>
              <a:solidFill>
                <a:srgbClr val="8064A2">
                  <a:lumMod val="75000"/>
                </a:srgbClr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100" name="文字方塊 99">
            <a:extLst>
              <a:ext uri="{FF2B5EF4-FFF2-40B4-BE49-F238E27FC236}">
                <a16:creationId xmlns:a16="http://schemas.microsoft.com/office/drawing/2014/main" id="{FE4081CF-1D66-FBAB-46AB-5024F72C1814}"/>
              </a:ext>
            </a:extLst>
          </p:cNvPr>
          <p:cNvSpPr txBox="1"/>
          <p:nvPr/>
        </p:nvSpPr>
        <p:spPr>
          <a:xfrm>
            <a:off x="3537296" y="3142719"/>
            <a:ext cx="185072" cy="332275"/>
          </a:xfrm>
          <a:prstGeom prst="rect">
            <a:avLst/>
          </a:prstGeom>
          <a:solidFill>
            <a:srgbClr val="FFFF99">
              <a:alpha val="20000"/>
            </a:srgbClr>
          </a:solidFill>
          <a:ln w="15875">
            <a:solidFill>
              <a:srgbClr val="CCCC00"/>
            </a:solidFill>
            <a:prstDash val="sysDot"/>
          </a:ln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400" dirty="0">
                <a:solidFill>
                  <a:srgbClr val="CC99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</a:t>
            </a:r>
            <a:r>
              <a:rPr lang="en-US" altLang="zh-TW" sz="1400" baseline="-25000" dirty="0">
                <a:solidFill>
                  <a:srgbClr val="CC99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</a:t>
            </a:r>
            <a:endParaRPr lang="en-US" altLang="zh-TW" sz="1400" dirty="0">
              <a:solidFill>
                <a:srgbClr val="CC99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02" name="文字方塊 101">
            <a:extLst>
              <a:ext uri="{FF2B5EF4-FFF2-40B4-BE49-F238E27FC236}">
                <a16:creationId xmlns:a16="http://schemas.microsoft.com/office/drawing/2014/main" id="{0FBF3738-40BA-F39F-7996-28CF65A119D0}"/>
              </a:ext>
            </a:extLst>
          </p:cNvPr>
          <p:cNvSpPr txBox="1"/>
          <p:nvPr/>
        </p:nvSpPr>
        <p:spPr>
          <a:xfrm>
            <a:off x="3782854" y="2867504"/>
            <a:ext cx="357022" cy="181879"/>
          </a:xfrm>
          <a:prstGeom prst="rect">
            <a:avLst/>
          </a:prstGeom>
          <a:solidFill>
            <a:srgbClr val="FFFF99">
              <a:alpha val="20000"/>
            </a:srgbClr>
          </a:solidFill>
          <a:ln w="15875">
            <a:solidFill>
              <a:srgbClr val="CCCC00"/>
            </a:solidFill>
            <a:prstDash val="sysDot"/>
          </a:ln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400" dirty="0">
                <a:solidFill>
                  <a:srgbClr val="CC99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</a:t>
            </a:r>
            <a:r>
              <a:rPr lang="en-US" altLang="zh-TW" sz="1400" baseline="-25000" dirty="0">
                <a:solidFill>
                  <a:srgbClr val="CC99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</a:t>
            </a:r>
            <a:r>
              <a:rPr lang="en-US" altLang="zh-TW" sz="1400" baseline="30000" dirty="0">
                <a:solidFill>
                  <a:srgbClr val="CC99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</a:t>
            </a:r>
            <a:r>
              <a:rPr lang="en-US" altLang="zh-TW" sz="1400" dirty="0">
                <a:solidFill>
                  <a:srgbClr val="CCCC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endParaRPr lang="zh-TW" altLang="en-US" sz="1400" dirty="0">
              <a:solidFill>
                <a:srgbClr val="CCCC00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06" name="文字方塊 105">
            <a:extLst>
              <a:ext uri="{FF2B5EF4-FFF2-40B4-BE49-F238E27FC236}">
                <a16:creationId xmlns:a16="http://schemas.microsoft.com/office/drawing/2014/main" id="{6DD1F5FD-F186-ED96-5355-8D3AE26590AD}"/>
              </a:ext>
            </a:extLst>
          </p:cNvPr>
          <p:cNvSpPr txBox="1"/>
          <p:nvPr/>
        </p:nvSpPr>
        <p:spPr>
          <a:xfrm>
            <a:off x="3782930" y="3129074"/>
            <a:ext cx="357022" cy="34592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  <a:prstDash val="sysDot"/>
          </a:ln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400"/>
              </a:lnSpc>
            </a:pPr>
            <a:r>
              <a:rPr lang="el-GR" altLang="zh-TW" sz="1400" dirty="0">
                <a:latin typeface="Cambria Math" panose="02040503050406030204" pitchFamily="18" charset="0"/>
                <a:ea typeface="Cambria Math" panose="02040503050406030204" pitchFamily="18" charset="0"/>
                <a:cs typeface="ADLaM Display" panose="02010000000000000000" pitchFamily="2" charset="0"/>
                <a:sym typeface="Symbol" panose="05050102010706020507" pitchFamily="18" charset="2"/>
              </a:rPr>
              <a:t></a:t>
            </a:r>
            <a:r>
              <a:rPr lang="en-US" altLang="zh-TW" sz="1400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ADLaM Display" panose="02010000000000000000" pitchFamily="2" charset="0"/>
              </a:rPr>
              <a:t>t</a:t>
            </a:r>
            <a:endParaRPr lang="zh-TW" altLang="en-US" sz="1400" baseline="-25000" dirty="0">
              <a:latin typeface="Cambria Math" panose="02040503050406030204" pitchFamily="18" charset="0"/>
              <a:cs typeface="ADLaM Display" panose="02010000000000000000" pitchFamily="2" charset="0"/>
            </a:endParaRPr>
          </a:p>
        </p:txBody>
      </p:sp>
      <p:sp>
        <p:nvSpPr>
          <p:cNvPr id="108" name="文字方塊 107">
            <a:extLst>
              <a:ext uri="{FF2B5EF4-FFF2-40B4-BE49-F238E27FC236}">
                <a16:creationId xmlns:a16="http://schemas.microsoft.com/office/drawing/2014/main" id="{C4CED358-97F1-D33E-C3D5-382F4329532D}"/>
              </a:ext>
            </a:extLst>
          </p:cNvPr>
          <p:cNvSpPr txBox="1"/>
          <p:nvPr/>
        </p:nvSpPr>
        <p:spPr>
          <a:xfrm>
            <a:off x="4422956" y="3153712"/>
            <a:ext cx="185072" cy="332275"/>
          </a:xfrm>
          <a:prstGeom prst="rect">
            <a:avLst/>
          </a:prstGeom>
          <a:solidFill>
            <a:schemeClr val="accent3">
              <a:lumMod val="20000"/>
              <a:lumOff val="80000"/>
              <a:alpha val="20000"/>
            </a:schemeClr>
          </a:solidFill>
          <a:ln w="15875">
            <a:solidFill>
              <a:schemeClr val="accent3">
                <a:lumMod val="60000"/>
                <a:lumOff val="40000"/>
              </a:schemeClr>
            </a:solidFill>
            <a:prstDash val="sysDot"/>
          </a:ln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400" dirty="0">
                <a:solidFill>
                  <a:schemeClr val="accent3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</a:t>
            </a:r>
            <a:r>
              <a:rPr lang="en-US" altLang="zh-TW" sz="1400" baseline="-25000" dirty="0">
                <a:solidFill>
                  <a:schemeClr val="accent3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</a:t>
            </a:r>
            <a:endParaRPr lang="en-US" altLang="zh-TW" sz="1400" dirty="0">
              <a:solidFill>
                <a:schemeClr val="accent3">
                  <a:lumMod val="75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10" name="文字方塊 109">
            <a:extLst>
              <a:ext uri="{FF2B5EF4-FFF2-40B4-BE49-F238E27FC236}">
                <a16:creationId xmlns:a16="http://schemas.microsoft.com/office/drawing/2014/main" id="{A59D5740-342D-F845-86F1-6C0184FC8447}"/>
              </a:ext>
            </a:extLst>
          </p:cNvPr>
          <p:cNvSpPr txBox="1"/>
          <p:nvPr/>
        </p:nvSpPr>
        <p:spPr>
          <a:xfrm>
            <a:off x="4681523" y="2887081"/>
            <a:ext cx="357022" cy="181879"/>
          </a:xfrm>
          <a:prstGeom prst="rect">
            <a:avLst/>
          </a:prstGeom>
          <a:solidFill>
            <a:schemeClr val="accent5">
              <a:lumMod val="20000"/>
              <a:lumOff val="80000"/>
              <a:alpha val="20000"/>
            </a:schemeClr>
          </a:solidFill>
          <a:ln w="15875">
            <a:solidFill>
              <a:schemeClr val="accent1">
                <a:lumMod val="40000"/>
                <a:lumOff val="60000"/>
              </a:schemeClr>
            </a:solidFill>
            <a:prstDash val="sysDot"/>
          </a:ln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400" dirty="0">
                <a:solidFill>
                  <a:schemeClr val="accent5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</a:t>
            </a:r>
            <a:r>
              <a:rPr lang="en-US" altLang="zh-TW" sz="1400" baseline="-25000" dirty="0">
                <a:solidFill>
                  <a:schemeClr val="accent5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</a:t>
            </a:r>
            <a:r>
              <a:rPr lang="en-US" altLang="zh-TW" sz="1400" baseline="30000" dirty="0">
                <a:solidFill>
                  <a:schemeClr val="accent5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</a:t>
            </a:r>
            <a:r>
              <a:rPr lang="en-US" altLang="zh-TW" sz="1400" dirty="0">
                <a:solidFill>
                  <a:schemeClr val="accent5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endParaRPr lang="zh-TW" altLang="en-US" sz="1400" dirty="0">
              <a:solidFill>
                <a:schemeClr val="accent5">
                  <a:lumMod val="75000"/>
                </a:scheme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12" name="文字方塊 111">
            <a:extLst>
              <a:ext uri="{FF2B5EF4-FFF2-40B4-BE49-F238E27FC236}">
                <a16:creationId xmlns:a16="http://schemas.microsoft.com/office/drawing/2014/main" id="{409DAFF2-53CF-64CB-68C4-7B27CBAADD4C}"/>
              </a:ext>
            </a:extLst>
          </p:cNvPr>
          <p:cNvSpPr txBox="1"/>
          <p:nvPr/>
        </p:nvSpPr>
        <p:spPr>
          <a:xfrm>
            <a:off x="4681523" y="3129074"/>
            <a:ext cx="357022" cy="356913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  <a:prstDash val="sysDot"/>
          </a:ln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400"/>
              </a:lnSpc>
            </a:pPr>
            <a:r>
              <a:rPr lang="el-GR" altLang="zh-TW" sz="1400" dirty="0">
                <a:latin typeface="Cambria Math" panose="02040503050406030204" pitchFamily="18" charset="0"/>
                <a:ea typeface="Cambria Math" panose="02040503050406030204" pitchFamily="18" charset="0"/>
                <a:cs typeface="ADLaM Display" panose="02010000000000000000" pitchFamily="2" charset="0"/>
                <a:sym typeface="Symbol" panose="05050102010706020507" pitchFamily="18" charset="2"/>
              </a:rPr>
              <a:t></a:t>
            </a:r>
            <a:r>
              <a:rPr lang="en-US" altLang="zh-TW" sz="1400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ADLaM Display" panose="02010000000000000000" pitchFamily="2" charset="0"/>
              </a:rPr>
              <a:t>t</a:t>
            </a:r>
            <a:endParaRPr lang="zh-TW" altLang="en-US" sz="1400" baseline="-25000" dirty="0">
              <a:latin typeface="Cambria Math" panose="02040503050406030204" pitchFamily="18" charset="0"/>
              <a:cs typeface="ADLaM Display" panose="02010000000000000000" pitchFamily="2" charset="0"/>
            </a:endParaRPr>
          </a:p>
        </p:txBody>
      </p:sp>
      <p:sp>
        <p:nvSpPr>
          <p:cNvPr id="114" name="文字方塊 113">
            <a:extLst>
              <a:ext uri="{FF2B5EF4-FFF2-40B4-BE49-F238E27FC236}">
                <a16:creationId xmlns:a16="http://schemas.microsoft.com/office/drawing/2014/main" id="{F3075B2C-220A-D6F3-943F-2CB8142B4D0C}"/>
              </a:ext>
            </a:extLst>
          </p:cNvPr>
          <p:cNvSpPr txBox="1"/>
          <p:nvPr/>
        </p:nvSpPr>
        <p:spPr>
          <a:xfrm>
            <a:off x="4211960" y="3154210"/>
            <a:ext cx="157260" cy="274320"/>
          </a:xfrm>
          <a:prstGeom prst="rect">
            <a:avLst/>
          </a:prstGeom>
          <a:noFill/>
        </p:spPr>
        <p:txBody>
          <a:bodyPr wrap="none" lIns="0" tIns="91440" rIns="0" bIns="0" rtlCol="0" anchor="ctr" anchorCtr="1">
            <a:noAutofit/>
          </a:bodyPr>
          <a:lstStyle/>
          <a:p>
            <a:pPr algn="ctr">
              <a:lnSpc>
                <a:spcPts val="1200"/>
              </a:lnSpc>
            </a:pPr>
            <a:r>
              <a:rPr lang="en-US" altLang="zh-TW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+</a:t>
            </a:r>
            <a:endParaRPr lang="zh-TW" altLang="en-US" sz="1400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18" name="文字方塊 117">
            <a:extLst>
              <a:ext uri="{FF2B5EF4-FFF2-40B4-BE49-F238E27FC236}">
                <a16:creationId xmlns:a16="http://schemas.microsoft.com/office/drawing/2014/main" id="{5E505ED6-0F0A-842B-CCAC-B855CE003B36}"/>
              </a:ext>
            </a:extLst>
          </p:cNvPr>
          <p:cNvSpPr txBox="1"/>
          <p:nvPr/>
        </p:nvSpPr>
        <p:spPr>
          <a:xfrm>
            <a:off x="3334620" y="3171929"/>
            <a:ext cx="157260" cy="274320"/>
          </a:xfrm>
          <a:prstGeom prst="rect">
            <a:avLst/>
          </a:prstGeom>
          <a:noFill/>
        </p:spPr>
        <p:txBody>
          <a:bodyPr wrap="none" lIns="0" tIns="91440" rIns="0" bIns="0" rtlCol="0" anchor="ctr" anchorCtr="1">
            <a:noAutofit/>
          </a:bodyPr>
          <a:lstStyle/>
          <a:p>
            <a:pPr algn="ctr">
              <a:lnSpc>
                <a:spcPts val="1200"/>
              </a:lnSpc>
            </a:pPr>
            <a:r>
              <a:rPr lang="en-US" altLang="zh-TW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</a:t>
            </a:r>
            <a:endParaRPr lang="zh-TW" altLang="en-US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25" name="文字方塊 124">
            <a:extLst>
              <a:ext uri="{FF2B5EF4-FFF2-40B4-BE49-F238E27FC236}">
                <a16:creationId xmlns:a16="http://schemas.microsoft.com/office/drawing/2014/main" id="{FA68C0A8-9A0E-CB67-646E-672A56B9FD6E}"/>
              </a:ext>
            </a:extLst>
          </p:cNvPr>
          <p:cNvSpPr txBox="1"/>
          <p:nvPr/>
        </p:nvSpPr>
        <p:spPr>
          <a:xfrm>
            <a:off x="2777073" y="3133590"/>
            <a:ext cx="157260" cy="274320"/>
          </a:xfrm>
          <a:prstGeom prst="rect">
            <a:avLst/>
          </a:prstGeom>
          <a:noFill/>
        </p:spPr>
        <p:txBody>
          <a:bodyPr wrap="none" lIns="0" tIns="91440" rIns="0" bIns="0" rtlCol="0" anchor="ctr" anchorCtr="1">
            <a:noAutofit/>
          </a:bodyPr>
          <a:lstStyle/>
          <a:p>
            <a:pPr algn="ctr">
              <a:lnSpc>
                <a:spcPts val="1200"/>
              </a:lnSpc>
            </a:pPr>
            <a:r>
              <a:rPr lang="en-US" altLang="zh-TW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</a:t>
            </a:r>
            <a:endParaRPr lang="zh-TW" altLang="en-US" sz="1400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59" name="文字方塊 158">
            <a:extLst>
              <a:ext uri="{FF2B5EF4-FFF2-40B4-BE49-F238E27FC236}">
                <a16:creationId xmlns:a16="http://schemas.microsoft.com/office/drawing/2014/main" id="{9A25F905-5A07-8EB5-6506-57A0F73F9492}"/>
              </a:ext>
            </a:extLst>
          </p:cNvPr>
          <p:cNvSpPr txBox="1"/>
          <p:nvPr/>
        </p:nvSpPr>
        <p:spPr>
          <a:xfrm>
            <a:off x="2731929" y="3154680"/>
            <a:ext cx="100927" cy="274320"/>
          </a:xfrm>
          <a:prstGeom prst="rect">
            <a:avLst/>
          </a:prstGeom>
          <a:noFill/>
        </p:spPr>
        <p:txBody>
          <a:bodyPr wrap="none" lIns="0" tIns="91440" rIns="0" bIns="0" rtlCol="0" anchor="ctr" anchorCtr="1">
            <a:noAutofit/>
          </a:bodyPr>
          <a:lstStyle/>
          <a:p>
            <a:pPr algn="ctr">
              <a:lnSpc>
                <a:spcPts val="1200"/>
              </a:lnSpc>
            </a:pPr>
            <a:r>
              <a:rPr lang="en-US" altLang="zh-TW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·</a:t>
            </a:r>
            <a:endParaRPr lang="zh-TW" altLang="en-US" sz="1400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61" name="文字方塊 160">
            <a:extLst>
              <a:ext uri="{FF2B5EF4-FFF2-40B4-BE49-F238E27FC236}">
                <a16:creationId xmlns:a16="http://schemas.microsoft.com/office/drawing/2014/main" id="{140C1FE9-75EA-32B8-CC95-4EF8F64B9D02}"/>
              </a:ext>
            </a:extLst>
          </p:cNvPr>
          <p:cNvSpPr txBox="1"/>
          <p:nvPr/>
        </p:nvSpPr>
        <p:spPr>
          <a:xfrm>
            <a:off x="2267744" y="3155285"/>
            <a:ext cx="100927" cy="274320"/>
          </a:xfrm>
          <a:prstGeom prst="rect">
            <a:avLst/>
          </a:prstGeom>
          <a:noFill/>
        </p:spPr>
        <p:txBody>
          <a:bodyPr wrap="none" lIns="0" tIns="91440" rIns="0" bIns="0" rtlCol="0" anchor="ctr" anchorCtr="1">
            <a:noAutofit/>
          </a:bodyPr>
          <a:lstStyle/>
          <a:p>
            <a:pPr algn="ctr">
              <a:lnSpc>
                <a:spcPts val="1200"/>
              </a:lnSpc>
            </a:pPr>
            <a:r>
              <a:rPr lang="en-US" altLang="zh-TW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·</a:t>
            </a:r>
            <a:endParaRPr lang="zh-TW" altLang="en-US" sz="1400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63" name="文字方塊 162">
            <a:extLst>
              <a:ext uri="{FF2B5EF4-FFF2-40B4-BE49-F238E27FC236}">
                <a16:creationId xmlns:a16="http://schemas.microsoft.com/office/drawing/2014/main" id="{6E242CB8-C7A1-AEB3-2529-6D6259F86BEA}"/>
              </a:ext>
            </a:extLst>
          </p:cNvPr>
          <p:cNvSpPr txBox="1"/>
          <p:nvPr/>
        </p:nvSpPr>
        <p:spPr>
          <a:xfrm>
            <a:off x="4681523" y="2672817"/>
            <a:ext cx="293061" cy="14497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200" b="1" dirty="0"/>
              <a:t>1*d</a:t>
            </a:r>
            <a:endParaRPr lang="zh-TW" altLang="en-US" sz="1200" b="1" dirty="0"/>
          </a:p>
        </p:txBody>
      </p:sp>
      <p:sp>
        <p:nvSpPr>
          <p:cNvPr id="165" name="文字方塊 164">
            <a:extLst>
              <a:ext uri="{FF2B5EF4-FFF2-40B4-BE49-F238E27FC236}">
                <a16:creationId xmlns:a16="http://schemas.microsoft.com/office/drawing/2014/main" id="{83DBD7C8-F32C-E5F0-3473-FE56B7E02041}"/>
              </a:ext>
            </a:extLst>
          </p:cNvPr>
          <p:cNvSpPr txBox="1"/>
          <p:nvPr/>
        </p:nvSpPr>
        <p:spPr>
          <a:xfrm>
            <a:off x="4360472" y="2919499"/>
            <a:ext cx="293061" cy="14497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200" b="1" dirty="0"/>
              <a:t>d*1</a:t>
            </a:r>
            <a:endParaRPr lang="zh-TW" altLang="en-US" sz="1200" b="1" dirty="0"/>
          </a:p>
        </p:txBody>
      </p:sp>
      <p:sp>
        <p:nvSpPr>
          <p:cNvPr id="167" name="文字方塊 166">
            <a:extLst>
              <a:ext uri="{FF2B5EF4-FFF2-40B4-BE49-F238E27FC236}">
                <a16:creationId xmlns:a16="http://schemas.microsoft.com/office/drawing/2014/main" id="{2B3E199E-882B-2130-A21F-BC7A7AAA4CED}"/>
              </a:ext>
            </a:extLst>
          </p:cNvPr>
          <p:cNvSpPr txBox="1"/>
          <p:nvPr/>
        </p:nvSpPr>
        <p:spPr>
          <a:xfrm>
            <a:off x="1948945" y="4103055"/>
            <a:ext cx="274320" cy="118033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200" b="1" dirty="0"/>
              <a:t>d*d</a:t>
            </a:r>
            <a:endParaRPr lang="zh-TW" altLang="en-US" sz="1200" b="1" dirty="0"/>
          </a:p>
        </p:txBody>
      </p:sp>
      <p:sp>
        <p:nvSpPr>
          <p:cNvPr id="171" name="文字方塊 170">
            <a:extLst>
              <a:ext uri="{FF2B5EF4-FFF2-40B4-BE49-F238E27FC236}">
                <a16:creationId xmlns:a16="http://schemas.microsoft.com/office/drawing/2014/main" id="{5745419F-26A0-4A20-1E78-6A1C851E6A32}"/>
              </a:ext>
            </a:extLst>
          </p:cNvPr>
          <p:cNvSpPr txBox="1"/>
          <p:nvPr/>
        </p:nvSpPr>
        <p:spPr>
          <a:xfrm>
            <a:off x="1927146" y="4293096"/>
            <a:ext cx="344205" cy="332275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  <a:prstDash val="sysDot"/>
          </a:ln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400" dirty="0">
                <a:latin typeface="Cambria Math" panose="02040503050406030204" pitchFamily="18" charset="0"/>
                <a:ea typeface="Cambria Math" panose="02040503050406030204" pitchFamily="18" charset="0"/>
                <a:cs typeface="ADLaM Display" panose="02010000000000000000" pitchFamily="2" charset="0"/>
                <a:sym typeface="Symbol" panose="05050102010706020507" pitchFamily="18" charset="2"/>
              </a:rPr>
              <a:t>g</a:t>
            </a:r>
            <a:r>
              <a:rPr lang="en-US" altLang="zh-TW" sz="1400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ADLaM Display" panose="02010000000000000000" pitchFamily="2" charset="0"/>
              </a:rPr>
              <a:t>t</a:t>
            </a:r>
            <a:endParaRPr lang="zh-TW" altLang="en-US" sz="1400" baseline="-25000" dirty="0">
              <a:latin typeface="Cambria Math" panose="02040503050406030204" pitchFamily="18" charset="0"/>
              <a:cs typeface="ADLaM Display" panose="02010000000000000000" pitchFamily="2" charset="0"/>
            </a:endParaRPr>
          </a:p>
        </p:txBody>
      </p:sp>
      <p:sp>
        <p:nvSpPr>
          <p:cNvPr id="173" name="文字方塊 172">
            <a:extLst>
              <a:ext uri="{FF2B5EF4-FFF2-40B4-BE49-F238E27FC236}">
                <a16:creationId xmlns:a16="http://schemas.microsoft.com/office/drawing/2014/main" id="{500BC3F6-3FE7-6DD0-5E82-338FC579C6C6}"/>
              </a:ext>
            </a:extLst>
          </p:cNvPr>
          <p:cNvSpPr txBox="1"/>
          <p:nvPr/>
        </p:nvSpPr>
        <p:spPr>
          <a:xfrm>
            <a:off x="3290776" y="4289731"/>
            <a:ext cx="157260" cy="274320"/>
          </a:xfrm>
          <a:prstGeom prst="rect">
            <a:avLst/>
          </a:prstGeom>
          <a:noFill/>
        </p:spPr>
        <p:txBody>
          <a:bodyPr wrap="none" lIns="0" tIns="91440" rIns="0" bIns="0" rtlCol="0" anchor="ctr" anchorCtr="1">
            <a:noAutofit/>
          </a:bodyPr>
          <a:lstStyle/>
          <a:p>
            <a:pPr algn="ctr">
              <a:lnSpc>
                <a:spcPts val="1200"/>
              </a:lnSpc>
            </a:pPr>
            <a:endParaRPr lang="zh-TW" altLang="en-US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75" name="文字方塊 174">
            <a:extLst>
              <a:ext uri="{FF2B5EF4-FFF2-40B4-BE49-F238E27FC236}">
                <a16:creationId xmlns:a16="http://schemas.microsoft.com/office/drawing/2014/main" id="{4C89D327-370B-3D07-B40C-DC990840EC06}"/>
              </a:ext>
            </a:extLst>
          </p:cNvPr>
          <p:cNvSpPr txBox="1"/>
          <p:nvPr/>
        </p:nvSpPr>
        <p:spPr>
          <a:xfrm>
            <a:off x="2742881" y="4318062"/>
            <a:ext cx="100927" cy="274320"/>
          </a:xfrm>
          <a:prstGeom prst="rect">
            <a:avLst/>
          </a:prstGeom>
          <a:noFill/>
        </p:spPr>
        <p:txBody>
          <a:bodyPr wrap="none" lIns="0" tIns="91440" rIns="0" bIns="0" rtlCol="0" anchor="ctr" anchorCtr="1">
            <a:noAutofit/>
          </a:bodyPr>
          <a:lstStyle/>
          <a:p>
            <a:pPr algn="ctr">
              <a:lnSpc>
                <a:spcPts val="1200"/>
              </a:lnSpc>
            </a:pPr>
            <a:r>
              <a:rPr lang="en-US" altLang="zh-TW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·</a:t>
            </a:r>
            <a:endParaRPr lang="zh-TW" altLang="en-US" sz="1400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77" name="文字方塊 176">
            <a:extLst>
              <a:ext uri="{FF2B5EF4-FFF2-40B4-BE49-F238E27FC236}">
                <a16:creationId xmlns:a16="http://schemas.microsoft.com/office/drawing/2014/main" id="{97E5568F-BEAB-3160-1D7B-2033EC4341E0}"/>
              </a:ext>
            </a:extLst>
          </p:cNvPr>
          <p:cNvSpPr txBox="1"/>
          <p:nvPr/>
        </p:nvSpPr>
        <p:spPr>
          <a:xfrm>
            <a:off x="2262675" y="4318062"/>
            <a:ext cx="100927" cy="274320"/>
          </a:xfrm>
          <a:prstGeom prst="rect">
            <a:avLst/>
          </a:prstGeom>
          <a:noFill/>
        </p:spPr>
        <p:txBody>
          <a:bodyPr wrap="none" lIns="0" tIns="91440" rIns="0" bIns="0" rtlCol="0" anchor="ctr" anchorCtr="1">
            <a:noAutofit/>
          </a:bodyPr>
          <a:lstStyle/>
          <a:p>
            <a:pPr algn="ctr">
              <a:lnSpc>
                <a:spcPts val="1200"/>
              </a:lnSpc>
            </a:pPr>
            <a:r>
              <a:rPr lang="en-US" altLang="zh-TW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·</a:t>
            </a:r>
            <a:endParaRPr lang="zh-TW" altLang="en-US" sz="1400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FA25D72A-FB7A-9732-E39C-1F37EBB3D1EE}"/>
              </a:ext>
            </a:extLst>
          </p:cNvPr>
          <p:cNvSpPr/>
          <p:nvPr/>
        </p:nvSpPr>
        <p:spPr>
          <a:xfrm>
            <a:off x="3770357" y="5689960"/>
            <a:ext cx="648072" cy="982613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600"/>
              </a:lnSpc>
            </a:pPr>
            <a:r>
              <a:rPr lang="en-US" altLang="zh-TW" sz="1400" b="1" dirty="0">
                <a:solidFill>
                  <a:schemeClr val="tx1"/>
                </a:solidFill>
                <a:ea typeface="微軟正黑體" panose="020B0604030504040204" pitchFamily="34" charset="-120"/>
              </a:rPr>
              <a:t>X</a:t>
            </a:r>
            <a:r>
              <a:rPr lang="en-US" altLang="zh-TW" sz="1400" b="1" baseline="-25000" dirty="0">
                <a:solidFill>
                  <a:schemeClr val="tx1"/>
                </a:solidFill>
                <a:ea typeface="微軟正黑體" panose="020B0604030504040204" pitchFamily="34" charset="-120"/>
              </a:rPr>
              <a:t>HP</a:t>
            </a:r>
          </a:p>
          <a:p>
            <a:pPr algn="ctr">
              <a:lnSpc>
                <a:spcPts val="1600"/>
              </a:lnSpc>
            </a:pPr>
            <a:endParaRPr lang="en-US" altLang="zh-TW" sz="1400" b="1" baseline="-25000" dirty="0">
              <a:solidFill>
                <a:schemeClr val="tx1"/>
              </a:solidFill>
              <a:ea typeface="微軟正黑體" panose="020B0604030504040204" pitchFamily="34" charset="-120"/>
            </a:endParaRPr>
          </a:p>
          <a:p>
            <a:pPr algn="ctr">
              <a:lnSpc>
                <a:spcPts val="1600"/>
              </a:lnSpc>
            </a:pPr>
            <a:endParaRPr lang="en-US" altLang="zh-TW" sz="1400" b="1" baseline="-25000" dirty="0">
              <a:solidFill>
                <a:schemeClr val="tx1"/>
              </a:solidFill>
              <a:ea typeface="微軟正黑體" panose="020B0604030504040204" pitchFamily="34" charset="-120"/>
            </a:endParaRPr>
          </a:p>
        </p:txBody>
      </p:sp>
      <p:sp>
        <p:nvSpPr>
          <p:cNvPr id="184" name="文字方塊 183">
            <a:extLst>
              <a:ext uri="{FF2B5EF4-FFF2-40B4-BE49-F238E27FC236}">
                <a16:creationId xmlns:a16="http://schemas.microsoft.com/office/drawing/2014/main" id="{61D6CD9E-15D9-0CEE-0139-4AE30A8A2272}"/>
              </a:ext>
            </a:extLst>
          </p:cNvPr>
          <p:cNvSpPr txBox="1"/>
          <p:nvPr/>
        </p:nvSpPr>
        <p:spPr>
          <a:xfrm>
            <a:off x="3951006" y="5611566"/>
            <a:ext cx="293061" cy="12904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200" b="1" dirty="0"/>
              <a:t>N*d</a:t>
            </a:r>
            <a:endParaRPr lang="zh-TW" altLang="en-US" sz="1200" b="1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0F39EEE-F8C2-B804-764A-5CAFA7278530}"/>
              </a:ext>
            </a:extLst>
          </p:cNvPr>
          <p:cNvSpPr/>
          <p:nvPr/>
        </p:nvSpPr>
        <p:spPr>
          <a:xfrm>
            <a:off x="251520" y="4640653"/>
            <a:ext cx="648072" cy="134460"/>
          </a:xfrm>
          <a:prstGeom prst="rect">
            <a:avLst/>
          </a:prstGeom>
          <a:solidFill>
            <a:schemeClr val="accent2">
              <a:lumMod val="20000"/>
              <a:lumOff val="80000"/>
              <a:alpha val="20000"/>
            </a:schemeClr>
          </a:solidFill>
          <a:ln w="15875">
            <a:solidFill>
              <a:schemeClr val="accent2">
                <a:lumMod val="75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500"/>
              </a:lnSpc>
            </a:pPr>
            <a:r>
              <a:rPr lang="en-US" altLang="zh-TW" sz="1400" b="1" dirty="0">
                <a:solidFill>
                  <a:schemeClr val="accent2"/>
                </a:solidFill>
                <a:ea typeface="微軟正黑體" panose="020B0604030504040204" pitchFamily="34" charset="-120"/>
              </a:rPr>
              <a:t>x </a:t>
            </a:r>
            <a:r>
              <a:rPr lang="en-US" altLang="zh-TW" sz="1400" b="1" baseline="-25000" dirty="0">
                <a:solidFill>
                  <a:schemeClr val="accent2"/>
                </a:solidFill>
                <a:ea typeface="微軟正黑體" panose="020B0604030504040204" pitchFamily="34" charset="-120"/>
              </a:rPr>
              <a:t>t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0ADCC58-1CBA-1F13-4E6E-3F625550B49D}"/>
              </a:ext>
            </a:extLst>
          </p:cNvPr>
          <p:cNvSpPr/>
          <p:nvPr/>
        </p:nvSpPr>
        <p:spPr>
          <a:xfrm>
            <a:off x="3768664" y="6331824"/>
            <a:ext cx="648072" cy="340750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 w="25400">
            <a:solidFill>
              <a:schemeClr val="bg1">
                <a:lumMod val="50000"/>
                <a:alpha val="60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500"/>
              </a:lnSpc>
            </a:pPr>
            <a:endParaRPr lang="en-US" altLang="zh-TW" sz="1400" b="1" baseline="-25000" dirty="0">
              <a:solidFill>
                <a:schemeClr val="accent2"/>
              </a:solidFill>
              <a:ea typeface="微軟正黑體" panose="020B0604030504040204" pitchFamily="34" charset="-120"/>
            </a:endParaRPr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FC078B58-75A3-191C-0650-C2BB9CA617E2}"/>
              </a:ext>
            </a:extLst>
          </p:cNvPr>
          <p:cNvSpPr txBox="1"/>
          <p:nvPr/>
        </p:nvSpPr>
        <p:spPr>
          <a:xfrm rot="10800000" flipV="1">
            <a:off x="3949313" y="6205662"/>
            <a:ext cx="293061" cy="197992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200" b="1" dirty="0">
                <a:solidFill>
                  <a:schemeClr val="accent2"/>
                </a:solidFill>
              </a:rPr>
              <a:t>T</a:t>
            </a:r>
            <a:r>
              <a:rPr lang="en-US" altLang="zh-TW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*d</a:t>
            </a:r>
            <a:endParaRPr lang="zh-TW" altLang="en-US" sz="12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23A064A5-4F43-62BE-ADAE-6E91CD4FF24F}"/>
              </a:ext>
            </a:extLst>
          </p:cNvPr>
          <p:cNvSpPr/>
          <p:nvPr/>
        </p:nvSpPr>
        <p:spPr>
          <a:xfrm>
            <a:off x="3768664" y="6475662"/>
            <a:ext cx="648072" cy="134460"/>
          </a:xfrm>
          <a:prstGeom prst="rect">
            <a:avLst/>
          </a:prstGeom>
          <a:solidFill>
            <a:schemeClr val="accent2">
              <a:lumMod val="20000"/>
              <a:lumOff val="80000"/>
              <a:alpha val="20000"/>
            </a:schemeClr>
          </a:solidFill>
          <a:ln w="15875">
            <a:solidFill>
              <a:schemeClr val="accent2">
                <a:lumMod val="75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500"/>
              </a:lnSpc>
            </a:pPr>
            <a:r>
              <a:rPr lang="en-US" altLang="zh-TW" sz="1400" b="1" dirty="0">
                <a:solidFill>
                  <a:schemeClr val="accent2"/>
                </a:solidFill>
                <a:ea typeface="微軟正黑體" panose="020B0604030504040204" pitchFamily="34" charset="-120"/>
              </a:rPr>
              <a:t>O </a:t>
            </a:r>
            <a:r>
              <a:rPr lang="en-US" altLang="zh-TW" sz="1400" b="1" baseline="-25000" dirty="0">
                <a:solidFill>
                  <a:schemeClr val="accent2"/>
                </a:solidFill>
                <a:ea typeface="微軟正黑體" panose="020B0604030504040204" pitchFamily="34" charset="-120"/>
              </a:rPr>
              <a:t>t</a:t>
            </a:r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EBE7E3C0-F172-28FD-6578-4251A98A232C}"/>
              </a:ext>
            </a:extLst>
          </p:cNvPr>
          <p:cNvSpPr txBox="1"/>
          <p:nvPr/>
        </p:nvSpPr>
        <p:spPr>
          <a:xfrm>
            <a:off x="1942930" y="2950927"/>
            <a:ext cx="274320" cy="118033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200" b="1" dirty="0"/>
              <a:t>d*d</a:t>
            </a:r>
            <a:endParaRPr lang="zh-TW" altLang="en-US" sz="1200" b="1" dirty="0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31388495-61C9-1925-BAC1-A83CD04D69C9}"/>
              </a:ext>
            </a:extLst>
          </p:cNvPr>
          <p:cNvSpPr/>
          <p:nvPr/>
        </p:nvSpPr>
        <p:spPr>
          <a:xfrm>
            <a:off x="2367768" y="3140968"/>
            <a:ext cx="344205" cy="346329"/>
          </a:xfrm>
          <a:prstGeom prst="rect">
            <a:avLst/>
          </a:prstGeom>
          <a:solidFill>
            <a:schemeClr val="accent4">
              <a:lumMod val="20000"/>
              <a:lumOff val="80000"/>
              <a:alpha val="60000"/>
            </a:schemeClr>
          </a:solidFill>
          <a:ln w="19050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</a:t>
            </a:r>
            <a:r>
              <a:rPr kumimoji="0" lang="en-US" altLang="zh-TW" sz="1400" b="0" i="0" u="none" strike="noStrike" kern="1200" cap="none" spc="0" normalizeH="0" baseline="-2500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t-1</a:t>
            </a:r>
            <a:endParaRPr kumimoji="0" lang="zh-TW" altLang="en-US" sz="1400" b="0" i="0" u="none" strike="noStrike" kern="1200" cap="none" spc="0" normalizeH="0" baseline="-25000" noProof="0" dirty="0">
              <a:ln>
                <a:noFill/>
              </a:ln>
              <a:solidFill>
                <a:srgbClr val="8064A2">
                  <a:lumMod val="75000"/>
                </a:srgbClr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D6C8BA79-999B-4A3D-39DF-70F5414F9A1A}"/>
              </a:ext>
            </a:extLst>
          </p:cNvPr>
          <p:cNvSpPr txBox="1"/>
          <p:nvPr/>
        </p:nvSpPr>
        <p:spPr>
          <a:xfrm>
            <a:off x="2843808" y="4298106"/>
            <a:ext cx="183798" cy="341319"/>
          </a:xfrm>
          <a:prstGeom prst="rect">
            <a:avLst/>
          </a:prstGeom>
          <a:noFill/>
          <a:ln w="15875">
            <a:solidFill>
              <a:schemeClr val="accent2">
                <a:lumMod val="40000"/>
                <a:lumOff val="60000"/>
              </a:schemeClr>
            </a:solidFill>
            <a:prstDash val="sysDot"/>
          </a:ln>
        </p:spPr>
        <p:txBody>
          <a:bodyPr wrap="none" lIns="0" tIns="0" rIns="0" bIns="0" rtlCol="0" anchor="ctr" anchorCtr="1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q</a:t>
            </a:r>
            <a:r>
              <a:rPr lang="en-US" altLang="zh-TW" sz="1400" baseline="-25000" dirty="0">
                <a:solidFill>
                  <a:schemeClr val="accent2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</a:t>
            </a:r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7C104D98-C13F-8B05-7523-47E337C19877}"/>
              </a:ext>
            </a:extLst>
          </p:cNvPr>
          <p:cNvSpPr txBox="1"/>
          <p:nvPr/>
        </p:nvSpPr>
        <p:spPr>
          <a:xfrm>
            <a:off x="2931651" y="3140968"/>
            <a:ext cx="344205" cy="332274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  <a:prstDash val="sysDot"/>
          </a:ln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</a:t>
            </a:r>
            <a:endParaRPr lang="zh-TW" altLang="en-US" sz="1400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3" name="文字方塊 72">
            <a:extLst>
              <a:ext uri="{FF2B5EF4-FFF2-40B4-BE49-F238E27FC236}">
                <a16:creationId xmlns:a16="http://schemas.microsoft.com/office/drawing/2014/main" id="{8A1F5B19-8D60-6BCA-9A92-3907375C073C}"/>
              </a:ext>
            </a:extLst>
          </p:cNvPr>
          <p:cNvSpPr txBox="1"/>
          <p:nvPr/>
        </p:nvSpPr>
        <p:spPr>
          <a:xfrm>
            <a:off x="4126708" y="3143493"/>
            <a:ext cx="157260" cy="274320"/>
          </a:xfrm>
          <a:prstGeom prst="rect">
            <a:avLst/>
          </a:prstGeom>
          <a:noFill/>
        </p:spPr>
        <p:txBody>
          <a:bodyPr wrap="none" lIns="0" tIns="91440" rIns="0" bIns="0" rtlCol="0" anchor="ctr" anchorCtr="1">
            <a:noAutofit/>
          </a:bodyPr>
          <a:lstStyle/>
          <a:p>
            <a:pPr algn="ctr">
              <a:lnSpc>
                <a:spcPts val="1200"/>
              </a:lnSpc>
            </a:pPr>
            <a:r>
              <a:rPr lang="en-US" altLang="zh-TW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)</a:t>
            </a:r>
            <a:endParaRPr lang="zh-TW" altLang="en-US" sz="1400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115773A8-77E5-9030-62CB-955E7EC01645}"/>
              </a:ext>
            </a:extLst>
          </p:cNvPr>
          <p:cNvSpPr/>
          <p:nvPr/>
        </p:nvSpPr>
        <p:spPr>
          <a:xfrm>
            <a:off x="5363055" y="3151758"/>
            <a:ext cx="344205" cy="346329"/>
          </a:xfrm>
          <a:prstGeom prst="rect">
            <a:avLst/>
          </a:prstGeom>
          <a:solidFill>
            <a:schemeClr val="accent4">
              <a:lumMod val="20000"/>
              <a:lumOff val="80000"/>
              <a:alpha val="60000"/>
            </a:schemeClr>
          </a:solidFill>
          <a:ln w="19050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</a:t>
            </a:r>
            <a:r>
              <a:rPr kumimoji="0" lang="en-US" altLang="zh-TW" sz="1400" b="0" i="0" u="none" strike="noStrike" kern="1200" cap="none" spc="0" normalizeH="0" baseline="-2500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</a:t>
            </a:r>
            <a:endParaRPr kumimoji="0" lang="zh-TW" altLang="en-US" sz="1400" b="0" i="0" u="none" strike="noStrike" kern="1200" cap="none" spc="0" normalizeH="0" baseline="-25000" noProof="0" dirty="0">
              <a:ln>
                <a:noFill/>
              </a:ln>
              <a:solidFill>
                <a:srgbClr val="8064A2">
                  <a:lumMod val="75000"/>
                </a:srgbClr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D41CF782-57A3-C3EF-5F64-D2410664675E}"/>
              </a:ext>
            </a:extLst>
          </p:cNvPr>
          <p:cNvSpPr/>
          <p:nvPr/>
        </p:nvSpPr>
        <p:spPr>
          <a:xfrm>
            <a:off x="2367768" y="4293096"/>
            <a:ext cx="344205" cy="346329"/>
          </a:xfrm>
          <a:prstGeom prst="rect">
            <a:avLst/>
          </a:prstGeom>
          <a:solidFill>
            <a:schemeClr val="accent4">
              <a:lumMod val="20000"/>
              <a:lumOff val="80000"/>
              <a:alpha val="60000"/>
            </a:schemeClr>
          </a:solidFill>
          <a:ln w="19050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</a:t>
            </a:r>
            <a:r>
              <a:rPr kumimoji="0" lang="en-US" altLang="zh-TW" sz="1400" b="0" i="0" u="none" strike="noStrike" kern="1200" cap="none" spc="0" normalizeH="0" baseline="-2500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t-1</a:t>
            </a:r>
            <a:endParaRPr kumimoji="0" lang="zh-TW" altLang="en-US" sz="1400" b="0" i="0" u="none" strike="noStrike" kern="1200" cap="none" spc="0" normalizeH="0" baseline="-25000" noProof="0" dirty="0">
              <a:ln>
                <a:noFill/>
              </a:ln>
              <a:solidFill>
                <a:srgbClr val="8064A2">
                  <a:lumMod val="75000"/>
                </a:srgbClr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AE0AD605-CA43-872A-F7F5-4F061682C657}"/>
              </a:ext>
            </a:extLst>
          </p:cNvPr>
          <p:cNvSpPr/>
          <p:nvPr/>
        </p:nvSpPr>
        <p:spPr>
          <a:xfrm>
            <a:off x="3419872" y="4284847"/>
            <a:ext cx="177555" cy="340750"/>
          </a:xfrm>
          <a:prstGeom prst="rect">
            <a:avLst/>
          </a:prstGeom>
          <a:solidFill>
            <a:schemeClr val="accent2">
              <a:lumMod val="20000"/>
              <a:lumOff val="80000"/>
              <a:alpha val="20000"/>
            </a:schemeClr>
          </a:solidFill>
          <a:ln w="15875">
            <a:solidFill>
              <a:schemeClr val="accent2">
                <a:lumMod val="75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400"/>
              </a:lnSpc>
            </a:pPr>
            <a:r>
              <a:rPr lang="en-US" altLang="zh-TW" sz="1400" b="1" dirty="0">
                <a:solidFill>
                  <a:schemeClr val="accent2"/>
                </a:solidFill>
                <a:ea typeface="微軟正黑體" panose="020B0604030504040204" pitchFamily="34" charset="-120"/>
              </a:rPr>
              <a:t>O</a:t>
            </a:r>
            <a:r>
              <a:rPr lang="en-US" altLang="zh-TW" sz="1400" b="1" baseline="-25000" dirty="0">
                <a:solidFill>
                  <a:schemeClr val="accent2"/>
                </a:solidFill>
                <a:ea typeface="微軟正黑體" panose="020B0604030504040204" pitchFamily="34" charset="-120"/>
              </a:rPr>
              <a:t>t</a:t>
            </a:r>
          </a:p>
        </p:txBody>
      </p: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B6539CD8-0DCD-8B9A-96AC-F5A628793B9E}"/>
              </a:ext>
            </a:extLst>
          </p:cNvPr>
          <p:cNvSpPr txBox="1"/>
          <p:nvPr/>
        </p:nvSpPr>
        <p:spPr>
          <a:xfrm>
            <a:off x="3190604" y="4284847"/>
            <a:ext cx="157260" cy="274320"/>
          </a:xfrm>
          <a:prstGeom prst="rect">
            <a:avLst/>
          </a:prstGeom>
          <a:noFill/>
        </p:spPr>
        <p:txBody>
          <a:bodyPr wrap="none" lIns="0" tIns="91440" rIns="0" bIns="0" rtlCol="0" anchor="ctr" anchorCtr="1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zh-TW" sz="1000" b="1" dirty="0">
                <a:ea typeface="ADLaM Display" panose="02010000000000000000" pitchFamily="2" charset="0"/>
                <a:cs typeface="ADLaM Display" panose="02010000000000000000" pitchFamily="2" charset="0"/>
                <a:sym typeface="Wingdings" panose="05000000000000000000" pitchFamily="2" charset="2"/>
              </a:rPr>
              <a:t></a:t>
            </a:r>
            <a:endParaRPr lang="zh-TW" altLang="en-US" sz="1000" b="1" dirty="0">
              <a:cs typeface="ADLaM Display" panose="02010000000000000000" pitchFamily="2" charset="0"/>
            </a:endParaRPr>
          </a:p>
        </p:txBody>
      </p:sp>
      <p:sp>
        <p:nvSpPr>
          <p:cNvPr id="101" name="文字方塊 100">
            <a:extLst>
              <a:ext uri="{FF2B5EF4-FFF2-40B4-BE49-F238E27FC236}">
                <a16:creationId xmlns:a16="http://schemas.microsoft.com/office/drawing/2014/main" id="{E3160559-E6C9-7D94-1060-C2D9B2128C64}"/>
              </a:ext>
            </a:extLst>
          </p:cNvPr>
          <p:cNvSpPr txBox="1"/>
          <p:nvPr/>
        </p:nvSpPr>
        <p:spPr>
          <a:xfrm>
            <a:off x="2931998" y="6201594"/>
            <a:ext cx="684705" cy="28416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/>
            <a:r>
              <a:rPr lang="en-US" altLang="zh-TW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Iteration</a:t>
            </a:r>
          </a:p>
          <a:p>
            <a:pPr algn="ctr"/>
            <a:r>
              <a:rPr lang="en-US" altLang="zh-TW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from 1 to</a:t>
            </a:r>
            <a:r>
              <a:rPr lang="en-US" altLang="zh-TW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TW" sz="1200" b="1" dirty="0">
                <a:solidFill>
                  <a:srgbClr val="FF0000"/>
                </a:solidFill>
              </a:rPr>
              <a:t>T</a:t>
            </a:r>
            <a:r>
              <a:rPr lang="en-US" altLang="zh-TW" sz="1200" dirty="0">
                <a:solidFill>
                  <a:schemeClr val="accent2"/>
                </a:solidFill>
              </a:rPr>
              <a:t> </a:t>
            </a:r>
            <a:endParaRPr lang="zh-TW" altLang="en-US" sz="1200" dirty="0">
              <a:solidFill>
                <a:schemeClr val="accent2"/>
              </a:solidFill>
            </a:endParaRPr>
          </a:p>
        </p:txBody>
      </p:sp>
      <p:sp>
        <p:nvSpPr>
          <p:cNvPr id="104" name="標題 1">
            <a:extLst>
              <a:ext uri="{FF2B5EF4-FFF2-40B4-BE49-F238E27FC236}">
                <a16:creationId xmlns:a16="http://schemas.microsoft.com/office/drawing/2014/main" id="{32F65458-82D7-D013-A23F-0790FA75379D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885698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LA and RNN in 2026</a:t>
            </a:r>
            <a:endParaRPr lang="en-US" altLang="zh-TW" sz="2800" b="1" dirty="0">
              <a:solidFill>
                <a:schemeClr val="accent6">
                  <a:lumMod val="75000"/>
                </a:schemeClr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</a:endParaRPr>
          </a:p>
          <a:p>
            <a:r>
              <a:rPr lang="en-US" altLang="zh-TW" sz="14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GDN(Delta Rule) KDA(Channel-wise) GND2(Decoupled Intensity) EDA(Decoupled Addresses)</a:t>
            </a:r>
          </a:p>
        </p:txBody>
      </p:sp>
    </p:spTree>
    <p:extLst>
      <p:ext uri="{BB962C8B-B14F-4D97-AF65-F5344CB8AC3E}">
        <p14:creationId xmlns:p14="http://schemas.microsoft.com/office/powerpoint/2010/main" val="2300298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FA65C-0B2C-1646-EBC2-383B9923B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標題 1">
            <a:extLst>
              <a:ext uri="{FF2B5EF4-FFF2-40B4-BE49-F238E27FC236}">
                <a16:creationId xmlns:a16="http://schemas.microsoft.com/office/drawing/2014/main" id="{1FBCD638-143B-9BA8-641F-164D3C4CEAA9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b="1" dirty="0">
                <a:solidFill>
                  <a:schemeClr val="accent6">
                    <a:lumMod val="75000"/>
                  </a:scheme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K</a:t>
            </a:r>
            <a:r>
              <a:rPr lang="en-US" altLang="zh-TW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imi</a:t>
            </a:r>
            <a:r>
              <a:rPr lang="zh-TW" altLang="en-US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 </a:t>
            </a:r>
            <a:r>
              <a:rPr lang="en-US" altLang="zh-TW" sz="2800" b="1" dirty="0">
                <a:solidFill>
                  <a:schemeClr val="accent6">
                    <a:lumMod val="75000"/>
                  </a:scheme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D</a:t>
            </a:r>
            <a:r>
              <a:rPr lang="en-US" altLang="zh-TW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elta</a:t>
            </a:r>
            <a:r>
              <a:rPr lang="en-US" altLang="zh-TW" sz="2800" b="1" dirty="0">
                <a:solidFill>
                  <a:schemeClr val="accent6">
                    <a:lumMod val="75000"/>
                  </a:scheme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 A</a:t>
            </a:r>
            <a:r>
              <a:rPr lang="en-US" altLang="zh-TW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ttention</a:t>
            </a:r>
          </a:p>
          <a:p>
            <a:r>
              <a:rPr lang="en-US" altLang="zh-TW" sz="14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-- struggles with context.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7BEDA60-6B1C-859C-DD10-ADC54BBDF626}"/>
              </a:ext>
            </a:extLst>
          </p:cNvPr>
          <p:cNvSpPr txBox="1"/>
          <p:nvPr/>
        </p:nvSpPr>
        <p:spPr>
          <a:xfrm>
            <a:off x="287523" y="980728"/>
            <a:ext cx="8351687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19431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/>
              <a:t>KDA</a:t>
            </a:r>
            <a:r>
              <a:rPr lang="en-US" altLang="zh-TW" sz="1600" dirty="0">
                <a:sym typeface="Wingdings" panose="05000000000000000000" pitchFamily="2" charset="2"/>
              </a:rPr>
              <a:t> (Doubly Fine-Grained GDN):</a:t>
            </a:r>
            <a:r>
              <a:rPr lang="en-US" altLang="zh-TW" sz="1600" dirty="0"/>
              <a:t> </a:t>
            </a:r>
            <a:r>
              <a:rPr lang="en-US" altLang="zh-TW" sz="1600" dirty="0">
                <a:sym typeface="Wingdings" panose="05000000000000000000" pitchFamily="2" charset="2"/>
              </a:rPr>
              <a:t>Decouple erase vector </a:t>
            </a:r>
            <a:r>
              <a:rPr lang="en-US" altLang="zh-TW" sz="1600" dirty="0">
                <a:sym typeface="Symbol" panose="05050102010706020507" pitchFamily="18" charset="2"/>
              </a:rPr>
              <a:t></a:t>
            </a:r>
            <a:r>
              <a:rPr lang="en-US" altLang="zh-TW" sz="1600" baseline="-25000" dirty="0">
                <a:sym typeface="Wingdings" panose="05000000000000000000" pitchFamily="2" charset="2"/>
              </a:rPr>
              <a:t>k</a:t>
            </a:r>
            <a:r>
              <a:rPr lang="en-US" altLang="zh-TW" sz="1600" dirty="0">
                <a:sym typeface="Wingdings" panose="05000000000000000000" pitchFamily="2" charset="2"/>
              </a:rPr>
              <a:t> and write vector </a:t>
            </a:r>
            <a:r>
              <a:rPr lang="en-US" altLang="zh-TW" sz="1600" dirty="0">
                <a:sym typeface="Symbol" panose="05050102010706020507" pitchFamily="18" charset="2"/>
              </a:rPr>
              <a:t></a:t>
            </a:r>
            <a:r>
              <a:rPr lang="en-US" altLang="zh-TW" sz="1600" baseline="-25000" dirty="0">
                <a:sym typeface="Wingdings" panose="05000000000000000000" pitchFamily="2" charset="2"/>
              </a:rPr>
              <a:t>v</a:t>
            </a:r>
            <a:r>
              <a:rPr lang="en-US" altLang="zh-TW" sz="1600" dirty="0">
                <a:sym typeface="Wingdings" panose="05000000000000000000" pitchFamily="2" charset="2"/>
              </a:rPr>
              <a:t>., Linear-MLA Hybrid model. (2025.10)</a:t>
            </a:r>
          </a:p>
          <a:p>
            <a:pPr marL="285750" marR="0" lvl="0" indent="-285750" algn="l" defTabSz="19431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Gated MLA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: Channel-wise Erase Gate b</a:t>
            </a:r>
            <a:r>
              <a:rPr kumimoji="0" lang="en-US" altLang="zh-TW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t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 and Write Gate 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  <a:sym typeface="Symbol" panose="05050102010706020507" pitchFamily="18" charset="2"/>
              </a:rPr>
              <a:t></a:t>
            </a:r>
            <a:r>
              <a:rPr kumimoji="0" lang="en-US" altLang="zh-TW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t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. (2026.05) </a:t>
            </a: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3CD9D972-0E87-11D8-6CCA-7E36C37F8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056" y="2171358"/>
            <a:ext cx="3928769" cy="1006344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AC8C8A99-36EA-6D05-C955-3C1042A676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8733" y="3445371"/>
            <a:ext cx="4748778" cy="1501939"/>
          </a:xfrm>
          <a:prstGeom prst="rect">
            <a:avLst/>
          </a:prstGeom>
        </p:spPr>
      </p:pic>
      <p:sp>
        <p:nvSpPr>
          <p:cNvPr id="26" name="文字方塊 25">
            <a:extLst>
              <a:ext uri="{FF2B5EF4-FFF2-40B4-BE49-F238E27FC236}">
                <a16:creationId xmlns:a16="http://schemas.microsoft.com/office/drawing/2014/main" id="{B6431161-30AA-2373-11F7-4229E8B4CC2B}"/>
              </a:ext>
            </a:extLst>
          </p:cNvPr>
          <p:cNvSpPr txBox="1"/>
          <p:nvPr/>
        </p:nvSpPr>
        <p:spPr>
          <a:xfrm>
            <a:off x="4067210" y="5085184"/>
            <a:ext cx="4572000" cy="1269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800"/>
              </a:spcBef>
              <a:spcAft>
                <a:spcPts val="900"/>
              </a:spcAft>
              <a:buNone/>
            </a:pPr>
            <a:r>
              <a:rPr lang="zh-TW" altLang="zh-TW" sz="1350" b="1" u="none" strike="noStrike" dirty="0">
                <a:effectLst/>
                <a:latin typeface="Google Sans"/>
              </a:rPr>
              <a:t>GDN 的痛點：</a:t>
            </a:r>
          </a:p>
          <a:p>
            <a:pPr marL="0" marR="0">
              <a:spcBef>
                <a:spcPts val="900"/>
              </a:spcBef>
              <a:spcAft>
                <a:spcPts val="1200"/>
              </a:spcAft>
              <a:buNone/>
            </a:pPr>
            <a:r>
              <a:rPr lang="zh-TW" altLang="zh-TW" sz="1200" b="0" u="none" strike="noStrike" dirty="0">
                <a:effectLst/>
                <a:latin typeface="Google Sans"/>
              </a:rPr>
              <a:t>因為 \(\alpha _{t}\) 是一個純量，它與整個矩陣相乘時，</a:t>
            </a:r>
            <a:r>
              <a:rPr lang="zh-TW" altLang="zh-TW" sz="1200" b="1" u="none" strike="noStrike" dirty="0">
                <a:effectLst/>
                <a:latin typeface="Google Sans"/>
              </a:rPr>
              <a:t>等同於讓該注意力頭（Head）內的所有通道（Channels / 特徵維度）以完全相同的速度衰減</a:t>
            </a:r>
            <a:r>
              <a:rPr lang="zh-TW" altLang="zh-TW" sz="1200" b="0" u="none" strike="noStrike" dirty="0">
                <a:effectLst/>
                <a:latin typeface="Google Sans"/>
              </a:rPr>
              <a:t>。模型無法做到「有些特徵需要長久記憶、有些特徵可以快速忘記」的細粒度控制。</a:t>
            </a:r>
          </a:p>
        </p:txBody>
      </p:sp>
      <p:pic>
        <p:nvPicPr>
          <p:cNvPr id="31" name="圖片 30">
            <a:extLst>
              <a:ext uri="{FF2B5EF4-FFF2-40B4-BE49-F238E27FC236}">
                <a16:creationId xmlns:a16="http://schemas.microsoft.com/office/drawing/2014/main" id="{C4D344F2-CD82-F94C-5814-6D5BB9DC0C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244076"/>
            <a:ext cx="3999731" cy="1177309"/>
          </a:xfrm>
          <a:prstGeom prst="rect">
            <a:avLst/>
          </a:prstGeom>
        </p:spPr>
      </p:pic>
      <p:pic>
        <p:nvPicPr>
          <p:cNvPr id="35" name="圖片 34">
            <a:extLst>
              <a:ext uri="{FF2B5EF4-FFF2-40B4-BE49-F238E27FC236}">
                <a16:creationId xmlns:a16="http://schemas.microsoft.com/office/drawing/2014/main" id="{1F9B6543-A053-ECFA-3FA4-1F2654C85E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680297"/>
            <a:ext cx="4628962" cy="1269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49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1224B-D8AA-1D9C-BF65-B35BD876C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>
            <a:extLst>
              <a:ext uri="{FF2B5EF4-FFF2-40B4-BE49-F238E27FC236}">
                <a16:creationId xmlns:a16="http://schemas.microsoft.com/office/drawing/2014/main" id="{47CCB39C-DFAD-9BC5-B593-19C3ECEDB722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885698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b="1" dirty="0">
                <a:solidFill>
                  <a:schemeClr val="accent6">
                    <a:lumMod val="75000"/>
                  </a:scheme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S</a:t>
            </a:r>
            <a:r>
              <a:rPr lang="en-US" altLang="zh-TW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tate </a:t>
            </a:r>
            <a:r>
              <a:rPr lang="en-US" altLang="zh-TW" sz="2800" b="1" dirty="0">
                <a:solidFill>
                  <a:schemeClr val="accent6">
                    <a:lumMod val="75000"/>
                  </a:scheme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S</a:t>
            </a:r>
            <a:r>
              <a:rPr lang="en-US" altLang="zh-TW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pace </a:t>
            </a:r>
            <a:r>
              <a:rPr lang="en-US" altLang="zh-TW" sz="2800" b="1" dirty="0">
                <a:solidFill>
                  <a:schemeClr val="accent6">
                    <a:lumMod val="75000"/>
                  </a:scheme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M</a:t>
            </a:r>
            <a:r>
              <a:rPr lang="en-US" altLang="zh-TW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odel</a:t>
            </a:r>
            <a:r>
              <a:rPr lang="en-US" altLang="zh-TW" sz="2800" b="1" dirty="0">
                <a:solidFill>
                  <a:schemeClr val="accent6">
                    <a:lumMod val="75000"/>
                  </a:scheme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s</a:t>
            </a:r>
          </a:p>
          <a:p>
            <a:r>
              <a:rPr lang="en-US" altLang="zh-TW" sz="14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Mamba family runs entirely on S6 operators, using input selection as its core soul.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14B2C0E-7F3C-155A-7876-071172E5D492}"/>
              </a:ext>
            </a:extLst>
          </p:cNvPr>
          <p:cNvSpPr txBox="1"/>
          <p:nvPr/>
        </p:nvSpPr>
        <p:spPr>
          <a:xfrm>
            <a:off x="287524" y="980728"/>
            <a:ext cx="5868652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19431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/>
              <a:t>Remember</a:t>
            </a:r>
            <a:r>
              <a:rPr lang="en-US" altLang="zh-TW" sz="1600" dirty="0"/>
              <a:t>: ..M.</a:t>
            </a:r>
            <a:endParaRPr lang="zh-TW" altLang="en-US" sz="1400" dirty="0"/>
          </a:p>
          <a:p>
            <a:pPr marL="285750" indent="-285750" defTabSz="19431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/>
              <a:t>Memory</a:t>
            </a:r>
            <a:r>
              <a:rPr lang="en-US" altLang="zh-TW" sz="1600" dirty="0"/>
              <a:t>: ...</a:t>
            </a:r>
          </a:p>
          <a:p>
            <a:pPr marL="285750" indent="-285750" defTabSz="19431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/>
              <a:t>Prediction</a:t>
            </a:r>
            <a:r>
              <a:rPr lang="en-US" altLang="zh-TW" sz="1600" dirty="0"/>
              <a:t>: ...Combine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B583711-98AF-84F5-8544-F1F62F881A13}"/>
              </a:ext>
            </a:extLst>
          </p:cNvPr>
          <p:cNvSpPr txBox="1"/>
          <p:nvPr/>
        </p:nvSpPr>
        <p:spPr>
          <a:xfrm>
            <a:off x="4139952" y="1196752"/>
            <a:ext cx="1944216" cy="504056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altLang="zh-TW" sz="1200" b="1" dirty="0"/>
              <a:t>State Equation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altLang="zh-TW" sz="1200" b="1" dirty="0" err="1"/>
              <a:t>Xt</a:t>
            </a:r>
            <a:r>
              <a:rPr lang="en-US" altLang="zh-TW" sz="1200" b="1" dirty="0"/>
              <a:t> = f(xt-1, </a:t>
            </a:r>
            <a:r>
              <a:rPr lang="en-US" altLang="zh-TW" sz="1200" b="1" dirty="0" err="1"/>
              <a:t>ut</a:t>
            </a:r>
            <a:r>
              <a:rPr lang="en-US" altLang="zh-TW" sz="1200" b="1" dirty="0"/>
              <a:t>, </a:t>
            </a:r>
            <a:r>
              <a:rPr lang="en-US" altLang="zh-TW" sz="1200" b="1" dirty="0" err="1"/>
              <a:t>wt</a:t>
            </a:r>
            <a:r>
              <a:rPr lang="en-US" altLang="zh-TW" sz="1200" b="1" dirty="0"/>
              <a:t>)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endParaRPr lang="en-US" altLang="zh-TW" sz="1200" b="1" dirty="0"/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altLang="zh-TW" sz="1200" b="1" dirty="0"/>
              <a:t>*Observation Equation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altLang="zh-TW" sz="1200" b="1" dirty="0" err="1"/>
              <a:t>Yt</a:t>
            </a:r>
            <a:r>
              <a:rPr lang="en-US" altLang="zh-TW" sz="1200" b="1" dirty="0"/>
              <a:t>= </a:t>
            </a:r>
            <a:r>
              <a:rPr lang="en-US" altLang="zh-TW" sz="1200" b="1" dirty="0" err="1"/>
              <a:t>cxt+Dut+Vt</a:t>
            </a:r>
            <a:endParaRPr lang="en-US" altLang="zh-TW" sz="1200" b="1" dirty="0"/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altLang="zh-TW" sz="1200" b="1" dirty="0" err="1"/>
              <a:t>Yt</a:t>
            </a:r>
            <a:r>
              <a:rPr lang="en-US" altLang="zh-TW" sz="1200" b="1" dirty="0"/>
              <a:t> = g(xt-1, </a:t>
            </a:r>
            <a:r>
              <a:rPr lang="en-US" altLang="zh-TW" sz="1200" b="1" dirty="0" err="1"/>
              <a:t>ut</a:t>
            </a:r>
            <a:r>
              <a:rPr lang="en-US" altLang="zh-TW" sz="1200" b="1" dirty="0"/>
              <a:t>, </a:t>
            </a:r>
            <a:r>
              <a:rPr lang="en-US" altLang="zh-TW" sz="1200" b="1" dirty="0" err="1"/>
              <a:t>wt</a:t>
            </a:r>
            <a:r>
              <a:rPr lang="en-US" altLang="zh-TW" sz="1200" b="1" dirty="0"/>
              <a:t>)</a:t>
            </a:r>
            <a:endParaRPr lang="zh-TW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16685597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>
            <a:extLst>
              <a:ext uri="{FF2B5EF4-FFF2-40B4-BE49-F238E27FC236}">
                <a16:creationId xmlns:a16="http://schemas.microsoft.com/office/drawing/2014/main" id="{BB172B29-1067-BD51-7EBC-508E7351ECB0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885698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b="1" dirty="0">
                <a:solidFill>
                  <a:schemeClr val="accent6">
                    <a:lumMod val="75000"/>
                  </a:scheme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S</a:t>
            </a:r>
            <a:r>
              <a:rPr lang="en-US" altLang="zh-TW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elective </a:t>
            </a:r>
            <a:r>
              <a:rPr lang="en-US" altLang="zh-TW" sz="2800" b="1" dirty="0">
                <a:solidFill>
                  <a:schemeClr val="accent6">
                    <a:lumMod val="75000"/>
                  </a:scheme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S</a:t>
            </a:r>
            <a:r>
              <a:rPr lang="en-US" altLang="zh-TW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tructured </a:t>
            </a:r>
            <a:r>
              <a:rPr lang="en-US" altLang="zh-TW" sz="2800" b="1" dirty="0">
                <a:solidFill>
                  <a:schemeClr val="accent6">
                    <a:lumMod val="75000"/>
                  </a:scheme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S</a:t>
            </a:r>
            <a:r>
              <a:rPr lang="en-US" altLang="zh-TW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tate </a:t>
            </a:r>
            <a:r>
              <a:rPr lang="en-US" altLang="zh-TW" sz="2800" b="1" dirty="0">
                <a:solidFill>
                  <a:schemeClr val="accent6">
                    <a:lumMod val="75000"/>
                  </a:scheme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S</a:t>
            </a:r>
            <a:r>
              <a:rPr lang="en-US" altLang="zh-TW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pace </a:t>
            </a:r>
            <a:r>
              <a:rPr lang="en-US" altLang="zh-TW" sz="2800" b="1" dirty="0">
                <a:solidFill>
                  <a:schemeClr val="accent6">
                    <a:lumMod val="75000"/>
                  </a:scheme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M</a:t>
            </a:r>
            <a:r>
              <a:rPr lang="en-US" altLang="zh-TW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odel</a:t>
            </a:r>
            <a:r>
              <a:rPr lang="en-US" altLang="zh-TW" sz="2800" b="1" dirty="0">
                <a:solidFill>
                  <a:schemeClr val="accent6">
                    <a:lumMod val="75000"/>
                  </a:scheme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s</a:t>
            </a:r>
          </a:p>
          <a:p>
            <a:r>
              <a:rPr lang="en-US" altLang="zh-TW" sz="14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Mamba family runs entirely on S6 operators, using input selection as its core soul.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3ABDFFC-7552-D861-A1AC-525C9525963B}"/>
              </a:ext>
            </a:extLst>
          </p:cNvPr>
          <p:cNvSpPr txBox="1"/>
          <p:nvPr/>
        </p:nvSpPr>
        <p:spPr>
          <a:xfrm>
            <a:off x="199331" y="3429000"/>
            <a:ext cx="7108229" cy="1915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TW" altLang="zh-TW" sz="1200" b="1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Mamba-1 (2023)</a:t>
            </a:r>
            <a:r>
              <a:rPr lang="zh-TW" altLang="zh-TW" sz="12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：正式名稱就是 </a:t>
            </a:r>
            <a:r>
              <a:rPr lang="zh-TW" altLang="zh-TW" sz="1200" b="1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S6</a:t>
            </a:r>
            <a:r>
              <a:rPr lang="zh-TW" altLang="zh-TW" sz="12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(</a:t>
            </a:r>
            <a:r>
              <a:rPr lang="zh-TW" altLang="zh-TW" sz="1200" b="1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S</a:t>
            </a:r>
            <a:r>
              <a:rPr lang="zh-TW" altLang="zh-TW" sz="12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elective </a:t>
            </a:r>
            <a:r>
              <a:rPr lang="zh-TW" altLang="zh-TW" sz="1200" b="1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S</a:t>
            </a:r>
            <a:r>
              <a:rPr lang="zh-TW" altLang="zh-TW" sz="12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tructured </a:t>
            </a:r>
            <a:r>
              <a:rPr lang="zh-TW" altLang="zh-TW" sz="1200" b="1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S</a:t>
            </a:r>
            <a:r>
              <a:rPr lang="zh-TW" altLang="zh-TW" sz="12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tate </a:t>
            </a:r>
            <a:r>
              <a:rPr lang="zh-TW" altLang="zh-TW" sz="1200" b="1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S</a:t>
            </a:r>
            <a:r>
              <a:rPr lang="zh-TW" altLang="zh-TW" sz="12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pace </a:t>
            </a:r>
            <a:r>
              <a:rPr lang="zh-TW" altLang="zh-TW" sz="1200" b="1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M</a:t>
            </a:r>
            <a:r>
              <a:rPr lang="zh-TW" altLang="zh-TW" sz="12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odels)。</a:t>
            </a:r>
          </a:p>
          <a:p>
            <a:pPr marL="342900" marR="0" lvl="0" indent="-34290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TW" altLang="zh-TW" sz="1200" b="1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Mamba-2 (2024)</a:t>
            </a:r>
            <a:r>
              <a:rPr lang="zh-TW" altLang="zh-TW" sz="12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：依然是 S6 家族。它為了在硬體上實現矩陣化並行，提出了 </a:t>
            </a:r>
            <a:r>
              <a:rPr lang="zh-TW" altLang="zh-TW" sz="1200" b="1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SSD (State Space Duality)</a:t>
            </a:r>
            <a:r>
              <a:rPr lang="zh-TW" altLang="zh-TW" sz="12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理論。它將 Mamba-1 的 S6 算子進行了結構精簡（將矩陣 \(A\) 限制為實數標量），以便完美適配 Tensor Core。</a:t>
            </a:r>
          </a:p>
          <a:p>
            <a:pPr marL="342900" marR="0" lvl="0" indent="-34290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TW" altLang="zh-TW" sz="1200" b="1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Mamba-3 (2026)</a:t>
            </a:r>
            <a:r>
              <a:rPr lang="zh-TW" altLang="zh-TW" sz="12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：是 S6 家族的最新終極進化。它修正了 Mamba-2 的缺點，將狀態轉移矩陣重新引入</a:t>
            </a:r>
            <a:r>
              <a:rPr lang="zh-TW" altLang="zh-TW" sz="1200" b="1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複數域旋轉</a:t>
            </a:r>
            <a:r>
              <a:rPr lang="zh-TW" altLang="zh-TW" sz="12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與 </a:t>
            </a:r>
            <a:r>
              <a:rPr lang="zh-TW" altLang="zh-TW" sz="1200" b="1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MIMO（多輸入多輸出）</a:t>
            </a:r>
            <a:r>
              <a:rPr lang="zh-TW" altLang="zh-TW" sz="12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架構，在學術界有時也被延伸稱為 </a:t>
            </a:r>
            <a:r>
              <a:rPr lang="zh-TW" altLang="zh-TW" sz="1200" b="1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S7 算子</a:t>
            </a:r>
            <a:r>
              <a:rPr lang="zh-TW" altLang="zh-TW" sz="12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1200" b="0" u="none" strike="noStrike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marR="0" lvl="0" indent="-34290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TW" altLang="en-US" sz="12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學界在 </a:t>
            </a:r>
            <a:r>
              <a:rPr lang="en-US" altLang="zh-TW" sz="12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2024 </a:t>
            </a:r>
            <a:r>
              <a:rPr lang="zh-TW" altLang="en-US" sz="12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年底也推出了加入穩定度控制的 </a:t>
            </a:r>
            <a:r>
              <a:rPr lang="en-US" altLang="zh-TW" sz="1200" b="1" u="none" strike="noStrike" dirty="0">
                <a:solidFill>
                  <a:schemeClr val="accent6">
                    <a:lumMod val="75000"/>
                  </a:schemeClr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S7 </a:t>
            </a:r>
            <a:r>
              <a:rPr lang="zh-TW" altLang="en-US" sz="12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模型，不過目前工業界落地仍以 </a:t>
            </a:r>
            <a:r>
              <a:rPr lang="en-US" altLang="zh-TW" sz="12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S6</a:t>
            </a:r>
            <a:r>
              <a:rPr lang="zh-TW" altLang="en-US" sz="12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TW" sz="12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Mamba </a:t>
            </a:r>
            <a:r>
              <a:rPr lang="zh-TW" altLang="en-US" sz="1200" b="0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系列）最為知名</a:t>
            </a:r>
            <a:endParaRPr lang="zh-TW" altLang="zh-TW" sz="1200" b="0" u="none" strike="noStrike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501278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0E1BD-9A28-4CF4-A676-F921C4A6A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標題 1">
            <a:extLst>
              <a:ext uri="{FF2B5EF4-FFF2-40B4-BE49-F238E27FC236}">
                <a16:creationId xmlns:a16="http://schemas.microsoft.com/office/drawing/2014/main" id="{66252BDC-D8F3-149B-4858-565D740498DB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885698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Mamba</a:t>
            </a:r>
            <a:br>
              <a:rPr lang="en-US" altLang="zh-TW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</a:br>
            <a:r>
              <a:rPr lang="en-US" altLang="zh-TW" sz="14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S5M.</a:t>
            </a:r>
          </a:p>
        </p:txBody>
      </p:sp>
      <p:sp>
        <p:nvSpPr>
          <p:cNvPr id="153" name="文字方塊 152">
            <a:extLst>
              <a:ext uri="{FF2B5EF4-FFF2-40B4-BE49-F238E27FC236}">
                <a16:creationId xmlns:a16="http://schemas.microsoft.com/office/drawing/2014/main" id="{8FA7AB6D-F9AE-636C-C663-CA346BEE3260}"/>
              </a:ext>
            </a:extLst>
          </p:cNvPr>
          <p:cNvSpPr txBox="1"/>
          <p:nvPr/>
        </p:nvSpPr>
        <p:spPr>
          <a:xfrm>
            <a:off x="287524" y="980728"/>
            <a:ext cx="5868652" cy="1467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19431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/>
              <a:t>Selective Mechanism</a:t>
            </a:r>
            <a:r>
              <a:rPr lang="en-US" altLang="zh-TW" sz="1600" dirty="0"/>
              <a:t>: ...</a:t>
            </a:r>
            <a:endParaRPr lang="zh-TW" altLang="en-US" sz="1400" dirty="0"/>
          </a:p>
          <a:p>
            <a:pPr marL="285750" indent="-285750" defTabSz="19431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/>
              <a:t>Hardware-Aware Parallel Scan</a:t>
            </a:r>
            <a:r>
              <a:rPr lang="en-US" altLang="zh-TW" sz="1600" dirty="0"/>
              <a:t>: ...</a:t>
            </a:r>
          </a:p>
          <a:p>
            <a:pPr marL="285750" indent="-285750" defTabSz="19431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400" b="1" dirty="0"/>
              <a:t>State Space Duality</a:t>
            </a:r>
            <a:r>
              <a:rPr lang="en-US" altLang="zh-TW" sz="1400" dirty="0"/>
              <a:t> ...</a:t>
            </a:r>
            <a:endParaRPr lang="en-US" altLang="zh-TW" sz="1200" dirty="0"/>
          </a:p>
          <a:p>
            <a:pPr defTabSz="19431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TW" sz="1400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966D38D8-E0F8-D747-DE60-25643E0E8340}"/>
              </a:ext>
            </a:extLst>
          </p:cNvPr>
          <p:cNvSpPr txBox="1"/>
          <p:nvPr/>
        </p:nvSpPr>
        <p:spPr>
          <a:xfrm>
            <a:off x="287524" y="3111343"/>
            <a:ext cx="7236804" cy="1467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19431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/>
              <a:t>State Space Models</a:t>
            </a:r>
            <a:r>
              <a:rPr lang="en-US" altLang="zh-TW" sz="1600" dirty="0"/>
              <a:t>: SSD(State Space Duality) is equivalent  to Linear Attention</a:t>
            </a:r>
            <a:endParaRPr lang="zh-TW" altLang="en-US" sz="1400" dirty="0"/>
          </a:p>
          <a:p>
            <a:pPr marL="285750" indent="-285750" defTabSz="19431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/>
              <a:t>SSM: </a:t>
            </a:r>
          </a:p>
          <a:p>
            <a:pPr marL="285750" indent="-285750" defTabSz="19431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altLang="zh-TW" sz="1600" b="1" dirty="0"/>
          </a:p>
          <a:p>
            <a:pPr marL="285750" indent="-285750" defTabSz="19431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/>
              <a:t>Flash Attention</a:t>
            </a:r>
            <a:endParaRPr lang="en-US" altLang="zh-TW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386D0D5A-DA13-A5A6-06EE-A46A9854430F}"/>
                  </a:ext>
                </a:extLst>
              </p:cNvPr>
              <p:cNvSpPr txBox="1"/>
              <p:nvPr/>
            </p:nvSpPr>
            <p:spPr>
              <a:xfrm>
                <a:off x="3571626" y="3541001"/>
                <a:ext cx="1424684" cy="2051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ts val="1600"/>
                  </a:lnSpc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zh-TW" sz="1200" i="1">
                          <a:latin typeface="Cambria Math" panose="02040503050406030204" pitchFamily="18" charset="0"/>
                        </a:rPr>
                        <m:t>L</m:t>
                      </m:r>
                      <m:r>
                        <m:rPr>
                          <m:sty m:val="p"/>
                        </m:rPr>
                        <a:rPr lang="en-US" altLang="zh-TW" sz="1200" i="1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zh-TW" altLang="en-US" sz="120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altLang="zh-TW" sz="12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TW" sz="1200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altLang="zh-TW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bSup>
                    </m:oMath>
                  </m:oMathPara>
                </a14:m>
                <a:endParaRPr lang="en-US" altLang="zh-TW" sz="1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386D0D5A-DA13-A5A6-06EE-A46A98544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626" y="3541001"/>
                <a:ext cx="1424684" cy="205184"/>
              </a:xfrm>
              <a:prstGeom prst="rect">
                <a:avLst/>
              </a:prstGeom>
              <a:blipFill>
                <a:blip r:embed="rId3"/>
                <a:stretch>
                  <a:fillRect l="-2137" r="-855" b="-88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A751F603-2346-63F5-A27A-17DDC9B30D6B}"/>
                  </a:ext>
                </a:extLst>
              </p:cNvPr>
              <p:cNvSpPr txBox="1"/>
              <p:nvPr/>
            </p:nvSpPr>
            <p:spPr>
              <a:xfrm>
                <a:off x="3571626" y="3799880"/>
                <a:ext cx="1642757" cy="2051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ts val="1600"/>
                  </a:lnSpc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zh-TW" sz="1200" i="1">
                          <a:latin typeface="Cambria Math" panose="02040503050406030204" pitchFamily="18" charset="0"/>
                        </a:rPr>
                        <m:t>SSM</m:t>
                      </m:r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: </m:t>
                      </m:r>
                      <m:sSub>
                        <m:sSubPr>
                          <m:ctrlP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altLang="zh-TW" sz="12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zh-TW" alt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2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sz="1200" b="0" i="1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i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TW" sz="1200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i="1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sSub>
                        <m:sSub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200" i="1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200" i="1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A751F603-2346-63F5-A27A-17DDC9B30D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626" y="3799880"/>
                <a:ext cx="1642757" cy="205184"/>
              </a:xfrm>
              <a:prstGeom prst="rect">
                <a:avLst/>
              </a:prstGeom>
              <a:blipFill>
                <a:blip r:embed="rId4"/>
                <a:stretch>
                  <a:fillRect l="-1859" r="-372" b="-58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5577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alpha val="70000"/>
          </a:schemeClr>
        </a:solidFill>
        <a:ln w="12700">
          <a:solidFill>
            <a:schemeClr val="bg1">
              <a:lumMod val="75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簡報1" id="{3349570C-DE3B-48BB-8671-1853FC12C45D}" vid="{424F00FA-23EC-402E-8D8B-A6A8EB048657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TM02900688[[fn=多面向]]</Template>
  <TotalTime>1818</TotalTime>
  <Words>2386</Words>
  <Application>Microsoft Office PowerPoint</Application>
  <PresentationFormat>如螢幕大小 (4:3)</PresentationFormat>
  <Paragraphs>779</Paragraphs>
  <Slides>13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11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25" baseType="lpstr">
      <vt:lpstr>Google Sans</vt:lpstr>
      <vt:lpstr>HGGothicE</vt:lpstr>
      <vt:lpstr>Noto Sans HK</vt:lpstr>
      <vt:lpstr>微軟正黑體</vt:lpstr>
      <vt:lpstr>新細明體</vt:lpstr>
      <vt:lpstr>ADLaM Display</vt:lpstr>
      <vt:lpstr>Arial</vt:lpstr>
      <vt:lpstr>Calibri</vt:lpstr>
      <vt:lpstr>Cambria Math</vt:lpstr>
      <vt:lpstr>Symbol</vt:lpstr>
      <vt:lpstr>Wingdings</vt:lpstr>
      <vt:lpstr>Default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Report</dc:title>
  <dc:creator>Felix Tien(田慶豐)</dc:creator>
  <cp:lastModifiedBy>Allen Ni(倪士凱)</cp:lastModifiedBy>
  <cp:revision>2053</cp:revision>
  <cp:lastPrinted>2024-07-30T01:44:15Z</cp:lastPrinted>
  <dcterms:created xsi:type="dcterms:W3CDTF">2019-11-08T03:01:47Z</dcterms:created>
  <dcterms:modified xsi:type="dcterms:W3CDTF">2026-10-22T09:23:57Z</dcterms:modified>
</cp:coreProperties>
</file>