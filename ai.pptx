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10"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9" r:id="rId19"/>
    <p:sldId id="3507"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0"/>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9"/>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8D462"/>
    <a:srgbClr val="FEF1E9"/>
    <a:srgbClr val="FFCCCC"/>
    <a:srgbClr val="FF0000"/>
    <a:srgbClr val="B7C9E7"/>
    <a:srgbClr val="9E7800"/>
    <a:srgbClr val="DAA600"/>
    <a:srgbClr val="FDE7DA"/>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0" autoAdjust="0"/>
    <p:restoredTop sz="21587" autoAdjust="0"/>
  </p:normalViewPr>
  <p:slideViewPr>
    <p:cSldViewPr>
      <p:cViewPr>
        <p:scale>
          <a:sx n="100" d="100"/>
          <a:sy n="100" d="100"/>
        </p:scale>
        <p:origin x="1584"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2026/7/15</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2026/7/15</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8.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2026/7/15</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61.png"/><Relationship Id="rId5" Type="http://schemas.openxmlformats.org/officeDocument/2006/relationships/image" Target="../media/image150.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27.png"/><Relationship Id="rId5" Type="http://schemas.openxmlformats.org/officeDocument/2006/relationships/image" Target="../media/image26.sv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14435"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FFNN</a:t>
            </a:r>
          </a:p>
          <a:p>
            <a:pPr marL="111125" lvl="2">
              <a:lnSpc>
                <a:spcPts val="1000"/>
              </a:lnSpc>
              <a:buFont typeface="Arial" panose="020B0604020202020204" pitchFamily="34" charset="0"/>
              <a:buChar char="•"/>
            </a:pPr>
            <a:r>
              <a:rPr lang="en-US" altLang="zh-TW" sz="1000" dirty="0"/>
              <a:t> Token Embedding</a:t>
            </a:r>
          </a:p>
          <a:p>
            <a:pPr marL="111125" lvl="2">
              <a:lnSpc>
                <a:spcPts val="1000"/>
              </a:lnSpc>
              <a:buFont typeface="Arial" panose="020B0604020202020204" pitchFamily="34" charset="0"/>
              <a:buChar char="•"/>
            </a:pPr>
            <a:r>
              <a:rPr lang="en-US" altLang="zh-TW" sz="1000" dirty="0"/>
              <a:t> Rotary of PE</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LLM</a:t>
            </a:r>
          </a:p>
          <a:p>
            <a:pPr marL="111125" lvl="2">
              <a:lnSpc>
                <a:spcPts val="10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000"/>
              </a:lnSpc>
              <a:buFont typeface="Wingdings" panose="05000000000000000000" pitchFamily="2" charset="2"/>
              <a:buChar char="Ø"/>
            </a:pPr>
            <a:r>
              <a:rPr lang="en-US" altLang="zh-TW" sz="1000" b="1" dirty="0"/>
              <a:t> Gemma 3</a:t>
            </a:r>
          </a:p>
          <a:p>
            <a:pPr marL="111125" lvl="2">
              <a:lnSpc>
                <a:spcPts val="1000"/>
              </a:lnSpc>
              <a:buFont typeface="Arial" panose="020B0604020202020204" pitchFamily="34" charset="0"/>
              <a:buChar char="•"/>
              <a:defRPr/>
            </a:pPr>
            <a:r>
              <a:rPr lang="en-US" altLang="zh-TW" sz="1000" dirty="0">
                <a:solidFill>
                  <a:prstClr val="black"/>
                </a:solidFill>
              </a:rPr>
              <a:t> Supervised FT</a:t>
            </a:r>
          </a:p>
          <a:p>
            <a:pPr marL="111125" lvl="2">
              <a:lnSpc>
                <a:spcPts val="10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000"/>
              </a:lnSpc>
              <a:buFont typeface="Wingdings" panose="05000000000000000000" pitchFamily="2" charset="2"/>
              <a:buChar char="Ø"/>
            </a:pPr>
            <a:r>
              <a:rPr lang="en-US" altLang="zh-TW" sz="1000" b="1" dirty="0"/>
              <a:t> Gemma 4</a:t>
            </a:r>
          </a:p>
          <a:p>
            <a:pPr marL="111125" lvl="2">
              <a:lnSpc>
                <a:spcPts val="1000"/>
              </a:lnSpc>
              <a:buFont typeface="Arial" panose="020B0604020202020204" pitchFamily="34" charset="0"/>
              <a:buChar char="•"/>
              <a:defRPr/>
            </a:pPr>
            <a:r>
              <a:rPr lang="en-US" altLang="zh-TW" sz="1000" dirty="0"/>
              <a:t> PLE </a:t>
            </a:r>
          </a:p>
          <a:p>
            <a:pPr marL="111125" lvl="2">
              <a:lnSpc>
                <a:spcPts val="1000"/>
              </a:lnSpc>
              <a:buFont typeface="Arial" panose="020B0604020202020204" pitchFamily="34" charset="0"/>
              <a:buChar char="•"/>
              <a:defRPr/>
            </a:pPr>
            <a:r>
              <a:rPr lang="en-US" altLang="zh-TW" sz="1000" dirty="0">
                <a:solidFill>
                  <a:prstClr val="black"/>
                </a:solidFill>
              </a:rPr>
              <a:t> Comparison</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Frameworks </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childTnLst>
                          </p:cTn>
                        </p:par>
                      </p:childTnLst>
                    </p:cTn>
                  </p:par>
                  <p:par>
                    <p:cTn id="77" fill="hold">
                      <p:stCondLst>
                        <p:cond delay="indefinite"/>
                      </p:stCondLst>
                      <p:childTnLst>
                        <p:par>
                          <p:cTn id="78" fill="hold">
                            <p:stCondLst>
                              <p:cond delay="0"/>
                            </p:stCondLst>
                            <p:childTnLst>
                              <p:par>
                                <p:cTn id="79" presetID="1" presetClass="exit" presetSubtype="0" fill="hold" grpId="2" nodeType="clickEffect">
                                  <p:stCondLst>
                                    <p:cond delay="0"/>
                                  </p:stCondLst>
                                  <p:childTnLst>
                                    <p:set>
                                      <p:cBhvr>
                                        <p:cTn id="80" dur="1" fill="hold">
                                          <p:stCondLst>
                                            <p:cond delay="0"/>
                                          </p:stCondLst>
                                        </p:cTn>
                                        <p:tgtEl>
                                          <p:spTgt spid="2">
                                            <p:bg/>
                                          </p:spTgt>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3" presetClass="emph" presetSubtype="2" fill="hold" grpId="0" nodeType="clickEffect">
                                  <p:stCondLst>
                                    <p:cond delay="0"/>
                                  </p:stCondLst>
                                  <p:childTnLst>
                                    <p:animClr clrSpc="rgb" dir="cw">
                                      <p:cBhvr override="childStyle">
                                        <p:cTn id="84"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3"/>
                                            </p:cond>
                                          </p:stCondLst>
                                          <p:endCondLst>
                                            <p:cond evt="onStopAudio" delay="0">
                                              <p:tgtEl>
                                                <p:sldTgt/>
                                              </p:tgtEl>
                                            </p:cond>
                                          </p:endCondLst>
                                        </p:cTn>
                                        <p:tgtEl>
                                          <p:sndTgt r:embed="rId3" name="type.wav"/>
                                        </p:tgtEl>
                                      </p:cMediaNode>
                                    </p:audio>
                                  </p:sub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par>
                                <p:cTn id="89" presetID="3" presetClass="emph" presetSubtype="2" fill="hold" grpId="0" nodeType="withEffect">
                                  <p:stCondLst>
                                    <p:cond delay="0"/>
                                  </p:stCondLst>
                                  <p:childTnLst>
                                    <p:animClr clrSpc="rgb" dir="cw">
                                      <p:cBhvr override="childStyle">
                                        <p:cTn id="90"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7" end="7"/>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9" end="9"/>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10" end="10"/>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1" end="11"/>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2" end="12"/>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120676"/>
            <a:ext cx="7452828" cy="4247317"/>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a:t>
            </a:r>
            <a:r>
              <a:rPr lang="en-US" altLang="zh-TW" dirty="0" err="1">
                <a:solidFill>
                  <a:prstClr val="black"/>
                </a:solidFill>
                <a:latin typeface="Noto Sans HK" panose="020B0200000000000000" pitchFamily="34" charset="-120"/>
                <a:ea typeface="Noto Sans HK" panose="020B0200000000000000" pitchFamily="34" charset="-120"/>
              </a:rPr>
              <a:t>DoRA</a:t>
            </a:r>
            <a:r>
              <a:rPr lang="en-US" altLang="zh-TW" dirty="0">
                <a:solidFill>
                  <a:prstClr val="black"/>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kumimoji="0" lang="en-US" altLang="zh-TW" sz="1200" b="0" i="0" u="none" strike="noStrike" kern="1200" cap="none" spc="0" normalizeH="0" baseline="0" noProof="0" dirty="0" err="1">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250291593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1" nodeType="withEffect">
                                  <p:stCondLst>
                                    <p:cond delay="0"/>
                                  </p:stCondLst>
                                  <p:childTnLst>
                                    <p:animClr clrSpc="rgb" dir="cw">
                                      <p:cBhvr override="childStyle">
                                        <p:cTn id="34" dur="2000" fill="hold"/>
                                        <p:tgtEl>
                                          <p:spTgt spid="2">
                                            <p:txEl>
                                              <p:pRg st="2" end="2"/>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2">
                                            <p:txEl>
                                              <p:pRg st="3" end="3"/>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2">
                                            <p:txEl>
                                              <p:pRg st="4" end="4"/>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5" end="5"/>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6" end="6"/>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7" end="7"/>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8" end="8"/>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9" end="9"/>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10" end="10"/>
                                            </p:txEl>
                                          </p:spTgt>
                                        </p:tgtEl>
                                        <p:attrNameLst>
                                          <p:attrName>style.color</p:attrName>
                                        </p:attrNameLst>
                                      </p:cBhvr>
                                      <p:to>
                                        <a:srgbClr val="D8A09C"/>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2">
                                            <p:txEl>
                                              <p:pRg st="11" end="11"/>
                                            </p:txEl>
                                          </p:spTgt>
                                        </p:tgtEl>
                                        <p:attrNameLst>
                                          <p:attrName>style.color</p:attrName>
                                        </p:attrNameLst>
                                      </p:cBhvr>
                                      <p:to>
                                        <a:srgbClr val="D8A09C"/>
                                      </p:to>
                                    </p:animClr>
                                  </p:childTnLst>
                                </p:cTn>
                              </p:par>
                            </p:childTnLst>
                          </p:cTn>
                        </p:par>
                      </p:childTnLst>
                    </p:cTn>
                  </p:par>
                  <p:par>
                    <p:cTn id="61" fill="hold">
                      <p:stCondLst>
                        <p:cond delay="indefinite"/>
                      </p:stCondLst>
                      <p:childTnLst>
                        <p:par>
                          <p:cTn id="62" fill="hold">
                            <p:stCondLst>
                              <p:cond delay="0"/>
                            </p:stCondLst>
                            <p:childTnLst>
                              <p:par>
                                <p:cTn id="63" presetID="3" presetClass="emph" presetSubtype="2" fill="hold" grpId="0" nodeType="clickEffect">
                                  <p:stCondLst>
                                    <p:cond delay="0"/>
                                  </p:stCondLst>
                                  <p:childTnLst>
                                    <p:animClr clrSpc="rgb" dir="cw">
                                      <p:cBhvr override="childStyle">
                                        <p:cTn id="6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3"/>
                                            </p:cond>
                                          </p:stCondLst>
                                          <p:endCondLst>
                                            <p:cond evt="onStopAudio" delay="0">
                                              <p:tgtEl>
                                                <p:sldTgt/>
                                              </p:tgtEl>
                                            </p:cond>
                                          </p:endCondLst>
                                        </p:cTn>
                                        <p:tgtEl>
                                          <p:sndTgt r:embed="rId3" name="type.wav"/>
                                        </p:tgtEl>
                                      </p:cMediaNode>
                                    </p:audio>
                                  </p:subTnLst>
                                </p:cTn>
                              </p:par>
                              <p:par>
                                <p:cTn id="65" presetID="3" presetClass="emph" presetSubtype="2" fill="hold" grpId="1" nodeType="withEffect">
                                  <p:stCondLst>
                                    <p:cond delay="0"/>
                                  </p:stCondLst>
                                  <p:childTnLst>
                                    <p:animClr clrSpc="rgb" dir="cw">
                                      <p:cBhvr override="childStyle">
                                        <p:cTn id="66" dur="2000" fill="hold"/>
                                        <p:tgtEl>
                                          <p:spTgt spid="2">
                                            <p:txEl>
                                              <p:pRg st="12" end="12"/>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childTnLst>
                          </p:cTn>
                        </p:par>
                      </p:childTnLst>
                    </p:cTn>
                  </p:par>
                  <p:par>
                    <p:cTn id="69" fill="hold">
                      <p:stCondLst>
                        <p:cond delay="indefinite"/>
                      </p:stCondLst>
                      <p:childTnLst>
                        <p:par>
                          <p:cTn id="70" fill="hold">
                            <p:stCondLst>
                              <p:cond delay="0"/>
                            </p:stCondLst>
                            <p:childTnLst>
                              <p:par>
                                <p:cTn id="71" presetID="1" presetClass="exit" presetSubtype="0" fill="hold" grpId="2" nodeType="clickEffect">
                                  <p:stCondLst>
                                    <p:cond delay="0"/>
                                  </p:stCondLst>
                                  <p:childTnLst>
                                    <p:set>
                                      <p:cBhvr>
                                        <p:cTn id="72"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10940579"/>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Graph</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843808"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635896"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451283"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246579"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7272841"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7247072" y="1999616"/>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0"/>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1"/>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2"/>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3"/>
          <a:stretch>
            <a:fillRect/>
          </a:stretch>
        </p:blipFill>
        <p:spPr>
          <a:xfrm>
            <a:off x="6300192" y="772974"/>
            <a:ext cx="817196" cy="596651"/>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361638" y="1636417"/>
            <a:ext cx="3314818" cy="1144511"/>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352169"/>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713911"/>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1885549"/>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520904"/>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507436"/>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1920387"/>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160412"/>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529995"/>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520696"/>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1936091"/>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32494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961612"/>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577662" y="784561"/>
            <a:ext cx="1508519" cy="535795"/>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864816" y="1002417"/>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766006"/>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762745"/>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997615"/>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115265"/>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193336"/>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193336"/>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459296" y="1853187"/>
            <a:ext cx="3082897" cy="832958"/>
            <a:chOff x="5233519" y="1844824"/>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4804"/>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52068"/>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44824"/>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8763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828616"/>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3895100"/>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3889215"/>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161656"/>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161656"/>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256661"/>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08700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034694"/>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266186"/>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18696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190400"/>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243360"/>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17848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861048"/>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073681"/>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095118"/>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095119"/>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095119"/>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285427" y="76795"/>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5778339" y="568537"/>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386242"/>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2959197"/>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28972" y="1678885"/>
            <a:ext cx="288032"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09751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230282"/>
            <a:ext cx="510357" cy="868383"/>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1760240"/>
            <a:ext cx="510357" cy="33842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098665"/>
            <a:ext cx="510357" cy="190783"/>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257232"/>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001682"/>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066448"/>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1531640"/>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1628800"/>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060848"/>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146568"/>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112168"/>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112168"/>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1674520"/>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192288"/>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1674520"/>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192288"/>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001682"/>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1531640"/>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060848"/>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068960"/>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076891"/>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068960"/>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135289"/>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05756" y="84128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Neural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628918"/>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06896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068960"/>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23037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230372"/>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1177698494"/>
              </p:ext>
            </p:extLst>
          </p:nvPr>
        </p:nvGraphicFramePr>
        <p:xfrm>
          <a:off x="539552" y="134076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3537441129"/>
              </p:ext>
            </p:extLst>
          </p:nvPr>
        </p:nvGraphicFramePr>
        <p:xfrm>
          <a:off x="467544"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QWun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x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319985866"/>
              </p:ext>
            </p:extLst>
          </p:nvPr>
        </p:nvGraphicFramePr>
        <p:xfrm>
          <a:off x="3635896"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endParaRPr kumimoji="0" lang="en-US" altLang="zh-TW" sz="1000" b="0" i="0" u="none" strike="noStrike" kern="1200" cap="none" spc="0" normalizeH="0" baseline="0" noProof="0" dirty="0">
                        <a:ln w="0"/>
                        <a:solidFill>
                          <a:srgbClr val="4F81BD"/>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CoreWeave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1427700734"/>
              </p:ext>
            </p:extLst>
          </p:nvPr>
        </p:nvGraphicFramePr>
        <p:xfrm>
          <a:off x="6804248" y="1340768"/>
          <a:ext cx="1944216" cy="2205476"/>
        </p:xfrm>
        <a:graphic>
          <a:graphicData uri="http://schemas.openxmlformats.org/drawingml/2006/table">
            <a:tbl>
              <a:tblPr firstRow="1" bandRow="1">
                <a:tableStyleId>{5C22544A-7EE6-4342-B048-85BDC9FD1C3A}</a:tableStyleId>
              </a:tblPr>
              <a:tblGrid>
                <a:gridCol w="1944216">
                  <a:extLst>
                    <a:ext uri="{9D8B030D-6E8A-4147-A177-3AD203B41FA5}">
                      <a16:colId xmlns:a16="http://schemas.microsoft.com/office/drawing/2014/main" val="4512040"/>
                    </a:ext>
                  </a:extLst>
                </a:gridCol>
              </a:tblGrid>
              <a:tr h="3766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Applications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 – ChatGPT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 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Claude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Apple – Apple Intelligence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xAI</a:t>
                      </a:r>
                      <a:r>
                        <a:rPr lang="en-US" altLang="zh-TW" sz="1200" b="0" cap="none" spc="0" dirty="0">
                          <a:ln w="0"/>
                          <a:solidFill>
                            <a:schemeClr val="tx1"/>
                          </a:solidFill>
                          <a:effectLst/>
                        </a:rPr>
                        <a:t> –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IBM</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3318281310"/>
              </p:ext>
            </p:extLst>
          </p:nvPr>
        </p:nvGraphicFramePr>
        <p:xfrm>
          <a:off x="5580112" y="4824184"/>
          <a:ext cx="3024336" cy="1274939"/>
        </p:xfrm>
        <a:graphic>
          <a:graphicData uri="http://schemas.openxmlformats.org/drawingml/2006/table">
            <a:tbl>
              <a:tblPr firstRow="1" bandRow="1">
                <a:tableStyleId>{5C22544A-7EE6-4342-B048-85BDC9FD1C3A}</a:tableStyleId>
              </a:tblPr>
              <a:tblGrid>
                <a:gridCol w="3024336">
                  <a:extLst>
                    <a:ext uri="{9D8B030D-6E8A-4147-A177-3AD203B41FA5}">
                      <a16:colId xmlns:a16="http://schemas.microsoft.com/office/drawing/2014/main" val="4512040"/>
                    </a:ext>
                  </a:extLst>
                </a:gridCol>
              </a:tblGrid>
              <a:tr h="3605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Future  - NPU, TPU, LPU</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AWS, MS, Meta,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Qualcomm, Apple, AMD, Intel, Broadcom,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Cerebras, Samsung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MTK,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Alchip</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Kneron</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Neuchip</a:t>
                      </a:r>
                      <a:r>
                        <a:rPr kumimoji="0" lang="en-US" altLang="zh-TW" sz="1200" b="0" i="0" u="none" strike="noStrike" kern="1200" cap="none" spc="0" normalizeH="0" baseline="0" noProof="0" dirty="0">
                          <a:ln w="0"/>
                          <a:solidFill>
                            <a:prstClr val="black"/>
                          </a:solidFill>
                          <a:effectLst/>
                          <a:uLnTx/>
                          <a:uFillTx/>
                          <a:latin typeface="+mn-lt"/>
                          <a:ea typeface="+mn-ea"/>
                          <a:cs typeface="+mn-cs"/>
                        </a:rPr>
                        <a:t>, GUC, Faraday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HiSillicon</a:t>
                      </a:r>
                      <a:r>
                        <a:rPr lang="en-US" altLang="zh-TW" sz="1200" b="0" cap="none" spc="0" dirty="0">
                          <a:ln w="0"/>
                          <a:solidFill>
                            <a:schemeClr val="tx1"/>
                          </a:solidFill>
                          <a:effectLst/>
                        </a:rPr>
                        <a:t>, </a:t>
                      </a:r>
                      <a:r>
                        <a:rPr lang="en-US" altLang="zh-TW" sz="1200" b="0" cap="none" spc="0" dirty="0" err="1">
                          <a:ln w="0"/>
                          <a:solidFill>
                            <a:schemeClr val="tx1"/>
                          </a:solidFill>
                          <a:effectLst/>
                        </a:rPr>
                        <a:t>Cambricon</a:t>
                      </a:r>
                      <a:r>
                        <a:rPr lang="en-US" altLang="zh-TW" sz="1200" b="0" cap="none" spc="0" dirty="0">
                          <a:ln w="0"/>
                          <a:solidFill>
                            <a:schemeClr val="tx1"/>
                          </a:solidFill>
                          <a:effectLst/>
                        </a:rPr>
                        <a:t>, Axera, Horizon Robotics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3372232" y="1268760"/>
            <a:ext cx="3024336" cy="1420358"/>
          </a:xfrm>
          <a:prstGeom prst="rect">
            <a:avLst/>
          </a:prstGeom>
          <a:effectLst>
            <a:glow>
              <a:schemeClr val="accent6">
                <a:satMod val="175000"/>
                <a:alpha val="20000"/>
              </a:schemeClr>
            </a:glow>
            <a:softEdge rad="101600"/>
          </a:effectLst>
        </p:spPr>
      </p:pic>
      <p:graphicFrame>
        <p:nvGraphicFramePr>
          <p:cNvPr id="2" name="表格 1">
            <a:extLst>
              <a:ext uri="{FF2B5EF4-FFF2-40B4-BE49-F238E27FC236}">
                <a16:creationId xmlns:a16="http://schemas.microsoft.com/office/drawing/2014/main" id="{7F258956-61D9-A51C-1A9E-2155CAED7E05}"/>
              </a:ext>
            </a:extLst>
          </p:cNvPr>
          <p:cNvGraphicFramePr>
            <a:graphicFrameLocks noGrp="1"/>
          </p:cNvGraphicFramePr>
          <p:nvPr>
            <p:extLst>
              <p:ext uri="{D42A27DB-BD31-4B8C-83A1-F6EECF244321}">
                <p14:modId xmlns:p14="http://schemas.microsoft.com/office/powerpoint/2010/main" val="1620854424"/>
              </p:ext>
            </p:extLst>
          </p:nvPr>
        </p:nvGraphicFramePr>
        <p:xfrm>
          <a:off x="395536" y="4359384"/>
          <a:ext cx="3816424" cy="941824"/>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1752187802"/>
                    </a:ext>
                  </a:extLst>
                </a:gridCol>
                <a:gridCol w="2880320">
                  <a:extLst>
                    <a:ext uri="{9D8B030D-6E8A-4147-A177-3AD203B41FA5}">
                      <a16:colId xmlns:a16="http://schemas.microsoft.com/office/drawing/2014/main" val="1651389164"/>
                    </a:ext>
                  </a:extLst>
                </a:gridCol>
              </a:tblGrid>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Reasoning</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103664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Intention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7828506"/>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PEFT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7116757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Specification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MCP,</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GGUF,</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ONNX</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3886711"/>
                  </a:ext>
                </a:extLst>
              </a:tr>
            </a:tbl>
          </a:graphicData>
        </a:graphic>
      </p:graphicFrame>
      <p:sp>
        <p:nvSpPr>
          <p:cNvPr id="7" name="圖說文字: 直線 6">
            <a:extLst>
              <a:ext uri="{FF2B5EF4-FFF2-40B4-BE49-F238E27FC236}">
                <a16:creationId xmlns:a16="http://schemas.microsoft.com/office/drawing/2014/main" id="{936D2D76-DCFF-575E-7363-34677C3510CB}"/>
              </a:ext>
            </a:extLst>
          </p:cNvPr>
          <p:cNvSpPr/>
          <p:nvPr/>
        </p:nvSpPr>
        <p:spPr>
          <a:xfrm flipH="1">
            <a:off x="5508104" y="4725144"/>
            <a:ext cx="3168352" cy="1492366"/>
          </a:xfrm>
          <a:prstGeom prst="borderCallout1">
            <a:avLst>
              <a:gd name="adj1" fmla="val 11649"/>
              <a:gd name="adj2" fmla="val 96516"/>
              <a:gd name="adj3" fmla="val 11782"/>
              <a:gd name="adj4" fmla="val 118948"/>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1486</TotalTime>
  <Words>6991</Words>
  <Application>Microsoft Office PowerPoint</Application>
  <PresentationFormat>如螢幕大小 (4:3)</PresentationFormat>
  <Paragraphs>1186</Paragraphs>
  <Slides>21</Slides>
  <Notes>19</Notes>
  <HiddenSlides>2</HiddenSlides>
  <MMClips>0</MMClips>
  <ScaleCrop>false</ScaleCrop>
  <HeadingPairs>
    <vt:vector size="6" baseType="variant">
      <vt:variant>
        <vt:lpstr>使用字型</vt:lpstr>
      </vt:variant>
      <vt:variant>
        <vt:i4>15</vt:i4>
      </vt:variant>
      <vt:variant>
        <vt:lpstr>佈景主題</vt:lpstr>
      </vt:variant>
      <vt:variant>
        <vt:i4>1</vt:i4>
      </vt:variant>
      <vt:variant>
        <vt:lpstr>投影片標題</vt:lpstr>
      </vt:variant>
      <vt:variant>
        <vt:i4>21</vt:i4>
      </vt:variant>
    </vt:vector>
  </HeadingPairs>
  <TitlesOfParts>
    <vt:vector size="37"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1748</cp:revision>
  <cp:lastPrinted>2024-07-30T01:44:15Z</cp:lastPrinted>
  <dcterms:created xsi:type="dcterms:W3CDTF">2019-11-08T03:01:47Z</dcterms:created>
  <dcterms:modified xsi:type="dcterms:W3CDTF">2026-07-15T10:33:01Z</dcterms:modified>
</cp:coreProperties>
</file>