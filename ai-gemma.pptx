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95" r:id="rId8"/>
    <p:sldId id="3475" r:id="rId9"/>
    <p:sldId id="3470" r:id="rId10"/>
    <p:sldId id="3471" r:id="rId11"/>
    <p:sldId id="3477" r:id="rId12"/>
    <p:sldId id="3496" r:id="rId13"/>
    <p:sldId id="3465" r:id="rId14"/>
    <p:sldId id="3482" r:id="rId15"/>
    <p:sldId id="3481" r:id="rId16"/>
    <p:sldId id="3489" r:id="rId17"/>
    <p:sldId id="3490" r:id="rId18"/>
    <p:sldId id="3491" r:id="rId19"/>
    <p:sldId id="3461" r:id="rId20"/>
    <p:sldId id="3462" r:id="rId21"/>
    <p:sldId id="3420" r:id="rId22"/>
    <p:sldId id="3460" r:id="rId23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95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77"/>
            <p14:sldId id="3496"/>
          </p14:sldIdLst>
        </p14:section>
        <p14:section name="Gemma 4" id="{5A048767-0D58-44AF-B962-12C29493294F}">
          <p14:sldIdLst>
            <p14:sldId id="3465"/>
            <p14:sldId id="3482"/>
            <p14:sldId id="3481"/>
            <p14:sldId id="3489"/>
          </p14:sldIdLst>
        </p14:section>
        <p14:section name="Hardware Trend" id="{033E25EB-BAB3-441E-BB67-FAB89428CA75}">
          <p14:sldIdLst>
            <p14:sldId id="3490"/>
            <p14:sldId id="3491"/>
            <p14:sldId id="3461"/>
            <p14:sldId id="3462"/>
            <p14:sldId id="3420"/>
          </p14:sldIdLst>
        </p14:section>
        <p14:section name="Conclusion" id="{69C35067-BEF2-4B7C-9B54-B6977EB05C72}">
          <p14:sldIdLst>
            <p14:sldId id="34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541" autoAdjust="0"/>
    <p:restoredTop sz="58824" autoAdjust="0"/>
  </p:normalViewPr>
  <p:slideViewPr>
    <p:cSldViewPr>
      <p:cViewPr varScale="1">
        <p:scale>
          <a:sx n="107" d="100"/>
          <a:sy n="107" d="100"/>
        </p:scale>
        <p:origin x="1248" y="10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05176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8C3B-1545-C898-D171-B905BA85A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FC4B966-8796-43CD-C78C-7291821E4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B02174-D403-E515-0280-CE2895F0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849058-6753-C205-4DDB-1F11095A1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52900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54737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xxx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12024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一、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晶片的硬體成本結構（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BOM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結構）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晶片通常以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SoC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（系統單晶片） 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Chiplet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（小晶片封裝） 的形式存在。一顆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晶片的硬體製造總成本，主要由以下四大核心區塊組成： 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成本組成項目估計佔比核心說明與成本驅動因子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邏輯晶圓（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Logic Die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35% - 45%: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包含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GPU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DSP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以及核心的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（神經處理單元）。成本取決於製程節點（多採用成本良率平衡的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12nm / 16nm / 28nm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晶圓；高階如智慧手機與自駕車則會用到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3nm / 5nm / 7nm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記憶體（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Memory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25% - 35%AI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運算需要極大頻寬。低成本方案採用內建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SRAM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或外掛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LPDDR5/DDR4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；高階高頻寬方案（如高階自駕車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ADAS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、邊緣生成式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AI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）則會導入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HBM2e/HBM3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PIM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（記憶體內運算），此時記憶體成本會大幅飆升。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先進封裝與測試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15% - 25%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晶片測試（包含汽車級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ISO 26262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驗證加價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10%-25%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 以及封裝技術（如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系統級封裝、或是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堆疊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/TSV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矽穿孔技術，這會視封裝複雜度增加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50–100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美元不等的成本）。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授權與權利金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5% - 10%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晶片內部的架構多非全自研。例如向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Arm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架構（如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Cortex-M55/M85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）、外購的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 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控制器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，每顆晶片需要支付一定比例的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Royalty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（權利</a:t>
            </a:r>
            <a:r>
              <a:rPr lang="zh-TW" altLang="en-US" sz="1400" baseline="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金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</a:p>
          <a:p>
            <a:endParaRPr lang="zh-TW" altLang="en-US" sz="14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2373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ibp=oshop&amp;prds=pvt:hg,pvo:29,imageDocid:3587070959964051833,headlineOfferDocid:4681429727312423067,productDocid:4681429727312423067&amp;q=product&amp;sa=X&amp;ved=2ahUKEwjfiPuhqMSUAxWvbvUHHaHBB2IQxa4PegYIAAgQEAI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unclestocknotes.substack.com/p/ai-38c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capacity-question-behind-every-ai-chip-huan-ma-rcmoe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yfuture.cloud/kb/gpu/how-much-does-the-nvidia-h100-gpu-cost-in-2025" TargetMode="External"/><Relationship Id="rId4" Type="http://schemas.openxmlformats.org/officeDocument/2006/relationships/hyperlink" Target="https://www.google.com/search?ibp=oshop&amp;prds=pvt:hg,pvo:29,imageDocid:950387411976338395,gpcid:17533605446176267153,headlineOfferDocid:11979813095487954154,catalogid:2401887616791462714,productDocid:1096713661396697429,rds:PC_17533605446176267153%7CPROD_PC_17533605446176267153&amp;q=product&amp;sa=X&amp;ved=2ahUKEwjfiPuhqMSUAxWvbvUHHaHBB2IQxa4PegYIAAgoEAM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1187623" y="1124744"/>
            <a:ext cx="6552728" cy="40626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(FT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Run-Time&lt;LLM + RAG + MCP&gt;)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(Stack, Model Engie: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Ollama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MLOps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(Future)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Trend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Fine-Tunning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(PEFT,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(Standard Dense Transformer vs Mixture of Experts)</a:t>
            </a:r>
            <a:endParaRPr lang="en-US" altLang="zh-TW" sz="14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9874F25-7ABB-161C-F98E-6F5A79B9D916}"/>
              </a:ext>
            </a:extLst>
          </p:cNvPr>
          <p:cNvSpPr txBox="1"/>
          <p:nvPr/>
        </p:nvSpPr>
        <p:spPr>
          <a:xfrm>
            <a:off x="450220" y="2888708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Self Supervised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Learning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2673DE9-E1DA-1BC0-C354-0BA00FE84EA6}"/>
              </a:ext>
            </a:extLst>
          </p:cNvPr>
          <p:cNvSpPr txBox="1"/>
          <p:nvPr/>
        </p:nvSpPr>
        <p:spPr>
          <a:xfrm>
            <a:off x="189038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Compact and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resource-efficient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 model.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39B58CA-5527-9A2C-83D7-C2DB75063432}"/>
              </a:ext>
            </a:extLst>
          </p:cNvPr>
          <p:cNvSpPr txBox="1"/>
          <p:nvPr/>
        </p:nvSpPr>
        <p:spPr>
          <a:xfrm>
            <a:off x="297050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SFT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E7D5B07-0C81-3829-646F-BE3581FDD6C8}"/>
              </a:ext>
            </a:extLst>
          </p:cNvPr>
          <p:cNvSpPr txBox="1"/>
          <p:nvPr/>
        </p:nvSpPr>
        <p:spPr>
          <a:xfrm>
            <a:off x="405062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RLHF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knowledge.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DPO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8" name="右大括弧 17">
            <a:extLst>
              <a:ext uri="{FF2B5EF4-FFF2-40B4-BE49-F238E27FC236}">
                <a16:creationId xmlns:a16="http://schemas.microsoft.com/office/drawing/2014/main" id="{88A7DCEE-72D3-E97E-75B4-E98392FD0AF8}"/>
              </a:ext>
            </a:extLst>
          </p:cNvPr>
          <p:cNvSpPr/>
          <p:nvPr/>
        </p:nvSpPr>
        <p:spPr>
          <a:xfrm rot="16200000">
            <a:off x="3438731" y="1516010"/>
            <a:ext cx="153045" cy="240152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9073DEBF-201F-5054-4A3D-D53D81C644C4}"/>
              </a:ext>
            </a:extLst>
          </p:cNvPr>
          <p:cNvSpPr txBox="1">
            <a:spLocks/>
          </p:cNvSpPr>
          <p:nvPr/>
        </p:nvSpPr>
        <p:spPr>
          <a:xfrm>
            <a:off x="2711564" y="2164297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Fine Tunning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28" name="右大括弧 27">
            <a:extLst>
              <a:ext uri="{FF2B5EF4-FFF2-40B4-BE49-F238E27FC236}">
                <a16:creationId xmlns:a16="http://schemas.microsoft.com/office/drawing/2014/main" id="{A0803DCC-BE11-9775-D2EC-55EDCF477CAA}"/>
              </a:ext>
            </a:extLst>
          </p:cNvPr>
          <p:cNvSpPr/>
          <p:nvPr/>
        </p:nvSpPr>
        <p:spPr>
          <a:xfrm rot="16200000">
            <a:off x="6688390" y="1813344"/>
            <a:ext cx="153043" cy="180686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標題 1">
            <a:extLst>
              <a:ext uri="{FF2B5EF4-FFF2-40B4-BE49-F238E27FC236}">
                <a16:creationId xmlns:a16="http://schemas.microsoft.com/office/drawing/2014/main" id="{4020646C-B721-C297-5226-9CE964FEC92D}"/>
              </a:ext>
            </a:extLst>
          </p:cNvPr>
          <p:cNvSpPr txBox="1">
            <a:spLocks/>
          </p:cNvSpPr>
          <p:nvPr/>
        </p:nvSpPr>
        <p:spPr>
          <a:xfrm>
            <a:off x="6228036" y="2207037"/>
            <a:ext cx="953575" cy="38718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ACCCCD-B493-7A49-8A6E-E6C3BDEC9493}"/>
              </a:ext>
            </a:extLst>
          </p:cNvPr>
          <p:cNvSpPr txBox="1"/>
          <p:nvPr/>
        </p:nvSpPr>
        <p:spPr>
          <a:xfrm>
            <a:off x="5274757" y="2894387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92E34F1-083D-891A-1461-CDE50DD701A2}"/>
              </a:ext>
            </a:extLst>
          </p:cNvPr>
          <p:cNvSpPr txBox="1"/>
          <p:nvPr/>
        </p:nvSpPr>
        <p:spPr>
          <a:xfrm>
            <a:off x="6418126" y="2894387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29225F6-6EA6-52CD-D02A-BDA0A1CE5733}"/>
              </a:ext>
            </a:extLst>
          </p:cNvPr>
          <p:cNvSpPr txBox="1"/>
          <p:nvPr/>
        </p:nvSpPr>
        <p:spPr>
          <a:xfrm>
            <a:off x="7524328" y="2894387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B4914E9-8593-EAB8-1F27-A2A748C0FCE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156176" y="3272545"/>
            <a:ext cx="261950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9014D0C-00DA-7A1C-70C6-DE13B46D2353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7299545" y="3272545"/>
            <a:ext cx="22478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927CD03-F351-526B-29F0-570A907DC495}"/>
              </a:ext>
            </a:extLst>
          </p:cNvPr>
          <p:cNvGraphicFramePr>
            <a:graphicFrameLocks noGrp="1"/>
          </p:cNvGraphicFramePr>
          <p:nvPr/>
        </p:nvGraphicFramePr>
        <p:xfrm>
          <a:off x="6418126" y="3791331"/>
          <a:ext cx="1106202" cy="10634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/>
        </p:nvGraphicFramePr>
        <p:xfrm>
          <a:off x="5038980" y="1152962"/>
          <a:ext cx="1621252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125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Reasoning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FFN: 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HuggingFace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BB783C0A-0EA4-68C4-8BBB-B62183E29FB3}"/>
              </a:ext>
            </a:extLst>
          </p:cNvPr>
          <p:cNvSpPr txBox="1"/>
          <p:nvPr/>
        </p:nvSpPr>
        <p:spPr>
          <a:xfrm>
            <a:off x="5274756" y="3851897"/>
            <a:ext cx="881419" cy="75631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AI Agent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(Inference)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3EC1ECB0-9DF6-8F71-8D98-4F1CB861B340}"/>
              </a:ext>
            </a:extLst>
          </p:cNvPr>
          <p:cNvGraphicFramePr>
            <a:graphicFrameLocks noGrp="1"/>
          </p:cNvGraphicFramePr>
          <p:nvPr/>
        </p:nvGraphicFramePr>
        <p:xfrm>
          <a:off x="5220071" y="4998822"/>
          <a:ext cx="1440161" cy="13825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6E63704-EFDF-5CEB-7F1B-CB86BCA49879}"/>
              </a:ext>
            </a:extLst>
          </p:cNvPr>
          <p:cNvGraphicFramePr>
            <a:graphicFrameLocks noGrp="1"/>
          </p:cNvGraphicFramePr>
          <p:nvPr/>
        </p:nvGraphicFramePr>
        <p:xfrm>
          <a:off x="450220" y="1529735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15D59D6-D5D3-E101-CC48-7BCD24B8F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205854"/>
              </p:ext>
            </p:extLst>
          </p:nvPr>
        </p:nvGraphicFramePr>
        <p:xfrm>
          <a:off x="2626357" y="5104238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51BCB3F6-7956-9792-AB5F-CC4178F78330}"/>
              </a:ext>
            </a:extLst>
          </p:cNvPr>
          <p:cNvSpPr/>
          <p:nvPr/>
        </p:nvSpPr>
        <p:spPr>
          <a:xfrm>
            <a:off x="7668344" y="5232581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C022304-F895-C175-6C6F-948204F646EB}"/>
              </a:ext>
            </a:extLst>
          </p:cNvPr>
          <p:cNvSpPr txBox="1"/>
          <p:nvPr/>
        </p:nvSpPr>
        <p:spPr>
          <a:xfrm>
            <a:off x="895830" y="423454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8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Local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VDB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365181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4597470" y="2996952"/>
            <a:ext cx="1728192" cy="922876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429000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178329"/>
              </p:ext>
            </p:extLst>
          </p:nvPr>
        </p:nvGraphicFramePr>
        <p:xfrm>
          <a:off x="251520" y="4797152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070440"/>
              </p:ext>
            </p:extLst>
          </p:nvPr>
        </p:nvGraphicFramePr>
        <p:xfrm>
          <a:off x="356988" y="1054136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02" y="328498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3310479" y="332486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3182415" y="423766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4171" y="145611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83658"/>
              </p:ext>
            </p:extLst>
          </p:nvPr>
        </p:nvGraphicFramePr>
        <p:xfrm>
          <a:off x="351199" y="2708920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206889" y="2024726"/>
            <a:ext cx="45719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206889" y="3032956"/>
            <a:ext cx="45719" cy="2246421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42840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676026" y="2692506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828354"/>
              </p:ext>
            </p:extLst>
          </p:nvPr>
        </p:nvGraphicFramePr>
        <p:xfrm>
          <a:off x="6350217" y="348509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543300"/>
              </p:ext>
            </p:extLst>
          </p:nvPr>
        </p:nvGraphicFramePr>
        <p:xfrm>
          <a:off x="6228184" y="26788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3765916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5783486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1835696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C0F3DE-B1B4-8C50-8B97-912A51BD1BE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Major Language Model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E8F0321-BB20-5A24-32C5-E1393817D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548174"/>
              </p:ext>
            </p:extLst>
          </p:nvPr>
        </p:nvGraphicFramePr>
        <p:xfrm>
          <a:off x="358814" y="430767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B063E60F-441C-61BB-27AB-426AD238E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298908"/>
              </p:ext>
            </p:extLst>
          </p:nvPr>
        </p:nvGraphicFramePr>
        <p:xfrm>
          <a:off x="358814" y="196753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Weight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3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8k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6" name="橢圓 5">
            <a:extLst>
              <a:ext uri="{FF2B5EF4-FFF2-40B4-BE49-F238E27FC236}">
                <a16:creationId xmlns:a16="http://schemas.microsoft.com/office/drawing/2014/main" id="{8DCCBD18-7E95-64E0-3204-2B78F017F889}"/>
              </a:ext>
            </a:extLst>
          </p:cNvPr>
          <p:cNvSpPr/>
          <p:nvPr/>
        </p:nvSpPr>
        <p:spPr>
          <a:xfrm>
            <a:off x="6615723" y="279091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Open Weight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LM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432DA9AE-4DCE-1D0B-A5CB-F79D15A41C1A}"/>
              </a:ext>
            </a:extLst>
          </p:cNvPr>
          <p:cNvSpPr/>
          <p:nvPr/>
        </p:nvSpPr>
        <p:spPr>
          <a:xfrm>
            <a:off x="4949403" y="-33520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Enterprise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8D12BED-4A36-4654-883D-0A29302ADDD7}"/>
              </a:ext>
            </a:extLst>
          </p:cNvPr>
          <p:cNvSpPr/>
          <p:nvPr/>
        </p:nvSpPr>
        <p:spPr>
          <a:xfrm>
            <a:off x="3766163" y="503955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Cloud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Service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1936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E473-6DBC-0D95-99F6-04C1BA5F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F6D11C78-59E3-E29B-C2FB-1572B199291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ONNX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Open Neural Network Exchange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C50474-2758-4C00-ACF9-D8281BE1153D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7585AD-F732-1C89-A102-239541D9086A}"/>
              </a:ext>
            </a:extLst>
          </p:cNvPr>
          <p:cNvGraphicFramePr>
            <a:graphicFrameLocks noGrp="1"/>
          </p:cNvGraphicFramePr>
          <p:nvPr/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05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BFFF3F94-99FF-E886-80E6-CCDB0AE53A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6766"/>
            <a:ext cx="9144000" cy="464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667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DCF87D-D8A6-48A4-23C9-ED219CAE6D6A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Cloud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38D2052-20CE-5307-D375-69FD3BA4E10D}"/>
              </a:ext>
            </a:extLst>
          </p:cNvPr>
          <p:cNvSpPr txBox="1"/>
          <p:nvPr/>
        </p:nvSpPr>
        <p:spPr>
          <a:xfrm>
            <a:off x="179512" y="1700808"/>
            <a:ext cx="460057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🧱 一、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結構）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以最普及的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NVIDIA H100 (SXM5)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晶片為基準，其硬體材料與封裝的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總生產成本約為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3,320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。然而，因為市場極度供不應求與技術壟斷，其終端售價高達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28,000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35,000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，這意味著晶片擁有高達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85% - 88%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的超高毛利率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E885B6-DCC5-34B7-750B-0CDBA361DF3B}"/>
              </a:ext>
            </a:extLst>
          </p:cNvPr>
          <p:cNvSpPr txBox="1"/>
          <p:nvPr/>
        </p:nvSpPr>
        <p:spPr>
          <a:xfrm>
            <a:off x="160884" y="2982021"/>
            <a:ext cx="46005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晶片製造成本拆解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$3,320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美元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邏輯晶粒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(Logic Die: TSMC 4N)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$300 ( 9%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高頻寬記憶體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(HBM3, 80GB)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$1,350 ( 41%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(TSMC CoWoS-S)   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$750 ( 22%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└─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測試、載板與其餘組裝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(Test/Assy)──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$920 ( 28% )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7B76D4F8-3568-DF11-A00E-AE4776003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12" y="4089433"/>
            <a:ext cx="6120680" cy="2200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高頻寬記憶體（HBM）成為第一大成本怪獸 (佔比約 40% - 50%)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雲端大模型（LLM）的運算瓶頸在於記憶體傳輸速度（稱為「記憶體牆」）。因此雲端晶片必須外掛 6 到 8 顆極其昂貴的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HBM3 或 HBM3E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光是這些記憶體組件，在晶片 BOM 表中就佔據了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1,000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（下一代 B300 晶片搭載 288GB HBM3E 成本將更驚人）。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台積電先進封裝（CoWoS）是核心門檻 (佔比約 20% - 25%)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要把龐大的邏輯主晶片（Logic Die）跟數顆 HBM 像蓋大樓一樣緊密接合，傳統封裝無法做到，必須使用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台積電的 CoWoS 先進封裝技術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這層「中介層（Interposer）」與先進封裝的成本每顆就高達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500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最核心的邏輯主晶片，成本占比反而最低 (佔比約 10%)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負責算力的核心 Logic Die，雖然採用了台積電最頂尖的 4nm 或 3nm 等極紫外光（EUV）製程，但如果單純計算從 12 吋矽晶圓上切下來的「裸晶（Die）」成本，在良率穩定的情況下，單顆成本其實僅約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250 ~ 350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 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22DAA9F-422D-5F46-A460-4C5974302240}"/>
              </a:ext>
            </a:extLst>
          </p:cNvPr>
          <p:cNvSpPr txBox="1"/>
          <p:nvPr/>
        </p:nvSpPr>
        <p:spPr>
          <a:xfrm>
            <a:off x="160884" y="451578"/>
            <a:ext cx="460057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雲端人工智慧晶片（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Cloud AI Chip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，如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/ B200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AMD MI300X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TPU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）的設計核心是「不惜一切代價追求極致算力與記憶體頻寬」。與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晶片斤斤計較於幾美元的低成本不同，雲端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晶片屬於動輒數千甚至數萬美元的晶片巨獸。根據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Silicon Analysts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最新產業研究與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Epoch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的數據，雲端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BOM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）與整體結構分析如下：</a:t>
            </a:r>
          </a:p>
        </p:txBody>
      </p:sp>
    </p:spTree>
    <p:extLst>
      <p:ext uri="{BB962C8B-B14F-4D97-AF65-F5344CB8AC3E}">
        <p14:creationId xmlns:p14="http://schemas.microsoft.com/office/powerpoint/2010/main" val="611033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F9BCE9E-B799-4EF7-10FE-13770935932E}"/>
              </a:ext>
            </a:extLst>
          </p:cNvPr>
          <p:cNvSpPr txBox="1"/>
          <p:nvPr/>
        </p:nvSpPr>
        <p:spPr>
          <a:xfrm>
            <a:off x="107504" y="980728"/>
            <a:ext cx="8928992" cy="3085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📐 二、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晶片的三大結構性變化趨勢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進入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2025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2026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年，隨著晶片算力需求邁入「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」與「次世代架構」時代，雲端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晶片的結構正在發生激烈的物理與成本質變：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從「單一晶片（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Monolithic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）」走向「小晶片（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/ Multi-Die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由於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晶片的面積已經大到逼近曝光機的物理極限（光罩極限，約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858 mm²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），單一塊晶片再做大就會良率暴跌。現在的雲端晶片（如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MI300X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NVIDIA 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）都改用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：把兩塊或多塊較小的邏輯晶片拼在一起，這雖然增加了先進封裝的成本與複雜度，但極大提升了製造良率。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封裝技術從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演進至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過去使用全矽中介層（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）的尺寸受到限制。為了塞入更多的邏輯晶片與更多堆疊的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HBM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，現在產業大量轉向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採用局部矽橋接的有機中介層技術（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，這能允許晶片封裝面積擴大數倍，支持更龐大的超級晶片架構。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系統級晶片（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System-on-Wafer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）與光子學（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Silicon Photonics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）興起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為了徹底打破傳統銅線傳輸的延遲與功耗，高階雲端晶片開始導入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矽光子技術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，利用光訊號代替電訊號進行晶片間的高速傳輸；更有甚者（如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Cerebras WSE-3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）直接將整塊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12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吋晶圓做成單一顆超巨大晶片。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8599599-67B4-B35F-D446-D9CC83D395EF}"/>
              </a:ext>
            </a:extLst>
          </p:cNvPr>
          <p:cNvSpPr txBox="1"/>
          <p:nvPr/>
        </p:nvSpPr>
        <p:spPr>
          <a:xfrm>
            <a:off x="112862" y="4085238"/>
            <a:ext cx="8923634" cy="2346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💰 三、 超越晶片本身的「隱形研發與系統成本」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買了雲端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晶片並不代表能直接運作，對於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設計公司與資料中心（如微軟、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Google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Meta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）而言，還存在著巨大的結構性成本：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5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天文數字的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NRE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（研發與光罩費用）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開發一款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3nm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級別的雲端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晶片，前期的晶片架構設計、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EDA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軟體授權、光罩（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Mask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）製作，一次投片失敗就是數億美元蒸發。這需要晶片公司有極強的資本支撐，也是為什麼目前全球只有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以及少數幾家大型雲端巨頭（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CSPs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）有能力自行研發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ASIC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軟體生態系牆（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護城河）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雲端晶片極度依賴龐大的分散式運算軟體。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每年在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軟體平台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上投入的研發工程師與資金不計其數。許多競爭對手的硬體成本雖然較低，但因為軟體編譯器（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Compiler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）無法完美將數千顆晶片串聯進行大型語言模型（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LLM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）的訓練，導致客戶轉向的軟體遷移成本高得難以想像。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737F542-CEC6-E44C-CC42-DEB0C8B20EC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Cloud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0996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EB37-4D02-FA99-CAFE-1AD2F6B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461DE1F0-FD17-DB02-14FB-430F87768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2876" y="2117974"/>
            <a:ext cx="698477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一、 Edge AI 晶片的硬體成本結構（BOM 結構）</a:t>
            </a:r>
            <a:endParaRPr kumimoji="0" lang="zh-TW" altLang="zh-TW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晶片通常以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SoC（系統單晶片）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Chiplet（小晶片封裝）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的形式存在。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一顆 Edge AI 晶片的硬體製造總成本，主要由以下四大核心區塊組成： 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邏輯晶圓（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Logic Die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35% - 45%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記憶體（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Memory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25% - 35%AI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先進封裝與測試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15% - 25%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晶片測試。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IP 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授權與權利金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5% - 10%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晶片內部的架構多非全自研。</a:t>
            </a:r>
          </a:p>
        </p:txBody>
      </p:sp>
      <p:sp>
        <p:nvSpPr>
          <p:cNvPr id="33" name="標題 1">
            <a:extLst>
              <a:ext uri="{FF2B5EF4-FFF2-40B4-BE49-F238E27FC236}">
                <a16:creationId xmlns:a16="http://schemas.microsoft.com/office/drawing/2014/main" id="{CDC6BDD2-E286-4042-F93D-BFB1951021E2}"/>
              </a:ext>
            </a:extLst>
          </p:cNvPr>
          <p:cNvSpPr txBox="1">
            <a:spLocks/>
          </p:cNvSpPr>
          <p:nvPr/>
        </p:nvSpPr>
        <p:spPr>
          <a:xfrm>
            <a:off x="0" y="123565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Edge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A04C72F-8C65-07AE-FB45-4C8BEDA435F7}"/>
              </a:ext>
            </a:extLst>
          </p:cNvPr>
          <p:cNvSpPr txBox="1"/>
          <p:nvPr/>
        </p:nvSpPr>
        <p:spPr>
          <a:xfrm>
            <a:off x="251518" y="1610287"/>
            <a:ext cx="87849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邊緣人工智慧晶片（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Chip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）與雲端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晶片（如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NVIDIA H100 / B200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）在設計哲學上完全不同。雲端追求「極致算力」，而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晶片必須在極低功耗（通常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sub-5W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）、極低延遲以及極其敏感的「低成本」之間取得平衡。</a:t>
            </a:r>
            <a:endParaRPr lang="en-US" altLang="zh-TW" sz="1200" dirty="0">
              <a:latin typeface="Google Sans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目前在市場上，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晶片的硬體成本結構（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結構）與整體開發成本分析如下：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CD4472E-5DCB-1867-755F-D048A2459463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DF56CFFE-8238-C779-C72D-48D71CB6ED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Edeg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3B04CC4-B8FA-5538-0EE6-515422051B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35660"/>
              </p:ext>
            </p:extLst>
          </p:nvPr>
        </p:nvGraphicFramePr>
        <p:xfrm>
          <a:off x="351199" y="340769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552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D9D150-F62E-C82E-E18D-96661F0595EC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798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Knowledge grounding is useful for reducing hallucinations.</a:t>
            </a:r>
          </a:p>
          <a:p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7947</Words>
  <Application>Microsoft Office PowerPoint</Application>
  <PresentationFormat>如螢幕大小 (4:3)</PresentationFormat>
  <Paragraphs>906</Paragraphs>
  <Slides>22</Slides>
  <Notes>20</Notes>
  <HiddenSlides>2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35" baseType="lpstr">
      <vt:lpstr>Google Sans</vt:lpstr>
      <vt:lpstr>Meiryo</vt:lpstr>
      <vt:lpstr>Microsoft JhengHei UI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1610</cp:revision>
  <cp:lastPrinted>2024-07-30T01:44:15Z</cp:lastPrinted>
  <dcterms:created xsi:type="dcterms:W3CDTF">2019-11-08T03:01:47Z</dcterms:created>
  <dcterms:modified xsi:type="dcterms:W3CDTF">2026-06-29T13:11:28Z</dcterms:modified>
</cp:coreProperties>
</file>